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91" r:id="rId21"/>
    <p:sldId id="292" r:id="rId22"/>
    <p:sldId id="275" r:id="rId23"/>
    <p:sldId id="276" r:id="rId24"/>
    <p:sldId id="293" r:id="rId25"/>
    <p:sldId id="289" r:id="rId26"/>
    <p:sldId id="277" r:id="rId27"/>
    <p:sldId id="294" r:id="rId28"/>
    <p:sldId id="295" r:id="rId29"/>
    <p:sldId id="296" r:id="rId30"/>
    <p:sldId id="278" r:id="rId31"/>
    <p:sldId id="279" r:id="rId32"/>
    <p:sldId id="299" r:id="rId33"/>
    <p:sldId id="298" r:id="rId34"/>
    <p:sldId id="297" r:id="rId35"/>
    <p:sldId id="300" r:id="rId36"/>
    <p:sldId id="301" r:id="rId37"/>
    <p:sldId id="302" r:id="rId38"/>
    <p:sldId id="290" r:id="rId39"/>
    <p:sldId id="280" r:id="rId40"/>
    <p:sldId id="281" r:id="rId41"/>
    <p:sldId id="282" r:id="rId42"/>
    <p:sldId id="283" r:id="rId43"/>
    <p:sldId id="284" r:id="rId44"/>
    <p:sldId id="303" r:id="rId45"/>
    <p:sldId id="304" r:id="rId46"/>
    <p:sldId id="305" r:id="rId47"/>
    <p:sldId id="306" r:id="rId48"/>
    <p:sldId id="307" r:id="rId49"/>
    <p:sldId id="308" r:id="rId50"/>
    <p:sldId id="309" r:id="rId51"/>
    <p:sldId id="310" r:id="rId52"/>
    <p:sldId id="311" r:id="rId53"/>
    <p:sldId id="312" r:id="rId54"/>
    <p:sldId id="313" r:id="rId55"/>
    <p:sldId id="314" r:id="rId56"/>
    <p:sldId id="315" r:id="rId57"/>
    <p:sldId id="316" r:id="rId58"/>
    <p:sldId id="317" r:id="rId59"/>
    <p:sldId id="318" r:id="rId60"/>
    <p:sldId id="319" r:id="rId61"/>
    <p:sldId id="320" r:id="rId62"/>
    <p:sldId id="321" r:id="rId63"/>
    <p:sldId id="322" r:id="rId64"/>
    <p:sldId id="323" r:id="rId65"/>
    <p:sldId id="324" r:id="rId66"/>
    <p:sldId id="325" r:id="rId67"/>
    <p:sldId id="326" r:id="rId68"/>
    <p:sldId id="285" r:id="rId69"/>
    <p:sldId id="286" r:id="rId70"/>
    <p:sldId id="287" r:id="rId71"/>
    <p:sldId id="288" r:id="rId7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7901"/>
    <p:restoredTop sz="94610"/>
  </p:normalViewPr>
  <p:slideViewPr>
    <p:cSldViewPr snapToGrid="0" snapToObjects="1">
      <p:cViewPr varScale="1">
        <p:scale>
          <a:sx n="255" d="100"/>
          <a:sy n="255" d="100"/>
        </p:scale>
        <p:origin x="2336" y="4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238669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Part 1 of our Voice-Driven AI Development Workflows series. Today we're covering setup, introduction, and tool overview. This 90-minute session will give you the foundation to start using voice-driven development.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our roadmap for the full series. Today is Part 1 focusing on understanding the tools. Part 2 will be hands-on practice with your own projects. Part 3 culminates in building a real meeting transcriber application together.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insight here is that we think faster than we type. Voice-driven development closes that gap. Keyboards are a bottleneck. Voice input lets you work at the speed of thought.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key benefits: Ergonomic benefits for anyone typing all day. Productivity gains from faster iteration. Multitasking when your hands are free. Accessibility opens development to more people.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our agenda for today. Note the time allocations - we'll focus on voice tools and SuperWhisper configuration. Workshop materials are available for independent practice.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 Now we're getting into the tools. The acoustic layer captures your voice and turns it into text.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SuperWhisper is our primary recommendation. Works on Mac, Windows, and iOS. Key: it offers BOTH local AND cloud processing. Free tier includes local models - completely privacy-safe for PHI.</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shows why local processing matters. With SuperWhisper's local models, the entire flow stays on your machine. For PHI and sensitive data, use local models only.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Wispr Flow is the cross-platform alternative. Works on Mac, Windows, and iOS. Free tier with 2000 words per week. Context awareness auto-detects which app you're using. IMPORTANT: Wispr Flow is CLOUD-ONLY.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CRITICAL limitation for government users. Unlike SuperWhisper, Wispr Flow does NOT offer local processing. Privacy Mode means zero data retention - but audio IS still sent to cloud servers. For true local processing, use SuperWhisper.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Side-by-side comparison. KEY DIFFERENCE: SuperWhisper offers true local processing - audio never leaves your device. Wispr Flow is cloud-only - even with Privacy Mode, audio goes to servers. SuperWhisper for PHI.</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Decision flowchart. If you handle PHI or sensitive data, SuperWhisper with local models is the clear choice. Wispr Flow is excellent for non-sensitive work where you want context-aware formatting.</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why we're using SuperWhisper for this workshop: free local models that are PHI-safe out of the box, cross-platform support, and custom modes we can build together.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Security and compliance - critical for government work.</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flow awareness diagram. Green is local and safe. Blue is your Azure tenant - verify BAA status. Red/Yellow is public cloud - Wispr Flow is cloud-based even with Privacy Mode.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PHI guidance: SAFE tools include SuperWhisper with local models (free tier works!) and Azure with BAA. CAUTION with Wispr Flow - Privacy Mode means zero retention but audio still goes to cloud.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checklist. Before starting: verify tool configuration, check privacy mode, confirm endpoint routing. Before each use: consider data sensitivity, choose appropriate tool.</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Now we're getting into the hands-on portion. This is where we'll actually configure SuperWhisper for your specific workflows.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Initial setup walkthrough. Five steps from installation to your first successful dictation. Key: select a local model first for privacy, then test to confirm it works.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effective AI instructions. The XML structure helps organize your prompt: role defines who the AI is, instructions specify what to do, requirements list constraints. Examples dramatically improve accuracy.</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awareness lets your modes adapt. Application context detects which app is active, selected text passes highlighted content, clipboard provides reference material. Auto-activation means the right mode engages automatically.</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and replacements fine-tune recognition. Vocabulary helps the AI recognize custom terms during transcription. Replacements correct errors after transcription - programmatic and 100% reliable.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4: Workshop time. We'll build five practical custom modes together. Each one is designed for a specific application context. You'll leave with ready-to-use configurations.</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Enrichment Mode - the KEY insight. SuperWhisper is an INPUT METHOD, not a code generator. This mode transforms your rambling speech into clear, structured prompts ready to paste into ANY AI tool - Claude, ChatGPT, Cursor, whatever you use.</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Microsoft Teams Chat Mode - perfect for workplace messaging. Teams has no native dictation, so SuperWhisper fills this gap. Short, professional messages. Watch how 'at Sarah' converts to '@Sarah' mentions.</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Professional Email Mode - transforms rambling dictation into structured emails. Select text before dictating to treat it as the email you're replying to. Great for quick responses.</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Claude Code Terminal Mode - optimized for giving detailed prompts to Claude. Voice is perfect for complex instructions. Copy an error to clipboard, dictate 'fix this error', paste to Claude.</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Agentic Handoff Mode - the advanced pattern. This takes prompt enrichment further, specifically for AI coding agents. Instead of just cleaning up your speech, it structures your task with objective, scope, constraints, and success criteria. AI agents perform significantly better with structured specifications.</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switching demo - the magic of auto-activation. Watch the menu bar indicator as I switch from VS Code to Teams to Outlook to Terminal. Same hotkey, same natural speech, output adapts.</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Claude Code setup guide. This is part of our Tool Setup series — we'll follow the same pattern for Cursor, VS Code, and other AI coding tools. Today we're covering installation, core features, and how to customize Claude Code for your workflow.</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Installation is straightforward. You can use npm or the official installer script. After installation, run 'claude' in your terminal to authenticate. The first time, you'll be asked to log in via browser and select your default model. Five minutes and you're ready to go.</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selection is your first real decision. Sonnet is the default and handles most tasks well. Use Opus when you need deep reasoning — architecture decisions, complex debugging. Haiku is great for quick exploration tasks. Key insight: sub-agents can use different models, so you can use Haiku for exploration while keeping Sonnet for your main coding work.</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Slash commands are manual commands you invoke by typing /command. Built-in commands include /plan for planning mode, /model to switch models, /compact to summarize context. The real power: create custom commands by adding markdown files to .claude/commands/. Commit these to git and your whole team gets the same commands.</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Planning mode is THE key workflow pattern. Before making any code changes, especially for PRs, enter planning mode with /plan or Shift+Tab twice. Claude will explore the codebase using sub-agents, keeping your main context clean. Think through your approach, iterate on the plan, then exit to implement. This prevents wasted effort and keeps context optimized.</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Sub-agents are specialized agents that work in parallel. Built-in ones include Explore for fast codebase scanning, Plan for architecture, and Bash for command execution. Each sub-agent has its own context window, so exploration doesn't bloat your main thread. You can create custom sub-agents in .claude/agents/ with specific models, tools, and instructions.</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Skills are the automatic counterpart to slash commands. Instead of invoking them manually, skills activate automatically when your task context matches their description. Store them in .claude/skills/ as markdown files. Claude reads the description, and if it matches what you're doing, the skill's instructions are automatically applied. Great for domain-specific patterns and coding standards.</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MCP — Model Context Protocol — is an open standard for AI-tool integrations. It lets Claude Code connect to databases, APIs, and external services. Configure MCP servers at three levels: local (private to you), project (shared via git), or global (all projects). Popular servers include GitHub, PostgreSQL, Slack, and Notion. Plugins can also include MCP servers that start automatically.</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Hooks are for advanced users — deterministic code that runs at specific points in Claude's execution. PreToolUse runs before any tool call — you can block sensitive operations. PostToolUse runs after — useful for logging. PermissionRequest intercepts permission dialogs. AgentCompletion runs when an agent finishes. Hooks transform Claude from a black box into transparent, auditable infrastructure.</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Plugins bundle everything together: slash commands, sub-agents, MCP servers, and hooks. One install command sets up an entire integrated environment. When you enable a plugin, its MCP servers start automatically. This is perfect for team onboarding — package your team's entire setup as a plugin and new developers can install it instantly.</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takeaways: Plan before you code — always use /plan for PRs. Manage your context — sub-agents keep the main thread clean. Customize with skills for domain expertise. Match models to tasks. And remember: Claude Code + SuperWhisper voice input creates the complete voice-driven development stack we're building toward in this series.</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this guide on structuring projects for voice-first AI development. This 10-phase workflow takes you from initial idea all the way to deployment, with your voice driving the entire process.</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overview of all 10 phases. Notice how they flow from foundation through development to deployment. Each phase builds on the previous one. The key insight: structure enables autonomy. The more you invest upfront, the more your AI agent can do independently.</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1: Always start with a GitHub repo. This isn't optional. Every conversation, every iteration gets committed. Your git history becomes your safety net. Commit early, commit often - aim for commits every few minutes during active development.</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2: Brainstorming with your AI agent. This is divergent thinking time. No idea is too wild. Let the agent push back and challenge assumptions. Save everything to a brainstorming markdown file - this becomes input for later phases.</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3: Deep research across three dimensions. Technical feasibility - can it be built? Market analysis - what already exists? Reference implementations - how have others solved similar problems? Your agent can search, summarize, and synthesize. Save findings to docs/research/.</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4: Planning session. Now we define what we're actually building. Use the deliverables framework: What, Why, How, Success criteria, Dependencies, Priority. This isn't the full spec yet - that comes later. This is strategy, not specification.</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5: MVP Prototype. Build fast, break things, learn. The goal is speed and experimentation, not perfection. Expect to throw away half of this code. That's fine - you're learning what works. Bugs are data points.</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6: Documentation and standards. After prototyping, you know what patterns work. Capture them. UI/UX patterns, design language, narrative guidelines. These markdown files become context for your agent. The more thorough this phase, the better your PRD will be.</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7: PRD Creation. This is where you create the definitive specification. Options include Spec Kit for complex projects, Claude's planning mode for medium projects, or manual writing with AI assistance. The PRD becomes your agent's instruction manual.</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8: Agentic Iteration Mode. This is where all your setup pays off. Point your agent at the PRD and let it execute substantial work autonomously. It reads the spec, references your design system, writes code, creates tests, commits work. You provide vision, it does heavy lifting.</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9: Iterative Review Cycle. Test, speak, iterate. Your verbal feedback guides the agent through multiple polish cycles. Be specific in your feedback. Reference your documentation. Know when to stop - perfect is the enemy of deployed.</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10: Deployment. Push from local to cloud using CLI-accessible platforms. Vercel, Railway, Supabase, Azure - all have CLIs your agent can access. Voice-driven deployment through shell environments. Update your README with deployment instructions.</a:t>
            </a:r>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takeaways: Commit early and often - git is your safety net. Document everything - markdown files are context for your agent. Voice is your interface - speak naturally, give context, be specific. Iterate relentlessly - ship early, learn fast, improve continuously. This workflow turns a voice conversation into a shipped product.</a:t>
            </a:r>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Wrapping up and preparing for Part 2.</a:t>
            </a:r>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Pre-work for Part 2: Install SuperWhisper, set up your custom modes based on what we learned today, identify a project to work on, bring questions.</a:t>
            </a:r>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preview: Real hands-on exercises with your own projects. We'll troubleshoot issues together and share tips. You'll leave with working tools integrated into your workflow.</a:t>
            </a:r>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Part 1 of 3 complete. Workshop materials and exercises are available for independent practice. Questions? See you in Part 2!</a:t>
            </a:r>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var/folders/8s/qp6qfsr90ml5q7fb2n2ptwch0000gn/T/rasterized-gradient-2d1cab90.png"/>
          <p:cNvPicPr>
            <a:picLocks noChangeAspect="1"/>
          </p:cNvPicPr>
          <p:nvPr/>
        </p:nvPicPr>
        <p:blipFill>
          <a:blip r:embed="rId3"/>
          <a:stretch>
            <a:fillRect/>
          </a:stretch>
        </p:blipFill>
        <p:spPr>
          <a:xfrm>
            <a:off x="0" y="0"/>
            <a:ext cx="5850434" cy="5143500"/>
          </a:xfrm>
          <a:prstGeom prst="rect">
            <a:avLst/>
          </a:prstGeom>
        </p:spPr>
      </p:pic>
      <p:sp>
        <p:nvSpPr>
          <p:cNvPr id="3" name="Text 0"/>
          <p:cNvSpPr/>
          <p:nvPr/>
        </p:nvSpPr>
        <p:spPr>
          <a:xfrm>
            <a:off x="457200" y="993577"/>
            <a:ext cx="5034754" cy="146596"/>
          </a:xfrm>
          <a:prstGeom prst="rect">
            <a:avLst/>
          </a:prstGeom>
          <a:noFill/>
          <a:ln/>
        </p:spPr>
        <p:txBody>
          <a:bodyPr wrap="square" lIns="0" tIns="0" rIns="0" bIns="0" rtlCol="0" anchor="t"/>
          <a:lstStyle/>
          <a:p>
            <a:pPr marL="0" indent="0" algn="l">
              <a:lnSpc>
                <a:spcPts val="1155"/>
              </a:lnSpc>
              <a:spcAft>
                <a:spcPts val="1500"/>
              </a:spcAft>
              <a:buNone/>
            </a:pPr>
            <a:r>
              <a:rPr lang="en-US" sz="825" dirty="0">
                <a:solidFill>
                  <a:srgbClr val="C9A227"/>
                </a:solidFill>
                <a:latin typeface="Arial" pitchFamily="34" charset="0"/>
                <a:ea typeface="Arial" pitchFamily="34" charset="-122"/>
                <a:cs typeface="Arial" pitchFamily="34" charset="-120"/>
              </a:rPr>
              <a:t>AUSTIN PUBLIC HEALTH</a:t>
            </a:r>
            <a:endParaRPr lang="en-US" sz="825" dirty="0"/>
          </a:p>
        </p:txBody>
      </p:sp>
      <p:sp>
        <p:nvSpPr>
          <p:cNvPr id="4" name="Text 1"/>
          <p:cNvSpPr/>
          <p:nvPr/>
        </p:nvSpPr>
        <p:spPr>
          <a:xfrm>
            <a:off x="457200" y="1483072"/>
            <a:ext cx="3050667" cy="921841"/>
          </a:xfrm>
          <a:prstGeom prst="rect">
            <a:avLst/>
          </a:prstGeom>
          <a:noFill/>
          <a:ln/>
        </p:spPr>
        <p:txBody>
          <a:bodyPr wrap="square" lIns="0" tIns="0" rIns="0" bIns="0" rtlCol="0" anchor="t"/>
          <a:lstStyle/>
          <a:p>
            <a:pPr marL="0" indent="0" algn="l">
              <a:lnSpc>
                <a:spcPts val="3630"/>
              </a:lnSpc>
              <a:spcAft>
                <a:spcPts val="1200"/>
              </a:spcAft>
              <a:buNone/>
            </a:pPr>
            <a:r>
              <a:rPr lang="en-US" sz="3300" dirty="0">
                <a:solidFill>
                  <a:srgbClr val="FFFFFF"/>
                </a:solidFill>
                <a:latin typeface="Georgia" pitchFamily="34" charset="0"/>
                <a:ea typeface="Georgia" pitchFamily="34" charset="-122"/>
                <a:cs typeface="Georgia" pitchFamily="34" charset="-120"/>
              </a:rPr>
              <a:t>Voice-Driven AI Development</a:t>
            </a:r>
            <a:endParaRPr lang="en-US" sz="3300" dirty="0"/>
          </a:p>
        </p:txBody>
      </p:sp>
      <p:sp>
        <p:nvSpPr>
          <p:cNvPr id="5" name="Text 2"/>
          <p:cNvSpPr/>
          <p:nvPr/>
        </p:nvSpPr>
        <p:spPr>
          <a:xfrm>
            <a:off x="457200" y="2709714"/>
            <a:ext cx="5034754" cy="319980"/>
          </a:xfrm>
          <a:prstGeom prst="rect">
            <a:avLst/>
          </a:prstGeom>
          <a:noFill/>
          <a:ln/>
        </p:spPr>
        <p:txBody>
          <a:bodyPr wrap="square" lIns="0" tIns="0" rIns="0" bIns="0" rtlCol="0" anchor="t"/>
          <a:lstStyle/>
          <a:p>
            <a:pPr marL="0" indent="0" algn="l">
              <a:lnSpc>
                <a:spcPts val="2520"/>
              </a:lnSpc>
              <a:spcAft>
                <a:spcPts val="2400"/>
              </a:spcAft>
              <a:buNone/>
            </a:pPr>
            <a:r>
              <a:rPr lang="en-US" sz="1800" dirty="0">
                <a:solidFill>
                  <a:srgbClr val="C9A227"/>
                </a:solidFill>
                <a:latin typeface="Georgia" pitchFamily="34" charset="0"/>
                <a:ea typeface="Georgia" pitchFamily="34" charset="-122"/>
                <a:cs typeface="Georgia" pitchFamily="34" charset="-120"/>
              </a:rPr>
              <a:t>Workflows</a:t>
            </a:r>
            <a:endParaRPr lang="en-US" sz="1800" dirty="0"/>
          </a:p>
        </p:txBody>
      </p:sp>
      <p:sp>
        <p:nvSpPr>
          <p:cNvPr id="6" name="Text 3"/>
          <p:cNvSpPr/>
          <p:nvPr/>
        </p:nvSpPr>
        <p:spPr>
          <a:xfrm>
            <a:off x="457200" y="3486894"/>
            <a:ext cx="762000" cy="19050"/>
          </a:xfrm>
          <a:prstGeom prst="rect">
            <a:avLst/>
          </a:prstGeom>
          <a:solidFill>
            <a:srgbClr val="C9A227"/>
          </a:solidFill>
          <a:ln/>
        </p:spPr>
        <p:txBody>
          <a:bodyPr wrap="square" rtlCol="0" anchor="ctr"/>
          <a:lstStyle/>
          <a:p>
            <a:pPr marL="0" indent="0">
              <a:buNone/>
            </a:pPr>
            <a:endParaRPr lang="en-US" dirty="0"/>
          </a:p>
        </p:txBody>
      </p:sp>
      <p:sp>
        <p:nvSpPr>
          <p:cNvPr id="7" name="Text 4"/>
          <p:cNvSpPr/>
          <p:nvPr/>
        </p:nvSpPr>
        <p:spPr>
          <a:xfrm>
            <a:off x="457200" y="3963144"/>
            <a:ext cx="5034754" cy="186630"/>
          </a:xfrm>
          <a:prstGeom prst="rect">
            <a:avLst/>
          </a:prstGeom>
          <a:noFill/>
          <a:ln/>
        </p:spPr>
        <p:txBody>
          <a:bodyPr wrap="square" lIns="0" tIns="0" rIns="0" bIns="0" rtlCol="0" anchor="t"/>
          <a:lstStyle/>
          <a:p>
            <a:pPr marL="0" indent="0" algn="l">
              <a:lnSpc>
                <a:spcPts val="1470"/>
              </a:lnSpc>
              <a:buNone/>
            </a:pPr>
            <a:r>
              <a:rPr lang="en-US" sz="1050" dirty="0">
                <a:solidFill>
                  <a:srgbClr val="FFFFFF">
                    <a:alpha val="70000"/>
                  </a:srgbClr>
                </a:solidFill>
                <a:latin typeface="Arial" pitchFamily="34" charset="0"/>
                <a:ea typeface="Arial" pitchFamily="34" charset="-122"/>
                <a:cs typeface="Arial" pitchFamily="34" charset="-120"/>
              </a:rPr>
              <a:t>Part 1 of 3: Setup, Introduction &amp; Tool Overview</a:t>
            </a:r>
            <a:endParaRPr lang="en-US" sz="1050" dirty="0"/>
          </a:p>
        </p:txBody>
      </p:sp>
      <p:sp>
        <p:nvSpPr>
          <p:cNvPr id="8" name="Text 5"/>
          <p:cNvSpPr/>
          <p:nvPr/>
        </p:nvSpPr>
        <p:spPr>
          <a:xfrm>
            <a:off x="6002834" y="0"/>
            <a:ext cx="3141166" cy="5143500"/>
          </a:xfrm>
          <a:prstGeom prst="rect">
            <a:avLst/>
          </a:prstGeom>
          <a:solidFill>
            <a:srgbClr val="C9A227"/>
          </a:solidFill>
          <a:ln/>
        </p:spPr>
        <p:txBody>
          <a:bodyPr wrap="square" rtlCol="0" anchor="ctr"/>
          <a:lstStyle/>
          <a:p>
            <a:pPr marL="0" indent="0">
              <a:buNone/>
            </a:pPr>
            <a:endParaRPr lang="en-US" dirty="0"/>
          </a:p>
        </p:txBody>
      </p:sp>
      <p:sp>
        <p:nvSpPr>
          <p:cNvPr id="9" name="Text 6"/>
          <p:cNvSpPr/>
          <p:nvPr/>
        </p:nvSpPr>
        <p:spPr>
          <a:xfrm>
            <a:off x="7160812" y="1525042"/>
            <a:ext cx="825210" cy="960090"/>
          </a:xfrm>
          <a:prstGeom prst="rect">
            <a:avLst/>
          </a:prstGeom>
          <a:noFill/>
          <a:ln/>
        </p:spPr>
        <p:txBody>
          <a:bodyPr wrap="square" lIns="0" tIns="0" rIns="0" bIns="0" rtlCol="0" anchor="t"/>
          <a:lstStyle/>
          <a:p>
            <a:pPr marL="0" indent="0" algn="ctr">
              <a:lnSpc>
                <a:spcPts val="7560"/>
              </a:lnSpc>
              <a:buNone/>
            </a:pPr>
            <a:r>
              <a:rPr lang="en-US" sz="5400" dirty="0">
                <a:solidFill>
                  <a:srgbClr val="1A1F2E"/>
                </a:solidFill>
                <a:latin typeface="Georgia" pitchFamily="34" charset="0"/>
                <a:ea typeface="Georgia" pitchFamily="34" charset="-122"/>
                <a:cs typeface="Georgia" pitchFamily="34" charset="-120"/>
              </a:rPr>
              <a:t>90</a:t>
            </a:r>
            <a:endParaRPr lang="en-US" sz="5400" dirty="0"/>
          </a:p>
        </p:txBody>
      </p:sp>
      <p:sp>
        <p:nvSpPr>
          <p:cNvPr id="10" name="Text 7"/>
          <p:cNvSpPr/>
          <p:nvPr/>
        </p:nvSpPr>
        <p:spPr>
          <a:xfrm>
            <a:off x="7199370" y="2675632"/>
            <a:ext cx="748094" cy="186630"/>
          </a:xfrm>
          <a:prstGeom prst="rect">
            <a:avLst/>
          </a:prstGeom>
          <a:noFill/>
          <a:ln/>
        </p:spPr>
        <p:txBody>
          <a:bodyPr wrap="square" lIns="0" tIns="0" rIns="0" bIns="0" rtlCol="0" anchor="t"/>
          <a:lstStyle/>
          <a:p>
            <a:pPr marL="0" indent="0" algn="ctr">
              <a:lnSpc>
                <a:spcPts val="1470"/>
              </a:lnSpc>
              <a:spcBef>
                <a:spcPts val="300"/>
              </a:spcBef>
              <a:buNone/>
            </a:pPr>
            <a:r>
              <a:rPr lang="en-US" sz="1050" dirty="0">
                <a:solidFill>
                  <a:srgbClr val="1A1F2E"/>
                </a:solidFill>
                <a:latin typeface="Arial" pitchFamily="34" charset="0"/>
                <a:ea typeface="Arial" pitchFamily="34" charset="-122"/>
                <a:cs typeface="Arial" pitchFamily="34" charset="-120"/>
              </a:rPr>
              <a:t>MINUTES</a:t>
            </a:r>
            <a:endParaRPr lang="en-US" sz="1050" dirty="0"/>
          </a:p>
        </p:txBody>
      </p:sp>
      <p:sp>
        <p:nvSpPr>
          <p:cNvPr id="11" name="Text 8"/>
          <p:cNvSpPr/>
          <p:nvPr/>
        </p:nvSpPr>
        <p:spPr>
          <a:xfrm>
            <a:off x="6204594" y="4768304"/>
            <a:ext cx="2737646" cy="146596"/>
          </a:xfrm>
          <a:prstGeom prst="rect">
            <a:avLst/>
          </a:prstGeom>
          <a:noFill/>
          <a:ln/>
        </p:spPr>
        <p:txBody>
          <a:bodyPr wrap="square" lIns="0" tIns="0" rIns="0" bIns="0" rtlCol="0" anchor="t"/>
          <a:lstStyle/>
          <a:p>
            <a:pPr marL="0" indent="0" algn="ctr">
              <a:lnSpc>
                <a:spcPts val="1155"/>
              </a:lnSpc>
              <a:buNone/>
            </a:pPr>
            <a:r>
              <a:rPr lang="en-US" sz="825" dirty="0">
                <a:solidFill>
                  <a:srgbClr val="1A1F2E">
                    <a:alpha val="60000"/>
                  </a:srgbClr>
                </a:solidFill>
                <a:latin typeface="Arial" pitchFamily="34" charset="0"/>
                <a:ea typeface="Arial" pitchFamily="34" charset="-122"/>
                <a:cs typeface="Arial" pitchFamily="34" charset="-120"/>
              </a:rPr>
              <a:t>AI Technology Training Series</a:t>
            </a:r>
            <a:endParaRPr lang="en-US" sz="82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457200" y="304800"/>
            <a:ext cx="8394192" cy="146596"/>
          </a:xfrm>
          <a:prstGeom prst="rect">
            <a:avLst/>
          </a:prstGeom>
          <a:noFill/>
          <a:ln/>
        </p:spPr>
        <p:txBody>
          <a:bodyPr wrap="square" lIns="0" tIns="0" rIns="0" bIns="0" rtlCol="0" anchor="t"/>
          <a:lstStyle/>
          <a:p>
            <a:pPr marL="0" indent="0" algn="l">
              <a:lnSpc>
                <a:spcPts val="1155"/>
              </a:lnSpc>
              <a:spcAft>
                <a:spcPts val="600"/>
              </a:spcAft>
              <a:buNone/>
            </a:pPr>
            <a:r>
              <a:rPr lang="en-US" sz="825" dirty="0">
                <a:solidFill>
                  <a:srgbClr val="C9A227"/>
                </a:solidFill>
                <a:latin typeface="Arial" pitchFamily="34" charset="0"/>
                <a:ea typeface="Arial" pitchFamily="34" charset="-122"/>
                <a:cs typeface="Arial" pitchFamily="34" charset="-120"/>
              </a:rPr>
              <a:t>YOUR LEARNING JOURNEY</a:t>
            </a:r>
            <a:endParaRPr lang="en-US" sz="825" dirty="0"/>
          </a:p>
        </p:txBody>
      </p:sp>
      <p:sp>
        <p:nvSpPr>
          <p:cNvPr id="3" name="Text 1"/>
          <p:cNvSpPr/>
          <p:nvPr/>
        </p:nvSpPr>
        <p:spPr>
          <a:xfrm>
            <a:off x="457200" y="527596"/>
            <a:ext cx="6868859" cy="342900"/>
          </a:xfrm>
          <a:prstGeom prst="rect">
            <a:avLst/>
          </a:prstGeom>
          <a:noFill/>
          <a:ln/>
        </p:spPr>
        <p:txBody>
          <a:bodyPr wrap="square" lIns="0" tIns="0" rIns="0" bIns="0" rtlCol="0" anchor="t"/>
          <a:lstStyle/>
          <a:p>
            <a:pPr marL="0" indent="0" algn="l">
              <a:lnSpc>
                <a:spcPts val="2700"/>
              </a:lnSpc>
              <a:buNone/>
            </a:pPr>
            <a:r>
              <a:rPr lang="en-US" sz="2700" dirty="0">
                <a:solidFill>
                  <a:srgbClr val="1A1F2E"/>
                </a:solidFill>
                <a:latin typeface="Georgia" pitchFamily="34" charset="0"/>
                <a:ea typeface="Georgia" pitchFamily="34" charset="-122"/>
                <a:cs typeface="Georgia" pitchFamily="34" charset="-120"/>
              </a:rPr>
              <a:t>Three Sessions to Transform Your Workflow</a:t>
            </a:r>
            <a:endParaRPr lang="en-US" sz="2700" dirty="0"/>
          </a:p>
        </p:txBody>
      </p:sp>
      <p:sp>
        <p:nvSpPr>
          <p:cNvPr id="4" name="Text 2"/>
          <p:cNvSpPr/>
          <p:nvPr/>
        </p:nvSpPr>
        <p:spPr>
          <a:xfrm>
            <a:off x="457200" y="1415653"/>
            <a:ext cx="2603450" cy="3182689"/>
          </a:xfrm>
          <a:prstGeom prst="rect">
            <a:avLst/>
          </a:prstGeom>
          <a:solidFill>
            <a:srgbClr val="1A1F2E"/>
          </a:solidFill>
          <a:ln/>
        </p:spPr>
        <p:txBody>
          <a:bodyPr wrap="square" rtlCol="0" anchor="ctr"/>
          <a:lstStyle/>
          <a:p>
            <a:pPr marL="0" indent="0">
              <a:buNone/>
            </a:pPr>
            <a:endParaRPr lang="en-US" dirty="0"/>
          </a:p>
        </p:txBody>
      </p:sp>
      <p:sp>
        <p:nvSpPr>
          <p:cNvPr id="5" name="Text 3"/>
          <p:cNvSpPr/>
          <p:nvPr/>
        </p:nvSpPr>
        <p:spPr>
          <a:xfrm>
            <a:off x="685800" y="1320403"/>
            <a:ext cx="675382" cy="209550"/>
          </a:xfrm>
          <a:prstGeom prst="rect">
            <a:avLst/>
          </a:prstGeom>
          <a:solidFill>
            <a:srgbClr val="C9A227"/>
          </a:solidFill>
          <a:ln/>
        </p:spPr>
        <p:txBody>
          <a:bodyPr wrap="square" rtlCol="0" anchor="ctr"/>
          <a:lstStyle/>
          <a:p>
            <a:pPr marL="0" indent="0">
              <a:buNone/>
            </a:pPr>
            <a:endParaRPr lang="en-US" dirty="0"/>
          </a:p>
        </p:txBody>
      </p:sp>
      <p:sp>
        <p:nvSpPr>
          <p:cNvPr id="6" name="Text 4"/>
          <p:cNvSpPr/>
          <p:nvPr/>
        </p:nvSpPr>
        <p:spPr>
          <a:xfrm>
            <a:off x="838200" y="1358503"/>
            <a:ext cx="377994" cy="133350"/>
          </a:xfrm>
          <a:prstGeom prst="rect">
            <a:avLst/>
          </a:prstGeom>
          <a:noFill/>
          <a:ln/>
        </p:spPr>
        <p:txBody>
          <a:bodyPr wrap="square" lIns="0" tIns="0" rIns="0" bIns="0" rtlCol="0" anchor="t"/>
          <a:lstStyle/>
          <a:p>
            <a:pPr marL="0" indent="0" algn="l">
              <a:lnSpc>
                <a:spcPts val="1050"/>
              </a:lnSpc>
              <a:buNone/>
            </a:pPr>
            <a:r>
              <a:rPr lang="en-US" sz="750" b="1" dirty="0">
                <a:solidFill>
                  <a:srgbClr val="1A1F2E"/>
                </a:solidFill>
                <a:latin typeface="Arial" pitchFamily="34" charset="0"/>
                <a:ea typeface="Arial" pitchFamily="34" charset="-122"/>
                <a:cs typeface="Arial" pitchFamily="34" charset="-120"/>
              </a:rPr>
              <a:t>TODAY</a:t>
            </a:r>
            <a:endParaRPr lang="en-US" sz="750" dirty="0"/>
          </a:p>
        </p:txBody>
      </p:sp>
      <p:sp>
        <p:nvSpPr>
          <p:cNvPr id="7" name="Text 5"/>
          <p:cNvSpPr/>
          <p:nvPr/>
        </p:nvSpPr>
        <p:spPr>
          <a:xfrm>
            <a:off x="723900" y="1682353"/>
            <a:ext cx="2111451" cy="639961"/>
          </a:xfrm>
          <a:prstGeom prst="rect">
            <a:avLst/>
          </a:prstGeom>
          <a:noFill/>
          <a:ln/>
        </p:spPr>
        <p:txBody>
          <a:bodyPr wrap="square" lIns="0" tIns="0" rIns="0" bIns="0" rtlCol="0" anchor="t"/>
          <a:lstStyle/>
          <a:p>
            <a:pPr marL="0" indent="0" algn="l">
              <a:lnSpc>
                <a:spcPts val="5040"/>
              </a:lnSpc>
              <a:spcAft>
                <a:spcPts val="300"/>
              </a:spcAft>
              <a:buNone/>
            </a:pPr>
            <a:r>
              <a:rPr lang="en-US" sz="3600" dirty="0">
                <a:solidFill>
                  <a:srgbClr val="C9A227"/>
                </a:solidFill>
                <a:latin typeface="Georgia" pitchFamily="34" charset="0"/>
                <a:ea typeface="Georgia" pitchFamily="34" charset="-122"/>
                <a:cs typeface="Georgia" pitchFamily="34" charset="-120"/>
              </a:rPr>
              <a:t>01</a:t>
            </a:r>
            <a:endParaRPr lang="en-US" sz="3600" dirty="0"/>
          </a:p>
        </p:txBody>
      </p:sp>
      <p:sp>
        <p:nvSpPr>
          <p:cNvPr id="8" name="Text 6"/>
          <p:cNvSpPr/>
          <p:nvPr/>
        </p:nvSpPr>
        <p:spPr>
          <a:xfrm>
            <a:off x="723900" y="2512814"/>
            <a:ext cx="2111451" cy="239911"/>
          </a:xfrm>
          <a:prstGeom prst="rect">
            <a:avLst/>
          </a:prstGeom>
          <a:noFill/>
          <a:ln/>
        </p:spPr>
        <p:txBody>
          <a:bodyPr wrap="square" lIns="0" tIns="0" rIns="0" bIns="0" rtlCol="0" anchor="t"/>
          <a:lstStyle/>
          <a:p>
            <a:pPr marL="0" indent="0" algn="l">
              <a:lnSpc>
                <a:spcPts val="1890"/>
              </a:lnSpc>
              <a:spcAft>
                <a:spcPts val="1200"/>
              </a:spcAft>
              <a:buNone/>
            </a:pPr>
            <a:r>
              <a:rPr lang="en-US" sz="1350" dirty="0">
                <a:solidFill>
                  <a:srgbClr val="FFFFFF"/>
                </a:solidFill>
                <a:latin typeface="Georgia" pitchFamily="34" charset="0"/>
                <a:ea typeface="Georgia" pitchFamily="34" charset="-122"/>
                <a:cs typeface="Georgia" pitchFamily="34" charset="-120"/>
              </a:rPr>
              <a:t>Setup &amp; Tool Overview</a:t>
            </a:r>
            <a:endParaRPr lang="en-US" sz="1350" dirty="0"/>
          </a:p>
        </p:txBody>
      </p:sp>
      <p:sp>
        <p:nvSpPr>
          <p:cNvPr id="9" name="Text 7"/>
          <p:cNvSpPr/>
          <p:nvPr/>
        </p:nvSpPr>
        <p:spPr>
          <a:xfrm>
            <a:off x="723900" y="3057525"/>
            <a:ext cx="2111451" cy="822722"/>
          </a:xfrm>
          <a:prstGeom prst="rect">
            <a:avLst/>
          </a:prstGeom>
          <a:noFill/>
          <a:ln/>
        </p:spPr>
        <p:txBody>
          <a:bodyPr wrap="square" lIns="0" tIns="0" rIns="0" bIns="0" rtlCol="0" anchor="t"/>
          <a:lstStyle/>
          <a:p>
            <a:pPr marL="0" indent="0" algn="l">
              <a:lnSpc>
                <a:spcPts val="1620"/>
              </a:lnSpc>
              <a:buNone/>
            </a:pPr>
            <a:r>
              <a:rPr lang="en-US" sz="900" dirty="0">
                <a:solidFill>
                  <a:srgbClr val="FFFFFF">
                    <a:alpha val="60000"/>
                  </a:srgbClr>
                </a:solidFill>
                <a:latin typeface="Arial" pitchFamily="34" charset="0"/>
                <a:ea typeface="Arial" pitchFamily="34" charset="-122"/>
                <a:cs typeface="Arial" pitchFamily="34" charset="-120"/>
              </a:rPr>
              <a:t>Voice input tools</a:t>
            </a:r>
            <a:endParaRPr lang="en-US" sz="900" dirty="0"/>
          </a:p>
          <a:p>
            <a:pPr marL="0" indent="0" algn="l">
              <a:lnSpc>
                <a:spcPts val="1620"/>
              </a:lnSpc>
              <a:buNone/>
            </a:pPr>
            <a:r>
              <a:rPr lang="en-US" sz="900" dirty="0">
                <a:solidFill>
                  <a:srgbClr val="FFFFFF">
                    <a:alpha val="60000"/>
                  </a:srgbClr>
                </a:solidFill>
                <a:latin typeface="Arial" pitchFamily="34" charset="0"/>
                <a:ea typeface="Arial" pitchFamily="34" charset="-122"/>
                <a:cs typeface="Arial" pitchFamily="34" charset="-120"/>
              </a:rPr>
              <a:t>AI coding assistants</a:t>
            </a:r>
            <a:endParaRPr lang="en-US" sz="900" dirty="0"/>
          </a:p>
          <a:p>
            <a:pPr marL="0" indent="0" algn="l">
              <a:lnSpc>
                <a:spcPts val="1620"/>
              </a:lnSpc>
              <a:buNone/>
            </a:pPr>
            <a:r>
              <a:rPr lang="en-US" sz="900" dirty="0">
                <a:solidFill>
                  <a:srgbClr val="FFFFFF">
                    <a:alpha val="60000"/>
                  </a:srgbClr>
                </a:solidFill>
                <a:latin typeface="Arial" pitchFamily="34" charset="0"/>
                <a:ea typeface="Arial" pitchFamily="34" charset="-122"/>
                <a:cs typeface="Arial" pitchFamily="34" charset="-120"/>
              </a:rPr>
              <a:t>Enterprise configuration</a:t>
            </a:r>
            <a:endParaRPr lang="en-US" sz="900" dirty="0"/>
          </a:p>
          <a:p>
            <a:pPr marL="0" indent="0" algn="l">
              <a:lnSpc>
                <a:spcPts val="1620"/>
              </a:lnSpc>
              <a:buNone/>
            </a:pPr>
            <a:r>
              <a:rPr lang="en-US" sz="900" dirty="0">
                <a:solidFill>
                  <a:srgbClr val="FFFFFF">
                    <a:alpha val="60000"/>
                  </a:srgbClr>
                </a:solidFill>
                <a:latin typeface="Arial" pitchFamily="34" charset="0"/>
                <a:ea typeface="Arial" pitchFamily="34" charset="-122"/>
                <a:cs typeface="Arial" pitchFamily="34" charset="-120"/>
              </a:rPr>
              <a:t>Security fundamentals</a:t>
            </a:r>
          </a:p>
          <a:p>
            <a:pPr marL="0" indent="0" algn="l">
              <a:lnSpc>
                <a:spcPts val="1620"/>
              </a:lnSpc>
              <a:buNone/>
            </a:pPr>
            <a:r>
              <a:rPr lang="en-US" sz="900" dirty="0">
                <a:solidFill>
                  <a:srgbClr val="FFFFFF">
                    <a:alpha val="60000"/>
                  </a:srgbClr>
                </a:solidFill>
                <a:latin typeface="Arial" pitchFamily="34" charset="0"/>
                <a:cs typeface="Arial" pitchFamily="34" charset="-120"/>
              </a:rPr>
              <a:t>Setup Voice Tooling</a:t>
            </a:r>
            <a:endParaRPr lang="en-US" sz="900" dirty="0"/>
          </a:p>
        </p:txBody>
      </p:sp>
      <p:sp>
        <p:nvSpPr>
          <p:cNvPr id="10" name="Text 8"/>
          <p:cNvSpPr/>
          <p:nvPr/>
        </p:nvSpPr>
        <p:spPr>
          <a:xfrm>
            <a:off x="723900" y="4185047"/>
            <a:ext cx="2111451" cy="146596"/>
          </a:xfrm>
          <a:prstGeom prst="rect">
            <a:avLst/>
          </a:prstGeom>
          <a:noFill/>
          <a:ln/>
        </p:spPr>
        <p:txBody>
          <a:bodyPr wrap="square" lIns="0" tIns="0" rIns="0" bIns="0" rtlCol="0" anchor="t"/>
          <a:lstStyle/>
          <a:p>
            <a:pPr marL="0" indent="0" algn="l">
              <a:lnSpc>
                <a:spcPts val="1155"/>
              </a:lnSpc>
              <a:buNone/>
            </a:pPr>
            <a:r>
              <a:rPr lang="en-US" sz="825" dirty="0">
                <a:solidFill>
                  <a:srgbClr val="FFFFFF">
                    <a:alpha val="40000"/>
                  </a:srgbClr>
                </a:solidFill>
                <a:latin typeface="Arial" pitchFamily="34" charset="0"/>
                <a:ea typeface="Arial" pitchFamily="34" charset="-122"/>
                <a:cs typeface="Arial" pitchFamily="34" charset="-120"/>
              </a:rPr>
              <a:t>90 minutes</a:t>
            </a:r>
            <a:endParaRPr lang="en-US" sz="825" dirty="0"/>
          </a:p>
        </p:txBody>
      </p:sp>
      <p:sp>
        <p:nvSpPr>
          <p:cNvPr id="11" name="Text 9"/>
          <p:cNvSpPr/>
          <p:nvPr/>
        </p:nvSpPr>
        <p:spPr>
          <a:xfrm>
            <a:off x="3251150" y="1406128"/>
            <a:ext cx="2622500" cy="3201739"/>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12" name="Text 10"/>
          <p:cNvSpPr/>
          <p:nvPr/>
        </p:nvSpPr>
        <p:spPr>
          <a:xfrm>
            <a:off x="3527375" y="1682353"/>
            <a:ext cx="2111451" cy="639961"/>
          </a:xfrm>
          <a:prstGeom prst="rect">
            <a:avLst/>
          </a:prstGeom>
          <a:noFill/>
          <a:ln/>
        </p:spPr>
        <p:txBody>
          <a:bodyPr wrap="square" lIns="0" tIns="0" rIns="0" bIns="0" rtlCol="0" anchor="t"/>
          <a:lstStyle/>
          <a:p>
            <a:pPr marL="0" indent="0" algn="l">
              <a:lnSpc>
                <a:spcPts val="5040"/>
              </a:lnSpc>
              <a:spcAft>
                <a:spcPts val="300"/>
              </a:spcAft>
              <a:buNone/>
            </a:pPr>
            <a:r>
              <a:rPr lang="en-US" sz="3600" dirty="0">
                <a:solidFill>
                  <a:srgbClr val="C9A227"/>
                </a:solidFill>
                <a:latin typeface="Georgia" pitchFamily="34" charset="0"/>
                <a:ea typeface="Georgia" pitchFamily="34" charset="-122"/>
                <a:cs typeface="Georgia" pitchFamily="34" charset="-120"/>
              </a:rPr>
              <a:t>02</a:t>
            </a:r>
            <a:endParaRPr lang="en-US" sz="3600" dirty="0"/>
          </a:p>
        </p:txBody>
      </p:sp>
      <p:sp>
        <p:nvSpPr>
          <p:cNvPr id="13" name="Text 11"/>
          <p:cNvSpPr/>
          <p:nvPr/>
        </p:nvSpPr>
        <p:spPr>
          <a:xfrm>
            <a:off x="3527375" y="2512814"/>
            <a:ext cx="2111451" cy="239911"/>
          </a:xfrm>
          <a:prstGeom prst="rect">
            <a:avLst/>
          </a:prstGeom>
          <a:noFill/>
          <a:ln/>
        </p:spPr>
        <p:txBody>
          <a:bodyPr wrap="square" lIns="0" tIns="0" rIns="0" bIns="0" rtlCol="0" anchor="t"/>
          <a:lstStyle/>
          <a:p>
            <a:pPr marL="0" indent="0" algn="l">
              <a:lnSpc>
                <a:spcPts val="1890"/>
              </a:lnSpc>
              <a:spcAft>
                <a:spcPts val="1200"/>
              </a:spcAft>
              <a:buNone/>
            </a:pPr>
            <a:r>
              <a:rPr lang="en-US" sz="1350" dirty="0">
                <a:solidFill>
                  <a:srgbClr val="1A1F2E"/>
                </a:solidFill>
                <a:latin typeface="Georgia" pitchFamily="34" charset="0"/>
              </a:rPr>
              <a:t>Build a Web App</a:t>
            </a:r>
            <a:endParaRPr lang="en-US" sz="1350" dirty="0"/>
          </a:p>
        </p:txBody>
      </p:sp>
      <p:sp>
        <p:nvSpPr>
          <p:cNvPr id="14" name="Text 12"/>
          <p:cNvSpPr/>
          <p:nvPr/>
        </p:nvSpPr>
        <p:spPr>
          <a:xfrm>
            <a:off x="3516274" y="3057525"/>
            <a:ext cx="2111451" cy="822722"/>
          </a:xfrm>
          <a:prstGeom prst="rect">
            <a:avLst/>
          </a:prstGeom>
          <a:noFill/>
          <a:ln/>
        </p:spPr>
        <p:txBody>
          <a:bodyPr wrap="square" lIns="0" tIns="0" rIns="0" bIns="0" rtlCol="0" anchor="t"/>
          <a:lstStyle/>
          <a:p>
            <a:pPr marL="0" indent="0" algn="l">
              <a:lnSpc>
                <a:spcPts val="1620"/>
              </a:lnSpc>
              <a:buNone/>
            </a:pPr>
            <a:r>
              <a:rPr lang="en-US" sz="900" dirty="0">
                <a:solidFill>
                  <a:srgbClr val="6B7280"/>
                </a:solidFill>
                <a:latin typeface="Arial" pitchFamily="34" charset="0"/>
                <a:ea typeface="Arial" pitchFamily="34" charset="-122"/>
                <a:cs typeface="Arial" pitchFamily="34" charset="-120"/>
              </a:rPr>
              <a:t>Real exercises</a:t>
            </a:r>
            <a:endParaRPr lang="en-US" sz="900" dirty="0"/>
          </a:p>
          <a:p>
            <a:pPr marL="0" indent="0" algn="l">
              <a:lnSpc>
                <a:spcPts val="1620"/>
              </a:lnSpc>
              <a:buNone/>
            </a:pPr>
            <a:r>
              <a:rPr lang="en-US" sz="900" dirty="0">
                <a:solidFill>
                  <a:srgbClr val="6B7280"/>
                </a:solidFill>
                <a:latin typeface="Arial" pitchFamily="34" charset="0"/>
                <a:ea typeface="Arial" pitchFamily="34" charset="-122"/>
                <a:cs typeface="Arial" pitchFamily="34" charset="-120"/>
              </a:rPr>
              <a:t>Troubleshooting tips</a:t>
            </a:r>
            <a:endParaRPr lang="en-US" sz="900" dirty="0"/>
          </a:p>
          <a:p>
            <a:pPr marL="0" indent="0" algn="l">
              <a:lnSpc>
                <a:spcPts val="1620"/>
              </a:lnSpc>
              <a:buNone/>
            </a:pPr>
            <a:r>
              <a:rPr lang="en-US" sz="900" dirty="0">
                <a:solidFill>
                  <a:srgbClr val="6B7280"/>
                </a:solidFill>
                <a:latin typeface="Arial" pitchFamily="34" charset="0"/>
                <a:ea typeface="Arial" pitchFamily="34" charset="-122"/>
                <a:cs typeface="Arial" pitchFamily="34" charset="-120"/>
              </a:rPr>
              <a:t>Productivity shortcuts</a:t>
            </a:r>
          </a:p>
          <a:p>
            <a:pPr marL="0" indent="0" algn="l">
              <a:lnSpc>
                <a:spcPts val="1620"/>
              </a:lnSpc>
              <a:buNone/>
            </a:pPr>
            <a:r>
              <a:rPr lang="en-US" sz="900" dirty="0" err="1">
                <a:solidFill>
                  <a:srgbClr val="6B7280"/>
                </a:solidFill>
                <a:latin typeface="Arial" pitchFamily="34" charset="0"/>
                <a:cs typeface="Arial" pitchFamily="34" charset="-120"/>
              </a:rPr>
              <a:t>Github</a:t>
            </a:r>
            <a:r>
              <a:rPr lang="en-US" sz="900" dirty="0">
                <a:solidFill>
                  <a:srgbClr val="6B7280"/>
                </a:solidFill>
                <a:latin typeface="Arial" pitchFamily="34" charset="0"/>
                <a:cs typeface="Arial" pitchFamily="34" charset="-120"/>
              </a:rPr>
              <a:t> / CICD / Planning / Spec Dev</a:t>
            </a:r>
          </a:p>
          <a:p>
            <a:pPr marL="0" indent="0" algn="l">
              <a:lnSpc>
                <a:spcPts val="1620"/>
              </a:lnSpc>
              <a:buNone/>
            </a:pPr>
            <a:r>
              <a:rPr lang="en-US" sz="900" dirty="0">
                <a:solidFill>
                  <a:srgbClr val="6B7280"/>
                </a:solidFill>
                <a:latin typeface="Arial" pitchFamily="34" charset="0"/>
                <a:cs typeface="Arial" pitchFamily="34" charset="-120"/>
              </a:rPr>
              <a:t>Instant deployment</a:t>
            </a:r>
            <a:endParaRPr lang="en-US" sz="900" dirty="0"/>
          </a:p>
        </p:txBody>
      </p:sp>
      <p:sp>
        <p:nvSpPr>
          <p:cNvPr id="15" name="Text 13"/>
          <p:cNvSpPr/>
          <p:nvPr/>
        </p:nvSpPr>
        <p:spPr>
          <a:xfrm>
            <a:off x="3527375" y="4185047"/>
            <a:ext cx="2111451" cy="146596"/>
          </a:xfrm>
          <a:prstGeom prst="rect">
            <a:avLst/>
          </a:prstGeom>
          <a:noFill/>
          <a:ln/>
        </p:spPr>
        <p:txBody>
          <a:bodyPr wrap="square" lIns="0" tIns="0" rIns="0" bIns="0" rtlCol="0" anchor="t"/>
          <a:lstStyle/>
          <a:p>
            <a:pPr marL="0" indent="0" algn="l">
              <a:lnSpc>
                <a:spcPts val="1155"/>
              </a:lnSpc>
              <a:buNone/>
            </a:pPr>
            <a:r>
              <a:rPr lang="en-US" sz="825" dirty="0">
                <a:solidFill>
                  <a:srgbClr val="9CA3AF"/>
                </a:solidFill>
                <a:latin typeface="Arial" pitchFamily="34" charset="0"/>
                <a:ea typeface="Arial" pitchFamily="34" charset="-122"/>
                <a:cs typeface="Arial" pitchFamily="34" charset="-120"/>
              </a:rPr>
              <a:t>90 minutes</a:t>
            </a:r>
            <a:endParaRPr lang="en-US" sz="825" dirty="0"/>
          </a:p>
        </p:txBody>
      </p:sp>
      <p:sp>
        <p:nvSpPr>
          <p:cNvPr id="16" name="Text 14"/>
          <p:cNvSpPr/>
          <p:nvPr/>
        </p:nvSpPr>
        <p:spPr>
          <a:xfrm>
            <a:off x="6064151" y="1406128"/>
            <a:ext cx="2622500" cy="3201739"/>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17" name="Text 15"/>
          <p:cNvSpPr/>
          <p:nvPr/>
        </p:nvSpPr>
        <p:spPr>
          <a:xfrm>
            <a:off x="6340376" y="1682353"/>
            <a:ext cx="2111451" cy="639961"/>
          </a:xfrm>
          <a:prstGeom prst="rect">
            <a:avLst/>
          </a:prstGeom>
          <a:noFill/>
          <a:ln/>
        </p:spPr>
        <p:txBody>
          <a:bodyPr wrap="square" lIns="0" tIns="0" rIns="0" bIns="0" rtlCol="0" anchor="t"/>
          <a:lstStyle/>
          <a:p>
            <a:pPr marL="0" indent="0" algn="l">
              <a:lnSpc>
                <a:spcPts val="5040"/>
              </a:lnSpc>
              <a:spcAft>
                <a:spcPts val="300"/>
              </a:spcAft>
              <a:buNone/>
            </a:pPr>
            <a:r>
              <a:rPr lang="en-US" sz="3600" dirty="0">
                <a:solidFill>
                  <a:srgbClr val="C9A227"/>
                </a:solidFill>
                <a:latin typeface="Georgia" pitchFamily="34" charset="0"/>
                <a:ea typeface="Georgia" pitchFamily="34" charset="-122"/>
                <a:cs typeface="Georgia" pitchFamily="34" charset="-120"/>
              </a:rPr>
              <a:t>03</a:t>
            </a:r>
            <a:endParaRPr lang="en-US" sz="3600" dirty="0"/>
          </a:p>
        </p:txBody>
      </p:sp>
      <p:sp>
        <p:nvSpPr>
          <p:cNvPr id="18" name="Text 16"/>
          <p:cNvSpPr/>
          <p:nvPr/>
        </p:nvSpPr>
        <p:spPr>
          <a:xfrm>
            <a:off x="6340376" y="2512814"/>
            <a:ext cx="2111451" cy="239911"/>
          </a:xfrm>
          <a:prstGeom prst="rect">
            <a:avLst/>
          </a:prstGeom>
          <a:noFill/>
          <a:ln/>
        </p:spPr>
        <p:txBody>
          <a:bodyPr wrap="square" lIns="0" tIns="0" rIns="0" bIns="0" rtlCol="0" anchor="t"/>
          <a:lstStyle/>
          <a:p>
            <a:pPr marL="0" indent="0" algn="l">
              <a:lnSpc>
                <a:spcPts val="1890"/>
              </a:lnSpc>
              <a:spcAft>
                <a:spcPts val="1200"/>
              </a:spcAft>
              <a:buNone/>
            </a:pPr>
            <a:r>
              <a:rPr lang="en-US" sz="1350" dirty="0">
                <a:solidFill>
                  <a:srgbClr val="1A1F2E"/>
                </a:solidFill>
                <a:latin typeface="Georgia" pitchFamily="34" charset="0"/>
                <a:ea typeface="Georgia" pitchFamily="34" charset="-122"/>
                <a:cs typeface="Georgia" pitchFamily="34" charset="-120"/>
              </a:rPr>
              <a:t>Complete Build Method</a:t>
            </a:r>
            <a:endParaRPr lang="en-US" sz="1350" dirty="0"/>
          </a:p>
        </p:txBody>
      </p:sp>
      <p:sp>
        <p:nvSpPr>
          <p:cNvPr id="19" name="Text 17"/>
          <p:cNvSpPr/>
          <p:nvPr/>
        </p:nvSpPr>
        <p:spPr>
          <a:xfrm>
            <a:off x="6340375" y="2904253"/>
            <a:ext cx="2111451" cy="822722"/>
          </a:xfrm>
          <a:prstGeom prst="rect">
            <a:avLst/>
          </a:prstGeom>
          <a:noFill/>
          <a:ln/>
        </p:spPr>
        <p:txBody>
          <a:bodyPr wrap="square" lIns="0" tIns="0" rIns="0" bIns="0" rtlCol="0" anchor="t"/>
          <a:lstStyle/>
          <a:p>
            <a:pPr marL="0" indent="0" algn="l">
              <a:lnSpc>
                <a:spcPts val="1620"/>
              </a:lnSpc>
              <a:buNone/>
            </a:pPr>
            <a:r>
              <a:rPr lang="en-US" sz="900" dirty="0">
                <a:solidFill>
                  <a:srgbClr val="6B7280"/>
                </a:solidFill>
                <a:latin typeface="Arial" pitchFamily="34" charset="0"/>
                <a:ea typeface="Arial" pitchFamily="34" charset="-122"/>
                <a:cs typeface="Arial" pitchFamily="34" charset="-120"/>
              </a:rPr>
              <a:t>Put it all together</a:t>
            </a:r>
          </a:p>
          <a:p>
            <a:pPr marL="0" indent="0" algn="l">
              <a:lnSpc>
                <a:spcPts val="1620"/>
              </a:lnSpc>
              <a:buNone/>
            </a:pPr>
            <a:r>
              <a:rPr lang="en-US" sz="900" dirty="0">
                <a:solidFill>
                  <a:srgbClr val="6B7280"/>
                </a:solidFill>
                <a:latin typeface="Arial" pitchFamily="34" charset="0"/>
                <a:ea typeface="Arial" pitchFamily="34" charset="-122"/>
                <a:cs typeface="Arial" pitchFamily="34" charset="-120"/>
              </a:rPr>
              <a:t>End-to-end project</a:t>
            </a:r>
            <a:endParaRPr lang="en-US" sz="900" dirty="0"/>
          </a:p>
          <a:p>
            <a:pPr marL="0" indent="0" algn="l">
              <a:lnSpc>
                <a:spcPts val="1620"/>
              </a:lnSpc>
              <a:buNone/>
            </a:pPr>
            <a:r>
              <a:rPr lang="en-US" sz="900" dirty="0">
                <a:solidFill>
                  <a:srgbClr val="6B7280"/>
                </a:solidFill>
                <a:latin typeface="Arial" pitchFamily="34" charset="0"/>
                <a:ea typeface="Arial" pitchFamily="34" charset="-122"/>
                <a:cs typeface="Arial" pitchFamily="34" charset="-120"/>
              </a:rPr>
              <a:t>Meeting transcription app</a:t>
            </a:r>
            <a:endParaRPr lang="en-US" sz="900" dirty="0"/>
          </a:p>
          <a:p>
            <a:pPr marL="0" indent="0" algn="l">
              <a:lnSpc>
                <a:spcPts val="1620"/>
              </a:lnSpc>
              <a:buNone/>
            </a:pPr>
            <a:r>
              <a:rPr lang="en-US" sz="900" dirty="0">
                <a:solidFill>
                  <a:srgbClr val="6B7280"/>
                </a:solidFill>
                <a:latin typeface="Arial" pitchFamily="34" charset="0"/>
                <a:ea typeface="Arial" pitchFamily="34" charset="-122"/>
                <a:cs typeface="Arial" pitchFamily="34" charset="-120"/>
              </a:rPr>
              <a:t>Voice-driven development</a:t>
            </a:r>
            <a:endParaRPr lang="en-US" sz="900" dirty="0"/>
          </a:p>
          <a:p>
            <a:pPr marL="0" indent="0" algn="l">
              <a:lnSpc>
                <a:spcPts val="1620"/>
              </a:lnSpc>
              <a:buNone/>
            </a:pPr>
            <a:r>
              <a:rPr lang="en-US" sz="900" dirty="0">
                <a:solidFill>
                  <a:srgbClr val="6B7280"/>
                </a:solidFill>
                <a:latin typeface="Arial" pitchFamily="34" charset="0"/>
                <a:ea typeface="Arial" pitchFamily="34" charset="-122"/>
                <a:cs typeface="Arial" pitchFamily="34" charset="-120"/>
              </a:rPr>
              <a:t>Agent-to Agent </a:t>
            </a:r>
          </a:p>
          <a:p>
            <a:pPr marL="0" indent="0" algn="l">
              <a:lnSpc>
                <a:spcPts val="1620"/>
              </a:lnSpc>
              <a:buNone/>
            </a:pPr>
            <a:r>
              <a:rPr lang="en-US" sz="900" dirty="0">
                <a:solidFill>
                  <a:srgbClr val="6B7280"/>
                </a:solidFill>
                <a:latin typeface="Arial" pitchFamily="34" charset="0"/>
                <a:ea typeface="Arial" pitchFamily="34" charset="-122"/>
                <a:cs typeface="Arial" pitchFamily="34" charset="-120"/>
              </a:rPr>
              <a:t>Long Horizon Tasks</a:t>
            </a:r>
            <a:endParaRPr lang="en-US" sz="900" dirty="0"/>
          </a:p>
        </p:txBody>
      </p:sp>
      <p:sp>
        <p:nvSpPr>
          <p:cNvPr id="20" name="Text 18"/>
          <p:cNvSpPr/>
          <p:nvPr/>
        </p:nvSpPr>
        <p:spPr>
          <a:xfrm>
            <a:off x="6340376" y="4185047"/>
            <a:ext cx="2111451" cy="146596"/>
          </a:xfrm>
          <a:prstGeom prst="rect">
            <a:avLst/>
          </a:prstGeom>
          <a:noFill/>
          <a:ln/>
        </p:spPr>
        <p:txBody>
          <a:bodyPr wrap="square" lIns="0" tIns="0" rIns="0" bIns="0" rtlCol="0" anchor="t"/>
          <a:lstStyle/>
          <a:p>
            <a:pPr marL="0" indent="0" algn="l">
              <a:lnSpc>
                <a:spcPts val="1155"/>
              </a:lnSpc>
              <a:buNone/>
            </a:pPr>
            <a:r>
              <a:rPr lang="en-US" sz="825" dirty="0">
                <a:solidFill>
                  <a:srgbClr val="9CA3AF"/>
                </a:solidFill>
                <a:latin typeface="Arial" pitchFamily="34" charset="0"/>
                <a:ea typeface="Arial" pitchFamily="34" charset="-122"/>
                <a:cs typeface="Arial" pitchFamily="34" charset="-120"/>
              </a:rPr>
              <a:t>90 minutes</a:t>
            </a:r>
            <a:endParaRPr lang="en-US" sz="82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4943475" cy="5143500"/>
          </a:xfrm>
          <a:prstGeom prst="rect">
            <a:avLst/>
          </a:prstGeom>
          <a:solidFill>
            <a:srgbClr val="1A1F2E"/>
          </a:solidFill>
          <a:ln/>
        </p:spPr>
        <p:txBody>
          <a:bodyPr wrap="square" rtlCol="0" anchor="ctr"/>
          <a:lstStyle/>
          <a:p>
            <a:pPr marL="0" indent="0">
              <a:buNone/>
            </a:pPr>
            <a:endParaRPr lang="en-US" dirty="0"/>
          </a:p>
        </p:txBody>
      </p:sp>
      <p:sp>
        <p:nvSpPr>
          <p:cNvPr id="3" name="Text 1"/>
          <p:cNvSpPr/>
          <p:nvPr/>
        </p:nvSpPr>
        <p:spPr>
          <a:xfrm>
            <a:off x="457200" y="1119188"/>
            <a:ext cx="4109657" cy="487561"/>
          </a:xfrm>
          <a:prstGeom prst="rect">
            <a:avLst/>
          </a:prstGeom>
          <a:noFill/>
          <a:ln/>
        </p:spPr>
        <p:txBody>
          <a:bodyPr wrap="square" lIns="0" tIns="0" rIns="0" bIns="0" rtlCol="0" anchor="t"/>
          <a:lstStyle/>
          <a:p>
            <a:pPr marL="0" indent="0" algn="l">
              <a:lnSpc>
                <a:spcPts val="3840"/>
              </a:lnSpc>
              <a:buNone/>
            </a:pPr>
            <a:r>
              <a:rPr lang="en-US" sz="4800" dirty="0">
                <a:solidFill>
                  <a:srgbClr val="C9A227"/>
                </a:solidFill>
                <a:latin typeface="Georgia" pitchFamily="34" charset="0"/>
                <a:ea typeface="Georgia" pitchFamily="34" charset="-122"/>
                <a:cs typeface="Georgia" pitchFamily="34" charset="-120"/>
              </a:rPr>
              <a:t>"</a:t>
            </a:r>
            <a:endParaRPr lang="en-US" sz="4800" dirty="0"/>
          </a:p>
        </p:txBody>
      </p:sp>
      <p:sp>
        <p:nvSpPr>
          <p:cNvPr id="4" name="Text 2"/>
          <p:cNvSpPr/>
          <p:nvPr/>
        </p:nvSpPr>
        <p:spPr>
          <a:xfrm>
            <a:off x="457200" y="1759148"/>
            <a:ext cx="4109657" cy="628650"/>
          </a:xfrm>
          <a:prstGeom prst="rect">
            <a:avLst/>
          </a:prstGeom>
          <a:noFill/>
          <a:ln/>
        </p:spPr>
        <p:txBody>
          <a:bodyPr wrap="square" lIns="0" tIns="0" rIns="0" bIns="0" rtlCol="0" anchor="t"/>
          <a:lstStyle/>
          <a:p>
            <a:pPr marL="0" indent="0" algn="l">
              <a:lnSpc>
                <a:spcPts val="2475"/>
              </a:lnSpc>
              <a:spcAft>
                <a:spcPts val="1800"/>
              </a:spcAft>
              <a:buNone/>
            </a:pPr>
            <a:r>
              <a:rPr lang="en-US" sz="1650" i="1" dirty="0">
                <a:solidFill>
                  <a:srgbClr val="FFFFFF"/>
                </a:solidFill>
                <a:latin typeface="Georgia" pitchFamily="34" charset="0"/>
                <a:ea typeface="Georgia" pitchFamily="34" charset="-122"/>
                <a:cs typeface="Georgia" pitchFamily="34" charset="-120"/>
              </a:rPr>
              <a:t>The keyboard is a bottleneck between your thoughts and your code.</a:t>
            </a:r>
            <a:endParaRPr lang="en-US" sz="1650" dirty="0"/>
          </a:p>
        </p:txBody>
      </p:sp>
      <p:sp>
        <p:nvSpPr>
          <p:cNvPr id="5" name="Text 3"/>
          <p:cNvSpPr/>
          <p:nvPr/>
        </p:nvSpPr>
        <p:spPr>
          <a:xfrm>
            <a:off x="457200" y="2768798"/>
            <a:ext cx="4109657" cy="314325"/>
          </a:xfrm>
          <a:prstGeom prst="rect">
            <a:avLst/>
          </a:prstGeom>
          <a:noFill/>
          <a:ln/>
        </p:spPr>
        <p:txBody>
          <a:bodyPr wrap="square" lIns="0" tIns="0" rIns="0" bIns="0" rtlCol="0" anchor="t"/>
          <a:lstStyle/>
          <a:p>
            <a:pPr marL="0" indent="0" algn="l">
              <a:lnSpc>
                <a:spcPts val="2475"/>
              </a:lnSpc>
              <a:spcAft>
                <a:spcPts val="2400"/>
              </a:spcAft>
              <a:buNone/>
            </a:pPr>
            <a:r>
              <a:rPr lang="en-US" sz="1650" i="1" dirty="0">
                <a:solidFill>
                  <a:srgbClr val="FFFFFF"/>
                </a:solidFill>
                <a:latin typeface="Georgia" pitchFamily="34" charset="0"/>
                <a:ea typeface="Georgia" pitchFamily="34" charset="-122"/>
                <a:cs typeface="Georgia" pitchFamily="34" charset="-120"/>
              </a:rPr>
              <a:t>Voice removes that bottleneck.</a:t>
            </a:r>
            <a:endParaRPr lang="en-US" sz="1650" dirty="0"/>
          </a:p>
        </p:txBody>
      </p:sp>
      <p:sp>
        <p:nvSpPr>
          <p:cNvPr id="6" name="Text 4"/>
          <p:cNvSpPr/>
          <p:nvPr/>
        </p:nvSpPr>
        <p:spPr>
          <a:xfrm>
            <a:off x="457200" y="3540323"/>
            <a:ext cx="457200" cy="19050"/>
          </a:xfrm>
          <a:prstGeom prst="rect">
            <a:avLst/>
          </a:prstGeom>
          <a:solidFill>
            <a:srgbClr val="C9A227"/>
          </a:solidFill>
          <a:ln/>
        </p:spPr>
        <p:txBody>
          <a:bodyPr wrap="square" rtlCol="0" anchor="ctr"/>
          <a:lstStyle/>
          <a:p>
            <a:pPr marL="0" indent="0">
              <a:buNone/>
            </a:pPr>
            <a:endParaRPr lang="en-US" dirty="0"/>
          </a:p>
        </p:txBody>
      </p:sp>
      <p:sp>
        <p:nvSpPr>
          <p:cNvPr id="7" name="Text 5"/>
          <p:cNvSpPr/>
          <p:nvPr/>
        </p:nvSpPr>
        <p:spPr>
          <a:xfrm>
            <a:off x="457200" y="3864173"/>
            <a:ext cx="4109657" cy="159990"/>
          </a:xfrm>
          <a:prstGeom prst="rect">
            <a:avLst/>
          </a:prstGeom>
          <a:noFill/>
          <a:ln/>
        </p:spPr>
        <p:txBody>
          <a:bodyPr wrap="square" lIns="0" tIns="0" rIns="0" bIns="0" rtlCol="0" anchor="t"/>
          <a:lstStyle/>
          <a:p>
            <a:pPr marL="0" indent="0" algn="l">
              <a:lnSpc>
                <a:spcPts val="1260"/>
              </a:lnSpc>
              <a:buNone/>
            </a:pPr>
            <a:r>
              <a:rPr lang="en-US" sz="900" dirty="0">
                <a:solidFill>
                  <a:srgbClr val="FFFFFF">
                    <a:alpha val="50000"/>
                  </a:srgbClr>
                </a:solidFill>
                <a:latin typeface="Arial" pitchFamily="34" charset="0"/>
                <a:ea typeface="Arial" pitchFamily="34" charset="-122"/>
                <a:cs typeface="Arial" pitchFamily="34" charset="-120"/>
              </a:rPr>
              <a:t>Voice-Driven AI Toolkit Research</a:t>
            </a:r>
            <a:endParaRPr lang="en-US" sz="900" dirty="0"/>
          </a:p>
        </p:txBody>
      </p:sp>
      <p:sp>
        <p:nvSpPr>
          <p:cNvPr id="8" name="Text 6"/>
          <p:cNvSpPr/>
          <p:nvPr/>
        </p:nvSpPr>
        <p:spPr>
          <a:xfrm>
            <a:off x="5095875" y="0"/>
            <a:ext cx="4048125" cy="5143500"/>
          </a:xfrm>
          <a:prstGeom prst="rect">
            <a:avLst/>
          </a:prstGeom>
          <a:solidFill>
            <a:srgbClr val="F7F8FA"/>
          </a:solidFill>
          <a:ln/>
        </p:spPr>
        <p:txBody>
          <a:bodyPr wrap="square" rtlCol="0" anchor="ctr"/>
          <a:lstStyle/>
          <a:p>
            <a:pPr marL="0" indent="0">
              <a:buNone/>
            </a:pPr>
            <a:endParaRPr lang="en-US" dirty="0"/>
          </a:p>
        </p:txBody>
      </p:sp>
      <p:sp>
        <p:nvSpPr>
          <p:cNvPr id="9" name="Text 7"/>
          <p:cNvSpPr/>
          <p:nvPr/>
        </p:nvSpPr>
        <p:spPr>
          <a:xfrm>
            <a:off x="5553075" y="922139"/>
            <a:ext cx="3196400" cy="685800"/>
          </a:xfrm>
          <a:prstGeom prst="rect">
            <a:avLst/>
          </a:prstGeom>
          <a:noFill/>
          <a:ln/>
        </p:spPr>
        <p:txBody>
          <a:bodyPr wrap="square" lIns="0" tIns="0" rIns="0" bIns="0" rtlCol="0" anchor="t"/>
          <a:lstStyle/>
          <a:p>
            <a:pPr marL="0" indent="0" algn="l">
              <a:lnSpc>
                <a:spcPts val="5400"/>
              </a:lnSpc>
              <a:buNone/>
            </a:pPr>
            <a:r>
              <a:rPr lang="en-US" sz="5400" dirty="0">
                <a:solidFill>
                  <a:srgbClr val="C9A227"/>
                </a:solidFill>
                <a:latin typeface="Georgia" pitchFamily="34" charset="0"/>
                <a:ea typeface="Georgia" pitchFamily="34" charset="-122"/>
                <a:cs typeface="Georgia" pitchFamily="34" charset="-120"/>
              </a:rPr>
              <a:t>150</a:t>
            </a:r>
            <a:endParaRPr lang="en-US" sz="5400" dirty="0"/>
          </a:p>
        </p:txBody>
      </p:sp>
      <p:sp>
        <p:nvSpPr>
          <p:cNvPr id="10" name="Text 8"/>
          <p:cNvSpPr/>
          <p:nvPr/>
        </p:nvSpPr>
        <p:spPr>
          <a:xfrm>
            <a:off x="5553075" y="1646039"/>
            <a:ext cx="3196400" cy="186630"/>
          </a:xfrm>
          <a:prstGeom prst="rect">
            <a:avLst/>
          </a:prstGeom>
          <a:noFill/>
          <a:ln/>
        </p:spPr>
        <p:txBody>
          <a:bodyPr wrap="square" lIns="0" tIns="0" rIns="0" bIns="0" rtlCol="0" anchor="t"/>
          <a:lstStyle/>
          <a:p>
            <a:pPr marL="0" indent="0" algn="l">
              <a:lnSpc>
                <a:spcPts val="1470"/>
              </a:lnSpc>
              <a:spcBef>
                <a:spcPts val="300"/>
              </a:spcBef>
              <a:buNone/>
            </a:pPr>
            <a:r>
              <a:rPr lang="en-US" sz="1050" dirty="0">
                <a:solidFill>
                  <a:srgbClr val="1A1F2E"/>
                </a:solidFill>
                <a:latin typeface="Arial" pitchFamily="34" charset="0"/>
                <a:ea typeface="Arial" pitchFamily="34" charset="-122"/>
                <a:cs typeface="Arial" pitchFamily="34" charset="-120"/>
              </a:rPr>
              <a:t>words per minute speaking</a:t>
            </a:r>
            <a:endParaRPr lang="en-US" sz="1050" dirty="0"/>
          </a:p>
        </p:txBody>
      </p:sp>
      <p:sp>
        <p:nvSpPr>
          <p:cNvPr id="11" name="Text 9"/>
          <p:cNvSpPr/>
          <p:nvPr/>
        </p:nvSpPr>
        <p:spPr>
          <a:xfrm>
            <a:off x="5553075" y="2137470"/>
            <a:ext cx="3133725" cy="9525"/>
          </a:xfrm>
          <a:prstGeom prst="rect">
            <a:avLst/>
          </a:prstGeom>
          <a:solidFill>
            <a:srgbClr val="E4E7ED"/>
          </a:solidFill>
          <a:ln/>
        </p:spPr>
        <p:txBody>
          <a:bodyPr wrap="square" rtlCol="0" anchor="ctr"/>
          <a:lstStyle/>
          <a:p>
            <a:pPr marL="0" indent="0">
              <a:buNone/>
            </a:pPr>
            <a:endParaRPr lang="en-US" dirty="0"/>
          </a:p>
        </p:txBody>
      </p:sp>
      <p:sp>
        <p:nvSpPr>
          <p:cNvPr id="12" name="Text 10"/>
          <p:cNvSpPr/>
          <p:nvPr/>
        </p:nvSpPr>
        <p:spPr>
          <a:xfrm>
            <a:off x="5553075" y="2451795"/>
            <a:ext cx="3196400" cy="685800"/>
          </a:xfrm>
          <a:prstGeom prst="rect">
            <a:avLst/>
          </a:prstGeom>
          <a:noFill/>
          <a:ln/>
        </p:spPr>
        <p:txBody>
          <a:bodyPr wrap="square" lIns="0" tIns="0" rIns="0" bIns="0" rtlCol="0" anchor="t"/>
          <a:lstStyle/>
          <a:p>
            <a:pPr marL="0" indent="0" algn="l">
              <a:lnSpc>
                <a:spcPts val="5400"/>
              </a:lnSpc>
              <a:buNone/>
            </a:pPr>
            <a:r>
              <a:rPr lang="en-US" sz="5400" dirty="0">
                <a:solidFill>
                  <a:srgbClr val="6B7280"/>
                </a:solidFill>
                <a:latin typeface="Georgia" pitchFamily="34" charset="0"/>
                <a:ea typeface="Georgia" pitchFamily="34" charset="-122"/>
                <a:cs typeface="Georgia" pitchFamily="34" charset="-120"/>
              </a:rPr>
              <a:t>40</a:t>
            </a:r>
            <a:endParaRPr lang="en-US" sz="5400" dirty="0"/>
          </a:p>
        </p:txBody>
      </p:sp>
      <p:sp>
        <p:nvSpPr>
          <p:cNvPr id="13" name="Text 11"/>
          <p:cNvSpPr/>
          <p:nvPr/>
        </p:nvSpPr>
        <p:spPr>
          <a:xfrm>
            <a:off x="5553075" y="3175695"/>
            <a:ext cx="3196400" cy="186630"/>
          </a:xfrm>
          <a:prstGeom prst="rect">
            <a:avLst/>
          </a:prstGeom>
          <a:noFill/>
          <a:ln/>
        </p:spPr>
        <p:txBody>
          <a:bodyPr wrap="square" lIns="0" tIns="0" rIns="0" bIns="0" rtlCol="0" anchor="t"/>
          <a:lstStyle/>
          <a:p>
            <a:pPr marL="0" indent="0" algn="l">
              <a:lnSpc>
                <a:spcPts val="1470"/>
              </a:lnSpc>
              <a:spcBef>
                <a:spcPts val="300"/>
              </a:spcBef>
              <a:buNone/>
            </a:pPr>
            <a:r>
              <a:rPr lang="en-US" sz="1050" dirty="0">
                <a:solidFill>
                  <a:srgbClr val="6B7280"/>
                </a:solidFill>
                <a:latin typeface="Arial" pitchFamily="34" charset="0"/>
                <a:ea typeface="Arial" pitchFamily="34" charset="-122"/>
                <a:cs typeface="Arial" pitchFamily="34" charset="-120"/>
              </a:rPr>
              <a:t>words per minute typing</a:t>
            </a:r>
            <a:endParaRPr lang="en-US" sz="1050" dirty="0"/>
          </a:p>
        </p:txBody>
      </p:sp>
      <p:sp>
        <p:nvSpPr>
          <p:cNvPr id="14" name="Text 12"/>
          <p:cNvSpPr/>
          <p:nvPr/>
        </p:nvSpPr>
        <p:spPr>
          <a:xfrm>
            <a:off x="5553075" y="3743325"/>
            <a:ext cx="3133725" cy="478036"/>
          </a:xfrm>
          <a:prstGeom prst="rect">
            <a:avLst/>
          </a:prstGeom>
          <a:solidFill>
            <a:srgbClr val="1A1F2E"/>
          </a:solidFill>
          <a:ln/>
        </p:spPr>
        <p:txBody>
          <a:bodyPr wrap="square" rtlCol="0" anchor="ctr"/>
          <a:lstStyle/>
          <a:p>
            <a:pPr marL="0" indent="0">
              <a:buNone/>
            </a:pPr>
            <a:endParaRPr lang="en-US" dirty="0"/>
          </a:p>
        </p:txBody>
      </p:sp>
      <p:sp>
        <p:nvSpPr>
          <p:cNvPr id="15" name="Text 13"/>
          <p:cNvSpPr/>
          <p:nvPr/>
        </p:nvSpPr>
        <p:spPr>
          <a:xfrm>
            <a:off x="5716048" y="3895725"/>
            <a:ext cx="2807779" cy="173236"/>
          </a:xfrm>
          <a:prstGeom prst="rect">
            <a:avLst/>
          </a:prstGeom>
          <a:noFill/>
          <a:ln/>
        </p:spPr>
        <p:txBody>
          <a:bodyPr wrap="square" lIns="0" tIns="0" rIns="0" bIns="0" rtlCol="0" anchor="t"/>
          <a:lstStyle/>
          <a:p>
            <a:pPr marL="0" indent="0" algn="ctr">
              <a:lnSpc>
                <a:spcPts val="1365"/>
              </a:lnSpc>
              <a:buNone/>
            </a:pPr>
            <a:r>
              <a:rPr lang="en-US" sz="975" dirty="0">
                <a:solidFill>
                  <a:srgbClr val="FFFFFF"/>
                </a:solidFill>
                <a:latin typeface="Arial" pitchFamily="34" charset="0"/>
                <a:ea typeface="Arial" pitchFamily="34" charset="-122"/>
                <a:cs typeface="Arial" pitchFamily="34" charset="-120"/>
              </a:rPr>
              <a:t>Work at the speed of thought</a:t>
            </a:r>
            <a:endParaRPr lang="en-US" sz="97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1F2E"/>
        </a:solidFill>
        <a:effectLst/>
      </p:bgPr>
    </p:bg>
    <p:spTree>
      <p:nvGrpSpPr>
        <p:cNvPr id="1" name=""/>
        <p:cNvGrpSpPr/>
        <p:nvPr/>
      </p:nvGrpSpPr>
      <p:grpSpPr>
        <a:xfrm>
          <a:off x="0" y="0"/>
          <a:ext cx="0" cy="0"/>
          <a:chOff x="0" y="0"/>
          <a:chExt cx="0" cy="0"/>
        </a:xfrm>
      </p:grpSpPr>
      <p:sp>
        <p:nvSpPr>
          <p:cNvPr id="2" name="Text 0"/>
          <p:cNvSpPr/>
          <p:nvPr/>
        </p:nvSpPr>
        <p:spPr>
          <a:xfrm>
            <a:off x="457200" y="342900"/>
            <a:ext cx="8394192" cy="146596"/>
          </a:xfrm>
          <a:prstGeom prst="rect">
            <a:avLst/>
          </a:prstGeom>
          <a:noFill/>
          <a:ln/>
        </p:spPr>
        <p:txBody>
          <a:bodyPr wrap="square" lIns="0" tIns="0" rIns="0" bIns="0" rtlCol="0" anchor="t"/>
          <a:lstStyle/>
          <a:p>
            <a:pPr marL="0" indent="0" algn="l">
              <a:lnSpc>
                <a:spcPts val="1155"/>
              </a:lnSpc>
              <a:spcAft>
                <a:spcPts val="600"/>
              </a:spcAft>
              <a:buNone/>
            </a:pPr>
            <a:r>
              <a:rPr lang="en-US" sz="825" dirty="0">
                <a:solidFill>
                  <a:srgbClr val="C9A227"/>
                </a:solidFill>
                <a:latin typeface="Arial" pitchFamily="34" charset="0"/>
                <a:ea typeface="Arial" pitchFamily="34" charset="-122"/>
                <a:cs typeface="Arial" pitchFamily="34" charset="-120"/>
              </a:rPr>
              <a:t>WHY IT MATTERS</a:t>
            </a:r>
            <a:endParaRPr lang="en-US" sz="825" dirty="0"/>
          </a:p>
        </p:txBody>
      </p:sp>
      <p:sp>
        <p:nvSpPr>
          <p:cNvPr id="3" name="Text 1"/>
          <p:cNvSpPr/>
          <p:nvPr/>
        </p:nvSpPr>
        <p:spPr>
          <a:xfrm>
            <a:off x="457200" y="565696"/>
            <a:ext cx="4206812" cy="342900"/>
          </a:xfrm>
          <a:prstGeom prst="rect">
            <a:avLst/>
          </a:prstGeom>
          <a:noFill/>
          <a:ln/>
        </p:spPr>
        <p:txBody>
          <a:bodyPr wrap="square" lIns="0" tIns="0" rIns="0" bIns="0" rtlCol="0" anchor="t"/>
          <a:lstStyle/>
          <a:p>
            <a:pPr marL="0" indent="0" algn="l">
              <a:lnSpc>
                <a:spcPts val="2700"/>
              </a:lnSpc>
              <a:buNone/>
            </a:pPr>
            <a:r>
              <a:rPr lang="en-US" sz="2700" dirty="0">
                <a:solidFill>
                  <a:srgbClr val="FFFFFF"/>
                </a:solidFill>
                <a:latin typeface="Georgia" pitchFamily="34" charset="0"/>
                <a:ea typeface="Georgia" pitchFamily="34" charset="-122"/>
                <a:cs typeface="Georgia" pitchFamily="34" charset="-120"/>
              </a:rPr>
              <a:t>Key Benefits</a:t>
            </a:r>
            <a:endParaRPr lang="en-US" sz="2700" dirty="0"/>
          </a:p>
        </p:txBody>
      </p:sp>
      <p:sp>
        <p:nvSpPr>
          <p:cNvPr id="4" name="Text 2"/>
          <p:cNvSpPr/>
          <p:nvPr/>
        </p:nvSpPr>
        <p:spPr>
          <a:xfrm>
            <a:off x="457200" y="1942207"/>
            <a:ext cx="1943100" cy="2205633"/>
          </a:xfrm>
          <a:prstGeom prst="rect">
            <a:avLst/>
          </a:prstGeom>
          <a:solidFill>
            <a:srgbClr val="252B3D"/>
          </a:solidFill>
          <a:ln/>
        </p:spPr>
        <p:txBody>
          <a:bodyPr wrap="square" rtlCol="0" anchor="ctr"/>
          <a:lstStyle/>
          <a:p>
            <a:pPr marL="0" indent="0">
              <a:buNone/>
            </a:pPr>
            <a:endParaRPr lang="en-US" dirty="0"/>
          </a:p>
        </p:txBody>
      </p:sp>
      <p:sp>
        <p:nvSpPr>
          <p:cNvPr id="5" name="Text 3"/>
          <p:cNvSpPr/>
          <p:nvPr/>
        </p:nvSpPr>
        <p:spPr>
          <a:xfrm>
            <a:off x="685800" y="2170807"/>
            <a:ext cx="381000" cy="381000"/>
          </a:xfrm>
          <a:prstGeom prst="rect">
            <a:avLst/>
          </a:prstGeom>
          <a:solidFill>
            <a:srgbClr val="C9A227"/>
          </a:solidFill>
          <a:ln/>
        </p:spPr>
        <p:txBody>
          <a:bodyPr wrap="square" rtlCol="0" anchor="ctr"/>
          <a:lstStyle/>
          <a:p>
            <a:pPr marL="0" indent="0">
              <a:buNone/>
            </a:pPr>
            <a:endParaRPr lang="en-US" dirty="0"/>
          </a:p>
        </p:txBody>
      </p:sp>
      <p:sp>
        <p:nvSpPr>
          <p:cNvPr id="6" name="Text 4"/>
          <p:cNvSpPr/>
          <p:nvPr/>
        </p:nvSpPr>
        <p:spPr>
          <a:xfrm>
            <a:off x="770334" y="2227957"/>
            <a:ext cx="216170" cy="266700"/>
          </a:xfrm>
          <a:prstGeom prst="rect">
            <a:avLst/>
          </a:prstGeom>
          <a:noFill/>
          <a:ln/>
        </p:spPr>
        <p:txBody>
          <a:bodyPr wrap="square" lIns="0" tIns="0" rIns="0" bIns="0" rtlCol="0" anchor="t"/>
          <a:lstStyle/>
          <a:p>
            <a:pPr marL="0" indent="0" algn="l">
              <a:lnSpc>
                <a:spcPts val="2100"/>
              </a:lnSpc>
              <a:buNone/>
            </a:pPr>
            <a:r>
              <a:rPr lang="en-US" sz="1500" dirty="0">
                <a:solidFill>
                  <a:srgbClr val="1A1F2E"/>
                </a:solidFill>
                <a:latin typeface="Arial" pitchFamily="34" charset="0"/>
                <a:ea typeface="Arial" pitchFamily="34" charset="-122"/>
                <a:cs typeface="Arial" pitchFamily="34" charset="-120"/>
              </a:rPr>
              <a:t>01</a:t>
            </a:r>
            <a:endParaRPr lang="en-US" sz="1500" dirty="0"/>
          </a:p>
        </p:txBody>
      </p:sp>
      <p:sp>
        <p:nvSpPr>
          <p:cNvPr id="7" name="Text 5"/>
          <p:cNvSpPr/>
          <p:nvPr/>
        </p:nvSpPr>
        <p:spPr>
          <a:xfrm>
            <a:off x="685800" y="2856607"/>
            <a:ext cx="1515618" cy="213271"/>
          </a:xfrm>
          <a:prstGeom prst="rect">
            <a:avLst/>
          </a:prstGeom>
          <a:noFill/>
          <a:ln/>
        </p:spPr>
        <p:txBody>
          <a:bodyPr wrap="square" lIns="0" tIns="0" rIns="0" bIns="0" rtlCol="0" anchor="t"/>
          <a:lstStyle/>
          <a:p>
            <a:pPr marL="0" indent="0" algn="l">
              <a:lnSpc>
                <a:spcPts val="1680"/>
              </a:lnSpc>
              <a:spcAft>
                <a:spcPts val="900"/>
              </a:spcAft>
              <a:buNone/>
            </a:pPr>
            <a:r>
              <a:rPr lang="en-US" sz="1200" dirty="0">
                <a:solidFill>
                  <a:srgbClr val="FFFFFF"/>
                </a:solidFill>
                <a:latin typeface="Georgia" pitchFamily="34" charset="0"/>
                <a:ea typeface="Georgia" pitchFamily="34" charset="-122"/>
                <a:cs typeface="Georgia" pitchFamily="34" charset="-120"/>
              </a:rPr>
              <a:t>Ergonomic</a:t>
            </a:r>
            <a:endParaRPr lang="en-US" sz="1200" dirty="0"/>
          </a:p>
        </p:txBody>
      </p:sp>
      <p:sp>
        <p:nvSpPr>
          <p:cNvPr id="8" name="Text 6"/>
          <p:cNvSpPr/>
          <p:nvPr/>
        </p:nvSpPr>
        <p:spPr>
          <a:xfrm>
            <a:off x="685800" y="3336578"/>
            <a:ext cx="1515618" cy="582662"/>
          </a:xfrm>
          <a:prstGeom prst="rect">
            <a:avLst/>
          </a:prstGeom>
          <a:noFill/>
          <a:ln/>
        </p:spPr>
        <p:txBody>
          <a:bodyPr wrap="square" lIns="0" tIns="0" rIns="0" bIns="0" rtlCol="0" anchor="t"/>
          <a:lstStyle/>
          <a:p>
            <a:pPr marL="0" indent="0" algn="l">
              <a:lnSpc>
                <a:spcPts val="1530"/>
              </a:lnSpc>
              <a:buNone/>
            </a:pPr>
            <a:r>
              <a:rPr lang="en-US" sz="900" dirty="0">
                <a:solidFill>
                  <a:srgbClr val="FFFFFF">
                    <a:alpha val="60000"/>
                  </a:srgbClr>
                </a:solidFill>
                <a:latin typeface="Arial" pitchFamily="34" charset="0"/>
                <a:ea typeface="Arial" pitchFamily="34" charset="-122"/>
                <a:cs typeface="Arial" pitchFamily="34" charset="-120"/>
              </a:rPr>
              <a:t>RSI prevention</a:t>
            </a:r>
            <a:endParaRPr lang="en-US" sz="900" dirty="0"/>
          </a:p>
          <a:p>
            <a:pPr marL="0" indent="0" algn="l">
              <a:lnSpc>
                <a:spcPts val="1530"/>
              </a:lnSpc>
              <a:buNone/>
            </a:pPr>
            <a:r>
              <a:rPr lang="en-US" sz="900" dirty="0">
                <a:solidFill>
                  <a:srgbClr val="FFFFFF">
                    <a:alpha val="60000"/>
                  </a:srgbClr>
                </a:solidFill>
                <a:latin typeface="Arial" pitchFamily="34" charset="0"/>
                <a:ea typeface="Arial" pitchFamily="34" charset="-122"/>
                <a:cs typeface="Arial" pitchFamily="34" charset="-120"/>
              </a:rPr>
              <a:t>Reduced physical strain</a:t>
            </a:r>
            <a:endParaRPr lang="en-US" sz="900" dirty="0"/>
          </a:p>
          <a:p>
            <a:pPr marL="0" indent="0" algn="l">
              <a:lnSpc>
                <a:spcPts val="1530"/>
              </a:lnSpc>
              <a:buNone/>
            </a:pPr>
            <a:r>
              <a:rPr lang="en-US" sz="900" dirty="0">
                <a:solidFill>
                  <a:srgbClr val="FFFFFF">
                    <a:alpha val="60000"/>
                  </a:srgbClr>
                </a:solidFill>
                <a:latin typeface="Arial" pitchFamily="34" charset="0"/>
                <a:ea typeface="Arial" pitchFamily="34" charset="-122"/>
                <a:cs typeface="Arial" pitchFamily="34" charset="-120"/>
              </a:rPr>
              <a:t>Accessibility support</a:t>
            </a:r>
            <a:endParaRPr lang="en-US" sz="900" dirty="0"/>
          </a:p>
        </p:txBody>
      </p:sp>
      <p:sp>
        <p:nvSpPr>
          <p:cNvPr id="9" name="Text 7"/>
          <p:cNvSpPr/>
          <p:nvPr/>
        </p:nvSpPr>
        <p:spPr>
          <a:xfrm>
            <a:off x="2552700" y="1942207"/>
            <a:ext cx="1943100" cy="2205633"/>
          </a:xfrm>
          <a:prstGeom prst="rect">
            <a:avLst/>
          </a:prstGeom>
          <a:solidFill>
            <a:srgbClr val="252B3D"/>
          </a:solidFill>
          <a:ln/>
        </p:spPr>
        <p:txBody>
          <a:bodyPr wrap="square" rtlCol="0" anchor="ctr"/>
          <a:lstStyle/>
          <a:p>
            <a:pPr marL="0" indent="0">
              <a:buNone/>
            </a:pPr>
            <a:endParaRPr lang="en-US" dirty="0"/>
          </a:p>
        </p:txBody>
      </p:sp>
      <p:sp>
        <p:nvSpPr>
          <p:cNvPr id="10" name="Text 8"/>
          <p:cNvSpPr/>
          <p:nvPr/>
        </p:nvSpPr>
        <p:spPr>
          <a:xfrm>
            <a:off x="2781300" y="2170807"/>
            <a:ext cx="381000" cy="381000"/>
          </a:xfrm>
          <a:prstGeom prst="rect">
            <a:avLst/>
          </a:prstGeom>
          <a:solidFill>
            <a:srgbClr val="C9A227"/>
          </a:solidFill>
          <a:ln/>
        </p:spPr>
        <p:txBody>
          <a:bodyPr wrap="square" rtlCol="0" anchor="ctr"/>
          <a:lstStyle/>
          <a:p>
            <a:pPr marL="0" indent="0">
              <a:buNone/>
            </a:pPr>
            <a:endParaRPr lang="en-US" dirty="0"/>
          </a:p>
        </p:txBody>
      </p:sp>
      <p:sp>
        <p:nvSpPr>
          <p:cNvPr id="11" name="Text 9"/>
          <p:cNvSpPr/>
          <p:nvPr/>
        </p:nvSpPr>
        <p:spPr>
          <a:xfrm>
            <a:off x="2865834" y="2227957"/>
            <a:ext cx="216170" cy="266700"/>
          </a:xfrm>
          <a:prstGeom prst="rect">
            <a:avLst/>
          </a:prstGeom>
          <a:noFill/>
          <a:ln/>
        </p:spPr>
        <p:txBody>
          <a:bodyPr wrap="square" lIns="0" tIns="0" rIns="0" bIns="0" rtlCol="0" anchor="t"/>
          <a:lstStyle/>
          <a:p>
            <a:pPr marL="0" indent="0" algn="l">
              <a:lnSpc>
                <a:spcPts val="2100"/>
              </a:lnSpc>
              <a:buNone/>
            </a:pPr>
            <a:r>
              <a:rPr lang="en-US" sz="1500" dirty="0">
                <a:solidFill>
                  <a:srgbClr val="1A1F2E"/>
                </a:solidFill>
                <a:latin typeface="Arial" pitchFamily="34" charset="0"/>
                <a:ea typeface="Arial" pitchFamily="34" charset="-122"/>
                <a:cs typeface="Arial" pitchFamily="34" charset="-120"/>
              </a:rPr>
              <a:t>02</a:t>
            </a:r>
            <a:endParaRPr lang="en-US" sz="1500" dirty="0"/>
          </a:p>
        </p:txBody>
      </p:sp>
      <p:sp>
        <p:nvSpPr>
          <p:cNvPr id="12" name="Text 10"/>
          <p:cNvSpPr/>
          <p:nvPr/>
        </p:nvSpPr>
        <p:spPr>
          <a:xfrm>
            <a:off x="2781300" y="2856607"/>
            <a:ext cx="1515618" cy="213271"/>
          </a:xfrm>
          <a:prstGeom prst="rect">
            <a:avLst/>
          </a:prstGeom>
          <a:noFill/>
          <a:ln/>
        </p:spPr>
        <p:txBody>
          <a:bodyPr wrap="square" lIns="0" tIns="0" rIns="0" bIns="0" rtlCol="0" anchor="t"/>
          <a:lstStyle/>
          <a:p>
            <a:pPr marL="0" indent="0" algn="l">
              <a:lnSpc>
                <a:spcPts val="1680"/>
              </a:lnSpc>
              <a:spcAft>
                <a:spcPts val="900"/>
              </a:spcAft>
              <a:buNone/>
            </a:pPr>
            <a:r>
              <a:rPr lang="en-US" sz="1200" dirty="0">
                <a:solidFill>
                  <a:srgbClr val="FFFFFF"/>
                </a:solidFill>
                <a:latin typeface="Georgia" pitchFamily="34" charset="0"/>
                <a:ea typeface="Georgia" pitchFamily="34" charset="-122"/>
                <a:cs typeface="Georgia" pitchFamily="34" charset="-120"/>
              </a:rPr>
              <a:t>Productivity</a:t>
            </a:r>
            <a:endParaRPr lang="en-US" sz="1200" dirty="0"/>
          </a:p>
        </p:txBody>
      </p:sp>
      <p:sp>
        <p:nvSpPr>
          <p:cNvPr id="13" name="Text 11"/>
          <p:cNvSpPr/>
          <p:nvPr/>
        </p:nvSpPr>
        <p:spPr>
          <a:xfrm>
            <a:off x="2781300" y="3336578"/>
            <a:ext cx="1515618" cy="582662"/>
          </a:xfrm>
          <a:prstGeom prst="rect">
            <a:avLst/>
          </a:prstGeom>
          <a:noFill/>
          <a:ln/>
        </p:spPr>
        <p:txBody>
          <a:bodyPr wrap="square" lIns="0" tIns="0" rIns="0" bIns="0" rtlCol="0" anchor="t"/>
          <a:lstStyle/>
          <a:p>
            <a:pPr marL="0" indent="0" algn="l">
              <a:lnSpc>
                <a:spcPts val="1530"/>
              </a:lnSpc>
              <a:buNone/>
            </a:pPr>
            <a:r>
              <a:rPr lang="en-US" sz="900" dirty="0">
                <a:solidFill>
                  <a:srgbClr val="FFFFFF">
                    <a:alpha val="60000"/>
                  </a:srgbClr>
                </a:solidFill>
                <a:latin typeface="Arial" pitchFamily="34" charset="0"/>
                <a:ea typeface="Arial" pitchFamily="34" charset="-122"/>
                <a:cs typeface="Arial" pitchFamily="34" charset="-120"/>
              </a:rPr>
              <a:t>Faster iteration cycles</a:t>
            </a:r>
            <a:endParaRPr lang="en-US" sz="900" dirty="0"/>
          </a:p>
          <a:p>
            <a:pPr marL="0" indent="0" algn="l">
              <a:lnSpc>
                <a:spcPts val="1530"/>
              </a:lnSpc>
              <a:buNone/>
            </a:pPr>
            <a:r>
              <a:rPr lang="en-US" sz="900" dirty="0">
                <a:solidFill>
                  <a:srgbClr val="FFFFFF">
                    <a:alpha val="60000"/>
                  </a:srgbClr>
                </a:solidFill>
                <a:latin typeface="Arial" pitchFamily="34" charset="0"/>
                <a:ea typeface="Arial" pitchFamily="34" charset="-122"/>
                <a:cs typeface="Arial" pitchFamily="34" charset="-120"/>
              </a:rPr>
              <a:t>Speak ideas as you think</a:t>
            </a:r>
            <a:endParaRPr lang="en-US" sz="900" dirty="0"/>
          </a:p>
          <a:p>
            <a:pPr marL="0" indent="0" algn="l">
              <a:lnSpc>
                <a:spcPts val="1530"/>
              </a:lnSpc>
              <a:buNone/>
            </a:pPr>
            <a:r>
              <a:rPr lang="en-US" sz="900" dirty="0">
                <a:solidFill>
                  <a:srgbClr val="FFFFFF">
                    <a:alpha val="60000"/>
                  </a:srgbClr>
                </a:solidFill>
                <a:latin typeface="Arial" pitchFamily="34" charset="0"/>
                <a:ea typeface="Arial" pitchFamily="34" charset="-122"/>
                <a:cs typeface="Arial" pitchFamily="34" charset="-120"/>
              </a:rPr>
              <a:t>Reduce context switching</a:t>
            </a:r>
            <a:endParaRPr lang="en-US" sz="900" dirty="0"/>
          </a:p>
        </p:txBody>
      </p:sp>
      <p:sp>
        <p:nvSpPr>
          <p:cNvPr id="14" name="Text 12"/>
          <p:cNvSpPr/>
          <p:nvPr/>
        </p:nvSpPr>
        <p:spPr>
          <a:xfrm>
            <a:off x="4648200" y="1942207"/>
            <a:ext cx="1943100" cy="2205633"/>
          </a:xfrm>
          <a:prstGeom prst="rect">
            <a:avLst/>
          </a:prstGeom>
          <a:solidFill>
            <a:srgbClr val="252B3D"/>
          </a:solidFill>
          <a:ln/>
        </p:spPr>
        <p:txBody>
          <a:bodyPr wrap="square" rtlCol="0" anchor="ctr"/>
          <a:lstStyle/>
          <a:p>
            <a:pPr marL="0" indent="0">
              <a:buNone/>
            </a:pPr>
            <a:endParaRPr lang="en-US" dirty="0"/>
          </a:p>
        </p:txBody>
      </p:sp>
      <p:sp>
        <p:nvSpPr>
          <p:cNvPr id="15" name="Text 13"/>
          <p:cNvSpPr/>
          <p:nvPr/>
        </p:nvSpPr>
        <p:spPr>
          <a:xfrm>
            <a:off x="4876800" y="2170807"/>
            <a:ext cx="381000" cy="381000"/>
          </a:xfrm>
          <a:prstGeom prst="rect">
            <a:avLst/>
          </a:prstGeom>
          <a:solidFill>
            <a:srgbClr val="C9A227"/>
          </a:solidFill>
          <a:ln/>
        </p:spPr>
        <p:txBody>
          <a:bodyPr wrap="square" rtlCol="0" anchor="ctr"/>
          <a:lstStyle/>
          <a:p>
            <a:pPr marL="0" indent="0">
              <a:buNone/>
            </a:pPr>
            <a:endParaRPr lang="en-US" dirty="0"/>
          </a:p>
        </p:txBody>
      </p:sp>
      <p:sp>
        <p:nvSpPr>
          <p:cNvPr id="16" name="Text 14"/>
          <p:cNvSpPr/>
          <p:nvPr/>
        </p:nvSpPr>
        <p:spPr>
          <a:xfrm>
            <a:off x="4961334" y="2227957"/>
            <a:ext cx="216170" cy="266700"/>
          </a:xfrm>
          <a:prstGeom prst="rect">
            <a:avLst/>
          </a:prstGeom>
          <a:noFill/>
          <a:ln/>
        </p:spPr>
        <p:txBody>
          <a:bodyPr wrap="square" lIns="0" tIns="0" rIns="0" bIns="0" rtlCol="0" anchor="t"/>
          <a:lstStyle/>
          <a:p>
            <a:pPr marL="0" indent="0" algn="l">
              <a:lnSpc>
                <a:spcPts val="2100"/>
              </a:lnSpc>
              <a:buNone/>
            </a:pPr>
            <a:r>
              <a:rPr lang="en-US" sz="1500" dirty="0">
                <a:solidFill>
                  <a:srgbClr val="1A1F2E"/>
                </a:solidFill>
                <a:latin typeface="Arial" pitchFamily="34" charset="0"/>
                <a:ea typeface="Arial" pitchFamily="34" charset="-122"/>
                <a:cs typeface="Arial" pitchFamily="34" charset="-120"/>
              </a:rPr>
              <a:t>03</a:t>
            </a:r>
            <a:endParaRPr lang="en-US" sz="1500" dirty="0"/>
          </a:p>
        </p:txBody>
      </p:sp>
      <p:sp>
        <p:nvSpPr>
          <p:cNvPr id="17" name="Text 15"/>
          <p:cNvSpPr/>
          <p:nvPr/>
        </p:nvSpPr>
        <p:spPr>
          <a:xfrm>
            <a:off x="4876800" y="2856607"/>
            <a:ext cx="1515618" cy="213271"/>
          </a:xfrm>
          <a:prstGeom prst="rect">
            <a:avLst/>
          </a:prstGeom>
          <a:noFill/>
          <a:ln/>
        </p:spPr>
        <p:txBody>
          <a:bodyPr wrap="square" lIns="0" tIns="0" rIns="0" bIns="0" rtlCol="0" anchor="t"/>
          <a:lstStyle/>
          <a:p>
            <a:pPr marL="0" indent="0" algn="l">
              <a:lnSpc>
                <a:spcPts val="1680"/>
              </a:lnSpc>
              <a:spcAft>
                <a:spcPts val="900"/>
              </a:spcAft>
              <a:buNone/>
            </a:pPr>
            <a:r>
              <a:rPr lang="en-US" sz="1200" dirty="0">
                <a:solidFill>
                  <a:srgbClr val="FFFFFF"/>
                </a:solidFill>
                <a:latin typeface="Georgia" pitchFamily="34" charset="0"/>
                <a:ea typeface="Georgia" pitchFamily="34" charset="-122"/>
                <a:cs typeface="Georgia" pitchFamily="34" charset="-120"/>
              </a:rPr>
              <a:t>Multitasking</a:t>
            </a:r>
            <a:endParaRPr lang="en-US" sz="1200" dirty="0"/>
          </a:p>
        </p:txBody>
      </p:sp>
      <p:sp>
        <p:nvSpPr>
          <p:cNvPr id="18" name="Text 16"/>
          <p:cNvSpPr/>
          <p:nvPr/>
        </p:nvSpPr>
        <p:spPr>
          <a:xfrm>
            <a:off x="4876800" y="3336578"/>
            <a:ext cx="1515618" cy="582662"/>
          </a:xfrm>
          <a:prstGeom prst="rect">
            <a:avLst/>
          </a:prstGeom>
          <a:noFill/>
          <a:ln/>
        </p:spPr>
        <p:txBody>
          <a:bodyPr wrap="square" lIns="0" tIns="0" rIns="0" bIns="0" rtlCol="0" anchor="t"/>
          <a:lstStyle/>
          <a:p>
            <a:pPr marL="0" indent="0" algn="l">
              <a:lnSpc>
                <a:spcPts val="1530"/>
              </a:lnSpc>
              <a:buNone/>
            </a:pPr>
            <a:r>
              <a:rPr lang="en-US" sz="900" dirty="0">
                <a:solidFill>
                  <a:srgbClr val="FFFFFF">
                    <a:alpha val="60000"/>
                  </a:srgbClr>
                </a:solidFill>
                <a:latin typeface="Arial" pitchFamily="34" charset="0"/>
                <a:ea typeface="Arial" pitchFamily="34" charset="-122"/>
                <a:cs typeface="Arial" pitchFamily="34" charset="-120"/>
              </a:rPr>
              <a:t>Code while reviewing docs</a:t>
            </a:r>
            <a:endParaRPr lang="en-US" sz="900" dirty="0"/>
          </a:p>
          <a:p>
            <a:pPr marL="0" indent="0" algn="l">
              <a:lnSpc>
                <a:spcPts val="1530"/>
              </a:lnSpc>
              <a:buNone/>
            </a:pPr>
            <a:r>
              <a:rPr lang="en-US" sz="900" dirty="0">
                <a:solidFill>
                  <a:srgbClr val="FFFFFF">
                    <a:alpha val="60000"/>
                  </a:srgbClr>
                </a:solidFill>
                <a:latin typeface="Arial" pitchFamily="34" charset="0"/>
                <a:ea typeface="Arial" pitchFamily="34" charset="-122"/>
                <a:cs typeface="Arial" pitchFamily="34" charset="-120"/>
              </a:rPr>
              <a:t>Hands-free operation</a:t>
            </a:r>
            <a:endParaRPr lang="en-US" sz="900" dirty="0"/>
          </a:p>
          <a:p>
            <a:pPr marL="0" indent="0" algn="l">
              <a:lnSpc>
                <a:spcPts val="1530"/>
              </a:lnSpc>
              <a:buNone/>
            </a:pPr>
            <a:r>
              <a:rPr lang="en-US" sz="900" dirty="0">
                <a:solidFill>
                  <a:srgbClr val="FFFFFF">
                    <a:alpha val="60000"/>
                  </a:srgbClr>
                </a:solidFill>
                <a:latin typeface="Arial" pitchFamily="34" charset="0"/>
                <a:ea typeface="Arial" pitchFamily="34" charset="-122"/>
                <a:cs typeface="Arial" pitchFamily="34" charset="-120"/>
              </a:rPr>
              <a:t>Think out loud naturally</a:t>
            </a:r>
            <a:endParaRPr lang="en-US" sz="900" dirty="0"/>
          </a:p>
        </p:txBody>
      </p:sp>
      <p:sp>
        <p:nvSpPr>
          <p:cNvPr id="19" name="Text 17"/>
          <p:cNvSpPr/>
          <p:nvPr/>
        </p:nvSpPr>
        <p:spPr>
          <a:xfrm>
            <a:off x="6743700" y="1942207"/>
            <a:ext cx="1943100" cy="2205633"/>
          </a:xfrm>
          <a:prstGeom prst="rect">
            <a:avLst/>
          </a:prstGeom>
          <a:solidFill>
            <a:srgbClr val="252B3D"/>
          </a:solidFill>
          <a:ln/>
        </p:spPr>
        <p:txBody>
          <a:bodyPr wrap="square" rtlCol="0" anchor="ctr"/>
          <a:lstStyle/>
          <a:p>
            <a:pPr marL="0" indent="0">
              <a:buNone/>
            </a:pPr>
            <a:endParaRPr lang="en-US" dirty="0"/>
          </a:p>
        </p:txBody>
      </p:sp>
      <p:sp>
        <p:nvSpPr>
          <p:cNvPr id="20" name="Text 18"/>
          <p:cNvSpPr/>
          <p:nvPr/>
        </p:nvSpPr>
        <p:spPr>
          <a:xfrm>
            <a:off x="6972300" y="2170807"/>
            <a:ext cx="381000" cy="381000"/>
          </a:xfrm>
          <a:prstGeom prst="rect">
            <a:avLst/>
          </a:prstGeom>
          <a:solidFill>
            <a:srgbClr val="C9A227"/>
          </a:solidFill>
          <a:ln/>
        </p:spPr>
        <p:txBody>
          <a:bodyPr wrap="square" rtlCol="0" anchor="ctr"/>
          <a:lstStyle/>
          <a:p>
            <a:pPr marL="0" indent="0">
              <a:buNone/>
            </a:pPr>
            <a:endParaRPr lang="en-US" dirty="0"/>
          </a:p>
        </p:txBody>
      </p:sp>
      <p:sp>
        <p:nvSpPr>
          <p:cNvPr id="21" name="Text 19"/>
          <p:cNvSpPr/>
          <p:nvPr/>
        </p:nvSpPr>
        <p:spPr>
          <a:xfrm>
            <a:off x="7056834" y="2227957"/>
            <a:ext cx="216170" cy="266700"/>
          </a:xfrm>
          <a:prstGeom prst="rect">
            <a:avLst/>
          </a:prstGeom>
          <a:noFill/>
          <a:ln/>
        </p:spPr>
        <p:txBody>
          <a:bodyPr wrap="square" lIns="0" tIns="0" rIns="0" bIns="0" rtlCol="0" anchor="t"/>
          <a:lstStyle/>
          <a:p>
            <a:pPr marL="0" indent="0" algn="l">
              <a:lnSpc>
                <a:spcPts val="2100"/>
              </a:lnSpc>
              <a:buNone/>
            </a:pPr>
            <a:r>
              <a:rPr lang="en-US" sz="1500" dirty="0">
                <a:solidFill>
                  <a:srgbClr val="1A1F2E"/>
                </a:solidFill>
                <a:latin typeface="Arial" pitchFamily="34" charset="0"/>
                <a:ea typeface="Arial" pitchFamily="34" charset="-122"/>
                <a:cs typeface="Arial" pitchFamily="34" charset="-120"/>
              </a:rPr>
              <a:t>04</a:t>
            </a:r>
            <a:endParaRPr lang="en-US" sz="1500" dirty="0"/>
          </a:p>
        </p:txBody>
      </p:sp>
      <p:sp>
        <p:nvSpPr>
          <p:cNvPr id="22" name="Text 20"/>
          <p:cNvSpPr/>
          <p:nvPr/>
        </p:nvSpPr>
        <p:spPr>
          <a:xfrm>
            <a:off x="6972300" y="2856607"/>
            <a:ext cx="1515618" cy="213271"/>
          </a:xfrm>
          <a:prstGeom prst="rect">
            <a:avLst/>
          </a:prstGeom>
          <a:noFill/>
          <a:ln/>
        </p:spPr>
        <p:txBody>
          <a:bodyPr wrap="square" lIns="0" tIns="0" rIns="0" bIns="0" rtlCol="0" anchor="t"/>
          <a:lstStyle/>
          <a:p>
            <a:pPr marL="0" indent="0" algn="l">
              <a:lnSpc>
                <a:spcPts val="1680"/>
              </a:lnSpc>
              <a:spcAft>
                <a:spcPts val="900"/>
              </a:spcAft>
              <a:buNone/>
            </a:pPr>
            <a:r>
              <a:rPr lang="en-US" sz="1200" dirty="0">
                <a:solidFill>
                  <a:srgbClr val="FFFFFF"/>
                </a:solidFill>
                <a:latin typeface="Georgia" pitchFamily="34" charset="0"/>
                <a:ea typeface="Georgia" pitchFamily="34" charset="-122"/>
                <a:cs typeface="Georgia" pitchFamily="34" charset="-120"/>
              </a:rPr>
              <a:t>Accessibility</a:t>
            </a:r>
            <a:endParaRPr lang="en-US" sz="1200" dirty="0"/>
          </a:p>
        </p:txBody>
      </p:sp>
      <p:sp>
        <p:nvSpPr>
          <p:cNvPr id="23" name="Text 21"/>
          <p:cNvSpPr/>
          <p:nvPr/>
        </p:nvSpPr>
        <p:spPr>
          <a:xfrm>
            <a:off x="6972300" y="3336578"/>
            <a:ext cx="1515618" cy="582662"/>
          </a:xfrm>
          <a:prstGeom prst="rect">
            <a:avLst/>
          </a:prstGeom>
          <a:noFill/>
          <a:ln/>
        </p:spPr>
        <p:txBody>
          <a:bodyPr wrap="square" lIns="0" tIns="0" rIns="0" bIns="0" rtlCol="0" anchor="t"/>
          <a:lstStyle/>
          <a:p>
            <a:pPr marL="0" indent="0" algn="l">
              <a:lnSpc>
                <a:spcPts val="1530"/>
              </a:lnSpc>
              <a:buNone/>
            </a:pPr>
            <a:r>
              <a:rPr lang="en-US" sz="900" dirty="0">
                <a:solidFill>
                  <a:srgbClr val="FFFFFF">
                    <a:alpha val="60000"/>
                  </a:srgbClr>
                </a:solidFill>
                <a:latin typeface="Arial" pitchFamily="34" charset="0"/>
                <a:ea typeface="Arial" pitchFamily="34" charset="-122"/>
                <a:cs typeface="Arial" pitchFamily="34" charset="-120"/>
              </a:rPr>
              <a:t>Mobility accommodations</a:t>
            </a:r>
            <a:endParaRPr lang="en-US" sz="900" dirty="0"/>
          </a:p>
          <a:p>
            <a:pPr marL="0" indent="0" algn="l">
              <a:lnSpc>
                <a:spcPts val="1530"/>
              </a:lnSpc>
              <a:buNone/>
            </a:pPr>
            <a:r>
              <a:rPr lang="en-US" sz="900" dirty="0">
                <a:solidFill>
                  <a:srgbClr val="FFFFFF">
                    <a:alpha val="60000"/>
                  </a:srgbClr>
                </a:solidFill>
                <a:latin typeface="Arial" pitchFamily="34" charset="0"/>
                <a:ea typeface="Arial" pitchFamily="34" charset="-122"/>
                <a:cs typeface="Arial" pitchFamily="34" charset="-120"/>
              </a:rPr>
              <a:t>Inclusive workflows</a:t>
            </a:r>
            <a:endParaRPr lang="en-US" sz="900" dirty="0"/>
          </a:p>
          <a:p>
            <a:pPr marL="0" indent="0" algn="l">
              <a:lnSpc>
                <a:spcPts val="1530"/>
              </a:lnSpc>
              <a:buNone/>
            </a:pPr>
            <a:r>
              <a:rPr lang="en-US" sz="900" dirty="0">
                <a:solidFill>
                  <a:srgbClr val="FFFFFF">
                    <a:alpha val="60000"/>
                  </a:srgbClr>
                </a:solidFill>
                <a:latin typeface="Arial" pitchFamily="34" charset="0"/>
                <a:ea typeface="Arial" pitchFamily="34" charset="-122"/>
                <a:cs typeface="Arial" pitchFamily="34" charset="-120"/>
              </a:rPr>
              <a:t>Alternative input paths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3153817" cy="5143500"/>
          </a:xfrm>
          <a:prstGeom prst="rect">
            <a:avLst/>
          </a:prstGeom>
          <a:solidFill>
            <a:srgbClr val="C9A227"/>
          </a:solidFill>
          <a:ln/>
        </p:spPr>
        <p:txBody>
          <a:bodyPr wrap="square" rtlCol="0" anchor="ctr"/>
          <a:lstStyle/>
          <a:p>
            <a:pPr marL="0" indent="0">
              <a:buNone/>
            </a:pPr>
            <a:endParaRPr lang="en-US" dirty="0"/>
          </a:p>
        </p:txBody>
      </p:sp>
      <p:sp>
        <p:nvSpPr>
          <p:cNvPr id="3" name="Text 1"/>
          <p:cNvSpPr/>
          <p:nvPr/>
        </p:nvSpPr>
        <p:spPr>
          <a:xfrm>
            <a:off x="457200" y="1387822"/>
            <a:ext cx="2284205" cy="146596"/>
          </a:xfrm>
          <a:prstGeom prst="rect">
            <a:avLst/>
          </a:prstGeom>
          <a:noFill/>
          <a:ln/>
        </p:spPr>
        <p:txBody>
          <a:bodyPr wrap="square" lIns="0" tIns="0" rIns="0" bIns="0" rtlCol="0" anchor="t"/>
          <a:lstStyle/>
          <a:p>
            <a:pPr marL="0" indent="0" algn="l">
              <a:lnSpc>
                <a:spcPts val="1155"/>
              </a:lnSpc>
              <a:spcAft>
                <a:spcPts val="1200"/>
              </a:spcAft>
              <a:buNone/>
            </a:pPr>
            <a:r>
              <a:rPr lang="en-US" sz="825" dirty="0">
                <a:solidFill>
                  <a:srgbClr val="1A1F2E"/>
                </a:solidFill>
                <a:latin typeface="Arial" pitchFamily="34" charset="0"/>
                <a:ea typeface="Arial" pitchFamily="34" charset="-122"/>
                <a:cs typeface="Arial" pitchFamily="34" charset="-120"/>
              </a:rPr>
              <a:t>PART 1 OF 3</a:t>
            </a:r>
            <a:endParaRPr lang="en-US" sz="825" dirty="0"/>
          </a:p>
        </p:txBody>
      </p:sp>
      <p:sp>
        <p:nvSpPr>
          <p:cNvPr id="4" name="Text 2"/>
          <p:cNvSpPr/>
          <p:nvPr/>
        </p:nvSpPr>
        <p:spPr>
          <a:xfrm>
            <a:off x="457200" y="1839218"/>
            <a:ext cx="1321308" cy="838200"/>
          </a:xfrm>
          <a:prstGeom prst="rect">
            <a:avLst/>
          </a:prstGeom>
          <a:noFill/>
          <a:ln/>
        </p:spPr>
        <p:txBody>
          <a:bodyPr wrap="square" lIns="0" tIns="0" rIns="0" bIns="0" rtlCol="0" anchor="t"/>
          <a:lstStyle/>
          <a:p>
            <a:pPr marL="0" indent="0" algn="l">
              <a:lnSpc>
                <a:spcPts val="3300"/>
              </a:lnSpc>
              <a:spcAft>
                <a:spcPts val="1500"/>
              </a:spcAft>
              <a:buNone/>
            </a:pPr>
            <a:r>
              <a:rPr lang="en-US" sz="3000" dirty="0">
                <a:solidFill>
                  <a:srgbClr val="1A1F2E"/>
                </a:solidFill>
                <a:latin typeface="Georgia" pitchFamily="34" charset="0"/>
                <a:ea typeface="Georgia" pitchFamily="34" charset="-122"/>
                <a:cs typeface="Georgia" pitchFamily="34" charset="-120"/>
              </a:rPr>
              <a:t>Today's</a:t>
            </a:r>
            <a:endParaRPr lang="en-US" sz="3000" dirty="0"/>
          </a:p>
          <a:p>
            <a:pPr marL="0" indent="0" algn="l">
              <a:lnSpc>
                <a:spcPts val="3300"/>
              </a:lnSpc>
              <a:spcAft>
                <a:spcPts val="1500"/>
              </a:spcAft>
              <a:buNone/>
            </a:pPr>
            <a:r>
              <a:rPr lang="en-US" sz="3000" dirty="0">
                <a:solidFill>
                  <a:srgbClr val="1A1F2E"/>
                </a:solidFill>
                <a:latin typeface="Georgia" pitchFamily="34" charset="0"/>
                <a:ea typeface="Georgia" pitchFamily="34" charset="-122"/>
                <a:cs typeface="Georgia" pitchFamily="34" charset="-120"/>
              </a:rPr>
              <a:t>Agenda</a:t>
            </a:r>
            <a:endParaRPr lang="en-US" sz="3000" dirty="0"/>
          </a:p>
        </p:txBody>
      </p:sp>
      <p:sp>
        <p:nvSpPr>
          <p:cNvPr id="5" name="Text 3"/>
          <p:cNvSpPr/>
          <p:nvPr/>
        </p:nvSpPr>
        <p:spPr>
          <a:xfrm>
            <a:off x="457200" y="3020318"/>
            <a:ext cx="457200" cy="19050"/>
          </a:xfrm>
          <a:prstGeom prst="rect">
            <a:avLst/>
          </a:prstGeom>
          <a:solidFill>
            <a:srgbClr val="1A1F2E"/>
          </a:solidFill>
          <a:ln/>
        </p:spPr>
        <p:txBody>
          <a:bodyPr wrap="square" rtlCol="0" anchor="ctr"/>
          <a:lstStyle/>
          <a:p>
            <a:pPr marL="0" indent="0">
              <a:buNone/>
            </a:pPr>
            <a:endParaRPr lang="en-US" dirty="0"/>
          </a:p>
        </p:txBody>
      </p:sp>
      <p:sp>
        <p:nvSpPr>
          <p:cNvPr id="6" name="Text 4"/>
          <p:cNvSpPr/>
          <p:nvPr/>
        </p:nvSpPr>
        <p:spPr>
          <a:xfrm>
            <a:off x="457200" y="3382268"/>
            <a:ext cx="2284205" cy="373261"/>
          </a:xfrm>
          <a:prstGeom prst="rect">
            <a:avLst/>
          </a:prstGeom>
          <a:noFill/>
          <a:ln/>
        </p:spPr>
        <p:txBody>
          <a:bodyPr wrap="square" lIns="0" tIns="0" rIns="0" bIns="0" rtlCol="0" anchor="t"/>
          <a:lstStyle/>
          <a:p>
            <a:pPr marL="0" indent="0" algn="l">
              <a:lnSpc>
                <a:spcPts val="1470"/>
              </a:lnSpc>
              <a:buNone/>
            </a:pPr>
            <a:r>
              <a:rPr lang="en-US" sz="1050" dirty="0">
                <a:solidFill>
                  <a:srgbClr val="1A1F2E">
                    <a:alpha val="80000"/>
                  </a:srgbClr>
                </a:solidFill>
                <a:latin typeface="Arial" pitchFamily="34" charset="0"/>
                <a:ea typeface="Arial" pitchFamily="34" charset="-122"/>
                <a:cs typeface="Arial" pitchFamily="34" charset="-120"/>
              </a:rPr>
              <a:t>90 minutes to understand, choose, and configure your voice tools</a:t>
            </a:r>
            <a:endParaRPr lang="en-US" sz="1050" dirty="0"/>
          </a:p>
        </p:txBody>
      </p:sp>
      <p:sp>
        <p:nvSpPr>
          <p:cNvPr id="7" name="Text 5"/>
          <p:cNvSpPr/>
          <p:nvPr/>
        </p:nvSpPr>
        <p:spPr>
          <a:xfrm>
            <a:off x="3306217" y="0"/>
            <a:ext cx="5837783" cy="5143500"/>
          </a:xfrm>
          <a:prstGeom prst="rect">
            <a:avLst/>
          </a:prstGeom>
          <a:solidFill>
            <a:srgbClr val="F7F8FA"/>
          </a:solidFill>
          <a:ln/>
        </p:spPr>
        <p:txBody>
          <a:bodyPr wrap="square" rtlCol="0" anchor="ctr"/>
          <a:lstStyle/>
          <a:p>
            <a:pPr marL="0" indent="0">
              <a:buNone/>
            </a:pPr>
            <a:endParaRPr lang="en-US" dirty="0"/>
          </a:p>
        </p:txBody>
      </p:sp>
      <p:sp>
        <p:nvSpPr>
          <p:cNvPr id="8" name="Text 6"/>
          <p:cNvSpPr/>
          <p:nvPr/>
        </p:nvSpPr>
        <p:spPr>
          <a:xfrm>
            <a:off x="3687217" y="701427"/>
            <a:ext cx="5075783" cy="401836"/>
          </a:xfrm>
          <a:prstGeom prst="rect">
            <a:avLst/>
          </a:prstGeom>
          <a:solidFill>
            <a:srgbClr val="1A1F2E"/>
          </a:solidFill>
          <a:ln/>
        </p:spPr>
        <p:txBody>
          <a:bodyPr wrap="square" rtlCol="0" anchor="ctr"/>
          <a:lstStyle/>
          <a:p>
            <a:pPr marL="0" indent="0">
              <a:buNone/>
            </a:pPr>
            <a:endParaRPr lang="en-US" dirty="0"/>
          </a:p>
        </p:txBody>
      </p:sp>
      <p:sp>
        <p:nvSpPr>
          <p:cNvPr id="9" name="Text 7"/>
          <p:cNvSpPr/>
          <p:nvPr/>
        </p:nvSpPr>
        <p:spPr>
          <a:xfrm>
            <a:off x="3858667" y="828973"/>
            <a:ext cx="582930" cy="146596"/>
          </a:xfrm>
          <a:prstGeom prst="rect">
            <a:avLst/>
          </a:prstGeom>
          <a:noFill/>
          <a:ln/>
        </p:spPr>
        <p:txBody>
          <a:bodyPr wrap="square" lIns="0" tIns="0" rIns="0" bIns="0" rtlCol="0" anchor="t"/>
          <a:lstStyle/>
          <a:p>
            <a:pPr marL="0" indent="0" algn="l">
              <a:lnSpc>
                <a:spcPts val="1155"/>
              </a:lnSpc>
              <a:buNone/>
            </a:pPr>
            <a:r>
              <a:rPr lang="en-US" sz="825" b="1" dirty="0">
                <a:solidFill>
                  <a:srgbClr val="C9A227"/>
                </a:solidFill>
                <a:latin typeface="Arial" pitchFamily="34" charset="0"/>
                <a:ea typeface="Arial" pitchFamily="34" charset="-122"/>
                <a:cs typeface="Arial" pitchFamily="34" charset="-120"/>
              </a:rPr>
              <a:t>10 min</a:t>
            </a:r>
            <a:endParaRPr lang="en-US" sz="825" dirty="0"/>
          </a:p>
        </p:txBody>
      </p:sp>
      <p:sp>
        <p:nvSpPr>
          <p:cNvPr id="10" name="Text 8"/>
          <p:cNvSpPr/>
          <p:nvPr/>
        </p:nvSpPr>
        <p:spPr>
          <a:xfrm>
            <a:off x="4582567" y="815727"/>
            <a:ext cx="1783098" cy="173236"/>
          </a:xfrm>
          <a:prstGeom prst="rect">
            <a:avLst/>
          </a:prstGeom>
          <a:noFill/>
          <a:ln/>
        </p:spPr>
        <p:txBody>
          <a:bodyPr wrap="square" lIns="0" tIns="0" rIns="0" bIns="0" rtlCol="0" anchor="t"/>
          <a:lstStyle/>
          <a:p>
            <a:pPr marL="0" indent="0" algn="l">
              <a:lnSpc>
                <a:spcPts val="1365"/>
              </a:lnSpc>
              <a:buNone/>
            </a:pPr>
            <a:r>
              <a:rPr lang="en-US" sz="975" dirty="0">
                <a:solidFill>
                  <a:srgbClr val="FFFFFF"/>
                </a:solidFill>
                <a:latin typeface="Arial" pitchFamily="34" charset="0"/>
                <a:ea typeface="Arial" pitchFamily="34" charset="-122"/>
                <a:cs typeface="Arial" pitchFamily="34" charset="-120"/>
              </a:rPr>
              <a:t>Why Voice-Driven Development</a:t>
            </a:r>
            <a:endParaRPr lang="en-US" sz="975" dirty="0"/>
          </a:p>
        </p:txBody>
      </p:sp>
      <p:sp>
        <p:nvSpPr>
          <p:cNvPr id="11" name="Text 9"/>
          <p:cNvSpPr/>
          <p:nvPr/>
        </p:nvSpPr>
        <p:spPr>
          <a:xfrm>
            <a:off x="3687217" y="1160413"/>
            <a:ext cx="5075783" cy="420886"/>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12" name="Text 10"/>
          <p:cNvSpPr/>
          <p:nvPr/>
        </p:nvSpPr>
        <p:spPr>
          <a:xfrm>
            <a:off x="3868192" y="1297484"/>
            <a:ext cx="582930" cy="146596"/>
          </a:xfrm>
          <a:prstGeom prst="rect">
            <a:avLst/>
          </a:prstGeom>
          <a:noFill/>
          <a:ln/>
        </p:spPr>
        <p:txBody>
          <a:bodyPr wrap="square" lIns="0" tIns="0" rIns="0" bIns="0" rtlCol="0" anchor="t"/>
          <a:lstStyle/>
          <a:p>
            <a:pPr marL="0" indent="0" algn="l">
              <a:lnSpc>
                <a:spcPts val="1155"/>
              </a:lnSpc>
              <a:buNone/>
            </a:pPr>
            <a:r>
              <a:rPr lang="en-US" sz="825" b="1" dirty="0">
                <a:solidFill>
                  <a:srgbClr val="C9A227"/>
                </a:solidFill>
                <a:latin typeface="Arial" pitchFamily="34" charset="0"/>
                <a:ea typeface="Arial" pitchFamily="34" charset="-122"/>
                <a:cs typeface="Arial" pitchFamily="34" charset="-120"/>
              </a:rPr>
              <a:t>10 min</a:t>
            </a:r>
            <a:endParaRPr lang="en-US" sz="825" dirty="0"/>
          </a:p>
        </p:txBody>
      </p:sp>
      <p:sp>
        <p:nvSpPr>
          <p:cNvPr id="13" name="Text 11"/>
          <p:cNvSpPr/>
          <p:nvPr/>
        </p:nvSpPr>
        <p:spPr>
          <a:xfrm>
            <a:off x="4592092" y="1284238"/>
            <a:ext cx="1289733" cy="173236"/>
          </a:xfrm>
          <a:prstGeom prst="rect">
            <a:avLst/>
          </a:prstGeom>
          <a:noFill/>
          <a:ln/>
        </p:spPr>
        <p:txBody>
          <a:bodyPr wrap="square" lIns="0" tIns="0" rIns="0" bIns="0" rtlCol="0" anchor="t"/>
          <a:lstStyle/>
          <a:p>
            <a:pPr marL="0" indent="0" algn="l">
              <a:lnSpc>
                <a:spcPts val="1365"/>
              </a:lnSpc>
              <a:buNone/>
            </a:pPr>
            <a:r>
              <a:rPr lang="en-US" sz="975" dirty="0">
                <a:solidFill>
                  <a:srgbClr val="1A1F2E"/>
                </a:solidFill>
                <a:latin typeface="Arial" pitchFamily="34" charset="0"/>
                <a:ea typeface="Arial" pitchFamily="34" charset="-122"/>
                <a:cs typeface="Arial" pitchFamily="34" charset="-120"/>
              </a:rPr>
              <a:t>Voice Tools Landscape</a:t>
            </a:r>
            <a:endParaRPr lang="en-US" sz="975" dirty="0"/>
          </a:p>
        </p:txBody>
      </p:sp>
      <p:sp>
        <p:nvSpPr>
          <p:cNvPr id="14" name="Text 12"/>
          <p:cNvSpPr/>
          <p:nvPr/>
        </p:nvSpPr>
        <p:spPr>
          <a:xfrm>
            <a:off x="3687217" y="1638449"/>
            <a:ext cx="5075783" cy="420886"/>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15" name="Text 13"/>
          <p:cNvSpPr/>
          <p:nvPr/>
        </p:nvSpPr>
        <p:spPr>
          <a:xfrm>
            <a:off x="3868192" y="1775520"/>
            <a:ext cx="582930" cy="146596"/>
          </a:xfrm>
          <a:prstGeom prst="rect">
            <a:avLst/>
          </a:prstGeom>
          <a:noFill/>
          <a:ln/>
        </p:spPr>
        <p:txBody>
          <a:bodyPr wrap="square" lIns="0" tIns="0" rIns="0" bIns="0" rtlCol="0" anchor="t"/>
          <a:lstStyle/>
          <a:p>
            <a:pPr marL="0" indent="0" algn="l">
              <a:lnSpc>
                <a:spcPts val="1155"/>
              </a:lnSpc>
              <a:buNone/>
            </a:pPr>
            <a:r>
              <a:rPr lang="en-US" sz="825" b="1" dirty="0">
                <a:solidFill>
                  <a:srgbClr val="C9A227"/>
                </a:solidFill>
                <a:latin typeface="Arial" pitchFamily="34" charset="0"/>
                <a:ea typeface="Arial" pitchFamily="34" charset="-122"/>
                <a:cs typeface="Arial" pitchFamily="34" charset="-120"/>
              </a:rPr>
              <a:t>10 min</a:t>
            </a:r>
            <a:endParaRPr lang="en-US" sz="825" dirty="0"/>
          </a:p>
        </p:txBody>
      </p:sp>
      <p:sp>
        <p:nvSpPr>
          <p:cNvPr id="16" name="Text 14"/>
          <p:cNvSpPr/>
          <p:nvPr/>
        </p:nvSpPr>
        <p:spPr>
          <a:xfrm>
            <a:off x="4592092" y="1762274"/>
            <a:ext cx="1698846" cy="173236"/>
          </a:xfrm>
          <a:prstGeom prst="rect">
            <a:avLst/>
          </a:prstGeom>
          <a:noFill/>
          <a:ln/>
        </p:spPr>
        <p:txBody>
          <a:bodyPr wrap="square" lIns="0" tIns="0" rIns="0" bIns="0" rtlCol="0" anchor="t"/>
          <a:lstStyle/>
          <a:p>
            <a:pPr marL="0" indent="0" algn="l">
              <a:lnSpc>
                <a:spcPts val="1365"/>
              </a:lnSpc>
              <a:buNone/>
            </a:pPr>
            <a:r>
              <a:rPr lang="en-US" sz="975" dirty="0">
                <a:solidFill>
                  <a:srgbClr val="1A1F2E"/>
                </a:solidFill>
                <a:latin typeface="Arial" pitchFamily="34" charset="0"/>
                <a:ea typeface="Arial" pitchFamily="34" charset="-122"/>
                <a:cs typeface="Arial" pitchFamily="34" charset="-120"/>
              </a:rPr>
              <a:t>Security &amp; PHI Considerations</a:t>
            </a:r>
            <a:endParaRPr lang="en-US" sz="975" dirty="0"/>
          </a:p>
        </p:txBody>
      </p:sp>
      <p:sp>
        <p:nvSpPr>
          <p:cNvPr id="17" name="Text 15"/>
          <p:cNvSpPr/>
          <p:nvPr/>
        </p:nvSpPr>
        <p:spPr>
          <a:xfrm>
            <a:off x="3687217" y="2116485"/>
            <a:ext cx="5075783" cy="420886"/>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18" name="Text 16"/>
          <p:cNvSpPr/>
          <p:nvPr/>
        </p:nvSpPr>
        <p:spPr>
          <a:xfrm>
            <a:off x="3868192" y="2253555"/>
            <a:ext cx="582930" cy="146596"/>
          </a:xfrm>
          <a:prstGeom prst="rect">
            <a:avLst/>
          </a:prstGeom>
          <a:noFill/>
          <a:ln/>
        </p:spPr>
        <p:txBody>
          <a:bodyPr wrap="square" lIns="0" tIns="0" rIns="0" bIns="0" rtlCol="0" anchor="t"/>
          <a:lstStyle/>
          <a:p>
            <a:pPr marL="0" indent="0" algn="l">
              <a:lnSpc>
                <a:spcPts val="1155"/>
              </a:lnSpc>
              <a:buNone/>
            </a:pPr>
            <a:r>
              <a:rPr lang="en-US" sz="825" b="1" dirty="0">
                <a:solidFill>
                  <a:srgbClr val="C9A227"/>
                </a:solidFill>
                <a:latin typeface="Arial" pitchFamily="34" charset="0"/>
                <a:ea typeface="Arial" pitchFamily="34" charset="-122"/>
                <a:cs typeface="Arial" pitchFamily="34" charset="-120"/>
              </a:rPr>
              <a:t>15 min</a:t>
            </a:r>
            <a:endParaRPr lang="en-US" sz="825" dirty="0"/>
          </a:p>
        </p:txBody>
      </p:sp>
      <p:sp>
        <p:nvSpPr>
          <p:cNvPr id="19" name="Text 17"/>
          <p:cNvSpPr/>
          <p:nvPr/>
        </p:nvSpPr>
        <p:spPr>
          <a:xfrm>
            <a:off x="4592092" y="2240310"/>
            <a:ext cx="2071223" cy="173236"/>
          </a:xfrm>
          <a:prstGeom prst="rect">
            <a:avLst/>
          </a:prstGeom>
          <a:noFill/>
          <a:ln/>
        </p:spPr>
        <p:txBody>
          <a:bodyPr wrap="square" lIns="0" tIns="0" rIns="0" bIns="0" rtlCol="0" anchor="t"/>
          <a:lstStyle/>
          <a:p>
            <a:pPr marL="0" indent="0" algn="l">
              <a:lnSpc>
                <a:spcPts val="1365"/>
              </a:lnSpc>
              <a:buNone/>
            </a:pPr>
            <a:r>
              <a:rPr lang="en-US" sz="975" dirty="0">
                <a:solidFill>
                  <a:srgbClr val="1A1F2E"/>
                </a:solidFill>
                <a:latin typeface="Arial" pitchFamily="34" charset="0"/>
                <a:ea typeface="Arial" pitchFamily="34" charset="-122"/>
                <a:cs typeface="Arial" pitchFamily="34" charset="-120"/>
              </a:rPr>
              <a:t>SuperWhisper Setup &amp; Configuration</a:t>
            </a:r>
            <a:endParaRPr lang="en-US" sz="975" dirty="0"/>
          </a:p>
        </p:txBody>
      </p:sp>
      <p:sp>
        <p:nvSpPr>
          <p:cNvPr id="20" name="Text 18"/>
          <p:cNvSpPr/>
          <p:nvPr/>
        </p:nvSpPr>
        <p:spPr>
          <a:xfrm>
            <a:off x="3687217" y="2594521"/>
            <a:ext cx="5075783" cy="420886"/>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21" name="Text 19"/>
          <p:cNvSpPr/>
          <p:nvPr/>
        </p:nvSpPr>
        <p:spPr>
          <a:xfrm>
            <a:off x="3868192" y="2731591"/>
            <a:ext cx="582930" cy="146596"/>
          </a:xfrm>
          <a:prstGeom prst="rect">
            <a:avLst/>
          </a:prstGeom>
          <a:noFill/>
          <a:ln/>
        </p:spPr>
        <p:txBody>
          <a:bodyPr wrap="square" lIns="0" tIns="0" rIns="0" bIns="0" rtlCol="0" anchor="t"/>
          <a:lstStyle/>
          <a:p>
            <a:pPr marL="0" indent="0" algn="l">
              <a:lnSpc>
                <a:spcPts val="1155"/>
              </a:lnSpc>
              <a:buNone/>
            </a:pPr>
            <a:r>
              <a:rPr lang="en-US" sz="825" b="1" dirty="0">
                <a:solidFill>
                  <a:srgbClr val="C9A227"/>
                </a:solidFill>
                <a:latin typeface="Arial" pitchFamily="34" charset="0"/>
                <a:ea typeface="Arial" pitchFamily="34" charset="-122"/>
                <a:cs typeface="Arial" pitchFamily="34" charset="-120"/>
              </a:rPr>
              <a:t>20 min</a:t>
            </a:r>
            <a:endParaRPr lang="en-US" sz="825" dirty="0"/>
          </a:p>
        </p:txBody>
      </p:sp>
      <p:sp>
        <p:nvSpPr>
          <p:cNvPr id="22" name="Text 20"/>
          <p:cNvSpPr/>
          <p:nvPr/>
        </p:nvSpPr>
        <p:spPr>
          <a:xfrm>
            <a:off x="4592092" y="2718346"/>
            <a:ext cx="1387647" cy="173236"/>
          </a:xfrm>
          <a:prstGeom prst="rect">
            <a:avLst/>
          </a:prstGeom>
          <a:noFill/>
          <a:ln/>
        </p:spPr>
        <p:txBody>
          <a:bodyPr wrap="square" lIns="0" tIns="0" rIns="0" bIns="0" rtlCol="0" anchor="t"/>
          <a:lstStyle/>
          <a:p>
            <a:pPr marL="0" indent="0" algn="l">
              <a:lnSpc>
                <a:spcPts val="1365"/>
              </a:lnSpc>
              <a:buNone/>
            </a:pPr>
            <a:r>
              <a:rPr lang="en-US" sz="975" dirty="0">
                <a:solidFill>
                  <a:srgbClr val="1A1F2E"/>
                </a:solidFill>
                <a:latin typeface="Arial" pitchFamily="34" charset="0"/>
                <a:ea typeface="Arial" pitchFamily="34" charset="-122"/>
                <a:cs typeface="Arial" pitchFamily="34" charset="-120"/>
              </a:rPr>
              <a:t>Custom Mode Workshop</a:t>
            </a:r>
            <a:endParaRPr lang="en-US" sz="975" dirty="0"/>
          </a:p>
        </p:txBody>
      </p:sp>
      <p:sp>
        <p:nvSpPr>
          <p:cNvPr id="23" name="Text 21"/>
          <p:cNvSpPr/>
          <p:nvPr/>
        </p:nvSpPr>
        <p:spPr>
          <a:xfrm>
            <a:off x="3687217" y="3072557"/>
            <a:ext cx="5075783" cy="420886"/>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24" name="Text 22"/>
          <p:cNvSpPr/>
          <p:nvPr/>
        </p:nvSpPr>
        <p:spPr>
          <a:xfrm>
            <a:off x="3868192" y="3209627"/>
            <a:ext cx="582930" cy="146596"/>
          </a:xfrm>
          <a:prstGeom prst="rect">
            <a:avLst/>
          </a:prstGeom>
          <a:noFill/>
          <a:ln/>
        </p:spPr>
        <p:txBody>
          <a:bodyPr wrap="square" lIns="0" tIns="0" rIns="0" bIns="0" rtlCol="0" anchor="t"/>
          <a:lstStyle/>
          <a:p>
            <a:pPr marL="0" indent="0" algn="l">
              <a:lnSpc>
                <a:spcPts val="1155"/>
              </a:lnSpc>
              <a:buNone/>
            </a:pPr>
            <a:r>
              <a:rPr lang="en-US" sz="825" b="1" dirty="0">
                <a:solidFill>
                  <a:srgbClr val="C9A227"/>
                </a:solidFill>
                <a:latin typeface="Arial" pitchFamily="34" charset="0"/>
                <a:ea typeface="Arial" pitchFamily="34" charset="-122"/>
                <a:cs typeface="Arial" pitchFamily="34" charset="-120"/>
              </a:rPr>
              <a:t>10 min</a:t>
            </a:r>
            <a:endParaRPr lang="en-US" sz="825" dirty="0"/>
          </a:p>
        </p:txBody>
      </p:sp>
      <p:sp>
        <p:nvSpPr>
          <p:cNvPr id="25" name="Text 23"/>
          <p:cNvSpPr/>
          <p:nvPr/>
        </p:nvSpPr>
        <p:spPr>
          <a:xfrm>
            <a:off x="4592092" y="3196382"/>
            <a:ext cx="1088136" cy="173236"/>
          </a:xfrm>
          <a:prstGeom prst="rect">
            <a:avLst/>
          </a:prstGeom>
          <a:noFill/>
          <a:ln/>
        </p:spPr>
        <p:txBody>
          <a:bodyPr wrap="square" lIns="0" tIns="0" rIns="0" bIns="0" rtlCol="0" anchor="t"/>
          <a:lstStyle/>
          <a:p>
            <a:pPr marL="0" indent="0" algn="l">
              <a:lnSpc>
                <a:spcPts val="1365"/>
              </a:lnSpc>
              <a:buNone/>
            </a:pPr>
            <a:r>
              <a:rPr lang="en-US" sz="975" dirty="0">
                <a:solidFill>
                  <a:srgbClr val="1A1F2E"/>
                </a:solidFill>
                <a:latin typeface="Arial" pitchFamily="34" charset="0"/>
                <a:ea typeface="Arial" pitchFamily="34" charset="-122"/>
                <a:cs typeface="Arial" pitchFamily="34" charset="-120"/>
              </a:rPr>
              <a:t>Live Demonstration</a:t>
            </a:r>
            <a:endParaRPr lang="en-US" sz="975" dirty="0"/>
          </a:p>
        </p:txBody>
      </p:sp>
      <p:sp>
        <p:nvSpPr>
          <p:cNvPr id="26" name="Text 24"/>
          <p:cNvSpPr/>
          <p:nvPr/>
        </p:nvSpPr>
        <p:spPr>
          <a:xfrm>
            <a:off x="3687217" y="3550593"/>
            <a:ext cx="5075783" cy="420886"/>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27" name="Text 25"/>
          <p:cNvSpPr/>
          <p:nvPr/>
        </p:nvSpPr>
        <p:spPr>
          <a:xfrm>
            <a:off x="3868192" y="3687663"/>
            <a:ext cx="582930" cy="146596"/>
          </a:xfrm>
          <a:prstGeom prst="rect">
            <a:avLst/>
          </a:prstGeom>
          <a:noFill/>
          <a:ln/>
        </p:spPr>
        <p:txBody>
          <a:bodyPr wrap="square" lIns="0" tIns="0" rIns="0" bIns="0" rtlCol="0" anchor="t"/>
          <a:lstStyle/>
          <a:p>
            <a:pPr marL="0" indent="0" algn="l">
              <a:lnSpc>
                <a:spcPts val="1155"/>
              </a:lnSpc>
              <a:buNone/>
            </a:pPr>
            <a:r>
              <a:rPr lang="en-US" sz="825" b="1" dirty="0">
                <a:solidFill>
                  <a:srgbClr val="C9A227"/>
                </a:solidFill>
                <a:latin typeface="Arial" pitchFamily="34" charset="0"/>
                <a:ea typeface="Arial" pitchFamily="34" charset="-122"/>
                <a:cs typeface="Arial" pitchFamily="34" charset="-120"/>
              </a:rPr>
              <a:t>15 min</a:t>
            </a:r>
            <a:endParaRPr lang="en-US" sz="825" dirty="0"/>
          </a:p>
        </p:txBody>
      </p:sp>
      <p:sp>
        <p:nvSpPr>
          <p:cNvPr id="28" name="Text 26"/>
          <p:cNvSpPr/>
          <p:nvPr/>
        </p:nvSpPr>
        <p:spPr>
          <a:xfrm>
            <a:off x="4592092" y="3674418"/>
            <a:ext cx="1038951" cy="173236"/>
          </a:xfrm>
          <a:prstGeom prst="rect">
            <a:avLst/>
          </a:prstGeom>
          <a:noFill/>
          <a:ln/>
        </p:spPr>
        <p:txBody>
          <a:bodyPr wrap="square" lIns="0" tIns="0" rIns="0" bIns="0" rtlCol="0" anchor="t"/>
          <a:lstStyle/>
          <a:p>
            <a:pPr marL="0" indent="0" algn="l">
              <a:lnSpc>
                <a:spcPts val="1365"/>
              </a:lnSpc>
              <a:buNone/>
            </a:pPr>
            <a:r>
              <a:rPr lang="en-US" sz="975" dirty="0">
                <a:solidFill>
                  <a:srgbClr val="1A1F2E"/>
                </a:solidFill>
                <a:latin typeface="Arial" pitchFamily="34" charset="0"/>
                <a:ea typeface="Arial" pitchFamily="34" charset="-122"/>
                <a:cs typeface="Arial" pitchFamily="34" charset="-120"/>
              </a:rPr>
              <a:t>Next Steps &amp; Q&amp;A</a:t>
            </a:r>
            <a:endParaRPr lang="en-US" sz="975" dirty="0"/>
          </a:p>
        </p:txBody>
      </p:sp>
      <p:sp>
        <p:nvSpPr>
          <p:cNvPr id="29" name="Text 27"/>
          <p:cNvSpPr/>
          <p:nvPr/>
        </p:nvSpPr>
        <p:spPr>
          <a:xfrm>
            <a:off x="3687217" y="4104829"/>
            <a:ext cx="5075783" cy="337096"/>
          </a:xfrm>
          <a:prstGeom prst="rect">
            <a:avLst/>
          </a:prstGeom>
          <a:solidFill>
            <a:srgbClr val="DCFCE7"/>
          </a:solidFill>
          <a:ln/>
        </p:spPr>
        <p:txBody>
          <a:bodyPr wrap="square" rtlCol="0" anchor="ctr"/>
          <a:lstStyle/>
          <a:p>
            <a:pPr marL="0" indent="0">
              <a:buNone/>
            </a:pPr>
            <a:endParaRPr lang="en-US" dirty="0"/>
          </a:p>
        </p:txBody>
      </p:sp>
      <p:sp>
        <p:nvSpPr>
          <p:cNvPr id="30" name="Shape 28"/>
          <p:cNvSpPr/>
          <p:nvPr/>
        </p:nvSpPr>
        <p:spPr>
          <a:xfrm>
            <a:off x="3701504" y="4104829"/>
            <a:ext cx="0" cy="337096"/>
          </a:xfrm>
          <a:prstGeom prst="line">
            <a:avLst/>
          </a:prstGeom>
          <a:noFill/>
          <a:ln w="28575">
            <a:solidFill>
              <a:srgbClr val="059669"/>
            </a:solidFill>
            <a:prstDash val="solid"/>
          </a:ln>
        </p:spPr>
        <p:txBody>
          <a:bodyPr/>
          <a:lstStyle/>
          <a:p>
            <a:endParaRPr lang="en-US"/>
          </a:p>
        </p:txBody>
      </p:sp>
      <p:sp>
        <p:nvSpPr>
          <p:cNvPr id="31" name="Text 29"/>
          <p:cNvSpPr/>
          <p:nvPr/>
        </p:nvSpPr>
        <p:spPr>
          <a:xfrm>
            <a:off x="3849142" y="4200079"/>
            <a:ext cx="4876118" cy="146596"/>
          </a:xfrm>
          <a:prstGeom prst="rect">
            <a:avLst/>
          </a:prstGeom>
          <a:noFill/>
          <a:ln/>
        </p:spPr>
        <p:txBody>
          <a:bodyPr wrap="square" lIns="0" tIns="0" rIns="0" bIns="0" rtlCol="0" anchor="t"/>
          <a:lstStyle/>
          <a:p>
            <a:pPr marL="0" indent="0" algn="l">
              <a:lnSpc>
                <a:spcPts val="1155"/>
              </a:lnSpc>
              <a:buNone/>
            </a:pPr>
            <a:r>
              <a:rPr lang="en-US" sz="825" dirty="0">
                <a:solidFill>
                  <a:srgbClr val="166534"/>
                </a:solidFill>
                <a:latin typeface="Arial" pitchFamily="34" charset="0"/>
                <a:ea typeface="Arial" pitchFamily="34" charset="-122"/>
                <a:cs typeface="Arial" pitchFamily="34" charset="-120"/>
              </a:rPr>
              <a:t>Workshop materials &amp; exercises available for independent practice</a:t>
            </a:r>
            <a:endParaRPr lang="en-US" sz="82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980722" y="957411"/>
            <a:ext cx="1182407" cy="186630"/>
          </a:xfrm>
          <a:prstGeom prst="rect">
            <a:avLst/>
          </a:prstGeom>
          <a:noFill/>
          <a:ln/>
        </p:spPr>
        <p:txBody>
          <a:bodyPr wrap="square" lIns="0" tIns="0" rIns="0" bIns="0" rtlCol="0" anchor="t"/>
          <a:lstStyle/>
          <a:p>
            <a:pPr marL="0" indent="0" algn="ctr">
              <a:lnSpc>
                <a:spcPts val="1470"/>
              </a:lnSpc>
              <a:spcAft>
                <a:spcPts val="1800"/>
              </a:spcAft>
              <a:buNone/>
            </a:pPr>
            <a:r>
              <a:rPr lang="en-US" sz="1050" dirty="0">
                <a:solidFill>
                  <a:srgbClr val="C9A227"/>
                </a:solidFill>
                <a:latin typeface="Arial" pitchFamily="34" charset="0"/>
                <a:ea typeface="Arial" pitchFamily="34" charset="-122"/>
                <a:cs typeface="Arial" pitchFamily="34" charset="-120"/>
              </a:rPr>
              <a:t>SECTION 02</a:t>
            </a:r>
            <a:endParaRPr lang="en-US" sz="1050" dirty="0"/>
          </a:p>
        </p:txBody>
      </p:sp>
      <p:sp>
        <p:nvSpPr>
          <p:cNvPr id="3" name="Text 1"/>
          <p:cNvSpPr/>
          <p:nvPr/>
        </p:nvSpPr>
        <p:spPr>
          <a:xfrm>
            <a:off x="2751863" y="1525042"/>
            <a:ext cx="3640125" cy="457200"/>
          </a:xfrm>
          <a:prstGeom prst="rect">
            <a:avLst/>
          </a:prstGeom>
          <a:noFill/>
          <a:ln/>
        </p:spPr>
        <p:txBody>
          <a:bodyPr wrap="square" lIns="0" tIns="0" rIns="0" bIns="0" rtlCol="0" anchor="t"/>
          <a:lstStyle/>
          <a:p>
            <a:pPr marL="0" indent="0" algn="ctr">
              <a:lnSpc>
                <a:spcPts val="3600"/>
              </a:lnSpc>
              <a:spcAft>
                <a:spcPts val="900"/>
              </a:spcAft>
              <a:buNone/>
            </a:pPr>
            <a:r>
              <a:rPr lang="en-US" sz="3600" dirty="0">
                <a:solidFill>
                  <a:srgbClr val="FFFFFF"/>
                </a:solidFill>
                <a:latin typeface="Georgia" pitchFamily="34" charset="0"/>
                <a:ea typeface="Georgia" pitchFamily="34" charset="-122"/>
                <a:cs typeface="Georgia" pitchFamily="34" charset="-120"/>
              </a:rPr>
              <a:t>Voice Input Tools</a:t>
            </a:r>
            <a:endParaRPr lang="en-US" sz="3600" dirty="0"/>
          </a:p>
        </p:txBody>
      </p:sp>
      <p:sp>
        <p:nvSpPr>
          <p:cNvPr id="4" name="Text 2"/>
          <p:cNvSpPr/>
          <p:nvPr/>
        </p:nvSpPr>
        <p:spPr>
          <a:xfrm>
            <a:off x="3656012" y="2248942"/>
            <a:ext cx="1831827" cy="293340"/>
          </a:xfrm>
          <a:prstGeom prst="rect">
            <a:avLst/>
          </a:prstGeom>
          <a:noFill/>
          <a:ln/>
        </p:spPr>
        <p:txBody>
          <a:bodyPr wrap="square" lIns="0" tIns="0" rIns="0" bIns="0" rtlCol="0" anchor="t"/>
          <a:lstStyle/>
          <a:p>
            <a:pPr marL="0" indent="0" algn="ctr">
              <a:lnSpc>
                <a:spcPts val="2310"/>
              </a:lnSpc>
              <a:spcAft>
                <a:spcPts val="2400"/>
              </a:spcAft>
              <a:buNone/>
            </a:pPr>
            <a:r>
              <a:rPr lang="en-US" sz="1650" i="1" dirty="0">
                <a:solidFill>
                  <a:srgbClr val="FFFFFF">
                    <a:alpha val="80000"/>
                  </a:srgbClr>
                </a:solidFill>
                <a:latin typeface="Georgia" pitchFamily="34" charset="0"/>
                <a:ea typeface="Georgia" pitchFamily="34" charset="-122"/>
                <a:cs typeface="Georgia" pitchFamily="34" charset="-120"/>
              </a:rPr>
              <a:t>The Acoustic Layer</a:t>
            </a:r>
            <a:endParaRPr lang="en-US" sz="1650" dirty="0"/>
          </a:p>
        </p:txBody>
      </p:sp>
      <p:sp>
        <p:nvSpPr>
          <p:cNvPr id="5" name="Text 3"/>
          <p:cNvSpPr/>
          <p:nvPr/>
        </p:nvSpPr>
        <p:spPr>
          <a:xfrm>
            <a:off x="4191000" y="2999482"/>
            <a:ext cx="762000" cy="19050"/>
          </a:xfrm>
          <a:prstGeom prst="rect">
            <a:avLst/>
          </a:prstGeom>
          <a:solidFill>
            <a:srgbClr val="C9A227"/>
          </a:solidFill>
          <a:ln/>
        </p:spPr>
        <p:txBody>
          <a:bodyPr wrap="square" rtlCol="0" anchor="ctr"/>
          <a:lstStyle/>
          <a:p>
            <a:pPr marL="0" indent="0">
              <a:buNone/>
            </a:pPr>
            <a:endParaRPr lang="en-US" dirty="0"/>
          </a:p>
        </p:txBody>
      </p:sp>
      <p:sp>
        <p:nvSpPr>
          <p:cNvPr id="6" name="Text 4"/>
          <p:cNvSpPr/>
          <p:nvPr/>
        </p:nvSpPr>
        <p:spPr>
          <a:xfrm>
            <a:off x="3568349" y="3475732"/>
            <a:ext cx="162279" cy="373261"/>
          </a:xfrm>
          <a:prstGeom prst="rect">
            <a:avLst/>
          </a:prstGeom>
          <a:noFill/>
          <a:ln/>
        </p:spPr>
        <p:txBody>
          <a:bodyPr wrap="square" lIns="0" tIns="0" rIns="0" bIns="0" rtlCol="0" anchor="t"/>
          <a:lstStyle/>
          <a:p>
            <a:pPr marL="0" indent="0" algn="ctr">
              <a:lnSpc>
                <a:spcPts val="2940"/>
              </a:lnSpc>
              <a:buNone/>
            </a:pPr>
            <a:r>
              <a:rPr lang="en-US" sz="2100" dirty="0">
                <a:solidFill>
                  <a:srgbClr val="C9A227"/>
                </a:solidFill>
                <a:latin typeface="Georgia" pitchFamily="34" charset="0"/>
                <a:ea typeface="Georgia" pitchFamily="34" charset="-122"/>
                <a:cs typeface="Georgia" pitchFamily="34" charset="-120"/>
              </a:rPr>
              <a:t>8</a:t>
            </a:r>
            <a:endParaRPr lang="en-US" sz="2100" dirty="0"/>
          </a:p>
        </p:txBody>
      </p:sp>
      <p:sp>
        <p:nvSpPr>
          <p:cNvPr id="7" name="Text 5"/>
          <p:cNvSpPr/>
          <p:nvPr/>
        </p:nvSpPr>
        <p:spPr>
          <a:xfrm>
            <a:off x="3310889" y="4039493"/>
            <a:ext cx="677201" cy="146596"/>
          </a:xfrm>
          <a:prstGeom prst="rect">
            <a:avLst/>
          </a:prstGeom>
          <a:noFill/>
          <a:ln/>
        </p:spPr>
        <p:txBody>
          <a:bodyPr wrap="square" lIns="0" tIns="0" rIns="0" bIns="0" rtlCol="0" anchor="t"/>
          <a:lstStyle/>
          <a:p>
            <a:pPr marL="0" indent="0" algn="ctr">
              <a:lnSpc>
                <a:spcPts val="1155"/>
              </a:lnSpc>
              <a:spcBef>
                <a:spcPts val="300"/>
              </a:spcBef>
              <a:buNone/>
            </a:pPr>
            <a:r>
              <a:rPr lang="en-US" sz="825" dirty="0">
                <a:solidFill>
                  <a:srgbClr val="FFFFFF">
                    <a:alpha val="50000"/>
                  </a:srgbClr>
                </a:solidFill>
                <a:latin typeface="Arial" pitchFamily="34" charset="0"/>
                <a:ea typeface="Arial" pitchFamily="34" charset="-122"/>
                <a:cs typeface="Arial" pitchFamily="34" charset="-120"/>
              </a:rPr>
              <a:t>SuperWhisper</a:t>
            </a:r>
            <a:endParaRPr lang="en-US" sz="825" dirty="0"/>
          </a:p>
        </p:txBody>
      </p:sp>
      <p:sp>
        <p:nvSpPr>
          <p:cNvPr id="8" name="Text 6"/>
          <p:cNvSpPr/>
          <p:nvPr/>
        </p:nvSpPr>
        <p:spPr>
          <a:xfrm>
            <a:off x="4544444" y="3475732"/>
            <a:ext cx="154082" cy="373261"/>
          </a:xfrm>
          <a:prstGeom prst="rect">
            <a:avLst/>
          </a:prstGeom>
          <a:noFill/>
          <a:ln/>
        </p:spPr>
        <p:txBody>
          <a:bodyPr wrap="square" lIns="0" tIns="0" rIns="0" bIns="0" rtlCol="0" anchor="t"/>
          <a:lstStyle/>
          <a:p>
            <a:pPr marL="0" indent="0" algn="ctr">
              <a:lnSpc>
                <a:spcPts val="2940"/>
              </a:lnSpc>
              <a:buNone/>
            </a:pPr>
            <a:r>
              <a:rPr lang="en-US" sz="2100" dirty="0">
                <a:solidFill>
                  <a:srgbClr val="C9A227"/>
                </a:solidFill>
                <a:latin typeface="Georgia" pitchFamily="34" charset="0"/>
                <a:ea typeface="Georgia" pitchFamily="34" charset="-122"/>
                <a:cs typeface="Georgia" pitchFamily="34" charset="-120"/>
              </a:rPr>
              <a:t>6</a:t>
            </a:r>
            <a:endParaRPr lang="en-US" sz="2100" dirty="0"/>
          </a:p>
        </p:txBody>
      </p:sp>
      <p:sp>
        <p:nvSpPr>
          <p:cNvPr id="9" name="Text 7"/>
          <p:cNvSpPr/>
          <p:nvPr/>
        </p:nvSpPr>
        <p:spPr>
          <a:xfrm>
            <a:off x="4357269" y="4039493"/>
            <a:ext cx="528432" cy="146596"/>
          </a:xfrm>
          <a:prstGeom prst="rect">
            <a:avLst/>
          </a:prstGeom>
          <a:noFill/>
          <a:ln/>
        </p:spPr>
        <p:txBody>
          <a:bodyPr wrap="square" lIns="0" tIns="0" rIns="0" bIns="0" rtlCol="0" anchor="t"/>
          <a:lstStyle/>
          <a:p>
            <a:pPr marL="0" indent="0" algn="ctr">
              <a:lnSpc>
                <a:spcPts val="1155"/>
              </a:lnSpc>
              <a:spcBef>
                <a:spcPts val="300"/>
              </a:spcBef>
              <a:buNone/>
            </a:pPr>
            <a:r>
              <a:rPr lang="en-US" sz="825" dirty="0">
                <a:solidFill>
                  <a:srgbClr val="FFFFFF">
                    <a:alpha val="50000"/>
                  </a:srgbClr>
                </a:solidFill>
                <a:latin typeface="Arial" pitchFamily="34" charset="0"/>
                <a:ea typeface="Arial" pitchFamily="34" charset="-122"/>
                <a:cs typeface="Arial" pitchFamily="34" charset="-120"/>
              </a:rPr>
              <a:t>Wispr Flow</a:t>
            </a:r>
            <a:endParaRPr lang="en-US" sz="825" dirty="0"/>
          </a:p>
        </p:txBody>
      </p:sp>
      <p:sp>
        <p:nvSpPr>
          <p:cNvPr id="10" name="Text 8"/>
          <p:cNvSpPr/>
          <p:nvPr/>
        </p:nvSpPr>
        <p:spPr>
          <a:xfrm>
            <a:off x="5468855" y="3475732"/>
            <a:ext cx="150135" cy="373261"/>
          </a:xfrm>
          <a:prstGeom prst="rect">
            <a:avLst/>
          </a:prstGeom>
          <a:noFill/>
          <a:ln/>
        </p:spPr>
        <p:txBody>
          <a:bodyPr wrap="square" lIns="0" tIns="0" rIns="0" bIns="0" rtlCol="0" anchor="t"/>
          <a:lstStyle/>
          <a:p>
            <a:pPr marL="0" indent="0" algn="ctr">
              <a:lnSpc>
                <a:spcPts val="2940"/>
              </a:lnSpc>
              <a:buNone/>
            </a:pPr>
            <a:r>
              <a:rPr lang="en-US" sz="2100" dirty="0">
                <a:solidFill>
                  <a:srgbClr val="C9A227"/>
                </a:solidFill>
                <a:latin typeface="Georgia" pitchFamily="34" charset="0"/>
                <a:ea typeface="Georgia" pitchFamily="34" charset="-122"/>
                <a:cs typeface="Georgia" pitchFamily="34" charset="-120"/>
              </a:rPr>
              <a:t>3</a:t>
            </a:r>
            <a:endParaRPr lang="en-US" sz="2100" dirty="0"/>
          </a:p>
        </p:txBody>
      </p:sp>
      <p:sp>
        <p:nvSpPr>
          <p:cNvPr id="11" name="Text 9"/>
          <p:cNvSpPr/>
          <p:nvPr/>
        </p:nvSpPr>
        <p:spPr>
          <a:xfrm>
            <a:off x="5255871" y="4039493"/>
            <a:ext cx="576251" cy="146596"/>
          </a:xfrm>
          <a:prstGeom prst="rect">
            <a:avLst/>
          </a:prstGeom>
          <a:noFill/>
          <a:ln/>
        </p:spPr>
        <p:txBody>
          <a:bodyPr wrap="square" lIns="0" tIns="0" rIns="0" bIns="0" rtlCol="0" anchor="t"/>
          <a:lstStyle/>
          <a:p>
            <a:pPr marL="0" indent="0" algn="ctr">
              <a:lnSpc>
                <a:spcPts val="1155"/>
              </a:lnSpc>
              <a:spcBef>
                <a:spcPts val="300"/>
              </a:spcBef>
              <a:buNone/>
            </a:pPr>
            <a:r>
              <a:rPr lang="en-US" sz="825" dirty="0">
                <a:solidFill>
                  <a:srgbClr val="FFFFFF">
                    <a:alpha val="50000"/>
                  </a:srgbClr>
                </a:solidFill>
                <a:latin typeface="Arial" pitchFamily="34" charset="0"/>
                <a:ea typeface="Arial" pitchFamily="34" charset="-122"/>
                <a:cs typeface="Arial" pitchFamily="34" charset="-120"/>
              </a:rPr>
              <a:t>Comparison</a:t>
            </a:r>
            <a:endParaRPr lang="en-US" sz="825" dirty="0"/>
          </a:p>
        </p:txBody>
      </p:sp>
      <p:sp>
        <p:nvSpPr>
          <p:cNvPr id="12" name="Text 10"/>
          <p:cNvSpPr/>
          <p:nvPr/>
        </p:nvSpPr>
        <p:spPr>
          <a:xfrm>
            <a:off x="8127653" y="4678710"/>
            <a:ext cx="570330" cy="159990"/>
          </a:xfrm>
          <a:prstGeom prst="rect">
            <a:avLst/>
          </a:prstGeom>
          <a:noFill/>
          <a:ln/>
        </p:spPr>
        <p:txBody>
          <a:bodyPr wrap="square" lIns="0" tIns="0" rIns="0" bIns="0" rtlCol="0" anchor="t"/>
          <a:lstStyle/>
          <a:p>
            <a:pPr marL="0" indent="0" algn="l">
              <a:lnSpc>
                <a:spcPts val="1260"/>
              </a:lnSpc>
              <a:buNone/>
            </a:pPr>
            <a:r>
              <a:rPr lang="en-US" sz="900" dirty="0">
                <a:solidFill>
                  <a:srgbClr val="FFFFFF">
                    <a:alpha val="30000"/>
                  </a:srgbClr>
                </a:solidFill>
                <a:latin typeface="Arial" pitchFamily="34" charset="0"/>
                <a:ea typeface="Arial" pitchFamily="34" charset="-122"/>
                <a:cs typeface="Arial" pitchFamily="34" charset="-120"/>
              </a:rPr>
              <a:t>20 minutes</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5214789" cy="5143500"/>
          </a:xfrm>
          <a:prstGeom prst="rect">
            <a:avLst/>
          </a:prstGeom>
          <a:solidFill>
            <a:srgbClr val="F7F8FA"/>
          </a:solidFill>
          <a:ln/>
        </p:spPr>
        <p:txBody>
          <a:bodyPr wrap="square" rtlCol="0" anchor="ctr"/>
          <a:lstStyle/>
          <a:p>
            <a:pPr marL="0" indent="0">
              <a:buNone/>
            </a:pPr>
            <a:endParaRPr lang="en-US" dirty="0"/>
          </a:p>
        </p:txBody>
      </p:sp>
      <p:sp>
        <p:nvSpPr>
          <p:cNvPr id="3" name="Text 1"/>
          <p:cNvSpPr/>
          <p:nvPr/>
        </p:nvSpPr>
        <p:spPr>
          <a:xfrm>
            <a:off x="342900" y="775543"/>
            <a:ext cx="2185077" cy="146596"/>
          </a:xfrm>
          <a:prstGeom prst="rect">
            <a:avLst/>
          </a:prstGeom>
          <a:noFill/>
          <a:ln/>
        </p:spPr>
        <p:txBody>
          <a:bodyPr wrap="square" lIns="0" tIns="0" rIns="0" bIns="0" rtlCol="0" anchor="t"/>
          <a:lstStyle/>
          <a:p>
            <a:pPr marL="0" indent="0" algn="l">
              <a:lnSpc>
                <a:spcPts val="1155"/>
              </a:lnSpc>
              <a:buNone/>
            </a:pPr>
            <a:r>
              <a:rPr lang="en-US" sz="825" dirty="0">
                <a:solidFill>
                  <a:srgbClr val="C9A227"/>
                </a:solidFill>
                <a:latin typeface="Arial" pitchFamily="34" charset="0"/>
                <a:ea typeface="Arial" pitchFamily="34" charset="-122"/>
                <a:cs typeface="Arial" pitchFamily="34" charset="-120"/>
              </a:rPr>
              <a:t>PRIMARY RECOMMENDATION</a:t>
            </a:r>
            <a:endParaRPr lang="en-US" sz="825" dirty="0"/>
          </a:p>
        </p:txBody>
      </p:sp>
      <p:sp>
        <p:nvSpPr>
          <p:cNvPr id="4" name="Text 2"/>
          <p:cNvSpPr/>
          <p:nvPr/>
        </p:nvSpPr>
        <p:spPr>
          <a:xfrm>
            <a:off x="342900" y="1131689"/>
            <a:ext cx="2312289" cy="323850"/>
          </a:xfrm>
          <a:prstGeom prst="rect">
            <a:avLst/>
          </a:prstGeom>
          <a:noFill/>
          <a:ln/>
        </p:spPr>
        <p:txBody>
          <a:bodyPr wrap="square" lIns="0" tIns="0" rIns="0" bIns="0" rtlCol="0" anchor="t"/>
          <a:lstStyle/>
          <a:p>
            <a:pPr marL="0" indent="0" algn="l">
              <a:lnSpc>
                <a:spcPts val="2550"/>
              </a:lnSpc>
              <a:spcAft>
                <a:spcPts val="450"/>
              </a:spcAft>
              <a:buNone/>
            </a:pPr>
            <a:r>
              <a:rPr lang="en-US" sz="2550" dirty="0">
                <a:solidFill>
                  <a:srgbClr val="1A1F2E"/>
                </a:solidFill>
                <a:latin typeface="Georgia" pitchFamily="34" charset="0"/>
                <a:ea typeface="Georgia" pitchFamily="34" charset="-122"/>
                <a:cs typeface="Georgia" pitchFamily="34" charset="-120"/>
              </a:rPr>
              <a:t>SuperWhisper</a:t>
            </a:r>
            <a:endParaRPr lang="en-US" sz="2550" dirty="0"/>
          </a:p>
        </p:txBody>
      </p:sp>
      <p:sp>
        <p:nvSpPr>
          <p:cNvPr id="5" name="Text 3"/>
          <p:cNvSpPr/>
          <p:nvPr/>
        </p:nvSpPr>
        <p:spPr>
          <a:xfrm>
            <a:off x="342900" y="1665089"/>
            <a:ext cx="4619568" cy="173236"/>
          </a:xfrm>
          <a:prstGeom prst="rect">
            <a:avLst/>
          </a:prstGeom>
          <a:noFill/>
          <a:ln/>
        </p:spPr>
        <p:txBody>
          <a:bodyPr wrap="square" lIns="0" tIns="0" rIns="0" bIns="0" rtlCol="0" anchor="t"/>
          <a:lstStyle/>
          <a:p>
            <a:pPr marL="0" indent="0" algn="l">
              <a:lnSpc>
                <a:spcPts val="1365"/>
              </a:lnSpc>
              <a:spcAft>
                <a:spcPts val="1050"/>
              </a:spcAft>
              <a:buNone/>
            </a:pPr>
            <a:r>
              <a:rPr lang="en-US" sz="975" dirty="0">
                <a:solidFill>
                  <a:srgbClr val="6B7280"/>
                </a:solidFill>
                <a:latin typeface="Arial" pitchFamily="34" charset="0"/>
                <a:ea typeface="Arial" pitchFamily="34" charset="-122"/>
                <a:cs typeface="Arial" pitchFamily="34" charset="-120"/>
              </a:rPr>
              <a:t>AI-powered voice to text with local processing option</a:t>
            </a:r>
            <a:endParaRPr lang="en-US" sz="975" dirty="0"/>
          </a:p>
        </p:txBody>
      </p:sp>
      <p:sp>
        <p:nvSpPr>
          <p:cNvPr id="6" name="Text 4"/>
          <p:cNvSpPr/>
          <p:nvPr/>
        </p:nvSpPr>
        <p:spPr>
          <a:xfrm>
            <a:off x="342900" y="2124075"/>
            <a:ext cx="4528989" cy="741015"/>
          </a:xfrm>
          <a:prstGeom prst="rect">
            <a:avLst/>
          </a:prstGeom>
          <a:solidFill>
            <a:srgbClr val="FFFFFF"/>
          </a:solidFill>
          <a:ln/>
        </p:spPr>
        <p:txBody>
          <a:bodyPr wrap="square" rtlCol="0" anchor="ctr"/>
          <a:lstStyle/>
          <a:p>
            <a:pPr marL="0" indent="0">
              <a:buNone/>
            </a:pPr>
            <a:endParaRPr lang="en-US" dirty="0"/>
          </a:p>
        </p:txBody>
      </p:sp>
      <p:sp>
        <p:nvSpPr>
          <p:cNvPr id="7" name="Shape 5"/>
          <p:cNvSpPr/>
          <p:nvPr/>
        </p:nvSpPr>
        <p:spPr>
          <a:xfrm>
            <a:off x="361950" y="2124075"/>
            <a:ext cx="0" cy="741015"/>
          </a:xfrm>
          <a:prstGeom prst="line">
            <a:avLst/>
          </a:prstGeom>
          <a:noFill/>
          <a:ln w="38100">
            <a:solidFill>
              <a:srgbClr val="C9A227"/>
            </a:solidFill>
            <a:prstDash val="solid"/>
          </a:ln>
        </p:spPr>
        <p:txBody>
          <a:bodyPr/>
          <a:lstStyle/>
          <a:p>
            <a:endParaRPr lang="en-US"/>
          </a:p>
        </p:txBody>
      </p:sp>
      <p:sp>
        <p:nvSpPr>
          <p:cNvPr id="8" name="Text 6"/>
          <p:cNvSpPr/>
          <p:nvPr/>
        </p:nvSpPr>
        <p:spPr>
          <a:xfrm>
            <a:off x="533400" y="2238375"/>
            <a:ext cx="4269810" cy="159990"/>
          </a:xfrm>
          <a:prstGeom prst="rect">
            <a:avLst/>
          </a:prstGeom>
          <a:noFill/>
          <a:ln/>
        </p:spPr>
        <p:txBody>
          <a:bodyPr wrap="square" lIns="0" tIns="0" rIns="0" bIns="0" rtlCol="0" anchor="t"/>
          <a:lstStyle/>
          <a:p>
            <a:pPr marL="0" indent="0" algn="l">
              <a:lnSpc>
                <a:spcPts val="1260"/>
              </a:lnSpc>
              <a:spcAft>
                <a:spcPts val="300"/>
              </a:spcAft>
              <a:buNone/>
            </a:pPr>
            <a:r>
              <a:rPr lang="en-US" sz="900" b="1" dirty="0">
                <a:solidFill>
                  <a:srgbClr val="1A1F2E"/>
                </a:solidFill>
                <a:latin typeface="Arial" pitchFamily="34" charset="0"/>
                <a:ea typeface="Arial" pitchFamily="34" charset="-122"/>
                <a:cs typeface="Arial" pitchFamily="34" charset="-120"/>
              </a:rPr>
              <a:t>What It Is</a:t>
            </a:r>
            <a:endParaRPr lang="en-US" sz="900" dirty="0"/>
          </a:p>
        </p:txBody>
      </p:sp>
      <p:sp>
        <p:nvSpPr>
          <p:cNvPr id="9" name="Text 7"/>
          <p:cNvSpPr/>
          <p:nvPr/>
        </p:nvSpPr>
        <p:spPr>
          <a:xfrm>
            <a:off x="533400" y="2436465"/>
            <a:ext cx="4269810" cy="314325"/>
          </a:xfrm>
          <a:prstGeom prst="rect">
            <a:avLst/>
          </a:prstGeom>
          <a:noFill/>
          <a:ln/>
        </p:spPr>
        <p:txBody>
          <a:bodyPr wrap="square" lIns="0" tIns="0" rIns="0" bIns="0" rtlCol="0" anchor="t"/>
          <a:lstStyle/>
          <a:p>
            <a:pPr marL="0" indent="0" algn="l">
              <a:lnSpc>
                <a:spcPts val="1238"/>
              </a:lnSpc>
              <a:buNone/>
            </a:pPr>
            <a:r>
              <a:rPr lang="en-US" sz="825" dirty="0">
                <a:solidFill>
                  <a:srgbClr val="6B7280"/>
                </a:solidFill>
                <a:latin typeface="Arial" pitchFamily="34" charset="0"/>
                <a:ea typeface="Arial" pitchFamily="34" charset="-122"/>
                <a:cs typeface="Arial" pitchFamily="34" charset="-120"/>
              </a:rPr>
              <a:t>Desktop app using OpenAI's Whisper models. Offers both local (on-device) and cloud processing options. 100+ languages supported.</a:t>
            </a:r>
            <a:endParaRPr lang="en-US" sz="825" dirty="0"/>
          </a:p>
        </p:txBody>
      </p:sp>
      <p:sp>
        <p:nvSpPr>
          <p:cNvPr id="10" name="Text 8"/>
          <p:cNvSpPr/>
          <p:nvPr/>
        </p:nvSpPr>
        <p:spPr>
          <a:xfrm>
            <a:off x="342900" y="3112740"/>
            <a:ext cx="1446163" cy="561826"/>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11" name="Text 9"/>
          <p:cNvSpPr/>
          <p:nvPr/>
        </p:nvSpPr>
        <p:spPr>
          <a:xfrm>
            <a:off x="447675" y="3217515"/>
            <a:ext cx="1261345" cy="213271"/>
          </a:xfrm>
          <a:prstGeom prst="rect">
            <a:avLst/>
          </a:prstGeom>
          <a:noFill/>
          <a:ln/>
        </p:spPr>
        <p:txBody>
          <a:bodyPr wrap="square" lIns="0" tIns="0" rIns="0" bIns="0" rtlCol="0" anchor="t"/>
          <a:lstStyle/>
          <a:p>
            <a:pPr marL="0" indent="0" algn="l">
              <a:lnSpc>
                <a:spcPts val="1680"/>
              </a:lnSpc>
              <a:spcAft>
                <a:spcPts val="150"/>
              </a:spcAft>
              <a:buNone/>
            </a:pPr>
            <a:r>
              <a:rPr lang="en-US" sz="1200" dirty="0">
                <a:solidFill>
                  <a:srgbClr val="059669"/>
                </a:solidFill>
                <a:latin typeface="Georgia" pitchFamily="34" charset="0"/>
                <a:ea typeface="Georgia" pitchFamily="34" charset="-122"/>
                <a:cs typeface="Georgia" pitchFamily="34" charset="-120"/>
              </a:rPr>
              <a:t>Free</a:t>
            </a:r>
            <a:endParaRPr lang="en-US" sz="1200" dirty="0"/>
          </a:p>
        </p:txBody>
      </p:sp>
      <p:sp>
        <p:nvSpPr>
          <p:cNvPr id="12" name="Text 10"/>
          <p:cNvSpPr/>
          <p:nvPr/>
        </p:nvSpPr>
        <p:spPr>
          <a:xfrm>
            <a:off x="447675" y="3449836"/>
            <a:ext cx="1261345" cy="119955"/>
          </a:xfrm>
          <a:prstGeom prst="rect">
            <a:avLst/>
          </a:prstGeom>
          <a:noFill/>
          <a:ln/>
        </p:spPr>
        <p:txBody>
          <a:bodyPr wrap="square" lIns="0" tIns="0" rIns="0" bIns="0" rtlCol="0" anchor="t"/>
          <a:lstStyle/>
          <a:p>
            <a:pPr marL="0" indent="0" algn="l">
              <a:lnSpc>
                <a:spcPts val="945"/>
              </a:lnSpc>
              <a:buNone/>
            </a:pPr>
            <a:r>
              <a:rPr lang="en-US" sz="675" dirty="0">
                <a:solidFill>
                  <a:srgbClr val="6B7280"/>
                </a:solidFill>
                <a:latin typeface="Arial" pitchFamily="34" charset="0"/>
                <a:ea typeface="Arial" pitchFamily="34" charset="-122"/>
                <a:cs typeface="Arial" pitchFamily="34" charset="-120"/>
              </a:rPr>
              <a:t>Basic models included</a:t>
            </a:r>
            <a:endParaRPr lang="en-US" sz="675" dirty="0"/>
          </a:p>
        </p:txBody>
      </p:sp>
      <p:sp>
        <p:nvSpPr>
          <p:cNvPr id="13" name="Text 11"/>
          <p:cNvSpPr/>
          <p:nvPr/>
        </p:nvSpPr>
        <p:spPr>
          <a:xfrm>
            <a:off x="1884313" y="3112740"/>
            <a:ext cx="1446163" cy="561826"/>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14" name="Text 12"/>
          <p:cNvSpPr/>
          <p:nvPr/>
        </p:nvSpPr>
        <p:spPr>
          <a:xfrm>
            <a:off x="1989088" y="3217515"/>
            <a:ext cx="1261345" cy="213271"/>
          </a:xfrm>
          <a:prstGeom prst="rect">
            <a:avLst/>
          </a:prstGeom>
          <a:noFill/>
          <a:ln/>
        </p:spPr>
        <p:txBody>
          <a:bodyPr wrap="square" lIns="0" tIns="0" rIns="0" bIns="0" rtlCol="0" anchor="t"/>
          <a:lstStyle/>
          <a:p>
            <a:pPr marL="0" indent="0" algn="l">
              <a:lnSpc>
                <a:spcPts val="1680"/>
              </a:lnSpc>
              <a:spcAft>
                <a:spcPts val="150"/>
              </a:spcAft>
              <a:buNone/>
            </a:pPr>
            <a:r>
              <a:rPr lang="en-US" sz="1200" dirty="0">
                <a:solidFill>
                  <a:srgbClr val="1A1F2E"/>
                </a:solidFill>
                <a:latin typeface="Georgia" pitchFamily="34" charset="0"/>
                <a:ea typeface="Georgia" pitchFamily="34" charset="-122"/>
                <a:cs typeface="Georgia" pitchFamily="34" charset="-120"/>
              </a:rPr>
              <a:t>$8.49/mo</a:t>
            </a:r>
            <a:endParaRPr lang="en-US" sz="1200" dirty="0"/>
          </a:p>
        </p:txBody>
      </p:sp>
      <p:sp>
        <p:nvSpPr>
          <p:cNvPr id="15" name="Text 13"/>
          <p:cNvSpPr/>
          <p:nvPr/>
        </p:nvSpPr>
        <p:spPr>
          <a:xfrm>
            <a:off x="1989088" y="3449836"/>
            <a:ext cx="1261345" cy="119955"/>
          </a:xfrm>
          <a:prstGeom prst="rect">
            <a:avLst/>
          </a:prstGeom>
          <a:noFill/>
          <a:ln/>
        </p:spPr>
        <p:txBody>
          <a:bodyPr wrap="square" lIns="0" tIns="0" rIns="0" bIns="0" rtlCol="0" anchor="t"/>
          <a:lstStyle/>
          <a:p>
            <a:pPr marL="0" indent="0" algn="l">
              <a:lnSpc>
                <a:spcPts val="945"/>
              </a:lnSpc>
              <a:buNone/>
            </a:pPr>
            <a:r>
              <a:rPr lang="en-US" sz="675" dirty="0">
                <a:solidFill>
                  <a:srgbClr val="6B7280"/>
                </a:solidFill>
                <a:latin typeface="Arial" pitchFamily="34" charset="0"/>
                <a:ea typeface="Arial" pitchFamily="34" charset="-122"/>
                <a:cs typeface="Arial" pitchFamily="34" charset="-120"/>
              </a:rPr>
              <a:t>Pro subscription</a:t>
            </a:r>
            <a:endParaRPr lang="en-US" sz="675" dirty="0"/>
          </a:p>
        </p:txBody>
      </p:sp>
      <p:sp>
        <p:nvSpPr>
          <p:cNvPr id="16" name="Text 14"/>
          <p:cNvSpPr/>
          <p:nvPr/>
        </p:nvSpPr>
        <p:spPr>
          <a:xfrm>
            <a:off x="3425726" y="3112740"/>
            <a:ext cx="1446163" cy="561826"/>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17" name="Text 15"/>
          <p:cNvSpPr/>
          <p:nvPr/>
        </p:nvSpPr>
        <p:spPr>
          <a:xfrm>
            <a:off x="3530501" y="3217515"/>
            <a:ext cx="1261345" cy="213271"/>
          </a:xfrm>
          <a:prstGeom prst="rect">
            <a:avLst/>
          </a:prstGeom>
          <a:noFill/>
          <a:ln/>
        </p:spPr>
        <p:txBody>
          <a:bodyPr wrap="square" lIns="0" tIns="0" rIns="0" bIns="0" rtlCol="0" anchor="t"/>
          <a:lstStyle/>
          <a:p>
            <a:pPr marL="0" indent="0" algn="l">
              <a:lnSpc>
                <a:spcPts val="1680"/>
              </a:lnSpc>
              <a:spcAft>
                <a:spcPts val="150"/>
              </a:spcAft>
              <a:buNone/>
            </a:pPr>
            <a:r>
              <a:rPr lang="en-US" sz="1200" dirty="0">
                <a:solidFill>
                  <a:srgbClr val="1A1F2E"/>
                </a:solidFill>
                <a:latin typeface="Georgia" pitchFamily="34" charset="0"/>
                <a:ea typeface="Georgia" pitchFamily="34" charset="-122"/>
                <a:cs typeface="Georgia" pitchFamily="34" charset="-120"/>
              </a:rPr>
              <a:t>$249</a:t>
            </a:r>
            <a:endParaRPr lang="en-US" sz="1200" dirty="0"/>
          </a:p>
        </p:txBody>
      </p:sp>
      <p:sp>
        <p:nvSpPr>
          <p:cNvPr id="18" name="Text 16"/>
          <p:cNvSpPr/>
          <p:nvPr/>
        </p:nvSpPr>
        <p:spPr>
          <a:xfrm>
            <a:off x="3530501" y="3449836"/>
            <a:ext cx="1261345" cy="119955"/>
          </a:xfrm>
          <a:prstGeom prst="rect">
            <a:avLst/>
          </a:prstGeom>
          <a:noFill/>
          <a:ln/>
        </p:spPr>
        <p:txBody>
          <a:bodyPr wrap="square" lIns="0" tIns="0" rIns="0" bIns="0" rtlCol="0" anchor="t"/>
          <a:lstStyle/>
          <a:p>
            <a:pPr marL="0" indent="0" algn="l">
              <a:lnSpc>
                <a:spcPts val="945"/>
              </a:lnSpc>
              <a:buNone/>
            </a:pPr>
            <a:r>
              <a:rPr lang="en-US" sz="675" dirty="0">
                <a:solidFill>
                  <a:srgbClr val="6B7280"/>
                </a:solidFill>
                <a:latin typeface="Arial" pitchFamily="34" charset="0"/>
                <a:ea typeface="Arial" pitchFamily="34" charset="-122"/>
                <a:cs typeface="Arial" pitchFamily="34" charset="-120"/>
              </a:rPr>
              <a:t>Lifetime option</a:t>
            </a:r>
            <a:endParaRPr lang="en-US" sz="675" dirty="0"/>
          </a:p>
        </p:txBody>
      </p:sp>
      <p:sp>
        <p:nvSpPr>
          <p:cNvPr id="19" name="Text 17"/>
          <p:cNvSpPr/>
          <p:nvPr/>
        </p:nvSpPr>
        <p:spPr>
          <a:xfrm>
            <a:off x="342900" y="3922216"/>
            <a:ext cx="4528989" cy="483691"/>
          </a:xfrm>
          <a:prstGeom prst="rect">
            <a:avLst/>
          </a:prstGeom>
          <a:solidFill>
            <a:srgbClr val="DCFCE7"/>
          </a:solidFill>
          <a:ln/>
        </p:spPr>
        <p:txBody>
          <a:bodyPr wrap="square" rtlCol="0" anchor="ctr"/>
          <a:lstStyle/>
          <a:p>
            <a:pPr marL="0" indent="0">
              <a:buNone/>
            </a:pPr>
            <a:endParaRPr lang="en-US" dirty="0"/>
          </a:p>
        </p:txBody>
      </p:sp>
      <p:sp>
        <p:nvSpPr>
          <p:cNvPr id="20" name="Shape 18"/>
          <p:cNvSpPr/>
          <p:nvPr/>
        </p:nvSpPr>
        <p:spPr>
          <a:xfrm>
            <a:off x="361950" y="3922216"/>
            <a:ext cx="0" cy="483691"/>
          </a:xfrm>
          <a:prstGeom prst="line">
            <a:avLst/>
          </a:prstGeom>
          <a:noFill/>
          <a:ln w="38100">
            <a:solidFill>
              <a:srgbClr val="059669"/>
            </a:solidFill>
            <a:prstDash val="solid"/>
          </a:ln>
        </p:spPr>
        <p:txBody>
          <a:bodyPr/>
          <a:lstStyle/>
          <a:p>
            <a:endParaRPr lang="en-US"/>
          </a:p>
        </p:txBody>
      </p:sp>
      <p:sp>
        <p:nvSpPr>
          <p:cNvPr id="21" name="Text 19"/>
          <p:cNvSpPr/>
          <p:nvPr/>
        </p:nvSpPr>
        <p:spPr>
          <a:xfrm>
            <a:off x="514350" y="4017466"/>
            <a:ext cx="4308672" cy="293191"/>
          </a:xfrm>
          <a:prstGeom prst="rect">
            <a:avLst/>
          </a:prstGeom>
          <a:noFill/>
          <a:ln/>
        </p:spPr>
        <p:txBody>
          <a:bodyPr wrap="square" lIns="0" tIns="0" rIns="0" bIns="0" rtlCol="0" anchor="t"/>
          <a:lstStyle/>
          <a:p>
            <a:pPr marL="0" indent="0" algn="l">
              <a:lnSpc>
                <a:spcPts val="1155"/>
              </a:lnSpc>
              <a:buNone/>
            </a:pPr>
            <a:r>
              <a:rPr lang="en-US" sz="825" b="1" dirty="0">
                <a:solidFill>
                  <a:srgbClr val="166534"/>
                </a:solidFill>
                <a:latin typeface="Arial" pitchFamily="34" charset="0"/>
                <a:ea typeface="Arial" pitchFamily="34" charset="-122"/>
                <a:cs typeface="Arial" pitchFamily="34" charset="-120"/>
              </a:rPr>
              <a:t>Local Processing Available:</a:t>
            </a:r>
            <a:r>
              <a:rPr lang="en-US" sz="825" dirty="0">
                <a:solidFill>
                  <a:srgbClr val="166534"/>
                </a:solidFill>
                <a:latin typeface="Arial" pitchFamily="34" charset="0"/>
                <a:ea typeface="Arial" pitchFamily="34" charset="-122"/>
                <a:cs typeface="Arial" pitchFamily="34" charset="-120"/>
              </a:rPr>
              <a:t> Use on-device models for complete privacy. Voice data never leaves your machine when using local models.</a:t>
            </a:r>
            <a:endParaRPr lang="en-US" sz="825" dirty="0"/>
          </a:p>
        </p:txBody>
      </p:sp>
      <p:sp>
        <p:nvSpPr>
          <p:cNvPr id="22" name="Text 20"/>
          <p:cNvSpPr/>
          <p:nvPr/>
        </p:nvSpPr>
        <p:spPr>
          <a:xfrm>
            <a:off x="5367189" y="0"/>
            <a:ext cx="3776811" cy="5143500"/>
          </a:xfrm>
          <a:prstGeom prst="rect">
            <a:avLst/>
          </a:prstGeom>
          <a:solidFill>
            <a:srgbClr val="1A1F2E"/>
          </a:solidFill>
          <a:ln/>
        </p:spPr>
        <p:txBody>
          <a:bodyPr wrap="square" rtlCol="0" anchor="ctr"/>
          <a:lstStyle/>
          <a:p>
            <a:pPr marL="0" indent="0">
              <a:buNone/>
            </a:pPr>
            <a:endParaRPr lang="en-US" dirty="0"/>
          </a:p>
        </p:txBody>
      </p:sp>
      <p:sp>
        <p:nvSpPr>
          <p:cNvPr id="23" name="Text 21"/>
          <p:cNvSpPr/>
          <p:nvPr/>
        </p:nvSpPr>
        <p:spPr>
          <a:xfrm>
            <a:off x="5633889" y="342900"/>
            <a:ext cx="3308280" cy="146596"/>
          </a:xfrm>
          <a:prstGeom prst="rect">
            <a:avLst/>
          </a:prstGeom>
          <a:noFill/>
          <a:ln/>
        </p:spPr>
        <p:txBody>
          <a:bodyPr wrap="square" lIns="0" tIns="0" rIns="0" bIns="0" rtlCol="0" anchor="t"/>
          <a:lstStyle/>
          <a:p>
            <a:pPr marL="0" indent="0" algn="l">
              <a:lnSpc>
                <a:spcPts val="1155"/>
              </a:lnSpc>
              <a:spcAft>
                <a:spcPts val="1050"/>
              </a:spcAft>
              <a:buNone/>
            </a:pPr>
            <a:r>
              <a:rPr lang="en-US" sz="825" dirty="0">
                <a:solidFill>
                  <a:srgbClr val="C9A227"/>
                </a:solidFill>
                <a:latin typeface="Arial" pitchFamily="34" charset="0"/>
                <a:ea typeface="Arial" pitchFamily="34" charset="-122"/>
                <a:cs typeface="Arial" pitchFamily="34" charset="-120"/>
              </a:rPr>
              <a:t>PLATFORM SUPPORT</a:t>
            </a:r>
            <a:endParaRPr lang="en-US" sz="825" dirty="0"/>
          </a:p>
        </p:txBody>
      </p:sp>
      <p:sp>
        <p:nvSpPr>
          <p:cNvPr id="24" name="Text 22"/>
          <p:cNvSpPr/>
          <p:nvPr/>
        </p:nvSpPr>
        <p:spPr>
          <a:xfrm>
            <a:off x="5633889" y="775246"/>
            <a:ext cx="3243411" cy="546646"/>
          </a:xfrm>
          <a:prstGeom prst="rect">
            <a:avLst/>
          </a:prstGeom>
          <a:solidFill>
            <a:srgbClr val="C9A227">
              <a:alpha val="15000"/>
            </a:srgbClr>
          </a:solidFill>
          <a:ln w="9525">
            <a:solidFill>
              <a:srgbClr val="C9A227"/>
            </a:solidFill>
          </a:ln>
        </p:spPr>
        <p:txBody>
          <a:bodyPr wrap="square" rtlCol="0" anchor="ctr"/>
          <a:lstStyle/>
          <a:p>
            <a:pPr marL="0" indent="0">
              <a:buNone/>
            </a:pPr>
            <a:endParaRPr lang="en-US" dirty="0"/>
          </a:p>
        </p:txBody>
      </p:sp>
      <p:sp>
        <p:nvSpPr>
          <p:cNvPr id="25" name="Text 23"/>
          <p:cNvSpPr/>
          <p:nvPr/>
        </p:nvSpPr>
        <p:spPr>
          <a:xfrm>
            <a:off x="5757714" y="915144"/>
            <a:ext cx="266700" cy="266700"/>
          </a:xfrm>
          <a:prstGeom prst="rect">
            <a:avLst/>
          </a:prstGeom>
          <a:solidFill>
            <a:srgbClr val="C9A227"/>
          </a:solidFill>
          <a:ln/>
        </p:spPr>
        <p:txBody>
          <a:bodyPr wrap="square" rtlCol="0" anchor="ctr"/>
          <a:lstStyle/>
          <a:p>
            <a:pPr marL="0" indent="0">
              <a:buNone/>
            </a:pPr>
            <a:endParaRPr lang="en-US" dirty="0"/>
          </a:p>
        </p:txBody>
      </p:sp>
      <p:sp>
        <p:nvSpPr>
          <p:cNvPr id="26" name="Text 24"/>
          <p:cNvSpPr/>
          <p:nvPr/>
        </p:nvSpPr>
        <p:spPr>
          <a:xfrm>
            <a:off x="5837039" y="968425"/>
            <a:ext cx="110058" cy="159990"/>
          </a:xfrm>
          <a:prstGeom prst="rect">
            <a:avLst/>
          </a:prstGeom>
          <a:noFill/>
          <a:ln/>
        </p:spPr>
        <p:txBody>
          <a:bodyPr wrap="square" lIns="0" tIns="0" rIns="0" bIns="0" rtlCol="0" anchor="t"/>
          <a:lstStyle/>
          <a:p>
            <a:pPr marL="0" indent="0" algn="l">
              <a:lnSpc>
                <a:spcPts val="1260"/>
              </a:lnSpc>
              <a:buNone/>
            </a:pPr>
            <a:r>
              <a:rPr lang="en-US" sz="900" dirty="0">
                <a:solidFill>
                  <a:srgbClr val="1A1F2E"/>
                </a:solidFill>
                <a:latin typeface="Arial" pitchFamily="34" charset="0"/>
                <a:ea typeface="Arial" pitchFamily="34" charset="-122"/>
                <a:cs typeface="Arial" pitchFamily="34" charset="-120"/>
              </a:rPr>
              <a:t>W</a:t>
            </a:r>
            <a:endParaRPr lang="en-US" sz="900" dirty="0"/>
          </a:p>
        </p:txBody>
      </p:sp>
      <p:sp>
        <p:nvSpPr>
          <p:cNvPr id="27" name="Text 25"/>
          <p:cNvSpPr/>
          <p:nvPr/>
        </p:nvSpPr>
        <p:spPr>
          <a:xfrm>
            <a:off x="6119664" y="899071"/>
            <a:ext cx="788474" cy="159990"/>
          </a:xfrm>
          <a:prstGeom prst="rect">
            <a:avLst/>
          </a:prstGeom>
          <a:noFill/>
          <a:ln/>
        </p:spPr>
        <p:txBody>
          <a:bodyPr wrap="square" lIns="0" tIns="0" rIns="0" bIns="0" rtlCol="0" anchor="t"/>
          <a:lstStyle/>
          <a:p>
            <a:pPr marL="0" indent="0" algn="l">
              <a:lnSpc>
                <a:spcPts val="1260"/>
              </a:lnSpc>
              <a:buNone/>
            </a:pPr>
            <a:r>
              <a:rPr lang="en-US" sz="900" dirty="0">
                <a:solidFill>
                  <a:srgbClr val="FFFFFF"/>
                </a:solidFill>
                <a:latin typeface="Arial" pitchFamily="34" charset="0"/>
                <a:ea typeface="Arial" pitchFamily="34" charset="-122"/>
                <a:cs typeface="Arial" pitchFamily="34" charset="-120"/>
              </a:rPr>
              <a:t>Windows 10/11</a:t>
            </a:r>
            <a:endParaRPr lang="en-US" sz="900" dirty="0"/>
          </a:p>
        </p:txBody>
      </p:sp>
      <p:sp>
        <p:nvSpPr>
          <p:cNvPr id="28" name="Text 26"/>
          <p:cNvSpPr/>
          <p:nvPr/>
        </p:nvSpPr>
        <p:spPr>
          <a:xfrm>
            <a:off x="6119664" y="1078111"/>
            <a:ext cx="788474" cy="119955"/>
          </a:xfrm>
          <a:prstGeom prst="rect">
            <a:avLst/>
          </a:prstGeom>
          <a:noFill/>
          <a:ln/>
        </p:spPr>
        <p:txBody>
          <a:bodyPr wrap="square" lIns="0" tIns="0" rIns="0" bIns="0" rtlCol="0" anchor="t"/>
          <a:lstStyle/>
          <a:p>
            <a:pPr marL="0" indent="0" algn="l">
              <a:lnSpc>
                <a:spcPts val="945"/>
              </a:lnSpc>
              <a:spcBef>
                <a:spcPts val="150"/>
              </a:spcBef>
              <a:buNone/>
            </a:pPr>
            <a:r>
              <a:rPr lang="en-US" sz="675" dirty="0">
                <a:solidFill>
                  <a:srgbClr val="FFFFFF">
                    <a:alpha val="50000"/>
                  </a:srgbClr>
                </a:solidFill>
                <a:latin typeface="Arial" pitchFamily="34" charset="0"/>
                <a:ea typeface="Arial" pitchFamily="34" charset="-122"/>
                <a:cs typeface="Arial" pitchFamily="34" charset="-120"/>
              </a:rPr>
              <a:t>Launched Dec 2025</a:t>
            </a:r>
            <a:endParaRPr lang="en-US" sz="675" dirty="0"/>
          </a:p>
        </p:txBody>
      </p:sp>
      <p:sp>
        <p:nvSpPr>
          <p:cNvPr id="29" name="Text 27"/>
          <p:cNvSpPr/>
          <p:nvPr/>
        </p:nvSpPr>
        <p:spPr>
          <a:xfrm>
            <a:off x="5633889" y="1569541"/>
            <a:ext cx="3243411" cy="546646"/>
          </a:xfrm>
          <a:prstGeom prst="rect">
            <a:avLst/>
          </a:prstGeom>
          <a:solidFill>
            <a:srgbClr val="C9A227">
              <a:alpha val="15000"/>
            </a:srgbClr>
          </a:solidFill>
          <a:ln w="9525">
            <a:solidFill>
              <a:srgbClr val="C9A227"/>
            </a:solidFill>
          </a:ln>
        </p:spPr>
        <p:txBody>
          <a:bodyPr wrap="square" rtlCol="0" anchor="ctr"/>
          <a:lstStyle/>
          <a:p>
            <a:pPr marL="0" indent="0">
              <a:buNone/>
            </a:pPr>
            <a:endParaRPr lang="en-US" dirty="0"/>
          </a:p>
        </p:txBody>
      </p:sp>
      <p:sp>
        <p:nvSpPr>
          <p:cNvPr id="30" name="Text 28"/>
          <p:cNvSpPr/>
          <p:nvPr/>
        </p:nvSpPr>
        <p:spPr>
          <a:xfrm>
            <a:off x="5757714" y="1709440"/>
            <a:ext cx="266700" cy="266700"/>
          </a:xfrm>
          <a:prstGeom prst="rect">
            <a:avLst/>
          </a:prstGeom>
          <a:solidFill>
            <a:srgbClr val="C9A227"/>
          </a:solidFill>
          <a:ln/>
        </p:spPr>
        <p:txBody>
          <a:bodyPr wrap="square" rtlCol="0" anchor="ctr"/>
          <a:lstStyle/>
          <a:p>
            <a:pPr marL="0" indent="0">
              <a:buNone/>
            </a:pPr>
            <a:endParaRPr lang="en-US" dirty="0"/>
          </a:p>
        </p:txBody>
      </p:sp>
      <p:sp>
        <p:nvSpPr>
          <p:cNvPr id="31" name="Text 29"/>
          <p:cNvSpPr/>
          <p:nvPr/>
        </p:nvSpPr>
        <p:spPr>
          <a:xfrm>
            <a:off x="5843439" y="1762720"/>
            <a:ext cx="97155" cy="159990"/>
          </a:xfrm>
          <a:prstGeom prst="rect">
            <a:avLst/>
          </a:prstGeom>
          <a:noFill/>
          <a:ln/>
        </p:spPr>
        <p:txBody>
          <a:bodyPr wrap="square" lIns="0" tIns="0" rIns="0" bIns="0" rtlCol="0" anchor="t"/>
          <a:lstStyle/>
          <a:p>
            <a:pPr marL="0" indent="0" algn="l">
              <a:lnSpc>
                <a:spcPts val="1260"/>
              </a:lnSpc>
              <a:buNone/>
            </a:pPr>
            <a:r>
              <a:rPr lang="en-US" sz="900" dirty="0">
                <a:solidFill>
                  <a:srgbClr val="1A1F2E"/>
                </a:solidFill>
                <a:latin typeface="Arial" pitchFamily="34" charset="0"/>
                <a:ea typeface="Arial" pitchFamily="34" charset="-122"/>
                <a:cs typeface="Arial" pitchFamily="34" charset="-120"/>
              </a:rPr>
              <a:t>M</a:t>
            </a:r>
            <a:endParaRPr lang="en-US" sz="900" dirty="0"/>
          </a:p>
        </p:txBody>
      </p:sp>
      <p:sp>
        <p:nvSpPr>
          <p:cNvPr id="32" name="Text 30"/>
          <p:cNvSpPr/>
          <p:nvPr/>
        </p:nvSpPr>
        <p:spPr>
          <a:xfrm>
            <a:off x="6119664" y="1693366"/>
            <a:ext cx="811700" cy="159990"/>
          </a:xfrm>
          <a:prstGeom prst="rect">
            <a:avLst/>
          </a:prstGeom>
          <a:noFill/>
          <a:ln/>
        </p:spPr>
        <p:txBody>
          <a:bodyPr wrap="square" lIns="0" tIns="0" rIns="0" bIns="0" rtlCol="0" anchor="t"/>
          <a:lstStyle/>
          <a:p>
            <a:pPr marL="0" indent="0" algn="l">
              <a:lnSpc>
                <a:spcPts val="1260"/>
              </a:lnSpc>
              <a:buNone/>
            </a:pPr>
            <a:r>
              <a:rPr lang="en-US" sz="900" dirty="0">
                <a:solidFill>
                  <a:srgbClr val="FFFFFF"/>
                </a:solidFill>
                <a:latin typeface="Arial" pitchFamily="34" charset="0"/>
                <a:ea typeface="Arial" pitchFamily="34" charset="-122"/>
                <a:cs typeface="Arial" pitchFamily="34" charset="-120"/>
              </a:rPr>
              <a:t>macOS 13+</a:t>
            </a:r>
            <a:endParaRPr lang="en-US" sz="900" dirty="0"/>
          </a:p>
        </p:txBody>
      </p:sp>
      <p:sp>
        <p:nvSpPr>
          <p:cNvPr id="33" name="Text 31"/>
          <p:cNvSpPr/>
          <p:nvPr/>
        </p:nvSpPr>
        <p:spPr>
          <a:xfrm>
            <a:off x="6119664" y="1872407"/>
            <a:ext cx="811700" cy="119955"/>
          </a:xfrm>
          <a:prstGeom prst="rect">
            <a:avLst/>
          </a:prstGeom>
          <a:noFill/>
          <a:ln/>
        </p:spPr>
        <p:txBody>
          <a:bodyPr wrap="square" lIns="0" tIns="0" rIns="0" bIns="0" rtlCol="0" anchor="t"/>
          <a:lstStyle/>
          <a:p>
            <a:pPr marL="0" indent="0" algn="l">
              <a:lnSpc>
                <a:spcPts val="945"/>
              </a:lnSpc>
              <a:spcBef>
                <a:spcPts val="150"/>
              </a:spcBef>
              <a:buNone/>
            </a:pPr>
            <a:r>
              <a:rPr lang="en-US" sz="675" dirty="0">
                <a:solidFill>
                  <a:srgbClr val="FFFFFF">
                    <a:alpha val="50000"/>
                  </a:srgbClr>
                </a:solidFill>
                <a:latin typeface="Arial" pitchFamily="34" charset="0"/>
                <a:ea typeface="Arial" pitchFamily="34" charset="-122"/>
                <a:cs typeface="Arial" pitchFamily="34" charset="-120"/>
              </a:rPr>
              <a:t>Apple Silicon optimal</a:t>
            </a:r>
            <a:endParaRPr lang="en-US" sz="675" dirty="0"/>
          </a:p>
        </p:txBody>
      </p:sp>
      <p:sp>
        <p:nvSpPr>
          <p:cNvPr id="34" name="Text 32"/>
          <p:cNvSpPr/>
          <p:nvPr/>
        </p:nvSpPr>
        <p:spPr>
          <a:xfrm>
            <a:off x="5633889" y="2363837"/>
            <a:ext cx="3243411" cy="546646"/>
          </a:xfrm>
          <a:prstGeom prst="rect">
            <a:avLst/>
          </a:prstGeom>
          <a:solidFill>
            <a:srgbClr val="C9A227">
              <a:alpha val="15000"/>
            </a:srgbClr>
          </a:solidFill>
          <a:ln w="9525">
            <a:solidFill>
              <a:srgbClr val="C9A227"/>
            </a:solidFill>
          </a:ln>
        </p:spPr>
        <p:txBody>
          <a:bodyPr wrap="square" rtlCol="0" anchor="ctr"/>
          <a:lstStyle/>
          <a:p>
            <a:pPr marL="0" indent="0">
              <a:buNone/>
            </a:pPr>
            <a:endParaRPr lang="en-US" dirty="0"/>
          </a:p>
        </p:txBody>
      </p:sp>
      <p:sp>
        <p:nvSpPr>
          <p:cNvPr id="35" name="Text 33"/>
          <p:cNvSpPr/>
          <p:nvPr/>
        </p:nvSpPr>
        <p:spPr>
          <a:xfrm>
            <a:off x="5757714" y="2503736"/>
            <a:ext cx="266700" cy="266700"/>
          </a:xfrm>
          <a:prstGeom prst="rect">
            <a:avLst/>
          </a:prstGeom>
          <a:solidFill>
            <a:srgbClr val="C9A227"/>
          </a:solidFill>
          <a:ln/>
        </p:spPr>
        <p:txBody>
          <a:bodyPr wrap="square" rtlCol="0" anchor="ctr"/>
          <a:lstStyle/>
          <a:p>
            <a:pPr marL="0" indent="0">
              <a:buNone/>
            </a:pPr>
            <a:endParaRPr lang="en-US" dirty="0"/>
          </a:p>
        </p:txBody>
      </p:sp>
      <p:sp>
        <p:nvSpPr>
          <p:cNvPr id="36" name="Text 34"/>
          <p:cNvSpPr/>
          <p:nvPr/>
        </p:nvSpPr>
        <p:spPr>
          <a:xfrm>
            <a:off x="5878264" y="2557016"/>
            <a:ext cx="25959" cy="159990"/>
          </a:xfrm>
          <a:prstGeom prst="rect">
            <a:avLst/>
          </a:prstGeom>
          <a:noFill/>
          <a:ln/>
        </p:spPr>
        <p:txBody>
          <a:bodyPr wrap="square" lIns="0" tIns="0" rIns="0" bIns="0" rtlCol="0" anchor="t"/>
          <a:lstStyle/>
          <a:p>
            <a:pPr marL="0" indent="0" algn="l">
              <a:lnSpc>
                <a:spcPts val="1260"/>
              </a:lnSpc>
              <a:buNone/>
            </a:pPr>
            <a:r>
              <a:rPr lang="en-US" sz="900" dirty="0">
                <a:solidFill>
                  <a:srgbClr val="1A1F2E"/>
                </a:solidFill>
                <a:latin typeface="Arial" pitchFamily="34" charset="0"/>
                <a:ea typeface="Arial" pitchFamily="34" charset="-122"/>
                <a:cs typeface="Arial" pitchFamily="34" charset="-120"/>
              </a:rPr>
              <a:t>i</a:t>
            </a:r>
            <a:endParaRPr lang="en-US" sz="900" dirty="0"/>
          </a:p>
        </p:txBody>
      </p:sp>
      <p:sp>
        <p:nvSpPr>
          <p:cNvPr id="37" name="Text 35"/>
          <p:cNvSpPr/>
          <p:nvPr/>
        </p:nvSpPr>
        <p:spPr>
          <a:xfrm>
            <a:off x="6119664" y="2487662"/>
            <a:ext cx="1088743" cy="159990"/>
          </a:xfrm>
          <a:prstGeom prst="rect">
            <a:avLst/>
          </a:prstGeom>
          <a:noFill/>
          <a:ln/>
        </p:spPr>
        <p:txBody>
          <a:bodyPr wrap="square" lIns="0" tIns="0" rIns="0" bIns="0" rtlCol="0" anchor="t"/>
          <a:lstStyle/>
          <a:p>
            <a:pPr marL="0" indent="0" algn="l">
              <a:lnSpc>
                <a:spcPts val="1260"/>
              </a:lnSpc>
              <a:buNone/>
            </a:pPr>
            <a:r>
              <a:rPr lang="en-US" sz="900" dirty="0">
                <a:solidFill>
                  <a:srgbClr val="FFFFFF"/>
                </a:solidFill>
                <a:latin typeface="Arial" pitchFamily="34" charset="0"/>
                <a:ea typeface="Arial" pitchFamily="34" charset="-122"/>
                <a:cs typeface="Arial" pitchFamily="34" charset="-120"/>
              </a:rPr>
              <a:t>iOS / iPadOS</a:t>
            </a:r>
            <a:endParaRPr lang="en-US" sz="900" dirty="0"/>
          </a:p>
        </p:txBody>
      </p:sp>
      <p:sp>
        <p:nvSpPr>
          <p:cNvPr id="38" name="Text 36"/>
          <p:cNvSpPr/>
          <p:nvPr/>
        </p:nvSpPr>
        <p:spPr>
          <a:xfrm>
            <a:off x="6119664" y="2666702"/>
            <a:ext cx="1088743" cy="119955"/>
          </a:xfrm>
          <a:prstGeom prst="rect">
            <a:avLst/>
          </a:prstGeom>
          <a:noFill/>
          <a:ln/>
        </p:spPr>
        <p:txBody>
          <a:bodyPr wrap="square" lIns="0" tIns="0" rIns="0" bIns="0" rtlCol="0" anchor="t"/>
          <a:lstStyle/>
          <a:p>
            <a:pPr marL="0" indent="0" algn="l">
              <a:lnSpc>
                <a:spcPts val="945"/>
              </a:lnSpc>
              <a:spcBef>
                <a:spcPts val="150"/>
              </a:spcBef>
              <a:buNone/>
            </a:pPr>
            <a:r>
              <a:rPr lang="en-US" sz="675" dirty="0">
                <a:solidFill>
                  <a:srgbClr val="FFFFFF">
                    <a:alpha val="50000"/>
                  </a:srgbClr>
                </a:solidFill>
                <a:latin typeface="Arial" pitchFamily="34" charset="0"/>
                <a:ea typeface="Arial" pitchFamily="34" charset="-122"/>
                <a:cs typeface="Arial" pitchFamily="34" charset="-120"/>
              </a:rPr>
              <a:t>Same license covers mobile</a:t>
            </a:r>
            <a:endParaRPr lang="en-US" sz="675" dirty="0"/>
          </a:p>
        </p:txBody>
      </p:sp>
      <p:sp>
        <p:nvSpPr>
          <p:cNvPr id="39" name="Text 37"/>
          <p:cNvSpPr/>
          <p:nvPr/>
        </p:nvSpPr>
        <p:spPr>
          <a:xfrm>
            <a:off x="5633889" y="4476750"/>
            <a:ext cx="3243411" cy="361950"/>
          </a:xfrm>
          <a:prstGeom prst="rect">
            <a:avLst/>
          </a:prstGeom>
          <a:solidFill>
            <a:srgbClr val="059669"/>
          </a:solidFill>
          <a:ln/>
        </p:spPr>
        <p:txBody>
          <a:bodyPr wrap="square" rtlCol="0" anchor="ctr"/>
          <a:lstStyle/>
          <a:p>
            <a:pPr marL="0" indent="0">
              <a:buNone/>
            </a:pPr>
            <a:endParaRPr lang="en-US" dirty="0"/>
          </a:p>
        </p:txBody>
      </p:sp>
      <p:sp>
        <p:nvSpPr>
          <p:cNvPr id="40" name="Text 38"/>
          <p:cNvSpPr/>
          <p:nvPr/>
        </p:nvSpPr>
        <p:spPr>
          <a:xfrm>
            <a:off x="5718041" y="4591050"/>
            <a:ext cx="3075108" cy="133350"/>
          </a:xfrm>
          <a:prstGeom prst="rect">
            <a:avLst/>
          </a:prstGeom>
          <a:noFill/>
          <a:ln/>
        </p:spPr>
        <p:txBody>
          <a:bodyPr wrap="square" lIns="0" tIns="0" rIns="0" bIns="0" rtlCol="0" anchor="t"/>
          <a:lstStyle/>
          <a:p>
            <a:pPr marL="0" indent="0" algn="ctr">
              <a:lnSpc>
                <a:spcPts val="1050"/>
              </a:lnSpc>
              <a:buNone/>
            </a:pPr>
            <a:r>
              <a:rPr lang="en-US" sz="750" dirty="0">
                <a:solidFill>
                  <a:srgbClr val="FFFFFF"/>
                </a:solidFill>
                <a:latin typeface="Arial" pitchFamily="34" charset="0"/>
                <a:ea typeface="Arial" pitchFamily="34" charset="-122"/>
                <a:cs typeface="Arial" pitchFamily="34" charset="-120"/>
              </a:rPr>
              <a:t>Local models = Safe for PHI and sensitive data</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457200" y="266700"/>
            <a:ext cx="8394192" cy="146596"/>
          </a:xfrm>
          <a:prstGeom prst="rect">
            <a:avLst/>
          </a:prstGeom>
          <a:noFill/>
          <a:ln/>
        </p:spPr>
        <p:txBody>
          <a:bodyPr wrap="square" lIns="0" tIns="0" rIns="0" bIns="0" rtlCol="0" anchor="t"/>
          <a:lstStyle/>
          <a:p>
            <a:pPr marL="0" indent="0" algn="l">
              <a:lnSpc>
                <a:spcPts val="1155"/>
              </a:lnSpc>
              <a:spcAft>
                <a:spcPts val="450"/>
              </a:spcAft>
              <a:buNone/>
            </a:pPr>
            <a:r>
              <a:rPr lang="en-US" sz="825" dirty="0">
                <a:solidFill>
                  <a:srgbClr val="C9A227"/>
                </a:solidFill>
                <a:latin typeface="Arial" pitchFamily="34" charset="0"/>
                <a:ea typeface="Arial" pitchFamily="34" charset="-122"/>
                <a:cs typeface="Arial" pitchFamily="34" charset="-120"/>
              </a:rPr>
              <a:t>DATA FLOW ARCHITECTURE</a:t>
            </a:r>
            <a:endParaRPr lang="en-US" sz="825" dirty="0"/>
          </a:p>
        </p:txBody>
      </p:sp>
      <p:sp>
        <p:nvSpPr>
          <p:cNvPr id="3" name="Text 1"/>
          <p:cNvSpPr/>
          <p:nvPr/>
        </p:nvSpPr>
        <p:spPr>
          <a:xfrm>
            <a:off x="457200" y="470446"/>
            <a:ext cx="4206812" cy="285750"/>
          </a:xfrm>
          <a:prstGeom prst="rect">
            <a:avLst/>
          </a:prstGeom>
          <a:noFill/>
          <a:ln/>
        </p:spPr>
        <p:txBody>
          <a:bodyPr wrap="square" lIns="0" tIns="0" rIns="0" bIns="0" rtlCol="0" anchor="t"/>
          <a:lstStyle/>
          <a:p>
            <a:pPr marL="0" indent="0" algn="l">
              <a:lnSpc>
                <a:spcPts val="2250"/>
              </a:lnSpc>
              <a:buNone/>
            </a:pPr>
            <a:r>
              <a:rPr lang="en-US" sz="2250" dirty="0">
                <a:solidFill>
                  <a:srgbClr val="1A1F2E"/>
                </a:solidFill>
                <a:latin typeface="Georgia" pitchFamily="34" charset="0"/>
                <a:ea typeface="Georgia" pitchFamily="34" charset="-122"/>
                <a:cs typeface="Georgia" pitchFamily="34" charset="-120"/>
              </a:rPr>
              <a:t>Why Local Processing Matters</a:t>
            </a:r>
            <a:endParaRPr lang="en-US" sz="2250" dirty="0"/>
          </a:p>
        </p:txBody>
      </p:sp>
      <p:sp>
        <p:nvSpPr>
          <p:cNvPr id="4" name="Text 2"/>
          <p:cNvSpPr/>
          <p:nvPr/>
        </p:nvSpPr>
        <p:spPr>
          <a:xfrm>
            <a:off x="457200" y="1060996"/>
            <a:ext cx="8394192" cy="146596"/>
          </a:xfrm>
          <a:prstGeom prst="rect">
            <a:avLst/>
          </a:prstGeom>
          <a:noFill/>
          <a:ln/>
        </p:spPr>
        <p:txBody>
          <a:bodyPr wrap="square" lIns="0" tIns="0" rIns="0" bIns="0" rtlCol="0" anchor="t"/>
          <a:lstStyle/>
          <a:p>
            <a:pPr marL="0" indent="0" algn="l">
              <a:lnSpc>
                <a:spcPts val="1155"/>
              </a:lnSpc>
              <a:spcAft>
                <a:spcPts val="600"/>
              </a:spcAft>
              <a:buNone/>
            </a:pPr>
            <a:r>
              <a:rPr lang="en-US" sz="825" b="1" dirty="0">
                <a:solidFill>
                  <a:srgbClr val="059669"/>
                </a:solidFill>
                <a:latin typeface="Arial" pitchFamily="34" charset="0"/>
                <a:ea typeface="Arial" pitchFamily="34" charset="-122"/>
                <a:cs typeface="Arial" pitchFamily="34" charset="-120"/>
              </a:rPr>
              <a:t>LOCAL PROCESSING (SuperWhisper)</a:t>
            </a:r>
            <a:endParaRPr lang="en-US" sz="825" dirty="0"/>
          </a:p>
        </p:txBody>
      </p:sp>
      <p:sp>
        <p:nvSpPr>
          <p:cNvPr id="5" name="Text 3"/>
          <p:cNvSpPr/>
          <p:nvPr/>
        </p:nvSpPr>
        <p:spPr>
          <a:xfrm>
            <a:off x="457200" y="1524744"/>
            <a:ext cx="1047750" cy="323850"/>
          </a:xfrm>
          <a:prstGeom prst="rect">
            <a:avLst/>
          </a:prstGeom>
          <a:solidFill>
            <a:srgbClr val="DBEAFE"/>
          </a:solidFill>
          <a:ln/>
        </p:spPr>
        <p:txBody>
          <a:bodyPr wrap="square" rtlCol="0" anchor="ctr"/>
          <a:lstStyle/>
          <a:p>
            <a:pPr marL="0" indent="0">
              <a:buNone/>
            </a:pPr>
            <a:endParaRPr lang="en-US" dirty="0"/>
          </a:p>
        </p:txBody>
      </p:sp>
      <p:sp>
        <p:nvSpPr>
          <p:cNvPr id="6" name="Text 4"/>
          <p:cNvSpPr/>
          <p:nvPr/>
        </p:nvSpPr>
        <p:spPr>
          <a:xfrm>
            <a:off x="582740" y="1619994"/>
            <a:ext cx="796671" cy="133350"/>
          </a:xfrm>
          <a:prstGeom prst="rect">
            <a:avLst/>
          </a:prstGeom>
          <a:noFill/>
          <a:ln/>
        </p:spPr>
        <p:txBody>
          <a:bodyPr wrap="square" lIns="0" tIns="0" rIns="0" bIns="0" rtlCol="0" anchor="t"/>
          <a:lstStyle/>
          <a:p>
            <a:pPr marL="0" indent="0" algn="ctr">
              <a:lnSpc>
                <a:spcPts val="1050"/>
              </a:lnSpc>
              <a:buNone/>
            </a:pPr>
            <a:r>
              <a:rPr lang="en-US" sz="750" dirty="0">
                <a:solidFill>
                  <a:srgbClr val="1A1F2E"/>
                </a:solidFill>
                <a:latin typeface="Arial" pitchFamily="34" charset="0"/>
                <a:ea typeface="Arial" pitchFamily="34" charset="-122"/>
                <a:cs typeface="Arial" pitchFamily="34" charset="-120"/>
              </a:rPr>
              <a:t>Your Voice</a:t>
            </a:r>
            <a:endParaRPr lang="en-US" sz="750" dirty="0"/>
          </a:p>
        </p:txBody>
      </p:sp>
      <p:sp>
        <p:nvSpPr>
          <p:cNvPr id="7" name="Text 5"/>
          <p:cNvSpPr/>
          <p:nvPr/>
        </p:nvSpPr>
        <p:spPr>
          <a:xfrm>
            <a:off x="1562100" y="1579959"/>
            <a:ext cx="142545" cy="213271"/>
          </a:xfrm>
          <a:prstGeom prst="rect">
            <a:avLst/>
          </a:prstGeom>
          <a:noFill/>
          <a:ln/>
        </p:spPr>
        <p:txBody>
          <a:bodyPr wrap="square" lIns="0" tIns="0" rIns="0" bIns="0" rtlCol="0" anchor="t"/>
          <a:lstStyle/>
          <a:p>
            <a:pPr marL="0" indent="0" algn="l">
              <a:lnSpc>
                <a:spcPts val="1680"/>
              </a:lnSpc>
              <a:buNone/>
            </a:pPr>
            <a:r>
              <a:rPr lang="en-US" sz="1200" dirty="0">
                <a:solidFill>
                  <a:srgbClr val="059669"/>
                </a:solidFill>
                <a:latin typeface="Arial" pitchFamily="34" charset="0"/>
                <a:ea typeface="Arial" pitchFamily="34" charset="-122"/>
                <a:cs typeface="Arial" pitchFamily="34" charset="-120"/>
              </a:rPr>
              <a:t>-&gt;</a:t>
            </a:r>
            <a:endParaRPr lang="en-US" sz="1200" dirty="0"/>
          </a:p>
        </p:txBody>
      </p:sp>
      <p:sp>
        <p:nvSpPr>
          <p:cNvPr id="8" name="Text 6"/>
          <p:cNvSpPr/>
          <p:nvPr/>
        </p:nvSpPr>
        <p:spPr>
          <a:xfrm>
            <a:off x="1759000" y="1436191"/>
            <a:ext cx="1238250" cy="500955"/>
          </a:xfrm>
          <a:prstGeom prst="rect">
            <a:avLst/>
          </a:prstGeom>
          <a:solidFill>
            <a:srgbClr val="DCFCE7"/>
          </a:solidFill>
          <a:ln w="19050">
            <a:solidFill>
              <a:srgbClr val="059669"/>
            </a:solidFill>
          </a:ln>
        </p:spPr>
        <p:txBody>
          <a:bodyPr wrap="square" rtlCol="0" anchor="ctr"/>
          <a:lstStyle/>
          <a:p>
            <a:pPr marL="0" indent="0">
              <a:buNone/>
            </a:pPr>
            <a:endParaRPr lang="en-US" dirty="0"/>
          </a:p>
        </p:txBody>
      </p:sp>
      <p:sp>
        <p:nvSpPr>
          <p:cNvPr id="9" name="Text 7"/>
          <p:cNvSpPr/>
          <p:nvPr/>
        </p:nvSpPr>
        <p:spPr>
          <a:xfrm>
            <a:off x="1902065" y="1550491"/>
            <a:ext cx="952119" cy="133350"/>
          </a:xfrm>
          <a:prstGeom prst="rect">
            <a:avLst/>
          </a:prstGeom>
          <a:noFill/>
          <a:ln/>
        </p:spPr>
        <p:txBody>
          <a:bodyPr wrap="square" lIns="0" tIns="0" rIns="0" bIns="0" rtlCol="0" anchor="t"/>
          <a:lstStyle/>
          <a:p>
            <a:pPr marL="0" indent="0" algn="ctr">
              <a:lnSpc>
                <a:spcPts val="1050"/>
              </a:lnSpc>
              <a:buNone/>
            </a:pPr>
            <a:r>
              <a:rPr lang="en-US" sz="750" b="1" dirty="0">
                <a:solidFill>
                  <a:srgbClr val="166534"/>
                </a:solidFill>
                <a:latin typeface="Arial" pitchFamily="34" charset="0"/>
                <a:ea typeface="Arial" pitchFamily="34" charset="-122"/>
                <a:cs typeface="Arial" pitchFamily="34" charset="-120"/>
              </a:rPr>
              <a:t>SuperWhisper</a:t>
            </a:r>
            <a:endParaRPr lang="en-US" sz="750" dirty="0"/>
          </a:p>
        </p:txBody>
      </p:sp>
      <p:sp>
        <p:nvSpPr>
          <p:cNvPr id="10" name="Text 8"/>
          <p:cNvSpPr/>
          <p:nvPr/>
        </p:nvSpPr>
        <p:spPr>
          <a:xfrm>
            <a:off x="1902065" y="1702891"/>
            <a:ext cx="952119" cy="119955"/>
          </a:xfrm>
          <a:prstGeom prst="rect">
            <a:avLst/>
          </a:prstGeom>
          <a:noFill/>
          <a:ln/>
        </p:spPr>
        <p:txBody>
          <a:bodyPr wrap="square" lIns="0" tIns="0" rIns="0" bIns="0" rtlCol="0" anchor="t"/>
          <a:lstStyle/>
          <a:p>
            <a:pPr marL="0" indent="0" algn="ctr">
              <a:lnSpc>
                <a:spcPts val="945"/>
              </a:lnSpc>
              <a:spcBef>
                <a:spcPts val="150"/>
              </a:spcBef>
              <a:buNone/>
            </a:pPr>
            <a:r>
              <a:rPr lang="en-US" sz="675" dirty="0">
                <a:solidFill>
                  <a:srgbClr val="166534"/>
                </a:solidFill>
                <a:latin typeface="Arial" pitchFamily="34" charset="0"/>
                <a:ea typeface="Arial" pitchFamily="34" charset="-122"/>
                <a:cs typeface="Arial" pitchFamily="34" charset="-120"/>
              </a:rPr>
              <a:t>(On Your Device)</a:t>
            </a:r>
            <a:endParaRPr lang="en-US" sz="675" dirty="0"/>
          </a:p>
        </p:txBody>
      </p:sp>
      <p:sp>
        <p:nvSpPr>
          <p:cNvPr id="11" name="Text 9"/>
          <p:cNvSpPr/>
          <p:nvPr/>
        </p:nvSpPr>
        <p:spPr>
          <a:xfrm>
            <a:off x="3054400" y="1579959"/>
            <a:ext cx="142545" cy="213271"/>
          </a:xfrm>
          <a:prstGeom prst="rect">
            <a:avLst/>
          </a:prstGeom>
          <a:noFill/>
          <a:ln/>
        </p:spPr>
        <p:txBody>
          <a:bodyPr wrap="square" lIns="0" tIns="0" rIns="0" bIns="0" rtlCol="0" anchor="t"/>
          <a:lstStyle/>
          <a:p>
            <a:pPr marL="0" indent="0" algn="l">
              <a:lnSpc>
                <a:spcPts val="1680"/>
              </a:lnSpc>
              <a:buNone/>
            </a:pPr>
            <a:r>
              <a:rPr lang="en-US" sz="1200" dirty="0">
                <a:solidFill>
                  <a:srgbClr val="059669"/>
                </a:solidFill>
                <a:latin typeface="Arial" pitchFamily="34" charset="0"/>
                <a:ea typeface="Arial" pitchFamily="34" charset="-122"/>
                <a:cs typeface="Arial" pitchFamily="34" charset="-120"/>
              </a:rPr>
              <a:t>-&gt;</a:t>
            </a:r>
            <a:endParaRPr lang="en-US" sz="1200" dirty="0"/>
          </a:p>
        </p:txBody>
      </p:sp>
      <p:sp>
        <p:nvSpPr>
          <p:cNvPr id="12" name="Text 10"/>
          <p:cNvSpPr/>
          <p:nvPr/>
        </p:nvSpPr>
        <p:spPr>
          <a:xfrm>
            <a:off x="3251299" y="1524744"/>
            <a:ext cx="1047750" cy="323850"/>
          </a:xfrm>
          <a:prstGeom prst="rect">
            <a:avLst/>
          </a:prstGeom>
          <a:solidFill>
            <a:srgbClr val="DCFCE7"/>
          </a:solidFill>
          <a:ln/>
        </p:spPr>
        <p:txBody>
          <a:bodyPr wrap="square" rtlCol="0" anchor="ctr"/>
          <a:lstStyle/>
          <a:p>
            <a:pPr marL="0" indent="0">
              <a:buNone/>
            </a:pPr>
            <a:endParaRPr lang="en-US" dirty="0"/>
          </a:p>
        </p:txBody>
      </p:sp>
      <p:sp>
        <p:nvSpPr>
          <p:cNvPr id="13" name="Text 11"/>
          <p:cNvSpPr/>
          <p:nvPr/>
        </p:nvSpPr>
        <p:spPr>
          <a:xfrm>
            <a:off x="3376839" y="1619994"/>
            <a:ext cx="796671" cy="133350"/>
          </a:xfrm>
          <a:prstGeom prst="rect">
            <a:avLst/>
          </a:prstGeom>
          <a:noFill/>
          <a:ln/>
        </p:spPr>
        <p:txBody>
          <a:bodyPr wrap="square" lIns="0" tIns="0" rIns="0" bIns="0" rtlCol="0" anchor="t"/>
          <a:lstStyle/>
          <a:p>
            <a:pPr marL="0" indent="0" algn="ctr">
              <a:lnSpc>
                <a:spcPts val="1050"/>
              </a:lnSpc>
              <a:buNone/>
            </a:pPr>
            <a:r>
              <a:rPr lang="en-US" sz="750" dirty="0">
                <a:solidFill>
                  <a:srgbClr val="166534"/>
                </a:solidFill>
                <a:latin typeface="Arial" pitchFamily="34" charset="0"/>
                <a:ea typeface="Arial" pitchFamily="34" charset="-122"/>
                <a:cs typeface="Arial" pitchFamily="34" charset="-120"/>
              </a:rPr>
              <a:t>Text Output</a:t>
            </a:r>
            <a:endParaRPr lang="en-US" sz="750" dirty="0"/>
          </a:p>
        </p:txBody>
      </p:sp>
      <p:sp>
        <p:nvSpPr>
          <p:cNvPr id="14" name="Text 12"/>
          <p:cNvSpPr/>
          <p:nvPr/>
        </p:nvSpPr>
        <p:spPr>
          <a:xfrm>
            <a:off x="4356199" y="1579959"/>
            <a:ext cx="142545" cy="213271"/>
          </a:xfrm>
          <a:prstGeom prst="rect">
            <a:avLst/>
          </a:prstGeom>
          <a:noFill/>
          <a:ln/>
        </p:spPr>
        <p:txBody>
          <a:bodyPr wrap="square" lIns="0" tIns="0" rIns="0" bIns="0" rtlCol="0" anchor="t"/>
          <a:lstStyle/>
          <a:p>
            <a:pPr marL="0" indent="0" algn="l">
              <a:lnSpc>
                <a:spcPts val="1680"/>
              </a:lnSpc>
              <a:buNone/>
            </a:pPr>
            <a:r>
              <a:rPr lang="en-US" sz="1200" dirty="0">
                <a:solidFill>
                  <a:srgbClr val="059669"/>
                </a:solidFill>
                <a:latin typeface="Arial" pitchFamily="34" charset="0"/>
                <a:ea typeface="Arial" pitchFamily="34" charset="-122"/>
                <a:cs typeface="Arial" pitchFamily="34" charset="-120"/>
              </a:rPr>
              <a:t>-&gt;</a:t>
            </a:r>
            <a:endParaRPr lang="en-US" sz="1200" dirty="0"/>
          </a:p>
        </p:txBody>
      </p:sp>
      <p:sp>
        <p:nvSpPr>
          <p:cNvPr id="15" name="Text 13"/>
          <p:cNvSpPr/>
          <p:nvPr/>
        </p:nvSpPr>
        <p:spPr>
          <a:xfrm>
            <a:off x="4553099" y="1524744"/>
            <a:ext cx="1047750" cy="323850"/>
          </a:xfrm>
          <a:prstGeom prst="rect">
            <a:avLst/>
          </a:prstGeom>
          <a:solidFill>
            <a:srgbClr val="DBEAFE"/>
          </a:solidFill>
          <a:ln/>
        </p:spPr>
        <p:txBody>
          <a:bodyPr wrap="square" rtlCol="0" anchor="ctr"/>
          <a:lstStyle/>
          <a:p>
            <a:pPr marL="0" indent="0">
              <a:buNone/>
            </a:pPr>
            <a:endParaRPr lang="en-US" dirty="0"/>
          </a:p>
        </p:txBody>
      </p:sp>
      <p:sp>
        <p:nvSpPr>
          <p:cNvPr id="16" name="Text 14"/>
          <p:cNvSpPr/>
          <p:nvPr/>
        </p:nvSpPr>
        <p:spPr>
          <a:xfrm>
            <a:off x="4678638" y="1619994"/>
            <a:ext cx="796671" cy="133350"/>
          </a:xfrm>
          <a:prstGeom prst="rect">
            <a:avLst/>
          </a:prstGeom>
          <a:noFill/>
          <a:ln/>
        </p:spPr>
        <p:txBody>
          <a:bodyPr wrap="square" lIns="0" tIns="0" rIns="0" bIns="0" rtlCol="0" anchor="t"/>
          <a:lstStyle/>
          <a:p>
            <a:pPr marL="0" indent="0" algn="ctr">
              <a:lnSpc>
                <a:spcPts val="1050"/>
              </a:lnSpc>
              <a:buNone/>
            </a:pPr>
            <a:r>
              <a:rPr lang="en-US" sz="750" dirty="0">
                <a:solidFill>
                  <a:srgbClr val="1A1F2E"/>
                </a:solidFill>
                <a:latin typeface="Arial" pitchFamily="34" charset="0"/>
                <a:ea typeface="Arial" pitchFamily="34" charset="-122"/>
                <a:cs typeface="Arial" pitchFamily="34" charset="-120"/>
              </a:rPr>
              <a:t>Your App</a:t>
            </a:r>
            <a:endParaRPr lang="en-US" sz="750" dirty="0"/>
          </a:p>
        </p:txBody>
      </p:sp>
      <p:sp>
        <p:nvSpPr>
          <p:cNvPr id="17" name="Text 15"/>
          <p:cNvSpPr/>
          <p:nvPr/>
        </p:nvSpPr>
        <p:spPr>
          <a:xfrm>
            <a:off x="5772299" y="1550491"/>
            <a:ext cx="685800" cy="272355"/>
          </a:xfrm>
          <a:prstGeom prst="rect">
            <a:avLst/>
          </a:prstGeom>
          <a:solidFill>
            <a:srgbClr val="DCFCE7"/>
          </a:solidFill>
          <a:ln/>
        </p:spPr>
        <p:txBody>
          <a:bodyPr wrap="square" rtlCol="0" anchor="ctr"/>
          <a:lstStyle/>
          <a:p>
            <a:pPr marL="0" indent="0">
              <a:buNone/>
            </a:pPr>
            <a:endParaRPr lang="en-US" dirty="0"/>
          </a:p>
        </p:txBody>
      </p:sp>
      <p:sp>
        <p:nvSpPr>
          <p:cNvPr id="18" name="Text 16"/>
          <p:cNvSpPr/>
          <p:nvPr/>
        </p:nvSpPr>
        <p:spPr>
          <a:xfrm>
            <a:off x="5886599" y="1626691"/>
            <a:ext cx="466344" cy="119955"/>
          </a:xfrm>
          <a:prstGeom prst="rect">
            <a:avLst/>
          </a:prstGeom>
          <a:noFill/>
          <a:ln/>
        </p:spPr>
        <p:txBody>
          <a:bodyPr wrap="square" lIns="0" tIns="0" rIns="0" bIns="0" rtlCol="0" anchor="t"/>
          <a:lstStyle/>
          <a:p>
            <a:pPr marL="0" indent="0" algn="l">
              <a:lnSpc>
                <a:spcPts val="945"/>
              </a:lnSpc>
              <a:buNone/>
            </a:pPr>
            <a:r>
              <a:rPr lang="en-US" sz="675" b="1" dirty="0">
                <a:solidFill>
                  <a:srgbClr val="166534"/>
                </a:solidFill>
                <a:latin typeface="Arial" pitchFamily="34" charset="0"/>
                <a:ea typeface="Arial" pitchFamily="34" charset="-122"/>
                <a:cs typeface="Arial" pitchFamily="34" charset="-120"/>
              </a:rPr>
              <a:t>NO CLOUD</a:t>
            </a:r>
            <a:endParaRPr lang="en-US" sz="675" dirty="0"/>
          </a:p>
        </p:txBody>
      </p:sp>
      <p:sp>
        <p:nvSpPr>
          <p:cNvPr id="19" name="Text 17"/>
          <p:cNvSpPr/>
          <p:nvPr/>
        </p:nvSpPr>
        <p:spPr>
          <a:xfrm>
            <a:off x="457200" y="2203847"/>
            <a:ext cx="8394192" cy="146596"/>
          </a:xfrm>
          <a:prstGeom prst="rect">
            <a:avLst/>
          </a:prstGeom>
          <a:noFill/>
          <a:ln/>
        </p:spPr>
        <p:txBody>
          <a:bodyPr wrap="square" lIns="0" tIns="0" rIns="0" bIns="0" rtlCol="0" anchor="t"/>
          <a:lstStyle/>
          <a:p>
            <a:pPr marL="0" indent="0" algn="l">
              <a:lnSpc>
                <a:spcPts val="1155"/>
              </a:lnSpc>
              <a:spcAft>
                <a:spcPts val="600"/>
              </a:spcAft>
              <a:buNone/>
            </a:pPr>
            <a:r>
              <a:rPr lang="en-US" sz="825" b="1" dirty="0">
                <a:solidFill>
                  <a:srgbClr val="DC2626"/>
                </a:solidFill>
                <a:latin typeface="Arial" pitchFamily="34" charset="0"/>
                <a:ea typeface="Arial" pitchFamily="34" charset="-122"/>
                <a:cs typeface="Arial" pitchFamily="34" charset="-120"/>
              </a:rPr>
              <a:t>CLOUD PROCESSING (Traditional)</a:t>
            </a:r>
            <a:endParaRPr lang="en-US" sz="825" dirty="0"/>
          </a:p>
        </p:txBody>
      </p:sp>
      <p:sp>
        <p:nvSpPr>
          <p:cNvPr id="20" name="Text 18"/>
          <p:cNvSpPr/>
          <p:nvPr/>
        </p:nvSpPr>
        <p:spPr>
          <a:xfrm>
            <a:off x="457200" y="2667595"/>
            <a:ext cx="1047750" cy="323850"/>
          </a:xfrm>
          <a:prstGeom prst="rect">
            <a:avLst/>
          </a:prstGeom>
          <a:solidFill>
            <a:srgbClr val="DBEAFE"/>
          </a:solidFill>
          <a:ln/>
        </p:spPr>
        <p:txBody>
          <a:bodyPr wrap="square" rtlCol="0" anchor="ctr"/>
          <a:lstStyle/>
          <a:p>
            <a:pPr marL="0" indent="0">
              <a:buNone/>
            </a:pPr>
            <a:endParaRPr lang="en-US" dirty="0"/>
          </a:p>
        </p:txBody>
      </p:sp>
      <p:sp>
        <p:nvSpPr>
          <p:cNvPr id="21" name="Text 19"/>
          <p:cNvSpPr/>
          <p:nvPr/>
        </p:nvSpPr>
        <p:spPr>
          <a:xfrm>
            <a:off x="582740" y="2762845"/>
            <a:ext cx="796671" cy="133350"/>
          </a:xfrm>
          <a:prstGeom prst="rect">
            <a:avLst/>
          </a:prstGeom>
          <a:noFill/>
          <a:ln/>
        </p:spPr>
        <p:txBody>
          <a:bodyPr wrap="square" lIns="0" tIns="0" rIns="0" bIns="0" rtlCol="0" anchor="t"/>
          <a:lstStyle/>
          <a:p>
            <a:pPr marL="0" indent="0" algn="ctr">
              <a:lnSpc>
                <a:spcPts val="1050"/>
              </a:lnSpc>
              <a:buNone/>
            </a:pPr>
            <a:r>
              <a:rPr lang="en-US" sz="750" dirty="0">
                <a:solidFill>
                  <a:srgbClr val="1A1F2E"/>
                </a:solidFill>
                <a:latin typeface="Arial" pitchFamily="34" charset="0"/>
                <a:ea typeface="Arial" pitchFamily="34" charset="-122"/>
                <a:cs typeface="Arial" pitchFamily="34" charset="-120"/>
              </a:rPr>
              <a:t>Your Voice</a:t>
            </a:r>
            <a:endParaRPr lang="en-US" sz="750" dirty="0"/>
          </a:p>
        </p:txBody>
      </p:sp>
      <p:sp>
        <p:nvSpPr>
          <p:cNvPr id="22" name="Text 20"/>
          <p:cNvSpPr/>
          <p:nvPr/>
        </p:nvSpPr>
        <p:spPr>
          <a:xfrm>
            <a:off x="1562100" y="2722811"/>
            <a:ext cx="142545" cy="213271"/>
          </a:xfrm>
          <a:prstGeom prst="rect">
            <a:avLst/>
          </a:prstGeom>
          <a:noFill/>
          <a:ln/>
        </p:spPr>
        <p:txBody>
          <a:bodyPr wrap="square" lIns="0" tIns="0" rIns="0" bIns="0" rtlCol="0" anchor="t"/>
          <a:lstStyle/>
          <a:p>
            <a:pPr marL="0" indent="0" algn="l">
              <a:lnSpc>
                <a:spcPts val="1680"/>
              </a:lnSpc>
              <a:buNone/>
            </a:pPr>
            <a:r>
              <a:rPr lang="en-US" sz="1200" dirty="0">
                <a:solidFill>
                  <a:srgbClr val="DC2626"/>
                </a:solidFill>
                <a:latin typeface="Arial" pitchFamily="34" charset="0"/>
                <a:ea typeface="Arial" pitchFamily="34" charset="-122"/>
                <a:cs typeface="Arial" pitchFamily="34" charset="-120"/>
              </a:rPr>
              <a:t>-&gt;</a:t>
            </a:r>
            <a:endParaRPr lang="en-US" sz="1200" dirty="0"/>
          </a:p>
        </p:txBody>
      </p:sp>
      <p:sp>
        <p:nvSpPr>
          <p:cNvPr id="23" name="Text 21"/>
          <p:cNvSpPr/>
          <p:nvPr/>
        </p:nvSpPr>
        <p:spPr>
          <a:xfrm>
            <a:off x="1759000" y="2579043"/>
            <a:ext cx="1238250" cy="500955"/>
          </a:xfrm>
          <a:prstGeom prst="rect">
            <a:avLst/>
          </a:prstGeom>
          <a:solidFill>
            <a:srgbClr val="FEE2E2"/>
          </a:solidFill>
          <a:ln w="19050">
            <a:solidFill>
              <a:srgbClr val="DC2626"/>
            </a:solidFill>
          </a:ln>
        </p:spPr>
        <p:txBody>
          <a:bodyPr wrap="square" rtlCol="0" anchor="ctr"/>
          <a:lstStyle/>
          <a:p>
            <a:pPr marL="0" indent="0">
              <a:buNone/>
            </a:pPr>
            <a:endParaRPr lang="en-US" dirty="0"/>
          </a:p>
        </p:txBody>
      </p:sp>
      <p:sp>
        <p:nvSpPr>
          <p:cNvPr id="24" name="Text 22"/>
          <p:cNvSpPr/>
          <p:nvPr/>
        </p:nvSpPr>
        <p:spPr>
          <a:xfrm>
            <a:off x="1902065" y="2693343"/>
            <a:ext cx="952119" cy="133350"/>
          </a:xfrm>
          <a:prstGeom prst="rect">
            <a:avLst/>
          </a:prstGeom>
          <a:noFill/>
          <a:ln/>
        </p:spPr>
        <p:txBody>
          <a:bodyPr wrap="square" lIns="0" tIns="0" rIns="0" bIns="0" rtlCol="0" anchor="t"/>
          <a:lstStyle/>
          <a:p>
            <a:pPr marL="0" indent="0" algn="ctr">
              <a:lnSpc>
                <a:spcPts val="1050"/>
              </a:lnSpc>
              <a:buNone/>
            </a:pPr>
            <a:r>
              <a:rPr lang="en-US" sz="750" b="1" dirty="0">
                <a:solidFill>
                  <a:srgbClr val="DC2626"/>
                </a:solidFill>
                <a:latin typeface="Arial" pitchFamily="34" charset="0"/>
                <a:ea typeface="Arial" pitchFamily="34" charset="-122"/>
                <a:cs typeface="Arial" pitchFamily="34" charset="-120"/>
              </a:rPr>
              <a:t>Cloud Server</a:t>
            </a:r>
            <a:endParaRPr lang="en-US" sz="750" dirty="0"/>
          </a:p>
        </p:txBody>
      </p:sp>
      <p:sp>
        <p:nvSpPr>
          <p:cNvPr id="25" name="Text 23"/>
          <p:cNvSpPr/>
          <p:nvPr/>
        </p:nvSpPr>
        <p:spPr>
          <a:xfrm>
            <a:off x="1902065" y="2845743"/>
            <a:ext cx="952119" cy="119955"/>
          </a:xfrm>
          <a:prstGeom prst="rect">
            <a:avLst/>
          </a:prstGeom>
          <a:noFill/>
          <a:ln/>
        </p:spPr>
        <p:txBody>
          <a:bodyPr wrap="square" lIns="0" tIns="0" rIns="0" bIns="0" rtlCol="0" anchor="t"/>
          <a:lstStyle/>
          <a:p>
            <a:pPr marL="0" indent="0" algn="ctr">
              <a:lnSpc>
                <a:spcPts val="945"/>
              </a:lnSpc>
              <a:spcBef>
                <a:spcPts val="150"/>
              </a:spcBef>
              <a:buNone/>
            </a:pPr>
            <a:r>
              <a:rPr lang="en-US" sz="675" dirty="0">
                <a:solidFill>
                  <a:srgbClr val="DC2626"/>
                </a:solidFill>
                <a:latin typeface="Arial" pitchFamily="34" charset="0"/>
                <a:ea typeface="Arial" pitchFamily="34" charset="-122"/>
                <a:cs typeface="Arial" pitchFamily="34" charset="-120"/>
              </a:rPr>
              <a:t>(3rd Party)</a:t>
            </a:r>
            <a:endParaRPr lang="en-US" sz="675" dirty="0"/>
          </a:p>
        </p:txBody>
      </p:sp>
      <p:sp>
        <p:nvSpPr>
          <p:cNvPr id="26" name="Text 24"/>
          <p:cNvSpPr/>
          <p:nvPr/>
        </p:nvSpPr>
        <p:spPr>
          <a:xfrm>
            <a:off x="3054400" y="2722811"/>
            <a:ext cx="142545" cy="213271"/>
          </a:xfrm>
          <a:prstGeom prst="rect">
            <a:avLst/>
          </a:prstGeom>
          <a:noFill/>
          <a:ln/>
        </p:spPr>
        <p:txBody>
          <a:bodyPr wrap="square" lIns="0" tIns="0" rIns="0" bIns="0" rtlCol="0" anchor="t"/>
          <a:lstStyle/>
          <a:p>
            <a:pPr marL="0" indent="0" algn="l">
              <a:lnSpc>
                <a:spcPts val="1680"/>
              </a:lnSpc>
              <a:buNone/>
            </a:pPr>
            <a:r>
              <a:rPr lang="en-US" sz="1200" dirty="0">
                <a:solidFill>
                  <a:srgbClr val="DC2626"/>
                </a:solidFill>
                <a:latin typeface="Arial" pitchFamily="34" charset="0"/>
                <a:ea typeface="Arial" pitchFamily="34" charset="-122"/>
                <a:cs typeface="Arial" pitchFamily="34" charset="-120"/>
              </a:rPr>
              <a:t>-&gt;</a:t>
            </a:r>
            <a:endParaRPr lang="en-US" sz="1200" dirty="0"/>
          </a:p>
        </p:txBody>
      </p:sp>
      <p:sp>
        <p:nvSpPr>
          <p:cNvPr id="27" name="Text 25"/>
          <p:cNvSpPr/>
          <p:nvPr/>
        </p:nvSpPr>
        <p:spPr>
          <a:xfrm>
            <a:off x="3251299" y="2667595"/>
            <a:ext cx="1047750" cy="323850"/>
          </a:xfrm>
          <a:prstGeom prst="rect">
            <a:avLst/>
          </a:prstGeom>
          <a:solidFill>
            <a:srgbClr val="FEE2E2"/>
          </a:solidFill>
          <a:ln/>
        </p:spPr>
        <p:txBody>
          <a:bodyPr wrap="square" rtlCol="0" anchor="ctr"/>
          <a:lstStyle/>
          <a:p>
            <a:pPr marL="0" indent="0">
              <a:buNone/>
            </a:pPr>
            <a:endParaRPr lang="en-US" dirty="0"/>
          </a:p>
        </p:txBody>
      </p:sp>
      <p:sp>
        <p:nvSpPr>
          <p:cNvPr id="28" name="Text 26"/>
          <p:cNvSpPr/>
          <p:nvPr/>
        </p:nvSpPr>
        <p:spPr>
          <a:xfrm>
            <a:off x="3376839" y="2762845"/>
            <a:ext cx="796671" cy="133350"/>
          </a:xfrm>
          <a:prstGeom prst="rect">
            <a:avLst/>
          </a:prstGeom>
          <a:noFill/>
          <a:ln/>
        </p:spPr>
        <p:txBody>
          <a:bodyPr wrap="square" lIns="0" tIns="0" rIns="0" bIns="0" rtlCol="0" anchor="t"/>
          <a:lstStyle/>
          <a:p>
            <a:pPr marL="0" indent="0" algn="ctr">
              <a:lnSpc>
                <a:spcPts val="1050"/>
              </a:lnSpc>
              <a:buNone/>
            </a:pPr>
            <a:r>
              <a:rPr lang="en-US" sz="750" dirty="0">
                <a:solidFill>
                  <a:srgbClr val="DC2626"/>
                </a:solidFill>
                <a:latin typeface="Arial" pitchFamily="34" charset="0"/>
                <a:ea typeface="Arial" pitchFamily="34" charset="-122"/>
                <a:cs typeface="Arial" pitchFamily="34" charset="-120"/>
              </a:rPr>
              <a:t>Text Output</a:t>
            </a:r>
            <a:endParaRPr lang="en-US" sz="750" dirty="0"/>
          </a:p>
        </p:txBody>
      </p:sp>
      <p:sp>
        <p:nvSpPr>
          <p:cNvPr id="29" name="Text 27"/>
          <p:cNvSpPr/>
          <p:nvPr/>
        </p:nvSpPr>
        <p:spPr>
          <a:xfrm>
            <a:off x="4356199" y="2722811"/>
            <a:ext cx="142545" cy="213271"/>
          </a:xfrm>
          <a:prstGeom prst="rect">
            <a:avLst/>
          </a:prstGeom>
          <a:noFill/>
          <a:ln/>
        </p:spPr>
        <p:txBody>
          <a:bodyPr wrap="square" lIns="0" tIns="0" rIns="0" bIns="0" rtlCol="0" anchor="t"/>
          <a:lstStyle/>
          <a:p>
            <a:pPr marL="0" indent="0" algn="l">
              <a:lnSpc>
                <a:spcPts val="1680"/>
              </a:lnSpc>
              <a:buNone/>
            </a:pPr>
            <a:r>
              <a:rPr lang="en-US" sz="1200" dirty="0">
                <a:solidFill>
                  <a:srgbClr val="DC2626"/>
                </a:solidFill>
                <a:latin typeface="Arial" pitchFamily="34" charset="0"/>
                <a:ea typeface="Arial" pitchFamily="34" charset="-122"/>
                <a:cs typeface="Arial" pitchFamily="34" charset="-120"/>
              </a:rPr>
              <a:t>-&gt;</a:t>
            </a:r>
            <a:endParaRPr lang="en-US" sz="1200" dirty="0"/>
          </a:p>
        </p:txBody>
      </p:sp>
      <p:sp>
        <p:nvSpPr>
          <p:cNvPr id="30" name="Text 28"/>
          <p:cNvSpPr/>
          <p:nvPr/>
        </p:nvSpPr>
        <p:spPr>
          <a:xfrm>
            <a:off x="4553099" y="2667595"/>
            <a:ext cx="1047750" cy="323850"/>
          </a:xfrm>
          <a:prstGeom prst="rect">
            <a:avLst/>
          </a:prstGeom>
          <a:solidFill>
            <a:srgbClr val="DBEAFE"/>
          </a:solidFill>
          <a:ln/>
        </p:spPr>
        <p:txBody>
          <a:bodyPr wrap="square" rtlCol="0" anchor="ctr"/>
          <a:lstStyle/>
          <a:p>
            <a:pPr marL="0" indent="0">
              <a:buNone/>
            </a:pPr>
            <a:endParaRPr lang="en-US" dirty="0"/>
          </a:p>
        </p:txBody>
      </p:sp>
      <p:sp>
        <p:nvSpPr>
          <p:cNvPr id="31" name="Text 29"/>
          <p:cNvSpPr/>
          <p:nvPr/>
        </p:nvSpPr>
        <p:spPr>
          <a:xfrm>
            <a:off x="4678638" y="2762845"/>
            <a:ext cx="796671" cy="133350"/>
          </a:xfrm>
          <a:prstGeom prst="rect">
            <a:avLst/>
          </a:prstGeom>
          <a:noFill/>
          <a:ln/>
        </p:spPr>
        <p:txBody>
          <a:bodyPr wrap="square" lIns="0" tIns="0" rIns="0" bIns="0" rtlCol="0" anchor="t"/>
          <a:lstStyle/>
          <a:p>
            <a:pPr marL="0" indent="0" algn="ctr">
              <a:lnSpc>
                <a:spcPts val="1050"/>
              </a:lnSpc>
              <a:buNone/>
            </a:pPr>
            <a:r>
              <a:rPr lang="en-US" sz="750" dirty="0">
                <a:solidFill>
                  <a:srgbClr val="1A1F2E"/>
                </a:solidFill>
                <a:latin typeface="Arial" pitchFamily="34" charset="0"/>
                <a:ea typeface="Arial" pitchFamily="34" charset="-122"/>
                <a:cs typeface="Arial" pitchFamily="34" charset="-120"/>
              </a:rPr>
              <a:t>Your App</a:t>
            </a:r>
            <a:endParaRPr lang="en-US" sz="750" dirty="0"/>
          </a:p>
        </p:txBody>
      </p:sp>
      <p:sp>
        <p:nvSpPr>
          <p:cNvPr id="32" name="Text 30"/>
          <p:cNvSpPr/>
          <p:nvPr/>
        </p:nvSpPr>
        <p:spPr>
          <a:xfrm>
            <a:off x="5772299" y="2693343"/>
            <a:ext cx="811262" cy="272355"/>
          </a:xfrm>
          <a:prstGeom prst="rect">
            <a:avLst/>
          </a:prstGeom>
          <a:solidFill>
            <a:srgbClr val="FEE2E2"/>
          </a:solidFill>
          <a:ln/>
        </p:spPr>
        <p:txBody>
          <a:bodyPr wrap="square" rtlCol="0" anchor="ctr"/>
          <a:lstStyle/>
          <a:p>
            <a:pPr marL="0" indent="0">
              <a:buNone/>
            </a:pPr>
            <a:endParaRPr lang="en-US" dirty="0"/>
          </a:p>
        </p:txBody>
      </p:sp>
      <p:sp>
        <p:nvSpPr>
          <p:cNvPr id="33" name="Text 31"/>
          <p:cNvSpPr/>
          <p:nvPr/>
        </p:nvSpPr>
        <p:spPr>
          <a:xfrm>
            <a:off x="5886599" y="2725788"/>
            <a:ext cx="594315" cy="119955"/>
          </a:xfrm>
          <a:prstGeom prst="rect">
            <a:avLst/>
          </a:prstGeom>
          <a:noFill/>
          <a:ln/>
        </p:spPr>
        <p:txBody>
          <a:bodyPr wrap="square" lIns="0" tIns="0" rIns="0" bIns="0" rtlCol="0" anchor="t"/>
          <a:lstStyle/>
          <a:p>
            <a:pPr marL="0" indent="0" algn="l">
              <a:lnSpc>
                <a:spcPts val="945"/>
              </a:lnSpc>
              <a:buNone/>
            </a:pPr>
            <a:r>
              <a:rPr lang="en-US" sz="675" b="1" dirty="0">
                <a:solidFill>
                  <a:srgbClr val="DC2626"/>
                </a:solidFill>
                <a:latin typeface="Arial" pitchFamily="34" charset="0"/>
                <a:ea typeface="Arial" pitchFamily="34" charset="-122"/>
                <a:cs typeface="Arial" pitchFamily="34" charset="-120"/>
              </a:rPr>
              <a:t>DATA LEAVES</a:t>
            </a:r>
            <a:endParaRPr lang="en-US" sz="675" dirty="0"/>
          </a:p>
        </p:txBody>
      </p:sp>
      <p:sp>
        <p:nvSpPr>
          <p:cNvPr id="34" name="Text 32"/>
          <p:cNvSpPr/>
          <p:nvPr/>
        </p:nvSpPr>
        <p:spPr>
          <a:xfrm>
            <a:off x="457200" y="3447157"/>
            <a:ext cx="2667000" cy="1367284"/>
          </a:xfrm>
          <a:prstGeom prst="rect">
            <a:avLst/>
          </a:prstGeom>
          <a:solidFill>
            <a:srgbClr val="FFFFFF"/>
          </a:solidFill>
          <a:ln/>
        </p:spPr>
        <p:txBody>
          <a:bodyPr wrap="square" rtlCol="0" anchor="ctr"/>
          <a:lstStyle/>
          <a:p>
            <a:pPr marL="0" indent="0">
              <a:buNone/>
            </a:pPr>
            <a:endParaRPr lang="en-US" dirty="0"/>
          </a:p>
        </p:txBody>
      </p:sp>
      <p:sp>
        <p:nvSpPr>
          <p:cNvPr id="35" name="Shape 33"/>
          <p:cNvSpPr/>
          <p:nvPr/>
        </p:nvSpPr>
        <p:spPr>
          <a:xfrm>
            <a:off x="476250" y="3447157"/>
            <a:ext cx="0" cy="1367284"/>
          </a:xfrm>
          <a:prstGeom prst="line">
            <a:avLst/>
          </a:prstGeom>
          <a:noFill/>
          <a:ln w="38100">
            <a:solidFill>
              <a:srgbClr val="C9A227"/>
            </a:solidFill>
            <a:prstDash val="solid"/>
          </a:ln>
        </p:spPr>
        <p:txBody>
          <a:bodyPr/>
          <a:lstStyle/>
          <a:p>
            <a:endParaRPr lang="en-US"/>
          </a:p>
        </p:txBody>
      </p:sp>
      <p:sp>
        <p:nvSpPr>
          <p:cNvPr id="36" name="Text 34"/>
          <p:cNvSpPr/>
          <p:nvPr/>
        </p:nvSpPr>
        <p:spPr>
          <a:xfrm>
            <a:off x="628650" y="3580507"/>
            <a:ext cx="2409444" cy="159990"/>
          </a:xfrm>
          <a:prstGeom prst="rect">
            <a:avLst/>
          </a:prstGeom>
          <a:noFill/>
          <a:ln/>
        </p:spPr>
        <p:txBody>
          <a:bodyPr wrap="square" lIns="0" tIns="0" rIns="0" bIns="0" rtlCol="0" anchor="t"/>
          <a:lstStyle/>
          <a:p>
            <a:pPr marL="0" indent="0" algn="l">
              <a:lnSpc>
                <a:spcPts val="1260"/>
              </a:lnSpc>
              <a:spcAft>
                <a:spcPts val="600"/>
              </a:spcAft>
              <a:buNone/>
            </a:pPr>
            <a:r>
              <a:rPr lang="en-US" sz="900" b="1" dirty="0">
                <a:solidFill>
                  <a:srgbClr val="1A1F2E"/>
                </a:solidFill>
                <a:latin typeface="Arial" pitchFamily="34" charset="0"/>
                <a:ea typeface="Arial" pitchFamily="34" charset="-122"/>
                <a:cs typeface="Arial" pitchFamily="34" charset="-120"/>
              </a:rPr>
              <a:t>Government Benefits</a:t>
            </a:r>
            <a:endParaRPr lang="en-US" sz="900" dirty="0"/>
          </a:p>
        </p:txBody>
      </p:sp>
      <p:sp>
        <p:nvSpPr>
          <p:cNvPr id="37" name="Text 35"/>
          <p:cNvSpPr/>
          <p:nvPr/>
        </p:nvSpPr>
        <p:spPr>
          <a:xfrm>
            <a:off x="628650" y="3969097"/>
            <a:ext cx="2409444" cy="711994"/>
          </a:xfrm>
          <a:prstGeom prst="rect">
            <a:avLst/>
          </a:prstGeom>
          <a:noFill/>
          <a:ln/>
        </p:spPr>
        <p:txBody>
          <a:bodyPr wrap="square" lIns="0" tIns="0" rIns="0" bIns="0" rtlCol="0" anchor="t"/>
          <a:lstStyle/>
          <a:p>
            <a:pPr marL="0" indent="0" algn="l">
              <a:lnSpc>
                <a:spcPts val="1402"/>
              </a:lnSpc>
              <a:buNone/>
            </a:pPr>
            <a:r>
              <a:rPr lang="en-US" sz="825" dirty="0">
                <a:solidFill>
                  <a:srgbClr val="6B7280"/>
                </a:solidFill>
                <a:latin typeface="Arial" pitchFamily="34" charset="0"/>
                <a:ea typeface="Arial" pitchFamily="34" charset="-122"/>
                <a:cs typeface="Arial" pitchFamily="34" charset="-120"/>
              </a:rPr>
              <a:t>No BAA required for voice data</a:t>
            </a:r>
            <a:endParaRPr lang="en-US" sz="825" dirty="0"/>
          </a:p>
          <a:p>
            <a:pPr marL="0" indent="0" algn="l">
              <a:lnSpc>
                <a:spcPts val="1402"/>
              </a:lnSpc>
              <a:buNone/>
            </a:pPr>
            <a:r>
              <a:rPr lang="en-US" sz="825" dirty="0">
                <a:solidFill>
                  <a:srgbClr val="6B7280"/>
                </a:solidFill>
                <a:latin typeface="Arial" pitchFamily="34" charset="0"/>
                <a:ea typeface="Arial" pitchFamily="34" charset="-122"/>
                <a:cs typeface="Arial" pitchFamily="34" charset="-120"/>
              </a:rPr>
              <a:t>No data egress concerns</a:t>
            </a:r>
            <a:endParaRPr lang="en-US" sz="825" dirty="0"/>
          </a:p>
          <a:p>
            <a:pPr marL="0" indent="0" algn="l">
              <a:lnSpc>
                <a:spcPts val="1402"/>
              </a:lnSpc>
              <a:buNone/>
            </a:pPr>
            <a:r>
              <a:rPr lang="en-US" sz="825" dirty="0">
                <a:solidFill>
                  <a:srgbClr val="6B7280"/>
                </a:solidFill>
                <a:latin typeface="Arial" pitchFamily="34" charset="0"/>
                <a:ea typeface="Arial" pitchFamily="34" charset="-122"/>
                <a:cs typeface="Arial" pitchFamily="34" charset="-120"/>
              </a:rPr>
              <a:t>Simplified compliance posture</a:t>
            </a:r>
            <a:endParaRPr lang="en-US" sz="825" dirty="0"/>
          </a:p>
          <a:p>
            <a:pPr marL="0" indent="0" algn="l">
              <a:lnSpc>
                <a:spcPts val="1402"/>
              </a:lnSpc>
              <a:buNone/>
            </a:pPr>
            <a:r>
              <a:rPr lang="en-US" sz="825" dirty="0">
                <a:solidFill>
                  <a:srgbClr val="6B7280"/>
                </a:solidFill>
                <a:latin typeface="Arial" pitchFamily="34" charset="0"/>
                <a:ea typeface="Arial" pitchFamily="34" charset="-122"/>
                <a:cs typeface="Arial" pitchFamily="34" charset="-120"/>
              </a:rPr>
              <a:t>IT-friendly deployment</a:t>
            </a:r>
            <a:endParaRPr lang="en-US" sz="825" dirty="0"/>
          </a:p>
        </p:txBody>
      </p:sp>
      <p:sp>
        <p:nvSpPr>
          <p:cNvPr id="38" name="Text 36"/>
          <p:cNvSpPr/>
          <p:nvPr/>
        </p:nvSpPr>
        <p:spPr>
          <a:xfrm>
            <a:off x="3257550" y="3447157"/>
            <a:ext cx="2667000" cy="1367284"/>
          </a:xfrm>
          <a:prstGeom prst="rect">
            <a:avLst/>
          </a:prstGeom>
          <a:solidFill>
            <a:srgbClr val="FFFFFF"/>
          </a:solidFill>
          <a:ln/>
        </p:spPr>
        <p:txBody>
          <a:bodyPr wrap="square" rtlCol="0" anchor="ctr"/>
          <a:lstStyle/>
          <a:p>
            <a:pPr marL="0" indent="0">
              <a:buNone/>
            </a:pPr>
            <a:endParaRPr lang="en-US" dirty="0"/>
          </a:p>
        </p:txBody>
      </p:sp>
      <p:sp>
        <p:nvSpPr>
          <p:cNvPr id="39" name="Shape 37"/>
          <p:cNvSpPr/>
          <p:nvPr/>
        </p:nvSpPr>
        <p:spPr>
          <a:xfrm>
            <a:off x="3276600" y="3447157"/>
            <a:ext cx="0" cy="1367284"/>
          </a:xfrm>
          <a:prstGeom prst="line">
            <a:avLst/>
          </a:prstGeom>
          <a:noFill/>
          <a:ln w="38100">
            <a:solidFill>
              <a:srgbClr val="C9A227"/>
            </a:solidFill>
            <a:prstDash val="solid"/>
          </a:ln>
        </p:spPr>
        <p:txBody>
          <a:bodyPr/>
          <a:lstStyle/>
          <a:p>
            <a:endParaRPr lang="en-US"/>
          </a:p>
        </p:txBody>
      </p:sp>
      <p:sp>
        <p:nvSpPr>
          <p:cNvPr id="40" name="Text 38"/>
          <p:cNvSpPr/>
          <p:nvPr/>
        </p:nvSpPr>
        <p:spPr>
          <a:xfrm>
            <a:off x="3429000" y="3580507"/>
            <a:ext cx="2409444" cy="159990"/>
          </a:xfrm>
          <a:prstGeom prst="rect">
            <a:avLst/>
          </a:prstGeom>
          <a:noFill/>
          <a:ln/>
        </p:spPr>
        <p:txBody>
          <a:bodyPr wrap="square" lIns="0" tIns="0" rIns="0" bIns="0" rtlCol="0" anchor="t"/>
          <a:lstStyle/>
          <a:p>
            <a:pPr marL="0" indent="0" algn="l">
              <a:lnSpc>
                <a:spcPts val="1260"/>
              </a:lnSpc>
              <a:spcAft>
                <a:spcPts val="600"/>
              </a:spcAft>
              <a:buNone/>
            </a:pPr>
            <a:r>
              <a:rPr lang="en-US" sz="900" b="1" dirty="0">
                <a:solidFill>
                  <a:srgbClr val="1A1F2E"/>
                </a:solidFill>
                <a:latin typeface="Arial" pitchFamily="34" charset="0"/>
                <a:ea typeface="Arial" pitchFamily="34" charset="-122"/>
                <a:cs typeface="Arial" pitchFamily="34" charset="-120"/>
              </a:rPr>
              <a:t>Security Benefits</a:t>
            </a:r>
            <a:endParaRPr lang="en-US" sz="900" dirty="0"/>
          </a:p>
        </p:txBody>
      </p:sp>
      <p:sp>
        <p:nvSpPr>
          <p:cNvPr id="41" name="Text 39"/>
          <p:cNvSpPr/>
          <p:nvPr/>
        </p:nvSpPr>
        <p:spPr>
          <a:xfrm>
            <a:off x="3429000" y="3969097"/>
            <a:ext cx="2409444" cy="711994"/>
          </a:xfrm>
          <a:prstGeom prst="rect">
            <a:avLst/>
          </a:prstGeom>
          <a:noFill/>
          <a:ln/>
        </p:spPr>
        <p:txBody>
          <a:bodyPr wrap="square" lIns="0" tIns="0" rIns="0" bIns="0" rtlCol="0" anchor="t"/>
          <a:lstStyle/>
          <a:p>
            <a:pPr marL="0" indent="0" algn="l">
              <a:lnSpc>
                <a:spcPts val="1402"/>
              </a:lnSpc>
              <a:buNone/>
            </a:pPr>
            <a:r>
              <a:rPr lang="en-US" sz="825" dirty="0">
                <a:solidFill>
                  <a:srgbClr val="6B7280"/>
                </a:solidFill>
                <a:latin typeface="Arial" pitchFamily="34" charset="0"/>
                <a:ea typeface="Arial" pitchFamily="34" charset="-122"/>
                <a:cs typeface="Arial" pitchFamily="34" charset="-120"/>
              </a:rPr>
              <a:t>Voice never leaves device</a:t>
            </a:r>
            <a:endParaRPr lang="en-US" sz="825" dirty="0"/>
          </a:p>
          <a:p>
            <a:pPr marL="0" indent="0" algn="l">
              <a:lnSpc>
                <a:spcPts val="1402"/>
              </a:lnSpc>
              <a:buNone/>
            </a:pPr>
            <a:r>
              <a:rPr lang="en-US" sz="825" dirty="0">
                <a:solidFill>
                  <a:srgbClr val="6B7280"/>
                </a:solidFill>
                <a:latin typeface="Arial" pitchFamily="34" charset="0"/>
                <a:ea typeface="Arial" pitchFamily="34" charset="-122"/>
                <a:cs typeface="Arial" pitchFamily="34" charset="-120"/>
              </a:rPr>
              <a:t>Works offline / air-gapped</a:t>
            </a:r>
            <a:endParaRPr lang="en-US" sz="825" dirty="0"/>
          </a:p>
          <a:p>
            <a:pPr marL="0" indent="0" algn="l">
              <a:lnSpc>
                <a:spcPts val="1402"/>
              </a:lnSpc>
              <a:buNone/>
            </a:pPr>
            <a:r>
              <a:rPr lang="en-US" sz="825" dirty="0">
                <a:solidFill>
                  <a:srgbClr val="6B7280"/>
                </a:solidFill>
                <a:latin typeface="Arial" pitchFamily="34" charset="0"/>
                <a:ea typeface="Arial" pitchFamily="34" charset="-122"/>
                <a:cs typeface="Arial" pitchFamily="34" charset="-120"/>
              </a:rPr>
              <a:t>No vendor data retention</a:t>
            </a:r>
            <a:endParaRPr lang="en-US" sz="825" dirty="0"/>
          </a:p>
          <a:p>
            <a:pPr marL="0" indent="0" algn="l">
              <a:lnSpc>
                <a:spcPts val="1402"/>
              </a:lnSpc>
              <a:buNone/>
            </a:pPr>
            <a:r>
              <a:rPr lang="en-US" sz="825" dirty="0">
                <a:solidFill>
                  <a:srgbClr val="6B7280"/>
                </a:solidFill>
                <a:latin typeface="Arial" pitchFamily="34" charset="0"/>
                <a:ea typeface="Arial" pitchFamily="34" charset="-122"/>
                <a:cs typeface="Arial" pitchFamily="34" charset="-120"/>
              </a:rPr>
              <a:t>Full audit control</a:t>
            </a:r>
            <a:endParaRPr lang="en-US" sz="825" dirty="0"/>
          </a:p>
        </p:txBody>
      </p:sp>
      <p:sp>
        <p:nvSpPr>
          <p:cNvPr id="42" name="Text 40"/>
          <p:cNvSpPr/>
          <p:nvPr/>
        </p:nvSpPr>
        <p:spPr>
          <a:xfrm>
            <a:off x="6057900" y="3536156"/>
            <a:ext cx="2628900" cy="1189286"/>
          </a:xfrm>
          <a:prstGeom prst="rect">
            <a:avLst/>
          </a:prstGeom>
          <a:solidFill>
            <a:srgbClr val="1A1F2E"/>
          </a:solidFill>
          <a:ln/>
        </p:spPr>
        <p:txBody>
          <a:bodyPr wrap="square" rtlCol="0" anchor="ctr"/>
          <a:lstStyle/>
          <a:p>
            <a:pPr marL="0" indent="0">
              <a:buNone/>
            </a:pPr>
            <a:endParaRPr lang="en-US" dirty="0"/>
          </a:p>
        </p:txBody>
      </p:sp>
      <p:sp>
        <p:nvSpPr>
          <p:cNvPr id="43" name="Text 41"/>
          <p:cNvSpPr/>
          <p:nvPr/>
        </p:nvSpPr>
        <p:spPr>
          <a:xfrm>
            <a:off x="6191250" y="3669506"/>
            <a:ext cx="2409444" cy="159990"/>
          </a:xfrm>
          <a:prstGeom prst="rect">
            <a:avLst/>
          </a:prstGeom>
          <a:noFill/>
          <a:ln/>
        </p:spPr>
        <p:txBody>
          <a:bodyPr wrap="square" lIns="0" tIns="0" rIns="0" bIns="0" rtlCol="0" anchor="t"/>
          <a:lstStyle/>
          <a:p>
            <a:pPr marL="0" indent="0" algn="l">
              <a:lnSpc>
                <a:spcPts val="1260"/>
              </a:lnSpc>
              <a:spcAft>
                <a:spcPts val="600"/>
              </a:spcAft>
              <a:buNone/>
            </a:pPr>
            <a:r>
              <a:rPr lang="en-US" sz="900" b="1" dirty="0">
                <a:solidFill>
                  <a:srgbClr val="C9A227"/>
                </a:solidFill>
                <a:latin typeface="Arial" pitchFamily="34" charset="0"/>
                <a:ea typeface="Arial" pitchFamily="34" charset="-122"/>
                <a:cs typeface="Arial" pitchFamily="34" charset="-120"/>
              </a:rPr>
              <a:t>Key Insight</a:t>
            </a:r>
            <a:endParaRPr lang="en-US" sz="900" dirty="0"/>
          </a:p>
        </p:txBody>
      </p:sp>
      <p:sp>
        <p:nvSpPr>
          <p:cNvPr id="44" name="Text 42"/>
          <p:cNvSpPr/>
          <p:nvPr/>
        </p:nvSpPr>
        <p:spPr>
          <a:xfrm>
            <a:off x="6191250" y="4058096"/>
            <a:ext cx="2409444" cy="533995"/>
          </a:xfrm>
          <a:prstGeom prst="rect">
            <a:avLst/>
          </a:prstGeom>
          <a:noFill/>
          <a:ln/>
        </p:spPr>
        <p:txBody>
          <a:bodyPr wrap="square" lIns="0" tIns="0" rIns="0" bIns="0" rtlCol="0" anchor="t"/>
          <a:lstStyle/>
          <a:p>
            <a:pPr marL="0" indent="0" algn="l">
              <a:lnSpc>
                <a:spcPts val="1402"/>
              </a:lnSpc>
              <a:buNone/>
            </a:pPr>
            <a:r>
              <a:rPr lang="en-US" sz="825" dirty="0">
                <a:solidFill>
                  <a:srgbClr val="FFFFFF">
                    <a:alpha val="80000"/>
                  </a:srgbClr>
                </a:solidFill>
                <a:latin typeface="Arial" pitchFamily="34" charset="0"/>
                <a:ea typeface="Arial" pitchFamily="34" charset="-122"/>
                <a:cs typeface="Arial" pitchFamily="34" charset="-120"/>
              </a:rPr>
              <a:t>Voice data is biometric and sensitive. Local processing means you maintain complete control over where your data goes.</a:t>
            </a:r>
            <a:endParaRPr lang="en-US" sz="82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5213896" cy="5143500"/>
          </a:xfrm>
          <a:prstGeom prst="rect">
            <a:avLst/>
          </a:prstGeom>
          <a:solidFill>
            <a:srgbClr val="F7F8FA"/>
          </a:solidFill>
          <a:ln/>
        </p:spPr>
        <p:txBody>
          <a:bodyPr wrap="square" rtlCol="0" anchor="ctr"/>
          <a:lstStyle/>
          <a:p>
            <a:pPr marL="0" indent="0">
              <a:buNone/>
            </a:pPr>
            <a:endParaRPr lang="en-US" dirty="0"/>
          </a:p>
        </p:txBody>
      </p:sp>
      <p:sp>
        <p:nvSpPr>
          <p:cNvPr id="3" name="Text 1"/>
          <p:cNvSpPr/>
          <p:nvPr/>
        </p:nvSpPr>
        <p:spPr>
          <a:xfrm>
            <a:off x="342900" y="532507"/>
            <a:ext cx="2041166" cy="146596"/>
          </a:xfrm>
          <a:prstGeom prst="rect">
            <a:avLst/>
          </a:prstGeom>
          <a:noFill/>
          <a:ln/>
        </p:spPr>
        <p:txBody>
          <a:bodyPr wrap="square" lIns="0" tIns="0" rIns="0" bIns="0" rtlCol="0" anchor="t"/>
          <a:lstStyle/>
          <a:p>
            <a:pPr marL="0" indent="0" algn="l">
              <a:lnSpc>
                <a:spcPts val="1155"/>
              </a:lnSpc>
              <a:buNone/>
            </a:pPr>
            <a:r>
              <a:rPr lang="en-US" sz="825" dirty="0">
                <a:solidFill>
                  <a:srgbClr val="C9A227"/>
                </a:solidFill>
                <a:latin typeface="Arial" pitchFamily="34" charset="0"/>
                <a:ea typeface="Arial" pitchFamily="34" charset="-122"/>
                <a:cs typeface="Arial" pitchFamily="34" charset="-120"/>
              </a:rPr>
              <a:t>CROSS-PLATFORM OPTION</a:t>
            </a:r>
            <a:endParaRPr lang="en-US" sz="825" dirty="0"/>
          </a:p>
        </p:txBody>
      </p:sp>
      <p:sp>
        <p:nvSpPr>
          <p:cNvPr id="4" name="Text 2"/>
          <p:cNvSpPr/>
          <p:nvPr/>
        </p:nvSpPr>
        <p:spPr>
          <a:xfrm>
            <a:off x="2420243" y="517327"/>
            <a:ext cx="971550" cy="177105"/>
          </a:xfrm>
          <a:prstGeom prst="rect">
            <a:avLst/>
          </a:prstGeom>
          <a:solidFill>
            <a:srgbClr val="DCFCE7"/>
          </a:solidFill>
          <a:ln/>
        </p:spPr>
        <p:txBody>
          <a:bodyPr wrap="square" rtlCol="0" anchor="ctr"/>
          <a:lstStyle/>
          <a:p>
            <a:pPr marL="0" indent="0">
              <a:buNone/>
            </a:pPr>
            <a:endParaRPr lang="en-US" dirty="0"/>
          </a:p>
        </p:txBody>
      </p:sp>
      <p:sp>
        <p:nvSpPr>
          <p:cNvPr id="5" name="Text 3"/>
          <p:cNvSpPr/>
          <p:nvPr/>
        </p:nvSpPr>
        <p:spPr>
          <a:xfrm>
            <a:off x="2496443" y="545902"/>
            <a:ext cx="835533" cy="119955"/>
          </a:xfrm>
          <a:prstGeom prst="rect">
            <a:avLst/>
          </a:prstGeom>
          <a:noFill/>
          <a:ln/>
        </p:spPr>
        <p:txBody>
          <a:bodyPr wrap="square" lIns="0" tIns="0" rIns="0" bIns="0" rtlCol="0" anchor="t"/>
          <a:lstStyle/>
          <a:p>
            <a:pPr marL="0" indent="0" algn="l">
              <a:lnSpc>
                <a:spcPts val="945"/>
              </a:lnSpc>
              <a:buNone/>
            </a:pPr>
            <a:r>
              <a:rPr lang="en-US" sz="675" b="1" dirty="0">
                <a:solidFill>
                  <a:srgbClr val="166534"/>
                </a:solidFill>
                <a:latin typeface="Arial" pitchFamily="34" charset="0"/>
                <a:ea typeface="Arial" pitchFamily="34" charset="-122"/>
                <a:cs typeface="Arial" pitchFamily="34" charset="-120"/>
              </a:rPr>
              <a:t>NOW ON WINDOWS</a:t>
            </a:r>
            <a:endParaRPr lang="en-US" sz="675" dirty="0"/>
          </a:p>
        </p:txBody>
      </p:sp>
      <p:sp>
        <p:nvSpPr>
          <p:cNvPr id="6" name="Text 4"/>
          <p:cNvSpPr/>
          <p:nvPr/>
        </p:nvSpPr>
        <p:spPr>
          <a:xfrm>
            <a:off x="342900" y="903982"/>
            <a:ext cx="2312289" cy="304800"/>
          </a:xfrm>
          <a:prstGeom prst="rect">
            <a:avLst/>
          </a:prstGeom>
          <a:noFill/>
          <a:ln/>
        </p:spPr>
        <p:txBody>
          <a:bodyPr wrap="square" lIns="0" tIns="0" rIns="0" bIns="0" rtlCol="0" anchor="t"/>
          <a:lstStyle/>
          <a:p>
            <a:pPr marL="0" indent="0" algn="l">
              <a:lnSpc>
                <a:spcPts val="2400"/>
              </a:lnSpc>
              <a:spcAft>
                <a:spcPts val="450"/>
              </a:spcAft>
              <a:buNone/>
            </a:pPr>
            <a:r>
              <a:rPr lang="en-US" sz="2400" dirty="0">
                <a:solidFill>
                  <a:srgbClr val="1A1F2E"/>
                </a:solidFill>
                <a:latin typeface="Georgia" pitchFamily="34" charset="0"/>
                <a:ea typeface="Georgia" pitchFamily="34" charset="-122"/>
                <a:cs typeface="Georgia" pitchFamily="34" charset="-120"/>
              </a:rPr>
              <a:t>Wispr Flow</a:t>
            </a:r>
            <a:endParaRPr lang="en-US" sz="2400" dirty="0"/>
          </a:p>
        </p:txBody>
      </p:sp>
      <p:sp>
        <p:nvSpPr>
          <p:cNvPr id="7" name="Text 5"/>
          <p:cNvSpPr/>
          <p:nvPr/>
        </p:nvSpPr>
        <p:spPr>
          <a:xfrm>
            <a:off x="342900" y="1418332"/>
            <a:ext cx="4618658" cy="173236"/>
          </a:xfrm>
          <a:prstGeom prst="rect">
            <a:avLst/>
          </a:prstGeom>
          <a:noFill/>
          <a:ln/>
        </p:spPr>
        <p:txBody>
          <a:bodyPr wrap="square" lIns="0" tIns="0" rIns="0" bIns="0" rtlCol="0" anchor="t"/>
          <a:lstStyle/>
          <a:p>
            <a:pPr marL="0" indent="0" algn="l">
              <a:lnSpc>
                <a:spcPts val="1365"/>
              </a:lnSpc>
              <a:spcAft>
                <a:spcPts val="1200"/>
              </a:spcAft>
              <a:buNone/>
            </a:pPr>
            <a:r>
              <a:rPr lang="en-US" sz="975" dirty="0">
                <a:solidFill>
                  <a:srgbClr val="6B7280"/>
                </a:solidFill>
                <a:latin typeface="Arial" pitchFamily="34" charset="0"/>
                <a:ea typeface="Arial" pitchFamily="34" charset="-122"/>
                <a:cs typeface="Arial" pitchFamily="34" charset="-120"/>
              </a:rPr>
              <a:t>Context-aware voice input for Mac, Windows, and iOS</a:t>
            </a:r>
            <a:endParaRPr lang="en-US" sz="975" dirty="0"/>
          </a:p>
        </p:txBody>
      </p:sp>
      <p:sp>
        <p:nvSpPr>
          <p:cNvPr id="8" name="Text 6"/>
          <p:cNvSpPr/>
          <p:nvPr/>
        </p:nvSpPr>
        <p:spPr>
          <a:xfrm>
            <a:off x="342900" y="1896368"/>
            <a:ext cx="4528096" cy="798165"/>
          </a:xfrm>
          <a:prstGeom prst="rect">
            <a:avLst/>
          </a:prstGeom>
          <a:solidFill>
            <a:srgbClr val="FFFFFF"/>
          </a:solidFill>
          <a:ln/>
        </p:spPr>
        <p:txBody>
          <a:bodyPr wrap="square" rtlCol="0" anchor="ctr"/>
          <a:lstStyle/>
          <a:p>
            <a:pPr marL="0" indent="0">
              <a:buNone/>
            </a:pPr>
            <a:endParaRPr lang="en-US" dirty="0"/>
          </a:p>
        </p:txBody>
      </p:sp>
      <p:sp>
        <p:nvSpPr>
          <p:cNvPr id="9" name="Shape 7"/>
          <p:cNvSpPr/>
          <p:nvPr/>
        </p:nvSpPr>
        <p:spPr>
          <a:xfrm>
            <a:off x="361950" y="1896368"/>
            <a:ext cx="0" cy="798165"/>
          </a:xfrm>
          <a:prstGeom prst="line">
            <a:avLst/>
          </a:prstGeom>
          <a:noFill/>
          <a:ln w="38100">
            <a:solidFill>
              <a:srgbClr val="C9A227"/>
            </a:solidFill>
            <a:prstDash val="solid"/>
          </a:ln>
        </p:spPr>
        <p:txBody>
          <a:bodyPr/>
          <a:lstStyle/>
          <a:p>
            <a:endParaRPr lang="en-US"/>
          </a:p>
        </p:txBody>
      </p:sp>
      <p:sp>
        <p:nvSpPr>
          <p:cNvPr id="10" name="Text 8"/>
          <p:cNvSpPr/>
          <p:nvPr/>
        </p:nvSpPr>
        <p:spPr>
          <a:xfrm>
            <a:off x="533400" y="2029718"/>
            <a:ext cx="4268900" cy="159990"/>
          </a:xfrm>
          <a:prstGeom prst="rect">
            <a:avLst/>
          </a:prstGeom>
          <a:noFill/>
          <a:ln/>
        </p:spPr>
        <p:txBody>
          <a:bodyPr wrap="square" lIns="0" tIns="0" rIns="0" bIns="0" rtlCol="0" anchor="t"/>
          <a:lstStyle/>
          <a:p>
            <a:pPr marL="0" indent="0" algn="l">
              <a:lnSpc>
                <a:spcPts val="1260"/>
              </a:lnSpc>
              <a:spcAft>
                <a:spcPts val="450"/>
              </a:spcAft>
              <a:buNone/>
            </a:pPr>
            <a:r>
              <a:rPr lang="en-US" sz="900" b="1" dirty="0">
                <a:solidFill>
                  <a:srgbClr val="1A1F2E"/>
                </a:solidFill>
                <a:latin typeface="Arial" pitchFamily="34" charset="0"/>
                <a:ea typeface="Arial" pitchFamily="34" charset="-122"/>
                <a:cs typeface="Arial" pitchFamily="34" charset="-120"/>
              </a:rPr>
              <a:t>What It Is</a:t>
            </a:r>
            <a:endParaRPr lang="en-US" sz="900" dirty="0"/>
          </a:p>
        </p:txBody>
      </p:sp>
      <p:sp>
        <p:nvSpPr>
          <p:cNvPr id="11" name="Text 9"/>
          <p:cNvSpPr/>
          <p:nvPr/>
        </p:nvSpPr>
        <p:spPr>
          <a:xfrm>
            <a:off x="533400" y="2246858"/>
            <a:ext cx="4268900" cy="314325"/>
          </a:xfrm>
          <a:prstGeom prst="rect">
            <a:avLst/>
          </a:prstGeom>
          <a:noFill/>
          <a:ln/>
        </p:spPr>
        <p:txBody>
          <a:bodyPr wrap="square" lIns="0" tIns="0" rIns="0" bIns="0" rtlCol="0" anchor="t"/>
          <a:lstStyle/>
          <a:p>
            <a:pPr marL="0" indent="0" algn="l">
              <a:lnSpc>
                <a:spcPts val="1238"/>
              </a:lnSpc>
              <a:buNone/>
            </a:pPr>
            <a:r>
              <a:rPr lang="en-US" sz="825" dirty="0">
                <a:solidFill>
                  <a:srgbClr val="6B7280"/>
                </a:solidFill>
                <a:latin typeface="Arial" pitchFamily="34" charset="0"/>
                <a:ea typeface="Arial" pitchFamily="34" charset="-122"/>
                <a:cs typeface="Arial" pitchFamily="34" charset="-120"/>
              </a:rPr>
              <a:t>An intelligent voice-to-text tool that understands context. It knows if you're coding, writing email, or chatting - and formats output accordingly.</a:t>
            </a:r>
            <a:endParaRPr lang="en-US" sz="825" dirty="0"/>
          </a:p>
        </p:txBody>
      </p:sp>
      <p:sp>
        <p:nvSpPr>
          <p:cNvPr id="12" name="Text 10"/>
          <p:cNvSpPr/>
          <p:nvPr/>
        </p:nvSpPr>
        <p:spPr>
          <a:xfrm>
            <a:off x="342900" y="2961233"/>
            <a:ext cx="1433215" cy="632371"/>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13" name="Text 11"/>
          <p:cNvSpPr/>
          <p:nvPr/>
        </p:nvSpPr>
        <p:spPr>
          <a:xfrm>
            <a:off x="466725" y="3085058"/>
            <a:ext cx="1209276" cy="213271"/>
          </a:xfrm>
          <a:prstGeom prst="rect">
            <a:avLst/>
          </a:prstGeom>
          <a:noFill/>
          <a:ln/>
        </p:spPr>
        <p:txBody>
          <a:bodyPr wrap="square" lIns="0" tIns="0" rIns="0" bIns="0" rtlCol="0" anchor="t"/>
          <a:lstStyle/>
          <a:p>
            <a:pPr marL="0" indent="0" algn="l">
              <a:lnSpc>
                <a:spcPts val="1680"/>
              </a:lnSpc>
              <a:spcAft>
                <a:spcPts val="300"/>
              </a:spcAft>
              <a:buNone/>
            </a:pPr>
            <a:r>
              <a:rPr lang="en-US" sz="1200" dirty="0">
                <a:solidFill>
                  <a:srgbClr val="1A1F2E"/>
                </a:solidFill>
                <a:latin typeface="Georgia" pitchFamily="34" charset="0"/>
                <a:ea typeface="Georgia" pitchFamily="34" charset="-122"/>
                <a:cs typeface="Georgia" pitchFamily="34" charset="-120"/>
              </a:rPr>
              <a:t>Free Tier</a:t>
            </a:r>
            <a:endParaRPr lang="en-US" sz="1200" dirty="0"/>
          </a:p>
        </p:txBody>
      </p:sp>
      <p:sp>
        <p:nvSpPr>
          <p:cNvPr id="14" name="Text 12"/>
          <p:cNvSpPr/>
          <p:nvPr/>
        </p:nvSpPr>
        <p:spPr>
          <a:xfrm>
            <a:off x="466725" y="3336429"/>
            <a:ext cx="1209276" cy="133350"/>
          </a:xfrm>
          <a:prstGeom prst="rect">
            <a:avLst/>
          </a:prstGeom>
          <a:noFill/>
          <a:ln/>
        </p:spPr>
        <p:txBody>
          <a:bodyPr wrap="square" lIns="0" tIns="0" rIns="0" bIns="0" rtlCol="0" anchor="t"/>
          <a:lstStyle/>
          <a:p>
            <a:pPr marL="0" indent="0" algn="l">
              <a:lnSpc>
                <a:spcPts val="1050"/>
              </a:lnSpc>
              <a:buNone/>
            </a:pPr>
            <a:r>
              <a:rPr lang="en-US" sz="750" dirty="0">
                <a:solidFill>
                  <a:srgbClr val="6B7280"/>
                </a:solidFill>
                <a:latin typeface="Arial" pitchFamily="34" charset="0"/>
                <a:ea typeface="Arial" pitchFamily="34" charset="-122"/>
                <a:cs typeface="Arial" pitchFamily="34" charset="-120"/>
              </a:rPr>
              <a:t>2,000 words/week</a:t>
            </a:r>
            <a:endParaRPr lang="en-US" sz="750" dirty="0"/>
          </a:p>
        </p:txBody>
      </p:sp>
      <p:sp>
        <p:nvSpPr>
          <p:cNvPr id="15" name="Text 13"/>
          <p:cNvSpPr/>
          <p:nvPr/>
        </p:nvSpPr>
        <p:spPr>
          <a:xfrm>
            <a:off x="1890415" y="2961233"/>
            <a:ext cx="1433215" cy="632371"/>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16" name="Text 14"/>
          <p:cNvSpPr/>
          <p:nvPr/>
        </p:nvSpPr>
        <p:spPr>
          <a:xfrm>
            <a:off x="2014240" y="3085058"/>
            <a:ext cx="1209276" cy="213271"/>
          </a:xfrm>
          <a:prstGeom prst="rect">
            <a:avLst/>
          </a:prstGeom>
          <a:noFill/>
          <a:ln/>
        </p:spPr>
        <p:txBody>
          <a:bodyPr wrap="square" lIns="0" tIns="0" rIns="0" bIns="0" rtlCol="0" anchor="t"/>
          <a:lstStyle/>
          <a:p>
            <a:pPr marL="0" indent="0" algn="l">
              <a:lnSpc>
                <a:spcPts val="1680"/>
              </a:lnSpc>
              <a:spcAft>
                <a:spcPts val="300"/>
              </a:spcAft>
              <a:buNone/>
            </a:pPr>
            <a:r>
              <a:rPr lang="en-US" sz="1200" dirty="0">
                <a:solidFill>
                  <a:srgbClr val="1A1F2E"/>
                </a:solidFill>
                <a:latin typeface="Georgia" pitchFamily="34" charset="0"/>
                <a:ea typeface="Georgia" pitchFamily="34" charset="-122"/>
                <a:cs typeface="Georgia" pitchFamily="34" charset="-120"/>
              </a:rPr>
              <a:t>$15/mo Pro</a:t>
            </a:r>
            <a:endParaRPr lang="en-US" sz="1200" dirty="0"/>
          </a:p>
        </p:txBody>
      </p:sp>
      <p:sp>
        <p:nvSpPr>
          <p:cNvPr id="17" name="Text 15"/>
          <p:cNvSpPr/>
          <p:nvPr/>
        </p:nvSpPr>
        <p:spPr>
          <a:xfrm>
            <a:off x="2014240" y="3336429"/>
            <a:ext cx="1209276" cy="133350"/>
          </a:xfrm>
          <a:prstGeom prst="rect">
            <a:avLst/>
          </a:prstGeom>
          <a:noFill/>
          <a:ln/>
        </p:spPr>
        <p:txBody>
          <a:bodyPr wrap="square" lIns="0" tIns="0" rIns="0" bIns="0" rtlCol="0" anchor="t"/>
          <a:lstStyle/>
          <a:p>
            <a:pPr marL="0" indent="0" algn="l">
              <a:lnSpc>
                <a:spcPts val="1050"/>
              </a:lnSpc>
              <a:buNone/>
            </a:pPr>
            <a:r>
              <a:rPr lang="en-US" sz="750" dirty="0">
                <a:solidFill>
                  <a:srgbClr val="6B7280"/>
                </a:solidFill>
                <a:latin typeface="Arial" pitchFamily="34" charset="0"/>
                <a:ea typeface="Arial" pitchFamily="34" charset="-122"/>
                <a:cs typeface="Arial" pitchFamily="34" charset="-120"/>
              </a:rPr>
              <a:t>Unlimited dictation</a:t>
            </a:r>
            <a:endParaRPr lang="en-US" sz="750" dirty="0"/>
          </a:p>
        </p:txBody>
      </p:sp>
      <p:sp>
        <p:nvSpPr>
          <p:cNvPr id="18" name="Text 16"/>
          <p:cNvSpPr/>
          <p:nvPr/>
        </p:nvSpPr>
        <p:spPr>
          <a:xfrm>
            <a:off x="3437930" y="2961233"/>
            <a:ext cx="1433215" cy="632371"/>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19" name="Text 17"/>
          <p:cNvSpPr/>
          <p:nvPr/>
        </p:nvSpPr>
        <p:spPr>
          <a:xfrm>
            <a:off x="3561755" y="3085058"/>
            <a:ext cx="1209276" cy="213271"/>
          </a:xfrm>
          <a:prstGeom prst="rect">
            <a:avLst/>
          </a:prstGeom>
          <a:noFill/>
          <a:ln/>
        </p:spPr>
        <p:txBody>
          <a:bodyPr wrap="square" lIns="0" tIns="0" rIns="0" bIns="0" rtlCol="0" anchor="t"/>
          <a:lstStyle/>
          <a:p>
            <a:pPr marL="0" indent="0" algn="l">
              <a:lnSpc>
                <a:spcPts val="1680"/>
              </a:lnSpc>
              <a:spcAft>
                <a:spcPts val="300"/>
              </a:spcAft>
              <a:buNone/>
            </a:pPr>
            <a:r>
              <a:rPr lang="en-US" sz="1200" dirty="0">
                <a:solidFill>
                  <a:srgbClr val="1A1F2E"/>
                </a:solidFill>
                <a:latin typeface="Georgia" pitchFamily="34" charset="0"/>
                <a:ea typeface="Georgia" pitchFamily="34" charset="-122"/>
                <a:cs typeface="Georgia" pitchFamily="34" charset="-120"/>
              </a:rPr>
              <a:t>Cloud Only</a:t>
            </a:r>
            <a:endParaRPr lang="en-US" sz="1200" dirty="0"/>
          </a:p>
        </p:txBody>
      </p:sp>
      <p:sp>
        <p:nvSpPr>
          <p:cNvPr id="20" name="Text 18"/>
          <p:cNvSpPr/>
          <p:nvPr/>
        </p:nvSpPr>
        <p:spPr>
          <a:xfrm>
            <a:off x="3561755" y="3336429"/>
            <a:ext cx="1209276" cy="133350"/>
          </a:xfrm>
          <a:prstGeom prst="rect">
            <a:avLst/>
          </a:prstGeom>
          <a:noFill/>
          <a:ln/>
        </p:spPr>
        <p:txBody>
          <a:bodyPr wrap="square" lIns="0" tIns="0" rIns="0" bIns="0" rtlCol="0" anchor="t"/>
          <a:lstStyle/>
          <a:p>
            <a:pPr marL="0" indent="0" algn="l">
              <a:lnSpc>
                <a:spcPts val="1050"/>
              </a:lnSpc>
              <a:buNone/>
            </a:pPr>
            <a:r>
              <a:rPr lang="en-US" sz="750" dirty="0">
                <a:solidFill>
                  <a:srgbClr val="6B7280"/>
                </a:solidFill>
                <a:latin typeface="Arial" pitchFamily="34" charset="0"/>
                <a:ea typeface="Arial" pitchFamily="34" charset="-122"/>
                <a:cs typeface="Arial" pitchFamily="34" charset="-120"/>
              </a:rPr>
              <a:t>Requires internet</a:t>
            </a:r>
            <a:endParaRPr lang="en-US" sz="750" dirty="0"/>
          </a:p>
        </p:txBody>
      </p:sp>
      <p:sp>
        <p:nvSpPr>
          <p:cNvPr id="21" name="Text 19"/>
          <p:cNvSpPr/>
          <p:nvPr/>
        </p:nvSpPr>
        <p:spPr>
          <a:xfrm>
            <a:off x="342900" y="3860304"/>
            <a:ext cx="4528096" cy="765721"/>
          </a:xfrm>
          <a:prstGeom prst="rect">
            <a:avLst/>
          </a:prstGeom>
          <a:solidFill>
            <a:srgbClr val="1A1F2E"/>
          </a:solidFill>
          <a:ln/>
        </p:spPr>
        <p:txBody>
          <a:bodyPr wrap="square" rtlCol="0" anchor="ctr"/>
          <a:lstStyle/>
          <a:p>
            <a:pPr marL="0" indent="0">
              <a:buNone/>
            </a:pPr>
            <a:endParaRPr lang="en-US" dirty="0"/>
          </a:p>
        </p:txBody>
      </p:sp>
      <p:sp>
        <p:nvSpPr>
          <p:cNvPr id="22" name="Text 20"/>
          <p:cNvSpPr/>
          <p:nvPr/>
        </p:nvSpPr>
        <p:spPr>
          <a:xfrm>
            <a:off x="495300" y="3993654"/>
            <a:ext cx="4307762" cy="146596"/>
          </a:xfrm>
          <a:prstGeom prst="rect">
            <a:avLst/>
          </a:prstGeom>
          <a:noFill/>
          <a:ln/>
        </p:spPr>
        <p:txBody>
          <a:bodyPr wrap="square" lIns="0" tIns="0" rIns="0" bIns="0" rtlCol="0" anchor="t"/>
          <a:lstStyle/>
          <a:p>
            <a:pPr marL="0" indent="0" algn="l">
              <a:lnSpc>
                <a:spcPts val="1155"/>
              </a:lnSpc>
              <a:spcAft>
                <a:spcPts val="300"/>
              </a:spcAft>
              <a:buNone/>
            </a:pPr>
            <a:r>
              <a:rPr lang="en-US" sz="825" b="1" dirty="0">
                <a:solidFill>
                  <a:srgbClr val="C9A227"/>
                </a:solidFill>
                <a:latin typeface="Arial" pitchFamily="34" charset="0"/>
                <a:ea typeface="Arial" pitchFamily="34" charset="-122"/>
                <a:cs typeface="Arial" pitchFamily="34" charset="-120"/>
              </a:rPr>
              <a:t>KEY DIFFERENTIATOR</a:t>
            </a:r>
            <a:endParaRPr lang="en-US" sz="825" dirty="0"/>
          </a:p>
        </p:txBody>
      </p:sp>
      <p:sp>
        <p:nvSpPr>
          <p:cNvPr id="23" name="Text 21"/>
          <p:cNvSpPr/>
          <p:nvPr/>
        </p:nvSpPr>
        <p:spPr>
          <a:xfrm>
            <a:off x="495300" y="4178350"/>
            <a:ext cx="4307762" cy="314325"/>
          </a:xfrm>
          <a:prstGeom prst="rect">
            <a:avLst/>
          </a:prstGeom>
          <a:noFill/>
          <a:ln/>
        </p:spPr>
        <p:txBody>
          <a:bodyPr wrap="square" lIns="0" tIns="0" rIns="0" bIns="0" rtlCol="0" anchor="t"/>
          <a:lstStyle/>
          <a:p>
            <a:pPr marL="0" indent="0" algn="l">
              <a:lnSpc>
                <a:spcPts val="1238"/>
              </a:lnSpc>
              <a:buNone/>
            </a:pPr>
            <a:r>
              <a:rPr lang="en-US" sz="825" dirty="0">
                <a:solidFill>
                  <a:srgbClr val="FFFFFF">
                    <a:alpha val="80000"/>
                  </a:srgbClr>
                </a:solidFill>
                <a:latin typeface="Arial" pitchFamily="34" charset="0"/>
                <a:ea typeface="Arial" pitchFamily="34" charset="-122"/>
                <a:cs typeface="Arial" pitchFamily="34" charset="-120"/>
              </a:rPr>
              <a:t>Context awareness - Wispr Flow detects your current app and adjusts formatting. Code in VS Code, prose in Word.</a:t>
            </a:r>
            <a:endParaRPr lang="en-US" sz="825" dirty="0"/>
          </a:p>
        </p:txBody>
      </p:sp>
      <p:sp>
        <p:nvSpPr>
          <p:cNvPr id="24" name="Text 22"/>
          <p:cNvSpPr/>
          <p:nvPr/>
        </p:nvSpPr>
        <p:spPr>
          <a:xfrm>
            <a:off x="5366296" y="0"/>
            <a:ext cx="3777704" cy="5143500"/>
          </a:xfrm>
          <a:prstGeom prst="rect">
            <a:avLst/>
          </a:prstGeom>
          <a:solidFill>
            <a:srgbClr val="1A1F2E"/>
          </a:solidFill>
          <a:ln/>
        </p:spPr>
        <p:txBody>
          <a:bodyPr wrap="square" rtlCol="0" anchor="ctr"/>
          <a:lstStyle/>
          <a:p>
            <a:pPr marL="0" indent="0">
              <a:buNone/>
            </a:pPr>
            <a:endParaRPr lang="en-US" dirty="0"/>
          </a:p>
        </p:txBody>
      </p:sp>
      <p:sp>
        <p:nvSpPr>
          <p:cNvPr id="25" name="Text 23"/>
          <p:cNvSpPr/>
          <p:nvPr/>
        </p:nvSpPr>
        <p:spPr>
          <a:xfrm>
            <a:off x="5671096" y="304800"/>
            <a:ext cx="3231466" cy="146596"/>
          </a:xfrm>
          <a:prstGeom prst="rect">
            <a:avLst/>
          </a:prstGeom>
          <a:noFill/>
          <a:ln/>
        </p:spPr>
        <p:txBody>
          <a:bodyPr wrap="square" lIns="0" tIns="0" rIns="0" bIns="0" rtlCol="0" anchor="t"/>
          <a:lstStyle/>
          <a:p>
            <a:pPr marL="0" indent="0" algn="l">
              <a:lnSpc>
                <a:spcPts val="1155"/>
              </a:lnSpc>
              <a:spcAft>
                <a:spcPts val="1200"/>
              </a:spcAft>
              <a:buNone/>
            </a:pPr>
            <a:r>
              <a:rPr lang="en-US" sz="825" dirty="0">
                <a:solidFill>
                  <a:srgbClr val="C9A227"/>
                </a:solidFill>
                <a:latin typeface="Arial" pitchFamily="34" charset="0"/>
                <a:ea typeface="Arial" pitchFamily="34" charset="-122"/>
                <a:cs typeface="Arial" pitchFamily="34" charset="-120"/>
              </a:rPr>
              <a:t>PLATFORM SUPPORT</a:t>
            </a:r>
            <a:endParaRPr lang="en-US" sz="825" dirty="0"/>
          </a:p>
        </p:txBody>
      </p:sp>
      <p:sp>
        <p:nvSpPr>
          <p:cNvPr id="26" name="Text 24"/>
          <p:cNvSpPr/>
          <p:nvPr/>
        </p:nvSpPr>
        <p:spPr>
          <a:xfrm>
            <a:off x="5671096" y="756196"/>
            <a:ext cx="3168104" cy="611386"/>
          </a:xfrm>
          <a:prstGeom prst="rect">
            <a:avLst/>
          </a:prstGeom>
          <a:solidFill>
            <a:srgbClr val="C9A227">
              <a:alpha val="10000"/>
            </a:srgbClr>
          </a:solidFill>
          <a:ln w="9525">
            <a:solidFill>
              <a:srgbClr val="C9A227"/>
            </a:solidFill>
          </a:ln>
        </p:spPr>
        <p:txBody>
          <a:bodyPr wrap="square" rtlCol="0" anchor="ctr"/>
          <a:lstStyle/>
          <a:p>
            <a:pPr marL="0" indent="0">
              <a:buNone/>
            </a:pPr>
            <a:endParaRPr lang="en-US" dirty="0"/>
          </a:p>
        </p:txBody>
      </p:sp>
      <p:sp>
        <p:nvSpPr>
          <p:cNvPr id="27" name="Text 25"/>
          <p:cNvSpPr/>
          <p:nvPr/>
        </p:nvSpPr>
        <p:spPr>
          <a:xfrm>
            <a:off x="5813971" y="909489"/>
            <a:ext cx="304800" cy="304800"/>
          </a:xfrm>
          <a:prstGeom prst="rect">
            <a:avLst/>
          </a:prstGeom>
          <a:solidFill>
            <a:srgbClr val="C9A227"/>
          </a:solidFill>
          <a:ln/>
        </p:spPr>
        <p:txBody>
          <a:bodyPr wrap="square" rtlCol="0" anchor="ctr"/>
          <a:lstStyle/>
          <a:p>
            <a:pPr marL="0" indent="0">
              <a:buNone/>
            </a:pPr>
            <a:endParaRPr lang="en-US" dirty="0"/>
          </a:p>
        </p:txBody>
      </p:sp>
      <p:sp>
        <p:nvSpPr>
          <p:cNvPr id="28" name="Text 26"/>
          <p:cNvSpPr/>
          <p:nvPr/>
        </p:nvSpPr>
        <p:spPr>
          <a:xfrm>
            <a:off x="5910709" y="968573"/>
            <a:ext cx="113398" cy="186630"/>
          </a:xfrm>
          <a:prstGeom prst="rect">
            <a:avLst/>
          </a:prstGeom>
          <a:noFill/>
          <a:ln/>
        </p:spPr>
        <p:txBody>
          <a:bodyPr wrap="square" lIns="0" tIns="0" rIns="0" bIns="0" rtlCol="0" anchor="t"/>
          <a:lstStyle/>
          <a:p>
            <a:pPr marL="0" indent="0" algn="l">
              <a:lnSpc>
                <a:spcPts val="1470"/>
              </a:lnSpc>
              <a:buNone/>
            </a:pPr>
            <a:r>
              <a:rPr lang="en-US" sz="1050" dirty="0">
                <a:solidFill>
                  <a:srgbClr val="1A1F2E"/>
                </a:solidFill>
                <a:latin typeface="Arial" pitchFamily="34" charset="0"/>
                <a:ea typeface="Arial" pitchFamily="34" charset="-122"/>
                <a:cs typeface="Arial" pitchFamily="34" charset="-120"/>
              </a:rPr>
              <a:t>M</a:t>
            </a:r>
            <a:endParaRPr lang="en-US" sz="1050" dirty="0"/>
          </a:p>
        </p:txBody>
      </p:sp>
      <p:sp>
        <p:nvSpPr>
          <p:cNvPr id="29" name="Text 27"/>
          <p:cNvSpPr/>
          <p:nvPr/>
        </p:nvSpPr>
        <p:spPr>
          <a:xfrm>
            <a:off x="6214021" y="899071"/>
            <a:ext cx="875002" cy="173236"/>
          </a:xfrm>
          <a:prstGeom prst="rect">
            <a:avLst/>
          </a:prstGeom>
          <a:noFill/>
          <a:ln/>
        </p:spPr>
        <p:txBody>
          <a:bodyPr wrap="square" lIns="0" tIns="0" rIns="0" bIns="0" rtlCol="0" anchor="t"/>
          <a:lstStyle/>
          <a:p>
            <a:pPr marL="0" indent="0" algn="l">
              <a:lnSpc>
                <a:spcPts val="1365"/>
              </a:lnSpc>
              <a:buNone/>
            </a:pPr>
            <a:r>
              <a:rPr lang="en-US" sz="975" dirty="0">
                <a:solidFill>
                  <a:srgbClr val="FFFFFF"/>
                </a:solidFill>
                <a:latin typeface="Arial" pitchFamily="34" charset="0"/>
                <a:ea typeface="Arial" pitchFamily="34" charset="-122"/>
                <a:cs typeface="Arial" pitchFamily="34" charset="-120"/>
              </a:rPr>
              <a:t>macOS</a:t>
            </a:r>
            <a:endParaRPr lang="en-US" sz="975" dirty="0"/>
          </a:p>
        </p:txBody>
      </p:sp>
      <p:sp>
        <p:nvSpPr>
          <p:cNvPr id="30" name="Text 28"/>
          <p:cNvSpPr/>
          <p:nvPr/>
        </p:nvSpPr>
        <p:spPr>
          <a:xfrm>
            <a:off x="6214021" y="1091357"/>
            <a:ext cx="875002" cy="133350"/>
          </a:xfrm>
          <a:prstGeom prst="rect">
            <a:avLst/>
          </a:prstGeom>
          <a:noFill/>
          <a:ln/>
        </p:spPr>
        <p:txBody>
          <a:bodyPr wrap="square" lIns="0" tIns="0" rIns="0" bIns="0" rtlCol="0" anchor="t"/>
          <a:lstStyle/>
          <a:p>
            <a:pPr marL="0" indent="0" algn="l">
              <a:lnSpc>
                <a:spcPts val="1050"/>
              </a:lnSpc>
              <a:spcBef>
                <a:spcPts val="150"/>
              </a:spcBef>
              <a:buNone/>
            </a:pPr>
            <a:r>
              <a:rPr lang="en-US" sz="750" dirty="0">
                <a:solidFill>
                  <a:srgbClr val="FFFFFF">
                    <a:alpha val="50000"/>
                  </a:srgbClr>
                </a:solidFill>
                <a:latin typeface="Arial" pitchFamily="34" charset="0"/>
                <a:ea typeface="Arial" pitchFamily="34" charset="-122"/>
                <a:cs typeface="Arial" pitchFamily="34" charset="-120"/>
              </a:rPr>
              <a:t>Native app available</a:t>
            </a:r>
            <a:endParaRPr lang="en-US" sz="750" dirty="0"/>
          </a:p>
        </p:txBody>
      </p:sp>
      <p:sp>
        <p:nvSpPr>
          <p:cNvPr id="31" name="Text 29"/>
          <p:cNvSpPr/>
          <p:nvPr/>
        </p:nvSpPr>
        <p:spPr>
          <a:xfrm>
            <a:off x="5671096" y="1615232"/>
            <a:ext cx="3168104" cy="611386"/>
          </a:xfrm>
          <a:prstGeom prst="rect">
            <a:avLst/>
          </a:prstGeom>
          <a:solidFill>
            <a:srgbClr val="C9A227">
              <a:alpha val="10000"/>
            </a:srgbClr>
          </a:solidFill>
          <a:ln w="9525">
            <a:solidFill>
              <a:srgbClr val="C9A227"/>
            </a:solidFill>
          </a:ln>
        </p:spPr>
        <p:txBody>
          <a:bodyPr wrap="square" rtlCol="0" anchor="ctr"/>
          <a:lstStyle/>
          <a:p>
            <a:pPr marL="0" indent="0">
              <a:buNone/>
            </a:pPr>
            <a:endParaRPr lang="en-US" dirty="0"/>
          </a:p>
        </p:txBody>
      </p:sp>
      <p:sp>
        <p:nvSpPr>
          <p:cNvPr id="32" name="Text 30"/>
          <p:cNvSpPr/>
          <p:nvPr/>
        </p:nvSpPr>
        <p:spPr>
          <a:xfrm>
            <a:off x="5813971" y="1768525"/>
            <a:ext cx="304800" cy="304800"/>
          </a:xfrm>
          <a:prstGeom prst="rect">
            <a:avLst/>
          </a:prstGeom>
          <a:solidFill>
            <a:srgbClr val="C9A227"/>
          </a:solidFill>
          <a:ln/>
        </p:spPr>
        <p:txBody>
          <a:bodyPr wrap="square" rtlCol="0" anchor="ctr"/>
          <a:lstStyle/>
          <a:p>
            <a:pPr marL="0" indent="0">
              <a:buNone/>
            </a:pPr>
            <a:endParaRPr lang="en-US" dirty="0"/>
          </a:p>
        </p:txBody>
      </p:sp>
      <p:sp>
        <p:nvSpPr>
          <p:cNvPr id="33" name="Text 31"/>
          <p:cNvSpPr/>
          <p:nvPr/>
        </p:nvSpPr>
        <p:spPr>
          <a:xfrm>
            <a:off x="5903416" y="1827609"/>
            <a:ext cx="128427" cy="186630"/>
          </a:xfrm>
          <a:prstGeom prst="rect">
            <a:avLst/>
          </a:prstGeom>
          <a:noFill/>
          <a:ln/>
        </p:spPr>
        <p:txBody>
          <a:bodyPr wrap="square" lIns="0" tIns="0" rIns="0" bIns="0" rtlCol="0" anchor="t"/>
          <a:lstStyle/>
          <a:p>
            <a:pPr marL="0" indent="0" algn="l">
              <a:lnSpc>
                <a:spcPts val="1470"/>
              </a:lnSpc>
              <a:buNone/>
            </a:pPr>
            <a:r>
              <a:rPr lang="en-US" sz="1050" dirty="0">
                <a:solidFill>
                  <a:srgbClr val="1A1F2E"/>
                </a:solidFill>
                <a:latin typeface="Arial" pitchFamily="34" charset="0"/>
                <a:ea typeface="Arial" pitchFamily="34" charset="-122"/>
                <a:cs typeface="Arial" pitchFamily="34" charset="-120"/>
              </a:rPr>
              <a:t>W</a:t>
            </a:r>
            <a:endParaRPr lang="en-US" sz="1050" dirty="0"/>
          </a:p>
        </p:txBody>
      </p:sp>
      <p:sp>
        <p:nvSpPr>
          <p:cNvPr id="34" name="Text 32"/>
          <p:cNvSpPr/>
          <p:nvPr/>
        </p:nvSpPr>
        <p:spPr>
          <a:xfrm>
            <a:off x="6214021" y="1758107"/>
            <a:ext cx="854205" cy="173236"/>
          </a:xfrm>
          <a:prstGeom prst="rect">
            <a:avLst/>
          </a:prstGeom>
          <a:noFill/>
          <a:ln/>
        </p:spPr>
        <p:txBody>
          <a:bodyPr wrap="square" lIns="0" tIns="0" rIns="0" bIns="0" rtlCol="0" anchor="t"/>
          <a:lstStyle/>
          <a:p>
            <a:pPr marL="0" indent="0" algn="l">
              <a:lnSpc>
                <a:spcPts val="1365"/>
              </a:lnSpc>
              <a:buNone/>
            </a:pPr>
            <a:r>
              <a:rPr lang="en-US" sz="975" dirty="0">
                <a:solidFill>
                  <a:srgbClr val="FFFFFF"/>
                </a:solidFill>
                <a:latin typeface="Arial" pitchFamily="34" charset="0"/>
                <a:ea typeface="Arial" pitchFamily="34" charset="-122"/>
                <a:cs typeface="Arial" pitchFamily="34" charset="-120"/>
              </a:rPr>
              <a:t>Windows 10/11</a:t>
            </a:r>
            <a:endParaRPr lang="en-US" sz="975" dirty="0"/>
          </a:p>
        </p:txBody>
      </p:sp>
      <p:sp>
        <p:nvSpPr>
          <p:cNvPr id="35" name="Text 33"/>
          <p:cNvSpPr/>
          <p:nvPr/>
        </p:nvSpPr>
        <p:spPr>
          <a:xfrm>
            <a:off x="6214021" y="1950393"/>
            <a:ext cx="854205" cy="133350"/>
          </a:xfrm>
          <a:prstGeom prst="rect">
            <a:avLst/>
          </a:prstGeom>
          <a:noFill/>
          <a:ln/>
        </p:spPr>
        <p:txBody>
          <a:bodyPr wrap="square" lIns="0" tIns="0" rIns="0" bIns="0" rtlCol="0" anchor="t"/>
          <a:lstStyle/>
          <a:p>
            <a:pPr marL="0" indent="0" algn="l">
              <a:lnSpc>
                <a:spcPts val="1050"/>
              </a:lnSpc>
              <a:spcBef>
                <a:spcPts val="150"/>
              </a:spcBef>
              <a:buNone/>
            </a:pPr>
            <a:r>
              <a:rPr lang="en-US" sz="750" dirty="0">
                <a:solidFill>
                  <a:srgbClr val="FFFFFF">
                    <a:alpha val="50000"/>
                  </a:srgbClr>
                </a:solidFill>
                <a:latin typeface="Arial" pitchFamily="34" charset="0"/>
                <a:ea typeface="Arial" pitchFamily="34" charset="-122"/>
                <a:cs typeface="Arial" pitchFamily="34" charset="-120"/>
              </a:rPr>
              <a:t>Full feature support</a:t>
            </a:r>
            <a:endParaRPr lang="en-US" sz="750" dirty="0"/>
          </a:p>
        </p:txBody>
      </p:sp>
      <p:sp>
        <p:nvSpPr>
          <p:cNvPr id="36" name="Text 34"/>
          <p:cNvSpPr/>
          <p:nvPr/>
        </p:nvSpPr>
        <p:spPr>
          <a:xfrm>
            <a:off x="5671096" y="2474268"/>
            <a:ext cx="3168104" cy="611386"/>
          </a:xfrm>
          <a:prstGeom prst="rect">
            <a:avLst/>
          </a:prstGeom>
          <a:solidFill>
            <a:srgbClr val="C9A227">
              <a:alpha val="10000"/>
            </a:srgbClr>
          </a:solidFill>
          <a:ln w="9525">
            <a:solidFill>
              <a:srgbClr val="C9A227"/>
            </a:solidFill>
          </a:ln>
        </p:spPr>
        <p:txBody>
          <a:bodyPr wrap="square" rtlCol="0" anchor="ctr"/>
          <a:lstStyle/>
          <a:p>
            <a:pPr marL="0" indent="0">
              <a:buNone/>
            </a:pPr>
            <a:endParaRPr lang="en-US" dirty="0"/>
          </a:p>
        </p:txBody>
      </p:sp>
      <p:sp>
        <p:nvSpPr>
          <p:cNvPr id="37" name="Text 35"/>
          <p:cNvSpPr/>
          <p:nvPr/>
        </p:nvSpPr>
        <p:spPr>
          <a:xfrm>
            <a:off x="5813971" y="2627561"/>
            <a:ext cx="304800" cy="304800"/>
          </a:xfrm>
          <a:prstGeom prst="rect">
            <a:avLst/>
          </a:prstGeom>
          <a:solidFill>
            <a:srgbClr val="C9A227"/>
          </a:solidFill>
          <a:ln/>
        </p:spPr>
        <p:txBody>
          <a:bodyPr wrap="square" rtlCol="0" anchor="ctr"/>
          <a:lstStyle/>
          <a:p>
            <a:pPr marL="0" indent="0">
              <a:buNone/>
            </a:pPr>
            <a:endParaRPr lang="en-US" dirty="0"/>
          </a:p>
        </p:txBody>
      </p:sp>
      <p:sp>
        <p:nvSpPr>
          <p:cNvPr id="38" name="Text 36"/>
          <p:cNvSpPr/>
          <p:nvPr/>
        </p:nvSpPr>
        <p:spPr>
          <a:xfrm>
            <a:off x="5951488" y="2686645"/>
            <a:ext cx="30361" cy="186630"/>
          </a:xfrm>
          <a:prstGeom prst="rect">
            <a:avLst/>
          </a:prstGeom>
          <a:noFill/>
          <a:ln/>
        </p:spPr>
        <p:txBody>
          <a:bodyPr wrap="square" lIns="0" tIns="0" rIns="0" bIns="0" rtlCol="0" anchor="t"/>
          <a:lstStyle/>
          <a:p>
            <a:pPr marL="0" indent="0" algn="l">
              <a:lnSpc>
                <a:spcPts val="1470"/>
              </a:lnSpc>
              <a:buNone/>
            </a:pPr>
            <a:r>
              <a:rPr lang="en-US" sz="1050" dirty="0">
                <a:solidFill>
                  <a:srgbClr val="1A1F2E"/>
                </a:solidFill>
                <a:latin typeface="Arial" pitchFamily="34" charset="0"/>
                <a:ea typeface="Arial" pitchFamily="34" charset="-122"/>
                <a:cs typeface="Arial" pitchFamily="34" charset="-120"/>
              </a:rPr>
              <a:t>i</a:t>
            </a:r>
            <a:endParaRPr lang="en-US" sz="1050" dirty="0"/>
          </a:p>
        </p:txBody>
      </p:sp>
      <p:sp>
        <p:nvSpPr>
          <p:cNvPr id="39" name="Text 37"/>
          <p:cNvSpPr/>
          <p:nvPr/>
        </p:nvSpPr>
        <p:spPr>
          <a:xfrm>
            <a:off x="6214021" y="2617143"/>
            <a:ext cx="1071893" cy="173236"/>
          </a:xfrm>
          <a:prstGeom prst="rect">
            <a:avLst/>
          </a:prstGeom>
          <a:noFill/>
          <a:ln/>
        </p:spPr>
        <p:txBody>
          <a:bodyPr wrap="square" lIns="0" tIns="0" rIns="0" bIns="0" rtlCol="0" anchor="t"/>
          <a:lstStyle/>
          <a:p>
            <a:pPr marL="0" indent="0" algn="l">
              <a:lnSpc>
                <a:spcPts val="1365"/>
              </a:lnSpc>
              <a:buNone/>
            </a:pPr>
            <a:r>
              <a:rPr lang="en-US" sz="975" dirty="0">
                <a:solidFill>
                  <a:srgbClr val="FFFFFF"/>
                </a:solidFill>
                <a:latin typeface="Arial" pitchFamily="34" charset="0"/>
                <a:ea typeface="Arial" pitchFamily="34" charset="-122"/>
                <a:cs typeface="Arial" pitchFamily="34" charset="-120"/>
              </a:rPr>
              <a:t>iOS / Web</a:t>
            </a:r>
            <a:endParaRPr lang="en-US" sz="975" dirty="0"/>
          </a:p>
        </p:txBody>
      </p:sp>
      <p:sp>
        <p:nvSpPr>
          <p:cNvPr id="40" name="Text 38"/>
          <p:cNvSpPr/>
          <p:nvPr/>
        </p:nvSpPr>
        <p:spPr>
          <a:xfrm>
            <a:off x="6214021" y="2809429"/>
            <a:ext cx="1071893" cy="133350"/>
          </a:xfrm>
          <a:prstGeom prst="rect">
            <a:avLst/>
          </a:prstGeom>
          <a:noFill/>
          <a:ln/>
        </p:spPr>
        <p:txBody>
          <a:bodyPr wrap="square" lIns="0" tIns="0" rIns="0" bIns="0" rtlCol="0" anchor="t"/>
          <a:lstStyle/>
          <a:p>
            <a:pPr marL="0" indent="0" algn="l">
              <a:lnSpc>
                <a:spcPts val="1050"/>
              </a:lnSpc>
              <a:spcBef>
                <a:spcPts val="150"/>
              </a:spcBef>
              <a:buNone/>
            </a:pPr>
            <a:r>
              <a:rPr lang="en-US" sz="750" dirty="0">
                <a:solidFill>
                  <a:srgbClr val="FFFFFF">
                    <a:alpha val="50000"/>
                  </a:srgbClr>
                </a:solidFill>
                <a:latin typeface="Arial" pitchFamily="34" charset="0"/>
                <a:ea typeface="Arial" pitchFamily="34" charset="-122"/>
                <a:cs typeface="Arial" pitchFamily="34" charset="-120"/>
              </a:rPr>
              <a:t>Mobile + browser access</a:t>
            </a:r>
            <a:endParaRPr lang="en-US" sz="750" dirty="0"/>
          </a:p>
        </p:txBody>
      </p:sp>
      <p:sp>
        <p:nvSpPr>
          <p:cNvPr id="41" name="Text 39"/>
          <p:cNvSpPr/>
          <p:nvPr/>
        </p:nvSpPr>
        <p:spPr>
          <a:xfrm>
            <a:off x="5671096" y="4316909"/>
            <a:ext cx="3168104" cy="521791"/>
          </a:xfrm>
          <a:prstGeom prst="rect">
            <a:avLst/>
          </a:prstGeom>
          <a:solidFill>
            <a:srgbClr val="FEF3C7"/>
          </a:solidFill>
          <a:ln/>
        </p:spPr>
        <p:txBody>
          <a:bodyPr wrap="square" rtlCol="0" anchor="ctr"/>
          <a:lstStyle/>
          <a:p>
            <a:pPr marL="0" indent="0">
              <a:buNone/>
            </a:pPr>
            <a:endParaRPr lang="en-US" dirty="0"/>
          </a:p>
        </p:txBody>
      </p:sp>
      <p:sp>
        <p:nvSpPr>
          <p:cNvPr id="42" name="Shape 40"/>
          <p:cNvSpPr/>
          <p:nvPr/>
        </p:nvSpPr>
        <p:spPr>
          <a:xfrm>
            <a:off x="5690146" y="4316909"/>
            <a:ext cx="0" cy="521791"/>
          </a:xfrm>
          <a:prstGeom prst="line">
            <a:avLst/>
          </a:prstGeom>
          <a:noFill/>
          <a:ln w="38100">
            <a:solidFill>
              <a:srgbClr val="F59E0B"/>
            </a:solidFill>
            <a:prstDash val="solid"/>
          </a:ln>
        </p:spPr>
        <p:txBody>
          <a:bodyPr/>
          <a:lstStyle/>
          <a:p>
            <a:endParaRPr lang="en-US"/>
          </a:p>
        </p:txBody>
      </p:sp>
      <p:sp>
        <p:nvSpPr>
          <p:cNvPr id="43" name="Text 41"/>
          <p:cNvSpPr/>
          <p:nvPr/>
        </p:nvSpPr>
        <p:spPr>
          <a:xfrm>
            <a:off x="5823496" y="4431209"/>
            <a:ext cx="2959432" cy="293191"/>
          </a:xfrm>
          <a:prstGeom prst="rect">
            <a:avLst/>
          </a:prstGeom>
          <a:noFill/>
          <a:ln/>
        </p:spPr>
        <p:txBody>
          <a:bodyPr wrap="square" lIns="0" tIns="0" rIns="0" bIns="0" rtlCol="0" anchor="t"/>
          <a:lstStyle/>
          <a:p>
            <a:pPr marL="0" indent="0" algn="l">
              <a:lnSpc>
                <a:spcPts val="1155"/>
              </a:lnSpc>
              <a:buNone/>
            </a:pPr>
            <a:r>
              <a:rPr lang="en-US" sz="825" b="1" dirty="0">
                <a:solidFill>
                  <a:srgbClr val="92400E"/>
                </a:solidFill>
                <a:latin typeface="Arial" pitchFamily="34" charset="0"/>
                <a:ea typeface="Arial" pitchFamily="34" charset="-122"/>
                <a:cs typeface="Arial" pitchFamily="34" charset="-120"/>
              </a:rPr>
              <a:t>Note:</a:t>
            </a:r>
            <a:r>
              <a:rPr lang="en-US" sz="825" dirty="0">
                <a:solidFill>
                  <a:srgbClr val="92400E"/>
                </a:solidFill>
                <a:latin typeface="Arial" pitchFamily="34" charset="0"/>
                <a:ea typeface="Arial" pitchFamily="34" charset="-122"/>
                <a:cs typeface="Arial" pitchFamily="34" charset="-120"/>
              </a:rPr>
              <a:t> All processing is cloud-based. Privacy Mode = zero data retention (see next slides)</a:t>
            </a:r>
            <a:endParaRPr lang="en-US" sz="82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4047381" cy="5143500"/>
          </a:xfrm>
          <a:prstGeom prst="rect">
            <a:avLst/>
          </a:prstGeom>
          <a:solidFill>
            <a:srgbClr val="F59E0B"/>
          </a:solidFill>
          <a:ln/>
        </p:spPr>
        <p:txBody>
          <a:bodyPr wrap="square" rtlCol="0" anchor="ctr"/>
          <a:lstStyle/>
          <a:p>
            <a:pPr marL="0" indent="0">
              <a:buNone/>
            </a:pPr>
            <a:endParaRPr lang="en-US" dirty="0"/>
          </a:p>
        </p:txBody>
      </p:sp>
      <p:sp>
        <p:nvSpPr>
          <p:cNvPr id="3" name="Text 1"/>
          <p:cNvSpPr/>
          <p:nvPr/>
        </p:nvSpPr>
        <p:spPr>
          <a:xfrm>
            <a:off x="304800" y="266700"/>
            <a:ext cx="476250" cy="476250"/>
          </a:xfrm>
          <a:prstGeom prst="rect">
            <a:avLst/>
          </a:prstGeom>
          <a:solidFill>
            <a:srgbClr val="FFFFFF"/>
          </a:solidFill>
          <a:ln/>
        </p:spPr>
        <p:txBody>
          <a:bodyPr wrap="square" rtlCol="0" anchor="ctr"/>
          <a:lstStyle/>
          <a:p>
            <a:pPr marL="0" indent="0">
              <a:buNone/>
            </a:pPr>
            <a:endParaRPr lang="en-US" dirty="0"/>
          </a:p>
        </p:txBody>
      </p:sp>
      <p:sp>
        <p:nvSpPr>
          <p:cNvPr id="4" name="Text 2"/>
          <p:cNvSpPr/>
          <p:nvPr/>
        </p:nvSpPr>
        <p:spPr>
          <a:xfrm>
            <a:off x="489049" y="304800"/>
            <a:ext cx="109755" cy="400050"/>
          </a:xfrm>
          <a:prstGeom prst="rect">
            <a:avLst/>
          </a:prstGeom>
          <a:noFill/>
          <a:ln/>
        </p:spPr>
        <p:txBody>
          <a:bodyPr wrap="square" lIns="0" tIns="0" rIns="0" bIns="0" rtlCol="0" anchor="t"/>
          <a:lstStyle/>
          <a:p>
            <a:pPr marL="0" indent="0" algn="l">
              <a:lnSpc>
                <a:spcPts val="3150"/>
              </a:lnSpc>
              <a:buNone/>
            </a:pPr>
            <a:r>
              <a:rPr lang="en-US" sz="2250" b="1" dirty="0">
                <a:solidFill>
                  <a:srgbClr val="F59E0B"/>
                </a:solidFill>
                <a:latin typeface="Georgia" pitchFamily="34" charset="0"/>
                <a:ea typeface="Georgia" pitchFamily="34" charset="-122"/>
                <a:cs typeface="Georgia" pitchFamily="34" charset="-120"/>
              </a:rPr>
              <a:t>!</a:t>
            </a:r>
            <a:endParaRPr lang="en-US" sz="2250" dirty="0"/>
          </a:p>
        </p:txBody>
      </p:sp>
      <p:sp>
        <p:nvSpPr>
          <p:cNvPr id="5" name="Text 3"/>
          <p:cNvSpPr/>
          <p:nvPr/>
        </p:nvSpPr>
        <p:spPr>
          <a:xfrm>
            <a:off x="304800" y="1047750"/>
            <a:ext cx="3506536" cy="133350"/>
          </a:xfrm>
          <a:prstGeom prst="rect">
            <a:avLst/>
          </a:prstGeom>
          <a:noFill/>
          <a:ln/>
        </p:spPr>
        <p:txBody>
          <a:bodyPr wrap="square" lIns="0" tIns="0" rIns="0" bIns="0" rtlCol="0" anchor="t"/>
          <a:lstStyle/>
          <a:p>
            <a:pPr marL="0" indent="0" algn="l">
              <a:lnSpc>
                <a:spcPts val="1050"/>
              </a:lnSpc>
              <a:spcAft>
                <a:spcPts val="750"/>
              </a:spcAft>
              <a:buNone/>
            </a:pPr>
            <a:r>
              <a:rPr lang="en-US" sz="750" dirty="0">
                <a:solidFill>
                  <a:srgbClr val="1A1F2E"/>
                </a:solidFill>
                <a:latin typeface="Arial" pitchFamily="34" charset="0"/>
                <a:ea typeface="Arial" pitchFamily="34" charset="-122"/>
                <a:cs typeface="Arial" pitchFamily="34" charset="-120"/>
              </a:rPr>
              <a:t>IMPORTANT LIMITATION</a:t>
            </a:r>
            <a:endParaRPr lang="en-US" sz="750" dirty="0"/>
          </a:p>
        </p:txBody>
      </p:sp>
      <p:sp>
        <p:nvSpPr>
          <p:cNvPr id="6" name="Text 4"/>
          <p:cNvSpPr/>
          <p:nvPr/>
        </p:nvSpPr>
        <p:spPr>
          <a:xfrm>
            <a:off x="304800" y="1428750"/>
            <a:ext cx="2662047" cy="274290"/>
          </a:xfrm>
          <a:prstGeom prst="rect">
            <a:avLst/>
          </a:prstGeom>
          <a:noFill/>
          <a:ln/>
        </p:spPr>
        <p:txBody>
          <a:bodyPr wrap="square" lIns="0" tIns="0" rIns="0" bIns="0" rtlCol="0" anchor="t"/>
          <a:lstStyle/>
          <a:p>
            <a:pPr marL="0" indent="0" algn="l">
              <a:lnSpc>
                <a:spcPts val="2160"/>
              </a:lnSpc>
              <a:spcAft>
                <a:spcPts val="900"/>
              </a:spcAft>
              <a:buNone/>
            </a:pPr>
            <a:r>
              <a:rPr lang="en-US" sz="1800" dirty="0">
                <a:solidFill>
                  <a:srgbClr val="1A1F2E"/>
                </a:solidFill>
                <a:latin typeface="Georgia" pitchFamily="34" charset="0"/>
                <a:ea typeface="Georgia" pitchFamily="34" charset="-122"/>
                <a:cs typeface="Georgia" pitchFamily="34" charset="-120"/>
              </a:rPr>
              <a:t>Wispr Flow is Cloud-Only</a:t>
            </a:r>
            <a:endParaRPr lang="en-US" sz="1800" dirty="0"/>
          </a:p>
        </p:txBody>
      </p:sp>
      <p:sp>
        <p:nvSpPr>
          <p:cNvPr id="7" name="Text 5"/>
          <p:cNvSpPr/>
          <p:nvPr/>
        </p:nvSpPr>
        <p:spPr>
          <a:xfrm>
            <a:off x="304800" y="1969740"/>
            <a:ext cx="3506536" cy="342900"/>
          </a:xfrm>
          <a:prstGeom prst="rect">
            <a:avLst/>
          </a:prstGeom>
          <a:noFill/>
          <a:ln/>
        </p:spPr>
        <p:txBody>
          <a:bodyPr wrap="square" lIns="0" tIns="0" rIns="0" bIns="0" rtlCol="0" anchor="t"/>
          <a:lstStyle/>
          <a:p>
            <a:pPr marL="0" indent="0" algn="l">
              <a:lnSpc>
                <a:spcPts val="1350"/>
              </a:lnSpc>
              <a:spcAft>
                <a:spcPts val="1200"/>
              </a:spcAft>
              <a:buNone/>
            </a:pPr>
            <a:r>
              <a:rPr lang="en-US" sz="900" dirty="0">
                <a:solidFill>
                  <a:srgbClr val="1A1F2E">
                    <a:alpha val="90000"/>
                  </a:srgbClr>
                </a:solidFill>
                <a:latin typeface="Arial" pitchFamily="34" charset="0"/>
                <a:ea typeface="Arial" pitchFamily="34" charset="-122"/>
                <a:cs typeface="Arial" pitchFamily="34" charset="-120"/>
              </a:rPr>
              <a:t>Unlike SuperWhisper, Wispr Flow does NOT offer local/on-device processing. All audio is sent to cloud servers.</a:t>
            </a:r>
            <a:endParaRPr lang="en-US" sz="900" dirty="0"/>
          </a:p>
        </p:txBody>
      </p:sp>
      <p:sp>
        <p:nvSpPr>
          <p:cNvPr id="8" name="Text 6"/>
          <p:cNvSpPr/>
          <p:nvPr/>
        </p:nvSpPr>
        <p:spPr>
          <a:xfrm>
            <a:off x="304800" y="4034879"/>
            <a:ext cx="3437781" cy="841921"/>
          </a:xfrm>
          <a:prstGeom prst="rect">
            <a:avLst/>
          </a:prstGeom>
          <a:solidFill>
            <a:srgbClr val="FFFFFF">
              <a:alpha val="30000"/>
            </a:srgbClr>
          </a:solidFill>
          <a:ln/>
        </p:spPr>
        <p:txBody>
          <a:bodyPr wrap="square" rtlCol="0" anchor="ctr"/>
          <a:lstStyle/>
          <a:p>
            <a:pPr marL="0" indent="0">
              <a:buNone/>
            </a:pPr>
            <a:endParaRPr lang="en-US" dirty="0"/>
          </a:p>
        </p:txBody>
      </p:sp>
      <p:sp>
        <p:nvSpPr>
          <p:cNvPr id="9" name="Text 7"/>
          <p:cNvSpPr/>
          <p:nvPr/>
        </p:nvSpPr>
        <p:spPr>
          <a:xfrm>
            <a:off x="419100" y="4149179"/>
            <a:ext cx="3273364" cy="146596"/>
          </a:xfrm>
          <a:prstGeom prst="rect">
            <a:avLst/>
          </a:prstGeom>
          <a:noFill/>
          <a:ln/>
        </p:spPr>
        <p:txBody>
          <a:bodyPr wrap="square" lIns="0" tIns="0" rIns="0" bIns="0" rtlCol="0" anchor="t"/>
          <a:lstStyle/>
          <a:p>
            <a:pPr marL="0" indent="0" algn="l">
              <a:lnSpc>
                <a:spcPts val="1155"/>
              </a:lnSpc>
              <a:spcAft>
                <a:spcPts val="300"/>
              </a:spcAft>
              <a:buNone/>
            </a:pPr>
            <a:r>
              <a:rPr lang="en-US" sz="825" b="1" dirty="0">
                <a:solidFill>
                  <a:srgbClr val="1A1F2E"/>
                </a:solidFill>
                <a:latin typeface="Arial" pitchFamily="34" charset="0"/>
                <a:ea typeface="Arial" pitchFamily="34" charset="-122"/>
                <a:cs typeface="Arial" pitchFamily="34" charset="-120"/>
              </a:rPr>
              <a:t>What This Means:</a:t>
            </a:r>
            <a:endParaRPr lang="en-US" sz="825" dirty="0"/>
          </a:p>
        </p:txBody>
      </p:sp>
      <p:sp>
        <p:nvSpPr>
          <p:cNvPr id="10" name="Text 8"/>
          <p:cNvSpPr/>
          <p:nvPr/>
        </p:nvSpPr>
        <p:spPr>
          <a:xfrm>
            <a:off x="419100" y="4333875"/>
            <a:ext cx="3273364" cy="428625"/>
          </a:xfrm>
          <a:prstGeom prst="rect">
            <a:avLst/>
          </a:prstGeom>
          <a:noFill/>
          <a:ln/>
        </p:spPr>
        <p:txBody>
          <a:bodyPr wrap="square" lIns="0" tIns="0" rIns="0" bIns="0" rtlCol="0" anchor="t"/>
          <a:lstStyle/>
          <a:p>
            <a:pPr marL="0" indent="0" algn="l">
              <a:lnSpc>
                <a:spcPts val="1125"/>
              </a:lnSpc>
              <a:buNone/>
            </a:pPr>
            <a:r>
              <a:rPr lang="en-US" sz="750" dirty="0">
                <a:solidFill>
                  <a:srgbClr val="1A1F2E">
                    <a:alpha val="90000"/>
                  </a:srgbClr>
                </a:solidFill>
                <a:latin typeface="Arial" pitchFamily="34" charset="0"/>
                <a:ea typeface="Arial" pitchFamily="34" charset="-122"/>
                <a:cs typeface="Arial" pitchFamily="34" charset="-120"/>
              </a:rPr>
              <a:t>Audio always leaves your device</a:t>
            </a:r>
            <a:endParaRPr lang="en-US" sz="750" dirty="0"/>
          </a:p>
          <a:p>
            <a:pPr marL="0" indent="0" algn="l">
              <a:lnSpc>
                <a:spcPts val="1125"/>
              </a:lnSpc>
              <a:buNone/>
            </a:pPr>
            <a:r>
              <a:rPr lang="en-US" sz="750" dirty="0">
                <a:solidFill>
                  <a:srgbClr val="1A1F2E">
                    <a:alpha val="90000"/>
                  </a:srgbClr>
                </a:solidFill>
                <a:latin typeface="Arial" pitchFamily="34" charset="0"/>
                <a:ea typeface="Arial" pitchFamily="34" charset="-122"/>
                <a:cs typeface="Arial" pitchFamily="34" charset="-120"/>
              </a:rPr>
              <a:t>Requires internet connection</a:t>
            </a:r>
            <a:endParaRPr lang="en-US" sz="750" dirty="0"/>
          </a:p>
          <a:p>
            <a:pPr marL="0" indent="0" algn="l">
              <a:lnSpc>
                <a:spcPts val="1125"/>
              </a:lnSpc>
              <a:buNone/>
            </a:pPr>
            <a:r>
              <a:rPr lang="en-US" sz="750" dirty="0">
                <a:solidFill>
                  <a:srgbClr val="1A1F2E">
                    <a:alpha val="90000"/>
                  </a:srgbClr>
                </a:solidFill>
                <a:latin typeface="Arial" pitchFamily="34" charset="0"/>
                <a:ea typeface="Arial" pitchFamily="34" charset="-122"/>
                <a:cs typeface="Arial" pitchFamily="34" charset="-120"/>
              </a:rPr>
              <a:t>Not suitable for air-gapped environments</a:t>
            </a:r>
            <a:endParaRPr lang="en-US" sz="750" dirty="0"/>
          </a:p>
        </p:txBody>
      </p:sp>
      <p:sp>
        <p:nvSpPr>
          <p:cNvPr id="11" name="Text 9"/>
          <p:cNvSpPr/>
          <p:nvPr/>
        </p:nvSpPr>
        <p:spPr>
          <a:xfrm>
            <a:off x="4199781" y="0"/>
            <a:ext cx="4944219" cy="5143500"/>
          </a:xfrm>
          <a:prstGeom prst="rect">
            <a:avLst/>
          </a:prstGeom>
          <a:solidFill>
            <a:srgbClr val="F7F8FA"/>
          </a:solidFill>
          <a:ln/>
        </p:spPr>
        <p:txBody>
          <a:bodyPr wrap="square" rtlCol="0" anchor="ctr"/>
          <a:lstStyle/>
          <a:p>
            <a:pPr marL="0" indent="0">
              <a:buNone/>
            </a:pPr>
            <a:endParaRPr lang="en-US" dirty="0"/>
          </a:p>
        </p:txBody>
      </p:sp>
      <p:sp>
        <p:nvSpPr>
          <p:cNvPr id="12" name="Text 10"/>
          <p:cNvSpPr/>
          <p:nvPr/>
        </p:nvSpPr>
        <p:spPr>
          <a:xfrm>
            <a:off x="4504581" y="260152"/>
            <a:ext cx="4421312" cy="133350"/>
          </a:xfrm>
          <a:prstGeom prst="rect">
            <a:avLst/>
          </a:prstGeom>
          <a:noFill/>
          <a:ln/>
        </p:spPr>
        <p:txBody>
          <a:bodyPr wrap="square" lIns="0" tIns="0" rIns="0" bIns="0" rtlCol="0" anchor="t"/>
          <a:lstStyle/>
          <a:p>
            <a:pPr marL="0" indent="0" algn="l">
              <a:lnSpc>
                <a:spcPts val="1050"/>
              </a:lnSpc>
              <a:spcAft>
                <a:spcPts val="450"/>
              </a:spcAft>
              <a:buNone/>
            </a:pPr>
            <a:r>
              <a:rPr lang="en-US" sz="750" dirty="0">
                <a:solidFill>
                  <a:srgbClr val="C9A227"/>
                </a:solidFill>
                <a:latin typeface="Arial" pitchFamily="34" charset="0"/>
                <a:ea typeface="Arial" pitchFamily="34" charset="-122"/>
                <a:cs typeface="Arial" pitchFamily="34" charset="-120"/>
              </a:rPr>
              <a:t>WHAT PRIVACY MODE ACTUALLY DOES</a:t>
            </a:r>
            <a:endParaRPr lang="en-US" sz="750" dirty="0"/>
          </a:p>
        </p:txBody>
      </p:sp>
      <p:sp>
        <p:nvSpPr>
          <p:cNvPr id="13" name="Text 11"/>
          <p:cNvSpPr/>
          <p:nvPr/>
        </p:nvSpPr>
        <p:spPr>
          <a:xfrm>
            <a:off x="4504581" y="603052"/>
            <a:ext cx="2215134" cy="211634"/>
          </a:xfrm>
          <a:prstGeom prst="rect">
            <a:avLst/>
          </a:prstGeom>
          <a:noFill/>
          <a:ln/>
        </p:spPr>
        <p:txBody>
          <a:bodyPr wrap="square" lIns="0" tIns="0" rIns="0" bIns="0" rtlCol="0" anchor="t"/>
          <a:lstStyle/>
          <a:p>
            <a:pPr marL="0" indent="0" algn="l">
              <a:lnSpc>
                <a:spcPts val="1667"/>
              </a:lnSpc>
              <a:spcAft>
                <a:spcPts val="1050"/>
              </a:spcAft>
              <a:buNone/>
            </a:pPr>
            <a:r>
              <a:rPr lang="en-US" sz="1500" dirty="0">
                <a:solidFill>
                  <a:srgbClr val="1A1F2E"/>
                </a:solidFill>
                <a:latin typeface="Georgia" pitchFamily="34" charset="0"/>
                <a:ea typeface="Georgia" pitchFamily="34" charset="-122"/>
                <a:cs typeface="Georgia" pitchFamily="34" charset="-120"/>
              </a:rPr>
              <a:t>Zero Data Retention</a:t>
            </a:r>
            <a:endParaRPr lang="en-US" sz="1500" dirty="0"/>
          </a:p>
        </p:txBody>
      </p:sp>
      <p:sp>
        <p:nvSpPr>
          <p:cNvPr id="14" name="Text 12"/>
          <p:cNvSpPr/>
          <p:nvPr/>
        </p:nvSpPr>
        <p:spPr>
          <a:xfrm>
            <a:off x="4504581" y="1100435"/>
            <a:ext cx="4334619" cy="870496"/>
          </a:xfrm>
          <a:prstGeom prst="rect">
            <a:avLst/>
          </a:prstGeom>
          <a:solidFill>
            <a:srgbClr val="DCFCE7"/>
          </a:solidFill>
          <a:ln/>
        </p:spPr>
        <p:txBody>
          <a:bodyPr wrap="square" rtlCol="0" anchor="ctr"/>
          <a:lstStyle/>
          <a:p>
            <a:pPr marL="0" indent="0">
              <a:buNone/>
            </a:pPr>
            <a:endParaRPr lang="en-US" dirty="0"/>
          </a:p>
        </p:txBody>
      </p:sp>
      <p:sp>
        <p:nvSpPr>
          <p:cNvPr id="15" name="Shape 13"/>
          <p:cNvSpPr/>
          <p:nvPr/>
        </p:nvSpPr>
        <p:spPr>
          <a:xfrm>
            <a:off x="4523631" y="1100435"/>
            <a:ext cx="0" cy="870496"/>
          </a:xfrm>
          <a:prstGeom prst="line">
            <a:avLst/>
          </a:prstGeom>
          <a:noFill/>
          <a:ln w="38100">
            <a:solidFill>
              <a:srgbClr val="059669"/>
            </a:solidFill>
            <a:prstDash val="solid"/>
          </a:ln>
        </p:spPr>
        <p:txBody>
          <a:bodyPr/>
          <a:lstStyle/>
          <a:p>
            <a:endParaRPr lang="en-US"/>
          </a:p>
        </p:txBody>
      </p:sp>
      <p:sp>
        <p:nvSpPr>
          <p:cNvPr id="16" name="Text 14"/>
          <p:cNvSpPr/>
          <p:nvPr/>
        </p:nvSpPr>
        <p:spPr>
          <a:xfrm>
            <a:off x="4656981" y="1214735"/>
            <a:ext cx="4149278" cy="146596"/>
          </a:xfrm>
          <a:prstGeom prst="rect">
            <a:avLst/>
          </a:prstGeom>
          <a:noFill/>
          <a:ln/>
        </p:spPr>
        <p:txBody>
          <a:bodyPr wrap="square" lIns="0" tIns="0" rIns="0" bIns="0" rtlCol="0" anchor="t"/>
          <a:lstStyle/>
          <a:p>
            <a:pPr marL="0" indent="0" algn="l">
              <a:lnSpc>
                <a:spcPts val="1155"/>
              </a:lnSpc>
              <a:spcAft>
                <a:spcPts val="300"/>
              </a:spcAft>
              <a:buNone/>
            </a:pPr>
            <a:r>
              <a:rPr lang="en-US" sz="825" b="1" dirty="0">
                <a:solidFill>
                  <a:srgbClr val="166534"/>
                </a:solidFill>
                <a:latin typeface="Arial" pitchFamily="34" charset="0"/>
                <a:ea typeface="Arial" pitchFamily="34" charset="-122"/>
                <a:cs typeface="Arial" pitchFamily="34" charset="-120"/>
              </a:rPr>
              <a:t>With Privacy Mode ON:</a:t>
            </a:r>
            <a:endParaRPr lang="en-US" sz="825" dirty="0"/>
          </a:p>
        </p:txBody>
      </p:sp>
      <p:sp>
        <p:nvSpPr>
          <p:cNvPr id="17" name="Text 15"/>
          <p:cNvSpPr/>
          <p:nvPr/>
        </p:nvSpPr>
        <p:spPr>
          <a:xfrm>
            <a:off x="4656981" y="1399431"/>
            <a:ext cx="4149278" cy="457200"/>
          </a:xfrm>
          <a:prstGeom prst="rect">
            <a:avLst/>
          </a:prstGeom>
          <a:noFill/>
          <a:ln/>
        </p:spPr>
        <p:txBody>
          <a:bodyPr wrap="square" lIns="0" tIns="0" rIns="0" bIns="0" rtlCol="0" anchor="t"/>
          <a:lstStyle/>
          <a:p>
            <a:pPr marL="0" indent="0" algn="l">
              <a:lnSpc>
                <a:spcPts val="1200"/>
              </a:lnSpc>
              <a:buNone/>
            </a:pPr>
            <a:r>
              <a:rPr lang="en-US" sz="750" dirty="0">
                <a:solidFill>
                  <a:srgbClr val="166534"/>
                </a:solidFill>
                <a:latin typeface="Arial" pitchFamily="34" charset="0"/>
                <a:ea typeface="Arial" pitchFamily="34" charset="-122"/>
                <a:cs typeface="Arial" pitchFamily="34" charset="-120"/>
              </a:rPr>
              <a:t>Audio/transcripts NOT stored on servers</a:t>
            </a:r>
            <a:endParaRPr lang="en-US" sz="750" dirty="0"/>
          </a:p>
          <a:p>
            <a:pPr marL="0" indent="0" algn="l">
              <a:lnSpc>
                <a:spcPts val="1200"/>
              </a:lnSpc>
              <a:buNone/>
            </a:pPr>
            <a:r>
              <a:rPr lang="en-US" sz="750" dirty="0">
                <a:solidFill>
                  <a:srgbClr val="166534"/>
                </a:solidFill>
                <a:latin typeface="Arial" pitchFamily="34" charset="0"/>
                <a:ea typeface="Arial" pitchFamily="34" charset="-122"/>
                <a:cs typeface="Arial" pitchFamily="34" charset="-120"/>
              </a:rPr>
              <a:t>Data NOT used for model training</a:t>
            </a:r>
            <a:endParaRPr lang="en-US" sz="750" dirty="0"/>
          </a:p>
          <a:p>
            <a:pPr marL="0" indent="0" algn="l">
              <a:lnSpc>
                <a:spcPts val="1200"/>
              </a:lnSpc>
              <a:buNone/>
            </a:pPr>
            <a:r>
              <a:rPr lang="en-US" sz="750" dirty="0">
                <a:solidFill>
                  <a:srgbClr val="166534"/>
                </a:solidFill>
                <a:latin typeface="Arial" pitchFamily="34" charset="0"/>
                <a:ea typeface="Arial" pitchFamily="34" charset="-122"/>
                <a:cs typeface="Arial" pitchFamily="34" charset="-120"/>
              </a:rPr>
              <a:t>Processed then immediately deleted</a:t>
            </a:r>
            <a:endParaRPr lang="en-US" sz="750" dirty="0"/>
          </a:p>
        </p:txBody>
      </p:sp>
      <p:sp>
        <p:nvSpPr>
          <p:cNvPr id="18" name="Text 16"/>
          <p:cNvSpPr/>
          <p:nvPr/>
        </p:nvSpPr>
        <p:spPr>
          <a:xfrm>
            <a:off x="4504581" y="2237631"/>
            <a:ext cx="4334619" cy="870496"/>
          </a:xfrm>
          <a:prstGeom prst="rect">
            <a:avLst/>
          </a:prstGeom>
          <a:solidFill>
            <a:srgbClr val="FEE2E2"/>
          </a:solidFill>
          <a:ln/>
        </p:spPr>
        <p:txBody>
          <a:bodyPr wrap="square" rtlCol="0" anchor="ctr"/>
          <a:lstStyle/>
          <a:p>
            <a:pPr marL="0" indent="0">
              <a:buNone/>
            </a:pPr>
            <a:endParaRPr lang="en-US" dirty="0"/>
          </a:p>
        </p:txBody>
      </p:sp>
      <p:sp>
        <p:nvSpPr>
          <p:cNvPr id="19" name="Shape 17"/>
          <p:cNvSpPr/>
          <p:nvPr/>
        </p:nvSpPr>
        <p:spPr>
          <a:xfrm>
            <a:off x="4523631" y="2237631"/>
            <a:ext cx="0" cy="870496"/>
          </a:xfrm>
          <a:prstGeom prst="line">
            <a:avLst/>
          </a:prstGeom>
          <a:noFill/>
          <a:ln w="38100">
            <a:solidFill>
              <a:srgbClr val="DC2626"/>
            </a:solidFill>
            <a:prstDash val="solid"/>
          </a:ln>
        </p:spPr>
        <p:txBody>
          <a:bodyPr/>
          <a:lstStyle/>
          <a:p>
            <a:endParaRPr lang="en-US"/>
          </a:p>
        </p:txBody>
      </p:sp>
      <p:sp>
        <p:nvSpPr>
          <p:cNvPr id="20" name="Text 18"/>
          <p:cNvSpPr/>
          <p:nvPr/>
        </p:nvSpPr>
        <p:spPr>
          <a:xfrm>
            <a:off x="4656981" y="2351931"/>
            <a:ext cx="4149278" cy="146596"/>
          </a:xfrm>
          <a:prstGeom prst="rect">
            <a:avLst/>
          </a:prstGeom>
          <a:noFill/>
          <a:ln/>
        </p:spPr>
        <p:txBody>
          <a:bodyPr wrap="square" lIns="0" tIns="0" rIns="0" bIns="0" rtlCol="0" anchor="t"/>
          <a:lstStyle/>
          <a:p>
            <a:pPr marL="0" indent="0" algn="l">
              <a:lnSpc>
                <a:spcPts val="1155"/>
              </a:lnSpc>
              <a:spcAft>
                <a:spcPts val="300"/>
              </a:spcAft>
              <a:buNone/>
            </a:pPr>
            <a:r>
              <a:rPr lang="en-US" sz="825" b="1" dirty="0">
                <a:solidFill>
                  <a:srgbClr val="991B1B"/>
                </a:solidFill>
                <a:latin typeface="Arial" pitchFamily="34" charset="0"/>
                <a:ea typeface="Arial" pitchFamily="34" charset="-122"/>
                <a:cs typeface="Arial" pitchFamily="34" charset="-120"/>
              </a:rPr>
              <a:t>With Privacy Mode OFF (default):</a:t>
            </a:r>
            <a:endParaRPr lang="en-US" sz="825" dirty="0"/>
          </a:p>
        </p:txBody>
      </p:sp>
      <p:sp>
        <p:nvSpPr>
          <p:cNvPr id="21" name="Text 19"/>
          <p:cNvSpPr/>
          <p:nvPr/>
        </p:nvSpPr>
        <p:spPr>
          <a:xfrm>
            <a:off x="4656981" y="2536627"/>
            <a:ext cx="4149278" cy="457200"/>
          </a:xfrm>
          <a:prstGeom prst="rect">
            <a:avLst/>
          </a:prstGeom>
          <a:noFill/>
          <a:ln/>
        </p:spPr>
        <p:txBody>
          <a:bodyPr wrap="square" lIns="0" tIns="0" rIns="0" bIns="0" rtlCol="0" anchor="t"/>
          <a:lstStyle/>
          <a:p>
            <a:pPr marL="0" indent="0" algn="l">
              <a:lnSpc>
                <a:spcPts val="1200"/>
              </a:lnSpc>
              <a:buNone/>
            </a:pPr>
            <a:r>
              <a:rPr lang="en-US" sz="750" dirty="0">
                <a:solidFill>
                  <a:srgbClr val="991B1B"/>
                </a:solidFill>
                <a:latin typeface="Arial" pitchFamily="34" charset="0"/>
                <a:ea typeface="Arial" pitchFamily="34" charset="-122"/>
                <a:cs typeface="Arial" pitchFamily="34" charset="-120"/>
              </a:rPr>
              <a:t>Audio/transcripts may be stored</a:t>
            </a:r>
            <a:endParaRPr lang="en-US" sz="750" dirty="0"/>
          </a:p>
          <a:p>
            <a:pPr marL="0" indent="0" algn="l">
              <a:lnSpc>
                <a:spcPts val="1200"/>
              </a:lnSpc>
              <a:buNone/>
            </a:pPr>
            <a:r>
              <a:rPr lang="en-US" sz="750" dirty="0">
                <a:solidFill>
                  <a:srgbClr val="991B1B"/>
                </a:solidFill>
                <a:latin typeface="Arial" pitchFamily="34" charset="0"/>
                <a:ea typeface="Arial" pitchFamily="34" charset="-122"/>
                <a:cs typeface="Arial" pitchFamily="34" charset="-120"/>
              </a:rPr>
              <a:t>Data may be used for AI training</a:t>
            </a:r>
            <a:endParaRPr lang="en-US" sz="750" dirty="0"/>
          </a:p>
          <a:p>
            <a:pPr marL="0" indent="0" algn="l">
              <a:lnSpc>
                <a:spcPts val="1200"/>
              </a:lnSpc>
              <a:buNone/>
            </a:pPr>
            <a:r>
              <a:rPr lang="en-US" sz="750" dirty="0">
                <a:solidFill>
                  <a:srgbClr val="991B1B"/>
                </a:solidFill>
                <a:latin typeface="Arial" pitchFamily="34" charset="0"/>
                <a:ea typeface="Arial" pitchFamily="34" charset="-122"/>
                <a:cs typeface="Arial" pitchFamily="34" charset="-120"/>
              </a:rPr>
              <a:t>History accessible in your account</a:t>
            </a:r>
            <a:endParaRPr lang="en-US" sz="750" dirty="0"/>
          </a:p>
        </p:txBody>
      </p:sp>
      <p:sp>
        <p:nvSpPr>
          <p:cNvPr id="22" name="Text 20"/>
          <p:cNvSpPr/>
          <p:nvPr/>
        </p:nvSpPr>
        <p:spPr>
          <a:xfrm>
            <a:off x="4504581" y="3374827"/>
            <a:ext cx="4334619" cy="899071"/>
          </a:xfrm>
          <a:prstGeom prst="rect">
            <a:avLst/>
          </a:prstGeom>
          <a:solidFill>
            <a:srgbClr val="1A1F2E"/>
          </a:solidFill>
          <a:ln/>
        </p:spPr>
        <p:txBody>
          <a:bodyPr wrap="square" rtlCol="0" anchor="ctr"/>
          <a:lstStyle/>
          <a:p>
            <a:pPr marL="0" indent="0">
              <a:buNone/>
            </a:pPr>
            <a:endParaRPr lang="en-US" dirty="0"/>
          </a:p>
        </p:txBody>
      </p:sp>
      <p:sp>
        <p:nvSpPr>
          <p:cNvPr id="23" name="Text 21"/>
          <p:cNvSpPr/>
          <p:nvPr/>
        </p:nvSpPr>
        <p:spPr>
          <a:xfrm>
            <a:off x="4637931" y="3508177"/>
            <a:ext cx="4149278" cy="146596"/>
          </a:xfrm>
          <a:prstGeom prst="rect">
            <a:avLst/>
          </a:prstGeom>
          <a:noFill/>
          <a:ln/>
        </p:spPr>
        <p:txBody>
          <a:bodyPr wrap="square" lIns="0" tIns="0" rIns="0" bIns="0" rtlCol="0" anchor="t"/>
          <a:lstStyle/>
          <a:p>
            <a:pPr marL="0" indent="0" algn="l">
              <a:lnSpc>
                <a:spcPts val="1155"/>
              </a:lnSpc>
              <a:spcAft>
                <a:spcPts val="450"/>
              </a:spcAft>
              <a:buNone/>
            </a:pPr>
            <a:r>
              <a:rPr lang="en-US" sz="825" b="1" dirty="0">
                <a:solidFill>
                  <a:srgbClr val="C9A227"/>
                </a:solidFill>
                <a:latin typeface="Arial" pitchFamily="34" charset="0"/>
                <a:ea typeface="Arial" pitchFamily="34" charset="-122"/>
                <a:cs typeface="Arial" pitchFamily="34" charset="-120"/>
              </a:rPr>
              <a:t>FOR GOVERNMENT/PHI USE:</a:t>
            </a:r>
            <a:endParaRPr lang="en-US" sz="825" dirty="0"/>
          </a:p>
        </p:txBody>
      </p:sp>
      <p:sp>
        <p:nvSpPr>
          <p:cNvPr id="24" name="Text 22"/>
          <p:cNvSpPr/>
          <p:nvPr/>
        </p:nvSpPr>
        <p:spPr>
          <a:xfrm>
            <a:off x="4637931" y="3711922"/>
            <a:ext cx="4149278" cy="428625"/>
          </a:xfrm>
          <a:prstGeom prst="rect">
            <a:avLst/>
          </a:prstGeom>
          <a:noFill/>
          <a:ln/>
        </p:spPr>
        <p:txBody>
          <a:bodyPr wrap="square" lIns="0" tIns="0" rIns="0" bIns="0" rtlCol="0" anchor="t"/>
          <a:lstStyle/>
          <a:p>
            <a:pPr marL="0" indent="0" algn="l">
              <a:lnSpc>
                <a:spcPts val="1125"/>
              </a:lnSpc>
              <a:buNone/>
            </a:pPr>
            <a:r>
              <a:rPr lang="en-US" sz="750" dirty="0">
                <a:solidFill>
                  <a:srgbClr val="FFFFFF">
                    <a:alpha val="80000"/>
                  </a:srgbClr>
                </a:solidFill>
                <a:latin typeface="Arial" pitchFamily="34" charset="0"/>
                <a:ea typeface="Arial" pitchFamily="34" charset="-122"/>
                <a:cs typeface="Arial" pitchFamily="34" charset="-120"/>
              </a:rPr>
              <a:t>Wispr Flow's Privacy Mode provides zero retention but audio still goes to cloud. For true local processing where audio never leaves your device, use </a:t>
            </a:r>
            <a:r>
              <a:rPr lang="en-US" sz="750" b="1" dirty="0">
                <a:solidFill>
                  <a:srgbClr val="C9A227">
                    <a:alpha val="80000"/>
                  </a:srgbClr>
                </a:solidFill>
                <a:latin typeface="Arial" pitchFamily="34" charset="0"/>
                <a:ea typeface="Arial" pitchFamily="34" charset="-122"/>
                <a:cs typeface="Arial" pitchFamily="34" charset="-120"/>
              </a:rPr>
              <a:t>SuperWhisper with local models</a:t>
            </a:r>
            <a:r>
              <a:rPr lang="en-US" sz="750" dirty="0">
                <a:solidFill>
                  <a:srgbClr val="FFFFFF">
                    <a:alpha val="80000"/>
                  </a:srgbClr>
                </a:solidFill>
                <a:latin typeface="Arial" pitchFamily="34" charset="0"/>
                <a:ea typeface="Arial" pitchFamily="34" charset="-122"/>
                <a:cs typeface="Arial" pitchFamily="34" charset="-120"/>
              </a:rPr>
              <a:t> instead.</a:t>
            </a:r>
            <a:endParaRPr lang="en-US" sz="750" dirty="0"/>
          </a:p>
        </p:txBody>
      </p:sp>
      <p:sp>
        <p:nvSpPr>
          <p:cNvPr id="25" name="Text 23"/>
          <p:cNvSpPr/>
          <p:nvPr/>
        </p:nvSpPr>
        <p:spPr>
          <a:xfrm>
            <a:off x="4504581" y="4540597"/>
            <a:ext cx="4334619" cy="342900"/>
          </a:xfrm>
          <a:prstGeom prst="rect">
            <a:avLst/>
          </a:prstGeom>
          <a:solidFill>
            <a:srgbClr val="DBEAFE"/>
          </a:solidFill>
          <a:ln w="9525">
            <a:solidFill>
              <a:srgbClr val="3B82F6"/>
            </a:solidFill>
          </a:ln>
        </p:spPr>
        <p:txBody>
          <a:bodyPr wrap="square" rtlCol="0" anchor="ctr"/>
          <a:lstStyle/>
          <a:p>
            <a:pPr marL="0" indent="0">
              <a:buNone/>
            </a:pPr>
            <a:endParaRPr lang="en-US" dirty="0"/>
          </a:p>
        </p:txBody>
      </p:sp>
      <p:sp>
        <p:nvSpPr>
          <p:cNvPr id="26" name="Text 24"/>
          <p:cNvSpPr/>
          <p:nvPr/>
        </p:nvSpPr>
        <p:spPr>
          <a:xfrm>
            <a:off x="4609356" y="4645372"/>
            <a:ext cx="4207571" cy="133350"/>
          </a:xfrm>
          <a:prstGeom prst="rect">
            <a:avLst/>
          </a:prstGeom>
          <a:noFill/>
          <a:ln/>
        </p:spPr>
        <p:txBody>
          <a:bodyPr wrap="square" lIns="0" tIns="0" rIns="0" bIns="0" rtlCol="0" anchor="t"/>
          <a:lstStyle/>
          <a:p>
            <a:pPr marL="0" indent="0" algn="l">
              <a:lnSpc>
                <a:spcPts val="1050"/>
              </a:lnSpc>
              <a:buNone/>
            </a:pPr>
            <a:r>
              <a:rPr lang="en-US" sz="750" b="1" dirty="0">
                <a:solidFill>
                  <a:srgbClr val="1E40AF"/>
                </a:solidFill>
                <a:latin typeface="Arial" pitchFamily="34" charset="0"/>
                <a:ea typeface="Arial" pitchFamily="34" charset="-122"/>
                <a:cs typeface="Arial" pitchFamily="34" charset="-120"/>
              </a:rPr>
              <a:t>Wispr Compliance:</a:t>
            </a:r>
            <a:r>
              <a:rPr lang="en-US" sz="750" dirty="0">
                <a:solidFill>
                  <a:srgbClr val="1E40AF"/>
                </a:solidFill>
                <a:latin typeface="Arial" pitchFamily="34" charset="0"/>
                <a:ea typeface="Arial" pitchFamily="34" charset="-122"/>
                <a:cs typeface="Arial" pitchFamily="34" charset="-120"/>
              </a:rPr>
              <a:t> SOC 2 Type II, HIPAA-ready, ISO 27001 certified</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381000" y="304800"/>
            <a:ext cx="8549640" cy="133350"/>
          </a:xfrm>
          <a:prstGeom prst="rect">
            <a:avLst/>
          </a:prstGeom>
          <a:noFill/>
          <a:ln/>
        </p:spPr>
        <p:txBody>
          <a:bodyPr wrap="square" lIns="0" tIns="0" rIns="0" bIns="0" rtlCol="0" anchor="t"/>
          <a:lstStyle/>
          <a:p>
            <a:pPr marL="0" indent="0" algn="l">
              <a:lnSpc>
                <a:spcPts val="1050"/>
              </a:lnSpc>
              <a:spcAft>
                <a:spcPts val="300"/>
              </a:spcAft>
              <a:buNone/>
            </a:pPr>
            <a:r>
              <a:rPr lang="en-US" sz="750" dirty="0">
                <a:solidFill>
                  <a:srgbClr val="C9A227"/>
                </a:solidFill>
                <a:latin typeface="Arial" pitchFamily="34" charset="0"/>
                <a:ea typeface="Arial" pitchFamily="34" charset="-122"/>
                <a:cs typeface="Arial" pitchFamily="34" charset="-120"/>
              </a:rPr>
              <a:t>HEAD-TO-HEAD COMPARISON</a:t>
            </a:r>
            <a:endParaRPr lang="en-US" sz="750" dirty="0"/>
          </a:p>
        </p:txBody>
      </p:sp>
      <p:sp>
        <p:nvSpPr>
          <p:cNvPr id="3" name="Text 1"/>
          <p:cNvSpPr/>
          <p:nvPr/>
        </p:nvSpPr>
        <p:spPr>
          <a:xfrm>
            <a:off x="381000" y="476250"/>
            <a:ext cx="4284536" cy="228600"/>
          </a:xfrm>
          <a:prstGeom prst="rect">
            <a:avLst/>
          </a:prstGeom>
          <a:noFill/>
          <a:ln/>
        </p:spPr>
        <p:txBody>
          <a:bodyPr wrap="square" lIns="0" tIns="0" rIns="0" bIns="0" rtlCol="0" anchor="t"/>
          <a:lstStyle/>
          <a:p>
            <a:pPr marL="0" indent="0" algn="l">
              <a:lnSpc>
                <a:spcPts val="1800"/>
              </a:lnSpc>
              <a:buNone/>
            </a:pPr>
            <a:r>
              <a:rPr lang="en-US" sz="1800" dirty="0">
                <a:solidFill>
                  <a:srgbClr val="1A1F2E"/>
                </a:solidFill>
                <a:latin typeface="Georgia" pitchFamily="34" charset="0"/>
                <a:ea typeface="Georgia" pitchFamily="34" charset="-122"/>
                <a:cs typeface="Georgia" pitchFamily="34" charset="-120"/>
              </a:rPr>
              <a:t>SuperWhisper vs Wispr Flow</a:t>
            </a:r>
            <a:endParaRPr lang="en-US" sz="1800" dirty="0"/>
          </a:p>
        </p:txBody>
      </p:sp>
      <p:sp>
        <p:nvSpPr>
          <p:cNvPr id="4" name="Text 2"/>
          <p:cNvSpPr/>
          <p:nvPr/>
        </p:nvSpPr>
        <p:spPr>
          <a:xfrm>
            <a:off x="381000" y="900113"/>
            <a:ext cx="8382000" cy="285750"/>
          </a:xfrm>
          <a:prstGeom prst="rect">
            <a:avLst/>
          </a:prstGeom>
          <a:solidFill>
            <a:srgbClr val="1A1F2E"/>
          </a:solidFill>
          <a:ln/>
        </p:spPr>
        <p:txBody>
          <a:bodyPr wrap="square" rtlCol="0" anchor="ctr"/>
          <a:lstStyle/>
          <a:p>
            <a:pPr marL="0" indent="0">
              <a:buNone/>
            </a:pPr>
            <a:endParaRPr lang="en-US" dirty="0"/>
          </a:p>
        </p:txBody>
      </p:sp>
      <p:sp>
        <p:nvSpPr>
          <p:cNvPr id="5" name="Text 3"/>
          <p:cNvSpPr/>
          <p:nvPr/>
        </p:nvSpPr>
        <p:spPr>
          <a:xfrm>
            <a:off x="514350" y="976312"/>
            <a:ext cx="1752737" cy="133350"/>
          </a:xfrm>
          <a:prstGeom prst="rect">
            <a:avLst/>
          </a:prstGeom>
          <a:noFill/>
          <a:ln/>
        </p:spPr>
        <p:txBody>
          <a:bodyPr wrap="square" lIns="0" tIns="0" rIns="0" bIns="0" rtlCol="0" anchor="t"/>
          <a:lstStyle/>
          <a:p>
            <a:pPr marL="0" indent="0" algn="l">
              <a:lnSpc>
                <a:spcPts val="1050"/>
              </a:lnSpc>
              <a:buNone/>
            </a:pPr>
            <a:r>
              <a:rPr lang="en-US" sz="750" b="1" dirty="0">
                <a:solidFill>
                  <a:srgbClr val="FFFFFF"/>
                </a:solidFill>
                <a:latin typeface="Arial" pitchFamily="34" charset="0"/>
                <a:ea typeface="Arial" pitchFamily="34" charset="-122"/>
                <a:cs typeface="Arial" pitchFamily="34" charset="-120"/>
              </a:rPr>
              <a:t>Feature</a:t>
            </a:r>
            <a:endParaRPr lang="en-US" sz="750" dirty="0"/>
          </a:p>
        </p:txBody>
      </p:sp>
      <p:sp>
        <p:nvSpPr>
          <p:cNvPr id="6" name="Text 4"/>
          <p:cNvSpPr/>
          <p:nvPr/>
        </p:nvSpPr>
        <p:spPr>
          <a:xfrm>
            <a:off x="2354659" y="976312"/>
            <a:ext cx="3106987" cy="133350"/>
          </a:xfrm>
          <a:prstGeom prst="rect">
            <a:avLst/>
          </a:prstGeom>
          <a:noFill/>
          <a:ln/>
        </p:spPr>
        <p:txBody>
          <a:bodyPr wrap="square" lIns="0" tIns="0" rIns="0" bIns="0" rtlCol="0" anchor="t"/>
          <a:lstStyle/>
          <a:p>
            <a:pPr marL="0" indent="0" algn="ctr">
              <a:lnSpc>
                <a:spcPts val="1050"/>
              </a:lnSpc>
              <a:buNone/>
            </a:pPr>
            <a:r>
              <a:rPr lang="en-US" sz="750" b="1" dirty="0">
                <a:solidFill>
                  <a:srgbClr val="C9A227"/>
                </a:solidFill>
                <a:latin typeface="Arial" pitchFamily="34" charset="0"/>
                <a:ea typeface="Arial" pitchFamily="34" charset="-122"/>
                <a:cs typeface="Arial" pitchFamily="34" charset="-120"/>
              </a:rPr>
              <a:t>SuperWhisper</a:t>
            </a:r>
            <a:endParaRPr lang="en-US" sz="750" dirty="0"/>
          </a:p>
        </p:txBody>
      </p:sp>
      <p:sp>
        <p:nvSpPr>
          <p:cNvPr id="7" name="Text 5"/>
          <p:cNvSpPr/>
          <p:nvPr/>
        </p:nvSpPr>
        <p:spPr>
          <a:xfrm>
            <a:off x="5553124" y="976312"/>
            <a:ext cx="3106987" cy="133350"/>
          </a:xfrm>
          <a:prstGeom prst="rect">
            <a:avLst/>
          </a:prstGeom>
          <a:noFill/>
          <a:ln/>
        </p:spPr>
        <p:txBody>
          <a:bodyPr wrap="square" lIns="0" tIns="0" rIns="0" bIns="0" rtlCol="0" anchor="t"/>
          <a:lstStyle/>
          <a:p>
            <a:pPr marL="0" indent="0" algn="ctr">
              <a:lnSpc>
                <a:spcPts val="1050"/>
              </a:lnSpc>
              <a:buNone/>
            </a:pPr>
            <a:r>
              <a:rPr lang="en-US" sz="750" b="1" dirty="0">
                <a:solidFill>
                  <a:srgbClr val="C9A227"/>
                </a:solidFill>
                <a:latin typeface="Arial" pitchFamily="34" charset="0"/>
                <a:ea typeface="Arial" pitchFamily="34" charset="-122"/>
                <a:cs typeface="Arial" pitchFamily="34" charset="-120"/>
              </a:rPr>
              <a:t>Wispr Flow</a:t>
            </a:r>
            <a:endParaRPr lang="en-US" sz="750" dirty="0"/>
          </a:p>
        </p:txBody>
      </p:sp>
      <p:sp>
        <p:nvSpPr>
          <p:cNvPr id="8" name="Text 6"/>
          <p:cNvSpPr/>
          <p:nvPr/>
        </p:nvSpPr>
        <p:spPr>
          <a:xfrm>
            <a:off x="381000" y="1357313"/>
            <a:ext cx="8382000" cy="257175"/>
          </a:xfrm>
          <a:prstGeom prst="rect">
            <a:avLst/>
          </a:prstGeom>
          <a:solidFill>
            <a:srgbClr val="FFFFFF"/>
          </a:solidFill>
          <a:ln/>
        </p:spPr>
        <p:txBody>
          <a:bodyPr wrap="square" rtlCol="0" anchor="ctr"/>
          <a:lstStyle/>
          <a:p>
            <a:pPr marL="0" indent="0">
              <a:buNone/>
            </a:pPr>
            <a:endParaRPr lang="en-US" dirty="0"/>
          </a:p>
        </p:txBody>
      </p:sp>
      <p:sp>
        <p:nvSpPr>
          <p:cNvPr id="9" name="Shape 7"/>
          <p:cNvSpPr/>
          <p:nvPr/>
        </p:nvSpPr>
        <p:spPr>
          <a:xfrm>
            <a:off x="381000" y="1609725"/>
            <a:ext cx="8382000" cy="0"/>
          </a:xfrm>
          <a:prstGeom prst="line">
            <a:avLst/>
          </a:prstGeom>
          <a:noFill/>
          <a:ln w="9525">
            <a:solidFill>
              <a:srgbClr val="E4E7ED"/>
            </a:solidFill>
            <a:prstDash val="solid"/>
          </a:ln>
        </p:spPr>
        <p:txBody>
          <a:bodyPr/>
          <a:lstStyle/>
          <a:p>
            <a:endParaRPr lang="en-US"/>
          </a:p>
        </p:txBody>
      </p:sp>
      <p:sp>
        <p:nvSpPr>
          <p:cNvPr id="10" name="Text 8"/>
          <p:cNvSpPr/>
          <p:nvPr/>
        </p:nvSpPr>
        <p:spPr>
          <a:xfrm>
            <a:off x="514350" y="1414463"/>
            <a:ext cx="1752737" cy="133350"/>
          </a:xfrm>
          <a:prstGeom prst="rect">
            <a:avLst/>
          </a:prstGeom>
          <a:noFill/>
          <a:ln/>
        </p:spPr>
        <p:txBody>
          <a:bodyPr wrap="square" lIns="0" tIns="0" rIns="0" bIns="0" rtlCol="0" anchor="t"/>
          <a:lstStyle/>
          <a:p>
            <a:pPr marL="0" indent="0" algn="l">
              <a:lnSpc>
                <a:spcPts val="1050"/>
              </a:lnSpc>
              <a:buNone/>
            </a:pPr>
            <a:r>
              <a:rPr lang="en-US" sz="750" dirty="0">
                <a:solidFill>
                  <a:srgbClr val="1A1F2E"/>
                </a:solidFill>
                <a:latin typeface="Arial" pitchFamily="34" charset="0"/>
                <a:ea typeface="Arial" pitchFamily="34" charset="-122"/>
                <a:cs typeface="Arial" pitchFamily="34" charset="-120"/>
              </a:rPr>
              <a:t>Platforms</a:t>
            </a:r>
            <a:endParaRPr lang="en-US" sz="750" dirty="0"/>
          </a:p>
        </p:txBody>
      </p:sp>
      <p:sp>
        <p:nvSpPr>
          <p:cNvPr id="11" name="Text 9"/>
          <p:cNvSpPr/>
          <p:nvPr/>
        </p:nvSpPr>
        <p:spPr>
          <a:xfrm>
            <a:off x="2354659" y="1414463"/>
            <a:ext cx="3106987" cy="133350"/>
          </a:xfrm>
          <a:prstGeom prst="rect">
            <a:avLst/>
          </a:prstGeom>
          <a:noFill/>
          <a:ln/>
        </p:spPr>
        <p:txBody>
          <a:bodyPr wrap="square" lIns="0" tIns="0" rIns="0" bIns="0" rtlCol="0" anchor="t"/>
          <a:lstStyle/>
          <a:p>
            <a:pPr marL="0" indent="0" algn="ctr">
              <a:lnSpc>
                <a:spcPts val="1050"/>
              </a:lnSpc>
              <a:buNone/>
            </a:pPr>
            <a:r>
              <a:rPr lang="en-US" sz="750" dirty="0">
                <a:solidFill>
                  <a:srgbClr val="059669"/>
                </a:solidFill>
                <a:latin typeface="Arial" pitchFamily="34" charset="0"/>
                <a:ea typeface="Arial" pitchFamily="34" charset="-122"/>
                <a:cs typeface="Arial" pitchFamily="34" charset="-120"/>
              </a:rPr>
              <a:t>Mac, Windows, iOS</a:t>
            </a:r>
            <a:endParaRPr lang="en-US" sz="750" dirty="0"/>
          </a:p>
        </p:txBody>
      </p:sp>
      <p:sp>
        <p:nvSpPr>
          <p:cNvPr id="12" name="Text 10"/>
          <p:cNvSpPr/>
          <p:nvPr/>
        </p:nvSpPr>
        <p:spPr>
          <a:xfrm>
            <a:off x="5553124" y="1414463"/>
            <a:ext cx="3106987" cy="133350"/>
          </a:xfrm>
          <a:prstGeom prst="rect">
            <a:avLst/>
          </a:prstGeom>
          <a:noFill/>
          <a:ln/>
        </p:spPr>
        <p:txBody>
          <a:bodyPr wrap="square" lIns="0" tIns="0" rIns="0" bIns="0" rtlCol="0" anchor="t"/>
          <a:lstStyle/>
          <a:p>
            <a:pPr marL="0" indent="0" algn="ctr">
              <a:lnSpc>
                <a:spcPts val="1050"/>
              </a:lnSpc>
              <a:buNone/>
            </a:pPr>
            <a:r>
              <a:rPr lang="en-US" sz="750" dirty="0">
                <a:solidFill>
                  <a:srgbClr val="059669"/>
                </a:solidFill>
                <a:latin typeface="Arial" pitchFamily="34" charset="0"/>
                <a:ea typeface="Arial" pitchFamily="34" charset="-122"/>
                <a:cs typeface="Arial" pitchFamily="34" charset="-120"/>
              </a:rPr>
              <a:t>Mac, Windows, iOS, Web</a:t>
            </a:r>
            <a:endParaRPr lang="en-US" sz="750" dirty="0"/>
          </a:p>
        </p:txBody>
      </p:sp>
      <p:sp>
        <p:nvSpPr>
          <p:cNvPr id="13" name="Text 11"/>
          <p:cNvSpPr/>
          <p:nvPr/>
        </p:nvSpPr>
        <p:spPr>
          <a:xfrm>
            <a:off x="381000" y="1766888"/>
            <a:ext cx="8382000" cy="257175"/>
          </a:xfrm>
          <a:prstGeom prst="rect">
            <a:avLst/>
          </a:prstGeom>
          <a:solidFill>
            <a:srgbClr val="FEF3C7"/>
          </a:solidFill>
          <a:ln/>
        </p:spPr>
        <p:txBody>
          <a:bodyPr wrap="square" rtlCol="0" anchor="ctr"/>
          <a:lstStyle/>
          <a:p>
            <a:pPr marL="0" indent="0">
              <a:buNone/>
            </a:pPr>
            <a:endParaRPr lang="en-US" dirty="0"/>
          </a:p>
        </p:txBody>
      </p:sp>
      <p:sp>
        <p:nvSpPr>
          <p:cNvPr id="14" name="Shape 12"/>
          <p:cNvSpPr/>
          <p:nvPr/>
        </p:nvSpPr>
        <p:spPr>
          <a:xfrm>
            <a:off x="381000" y="2019300"/>
            <a:ext cx="8382000" cy="0"/>
          </a:xfrm>
          <a:prstGeom prst="line">
            <a:avLst/>
          </a:prstGeom>
          <a:noFill/>
          <a:ln w="9525">
            <a:solidFill>
              <a:srgbClr val="E4E7ED"/>
            </a:solidFill>
            <a:prstDash val="solid"/>
          </a:ln>
        </p:spPr>
        <p:txBody>
          <a:bodyPr/>
          <a:lstStyle/>
          <a:p>
            <a:endParaRPr lang="en-US"/>
          </a:p>
        </p:txBody>
      </p:sp>
      <p:sp>
        <p:nvSpPr>
          <p:cNvPr id="15" name="Text 13"/>
          <p:cNvSpPr/>
          <p:nvPr/>
        </p:nvSpPr>
        <p:spPr>
          <a:xfrm>
            <a:off x="514350" y="1824038"/>
            <a:ext cx="1752737" cy="133350"/>
          </a:xfrm>
          <a:prstGeom prst="rect">
            <a:avLst/>
          </a:prstGeom>
          <a:noFill/>
          <a:ln/>
        </p:spPr>
        <p:txBody>
          <a:bodyPr wrap="square" lIns="0" tIns="0" rIns="0" bIns="0" rtlCol="0" anchor="t"/>
          <a:lstStyle/>
          <a:p>
            <a:pPr marL="0" indent="0" algn="l">
              <a:lnSpc>
                <a:spcPts val="1050"/>
              </a:lnSpc>
              <a:buNone/>
            </a:pPr>
            <a:r>
              <a:rPr lang="en-US" sz="750" b="1" dirty="0">
                <a:solidFill>
                  <a:srgbClr val="1A1F2E"/>
                </a:solidFill>
                <a:latin typeface="Arial" pitchFamily="34" charset="0"/>
                <a:ea typeface="Arial" pitchFamily="34" charset="-122"/>
                <a:cs typeface="Arial" pitchFamily="34" charset="-120"/>
              </a:rPr>
              <a:t>Processing</a:t>
            </a:r>
            <a:endParaRPr lang="en-US" sz="750" dirty="0"/>
          </a:p>
        </p:txBody>
      </p:sp>
      <p:sp>
        <p:nvSpPr>
          <p:cNvPr id="16" name="Text 14"/>
          <p:cNvSpPr/>
          <p:nvPr/>
        </p:nvSpPr>
        <p:spPr>
          <a:xfrm>
            <a:off x="2354659" y="1824038"/>
            <a:ext cx="3106987" cy="133350"/>
          </a:xfrm>
          <a:prstGeom prst="rect">
            <a:avLst/>
          </a:prstGeom>
          <a:noFill/>
          <a:ln/>
        </p:spPr>
        <p:txBody>
          <a:bodyPr wrap="square" lIns="0" tIns="0" rIns="0" bIns="0" rtlCol="0" anchor="t"/>
          <a:lstStyle/>
          <a:p>
            <a:pPr marL="0" indent="0" algn="ctr">
              <a:lnSpc>
                <a:spcPts val="1050"/>
              </a:lnSpc>
              <a:buNone/>
            </a:pPr>
            <a:r>
              <a:rPr lang="en-US" sz="750" b="1" dirty="0">
                <a:solidFill>
                  <a:srgbClr val="059669"/>
                </a:solidFill>
                <a:latin typeface="Arial" pitchFamily="34" charset="0"/>
                <a:ea typeface="Arial" pitchFamily="34" charset="-122"/>
                <a:cs typeface="Arial" pitchFamily="34" charset="-120"/>
              </a:rPr>
              <a:t>Local OR Cloud (you choose)</a:t>
            </a:r>
            <a:endParaRPr lang="en-US" sz="750" dirty="0"/>
          </a:p>
        </p:txBody>
      </p:sp>
      <p:sp>
        <p:nvSpPr>
          <p:cNvPr id="17" name="Text 15"/>
          <p:cNvSpPr/>
          <p:nvPr/>
        </p:nvSpPr>
        <p:spPr>
          <a:xfrm>
            <a:off x="5553124" y="1824038"/>
            <a:ext cx="3106987" cy="133350"/>
          </a:xfrm>
          <a:prstGeom prst="rect">
            <a:avLst/>
          </a:prstGeom>
          <a:noFill/>
          <a:ln/>
        </p:spPr>
        <p:txBody>
          <a:bodyPr wrap="square" lIns="0" tIns="0" rIns="0" bIns="0" rtlCol="0" anchor="t"/>
          <a:lstStyle/>
          <a:p>
            <a:pPr marL="0" indent="0" algn="ctr">
              <a:lnSpc>
                <a:spcPts val="1050"/>
              </a:lnSpc>
              <a:buNone/>
            </a:pPr>
            <a:r>
              <a:rPr lang="en-US" sz="750" b="1" dirty="0">
                <a:solidFill>
                  <a:srgbClr val="DC2626"/>
                </a:solidFill>
                <a:latin typeface="Arial" pitchFamily="34" charset="0"/>
                <a:ea typeface="Arial" pitchFamily="34" charset="-122"/>
                <a:cs typeface="Arial" pitchFamily="34" charset="-120"/>
              </a:rPr>
              <a:t>Cloud Only (no local option)</a:t>
            </a:r>
            <a:endParaRPr lang="en-US" sz="750" dirty="0"/>
          </a:p>
        </p:txBody>
      </p:sp>
      <p:sp>
        <p:nvSpPr>
          <p:cNvPr id="18" name="Text 16"/>
          <p:cNvSpPr/>
          <p:nvPr/>
        </p:nvSpPr>
        <p:spPr>
          <a:xfrm>
            <a:off x="381000" y="2176463"/>
            <a:ext cx="8382000" cy="257175"/>
          </a:xfrm>
          <a:prstGeom prst="rect">
            <a:avLst/>
          </a:prstGeom>
          <a:solidFill>
            <a:srgbClr val="FFFFFF"/>
          </a:solidFill>
          <a:ln/>
        </p:spPr>
        <p:txBody>
          <a:bodyPr wrap="square" rtlCol="0" anchor="ctr"/>
          <a:lstStyle/>
          <a:p>
            <a:pPr marL="0" indent="0">
              <a:buNone/>
            </a:pPr>
            <a:endParaRPr lang="en-US" dirty="0"/>
          </a:p>
        </p:txBody>
      </p:sp>
      <p:sp>
        <p:nvSpPr>
          <p:cNvPr id="19" name="Shape 17"/>
          <p:cNvSpPr/>
          <p:nvPr/>
        </p:nvSpPr>
        <p:spPr>
          <a:xfrm>
            <a:off x="381000" y="2428875"/>
            <a:ext cx="8382000" cy="0"/>
          </a:xfrm>
          <a:prstGeom prst="line">
            <a:avLst/>
          </a:prstGeom>
          <a:noFill/>
          <a:ln w="9525">
            <a:solidFill>
              <a:srgbClr val="E4E7ED"/>
            </a:solidFill>
            <a:prstDash val="solid"/>
          </a:ln>
        </p:spPr>
        <p:txBody>
          <a:bodyPr/>
          <a:lstStyle/>
          <a:p>
            <a:endParaRPr lang="en-US"/>
          </a:p>
        </p:txBody>
      </p:sp>
      <p:sp>
        <p:nvSpPr>
          <p:cNvPr id="20" name="Text 18"/>
          <p:cNvSpPr/>
          <p:nvPr/>
        </p:nvSpPr>
        <p:spPr>
          <a:xfrm>
            <a:off x="514350" y="2233613"/>
            <a:ext cx="1752737" cy="133350"/>
          </a:xfrm>
          <a:prstGeom prst="rect">
            <a:avLst/>
          </a:prstGeom>
          <a:noFill/>
          <a:ln/>
        </p:spPr>
        <p:txBody>
          <a:bodyPr wrap="square" lIns="0" tIns="0" rIns="0" bIns="0" rtlCol="0" anchor="t"/>
          <a:lstStyle/>
          <a:p>
            <a:pPr marL="0" indent="0" algn="l">
              <a:lnSpc>
                <a:spcPts val="1050"/>
              </a:lnSpc>
              <a:buNone/>
            </a:pPr>
            <a:r>
              <a:rPr lang="en-US" sz="750" dirty="0">
                <a:solidFill>
                  <a:srgbClr val="1A1F2E"/>
                </a:solidFill>
                <a:latin typeface="Arial" pitchFamily="34" charset="0"/>
                <a:ea typeface="Arial" pitchFamily="34" charset="-122"/>
                <a:cs typeface="Arial" pitchFamily="34" charset="-120"/>
              </a:rPr>
              <a:t>Privacy Mode</a:t>
            </a:r>
            <a:endParaRPr lang="en-US" sz="750" dirty="0"/>
          </a:p>
        </p:txBody>
      </p:sp>
      <p:sp>
        <p:nvSpPr>
          <p:cNvPr id="21" name="Text 19"/>
          <p:cNvSpPr/>
          <p:nvPr/>
        </p:nvSpPr>
        <p:spPr>
          <a:xfrm>
            <a:off x="2354659" y="2233613"/>
            <a:ext cx="3106987" cy="133350"/>
          </a:xfrm>
          <a:prstGeom prst="rect">
            <a:avLst/>
          </a:prstGeom>
          <a:noFill/>
          <a:ln/>
        </p:spPr>
        <p:txBody>
          <a:bodyPr wrap="square" lIns="0" tIns="0" rIns="0" bIns="0" rtlCol="0" anchor="t"/>
          <a:lstStyle/>
          <a:p>
            <a:pPr marL="0" indent="0" algn="ctr">
              <a:lnSpc>
                <a:spcPts val="1050"/>
              </a:lnSpc>
              <a:buNone/>
            </a:pPr>
            <a:r>
              <a:rPr lang="en-US" sz="750" dirty="0">
                <a:solidFill>
                  <a:srgbClr val="059669"/>
                </a:solidFill>
                <a:latin typeface="Arial" pitchFamily="34" charset="0"/>
                <a:ea typeface="Arial" pitchFamily="34" charset="-122"/>
                <a:cs typeface="Arial" pitchFamily="34" charset="-120"/>
              </a:rPr>
              <a:t>Audio stays on device (local)</a:t>
            </a:r>
            <a:endParaRPr lang="en-US" sz="750" dirty="0"/>
          </a:p>
        </p:txBody>
      </p:sp>
      <p:sp>
        <p:nvSpPr>
          <p:cNvPr id="22" name="Text 20"/>
          <p:cNvSpPr/>
          <p:nvPr/>
        </p:nvSpPr>
        <p:spPr>
          <a:xfrm>
            <a:off x="5553124" y="2233613"/>
            <a:ext cx="3106987" cy="133350"/>
          </a:xfrm>
          <a:prstGeom prst="rect">
            <a:avLst/>
          </a:prstGeom>
          <a:noFill/>
          <a:ln/>
        </p:spPr>
        <p:txBody>
          <a:bodyPr wrap="square" lIns="0" tIns="0" rIns="0" bIns="0" rtlCol="0" anchor="t"/>
          <a:lstStyle/>
          <a:p>
            <a:pPr marL="0" indent="0" algn="ctr">
              <a:lnSpc>
                <a:spcPts val="1050"/>
              </a:lnSpc>
              <a:buNone/>
            </a:pPr>
            <a:r>
              <a:rPr lang="en-US" sz="750" dirty="0">
                <a:solidFill>
                  <a:srgbClr val="F59E0B"/>
                </a:solidFill>
                <a:latin typeface="Arial" pitchFamily="34" charset="0"/>
                <a:ea typeface="Arial" pitchFamily="34" charset="-122"/>
                <a:cs typeface="Arial" pitchFamily="34" charset="-120"/>
              </a:rPr>
              <a:t>Zero retention (still cloud)</a:t>
            </a:r>
            <a:endParaRPr lang="en-US" sz="750" dirty="0"/>
          </a:p>
        </p:txBody>
      </p:sp>
      <p:sp>
        <p:nvSpPr>
          <p:cNvPr id="23" name="Text 21"/>
          <p:cNvSpPr/>
          <p:nvPr/>
        </p:nvSpPr>
        <p:spPr>
          <a:xfrm>
            <a:off x="381000" y="2586038"/>
            <a:ext cx="8382000" cy="257175"/>
          </a:xfrm>
          <a:prstGeom prst="rect">
            <a:avLst/>
          </a:prstGeom>
          <a:solidFill>
            <a:srgbClr val="F7F8FA"/>
          </a:solidFill>
          <a:ln/>
        </p:spPr>
        <p:txBody>
          <a:bodyPr wrap="square" rtlCol="0" anchor="ctr"/>
          <a:lstStyle/>
          <a:p>
            <a:pPr marL="0" indent="0">
              <a:buNone/>
            </a:pPr>
            <a:endParaRPr lang="en-US" dirty="0"/>
          </a:p>
        </p:txBody>
      </p:sp>
      <p:sp>
        <p:nvSpPr>
          <p:cNvPr id="24" name="Shape 22"/>
          <p:cNvSpPr/>
          <p:nvPr/>
        </p:nvSpPr>
        <p:spPr>
          <a:xfrm>
            <a:off x="381000" y="2838450"/>
            <a:ext cx="8382000" cy="0"/>
          </a:xfrm>
          <a:prstGeom prst="line">
            <a:avLst/>
          </a:prstGeom>
          <a:noFill/>
          <a:ln w="9525">
            <a:solidFill>
              <a:srgbClr val="E4E7ED"/>
            </a:solidFill>
            <a:prstDash val="solid"/>
          </a:ln>
        </p:spPr>
        <p:txBody>
          <a:bodyPr/>
          <a:lstStyle/>
          <a:p>
            <a:endParaRPr lang="en-US"/>
          </a:p>
        </p:txBody>
      </p:sp>
      <p:sp>
        <p:nvSpPr>
          <p:cNvPr id="25" name="Text 23"/>
          <p:cNvSpPr/>
          <p:nvPr/>
        </p:nvSpPr>
        <p:spPr>
          <a:xfrm>
            <a:off x="514350" y="2643188"/>
            <a:ext cx="1752737" cy="133350"/>
          </a:xfrm>
          <a:prstGeom prst="rect">
            <a:avLst/>
          </a:prstGeom>
          <a:noFill/>
          <a:ln/>
        </p:spPr>
        <p:txBody>
          <a:bodyPr wrap="square" lIns="0" tIns="0" rIns="0" bIns="0" rtlCol="0" anchor="t"/>
          <a:lstStyle/>
          <a:p>
            <a:pPr marL="0" indent="0" algn="l">
              <a:lnSpc>
                <a:spcPts val="1050"/>
              </a:lnSpc>
              <a:buNone/>
            </a:pPr>
            <a:r>
              <a:rPr lang="en-US" sz="750" dirty="0">
                <a:solidFill>
                  <a:srgbClr val="1A1F2E"/>
                </a:solidFill>
                <a:latin typeface="Arial" pitchFamily="34" charset="0"/>
                <a:ea typeface="Arial" pitchFamily="34" charset="-122"/>
                <a:cs typeface="Arial" pitchFamily="34" charset="-120"/>
              </a:rPr>
              <a:t>Cost</a:t>
            </a:r>
            <a:endParaRPr lang="en-US" sz="750" dirty="0"/>
          </a:p>
        </p:txBody>
      </p:sp>
      <p:sp>
        <p:nvSpPr>
          <p:cNvPr id="26" name="Text 24"/>
          <p:cNvSpPr/>
          <p:nvPr/>
        </p:nvSpPr>
        <p:spPr>
          <a:xfrm>
            <a:off x="2354659" y="2643188"/>
            <a:ext cx="3106987" cy="133350"/>
          </a:xfrm>
          <a:prstGeom prst="rect">
            <a:avLst/>
          </a:prstGeom>
          <a:noFill/>
          <a:ln/>
        </p:spPr>
        <p:txBody>
          <a:bodyPr wrap="square" lIns="0" tIns="0" rIns="0" bIns="0" rtlCol="0" anchor="t"/>
          <a:lstStyle/>
          <a:p>
            <a:pPr marL="0" indent="0" algn="ctr">
              <a:lnSpc>
                <a:spcPts val="1050"/>
              </a:lnSpc>
              <a:buNone/>
            </a:pPr>
            <a:r>
              <a:rPr lang="en-US" sz="750" dirty="0">
                <a:solidFill>
                  <a:srgbClr val="6B7280"/>
                </a:solidFill>
                <a:latin typeface="Arial" pitchFamily="34" charset="0"/>
                <a:ea typeface="Arial" pitchFamily="34" charset="-122"/>
                <a:cs typeface="Arial" pitchFamily="34" charset="-120"/>
              </a:rPr>
              <a:t>Free / $8.49/mo / $249 lifetime</a:t>
            </a:r>
            <a:endParaRPr lang="en-US" sz="750" dirty="0"/>
          </a:p>
        </p:txBody>
      </p:sp>
      <p:sp>
        <p:nvSpPr>
          <p:cNvPr id="27" name="Text 25"/>
          <p:cNvSpPr/>
          <p:nvPr/>
        </p:nvSpPr>
        <p:spPr>
          <a:xfrm>
            <a:off x="5553124" y="2643188"/>
            <a:ext cx="3106987" cy="133350"/>
          </a:xfrm>
          <a:prstGeom prst="rect">
            <a:avLst/>
          </a:prstGeom>
          <a:noFill/>
          <a:ln/>
        </p:spPr>
        <p:txBody>
          <a:bodyPr wrap="square" lIns="0" tIns="0" rIns="0" bIns="0" rtlCol="0" anchor="t"/>
          <a:lstStyle/>
          <a:p>
            <a:pPr marL="0" indent="0" algn="ctr">
              <a:lnSpc>
                <a:spcPts val="1050"/>
              </a:lnSpc>
              <a:buNone/>
            </a:pPr>
            <a:r>
              <a:rPr lang="en-US" sz="750" dirty="0">
                <a:solidFill>
                  <a:srgbClr val="6B7280"/>
                </a:solidFill>
                <a:latin typeface="Arial" pitchFamily="34" charset="0"/>
                <a:ea typeface="Arial" pitchFamily="34" charset="-122"/>
                <a:cs typeface="Arial" pitchFamily="34" charset="-120"/>
              </a:rPr>
              <a:t>Free (2K words/wk) / $15/mo Pro</a:t>
            </a:r>
            <a:endParaRPr lang="en-US" sz="750" dirty="0"/>
          </a:p>
        </p:txBody>
      </p:sp>
      <p:sp>
        <p:nvSpPr>
          <p:cNvPr id="28" name="Text 26"/>
          <p:cNvSpPr/>
          <p:nvPr/>
        </p:nvSpPr>
        <p:spPr>
          <a:xfrm>
            <a:off x="381000" y="2995613"/>
            <a:ext cx="8382000" cy="257175"/>
          </a:xfrm>
          <a:prstGeom prst="rect">
            <a:avLst/>
          </a:prstGeom>
          <a:solidFill>
            <a:srgbClr val="FFFFFF"/>
          </a:solidFill>
          <a:ln/>
        </p:spPr>
        <p:txBody>
          <a:bodyPr wrap="square" rtlCol="0" anchor="ctr"/>
          <a:lstStyle/>
          <a:p>
            <a:pPr marL="0" indent="0">
              <a:buNone/>
            </a:pPr>
            <a:endParaRPr lang="en-US" dirty="0"/>
          </a:p>
        </p:txBody>
      </p:sp>
      <p:sp>
        <p:nvSpPr>
          <p:cNvPr id="29" name="Shape 27"/>
          <p:cNvSpPr/>
          <p:nvPr/>
        </p:nvSpPr>
        <p:spPr>
          <a:xfrm>
            <a:off x="381000" y="3248025"/>
            <a:ext cx="8382000" cy="0"/>
          </a:xfrm>
          <a:prstGeom prst="line">
            <a:avLst/>
          </a:prstGeom>
          <a:noFill/>
          <a:ln w="9525">
            <a:solidFill>
              <a:srgbClr val="E4E7ED"/>
            </a:solidFill>
            <a:prstDash val="solid"/>
          </a:ln>
        </p:spPr>
        <p:txBody>
          <a:bodyPr/>
          <a:lstStyle/>
          <a:p>
            <a:endParaRPr lang="en-US"/>
          </a:p>
        </p:txBody>
      </p:sp>
      <p:sp>
        <p:nvSpPr>
          <p:cNvPr id="30" name="Text 28"/>
          <p:cNvSpPr/>
          <p:nvPr/>
        </p:nvSpPr>
        <p:spPr>
          <a:xfrm>
            <a:off x="514350" y="3052763"/>
            <a:ext cx="1752737" cy="133350"/>
          </a:xfrm>
          <a:prstGeom prst="rect">
            <a:avLst/>
          </a:prstGeom>
          <a:noFill/>
          <a:ln/>
        </p:spPr>
        <p:txBody>
          <a:bodyPr wrap="square" lIns="0" tIns="0" rIns="0" bIns="0" rtlCol="0" anchor="t"/>
          <a:lstStyle/>
          <a:p>
            <a:pPr marL="0" indent="0" algn="l">
              <a:lnSpc>
                <a:spcPts val="1050"/>
              </a:lnSpc>
              <a:buNone/>
            </a:pPr>
            <a:r>
              <a:rPr lang="en-US" sz="750" dirty="0">
                <a:solidFill>
                  <a:srgbClr val="1A1F2E"/>
                </a:solidFill>
                <a:latin typeface="Arial" pitchFamily="34" charset="0"/>
                <a:ea typeface="Arial" pitchFamily="34" charset="-122"/>
                <a:cs typeface="Arial" pitchFamily="34" charset="-120"/>
              </a:rPr>
              <a:t>Context Awareness</a:t>
            </a:r>
            <a:endParaRPr lang="en-US" sz="750" dirty="0"/>
          </a:p>
        </p:txBody>
      </p:sp>
      <p:sp>
        <p:nvSpPr>
          <p:cNvPr id="31" name="Text 29"/>
          <p:cNvSpPr/>
          <p:nvPr/>
        </p:nvSpPr>
        <p:spPr>
          <a:xfrm>
            <a:off x="2354659" y="3052763"/>
            <a:ext cx="3106987" cy="133350"/>
          </a:xfrm>
          <a:prstGeom prst="rect">
            <a:avLst/>
          </a:prstGeom>
          <a:noFill/>
          <a:ln/>
        </p:spPr>
        <p:txBody>
          <a:bodyPr wrap="square" lIns="0" tIns="0" rIns="0" bIns="0" rtlCol="0" anchor="t"/>
          <a:lstStyle/>
          <a:p>
            <a:pPr marL="0" indent="0" algn="ctr">
              <a:lnSpc>
                <a:spcPts val="1050"/>
              </a:lnSpc>
              <a:buNone/>
            </a:pPr>
            <a:r>
              <a:rPr lang="en-US" sz="750" dirty="0">
                <a:solidFill>
                  <a:srgbClr val="6B7280"/>
                </a:solidFill>
                <a:latin typeface="Arial" pitchFamily="34" charset="0"/>
                <a:ea typeface="Arial" pitchFamily="34" charset="-122"/>
                <a:cs typeface="Arial" pitchFamily="34" charset="-120"/>
              </a:rPr>
              <a:t>Super Mode (adapts to app)</a:t>
            </a:r>
            <a:endParaRPr lang="en-US" sz="750" dirty="0"/>
          </a:p>
        </p:txBody>
      </p:sp>
      <p:sp>
        <p:nvSpPr>
          <p:cNvPr id="32" name="Text 30"/>
          <p:cNvSpPr/>
          <p:nvPr/>
        </p:nvSpPr>
        <p:spPr>
          <a:xfrm>
            <a:off x="5553124" y="3052763"/>
            <a:ext cx="3106987" cy="133350"/>
          </a:xfrm>
          <a:prstGeom prst="rect">
            <a:avLst/>
          </a:prstGeom>
          <a:noFill/>
          <a:ln/>
        </p:spPr>
        <p:txBody>
          <a:bodyPr wrap="square" lIns="0" tIns="0" rIns="0" bIns="0" rtlCol="0" anchor="t"/>
          <a:lstStyle/>
          <a:p>
            <a:pPr marL="0" indent="0" algn="ctr">
              <a:lnSpc>
                <a:spcPts val="1050"/>
              </a:lnSpc>
              <a:buNone/>
            </a:pPr>
            <a:r>
              <a:rPr lang="en-US" sz="750" b="1" dirty="0">
                <a:solidFill>
                  <a:srgbClr val="059669"/>
                </a:solidFill>
                <a:latin typeface="Arial" pitchFamily="34" charset="0"/>
                <a:ea typeface="Arial" pitchFamily="34" charset="-122"/>
                <a:cs typeface="Arial" pitchFamily="34" charset="-120"/>
              </a:rPr>
              <a:t>Advanced (auto-detects app)</a:t>
            </a:r>
            <a:endParaRPr lang="en-US" sz="750" dirty="0"/>
          </a:p>
        </p:txBody>
      </p:sp>
      <p:sp>
        <p:nvSpPr>
          <p:cNvPr id="33" name="Text 31"/>
          <p:cNvSpPr/>
          <p:nvPr/>
        </p:nvSpPr>
        <p:spPr>
          <a:xfrm>
            <a:off x="381000" y="3405188"/>
            <a:ext cx="8382000" cy="257175"/>
          </a:xfrm>
          <a:prstGeom prst="rect">
            <a:avLst/>
          </a:prstGeom>
          <a:solidFill>
            <a:srgbClr val="F7F8FA"/>
          </a:solidFill>
          <a:ln/>
        </p:spPr>
        <p:txBody>
          <a:bodyPr wrap="square" rtlCol="0" anchor="ctr"/>
          <a:lstStyle/>
          <a:p>
            <a:pPr marL="0" indent="0">
              <a:buNone/>
            </a:pPr>
            <a:endParaRPr lang="en-US" dirty="0"/>
          </a:p>
        </p:txBody>
      </p:sp>
      <p:sp>
        <p:nvSpPr>
          <p:cNvPr id="34" name="Shape 32"/>
          <p:cNvSpPr/>
          <p:nvPr/>
        </p:nvSpPr>
        <p:spPr>
          <a:xfrm>
            <a:off x="381000" y="3657600"/>
            <a:ext cx="8382000" cy="0"/>
          </a:xfrm>
          <a:prstGeom prst="line">
            <a:avLst/>
          </a:prstGeom>
          <a:noFill/>
          <a:ln w="9525">
            <a:solidFill>
              <a:srgbClr val="E4E7ED"/>
            </a:solidFill>
            <a:prstDash val="solid"/>
          </a:ln>
        </p:spPr>
        <p:txBody>
          <a:bodyPr/>
          <a:lstStyle/>
          <a:p>
            <a:endParaRPr lang="en-US"/>
          </a:p>
        </p:txBody>
      </p:sp>
      <p:sp>
        <p:nvSpPr>
          <p:cNvPr id="35" name="Text 33"/>
          <p:cNvSpPr/>
          <p:nvPr/>
        </p:nvSpPr>
        <p:spPr>
          <a:xfrm>
            <a:off x="514350" y="3462338"/>
            <a:ext cx="1752737" cy="133350"/>
          </a:xfrm>
          <a:prstGeom prst="rect">
            <a:avLst/>
          </a:prstGeom>
          <a:noFill/>
          <a:ln/>
        </p:spPr>
        <p:txBody>
          <a:bodyPr wrap="square" lIns="0" tIns="0" rIns="0" bIns="0" rtlCol="0" anchor="t"/>
          <a:lstStyle/>
          <a:p>
            <a:pPr marL="0" indent="0" algn="l">
              <a:lnSpc>
                <a:spcPts val="1050"/>
              </a:lnSpc>
              <a:buNone/>
            </a:pPr>
            <a:r>
              <a:rPr lang="en-US" sz="750" dirty="0">
                <a:solidFill>
                  <a:srgbClr val="1A1F2E"/>
                </a:solidFill>
                <a:latin typeface="Arial" pitchFamily="34" charset="0"/>
                <a:ea typeface="Arial" pitchFamily="34" charset="-122"/>
                <a:cs typeface="Arial" pitchFamily="34" charset="-120"/>
              </a:rPr>
              <a:t>Works Offline?</a:t>
            </a:r>
            <a:endParaRPr lang="en-US" sz="750" dirty="0"/>
          </a:p>
        </p:txBody>
      </p:sp>
      <p:sp>
        <p:nvSpPr>
          <p:cNvPr id="36" name="Text 34"/>
          <p:cNvSpPr/>
          <p:nvPr/>
        </p:nvSpPr>
        <p:spPr>
          <a:xfrm>
            <a:off x="2354659" y="3462338"/>
            <a:ext cx="3106987" cy="133350"/>
          </a:xfrm>
          <a:prstGeom prst="rect">
            <a:avLst/>
          </a:prstGeom>
          <a:noFill/>
          <a:ln/>
        </p:spPr>
        <p:txBody>
          <a:bodyPr wrap="square" lIns="0" tIns="0" rIns="0" bIns="0" rtlCol="0" anchor="t"/>
          <a:lstStyle/>
          <a:p>
            <a:pPr marL="0" indent="0" algn="ctr">
              <a:lnSpc>
                <a:spcPts val="1050"/>
              </a:lnSpc>
              <a:buNone/>
            </a:pPr>
            <a:r>
              <a:rPr lang="en-US" sz="750" b="1" dirty="0">
                <a:solidFill>
                  <a:srgbClr val="059669"/>
                </a:solidFill>
                <a:latin typeface="Arial" pitchFamily="34" charset="0"/>
                <a:ea typeface="Arial" pitchFamily="34" charset="-122"/>
                <a:cs typeface="Arial" pitchFamily="34" charset="-120"/>
              </a:rPr>
              <a:t>Yes (with local models)</a:t>
            </a:r>
            <a:endParaRPr lang="en-US" sz="750" dirty="0"/>
          </a:p>
        </p:txBody>
      </p:sp>
      <p:sp>
        <p:nvSpPr>
          <p:cNvPr id="37" name="Text 35"/>
          <p:cNvSpPr/>
          <p:nvPr/>
        </p:nvSpPr>
        <p:spPr>
          <a:xfrm>
            <a:off x="5553124" y="3462338"/>
            <a:ext cx="3106987" cy="133350"/>
          </a:xfrm>
          <a:prstGeom prst="rect">
            <a:avLst/>
          </a:prstGeom>
          <a:noFill/>
          <a:ln/>
        </p:spPr>
        <p:txBody>
          <a:bodyPr wrap="square" lIns="0" tIns="0" rIns="0" bIns="0" rtlCol="0" anchor="t"/>
          <a:lstStyle/>
          <a:p>
            <a:pPr marL="0" indent="0" algn="ctr">
              <a:lnSpc>
                <a:spcPts val="1050"/>
              </a:lnSpc>
              <a:buNone/>
            </a:pPr>
            <a:r>
              <a:rPr lang="en-US" sz="750" b="1" dirty="0">
                <a:solidFill>
                  <a:srgbClr val="DC2626"/>
                </a:solidFill>
                <a:latin typeface="Arial" pitchFamily="34" charset="0"/>
                <a:ea typeface="Arial" pitchFamily="34" charset="-122"/>
                <a:cs typeface="Arial" pitchFamily="34" charset="-120"/>
              </a:rPr>
              <a:t>No (requires internet)</a:t>
            </a:r>
            <a:endParaRPr lang="en-US" sz="750" dirty="0"/>
          </a:p>
        </p:txBody>
      </p:sp>
      <p:sp>
        <p:nvSpPr>
          <p:cNvPr id="38" name="Text 36"/>
          <p:cNvSpPr/>
          <p:nvPr/>
        </p:nvSpPr>
        <p:spPr>
          <a:xfrm>
            <a:off x="381000" y="3814763"/>
            <a:ext cx="8382000" cy="247650"/>
          </a:xfrm>
          <a:prstGeom prst="rect">
            <a:avLst/>
          </a:prstGeom>
          <a:solidFill>
            <a:srgbClr val="FFFFFF"/>
          </a:solidFill>
          <a:ln/>
        </p:spPr>
        <p:txBody>
          <a:bodyPr wrap="square" rtlCol="0" anchor="ctr"/>
          <a:lstStyle/>
          <a:p>
            <a:pPr marL="0" indent="0">
              <a:buNone/>
            </a:pPr>
            <a:endParaRPr lang="en-US" dirty="0"/>
          </a:p>
        </p:txBody>
      </p:sp>
      <p:sp>
        <p:nvSpPr>
          <p:cNvPr id="39" name="Text 37"/>
          <p:cNvSpPr/>
          <p:nvPr/>
        </p:nvSpPr>
        <p:spPr>
          <a:xfrm>
            <a:off x="514350" y="3871913"/>
            <a:ext cx="1752737" cy="133350"/>
          </a:xfrm>
          <a:prstGeom prst="rect">
            <a:avLst/>
          </a:prstGeom>
          <a:noFill/>
          <a:ln/>
        </p:spPr>
        <p:txBody>
          <a:bodyPr wrap="square" lIns="0" tIns="0" rIns="0" bIns="0" rtlCol="0" anchor="t"/>
          <a:lstStyle/>
          <a:p>
            <a:pPr marL="0" indent="0" algn="l">
              <a:lnSpc>
                <a:spcPts val="1050"/>
              </a:lnSpc>
              <a:buNone/>
            </a:pPr>
            <a:r>
              <a:rPr lang="en-US" sz="750" dirty="0">
                <a:solidFill>
                  <a:srgbClr val="1A1F2E"/>
                </a:solidFill>
                <a:latin typeface="Arial" pitchFamily="34" charset="0"/>
                <a:ea typeface="Arial" pitchFamily="34" charset="-122"/>
                <a:cs typeface="Arial" pitchFamily="34" charset="-120"/>
              </a:rPr>
              <a:t>Best For</a:t>
            </a:r>
            <a:endParaRPr lang="en-US" sz="750" dirty="0"/>
          </a:p>
        </p:txBody>
      </p:sp>
      <p:sp>
        <p:nvSpPr>
          <p:cNvPr id="40" name="Text 38"/>
          <p:cNvSpPr/>
          <p:nvPr/>
        </p:nvSpPr>
        <p:spPr>
          <a:xfrm>
            <a:off x="2354659" y="3871913"/>
            <a:ext cx="3106987" cy="133350"/>
          </a:xfrm>
          <a:prstGeom prst="rect">
            <a:avLst/>
          </a:prstGeom>
          <a:noFill/>
          <a:ln/>
        </p:spPr>
        <p:txBody>
          <a:bodyPr wrap="square" lIns="0" tIns="0" rIns="0" bIns="0" rtlCol="0" anchor="t"/>
          <a:lstStyle/>
          <a:p>
            <a:pPr marL="0" indent="0" algn="ctr">
              <a:lnSpc>
                <a:spcPts val="1050"/>
              </a:lnSpc>
              <a:buNone/>
            </a:pPr>
            <a:r>
              <a:rPr lang="en-US" sz="750" b="1" dirty="0">
                <a:solidFill>
                  <a:srgbClr val="1A1F2E"/>
                </a:solidFill>
                <a:latin typeface="Arial" pitchFamily="34" charset="0"/>
                <a:ea typeface="Arial" pitchFamily="34" charset="-122"/>
                <a:cs typeface="Arial" pitchFamily="34" charset="-120"/>
              </a:rPr>
              <a:t>PHI/govt, offline, privacy-first</a:t>
            </a:r>
            <a:endParaRPr lang="en-US" sz="750" dirty="0"/>
          </a:p>
        </p:txBody>
      </p:sp>
      <p:sp>
        <p:nvSpPr>
          <p:cNvPr id="41" name="Text 39"/>
          <p:cNvSpPr/>
          <p:nvPr/>
        </p:nvSpPr>
        <p:spPr>
          <a:xfrm>
            <a:off x="5553124" y="3871913"/>
            <a:ext cx="3106987" cy="133350"/>
          </a:xfrm>
          <a:prstGeom prst="rect">
            <a:avLst/>
          </a:prstGeom>
          <a:noFill/>
          <a:ln/>
        </p:spPr>
        <p:txBody>
          <a:bodyPr wrap="square" lIns="0" tIns="0" rIns="0" bIns="0" rtlCol="0" anchor="t"/>
          <a:lstStyle/>
          <a:p>
            <a:pPr marL="0" indent="0" algn="ctr">
              <a:lnSpc>
                <a:spcPts val="1050"/>
              </a:lnSpc>
              <a:buNone/>
            </a:pPr>
            <a:r>
              <a:rPr lang="en-US" sz="750" b="1" dirty="0">
                <a:solidFill>
                  <a:srgbClr val="1A1F2E"/>
                </a:solidFill>
                <a:latin typeface="Arial" pitchFamily="34" charset="0"/>
                <a:ea typeface="Arial" pitchFamily="34" charset="-122"/>
                <a:cs typeface="Arial" pitchFamily="34" charset="-120"/>
              </a:rPr>
              <a:t>Power users, context-switching</a:t>
            </a:r>
            <a:endParaRPr lang="en-US" sz="750" dirty="0"/>
          </a:p>
        </p:txBody>
      </p:sp>
      <p:sp>
        <p:nvSpPr>
          <p:cNvPr id="42" name="Text 40"/>
          <p:cNvSpPr/>
          <p:nvPr/>
        </p:nvSpPr>
        <p:spPr>
          <a:xfrm>
            <a:off x="381000" y="4329113"/>
            <a:ext cx="4133850" cy="657225"/>
          </a:xfrm>
          <a:prstGeom prst="rect">
            <a:avLst/>
          </a:prstGeom>
          <a:solidFill>
            <a:srgbClr val="059669"/>
          </a:solidFill>
          <a:ln/>
        </p:spPr>
        <p:txBody>
          <a:bodyPr wrap="square" rtlCol="0" anchor="ctr"/>
          <a:lstStyle/>
          <a:p>
            <a:pPr marL="0" indent="0">
              <a:buNone/>
            </a:pPr>
            <a:endParaRPr lang="en-US" dirty="0"/>
          </a:p>
        </p:txBody>
      </p:sp>
      <p:sp>
        <p:nvSpPr>
          <p:cNvPr id="43" name="Text 41"/>
          <p:cNvSpPr/>
          <p:nvPr/>
        </p:nvSpPr>
        <p:spPr>
          <a:xfrm>
            <a:off x="495300" y="4443413"/>
            <a:ext cx="3983355"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FFFFFF"/>
                </a:solidFill>
                <a:latin typeface="Arial" pitchFamily="34" charset="0"/>
                <a:ea typeface="Arial" pitchFamily="34" charset="-122"/>
                <a:cs typeface="Arial" pitchFamily="34" charset="-120"/>
              </a:rPr>
              <a:t>CHOOSE SUPERWHISPER IF:</a:t>
            </a:r>
            <a:endParaRPr lang="en-US" sz="750" dirty="0"/>
          </a:p>
        </p:txBody>
      </p:sp>
      <p:sp>
        <p:nvSpPr>
          <p:cNvPr id="44" name="Text 42"/>
          <p:cNvSpPr/>
          <p:nvPr/>
        </p:nvSpPr>
        <p:spPr>
          <a:xfrm>
            <a:off x="495300" y="4614863"/>
            <a:ext cx="3983355" cy="257175"/>
          </a:xfrm>
          <a:prstGeom prst="rect">
            <a:avLst/>
          </a:prstGeom>
          <a:noFill/>
          <a:ln/>
        </p:spPr>
        <p:txBody>
          <a:bodyPr wrap="square" lIns="0" tIns="0" rIns="0" bIns="0" rtlCol="0" anchor="t"/>
          <a:lstStyle/>
          <a:p>
            <a:pPr marL="0" indent="0" algn="l">
              <a:lnSpc>
                <a:spcPts val="1013"/>
              </a:lnSpc>
              <a:buNone/>
            </a:pPr>
            <a:r>
              <a:rPr lang="en-US" sz="675" dirty="0">
                <a:solidFill>
                  <a:srgbClr val="FFFFFF">
                    <a:alpha val="90000"/>
                  </a:srgbClr>
                </a:solidFill>
                <a:latin typeface="Arial" pitchFamily="34" charset="0"/>
                <a:ea typeface="Arial" pitchFamily="34" charset="-122"/>
                <a:cs typeface="Arial" pitchFamily="34" charset="-120"/>
              </a:rPr>
              <a:t>You handle PHI or sensitive data, need true local processing, want offline capability, or prefer lifetime pricing.</a:t>
            </a:r>
            <a:endParaRPr lang="en-US" sz="675" dirty="0"/>
          </a:p>
        </p:txBody>
      </p:sp>
      <p:sp>
        <p:nvSpPr>
          <p:cNvPr id="45" name="Text 43"/>
          <p:cNvSpPr/>
          <p:nvPr/>
        </p:nvSpPr>
        <p:spPr>
          <a:xfrm>
            <a:off x="4629150" y="4329113"/>
            <a:ext cx="4133850" cy="657225"/>
          </a:xfrm>
          <a:prstGeom prst="rect">
            <a:avLst/>
          </a:prstGeom>
          <a:solidFill>
            <a:srgbClr val="1A1F2E"/>
          </a:solidFill>
          <a:ln/>
        </p:spPr>
        <p:txBody>
          <a:bodyPr wrap="square" rtlCol="0" anchor="ctr"/>
          <a:lstStyle/>
          <a:p>
            <a:pPr marL="0" indent="0">
              <a:buNone/>
            </a:pPr>
            <a:endParaRPr lang="en-US" dirty="0"/>
          </a:p>
        </p:txBody>
      </p:sp>
      <p:sp>
        <p:nvSpPr>
          <p:cNvPr id="46" name="Text 44"/>
          <p:cNvSpPr/>
          <p:nvPr/>
        </p:nvSpPr>
        <p:spPr>
          <a:xfrm>
            <a:off x="4743450" y="4443413"/>
            <a:ext cx="3983355"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C9A227"/>
                </a:solidFill>
                <a:latin typeface="Arial" pitchFamily="34" charset="0"/>
                <a:ea typeface="Arial" pitchFamily="34" charset="-122"/>
                <a:cs typeface="Arial" pitchFamily="34" charset="-120"/>
              </a:rPr>
              <a:t>CHOOSE WISPR FLOW IF:</a:t>
            </a:r>
            <a:endParaRPr lang="en-US" sz="750" dirty="0"/>
          </a:p>
        </p:txBody>
      </p:sp>
      <p:sp>
        <p:nvSpPr>
          <p:cNvPr id="47" name="Text 45"/>
          <p:cNvSpPr/>
          <p:nvPr/>
        </p:nvSpPr>
        <p:spPr>
          <a:xfrm>
            <a:off x="4743450" y="4614863"/>
            <a:ext cx="3983355" cy="257175"/>
          </a:xfrm>
          <a:prstGeom prst="rect">
            <a:avLst/>
          </a:prstGeom>
          <a:noFill/>
          <a:ln/>
        </p:spPr>
        <p:txBody>
          <a:bodyPr wrap="square" lIns="0" tIns="0" rIns="0" bIns="0" rtlCol="0" anchor="t"/>
          <a:lstStyle/>
          <a:p>
            <a:pPr marL="0" indent="0" algn="l">
              <a:lnSpc>
                <a:spcPts val="1013"/>
              </a:lnSpc>
              <a:buNone/>
            </a:pPr>
            <a:r>
              <a:rPr lang="en-US" sz="675" dirty="0">
                <a:solidFill>
                  <a:srgbClr val="FFFFFF">
                    <a:alpha val="80000"/>
                  </a:srgbClr>
                </a:solidFill>
                <a:latin typeface="Arial" pitchFamily="34" charset="0"/>
                <a:ea typeface="Arial" pitchFamily="34" charset="-122"/>
                <a:cs typeface="Arial" pitchFamily="34" charset="-120"/>
              </a:rPr>
              <a:t>You want best-in-class context formatting, always have internet, and can accept cloud processing with zero retention.</a:t>
            </a:r>
            <a:endParaRPr lang="en-US" sz="67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1F2E"/>
        </a:solidFill>
        <a:effectLst/>
      </p:bgPr>
    </p:bg>
    <p:spTree>
      <p:nvGrpSpPr>
        <p:cNvPr id="1" name=""/>
        <p:cNvGrpSpPr/>
        <p:nvPr/>
      </p:nvGrpSpPr>
      <p:grpSpPr>
        <a:xfrm>
          <a:off x="0" y="0"/>
          <a:ext cx="0" cy="0"/>
          <a:chOff x="0" y="0"/>
          <a:chExt cx="0" cy="0"/>
        </a:xfrm>
      </p:grpSpPr>
      <p:sp>
        <p:nvSpPr>
          <p:cNvPr id="2" name="Text 0"/>
          <p:cNvSpPr/>
          <p:nvPr/>
        </p:nvSpPr>
        <p:spPr>
          <a:xfrm>
            <a:off x="381000" y="228600"/>
            <a:ext cx="8549640" cy="133350"/>
          </a:xfrm>
          <a:prstGeom prst="rect">
            <a:avLst/>
          </a:prstGeom>
          <a:noFill/>
          <a:ln/>
        </p:spPr>
        <p:txBody>
          <a:bodyPr wrap="square" lIns="0" tIns="0" rIns="0" bIns="0" rtlCol="0" anchor="t"/>
          <a:lstStyle/>
          <a:p>
            <a:pPr marL="0" indent="0" algn="l">
              <a:lnSpc>
                <a:spcPts val="1050"/>
              </a:lnSpc>
              <a:spcAft>
                <a:spcPts val="300"/>
              </a:spcAft>
              <a:buNone/>
            </a:pPr>
            <a:r>
              <a:rPr lang="en-US" sz="750" dirty="0">
                <a:solidFill>
                  <a:srgbClr val="C9A227"/>
                </a:solidFill>
                <a:latin typeface="Arial" pitchFamily="34" charset="0"/>
                <a:ea typeface="Arial" pitchFamily="34" charset="-122"/>
                <a:cs typeface="Arial" pitchFamily="34" charset="-120"/>
              </a:rPr>
              <a:t>DECISION GUIDE</a:t>
            </a:r>
            <a:endParaRPr lang="en-US" sz="750" dirty="0"/>
          </a:p>
        </p:txBody>
      </p:sp>
      <p:sp>
        <p:nvSpPr>
          <p:cNvPr id="3" name="Text 1"/>
          <p:cNvSpPr/>
          <p:nvPr/>
        </p:nvSpPr>
        <p:spPr>
          <a:xfrm>
            <a:off x="381000" y="400050"/>
            <a:ext cx="4284536" cy="247650"/>
          </a:xfrm>
          <a:prstGeom prst="rect">
            <a:avLst/>
          </a:prstGeom>
          <a:noFill/>
          <a:ln/>
        </p:spPr>
        <p:txBody>
          <a:bodyPr wrap="square" lIns="0" tIns="0" rIns="0" bIns="0" rtlCol="0" anchor="t"/>
          <a:lstStyle/>
          <a:p>
            <a:pPr marL="0" indent="0" algn="l">
              <a:lnSpc>
                <a:spcPts val="1950"/>
              </a:lnSpc>
              <a:buNone/>
            </a:pPr>
            <a:r>
              <a:rPr lang="en-US" sz="1950" dirty="0">
                <a:solidFill>
                  <a:srgbClr val="FFFFFF"/>
                </a:solidFill>
                <a:latin typeface="Georgia" pitchFamily="34" charset="0"/>
                <a:ea typeface="Georgia" pitchFamily="34" charset="-122"/>
                <a:cs typeface="Georgia" pitchFamily="34" charset="-120"/>
              </a:rPr>
              <a:t>Which Voice Tool Should I Use?</a:t>
            </a:r>
            <a:endParaRPr lang="en-US" sz="1950" dirty="0"/>
          </a:p>
        </p:txBody>
      </p:sp>
      <p:sp>
        <p:nvSpPr>
          <p:cNvPr id="4" name="Text 2"/>
          <p:cNvSpPr/>
          <p:nvPr/>
        </p:nvSpPr>
        <p:spPr>
          <a:xfrm>
            <a:off x="2817019" y="1098500"/>
            <a:ext cx="3509963" cy="350490"/>
          </a:xfrm>
          <a:prstGeom prst="rect">
            <a:avLst/>
          </a:prstGeom>
          <a:solidFill>
            <a:srgbClr val="C9A227"/>
          </a:solidFill>
          <a:ln/>
        </p:spPr>
        <p:txBody>
          <a:bodyPr wrap="square" rtlCol="0" anchor="ctr"/>
          <a:lstStyle/>
          <a:p>
            <a:pPr marL="0" indent="0">
              <a:buNone/>
            </a:pPr>
            <a:endParaRPr lang="en-US" dirty="0"/>
          </a:p>
        </p:txBody>
      </p:sp>
      <p:sp>
        <p:nvSpPr>
          <p:cNvPr id="5" name="Text 3"/>
          <p:cNvSpPr/>
          <p:nvPr/>
        </p:nvSpPr>
        <p:spPr>
          <a:xfrm>
            <a:off x="3007519" y="1193750"/>
            <a:ext cx="3191542" cy="159990"/>
          </a:xfrm>
          <a:prstGeom prst="rect">
            <a:avLst/>
          </a:prstGeom>
          <a:noFill/>
          <a:ln/>
        </p:spPr>
        <p:txBody>
          <a:bodyPr wrap="square" lIns="0" tIns="0" rIns="0" bIns="0" rtlCol="0" anchor="t"/>
          <a:lstStyle/>
          <a:p>
            <a:pPr marL="0" indent="0" algn="l">
              <a:lnSpc>
                <a:spcPts val="1260"/>
              </a:lnSpc>
              <a:buNone/>
            </a:pPr>
            <a:r>
              <a:rPr lang="en-US" sz="900" b="1" dirty="0">
                <a:solidFill>
                  <a:srgbClr val="1A1F2E"/>
                </a:solidFill>
                <a:latin typeface="Arial" pitchFamily="34" charset="0"/>
                <a:ea typeface="Arial" pitchFamily="34" charset="-122"/>
                <a:cs typeface="Arial" pitchFamily="34" charset="-120"/>
              </a:rPr>
              <a:t>START: Do you handle PHI or sensitive government data?</a:t>
            </a:r>
            <a:endParaRPr lang="en-US" sz="900" dirty="0"/>
          </a:p>
        </p:txBody>
      </p:sp>
      <p:sp>
        <p:nvSpPr>
          <p:cNvPr id="6" name="Text 4"/>
          <p:cNvSpPr/>
          <p:nvPr/>
        </p:nvSpPr>
        <p:spPr>
          <a:xfrm>
            <a:off x="381000" y="1715691"/>
            <a:ext cx="4095750" cy="298996"/>
          </a:xfrm>
          <a:prstGeom prst="rect">
            <a:avLst/>
          </a:prstGeom>
          <a:solidFill>
            <a:srgbClr val="059669"/>
          </a:solidFill>
          <a:ln/>
        </p:spPr>
        <p:txBody>
          <a:bodyPr wrap="square" rtlCol="0" anchor="ctr"/>
          <a:lstStyle/>
          <a:p>
            <a:pPr marL="0" indent="0">
              <a:buNone/>
            </a:pPr>
            <a:endParaRPr lang="en-US" dirty="0"/>
          </a:p>
        </p:txBody>
      </p:sp>
      <p:sp>
        <p:nvSpPr>
          <p:cNvPr id="7" name="Text 5"/>
          <p:cNvSpPr/>
          <p:nvPr/>
        </p:nvSpPr>
        <p:spPr>
          <a:xfrm>
            <a:off x="417767" y="1791891"/>
            <a:ext cx="4022217" cy="146596"/>
          </a:xfrm>
          <a:prstGeom prst="rect">
            <a:avLst/>
          </a:prstGeom>
          <a:noFill/>
          <a:ln/>
        </p:spPr>
        <p:txBody>
          <a:bodyPr wrap="square" lIns="0" tIns="0" rIns="0" bIns="0" rtlCol="0" anchor="t"/>
          <a:lstStyle/>
          <a:p>
            <a:pPr marL="0" indent="0" algn="ctr">
              <a:lnSpc>
                <a:spcPts val="1155"/>
              </a:lnSpc>
              <a:buNone/>
            </a:pPr>
            <a:r>
              <a:rPr lang="en-US" sz="825" b="1" dirty="0">
                <a:solidFill>
                  <a:srgbClr val="FFFFFF"/>
                </a:solidFill>
                <a:latin typeface="Arial" pitchFamily="34" charset="0"/>
                <a:ea typeface="Arial" pitchFamily="34" charset="-122"/>
                <a:cs typeface="Arial" pitchFamily="34" charset="-120"/>
              </a:rPr>
              <a:t>YES - Need Local Processing</a:t>
            </a:r>
            <a:endParaRPr lang="en-US" sz="825" dirty="0"/>
          </a:p>
        </p:txBody>
      </p:sp>
      <p:sp>
        <p:nvSpPr>
          <p:cNvPr id="8" name="Text 6"/>
          <p:cNvSpPr/>
          <p:nvPr/>
        </p:nvSpPr>
        <p:spPr>
          <a:xfrm>
            <a:off x="381000" y="2262336"/>
            <a:ext cx="4095750" cy="615255"/>
          </a:xfrm>
          <a:prstGeom prst="rect">
            <a:avLst/>
          </a:prstGeom>
          <a:solidFill>
            <a:srgbClr val="252B3D"/>
          </a:solidFill>
          <a:ln/>
        </p:spPr>
        <p:txBody>
          <a:bodyPr wrap="square" rtlCol="0" anchor="ctr"/>
          <a:lstStyle/>
          <a:p>
            <a:pPr marL="0" indent="0">
              <a:buNone/>
            </a:pPr>
            <a:endParaRPr lang="en-US" dirty="0"/>
          </a:p>
        </p:txBody>
      </p:sp>
      <p:sp>
        <p:nvSpPr>
          <p:cNvPr id="9" name="Text 7"/>
          <p:cNvSpPr/>
          <p:nvPr/>
        </p:nvSpPr>
        <p:spPr>
          <a:xfrm>
            <a:off x="476250" y="2357586"/>
            <a:ext cx="3983355" cy="133350"/>
          </a:xfrm>
          <a:prstGeom prst="rect">
            <a:avLst/>
          </a:prstGeom>
          <a:noFill/>
          <a:ln/>
        </p:spPr>
        <p:txBody>
          <a:bodyPr wrap="square" lIns="0" tIns="0" rIns="0" bIns="0" rtlCol="0" anchor="t"/>
          <a:lstStyle/>
          <a:p>
            <a:pPr marL="0" indent="0" algn="l">
              <a:lnSpc>
                <a:spcPts val="1050"/>
              </a:lnSpc>
              <a:spcAft>
                <a:spcPts val="450"/>
              </a:spcAft>
              <a:buNone/>
            </a:pPr>
            <a:r>
              <a:rPr lang="en-US" sz="750" dirty="0">
                <a:solidFill>
                  <a:srgbClr val="C9A227"/>
                </a:solidFill>
                <a:latin typeface="Arial" pitchFamily="34" charset="0"/>
                <a:ea typeface="Arial" pitchFamily="34" charset="-122"/>
                <a:cs typeface="Arial" pitchFamily="34" charset="-120"/>
              </a:rPr>
              <a:t>What's your platform?</a:t>
            </a:r>
            <a:endParaRPr lang="en-US" sz="750" dirty="0"/>
          </a:p>
        </p:txBody>
      </p:sp>
      <p:sp>
        <p:nvSpPr>
          <p:cNvPr id="10" name="Text 8"/>
          <p:cNvSpPr/>
          <p:nvPr/>
        </p:nvSpPr>
        <p:spPr>
          <a:xfrm>
            <a:off x="476250" y="2548086"/>
            <a:ext cx="1263700" cy="234255"/>
          </a:xfrm>
          <a:prstGeom prst="rect">
            <a:avLst/>
          </a:prstGeom>
          <a:solidFill>
            <a:srgbClr val="C9A227">
              <a:alpha val="10000"/>
            </a:srgbClr>
          </a:solidFill>
          <a:ln/>
        </p:spPr>
        <p:txBody>
          <a:bodyPr wrap="square" rtlCol="0" anchor="ctr"/>
          <a:lstStyle/>
          <a:p>
            <a:pPr marL="0" indent="0">
              <a:buNone/>
            </a:pPr>
            <a:endParaRPr lang="en-US" dirty="0"/>
          </a:p>
        </p:txBody>
      </p:sp>
      <p:sp>
        <p:nvSpPr>
          <p:cNvPr id="11" name="Text 9"/>
          <p:cNvSpPr/>
          <p:nvPr/>
        </p:nvSpPr>
        <p:spPr>
          <a:xfrm>
            <a:off x="521906" y="2605236"/>
            <a:ext cx="1172388" cy="119955"/>
          </a:xfrm>
          <a:prstGeom prst="rect">
            <a:avLst/>
          </a:prstGeom>
          <a:noFill/>
          <a:ln/>
        </p:spPr>
        <p:txBody>
          <a:bodyPr wrap="square" lIns="0" tIns="0" rIns="0" bIns="0" rtlCol="0" anchor="t"/>
          <a:lstStyle/>
          <a:p>
            <a:pPr marL="0" indent="0" algn="ctr">
              <a:lnSpc>
                <a:spcPts val="945"/>
              </a:lnSpc>
              <a:buNone/>
            </a:pPr>
            <a:r>
              <a:rPr lang="en-US" sz="675" dirty="0">
                <a:solidFill>
                  <a:srgbClr val="FFFFFF"/>
                </a:solidFill>
                <a:latin typeface="Arial" pitchFamily="34" charset="0"/>
                <a:ea typeface="Arial" pitchFamily="34" charset="-122"/>
                <a:cs typeface="Arial" pitchFamily="34" charset="-120"/>
              </a:rPr>
              <a:t>Mac</a:t>
            </a:r>
            <a:endParaRPr lang="en-US" sz="675" dirty="0"/>
          </a:p>
        </p:txBody>
      </p:sp>
      <p:sp>
        <p:nvSpPr>
          <p:cNvPr id="12" name="Text 10"/>
          <p:cNvSpPr/>
          <p:nvPr/>
        </p:nvSpPr>
        <p:spPr>
          <a:xfrm>
            <a:off x="1797100" y="2548086"/>
            <a:ext cx="1263700" cy="234255"/>
          </a:xfrm>
          <a:prstGeom prst="rect">
            <a:avLst/>
          </a:prstGeom>
          <a:solidFill>
            <a:srgbClr val="C9A227">
              <a:alpha val="10000"/>
            </a:srgbClr>
          </a:solidFill>
          <a:ln/>
        </p:spPr>
        <p:txBody>
          <a:bodyPr wrap="square" rtlCol="0" anchor="ctr"/>
          <a:lstStyle/>
          <a:p>
            <a:pPr marL="0" indent="0">
              <a:buNone/>
            </a:pPr>
            <a:endParaRPr lang="en-US" dirty="0"/>
          </a:p>
        </p:txBody>
      </p:sp>
      <p:sp>
        <p:nvSpPr>
          <p:cNvPr id="13" name="Text 11"/>
          <p:cNvSpPr/>
          <p:nvPr/>
        </p:nvSpPr>
        <p:spPr>
          <a:xfrm>
            <a:off x="1842756" y="2605236"/>
            <a:ext cx="1172388" cy="119955"/>
          </a:xfrm>
          <a:prstGeom prst="rect">
            <a:avLst/>
          </a:prstGeom>
          <a:noFill/>
          <a:ln/>
        </p:spPr>
        <p:txBody>
          <a:bodyPr wrap="square" lIns="0" tIns="0" rIns="0" bIns="0" rtlCol="0" anchor="t"/>
          <a:lstStyle/>
          <a:p>
            <a:pPr marL="0" indent="0" algn="ctr">
              <a:lnSpc>
                <a:spcPts val="945"/>
              </a:lnSpc>
              <a:buNone/>
            </a:pPr>
            <a:r>
              <a:rPr lang="en-US" sz="675" dirty="0">
                <a:solidFill>
                  <a:srgbClr val="FFFFFF"/>
                </a:solidFill>
                <a:latin typeface="Arial" pitchFamily="34" charset="0"/>
                <a:ea typeface="Arial" pitchFamily="34" charset="-122"/>
                <a:cs typeface="Arial" pitchFamily="34" charset="-120"/>
              </a:rPr>
              <a:t>Windows</a:t>
            </a:r>
            <a:endParaRPr lang="en-US" sz="675" dirty="0"/>
          </a:p>
        </p:txBody>
      </p:sp>
      <p:sp>
        <p:nvSpPr>
          <p:cNvPr id="14" name="Text 12"/>
          <p:cNvSpPr/>
          <p:nvPr/>
        </p:nvSpPr>
        <p:spPr>
          <a:xfrm>
            <a:off x="3117949" y="2548086"/>
            <a:ext cx="1263700" cy="234255"/>
          </a:xfrm>
          <a:prstGeom prst="rect">
            <a:avLst/>
          </a:prstGeom>
          <a:solidFill>
            <a:srgbClr val="C9A227">
              <a:alpha val="10000"/>
            </a:srgbClr>
          </a:solidFill>
          <a:ln/>
        </p:spPr>
        <p:txBody>
          <a:bodyPr wrap="square" rtlCol="0" anchor="ctr"/>
          <a:lstStyle/>
          <a:p>
            <a:pPr marL="0" indent="0">
              <a:buNone/>
            </a:pPr>
            <a:endParaRPr lang="en-US" dirty="0"/>
          </a:p>
        </p:txBody>
      </p:sp>
      <p:sp>
        <p:nvSpPr>
          <p:cNvPr id="15" name="Text 13"/>
          <p:cNvSpPr/>
          <p:nvPr/>
        </p:nvSpPr>
        <p:spPr>
          <a:xfrm>
            <a:off x="3163605" y="2605236"/>
            <a:ext cx="1172388" cy="119955"/>
          </a:xfrm>
          <a:prstGeom prst="rect">
            <a:avLst/>
          </a:prstGeom>
          <a:noFill/>
          <a:ln/>
        </p:spPr>
        <p:txBody>
          <a:bodyPr wrap="square" lIns="0" tIns="0" rIns="0" bIns="0" rtlCol="0" anchor="t"/>
          <a:lstStyle/>
          <a:p>
            <a:pPr marL="0" indent="0" algn="ctr">
              <a:lnSpc>
                <a:spcPts val="945"/>
              </a:lnSpc>
              <a:buNone/>
            </a:pPr>
            <a:r>
              <a:rPr lang="en-US" sz="675" dirty="0">
                <a:solidFill>
                  <a:srgbClr val="FFFFFF"/>
                </a:solidFill>
                <a:latin typeface="Arial" pitchFamily="34" charset="0"/>
                <a:ea typeface="Arial" pitchFamily="34" charset="-122"/>
                <a:cs typeface="Arial" pitchFamily="34" charset="-120"/>
              </a:rPr>
              <a:t>Linux</a:t>
            </a:r>
            <a:endParaRPr lang="en-US" sz="675" dirty="0"/>
          </a:p>
        </p:txBody>
      </p:sp>
      <p:sp>
        <p:nvSpPr>
          <p:cNvPr id="16" name="Text 14"/>
          <p:cNvSpPr/>
          <p:nvPr/>
        </p:nvSpPr>
        <p:spPr>
          <a:xfrm>
            <a:off x="381000" y="3125242"/>
            <a:ext cx="2019300" cy="462707"/>
          </a:xfrm>
          <a:prstGeom prst="rect">
            <a:avLst/>
          </a:prstGeom>
          <a:solidFill>
            <a:srgbClr val="059669"/>
          </a:solidFill>
          <a:ln/>
        </p:spPr>
        <p:txBody>
          <a:bodyPr wrap="square" rtlCol="0" anchor="ctr"/>
          <a:lstStyle/>
          <a:p>
            <a:pPr marL="0" indent="0">
              <a:buNone/>
            </a:pPr>
            <a:endParaRPr lang="en-US" dirty="0"/>
          </a:p>
        </p:txBody>
      </p:sp>
      <p:sp>
        <p:nvSpPr>
          <p:cNvPr id="17" name="Text 15"/>
          <p:cNvSpPr/>
          <p:nvPr/>
        </p:nvSpPr>
        <p:spPr>
          <a:xfrm>
            <a:off x="457962" y="3220492"/>
            <a:ext cx="1865376" cy="146596"/>
          </a:xfrm>
          <a:prstGeom prst="rect">
            <a:avLst/>
          </a:prstGeom>
          <a:noFill/>
          <a:ln/>
        </p:spPr>
        <p:txBody>
          <a:bodyPr wrap="square" lIns="0" tIns="0" rIns="0" bIns="0" rtlCol="0" anchor="t"/>
          <a:lstStyle/>
          <a:p>
            <a:pPr marL="0" indent="0" algn="ctr">
              <a:lnSpc>
                <a:spcPts val="1155"/>
              </a:lnSpc>
              <a:spcAft>
                <a:spcPts val="150"/>
              </a:spcAft>
              <a:buNone/>
            </a:pPr>
            <a:r>
              <a:rPr lang="en-US" sz="825" b="1" dirty="0">
                <a:solidFill>
                  <a:srgbClr val="FFFFFF"/>
                </a:solidFill>
                <a:latin typeface="Arial" pitchFamily="34" charset="0"/>
                <a:ea typeface="Arial" pitchFamily="34" charset="-122"/>
                <a:cs typeface="Arial" pitchFamily="34" charset="-120"/>
              </a:rPr>
              <a:t>SuperWhisper</a:t>
            </a:r>
            <a:endParaRPr lang="en-US" sz="825" dirty="0"/>
          </a:p>
        </p:txBody>
      </p:sp>
      <p:sp>
        <p:nvSpPr>
          <p:cNvPr id="18" name="Text 16"/>
          <p:cNvSpPr/>
          <p:nvPr/>
        </p:nvSpPr>
        <p:spPr>
          <a:xfrm>
            <a:off x="457962" y="3386138"/>
            <a:ext cx="1865376" cy="106561"/>
          </a:xfrm>
          <a:prstGeom prst="rect">
            <a:avLst/>
          </a:prstGeom>
          <a:noFill/>
          <a:ln/>
        </p:spPr>
        <p:txBody>
          <a:bodyPr wrap="square" lIns="0" tIns="0" rIns="0" bIns="0" rtlCol="0" anchor="t"/>
          <a:lstStyle/>
          <a:p>
            <a:pPr marL="0" indent="0" algn="ctr">
              <a:lnSpc>
                <a:spcPts val="840"/>
              </a:lnSpc>
              <a:buNone/>
            </a:pPr>
            <a:r>
              <a:rPr lang="en-US" sz="600" dirty="0">
                <a:solidFill>
                  <a:srgbClr val="FFFFFF">
                    <a:alpha val="80000"/>
                  </a:srgbClr>
                </a:solidFill>
                <a:latin typeface="Arial" pitchFamily="34" charset="0"/>
                <a:ea typeface="Arial" pitchFamily="34" charset="-122"/>
                <a:cs typeface="Arial" pitchFamily="34" charset="-120"/>
              </a:rPr>
              <a:t>Mac/Windows</a:t>
            </a:r>
            <a:endParaRPr lang="en-US" sz="600" dirty="0"/>
          </a:p>
        </p:txBody>
      </p:sp>
      <p:sp>
        <p:nvSpPr>
          <p:cNvPr id="19" name="Text 17"/>
          <p:cNvSpPr/>
          <p:nvPr/>
        </p:nvSpPr>
        <p:spPr>
          <a:xfrm>
            <a:off x="2457450" y="3125242"/>
            <a:ext cx="2019300" cy="462707"/>
          </a:xfrm>
          <a:prstGeom prst="rect">
            <a:avLst/>
          </a:prstGeom>
          <a:solidFill>
            <a:srgbClr val="059669"/>
          </a:solidFill>
          <a:ln/>
        </p:spPr>
        <p:txBody>
          <a:bodyPr wrap="square" rtlCol="0" anchor="ctr"/>
          <a:lstStyle/>
          <a:p>
            <a:pPr marL="0" indent="0">
              <a:buNone/>
            </a:pPr>
            <a:endParaRPr lang="en-US" dirty="0"/>
          </a:p>
        </p:txBody>
      </p:sp>
      <p:sp>
        <p:nvSpPr>
          <p:cNvPr id="20" name="Text 18"/>
          <p:cNvSpPr/>
          <p:nvPr/>
        </p:nvSpPr>
        <p:spPr>
          <a:xfrm>
            <a:off x="2534412" y="3220492"/>
            <a:ext cx="1865376" cy="146596"/>
          </a:xfrm>
          <a:prstGeom prst="rect">
            <a:avLst/>
          </a:prstGeom>
          <a:noFill/>
          <a:ln/>
        </p:spPr>
        <p:txBody>
          <a:bodyPr wrap="square" lIns="0" tIns="0" rIns="0" bIns="0" rtlCol="0" anchor="t"/>
          <a:lstStyle/>
          <a:p>
            <a:pPr marL="0" indent="0" algn="ctr">
              <a:lnSpc>
                <a:spcPts val="1155"/>
              </a:lnSpc>
              <a:spcAft>
                <a:spcPts val="150"/>
              </a:spcAft>
              <a:buNone/>
            </a:pPr>
            <a:r>
              <a:rPr lang="en-US" sz="825" b="1" dirty="0">
                <a:solidFill>
                  <a:srgbClr val="FFFFFF"/>
                </a:solidFill>
                <a:latin typeface="Arial" pitchFamily="34" charset="0"/>
                <a:ea typeface="Arial" pitchFamily="34" charset="-122"/>
                <a:cs typeface="Arial" pitchFamily="34" charset="-120"/>
              </a:rPr>
              <a:t>Wispr Flow</a:t>
            </a:r>
            <a:endParaRPr lang="en-US" sz="825" dirty="0"/>
          </a:p>
        </p:txBody>
      </p:sp>
      <p:sp>
        <p:nvSpPr>
          <p:cNvPr id="21" name="Text 19"/>
          <p:cNvSpPr/>
          <p:nvPr/>
        </p:nvSpPr>
        <p:spPr>
          <a:xfrm>
            <a:off x="2534412" y="3386138"/>
            <a:ext cx="1865376" cy="106561"/>
          </a:xfrm>
          <a:prstGeom prst="rect">
            <a:avLst/>
          </a:prstGeom>
          <a:noFill/>
          <a:ln/>
        </p:spPr>
        <p:txBody>
          <a:bodyPr wrap="square" lIns="0" tIns="0" rIns="0" bIns="0" rtlCol="0" anchor="t"/>
          <a:lstStyle/>
          <a:p>
            <a:pPr marL="0" indent="0" algn="ctr">
              <a:lnSpc>
                <a:spcPts val="840"/>
              </a:lnSpc>
              <a:buNone/>
            </a:pPr>
            <a:r>
              <a:rPr lang="en-US" sz="600" dirty="0">
                <a:solidFill>
                  <a:srgbClr val="FFFFFF">
                    <a:alpha val="80000"/>
                  </a:srgbClr>
                </a:solidFill>
                <a:latin typeface="Arial" pitchFamily="34" charset="0"/>
                <a:ea typeface="Arial" pitchFamily="34" charset="-122"/>
                <a:cs typeface="Arial" pitchFamily="34" charset="-120"/>
              </a:rPr>
              <a:t>Privacy Mode ON</a:t>
            </a:r>
            <a:endParaRPr lang="en-US" sz="600" dirty="0"/>
          </a:p>
        </p:txBody>
      </p:sp>
      <p:sp>
        <p:nvSpPr>
          <p:cNvPr id="22" name="Text 20"/>
          <p:cNvSpPr/>
          <p:nvPr/>
        </p:nvSpPr>
        <p:spPr>
          <a:xfrm>
            <a:off x="381000" y="3835598"/>
            <a:ext cx="4095750" cy="272355"/>
          </a:xfrm>
          <a:prstGeom prst="rect">
            <a:avLst/>
          </a:prstGeom>
          <a:solidFill>
            <a:srgbClr val="FEF3C7"/>
          </a:solidFill>
          <a:ln/>
        </p:spPr>
        <p:txBody>
          <a:bodyPr wrap="square" rtlCol="0" anchor="ctr"/>
          <a:lstStyle/>
          <a:p>
            <a:pPr marL="0" indent="0">
              <a:buNone/>
            </a:pPr>
            <a:endParaRPr lang="en-US" dirty="0"/>
          </a:p>
        </p:txBody>
      </p:sp>
      <p:sp>
        <p:nvSpPr>
          <p:cNvPr id="23" name="Text 21"/>
          <p:cNvSpPr/>
          <p:nvPr/>
        </p:nvSpPr>
        <p:spPr>
          <a:xfrm>
            <a:off x="417767" y="3911798"/>
            <a:ext cx="4022217" cy="119955"/>
          </a:xfrm>
          <a:prstGeom prst="rect">
            <a:avLst/>
          </a:prstGeom>
          <a:noFill/>
          <a:ln/>
        </p:spPr>
        <p:txBody>
          <a:bodyPr wrap="square" lIns="0" tIns="0" rIns="0" bIns="0" rtlCol="0" anchor="t"/>
          <a:lstStyle/>
          <a:p>
            <a:pPr marL="0" indent="0" algn="ctr">
              <a:lnSpc>
                <a:spcPts val="945"/>
              </a:lnSpc>
              <a:buNone/>
            </a:pPr>
            <a:r>
              <a:rPr lang="en-US" sz="675" b="1" dirty="0">
                <a:solidFill>
                  <a:srgbClr val="92400E"/>
                </a:solidFill>
                <a:latin typeface="Arial" pitchFamily="34" charset="0"/>
                <a:ea typeface="Arial" pitchFamily="34" charset="-122"/>
                <a:cs typeface="Arial" pitchFamily="34" charset="-120"/>
              </a:rPr>
              <a:t>Linux only:</a:t>
            </a:r>
            <a:r>
              <a:rPr lang="en-US" sz="675" dirty="0">
                <a:solidFill>
                  <a:srgbClr val="92400E"/>
                </a:solidFill>
                <a:latin typeface="Arial" pitchFamily="34" charset="0"/>
                <a:ea typeface="Arial" pitchFamily="34" charset="-122"/>
                <a:cs typeface="Arial" pitchFamily="34" charset="-120"/>
              </a:rPr>
              <a:t> Use Wispr Flow with Privacy Mode</a:t>
            </a:r>
            <a:endParaRPr lang="en-US" sz="675" dirty="0"/>
          </a:p>
        </p:txBody>
      </p:sp>
      <p:sp>
        <p:nvSpPr>
          <p:cNvPr id="24" name="Text 22"/>
          <p:cNvSpPr/>
          <p:nvPr/>
        </p:nvSpPr>
        <p:spPr>
          <a:xfrm>
            <a:off x="4667250" y="1715691"/>
            <a:ext cx="4095750" cy="298996"/>
          </a:xfrm>
          <a:prstGeom prst="rect">
            <a:avLst/>
          </a:prstGeom>
          <a:solidFill>
            <a:srgbClr val="6B7280"/>
          </a:solidFill>
          <a:ln/>
        </p:spPr>
        <p:txBody>
          <a:bodyPr wrap="square" rtlCol="0" anchor="ctr"/>
          <a:lstStyle/>
          <a:p>
            <a:pPr marL="0" indent="0">
              <a:buNone/>
            </a:pPr>
            <a:endParaRPr lang="en-US" dirty="0"/>
          </a:p>
        </p:txBody>
      </p:sp>
      <p:sp>
        <p:nvSpPr>
          <p:cNvPr id="25" name="Text 23"/>
          <p:cNvSpPr/>
          <p:nvPr/>
        </p:nvSpPr>
        <p:spPr>
          <a:xfrm>
            <a:off x="4704017" y="1791891"/>
            <a:ext cx="4022217" cy="146596"/>
          </a:xfrm>
          <a:prstGeom prst="rect">
            <a:avLst/>
          </a:prstGeom>
          <a:noFill/>
          <a:ln/>
        </p:spPr>
        <p:txBody>
          <a:bodyPr wrap="square" lIns="0" tIns="0" rIns="0" bIns="0" rtlCol="0" anchor="t"/>
          <a:lstStyle/>
          <a:p>
            <a:pPr marL="0" indent="0" algn="ctr">
              <a:lnSpc>
                <a:spcPts val="1155"/>
              </a:lnSpc>
              <a:buNone/>
            </a:pPr>
            <a:r>
              <a:rPr lang="en-US" sz="825" b="1" dirty="0">
                <a:solidFill>
                  <a:srgbClr val="FFFFFF"/>
                </a:solidFill>
                <a:latin typeface="Arial" pitchFamily="34" charset="0"/>
                <a:ea typeface="Arial" pitchFamily="34" charset="-122"/>
                <a:cs typeface="Arial" pitchFamily="34" charset="-120"/>
              </a:rPr>
              <a:t>NO - Cloud OK</a:t>
            </a:r>
            <a:endParaRPr lang="en-US" sz="825" dirty="0"/>
          </a:p>
        </p:txBody>
      </p:sp>
      <p:sp>
        <p:nvSpPr>
          <p:cNvPr id="26" name="Text 24"/>
          <p:cNvSpPr/>
          <p:nvPr/>
        </p:nvSpPr>
        <p:spPr>
          <a:xfrm>
            <a:off x="4667250" y="2262336"/>
            <a:ext cx="4095750" cy="615255"/>
          </a:xfrm>
          <a:prstGeom prst="rect">
            <a:avLst/>
          </a:prstGeom>
          <a:solidFill>
            <a:srgbClr val="252B3D"/>
          </a:solidFill>
          <a:ln/>
        </p:spPr>
        <p:txBody>
          <a:bodyPr wrap="square" rtlCol="0" anchor="ctr"/>
          <a:lstStyle/>
          <a:p>
            <a:pPr marL="0" indent="0">
              <a:buNone/>
            </a:pPr>
            <a:endParaRPr lang="en-US" dirty="0"/>
          </a:p>
        </p:txBody>
      </p:sp>
      <p:sp>
        <p:nvSpPr>
          <p:cNvPr id="27" name="Text 25"/>
          <p:cNvSpPr/>
          <p:nvPr/>
        </p:nvSpPr>
        <p:spPr>
          <a:xfrm>
            <a:off x="4762500" y="2357586"/>
            <a:ext cx="3983355" cy="133350"/>
          </a:xfrm>
          <a:prstGeom prst="rect">
            <a:avLst/>
          </a:prstGeom>
          <a:noFill/>
          <a:ln/>
        </p:spPr>
        <p:txBody>
          <a:bodyPr wrap="square" lIns="0" tIns="0" rIns="0" bIns="0" rtlCol="0" anchor="t"/>
          <a:lstStyle/>
          <a:p>
            <a:pPr marL="0" indent="0" algn="l">
              <a:lnSpc>
                <a:spcPts val="1050"/>
              </a:lnSpc>
              <a:spcAft>
                <a:spcPts val="450"/>
              </a:spcAft>
              <a:buNone/>
            </a:pPr>
            <a:r>
              <a:rPr lang="en-US" sz="750" dirty="0">
                <a:solidFill>
                  <a:srgbClr val="C9A227"/>
                </a:solidFill>
                <a:latin typeface="Arial" pitchFamily="34" charset="0"/>
                <a:ea typeface="Arial" pitchFamily="34" charset="-122"/>
                <a:cs typeface="Arial" pitchFamily="34" charset="-120"/>
              </a:rPr>
              <a:t>What features do you need?</a:t>
            </a:r>
            <a:endParaRPr lang="en-US" sz="750" dirty="0"/>
          </a:p>
        </p:txBody>
      </p:sp>
      <p:sp>
        <p:nvSpPr>
          <p:cNvPr id="28" name="Text 26"/>
          <p:cNvSpPr/>
          <p:nvPr/>
        </p:nvSpPr>
        <p:spPr>
          <a:xfrm>
            <a:off x="4762500" y="2548086"/>
            <a:ext cx="1263700" cy="234255"/>
          </a:xfrm>
          <a:prstGeom prst="rect">
            <a:avLst/>
          </a:prstGeom>
          <a:solidFill>
            <a:srgbClr val="C9A227">
              <a:alpha val="10000"/>
            </a:srgbClr>
          </a:solidFill>
          <a:ln/>
        </p:spPr>
        <p:txBody>
          <a:bodyPr wrap="square" rtlCol="0" anchor="ctr"/>
          <a:lstStyle/>
          <a:p>
            <a:pPr marL="0" indent="0">
              <a:buNone/>
            </a:pPr>
            <a:endParaRPr lang="en-US" dirty="0"/>
          </a:p>
        </p:txBody>
      </p:sp>
      <p:sp>
        <p:nvSpPr>
          <p:cNvPr id="29" name="Text 27"/>
          <p:cNvSpPr/>
          <p:nvPr/>
        </p:nvSpPr>
        <p:spPr>
          <a:xfrm>
            <a:off x="4808156" y="2605236"/>
            <a:ext cx="1172388" cy="119955"/>
          </a:xfrm>
          <a:prstGeom prst="rect">
            <a:avLst/>
          </a:prstGeom>
          <a:noFill/>
          <a:ln/>
        </p:spPr>
        <p:txBody>
          <a:bodyPr wrap="square" lIns="0" tIns="0" rIns="0" bIns="0" rtlCol="0" anchor="t"/>
          <a:lstStyle/>
          <a:p>
            <a:pPr marL="0" indent="0" algn="ctr">
              <a:lnSpc>
                <a:spcPts val="945"/>
              </a:lnSpc>
              <a:buNone/>
            </a:pPr>
            <a:r>
              <a:rPr lang="en-US" sz="675" dirty="0">
                <a:solidFill>
                  <a:srgbClr val="FFFFFF"/>
                </a:solidFill>
                <a:latin typeface="Arial" pitchFamily="34" charset="0"/>
                <a:ea typeface="Arial" pitchFamily="34" charset="-122"/>
                <a:cs typeface="Arial" pitchFamily="34" charset="-120"/>
              </a:rPr>
              <a:t>Basic</a:t>
            </a:r>
            <a:endParaRPr lang="en-US" sz="675" dirty="0"/>
          </a:p>
        </p:txBody>
      </p:sp>
      <p:sp>
        <p:nvSpPr>
          <p:cNvPr id="30" name="Text 28"/>
          <p:cNvSpPr/>
          <p:nvPr/>
        </p:nvSpPr>
        <p:spPr>
          <a:xfrm>
            <a:off x="6083350" y="2548086"/>
            <a:ext cx="1263700" cy="234255"/>
          </a:xfrm>
          <a:prstGeom prst="rect">
            <a:avLst/>
          </a:prstGeom>
          <a:solidFill>
            <a:srgbClr val="C9A227">
              <a:alpha val="10000"/>
            </a:srgbClr>
          </a:solidFill>
          <a:ln/>
        </p:spPr>
        <p:txBody>
          <a:bodyPr wrap="square" rtlCol="0" anchor="ctr"/>
          <a:lstStyle/>
          <a:p>
            <a:pPr marL="0" indent="0">
              <a:buNone/>
            </a:pPr>
            <a:endParaRPr lang="en-US" dirty="0"/>
          </a:p>
        </p:txBody>
      </p:sp>
      <p:sp>
        <p:nvSpPr>
          <p:cNvPr id="31" name="Text 29"/>
          <p:cNvSpPr/>
          <p:nvPr/>
        </p:nvSpPr>
        <p:spPr>
          <a:xfrm>
            <a:off x="6129006" y="2605236"/>
            <a:ext cx="1172388" cy="119955"/>
          </a:xfrm>
          <a:prstGeom prst="rect">
            <a:avLst/>
          </a:prstGeom>
          <a:noFill/>
          <a:ln/>
        </p:spPr>
        <p:txBody>
          <a:bodyPr wrap="square" lIns="0" tIns="0" rIns="0" bIns="0" rtlCol="0" anchor="t"/>
          <a:lstStyle/>
          <a:p>
            <a:pPr marL="0" indent="0" algn="ctr">
              <a:lnSpc>
                <a:spcPts val="945"/>
              </a:lnSpc>
              <a:buNone/>
            </a:pPr>
            <a:r>
              <a:rPr lang="en-US" sz="675" dirty="0">
                <a:solidFill>
                  <a:srgbClr val="FFFFFF"/>
                </a:solidFill>
                <a:latin typeface="Arial" pitchFamily="34" charset="0"/>
                <a:ea typeface="Arial" pitchFamily="34" charset="-122"/>
                <a:cs typeface="Arial" pitchFamily="34" charset="-120"/>
              </a:rPr>
              <a:t>Context</a:t>
            </a:r>
            <a:endParaRPr lang="en-US" sz="675" dirty="0"/>
          </a:p>
        </p:txBody>
      </p:sp>
      <p:sp>
        <p:nvSpPr>
          <p:cNvPr id="32" name="Text 30"/>
          <p:cNvSpPr/>
          <p:nvPr/>
        </p:nvSpPr>
        <p:spPr>
          <a:xfrm>
            <a:off x="7404199" y="2548086"/>
            <a:ext cx="1263700" cy="234255"/>
          </a:xfrm>
          <a:prstGeom prst="rect">
            <a:avLst/>
          </a:prstGeom>
          <a:solidFill>
            <a:srgbClr val="C9A227">
              <a:alpha val="10000"/>
            </a:srgbClr>
          </a:solidFill>
          <a:ln/>
        </p:spPr>
        <p:txBody>
          <a:bodyPr wrap="square" rtlCol="0" anchor="ctr"/>
          <a:lstStyle/>
          <a:p>
            <a:pPr marL="0" indent="0">
              <a:buNone/>
            </a:pPr>
            <a:endParaRPr lang="en-US" dirty="0"/>
          </a:p>
        </p:txBody>
      </p:sp>
      <p:sp>
        <p:nvSpPr>
          <p:cNvPr id="33" name="Text 31"/>
          <p:cNvSpPr/>
          <p:nvPr/>
        </p:nvSpPr>
        <p:spPr>
          <a:xfrm>
            <a:off x="7449855" y="2605236"/>
            <a:ext cx="1172388" cy="119955"/>
          </a:xfrm>
          <a:prstGeom prst="rect">
            <a:avLst/>
          </a:prstGeom>
          <a:noFill/>
          <a:ln/>
        </p:spPr>
        <p:txBody>
          <a:bodyPr wrap="square" lIns="0" tIns="0" rIns="0" bIns="0" rtlCol="0" anchor="t"/>
          <a:lstStyle/>
          <a:p>
            <a:pPr marL="0" indent="0" algn="ctr">
              <a:lnSpc>
                <a:spcPts val="945"/>
              </a:lnSpc>
              <a:buNone/>
            </a:pPr>
            <a:r>
              <a:rPr lang="en-US" sz="675" dirty="0">
                <a:solidFill>
                  <a:srgbClr val="FFFFFF"/>
                </a:solidFill>
                <a:latin typeface="Arial" pitchFamily="34" charset="0"/>
                <a:ea typeface="Arial" pitchFamily="34" charset="-122"/>
                <a:cs typeface="Arial" pitchFamily="34" charset="-120"/>
              </a:rPr>
              <a:t>Free</a:t>
            </a:r>
            <a:endParaRPr lang="en-US" sz="675" dirty="0"/>
          </a:p>
        </p:txBody>
      </p:sp>
      <p:sp>
        <p:nvSpPr>
          <p:cNvPr id="34" name="Text 32"/>
          <p:cNvSpPr/>
          <p:nvPr/>
        </p:nvSpPr>
        <p:spPr>
          <a:xfrm>
            <a:off x="4667250" y="3125242"/>
            <a:ext cx="2019300" cy="462707"/>
          </a:xfrm>
          <a:prstGeom prst="rect">
            <a:avLst/>
          </a:prstGeom>
          <a:solidFill>
            <a:srgbClr val="3B82F6"/>
          </a:solidFill>
          <a:ln/>
        </p:spPr>
        <p:txBody>
          <a:bodyPr wrap="square" rtlCol="0" anchor="ctr"/>
          <a:lstStyle/>
          <a:p>
            <a:pPr marL="0" indent="0">
              <a:buNone/>
            </a:pPr>
            <a:endParaRPr lang="en-US" dirty="0"/>
          </a:p>
        </p:txBody>
      </p:sp>
      <p:sp>
        <p:nvSpPr>
          <p:cNvPr id="35" name="Text 33"/>
          <p:cNvSpPr/>
          <p:nvPr/>
        </p:nvSpPr>
        <p:spPr>
          <a:xfrm>
            <a:off x="4744212" y="3220492"/>
            <a:ext cx="1865376" cy="146596"/>
          </a:xfrm>
          <a:prstGeom prst="rect">
            <a:avLst/>
          </a:prstGeom>
          <a:noFill/>
          <a:ln/>
        </p:spPr>
        <p:txBody>
          <a:bodyPr wrap="square" lIns="0" tIns="0" rIns="0" bIns="0" rtlCol="0" anchor="t"/>
          <a:lstStyle/>
          <a:p>
            <a:pPr marL="0" indent="0" algn="ctr">
              <a:lnSpc>
                <a:spcPts val="1155"/>
              </a:lnSpc>
              <a:spcAft>
                <a:spcPts val="150"/>
              </a:spcAft>
              <a:buNone/>
            </a:pPr>
            <a:r>
              <a:rPr lang="en-US" sz="825" b="1" dirty="0">
                <a:solidFill>
                  <a:srgbClr val="FFFFFF"/>
                </a:solidFill>
                <a:latin typeface="Arial" pitchFamily="34" charset="0"/>
                <a:ea typeface="Arial" pitchFamily="34" charset="-122"/>
                <a:cs typeface="Arial" pitchFamily="34" charset="-120"/>
              </a:rPr>
              <a:t>SuperWhisper</a:t>
            </a:r>
            <a:endParaRPr lang="en-US" sz="825" dirty="0"/>
          </a:p>
        </p:txBody>
      </p:sp>
      <p:sp>
        <p:nvSpPr>
          <p:cNvPr id="36" name="Text 34"/>
          <p:cNvSpPr/>
          <p:nvPr/>
        </p:nvSpPr>
        <p:spPr>
          <a:xfrm>
            <a:off x="4744212" y="3386138"/>
            <a:ext cx="1865376" cy="106561"/>
          </a:xfrm>
          <a:prstGeom prst="rect">
            <a:avLst/>
          </a:prstGeom>
          <a:noFill/>
          <a:ln/>
        </p:spPr>
        <p:txBody>
          <a:bodyPr wrap="square" lIns="0" tIns="0" rIns="0" bIns="0" rtlCol="0" anchor="t"/>
          <a:lstStyle/>
          <a:p>
            <a:pPr marL="0" indent="0" algn="ctr">
              <a:lnSpc>
                <a:spcPts val="840"/>
              </a:lnSpc>
              <a:buNone/>
            </a:pPr>
            <a:r>
              <a:rPr lang="en-US" sz="600" dirty="0">
                <a:solidFill>
                  <a:srgbClr val="FFFFFF">
                    <a:alpha val="80000"/>
                  </a:srgbClr>
                </a:solidFill>
                <a:latin typeface="Arial" pitchFamily="34" charset="0"/>
                <a:ea typeface="Arial" pitchFamily="34" charset="-122"/>
                <a:cs typeface="Arial" pitchFamily="34" charset="-120"/>
              </a:rPr>
              <a:t>Simple + Local</a:t>
            </a:r>
            <a:endParaRPr lang="en-US" sz="600" dirty="0"/>
          </a:p>
        </p:txBody>
      </p:sp>
      <p:sp>
        <p:nvSpPr>
          <p:cNvPr id="37" name="Text 35"/>
          <p:cNvSpPr/>
          <p:nvPr/>
        </p:nvSpPr>
        <p:spPr>
          <a:xfrm>
            <a:off x="6743700" y="3125242"/>
            <a:ext cx="2019300" cy="462707"/>
          </a:xfrm>
          <a:prstGeom prst="rect">
            <a:avLst/>
          </a:prstGeom>
          <a:solidFill>
            <a:srgbClr val="3B82F6"/>
          </a:solidFill>
          <a:ln/>
        </p:spPr>
        <p:txBody>
          <a:bodyPr wrap="square" rtlCol="0" anchor="ctr"/>
          <a:lstStyle/>
          <a:p>
            <a:pPr marL="0" indent="0">
              <a:buNone/>
            </a:pPr>
            <a:endParaRPr lang="en-US" dirty="0"/>
          </a:p>
        </p:txBody>
      </p:sp>
      <p:sp>
        <p:nvSpPr>
          <p:cNvPr id="38" name="Text 36"/>
          <p:cNvSpPr/>
          <p:nvPr/>
        </p:nvSpPr>
        <p:spPr>
          <a:xfrm>
            <a:off x="6820662" y="3220492"/>
            <a:ext cx="1865376" cy="146596"/>
          </a:xfrm>
          <a:prstGeom prst="rect">
            <a:avLst/>
          </a:prstGeom>
          <a:noFill/>
          <a:ln/>
        </p:spPr>
        <p:txBody>
          <a:bodyPr wrap="square" lIns="0" tIns="0" rIns="0" bIns="0" rtlCol="0" anchor="t"/>
          <a:lstStyle/>
          <a:p>
            <a:pPr marL="0" indent="0" algn="ctr">
              <a:lnSpc>
                <a:spcPts val="1155"/>
              </a:lnSpc>
              <a:spcAft>
                <a:spcPts val="150"/>
              </a:spcAft>
              <a:buNone/>
            </a:pPr>
            <a:r>
              <a:rPr lang="en-US" sz="825" b="1" dirty="0">
                <a:solidFill>
                  <a:srgbClr val="FFFFFF"/>
                </a:solidFill>
                <a:latin typeface="Arial" pitchFamily="34" charset="0"/>
                <a:ea typeface="Arial" pitchFamily="34" charset="-122"/>
                <a:cs typeface="Arial" pitchFamily="34" charset="-120"/>
              </a:rPr>
              <a:t>Wispr Flow</a:t>
            </a:r>
            <a:endParaRPr lang="en-US" sz="825" dirty="0"/>
          </a:p>
        </p:txBody>
      </p:sp>
      <p:sp>
        <p:nvSpPr>
          <p:cNvPr id="39" name="Text 37"/>
          <p:cNvSpPr/>
          <p:nvPr/>
        </p:nvSpPr>
        <p:spPr>
          <a:xfrm>
            <a:off x="6820662" y="3386138"/>
            <a:ext cx="1865376" cy="106561"/>
          </a:xfrm>
          <a:prstGeom prst="rect">
            <a:avLst/>
          </a:prstGeom>
          <a:noFill/>
          <a:ln/>
        </p:spPr>
        <p:txBody>
          <a:bodyPr wrap="square" lIns="0" tIns="0" rIns="0" bIns="0" rtlCol="0" anchor="t"/>
          <a:lstStyle/>
          <a:p>
            <a:pPr marL="0" indent="0" algn="ctr">
              <a:lnSpc>
                <a:spcPts val="840"/>
              </a:lnSpc>
              <a:buNone/>
            </a:pPr>
            <a:r>
              <a:rPr lang="en-US" sz="600" dirty="0">
                <a:solidFill>
                  <a:srgbClr val="FFFFFF">
                    <a:alpha val="80000"/>
                  </a:srgbClr>
                </a:solidFill>
                <a:latin typeface="Arial" pitchFamily="34" charset="0"/>
                <a:ea typeface="Arial" pitchFamily="34" charset="-122"/>
                <a:cs typeface="Arial" pitchFamily="34" charset="-120"/>
              </a:rPr>
              <a:t>Smart Features</a:t>
            </a:r>
            <a:endParaRPr lang="en-US" sz="600" dirty="0"/>
          </a:p>
        </p:txBody>
      </p:sp>
      <p:sp>
        <p:nvSpPr>
          <p:cNvPr id="40" name="Text 38"/>
          <p:cNvSpPr/>
          <p:nvPr/>
        </p:nvSpPr>
        <p:spPr>
          <a:xfrm>
            <a:off x="4667250" y="3835598"/>
            <a:ext cx="4095750" cy="272355"/>
          </a:xfrm>
          <a:prstGeom prst="rect">
            <a:avLst/>
          </a:prstGeom>
          <a:solidFill>
            <a:srgbClr val="252B3D"/>
          </a:solidFill>
          <a:ln/>
        </p:spPr>
        <p:txBody>
          <a:bodyPr wrap="square" rtlCol="0" anchor="ctr"/>
          <a:lstStyle/>
          <a:p>
            <a:pPr marL="0" indent="0">
              <a:buNone/>
            </a:pPr>
            <a:endParaRPr lang="en-US" dirty="0"/>
          </a:p>
        </p:txBody>
      </p:sp>
      <p:sp>
        <p:nvSpPr>
          <p:cNvPr id="41" name="Text 39"/>
          <p:cNvSpPr/>
          <p:nvPr/>
        </p:nvSpPr>
        <p:spPr>
          <a:xfrm>
            <a:off x="4704017" y="3911798"/>
            <a:ext cx="4022217" cy="119955"/>
          </a:xfrm>
          <a:prstGeom prst="rect">
            <a:avLst/>
          </a:prstGeom>
          <a:noFill/>
          <a:ln/>
        </p:spPr>
        <p:txBody>
          <a:bodyPr wrap="square" lIns="0" tIns="0" rIns="0" bIns="0" rtlCol="0" anchor="t"/>
          <a:lstStyle/>
          <a:p>
            <a:pPr marL="0" indent="0" algn="ctr">
              <a:lnSpc>
                <a:spcPts val="945"/>
              </a:lnSpc>
              <a:buNone/>
            </a:pPr>
            <a:r>
              <a:rPr lang="en-US" sz="675" b="1" dirty="0">
                <a:solidFill>
                  <a:srgbClr val="FFFFFF">
                    <a:alpha val="60000"/>
                  </a:srgbClr>
                </a:solidFill>
                <a:latin typeface="Arial" pitchFamily="34" charset="0"/>
                <a:ea typeface="Arial" pitchFamily="34" charset="-122"/>
                <a:cs typeface="Arial" pitchFamily="34" charset="-120"/>
              </a:rPr>
              <a:t>Budget:</a:t>
            </a:r>
            <a:r>
              <a:rPr lang="en-US" sz="675" dirty="0">
                <a:solidFill>
                  <a:srgbClr val="FFFFFF">
                    <a:alpha val="60000"/>
                  </a:srgbClr>
                </a:solidFill>
                <a:latin typeface="Arial" pitchFamily="34" charset="0"/>
                <a:ea typeface="Arial" pitchFamily="34" charset="-122"/>
                <a:cs typeface="Arial" pitchFamily="34" charset="-120"/>
              </a:rPr>
              <a:t> Native OS dictation works for casual use</a:t>
            </a:r>
            <a:endParaRPr lang="en-US" sz="675" dirty="0"/>
          </a:p>
        </p:txBody>
      </p:sp>
      <p:sp>
        <p:nvSpPr>
          <p:cNvPr id="42" name="Text 40"/>
          <p:cNvSpPr/>
          <p:nvPr/>
        </p:nvSpPr>
        <p:spPr>
          <a:xfrm>
            <a:off x="381000" y="4374654"/>
            <a:ext cx="8382000" cy="375196"/>
          </a:xfrm>
          <a:prstGeom prst="rect">
            <a:avLst/>
          </a:prstGeom>
          <a:solidFill>
            <a:srgbClr val="C9A227"/>
          </a:solidFill>
          <a:ln/>
        </p:spPr>
        <p:txBody>
          <a:bodyPr wrap="square" rtlCol="0" anchor="ctr"/>
          <a:lstStyle/>
          <a:p>
            <a:pPr marL="0" indent="0">
              <a:buNone/>
            </a:pPr>
            <a:endParaRPr lang="en-US" dirty="0"/>
          </a:p>
        </p:txBody>
      </p:sp>
      <p:sp>
        <p:nvSpPr>
          <p:cNvPr id="43" name="Text 41"/>
          <p:cNvSpPr/>
          <p:nvPr/>
        </p:nvSpPr>
        <p:spPr>
          <a:xfrm>
            <a:off x="413766" y="4488954"/>
            <a:ext cx="8316468" cy="146596"/>
          </a:xfrm>
          <a:prstGeom prst="rect">
            <a:avLst/>
          </a:prstGeom>
          <a:noFill/>
          <a:ln/>
        </p:spPr>
        <p:txBody>
          <a:bodyPr wrap="square" lIns="0" tIns="0" rIns="0" bIns="0" rtlCol="0" anchor="t"/>
          <a:lstStyle/>
          <a:p>
            <a:pPr marL="0" indent="0" algn="ctr">
              <a:lnSpc>
                <a:spcPts val="1155"/>
              </a:lnSpc>
              <a:buNone/>
            </a:pPr>
            <a:r>
              <a:rPr lang="en-US" sz="825" b="1" dirty="0">
                <a:solidFill>
                  <a:srgbClr val="1A1F2E"/>
                </a:solidFill>
                <a:latin typeface="Arial" pitchFamily="34" charset="0"/>
                <a:ea typeface="Arial" pitchFamily="34" charset="-122"/>
                <a:cs typeface="Arial" pitchFamily="34" charset="-120"/>
              </a:rPr>
              <a:t>QUICK PICK:</a:t>
            </a:r>
            <a:r>
              <a:rPr lang="en-US" sz="825" dirty="0">
                <a:solidFill>
                  <a:srgbClr val="1A1F2E"/>
                </a:solidFill>
                <a:latin typeface="Arial" pitchFamily="34" charset="0"/>
                <a:ea typeface="Arial" pitchFamily="34" charset="-122"/>
                <a:cs typeface="Arial" pitchFamily="34" charset="-120"/>
              </a:rPr>
              <a:t> Government/PHI = SuperWhisper | Power User = Wispr Flow (Privacy Mode) | Linux = Wispr Flow</a:t>
            </a:r>
            <a:endParaRPr lang="en-US" sz="82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4496544" cy="5143500"/>
          </a:xfrm>
          <a:prstGeom prst="rect">
            <a:avLst/>
          </a:prstGeom>
          <a:solidFill>
            <a:srgbClr val="1A1F2E"/>
          </a:solidFill>
          <a:ln/>
        </p:spPr>
        <p:txBody>
          <a:bodyPr wrap="square" rtlCol="0" anchor="ctr"/>
          <a:lstStyle/>
          <a:p>
            <a:pPr marL="0" indent="0">
              <a:buNone/>
            </a:pPr>
            <a:endParaRPr lang="en-US" dirty="0"/>
          </a:p>
        </p:txBody>
      </p:sp>
      <p:sp>
        <p:nvSpPr>
          <p:cNvPr id="3" name="Text 1"/>
          <p:cNvSpPr/>
          <p:nvPr/>
        </p:nvSpPr>
        <p:spPr>
          <a:xfrm>
            <a:off x="381000" y="1395561"/>
            <a:ext cx="3809235" cy="146596"/>
          </a:xfrm>
          <a:prstGeom prst="rect">
            <a:avLst/>
          </a:prstGeom>
          <a:noFill/>
          <a:ln/>
        </p:spPr>
        <p:txBody>
          <a:bodyPr wrap="square" lIns="0" tIns="0" rIns="0" bIns="0" rtlCol="0" anchor="t"/>
          <a:lstStyle/>
          <a:p>
            <a:pPr marL="0" indent="0" algn="l">
              <a:lnSpc>
                <a:spcPts val="1155"/>
              </a:lnSpc>
              <a:spcAft>
                <a:spcPts val="1200"/>
              </a:spcAft>
              <a:buNone/>
            </a:pPr>
            <a:r>
              <a:rPr lang="en-US" sz="825" dirty="0">
                <a:solidFill>
                  <a:srgbClr val="C9A227"/>
                </a:solidFill>
                <a:latin typeface="Arial" pitchFamily="34" charset="0"/>
                <a:ea typeface="Arial" pitchFamily="34" charset="-122"/>
                <a:cs typeface="Arial" pitchFamily="34" charset="-120"/>
              </a:rPr>
              <a:t>WORKSHOP DECISION</a:t>
            </a:r>
            <a:endParaRPr lang="en-US" sz="825" dirty="0"/>
          </a:p>
        </p:txBody>
      </p:sp>
      <p:sp>
        <p:nvSpPr>
          <p:cNvPr id="4" name="Text 2"/>
          <p:cNvSpPr/>
          <p:nvPr/>
        </p:nvSpPr>
        <p:spPr>
          <a:xfrm>
            <a:off x="381000" y="1846957"/>
            <a:ext cx="2691194" cy="731341"/>
          </a:xfrm>
          <a:prstGeom prst="rect">
            <a:avLst/>
          </a:prstGeom>
          <a:noFill/>
          <a:ln/>
        </p:spPr>
        <p:txBody>
          <a:bodyPr wrap="square" lIns="0" tIns="0" rIns="0" bIns="0" rtlCol="0" anchor="t"/>
          <a:lstStyle/>
          <a:p>
            <a:pPr marL="0" indent="0" algn="l">
              <a:lnSpc>
                <a:spcPts val="2880"/>
              </a:lnSpc>
              <a:spcAft>
                <a:spcPts val="1500"/>
              </a:spcAft>
              <a:buNone/>
            </a:pPr>
            <a:r>
              <a:rPr lang="en-US" sz="2400" dirty="0">
                <a:solidFill>
                  <a:srgbClr val="FFFFFF"/>
                </a:solidFill>
                <a:latin typeface="Georgia" pitchFamily="34" charset="0"/>
                <a:ea typeface="Georgia" pitchFamily="34" charset="-122"/>
                <a:cs typeface="Georgia" pitchFamily="34" charset="-120"/>
              </a:rPr>
              <a:t>Why SuperWhisper</a:t>
            </a:r>
            <a:endParaRPr lang="en-US" sz="2400" dirty="0"/>
          </a:p>
          <a:p>
            <a:pPr marL="0" indent="0" algn="l">
              <a:lnSpc>
                <a:spcPts val="2880"/>
              </a:lnSpc>
              <a:spcAft>
                <a:spcPts val="1500"/>
              </a:spcAft>
              <a:buNone/>
            </a:pPr>
            <a:r>
              <a:rPr lang="en-US" sz="2400" dirty="0">
                <a:solidFill>
                  <a:srgbClr val="FFFFFF"/>
                </a:solidFill>
                <a:latin typeface="Georgia" pitchFamily="34" charset="0"/>
                <a:ea typeface="Georgia" pitchFamily="34" charset="-122"/>
                <a:cs typeface="Georgia" pitchFamily="34" charset="-120"/>
              </a:rPr>
              <a:t>for This Workshop</a:t>
            </a:r>
            <a:endParaRPr lang="en-US" sz="2400" dirty="0"/>
          </a:p>
        </p:txBody>
      </p:sp>
      <p:sp>
        <p:nvSpPr>
          <p:cNvPr id="5" name="Text 3"/>
          <p:cNvSpPr/>
          <p:nvPr/>
        </p:nvSpPr>
        <p:spPr>
          <a:xfrm>
            <a:off x="381000" y="2921198"/>
            <a:ext cx="571500" cy="19050"/>
          </a:xfrm>
          <a:prstGeom prst="rect">
            <a:avLst/>
          </a:prstGeom>
          <a:solidFill>
            <a:srgbClr val="C9A227"/>
          </a:solidFill>
          <a:ln/>
        </p:spPr>
        <p:txBody>
          <a:bodyPr wrap="square" rtlCol="0" anchor="ctr"/>
          <a:lstStyle/>
          <a:p>
            <a:pPr marL="0" indent="0">
              <a:buNone/>
            </a:pPr>
            <a:endParaRPr lang="en-US" dirty="0"/>
          </a:p>
        </p:txBody>
      </p:sp>
      <p:sp>
        <p:nvSpPr>
          <p:cNvPr id="6" name="Text 4"/>
          <p:cNvSpPr/>
          <p:nvPr/>
        </p:nvSpPr>
        <p:spPr>
          <a:xfrm>
            <a:off x="381000" y="3321248"/>
            <a:ext cx="3809235" cy="426541"/>
          </a:xfrm>
          <a:prstGeom prst="rect">
            <a:avLst/>
          </a:prstGeom>
          <a:noFill/>
          <a:ln/>
        </p:spPr>
        <p:txBody>
          <a:bodyPr wrap="square" lIns="0" tIns="0" rIns="0" bIns="0" rtlCol="0" anchor="t"/>
          <a:lstStyle/>
          <a:p>
            <a:pPr marL="0" indent="0" algn="l">
              <a:lnSpc>
                <a:spcPts val="1680"/>
              </a:lnSpc>
              <a:buNone/>
            </a:pPr>
            <a:r>
              <a:rPr lang="en-US" sz="1050" dirty="0">
                <a:solidFill>
                  <a:srgbClr val="FFFFFF">
                    <a:alpha val="70000"/>
                  </a:srgbClr>
                </a:solidFill>
                <a:latin typeface="Arial" pitchFamily="34" charset="0"/>
                <a:ea typeface="Arial" pitchFamily="34" charset="-122"/>
                <a:cs typeface="Arial" pitchFamily="34" charset="-120"/>
              </a:rPr>
              <a:t>We're moving forward with SuperWhisper because it offers the privacy controls required for government health work.</a:t>
            </a:r>
            <a:endParaRPr lang="en-US" sz="1050" dirty="0"/>
          </a:p>
        </p:txBody>
      </p:sp>
      <p:sp>
        <p:nvSpPr>
          <p:cNvPr id="7" name="Text 5"/>
          <p:cNvSpPr/>
          <p:nvPr/>
        </p:nvSpPr>
        <p:spPr>
          <a:xfrm>
            <a:off x="4648944" y="0"/>
            <a:ext cx="4495056" cy="5143500"/>
          </a:xfrm>
          <a:prstGeom prst="rect">
            <a:avLst/>
          </a:prstGeom>
          <a:solidFill>
            <a:srgbClr val="F7F8FA"/>
          </a:solidFill>
          <a:ln/>
        </p:spPr>
        <p:txBody>
          <a:bodyPr wrap="square" rtlCol="0" anchor="ctr"/>
          <a:lstStyle/>
          <a:p>
            <a:pPr marL="0" indent="0">
              <a:buNone/>
            </a:pPr>
            <a:endParaRPr lang="en-US" dirty="0"/>
          </a:p>
        </p:txBody>
      </p:sp>
      <p:sp>
        <p:nvSpPr>
          <p:cNvPr id="8" name="Text 6"/>
          <p:cNvSpPr/>
          <p:nvPr/>
        </p:nvSpPr>
        <p:spPr>
          <a:xfrm>
            <a:off x="4991844" y="735657"/>
            <a:ext cx="3809256" cy="630436"/>
          </a:xfrm>
          <a:prstGeom prst="rect">
            <a:avLst/>
          </a:prstGeom>
          <a:solidFill>
            <a:srgbClr val="DCFCE7"/>
          </a:solidFill>
          <a:ln/>
        </p:spPr>
        <p:txBody>
          <a:bodyPr wrap="square" rtlCol="0" anchor="ctr"/>
          <a:lstStyle/>
          <a:p>
            <a:pPr marL="0" indent="0">
              <a:buNone/>
            </a:pPr>
            <a:endParaRPr lang="en-US" dirty="0"/>
          </a:p>
        </p:txBody>
      </p:sp>
      <p:sp>
        <p:nvSpPr>
          <p:cNvPr id="9" name="Shape 7"/>
          <p:cNvSpPr/>
          <p:nvPr/>
        </p:nvSpPr>
        <p:spPr>
          <a:xfrm>
            <a:off x="5010894" y="735657"/>
            <a:ext cx="0" cy="630436"/>
          </a:xfrm>
          <a:prstGeom prst="line">
            <a:avLst/>
          </a:prstGeom>
          <a:noFill/>
          <a:ln w="38100">
            <a:solidFill>
              <a:srgbClr val="059669"/>
            </a:solidFill>
            <a:prstDash val="solid"/>
          </a:ln>
        </p:spPr>
        <p:txBody>
          <a:bodyPr/>
          <a:lstStyle/>
          <a:p>
            <a:endParaRPr lang="en-US"/>
          </a:p>
        </p:txBody>
      </p:sp>
      <p:sp>
        <p:nvSpPr>
          <p:cNvPr id="10" name="Text 8"/>
          <p:cNvSpPr/>
          <p:nvPr/>
        </p:nvSpPr>
        <p:spPr>
          <a:xfrm>
            <a:off x="5163294" y="869007"/>
            <a:ext cx="3574545" cy="159990"/>
          </a:xfrm>
          <a:prstGeom prst="rect">
            <a:avLst/>
          </a:prstGeom>
          <a:noFill/>
          <a:ln/>
        </p:spPr>
        <p:txBody>
          <a:bodyPr wrap="square" lIns="0" tIns="0" rIns="0" bIns="0" rtlCol="0" anchor="t"/>
          <a:lstStyle/>
          <a:p>
            <a:pPr marL="0" indent="0" algn="l">
              <a:lnSpc>
                <a:spcPts val="1260"/>
              </a:lnSpc>
              <a:spcAft>
                <a:spcPts val="450"/>
              </a:spcAft>
              <a:buNone/>
            </a:pPr>
            <a:r>
              <a:rPr lang="en-US" sz="900" b="1" dirty="0">
                <a:solidFill>
                  <a:srgbClr val="059669"/>
                </a:solidFill>
                <a:latin typeface="Arial" pitchFamily="34" charset="0"/>
                <a:ea typeface="Arial" pitchFamily="34" charset="-122"/>
                <a:cs typeface="Arial" pitchFamily="34" charset="-120"/>
              </a:rPr>
              <a:t>FREE LOCAL MODELS</a:t>
            </a:r>
            <a:endParaRPr lang="en-US" sz="900" dirty="0"/>
          </a:p>
        </p:txBody>
      </p:sp>
      <p:sp>
        <p:nvSpPr>
          <p:cNvPr id="11" name="Text 9"/>
          <p:cNvSpPr/>
          <p:nvPr/>
        </p:nvSpPr>
        <p:spPr>
          <a:xfrm>
            <a:off x="5163294" y="1086148"/>
            <a:ext cx="3574545" cy="146596"/>
          </a:xfrm>
          <a:prstGeom prst="rect">
            <a:avLst/>
          </a:prstGeom>
          <a:noFill/>
          <a:ln/>
        </p:spPr>
        <p:txBody>
          <a:bodyPr wrap="square" lIns="0" tIns="0" rIns="0" bIns="0" rtlCol="0" anchor="t"/>
          <a:lstStyle/>
          <a:p>
            <a:pPr marL="0" indent="0" algn="l">
              <a:lnSpc>
                <a:spcPts val="1155"/>
              </a:lnSpc>
              <a:buNone/>
            </a:pPr>
            <a:r>
              <a:rPr lang="en-US" sz="825" dirty="0">
                <a:solidFill>
                  <a:srgbClr val="166534"/>
                </a:solidFill>
                <a:latin typeface="Arial" pitchFamily="34" charset="0"/>
                <a:ea typeface="Arial" pitchFamily="34" charset="-122"/>
                <a:cs typeface="Arial" pitchFamily="34" charset="-120"/>
              </a:rPr>
              <a:t>Audio never leaves your device. PHI-safe out of the box with the free tier.</a:t>
            </a:r>
            <a:endParaRPr lang="en-US" sz="825" dirty="0"/>
          </a:p>
        </p:txBody>
      </p:sp>
      <p:sp>
        <p:nvSpPr>
          <p:cNvPr id="12" name="Text 10"/>
          <p:cNvSpPr/>
          <p:nvPr/>
        </p:nvSpPr>
        <p:spPr>
          <a:xfrm>
            <a:off x="4991844" y="1499443"/>
            <a:ext cx="3809256" cy="649486"/>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13" name="Text 11"/>
          <p:cNvSpPr/>
          <p:nvPr/>
        </p:nvSpPr>
        <p:spPr>
          <a:xfrm>
            <a:off x="5134719" y="1642318"/>
            <a:ext cx="3593976" cy="159990"/>
          </a:xfrm>
          <a:prstGeom prst="rect">
            <a:avLst/>
          </a:prstGeom>
          <a:noFill/>
          <a:ln/>
        </p:spPr>
        <p:txBody>
          <a:bodyPr wrap="square" lIns="0" tIns="0" rIns="0" bIns="0" rtlCol="0" anchor="t"/>
          <a:lstStyle/>
          <a:p>
            <a:pPr marL="0" indent="0" algn="l">
              <a:lnSpc>
                <a:spcPts val="1260"/>
              </a:lnSpc>
              <a:spcAft>
                <a:spcPts val="450"/>
              </a:spcAft>
              <a:buNone/>
            </a:pPr>
            <a:r>
              <a:rPr lang="en-US" sz="900" b="1" dirty="0">
                <a:solidFill>
                  <a:srgbClr val="1A1F2E"/>
                </a:solidFill>
                <a:latin typeface="Arial" pitchFamily="34" charset="0"/>
                <a:ea typeface="Arial" pitchFamily="34" charset="-122"/>
                <a:cs typeface="Arial" pitchFamily="34" charset="-120"/>
              </a:rPr>
              <a:t>CROSS-PLATFORM</a:t>
            </a:r>
            <a:endParaRPr lang="en-US" sz="900" dirty="0"/>
          </a:p>
        </p:txBody>
      </p:sp>
      <p:sp>
        <p:nvSpPr>
          <p:cNvPr id="14" name="Text 12"/>
          <p:cNvSpPr/>
          <p:nvPr/>
        </p:nvSpPr>
        <p:spPr>
          <a:xfrm>
            <a:off x="5134719" y="1859459"/>
            <a:ext cx="3593976" cy="146596"/>
          </a:xfrm>
          <a:prstGeom prst="rect">
            <a:avLst/>
          </a:prstGeom>
          <a:noFill/>
          <a:ln/>
        </p:spPr>
        <p:txBody>
          <a:bodyPr wrap="square" lIns="0" tIns="0" rIns="0" bIns="0" rtlCol="0" anchor="t"/>
          <a:lstStyle/>
          <a:p>
            <a:pPr marL="0" indent="0" algn="l">
              <a:lnSpc>
                <a:spcPts val="1155"/>
              </a:lnSpc>
              <a:buNone/>
            </a:pPr>
            <a:r>
              <a:rPr lang="en-US" sz="825" dirty="0">
                <a:solidFill>
                  <a:srgbClr val="6B7280"/>
                </a:solidFill>
                <a:latin typeface="Arial" pitchFamily="34" charset="0"/>
                <a:ea typeface="Arial" pitchFamily="34" charset="-122"/>
                <a:cs typeface="Arial" pitchFamily="34" charset="-120"/>
              </a:rPr>
              <a:t>Works on Mac, Windows, and iOS. Same experience across your devices.</a:t>
            </a:r>
            <a:endParaRPr lang="en-US" sz="825" dirty="0"/>
          </a:p>
        </p:txBody>
      </p:sp>
      <p:sp>
        <p:nvSpPr>
          <p:cNvPr id="15" name="Text 13"/>
          <p:cNvSpPr/>
          <p:nvPr/>
        </p:nvSpPr>
        <p:spPr>
          <a:xfrm>
            <a:off x="4991844" y="2282279"/>
            <a:ext cx="3809256" cy="649486"/>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16" name="Text 14"/>
          <p:cNvSpPr/>
          <p:nvPr/>
        </p:nvSpPr>
        <p:spPr>
          <a:xfrm>
            <a:off x="5134719" y="2425154"/>
            <a:ext cx="3593976" cy="159990"/>
          </a:xfrm>
          <a:prstGeom prst="rect">
            <a:avLst/>
          </a:prstGeom>
          <a:noFill/>
          <a:ln/>
        </p:spPr>
        <p:txBody>
          <a:bodyPr wrap="square" lIns="0" tIns="0" rIns="0" bIns="0" rtlCol="0" anchor="t"/>
          <a:lstStyle/>
          <a:p>
            <a:pPr marL="0" indent="0" algn="l">
              <a:lnSpc>
                <a:spcPts val="1260"/>
              </a:lnSpc>
              <a:spcAft>
                <a:spcPts val="450"/>
              </a:spcAft>
              <a:buNone/>
            </a:pPr>
            <a:r>
              <a:rPr lang="en-US" sz="900" b="1" dirty="0">
                <a:solidFill>
                  <a:srgbClr val="1A1F2E"/>
                </a:solidFill>
                <a:latin typeface="Arial" pitchFamily="34" charset="0"/>
                <a:ea typeface="Arial" pitchFamily="34" charset="-122"/>
                <a:cs typeface="Arial" pitchFamily="34" charset="-120"/>
              </a:rPr>
              <a:t>CUSTOM MODES</a:t>
            </a:r>
            <a:endParaRPr lang="en-US" sz="900" dirty="0"/>
          </a:p>
        </p:txBody>
      </p:sp>
      <p:sp>
        <p:nvSpPr>
          <p:cNvPr id="17" name="Text 15"/>
          <p:cNvSpPr/>
          <p:nvPr/>
        </p:nvSpPr>
        <p:spPr>
          <a:xfrm>
            <a:off x="5134719" y="2642295"/>
            <a:ext cx="3593976" cy="146596"/>
          </a:xfrm>
          <a:prstGeom prst="rect">
            <a:avLst/>
          </a:prstGeom>
          <a:noFill/>
          <a:ln/>
        </p:spPr>
        <p:txBody>
          <a:bodyPr wrap="square" lIns="0" tIns="0" rIns="0" bIns="0" rtlCol="0" anchor="t"/>
          <a:lstStyle/>
          <a:p>
            <a:pPr marL="0" indent="0" algn="l">
              <a:lnSpc>
                <a:spcPts val="1155"/>
              </a:lnSpc>
              <a:buNone/>
            </a:pPr>
            <a:r>
              <a:rPr lang="en-US" sz="825" dirty="0">
                <a:solidFill>
                  <a:srgbClr val="6B7280"/>
                </a:solidFill>
                <a:latin typeface="Arial" pitchFamily="34" charset="0"/>
                <a:ea typeface="Arial" pitchFamily="34" charset="-122"/>
                <a:cs typeface="Arial" pitchFamily="34" charset="-120"/>
              </a:rPr>
              <a:t>3 free custom modes let us build application-specific workflows together.</a:t>
            </a:r>
            <a:endParaRPr lang="en-US" sz="825" dirty="0"/>
          </a:p>
        </p:txBody>
      </p:sp>
      <p:sp>
        <p:nvSpPr>
          <p:cNvPr id="18" name="Text 16"/>
          <p:cNvSpPr/>
          <p:nvPr/>
        </p:nvSpPr>
        <p:spPr>
          <a:xfrm>
            <a:off x="4991844" y="3065115"/>
            <a:ext cx="3809256" cy="649486"/>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19" name="Text 17"/>
          <p:cNvSpPr/>
          <p:nvPr/>
        </p:nvSpPr>
        <p:spPr>
          <a:xfrm>
            <a:off x="5134719" y="3207990"/>
            <a:ext cx="3593976" cy="159990"/>
          </a:xfrm>
          <a:prstGeom prst="rect">
            <a:avLst/>
          </a:prstGeom>
          <a:noFill/>
          <a:ln/>
        </p:spPr>
        <p:txBody>
          <a:bodyPr wrap="square" lIns="0" tIns="0" rIns="0" bIns="0" rtlCol="0" anchor="t"/>
          <a:lstStyle/>
          <a:p>
            <a:pPr marL="0" indent="0" algn="l">
              <a:lnSpc>
                <a:spcPts val="1260"/>
              </a:lnSpc>
              <a:spcAft>
                <a:spcPts val="450"/>
              </a:spcAft>
              <a:buNone/>
            </a:pPr>
            <a:r>
              <a:rPr lang="en-US" sz="900" b="1" dirty="0">
                <a:solidFill>
                  <a:srgbClr val="1A1F2E"/>
                </a:solidFill>
                <a:latin typeface="Arial" pitchFamily="34" charset="0"/>
                <a:ea typeface="Arial" pitchFamily="34" charset="-122"/>
                <a:cs typeface="Arial" pitchFamily="34" charset="-120"/>
              </a:rPr>
              <a:t>AUTO-ACTIVATION</a:t>
            </a:r>
            <a:endParaRPr lang="en-US" sz="900" dirty="0"/>
          </a:p>
        </p:txBody>
      </p:sp>
      <p:sp>
        <p:nvSpPr>
          <p:cNvPr id="20" name="Text 18"/>
          <p:cNvSpPr/>
          <p:nvPr/>
        </p:nvSpPr>
        <p:spPr>
          <a:xfrm>
            <a:off x="5134719" y="3425130"/>
            <a:ext cx="3593976" cy="146596"/>
          </a:xfrm>
          <a:prstGeom prst="rect">
            <a:avLst/>
          </a:prstGeom>
          <a:noFill/>
          <a:ln/>
        </p:spPr>
        <p:txBody>
          <a:bodyPr wrap="square" lIns="0" tIns="0" rIns="0" bIns="0" rtlCol="0" anchor="t"/>
          <a:lstStyle/>
          <a:p>
            <a:pPr marL="0" indent="0" algn="l">
              <a:lnSpc>
                <a:spcPts val="1155"/>
              </a:lnSpc>
              <a:buNone/>
            </a:pPr>
            <a:r>
              <a:rPr lang="en-US" sz="825" dirty="0">
                <a:solidFill>
                  <a:srgbClr val="6B7280"/>
                </a:solidFill>
                <a:latin typeface="Arial" pitchFamily="34" charset="0"/>
                <a:ea typeface="Arial" pitchFamily="34" charset="-122"/>
                <a:cs typeface="Arial" pitchFamily="34" charset="-120"/>
              </a:rPr>
              <a:t>Modes switch automatically based on your active application.</a:t>
            </a:r>
            <a:endParaRPr lang="en-US" sz="825" dirty="0"/>
          </a:p>
        </p:txBody>
      </p:sp>
      <p:sp>
        <p:nvSpPr>
          <p:cNvPr id="21" name="Text 19"/>
          <p:cNvSpPr/>
          <p:nvPr/>
        </p:nvSpPr>
        <p:spPr>
          <a:xfrm>
            <a:off x="4991844" y="3847951"/>
            <a:ext cx="3809256" cy="559891"/>
          </a:xfrm>
          <a:prstGeom prst="rect">
            <a:avLst/>
          </a:prstGeom>
          <a:solidFill>
            <a:srgbClr val="FEF3C7"/>
          </a:solidFill>
          <a:ln/>
        </p:spPr>
        <p:txBody>
          <a:bodyPr wrap="square" rtlCol="0" anchor="ctr"/>
          <a:lstStyle/>
          <a:p>
            <a:pPr marL="0" indent="0">
              <a:buNone/>
            </a:pPr>
            <a:endParaRPr lang="en-US" dirty="0"/>
          </a:p>
        </p:txBody>
      </p:sp>
      <p:sp>
        <p:nvSpPr>
          <p:cNvPr id="22" name="Shape 20"/>
          <p:cNvSpPr/>
          <p:nvPr/>
        </p:nvSpPr>
        <p:spPr>
          <a:xfrm>
            <a:off x="5010894" y="3847951"/>
            <a:ext cx="0" cy="559891"/>
          </a:xfrm>
          <a:prstGeom prst="line">
            <a:avLst/>
          </a:prstGeom>
          <a:noFill/>
          <a:ln w="38100">
            <a:solidFill>
              <a:srgbClr val="F59E0B"/>
            </a:solidFill>
            <a:prstDash val="solid"/>
          </a:ln>
        </p:spPr>
        <p:txBody>
          <a:bodyPr/>
          <a:lstStyle/>
          <a:p>
            <a:endParaRPr lang="en-US"/>
          </a:p>
        </p:txBody>
      </p:sp>
      <p:sp>
        <p:nvSpPr>
          <p:cNvPr id="23" name="Text 21"/>
          <p:cNvSpPr/>
          <p:nvPr/>
        </p:nvSpPr>
        <p:spPr>
          <a:xfrm>
            <a:off x="5163294" y="3981301"/>
            <a:ext cx="3574545" cy="293191"/>
          </a:xfrm>
          <a:prstGeom prst="rect">
            <a:avLst/>
          </a:prstGeom>
          <a:noFill/>
          <a:ln/>
        </p:spPr>
        <p:txBody>
          <a:bodyPr wrap="square" lIns="0" tIns="0" rIns="0" bIns="0" rtlCol="0" anchor="t"/>
          <a:lstStyle/>
          <a:p>
            <a:pPr marL="0" indent="0" algn="l">
              <a:lnSpc>
                <a:spcPts val="1155"/>
              </a:lnSpc>
              <a:buNone/>
            </a:pPr>
            <a:r>
              <a:rPr lang="en-US" sz="825" b="1" dirty="0">
                <a:solidFill>
                  <a:srgbClr val="92400E"/>
                </a:solidFill>
                <a:latin typeface="Arial" pitchFamily="34" charset="0"/>
                <a:ea typeface="Arial" pitchFamily="34" charset="-122"/>
                <a:cs typeface="Arial" pitchFamily="34" charset="-120"/>
              </a:rPr>
              <a:t>Wispr Flow</a:t>
            </a:r>
            <a:r>
              <a:rPr lang="en-US" sz="825" dirty="0">
                <a:solidFill>
                  <a:srgbClr val="92400E"/>
                </a:solidFill>
                <a:latin typeface="Arial" pitchFamily="34" charset="0"/>
                <a:ea typeface="Arial" pitchFamily="34" charset="-122"/>
                <a:cs typeface="Arial" pitchFamily="34" charset="-120"/>
              </a:rPr>
              <a:t> is excellent for non-sensitive work, but it's cloud-only. For PHI compliance, we need local processing. (BAA option is available)</a:t>
            </a:r>
            <a:endParaRPr lang="en-US" sz="825"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037954" y="1041202"/>
            <a:ext cx="1067794" cy="186630"/>
          </a:xfrm>
          <a:prstGeom prst="rect">
            <a:avLst/>
          </a:prstGeom>
          <a:noFill/>
          <a:ln/>
        </p:spPr>
        <p:txBody>
          <a:bodyPr wrap="square" lIns="0" tIns="0" rIns="0" bIns="0" rtlCol="0" anchor="t"/>
          <a:lstStyle/>
          <a:p>
            <a:pPr marL="0" indent="0" algn="ctr">
              <a:lnSpc>
                <a:spcPts val="1470"/>
              </a:lnSpc>
              <a:spcAft>
                <a:spcPts val="1500"/>
              </a:spcAft>
              <a:buNone/>
            </a:pPr>
            <a:r>
              <a:rPr lang="en-US" sz="1050" dirty="0">
                <a:solidFill>
                  <a:srgbClr val="C9A227"/>
                </a:solidFill>
                <a:latin typeface="Arial" pitchFamily="34" charset="0"/>
                <a:ea typeface="Arial" pitchFamily="34" charset="-122"/>
                <a:cs typeface="Arial" pitchFamily="34" charset="-120"/>
              </a:rPr>
              <a:t>SECTION 8</a:t>
            </a:r>
            <a:endParaRPr lang="en-US" sz="1050" dirty="0"/>
          </a:p>
        </p:txBody>
      </p:sp>
      <p:sp>
        <p:nvSpPr>
          <p:cNvPr id="3" name="Text 1"/>
          <p:cNvSpPr/>
          <p:nvPr/>
        </p:nvSpPr>
        <p:spPr>
          <a:xfrm>
            <a:off x="2032916" y="1570732"/>
            <a:ext cx="5078019" cy="495300"/>
          </a:xfrm>
          <a:prstGeom prst="rect">
            <a:avLst/>
          </a:prstGeom>
          <a:noFill/>
          <a:ln/>
        </p:spPr>
        <p:txBody>
          <a:bodyPr wrap="square" lIns="0" tIns="0" rIns="0" bIns="0" rtlCol="0" anchor="t"/>
          <a:lstStyle/>
          <a:p>
            <a:pPr marL="0" indent="0" algn="ctr">
              <a:lnSpc>
                <a:spcPts val="3900"/>
              </a:lnSpc>
              <a:spcAft>
                <a:spcPts val="1500"/>
              </a:spcAft>
              <a:buNone/>
            </a:pPr>
            <a:r>
              <a:rPr lang="en-US" sz="3900" dirty="0">
                <a:solidFill>
                  <a:srgbClr val="FFFFFF"/>
                </a:solidFill>
                <a:latin typeface="Georgia" pitchFamily="34" charset="0"/>
                <a:ea typeface="Georgia" pitchFamily="34" charset="-122"/>
                <a:cs typeface="Georgia" pitchFamily="34" charset="-120"/>
              </a:rPr>
              <a:t>Security &amp; Compliance</a:t>
            </a:r>
            <a:endParaRPr lang="en-US" sz="3900" dirty="0"/>
          </a:p>
        </p:txBody>
      </p:sp>
      <p:sp>
        <p:nvSpPr>
          <p:cNvPr id="4" name="Text 2"/>
          <p:cNvSpPr/>
          <p:nvPr/>
        </p:nvSpPr>
        <p:spPr>
          <a:xfrm>
            <a:off x="4190851" y="2408932"/>
            <a:ext cx="762000" cy="28575"/>
          </a:xfrm>
          <a:prstGeom prst="rect">
            <a:avLst/>
          </a:prstGeom>
          <a:solidFill>
            <a:srgbClr val="C9A227"/>
          </a:solidFill>
          <a:ln/>
        </p:spPr>
        <p:txBody>
          <a:bodyPr wrap="square" rtlCol="0" anchor="ctr"/>
          <a:lstStyle/>
          <a:p>
            <a:pPr marL="0" indent="0">
              <a:buNone/>
            </a:pPr>
            <a:endParaRPr lang="en-US" dirty="0"/>
          </a:p>
        </p:txBody>
      </p:sp>
      <p:sp>
        <p:nvSpPr>
          <p:cNvPr id="5" name="Text 3"/>
          <p:cNvSpPr/>
          <p:nvPr/>
        </p:nvSpPr>
        <p:spPr>
          <a:xfrm>
            <a:off x="2831864" y="2818507"/>
            <a:ext cx="3480122" cy="239911"/>
          </a:xfrm>
          <a:prstGeom prst="rect">
            <a:avLst/>
          </a:prstGeom>
          <a:noFill/>
          <a:ln/>
        </p:spPr>
        <p:txBody>
          <a:bodyPr wrap="square" lIns="0" tIns="0" rIns="0" bIns="0" rtlCol="0" anchor="t"/>
          <a:lstStyle/>
          <a:p>
            <a:pPr marL="0" indent="0" algn="ctr">
              <a:lnSpc>
                <a:spcPts val="1890"/>
              </a:lnSpc>
              <a:buNone/>
            </a:pPr>
            <a:r>
              <a:rPr lang="en-US" sz="1350" dirty="0">
                <a:solidFill>
                  <a:srgbClr val="FFFFFF">
                    <a:alpha val="70000"/>
                  </a:srgbClr>
                </a:solidFill>
                <a:latin typeface="Arial" pitchFamily="34" charset="0"/>
                <a:ea typeface="Arial" pitchFamily="34" charset="-122"/>
                <a:cs typeface="Arial" pitchFamily="34" charset="-120"/>
              </a:rPr>
              <a:t>Understanding Data Flows and PHI Handling</a:t>
            </a:r>
            <a:endParaRPr lang="en-US" sz="1350" dirty="0"/>
          </a:p>
        </p:txBody>
      </p:sp>
      <p:sp>
        <p:nvSpPr>
          <p:cNvPr id="6" name="Text 4"/>
          <p:cNvSpPr/>
          <p:nvPr/>
        </p:nvSpPr>
        <p:spPr>
          <a:xfrm>
            <a:off x="3931444" y="3591818"/>
            <a:ext cx="1280964" cy="510480"/>
          </a:xfrm>
          <a:prstGeom prst="rect">
            <a:avLst/>
          </a:prstGeom>
          <a:solidFill>
            <a:srgbClr val="C9A227">
              <a:alpha val="15000"/>
            </a:srgbClr>
          </a:solidFill>
          <a:ln w="9525">
            <a:solidFill>
              <a:srgbClr val="C9A227"/>
            </a:solidFill>
          </a:ln>
        </p:spPr>
        <p:txBody>
          <a:bodyPr wrap="square" rtlCol="0" anchor="ctr"/>
          <a:lstStyle/>
          <a:p>
            <a:pPr marL="0" indent="0">
              <a:buNone/>
            </a:pPr>
            <a:endParaRPr lang="en-US" dirty="0"/>
          </a:p>
        </p:txBody>
      </p:sp>
      <p:sp>
        <p:nvSpPr>
          <p:cNvPr id="7" name="Text 5"/>
          <p:cNvSpPr/>
          <p:nvPr/>
        </p:nvSpPr>
        <p:spPr>
          <a:xfrm>
            <a:off x="4239246" y="3753743"/>
            <a:ext cx="665360" cy="186630"/>
          </a:xfrm>
          <a:prstGeom prst="rect">
            <a:avLst/>
          </a:prstGeom>
          <a:noFill/>
          <a:ln/>
        </p:spPr>
        <p:txBody>
          <a:bodyPr wrap="square" lIns="0" tIns="0" rIns="0" bIns="0" rtlCol="0" anchor="t"/>
          <a:lstStyle/>
          <a:p>
            <a:pPr marL="0" indent="0" algn="ctr">
              <a:lnSpc>
                <a:spcPts val="1470"/>
              </a:lnSpc>
              <a:buNone/>
            </a:pPr>
            <a:r>
              <a:rPr lang="en-US" sz="1050" dirty="0">
                <a:solidFill>
                  <a:srgbClr val="C9A227"/>
                </a:solidFill>
                <a:latin typeface="Arial" pitchFamily="34" charset="0"/>
                <a:ea typeface="Arial" pitchFamily="34" charset="-122"/>
                <a:cs typeface="Arial" pitchFamily="34" charset="-120"/>
              </a:rPr>
              <a:t>10 minutes</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381000" y="228600"/>
            <a:ext cx="8549640" cy="133350"/>
          </a:xfrm>
          <a:prstGeom prst="rect">
            <a:avLst/>
          </a:prstGeom>
          <a:noFill/>
          <a:ln/>
        </p:spPr>
        <p:txBody>
          <a:bodyPr wrap="square" lIns="0" tIns="0" rIns="0" bIns="0" rtlCol="0" anchor="t"/>
          <a:lstStyle/>
          <a:p>
            <a:pPr marL="0" indent="0" algn="l">
              <a:lnSpc>
                <a:spcPts val="1050"/>
              </a:lnSpc>
              <a:spcAft>
                <a:spcPts val="450"/>
              </a:spcAft>
              <a:buNone/>
            </a:pPr>
            <a:r>
              <a:rPr lang="en-US" sz="750" dirty="0">
                <a:solidFill>
                  <a:srgbClr val="C9A227"/>
                </a:solidFill>
                <a:latin typeface="Arial" pitchFamily="34" charset="0"/>
                <a:ea typeface="Arial" pitchFamily="34" charset="-122"/>
                <a:cs typeface="Arial" pitchFamily="34" charset="-120"/>
              </a:rPr>
              <a:t>DATA SECURITY</a:t>
            </a:r>
            <a:endParaRPr lang="en-US" sz="750" dirty="0"/>
          </a:p>
        </p:txBody>
      </p:sp>
      <p:sp>
        <p:nvSpPr>
          <p:cNvPr id="3" name="Text 1"/>
          <p:cNvSpPr/>
          <p:nvPr/>
        </p:nvSpPr>
        <p:spPr>
          <a:xfrm>
            <a:off x="381000" y="419100"/>
            <a:ext cx="4284536" cy="266700"/>
          </a:xfrm>
          <a:prstGeom prst="rect">
            <a:avLst/>
          </a:prstGeom>
          <a:noFill/>
          <a:ln/>
        </p:spPr>
        <p:txBody>
          <a:bodyPr wrap="square" lIns="0" tIns="0" rIns="0" bIns="0" rtlCol="0" anchor="t"/>
          <a:lstStyle/>
          <a:p>
            <a:pPr marL="0" indent="0" algn="l">
              <a:lnSpc>
                <a:spcPts val="2100"/>
              </a:lnSpc>
              <a:buNone/>
            </a:pPr>
            <a:r>
              <a:rPr lang="en-US" sz="2100" dirty="0">
                <a:solidFill>
                  <a:srgbClr val="1A1F2E"/>
                </a:solidFill>
                <a:latin typeface="Georgia" pitchFamily="34" charset="0"/>
                <a:ea typeface="Georgia" pitchFamily="34" charset="-122"/>
                <a:cs typeface="Georgia" pitchFamily="34" charset="-120"/>
              </a:rPr>
              <a:t>Data Flow Awareness</a:t>
            </a:r>
            <a:endParaRPr lang="en-US" sz="2100" dirty="0"/>
          </a:p>
        </p:txBody>
      </p:sp>
      <p:sp>
        <p:nvSpPr>
          <p:cNvPr id="4" name="Text 2"/>
          <p:cNvSpPr/>
          <p:nvPr/>
        </p:nvSpPr>
        <p:spPr>
          <a:xfrm>
            <a:off x="381000" y="742950"/>
            <a:ext cx="8549640" cy="159990"/>
          </a:xfrm>
          <a:prstGeom prst="rect">
            <a:avLst/>
          </a:prstGeom>
          <a:noFill/>
          <a:ln/>
        </p:spPr>
        <p:txBody>
          <a:bodyPr wrap="square" lIns="0" tIns="0" rIns="0" bIns="0" rtlCol="0" anchor="t"/>
          <a:lstStyle/>
          <a:p>
            <a:pPr marL="0" indent="0" algn="l">
              <a:lnSpc>
                <a:spcPts val="1260"/>
              </a:lnSpc>
              <a:spcBef>
                <a:spcPts val="450"/>
              </a:spcBef>
              <a:buNone/>
            </a:pPr>
            <a:r>
              <a:rPr lang="en-US" sz="900" dirty="0">
                <a:solidFill>
                  <a:srgbClr val="6B7280"/>
                </a:solidFill>
                <a:latin typeface="Arial" pitchFamily="34" charset="0"/>
                <a:ea typeface="Arial" pitchFamily="34" charset="-122"/>
                <a:cs typeface="Arial" pitchFamily="34" charset="-120"/>
              </a:rPr>
              <a:t>Understanding where your data goes</a:t>
            </a:r>
            <a:endParaRPr lang="en-US" sz="900" dirty="0"/>
          </a:p>
        </p:txBody>
      </p:sp>
      <p:sp>
        <p:nvSpPr>
          <p:cNvPr id="5" name="Text 3"/>
          <p:cNvSpPr/>
          <p:nvPr/>
        </p:nvSpPr>
        <p:spPr>
          <a:xfrm>
            <a:off x="381000" y="1360438"/>
            <a:ext cx="2730550" cy="1407468"/>
          </a:xfrm>
          <a:prstGeom prst="rect">
            <a:avLst/>
          </a:prstGeom>
          <a:solidFill>
            <a:srgbClr val="DCFCE7"/>
          </a:solidFill>
          <a:ln/>
        </p:spPr>
        <p:txBody>
          <a:bodyPr wrap="square" rtlCol="0" anchor="ctr"/>
          <a:lstStyle/>
          <a:p>
            <a:pPr marL="0" indent="0">
              <a:buNone/>
            </a:pPr>
            <a:endParaRPr lang="en-US" dirty="0"/>
          </a:p>
        </p:txBody>
      </p:sp>
      <p:sp>
        <p:nvSpPr>
          <p:cNvPr id="6" name="Shape 4"/>
          <p:cNvSpPr/>
          <p:nvPr/>
        </p:nvSpPr>
        <p:spPr>
          <a:xfrm>
            <a:off x="400050" y="1360438"/>
            <a:ext cx="0" cy="1407468"/>
          </a:xfrm>
          <a:prstGeom prst="line">
            <a:avLst/>
          </a:prstGeom>
          <a:noFill/>
          <a:ln w="38100">
            <a:solidFill>
              <a:srgbClr val="059669"/>
            </a:solidFill>
            <a:prstDash val="solid"/>
          </a:ln>
        </p:spPr>
        <p:txBody>
          <a:bodyPr/>
          <a:lstStyle/>
          <a:p>
            <a:endParaRPr lang="en-US"/>
          </a:p>
        </p:txBody>
      </p:sp>
      <p:sp>
        <p:nvSpPr>
          <p:cNvPr id="7" name="Text 5"/>
          <p:cNvSpPr/>
          <p:nvPr/>
        </p:nvSpPr>
        <p:spPr>
          <a:xfrm>
            <a:off x="533400" y="1474738"/>
            <a:ext cx="2513127" cy="146596"/>
          </a:xfrm>
          <a:prstGeom prst="rect">
            <a:avLst/>
          </a:prstGeom>
          <a:noFill/>
          <a:ln/>
        </p:spPr>
        <p:txBody>
          <a:bodyPr wrap="square" lIns="0" tIns="0" rIns="0" bIns="0" rtlCol="0" anchor="t"/>
          <a:lstStyle/>
          <a:p>
            <a:pPr marL="0" indent="0" algn="l">
              <a:lnSpc>
                <a:spcPts val="1155"/>
              </a:lnSpc>
              <a:spcAft>
                <a:spcPts val="600"/>
              </a:spcAft>
              <a:buNone/>
            </a:pPr>
            <a:r>
              <a:rPr lang="en-US" sz="825" b="1" dirty="0">
                <a:solidFill>
                  <a:srgbClr val="059669"/>
                </a:solidFill>
                <a:latin typeface="Arial" pitchFamily="34" charset="0"/>
                <a:ea typeface="Arial" pitchFamily="34" charset="-122"/>
                <a:cs typeface="Arial" pitchFamily="34" charset="-120"/>
              </a:rPr>
              <a:t>LOCAL (SAFE)</a:t>
            </a:r>
            <a:endParaRPr lang="en-US" sz="825" dirty="0"/>
          </a:p>
        </p:txBody>
      </p:sp>
      <p:sp>
        <p:nvSpPr>
          <p:cNvPr id="8" name="Text 6"/>
          <p:cNvSpPr/>
          <p:nvPr/>
        </p:nvSpPr>
        <p:spPr>
          <a:xfrm>
            <a:off x="533400" y="1849934"/>
            <a:ext cx="2513127" cy="133350"/>
          </a:xfrm>
          <a:prstGeom prst="rect">
            <a:avLst/>
          </a:prstGeom>
          <a:noFill/>
          <a:ln/>
        </p:spPr>
        <p:txBody>
          <a:bodyPr wrap="square" lIns="0" tIns="0" rIns="0" bIns="0" rtlCol="0" anchor="t"/>
          <a:lstStyle/>
          <a:p>
            <a:pPr marL="0" indent="0" algn="l">
              <a:lnSpc>
                <a:spcPts val="1050"/>
              </a:lnSpc>
              <a:spcAft>
                <a:spcPts val="300"/>
              </a:spcAft>
              <a:buNone/>
            </a:pPr>
            <a:r>
              <a:rPr lang="en-US" sz="750" dirty="0">
                <a:solidFill>
                  <a:srgbClr val="166534"/>
                </a:solidFill>
                <a:latin typeface="Arial" pitchFamily="34" charset="0"/>
                <a:ea typeface="Arial" pitchFamily="34" charset="-122"/>
                <a:cs typeface="Arial" pitchFamily="34" charset="-120"/>
              </a:rPr>
              <a:t>Your Device Only</a:t>
            </a:r>
            <a:endParaRPr lang="en-US" sz="750" dirty="0"/>
          </a:p>
        </p:txBody>
      </p:sp>
      <p:sp>
        <p:nvSpPr>
          <p:cNvPr id="9" name="Text 7"/>
          <p:cNvSpPr/>
          <p:nvPr/>
        </p:nvSpPr>
        <p:spPr>
          <a:xfrm>
            <a:off x="533400" y="2173784"/>
            <a:ext cx="2513127" cy="479822"/>
          </a:xfrm>
          <a:prstGeom prst="rect">
            <a:avLst/>
          </a:prstGeom>
          <a:noFill/>
          <a:ln/>
        </p:spPr>
        <p:txBody>
          <a:bodyPr wrap="square" lIns="0" tIns="0" rIns="0" bIns="0" rtlCol="0" anchor="t"/>
          <a:lstStyle/>
          <a:p>
            <a:pPr marL="0" indent="0" algn="l">
              <a:lnSpc>
                <a:spcPts val="945"/>
              </a:lnSpc>
              <a:buNone/>
            </a:pPr>
            <a:r>
              <a:rPr lang="en-US" sz="675" dirty="0">
                <a:solidFill>
                  <a:srgbClr val="6B7280"/>
                </a:solidFill>
                <a:latin typeface="Arial" pitchFamily="34" charset="0"/>
                <a:ea typeface="Arial" pitchFamily="34" charset="-122"/>
                <a:cs typeface="Arial" pitchFamily="34" charset="-120"/>
              </a:rPr>
              <a:t>SuperWhisper local models</a:t>
            </a:r>
            <a:endParaRPr lang="en-US" sz="675" dirty="0"/>
          </a:p>
          <a:p>
            <a:pPr marL="0" indent="0" algn="l">
              <a:lnSpc>
                <a:spcPts val="945"/>
              </a:lnSpc>
              <a:buNone/>
            </a:pPr>
            <a:r>
              <a:rPr lang="en-US" sz="675" dirty="0">
                <a:solidFill>
                  <a:srgbClr val="6B7280"/>
                </a:solidFill>
                <a:latin typeface="Arial" pitchFamily="34" charset="0"/>
                <a:ea typeface="Arial" pitchFamily="34" charset="-122"/>
                <a:cs typeface="Arial" pitchFamily="34" charset="-120"/>
              </a:rPr>
              <a:t>Ollama local models</a:t>
            </a:r>
            <a:endParaRPr lang="en-US" sz="675" dirty="0"/>
          </a:p>
          <a:p>
            <a:pPr marL="0" indent="0" algn="l">
              <a:lnSpc>
                <a:spcPts val="945"/>
              </a:lnSpc>
              <a:buNone/>
            </a:pPr>
            <a:r>
              <a:rPr lang="en-US" sz="675" dirty="0">
                <a:solidFill>
                  <a:srgbClr val="6B7280"/>
                </a:solidFill>
                <a:latin typeface="Arial" pitchFamily="34" charset="0"/>
                <a:ea typeface="Arial" pitchFamily="34" charset="-122"/>
                <a:cs typeface="Arial" pitchFamily="34" charset="-120"/>
              </a:rPr>
              <a:t>Local file operations</a:t>
            </a:r>
            <a:endParaRPr lang="en-US" sz="675" dirty="0"/>
          </a:p>
          <a:p>
            <a:pPr marL="0" indent="0" algn="l">
              <a:lnSpc>
                <a:spcPts val="945"/>
              </a:lnSpc>
              <a:buNone/>
            </a:pPr>
            <a:r>
              <a:rPr lang="en-US" sz="675" dirty="0">
                <a:solidFill>
                  <a:srgbClr val="6B7280"/>
                </a:solidFill>
                <a:latin typeface="Arial" pitchFamily="34" charset="0"/>
                <a:ea typeface="Arial" pitchFamily="34" charset="-122"/>
                <a:cs typeface="Arial" pitchFamily="34" charset="-120"/>
              </a:rPr>
              <a:t>macOS dictation (on-device)</a:t>
            </a:r>
            <a:endParaRPr lang="en-US" sz="675" dirty="0"/>
          </a:p>
        </p:txBody>
      </p:sp>
      <p:sp>
        <p:nvSpPr>
          <p:cNvPr id="10" name="Text 8"/>
          <p:cNvSpPr/>
          <p:nvPr/>
        </p:nvSpPr>
        <p:spPr>
          <a:xfrm>
            <a:off x="3206800" y="1360438"/>
            <a:ext cx="2730550" cy="1407468"/>
          </a:xfrm>
          <a:prstGeom prst="rect">
            <a:avLst/>
          </a:prstGeom>
          <a:solidFill>
            <a:srgbClr val="FEF3C7"/>
          </a:solidFill>
          <a:ln/>
        </p:spPr>
        <p:txBody>
          <a:bodyPr wrap="square" rtlCol="0" anchor="ctr"/>
          <a:lstStyle/>
          <a:p>
            <a:pPr marL="0" indent="0">
              <a:buNone/>
            </a:pPr>
            <a:endParaRPr lang="en-US" dirty="0"/>
          </a:p>
        </p:txBody>
      </p:sp>
      <p:sp>
        <p:nvSpPr>
          <p:cNvPr id="11" name="Shape 9"/>
          <p:cNvSpPr/>
          <p:nvPr/>
        </p:nvSpPr>
        <p:spPr>
          <a:xfrm>
            <a:off x="3225850" y="1360438"/>
            <a:ext cx="0" cy="1407468"/>
          </a:xfrm>
          <a:prstGeom prst="line">
            <a:avLst/>
          </a:prstGeom>
          <a:noFill/>
          <a:ln w="38100">
            <a:solidFill>
              <a:srgbClr val="F59E0B"/>
            </a:solidFill>
            <a:prstDash val="solid"/>
          </a:ln>
        </p:spPr>
        <p:txBody>
          <a:bodyPr/>
          <a:lstStyle/>
          <a:p>
            <a:endParaRPr lang="en-US"/>
          </a:p>
        </p:txBody>
      </p:sp>
      <p:sp>
        <p:nvSpPr>
          <p:cNvPr id="12" name="Text 10"/>
          <p:cNvSpPr/>
          <p:nvPr/>
        </p:nvSpPr>
        <p:spPr>
          <a:xfrm>
            <a:off x="3359200" y="1474738"/>
            <a:ext cx="2513127" cy="146596"/>
          </a:xfrm>
          <a:prstGeom prst="rect">
            <a:avLst/>
          </a:prstGeom>
          <a:noFill/>
          <a:ln/>
        </p:spPr>
        <p:txBody>
          <a:bodyPr wrap="square" lIns="0" tIns="0" rIns="0" bIns="0" rtlCol="0" anchor="t"/>
          <a:lstStyle/>
          <a:p>
            <a:pPr marL="0" indent="0" algn="l">
              <a:lnSpc>
                <a:spcPts val="1155"/>
              </a:lnSpc>
              <a:spcAft>
                <a:spcPts val="600"/>
              </a:spcAft>
              <a:buNone/>
            </a:pPr>
            <a:r>
              <a:rPr lang="en-US" sz="825" b="1" dirty="0">
                <a:solidFill>
                  <a:srgbClr val="B45309"/>
                </a:solidFill>
                <a:latin typeface="Arial" pitchFamily="34" charset="0"/>
                <a:ea typeface="Arial" pitchFamily="34" charset="-122"/>
                <a:cs typeface="Arial" pitchFamily="34" charset="-120"/>
              </a:rPr>
              <a:t>CLOUD (VERIFY)</a:t>
            </a:r>
            <a:endParaRPr lang="en-US" sz="825" dirty="0"/>
          </a:p>
        </p:txBody>
      </p:sp>
      <p:sp>
        <p:nvSpPr>
          <p:cNvPr id="13" name="Text 11"/>
          <p:cNvSpPr/>
          <p:nvPr/>
        </p:nvSpPr>
        <p:spPr>
          <a:xfrm>
            <a:off x="3359200" y="1849934"/>
            <a:ext cx="2513127" cy="133350"/>
          </a:xfrm>
          <a:prstGeom prst="rect">
            <a:avLst/>
          </a:prstGeom>
          <a:noFill/>
          <a:ln/>
        </p:spPr>
        <p:txBody>
          <a:bodyPr wrap="square" lIns="0" tIns="0" rIns="0" bIns="0" rtlCol="0" anchor="t"/>
          <a:lstStyle/>
          <a:p>
            <a:pPr marL="0" indent="0" algn="l">
              <a:lnSpc>
                <a:spcPts val="1050"/>
              </a:lnSpc>
              <a:spcAft>
                <a:spcPts val="300"/>
              </a:spcAft>
              <a:buNone/>
            </a:pPr>
            <a:r>
              <a:rPr lang="en-US" sz="750" dirty="0">
                <a:solidFill>
                  <a:srgbClr val="92400E"/>
                </a:solidFill>
                <a:latin typeface="Arial" pitchFamily="34" charset="0"/>
                <a:ea typeface="Arial" pitchFamily="34" charset="-122"/>
                <a:cs typeface="Arial" pitchFamily="34" charset="-120"/>
              </a:rPr>
              <a:t>Enterprise Approved</a:t>
            </a:r>
            <a:endParaRPr lang="en-US" sz="750" dirty="0"/>
          </a:p>
        </p:txBody>
      </p:sp>
      <p:sp>
        <p:nvSpPr>
          <p:cNvPr id="14" name="Text 12"/>
          <p:cNvSpPr/>
          <p:nvPr/>
        </p:nvSpPr>
        <p:spPr>
          <a:xfrm>
            <a:off x="3359200" y="2173784"/>
            <a:ext cx="2513127" cy="479822"/>
          </a:xfrm>
          <a:prstGeom prst="rect">
            <a:avLst/>
          </a:prstGeom>
          <a:noFill/>
          <a:ln/>
        </p:spPr>
        <p:txBody>
          <a:bodyPr wrap="square" lIns="0" tIns="0" rIns="0" bIns="0" rtlCol="0" anchor="t"/>
          <a:lstStyle/>
          <a:p>
            <a:pPr marL="0" indent="0" algn="l">
              <a:lnSpc>
                <a:spcPts val="945"/>
              </a:lnSpc>
              <a:buNone/>
            </a:pPr>
            <a:r>
              <a:rPr lang="en-US" sz="675" dirty="0">
                <a:solidFill>
                  <a:srgbClr val="6B7280"/>
                </a:solidFill>
                <a:latin typeface="Arial" pitchFamily="34" charset="0"/>
                <a:ea typeface="Arial" pitchFamily="34" charset="-122"/>
                <a:cs typeface="Arial" pitchFamily="34" charset="-120"/>
              </a:rPr>
              <a:t>Azure OpenAI (with BAA)</a:t>
            </a:r>
            <a:endParaRPr lang="en-US" sz="675" dirty="0"/>
          </a:p>
          <a:p>
            <a:pPr marL="0" indent="0" algn="l">
              <a:lnSpc>
                <a:spcPts val="945"/>
              </a:lnSpc>
              <a:buNone/>
            </a:pPr>
            <a:r>
              <a:rPr lang="en-US" sz="675" dirty="0">
                <a:solidFill>
                  <a:srgbClr val="6B7280"/>
                </a:solidFill>
                <a:latin typeface="Arial" pitchFamily="34" charset="0"/>
                <a:ea typeface="Arial" pitchFamily="34" charset="-122"/>
                <a:cs typeface="Arial" pitchFamily="34" charset="-120"/>
              </a:rPr>
              <a:t>Azure AI Foundry</a:t>
            </a:r>
            <a:endParaRPr lang="en-US" sz="675" dirty="0"/>
          </a:p>
          <a:p>
            <a:pPr marL="0" indent="0" algn="l">
              <a:lnSpc>
                <a:spcPts val="945"/>
              </a:lnSpc>
              <a:buNone/>
            </a:pPr>
            <a:r>
              <a:rPr lang="en-US" sz="675" dirty="0">
                <a:solidFill>
                  <a:srgbClr val="6B7280"/>
                </a:solidFill>
                <a:latin typeface="Arial" pitchFamily="34" charset="0"/>
                <a:ea typeface="Arial" pitchFamily="34" charset="-122"/>
                <a:cs typeface="Arial" pitchFamily="34" charset="-120"/>
              </a:rPr>
              <a:t>GCC/GCC-High endpoints</a:t>
            </a:r>
            <a:endParaRPr lang="en-US" sz="675" dirty="0"/>
          </a:p>
          <a:p>
            <a:pPr marL="0" indent="0" algn="l">
              <a:lnSpc>
                <a:spcPts val="945"/>
              </a:lnSpc>
              <a:buNone/>
            </a:pPr>
            <a:r>
              <a:rPr lang="en-US" sz="675" dirty="0">
                <a:solidFill>
                  <a:srgbClr val="6B7280"/>
                </a:solidFill>
                <a:latin typeface="Arial" pitchFamily="34" charset="0"/>
                <a:ea typeface="Arial" pitchFamily="34" charset="-122"/>
                <a:cs typeface="Arial" pitchFamily="34" charset="-120"/>
              </a:rPr>
              <a:t>GitHub Enterprise</a:t>
            </a:r>
            <a:endParaRPr lang="en-US" sz="675" dirty="0"/>
          </a:p>
        </p:txBody>
      </p:sp>
      <p:sp>
        <p:nvSpPr>
          <p:cNvPr id="15" name="Text 13"/>
          <p:cNvSpPr/>
          <p:nvPr/>
        </p:nvSpPr>
        <p:spPr>
          <a:xfrm>
            <a:off x="6032599" y="1360438"/>
            <a:ext cx="2730550" cy="1407468"/>
          </a:xfrm>
          <a:prstGeom prst="rect">
            <a:avLst/>
          </a:prstGeom>
          <a:solidFill>
            <a:srgbClr val="FEF2F2"/>
          </a:solidFill>
          <a:ln/>
        </p:spPr>
        <p:txBody>
          <a:bodyPr wrap="square" rtlCol="0" anchor="ctr"/>
          <a:lstStyle/>
          <a:p>
            <a:pPr marL="0" indent="0">
              <a:buNone/>
            </a:pPr>
            <a:endParaRPr lang="en-US" dirty="0"/>
          </a:p>
        </p:txBody>
      </p:sp>
      <p:sp>
        <p:nvSpPr>
          <p:cNvPr id="16" name="Shape 14"/>
          <p:cNvSpPr/>
          <p:nvPr/>
        </p:nvSpPr>
        <p:spPr>
          <a:xfrm>
            <a:off x="6051649" y="1360438"/>
            <a:ext cx="0" cy="1407468"/>
          </a:xfrm>
          <a:prstGeom prst="line">
            <a:avLst/>
          </a:prstGeom>
          <a:noFill/>
          <a:ln w="38100">
            <a:solidFill>
              <a:srgbClr val="DC2626"/>
            </a:solidFill>
            <a:prstDash val="solid"/>
          </a:ln>
        </p:spPr>
        <p:txBody>
          <a:bodyPr/>
          <a:lstStyle/>
          <a:p>
            <a:endParaRPr lang="en-US"/>
          </a:p>
        </p:txBody>
      </p:sp>
      <p:sp>
        <p:nvSpPr>
          <p:cNvPr id="17" name="Text 15"/>
          <p:cNvSpPr/>
          <p:nvPr/>
        </p:nvSpPr>
        <p:spPr>
          <a:xfrm>
            <a:off x="6184999" y="1474738"/>
            <a:ext cx="2513127" cy="146596"/>
          </a:xfrm>
          <a:prstGeom prst="rect">
            <a:avLst/>
          </a:prstGeom>
          <a:noFill/>
          <a:ln/>
        </p:spPr>
        <p:txBody>
          <a:bodyPr wrap="square" lIns="0" tIns="0" rIns="0" bIns="0" rtlCol="0" anchor="t"/>
          <a:lstStyle/>
          <a:p>
            <a:pPr marL="0" indent="0" algn="l">
              <a:lnSpc>
                <a:spcPts val="1155"/>
              </a:lnSpc>
              <a:spcAft>
                <a:spcPts val="600"/>
              </a:spcAft>
              <a:buNone/>
            </a:pPr>
            <a:r>
              <a:rPr lang="en-US" sz="825" b="1" dirty="0">
                <a:solidFill>
                  <a:srgbClr val="DC2626"/>
                </a:solidFill>
                <a:latin typeface="Arial" pitchFamily="34" charset="0"/>
                <a:ea typeface="Arial" pitchFamily="34" charset="-122"/>
                <a:cs typeface="Arial" pitchFamily="34" charset="-120"/>
              </a:rPr>
              <a:t>PUBLIC (CAUTION)</a:t>
            </a:r>
            <a:endParaRPr lang="en-US" sz="825" dirty="0"/>
          </a:p>
        </p:txBody>
      </p:sp>
      <p:sp>
        <p:nvSpPr>
          <p:cNvPr id="18" name="Text 16"/>
          <p:cNvSpPr/>
          <p:nvPr/>
        </p:nvSpPr>
        <p:spPr>
          <a:xfrm>
            <a:off x="6184999" y="1849934"/>
            <a:ext cx="2513127" cy="133350"/>
          </a:xfrm>
          <a:prstGeom prst="rect">
            <a:avLst/>
          </a:prstGeom>
          <a:noFill/>
          <a:ln/>
        </p:spPr>
        <p:txBody>
          <a:bodyPr wrap="square" lIns="0" tIns="0" rIns="0" bIns="0" rtlCol="0" anchor="t"/>
          <a:lstStyle/>
          <a:p>
            <a:pPr marL="0" indent="0" algn="l">
              <a:lnSpc>
                <a:spcPts val="1050"/>
              </a:lnSpc>
              <a:spcAft>
                <a:spcPts val="300"/>
              </a:spcAft>
              <a:buNone/>
            </a:pPr>
            <a:r>
              <a:rPr lang="en-US" sz="750" dirty="0">
                <a:solidFill>
                  <a:srgbClr val="991B1B"/>
                </a:solidFill>
                <a:latin typeface="Arial" pitchFamily="34" charset="0"/>
                <a:ea typeface="Arial" pitchFamily="34" charset="-122"/>
                <a:cs typeface="Arial" pitchFamily="34" charset="-120"/>
              </a:rPr>
              <a:t>Not for PHI</a:t>
            </a:r>
            <a:endParaRPr lang="en-US" sz="750" dirty="0"/>
          </a:p>
        </p:txBody>
      </p:sp>
      <p:sp>
        <p:nvSpPr>
          <p:cNvPr id="19" name="Text 17"/>
          <p:cNvSpPr/>
          <p:nvPr/>
        </p:nvSpPr>
        <p:spPr>
          <a:xfrm>
            <a:off x="6184999" y="2173784"/>
            <a:ext cx="2513127" cy="479822"/>
          </a:xfrm>
          <a:prstGeom prst="rect">
            <a:avLst/>
          </a:prstGeom>
          <a:noFill/>
          <a:ln/>
        </p:spPr>
        <p:txBody>
          <a:bodyPr wrap="square" lIns="0" tIns="0" rIns="0" bIns="0" rtlCol="0" anchor="t"/>
          <a:lstStyle/>
          <a:p>
            <a:pPr marL="0" indent="0" algn="l">
              <a:lnSpc>
                <a:spcPts val="945"/>
              </a:lnSpc>
              <a:buNone/>
            </a:pPr>
            <a:r>
              <a:rPr lang="en-US" sz="675" dirty="0">
                <a:solidFill>
                  <a:srgbClr val="6B7280"/>
                </a:solidFill>
                <a:latin typeface="Arial" pitchFamily="34" charset="0"/>
                <a:ea typeface="Arial" pitchFamily="34" charset="-122"/>
                <a:cs typeface="Arial" pitchFamily="34" charset="-120"/>
              </a:rPr>
              <a:t>Wispr Flow (cloud-based)*</a:t>
            </a:r>
            <a:endParaRPr lang="en-US" sz="675" dirty="0"/>
          </a:p>
          <a:p>
            <a:pPr marL="0" indent="0" algn="l">
              <a:lnSpc>
                <a:spcPts val="945"/>
              </a:lnSpc>
              <a:buNone/>
            </a:pPr>
            <a:r>
              <a:rPr lang="en-US" sz="675" dirty="0">
                <a:solidFill>
                  <a:srgbClr val="6B7280"/>
                </a:solidFill>
                <a:latin typeface="Arial" pitchFamily="34" charset="0"/>
                <a:ea typeface="Arial" pitchFamily="34" charset="-122"/>
                <a:cs typeface="Arial" pitchFamily="34" charset="-120"/>
              </a:rPr>
              <a:t>OpenAI/Anthropic direct</a:t>
            </a:r>
            <a:endParaRPr lang="en-US" sz="675" dirty="0"/>
          </a:p>
          <a:p>
            <a:pPr marL="0" indent="0" algn="l">
              <a:lnSpc>
                <a:spcPts val="945"/>
              </a:lnSpc>
              <a:buNone/>
            </a:pPr>
            <a:r>
              <a:rPr lang="en-US" sz="675" dirty="0">
                <a:solidFill>
                  <a:srgbClr val="6B7280"/>
                </a:solidFill>
                <a:latin typeface="Arial" pitchFamily="34" charset="0"/>
                <a:ea typeface="Arial" pitchFamily="34" charset="-122"/>
                <a:cs typeface="Arial" pitchFamily="34" charset="-120"/>
              </a:rPr>
              <a:t>ChatGPT/Claude.ai free</a:t>
            </a:r>
            <a:endParaRPr lang="en-US" sz="675" dirty="0"/>
          </a:p>
          <a:p>
            <a:pPr marL="0" indent="0" algn="l">
              <a:lnSpc>
                <a:spcPts val="945"/>
              </a:lnSpc>
              <a:buNone/>
            </a:pPr>
            <a:r>
              <a:rPr lang="en-US" sz="675" dirty="0">
                <a:solidFill>
                  <a:srgbClr val="6B7280"/>
                </a:solidFill>
                <a:latin typeface="Arial" pitchFamily="34" charset="0"/>
                <a:ea typeface="Arial" pitchFamily="34" charset="-122"/>
                <a:cs typeface="Arial" pitchFamily="34" charset="-120"/>
              </a:rPr>
              <a:t>Default OS dictation</a:t>
            </a:r>
            <a:endParaRPr lang="en-US" sz="675" dirty="0"/>
          </a:p>
        </p:txBody>
      </p:sp>
      <p:sp>
        <p:nvSpPr>
          <p:cNvPr id="20" name="Text 18"/>
          <p:cNvSpPr/>
          <p:nvPr/>
        </p:nvSpPr>
        <p:spPr>
          <a:xfrm>
            <a:off x="381000" y="3034605"/>
            <a:ext cx="8382000" cy="1047601"/>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21" name="Text 19"/>
          <p:cNvSpPr/>
          <p:nvPr/>
        </p:nvSpPr>
        <p:spPr>
          <a:xfrm>
            <a:off x="542925" y="3196530"/>
            <a:ext cx="8219313" cy="146596"/>
          </a:xfrm>
          <a:prstGeom prst="rect">
            <a:avLst/>
          </a:prstGeom>
          <a:noFill/>
          <a:ln/>
        </p:spPr>
        <p:txBody>
          <a:bodyPr wrap="square" lIns="0" tIns="0" rIns="0" bIns="0" rtlCol="0" anchor="t"/>
          <a:lstStyle/>
          <a:p>
            <a:pPr marL="0" indent="0" algn="l">
              <a:lnSpc>
                <a:spcPts val="1155"/>
              </a:lnSpc>
              <a:spcAft>
                <a:spcPts val="750"/>
              </a:spcAft>
              <a:buNone/>
            </a:pPr>
            <a:r>
              <a:rPr lang="en-US" sz="825" b="1" dirty="0">
                <a:solidFill>
                  <a:srgbClr val="1A1F2E"/>
                </a:solidFill>
                <a:latin typeface="Arial" pitchFamily="34" charset="0"/>
                <a:ea typeface="Arial" pitchFamily="34" charset="-122"/>
                <a:cs typeface="Arial" pitchFamily="34" charset="-120"/>
              </a:rPr>
              <a:t>TYPICAL VOICE WORKFLOW DATA FLOW</a:t>
            </a:r>
            <a:endParaRPr lang="en-US" sz="825" dirty="0"/>
          </a:p>
        </p:txBody>
      </p:sp>
      <p:sp>
        <p:nvSpPr>
          <p:cNvPr id="22" name="Text 20"/>
          <p:cNvSpPr/>
          <p:nvPr/>
        </p:nvSpPr>
        <p:spPr>
          <a:xfrm>
            <a:off x="2590502" y="3447901"/>
            <a:ext cx="699939" cy="247650"/>
          </a:xfrm>
          <a:prstGeom prst="rect">
            <a:avLst/>
          </a:prstGeom>
          <a:solidFill>
            <a:srgbClr val="DCFCE7"/>
          </a:solidFill>
          <a:ln/>
        </p:spPr>
        <p:txBody>
          <a:bodyPr wrap="square" rtlCol="0" anchor="ctr"/>
          <a:lstStyle/>
          <a:p>
            <a:pPr marL="0" indent="0">
              <a:buNone/>
            </a:pPr>
            <a:endParaRPr lang="en-US" dirty="0"/>
          </a:p>
        </p:txBody>
      </p:sp>
      <p:sp>
        <p:nvSpPr>
          <p:cNvPr id="23" name="Text 21"/>
          <p:cNvSpPr/>
          <p:nvPr/>
        </p:nvSpPr>
        <p:spPr>
          <a:xfrm>
            <a:off x="2704802" y="3505051"/>
            <a:ext cx="480765" cy="133350"/>
          </a:xfrm>
          <a:prstGeom prst="rect">
            <a:avLst/>
          </a:prstGeom>
          <a:noFill/>
          <a:ln/>
        </p:spPr>
        <p:txBody>
          <a:bodyPr wrap="square" lIns="0" tIns="0" rIns="0" bIns="0" rtlCol="0" anchor="t"/>
          <a:lstStyle/>
          <a:p>
            <a:pPr marL="0" indent="0" algn="l">
              <a:lnSpc>
                <a:spcPts val="1050"/>
              </a:lnSpc>
              <a:buNone/>
            </a:pPr>
            <a:r>
              <a:rPr lang="en-US" sz="750" dirty="0">
                <a:solidFill>
                  <a:srgbClr val="166534"/>
                </a:solidFill>
                <a:latin typeface="Arial" pitchFamily="34" charset="0"/>
                <a:ea typeface="Arial" pitchFamily="34" charset="-122"/>
                <a:cs typeface="Arial" pitchFamily="34" charset="-120"/>
              </a:rPr>
              <a:t>Voice Input</a:t>
            </a:r>
            <a:endParaRPr lang="en-US" sz="750" dirty="0"/>
          </a:p>
        </p:txBody>
      </p:sp>
      <p:sp>
        <p:nvSpPr>
          <p:cNvPr id="24" name="Text 22"/>
          <p:cNvSpPr/>
          <p:nvPr/>
        </p:nvSpPr>
        <p:spPr>
          <a:xfrm>
            <a:off x="3347591" y="3438376"/>
            <a:ext cx="178219" cy="266700"/>
          </a:xfrm>
          <a:prstGeom prst="rect">
            <a:avLst/>
          </a:prstGeom>
          <a:noFill/>
          <a:ln/>
        </p:spPr>
        <p:txBody>
          <a:bodyPr wrap="square" lIns="0" tIns="0" rIns="0" bIns="0" rtlCol="0" anchor="t"/>
          <a:lstStyle/>
          <a:p>
            <a:pPr marL="0" indent="0" algn="l">
              <a:lnSpc>
                <a:spcPts val="2100"/>
              </a:lnSpc>
              <a:buNone/>
            </a:pPr>
            <a:r>
              <a:rPr lang="en-US" sz="1500" dirty="0">
                <a:solidFill>
                  <a:srgbClr val="6B7280"/>
                </a:solidFill>
                <a:latin typeface="Arial" pitchFamily="34" charset="0"/>
                <a:ea typeface="Arial" pitchFamily="34" charset="-122"/>
                <a:cs typeface="Arial" pitchFamily="34" charset="-120"/>
              </a:rPr>
              <a:t>-&gt;</a:t>
            </a:r>
            <a:endParaRPr lang="en-US" sz="1500" dirty="0"/>
          </a:p>
        </p:txBody>
      </p:sp>
      <p:sp>
        <p:nvSpPr>
          <p:cNvPr id="25" name="Text 23"/>
          <p:cNvSpPr/>
          <p:nvPr/>
        </p:nvSpPr>
        <p:spPr>
          <a:xfrm>
            <a:off x="3579465" y="3447901"/>
            <a:ext cx="832098" cy="247650"/>
          </a:xfrm>
          <a:prstGeom prst="rect">
            <a:avLst/>
          </a:prstGeom>
          <a:solidFill>
            <a:srgbClr val="DCFCE7"/>
          </a:solidFill>
          <a:ln/>
        </p:spPr>
        <p:txBody>
          <a:bodyPr wrap="square" rtlCol="0" anchor="ctr"/>
          <a:lstStyle/>
          <a:p>
            <a:pPr marL="0" indent="0">
              <a:buNone/>
            </a:pPr>
            <a:endParaRPr lang="en-US" dirty="0"/>
          </a:p>
        </p:txBody>
      </p:sp>
      <p:sp>
        <p:nvSpPr>
          <p:cNvPr id="26" name="Text 24"/>
          <p:cNvSpPr/>
          <p:nvPr/>
        </p:nvSpPr>
        <p:spPr>
          <a:xfrm>
            <a:off x="3693765" y="3505051"/>
            <a:ext cx="615568" cy="133350"/>
          </a:xfrm>
          <a:prstGeom prst="rect">
            <a:avLst/>
          </a:prstGeom>
          <a:noFill/>
          <a:ln/>
        </p:spPr>
        <p:txBody>
          <a:bodyPr wrap="square" lIns="0" tIns="0" rIns="0" bIns="0" rtlCol="0" anchor="t"/>
          <a:lstStyle/>
          <a:p>
            <a:pPr marL="0" indent="0" algn="l">
              <a:lnSpc>
                <a:spcPts val="1050"/>
              </a:lnSpc>
              <a:buNone/>
            </a:pPr>
            <a:r>
              <a:rPr lang="en-US" sz="750" dirty="0">
                <a:solidFill>
                  <a:srgbClr val="166534"/>
                </a:solidFill>
                <a:latin typeface="Arial" pitchFamily="34" charset="0"/>
                <a:ea typeface="Arial" pitchFamily="34" charset="-122"/>
                <a:cs typeface="Arial" pitchFamily="34" charset="-120"/>
              </a:rPr>
              <a:t>Local Whisper</a:t>
            </a:r>
            <a:endParaRPr lang="en-US" sz="750" dirty="0"/>
          </a:p>
        </p:txBody>
      </p:sp>
      <p:sp>
        <p:nvSpPr>
          <p:cNvPr id="27" name="Text 25"/>
          <p:cNvSpPr/>
          <p:nvPr/>
        </p:nvSpPr>
        <p:spPr>
          <a:xfrm>
            <a:off x="4468713" y="3438376"/>
            <a:ext cx="178219" cy="266700"/>
          </a:xfrm>
          <a:prstGeom prst="rect">
            <a:avLst/>
          </a:prstGeom>
          <a:noFill/>
          <a:ln/>
        </p:spPr>
        <p:txBody>
          <a:bodyPr wrap="square" lIns="0" tIns="0" rIns="0" bIns="0" rtlCol="0" anchor="t"/>
          <a:lstStyle/>
          <a:p>
            <a:pPr marL="0" indent="0" algn="l">
              <a:lnSpc>
                <a:spcPts val="2100"/>
              </a:lnSpc>
              <a:buNone/>
            </a:pPr>
            <a:r>
              <a:rPr lang="en-US" sz="1500" dirty="0">
                <a:solidFill>
                  <a:srgbClr val="6B7280"/>
                </a:solidFill>
                <a:latin typeface="Arial" pitchFamily="34" charset="0"/>
                <a:ea typeface="Arial" pitchFamily="34" charset="-122"/>
                <a:cs typeface="Arial" pitchFamily="34" charset="-120"/>
              </a:rPr>
              <a:t>-&gt;</a:t>
            </a:r>
            <a:endParaRPr lang="en-US" sz="1500" dirty="0"/>
          </a:p>
        </p:txBody>
      </p:sp>
      <p:sp>
        <p:nvSpPr>
          <p:cNvPr id="28" name="Text 26"/>
          <p:cNvSpPr/>
          <p:nvPr/>
        </p:nvSpPr>
        <p:spPr>
          <a:xfrm>
            <a:off x="4700588" y="3447901"/>
            <a:ext cx="853380" cy="247650"/>
          </a:xfrm>
          <a:prstGeom prst="rect">
            <a:avLst/>
          </a:prstGeom>
          <a:solidFill>
            <a:srgbClr val="FEF3C7"/>
          </a:solidFill>
          <a:ln/>
        </p:spPr>
        <p:txBody>
          <a:bodyPr wrap="square" rtlCol="0" anchor="ctr"/>
          <a:lstStyle/>
          <a:p>
            <a:pPr marL="0" indent="0">
              <a:buNone/>
            </a:pPr>
            <a:endParaRPr lang="en-US" dirty="0"/>
          </a:p>
        </p:txBody>
      </p:sp>
      <p:sp>
        <p:nvSpPr>
          <p:cNvPr id="29" name="Text 27"/>
          <p:cNvSpPr/>
          <p:nvPr/>
        </p:nvSpPr>
        <p:spPr>
          <a:xfrm>
            <a:off x="4814888" y="3505051"/>
            <a:ext cx="637276" cy="133350"/>
          </a:xfrm>
          <a:prstGeom prst="rect">
            <a:avLst/>
          </a:prstGeom>
          <a:noFill/>
          <a:ln/>
        </p:spPr>
        <p:txBody>
          <a:bodyPr wrap="square" lIns="0" tIns="0" rIns="0" bIns="0" rtlCol="0" anchor="t"/>
          <a:lstStyle/>
          <a:p>
            <a:pPr marL="0" indent="0" algn="l">
              <a:lnSpc>
                <a:spcPts val="1050"/>
              </a:lnSpc>
              <a:buNone/>
            </a:pPr>
            <a:r>
              <a:rPr lang="en-US" sz="750" dirty="0">
                <a:solidFill>
                  <a:srgbClr val="92400E"/>
                </a:solidFill>
                <a:latin typeface="Arial" pitchFamily="34" charset="0"/>
                <a:ea typeface="Arial" pitchFamily="34" charset="-122"/>
                <a:cs typeface="Arial" pitchFamily="34" charset="-120"/>
              </a:rPr>
              <a:t>AI Processing*</a:t>
            </a:r>
            <a:endParaRPr lang="en-US" sz="750" dirty="0"/>
          </a:p>
        </p:txBody>
      </p:sp>
      <p:sp>
        <p:nvSpPr>
          <p:cNvPr id="30" name="Text 28"/>
          <p:cNvSpPr/>
          <p:nvPr/>
        </p:nvSpPr>
        <p:spPr>
          <a:xfrm>
            <a:off x="5611118" y="3438376"/>
            <a:ext cx="178219" cy="266700"/>
          </a:xfrm>
          <a:prstGeom prst="rect">
            <a:avLst/>
          </a:prstGeom>
          <a:noFill/>
          <a:ln/>
        </p:spPr>
        <p:txBody>
          <a:bodyPr wrap="square" lIns="0" tIns="0" rIns="0" bIns="0" rtlCol="0" anchor="t"/>
          <a:lstStyle/>
          <a:p>
            <a:pPr marL="0" indent="0" algn="l">
              <a:lnSpc>
                <a:spcPts val="2100"/>
              </a:lnSpc>
              <a:buNone/>
            </a:pPr>
            <a:r>
              <a:rPr lang="en-US" sz="1500" dirty="0">
                <a:solidFill>
                  <a:srgbClr val="6B7280"/>
                </a:solidFill>
                <a:latin typeface="Arial" pitchFamily="34" charset="0"/>
                <a:ea typeface="Arial" pitchFamily="34" charset="-122"/>
                <a:cs typeface="Arial" pitchFamily="34" charset="-120"/>
              </a:rPr>
              <a:t>-&gt;</a:t>
            </a:r>
            <a:endParaRPr lang="en-US" sz="1500" dirty="0"/>
          </a:p>
        </p:txBody>
      </p:sp>
      <p:sp>
        <p:nvSpPr>
          <p:cNvPr id="31" name="Text 29"/>
          <p:cNvSpPr/>
          <p:nvPr/>
        </p:nvSpPr>
        <p:spPr>
          <a:xfrm>
            <a:off x="5842992" y="3447901"/>
            <a:ext cx="710505" cy="247650"/>
          </a:xfrm>
          <a:prstGeom prst="rect">
            <a:avLst/>
          </a:prstGeom>
          <a:solidFill>
            <a:srgbClr val="DCFCE7"/>
          </a:solidFill>
          <a:ln/>
        </p:spPr>
        <p:txBody>
          <a:bodyPr wrap="square" rtlCol="0" anchor="ctr"/>
          <a:lstStyle/>
          <a:p>
            <a:pPr marL="0" indent="0">
              <a:buNone/>
            </a:pPr>
            <a:endParaRPr lang="en-US" dirty="0"/>
          </a:p>
        </p:txBody>
      </p:sp>
      <p:sp>
        <p:nvSpPr>
          <p:cNvPr id="32" name="Text 30"/>
          <p:cNvSpPr/>
          <p:nvPr/>
        </p:nvSpPr>
        <p:spPr>
          <a:xfrm>
            <a:off x="5957292" y="3505051"/>
            <a:ext cx="491544" cy="133350"/>
          </a:xfrm>
          <a:prstGeom prst="rect">
            <a:avLst/>
          </a:prstGeom>
          <a:noFill/>
          <a:ln/>
        </p:spPr>
        <p:txBody>
          <a:bodyPr wrap="square" lIns="0" tIns="0" rIns="0" bIns="0" rtlCol="0" anchor="t"/>
          <a:lstStyle/>
          <a:p>
            <a:pPr marL="0" indent="0" algn="l">
              <a:lnSpc>
                <a:spcPts val="1050"/>
              </a:lnSpc>
              <a:buNone/>
            </a:pPr>
            <a:r>
              <a:rPr lang="en-US" sz="750" dirty="0">
                <a:solidFill>
                  <a:srgbClr val="166534"/>
                </a:solidFill>
                <a:latin typeface="Arial" pitchFamily="34" charset="0"/>
                <a:ea typeface="Arial" pitchFamily="34" charset="-122"/>
                <a:cs typeface="Arial" pitchFamily="34" charset="-120"/>
              </a:rPr>
              <a:t>Local Code</a:t>
            </a:r>
            <a:endParaRPr lang="en-US" sz="750" dirty="0"/>
          </a:p>
        </p:txBody>
      </p:sp>
      <p:sp>
        <p:nvSpPr>
          <p:cNvPr id="33" name="Text 31"/>
          <p:cNvSpPr/>
          <p:nvPr/>
        </p:nvSpPr>
        <p:spPr>
          <a:xfrm>
            <a:off x="462344" y="3800326"/>
            <a:ext cx="8219313" cy="119955"/>
          </a:xfrm>
          <a:prstGeom prst="rect">
            <a:avLst/>
          </a:prstGeom>
          <a:noFill/>
          <a:ln/>
        </p:spPr>
        <p:txBody>
          <a:bodyPr wrap="square" lIns="0" tIns="0" rIns="0" bIns="0" rtlCol="0" anchor="t"/>
          <a:lstStyle/>
          <a:p>
            <a:pPr marL="0" indent="0" algn="ctr">
              <a:lnSpc>
                <a:spcPts val="945"/>
              </a:lnSpc>
              <a:spcBef>
                <a:spcPts val="750"/>
              </a:spcBef>
              <a:buNone/>
            </a:pPr>
            <a:r>
              <a:rPr lang="en-US" sz="675" dirty="0">
                <a:solidFill>
                  <a:srgbClr val="6B7280"/>
                </a:solidFill>
                <a:latin typeface="Arial" pitchFamily="34" charset="0"/>
                <a:ea typeface="Arial" pitchFamily="34" charset="-122"/>
                <a:cs typeface="Arial" pitchFamily="34" charset="-120"/>
              </a:rPr>
              <a:t>*Wispr Flow Privacy Mode = zero retention, but audio still sent to cloud servers</a:t>
            </a:r>
            <a:endParaRPr lang="en-US" sz="675" dirty="0"/>
          </a:p>
        </p:txBody>
      </p:sp>
      <p:sp>
        <p:nvSpPr>
          <p:cNvPr id="34" name="Text 32"/>
          <p:cNvSpPr/>
          <p:nvPr/>
        </p:nvSpPr>
        <p:spPr>
          <a:xfrm>
            <a:off x="381000" y="4348907"/>
            <a:ext cx="8382000" cy="375196"/>
          </a:xfrm>
          <a:prstGeom prst="rect">
            <a:avLst/>
          </a:prstGeom>
          <a:solidFill>
            <a:srgbClr val="1A1F2E"/>
          </a:solidFill>
          <a:ln/>
        </p:spPr>
        <p:txBody>
          <a:bodyPr wrap="square" rtlCol="0" anchor="ctr"/>
          <a:lstStyle/>
          <a:p>
            <a:pPr marL="0" indent="0">
              <a:buNone/>
            </a:pPr>
            <a:endParaRPr lang="en-US" dirty="0"/>
          </a:p>
        </p:txBody>
      </p:sp>
      <p:sp>
        <p:nvSpPr>
          <p:cNvPr id="35" name="Text 33"/>
          <p:cNvSpPr/>
          <p:nvPr/>
        </p:nvSpPr>
        <p:spPr>
          <a:xfrm>
            <a:off x="413766" y="4463207"/>
            <a:ext cx="8316468" cy="146596"/>
          </a:xfrm>
          <a:prstGeom prst="rect">
            <a:avLst/>
          </a:prstGeom>
          <a:noFill/>
          <a:ln/>
        </p:spPr>
        <p:txBody>
          <a:bodyPr wrap="square" lIns="0" tIns="0" rIns="0" bIns="0" rtlCol="0" anchor="t"/>
          <a:lstStyle/>
          <a:p>
            <a:pPr marL="0" indent="0" algn="ctr">
              <a:lnSpc>
                <a:spcPts val="1155"/>
              </a:lnSpc>
              <a:buNone/>
            </a:pPr>
            <a:r>
              <a:rPr lang="en-US" sz="825" b="1" dirty="0">
                <a:solidFill>
                  <a:srgbClr val="C9A227"/>
                </a:solidFill>
                <a:latin typeface="Arial" pitchFamily="34" charset="0"/>
                <a:ea typeface="Arial" pitchFamily="34" charset="-122"/>
                <a:cs typeface="Arial" pitchFamily="34" charset="-120"/>
              </a:rPr>
              <a:t>Always know where your data flows before including sensitive information</a:t>
            </a:r>
            <a:endParaRPr lang="en-US" sz="825"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4047679" cy="5143500"/>
          </a:xfrm>
          <a:prstGeom prst="rect">
            <a:avLst/>
          </a:prstGeom>
          <a:solidFill>
            <a:srgbClr val="DC2626"/>
          </a:solidFill>
          <a:ln/>
        </p:spPr>
        <p:txBody>
          <a:bodyPr wrap="square" rtlCol="0" anchor="ctr"/>
          <a:lstStyle/>
          <a:p>
            <a:pPr marL="0" indent="0">
              <a:buNone/>
            </a:pPr>
            <a:endParaRPr lang="en-US" dirty="0"/>
          </a:p>
        </p:txBody>
      </p:sp>
      <p:sp>
        <p:nvSpPr>
          <p:cNvPr id="3" name="Text 1"/>
          <p:cNvSpPr/>
          <p:nvPr/>
        </p:nvSpPr>
        <p:spPr>
          <a:xfrm>
            <a:off x="381000" y="1331714"/>
            <a:ext cx="762000" cy="762000"/>
          </a:xfrm>
          <a:prstGeom prst="rect">
            <a:avLst/>
          </a:prstGeom>
          <a:solidFill>
            <a:srgbClr val="FFFFFF"/>
          </a:solidFill>
          <a:ln/>
        </p:spPr>
        <p:txBody>
          <a:bodyPr wrap="square" rtlCol="0" anchor="ctr"/>
          <a:lstStyle/>
          <a:p>
            <a:pPr marL="0" indent="0">
              <a:buNone/>
            </a:pPr>
            <a:endParaRPr lang="en-US" dirty="0"/>
          </a:p>
        </p:txBody>
      </p:sp>
      <p:sp>
        <p:nvSpPr>
          <p:cNvPr id="4" name="Text 2"/>
          <p:cNvSpPr/>
          <p:nvPr/>
        </p:nvSpPr>
        <p:spPr>
          <a:xfrm>
            <a:off x="675829" y="1392734"/>
            <a:ext cx="175638" cy="639961"/>
          </a:xfrm>
          <a:prstGeom prst="rect">
            <a:avLst/>
          </a:prstGeom>
          <a:noFill/>
          <a:ln/>
        </p:spPr>
        <p:txBody>
          <a:bodyPr wrap="square" lIns="0" tIns="0" rIns="0" bIns="0" rtlCol="0" anchor="t"/>
          <a:lstStyle/>
          <a:p>
            <a:pPr marL="0" indent="0" algn="l">
              <a:lnSpc>
                <a:spcPts val="5040"/>
              </a:lnSpc>
              <a:buNone/>
            </a:pPr>
            <a:r>
              <a:rPr lang="en-US" sz="3600" b="1" dirty="0">
                <a:solidFill>
                  <a:srgbClr val="DC2626"/>
                </a:solidFill>
                <a:latin typeface="Georgia" pitchFamily="34" charset="0"/>
                <a:ea typeface="Georgia" pitchFamily="34" charset="-122"/>
                <a:cs typeface="Georgia" pitchFamily="34" charset="-120"/>
              </a:rPr>
              <a:t>!</a:t>
            </a:r>
            <a:endParaRPr lang="en-US" sz="3600" dirty="0"/>
          </a:p>
        </p:txBody>
      </p:sp>
      <p:sp>
        <p:nvSpPr>
          <p:cNvPr id="5" name="Text 3"/>
          <p:cNvSpPr/>
          <p:nvPr/>
        </p:nvSpPr>
        <p:spPr>
          <a:xfrm>
            <a:off x="381000" y="2436614"/>
            <a:ext cx="2487168" cy="319980"/>
          </a:xfrm>
          <a:prstGeom prst="rect">
            <a:avLst/>
          </a:prstGeom>
          <a:noFill/>
          <a:ln/>
        </p:spPr>
        <p:txBody>
          <a:bodyPr wrap="square" lIns="0" tIns="0" rIns="0" bIns="0" rtlCol="0" anchor="t"/>
          <a:lstStyle/>
          <a:p>
            <a:pPr marL="0" indent="0" algn="l">
              <a:lnSpc>
                <a:spcPts val="2520"/>
              </a:lnSpc>
              <a:spcAft>
                <a:spcPts val="1200"/>
              </a:spcAft>
              <a:buNone/>
            </a:pPr>
            <a:r>
              <a:rPr lang="en-US" sz="2100" dirty="0">
                <a:solidFill>
                  <a:srgbClr val="FFFFFF"/>
                </a:solidFill>
                <a:latin typeface="Georgia" pitchFamily="34" charset="0"/>
                <a:ea typeface="Georgia" pitchFamily="34" charset="-122"/>
                <a:cs typeface="Georgia" pitchFamily="34" charset="-120"/>
              </a:rPr>
              <a:t>PHI Handling Guide</a:t>
            </a:r>
            <a:endParaRPr lang="en-US" sz="2100" dirty="0"/>
          </a:p>
        </p:txBody>
      </p:sp>
      <p:sp>
        <p:nvSpPr>
          <p:cNvPr id="6" name="Text 4"/>
          <p:cNvSpPr/>
          <p:nvPr/>
        </p:nvSpPr>
        <p:spPr>
          <a:xfrm>
            <a:off x="381000" y="3061395"/>
            <a:ext cx="457200" cy="19050"/>
          </a:xfrm>
          <a:prstGeom prst="rect">
            <a:avLst/>
          </a:prstGeom>
          <a:solidFill>
            <a:srgbClr val="FFFFFF"/>
          </a:solidFill>
          <a:ln/>
        </p:spPr>
        <p:txBody>
          <a:bodyPr wrap="square" rtlCol="0" anchor="ctr"/>
          <a:lstStyle/>
          <a:p>
            <a:pPr marL="0" indent="0">
              <a:buNone/>
            </a:pPr>
            <a:endParaRPr lang="en-US" dirty="0"/>
          </a:p>
        </p:txBody>
      </p:sp>
      <p:sp>
        <p:nvSpPr>
          <p:cNvPr id="7" name="Text 5"/>
          <p:cNvSpPr/>
          <p:nvPr/>
        </p:nvSpPr>
        <p:spPr>
          <a:xfrm>
            <a:off x="381000" y="3385245"/>
            <a:ext cx="3351392" cy="426541"/>
          </a:xfrm>
          <a:prstGeom prst="rect">
            <a:avLst/>
          </a:prstGeom>
          <a:noFill/>
          <a:ln/>
        </p:spPr>
        <p:txBody>
          <a:bodyPr wrap="square" lIns="0" tIns="0" rIns="0" bIns="0" rtlCol="0" anchor="t"/>
          <a:lstStyle/>
          <a:p>
            <a:pPr marL="0" indent="0" algn="l">
              <a:lnSpc>
                <a:spcPts val="1680"/>
              </a:lnSpc>
              <a:buNone/>
            </a:pPr>
            <a:r>
              <a:rPr lang="en-US" sz="1050" dirty="0">
                <a:solidFill>
                  <a:srgbClr val="FFFFFF">
                    <a:alpha val="90000"/>
                  </a:srgbClr>
                </a:solidFill>
                <a:latin typeface="Arial" pitchFamily="34" charset="0"/>
                <a:ea typeface="Arial" pitchFamily="34" charset="-122"/>
                <a:cs typeface="Arial" pitchFamily="34" charset="-120"/>
              </a:rPr>
              <a:t>Protected Health Information requires special handling. Know your boundaries.</a:t>
            </a:r>
            <a:endParaRPr lang="en-US" sz="1050" dirty="0"/>
          </a:p>
        </p:txBody>
      </p:sp>
      <p:sp>
        <p:nvSpPr>
          <p:cNvPr id="8" name="Text 6"/>
          <p:cNvSpPr/>
          <p:nvPr/>
        </p:nvSpPr>
        <p:spPr>
          <a:xfrm>
            <a:off x="4200079" y="0"/>
            <a:ext cx="4943921" cy="5143500"/>
          </a:xfrm>
          <a:prstGeom prst="rect">
            <a:avLst/>
          </a:prstGeom>
          <a:solidFill>
            <a:srgbClr val="F7F8FA"/>
          </a:solidFill>
          <a:ln/>
        </p:spPr>
        <p:txBody>
          <a:bodyPr wrap="square" rtlCol="0" anchor="ctr"/>
          <a:lstStyle/>
          <a:p>
            <a:pPr marL="0" indent="0">
              <a:buNone/>
            </a:pPr>
            <a:endParaRPr lang="en-US" dirty="0"/>
          </a:p>
        </p:txBody>
      </p:sp>
      <p:sp>
        <p:nvSpPr>
          <p:cNvPr id="9" name="Text 7"/>
          <p:cNvSpPr/>
          <p:nvPr/>
        </p:nvSpPr>
        <p:spPr>
          <a:xfrm>
            <a:off x="4581079" y="404366"/>
            <a:ext cx="4181921" cy="1331119"/>
          </a:xfrm>
          <a:prstGeom prst="rect">
            <a:avLst/>
          </a:prstGeom>
          <a:solidFill>
            <a:srgbClr val="059669"/>
          </a:solidFill>
          <a:ln/>
        </p:spPr>
        <p:txBody>
          <a:bodyPr wrap="square" rtlCol="0" anchor="ctr"/>
          <a:lstStyle/>
          <a:p>
            <a:pPr marL="0" indent="0">
              <a:buNone/>
            </a:pPr>
            <a:endParaRPr lang="en-US" dirty="0"/>
          </a:p>
        </p:txBody>
      </p:sp>
      <p:sp>
        <p:nvSpPr>
          <p:cNvPr id="10" name="Text 8"/>
          <p:cNvSpPr/>
          <p:nvPr/>
        </p:nvSpPr>
        <p:spPr>
          <a:xfrm>
            <a:off x="4733479" y="556766"/>
            <a:ext cx="3954664" cy="173236"/>
          </a:xfrm>
          <a:prstGeom prst="rect">
            <a:avLst/>
          </a:prstGeom>
          <a:noFill/>
          <a:ln/>
        </p:spPr>
        <p:txBody>
          <a:bodyPr wrap="square" lIns="0" tIns="0" rIns="0" bIns="0" rtlCol="0" anchor="t"/>
          <a:lstStyle/>
          <a:p>
            <a:pPr marL="0" indent="0" algn="l">
              <a:lnSpc>
                <a:spcPts val="1365"/>
              </a:lnSpc>
              <a:spcAft>
                <a:spcPts val="600"/>
              </a:spcAft>
              <a:buNone/>
            </a:pPr>
            <a:r>
              <a:rPr lang="en-US" sz="975" b="1" dirty="0">
                <a:solidFill>
                  <a:srgbClr val="FFFFFF"/>
                </a:solidFill>
                <a:latin typeface="Arial" pitchFamily="34" charset="0"/>
                <a:ea typeface="Arial" pitchFamily="34" charset="-122"/>
                <a:cs typeface="Arial" pitchFamily="34" charset="-120"/>
              </a:rPr>
              <a:t>SAFE FOR PHI</a:t>
            </a:r>
            <a:endParaRPr lang="en-US" sz="975" dirty="0"/>
          </a:p>
        </p:txBody>
      </p:sp>
      <p:sp>
        <p:nvSpPr>
          <p:cNvPr id="11" name="Text 9"/>
          <p:cNvSpPr/>
          <p:nvPr/>
        </p:nvSpPr>
        <p:spPr>
          <a:xfrm>
            <a:off x="4733479" y="806202"/>
            <a:ext cx="3954664" cy="776883"/>
          </a:xfrm>
          <a:prstGeom prst="rect">
            <a:avLst/>
          </a:prstGeom>
          <a:noFill/>
          <a:ln/>
        </p:spPr>
        <p:txBody>
          <a:bodyPr wrap="square" lIns="0" tIns="0" rIns="0" bIns="0" rtlCol="0" anchor="t"/>
          <a:lstStyle/>
          <a:p>
            <a:pPr marL="0" indent="0" algn="l">
              <a:lnSpc>
                <a:spcPts val="1530"/>
              </a:lnSpc>
              <a:buNone/>
            </a:pPr>
            <a:r>
              <a:rPr lang="en-US" sz="900" dirty="0">
                <a:solidFill>
                  <a:srgbClr val="FFFFFF">
                    <a:alpha val="90000"/>
                  </a:srgbClr>
                </a:solidFill>
                <a:latin typeface="Arial" pitchFamily="34" charset="0"/>
                <a:ea typeface="Arial" pitchFamily="34" charset="-122"/>
                <a:cs typeface="Arial" pitchFamily="34" charset="-120"/>
              </a:rPr>
              <a:t>SuperWhisper with local models (FREE tier works!)</a:t>
            </a:r>
            <a:endParaRPr lang="en-US" sz="900" dirty="0"/>
          </a:p>
          <a:p>
            <a:pPr marL="0" indent="0" algn="l">
              <a:lnSpc>
                <a:spcPts val="1530"/>
              </a:lnSpc>
              <a:buNone/>
            </a:pPr>
            <a:r>
              <a:rPr lang="en-US" sz="900" dirty="0">
                <a:solidFill>
                  <a:srgbClr val="FFFFFF">
                    <a:alpha val="90000"/>
                  </a:srgbClr>
                </a:solidFill>
                <a:latin typeface="Arial" pitchFamily="34" charset="0"/>
                <a:ea typeface="Arial" pitchFamily="34" charset="-122"/>
                <a:cs typeface="Arial" pitchFamily="34" charset="-120"/>
              </a:rPr>
              <a:t>Ollama with local models</a:t>
            </a:r>
            <a:endParaRPr lang="en-US" sz="900" dirty="0"/>
          </a:p>
          <a:p>
            <a:pPr marL="0" indent="0" algn="l">
              <a:lnSpc>
                <a:spcPts val="1530"/>
              </a:lnSpc>
              <a:buNone/>
            </a:pPr>
            <a:r>
              <a:rPr lang="en-US" sz="900" dirty="0">
                <a:solidFill>
                  <a:srgbClr val="FFFFFF">
                    <a:alpha val="90000"/>
                  </a:srgbClr>
                </a:solidFill>
                <a:latin typeface="Arial" pitchFamily="34" charset="0"/>
                <a:ea typeface="Arial" pitchFamily="34" charset="-122"/>
                <a:cs typeface="Arial" pitchFamily="34" charset="-120"/>
              </a:rPr>
              <a:t>Azure OpenAI with BAA in place*</a:t>
            </a:r>
            <a:endParaRPr lang="en-US" sz="900" dirty="0"/>
          </a:p>
          <a:p>
            <a:pPr marL="0" indent="0" algn="l">
              <a:lnSpc>
                <a:spcPts val="1530"/>
              </a:lnSpc>
              <a:buNone/>
            </a:pPr>
            <a:r>
              <a:rPr lang="en-US" sz="900" dirty="0">
                <a:solidFill>
                  <a:srgbClr val="FFFFFF">
                    <a:alpha val="90000"/>
                  </a:srgbClr>
                </a:solidFill>
                <a:latin typeface="Arial" pitchFamily="34" charset="0"/>
                <a:ea typeface="Arial" pitchFamily="34" charset="-122"/>
                <a:cs typeface="Arial" pitchFamily="34" charset="-120"/>
              </a:rPr>
              <a:t>Air-gapped systems</a:t>
            </a:r>
            <a:endParaRPr lang="en-US" sz="900" dirty="0"/>
          </a:p>
        </p:txBody>
      </p:sp>
      <p:sp>
        <p:nvSpPr>
          <p:cNvPr id="12" name="Text 10"/>
          <p:cNvSpPr/>
          <p:nvPr/>
        </p:nvSpPr>
        <p:spPr>
          <a:xfrm>
            <a:off x="4581079" y="1849785"/>
            <a:ext cx="4181921" cy="1331119"/>
          </a:xfrm>
          <a:prstGeom prst="rect">
            <a:avLst/>
          </a:prstGeom>
          <a:solidFill>
            <a:srgbClr val="FEF2F2"/>
          </a:solidFill>
          <a:ln/>
        </p:spPr>
        <p:txBody>
          <a:bodyPr wrap="square" rtlCol="0" anchor="ctr"/>
          <a:lstStyle/>
          <a:p>
            <a:pPr marL="0" indent="0">
              <a:buNone/>
            </a:pPr>
            <a:endParaRPr lang="en-US" dirty="0"/>
          </a:p>
        </p:txBody>
      </p:sp>
      <p:sp>
        <p:nvSpPr>
          <p:cNvPr id="13" name="Shape 11"/>
          <p:cNvSpPr/>
          <p:nvPr/>
        </p:nvSpPr>
        <p:spPr>
          <a:xfrm>
            <a:off x="4600129" y="1849785"/>
            <a:ext cx="0" cy="1331119"/>
          </a:xfrm>
          <a:prstGeom prst="line">
            <a:avLst/>
          </a:prstGeom>
          <a:noFill/>
          <a:ln w="38100">
            <a:solidFill>
              <a:srgbClr val="DC2626"/>
            </a:solidFill>
            <a:prstDash val="solid"/>
          </a:ln>
        </p:spPr>
        <p:txBody>
          <a:bodyPr/>
          <a:lstStyle/>
          <a:p>
            <a:endParaRPr lang="en-US"/>
          </a:p>
        </p:txBody>
      </p:sp>
      <p:sp>
        <p:nvSpPr>
          <p:cNvPr id="14" name="Text 12"/>
          <p:cNvSpPr/>
          <p:nvPr/>
        </p:nvSpPr>
        <p:spPr>
          <a:xfrm>
            <a:off x="4771579" y="2002185"/>
            <a:ext cx="3915802" cy="173236"/>
          </a:xfrm>
          <a:prstGeom prst="rect">
            <a:avLst/>
          </a:prstGeom>
          <a:noFill/>
          <a:ln/>
        </p:spPr>
        <p:txBody>
          <a:bodyPr wrap="square" lIns="0" tIns="0" rIns="0" bIns="0" rtlCol="0" anchor="t"/>
          <a:lstStyle/>
          <a:p>
            <a:pPr marL="0" indent="0" algn="l">
              <a:lnSpc>
                <a:spcPts val="1365"/>
              </a:lnSpc>
              <a:spcAft>
                <a:spcPts val="600"/>
              </a:spcAft>
              <a:buNone/>
            </a:pPr>
            <a:r>
              <a:rPr lang="en-US" sz="975" b="1" dirty="0">
                <a:solidFill>
                  <a:srgbClr val="991B1B"/>
                </a:solidFill>
                <a:latin typeface="Arial" pitchFamily="34" charset="0"/>
                <a:ea typeface="Arial" pitchFamily="34" charset="-122"/>
                <a:cs typeface="Arial" pitchFamily="34" charset="-120"/>
              </a:rPr>
              <a:t>NOT SAFE FOR PHI (without approval)</a:t>
            </a:r>
            <a:endParaRPr lang="en-US" sz="975" dirty="0"/>
          </a:p>
        </p:txBody>
      </p:sp>
      <p:sp>
        <p:nvSpPr>
          <p:cNvPr id="15" name="Text 13"/>
          <p:cNvSpPr/>
          <p:nvPr/>
        </p:nvSpPr>
        <p:spPr>
          <a:xfrm>
            <a:off x="4771579" y="2251621"/>
            <a:ext cx="3915802" cy="776883"/>
          </a:xfrm>
          <a:prstGeom prst="rect">
            <a:avLst/>
          </a:prstGeom>
          <a:noFill/>
          <a:ln/>
        </p:spPr>
        <p:txBody>
          <a:bodyPr wrap="square" lIns="0" tIns="0" rIns="0" bIns="0" rtlCol="0" anchor="t"/>
          <a:lstStyle/>
          <a:p>
            <a:pPr marL="0" indent="0" algn="l">
              <a:lnSpc>
                <a:spcPts val="1530"/>
              </a:lnSpc>
              <a:buNone/>
            </a:pPr>
            <a:r>
              <a:rPr lang="en-US" sz="900" dirty="0">
                <a:solidFill>
                  <a:srgbClr val="991B1B"/>
                </a:solidFill>
                <a:latin typeface="Arial" pitchFamily="34" charset="0"/>
                <a:ea typeface="Arial" pitchFamily="34" charset="-122"/>
                <a:cs typeface="Arial" pitchFamily="34" charset="-120"/>
              </a:rPr>
              <a:t>Wispr Flow (cloud-based, even with Privacy Mode)</a:t>
            </a:r>
            <a:endParaRPr lang="en-US" sz="900" dirty="0"/>
          </a:p>
          <a:p>
            <a:pPr marL="0" indent="0" algn="l">
              <a:lnSpc>
                <a:spcPts val="1530"/>
              </a:lnSpc>
              <a:buNone/>
            </a:pPr>
            <a:r>
              <a:rPr lang="en-US" sz="900" dirty="0">
                <a:solidFill>
                  <a:srgbClr val="991B1B"/>
                </a:solidFill>
                <a:latin typeface="Arial" pitchFamily="34" charset="0"/>
                <a:ea typeface="Arial" pitchFamily="34" charset="-122"/>
                <a:cs typeface="Arial" pitchFamily="34" charset="-120"/>
              </a:rPr>
              <a:t>Direct OpenAI/Anthropic API calls</a:t>
            </a:r>
            <a:endParaRPr lang="en-US" sz="900" dirty="0"/>
          </a:p>
          <a:p>
            <a:pPr marL="0" indent="0" algn="l">
              <a:lnSpc>
                <a:spcPts val="1530"/>
              </a:lnSpc>
              <a:buNone/>
            </a:pPr>
            <a:r>
              <a:rPr lang="en-US" sz="900" dirty="0">
                <a:solidFill>
                  <a:srgbClr val="991B1B"/>
                </a:solidFill>
                <a:latin typeface="Arial" pitchFamily="34" charset="0"/>
                <a:ea typeface="Arial" pitchFamily="34" charset="-122"/>
                <a:cs typeface="Arial" pitchFamily="34" charset="-120"/>
              </a:rPr>
              <a:t>Consumer AI tools (ChatGPT, Claude.ai free)</a:t>
            </a:r>
            <a:endParaRPr lang="en-US" sz="900" dirty="0"/>
          </a:p>
          <a:p>
            <a:pPr marL="0" indent="0" algn="l">
              <a:lnSpc>
                <a:spcPts val="1530"/>
              </a:lnSpc>
              <a:buNone/>
            </a:pPr>
            <a:r>
              <a:rPr lang="en-US" sz="900" dirty="0">
                <a:solidFill>
                  <a:srgbClr val="991B1B"/>
                </a:solidFill>
                <a:latin typeface="Arial" pitchFamily="34" charset="0"/>
                <a:ea typeface="Arial" pitchFamily="34" charset="-122"/>
                <a:cs typeface="Arial" pitchFamily="34" charset="-120"/>
              </a:rPr>
              <a:t>Default OS cloud dictation</a:t>
            </a:r>
            <a:endParaRPr lang="en-US" sz="900" dirty="0"/>
          </a:p>
        </p:txBody>
      </p:sp>
      <p:sp>
        <p:nvSpPr>
          <p:cNvPr id="16" name="Text 14"/>
          <p:cNvSpPr/>
          <p:nvPr/>
        </p:nvSpPr>
        <p:spPr>
          <a:xfrm>
            <a:off x="4581079" y="3295204"/>
            <a:ext cx="4181921" cy="916186"/>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17" name="Text 15"/>
          <p:cNvSpPr/>
          <p:nvPr/>
        </p:nvSpPr>
        <p:spPr>
          <a:xfrm>
            <a:off x="4743004" y="3457129"/>
            <a:ext cx="3935233" cy="173236"/>
          </a:xfrm>
          <a:prstGeom prst="rect">
            <a:avLst/>
          </a:prstGeom>
          <a:noFill/>
          <a:ln/>
        </p:spPr>
        <p:txBody>
          <a:bodyPr wrap="square" lIns="0" tIns="0" rIns="0" bIns="0" rtlCol="0" anchor="t"/>
          <a:lstStyle/>
          <a:p>
            <a:pPr marL="0" indent="0" algn="l">
              <a:lnSpc>
                <a:spcPts val="1365"/>
              </a:lnSpc>
              <a:spcAft>
                <a:spcPts val="600"/>
              </a:spcAft>
              <a:buNone/>
            </a:pPr>
            <a:r>
              <a:rPr lang="en-US" sz="975" b="1" dirty="0">
                <a:solidFill>
                  <a:srgbClr val="1A1F2E"/>
                </a:solidFill>
                <a:latin typeface="Arial" pitchFamily="34" charset="0"/>
                <a:ea typeface="Arial" pitchFamily="34" charset="-122"/>
                <a:cs typeface="Arial" pitchFamily="34" charset="-120"/>
              </a:rPr>
              <a:t>PHI INCLUDES</a:t>
            </a:r>
            <a:endParaRPr lang="en-US" sz="975" dirty="0"/>
          </a:p>
        </p:txBody>
      </p:sp>
      <p:sp>
        <p:nvSpPr>
          <p:cNvPr id="18" name="Text 16"/>
          <p:cNvSpPr/>
          <p:nvPr/>
        </p:nvSpPr>
        <p:spPr>
          <a:xfrm>
            <a:off x="4743004" y="3706564"/>
            <a:ext cx="3935233" cy="342900"/>
          </a:xfrm>
          <a:prstGeom prst="rect">
            <a:avLst/>
          </a:prstGeom>
          <a:noFill/>
          <a:ln/>
        </p:spPr>
        <p:txBody>
          <a:bodyPr wrap="square" lIns="0" tIns="0" rIns="0" bIns="0" rtlCol="0" anchor="t"/>
          <a:lstStyle/>
          <a:p>
            <a:pPr marL="0" indent="0" algn="l">
              <a:lnSpc>
                <a:spcPts val="1350"/>
              </a:lnSpc>
              <a:buNone/>
            </a:pPr>
            <a:r>
              <a:rPr lang="en-US" sz="900" dirty="0">
                <a:solidFill>
                  <a:srgbClr val="6B7280"/>
                </a:solidFill>
                <a:latin typeface="Arial" pitchFamily="34" charset="0"/>
                <a:ea typeface="Arial" pitchFamily="34" charset="-122"/>
                <a:cs typeface="Arial" pitchFamily="34" charset="-120"/>
              </a:rPr>
              <a:t>Names, dates, addresses, SSN, medical record numbers, health conditions, test results, provider information, any data that could identify a patient</a:t>
            </a:r>
            <a:endParaRPr lang="en-US" sz="900" dirty="0"/>
          </a:p>
        </p:txBody>
      </p:sp>
      <p:sp>
        <p:nvSpPr>
          <p:cNvPr id="19" name="Text 17"/>
          <p:cNvSpPr/>
          <p:nvPr/>
        </p:nvSpPr>
        <p:spPr>
          <a:xfrm>
            <a:off x="4581079" y="4325689"/>
            <a:ext cx="4181921" cy="413296"/>
          </a:xfrm>
          <a:prstGeom prst="rect">
            <a:avLst/>
          </a:prstGeom>
          <a:solidFill>
            <a:srgbClr val="1A1F2E"/>
          </a:solidFill>
          <a:ln/>
        </p:spPr>
        <p:txBody>
          <a:bodyPr wrap="square" rtlCol="0" anchor="ctr"/>
          <a:lstStyle/>
          <a:p>
            <a:pPr marL="0" indent="0">
              <a:buNone/>
            </a:pPr>
            <a:endParaRPr lang="en-US" dirty="0"/>
          </a:p>
        </p:txBody>
      </p:sp>
      <p:sp>
        <p:nvSpPr>
          <p:cNvPr id="20" name="Text 18"/>
          <p:cNvSpPr/>
          <p:nvPr/>
        </p:nvSpPr>
        <p:spPr>
          <a:xfrm>
            <a:off x="4675276" y="4459039"/>
            <a:ext cx="3993526" cy="146596"/>
          </a:xfrm>
          <a:prstGeom prst="rect">
            <a:avLst/>
          </a:prstGeom>
          <a:noFill/>
          <a:ln/>
        </p:spPr>
        <p:txBody>
          <a:bodyPr wrap="square" lIns="0" tIns="0" rIns="0" bIns="0" rtlCol="0" anchor="t"/>
          <a:lstStyle/>
          <a:p>
            <a:pPr marL="0" indent="0" algn="ctr">
              <a:lnSpc>
                <a:spcPts val="1155"/>
              </a:lnSpc>
              <a:buNone/>
            </a:pPr>
            <a:r>
              <a:rPr lang="en-US" sz="825" dirty="0">
                <a:solidFill>
                  <a:srgbClr val="C9A227"/>
                </a:solidFill>
                <a:latin typeface="Arial" pitchFamily="34" charset="0"/>
                <a:ea typeface="Arial" pitchFamily="34" charset="-122"/>
                <a:cs typeface="Arial" pitchFamily="34" charset="-120"/>
              </a:rPr>
              <a:t>*Always verify BAA status with your compliance team before use</a:t>
            </a:r>
            <a:endParaRPr lang="en-US" sz="825"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457200" y="266700"/>
            <a:ext cx="8394192" cy="146596"/>
          </a:xfrm>
          <a:prstGeom prst="rect">
            <a:avLst/>
          </a:prstGeom>
          <a:noFill/>
          <a:ln/>
        </p:spPr>
        <p:txBody>
          <a:bodyPr wrap="square" lIns="0" tIns="0" rIns="0" bIns="0" rtlCol="0" anchor="t"/>
          <a:lstStyle/>
          <a:p>
            <a:pPr marL="0" indent="0" algn="l">
              <a:lnSpc>
                <a:spcPts val="1155"/>
              </a:lnSpc>
              <a:spcAft>
                <a:spcPts val="600"/>
              </a:spcAft>
              <a:buNone/>
            </a:pPr>
            <a:r>
              <a:rPr lang="en-US" sz="825" dirty="0">
                <a:solidFill>
                  <a:srgbClr val="C9A227"/>
                </a:solidFill>
                <a:latin typeface="Arial" pitchFamily="34" charset="0"/>
                <a:ea typeface="Arial" pitchFamily="34" charset="-122"/>
                <a:cs typeface="Arial" pitchFamily="34" charset="-120"/>
              </a:rPr>
              <a:t>CHECKLIST</a:t>
            </a:r>
            <a:endParaRPr lang="en-US" sz="825" dirty="0"/>
          </a:p>
        </p:txBody>
      </p:sp>
      <p:sp>
        <p:nvSpPr>
          <p:cNvPr id="3" name="Text 1"/>
          <p:cNvSpPr/>
          <p:nvPr/>
        </p:nvSpPr>
        <p:spPr>
          <a:xfrm>
            <a:off x="457200" y="489496"/>
            <a:ext cx="4206812" cy="304800"/>
          </a:xfrm>
          <a:prstGeom prst="rect">
            <a:avLst/>
          </a:prstGeom>
          <a:noFill/>
          <a:ln/>
        </p:spPr>
        <p:txBody>
          <a:bodyPr wrap="square" lIns="0" tIns="0" rIns="0" bIns="0" rtlCol="0" anchor="t"/>
          <a:lstStyle/>
          <a:p>
            <a:pPr marL="0" indent="0" algn="l">
              <a:lnSpc>
                <a:spcPts val="2400"/>
              </a:lnSpc>
              <a:buNone/>
            </a:pPr>
            <a:r>
              <a:rPr lang="en-US" sz="2400" dirty="0">
                <a:solidFill>
                  <a:srgbClr val="1A1F2E"/>
                </a:solidFill>
                <a:latin typeface="Georgia" pitchFamily="34" charset="0"/>
                <a:ea typeface="Georgia" pitchFamily="34" charset="-122"/>
                <a:cs typeface="Georgia" pitchFamily="34" charset="-120"/>
              </a:rPr>
              <a:t>Before Using AI Tools</a:t>
            </a:r>
            <a:endParaRPr lang="en-US" sz="2400" dirty="0"/>
          </a:p>
        </p:txBody>
      </p:sp>
      <p:sp>
        <p:nvSpPr>
          <p:cNvPr id="4" name="Text 2"/>
          <p:cNvSpPr/>
          <p:nvPr/>
        </p:nvSpPr>
        <p:spPr>
          <a:xfrm>
            <a:off x="457200" y="1545878"/>
            <a:ext cx="2808536" cy="2884140"/>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5" name="Text 3"/>
          <p:cNvSpPr/>
          <p:nvPr/>
        </p:nvSpPr>
        <p:spPr>
          <a:xfrm>
            <a:off x="657225" y="1745903"/>
            <a:ext cx="2456655" cy="159990"/>
          </a:xfrm>
          <a:prstGeom prst="rect">
            <a:avLst/>
          </a:prstGeom>
          <a:noFill/>
          <a:ln/>
        </p:spPr>
        <p:txBody>
          <a:bodyPr wrap="square" lIns="0" tIns="0" rIns="0" bIns="0" rtlCol="0" anchor="t"/>
          <a:lstStyle/>
          <a:p>
            <a:pPr marL="0" indent="0" algn="l">
              <a:lnSpc>
                <a:spcPts val="1260"/>
              </a:lnSpc>
              <a:spcAft>
                <a:spcPts val="1200"/>
              </a:spcAft>
              <a:buNone/>
            </a:pPr>
            <a:r>
              <a:rPr lang="en-US" sz="900" b="1" dirty="0">
                <a:solidFill>
                  <a:srgbClr val="C9A227"/>
                </a:solidFill>
                <a:latin typeface="Arial" pitchFamily="34" charset="0"/>
                <a:ea typeface="Arial" pitchFamily="34" charset="-122"/>
                <a:cs typeface="Arial" pitchFamily="34" charset="-120"/>
              </a:rPr>
              <a:t>INITIAL SETUP</a:t>
            </a:r>
            <a:endParaRPr lang="en-US" sz="900" dirty="0"/>
          </a:p>
        </p:txBody>
      </p:sp>
      <p:sp>
        <p:nvSpPr>
          <p:cNvPr id="6" name="Text 4"/>
          <p:cNvSpPr/>
          <p:nvPr/>
        </p:nvSpPr>
        <p:spPr>
          <a:xfrm>
            <a:off x="657225" y="2210693"/>
            <a:ext cx="190500" cy="190500"/>
          </a:xfrm>
          <a:prstGeom prst="rect">
            <a:avLst/>
          </a:prstGeom>
          <a:noFill/>
          <a:ln w="19050">
            <a:solidFill>
              <a:srgbClr val="059669"/>
            </a:solidFill>
          </a:ln>
        </p:spPr>
        <p:txBody>
          <a:bodyPr wrap="square" rtlCol="0" anchor="ctr"/>
          <a:lstStyle/>
          <a:p>
            <a:pPr marL="0" indent="0">
              <a:buNone/>
            </a:pPr>
            <a:endParaRPr lang="en-US" dirty="0"/>
          </a:p>
        </p:txBody>
      </p:sp>
      <p:sp>
        <p:nvSpPr>
          <p:cNvPr id="7" name="Text 5"/>
          <p:cNvSpPr/>
          <p:nvPr/>
        </p:nvSpPr>
        <p:spPr>
          <a:xfrm>
            <a:off x="942975" y="2225873"/>
            <a:ext cx="1380360" cy="159990"/>
          </a:xfrm>
          <a:prstGeom prst="rect">
            <a:avLst/>
          </a:prstGeom>
          <a:noFill/>
          <a:ln/>
        </p:spPr>
        <p:txBody>
          <a:bodyPr wrap="square" lIns="0" tIns="0" rIns="0" bIns="0" rtlCol="0" anchor="t"/>
          <a:lstStyle/>
          <a:p>
            <a:pPr marL="0" indent="0" algn="l">
              <a:lnSpc>
                <a:spcPts val="1260"/>
              </a:lnSpc>
              <a:buNone/>
            </a:pPr>
            <a:r>
              <a:rPr lang="en-US" sz="900" dirty="0">
                <a:solidFill>
                  <a:srgbClr val="1A1F2E"/>
                </a:solidFill>
                <a:latin typeface="Arial" pitchFamily="34" charset="0"/>
                <a:ea typeface="Arial" pitchFamily="34" charset="-122"/>
                <a:cs typeface="Arial" pitchFamily="34" charset="-120"/>
              </a:rPr>
              <a:t>Verified tool is IT-approved</a:t>
            </a:r>
            <a:endParaRPr lang="en-US" sz="900" dirty="0"/>
          </a:p>
        </p:txBody>
      </p:sp>
      <p:sp>
        <p:nvSpPr>
          <p:cNvPr id="8" name="Text 6"/>
          <p:cNvSpPr/>
          <p:nvPr/>
        </p:nvSpPr>
        <p:spPr>
          <a:xfrm>
            <a:off x="657225" y="2667893"/>
            <a:ext cx="190500" cy="190500"/>
          </a:xfrm>
          <a:prstGeom prst="rect">
            <a:avLst/>
          </a:prstGeom>
          <a:noFill/>
          <a:ln w="19050">
            <a:solidFill>
              <a:srgbClr val="059669"/>
            </a:solidFill>
          </a:ln>
        </p:spPr>
        <p:txBody>
          <a:bodyPr wrap="square" rtlCol="0" anchor="ctr"/>
          <a:lstStyle/>
          <a:p>
            <a:pPr marL="0" indent="0">
              <a:buNone/>
            </a:pPr>
            <a:endParaRPr lang="en-US" dirty="0"/>
          </a:p>
        </p:txBody>
      </p:sp>
      <p:sp>
        <p:nvSpPr>
          <p:cNvPr id="9" name="Text 7"/>
          <p:cNvSpPr/>
          <p:nvPr/>
        </p:nvSpPr>
        <p:spPr>
          <a:xfrm>
            <a:off x="942975" y="2683073"/>
            <a:ext cx="1911676" cy="159990"/>
          </a:xfrm>
          <a:prstGeom prst="rect">
            <a:avLst/>
          </a:prstGeom>
          <a:noFill/>
          <a:ln/>
        </p:spPr>
        <p:txBody>
          <a:bodyPr wrap="square" lIns="0" tIns="0" rIns="0" bIns="0" rtlCol="0" anchor="t"/>
          <a:lstStyle/>
          <a:p>
            <a:pPr marL="0" indent="0" algn="l">
              <a:lnSpc>
                <a:spcPts val="1260"/>
              </a:lnSpc>
              <a:buNone/>
            </a:pPr>
            <a:r>
              <a:rPr lang="en-US" sz="900" dirty="0">
                <a:solidFill>
                  <a:srgbClr val="1A1F2E"/>
                </a:solidFill>
                <a:latin typeface="Arial" pitchFamily="34" charset="0"/>
                <a:ea typeface="Arial" pitchFamily="34" charset="-122"/>
                <a:cs typeface="Arial" pitchFamily="34" charset="-120"/>
              </a:rPr>
              <a:t>Understand data flow (local vs cloud)</a:t>
            </a:r>
            <a:endParaRPr lang="en-US" sz="900" dirty="0"/>
          </a:p>
        </p:txBody>
      </p:sp>
      <p:sp>
        <p:nvSpPr>
          <p:cNvPr id="10" name="Text 8"/>
          <p:cNvSpPr/>
          <p:nvPr/>
        </p:nvSpPr>
        <p:spPr>
          <a:xfrm>
            <a:off x="657225" y="3125093"/>
            <a:ext cx="190500" cy="190500"/>
          </a:xfrm>
          <a:prstGeom prst="rect">
            <a:avLst/>
          </a:prstGeom>
          <a:noFill/>
          <a:ln w="19050">
            <a:solidFill>
              <a:srgbClr val="059669"/>
            </a:solidFill>
          </a:ln>
        </p:spPr>
        <p:txBody>
          <a:bodyPr wrap="square" rtlCol="0" anchor="ctr"/>
          <a:lstStyle/>
          <a:p>
            <a:pPr marL="0" indent="0">
              <a:buNone/>
            </a:pPr>
            <a:endParaRPr lang="en-US" dirty="0"/>
          </a:p>
        </p:txBody>
      </p:sp>
      <p:sp>
        <p:nvSpPr>
          <p:cNvPr id="11" name="Text 9"/>
          <p:cNvSpPr/>
          <p:nvPr/>
        </p:nvSpPr>
        <p:spPr>
          <a:xfrm>
            <a:off x="942975" y="3140273"/>
            <a:ext cx="1833649" cy="159990"/>
          </a:xfrm>
          <a:prstGeom prst="rect">
            <a:avLst/>
          </a:prstGeom>
          <a:noFill/>
          <a:ln/>
        </p:spPr>
        <p:txBody>
          <a:bodyPr wrap="square" lIns="0" tIns="0" rIns="0" bIns="0" rtlCol="0" anchor="t"/>
          <a:lstStyle/>
          <a:p>
            <a:pPr marL="0" indent="0" algn="l">
              <a:lnSpc>
                <a:spcPts val="1260"/>
              </a:lnSpc>
              <a:buNone/>
            </a:pPr>
            <a:r>
              <a:rPr lang="en-US" sz="900" dirty="0">
                <a:solidFill>
                  <a:srgbClr val="1A1F2E"/>
                </a:solidFill>
                <a:latin typeface="Arial" pitchFamily="34" charset="0"/>
                <a:ea typeface="Arial" pitchFamily="34" charset="-122"/>
                <a:cs typeface="Arial" pitchFamily="34" charset="-120"/>
              </a:rPr>
              <a:t>API keys stored securely (env vars)</a:t>
            </a:r>
            <a:endParaRPr lang="en-US" sz="900" dirty="0"/>
          </a:p>
        </p:txBody>
      </p:sp>
      <p:sp>
        <p:nvSpPr>
          <p:cNvPr id="12" name="Text 10"/>
          <p:cNvSpPr/>
          <p:nvPr/>
        </p:nvSpPr>
        <p:spPr>
          <a:xfrm>
            <a:off x="657225" y="3582293"/>
            <a:ext cx="190500" cy="190500"/>
          </a:xfrm>
          <a:prstGeom prst="rect">
            <a:avLst/>
          </a:prstGeom>
          <a:noFill/>
          <a:ln w="19050">
            <a:solidFill>
              <a:srgbClr val="059669"/>
            </a:solidFill>
          </a:ln>
        </p:spPr>
        <p:txBody>
          <a:bodyPr wrap="square" rtlCol="0" anchor="ctr"/>
          <a:lstStyle/>
          <a:p>
            <a:pPr marL="0" indent="0">
              <a:buNone/>
            </a:pPr>
            <a:endParaRPr lang="en-US" dirty="0"/>
          </a:p>
        </p:txBody>
      </p:sp>
      <p:sp>
        <p:nvSpPr>
          <p:cNvPr id="13" name="Text 11"/>
          <p:cNvSpPr/>
          <p:nvPr/>
        </p:nvSpPr>
        <p:spPr>
          <a:xfrm>
            <a:off x="942975" y="3597473"/>
            <a:ext cx="1393567" cy="159990"/>
          </a:xfrm>
          <a:prstGeom prst="rect">
            <a:avLst/>
          </a:prstGeom>
          <a:noFill/>
          <a:ln/>
        </p:spPr>
        <p:txBody>
          <a:bodyPr wrap="square" lIns="0" tIns="0" rIns="0" bIns="0" rtlCol="0" anchor="t"/>
          <a:lstStyle/>
          <a:p>
            <a:pPr marL="0" indent="0" algn="l">
              <a:lnSpc>
                <a:spcPts val="1260"/>
              </a:lnSpc>
              <a:buNone/>
            </a:pPr>
            <a:r>
              <a:rPr lang="en-US" sz="900" dirty="0">
                <a:solidFill>
                  <a:srgbClr val="1A1F2E"/>
                </a:solidFill>
                <a:latin typeface="Arial" pitchFamily="34" charset="0"/>
                <a:ea typeface="Arial" pitchFamily="34" charset="-122"/>
                <a:cs typeface="Arial" pitchFamily="34" charset="-120"/>
              </a:rPr>
              <a:t>Local transcription enabled</a:t>
            </a:r>
            <a:endParaRPr lang="en-US" sz="900" dirty="0"/>
          </a:p>
        </p:txBody>
      </p:sp>
      <p:sp>
        <p:nvSpPr>
          <p:cNvPr id="14" name="Text 12"/>
          <p:cNvSpPr/>
          <p:nvPr/>
        </p:nvSpPr>
        <p:spPr>
          <a:xfrm>
            <a:off x="657225" y="4039493"/>
            <a:ext cx="190500" cy="190500"/>
          </a:xfrm>
          <a:prstGeom prst="rect">
            <a:avLst/>
          </a:prstGeom>
          <a:noFill/>
          <a:ln w="19050">
            <a:solidFill>
              <a:srgbClr val="059669"/>
            </a:solidFill>
          </a:ln>
        </p:spPr>
        <p:txBody>
          <a:bodyPr wrap="square" rtlCol="0" anchor="ctr"/>
          <a:lstStyle/>
          <a:p>
            <a:pPr marL="0" indent="0">
              <a:buNone/>
            </a:pPr>
            <a:endParaRPr lang="en-US" dirty="0"/>
          </a:p>
        </p:txBody>
      </p:sp>
      <p:sp>
        <p:nvSpPr>
          <p:cNvPr id="15" name="Text 13"/>
          <p:cNvSpPr/>
          <p:nvPr/>
        </p:nvSpPr>
        <p:spPr>
          <a:xfrm>
            <a:off x="942975" y="4054673"/>
            <a:ext cx="1639642" cy="159990"/>
          </a:xfrm>
          <a:prstGeom prst="rect">
            <a:avLst/>
          </a:prstGeom>
          <a:noFill/>
          <a:ln/>
        </p:spPr>
        <p:txBody>
          <a:bodyPr wrap="square" lIns="0" tIns="0" rIns="0" bIns="0" rtlCol="0" anchor="t"/>
          <a:lstStyle/>
          <a:p>
            <a:pPr marL="0" indent="0" algn="l">
              <a:lnSpc>
                <a:spcPts val="1260"/>
              </a:lnSpc>
              <a:buNone/>
            </a:pPr>
            <a:r>
              <a:rPr lang="en-US" sz="900" dirty="0">
                <a:solidFill>
                  <a:srgbClr val="1A1F2E"/>
                </a:solidFill>
                <a:latin typeface="Arial" pitchFamily="34" charset="0"/>
                <a:ea typeface="Arial" pitchFamily="34" charset="-122"/>
                <a:cs typeface="Arial" pitchFamily="34" charset="-120"/>
              </a:rPr>
              <a:t>Know escalation path for issues</a:t>
            </a:r>
            <a:endParaRPr lang="en-US" sz="900" dirty="0"/>
          </a:p>
        </p:txBody>
      </p:sp>
      <p:sp>
        <p:nvSpPr>
          <p:cNvPr id="16" name="Text 14"/>
          <p:cNvSpPr/>
          <p:nvPr/>
        </p:nvSpPr>
        <p:spPr>
          <a:xfrm>
            <a:off x="3418136" y="1545878"/>
            <a:ext cx="2808536" cy="2884140"/>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17" name="Text 15"/>
          <p:cNvSpPr/>
          <p:nvPr/>
        </p:nvSpPr>
        <p:spPr>
          <a:xfrm>
            <a:off x="3618161" y="1745903"/>
            <a:ext cx="2456655" cy="159990"/>
          </a:xfrm>
          <a:prstGeom prst="rect">
            <a:avLst/>
          </a:prstGeom>
          <a:noFill/>
          <a:ln/>
        </p:spPr>
        <p:txBody>
          <a:bodyPr wrap="square" lIns="0" tIns="0" rIns="0" bIns="0" rtlCol="0" anchor="t"/>
          <a:lstStyle/>
          <a:p>
            <a:pPr marL="0" indent="0" algn="l">
              <a:lnSpc>
                <a:spcPts val="1260"/>
              </a:lnSpc>
              <a:spcAft>
                <a:spcPts val="1200"/>
              </a:spcAft>
              <a:buNone/>
            </a:pPr>
            <a:r>
              <a:rPr lang="en-US" sz="900" b="1" dirty="0">
                <a:solidFill>
                  <a:srgbClr val="C9A227"/>
                </a:solidFill>
                <a:latin typeface="Arial" pitchFamily="34" charset="0"/>
                <a:ea typeface="Arial" pitchFamily="34" charset="-122"/>
                <a:cs typeface="Arial" pitchFamily="34" charset="-120"/>
              </a:rPr>
              <a:t>BEFORE EACH USE</a:t>
            </a:r>
            <a:endParaRPr lang="en-US" sz="900" dirty="0"/>
          </a:p>
        </p:txBody>
      </p:sp>
      <p:sp>
        <p:nvSpPr>
          <p:cNvPr id="18" name="Text 16"/>
          <p:cNvSpPr/>
          <p:nvPr/>
        </p:nvSpPr>
        <p:spPr>
          <a:xfrm>
            <a:off x="3618161" y="2210693"/>
            <a:ext cx="190500" cy="190500"/>
          </a:xfrm>
          <a:prstGeom prst="rect">
            <a:avLst/>
          </a:prstGeom>
          <a:noFill/>
          <a:ln w="19050">
            <a:solidFill>
              <a:srgbClr val="F59E0B"/>
            </a:solidFill>
          </a:ln>
        </p:spPr>
        <p:txBody>
          <a:bodyPr wrap="square" rtlCol="0" anchor="ctr"/>
          <a:lstStyle/>
          <a:p>
            <a:pPr marL="0" indent="0">
              <a:buNone/>
            </a:pPr>
            <a:endParaRPr lang="en-US" dirty="0"/>
          </a:p>
        </p:txBody>
      </p:sp>
      <p:sp>
        <p:nvSpPr>
          <p:cNvPr id="19" name="Text 17"/>
          <p:cNvSpPr/>
          <p:nvPr/>
        </p:nvSpPr>
        <p:spPr>
          <a:xfrm>
            <a:off x="3903911" y="2225873"/>
            <a:ext cx="1367457" cy="159990"/>
          </a:xfrm>
          <a:prstGeom prst="rect">
            <a:avLst/>
          </a:prstGeom>
          <a:noFill/>
          <a:ln/>
        </p:spPr>
        <p:txBody>
          <a:bodyPr wrap="square" lIns="0" tIns="0" rIns="0" bIns="0" rtlCol="0" anchor="t"/>
          <a:lstStyle/>
          <a:p>
            <a:pPr marL="0" indent="0" algn="l">
              <a:lnSpc>
                <a:spcPts val="1260"/>
              </a:lnSpc>
              <a:buNone/>
            </a:pPr>
            <a:r>
              <a:rPr lang="en-US" sz="900" dirty="0">
                <a:solidFill>
                  <a:srgbClr val="1A1F2E"/>
                </a:solidFill>
                <a:latin typeface="Arial" pitchFamily="34" charset="0"/>
                <a:ea typeface="Arial" pitchFamily="34" charset="-122"/>
                <a:cs typeface="Arial" pitchFamily="34" charset="-120"/>
              </a:rPr>
              <a:t>Does prompt contain PHI?</a:t>
            </a:r>
            <a:endParaRPr lang="en-US" sz="900" dirty="0"/>
          </a:p>
        </p:txBody>
      </p:sp>
      <p:sp>
        <p:nvSpPr>
          <p:cNvPr id="20" name="Text 18"/>
          <p:cNvSpPr/>
          <p:nvPr/>
        </p:nvSpPr>
        <p:spPr>
          <a:xfrm>
            <a:off x="3618161" y="2667893"/>
            <a:ext cx="190500" cy="190500"/>
          </a:xfrm>
          <a:prstGeom prst="rect">
            <a:avLst/>
          </a:prstGeom>
          <a:noFill/>
          <a:ln w="19050">
            <a:solidFill>
              <a:srgbClr val="F59E0B"/>
            </a:solidFill>
          </a:ln>
        </p:spPr>
        <p:txBody>
          <a:bodyPr wrap="square" rtlCol="0" anchor="ctr"/>
          <a:lstStyle/>
          <a:p>
            <a:pPr marL="0" indent="0">
              <a:buNone/>
            </a:pPr>
            <a:endParaRPr lang="en-US" dirty="0"/>
          </a:p>
        </p:txBody>
      </p:sp>
      <p:sp>
        <p:nvSpPr>
          <p:cNvPr id="21" name="Text 19"/>
          <p:cNvSpPr/>
          <p:nvPr/>
        </p:nvSpPr>
        <p:spPr>
          <a:xfrm>
            <a:off x="3903911" y="2683073"/>
            <a:ext cx="1452012" cy="159990"/>
          </a:xfrm>
          <a:prstGeom prst="rect">
            <a:avLst/>
          </a:prstGeom>
          <a:noFill/>
          <a:ln/>
        </p:spPr>
        <p:txBody>
          <a:bodyPr wrap="square" lIns="0" tIns="0" rIns="0" bIns="0" rtlCol="0" anchor="t"/>
          <a:lstStyle/>
          <a:p>
            <a:pPr marL="0" indent="0" algn="l">
              <a:lnSpc>
                <a:spcPts val="1260"/>
              </a:lnSpc>
              <a:buNone/>
            </a:pPr>
            <a:r>
              <a:rPr lang="en-US" sz="900" dirty="0">
                <a:solidFill>
                  <a:srgbClr val="1A1F2E"/>
                </a:solidFill>
                <a:latin typeface="Arial" pitchFamily="34" charset="0"/>
                <a:ea typeface="Arial" pitchFamily="34" charset="-122"/>
                <a:cs typeface="Arial" pitchFamily="34" charset="-120"/>
              </a:rPr>
              <a:t>Is the endpoint appropriate?</a:t>
            </a:r>
            <a:endParaRPr lang="en-US" sz="900" dirty="0"/>
          </a:p>
        </p:txBody>
      </p:sp>
      <p:sp>
        <p:nvSpPr>
          <p:cNvPr id="22" name="Text 20"/>
          <p:cNvSpPr/>
          <p:nvPr/>
        </p:nvSpPr>
        <p:spPr>
          <a:xfrm>
            <a:off x="3618161" y="3125093"/>
            <a:ext cx="190500" cy="190500"/>
          </a:xfrm>
          <a:prstGeom prst="rect">
            <a:avLst/>
          </a:prstGeom>
          <a:noFill/>
          <a:ln w="19050">
            <a:solidFill>
              <a:srgbClr val="F59E0B"/>
            </a:solidFill>
          </a:ln>
        </p:spPr>
        <p:txBody>
          <a:bodyPr wrap="square" rtlCol="0" anchor="ctr"/>
          <a:lstStyle/>
          <a:p>
            <a:pPr marL="0" indent="0">
              <a:buNone/>
            </a:pPr>
            <a:endParaRPr lang="en-US" dirty="0"/>
          </a:p>
        </p:txBody>
      </p:sp>
      <p:sp>
        <p:nvSpPr>
          <p:cNvPr id="23" name="Text 21"/>
          <p:cNvSpPr/>
          <p:nvPr/>
        </p:nvSpPr>
        <p:spPr>
          <a:xfrm>
            <a:off x="3903911" y="3140273"/>
            <a:ext cx="1270302" cy="159990"/>
          </a:xfrm>
          <a:prstGeom prst="rect">
            <a:avLst/>
          </a:prstGeom>
          <a:noFill/>
          <a:ln/>
        </p:spPr>
        <p:txBody>
          <a:bodyPr wrap="square" lIns="0" tIns="0" rIns="0" bIns="0" rtlCol="0" anchor="t"/>
          <a:lstStyle/>
          <a:p>
            <a:pPr marL="0" indent="0" algn="l">
              <a:lnSpc>
                <a:spcPts val="1260"/>
              </a:lnSpc>
              <a:buNone/>
            </a:pPr>
            <a:r>
              <a:rPr lang="en-US" sz="900" dirty="0">
                <a:solidFill>
                  <a:srgbClr val="1A1F2E"/>
                </a:solidFill>
                <a:latin typeface="Arial" pitchFamily="34" charset="0"/>
                <a:ea typeface="Arial" pitchFamily="34" charset="-122"/>
                <a:cs typeface="Arial" pitchFamily="34" charset="-120"/>
              </a:rPr>
              <a:t>Any credentials in code?</a:t>
            </a:r>
            <a:endParaRPr lang="en-US" sz="900" dirty="0"/>
          </a:p>
        </p:txBody>
      </p:sp>
      <p:sp>
        <p:nvSpPr>
          <p:cNvPr id="24" name="Text 22"/>
          <p:cNvSpPr/>
          <p:nvPr/>
        </p:nvSpPr>
        <p:spPr>
          <a:xfrm>
            <a:off x="3618161" y="3582293"/>
            <a:ext cx="190500" cy="190500"/>
          </a:xfrm>
          <a:prstGeom prst="rect">
            <a:avLst/>
          </a:prstGeom>
          <a:noFill/>
          <a:ln w="19050">
            <a:solidFill>
              <a:srgbClr val="F59E0B"/>
            </a:solidFill>
          </a:ln>
        </p:spPr>
        <p:txBody>
          <a:bodyPr wrap="square" rtlCol="0" anchor="ctr"/>
          <a:lstStyle/>
          <a:p>
            <a:pPr marL="0" indent="0">
              <a:buNone/>
            </a:pPr>
            <a:endParaRPr lang="en-US" dirty="0"/>
          </a:p>
        </p:txBody>
      </p:sp>
      <p:sp>
        <p:nvSpPr>
          <p:cNvPr id="25" name="Text 23"/>
          <p:cNvSpPr/>
          <p:nvPr/>
        </p:nvSpPr>
        <p:spPr>
          <a:xfrm>
            <a:off x="3903911" y="3597473"/>
            <a:ext cx="1833952" cy="159990"/>
          </a:xfrm>
          <a:prstGeom prst="rect">
            <a:avLst/>
          </a:prstGeom>
          <a:noFill/>
          <a:ln/>
        </p:spPr>
        <p:txBody>
          <a:bodyPr wrap="square" lIns="0" tIns="0" rIns="0" bIns="0" rtlCol="0" anchor="t"/>
          <a:lstStyle/>
          <a:p>
            <a:pPr marL="0" indent="0" algn="l">
              <a:lnSpc>
                <a:spcPts val="1260"/>
              </a:lnSpc>
              <a:buNone/>
            </a:pPr>
            <a:r>
              <a:rPr lang="en-US" sz="900" dirty="0">
                <a:solidFill>
                  <a:srgbClr val="1A1F2E"/>
                </a:solidFill>
                <a:latin typeface="Arial" pitchFamily="34" charset="0"/>
                <a:ea typeface="Arial" pitchFamily="34" charset="-122"/>
                <a:cs typeface="Arial" pitchFamily="34" charset="-120"/>
              </a:rPr>
              <a:t>Review AI output before committing</a:t>
            </a:r>
            <a:endParaRPr lang="en-US" sz="900" dirty="0"/>
          </a:p>
        </p:txBody>
      </p:sp>
      <p:sp>
        <p:nvSpPr>
          <p:cNvPr id="26" name="Text 24"/>
          <p:cNvSpPr/>
          <p:nvPr/>
        </p:nvSpPr>
        <p:spPr>
          <a:xfrm>
            <a:off x="3618161" y="4039493"/>
            <a:ext cx="190500" cy="190500"/>
          </a:xfrm>
          <a:prstGeom prst="rect">
            <a:avLst/>
          </a:prstGeom>
          <a:noFill/>
          <a:ln w="19050">
            <a:solidFill>
              <a:srgbClr val="F59E0B"/>
            </a:solidFill>
          </a:ln>
        </p:spPr>
        <p:txBody>
          <a:bodyPr wrap="square" rtlCol="0" anchor="ctr"/>
          <a:lstStyle/>
          <a:p>
            <a:pPr marL="0" indent="0">
              <a:buNone/>
            </a:pPr>
            <a:endParaRPr lang="en-US" dirty="0"/>
          </a:p>
        </p:txBody>
      </p:sp>
      <p:sp>
        <p:nvSpPr>
          <p:cNvPr id="27" name="Text 25"/>
          <p:cNvSpPr/>
          <p:nvPr/>
        </p:nvSpPr>
        <p:spPr>
          <a:xfrm>
            <a:off x="3903911" y="4054673"/>
            <a:ext cx="1633418" cy="159990"/>
          </a:xfrm>
          <a:prstGeom prst="rect">
            <a:avLst/>
          </a:prstGeom>
          <a:noFill/>
          <a:ln/>
        </p:spPr>
        <p:txBody>
          <a:bodyPr wrap="square" lIns="0" tIns="0" rIns="0" bIns="0" rtlCol="0" anchor="t"/>
          <a:lstStyle/>
          <a:p>
            <a:pPr marL="0" indent="0" algn="l">
              <a:lnSpc>
                <a:spcPts val="1260"/>
              </a:lnSpc>
              <a:buNone/>
            </a:pPr>
            <a:r>
              <a:rPr lang="en-US" sz="900" dirty="0">
                <a:solidFill>
                  <a:srgbClr val="1A1F2E"/>
                </a:solidFill>
                <a:latin typeface="Arial" pitchFamily="34" charset="0"/>
                <a:ea typeface="Arial" pitchFamily="34" charset="-122"/>
                <a:cs typeface="Arial" pitchFamily="34" charset="-120"/>
              </a:rPr>
              <a:t>Test generated code thoroughly</a:t>
            </a:r>
            <a:endParaRPr lang="en-US" sz="900" dirty="0"/>
          </a:p>
        </p:txBody>
      </p:sp>
      <p:sp>
        <p:nvSpPr>
          <p:cNvPr id="28" name="Text 26"/>
          <p:cNvSpPr/>
          <p:nvPr/>
        </p:nvSpPr>
        <p:spPr>
          <a:xfrm>
            <a:off x="6379071" y="1403152"/>
            <a:ext cx="2307729" cy="3169444"/>
          </a:xfrm>
          <a:prstGeom prst="rect">
            <a:avLst/>
          </a:prstGeom>
          <a:solidFill>
            <a:srgbClr val="1A1F2E"/>
          </a:solidFill>
          <a:ln/>
        </p:spPr>
        <p:txBody>
          <a:bodyPr wrap="square" rtlCol="0" anchor="ctr"/>
          <a:lstStyle/>
          <a:p>
            <a:pPr marL="0" indent="0">
              <a:buNone/>
            </a:pPr>
            <a:endParaRPr lang="en-US" dirty="0"/>
          </a:p>
        </p:txBody>
      </p:sp>
      <p:sp>
        <p:nvSpPr>
          <p:cNvPr id="29" name="Text 27"/>
          <p:cNvSpPr/>
          <p:nvPr/>
        </p:nvSpPr>
        <p:spPr>
          <a:xfrm>
            <a:off x="6569571" y="1593652"/>
            <a:ext cx="1965263" cy="159990"/>
          </a:xfrm>
          <a:prstGeom prst="rect">
            <a:avLst/>
          </a:prstGeom>
          <a:noFill/>
          <a:ln/>
        </p:spPr>
        <p:txBody>
          <a:bodyPr wrap="square" lIns="0" tIns="0" rIns="0" bIns="0" rtlCol="0" anchor="t"/>
          <a:lstStyle/>
          <a:p>
            <a:pPr marL="0" indent="0" algn="l">
              <a:lnSpc>
                <a:spcPts val="1260"/>
              </a:lnSpc>
              <a:spcAft>
                <a:spcPts val="1200"/>
              </a:spcAft>
              <a:buNone/>
            </a:pPr>
            <a:r>
              <a:rPr lang="en-US" sz="900" b="1" dirty="0">
                <a:solidFill>
                  <a:srgbClr val="C9A227"/>
                </a:solidFill>
                <a:latin typeface="Arial" pitchFamily="34" charset="0"/>
                <a:ea typeface="Arial" pitchFamily="34" charset="-122"/>
                <a:cs typeface="Arial" pitchFamily="34" charset="-120"/>
              </a:rPr>
              <a:t>RESOURCES</a:t>
            </a:r>
            <a:endParaRPr lang="en-US" sz="900" dirty="0"/>
          </a:p>
        </p:txBody>
      </p:sp>
      <p:sp>
        <p:nvSpPr>
          <p:cNvPr id="30" name="Text 28"/>
          <p:cNvSpPr/>
          <p:nvPr/>
        </p:nvSpPr>
        <p:spPr>
          <a:xfrm>
            <a:off x="6569571" y="2058442"/>
            <a:ext cx="1965263" cy="159990"/>
          </a:xfrm>
          <a:prstGeom prst="rect">
            <a:avLst/>
          </a:prstGeom>
          <a:noFill/>
          <a:ln/>
        </p:spPr>
        <p:txBody>
          <a:bodyPr wrap="square" lIns="0" tIns="0" rIns="0" bIns="0" rtlCol="0" anchor="t"/>
          <a:lstStyle/>
          <a:p>
            <a:pPr marL="0" indent="0" algn="l">
              <a:lnSpc>
                <a:spcPts val="1260"/>
              </a:lnSpc>
              <a:spcAft>
                <a:spcPts val="300"/>
              </a:spcAft>
              <a:buNone/>
            </a:pPr>
            <a:r>
              <a:rPr lang="en-US" sz="900" b="1" dirty="0">
                <a:solidFill>
                  <a:srgbClr val="FFFFFF"/>
                </a:solidFill>
                <a:latin typeface="Arial" pitchFamily="34" charset="0"/>
                <a:ea typeface="Arial" pitchFamily="34" charset="-122"/>
                <a:cs typeface="Arial" pitchFamily="34" charset="-120"/>
              </a:rPr>
              <a:t>Questions?</a:t>
            </a:r>
            <a:endParaRPr lang="en-US" sz="900" dirty="0"/>
          </a:p>
        </p:txBody>
      </p:sp>
      <p:sp>
        <p:nvSpPr>
          <p:cNvPr id="31" name="Text 29"/>
          <p:cNvSpPr/>
          <p:nvPr/>
        </p:nvSpPr>
        <p:spPr>
          <a:xfrm>
            <a:off x="6569571" y="2256532"/>
            <a:ext cx="1965263" cy="146596"/>
          </a:xfrm>
          <a:prstGeom prst="rect">
            <a:avLst/>
          </a:prstGeom>
          <a:noFill/>
          <a:ln/>
        </p:spPr>
        <p:txBody>
          <a:bodyPr wrap="square" lIns="0" tIns="0" rIns="0" bIns="0" rtlCol="0" anchor="t"/>
          <a:lstStyle/>
          <a:p>
            <a:pPr marL="0" indent="0" algn="l">
              <a:lnSpc>
                <a:spcPts val="1155"/>
              </a:lnSpc>
              <a:buNone/>
            </a:pPr>
            <a:r>
              <a:rPr lang="en-US" sz="825" dirty="0">
                <a:solidFill>
                  <a:srgbClr val="FFFFFF">
                    <a:alpha val="60000"/>
                  </a:srgbClr>
                </a:solidFill>
                <a:latin typeface="Arial" pitchFamily="34" charset="0"/>
                <a:ea typeface="Arial" pitchFamily="34" charset="-122"/>
                <a:cs typeface="Arial" pitchFamily="34" charset="-120"/>
              </a:rPr>
              <a:t>Contact IT Security</a:t>
            </a:r>
            <a:endParaRPr lang="en-US" sz="825" dirty="0"/>
          </a:p>
        </p:txBody>
      </p:sp>
      <p:sp>
        <p:nvSpPr>
          <p:cNvPr id="32" name="Text 30"/>
          <p:cNvSpPr/>
          <p:nvPr/>
        </p:nvSpPr>
        <p:spPr>
          <a:xfrm>
            <a:off x="6569571" y="2707928"/>
            <a:ext cx="1965263" cy="159990"/>
          </a:xfrm>
          <a:prstGeom prst="rect">
            <a:avLst/>
          </a:prstGeom>
          <a:noFill/>
          <a:ln/>
        </p:spPr>
        <p:txBody>
          <a:bodyPr wrap="square" lIns="0" tIns="0" rIns="0" bIns="0" rtlCol="0" anchor="t"/>
          <a:lstStyle/>
          <a:p>
            <a:pPr marL="0" indent="0" algn="l">
              <a:lnSpc>
                <a:spcPts val="1260"/>
              </a:lnSpc>
              <a:spcAft>
                <a:spcPts val="300"/>
              </a:spcAft>
              <a:buNone/>
            </a:pPr>
            <a:r>
              <a:rPr lang="en-US" sz="900" b="1" dirty="0">
                <a:solidFill>
                  <a:srgbClr val="FFFFFF"/>
                </a:solidFill>
                <a:latin typeface="Arial" pitchFamily="34" charset="0"/>
                <a:ea typeface="Arial" pitchFamily="34" charset="-122"/>
                <a:cs typeface="Arial" pitchFamily="34" charset="-120"/>
              </a:rPr>
              <a:t>PHI Incident?</a:t>
            </a:r>
            <a:endParaRPr lang="en-US" sz="900" dirty="0"/>
          </a:p>
        </p:txBody>
      </p:sp>
      <p:sp>
        <p:nvSpPr>
          <p:cNvPr id="33" name="Text 31"/>
          <p:cNvSpPr/>
          <p:nvPr/>
        </p:nvSpPr>
        <p:spPr>
          <a:xfrm>
            <a:off x="6569571" y="2906018"/>
            <a:ext cx="1965263" cy="146596"/>
          </a:xfrm>
          <a:prstGeom prst="rect">
            <a:avLst/>
          </a:prstGeom>
          <a:noFill/>
          <a:ln/>
        </p:spPr>
        <p:txBody>
          <a:bodyPr wrap="square" lIns="0" tIns="0" rIns="0" bIns="0" rtlCol="0" anchor="t"/>
          <a:lstStyle/>
          <a:p>
            <a:pPr marL="0" indent="0" algn="l">
              <a:lnSpc>
                <a:spcPts val="1155"/>
              </a:lnSpc>
              <a:buNone/>
            </a:pPr>
            <a:r>
              <a:rPr lang="en-US" sz="825" dirty="0">
                <a:solidFill>
                  <a:srgbClr val="FFFFFF">
                    <a:alpha val="60000"/>
                  </a:srgbClr>
                </a:solidFill>
                <a:latin typeface="Arial" pitchFamily="34" charset="0"/>
                <a:ea typeface="Arial" pitchFamily="34" charset="-122"/>
                <a:cs typeface="Arial" pitchFamily="34" charset="-120"/>
              </a:rPr>
              <a:t>Report immediately to Privacy Officer</a:t>
            </a:r>
            <a:endParaRPr lang="en-US" sz="825" dirty="0"/>
          </a:p>
        </p:txBody>
      </p:sp>
      <p:sp>
        <p:nvSpPr>
          <p:cNvPr id="34" name="Text 32"/>
          <p:cNvSpPr/>
          <p:nvPr/>
        </p:nvSpPr>
        <p:spPr>
          <a:xfrm>
            <a:off x="6569571" y="3357414"/>
            <a:ext cx="1965263" cy="159990"/>
          </a:xfrm>
          <a:prstGeom prst="rect">
            <a:avLst/>
          </a:prstGeom>
          <a:noFill/>
          <a:ln/>
        </p:spPr>
        <p:txBody>
          <a:bodyPr wrap="square" lIns="0" tIns="0" rIns="0" bIns="0" rtlCol="0" anchor="t"/>
          <a:lstStyle/>
          <a:p>
            <a:pPr marL="0" indent="0" algn="l">
              <a:lnSpc>
                <a:spcPts val="1260"/>
              </a:lnSpc>
              <a:spcAft>
                <a:spcPts val="300"/>
              </a:spcAft>
              <a:buNone/>
            </a:pPr>
            <a:r>
              <a:rPr lang="en-US" sz="900" b="1" dirty="0">
                <a:solidFill>
                  <a:srgbClr val="FFFFFF"/>
                </a:solidFill>
                <a:latin typeface="Arial" pitchFamily="34" charset="0"/>
                <a:ea typeface="Arial" pitchFamily="34" charset="-122"/>
                <a:cs typeface="Arial" pitchFamily="34" charset="-120"/>
              </a:rPr>
              <a:t>New Tool Request?</a:t>
            </a:r>
            <a:endParaRPr lang="en-US" sz="900" dirty="0"/>
          </a:p>
        </p:txBody>
      </p:sp>
      <p:sp>
        <p:nvSpPr>
          <p:cNvPr id="35" name="Text 33"/>
          <p:cNvSpPr/>
          <p:nvPr/>
        </p:nvSpPr>
        <p:spPr>
          <a:xfrm>
            <a:off x="6569571" y="3555504"/>
            <a:ext cx="1965263" cy="146596"/>
          </a:xfrm>
          <a:prstGeom prst="rect">
            <a:avLst/>
          </a:prstGeom>
          <a:noFill/>
          <a:ln/>
        </p:spPr>
        <p:txBody>
          <a:bodyPr wrap="square" lIns="0" tIns="0" rIns="0" bIns="0" rtlCol="0" anchor="t"/>
          <a:lstStyle/>
          <a:p>
            <a:pPr marL="0" indent="0" algn="l">
              <a:lnSpc>
                <a:spcPts val="1155"/>
              </a:lnSpc>
              <a:buNone/>
            </a:pPr>
            <a:r>
              <a:rPr lang="en-US" sz="825" dirty="0">
                <a:solidFill>
                  <a:srgbClr val="FFFFFF">
                    <a:alpha val="60000"/>
                  </a:srgbClr>
                </a:solidFill>
                <a:latin typeface="Arial" pitchFamily="34" charset="0"/>
                <a:ea typeface="Arial" pitchFamily="34" charset="-122"/>
                <a:cs typeface="Arial" pitchFamily="34" charset="-120"/>
              </a:rPr>
              <a:t>Submit through IT approval process</a:t>
            </a:r>
            <a:endParaRPr lang="en-US" sz="825" dirty="0"/>
          </a:p>
        </p:txBody>
      </p:sp>
      <p:sp>
        <p:nvSpPr>
          <p:cNvPr id="36" name="Text 34"/>
          <p:cNvSpPr/>
          <p:nvPr/>
        </p:nvSpPr>
        <p:spPr>
          <a:xfrm>
            <a:off x="6569571" y="4006900"/>
            <a:ext cx="1926729" cy="375196"/>
          </a:xfrm>
          <a:prstGeom prst="rect">
            <a:avLst/>
          </a:prstGeom>
          <a:solidFill>
            <a:srgbClr val="252B3D"/>
          </a:solidFill>
          <a:ln/>
        </p:spPr>
        <p:txBody>
          <a:bodyPr wrap="square" rtlCol="0" anchor="ctr"/>
          <a:lstStyle/>
          <a:p>
            <a:pPr marL="0" indent="0">
              <a:buNone/>
            </a:pPr>
            <a:endParaRPr lang="en-US" dirty="0"/>
          </a:p>
        </p:txBody>
      </p:sp>
      <p:sp>
        <p:nvSpPr>
          <p:cNvPr id="37" name="Text 35"/>
          <p:cNvSpPr/>
          <p:nvPr/>
        </p:nvSpPr>
        <p:spPr>
          <a:xfrm>
            <a:off x="6666890" y="4121200"/>
            <a:ext cx="1732091" cy="146596"/>
          </a:xfrm>
          <a:prstGeom prst="rect">
            <a:avLst/>
          </a:prstGeom>
          <a:noFill/>
          <a:ln/>
        </p:spPr>
        <p:txBody>
          <a:bodyPr wrap="square" lIns="0" tIns="0" rIns="0" bIns="0" rtlCol="0" anchor="t"/>
          <a:lstStyle/>
          <a:p>
            <a:pPr marL="0" indent="0" algn="ctr">
              <a:lnSpc>
                <a:spcPts val="1155"/>
              </a:lnSpc>
              <a:buNone/>
            </a:pPr>
            <a:r>
              <a:rPr lang="en-US" sz="825" dirty="0">
                <a:solidFill>
                  <a:srgbClr val="C9A227"/>
                </a:solidFill>
                <a:latin typeface="Arial" pitchFamily="34" charset="0"/>
                <a:ea typeface="Arial" pitchFamily="34" charset="-122"/>
                <a:cs typeface="Arial" pitchFamily="34" charset="-120"/>
              </a:rPr>
              <a:t>Security is everyone's responsibility</a:t>
            </a:r>
            <a:endParaRPr lang="en-US" sz="825"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249479" y="905917"/>
            <a:ext cx="2644893" cy="159990"/>
          </a:xfrm>
          <a:prstGeom prst="rect">
            <a:avLst/>
          </a:prstGeom>
          <a:noFill/>
          <a:ln/>
        </p:spPr>
        <p:txBody>
          <a:bodyPr wrap="square" lIns="0" tIns="0" rIns="0" bIns="0" rtlCol="0" anchor="t"/>
          <a:lstStyle/>
          <a:p>
            <a:pPr marL="0" indent="0" algn="ctr">
              <a:lnSpc>
                <a:spcPts val="1260"/>
              </a:lnSpc>
              <a:spcAft>
                <a:spcPts val="1800"/>
              </a:spcAft>
              <a:buNone/>
            </a:pPr>
            <a:r>
              <a:rPr lang="en-US" sz="900" dirty="0">
                <a:solidFill>
                  <a:srgbClr val="C9A227"/>
                </a:solidFill>
                <a:latin typeface="Arial" pitchFamily="34" charset="0"/>
                <a:ea typeface="Arial" pitchFamily="34" charset="-122"/>
                <a:cs typeface="Arial" pitchFamily="34" charset="-120"/>
              </a:rPr>
              <a:t>PART 3 • HANDS-ON SECTION</a:t>
            </a:r>
            <a:endParaRPr lang="en-US" sz="900" dirty="0"/>
          </a:p>
        </p:txBody>
      </p:sp>
      <p:sp>
        <p:nvSpPr>
          <p:cNvPr id="3" name="Text 1"/>
          <p:cNvSpPr/>
          <p:nvPr/>
        </p:nvSpPr>
        <p:spPr>
          <a:xfrm>
            <a:off x="1758148" y="1446907"/>
            <a:ext cx="5627703" cy="495300"/>
          </a:xfrm>
          <a:prstGeom prst="rect">
            <a:avLst/>
          </a:prstGeom>
          <a:noFill/>
          <a:ln/>
        </p:spPr>
        <p:txBody>
          <a:bodyPr wrap="square" lIns="0" tIns="0" rIns="0" bIns="0" rtlCol="0" anchor="t"/>
          <a:lstStyle/>
          <a:p>
            <a:pPr marL="0" indent="0" algn="ctr">
              <a:lnSpc>
                <a:spcPts val="3900"/>
              </a:lnSpc>
              <a:spcAft>
                <a:spcPts val="1200"/>
              </a:spcAft>
              <a:buNone/>
            </a:pPr>
            <a:r>
              <a:rPr lang="en-US" sz="3900" dirty="0">
                <a:solidFill>
                  <a:srgbClr val="FFFFFF"/>
                </a:solidFill>
                <a:latin typeface="Georgia" pitchFamily="34" charset="0"/>
                <a:ea typeface="Georgia" pitchFamily="34" charset="-122"/>
                <a:cs typeface="Georgia" pitchFamily="34" charset="-120"/>
              </a:rPr>
              <a:t>SuperWhisper Deep Dive</a:t>
            </a:r>
            <a:endParaRPr lang="en-US" sz="3900" dirty="0"/>
          </a:p>
        </p:txBody>
      </p:sp>
      <p:sp>
        <p:nvSpPr>
          <p:cNvPr id="4" name="Text 2"/>
          <p:cNvSpPr/>
          <p:nvPr/>
        </p:nvSpPr>
        <p:spPr>
          <a:xfrm>
            <a:off x="4191000" y="2247007"/>
            <a:ext cx="762000" cy="28575"/>
          </a:xfrm>
          <a:prstGeom prst="rect">
            <a:avLst/>
          </a:prstGeom>
          <a:solidFill>
            <a:srgbClr val="C9A227"/>
          </a:solidFill>
          <a:ln/>
        </p:spPr>
        <p:txBody>
          <a:bodyPr wrap="square" rtlCol="0" anchor="ctr"/>
          <a:lstStyle/>
          <a:p>
            <a:pPr marL="0" indent="0">
              <a:buNone/>
            </a:pPr>
            <a:endParaRPr lang="en-US" dirty="0"/>
          </a:p>
        </p:txBody>
      </p:sp>
      <p:sp>
        <p:nvSpPr>
          <p:cNvPr id="5" name="Text 3"/>
          <p:cNvSpPr/>
          <p:nvPr/>
        </p:nvSpPr>
        <p:spPr>
          <a:xfrm>
            <a:off x="1657350" y="2656582"/>
            <a:ext cx="5829300" cy="487561"/>
          </a:xfrm>
          <a:prstGeom prst="rect">
            <a:avLst/>
          </a:prstGeom>
          <a:noFill/>
          <a:ln/>
        </p:spPr>
        <p:txBody>
          <a:bodyPr wrap="square" lIns="0" tIns="0" rIns="0" bIns="0" rtlCol="0" anchor="t"/>
          <a:lstStyle/>
          <a:p>
            <a:pPr marL="0" indent="0" algn="ctr">
              <a:lnSpc>
                <a:spcPts val="1920"/>
              </a:lnSpc>
              <a:spcAft>
                <a:spcPts val="2400"/>
              </a:spcAft>
              <a:buNone/>
            </a:pPr>
            <a:r>
              <a:rPr lang="en-US" sz="1200" dirty="0">
                <a:solidFill>
                  <a:srgbClr val="FFFFFF">
                    <a:alpha val="70000"/>
                  </a:srgbClr>
                </a:solidFill>
                <a:latin typeface="Arial" pitchFamily="34" charset="0"/>
                <a:ea typeface="Arial" pitchFamily="34" charset="-122"/>
                <a:cs typeface="Arial" pitchFamily="34" charset="-120"/>
              </a:rPr>
              <a:t>Configure SuperWhisper for your specific workflow. We'll walk through setup, custom modes, and optimization together.</a:t>
            </a:r>
            <a:endParaRPr lang="en-US" sz="1200" dirty="0"/>
          </a:p>
        </p:txBody>
      </p:sp>
      <p:sp>
        <p:nvSpPr>
          <p:cNvPr id="6" name="Text 4"/>
          <p:cNvSpPr/>
          <p:nvPr/>
        </p:nvSpPr>
        <p:spPr>
          <a:xfrm>
            <a:off x="2454622" y="3753743"/>
            <a:ext cx="1073646" cy="483840"/>
          </a:xfrm>
          <a:prstGeom prst="rect">
            <a:avLst/>
          </a:prstGeom>
          <a:solidFill>
            <a:srgbClr val="C9A227">
              <a:alpha val="15000"/>
            </a:srgbClr>
          </a:solidFill>
          <a:ln w="9525">
            <a:solidFill>
              <a:srgbClr val="C9A227"/>
            </a:solidFill>
          </a:ln>
        </p:spPr>
        <p:txBody>
          <a:bodyPr wrap="square" rtlCol="0" anchor="ctr"/>
          <a:lstStyle/>
          <a:p>
            <a:pPr marL="0" indent="0">
              <a:buNone/>
            </a:pPr>
            <a:endParaRPr lang="en-US" dirty="0"/>
          </a:p>
        </p:txBody>
      </p:sp>
      <p:sp>
        <p:nvSpPr>
          <p:cNvPr id="7" name="Text 5"/>
          <p:cNvSpPr/>
          <p:nvPr/>
        </p:nvSpPr>
        <p:spPr>
          <a:xfrm>
            <a:off x="2686773" y="3915668"/>
            <a:ext cx="609344" cy="159990"/>
          </a:xfrm>
          <a:prstGeom prst="rect">
            <a:avLst/>
          </a:prstGeom>
          <a:noFill/>
          <a:ln/>
        </p:spPr>
        <p:txBody>
          <a:bodyPr wrap="square" lIns="0" tIns="0" rIns="0" bIns="0" rtlCol="0" anchor="t"/>
          <a:lstStyle/>
          <a:p>
            <a:pPr marL="0" indent="0" algn="ctr">
              <a:lnSpc>
                <a:spcPts val="1260"/>
              </a:lnSpc>
              <a:buNone/>
            </a:pPr>
            <a:r>
              <a:rPr lang="en-US" sz="900" dirty="0">
                <a:solidFill>
                  <a:srgbClr val="C9A227"/>
                </a:solidFill>
                <a:latin typeface="Arial" pitchFamily="34" charset="0"/>
                <a:ea typeface="Arial" pitchFamily="34" charset="-122"/>
                <a:cs typeface="Arial" pitchFamily="34" charset="-120"/>
              </a:rPr>
              <a:t>Initial Setup</a:t>
            </a:r>
            <a:endParaRPr lang="en-US" sz="900" dirty="0"/>
          </a:p>
        </p:txBody>
      </p:sp>
      <p:sp>
        <p:nvSpPr>
          <p:cNvPr id="8" name="Text 6"/>
          <p:cNvSpPr/>
          <p:nvPr/>
        </p:nvSpPr>
        <p:spPr>
          <a:xfrm>
            <a:off x="3756868" y="3753743"/>
            <a:ext cx="1244947" cy="483840"/>
          </a:xfrm>
          <a:prstGeom prst="rect">
            <a:avLst/>
          </a:prstGeom>
          <a:solidFill>
            <a:srgbClr val="C9A227">
              <a:alpha val="15000"/>
            </a:srgbClr>
          </a:solidFill>
          <a:ln w="9525">
            <a:solidFill>
              <a:srgbClr val="C9A227"/>
            </a:solidFill>
          </a:ln>
        </p:spPr>
        <p:txBody>
          <a:bodyPr wrap="square" rtlCol="0" anchor="ctr"/>
          <a:lstStyle/>
          <a:p>
            <a:pPr marL="0" indent="0">
              <a:buNone/>
            </a:pPr>
            <a:endParaRPr lang="en-US" dirty="0"/>
          </a:p>
        </p:txBody>
      </p:sp>
      <p:sp>
        <p:nvSpPr>
          <p:cNvPr id="9" name="Text 7"/>
          <p:cNvSpPr/>
          <p:nvPr/>
        </p:nvSpPr>
        <p:spPr>
          <a:xfrm>
            <a:off x="3987306" y="3915668"/>
            <a:ext cx="784071" cy="159990"/>
          </a:xfrm>
          <a:prstGeom prst="rect">
            <a:avLst/>
          </a:prstGeom>
          <a:noFill/>
          <a:ln/>
        </p:spPr>
        <p:txBody>
          <a:bodyPr wrap="square" lIns="0" tIns="0" rIns="0" bIns="0" rtlCol="0" anchor="t"/>
          <a:lstStyle/>
          <a:p>
            <a:pPr marL="0" indent="0" algn="ctr">
              <a:lnSpc>
                <a:spcPts val="1260"/>
              </a:lnSpc>
              <a:buNone/>
            </a:pPr>
            <a:r>
              <a:rPr lang="en-US" sz="900" dirty="0">
                <a:solidFill>
                  <a:srgbClr val="C9A227"/>
                </a:solidFill>
                <a:latin typeface="Arial" pitchFamily="34" charset="0"/>
                <a:ea typeface="Arial" pitchFamily="34" charset="-122"/>
                <a:cs typeface="Arial" pitchFamily="34" charset="-120"/>
              </a:rPr>
              <a:t>Custom Modes</a:t>
            </a:r>
            <a:endParaRPr lang="en-US" sz="900" dirty="0"/>
          </a:p>
        </p:txBody>
      </p:sp>
      <p:sp>
        <p:nvSpPr>
          <p:cNvPr id="10" name="Text 8"/>
          <p:cNvSpPr/>
          <p:nvPr/>
        </p:nvSpPr>
        <p:spPr>
          <a:xfrm>
            <a:off x="5230416" y="3753743"/>
            <a:ext cx="1458962" cy="483840"/>
          </a:xfrm>
          <a:prstGeom prst="rect">
            <a:avLst/>
          </a:prstGeom>
          <a:solidFill>
            <a:srgbClr val="C9A227">
              <a:alpha val="15000"/>
            </a:srgbClr>
          </a:solidFill>
          <a:ln w="9525">
            <a:solidFill>
              <a:srgbClr val="C9A227"/>
            </a:solidFill>
          </a:ln>
        </p:spPr>
        <p:txBody>
          <a:bodyPr wrap="square" rtlCol="0" anchor="ctr"/>
          <a:lstStyle/>
          <a:p>
            <a:pPr marL="0" indent="0">
              <a:buNone/>
            </a:pPr>
            <a:endParaRPr lang="en-US" dirty="0"/>
          </a:p>
        </p:txBody>
      </p:sp>
      <p:sp>
        <p:nvSpPr>
          <p:cNvPr id="11" name="Text 9"/>
          <p:cNvSpPr/>
          <p:nvPr/>
        </p:nvSpPr>
        <p:spPr>
          <a:xfrm>
            <a:off x="5458714" y="3915668"/>
            <a:ext cx="1002366" cy="159990"/>
          </a:xfrm>
          <a:prstGeom prst="rect">
            <a:avLst/>
          </a:prstGeom>
          <a:noFill/>
          <a:ln/>
        </p:spPr>
        <p:txBody>
          <a:bodyPr wrap="square" lIns="0" tIns="0" rIns="0" bIns="0" rtlCol="0" anchor="t"/>
          <a:lstStyle/>
          <a:p>
            <a:pPr marL="0" indent="0" algn="ctr">
              <a:lnSpc>
                <a:spcPts val="1260"/>
              </a:lnSpc>
              <a:buNone/>
            </a:pPr>
            <a:r>
              <a:rPr lang="en-US" sz="900" dirty="0">
                <a:solidFill>
                  <a:srgbClr val="C9A227"/>
                </a:solidFill>
                <a:latin typeface="Arial" pitchFamily="34" charset="0"/>
                <a:ea typeface="Arial" pitchFamily="34" charset="-122"/>
                <a:cs typeface="Arial" pitchFamily="34" charset="-120"/>
              </a:rPr>
              <a:t>Context Awareness</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381000" y="266700"/>
            <a:ext cx="8549640" cy="133350"/>
          </a:xfrm>
          <a:prstGeom prst="rect">
            <a:avLst/>
          </a:prstGeom>
          <a:noFill/>
          <a:ln/>
        </p:spPr>
        <p:txBody>
          <a:bodyPr wrap="square" lIns="0" tIns="0" rIns="0" bIns="0" rtlCol="0" anchor="t"/>
          <a:lstStyle/>
          <a:p>
            <a:pPr marL="0" indent="0" algn="l">
              <a:lnSpc>
                <a:spcPts val="1050"/>
              </a:lnSpc>
              <a:spcAft>
                <a:spcPts val="450"/>
              </a:spcAft>
              <a:buNone/>
            </a:pPr>
            <a:r>
              <a:rPr lang="en-US" sz="750" dirty="0">
                <a:solidFill>
                  <a:srgbClr val="C9A227"/>
                </a:solidFill>
                <a:latin typeface="Arial" pitchFamily="34" charset="0"/>
                <a:ea typeface="Arial" pitchFamily="34" charset="-122"/>
                <a:cs typeface="Arial" pitchFamily="34" charset="-120"/>
              </a:rPr>
              <a:t>HANDS-ON</a:t>
            </a:r>
            <a:endParaRPr lang="en-US" sz="750" dirty="0"/>
          </a:p>
        </p:txBody>
      </p:sp>
      <p:sp>
        <p:nvSpPr>
          <p:cNvPr id="3" name="Text 1"/>
          <p:cNvSpPr/>
          <p:nvPr/>
        </p:nvSpPr>
        <p:spPr>
          <a:xfrm>
            <a:off x="381000" y="457200"/>
            <a:ext cx="4284536" cy="266700"/>
          </a:xfrm>
          <a:prstGeom prst="rect">
            <a:avLst/>
          </a:prstGeom>
          <a:noFill/>
          <a:ln/>
        </p:spPr>
        <p:txBody>
          <a:bodyPr wrap="square" lIns="0" tIns="0" rIns="0" bIns="0" rtlCol="0" anchor="t"/>
          <a:lstStyle/>
          <a:p>
            <a:pPr marL="0" indent="0" algn="l">
              <a:lnSpc>
                <a:spcPts val="2100"/>
              </a:lnSpc>
              <a:buNone/>
            </a:pPr>
            <a:r>
              <a:rPr lang="en-US" sz="2100" dirty="0">
                <a:solidFill>
                  <a:srgbClr val="1A1F2E"/>
                </a:solidFill>
                <a:latin typeface="Georgia" pitchFamily="34" charset="0"/>
                <a:ea typeface="Georgia" pitchFamily="34" charset="-122"/>
                <a:cs typeface="Georgia" pitchFamily="34" charset="-120"/>
              </a:rPr>
              <a:t>Initial Setup Walkthrough</a:t>
            </a:r>
            <a:endParaRPr lang="en-US" sz="2100" dirty="0"/>
          </a:p>
        </p:txBody>
      </p:sp>
      <p:sp>
        <p:nvSpPr>
          <p:cNvPr id="4" name="Text 2"/>
          <p:cNvSpPr/>
          <p:nvPr/>
        </p:nvSpPr>
        <p:spPr>
          <a:xfrm>
            <a:off x="381000" y="1409700"/>
            <a:ext cx="4505325" cy="560040"/>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5" name="Text 3"/>
          <p:cNvSpPr/>
          <p:nvPr/>
        </p:nvSpPr>
        <p:spPr>
          <a:xfrm>
            <a:off x="542925" y="1556296"/>
            <a:ext cx="266700" cy="266700"/>
          </a:xfrm>
          <a:prstGeom prst="rect">
            <a:avLst/>
          </a:prstGeom>
          <a:solidFill>
            <a:srgbClr val="059669"/>
          </a:solidFill>
          <a:ln/>
        </p:spPr>
        <p:txBody>
          <a:bodyPr wrap="square" rtlCol="0" anchor="ctr"/>
          <a:lstStyle/>
          <a:p>
            <a:pPr marL="0" indent="0">
              <a:buNone/>
            </a:pPr>
            <a:endParaRPr lang="en-US" dirty="0"/>
          </a:p>
        </p:txBody>
      </p:sp>
      <p:sp>
        <p:nvSpPr>
          <p:cNvPr id="6" name="Text 4"/>
          <p:cNvSpPr/>
          <p:nvPr/>
        </p:nvSpPr>
        <p:spPr>
          <a:xfrm>
            <a:off x="644426" y="1609576"/>
            <a:ext cx="64972" cy="159990"/>
          </a:xfrm>
          <a:prstGeom prst="rect">
            <a:avLst/>
          </a:prstGeom>
          <a:noFill/>
          <a:ln/>
        </p:spPr>
        <p:txBody>
          <a:bodyPr wrap="square" lIns="0" tIns="0" rIns="0" bIns="0" rtlCol="0" anchor="t"/>
          <a:lstStyle/>
          <a:p>
            <a:pPr marL="0" indent="0" algn="l">
              <a:lnSpc>
                <a:spcPts val="1260"/>
              </a:lnSpc>
              <a:buNone/>
            </a:pPr>
            <a:r>
              <a:rPr lang="en-US" sz="900" b="1" dirty="0">
                <a:solidFill>
                  <a:srgbClr val="FFFFFF"/>
                </a:solidFill>
                <a:latin typeface="Arial" pitchFamily="34" charset="0"/>
                <a:ea typeface="Arial" pitchFamily="34" charset="-122"/>
                <a:cs typeface="Arial" pitchFamily="34" charset="-120"/>
              </a:rPr>
              <a:t>1</a:t>
            </a:r>
            <a:endParaRPr lang="en-US" sz="900" dirty="0"/>
          </a:p>
        </p:txBody>
      </p:sp>
      <p:sp>
        <p:nvSpPr>
          <p:cNvPr id="7" name="Text 5"/>
          <p:cNvSpPr/>
          <p:nvPr/>
        </p:nvSpPr>
        <p:spPr>
          <a:xfrm>
            <a:off x="1076325" y="1533525"/>
            <a:ext cx="1941278" cy="159990"/>
          </a:xfrm>
          <a:prstGeom prst="rect">
            <a:avLst/>
          </a:prstGeom>
          <a:noFill/>
          <a:ln/>
        </p:spPr>
        <p:txBody>
          <a:bodyPr wrap="square" lIns="0" tIns="0" rIns="0" bIns="0" rtlCol="0" anchor="t"/>
          <a:lstStyle/>
          <a:p>
            <a:pPr marL="0" indent="0" algn="l">
              <a:lnSpc>
                <a:spcPts val="1260"/>
              </a:lnSpc>
              <a:buNone/>
            </a:pPr>
            <a:r>
              <a:rPr lang="en-US" sz="900" b="1" dirty="0">
                <a:solidFill>
                  <a:srgbClr val="1A1F2E"/>
                </a:solidFill>
                <a:latin typeface="Arial" pitchFamily="34" charset="0"/>
                <a:ea typeface="Arial" pitchFamily="34" charset="-122"/>
                <a:cs typeface="Arial" pitchFamily="34" charset="-120"/>
              </a:rPr>
              <a:t>First Launch - Grant Permissions</a:t>
            </a:r>
            <a:endParaRPr lang="en-US" sz="900" dirty="0"/>
          </a:p>
        </p:txBody>
      </p:sp>
      <p:sp>
        <p:nvSpPr>
          <p:cNvPr id="8" name="Text 6"/>
          <p:cNvSpPr/>
          <p:nvPr/>
        </p:nvSpPr>
        <p:spPr>
          <a:xfrm>
            <a:off x="1076325" y="1712565"/>
            <a:ext cx="1941278" cy="133350"/>
          </a:xfrm>
          <a:prstGeom prst="rect">
            <a:avLst/>
          </a:prstGeom>
          <a:noFill/>
          <a:ln/>
        </p:spPr>
        <p:txBody>
          <a:bodyPr wrap="square" lIns="0" tIns="0" rIns="0" bIns="0" rtlCol="0" anchor="t"/>
          <a:lstStyle/>
          <a:p>
            <a:pPr marL="0" indent="0" algn="l">
              <a:lnSpc>
                <a:spcPts val="1050"/>
              </a:lnSpc>
              <a:spcBef>
                <a:spcPts val="150"/>
              </a:spcBef>
              <a:buNone/>
            </a:pPr>
            <a:r>
              <a:rPr lang="en-US" sz="750" dirty="0">
                <a:solidFill>
                  <a:srgbClr val="6B7280"/>
                </a:solidFill>
                <a:latin typeface="Arial" pitchFamily="34" charset="0"/>
                <a:ea typeface="Arial" pitchFamily="34" charset="-122"/>
                <a:cs typeface="Arial" pitchFamily="34" charset="-120"/>
              </a:rPr>
              <a:t>Microphone access + Accessibility (for paste)</a:t>
            </a:r>
            <a:endParaRPr lang="en-US" sz="750" dirty="0"/>
          </a:p>
        </p:txBody>
      </p:sp>
      <p:sp>
        <p:nvSpPr>
          <p:cNvPr id="9" name="Text 7"/>
          <p:cNvSpPr/>
          <p:nvPr/>
        </p:nvSpPr>
        <p:spPr>
          <a:xfrm>
            <a:off x="381000" y="2045940"/>
            <a:ext cx="4505325" cy="560040"/>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10" name="Text 8"/>
          <p:cNvSpPr/>
          <p:nvPr/>
        </p:nvSpPr>
        <p:spPr>
          <a:xfrm>
            <a:off x="542925" y="2192536"/>
            <a:ext cx="266700" cy="266700"/>
          </a:xfrm>
          <a:prstGeom prst="rect">
            <a:avLst/>
          </a:prstGeom>
          <a:solidFill>
            <a:srgbClr val="059669"/>
          </a:solidFill>
          <a:ln/>
        </p:spPr>
        <p:txBody>
          <a:bodyPr wrap="square" rtlCol="0" anchor="ctr"/>
          <a:lstStyle/>
          <a:p>
            <a:pPr marL="0" indent="0">
              <a:buNone/>
            </a:pPr>
            <a:endParaRPr lang="en-US" dirty="0"/>
          </a:p>
        </p:txBody>
      </p:sp>
      <p:sp>
        <p:nvSpPr>
          <p:cNvPr id="11" name="Text 9"/>
          <p:cNvSpPr/>
          <p:nvPr/>
        </p:nvSpPr>
        <p:spPr>
          <a:xfrm>
            <a:off x="644426" y="2245816"/>
            <a:ext cx="64972" cy="159990"/>
          </a:xfrm>
          <a:prstGeom prst="rect">
            <a:avLst/>
          </a:prstGeom>
          <a:noFill/>
          <a:ln/>
        </p:spPr>
        <p:txBody>
          <a:bodyPr wrap="square" lIns="0" tIns="0" rIns="0" bIns="0" rtlCol="0" anchor="t"/>
          <a:lstStyle/>
          <a:p>
            <a:pPr marL="0" indent="0" algn="l">
              <a:lnSpc>
                <a:spcPts val="1260"/>
              </a:lnSpc>
              <a:buNone/>
            </a:pPr>
            <a:r>
              <a:rPr lang="en-US" sz="900" b="1" dirty="0">
                <a:solidFill>
                  <a:srgbClr val="FFFFFF"/>
                </a:solidFill>
                <a:latin typeface="Arial" pitchFamily="34" charset="0"/>
                <a:ea typeface="Arial" pitchFamily="34" charset="-122"/>
                <a:cs typeface="Arial" pitchFamily="34" charset="-120"/>
              </a:rPr>
              <a:t>2</a:t>
            </a:r>
            <a:endParaRPr lang="en-US" sz="900" dirty="0"/>
          </a:p>
        </p:txBody>
      </p:sp>
      <p:sp>
        <p:nvSpPr>
          <p:cNvPr id="12" name="Text 10"/>
          <p:cNvSpPr/>
          <p:nvPr/>
        </p:nvSpPr>
        <p:spPr>
          <a:xfrm>
            <a:off x="1076325" y="2169765"/>
            <a:ext cx="1910310" cy="159990"/>
          </a:xfrm>
          <a:prstGeom prst="rect">
            <a:avLst/>
          </a:prstGeom>
          <a:noFill/>
          <a:ln/>
        </p:spPr>
        <p:txBody>
          <a:bodyPr wrap="square" lIns="0" tIns="0" rIns="0" bIns="0" rtlCol="0" anchor="t"/>
          <a:lstStyle/>
          <a:p>
            <a:pPr marL="0" indent="0" algn="l">
              <a:lnSpc>
                <a:spcPts val="1260"/>
              </a:lnSpc>
              <a:buNone/>
            </a:pPr>
            <a:r>
              <a:rPr lang="en-US" sz="900" b="1" dirty="0">
                <a:solidFill>
                  <a:srgbClr val="1A1F2E"/>
                </a:solidFill>
                <a:latin typeface="Arial" pitchFamily="34" charset="0"/>
                <a:ea typeface="Arial" pitchFamily="34" charset="-122"/>
                <a:cs typeface="Arial" pitchFamily="34" charset="-120"/>
              </a:rPr>
              <a:t>Select Your Default Model</a:t>
            </a:r>
            <a:endParaRPr lang="en-US" sz="900" dirty="0"/>
          </a:p>
        </p:txBody>
      </p:sp>
      <p:sp>
        <p:nvSpPr>
          <p:cNvPr id="13" name="Text 11"/>
          <p:cNvSpPr/>
          <p:nvPr/>
        </p:nvSpPr>
        <p:spPr>
          <a:xfrm>
            <a:off x="1076325" y="2348805"/>
            <a:ext cx="1910310" cy="133350"/>
          </a:xfrm>
          <a:prstGeom prst="rect">
            <a:avLst/>
          </a:prstGeom>
          <a:noFill/>
          <a:ln/>
        </p:spPr>
        <p:txBody>
          <a:bodyPr wrap="square" lIns="0" tIns="0" rIns="0" bIns="0" rtlCol="0" anchor="t"/>
          <a:lstStyle/>
          <a:p>
            <a:pPr marL="0" indent="0" algn="l">
              <a:lnSpc>
                <a:spcPts val="1050"/>
              </a:lnSpc>
              <a:spcBef>
                <a:spcPts val="150"/>
              </a:spcBef>
              <a:buNone/>
            </a:pPr>
            <a:r>
              <a:rPr lang="en-US" sz="750" dirty="0">
                <a:solidFill>
                  <a:srgbClr val="6B7280"/>
                </a:solidFill>
                <a:latin typeface="Arial" pitchFamily="34" charset="0"/>
                <a:ea typeface="Arial" pitchFamily="34" charset="-122"/>
                <a:cs typeface="Arial" pitchFamily="34" charset="-120"/>
              </a:rPr>
              <a:t>Start with "Fast" for quick testing (local, free)</a:t>
            </a:r>
            <a:endParaRPr lang="en-US" sz="750" dirty="0"/>
          </a:p>
        </p:txBody>
      </p:sp>
      <p:sp>
        <p:nvSpPr>
          <p:cNvPr id="14" name="Text 12"/>
          <p:cNvSpPr/>
          <p:nvPr/>
        </p:nvSpPr>
        <p:spPr>
          <a:xfrm>
            <a:off x="381000" y="2682180"/>
            <a:ext cx="4505325" cy="560040"/>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15" name="Text 13"/>
          <p:cNvSpPr/>
          <p:nvPr/>
        </p:nvSpPr>
        <p:spPr>
          <a:xfrm>
            <a:off x="542925" y="2828776"/>
            <a:ext cx="266700" cy="266700"/>
          </a:xfrm>
          <a:prstGeom prst="rect">
            <a:avLst/>
          </a:prstGeom>
          <a:solidFill>
            <a:srgbClr val="059669"/>
          </a:solidFill>
          <a:ln/>
        </p:spPr>
        <p:txBody>
          <a:bodyPr wrap="square" rtlCol="0" anchor="ctr"/>
          <a:lstStyle/>
          <a:p>
            <a:pPr marL="0" indent="0">
              <a:buNone/>
            </a:pPr>
            <a:endParaRPr lang="en-US" dirty="0"/>
          </a:p>
        </p:txBody>
      </p:sp>
      <p:sp>
        <p:nvSpPr>
          <p:cNvPr id="16" name="Text 14"/>
          <p:cNvSpPr/>
          <p:nvPr/>
        </p:nvSpPr>
        <p:spPr>
          <a:xfrm>
            <a:off x="644426" y="2882057"/>
            <a:ext cx="64972" cy="159990"/>
          </a:xfrm>
          <a:prstGeom prst="rect">
            <a:avLst/>
          </a:prstGeom>
          <a:noFill/>
          <a:ln/>
        </p:spPr>
        <p:txBody>
          <a:bodyPr wrap="square" lIns="0" tIns="0" rIns="0" bIns="0" rtlCol="0" anchor="t"/>
          <a:lstStyle/>
          <a:p>
            <a:pPr marL="0" indent="0" algn="l">
              <a:lnSpc>
                <a:spcPts val="1260"/>
              </a:lnSpc>
              <a:buNone/>
            </a:pPr>
            <a:r>
              <a:rPr lang="en-US" sz="900" b="1" dirty="0">
                <a:solidFill>
                  <a:srgbClr val="FFFFFF"/>
                </a:solidFill>
                <a:latin typeface="Arial" pitchFamily="34" charset="0"/>
                <a:ea typeface="Arial" pitchFamily="34" charset="-122"/>
                <a:cs typeface="Arial" pitchFamily="34" charset="-120"/>
              </a:rPr>
              <a:t>3</a:t>
            </a:r>
            <a:endParaRPr lang="en-US" sz="900" dirty="0"/>
          </a:p>
        </p:txBody>
      </p:sp>
      <p:sp>
        <p:nvSpPr>
          <p:cNvPr id="17" name="Text 15"/>
          <p:cNvSpPr/>
          <p:nvPr/>
        </p:nvSpPr>
        <p:spPr>
          <a:xfrm>
            <a:off x="1076325" y="2806005"/>
            <a:ext cx="2095208" cy="159990"/>
          </a:xfrm>
          <a:prstGeom prst="rect">
            <a:avLst/>
          </a:prstGeom>
          <a:noFill/>
          <a:ln/>
        </p:spPr>
        <p:txBody>
          <a:bodyPr wrap="square" lIns="0" tIns="0" rIns="0" bIns="0" rtlCol="0" anchor="t"/>
          <a:lstStyle/>
          <a:p>
            <a:pPr marL="0" indent="0" algn="l">
              <a:lnSpc>
                <a:spcPts val="1260"/>
              </a:lnSpc>
              <a:buNone/>
            </a:pPr>
            <a:r>
              <a:rPr lang="en-US" sz="900" b="1" dirty="0">
                <a:solidFill>
                  <a:srgbClr val="1A1F2E"/>
                </a:solidFill>
                <a:latin typeface="Arial" pitchFamily="34" charset="0"/>
                <a:ea typeface="Arial" pitchFamily="34" charset="-122"/>
                <a:cs typeface="Arial" pitchFamily="34" charset="-120"/>
              </a:rPr>
              <a:t>Configure Recording Hotkey</a:t>
            </a:r>
            <a:endParaRPr lang="en-US" sz="900" dirty="0"/>
          </a:p>
        </p:txBody>
      </p:sp>
      <p:sp>
        <p:nvSpPr>
          <p:cNvPr id="18" name="Text 16"/>
          <p:cNvSpPr/>
          <p:nvPr/>
        </p:nvSpPr>
        <p:spPr>
          <a:xfrm>
            <a:off x="1076325" y="2985046"/>
            <a:ext cx="2095208" cy="133350"/>
          </a:xfrm>
          <a:prstGeom prst="rect">
            <a:avLst/>
          </a:prstGeom>
          <a:noFill/>
          <a:ln/>
        </p:spPr>
        <p:txBody>
          <a:bodyPr wrap="square" lIns="0" tIns="0" rIns="0" bIns="0" rtlCol="0" anchor="t"/>
          <a:lstStyle/>
          <a:p>
            <a:pPr marL="0" indent="0" algn="l">
              <a:lnSpc>
                <a:spcPts val="1050"/>
              </a:lnSpc>
              <a:spcBef>
                <a:spcPts val="150"/>
              </a:spcBef>
              <a:buNone/>
            </a:pPr>
            <a:r>
              <a:rPr lang="en-US" sz="750" dirty="0">
                <a:solidFill>
                  <a:srgbClr val="6B7280"/>
                </a:solidFill>
                <a:latin typeface="Arial" pitchFamily="34" charset="0"/>
                <a:ea typeface="Arial" pitchFamily="34" charset="-122"/>
                <a:cs typeface="Arial" pitchFamily="34" charset="-120"/>
              </a:rPr>
              <a:t>Default: Option+Space (Mac) or Alt+Space (Win)</a:t>
            </a:r>
            <a:endParaRPr lang="en-US" sz="750" dirty="0"/>
          </a:p>
        </p:txBody>
      </p:sp>
      <p:sp>
        <p:nvSpPr>
          <p:cNvPr id="19" name="Text 17"/>
          <p:cNvSpPr/>
          <p:nvPr/>
        </p:nvSpPr>
        <p:spPr>
          <a:xfrm>
            <a:off x="381000" y="3318421"/>
            <a:ext cx="4505325" cy="560040"/>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20" name="Text 18"/>
          <p:cNvSpPr/>
          <p:nvPr/>
        </p:nvSpPr>
        <p:spPr>
          <a:xfrm>
            <a:off x="542925" y="3465016"/>
            <a:ext cx="266700" cy="266700"/>
          </a:xfrm>
          <a:prstGeom prst="rect">
            <a:avLst/>
          </a:prstGeom>
          <a:solidFill>
            <a:srgbClr val="059669"/>
          </a:solidFill>
          <a:ln/>
        </p:spPr>
        <p:txBody>
          <a:bodyPr wrap="square" rtlCol="0" anchor="ctr"/>
          <a:lstStyle/>
          <a:p>
            <a:pPr marL="0" indent="0">
              <a:buNone/>
            </a:pPr>
            <a:endParaRPr lang="en-US" dirty="0"/>
          </a:p>
        </p:txBody>
      </p:sp>
      <p:sp>
        <p:nvSpPr>
          <p:cNvPr id="21" name="Text 19"/>
          <p:cNvSpPr/>
          <p:nvPr/>
        </p:nvSpPr>
        <p:spPr>
          <a:xfrm>
            <a:off x="644426" y="3518297"/>
            <a:ext cx="64972" cy="159990"/>
          </a:xfrm>
          <a:prstGeom prst="rect">
            <a:avLst/>
          </a:prstGeom>
          <a:noFill/>
          <a:ln/>
        </p:spPr>
        <p:txBody>
          <a:bodyPr wrap="square" lIns="0" tIns="0" rIns="0" bIns="0" rtlCol="0" anchor="t"/>
          <a:lstStyle/>
          <a:p>
            <a:pPr marL="0" indent="0" algn="l">
              <a:lnSpc>
                <a:spcPts val="1260"/>
              </a:lnSpc>
              <a:buNone/>
            </a:pPr>
            <a:r>
              <a:rPr lang="en-US" sz="900" b="1" dirty="0">
                <a:solidFill>
                  <a:srgbClr val="FFFFFF"/>
                </a:solidFill>
                <a:latin typeface="Arial" pitchFamily="34" charset="0"/>
                <a:ea typeface="Arial" pitchFamily="34" charset="-122"/>
                <a:cs typeface="Arial" pitchFamily="34" charset="-120"/>
              </a:rPr>
              <a:t>4</a:t>
            </a:r>
            <a:endParaRPr lang="en-US" sz="900" dirty="0"/>
          </a:p>
        </p:txBody>
      </p:sp>
      <p:sp>
        <p:nvSpPr>
          <p:cNvPr id="22" name="Text 20"/>
          <p:cNvSpPr/>
          <p:nvPr/>
        </p:nvSpPr>
        <p:spPr>
          <a:xfrm>
            <a:off x="1076325" y="3442246"/>
            <a:ext cx="2039800" cy="159990"/>
          </a:xfrm>
          <a:prstGeom prst="rect">
            <a:avLst/>
          </a:prstGeom>
          <a:noFill/>
          <a:ln/>
        </p:spPr>
        <p:txBody>
          <a:bodyPr wrap="square" lIns="0" tIns="0" rIns="0" bIns="0" rtlCol="0" anchor="t"/>
          <a:lstStyle/>
          <a:p>
            <a:pPr marL="0" indent="0" algn="l">
              <a:lnSpc>
                <a:spcPts val="1260"/>
              </a:lnSpc>
              <a:buNone/>
            </a:pPr>
            <a:r>
              <a:rPr lang="en-US" sz="900" b="1" dirty="0">
                <a:solidFill>
                  <a:srgbClr val="1A1F2E"/>
                </a:solidFill>
                <a:latin typeface="Arial" pitchFamily="34" charset="0"/>
                <a:ea typeface="Arial" pitchFamily="34" charset="-122"/>
                <a:cs typeface="Arial" pitchFamily="34" charset="-120"/>
              </a:rPr>
              <a:t>Test Your First Dictation</a:t>
            </a:r>
            <a:endParaRPr lang="en-US" sz="900" dirty="0"/>
          </a:p>
        </p:txBody>
      </p:sp>
      <p:sp>
        <p:nvSpPr>
          <p:cNvPr id="23" name="Text 21"/>
          <p:cNvSpPr/>
          <p:nvPr/>
        </p:nvSpPr>
        <p:spPr>
          <a:xfrm>
            <a:off x="1076325" y="3621286"/>
            <a:ext cx="2039800" cy="133350"/>
          </a:xfrm>
          <a:prstGeom prst="rect">
            <a:avLst/>
          </a:prstGeom>
          <a:noFill/>
          <a:ln/>
        </p:spPr>
        <p:txBody>
          <a:bodyPr wrap="square" lIns="0" tIns="0" rIns="0" bIns="0" rtlCol="0" anchor="t"/>
          <a:lstStyle/>
          <a:p>
            <a:pPr marL="0" indent="0" algn="l">
              <a:lnSpc>
                <a:spcPts val="1050"/>
              </a:lnSpc>
              <a:spcBef>
                <a:spcPts val="150"/>
              </a:spcBef>
              <a:buNone/>
            </a:pPr>
            <a:r>
              <a:rPr lang="en-US" sz="750" dirty="0">
                <a:solidFill>
                  <a:srgbClr val="6B7280"/>
                </a:solidFill>
                <a:latin typeface="Arial" pitchFamily="34" charset="0"/>
                <a:ea typeface="Arial" pitchFamily="34" charset="-122"/>
                <a:cs typeface="Arial" pitchFamily="34" charset="-120"/>
              </a:rPr>
              <a:t>Open any text field, hold hotkey, speak, release</a:t>
            </a:r>
            <a:endParaRPr lang="en-US" sz="750" dirty="0"/>
          </a:p>
        </p:txBody>
      </p:sp>
      <p:sp>
        <p:nvSpPr>
          <p:cNvPr id="24" name="Text 22"/>
          <p:cNvSpPr/>
          <p:nvPr/>
        </p:nvSpPr>
        <p:spPr>
          <a:xfrm>
            <a:off x="381000" y="3954661"/>
            <a:ext cx="4505325" cy="540990"/>
          </a:xfrm>
          <a:prstGeom prst="rect">
            <a:avLst/>
          </a:prstGeom>
          <a:solidFill>
            <a:srgbClr val="C9A227"/>
          </a:solidFill>
          <a:ln/>
        </p:spPr>
        <p:txBody>
          <a:bodyPr wrap="square" rtlCol="0" anchor="ctr"/>
          <a:lstStyle/>
          <a:p>
            <a:pPr marL="0" indent="0">
              <a:buNone/>
            </a:pPr>
            <a:endParaRPr lang="en-US" dirty="0"/>
          </a:p>
        </p:txBody>
      </p:sp>
      <p:sp>
        <p:nvSpPr>
          <p:cNvPr id="25" name="Text 23"/>
          <p:cNvSpPr/>
          <p:nvPr/>
        </p:nvSpPr>
        <p:spPr>
          <a:xfrm>
            <a:off x="533400" y="4091732"/>
            <a:ext cx="266700" cy="266700"/>
          </a:xfrm>
          <a:prstGeom prst="rect">
            <a:avLst/>
          </a:prstGeom>
          <a:solidFill>
            <a:srgbClr val="1A1F2E"/>
          </a:solidFill>
          <a:ln/>
        </p:spPr>
        <p:txBody>
          <a:bodyPr wrap="square" rtlCol="0" anchor="ctr"/>
          <a:lstStyle/>
          <a:p>
            <a:pPr marL="0" indent="0">
              <a:buNone/>
            </a:pPr>
            <a:endParaRPr lang="en-US" dirty="0"/>
          </a:p>
        </p:txBody>
      </p:sp>
      <p:sp>
        <p:nvSpPr>
          <p:cNvPr id="26" name="Text 24"/>
          <p:cNvSpPr/>
          <p:nvPr/>
        </p:nvSpPr>
        <p:spPr>
          <a:xfrm>
            <a:off x="634901" y="4145012"/>
            <a:ext cx="64972" cy="159990"/>
          </a:xfrm>
          <a:prstGeom prst="rect">
            <a:avLst/>
          </a:prstGeom>
          <a:noFill/>
          <a:ln/>
        </p:spPr>
        <p:txBody>
          <a:bodyPr wrap="square" lIns="0" tIns="0" rIns="0" bIns="0" rtlCol="0" anchor="t"/>
          <a:lstStyle/>
          <a:p>
            <a:pPr marL="0" indent="0" algn="l">
              <a:lnSpc>
                <a:spcPts val="1260"/>
              </a:lnSpc>
              <a:buNone/>
            </a:pPr>
            <a:r>
              <a:rPr lang="en-US" sz="900" b="1" dirty="0">
                <a:solidFill>
                  <a:srgbClr val="FFFFFF"/>
                </a:solidFill>
                <a:latin typeface="Arial" pitchFamily="34" charset="0"/>
                <a:ea typeface="Arial" pitchFamily="34" charset="-122"/>
                <a:cs typeface="Arial" pitchFamily="34" charset="-120"/>
              </a:rPr>
              <a:t>5</a:t>
            </a:r>
            <a:endParaRPr lang="en-US" sz="900" dirty="0"/>
          </a:p>
        </p:txBody>
      </p:sp>
      <p:sp>
        <p:nvSpPr>
          <p:cNvPr id="27" name="Text 25"/>
          <p:cNvSpPr/>
          <p:nvPr/>
        </p:nvSpPr>
        <p:spPr>
          <a:xfrm>
            <a:off x="1066800" y="4068961"/>
            <a:ext cx="2131793" cy="159990"/>
          </a:xfrm>
          <a:prstGeom prst="rect">
            <a:avLst/>
          </a:prstGeom>
          <a:noFill/>
          <a:ln/>
        </p:spPr>
        <p:txBody>
          <a:bodyPr wrap="square" lIns="0" tIns="0" rIns="0" bIns="0" rtlCol="0" anchor="t"/>
          <a:lstStyle/>
          <a:p>
            <a:pPr marL="0" indent="0" algn="l">
              <a:lnSpc>
                <a:spcPts val="1260"/>
              </a:lnSpc>
              <a:buNone/>
            </a:pPr>
            <a:r>
              <a:rPr lang="en-US" sz="900" b="1" dirty="0">
                <a:solidFill>
                  <a:srgbClr val="1A1F2E"/>
                </a:solidFill>
                <a:latin typeface="Arial" pitchFamily="34" charset="0"/>
                <a:ea typeface="Arial" pitchFamily="34" charset="-122"/>
                <a:cs typeface="Arial" pitchFamily="34" charset="-120"/>
              </a:rPr>
              <a:t>Verify Local Processing</a:t>
            </a:r>
            <a:endParaRPr lang="en-US" sz="900" dirty="0"/>
          </a:p>
        </p:txBody>
      </p:sp>
      <p:sp>
        <p:nvSpPr>
          <p:cNvPr id="28" name="Text 26"/>
          <p:cNvSpPr/>
          <p:nvPr/>
        </p:nvSpPr>
        <p:spPr>
          <a:xfrm>
            <a:off x="1066800" y="4248001"/>
            <a:ext cx="2131793" cy="133350"/>
          </a:xfrm>
          <a:prstGeom prst="rect">
            <a:avLst/>
          </a:prstGeom>
          <a:noFill/>
          <a:ln/>
        </p:spPr>
        <p:txBody>
          <a:bodyPr wrap="square" lIns="0" tIns="0" rIns="0" bIns="0" rtlCol="0" anchor="t"/>
          <a:lstStyle/>
          <a:p>
            <a:pPr marL="0" indent="0" algn="l">
              <a:lnSpc>
                <a:spcPts val="1050"/>
              </a:lnSpc>
              <a:spcBef>
                <a:spcPts val="150"/>
              </a:spcBef>
              <a:buNone/>
            </a:pPr>
            <a:r>
              <a:rPr lang="en-US" sz="750" dirty="0">
                <a:solidFill>
                  <a:srgbClr val="1A1F2E">
                    <a:alpha val="70000"/>
                  </a:srgbClr>
                </a:solidFill>
                <a:latin typeface="Arial" pitchFamily="34" charset="0"/>
                <a:ea typeface="Arial" pitchFamily="34" charset="-122"/>
                <a:cs typeface="Arial" pitchFamily="34" charset="-120"/>
              </a:rPr>
              <a:t>Check Settings → confirm "Local" model selected</a:t>
            </a:r>
            <a:endParaRPr lang="en-US" sz="750" dirty="0"/>
          </a:p>
        </p:txBody>
      </p:sp>
      <p:sp>
        <p:nvSpPr>
          <p:cNvPr id="29" name="Text 27"/>
          <p:cNvSpPr/>
          <p:nvPr/>
        </p:nvSpPr>
        <p:spPr>
          <a:xfrm>
            <a:off x="5076825" y="1102221"/>
            <a:ext cx="3686175" cy="984796"/>
          </a:xfrm>
          <a:prstGeom prst="rect">
            <a:avLst/>
          </a:prstGeom>
          <a:solidFill>
            <a:srgbClr val="1A1F2E"/>
          </a:solidFill>
          <a:ln/>
        </p:spPr>
        <p:txBody>
          <a:bodyPr wrap="square" rtlCol="0" anchor="ctr"/>
          <a:lstStyle/>
          <a:p>
            <a:pPr marL="0" indent="0">
              <a:buNone/>
            </a:pPr>
            <a:endParaRPr lang="en-US" dirty="0"/>
          </a:p>
        </p:txBody>
      </p:sp>
      <p:sp>
        <p:nvSpPr>
          <p:cNvPr id="30" name="Text 28"/>
          <p:cNvSpPr/>
          <p:nvPr/>
        </p:nvSpPr>
        <p:spPr>
          <a:xfrm>
            <a:off x="5229225" y="1254621"/>
            <a:ext cx="3449002" cy="146596"/>
          </a:xfrm>
          <a:prstGeom prst="rect">
            <a:avLst/>
          </a:prstGeom>
          <a:noFill/>
          <a:ln/>
        </p:spPr>
        <p:txBody>
          <a:bodyPr wrap="square" lIns="0" tIns="0" rIns="0" bIns="0" rtlCol="0" anchor="t"/>
          <a:lstStyle/>
          <a:p>
            <a:pPr marL="0" indent="0" algn="l">
              <a:lnSpc>
                <a:spcPts val="1155"/>
              </a:lnSpc>
              <a:spcAft>
                <a:spcPts val="600"/>
              </a:spcAft>
              <a:buNone/>
            </a:pPr>
            <a:r>
              <a:rPr lang="en-US" sz="825" b="1" dirty="0">
                <a:solidFill>
                  <a:srgbClr val="C9A227"/>
                </a:solidFill>
                <a:latin typeface="Arial" pitchFamily="34" charset="0"/>
                <a:ea typeface="Arial" pitchFamily="34" charset="-122"/>
                <a:cs typeface="Arial" pitchFamily="34" charset="-120"/>
              </a:rPr>
              <a:t>HOTKEY OPTIONS</a:t>
            </a:r>
            <a:endParaRPr lang="en-US" sz="825" dirty="0"/>
          </a:p>
        </p:txBody>
      </p:sp>
      <p:sp>
        <p:nvSpPr>
          <p:cNvPr id="31" name="Text 29"/>
          <p:cNvSpPr/>
          <p:nvPr/>
        </p:nvSpPr>
        <p:spPr>
          <a:xfrm>
            <a:off x="5229225" y="1477417"/>
            <a:ext cx="3449002" cy="457200"/>
          </a:xfrm>
          <a:prstGeom prst="rect">
            <a:avLst/>
          </a:prstGeom>
          <a:noFill/>
          <a:ln/>
        </p:spPr>
        <p:txBody>
          <a:bodyPr wrap="square" lIns="0" tIns="0" rIns="0" bIns="0" rtlCol="0" anchor="t"/>
          <a:lstStyle/>
          <a:p>
            <a:pPr marL="0" indent="0" algn="l">
              <a:lnSpc>
                <a:spcPts val="1200"/>
              </a:lnSpc>
              <a:buNone/>
            </a:pPr>
            <a:r>
              <a:rPr lang="en-US" sz="750" b="1" dirty="0">
                <a:solidFill>
                  <a:srgbClr val="FFFFFF">
                    <a:alpha val="80000"/>
                  </a:srgbClr>
                </a:solidFill>
                <a:latin typeface="Arial" pitchFamily="34" charset="0"/>
                <a:ea typeface="Arial" pitchFamily="34" charset="-122"/>
                <a:cs typeface="Arial" pitchFamily="34" charset="-120"/>
              </a:rPr>
              <a:t>Hold-to-Record:</a:t>
            </a:r>
            <a:r>
              <a:rPr lang="en-US" sz="750" dirty="0">
                <a:solidFill>
                  <a:srgbClr val="FFFFFF">
                    <a:alpha val="80000"/>
                  </a:srgbClr>
                </a:solidFill>
                <a:latin typeface="Arial" pitchFamily="34" charset="0"/>
                <a:ea typeface="Arial" pitchFamily="34" charset="-122"/>
                <a:cs typeface="Arial" pitchFamily="34" charset="-120"/>
              </a:rPr>
              <a:t> Speak while holding</a:t>
            </a:r>
            <a:endParaRPr lang="en-US" sz="750" dirty="0"/>
          </a:p>
          <a:p>
            <a:pPr marL="0" indent="0" algn="l">
              <a:lnSpc>
                <a:spcPts val="1200"/>
              </a:lnSpc>
              <a:buNone/>
            </a:pPr>
            <a:r>
              <a:rPr lang="en-US" sz="750" dirty="0">
                <a:solidFill>
                  <a:srgbClr val="FFFFFF">
                    <a:alpha val="80000"/>
                  </a:srgbClr>
                </a:solidFill>
                <a:latin typeface="Arial" pitchFamily="34" charset="0"/>
                <a:ea typeface="Arial" pitchFamily="34" charset="-122"/>
                <a:cs typeface="Arial" pitchFamily="34" charset="-120"/>
              </a:rPr>
              <a:t> </a:t>
            </a:r>
            <a:endParaRPr lang="en-US" sz="750" dirty="0"/>
          </a:p>
          <a:p>
            <a:pPr marL="0" indent="0" algn="l">
              <a:lnSpc>
                <a:spcPts val="1200"/>
              </a:lnSpc>
              <a:buNone/>
            </a:pPr>
            <a:r>
              <a:rPr lang="en-US" sz="750" b="1" dirty="0">
                <a:solidFill>
                  <a:srgbClr val="FFFFFF">
                    <a:alpha val="80000"/>
                  </a:srgbClr>
                </a:solidFill>
                <a:latin typeface="Arial" pitchFamily="34" charset="0"/>
                <a:ea typeface="Arial" pitchFamily="34" charset="-122"/>
                <a:cs typeface="Arial" pitchFamily="34" charset="-120"/>
              </a:rPr>
              <a:t>Toggle Mode:</a:t>
            </a:r>
            <a:r>
              <a:rPr lang="en-US" sz="750" dirty="0">
                <a:solidFill>
                  <a:srgbClr val="FFFFFF">
                    <a:alpha val="80000"/>
                  </a:srgbClr>
                </a:solidFill>
                <a:latin typeface="Arial" pitchFamily="34" charset="0"/>
                <a:ea typeface="Arial" pitchFamily="34" charset="-122"/>
                <a:cs typeface="Arial" pitchFamily="34" charset="-120"/>
              </a:rPr>
              <a:t> Press once to start/stop</a:t>
            </a:r>
            <a:endParaRPr lang="en-US" sz="750" dirty="0"/>
          </a:p>
          <a:p>
            <a:pPr marL="0" indent="0" algn="l">
              <a:lnSpc>
                <a:spcPts val="1200"/>
              </a:lnSpc>
              <a:buNone/>
            </a:pPr>
            <a:r>
              <a:rPr lang="en-US" sz="750" dirty="0">
                <a:solidFill>
                  <a:srgbClr val="FFFFFF">
                    <a:alpha val="80000"/>
                  </a:srgbClr>
                </a:solidFill>
                <a:latin typeface="Arial" pitchFamily="34" charset="0"/>
                <a:ea typeface="Arial" pitchFamily="34" charset="-122"/>
                <a:cs typeface="Arial" pitchFamily="34" charset="-120"/>
              </a:rPr>
              <a:t> </a:t>
            </a:r>
            <a:endParaRPr lang="en-US" sz="750" dirty="0"/>
          </a:p>
          <a:p>
            <a:pPr marL="0" indent="0" algn="l">
              <a:lnSpc>
                <a:spcPts val="1200"/>
              </a:lnSpc>
              <a:buNone/>
            </a:pPr>
            <a:r>
              <a:rPr lang="en-US" sz="750" b="1" dirty="0">
                <a:solidFill>
                  <a:srgbClr val="FFFFFF">
                    <a:alpha val="80000"/>
                  </a:srgbClr>
                </a:solidFill>
                <a:latin typeface="Arial" pitchFamily="34" charset="0"/>
                <a:ea typeface="Arial" pitchFamily="34" charset="-122"/>
                <a:cs typeface="Arial" pitchFamily="34" charset="-120"/>
              </a:rPr>
              <a:t>Push-to-Talk:</a:t>
            </a:r>
            <a:r>
              <a:rPr lang="en-US" sz="750" dirty="0">
                <a:solidFill>
                  <a:srgbClr val="FFFFFF">
                    <a:alpha val="80000"/>
                  </a:srgbClr>
                </a:solidFill>
                <a:latin typeface="Arial" pitchFamily="34" charset="0"/>
                <a:ea typeface="Arial" pitchFamily="34" charset="-122"/>
                <a:cs typeface="Arial" pitchFamily="34" charset="-120"/>
              </a:rPr>
              <a:t> Classic PTT style</a:t>
            </a:r>
            <a:endParaRPr lang="en-US" sz="750" dirty="0"/>
          </a:p>
        </p:txBody>
      </p:sp>
      <p:sp>
        <p:nvSpPr>
          <p:cNvPr id="32" name="Text 30"/>
          <p:cNvSpPr/>
          <p:nvPr/>
        </p:nvSpPr>
        <p:spPr>
          <a:xfrm>
            <a:off x="5076825" y="2182267"/>
            <a:ext cx="3686175" cy="756196"/>
          </a:xfrm>
          <a:prstGeom prst="rect">
            <a:avLst/>
          </a:prstGeom>
          <a:solidFill>
            <a:srgbClr val="DCFCE7"/>
          </a:solidFill>
          <a:ln/>
        </p:spPr>
        <p:txBody>
          <a:bodyPr wrap="square" rtlCol="0" anchor="ctr"/>
          <a:lstStyle/>
          <a:p>
            <a:pPr marL="0" indent="0">
              <a:buNone/>
            </a:pPr>
            <a:endParaRPr lang="en-US" dirty="0"/>
          </a:p>
        </p:txBody>
      </p:sp>
      <p:sp>
        <p:nvSpPr>
          <p:cNvPr id="33" name="Shape 31"/>
          <p:cNvSpPr/>
          <p:nvPr/>
        </p:nvSpPr>
        <p:spPr>
          <a:xfrm>
            <a:off x="5095875" y="2182267"/>
            <a:ext cx="0" cy="756196"/>
          </a:xfrm>
          <a:prstGeom prst="line">
            <a:avLst/>
          </a:prstGeom>
          <a:noFill/>
          <a:ln w="38100">
            <a:solidFill>
              <a:srgbClr val="059669"/>
            </a:solidFill>
            <a:prstDash val="solid"/>
          </a:ln>
        </p:spPr>
        <p:txBody>
          <a:bodyPr/>
          <a:lstStyle/>
          <a:p>
            <a:endParaRPr lang="en-US"/>
          </a:p>
        </p:txBody>
      </p:sp>
      <p:sp>
        <p:nvSpPr>
          <p:cNvPr id="34" name="Text 32"/>
          <p:cNvSpPr/>
          <p:nvPr/>
        </p:nvSpPr>
        <p:spPr>
          <a:xfrm>
            <a:off x="5248275" y="2315617"/>
            <a:ext cx="3449002" cy="146596"/>
          </a:xfrm>
          <a:prstGeom prst="rect">
            <a:avLst/>
          </a:prstGeom>
          <a:noFill/>
          <a:ln/>
        </p:spPr>
        <p:txBody>
          <a:bodyPr wrap="square" lIns="0" tIns="0" rIns="0" bIns="0" rtlCol="0" anchor="t"/>
          <a:lstStyle/>
          <a:p>
            <a:pPr marL="0" indent="0" algn="l">
              <a:lnSpc>
                <a:spcPts val="1155"/>
              </a:lnSpc>
              <a:spcAft>
                <a:spcPts val="450"/>
              </a:spcAft>
              <a:buNone/>
            </a:pPr>
            <a:r>
              <a:rPr lang="en-US" sz="825" b="1" dirty="0">
                <a:solidFill>
                  <a:srgbClr val="166534"/>
                </a:solidFill>
                <a:latin typeface="Arial" pitchFamily="34" charset="0"/>
                <a:ea typeface="Arial" pitchFamily="34" charset="-122"/>
                <a:cs typeface="Arial" pitchFamily="34" charset="-120"/>
              </a:rPr>
              <a:t>PRO TIP</a:t>
            </a:r>
            <a:endParaRPr lang="en-US" sz="825" dirty="0"/>
          </a:p>
        </p:txBody>
      </p:sp>
      <p:sp>
        <p:nvSpPr>
          <p:cNvPr id="35" name="Text 33"/>
          <p:cNvSpPr/>
          <p:nvPr/>
        </p:nvSpPr>
        <p:spPr>
          <a:xfrm>
            <a:off x="5248275" y="2519363"/>
            <a:ext cx="3449002" cy="285750"/>
          </a:xfrm>
          <a:prstGeom prst="rect">
            <a:avLst/>
          </a:prstGeom>
          <a:noFill/>
          <a:ln/>
        </p:spPr>
        <p:txBody>
          <a:bodyPr wrap="square" lIns="0" tIns="0" rIns="0" bIns="0" rtlCol="0" anchor="t"/>
          <a:lstStyle/>
          <a:p>
            <a:pPr marL="0" indent="0" algn="l">
              <a:lnSpc>
                <a:spcPts val="1125"/>
              </a:lnSpc>
              <a:buNone/>
            </a:pPr>
            <a:r>
              <a:rPr lang="en-US" sz="750" dirty="0">
                <a:solidFill>
                  <a:srgbClr val="166534"/>
                </a:solidFill>
                <a:latin typeface="Arial" pitchFamily="34" charset="0"/>
                <a:ea typeface="Arial" pitchFamily="34" charset="-122"/>
                <a:cs typeface="Arial" pitchFamily="34" charset="-120"/>
              </a:rPr>
              <a:t>Hold-to-Record gives you precise control. Release to instantly process and paste. Most natural for short commands.</a:t>
            </a:r>
            <a:endParaRPr lang="en-US" sz="750" dirty="0"/>
          </a:p>
        </p:txBody>
      </p:sp>
      <p:sp>
        <p:nvSpPr>
          <p:cNvPr id="36" name="Text 34"/>
          <p:cNvSpPr/>
          <p:nvPr/>
        </p:nvSpPr>
        <p:spPr>
          <a:xfrm>
            <a:off x="5076825" y="3033713"/>
            <a:ext cx="3686175" cy="756196"/>
          </a:xfrm>
          <a:prstGeom prst="rect">
            <a:avLst/>
          </a:prstGeom>
          <a:solidFill>
            <a:srgbClr val="FEF3C7"/>
          </a:solidFill>
          <a:ln/>
        </p:spPr>
        <p:txBody>
          <a:bodyPr wrap="square" rtlCol="0" anchor="ctr"/>
          <a:lstStyle/>
          <a:p>
            <a:pPr marL="0" indent="0">
              <a:buNone/>
            </a:pPr>
            <a:endParaRPr lang="en-US" dirty="0"/>
          </a:p>
        </p:txBody>
      </p:sp>
      <p:sp>
        <p:nvSpPr>
          <p:cNvPr id="37" name="Shape 35"/>
          <p:cNvSpPr/>
          <p:nvPr/>
        </p:nvSpPr>
        <p:spPr>
          <a:xfrm>
            <a:off x="5095875" y="3033713"/>
            <a:ext cx="0" cy="756196"/>
          </a:xfrm>
          <a:prstGeom prst="line">
            <a:avLst/>
          </a:prstGeom>
          <a:noFill/>
          <a:ln w="38100">
            <a:solidFill>
              <a:srgbClr val="F59E0B"/>
            </a:solidFill>
            <a:prstDash val="solid"/>
          </a:ln>
        </p:spPr>
        <p:txBody>
          <a:bodyPr/>
          <a:lstStyle/>
          <a:p>
            <a:endParaRPr lang="en-US"/>
          </a:p>
        </p:txBody>
      </p:sp>
      <p:sp>
        <p:nvSpPr>
          <p:cNvPr id="38" name="Text 36"/>
          <p:cNvSpPr/>
          <p:nvPr/>
        </p:nvSpPr>
        <p:spPr>
          <a:xfrm>
            <a:off x="5248275" y="3167063"/>
            <a:ext cx="3449002" cy="146596"/>
          </a:xfrm>
          <a:prstGeom prst="rect">
            <a:avLst/>
          </a:prstGeom>
          <a:noFill/>
          <a:ln/>
        </p:spPr>
        <p:txBody>
          <a:bodyPr wrap="square" lIns="0" tIns="0" rIns="0" bIns="0" rtlCol="0" anchor="t"/>
          <a:lstStyle/>
          <a:p>
            <a:pPr marL="0" indent="0" algn="l">
              <a:lnSpc>
                <a:spcPts val="1155"/>
              </a:lnSpc>
              <a:spcAft>
                <a:spcPts val="450"/>
              </a:spcAft>
              <a:buNone/>
            </a:pPr>
            <a:r>
              <a:rPr lang="en-US" sz="825" b="1" dirty="0">
                <a:solidFill>
                  <a:srgbClr val="92400E"/>
                </a:solidFill>
                <a:latin typeface="Arial" pitchFamily="34" charset="0"/>
                <a:ea typeface="Arial" pitchFamily="34" charset="-122"/>
                <a:cs typeface="Arial" pitchFamily="34" charset="-120"/>
              </a:rPr>
              <a:t>FIRST MODEL DOWNLOAD</a:t>
            </a:r>
            <a:endParaRPr lang="en-US" sz="825" dirty="0"/>
          </a:p>
        </p:txBody>
      </p:sp>
      <p:sp>
        <p:nvSpPr>
          <p:cNvPr id="39" name="Text 37"/>
          <p:cNvSpPr/>
          <p:nvPr/>
        </p:nvSpPr>
        <p:spPr>
          <a:xfrm>
            <a:off x="5248275" y="3370808"/>
            <a:ext cx="3449002" cy="285750"/>
          </a:xfrm>
          <a:prstGeom prst="rect">
            <a:avLst/>
          </a:prstGeom>
          <a:noFill/>
          <a:ln/>
        </p:spPr>
        <p:txBody>
          <a:bodyPr wrap="square" lIns="0" tIns="0" rIns="0" bIns="0" rtlCol="0" anchor="t"/>
          <a:lstStyle/>
          <a:p>
            <a:pPr marL="0" indent="0" algn="l">
              <a:lnSpc>
                <a:spcPts val="1125"/>
              </a:lnSpc>
              <a:buNone/>
            </a:pPr>
            <a:r>
              <a:rPr lang="en-US" sz="750" dirty="0">
                <a:solidFill>
                  <a:srgbClr val="92400E"/>
                </a:solidFill>
                <a:latin typeface="Arial" pitchFamily="34" charset="0"/>
                <a:ea typeface="Arial" pitchFamily="34" charset="-122"/>
                <a:cs typeface="Arial" pitchFamily="34" charset="-120"/>
              </a:rPr>
              <a:t>Local models download on first use (~100-500MB). Wait for download to complete before testing.</a:t>
            </a:r>
            <a:endParaRPr lang="en-US" sz="750" dirty="0"/>
          </a:p>
        </p:txBody>
      </p:sp>
      <p:sp>
        <p:nvSpPr>
          <p:cNvPr id="40" name="Text 38"/>
          <p:cNvSpPr/>
          <p:nvPr/>
        </p:nvSpPr>
        <p:spPr>
          <a:xfrm>
            <a:off x="5076825" y="3885158"/>
            <a:ext cx="3686175" cy="918121"/>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41" name="Text 39"/>
          <p:cNvSpPr/>
          <p:nvPr/>
        </p:nvSpPr>
        <p:spPr>
          <a:xfrm>
            <a:off x="5219700" y="4028033"/>
            <a:ext cx="3468434" cy="146596"/>
          </a:xfrm>
          <a:prstGeom prst="rect">
            <a:avLst/>
          </a:prstGeom>
          <a:noFill/>
          <a:ln/>
        </p:spPr>
        <p:txBody>
          <a:bodyPr wrap="square" lIns="0" tIns="0" rIns="0" bIns="0" rtlCol="0" anchor="t"/>
          <a:lstStyle/>
          <a:p>
            <a:pPr marL="0" indent="0" algn="l">
              <a:lnSpc>
                <a:spcPts val="1155"/>
              </a:lnSpc>
              <a:spcAft>
                <a:spcPts val="450"/>
              </a:spcAft>
              <a:buNone/>
            </a:pPr>
            <a:r>
              <a:rPr lang="en-US" sz="825" b="1" dirty="0">
                <a:solidFill>
                  <a:srgbClr val="1A1F2E"/>
                </a:solidFill>
                <a:latin typeface="Arial" pitchFamily="34" charset="0"/>
                <a:ea typeface="Arial" pitchFamily="34" charset="-122"/>
                <a:cs typeface="Arial" pitchFamily="34" charset="-120"/>
              </a:rPr>
              <a:t>STATUS INDICATOR</a:t>
            </a:r>
            <a:endParaRPr lang="en-US" sz="825" dirty="0"/>
          </a:p>
        </p:txBody>
      </p:sp>
      <p:sp>
        <p:nvSpPr>
          <p:cNvPr id="42" name="Text 40"/>
          <p:cNvSpPr/>
          <p:nvPr/>
        </p:nvSpPr>
        <p:spPr>
          <a:xfrm>
            <a:off x="5219700" y="4231779"/>
            <a:ext cx="3468434" cy="428625"/>
          </a:xfrm>
          <a:prstGeom prst="rect">
            <a:avLst/>
          </a:prstGeom>
          <a:noFill/>
          <a:ln/>
        </p:spPr>
        <p:txBody>
          <a:bodyPr wrap="square" lIns="0" tIns="0" rIns="0" bIns="0" rtlCol="0" anchor="t"/>
          <a:lstStyle/>
          <a:p>
            <a:pPr marL="0" indent="0" algn="l">
              <a:lnSpc>
                <a:spcPts val="1125"/>
              </a:lnSpc>
              <a:buNone/>
            </a:pPr>
            <a:r>
              <a:rPr lang="en-US" sz="750" dirty="0">
                <a:solidFill>
                  <a:srgbClr val="6B7280"/>
                </a:solidFill>
                <a:latin typeface="Arial" pitchFamily="34" charset="0"/>
                <a:ea typeface="Arial" pitchFamily="34" charset="-122"/>
                <a:cs typeface="Arial" pitchFamily="34" charset="-120"/>
              </a:rPr>
              <a:t>Gray = Idle state</a:t>
            </a:r>
            <a:endParaRPr lang="en-US" sz="750" dirty="0"/>
          </a:p>
          <a:p>
            <a:pPr marL="0" indent="0" algn="l">
              <a:lnSpc>
                <a:spcPts val="1125"/>
              </a:lnSpc>
              <a:buNone/>
            </a:pPr>
            <a:r>
              <a:rPr lang="en-US" sz="750" dirty="0">
                <a:solidFill>
                  <a:srgbClr val="6B7280"/>
                </a:solidFill>
                <a:latin typeface="Arial" pitchFamily="34" charset="0"/>
                <a:ea typeface="Arial" pitchFamily="34" charset="-122"/>
                <a:cs typeface="Arial" pitchFamily="34" charset="-120"/>
              </a:rPr>
              <a:t> Red = Recording</a:t>
            </a:r>
            <a:endParaRPr lang="en-US" sz="750" dirty="0"/>
          </a:p>
          <a:p>
            <a:pPr marL="0" indent="0" algn="l">
              <a:lnSpc>
                <a:spcPts val="1125"/>
              </a:lnSpc>
              <a:buNone/>
            </a:pPr>
            <a:r>
              <a:rPr lang="en-US" sz="750" dirty="0">
                <a:solidFill>
                  <a:srgbClr val="6B7280"/>
                </a:solidFill>
                <a:latin typeface="Arial" pitchFamily="34" charset="0"/>
                <a:ea typeface="Arial" pitchFamily="34" charset="-122"/>
                <a:cs typeface="Arial" pitchFamily="34" charset="-120"/>
              </a:rPr>
              <a:t> Gold = Processing</a:t>
            </a:r>
            <a:endParaRPr lang="en-US" sz="7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999963" y="-1999641"/>
            <a:ext cx="5143500" cy="9143425"/>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733" y="0"/>
            <a:ext cx="6803134" cy="5143179"/>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737118" y="-1264380"/>
            <a:ext cx="3670923" cy="9145160"/>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A01293F0-375D-1D9D-BC3F-F263AC12C107}"/>
              </a:ext>
            </a:extLst>
          </p:cNvPr>
          <p:cNvPicPr>
            <a:picLocks noChangeAspect="1"/>
          </p:cNvPicPr>
          <p:nvPr/>
        </p:nvPicPr>
        <p:blipFill>
          <a:blip r:embed="rId2"/>
          <a:stretch>
            <a:fillRect/>
          </a:stretch>
        </p:blipFill>
        <p:spPr>
          <a:xfrm>
            <a:off x="1518780" y="342900"/>
            <a:ext cx="6106439" cy="4457700"/>
          </a:xfrm>
          <a:prstGeom prst="rect">
            <a:avLst/>
          </a:prstGeom>
        </p:spPr>
      </p:pic>
    </p:spTree>
    <p:extLst>
      <p:ext uri="{BB962C8B-B14F-4D97-AF65-F5344CB8AC3E}">
        <p14:creationId xmlns:p14="http://schemas.microsoft.com/office/powerpoint/2010/main" val="25623395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999963" y="-1999641"/>
            <a:ext cx="5143500" cy="9143425"/>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733" y="0"/>
            <a:ext cx="6803134" cy="5143179"/>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737118" y="-1264380"/>
            <a:ext cx="3670923" cy="9145160"/>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12308559-56B0-64C8-47F9-46F7569C71C0}"/>
              </a:ext>
            </a:extLst>
          </p:cNvPr>
          <p:cNvPicPr>
            <a:picLocks noChangeAspect="1"/>
          </p:cNvPicPr>
          <p:nvPr/>
        </p:nvPicPr>
        <p:blipFill>
          <a:blip r:embed="rId2"/>
          <a:stretch>
            <a:fillRect/>
          </a:stretch>
        </p:blipFill>
        <p:spPr>
          <a:xfrm>
            <a:off x="2454592" y="342900"/>
            <a:ext cx="4234815" cy="4457700"/>
          </a:xfrm>
          <a:prstGeom prst="rect">
            <a:avLst/>
          </a:prstGeom>
        </p:spPr>
      </p:pic>
      <p:sp>
        <p:nvSpPr>
          <p:cNvPr id="3" name="Right Arrow 2">
            <a:extLst>
              <a:ext uri="{FF2B5EF4-FFF2-40B4-BE49-F238E27FC236}">
                <a16:creationId xmlns:a16="http://schemas.microsoft.com/office/drawing/2014/main" id="{F159E3DD-1953-094D-68E3-EB53880BD62D}"/>
              </a:ext>
            </a:extLst>
          </p:cNvPr>
          <p:cNvSpPr/>
          <p:nvPr/>
        </p:nvSpPr>
        <p:spPr>
          <a:xfrm rot="1118882">
            <a:off x="1706485" y="1110316"/>
            <a:ext cx="769495" cy="414728"/>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881697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0">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381000" y="228600"/>
            <a:ext cx="8549640" cy="133350"/>
          </a:xfrm>
          <a:prstGeom prst="rect">
            <a:avLst/>
          </a:prstGeom>
          <a:noFill/>
          <a:ln/>
        </p:spPr>
        <p:txBody>
          <a:bodyPr wrap="square" lIns="0" tIns="0" rIns="0" bIns="0" rtlCol="0" anchor="t"/>
          <a:lstStyle/>
          <a:p>
            <a:pPr marL="0" indent="0" algn="l">
              <a:lnSpc>
                <a:spcPts val="1050"/>
              </a:lnSpc>
              <a:spcAft>
                <a:spcPts val="450"/>
              </a:spcAft>
              <a:buNone/>
            </a:pPr>
            <a:r>
              <a:rPr lang="en-US" sz="750" dirty="0">
                <a:solidFill>
                  <a:srgbClr val="C9A227"/>
                </a:solidFill>
                <a:latin typeface="Arial" pitchFamily="34" charset="0"/>
                <a:ea typeface="Arial" pitchFamily="34" charset="-122"/>
                <a:cs typeface="Arial" pitchFamily="34" charset="-120"/>
              </a:rPr>
              <a:t>CUSTOM MODE PROMPTS</a:t>
            </a:r>
            <a:endParaRPr lang="en-US" sz="750" dirty="0"/>
          </a:p>
        </p:txBody>
      </p:sp>
      <p:sp>
        <p:nvSpPr>
          <p:cNvPr id="3" name="Text 1"/>
          <p:cNvSpPr/>
          <p:nvPr/>
        </p:nvSpPr>
        <p:spPr>
          <a:xfrm>
            <a:off x="381000" y="419100"/>
            <a:ext cx="4284536" cy="247650"/>
          </a:xfrm>
          <a:prstGeom prst="rect">
            <a:avLst/>
          </a:prstGeom>
          <a:noFill/>
          <a:ln/>
        </p:spPr>
        <p:txBody>
          <a:bodyPr wrap="square" lIns="0" tIns="0" rIns="0" bIns="0" rtlCol="0" anchor="t"/>
          <a:lstStyle/>
          <a:p>
            <a:pPr marL="0" indent="0" algn="l">
              <a:lnSpc>
                <a:spcPts val="1950"/>
              </a:lnSpc>
              <a:buNone/>
            </a:pPr>
            <a:r>
              <a:rPr lang="en-US" sz="1950" dirty="0">
                <a:solidFill>
                  <a:srgbClr val="1A1F2E"/>
                </a:solidFill>
                <a:latin typeface="Georgia" pitchFamily="34" charset="0"/>
                <a:ea typeface="Georgia" pitchFamily="34" charset="-122"/>
                <a:cs typeface="Georgia" pitchFamily="34" charset="-120"/>
              </a:rPr>
              <a:t>Writing Effective AI Instructions</a:t>
            </a:r>
            <a:endParaRPr lang="en-US" sz="1950" dirty="0"/>
          </a:p>
        </p:txBody>
      </p:sp>
      <p:sp>
        <p:nvSpPr>
          <p:cNvPr id="4" name="Text 2"/>
          <p:cNvSpPr/>
          <p:nvPr/>
        </p:nvSpPr>
        <p:spPr>
          <a:xfrm>
            <a:off x="381000" y="1191964"/>
            <a:ext cx="2814155" cy="159990"/>
          </a:xfrm>
          <a:prstGeom prst="rect">
            <a:avLst/>
          </a:prstGeom>
          <a:noFill/>
          <a:ln/>
        </p:spPr>
        <p:txBody>
          <a:bodyPr wrap="square" lIns="0" tIns="0" rIns="0" bIns="0" rtlCol="0" anchor="t"/>
          <a:lstStyle/>
          <a:p>
            <a:pPr marL="0" indent="0" algn="l">
              <a:lnSpc>
                <a:spcPts val="1260"/>
              </a:lnSpc>
              <a:spcAft>
                <a:spcPts val="300"/>
              </a:spcAft>
              <a:buNone/>
            </a:pPr>
            <a:r>
              <a:rPr lang="en-US" sz="900" b="1" dirty="0">
                <a:solidFill>
                  <a:srgbClr val="1A1F2E"/>
                </a:solidFill>
                <a:latin typeface="Arial" pitchFamily="34" charset="0"/>
                <a:ea typeface="Arial" pitchFamily="34" charset="-122"/>
                <a:cs typeface="Arial" pitchFamily="34" charset="-120"/>
              </a:rPr>
              <a:t>PROMPT STRUCTURE</a:t>
            </a:r>
            <a:endParaRPr lang="en-US" sz="900" dirty="0"/>
          </a:p>
        </p:txBody>
      </p:sp>
      <p:sp>
        <p:nvSpPr>
          <p:cNvPr id="5" name="Text 3"/>
          <p:cNvSpPr/>
          <p:nvPr/>
        </p:nvSpPr>
        <p:spPr>
          <a:xfrm>
            <a:off x="381000" y="1485305"/>
            <a:ext cx="2758976" cy="2435721"/>
          </a:xfrm>
          <a:prstGeom prst="rect">
            <a:avLst/>
          </a:prstGeom>
          <a:solidFill>
            <a:srgbClr val="1A1F2E"/>
          </a:solidFill>
          <a:ln/>
        </p:spPr>
        <p:txBody>
          <a:bodyPr wrap="square" rtlCol="0" anchor="ctr"/>
          <a:lstStyle/>
          <a:p>
            <a:pPr marL="0" indent="0">
              <a:buNone/>
            </a:pPr>
            <a:endParaRPr lang="en-US" dirty="0"/>
          </a:p>
        </p:txBody>
      </p:sp>
      <p:sp>
        <p:nvSpPr>
          <p:cNvPr id="6" name="Text 4"/>
          <p:cNvSpPr/>
          <p:nvPr/>
        </p:nvSpPr>
        <p:spPr>
          <a:xfrm>
            <a:off x="514350" y="1618655"/>
            <a:ext cx="2542121" cy="119955"/>
          </a:xfrm>
          <a:prstGeom prst="rect">
            <a:avLst/>
          </a:prstGeom>
          <a:noFill/>
          <a:ln/>
        </p:spPr>
        <p:txBody>
          <a:bodyPr wrap="square" lIns="0" tIns="0" rIns="0" bIns="0" rtlCol="0" anchor="t"/>
          <a:lstStyle/>
          <a:p>
            <a:pPr marL="0" indent="0" algn="l">
              <a:lnSpc>
                <a:spcPts val="945"/>
              </a:lnSpc>
              <a:spcAft>
                <a:spcPts val="600"/>
              </a:spcAft>
              <a:buNone/>
            </a:pPr>
            <a:r>
              <a:rPr lang="en-US" sz="675" dirty="0">
                <a:solidFill>
                  <a:srgbClr val="C9A227"/>
                </a:solidFill>
                <a:latin typeface="Arial" pitchFamily="34" charset="0"/>
                <a:ea typeface="Arial" pitchFamily="34" charset="-122"/>
                <a:cs typeface="Arial" pitchFamily="34" charset="-120"/>
              </a:rPr>
              <a:t>&lt;role&gt;</a:t>
            </a:r>
            <a:endParaRPr lang="en-US" sz="675" dirty="0"/>
          </a:p>
        </p:txBody>
      </p:sp>
      <p:sp>
        <p:nvSpPr>
          <p:cNvPr id="7" name="Text 5"/>
          <p:cNvSpPr/>
          <p:nvPr/>
        </p:nvSpPr>
        <p:spPr>
          <a:xfrm>
            <a:off x="514350" y="1814810"/>
            <a:ext cx="2542121" cy="119955"/>
          </a:xfrm>
          <a:prstGeom prst="rect">
            <a:avLst/>
          </a:prstGeom>
          <a:noFill/>
          <a:ln/>
        </p:spPr>
        <p:txBody>
          <a:bodyPr wrap="square" lIns="114300" tIns="0" rIns="0" bIns="0" rtlCol="0" anchor="t"/>
          <a:lstStyle/>
          <a:p>
            <a:pPr marL="0" indent="0" algn="l">
              <a:lnSpc>
                <a:spcPts val="945"/>
              </a:lnSpc>
              <a:spcAft>
                <a:spcPts val="600"/>
              </a:spcAft>
              <a:buNone/>
            </a:pPr>
            <a:r>
              <a:rPr lang="en-US" sz="675" dirty="0">
                <a:solidFill>
                  <a:srgbClr val="FFFFFF">
                    <a:alpha val="80000"/>
                  </a:srgbClr>
                </a:solidFill>
                <a:latin typeface="Arial" pitchFamily="34" charset="0"/>
                <a:ea typeface="Arial" pitchFamily="34" charset="-122"/>
                <a:cs typeface="Arial" pitchFamily="34" charset="-120"/>
              </a:rPr>
              <a:t>You are a professional email editor</a:t>
            </a:r>
            <a:endParaRPr lang="en-US" sz="675" dirty="0"/>
          </a:p>
        </p:txBody>
      </p:sp>
      <p:sp>
        <p:nvSpPr>
          <p:cNvPr id="8" name="Text 6"/>
          <p:cNvSpPr/>
          <p:nvPr/>
        </p:nvSpPr>
        <p:spPr>
          <a:xfrm>
            <a:off x="514350" y="2010966"/>
            <a:ext cx="2542121" cy="119955"/>
          </a:xfrm>
          <a:prstGeom prst="rect">
            <a:avLst/>
          </a:prstGeom>
          <a:noFill/>
          <a:ln/>
        </p:spPr>
        <p:txBody>
          <a:bodyPr wrap="square" lIns="0" tIns="0" rIns="0" bIns="0" rtlCol="0" anchor="t"/>
          <a:lstStyle/>
          <a:p>
            <a:pPr marL="0" indent="0" algn="l">
              <a:lnSpc>
                <a:spcPts val="945"/>
              </a:lnSpc>
              <a:spcAft>
                <a:spcPts val="600"/>
              </a:spcAft>
              <a:buNone/>
            </a:pPr>
            <a:r>
              <a:rPr lang="en-US" sz="675" dirty="0">
                <a:solidFill>
                  <a:srgbClr val="C9A227"/>
                </a:solidFill>
                <a:latin typeface="Arial" pitchFamily="34" charset="0"/>
                <a:ea typeface="Arial" pitchFamily="34" charset="-122"/>
                <a:cs typeface="Arial" pitchFamily="34" charset="-120"/>
              </a:rPr>
              <a:t>&lt;/role&gt;</a:t>
            </a:r>
            <a:endParaRPr lang="en-US" sz="675" dirty="0"/>
          </a:p>
        </p:txBody>
      </p:sp>
      <p:sp>
        <p:nvSpPr>
          <p:cNvPr id="9" name="Text 7"/>
          <p:cNvSpPr/>
          <p:nvPr/>
        </p:nvSpPr>
        <p:spPr>
          <a:xfrm>
            <a:off x="514350" y="2207121"/>
            <a:ext cx="2542121" cy="119955"/>
          </a:xfrm>
          <a:prstGeom prst="rect">
            <a:avLst/>
          </a:prstGeom>
          <a:noFill/>
          <a:ln/>
        </p:spPr>
        <p:txBody>
          <a:bodyPr wrap="square" lIns="0" tIns="0" rIns="0" bIns="0" rtlCol="0" anchor="t"/>
          <a:lstStyle/>
          <a:p>
            <a:pPr marL="0" indent="0" algn="l">
              <a:lnSpc>
                <a:spcPts val="945"/>
              </a:lnSpc>
              <a:spcAft>
                <a:spcPts val="600"/>
              </a:spcAft>
              <a:buNone/>
            </a:pPr>
            <a:r>
              <a:rPr lang="en-US" sz="675" dirty="0">
                <a:solidFill>
                  <a:srgbClr val="C9A227"/>
                </a:solidFill>
                <a:latin typeface="Arial" pitchFamily="34" charset="0"/>
                <a:ea typeface="Arial" pitchFamily="34" charset="-122"/>
                <a:cs typeface="Arial" pitchFamily="34" charset="-120"/>
              </a:rPr>
              <a:t>&lt;instructions&gt;</a:t>
            </a:r>
            <a:endParaRPr lang="en-US" sz="675" dirty="0"/>
          </a:p>
        </p:txBody>
      </p:sp>
      <p:sp>
        <p:nvSpPr>
          <p:cNvPr id="10" name="Text 8"/>
          <p:cNvSpPr/>
          <p:nvPr/>
        </p:nvSpPr>
        <p:spPr>
          <a:xfrm>
            <a:off x="514350" y="2403277"/>
            <a:ext cx="2542121" cy="359866"/>
          </a:xfrm>
          <a:prstGeom prst="rect">
            <a:avLst/>
          </a:prstGeom>
          <a:noFill/>
          <a:ln/>
        </p:spPr>
        <p:txBody>
          <a:bodyPr wrap="square" lIns="114300" tIns="0" rIns="0" bIns="0" rtlCol="0" anchor="t"/>
          <a:lstStyle/>
          <a:p>
            <a:pPr marL="0" indent="0" algn="l">
              <a:lnSpc>
                <a:spcPts val="945"/>
              </a:lnSpc>
              <a:spcAft>
                <a:spcPts val="600"/>
              </a:spcAft>
              <a:buNone/>
            </a:pPr>
            <a:r>
              <a:rPr lang="en-US" sz="675" dirty="0">
                <a:solidFill>
                  <a:srgbClr val="FFFFFF">
                    <a:alpha val="80000"/>
                  </a:srgbClr>
                </a:solidFill>
                <a:latin typeface="Arial" pitchFamily="34" charset="0"/>
                <a:ea typeface="Arial" pitchFamily="34" charset="-122"/>
                <a:cs typeface="Arial" pitchFamily="34" charset="-120"/>
              </a:rPr>
              <a:t>Format the User Message into a</a:t>
            </a:r>
            <a:endParaRPr lang="en-US" sz="675" dirty="0"/>
          </a:p>
          <a:p>
            <a:pPr marL="0" indent="0" algn="l">
              <a:lnSpc>
                <a:spcPts val="945"/>
              </a:lnSpc>
              <a:spcAft>
                <a:spcPts val="600"/>
              </a:spcAft>
              <a:buNone/>
            </a:pPr>
            <a:r>
              <a:rPr lang="en-US" sz="675" dirty="0">
                <a:solidFill>
                  <a:srgbClr val="FFFFFF">
                    <a:alpha val="80000"/>
                  </a:srgbClr>
                </a:solidFill>
                <a:latin typeface="Arial" pitchFamily="34" charset="0"/>
                <a:ea typeface="Arial" pitchFamily="34" charset="-122"/>
                <a:cs typeface="Arial" pitchFamily="34" charset="-120"/>
              </a:rPr>
              <a:t>professional email with proper</a:t>
            </a:r>
            <a:endParaRPr lang="en-US" sz="675" dirty="0"/>
          </a:p>
          <a:p>
            <a:pPr marL="0" indent="0" algn="l">
              <a:lnSpc>
                <a:spcPts val="945"/>
              </a:lnSpc>
              <a:spcAft>
                <a:spcPts val="600"/>
              </a:spcAft>
              <a:buNone/>
            </a:pPr>
            <a:r>
              <a:rPr lang="en-US" sz="675" dirty="0">
                <a:solidFill>
                  <a:srgbClr val="FFFFFF">
                    <a:alpha val="80000"/>
                  </a:srgbClr>
                </a:solidFill>
                <a:latin typeface="Arial" pitchFamily="34" charset="0"/>
                <a:ea typeface="Arial" pitchFamily="34" charset="-122"/>
                <a:cs typeface="Arial" pitchFamily="34" charset="-120"/>
              </a:rPr>
              <a:t>greeting and signature</a:t>
            </a:r>
            <a:endParaRPr lang="en-US" sz="675" dirty="0"/>
          </a:p>
        </p:txBody>
      </p:sp>
      <p:sp>
        <p:nvSpPr>
          <p:cNvPr id="11" name="Text 9"/>
          <p:cNvSpPr/>
          <p:nvPr/>
        </p:nvSpPr>
        <p:spPr>
          <a:xfrm>
            <a:off x="533399" y="2918371"/>
            <a:ext cx="2542121" cy="119955"/>
          </a:xfrm>
          <a:prstGeom prst="rect">
            <a:avLst/>
          </a:prstGeom>
          <a:noFill/>
          <a:ln/>
        </p:spPr>
        <p:txBody>
          <a:bodyPr wrap="square" lIns="0" tIns="0" rIns="0" bIns="0" rtlCol="0" anchor="t"/>
          <a:lstStyle/>
          <a:p>
            <a:pPr marL="0" indent="0" algn="l">
              <a:lnSpc>
                <a:spcPts val="945"/>
              </a:lnSpc>
              <a:spcAft>
                <a:spcPts val="600"/>
              </a:spcAft>
              <a:buNone/>
            </a:pPr>
            <a:r>
              <a:rPr lang="en-US" sz="675" dirty="0">
                <a:solidFill>
                  <a:srgbClr val="C9A227"/>
                </a:solidFill>
                <a:latin typeface="Arial" pitchFamily="34" charset="0"/>
                <a:ea typeface="Arial" pitchFamily="34" charset="-122"/>
                <a:cs typeface="Arial" pitchFamily="34" charset="-120"/>
              </a:rPr>
              <a:t>&lt;/instructions&gt;</a:t>
            </a:r>
            <a:endParaRPr lang="en-US" sz="675" dirty="0"/>
          </a:p>
        </p:txBody>
      </p:sp>
      <p:sp>
        <p:nvSpPr>
          <p:cNvPr id="12" name="Text 10"/>
          <p:cNvSpPr/>
          <p:nvPr/>
        </p:nvSpPr>
        <p:spPr>
          <a:xfrm>
            <a:off x="514350" y="3035498"/>
            <a:ext cx="2542121" cy="119955"/>
          </a:xfrm>
          <a:prstGeom prst="rect">
            <a:avLst/>
          </a:prstGeom>
          <a:noFill/>
          <a:ln/>
        </p:spPr>
        <p:txBody>
          <a:bodyPr wrap="square" lIns="0" tIns="0" rIns="0" bIns="0" rtlCol="0" anchor="t"/>
          <a:lstStyle/>
          <a:p>
            <a:pPr marL="0" indent="0" algn="l">
              <a:lnSpc>
                <a:spcPts val="945"/>
              </a:lnSpc>
              <a:spcAft>
                <a:spcPts val="600"/>
              </a:spcAft>
              <a:buNone/>
            </a:pPr>
            <a:r>
              <a:rPr lang="en-US" sz="675" dirty="0">
                <a:solidFill>
                  <a:srgbClr val="C9A227"/>
                </a:solidFill>
                <a:latin typeface="Arial" pitchFamily="34" charset="0"/>
                <a:ea typeface="Arial" pitchFamily="34" charset="-122"/>
                <a:cs typeface="Arial" pitchFamily="34" charset="-120"/>
              </a:rPr>
              <a:t>&lt;requirements&gt;</a:t>
            </a:r>
            <a:endParaRPr lang="en-US" sz="675" dirty="0"/>
          </a:p>
        </p:txBody>
      </p:sp>
      <p:sp>
        <p:nvSpPr>
          <p:cNvPr id="13" name="Text 11"/>
          <p:cNvSpPr/>
          <p:nvPr/>
        </p:nvSpPr>
        <p:spPr>
          <a:xfrm>
            <a:off x="514350" y="3231654"/>
            <a:ext cx="2542121" cy="359866"/>
          </a:xfrm>
          <a:prstGeom prst="rect">
            <a:avLst/>
          </a:prstGeom>
          <a:noFill/>
          <a:ln/>
        </p:spPr>
        <p:txBody>
          <a:bodyPr wrap="square" lIns="114300" tIns="0" rIns="0" bIns="0" rtlCol="0" anchor="t"/>
          <a:lstStyle/>
          <a:p>
            <a:pPr marL="0" indent="0" algn="l">
              <a:lnSpc>
                <a:spcPts val="945"/>
              </a:lnSpc>
              <a:buNone/>
            </a:pPr>
            <a:r>
              <a:rPr lang="en-US" sz="675" dirty="0">
                <a:solidFill>
                  <a:srgbClr val="FFFFFF">
                    <a:alpha val="80000"/>
                  </a:srgbClr>
                </a:solidFill>
                <a:latin typeface="Arial" pitchFamily="34" charset="0"/>
                <a:ea typeface="Arial" pitchFamily="34" charset="-122"/>
                <a:cs typeface="Arial" pitchFamily="34" charset="-120"/>
              </a:rPr>
              <a:t>Keep tone professional</a:t>
            </a:r>
            <a:endParaRPr lang="en-US" sz="675" dirty="0"/>
          </a:p>
          <a:p>
            <a:pPr marL="0" indent="0" algn="l">
              <a:lnSpc>
                <a:spcPts val="945"/>
              </a:lnSpc>
              <a:buNone/>
            </a:pPr>
            <a:r>
              <a:rPr lang="en-US" sz="675" dirty="0">
                <a:solidFill>
                  <a:srgbClr val="FFFFFF">
                    <a:alpha val="80000"/>
                  </a:srgbClr>
                </a:solidFill>
                <a:latin typeface="Arial" pitchFamily="34" charset="0"/>
                <a:ea typeface="Arial" pitchFamily="34" charset="-122"/>
                <a:cs typeface="Arial" pitchFamily="34" charset="-120"/>
              </a:rPr>
              <a:t>Use clear paragraphs</a:t>
            </a:r>
            <a:endParaRPr lang="en-US" sz="675" dirty="0"/>
          </a:p>
          <a:p>
            <a:pPr marL="0" indent="0" algn="l">
              <a:lnSpc>
                <a:spcPts val="945"/>
              </a:lnSpc>
              <a:buNone/>
            </a:pPr>
            <a:r>
              <a:rPr lang="en-US" sz="675" dirty="0">
                <a:solidFill>
                  <a:srgbClr val="FFFFFF">
                    <a:alpha val="80000"/>
                  </a:srgbClr>
                </a:solidFill>
                <a:latin typeface="Arial" pitchFamily="34" charset="0"/>
                <a:ea typeface="Arial" pitchFamily="34" charset="-122"/>
                <a:cs typeface="Arial" pitchFamily="34" charset="-120"/>
              </a:rPr>
              <a:t>Include appropriate sign-off</a:t>
            </a:r>
            <a:endParaRPr lang="en-US" sz="675" dirty="0"/>
          </a:p>
        </p:txBody>
      </p:sp>
      <p:sp>
        <p:nvSpPr>
          <p:cNvPr id="14" name="Text 12"/>
          <p:cNvSpPr/>
          <p:nvPr/>
        </p:nvSpPr>
        <p:spPr>
          <a:xfrm>
            <a:off x="514350" y="3667720"/>
            <a:ext cx="2542121" cy="119955"/>
          </a:xfrm>
          <a:prstGeom prst="rect">
            <a:avLst/>
          </a:prstGeom>
          <a:noFill/>
          <a:ln/>
        </p:spPr>
        <p:txBody>
          <a:bodyPr wrap="square" lIns="0" tIns="0" rIns="0" bIns="0" rtlCol="0" anchor="t"/>
          <a:lstStyle/>
          <a:p>
            <a:pPr marL="0" indent="0" algn="l">
              <a:lnSpc>
                <a:spcPts val="945"/>
              </a:lnSpc>
              <a:spcBef>
                <a:spcPts val="600"/>
              </a:spcBef>
              <a:buNone/>
            </a:pPr>
            <a:r>
              <a:rPr lang="en-US" sz="675" dirty="0">
                <a:solidFill>
                  <a:srgbClr val="C9A227"/>
                </a:solidFill>
                <a:latin typeface="Arial" pitchFamily="34" charset="0"/>
                <a:ea typeface="Arial" pitchFamily="34" charset="-122"/>
                <a:cs typeface="Arial" pitchFamily="34" charset="-120"/>
              </a:rPr>
              <a:t>&lt;/requirements&gt;</a:t>
            </a:r>
            <a:endParaRPr lang="en-US" sz="675" dirty="0"/>
          </a:p>
        </p:txBody>
      </p:sp>
      <p:sp>
        <p:nvSpPr>
          <p:cNvPr id="15" name="Text 13"/>
          <p:cNvSpPr/>
          <p:nvPr/>
        </p:nvSpPr>
        <p:spPr>
          <a:xfrm>
            <a:off x="381000" y="4016276"/>
            <a:ext cx="2758976" cy="639961"/>
          </a:xfrm>
          <a:prstGeom prst="rect">
            <a:avLst/>
          </a:prstGeom>
          <a:solidFill>
            <a:srgbClr val="FEF3C7"/>
          </a:solidFill>
          <a:ln/>
        </p:spPr>
        <p:txBody>
          <a:bodyPr wrap="square" rtlCol="0" anchor="ctr"/>
          <a:lstStyle/>
          <a:p>
            <a:pPr marL="0" indent="0">
              <a:buNone/>
            </a:pPr>
            <a:endParaRPr lang="en-US" dirty="0"/>
          </a:p>
        </p:txBody>
      </p:sp>
      <p:sp>
        <p:nvSpPr>
          <p:cNvPr id="16" name="Shape 14"/>
          <p:cNvSpPr/>
          <p:nvPr/>
        </p:nvSpPr>
        <p:spPr>
          <a:xfrm>
            <a:off x="400050" y="4016276"/>
            <a:ext cx="0" cy="639961"/>
          </a:xfrm>
          <a:prstGeom prst="line">
            <a:avLst/>
          </a:prstGeom>
          <a:noFill/>
          <a:ln w="38100">
            <a:solidFill>
              <a:srgbClr val="F59E0B"/>
            </a:solidFill>
            <a:prstDash val="solid"/>
          </a:ln>
        </p:spPr>
        <p:txBody>
          <a:bodyPr/>
          <a:lstStyle/>
          <a:p>
            <a:endParaRPr lang="en-US"/>
          </a:p>
        </p:txBody>
      </p:sp>
      <p:sp>
        <p:nvSpPr>
          <p:cNvPr id="17" name="Text 15"/>
          <p:cNvSpPr/>
          <p:nvPr/>
        </p:nvSpPr>
        <p:spPr>
          <a:xfrm>
            <a:off x="533400" y="4130576"/>
            <a:ext cx="2542121"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92400E"/>
                </a:solidFill>
                <a:latin typeface="Arial" pitchFamily="34" charset="0"/>
                <a:ea typeface="Arial" pitchFamily="34" charset="-122"/>
                <a:cs typeface="Arial" pitchFamily="34" charset="-120"/>
              </a:rPr>
              <a:t>XML TAGS NOTE</a:t>
            </a:r>
            <a:endParaRPr lang="en-US" sz="750" dirty="0"/>
          </a:p>
        </p:txBody>
      </p:sp>
      <p:sp>
        <p:nvSpPr>
          <p:cNvPr id="18" name="Text 16"/>
          <p:cNvSpPr/>
          <p:nvPr/>
        </p:nvSpPr>
        <p:spPr>
          <a:xfrm>
            <a:off x="533400" y="4302026"/>
            <a:ext cx="2542121" cy="239911"/>
          </a:xfrm>
          <a:prstGeom prst="rect">
            <a:avLst/>
          </a:prstGeom>
          <a:noFill/>
          <a:ln/>
        </p:spPr>
        <p:txBody>
          <a:bodyPr wrap="square" lIns="0" tIns="0" rIns="0" bIns="0" rtlCol="0" anchor="t"/>
          <a:lstStyle/>
          <a:p>
            <a:pPr marL="0" indent="0" algn="l">
              <a:lnSpc>
                <a:spcPts val="945"/>
              </a:lnSpc>
              <a:buNone/>
            </a:pPr>
            <a:r>
              <a:rPr lang="en-US" sz="675" dirty="0">
                <a:solidFill>
                  <a:srgbClr val="92400E"/>
                </a:solidFill>
                <a:latin typeface="Arial" pitchFamily="34" charset="0"/>
                <a:ea typeface="Arial" pitchFamily="34" charset="-122"/>
                <a:cs typeface="Arial" pitchFamily="34" charset="-120"/>
              </a:rPr>
              <a:t>XML tags improve clarity with advanced models. Some local models may struggle with them - test your results.</a:t>
            </a:r>
            <a:endParaRPr lang="en-US" sz="675" dirty="0"/>
          </a:p>
        </p:txBody>
      </p:sp>
      <p:sp>
        <p:nvSpPr>
          <p:cNvPr id="19" name="Text 17"/>
          <p:cNvSpPr/>
          <p:nvPr/>
        </p:nvSpPr>
        <p:spPr>
          <a:xfrm>
            <a:off x="3330476" y="1128861"/>
            <a:ext cx="2814155" cy="159990"/>
          </a:xfrm>
          <a:prstGeom prst="rect">
            <a:avLst/>
          </a:prstGeom>
          <a:noFill/>
          <a:ln/>
        </p:spPr>
        <p:txBody>
          <a:bodyPr wrap="square" lIns="0" tIns="0" rIns="0" bIns="0" rtlCol="0" anchor="t"/>
          <a:lstStyle/>
          <a:p>
            <a:pPr marL="0" indent="0" algn="l">
              <a:lnSpc>
                <a:spcPts val="1260"/>
              </a:lnSpc>
              <a:spcAft>
                <a:spcPts val="300"/>
              </a:spcAft>
              <a:buNone/>
            </a:pPr>
            <a:r>
              <a:rPr lang="en-US" sz="900" b="1" dirty="0">
                <a:solidFill>
                  <a:srgbClr val="1A1F2E"/>
                </a:solidFill>
                <a:latin typeface="Arial" pitchFamily="34" charset="0"/>
                <a:ea typeface="Arial" pitchFamily="34" charset="-122"/>
                <a:cs typeface="Arial" pitchFamily="34" charset="-120"/>
              </a:rPr>
              <a:t>KEY ELEMENTS</a:t>
            </a:r>
            <a:endParaRPr lang="en-US" sz="900" dirty="0"/>
          </a:p>
        </p:txBody>
      </p:sp>
      <p:sp>
        <p:nvSpPr>
          <p:cNvPr id="20" name="Text 18"/>
          <p:cNvSpPr/>
          <p:nvPr/>
        </p:nvSpPr>
        <p:spPr>
          <a:xfrm>
            <a:off x="3330476" y="1422202"/>
            <a:ext cx="2758976" cy="539055"/>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21" name="Text 19"/>
          <p:cNvSpPr/>
          <p:nvPr/>
        </p:nvSpPr>
        <p:spPr>
          <a:xfrm>
            <a:off x="3454301" y="1546027"/>
            <a:ext cx="2561552"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059669"/>
                </a:solidFill>
                <a:latin typeface="Arial" pitchFamily="34" charset="0"/>
                <a:ea typeface="Arial" pitchFamily="34" charset="-122"/>
                <a:cs typeface="Arial" pitchFamily="34" charset="-120"/>
              </a:rPr>
              <a:t>1. ROLE STATEMENT</a:t>
            </a:r>
            <a:endParaRPr lang="en-US" sz="750" dirty="0"/>
          </a:p>
        </p:txBody>
      </p:sp>
      <p:sp>
        <p:nvSpPr>
          <p:cNvPr id="22" name="Text 20"/>
          <p:cNvSpPr/>
          <p:nvPr/>
        </p:nvSpPr>
        <p:spPr>
          <a:xfrm>
            <a:off x="3454301" y="1717477"/>
            <a:ext cx="2561552" cy="119955"/>
          </a:xfrm>
          <a:prstGeom prst="rect">
            <a:avLst/>
          </a:prstGeom>
          <a:noFill/>
          <a:ln/>
        </p:spPr>
        <p:txBody>
          <a:bodyPr wrap="square" lIns="0" tIns="0" rIns="0" bIns="0" rtlCol="0" anchor="t"/>
          <a:lstStyle/>
          <a:p>
            <a:pPr marL="0" indent="0" algn="l">
              <a:lnSpc>
                <a:spcPts val="945"/>
              </a:lnSpc>
              <a:buNone/>
            </a:pPr>
            <a:r>
              <a:rPr lang="en-US" sz="675" dirty="0">
                <a:solidFill>
                  <a:srgbClr val="6B7280"/>
                </a:solidFill>
                <a:latin typeface="Arial" pitchFamily="34" charset="0"/>
                <a:ea typeface="Arial" pitchFamily="34" charset="-122"/>
                <a:cs typeface="Arial" pitchFamily="34" charset="-120"/>
              </a:rPr>
              <a:t>Define who the AI is. Sets the foundation for all processing.</a:t>
            </a:r>
            <a:endParaRPr lang="en-US" sz="675" dirty="0"/>
          </a:p>
        </p:txBody>
      </p:sp>
      <p:sp>
        <p:nvSpPr>
          <p:cNvPr id="23" name="Text 21"/>
          <p:cNvSpPr/>
          <p:nvPr/>
        </p:nvSpPr>
        <p:spPr>
          <a:xfrm>
            <a:off x="3330476" y="2056507"/>
            <a:ext cx="2758976" cy="539055"/>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24" name="Text 22"/>
          <p:cNvSpPr/>
          <p:nvPr/>
        </p:nvSpPr>
        <p:spPr>
          <a:xfrm>
            <a:off x="3454301" y="2180332"/>
            <a:ext cx="2561552"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059669"/>
                </a:solidFill>
                <a:latin typeface="Arial" pitchFamily="34" charset="0"/>
                <a:ea typeface="Arial" pitchFamily="34" charset="-122"/>
                <a:cs typeface="Arial" pitchFamily="34" charset="-120"/>
              </a:rPr>
              <a:t>2. CLEAR INSTRUCTIONS</a:t>
            </a:r>
            <a:endParaRPr lang="en-US" sz="750" dirty="0"/>
          </a:p>
        </p:txBody>
      </p:sp>
      <p:sp>
        <p:nvSpPr>
          <p:cNvPr id="25" name="Text 23"/>
          <p:cNvSpPr/>
          <p:nvPr/>
        </p:nvSpPr>
        <p:spPr>
          <a:xfrm>
            <a:off x="3454301" y="2351782"/>
            <a:ext cx="2561552" cy="119955"/>
          </a:xfrm>
          <a:prstGeom prst="rect">
            <a:avLst/>
          </a:prstGeom>
          <a:noFill/>
          <a:ln/>
        </p:spPr>
        <p:txBody>
          <a:bodyPr wrap="square" lIns="0" tIns="0" rIns="0" bIns="0" rtlCol="0" anchor="t"/>
          <a:lstStyle/>
          <a:p>
            <a:pPr marL="0" indent="0" algn="l">
              <a:lnSpc>
                <a:spcPts val="945"/>
              </a:lnSpc>
              <a:buNone/>
            </a:pPr>
            <a:r>
              <a:rPr lang="en-US" sz="675" dirty="0">
                <a:solidFill>
                  <a:srgbClr val="6B7280"/>
                </a:solidFill>
                <a:latin typeface="Arial" pitchFamily="34" charset="0"/>
                <a:ea typeface="Arial" pitchFamily="34" charset="-122"/>
                <a:cs typeface="Arial" pitchFamily="34" charset="-120"/>
              </a:rPr>
              <a:t>Explicit actions to take with the dictated text. Be specific.</a:t>
            </a:r>
            <a:endParaRPr lang="en-US" sz="675" dirty="0"/>
          </a:p>
        </p:txBody>
      </p:sp>
      <p:sp>
        <p:nvSpPr>
          <p:cNvPr id="26" name="Text 24"/>
          <p:cNvSpPr/>
          <p:nvPr/>
        </p:nvSpPr>
        <p:spPr>
          <a:xfrm>
            <a:off x="3330476" y="2690813"/>
            <a:ext cx="2758976" cy="539055"/>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27" name="Text 25"/>
          <p:cNvSpPr/>
          <p:nvPr/>
        </p:nvSpPr>
        <p:spPr>
          <a:xfrm>
            <a:off x="3454301" y="2814638"/>
            <a:ext cx="2561552"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059669"/>
                </a:solidFill>
                <a:latin typeface="Arial" pitchFamily="34" charset="0"/>
                <a:ea typeface="Arial" pitchFamily="34" charset="-122"/>
                <a:cs typeface="Arial" pitchFamily="34" charset="-120"/>
              </a:rPr>
              <a:t>3. REQUIREMENTS LIST</a:t>
            </a:r>
            <a:endParaRPr lang="en-US" sz="750" dirty="0"/>
          </a:p>
        </p:txBody>
      </p:sp>
      <p:sp>
        <p:nvSpPr>
          <p:cNvPr id="28" name="Text 26"/>
          <p:cNvSpPr/>
          <p:nvPr/>
        </p:nvSpPr>
        <p:spPr>
          <a:xfrm>
            <a:off x="3454301" y="2986088"/>
            <a:ext cx="2561552" cy="119955"/>
          </a:xfrm>
          <a:prstGeom prst="rect">
            <a:avLst/>
          </a:prstGeom>
          <a:noFill/>
          <a:ln/>
        </p:spPr>
        <p:txBody>
          <a:bodyPr wrap="square" lIns="0" tIns="0" rIns="0" bIns="0" rtlCol="0" anchor="t"/>
          <a:lstStyle/>
          <a:p>
            <a:pPr marL="0" indent="0" algn="l">
              <a:lnSpc>
                <a:spcPts val="945"/>
              </a:lnSpc>
              <a:buNone/>
            </a:pPr>
            <a:r>
              <a:rPr lang="en-US" sz="675" dirty="0">
                <a:solidFill>
                  <a:srgbClr val="6B7280"/>
                </a:solidFill>
                <a:latin typeface="Arial" pitchFamily="34" charset="0"/>
                <a:ea typeface="Arial" pitchFamily="34" charset="-122"/>
                <a:cs typeface="Arial" pitchFamily="34" charset="-120"/>
              </a:rPr>
              <a:t>Bullet points of constraints and style guidelines.</a:t>
            </a:r>
            <a:endParaRPr lang="en-US" sz="675" dirty="0"/>
          </a:p>
        </p:txBody>
      </p:sp>
      <p:sp>
        <p:nvSpPr>
          <p:cNvPr id="29" name="Text 27"/>
          <p:cNvSpPr/>
          <p:nvPr/>
        </p:nvSpPr>
        <p:spPr>
          <a:xfrm>
            <a:off x="3330476" y="3325118"/>
            <a:ext cx="2758976" cy="539055"/>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30" name="Text 28"/>
          <p:cNvSpPr/>
          <p:nvPr/>
        </p:nvSpPr>
        <p:spPr>
          <a:xfrm>
            <a:off x="3454301" y="3448943"/>
            <a:ext cx="2561552"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059669"/>
                </a:solidFill>
                <a:latin typeface="Arial" pitchFamily="34" charset="0"/>
                <a:ea typeface="Arial" pitchFamily="34" charset="-122"/>
                <a:cs typeface="Arial" pitchFamily="34" charset="-120"/>
              </a:rPr>
              <a:t>4. EXAMPLES (2-3)</a:t>
            </a:r>
            <a:endParaRPr lang="en-US" sz="750" dirty="0"/>
          </a:p>
        </p:txBody>
      </p:sp>
      <p:sp>
        <p:nvSpPr>
          <p:cNvPr id="31" name="Text 29"/>
          <p:cNvSpPr/>
          <p:nvPr/>
        </p:nvSpPr>
        <p:spPr>
          <a:xfrm>
            <a:off x="3454301" y="3620393"/>
            <a:ext cx="2561552" cy="119955"/>
          </a:xfrm>
          <a:prstGeom prst="rect">
            <a:avLst/>
          </a:prstGeom>
          <a:noFill/>
          <a:ln/>
        </p:spPr>
        <p:txBody>
          <a:bodyPr wrap="square" lIns="0" tIns="0" rIns="0" bIns="0" rtlCol="0" anchor="t"/>
          <a:lstStyle/>
          <a:p>
            <a:pPr marL="0" indent="0" algn="l">
              <a:lnSpc>
                <a:spcPts val="945"/>
              </a:lnSpc>
              <a:buNone/>
            </a:pPr>
            <a:r>
              <a:rPr lang="en-US" sz="675" dirty="0">
                <a:solidFill>
                  <a:srgbClr val="6B7280"/>
                </a:solidFill>
                <a:latin typeface="Arial" pitchFamily="34" charset="0"/>
                <a:ea typeface="Arial" pitchFamily="34" charset="-122"/>
                <a:cs typeface="Arial" pitchFamily="34" charset="-120"/>
              </a:rPr>
              <a:t>Show input → output pairs. Dramatically improves accuracy.</a:t>
            </a:r>
            <a:endParaRPr lang="en-US" sz="675" dirty="0"/>
          </a:p>
        </p:txBody>
      </p:sp>
      <p:sp>
        <p:nvSpPr>
          <p:cNvPr id="32" name="Text 30"/>
          <p:cNvSpPr/>
          <p:nvPr/>
        </p:nvSpPr>
        <p:spPr>
          <a:xfrm>
            <a:off x="3330476" y="3959423"/>
            <a:ext cx="2758976" cy="759916"/>
          </a:xfrm>
          <a:prstGeom prst="rect">
            <a:avLst/>
          </a:prstGeom>
          <a:solidFill>
            <a:srgbClr val="DCFCE7"/>
          </a:solidFill>
          <a:ln/>
        </p:spPr>
        <p:txBody>
          <a:bodyPr wrap="square" rtlCol="0" anchor="ctr"/>
          <a:lstStyle/>
          <a:p>
            <a:pPr marL="0" indent="0">
              <a:buNone/>
            </a:pPr>
            <a:endParaRPr lang="en-US" dirty="0"/>
          </a:p>
        </p:txBody>
      </p:sp>
      <p:sp>
        <p:nvSpPr>
          <p:cNvPr id="33" name="Shape 31"/>
          <p:cNvSpPr/>
          <p:nvPr/>
        </p:nvSpPr>
        <p:spPr>
          <a:xfrm>
            <a:off x="3349526" y="3959423"/>
            <a:ext cx="0" cy="759916"/>
          </a:xfrm>
          <a:prstGeom prst="line">
            <a:avLst/>
          </a:prstGeom>
          <a:noFill/>
          <a:ln w="38100">
            <a:solidFill>
              <a:srgbClr val="059669"/>
            </a:solidFill>
            <a:prstDash val="solid"/>
          </a:ln>
        </p:spPr>
        <p:txBody>
          <a:bodyPr/>
          <a:lstStyle/>
          <a:p>
            <a:endParaRPr lang="en-US"/>
          </a:p>
        </p:txBody>
      </p:sp>
      <p:sp>
        <p:nvSpPr>
          <p:cNvPr id="34" name="Text 32"/>
          <p:cNvSpPr/>
          <p:nvPr/>
        </p:nvSpPr>
        <p:spPr>
          <a:xfrm>
            <a:off x="3482876" y="4073723"/>
            <a:ext cx="2542121"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166534"/>
                </a:solidFill>
                <a:latin typeface="Arial" pitchFamily="34" charset="0"/>
                <a:ea typeface="Arial" pitchFamily="34" charset="-122"/>
                <a:cs typeface="Arial" pitchFamily="34" charset="-120"/>
              </a:rPr>
              <a:t>CONTEXT REFERENCES</a:t>
            </a:r>
            <a:endParaRPr lang="en-US" sz="750" dirty="0"/>
          </a:p>
        </p:txBody>
      </p:sp>
      <p:sp>
        <p:nvSpPr>
          <p:cNvPr id="35" name="Text 33"/>
          <p:cNvSpPr/>
          <p:nvPr/>
        </p:nvSpPr>
        <p:spPr>
          <a:xfrm>
            <a:off x="3482876" y="4245173"/>
            <a:ext cx="2542121" cy="359866"/>
          </a:xfrm>
          <a:prstGeom prst="rect">
            <a:avLst/>
          </a:prstGeom>
          <a:noFill/>
          <a:ln/>
        </p:spPr>
        <p:txBody>
          <a:bodyPr wrap="square" lIns="0" tIns="0" rIns="0" bIns="0" rtlCol="0" anchor="t"/>
          <a:lstStyle/>
          <a:p>
            <a:pPr marL="0" indent="0" algn="l">
              <a:lnSpc>
                <a:spcPts val="945"/>
              </a:lnSpc>
              <a:buNone/>
            </a:pPr>
            <a:r>
              <a:rPr lang="en-US" sz="675" dirty="0">
                <a:solidFill>
                  <a:srgbClr val="166534"/>
                </a:solidFill>
                <a:latin typeface="Arial" pitchFamily="34" charset="0"/>
                <a:ea typeface="Arial" pitchFamily="34" charset="-122"/>
                <a:cs typeface="Arial" pitchFamily="34" charset="-120"/>
              </a:rPr>
              <a:t>Use "User Message" for dictated text,</a:t>
            </a:r>
            <a:endParaRPr lang="en-US" sz="675" dirty="0"/>
          </a:p>
          <a:p>
            <a:pPr marL="0" indent="0" algn="l">
              <a:lnSpc>
                <a:spcPts val="945"/>
              </a:lnSpc>
              <a:buNone/>
            </a:pPr>
            <a:r>
              <a:rPr lang="en-US" sz="675" dirty="0">
                <a:solidFill>
                  <a:srgbClr val="166534"/>
                </a:solidFill>
                <a:latin typeface="Arial" pitchFamily="34" charset="0"/>
                <a:ea typeface="Arial" pitchFamily="34" charset="-122"/>
                <a:cs typeface="Arial" pitchFamily="34" charset="-120"/>
              </a:rPr>
              <a:t>"Application Context" for current app,</a:t>
            </a:r>
            <a:endParaRPr lang="en-US" sz="675" dirty="0"/>
          </a:p>
          <a:p>
            <a:pPr marL="0" indent="0" algn="l">
              <a:lnSpc>
                <a:spcPts val="945"/>
              </a:lnSpc>
              <a:buNone/>
            </a:pPr>
            <a:r>
              <a:rPr lang="en-US" sz="675" dirty="0">
                <a:solidFill>
                  <a:srgbClr val="166534"/>
                </a:solidFill>
                <a:latin typeface="Arial" pitchFamily="34" charset="0"/>
                <a:ea typeface="Arial" pitchFamily="34" charset="-122"/>
                <a:cs typeface="Arial" pitchFamily="34" charset="-120"/>
              </a:rPr>
              <a:t>"Clipboard Context" for copied text</a:t>
            </a:r>
            <a:endParaRPr lang="en-US" sz="675" dirty="0"/>
          </a:p>
        </p:txBody>
      </p:sp>
      <p:sp>
        <p:nvSpPr>
          <p:cNvPr id="36" name="Text 34"/>
          <p:cNvSpPr/>
          <p:nvPr/>
        </p:nvSpPr>
        <p:spPr>
          <a:xfrm>
            <a:off x="6279952" y="1290638"/>
            <a:ext cx="2532709" cy="159990"/>
          </a:xfrm>
          <a:prstGeom prst="rect">
            <a:avLst/>
          </a:prstGeom>
          <a:noFill/>
          <a:ln/>
        </p:spPr>
        <p:txBody>
          <a:bodyPr wrap="square" lIns="0" tIns="0" rIns="0" bIns="0" rtlCol="0" anchor="t"/>
          <a:lstStyle/>
          <a:p>
            <a:pPr marL="0" indent="0" algn="l">
              <a:lnSpc>
                <a:spcPts val="1260"/>
              </a:lnSpc>
              <a:spcAft>
                <a:spcPts val="300"/>
              </a:spcAft>
              <a:buNone/>
            </a:pPr>
            <a:r>
              <a:rPr lang="en-US" sz="900" b="1" dirty="0">
                <a:solidFill>
                  <a:srgbClr val="1A1F2E"/>
                </a:solidFill>
                <a:latin typeface="Arial" pitchFamily="34" charset="0"/>
                <a:ea typeface="Arial" pitchFamily="34" charset="-122"/>
                <a:cs typeface="Arial" pitchFamily="34" charset="-120"/>
              </a:rPr>
              <a:t>BEST PRACTICES</a:t>
            </a:r>
            <a:endParaRPr lang="en-US" sz="900" dirty="0"/>
          </a:p>
        </p:txBody>
      </p:sp>
      <p:sp>
        <p:nvSpPr>
          <p:cNvPr id="37" name="Text 35"/>
          <p:cNvSpPr/>
          <p:nvPr/>
        </p:nvSpPr>
        <p:spPr>
          <a:xfrm>
            <a:off x="6279952" y="1583978"/>
            <a:ext cx="2483048" cy="1062038"/>
          </a:xfrm>
          <a:prstGeom prst="rect">
            <a:avLst/>
          </a:prstGeom>
          <a:solidFill>
            <a:srgbClr val="1A1F2E"/>
          </a:solidFill>
          <a:ln/>
        </p:spPr>
        <p:txBody>
          <a:bodyPr wrap="square" rtlCol="0" anchor="ctr"/>
          <a:lstStyle/>
          <a:p>
            <a:pPr marL="0" indent="0">
              <a:buNone/>
            </a:pPr>
            <a:endParaRPr lang="en-US" dirty="0"/>
          </a:p>
        </p:txBody>
      </p:sp>
      <p:sp>
        <p:nvSpPr>
          <p:cNvPr id="38" name="Text 36"/>
          <p:cNvSpPr/>
          <p:nvPr/>
        </p:nvSpPr>
        <p:spPr>
          <a:xfrm>
            <a:off x="6394252" y="1698278"/>
            <a:ext cx="2299537" cy="133350"/>
          </a:xfrm>
          <a:prstGeom prst="rect">
            <a:avLst/>
          </a:prstGeom>
          <a:noFill/>
          <a:ln/>
        </p:spPr>
        <p:txBody>
          <a:bodyPr wrap="square" lIns="0" tIns="0" rIns="0" bIns="0" rtlCol="0" anchor="t"/>
          <a:lstStyle/>
          <a:p>
            <a:pPr marL="0" indent="0" algn="l">
              <a:lnSpc>
                <a:spcPts val="1050"/>
              </a:lnSpc>
              <a:spcAft>
                <a:spcPts val="450"/>
              </a:spcAft>
              <a:buNone/>
            </a:pPr>
            <a:r>
              <a:rPr lang="en-US" sz="750" b="1" dirty="0">
                <a:solidFill>
                  <a:srgbClr val="C9A227"/>
                </a:solidFill>
                <a:latin typeface="Arial" pitchFamily="34" charset="0"/>
                <a:ea typeface="Arial" pitchFamily="34" charset="-122"/>
                <a:cs typeface="Arial" pitchFamily="34" charset="-120"/>
              </a:rPr>
              <a:t>DO</a:t>
            </a:r>
            <a:endParaRPr lang="en-US" sz="750" dirty="0"/>
          </a:p>
        </p:txBody>
      </p:sp>
      <p:sp>
        <p:nvSpPr>
          <p:cNvPr id="39" name="Text 37"/>
          <p:cNvSpPr/>
          <p:nvPr/>
        </p:nvSpPr>
        <p:spPr>
          <a:xfrm>
            <a:off x="6394252" y="1888778"/>
            <a:ext cx="2299537" cy="642938"/>
          </a:xfrm>
          <a:prstGeom prst="rect">
            <a:avLst/>
          </a:prstGeom>
          <a:noFill/>
          <a:ln/>
        </p:spPr>
        <p:txBody>
          <a:bodyPr wrap="square" lIns="0" tIns="0" rIns="0" bIns="0" rtlCol="0" anchor="t"/>
          <a:lstStyle/>
          <a:p>
            <a:pPr marL="0" indent="0" algn="l">
              <a:lnSpc>
                <a:spcPts val="1013"/>
              </a:lnSpc>
              <a:buNone/>
            </a:pPr>
            <a:r>
              <a:rPr lang="en-US" sz="675" dirty="0">
                <a:solidFill>
                  <a:srgbClr val="FFFFFF">
                    <a:alpha val="70000"/>
                  </a:srgbClr>
                </a:solidFill>
                <a:latin typeface="Arial" pitchFamily="34" charset="0"/>
                <a:ea typeface="Arial" pitchFamily="34" charset="-122"/>
                <a:cs typeface="Arial" pitchFamily="34" charset="-120"/>
              </a:rPr>
              <a:t>✓ Be explicit and specific</a:t>
            </a:r>
            <a:endParaRPr lang="en-US" sz="675" dirty="0"/>
          </a:p>
          <a:p>
            <a:pPr marL="0" indent="0" algn="l">
              <a:lnSpc>
                <a:spcPts val="1013"/>
              </a:lnSpc>
              <a:buNone/>
            </a:pPr>
            <a:r>
              <a:rPr lang="en-US" sz="675" dirty="0">
                <a:solidFill>
                  <a:srgbClr val="FFFFFF">
                    <a:alpha val="70000"/>
                  </a:srgbClr>
                </a:solidFill>
                <a:latin typeface="Arial" pitchFamily="34" charset="0"/>
                <a:ea typeface="Arial" pitchFamily="34" charset="-122"/>
                <a:cs typeface="Arial" pitchFamily="34" charset="-120"/>
              </a:rPr>
              <a:t> ✓ Include 2-3 examples</a:t>
            </a:r>
            <a:endParaRPr lang="en-US" sz="675" dirty="0"/>
          </a:p>
          <a:p>
            <a:pPr marL="0" indent="0" algn="l">
              <a:lnSpc>
                <a:spcPts val="1013"/>
              </a:lnSpc>
              <a:buNone/>
            </a:pPr>
            <a:r>
              <a:rPr lang="en-US" sz="675" dirty="0">
                <a:solidFill>
                  <a:srgbClr val="FFFFFF">
                    <a:alpha val="70000"/>
                  </a:srgbClr>
                </a:solidFill>
                <a:latin typeface="Arial" pitchFamily="34" charset="0"/>
                <a:ea typeface="Arial" pitchFamily="34" charset="-122"/>
                <a:cs typeface="Arial" pitchFamily="34" charset="-120"/>
              </a:rPr>
              <a:t> ✓ Use modular sections</a:t>
            </a:r>
            <a:endParaRPr lang="en-US" sz="675" dirty="0"/>
          </a:p>
          <a:p>
            <a:pPr marL="0" indent="0" algn="l">
              <a:lnSpc>
                <a:spcPts val="1013"/>
              </a:lnSpc>
              <a:buNone/>
            </a:pPr>
            <a:r>
              <a:rPr lang="en-US" sz="675" dirty="0">
                <a:solidFill>
                  <a:srgbClr val="FFFFFF">
                    <a:alpha val="70000"/>
                  </a:srgbClr>
                </a:solidFill>
                <a:latin typeface="Arial" pitchFamily="34" charset="0"/>
                <a:ea typeface="Arial" pitchFamily="34" charset="-122"/>
                <a:cs typeface="Arial" pitchFamily="34" charset="-120"/>
              </a:rPr>
              <a:t> ✓ Test with your voice</a:t>
            </a:r>
            <a:endParaRPr lang="en-US" sz="675" dirty="0"/>
          </a:p>
          <a:p>
            <a:pPr marL="0" indent="0" algn="l">
              <a:lnSpc>
                <a:spcPts val="1013"/>
              </a:lnSpc>
              <a:buNone/>
            </a:pPr>
            <a:r>
              <a:rPr lang="en-US" sz="675" dirty="0">
                <a:solidFill>
                  <a:srgbClr val="FFFFFF">
                    <a:alpha val="70000"/>
                  </a:srgbClr>
                </a:solidFill>
                <a:latin typeface="Arial" pitchFamily="34" charset="0"/>
                <a:ea typeface="Arial" pitchFamily="34" charset="-122"/>
                <a:cs typeface="Arial" pitchFamily="34" charset="-120"/>
              </a:rPr>
              <a:t> ✓ Iterate and refine</a:t>
            </a:r>
            <a:endParaRPr lang="en-US" sz="675" dirty="0"/>
          </a:p>
        </p:txBody>
      </p:sp>
      <p:sp>
        <p:nvSpPr>
          <p:cNvPr id="40" name="Text 38"/>
          <p:cNvSpPr/>
          <p:nvPr/>
        </p:nvSpPr>
        <p:spPr>
          <a:xfrm>
            <a:off x="6279952" y="2741265"/>
            <a:ext cx="2483048" cy="1062038"/>
          </a:xfrm>
          <a:prstGeom prst="rect">
            <a:avLst/>
          </a:prstGeom>
          <a:solidFill>
            <a:srgbClr val="FEF2F2"/>
          </a:solidFill>
          <a:ln/>
        </p:spPr>
        <p:txBody>
          <a:bodyPr wrap="square" rtlCol="0" anchor="ctr"/>
          <a:lstStyle/>
          <a:p>
            <a:pPr marL="0" indent="0">
              <a:buNone/>
            </a:pPr>
            <a:endParaRPr lang="en-US" dirty="0"/>
          </a:p>
        </p:txBody>
      </p:sp>
      <p:sp>
        <p:nvSpPr>
          <p:cNvPr id="41" name="Shape 39"/>
          <p:cNvSpPr/>
          <p:nvPr/>
        </p:nvSpPr>
        <p:spPr>
          <a:xfrm>
            <a:off x="6299002" y="2741265"/>
            <a:ext cx="0" cy="1062038"/>
          </a:xfrm>
          <a:prstGeom prst="line">
            <a:avLst/>
          </a:prstGeom>
          <a:noFill/>
          <a:ln w="38100">
            <a:solidFill>
              <a:srgbClr val="DC2626"/>
            </a:solidFill>
            <a:prstDash val="solid"/>
          </a:ln>
        </p:spPr>
        <p:txBody>
          <a:bodyPr/>
          <a:lstStyle/>
          <a:p>
            <a:endParaRPr lang="en-US"/>
          </a:p>
        </p:txBody>
      </p:sp>
      <p:sp>
        <p:nvSpPr>
          <p:cNvPr id="42" name="Text 40"/>
          <p:cNvSpPr/>
          <p:nvPr/>
        </p:nvSpPr>
        <p:spPr>
          <a:xfrm>
            <a:off x="6432352" y="2855565"/>
            <a:ext cx="2260675" cy="133350"/>
          </a:xfrm>
          <a:prstGeom prst="rect">
            <a:avLst/>
          </a:prstGeom>
          <a:noFill/>
          <a:ln/>
        </p:spPr>
        <p:txBody>
          <a:bodyPr wrap="square" lIns="0" tIns="0" rIns="0" bIns="0" rtlCol="0" anchor="t"/>
          <a:lstStyle/>
          <a:p>
            <a:pPr marL="0" indent="0" algn="l">
              <a:lnSpc>
                <a:spcPts val="1050"/>
              </a:lnSpc>
              <a:spcAft>
                <a:spcPts val="450"/>
              </a:spcAft>
              <a:buNone/>
            </a:pPr>
            <a:r>
              <a:rPr lang="en-US" sz="750" b="1" dirty="0">
                <a:solidFill>
                  <a:srgbClr val="991B1B"/>
                </a:solidFill>
                <a:latin typeface="Arial" pitchFamily="34" charset="0"/>
                <a:ea typeface="Arial" pitchFamily="34" charset="-122"/>
                <a:cs typeface="Arial" pitchFamily="34" charset="-120"/>
              </a:rPr>
              <a:t>AVOID</a:t>
            </a:r>
            <a:endParaRPr lang="en-US" sz="750" dirty="0"/>
          </a:p>
        </p:txBody>
      </p:sp>
      <p:sp>
        <p:nvSpPr>
          <p:cNvPr id="43" name="Text 41"/>
          <p:cNvSpPr/>
          <p:nvPr/>
        </p:nvSpPr>
        <p:spPr>
          <a:xfrm>
            <a:off x="6432352" y="3046065"/>
            <a:ext cx="2260675" cy="642938"/>
          </a:xfrm>
          <a:prstGeom prst="rect">
            <a:avLst/>
          </a:prstGeom>
          <a:noFill/>
          <a:ln/>
        </p:spPr>
        <p:txBody>
          <a:bodyPr wrap="square" lIns="0" tIns="0" rIns="0" bIns="0" rtlCol="0" anchor="t"/>
          <a:lstStyle/>
          <a:p>
            <a:pPr marL="0" indent="0" algn="l">
              <a:lnSpc>
                <a:spcPts val="1013"/>
              </a:lnSpc>
              <a:buNone/>
            </a:pPr>
            <a:r>
              <a:rPr lang="en-US" sz="675" dirty="0">
                <a:solidFill>
                  <a:srgbClr val="991B1B"/>
                </a:solidFill>
                <a:latin typeface="Arial" pitchFamily="34" charset="0"/>
                <a:ea typeface="Arial" pitchFamily="34" charset="-122"/>
                <a:cs typeface="Arial" pitchFamily="34" charset="-120"/>
              </a:rPr>
              <a:t>✗ Vague instructions</a:t>
            </a:r>
            <a:endParaRPr lang="en-US" sz="675" dirty="0"/>
          </a:p>
          <a:p>
            <a:pPr marL="0" indent="0" algn="l">
              <a:lnSpc>
                <a:spcPts val="1013"/>
              </a:lnSpc>
              <a:buNone/>
            </a:pPr>
            <a:r>
              <a:rPr lang="en-US" sz="675" dirty="0">
                <a:solidFill>
                  <a:srgbClr val="991B1B"/>
                </a:solidFill>
                <a:latin typeface="Arial" pitchFamily="34" charset="0"/>
                <a:ea typeface="Arial" pitchFamily="34" charset="-122"/>
                <a:cs typeface="Arial" pitchFamily="34" charset="-120"/>
              </a:rPr>
              <a:t> ✗ Conflicting directives</a:t>
            </a:r>
            <a:endParaRPr lang="en-US" sz="675" dirty="0"/>
          </a:p>
          <a:p>
            <a:pPr marL="0" indent="0" algn="l">
              <a:lnSpc>
                <a:spcPts val="1013"/>
              </a:lnSpc>
              <a:buNone/>
            </a:pPr>
            <a:r>
              <a:rPr lang="en-US" sz="675" dirty="0">
                <a:solidFill>
                  <a:srgbClr val="991B1B"/>
                </a:solidFill>
                <a:latin typeface="Arial" pitchFamily="34" charset="0"/>
                <a:ea typeface="Arial" pitchFamily="34" charset="-122"/>
                <a:cs typeface="Arial" pitchFamily="34" charset="-120"/>
              </a:rPr>
              <a:t> ✗ Too many requirements</a:t>
            </a:r>
            <a:endParaRPr lang="en-US" sz="675" dirty="0"/>
          </a:p>
          <a:p>
            <a:pPr marL="0" indent="0" algn="l">
              <a:lnSpc>
                <a:spcPts val="1013"/>
              </a:lnSpc>
              <a:buNone/>
            </a:pPr>
            <a:r>
              <a:rPr lang="en-US" sz="675" dirty="0">
                <a:solidFill>
                  <a:srgbClr val="991B1B"/>
                </a:solidFill>
                <a:latin typeface="Arial" pitchFamily="34" charset="0"/>
                <a:ea typeface="Arial" pitchFamily="34" charset="-122"/>
                <a:cs typeface="Arial" pitchFamily="34" charset="-120"/>
              </a:rPr>
              <a:t> ✗ No examples</a:t>
            </a:r>
            <a:endParaRPr lang="en-US" sz="675" dirty="0"/>
          </a:p>
          <a:p>
            <a:pPr marL="0" indent="0" algn="l">
              <a:lnSpc>
                <a:spcPts val="1013"/>
              </a:lnSpc>
              <a:buNone/>
            </a:pPr>
            <a:r>
              <a:rPr lang="en-US" sz="675" dirty="0">
                <a:solidFill>
                  <a:srgbClr val="991B1B"/>
                </a:solidFill>
                <a:latin typeface="Arial" pitchFamily="34" charset="0"/>
                <a:ea typeface="Arial" pitchFamily="34" charset="-122"/>
                <a:cs typeface="Arial" pitchFamily="34" charset="-120"/>
              </a:rPr>
              <a:t> ✗ Untested prompts</a:t>
            </a:r>
            <a:endParaRPr lang="en-US" sz="675" dirty="0"/>
          </a:p>
        </p:txBody>
      </p:sp>
      <p:sp>
        <p:nvSpPr>
          <p:cNvPr id="44" name="Text 42"/>
          <p:cNvSpPr/>
          <p:nvPr/>
        </p:nvSpPr>
        <p:spPr>
          <a:xfrm>
            <a:off x="6279952" y="3898553"/>
            <a:ext cx="2483048" cy="659011"/>
          </a:xfrm>
          <a:prstGeom prst="rect">
            <a:avLst/>
          </a:prstGeom>
          <a:solidFill>
            <a:srgbClr val="FFFFFF"/>
          </a:solidFill>
          <a:ln w="9525">
            <a:solidFill>
              <a:srgbClr val="C9A227"/>
            </a:solidFill>
          </a:ln>
        </p:spPr>
        <p:txBody>
          <a:bodyPr wrap="square" rtlCol="0" anchor="ctr"/>
          <a:lstStyle/>
          <a:p>
            <a:pPr marL="0" indent="0">
              <a:buNone/>
            </a:pPr>
            <a:endParaRPr lang="en-US" dirty="0"/>
          </a:p>
        </p:txBody>
      </p:sp>
      <p:sp>
        <p:nvSpPr>
          <p:cNvPr id="45" name="Text 43"/>
          <p:cNvSpPr/>
          <p:nvPr/>
        </p:nvSpPr>
        <p:spPr>
          <a:xfrm>
            <a:off x="6403777" y="4022378"/>
            <a:ext cx="2280106"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1A1F2E"/>
                </a:solidFill>
                <a:latin typeface="Arial" pitchFamily="34" charset="0"/>
                <a:ea typeface="Arial" pitchFamily="34" charset="-122"/>
                <a:cs typeface="Arial" pitchFamily="34" charset="-120"/>
              </a:rPr>
              <a:t>TELL AI IT'S DICTATED</a:t>
            </a:r>
            <a:endParaRPr lang="en-US" sz="750" dirty="0"/>
          </a:p>
        </p:txBody>
      </p:sp>
      <p:sp>
        <p:nvSpPr>
          <p:cNvPr id="46" name="Text 44"/>
          <p:cNvSpPr/>
          <p:nvPr/>
        </p:nvSpPr>
        <p:spPr>
          <a:xfrm>
            <a:off x="6403777" y="4193828"/>
            <a:ext cx="2280106" cy="239911"/>
          </a:xfrm>
          <a:prstGeom prst="rect">
            <a:avLst/>
          </a:prstGeom>
          <a:noFill/>
          <a:ln/>
        </p:spPr>
        <p:txBody>
          <a:bodyPr wrap="square" lIns="0" tIns="0" rIns="0" bIns="0" rtlCol="0" anchor="t"/>
          <a:lstStyle/>
          <a:p>
            <a:pPr marL="0" indent="0" algn="l">
              <a:lnSpc>
                <a:spcPts val="945"/>
              </a:lnSpc>
              <a:buNone/>
            </a:pPr>
            <a:r>
              <a:rPr lang="en-US" sz="675" dirty="0">
                <a:solidFill>
                  <a:srgbClr val="6B7280"/>
                </a:solidFill>
                <a:latin typeface="Arial" pitchFamily="34" charset="0"/>
                <a:ea typeface="Arial" pitchFamily="34" charset="-122"/>
                <a:cs typeface="Arial" pitchFamily="34" charset="-120"/>
              </a:rPr>
              <a:t>"The User Message contains dictated speech. Please format..."</a:t>
            </a:r>
            <a:endParaRPr lang="en-US" sz="675"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1">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381000" y="228600"/>
            <a:ext cx="8549640" cy="133350"/>
          </a:xfrm>
          <a:prstGeom prst="rect">
            <a:avLst/>
          </a:prstGeom>
          <a:noFill/>
          <a:ln/>
        </p:spPr>
        <p:txBody>
          <a:bodyPr wrap="square" lIns="0" tIns="0" rIns="0" bIns="0" rtlCol="0" anchor="t"/>
          <a:lstStyle/>
          <a:p>
            <a:pPr marL="0" indent="0" algn="l">
              <a:lnSpc>
                <a:spcPts val="1050"/>
              </a:lnSpc>
              <a:spcAft>
                <a:spcPts val="450"/>
              </a:spcAft>
              <a:buNone/>
            </a:pPr>
            <a:r>
              <a:rPr lang="en-US" sz="750" dirty="0">
                <a:solidFill>
                  <a:srgbClr val="C9A227"/>
                </a:solidFill>
                <a:latin typeface="Arial" pitchFamily="34" charset="0"/>
                <a:ea typeface="Arial" pitchFamily="34" charset="-122"/>
                <a:cs typeface="Arial" pitchFamily="34" charset="-120"/>
              </a:rPr>
              <a:t>ADVANCED FEATURES</a:t>
            </a:r>
            <a:endParaRPr lang="en-US" sz="750" dirty="0"/>
          </a:p>
        </p:txBody>
      </p:sp>
      <p:sp>
        <p:nvSpPr>
          <p:cNvPr id="3" name="Text 1"/>
          <p:cNvSpPr/>
          <p:nvPr/>
        </p:nvSpPr>
        <p:spPr>
          <a:xfrm>
            <a:off x="381000" y="419100"/>
            <a:ext cx="4284536" cy="247650"/>
          </a:xfrm>
          <a:prstGeom prst="rect">
            <a:avLst/>
          </a:prstGeom>
          <a:noFill/>
          <a:ln/>
        </p:spPr>
        <p:txBody>
          <a:bodyPr wrap="square" lIns="0" tIns="0" rIns="0" bIns="0" rtlCol="0" anchor="t"/>
          <a:lstStyle/>
          <a:p>
            <a:pPr marL="0" indent="0" algn="l">
              <a:lnSpc>
                <a:spcPts val="1950"/>
              </a:lnSpc>
              <a:buNone/>
            </a:pPr>
            <a:r>
              <a:rPr lang="en-US" sz="1950" dirty="0">
                <a:solidFill>
                  <a:srgbClr val="1A1F2E"/>
                </a:solidFill>
                <a:latin typeface="Georgia" pitchFamily="34" charset="0"/>
                <a:ea typeface="Georgia" pitchFamily="34" charset="-122"/>
                <a:cs typeface="Georgia" pitchFamily="34" charset="-120"/>
              </a:rPr>
              <a:t>Context Awareness &amp; Mode Switching</a:t>
            </a:r>
            <a:endParaRPr lang="en-US" sz="1950" dirty="0"/>
          </a:p>
        </p:txBody>
      </p:sp>
      <p:sp>
        <p:nvSpPr>
          <p:cNvPr id="4" name="Text 2"/>
          <p:cNvSpPr/>
          <p:nvPr/>
        </p:nvSpPr>
        <p:spPr>
          <a:xfrm>
            <a:off x="381000" y="1355675"/>
            <a:ext cx="2840873" cy="159990"/>
          </a:xfrm>
          <a:prstGeom prst="rect">
            <a:avLst/>
          </a:prstGeom>
          <a:noFill/>
          <a:ln/>
        </p:spPr>
        <p:txBody>
          <a:bodyPr wrap="square" lIns="0" tIns="0" rIns="0" bIns="0" rtlCol="0" anchor="t"/>
          <a:lstStyle/>
          <a:p>
            <a:pPr marL="0" indent="0" algn="l">
              <a:lnSpc>
                <a:spcPts val="1260"/>
              </a:lnSpc>
              <a:spcAft>
                <a:spcPts val="300"/>
              </a:spcAft>
              <a:buNone/>
            </a:pPr>
            <a:r>
              <a:rPr lang="en-US" sz="900" b="1" dirty="0">
                <a:solidFill>
                  <a:srgbClr val="1A1F2E"/>
                </a:solidFill>
                <a:latin typeface="Arial" pitchFamily="34" charset="0"/>
                <a:ea typeface="Arial" pitchFamily="34" charset="-122"/>
                <a:cs typeface="Arial" pitchFamily="34" charset="-120"/>
              </a:rPr>
              <a:t>THREE CONTEXT TYPES</a:t>
            </a:r>
            <a:endParaRPr lang="en-US" sz="900" dirty="0"/>
          </a:p>
        </p:txBody>
      </p:sp>
      <p:sp>
        <p:nvSpPr>
          <p:cNvPr id="5" name="Text 3"/>
          <p:cNvSpPr/>
          <p:nvPr/>
        </p:nvSpPr>
        <p:spPr>
          <a:xfrm>
            <a:off x="381000" y="1629966"/>
            <a:ext cx="2785170" cy="664666"/>
          </a:xfrm>
          <a:prstGeom prst="rect">
            <a:avLst/>
          </a:prstGeom>
          <a:solidFill>
            <a:srgbClr val="FFFFFF"/>
          </a:solidFill>
          <a:ln/>
        </p:spPr>
        <p:txBody>
          <a:bodyPr wrap="square" rtlCol="0" anchor="ctr"/>
          <a:lstStyle/>
          <a:p>
            <a:pPr marL="0" indent="0">
              <a:buNone/>
            </a:pPr>
            <a:endParaRPr lang="en-US" dirty="0"/>
          </a:p>
        </p:txBody>
      </p:sp>
      <p:sp>
        <p:nvSpPr>
          <p:cNvPr id="6" name="Shape 4"/>
          <p:cNvSpPr/>
          <p:nvPr/>
        </p:nvSpPr>
        <p:spPr>
          <a:xfrm>
            <a:off x="400050" y="1629966"/>
            <a:ext cx="0" cy="664666"/>
          </a:xfrm>
          <a:prstGeom prst="line">
            <a:avLst/>
          </a:prstGeom>
          <a:noFill/>
          <a:ln w="38100">
            <a:solidFill>
              <a:srgbClr val="059669"/>
            </a:solidFill>
            <a:prstDash val="solid"/>
          </a:ln>
        </p:spPr>
        <p:txBody>
          <a:bodyPr/>
          <a:lstStyle/>
          <a:p>
            <a:endParaRPr lang="en-US"/>
          </a:p>
        </p:txBody>
      </p:sp>
      <p:sp>
        <p:nvSpPr>
          <p:cNvPr id="7" name="Text 5"/>
          <p:cNvSpPr/>
          <p:nvPr/>
        </p:nvSpPr>
        <p:spPr>
          <a:xfrm>
            <a:off x="533400" y="1744266"/>
            <a:ext cx="2568839"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059669"/>
                </a:solidFill>
                <a:latin typeface="Arial" pitchFamily="34" charset="0"/>
                <a:ea typeface="Arial" pitchFamily="34" charset="-122"/>
                <a:cs typeface="Arial" pitchFamily="34" charset="-120"/>
              </a:rPr>
              <a:t>APPLICATION CONTEXT</a:t>
            </a:r>
            <a:endParaRPr lang="en-US" sz="750" dirty="0"/>
          </a:p>
        </p:txBody>
      </p:sp>
      <p:sp>
        <p:nvSpPr>
          <p:cNvPr id="8" name="Text 6"/>
          <p:cNvSpPr/>
          <p:nvPr/>
        </p:nvSpPr>
        <p:spPr>
          <a:xfrm>
            <a:off x="533400" y="1915716"/>
            <a:ext cx="2568839" cy="119955"/>
          </a:xfrm>
          <a:prstGeom prst="rect">
            <a:avLst/>
          </a:prstGeom>
          <a:noFill/>
          <a:ln/>
        </p:spPr>
        <p:txBody>
          <a:bodyPr wrap="square" lIns="0" tIns="0" rIns="0" bIns="0" rtlCol="0" anchor="t"/>
          <a:lstStyle/>
          <a:p>
            <a:pPr marL="0" indent="0" algn="l">
              <a:lnSpc>
                <a:spcPts val="945"/>
              </a:lnSpc>
              <a:spcAft>
                <a:spcPts val="300"/>
              </a:spcAft>
              <a:buNone/>
            </a:pPr>
            <a:r>
              <a:rPr lang="en-US" sz="675" dirty="0">
                <a:solidFill>
                  <a:srgbClr val="6B7280"/>
                </a:solidFill>
                <a:latin typeface="Arial" pitchFamily="34" charset="0"/>
                <a:ea typeface="Arial" pitchFamily="34" charset="-122"/>
                <a:cs typeface="Arial" pitchFamily="34" charset="-120"/>
              </a:rPr>
              <a:t>Knows which app is active (VS Code, Teams, Chrome, etc.)</a:t>
            </a:r>
            <a:endParaRPr lang="en-US" sz="675" dirty="0"/>
          </a:p>
        </p:txBody>
      </p:sp>
      <p:sp>
        <p:nvSpPr>
          <p:cNvPr id="9" name="Text 7"/>
          <p:cNvSpPr/>
          <p:nvPr/>
        </p:nvSpPr>
        <p:spPr>
          <a:xfrm>
            <a:off x="533400" y="2073771"/>
            <a:ext cx="2568839" cy="106561"/>
          </a:xfrm>
          <a:prstGeom prst="rect">
            <a:avLst/>
          </a:prstGeom>
          <a:noFill/>
          <a:ln/>
        </p:spPr>
        <p:txBody>
          <a:bodyPr wrap="square" lIns="0" tIns="0" rIns="0" bIns="0" rtlCol="0" anchor="t"/>
          <a:lstStyle/>
          <a:p>
            <a:pPr marL="0" indent="0" algn="l">
              <a:lnSpc>
                <a:spcPts val="840"/>
              </a:lnSpc>
              <a:buNone/>
            </a:pPr>
            <a:r>
              <a:rPr lang="en-US" sz="600" dirty="0">
                <a:solidFill>
                  <a:srgbClr val="9CA3AF"/>
                </a:solidFill>
                <a:latin typeface="Arial" pitchFamily="34" charset="0"/>
                <a:ea typeface="Arial" pitchFamily="34" charset="-122"/>
                <a:cs typeface="Arial" pitchFamily="34" charset="-120"/>
              </a:rPr>
              <a:t>Captured: After voice processing, before AI</a:t>
            </a:r>
            <a:endParaRPr lang="en-US" sz="600" dirty="0"/>
          </a:p>
        </p:txBody>
      </p:sp>
      <p:sp>
        <p:nvSpPr>
          <p:cNvPr id="10" name="Text 8"/>
          <p:cNvSpPr/>
          <p:nvPr/>
        </p:nvSpPr>
        <p:spPr>
          <a:xfrm>
            <a:off x="381000" y="2370832"/>
            <a:ext cx="2785170" cy="664666"/>
          </a:xfrm>
          <a:prstGeom prst="rect">
            <a:avLst/>
          </a:prstGeom>
          <a:solidFill>
            <a:srgbClr val="FFFFFF"/>
          </a:solidFill>
          <a:ln/>
        </p:spPr>
        <p:txBody>
          <a:bodyPr wrap="square" rtlCol="0" anchor="ctr"/>
          <a:lstStyle/>
          <a:p>
            <a:pPr marL="0" indent="0">
              <a:buNone/>
            </a:pPr>
            <a:endParaRPr lang="en-US" dirty="0"/>
          </a:p>
        </p:txBody>
      </p:sp>
      <p:sp>
        <p:nvSpPr>
          <p:cNvPr id="11" name="Shape 9"/>
          <p:cNvSpPr/>
          <p:nvPr/>
        </p:nvSpPr>
        <p:spPr>
          <a:xfrm>
            <a:off x="400050" y="2370832"/>
            <a:ext cx="0" cy="664666"/>
          </a:xfrm>
          <a:prstGeom prst="line">
            <a:avLst/>
          </a:prstGeom>
          <a:noFill/>
          <a:ln w="38100">
            <a:solidFill>
              <a:srgbClr val="3B82F6"/>
            </a:solidFill>
            <a:prstDash val="solid"/>
          </a:ln>
        </p:spPr>
        <p:txBody>
          <a:bodyPr/>
          <a:lstStyle/>
          <a:p>
            <a:endParaRPr lang="en-US"/>
          </a:p>
        </p:txBody>
      </p:sp>
      <p:sp>
        <p:nvSpPr>
          <p:cNvPr id="12" name="Text 10"/>
          <p:cNvSpPr/>
          <p:nvPr/>
        </p:nvSpPr>
        <p:spPr>
          <a:xfrm>
            <a:off x="533400" y="2485132"/>
            <a:ext cx="2568839"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3B82F6"/>
                </a:solidFill>
                <a:latin typeface="Arial" pitchFamily="34" charset="0"/>
                <a:ea typeface="Arial" pitchFamily="34" charset="-122"/>
                <a:cs typeface="Arial" pitchFamily="34" charset="-120"/>
              </a:rPr>
              <a:t>SELECTED TEXT CONTEXT</a:t>
            </a:r>
            <a:endParaRPr lang="en-US" sz="750" dirty="0"/>
          </a:p>
        </p:txBody>
      </p:sp>
      <p:sp>
        <p:nvSpPr>
          <p:cNvPr id="13" name="Text 11"/>
          <p:cNvSpPr/>
          <p:nvPr/>
        </p:nvSpPr>
        <p:spPr>
          <a:xfrm>
            <a:off x="533400" y="2656582"/>
            <a:ext cx="2568839" cy="119955"/>
          </a:xfrm>
          <a:prstGeom prst="rect">
            <a:avLst/>
          </a:prstGeom>
          <a:noFill/>
          <a:ln/>
        </p:spPr>
        <p:txBody>
          <a:bodyPr wrap="square" lIns="0" tIns="0" rIns="0" bIns="0" rtlCol="0" anchor="t"/>
          <a:lstStyle/>
          <a:p>
            <a:pPr marL="0" indent="0" algn="l">
              <a:lnSpc>
                <a:spcPts val="945"/>
              </a:lnSpc>
              <a:spcAft>
                <a:spcPts val="300"/>
              </a:spcAft>
              <a:buNone/>
            </a:pPr>
            <a:r>
              <a:rPr lang="en-US" sz="675" dirty="0">
                <a:solidFill>
                  <a:srgbClr val="6B7280"/>
                </a:solidFill>
                <a:latin typeface="Arial" pitchFamily="34" charset="0"/>
                <a:ea typeface="Arial" pitchFamily="34" charset="-122"/>
                <a:cs typeface="Arial" pitchFamily="34" charset="-120"/>
              </a:rPr>
              <a:t>Passes highlighted text to AI for reference or transformation</a:t>
            </a:r>
            <a:endParaRPr lang="en-US" sz="675" dirty="0"/>
          </a:p>
        </p:txBody>
      </p:sp>
      <p:sp>
        <p:nvSpPr>
          <p:cNvPr id="14" name="Text 12"/>
          <p:cNvSpPr/>
          <p:nvPr/>
        </p:nvSpPr>
        <p:spPr>
          <a:xfrm>
            <a:off x="533400" y="2814638"/>
            <a:ext cx="2568839" cy="106561"/>
          </a:xfrm>
          <a:prstGeom prst="rect">
            <a:avLst/>
          </a:prstGeom>
          <a:noFill/>
          <a:ln/>
        </p:spPr>
        <p:txBody>
          <a:bodyPr wrap="square" lIns="0" tIns="0" rIns="0" bIns="0" rtlCol="0" anchor="t"/>
          <a:lstStyle/>
          <a:p>
            <a:pPr marL="0" indent="0" algn="l">
              <a:lnSpc>
                <a:spcPts val="840"/>
              </a:lnSpc>
              <a:buNone/>
            </a:pPr>
            <a:r>
              <a:rPr lang="en-US" sz="600" dirty="0">
                <a:solidFill>
                  <a:srgbClr val="9CA3AF"/>
                </a:solidFill>
                <a:latin typeface="Arial" pitchFamily="34" charset="0"/>
                <a:ea typeface="Arial" pitchFamily="34" charset="-122"/>
                <a:cs typeface="Arial" pitchFamily="34" charset="-120"/>
              </a:rPr>
              <a:t>Captured: Exactly when recording starts</a:t>
            </a:r>
            <a:endParaRPr lang="en-US" sz="600" dirty="0"/>
          </a:p>
        </p:txBody>
      </p:sp>
      <p:sp>
        <p:nvSpPr>
          <p:cNvPr id="15" name="Text 13"/>
          <p:cNvSpPr/>
          <p:nvPr/>
        </p:nvSpPr>
        <p:spPr>
          <a:xfrm>
            <a:off x="381000" y="3111698"/>
            <a:ext cx="2785170" cy="664666"/>
          </a:xfrm>
          <a:prstGeom prst="rect">
            <a:avLst/>
          </a:prstGeom>
          <a:solidFill>
            <a:srgbClr val="FFFFFF"/>
          </a:solidFill>
          <a:ln/>
        </p:spPr>
        <p:txBody>
          <a:bodyPr wrap="square" rtlCol="0" anchor="ctr"/>
          <a:lstStyle/>
          <a:p>
            <a:pPr marL="0" indent="0">
              <a:buNone/>
            </a:pPr>
            <a:endParaRPr lang="en-US" dirty="0"/>
          </a:p>
        </p:txBody>
      </p:sp>
      <p:sp>
        <p:nvSpPr>
          <p:cNvPr id="16" name="Shape 14"/>
          <p:cNvSpPr/>
          <p:nvPr/>
        </p:nvSpPr>
        <p:spPr>
          <a:xfrm>
            <a:off x="400050" y="3111698"/>
            <a:ext cx="0" cy="664666"/>
          </a:xfrm>
          <a:prstGeom prst="line">
            <a:avLst/>
          </a:prstGeom>
          <a:noFill/>
          <a:ln w="38100">
            <a:solidFill>
              <a:srgbClr val="8B5CF6"/>
            </a:solidFill>
            <a:prstDash val="solid"/>
          </a:ln>
        </p:spPr>
        <p:txBody>
          <a:bodyPr/>
          <a:lstStyle/>
          <a:p>
            <a:endParaRPr lang="en-US"/>
          </a:p>
        </p:txBody>
      </p:sp>
      <p:sp>
        <p:nvSpPr>
          <p:cNvPr id="17" name="Text 15"/>
          <p:cNvSpPr/>
          <p:nvPr/>
        </p:nvSpPr>
        <p:spPr>
          <a:xfrm>
            <a:off x="533400" y="3225998"/>
            <a:ext cx="2568839"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8B5CF6"/>
                </a:solidFill>
                <a:latin typeface="Arial" pitchFamily="34" charset="0"/>
                <a:ea typeface="Arial" pitchFamily="34" charset="-122"/>
                <a:cs typeface="Arial" pitchFamily="34" charset="-120"/>
              </a:rPr>
              <a:t>CLIPBOARD CONTEXT</a:t>
            </a:r>
            <a:endParaRPr lang="en-US" sz="750" dirty="0"/>
          </a:p>
        </p:txBody>
      </p:sp>
      <p:sp>
        <p:nvSpPr>
          <p:cNvPr id="18" name="Text 16"/>
          <p:cNvSpPr/>
          <p:nvPr/>
        </p:nvSpPr>
        <p:spPr>
          <a:xfrm>
            <a:off x="533400" y="3397448"/>
            <a:ext cx="2568839" cy="119955"/>
          </a:xfrm>
          <a:prstGeom prst="rect">
            <a:avLst/>
          </a:prstGeom>
          <a:noFill/>
          <a:ln/>
        </p:spPr>
        <p:txBody>
          <a:bodyPr wrap="square" lIns="0" tIns="0" rIns="0" bIns="0" rtlCol="0" anchor="t"/>
          <a:lstStyle/>
          <a:p>
            <a:pPr marL="0" indent="0" algn="l">
              <a:lnSpc>
                <a:spcPts val="945"/>
              </a:lnSpc>
              <a:spcAft>
                <a:spcPts val="300"/>
              </a:spcAft>
              <a:buNone/>
            </a:pPr>
            <a:r>
              <a:rPr lang="en-US" sz="675" dirty="0">
                <a:solidFill>
                  <a:srgbClr val="6B7280"/>
                </a:solidFill>
                <a:latin typeface="Arial" pitchFamily="34" charset="0"/>
                <a:ea typeface="Arial" pitchFamily="34" charset="-122"/>
                <a:cs typeface="Arial" pitchFamily="34" charset="-120"/>
              </a:rPr>
              <a:t>Uses recently copied content as reference material</a:t>
            </a:r>
            <a:endParaRPr lang="en-US" sz="675" dirty="0"/>
          </a:p>
        </p:txBody>
      </p:sp>
      <p:sp>
        <p:nvSpPr>
          <p:cNvPr id="19" name="Text 17"/>
          <p:cNvSpPr/>
          <p:nvPr/>
        </p:nvSpPr>
        <p:spPr>
          <a:xfrm>
            <a:off x="533400" y="3555504"/>
            <a:ext cx="2568839" cy="106561"/>
          </a:xfrm>
          <a:prstGeom prst="rect">
            <a:avLst/>
          </a:prstGeom>
          <a:noFill/>
          <a:ln/>
        </p:spPr>
        <p:txBody>
          <a:bodyPr wrap="square" lIns="0" tIns="0" rIns="0" bIns="0" rtlCol="0" anchor="t"/>
          <a:lstStyle/>
          <a:p>
            <a:pPr marL="0" indent="0" algn="l">
              <a:lnSpc>
                <a:spcPts val="840"/>
              </a:lnSpc>
              <a:buNone/>
            </a:pPr>
            <a:r>
              <a:rPr lang="en-US" sz="600" dirty="0">
                <a:solidFill>
                  <a:srgbClr val="9CA3AF"/>
                </a:solidFill>
                <a:latin typeface="Arial" pitchFamily="34" charset="0"/>
                <a:ea typeface="Arial" pitchFamily="34" charset="-122"/>
                <a:cs typeface="Arial" pitchFamily="34" charset="-120"/>
              </a:rPr>
              <a:t>Captured: 3 sec before OR during recording</a:t>
            </a:r>
            <a:endParaRPr lang="en-US" sz="600" dirty="0"/>
          </a:p>
        </p:txBody>
      </p:sp>
      <p:sp>
        <p:nvSpPr>
          <p:cNvPr id="20" name="Text 18"/>
          <p:cNvSpPr/>
          <p:nvPr/>
        </p:nvSpPr>
        <p:spPr>
          <a:xfrm>
            <a:off x="381000" y="3852565"/>
            <a:ext cx="2785170" cy="639961"/>
          </a:xfrm>
          <a:prstGeom prst="rect">
            <a:avLst/>
          </a:prstGeom>
          <a:solidFill>
            <a:srgbClr val="FEF3C7"/>
          </a:solidFill>
          <a:ln/>
        </p:spPr>
        <p:txBody>
          <a:bodyPr wrap="square" rtlCol="0" anchor="ctr"/>
          <a:lstStyle/>
          <a:p>
            <a:pPr marL="0" indent="0">
              <a:buNone/>
            </a:pPr>
            <a:endParaRPr lang="en-US" dirty="0"/>
          </a:p>
        </p:txBody>
      </p:sp>
      <p:sp>
        <p:nvSpPr>
          <p:cNvPr id="21" name="Shape 19"/>
          <p:cNvSpPr/>
          <p:nvPr/>
        </p:nvSpPr>
        <p:spPr>
          <a:xfrm>
            <a:off x="400050" y="3852565"/>
            <a:ext cx="0" cy="639961"/>
          </a:xfrm>
          <a:prstGeom prst="line">
            <a:avLst/>
          </a:prstGeom>
          <a:noFill/>
          <a:ln w="38100">
            <a:solidFill>
              <a:srgbClr val="F59E0B"/>
            </a:solidFill>
            <a:prstDash val="solid"/>
          </a:ln>
        </p:spPr>
        <p:txBody>
          <a:bodyPr/>
          <a:lstStyle/>
          <a:p>
            <a:endParaRPr lang="en-US"/>
          </a:p>
        </p:txBody>
      </p:sp>
      <p:sp>
        <p:nvSpPr>
          <p:cNvPr id="22" name="Text 20"/>
          <p:cNvSpPr/>
          <p:nvPr/>
        </p:nvSpPr>
        <p:spPr>
          <a:xfrm>
            <a:off x="533400" y="3966865"/>
            <a:ext cx="2568839"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92400E"/>
                </a:solidFill>
                <a:latin typeface="Arial" pitchFamily="34" charset="0"/>
                <a:ea typeface="Arial" pitchFamily="34" charset="-122"/>
                <a:cs typeface="Arial" pitchFamily="34" charset="-120"/>
              </a:rPr>
              <a:t>SUPER MODE NOTE</a:t>
            </a:r>
            <a:endParaRPr lang="en-US" sz="750" dirty="0"/>
          </a:p>
        </p:txBody>
      </p:sp>
      <p:sp>
        <p:nvSpPr>
          <p:cNvPr id="23" name="Text 21"/>
          <p:cNvSpPr/>
          <p:nvPr/>
        </p:nvSpPr>
        <p:spPr>
          <a:xfrm>
            <a:off x="533400" y="4138315"/>
            <a:ext cx="2568839" cy="239911"/>
          </a:xfrm>
          <a:prstGeom prst="rect">
            <a:avLst/>
          </a:prstGeom>
          <a:noFill/>
          <a:ln/>
        </p:spPr>
        <p:txBody>
          <a:bodyPr wrap="square" lIns="0" tIns="0" rIns="0" bIns="0" rtlCol="0" anchor="t"/>
          <a:lstStyle/>
          <a:p>
            <a:pPr marL="0" indent="0" algn="l">
              <a:lnSpc>
                <a:spcPts val="945"/>
              </a:lnSpc>
              <a:buNone/>
            </a:pPr>
            <a:r>
              <a:rPr lang="en-US" sz="675" dirty="0">
                <a:solidFill>
                  <a:srgbClr val="92400E"/>
                </a:solidFill>
                <a:latin typeface="Arial" pitchFamily="34" charset="0"/>
                <a:ea typeface="Arial" pitchFamily="34" charset="-122"/>
                <a:cs typeface="Arial" pitchFamily="34" charset="-120"/>
              </a:rPr>
              <a:t>Super Mode enables ALL three by default. Custom modes let you choose which to enable.</a:t>
            </a:r>
            <a:endParaRPr lang="en-US" sz="675" dirty="0"/>
          </a:p>
        </p:txBody>
      </p:sp>
      <p:sp>
        <p:nvSpPr>
          <p:cNvPr id="24" name="Text 22"/>
          <p:cNvSpPr/>
          <p:nvPr/>
        </p:nvSpPr>
        <p:spPr>
          <a:xfrm>
            <a:off x="3318570" y="1392734"/>
            <a:ext cx="2840873" cy="159990"/>
          </a:xfrm>
          <a:prstGeom prst="rect">
            <a:avLst/>
          </a:prstGeom>
          <a:noFill/>
          <a:ln/>
        </p:spPr>
        <p:txBody>
          <a:bodyPr wrap="square" lIns="0" tIns="0" rIns="0" bIns="0" rtlCol="0" anchor="t"/>
          <a:lstStyle/>
          <a:p>
            <a:pPr marL="0" indent="0" algn="l">
              <a:lnSpc>
                <a:spcPts val="1260"/>
              </a:lnSpc>
              <a:spcAft>
                <a:spcPts val="300"/>
              </a:spcAft>
              <a:buNone/>
            </a:pPr>
            <a:r>
              <a:rPr lang="en-US" sz="900" b="1" dirty="0">
                <a:solidFill>
                  <a:srgbClr val="1A1F2E"/>
                </a:solidFill>
                <a:latin typeface="Arial" pitchFamily="34" charset="0"/>
                <a:ea typeface="Arial" pitchFamily="34" charset="-122"/>
                <a:cs typeface="Arial" pitchFamily="34" charset="-120"/>
              </a:rPr>
              <a:t>FOUR WAYS TO SWITCH MODES</a:t>
            </a:r>
            <a:endParaRPr lang="en-US" sz="900" dirty="0"/>
          </a:p>
        </p:txBody>
      </p:sp>
      <p:sp>
        <p:nvSpPr>
          <p:cNvPr id="25" name="Text 23"/>
          <p:cNvSpPr/>
          <p:nvPr/>
        </p:nvSpPr>
        <p:spPr>
          <a:xfrm>
            <a:off x="3318570" y="1667024"/>
            <a:ext cx="2785170" cy="639961"/>
          </a:xfrm>
          <a:prstGeom prst="rect">
            <a:avLst/>
          </a:prstGeom>
          <a:solidFill>
            <a:srgbClr val="1A1F2E"/>
          </a:solidFill>
          <a:ln/>
        </p:spPr>
        <p:txBody>
          <a:bodyPr wrap="square" rtlCol="0" anchor="ctr"/>
          <a:lstStyle/>
          <a:p>
            <a:pPr marL="0" indent="0">
              <a:buNone/>
            </a:pPr>
            <a:endParaRPr lang="en-US" dirty="0"/>
          </a:p>
        </p:txBody>
      </p:sp>
      <p:sp>
        <p:nvSpPr>
          <p:cNvPr id="26" name="Text 24"/>
          <p:cNvSpPr/>
          <p:nvPr/>
        </p:nvSpPr>
        <p:spPr>
          <a:xfrm>
            <a:off x="3432870" y="1781324"/>
            <a:ext cx="2607701"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C9A227"/>
                </a:solidFill>
                <a:latin typeface="Arial" pitchFamily="34" charset="0"/>
                <a:ea typeface="Arial" pitchFamily="34" charset="-122"/>
                <a:cs typeface="Arial" pitchFamily="34" charset="-120"/>
              </a:rPr>
              <a:t>1. KEYBOARD SHORTCUTS</a:t>
            </a:r>
            <a:endParaRPr lang="en-US" sz="750" dirty="0"/>
          </a:p>
        </p:txBody>
      </p:sp>
      <p:sp>
        <p:nvSpPr>
          <p:cNvPr id="27" name="Text 25"/>
          <p:cNvSpPr/>
          <p:nvPr/>
        </p:nvSpPr>
        <p:spPr>
          <a:xfrm>
            <a:off x="3432870" y="1952774"/>
            <a:ext cx="2607701" cy="239911"/>
          </a:xfrm>
          <a:prstGeom prst="rect">
            <a:avLst/>
          </a:prstGeom>
          <a:noFill/>
          <a:ln/>
        </p:spPr>
        <p:txBody>
          <a:bodyPr wrap="square" lIns="0" tIns="0" rIns="0" bIns="0" rtlCol="0" anchor="t"/>
          <a:lstStyle/>
          <a:p>
            <a:pPr marL="0" indent="0" algn="l">
              <a:lnSpc>
                <a:spcPts val="945"/>
              </a:lnSpc>
              <a:buNone/>
            </a:pPr>
            <a:r>
              <a:rPr lang="en-US" sz="675" dirty="0">
                <a:solidFill>
                  <a:srgbClr val="FFFFFF">
                    <a:alpha val="70000"/>
                  </a:srgbClr>
                </a:solidFill>
                <a:latin typeface="Arial" pitchFamily="34" charset="0"/>
                <a:ea typeface="Arial" pitchFamily="34" charset="-122"/>
                <a:cs typeface="Arial" pitchFamily="34" charset="-120"/>
              </a:rPr>
              <a:t>Assign unique shortcuts per mode</a:t>
            </a:r>
            <a:endParaRPr lang="en-US" sz="675" dirty="0"/>
          </a:p>
          <a:p>
            <a:pPr marL="0" indent="0" algn="l">
              <a:lnSpc>
                <a:spcPts val="945"/>
              </a:lnSpc>
              <a:buNone/>
            </a:pPr>
            <a:r>
              <a:rPr lang="en-US" sz="675" dirty="0">
                <a:solidFill>
                  <a:srgbClr val="FFFFFF">
                    <a:alpha val="70000"/>
                  </a:srgbClr>
                </a:solidFill>
                <a:latin typeface="Arial" pitchFamily="34" charset="0"/>
                <a:ea typeface="Arial" pitchFamily="34" charset="-122"/>
                <a:cs typeface="Arial" pitchFamily="34" charset="-120"/>
              </a:rPr>
              <a:t>Configure in Settings → Keyboard</a:t>
            </a:r>
            <a:endParaRPr lang="en-US" sz="675" dirty="0"/>
          </a:p>
        </p:txBody>
      </p:sp>
      <p:sp>
        <p:nvSpPr>
          <p:cNvPr id="28" name="Text 26"/>
          <p:cNvSpPr/>
          <p:nvPr/>
        </p:nvSpPr>
        <p:spPr>
          <a:xfrm>
            <a:off x="3318570" y="2383185"/>
            <a:ext cx="2785170" cy="639961"/>
          </a:xfrm>
          <a:prstGeom prst="rect">
            <a:avLst/>
          </a:prstGeom>
          <a:solidFill>
            <a:srgbClr val="1A1F2E"/>
          </a:solidFill>
          <a:ln/>
        </p:spPr>
        <p:txBody>
          <a:bodyPr wrap="square" rtlCol="0" anchor="ctr"/>
          <a:lstStyle/>
          <a:p>
            <a:pPr marL="0" indent="0">
              <a:buNone/>
            </a:pPr>
            <a:endParaRPr lang="en-US" dirty="0"/>
          </a:p>
        </p:txBody>
      </p:sp>
      <p:sp>
        <p:nvSpPr>
          <p:cNvPr id="29" name="Text 27"/>
          <p:cNvSpPr/>
          <p:nvPr/>
        </p:nvSpPr>
        <p:spPr>
          <a:xfrm>
            <a:off x="3432870" y="2497485"/>
            <a:ext cx="2607701"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C9A227"/>
                </a:solidFill>
                <a:latin typeface="Arial" pitchFamily="34" charset="0"/>
                <a:ea typeface="Arial" pitchFamily="34" charset="-122"/>
                <a:cs typeface="Arial" pitchFamily="34" charset="-120"/>
              </a:rPr>
              <a:t>2. MENU BAR / SYSTEM TRAY</a:t>
            </a:r>
            <a:endParaRPr lang="en-US" sz="750" dirty="0"/>
          </a:p>
        </p:txBody>
      </p:sp>
      <p:sp>
        <p:nvSpPr>
          <p:cNvPr id="30" name="Text 28"/>
          <p:cNvSpPr/>
          <p:nvPr/>
        </p:nvSpPr>
        <p:spPr>
          <a:xfrm>
            <a:off x="3432870" y="2668935"/>
            <a:ext cx="2607701" cy="239911"/>
          </a:xfrm>
          <a:prstGeom prst="rect">
            <a:avLst/>
          </a:prstGeom>
          <a:noFill/>
          <a:ln/>
        </p:spPr>
        <p:txBody>
          <a:bodyPr wrap="square" lIns="0" tIns="0" rIns="0" bIns="0" rtlCol="0" anchor="t"/>
          <a:lstStyle/>
          <a:p>
            <a:pPr marL="0" indent="0" algn="l">
              <a:lnSpc>
                <a:spcPts val="945"/>
              </a:lnSpc>
              <a:buNone/>
            </a:pPr>
            <a:r>
              <a:rPr lang="en-US" sz="675" dirty="0">
                <a:solidFill>
                  <a:srgbClr val="FFFFFF">
                    <a:alpha val="70000"/>
                  </a:srgbClr>
                </a:solidFill>
                <a:latin typeface="Arial" pitchFamily="34" charset="0"/>
                <a:ea typeface="Arial" pitchFamily="34" charset="-122"/>
                <a:cs typeface="Arial" pitchFamily="34" charset="-120"/>
              </a:rPr>
              <a:t>Click SuperWhisper icon → Select mode</a:t>
            </a:r>
            <a:endParaRPr lang="en-US" sz="675" dirty="0"/>
          </a:p>
          <a:p>
            <a:pPr marL="0" indent="0" algn="l">
              <a:lnSpc>
                <a:spcPts val="945"/>
              </a:lnSpc>
              <a:buNone/>
            </a:pPr>
            <a:r>
              <a:rPr lang="en-US" sz="675" dirty="0">
                <a:solidFill>
                  <a:srgbClr val="FFFFFF">
                    <a:alpha val="70000"/>
                  </a:srgbClr>
                </a:solidFill>
                <a:latin typeface="Arial" pitchFamily="34" charset="0"/>
                <a:ea typeface="Arial" pitchFamily="34" charset="-122"/>
                <a:cs typeface="Arial" pitchFamily="34" charset="-120"/>
              </a:rPr>
              <a:t>Visual indicator shows current mode</a:t>
            </a:r>
            <a:endParaRPr lang="en-US" sz="675" dirty="0"/>
          </a:p>
        </p:txBody>
      </p:sp>
      <p:sp>
        <p:nvSpPr>
          <p:cNvPr id="31" name="Text 29"/>
          <p:cNvSpPr/>
          <p:nvPr/>
        </p:nvSpPr>
        <p:spPr>
          <a:xfrm>
            <a:off x="3318570" y="3099346"/>
            <a:ext cx="2785170" cy="639961"/>
          </a:xfrm>
          <a:prstGeom prst="rect">
            <a:avLst/>
          </a:prstGeom>
          <a:solidFill>
            <a:srgbClr val="1A1F2E"/>
          </a:solidFill>
          <a:ln/>
        </p:spPr>
        <p:txBody>
          <a:bodyPr wrap="square" rtlCol="0" anchor="ctr"/>
          <a:lstStyle/>
          <a:p>
            <a:pPr marL="0" indent="0">
              <a:buNone/>
            </a:pPr>
            <a:endParaRPr lang="en-US" dirty="0"/>
          </a:p>
        </p:txBody>
      </p:sp>
      <p:sp>
        <p:nvSpPr>
          <p:cNvPr id="32" name="Text 30"/>
          <p:cNvSpPr/>
          <p:nvPr/>
        </p:nvSpPr>
        <p:spPr>
          <a:xfrm>
            <a:off x="3432870" y="3213646"/>
            <a:ext cx="2607701"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C9A227"/>
                </a:solidFill>
                <a:latin typeface="Arial" pitchFamily="34" charset="0"/>
                <a:ea typeface="Arial" pitchFamily="34" charset="-122"/>
                <a:cs typeface="Arial" pitchFamily="34" charset="-120"/>
              </a:rPr>
              <a:t>3. AUTO-ACTIVATION RULES</a:t>
            </a:r>
            <a:endParaRPr lang="en-US" sz="750" dirty="0"/>
          </a:p>
        </p:txBody>
      </p:sp>
      <p:sp>
        <p:nvSpPr>
          <p:cNvPr id="33" name="Text 31"/>
          <p:cNvSpPr/>
          <p:nvPr/>
        </p:nvSpPr>
        <p:spPr>
          <a:xfrm>
            <a:off x="3432870" y="3385096"/>
            <a:ext cx="2607701" cy="239911"/>
          </a:xfrm>
          <a:prstGeom prst="rect">
            <a:avLst/>
          </a:prstGeom>
          <a:noFill/>
          <a:ln/>
        </p:spPr>
        <p:txBody>
          <a:bodyPr wrap="square" lIns="0" tIns="0" rIns="0" bIns="0" rtlCol="0" anchor="t"/>
          <a:lstStyle/>
          <a:p>
            <a:pPr marL="0" indent="0" algn="l">
              <a:lnSpc>
                <a:spcPts val="945"/>
              </a:lnSpc>
              <a:buNone/>
            </a:pPr>
            <a:r>
              <a:rPr lang="en-US" sz="675" dirty="0">
                <a:solidFill>
                  <a:srgbClr val="FFFFFF">
                    <a:alpha val="70000"/>
                  </a:srgbClr>
                </a:solidFill>
                <a:latin typeface="Arial" pitchFamily="34" charset="0"/>
                <a:ea typeface="Arial" pitchFamily="34" charset="-122"/>
                <a:cs typeface="Arial" pitchFamily="34" charset="-120"/>
              </a:rPr>
              <a:t>Auto-switch when specific apps are active</a:t>
            </a:r>
            <a:endParaRPr lang="en-US" sz="675" dirty="0"/>
          </a:p>
          <a:p>
            <a:pPr marL="0" indent="0" algn="l">
              <a:lnSpc>
                <a:spcPts val="945"/>
              </a:lnSpc>
              <a:buNone/>
            </a:pPr>
            <a:r>
              <a:rPr lang="en-US" sz="675" dirty="0">
                <a:solidFill>
                  <a:srgbClr val="FFFFFF">
                    <a:alpha val="70000"/>
                  </a:srgbClr>
                </a:solidFill>
                <a:latin typeface="Arial" pitchFamily="34" charset="0"/>
                <a:ea typeface="Arial" pitchFamily="34" charset="-122"/>
                <a:cs typeface="Arial" pitchFamily="34" charset="-120"/>
              </a:rPr>
              <a:t>e.g., VS Code → Coding Mode</a:t>
            </a:r>
            <a:endParaRPr lang="en-US" sz="675" dirty="0"/>
          </a:p>
        </p:txBody>
      </p:sp>
      <p:sp>
        <p:nvSpPr>
          <p:cNvPr id="34" name="Text 32"/>
          <p:cNvSpPr/>
          <p:nvPr/>
        </p:nvSpPr>
        <p:spPr>
          <a:xfrm>
            <a:off x="3318570" y="3815507"/>
            <a:ext cx="2785170" cy="639961"/>
          </a:xfrm>
          <a:prstGeom prst="rect">
            <a:avLst/>
          </a:prstGeom>
          <a:solidFill>
            <a:srgbClr val="1A1F2E"/>
          </a:solidFill>
          <a:ln/>
        </p:spPr>
        <p:txBody>
          <a:bodyPr wrap="square" rtlCol="0" anchor="ctr"/>
          <a:lstStyle/>
          <a:p>
            <a:pPr marL="0" indent="0">
              <a:buNone/>
            </a:pPr>
            <a:endParaRPr lang="en-US" dirty="0"/>
          </a:p>
        </p:txBody>
      </p:sp>
      <p:sp>
        <p:nvSpPr>
          <p:cNvPr id="35" name="Text 33"/>
          <p:cNvSpPr/>
          <p:nvPr/>
        </p:nvSpPr>
        <p:spPr>
          <a:xfrm>
            <a:off x="3432870" y="3929807"/>
            <a:ext cx="2607701"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C9A227"/>
                </a:solidFill>
                <a:latin typeface="Arial" pitchFamily="34" charset="0"/>
                <a:ea typeface="Arial" pitchFamily="34" charset="-122"/>
                <a:cs typeface="Arial" pitchFamily="34" charset="-120"/>
              </a:rPr>
              <a:t>4. DEEP LINKS</a:t>
            </a:r>
            <a:endParaRPr lang="en-US" sz="750" dirty="0"/>
          </a:p>
        </p:txBody>
      </p:sp>
      <p:sp>
        <p:nvSpPr>
          <p:cNvPr id="36" name="Text 34"/>
          <p:cNvSpPr/>
          <p:nvPr/>
        </p:nvSpPr>
        <p:spPr>
          <a:xfrm>
            <a:off x="3432870" y="4101257"/>
            <a:ext cx="2607701" cy="239911"/>
          </a:xfrm>
          <a:prstGeom prst="rect">
            <a:avLst/>
          </a:prstGeom>
          <a:noFill/>
          <a:ln/>
        </p:spPr>
        <p:txBody>
          <a:bodyPr wrap="square" lIns="0" tIns="0" rIns="0" bIns="0" rtlCol="0" anchor="t"/>
          <a:lstStyle/>
          <a:p>
            <a:pPr marL="0" indent="0" algn="l">
              <a:lnSpc>
                <a:spcPts val="945"/>
              </a:lnSpc>
              <a:buNone/>
            </a:pPr>
            <a:r>
              <a:rPr lang="en-US" sz="675" dirty="0">
                <a:solidFill>
                  <a:srgbClr val="FFFFFF">
                    <a:alpha val="70000"/>
                  </a:srgbClr>
                </a:solidFill>
                <a:latin typeface="Arial" pitchFamily="34" charset="0"/>
                <a:ea typeface="Arial" pitchFamily="34" charset="-122"/>
                <a:cs typeface="Arial" pitchFamily="34" charset="-120"/>
              </a:rPr>
              <a:t>superwhisper://mode/[name]</a:t>
            </a:r>
            <a:endParaRPr lang="en-US" sz="675" dirty="0"/>
          </a:p>
          <a:p>
            <a:pPr marL="0" indent="0" algn="l">
              <a:lnSpc>
                <a:spcPts val="945"/>
              </a:lnSpc>
              <a:buNone/>
            </a:pPr>
            <a:r>
              <a:rPr lang="en-US" sz="675" dirty="0">
                <a:solidFill>
                  <a:srgbClr val="FFFFFF">
                    <a:alpha val="70000"/>
                  </a:srgbClr>
                </a:solidFill>
                <a:latin typeface="Arial" pitchFamily="34" charset="0"/>
                <a:ea typeface="Arial" pitchFamily="34" charset="-122"/>
                <a:cs typeface="Arial" pitchFamily="34" charset="-120"/>
              </a:rPr>
              <a:t>Integrate with Alfred, Raycast, scripts</a:t>
            </a:r>
            <a:endParaRPr lang="en-US" sz="675" dirty="0"/>
          </a:p>
        </p:txBody>
      </p:sp>
      <p:sp>
        <p:nvSpPr>
          <p:cNvPr id="37" name="Text 35"/>
          <p:cNvSpPr/>
          <p:nvPr/>
        </p:nvSpPr>
        <p:spPr>
          <a:xfrm>
            <a:off x="6256139" y="1379637"/>
            <a:ext cx="2556846" cy="159990"/>
          </a:xfrm>
          <a:prstGeom prst="rect">
            <a:avLst/>
          </a:prstGeom>
          <a:noFill/>
          <a:ln/>
        </p:spPr>
        <p:txBody>
          <a:bodyPr wrap="square" lIns="0" tIns="0" rIns="0" bIns="0" rtlCol="0" anchor="t"/>
          <a:lstStyle/>
          <a:p>
            <a:pPr marL="0" indent="0" algn="l">
              <a:lnSpc>
                <a:spcPts val="1260"/>
              </a:lnSpc>
              <a:spcAft>
                <a:spcPts val="300"/>
              </a:spcAft>
              <a:buNone/>
            </a:pPr>
            <a:r>
              <a:rPr lang="en-US" sz="900" b="1" dirty="0">
                <a:solidFill>
                  <a:srgbClr val="1A1F2E"/>
                </a:solidFill>
                <a:latin typeface="Arial" pitchFamily="34" charset="0"/>
                <a:ea typeface="Arial" pitchFamily="34" charset="-122"/>
                <a:cs typeface="Arial" pitchFamily="34" charset="-120"/>
              </a:rPr>
              <a:t>AUTO-ACTIVATION SETUP</a:t>
            </a:r>
            <a:endParaRPr lang="en-US" sz="900" dirty="0"/>
          </a:p>
        </p:txBody>
      </p:sp>
      <p:sp>
        <p:nvSpPr>
          <p:cNvPr id="38" name="Text 36"/>
          <p:cNvSpPr/>
          <p:nvPr/>
        </p:nvSpPr>
        <p:spPr>
          <a:xfrm>
            <a:off x="6256139" y="1653927"/>
            <a:ext cx="2506712" cy="1123504"/>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39" name="Text 37"/>
          <p:cNvSpPr/>
          <p:nvPr/>
        </p:nvSpPr>
        <p:spPr>
          <a:xfrm>
            <a:off x="6379964" y="1777752"/>
            <a:ext cx="2304243" cy="133350"/>
          </a:xfrm>
          <a:prstGeom prst="rect">
            <a:avLst/>
          </a:prstGeom>
          <a:noFill/>
          <a:ln/>
        </p:spPr>
        <p:txBody>
          <a:bodyPr wrap="square" lIns="0" tIns="0" rIns="0" bIns="0" rtlCol="0" anchor="t"/>
          <a:lstStyle/>
          <a:p>
            <a:pPr marL="0" indent="0" algn="l">
              <a:lnSpc>
                <a:spcPts val="1050"/>
              </a:lnSpc>
              <a:spcAft>
                <a:spcPts val="450"/>
              </a:spcAft>
              <a:buNone/>
            </a:pPr>
            <a:r>
              <a:rPr lang="en-US" sz="750" b="1" dirty="0">
                <a:solidFill>
                  <a:srgbClr val="1A1F2E"/>
                </a:solidFill>
                <a:latin typeface="Arial" pitchFamily="34" charset="0"/>
                <a:ea typeface="Arial" pitchFamily="34" charset="-122"/>
                <a:cs typeface="Arial" pitchFamily="34" charset="-120"/>
              </a:rPr>
              <a:t>EXAMPLE RULES</a:t>
            </a:r>
            <a:endParaRPr lang="en-US" sz="750" dirty="0"/>
          </a:p>
        </p:txBody>
      </p:sp>
      <p:sp>
        <p:nvSpPr>
          <p:cNvPr id="40" name="Text 38"/>
          <p:cNvSpPr/>
          <p:nvPr/>
        </p:nvSpPr>
        <p:spPr>
          <a:xfrm>
            <a:off x="6379964" y="1968252"/>
            <a:ext cx="2304243" cy="685354"/>
          </a:xfrm>
          <a:prstGeom prst="rect">
            <a:avLst/>
          </a:prstGeom>
          <a:noFill/>
          <a:ln/>
        </p:spPr>
        <p:txBody>
          <a:bodyPr wrap="square" lIns="0" tIns="0" rIns="0" bIns="0" rtlCol="0" anchor="t"/>
          <a:lstStyle/>
          <a:p>
            <a:pPr marL="0" indent="0" algn="l">
              <a:lnSpc>
                <a:spcPts val="1080"/>
              </a:lnSpc>
              <a:buNone/>
            </a:pPr>
            <a:r>
              <a:rPr lang="en-US" sz="675" dirty="0">
                <a:solidFill>
                  <a:srgbClr val="6B7280"/>
                </a:solidFill>
                <a:latin typeface="Arial" pitchFamily="34" charset="0"/>
                <a:ea typeface="Arial" pitchFamily="34" charset="-122"/>
                <a:cs typeface="Arial" pitchFamily="34" charset="-120"/>
              </a:rPr>
              <a:t>VS Code → "Coding Mode"</a:t>
            </a:r>
            <a:endParaRPr lang="en-US" sz="675" dirty="0"/>
          </a:p>
          <a:p>
            <a:pPr marL="0" indent="0" algn="l">
              <a:lnSpc>
                <a:spcPts val="1080"/>
              </a:lnSpc>
              <a:buNone/>
            </a:pPr>
            <a:r>
              <a:rPr lang="en-US" sz="675" dirty="0">
                <a:solidFill>
                  <a:srgbClr val="6B7280"/>
                </a:solidFill>
                <a:latin typeface="Arial" pitchFamily="34" charset="0"/>
                <a:ea typeface="Arial" pitchFamily="34" charset="-122"/>
                <a:cs typeface="Arial" pitchFamily="34" charset="-120"/>
              </a:rPr>
              <a:t> Teams → "Chat Mode"</a:t>
            </a:r>
            <a:endParaRPr lang="en-US" sz="675" dirty="0"/>
          </a:p>
          <a:p>
            <a:pPr marL="0" indent="0" algn="l">
              <a:lnSpc>
                <a:spcPts val="1080"/>
              </a:lnSpc>
              <a:buNone/>
            </a:pPr>
            <a:r>
              <a:rPr lang="en-US" sz="675" dirty="0">
                <a:solidFill>
                  <a:srgbClr val="6B7280"/>
                </a:solidFill>
                <a:latin typeface="Arial" pitchFamily="34" charset="0"/>
                <a:ea typeface="Arial" pitchFamily="34" charset="-122"/>
                <a:cs typeface="Arial" pitchFamily="34" charset="-120"/>
              </a:rPr>
              <a:t> Outlook → "Email Mode"</a:t>
            </a:r>
            <a:endParaRPr lang="en-US" sz="675" dirty="0"/>
          </a:p>
          <a:p>
            <a:pPr marL="0" indent="0" algn="l">
              <a:lnSpc>
                <a:spcPts val="1080"/>
              </a:lnSpc>
              <a:buNone/>
            </a:pPr>
            <a:r>
              <a:rPr lang="en-US" sz="675" dirty="0">
                <a:solidFill>
                  <a:srgbClr val="6B7280"/>
                </a:solidFill>
                <a:latin typeface="Arial" pitchFamily="34" charset="0"/>
                <a:ea typeface="Arial" pitchFamily="34" charset="-122"/>
                <a:cs typeface="Arial" pitchFamily="34" charset="-120"/>
              </a:rPr>
              <a:t> Chrome → "Browse Mode"</a:t>
            </a:r>
            <a:endParaRPr lang="en-US" sz="675" dirty="0"/>
          </a:p>
          <a:p>
            <a:pPr marL="0" indent="0" algn="l">
              <a:lnSpc>
                <a:spcPts val="1080"/>
              </a:lnSpc>
              <a:buNone/>
            </a:pPr>
            <a:r>
              <a:rPr lang="en-US" sz="675" dirty="0">
                <a:solidFill>
                  <a:srgbClr val="6B7280"/>
                </a:solidFill>
                <a:latin typeface="Arial" pitchFamily="34" charset="0"/>
                <a:ea typeface="Arial" pitchFamily="34" charset="-122"/>
                <a:cs typeface="Arial" pitchFamily="34" charset="-120"/>
              </a:rPr>
              <a:t> Slack → "Slack Mode"</a:t>
            </a:r>
            <a:endParaRPr lang="en-US" sz="675" dirty="0"/>
          </a:p>
        </p:txBody>
      </p:sp>
      <p:sp>
        <p:nvSpPr>
          <p:cNvPr id="41" name="Text 39"/>
          <p:cNvSpPr/>
          <p:nvPr/>
        </p:nvSpPr>
        <p:spPr>
          <a:xfrm>
            <a:off x="6256139" y="2853630"/>
            <a:ext cx="2506712" cy="879872"/>
          </a:xfrm>
          <a:prstGeom prst="rect">
            <a:avLst/>
          </a:prstGeom>
          <a:solidFill>
            <a:srgbClr val="DCFCE7"/>
          </a:solidFill>
          <a:ln/>
        </p:spPr>
        <p:txBody>
          <a:bodyPr wrap="square" rtlCol="0" anchor="ctr"/>
          <a:lstStyle/>
          <a:p>
            <a:pPr marL="0" indent="0">
              <a:buNone/>
            </a:pPr>
            <a:endParaRPr lang="en-US" dirty="0"/>
          </a:p>
        </p:txBody>
      </p:sp>
      <p:sp>
        <p:nvSpPr>
          <p:cNvPr id="42" name="Shape 40"/>
          <p:cNvSpPr/>
          <p:nvPr/>
        </p:nvSpPr>
        <p:spPr>
          <a:xfrm>
            <a:off x="6275189" y="2853630"/>
            <a:ext cx="0" cy="879872"/>
          </a:xfrm>
          <a:prstGeom prst="line">
            <a:avLst/>
          </a:prstGeom>
          <a:noFill/>
          <a:ln w="38100">
            <a:solidFill>
              <a:srgbClr val="059669"/>
            </a:solidFill>
            <a:prstDash val="solid"/>
          </a:ln>
        </p:spPr>
        <p:txBody>
          <a:bodyPr/>
          <a:lstStyle/>
          <a:p>
            <a:endParaRPr lang="en-US"/>
          </a:p>
        </p:txBody>
      </p:sp>
      <p:sp>
        <p:nvSpPr>
          <p:cNvPr id="43" name="Text 41"/>
          <p:cNvSpPr/>
          <p:nvPr/>
        </p:nvSpPr>
        <p:spPr>
          <a:xfrm>
            <a:off x="6408539" y="2967930"/>
            <a:ext cx="2284812"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166534"/>
                </a:solidFill>
                <a:latin typeface="Arial" pitchFamily="34" charset="0"/>
                <a:ea typeface="Arial" pitchFamily="34" charset="-122"/>
                <a:cs typeface="Arial" pitchFamily="34" charset="-120"/>
              </a:rPr>
              <a:t>HOW TO SET UP</a:t>
            </a:r>
            <a:endParaRPr lang="en-US" sz="750" dirty="0"/>
          </a:p>
        </p:txBody>
      </p:sp>
      <p:sp>
        <p:nvSpPr>
          <p:cNvPr id="44" name="Text 42"/>
          <p:cNvSpPr/>
          <p:nvPr/>
        </p:nvSpPr>
        <p:spPr>
          <a:xfrm>
            <a:off x="6408539" y="3139380"/>
            <a:ext cx="2284812" cy="479822"/>
          </a:xfrm>
          <a:prstGeom prst="rect">
            <a:avLst/>
          </a:prstGeom>
          <a:noFill/>
          <a:ln/>
        </p:spPr>
        <p:txBody>
          <a:bodyPr wrap="square" lIns="0" tIns="0" rIns="0" bIns="0" rtlCol="0" anchor="t"/>
          <a:lstStyle/>
          <a:p>
            <a:pPr marL="0" indent="0" algn="l">
              <a:lnSpc>
                <a:spcPts val="945"/>
              </a:lnSpc>
              <a:buNone/>
            </a:pPr>
            <a:r>
              <a:rPr lang="en-US" sz="675" dirty="0">
                <a:solidFill>
                  <a:srgbClr val="166534"/>
                </a:solidFill>
                <a:latin typeface="Arial" pitchFamily="34" charset="0"/>
                <a:ea typeface="Arial" pitchFamily="34" charset="-122"/>
                <a:cs typeface="Arial" pitchFamily="34" charset="-120"/>
              </a:rPr>
              <a:t>1. Edit your custom mode</a:t>
            </a:r>
            <a:endParaRPr lang="en-US" sz="675" dirty="0"/>
          </a:p>
          <a:p>
            <a:pPr marL="0" indent="0" algn="l">
              <a:lnSpc>
                <a:spcPts val="945"/>
              </a:lnSpc>
              <a:buNone/>
            </a:pPr>
            <a:r>
              <a:rPr lang="en-US" sz="675" dirty="0">
                <a:solidFill>
                  <a:srgbClr val="166534"/>
                </a:solidFill>
                <a:latin typeface="Arial" pitchFamily="34" charset="0"/>
                <a:ea typeface="Arial" pitchFamily="34" charset="-122"/>
                <a:cs typeface="Arial" pitchFamily="34" charset="-120"/>
              </a:rPr>
              <a:t> 2. Go to Advanced Settings</a:t>
            </a:r>
            <a:endParaRPr lang="en-US" sz="675" dirty="0"/>
          </a:p>
          <a:p>
            <a:pPr marL="0" indent="0" algn="l">
              <a:lnSpc>
                <a:spcPts val="945"/>
              </a:lnSpc>
              <a:buNone/>
            </a:pPr>
            <a:r>
              <a:rPr lang="en-US" sz="675" dirty="0">
                <a:solidFill>
                  <a:srgbClr val="166534"/>
                </a:solidFill>
                <a:latin typeface="Arial" pitchFamily="34" charset="0"/>
                <a:ea typeface="Arial" pitchFamily="34" charset="-122"/>
                <a:cs typeface="Arial" pitchFamily="34" charset="-120"/>
              </a:rPr>
              <a:t> 3. Add Auto-Activation Rule</a:t>
            </a:r>
            <a:endParaRPr lang="en-US" sz="675" dirty="0"/>
          </a:p>
          <a:p>
            <a:pPr marL="0" indent="0" algn="l">
              <a:lnSpc>
                <a:spcPts val="945"/>
              </a:lnSpc>
              <a:buNone/>
            </a:pPr>
            <a:r>
              <a:rPr lang="en-US" sz="675" dirty="0">
                <a:solidFill>
                  <a:srgbClr val="166534"/>
                </a:solidFill>
                <a:latin typeface="Arial" pitchFamily="34" charset="0"/>
                <a:ea typeface="Arial" pitchFamily="34" charset="-122"/>
                <a:cs typeface="Arial" pitchFamily="34" charset="-120"/>
              </a:rPr>
              <a:t> 4. Select app or enter URL pattern</a:t>
            </a:r>
            <a:endParaRPr lang="en-US" sz="675" dirty="0"/>
          </a:p>
        </p:txBody>
      </p:sp>
      <p:sp>
        <p:nvSpPr>
          <p:cNvPr id="45" name="Text 43"/>
          <p:cNvSpPr/>
          <p:nvPr/>
        </p:nvSpPr>
        <p:spPr>
          <a:xfrm>
            <a:off x="6256139" y="3809702"/>
            <a:ext cx="2506712" cy="659011"/>
          </a:xfrm>
          <a:prstGeom prst="rect">
            <a:avLst/>
          </a:prstGeom>
          <a:solidFill>
            <a:srgbClr val="FFFFFF"/>
          </a:solidFill>
          <a:ln w="9525">
            <a:solidFill>
              <a:srgbClr val="C9A227"/>
            </a:solidFill>
          </a:ln>
        </p:spPr>
        <p:txBody>
          <a:bodyPr wrap="square" rtlCol="0" anchor="ctr"/>
          <a:lstStyle/>
          <a:p>
            <a:pPr marL="0" indent="0">
              <a:buNone/>
            </a:pPr>
            <a:endParaRPr lang="en-US" dirty="0"/>
          </a:p>
        </p:txBody>
      </p:sp>
      <p:sp>
        <p:nvSpPr>
          <p:cNvPr id="46" name="Text 44"/>
          <p:cNvSpPr/>
          <p:nvPr/>
        </p:nvSpPr>
        <p:spPr>
          <a:xfrm>
            <a:off x="6379964" y="3933527"/>
            <a:ext cx="2304243"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1A1F2E"/>
                </a:solidFill>
                <a:latin typeface="Arial" pitchFamily="34" charset="0"/>
                <a:ea typeface="Arial" pitchFamily="34" charset="-122"/>
                <a:cs typeface="Arial" pitchFamily="34" charset="-120"/>
              </a:rPr>
              <a:t>POWER USER TIP</a:t>
            </a:r>
            <a:endParaRPr lang="en-US" sz="750" dirty="0"/>
          </a:p>
        </p:txBody>
      </p:sp>
      <p:sp>
        <p:nvSpPr>
          <p:cNvPr id="47" name="Text 45"/>
          <p:cNvSpPr/>
          <p:nvPr/>
        </p:nvSpPr>
        <p:spPr>
          <a:xfrm>
            <a:off x="6379964" y="4104977"/>
            <a:ext cx="2304243" cy="239911"/>
          </a:xfrm>
          <a:prstGeom prst="rect">
            <a:avLst/>
          </a:prstGeom>
          <a:noFill/>
          <a:ln/>
        </p:spPr>
        <p:txBody>
          <a:bodyPr wrap="square" lIns="0" tIns="0" rIns="0" bIns="0" rtlCol="0" anchor="t"/>
          <a:lstStyle/>
          <a:p>
            <a:pPr marL="0" indent="0" algn="l">
              <a:lnSpc>
                <a:spcPts val="945"/>
              </a:lnSpc>
              <a:buNone/>
            </a:pPr>
            <a:r>
              <a:rPr lang="en-US" sz="675" dirty="0">
                <a:solidFill>
                  <a:srgbClr val="6B7280"/>
                </a:solidFill>
                <a:latin typeface="Arial" pitchFamily="34" charset="0"/>
                <a:ea typeface="Arial" pitchFamily="34" charset="-122"/>
                <a:cs typeface="Arial" pitchFamily="34" charset="-120"/>
              </a:rPr>
              <a:t>Combine auto-activation with context awareness for fully adaptive dictation workflows.</a:t>
            </a:r>
            <a:endParaRPr lang="en-US" sz="675"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999963" y="-1999641"/>
            <a:ext cx="5143500" cy="9143425"/>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733" y="0"/>
            <a:ext cx="6803134" cy="5143179"/>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737118" y="-1264380"/>
            <a:ext cx="3670923" cy="9145160"/>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2464E66F-0CBF-0B07-CA1D-42931F422CCE}"/>
              </a:ext>
            </a:extLst>
          </p:cNvPr>
          <p:cNvPicPr>
            <a:picLocks noChangeAspect="1"/>
          </p:cNvPicPr>
          <p:nvPr/>
        </p:nvPicPr>
        <p:blipFill>
          <a:blip r:embed="rId2"/>
          <a:stretch>
            <a:fillRect/>
          </a:stretch>
        </p:blipFill>
        <p:spPr>
          <a:xfrm>
            <a:off x="1529201" y="342900"/>
            <a:ext cx="6085597" cy="4457700"/>
          </a:xfrm>
          <a:prstGeom prst="rect">
            <a:avLst/>
          </a:prstGeom>
        </p:spPr>
      </p:pic>
      <p:sp>
        <p:nvSpPr>
          <p:cNvPr id="3" name="Right Arrow 2">
            <a:extLst>
              <a:ext uri="{FF2B5EF4-FFF2-40B4-BE49-F238E27FC236}">
                <a16:creationId xmlns:a16="http://schemas.microsoft.com/office/drawing/2014/main" id="{1E8E03EE-58BA-84B1-944E-4925057C4185}"/>
              </a:ext>
            </a:extLst>
          </p:cNvPr>
          <p:cNvSpPr/>
          <p:nvPr/>
        </p:nvSpPr>
        <p:spPr>
          <a:xfrm rot="9992190">
            <a:off x="7415134" y="922474"/>
            <a:ext cx="769495" cy="414728"/>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802268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999963" y="-1999641"/>
            <a:ext cx="5143500" cy="9143425"/>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733" y="0"/>
            <a:ext cx="6803134" cy="5143179"/>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737118" y="-1264380"/>
            <a:ext cx="3670923" cy="9145160"/>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90352ABA-3C9C-5A4D-401E-DE7F1E0E4948}"/>
              </a:ext>
            </a:extLst>
          </p:cNvPr>
          <p:cNvPicPr>
            <a:picLocks noChangeAspect="1"/>
          </p:cNvPicPr>
          <p:nvPr/>
        </p:nvPicPr>
        <p:blipFill>
          <a:blip r:embed="rId2"/>
          <a:stretch>
            <a:fillRect/>
          </a:stretch>
        </p:blipFill>
        <p:spPr>
          <a:xfrm>
            <a:off x="1854241" y="342900"/>
            <a:ext cx="5435518" cy="4457700"/>
          </a:xfrm>
          <a:prstGeom prst="rect">
            <a:avLst/>
          </a:prstGeom>
        </p:spPr>
      </p:pic>
      <p:sp>
        <p:nvSpPr>
          <p:cNvPr id="3" name="Right Arrow 2">
            <a:extLst>
              <a:ext uri="{FF2B5EF4-FFF2-40B4-BE49-F238E27FC236}">
                <a16:creationId xmlns:a16="http://schemas.microsoft.com/office/drawing/2014/main" id="{511ABF6C-AC8D-9B4D-2695-61C77BC9028A}"/>
              </a:ext>
            </a:extLst>
          </p:cNvPr>
          <p:cNvSpPr/>
          <p:nvPr/>
        </p:nvSpPr>
        <p:spPr>
          <a:xfrm rot="9992190">
            <a:off x="7085351" y="2364226"/>
            <a:ext cx="769495" cy="414728"/>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041196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4495800" cy="5143500"/>
          </a:xfrm>
          <a:prstGeom prst="rect">
            <a:avLst/>
          </a:prstGeom>
          <a:solidFill>
            <a:srgbClr val="F7F8FA"/>
          </a:solidFill>
          <a:ln/>
        </p:spPr>
        <p:txBody>
          <a:bodyPr wrap="square" rtlCol="0" anchor="ctr"/>
          <a:lstStyle/>
          <a:p>
            <a:pPr marL="0" indent="0">
              <a:buNone/>
            </a:pPr>
            <a:endParaRPr lang="en-US" dirty="0"/>
          </a:p>
        </p:txBody>
      </p:sp>
      <p:sp>
        <p:nvSpPr>
          <p:cNvPr id="3" name="Text 1"/>
          <p:cNvSpPr/>
          <p:nvPr/>
        </p:nvSpPr>
        <p:spPr>
          <a:xfrm>
            <a:off x="304800" y="240357"/>
            <a:ext cx="3963924" cy="133350"/>
          </a:xfrm>
          <a:prstGeom prst="rect">
            <a:avLst/>
          </a:prstGeom>
          <a:noFill/>
          <a:ln/>
        </p:spPr>
        <p:txBody>
          <a:bodyPr wrap="square" lIns="0" tIns="0" rIns="0" bIns="0" rtlCol="0" anchor="t"/>
          <a:lstStyle/>
          <a:p>
            <a:pPr marL="0" indent="0" algn="l">
              <a:lnSpc>
                <a:spcPts val="1050"/>
              </a:lnSpc>
              <a:spcAft>
                <a:spcPts val="600"/>
              </a:spcAft>
              <a:buNone/>
            </a:pPr>
            <a:r>
              <a:rPr lang="en-US" sz="750" dirty="0">
                <a:solidFill>
                  <a:srgbClr val="C9A227"/>
                </a:solidFill>
                <a:latin typeface="Arial" pitchFamily="34" charset="0"/>
                <a:ea typeface="Arial" pitchFamily="34" charset="-122"/>
                <a:cs typeface="Arial" pitchFamily="34" charset="-120"/>
              </a:rPr>
              <a:t>RECOGNITION SETTINGS</a:t>
            </a:r>
            <a:endParaRPr lang="en-US" sz="750" dirty="0"/>
          </a:p>
        </p:txBody>
      </p:sp>
      <p:sp>
        <p:nvSpPr>
          <p:cNvPr id="4" name="Text 2"/>
          <p:cNvSpPr/>
          <p:nvPr/>
        </p:nvSpPr>
        <p:spPr>
          <a:xfrm>
            <a:off x="304800" y="602307"/>
            <a:ext cx="2895219" cy="228600"/>
          </a:xfrm>
          <a:prstGeom prst="rect">
            <a:avLst/>
          </a:prstGeom>
          <a:noFill/>
          <a:ln/>
        </p:spPr>
        <p:txBody>
          <a:bodyPr wrap="square" lIns="0" tIns="0" rIns="0" bIns="0" rtlCol="0" anchor="t"/>
          <a:lstStyle/>
          <a:p>
            <a:pPr marL="0" indent="0" algn="l">
              <a:lnSpc>
                <a:spcPts val="1800"/>
              </a:lnSpc>
              <a:spcAft>
                <a:spcPts val="1200"/>
              </a:spcAft>
              <a:buNone/>
            </a:pPr>
            <a:r>
              <a:rPr lang="en-US" sz="1800" dirty="0">
                <a:solidFill>
                  <a:srgbClr val="1A1F2E"/>
                </a:solidFill>
                <a:latin typeface="Georgia" pitchFamily="34" charset="0"/>
                <a:ea typeface="Georgia" pitchFamily="34" charset="-122"/>
                <a:cs typeface="Georgia" pitchFamily="34" charset="-120"/>
              </a:rPr>
              <a:t>Vocabulary &amp; Replacements</a:t>
            </a:r>
            <a:endParaRPr lang="en-US" sz="1800" dirty="0"/>
          </a:p>
        </p:txBody>
      </p:sp>
      <p:sp>
        <p:nvSpPr>
          <p:cNvPr id="5" name="Text 3"/>
          <p:cNvSpPr/>
          <p:nvPr/>
        </p:nvSpPr>
        <p:spPr>
          <a:xfrm>
            <a:off x="304800" y="1135707"/>
            <a:ext cx="3886200" cy="808583"/>
          </a:xfrm>
          <a:prstGeom prst="rect">
            <a:avLst/>
          </a:prstGeom>
          <a:solidFill>
            <a:srgbClr val="FFFFFF"/>
          </a:solidFill>
          <a:ln/>
        </p:spPr>
        <p:txBody>
          <a:bodyPr wrap="square" rtlCol="0" anchor="ctr"/>
          <a:lstStyle/>
          <a:p>
            <a:pPr marL="0" indent="0">
              <a:buNone/>
            </a:pPr>
            <a:endParaRPr lang="en-US" dirty="0"/>
          </a:p>
        </p:txBody>
      </p:sp>
      <p:sp>
        <p:nvSpPr>
          <p:cNvPr id="6" name="Shape 4"/>
          <p:cNvSpPr/>
          <p:nvPr/>
        </p:nvSpPr>
        <p:spPr>
          <a:xfrm>
            <a:off x="323850" y="1135707"/>
            <a:ext cx="0" cy="808583"/>
          </a:xfrm>
          <a:prstGeom prst="line">
            <a:avLst/>
          </a:prstGeom>
          <a:noFill/>
          <a:ln w="38100">
            <a:solidFill>
              <a:srgbClr val="059669"/>
            </a:solidFill>
            <a:prstDash val="solid"/>
          </a:ln>
        </p:spPr>
        <p:txBody>
          <a:bodyPr/>
          <a:lstStyle/>
          <a:p>
            <a:endParaRPr lang="en-US"/>
          </a:p>
        </p:txBody>
      </p:sp>
      <p:sp>
        <p:nvSpPr>
          <p:cNvPr id="7" name="Text 5"/>
          <p:cNvSpPr/>
          <p:nvPr/>
        </p:nvSpPr>
        <p:spPr>
          <a:xfrm>
            <a:off x="476250" y="1269057"/>
            <a:ext cx="3653028" cy="146596"/>
          </a:xfrm>
          <a:prstGeom prst="rect">
            <a:avLst/>
          </a:prstGeom>
          <a:noFill/>
          <a:ln/>
        </p:spPr>
        <p:txBody>
          <a:bodyPr wrap="square" lIns="0" tIns="0" rIns="0" bIns="0" rtlCol="0" anchor="t"/>
          <a:lstStyle/>
          <a:p>
            <a:pPr marL="0" indent="0" algn="l">
              <a:lnSpc>
                <a:spcPts val="1155"/>
              </a:lnSpc>
              <a:spcAft>
                <a:spcPts val="450"/>
              </a:spcAft>
              <a:buNone/>
            </a:pPr>
            <a:r>
              <a:rPr lang="en-US" sz="825" b="1" dirty="0">
                <a:solidFill>
                  <a:srgbClr val="059669"/>
                </a:solidFill>
                <a:latin typeface="Arial" pitchFamily="34" charset="0"/>
                <a:ea typeface="Arial" pitchFamily="34" charset="-122"/>
                <a:cs typeface="Arial" pitchFamily="34" charset="-120"/>
              </a:rPr>
              <a:t>VOCABULARY WORDS</a:t>
            </a:r>
            <a:endParaRPr lang="en-US" sz="825" dirty="0"/>
          </a:p>
        </p:txBody>
      </p:sp>
      <p:sp>
        <p:nvSpPr>
          <p:cNvPr id="8" name="Text 6"/>
          <p:cNvSpPr/>
          <p:nvPr/>
        </p:nvSpPr>
        <p:spPr>
          <a:xfrm>
            <a:off x="476250" y="1472803"/>
            <a:ext cx="3653028" cy="133350"/>
          </a:xfrm>
          <a:prstGeom prst="rect">
            <a:avLst/>
          </a:prstGeom>
          <a:noFill/>
          <a:ln/>
        </p:spPr>
        <p:txBody>
          <a:bodyPr wrap="square" lIns="0" tIns="0" rIns="0" bIns="0" rtlCol="0" anchor="t"/>
          <a:lstStyle/>
          <a:p>
            <a:pPr marL="0" indent="0" algn="l">
              <a:lnSpc>
                <a:spcPts val="1050"/>
              </a:lnSpc>
              <a:spcAft>
                <a:spcPts val="600"/>
              </a:spcAft>
              <a:buNone/>
            </a:pPr>
            <a:r>
              <a:rPr lang="en-US" sz="750" dirty="0">
                <a:solidFill>
                  <a:srgbClr val="6B7280"/>
                </a:solidFill>
                <a:latin typeface="Arial" pitchFamily="34" charset="0"/>
                <a:ea typeface="Arial" pitchFamily="34" charset="-122"/>
                <a:cs typeface="Arial" pitchFamily="34" charset="-120"/>
              </a:rPr>
              <a:t>Help AI recognize custom terms DURING transcription</a:t>
            </a:r>
            <a:endParaRPr lang="en-US" sz="750" dirty="0"/>
          </a:p>
        </p:txBody>
      </p:sp>
      <p:sp>
        <p:nvSpPr>
          <p:cNvPr id="9" name="Text 7"/>
          <p:cNvSpPr/>
          <p:nvPr/>
        </p:nvSpPr>
        <p:spPr>
          <a:xfrm>
            <a:off x="476250" y="1682353"/>
            <a:ext cx="3653028" cy="128588"/>
          </a:xfrm>
          <a:prstGeom prst="rect">
            <a:avLst/>
          </a:prstGeom>
          <a:noFill/>
          <a:ln/>
        </p:spPr>
        <p:txBody>
          <a:bodyPr wrap="square" lIns="0" tIns="0" rIns="0" bIns="0" rtlCol="0" anchor="t"/>
          <a:lstStyle/>
          <a:p>
            <a:pPr marL="0" indent="0" algn="l">
              <a:lnSpc>
                <a:spcPts val="1013"/>
              </a:lnSpc>
              <a:buNone/>
            </a:pPr>
            <a:r>
              <a:rPr lang="en-US" sz="675" b="1" dirty="0">
                <a:solidFill>
                  <a:srgbClr val="1A1F2E"/>
                </a:solidFill>
                <a:latin typeface="Arial" pitchFamily="34" charset="0"/>
                <a:ea typeface="Arial" pitchFamily="34" charset="-122"/>
                <a:cs typeface="Arial" pitchFamily="34" charset="-120"/>
              </a:rPr>
              <a:t>Use for:</a:t>
            </a:r>
            <a:r>
              <a:rPr lang="en-US" sz="675" dirty="0">
                <a:solidFill>
                  <a:srgbClr val="1A1F2E"/>
                </a:solidFill>
                <a:latin typeface="Arial" pitchFamily="34" charset="0"/>
                <a:ea typeface="Arial" pitchFamily="34" charset="-122"/>
                <a:cs typeface="Arial" pitchFamily="34" charset="-120"/>
              </a:rPr>
              <a:t> Acronyms, names, brand names, technical terms, non-English words</a:t>
            </a:r>
            <a:endParaRPr lang="en-US" sz="675" dirty="0"/>
          </a:p>
        </p:txBody>
      </p:sp>
      <p:sp>
        <p:nvSpPr>
          <p:cNvPr id="10" name="Text 8"/>
          <p:cNvSpPr/>
          <p:nvPr/>
        </p:nvSpPr>
        <p:spPr>
          <a:xfrm>
            <a:off x="304800" y="2210991"/>
            <a:ext cx="3886200" cy="808583"/>
          </a:xfrm>
          <a:prstGeom prst="rect">
            <a:avLst/>
          </a:prstGeom>
          <a:solidFill>
            <a:srgbClr val="FFFFFF"/>
          </a:solidFill>
          <a:ln/>
        </p:spPr>
        <p:txBody>
          <a:bodyPr wrap="square" rtlCol="0" anchor="ctr"/>
          <a:lstStyle/>
          <a:p>
            <a:pPr marL="0" indent="0">
              <a:buNone/>
            </a:pPr>
            <a:endParaRPr lang="en-US" dirty="0"/>
          </a:p>
        </p:txBody>
      </p:sp>
      <p:sp>
        <p:nvSpPr>
          <p:cNvPr id="11" name="Shape 9"/>
          <p:cNvSpPr/>
          <p:nvPr/>
        </p:nvSpPr>
        <p:spPr>
          <a:xfrm>
            <a:off x="323850" y="2210991"/>
            <a:ext cx="0" cy="808583"/>
          </a:xfrm>
          <a:prstGeom prst="line">
            <a:avLst/>
          </a:prstGeom>
          <a:noFill/>
          <a:ln w="38100">
            <a:solidFill>
              <a:srgbClr val="3B82F6"/>
            </a:solidFill>
            <a:prstDash val="solid"/>
          </a:ln>
        </p:spPr>
        <p:txBody>
          <a:bodyPr/>
          <a:lstStyle/>
          <a:p>
            <a:endParaRPr lang="en-US"/>
          </a:p>
        </p:txBody>
      </p:sp>
      <p:sp>
        <p:nvSpPr>
          <p:cNvPr id="12" name="Text 10"/>
          <p:cNvSpPr/>
          <p:nvPr/>
        </p:nvSpPr>
        <p:spPr>
          <a:xfrm>
            <a:off x="476250" y="2344341"/>
            <a:ext cx="3653028" cy="146596"/>
          </a:xfrm>
          <a:prstGeom prst="rect">
            <a:avLst/>
          </a:prstGeom>
          <a:noFill/>
          <a:ln/>
        </p:spPr>
        <p:txBody>
          <a:bodyPr wrap="square" lIns="0" tIns="0" rIns="0" bIns="0" rtlCol="0" anchor="t"/>
          <a:lstStyle/>
          <a:p>
            <a:pPr marL="0" indent="0" algn="l">
              <a:lnSpc>
                <a:spcPts val="1155"/>
              </a:lnSpc>
              <a:spcAft>
                <a:spcPts val="450"/>
              </a:spcAft>
              <a:buNone/>
            </a:pPr>
            <a:r>
              <a:rPr lang="en-US" sz="825" b="1" dirty="0">
                <a:solidFill>
                  <a:srgbClr val="3B82F6"/>
                </a:solidFill>
                <a:latin typeface="Arial" pitchFamily="34" charset="0"/>
                <a:ea typeface="Arial" pitchFamily="34" charset="-122"/>
                <a:cs typeface="Arial" pitchFamily="34" charset="-120"/>
              </a:rPr>
              <a:t>REPLACEMENTS</a:t>
            </a:r>
            <a:endParaRPr lang="en-US" sz="825" dirty="0"/>
          </a:p>
        </p:txBody>
      </p:sp>
      <p:sp>
        <p:nvSpPr>
          <p:cNvPr id="13" name="Text 11"/>
          <p:cNvSpPr/>
          <p:nvPr/>
        </p:nvSpPr>
        <p:spPr>
          <a:xfrm>
            <a:off x="476250" y="2548086"/>
            <a:ext cx="3653028" cy="133350"/>
          </a:xfrm>
          <a:prstGeom prst="rect">
            <a:avLst/>
          </a:prstGeom>
          <a:noFill/>
          <a:ln/>
        </p:spPr>
        <p:txBody>
          <a:bodyPr wrap="square" lIns="0" tIns="0" rIns="0" bIns="0" rtlCol="0" anchor="t"/>
          <a:lstStyle/>
          <a:p>
            <a:pPr marL="0" indent="0" algn="l">
              <a:lnSpc>
                <a:spcPts val="1050"/>
              </a:lnSpc>
              <a:spcAft>
                <a:spcPts val="600"/>
              </a:spcAft>
              <a:buNone/>
            </a:pPr>
            <a:r>
              <a:rPr lang="en-US" sz="750" dirty="0">
                <a:solidFill>
                  <a:srgbClr val="6B7280"/>
                </a:solidFill>
                <a:latin typeface="Arial" pitchFamily="34" charset="0"/>
                <a:ea typeface="Arial" pitchFamily="34" charset="-122"/>
                <a:cs typeface="Arial" pitchFamily="34" charset="-120"/>
              </a:rPr>
              <a:t>Auto-correct text AFTER transcription (programmatic, not AI)</a:t>
            </a:r>
            <a:endParaRPr lang="en-US" sz="750" dirty="0"/>
          </a:p>
        </p:txBody>
      </p:sp>
      <p:sp>
        <p:nvSpPr>
          <p:cNvPr id="14" name="Text 12"/>
          <p:cNvSpPr/>
          <p:nvPr/>
        </p:nvSpPr>
        <p:spPr>
          <a:xfrm>
            <a:off x="476250" y="2757636"/>
            <a:ext cx="3653028" cy="128588"/>
          </a:xfrm>
          <a:prstGeom prst="rect">
            <a:avLst/>
          </a:prstGeom>
          <a:noFill/>
          <a:ln/>
        </p:spPr>
        <p:txBody>
          <a:bodyPr wrap="square" lIns="0" tIns="0" rIns="0" bIns="0" rtlCol="0" anchor="t"/>
          <a:lstStyle/>
          <a:p>
            <a:pPr marL="0" indent="0" algn="l">
              <a:lnSpc>
                <a:spcPts val="1013"/>
              </a:lnSpc>
              <a:buNone/>
            </a:pPr>
            <a:r>
              <a:rPr lang="en-US" sz="675" b="1" dirty="0">
                <a:solidFill>
                  <a:srgbClr val="1A1F2E"/>
                </a:solidFill>
                <a:latin typeface="Arial" pitchFamily="34" charset="0"/>
                <a:ea typeface="Arial" pitchFamily="34" charset="-122"/>
                <a:cs typeface="Arial" pitchFamily="34" charset="-120"/>
              </a:rPr>
              <a:t>Use for:</a:t>
            </a:r>
            <a:r>
              <a:rPr lang="en-US" sz="675" dirty="0">
                <a:solidFill>
                  <a:srgbClr val="1A1F2E"/>
                </a:solidFill>
                <a:latin typeface="Arial" pitchFamily="34" charset="0"/>
                <a:ea typeface="Arial" pitchFamily="34" charset="-122"/>
                <a:cs typeface="Arial" pitchFamily="34" charset="-120"/>
              </a:rPr>
              <a:t> Persistent errors, expanding abbreviations, formatting fixes</a:t>
            </a:r>
            <a:endParaRPr lang="en-US" sz="675" dirty="0"/>
          </a:p>
        </p:txBody>
      </p:sp>
      <p:sp>
        <p:nvSpPr>
          <p:cNvPr id="15" name="Text 13"/>
          <p:cNvSpPr/>
          <p:nvPr/>
        </p:nvSpPr>
        <p:spPr>
          <a:xfrm>
            <a:off x="304800" y="3286274"/>
            <a:ext cx="3886200" cy="830312"/>
          </a:xfrm>
          <a:prstGeom prst="rect">
            <a:avLst/>
          </a:prstGeom>
          <a:solidFill>
            <a:srgbClr val="1A1F2E"/>
          </a:solidFill>
          <a:ln/>
        </p:spPr>
        <p:txBody>
          <a:bodyPr wrap="square" rtlCol="0" anchor="ctr"/>
          <a:lstStyle/>
          <a:p>
            <a:pPr marL="0" indent="0">
              <a:buNone/>
            </a:pPr>
            <a:endParaRPr lang="en-US" dirty="0"/>
          </a:p>
        </p:txBody>
      </p:sp>
      <p:sp>
        <p:nvSpPr>
          <p:cNvPr id="16" name="Text 14"/>
          <p:cNvSpPr/>
          <p:nvPr/>
        </p:nvSpPr>
        <p:spPr>
          <a:xfrm>
            <a:off x="419100" y="3400574"/>
            <a:ext cx="3730752" cy="133350"/>
          </a:xfrm>
          <a:prstGeom prst="rect">
            <a:avLst/>
          </a:prstGeom>
          <a:noFill/>
          <a:ln/>
        </p:spPr>
        <p:txBody>
          <a:bodyPr wrap="square" lIns="0" tIns="0" rIns="0" bIns="0" rtlCol="0" anchor="t"/>
          <a:lstStyle/>
          <a:p>
            <a:pPr marL="0" indent="0" algn="l">
              <a:lnSpc>
                <a:spcPts val="1050"/>
              </a:lnSpc>
              <a:spcAft>
                <a:spcPts val="450"/>
              </a:spcAft>
              <a:buNone/>
            </a:pPr>
            <a:r>
              <a:rPr lang="en-US" sz="750" b="1" dirty="0">
                <a:solidFill>
                  <a:srgbClr val="C9A227"/>
                </a:solidFill>
                <a:latin typeface="Arial" pitchFamily="34" charset="0"/>
                <a:ea typeface="Arial" pitchFamily="34" charset="-122"/>
                <a:cs typeface="Arial" pitchFamily="34" charset="-120"/>
              </a:rPr>
              <a:t>EXAMPLE REPLACEMENTS</a:t>
            </a:r>
            <a:endParaRPr lang="en-US" sz="750" dirty="0"/>
          </a:p>
        </p:txBody>
      </p:sp>
      <p:sp>
        <p:nvSpPr>
          <p:cNvPr id="17" name="Text 15"/>
          <p:cNvSpPr/>
          <p:nvPr/>
        </p:nvSpPr>
        <p:spPr>
          <a:xfrm>
            <a:off x="419100" y="3591074"/>
            <a:ext cx="3730752" cy="411212"/>
          </a:xfrm>
          <a:prstGeom prst="rect">
            <a:avLst/>
          </a:prstGeom>
          <a:noFill/>
          <a:ln/>
        </p:spPr>
        <p:txBody>
          <a:bodyPr wrap="square" lIns="0" tIns="0" rIns="0" bIns="0" rtlCol="0" anchor="t"/>
          <a:lstStyle/>
          <a:p>
            <a:pPr marL="0" indent="0" algn="l">
              <a:lnSpc>
                <a:spcPts val="1080"/>
              </a:lnSpc>
              <a:buNone/>
            </a:pPr>
            <a:r>
              <a:rPr lang="en-US" sz="675" dirty="0">
                <a:solidFill>
                  <a:srgbClr val="FFFFFF">
                    <a:alpha val="80000"/>
                  </a:srgbClr>
                </a:solidFill>
                <a:latin typeface="monospace" pitchFamily="34" charset="0"/>
                <a:ea typeface="monospace" pitchFamily="34" charset="-122"/>
                <a:cs typeface="monospace" pitchFamily="34" charset="-120"/>
              </a:rPr>
              <a:t>"todo" → "TODO"</a:t>
            </a:r>
            <a:endParaRPr lang="en-US" sz="675" dirty="0"/>
          </a:p>
          <a:p>
            <a:pPr marL="0" indent="0" algn="l">
              <a:lnSpc>
                <a:spcPts val="1080"/>
              </a:lnSpc>
              <a:buNone/>
            </a:pPr>
            <a:r>
              <a:rPr lang="en-US" sz="675" dirty="0">
                <a:solidFill>
                  <a:srgbClr val="FFFFFF">
                    <a:alpha val="80000"/>
                  </a:srgbClr>
                </a:solidFill>
                <a:latin typeface="monospace" pitchFamily="34" charset="0"/>
                <a:ea typeface="monospace" pitchFamily="34" charset="-122"/>
                <a:cs typeface="monospace" pitchFamily="34" charset="-120"/>
              </a:rPr>
              <a:t> "use state" → "`useState`"</a:t>
            </a:r>
            <a:endParaRPr lang="en-US" sz="675" dirty="0"/>
          </a:p>
          <a:p>
            <a:pPr marL="0" indent="0" algn="l">
              <a:lnSpc>
                <a:spcPts val="1080"/>
              </a:lnSpc>
              <a:buNone/>
            </a:pPr>
            <a:r>
              <a:rPr lang="en-US" sz="675" dirty="0">
                <a:solidFill>
                  <a:srgbClr val="FFFFFF">
                    <a:alpha val="80000"/>
                  </a:srgbClr>
                </a:solidFill>
                <a:latin typeface="monospace" pitchFamily="34" charset="0"/>
                <a:ea typeface="monospace" pitchFamily="34" charset="-122"/>
                <a:cs typeface="monospace" pitchFamily="34" charset="-120"/>
              </a:rPr>
              <a:t> "APH" → "Austin Public Health"</a:t>
            </a:r>
            <a:endParaRPr lang="en-US" sz="675" dirty="0"/>
          </a:p>
        </p:txBody>
      </p:sp>
      <p:sp>
        <p:nvSpPr>
          <p:cNvPr id="18" name="Text 16"/>
          <p:cNvSpPr/>
          <p:nvPr/>
        </p:nvSpPr>
        <p:spPr>
          <a:xfrm>
            <a:off x="304800" y="4383286"/>
            <a:ext cx="3886200" cy="520005"/>
          </a:xfrm>
          <a:prstGeom prst="rect">
            <a:avLst/>
          </a:prstGeom>
          <a:solidFill>
            <a:srgbClr val="FEF3C7"/>
          </a:solidFill>
          <a:ln/>
        </p:spPr>
        <p:txBody>
          <a:bodyPr wrap="square" rtlCol="0" anchor="ctr"/>
          <a:lstStyle/>
          <a:p>
            <a:pPr marL="0" indent="0">
              <a:buNone/>
            </a:pPr>
            <a:endParaRPr lang="en-US" dirty="0"/>
          </a:p>
        </p:txBody>
      </p:sp>
      <p:sp>
        <p:nvSpPr>
          <p:cNvPr id="19" name="Shape 17"/>
          <p:cNvSpPr/>
          <p:nvPr/>
        </p:nvSpPr>
        <p:spPr>
          <a:xfrm>
            <a:off x="323850" y="4383286"/>
            <a:ext cx="0" cy="520005"/>
          </a:xfrm>
          <a:prstGeom prst="line">
            <a:avLst/>
          </a:prstGeom>
          <a:noFill/>
          <a:ln w="38100">
            <a:solidFill>
              <a:srgbClr val="F59E0B"/>
            </a:solidFill>
            <a:prstDash val="solid"/>
          </a:ln>
        </p:spPr>
        <p:txBody>
          <a:bodyPr/>
          <a:lstStyle/>
          <a:p>
            <a:endParaRPr lang="en-US"/>
          </a:p>
        </p:txBody>
      </p:sp>
      <p:sp>
        <p:nvSpPr>
          <p:cNvPr id="20" name="Text 18"/>
          <p:cNvSpPr/>
          <p:nvPr/>
        </p:nvSpPr>
        <p:spPr>
          <a:xfrm>
            <a:off x="457200" y="4497586"/>
            <a:ext cx="3691890"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92400E"/>
                </a:solidFill>
                <a:latin typeface="Arial" pitchFamily="34" charset="0"/>
                <a:ea typeface="Arial" pitchFamily="34" charset="-122"/>
                <a:cs typeface="Arial" pitchFamily="34" charset="-120"/>
              </a:rPr>
              <a:t>VOCABULARY TIP</a:t>
            </a:r>
            <a:endParaRPr lang="en-US" sz="750" dirty="0"/>
          </a:p>
        </p:txBody>
      </p:sp>
      <p:sp>
        <p:nvSpPr>
          <p:cNvPr id="21" name="Text 19"/>
          <p:cNvSpPr/>
          <p:nvPr/>
        </p:nvSpPr>
        <p:spPr>
          <a:xfrm>
            <a:off x="457200" y="4669036"/>
            <a:ext cx="3691890" cy="119955"/>
          </a:xfrm>
          <a:prstGeom prst="rect">
            <a:avLst/>
          </a:prstGeom>
          <a:noFill/>
          <a:ln/>
        </p:spPr>
        <p:txBody>
          <a:bodyPr wrap="square" lIns="0" tIns="0" rIns="0" bIns="0" rtlCol="0" anchor="t"/>
          <a:lstStyle/>
          <a:p>
            <a:pPr marL="0" indent="0" algn="l">
              <a:lnSpc>
                <a:spcPts val="945"/>
              </a:lnSpc>
              <a:buNone/>
            </a:pPr>
            <a:r>
              <a:rPr lang="en-US" sz="675" dirty="0">
                <a:solidFill>
                  <a:srgbClr val="92400E"/>
                </a:solidFill>
                <a:latin typeface="Arial" pitchFamily="34" charset="0"/>
                <a:ea typeface="Arial" pitchFamily="34" charset="-122"/>
                <a:cs typeface="Arial" pitchFamily="34" charset="-120"/>
              </a:rPr>
              <a:t>Keep vocabulary list SHORT. Too many words can confuse the AI transcription model.</a:t>
            </a:r>
            <a:endParaRPr lang="en-US" sz="675" dirty="0"/>
          </a:p>
        </p:txBody>
      </p:sp>
      <p:sp>
        <p:nvSpPr>
          <p:cNvPr id="22" name="Text 20"/>
          <p:cNvSpPr/>
          <p:nvPr/>
        </p:nvSpPr>
        <p:spPr>
          <a:xfrm>
            <a:off x="4648200" y="0"/>
            <a:ext cx="4495800" cy="5143500"/>
          </a:xfrm>
          <a:prstGeom prst="rect">
            <a:avLst/>
          </a:prstGeom>
          <a:solidFill>
            <a:srgbClr val="1A1F2E"/>
          </a:solidFill>
          <a:ln/>
        </p:spPr>
        <p:txBody>
          <a:bodyPr wrap="square" rtlCol="0" anchor="ctr"/>
          <a:lstStyle/>
          <a:p>
            <a:pPr marL="0" indent="0">
              <a:buNone/>
            </a:pPr>
            <a:endParaRPr lang="en-US" dirty="0"/>
          </a:p>
        </p:txBody>
      </p:sp>
      <p:sp>
        <p:nvSpPr>
          <p:cNvPr id="23" name="Text 21"/>
          <p:cNvSpPr/>
          <p:nvPr/>
        </p:nvSpPr>
        <p:spPr>
          <a:xfrm>
            <a:off x="4953000" y="266700"/>
            <a:ext cx="3963924" cy="133350"/>
          </a:xfrm>
          <a:prstGeom prst="rect">
            <a:avLst/>
          </a:prstGeom>
          <a:noFill/>
          <a:ln/>
        </p:spPr>
        <p:txBody>
          <a:bodyPr wrap="square" lIns="0" tIns="0" rIns="0" bIns="0" rtlCol="0" anchor="t"/>
          <a:lstStyle/>
          <a:p>
            <a:pPr marL="0" indent="0" algn="l">
              <a:lnSpc>
                <a:spcPts val="1050"/>
              </a:lnSpc>
              <a:spcAft>
                <a:spcPts val="1200"/>
              </a:spcAft>
              <a:buNone/>
            </a:pPr>
            <a:r>
              <a:rPr lang="en-US" sz="750" dirty="0">
                <a:solidFill>
                  <a:srgbClr val="C9A227"/>
                </a:solidFill>
                <a:latin typeface="Arial" pitchFamily="34" charset="0"/>
                <a:ea typeface="Arial" pitchFamily="34" charset="-122"/>
                <a:cs typeface="Arial" pitchFamily="34" charset="-120"/>
              </a:rPr>
              <a:t>HOW TO CONFIGURE</a:t>
            </a:r>
            <a:endParaRPr lang="en-US" sz="750" dirty="0"/>
          </a:p>
        </p:txBody>
      </p:sp>
      <p:sp>
        <p:nvSpPr>
          <p:cNvPr id="24" name="Text 22"/>
          <p:cNvSpPr/>
          <p:nvPr/>
        </p:nvSpPr>
        <p:spPr>
          <a:xfrm>
            <a:off x="4953000" y="704850"/>
            <a:ext cx="3886200" cy="1080046"/>
          </a:xfrm>
          <a:prstGeom prst="rect">
            <a:avLst/>
          </a:prstGeom>
          <a:solidFill>
            <a:srgbClr val="C9A227">
              <a:alpha val="15000"/>
            </a:srgbClr>
          </a:solidFill>
          <a:ln w="9525">
            <a:solidFill>
              <a:srgbClr val="C9A227"/>
            </a:solidFill>
          </a:ln>
        </p:spPr>
        <p:txBody>
          <a:bodyPr wrap="square" rtlCol="0" anchor="ctr"/>
          <a:lstStyle/>
          <a:p>
            <a:pPr marL="0" indent="0">
              <a:buNone/>
            </a:pPr>
            <a:endParaRPr lang="en-US" dirty="0"/>
          </a:p>
        </p:txBody>
      </p:sp>
      <p:sp>
        <p:nvSpPr>
          <p:cNvPr id="25" name="Text 23"/>
          <p:cNvSpPr/>
          <p:nvPr/>
        </p:nvSpPr>
        <p:spPr>
          <a:xfrm>
            <a:off x="5095875" y="847725"/>
            <a:ext cx="3672459" cy="146596"/>
          </a:xfrm>
          <a:prstGeom prst="rect">
            <a:avLst/>
          </a:prstGeom>
          <a:noFill/>
          <a:ln/>
        </p:spPr>
        <p:txBody>
          <a:bodyPr wrap="square" lIns="0" tIns="0" rIns="0" bIns="0" rtlCol="0" anchor="t"/>
          <a:lstStyle/>
          <a:p>
            <a:pPr marL="0" indent="0" algn="l">
              <a:lnSpc>
                <a:spcPts val="1155"/>
              </a:lnSpc>
              <a:spcAft>
                <a:spcPts val="600"/>
              </a:spcAft>
              <a:buNone/>
            </a:pPr>
            <a:r>
              <a:rPr lang="en-US" sz="825" b="1" dirty="0">
                <a:solidFill>
                  <a:srgbClr val="FFFFFF"/>
                </a:solidFill>
                <a:latin typeface="Arial" pitchFamily="34" charset="0"/>
                <a:ea typeface="Arial" pitchFamily="34" charset="-122"/>
                <a:cs typeface="Arial" pitchFamily="34" charset="-120"/>
              </a:rPr>
              <a:t>ACCESS VOCABULARY</a:t>
            </a:r>
            <a:endParaRPr lang="en-US" sz="825" dirty="0"/>
          </a:p>
        </p:txBody>
      </p:sp>
      <p:sp>
        <p:nvSpPr>
          <p:cNvPr id="26" name="Text 24"/>
          <p:cNvSpPr/>
          <p:nvPr/>
        </p:nvSpPr>
        <p:spPr>
          <a:xfrm>
            <a:off x="5095875" y="1070521"/>
            <a:ext cx="3672459" cy="571500"/>
          </a:xfrm>
          <a:prstGeom prst="rect">
            <a:avLst/>
          </a:prstGeom>
          <a:noFill/>
          <a:ln/>
        </p:spPr>
        <p:txBody>
          <a:bodyPr wrap="square" lIns="0" tIns="0" rIns="0" bIns="0" rtlCol="0" anchor="t"/>
          <a:lstStyle/>
          <a:p>
            <a:pPr marL="0" indent="0" algn="l">
              <a:lnSpc>
                <a:spcPts val="1125"/>
              </a:lnSpc>
              <a:buNone/>
            </a:pPr>
            <a:r>
              <a:rPr lang="en-US" sz="750" dirty="0">
                <a:solidFill>
                  <a:srgbClr val="FFFFFF">
                    <a:alpha val="70000"/>
                  </a:srgbClr>
                </a:solidFill>
                <a:latin typeface="Arial" pitchFamily="34" charset="0"/>
                <a:ea typeface="Arial" pitchFamily="34" charset="-122"/>
                <a:cs typeface="Arial" pitchFamily="34" charset="-120"/>
              </a:rPr>
              <a:t>1. Click menu bar icon</a:t>
            </a:r>
            <a:endParaRPr lang="en-US" sz="750" dirty="0"/>
          </a:p>
          <a:p>
            <a:pPr marL="0" indent="0" algn="l">
              <a:lnSpc>
                <a:spcPts val="1125"/>
              </a:lnSpc>
              <a:buNone/>
            </a:pPr>
            <a:r>
              <a:rPr lang="en-US" sz="750" dirty="0">
                <a:solidFill>
                  <a:srgbClr val="FFFFFF">
                    <a:alpha val="70000"/>
                  </a:srgbClr>
                </a:solidFill>
                <a:latin typeface="Arial" pitchFamily="34" charset="0"/>
                <a:ea typeface="Arial" pitchFamily="34" charset="-122"/>
                <a:cs typeface="Arial" pitchFamily="34" charset="-120"/>
              </a:rPr>
              <a:t> 2. Open Settings</a:t>
            </a:r>
            <a:endParaRPr lang="en-US" sz="750" dirty="0"/>
          </a:p>
          <a:p>
            <a:pPr marL="0" indent="0" algn="l">
              <a:lnSpc>
                <a:spcPts val="1125"/>
              </a:lnSpc>
              <a:buNone/>
            </a:pPr>
            <a:r>
              <a:rPr lang="en-US" sz="750" dirty="0">
                <a:solidFill>
                  <a:srgbClr val="FFFFFF">
                    <a:alpha val="70000"/>
                  </a:srgbClr>
                </a:solidFill>
                <a:latin typeface="Arial" pitchFamily="34" charset="0"/>
                <a:ea typeface="Arial" pitchFamily="34" charset="-122"/>
                <a:cs typeface="Arial" pitchFamily="34" charset="-120"/>
              </a:rPr>
              <a:t> 3. Go to "Vocabulary" tab</a:t>
            </a:r>
            <a:endParaRPr lang="en-US" sz="750" dirty="0"/>
          </a:p>
          <a:p>
            <a:pPr marL="0" indent="0" algn="l">
              <a:lnSpc>
                <a:spcPts val="1125"/>
              </a:lnSpc>
              <a:buNone/>
            </a:pPr>
            <a:r>
              <a:rPr lang="en-US" sz="750" dirty="0">
                <a:solidFill>
                  <a:srgbClr val="FFFFFF">
                    <a:alpha val="70000"/>
                  </a:srgbClr>
                </a:solidFill>
                <a:latin typeface="Arial" pitchFamily="34" charset="0"/>
                <a:ea typeface="Arial" pitchFamily="34" charset="-122"/>
                <a:cs typeface="Arial" pitchFamily="34" charset="-120"/>
              </a:rPr>
              <a:t> 4. Add words or replacements</a:t>
            </a:r>
            <a:endParaRPr lang="en-US" sz="750" dirty="0"/>
          </a:p>
        </p:txBody>
      </p:sp>
      <p:sp>
        <p:nvSpPr>
          <p:cNvPr id="27" name="Text 25"/>
          <p:cNvSpPr/>
          <p:nvPr/>
        </p:nvSpPr>
        <p:spPr>
          <a:xfrm>
            <a:off x="4953000" y="2051596"/>
            <a:ext cx="3886200" cy="1060996"/>
          </a:xfrm>
          <a:prstGeom prst="rect">
            <a:avLst/>
          </a:prstGeom>
          <a:solidFill>
            <a:srgbClr val="FFFFFF">
              <a:alpha val="5000"/>
            </a:srgbClr>
          </a:solidFill>
          <a:ln/>
        </p:spPr>
        <p:txBody>
          <a:bodyPr wrap="square" rtlCol="0" anchor="ctr"/>
          <a:lstStyle/>
          <a:p>
            <a:pPr marL="0" indent="0">
              <a:buNone/>
            </a:pPr>
            <a:endParaRPr lang="en-US" dirty="0"/>
          </a:p>
        </p:txBody>
      </p:sp>
      <p:sp>
        <p:nvSpPr>
          <p:cNvPr id="28" name="Text 26"/>
          <p:cNvSpPr/>
          <p:nvPr/>
        </p:nvSpPr>
        <p:spPr>
          <a:xfrm>
            <a:off x="5086350" y="2184946"/>
            <a:ext cx="3691890" cy="146596"/>
          </a:xfrm>
          <a:prstGeom prst="rect">
            <a:avLst/>
          </a:prstGeom>
          <a:noFill/>
          <a:ln/>
        </p:spPr>
        <p:txBody>
          <a:bodyPr wrap="square" lIns="0" tIns="0" rIns="0" bIns="0" rtlCol="0" anchor="t"/>
          <a:lstStyle/>
          <a:p>
            <a:pPr marL="0" indent="0" algn="l">
              <a:lnSpc>
                <a:spcPts val="1155"/>
              </a:lnSpc>
              <a:spcAft>
                <a:spcPts val="600"/>
              </a:spcAft>
              <a:buNone/>
            </a:pPr>
            <a:r>
              <a:rPr lang="en-US" sz="825" b="1" dirty="0">
                <a:solidFill>
                  <a:srgbClr val="FFFFFF"/>
                </a:solidFill>
                <a:latin typeface="Arial" pitchFamily="34" charset="0"/>
                <a:ea typeface="Arial" pitchFamily="34" charset="-122"/>
                <a:cs typeface="Arial" pitchFamily="34" charset="-120"/>
              </a:rPr>
              <a:t>REPLACEMENT BEHAVIOR</a:t>
            </a:r>
            <a:endParaRPr lang="en-US" sz="825" dirty="0"/>
          </a:p>
        </p:txBody>
      </p:sp>
      <p:sp>
        <p:nvSpPr>
          <p:cNvPr id="29" name="Text 27"/>
          <p:cNvSpPr/>
          <p:nvPr/>
        </p:nvSpPr>
        <p:spPr>
          <a:xfrm>
            <a:off x="5086350" y="2407741"/>
            <a:ext cx="3691890" cy="571500"/>
          </a:xfrm>
          <a:prstGeom prst="rect">
            <a:avLst/>
          </a:prstGeom>
          <a:noFill/>
          <a:ln/>
        </p:spPr>
        <p:txBody>
          <a:bodyPr wrap="square" lIns="0" tIns="0" rIns="0" bIns="0" rtlCol="0" anchor="t"/>
          <a:lstStyle/>
          <a:p>
            <a:pPr marL="0" indent="0" algn="l">
              <a:lnSpc>
                <a:spcPts val="1125"/>
              </a:lnSpc>
              <a:buNone/>
            </a:pPr>
            <a:r>
              <a:rPr lang="en-US" sz="750" dirty="0">
                <a:solidFill>
                  <a:srgbClr val="FFFFFF">
                    <a:alpha val="60000"/>
                  </a:srgbClr>
                </a:solidFill>
                <a:latin typeface="Arial" pitchFamily="34" charset="0"/>
                <a:ea typeface="Arial" pitchFamily="34" charset="-122"/>
                <a:cs typeface="Arial" pitchFamily="34" charset="-120"/>
              </a:rPr>
              <a:t>Case-insensitive matching</a:t>
            </a:r>
            <a:endParaRPr lang="en-US" sz="750" dirty="0"/>
          </a:p>
          <a:p>
            <a:pPr marL="0" indent="0" algn="l">
              <a:lnSpc>
                <a:spcPts val="1125"/>
              </a:lnSpc>
              <a:buNone/>
            </a:pPr>
            <a:r>
              <a:rPr lang="en-US" sz="750" dirty="0">
                <a:solidFill>
                  <a:srgbClr val="FFFFFF">
                    <a:alpha val="60000"/>
                  </a:srgbClr>
                </a:solidFill>
                <a:latin typeface="Arial" pitchFamily="34" charset="0"/>
                <a:ea typeface="Arial" pitchFamily="34" charset="-122"/>
                <a:cs typeface="Arial" pitchFamily="34" charset="-120"/>
              </a:rPr>
              <a:t> "todo" matches "ToDo", "TODO", "Todo"</a:t>
            </a:r>
            <a:endParaRPr lang="en-US" sz="750" dirty="0"/>
          </a:p>
          <a:p>
            <a:pPr marL="0" indent="0" algn="l">
              <a:lnSpc>
                <a:spcPts val="1125"/>
              </a:lnSpc>
              <a:buNone/>
            </a:pPr>
            <a:r>
              <a:rPr lang="en-US" sz="750" dirty="0">
                <a:solidFill>
                  <a:srgbClr val="FFFFFF">
                    <a:alpha val="60000"/>
                  </a:srgbClr>
                </a:solidFill>
                <a:latin typeface="Arial" pitchFamily="34" charset="0"/>
                <a:ea typeface="Arial" pitchFamily="34" charset="-122"/>
                <a:cs typeface="Arial" pitchFamily="34" charset="-120"/>
              </a:rPr>
              <a:t> Output appears exactly as you specify</a:t>
            </a:r>
            <a:endParaRPr lang="en-US" sz="750" dirty="0"/>
          </a:p>
          <a:p>
            <a:pPr marL="0" indent="0" algn="l">
              <a:lnSpc>
                <a:spcPts val="1125"/>
              </a:lnSpc>
              <a:buNone/>
            </a:pPr>
            <a:r>
              <a:rPr lang="en-US" sz="750" dirty="0">
                <a:solidFill>
                  <a:srgbClr val="FFFFFF">
                    <a:alpha val="60000"/>
                  </a:srgbClr>
                </a:solidFill>
                <a:latin typeface="Arial" pitchFamily="34" charset="0"/>
                <a:ea typeface="Arial" pitchFamily="34" charset="-122"/>
                <a:cs typeface="Arial" pitchFamily="34" charset="-120"/>
              </a:rPr>
              <a:t> Works 100% reliably (not AI-dependent)</a:t>
            </a:r>
            <a:endParaRPr lang="en-US" sz="750" dirty="0"/>
          </a:p>
        </p:txBody>
      </p:sp>
      <p:sp>
        <p:nvSpPr>
          <p:cNvPr id="30" name="Text 28"/>
          <p:cNvSpPr/>
          <p:nvPr/>
        </p:nvSpPr>
        <p:spPr>
          <a:xfrm>
            <a:off x="4953000" y="3379291"/>
            <a:ext cx="3886200" cy="775246"/>
          </a:xfrm>
          <a:prstGeom prst="rect">
            <a:avLst/>
          </a:prstGeom>
          <a:solidFill>
            <a:srgbClr val="FFFFFF">
              <a:alpha val="5000"/>
            </a:srgbClr>
          </a:solidFill>
          <a:ln/>
        </p:spPr>
        <p:txBody>
          <a:bodyPr wrap="square" rtlCol="0" anchor="ctr"/>
          <a:lstStyle/>
          <a:p>
            <a:pPr marL="0" indent="0">
              <a:buNone/>
            </a:pPr>
            <a:endParaRPr lang="en-US" dirty="0"/>
          </a:p>
        </p:txBody>
      </p:sp>
      <p:sp>
        <p:nvSpPr>
          <p:cNvPr id="31" name="Text 29"/>
          <p:cNvSpPr/>
          <p:nvPr/>
        </p:nvSpPr>
        <p:spPr>
          <a:xfrm>
            <a:off x="5086350" y="3512641"/>
            <a:ext cx="3691890" cy="146596"/>
          </a:xfrm>
          <a:prstGeom prst="rect">
            <a:avLst/>
          </a:prstGeom>
          <a:noFill/>
          <a:ln/>
        </p:spPr>
        <p:txBody>
          <a:bodyPr wrap="square" lIns="0" tIns="0" rIns="0" bIns="0" rtlCol="0" anchor="t"/>
          <a:lstStyle/>
          <a:p>
            <a:pPr marL="0" indent="0" algn="l">
              <a:lnSpc>
                <a:spcPts val="1155"/>
              </a:lnSpc>
              <a:spcAft>
                <a:spcPts val="600"/>
              </a:spcAft>
              <a:buNone/>
            </a:pPr>
            <a:r>
              <a:rPr lang="en-US" sz="825" b="1" dirty="0">
                <a:solidFill>
                  <a:srgbClr val="FFFFFF"/>
                </a:solidFill>
                <a:latin typeface="Arial" pitchFamily="34" charset="0"/>
                <a:ea typeface="Arial" pitchFamily="34" charset="-122"/>
                <a:cs typeface="Arial" pitchFamily="34" charset="-120"/>
              </a:rPr>
              <a:t>MODEL COMPATIBILITY</a:t>
            </a:r>
            <a:endParaRPr lang="en-US" sz="825" dirty="0"/>
          </a:p>
        </p:txBody>
      </p:sp>
      <p:sp>
        <p:nvSpPr>
          <p:cNvPr id="32" name="Text 30"/>
          <p:cNvSpPr/>
          <p:nvPr/>
        </p:nvSpPr>
        <p:spPr>
          <a:xfrm>
            <a:off x="5086350" y="3735437"/>
            <a:ext cx="3691890" cy="285750"/>
          </a:xfrm>
          <a:prstGeom prst="rect">
            <a:avLst/>
          </a:prstGeom>
          <a:noFill/>
          <a:ln/>
        </p:spPr>
        <p:txBody>
          <a:bodyPr wrap="square" lIns="0" tIns="0" rIns="0" bIns="0" rtlCol="0" anchor="t"/>
          <a:lstStyle/>
          <a:p>
            <a:pPr marL="0" indent="0" algn="l">
              <a:lnSpc>
                <a:spcPts val="1125"/>
              </a:lnSpc>
              <a:buNone/>
            </a:pPr>
            <a:r>
              <a:rPr lang="en-US" sz="750" dirty="0">
                <a:solidFill>
                  <a:srgbClr val="FFFFFF">
                    <a:alpha val="60000"/>
                  </a:srgbClr>
                </a:solidFill>
                <a:latin typeface="Arial" pitchFamily="34" charset="0"/>
                <a:ea typeface="Arial" pitchFamily="34" charset="-122"/>
                <a:cs typeface="Arial" pitchFamily="34" charset="-120"/>
              </a:rPr>
              <a:t>Vocabulary hints work with most models.</a:t>
            </a:r>
            <a:endParaRPr lang="en-US" sz="750" dirty="0"/>
          </a:p>
          <a:p>
            <a:pPr marL="0" indent="0" algn="l">
              <a:lnSpc>
                <a:spcPts val="1125"/>
              </a:lnSpc>
              <a:buNone/>
            </a:pPr>
            <a:r>
              <a:rPr lang="en-US" sz="750" dirty="0">
                <a:solidFill>
                  <a:srgbClr val="FFFFFF">
                    <a:alpha val="60000"/>
                  </a:srgbClr>
                </a:solidFill>
                <a:latin typeface="Arial" pitchFamily="34" charset="0"/>
                <a:ea typeface="Arial" pitchFamily="34" charset="-122"/>
                <a:cs typeface="Arial" pitchFamily="34" charset="-120"/>
              </a:rPr>
              <a:t> </a:t>
            </a:r>
            <a:endParaRPr lang="en-US" sz="750" dirty="0"/>
          </a:p>
          <a:p>
            <a:pPr marL="0" indent="0" algn="l">
              <a:lnSpc>
                <a:spcPts val="1125"/>
              </a:lnSpc>
              <a:buNone/>
            </a:pPr>
            <a:r>
              <a:rPr lang="en-US" sz="750" dirty="0">
                <a:solidFill>
                  <a:srgbClr val="F59E0B">
                    <a:alpha val="60000"/>
                  </a:srgbClr>
                </a:solidFill>
                <a:latin typeface="Arial" pitchFamily="34" charset="0"/>
                <a:ea typeface="Arial" pitchFamily="34" charset="-122"/>
                <a:cs typeface="Arial" pitchFamily="34" charset="-120"/>
              </a:rPr>
              <a:t>Exception:</a:t>
            </a:r>
            <a:r>
              <a:rPr lang="en-US" sz="750" dirty="0">
                <a:solidFill>
                  <a:srgbClr val="FFFFFF">
                    <a:alpha val="60000"/>
                  </a:srgbClr>
                </a:solidFill>
                <a:latin typeface="Arial" pitchFamily="34" charset="0"/>
                <a:ea typeface="Arial" pitchFamily="34" charset="-122"/>
                <a:cs typeface="Arial" pitchFamily="34" charset="-120"/>
              </a:rPr>
              <a:t> Nova and Parakeet models don't support vocabulary hints.</a:t>
            </a:r>
            <a:endParaRPr lang="en-US" sz="750" dirty="0"/>
          </a:p>
        </p:txBody>
      </p:sp>
      <p:sp>
        <p:nvSpPr>
          <p:cNvPr id="33" name="Text 31"/>
          <p:cNvSpPr/>
          <p:nvPr/>
        </p:nvSpPr>
        <p:spPr>
          <a:xfrm>
            <a:off x="4953000" y="4514850"/>
            <a:ext cx="3886200" cy="361950"/>
          </a:xfrm>
          <a:prstGeom prst="rect">
            <a:avLst/>
          </a:prstGeom>
          <a:solidFill>
            <a:srgbClr val="059669"/>
          </a:solidFill>
          <a:ln/>
        </p:spPr>
        <p:txBody>
          <a:bodyPr wrap="square" rtlCol="0" anchor="ctr"/>
          <a:lstStyle/>
          <a:p>
            <a:pPr marL="0" indent="0">
              <a:buNone/>
            </a:pPr>
            <a:endParaRPr lang="en-US" dirty="0"/>
          </a:p>
        </p:txBody>
      </p:sp>
      <p:sp>
        <p:nvSpPr>
          <p:cNvPr id="34" name="Text 32"/>
          <p:cNvSpPr/>
          <p:nvPr/>
        </p:nvSpPr>
        <p:spPr>
          <a:xfrm>
            <a:off x="5030724" y="4629150"/>
            <a:ext cx="3730752" cy="133350"/>
          </a:xfrm>
          <a:prstGeom prst="rect">
            <a:avLst/>
          </a:prstGeom>
          <a:noFill/>
          <a:ln/>
        </p:spPr>
        <p:txBody>
          <a:bodyPr wrap="square" lIns="0" tIns="0" rIns="0" bIns="0" rtlCol="0" anchor="t"/>
          <a:lstStyle/>
          <a:p>
            <a:pPr marL="0" indent="0" algn="ctr">
              <a:lnSpc>
                <a:spcPts val="1050"/>
              </a:lnSpc>
              <a:buNone/>
            </a:pPr>
            <a:r>
              <a:rPr lang="en-US" sz="750" dirty="0">
                <a:solidFill>
                  <a:srgbClr val="FFFFFF"/>
                </a:solidFill>
                <a:latin typeface="Arial" pitchFamily="34" charset="0"/>
                <a:ea typeface="Arial" pitchFamily="34" charset="-122"/>
                <a:cs typeface="Arial" pitchFamily="34" charset="-120"/>
              </a:rPr>
              <a:t>Prefer replacements over vocabulary for consistent results</a:t>
            </a:r>
            <a:endParaRPr lang="en-US" sz="7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999963" y="-1999641"/>
            <a:ext cx="5143500" cy="9143425"/>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733" y="0"/>
            <a:ext cx="6803134" cy="5143179"/>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737118" y="-1264380"/>
            <a:ext cx="3670923" cy="9145160"/>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264D77E3-8FB5-809E-26A8-58921DA7F047}"/>
              </a:ext>
            </a:extLst>
          </p:cNvPr>
          <p:cNvPicPr>
            <a:picLocks noChangeAspect="1"/>
          </p:cNvPicPr>
          <p:nvPr/>
        </p:nvPicPr>
        <p:blipFill>
          <a:blip r:embed="rId2"/>
          <a:stretch>
            <a:fillRect/>
          </a:stretch>
        </p:blipFill>
        <p:spPr>
          <a:xfrm>
            <a:off x="3746441" y="447832"/>
            <a:ext cx="4279391" cy="4457700"/>
          </a:xfrm>
          <a:prstGeom prst="rect">
            <a:avLst/>
          </a:prstGeom>
        </p:spPr>
      </p:pic>
      <p:sp>
        <p:nvSpPr>
          <p:cNvPr id="3" name="Right Arrow 2">
            <a:extLst>
              <a:ext uri="{FF2B5EF4-FFF2-40B4-BE49-F238E27FC236}">
                <a16:creationId xmlns:a16="http://schemas.microsoft.com/office/drawing/2014/main" id="{1D96A1CB-A599-9227-AD5C-2752110FC6D9}"/>
              </a:ext>
            </a:extLst>
          </p:cNvPr>
          <p:cNvSpPr/>
          <p:nvPr/>
        </p:nvSpPr>
        <p:spPr>
          <a:xfrm rot="9992190">
            <a:off x="7710804" y="1025244"/>
            <a:ext cx="769495" cy="414728"/>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546C8EA6-3109-1CA0-EFA4-852601879FA8}"/>
              </a:ext>
            </a:extLst>
          </p:cNvPr>
          <p:cNvSpPr txBox="1"/>
          <p:nvPr/>
        </p:nvSpPr>
        <p:spPr>
          <a:xfrm>
            <a:off x="124919" y="434716"/>
            <a:ext cx="3023016" cy="1477328"/>
          </a:xfrm>
          <a:prstGeom prst="rect">
            <a:avLst/>
          </a:prstGeom>
          <a:noFill/>
        </p:spPr>
        <p:txBody>
          <a:bodyPr wrap="square" rtlCol="0">
            <a:spAutoFit/>
          </a:bodyPr>
          <a:lstStyle/>
          <a:p>
            <a:r>
              <a:rPr lang="en-US" dirty="0">
                <a:solidFill>
                  <a:schemeClr val="bg1"/>
                </a:solidFill>
              </a:rPr>
              <a:t>Choose if you want to add an item to vocabulary to improve recognition, or you want to use a word or phrase as a replacement trigger. </a:t>
            </a:r>
          </a:p>
        </p:txBody>
      </p:sp>
    </p:spTree>
    <p:extLst>
      <p:ext uri="{BB962C8B-B14F-4D97-AF65-F5344CB8AC3E}">
        <p14:creationId xmlns:p14="http://schemas.microsoft.com/office/powerpoint/2010/main" val="1522463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999963" y="-1999641"/>
            <a:ext cx="5143500" cy="9143425"/>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733" y="0"/>
            <a:ext cx="6803134" cy="5143179"/>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737118" y="-1264380"/>
            <a:ext cx="3670923" cy="9145160"/>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AC62869A-B8FB-9055-8918-5E28049E6519}"/>
              </a:ext>
            </a:extLst>
          </p:cNvPr>
          <p:cNvPicPr>
            <a:picLocks noChangeAspect="1"/>
          </p:cNvPicPr>
          <p:nvPr/>
        </p:nvPicPr>
        <p:blipFill>
          <a:blip r:embed="rId2"/>
          <a:stretch>
            <a:fillRect/>
          </a:stretch>
        </p:blipFill>
        <p:spPr>
          <a:xfrm>
            <a:off x="3765853" y="434716"/>
            <a:ext cx="4290536" cy="4457700"/>
          </a:xfrm>
          <a:prstGeom prst="rect">
            <a:avLst/>
          </a:prstGeom>
        </p:spPr>
      </p:pic>
      <p:sp>
        <p:nvSpPr>
          <p:cNvPr id="3" name="Right Arrow 2">
            <a:extLst>
              <a:ext uri="{FF2B5EF4-FFF2-40B4-BE49-F238E27FC236}">
                <a16:creationId xmlns:a16="http://schemas.microsoft.com/office/drawing/2014/main" id="{7C8DF37C-D66F-5F68-B9AB-BCA00ED28AAB}"/>
              </a:ext>
            </a:extLst>
          </p:cNvPr>
          <p:cNvSpPr/>
          <p:nvPr/>
        </p:nvSpPr>
        <p:spPr>
          <a:xfrm rot="9992190">
            <a:off x="7913772" y="1879542"/>
            <a:ext cx="769495" cy="414728"/>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BFFE1E11-FFCB-1668-07C7-8C78FBA2B19B}"/>
              </a:ext>
            </a:extLst>
          </p:cNvPr>
          <p:cNvSpPr txBox="1"/>
          <p:nvPr/>
        </p:nvSpPr>
        <p:spPr>
          <a:xfrm>
            <a:off x="124919" y="434716"/>
            <a:ext cx="3023016" cy="369332"/>
          </a:xfrm>
          <a:prstGeom prst="rect">
            <a:avLst/>
          </a:prstGeom>
          <a:noFill/>
        </p:spPr>
        <p:txBody>
          <a:bodyPr wrap="square" rtlCol="0">
            <a:spAutoFit/>
          </a:bodyPr>
          <a:lstStyle/>
          <a:p>
            <a:r>
              <a:rPr lang="en-US" dirty="0">
                <a:solidFill>
                  <a:schemeClr val="bg1"/>
                </a:solidFill>
              </a:rPr>
              <a:t>Enter content and save</a:t>
            </a:r>
          </a:p>
        </p:txBody>
      </p:sp>
    </p:spTree>
    <p:extLst>
      <p:ext uri="{BB962C8B-B14F-4D97-AF65-F5344CB8AC3E}">
        <p14:creationId xmlns:p14="http://schemas.microsoft.com/office/powerpoint/2010/main" val="4631752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999963" y="-1999641"/>
            <a:ext cx="5143500" cy="9143425"/>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733" y="0"/>
            <a:ext cx="6803134" cy="5143179"/>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737118" y="-1264380"/>
            <a:ext cx="3670923" cy="9145160"/>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7FE60D34-5009-7765-3125-661558988E9D}"/>
              </a:ext>
            </a:extLst>
          </p:cNvPr>
          <p:cNvPicPr>
            <a:picLocks noChangeAspect="1"/>
          </p:cNvPicPr>
          <p:nvPr/>
        </p:nvPicPr>
        <p:blipFill>
          <a:blip r:embed="rId2"/>
          <a:stretch>
            <a:fillRect/>
          </a:stretch>
        </p:blipFill>
        <p:spPr>
          <a:xfrm>
            <a:off x="4309527" y="417851"/>
            <a:ext cx="4212526" cy="4457700"/>
          </a:xfrm>
          <a:prstGeom prst="rect">
            <a:avLst/>
          </a:prstGeom>
        </p:spPr>
      </p:pic>
      <p:sp>
        <p:nvSpPr>
          <p:cNvPr id="3" name="TextBox 2">
            <a:extLst>
              <a:ext uri="{FF2B5EF4-FFF2-40B4-BE49-F238E27FC236}">
                <a16:creationId xmlns:a16="http://schemas.microsoft.com/office/drawing/2014/main" id="{D127CA5D-021A-E1B0-5963-69D7029F445A}"/>
              </a:ext>
            </a:extLst>
          </p:cNvPr>
          <p:cNvSpPr txBox="1"/>
          <p:nvPr/>
        </p:nvSpPr>
        <p:spPr>
          <a:xfrm>
            <a:off x="509666" y="474689"/>
            <a:ext cx="3023016" cy="2308324"/>
          </a:xfrm>
          <a:prstGeom prst="rect">
            <a:avLst/>
          </a:prstGeom>
          <a:noFill/>
        </p:spPr>
        <p:txBody>
          <a:bodyPr wrap="square" rtlCol="0">
            <a:spAutoFit/>
          </a:bodyPr>
          <a:lstStyle/>
          <a:p>
            <a:r>
              <a:rPr lang="en-US" dirty="0">
                <a:solidFill>
                  <a:schemeClr val="bg1"/>
                </a:solidFill>
              </a:rPr>
              <a:t>You can add words to the vocabulary, setup up replacements, even swapping words and phrases for links. </a:t>
            </a:r>
            <a:br>
              <a:rPr lang="en-US" dirty="0">
                <a:solidFill>
                  <a:schemeClr val="bg1"/>
                </a:solidFill>
              </a:rPr>
            </a:br>
            <a:br>
              <a:rPr lang="en-US" dirty="0">
                <a:solidFill>
                  <a:schemeClr val="bg1"/>
                </a:solidFill>
              </a:rPr>
            </a:br>
            <a:r>
              <a:rPr lang="en-US" dirty="0">
                <a:solidFill>
                  <a:schemeClr val="bg1"/>
                </a:solidFill>
              </a:rPr>
              <a:t>Vocabulary can also be used as a macro to insert whole content blocks or segments. </a:t>
            </a:r>
          </a:p>
        </p:txBody>
      </p:sp>
    </p:spTree>
    <p:extLst>
      <p:ext uri="{BB962C8B-B14F-4D97-AF65-F5344CB8AC3E}">
        <p14:creationId xmlns:p14="http://schemas.microsoft.com/office/powerpoint/2010/main" val="42730114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44625" y="537270"/>
            <a:ext cx="1854750" cy="159990"/>
          </a:xfrm>
          <a:prstGeom prst="rect">
            <a:avLst/>
          </a:prstGeom>
          <a:noFill/>
          <a:ln/>
        </p:spPr>
        <p:txBody>
          <a:bodyPr wrap="square" lIns="0" tIns="0" rIns="0" bIns="0" rtlCol="0" anchor="t"/>
          <a:lstStyle/>
          <a:p>
            <a:pPr marL="0" indent="0" algn="ctr">
              <a:lnSpc>
                <a:spcPts val="1260"/>
              </a:lnSpc>
              <a:spcAft>
                <a:spcPts val="1800"/>
              </a:spcAft>
              <a:buNone/>
            </a:pPr>
            <a:r>
              <a:rPr lang="en-US" sz="900" dirty="0">
                <a:solidFill>
                  <a:srgbClr val="C9A227"/>
                </a:solidFill>
                <a:latin typeface="Arial" pitchFamily="34" charset="0"/>
                <a:ea typeface="Arial" pitchFamily="34" charset="-122"/>
                <a:cs typeface="Arial" pitchFamily="34" charset="-120"/>
              </a:rPr>
              <a:t>PART 4 • WORKSHOP</a:t>
            </a:r>
            <a:endParaRPr lang="en-US" sz="900" dirty="0"/>
          </a:p>
        </p:txBody>
      </p:sp>
      <p:sp>
        <p:nvSpPr>
          <p:cNvPr id="3" name="Text 1"/>
          <p:cNvSpPr/>
          <p:nvPr/>
        </p:nvSpPr>
        <p:spPr>
          <a:xfrm>
            <a:off x="2005743" y="1078260"/>
            <a:ext cx="5132365" cy="457200"/>
          </a:xfrm>
          <a:prstGeom prst="rect">
            <a:avLst/>
          </a:prstGeom>
          <a:noFill/>
          <a:ln/>
        </p:spPr>
        <p:txBody>
          <a:bodyPr wrap="square" lIns="0" tIns="0" rIns="0" bIns="0" rtlCol="0" anchor="t"/>
          <a:lstStyle/>
          <a:p>
            <a:pPr marL="0" indent="0" algn="ctr">
              <a:lnSpc>
                <a:spcPts val="3600"/>
              </a:lnSpc>
              <a:spcAft>
                <a:spcPts val="1200"/>
              </a:spcAft>
              <a:buNone/>
            </a:pPr>
            <a:r>
              <a:rPr lang="en-US" sz="3600" dirty="0">
                <a:solidFill>
                  <a:srgbClr val="FFFFFF"/>
                </a:solidFill>
                <a:latin typeface="Georgia" pitchFamily="34" charset="0"/>
                <a:ea typeface="Georgia" pitchFamily="34" charset="-122"/>
                <a:cs typeface="Georgia" pitchFamily="34" charset="-120"/>
              </a:rPr>
              <a:t>Custom Mode Workshop</a:t>
            </a:r>
            <a:endParaRPr lang="en-US" sz="3600" dirty="0"/>
          </a:p>
        </p:txBody>
      </p:sp>
      <p:sp>
        <p:nvSpPr>
          <p:cNvPr id="4" name="Text 2"/>
          <p:cNvSpPr/>
          <p:nvPr/>
        </p:nvSpPr>
        <p:spPr>
          <a:xfrm>
            <a:off x="4191000" y="1840260"/>
            <a:ext cx="762000" cy="28575"/>
          </a:xfrm>
          <a:prstGeom prst="rect">
            <a:avLst/>
          </a:prstGeom>
          <a:solidFill>
            <a:srgbClr val="C9A227"/>
          </a:solidFill>
          <a:ln/>
        </p:spPr>
        <p:txBody>
          <a:bodyPr wrap="square" rtlCol="0" anchor="ctr"/>
          <a:lstStyle/>
          <a:p>
            <a:pPr marL="0" indent="0">
              <a:buNone/>
            </a:pPr>
            <a:endParaRPr lang="en-US" dirty="0"/>
          </a:p>
        </p:txBody>
      </p:sp>
      <p:sp>
        <p:nvSpPr>
          <p:cNvPr id="5" name="Text 3"/>
          <p:cNvSpPr/>
          <p:nvPr/>
        </p:nvSpPr>
        <p:spPr>
          <a:xfrm>
            <a:off x="1657350" y="2249835"/>
            <a:ext cx="5829300" cy="487561"/>
          </a:xfrm>
          <a:prstGeom prst="rect">
            <a:avLst/>
          </a:prstGeom>
          <a:noFill/>
          <a:ln/>
        </p:spPr>
        <p:txBody>
          <a:bodyPr wrap="square" lIns="0" tIns="0" rIns="0" bIns="0" rtlCol="0" anchor="t"/>
          <a:lstStyle/>
          <a:p>
            <a:pPr marL="0" indent="0" algn="ctr">
              <a:lnSpc>
                <a:spcPts val="1920"/>
              </a:lnSpc>
              <a:spcAft>
                <a:spcPts val="2400"/>
              </a:spcAft>
              <a:buNone/>
            </a:pPr>
            <a:r>
              <a:rPr lang="en-US" sz="1200" dirty="0">
                <a:solidFill>
                  <a:srgbClr val="FFFFFF">
                    <a:alpha val="70000"/>
                  </a:srgbClr>
                </a:solidFill>
                <a:latin typeface="Arial" pitchFamily="34" charset="0"/>
                <a:ea typeface="Arial" pitchFamily="34" charset="-122"/>
                <a:cs typeface="Arial" pitchFamily="34" charset="-120"/>
              </a:rPr>
              <a:t>Build application-specific modes for your daily workflow. We'll create modes for coding, email, chat, and more.</a:t>
            </a:r>
            <a:endParaRPr lang="en-US" sz="1200" dirty="0"/>
          </a:p>
        </p:txBody>
      </p:sp>
      <p:sp>
        <p:nvSpPr>
          <p:cNvPr id="6" name="Text 4"/>
          <p:cNvSpPr/>
          <p:nvPr/>
        </p:nvSpPr>
        <p:spPr>
          <a:xfrm>
            <a:off x="1704231" y="3346996"/>
            <a:ext cx="1110704" cy="394246"/>
          </a:xfrm>
          <a:prstGeom prst="rect">
            <a:avLst/>
          </a:prstGeom>
          <a:solidFill>
            <a:srgbClr val="C9A227">
              <a:alpha val="15000"/>
            </a:srgbClr>
          </a:solidFill>
          <a:ln w="9525">
            <a:solidFill>
              <a:srgbClr val="C9A227"/>
            </a:solidFill>
          </a:ln>
        </p:spPr>
        <p:txBody>
          <a:bodyPr wrap="square" rtlCol="0" anchor="ctr"/>
          <a:lstStyle/>
          <a:p>
            <a:pPr marL="0" indent="0">
              <a:buNone/>
            </a:pPr>
            <a:endParaRPr lang="en-US" dirty="0"/>
          </a:p>
        </p:txBody>
      </p:sp>
      <p:sp>
        <p:nvSpPr>
          <p:cNvPr id="7" name="Text 5"/>
          <p:cNvSpPr/>
          <p:nvPr/>
        </p:nvSpPr>
        <p:spPr>
          <a:xfrm>
            <a:off x="1897149" y="3470821"/>
            <a:ext cx="724867" cy="146596"/>
          </a:xfrm>
          <a:prstGeom prst="rect">
            <a:avLst/>
          </a:prstGeom>
          <a:noFill/>
          <a:ln/>
        </p:spPr>
        <p:txBody>
          <a:bodyPr wrap="square" lIns="0" tIns="0" rIns="0" bIns="0" rtlCol="0" anchor="t"/>
          <a:lstStyle/>
          <a:p>
            <a:pPr marL="0" indent="0" algn="ctr">
              <a:lnSpc>
                <a:spcPts val="1155"/>
              </a:lnSpc>
              <a:buNone/>
            </a:pPr>
            <a:r>
              <a:rPr lang="en-US" sz="825" dirty="0">
                <a:solidFill>
                  <a:srgbClr val="C9A227"/>
                </a:solidFill>
                <a:latin typeface="Arial" pitchFamily="34" charset="0"/>
                <a:ea typeface="Arial" pitchFamily="34" charset="-122"/>
                <a:cs typeface="Arial" pitchFamily="34" charset="-120"/>
              </a:rPr>
              <a:t>Agentic Coding</a:t>
            </a:r>
            <a:endParaRPr lang="en-US" sz="825" dirty="0"/>
          </a:p>
        </p:txBody>
      </p:sp>
      <p:sp>
        <p:nvSpPr>
          <p:cNvPr id="8" name="Text 6"/>
          <p:cNvSpPr/>
          <p:nvPr/>
        </p:nvSpPr>
        <p:spPr>
          <a:xfrm>
            <a:off x="2967335" y="3346996"/>
            <a:ext cx="959197" cy="394246"/>
          </a:xfrm>
          <a:prstGeom prst="rect">
            <a:avLst/>
          </a:prstGeom>
          <a:solidFill>
            <a:srgbClr val="C9A227">
              <a:alpha val="15000"/>
            </a:srgbClr>
          </a:solidFill>
          <a:ln w="9525">
            <a:solidFill>
              <a:srgbClr val="C9A227"/>
            </a:solidFill>
          </a:ln>
        </p:spPr>
        <p:txBody>
          <a:bodyPr wrap="square" rtlCol="0" anchor="ctr"/>
          <a:lstStyle/>
          <a:p>
            <a:pPr marL="0" indent="0">
              <a:buNone/>
            </a:pPr>
            <a:endParaRPr lang="en-US" dirty="0"/>
          </a:p>
        </p:txBody>
      </p:sp>
      <p:sp>
        <p:nvSpPr>
          <p:cNvPr id="9" name="Text 7"/>
          <p:cNvSpPr/>
          <p:nvPr/>
        </p:nvSpPr>
        <p:spPr>
          <a:xfrm>
            <a:off x="3161769" y="3470821"/>
            <a:ext cx="570330" cy="146596"/>
          </a:xfrm>
          <a:prstGeom prst="rect">
            <a:avLst/>
          </a:prstGeom>
          <a:noFill/>
          <a:ln/>
        </p:spPr>
        <p:txBody>
          <a:bodyPr wrap="square" lIns="0" tIns="0" rIns="0" bIns="0" rtlCol="0" anchor="t"/>
          <a:lstStyle/>
          <a:p>
            <a:pPr marL="0" indent="0" algn="ctr">
              <a:lnSpc>
                <a:spcPts val="1155"/>
              </a:lnSpc>
              <a:buNone/>
            </a:pPr>
            <a:r>
              <a:rPr lang="en-US" sz="825" dirty="0">
                <a:solidFill>
                  <a:srgbClr val="C9A227"/>
                </a:solidFill>
                <a:latin typeface="Arial" pitchFamily="34" charset="0"/>
                <a:ea typeface="Arial" pitchFamily="34" charset="-122"/>
                <a:cs typeface="Arial" pitchFamily="34" charset="-120"/>
              </a:rPr>
              <a:t>Teams Chat</a:t>
            </a:r>
            <a:endParaRPr lang="en-US" sz="825" dirty="0"/>
          </a:p>
        </p:txBody>
      </p:sp>
      <p:sp>
        <p:nvSpPr>
          <p:cNvPr id="10" name="Text 8"/>
          <p:cNvSpPr/>
          <p:nvPr/>
        </p:nvSpPr>
        <p:spPr>
          <a:xfrm>
            <a:off x="4078932" y="3346996"/>
            <a:ext cx="968722" cy="394246"/>
          </a:xfrm>
          <a:prstGeom prst="rect">
            <a:avLst/>
          </a:prstGeom>
          <a:solidFill>
            <a:srgbClr val="C9A227">
              <a:alpha val="15000"/>
            </a:srgbClr>
          </a:solidFill>
          <a:ln w="9525">
            <a:solidFill>
              <a:srgbClr val="C9A227"/>
            </a:solidFill>
          </a:ln>
        </p:spPr>
        <p:txBody>
          <a:bodyPr wrap="square" rtlCol="0" anchor="ctr"/>
          <a:lstStyle/>
          <a:p>
            <a:pPr marL="0" indent="0">
              <a:buNone/>
            </a:pPr>
            <a:endParaRPr lang="en-US" dirty="0"/>
          </a:p>
        </p:txBody>
      </p:sp>
      <p:sp>
        <p:nvSpPr>
          <p:cNvPr id="11" name="Text 9"/>
          <p:cNvSpPr/>
          <p:nvPr/>
        </p:nvSpPr>
        <p:spPr>
          <a:xfrm>
            <a:off x="4273271" y="3470821"/>
            <a:ext cx="580046" cy="146596"/>
          </a:xfrm>
          <a:prstGeom prst="rect">
            <a:avLst/>
          </a:prstGeom>
          <a:noFill/>
          <a:ln/>
        </p:spPr>
        <p:txBody>
          <a:bodyPr wrap="square" lIns="0" tIns="0" rIns="0" bIns="0" rtlCol="0" anchor="t"/>
          <a:lstStyle/>
          <a:p>
            <a:pPr marL="0" indent="0" algn="ctr">
              <a:lnSpc>
                <a:spcPts val="1155"/>
              </a:lnSpc>
              <a:buNone/>
            </a:pPr>
            <a:r>
              <a:rPr lang="en-US" sz="825" dirty="0">
                <a:solidFill>
                  <a:srgbClr val="C9A227"/>
                </a:solidFill>
                <a:latin typeface="Arial" pitchFamily="34" charset="0"/>
                <a:ea typeface="Arial" pitchFamily="34" charset="-122"/>
                <a:cs typeface="Arial" pitchFamily="34" charset="-120"/>
              </a:rPr>
              <a:t>Email Writer</a:t>
            </a:r>
            <a:endParaRPr lang="en-US" sz="825" dirty="0"/>
          </a:p>
        </p:txBody>
      </p:sp>
      <p:sp>
        <p:nvSpPr>
          <p:cNvPr id="12" name="Text 10"/>
          <p:cNvSpPr/>
          <p:nvPr/>
        </p:nvSpPr>
        <p:spPr>
          <a:xfrm>
            <a:off x="5200055" y="3346996"/>
            <a:ext cx="1011734" cy="394246"/>
          </a:xfrm>
          <a:prstGeom prst="rect">
            <a:avLst/>
          </a:prstGeom>
          <a:solidFill>
            <a:srgbClr val="C9A227">
              <a:alpha val="15000"/>
            </a:srgbClr>
          </a:solidFill>
          <a:ln w="9525">
            <a:solidFill>
              <a:srgbClr val="C9A227"/>
            </a:solidFill>
          </a:ln>
        </p:spPr>
        <p:txBody>
          <a:bodyPr wrap="square" rtlCol="0" anchor="ctr"/>
          <a:lstStyle/>
          <a:p>
            <a:pPr marL="0" indent="0">
              <a:buNone/>
            </a:pPr>
            <a:endParaRPr lang="en-US" dirty="0"/>
          </a:p>
        </p:txBody>
      </p:sp>
      <p:sp>
        <p:nvSpPr>
          <p:cNvPr id="13" name="Text 11"/>
          <p:cNvSpPr/>
          <p:nvPr/>
        </p:nvSpPr>
        <p:spPr>
          <a:xfrm>
            <a:off x="5393963" y="3470821"/>
            <a:ext cx="623917" cy="146596"/>
          </a:xfrm>
          <a:prstGeom prst="rect">
            <a:avLst/>
          </a:prstGeom>
          <a:noFill/>
          <a:ln/>
        </p:spPr>
        <p:txBody>
          <a:bodyPr wrap="square" lIns="0" tIns="0" rIns="0" bIns="0" rtlCol="0" anchor="t"/>
          <a:lstStyle/>
          <a:p>
            <a:pPr marL="0" indent="0" algn="ctr">
              <a:lnSpc>
                <a:spcPts val="1155"/>
              </a:lnSpc>
              <a:buNone/>
            </a:pPr>
            <a:r>
              <a:rPr lang="en-US" sz="825" dirty="0">
                <a:solidFill>
                  <a:srgbClr val="C9A227"/>
                </a:solidFill>
                <a:latin typeface="Arial" pitchFamily="34" charset="0"/>
                <a:ea typeface="Arial" pitchFamily="34" charset="-122"/>
                <a:cs typeface="Arial" pitchFamily="34" charset="-120"/>
              </a:rPr>
              <a:t>Claude Code</a:t>
            </a:r>
            <a:endParaRPr lang="en-US" sz="825" dirty="0"/>
          </a:p>
        </p:txBody>
      </p:sp>
      <p:sp>
        <p:nvSpPr>
          <p:cNvPr id="14" name="Text 12"/>
          <p:cNvSpPr/>
          <p:nvPr/>
        </p:nvSpPr>
        <p:spPr>
          <a:xfrm>
            <a:off x="6364188" y="3346996"/>
            <a:ext cx="1075581" cy="394246"/>
          </a:xfrm>
          <a:prstGeom prst="rect">
            <a:avLst/>
          </a:prstGeom>
          <a:solidFill>
            <a:srgbClr val="C9A227">
              <a:alpha val="15000"/>
            </a:srgbClr>
          </a:solidFill>
          <a:ln w="9525">
            <a:solidFill>
              <a:srgbClr val="C9A227"/>
            </a:solidFill>
          </a:ln>
        </p:spPr>
        <p:txBody>
          <a:bodyPr wrap="square" rtlCol="0" anchor="ctr"/>
          <a:lstStyle/>
          <a:p>
            <a:pPr marL="0" indent="0">
              <a:buNone/>
            </a:pPr>
            <a:endParaRPr lang="en-US" dirty="0"/>
          </a:p>
        </p:txBody>
      </p:sp>
      <p:sp>
        <p:nvSpPr>
          <p:cNvPr id="15" name="Text 13"/>
          <p:cNvSpPr/>
          <p:nvPr/>
        </p:nvSpPr>
        <p:spPr>
          <a:xfrm>
            <a:off x="6557458" y="3470821"/>
            <a:ext cx="689041" cy="146596"/>
          </a:xfrm>
          <a:prstGeom prst="rect">
            <a:avLst/>
          </a:prstGeom>
          <a:noFill/>
          <a:ln/>
        </p:spPr>
        <p:txBody>
          <a:bodyPr wrap="square" lIns="0" tIns="0" rIns="0" bIns="0" rtlCol="0" anchor="t"/>
          <a:lstStyle/>
          <a:p>
            <a:pPr marL="0" indent="0" algn="ctr">
              <a:lnSpc>
                <a:spcPts val="1155"/>
              </a:lnSpc>
              <a:buNone/>
            </a:pPr>
            <a:r>
              <a:rPr lang="en-US" sz="825" dirty="0">
                <a:solidFill>
                  <a:srgbClr val="C9A227"/>
                </a:solidFill>
                <a:latin typeface="Arial" pitchFamily="34" charset="0"/>
                <a:ea typeface="Arial" pitchFamily="34" charset="-122"/>
                <a:cs typeface="Arial" pitchFamily="34" charset="-120"/>
              </a:rPr>
              <a:t>Browser Mode</a:t>
            </a:r>
            <a:endParaRPr lang="en-US" sz="825" dirty="0"/>
          </a:p>
        </p:txBody>
      </p:sp>
      <p:sp>
        <p:nvSpPr>
          <p:cNvPr id="16" name="Text 14"/>
          <p:cNvSpPr/>
          <p:nvPr/>
        </p:nvSpPr>
        <p:spPr>
          <a:xfrm>
            <a:off x="2920008" y="4160341"/>
            <a:ext cx="3303984" cy="445740"/>
          </a:xfrm>
          <a:prstGeom prst="rect">
            <a:avLst/>
          </a:prstGeom>
          <a:solidFill>
            <a:srgbClr val="059669">
              <a:alpha val="20000"/>
            </a:srgbClr>
          </a:solidFill>
          <a:ln w="9525">
            <a:solidFill>
              <a:srgbClr val="059669"/>
            </a:solidFill>
          </a:ln>
        </p:spPr>
        <p:txBody>
          <a:bodyPr wrap="square" rtlCol="0" anchor="ctr"/>
          <a:lstStyle/>
          <a:p>
            <a:pPr marL="0" indent="0">
              <a:buNone/>
            </a:pPr>
            <a:endParaRPr lang="en-US" dirty="0"/>
          </a:p>
        </p:txBody>
      </p:sp>
      <p:sp>
        <p:nvSpPr>
          <p:cNvPr id="17" name="Text 15"/>
          <p:cNvSpPr/>
          <p:nvPr/>
        </p:nvSpPr>
        <p:spPr>
          <a:xfrm>
            <a:off x="3129855" y="4303216"/>
            <a:ext cx="2884289" cy="159990"/>
          </a:xfrm>
          <a:prstGeom prst="rect">
            <a:avLst/>
          </a:prstGeom>
          <a:noFill/>
          <a:ln/>
        </p:spPr>
        <p:txBody>
          <a:bodyPr wrap="square" lIns="0" tIns="0" rIns="0" bIns="0" rtlCol="0" anchor="t"/>
          <a:lstStyle/>
          <a:p>
            <a:pPr marL="0" indent="0" algn="ctr">
              <a:lnSpc>
                <a:spcPts val="1260"/>
              </a:lnSpc>
              <a:buNone/>
            </a:pPr>
            <a:r>
              <a:rPr lang="en-US" sz="900" dirty="0">
                <a:solidFill>
                  <a:srgbClr val="34D399"/>
                </a:solidFill>
                <a:latin typeface="Arial" pitchFamily="34" charset="0"/>
                <a:ea typeface="Arial" pitchFamily="34" charset="-122"/>
                <a:cs typeface="Arial" pitchFamily="34" charset="-120"/>
              </a:rPr>
              <a:t>We'll provide pre-built prompts you can use immediately</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3598664" cy="5143500"/>
          </a:xfrm>
          <a:prstGeom prst="rect">
            <a:avLst/>
          </a:prstGeom>
          <a:solidFill>
            <a:srgbClr val="1A1F2E"/>
          </a:solidFill>
          <a:ln/>
        </p:spPr>
        <p:txBody>
          <a:bodyPr wrap="square" rtlCol="0" anchor="ctr"/>
          <a:lstStyle/>
          <a:p>
            <a:pPr marL="0" indent="0">
              <a:buNone/>
            </a:pPr>
            <a:endParaRPr lang="en-US" dirty="0"/>
          </a:p>
        </p:txBody>
      </p:sp>
      <p:sp>
        <p:nvSpPr>
          <p:cNvPr id="3" name="Text 1"/>
          <p:cNvSpPr/>
          <p:nvPr/>
        </p:nvSpPr>
        <p:spPr>
          <a:xfrm>
            <a:off x="266700" y="276820"/>
            <a:ext cx="876449" cy="272355"/>
          </a:xfrm>
          <a:prstGeom prst="rect">
            <a:avLst/>
          </a:prstGeom>
          <a:solidFill>
            <a:srgbClr val="059669"/>
          </a:solidFill>
          <a:ln/>
        </p:spPr>
        <p:txBody>
          <a:bodyPr wrap="square" rtlCol="0" anchor="ctr"/>
          <a:lstStyle/>
          <a:p>
            <a:pPr marL="0" indent="0">
              <a:buNone/>
            </a:pPr>
            <a:endParaRPr lang="en-US" dirty="0"/>
          </a:p>
        </p:txBody>
      </p:sp>
      <p:sp>
        <p:nvSpPr>
          <p:cNvPr id="4" name="Text 2"/>
          <p:cNvSpPr/>
          <p:nvPr/>
        </p:nvSpPr>
        <p:spPr>
          <a:xfrm>
            <a:off x="381000" y="353020"/>
            <a:ext cx="660806" cy="119955"/>
          </a:xfrm>
          <a:prstGeom prst="rect">
            <a:avLst/>
          </a:prstGeom>
          <a:noFill/>
          <a:ln/>
        </p:spPr>
        <p:txBody>
          <a:bodyPr wrap="square" lIns="0" tIns="0" rIns="0" bIns="0" rtlCol="0" anchor="t"/>
          <a:lstStyle/>
          <a:p>
            <a:pPr marL="0" indent="0" algn="l">
              <a:lnSpc>
                <a:spcPts val="945"/>
              </a:lnSpc>
              <a:buNone/>
            </a:pPr>
            <a:r>
              <a:rPr lang="en-US" sz="675" b="1" dirty="0">
                <a:solidFill>
                  <a:srgbClr val="FFFFFF"/>
                </a:solidFill>
                <a:latin typeface="Arial" pitchFamily="34" charset="0"/>
                <a:ea typeface="Arial" pitchFamily="34" charset="-122"/>
                <a:cs typeface="Arial" pitchFamily="34" charset="-120"/>
              </a:rPr>
              <a:t>MODE 1 OF 5</a:t>
            </a:r>
            <a:endParaRPr lang="en-US" sz="675" dirty="0"/>
          </a:p>
        </p:txBody>
      </p:sp>
      <p:sp>
        <p:nvSpPr>
          <p:cNvPr id="5" name="Text 3"/>
          <p:cNvSpPr/>
          <p:nvPr/>
        </p:nvSpPr>
        <p:spPr>
          <a:xfrm>
            <a:off x="266700" y="815876"/>
            <a:ext cx="2079117" cy="548580"/>
          </a:xfrm>
          <a:prstGeom prst="rect">
            <a:avLst/>
          </a:prstGeom>
          <a:noFill/>
          <a:ln/>
        </p:spPr>
        <p:txBody>
          <a:bodyPr wrap="square" lIns="0" tIns="0" rIns="0" bIns="0" rtlCol="0" anchor="t"/>
          <a:lstStyle/>
          <a:p>
            <a:pPr marL="0" indent="0" algn="l">
              <a:lnSpc>
                <a:spcPts val="2160"/>
              </a:lnSpc>
              <a:spcAft>
                <a:spcPts val="900"/>
              </a:spcAft>
              <a:buNone/>
            </a:pPr>
            <a:r>
              <a:rPr lang="en-US" sz="1800" dirty="0">
                <a:solidFill>
                  <a:srgbClr val="FFFFFF"/>
                </a:solidFill>
                <a:latin typeface="Georgia" pitchFamily="34" charset="0"/>
                <a:ea typeface="Georgia" pitchFamily="34" charset="-122"/>
                <a:cs typeface="Georgia" pitchFamily="34" charset="-120"/>
              </a:rPr>
              <a:t>Prompt Enrichment</a:t>
            </a:r>
            <a:endParaRPr lang="en-US" sz="1800" dirty="0"/>
          </a:p>
          <a:p>
            <a:pPr marL="0" indent="0" algn="l">
              <a:lnSpc>
                <a:spcPts val="2160"/>
              </a:lnSpc>
              <a:spcAft>
                <a:spcPts val="900"/>
              </a:spcAft>
              <a:buNone/>
            </a:pPr>
            <a:r>
              <a:rPr lang="en-US" sz="1800" dirty="0">
                <a:solidFill>
                  <a:srgbClr val="FFFFFF"/>
                </a:solidFill>
                <a:latin typeface="Georgia" pitchFamily="34" charset="0"/>
                <a:ea typeface="Georgia" pitchFamily="34" charset="-122"/>
                <a:cs typeface="Georgia" pitchFamily="34" charset="-120"/>
              </a:rPr>
              <a:t>Mode</a:t>
            </a:r>
            <a:endParaRPr lang="en-US" sz="1800" dirty="0"/>
          </a:p>
        </p:txBody>
      </p:sp>
      <p:sp>
        <p:nvSpPr>
          <p:cNvPr id="6" name="Text 4"/>
          <p:cNvSpPr/>
          <p:nvPr/>
        </p:nvSpPr>
        <p:spPr>
          <a:xfrm>
            <a:off x="266700" y="1631156"/>
            <a:ext cx="381000" cy="19050"/>
          </a:xfrm>
          <a:prstGeom prst="rect">
            <a:avLst/>
          </a:prstGeom>
          <a:solidFill>
            <a:srgbClr val="C9A227"/>
          </a:solidFill>
          <a:ln/>
        </p:spPr>
        <p:txBody>
          <a:bodyPr wrap="square" rtlCol="0" anchor="ctr"/>
          <a:lstStyle/>
          <a:p>
            <a:pPr marL="0" indent="0">
              <a:buNone/>
            </a:pPr>
            <a:endParaRPr lang="en-US" dirty="0"/>
          </a:p>
        </p:txBody>
      </p:sp>
      <p:sp>
        <p:nvSpPr>
          <p:cNvPr id="7" name="Text 5"/>
          <p:cNvSpPr/>
          <p:nvPr/>
        </p:nvSpPr>
        <p:spPr>
          <a:xfrm>
            <a:off x="266700" y="1955006"/>
            <a:ext cx="3065264" cy="639961"/>
          </a:xfrm>
          <a:prstGeom prst="rect">
            <a:avLst/>
          </a:prstGeom>
          <a:solidFill>
            <a:srgbClr val="C9A227">
              <a:alpha val="15000"/>
            </a:srgbClr>
          </a:solidFill>
          <a:ln/>
        </p:spPr>
        <p:txBody>
          <a:bodyPr wrap="square" rtlCol="0" anchor="ctr"/>
          <a:lstStyle/>
          <a:p>
            <a:pPr marL="0" indent="0">
              <a:buNone/>
            </a:pPr>
            <a:endParaRPr lang="en-US" dirty="0"/>
          </a:p>
        </p:txBody>
      </p:sp>
      <p:sp>
        <p:nvSpPr>
          <p:cNvPr id="8" name="Shape 6"/>
          <p:cNvSpPr/>
          <p:nvPr/>
        </p:nvSpPr>
        <p:spPr>
          <a:xfrm>
            <a:off x="280988" y="1955006"/>
            <a:ext cx="0" cy="639961"/>
          </a:xfrm>
          <a:prstGeom prst="line">
            <a:avLst/>
          </a:prstGeom>
          <a:noFill/>
          <a:ln w="28575">
            <a:solidFill>
              <a:srgbClr val="C9A227"/>
            </a:solidFill>
            <a:prstDash val="solid"/>
          </a:ln>
        </p:spPr>
        <p:txBody>
          <a:bodyPr/>
          <a:lstStyle/>
          <a:p>
            <a:endParaRPr lang="en-US"/>
          </a:p>
        </p:txBody>
      </p:sp>
      <p:sp>
        <p:nvSpPr>
          <p:cNvPr id="9" name="Text 7"/>
          <p:cNvSpPr/>
          <p:nvPr/>
        </p:nvSpPr>
        <p:spPr>
          <a:xfrm>
            <a:off x="409575" y="2069306"/>
            <a:ext cx="2864251"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C9A227"/>
                </a:solidFill>
                <a:latin typeface="Arial" pitchFamily="34" charset="0"/>
                <a:ea typeface="Arial" pitchFamily="34" charset="-122"/>
                <a:cs typeface="Arial" pitchFamily="34" charset="-120"/>
              </a:rPr>
              <a:t>USE CASE</a:t>
            </a:r>
            <a:endParaRPr lang="en-US" sz="750" dirty="0"/>
          </a:p>
        </p:txBody>
      </p:sp>
      <p:sp>
        <p:nvSpPr>
          <p:cNvPr id="10" name="Text 8"/>
          <p:cNvSpPr/>
          <p:nvPr/>
        </p:nvSpPr>
        <p:spPr>
          <a:xfrm>
            <a:off x="409575" y="2240756"/>
            <a:ext cx="2864251" cy="239911"/>
          </a:xfrm>
          <a:prstGeom prst="rect">
            <a:avLst/>
          </a:prstGeom>
          <a:noFill/>
          <a:ln/>
        </p:spPr>
        <p:txBody>
          <a:bodyPr wrap="square" lIns="0" tIns="0" rIns="0" bIns="0" rtlCol="0" anchor="t"/>
          <a:lstStyle/>
          <a:p>
            <a:pPr marL="0" indent="0" algn="l">
              <a:lnSpc>
                <a:spcPts val="945"/>
              </a:lnSpc>
              <a:buNone/>
            </a:pPr>
            <a:r>
              <a:rPr lang="en-US" sz="675" dirty="0">
                <a:solidFill>
                  <a:srgbClr val="FFFFFF">
                    <a:alpha val="70000"/>
                  </a:srgbClr>
                </a:solidFill>
                <a:latin typeface="Arial" pitchFamily="34" charset="0"/>
                <a:ea typeface="Arial" pitchFamily="34" charset="-122"/>
                <a:cs typeface="Arial" pitchFamily="34" charset="-120"/>
              </a:rPr>
              <a:t>Transform raw spoken thoughts into well-structured prompts for ANY AI tool: Claude, ChatGPT, Cursor, Copilot, etc.</a:t>
            </a:r>
            <a:endParaRPr lang="en-US" sz="675" dirty="0"/>
          </a:p>
        </p:txBody>
      </p:sp>
      <p:sp>
        <p:nvSpPr>
          <p:cNvPr id="11" name="Text 9"/>
          <p:cNvSpPr/>
          <p:nvPr/>
        </p:nvSpPr>
        <p:spPr>
          <a:xfrm>
            <a:off x="266700" y="2861667"/>
            <a:ext cx="3065264" cy="804863"/>
          </a:xfrm>
          <a:prstGeom prst="rect">
            <a:avLst/>
          </a:prstGeom>
          <a:solidFill>
            <a:srgbClr val="FFFFFF">
              <a:alpha val="5000"/>
            </a:srgbClr>
          </a:solidFill>
          <a:ln/>
        </p:spPr>
        <p:txBody>
          <a:bodyPr wrap="square" rtlCol="0" anchor="ctr"/>
          <a:lstStyle/>
          <a:p>
            <a:pPr marL="0" indent="0">
              <a:buNone/>
            </a:pPr>
            <a:endParaRPr lang="en-US" dirty="0"/>
          </a:p>
        </p:txBody>
      </p:sp>
      <p:sp>
        <p:nvSpPr>
          <p:cNvPr id="12" name="Text 10"/>
          <p:cNvSpPr/>
          <p:nvPr/>
        </p:nvSpPr>
        <p:spPr>
          <a:xfrm>
            <a:off x="381000" y="2975967"/>
            <a:ext cx="2893397" cy="133350"/>
          </a:xfrm>
          <a:prstGeom prst="rect">
            <a:avLst/>
          </a:prstGeom>
          <a:noFill/>
          <a:ln/>
        </p:spPr>
        <p:txBody>
          <a:bodyPr wrap="square" lIns="0" tIns="0" rIns="0" bIns="0" rtlCol="0" anchor="t"/>
          <a:lstStyle/>
          <a:p>
            <a:pPr marL="0" indent="0" algn="l">
              <a:lnSpc>
                <a:spcPts val="1050"/>
              </a:lnSpc>
              <a:spcAft>
                <a:spcPts val="450"/>
              </a:spcAft>
              <a:buNone/>
            </a:pPr>
            <a:r>
              <a:rPr lang="en-US" sz="750" b="1" dirty="0">
                <a:solidFill>
                  <a:srgbClr val="FFFFFF"/>
                </a:solidFill>
                <a:latin typeface="Arial" pitchFamily="34" charset="0"/>
                <a:ea typeface="Arial" pitchFamily="34" charset="-122"/>
                <a:cs typeface="Arial" pitchFamily="34" charset="-120"/>
              </a:rPr>
              <a:t>KEY INSIGHT</a:t>
            </a:r>
            <a:endParaRPr lang="en-US" sz="750" dirty="0"/>
          </a:p>
        </p:txBody>
      </p:sp>
      <p:sp>
        <p:nvSpPr>
          <p:cNvPr id="13" name="Text 11"/>
          <p:cNvSpPr/>
          <p:nvPr/>
        </p:nvSpPr>
        <p:spPr>
          <a:xfrm>
            <a:off x="381000" y="3166467"/>
            <a:ext cx="2893397" cy="385763"/>
          </a:xfrm>
          <a:prstGeom prst="rect">
            <a:avLst/>
          </a:prstGeom>
          <a:noFill/>
          <a:ln/>
        </p:spPr>
        <p:txBody>
          <a:bodyPr wrap="square" lIns="0" tIns="0" rIns="0" bIns="0" rtlCol="0" anchor="t"/>
          <a:lstStyle/>
          <a:p>
            <a:pPr marL="0" indent="0" algn="l">
              <a:lnSpc>
                <a:spcPts val="1013"/>
              </a:lnSpc>
              <a:buNone/>
            </a:pPr>
            <a:r>
              <a:rPr lang="en-US" sz="675" dirty="0">
                <a:solidFill>
                  <a:srgbClr val="FFFFFF">
                    <a:alpha val="60000"/>
                  </a:srgbClr>
                </a:solidFill>
                <a:latin typeface="Arial" pitchFamily="34" charset="0"/>
                <a:ea typeface="Arial" pitchFamily="34" charset="-122"/>
                <a:cs typeface="Arial" pitchFamily="34" charset="-120"/>
              </a:rPr>
              <a:t>SuperWhisper is an </a:t>
            </a:r>
            <a:r>
              <a:rPr lang="en-US" sz="675" b="1" dirty="0">
                <a:solidFill>
                  <a:srgbClr val="FFFFFF">
                    <a:alpha val="60000"/>
                  </a:srgbClr>
                </a:solidFill>
                <a:latin typeface="Arial" pitchFamily="34" charset="0"/>
                <a:ea typeface="Arial" pitchFamily="34" charset="-122"/>
                <a:cs typeface="Arial" pitchFamily="34" charset="-120"/>
              </a:rPr>
              <a:t>input method</a:t>
            </a:r>
            <a:r>
              <a:rPr lang="en-US" sz="675" dirty="0">
                <a:solidFill>
                  <a:srgbClr val="FFFFFF">
                    <a:alpha val="60000"/>
                  </a:srgbClr>
                </a:solidFill>
                <a:latin typeface="Arial" pitchFamily="34" charset="0"/>
                <a:ea typeface="Arial" pitchFamily="34" charset="-122"/>
                <a:cs typeface="Arial" pitchFamily="34" charset="-120"/>
              </a:rPr>
              <a:t>,</a:t>
            </a:r>
            <a:endParaRPr lang="en-US" sz="675" dirty="0"/>
          </a:p>
          <a:p>
            <a:pPr marL="0" indent="0" algn="l">
              <a:lnSpc>
                <a:spcPts val="1013"/>
              </a:lnSpc>
              <a:buNone/>
            </a:pPr>
            <a:r>
              <a:rPr lang="en-US" sz="675" dirty="0">
                <a:solidFill>
                  <a:srgbClr val="FFFFFF">
                    <a:alpha val="60000"/>
                  </a:srgbClr>
                </a:solidFill>
                <a:latin typeface="Arial" pitchFamily="34" charset="0"/>
                <a:ea typeface="Arial" pitchFamily="34" charset="-122"/>
                <a:cs typeface="Arial" pitchFamily="34" charset="-120"/>
              </a:rPr>
              <a:t> not a code generator. It prepares</a:t>
            </a:r>
            <a:endParaRPr lang="en-US" sz="675" dirty="0"/>
          </a:p>
          <a:p>
            <a:pPr marL="0" indent="0" algn="l">
              <a:lnSpc>
                <a:spcPts val="1013"/>
              </a:lnSpc>
              <a:buNone/>
            </a:pPr>
            <a:r>
              <a:rPr lang="en-US" sz="675" dirty="0">
                <a:solidFill>
                  <a:srgbClr val="FFFFFF">
                    <a:alpha val="60000"/>
                  </a:srgbClr>
                </a:solidFill>
                <a:latin typeface="Arial" pitchFamily="34" charset="0"/>
                <a:ea typeface="Arial" pitchFamily="34" charset="-122"/>
                <a:cs typeface="Arial" pitchFamily="34" charset="-120"/>
              </a:rPr>
              <a:t> your prompts for another AI to execute.</a:t>
            </a:r>
            <a:endParaRPr lang="en-US" sz="675" dirty="0"/>
          </a:p>
        </p:txBody>
      </p:sp>
      <p:sp>
        <p:nvSpPr>
          <p:cNvPr id="14" name="Text 12"/>
          <p:cNvSpPr/>
          <p:nvPr/>
        </p:nvSpPr>
        <p:spPr>
          <a:xfrm>
            <a:off x="266700" y="3933230"/>
            <a:ext cx="3065264" cy="933450"/>
          </a:xfrm>
          <a:prstGeom prst="rect">
            <a:avLst/>
          </a:prstGeom>
          <a:solidFill>
            <a:srgbClr val="FFFFFF">
              <a:alpha val="5000"/>
            </a:srgbClr>
          </a:solidFill>
          <a:ln/>
        </p:spPr>
        <p:txBody>
          <a:bodyPr wrap="square" rtlCol="0" anchor="ctr"/>
          <a:lstStyle/>
          <a:p>
            <a:pPr marL="0" indent="0">
              <a:buNone/>
            </a:pPr>
            <a:endParaRPr lang="en-US" dirty="0"/>
          </a:p>
        </p:txBody>
      </p:sp>
      <p:sp>
        <p:nvSpPr>
          <p:cNvPr id="15" name="Text 13"/>
          <p:cNvSpPr/>
          <p:nvPr/>
        </p:nvSpPr>
        <p:spPr>
          <a:xfrm>
            <a:off x="381000" y="4047530"/>
            <a:ext cx="2893397" cy="133350"/>
          </a:xfrm>
          <a:prstGeom prst="rect">
            <a:avLst/>
          </a:prstGeom>
          <a:noFill/>
          <a:ln/>
        </p:spPr>
        <p:txBody>
          <a:bodyPr wrap="square" lIns="0" tIns="0" rIns="0" bIns="0" rtlCol="0" anchor="t"/>
          <a:lstStyle/>
          <a:p>
            <a:pPr marL="0" indent="0" algn="l">
              <a:lnSpc>
                <a:spcPts val="1050"/>
              </a:lnSpc>
              <a:spcAft>
                <a:spcPts val="450"/>
              </a:spcAft>
              <a:buNone/>
            </a:pPr>
            <a:r>
              <a:rPr lang="en-US" sz="750" b="1" dirty="0">
                <a:solidFill>
                  <a:srgbClr val="FFFFFF"/>
                </a:solidFill>
                <a:latin typeface="Arial" pitchFamily="34" charset="0"/>
                <a:ea typeface="Arial" pitchFamily="34" charset="-122"/>
                <a:cs typeface="Arial" pitchFamily="34" charset="-120"/>
              </a:rPr>
              <a:t>AUTO-ACTIVATION</a:t>
            </a:r>
            <a:endParaRPr lang="en-US" sz="750" dirty="0"/>
          </a:p>
        </p:txBody>
      </p:sp>
      <p:sp>
        <p:nvSpPr>
          <p:cNvPr id="16" name="Text 14"/>
          <p:cNvSpPr/>
          <p:nvPr/>
        </p:nvSpPr>
        <p:spPr>
          <a:xfrm>
            <a:off x="381000" y="4238030"/>
            <a:ext cx="2893397" cy="514350"/>
          </a:xfrm>
          <a:prstGeom prst="rect">
            <a:avLst/>
          </a:prstGeom>
          <a:noFill/>
          <a:ln/>
        </p:spPr>
        <p:txBody>
          <a:bodyPr wrap="square" lIns="0" tIns="0" rIns="0" bIns="0" rtlCol="0" anchor="t"/>
          <a:lstStyle/>
          <a:p>
            <a:pPr marL="0" indent="0" algn="l">
              <a:lnSpc>
                <a:spcPts val="1013"/>
              </a:lnSpc>
              <a:buNone/>
            </a:pPr>
            <a:r>
              <a:rPr lang="en-US" sz="675" dirty="0">
                <a:solidFill>
                  <a:srgbClr val="FFFFFF">
                    <a:alpha val="60000"/>
                  </a:srgbClr>
                </a:solidFill>
                <a:latin typeface="Arial" pitchFamily="34" charset="0"/>
                <a:ea typeface="Arial" pitchFamily="34" charset="-122"/>
                <a:cs typeface="Arial" pitchFamily="34" charset="-120"/>
              </a:rPr>
              <a:t>ChatGPT / Claude.ai</a:t>
            </a:r>
            <a:endParaRPr lang="en-US" sz="675" dirty="0"/>
          </a:p>
          <a:p>
            <a:pPr marL="0" indent="0" algn="l">
              <a:lnSpc>
                <a:spcPts val="1013"/>
              </a:lnSpc>
              <a:buNone/>
            </a:pPr>
            <a:r>
              <a:rPr lang="en-US" sz="675" dirty="0">
                <a:solidFill>
                  <a:srgbClr val="FFFFFF">
                    <a:alpha val="60000"/>
                  </a:srgbClr>
                </a:solidFill>
                <a:latin typeface="Arial" pitchFamily="34" charset="0"/>
                <a:ea typeface="Arial" pitchFamily="34" charset="-122"/>
                <a:cs typeface="Arial" pitchFamily="34" charset="-120"/>
              </a:rPr>
              <a:t> Cursor AI input</a:t>
            </a:r>
            <a:endParaRPr lang="en-US" sz="675" dirty="0"/>
          </a:p>
          <a:p>
            <a:pPr marL="0" indent="0" algn="l">
              <a:lnSpc>
                <a:spcPts val="1013"/>
              </a:lnSpc>
              <a:buNone/>
            </a:pPr>
            <a:r>
              <a:rPr lang="en-US" sz="675" dirty="0">
                <a:solidFill>
                  <a:srgbClr val="FFFFFF">
                    <a:alpha val="60000"/>
                  </a:srgbClr>
                </a:solidFill>
                <a:latin typeface="Arial" pitchFamily="34" charset="0"/>
                <a:ea typeface="Arial" pitchFamily="34" charset="-122"/>
                <a:cs typeface="Arial" pitchFamily="34" charset="-120"/>
              </a:rPr>
              <a:t> Copilot Chat</a:t>
            </a:r>
            <a:endParaRPr lang="en-US" sz="675" dirty="0"/>
          </a:p>
          <a:p>
            <a:pPr marL="0" indent="0" algn="l">
              <a:lnSpc>
                <a:spcPts val="1013"/>
              </a:lnSpc>
              <a:buNone/>
            </a:pPr>
            <a:r>
              <a:rPr lang="en-US" sz="675" dirty="0">
                <a:solidFill>
                  <a:srgbClr val="FFFFFF">
                    <a:alpha val="60000"/>
                  </a:srgbClr>
                </a:solidFill>
                <a:latin typeface="Arial" pitchFamily="34" charset="0"/>
                <a:ea typeface="Arial" pitchFamily="34" charset="-122"/>
                <a:cs typeface="Arial" pitchFamily="34" charset="-120"/>
              </a:rPr>
              <a:t> Any AI prompt field</a:t>
            </a:r>
            <a:endParaRPr lang="en-US" sz="675" dirty="0"/>
          </a:p>
        </p:txBody>
      </p:sp>
      <p:sp>
        <p:nvSpPr>
          <p:cNvPr id="17" name="Text 15"/>
          <p:cNvSpPr/>
          <p:nvPr/>
        </p:nvSpPr>
        <p:spPr>
          <a:xfrm>
            <a:off x="3751064" y="0"/>
            <a:ext cx="5392936" cy="5143500"/>
          </a:xfrm>
          <a:prstGeom prst="rect">
            <a:avLst/>
          </a:prstGeom>
          <a:solidFill>
            <a:srgbClr val="F7F8FA"/>
          </a:solidFill>
          <a:ln/>
        </p:spPr>
        <p:txBody>
          <a:bodyPr wrap="square" rtlCol="0" anchor="ctr"/>
          <a:lstStyle/>
          <a:p>
            <a:pPr marL="0" indent="0">
              <a:buNone/>
            </a:pPr>
            <a:endParaRPr lang="en-US" dirty="0"/>
          </a:p>
        </p:txBody>
      </p:sp>
      <p:sp>
        <p:nvSpPr>
          <p:cNvPr id="18" name="Text 16"/>
          <p:cNvSpPr/>
          <p:nvPr/>
        </p:nvSpPr>
        <p:spPr>
          <a:xfrm>
            <a:off x="4017764" y="337840"/>
            <a:ext cx="4956727" cy="159990"/>
          </a:xfrm>
          <a:prstGeom prst="rect">
            <a:avLst/>
          </a:prstGeom>
          <a:noFill/>
          <a:ln/>
        </p:spPr>
        <p:txBody>
          <a:bodyPr wrap="square" lIns="0" tIns="0" rIns="0" bIns="0" rtlCol="0" anchor="t"/>
          <a:lstStyle/>
          <a:p>
            <a:pPr marL="0" indent="0" algn="l">
              <a:lnSpc>
                <a:spcPts val="1260"/>
              </a:lnSpc>
              <a:spcAft>
                <a:spcPts val="900"/>
              </a:spcAft>
              <a:buNone/>
            </a:pPr>
            <a:r>
              <a:rPr lang="en-US" sz="900" b="1" dirty="0">
                <a:solidFill>
                  <a:srgbClr val="1A1F2E"/>
                </a:solidFill>
                <a:latin typeface="Arial" pitchFamily="34" charset="0"/>
                <a:ea typeface="Arial" pitchFamily="34" charset="-122"/>
                <a:cs typeface="Arial" pitchFamily="34" charset="-120"/>
              </a:rPr>
              <a:t>SAMPLE AI INSTRUCTIONS</a:t>
            </a:r>
            <a:endParaRPr lang="en-US" sz="900" dirty="0"/>
          </a:p>
        </p:txBody>
      </p:sp>
      <p:sp>
        <p:nvSpPr>
          <p:cNvPr id="19" name="Text 17"/>
          <p:cNvSpPr/>
          <p:nvPr/>
        </p:nvSpPr>
        <p:spPr>
          <a:xfrm>
            <a:off x="4017764" y="764530"/>
            <a:ext cx="4859536" cy="2422327"/>
          </a:xfrm>
          <a:prstGeom prst="rect">
            <a:avLst/>
          </a:prstGeom>
          <a:solidFill>
            <a:srgbClr val="1A1F2E"/>
          </a:solidFill>
          <a:ln/>
        </p:spPr>
        <p:txBody>
          <a:bodyPr wrap="square" rtlCol="0" anchor="ctr"/>
          <a:lstStyle/>
          <a:p>
            <a:pPr marL="0" indent="0">
              <a:buNone/>
            </a:pPr>
            <a:endParaRPr lang="en-US" dirty="0"/>
          </a:p>
        </p:txBody>
      </p:sp>
      <p:sp>
        <p:nvSpPr>
          <p:cNvPr id="20" name="Text 18"/>
          <p:cNvSpPr/>
          <p:nvPr/>
        </p:nvSpPr>
        <p:spPr>
          <a:xfrm>
            <a:off x="4170164" y="916930"/>
            <a:ext cx="4645831" cy="106561"/>
          </a:xfrm>
          <a:prstGeom prst="rect">
            <a:avLst/>
          </a:prstGeom>
          <a:noFill/>
          <a:ln/>
        </p:spPr>
        <p:txBody>
          <a:bodyPr wrap="square" lIns="0" tIns="0" rIns="0" bIns="0" rtlCol="0" anchor="t"/>
          <a:lstStyle/>
          <a:p>
            <a:pPr marL="0" indent="0" algn="l">
              <a:lnSpc>
                <a:spcPts val="840"/>
              </a:lnSpc>
              <a:spcAft>
                <a:spcPts val="450"/>
              </a:spcAft>
              <a:buNone/>
            </a:pPr>
            <a:r>
              <a:rPr lang="en-US" sz="600" dirty="0">
                <a:solidFill>
                  <a:srgbClr val="C9A227"/>
                </a:solidFill>
                <a:latin typeface="Arial" pitchFamily="34" charset="0"/>
                <a:ea typeface="Arial" pitchFamily="34" charset="-122"/>
                <a:cs typeface="Arial" pitchFamily="34" charset="-120"/>
              </a:rPr>
              <a:t>&lt;role&gt;</a:t>
            </a:r>
            <a:endParaRPr lang="en-US" sz="600" dirty="0"/>
          </a:p>
        </p:txBody>
      </p:sp>
      <p:sp>
        <p:nvSpPr>
          <p:cNvPr id="21" name="Text 19"/>
          <p:cNvSpPr/>
          <p:nvPr/>
        </p:nvSpPr>
        <p:spPr>
          <a:xfrm>
            <a:off x="4170164" y="1080641"/>
            <a:ext cx="4645831" cy="106561"/>
          </a:xfrm>
          <a:prstGeom prst="rect">
            <a:avLst/>
          </a:prstGeom>
          <a:noFill/>
          <a:ln/>
        </p:spPr>
        <p:txBody>
          <a:bodyPr wrap="square" lIns="76200" tIns="0" rIns="0" bIns="0" rtlCol="0" anchor="t"/>
          <a:lstStyle/>
          <a:p>
            <a:pPr marL="0" indent="0" algn="l">
              <a:lnSpc>
                <a:spcPts val="840"/>
              </a:lnSpc>
              <a:spcAft>
                <a:spcPts val="450"/>
              </a:spcAft>
              <a:buNone/>
            </a:pPr>
            <a:r>
              <a:rPr lang="en-US" sz="600" dirty="0">
                <a:solidFill>
                  <a:srgbClr val="FFFFFF">
                    <a:alpha val="85000"/>
                  </a:srgbClr>
                </a:solidFill>
                <a:latin typeface="Arial" pitchFamily="34" charset="0"/>
                <a:ea typeface="Arial" pitchFamily="34" charset="-122"/>
                <a:cs typeface="Arial" pitchFamily="34" charset="-120"/>
              </a:rPr>
              <a:t>You are a prompt engineer preparing input for AI assistants</a:t>
            </a:r>
            <a:endParaRPr lang="en-US" sz="600" dirty="0"/>
          </a:p>
        </p:txBody>
      </p:sp>
      <p:sp>
        <p:nvSpPr>
          <p:cNvPr id="22" name="Text 20"/>
          <p:cNvSpPr/>
          <p:nvPr/>
        </p:nvSpPr>
        <p:spPr>
          <a:xfrm>
            <a:off x="4170164" y="1244352"/>
            <a:ext cx="4645831" cy="106561"/>
          </a:xfrm>
          <a:prstGeom prst="rect">
            <a:avLst/>
          </a:prstGeom>
          <a:noFill/>
          <a:ln/>
        </p:spPr>
        <p:txBody>
          <a:bodyPr wrap="square" lIns="0" tIns="0" rIns="0" bIns="0" rtlCol="0" anchor="t"/>
          <a:lstStyle/>
          <a:p>
            <a:pPr marL="0" indent="0" algn="l">
              <a:lnSpc>
                <a:spcPts val="840"/>
              </a:lnSpc>
              <a:spcAft>
                <a:spcPts val="450"/>
              </a:spcAft>
              <a:buNone/>
            </a:pPr>
            <a:r>
              <a:rPr lang="en-US" sz="600" dirty="0">
                <a:solidFill>
                  <a:srgbClr val="C9A227"/>
                </a:solidFill>
                <a:latin typeface="Arial" pitchFamily="34" charset="0"/>
                <a:ea typeface="Arial" pitchFamily="34" charset="-122"/>
                <a:cs typeface="Arial" pitchFamily="34" charset="-120"/>
              </a:rPr>
              <a:t>&lt;/role&gt;</a:t>
            </a:r>
            <a:endParaRPr lang="en-US" sz="600" dirty="0"/>
          </a:p>
        </p:txBody>
      </p:sp>
      <p:sp>
        <p:nvSpPr>
          <p:cNvPr id="23" name="Text 21"/>
          <p:cNvSpPr/>
          <p:nvPr/>
        </p:nvSpPr>
        <p:spPr>
          <a:xfrm>
            <a:off x="4170164" y="1408063"/>
            <a:ext cx="4645831" cy="106561"/>
          </a:xfrm>
          <a:prstGeom prst="rect">
            <a:avLst/>
          </a:prstGeom>
          <a:noFill/>
          <a:ln/>
        </p:spPr>
        <p:txBody>
          <a:bodyPr wrap="square" lIns="0" tIns="0" rIns="0" bIns="0" rtlCol="0" anchor="t"/>
          <a:lstStyle/>
          <a:p>
            <a:pPr marL="0" indent="0" algn="l">
              <a:lnSpc>
                <a:spcPts val="840"/>
              </a:lnSpc>
              <a:spcAft>
                <a:spcPts val="450"/>
              </a:spcAft>
              <a:buNone/>
            </a:pPr>
            <a:r>
              <a:rPr lang="en-US" sz="600" dirty="0">
                <a:solidFill>
                  <a:srgbClr val="C9A227"/>
                </a:solidFill>
                <a:latin typeface="Arial" pitchFamily="34" charset="0"/>
                <a:ea typeface="Arial" pitchFamily="34" charset="-122"/>
                <a:cs typeface="Arial" pitchFamily="34" charset="-120"/>
              </a:rPr>
              <a:t>&lt;instructions&gt;</a:t>
            </a:r>
            <a:endParaRPr lang="en-US" sz="600" dirty="0"/>
          </a:p>
        </p:txBody>
      </p:sp>
      <p:sp>
        <p:nvSpPr>
          <p:cNvPr id="24" name="Text 22"/>
          <p:cNvSpPr/>
          <p:nvPr/>
        </p:nvSpPr>
        <p:spPr>
          <a:xfrm>
            <a:off x="4170164" y="1571774"/>
            <a:ext cx="4645831" cy="342900"/>
          </a:xfrm>
          <a:prstGeom prst="rect">
            <a:avLst/>
          </a:prstGeom>
          <a:noFill/>
          <a:ln/>
        </p:spPr>
        <p:txBody>
          <a:bodyPr wrap="square" lIns="76200" tIns="0" rIns="0" bIns="0" rtlCol="0" anchor="t"/>
          <a:lstStyle/>
          <a:p>
            <a:pPr marL="0" indent="0" algn="l">
              <a:lnSpc>
                <a:spcPts val="900"/>
              </a:lnSpc>
              <a:spcAft>
                <a:spcPts val="450"/>
              </a:spcAft>
              <a:buNone/>
            </a:pPr>
            <a:r>
              <a:rPr lang="en-US" sz="600" dirty="0">
                <a:solidFill>
                  <a:srgbClr val="FFFFFF">
                    <a:alpha val="85000"/>
                  </a:srgbClr>
                </a:solidFill>
                <a:latin typeface="Arial" pitchFamily="34" charset="0"/>
                <a:ea typeface="Arial" pitchFamily="34" charset="-122"/>
                <a:cs typeface="Arial" pitchFamily="34" charset="-120"/>
              </a:rPr>
              <a:t>The User Message is raw dictated speech.</a:t>
            </a:r>
            <a:endParaRPr lang="en-US" sz="600" dirty="0"/>
          </a:p>
          <a:p>
            <a:pPr marL="0" indent="0" algn="l">
              <a:lnSpc>
                <a:spcPts val="900"/>
              </a:lnSpc>
              <a:spcAft>
                <a:spcPts val="450"/>
              </a:spcAft>
              <a:buNone/>
            </a:pPr>
            <a:r>
              <a:rPr lang="en-US" sz="600" dirty="0">
                <a:solidFill>
                  <a:srgbClr val="FFFFFF">
                    <a:alpha val="85000"/>
                  </a:srgbClr>
                </a:solidFill>
                <a:latin typeface="Arial" pitchFamily="34" charset="0"/>
                <a:ea typeface="Arial" pitchFamily="34" charset="-122"/>
                <a:cs typeface="Arial" pitchFamily="34" charset="-120"/>
              </a:rPr>
              <a:t> Reformat it as a clear, effective prompt</a:t>
            </a:r>
            <a:endParaRPr lang="en-US" sz="600" dirty="0"/>
          </a:p>
          <a:p>
            <a:pPr marL="0" indent="0" algn="l">
              <a:lnSpc>
                <a:spcPts val="900"/>
              </a:lnSpc>
              <a:spcAft>
                <a:spcPts val="450"/>
              </a:spcAft>
              <a:buNone/>
            </a:pPr>
            <a:r>
              <a:rPr lang="en-US" sz="600" dirty="0">
                <a:solidFill>
                  <a:srgbClr val="FFFFFF">
                    <a:alpha val="85000"/>
                  </a:srgbClr>
                </a:solidFill>
                <a:latin typeface="Arial" pitchFamily="34" charset="0"/>
                <a:ea typeface="Arial" pitchFamily="34" charset="-122"/>
                <a:cs typeface="Arial" pitchFamily="34" charset="-120"/>
              </a:rPr>
              <a:t> ready to paste into an AI tool.</a:t>
            </a:r>
            <a:endParaRPr lang="en-US" sz="600" dirty="0"/>
          </a:p>
        </p:txBody>
      </p:sp>
      <p:sp>
        <p:nvSpPr>
          <p:cNvPr id="25" name="Text 23"/>
          <p:cNvSpPr/>
          <p:nvPr/>
        </p:nvSpPr>
        <p:spPr>
          <a:xfrm>
            <a:off x="4177004" y="2032546"/>
            <a:ext cx="4645831" cy="106561"/>
          </a:xfrm>
          <a:prstGeom prst="rect">
            <a:avLst/>
          </a:prstGeom>
          <a:noFill/>
          <a:ln/>
        </p:spPr>
        <p:txBody>
          <a:bodyPr wrap="square" lIns="0" tIns="0" rIns="0" bIns="0" rtlCol="0" anchor="t"/>
          <a:lstStyle/>
          <a:p>
            <a:pPr marL="0" indent="0" algn="l">
              <a:lnSpc>
                <a:spcPts val="840"/>
              </a:lnSpc>
              <a:spcAft>
                <a:spcPts val="450"/>
              </a:spcAft>
              <a:buNone/>
            </a:pPr>
            <a:r>
              <a:rPr lang="en-US" sz="600" dirty="0">
                <a:solidFill>
                  <a:srgbClr val="C9A227"/>
                </a:solidFill>
                <a:latin typeface="Arial" pitchFamily="34" charset="0"/>
                <a:ea typeface="Arial" pitchFamily="34" charset="-122"/>
                <a:cs typeface="Arial" pitchFamily="34" charset="-120"/>
              </a:rPr>
              <a:t>&lt;/instructions&gt;</a:t>
            </a:r>
            <a:endParaRPr lang="en-US" sz="600" dirty="0"/>
          </a:p>
        </p:txBody>
      </p:sp>
      <p:sp>
        <p:nvSpPr>
          <p:cNvPr id="26" name="Text 24"/>
          <p:cNvSpPr/>
          <p:nvPr/>
        </p:nvSpPr>
        <p:spPr>
          <a:xfrm>
            <a:off x="4170164" y="2135535"/>
            <a:ext cx="4645831" cy="106561"/>
          </a:xfrm>
          <a:prstGeom prst="rect">
            <a:avLst/>
          </a:prstGeom>
          <a:noFill/>
          <a:ln/>
        </p:spPr>
        <p:txBody>
          <a:bodyPr wrap="square" lIns="0" tIns="0" rIns="0" bIns="0" rtlCol="0" anchor="t"/>
          <a:lstStyle/>
          <a:p>
            <a:pPr marL="0" indent="0" algn="l">
              <a:lnSpc>
                <a:spcPts val="840"/>
              </a:lnSpc>
              <a:spcAft>
                <a:spcPts val="450"/>
              </a:spcAft>
              <a:buNone/>
            </a:pPr>
            <a:r>
              <a:rPr lang="en-US" sz="600" dirty="0">
                <a:solidFill>
                  <a:srgbClr val="C9A227"/>
                </a:solidFill>
                <a:latin typeface="Arial" pitchFamily="34" charset="0"/>
                <a:ea typeface="Arial" pitchFamily="34" charset="-122"/>
                <a:cs typeface="Arial" pitchFamily="34" charset="-120"/>
              </a:rPr>
              <a:t>&lt;requirements&gt;</a:t>
            </a:r>
            <a:endParaRPr lang="en-US" sz="600" dirty="0"/>
          </a:p>
        </p:txBody>
      </p:sp>
      <p:sp>
        <p:nvSpPr>
          <p:cNvPr id="27" name="Text 25"/>
          <p:cNvSpPr/>
          <p:nvPr/>
        </p:nvSpPr>
        <p:spPr>
          <a:xfrm>
            <a:off x="4170164" y="2299246"/>
            <a:ext cx="4645831" cy="571500"/>
          </a:xfrm>
          <a:prstGeom prst="rect">
            <a:avLst/>
          </a:prstGeom>
          <a:noFill/>
          <a:ln/>
        </p:spPr>
        <p:txBody>
          <a:bodyPr wrap="square" lIns="76200" tIns="0" rIns="0" bIns="0" rtlCol="0" anchor="t"/>
          <a:lstStyle/>
          <a:p>
            <a:pPr marL="0" indent="0" algn="l">
              <a:lnSpc>
                <a:spcPts val="900"/>
              </a:lnSpc>
              <a:buNone/>
            </a:pPr>
            <a:r>
              <a:rPr lang="en-US" sz="600" dirty="0">
                <a:solidFill>
                  <a:srgbClr val="FFFFFF">
                    <a:alpha val="85000"/>
                  </a:srgbClr>
                </a:solidFill>
                <a:latin typeface="Arial" pitchFamily="34" charset="0"/>
                <a:ea typeface="Arial" pitchFamily="34" charset="-122"/>
                <a:cs typeface="Arial" pitchFamily="34" charset="-120"/>
              </a:rPr>
              <a:t>Clarify intent and scope</a:t>
            </a:r>
            <a:endParaRPr lang="en-US" sz="600" dirty="0"/>
          </a:p>
          <a:p>
            <a:pPr marL="0" indent="0" algn="l">
              <a:lnSpc>
                <a:spcPts val="900"/>
              </a:lnSpc>
              <a:buNone/>
            </a:pPr>
            <a:r>
              <a:rPr lang="en-US" sz="600" dirty="0">
                <a:solidFill>
                  <a:srgbClr val="FFFFFF">
                    <a:alpha val="85000"/>
                  </a:srgbClr>
                </a:solidFill>
                <a:latin typeface="Arial" pitchFamily="34" charset="0"/>
                <a:ea typeface="Arial" pitchFamily="34" charset="-122"/>
                <a:cs typeface="Arial" pitchFamily="34" charset="-120"/>
              </a:rPr>
              <a:t> Add structure (numbered steps if complex)</a:t>
            </a:r>
            <a:endParaRPr lang="en-US" sz="600" dirty="0"/>
          </a:p>
          <a:p>
            <a:pPr marL="0" indent="0" algn="l">
              <a:lnSpc>
                <a:spcPts val="900"/>
              </a:lnSpc>
              <a:buNone/>
            </a:pPr>
            <a:r>
              <a:rPr lang="en-US" sz="600" dirty="0">
                <a:solidFill>
                  <a:srgbClr val="FFFFFF">
                    <a:alpha val="85000"/>
                  </a:srgbClr>
                </a:solidFill>
                <a:latin typeface="Arial" pitchFamily="34" charset="0"/>
                <a:ea typeface="Arial" pitchFamily="34" charset="-122"/>
                <a:cs typeface="Arial" pitchFamily="34" charset="-120"/>
              </a:rPr>
              <a:t> Preserve technical terms exactly</a:t>
            </a:r>
            <a:endParaRPr lang="en-US" sz="600" dirty="0"/>
          </a:p>
          <a:p>
            <a:pPr marL="0" indent="0" algn="l">
              <a:lnSpc>
                <a:spcPts val="900"/>
              </a:lnSpc>
              <a:buNone/>
            </a:pPr>
            <a:r>
              <a:rPr lang="en-US" sz="600" dirty="0">
                <a:solidFill>
                  <a:srgbClr val="FFFFFF">
                    <a:alpha val="85000"/>
                  </a:srgbClr>
                </a:solidFill>
                <a:latin typeface="Arial" pitchFamily="34" charset="0"/>
                <a:ea typeface="Arial" pitchFamily="34" charset="-122"/>
                <a:cs typeface="Arial" pitchFamily="34" charset="-120"/>
              </a:rPr>
              <a:t> Remove filler words ("um", "like", etc.)</a:t>
            </a:r>
            <a:endParaRPr lang="en-US" sz="600" dirty="0"/>
          </a:p>
          <a:p>
            <a:pPr marL="0" indent="0" algn="l">
              <a:lnSpc>
                <a:spcPts val="900"/>
              </a:lnSpc>
              <a:buNone/>
            </a:pPr>
            <a:r>
              <a:rPr lang="en-US" sz="600" dirty="0">
                <a:solidFill>
                  <a:srgbClr val="FFFFFF">
                    <a:alpha val="85000"/>
                  </a:srgbClr>
                </a:solidFill>
                <a:latin typeface="Arial" pitchFamily="34" charset="0"/>
                <a:ea typeface="Arial" pitchFamily="34" charset="-122"/>
                <a:cs typeface="Arial" pitchFamily="34" charset="-120"/>
              </a:rPr>
              <a:t> Keep the user's voice and intent</a:t>
            </a:r>
            <a:endParaRPr lang="en-US" sz="600" dirty="0"/>
          </a:p>
        </p:txBody>
      </p:sp>
      <p:sp>
        <p:nvSpPr>
          <p:cNvPr id="28" name="Text 26"/>
          <p:cNvSpPr/>
          <p:nvPr/>
        </p:nvSpPr>
        <p:spPr>
          <a:xfrm>
            <a:off x="4170164" y="2927896"/>
            <a:ext cx="4645831" cy="106561"/>
          </a:xfrm>
          <a:prstGeom prst="rect">
            <a:avLst/>
          </a:prstGeom>
          <a:noFill/>
          <a:ln/>
        </p:spPr>
        <p:txBody>
          <a:bodyPr wrap="square" lIns="0" tIns="0" rIns="0" bIns="0" rtlCol="0" anchor="t"/>
          <a:lstStyle/>
          <a:p>
            <a:pPr marL="0" indent="0" algn="l">
              <a:lnSpc>
                <a:spcPts val="840"/>
              </a:lnSpc>
              <a:spcBef>
                <a:spcPts val="450"/>
              </a:spcBef>
              <a:buNone/>
            </a:pPr>
            <a:r>
              <a:rPr lang="en-US" sz="600" dirty="0">
                <a:solidFill>
                  <a:srgbClr val="C9A227"/>
                </a:solidFill>
                <a:latin typeface="Arial" pitchFamily="34" charset="0"/>
                <a:ea typeface="Arial" pitchFamily="34" charset="-122"/>
                <a:cs typeface="Arial" pitchFamily="34" charset="-120"/>
              </a:rPr>
              <a:t>&lt;/requirements&gt;</a:t>
            </a:r>
            <a:endParaRPr lang="en-US" sz="600" dirty="0"/>
          </a:p>
        </p:txBody>
      </p:sp>
      <p:sp>
        <p:nvSpPr>
          <p:cNvPr id="29" name="Text 27"/>
          <p:cNvSpPr/>
          <p:nvPr/>
        </p:nvSpPr>
        <p:spPr>
          <a:xfrm>
            <a:off x="4017764" y="3516362"/>
            <a:ext cx="2386905" cy="668238"/>
          </a:xfrm>
          <a:prstGeom prst="rect">
            <a:avLst/>
          </a:prstGeom>
          <a:solidFill>
            <a:srgbClr val="DCFCE7"/>
          </a:solidFill>
          <a:ln/>
        </p:spPr>
        <p:txBody>
          <a:bodyPr wrap="square" rtlCol="0" anchor="ctr"/>
          <a:lstStyle/>
          <a:p>
            <a:pPr marL="0" indent="0">
              <a:buNone/>
            </a:pPr>
            <a:endParaRPr lang="en-US" dirty="0"/>
          </a:p>
        </p:txBody>
      </p:sp>
      <p:sp>
        <p:nvSpPr>
          <p:cNvPr id="30" name="Shape 28"/>
          <p:cNvSpPr/>
          <p:nvPr/>
        </p:nvSpPr>
        <p:spPr>
          <a:xfrm>
            <a:off x="4032052" y="3516362"/>
            <a:ext cx="0" cy="668238"/>
          </a:xfrm>
          <a:prstGeom prst="line">
            <a:avLst/>
          </a:prstGeom>
          <a:noFill/>
          <a:ln w="28575">
            <a:solidFill>
              <a:srgbClr val="059669"/>
            </a:solidFill>
            <a:prstDash val="solid"/>
          </a:ln>
        </p:spPr>
        <p:txBody>
          <a:bodyPr/>
          <a:lstStyle/>
          <a:p>
            <a:endParaRPr lang="en-US"/>
          </a:p>
        </p:txBody>
      </p:sp>
      <p:sp>
        <p:nvSpPr>
          <p:cNvPr id="31" name="Text 29"/>
          <p:cNvSpPr/>
          <p:nvPr/>
        </p:nvSpPr>
        <p:spPr>
          <a:xfrm>
            <a:off x="4141589" y="3611612"/>
            <a:ext cx="2211187" cy="119955"/>
          </a:xfrm>
          <a:prstGeom prst="rect">
            <a:avLst/>
          </a:prstGeom>
          <a:noFill/>
          <a:ln/>
        </p:spPr>
        <p:txBody>
          <a:bodyPr wrap="square" lIns="0" tIns="0" rIns="0" bIns="0" rtlCol="0" anchor="t"/>
          <a:lstStyle/>
          <a:p>
            <a:pPr marL="0" indent="0" algn="l">
              <a:lnSpc>
                <a:spcPts val="945"/>
              </a:lnSpc>
              <a:spcAft>
                <a:spcPts val="300"/>
              </a:spcAft>
              <a:buNone/>
            </a:pPr>
            <a:r>
              <a:rPr lang="en-US" sz="675" b="1" dirty="0">
                <a:solidFill>
                  <a:srgbClr val="166534"/>
                </a:solidFill>
                <a:latin typeface="Arial" pitchFamily="34" charset="0"/>
                <a:ea typeface="Arial" pitchFamily="34" charset="-122"/>
                <a:cs typeface="Arial" pitchFamily="34" charset="-120"/>
              </a:rPr>
              <a:t>RAW SPEECH</a:t>
            </a:r>
            <a:endParaRPr lang="en-US" sz="675" dirty="0"/>
          </a:p>
        </p:txBody>
      </p:sp>
      <p:sp>
        <p:nvSpPr>
          <p:cNvPr id="32" name="Text 30"/>
          <p:cNvSpPr/>
          <p:nvPr/>
        </p:nvSpPr>
        <p:spPr>
          <a:xfrm>
            <a:off x="4141589" y="3769668"/>
            <a:ext cx="2211187" cy="319683"/>
          </a:xfrm>
          <a:prstGeom prst="rect">
            <a:avLst/>
          </a:prstGeom>
          <a:noFill/>
          <a:ln/>
        </p:spPr>
        <p:txBody>
          <a:bodyPr wrap="square" lIns="0" tIns="0" rIns="0" bIns="0" rtlCol="0" anchor="t"/>
          <a:lstStyle/>
          <a:p>
            <a:pPr marL="0" indent="0" algn="l">
              <a:lnSpc>
                <a:spcPts val="840"/>
              </a:lnSpc>
              <a:buNone/>
            </a:pPr>
            <a:r>
              <a:rPr lang="en-US" sz="600" dirty="0">
                <a:solidFill>
                  <a:srgbClr val="166534"/>
                </a:solidFill>
                <a:latin typeface="Arial" pitchFamily="34" charset="0"/>
                <a:ea typeface="Arial" pitchFamily="34" charset="-122"/>
                <a:cs typeface="Arial" pitchFamily="34" charset="-120"/>
              </a:rPr>
              <a:t>"okay so um I need like a function that takes a list of users and filters them by um you know active status and then sorts by last login date"</a:t>
            </a:r>
            <a:endParaRPr lang="en-US" sz="600" dirty="0"/>
          </a:p>
        </p:txBody>
      </p:sp>
      <p:sp>
        <p:nvSpPr>
          <p:cNvPr id="33" name="Text 31"/>
          <p:cNvSpPr/>
          <p:nvPr/>
        </p:nvSpPr>
        <p:spPr>
          <a:xfrm>
            <a:off x="6499920" y="3453557"/>
            <a:ext cx="2377380" cy="793849"/>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34" name="Text 32"/>
          <p:cNvSpPr/>
          <p:nvPr/>
        </p:nvSpPr>
        <p:spPr>
          <a:xfrm>
            <a:off x="6604695" y="3558332"/>
            <a:ext cx="2211187" cy="119955"/>
          </a:xfrm>
          <a:prstGeom prst="rect">
            <a:avLst/>
          </a:prstGeom>
          <a:noFill/>
          <a:ln/>
        </p:spPr>
        <p:txBody>
          <a:bodyPr wrap="square" lIns="0" tIns="0" rIns="0" bIns="0" rtlCol="0" anchor="t"/>
          <a:lstStyle/>
          <a:p>
            <a:pPr marL="0" indent="0" algn="l">
              <a:lnSpc>
                <a:spcPts val="945"/>
              </a:lnSpc>
              <a:spcAft>
                <a:spcPts val="300"/>
              </a:spcAft>
              <a:buNone/>
            </a:pPr>
            <a:r>
              <a:rPr lang="en-US" sz="675" b="1" dirty="0">
                <a:solidFill>
                  <a:srgbClr val="1A1F2E"/>
                </a:solidFill>
                <a:latin typeface="Arial" pitchFamily="34" charset="0"/>
                <a:ea typeface="Arial" pitchFamily="34" charset="-122"/>
                <a:cs typeface="Arial" pitchFamily="34" charset="-120"/>
              </a:rPr>
              <a:t>ENRICHED PROMPT</a:t>
            </a:r>
            <a:endParaRPr lang="en-US" sz="675" dirty="0"/>
          </a:p>
        </p:txBody>
      </p:sp>
      <p:sp>
        <p:nvSpPr>
          <p:cNvPr id="35" name="Text 33"/>
          <p:cNvSpPr/>
          <p:nvPr/>
        </p:nvSpPr>
        <p:spPr>
          <a:xfrm>
            <a:off x="6604695" y="3716387"/>
            <a:ext cx="2211187" cy="426244"/>
          </a:xfrm>
          <a:prstGeom prst="rect">
            <a:avLst/>
          </a:prstGeom>
          <a:noFill/>
          <a:ln/>
        </p:spPr>
        <p:txBody>
          <a:bodyPr wrap="square" lIns="0" tIns="0" rIns="0" bIns="0" rtlCol="0" anchor="t"/>
          <a:lstStyle/>
          <a:p>
            <a:pPr marL="0" indent="0" algn="l">
              <a:lnSpc>
                <a:spcPts val="840"/>
              </a:lnSpc>
              <a:buNone/>
            </a:pPr>
            <a:r>
              <a:rPr lang="en-US" sz="600" dirty="0">
                <a:solidFill>
                  <a:srgbClr val="6B7280"/>
                </a:solidFill>
                <a:latin typeface="Arial" pitchFamily="34" charset="0"/>
                <a:ea typeface="Arial" pitchFamily="34" charset="-122"/>
                <a:cs typeface="Arial" pitchFamily="34" charset="-120"/>
              </a:rPr>
              <a:t>Create a function that:</a:t>
            </a:r>
            <a:endParaRPr lang="en-US" sz="600" dirty="0"/>
          </a:p>
          <a:p>
            <a:pPr marL="0" indent="0" algn="l">
              <a:lnSpc>
                <a:spcPts val="840"/>
              </a:lnSpc>
              <a:buNone/>
            </a:pPr>
            <a:r>
              <a:rPr lang="en-US" sz="600" dirty="0">
                <a:solidFill>
                  <a:srgbClr val="6B7280"/>
                </a:solidFill>
                <a:latin typeface="Arial" pitchFamily="34" charset="0"/>
                <a:ea typeface="Arial" pitchFamily="34" charset="-122"/>
                <a:cs typeface="Arial" pitchFamily="34" charset="-120"/>
              </a:rPr>
              <a:t>1. Takes a list of users</a:t>
            </a:r>
            <a:endParaRPr lang="en-US" sz="600" dirty="0"/>
          </a:p>
          <a:p>
            <a:pPr marL="0" indent="0" algn="l">
              <a:lnSpc>
                <a:spcPts val="840"/>
              </a:lnSpc>
              <a:buNone/>
            </a:pPr>
            <a:r>
              <a:rPr lang="en-US" sz="600" dirty="0">
                <a:solidFill>
                  <a:srgbClr val="6B7280"/>
                </a:solidFill>
                <a:latin typeface="Arial" pitchFamily="34" charset="0"/>
                <a:ea typeface="Arial" pitchFamily="34" charset="-122"/>
                <a:cs typeface="Arial" pitchFamily="34" charset="-120"/>
              </a:rPr>
              <a:t>2. Filters to only active users</a:t>
            </a:r>
            <a:endParaRPr lang="en-US" sz="600" dirty="0"/>
          </a:p>
          <a:p>
            <a:pPr marL="0" indent="0" algn="l">
              <a:lnSpc>
                <a:spcPts val="840"/>
              </a:lnSpc>
              <a:buNone/>
            </a:pPr>
            <a:r>
              <a:rPr lang="en-US" sz="600" dirty="0">
                <a:solidFill>
                  <a:srgbClr val="6B7280"/>
                </a:solidFill>
                <a:latin typeface="Arial" pitchFamily="34" charset="0"/>
                <a:ea typeface="Arial" pitchFamily="34" charset="-122"/>
                <a:cs typeface="Arial" pitchFamily="34" charset="-120"/>
              </a:rPr>
              <a:t>3. Sorts by last login date (descending)</a:t>
            </a:r>
            <a:endParaRPr lang="en-US" sz="600" dirty="0"/>
          </a:p>
        </p:txBody>
      </p:sp>
      <p:sp>
        <p:nvSpPr>
          <p:cNvPr id="36" name="Text 34"/>
          <p:cNvSpPr/>
          <p:nvPr/>
        </p:nvSpPr>
        <p:spPr>
          <a:xfrm>
            <a:off x="4017764" y="4495056"/>
            <a:ext cx="4859536" cy="310455"/>
          </a:xfrm>
          <a:prstGeom prst="rect">
            <a:avLst/>
          </a:prstGeom>
          <a:solidFill>
            <a:srgbClr val="FEF3C7"/>
          </a:solidFill>
          <a:ln/>
        </p:spPr>
        <p:txBody>
          <a:bodyPr wrap="square" rtlCol="0" anchor="ctr"/>
          <a:lstStyle/>
          <a:p>
            <a:pPr marL="0" indent="0">
              <a:buNone/>
            </a:pPr>
            <a:endParaRPr lang="en-US" dirty="0"/>
          </a:p>
        </p:txBody>
      </p:sp>
      <p:sp>
        <p:nvSpPr>
          <p:cNvPr id="37" name="Shape 35"/>
          <p:cNvSpPr/>
          <p:nvPr/>
        </p:nvSpPr>
        <p:spPr>
          <a:xfrm>
            <a:off x="4032052" y="4495056"/>
            <a:ext cx="0" cy="310455"/>
          </a:xfrm>
          <a:prstGeom prst="line">
            <a:avLst/>
          </a:prstGeom>
          <a:noFill/>
          <a:ln w="28575">
            <a:solidFill>
              <a:srgbClr val="F59E0B"/>
            </a:solidFill>
            <a:prstDash val="solid"/>
          </a:ln>
        </p:spPr>
        <p:txBody>
          <a:bodyPr/>
          <a:lstStyle/>
          <a:p>
            <a:endParaRPr lang="en-US"/>
          </a:p>
        </p:txBody>
      </p:sp>
      <p:sp>
        <p:nvSpPr>
          <p:cNvPr id="38" name="Text 36"/>
          <p:cNvSpPr/>
          <p:nvPr/>
        </p:nvSpPr>
        <p:spPr>
          <a:xfrm>
            <a:off x="4141589" y="4590306"/>
            <a:ext cx="4733270" cy="119955"/>
          </a:xfrm>
          <a:prstGeom prst="rect">
            <a:avLst/>
          </a:prstGeom>
          <a:noFill/>
          <a:ln/>
        </p:spPr>
        <p:txBody>
          <a:bodyPr wrap="square" lIns="0" tIns="0" rIns="0" bIns="0" rtlCol="0" anchor="t"/>
          <a:lstStyle/>
          <a:p>
            <a:pPr marL="0" indent="0" algn="l">
              <a:lnSpc>
                <a:spcPts val="945"/>
              </a:lnSpc>
              <a:buNone/>
            </a:pPr>
            <a:r>
              <a:rPr lang="en-US" sz="675" b="1" dirty="0">
                <a:solidFill>
                  <a:srgbClr val="92400E"/>
                </a:solidFill>
                <a:latin typeface="Arial" pitchFamily="34" charset="0"/>
                <a:ea typeface="Arial" pitchFamily="34" charset="-122"/>
                <a:cs typeface="Arial" pitchFamily="34" charset="-120"/>
              </a:rPr>
              <a:t>Flow:</a:t>
            </a:r>
            <a:r>
              <a:rPr lang="en-US" sz="675" dirty="0">
                <a:solidFill>
                  <a:srgbClr val="92400E"/>
                </a:solidFill>
                <a:latin typeface="Arial" pitchFamily="34" charset="0"/>
                <a:ea typeface="Arial" pitchFamily="34" charset="-122"/>
                <a:cs typeface="Arial" pitchFamily="34" charset="-120"/>
              </a:rPr>
              <a:t> Speak naturally → SuperWhisper enriches → Paste to AI tool → AI executes</a:t>
            </a:r>
            <a:endParaRPr lang="en-US" sz="675"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999963" y="-1999641"/>
            <a:ext cx="5143500" cy="9143425"/>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733" y="0"/>
            <a:ext cx="6803134" cy="5143179"/>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737118" y="-1264380"/>
            <a:ext cx="3670923" cy="9145160"/>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2CAE6D96-DA93-0B30-B822-B1065165B472}"/>
              </a:ext>
            </a:extLst>
          </p:cNvPr>
          <p:cNvPicPr>
            <a:picLocks noChangeAspect="1"/>
          </p:cNvPicPr>
          <p:nvPr/>
        </p:nvPicPr>
        <p:blipFill>
          <a:blip r:embed="rId2"/>
          <a:stretch>
            <a:fillRect/>
          </a:stretch>
        </p:blipFill>
        <p:spPr>
          <a:xfrm>
            <a:off x="4143696" y="417851"/>
            <a:ext cx="4424267" cy="4457700"/>
          </a:xfrm>
          <a:prstGeom prst="rect">
            <a:avLst/>
          </a:prstGeom>
        </p:spPr>
      </p:pic>
      <p:sp>
        <p:nvSpPr>
          <p:cNvPr id="4" name="TextBox 3">
            <a:extLst>
              <a:ext uri="{FF2B5EF4-FFF2-40B4-BE49-F238E27FC236}">
                <a16:creationId xmlns:a16="http://schemas.microsoft.com/office/drawing/2014/main" id="{923545A5-745A-D486-7A58-AFB38063EAC3}"/>
              </a:ext>
            </a:extLst>
          </p:cNvPr>
          <p:cNvSpPr txBox="1"/>
          <p:nvPr/>
        </p:nvSpPr>
        <p:spPr>
          <a:xfrm>
            <a:off x="509666" y="474689"/>
            <a:ext cx="3023016" cy="923330"/>
          </a:xfrm>
          <a:prstGeom prst="rect">
            <a:avLst/>
          </a:prstGeom>
          <a:noFill/>
        </p:spPr>
        <p:txBody>
          <a:bodyPr wrap="square" rtlCol="0">
            <a:spAutoFit/>
          </a:bodyPr>
          <a:lstStyle/>
          <a:p>
            <a:r>
              <a:rPr lang="en-US" dirty="0">
                <a:solidFill>
                  <a:schemeClr val="bg1"/>
                </a:solidFill>
              </a:rPr>
              <a:t>Under Modes – </a:t>
            </a:r>
          </a:p>
          <a:p>
            <a:endParaRPr lang="en-US" dirty="0">
              <a:solidFill>
                <a:schemeClr val="bg1"/>
              </a:solidFill>
            </a:endParaRPr>
          </a:p>
          <a:p>
            <a:r>
              <a:rPr lang="en-US" dirty="0">
                <a:solidFill>
                  <a:schemeClr val="bg1"/>
                </a:solidFill>
              </a:rPr>
              <a:t>click Create mode</a:t>
            </a:r>
          </a:p>
        </p:txBody>
      </p:sp>
      <p:sp>
        <p:nvSpPr>
          <p:cNvPr id="5" name="Right Arrow 4">
            <a:extLst>
              <a:ext uri="{FF2B5EF4-FFF2-40B4-BE49-F238E27FC236}">
                <a16:creationId xmlns:a16="http://schemas.microsoft.com/office/drawing/2014/main" id="{5A91C208-523F-F6E9-DDD1-96313E75505D}"/>
              </a:ext>
            </a:extLst>
          </p:cNvPr>
          <p:cNvSpPr/>
          <p:nvPr/>
        </p:nvSpPr>
        <p:spPr>
          <a:xfrm rot="9992190">
            <a:off x="8336799" y="765365"/>
            <a:ext cx="769495" cy="414728"/>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046381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999963" y="-1999641"/>
            <a:ext cx="5143500" cy="9143425"/>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733" y="0"/>
            <a:ext cx="6803134" cy="5143179"/>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737118" y="-1264380"/>
            <a:ext cx="3670923" cy="9145160"/>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3D83C360-A757-F6DC-3110-F80FB85BDAD3}"/>
              </a:ext>
            </a:extLst>
          </p:cNvPr>
          <p:cNvPicPr>
            <a:picLocks noChangeAspect="1"/>
          </p:cNvPicPr>
          <p:nvPr/>
        </p:nvPicPr>
        <p:blipFill>
          <a:blip r:embed="rId2"/>
          <a:stretch>
            <a:fillRect/>
          </a:stretch>
        </p:blipFill>
        <p:spPr>
          <a:xfrm>
            <a:off x="4262073" y="402861"/>
            <a:ext cx="4357401" cy="4457700"/>
          </a:xfrm>
          <a:prstGeom prst="rect">
            <a:avLst/>
          </a:prstGeom>
        </p:spPr>
      </p:pic>
      <p:sp>
        <p:nvSpPr>
          <p:cNvPr id="4" name="Right Arrow 3">
            <a:extLst>
              <a:ext uri="{FF2B5EF4-FFF2-40B4-BE49-F238E27FC236}">
                <a16:creationId xmlns:a16="http://schemas.microsoft.com/office/drawing/2014/main" id="{13BBC604-3AE5-E667-8CBD-093F20A9E06D}"/>
              </a:ext>
            </a:extLst>
          </p:cNvPr>
          <p:cNvSpPr/>
          <p:nvPr/>
        </p:nvSpPr>
        <p:spPr>
          <a:xfrm rot="9992190">
            <a:off x="8128631" y="2179345"/>
            <a:ext cx="769495" cy="414728"/>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67192F81-DC77-5D51-1D4F-615A718FAC17}"/>
              </a:ext>
            </a:extLst>
          </p:cNvPr>
          <p:cNvSpPr txBox="1"/>
          <p:nvPr/>
        </p:nvSpPr>
        <p:spPr>
          <a:xfrm>
            <a:off x="509666" y="474689"/>
            <a:ext cx="3023016" cy="1477328"/>
          </a:xfrm>
          <a:prstGeom prst="rect">
            <a:avLst/>
          </a:prstGeom>
          <a:noFill/>
        </p:spPr>
        <p:txBody>
          <a:bodyPr wrap="square" rtlCol="0">
            <a:spAutoFit/>
          </a:bodyPr>
          <a:lstStyle/>
          <a:p>
            <a:r>
              <a:rPr lang="en-US" dirty="0">
                <a:solidFill>
                  <a:schemeClr val="bg1"/>
                </a:solidFill>
              </a:rPr>
              <a:t>There are some great default modes, but we want to select Custom</a:t>
            </a:r>
            <a:br>
              <a:rPr lang="en-US" dirty="0">
                <a:solidFill>
                  <a:schemeClr val="bg1"/>
                </a:solidFill>
              </a:rPr>
            </a:br>
            <a:br>
              <a:rPr lang="en-US" dirty="0">
                <a:solidFill>
                  <a:schemeClr val="bg1"/>
                </a:solidFill>
              </a:rPr>
            </a:br>
            <a:r>
              <a:rPr lang="en-US" dirty="0">
                <a:solidFill>
                  <a:schemeClr val="bg1"/>
                </a:solidFill>
              </a:rPr>
              <a:t>Click custom</a:t>
            </a:r>
          </a:p>
        </p:txBody>
      </p:sp>
    </p:spTree>
    <p:extLst>
      <p:ext uri="{BB962C8B-B14F-4D97-AF65-F5344CB8AC3E}">
        <p14:creationId xmlns:p14="http://schemas.microsoft.com/office/powerpoint/2010/main" val="136752794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999963" y="-1999641"/>
            <a:ext cx="5143500" cy="9143425"/>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733" y="0"/>
            <a:ext cx="6803134" cy="5143179"/>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737118" y="-1264380"/>
            <a:ext cx="3670923" cy="9145160"/>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19BBCCDB-5800-E549-6E6C-6A6BDA9B06A4}"/>
              </a:ext>
            </a:extLst>
          </p:cNvPr>
          <p:cNvPicPr>
            <a:picLocks noChangeAspect="1"/>
          </p:cNvPicPr>
          <p:nvPr/>
        </p:nvPicPr>
        <p:blipFill>
          <a:blip r:embed="rId2"/>
          <a:stretch>
            <a:fillRect/>
          </a:stretch>
        </p:blipFill>
        <p:spPr>
          <a:xfrm>
            <a:off x="4164426" y="397864"/>
            <a:ext cx="4502727" cy="4457700"/>
          </a:xfrm>
          <a:prstGeom prst="rect">
            <a:avLst/>
          </a:prstGeom>
        </p:spPr>
      </p:pic>
      <p:sp>
        <p:nvSpPr>
          <p:cNvPr id="5" name="Oval 4">
            <a:extLst>
              <a:ext uri="{FF2B5EF4-FFF2-40B4-BE49-F238E27FC236}">
                <a16:creationId xmlns:a16="http://schemas.microsoft.com/office/drawing/2014/main" id="{52BB47CF-F179-BA38-6E63-45A591405EB6}"/>
              </a:ext>
            </a:extLst>
          </p:cNvPr>
          <p:cNvSpPr/>
          <p:nvPr/>
        </p:nvSpPr>
        <p:spPr>
          <a:xfrm>
            <a:off x="8139659" y="2176849"/>
            <a:ext cx="314793" cy="301526"/>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1</a:t>
            </a:r>
          </a:p>
        </p:txBody>
      </p:sp>
      <p:sp>
        <p:nvSpPr>
          <p:cNvPr id="6" name="Oval 5">
            <a:extLst>
              <a:ext uri="{FF2B5EF4-FFF2-40B4-BE49-F238E27FC236}">
                <a16:creationId xmlns:a16="http://schemas.microsoft.com/office/drawing/2014/main" id="{EE8E45A6-010F-63EE-0C15-9D0A0591BFE0}"/>
              </a:ext>
            </a:extLst>
          </p:cNvPr>
          <p:cNvSpPr/>
          <p:nvPr/>
        </p:nvSpPr>
        <p:spPr>
          <a:xfrm>
            <a:off x="5943600" y="2958835"/>
            <a:ext cx="314793" cy="301526"/>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2</a:t>
            </a:r>
          </a:p>
        </p:txBody>
      </p:sp>
      <p:sp>
        <p:nvSpPr>
          <p:cNvPr id="8" name="Oval 7">
            <a:extLst>
              <a:ext uri="{FF2B5EF4-FFF2-40B4-BE49-F238E27FC236}">
                <a16:creationId xmlns:a16="http://schemas.microsoft.com/office/drawing/2014/main" id="{BBD32708-CCF3-00BA-BE4A-E6F2D0184C21}"/>
              </a:ext>
            </a:extLst>
          </p:cNvPr>
          <p:cNvSpPr/>
          <p:nvPr/>
        </p:nvSpPr>
        <p:spPr>
          <a:xfrm>
            <a:off x="8352360" y="3214680"/>
            <a:ext cx="314793" cy="301526"/>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3</a:t>
            </a:r>
          </a:p>
        </p:txBody>
      </p:sp>
      <p:sp>
        <p:nvSpPr>
          <p:cNvPr id="10" name="TextBox 9">
            <a:extLst>
              <a:ext uri="{FF2B5EF4-FFF2-40B4-BE49-F238E27FC236}">
                <a16:creationId xmlns:a16="http://schemas.microsoft.com/office/drawing/2014/main" id="{7F33F312-8D36-BF0D-6DDC-9467E41281A9}"/>
              </a:ext>
            </a:extLst>
          </p:cNvPr>
          <p:cNvSpPr txBox="1"/>
          <p:nvPr/>
        </p:nvSpPr>
        <p:spPr>
          <a:xfrm>
            <a:off x="509666" y="474689"/>
            <a:ext cx="3023016" cy="3139321"/>
          </a:xfrm>
          <a:prstGeom prst="rect">
            <a:avLst/>
          </a:prstGeom>
          <a:noFill/>
        </p:spPr>
        <p:txBody>
          <a:bodyPr wrap="square" rtlCol="0">
            <a:spAutoFit/>
          </a:bodyPr>
          <a:lstStyle/>
          <a:p>
            <a:pPr marL="342900" indent="-342900">
              <a:buAutoNum type="arabicPeriod"/>
            </a:pPr>
            <a:r>
              <a:rPr lang="en-US" dirty="0">
                <a:solidFill>
                  <a:schemeClr val="bg1"/>
                </a:solidFill>
              </a:rPr>
              <a:t>The Prompt box. This is instructions that will be passed to the LLM model.</a:t>
            </a:r>
          </a:p>
          <a:p>
            <a:pPr marL="342900" indent="-342900">
              <a:buAutoNum type="arabicPeriod"/>
            </a:pPr>
            <a:r>
              <a:rPr lang="en-US" dirty="0">
                <a:solidFill>
                  <a:schemeClr val="bg1"/>
                </a:solidFill>
              </a:rPr>
              <a:t>Model Selector</a:t>
            </a:r>
          </a:p>
          <a:p>
            <a:pPr marL="342900" indent="-342900">
              <a:buAutoNum type="arabicPeriod"/>
            </a:pPr>
            <a:r>
              <a:rPr lang="en-US" dirty="0">
                <a:solidFill>
                  <a:schemeClr val="bg1"/>
                </a:solidFill>
              </a:rPr>
              <a:t>Config menu</a:t>
            </a:r>
          </a:p>
          <a:p>
            <a:pPr marL="342900" indent="-342900">
              <a:buAutoNum type="arabicPeriod"/>
            </a:pPr>
            <a:endParaRPr lang="en-US" dirty="0">
              <a:solidFill>
                <a:schemeClr val="bg1"/>
              </a:solidFill>
            </a:endParaRPr>
          </a:p>
          <a:p>
            <a:r>
              <a:rPr lang="en-US" dirty="0">
                <a:solidFill>
                  <a:schemeClr val="bg1"/>
                </a:solidFill>
              </a:rPr>
              <a:t>As of the Jan 2026 release clicking anywhere on the model selector or the gear icon will open the SAME menu. </a:t>
            </a:r>
          </a:p>
        </p:txBody>
      </p:sp>
    </p:spTree>
    <p:extLst>
      <p:ext uri="{BB962C8B-B14F-4D97-AF65-F5344CB8AC3E}">
        <p14:creationId xmlns:p14="http://schemas.microsoft.com/office/powerpoint/2010/main" val="290488317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999963" y="-1999641"/>
            <a:ext cx="5143500" cy="9143425"/>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733" y="0"/>
            <a:ext cx="6803134" cy="5143179"/>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737118" y="-1264380"/>
            <a:ext cx="3670923" cy="9145160"/>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47C976F5-C053-088E-17B1-B9FB27A757C8}"/>
              </a:ext>
            </a:extLst>
          </p:cNvPr>
          <p:cNvPicPr>
            <a:picLocks noChangeAspect="1"/>
          </p:cNvPicPr>
          <p:nvPr/>
        </p:nvPicPr>
        <p:blipFill>
          <a:blip r:embed="rId2"/>
          <a:stretch>
            <a:fillRect/>
          </a:stretch>
        </p:blipFill>
        <p:spPr>
          <a:xfrm>
            <a:off x="3981486" y="427845"/>
            <a:ext cx="4468872" cy="4457700"/>
          </a:xfrm>
          <a:prstGeom prst="rect">
            <a:avLst/>
          </a:prstGeom>
        </p:spPr>
      </p:pic>
      <p:sp>
        <p:nvSpPr>
          <p:cNvPr id="4" name="TextBox 3">
            <a:extLst>
              <a:ext uri="{FF2B5EF4-FFF2-40B4-BE49-F238E27FC236}">
                <a16:creationId xmlns:a16="http://schemas.microsoft.com/office/drawing/2014/main" id="{7B82C42C-C9CE-ACE7-A7EC-D559720F9FB7}"/>
              </a:ext>
            </a:extLst>
          </p:cNvPr>
          <p:cNvSpPr txBox="1"/>
          <p:nvPr/>
        </p:nvSpPr>
        <p:spPr>
          <a:xfrm>
            <a:off x="509666" y="474689"/>
            <a:ext cx="3023016" cy="1200329"/>
          </a:xfrm>
          <a:prstGeom prst="rect">
            <a:avLst/>
          </a:prstGeom>
          <a:noFill/>
        </p:spPr>
        <p:txBody>
          <a:bodyPr wrap="square" rtlCol="0">
            <a:spAutoFit/>
          </a:bodyPr>
          <a:lstStyle/>
          <a:p>
            <a:r>
              <a:rPr lang="en-US" dirty="0">
                <a:solidFill>
                  <a:schemeClr val="bg1"/>
                </a:solidFill>
              </a:rPr>
              <a:t>We are going to add an App Trigger </a:t>
            </a:r>
            <a:br>
              <a:rPr lang="en-US" dirty="0">
                <a:solidFill>
                  <a:schemeClr val="bg1"/>
                </a:solidFill>
              </a:rPr>
            </a:br>
            <a:br>
              <a:rPr lang="en-US" dirty="0">
                <a:solidFill>
                  <a:schemeClr val="bg1"/>
                </a:solidFill>
              </a:rPr>
            </a:br>
            <a:r>
              <a:rPr lang="en-US" dirty="0">
                <a:solidFill>
                  <a:schemeClr val="bg1"/>
                </a:solidFill>
              </a:rPr>
              <a:t>Click Add App</a:t>
            </a:r>
          </a:p>
        </p:txBody>
      </p:sp>
      <p:sp>
        <p:nvSpPr>
          <p:cNvPr id="5" name="Right Arrow 4">
            <a:extLst>
              <a:ext uri="{FF2B5EF4-FFF2-40B4-BE49-F238E27FC236}">
                <a16:creationId xmlns:a16="http://schemas.microsoft.com/office/drawing/2014/main" id="{39648DDF-14F3-E57C-DAED-E56E212540CA}"/>
              </a:ext>
            </a:extLst>
          </p:cNvPr>
          <p:cNvSpPr/>
          <p:nvPr/>
        </p:nvSpPr>
        <p:spPr>
          <a:xfrm rot="9992190">
            <a:off x="6503866" y="1674675"/>
            <a:ext cx="769495" cy="414728"/>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555109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999963" y="-1999641"/>
            <a:ext cx="5143500" cy="9143425"/>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733" y="0"/>
            <a:ext cx="6803134" cy="5143179"/>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737118" y="-1264380"/>
            <a:ext cx="3670923" cy="9145160"/>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DCAB85C8-E1E6-6688-0834-E64AC66FEB78}"/>
              </a:ext>
            </a:extLst>
          </p:cNvPr>
          <p:cNvPicPr>
            <a:picLocks noChangeAspect="1"/>
          </p:cNvPicPr>
          <p:nvPr/>
        </p:nvPicPr>
        <p:blipFill>
          <a:blip r:embed="rId2"/>
          <a:stretch>
            <a:fillRect/>
          </a:stretch>
        </p:blipFill>
        <p:spPr>
          <a:xfrm>
            <a:off x="4226250" y="422848"/>
            <a:ext cx="3599592" cy="4457700"/>
          </a:xfrm>
          <a:prstGeom prst="rect">
            <a:avLst/>
          </a:prstGeom>
        </p:spPr>
      </p:pic>
      <p:sp>
        <p:nvSpPr>
          <p:cNvPr id="3" name="TextBox 2">
            <a:extLst>
              <a:ext uri="{FF2B5EF4-FFF2-40B4-BE49-F238E27FC236}">
                <a16:creationId xmlns:a16="http://schemas.microsoft.com/office/drawing/2014/main" id="{B6E273BE-F867-3643-9AA9-B6CB3FBB8FA6}"/>
              </a:ext>
            </a:extLst>
          </p:cNvPr>
          <p:cNvSpPr txBox="1"/>
          <p:nvPr/>
        </p:nvSpPr>
        <p:spPr>
          <a:xfrm>
            <a:off x="509666" y="474689"/>
            <a:ext cx="3023016" cy="1754326"/>
          </a:xfrm>
          <a:prstGeom prst="rect">
            <a:avLst/>
          </a:prstGeom>
          <a:noFill/>
        </p:spPr>
        <p:txBody>
          <a:bodyPr wrap="square" rtlCol="0">
            <a:spAutoFit/>
          </a:bodyPr>
          <a:lstStyle/>
          <a:p>
            <a:r>
              <a:rPr lang="en-US" dirty="0">
                <a:solidFill>
                  <a:schemeClr val="bg1"/>
                </a:solidFill>
              </a:rPr>
              <a:t>Scroll through the list </a:t>
            </a:r>
            <a:br>
              <a:rPr lang="en-US" dirty="0">
                <a:solidFill>
                  <a:schemeClr val="bg1"/>
                </a:solidFill>
              </a:rPr>
            </a:br>
            <a:br>
              <a:rPr lang="en-US" dirty="0">
                <a:solidFill>
                  <a:schemeClr val="bg1"/>
                </a:solidFill>
              </a:rPr>
            </a:br>
            <a:r>
              <a:rPr lang="en-US" dirty="0">
                <a:solidFill>
                  <a:schemeClr val="bg1"/>
                </a:solidFill>
              </a:rPr>
              <a:t>Find an app you have installed – anything will do for this , but if you have an AI app like GPT, Claude, Gemini select it. </a:t>
            </a:r>
          </a:p>
        </p:txBody>
      </p:sp>
    </p:spTree>
    <p:extLst>
      <p:ext uri="{BB962C8B-B14F-4D97-AF65-F5344CB8AC3E}">
        <p14:creationId xmlns:p14="http://schemas.microsoft.com/office/powerpoint/2010/main" val="405929554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999963" y="-1999641"/>
            <a:ext cx="5143500" cy="9143425"/>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733" y="0"/>
            <a:ext cx="6803134" cy="5143179"/>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737118" y="-1264380"/>
            <a:ext cx="3670923" cy="9145160"/>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E44769ED-08A5-9488-C19F-4294D57D1C1A}"/>
              </a:ext>
            </a:extLst>
          </p:cNvPr>
          <p:cNvPicPr>
            <a:picLocks noChangeAspect="1"/>
          </p:cNvPicPr>
          <p:nvPr/>
        </p:nvPicPr>
        <p:blipFill>
          <a:blip r:embed="rId2"/>
          <a:stretch>
            <a:fillRect/>
          </a:stretch>
        </p:blipFill>
        <p:spPr>
          <a:xfrm>
            <a:off x="3769145" y="0"/>
            <a:ext cx="4513804" cy="5143500"/>
          </a:xfrm>
          <a:prstGeom prst="rect">
            <a:avLst/>
          </a:prstGeom>
        </p:spPr>
      </p:pic>
      <p:sp>
        <p:nvSpPr>
          <p:cNvPr id="3" name="Right Arrow 2">
            <a:extLst>
              <a:ext uri="{FF2B5EF4-FFF2-40B4-BE49-F238E27FC236}">
                <a16:creationId xmlns:a16="http://schemas.microsoft.com/office/drawing/2014/main" id="{9BE8FCD3-20F6-60ED-3220-4B3F9076852C}"/>
              </a:ext>
            </a:extLst>
          </p:cNvPr>
          <p:cNvSpPr/>
          <p:nvPr/>
        </p:nvSpPr>
        <p:spPr>
          <a:xfrm rot="9992190">
            <a:off x="6850022" y="1265213"/>
            <a:ext cx="769495" cy="414728"/>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6" name="Right Arrow 5">
            <a:extLst>
              <a:ext uri="{FF2B5EF4-FFF2-40B4-BE49-F238E27FC236}">
                <a16:creationId xmlns:a16="http://schemas.microsoft.com/office/drawing/2014/main" id="{4005822F-5BCC-D437-9876-0C6E4A140482}"/>
              </a:ext>
            </a:extLst>
          </p:cNvPr>
          <p:cNvSpPr/>
          <p:nvPr/>
        </p:nvSpPr>
        <p:spPr>
          <a:xfrm rot="9992190">
            <a:off x="8061728" y="2364225"/>
            <a:ext cx="769495" cy="414728"/>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8" name="Right Arrow 7">
            <a:extLst>
              <a:ext uri="{FF2B5EF4-FFF2-40B4-BE49-F238E27FC236}">
                <a16:creationId xmlns:a16="http://schemas.microsoft.com/office/drawing/2014/main" id="{7813CF21-4874-AAE7-867A-BCB51122BFB9}"/>
              </a:ext>
            </a:extLst>
          </p:cNvPr>
          <p:cNvSpPr/>
          <p:nvPr/>
        </p:nvSpPr>
        <p:spPr>
          <a:xfrm rot="9992190">
            <a:off x="8061729" y="3705844"/>
            <a:ext cx="769495" cy="414728"/>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23BF12FC-D41F-B39A-FE68-3C242E6637E5}"/>
              </a:ext>
            </a:extLst>
          </p:cNvPr>
          <p:cNvSpPr txBox="1"/>
          <p:nvPr/>
        </p:nvSpPr>
        <p:spPr>
          <a:xfrm>
            <a:off x="509666" y="474689"/>
            <a:ext cx="3023016" cy="4247317"/>
          </a:xfrm>
          <a:prstGeom prst="rect">
            <a:avLst/>
          </a:prstGeom>
          <a:noFill/>
        </p:spPr>
        <p:txBody>
          <a:bodyPr wrap="square" rtlCol="0">
            <a:spAutoFit/>
          </a:bodyPr>
          <a:lstStyle/>
          <a:p>
            <a:r>
              <a:rPr lang="en-US" dirty="0">
                <a:solidFill>
                  <a:schemeClr val="bg1"/>
                </a:solidFill>
              </a:rPr>
              <a:t>I picked Claude.</a:t>
            </a:r>
            <a:br>
              <a:rPr lang="en-US" dirty="0">
                <a:solidFill>
                  <a:schemeClr val="bg1"/>
                </a:solidFill>
              </a:rPr>
            </a:br>
            <a:br>
              <a:rPr lang="en-US" dirty="0">
                <a:solidFill>
                  <a:schemeClr val="bg1"/>
                </a:solidFill>
              </a:rPr>
            </a:br>
            <a:r>
              <a:rPr lang="en-US" dirty="0">
                <a:solidFill>
                  <a:schemeClr val="bg1"/>
                </a:solidFill>
              </a:rPr>
              <a:t>(You can choose more than 1 app for the mode) </a:t>
            </a:r>
            <a:br>
              <a:rPr lang="en-US" dirty="0">
                <a:solidFill>
                  <a:schemeClr val="bg1"/>
                </a:solidFill>
              </a:rPr>
            </a:br>
            <a:br>
              <a:rPr lang="en-US" dirty="0">
                <a:solidFill>
                  <a:schemeClr val="bg1"/>
                </a:solidFill>
              </a:rPr>
            </a:br>
            <a:r>
              <a:rPr lang="en-US" dirty="0">
                <a:solidFill>
                  <a:schemeClr val="bg1"/>
                </a:solidFill>
              </a:rPr>
              <a:t>Then include context – select the boxes. </a:t>
            </a:r>
            <a:br>
              <a:rPr lang="en-US" dirty="0">
                <a:solidFill>
                  <a:schemeClr val="bg1"/>
                </a:solidFill>
              </a:rPr>
            </a:br>
            <a:br>
              <a:rPr lang="en-US" dirty="0">
                <a:solidFill>
                  <a:schemeClr val="bg1"/>
                </a:solidFill>
              </a:rPr>
            </a:br>
            <a:r>
              <a:rPr lang="en-US" dirty="0">
                <a:solidFill>
                  <a:schemeClr val="bg1"/>
                </a:solidFill>
              </a:rPr>
              <a:t>Optional Settings:</a:t>
            </a:r>
            <a:br>
              <a:rPr lang="en-US" dirty="0">
                <a:solidFill>
                  <a:schemeClr val="bg1"/>
                </a:solidFill>
              </a:rPr>
            </a:br>
            <a:r>
              <a:rPr lang="en-US" dirty="0">
                <a:solidFill>
                  <a:schemeClr val="bg1"/>
                </a:solidFill>
              </a:rPr>
              <a:t>I use pause playback in case I have YouTube or Spotify in the background. </a:t>
            </a:r>
          </a:p>
          <a:p>
            <a:endParaRPr lang="en-US" dirty="0">
              <a:solidFill>
                <a:schemeClr val="bg1"/>
              </a:solidFill>
            </a:endParaRPr>
          </a:p>
          <a:p>
            <a:r>
              <a:rPr lang="en-US" dirty="0">
                <a:solidFill>
                  <a:schemeClr val="bg1"/>
                </a:solidFill>
              </a:rPr>
              <a:t>You can also use modes like custom meeting transcribers.</a:t>
            </a:r>
          </a:p>
        </p:txBody>
      </p:sp>
    </p:spTree>
    <p:extLst>
      <p:ext uri="{BB962C8B-B14F-4D97-AF65-F5344CB8AC3E}">
        <p14:creationId xmlns:p14="http://schemas.microsoft.com/office/powerpoint/2010/main" val="423346213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999963" y="-1999641"/>
            <a:ext cx="5143500" cy="9143425"/>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733" y="0"/>
            <a:ext cx="6803134" cy="5143179"/>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737118" y="-1264380"/>
            <a:ext cx="3670923" cy="9145160"/>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01DF27B4-3E18-A5AA-831F-3DF9D95D5F46}"/>
              </a:ext>
            </a:extLst>
          </p:cNvPr>
          <p:cNvPicPr>
            <a:picLocks noChangeAspect="1"/>
          </p:cNvPicPr>
          <p:nvPr/>
        </p:nvPicPr>
        <p:blipFill>
          <a:blip r:embed="rId2"/>
          <a:stretch>
            <a:fillRect/>
          </a:stretch>
        </p:blipFill>
        <p:spPr>
          <a:xfrm>
            <a:off x="5549294" y="462821"/>
            <a:ext cx="2362580" cy="4457700"/>
          </a:xfrm>
          <a:prstGeom prst="rect">
            <a:avLst/>
          </a:prstGeom>
        </p:spPr>
      </p:pic>
      <p:sp>
        <p:nvSpPr>
          <p:cNvPr id="3" name="TextBox 2">
            <a:extLst>
              <a:ext uri="{FF2B5EF4-FFF2-40B4-BE49-F238E27FC236}">
                <a16:creationId xmlns:a16="http://schemas.microsoft.com/office/drawing/2014/main" id="{43671CBE-D9E2-3381-1E01-04F21DEDE87B}"/>
              </a:ext>
            </a:extLst>
          </p:cNvPr>
          <p:cNvSpPr txBox="1"/>
          <p:nvPr/>
        </p:nvSpPr>
        <p:spPr>
          <a:xfrm>
            <a:off x="1232126" y="1472578"/>
            <a:ext cx="3023016" cy="2031325"/>
          </a:xfrm>
          <a:prstGeom prst="rect">
            <a:avLst/>
          </a:prstGeom>
          <a:noFill/>
        </p:spPr>
        <p:txBody>
          <a:bodyPr wrap="square" rtlCol="0">
            <a:spAutoFit/>
          </a:bodyPr>
          <a:lstStyle/>
          <a:p>
            <a:r>
              <a:rPr lang="en-US" dirty="0">
                <a:solidFill>
                  <a:schemeClr val="bg1"/>
                </a:solidFill>
              </a:rPr>
              <a:t>You can make your modes as complex or simple as you wish, the UI will expand. </a:t>
            </a:r>
          </a:p>
          <a:p>
            <a:endParaRPr lang="en-US" dirty="0">
              <a:solidFill>
                <a:schemeClr val="bg1"/>
              </a:solidFill>
            </a:endParaRPr>
          </a:p>
          <a:p>
            <a:endParaRPr lang="en-US" dirty="0">
              <a:solidFill>
                <a:schemeClr val="bg1"/>
              </a:solidFill>
            </a:endParaRPr>
          </a:p>
          <a:p>
            <a:r>
              <a:rPr lang="en-US" dirty="0">
                <a:solidFill>
                  <a:schemeClr val="bg1"/>
                </a:solidFill>
              </a:rPr>
              <a:t>That’s It! Your first custom mode is ready for a spin </a:t>
            </a:r>
            <a:r>
              <a:rPr lang="en-US" dirty="0">
                <a:solidFill>
                  <a:schemeClr val="bg1"/>
                </a:solidFill>
                <a:sym typeface="Wingdings" pitchFamily="2" charset="2"/>
              </a:rPr>
              <a:t> </a:t>
            </a:r>
            <a:endParaRPr lang="en-US" dirty="0">
              <a:solidFill>
                <a:schemeClr val="bg1"/>
              </a:solidFill>
            </a:endParaRPr>
          </a:p>
        </p:txBody>
      </p:sp>
    </p:spTree>
    <p:extLst>
      <p:ext uri="{BB962C8B-B14F-4D97-AF65-F5344CB8AC3E}">
        <p14:creationId xmlns:p14="http://schemas.microsoft.com/office/powerpoint/2010/main" val="283908689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3598664" cy="5143500"/>
          </a:xfrm>
          <a:prstGeom prst="rect">
            <a:avLst/>
          </a:prstGeom>
          <a:solidFill>
            <a:srgbClr val="1A1F2E"/>
          </a:solidFill>
          <a:ln/>
        </p:spPr>
        <p:txBody>
          <a:bodyPr wrap="square" rtlCol="0" anchor="ctr"/>
          <a:lstStyle/>
          <a:p>
            <a:pPr marL="0" indent="0">
              <a:buNone/>
            </a:pPr>
            <a:endParaRPr lang="en-US" dirty="0"/>
          </a:p>
        </p:txBody>
      </p:sp>
      <p:sp>
        <p:nvSpPr>
          <p:cNvPr id="3" name="Text 1"/>
          <p:cNvSpPr/>
          <p:nvPr/>
        </p:nvSpPr>
        <p:spPr>
          <a:xfrm>
            <a:off x="266700" y="240804"/>
            <a:ext cx="778073" cy="220861"/>
          </a:xfrm>
          <a:prstGeom prst="rect">
            <a:avLst/>
          </a:prstGeom>
          <a:solidFill>
            <a:srgbClr val="3B82F6"/>
          </a:solidFill>
          <a:ln/>
        </p:spPr>
        <p:txBody>
          <a:bodyPr wrap="square" rtlCol="0" anchor="ctr"/>
          <a:lstStyle/>
          <a:p>
            <a:pPr marL="0" indent="0">
              <a:buNone/>
            </a:pPr>
            <a:endParaRPr lang="en-US" dirty="0"/>
          </a:p>
        </p:txBody>
      </p:sp>
      <p:sp>
        <p:nvSpPr>
          <p:cNvPr id="4" name="Text 2"/>
          <p:cNvSpPr/>
          <p:nvPr/>
        </p:nvSpPr>
        <p:spPr>
          <a:xfrm>
            <a:off x="361950" y="297954"/>
            <a:ext cx="599325" cy="106561"/>
          </a:xfrm>
          <a:prstGeom prst="rect">
            <a:avLst/>
          </a:prstGeom>
          <a:noFill/>
          <a:ln/>
        </p:spPr>
        <p:txBody>
          <a:bodyPr wrap="square" lIns="0" tIns="0" rIns="0" bIns="0" rtlCol="0" anchor="t"/>
          <a:lstStyle/>
          <a:p>
            <a:pPr marL="0" indent="0" algn="l">
              <a:lnSpc>
                <a:spcPts val="840"/>
              </a:lnSpc>
              <a:buNone/>
            </a:pPr>
            <a:r>
              <a:rPr lang="en-US" sz="600" b="1" dirty="0">
                <a:solidFill>
                  <a:srgbClr val="FFFFFF"/>
                </a:solidFill>
                <a:latin typeface="Arial" pitchFamily="34" charset="0"/>
                <a:ea typeface="Arial" pitchFamily="34" charset="-122"/>
                <a:cs typeface="Arial" pitchFamily="34" charset="-120"/>
              </a:rPr>
              <a:t>MODE 2 OF 5</a:t>
            </a:r>
            <a:endParaRPr lang="en-US" sz="600" dirty="0"/>
          </a:p>
        </p:txBody>
      </p:sp>
      <p:sp>
        <p:nvSpPr>
          <p:cNvPr id="5" name="Text 3"/>
          <p:cNvSpPr/>
          <p:nvPr/>
        </p:nvSpPr>
        <p:spPr>
          <a:xfrm>
            <a:off x="266700" y="709315"/>
            <a:ext cx="1739075" cy="548580"/>
          </a:xfrm>
          <a:prstGeom prst="rect">
            <a:avLst/>
          </a:prstGeom>
          <a:noFill/>
          <a:ln/>
        </p:spPr>
        <p:txBody>
          <a:bodyPr wrap="square" lIns="0" tIns="0" rIns="0" bIns="0" rtlCol="0" anchor="t"/>
          <a:lstStyle/>
          <a:p>
            <a:pPr marL="0" indent="0" algn="l">
              <a:lnSpc>
                <a:spcPts val="2160"/>
              </a:lnSpc>
              <a:spcAft>
                <a:spcPts val="900"/>
              </a:spcAft>
              <a:buNone/>
            </a:pPr>
            <a:r>
              <a:rPr lang="en-US" sz="1800" dirty="0">
                <a:solidFill>
                  <a:srgbClr val="FFFFFF"/>
                </a:solidFill>
                <a:latin typeface="Georgia" pitchFamily="34" charset="0"/>
                <a:ea typeface="Georgia" pitchFamily="34" charset="-122"/>
                <a:cs typeface="Georgia" pitchFamily="34" charset="-120"/>
              </a:rPr>
              <a:t>Microsoft Teams</a:t>
            </a:r>
            <a:endParaRPr lang="en-US" sz="1800" dirty="0"/>
          </a:p>
          <a:p>
            <a:pPr marL="0" indent="0" algn="l">
              <a:lnSpc>
                <a:spcPts val="2160"/>
              </a:lnSpc>
              <a:spcAft>
                <a:spcPts val="900"/>
              </a:spcAft>
              <a:buNone/>
            </a:pPr>
            <a:r>
              <a:rPr lang="en-US" sz="1800" dirty="0">
                <a:solidFill>
                  <a:srgbClr val="FFFFFF"/>
                </a:solidFill>
                <a:latin typeface="Georgia" pitchFamily="34" charset="0"/>
                <a:ea typeface="Georgia" pitchFamily="34" charset="-122"/>
                <a:cs typeface="Georgia" pitchFamily="34" charset="-120"/>
              </a:rPr>
              <a:t>Chat Mode</a:t>
            </a:r>
            <a:endParaRPr lang="en-US" sz="1800" dirty="0"/>
          </a:p>
        </p:txBody>
      </p:sp>
      <p:sp>
        <p:nvSpPr>
          <p:cNvPr id="6" name="Text 4"/>
          <p:cNvSpPr/>
          <p:nvPr/>
        </p:nvSpPr>
        <p:spPr>
          <a:xfrm>
            <a:off x="266700" y="1829395"/>
            <a:ext cx="3065264" cy="639961"/>
          </a:xfrm>
          <a:prstGeom prst="rect">
            <a:avLst/>
          </a:prstGeom>
          <a:solidFill>
            <a:srgbClr val="C9A227">
              <a:alpha val="15000"/>
            </a:srgbClr>
          </a:solidFill>
          <a:ln/>
        </p:spPr>
        <p:txBody>
          <a:bodyPr wrap="square" rtlCol="0" anchor="ctr"/>
          <a:lstStyle/>
          <a:p>
            <a:pPr marL="0" indent="0">
              <a:buNone/>
            </a:pPr>
            <a:endParaRPr lang="en-US" dirty="0"/>
          </a:p>
        </p:txBody>
      </p:sp>
      <p:sp>
        <p:nvSpPr>
          <p:cNvPr id="7" name="Shape 5"/>
          <p:cNvSpPr/>
          <p:nvPr/>
        </p:nvSpPr>
        <p:spPr>
          <a:xfrm>
            <a:off x="280988" y="1829395"/>
            <a:ext cx="0" cy="639961"/>
          </a:xfrm>
          <a:prstGeom prst="line">
            <a:avLst/>
          </a:prstGeom>
          <a:noFill/>
          <a:ln w="28575">
            <a:solidFill>
              <a:srgbClr val="C9A227"/>
            </a:solidFill>
            <a:prstDash val="solid"/>
          </a:ln>
        </p:spPr>
        <p:txBody>
          <a:bodyPr/>
          <a:lstStyle/>
          <a:p>
            <a:endParaRPr lang="en-US"/>
          </a:p>
        </p:txBody>
      </p:sp>
      <p:sp>
        <p:nvSpPr>
          <p:cNvPr id="8" name="Text 6"/>
          <p:cNvSpPr/>
          <p:nvPr/>
        </p:nvSpPr>
        <p:spPr>
          <a:xfrm>
            <a:off x="409575" y="1943695"/>
            <a:ext cx="2864251"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C9A227"/>
                </a:solidFill>
                <a:latin typeface="Arial" pitchFamily="34" charset="0"/>
                <a:ea typeface="Arial" pitchFamily="34" charset="-122"/>
                <a:cs typeface="Arial" pitchFamily="34" charset="-120"/>
              </a:rPr>
              <a:t>USE CASE</a:t>
            </a:r>
            <a:endParaRPr lang="en-US" sz="750" dirty="0"/>
          </a:p>
        </p:txBody>
      </p:sp>
      <p:sp>
        <p:nvSpPr>
          <p:cNvPr id="9" name="Text 7"/>
          <p:cNvSpPr/>
          <p:nvPr/>
        </p:nvSpPr>
        <p:spPr>
          <a:xfrm>
            <a:off x="409575" y="2115145"/>
            <a:ext cx="2864251" cy="239911"/>
          </a:xfrm>
          <a:prstGeom prst="rect">
            <a:avLst/>
          </a:prstGeom>
          <a:noFill/>
          <a:ln/>
        </p:spPr>
        <p:txBody>
          <a:bodyPr wrap="square" lIns="0" tIns="0" rIns="0" bIns="0" rtlCol="0" anchor="t"/>
          <a:lstStyle/>
          <a:p>
            <a:pPr marL="0" indent="0" algn="l">
              <a:lnSpc>
                <a:spcPts val="945"/>
              </a:lnSpc>
              <a:buNone/>
            </a:pPr>
            <a:r>
              <a:rPr lang="en-US" sz="675" dirty="0">
                <a:solidFill>
                  <a:srgbClr val="FFFFFF">
                    <a:alpha val="70000"/>
                  </a:srgbClr>
                </a:solidFill>
                <a:latin typeface="Arial" pitchFamily="34" charset="0"/>
                <a:ea typeface="Arial" pitchFamily="34" charset="-122"/>
                <a:cs typeface="Arial" pitchFamily="34" charset="-120"/>
              </a:rPr>
              <a:t>Quick, professional chat messages. Maintains conversational tone while keeping it workplace-appropriate.</a:t>
            </a:r>
            <a:endParaRPr lang="en-US" sz="675" dirty="0"/>
          </a:p>
        </p:txBody>
      </p:sp>
      <p:sp>
        <p:nvSpPr>
          <p:cNvPr id="10" name="Text 8"/>
          <p:cNvSpPr/>
          <p:nvPr/>
        </p:nvSpPr>
        <p:spPr>
          <a:xfrm>
            <a:off x="266700" y="2736056"/>
            <a:ext cx="3065264" cy="804863"/>
          </a:xfrm>
          <a:prstGeom prst="rect">
            <a:avLst/>
          </a:prstGeom>
          <a:solidFill>
            <a:srgbClr val="FFFFFF">
              <a:alpha val="5000"/>
            </a:srgbClr>
          </a:solidFill>
          <a:ln/>
        </p:spPr>
        <p:txBody>
          <a:bodyPr wrap="square" rtlCol="0" anchor="ctr"/>
          <a:lstStyle/>
          <a:p>
            <a:pPr marL="0" indent="0">
              <a:buNone/>
            </a:pPr>
            <a:endParaRPr lang="en-US" dirty="0"/>
          </a:p>
        </p:txBody>
      </p:sp>
      <p:sp>
        <p:nvSpPr>
          <p:cNvPr id="11" name="Text 9"/>
          <p:cNvSpPr/>
          <p:nvPr/>
        </p:nvSpPr>
        <p:spPr>
          <a:xfrm>
            <a:off x="381000" y="2850356"/>
            <a:ext cx="2893397" cy="133350"/>
          </a:xfrm>
          <a:prstGeom prst="rect">
            <a:avLst/>
          </a:prstGeom>
          <a:noFill/>
          <a:ln/>
        </p:spPr>
        <p:txBody>
          <a:bodyPr wrap="square" lIns="0" tIns="0" rIns="0" bIns="0" rtlCol="0" anchor="t"/>
          <a:lstStyle/>
          <a:p>
            <a:pPr marL="0" indent="0" algn="l">
              <a:lnSpc>
                <a:spcPts val="1050"/>
              </a:lnSpc>
              <a:spcAft>
                <a:spcPts val="450"/>
              </a:spcAft>
              <a:buNone/>
            </a:pPr>
            <a:r>
              <a:rPr lang="en-US" sz="750" b="1" dirty="0">
                <a:solidFill>
                  <a:srgbClr val="FFFFFF"/>
                </a:solidFill>
                <a:latin typeface="Arial" pitchFamily="34" charset="0"/>
                <a:ea typeface="Arial" pitchFamily="34" charset="-122"/>
                <a:cs typeface="Arial" pitchFamily="34" charset="-120"/>
              </a:rPr>
              <a:t>CONTEXT SETTINGS</a:t>
            </a:r>
            <a:endParaRPr lang="en-US" sz="750" dirty="0"/>
          </a:p>
        </p:txBody>
      </p:sp>
      <p:sp>
        <p:nvSpPr>
          <p:cNvPr id="12" name="Text 10"/>
          <p:cNvSpPr/>
          <p:nvPr/>
        </p:nvSpPr>
        <p:spPr>
          <a:xfrm>
            <a:off x="381000" y="3040856"/>
            <a:ext cx="2893397" cy="385763"/>
          </a:xfrm>
          <a:prstGeom prst="rect">
            <a:avLst/>
          </a:prstGeom>
          <a:noFill/>
          <a:ln/>
        </p:spPr>
        <p:txBody>
          <a:bodyPr wrap="square" lIns="0" tIns="0" rIns="0" bIns="0" rtlCol="0" anchor="t"/>
          <a:lstStyle/>
          <a:p>
            <a:pPr marL="0" indent="0" algn="l">
              <a:lnSpc>
                <a:spcPts val="1013"/>
              </a:lnSpc>
              <a:buNone/>
            </a:pPr>
            <a:r>
              <a:rPr lang="en-US" sz="675" dirty="0">
                <a:solidFill>
                  <a:srgbClr val="FFFFFF">
                    <a:alpha val="60000"/>
                  </a:srgbClr>
                </a:solidFill>
                <a:latin typeface="Arial" pitchFamily="34" charset="0"/>
                <a:ea typeface="Arial" pitchFamily="34" charset="-122"/>
                <a:cs typeface="Arial" pitchFamily="34" charset="-120"/>
              </a:rPr>
              <a:t>✓ Application Context (detect Teams)</a:t>
            </a:r>
            <a:endParaRPr lang="en-US" sz="675" dirty="0"/>
          </a:p>
          <a:p>
            <a:pPr marL="0" indent="0" algn="l">
              <a:lnSpc>
                <a:spcPts val="1013"/>
              </a:lnSpc>
              <a:buNone/>
            </a:pPr>
            <a:r>
              <a:rPr lang="en-US" sz="675" dirty="0">
                <a:solidFill>
                  <a:srgbClr val="FFFFFF">
                    <a:alpha val="60000"/>
                  </a:srgbClr>
                </a:solidFill>
                <a:latin typeface="Arial" pitchFamily="34" charset="0"/>
                <a:ea typeface="Arial" pitchFamily="34" charset="-122"/>
                <a:cs typeface="Arial" pitchFamily="34" charset="-120"/>
              </a:rPr>
              <a:t> ○ Selected Text (optional)</a:t>
            </a:r>
            <a:endParaRPr lang="en-US" sz="675" dirty="0"/>
          </a:p>
          <a:p>
            <a:pPr marL="0" indent="0" algn="l">
              <a:lnSpc>
                <a:spcPts val="1013"/>
              </a:lnSpc>
              <a:buNone/>
            </a:pPr>
            <a:r>
              <a:rPr lang="en-US" sz="675" dirty="0">
                <a:solidFill>
                  <a:srgbClr val="FFFFFF">
                    <a:alpha val="60000"/>
                  </a:srgbClr>
                </a:solidFill>
                <a:latin typeface="Arial" pitchFamily="34" charset="0"/>
                <a:ea typeface="Arial" pitchFamily="34" charset="-122"/>
                <a:cs typeface="Arial" pitchFamily="34" charset="-120"/>
              </a:rPr>
              <a:t> ○ Clipboard Context (optional)</a:t>
            </a:r>
            <a:endParaRPr lang="en-US" sz="675" dirty="0"/>
          </a:p>
        </p:txBody>
      </p:sp>
      <p:sp>
        <p:nvSpPr>
          <p:cNvPr id="13" name="Text 11"/>
          <p:cNvSpPr/>
          <p:nvPr/>
        </p:nvSpPr>
        <p:spPr>
          <a:xfrm>
            <a:off x="266700" y="3807619"/>
            <a:ext cx="3065264" cy="721816"/>
          </a:xfrm>
          <a:prstGeom prst="rect">
            <a:avLst/>
          </a:prstGeom>
          <a:solidFill>
            <a:srgbClr val="FFFFFF">
              <a:alpha val="5000"/>
            </a:srgbClr>
          </a:solidFill>
          <a:ln/>
        </p:spPr>
        <p:txBody>
          <a:bodyPr wrap="square" rtlCol="0" anchor="ctr"/>
          <a:lstStyle/>
          <a:p>
            <a:pPr marL="0" indent="0">
              <a:buNone/>
            </a:pPr>
            <a:endParaRPr lang="en-US" dirty="0"/>
          </a:p>
        </p:txBody>
      </p:sp>
      <p:sp>
        <p:nvSpPr>
          <p:cNvPr id="14" name="Text 12"/>
          <p:cNvSpPr/>
          <p:nvPr/>
        </p:nvSpPr>
        <p:spPr>
          <a:xfrm>
            <a:off x="361950" y="3902869"/>
            <a:ext cx="2932259"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FFFFFF"/>
                </a:solidFill>
                <a:latin typeface="Arial" pitchFamily="34" charset="0"/>
                <a:ea typeface="Arial" pitchFamily="34" charset="-122"/>
                <a:cs typeface="Arial" pitchFamily="34" charset="-120"/>
              </a:rPr>
              <a:t>AUTO-ACTIVATION</a:t>
            </a:r>
            <a:endParaRPr lang="en-US" sz="750" dirty="0"/>
          </a:p>
        </p:txBody>
      </p:sp>
      <p:sp>
        <p:nvSpPr>
          <p:cNvPr id="15" name="Text 13"/>
          <p:cNvSpPr/>
          <p:nvPr/>
        </p:nvSpPr>
        <p:spPr>
          <a:xfrm>
            <a:off x="361950" y="4074319"/>
            <a:ext cx="2932259" cy="359866"/>
          </a:xfrm>
          <a:prstGeom prst="rect">
            <a:avLst/>
          </a:prstGeom>
          <a:noFill/>
          <a:ln/>
        </p:spPr>
        <p:txBody>
          <a:bodyPr wrap="square" lIns="0" tIns="0" rIns="0" bIns="0" rtlCol="0" anchor="t"/>
          <a:lstStyle/>
          <a:p>
            <a:pPr marL="0" indent="0" algn="l">
              <a:lnSpc>
                <a:spcPts val="945"/>
              </a:lnSpc>
              <a:buNone/>
            </a:pPr>
            <a:r>
              <a:rPr lang="en-US" sz="675" dirty="0">
                <a:solidFill>
                  <a:srgbClr val="FFFFFF">
                    <a:alpha val="60000"/>
                  </a:srgbClr>
                </a:solidFill>
                <a:latin typeface="Arial" pitchFamily="34" charset="0"/>
                <a:ea typeface="Arial" pitchFamily="34" charset="-122"/>
                <a:cs typeface="Arial" pitchFamily="34" charset="-120"/>
              </a:rPr>
              <a:t>Microsoft Teams</a:t>
            </a:r>
            <a:endParaRPr lang="en-US" sz="675" dirty="0"/>
          </a:p>
          <a:p>
            <a:pPr marL="0" indent="0" algn="l">
              <a:lnSpc>
                <a:spcPts val="945"/>
              </a:lnSpc>
              <a:buNone/>
            </a:pPr>
            <a:r>
              <a:rPr lang="en-US" sz="675" dirty="0">
                <a:solidFill>
                  <a:srgbClr val="FFFFFF">
                    <a:alpha val="60000"/>
                  </a:srgbClr>
                </a:solidFill>
                <a:latin typeface="Arial" pitchFamily="34" charset="0"/>
                <a:ea typeface="Arial" pitchFamily="34" charset="-122"/>
                <a:cs typeface="Arial" pitchFamily="34" charset="-120"/>
              </a:rPr>
              <a:t> Slack (optional)</a:t>
            </a:r>
            <a:endParaRPr lang="en-US" sz="675" dirty="0"/>
          </a:p>
          <a:p>
            <a:pPr marL="0" indent="0" algn="l">
              <a:lnSpc>
                <a:spcPts val="945"/>
              </a:lnSpc>
              <a:buNone/>
            </a:pPr>
            <a:r>
              <a:rPr lang="en-US" sz="675" dirty="0">
                <a:solidFill>
                  <a:srgbClr val="FFFFFF">
                    <a:alpha val="60000"/>
                  </a:srgbClr>
                </a:solidFill>
                <a:latin typeface="Arial" pitchFamily="34" charset="0"/>
                <a:ea typeface="Arial" pitchFamily="34" charset="-122"/>
                <a:cs typeface="Arial" pitchFamily="34" charset="-120"/>
              </a:rPr>
              <a:t> Discord (optional)</a:t>
            </a:r>
            <a:endParaRPr lang="en-US" sz="675" dirty="0"/>
          </a:p>
        </p:txBody>
      </p:sp>
      <p:sp>
        <p:nvSpPr>
          <p:cNvPr id="16" name="Text 14"/>
          <p:cNvSpPr/>
          <p:nvPr/>
        </p:nvSpPr>
        <p:spPr>
          <a:xfrm>
            <a:off x="266700" y="4681835"/>
            <a:ext cx="3065264" cy="258961"/>
          </a:xfrm>
          <a:prstGeom prst="rect">
            <a:avLst/>
          </a:prstGeom>
          <a:solidFill>
            <a:srgbClr val="FEF3C7"/>
          </a:solidFill>
          <a:ln/>
        </p:spPr>
        <p:txBody>
          <a:bodyPr wrap="square" rtlCol="0" anchor="ctr"/>
          <a:lstStyle/>
          <a:p>
            <a:pPr marL="0" indent="0">
              <a:buNone/>
            </a:pPr>
            <a:endParaRPr lang="en-US" dirty="0"/>
          </a:p>
        </p:txBody>
      </p:sp>
      <p:sp>
        <p:nvSpPr>
          <p:cNvPr id="17" name="Shape 15"/>
          <p:cNvSpPr/>
          <p:nvPr/>
        </p:nvSpPr>
        <p:spPr>
          <a:xfrm>
            <a:off x="280988" y="4681835"/>
            <a:ext cx="0" cy="258961"/>
          </a:xfrm>
          <a:prstGeom prst="line">
            <a:avLst/>
          </a:prstGeom>
          <a:noFill/>
          <a:ln w="28575">
            <a:solidFill>
              <a:srgbClr val="F59E0B"/>
            </a:solidFill>
            <a:prstDash val="solid"/>
          </a:ln>
        </p:spPr>
        <p:txBody>
          <a:bodyPr/>
          <a:lstStyle/>
          <a:p>
            <a:endParaRPr lang="en-US"/>
          </a:p>
        </p:txBody>
      </p:sp>
      <p:sp>
        <p:nvSpPr>
          <p:cNvPr id="18" name="Text 16"/>
          <p:cNvSpPr/>
          <p:nvPr/>
        </p:nvSpPr>
        <p:spPr>
          <a:xfrm>
            <a:off x="371475" y="4758035"/>
            <a:ext cx="2941975" cy="106561"/>
          </a:xfrm>
          <a:prstGeom prst="rect">
            <a:avLst/>
          </a:prstGeom>
          <a:noFill/>
          <a:ln/>
        </p:spPr>
        <p:txBody>
          <a:bodyPr wrap="square" lIns="0" tIns="0" rIns="0" bIns="0" rtlCol="0" anchor="t"/>
          <a:lstStyle/>
          <a:p>
            <a:pPr marL="0" indent="0" algn="l">
              <a:lnSpc>
                <a:spcPts val="840"/>
              </a:lnSpc>
              <a:buNone/>
            </a:pPr>
            <a:r>
              <a:rPr lang="en-US" sz="600" b="1" dirty="0">
                <a:solidFill>
                  <a:srgbClr val="92400E"/>
                </a:solidFill>
                <a:latin typeface="Arial" pitchFamily="34" charset="0"/>
                <a:ea typeface="Arial" pitchFamily="34" charset="-122"/>
                <a:cs typeface="Arial" pitchFamily="34" charset="-120"/>
              </a:rPr>
              <a:t>Note:</a:t>
            </a:r>
            <a:r>
              <a:rPr lang="en-US" sz="600" dirty="0">
                <a:solidFill>
                  <a:srgbClr val="92400E"/>
                </a:solidFill>
                <a:latin typeface="Arial" pitchFamily="34" charset="0"/>
                <a:ea typeface="Arial" pitchFamily="34" charset="-122"/>
                <a:cs typeface="Arial" pitchFamily="34" charset="-120"/>
              </a:rPr>
              <a:t> Teams has no native dictation.</a:t>
            </a:r>
            <a:endParaRPr lang="en-US" sz="600" dirty="0"/>
          </a:p>
        </p:txBody>
      </p:sp>
      <p:sp>
        <p:nvSpPr>
          <p:cNvPr id="19" name="Text 17"/>
          <p:cNvSpPr/>
          <p:nvPr/>
        </p:nvSpPr>
        <p:spPr>
          <a:xfrm>
            <a:off x="3751064" y="0"/>
            <a:ext cx="5392936" cy="5143500"/>
          </a:xfrm>
          <a:prstGeom prst="rect">
            <a:avLst/>
          </a:prstGeom>
          <a:solidFill>
            <a:srgbClr val="F7F8FA"/>
          </a:solidFill>
          <a:ln/>
        </p:spPr>
        <p:txBody>
          <a:bodyPr wrap="square" rtlCol="0" anchor="ctr"/>
          <a:lstStyle/>
          <a:p>
            <a:pPr marL="0" indent="0">
              <a:buNone/>
            </a:pPr>
            <a:endParaRPr lang="en-US" dirty="0"/>
          </a:p>
        </p:txBody>
      </p:sp>
      <p:sp>
        <p:nvSpPr>
          <p:cNvPr id="20" name="Text 18"/>
          <p:cNvSpPr/>
          <p:nvPr/>
        </p:nvSpPr>
        <p:spPr>
          <a:xfrm>
            <a:off x="4017764" y="444401"/>
            <a:ext cx="4956727" cy="159990"/>
          </a:xfrm>
          <a:prstGeom prst="rect">
            <a:avLst/>
          </a:prstGeom>
          <a:noFill/>
          <a:ln/>
        </p:spPr>
        <p:txBody>
          <a:bodyPr wrap="square" lIns="0" tIns="0" rIns="0" bIns="0" rtlCol="0" anchor="t"/>
          <a:lstStyle/>
          <a:p>
            <a:pPr marL="0" indent="0" algn="l">
              <a:lnSpc>
                <a:spcPts val="1260"/>
              </a:lnSpc>
              <a:spcAft>
                <a:spcPts val="900"/>
              </a:spcAft>
              <a:buNone/>
            </a:pPr>
            <a:r>
              <a:rPr lang="en-US" sz="900" b="1" dirty="0">
                <a:solidFill>
                  <a:srgbClr val="1A1F2E"/>
                </a:solidFill>
                <a:latin typeface="Arial" pitchFamily="34" charset="0"/>
                <a:ea typeface="Arial" pitchFamily="34" charset="-122"/>
                <a:cs typeface="Arial" pitchFamily="34" charset="-120"/>
              </a:rPr>
              <a:t>SAMPLE AI INSTRUCTIONS</a:t>
            </a:r>
            <a:endParaRPr lang="en-US" sz="900" dirty="0"/>
          </a:p>
        </p:txBody>
      </p:sp>
      <p:sp>
        <p:nvSpPr>
          <p:cNvPr id="21" name="Text 19"/>
          <p:cNvSpPr/>
          <p:nvPr/>
        </p:nvSpPr>
        <p:spPr>
          <a:xfrm>
            <a:off x="4017764" y="871091"/>
            <a:ext cx="4859536" cy="2422327"/>
          </a:xfrm>
          <a:prstGeom prst="rect">
            <a:avLst/>
          </a:prstGeom>
          <a:solidFill>
            <a:srgbClr val="1A1F2E"/>
          </a:solidFill>
          <a:ln/>
        </p:spPr>
        <p:txBody>
          <a:bodyPr wrap="square" rtlCol="0" anchor="ctr"/>
          <a:lstStyle/>
          <a:p>
            <a:pPr marL="0" indent="0">
              <a:buNone/>
            </a:pPr>
            <a:endParaRPr lang="en-US" dirty="0"/>
          </a:p>
        </p:txBody>
      </p:sp>
      <p:sp>
        <p:nvSpPr>
          <p:cNvPr id="22" name="Text 20"/>
          <p:cNvSpPr/>
          <p:nvPr/>
        </p:nvSpPr>
        <p:spPr>
          <a:xfrm>
            <a:off x="4170164" y="1023491"/>
            <a:ext cx="4645831" cy="106561"/>
          </a:xfrm>
          <a:prstGeom prst="rect">
            <a:avLst/>
          </a:prstGeom>
          <a:noFill/>
          <a:ln/>
        </p:spPr>
        <p:txBody>
          <a:bodyPr wrap="square" lIns="0" tIns="0" rIns="0" bIns="0" rtlCol="0" anchor="t"/>
          <a:lstStyle/>
          <a:p>
            <a:pPr marL="0" indent="0" algn="l">
              <a:lnSpc>
                <a:spcPts val="840"/>
              </a:lnSpc>
              <a:spcAft>
                <a:spcPts val="450"/>
              </a:spcAft>
              <a:buNone/>
            </a:pPr>
            <a:r>
              <a:rPr lang="en-US" sz="600" dirty="0">
                <a:solidFill>
                  <a:srgbClr val="C9A227"/>
                </a:solidFill>
                <a:latin typeface="Arial" pitchFamily="34" charset="0"/>
                <a:ea typeface="Arial" pitchFamily="34" charset="-122"/>
                <a:cs typeface="Arial" pitchFamily="34" charset="-120"/>
              </a:rPr>
              <a:t>&lt;role&gt;</a:t>
            </a:r>
            <a:endParaRPr lang="en-US" sz="600" dirty="0"/>
          </a:p>
        </p:txBody>
      </p:sp>
      <p:sp>
        <p:nvSpPr>
          <p:cNvPr id="23" name="Text 21"/>
          <p:cNvSpPr/>
          <p:nvPr/>
        </p:nvSpPr>
        <p:spPr>
          <a:xfrm>
            <a:off x="4170164" y="1187202"/>
            <a:ext cx="4645831" cy="106561"/>
          </a:xfrm>
          <a:prstGeom prst="rect">
            <a:avLst/>
          </a:prstGeom>
          <a:noFill/>
          <a:ln/>
        </p:spPr>
        <p:txBody>
          <a:bodyPr wrap="square" lIns="76200" tIns="0" rIns="0" bIns="0" rtlCol="0" anchor="t"/>
          <a:lstStyle/>
          <a:p>
            <a:pPr marL="0" indent="0" algn="l">
              <a:lnSpc>
                <a:spcPts val="840"/>
              </a:lnSpc>
              <a:spcAft>
                <a:spcPts val="450"/>
              </a:spcAft>
              <a:buNone/>
            </a:pPr>
            <a:r>
              <a:rPr lang="en-US" sz="600" dirty="0">
                <a:solidFill>
                  <a:srgbClr val="FFFFFF">
                    <a:alpha val="85000"/>
                  </a:srgbClr>
                </a:solidFill>
                <a:latin typeface="Arial" pitchFamily="34" charset="0"/>
                <a:ea typeface="Arial" pitchFamily="34" charset="-122"/>
                <a:cs typeface="Arial" pitchFamily="34" charset="-120"/>
              </a:rPr>
              <a:t>You are a workplace chat assistant</a:t>
            </a:r>
            <a:endParaRPr lang="en-US" sz="600" dirty="0"/>
          </a:p>
        </p:txBody>
      </p:sp>
      <p:sp>
        <p:nvSpPr>
          <p:cNvPr id="24" name="Text 22"/>
          <p:cNvSpPr/>
          <p:nvPr/>
        </p:nvSpPr>
        <p:spPr>
          <a:xfrm>
            <a:off x="4170164" y="1350913"/>
            <a:ext cx="4645831" cy="106561"/>
          </a:xfrm>
          <a:prstGeom prst="rect">
            <a:avLst/>
          </a:prstGeom>
          <a:noFill/>
          <a:ln/>
        </p:spPr>
        <p:txBody>
          <a:bodyPr wrap="square" lIns="0" tIns="0" rIns="0" bIns="0" rtlCol="0" anchor="t"/>
          <a:lstStyle/>
          <a:p>
            <a:pPr marL="0" indent="0" algn="l">
              <a:lnSpc>
                <a:spcPts val="840"/>
              </a:lnSpc>
              <a:spcAft>
                <a:spcPts val="450"/>
              </a:spcAft>
              <a:buNone/>
            </a:pPr>
            <a:r>
              <a:rPr lang="en-US" sz="600" dirty="0">
                <a:solidFill>
                  <a:srgbClr val="C9A227"/>
                </a:solidFill>
                <a:latin typeface="Arial" pitchFamily="34" charset="0"/>
                <a:ea typeface="Arial" pitchFamily="34" charset="-122"/>
                <a:cs typeface="Arial" pitchFamily="34" charset="-120"/>
              </a:rPr>
              <a:t>&lt;/role&gt;</a:t>
            </a:r>
            <a:endParaRPr lang="en-US" sz="600" dirty="0"/>
          </a:p>
        </p:txBody>
      </p:sp>
      <p:sp>
        <p:nvSpPr>
          <p:cNvPr id="25" name="Text 23"/>
          <p:cNvSpPr/>
          <p:nvPr/>
        </p:nvSpPr>
        <p:spPr>
          <a:xfrm>
            <a:off x="4170164" y="1514624"/>
            <a:ext cx="4645831" cy="106561"/>
          </a:xfrm>
          <a:prstGeom prst="rect">
            <a:avLst/>
          </a:prstGeom>
          <a:noFill/>
          <a:ln/>
        </p:spPr>
        <p:txBody>
          <a:bodyPr wrap="square" lIns="0" tIns="0" rIns="0" bIns="0" rtlCol="0" anchor="t"/>
          <a:lstStyle/>
          <a:p>
            <a:pPr marL="0" indent="0" algn="l">
              <a:lnSpc>
                <a:spcPts val="840"/>
              </a:lnSpc>
              <a:spcAft>
                <a:spcPts val="450"/>
              </a:spcAft>
              <a:buNone/>
            </a:pPr>
            <a:r>
              <a:rPr lang="en-US" sz="600" dirty="0">
                <a:solidFill>
                  <a:srgbClr val="C9A227"/>
                </a:solidFill>
                <a:latin typeface="Arial" pitchFamily="34" charset="0"/>
                <a:ea typeface="Arial" pitchFamily="34" charset="-122"/>
                <a:cs typeface="Arial" pitchFamily="34" charset="-120"/>
              </a:rPr>
              <a:t>&lt;instructions&gt;</a:t>
            </a:r>
            <a:endParaRPr lang="en-US" sz="600" dirty="0"/>
          </a:p>
        </p:txBody>
      </p:sp>
      <p:sp>
        <p:nvSpPr>
          <p:cNvPr id="26" name="Text 24"/>
          <p:cNvSpPr/>
          <p:nvPr/>
        </p:nvSpPr>
        <p:spPr>
          <a:xfrm>
            <a:off x="4170164" y="1678335"/>
            <a:ext cx="4645831" cy="342900"/>
          </a:xfrm>
          <a:prstGeom prst="rect">
            <a:avLst/>
          </a:prstGeom>
          <a:noFill/>
          <a:ln/>
        </p:spPr>
        <p:txBody>
          <a:bodyPr wrap="square" lIns="76200" tIns="0" rIns="0" bIns="0" rtlCol="0" anchor="t"/>
          <a:lstStyle/>
          <a:p>
            <a:pPr marL="0" indent="0" algn="l">
              <a:lnSpc>
                <a:spcPts val="900"/>
              </a:lnSpc>
              <a:spcAft>
                <a:spcPts val="450"/>
              </a:spcAft>
              <a:buNone/>
            </a:pPr>
            <a:r>
              <a:rPr lang="en-US" sz="600" dirty="0">
                <a:solidFill>
                  <a:srgbClr val="FFFFFF">
                    <a:alpha val="85000"/>
                  </a:srgbClr>
                </a:solidFill>
                <a:latin typeface="Arial" pitchFamily="34" charset="0"/>
                <a:ea typeface="Arial" pitchFamily="34" charset="-122"/>
                <a:cs typeface="Arial" pitchFamily="34" charset="-120"/>
              </a:rPr>
              <a:t>Format the User Message for Teams chat.</a:t>
            </a:r>
            <a:endParaRPr lang="en-US" sz="600" dirty="0"/>
          </a:p>
          <a:p>
            <a:pPr marL="0" indent="0" algn="l">
              <a:lnSpc>
                <a:spcPts val="900"/>
              </a:lnSpc>
              <a:spcAft>
                <a:spcPts val="450"/>
              </a:spcAft>
              <a:buNone/>
            </a:pPr>
            <a:r>
              <a:rPr lang="en-US" sz="600" dirty="0">
                <a:solidFill>
                  <a:srgbClr val="FFFFFF">
                    <a:alpha val="85000"/>
                  </a:srgbClr>
                </a:solidFill>
                <a:latin typeface="Arial" pitchFamily="34" charset="0"/>
                <a:ea typeface="Arial" pitchFamily="34" charset="-122"/>
                <a:cs typeface="Arial" pitchFamily="34" charset="-120"/>
              </a:rPr>
              <a:t> Keep it conversational but professional.</a:t>
            </a:r>
            <a:endParaRPr lang="en-US" sz="600" dirty="0"/>
          </a:p>
          <a:p>
            <a:pPr marL="0" indent="0" algn="l">
              <a:lnSpc>
                <a:spcPts val="900"/>
              </a:lnSpc>
              <a:spcAft>
                <a:spcPts val="450"/>
              </a:spcAft>
              <a:buNone/>
            </a:pPr>
            <a:r>
              <a:rPr lang="en-US" sz="600" dirty="0">
                <a:solidFill>
                  <a:srgbClr val="FFFFFF">
                    <a:alpha val="85000"/>
                  </a:srgbClr>
                </a:solidFill>
                <a:latin typeface="Arial" pitchFamily="34" charset="0"/>
                <a:ea typeface="Arial" pitchFamily="34" charset="-122"/>
                <a:cs typeface="Arial" pitchFamily="34" charset="-120"/>
              </a:rPr>
              <a:t> Messages should feel natural, not formal.</a:t>
            </a:r>
            <a:endParaRPr lang="en-US" sz="600" dirty="0"/>
          </a:p>
        </p:txBody>
      </p:sp>
      <p:sp>
        <p:nvSpPr>
          <p:cNvPr id="27" name="Text 25"/>
          <p:cNvSpPr/>
          <p:nvPr/>
        </p:nvSpPr>
        <p:spPr>
          <a:xfrm>
            <a:off x="4200816" y="2131665"/>
            <a:ext cx="4645831" cy="106561"/>
          </a:xfrm>
          <a:prstGeom prst="rect">
            <a:avLst/>
          </a:prstGeom>
          <a:noFill/>
          <a:ln/>
        </p:spPr>
        <p:txBody>
          <a:bodyPr wrap="square" lIns="0" tIns="0" rIns="0" bIns="0" rtlCol="0" anchor="t"/>
          <a:lstStyle/>
          <a:p>
            <a:pPr marL="0" indent="0" algn="l">
              <a:lnSpc>
                <a:spcPts val="840"/>
              </a:lnSpc>
              <a:spcAft>
                <a:spcPts val="450"/>
              </a:spcAft>
              <a:buNone/>
            </a:pPr>
            <a:r>
              <a:rPr lang="en-US" sz="600" dirty="0">
                <a:solidFill>
                  <a:srgbClr val="C9A227"/>
                </a:solidFill>
                <a:latin typeface="Arial" pitchFamily="34" charset="0"/>
                <a:ea typeface="Arial" pitchFamily="34" charset="-122"/>
                <a:cs typeface="Arial" pitchFamily="34" charset="-120"/>
              </a:rPr>
              <a:t>&lt;/instructions&gt;</a:t>
            </a:r>
            <a:endParaRPr lang="en-US" sz="600" dirty="0"/>
          </a:p>
        </p:txBody>
      </p:sp>
      <p:sp>
        <p:nvSpPr>
          <p:cNvPr id="28" name="Text 26"/>
          <p:cNvSpPr/>
          <p:nvPr/>
        </p:nvSpPr>
        <p:spPr>
          <a:xfrm>
            <a:off x="4170164" y="2242096"/>
            <a:ext cx="4645831" cy="106561"/>
          </a:xfrm>
          <a:prstGeom prst="rect">
            <a:avLst/>
          </a:prstGeom>
          <a:noFill/>
          <a:ln/>
        </p:spPr>
        <p:txBody>
          <a:bodyPr wrap="square" lIns="0" tIns="0" rIns="0" bIns="0" rtlCol="0" anchor="t"/>
          <a:lstStyle/>
          <a:p>
            <a:pPr marL="0" indent="0" algn="l">
              <a:lnSpc>
                <a:spcPts val="840"/>
              </a:lnSpc>
              <a:spcAft>
                <a:spcPts val="450"/>
              </a:spcAft>
              <a:buNone/>
            </a:pPr>
            <a:r>
              <a:rPr lang="en-US" sz="600" dirty="0">
                <a:solidFill>
                  <a:srgbClr val="C9A227"/>
                </a:solidFill>
                <a:latin typeface="Arial" pitchFamily="34" charset="0"/>
                <a:ea typeface="Arial" pitchFamily="34" charset="-122"/>
                <a:cs typeface="Arial" pitchFamily="34" charset="-120"/>
              </a:rPr>
              <a:t>&lt;requirements&gt;</a:t>
            </a:r>
            <a:endParaRPr lang="en-US" sz="600" dirty="0"/>
          </a:p>
        </p:txBody>
      </p:sp>
      <p:sp>
        <p:nvSpPr>
          <p:cNvPr id="29" name="Text 27"/>
          <p:cNvSpPr/>
          <p:nvPr/>
        </p:nvSpPr>
        <p:spPr>
          <a:xfrm>
            <a:off x="4170164" y="2405807"/>
            <a:ext cx="4645831" cy="571500"/>
          </a:xfrm>
          <a:prstGeom prst="rect">
            <a:avLst/>
          </a:prstGeom>
          <a:noFill/>
          <a:ln/>
        </p:spPr>
        <p:txBody>
          <a:bodyPr wrap="square" lIns="76200" tIns="0" rIns="0" bIns="0" rtlCol="0" anchor="t"/>
          <a:lstStyle/>
          <a:p>
            <a:pPr marL="0" indent="0" algn="l">
              <a:lnSpc>
                <a:spcPts val="900"/>
              </a:lnSpc>
              <a:buNone/>
            </a:pPr>
            <a:r>
              <a:rPr lang="en-US" sz="600" dirty="0">
                <a:solidFill>
                  <a:srgbClr val="FFFFFF">
                    <a:alpha val="85000"/>
                  </a:srgbClr>
                </a:solidFill>
                <a:latin typeface="Arial" pitchFamily="34" charset="0"/>
                <a:ea typeface="Arial" pitchFamily="34" charset="-122"/>
                <a:cs typeface="Arial" pitchFamily="34" charset="-120"/>
              </a:rPr>
              <a:t>Short, direct messages (no essays)</a:t>
            </a:r>
            <a:endParaRPr lang="en-US" sz="600" dirty="0"/>
          </a:p>
          <a:p>
            <a:pPr marL="0" indent="0" algn="l">
              <a:lnSpc>
                <a:spcPts val="900"/>
              </a:lnSpc>
              <a:buNone/>
            </a:pPr>
            <a:r>
              <a:rPr lang="en-US" sz="600" dirty="0">
                <a:solidFill>
                  <a:srgbClr val="FFFFFF">
                    <a:alpha val="85000"/>
                  </a:srgbClr>
                </a:solidFill>
                <a:latin typeface="Arial" pitchFamily="34" charset="0"/>
                <a:ea typeface="Arial" pitchFamily="34" charset="-122"/>
                <a:cs typeface="Arial" pitchFamily="34" charset="-120"/>
              </a:rPr>
              <a:t> Professional but friendly tone</a:t>
            </a:r>
            <a:endParaRPr lang="en-US" sz="600" dirty="0"/>
          </a:p>
          <a:p>
            <a:pPr marL="0" indent="0" algn="l">
              <a:lnSpc>
                <a:spcPts val="900"/>
              </a:lnSpc>
              <a:buNone/>
            </a:pPr>
            <a:r>
              <a:rPr lang="en-US" sz="600" dirty="0">
                <a:solidFill>
                  <a:srgbClr val="FFFFFF">
                    <a:alpha val="85000"/>
                  </a:srgbClr>
                </a:solidFill>
                <a:latin typeface="Arial" pitchFamily="34" charset="0"/>
                <a:ea typeface="Arial" pitchFamily="34" charset="-122"/>
                <a:cs typeface="Arial" pitchFamily="34" charset="-120"/>
              </a:rPr>
              <a:t> Handle @mentions as usernames</a:t>
            </a:r>
            <a:endParaRPr lang="en-US" sz="600" dirty="0"/>
          </a:p>
          <a:p>
            <a:pPr marL="0" indent="0" algn="l">
              <a:lnSpc>
                <a:spcPts val="900"/>
              </a:lnSpc>
              <a:buNone/>
            </a:pPr>
            <a:r>
              <a:rPr lang="en-US" sz="600" dirty="0">
                <a:solidFill>
                  <a:srgbClr val="FFFFFF">
                    <a:alpha val="85000"/>
                  </a:srgbClr>
                </a:solidFill>
                <a:latin typeface="Arial" pitchFamily="34" charset="0"/>
                <a:ea typeface="Arial" pitchFamily="34" charset="-122"/>
                <a:cs typeface="Arial" pitchFamily="34" charset="-120"/>
              </a:rPr>
              <a:t> No formal greetings/signatures</a:t>
            </a:r>
            <a:endParaRPr lang="en-US" sz="600" dirty="0"/>
          </a:p>
          <a:p>
            <a:pPr marL="0" indent="0" algn="l">
              <a:lnSpc>
                <a:spcPts val="900"/>
              </a:lnSpc>
              <a:buNone/>
            </a:pPr>
            <a:r>
              <a:rPr lang="en-US" sz="600" dirty="0">
                <a:solidFill>
                  <a:srgbClr val="FFFFFF">
                    <a:alpha val="85000"/>
                  </a:srgbClr>
                </a:solidFill>
                <a:latin typeface="Arial" pitchFamily="34" charset="0"/>
                <a:ea typeface="Arial" pitchFamily="34" charset="-122"/>
                <a:cs typeface="Arial" pitchFamily="34" charset="-120"/>
              </a:rPr>
              <a:t> Add appropriate punctuation only</a:t>
            </a:r>
            <a:endParaRPr lang="en-US" sz="600" dirty="0"/>
          </a:p>
        </p:txBody>
      </p:sp>
      <p:sp>
        <p:nvSpPr>
          <p:cNvPr id="30" name="Text 28"/>
          <p:cNvSpPr/>
          <p:nvPr/>
        </p:nvSpPr>
        <p:spPr>
          <a:xfrm>
            <a:off x="4170164" y="3034457"/>
            <a:ext cx="4645831" cy="106561"/>
          </a:xfrm>
          <a:prstGeom prst="rect">
            <a:avLst/>
          </a:prstGeom>
          <a:noFill/>
          <a:ln/>
        </p:spPr>
        <p:txBody>
          <a:bodyPr wrap="square" lIns="0" tIns="0" rIns="0" bIns="0" rtlCol="0" anchor="t"/>
          <a:lstStyle/>
          <a:p>
            <a:pPr marL="0" indent="0" algn="l">
              <a:lnSpc>
                <a:spcPts val="840"/>
              </a:lnSpc>
              <a:spcBef>
                <a:spcPts val="450"/>
              </a:spcBef>
              <a:buNone/>
            </a:pPr>
            <a:r>
              <a:rPr lang="en-US" sz="600" dirty="0">
                <a:solidFill>
                  <a:srgbClr val="C9A227"/>
                </a:solidFill>
                <a:latin typeface="Arial" pitchFamily="34" charset="0"/>
                <a:ea typeface="Arial" pitchFamily="34" charset="-122"/>
                <a:cs typeface="Arial" pitchFamily="34" charset="-120"/>
              </a:rPr>
              <a:t>&lt;/requirements&gt;</a:t>
            </a:r>
            <a:endParaRPr lang="en-US" sz="600" dirty="0"/>
          </a:p>
        </p:txBody>
      </p:sp>
      <p:sp>
        <p:nvSpPr>
          <p:cNvPr id="31" name="Text 29"/>
          <p:cNvSpPr/>
          <p:nvPr/>
        </p:nvSpPr>
        <p:spPr>
          <a:xfrm>
            <a:off x="4017764" y="3569643"/>
            <a:ext cx="2386905" cy="561677"/>
          </a:xfrm>
          <a:prstGeom prst="rect">
            <a:avLst/>
          </a:prstGeom>
          <a:solidFill>
            <a:srgbClr val="DBEAFE"/>
          </a:solidFill>
          <a:ln/>
        </p:spPr>
        <p:txBody>
          <a:bodyPr wrap="square" rtlCol="0" anchor="ctr"/>
          <a:lstStyle/>
          <a:p>
            <a:pPr marL="0" indent="0">
              <a:buNone/>
            </a:pPr>
            <a:endParaRPr lang="en-US" dirty="0"/>
          </a:p>
        </p:txBody>
      </p:sp>
      <p:sp>
        <p:nvSpPr>
          <p:cNvPr id="32" name="Shape 30"/>
          <p:cNvSpPr/>
          <p:nvPr/>
        </p:nvSpPr>
        <p:spPr>
          <a:xfrm>
            <a:off x="4032052" y="3569643"/>
            <a:ext cx="0" cy="561677"/>
          </a:xfrm>
          <a:prstGeom prst="line">
            <a:avLst/>
          </a:prstGeom>
          <a:noFill/>
          <a:ln w="28575">
            <a:solidFill>
              <a:srgbClr val="3B82F6"/>
            </a:solidFill>
            <a:prstDash val="solid"/>
          </a:ln>
        </p:spPr>
        <p:txBody>
          <a:bodyPr/>
          <a:lstStyle/>
          <a:p>
            <a:endParaRPr lang="en-US"/>
          </a:p>
        </p:txBody>
      </p:sp>
      <p:sp>
        <p:nvSpPr>
          <p:cNvPr id="33" name="Text 31"/>
          <p:cNvSpPr/>
          <p:nvPr/>
        </p:nvSpPr>
        <p:spPr>
          <a:xfrm>
            <a:off x="4141589" y="3664893"/>
            <a:ext cx="2211187" cy="119955"/>
          </a:xfrm>
          <a:prstGeom prst="rect">
            <a:avLst/>
          </a:prstGeom>
          <a:noFill/>
          <a:ln/>
        </p:spPr>
        <p:txBody>
          <a:bodyPr wrap="square" lIns="0" tIns="0" rIns="0" bIns="0" rtlCol="0" anchor="t"/>
          <a:lstStyle/>
          <a:p>
            <a:pPr marL="0" indent="0" algn="l">
              <a:lnSpc>
                <a:spcPts val="945"/>
              </a:lnSpc>
              <a:spcAft>
                <a:spcPts val="300"/>
              </a:spcAft>
              <a:buNone/>
            </a:pPr>
            <a:r>
              <a:rPr lang="en-US" sz="675" b="1" dirty="0">
                <a:solidFill>
                  <a:srgbClr val="1E40AF"/>
                </a:solidFill>
                <a:latin typeface="Arial" pitchFamily="34" charset="0"/>
                <a:ea typeface="Arial" pitchFamily="34" charset="-122"/>
                <a:cs typeface="Arial" pitchFamily="34" charset="-120"/>
              </a:rPr>
              <a:t>EXAMPLE INPUT</a:t>
            </a:r>
            <a:endParaRPr lang="en-US" sz="675" dirty="0"/>
          </a:p>
        </p:txBody>
      </p:sp>
      <p:sp>
        <p:nvSpPr>
          <p:cNvPr id="34" name="Text 32"/>
          <p:cNvSpPr/>
          <p:nvPr/>
        </p:nvSpPr>
        <p:spPr>
          <a:xfrm>
            <a:off x="4141589" y="3822948"/>
            <a:ext cx="2211187" cy="213122"/>
          </a:xfrm>
          <a:prstGeom prst="rect">
            <a:avLst/>
          </a:prstGeom>
          <a:noFill/>
          <a:ln/>
        </p:spPr>
        <p:txBody>
          <a:bodyPr wrap="square" lIns="0" tIns="0" rIns="0" bIns="0" rtlCol="0" anchor="t"/>
          <a:lstStyle/>
          <a:p>
            <a:pPr marL="0" indent="0" algn="l">
              <a:lnSpc>
                <a:spcPts val="840"/>
              </a:lnSpc>
              <a:buNone/>
            </a:pPr>
            <a:r>
              <a:rPr lang="en-US" sz="600" dirty="0">
                <a:solidFill>
                  <a:srgbClr val="1E40AF"/>
                </a:solidFill>
                <a:latin typeface="Arial" pitchFamily="34" charset="0"/>
                <a:ea typeface="Arial" pitchFamily="34" charset="-122"/>
                <a:cs typeface="Arial" pitchFamily="34" charset="-120"/>
              </a:rPr>
              <a:t>"hey can you let Sarah know that the meeting got moved to three PM and we'll need her to bring the quarterly report"</a:t>
            </a:r>
            <a:endParaRPr lang="en-US" sz="600" dirty="0"/>
          </a:p>
        </p:txBody>
      </p:sp>
      <p:sp>
        <p:nvSpPr>
          <p:cNvPr id="35" name="Text 33"/>
          <p:cNvSpPr/>
          <p:nvPr/>
        </p:nvSpPr>
        <p:spPr>
          <a:xfrm>
            <a:off x="6499920" y="3560118"/>
            <a:ext cx="2377380" cy="580727"/>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36" name="Text 34"/>
          <p:cNvSpPr/>
          <p:nvPr/>
        </p:nvSpPr>
        <p:spPr>
          <a:xfrm>
            <a:off x="6604695" y="3664893"/>
            <a:ext cx="2211187" cy="119955"/>
          </a:xfrm>
          <a:prstGeom prst="rect">
            <a:avLst/>
          </a:prstGeom>
          <a:noFill/>
          <a:ln/>
        </p:spPr>
        <p:txBody>
          <a:bodyPr wrap="square" lIns="0" tIns="0" rIns="0" bIns="0" rtlCol="0" anchor="t"/>
          <a:lstStyle/>
          <a:p>
            <a:pPr marL="0" indent="0" algn="l">
              <a:lnSpc>
                <a:spcPts val="945"/>
              </a:lnSpc>
              <a:spcAft>
                <a:spcPts val="300"/>
              </a:spcAft>
              <a:buNone/>
            </a:pPr>
            <a:r>
              <a:rPr lang="en-US" sz="675" b="1" dirty="0">
                <a:solidFill>
                  <a:srgbClr val="1A1F2E"/>
                </a:solidFill>
                <a:latin typeface="Arial" pitchFamily="34" charset="0"/>
                <a:ea typeface="Arial" pitchFamily="34" charset="-122"/>
                <a:cs typeface="Arial" pitchFamily="34" charset="-120"/>
              </a:rPr>
              <a:t>EXAMPLE OUTPUT</a:t>
            </a:r>
            <a:endParaRPr lang="en-US" sz="675" dirty="0"/>
          </a:p>
        </p:txBody>
      </p:sp>
      <p:sp>
        <p:nvSpPr>
          <p:cNvPr id="37" name="Text 35"/>
          <p:cNvSpPr/>
          <p:nvPr/>
        </p:nvSpPr>
        <p:spPr>
          <a:xfrm>
            <a:off x="6604695" y="3822948"/>
            <a:ext cx="2211187" cy="213122"/>
          </a:xfrm>
          <a:prstGeom prst="rect">
            <a:avLst/>
          </a:prstGeom>
          <a:noFill/>
          <a:ln/>
        </p:spPr>
        <p:txBody>
          <a:bodyPr wrap="square" lIns="0" tIns="0" rIns="0" bIns="0" rtlCol="0" anchor="t"/>
          <a:lstStyle/>
          <a:p>
            <a:pPr marL="0" indent="0" algn="l">
              <a:lnSpc>
                <a:spcPts val="840"/>
              </a:lnSpc>
              <a:buNone/>
            </a:pPr>
            <a:r>
              <a:rPr lang="en-US" sz="600" dirty="0">
                <a:solidFill>
                  <a:srgbClr val="6B7280"/>
                </a:solidFill>
                <a:latin typeface="Arial" pitchFamily="34" charset="0"/>
                <a:ea typeface="Arial" pitchFamily="34" charset="-122"/>
                <a:cs typeface="Arial" pitchFamily="34" charset="-120"/>
              </a:rPr>
              <a:t>Hey @Sarah, heads up - the meeting got moved to 3 PM. Can you bring the quarterly report?</a:t>
            </a:r>
            <a:endParaRPr lang="en-US" sz="600" dirty="0"/>
          </a:p>
        </p:txBody>
      </p:sp>
      <p:sp>
        <p:nvSpPr>
          <p:cNvPr id="38" name="Text 36"/>
          <p:cNvSpPr/>
          <p:nvPr/>
        </p:nvSpPr>
        <p:spPr>
          <a:xfrm>
            <a:off x="4017764" y="4388495"/>
            <a:ext cx="4859536" cy="310455"/>
          </a:xfrm>
          <a:prstGeom prst="rect">
            <a:avLst/>
          </a:prstGeom>
          <a:solidFill>
            <a:srgbClr val="DCFCE7"/>
          </a:solidFill>
          <a:ln/>
        </p:spPr>
        <p:txBody>
          <a:bodyPr wrap="square" rtlCol="0" anchor="ctr"/>
          <a:lstStyle/>
          <a:p>
            <a:pPr marL="0" indent="0">
              <a:buNone/>
            </a:pPr>
            <a:endParaRPr lang="en-US" dirty="0"/>
          </a:p>
        </p:txBody>
      </p:sp>
      <p:sp>
        <p:nvSpPr>
          <p:cNvPr id="39" name="Shape 37"/>
          <p:cNvSpPr/>
          <p:nvPr/>
        </p:nvSpPr>
        <p:spPr>
          <a:xfrm>
            <a:off x="4032052" y="4388495"/>
            <a:ext cx="0" cy="310455"/>
          </a:xfrm>
          <a:prstGeom prst="line">
            <a:avLst/>
          </a:prstGeom>
          <a:noFill/>
          <a:ln w="28575">
            <a:solidFill>
              <a:srgbClr val="059669"/>
            </a:solidFill>
            <a:prstDash val="solid"/>
          </a:ln>
        </p:spPr>
        <p:txBody>
          <a:bodyPr/>
          <a:lstStyle/>
          <a:p>
            <a:endParaRPr lang="en-US"/>
          </a:p>
        </p:txBody>
      </p:sp>
      <p:sp>
        <p:nvSpPr>
          <p:cNvPr id="40" name="Text 38"/>
          <p:cNvSpPr/>
          <p:nvPr/>
        </p:nvSpPr>
        <p:spPr>
          <a:xfrm>
            <a:off x="4141589" y="4483745"/>
            <a:ext cx="4733270" cy="119955"/>
          </a:xfrm>
          <a:prstGeom prst="rect">
            <a:avLst/>
          </a:prstGeom>
          <a:noFill/>
          <a:ln/>
        </p:spPr>
        <p:txBody>
          <a:bodyPr wrap="square" lIns="0" tIns="0" rIns="0" bIns="0" rtlCol="0" anchor="t"/>
          <a:lstStyle/>
          <a:p>
            <a:pPr marL="0" indent="0" algn="l">
              <a:lnSpc>
                <a:spcPts val="945"/>
              </a:lnSpc>
              <a:buNone/>
            </a:pPr>
            <a:r>
              <a:rPr lang="en-US" sz="675" b="1" dirty="0">
                <a:solidFill>
                  <a:srgbClr val="166534"/>
                </a:solidFill>
                <a:latin typeface="Arial" pitchFamily="34" charset="0"/>
                <a:ea typeface="Arial" pitchFamily="34" charset="-122"/>
                <a:cs typeface="Arial" pitchFamily="34" charset="-120"/>
              </a:rPr>
              <a:t>Pro tip:</a:t>
            </a:r>
            <a:r>
              <a:rPr lang="en-US" sz="675" dirty="0">
                <a:solidFill>
                  <a:srgbClr val="166534"/>
                </a:solidFill>
                <a:latin typeface="Arial" pitchFamily="34" charset="0"/>
                <a:ea typeface="Arial" pitchFamily="34" charset="-122"/>
                <a:cs typeface="Arial" pitchFamily="34" charset="-120"/>
              </a:rPr>
              <a:t> Say "at Sarah" to get @Sarah. The AI learns to convert spoken mentions to proper format.</a:t>
            </a:r>
            <a:endParaRPr lang="en-US" sz="675"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3598664" cy="5143500"/>
          </a:xfrm>
          <a:prstGeom prst="rect">
            <a:avLst/>
          </a:prstGeom>
          <a:solidFill>
            <a:srgbClr val="1A1F2E"/>
          </a:solidFill>
          <a:ln/>
        </p:spPr>
        <p:txBody>
          <a:bodyPr wrap="square" rtlCol="0" anchor="ctr"/>
          <a:lstStyle/>
          <a:p>
            <a:pPr marL="0" indent="0">
              <a:buNone/>
            </a:pPr>
            <a:endParaRPr lang="en-US" dirty="0"/>
          </a:p>
        </p:txBody>
      </p:sp>
      <p:sp>
        <p:nvSpPr>
          <p:cNvPr id="3" name="Text 1"/>
          <p:cNvSpPr/>
          <p:nvPr/>
        </p:nvSpPr>
        <p:spPr>
          <a:xfrm>
            <a:off x="266700" y="240804"/>
            <a:ext cx="778073" cy="220861"/>
          </a:xfrm>
          <a:prstGeom prst="rect">
            <a:avLst/>
          </a:prstGeom>
          <a:solidFill>
            <a:srgbClr val="8B5CF6"/>
          </a:solidFill>
          <a:ln/>
        </p:spPr>
        <p:txBody>
          <a:bodyPr wrap="square" rtlCol="0" anchor="ctr"/>
          <a:lstStyle/>
          <a:p>
            <a:pPr marL="0" indent="0">
              <a:buNone/>
            </a:pPr>
            <a:endParaRPr lang="en-US" dirty="0"/>
          </a:p>
        </p:txBody>
      </p:sp>
      <p:sp>
        <p:nvSpPr>
          <p:cNvPr id="4" name="Text 2"/>
          <p:cNvSpPr/>
          <p:nvPr/>
        </p:nvSpPr>
        <p:spPr>
          <a:xfrm>
            <a:off x="361950" y="297954"/>
            <a:ext cx="599325" cy="106561"/>
          </a:xfrm>
          <a:prstGeom prst="rect">
            <a:avLst/>
          </a:prstGeom>
          <a:noFill/>
          <a:ln/>
        </p:spPr>
        <p:txBody>
          <a:bodyPr wrap="square" lIns="0" tIns="0" rIns="0" bIns="0" rtlCol="0" anchor="t"/>
          <a:lstStyle/>
          <a:p>
            <a:pPr marL="0" indent="0" algn="l">
              <a:lnSpc>
                <a:spcPts val="840"/>
              </a:lnSpc>
              <a:buNone/>
            </a:pPr>
            <a:r>
              <a:rPr lang="en-US" sz="600" b="1" dirty="0">
                <a:solidFill>
                  <a:srgbClr val="FFFFFF"/>
                </a:solidFill>
                <a:latin typeface="Arial" pitchFamily="34" charset="0"/>
                <a:ea typeface="Arial" pitchFamily="34" charset="-122"/>
                <a:cs typeface="Arial" pitchFamily="34" charset="-120"/>
              </a:rPr>
              <a:t>MODE 3 OF 5</a:t>
            </a:r>
            <a:endParaRPr lang="en-US" sz="600" dirty="0"/>
          </a:p>
        </p:txBody>
      </p:sp>
      <p:sp>
        <p:nvSpPr>
          <p:cNvPr id="5" name="Text 3"/>
          <p:cNvSpPr/>
          <p:nvPr/>
        </p:nvSpPr>
        <p:spPr>
          <a:xfrm>
            <a:off x="266700" y="709315"/>
            <a:ext cx="1573911" cy="548580"/>
          </a:xfrm>
          <a:prstGeom prst="rect">
            <a:avLst/>
          </a:prstGeom>
          <a:noFill/>
          <a:ln/>
        </p:spPr>
        <p:txBody>
          <a:bodyPr wrap="square" lIns="0" tIns="0" rIns="0" bIns="0" rtlCol="0" anchor="t"/>
          <a:lstStyle/>
          <a:p>
            <a:pPr marL="0" indent="0" algn="l">
              <a:lnSpc>
                <a:spcPts val="2160"/>
              </a:lnSpc>
              <a:spcAft>
                <a:spcPts val="900"/>
              </a:spcAft>
              <a:buNone/>
            </a:pPr>
            <a:r>
              <a:rPr lang="en-US" sz="1800" dirty="0">
                <a:solidFill>
                  <a:srgbClr val="FFFFFF"/>
                </a:solidFill>
                <a:latin typeface="Georgia" pitchFamily="34" charset="0"/>
                <a:ea typeface="Georgia" pitchFamily="34" charset="-122"/>
                <a:cs typeface="Georgia" pitchFamily="34" charset="-120"/>
              </a:rPr>
              <a:t>Professional</a:t>
            </a:r>
            <a:endParaRPr lang="en-US" sz="1800" dirty="0"/>
          </a:p>
          <a:p>
            <a:pPr marL="0" indent="0" algn="l">
              <a:lnSpc>
                <a:spcPts val="2160"/>
              </a:lnSpc>
              <a:spcAft>
                <a:spcPts val="900"/>
              </a:spcAft>
              <a:buNone/>
            </a:pPr>
            <a:r>
              <a:rPr lang="en-US" sz="1800" dirty="0">
                <a:solidFill>
                  <a:srgbClr val="FFFFFF"/>
                </a:solidFill>
                <a:latin typeface="Georgia" pitchFamily="34" charset="0"/>
                <a:ea typeface="Georgia" pitchFamily="34" charset="-122"/>
                <a:cs typeface="Georgia" pitchFamily="34" charset="-120"/>
              </a:rPr>
              <a:t>Email Mode</a:t>
            </a:r>
            <a:endParaRPr lang="en-US" sz="1800" dirty="0"/>
          </a:p>
        </p:txBody>
      </p:sp>
      <p:sp>
        <p:nvSpPr>
          <p:cNvPr id="6" name="Text 4"/>
          <p:cNvSpPr/>
          <p:nvPr/>
        </p:nvSpPr>
        <p:spPr>
          <a:xfrm>
            <a:off x="266700" y="1829395"/>
            <a:ext cx="3065264" cy="639961"/>
          </a:xfrm>
          <a:prstGeom prst="rect">
            <a:avLst/>
          </a:prstGeom>
          <a:solidFill>
            <a:srgbClr val="C9A227">
              <a:alpha val="15000"/>
            </a:srgbClr>
          </a:solidFill>
          <a:ln/>
        </p:spPr>
        <p:txBody>
          <a:bodyPr wrap="square" rtlCol="0" anchor="ctr"/>
          <a:lstStyle/>
          <a:p>
            <a:pPr marL="0" indent="0">
              <a:buNone/>
            </a:pPr>
            <a:endParaRPr lang="en-US" dirty="0"/>
          </a:p>
        </p:txBody>
      </p:sp>
      <p:sp>
        <p:nvSpPr>
          <p:cNvPr id="7" name="Shape 5"/>
          <p:cNvSpPr/>
          <p:nvPr/>
        </p:nvSpPr>
        <p:spPr>
          <a:xfrm>
            <a:off x="280988" y="1829395"/>
            <a:ext cx="0" cy="639961"/>
          </a:xfrm>
          <a:prstGeom prst="line">
            <a:avLst/>
          </a:prstGeom>
          <a:noFill/>
          <a:ln w="28575">
            <a:solidFill>
              <a:srgbClr val="C9A227"/>
            </a:solidFill>
            <a:prstDash val="solid"/>
          </a:ln>
        </p:spPr>
        <p:txBody>
          <a:bodyPr/>
          <a:lstStyle/>
          <a:p>
            <a:endParaRPr lang="en-US"/>
          </a:p>
        </p:txBody>
      </p:sp>
      <p:sp>
        <p:nvSpPr>
          <p:cNvPr id="8" name="Text 6"/>
          <p:cNvSpPr/>
          <p:nvPr/>
        </p:nvSpPr>
        <p:spPr>
          <a:xfrm>
            <a:off x="409575" y="1943695"/>
            <a:ext cx="2864251"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C9A227"/>
                </a:solidFill>
                <a:latin typeface="Arial" pitchFamily="34" charset="0"/>
                <a:ea typeface="Arial" pitchFamily="34" charset="-122"/>
                <a:cs typeface="Arial" pitchFamily="34" charset="-120"/>
              </a:rPr>
              <a:t>USE CASE</a:t>
            </a:r>
            <a:endParaRPr lang="en-US" sz="750" dirty="0"/>
          </a:p>
        </p:txBody>
      </p:sp>
      <p:sp>
        <p:nvSpPr>
          <p:cNvPr id="9" name="Text 7"/>
          <p:cNvSpPr/>
          <p:nvPr/>
        </p:nvSpPr>
        <p:spPr>
          <a:xfrm>
            <a:off x="409575" y="2115145"/>
            <a:ext cx="2864251" cy="239911"/>
          </a:xfrm>
          <a:prstGeom prst="rect">
            <a:avLst/>
          </a:prstGeom>
          <a:noFill/>
          <a:ln/>
        </p:spPr>
        <p:txBody>
          <a:bodyPr wrap="square" lIns="0" tIns="0" rIns="0" bIns="0" rtlCol="0" anchor="t"/>
          <a:lstStyle/>
          <a:p>
            <a:pPr marL="0" indent="0" algn="l">
              <a:lnSpc>
                <a:spcPts val="945"/>
              </a:lnSpc>
              <a:buNone/>
            </a:pPr>
            <a:r>
              <a:rPr lang="en-US" sz="675" dirty="0">
                <a:solidFill>
                  <a:srgbClr val="FFFFFF">
                    <a:alpha val="70000"/>
                  </a:srgbClr>
                </a:solidFill>
                <a:latin typeface="Arial" pitchFamily="34" charset="0"/>
                <a:ea typeface="Arial" pitchFamily="34" charset="-122"/>
                <a:cs typeface="Arial" pitchFamily="34" charset="-120"/>
              </a:rPr>
              <a:t>Transform rambling dictation into well-structured, professional emails. Perfect for busy schedules.</a:t>
            </a:r>
            <a:endParaRPr lang="en-US" sz="675" dirty="0"/>
          </a:p>
        </p:txBody>
      </p:sp>
      <p:sp>
        <p:nvSpPr>
          <p:cNvPr id="10" name="Text 8"/>
          <p:cNvSpPr/>
          <p:nvPr/>
        </p:nvSpPr>
        <p:spPr>
          <a:xfrm>
            <a:off x="266700" y="2736056"/>
            <a:ext cx="3065264" cy="804863"/>
          </a:xfrm>
          <a:prstGeom prst="rect">
            <a:avLst/>
          </a:prstGeom>
          <a:solidFill>
            <a:srgbClr val="FFFFFF">
              <a:alpha val="5000"/>
            </a:srgbClr>
          </a:solidFill>
          <a:ln/>
        </p:spPr>
        <p:txBody>
          <a:bodyPr wrap="square" rtlCol="0" anchor="ctr"/>
          <a:lstStyle/>
          <a:p>
            <a:pPr marL="0" indent="0">
              <a:buNone/>
            </a:pPr>
            <a:endParaRPr lang="en-US" dirty="0"/>
          </a:p>
        </p:txBody>
      </p:sp>
      <p:sp>
        <p:nvSpPr>
          <p:cNvPr id="11" name="Text 9"/>
          <p:cNvSpPr/>
          <p:nvPr/>
        </p:nvSpPr>
        <p:spPr>
          <a:xfrm>
            <a:off x="381000" y="2850356"/>
            <a:ext cx="2893397" cy="133350"/>
          </a:xfrm>
          <a:prstGeom prst="rect">
            <a:avLst/>
          </a:prstGeom>
          <a:noFill/>
          <a:ln/>
        </p:spPr>
        <p:txBody>
          <a:bodyPr wrap="square" lIns="0" tIns="0" rIns="0" bIns="0" rtlCol="0" anchor="t"/>
          <a:lstStyle/>
          <a:p>
            <a:pPr marL="0" indent="0" algn="l">
              <a:lnSpc>
                <a:spcPts val="1050"/>
              </a:lnSpc>
              <a:spcAft>
                <a:spcPts val="450"/>
              </a:spcAft>
              <a:buNone/>
            </a:pPr>
            <a:r>
              <a:rPr lang="en-US" sz="750" b="1" dirty="0">
                <a:solidFill>
                  <a:srgbClr val="FFFFFF"/>
                </a:solidFill>
                <a:latin typeface="Arial" pitchFamily="34" charset="0"/>
                <a:ea typeface="Arial" pitchFamily="34" charset="-122"/>
                <a:cs typeface="Arial" pitchFamily="34" charset="-120"/>
              </a:rPr>
              <a:t>CONTEXT SETTINGS</a:t>
            </a:r>
            <a:endParaRPr lang="en-US" sz="750" dirty="0"/>
          </a:p>
        </p:txBody>
      </p:sp>
      <p:sp>
        <p:nvSpPr>
          <p:cNvPr id="12" name="Text 10"/>
          <p:cNvSpPr/>
          <p:nvPr/>
        </p:nvSpPr>
        <p:spPr>
          <a:xfrm>
            <a:off x="381000" y="3040856"/>
            <a:ext cx="2893397" cy="385763"/>
          </a:xfrm>
          <a:prstGeom prst="rect">
            <a:avLst/>
          </a:prstGeom>
          <a:noFill/>
          <a:ln/>
        </p:spPr>
        <p:txBody>
          <a:bodyPr wrap="square" lIns="0" tIns="0" rIns="0" bIns="0" rtlCol="0" anchor="t"/>
          <a:lstStyle/>
          <a:p>
            <a:pPr marL="0" indent="0" algn="l">
              <a:lnSpc>
                <a:spcPts val="1013"/>
              </a:lnSpc>
              <a:buNone/>
            </a:pPr>
            <a:r>
              <a:rPr lang="en-US" sz="675" dirty="0">
                <a:solidFill>
                  <a:srgbClr val="FFFFFF">
                    <a:alpha val="60000"/>
                  </a:srgbClr>
                </a:solidFill>
                <a:latin typeface="Arial" pitchFamily="34" charset="0"/>
                <a:ea typeface="Arial" pitchFamily="34" charset="-122"/>
                <a:cs typeface="Arial" pitchFamily="34" charset="-120"/>
              </a:rPr>
              <a:t>✓ Application Context (detect Outlook)</a:t>
            </a:r>
            <a:endParaRPr lang="en-US" sz="675" dirty="0"/>
          </a:p>
          <a:p>
            <a:pPr marL="0" indent="0" algn="l">
              <a:lnSpc>
                <a:spcPts val="1013"/>
              </a:lnSpc>
              <a:buNone/>
            </a:pPr>
            <a:r>
              <a:rPr lang="en-US" sz="675" dirty="0">
                <a:solidFill>
                  <a:srgbClr val="FFFFFF">
                    <a:alpha val="60000"/>
                  </a:srgbClr>
                </a:solidFill>
                <a:latin typeface="Arial" pitchFamily="34" charset="0"/>
                <a:ea typeface="Arial" pitchFamily="34" charset="-122"/>
                <a:cs typeface="Arial" pitchFamily="34" charset="-120"/>
              </a:rPr>
              <a:t> ✓ Selected Text (reply context)</a:t>
            </a:r>
            <a:endParaRPr lang="en-US" sz="675" dirty="0"/>
          </a:p>
          <a:p>
            <a:pPr marL="0" indent="0" algn="l">
              <a:lnSpc>
                <a:spcPts val="1013"/>
              </a:lnSpc>
              <a:buNone/>
            </a:pPr>
            <a:r>
              <a:rPr lang="en-US" sz="675" dirty="0">
                <a:solidFill>
                  <a:srgbClr val="FFFFFF">
                    <a:alpha val="60000"/>
                  </a:srgbClr>
                </a:solidFill>
                <a:latin typeface="Arial" pitchFamily="34" charset="0"/>
                <a:ea typeface="Arial" pitchFamily="34" charset="-122"/>
                <a:cs typeface="Arial" pitchFamily="34" charset="-120"/>
              </a:rPr>
              <a:t> ○ Clipboard Context (optional)</a:t>
            </a:r>
            <a:endParaRPr lang="en-US" sz="675" dirty="0"/>
          </a:p>
        </p:txBody>
      </p:sp>
      <p:sp>
        <p:nvSpPr>
          <p:cNvPr id="13" name="Text 11"/>
          <p:cNvSpPr/>
          <p:nvPr/>
        </p:nvSpPr>
        <p:spPr>
          <a:xfrm>
            <a:off x="266700" y="3807619"/>
            <a:ext cx="3065264" cy="721816"/>
          </a:xfrm>
          <a:prstGeom prst="rect">
            <a:avLst/>
          </a:prstGeom>
          <a:solidFill>
            <a:srgbClr val="FFFFFF">
              <a:alpha val="5000"/>
            </a:srgbClr>
          </a:solidFill>
          <a:ln/>
        </p:spPr>
        <p:txBody>
          <a:bodyPr wrap="square" rtlCol="0" anchor="ctr"/>
          <a:lstStyle/>
          <a:p>
            <a:pPr marL="0" indent="0">
              <a:buNone/>
            </a:pPr>
            <a:endParaRPr lang="en-US" dirty="0"/>
          </a:p>
        </p:txBody>
      </p:sp>
      <p:sp>
        <p:nvSpPr>
          <p:cNvPr id="14" name="Text 12"/>
          <p:cNvSpPr/>
          <p:nvPr/>
        </p:nvSpPr>
        <p:spPr>
          <a:xfrm>
            <a:off x="361950" y="3902869"/>
            <a:ext cx="2932259"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FFFFFF"/>
                </a:solidFill>
                <a:latin typeface="Arial" pitchFamily="34" charset="0"/>
                <a:ea typeface="Arial" pitchFamily="34" charset="-122"/>
                <a:cs typeface="Arial" pitchFamily="34" charset="-120"/>
              </a:rPr>
              <a:t>AUTO-ACTIVATION</a:t>
            </a:r>
            <a:endParaRPr lang="en-US" sz="750" dirty="0"/>
          </a:p>
        </p:txBody>
      </p:sp>
      <p:sp>
        <p:nvSpPr>
          <p:cNvPr id="15" name="Text 13"/>
          <p:cNvSpPr/>
          <p:nvPr/>
        </p:nvSpPr>
        <p:spPr>
          <a:xfrm>
            <a:off x="361950" y="4074319"/>
            <a:ext cx="2932259" cy="359866"/>
          </a:xfrm>
          <a:prstGeom prst="rect">
            <a:avLst/>
          </a:prstGeom>
          <a:noFill/>
          <a:ln/>
        </p:spPr>
        <p:txBody>
          <a:bodyPr wrap="square" lIns="0" tIns="0" rIns="0" bIns="0" rtlCol="0" anchor="t"/>
          <a:lstStyle/>
          <a:p>
            <a:pPr marL="0" indent="0" algn="l">
              <a:lnSpc>
                <a:spcPts val="945"/>
              </a:lnSpc>
              <a:buNone/>
            </a:pPr>
            <a:r>
              <a:rPr lang="en-US" sz="675" dirty="0">
                <a:solidFill>
                  <a:srgbClr val="FFFFFF">
                    <a:alpha val="60000"/>
                  </a:srgbClr>
                </a:solidFill>
                <a:latin typeface="Arial" pitchFamily="34" charset="0"/>
                <a:ea typeface="Arial" pitchFamily="34" charset="-122"/>
                <a:cs typeface="Arial" pitchFamily="34" charset="-120"/>
              </a:rPr>
              <a:t>Microsoft Outlook</a:t>
            </a:r>
            <a:endParaRPr lang="en-US" sz="675" dirty="0"/>
          </a:p>
          <a:p>
            <a:pPr marL="0" indent="0" algn="l">
              <a:lnSpc>
                <a:spcPts val="945"/>
              </a:lnSpc>
              <a:buNone/>
            </a:pPr>
            <a:r>
              <a:rPr lang="en-US" sz="675" dirty="0">
                <a:solidFill>
                  <a:srgbClr val="FFFFFF">
                    <a:alpha val="60000"/>
                  </a:srgbClr>
                </a:solidFill>
                <a:latin typeface="Arial" pitchFamily="34" charset="0"/>
                <a:ea typeface="Arial" pitchFamily="34" charset="-122"/>
                <a:cs typeface="Arial" pitchFamily="34" charset="-120"/>
              </a:rPr>
              <a:t> Gmail (browser)</a:t>
            </a:r>
            <a:endParaRPr lang="en-US" sz="675" dirty="0"/>
          </a:p>
          <a:p>
            <a:pPr marL="0" indent="0" algn="l">
              <a:lnSpc>
                <a:spcPts val="945"/>
              </a:lnSpc>
              <a:buNone/>
            </a:pPr>
            <a:r>
              <a:rPr lang="en-US" sz="675" dirty="0">
                <a:solidFill>
                  <a:srgbClr val="FFFFFF">
                    <a:alpha val="60000"/>
                  </a:srgbClr>
                </a:solidFill>
                <a:latin typeface="Arial" pitchFamily="34" charset="0"/>
                <a:ea typeface="Arial" pitchFamily="34" charset="-122"/>
                <a:cs typeface="Arial" pitchFamily="34" charset="-120"/>
              </a:rPr>
              <a:t> Apple Mail</a:t>
            </a:r>
            <a:endParaRPr lang="en-US" sz="675" dirty="0"/>
          </a:p>
        </p:txBody>
      </p:sp>
      <p:sp>
        <p:nvSpPr>
          <p:cNvPr id="16" name="Text 14"/>
          <p:cNvSpPr/>
          <p:nvPr/>
        </p:nvSpPr>
        <p:spPr>
          <a:xfrm>
            <a:off x="266700" y="4681835"/>
            <a:ext cx="3065264" cy="258961"/>
          </a:xfrm>
          <a:prstGeom prst="rect">
            <a:avLst/>
          </a:prstGeom>
          <a:solidFill>
            <a:srgbClr val="059669"/>
          </a:solidFill>
          <a:ln/>
        </p:spPr>
        <p:txBody>
          <a:bodyPr wrap="square" rtlCol="0" anchor="ctr"/>
          <a:lstStyle/>
          <a:p>
            <a:pPr marL="0" indent="0">
              <a:buNone/>
            </a:pPr>
            <a:endParaRPr lang="en-US" dirty="0"/>
          </a:p>
        </p:txBody>
      </p:sp>
      <p:sp>
        <p:nvSpPr>
          <p:cNvPr id="17" name="Text 15"/>
          <p:cNvSpPr/>
          <p:nvPr/>
        </p:nvSpPr>
        <p:spPr>
          <a:xfrm>
            <a:off x="313771" y="4758035"/>
            <a:ext cx="2971121" cy="106561"/>
          </a:xfrm>
          <a:prstGeom prst="rect">
            <a:avLst/>
          </a:prstGeom>
          <a:noFill/>
          <a:ln/>
        </p:spPr>
        <p:txBody>
          <a:bodyPr wrap="square" lIns="0" tIns="0" rIns="0" bIns="0" rtlCol="0" anchor="t"/>
          <a:lstStyle/>
          <a:p>
            <a:pPr marL="0" indent="0" algn="ctr">
              <a:lnSpc>
                <a:spcPts val="840"/>
              </a:lnSpc>
              <a:buNone/>
            </a:pPr>
            <a:r>
              <a:rPr lang="en-US" sz="600" dirty="0">
                <a:solidFill>
                  <a:srgbClr val="FFFFFF"/>
                </a:solidFill>
                <a:latin typeface="Arial" pitchFamily="34" charset="0"/>
                <a:ea typeface="Arial" pitchFamily="34" charset="-122"/>
                <a:cs typeface="Arial" pitchFamily="34" charset="-120"/>
              </a:rPr>
              <a:t>Uses your name from system context</a:t>
            </a:r>
            <a:endParaRPr lang="en-US" sz="600" dirty="0"/>
          </a:p>
        </p:txBody>
      </p:sp>
      <p:sp>
        <p:nvSpPr>
          <p:cNvPr id="18" name="Text 16"/>
          <p:cNvSpPr/>
          <p:nvPr/>
        </p:nvSpPr>
        <p:spPr>
          <a:xfrm>
            <a:off x="3751064" y="0"/>
            <a:ext cx="5392936" cy="5143500"/>
          </a:xfrm>
          <a:prstGeom prst="rect">
            <a:avLst/>
          </a:prstGeom>
          <a:solidFill>
            <a:srgbClr val="F7F8FA"/>
          </a:solidFill>
          <a:ln/>
        </p:spPr>
        <p:txBody>
          <a:bodyPr wrap="square" rtlCol="0" anchor="ctr"/>
          <a:lstStyle/>
          <a:p>
            <a:pPr marL="0" indent="0">
              <a:buNone/>
            </a:pPr>
            <a:endParaRPr lang="en-US" dirty="0"/>
          </a:p>
        </p:txBody>
      </p:sp>
      <p:sp>
        <p:nvSpPr>
          <p:cNvPr id="19" name="Text 17"/>
          <p:cNvSpPr/>
          <p:nvPr/>
        </p:nvSpPr>
        <p:spPr>
          <a:xfrm>
            <a:off x="4017764" y="228600"/>
            <a:ext cx="4956727" cy="159990"/>
          </a:xfrm>
          <a:prstGeom prst="rect">
            <a:avLst/>
          </a:prstGeom>
          <a:noFill/>
          <a:ln/>
        </p:spPr>
        <p:txBody>
          <a:bodyPr wrap="square" lIns="0" tIns="0" rIns="0" bIns="0" rtlCol="0" anchor="t"/>
          <a:lstStyle/>
          <a:p>
            <a:pPr marL="0" indent="0" algn="l">
              <a:lnSpc>
                <a:spcPts val="1260"/>
              </a:lnSpc>
              <a:spcAft>
                <a:spcPts val="900"/>
              </a:spcAft>
              <a:buNone/>
            </a:pPr>
            <a:r>
              <a:rPr lang="en-US" sz="900" b="1" dirty="0">
                <a:solidFill>
                  <a:srgbClr val="1A1F2E"/>
                </a:solidFill>
                <a:latin typeface="Arial" pitchFamily="34" charset="0"/>
                <a:ea typeface="Arial" pitchFamily="34" charset="-122"/>
                <a:cs typeface="Arial" pitchFamily="34" charset="-120"/>
              </a:rPr>
              <a:t>SAMPLE AI INSTRUCTIONS</a:t>
            </a:r>
            <a:endParaRPr lang="en-US" sz="900" dirty="0"/>
          </a:p>
        </p:txBody>
      </p:sp>
      <p:sp>
        <p:nvSpPr>
          <p:cNvPr id="20" name="Text 18"/>
          <p:cNvSpPr/>
          <p:nvPr/>
        </p:nvSpPr>
        <p:spPr>
          <a:xfrm>
            <a:off x="4017764" y="655289"/>
            <a:ext cx="4859536" cy="2662089"/>
          </a:xfrm>
          <a:prstGeom prst="rect">
            <a:avLst/>
          </a:prstGeom>
          <a:solidFill>
            <a:srgbClr val="1A1F2E"/>
          </a:solidFill>
          <a:ln/>
        </p:spPr>
        <p:txBody>
          <a:bodyPr wrap="square" rtlCol="0" anchor="ctr"/>
          <a:lstStyle/>
          <a:p>
            <a:pPr marL="0" indent="0">
              <a:buNone/>
            </a:pPr>
            <a:endParaRPr lang="en-US" dirty="0"/>
          </a:p>
        </p:txBody>
      </p:sp>
      <p:sp>
        <p:nvSpPr>
          <p:cNvPr id="21" name="Text 19"/>
          <p:cNvSpPr/>
          <p:nvPr/>
        </p:nvSpPr>
        <p:spPr>
          <a:xfrm>
            <a:off x="4170164" y="807690"/>
            <a:ext cx="4645831" cy="106561"/>
          </a:xfrm>
          <a:prstGeom prst="rect">
            <a:avLst/>
          </a:prstGeom>
          <a:noFill/>
          <a:ln/>
        </p:spPr>
        <p:txBody>
          <a:bodyPr wrap="square" lIns="0" tIns="0" rIns="0" bIns="0" rtlCol="0" anchor="t"/>
          <a:lstStyle/>
          <a:p>
            <a:pPr marL="0" indent="0" algn="l">
              <a:lnSpc>
                <a:spcPts val="840"/>
              </a:lnSpc>
              <a:spcAft>
                <a:spcPts val="450"/>
              </a:spcAft>
              <a:buNone/>
            </a:pPr>
            <a:r>
              <a:rPr lang="en-US" sz="600" dirty="0">
                <a:solidFill>
                  <a:srgbClr val="C9A227"/>
                </a:solidFill>
                <a:latin typeface="Arial" pitchFamily="34" charset="0"/>
                <a:ea typeface="Arial" pitchFamily="34" charset="-122"/>
                <a:cs typeface="Arial" pitchFamily="34" charset="-120"/>
              </a:rPr>
              <a:t>&lt;role&gt;</a:t>
            </a:r>
            <a:endParaRPr lang="en-US" sz="600" dirty="0"/>
          </a:p>
        </p:txBody>
      </p:sp>
      <p:sp>
        <p:nvSpPr>
          <p:cNvPr id="22" name="Text 20"/>
          <p:cNvSpPr/>
          <p:nvPr/>
        </p:nvSpPr>
        <p:spPr>
          <a:xfrm>
            <a:off x="4170164" y="971401"/>
            <a:ext cx="4645831" cy="106561"/>
          </a:xfrm>
          <a:prstGeom prst="rect">
            <a:avLst/>
          </a:prstGeom>
          <a:noFill/>
          <a:ln/>
        </p:spPr>
        <p:txBody>
          <a:bodyPr wrap="square" lIns="76200" tIns="0" rIns="0" bIns="0" rtlCol="0" anchor="t"/>
          <a:lstStyle/>
          <a:p>
            <a:pPr marL="0" indent="0" algn="l">
              <a:lnSpc>
                <a:spcPts val="840"/>
              </a:lnSpc>
              <a:spcAft>
                <a:spcPts val="450"/>
              </a:spcAft>
              <a:buNone/>
            </a:pPr>
            <a:r>
              <a:rPr lang="en-US" sz="600" dirty="0">
                <a:solidFill>
                  <a:srgbClr val="FFFFFF">
                    <a:alpha val="85000"/>
                  </a:srgbClr>
                </a:solidFill>
                <a:latin typeface="Arial" pitchFamily="34" charset="0"/>
                <a:ea typeface="Arial" pitchFamily="34" charset="-122"/>
                <a:cs typeface="Arial" pitchFamily="34" charset="-120"/>
              </a:rPr>
              <a:t>You are a professional email editor</a:t>
            </a:r>
            <a:endParaRPr lang="en-US" sz="600" dirty="0"/>
          </a:p>
        </p:txBody>
      </p:sp>
      <p:sp>
        <p:nvSpPr>
          <p:cNvPr id="23" name="Text 21"/>
          <p:cNvSpPr/>
          <p:nvPr/>
        </p:nvSpPr>
        <p:spPr>
          <a:xfrm>
            <a:off x="4170164" y="1135112"/>
            <a:ext cx="4645831" cy="106561"/>
          </a:xfrm>
          <a:prstGeom prst="rect">
            <a:avLst/>
          </a:prstGeom>
          <a:noFill/>
          <a:ln/>
        </p:spPr>
        <p:txBody>
          <a:bodyPr wrap="square" lIns="0" tIns="0" rIns="0" bIns="0" rtlCol="0" anchor="t"/>
          <a:lstStyle/>
          <a:p>
            <a:pPr marL="0" indent="0" algn="l">
              <a:lnSpc>
                <a:spcPts val="840"/>
              </a:lnSpc>
              <a:spcAft>
                <a:spcPts val="450"/>
              </a:spcAft>
              <a:buNone/>
            </a:pPr>
            <a:r>
              <a:rPr lang="en-US" sz="600" dirty="0">
                <a:solidFill>
                  <a:srgbClr val="C9A227"/>
                </a:solidFill>
                <a:latin typeface="Arial" pitchFamily="34" charset="0"/>
                <a:ea typeface="Arial" pitchFamily="34" charset="-122"/>
                <a:cs typeface="Arial" pitchFamily="34" charset="-120"/>
              </a:rPr>
              <a:t>&lt;/role&gt;</a:t>
            </a:r>
            <a:endParaRPr lang="en-US" sz="600" dirty="0"/>
          </a:p>
        </p:txBody>
      </p:sp>
      <p:sp>
        <p:nvSpPr>
          <p:cNvPr id="24" name="Text 22"/>
          <p:cNvSpPr/>
          <p:nvPr/>
        </p:nvSpPr>
        <p:spPr>
          <a:xfrm>
            <a:off x="4170164" y="1298823"/>
            <a:ext cx="4645831" cy="106561"/>
          </a:xfrm>
          <a:prstGeom prst="rect">
            <a:avLst/>
          </a:prstGeom>
          <a:noFill/>
          <a:ln/>
        </p:spPr>
        <p:txBody>
          <a:bodyPr wrap="square" lIns="0" tIns="0" rIns="0" bIns="0" rtlCol="0" anchor="t"/>
          <a:lstStyle/>
          <a:p>
            <a:pPr marL="0" indent="0" algn="l">
              <a:lnSpc>
                <a:spcPts val="840"/>
              </a:lnSpc>
              <a:spcAft>
                <a:spcPts val="450"/>
              </a:spcAft>
              <a:buNone/>
            </a:pPr>
            <a:r>
              <a:rPr lang="en-US" sz="600" dirty="0">
                <a:solidFill>
                  <a:srgbClr val="C9A227"/>
                </a:solidFill>
                <a:latin typeface="Arial" pitchFamily="34" charset="0"/>
                <a:ea typeface="Arial" pitchFamily="34" charset="-122"/>
                <a:cs typeface="Arial" pitchFamily="34" charset="-120"/>
              </a:rPr>
              <a:t>&lt;instructions&gt;</a:t>
            </a:r>
            <a:endParaRPr lang="en-US" sz="600" dirty="0"/>
          </a:p>
        </p:txBody>
      </p:sp>
      <p:sp>
        <p:nvSpPr>
          <p:cNvPr id="25" name="Text 23"/>
          <p:cNvSpPr/>
          <p:nvPr/>
        </p:nvSpPr>
        <p:spPr>
          <a:xfrm>
            <a:off x="4170164" y="1462534"/>
            <a:ext cx="4645831" cy="571500"/>
          </a:xfrm>
          <a:prstGeom prst="rect">
            <a:avLst/>
          </a:prstGeom>
          <a:noFill/>
          <a:ln/>
        </p:spPr>
        <p:txBody>
          <a:bodyPr wrap="square" lIns="76200" tIns="0" rIns="0" bIns="0" rtlCol="0" anchor="t"/>
          <a:lstStyle/>
          <a:p>
            <a:pPr marL="0" indent="0" algn="l">
              <a:lnSpc>
                <a:spcPts val="900"/>
              </a:lnSpc>
              <a:spcAft>
                <a:spcPts val="450"/>
              </a:spcAft>
              <a:buNone/>
            </a:pPr>
            <a:r>
              <a:rPr lang="en-US" sz="600" dirty="0">
                <a:solidFill>
                  <a:srgbClr val="FFFFFF">
                    <a:alpha val="85000"/>
                  </a:srgbClr>
                </a:solidFill>
                <a:latin typeface="Arial" pitchFamily="34" charset="0"/>
                <a:ea typeface="Arial" pitchFamily="34" charset="-122"/>
                <a:cs typeface="Arial" pitchFamily="34" charset="-120"/>
              </a:rPr>
              <a:t>The User Message is dictated speech.</a:t>
            </a:r>
            <a:endParaRPr lang="en-US" sz="600" dirty="0"/>
          </a:p>
          <a:p>
            <a:pPr marL="0" indent="0" algn="l">
              <a:lnSpc>
                <a:spcPts val="900"/>
              </a:lnSpc>
              <a:spcAft>
                <a:spcPts val="450"/>
              </a:spcAft>
              <a:buNone/>
            </a:pPr>
            <a:r>
              <a:rPr lang="en-US" sz="600" dirty="0">
                <a:solidFill>
                  <a:srgbClr val="FFFFFF">
                    <a:alpha val="85000"/>
                  </a:srgbClr>
                </a:solidFill>
                <a:latin typeface="Arial" pitchFamily="34" charset="0"/>
                <a:ea typeface="Arial" pitchFamily="34" charset="-122"/>
                <a:cs typeface="Arial" pitchFamily="34" charset="-120"/>
              </a:rPr>
              <a:t> Format into a professional email with:</a:t>
            </a:r>
            <a:endParaRPr lang="en-US" sz="600" dirty="0"/>
          </a:p>
          <a:p>
            <a:pPr marL="0" indent="0" algn="l">
              <a:lnSpc>
                <a:spcPts val="900"/>
              </a:lnSpc>
              <a:spcAft>
                <a:spcPts val="450"/>
              </a:spcAft>
              <a:buNone/>
            </a:pPr>
            <a:r>
              <a:rPr lang="en-US" sz="600" dirty="0">
                <a:solidFill>
                  <a:srgbClr val="FFFFFF">
                    <a:alpha val="85000"/>
                  </a:srgbClr>
                </a:solidFill>
                <a:latin typeface="Arial" pitchFamily="34" charset="0"/>
                <a:ea typeface="Arial" pitchFamily="34" charset="-122"/>
                <a:cs typeface="Arial" pitchFamily="34" charset="-120"/>
              </a:rPr>
              <a:t> - Appropriate greeting</a:t>
            </a:r>
            <a:endParaRPr lang="en-US" sz="600" dirty="0"/>
          </a:p>
          <a:p>
            <a:pPr marL="0" indent="0" algn="l">
              <a:lnSpc>
                <a:spcPts val="900"/>
              </a:lnSpc>
              <a:spcAft>
                <a:spcPts val="450"/>
              </a:spcAft>
              <a:buNone/>
            </a:pPr>
            <a:r>
              <a:rPr lang="en-US" sz="600" dirty="0">
                <a:solidFill>
                  <a:srgbClr val="FFFFFF">
                    <a:alpha val="85000"/>
                  </a:srgbClr>
                </a:solidFill>
                <a:latin typeface="Arial" pitchFamily="34" charset="0"/>
                <a:ea typeface="Arial" pitchFamily="34" charset="-122"/>
                <a:cs typeface="Arial" pitchFamily="34" charset="-120"/>
              </a:rPr>
              <a:t> - Clear paragraphs</a:t>
            </a:r>
            <a:endParaRPr lang="en-US" sz="600" dirty="0"/>
          </a:p>
          <a:p>
            <a:pPr marL="0" indent="0" algn="l">
              <a:lnSpc>
                <a:spcPts val="900"/>
              </a:lnSpc>
              <a:spcAft>
                <a:spcPts val="450"/>
              </a:spcAft>
              <a:buNone/>
            </a:pPr>
            <a:r>
              <a:rPr lang="en-US" sz="600" dirty="0">
                <a:solidFill>
                  <a:srgbClr val="FFFFFF">
                    <a:alpha val="85000"/>
                  </a:srgbClr>
                </a:solidFill>
                <a:latin typeface="Arial" pitchFamily="34" charset="0"/>
                <a:ea typeface="Arial" pitchFamily="34" charset="-122"/>
                <a:cs typeface="Arial" pitchFamily="34" charset="-120"/>
              </a:rPr>
              <a:t> - Professional closing</a:t>
            </a:r>
            <a:endParaRPr lang="en-US" sz="600" dirty="0"/>
          </a:p>
        </p:txBody>
      </p:sp>
      <p:sp>
        <p:nvSpPr>
          <p:cNvPr id="26" name="Text 24"/>
          <p:cNvSpPr/>
          <p:nvPr/>
        </p:nvSpPr>
        <p:spPr>
          <a:xfrm>
            <a:off x="4185308" y="2250724"/>
            <a:ext cx="4645831" cy="106561"/>
          </a:xfrm>
          <a:prstGeom prst="rect">
            <a:avLst/>
          </a:prstGeom>
          <a:noFill/>
          <a:ln/>
        </p:spPr>
        <p:txBody>
          <a:bodyPr wrap="square" lIns="0" tIns="0" rIns="0" bIns="0" rtlCol="0" anchor="t"/>
          <a:lstStyle/>
          <a:p>
            <a:pPr marL="0" indent="0" algn="l">
              <a:lnSpc>
                <a:spcPts val="840"/>
              </a:lnSpc>
              <a:spcAft>
                <a:spcPts val="450"/>
              </a:spcAft>
              <a:buNone/>
            </a:pPr>
            <a:r>
              <a:rPr lang="en-US" sz="600" dirty="0">
                <a:solidFill>
                  <a:srgbClr val="C9A227"/>
                </a:solidFill>
                <a:latin typeface="Arial" pitchFamily="34" charset="0"/>
                <a:ea typeface="Arial" pitchFamily="34" charset="-122"/>
                <a:cs typeface="Arial" pitchFamily="34" charset="-120"/>
              </a:rPr>
              <a:t>&lt;/instructions&gt;</a:t>
            </a:r>
            <a:endParaRPr lang="en-US" sz="600" dirty="0"/>
          </a:p>
        </p:txBody>
      </p:sp>
      <p:sp>
        <p:nvSpPr>
          <p:cNvPr id="27" name="Text 25"/>
          <p:cNvSpPr/>
          <p:nvPr/>
        </p:nvSpPr>
        <p:spPr>
          <a:xfrm>
            <a:off x="4193131" y="2348728"/>
            <a:ext cx="4645831" cy="106561"/>
          </a:xfrm>
          <a:prstGeom prst="rect">
            <a:avLst/>
          </a:prstGeom>
          <a:noFill/>
          <a:ln/>
        </p:spPr>
        <p:txBody>
          <a:bodyPr wrap="square" lIns="0" tIns="0" rIns="0" bIns="0" rtlCol="0" anchor="t"/>
          <a:lstStyle/>
          <a:p>
            <a:pPr marL="0" indent="0" algn="l">
              <a:lnSpc>
                <a:spcPts val="840"/>
              </a:lnSpc>
              <a:spcAft>
                <a:spcPts val="450"/>
              </a:spcAft>
              <a:buNone/>
            </a:pPr>
            <a:r>
              <a:rPr lang="en-US" sz="600" dirty="0">
                <a:solidFill>
                  <a:srgbClr val="C9A227"/>
                </a:solidFill>
                <a:latin typeface="Arial" pitchFamily="34" charset="0"/>
                <a:ea typeface="Arial" pitchFamily="34" charset="-122"/>
                <a:cs typeface="Arial" pitchFamily="34" charset="-120"/>
              </a:rPr>
              <a:t>&lt;requirements&gt;</a:t>
            </a:r>
            <a:endParaRPr lang="en-US" sz="600" dirty="0"/>
          </a:p>
        </p:txBody>
      </p:sp>
      <p:sp>
        <p:nvSpPr>
          <p:cNvPr id="28" name="Text 26"/>
          <p:cNvSpPr/>
          <p:nvPr/>
        </p:nvSpPr>
        <p:spPr>
          <a:xfrm>
            <a:off x="4170051" y="2458491"/>
            <a:ext cx="4645831" cy="571500"/>
          </a:xfrm>
          <a:prstGeom prst="rect">
            <a:avLst/>
          </a:prstGeom>
          <a:noFill/>
          <a:ln/>
        </p:spPr>
        <p:txBody>
          <a:bodyPr wrap="square" lIns="76200" tIns="0" rIns="0" bIns="0" rtlCol="0" anchor="t"/>
          <a:lstStyle/>
          <a:p>
            <a:pPr marL="0" indent="0" algn="l">
              <a:lnSpc>
                <a:spcPts val="900"/>
              </a:lnSpc>
              <a:buNone/>
            </a:pPr>
            <a:r>
              <a:rPr lang="en-US" sz="600" dirty="0">
                <a:solidFill>
                  <a:srgbClr val="FFFFFF">
                    <a:alpha val="85000"/>
                  </a:srgbClr>
                </a:solidFill>
                <a:latin typeface="Arial" pitchFamily="34" charset="0"/>
                <a:ea typeface="Arial" pitchFamily="34" charset="-122"/>
                <a:cs typeface="Arial" pitchFamily="34" charset="-120"/>
              </a:rPr>
              <a:t>Professional but warm tone</a:t>
            </a:r>
            <a:endParaRPr lang="en-US" sz="600" dirty="0"/>
          </a:p>
          <a:p>
            <a:pPr marL="0" indent="0" algn="l">
              <a:lnSpc>
                <a:spcPts val="900"/>
              </a:lnSpc>
              <a:buNone/>
            </a:pPr>
            <a:r>
              <a:rPr lang="en-US" sz="600" dirty="0">
                <a:solidFill>
                  <a:srgbClr val="FFFFFF">
                    <a:alpha val="85000"/>
                  </a:srgbClr>
                </a:solidFill>
                <a:latin typeface="Arial" pitchFamily="34" charset="0"/>
                <a:ea typeface="Arial" pitchFamily="34" charset="-122"/>
                <a:cs typeface="Arial" pitchFamily="34" charset="-120"/>
              </a:rPr>
              <a:t> Structure logically</a:t>
            </a:r>
            <a:endParaRPr lang="en-US" sz="600" dirty="0"/>
          </a:p>
          <a:p>
            <a:pPr marL="0" indent="0" algn="l">
              <a:lnSpc>
                <a:spcPts val="900"/>
              </a:lnSpc>
              <a:buNone/>
            </a:pPr>
            <a:r>
              <a:rPr lang="en-US" sz="600" dirty="0">
                <a:solidFill>
                  <a:srgbClr val="FFFFFF">
                    <a:alpha val="85000"/>
                  </a:srgbClr>
                </a:solidFill>
                <a:latin typeface="Arial" pitchFamily="34" charset="0"/>
                <a:ea typeface="Arial" pitchFamily="34" charset="-122"/>
                <a:cs typeface="Arial" pitchFamily="34" charset="-120"/>
              </a:rPr>
              <a:t> Use my name for signature</a:t>
            </a:r>
            <a:endParaRPr lang="en-US" sz="600" dirty="0"/>
          </a:p>
          <a:p>
            <a:pPr marL="0" indent="0" algn="l">
              <a:lnSpc>
                <a:spcPts val="900"/>
              </a:lnSpc>
              <a:buNone/>
            </a:pPr>
            <a:r>
              <a:rPr lang="en-US" sz="600" dirty="0">
                <a:solidFill>
                  <a:srgbClr val="FFFFFF">
                    <a:alpha val="85000"/>
                  </a:srgbClr>
                </a:solidFill>
                <a:latin typeface="Arial" pitchFamily="34" charset="0"/>
                <a:ea typeface="Arial" pitchFamily="34" charset="-122"/>
                <a:cs typeface="Arial" pitchFamily="34" charset="-120"/>
              </a:rPr>
              <a:t> If Selected Text exists, treat as</a:t>
            </a:r>
            <a:endParaRPr lang="en-US" sz="600" dirty="0"/>
          </a:p>
          <a:p>
            <a:pPr marL="0" indent="0" algn="l">
              <a:lnSpc>
                <a:spcPts val="900"/>
              </a:lnSpc>
              <a:buNone/>
            </a:pPr>
            <a:r>
              <a:rPr lang="en-US" sz="600" dirty="0">
                <a:solidFill>
                  <a:srgbClr val="FFFFFF">
                    <a:alpha val="85000"/>
                  </a:srgbClr>
                </a:solidFill>
                <a:latin typeface="Arial" pitchFamily="34" charset="0"/>
                <a:ea typeface="Arial" pitchFamily="34" charset="-122"/>
                <a:cs typeface="Arial" pitchFamily="34" charset="-120"/>
              </a:rPr>
              <a:t> email being replied to</a:t>
            </a:r>
            <a:endParaRPr lang="en-US" sz="600" dirty="0"/>
          </a:p>
        </p:txBody>
      </p:sp>
      <p:sp>
        <p:nvSpPr>
          <p:cNvPr id="29" name="Text 27"/>
          <p:cNvSpPr/>
          <p:nvPr/>
        </p:nvSpPr>
        <p:spPr>
          <a:xfrm>
            <a:off x="4170164" y="3047256"/>
            <a:ext cx="4645831" cy="106561"/>
          </a:xfrm>
          <a:prstGeom prst="rect">
            <a:avLst/>
          </a:prstGeom>
          <a:noFill/>
          <a:ln/>
        </p:spPr>
        <p:txBody>
          <a:bodyPr wrap="square" lIns="0" tIns="0" rIns="0" bIns="0" rtlCol="0" anchor="t"/>
          <a:lstStyle/>
          <a:p>
            <a:pPr marL="0" indent="0" algn="l">
              <a:lnSpc>
                <a:spcPts val="840"/>
              </a:lnSpc>
              <a:spcBef>
                <a:spcPts val="450"/>
              </a:spcBef>
              <a:buNone/>
            </a:pPr>
            <a:r>
              <a:rPr lang="en-US" sz="600" dirty="0">
                <a:solidFill>
                  <a:srgbClr val="C9A227"/>
                </a:solidFill>
                <a:latin typeface="Arial" pitchFamily="34" charset="0"/>
                <a:ea typeface="Arial" pitchFamily="34" charset="-122"/>
                <a:cs typeface="Arial" pitchFamily="34" charset="-120"/>
              </a:rPr>
              <a:t>&lt;/requirements&gt;</a:t>
            </a:r>
            <a:endParaRPr lang="en-US" sz="600" dirty="0"/>
          </a:p>
        </p:txBody>
      </p:sp>
      <p:sp>
        <p:nvSpPr>
          <p:cNvPr id="30" name="Text 28"/>
          <p:cNvSpPr/>
          <p:nvPr/>
        </p:nvSpPr>
        <p:spPr>
          <a:xfrm>
            <a:off x="4017764" y="3412629"/>
            <a:ext cx="2386905" cy="774799"/>
          </a:xfrm>
          <a:prstGeom prst="rect">
            <a:avLst/>
          </a:prstGeom>
          <a:solidFill>
            <a:srgbClr val="EDE9FE"/>
          </a:solidFill>
          <a:ln/>
        </p:spPr>
        <p:txBody>
          <a:bodyPr wrap="square" rtlCol="0" anchor="ctr"/>
          <a:lstStyle/>
          <a:p>
            <a:pPr marL="0" indent="0">
              <a:buNone/>
            </a:pPr>
            <a:endParaRPr lang="en-US" dirty="0"/>
          </a:p>
        </p:txBody>
      </p:sp>
      <p:sp>
        <p:nvSpPr>
          <p:cNvPr id="31" name="Shape 29"/>
          <p:cNvSpPr/>
          <p:nvPr/>
        </p:nvSpPr>
        <p:spPr>
          <a:xfrm>
            <a:off x="4032052" y="3412629"/>
            <a:ext cx="0" cy="774799"/>
          </a:xfrm>
          <a:prstGeom prst="line">
            <a:avLst/>
          </a:prstGeom>
          <a:noFill/>
          <a:ln w="28575">
            <a:solidFill>
              <a:srgbClr val="8B5CF6"/>
            </a:solidFill>
            <a:prstDash val="solid"/>
          </a:ln>
        </p:spPr>
        <p:txBody>
          <a:bodyPr/>
          <a:lstStyle/>
          <a:p>
            <a:endParaRPr lang="en-US"/>
          </a:p>
        </p:txBody>
      </p:sp>
      <p:sp>
        <p:nvSpPr>
          <p:cNvPr id="32" name="Text 30"/>
          <p:cNvSpPr/>
          <p:nvPr/>
        </p:nvSpPr>
        <p:spPr>
          <a:xfrm>
            <a:off x="4141589" y="3507879"/>
            <a:ext cx="2211187" cy="119955"/>
          </a:xfrm>
          <a:prstGeom prst="rect">
            <a:avLst/>
          </a:prstGeom>
          <a:noFill/>
          <a:ln/>
        </p:spPr>
        <p:txBody>
          <a:bodyPr wrap="square" lIns="0" tIns="0" rIns="0" bIns="0" rtlCol="0" anchor="t"/>
          <a:lstStyle/>
          <a:p>
            <a:pPr marL="0" indent="0" algn="l">
              <a:lnSpc>
                <a:spcPts val="945"/>
              </a:lnSpc>
              <a:spcAft>
                <a:spcPts val="300"/>
              </a:spcAft>
              <a:buNone/>
            </a:pPr>
            <a:r>
              <a:rPr lang="en-US" sz="675" b="1" dirty="0">
                <a:solidFill>
                  <a:srgbClr val="5B21B6"/>
                </a:solidFill>
                <a:latin typeface="Arial" pitchFamily="34" charset="0"/>
                <a:ea typeface="Arial" pitchFamily="34" charset="-122"/>
                <a:cs typeface="Arial" pitchFamily="34" charset="-120"/>
              </a:rPr>
              <a:t>EXAMPLE INPUT</a:t>
            </a:r>
            <a:endParaRPr lang="en-US" sz="675" dirty="0"/>
          </a:p>
        </p:txBody>
      </p:sp>
      <p:sp>
        <p:nvSpPr>
          <p:cNvPr id="33" name="Text 31"/>
          <p:cNvSpPr/>
          <p:nvPr/>
        </p:nvSpPr>
        <p:spPr>
          <a:xfrm>
            <a:off x="4141589" y="3665934"/>
            <a:ext cx="2211187" cy="426244"/>
          </a:xfrm>
          <a:prstGeom prst="rect">
            <a:avLst/>
          </a:prstGeom>
          <a:noFill/>
          <a:ln/>
        </p:spPr>
        <p:txBody>
          <a:bodyPr wrap="square" lIns="0" tIns="0" rIns="0" bIns="0" rtlCol="0" anchor="t"/>
          <a:lstStyle/>
          <a:p>
            <a:pPr marL="0" indent="0" algn="l">
              <a:lnSpc>
                <a:spcPts val="840"/>
              </a:lnSpc>
              <a:buNone/>
            </a:pPr>
            <a:r>
              <a:rPr lang="en-US" sz="600" dirty="0">
                <a:solidFill>
                  <a:srgbClr val="5B21B6"/>
                </a:solidFill>
                <a:latin typeface="Arial" pitchFamily="34" charset="0"/>
                <a:ea typeface="Arial" pitchFamily="34" charset="-122"/>
                <a:cs typeface="Arial" pitchFamily="34" charset="-120"/>
              </a:rPr>
              <a:t>"okay so I need to follow up with Dr Martinez about the data request we talked about last week and ask if she got the files I sent and when she thinks she can get back to me with her analysis"</a:t>
            </a:r>
            <a:endParaRPr lang="en-US" sz="600" dirty="0"/>
          </a:p>
        </p:txBody>
      </p:sp>
      <p:sp>
        <p:nvSpPr>
          <p:cNvPr id="34" name="Text 32"/>
          <p:cNvSpPr/>
          <p:nvPr/>
        </p:nvSpPr>
        <p:spPr>
          <a:xfrm>
            <a:off x="6499920" y="3243263"/>
            <a:ext cx="2377380" cy="1113532"/>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35" name="Text 33"/>
          <p:cNvSpPr/>
          <p:nvPr/>
        </p:nvSpPr>
        <p:spPr>
          <a:xfrm>
            <a:off x="6604695" y="3348038"/>
            <a:ext cx="2211187" cy="119955"/>
          </a:xfrm>
          <a:prstGeom prst="rect">
            <a:avLst/>
          </a:prstGeom>
          <a:noFill/>
          <a:ln/>
        </p:spPr>
        <p:txBody>
          <a:bodyPr wrap="square" lIns="0" tIns="0" rIns="0" bIns="0" rtlCol="0" anchor="t"/>
          <a:lstStyle/>
          <a:p>
            <a:pPr marL="0" indent="0" algn="l">
              <a:lnSpc>
                <a:spcPts val="945"/>
              </a:lnSpc>
              <a:spcAft>
                <a:spcPts val="300"/>
              </a:spcAft>
              <a:buNone/>
            </a:pPr>
            <a:r>
              <a:rPr lang="en-US" sz="675" b="1" dirty="0">
                <a:solidFill>
                  <a:srgbClr val="1A1F2E"/>
                </a:solidFill>
                <a:latin typeface="Arial" pitchFamily="34" charset="0"/>
                <a:ea typeface="Arial" pitchFamily="34" charset="-122"/>
                <a:cs typeface="Arial" pitchFamily="34" charset="-120"/>
              </a:rPr>
              <a:t>EXAMPLE OUTPUT</a:t>
            </a:r>
            <a:endParaRPr lang="en-US" sz="675" dirty="0"/>
          </a:p>
        </p:txBody>
      </p:sp>
      <p:sp>
        <p:nvSpPr>
          <p:cNvPr id="36" name="Text 34"/>
          <p:cNvSpPr/>
          <p:nvPr/>
        </p:nvSpPr>
        <p:spPr>
          <a:xfrm>
            <a:off x="6604695" y="3506093"/>
            <a:ext cx="2211187" cy="745927"/>
          </a:xfrm>
          <a:prstGeom prst="rect">
            <a:avLst/>
          </a:prstGeom>
          <a:noFill/>
          <a:ln/>
        </p:spPr>
        <p:txBody>
          <a:bodyPr wrap="square" lIns="0" tIns="0" rIns="0" bIns="0" rtlCol="0" anchor="t"/>
          <a:lstStyle/>
          <a:p>
            <a:pPr marL="0" indent="0" algn="l">
              <a:lnSpc>
                <a:spcPts val="840"/>
              </a:lnSpc>
              <a:buNone/>
            </a:pPr>
            <a:r>
              <a:rPr lang="en-US" sz="600" dirty="0">
                <a:solidFill>
                  <a:srgbClr val="6B7280"/>
                </a:solidFill>
                <a:latin typeface="Arial" pitchFamily="34" charset="0"/>
                <a:ea typeface="Arial" pitchFamily="34" charset="-122"/>
                <a:cs typeface="Arial" pitchFamily="34" charset="-120"/>
              </a:rPr>
              <a:t>Hi Dr. Martinez,</a:t>
            </a:r>
            <a:endParaRPr lang="en-US" sz="600" dirty="0"/>
          </a:p>
          <a:p>
            <a:pPr marL="0" indent="0" algn="l">
              <a:lnSpc>
                <a:spcPts val="840"/>
              </a:lnSpc>
              <a:buNone/>
            </a:pPr>
            <a:endParaRPr lang="en-US" sz="600" dirty="0"/>
          </a:p>
          <a:p>
            <a:pPr marL="0" indent="0" algn="l">
              <a:lnSpc>
                <a:spcPts val="840"/>
              </a:lnSpc>
              <a:buNone/>
            </a:pPr>
            <a:r>
              <a:rPr lang="en-US" sz="600" dirty="0">
                <a:solidFill>
                  <a:srgbClr val="6B7280"/>
                </a:solidFill>
                <a:latin typeface="Arial" pitchFamily="34" charset="0"/>
                <a:ea typeface="Arial" pitchFamily="34" charset="-122"/>
                <a:cs typeface="Arial" pitchFamily="34" charset="-120"/>
              </a:rPr>
              <a:t>I wanted to follow up on the data request we discussed last week...</a:t>
            </a:r>
            <a:endParaRPr lang="en-US" sz="600" dirty="0"/>
          </a:p>
          <a:p>
            <a:pPr marL="0" indent="0" algn="l">
              <a:lnSpc>
                <a:spcPts val="840"/>
              </a:lnSpc>
              <a:buNone/>
            </a:pPr>
            <a:endParaRPr lang="en-US" sz="600" dirty="0"/>
          </a:p>
          <a:p>
            <a:pPr marL="0" indent="0" algn="l">
              <a:lnSpc>
                <a:spcPts val="840"/>
              </a:lnSpc>
              <a:buNone/>
            </a:pPr>
            <a:r>
              <a:rPr lang="en-US" sz="600" dirty="0">
                <a:solidFill>
                  <a:srgbClr val="6B7280"/>
                </a:solidFill>
                <a:latin typeface="Arial" pitchFamily="34" charset="0"/>
                <a:ea typeface="Arial" pitchFamily="34" charset="-122"/>
                <a:cs typeface="Arial" pitchFamily="34" charset="-120"/>
              </a:rPr>
              <a:t>Best regards,</a:t>
            </a:r>
            <a:endParaRPr lang="en-US" sz="600" dirty="0"/>
          </a:p>
          <a:p>
            <a:pPr marL="0" indent="0" algn="l">
              <a:lnSpc>
                <a:spcPts val="840"/>
              </a:lnSpc>
              <a:buNone/>
            </a:pPr>
            <a:r>
              <a:rPr lang="en-US" sz="600" dirty="0">
                <a:solidFill>
                  <a:srgbClr val="6B7280"/>
                </a:solidFill>
                <a:latin typeface="Arial" pitchFamily="34" charset="0"/>
                <a:ea typeface="Arial" pitchFamily="34" charset="-122"/>
                <a:cs typeface="Arial" pitchFamily="34" charset="-120"/>
              </a:rPr>
              <a:t>[Your Name]</a:t>
            </a:r>
            <a:endParaRPr lang="en-US" sz="600" dirty="0"/>
          </a:p>
        </p:txBody>
      </p:sp>
      <p:sp>
        <p:nvSpPr>
          <p:cNvPr id="37" name="Text 35"/>
          <p:cNvSpPr/>
          <p:nvPr/>
        </p:nvSpPr>
        <p:spPr>
          <a:xfrm>
            <a:off x="4017764" y="4604445"/>
            <a:ext cx="4859536" cy="310455"/>
          </a:xfrm>
          <a:prstGeom prst="rect">
            <a:avLst/>
          </a:prstGeom>
          <a:solidFill>
            <a:srgbClr val="FEF3C7"/>
          </a:solidFill>
          <a:ln/>
        </p:spPr>
        <p:txBody>
          <a:bodyPr wrap="square" rtlCol="0" anchor="ctr"/>
          <a:lstStyle/>
          <a:p>
            <a:pPr marL="0" indent="0">
              <a:buNone/>
            </a:pPr>
            <a:endParaRPr lang="en-US" dirty="0"/>
          </a:p>
        </p:txBody>
      </p:sp>
      <p:sp>
        <p:nvSpPr>
          <p:cNvPr id="38" name="Shape 36"/>
          <p:cNvSpPr/>
          <p:nvPr/>
        </p:nvSpPr>
        <p:spPr>
          <a:xfrm>
            <a:off x="4032052" y="4604445"/>
            <a:ext cx="0" cy="310455"/>
          </a:xfrm>
          <a:prstGeom prst="line">
            <a:avLst/>
          </a:prstGeom>
          <a:noFill/>
          <a:ln w="28575">
            <a:solidFill>
              <a:srgbClr val="F59E0B"/>
            </a:solidFill>
            <a:prstDash val="solid"/>
          </a:ln>
        </p:spPr>
        <p:txBody>
          <a:bodyPr/>
          <a:lstStyle/>
          <a:p>
            <a:endParaRPr lang="en-US"/>
          </a:p>
        </p:txBody>
      </p:sp>
      <p:sp>
        <p:nvSpPr>
          <p:cNvPr id="39" name="Text 37"/>
          <p:cNvSpPr/>
          <p:nvPr/>
        </p:nvSpPr>
        <p:spPr>
          <a:xfrm>
            <a:off x="4141589" y="4699695"/>
            <a:ext cx="4733270" cy="119955"/>
          </a:xfrm>
          <a:prstGeom prst="rect">
            <a:avLst/>
          </a:prstGeom>
          <a:noFill/>
          <a:ln/>
        </p:spPr>
        <p:txBody>
          <a:bodyPr wrap="square" lIns="0" tIns="0" rIns="0" bIns="0" rtlCol="0" anchor="t"/>
          <a:lstStyle/>
          <a:p>
            <a:pPr marL="0" indent="0" algn="l">
              <a:lnSpc>
                <a:spcPts val="945"/>
              </a:lnSpc>
              <a:buNone/>
            </a:pPr>
            <a:r>
              <a:rPr lang="en-US" sz="675" b="1" dirty="0">
                <a:solidFill>
                  <a:srgbClr val="92400E"/>
                </a:solidFill>
                <a:latin typeface="Arial" pitchFamily="34" charset="0"/>
                <a:ea typeface="Arial" pitchFamily="34" charset="-122"/>
                <a:cs typeface="Arial" pitchFamily="34" charset="-120"/>
              </a:rPr>
              <a:t>Reply tip:</a:t>
            </a:r>
            <a:r>
              <a:rPr lang="en-US" sz="675" dirty="0">
                <a:solidFill>
                  <a:srgbClr val="92400E"/>
                </a:solidFill>
                <a:latin typeface="Arial" pitchFamily="34" charset="0"/>
                <a:ea typeface="Arial" pitchFamily="34" charset="-122"/>
                <a:cs typeface="Arial" pitchFamily="34" charset="-120"/>
              </a:rPr>
              <a:t> Select the email you're replying to, then dictate. AI will format appropriately.</a:t>
            </a:r>
            <a:endParaRPr lang="en-US" sz="675"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3598664" cy="5143500"/>
          </a:xfrm>
          <a:prstGeom prst="rect">
            <a:avLst/>
          </a:prstGeom>
          <a:solidFill>
            <a:srgbClr val="1A1F2E"/>
          </a:solidFill>
          <a:ln/>
        </p:spPr>
        <p:txBody>
          <a:bodyPr wrap="square" rtlCol="0" anchor="ctr"/>
          <a:lstStyle/>
          <a:p>
            <a:pPr marL="0" indent="0">
              <a:buNone/>
            </a:pPr>
            <a:endParaRPr lang="en-US" dirty="0"/>
          </a:p>
        </p:txBody>
      </p:sp>
      <p:sp>
        <p:nvSpPr>
          <p:cNvPr id="3" name="Text 1"/>
          <p:cNvSpPr/>
          <p:nvPr/>
        </p:nvSpPr>
        <p:spPr>
          <a:xfrm>
            <a:off x="266700" y="278904"/>
            <a:ext cx="778073" cy="220861"/>
          </a:xfrm>
          <a:prstGeom prst="rect">
            <a:avLst/>
          </a:prstGeom>
          <a:solidFill>
            <a:srgbClr val="F59E0B"/>
          </a:solidFill>
          <a:ln/>
        </p:spPr>
        <p:txBody>
          <a:bodyPr wrap="square" rtlCol="0" anchor="ctr"/>
          <a:lstStyle/>
          <a:p>
            <a:pPr marL="0" indent="0">
              <a:buNone/>
            </a:pPr>
            <a:endParaRPr lang="en-US" dirty="0"/>
          </a:p>
        </p:txBody>
      </p:sp>
      <p:sp>
        <p:nvSpPr>
          <p:cNvPr id="4" name="Text 2"/>
          <p:cNvSpPr/>
          <p:nvPr/>
        </p:nvSpPr>
        <p:spPr>
          <a:xfrm>
            <a:off x="361950" y="336054"/>
            <a:ext cx="599325" cy="106561"/>
          </a:xfrm>
          <a:prstGeom prst="rect">
            <a:avLst/>
          </a:prstGeom>
          <a:noFill/>
          <a:ln/>
        </p:spPr>
        <p:txBody>
          <a:bodyPr wrap="square" lIns="0" tIns="0" rIns="0" bIns="0" rtlCol="0" anchor="t"/>
          <a:lstStyle/>
          <a:p>
            <a:pPr marL="0" indent="0" algn="l">
              <a:lnSpc>
                <a:spcPts val="840"/>
              </a:lnSpc>
              <a:buNone/>
            </a:pPr>
            <a:r>
              <a:rPr lang="en-US" sz="600" b="1" dirty="0">
                <a:solidFill>
                  <a:srgbClr val="1A1F2E"/>
                </a:solidFill>
                <a:latin typeface="Arial" pitchFamily="34" charset="0"/>
                <a:ea typeface="Arial" pitchFamily="34" charset="-122"/>
                <a:cs typeface="Arial" pitchFamily="34" charset="-120"/>
              </a:rPr>
              <a:t>MODE 4 OF 5</a:t>
            </a:r>
            <a:endParaRPr lang="en-US" sz="600" dirty="0"/>
          </a:p>
        </p:txBody>
      </p:sp>
      <p:sp>
        <p:nvSpPr>
          <p:cNvPr id="5" name="Text 3"/>
          <p:cNvSpPr/>
          <p:nvPr/>
        </p:nvSpPr>
        <p:spPr>
          <a:xfrm>
            <a:off x="266700" y="747415"/>
            <a:ext cx="1593342" cy="548580"/>
          </a:xfrm>
          <a:prstGeom prst="rect">
            <a:avLst/>
          </a:prstGeom>
          <a:noFill/>
          <a:ln/>
        </p:spPr>
        <p:txBody>
          <a:bodyPr wrap="square" lIns="0" tIns="0" rIns="0" bIns="0" rtlCol="0" anchor="t"/>
          <a:lstStyle/>
          <a:p>
            <a:pPr marL="0" indent="0" algn="l">
              <a:lnSpc>
                <a:spcPts val="2160"/>
              </a:lnSpc>
              <a:spcAft>
                <a:spcPts val="900"/>
              </a:spcAft>
              <a:buNone/>
            </a:pPr>
            <a:r>
              <a:rPr lang="en-US" sz="1800" dirty="0">
                <a:solidFill>
                  <a:srgbClr val="FFFFFF"/>
                </a:solidFill>
                <a:latin typeface="Georgia" pitchFamily="34" charset="0"/>
                <a:ea typeface="Georgia" pitchFamily="34" charset="-122"/>
                <a:cs typeface="Georgia" pitchFamily="34" charset="-120"/>
              </a:rPr>
              <a:t>Claude Code</a:t>
            </a:r>
            <a:endParaRPr lang="en-US" sz="1800" dirty="0"/>
          </a:p>
          <a:p>
            <a:pPr marL="0" indent="0" algn="l">
              <a:lnSpc>
                <a:spcPts val="2160"/>
              </a:lnSpc>
              <a:spcAft>
                <a:spcPts val="900"/>
              </a:spcAft>
              <a:buNone/>
            </a:pPr>
            <a:r>
              <a:rPr lang="en-US" sz="1800" dirty="0">
                <a:solidFill>
                  <a:srgbClr val="FFFFFF"/>
                </a:solidFill>
                <a:latin typeface="Georgia" pitchFamily="34" charset="0"/>
                <a:ea typeface="Georgia" pitchFamily="34" charset="-122"/>
                <a:cs typeface="Georgia" pitchFamily="34" charset="-120"/>
              </a:rPr>
              <a:t>Terminal Mode</a:t>
            </a:r>
            <a:endParaRPr lang="en-US" sz="1800" dirty="0"/>
          </a:p>
        </p:txBody>
      </p:sp>
      <p:sp>
        <p:nvSpPr>
          <p:cNvPr id="6" name="Text 4"/>
          <p:cNvSpPr/>
          <p:nvPr/>
        </p:nvSpPr>
        <p:spPr>
          <a:xfrm>
            <a:off x="266700" y="1867495"/>
            <a:ext cx="3065264" cy="639961"/>
          </a:xfrm>
          <a:prstGeom prst="rect">
            <a:avLst/>
          </a:prstGeom>
          <a:solidFill>
            <a:srgbClr val="C9A227">
              <a:alpha val="15000"/>
            </a:srgbClr>
          </a:solidFill>
          <a:ln/>
        </p:spPr>
        <p:txBody>
          <a:bodyPr wrap="square" rtlCol="0" anchor="ctr"/>
          <a:lstStyle/>
          <a:p>
            <a:pPr marL="0" indent="0">
              <a:buNone/>
            </a:pPr>
            <a:endParaRPr lang="en-US" dirty="0"/>
          </a:p>
        </p:txBody>
      </p:sp>
      <p:sp>
        <p:nvSpPr>
          <p:cNvPr id="7" name="Shape 5"/>
          <p:cNvSpPr/>
          <p:nvPr/>
        </p:nvSpPr>
        <p:spPr>
          <a:xfrm>
            <a:off x="280988" y="1867495"/>
            <a:ext cx="0" cy="639961"/>
          </a:xfrm>
          <a:prstGeom prst="line">
            <a:avLst/>
          </a:prstGeom>
          <a:noFill/>
          <a:ln w="28575">
            <a:solidFill>
              <a:srgbClr val="C9A227"/>
            </a:solidFill>
            <a:prstDash val="solid"/>
          </a:ln>
        </p:spPr>
        <p:txBody>
          <a:bodyPr/>
          <a:lstStyle/>
          <a:p>
            <a:endParaRPr lang="en-US"/>
          </a:p>
        </p:txBody>
      </p:sp>
      <p:sp>
        <p:nvSpPr>
          <p:cNvPr id="8" name="Text 6"/>
          <p:cNvSpPr/>
          <p:nvPr/>
        </p:nvSpPr>
        <p:spPr>
          <a:xfrm>
            <a:off x="409575" y="1981795"/>
            <a:ext cx="2864251"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C9A227"/>
                </a:solidFill>
                <a:latin typeface="Arial" pitchFamily="34" charset="0"/>
                <a:ea typeface="Arial" pitchFamily="34" charset="-122"/>
                <a:cs typeface="Arial" pitchFamily="34" charset="-120"/>
              </a:rPr>
              <a:t>USE CASE</a:t>
            </a:r>
            <a:endParaRPr lang="en-US" sz="750" dirty="0"/>
          </a:p>
        </p:txBody>
      </p:sp>
      <p:sp>
        <p:nvSpPr>
          <p:cNvPr id="9" name="Text 7"/>
          <p:cNvSpPr/>
          <p:nvPr/>
        </p:nvSpPr>
        <p:spPr>
          <a:xfrm>
            <a:off x="409575" y="2153245"/>
            <a:ext cx="2864251" cy="239911"/>
          </a:xfrm>
          <a:prstGeom prst="rect">
            <a:avLst/>
          </a:prstGeom>
          <a:noFill/>
          <a:ln/>
        </p:spPr>
        <p:txBody>
          <a:bodyPr wrap="square" lIns="0" tIns="0" rIns="0" bIns="0" rtlCol="0" anchor="t"/>
          <a:lstStyle/>
          <a:p>
            <a:pPr marL="0" indent="0" algn="l">
              <a:lnSpc>
                <a:spcPts val="945"/>
              </a:lnSpc>
              <a:buNone/>
            </a:pPr>
            <a:r>
              <a:rPr lang="en-US" sz="675" dirty="0">
                <a:solidFill>
                  <a:srgbClr val="FFFFFF">
                    <a:alpha val="70000"/>
                  </a:srgbClr>
                </a:solidFill>
                <a:latin typeface="Arial" pitchFamily="34" charset="0"/>
                <a:ea typeface="Arial" pitchFamily="34" charset="-122"/>
                <a:cs typeface="Arial" pitchFamily="34" charset="-120"/>
              </a:rPr>
              <a:t>Detailed prompts and instructions for Claude Code. Dictate complex requests instead of typing them.</a:t>
            </a:r>
            <a:endParaRPr lang="en-US" sz="675" dirty="0"/>
          </a:p>
        </p:txBody>
      </p:sp>
      <p:sp>
        <p:nvSpPr>
          <p:cNvPr id="10" name="Text 8"/>
          <p:cNvSpPr/>
          <p:nvPr/>
        </p:nvSpPr>
        <p:spPr>
          <a:xfrm>
            <a:off x="266700" y="2774156"/>
            <a:ext cx="3065264" cy="804863"/>
          </a:xfrm>
          <a:prstGeom prst="rect">
            <a:avLst/>
          </a:prstGeom>
          <a:solidFill>
            <a:srgbClr val="FFFFFF">
              <a:alpha val="5000"/>
            </a:srgbClr>
          </a:solidFill>
          <a:ln/>
        </p:spPr>
        <p:txBody>
          <a:bodyPr wrap="square" rtlCol="0" anchor="ctr"/>
          <a:lstStyle/>
          <a:p>
            <a:pPr marL="0" indent="0">
              <a:buNone/>
            </a:pPr>
            <a:endParaRPr lang="en-US" dirty="0"/>
          </a:p>
        </p:txBody>
      </p:sp>
      <p:sp>
        <p:nvSpPr>
          <p:cNvPr id="11" name="Text 9"/>
          <p:cNvSpPr/>
          <p:nvPr/>
        </p:nvSpPr>
        <p:spPr>
          <a:xfrm>
            <a:off x="381000" y="2888456"/>
            <a:ext cx="2893397" cy="133350"/>
          </a:xfrm>
          <a:prstGeom prst="rect">
            <a:avLst/>
          </a:prstGeom>
          <a:noFill/>
          <a:ln/>
        </p:spPr>
        <p:txBody>
          <a:bodyPr wrap="square" lIns="0" tIns="0" rIns="0" bIns="0" rtlCol="0" anchor="t"/>
          <a:lstStyle/>
          <a:p>
            <a:pPr marL="0" indent="0" algn="l">
              <a:lnSpc>
                <a:spcPts val="1050"/>
              </a:lnSpc>
              <a:spcAft>
                <a:spcPts val="450"/>
              </a:spcAft>
              <a:buNone/>
            </a:pPr>
            <a:r>
              <a:rPr lang="en-US" sz="750" b="1" dirty="0">
                <a:solidFill>
                  <a:srgbClr val="FFFFFF"/>
                </a:solidFill>
                <a:latin typeface="Arial" pitchFamily="34" charset="0"/>
                <a:ea typeface="Arial" pitchFamily="34" charset="-122"/>
                <a:cs typeface="Arial" pitchFamily="34" charset="-120"/>
              </a:rPr>
              <a:t>CONTEXT SETTINGS</a:t>
            </a:r>
            <a:endParaRPr lang="en-US" sz="750" dirty="0"/>
          </a:p>
        </p:txBody>
      </p:sp>
      <p:sp>
        <p:nvSpPr>
          <p:cNvPr id="12" name="Text 10"/>
          <p:cNvSpPr/>
          <p:nvPr/>
        </p:nvSpPr>
        <p:spPr>
          <a:xfrm>
            <a:off x="381000" y="3078956"/>
            <a:ext cx="2893397" cy="385763"/>
          </a:xfrm>
          <a:prstGeom prst="rect">
            <a:avLst/>
          </a:prstGeom>
          <a:noFill/>
          <a:ln/>
        </p:spPr>
        <p:txBody>
          <a:bodyPr wrap="square" lIns="0" tIns="0" rIns="0" bIns="0" rtlCol="0" anchor="t"/>
          <a:lstStyle/>
          <a:p>
            <a:pPr marL="0" indent="0" algn="l">
              <a:lnSpc>
                <a:spcPts val="1013"/>
              </a:lnSpc>
              <a:buNone/>
            </a:pPr>
            <a:r>
              <a:rPr lang="en-US" sz="675" dirty="0">
                <a:solidFill>
                  <a:srgbClr val="FFFFFF">
                    <a:alpha val="60000"/>
                  </a:srgbClr>
                </a:solidFill>
                <a:latin typeface="Arial" pitchFamily="34" charset="0"/>
                <a:ea typeface="Arial" pitchFamily="34" charset="-122"/>
                <a:cs typeface="Arial" pitchFamily="34" charset="-120"/>
              </a:rPr>
              <a:t>✓ Application Context (detect terminal)</a:t>
            </a:r>
            <a:endParaRPr lang="en-US" sz="675" dirty="0"/>
          </a:p>
          <a:p>
            <a:pPr marL="0" indent="0" algn="l">
              <a:lnSpc>
                <a:spcPts val="1013"/>
              </a:lnSpc>
              <a:buNone/>
            </a:pPr>
            <a:r>
              <a:rPr lang="en-US" sz="675" dirty="0">
                <a:solidFill>
                  <a:srgbClr val="FFFFFF">
                    <a:alpha val="60000"/>
                  </a:srgbClr>
                </a:solidFill>
                <a:latin typeface="Arial" pitchFamily="34" charset="0"/>
                <a:ea typeface="Arial" pitchFamily="34" charset="-122"/>
                <a:cs typeface="Arial" pitchFamily="34" charset="-120"/>
              </a:rPr>
              <a:t> ○ Selected Text (optional)</a:t>
            </a:r>
            <a:endParaRPr lang="en-US" sz="675" dirty="0"/>
          </a:p>
          <a:p>
            <a:pPr marL="0" indent="0" algn="l">
              <a:lnSpc>
                <a:spcPts val="1013"/>
              </a:lnSpc>
              <a:buNone/>
            </a:pPr>
            <a:r>
              <a:rPr lang="en-US" sz="675" dirty="0">
                <a:solidFill>
                  <a:srgbClr val="FFFFFF">
                    <a:alpha val="60000"/>
                  </a:srgbClr>
                </a:solidFill>
                <a:latin typeface="Arial" pitchFamily="34" charset="0"/>
                <a:ea typeface="Arial" pitchFamily="34" charset="-122"/>
                <a:cs typeface="Arial" pitchFamily="34" charset="-120"/>
              </a:rPr>
              <a:t> ✓ Clipboard (error messages)</a:t>
            </a:r>
            <a:endParaRPr lang="en-US" sz="675" dirty="0"/>
          </a:p>
        </p:txBody>
      </p:sp>
      <p:sp>
        <p:nvSpPr>
          <p:cNvPr id="13" name="Text 11"/>
          <p:cNvSpPr/>
          <p:nvPr/>
        </p:nvSpPr>
        <p:spPr>
          <a:xfrm>
            <a:off x="266700" y="3845719"/>
            <a:ext cx="3065264" cy="721816"/>
          </a:xfrm>
          <a:prstGeom prst="rect">
            <a:avLst/>
          </a:prstGeom>
          <a:solidFill>
            <a:srgbClr val="FFFFFF">
              <a:alpha val="5000"/>
            </a:srgbClr>
          </a:solidFill>
          <a:ln/>
        </p:spPr>
        <p:txBody>
          <a:bodyPr wrap="square" rtlCol="0" anchor="ctr"/>
          <a:lstStyle/>
          <a:p>
            <a:pPr marL="0" indent="0">
              <a:buNone/>
            </a:pPr>
            <a:endParaRPr lang="en-US" dirty="0"/>
          </a:p>
        </p:txBody>
      </p:sp>
      <p:sp>
        <p:nvSpPr>
          <p:cNvPr id="14" name="Text 12"/>
          <p:cNvSpPr/>
          <p:nvPr/>
        </p:nvSpPr>
        <p:spPr>
          <a:xfrm>
            <a:off x="361950" y="3940969"/>
            <a:ext cx="2932259"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FFFFFF"/>
                </a:solidFill>
                <a:latin typeface="Arial" pitchFamily="34" charset="0"/>
                <a:ea typeface="Arial" pitchFamily="34" charset="-122"/>
                <a:cs typeface="Arial" pitchFamily="34" charset="-120"/>
              </a:rPr>
              <a:t>AUTO-ACTIVATION</a:t>
            </a:r>
            <a:endParaRPr lang="en-US" sz="750" dirty="0"/>
          </a:p>
        </p:txBody>
      </p:sp>
      <p:sp>
        <p:nvSpPr>
          <p:cNvPr id="15" name="Text 13"/>
          <p:cNvSpPr/>
          <p:nvPr/>
        </p:nvSpPr>
        <p:spPr>
          <a:xfrm>
            <a:off x="361950" y="4112419"/>
            <a:ext cx="2932259" cy="359866"/>
          </a:xfrm>
          <a:prstGeom prst="rect">
            <a:avLst/>
          </a:prstGeom>
          <a:noFill/>
          <a:ln/>
        </p:spPr>
        <p:txBody>
          <a:bodyPr wrap="square" lIns="0" tIns="0" rIns="0" bIns="0" rtlCol="0" anchor="t"/>
          <a:lstStyle/>
          <a:p>
            <a:pPr marL="0" indent="0" algn="l">
              <a:lnSpc>
                <a:spcPts val="945"/>
              </a:lnSpc>
              <a:buNone/>
            </a:pPr>
            <a:r>
              <a:rPr lang="en-US" sz="675" dirty="0">
                <a:solidFill>
                  <a:srgbClr val="FFFFFF">
                    <a:alpha val="60000"/>
                  </a:srgbClr>
                </a:solidFill>
                <a:latin typeface="Arial" pitchFamily="34" charset="0"/>
                <a:ea typeface="Arial" pitchFamily="34" charset="-122"/>
                <a:cs typeface="Arial" pitchFamily="34" charset="-120"/>
              </a:rPr>
              <a:t>Terminal.app / iTerm2</a:t>
            </a:r>
            <a:endParaRPr lang="en-US" sz="675" dirty="0"/>
          </a:p>
          <a:p>
            <a:pPr marL="0" indent="0" algn="l">
              <a:lnSpc>
                <a:spcPts val="945"/>
              </a:lnSpc>
              <a:buNone/>
            </a:pPr>
            <a:r>
              <a:rPr lang="en-US" sz="675" dirty="0">
                <a:solidFill>
                  <a:srgbClr val="FFFFFF">
                    <a:alpha val="60000"/>
                  </a:srgbClr>
                </a:solidFill>
                <a:latin typeface="Arial" pitchFamily="34" charset="0"/>
                <a:ea typeface="Arial" pitchFamily="34" charset="-122"/>
                <a:cs typeface="Arial" pitchFamily="34" charset="-120"/>
              </a:rPr>
              <a:t> Windows Terminal</a:t>
            </a:r>
            <a:endParaRPr lang="en-US" sz="675" dirty="0"/>
          </a:p>
          <a:p>
            <a:pPr marL="0" indent="0" algn="l">
              <a:lnSpc>
                <a:spcPts val="945"/>
              </a:lnSpc>
              <a:buNone/>
            </a:pPr>
            <a:r>
              <a:rPr lang="en-US" sz="675" dirty="0">
                <a:solidFill>
                  <a:srgbClr val="FFFFFF">
                    <a:alpha val="60000"/>
                  </a:srgbClr>
                </a:solidFill>
                <a:latin typeface="Arial" pitchFamily="34" charset="0"/>
                <a:ea typeface="Arial" pitchFamily="34" charset="-122"/>
                <a:cs typeface="Arial" pitchFamily="34" charset="-120"/>
              </a:rPr>
              <a:t> Warp</a:t>
            </a:r>
            <a:endParaRPr lang="en-US" sz="675" dirty="0"/>
          </a:p>
        </p:txBody>
      </p:sp>
      <p:sp>
        <p:nvSpPr>
          <p:cNvPr id="16" name="Text 14"/>
          <p:cNvSpPr/>
          <p:nvPr/>
        </p:nvSpPr>
        <p:spPr>
          <a:xfrm>
            <a:off x="266700" y="4719935"/>
            <a:ext cx="3065264" cy="258961"/>
          </a:xfrm>
          <a:prstGeom prst="rect">
            <a:avLst/>
          </a:prstGeom>
          <a:solidFill>
            <a:srgbClr val="DCFCE7"/>
          </a:solidFill>
          <a:ln/>
        </p:spPr>
        <p:txBody>
          <a:bodyPr wrap="square" rtlCol="0" anchor="ctr"/>
          <a:lstStyle/>
          <a:p>
            <a:pPr marL="0" indent="0">
              <a:buNone/>
            </a:pPr>
            <a:endParaRPr lang="en-US" dirty="0"/>
          </a:p>
        </p:txBody>
      </p:sp>
      <p:sp>
        <p:nvSpPr>
          <p:cNvPr id="17" name="Shape 15"/>
          <p:cNvSpPr/>
          <p:nvPr/>
        </p:nvSpPr>
        <p:spPr>
          <a:xfrm>
            <a:off x="280988" y="4719935"/>
            <a:ext cx="0" cy="258961"/>
          </a:xfrm>
          <a:prstGeom prst="line">
            <a:avLst/>
          </a:prstGeom>
          <a:noFill/>
          <a:ln w="28575">
            <a:solidFill>
              <a:srgbClr val="059669"/>
            </a:solidFill>
            <a:prstDash val="solid"/>
          </a:ln>
        </p:spPr>
        <p:txBody>
          <a:bodyPr/>
          <a:lstStyle/>
          <a:p>
            <a:endParaRPr lang="en-US"/>
          </a:p>
        </p:txBody>
      </p:sp>
      <p:sp>
        <p:nvSpPr>
          <p:cNvPr id="18" name="Text 16"/>
          <p:cNvSpPr/>
          <p:nvPr/>
        </p:nvSpPr>
        <p:spPr>
          <a:xfrm>
            <a:off x="371475" y="4796135"/>
            <a:ext cx="2941975" cy="106561"/>
          </a:xfrm>
          <a:prstGeom prst="rect">
            <a:avLst/>
          </a:prstGeom>
          <a:noFill/>
          <a:ln/>
        </p:spPr>
        <p:txBody>
          <a:bodyPr wrap="square" lIns="0" tIns="0" rIns="0" bIns="0" rtlCol="0" anchor="t"/>
          <a:lstStyle/>
          <a:p>
            <a:pPr marL="0" indent="0" algn="l">
              <a:lnSpc>
                <a:spcPts val="840"/>
              </a:lnSpc>
              <a:buNone/>
            </a:pPr>
            <a:r>
              <a:rPr lang="en-US" sz="600" b="1" dirty="0">
                <a:solidFill>
                  <a:srgbClr val="166534"/>
                </a:solidFill>
                <a:latin typeface="Arial" pitchFamily="34" charset="0"/>
                <a:ea typeface="Arial" pitchFamily="34" charset="-122"/>
                <a:cs typeface="Arial" pitchFamily="34" charset="-120"/>
              </a:rPr>
              <a:t>Benefit:</a:t>
            </a:r>
            <a:r>
              <a:rPr lang="en-US" sz="600" dirty="0">
                <a:solidFill>
                  <a:srgbClr val="166534"/>
                </a:solidFill>
                <a:latin typeface="Arial" pitchFamily="34" charset="0"/>
                <a:ea typeface="Arial" pitchFamily="34" charset="-122"/>
                <a:cs typeface="Arial" pitchFamily="34" charset="-120"/>
              </a:rPr>
              <a:t> Voice is perfect for detailed prompts.</a:t>
            </a:r>
            <a:endParaRPr lang="en-US" sz="600" dirty="0"/>
          </a:p>
        </p:txBody>
      </p:sp>
      <p:sp>
        <p:nvSpPr>
          <p:cNvPr id="19" name="Text 17"/>
          <p:cNvSpPr/>
          <p:nvPr/>
        </p:nvSpPr>
        <p:spPr>
          <a:xfrm>
            <a:off x="3751064" y="0"/>
            <a:ext cx="5392936" cy="5143500"/>
          </a:xfrm>
          <a:prstGeom prst="rect">
            <a:avLst/>
          </a:prstGeom>
          <a:solidFill>
            <a:srgbClr val="F7F8FA"/>
          </a:solidFill>
          <a:ln/>
        </p:spPr>
        <p:txBody>
          <a:bodyPr wrap="square" rtlCol="0" anchor="ctr"/>
          <a:lstStyle/>
          <a:p>
            <a:pPr marL="0" indent="0">
              <a:buNone/>
            </a:pPr>
            <a:endParaRPr lang="en-US" dirty="0"/>
          </a:p>
        </p:txBody>
      </p:sp>
      <p:sp>
        <p:nvSpPr>
          <p:cNvPr id="20" name="Text 18"/>
          <p:cNvSpPr/>
          <p:nvPr/>
        </p:nvSpPr>
        <p:spPr>
          <a:xfrm>
            <a:off x="4017764" y="271165"/>
            <a:ext cx="4956727" cy="159990"/>
          </a:xfrm>
          <a:prstGeom prst="rect">
            <a:avLst/>
          </a:prstGeom>
          <a:noFill/>
          <a:ln/>
        </p:spPr>
        <p:txBody>
          <a:bodyPr wrap="square" lIns="0" tIns="0" rIns="0" bIns="0" rtlCol="0" anchor="t"/>
          <a:lstStyle/>
          <a:p>
            <a:pPr marL="0" indent="0" algn="l">
              <a:lnSpc>
                <a:spcPts val="1260"/>
              </a:lnSpc>
              <a:spcAft>
                <a:spcPts val="900"/>
              </a:spcAft>
              <a:buNone/>
            </a:pPr>
            <a:r>
              <a:rPr lang="en-US" sz="900" b="1" dirty="0">
                <a:solidFill>
                  <a:srgbClr val="1A1F2E"/>
                </a:solidFill>
                <a:latin typeface="Arial" pitchFamily="34" charset="0"/>
                <a:ea typeface="Arial" pitchFamily="34" charset="-122"/>
                <a:cs typeface="Arial" pitchFamily="34" charset="-120"/>
              </a:rPr>
              <a:t>SAMPLE AI INSTRUCTIONS</a:t>
            </a:r>
            <a:endParaRPr lang="en-US" sz="900" dirty="0"/>
          </a:p>
        </p:txBody>
      </p:sp>
      <p:sp>
        <p:nvSpPr>
          <p:cNvPr id="21" name="Text 19"/>
          <p:cNvSpPr/>
          <p:nvPr/>
        </p:nvSpPr>
        <p:spPr>
          <a:xfrm>
            <a:off x="4017764" y="697855"/>
            <a:ext cx="4859536" cy="2536627"/>
          </a:xfrm>
          <a:prstGeom prst="rect">
            <a:avLst/>
          </a:prstGeom>
          <a:solidFill>
            <a:srgbClr val="1A1F2E"/>
          </a:solidFill>
          <a:ln/>
        </p:spPr>
        <p:txBody>
          <a:bodyPr wrap="square" rtlCol="0" anchor="ctr"/>
          <a:lstStyle/>
          <a:p>
            <a:pPr marL="0" indent="0">
              <a:buNone/>
            </a:pPr>
            <a:endParaRPr lang="en-US" dirty="0"/>
          </a:p>
        </p:txBody>
      </p:sp>
      <p:sp>
        <p:nvSpPr>
          <p:cNvPr id="22" name="Text 20"/>
          <p:cNvSpPr/>
          <p:nvPr/>
        </p:nvSpPr>
        <p:spPr>
          <a:xfrm>
            <a:off x="4170164" y="850255"/>
            <a:ext cx="4645831" cy="106561"/>
          </a:xfrm>
          <a:prstGeom prst="rect">
            <a:avLst/>
          </a:prstGeom>
          <a:noFill/>
          <a:ln/>
        </p:spPr>
        <p:txBody>
          <a:bodyPr wrap="square" lIns="0" tIns="0" rIns="0" bIns="0" rtlCol="0" anchor="t"/>
          <a:lstStyle/>
          <a:p>
            <a:pPr marL="0" indent="0" algn="l">
              <a:lnSpc>
                <a:spcPts val="840"/>
              </a:lnSpc>
              <a:spcAft>
                <a:spcPts val="450"/>
              </a:spcAft>
              <a:buNone/>
            </a:pPr>
            <a:r>
              <a:rPr lang="en-US" sz="600" dirty="0">
                <a:solidFill>
                  <a:srgbClr val="C9A227"/>
                </a:solidFill>
                <a:latin typeface="Arial" pitchFamily="34" charset="0"/>
                <a:ea typeface="Arial" pitchFamily="34" charset="-122"/>
                <a:cs typeface="Arial" pitchFamily="34" charset="-120"/>
              </a:rPr>
              <a:t>&lt;role&gt;</a:t>
            </a:r>
            <a:endParaRPr lang="en-US" sz="600" dirty="0"/>
          </a:p>
        </p:txBody>
      </p:sp>
      <p:sp>
        <p:nvSpPr>
          <p:cNvPr id="23" name="Text 21"/>
          <p:cNvSpPr/>
          <p:nvPr/>
        </p:nvSpPr>
        <p:spPr>
          <a:xfrm>
            <a:off x="4170164" y="1013966"/>
            <a:ext cx="4645831" cy="106561"/>
          </a:xfrm>
          <a:prstGeom prst="rect">
            <a:avLst/>
          </a:prstGeom>
          <a:noFill/>
          <a:ln/>
        </p:spPr>
        <p:txBody>
          <a:bodyPr wrap="square" lIns="76200" tIns="0" rIns="0" bIns="0" rtlCol="0" anchor="t"/>
          <a:lstStyle/>
          <a:p>
            <a:pPr marL="0" indent="0" algn="l">
              <a:lnSpc>
                <a:spcPts val="840"/>
              </a:lnSpc>
              <a:spcAft>
                <a:spcPts val="450"/>
              </a:spcAft>
              <a:buNone/>
            </a:pPr>
            <a:r>
              <a:rPr lang="en-US" sz="600" dirty="0">
                <a:solidFill>
                  <a:srgbClr val="FFFFFF">
                    <a:alpha val="85000"/>
                  </a:srgbClr>
                </a:solidFill>
                <a:latin typeface="Arial" pitchFamily="34" charset="0"/>
                <a:ea typeface="Arial" pitchFamily="34" charset="-122"/>
                <a:cs typeface="Arial" pitchFamily="34" charset="-120"/>
              </a:rPr>
              <a:t>You format dictation for Claude Code prompts</a:t>
            </a:r>
            <a:endParaRPr lang="en-US" sz="600" dirty="0"/>
          </a:p>
        </p:txBody>
      </p:sp>
      <p:sp>
        <p:nvSpPr>
          <p:cNvPr id="24" name="Text 22"/>
          <p:cNvSpPr/>
          <p:nvPr/>
        </p:nvSpPr>
        <p:spPr>
          <a:xfrm>
            <a:off x="4170164" y="1177677"/>
            <a:ext cx="4645831" cy="106561"/>
          </a:xfrm>
          <a:prstGeom prst="rect">
            <a:avLst/>
          </a:prstGeom>
          <a:noFill/>
          <a:ln/>
        </p:spPr>
        <p:txBody>
          <a:bodyPr wrap="square" lIns="0" tIns="0" rIns="0" bIns="0" rtlCol="0" anchor="t"/>
          <a:lstStyle/>
          <a:p>
            <a:pPr marL="0" indent="0" algn="l">
              <a:lnSpc>
                <a:spcPts val="840"/>
              </a:lnSpc>
              <a:spcAft>
                <a:spcPts val="450"/>
              </a:spcAft>
              <a:buNone/>
            </a:pPr>
            <a:r>
              <a:rPr lang="en-US" sz="600" dirty="0">
                <a:solidFill>
                  <a:srgbClr val="C9A227"/>
                </a:solidFill>
                <a:latin typeface="Arial" pitchFamily="34" charset="0"/>
                <a:ea typeface="Arial" pitchFamily="34" charset="-122"/>
                <a:cs typeface="Arial" pitchFamily="34" charset="-120"/>
              </a:rPr>
              <a:t>&lt;/role&gt;</a:t>
            </a:r>
            <a:endParaRPr lang="en-US" sz="600" dirty="0"/>
          </a:p>
        </p:txBody>
      </p:sp>
      <p:sp>
        <p:nvSpPr>
          <p:cNvPr id="25" name="Text 23"/>
          <p:cNvSpPr/>
          <p:nvPr/>
        </p:nvSpPr>
        <p:spPr>
          <a:xfrm>
            <a:off x="4170164" y="1341388"/>
            <a:ext cx="4645831" cy="106561"/>
          </a:xfrm>
          <a:prstGeom prst="rect">
            <a:avLst/>
          </a:prstGeom>
          <a:noFill/>
          <a:ln/>
        </p:spPr>
        <p:txBody>
          <a:bodyPr wrap="square" lIns="0" tIns="0" rIns="0" bIns="0" rtlCol="0" anchor="t"/>
          <a:lstStyle/>
          <a:p>
            <a:pPr marL="0" indent="0" algn="l">
              <a:lnSpc>
                <a:spcPts val="840"/>
              </a:lnSpc>
              <a:spcAft>
                <a:spcPts val="450"/>
              </a:spcAft>
              <a:buNone/>
            </a:pPr>
            <a:r>
              <a:rPr lang="en-US" sz="600" dirty="0">
                <a:solidFill>
                  <a:srgbClr val="C9A227"/>
                </a:solidFill>
                <a:latin typeface="Arial" pitchFamily="34" charset="0"/>
                <a:ea typeface="Arial" pitchFamily="34" charset="-122"/>
                <a:cs typeface="Arial" pitchFamily="34" charset="-120"/>
              </a:rPr>
              <a:t>&lt;instructions&gt;</a:t>
            </a:r>
            <a:endParaRPr lang="en-US" sz="600" dirty="0"/>
          </a:p>
        </p:txBody>
      </p:sp>
      <p:sp>
        <p:nvSpPr>
          <p:cNvPr id="26" name="Text 24"/>
          <p:cNvSpPr/>
          <p:nvPr/>
        </p:nvSpPr>
        <p:spPr>
          <a:xfrm>
            <a:off x="4170164" y="1505099"/>
            <a:ext cx="4645831" cy="457200"/>
          </a:xfrm>
          <a:prstGeom prst="rect">
            <a:avLst/>
          </a:prstGeom>
          <a:noFill/>
          <a:ln/>
        </p:spPr>
        <p:txBody>
          <a:bodyPr wrap="square" lIns="76200" tIns="0" rIns="0" bIns="0" rtlCol="0" anchor="t"/>
          <a:lstStyle/>
          <a:p>
            <a:pPr marL="0" indent="0" algn="l">
              <a:lnSpc>
                <a:spcPts val="900"/>
              </a:lnSpc>
              <a:spcAft>
                <a:spcPts val="450"/>
              </a:spcAft>
              <a:buNone/>
            </a:pPr>
            <a:r>
              <a:rPr lang="en-US" sz="600" dirty="0">
                <a:solidFill>
                  <a:srgbClr val="FFFFFF">
                    <a:alpha val="85000"/>
                  </a:srgbClr>
                </a:solidFill>
                <a:latin typeface="Arial" pitchFamily="34" charset="0"/>
                <a:ea typeface="Arial" pitchFamily="34" charset="-122"/>
                <a:cs typeface="Arial" pitchFamily="34" charset="-120"/>
              </a:rPr>
              <a:t>The User Message is a dictated prompt for</a:t>
            </a:r>
            <a:endParaRPr lang="en-US" sz="600" dirty="0"/>
          </a:p>
          <a:p>
            <a:pPr marL="0" indent="0" algn="l">
              <a:lnSpc>
                <a:spcPts val="900"/>
              </a:lnSpc>
              <a:spcAft>
                <a:spcPts val="450"/>
              </a:spcAft>
              <a:buNone/>
            </a:pPr>
            <a:r>
              <a:rPr lang="en-US" sz="600" dirty="0">
                <a:solidFill>
                  <a:srgbClr val="FFFFFF">
                    <a:alpha val="85000"/>
                  </a:srgbClr>
                </a:solidFill>
                <a:latin typeface="Arial" pitchFamily="34" charset="0"/>
                <a:ea typeface="Arial" pitchFamily="34" charset="-122"/>
                <a:cs typeface="Arial" pitchFamily="34" charset="-120"/>
              </a:rPr>
              <a:t> Claude Code. Clean it up and format as a</a:t>
            </a:r>
            <a:endParaRPr lang="en-US" sz="600" dirty="0"/>
          </a:p>
          <a:p>
            <a:pPr marL="0" indent="0" algn="l">
              <a:lnSpc>
                <a:spcPts val="900"/>
              </a:lnSpc>
              <a:spcAft>
                <a:spcPts val="450"/>
              </a:spcAft>
              <a:buNone/>
            </a:pPr>
            <a:r>
              <a:rPr lang="en-US" sz="600" dirty="0">
                <a:solidFill>
                  <a:srgbClr val="FFFFFF">
                    <a:alpha val="85000"/>
                  </a:srgbClr>
                </a:solidFill>
                <a:latin typeface="Arial" pitchFamily="34" charset="0"/>
                <a:ea typeface="Arial" pitchFamily="34" charset="-122"/>
                <a:cs typeface="Arial" pitchFamily="34" charset="-120"/>
              </a:rPr>
              <a:t> clear instruction. Keep technical terms</a:t>
            </a:r>
            <a:endParaRPr lang="en-US" sz="600" dirty="0"/>
          </a:p>
          <a:p>
            <a:pPr marL="0" indent="0" algn="l">
              <a:lnSpc>
                <a:spcPts val="900"/>
              </a:lnSpc>
              <a:spcAft>
                <a:spcPts val="450"/>
              </a:spcAft>
              <a:buNone/>
            </a:pPr>
            <a:r>
              <a:rPr lang="en-US" sz="600" dirty="0">
                <a:solidFill>
                  <a:srgbClr val="FFFFFF">
                    <a:alpha val="85000"/>
                  </a:srgbClr>
                </a:solidFill>
                <a:latin typeface="Arial" pitchFamily="34" charset="0"/>
                <a:ea typeface="Arial" pitchFamily="34" charset="-122"/>
                <a:cs typeface="Arial" pitchFamily="34" charset="-120"/>
              </a:rPr>
              <a:t> exactly as spoken.</a:t>
            </a:r>
            <a:endParaRPr lang="en-US" sz="600" dirty="0"/>
          </a:p>
        </p:txBody>
      </p:sp>
      <p:sp>
        <p:nvSpPr>
          <p:cNvPr id="27" name="Text 25"/>
          <p:cNvSpPr/>
          <p:nvPr/>
        </p:nvSpPr>
        <p:spPr>
          <a:xfrm>
            <a:off x="4141589" y="2139404"/>
            <a:ext cx="4645831" cy="106561"/>
          </a:xfrm>
          <a:prstGeom prst="rect">
            <a:avLst/>
          </a:prstGeom>
          <a:noFill/>
          <a:ln/>
        </p:spPr>
        <p:txBody>
          <a:bodyPr wrap="square" lIns="0" tIns="0" rIns="0" bIns="0" rtlCol="0" anchor="t"/>
          <a:lstStyle/>
          <a:p>
            <a:pPr marL="0" indent="0" algn="l">
              <a:lnSpc>
                <a:spcPts val="840"/>
              </a:lnSpc>
              <a:spcAft>
                <a:spcPts val="450"/>
              </a:spcAft>
              <a:buNone/>
            </a:pPr>
            <a:r>
              <a:rPr lang="en-US" sz="600" dirty="0">
                <a:solidFill>
                  <a:srgbClr val="C9A227"/>
                </a:solidFill>
                <a:latin typeface="Arial" pitchFamily="34" charset="0"/>
                <a:ea typeface="Arial" pitchFamily="34" charset="-122"/>
                <a:cs typeface="Arial" pitchFamily="34" charset="-120"/>
              </a:rPr>
              <a:t>&lt;/instructions&gt;</a:t>
            </a:r>
            <a:endParaRPr lang="en-US" sz="600" dirty="0"/>
          </a:p>
        </p:txBody>
      </p:sp>
      <p:sp>
        <p:nvSpPr>
          <p:cNvPr id="28" name="Text 26"/>
          <p:cNvSpPr/>
          <p:nvPr/>
        </p:nvSpPr>
        <p:spPr>
          <a:xfrm>
            <a:off x="4170164" y="2265015"/>
            <a:ext cx="4645831" cy="106561"/>
          </a:xfrm>
          <a:prstGeom prst="rect">
            <a:avLst/>
          </a:prstGeom>
          <a:noFill/>
          <a:ln/>
        </p:spPr>
        <p:txBody>
          <a:bodyPr wrap="square" lIns="0" tIns="0" rIns="0" bIns="0" rtlCol="0" anchor="t"/>
          <a:lstStyle/>
          <a:p>
            <a:pPr marL="0" indent="0" algn="l">
              <a:lnSpc>
                <a:spcPts val="840"/>
              </a:lnSpc>
              <a:spcAft>
                <a:spcPts val="450"/>
              </a:spcAft>
              <a:buNone/>
            </a:pPr>
            <a:r>
              <a:rPr lang="en-US" sz="600" dirty="0">
                <a:solidFill>
                  <a:srgbClr val="C9A227"/>
                </a:solidFill>
                <a:latin typeface="Arial" pitchFamily="34" charset="0"/>
                <a:ea typeface="Arial" pitchFamily="34" charset="-122"/>
                <a:cs typeface="Arial" pitchFamily="34" charset="-120"/>
              </a:rPr>
              <a:t>&lt;requirements&gt;</a:t>
            </a:r>
            <a:endParaRPr lang="en-US" sz="600" dirty="0"/>
          </a:p>
        </p:txBody>
      </p:sp>
      <p:sp>
        <p:nvSpPr>
          <p:cNvPr id="29" name="Text 27"/>
          <p:cNvSpPr/>
          <p:nvPr/>
        </p:nvSpPr>
        <p:spPr>
          <a:xfrm>
            <a:off x="4170164" y="2346871"/>
            <a:ext cx="4645831" cy="571500"/>
          </a:xfrm>
          <a:prstGeom prst="rect">
            <a:avLst/>
          </a:prstGeom>
          <a:noFill/>
          <a:ln/>
        </p:spPr>
        <p:txBody>
          <a:bodyPr wrap="square" lIns="76200" tIns="0" rIns="0" bIns="0" rtlCol="0" anchor="t"/>
          <a:lstStyle/>
          <a:p>
            <a:pPr marL="0" indent="0" algn="l">
              <a:lnSpc>
                <a:spcPts val="900"/>
              </a:lnSpc>
              <a:buNone/>
            </a:pPr>
            <a:r>
              <a:rPr lang="en-US" sz="600" dirty="0">
                <a:solidFill>
                  <a:srgbClr val="FFFFFF">
                    <a:alpha val="85000"/>
                  </a:srgbClr>
                </a:solidFill>
                <a:latin typeface="Arial" pitchFamily="34" charset="0"/>
                <a:ea typeface="Arial" pitchFamily="34" charset="-122"/>
                <a:cs typeface="Arial" pitchFamily="34" charset="-120"/>
              </a:rPr>
              <a:t>Preserve technical accuracy</a:t>
            </a:r>
            <a:endParaRPr lang="en-US" sz="600" dirty="0"/>
          </a:p>
          <a:p>
            <a:pPr marL="0" indent="0" algn="l">
              <a:lnSpc>
                <a:spcPts val="900"/>
              </a:lnSpc>
              <a:buNone/>
            </a:pPr>
            <a:r>
              <a:rPr lang="en-US" sz="600" dirty="0">
                <a:solidFill>
                  <a:srgbClr val="FFFFFF">
                    <a:alpha val="85000"/>
                  </a:srgbClr>
                </a:solidFill>
                <a:latin typeface="Arial" pitchFamily="34" charset="0"/>
                <a:ea typeface="Arial" pitchFamily="34" charset="-122"/>
                <a:cs typeface="Arial" pitchFamily="34" charset="-120"/>
              </a:rPr>
              <a:t> Structure into clear steps if needed</a:t>
            </a:r>
            <a:endParaRPr lang="en-US" sz="600" dirty="0"/>
          </a:p>
          <a:p>
            <a:pPr marL="0" indent="0" algn="l">
              <a:lnSpc>
                <a:spcPts val="900"/>
              </a:lnSpc>
              <a:buNone/>
            </a:pPr>
            <a:r>
              <a:rPr lang="en-US" sz="600" dirty="0">
                <a:solidFill>
                  <a:srgbClr val="FFFFFF">
                    <a:alpha val="85000"/>
                  </a:srgbClr>
                </a:solidFill>
                <a:latin typeface="Arial" pitchFamily="34" charset="0"/>
                <a:ea typeface="Arial" pitchFamily="34" charset="-122"/>
                <a:cs typeface="Arial" pitchFamily="34" charset="-120"/>
              </a:rPr>
              <a:t> No greeting or pleasantries</a:t>
            </a:r>
            <a:endParaRPr lang="en-US" sz="600" dirty="0"/>
          </a:p>
          <a:p>
            <a:pPr marL="0" indent="0" algn="l">
              <a:lnSpc>
                <a:spcPts val="900"/>
              </a:lnSpc>
              <a:buNone/>
            </a:pPr>
            <a:r>
              <a:rPr lang="en-US" sz="600" dirty="0">
                <a:solidFill>
                  <a:srgbClr val="FFFFFF">
                    <a:alpha val="85000"/>
                  </a:srgbClr>
                </a:solidFill>
                <a:latin typeface="Arial" pitchFamily="34" charset="0"/>
                <a:ea typeface="Arial" pitchFamily="34" charset="-122"/>
                <a:cs typeface="Arial" pitchFamily="34" charset="-120"/>
              </a:rPr>
              <a:t> Ready to paste directly to Claude</a:t>
            </a:r>
            <a:endParaRPr lang="en-US" sz="600" dirty="0"/>
          </a:p>
          <a:p>
            <a:pPr marL="0" indent="0" algn="l">
              <a:lnSpc>
                <a:spcPts val="900"/>
              </a:lnSpc>
              <a:buNone/>
            </a:pPr>
            <a:r>
              <a:rPr lang="en-US" sz="600" dirty="0">
                <a:solidFill>
                  <a:srgbClr val="FFFFFF">
                    <a:alpha val="85000"/>
                  </a:srgbClr>
                </a:solidFill>
                <a:latin typeface="Arial" pitchFamily="34" charset="0"/>
                <a:ea typeface="Arial" pitchFamily="34" charset="-122"/>
                <a:cs typeface="Arial" pitchFamily="34" charset="-120"/>
              </a:rPr>
              <a:t> If Clipboard has an error, reference it</a:t>
            </a:r>
            <a:endParaRPr lang="en-US" sz="600" dirty="0"/>
          </a:p>
        </p:txBody>
      </p:sp>
      <p:sp>
        <p:nvSpPr>
          <p:cNvPr id="30" name="Text 28"/>
          <p:cNvSpPr/>
          <p:nvPr/>
        </p:nvSpPr>
        <p:spPr>
          <a:xfrm>
            <a:off x="4170164" y="2975521"/>
            <a:ext cx="4645831" cy="106561"/>
          </a:xfrm>
          <a:prstGeom prst="rect">
            <a:avLst/>
          </a:prstGeom>
          <a:noFill/>
          <a:ln/>
        </p:spPr>
        <p:txBody>
          <a:bodyPr wrap="square" lIns="0" tIns="0" rIns="0" bIns="0" rtlCol="0" anchor="t"/>
          <a:lstStyle/>
          <a:p>
            <a:pPr marL="0" indent="0" algn="l">
              <a:lnSpc>
                <a:spcPts val="840"/>
              </a:lnSpc>
              <a:spcBef>
                <a:spcPts val="450"/>
              </a:spcBef>
              <a:buNone/>
            </a:pPr>
            <a:r>
              <a:rPr lang="en-US" sz="600" dirty="0">
                <a:solidFill>
                  <a:srgbClr val="C9A227"/>
                </a:solidFill>
                <a:latin typeface="Arial" pitchFamily="34" charset="0"/>
                <a:ea typeface="Arial" pitchFamily="34" charset="-122"/>
                <a:cs typeface="Arial" pitchFamily="34" charset="-120"/>
              </a:rPr>
              <a:t>&lt;/requirements&gt;</a:t>
            </a:r>
            <a:endParaRPr lang="en-US" sz="600" dirty="0"/>
          </a:p>
        </p:txBody>
      </p:sp>
      <p:sp>
        <p:nvSpPr>
          <p:cNvPr id="31" name="Text 29"/>
          <p:cNvSpPr/>
          <p:nvPr/>
        </p:nvSpPr>
        <p:spPr>
          <a:xfrm>
            <a:off x="4017764" y="3510707"/>
            <a:ext cx="2386905" cy="774799"/>
          </a:xfrm>
          <a:prstGeom prst="rect">
            <a:avLst/>
          </a:prstGeom>
          <a:solidFill>
            <a:srgbClr val="FEF3C7"/>
          </a:solidFill>
          <a:ln/>
        </p:spPr>
        <p:txBody>
          <a:bodyPr wrap="square" rtlCol="0" anchor="ctr"/>
          <a:lstStyle/>
          <a:p>
            <a:pPr marL="0" indent="0">
              <a:buNone/>
            </a:pPr>
            <a:endParaRPr lang="en-US" dirty="0"/>
          </a:p>
        </p:txBody>
      </p:sp>
      <p:sp>
        <p:nvSpPr>
          <p:cNvPr id="32" name="Shape 30"/>
          <p:cNvSpPr/>
          <p:nvPr/>
        </p:nvSpPr>
        <p:spPr>
          <a:xfrm>
            <a:off x="4032052" y="3510707"/>
            <a:ext cx="0" cy="774799"/>
          </a:xfrm>
          <a:prstGeom prst="line">
            <a:avLst/>
          </a:prstGeom>
          <a:noFill/>
          <a:ln w="28575">
            <a:solidFill>
              <a:srgbClr val="F59E0B"/>
            </a:solidFill>
            <a:prstDash val="solid"/>
          </a:ln>
        </p:spPr>
        <p:txBody>
          <a:bodyPr/>
          <a:lstStyle/>
          <a:p>
            <a:endParaRPr lang="en-US"/>
          </a:p>
        </p:txBody>
      </p:sp>
      <p:sp>
        <p:nvSpPr>
          <p:cNvPr id="33" name="Text 31"/>
          <p:cNvSpPr/>
          <p:nvPr/>
        </p:nvSpPr>
        <p:spPr>
          <a:xfrm>
            <a:off x="4141589" y="3605957"/>
            <a:ext cx="2211187" cy="119955"/>
          </a:xfrm>
          <a:prstGeom prst="rect">
            <a:avLst/>
          </a:prstGeom>
          <a:noFill/>
          <a:ln/>
        </p:spPr>
        <p:txBody>
          <a:bodyPr wrap="square" lIns="0" tIns="0" rIns="0" bIns="0" rtlCol="0" anchor="t"/>
          <a:lstStyle/>
          <a:p>
            <a:pPr marL="0" indent="0" algn="l">
              <a:lnSpc>
                <a:spcPts val="945"/>
              </a:lnSpc>
              <a:spcAft>
                <a:spcPts val="300"/>
              </a:spcAft>
              <a:buNone/>
            </a:pPr>
            <a:r>
              <a:rPr lang="en-US" sz="675" b="1" dirty="0">
                <a:solidFill>
                  <a:srgbClr val="92400E"/>
                </a:solidFill>
                <a:latin typeface="Arial" pitchFamily="34" charset="0"/>
                <a:ea typeface="Arial" pitchFamily="34" charset="-122"/>
                <a:cs typeface="Arial" pitchFamily="34" charset="-120"/>
              </a:rPr>
              <a:t>EXAMPLE INPUT</a:t>
            </a:r>
            <a:endParaRPr lang="en-US" sz="675" dirty="0"/>
          </a:p>
        </p:txBody>
      </p:sp>
      <p:sp>
        <p:nvSpPr>
          <p:cNvPr id="34" name="Text 32"/>
          <p:cNvSpPr/>
          <p:nvPr/>
        </p:nvSpPr>
        <p:spPr>
          <a:xfrm>
            <a:off x="4141589" y="3764012"/>
            <a:ext cx="2211187" cy="426244"/>
          </a:xfrm>
          <a:prstGeom prst="rect">
            <a:avLst/>
          </a:prstGeom>
          <a:noFill/>
          <a:ln/>
        </p:spPr>
        <p:txBody>
          <a:bodyPr wrap="square" lIns="0" tIns="0" rIns="0" bIns="0" rtlCol="0" anchor="t"/>
          <a:lstStyle/>
          <a:p>
            <a:pPr marL="0" indent="0" algn="l">
              <a:lnSpc>
                <a:spcPts val="840"/>
              </a:lnSpc>
              <a:buNone/>
            </a:pPr>
            <a:r>
              <a:rPr lang="en-US" sz="600" dirty="0">
                <a:solidFill>
                  <a:srgbClr val="92400E"/>
                </a:solidFill>
                <a:latin typeface="Arial" pitchFamily="34" charset="0"/>
                <a:ea typeface="Arial" pitchFamily="34" charset="-122"/>
                <a:cs typeface="Arial" pitchFamily="34" charset="-120"/>
              </a:rPr>
              <a:t>"okay I need you to look at the auth middleware in the source API folder and add rate limiting so that it blocks more than one hundred requests per minute per IP address and also log any blocked attempts"</a:t>
            </a:r>
            <a:endParaRPr lang="en-US" sz="600" dirty="0"/>
          </a:p>
        </p:txBody>
      </p:sp>
      <p:sp>
        <p:nvSpPr>
          <p:cNvPr id="35" name="Text 33"/>
          <p:cNvSpPr/>
          <p:nvPr/>
        </p:nvSpPr>
        <p:spPr>
          <a:xfrm>
            <a:off x="6499920" y="3501182"/>
            <a:ext cx="2377380" cy="793849"/>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36" name="Text 34"/>
          <p:cNvSpPr/>
          <p:nvPr/>
        </p:nvSpPr>
        <p:spPr>
          <a:xfrm>
            <a:off x="6604695" y="3605957"/>
            <a:ext cx="2211187" cy="119955"/>
          </a:xfrm>
          <a:prstGeom prst="rect">
            <a:avLst/>
          </a:prstGeom>
          <a:noFill/>
          <a:ln/>
        </p:spPr>
        <p:txBody>
          <a:bodyPr wrap="square" lIns="0" tIns="0" rIns="0" bIns="0" rtlCol="0" anchor="t"/>
          <a:lstStyle/>
          <a:p>
            <a:pPr marL="0" indent="0" algn="l">
              <a:lnSpc>
                <a:spcPts val="945"/>
              </a:lnSpc>
              <a:spcAft>
                <a:spcPts val="300"/>
              </a:spcAft>
              <a:buNone/>
            </a:pPr>
            <a:r>
              <a:rPr lang="en-US" sz="675" b="1" dirty="0">
                <a:solidFill>
                  <a:srgbClr val="1A1F2E"/>
                </a:solidFill>
                <a:latin typeface="Arial" pitchFamily="34" charset="0"/>
                <a:ea typeface="Arial" pitchFamily="34" charset="-122"/>
                <a:cs typeface="Arial" pitchFamily="34" charset="-120"/>
              </a:rPr>
              <a:t>EXAMPLE OUTPUT</a:t>
            </a:r>
            <a:endParaRPr lang="en-US" sz="675" dirty="0"/>
          </a:p>
        </p:txBody>
      </p:sp>
      <p:sp>
        <p:nvSpPr>
          <p:cNvPr id="37" name="Text 35"/>
          <p:cNvSpPr/>
          <p:nvPr/>
        </p:nvSpPr>
        <p:spPr>
          <a:xfrm>
            <a:off x="6604695" y="3764012"/>
            <a:ext cx="2211187" cy="426244"/>
          </a:xfrm>
          <a:prstGeom prst="rect">
            <a:avLst/>
          </a:prstGeom>
          <a:noFill/>
          <a:ln/>
        </p:spPr>
        <p:txBody>
          <a:bodyPr wrap="square" lIns="0" tIns="0" rIns="0" bIns="0" rtlCol="0" anchor="t"/>
          <a:lstStyle/>
          <a:p>
            <a:pPr marL="0" indent="0" algn="l">
              <a:lnSpc>
                <a:spcPts val="840"/>
              </a:lnSpc>
              <a:buNone/>
            </a:pPr>
            <a:r>
              <a:rPr lang="en-US" sz="600" dirty="0">
                <a:solidFill>
                  <a:srgbClr val="6B7280"/>
                </a:solidFill>
                <a:latin typeface="Arial" pitchFamily="34" charset="0"/>
                <a:ea typeface="Arial" pitchFamily="34" charset="-122"/>
                <a:cs typeface="Arial" pitchFamily="34" charset="-120"/>
              </a:rPr>
              <a:t>In src/api/authMiddleware, add rate limiting:</a:t>
            </a:r>
            <a:endParaRPr lang="en-US" sz="600" dirty="0"/>
          </a:p>
          <a:p>
            <a:pPr marL="0" indent="0" algn="l">
              <a:lnSpc>
                <a:spcPts val="840"/>
              </a:lnSpc>
              <a:buNone/>
            </a:pPr>
            <a:r>
              <a:rPr lang="en-US" sz="600" dirty="0">
                <a:solidFill>
                  <a:srgbClr val="6B7280"/>
                </a:solidFill>
                <a:latin typeface="Arial" pitchFamily="34" charset="0"/>
                <a:ea typeface="Arial" pitchFamily="34" charset="-122"/>
                <a:cs typeface="Arial" pitchFamily="34" charset="-120"/>
              </a:rPr>
              <a:t>- Max 100 requests/min per IP</a:t>
            </a:r>
            <a:endParaRPr lang="en-US" sz="600" dirty="0"/>
          </a:p>
          <a:p>
            <a:pPr marL="0" indent="0" algn="l">
              <a:lnSpc>
                <a:spcPts val="840"/>
              </a:lnSpc>
              <a:buNone/>
            </a:pPr>
            <a:r>
              <a:rPr lang="en-US" sz="600" dirty="0">
                <a:solidFill>
                  <a:srgbClr val="6B7280"/>
                </a:solidFill>
                <a:latin typeface="Arial" pitchFamily="34" charset="0"/>
                <a:ea typeface="Arial" pitchFamily="34" charset="-122"/>
                <a:cs typeface="Arial" pitchFamily="34" charset="-120"/>
              </a:rPr>
              <a:t>- Log all blocked attempts</a:t>
            </a:r>
            <a:endParaRPr lang="en-US" sz="600" dirty="0"/>
          </a:p>
          <a:p>
            <a:pPr marL="0" indent="0" algn="l">
              <a:lnSpc>
                <a:spcPts val="840"/>
              </a:lnSpc>
              <a:buNone/>
            </a:pPr>
            <a:r>
              <a:rPr lang="en-US" sz="600" dirty="0">
                <a:solidFill>
                  <a:srgbClr val="6B7280"/>
                </a:solidFill>
                <a:latin typeface="Arial" pitchFamily="34" charset="0"/>
                <a:ea typeface="Arial" pitchFamily="34" charset="-122"/>
                <a:cs typeface="Arial" pitchFamily="34" charset="-120"/>
              </a:rPr>
              <a:t>- Include timestamp and IP in logs</a:t>
            </a:r>
            <a:endParaRPr lang="en-US" sz="600" dirty="0"/>
          </a:p>
        </p:txBody>
      </p:sp>
      <p:sp>
        <p:nvSpPr>
          <p:cNvPr id="38" name="Text 36"/>
          <p:cNvSpPr/>
          <p:nvPr/>
        </p:nvSpPr>
        <p:spPr>
          <a:xfrm>
            <a:off x="4017764" y="4542681"/>
            <a:ext cx="4859536" cy="329505"/>
          </a:xfrm>
          <a:prstGeom prst="rect">
            <a:avLst/>
          </a:prstGeom>
          <a:solidFill>
            <a:srgbClr val="FFFFFF"/>
          </a:solidFill>
          <a:ln w="9525">
            <a:solidFill>
              <a:srgbClr val="C9A227"/>
            </a:solidFill>
          </a:ln>
        </p:spPr>
        <p:txBody>
          <a:bodyPr wrap="square" rtlCol="0" anchor="ctr"/>
          <a:lstStyle/>
          <a:p>
            <a:pPr marL="0" indent="0">
              <a:buNone/>
            </a:pPr>
            <a:endParaRPr lang="en-US" dirty="0"/>
          </a:p>
        </p:txBody>
      </p:sp>
      <p:sp>
        <p:nvSpPr>
          <p:cNvPr id="39" name="Text 37"/>
          <p:cNvSpPr/>
          <p:nvPr/>
        </p:nvSpPr>
        <p:spPr>
          <a:xfrm>
            <a:off x="4122539" y="4647456"/>
            <a:ext cx="4742986" cy="119955"/>
          </a:xfrm>
          <a:prstGeom prst="rect">
            <a:avLst/>
          </a:prstGeom>
          <a:noFill/>
          <a:ln/>
        </p:spPr>
        <p:txBody>
          <a:bodyPr wrap="square" lIns="0" tIns="0" rIns="0" bIns="0" rtlCol="0" anchor="t"/>
          <a:lstStyle/>
          <a:p>
            <a:pPr marL="0" indent="0" algn="l">
              <a:lnSpc>
                <a:spcPts val="945"/>
              </a:lnSpc>
              <a:buNone/>
            </a:pPr>
            <a:r>
              <a:rPr lang="en-US" sz="675" b="1" dirty="0">
                <a:solidFill>
                  <a:srgbClr val="1A1F2E"/>
                </a:solidFill>
                <a:latin typeface="Arial" pitchFamily="34" charset="0"/>
                <a:ea typeface="Arial" pitchFamily="34" charset="-122"/>
                <a:cs typeface="Arial" pitchFamily="34" charset="-120"/>
              </a:rPr>
              <a:t>Workflow:</a:t>
            </a:r>
            <a:r>
              <a:rPr lang="en-US" sz="675" dirty="0">
                <a:solidFill>
                  <a:srgbClr val="1A1F2E"/>
                </a:solidFill>
                <a:latin typeface="Arial" pitchFamily="34" charset="0"/>
                <a:ea typeface="Arial" pitchFamily="34" charset="-122"/>
                <a:cs typeface="Arial" pitchFamily="34" charset="-120"/>
              </a:rPr>
              <a:t> Copy error → Dictate "fix this error" → Paste to Claude Code</a:t>
            </a:r>
            <a:endParaRPr lang="en-US" sz="675"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3598664" cy="5143500"/>
          </a:xfrm>
          <a:prstGeom prst="rect">
            <a:avLst/>
          </a:prstGeom>
          <a:solidFill>
            <a:srgbClr val="1A1F2E"/>
          </a:solidFill>
          <a:ln/>
        </p:spPr>
        <p:txBody>
          <a:bodyPr wrap="square" rtlCol="0" anchor="ctr"/>
          <a:lstStyle/>
          <a:p>
            <a:pPr marL="0" indent="0">
              <a:buNone/>
            </a:pPr>
            <a:endParaRPr lang="en-US" dirty="0"/>
          </a:p>
        </p:txBody>
      </p:sp>
      <p:sp>
        <p:nvSpPr>
          <p:cNvPr id="3" name="Text 1"/>
          <p:cNvSpPr/>
          <p:nvPr/>
        </p:nvSpPr>
        <p:spPr>
          <a:xfrm>
            <a:off x="266700" y="222052"/>
            <a:ext cx="1276350" cy="272355"/>
          </a:xfrm>
          <a:prstGeom prst="rect">
            <a:avLst/>
          </a:prstGeom>
          <a:solidFill>
            <a:srgbClr val="8B5CF6"/>
          </a:solidFill>
          <a:ln/>
        </p:spPr>
        <p:txBody>
          <a:bodyPr wrap="square" rtlCol="0" anchor="ctr"/>
          <a:lstStyle/>
          <a:p>
            <a:pPr marL="0" indent="0">
              <a:buNone/>
            </a:pPr>
            <a:endParaRPr lang="en-US" dirty="0"/>
          </a:p>
        </p:txBody>
      </p:sp>
      <p:sp>
        <p:nvSpPr>
          <p:cNvPr id="4" name="Text 2"/>
          <p:cNvSpPr/>
          <p:nvPr/>
        </p:nvSpPr>
        <p:spPr>
          <a:xfrm>
            <a:off x="381000" y="298252"/>
            <a:ext cx="1068705" cy="119955"/>
          </a:xfrm>
          <a:prstGeom prst="rect">
            <a:avLst/>
          </a:prstGeom>
          <a:noFill/>
          <a:ln/>
        </p:spPr>
        <p:txBody>
          <a:bodyPr wrap="square" lIns="0" tIns="0" rIns="0" bIns="0" rtlCol="0" anchor="t"/>
          <a:lstStyle/>
          <a:p>
            <a:pPr marL="0" indent="0" algn="l">
              <a:lnSpc>
                <a:spcPts val="945"/>
              </a:lnSpc>
              <a:buNone/>
            </a:pPr>
            <a:r>
              <a:rPr lang="en-US" sz="675" b="1" dirty="0">
                <a:solidFill>
                  <a:srgbClr val="FFFFFF"/>
                </a:solidFill>
                <a:latin typeface="Arial" pitchFamily="34" charset="0"/>
                <a:ea typeface="Arial" pitchFamily="34" charset="-122"/>
                <a:cs typeface="Arial" pitchFamily="34" charset="-120"/>
              </a:rPr>
              <a:t>ADVANCED PATTERN</a:t>
            </a:r>
            <a:endParaRPr lang="en-US" sz="675" dirty="0"/>
          </a:p>
        </p:txBody>
      </p:sp>
      <p:sp>
        <p:nvSpPr>
          <p:cNvPr id="5" name="Text 3"/>
          <p:cNvSpPr/>
          <p:nvPr/>
        </p:nvSpPr>
        <p:spPr>
          <a:xfrm>
            <a:off x="266700" y="761107"/>
            <a:ext cx="1700213" cy="548580"/>
          </a:xfrm>
          <a:prstGeom prst="rect">
            <a:avLst/>
          </a:prstGeom>
          <a:noFill/>
          <a:ln/>
        </p:spPr>
        <p:txBody>
          <a:bodyPr wrap="square" lIns="0" tIns="0" rIns="0" bIns="0" rtlCol="0" anchor="t"/>
          <a:lstStyle/>
          <a:p>
            <a:pPr marL="0" indent="0" algn="l">
              <a:lnSpc>
                <a:spcPts val="2160"/>
              </a:lnSpc>
              <a:spcAft>
                <a:spcPts val="900"/>
              </a:spcAft>
              <a:buNone/>
            </a:pPr>
            <a:r>
              <a:rPr lang="en-US" sz="1800" dirty="0">
                <a:solidFill>
                  <a:srgbClr val="FFFFFF"/>
                </a:solidFill>
                <a:latin typeface="Georgia" pitchFamily="34" charset="0"/>
                <a:ea typeface="Georgia" pitchFamily="34" charset="-122"/>
                <a:cs typeface="Georgia" pitchFamily="34" charset="-120"/>
              </a:rPr>
              <a:t>Agentic Handoff</a:t>
            </a:r>
            <a:endParaRPr lang="en-US" sz="1800" dirty="0"/>
          </a:p>
          <a:p>
            <a:pPr marL="0" indent="0" algn="l">
              <a:lnSpc>
                <a:spcPts val="2160"/>
              </a:lnSpc>
              <a:spcAft>
                <a:spcPts val="900"/>
              </a:spcAft>
              <a:buNone/>
            </a:pPr>
            <a:r>
              <a:rPr lang="en-US" sz="1800" dirty="0">
                <a:solidFill>
                  <a:srgbClr val="FFFFFF"/>
                </a:solidFill>
                <a:latin typeface="Georgia" pitchFamily="34" charset="0"/>
                <a:ea typeface="Georgia" pitchFamily="34" charset="-122"/>
                <a:cs typeface="Georgia" pitchFamily="34" charset="-120"/>
              </a:rPr>
              <a:t>Mode</a:t>
            </a:r>
            <a:endParaRPr lang="en-US" sz="1800" dirty="0"/>
          </a:p>
        </p:txBody>
      </p:sp>
      <p:sp>
        <p:nvSpPr>
          <p:cNvPr id="6" name="Text 4"/>
          <p:cNvSpPr/>
          <p:nvPr/>
        </p:nvSpPr>
        <p:spPr>
          <a:xfrm>
            <a:off x="266700" y="1881187"/>
            <a:ext cx="3065264" cy="639961"/>
          </a:xfrm>
          <a:prstGeom prst="rect">
            <a:avLst/>
          </a:prstGeom>
          <a:solidFill>
            <a:srgbClr val="C9A227">
              <a:alpha val="15000"/>
            </a:srgbClr>
          </a:solidFill>
          <a:ln/>
        </p:spPr>
        <p:txBody>
          <a:bodyPr wrap="square" rtlCol="0" anchor="ctr"/>
          <a:lstStyle/>
          <a:p>
            <a:pPr marL="0" indent="0">
              <a:buNone/>
            </a:pPr>
            <a:endParaRPr lang="en-US" dirty="0"/>
          </a:p>
        </p:txBody>
      </p:sp>
      <p:sp>
        <p:nvSpPr>
          <p:cNvPr id="7" name="Shape 5"/>
          <p:cNvSpPr/>
          <p:nvPr/>
        </p:nvSpPr>
        <p:spPr>
          <a:xfrm>
            <a:off x="280988" y="1881187"/>
            <a:ext cx="0" cy="639961"/>
          </a:xfrm>
          <a:prstGeom prst="line">
            <a:avLst/>
          </a:prstGeom>
          <a:noFill/>
          <a:ln w="28575">
            <a:solidFill>
              <a:srgbClr val="C9A227"/>
            </a:solidFill>
            <a:prstDash val="solid"/>
          </a:ln>
        </p:spPr>
        <p:txBody>
          <a:bodyPr/>
          <a:lstStyle/>
          <a:p>
            <a:endParaRPr lang="en-US"/>
          </a:p>
        </p:txBody>
      </p:sp>
      <p:sp>
        <p:nvSpPr>
          <p:cNvPr id="8" name="Text 6"/>
          <p:cNvSpPr/>
          <p:nvPr/>
        </p:nvSpPr>
        <p:spPr>
          <a:xfrm>
            <a:off x="409575" y="1995487"/>
            <a:ext cx="2864251"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C9A227"/>
                </a:solidFill>
                <a:latin typeface="Arial" pitchFamily="34" charset="0"/>
                <a:ea typeface="Arial" pitchFamily="34" charset="-122"/>
                <a:cs typeface="Arial" pitchFamily="34" charset="-120"/>
              </a:rPr>
              <a:t>USE CASE</a:t>
            </a:r>
            <a:endParaRPr lang="en-US" sz="750" dirty="0"/>
          </a:p>
        </p:txBody>
      </p:sp>
      <p:sp>
        <p:nvSpPr>
          <p:cNvPr id="9" name="Text 7"/>
          <p:cNvSpPr/>
          <p:nvPr/>
        </p:nvSpPr>
        <p:spPr>
          <a:xfrm>
            <a:off x="409575" y="2166938"/>
            <a:ext cx="2864251" cy="239911"/>
          </a:xfrm>
          <a:prstGeom prst="rect">
            <a:avLst/>
          </a:prstGeom>
          <a:noFill/>
          <a:ln/>
        </p:spPr>
        <p:txBody>
          <a:bodyPr wrap="square" lIns="0" tIns="0" rIns="0" bIns="0" rtlCol="0" anchor="t"/>
          <a:lstStyle/>
          <a:p>
            <a:pPr marL="0" indent="0" algn="l">
              <a:lnSpc>
                <a:spcPts val="945"/>
              </a:lnSpc>
              <a:buNone/>
            </a:pPr>
            <a:r>
              <a:rPr lang="en-US" sz="675" dirty="0">
                <a:solidFill>
                  <a:srgbClr val="FFFFFF">
                    <a:alpha val="70000"/>
                  </a:srgbClr>
                </a:solidFill>
                <a:latin typeface="Arial" pitchFamily="34" charset="0"/>
                <a:ea typeface="Arial" pitchFamily="34" charset="-122"/>
                <a:cs typeface="Arial" pitchFamily="34" charset="-120"/>
              </a:rPr>
              <a:t>Prepare structured task handoffs for autonomous AI coding agents like Claude Code, Aider, or Cursor Agent.</a:t>
            </a:r>
            <a:endParaRPr lang="en-US" sz="675" dirty="0"/>
          </a:p>
        </p:txBody>
      </p:sp>
      <p:sp>
        <p:nvSpPr>
          <p:cNvPr id="10" name="Text 8"/>
          <p:cNvSpPr/>
          <p:nvPr/>
        </p:nvSpPr>
        <p:spPr>
          <a:xfrm>
            <a:off x="266700" y="2787848"/>
            <a:ext cx="3065264" cy="1062038"/>
          </a:xfrm>
          <a:prstGeom prst="rect">
            <a:avLst/>
          </a:prstGeom>
          <a:solidFill>
            <a:srgbClr val="FFFFFF">
              <a:alpha val="5000"/>
            </a:srgbClr>
          </a:solidFill>
          <a:ln/>
        </p:spPr>
        <p:txBody>
          <a:bodyPr wrap="square" rtlCol="0" anchor="ctr"/>
          <a:lstStyle/>
          <a:p>
            <a:pPr marL="0" indent="0">
              <a:buNone/>
            </a:pPr>
            <a:endParaRPr lang="en-US" dirty="0"/>
          </a:p>
        </p:txBody>
      </p:sp>
      <p:sp>
        <p:nvSpPr>
          <p:cNvPr id="11" name="Text 9"/>
          <p:cNvSpPr/>
          <p:nvPr/>
        </p:nvSpPr>
        <p:spPr>
          <a:xfrm>
            <a:off x="381000" y="2902148"/>
            <a:ext cx="2893397" cy="133350"/>
          </a:xfrm>
          <a:prstGeom prst="rect">
            <a:avLst/>
          </a:prstGeom>
          <a:noFill/>
          <a:ln/>
        </p:spPr>
        <p:txBody>
          <a:bodyPr wrap="square" lIns="0" tIns="0" rIns="0" bIns="0" rtlCol="0" anchor="t"/>
          <a:lstStyle/>
          <a:p>
            <a:pPr marL="0" indent="0" algn="l">
              <a:lnSpc>
                <a:spcPts val="1050"/>
              </a:lnSpc>
              <a:spcAft>
                <a:spcPts val="450"/>
              </a:spcAft>
              <a:buNone/>
            </a:pPr>
            <a:r>
              <a:rPr lang="en-US" sz="750" b="1" dirty="0">
                <a:solidFill>
                  <a:srgbClr val="FFFFFF"/>
                </a:solidFill>
                <a:latin typeface="Arial" pitchFamily="34" charset="0"/>
                <a:ea typeface="Arial" pitchFamily="34" charset="-122"/>
                <a:cs typeface="Arial" pitchFamily="34" charset="-120"/>
              </a:rPr>
              <a:t>THE PATTERN</a:t>
            </a:r>
            <a:endParaRPr lang="en-US" sz="750" dirty="0"/>
          </a:p>
        </p:txBody>
      </p:sp>
      <p:sp>
        <p:nvSpPr>
          <p:cNvPr id="12" name="Text 10"/>
          <p:cNvSpPr/>
          <p:nvPr/>
        </p:nvSpPr>
        <p:spPr>
          <a:xfrm>
            <a:off x="381000" y="3092648"/>
            <a:ext cx="2893397" cy="642938"/>
          </a:xfrm>
          <a:prstGeom prst="rect">
            <a:avLst/>
          </a:prstGeom>
          <a:noFill/>
          <a:ln/>
        </p:spPr>
        <p:txBody>
          <a:bodyPr wrap="square" lIns="0" tIns="0" rIns="0" bIns="0" rtlCol="0" anchor="t"/>
          <a:lstStyle/>
          <a:p>
            <a:pPr marL="0" indent="0" algn="l">
              <a:lnSpc>
                <a:spcPts val="1013"/>
              </a:lnSpc>
              <a:buNone/>
            </a:pPr>
            <a:r>
              <a:rPr lang="en-US" sz="675" dirty="0">
                <a:solidFill>
                  <a:srgbClr val="FFFFFF">
                    <a:alpha val="60000"/>
                  </a:srgbClr>
                </a:solidFill>
                <a:latin typeface="Arial" pitchFamily="34" charset="0"/>
                <a:ea typeface="Arial" pitchFamily="34" charset="-122"/>
                <a:cs typeface="Arial" pitchFamily="34" charset="-120"/>
              </a:rPr>
              <a:t>Raw speech describing a task</a:t>
            </a:r>
            <a:endParaRPr lang="en-US" sz="675" dirty="0"/>
          </a:p>
          <a:p>
            <a:pPr marL="0" indent="0" algn="l">
              <a:lnSpc>
                <a:spcPts val="1013"/>
              </a:lnSpc>
              <a:buNone/>
            </a:pPr>
            <a:r>
              <a:rPr lang="en-US" sz="675" dirty="0">
                <a:solidFill>
                  <a:srgbClr val="FFFFFF">
                    <a:alpha val="60000"/>
                  </a:srgbClr>
                </a:solidFill>
                <a:latin typeface="Arial" pitchFamily="34" charset="0"/>
                <a:ea typeface="Arial" pitchFamily="34" charset="-122"/>
                <a:cs typeface="Arial" pitchFamily="34" charset="-120"/>
              </a:rPr>
              <a:t> ↓</a:t>
            </a:r>
            <a:endParaRPr lang="en-US" sz="675" dirty="0"/>
          </a:p>
          <a:p>
            <a:pPr marL="0" indent="0" algn="l">
              <a:lnSpc>
                <a:spcPts val="1013"/>
              </a:lnSpc>
              <a:buNone/>
            </a:pPr>
            <a:r>
              <a:rPr lang="en-US" sz="675" dirty="0">
                <a:solidFill>
                  <a:srgbClr val="FFFFFF">
                    <a:alpha val="60000"/>
                  </a:srgbClr>
                </a:solidFill>
                <a:latin typeface="Arial" pitchFamily="34" charset="0"/>
                <a:ea typeface="Arial" pitchFamily="34" charset="-122"/>
                <a:cs typeface="Arial" pitchFamily="34" charset="-120"/>
              </a:rPr>
              <a:t> Structured task specification</a:t>
            </a:r>
            <a:endParaRPr lang="en-US" sz="675" dirty="0"/>
          </a:p>
          <a:p>
            <a:pPr marL="0" indent="0" algn="l">
              <a:lnSpc>
                <a:spcPts val="1013"/>
              </a:lnSpc>
              <a:buNone/>
            </a:pPr>
            <a:r>
              <a:rPr lang="en-US" sz="675" dirty="0">
                <a:solidFill>
                  <a:srgbClr val="FFFFFF">
                    <a:alpha val="60000"/>
                  </a:srgbClr>
                </a:solidFill>
                <a:latin typeface="Arial" pitchFamily="34" charset="0"/>
                <a:ea typeface="Arial" pitchFamily="34" charset="-122"/>
                <a:cs typeface="Arial" pitchFamily="34" charset="-120"/>
              </a:rPr>
              <a:t> ↓</a:t>
            </a:r>
            <a:endParaRPr lang="en-US" sz="675" dirty="0"/>
          </a:p>
          <a:p>
            <a:pPr marL="0" indent="0" algn="l">
              <a:lnSpc>
                <a:spcPts val="1013"/>
              </a:lnSpc>
              <a:buNone/>
            </a:pPr>
            <a:r>
              <a:rPr lang="en-US" sz="675" dirty="0">
                <a:solidFill>
                  <a:srgbClr val="FFFFFF">
                    <a:alpha val="60000"/>
                  </a:srgbClr>
                </a:solidFill>
                <a:latin typeface="Arial" pitchFamily="34" charset="0"/>
                <a:ea typeface="Arial" pitchFamily="34" charset="-122"/>
                <a:cs typeface="Arial" pitchFamily="34" charset="-120"/>
              </a:rPr>
              <a:t> AI agent executes autonomously</a:t>
            </a:r>
            <a:endParaRPr lang="en-US" sz="675" dirty="0"/>
          </a:p>
        </p:txBody>
      </p:sp>
      <p:sp>
        <p:nvSpPr>
          <p:cNvPr id="13" name="Text 11"/>
          <p:cNvSpPr/>
          <p:nvPr/>
        </p:nvSpPr>
        <p:spPr>
          <a:xfrm>
            <a:off x="266700" y="4116586"/>
            <a:ext cx="3065264" cy="804863"/>
          </a:xfrm>
          <a:prstGeom prst="rect">
            <a:avLst/>
          </a:prstGeom>
          <a:solidFill>
            <a:srgbClr val="FFFFFF">
              <a:alpha val="5000"/>
            </a:srgbClr>
          </a:solidFill>
          <a:ln/>
        </p:spPr>
        <p:txBody>
          <a:bodyPr wrap="square" rtlCol="0" anchor="ctr"/>
          <a:lstStyle/>
          <a:p>
            <a:pPr marL="0" indent="0">
              <a:buNone/>
            </a:pPr>
            <a:endParaRPr lang="en-US" dirty="0"/>
          </a:p>
        </p:txBody>
      </p:sp>
      <p:sp>
        <p:nvSpPr>
          <p:cNvPr id="14" name="Text 12"/>
          <p:cNvSpPr/>
          <p:nvPr/>
        </p:nvSpPr>
        <p:spPr>
          <a:xfrm>
            <a:off x="381000" y="4230886"/>
            <a:ext cx="2893397" cy="133350"/>
          </a:xfrm>
          <a:prstGeom prst="rect">
            <a:avLst/>
          </a:prstGeom>
          <a:noFill/>
          <a:ln/>
        </p:spPr>
        <p:txBody>
          <a:bodyPr wrap="square" lIns="0" tIns="0" rIns="0" bIns="0" rtlCol="0" anchor="t"/>
          <a:lstStyle/>
          <a:p>
            <a:pPr marL="0" indent="0" algn="l">
              <a:lnSpc>
                <a:spcPts val="1050"/>
              </a:lnSpc>
              <a:spcAft>
                <a:spcPts val="450"/>
              </a:spcAft>
              <a:buNone/>
            </a:pPr>
            <a:r>
              <a:rPr lang="en-US" sz="750" b="1" dirty="0">
                <a:solidFill>
                  <a:srgbClr val="FFFFFF"/>
                </a:solidFill>
                <a:latin typeface="Arial" pitchFamily="34" charset="0"/>
                <a:ea typeface="Arial" pitchFamily="34" charset="-122"/>
                <a:cs typeface="Arial" pitchFamily="34" charset="-120"/>
              </a:rPr>
              <a:t>CONTEXT SETTINGS</a:t>
            </a:r>
            <a:endParaRPr lang="en-US" sz="750" dirty="0"/>
          </a:p>
        </p:txBody>
      </p:sp>
      <p:sp>
        <p:nvSpPr>
          <p:cNvPr id="15" name="Text 13"/>
          <p:cNvSpPr/>
          <p:nvPr/>
        </p:nvSpPr>
        <p:spPr>
          <a:xfrm>
            <a:off x="381000" y="4421386"/>
            <a:ext cx="2893397" cy="385763"/>
          </a:xfrm>
          <a:prstGeom prst="rect">
            <a:avLst/>
          </a:prstGeom>
          <a:noFill/>
          <a:ln/>
        </p:spPr>
        <p:txBody>
          <a:bodyPr wrap="square" lIns="0" tIns="0" rIns="0" bIns="0" rtlCol="0" anchor="t"/>
          <a:lstStyle/>
          <a:p>
            <a:pPr marL="0" indent="0" algn="l">
              <a:lnSpc>
                <a:spcPts val="1013"/>
              </a:lnSpc>
              <a:buNone/>
            </a:pPr>
            <a:r>
              <a:rPr lang="en-US" sz="675" dirty="0">
                <a:solidFill>
                  <a:srgbClr val="FFFFFF">
                    <a:alpha val="60000"/>
                  </a:srgbClr>
                </a:solidFill>
                <a:latin typeface="Arial" pitchFamily="34" charset="0"/>
                <a:ea typeface="Arial" pitchFamily="34" charset="-122"/>
                <a:cs typeface="Arial" pitchFamily="34" charset="-120"/>
              </a:rPr>
              <a:t>✓ Application Context</a:t>
            </a:r>
            <a:endParaRPr lang="en-US" sz="675" dirty="0"/>
          </a:p>
          <a:p>
            <a:pPr marL="0" indent="0" algn="l">
              <a:lnSpc>
                <a:spcPts val="1013"/>
              </a:lnSpc>
              <a:buNone/>
            </a:pPr>
            <a:r>
              <a:rPr lang="en-US" sz="675" dirty="0">
                <a:solidFill>
                  <a:srgbClr val="FFFFFF">
                    <a:alpha val="60000"/>
                  </a:srgbClr>
                </a:solidFill>
                <a:latin typeface="Arial" pitchFamily="34" charset="0"/>
                <a:ea typeface="Arial" pitchFamily="34" charset="-122"/>
                <a:cs typeface="Arial" pitchFamily="34" charset="-120"/>
              </a:rPr>
              <a:t> ✓ Selected Text (file/code context)</a:t>
            </a:r>
            <a:endParaRPr lang="en-US" sz="675" dirty="0"/>
          </a:p>
          <a:p>
            <a:pPr marL="0" indent="0" algn="l">
              <a:lnSpc>
                <a:spcPts val="1013"/>
              </a:lnSpc>
              <a:buNone/>
            </a:pPr>
            <a:r>
              <a:rPr lang="en-US" sz="675" dirty="0">
                <a:solidFill>
                  <a:srgbClr val="FFFFFF">
                    <a:alpha val="60000"/>
                  </a:srgbClr>
                </a:solidFill>
                <a:latin typeface="Arial" pitchFamily="34" charset="0"/>
                <a:ea typeface="Arial" pitchFamily="34" charset="-122"/>
                <a:cs typeface="Arial" pitchFamily="34" charset="-120"/>
              </a:rPr>
              <a:t> ✓ Clipboard (errors, references)</a:t>
            </a:r>
            <a:endParaRPr lang="en-US" sz="675" dirty="0"/>
          </a:p>
        </p:txBody>
      </p:sp>
      <p:sp>
        <p:nvSpPr>
          <p:cNvPr id="16" name="Text 14"/>
          <p:cNvSpPr/>
          <p:nvPr/>
        </p:nvSpPr>
        <p:spPr>
          <a:xfrm>
            <a:off x="3751064" y="0"/>
            <a:ext cx="5392936" cy="5143500"/>
          </a:xfrm>
          <a:prstGeom prst="rect">
            <a:avLst/>
          </a:prstGeom>
          <a:solidFill>
            <a:srgbClr val="F7F8FA"/>
          </a:solidFill>
          <a:ln/>
        </p:spPr>
        <p:txBody>
          <a:bodyPr wrap="square" rtlCol="0" anchor="ctr"/>
          <a:lstStyle/>
          <a:p>
            <a:pPr marL="0" indent="0">
              <a:buNone/>
            </a:pPr>
            <a:endParaRPr lang="en-US" dirty="0"/>
          </a:p>
        </p:txBody>
      </p:sp>
      <p:sp>
        <p:nvSpPr>
          <p:cNvPr id="17" name="Text 15"/>
          <p:cNvSpPr/>
          <p:nvPr/>
        </p:nvSpPr>
        <p:spPr>
          <a:xfrm>
            <a:off x="4017764" y="491579"/>
            <a:ext cx="4956727" cy="159990"/>
          </a:xfrm>
          <a:prstGeom prst="rect">
            <a:avLst/>
          </a:prstGeom>
          <a:noFill/>
          <a:ln/>
        </p:spPr>
        <p:txBody>
          <a:bodyPr wrap="square" lIns="0" tIns="0" rIns="0" bIns="0" rtlCol="0" anchor="t"/>
          <a:lstStyle/>
          <a:p>
            <a:pPr marL="0" indent="0" algn="l">
              <a:lnSpc>
                <a:spcPts val="1260"/>
              </a:lnSpc>
              <a:spcAft>
                <a:spcPts val="900"/>
              </a:spcAft>
              <a:buNone/>
            </a:pPr>
            <a:r>
              <a:rPr lang="en-US" sz="900" b="1" dirty="0">
                <a:solidFill>
                  <a:srgbClr val="1A1F2E"/>
                </a:solidFill>
                <a:latin typeface="Arial" pitchFamily="34" charset="0"/>
                <a:ea typeface="Arial" pitchFamily="34" charset="-122"/>
                <a:cs typeface="Arial" pitchFamily="34" charset="-120"/>
              </a:rPr>
              <a:t>SAMPLE AI INSTRUCTIONS</a:t>
            </a:r>
            <a:endParaRPr lang="en-US" sz="900" dirty="0"/>
          </a:p>
        </p:txBody>
      </p:sp>
      <p:sp>
        <p:nvSpPr>
          <p:cNvPr id="18" name="Text 16"/>
          <p:cNvSpPr/>
          <p:nvPr/>
        </p:nvSpPr>
        <p:spPr>
          <a:xfrm>
            <a:off x="4017764" y="918270"/>
            <a:ext cx="4859536" cy="1956792"/>
          </a:xfrm>
          <a:prstGeom prst="rect">
            <a:avLst/>
          </a:prstGeom>
          <a:solidFill>
            <a:srgbClr val="1A1F2E"/>
          </a:solidFill>
          <a:ln/>
        </p:spPr>
        <p:txBody>
          <a:bodyPr wrap="square" rtlCol="0" anchor="ctr"/>
          <a:lstStyle/>
          <a:p>
            <a:pPr marL="0" indent="0">
              <a:buNone/>
            </a:pPr>
            <a:endParaRPr lang="en-US" dirty="0"/>
          </a:p>
        </p:txBody>
      </p:sp>
      <p:sp>
        <p:nvSpPr>
          <p:cNvPr id="19" name="Text 17"/>
          <p:cNvSpPr/>
          <p:nvPr/>
        </p:nvSpPr>
        <p:spPr>
          <a:xfrm>
            <a:off x="4151114" y="1051620"/>
            <a:ext cx="4684693" cy="106561"/>
          </a:xfrm>
          <a:prstGeom prst="rect">
            <a:avLst/>
          </a:prstGeom>
          <a:noFill/>
          <a:ln/>
        </p:spPr>
        <p:txBody>
          <a:bodyPr wrap="square" lIns="0" tIns="0" rIns="0" bIns="0" rtlCol="0" anchor="t"/>
          <a:lstStyle/>
          <a:p>
            <a:pPr marL="0" indent="0" algn="l">
              <a:lnSpc>
                <a:spcPts val="840"/>
              </a:lnSpc>
              <a:spcAft>
                <a:spcPts val="300"/>
              </a:spcAft>
              <a:buNone/>
            </a:pPr>
            <a:r>
              <a:rPr lang="en-US" sz="600" dirty="0">
                <a:solidFill>
                  <a:srgbClr val="C9A227"/>
                </a:solidFill>
                <a:latin typeface="Arial" pitchFamily="34" charset="0"/>
                <a:ea typeface="Arial" pitchFamily="34" charset="-122"/>
                <a:cs typeface="Arial" pitchFamily="34" charset="-120"/>
              </a:rPr>
              <a:t>&lt;role&gt;</a:t>
            </a:r>
            <a:endParaRPr lang="en-US" sz="600" dirty="0"/>
          </a:p>
        </p:txBody>
      </p:sp>
      <p:sp>
        <p:nvSpPr>
          <p:cNvPr id="20" name="Text 18"/>
          <p:cNvSpPr/>
          <p:nvPr/>
        </p:nvSpPr>
        <p:spPr>
          <a:xfrm>
            <a:off x="4151114" y="1196280"/>
            <a:ext cx="4684693" cy="106561"/>
          </a:xfrm>
          <a:prstGeom prst="rect">
            <a:avLst/>
          </a:prstGeom>
          <a:noFill/>
          <a:ln/>
        </p:spPr>
        <p:txBody>
          <a:bodyPr wrap="square" lIns="76200" tIns="0" rIns="0" bIns="0" rtlCol="0" anchor="t"/>
          <a:lstStyle/>
          <a:p>
            <a:pPr marL="0" indent="0" algn="l">
              <a:lnSpc>
                <a:spcPts val="840"/>
              </a:lnSpc>
              <a:spcAft>
                <a:spcPts val="300"/>
              </a:spcAft>
              <a:buNone/>
            </a:pPr>
            <a:r>
              <a:rPr lang="en-US" sz="600" dirty="0">
                <a:solidFill>
                  <a:srgbClr val="FFFFFF">
                    <a:alpha val="85000"/>
                  </a:srgbClr>
                </a:solidFill>
                <a:latin typeface="Arial" pitchFamily="34" charset="0"/>
                <a:ea typeface="Arial" pitchFamily="34" charset="-122"/>
                <a:cs typeface="Arial" pitchFamily="34" charset="-120"/>
              </a:rPr>
              <a:t>You prepare task specifications for AI coding agents</a:t>
            </a:r>
            <a:endParaRPr lang="en-US" sz="600" dirty="0"/>
          </a:p>
        </p:txBody>
      </p:sp>
      <p:sp>
        <p:nvSpPr>
          <p:cNvPr id="21" name="Text 19"/>
          <p:cNvSpPr/>
          <p:nvPr/>
        </p:nvSpPr>
        <p:spPr>
          <a:xfrm>
            <a:off x="4151114" y="1340941"/>
            <a:ext cx="4684693" cy="106561"/>
          </a:xfrm>
          <a:prstGeom prst="rect">
            <a:avLst/>
          </a:prstGeom>
          <a:noFill/>
          <a:ln/>
        </p:spPr>
        <p:txBody>
          <a:bodyPr wrap="square" lIns="0" tIns="0" rIns="0" bIns="0" rtlCol="0" anchor="t"/>
          <a:lstStyle/>
          <a:p>
            <a:pPr marL="0" indent="0" algn="l">
              <a:lnSpc>
                <a:spcPts val="840"/>
              </a:lnSpc>
              <a:spcAft>
                <a:spcPts val="300"/>
              </a:spcAft>
              <a:buNone/>
            </a:pPr>
            <a:r>
              <a:rPr lang="en-US" sz="600" dirty="0">
                <a:solidFill>
                  <a:srgbClr val="C9A227"/>
                </a:solidFill>
                <a:latin typeface="Arial" pitchFamily="34" charset="0"/>
                <a:ea typeface="Arial" pitchFamily="34" charset="-122"/>
                <a:cs typeface="Arial" pitchFamily="34" charset="-120"/>
              </a:rPr>
              <a:t>&lt;/role&gt;</a:t>
            </a:r>
            <a:endParaRPr lang="en-US" sz="600" dirty="0"/>
          </a:p>
        </p:txBody>
      </p:sp>
      <p:sp>
        <p:nvSpPr>
          <p:cNvPr id="22" name="Text 20"/>
          <p:cNvSpPr/>
          <p:nvPr/>
        </p:nvSpPr>
        <p:spPr>
          <a:xfrm>
            <a:off x="4151114" y="1485602"/>
            <a:ext cx="4684693" cy="106561"/>
          </a:xfrm>
          <a:prstGeom prst="rect">
            <a:avLst/>
          </a:prstGeom>
          <a:noFill/>
          <a:ln/>
        </p:spPr>
        <p:txBody>
          <a:bodyPr wrap="square" lIns="0" tIns="0" rIns="0" bIns="0" rtlCol="0" anchor="t"/>
          <a:lstStyle/>
          <a:p>
            <a:pPr marL="0" indent="0" algn="l">
              <a:lnSpc>
                <a:spcPts val="840"/>
              </a:lnSpc>
              <a:spcAft>
                <a:spcPts val="300"/>
              </a:spcAft>
              <a:buNone/>
            </a:pPr>
            <a:r>
              <a:rPr lang="en-US" sz="600" dirty="0">
                <a:solidFill>
                  <a:srgbClr val="C9A227"/>
                </a:solidFill>
                <a:latin typeface="Arial" pitchFamily="34" charset="0"/>
                <a:ea typeface="Arial" pitchFamily="34" charset="-122"/>
                <a:cs typeface="Arial" pitchFamily="34" charset="-120"/>
              </a:rPr>
              <a:t>&lt;instructions&gt;</a:t>
            </a:r>
            <a:endParaRPr lang="en-US" sz="600" dirty="0"/>
          </a:p>
        </p:txBody>
      </p:sp>
      <p:sp>
        <p:nvSpPr>
          <p:cNvPr id="23" name="Text 21"/>
          <p:cNvSpPr/>
          <p:nvPr/>
        </p:nvSpPr>
        <p:spPr>
          <a:xfrm>
            <a:off x="4151114" y="1630263"/>
            <a:ext cx="4684693" cy="213122"/>
          </a:xfrm>
          <a:prstGeom prst="rect">
            <a:avLst/>
          </a:prstGeom>
          <a:noFill/>
          <a:ln/>
        </p:spPr>
        <p:txBody>
          <a:bodyPr wrap="square" lIns="76200" tIns="0" rIns="0" bIns="0" rtlCol="0" anchor="t"/>
          <a:lstStyle/>
          <a:p>
            <a:pPr marL="0" indent="0" algn="l">
              <a:lnSpc>
                <a:spcPts val="840"/>
              </a:lnSpc>
              <a:spcAft>
                <a:spcPts val="300"/>
              </a:spcAft>
              <a:buNone/>
            </a:pPr>
            <a:r>
              <a:rPr lang="en-US" sz="600" dirty="0">
                <a:solidFill>
                  <a:srgbClr val="FFFFFF">
                    <a:alpha val="85000"/>
                  </a:srgbClr>
                </a:solidFill>
                <a:latin typeface="Arial" pitchFamily="34" charset="0"/>
                <a:ea typeface="Arial" pitchFamily="34" charset="-122"/>
                <a:cs typeface="Arial" pitchFamily="34" charset="-120"/>
              </a:rPr>
              <a:t>Convert the User Message into a structured task.</a:t>
            </a:r>
            <a:endParaRPr lang="en-US" sz="600" dirty="0"/>
          </a:p>
          <a:p>
            <a:pPr marL="0" indent="0" algn="l">
              <a:lnSpc>
                <a:spcPts val="840"/>
              </a:lnSpc>
              <a:spcAft>
                <a:spcPts val="300"/>
              </a:spcAft>
              <a:buNone/>
            </a:pPr>
            <a:r>
              <a:rPr lang="en-US" sz="600" dirty="0">
                <a:solidFill>
                  <a:srgbClr val="FFFFFF">
                    <a:alpha val="85000"/>
                  </a:srgbClr>
                </a:solidFill>
                <a:latin typeface="Arial" pitchFamily="34" charset="0"/>
                <a:ea typeface="Arial" pitchFamily="34" charset="-122"/>
                <a:cs typeface="Arial" pitchFamily="34" charset="-120"/>
              </a:rPr>
              <a:t> Include: objective, scope, constraints, success criteria.</a:t>
            </a:r>
            <a:endParaRPr lang="en-US" sz="600" dirty="0"/>
          </a:p>
        </p:txBody>
      </p:sp>
      <p:sp>
        <p:nvSpPr>
          <p:cNvPr id="24" name="Text 22"/>
          <p:cNvSpPr/>
          <p:nvPr/>
        </p:nvSpPr>
        <p:spPr>
          <a:xfrm>
            <a:off x="4151114" y="1881485"/>
            <a:ext cx="4684693" cy="106561"/>
          </a:xfrm>
          <a:prstGeom prst="rect">
            <a:avLst/>
          </a:prstGeom>
          <a:noFill/>
          <a:ln/>
        </p:spPr>
        <p:txBody>
          <a:bodyPr wrap="square" lIns="0" tIns="0" rIns="0" bIns="0" rtlCol="0" anchor="t"/>
          <a:lstStyle/>
          <a:p>
            <a:pPr marL="0" indent="0" algn="l">
              <a:lnSpc>
                <a:spcPts val="840"/>
              </a:lnSpc>
              <a:spcAft>
                <a:spcPts val="300"/>
              </a:spcAft>
              <a:buNone/>
            </a:pPr>
            <a:r>
              <a:rPr lang="en-US" sz="600" dirty="0">
                <a:solidFill>
                  <a:srgbClr val="C9A227"/>
                </a:solidFill>
                <a:latin typeface="Arial" pitchFamily="34" charset="0"/>
                <a:ea typeface="Arial" pitchFamily="34" charset="-122"/>
                <a:cs typeface="Arial" pitchFamily="34" charset="-120"/>
              </a:rPr>
              <a:t>&lt;/instructions&gt;</a:t>
            </a:r>
            <a:endParaRPr lang="en-US" sz="600" dirty="0"/>
          </a:p>
        </p:txBody>
      </p:sp>
      <p:sp>
        <p:nvSpPr>
          <p:cNvPr id="25" name="Text 23"/>
          <p:cNvSpPr/>
          <p:nvPr/>
        </p:nvSpPr>
        <p:spPr>
          <a:xfrm>
            <a:off x="4151114" y="2026146"/>
            <a:ext cx="4684693" cy="106561"/>
          </a:xfrm>
          <a:prstGeom prst="rect">
            <a:avLst/>
          </a:prstGeom>
          <a:noFill/>
          <a:ln/>
        </p:spPr>
        <p:txBody>
          <a:bodyPr wrap="square" lIns="0" tIns="0" rIns="0" bIns="0" rtlCol="0" anchor="t"/>
          <a:lstStyle/>
          <a:p>
            <a:pPr marL="0" indent="0" algn="l">
              <a:lnSpc>
                <a:spcPts val="840"/>
              </a:lnSpc>
              <a:spcAft>
                <a:spcPts val="300"/>
              </a:spcAft>
              <a:buNone/>
            </a:pPr>
            <a:r>
              <a:rPr lang="en-US" sz="600" dirty="0">
                <a:solidFill>
                  <a:srgbClr val="C9A227"/>
                </a:solidFill>
                <a:latin typeface="Arial" pitchFamily="34" charset="0"/>
                <a:ea typeface="Arial" pitchFamily="34" charset="-122"/>
                <a:cs typeface="Arial" pitchFamily="34" charset="-120"/>
              </a:rPr>
              <a:t>&lt;requirements&gt;</a:t>
            </a:r>
            <a:endParaRPr lang="en-US" sz="600" dirty="0"/>
          </a:p>
        </p:txBody>
      </p:sp>
      <p:sp>
        <p:nvSpPr>
          <p:cNvPr id="26" name="Text 24"/>
          <p:cNvSpPr/>
          <p:nvPr/>
        </p:nvSpPr>
        <p:spPr>
          <a:xfrm>
            <a:off x="4151114" y="2170807"/>
            <a:ext cx="4684693" cy="426244"/>
          </a:xfrm>
          <a:prstGeom prst="rect">
            <a:avLst/>
          </a:prstGeom>
          <a:noFill/>
          <a:ln/>
        </p:spPr>
        <p:txBody>
          <a:bodyPr wrap="square" lIns="76200" tIns="0" rIns="0" bIns="0" rtlCol="0" anchor="t"/>
          <a:lstStyle/>
          <a:p>
            <a:pPr marL="0" indent="0" algn="l">
              <a:lnSpc>
                <a:spcPts val="840"/>
              </a:lnSpc>
              <a:buNone/>
            </a:pPr>
            <a:r>
              <a:rPr lang="en-US" sz="600" dirty="0">
                <a:solidFill>
                  <a:srgbClr val="FFFFFF">
                    <a:alpha val="85000"/>
                  </a:srgbClr>
                </a:solidFill>
                <a:latin typeface="Arial" pitchFamily="34" charset="0"/>
                <a:ea typeface="Arial" pitchFamily="34" charset="-122"/>
                <a:cs typeface="Arial" pitchFamily="34" charset="-120"/>
              </a:rPr>
              <a:t>Clear, actionable objective</a:t>
            </a:r>
            <a:endParaRPr lang="en-US" sz="600" dirty="0"/>
          </a:p>
          <a:p>
            <a:pPr marL="0" indent="0" algn="l">
              <a:lnSpc>
                <a:spcPts val="840"/>
              </a:lnSpc>
              <a:buNone/>
            </a:pPr>
            <a:r>
              <a:rPr lang="en-US" sz="600" dirty="0">
                <a:solidFill>
                  <a:srgbClr val="FFFFFF">
                    <a:alpha val="85000"/>
                  </a:srgbClr>
                </a:solidFill>
                <a:latin typeface="Arial" pitchFamily="34" charset="0"/>
                <a:ea typeface="Arial" pitchFamily="34" charset="-122"/>
                <a:cs typeface="Arial" pitchFamily="34" charset="-120"/>
              </a:rPr>
              <a:t> Reference files from Selected Text if provided</a:t>
            </a:r>
            <a:endParaRPr lang="en-US" sz="600" dirty="0"/>
          </a:p>
          <a:p>
            <a:pPr marL="0" indent="0" algn="l">
              <a:lnSpc>
                <a:spcPts val="840"/>
              </a:lnSpc>
              <a:buNone/>
            </a:pPr>
            <a:r>
              <a:rPr lang="en-US" sz="600" dirty="0">
                <a:solidFill>
                  <a:srgbClr val="FFFFFF">
                    <a:alpha val="85000"/>
                  </a:srgbClr>
                </a:solidFill>
                <a:latin typeface="Arial" pitchFamily="34" charset="0"/>
                <a:ea typeface="Arial" pitchFamily="34" charset="-122"/>
                <a:cs typeface="Arial" pitchFamily="34" charset="-120"/>
              </a:rPr>
              <a:t> Include Clipboard context if relevant</a:t>
            </a:r>
            <a:endParaRPr lang="en-US" sz="600" dirty="0"/>
          </a:p>
          <a:p>
            <a:pPr marL="0" indent="0" algn="l">
              <a:lnSpc>
                <a:spcPts val="840"/>
              </a:lnSpc>
              <a:buNone/>
            </a:pPr>
            <a:r>
              <a:rPr lang="en-US" sz="600" dirty="0">
                <a:solidFill>
                  <a:srgbClr val="FFFFFF">
                    <a:alpha val="85000"/>
                  </a:srgbClr>
                </a:solidFill>
                <a:latin typeface="Arial" pitchFamily="34" charset="0"/>
                <a:ea typeface="Arial" pitchFamily="34" charset="-122"/>
                <a:cs typeface="Arial" pitchFamily="34" charset="-120"/>
              </a:rPr>
              <a:t> Specify what NOT to change if mentioned</a:t>
            </a:r>
            <a:endParaRPr lang="en-US" sz="600" dirty="0"/>
          </a:p>
        </p:txBody>
      </p:sp>
      <p:sp>
        <p:nvSpPr>
          <p:cNvPr id="27" name="Text 25"/>
          <p:cNvSpPr/>
          <p:nvPr/>
        </p:nvSpPr>
        <p:spPr>
          <a:xfrm>
            <a:off x="4151114" y="2635151"/>
            <a:ext cx="4684693" cy="106561"/>
          </a:xfrm>
          <a:prstGeom prst="rect">
            <a:avLst/>
          </a:prstGeom>
          <a:noFill/>
          <a:ln/>
        </p:spPr>
        <p:txBody>
          <a:bodyPr wrap="square" lIns="0" tIns="0" rIns="0" bIns="0" rtlCol="0" anchor="t"/>
          <a:lstStyle/>
          <a:p>
            <a:pPr marL="0" indent="0" algn="l">
              <a:lnSpc>
                <a:spcPts val="840"/>
              </a:lnSpc>
              <a:spcBef>
                <a:spcPts val="300"/>
              </a:spcBef>
              <a:buNone/>
            </a:pPr>
            <a:r>
              <a:rPr lang="en-US" sz="600" dirty="0">
                <a:solidFill>
                  <a:srgbClr val="C9A227"/>
                </a:solidFill>
                <a:latin typeface="Arial" pitchFamily="34" charset="0"/>
                <a:ea typeface="Arial" pitchFamily="34" charset="-122"/>
                <a:cs typeface="Arial" pitchFamily="34" charset="-120"/>
              </a:rPr>
              <a:t>&lt;/requirements&gt;</a:t>
            </a:r>
            <a:endParaRPr lang="en-US" sz="600" dirty="0"/>
          </a:p>
        </p:txBody>
      </p:sp>
      <p:sp>
        <p:nvSpPr>
          <p:cNvPr id="28" name="Text 26"/>
          <p:cNvSpPr/>
          <p:nvPr/>
        </p:nvSpPr>
        <p:spPr>
          <a:xfrm>
            <a:off x="4017764" y="3225552"/>
            <a:ext cx="2396430" cy="590401"/>
          </a:xfrm>
          <a:prstGeom prst="rect">
            <a:avLst/>
          </a:prstGeom>
          <a:solidFill>
            <a:srgbClr val="EDE9FE"/>
          </a:solidFill>
          <a:ln/>
        </p:spPr>
        <p:txBody>
          <a:bodyPr wrap="square" rtlCol="0" anchor="ctr"/>
          <a:lstStyle/>
          <a:p>
            <a:pPr marL="0" indent="0">
              <a:buNone/>
            </a:pPr>
            <a:endParaRPr lang="en-US" dirty="0"/>
          </a:p>
        </p:txBody>
      </p:sp>
      <p:sp>
        <p:nvSpPr>
          <p:cNvPr id="29" name="Shape 27"/>
          <p:cNvSpPr/>
          <p:nvPr/>
        </p:nvSpPr>
        <p:spPr>
          <a:xfrm>
            <a:off x="4032052" y="3225552"/>
            <a:ext cx="0" cy="590401"/>
          </a:xfrm>
          <a:prstGeom prst="line">
            <a:avLst/>
          </a:prstGeom>
          <a:noFill/>
          <a:ln w="28575">
            <a:solidFill>
              <a:srgbClr val="8B5CF6"/>
            </a:solidFill>
            <a:prstDash val="solid"/>
          </a:ln>
        </p:spPr>
        <p:txBody>
          <a:bodyPr/>
          <a:lstStyle/>
          <a:p>
            <a:endParaRPr lang="en-US"/>
          </a:p>
        </p:txBody>
      </p:sp>
      <p:sp>
        <p:nvSpPr>
          <p:cNvPr id="30" name="Text 28"/>
          <p:cNvSpPr/>
          <p:nvPr/>
        </p:nvSpPr>
        <p:spPr>
          <a:xfrm>
            <a:off x="4122539" y="3301752"/>
            <a:ext cx="2259765" cy="119955"/>
          </a:xfrm>
          <a:prstGeom prst="rect">
            <a:avLst/>
          </a:prstGeom>
          <a:noFill/>
          <a:ln/>
        </p:spPr>
        <p:txBody>
          <a:bodyPr wrap="square" lIns="0" tIns="0" rIns="0" bIns="0" rtlCol="0" anchor="t"/>
          <a:lstStyle/>
          <a:p>
            <a:pPr marL="0" indent="0" algn="l">
              <a:lnSpc>
                <a:spcPts val="945"/>
              </a:lnSpc>
              <a:spcAft>
                <a:spcPts val="300"/>
              </a:spcAft>
              <a:buNone/>
            </a:pPr>
            <a:r>
              <a:rPr lang="en-US" sz="675" b="1" dirty="0">
                <a:solidFill>
                  <a:srgbClr val="5B21B6"/>
                </a:solidFill>
                <a:latin typeface="Arial" pitchFamily="34" charset="0"/>
                <a:ea typeface="Arial" pitchFamily="34" charset="-122"/>
                <a:cs typeface="Arial" pitchFamily="34" charset="-120"/>
              </a:rPr>
              <a:t>RAW SPEECH</a:t>
            </a:r>
            <a:endParaRPr lang="en-US" sz="675" dirty="0"/>
          </a:p>
        </p:txBody>
      </p:sp>
      <p:sp>
        <p:nvSpPr>
          <p:cNvPr id="31" name="Text 29"/>
          <p:cNvSpPr/>
          <p:nvPr/>
        </p:nvSpPr>
        <p:spPr>
          <a:xfrm>
            <a:off x="4122539" y="3459807"/>
            <a:ext cx="2259765" cy="279946"/>
          </a:xfrm>
          <a:prstGeom prst="rect">
            <a:avLst/>
          </a:prstGeom>
          <a:noFill/>
          <a:ln/>
        </p:spPr>
        <p:txBody>
          <a:bodyPr wrap="square" lIns="0" tIns="0" rIns="0" bIns="0" rtlCol="0" anchor="t"/>
          <a:lstStyle/>
          <a:p>
            <a:pPr marL="0" indent="0" algn="l">
              <a:lnSpc>
                <a:spcPts val="735"/>
              </a:lnSpc>
              <a:buNone/>
            </a:pPr>
            <a:r>
              <a:rPr lang="en-US" sz="525" dirty="0">
                <a:solidFill>
                  <a:srgbClr val="5B21B6"/>
                </a:solidFill>
                <a:latin typeface="Arial" pitchFamily="34" charset="0"/>
                <a:ea typeface="Arial" pitchFamily="34" charset="-122"/>
                <a:cs typeface="Arial" pitchFamily="34" charset="-120"/>
              </a:rPr>
              <a:t>"okay so there's a bug in the user dashboard where the charts aren't loading and I think it's something to do with the API call timing and we need to fix it but don't touch the CSS because design just approved that"</a:t>
            </a:r>
            <a:endParaRPr lang="en-US" sz="525" dirty="0"/>
          </a:p>
        </p:txBody>
      </p:sp>
      <p:sp>
        <p:nvSpPr>
          <p:cNvPr id="32" name="Text 30"/>
          <p:cNvSpPr/>
          <p:nvPr/>
        </p:nvSpPr>
        <p:spPr>
          <a:xfrm>
            <a:off x="6490395" y="3122712"/>
            <a:ext cx="2386905" cy="796082"/>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33" name="Text 31"/>
          <p:cNvSpPr/>
          <p:nvPr/>
        </p:nvSpPr>
        <p:spPr>
          <a:xfrm>
            <a:off x="6576120" y="3208437"/>
            <a:ext cx="2259765" cy="119955"/>
          </a:xfrm>
          <a:prstGeom prst="rect">
            <a:avLst/>
          </a:prstGeom>
          <a:noFill/>
          <a:ln/>
        </p:spPr>
        <p:txBody>
          <a:bodyPr wrap="square" lIns="0" tIns="0" rIns="0" bIns="0" rtlCol="0" anchor="t"/>
          <a:lstStyle/>
          <a:p>
            <a:pPr marL="0" indent="0" algn="l">
              <a:lnSpc>
                <a:spcPts val="945"/>
              </a:lnSpc>
              <a:spcAft>
                <a:spcPts val="300"/>
              </a:spcAft>
              <a:buNone/>
            </a:pPr>
            <a:r>
              <a:rPr lang="en-US" sz="675" b="1" dirty="0">
                <a:solidFill>
                  <a:srgbClr val="1A1F2E"/>
                </a:solidFill>
                <a:latin typeface="Arial" pitchFamily="34" charset="0"/>
                <a:ea typeface="Arial" pitchFamily="34" charset="-122"/>
                <a:cs typeface="Arial" pitchFamily="34" charset="-120"/>
              </a:rPr>
              <a:t>STRUCTURED HANDOFF</a:t>
            </a:r>
            <a:endParaRPr lang="en-US" sz="675" dirty="0"/>
          </a:p>
        </p:txBody>
      </p:sp>
      <p:sp>
        <p:nvSpPr>
          <p:cNvPr id="34" name="Text 32"/>
          <p:cNvSpPr/>
          <p:nvPr/>
        </p:nvSpPr>
        <p:spPr>
          <a:xfrm>
            <a:off x="6576120" y="3366492"/>
            <a:ext cx="2259765" cy="466576"/>
          </a:xfrm>
          <a:prstGeom prst="rect">
            <a:avLst/>
          </a:prstGeom>
          <a:noFill/>
          <a:ln/>
        </p:spPr>
        <p:txBody>
          <a:bodyPr wrap="square" lIns="0" tIns="0" rIns="0" bIns="0" rtlCol="0" anchor="t"/>
          <a:lstStyle/>
          <a:p>
            <a:pPr marL="0" indent="0" algn="l">
              <a:lnSpc>
                <a:spcPts val="735"/>
              </a:lnSpc>
              <a:buNone/>
            </a:pPr>
            <a:r>
              <a:rPr lang="en-US" sz="525" b="1" dirty="0">
                <a:solidFill>
                  <a:srgbClr val="6B7280"/>
                </a:solidFill>
                <a:latin typeface="Arial" pitchFamily="34" charset="0"/>
                <a:ea typeface="Arial" pitchFamily="34" charset="-122"/>
                <a:cs typeface="Arial" pitchFamily="34" charset="-120"/>
              </a:rPr>
              <a:t>Objective:</a:t>
            </a:r>
            <a:r>
              <a:rPr lang="en-US" sz="525" dirty="0">
                <a:solidFill>
                  <a:srgbClr val="6B7280"/>
                </a:solidFill>
                <a:latin typeface="Arial" pitchFamily="34" charset="0"/>
                <a:ea typeface="Arial" pitchFamily="34" charset="-122"/>
                <a:cs typeface="Arial" pitchFamily="34" charset="-120"/>
              </a:rPr>
              <a:t> Fix chart loading bug in user dashboard
</a:t>
            </a:r>
            <a:r>
              <a:rPr lang="en-US" sz="525" b="1" dirty="0">
                <a:solidFill>
                  <a:srgbClr val="6B7280"/>
                </a:solidFill>
                <a:latin typeface="Arial" pitchFamily="34" charset="0"/>
                <a:ea typeface="Arial" pitchFamily="34" charset="-122"/>
                <a:cs typeface="Arial" pitchFamily="34" charset="-120"/>
              </a:rPr>
              <a:t>Likely cause:</a:t>
            </a:r>
            <a:r>
              <a:rPr lang="en-US" sz="525" dirty="0">
                <a:solidFill>
                  <a:srgbClr val="6B7280"/>
                </a:solidFill>
                <a:latin typeface="Arial" pitchFamily="34" charset="0"/>
                <a:ea typeface="Arial" pitchFamily="34" charset="-122"/>
                <a:cs typeface="Arial" pitchFamily="34" charset="-120"/>
              </a:rPr>
              <a:t> API call timing issue
</a:t>
            </a:r>
            <a:r>
              <a:rPr lang="en-US" sz="525" b="1" dirty="0">
                <a:solidFill>
                  <a:srgbClr val="6B7280"/>
                </a:solidFill>
                <a:latin typeface="Arial" pitchFamily="34" charset="0"/>
                <a:ea typeface="Arial" pitchFamily="34" charset="-122"/>
                <a:cs typeface="Arial" pitchFamily="34" charset="-120"/>
              </a:rPr>
              <a:t>Scope:</a:t>
            </a:r>
            <a:r>
              <a:rPr lang="en-US" sz="525" dirty="0">
                <a:solidFill>
                  <a:srgbClr val="6B7280"/>
                </a:solidFill>
                <a:latin typeface="Arial" pitchFamily="34" charset="0"/>
                <a:ea typeface="Arial" pitchFamily="34" charset="-122"/>
                <a:cs typeface="Arial" pitchFamily="34" charset="-120"/>
              </a:rPr>
              <a:t> JS/API logic only
</a:t>
            </a:r>
            <a:r>
              <a:rPr lang="en-US" sz="525" b="1" dirty="0">
                <a:solidFill>
                  <a:srgbClr val="6B7280"/>
                </a:solidFill>
                <a:latin typeface="Arial" pitchFamily="34" charset="0"/>
                <a:ea typeface="Arial" pitchFamily="34" charset="-122"/>
                <a:cs typeface="Arial" pitchFamily="34" charset="-120"/>
              </a:rPr>
              <a:t>Constraint:</a:t>
            </a:r>
            <a:r>
              <a:rPr lang="en-US" sz="525" dirty="0">
                <a:solidFill>
                  <a:srgbClr val="6B7280"/>
                </a:solidFill>
                <a:latin typeface="Arial" pitchFamily="34" charset="0"/>
                <a:ea typeface="Arial" pitchFamily="34" charset="-122"/>
                <a:cs typeface="Arial" pitchFamily="34" charset="-120"/>
              </a:rPr>
              <a:t> Do NOT modify CSS
</a:t>
            </a:r>
            <a:r>
              <a:rPr lang="en-US" sz="525" b="1" dirty="0">
                <a:solidFill>
                  <a:srgbClr val="6B7280"/>
                </a:solidFill>
                <a:latin typeface="Arial" pitchFamily="34" charset="0"/>
                <a:ea typeface="Arial" pitchFamily="34" charset="-122"/>
                <a:cs typeface="Arial" pitchFamily="34" charset="-120"/>
              </a:rPr>
              <a:t>Success:</a:t>
            </a:r>
            <a:r>
              <a:rPr lang="en-US" sz="525" dirty="0">
                <a:solidFill>
                  <a:srgbClr val="6B7280"/>
                </a:solidFill>
                <a:latin typeface="Arial" pitchFamily="34" charset="0"/>
                <a:ea typeface="Arial" pitchFamily="34" charset="-122"/>
                <a:cs typeface="Arial" pitchFamily="34" charset="-120"/>
              </a:rPr>
              <a:t> Charts load correctly</a:t>
            </a:r>
            <a:endParaRPr lang="en-US" sz="525" dirty="0"/>
          </a:p>
        </p:txBody>
      </p:sp>
      <p:sp>
        <p:nvSpPr>
          <p:cNvPr id="35" name="Text 33"/>
          <p:cNvSpPr/>
          <p:nvPr/>
        </p:nvSpPr>
        <p:spPr>
          <a:xfrm>
            <a:off x="4017764" y="4147393"/>
            <a:ext cx="2391668" cy="504527"/>
          </a:xfrm>
          <a:prstGeom prst="rect">
            <a:avLst/>
          </a:prstGeom>
          <a:solidFill>
            <a:srgbClr val="DCFCE7"/>
          </a:solidFill>
          <a:ln/>
        </p:spPr>
        <p:txBody>
          <a:bodyPr wrap="square" rtlCol="0" anchor="ctr"/>
          <a:lstStyle/>
          <a:p>
            <a:pPr marL="0" indent="0">
              <a:buNone/>
            </a:pPr>
            <a:endParaRPr lang="en-US" dirty="0"/>
          </a:p>
        </p:txBody>
      </p:sp>
      <p:sp>
        <p:nvSpPr>
          <p:cNvPr id="36" name="Shape 34"/>
          <p:cNvSpPr/>
          <p:nvPr/>
        </p:nvSpPr>
        <p:spPr>
          <a:xfrm>
            <a:off x="4032052" y="4147393"/>
            <a:ext cx="0" cy="504527"/>
          </a:xfrm>
          <a:prstGeom prst="line">
            <a:avLst/>
          </a:prstGeom>
          <a:noFill/>
          <a:ln w="28575">
            <a:solidFill>
              <a:srgbClr val="059669"/>
            </a:solidFill>
            <a:prstDash val="solid"/>
          </a:ln>
        </p:spPr>
        <p:txBody>
          <a:bodyPr/>
          <a:lstStyle/>
          <a:p>
            <a:endParaRPr lang="en-US"/>
          </a:p>
        </p:txBody>
      </p:sp>
      <p:sp>
        <p:nvSpPr>
          <p:cNvPr id="37" name="Text 35"/>
          <p:cNvSpPr/>
          <p:nvPr/>
        </p:nvSpPr>
        <p:spPr>
          <a:xfrm>
            <a:off x="4122539" y="4223593"/>
            <a:ext cx="2254907" cy="119955"/>
          </a:xfrm>
          <a:prstGeom prst="rect">
            <a:avLst/>
          </a:prstGeom>
          <a:noFill/>
          <a:ln/>
        </p:spPr>
        <p:txBody>
          <a:bodyPr wrap="square" lIns="0" tIns="0" rIns="0" bIns="0" rtlCol="0" anchor="t"/>
          <a:lstStyle/>
          <a:p>
            <a:pPr marL="0" indent="0" algn="l">
              <a:lnSpc>
                <a:spcPts val="945"/>
              </a:lnSpc>
              <a:spcAft>
                <a:spcPts val="150"/>
              </a:spcAft>
              <a:buNone/>
            </a:pPr>
            <a:r>
              <a:rPr lang="en-US" sz="675" b="1" dirty="0">
                <a:solidFill>
                  <a:srgbClr val="166534"/>
                </a:solidFill>
                <a:latin typeface="Arial" pitchFamily="34" charset="0"/>
                <a:ea typeface="Arial" pitchFamily="34" charset="-122"/>
                <a:cs typeface="Arial" pitchFamily="34" charset="-120"/>
              </a:rPr>
              <a:t>WHY THIS MATTERS</a:t>
            </a:r>
            <a:endParaRPr lang="en-US" sz="675" dirty="0"/>
          </a:p>
        </p:txBody>
      </p:sp>
      <p:sp>
        <p:nvSpPr>
          <p:cNvPr id="38" name="Text 36"/>
          <p:cNvSpPr/>
          <p:nvPr/>
        </p:nvSpPr>
        <p:spPr>
          <a:xfrm>
            <a:off x="4122539" y="4362599"/>
            <a:ext cx="2254907" cy="213122"/>
          </a:xfrm>
          <a:prstGeom prst="rect">
            <a:avLst/>
          </a:prstGeom>
          <a:noFill/>
          <a:ln/>
        </p:spPr>
        <p:txBody>
          <a:bodyPr wrap="square" lIns="0" tIns="0" rIns="0" bIns="0" rtlCol="0" anchor="t"/>
          <a:lstStyle/>
          <a:p>
            <a:pPr marL="0" indent="0" algn="l">
              <a:lnSpc>
                <a:spcPts val="840"/>
              </a:lnSpc>
              <a:buNone/>
            </a:pPr>
            <a:r>
              <a:rPr lang="en-US" sz="600" dirty="0">
                <a:solidFill>
                  <a:srgbClr val="166534"/>
                </a:solidFill>
                <a:latin typeface="Arial" pitchFamily="34" charset="0"/>
                <a:ea typeface="Arial" pitchFamily="34" charset="-122"/>
                <a:cs typeface="Arial" pitchFamily="34" charset="-120"/>
              </a:rPr>
              <a:t>AI agents work better with structured tasks than rambling instructions.</a:t>
            </a:r>
            <a:endParaRPr lang="en-US" sz="600" dirty="0"/>
          </a:p>
        </p:txBody>
      </p:sp>
      <p:sp>
        <p:nvSpPr>
          <p:cNvPr id="39" name="Text 37"/>
          <p:cNvSpPr/>
          <p:nvPr/>
        </p:nvSpPr>
        <p:spPr>
          <a:xfrm>
            <a:off x="6485632" y="4147393"/>
            <a:ext cx="2391668" cy="504527"/>
          </a:xfrm>
          <a:prstGeom prst="rect">
            <a:avLst/>
          </a:prstGeom>
          <a:solidFill>
            <a:srgbClr val="FEF3C7"/>
          </a:solidFill>
          <a:ln/>
        </p:spPr>
        <p:txBody>
          <a:bodyPr wrap="square" rtlCol="0" anchor="ctr"/>
          <a:lstStyle/>
          <a:p>
            <a:pPr marL="0" indent="0">
              <a:buNone/>
            </a:pPr>
            <a:endParaRPr lang="en-US" dirty="0"/>
          </a:p>
        </p:txBody>
      </p:sp>
      <p:sp>
        <p:nvSpPr>
          <p:cNvPr id="40" name="Shape 38"/>
          <p:cNvSpPr/>
          <p:nvPr/>
        </p:nvSpPr>
        <p:spPr>
          <a:xfrm>
            <a:off x="6499920" y="4147393"/>
            <a:ext cx="0" cy="504527"/>
          </a:xfrm>
          <a:prstGeom prst="line">
            <a:avLst/>
          </a:prstGeom>
          <a:noFill/>
          <a:ln w="28575">
            <a:solidFill>
              <a:srgbClr val="F59E0B"/>
            </a:solidFill>
            <a:prstDash val="solid"/>
          </a:ln>
        </p:spPr>
        <p:txBody>
          <a:bodyPr/>
          <a:lstStyle/>
          <a:p>
            <a:endParaRPr lang="en-US"/>
          </a:p>
        </p:txBody>
      </p:sp>
      <p:sp>
        <p:nvSpPr>
          <p:cNvPr id="41" name="Text 39"/>
          <p:cNvSpPr/>
          <p:nvPr/>
        </p:nvSpPr>
        <p:spPr>
          <a:xfrm>
            <a:off x="6590407" y="4223593"/>
            <a:ext cx="2254907" cy="119955"/>
          </a:xfrm>
          <a:prstGeom prst="rect">
            <a:avLst/>
          </a:prstGeom>
          <a:noFill/>
          <a:ln/>
        </p:spPr>
        <p:txBody>
          <a:bodyPr wrap="square" lIns="0" tIns="0" rIns="0" bIns="0" rtlCol="0" anchor="t"/>
          <a:lstStyle/>
          <a:p>
            <a:pPr marL="0" indent="0" algn="l">
              <a:lnSpc>
                <a:spcPts val="945"/>
              </a:lnSpc>
              <a:spcAft>
                <a:spcPts val="150"/>
              </a:spcAft>
              <a:buNone/>
            </a:pPr>
            <a:r>
              <a:rPr lang="en-US" sz="675" b="1" dirty="0">
                <a:solidFill>
                  <a:srgbClr val="92400E"/>
                </a:solidFill>
                <a:latin typeface="Arial" pitchFamily="34" charset="0"/>
                <a:ea typeface="Arial" pitchFamily="34" charset="-122"/>
                <a:cs typeface="Arial" pitchFamily="34" charset="-120"/>
              </a:rPr>
              <a:t>WORKFLOW</a:t>
            </a:r>
            <a:endParaRPr lang="en-US" sz="675" dirty="0"/>
          </a:p>
        </p:txBody>
      </p:sp>
      <p:sp>
        <p:nvSpPr>
          <p:cNvPr id="42" name="Text 40"/>
          <p:cNvSpPr/>
          <p:nvPr/>
        </p:nvSpPr>
        <p:spPr>
          <a:xfrm>
            <a:off x="6590407" y="4362599"/>
            <a:ext cx="2254907" cy="213122"/>
          </a:xfrm>
          <a:prstGeom prst="rect">
            <a:avLst/>
          </a:prstGeom>
          <a:noFill/>
          <a:ln/>
        </p:spPr>
        <p:txBody>
          <a:bodyPr wrap="square" lIns="0" tIns="0" rIns="0" bIns="0" rtlCol="0" anchor="t"/>
          <a:lstStyle/>
          <a:p>
            <a:pPr marL="0" indent="0" algn="l">
              <a:lnSpc>
                <a:spcPts val="840"/>
              </a:lnSpc>
              <a:buNone/>
            </a:pPr>
            <a:r>
              <a:rPr lang="en-US" sz="600" dirty="0">
                <a:solidFill>
                  <a:srgbClr val="92400E"/>
                </a:solidFill>
                <a:latin typeface="Arial" pitchFamily="34" charset="0"/>
                <a:ea typeface="Arial" pitchFamily="34" charset="-122"/>
                <a:cs typeface="Arial" pitchFamily="34" charset="-120"/>
              </a:rPr>
              <a:t>Select relevant code → Dictate task → Paste to Claude Code → Agent executes</a:t>
            </a:r>
            <a:endParaRPr lang="en-US" sz="6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29">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381000" y="228600"/>
            <a:ext cx="8549640" cy="133350"/>
          </a:xfrm>
          <a:prstGeom prst="rect">
            <a:avLst/>
          </a:prstGeom>
          <a:noFill/>
          <a:ln/>
        </p:spPr>
        <p:txBody>
          <a:bodyPr wrap="square" lIns="0" tIns="0" rIns="0" bIns="0" rtlCol="0" anchor="t"/>
          <a:lstStyle/>
          <a:p>
            <a:pPr marL="0" indent="0" algn="l">
              <a:lnSpc>
                <a:spcPts val="1050"/>
              </a:lnSpc>
              <a:spcAft>
                <a:spcPts val="450"/>
              </a:spcAft>
              <a:buNone/>
            </a:pPr>
            <a:r>
              <a:rPr lang="en-US" sz="750" dirty="0">
                <a:solidFill>
                  <a:srgbClr val="C9A227"/>
                </a:solidFill>
                <a:latin typeface="Arial" pitchFamily="34" charset="0"/>
                <a:ea typeface="Arial" pitchFamily="34" charset="-122"/>
                <a:cs typeface="Arial" pitchFamily="34" charset="-120"/>
              </a:rPr>
              <a:t>Try it yourself</a:t>
            </a:r>
            <a:endParaRPr lang="en-US" sz="750" dirty="0"/>
          </a:p>
        </p:txBody>
      </p:sp>
      <p:sp>
        <p:nvSpPr>
          <p:cNvPr id="3" name="Text 1"/>
          <p:cNvSpPr/>
          <p:nvPr/>
        </p:nvSpPr>
        <p:spPr>
          <a:xfrm>
            <a:off x="381000" y="419100"/>
            <a:ext cx="4284536" cy="247650"/>
          </a:xfrm>
          <a:prstGeom prst="rect">
            <a:avLst/>
          </a:prstGeom>
          <a:noFill/>
          <a:ln/>
        </p:spPr>
        <p:txBody>
          <a:bodyPr wrap="square" lIns="0" tIns="0" rIns="0" bIns="0" rtlCol="0" anchor="t"/>
          <a:lstStyle/>
          <a:p>
            <a:pPr marL="0" indent="0" algn="l">
              <a:lnSpc>
                <a:spcPts val="1950"/>
              </a:lnSpc>
              <a:buNone/>
            </a:pPr>
            <a:r>
              <a:rPr lang="en-US" sz="1950" dirty="0">
                <a:solidFill>
                  <a:srgbClr val="1A1F2E"/>
                </a:solidFill>
                <a:latin typeface="Georgia" pitchFamily="34" charset="0"/>
                <a:ea typeface="Georgia" pitchFamily="34" charset="-122"/>
                <a:cs typeface="Georgia" pitchFamily="34" charset="-120"/>
              </a:rPr>
              <a:t>Context Switching in Action</a:t>
            </a:r>
            <a:endParaRPr lang="en-US" sz="1950" dirty="0"/>
          </a:p>
        </p:txBody>
      </p:sp>
      <p:sp>
        <p:nvSpPr>
          <p:cNvPr id="4" name="Text 2"/>
          <p:cNvSpPr/>
          <p:nvPr/>
        </p:nvSpPr>
        <p:spPr>
          <a:xfrm>
            <a:off x="381000" y="1644253"/>
            <a:ext cx="5036576" cy="159990"/>
          </a:xfrm>
          <a:prstGeom prst="rect">
            <a:avLst/>
          </a:prstGeom>
          <a:noFill/>
          <a:ln/>
        </p:spPr>
        <p:txBody>
          <a:bodyPr wrap="square" lIns="0" tIns="0" rIns="0" bIns="0" rtlCol="0" anchor="t"/>
          <a:lstStyle/>
          <a:p>
            <a:pPr marL="0" indent="0" algn="l">
              <a:lnSpc>
                <a:spcPts val="1260"/>
              </a:lnSpc>
              <a:spcAft>
                <a:spcPts val="300"/>
              </a:spcAft>
              <a:buNone/>
            </a:pPr>
            <a:r>
              <a:rPr lang="en-US" sz="900" b="1" dirty="0">
                <a:solidFill>
                  <a:srgbClr val="1A1F2E"/>
                </a:solidFill>
                <a:latin typeface="Arial" pitchFamily="34" charset="0"/>
                <a:ea typeface="Arial" pitchFamily="34" charset="-122"/>
                <a:cs typeface="Arial" pitchFamily="34" charset="-120"/>
              </a:rPr>
              <a:t>Tasks to try: </a:t>
            </a:r>
            <a:endParaRPr lang="en-US" sz="900" dirty="0"/>
          </a:p>
        </p:txBody>
      </p:sp>
      <p:sp>
        <p:nvSpPr>
          <p:cNvPr id="5" name="Text 3"/>
          <p:cNvSpPr/>
          <p:nvPr/>
        </p:nvSpPr>
        <p:spPr>
          <a:xfrm>
            <a:off x="381000" y="1918543"/>
            <a:ext cx="4937820" cy="514201"/>
          </a:xfrm>
          <a:prstGeom prst="rect">
            <a:avLst/>
          </a:prstGeom>
          <a:solidFill>
            <a:srgbClr val="1A1F2E"/>
          </a:solidFill>
          <a:ln/>
        </p:spPr>
        <p:txBody>
          <a:bodyPr wrap="square" rtlCol="0" anchor="ctr"/>
          <a:lstStyle/>
          <a:p>
            <a:pPr marL="0" indent="0">
              <a:buNone/>
            </a:pPr>
            <a:endParaRPr lang="en-US" dirty="0"/>
          </a:p>
        </p:txBody>
      </p:sp>
      <p:sp>
        <p:nvSpPr>
          <p:cNvPr id="6" name="Text 4"/>
          <p:cNvSpPr/>
          <p:nvPr/>
        </p:nvSpPr>
        <p:spPr>
          <a:xfrm>
            <a:off x="495300" y="2061270"/>
            <a:ext cx="228600" cy="228600"/>
          </a:xfrm>
          <a:prstGeom prst="rect">
            <a:avLst/>
          </a:prstGeom>
          <a:solidFill>
            <a:srgbClr val="C9A227"/>
          </a:solidFill>
          <a:ln/>
        </p:spPr>
        <p:txBody>
          <a:bodyPr wrap="square" rtlCol="0" anchor="ctr"/>
          <a:lstStyle/>
          <a:p>
            <a:pPr marL="0" indent="0">
              <a:buNone/>
            </a:pPr>
            <a:endParaRPr lang="en-US" dirty="0"/>
          </a:p>
        </p:txBody>
      </p:sp>
      <p:sp>
        <p:nvSpPr>
          <p:cNvPr id="7" name="Text 5"/>
          <p:cNvSpPr/>
          <p:nvPr/>
        </p:nvSpPr>
        <p:spPr>
          <a:xfrm>
            <a:off x="580430" y="2102197"/>
            <a:ext cx="59507" cy="146596"/>
          </a:xfrm>
          <a:prstGeom prst="rect">
            <a:avLst/>
          </a:prstGeom>
          <a:noFill/>
          <a:ln/>
        </p:spPr>
        <p:txBody>
          <a:bodyPr wrap="square" lIns="0" tIns="0" rIns="0" bIns="0" rtlCol="0" anchor="t"/>
          <a:lstStyle/>
          <a:p>
            <a:pPr marL="0" indent="0" algn="l">
              <a:lnSpc>
                <a:spcPts val="1155"/>
              </a:lnSpc>
              <a:buNone/>
            </a:pPr>
            <a:r>
              <a:rPr lang="en-US" sz="825" b="1" dirty="0">
                <a:solidFill>
                  <a:srgbClr val="1A1F2E"/>
                </a:solidFill>
                <a:latin typeface="Arial" pitchFamily="34" charset="0"/>
                <a:ea typeface="Arial" pitchFamily="34" charset="-122"/>
                <a:cs typeface="Arial" pitchFamily="34" charset="-120"/>
              </a:rPr>
              <a:t>1</a:t>
            </a:r>
            <a:endParaRPr lang="en-US" sz="825" dirty="0"/>
          </a:p>
        </p:txBody>
      </p:sp>
      <p:sp>
        <p:nvSpPr>
          <p:cNvPr id="8" name="Text 6"/>
          <p:cNvSpPr/>
          <p:nvPr/>
        </p:nvSpPr>
        <p:spPr>
          <a:xfrm>
            <a:off x="971550" y="2032843"/>
            <a:ext cx="2072438" cy="146596"/>
          </a:xfrm>
          <a:prstGeom prst="rect">
            <a:avLst/>
          </a:prstGeom>
          <a:noFill/>
          <a:ln/>
        </p:spPr>
        <p:txBody>
          <a:bodyPr wrap="square" lIns="0" tIns="0" rIns="0" bIns="0" rtlCol="0" anchor="t"/>
          <a:lstStyle/>
          <a:p>
            <a:pPr marL="0" indent="0" algn="l">
              <a:lnSpc>
                <a:spcPts val="1155"/>
              </a:lnSpc>
              <a:buNone/>
            </a:pPr>
            <a:r>
              <a:rPr lang="en-US" sz="825" b="1" dirty="0">
                <a:solidFill>
                  <a:srgbClr val="FFFFFF"/>
                </a:solidFill>
                <a:latin typeface="Arial" pitchFamily="34" charset="0"/>
                <a:ea typeface="Arial" pitchFamily="34" charset="-122"/>
                <a:cs typeface="Arial" pitchFamily="34" charset="-120"/>
              </a:rPr>
              <a:t>Open VS Code → Coding Mode activates</a:t>
            </a:r>
            <a:endParaRPr lang="en-US" sz="825" dirty="0"/>
          </a:p>
        </p:txBody>
      </p:sp>
      <p:sp>
        <p:nvSpPr>
          <p:cNvPr id="9" name="Text 7"/>
          <p:cNvSpPr/>
          <p:nvPr/>
        </p:nvSpPr>
        <p:spPr>
          <a:xfrm>
            <a:off x="971550" y="2198489"/>
            <a:ext cx="2072438" cy="119955"/>
          </a:xfrm>
          <a:prstGeom prst="rect">
            <a:avLst/>
          </a:prstGeom>
          <a:noFill/>
          <a:ln/>
        </p:spPr>
        <p:txBody>
          <a:bodyPr wrap="square" lIns="0" tIns="0" rIns="0" bIns="0" rtlCol="0" anchor="t"/>
          <a:lstStyle/>
          <a:p>
            <a:pPr marL="0" indent="0" algn="l">
              <a:lnSpc>
                <a:spcPts val="945"/>
              </a:lnSpc>
              <a:spcBef>
                <a:spcPts val="150"/>
              </a:spcBef>
              <a:buNone/>
            </a:pPr>
            <a:r>
              <a:rPr lang="en-US" sz="675" dirty="0">
                <a:solidFill>
                  <a:srgbClr val="FFFFFF">
                    <a:alpha val="60000"/>
                  </a:srgbClr>
                </a:solidFill>
                <a:latin typeface="Arial" pitchFamily="34" charset="0"/>
                <a:ea typeface="Arial" pitchFamily="34" charset="-122"/>
                <a:cs typeface="Arial" pitchFamily="34" charset="-120"/>
              </a:rPr>
              <a:t>Dictate: "Create a function to validate email"</a:t>
            </a:r>
            <a:endParaRPr lang="en-US" sz="675" dirty="0"/>
          </a:p>
        </p:txBody>
      </p:sp>
      <p:sp>
        <p:nvSpPr>
          <p:cNvPr id="10" name="Text 8"/>
          <p:cNvSpPr/>
          <p:nvPr/>
        </p:nvSpPr>
        <p:spPr>
          <a:xfrm>
            <a:off x="381000" y="2508945"/>
            <a:ext cx="4937820" cy="514201"/>
          </a:xfrm>
          <a:prstGeom prst="rect">
            <a:avLst/>
          </a:prstGeom>
          <a:solidFill>
            <a:srgbClr val="1A1F2E"/>
          </a:solidFill>
          <a:ln/>
        </p:spPr>
        <p:txBody>
          <a:bodyPr wrap="square" rtlCol="0" anchor="ctr"/>
          <a:lstStyle/>
          <a:p>
            <a:pPr marL="0" indent="0">
              <a:buNone/>
            </a:pPr>
            <a:endParaRPr lang="en-US" dirty="0"/>
          </a:p>
        </p:txBody>
      </p:sp>
      <p:sp>
        <p:nvSpPr>
          <p:cNvPr id="11" name="Text 9"/>
          <p:cNvSpPr/>
          <p:nvPr/>
        </p:nvSpPr>
        <p:spPr>
          <a:xfrm>
            <a:off x="495300" y="2651671"/>
            <a:ext cx="228600" cy="228600"/>
          </a:xfrm>
          <a:prstGeom prst="rect">
            <a:avLst/>
          </a:prstGeom>
          <a:solidFill>
            <a:srgbClr val="C9A227"/>
          </a:solidFill>
          <a:ln/>
        </p:spPr>
        <p:txBody>
          <a:bodyPr wrap="square" rtlCol="0" anchor="ctr"/>
          <a:lstStyle/>
          <a:p>
            <a:pPr marL="0" indent="0">
              <a:buNone/>
            </a:pPr>
            <a:endParaRPr lang="en-US" dirty="0"/>
          </a:p>
        </p:txBody>
      </p:sp>
      <p:sp>
        <p:nvSpPr>
          <p:cNvPr id="12" name="Text 10"/>
          <p:cNvSpPr/>
          <p:nvPr/>
        </p:nvSpPr>
        <p:spPr>
          <a:xfrm>
            <a:off x="580430" y="2692598"/>
            <a:ext cx="59507" cy="146596"/>
          </a:xfrm>
          <a:prstGeom prst="rect">
            <a:avLst/>
          </a:prstGeom>
          <a:noFill/>
          <a:ln/>
        </p:spPr>
        <p:txBody>
          <a:bodyPr wrap="square" lIns="0" tIns="0" rIns="0" bIns="0" rtlCol="0" anchor="t"/>
          <a:lstStyle/>
          <a:p>
            <a:pPr marL="0" indent="0" algn="l">
              <a:lnSpc>
                <a:spcPts val="1155"/>
              </a:lnSpc>
              <a:buNone/>
            </a:pPr>
            <a:r>
              <a:rPr lang="en-US" sz="825" b="1" dirty="0">
                <a:solidFill>
                  <a:srgbClr val="1A1F2E"/>
                </a:solidFill>
                <a:latin typeface="Arial" pitchFamily="34" charset="0"/>
                <a:ea typeface="Arial" pitchFamily="34" charset="-122"/>
                <a:cs typeface="Arial" pitchFamily="34" charset="-120"/>
              </a:rPr>
              <a:t>2</a:t>
            </a:r>
            <a:endParaRPr lang="en-US" sz="825" dirty="0"/>
          </a:p>
        </p:txBody>
      </p:sp>
      <p:sp>
        <p:nvSpPr>
          <p:cNvPr id="13" name="Text 11"/>
          <p:cNvSpPr/>
          <p:nvPr/>
        </p:nvSpPr>
        <p:spPr>
          <a:xfrm>
            <a:off x="971550" y="2623245"/>
            <a:ext cx="2035094" cy="146596"/>
          </a:xfrm>
          <a:prstGeom prst="rect">
            <a:avLst/>
          </a:prstGeom>
          <a:noFill/>
          <a:ln/>
        </p:spPr>
        <p:txBody>
          <a:bodyPr wrap="square" lIns="0" tIns="0" rIns="0" bIns="0" rtlCol="0" anchor="t"/>
          <a:lstStyle/>
          <a:p>
            <a:pPr marL="0" indent="0" algn="l">
              <a:lnSpc>
                <a:spcPts val="1155"/>
              </a:lnSpc>
              <a:buNone/>
            </a:pPr>
            <a:r>
              <a:rPr lang="en-US" sz="825" b="1" dirty="0">
                <a:solidFill>
                  <a:srgbClr val="FFFFFF"/>
                </a:solidFill>
                <a:latin typeface="Arial" pitchFamily="34" charset="0"/>
                <a:ea typeface="Arial" pitchFamily="34" charset="-122"/>
                <a:cs typeface="Arial" pitchFamily="34" charset="-120"/>
              </a:rPr>
              <a:t>Switch to Teams → Chat Mode activates</a:t>
            </a:r>
            <a:endParaRPr lang="en-US" sz="825" dirty="0"/>
          </a:p>
        </p:txBody>
      </p:sp>
      <p:sp>
        <p:nvSpPr>
          <p:cNvPr id="14" name="Text 12"/>
          <p:cNvSpPr/>
          <p:nvPr/>
        </p:nvSpPr>
        <p:spPr>
          <a:xfrm>
            <a:off x="971550" y="2788890"/>
            <a:ext cx="2035094" cy="119955"/>
          </a:xfrm>
          <a:prstGeom prst="rect">
            <a:avLst/>
          </a:prstGeom>
          <a:noFill/>
          <a:ln/>
        </p:spPr>
        <p:txBody>
          <a:bodyPr wrap="square" lIns="0" tIns="0" rIns="0" bIns="0" rtlCol="0" anchor="t"/>
          <a:lstStyle/>
          <a:p>
            <a:pPr marL="0" indent="0" algn="l">
              <a:lnSpc>
                <a:spcPts val="945"/>
              </a:lnSpc>
              <a:spcBef>
                <a:spcPts val="150"/>
              </a:spcBef>
              <a:buNone/>
            </a:pPr>
            <a:r>
              <a:rPr lang="en-US" sz="675" dirty="0">
                <a:solidFill>
                  <a:srgbClr val="FFFFFF">
                    <a:alpha val="60000"/>
                  </a:srgbClr>
                </a:solidFill>
                <a:latin typeface="Arial" pitchFamily="34" charset="0"/>
                <a:ea typeface="Arial" pitchFamily="34" charset="-122"/>
                <a:cs typeface="Arial" pitchFamily="34" charset="-120"/>
              </a:rPr>
              <a:t>Dictate: "Hey team the feature is ready for review"</a:t>
            </a:r>
            <a:endParaRPr lang="en-US" sz="675" dirty="0"/>
          </a:p>
        </p:txBody>
      </p:sp>
      <p:sp>
        <p:nvSpPr>
          <p:cNvPr id="15" name="Text 13"/>
          <p:cNvSpPr/>
          <p:nvPr/>
        </p:nvSpPr>
        <p:spPr>
          <a:xfrm>
            <a:off x="381000" y="3099346"/>
            <a:ext cx="4937820" cy="514201"/>
          </a:xfrm>
          <a:prstGeom prst="rect">
            <a:avLst/>
          </a:prstGeom>
          <a:solidFill>
            <a:srgbClr val="1A1F2E"/>
          </a:solidFill>
          <a:ln/>
        </p:spPr>
        <p:txBody>
          <a:bodyPr wrap="square" rtlCol="0" anchor="ctr"/>
          <a:lstStyle/>
          <a:p>
            <a:pPr marL="0" indent="0">
              <a:buNone/>
            </a:pPr>
            <a:endParaRPr lang="en-US" dirty="0"/>
          </a:p>
        </p:txBody>
      </p:sp>
      <p:sp>
        <p:nvSpPr>
          <p:cNvPr id="16" name="Text 14"/>
          <p:cNvSpPr/>
          <p:nvPr/>
        </p:nvSpPr>
        <p:spPr>
          <a:xfrm>
            <a:off x="495300" y="3242072"/>
            <a:ext cx="228600" cy="228600"/>
          </a:xfrm>
          <a:prstGeom prst="rect">
            <a:avLst/>
          </a:prstGeom>
          <a:solidFill>
            <a:srgbClr val="C9A227"/>
          </a:solidFill>
          <a:ln/>
        </p:spPr>
        <p:txBody>
          <a:bodyPr wrap="square" rtlCol="0" anchor="ctr"/>
          <a:lstStyle/>
          <a:p>
            <a:pPr marL="0" indent="0">
              <a:buNone/>
            </a:pPr>
            <a:endParaRPr lang="en-US" dirty="0"/>
          </a:p>
        </p:txBody>
      </p:sp>
      <p:sp>
        <p:nvSpPr>
          <p:cNvPr id="17" name="Text 15"/>
          <p:cNvSpPr/>
          <p:nvPr/>
        </p:nvSpPr>
        <p:spPr>
          <a:xfrm>
            <a:off x="580430" y="3283000"/>
            <a:ext cx="59507" cy="146596"/>
          </a:xfrm>
          <a:prstGeom prst="rect">
            <a:avLst/>
          </a:prstGeom>
          <a:noFill/>
          <a:ln/>
        </p:spPr>
        <p:txBody>
          <a:bodyPr wrap="square" lIns="0" tIns="0" rIns="0" bIns="0" rtlCol="0" anchor="t"/>
          <a:lstStyle/>
          <a:p>
            <a:pPr marL="0" indent="0" algn="l">
              <a:lnSpc>
                <a:spcPts val="1155"/>
              </a:lnSpc>
              <a:buNone/>
            </a:pPr>
            <a:r>
              <a:rPr lang="en-US" sz="825" b="1" dirty="0">
                <a:solidFill>
                  <a:srgbClr val="1A1F2E"/>
                </a:solidFill>
                <a:latin typeface="Arial" pitchFamily="34" charset="0"/>
                <a:ea typeface="Arial" pitchFamily="34" charset="-122"/>
                <a:cs typeface="Arial" pitchFamily="34" charset="-120"/>
              </a:rPr>
              <a:t>3</a:t>
            </a:r>
            <a:endParaRPr lang="en-US" sz="825" dirty="0"/>
          </a:p>
        </p:txBody>
      </p:sp>
      <p:sp>
        <p:nvSpPr>
          <p:cNvPr id="18" name="Text 16"/>
          <p:cNvSpPr/>
          <p:nvPr/>
        </p:nvSpPr>
        <p:spPr>
          <a:xfrm>
            <a:off x="971550" y="3213646"/>
            <a:ext cx="2040407" cy="146596"/>
          </a:xfrm>
          <a:prstGeom prst="rect">
            <a:avLst/>
          </a:prstGeom>
          <a:noFill/>
          <a:ln/>
        </p:spPr>
        <p:txBody>
          <a:bodyPr wrap="square" lIns="0" tIns="0" rIns="0" bIns="0" rtlCol="0" anchor="t"/>
          <a:lstStyle/>
          <a:p>
            <a:pPr marL="0" indent="0" algn="l">
              <a:lnSpc>
                <a:spcPts val="1155"/>
              </a:lnSpc>
              <a:buNone/>
            </a:pPr>
            <a:r>
              <a:rPr lang="en-US" sz="825" b="1" dirty="0">
                <a:solidFill>
                  <a:srgbClr val="FFFFFF"/>
                </a:solidFill>
                <a:latin typeface="Arial" pitchFamily="34" charset="0"/>
                <a:ea typeface="Arial" pitchFamily="34" charset="-122"/>
                <a:cs typeface="Arial" pitchFamily="34" charset="-120"/>
              </a:rPr>
              <a:t>Open Outlook → Email Mode activates</a:t>
            </a:r>
            <a:endParaRPr lang="en-US" sz="825" dirty="0"/>
          </a:p>
        </p:txBody>
      </p:sp>
      <p:sp>
        <p:nvSpPr>
          <p:cNvPr id="19" name="Text 17"/>
          <p:cNvSpPr/>
          <p:nvPr/>
        </p:nvSpPr>
        <p:spPr>
          <a:xfrm>
            <a:off x="971550" y="3379291"/>
            <a:ext cx="2040407" cy="119955"/>
          </a:xfrm>
          <a:prstGeom prst="rect">
            <a:avLst/>
          </a:prstGeom>
          <a:noFill/>
          <a:ln/>
        </p:spPr>
        <p:txBody>
          <a:bodyPr wrap="square" lIns="0" tIns="0" rIns="0" bIns="0" rtlCol="0" anchor="t"/>
          <a:lstStyle/>
          <a:p>
            <a:pPr marL="0" indent="0" algn="l">
              <a:lnSpc>
                <a:spcPts val="945"/>
              </a:lnSpc>
              <a:spcBef>
                <a:spcPts val="150"/>
              </a:spcBef>
              <a:buNone/>
            </a:pPr>
            <a:r>
              <a:rPr lang="en-US" sz="675" dirty="0">
                <a:solidFill>
                  <a:srgbClr val="FFFFFF">
                    <a:alpha val="60000"/>
                  </a:srgbClr>
                </a:solidFill>
                <a:latin typeface="Arial" pitchFamily="34" charset="0"/>
                <a:ea typeface="Arial" pitchFamily="34" charset="-122"/>
                <a:cs typeface="Arial" pitchFamily="34" charset="-120"/>
              </a:rPr>
              <a:t>Dictate: "Follow up on our meeting about the project"</a:t>
            </a:r>
            <a:endParaRPr lang="en-US" sz="675" dirty="0"/>
          </a:p>
        </p:txBody>
      </p:sp>
      <p:sp>
        <p:nvSpPr>
          <p:cNvPr id="20" name="Text 18"/>
          <p:cNvSpPr/>
          <p:nvPr/>
        </p:nvSpPr>
        <p:spPr>
          <a:xfrm>
            <a:off x="381000" y="3689747"/>
            <a:ext cx="4937820" cy="514201"/>
          </a:xfrm>
          <a:prstGeom prst="rect">
            <a:avLst/>
          </a:prstGeom>
          <a:solidFill>
            <a:srgbClr val="1A1F2E"/>
          </a:solidFill>
          <a:ln/>
        </p:spPr>
        <p:txBody>
          <a:bodyPr wrap="square" rtlCol="0" anchor="ctr"/>
          <a:lstStyle/>
          <a:p>
            <a:pPr marL="0" indent="0">
              <a:buNone/>
            </a:pPr>
            <a:endParaRPr lang="en-US" dirty="0"/>
          </a:p>
        </p:txBody>
      </p:sp>
      <p:sp>
        <p:nvSpPr>
          <p:cNvPr id="21" name="Text 19"/>
          <p:cNvSpPr/>
          <p:nvPr/>
        </p:nvSpPr>
        <p:spPr>
          <a:xfrm>
            <a:off x="495300" y="3832473"/>
            <a:ext cx="228600" cy="228600"/>
          </a:xfrm>
          <a:prstGeom prst="rect">
            <a:avLst/>
          </a:prstGeom>
          <a:solidFill>
            <a:srgbClr val="C9A227"/>
          </a:solidFill>
          <a:ln/>
        </p:spPr>
        <p:txBody>
          <a:bodyPr wrap="square" rtlCol="0" anchor="ctr"/>
          <a:lstStyle/>
          <a:p>
            <a:pPr marL="0" indent="0">
              <a:buNone/>
            </a:pPr>
            <a:endParaRPr lang="en-US" dirty="0"/>
          </a:p>
        </p:txBody>
      </p:sp>
      <p:sp>
        <p:nvSpPr>
          <p:cNvPr id="22" name="Text 20"/>
          <p:cNvSpPr/>
          <p:nvPr/>
        </p:nvSpPr>
        <p:spPr>
          <a:xfrm>
            <a:off x="580430" y="3873401"/>
            <a:ext cx="59507" cy="146596"/>
          </a:xfrm>
          <a:prstGeom prst="rect">
            <a:avLst/>
          </a:prstGeom>
          <a:noFill/>
          <a:ln/>
        </p:spPr>
        <p:txBody>
          <a:bodyPr wrap="square" lIns="0" tIns="0" rIns="0" bIns="0" rtlCol="0" anchor="t"/>
          <a:lstStyle/>
          <a:p>
            <a:pPr marL="0" indent="0" algn="l">
              <a:lnSpc>
                <a:spcPts val="1155"/>
              </a:lnSpc>
              <a:buNone/>
            </a:pPr>
            <a:r>
              <a:rPr lang="en-US" sz="825" b="1" dirty="0">
                <a:solidFill>
                  <a:srgbClr val="1A1F2E"/>
                </a:solidFill>
                <a:latin typeface="Arial" pitchFamily="34" charset="0"/>
                <a:ea typeface="Arial" pitchFamily="34" charset="-122"/>
                <a:cs typeface="Arial" pitchFamily="34" charset="-120"/>
              </a:rPr>
              <a:t>4</a:t>
            </a:r>
            <a:endParaRPr lang="en-US" sz="825" dirty="0"/>
          </a:p>
        </p:txBody>
      </p:sp>
      <p:sp>
        <p:nvSpPr>
          <p:cNvPr id="23" name="Text 21"/>
          <p:cNvSpPr/>
          <p:nvPr/>
        </p:nvSpPr>
        <p:spPr>
          <a:xfrm>
            <a:off x="971550" y="3804047"/>
            <a:ext cx="2355705" cy="146596"/>
          </a:xfrm>
          <a:prstGeom prst="rect">
            <a:avLst/>
          </a:prstGeom>
          <a:noFill/>
          <a:ln/>
        </p:spPr>
        <p:txBody>
          <a:bodyPr wrap="square" lIns="0" tIns="0" rIns="0" bIns="0" rtlCol="0" anchor="t"/>
          <a:lstStyle/>
          <a:p>
            <a:pPr marL="0" indent="0" algn="l">
              <a:lnSpc>
                <a:spcPts val="1155"/>
              </a:lnSpc>
              <a:buNone/>
            </a:pPr>
            <a:r>
              <a:rPr lang="en-US" sz="825" b="1" dirty="0">
                <a:solidFill>
                  <a:srgbClr val="FFFFFF"/>
                </a:solidFill>
                <a:latin typeface="Arial" pitchFamily="34" charset="0"/>
                <a:ea typeface="Arial" pitchFamily="34" charset="-122"/>
                <a:cs typeface="Arial" pitchFamily="34" charset="-120"/>
              </a:rPr>
              <a:t>Open Terminal → Claude Code Mode activates</a:t>
            </a:r>
            <a:endParaRPr lang="en-US" sz="825" dirty="0"/>
          </a:p>
        </p:txBody>
      </p:sp>
      <p:sp>
        <p:nvSpPr>
          <p:cNvPr id="24" name="Text 22"/>
          <p:cNvSpPr/>
          <p:nvPr/>
        </p:nvSpPr>
        <p:spPr>
          <a:xfrm>
            <a:off x="971550" y="3969693"/>
            <a:ext cx="2355705" cy="119955"/>
          </a:xfrm>
          <a:prstGeom prst="rect">
            <a:avLst/>
          </a:prstGeom>
          <a:noFill/>
          <a:ln/>
        </p:spPr>
        <p:txBody>
          <a:bodyPr wrap="square" lIns="0" tIns="0" rIns="0" bIns="0" rtlCol="0" anchor="t"/>
          <a:lstStyle/>
          <a:p>
            <a:pPr marL="0" indent="0" algn="l">
              <a:lnSpc>
                <a:spcPts val="945"/>
              </a:lnSpc>
              <a:spcBef>
                <a:spcPts val="150"/>
              </a:spcBef>
              <a:buNone/>
            </a:pPr>
            <a:r>
              <a:rPr lang="en-US" sz="675" dirty="0">
                <a:solidFill>
                  <a:srgbClr val="FFFFFF">
                    <a:alpha val="60000"/>
                  </a:srgbClr>
                </a:solidFill>
                <a:latin typeface="Arial" pitchFamily="34" charset="0"/>
                <a:ea typeface="Arial" pitchFamily="34" charset="-122"/>
                <a:cs typeface="Arial" pitchFamily="34" charset="-120"/>
              </a:rPr>
              <a:t>Dictate: "Add error handling to the auth module"</a:t>
            </a:r>
            <a:endParaRPr lang="en-US" sz="675" dirty="0"/>
          </a:p>
        </p:txBody>
      </p:sp>
      <p:sp>
        <p:nvSpPr>
          <p:cNvPr id="25" name="Text 23"/>
          <p:cNvSpPr/>
          <p:nvPr/>
        </p:nvSpPr>
        <p:spPr>
          <a:xfrm>
            <a:off x="5471220" y="1325017"/>
            <a:ext cx="3357616" cy="159990"/>
          </a:xfrm>
          <a:prstGeom prst="rect">
            <a:avLst/>
          </a:prstGeom>
          <a:noFill/>
          <a:ln/>
        </p:spPr>
        <p:txBody>
          <a:bodyPr wrap="square" lIns="0" tIns="0" rIns="0" bIns="0" rtlCol="0" anchor="t"/>
          <a:lstStyle/>
          <a:p>
            <a:pPr marL="0" indent="0" algn="l">
              <a:lnSpc>
                <a:spcPts val="1260"/>
              </a:lnSpc>
              <a:spcAft>
                <a:spcPts val="300"/>
              </a:spcAft>
              <a:buNone/>
            </a:pPr>
            <a:r>
              <a:rPr lang="en-US" sz="900" b="1" dirty="0">
                <a:solidFill>
                  <a:srgbClr val="1A1F2E"/>
                </a:solidFill>
                <a:latin typeface="Arial" pitchFamily="34" charset="0"/>
                <a:ea typeface="Arial" pitchFamily="34" charset="-122"/>
                <a:cs typeface="Arial" pitchFamily="34" charset="-120"/>
              </a:rPr>
              <a:t>WHAT TO WATCH FOR</a:t>
            </a:r>
            <a:endParaRPr lang="en-US" sz="900" dirty="0"/>
          </a:p>
        </p:txBody>
      </p:sp>
      <p:sp>
        <p:nvSpPr>
          <p:cNvPr id="26" name="Text 24"/>
          <p:cNvSpPr/>
          <p:nvPr/>
        </p:nvSpPr>
        <p:spPr>
          <a:xfrm>
            <a:off x="5471220" y="1599307"/>
            <a:ext cx="3291780" cy="520005"/>
          </a:xfrm>
          <a:prstGeom prst="rect">
            <a:avLst/>
          </a:prstGeom>
          <a:solidFill>
            <a:srgbClr val="DCFCE7"/>
          </a:solidFill>
          <a:ln/>
        </p:spPr>
        <p:txBody>
          <a:bodyPr wrap="square" rtlCol="0" anchor="ctr"/>
          <a:lstStyle/>
          <a:p>
            <a:pPr marL="0" indent="0">
              <a:buNone/>
            </a:pPr>
            <a:endParaRPr lang="en-US" dirty="0"/>
          </a:p>
        </p:txBody>
      </p:sp>
      <p:sp>
        <p:nvSpPr>
          <p:cNvPr id="27" name="Shape 25"/>
          <p:cNvSpPr/>
          <p:nvPr/>
        </p:nvSpPr>
        <p:spPr>
          <a:xfrm>
            <a:off x="5490270" y="1599307"/>
            <a:ext cx="0" cy="520005"/>
          </a:xfrm>
          <a:prstGeom prst="line">
            <a:avLst/>
          </a:prstGeom>
          <a:noFill/>
          <a:ln w="38100">
            <a:solidFill>
              <a:srgbClr val="059669"/>
            </a:solidFill>
            <a:prstDash val="solid"/>
          </a:ln>
        </p:spPr>
        <p:txBody>
          <a:bodyPr/>
          <a:lstStyle/>
          <a:p>
            <a:endParaRPr lang="en-US"/>
          </a:p>
        </p:txBody>
      </p:sp>
      <p:sp>
        <p:nvSpPr>
          <p:cNvPr id="28" name="Text 26"/>
          <p:cNvSpPr/>
          <p:nvPr/>
        </p:nvSpPr>
        <p:spPr>
          <a:xfrm>
            <a:off x="5623620" y="1713607"/>
            <a:ext cx="3085582"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166534"/>
                </a:solidFill>
                <a:latin typeface="Arial" pitchFamily="34" charset="0"/>
                <a:ea typeface="Arial" pitchFamily="34" charset="-122"/>
                <a:cs typeface="Arial" pitchFamily="34" charset="-120"/>
              </a:rPr>
              <a:t>MODE INDICATOR</a:t>
            </a:r>
            <a:endParaRPr lang="en-US" sz="750" dirty="0"/>
          </a:p>
        </p:txBody>
      </p:sp>
      <p:sp>
        <p:nvSpPr>
          <p:cNvPr id="29" name="Text 27"/>
          <p:cNvSpPr/>
          <p:nvPr/>
        </p:nvSpPr>
        <p:spPr>
          <a:xfrm>
            <a:off x="5623620" y="1885057"/>
            <a:ext cx="3085582" cy="119955"/>
          </a:xfrm>
          <a:prstGeom prst="rect">
            <a:avLst/>
          </a:prstGeom>
          <a:noFill/>
          <a:ln/>
        </p:spPr>
        <p:txBody>
          <a:bodyPr wrap="square" lIns="0" tIns="0" rIns="0" bIns="0" rtlCol="0" anchor="t"/>
          <a:lstStyle/>
          <a:p>
            <a:pPr marL="0" indent="0" algn="l">
              <a:lnSpc>
                <a:spcPts val="945"/>
              </a:lnSpc>
              <a:buNone/>
            </a:pPr>
            <a:r>
              <a:rPr lang="en-US" sz="675" dirty="0">
                <a:solidFill>
                  <a:srgbClr val="166534"/>
                </a:solidFill>
                <a:latin typeface="Arial" pitchFamily="34" charset="0"/>
                <a:ea typeface="Arial" pitchFamily="34" charset="-122"/>
                <a:cs typeface="Arial" pitchFamily="34" charset="-120"/>
              </a:rPr>
              <a:t>Watch the menu bar - mode name changes automatically when switching apps.</a:t>
            </a:r>
            <a:endParaRPr lang="en-US" sz="675" dirty="0"/>
          </a:p>
        </p:txBody>
      </p:sp>
      <p:sp>
        <p:nvSpPr>
          <p:cNvPr id="30" name="Text 28"/>
          <p:cNvSpPr/>
          <p:nvPr/>
        </p:nvSpPr>
        <p:spPr>
          <a:xfrm>
            <a:off x="5471220" y="2195513"/>
            <a:ext cx="3291780" cy="520005"/>
          </a:xfrm>
          <a:prstGeom prst="rect">
            <a:avLst/>
          </a:prstGeom>
          <a:solidFill>
            <a:srgbClr val="DBEAFE"/>
          </a:solidFill>
          <a:ln/>
        </p:spPr>
        <p:txBody>
          <a:bodyPr wrap="square" rtlCol="0" anchor="ctr"/>
          <a:lstStyle/>
          <a:p>
            <a:pPr marL="0" indent="0">
              <a:buNone/>
            </a:pPr>
            <a:endParaRPr lang="en-US" dirty="0"/>
          </a:p>
        </p:txBody>
      </p:sp>
      <p:sp>
        <p:nvSpPr>
          <p:cNvPr id="31" name="Shape 29"/>
          <p:cNvSpPr/>
          <p:nvPr/>
        </p:nvSpPr>
        <p:spPr>
          <a:xfrm>
            <a:off x="5490270" y="2195513"/>
            <a:ext cx="0" cy="520005"/>
          </a:xfrm>
          <a:prstGeom prst="line">
            <a:avLst/>
          </a:prstGeom>
          <a:noFill/>
          <a:ln w="38100">
            <a:solidFill>
              <a:srgbClr val="3B82F6"/>
            </a:solidFill>
            <a:prstDash val="solid"/>
          </a:ln>
        </p:spPr>
        <p:txBody>
          <a:bodyPr/>
          <a:lstStyle/>
          <a:p>
            <a:endParaRPr lang="en-US"/>
          </a:p>
        </p:txBody>
      </p:sp>
      <p:sp>
        <p:nvSpPr>
          <p:cNvPr id="32" name="Text 30"/>
          <p:cNvSpPr/>
          <p:nvPr/>
        </p:nvSpPr>
        <p:spPr>
          <a:xfrm>
            <a:off x="5623620" y="2309813"/>
            <a:ext cx="3085582"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1E40AF"/>
                </a:solidFill>
                <a:latin typeface="Arial" pitchFamily="34" charset="0"/>
                <a:ea typeface="Arial" pitchFamily="34" charset="-122"/>
                <a:cs typeface="Arial" pitchFamily="34" charset="-120"/>
              </a:rPr>
              <a:t>OUTPUT FORMAT</a:t>
            </a:r>
            <a:endParaRPr lang="en-US" sz="750" dirty="0"/>
          </a:p>
        </p:txBody>
      </p:sp>
      <p:sp>
        <p:nvSpPr>
          <p:cNvPr id="33" name="Text 31"/>
          <p:cNvSpPr/>
          <p:nvPr/>
        </p:nvSpPr>
        <p:spPr>
          <a:xfrm>
            <a:off x="5623620" y="2481263"/>
            <a:ext cx="3085582" cy="119955"/>
          </a:xfrm>
          <a:prstGeom prst="rect">
            <a:avLst/>
          </a:prstGeom>
          <a:noFill/>
          <a:ln/>
        </p:spPr>
        <p:txBody>
          <a:bodyPr wrap="square" lIns="0" tIns="0" rIns="0" bIns="0" rtlCol="0" anchor="t"/>
          <a:lstStyle/>
          <a:p>
            <a:pPr marL="0" indent="0" algn="l">
              <a:lnSpc>
                <a:spcPts val="945"/>
              </a:lnSpc>
              <a:buNone/>
            </a:pPr>
            <a:r>
              <a:rPr lang="en-US" sz="675" dirty="0">
                <a:solidFill>
                  <a:srgbClr val="1E40AF"/>
                </a:solidFill>
                <a:latin typeface="Arial" pitchFamily="34" charset="0"/>
                <a:ea typeface="Arial" pitchFamily="34" charset="-122"/>
                <a:cs typeface="Arial" pitchFamily="34" charset="-120"/>
              </a:rPr>
              <a:t>Same spoken input produces different formatted output based on context.</a:t>
            </a:r>
            <a:endParaRPr lang="en-US" sz="675" dirty="0"/>
          </a:p>
        </p:txBody>
      </p:sp>
      <p:sp>
        <p:nvSpPr>
          <p:cNvPr id="34" name="Text 32"/>
          <p:cNvSpPr/>
          <p:nvPr/>
        </p:nvSpPr>
        <p:spPr>
          <a:xfrm>
            <a:off x="5471220" y="2791718"/>
            <a:ext cx="3291780" cy="520005"/>
          </a:xfrm>
          <a:prstGeom prst="rect">
            <a:avLst/>
          </a:prstGeom>
          <a:solidFill>
            <a:srgbClr val="FEF3C7"/>
          </a:solidFill>
          <a:ln/>
        </p:spPr>
        <p:txBody>
          <a:bodyPr wrap="square" rtlCol="0" anchor="ctr"/>
          <a:lstStyle/>
          <a:p>
            <a:pPr marL="0" indent="0">
              <a:buNone/>
            </a:pPr>
            <a:endParaRPr lang="en-US" dirty="0"/>
          </a:p>
        </p:txBody>
      </p:sp>
      <p:sp>
        <p:nvSpPr>
          <p:cNvPr id="35" name="Shape 33"/>
          <p:cNvSpPr/>
          <p:nvPr/>
        </p:nvSpPr>
        <p:spPr>
          <a:xfrm>
            <a:off x="5490270" y="2791718"/>
            <a:ext cx="0" cy="520005"/>
          </a:xfrm>
          <a:prstGeom prst="line">
            <a:avLst/>
          </a:prstGeom>
          <a:noFill/>
          <a:ln w="38100">
            <a:solidFill>
              <a:srgbClr val="F59E0B"/>
            </a:solidFill>
            <a:prstDash val="solid"/>
          </a:ln>
        </p:spPr>
        <p:txBody>
          <a:bodyPr/>
          <a:lstStyle/>
          <a:p>
            <a:endParaRPr lang="en-US"/>
          </a:p>
        </p:txBody>
      </p:sp>
      <p:sp>
        <p:nvSpPr>
          <p:cNvPr id="36" name="Text 34"/>
          <p:cNvSpPr/>
          <p:nvPr/>
        </p:nvSpPr>
        <p:spPr>
          <a:xfrm>
            <a:off x="5623620" y="2906018"/>
            <a:ext cx="3085582"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92400E"/>
                </a:solidFill>
                <a:latin typeface="Arial" pitchFamily="34" charset="0"/>
                <a:ea typeface="Arial" pitchFamily="34" charset="-122"/>
                <a:cs typeface="Arial" pitchFamily="34" charset="-120"/>
              </a:rPr>
              <a:t>PROCESSING SPEED</a:t>
            </a:r>
            <a:endParaRPr lang="en-US" sz="750" dirty="0"/>
          </a:p>
        </p:txBody>
      </p:sp>
      <p:sp>
        <p:nvSpPr>
          <p:cNvPr id="37" name="Text 35"/>
          <p:cNvSpPr/>
          <p:nvPr/>
        </p:nvSpPr>
        <p:spPr>
          <a:xfrm>
            <a:off x="5623620" y="3077468"/>
            <a:ext cx="3085582" cy="119955"/>
          </a:xfrm>
          <a:prstGeom prst="rect">
            <a:avLst/>
          </a:prstGeom>
          <a:noFill/>
          <a:ln/>
        </p:spPr>
        <p:txBody>
          <a:bodyPr wrap="square" lIns="0" tIns="0" rIns="0" bIns="0" rtlCol="0" anchor="t"/>
          <a:lstStyle/>
          <a:p>
            <a:pPr marL="0" indent="0" algn="l">
              <a:lnSpc>
                <a:spcPts val="945"/>
              </a:lnSpc>
              <a:buNone/>
            </a:pPr>
            <a:r>
              <a:rPr lang="en-US" sz="675" dirty="0">
                <a:solidFill>
                  <a:srgbClr val="92400E"/>
                </a:solidFill>
                <a:latin typeface="Arial" pitchFamily="34" charset="0"/>
                <a:ea typeface="Arial" pitchFamily="34" charset="-122"/>
                <a:cs typeface="Arial" pitchFamily="34" charset="-120"/>
              </a:rPr>
              <a:t>Local models: instant processing. No network delay.</a:t>
            </a:r>
            <a:endParaRPr lang="en-US" sz="675" dirty="0"/>
          </a:p>
        </p:txBody>
      </p:sp>
      <p:sp>
        <p:nvSpPr>
          <p:cNvPr id="38" name="Text 36"/>
          <p:cNvSpPr/>
          <p:nvPr/>
        </p:nvSpPr>
        <p:spPr>
          <a:xfrm>
            <a:off x="5471220" y="3387923"/>
            <a:ext cx="3291780" cy="520005"/>
          </a:xfrm>
          <a:prstGeom prst="rect">
            <a:avLst/>
          </a:prstGeom>
          <a:solidFill>
            <a:srgbClr val="EDE9FE"/>
          </a:solidFill>
          <a:ln/>
        </p:spPr>
        <p:txBody>
          <a:bodyPr wrap="square" rtlCol="0" anchor="ctr"/>
          <a:lstStyle/>
          <a:p>
            <a:pPr marL="0" indent="0">
              <a:buNone/>
            </a:pPr>
            <a:endParaRPr lang="en-US" dirty="0"/>
          </a:p>
        </p:txBody>
      </p:sp>
      <p:sp>
        <p:nvSpPr>
          <p:cNvPr id="39" name="Shape 37"/>
          <p:cNvSpPr/>
          <p:nvPr/>
        </p:nvSpPr>
        <p:spPr>
          <a:xfrm>
            <a:off x="5490270" y="3387923"/>
            <a:ext cx="0" cy="520005"/>
          </a:xfrm>
          <a:prstGeom prst="line">
            <a:avLst/>
          </a:prstGeom>
          <a:noFill/>
          <a:ln w="38100">
            <a:solidFill>
              <a:srgbClr val="8B5CF6"/>
            </a:solidFill>
            <a:prstDash val="solid"/>
          </a:ln>
        </p:spPr>
        <p:txBody>
          <a:bodyPr/>
          <a:lstStyle/>
          <a:p>
            <a:endParaRPr lang="en-US"/>
          </a:p>
        </p:txBody>
      </p:sp>
      <p:sp>
        <p:nvSpPr>
          <p:cNvPr id="40" name="Text 38"/>
          <p:cNvSpPr/>
          <p:nvPr/>
        </p:nvSpPr>
        <p:spPr>
          <a:xfrm>
            <a:off x="5623620" y="3502223"/>
            <a:ext cx="3085582"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5B21B6"/>
                </a:solidFill>
                <a:latin typeface="Arial" pitchFamily="34" charset="0"/>
                <a:ea typeface="Arial" pitchFamily="34" charset="-122"/>
                <a:cs typeface="Arial" pitchFamily="34" charset="-120"/>
              </a:rPr>
              <a:t>NATURAL SPEECH</a:t>
            </a:r>
            <a:endParaRPr lang="en-US" sz="750" dirty="0"/>
          </a:p>
        </p:txBody>
      </p:sp>
      <p:sp>
        <p:nvSpPr>
          <p:cNvPr id="41" name="Text 39"/>
          <p:cNvSpPr/>
          <p:nvPr/>
        </p:nvSpPr>
        <p:spPr>
          <a:xfrm>
            <a:off x="5623620" y="3673673"/>
            <a:ext cx="3085582" cy="119955"/>
          </a:xfrm>
          <a:prstGeom prst="rect">
            <a:avLst/>
          </a:prstGeom>
          <a:noFill/>
          <a:ln/>
        </p:spPr>
        <p:txBody>
          <a:bodyPr wrap="square" lIns="0" tIns="0" rIns="0" bIns="0" rtlCol="0" anchor="t"/>
          <a:lstStyle/>
          <a:p>
            <a:pPr marL="0" indent="0" algn="l">
              <a:lnSpc>
                <a:spcPts val="945"/>
              </a:lnSpc>
              <a:buNone/>
            </a:pPr>
            <a:r>
              <a:rPr lang="en-US" sz="675" dirty="0">
                <a:solidFill>
                  <a:srgbClr val="5B21B6"/>
                </a:solidFill>
                <a:latin typeface="Arial" pitchFamily="34" charset="0"/>
                <a:ea typeface="Arial" pitchFamily="34" charset="-122"/>
                <a:cs typeface="Arial" pitchFamily="34" charset="-120"/>
              </a:rPr>
              <a:t>No special commands needed - just speak naturally.</a:t>
            </a:r>
            <a:endParaRPr lang="en-US" sz="675" dirty="0"/>
          </a:p>
        </p:txBody>
      </p:sp>
      <p:sp>
        <p:nvSpPr>
          <p:cNvPr id="42" name="Text 40"/>
          <p:cNvSpPr/>
          <p:nvPr/>
        </p:nvSpPr>
        <p:spPr>
          <a:xfrm>
            <a:off x="5471220" y="3984129"/>
            <a:ext cx="3291780" cy="539055"/>
          </a:xfrm>
          <a:prstGeom prst="rect">
            <a:avLst/>
          </a:prstGeom>
          <a:solidFill>
            <a:srgbClr val="FFFFFF"/>
          </a:solidFill>
          <a:ln w="9525">
            <a:solidFill>
              <a:srgbClr val="C9A227"/>
            </a:solidFill>
          </a:ln>
        </p:spPr>
        <p:txBody>
          <a:bodyPr wrap="square" rtlCol="0" anchor="ctr"/>
          <a:lstStyle/>
          <a:p>
            <a:pPr marL="0" indent="0">
              <a:buNone/>
            </a:pPr>
            <a:endParaRPr lang="en-US" dirty="0"/>
          </a:p>
        </p:txBody>
      </p:sp>
      <p:sp>
        <p:nvSpPr>
          <p:cNvPr id="43" name="Text 41"/>
          <p:cNvSpPr/>
          <p:nvPr/>
        </p:nvSpPr>
        <p:spPr>
          <a:xfrm>
            <a:off x="5595045" y="4107954"/>
            <a:ext cx="3105013"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1A1F2E"/>
                </a:solidFill>
                <a:latin typeface="Arial" pitchFamily="34" charset="0"/>
                <a:ea typeface="Arial" pitchFamily="34" charset="-122"/>
                <a:cs typeface="Arial" pitchFamily="34" charset="-120"/>
              </a:rPr>
              <a:t>QUESTIONS?</a:t>
            </a:r>
            <a:endParaRPr lang="en-US" sz="750" dirty="0"/>
          </a:p>
        </p:txBody>
      </p:sp>
      <p:sp>
        <p:nvSpPr>
          <p:cNvPr id="44" name="Text 42"/>
          <p:cNvSpPr/>
          <p:nvPr/>
        </p:nvSpPr>
        <p:spPr>
          <a:xfrm>
            <a:off x="5595045" y="4279404"/>
            <a:ext cx="3105013" cy="119955"/>
          </a:xfrm>
          <a:prstGeom prst="rect">
            <a:avLst/>
          </a:prstGeom>
          <a:noFill/>
          <a:ln/>
        </p:spPr>
        <p:txBody>
          <a:bodyPr wrap="square" lIns="0" tIns="0" rIns="0" bIns="0" rtlCol="0" anchor="t"/>
          <a:lstStyle/>
          <a:p>
            <a:pPr marL="0" indent="0" algn="l">
              <a:lnSpc>
                <a:spcPts val="945"/>
              </a:lnSpc>
              <a:buNone/>
            </a:pPr>
            <a:r>
              <a:rPr lang="en-US" sz="675" dirty="0">
                <a:solidFill>
                  <a:srgbClr val="6B7280"/>
                </a:solidFill>
                <a:latin typeface="Arial" pitchFamily="34" charset="0"/>
                <a:ea typeface="Arial" pitchFamily="34" charset="-122"/>
                <a:cs typeface="Arial" pitchFamily="34" charset="-120"/>
              </a:rPr>
              <a:t>Stop me anytime during the demo if you want to see something specific.</a:t>
            </a:r>
            <a:endParaRPr lang="en-US" sz="675"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0" y="0"/>
            <a:ext cx="4047530" cy="5143500"/>
          </a:xfrm>
          <a:prstGeom prst="rect">
            <a:avLst/>
          </a:prstGeom>
          <a:solidFill>
            <a:srgbClr val="1A1F2E"/>
          </a:solidFill>
          <a:ln/>
        </p:spPr>
        <p:txBody>
          <a:bodyPr wrap="square" rtlCol="0" anchor="ctr"/>
          <a:lstStyle/>
          <a:p>
            <a:pPr marL="0" indent="0">
              <a:buNone/>
            </a:pPr>
            <a:endParaRPr lang="en-US" dirty="0"/>
          </a:p>
        </p:txBody>
      </p:sp>
      <p:sp>
        <p:nvSpPr>
          <p:cNvPr id="3" name="Text 1"/>
          <p:cNvSpPr/>
          <p:nvPr/>
        </p:nvSpPr>
        <p:spPr>
          <a:xfrm>
            <a:off x="342900" y="381000"/>
            <a:ext cx="1426964" cy="247650"/>
          </a:xfrm>
          <a:prstGeom prst="rect">
            <a:avLst/>
          </a:prstGeom>
          <a:solidFill>
            <a:srgbClr val="D97706"/>
          </a:solidFill>
          <a:ln/>
        </p:spPr>
        <p:txBody>
          <a:bodyPr wrap="square" rtlCol="0" anchor="ctr"/>
          <a:lstStyle/>
          <a:p>
            <a:pPr marL="0" indent="0">
              <a:buNone/>
            </a:pPr>
            <a:endParaRPr lang="en-US" dirty="0"/>
          </a:p>
        </p:txBody>
      </p:sp>
      <p:sp>
        <p:nvSpPr>
          <p:cNvPr id="4" name="Text 2"/>
          <p:cNvSpPr/>
          <p:nvPr/>
        </p:nvSpPr>
        <p:spPr>
          <a:xfrm>
            <a:off x="476250" y="438150"/>
            <a:ext cx="1183469" cy="133350"/>
          </a:xfrm>
          <a:prstGeom prst="rect">
            <a:avLst/>
          </a:prstGeom>
          <a:noFill/>
          <a:ln/>
        </p:spPr>
        <p:txBody>
          <a:bodyPr wrap="square" lIns="0" tIns="0" rIns="0" bIns="0" rtlCol="0" anchor="t"/>
          <a:lstStyle/>
          <a:p>
            <a:pPr marL="0" indent="0" algn="l">
              <a:lnSpc>
                <a:spcPts val="1050"/>
              </a:lnSpc>
              <a:buNone/>
            </a:pPr>
            <a:r>
              <a:rPr lang="en-US" sz="750" b="1" dirty="0">
                <a:solidFill>
                  <a:srgbClr val="1A1F2E"/>
                </a:solidFill>
                <a:latin typeface="Arial" pitchFamily="34" charset="0"/>
                <a:ea typeface="Arial" pitchFamily="34" charset="-122"/>
                <a:cs typeface="Arial" pitchFamily="34" charset="-120"/>
              </a:rPr>
              <a:t>TOOL SETUP GUIDE</a:t>
            </a:r>
            <a:endParaRPr lang="en-US" sz="750" dirty="0"/>
          </a:p>
        </p:txBody>
      </p:sp>
      <p:sp>
        <p:nvSpPr>
          <p:cNvPr id="5" name="Text 3"/>
          <p:cNvSpPr/>
          <p:nvPr/>
        </p:nvSpPr>
        <p:spPr>
          <a:xfrm>
            <a:off x="342900" y="933450"/>
            <a:ext cx="1943100" cy="394246"/>
          </a:xfrm>
          <a:prstGeom prst="rect">
            <a:avLst/>
          </a:prstGeom>
          <a:noFill/>
          <a:ln/>
        </p:spPr>
        <p:txBody>
          <a:bodyPr wrap="square" lIns="0" tIns="0" rIns="0" bIns="0" rtlCol="0" anchor="t"/>
          <a:lstStyle/>
          <a:p>
            <a:pPr marL="0" indent="0" algn="l">
              <a:lnSpc>
                <a:spcPts val="3105"/>
              </a:lnSpc>
              <a:spcAft>
                <a:spcPts val="1200"/>
              </a:spcAft>
              <a:buNone/>
            </a:pPr>
            <a:r>
              <a:rPr lang="en-US" sz="2700" dirty="0">
                <a:solidFill>
                  <a:srgbClr val="FFFFFF"/>
                </a:solidFill>
                <a:latin typeface="Georgia" pitchFamily="34" charset="0"/>
                <a:ea typeface="Georgia" pitchFamily="34" charset="-122"/>
                <a:cs typeface="Georgia" pitchFamily="34" charset="-120"/>
              </a:rPr>
              <a:t>Claude Code</a:t>
            </a:r>
            <a:endParaRPr lang="en-US" sz="2700" dirty="0"/>
          </a:p>
        </p:txBody>
      </p:sp>
      <p:sp>
        <p:nvSpPr>
          <p:cNvPr id="6" name="Text 4"/>
          <p:cNvSpPr/>
          <p:nvPr/>
        </p:nvSpPr>
        <p:spPr>
          <a:xfrm>
            <a:off x="342900" y="1632496"/>
            <a:ext cx="476250" cy="28575"/>
          </a:xfrm>
          <a:prstGeom prst="rect">
            <a:avLst/>
          </a:prstGeom>
          <a:solidFill>
            <a:srgbClr val="C9A227"/>
          </a:solidFill>
          <a:ln/>
        </p:spPr>
        <p:txBody>
          <a:bodyPr wrap="square" rtlCol="0" anchor="ctr"/>
          <a:lstStyle/>
          <a:p>
            <a:pPr marL="0" indent="0">
              <a:buNone/>
            </a:pPr>
            <a:endParaRPr lang="en-US" dirty="0"/>
          </a:p>
        </p:txBody>
      </p:sp>
      <p:sp>
        <p:nvSpPr>
          <p:cNvPr id="7" name="Text 5"/>
          <p:cNvSpPr/>
          <p:nvPr/>
        </p:nvSpPr>
        <p:spPr>
          <a:xfrm>
            <a:off x="342900" y="2003971"/>
            <a:ext cx="3428964" cy="457200"/>
          </a:xfrm>
          <a:prstGeom prst="rect">
            <a:avLst/>
          </a:prstGeom>
          <a:noFill/>
          <a:ln/>
        </p:spPr>
        <p:txBody>
          <a:bodyPr wrap="square" lIns="0" tIns="0" rIns="0" bIns="0" rtlCol="0" anchor="t"/>
          <a:lstStyle/>
          <a:p>
            <a:pPr marL="0" indent="0" algn="l">
              <a:lnSpc>
                <a:spcPts val="1800"/>
              </a:lnSpc>
              <a:spcAft>
                <a:spcPts val="1800"/>
              </a:spcAft>
              <a:buNone/>
            </a:pPr>
            <a:r>
              <a:rPr lang="en-US" sz="1200" dirty="0">
                <a:solidFill>
                  <a:srgbClr val="FFFFFF">
                    <a:alpha val="70000"/>
                  </a:srgbClr>
                </a:solidFill>
                <a:latin typeface="Arial" pitchFamily="34" charset="0"/>
                <a:ea typeface="Arial" pitchFamily="34" charset="-122"/>
                <a:cs typeface="Arial" pitchFamily="34" charset="-120"/>
              </a:rPr>
              <a:t>Setup, Configuration &amp;</a:t>
            </a:r>
            <a:endParaRPr lang="en-US" sz="1200" dirty="0"/>
          </a:p>
          <a:p>
            <a:pPr marL="0" indent="0" algn="l">
              <a:lnSpc>
                <a:spcPts val="1800"/>
              </a:lnSpc>
              <a:spcAft>
                <a:spcPts val="1800"/>
              </a:spcAft>
              <a:buNone/>
            </a:pPr>
            <a:r>
              <a:rPr lang="en-US" sz="1200" dirty="0">
                <a:solidFill>
                  <a:srgbClr val="FFFFFF">
                    <a:alpha val="70000"/>
                  </a:srgbClr>
                </a:solidFill>
                <a:latin typeface="Arial" pitchFamily="34" charset="0"/>
                <a:ea typeface="Arial" pitchFamily="34" charset="-122"/>
                <a:cs typeface="Arial" pitchFamily="34" charset="-120"/>
              </a:rPr>
              <a:t>Core Features</a:t>
            </a:r>
            <a:endParaRPr lang="en-US" sz="1200" dirty="0"/>
          </a:p>
        </p:txBody>
      </p:sp>
      <p:sp>
        <p:nvSpPr>
          <p:cNvPr id="8" name="Text 6"/>
          <p:cNvSpPr/>
          <p:nvPr/>
        </p:nvSpPr>
        <p:spPr>
          <a:xfrm>
            <a:off x="342900" y="4338638"/>
            <a:ext cx="3361730" cy="423863"/>
          </a:xfrm>
          <a:prstGeom prst="rect">
            <a:avLst/>
          </a:prstGeom>
          <a:solidFill>
            <a:srgbClr val="D97706">
              <a:alpha val="20000"/>
            </a:srgbClr>
          </a:solidFill>
          <a:ln/>
        </p:spPr>
        <p:txBody>
          <a:bodyPr wrap="square" rtlCol="0" anchor="ctr"/>
          <a:lstStyle/>
          <a:p>
            <a:pPr marL="0" indent="0">
              <a:buNone/>
            </a:pPr>
            <a:endParaRPr lang="en-US" dirty="0"/>
          </a:p>
        </p:txBody>
      </p:sp>
      <p:sp>
        <p:nvSpPr>
          <p:cNvPr id="9" name="Shape 7"/>
          <p:cNvSpPr/>
          <p:nvPr/>
        </p:nvSpPr>
        <p:spPr>
          <a:xfrm>
            <a:off x="357188" y="4338638"/>
            <a:ext cx="0" cy="423863"/>
          </a:xfrm>
          <a:prstGeom prst="line">
            <a:avLst/>
          </a:prstGeom>
          <a:noFill/>
          <a:ln w="28575">
            <a:solidFill>
              <a:srgbClr val="D97706"/>
            </a:solidFill>
            <a:prstDash val="solid"/>
          </a:ln>
        </p:spPr>
        <p:txBody>
          <a:bodyPr/>
          <a:lstStyle/>
          <a:p>
            <a:endParaRPr lang="en-US"/>
          </a:p>
        </p:txBody>
      </p:sp>
      <p:sp>
        <p:nvSpPr>
          <p:cNvPr id="10" name="Text 8"/>
          <p:cNvSpPr/>
          <p:nvPr/>
        </p:nvSpPr>
        <p:spPr>
          <a:xfrm>
            <a:off x="504825" y="4471988"/>
            <a:ext cx="3127784" cy="157163"/>
          </a:xfrm>
          <a:prstGeom prst="rect">
            <a:avLst/>
          </a:prstGeom>
          <a:noFill/>
          <a:ln/>
        </p:spPr>
        <p:txBody>
          <a:bodyPr wrap="square" lIns="0" tIns="0" rIns="0" bIns="0" rtlCol="0" anchor="t"/>
          <a:lstStyle/>
          <a:p>
            <a:pPr marL="0" indent="0" algn="l">
              <a:lnSpc>
                <a:spcPts val="1238"/>
              </a:lnSpc>
              <a:buNone/>
            </a:pPr>
            <a:r>
              <a:rPr lang="en-US" sz="825" dirty="0">
                <a:solidFill>
                  <a:srgbClr val="FFFFFF">
                    <a:alpha val="90000"/>
                  </a:srgbClr>
                </a:solidFill>
                <a:latin typeface="Arial" pitchFamily="34" charset="0"/>
                <a:ea typeface="Arial" pitchFamily="34" charset="-122"/>
                <a:cs typeface="Arial" pitchFamily="34" charset="-120"/>
              </a:rPr>
              <a:t>Anthropic's agentic coding tool for terminal and IDE integration</a:t>
            </a:r>
            <a:endParaRPr lang="en-US" sz="825" dirty="0"/>
          </a:p>
        </p:txBody>
      </p:sp>
      <p:sp>
        <p:nvSpPr>
          <p:cNvPr id="11" name="Text 9"/>
          <p:cNvSpPr/>
          <p:nvPr/>
        </p:nvSpPr>
        <p:spPr>
          <a:xfrm>
            <a:off x="4199930" y="0"/>
            <a:ext cx="4944070" cy="5143500"/>
          </a:xfrm>
          <a:prstGeom prst="rect">
            <a:avLst/>
          </a:prstGeom>
          <a:solidFill>
            <a:srgbClr val="F7F8FA"/>
          </a:solidFill>
          <a:ln/>
        </p:spPr>
        <p:txBody>
          <a:bodyPr wrap="square" rtlCol="0" anchor="ctr"/>
          <a:lstStyle/>
          <a:p>
            <a:pPr marL="0" indent="0">
              <a:buNone/>
            </a:pPr>
            <a:endParaRPr lang="en-US" dirty="0"/>
          </a:p>
        </p:txBody>
      </p:sp>
      <p:sp>
        <p:nvSpPr>
          <p:cNvPr id="12" name="Text 10"/>
          <p:cNvSpPr/>
          <p:nvPr/>
        </p:nvSpPr>
        <p:spPr>
          <a:xfrm>
            <a:off x="4542830" y="1046857"/>
            <a:ext cx="4343436" cy="159990"/>
          </a:xfrm>
          <a:prstGeom prst="rect">
            <a:avLst/>
          </a:prstGeom>
          <a:noFill/>
          <a:ln/>
        </p:spPr>
        <p:txBody>
          <a:bodyPr wrap="square" lIns="0" tIns="0" rIns="0" bIns="0" rtlCol="0" anchor="t"/>
          <a:lstStyle/>
          <a:p>
            <a:pPr marL="0" indent="0" algn="l">
              <a:lnSpc>
                <a:spcPts val="1260"/>
              </a:lnSpc>
              <a:spcAft>
                <a:spcPts val="1500"/>
              </a:spcAft>
              <a:buNone/>
            </a:pPr>
            <a:r>
              <a:rPr lang="en-US" sz="900" b="1" dirty="0">
                <a:solidFill>
                  <a:srgbClr val="1A1F2E"/>
                </a:solidFill>
                <a:latin typeface="Arial" pitchFamily="34" charset="0"/>
                <a:ea typeface="Arial" pitchFamily="34" charset="-122"/>
                <a:cs typeface="Arial" pitchFamily="34" charset="-120"/>
              </a:rPr>
              <a:t>WHAT YOU'LL LEARN</a:t>
            </a:r>
            <a:endParaRPr lang="en-US" sz="900" dirty="0"/>
          </a:p>
        </p:txBody>
      </p:sp>
      <p:sp>
        <p:nvSpPr>
          <p:cNvPr id="13" name="Text 11"/>
          <p:cNvSpPr/>
          <p:nvPr/>
        </p:nvSpPr>
        <p:spPr>
          <a:xfrm>
            <a:off x="4542830" y="1549747"/>
            <a:ext cx="266700" cy="266700"/>
          </a:xfrm>
          <a:prstGeom prst="rect">
            <a:avLst/>
          </a:prstGeom>
          <a:solidFill>
            <a:srgbClr val="D97706"/>
          </a:solidFill>
          <a:ln/>
        </p:spPr>
        <p:txBody>
          <a:bodyPr wrap="square" rtlCol="0" anchor="ctr"/>
          <a:lstStyle/>
          <a:p>
            <a:pPr marL="0" indent="0">
              <a:buNone/>
            </a:pPr>
            <a:endParaRPr lang="en-US" dirty="0"/>
          </a:p>
        </p:txBody>
      </p:sp>
      <p:sp>
        <p:nvSpPr>
          <p:cNvPr id="14" name="Text 12"/>
          <p:cNvSpPr/>
          <p:nvPr/>
        </p:nvSpPr>
        <p:spPr>
          <a:xfrm>
            <a:off x="4923830" y="1603028"/>
            <a:ext cx="1510001" cy="159990"/>
          </a:xfrm>
          <a:prstGeom prst="rect">
            <a:avLst/>
          </a:prstGeom>
          <a:noFill/>
          <a:ln/>
        </p:spPr>
        <p:txBody>
          <a:bodyPr wrap="square" lIns="0" tIns="0" rIns="0" bIns="0" rtlCol="0" anchor="t"/>
          <a:lstStyle/>
          <a:p>
            <a:pPr marL="0" indent="0" algn="l">
              <a:lnSpc>
                <a:spcPts val="1260"/>
              </a:lnSpc>
              <a:buNone/>
            </a:pPr>
            <a:r>
              <a:rPr lang="en-US" sz="900" dirty="0">
                <a:solidFill>
                  <a:srgbClr val="1A1F2E"/>
                </a:solidFill>
                <a:latin typeface="Arial" pitchFamily="34" charset="0"/>
                <a:ea typeface="Arial" pitchFamily="34" charset="-122"/>
                <a:cs typeface="Arial" pitchFamily="34" charset="-120"/>
              </a:rPr>
              <a:t>Installation &amp; model selection</a:t>
            </a:r>
            <a:endParaRPr lang="en-US" sz="900" dirty="0"/>
          </a:p>
        </p:txBody>
      </p:sp>
      <p:sp>
        <p:nvSpPr>
          <p:cNvPr id="15" name="Text 13"/>
          <p:cNvSpPr/>
          <p:nvPr/>
        </p:nvSpPr>
        <p:spPr>
          <a:xfrm>
            <a:off x="4542830" y="1911697"/>
            <a:ext cx="266700" cy="266700"/>
          </a:xfrm>
          <a:prstGeom prst="rect">
            <a:avLst/>
          </a:prstGeom>
          <a:solidFill>
            <a:srgbClr val="D97706"/>
          </a:solidFill>
          <a:ln/>
        </p:spPr>
        <p:txBody>
          <a:bodyPr wrap="square" rtlCol="0" anchor="ctr"/>
          <a:lstStyle/>
          <a:p>
            <a:pPr marL="0" indent="0">
              <a:buNone/>
            </a:pPr>
            <a:endParaRPr lang="en-US" dirty="0"/>
          </a:p>
        </p:txBody>
      </p:sp>
      <p:sp>
        <p:nvSpPr>
          <p:cNvPr id="16" name="Text 14"/>
          <p:cNvSpPr/>
          <p:nvPr/>
        </p:nvSpPr>
        <p:spPr>
          <a:xfrm>
            <a:off x="4923830" y="1964978"/>
            <a:ext cx="1801618" cy="159990"/>
          </a:xfrm>
          <a:prstGeom prst="rect">
            <a:avLst/>
          </a:prstGeom>
          <a:noFill/>
          <a:ln/>
        </p:spPr>
        <p:txBody>
          <a:bodyPr wrap="square" lIns="0" tIns="0" rIns="0" bIns="0" rtlCol="0" anchor="t"/>
          <a:lstStyle/>
          <a:p>
            <a:pPr marL="0" indent="0" algn="l">
              <a:lnSpc>
                <a:spcPts val="1260"/>
              </a:lnSpc>
              <a:buNone/>
            </a:pPr>
            <a:r>
              <a:rPr lang="en-US" sz="900" dirty="0">
                <a:solidFill>
                  <a:srgbClr val="1A1F2E"/>
                </a:solidFill>
                <a:latin typeface="Arial" pitchFamily="34" charset="0"/>
                <a:ea typeface="Arial" pitchFamily="34" charset="-122"/>
                <a:cs typeface="Arial" pitchFamily="34" charset="-120"/>
              </a:rPr>
              <a:t>Slash commands &amp; planning mode</a:t>
            </a:r>
            <a:endParaRPr lang="en-US" sz="900" dirty="0"/>
          </a:p>
        </p:txBody>
      </p:sp>
      <p:sp>
        <p:nvSpPr>
          <p:cNvPr id="17" name="Text 15"/>
          <p:cNvSpPr/>
          <p:nvPr/>
        </p:nvSpPr>
        <p:spPr>
          <a:xfrm>
            <a:off x="4542830" y="2273647"/>
            <a:ext cx="266700" cy="266700"/>
          </a:xfrm>
          <a:prstGeom prst="rect">
            <a:avLst/>
          </a:prstGeom>
          <a:solidFill>
            <a:srgbClr val="D97706"/>
          </a:solidFill>
          <a:ln/>
        </p:spPr>
        <p:txBody>
          <a:bodyPr wrap="square" rtlCol="0" anchor="ctr"/>
          <a:lstStyle/>
          <a:p>
            <a:pPr marL="0" indent="0">
              <a:buNone/>
            </a:pPr>
            <a:endParaRPr lang="en-US" dirty="0"/>
          </a:p>
        </p:txBody>
      </p:sp>
      <p:sp>
        <p:nvSpPr>
          <p:cNvPr id="18" name="Text 16"/>
          <p:cNvSpPr/>
          <p:nvPr/>
        </p:nvSpPr>
        <p:spPr>
          <a:xfrm>
            <a:off x="4923830" y="2326928"/>
            <a:ext cx="1451708" cy="159990"/>
          </a:xfrm>
          <a:prstGeom prst="rect">
            <a:avLst/>
          </a:prstGeom>
          <a:noFill/>
          <a:ln/>
        </p:spPr>
        <p:txBody>
          <a:bodyPr wrap="square" lIns="0" tIns="0" rIns="0" bIns="0" rtlCol="0" anchor="t"/>
          <a:lstStyle/>
          <a:p>
            <a:pPr marL="0" indent="0" algn="l">
              <a:lnSpc>
                <a:spcPts val="1260"/>
              </a:lnSpc>
              <a:buNone/>
            </a:pPr>
            <a:r>
              <a:rPr lang="en-US" sz="900" dirty="0">
                <a:solidFill>
                  <a:srgbClr val="1A1F2E"/>
                </a:solidFill>
                <a:latin typeface="Arial" pitchFamily="34" charset="0"/>
                <a:ea typeface="Arial" pitchFamily="34" charset="-122"/>
                <a:cs typeface="Arial" pitchFamily="34" charset="-120"/>
              </a:rPr>
              <a:t>Sub-agents for parallel work</a:t>
            </a:r>
            <a:endParaRPr lang="en-US" sz="900" dirty="0"/>
          </a:p>
        </p:txBody>
      </p:sp>
      <p:sp>
        <p:nvSpPr>
          <p:cNvPr id="19" name="Text 17"/>
          <p:cNvSpPr/>
          <p:nvPr/>
        </p:nvSpPr>
        <p:spPr>
          <a:xfrm>
            <a:off x="4542830" y="2635597"/>
            <a:ext cx="266700" cy="266700"/>
          </a:xfrm>
          <a:prstGeom prst="rect">
            <a:avLst/>
          </a:prstGeom>
          <a:solidFill>
            <a:srgbClr val="D97706"/>
          </a:solidFill>
          <a:ln/>
        </p:spPr>
        <p:txBody>
          <a:bodyPr wrap="square" rtlCol="0" anchor="ctr"/>
          <a:lstStyle/>
          <a:p>
            <a:pPr marL="0" indent="0">
              <a:buNone/>
            </a:pPr>
            <a:endParaRPr lang="en-US" dirty="0"/>
          </a:p>
        </p:txBody>
      </p:sp>
      <p:sp>
        <p:nvSpPr>
          <p:cNvPr id="20" name="Text 18"/>
          <p:cNvSpPr/>
          <p:nvPr/>
        </p:nvSpPr>
        <p:spPr>
          <a:xfrm>
            <a:off x="4923830" y="2688878"/>
            <a:ext cx="1462183" cy="159990"/>
          </a:xfrm>
          <a:prstGeom prst="rect">
            <a:avLst/>
          </a:prstGeom>
          <a:noFill/>
          <a:ln/>
        </p:spPr>
        <p:txBody>
          <a:bodyPr wrap="square" lIns="0" tIns="0" rIns="0" bIns="0" rtlCol="0" anchor="t"/>
          <a:lstStyle/>
          <a:p>
            <a:pPr marL="0" indent="0" algn="l">
              <a:lnSpc>
                <a:spcPts val="1260"/>
              </a:lnSpc>
              <a:buNone/>
            </a:pPr>
            <a:r>
              <a:rPr lang="en-US" sz="900" dirty="0">
                <a:solidFill>
                  <a:srgbClr val="1A1F2E"/>
                </a:solidFill>
                <a:latin typeface="Arial" pitchFamily="34" charset="0"/>
                <a:ea typeface="Arial" pitchFamily="34" charset="-122"/>
                <a:cs typeface="Arial" pitchFamily="34" charset="-120"/>
              </a:rPr>
              <a:t>Skills, MCP servers &amp; hooks</a:t>
            </a:r>
            <a:endParaRPr lang="en-US" sz="900" dirty="0"/>
          </a:p>
        </p:txBody>
      </p:sp>
      <p:sp>
        <p:nvSpPr>
          <p:cNvPr id="21" name="Text 19"/>
          <p:cNvSpPr/>
          <p:nvPr/>
        </p:nvSpPr>
        <p:spPr>
          <a:xfrm>
            <a:off x="4542830" y="2997547"/>
            <a:ext cx="266700" cy="266700"/>
          </a:xfrm>
          <a:prstGeom prst="rect">
            <a:avLst/>
          </a:prstGeom>
          <a:solidFill>
            <a:srgbClr val="D97706"/>
          </a:solidFill>
          <a:ln/>
        </p:spPr>
        <p:txBody>
          <a:bodyPr wrap="square" rtlCol="0" anchor="ctr"/>
          <a:lstStyle/>
          <a:p>
            <a:pPr marL="0" indent="0">
              <a:buNone/>
            </a:pPr>
            <a:endParaRPr lang="en-US" dirty="0"/>
          </a:p>
        </p:txBody>
      </p:sp>
      <p:sp>
        <p:nvSpPr>
          <p:cNvPr id="22" name="Text 20"/>
          <p:cNvSpPr/>
          <p:nvPr/>
        </p:nvSpPr>
        <p:spPr>
          <a:xfrm>
            <a:off x="4923830" y="3050828"/>
            <a:ext cx="1088743" cy="159990"/>
          </a:xfrm>
          <a:prstGeom prst="rect">
            <a:avLst/>
          </a:prstGeom>
          <a:noFill/>
          <a:ln/>
        </p:spPr>
        <p:txBody>
          <a:bodyPr wrap="square" lIns="0" tIns="0" rIns="0" bIns="0" rtlCol="0" anchor="t"/>
          <a:lstStyle/>
          <a:p>
            <a:pPr marL="0" indent="0" algn="l">
              <a:lnSpc>
                <a:spcPts val="1260"/>
              </a:lnSpc>
              <a:buNone/>
            </a:pPr>
            <a:r>
              <a:rPr lang="en-US" sz="900" dirty="0">
                <a:solidFill>
                  <a:srgbClr val="1A1F2E"/>
                </a:solidFill>
                <a:latin typeface="Arial" pitchFamily="34" charset="0"/>
                <a:ea typeface="Arial" pitchFamily="34" charset="-122"/>
                <a:cs typeface="Arial" pitchFamily="34" charset="-120"/>
              </a:rPr>
              <a:t>Plugins &amp; distribution</a:t>
            </a:r>
            <a:endParaRPr lang="en-US" sz="900" dirty="0"/>
          </a:p>
        </p:txBody>
      </p:sp>
      <p:sp>
        <p:nvSpPr>
          <p:cNvPr id="23" name="Text 21"/>
          <p:cNvSpPr/>
          <p:nvPr/>
        </p:nvSpPr>
        <p:spPr>
          <a:xfrm>
            <a:off x="4542830" y="3683347"/>
            <a:ext cx="4258270" cy="413296"/>
          </a:xfrm>
          <a:prstGeom prst="rect">
            <a:avLst/>
          </a:prstGeom>
          <a:solidFill>
            <a:srgbClr val="1A1F2E"/>
          </a:solidFill>
          <a:ln/>
        </p:spPr>
        <p:txBody>
          <a:bodyPr wrap="square" rtlCol="0" anchor="ctr"/>
          <a:lstStyle/>
          <a:p>
            <a:pPr marL="0" indent="0">
              <a:buNone/>
            </a:pPr>
            <a:endParaRPr lang="en-US" dirty="0"/>
          </a:p>
        </p:txBody>
      </p:sp>
      <p:sp>
        <p:nvSpPr>
          <p:cNvPr id="24" name="Text 22"/>
          <p:cNvSpPr/>
          <p:nvPr/>
        </p:nvSpPr>
        <p:spPr>
          <a:xfrm>
            <a:off x="4636264" y="3816697"/>
            <a:ext cx="4071402" cy="146596"/>
          </a:xfrm>
          <a:prstGeom prst="rect">
            <a:avLst/>
          </a:prstGeom>
          <a:noFill/>
          <a:ln/>
        </p:spPr>
        <p:txBody>
          <a:bodyPr wrap="square" lIns="0" tIns="0" rIns="0" bIns="0" rtlCol="0" anchor="t"/>
          <a:lstStyle/>
          <a:p>
            <a:pPr marL="0" indent="0" algn="ctr">
              <a:lnSpc>
                <a:spcPts val="1155"/>
              </a:lnSpc>
              <a:buNone/>
            </a:pPr>
            <a:r>
              <a:rPr lang="en-US" sz="825" b="1" dirty="0">
                <a:solidFill>
                  <a:srgbClr val="C9A227"/>
                </a:solidFill>
                <a:latin typeface="Arial" pitchFamily="34" charset="0"/>
                <a:ea typeface="Arial" pitchFamily="34" charset="-122"/>
                <a:cs typeface="Arial" pitchFamily="34" charset="-120"/>
              </a:rPr>
              <a:t>Part of the Voice-Driven AI Development series</a:t>
            </a:r>
            <a:endParaRPr lang="en-US" sz="825"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0" y="0"/>
            <a:ext cx="3419177" cy="5143500"/>
          </a:xfrm>
          <a:prstGeom prst="rect">
            <a:avLst/>
          </a:prstGeom>
          <a:solidFill>
            <a:srgbClr val="1A1F2E"/>
          </a:solidFill>
          <a:ln/>
        </p:spPr>
        <p:txBody>
          <a:bodyPr wrap="square" rtlCol="0" anchor="ctr"/>
          <a:lstStyle/>
          <a:p>
            <a:pPr marL="0" indent="0">
              <a:buNone/>
            </a:pPr>
            <a:endParaRPr lang="en-US" dirty="0"/>
          </a:p>
        </p:txBody>
      </p:sp>
      <p:sp>
        <p:nvSpPr>
          <p:cNvPr id="3" name="Text 1"/>
          <p:cNvSpPr/>
          <p:nvPr/>
        </p:nvSpPr>
        <p:spPr>
          <a:xfrm>
            <a:off x="266700" y="266700"/>
            <a:ext cx="1047452" cy="201811"/>
          </a:xfrm>
          <a:prstGeom prst="rect">
            <a:avLst/>
          </a:prstGeom>
          <a:solidFill>
            <a:srgbClr val="D97706"/>
          </a:solidFill>
          <a:ln/>
        </p:spPr>
        <p:txBody>
          <a:bodyPr wrap="square" rtlCol="0" anchor="ctr"/>
          <a:lstStyle/>
          <a:p>
            <a:pPr marL="0" indent="0">
              <a:buNone/>
            </a:pPr>
            <a:endParaRPr lang="en-US" dirty="0"/>
          </a:p>
        </p:txBody>
      </p:sp>
      <p:sp>
        <p:nvSpPr>
          <p:cNvPr id="4" name="Text 2"/>
          <p:cNvSpPr/>
          <p:nvPr/>
        </p:nvSpPr>
        <p:spPr>
          <a:xfrm>
            <a:off x="361950" y="314325"/>
            <a:ext cx="874091" cy="106561"/>
          </a:xfrm>
          <a:prstGeom prst="rect">
            <a:avLst/>
          </a:prstGeom>
          <a:noFill/>
          <a:ln/>
        </p:spPr>
        <p:txBody>
          <a:bodyPr wrap="square" lIns="0" tIns="0" rIns="0" bIns="0" rtlCol="0" anchor="t"/>
          <a:lstStyle/>
          <a:p>
            <a:pPr marL="0" indent="0" algn="l">
              <a:lnSpc>
                <a:spcPts val="840"/>
              </a:lnSpc>
              <a:buNone/>
            </a:pPr>
            <a:r>
              <a:rPr lang="en-US" sz="600" b="1" dirty="0">
                <a:solidFill>
                  <a:srgbClr val="1A1F2E"/>
                </a:solidFill>
                <a:latin typeface="Arial" pitchFamily="34" charset="0"/>
                <a:ea typeface="Arial" pitchFamily="34" charset="-122"/>
                <a:cs typeface="Arial" pitchFamily="34" charset="-120"/>
              </a:rPr>
              <a:t>GETTING STARTED</a:t>
            </a:r>
            <a:endParaRPr lang="en-US" sz="600" dirty="0"/>
          </a:p>
        </p:txBody>
      </p:sp>
      <p:sp>
        <p:nvSpPr>
          <p:cNvPr id="5" name="Text 3"/>
          <p:cNvSpPr/>
          <p:nvPr/>
        </p:nvSpPr>
        <p:spPr>
          <a:xfrm>
            <a:off x="266700" y="716161"/>
            <a:ext cx="1476756" cy="594122"/>
          </a:xfrm>
          <a:prstGeom prst="rect">
            <a:avLst/>
          </a:prstGeom>
          <a:noFill/>
          <a:ln/>
        </p:spPr>
        <p:txBody>
          <a:bodyPr wrap="square" lIns="0" tIns="0" rIns="0" bIns="0" rtlCol="0" anchor="t"/>
          <a:lstStyle/>
          <a:p>
            <a:pPr marL="0" indent="0" algn="l">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Installation</a:t>
            </a:r>
            <a:endParaRPr lang="en-US" sz="1950" dirty="0"/>
          </a:p>
          <a:p>
            <a:pPr marL="0" indent="0" algn="l">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&amp; Setup</a:t>
            </a:r>
            <a:endParaRPr lang="en-US" sz="1950" dirty="0"/>
          </a:p>
        </p:txBody>
      </p:sp>
      <p:sp>
        <p:nvSpPr>
          <p:cNvPr id="6" name="Text 4"/>
          <p:cNvSpPr/>
          <p:nvPr/>
        </p:nvSpPr>
        <p:spPr>
          <a:xfrm>
            <a:off x="266700" y="1557933"/>
            <a:ext cx="381000" cy="19050"/>
          </a:xfrm>
          <a:prstGeom prst="rect">
            <a:avLst/>
          </a:prstGeom>
          <a:solidFill>
            <a:srgbClr val="C9A227"/>
          </a:solidFill>
          <a:ln/>
        </p:spPr>
        <p:txBody>
          <a:bodyPr wrap="square" rtlCol="0" anchor="ctr"/>
          <a:lstStyle/>
          <a:p>
            <a:pPr marL="0" indent="0">
              <a:buNone/>
            </a:pPr>
            <a:endParaRPr lang="en-US" dirty="0"/>
          </a:p>
        </p:txBody>
      </p:sp>
      <p:sp>
        <p:nvSpPr>
          <p:cNvPr id="7" name="Text 5"/>
          <p:cNvSpPr/>
          <p:nvPr/>
        </p:nvSpPr>
        <p:spPr>
          <a:xfrm>
            <a:off x="266700" y="1862733"/>
            <a:ext cx="2885777" cy="828675"/>
          </a:xfrm>
          <a:prstGeom prst="rect">
            <a:avLst/>
          </a:prstGeom>
          <a:solidFill>
            <a:srgbClr val="D97706">
              <a:alpha val="15000"/>
            </a:srgbClr>
          </a:solidFill>
          <a:ln/>
        </p:spPr>
        <p:txBody>
          <a:bodyPr wrap="square" rtlCol="0" anchor="ctr"/>
          <a:lstStyle/>
          <a:p>
            <a:pPr marL="0" indent="0">
              <a:buNone/>
            </a:pPr>
            <a:endParaRPr lang="en-US" dirty="0"/>
          </a:p>
        </p:txBody>
      </p:sp>
      <p:sp>
        <p:nvSpPr>
          <p:cNvPr id="8" name="Shape 6"/>
          <p:cNvSpPr/>
          <p:nvPr/>
        </p:nvSpPr>
        <p:spPr>
          <a:xfrm>
            <a:off x="280988" y="1862733"/>
            <a:ext cx="0" cy="828675"/>
          </a:xfrm>
          <a:prstGeom prst="line">
            <a:avLst/>
          </a:prstGeom>
          <a:noFill/>
          <a:ln w="28575">
            <a:solidFill>
              <a:srgbClr val="D97706"/>
            </a:solidFill>
            <a:prstDash val="solid"/>
          </a:ln>
        </p:spPr>
        <p:txBody>
          <a:bodyPr/>
          <a:lstStyle/>
          <a:p>
            <a:endParaRPr lang="en-US"/>
          </a:p>
        </p:txBody>
      </p:sp>
      <p:sp>
        <p:nvSpPr>
          <p:cNvPr id="9" name="Text 7"/>
          <p:cNvSpPr/>
          <p:nvPr/>
        </p:nvSpPr>
        <p:spPr>
          <a:xfrm>
            <a:off x="409575" y="1977033"/>
            <a:ext cx="2681174"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FBBF24"/>
                </a:solidFill>
                <a:latin typeface="Arial" pitchFamily="34" charset="0"/>
                <a:ea typeface="Arial" pitchFamily="34" charset="-122"/>
                <a:cs typeface="Arial" pitchFamily="34" charset="-120"/>
              </a:rPr>
              <a:t>PREREQUISITES</a:t>
            </a:r>
            <a:endParaRPr lang="en-US" sz="750" dirty="0"/>
          </a:p>
        </p:txBody>
      </p:sp>
      <p:sp>
        <p:nvSpPr>
          <p:cNvPr id="10" name="Text 8"/>
          <p:cNvSpPr/>
          <p:nvPr/>
        </p:nvSpPr>
        <p:spPr>
          <a:xfrm>
            <a:off x="409575" y="2148483"/>
            <a:ext cx="2681174" cy="428625"/>
          </a:xfrm>
          <a:prstGeom prst="rect">
            <a:avLst/>
          </a:prstGeom>
          <a:noFill/>
          <a:ln/>
        </p:spPr>
        <p:txBody>
          <a:bodyPr wrap="square" lIns="0" tIns="0" rIns="0" bIns="0" rtlCol="0" anchor="t"/>
          <a:lstStyle/>
          <a:p>
            <a:pPr marL="0" indent="0" algn="l">
              <a:lnSpc>
                <a:spcPts val="1125"/>
              </a:lnSpc>
              <a:buNone/>
            </a:pPr>
            <a:r>
              <a:rPr lang="en-US" sz="750" dirty="0">
                <a:solidFill>
                  <a:srgbClr val="FFFFFF">
                    <a:alpha val="80000"/>
                  </a:srgbClr>
                </a:solidFill>
                <a:latin typeface="Arial" pitchFamily="34" charset="0"/>
                <a:ea typeface="Arial" pitchFamily="34" charset="-122"/>
                <a:cs typeface="Arial" pitchFamily="34" charset="-120"/>
              </a:rPr>
              <a:t>macOS, Linux, or Windows</a:t>
            </a:r>
            <a:endParaRPr lang="en-US" sz="750" dirty="0"/>
          </a:p>
          <a:p>
            <a:pPr marL="0" indent="0" algn="l">
              <a:lnSpc>
                <a:spcPts val="1125"/>
              </a:lnSpc>
              <a:buNone/>
            </a:pPr>
            <a:r>
              <a:rPr lang="en-US" sz="750" dirty="0">
                <a:solidFill>
                  <a:srgbClr val="FFFFFF">
                    <a:alpha val="80000"/>
                  </a:srgbClr>
                </a:solidFill>
                <a:latin typeface="Arial" pitchFamily="34" charset="0"/>
                <a:ea typeface="Arial" pitchFamily="34" charset="-122"/>
                <a:cs typeface="Arial" pitchFamily="34" charset="-120"/>
              </a:rPr>
              <a:t>Anthropic API key or</a:t>
            </a:r>
            <a:endParaRPr lang="en-US" sz="750" dirty="0"/>
          </a:p>
          <a:p>
            <a:pPr marL="0" indent="0" algn="l">
              <a:lnSpc>
                <a:spcPts val="1125"/>
              </a:lnSpc>
              <a:buNone/>
            </a:pPr>
            <a:r>
              <a:rPr lang="en-US" sz="750" dirty="0">
                <a:solidFill>
                  <a:srgbClr val="FFFFFF">
                    <a:alpha val="80000"/>
                  </a:srgbClr>
                </a:solidFill>
                <a:latin typeface="Arial" pitchFamily="34" charset="0"/>
                <a:ea typeface="Arial" pitchFamily="34" charset="-122"/>
                <a:cs typeface="Arial" pitchFamily="34" charset="-120"/>
              </a:rPr>
              <a:t>Claude Pro/Max subscription</a:t>
            </a:r>
            <a:endParaRPr lang="en-US" sz="750" dirty="0"/>
          </a:p>
        </p:txBody>
      </p:sp>
      <p:sp>
        <p:nvSpPr>
          <p:cNvPr id="11" name="Text 9"/>
          <p:cNvSpPr/>
          <p:nvPr/>
        </p:nvSpPr>
        <p:spPr>
          <a:xfrm>
            <a:off x="266700" y="2977158"/>
            <a:ext cx="2885777" cy="933450"/>
          </a:xfrm>
          <a:prstGeom prst="rect">
            <a:avLst/>
          </a:prstGeom>
          <a:solidFill>
            <a:srgbClr val="FFFFFF">
              <a:alpha val="5000"/>
            </a:srgbClr>
          </a:solidFill>
          <a:ln/>
        </p:spPr>
        <p:txBody>
          <a:bodyPr wrap="square" rtlCol="0" anchor="ctr"/>
          <a:lstStyle/>
          <a:p>
            <a:pPr marL="0" indent="0">
              <a:buNone/>
            </a:pPr>
            <a:endParaRPr lang="en-US" dirty="0"/>
          </a:p>
        </p:txBody>
      </p:sp>
      <p:sp>
        <p:nvSpPr>
          <p:cNvPr id="12" name="Text 10"/>
          <p:cNvSpPr/>
          <p:nvPr/>
        </p:nvSpPr>
        <p:spPr>
          <a:xfrm>
            <a:off x="381000" y="3091458"/>
            <a:ext cx="2710321" cy="133350"/>
          </a:xfrm>
          <a:prstGeom prst="rect">
            <a:avLst/>
          </a:prstGeom>
          <a:noFill/>
          <a:ln/>
        </p:spPr>
        <p:txBody>
          <a:bodyPr wrap="square" lIns="0" tIns="0" rIns="0" bIns="0" rtlCol="0" anchor="t"/>
          <a:lstStyle/>
          <a:p>
            <a:pPr marL="0" indent="0" algn="l">
              <a:lnSpc>
                <a:spcPts val="1050"/>
              </a:lnSpc>
              <a:spcAft>
                <a:spcPts val="450"/>
              </a:spcAft>
              <a:buNone/>
            </a:pPr>
            <a:r>
              <a:rPr lang="en-US" sz="750" b="1" dirty="0">
                <a:solidFill>
                  <a:srgbClr val="FFFFFF"/>
                </a:solidFill>
                <a:latin typeface="Arial" pitchFamily="34" charset="0"/>
                <a:ea typeface="Arial" pitchFamily="34" charset="-122"/>
                <a:cs typeface="Arial" pitchFamily="34" charset="-120"/>
              </a:rPr>
              <a:t>SUPPORTED PLATFORMS</a:t>
            </a:r>
            <a:endParaRPr lang="en-US" sz="750" dirty="0"/>
          </a:p>
        </p:txBody>
      </p:sp>
      <p:sp>
        <p:nvSpPr>
          <p:cNvPr id="13" name="Text 11"/>
          <p:cNvSpPr/>
          <p:nvPr/>
        </p:nvSpPr>
        <p:spPr>
          <a:xfrm>
            <a:off x="381000" y="3281958"/>
            <a:ext cx="2710321" cy="514350"/>
          </a:xfrm>
          <a:prstGeom prst="rect">
            <a:avLst/>
          </a:prstGeom>
          <a:noFill/>
          <a:ln/>
        </p:spPr>
        <p:txBody>
          <a:bodyPr wrap="square" lIns="0" tIns="0" rIns="0" bIns="0" rtlCol="0" anchor="t"/>
          <a:lstStyle/>
          <a:p>
            <a:pPr marL="0" indent="0" algn="l">
              <a:lnSpc>
                <a:spcPts val="1013"/>
              </a:lnSpc>
              <a:buNone/>
            </a:pPr>
            <a:r>
              <a:rPr lang="en-US" sz="675" dirty="0">
                <a:solidFill>
                  <a:srgbClr val="FFFFFF">
                    <a:alpha val="60000"/>
                  </a:srgbClr>
                </a:solidFill>
                <a:latin typeface="Arial" pitchFamily="34" charset="0"/>
                <a:ea typeface="Arial" pitchFamily="34" charset="-122"/>
                <a:cs typeface="Arial" pitchFamily="34" charset="-120"/>
              </a:rPr>
              <a:t>Terminal (standalone CLI)</a:t>
            </a:r>
            <a:endParaRPr lang="en-US" sz="675" dirty="0"/>
          </a:p>
          <a:p>
            <a:pPr marL="0" indent="0" algn="l">
              <a:lnSpc>
                <a:spcPts val="1013"/>
              </a:lnSpc>
              <a:buNone/>
            </a:pPr>
            <a:r>
              <a:rPr lang="en-US" sz="675" dirty="0">
                <a:solidFill>
                  <a:srgbClr val="FFFFFF">
                    <a:alpha val="60000"/>
                  </a:srgbClr>
                </a:solidFill>
                <a:latin typeface="Arial" pitchFamily="34" charset="0"/>
                <a:ea typeface="Arial" pitchFamily="34" charset="-122"/>
                <a:cs typeface="Arial" pitchFamily="34" charset="-120"/>
              </a:rPr>
              <a:t> VS Code extension</a:t>
            </a:r>
            <a:endParaRPr lang="en-US" sz="675" dirty="0"/>
          </a:p>
          <a:p>
            <a:pPr marL="0" indent="0" algn="l">
              <a:lnSpc>
                <a:spcPts val="1013"/>
              </a:lnSpc>
              <a:buNone/>
            </a:pPr>
            <a:r>
              <a:rPr lang="en-US" sz="675" dirty="0">
                <a:solidFill>
                  <a:srgbClr val="FFFFFF">
                    <a:alpha val="60000"/>
                  </a:srgbClr>
                </a:solidFill>
                <a:latin typeface="Arial" pitchFamily="34" charset="0"/>
                <a:ea typeface="Arial" pitchFamily="34" charset="-122"/>
                <a:cs typeface="Arial" pitchFamily="34" charset="-120"/>
              </a:rPr>
              <a:t> JetBrains IDEs</a:t>
            </a:r>
            <a:endParaRPr lang="en-US" sz="675" dirty="0"/>
          </a:p>
          <a:p>
            <a:pPr marL="0" indent="0" algn="l">
              <a:lnSpc>
                <a:spcPts val="1013"/>
              </a:lnSpc>
              <a:buNone/>
            </a:pPr>
            <a:r>
              <a:rPr lang="en-US" sz="675" dirty="0">
                <a:solidFill>
                  <a:srgbClr val="FFFFFF">
                    <a:alpha val="60000"/>
                  </a:srgbClr>
                </a:solidFill>
                <a:latin typeface="Arial" pitchFamily="34" charset="0"/>
                <a:ea typeface="Arial" pitchFamily="34" charset="-122"/>
                <a:cs typeface="Arial" pitchFamily="34" charset="-120"/>
              </a:rPr>
              <a:t> Any terminal emulator</a:t>
            </a:r>
            <a:endParaRPr lang="en-US" sz="675" dirty="0"/>
          </a:p>
        </p:txBody>
      </p:sp>
      <p:sp>
        <p:nvSpPr>
          <p:cNvPr id="14" name="Text 12"/>
          <p:cNvSpPr/>
          <p:nvPr/>
        </p:nvSpPr>
        <p:spPr>
          <a:xfrm>
            <a:off x="266700" y="4566345"/>
            <a:ext cx="2885777" cy="310455"/>
          </a:xfrm>
          <a:prstGeom prst="rect">
            <a:avLst/>
          </a:prstGeom>
          <a:solidFill>
            <a:srgbClr val="C9A227"/>
          </a:solidFill>
          <a:ln/>
        </p:spPr>
        <p:txBody>
          <a:bodyPr wrap="square" rtlCol="0" anchor="ctr"/>
          <a:lstStyle/>
          <a:p>
            <a:pPr marL="0" indent="0">
              <a:buNone/>
            </a:pPr>
            <a:endParaRPr lang="en-US" dirty="0"/>
          </a:p>
        </p:txBody>
      </p:sp>
      <p:sp>
        <p:nvSpPr>
          <p:cNvPr id="15" name="Text 13"/>
          <p:cNvSpPr/>
          <p:nvPr/>
        </p:nvSpPr>
        <p:spPr>
          <a:xfrm>
            <a:off x="334997" y="4661595"/>
            <a:ext cx="2749183" cy="119955"/>
          </a:xfrm>
          <a:prstGeom prst="rect">
            <a:avLst/>
          </a:prstGeom>
          <a:noFill/>
          <a:ln/>
        </p:spPr>
        <p:txBody>
          <a:bodyPr wrap="square" lIns="0" tIns="0" rIns="0" bIns="0" rtlCol="0" anchor="t"/>
          <a:lstStyle/>
          <a:p>
            <a:pPr marL="0" indent="0" algn="ctr">
              <a:lnSpc>
                <a:spcPts val="945"/>
              </a:lnSpc>
              <a:buNone/>
            </a:pPr>
            <a:r>
              <a:rPr lang="en-US" sz="675" b="1" dirty="0">
                <a:solidFill>
                  <a:srgbClr val="1A1F2E"/>
                </a:solidFill>
                <a:latin typeface="Arial" pitchFamily="34" charset="0"/>
                <a:ea typeface="Arial" pitchFamily="34" charset="-122"/>
                <a:cs typeface="Arial" pitchFamily="34" charset="-120"/>
              </a:rPr>
              <a:t>5-minute setup process</a:t>
            </a:r>
            <a:endParaRPr lang="en-US" sz="675" dirty="0"/>
          </a:p>
        </p:txBody>
      </p:sp>
      <p:sp>
        <p:nvSpPr>
          <p:cNvPr id="16" name="Text 14"/>
          <p:cNvSpPr/>
          <p:nvPr/>
        </p:nvSpPr>
        <p:spPr>
          <a:xfrm>
            <a:off x="3571577" y="0"/>
            <a:ext cx="5572423" cy="5143500"/>
          </a:xfrm>
          <a:prstGeom prst="rect">
            <a:avLst/>
          </a:prstGeom>
          <a:solidFill>
            <a:srgbClr val="F7F8FA"/>
          </a:solidFill>
          <a:ln/>
        </p:spPr>
        <p:txBody>
          <a:bodyPr wrap="square" rtlCol="0" anchor="ctr"/>
          <a:lstStyle/>
          <a:p>
            <a:pPr marL="0" indent="0">
              <a:buNone/>
            </a:pPr>
            <a:endParaRPr lang="en-US" dirty="0"/>
          </a:p>
        </p:txBody>
      </p:sp>
      <p:sp>
        <p:nvSpPr>
          <p:cNvPr id="17" name="Text 15"/>
          <p:cNvSpPr/>
          <p:nvPr/>
        </p:nvSpPr>
        <p:spPr>
          <a:xfrm>
            <a:off x="3838277" y="792212"/>
            <a:ext cx="5139803" cy="159990"/>
          </a:xfrm>
          <a:prstGeom prst="rect">
            <a:avLst/>
          </a:prstGeom>
          <a:noFill/>
          <a:ln/>
        </p:spPr>
        <p:txBody>
          <a:bodyPr wrap="square" lIns="0" tIns="0" rIns="0" bIns="0" rtlCol="0" anchor="t"/>
          <a:lstStyle/>
          <a:p>
            <a:pPr marL="0" indent="0" algn="l">
              <a:lnSpc>
                <a:spcPts val="1260"/>
              </a:lnSpc>
              <a:spcAft>
                <a:spcPts val="900"/>
              </a:spcAft>
              <a:buNone/>
            </a:pPr>
            <a:r>
              <a:rPr lang="en-US" sz="900" b="1" dirty="0">
                <a:solidFill>
                  <a:srgbClr val="1A1F2E"/>
                </a:solidFill>
                <a:latin typeface="Arial" pitchFamily="34" charset="0"/>
                <a:ea typeface="Arial" pitchFamily="34" charset="-122"/>
                <a:cs typeface="Arial" pitchFamily="34" charset="-120"/>
              </a:rPr>
              <a:t>INSTALLATION STEPS</a:t>
            </a:r>
            <a:endParaRPr lang="en-US" sz="900" dirty="0"/>
          </a:p>
        </p:txBody>
      </p:sp>
      <p:sp>
        <p:nvSpPr>
          <p:cNvPr id="18" name="Text 16"/>
          <p:cNvSpPr/>
          <p:nvPr/>
        </p:nvSpPr>
        <p:spPr>
          <a:xfrm>
            <a:off x="3838277" y="1218902"/>
            <a:ext cx="5039023" cy="1300758"/>
          </a:xfrm>
          <a:prstGeom prst="rect">
            <a:avLst/>
          </a:prstGeom>
          <a:solidFill>
            <a:srgbClr val="1A1F2E"/>
          </a:solidFill>
          <a:ln/>
        </p:spPr>
        <p:txBody>
          <a:bodyPr wrap="square" rtlCol="0" anchor="ctr"/>
          <a:lstStyle/>
          <a:p>
            <a:pPr marL="0" indent="0">
              <a:buNone/>
            </a:pPr>
            <a:endParaRPr lang="en-US" dirty="0"/>
          </a:p>
        </p:txBody>
      </p:sp>
      <p:sp>
        <p:nvSpPr>
          <p:cNvPr id="19" name="Text 17"/>
          <p:cNvSpPr/>
          <p:nvPr/>
        </p:nvSpPr>
        <p:spPr>
          <a:xfrm>
            <a:off x="3971627" y="1352252"/>
            <a:ext cx="4867769" cy="119955"/>
          </a:xfrm>
          <a:prstGeom prst="rect">
            <a:avLst/>
          </a:prstGeom>
          <a:noFill/>
          <a:ln/>
        </p:spPr>
        <p:txBody>
          <a:bodyPr wrap="square" lIns="0" tIns="0" rIns="0" bIns="0" rtlCol="0" anchor="t"/>
          <a:lstStyle/>
          <a:p>
            <a:pPr marL="0" indent="0" algn="l">
              <a:lnSpc>
                <a:spcPts val="945"/>
              </a:lnSpc>
              <a:spcAft>
                <a:spcPts val="600"/>
              </a:spcAft>
              <a:buNone/>
            </a:pPr>
            <a:r>
              <a:rPr lang="en-US" sz="675" dirty="0">
                <a:solidFill>
                  <a:srgbClr val="C9A227"/>
                </a:solidFill>
                <a:latin typeface="Arial" pitchFamily="34" charset="0"/>
                <a:ea typeface="Arial" pitchFamily="34" charset="-122"/>
                <a:cs typeface="Arial" pitchFamily="34" charset="-120"/>
              </a:rPr>
              <a:t>MACOS / LINUX</a:t>
            </a:r>
            <a:endParaRPr lang="en-US" sz="675" dirty="0"/>
          </a:p>
        </p:txBody>
      </p:sp>
      <p:sp>
        <p:nvSpPr>
          <p:cNvPr id="20" name="Text 18"/>
          <p:cNvSpPr/>
          <p:nvPr/>
        </p:nvSpPr>
        <p:spPr>
          <a:xfrm>
            <a:off x="3971627" y="1548408"/>
            <a:ext cx="4867769" cy="837902"/>
          </a:xfrm>
          <a:prstGeom prst="rect">
            <a:avLst/>
          </a:prstGeom>
          <a:noFill/>
          <a:ln/>
        </p:spPr>
        <p:txBody>
          <a:bodyPr wrap="square" lIns="0" tIns="0" rIns="0" bIns="0" rtlCol="0" anchor="t"/>
          <a:lstStyle/>
          <a:p>
            <a:pPr marL="0" indent="0" algn="l">
              <a:lnSpc>
                <a:spcPts val="1320"/>
              </a:lnSpc>
              <a:buNone/>
            </a:pPr>
            <a:r>
              <a:rPr lang="en-US" sz="825" dirty="0">
                <a:solidFill>
                  <a:srgbClr val="9CA3AF">
                    <a:alpha val="90000"/>
                  </a:srgbClr>
                </a:solidFill>
                <a:latin typeface="Arial" pitchFamily="34" charset="0"/>
                <a:ea typeface="Arial" pitchFamily="34" charset="-122"/>
                <a:cs typeface="Arial" pitchFamily="34" charset="-120"/>
              </a:rPr>
              <a:t># Install via npm (Node.js 18+ required)</a:t>
            </a:r>
            <a:endParaRPr lang="en-US" sz="825" dirty="0"/>
          </a:p>
          <a:p>
            <a:pPr marL="0" indent="0" algn="l">
              <a:lnSpc>
                <a:spcPts val="1320"/>
              </a:lnSpc>
              <a:buNone/>
            </a:pPr>
            <a:r>
              <a:rPr lang="en-US" sz="825" dirty="0">
                <a:solidFill>
                  <a:srgbClr val="FFFFFF">
                    <a:alpha val="90000"/>
                  </a:srgbClr>
                </a:solidFill>
                <a:latin typeface="Arial" pitchFamily="34" charset="0"/>
                <a:ea typeface="Arial" pitchFamily="34" charset="-122"/>
                <a:cs typeface="Arial" pitchFamily="34" charset="-120"/>
              </a:rPr>
              <a:t> npm install -g @anthropic-ai/claude-code</a:t>
            </a:r>
            <a:endParaRPr lang="en-US" sz="825" dirty="0"/>
          </a:p>
          <a:p>
            <a:pPr marL="0" indent="0" algn="l">
              <a:lnSpc>
                <a:spcPts val="1320"/>
              </a:lnSpc>
              <a:buNone/>
            </a:pPr>
            <a:endParaRPr lang="en-US" sz="825" dirty="0"/>
          </a:p>
          <a:p>
            <a:pPr marL="0" indent="0" algn="l">
              <a:lnSpc>
                <a:spcPts val="1320"/>
              </a:lnSpc>
              <a:buNone/>
            </a:pPr>
            <a:r>
              <a:rPr lang="en-US" sz="825" dirty="0">
                <a:solidFill>
                  <a:srgbClr val="FFFFFF">
                    <a:alpha val="90000"/>
                  </a:srgbClr>
                </a:solidFill>
                <a:latin typeface="Arial" pitchFamily="34" charset="0"/>
                <a:ea typeface="Arial" pitchFamily="34" charset="-122"/>
                <a:cs typeface="Arial" pitchFamily="34" charset="-120"/>
              </a:rPr>
              <a:t> </a:t>
            </a:r>
            <a:endParaRPr lang="en-US" sz="825" dirty="0"/>
          </a:p>
          <a:p>
            <a:pPr marL="0" indent="0" algn="l">
              <a:lnSpc>
                <a:spcPts val="1320"/>
              </a:lnSpc>
              <a:buNone/>
            </a:pPr>
            <a:r>
              <a:rPr lang="en-US" sz="825" dirty="0">
                <a:solidFill>
                  <a:srgbClr val="9CA3AF">
                    <a:alpha val="90000"/>
                  </a:srgbClr>
                </a:solidFill>
                <a:latin typeface="Arial" pitchFamily="34" charset="0"/>
                <a:ea typeface="Arial" pitchFamily="34" charset="-122"/>
                <a:cs typeface="Arial" pitchFamily="34" charset="-120"/>
              </a:rPr>
              <a:t># Or use the official installer</a:t>
            </a:r>
            <a:endParaRPr lang="en-US" sz="825" dirty="0"/>
          </a:p>
          <a:p>
            <a:pPr marL="0" indent="0" algn="l">
              <a:lnSpc>
                <a:spcPts val="1320"/>
              </a:lnSpc>
              <a:buNone/>
            </a:pPr>
            <a:r>
              <a:rPr lang="en-US" sz="825" dirty="0">
                <a:solidFill>
                  <a:srgbClr val="FFFFFF">
                    <a:alpha val="90000"/>
                  </a:srgbClr>
                </a:solidFill>
                <a:latin typeface="Arial" pitchFamily="34" charset="0"/>
                <a:ea typeface="Arial" pitchFamily="34" charset="-122"/>
                <a:cs typeface="Arial" pitchFamily="34" charset="-120"/>
              </a:rPr>
              <a:t> curl -fsSL https://claude.ai/install.sh | sh</a:t>
            </a:r>
            <a:endParaRPr lang="en-US" sz="825" dirty="0"/>
          </a:p>
        </p:txBody>
      </p:sp>
      <p:sp>
        <p:nvSpPr>
          <p:cNvPr id="21" name="Text 19"/>
          <p:cNvSpPr/>
          <p:nvPr/>
        </p:nvSpPr>
        <p:spPr>
          <a:xfrm>
            <a:off x="3838277" y="2786360"/>
            <a:ext cx="5039023" cy="842963"/>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22" name="Text 20"/>
          <p:cNvSpPr/>
          <p:nvPr/>
        </p:nvSpPr>
        <p:spPr>
          <a:xfrm>
            <a:off x="3962102" y="2910185"/>
            <a:ext cx="4887200" cy="133350"/>
          </a:xfrm>
          <a:prstGeom prst="rect">
            <a:avLst/>
          </a:prstGeom>
          <a:noFill/>
          <a:ln/>
        </p:spPr>
        <p:txBody>
          <a:bodyPr wrap="square" lIns="0" tIns="0" rIns="0" bIns="0" rtlCol="0" anchor="t"/>
          <a:lstStyle/>
          <a:p>
            <a:pPr marL="0" indent="0" algn="l">
              <a:lnSpc>
                <a:spcPts val="1050"/>
              </a:lnSpc>
              <a:spcAft>
                <a:spcPts val="600"/>
              </a:spcAft>
              <a:buNone/>
            </a:pPr>
            <a:r>
              <a:rPr lang="en-US" sz="750" b="1" dirty="0">
                <a:solidFill>
                  <a:srgbClr val="1A1F2E"/>
                </a:solidFill>
                <a:latin typeface="Arial" pitchFamily="34" charset="0"/>
                <a:ea typeface="Arial" pitchFamily="34" charset="-122"/>
                <a:cs typeface="Arial" pitchFamily="34" charset="-120"/>
              </a:rPr>
              <a:t>FIRST RUN</a:t>
            </a:r>
            <a:endParaRPr lang="en-US" sz="750" dirty="0"/>
          </a:p>
        </p:txBody>
      </p:sp>
      <p:sp>
        <p:nvSpPr>
          <p:cNvPr id="23" name="Text 21"/>
          <p:cNvSpPr/>
          <p:nvPr/>
        </p:nvSpPr>
        <p:spPr>
          <a:xfrm>
            <a:off x="3962102" y="3119735"/>
            <a:ext cx="2385307" cy="385763"/>
          </a:xfrm>
          <a:prstGeom prst="rect">
            <a:avLst/>
          </a:prstGeom>
          <a:noFill/>
          <a:ln/>
        </p:spPr>
        <p:txBody>
          <a:bodyPr wrap="square" lIns="0" tIns="0" rIns="0" bIns="0" rtlCol="0" anchor="t"/>
          <a:lstStyle/>
          <a:p>
            <a:pPr marL="0" indent="0" algn="l">
              <a:lnSpc>
                <a:spcPts val="1013"/>
              </a:lnSpc>
              <a:buNone/>
            </a:pPr>
            <a:r>
              <a:rPr lang="en-US" sz="675" b="1" dirty="0">
                <a:solidFill>
                  <a:srgbClr val="1A1F2E"/>
                </a:solidFill>
                <a:latin typeface="Arial" pitchFamily="34" charset="0"/>
                <a:ea typeface="Arial" pitchFamily="34" charset="-122"/>
                <a:cs typeface="Arial" pitchFamily="34" charset="-120"/>
              </a:rPr>
              <a:t>1.</a:t>
            </a:r>
            <a:r>
              <a:rPr lang="en-US" sz="675" dirty="0">
                <a:solidFill>
                  <a:srgbClr val="6B7280"/>
                </a:solidFill>
                <a:latin typeface="Arial" pitchFamily="34" charset="0"/>
                <a:ea typeface="Arial" pitchFamily="34" charset="-122"/>
                <a:cs typeface="Arial" pitchFamily="34" charset="-120"/>
              </a:rPr>
              <a:t> Run claude in terminal</a:t>
            </a:r>
            <a:endParaRPr lang="en-US" sz="675" dirty="0"/>
          </a:p>
          <a:p>
            <a:pPr marL="0" indent="0" algn="l">
              <a:lnSpc>
                <a:spcPts val="1013"/>
              </a:lnSpc>
              <a:buNone/>
            </a:pPr>
            <a:r>
              <a:rPr lang="en-US" sz="675" dirty="0">
                <a:solidFill>
                  <a:srgbClr val="6B7280"/>
                </a:solidFill>
                <a:latin typeface="Arial" pitchFamily="34" charset="0"/>
                <a:ea typeface="Arial" pitchFamily="34" charset="-122"/>
                <a:cs typeface="Arial" pitchFamily="34" charset="-120"/>
              </a:rPr>
              <a:t> </a:t>
            </a:r>
            <a:endParaRPr lang="en-US" sz="675" dirty="0"/>
          </a:p>
          <a:p>
            <a:pPr marL="0" indent="0" algn="l">
              <a:lnSpc>
                <a:spcPts val="1013"/>
              </a:lnSpc>
              <a:buNone/>
            </a:pPr>
            <a:r>
              <a:rPr lang="en-US" sz="675" b="1" dirty="0">
                <a:solidFill>
                  <a:srgbClr val="1A1F2E"/>
                </a:solidFill>
                <a:latin typeface="Arial" pitchFamily="34" charset="0"/>
                <a:ea typeface="Arial" pitchFamily="34" charset="-122"/>
                <a:cs typeface="Arial" pitchFamily="34" charset="-120"/>
              </a:rPr>
              <a:t>2.</a:t>
            </a:r>
            <a:r>
              <a:rPr lang="en-US" sz="675" dirty="0">
                <a:solidFill>
                  <a:srgbClr val="6B7280"/>
                </a:solidFill>
                <a:latin typeface="Arial" pitchFamily="34" charset="0"/>
                <a:ea typeface="Arial" pitchFamily="34" charset="-122"/>
                <a:cs typeface="Arial" pitchFamily="34" charset="-120"/>
              </a:rPr>
              <a:t> Authenticate via browser</a:t>
            </a:r>
            <a:endParaRPr lang="en-US" sz="675" dirty="0"/>
          </a:p>
          <a:p>
            <a:pPr marL="0" indent="0" algn="l">
              <a:lnSpc>
                <a:spcPts val="1013"/>
              </a:lnSpc>
              <a:buNone/>
            </a:pPr>
            <a:r>
              <a:rPr lang="en-US" sz="675" dirty="0">
                <a:solidFill>
                  <a:srgbClr val="6B7280"/>
                </a:solidFill>
                <a:latin typeface="Arial" pitchFamily="34" charset="0"/>
                <a:ea typeface="Arial" pitchFamily="34" charset="-122"/>
                <a:cs typeface="Arial" pitchFamily="34" charset="-120"/>
              </a:rPr>
              <a:t> </a:t>
            </a:r>
            <a:endParaRPr lang="en-US" sz="675" dirty="0"/>
          </a:p>
          <a:p>
            <a:pPr marL="0" indent="0" algn="l">
              <a:lnSpc>
                <a:spcPts val="1013"/>
              </a:lnSpc>
              <a:buNone/>
            </a:pPr>
            <a:r>
              <a:rPr lang="en-US" sz="675" b="1" dirty="0">
                <a:solidFill>
                  <a:srgbClr val="1A1F2E"/>
                </a:solidFill>
                <a:latin typeface="Arial" pitchFamily="34" charset="0"/>
                <a:ea typeface="Arial" pitchFamily="34" charset="-122"/>
                <a:cs typeface="Arial" pitchFamily="34" charset="-120"/>
              </a:rPr>
              <a:t>3.</a:t>
            </a:r>
            <a:r>
              <a:rPr lang="en-US" sz="675" dirty="0">
                <a:solidFill>
                  <a:srgbClr val="6B7280"/>
                </a:solidFill>
                <a:latin typeface="Arial" pitchFamily="34" charset="0"/>
                <a:ea typeface="Arial" pitchFamily="34" charset="-122"/>
                <a:cs typeface="Arial" pitchFamily="34" charset="-120"/>
              </a:rPr>
              <a:t> Select your model</a:t>
            </a:r>
            <a:endParaRPr lang="en-US" sz="675" dirty="0"/>
          </a:p>
        </p:txBody>
      </p:sp>
      <p:sp>
        <p:nvSpPr>
          <p:cNvPr id="24" name="Text 22"/>
          <p:cNvSpPr/>
          <p:nvPr/>
        </p:nvSpPr>
        <p:spPr>
          <a:xfrm>
            <a:off x="6414939" y="3184029"/>
            <a:ext cx="2385307" cy="257175"/>
          </a:xfrm>
          <a:prstGeom prst="rect">
            <a:avLst/>
          </a:prstGeom>
          <a:noFill/>
          <a:ln/>
        </p:spPr>
        <p:txBody>
          <a:bodyPr wrap="square" lIns="0" tIns="0" rIns="0" bIns="0" rtlCol="0" anchor="t"/>
          <a:lstStyle/>
          <a:p>
            <a:pPr marL="0" indent="0" algn="l">
              <a:lnSpc>
                <a:spcPts val="1013"/>
              </a:lnSpc>
              <a:buNone/>
            </a:pPr>
            <a:r>
              <a:rPr lang="en-US" sz="675" b="1" dirty="0">
                <a:solidFill>
                  <a:srgbClr val="1A1F2E"/>
                </a:solidFill>
                <a:latin typeface="Arial" pitchFamily="34" charset="0"/>
                <a:ea typeface="Arial" pitchFamily="34" charset="-122"/>
                <a:cs typeface="Arial" pitchFamily="34" charset="-120"/>
              </a:rPr>
              <a:t>4.</a:t>
            </a:r>
            <a:r>
              <a:rPr lang="en-US" sz="675" dirty="0">
                <a:solidFill>
                  <a:srgbClr val="6B7280"/>
                </a:solidFill>
                <a:latin typeface="Arial" pitchFamily="34" charset="0"/>
                <a:ea typeface="Arial" pitchFamily="34" charset="-122"/>
                <a:cs typeface="Arial" pitchFamily="34" charset="-120"/>
              </a:rPr>
              <a:t> Navigate to project folder</a:t>
            </a:r>
            <a:endParaRPr lang="en-US" sz="675" dirty="0"/>
          </a:p>
          <a:p>
            <a:pPr marL="0" indent="0" algn="l">
              <a:lnSpc>
                <a:spcPts val="1013"/>
              </a:lnSpc>
              <a:buNone/>
            </a:pPr>
            <a:r>
              <a:rPr lang="en-US" sz="675" dirty="0">
                <a:solidFill>
                  <a:srgbClr val="6B7280"/>
                </a:solidFill>
                <a:latin typeface="Arial" pitchFamily="34" charset="0"/>
                <a:ea typeface="Arial" pitchFamily="34" charset="-122"/>
                <a:cs typeface="Arial" pitchFamily="34" charset="-120"/>
              </a:rPr>
              <a:t> </a:t>
            </a:r>
            <a:endParaRPr lang="en-US" sz="675" dirty="0"/>
          </a:p>
          <a:p>
            <a:pPr marL="0" indent="0" algn="l">
              <a:lnSpc>
                <a:spcPts val="1013"/>
              </a:lnSpc>
              <a:buNone/>
            </a:pPr>
            <a:r>
              <a:rPr lang="en-US" sz="675" b="1" dirty="0">
                <a:solidFill>
                  <a:srgbClr val="1A1F2E"/>
                </a:solidFill>
                <a:latin typeface="Arial" pitchFamily="34" charset="0"/>
                <a:ea typeface="Arial" pitchFamily="34" charset="-122"/>
                <a:cs typeface="Arial" pitchFamily="34" charset="-120"/>
              </a:rPr>
              <a:t>5.</a:t>
            </a:r>
            <a:r>
              <a:rPr lang="en-US" sz="675" dirty="0">
                <a:solidFill>
                  <a:srgbClr val="6B7280"/>
                </a:solidFill>
                <a:latin typeface="Arial" pitchFamily="34" charset="0"/>
                <a:ea typeface="Arial" pitchFamily="34" charset="-122"/>
                <a:cs typeface="Arial" pitchFamily="34" charset="-120"/>
              </a:rPr>
              <a:t> Start coding with voice!</a:t>
            </a:r>
            <a:endParaRPr lang="en-US" sz="675" dirty="0"/>
          </a:p>
        </p:txBody>
      </p:sp>
      <p:sp>
        <p:nvSpPr>
          <p:cNvPr id="25" name="Text 23"/>
          <p:cNvSpPr/>
          <p:nvPr/>
        </p:nvSpPr>
        <p:spPr>
          <a:xfrm>
            <a:off x="3838277" y="3896023"/>
            <a:ext cx="1628924" cy="455116"/>
          </a:xfrm>
          <a:prstGeom prst="rect">
            <a:avLst/>
          </a:prstGeom>
          <a:solidFill>
            <a:srgbClr val="DCFCE7"/>
          </a:solidFill>
          <a:ln/>
        </p:spPr>
        <p:txBody>
          <a:bodyPr wrap="square" rtlCol="0" anchor="ctr"/>
          <a:lstStyle/>
          <a:p>
            <a:pPr marL="0" indent="0">
              <a:buNone/>
            </a:pPr>
            <a:endParaRPr lang="en-US" dirty="0"/>
          </a:p>
        </p:txBody>
      </p:sp>
      <p:sp>
        <p:nvSpPr>
          <p:cNvPr id="26" name="Shape 24"/>
          <p:cNvSpPr/>
          <p:nvPr/>
        </p:nvSpPr>
        <p:spPr>
          <a:xfrm>
            <a:off x="3852565" y="3896023"/>
            <a:ext cx="0" cy="455116"/>
          </a:xfrm>
          <a:prstGeom prst="line">
            <a:avLst/>
          </a:prstGeom>
          <a:noFill/>
          <a:ln w="28575">
            <a:solidFill>
              <a:srgbClr val="059669"/>
            </a:solidFill>
            <a:prstDash val="solid"/>
          </a:ln>
        </p:spPr>
        <p:txBody>
          <a:bodyPr/>
          <a:lstStyle/>
          <a:p>
            <a:endParaRPr lang="en-US"/>
          </a:p>
        </p:txBody>
      </p:sp>
      <p:sp>
        <p:nvSpPr>
          <p:cNvPr id="27" name="Text 25"/>
          <p:cNvSpPr/>
          <p:nvPr/>
        </p:nvSpPr>
        <p:spPr>
          <a:xfrm>
            <a:off x="3962102" y="3991273"/>
            <a:ext cx="1438046" cy="119955"/>
          </a:xfrm>
          <a:prstGeom prst="rect">
            <a:avLst/>
          </a:prstGeom>
          <a:noFill/>
          <a:ln/>
        </p:spPr>
        <p:txBody>
          <a:bodyPr wrap="square" lIns="0" tIns="0" rIns="0" bIns="0" rtlCol="0" anchor="t"/>
          <a:lstStyle/>
          <a:p>
            <a:pPr marL="0" indent="0" algn="l">
              <a:lnSpc>
                <a:spcPts val="945"/>
              </a:lnSpc>
              <a:spcAft>
                <a:spcPts val="300"/>
              </a:spcAft>
              <a:buNone/>
            </a:pPr>
            <a:r>
              <a:rPr lang="en-US" sz="675" b="1" dirty="0">
                <a:solidFill>
                  <a:srgbClr val="166534"/>
                </a:solidFill>
                <a:latin typeface="Arial" pitchFamily="34" charset="0"/>
                <a:ea typeface="Arial" pitchFamily="34" charset="-122"/>
                <a:cs typeface="Arial" pitchFamily="34" charset="-120"/>
              </a:rPr>
              <a:t>VERIFY INSTALL</a:t>
            </a:r>
            <a:endParaRPr lang="en-US" sz="675" dirty="0"/>
          </a:p>
        </p:txBody>
      </p:sp>
      <p:sp>
        <p:nvSpPr>
          <p:cNvPr id="28" name="Text 26"/>
          <p:cNvSpPr/>
          <p:nvPr/>
        </p:nvSpPr>
        <p:spPr>
          <a:xfrm>
            <a:off x="3962102" y="4149328"/>
            <a:ext cx="1438046" cy="106561"/>
          </a:xfrm>
          <a:prstGeom prst="rect">
            <a:avLst/>
          </a:prstGeom>
          <a:noFill/>
          <a:ln/>
        </p:spPr>
        <p:txBody>
          <a:bodyPr wrap="square" lIns="0" tIns="0" rIns="0" bIns="0" rtlCol="0" anchor="t"/>
          <a:lstStyle/>
          <a:p>
            <a:pPr marL="0" indent="0" algn="l">
              <a:lnSpc>
                <a:spcPts val="840"/>
              </a:lnSpc>
              <a:buNone/>
            </a:pPr>
            <a:r>
              <a:rPr lang="en-US" sz="600" dirty="0">
                <a:solidFill>
                  <a:srgbClr val="166534"/>
                </a:solidFill>
                <a:latin typeface="monospace" pitchFamily="34" charset="0"/>
                <a:ea typeface="monospace" pitchFamily="34" charset="-122"/>
                <a:cs typeface="monospace" pitchFamily="34" charset="-120"/>
              </a:rPr>
              <a:t>claude --version</a:t>
            </a:r>
            <a:endParaRPr lang="en-US" sz="600" dirty="0"/>
          </a:p>
        </p:txBody>
      </p:sp>
      <p:sp>
        <p:nvSpPr>
          <p:cNvPr id="29" name="Text 27"/>
          <p:cNvSpPr/>
          <p:nvPr/>
        </p:nvSpPr>
        <p:spPr>
          <a:xfrm>
            <a:off x="5543401" y="3896023"/>
            <a:ext cx="1628924" cy="455116"/>
          </a:xfrm>
          <a:prstGeom prst="rect">
            <a:avLst/>
          </a:prstGeom>
          <a:solidFill>
            <a:srgbClr val="DBEAFE"/>
          </a:solidFill>
          <a:ln/>
        </p:spPr>
        <p:txBody>
          <a:bodyPr wrap="square" rtlCol="0" anchor="ctr"/>
          <a:lstStyle/>
          <a:p>
            <a:pPr marL="0" indent="0">
              <a:buNone/>
            </a:pPr>
            <a:endParaRPr lang="en-US" dirty="0"/>
          </a:p>
        </p:txBody>
      </p:sp>
      <p:sp>
        <p:nvSpPr>
          <p:cNvPr id="30" name="Shape 28"/>
          <p:cNvSpPr/>
          <p:nvPr/>
        </p:nvSpPr>
        <p:spPr>
          <a:xfrm>
            <a:off x="5557689" y="3896023"/>
            <a:ext cx="0" cy="455116"/>
          </a:xfrm>
          <a:prstGeom prst="line">
            <a:avLst/>
          </a:prstGeom>
          <a:noFill/>
          <a:ln w="28575">
            <a:solidFill>
              <a:srgbClr val="3B82F6"/>
            </a:solidFill>
            <a:prstDash val="solid"/>
          </a:ln>
        </p:spPr>
        <p:txBody>
          <a:bodyPr/>
          <a:lstStyle/>
          <a:p>
            <a:endParaRPr lang="en-US"/>
          </a:p>
        </p:txBody>
      </p:sp>
      <p:sp>
        <p:nvSpPr>
          <p:cNvPr id="31" name="Text 29"/>
          <p:cNvSpPr/>
          <p:nvPr/>
        </p:nvSpPr>
        <p:spPr>
          <a:xfrm>
            <a:off x="5667226" y="3991273"/>
            <a:ext cx="1438046" cy="119955"/>
          </a:xfrm>
          <a:prstGeom prst="rect">
            <a:avLst/>
          </a:prstGeom>
          <a:noFill/>
          <a:ln/>
        </p:spPr>
        <p:txBody>
          <a:bodyPr wrap="square" lIns="0" tIns="0" rIns="0" bIns="0" rtlCol="0" anchor="t"/>
          <a:lstStyle/>
          <a:p>
            <a:pPr marL="0" indent="0" algn="l">
              <a:lnSpc>
                <a:spcPts val="945"/>
              </a:lnSpc>
              <a:spcAft>
                <a:spcPts val="300"/>
              </a:spcAft>
              <a:buNone/>
            </a:pPr>
            <a:r>
              <a:rPr lang="en-US" sz="675" b="1" dirty="0">
                <a:solidFill>
                  <a:srgbClr val="1E40AF"/>
                </a:solidFill>
                <a:latin typeface="Arial" pitchFamily="34" charset="0"/>
                <a:ea typeface="Arial" pitchFamily="34" charset="-122"/>
                <a:cs typeface="Arial" pitchFamily="34" charset="-120"/>
              </a:rPr>
              <a:t>GET HELP</a:t>
            </a:r>
            <a:endParaRPr lang="en-US" sz="675" dirty="0"/>
          </a:p>
        </p:txBody>
      </p:sp>
      <p:sp>
        <p:nvSpPr>
          <p:cNvPr id="32" name="Text 30"/>
          <p:cNvSpPr/>
          <p:nvPr/>
        </p:nvSpPr>
        <p:spPr>
          <a:xfrm>
            <a:off x="5667226" y="4149328"/>
            <a:ext cx="1438046" cy="106561"/>
          </a:xfrm>
          <a:prstGeom prst="rect">
            <a:avLst/>
          </a:prstGeom>
          <a:noFill/>
          <a:ln/>
        </p:spPr>
        <p:txBody>
          <a:bodyPr wrap="square" lIns="0" tIns="0" rIns="0" bIns="0" rtlCol="0" anchor="t"/>
          <a:lstStyle/>
          <a:p>
            <a:pPr marL="0" indent="0" algn="l">
              <a:lnSpc>
                <a:spcPts val="840"/>
              </a:lnSpc>
              <a:buNone/>
            </a:pPr>
            <a:r>
              <a:rPr lang="en-US" sz="600" dirty="0">
                <a:solidFill>
                  <a:srgbClr val="1E40AF"/>
                </a:solidFill>
                <a:latin typeface="monospace" pitchFamily="34" charset="0"/>
                <a:ea typeface="monospace" pitchFamily="34" charset="-122"/>
                <a:cs typeface="monospace" pitchFamily="34" charset="-120"/>
              </a:rPr>
              <a:t>claude --help</a:t>
            </a:r>
            <a:endParaRPr lang="en-US" sz="600" dirty="0"/>
          </a:p>
        </p:txBody>
      </p:sp>
      <p:sp>
        <p:nvSpPr>
          <p:cNvPr id="33" name="Text 31"/>
          <p:cNvSpPr/>
          <p:nvPr/>
        </p:nvSpPr>
        <p:spPr>
          <a:xfrm>
            <a:off x="7248525" y="3896023"/>
            <a:ext cx="1628924" cy="455116"/>
          </a:xfrm>
          <a:prstGeom prst="rect">
            <a:avLst/>
          </a:prstGeom>
          <a:solidFill>
            <a:srgbClr val="FEF3C7"/>
          </a:solidFill>
          <a:ln/>
        </p:spPr>
        <p:txBody>
          <a:bodyPr wrap="square" rtlCol="0" anchor="ctr"/>
          <a:lstStyle/>
          <a:p>
            <a:pPr marL="0" indent="0">
              <a:buNone/>
            </a:pPr>
            <a:endParaRPr lang="en-US" dirty="0"/>
          </a:p>
        </p:txBody>
      </p:sp>
      <p:sp>
        <p:nvSpPr>
          <p:cNvPr id="34" name="Shape 32"/>
          <p:cNvSpPr/>
          <p:nvPr/>
        </p:nvSpPr>
        <p:spPr>
          <a:xfrm>
            <a:off x="7262813" y="3896023"/>
            <a:ext cx="0" cy="455116"/>
          </a:xfrm>
          <a:prstGeom prst="line">
            <a:avLst/>
          </a:prstGeom>
          <a:noFill/>
          <a:ln w="28575">
            <a:solidFill>
              <a:srgbClr val="F59E0B"/>
            </a:solidFill>
            <a:prstDash val="solid"/>
          </a:ln>
        </p:spPr>
        <p:txBody>
          <a:bodyPr/>
          <a:lstStyle/>
          <a:p>
            <a:endParaRPr lang="en-US"/>
          </a:p>
        </p:txBody>
      </p:sp>
      <p:sp>
        <p:nvSpPr>
          <p:cNvPr id="35" name="Text 33"/>
          <p:cNvSpPr/>
          <p:nvPr/>
        </p:nvSpPr>
        <p:spPr>
          <a:xfrm>
            <a:off x="7372350" y="3991273"/>
            <a:ext cx="1438046" cy="119955"/>
          </a:xfrm>
          <a:prstGeom prst="rect">
            <a:avLst/>
          </a:prstGeom>
          <a:noFill/>
          <a:ln/>
        </p:spPr>
        <p:txBody>
          <a:bodyPr wrap="square" lIns="0" tIns="0" rIns="0" bIns="0" rtlCol="0" anchor="t"/>
          <a:lstStyle/>
          <a:p>
            <a:pPr marL="0" indent="0" algn="l">
              <a:lnSpc>
                <a:spcPts val="945"/>
              </a:lnSpc>
              <a:spcAft>
                <a:spcPts val="300"/>
              </a:spcAft>
              <a:buNone/>
            </a:pPr>
            <a:r>
              <a:rPr lang="en-US" sz="675" b="1" dirty="0">
                <a:solidFill>
                  <a:srgbClr val="92400E"/>
                </a:solidFill>
                <a:latin typeface="Arial" pitchFamily="34" charset="0"/>
                <a:ea typeface="Arial" pitchFamily="34" charset="-122"/>
                <a:cs typeface="Arial" pitchFamily="34" charset="-120"/>
              </a:rPr>
              <a:t>UPDATE</a:t>
            </a:r>
            <a:endParaRPr lang="en-US" sz="675" dirty="0"/>
          </a:p>
        </p:txBody>
      </p:sp>
      <p:sp>
        <p:nvSpPr>
          <p:cNvPr id="36" name="Text 34"/>
          <p:cNvSpPr/>
          <p:nvPr/>
        </p:nvSpPr>
        <p:spPr>
          <a:xfrm>
            <a:off x="7372350" y="4149328"/>
            <a:ext cx="1438046" cy="106561"/>
          </a:xfrm>
          <a:prstGeom prst="rect">
            <a:avLst/>
          </a:prstGeom>
          <a:noFill/>
          <a:ln/>
        </p:spPr>
        <p:txBody>
          <a:bodyPr wrap="square" lIns="0" tIns="0" rIns="0" bIns="0" rtlCol="0" anchor="t"/>
          <a:lstStyle/>
          <a:p>
            <a:pPr marL="0" indent="0" algn="l">
              <a:lnSpc>
                <a:spcPts val="840"/>
              </a:lnSpc>
              <a:buNone/>
            </a:pPr>
            <a:r>
              <a:rPr lang="en-US" sz="600" dirty="0">
                <a:solidFill>
                  <a:srgbClr val="92400E"/>
                </a:solidFill>
                <a:latin typeface="monospace" pitchFamily="34" charset="0"/>
                <a:ea typeface="monospace" pitchFamily="34" charset="-122"/>
                <a:cs typeface="monospace" pitchFamily="34" charset="-120"/>
              </a:rPr>
              <a:t>npm update -g</a:t>
            </a:r>
            <a:endParaRPr lang="en-US" sz="6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0" y="0"/>
            <a:ext cx="3419177" cy="5143500"/>
          </a:xfrm>
          <a:prstGeom prst="rect">
            <a:avLst/>
          </a:prstGeom>
          <a:solidFill>
            <a:srgbClr val="1A1F2E"/>
          </a:solidFill>
          <a:ln/>
        </p:spPr>
        <p:txBody>
          <a:bodyPr wrap="square" rtlCol="0" anchor="ctr"/>
          <a:lstStyle/>
          <a:p>
            <a:pPr marL="0" indent="0">
              <a:buNone/>
            </a:pPr>
            <a:endParaRPr lang="en-US" dirty="0"/>
          </a:p>
        </p:txBody>
      </p:sp>
      <p:sp>
        <p:nvSpPr>
          <p:cNvPr id="3" name="Text 1"/>
          <p:cNvSpPr/>
          <p:nvPr/>
        </p:nvSpPr>
        <p:spPr>
          <a:xfrm>
            <a:off x="266700" y="266700"/>
            <a:ext cx="952202" cy="201811"/>
          </a:xfrm>
          <a:prstGeom prst="rect">
            <a:avLst/>
          </a:prstGeom>
          <a:solidFill>
            <a:srgbClr val="D97706"/>
          </a:solidFill>
          <a:ln/>
        </p:spPr>
        <p:txBody>
          <a:bodyPr wrap="square" rtlCol="0" anchor="ctr"/>
          <a:lstStyle/>
          <a:p>
            <a:pPr marL="0" indent="0">
              <a:buNone/>
            </a:pPr>
            <a:endParaRPr lang="en-US" dirty="0"/>
          </a:p>
        </p:txBody>
      </p:sp>
      <p:sp>
        <p:nvSpPr>
          <p:cNvPr id="4" name="Text 2"/>
          <p:cNvSpPr/>
          <p:nvPr/>
        </p:nvSpPr>
        <p:spPr>
          <a:xfrm>
            <a:off x="361950" y="314325"/>
            <a:ext cx="776936" cy="106561"/>
          </a:xfrm>
          <a:prstGeom prst="rect">
            <a:avLst/>
          </a:prstGeom>
          <a:noFill/>
          <a:ln/>
        </p:spPr>
        <p:txBody>
          <a:bodyPr wrap="square" lIns="0" tIns="0" rIns="0" bIns="0" rtlCol="0" anchor="t"/>
          <a:lstStyle/>
          <a:p>
            <a:pPr marL="0" indent="0" algn="l">
              <a:lnSpc>
                <a:spcPts val="840"/>
              </a:lnSpc>
              <a:buNone/>
            </a:pPr>
            <a:r>
              <a:rPr lang="en-US" sz="600" b="1" dirty="0">
                <a:solidFill>
                  <a:srgbClr val="1A1F2E"/>
                </a:solidFill>
                <a:latin typeface="Arial" pitchFamily="34" charset="0"/>
                <a:ea typeface="Arial" pitchFamily="34" charset="-122"/>
                <a:cs typeface="Arial" pitchFamily="34" charset="-120"/>
              </a:rPr>
              <a:t>CONFIGURATION</a:t>
            </a:r>
            <a:endParaRPr lang="en-US" sz="600" dirty="0"/>
          </a:p>
        </p:txBody>
      </p:sp>
      <p:sp>
        <p:nvSpPr>
          <p:cNvPr id="5" name="Text 3"/>
          <p:cNvSpPr/>
          <p:nvPr/>
        </p:nvSpPr>
        <p:spPr>
          <a:xfrm>
            <a:off x="266700" y="716161"/>
            <a:ext cx="1476756" cy="594122"/>
          </a:xfrm>
          <a:prstGeom prst="rect">
            <a:avLst/>
          </a:prstGeom>
          <a:noFill/>
          <a:ln/>
        </p:spPr>
        <p:txBody>
          <a:bodyPr wrap="square" lIns="0" tIns="0" rIns="0" bIns="0" rtlCol="0" anchor="t"/>
          <a:lstStyle/>
          <a:p>
            <a:pPr marL="0" indent="0" algn="l">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Model</a:t>
            </a:r>
            <a:endParaRPr lang="en-US" sz="1950" dirty="0"/>
          </a:p>
          <a:p>
            <a:pPr marL="0" indent="0" algn="l">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Selection</a:t>
            </a:r>
            <a:endParaRPr lang="en-US" sz="1950" dirty="0"/>
          </a:p>
        </p:txBody>
      </p:sp>
      <p:sp>
        <p:nvSpPr>
          <p:cNvPr id="6" name="Text 4"/>
          <p:cNvSpPr/>
          <p:nvPr/>
        </p:nvSpPr>
        <p:spPr>
          <a:xfrm>
            <a:off x="266700" y="1557933"/>
            <a:ext cx="381000" cy="19050"/>
          </a:xfrm>
          <a:prstGeom prst="rect">
            <a:avLst/>
          </a:prstGeom>
          <a:solidFill>
            <a:srgbClr val="C9A227"/>
          </a:solidFill>
          <a:ln/>
        </p:spPr>
        <p:txBody>
          <a:bodyPr wrap="square" rtlCol="0" anchor="ctr"/>
          <a:lstStyle/>
          <a:p>
            <a:pPr marL="0" indent="0">
              <a:buNone/>
            </a:pPr>
            <a:endParaRPr lang="en-US" dirty="0"/>
          </a:p>
        </p:txBody>
      </p:sp>
      <p:sp>
        <p:nvSpPr>
          <p:cNvPr id="7" name="Text 5"/>
          <p:cNvSpPr/>
          <p:nvPr/>
        </p:nvSpPr>
        <p:spPr>
          <a:xfrm>
            <a:off x="266700" y="1862733"/>
            <a:ext cx="2885777" cy="685800"/>
          </a:xfrm>
          <a:prstGeom prst="rect">
            <a:avLst/>
          </a:prstGeom>
          <a:solidFill>
            <a:srgbClr val="D97706">
              <a:alpha val="15000"/>
            </a:srgbClr>
          </a:solidFill>
          <a:ln/>
        </p:spPr>
        <p:txBody>
          <a:bodyPr wrap="square" rtlCol="0" anchor="ctr"/>
          <a:lstStyle/>
          <a:p>
            <a:pPr marL="0" indent="0">
              <a:buNone/>
            </a:pPr>
            <a:endParaRPr lang="en-US" dirty="0"/>
          </a:p>
        </p:txBody>
      </p:sp>
      <p:sp>
        <p:nvSpPr>
          <p:cNvPr id="8" name="Shape 6"/>
          <p:cNvSpPr/>
          <p:nvPr/>
        </p:nvSpPr>
        <p:spPr>
          <a:xfrm>
            <a:off x="280988" y="1862733"/>
            <a:ext cx="0" cy="685800"/>
          </a:xfrm>
          <a:prstGeom prst="line">
            <a:avLst/>
          </a:prstGeom>
          <a:noFill/>
          <a:ln w="28575">
            <a:solidFill>
              <a:srgbClr val="D97706"/>
            </a:solidFill>
            <a:prstDash val="solid"/>
          </a:ln>
        </p:spPr>
        <p:txBody>
          <a:bodyPr/>
          <a:lstStyle/>
          <a:p>
            <a:endParaRPr lang="en-US"/>
          </a:p>
        </p:txBody>
      </p:sp>
      <p:sp>
        <p:nvSpPr>
          <p:cNvPr id="9" name="Text 7"/>
          <p:cNvSpPr/>
          <p:nvPr/>
        </p:nvSpPr>
        <p:spPr>
          <a:xfrm>
            <a:off x="409575" y="1977033"/>
            <a:ext cx="2681174"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FBBF24"/>
                </a:solidFill>
                <a:latin typeface="Arial" pitchFamily="34" charset="0"/>
                <a:ea typeface="Arial" pitchFamily="34" charset="-122"/>
                <a:cs typeface="Arial" pitchFamily="34" charset="-120"/>
              </a:rPr>
              <a:t>THE CHOICE</a:t>
            </a:r>
            <a:endParaRPr lang="en-US" sz="750" dirty="0"/>
          </a:p>
        </p:txBody>
      </p:sp>
      <p:sp>
        <p:nvSpPr>
          <p:cNvPr id="10" name="Text 8"/>
          <p:cNvSpPr/>
          <p:nvPr/>
        </p:nvSpPr>
        <p:spPr>
          <a:xfrm>
            <a:off x="409575" y="2148483"/>
            <a:ext cx="2681174" cy="285750"/>
          </a:xfrm>
          <a:prstGeom prst="rect">
            <a:avLst/>
          </a:prstGeom>
          <a:noFill/>
          <a:ln/>
        </p:spPr>
        <p:txBody>
          <a:bodyPr wrap="square" lIns="0" tIns="0" rIns="0" bIns="0" rtlCol="0" anchor="t"/>
          <a:lstStyle/>
          <a:p>
            <a:pPr marL="0" indent="0" algn="l">
              <a:lnSpc>
                <a:spcPts val="1125"/>
              </a:lnSpc>
              <a:buNone/>
            </a:pPr>
            <a:r>
              <a:rPr lang="en-US" sz="750" dirty="0">
                <a:solidFill>
                  <a:srgbClr val="FFFFFF">
                    <a:alpha val="80000"/>
                  </a:srgbClr>
                </a:solidFill>
                <a:latin typeface="Arial" pitchFamily="34" charset="0"/>
                <a:ea typeface="Arial" pitchFamily="34" charset="-122"/>
                <a:cs typeface="Arial" pitchFamily="34" charset="-120"/>
              </a:rPr>
              <a:t>Different models for different tasks. Choose based on complexity, speed, and cost.</a:t>
            </a:r>
            <a:endParaRPr lang="en-US" sz="750" dirty="0"/>
          </a:p>
        </p:txBody>
      </p:sp>
      <p:sp>
        <p:nvSpPr>
          <p:cNvPr id="11" name="Text 9"/>
          <p:cNvSpPr/>
          <p:nvPr/>
        </p:nvSpPr>
        <p:spPr>
          <a:xfrm>
            <a:off x="266700" y="2834283"/>
            <a:ext cx="2885777" cy="693241"/>
          </a:xfrm>
          <a:prstGeom prst="rect">
            <a:avLst/>
          </a:prstGeom>
          <a:solidFill>
            <a:srgbClr val="FFFFFF">
              <a:alpha val="5000"/>
            </a:srgbClr>
          </a:solidFill>
          <a:ln/>
        </p:spPr>
        <p:txBody>
          <a:bodyPr wrap="square" rtlCol="0" anchor="ctr"/>
          <a:lstStyle/>
          <a:p>
            <a:pPr marL="0" indent="0">
              <a:buNone/>
            </a:pPr>
            <a:endParaRPr lang="en-US" dirty="0"/>
          </a:p>
        </p:txBody>
      </p:sp>
      <p:sp>
        <p:nvSpPr>
          <p:cNvPr id="12" name="Text 10"/>
          <p:cNvSpPr/>
          <p:nvPr/>
        </p:nvSpPr>
        <p:spPr>
          <a:xfrm>
            <a:off x="381000" y="2948583"/>
            <a:ext cx="2710321" cy="133350"/>
          </a:xfrm>
          <a:prstGeom prst="rect">
            <a:avLst/>
          </a:prstGeom>
          <a:noFill/>
          <a:ln/>
        </p:spPr>
        <p:txBody>
          <a:bodyPr wrap="square" lIns="0" tIns="0" rIns="0" bIns="0" rtlCol="0" anchor="t"/>
          <a:lstStyle/>
          <a:p>
            <a:pPr marL="0" indent="0" algn="l">
              <a:lnSpc>
                <a:spcPts val="1050"/>
              </a:lnSpc>
              <a:spcAft>
                <a:spcPts val="450"/>
              </a:spcAft>
              <a:buNone/>
            </a:pPr>
            <a:r>
              <a:rPr lang="en-US" sz="750" b="1" dirty="0">
                <a:solidFill>
                  <a:srgbClr val="FFFFFF"/>
                </a:solidFill>
                <a:latin typeface="Arial" pitchFamily="34" charset="0"/>
                <a:ea typeface="Arial" pitchFamily="34" charset="-122"/>
                <a:cs typeface="Arial" pitchFamily="34" charset="-120"/>
              </a:rPr>
              <a:t>HOW TO CHANGE</a:t>
            </a:r>
            <a:endParaRPr lang="en-US" sz="750" dirty="0"/>
          </a:p>
        </p:txBody>
      </p:sp>
      <p:sp>
        <p:nvSpPr>
          <p:cNvPr id="13" name="Text 11"/>
          <p:cNvSpPr/>
          <p:nvPr/>
        </p:nvSpPr>
        <p:spPr>
          <a:xfrm>
            <a:off x="381000" y="3139083"/>
            <a:ext cx="2710321" cy="274141"/>
          </a:xfrm>
          <a:prstGeom prst="rect">
            <a:avLst/>
          </a:prstGeom>
          <a:noFill/>
          <a:ln/>
        </p:spPr>
        <p:txBody>
          <a:bodyPr wrap="square" lIns="0" tIns="0" rIns="0" bIns="0" rtlCol="0" anchor="t"/>
          <a:lstStyle/>
          <a:p>
            <a:pPr marL="0" indent="0" algn="l">
              <a:lnSpc>
                <a:spcPts val="1080"/>
              </a:lnSpc>
              <a:buNone/>
            </a:pPr>
            <a:r>
              <a:rPr lang="en-US" sz="675" dirty="0">
                <a:solidFill>
                  <a:srgbClr val="FFFFFF">
                    <a:alpha val="60000"/>
                  </a:srgbClr>
                </a:solidFill>
                <a:latin typeface="monospace" pitchFamily="34" charset="0"/>
                <a:ea typeface="monospace" pitchFamily="34" charset="-122"/>
                <a:cs typeface="monospace" pitchFamily="34" charset="-120"/>
              </a:rPr>
              <a:t>/model</a:t>
            </a:r>
            <a:endParaRPr lang="en-US" sz="675" dirty="0"/>
          </a:p>
          <a:p>
            <a:pPr marL="0" indent="0" algn="l">
              <a:lnSpc>
                <a:spcPts val="1080"/>
              </a:lnSpc>
              <a:buNone/>
            </a:pPr>
            <a:r>
              <a:rPr lang="en-US" sz="675" dirty="0">
                <a:solidFill>
                  <a:srgbClr val="FFFFFF">
                    <a:alpha val="60000"/>
                  </a:srgbClr>
                </a:solidFill>
                <a:latin typeface="monospace" pitchFamily="34" charset="0"/>
                <a:ea typeface="monospace" pitchFamily="34" charset="-122"/>
                <a:cs typeface="monospace" pitchFamily="34" charset="-120"/>
              </a:rPr>
              <a:t> </a:t>
            </a:r>
            <a:endParaRPr lang="en-US" sz="675" dirty="0"/>
          </a:p>
          <a:p>
            <a:pPr marL="0" indent="0" algn="l">
              <a:lnSpc>
                <a:spcPts val="1080"/>
              </a:lnSpc>
              <a:buNone/>
            </a:pPr>
            <a:r>
              <a:rPr lang="en-US" sz="675" dirty="0">
                <a:solidFill>
                  <a:srgbClr val="FFFFFF">
                    <a:alpha val="40000"/>
                  </a:srgbClr>
                </a:solidFill>
                <a:latin typeface="monospace" pitchFamily="34" charset="0"/>
                <a:ea typeface="monospace" pitchFamily="34" charset="-122"/>
                <a:cs typeface="monospace" pitchFamily="34" charset="-120"/>
              </a:rPr>
              <a:t>or press</a:t>
            </a:r>
            <a:r>
              <a:rPr lang="en-US" sz="675" dirty="0">
                <a:solidFill>
                  <a:srgbClr val="FFFFFF">
                    <a:alpha val="60000"/>
                  </a:srgbClr>
                </a:solidFill>
                <a:latin typeface="monospace" pitchFamily="34" charset="0"/>
                <a:ea typeface="monospace" pitchFamily="34" charset="-122"/>
                <a:cs typeface="monospace" pitchFamily="34" charset="-120"/>
              </a:rPr>
              <a:t> Shift+M</a:t>
            </a:r>
            <a:endParaRPr lang="en-US" sz="675" dirty="0"/>
          </a:p>
        </p:txBody>
      </p:sp>
      <p:sp>
        <p:nvSpPr>
          <p:cNvPr id="14" name="Text 12"/>
          <p:cNvSpPr/>
          <p:nvPr/>
        </p:nvSpPr>
        <p:spPr>
          <a:xfrm>
            <a:off x="266700" y="4566345"/>
            <a:ext cx="2885777" cy="310455"/>
          </a:xfrm>
          <a:prstGeom prst="rect">
            <a:avLst/>
          </a:prstGeom>
          <a:solidFill>
            <a:srgbClr val="C9A227"/>
          </a:solidFill>
          <a:ln/>
        </p:spPr>
        <p:txBody>
          <a:bodyPr wrap="square" rtlCol="0" anchor="ctr"/>
          <a:lstStyle/>
          <a:p>
            <a:pPr marL="0" indent="0">
              <a:buNone/>
            </a:pPr>
            <a:endParaRPr lang="en-US" dirty="0"/>
          </a:p>
        </p:txBody>
      </p:sp>
      <p:sp>
        <p:nvSpPr>
          <p:cNvPr id="15" name="Text 13"/>
          <p:cNvSpPr/>
          <p:nvPr/>
        </p:nvSpPr>
        <p:spPr>
          <a:xfrm>
            <a:off x="334997" y="4661595"/>
            <a:ext cx="2749183" cy="119955"/>
          </a:xfrm>
          <a:prstGeom prst="rect">
            <a:avLst/>
          </a:prstGeom>
          <a:noFill/>
          <a:ln/>
        </p:spPr>
        <p:txBody>
          <a:bodyPr wrap="square" lIns="0" tIns="0" rIns="0" bIns="0" rtlCol="0" anchor="t"/>
          <a:lstStyle/>
          <a:p>
            <a:pPr marL="0" indent="0" algn="ctr">
              <a:lnSpc>
                <a:spcPts val="945"/>
              </a:lnSpc>
              <a:buNone/>
            </a:pPr>
            <a:r>
              <a:rPr lang="en-US" sz="675" b="1" dirty="0">
                <a:solidFill>
                  <a:srgbClr val="1A1F2E"/>
                </a:solidFill>
                <a:latin typeface="Arial" pitchFamily="34" charset="0"/>
                <a:ea typeface="Arial" pitchFamily="34" charset="-122"/>
                <a:cs typeface="Arial" pitchFamily="34" charset="-120"/>
              </a:rPr>
              <a:t>Sonnet is the default — best balance</a:t>
            </a:r>
            <a:endParaRPr lang="en-US" sz="675" dirty="0"/>
          </a:p>
        </p:txBody>
      </p:sp>
      <p:sp>
        <p:nvSpPr>
          <p:cNvPr id="16" name="Text 14"/>
          <p:cNvSpPr/>
          <p:nvPr/>
        </p:nvSpPr>
        <p:spPr>
          <a:xfrm>
            <a:off x="3571577" y="0"/>
            <a:ext cx="5572423" cy="5143500"/>
          </a:xfrm>
          <a:prstGeom prst="rect">
            <a:avLst/>
          </a:prstGeom>
          <a:solidFill>
            <a:srgbClr val="F7F8FA"/>
          </a:solidFill>
          <a:ln/>
        </p:spPr>
        <p:txBody>
          <a:bodyPr wrap="square" rtlCol="0" anchor="ctr"/>
          <a:lstStyle/>
          <a:p>
            <a:pPr marL="0" indent="0">
              <a:buNone/>
            </a:pPr>
            <a:endParaRPr lang="en-US" dirty="0"/>
          </a:p>
        </p:txBody>
      </p:sp>
      <p:sp>
        <p:nvSpPr>
          <p:cNvPr id="17" name="Text 15"/>
          <p:cNvSpPr/>
          <p:nvPr/>
        </p:nvSpPr>
        <p:spPr>
          <a:xfrm>
            <a:off x="3838277" y="512713"/>
            <a:ext cx="5139803" cy="159990"/>
          </a:xfrm>
          <a:prstGeom prst="rect">
            <a:avLst/>
          </a:prstGeom>
          <a:noFill/>
          <a:ln/>
        </p:spPr>
        <p:txBody>
          <a:bodyPr wrap="square" lIns="0" tIns="0" rIns="0" bIns="0" rtlCol="0" anchor="t"/>
          <a:lstStyle/>
          <a:p>
            <a:pPr marL="0" indent="0" algn="l">
              <a:lnSpc>
                <a:spcPts val="1260"/>
              </a:lnSpc>
              <a:spcAft>
                <a:spcPts val="900"/>
              </a:spcAft>
              <a:buNone/>
            </a:pPr>
            <a:r>
              <a:rPr lang="en-US" sz="900" b="1" dirty="0">
                <a:solidFill>
                  <a:srgbClr val="1A1F2E"/>
                </a:solidFill>
                <a:latin typeface="Arial" pitchFamily="34" charset="0"/>
                <a:ea typeface="Arial" pitchFamily="34" charset="-122"/>
                <a:cs typeface="Arial" pitchFamily="34" charset="-120"/>
              </a:rPr>
              <a:t>AVAILABLE MODELS</a:t>
            </a:r>
            <a:endParaRPr lang="en-US" sz="900" dirty="0"/>
          </a:p>
        </p:txBody>
      </p:sp>
      <p:sp>
        <p:nvSpPr>
          <p:cNvPr id="18" name="Text 16"/>
          <p:cNvSpPr/>
          <p:nvPr/>
        </p:nvSpPr>
        <p:spPr>
          <a:xfrm>
            <a:off x="3838277" y="939403"/>
            <a:ext cx="5039023" cy="573286"/>
          </a:xfrm>
          <a:prstGeom prst="rect">
            <a:avLst/>
          </a:prstGeom>
          <a:solidFill>
            <a:srgbClr val="FFFFFF"/>
          </a:solidFill>
          <a:ln/>
        </p:spPr>
        <p:txBody>
          <a:bodyPr wrap="square" rtlCol="0" anchor="ctr"/>
          <a:lstStyle/>
          <a:p>
            <a:pPr marL="0" indent="0">
              <a:buNone/>
            </a:pPr>
            <a:endParaRPr lang="en-US" dirty="0"/>
          </a:p>
        </p:txBody>
      </p:sp>
      <p:sp>
        <p:nvSpPr>
          <p:cNvPr id="19" name="Shape 17"/>
          <p:cNvSpPr/>
          <p:nvPr/>
        </p:nvSpPr>
        <p:spPr>
          <a:xfrm>
            <a:off x="3857327" y="939403"/>
            <a:ext cx="0" cy="573286"/>
          </a:xfrm>
          <a:prstGeom prst="line">
            <a:avLst/>
          </a:prstGeom>
          <a:noFill/>
          <a:ln w="38100">
            <a:solidFill>
              <a:srgbClr val="7C3AED"/>
            </a:solidFill>
            <a:prstDash val="solid"/>
          </a:ln>
        </p:spPr>
        <p:txBody>
          <a:bodyPr/>
          <a:lstStyle/>
          <a:p>
            <a:endParaRPr lang="en-US"/>
          </a:p>
        </p:txBody>
      </p:sp>
      <p:sp>
        <p:nvSpPr>
          <p:cNvPr id="20" name="Text 18"/>
          <p:cNvSpPr/>
          <p:nvPr/>
        </p:nvSpPr>
        <p:spPr>
          <a:xfrm>
            <a:off x="4009727" y="1053703"/>
            <a:ext cx="2005492" cy="186630"/>
          </a:xfrm>
          <a:prstGeom prst="rect">
            <a:avLst/>
          </a:prstGeom>
          <a:noFill/>
          <a:ln/>
        </p:spPr>
        <p:txBody>
          <a:bodyPr wrap="square" lIns="0" tIns="0" rIns="0" bIns="0" rtlCol="0" anchor="t"/>
          <a:lstStyle/>
          <a:p>
            <a:pPr marL="0" indent="0" algn="l">
              <a:lnSpc>
                <a:spcPts val="1470"/>
              </a:lnSpc>
              <a:buNone/>
            </a:pPr>
            <a:r>
              <a:rPr lang="en-US" sz="1050" b="1" dirty="0">
                <a:solidFill>
                  <a:srgbClr val="7C3AED"/>
                </a:solidFill>
                <a:latin typeface="Arial" pitchFamily="34" charset="0"/>
                <a:ea typeface="Arial" pitchFamily="34" charset="-122"/>
                <a:cs typeface="Arial" pitchFamily="34" charset="-120"/>
              </a:rPr>
              <a:t>Claude Opus 4</a:t>
            </a:r>
            <a:endParaRPr lang="en-US" sz="1050" dirty="0"/>
          </a:p>
        </p:txBody>
      </p:sp>
      <p:sp>
        <p:nvSpPr>
          <p:cNvPr id="21" name="Text 19"/>
          <p:cNvSpPr/>
          <p:nvPr/>
        </p:nvSpPr>
        <p:spPr>
          <a:xfrm>
            <a:off x="4009727" y="1278434"/>
            <a:ext cx="2005492" cy="119955"/>
          </a:xfrm>
          <a:prstGeom prst="rect">
            <a:avLst/>
          </a:prstGeom>
          <a:noFill/>
          <a:ln/>
        </p:spPr>
        <p:txBody>
          <a:bodyPr wrap="square" lIns="0" tIns="0" rIns="0" bIns="0" rtlCol="0" anchor="t"/>
          <a:lstStyle/>
          <a:p>
            <a:pPr marL="0" indent="0" algn="l">
              <a:lnSpc>
                <a:spcPts val="945"/>
              </a:lnSpc>
              <a:spcBef>
                <a:spcPts val="300"/>
              </a:spcBef>
              <a:buNone/>
            </a:pPr>
            <a:r>
              <a:rPr lang="en-US" sz="675" dirty="0">
                <a:solidFill>
                  <a:srgbClr val="6B7280"/>
                </a:solidFill>
                <a:latin typeface="Arial" pitchFamily="34" charset="0"/>
                <a:ea typeface="Arial" pitchFamily="34" charset="-122"/>
                <a:cs typeface="Arial" pitchFamily="34" charset="-120"/>
              </a:rPr>
              <a:t>Most capable • Complex reasoning • Highest quality</a:t>
            </a:r>
            <a:endParaRPr lang="en-US" sz="675" dirty="0"/>
          </a:p>
        </p:txBody>
      </p:sp>
      <p:sp>
        <p:nvSpPr>
          <p:cNvPr id="22" name="Text 20"/>
          <p:cNvSpPr/>
          <p:nvPr/>
        </p:nvSpPr>
        <p:spPr>
          <a:xfrm>
            <a:off x="7820370" y="1103263"/>
            <a:ext cx="923580" cy="106561"/>
          </a:xfrm>
          <a:prstGeom prst="rect">
            <a:avLst/>
          </a:prstGeom>
          <a:noFill/>
          <a:ln/>
        </p:spPr>
        <p:txBody>
          <a:bodyPr wrap="square" lIns="0" tIns="0" rIns="0" bIns="0" rtlCol="0" anchor="t"/>
          <a:lstStyle/>
          <a:p>
            <a:pPr marL="0" indent="0" algn="r">
              <a:lnSpc>
                <a:spcPts val="840"/>
              </a:lnSpc>
              <a:buNone/>
            </a:pPr>
            <a:r>
              <a:rPr lang="en-US" sz="600" dirty="0">
                <a:solidFill>
                  <a:srgbClr val="9CA3AF"/>
                </a:solidFill>
                <a:latin typeface="Arial" pitchFamily="34" charset="0"/>
                <a:ea typeface="Arial" pitchFamily="34" charset="-122"/>
                <a:cs typeface="Arial" pitchFamily="34" charset="-120"/>
              </a:rPr>
              <a:t>BEST FOR</a:t>
            </a:r>
            <a:endParaRPr lang="en-US" sz="600" dirty="0"/>
          </a:p>
        </p:txBody>
      </p:sp>
      <p:sp>
        <p:nvSpPr>
          <p:cNvPr id="23" name="Text 21"/>
          <p:cNvSpPr/>
          <p:nvPr/>
        </p:nvSpPr>
        <p:spPr>
          <a:xfrm>
            <a:off x="7820370" y="1228874"/>
            <a:ext cx="923580" cy="119955"/>
          </a:xfrm>
          <a:prstGeom prst="rect">
            <a:avLst/>
          </a:prstGeom>
          <a:noFill/>
          <a:ln/>
        </p:spPr>
        <p:txBody>
          <a:bodyPr wrap="square" lIns="0" tIns="0" rIns="0" bIns="0" rtlCol="0" anchor="t"/>
          <a:lstStyle/>
          <a:p>
            <a:pPr marL="0" indent="0" algn="r">
              <a:lnSpc>
                <a:spcPts val="945"/>
              </a:lnSpc>
              <a:spcBef>
                <a:spcPts val="150"/>
              </a:spcBef>
              <a:buNone/>
            </a:pPr>
            <a:r>
              <a:rPr lang="en-US" sz="675" dirty="0">
                <a:solidFill>
                  <a:srgbClr val="1A1F2E"/>
                </a:solidFill>
                <a:latin typeface="Arial" pitchFamily="34" charset="0"/>
                <a:ea typeface="Arial" pitchFamily="34" charset="-122"/>
                <a:cs typeface="Arial" pitchFamily="34" charset="-120"/>
              </a:rPr>
              <a:t>Architecture, debugging</a:t>
            </a:r>
            <a:endParaRPr lang="en-US" sz="675" dirty="0"/>
          </a:p>
        </p:txBody>
      </p:sp>
      <p:sp>
        <p:nvSpPr>
          <p:cNvPr id="24" name="Text 22"/>
          <p:cNvSpPr/>
          <p:nvPr/>
        </p:nvSpPr>
        <p:spPr>
          <a:xfrm>
            <a:off x="3838277" y="1760339"/>
            <a:ext cx="5039023" cy="573286"/>
          </a:xfrm>
          <a:prstGeom prst="rect">
            <a:avLst/>
          </a:prstGeom>
          <a:solidFill>
            <a:srgbClr val="FFFFFF"/>
          </a:solidFill>
          <a:ln/>
        </p:spPr>
        <p:txBody>
          <a:bodyPr wrap="square" rtlCol="0" anchor="ctr"/>
          <a:lstStyle/>
          <a:p>
            <a:pPr marL="0" indent="0">
              <a:buNone/>
            </a:pPr>
            <a:endParaRPr lang="en-US" dirty="0"/>
          </a:p>
        </p:txBody>
      </p:sp>
      <p:sp>
        <p:nvSpPr>
          <p:cNvPr id="25" name="Shape 23"/>
          <p:cNvSpPr/>
          <p:nvPr/>
        </p:nvSpPr>
        <p:spPr>
          <a:xfrm>
            <a:off x="3857327" y="1760339"/>
            <a:ext cx="0" cy="573286"/>
          </a:xfrm>
          <a:prstGeom prst="line">
            <a:avLst/>
          </a:prstGeom>
          <a:noFill/>
          <a:ln w="38100">
            <a:solidFill>
              <a:srgbClr val="3B82F6"/>
            </a:solidFill>
            <a:prstDash val="solid"/>
          </a:ln>
        </p:spPr>
        <p:txBody>
          <a:bodyPr/>
          <a:lstStyle/>
          <a:p>
            <a:endParaRPr lang="en-US"/>
          </a:p>
        </p:txBody>
      </p:sp>
      <p:sp>
        <p:nvSpPr>
          <p:cNvPr id="26" name="Text 24"/>
          <p:cNvSpPr/>
          <p:nvPr/>
        </p:nvSpPr>
        <p:spPr>
          <a:xfrm>
            <a:off x="4009727" y="1874639"/>
            <a:ext cx="1538389" cy="186630"/>
          </a:xfrm>
          <a:prstGeom prst="rect">
            <a:avLst/>
          </a:prstGeom>
          <a:noFill/>
          <a:ln/>
        </p:spPr>
        <p:txBody>
          <a:bodyPr wrap="square" lIns="0" tIns="0" rIns="0" bIns="0" rtlCol="0" anchor="t"/>
          <a:lstStyle/>
          <a:p>
            <a:pPr marL="0" indent="0" algn="l">
              <a:lnSpc>
                <a:spcPts val="1470"/>
              </a:lnSpc>
              <a:buNone/>
            </a:pPr>
            <a:r>
              <a:rPr lang="en-US" sz="1050" dirty="0">
                <a:solidFill>
                  <a:srgbClr val="3B82F6"/>
                </a:solidFill>
                <a:latin typeface="Arial" pitchFamily="34" charset="0"/>
                <a:ea typeface="Arial" pitchFamily="34" charset="-122"/>
                <a:cs typeface="Arial" pitchFamily="34" charset="-120"/>
              </a:rPr>
              <a:t>Claude Sonnet 4 </a:t>
            </a:r>
            <a:r>
              <a:rPr lang="en-US" sz="525" b="1" dirty="0">
                <a:solidFill>
                  <a:srgbClr val="FFFFFF"/>
                </a:solidFill>
                <a:latin typeface="Arial" pitchFamily="34" charset="0"/>
                <a:ea typeface="Arial" pitchFamily="34" charset="-122"/>
                <a:cs typeface="Arial" pitchFamily="34" charset="-120"/>
              </a:rPr>
              <a:t>DEFAULT</a:t>
            </a:r>
            <a:endParaRPr lang="en-US" sz="1050" dirty="0"/>
          </a:p>
        </p:txBody>
      </p:sp>
      <p:sp>
        <p:nvSpPr>
          <p:cNvPr id="27" name="Text 25"/>
          <p:cNvSpPr/>
          <p:nvPr/>
        </p:nvSpPr>
        <p:spPr>
          <a:xfrm>
            <a:off x="4009727" y="2099370"/>
            <a:ext cx="1538389" cy="119955"/>
          </a:xfrm>
          <a:prstGeom prst="rect">
            <a:avLst/>
          </a:prstGeom>
          <a:noFill/>
          <a:ln/>
        </p:spPr>
        <p:txBody>
          <a:bodyPr wrap="square" lIns="0" tIns="0" rIns="0" bIns="0" rtlCol="0" anchor="t"/>
          <a:lstStyle/>
          <a:p>
            <a:pPr marL="0" indent="0" algn="l">
              <a:lnSpc>
                <a:spcPts val="945"/>
              </a:lnSpc>
              <a:spcBef>
                <a:spcPts val="300"/>
              </a:spcBef>
              <a:buNone/>
            </a:pPr>
            <a:r>
              <a:rPr lang="en-US" sz="675" dirty="0">
                <a:solidFill>
                  <a:srgbClr val="6B7280"/>
                </a:solidFill>
                <a:latin typeface="Arial" pitchFamily="34" charset="0"/>
                <a:ea typeface="Arial" pitchFamily="34" charset="-122"/>
                <a:cs typeface="Arial" pitchFamily="34" charset="-120"/>
              </a:rPr>
              <a:t>Balanced • Fast • Cost-effective</a:t>
            </a:r>
            <a:endParaRPr lang="en-US" sz="675" dirty="0"/>
          </a:p>
        </p:txBody>
      </p:sp>
      <p:sp>
        <p:nvSpPr>
          <p:cNvPr id="28" name="Text 26"/>
          <p:cNvSpPr/>
          <p:nvPr/>
        </p:nvSpPr>
        <p:spPr>
          <a:xfrm>
            <a:off x="8039121" y="1924199"/>
            <a:ext cx="704829" cy="106561"/>
          </a:xfrm>
          <a:prstGeom prst="rect">
            <a:avLst/>
          </a:prstGeom>
          <a:noFill/>
          <a:ln/>
        </p:spPr>
        <p:txBody>
          <a:bodyPr wrap="square" lIns="0" tIns="0" rIns="0" bIns="0" rtlCol="0" anchor="t"/>
          <a:lstStyle/>
          <a:p>
            <a:pPr marL="0" indent="0" algn="r">
              <a:lnSpc>
                <a:spcPts val="840"/>
              </a:lnSpc>
              <a:buNone/>
            </a:pPr>
            <a:r>
              <a:rPr lang="en-US" sz="600" dirty="0">
                <a:solidFill>
                  <a:srgbClr val="9CA3AF"/>
                </a:solidFill>
                <a:latin typeface="Arial" pitchFamily="34" charset="0"/>
                <a:ea typeface="Arial" pitchFamily="34" charset="-122"/>
                <a:cs typeface="Arial" pitchFamily="34" charset="-120"/>
              </a:rPr>
              <a:t>BEST FOR</a:t>
            </a:r>
            <a:endParaRPr lang="en-US" sz="600" dirty="0"/>
          </a:p>
        </p:txBody>
      </p:sp>
      <p:sp>
        <p:nvSpPr>
          <p:cNvPr id="29" name="Text 27"/>
          <p:cNvSpPr/>
          <p:nvPr/>
        </p:nvSpPr>
        <p:spPr>
          <a:xfrm>
            <a:off x="8039121" y="2049810"/>
            <a:ext cx="704829" cy="119955"/>
          </a:xfrm>
          <a:prstGeom prst="rect">
            <a:avLst/>
          </a:prstGeom>
          <a:noFill/>
          <a:ln/>
        </p:spPr>
        <p:txBody>
          <a:bodyPr wrap="square" lIns="0" tIns="0" rIns="0" bIns="0" rtlCol="0" anchor="t"/>
          <a:lstStyle/>
          <a:p>
            <a:pPr marL="0" indent="0" algn="r">
              <a:lnSpc>
                <a:spcPts val="945"/>
              </a:lnSpc>
              <a:spcBef>
                <a:spcPts val="150"/>
              </a:spcBef>
              <a:buNone/>
            </a:pPr>
            <a:r>
              <a:rPr lang="en-US" sz="675" dirty="0">
                <a:solidFill>
                  <a:srgbClr val="1A1F2E"/>
                </a:solidFill>
                <a:latin typeface="Arial" pitchFamily="34" charset="0"/>
                <a:ea typeface="Arial" pitchFamily="34" charset="-122"/>
                <a:cs typeface="Arial" pitchFamily="34" charset="-120"/>
              </a:rPr>
              <a:t>Daily coding tasks</a:t>
            </a:r>
            <a:endParaRPr lang="en-US" sz="675" dirty="0"/>
          </a:p>
        </p:txBody>
      </p:sp>
      <p:sp>
        <p:nvSpPr>
          <p:cNvPr id="30" name="Text 28"/>
          <p:cNvSpPr/>
          <p:nvPr/>
        </p:nvSpPr>
        <p:spPr>
          <a:xfrm>
            <a:off x="3838277" y="2581275"/>
            <a:ext cx="5039023" cy="573286"/>
          </a:xfrm>
          <a:prstGeom prst="rect">
            <a:avLst/>
          </a:prstGeom>
          <a:solidFill>
            <a:srgbClr val="FFFFFF"/>
          </a:solidFill>
          <a:ln/>
        </p:spPr>
        <p:txBody>
          <a:bodyPr wrap="square" rtlCol="0" anchor="ctr"/>
          <a:lstStyle/>
          <a:p>
            <a:pPr marL="0" indent="0">
              <a:buNone/>
            </a:pPr>
            <a:endParaRPr lang="en-US" dirty="0"/>
          </a:p>
        </p:txBody>
      </p:sp>
      <p:sp>
        <p:nvSpPr>
          <p:cNvPr id="31" name="Shape 29"/>
          <p:cNvSpPr/>
          <p:nvPr/>
        </p:nvSpPr>
        <p:spPr>
          <a:xfrm>
            <a:off x="3857327" y="2581275"/>
            <a:ext cx="0" cy="573286"/>
          </a:xfrm>
          <a:prstGeom prst="line">
            <a:avLst/>
          </a:prstGeom>
          <a:noFill/>
          <a:ln w="38100">
            <a:solidFill>
              <a:srgbClr val="10B981"/>
            </a:solidFill>
            <a:prstDash val="solid"/>
          </a:ln>
        </p:spPr>
        <p:txBody>
          <a:bodyPr/>
          <a:lstStyle/>
          <a:p>
            <a:endParaRPr lang="en-US"/>
          </a:p>
        </p:txBody>
      </p:sp>
      <p:sp>
        <p:nvSpPr>
          <p:cNvPr id="32" name="Text 30"/>
          <p:cNvSpPr/>
          <p:nvPr/>
        </p:nvSpPr>
        <p:spPr>
          <a:xfrm>
            <a:off x="4009727" y="2695575"/>
            <a:ext cx="1358804" cy="186630"/>
          </a:xfrm>
          <a:prstGeom prst="rect">
            <a:avLst/>
          </a:prstGeom>
          <a:noFill/>
          <a:ln/>
        </p:spPr>
        <p:txBody>
          <a:bodyPr wrap="square" lIns="0" tIns="0" rIns="0" bIns="0" rtlCol="0" anchor="t"/>
          <a:lstStyle/>
          <a:p>
            <a:pPr marL="0" indent="0" algn="l">
              <a:lnSpc>
                <a:spcPts val="1470"/>
              </a:lnSpc>
              <a:buNone/>
            </a:pPr>
            <a:r>
              <a:rPr lang="en-US" sz="1050" b="1" dirty="0">
                <a:solidFill>
                  <a:srgbClr val="10B981"/>
                </a:solidFill>
                <a:latin typeface="Arial" pitchFamily="34" charset="0"/>
                <a:ea typeface="Arial" pitchFamily="34" charset="-122"/>
                <a:cs typeface="Arial" pitchFamily="34" charset="-120"/>
              </a:rPr>
              <a:t>Claude Haiku 3.5</a:t>
            </a:r>
            <a:endParaRPr lang="en-US" sz="1050" dirty="0"/>
          </a:p>
        </p:txBody>
      </p:sp>
      <p:sp>
        <p:nvSpPr>
          <p:cNvPr id="33" name="Text 31"/>
          <p:cNvSpPr/>
          <p:nvPr/>
        </p:nvSpPr>
        <p:spPr>
          <a:xfrm>
            <a:off x="4009727" y="2920305"/>
            <a:ext cx="1358804" cy="119955"/>
          </a:xfrm>
          <a:prstGeom prst="rect">
            <a:avLst/>
          </a:prstGeom>
          <a:noFill/>
          <a:ln/>
        </p:spPr>
        <p:txBody>
          <a:bodyPr wrap="square" lIns="0" tIns="0" rIns="0" bIns="0" rtlCol="0" anchor="t"/>
          <a:lstStyle/>
          <a:p>
            <a:pPr marL="0" indent="0" algn="l">
              <a:lnSpc>
                <a:spcPts val="945"/>
              </a:lnSpc>
              <a:spcBef>
                <a:spcPts val="300"/>
              </a:spcBef>
              <a:buNone/>
            </a:pPr>
            <a:r>
              <a:rPr lang="en-US" sz="675" dirty="0">
                <a:solidFill>
                  <a:srgbClr val="6B7280"/>
                </a:solidFill>
                <a:latin typeface="Arial" pitchFamily="34" charset="0"/>
                <a:ea typeface="Arial" pitchFamily="34" charset="-122"/>
                <a:cs typeface="Arial" pitchFamily="34" charset="-120"/>
              </a:rPr>
              <a:t>Fastest • Lowest cost • Quick tasks</a:t>
            </a:r>
            <a:endParaRPr lang="en-US" sz="675" dirty="0"/>
          </a:p>
        </p:txBody>
      </p:sp>
      <p:sp>
        <p:nvSpPr>
          <p:cNvPr id="34" name="Text 32"/>
          <p:cNvSpPr/>
          <p:nvPr/>
        </p:nvSpPr>
        <p:spPr>
          <a:xfrm>
            <a:off x="7791224" y="2745135"/>
            <a:ext cx="952726" cy="106561"/>
          </a:xfrm>
          <a:prstGeom prst="rect">
            <a:avLst/>
          </a:prstGeom>
          <a:noFill/>
          <a:ln/>
        </p:spPr>
        <p:txBody>
          <a:bodyPr wrap="square" lIns="0" tIns="0" rIns="0" bIns="0" rtlCol="0" anchor="t"/>
          <a:lstStyle/>
          <a:p>
            <a:pPr marL="0" indent="0" algn="r">
              <a:lnSpc>
                <a:spcPts val="840"/>
              </a:lnSpc>
              <a:buNone/>
            </a:pPr>
            <a:r>
              <a:rPr lang="en-US" sz="600" dirty="0">
                <a:solidFill>
                  <a:srgbClr val="9CA3AF"/>
                </a:solidFill>
                <a:latin typeface="Arial" pitchFamily="34" charset="0"/>
                <a:ea typeface="Arial" pitchFamily="34" charset="-122"/>
                <a:cs typeface="Arial" pitchFamily="34" charset="-120"/>
              </a:rPr>
              <a:t>BEST FOR</a:t>
            </a:r>
            <a:endParaRPr lang="en-US" sz="600" dirty="0"/>
          </a:p>
        </p:txBody>
      </p:sp>
      <p:sp>
        <p:nvSpPr>
          <p:cNvPr id="35" name="Text 33"/>
          <p:cNvSpPr/>
          <p:nvPr/>
        </p:nvSpPr>
        <p:spPr>
          <a:xfrm>
            <a:off x="7791224" y="2870746"/>
            <a:ext cx="952726" cy="119955"/>
          </a:xfrm>
          <a:prstGeom prst="rect">
            <a:avLst/>
          </a:prstGeom>
          <a:noFill/>
          <a:ln/>
        </p:spPr>
        <p:txBody>
          <a:bodyPr wrap="square" lIns="0" tIns="0" rIns="0" bIns="0" rtlCol="0" anchor="t"/>
          <a:lstStyle/>
          <a:p>
            <a:pPr marL="0" indent="0" algn="r">
              <a:lnSpc>
                <a:spcPts val="945"/>
              </a:lnSpc>
              <a:spcBef>
                <a:spcPts val="150"/>
              </a:spcBef>
              <a:buNone/>
            </a:pPr>
            <a:r>
              <a:rPr lang="en-US" sz="675" dirty="0">
                <a:solidFill>
                  <a:srgbClr val="1A1F2E"/>
                </a:solidFill>
                <a:latin typeface="Arial" pitchFamily="34" charset="0"/>
                <a:ea typeface="Arial" pitchFamily="34" charset="-122"/>
                <a:cs typeface="Arial" pitchFamily="34" charset="-120"/>
              </a:rPr>
              <a:t>Simple edits, exploration</a:t>
            </a:r>
            <a:endParaRPr lang="en-US" sz="675" dirty="0"/>
          </a:p>
        </p:txBody>
      </p:sp>
      <p:sp>
        <p:nvSpPr>
          <p:cNvPr id="36" name="Text 34"/>
          <p:cNvSpPr/>
          <p:nvPr/>
        </p:nvSpPr>
        <p:spPr>
          <a:xfrm>
            <a:off x="3838277" y="3421261"/>
            <a:ext cx="5039023" cy="506611"/>
          </a:xfrm>
          <a:prstGeom prst="rect">
            <a:avLst/>
          </a:prstGeom>
          <a:solidFill>
            <a:srgbClr val="DBEAFE"/>
          </a:solidFill>
          <a:ln/>
        </p:spPr>
        <p:txBody>
          <a:bodyPr wrap="square" rtlCol="0" anchor="ctr"/>
          <a:lstStyle/>
          <a:p>
            <a:pPr marL="0" indent="0">
              <a:buNone/>
            </a:pPr>
            <a:endParaRPr lang="en-US" dirty="0"/>
          </a:p>
        </p:txBody>
      </p:sp>
      <p:sp>
        <p:nvSpPr>
          <p:cNvPr id="37" name="Shape 35"/>
          <p:cNvSpPr/>
          <p:nvPr/>
        </p:nvSpPr>
        <p:spPr>
          <a:xfrm>
            <a:off x="3852565" y="3421261"/>
            <a:ext cx="0" cy="506611"/>
          </a:xfrm>
          <a:prstGeom prst="line">
            <a:avLst/>
          </a:prstGeom>
          <a:noFill/>
          <a:ln w="28575">
            <a:solidFill>
              <a:srgbClr val="3B82F6"/>
            </a:solidFill>
            <a:prstDash val="solid"/>
          </a:ln>
        </p:spPr>
        <p:txBody>
          <a:bodyPr/>
          <a:lstStyle/>
          <a:p>
            <a:endParaRPr lang="en-US"/>
          </a:p>
        </p:txBody>
      </p:sp>
      <p:sp>
        <p:nvSpPr>
          <p:cNvPr id="38" name="Text 36"/>
          <p:cNvSpPr/>
          <p:nvPr/>
        </p:nvSpPr>
        <p:spPr>
          <a:xfrm>
            <a:off x="3981152" y="3535561"/>
            <a:ext cx="4877485" cy="119955"/>
          </a:xfrm>
          <a:prstGeom prst="rect">
            <a:avLst/>
          </a:prstGeom>
          <a:noFill/>
          <a:ln/>
        </p:spPr>
        <p:txBody>
          <a:bodyPr wrap="square" lIns="0" tIns="0" rIns="0" bIns="0" rtlCol="0" anchor="t"/>
          <a:lstStyle/>
          <a:p>
            <a:pPr marL="0" indent="0" algn="l">
              <a:lnSpc>
                <a:spcPts val="945"/>
              </a:lnSpc>
              <a:spcAft>
                <a:spcPts val="300"/>
              </a:spcAft>
              <a:buNone/>
            </a:pPr>
            <a:r>
              <a:rPr lang="en-US" sz="675" b="1" dirty="0">
                <a:solidFill>
                  <a:srgbClr val="1E40AF"/>
                </a:solidFill>
                <a:latin typeface="Arial" pitchFamily="34" charset="0"/>
                <a:ea typeface="Arial" pitchFamily="34" charset="-122"/>
                <a:cs typeface="Arial" pitchFamily="34" charset="-120"/>
              </a:rPr>
              <a:t>ENTERPRISE OPTIONS</a:t>
            </a:r>
            <a:endParaRPr lang="en-US" sz="675" dirty="0"/>
          </a:p>
        </p:txBody>
      </p:sp>
      <p:sp>
        <p:nvSpPr>
          <p:cNvPr id="39" name="Text 37"/>
          <p:cNvSpPr/>
          <p:nvPr/>
        </p:nvSpPr>
        <p:spPr>
          <a:xfrm>
            <a:off x="3981152" y="3693616"/>
            <a:ext cx="4877485" cy="119955"/>
          </a:xfrm>
          <a:prstGeom prst="rect">
            <a:avLst/>
          </a:prstGeom>
          <a:noFill/>
          <a:ln/>
        </p:spPr>
        <p:txBody>
          <a:bodyPr wrap="square" lIns="0" tIns="0" rIns="0" bIns="0" rtlCol="0" anchor="t"/>
          <a:lstStyle/>
          <a:p>
            <a:pPr marL="0" indent="0" algn="l">
              <a:lnSpc>
                <a:spcPts val="945"/>
              </a:lnSpc>
              <a:buNone/>
            </a:pPr>
            <a:r>
              <a:rPr lang="en-US" sz="675" dirty="0">
                <a:solidFill>
                  <a:srgbClr val="1E40AF"/>
                </a:solidFill>
                <a:latin typeface="Arial" pitchFamily="34" charset="0"/>
                <a:ea typeface="Arial" pitchFamily="34" charset="-122"/>
                <a:cs typeface="Arial" pitchFamily="34" charset="-120"/>
              </a:rPr>
              <a:t>Amazon Bedrock and Google Vertex AI instances available for organizations with existing cloud relationships.</a:t>
            </a:r>
            <a:endParaRPr lang="en-US" sz="675" dirty="0"/>
          </a:p>
        </p:txBody>
      </p:sp>
      <p:sp>
        <p:nvSpPr>
          <p:cNvPr id="40" name="Text 38"/>
          <p:cNvSpPr/>
          <p:nvPr/>
        </p:nvSpPr>
        <p:spPr>
          <a:xfrm>
            <a:off x="3838277" y="4175522"/>
            <a:ext cx="5039023" cy="455116"/>
          </a:xfrm>
          <a:prstGeom prst="rect">
            <a:avLst/>
          </a:prstGeom>
          <a:solidFill>
            <a:srgbClr val="1A1F2E"/>
          </a:solidFill>
          <a:ln/>
        </p:spPr>
        <p:txBody>
          <a:bodyPr wrap="square" rtlCol="0" anchor="ctr"/>
          <a:lstStyle/>
          <a:p>
            <a:pPr marL="0" indent="0">
              <a:buNone/>
            </a:pPr>
            <a:endParaRPr lang="en-US" dirty="0"/>
          </a:p>
        </p:txBody>
      </p:sp>
      <p:sp>
        <p:nvSpPr>
          <p:cNvPr id="41" name="Text 39"/>
          <p:cNvSpPr/>
          <p:nvPr/>
        </p:nvSpPr>
        <p:spPr>
          <a:xfrm>
            <a:off x="3933527" y="4270772"/>
            <a:ext cx="4945493" cy="106561"/>
          </a:xfrm>
          <a:prstGeom prst="rect">
            <a:avLst/>
          </a:prstGeom>
          <a:noFill/>
          <a:ln/>
        </p:spPr>
        <p:txBody>
          <a:bodyPr wrap="square" lIns="0" tIns="0" rIns="0" bIns="0" rtlCol="0" anchor="t"/>
          <a:lstStyle/>
          <a:p>
            <a:pPr marL="0" indent="0" algn="l">
              <a:lnSpc>
                <a:spcPts val="840"/>
              </a:lnSpc>
              <a:spcAft>
                <a:spcPts val="300"/>
              </a:spcAft>
              <a:buNone/>
            </a:pPr>
            <a:r>
              <a:rPr lang="en-US" sz="600" dirty="0">
                <a:solidFill>
                  <a:srgbClr val="C9A227"/>
                </a:solidFill>
                <a:latin typeface="Arial" pitchFamily="34" charset="0"/>
                <a:ea typeface="Arial" pitchFamily="34" charset="-122"/>
                <a:cs typeface="Arial" pitchFamily="34" charset="-120"/>
              </a:rPr>
              <a:t>TIP: SUB-AGENT MODEL OVERRIDE</a:t>
            </a:r>
            <a:endParaRPr lang="en-US" sz="600" dirty="0"/>
          </a:p>
        </p:txBody>
      </p:sp>
      <p:sp>
        <p:nvSpPr>
          <p:cNvPr id="42" name="Text 40"/>
          <p:cNvSpPr/>
          <p:nvPr/>
        </p:nvSpPr>
        <p:spPr>
          <a:xfrm>
            <a:off x="3933527" y="4415433"/>
            <a:ext cx="4945493" cy="119955"/>
          </a:xfrm>
          <a:prstGeom prst="rect">
            <a:avLst/>
          </a:prstGeom>
          <a:noFill/>
          <a:ln/>
        </p:spPr>
        <p:txBody>
          <a:bodyPr wrap="square" lIns="0" tIns="0" rIns="0" bIns="0" rtlCol="0" anchor="t"/>
          <a:lstStyle/>
          <a:p>
            <a:pPr marL="0" indent="0" algn="l">
              <a:lnSpc>
                <a:spcPts val="945"/>
              </a:lnSpc>
              <a:buNone/>
            </a:pPr>
            <a:r>
              <a:rPr lang="en-US" sz="675" dirty="0">
                <a:solidFill>
                  <a:srgbClr val="FFFFFF">
                    <a:alpha val="80000"/>
                  </a:srgbClr>
                </a:solidFill>
                <a:latin typeface="Arial" pitchFamily="34" charset="0"/>
                <a:ea typeface="Arial" pitchFamily="34" charset="-122"/>
                <a:cs typeface="Arial" pitchFamily="34" charset="-120"/>
              </a:rPr>
              <a:t>Sub-agents can use different models — use Haiku for exploration, Opus for planning</a:t>
            </a:r>
            <a:endParaRPr lang="en-US" sz="675"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0" y="0"/>
            <a:ext cx="3419177" cy="5143500"/>
          </a:xfrm>
          <a:prstGeom prst="rect">
            <a:avLst/>
          </a:prstGeom>
          <a:solidFill>
            <a:srgbClr val="1A1F2E"/>
          </a:solidFill>
          <a:ln/>
        </p:spPr>
        <p:txBody>
          <a:bodyPr wrap="square" rtlCol="0" anchor="ctr"/>
          <a:lstStyle/>
          <a:p>
            <a:pPr marL="0" indent="0">
              <a:buNone/>
            </a:pPr>
            <a:endParaRPr lang="en-US" dirty="0"/>
          </a:p>
        </p:txBody>
      </p:sp>
      <p:sp>
        <p:nvSpPr>
          <p:cNvPr id="3" name="Text 1"/>
          <p:cNvSpPr/>
          <p:nvPr/>
        </p:nvSpPr>
        <p:spPr>
          <a:xfrm>
            <a:off x="266700" y="266700"/>
            <a:ext cx="900410" cy="201811"/>
          </a:xfrm>
          <a:prstGeom prst="rect">
            <a:avLst/>
          </a:prstGeom>
          <a:solidFill>
            <a:srgbClr val="D97706"/>
          </a:solidFill>
          <a:ln/>
        </p:spPr>
        <p:txBody>
          <a:bodyPr wrap="square" rtlCol="0" anchor="ctr"/>
          <a:lstStyle/>
          <a:p>
            <a:pPr marL="0" indent="0">
              <a:buNone/>
            </a:pPr>
            <a:endParaRPr lang="en-US" dirty="0"/>
          </a:p>
        </p:txBody>
      </p:sp>
      <p:sp>
        <p:nvSpPr>
          <p:cNvPr id="4" name="Text 2"/>
          <p:cNvSpPr/>
          <p:nvPr/>
        </p:nvSpPr>
        <p:spPr>
          <a:xfrm>
            <a:off x="361950" y="314325"/>
            <a:ext cx="724108" cy="106561"/>
          </a:xfrm>
          <a:prstGeom prst="rect">
            <a:avLst/>
          </a:prstGeom>
          <a:noFill/>
          <a:ln/>
        </p:spPr>
        <p:txBody>
          <a:bodyPr wrap="square" lIns="0" tIns="0" rIns="0" bIns="0" rtlCol="0" anchor="t"/>
          <a:lstStyle/>
          <a:p>
            <a:pPr marL="0" indent="0" algn="l">
              <a:lnSpc>
                <a:spcPts val="840"/>
              </a:lnSpc>
              <a:buNone/>
            </a:pPr>
            <a:r>
              <a:rPr lang="en-US" sz="600" b="1" dirty="0">
                <a:solidFill>
                  <a:srgbClr val="1A1F2E"/>
                </a:solidFill>
                <a:latin typeface="Arial" pitchFamily="34" charset="0"/>
                <a:ea typeface="Arial" pitchFamily="34" charset="-122"/>
                <a:cs typeface="Arial" pitchFamily="34" charset="-120"/>
              </a:rPr>
              <a:t>CORE FEATURE</a:t>
            </a:r>
            <a:endParaRPr lang="en-US" sz="600" dirty="0"/>
          </a:p>
        </p:txBody>
      </p:sp>
      <p:sp>
        <p:nvSpPr>
          <p:cNvPr id="5" name="Text 3"/>
          <p:cNvSpPr/>
          <p:nvPr/>
        </p:nvSpPr>
        <p:spPr>
          <a:xfrm>
            <a:off x="266700" y="716161"/>
            <a:ext cx="1476756" cy="594122"/>
          </a:xfrm>
          <a:prstGeom prst="rect">
            <a:avLst/>
          </a:prstGeom>
          <a:noFill/>
          <a:ln/>
        </p:spPr>
        <p:txBody>
          <a:bodyPr wrap="square" lIns="0" tIns="0" rIns="0" bIns="0" rtlCol="0" anchor="t"/>
          <a:lstStyle/>
          <a:p>
            <a:pPr marL="0" indent="0" algn="l">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Slash</a:t>
            </a:r>
            <a:endParaRPr lang="en-US" sz="1950" dirty="0"/>
          </a:p>
          <a:p>
            <a:pPr marL="0" indent="0" algn="l">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Commands</a:t>
            </a:r>
            <a:endParaRPr lang="en-US" sz="1950" dirty="0"/>
          </a:p>
        </p:txBody>
      </p:sp>
      <p:sp>
        <p:nvSpPr>
          <p:cNvPr id="6" name="Text 4"/>
          <p:cNvSpPr/>
          <p:nvPr/>
        </p:nvSpPr>
        <p:spPr>
          <a:xfrm>
            <a:off x="266700" y="1557933"/>
            <a:ext cx="381000" cy="19050"/>
          </a:xfrm>
          <a:prstGeom prst="rect">
            <a:avLst/>
          </a:prstGeom>
          <a:solidFill>
            <a:srgbClr val="C9A227"/>
          </a:solidFill>
          <a:ln/>
        </p:spPr>
        <p:txBody>
          <a:bodyPr wrap="square" rtlCol="0" anchor="ctr"/>
          <a:lstStyle/>
          <a:p>
            <a:pPr marL="0" indent="0">
              <a:buNone/>
            </a:pPr>
            <a:endParaRPr lang="en-US" dirty="0"/>
          </a:p>
        </p:txBody>
      </p:sp>
      <p:sp>
        <p:nvSpPr>
          <p:cNvPr id="7" name="Text 5"/>
          <p:cNvSpPr/>
          <p:nvPr/>
        </p:nvSpPr>
        <p:spPr>
          <a:xfrm>
            <a:off x="266700" y="1862733"/>
            <a:ext cx="2885777" cy="685800"/>
          </a:xfrm>
          <a:prstGeom prst="rect">
            <a:avLst/>
          </a:prstGeom>
          <a:solidFill>
            <a:srgbClr val="D97706">
              <a:alpha val="15000"/>
            </a:srgbClr>
          </a:solidFill>
          <a:ln/>
        </p:spPr>
        <p:txBody>
          <a:bodyPr wrap="square" rtlCol="0" anchor="ctr"/>
          <a:lstStyle/>
          <a:p>
            <a:pPr marL="0" indent="0">
              <a:buNone/>
            </a:pPr>
            <a:endParaRPr lang="en-US" dirty="0"/>
          </a:p>
        </p:txBody>
      </p:sp>
      <p:sp>
        <p:nvSpPr>
          <p:cNvPr id="8" name="Shape 6"/>
          <p:cNvSpPr/>
          <p:nvPr/>
        </p:nvSpPr>
        <p:spPr>
          <a:xfrm>
            <a:off x="280988" y="1862733"/>
            <a:ext cx="0" cy="685800"/>
          </a:xfrm>
          <a:prstGeom prst="line">
            <a:avLst/>
          </a:prstGeom>
          <a:noFill/>
          <a:ln w="28575">
            <a:solidFill>
              <a:srgbClr val="D97706"/>
            </a:solidFill>
            <a:prstDash val="solid"/>
          </a:ln>
        </p:spPr>
        <p:txBody>
          <a:bodyPr/>
          <a:lstStyle/>
          <a:p>
            <a:endParaRPr lang="en-US"/>
          </a:p>
        </p:txBody>
      </p:sp>
      <p:sp>
        <p:nvSpPr>
          <p:cNvPr id="9" name="Text 7"/>
          <p:cNvSpPr/>
          <p:nvPr/>
        </p:nvSpPr>
        <p:spPr>
          <a:xfrm>
            <a:off x="409575" y="1977033"/>
            <a:ext cx="2681174"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FBBF24"/>
                </a:solidFill>
                <a:latin typeface="Arial" pitchFamily="34" charset="0"/>
                <a:ea typeface="Arial" pitchFamily="34" charset="-122"/>
                <a:cs typeface="Arial" pitchFamily="34" charset="-120"/>
              </a:rPr>
              <a:t>WHAT THEY ARE</a:t>
            </a:r>
            <a:endParaRPr lang="en-US" sz="750" dirty="0"/>
          </a:p>
        </p:txBody>
      </p:sp>
      <p:sp>
        <p:nvSpPr>
          <p:cNvPr id="10" name="Text 8"/>
          <p:cNvSpPr/>
          <p:nvPr/>
        </p:nvSpPr>
        <p:spPr>
          <a:xfrm>
            <a:off x="409575" y="2148483"/>
            <a:ext cx="2681174" cy="285750"/>
          </a:xfrm>
          <a:prstGeom prst="rect">
            <a:avLst/>
          </a:prstGeom>
          <a:noFill/>
          <a:ln/>
        </p:spPr>
        <p:txBody>
          <a:bodyPr wrap="square" lIns="0" tIns="0" rIns="0" bIns="0" rtlCol="0" anchor="t"/>
          <a:lstStyle/>
          <a:p>
            <a:pPr marL="0" indent="0" algn="l">
              <a:lnSpc>
                <a:spcPts val="1125"/>
              </a:lnSpc>
              <a:buNone/>
            </a:pPr>
            <a:r>
              <a:rPr lang="en-US" sz="750" dirty="0">
                <a:solidFill>
                  <a:srgbClr val="FFFFFF">
                    <a:alpha val="80000"/>
                  </a:srgbClr>
                </a:solidFill>
                <a:latin typeface="Arial" pitchFamily="34" charset="0"/>
                <a:ea typeface="Arial" pitchFamily="34" charset="-122"/>
                <a:cs typeface="Arial" pitchFamily="34" charset="-120"/>
              </a:rPr>
              <a:t>Manual commands you invoke by typing /command in the prompt.</a:t>
            </a:r>
            <a:endParaRPr lang="en-US" sz="750" dirty="0"/>
          </a:p>
        </p:txBody>
      </p:sp>
      <p:sp>
        <p:nvSpPr>
          <p:cNvPr id="11" name="Text 9"/>
          <p:cNvSpPr/>
          <p:nvPr/>
        </p:nvSpPr>
        <p:spPr>
          <a:xfrm>
            <a:off x="266700" y="2834283"/>
            <a:ext cx="2885777" cy="830312"/>
          </a:xfrm>
          <a:prstGeom prst="rect">
            <a:avLst/>
          </a:prstGeom>
          <a:solidFill>
            <a:srgbClr val="FFFFFF">
              <a:alpha val="5000"/>
            </a:srgbClr>
          </a:solidFill>
          <a:ln/>
        </p:spPr>
        <p:txBody>
          <a:bodyPr wrap="square" rtlCol="0" anchor="ctr"/>
          <a:lstStyle/>
          <a:p>
            <a:pPr marL="0" indent="0">
              <a:buNone/>
            </a:pPr>
            <a:endParaRPr lang="en-US" dirty="0"/>
          </a:p>
        </p:txBody>
      </p:sp>
      <p:sp>
        <p:nvSpPr>
          <p:cNvPr id="12" name="Text 10"/>
          <p:cNvSpPr/>
          <p:nvPr/>
        </p:nvSpPr>
        <p:spPr>
          <a:xfrm>
            <a:off x="381000" y="2948583"/>
            <a:ext cx="2710321" cy="133350"/>
          </a:xfrm>
          <a:prstGeom prst="rect">
            <a:avLst/>
          </a:prstGeom>
          <a:noFill/>
          <a:ln/>
        </p:spPr>
        <p:txBody>
          <a:bodyPr wrap="square" lIns="0" tIns="0" rIns="0" bIns="0" rtlCol="0" anchor="t"/>
          <a:lstStyle/>
          <a:p>
            <a:pPr marL="0" indent="0" algn="l">
              <a:lnSpc>
                <a:spcPts val="1050"/>
              </a:lnSpc>
              <a:spcAft>
                <a:spcPts val="450"/>
              </a:spcAft>
              <a:buNone/>
            </a:pPr>
            <a:r>
              <a:rPr lang="en-US" sz="750" b="1" dirty="0">
                <a:solidFill>
                  <a:srgbClr val="FFFFFF"/>
                </a:solidFill>
                <a:latin typeface="Arial" pitchFamily="34" charset="0"/>
                <a:ea typeface="Arial" pitchFamily="34" charset="-122"/>
                <a:cs typeface="Arial" pitchFamily="34" charset="-120"/>
              </a:rPr>
              <a:t>HOW TO ACCESS</a:t>
            </a:r>
            <a:endParaRPr lang="en-US" sz="750" dirty="0"/>
          </a:p>
        </p:txBody>
      </p:sp>
      <p:sp>
        <p:nvSpPr>
          <p:cNvPr id="13" name="Text 11"/>
          <p:cNvSpPr/>
          <p:nvPr/>
        </p:nvSpPr>
        <p:spPr>
          <a:xfrm>
            <a:off x="381000" y="3139083"/>
            <a:ext cx="2710321" cy="411212"/>
          </a:xfrm>
          <a:prstGeom prst="rect">
            <a:avLst/>
          </a:prstGeom>
          <a:noFill/>
          <a:ln/>
        </p:spPr>
        <p:txBody>
          <a:bodyPr wrap="square" lIns="0" tIns="0" rIns="0" bIns="0" rtlCol="0" anchor="t"/>
          <a:lstStyle/>
          <a:p>
            <a:pPr marL="0" indent="0" algn="l">
              <a:lnSpc>
                <a:spcPts val="1080"/>
              </a:lnSpc>
              <a:buNone/>
            </a:pPr>
            <a:r>
              <a:rPr lang="en-US" sz="675" dirty="0">
                <a:solidFill>
                  <a:srgbClr val="FFFFFF">
                    <a:alpha val="60000"/>
                  </a:srgbClr>
                </a:solidFill>
                <a:latin typeface="Arial" pitchFamily="34" charset="0"/>
                <a:ea typeface="Arial" pitchFamily="34" charset="-122"/>
                <a:cs typeface="Arial" pitchFamily="34" charset="-120"/>
              </a:rPr>
              <a:t>Type / to see all available commands</a:t>
            </a:r>
            <a:endParaRPr lang="en-US" sz="675" dirty="0"/>
          </a:p>
          <a:p>
            <a:pPr marL="0" indent="0" algn="l">
              <a:lnSpc>
                <a:spcPts val="1080"/>
              </a:lnSpc>
              <a:buNone/>
            </a:pPr>
            <a:r>
              <a:rPr lang="en-US" sz="675" dirty="0">
                <a:solidFill>
                  <a:srgbClr val="FFFFFF">
                    <a:alpha val="60000"/>
                  </a:srgbClr>
                </a:solidFill>
                <a:latin typeface="Arial" pitchFamily="34" charset="0"/>
                <a:ea typeface="Arial" pitchFamily="34" charset="-122"/>
                <a:cs typeface="Arial" pitchFamily="34" charset="-120"/>
              </a:rPr>
              <a:t> Tab to autocomplete</a:t>
            </a:r>
            <a:endParaRPr lang="en-US" sz="675" dirty="0"/>
          </a:p>
          <a:p>
            <a:pPr marL="0" indent="0" algn="l">
              <a:lnSpc>
                <a:spcPts val="1080"/>
              </a:lnSpc>
              <a:buNone/>
            </a:pPr>
            <a:r>
              <a:rPr lang="en-US" sz="675" dirty="0">
                <a:solidFill>
                  <a:srgbClr val="FFFFFF">
                    <a:alpha val="60000"/>
                  </a:srgbClr>
                </a:solidFill>
                <a:latin typeface="Arial" pitchFamily="34" charset="0"/>
                <a:ea typeface="Arial" pitchFamily="34" charset="-122"/>
                <a:cs typeface="Arial" pitchFamily="34" charset="-120"/>
              </a:rPr>
              <a:t> Arrow keys to navigate</a:t>
            </a:r>
            <a:endParaRPr lang="en-US" sz="675" dirty="0"/>
          </a:p>
        </p:txBody>
      </p:sp>
      <p:sp>
        <p:nvSpPr>
          <p:cNvPr id="14" name="Text 12"/>
          <p:cNvSpPr/>
          <p:nvPr/>
        </p:nvSpPr>
        <p:spPr>
          <a:xfrm>
            <a:off x="266700" y="4566345"/>
            <a:ext cx="2885777" cy="310455"/>
          </a:xfrm>
          <a:prstGeom prst="rect">
            <a:avLst/>
          </a:prstGeom>
          <a:solidFill>
            <a:srgbClr val="C9A227"/>
          </a:solidFill>
          <a:ln/>
        </p:spPr>
        <p:txBody>
          <a:bodyPr wrap="square" rtlCol="0" anchor="ctr"/>
          <a:lstStyle/>
          <a:p>
            <a:pPr marL="0" indent="0">
              <a:buNone/>
            </a:pPr>
            <a:endParaRPr lang="en-US" dirty="0"/>
          </a:p>
        </p:txBody>
      </p:sp>
      <p:sp>
        <p:nvSpPr>
          <p:cNvPr id="15" name="Text 13"/>
          <p:cNvSpPr/>
          <p:nvPr/>
        </p:nvSpPr>
        <p:spPr>
          <a:xfrm>
            <a:off x="334997" y="4661595"/>
            <a:ext cx="2749183" cy="119955"/>
          </a:xfrm>
          <a:prstGeom prst="rect">
            <a:avLst/>
          </a:prstGeom>
          <a:noFill/>
          <a:ln/>
        </p:spPr>
        <p:txBody>
          <a:bodyPr wrap="square" lIns="0" tIns="0" rIns="0" bIns="0" rtlCol="0" anchor="t"/>
          <a:lstStyle/>
          <a:p>
            <a:pPr marL="0" indent="0" algn="ctr">
              <a:lnSpc>
                <a:spcPts val="945"/>
              </a:lnSpc>
              <a:buNone/>
            </a:pPr>
            <a:r>
              <a:rPr lang="en-US" sz="675" b="1" dirty="0">
                <a:solidFill>
                  <a:srgbClr val="1A1F2E"/>
                </a:solidFill>
                <a:latin typeface="Arial" pitchFamily="34" charset="0"/>
                <a:ea typeface="Arial" pitchFamily="34" charset="-122"/>
                <a:cs typeface="Arial" pitchFamily="34" charset="-120"/>
              </a:rPr>
              <a:t>Foundation for customization</a:t>
            </a:r>
            <a:endParaRPr lang="en-US" sz="675" dirty="0"/>
          </a:p>
        </p:txBody>
      </p:sp>
      <p:sp>
        <p:nvSpPr>
          <p:cNvPr id="16" name="Text 14"/>
          <p:cNvSpPr/>
          <p:nvPr/>
        </p:nvSpPr>
        <p:spPr>
          <a:xfrm>
            <a:off x="3571577" y="0"/>
            <a:ext cx="5572423" cy="5143500"/>
          </a:xfrm>
          <a:prstGeom prst="rect">
            <a:avLst/>
          </a:prstGeom>
          <a:solidFill>
            <a:srgbClr val="F7F8FA"/>
          </a:solidFill>
          <a:ln/>
        </p:spPr>
        <p:txBody>
          <a:bodyPr wrap="square" rtlCol="0" anchor="ctr"/>
          <a:lstStyle/>
          <a:p>
            <a:pPr marL="0" indent="0">
              <a:buNone/>
            </a:pPr>
            <a:endParaRPr lang="en-US" dirty="0"/>
          </a:p>
        </p:txBody>
      </p:sp>
      <p:sp>
        <p:nvSpPr>
          <p:cNvPr id="17" name="Text 15"/>
          <p:cNvSpPr/>
          <p:nvPr/>
        </p:nvSpPr>
        <p:spPr>
          <a:xfrm>
            <a:off x="3838277" y="688181"/>
            <a:ext cx="5139803" cy="159990"/>
          </a:xfrm>
          <a:prstGeom prst="rect">
            <a:avLst/>
          </a:prstGeom>
          <a:noFill/>
          <a:ln/>
        </p:spPr>
        <p:txBody>
          <a:bodyPr wrap="square" lIns="0" tIns="0" rIns="0" bIns="0" rtlCol="0" anchor="t"/>
          <a:lstStyle/>
          <a:p>
            <a:pPr marL="0" indent="0" algn="l">
              <a:lnSpc>
                <a:spcPts val="1260"/>
              </a:lnSpc>
              <a:spcAft>
                <a:spcPts val="900"/>
              </a:spcAft>
              <a:buNone/>
            </a:pPr>
            <a:r>
              <a:rPr lang="en-US" sz="900" b="1" dirty="0">
                <a:solidFill>
                  <a:srgbClr val="1A1F2E"/>
                </a:solidFill>
                <a:latin typeface="Arial" pitchFamily="34" charset="0"/>
                <a:ea typeface="Arial" pitchFamily="34" charset="-122"/>
                <a:cs typeface="Arial" pitchFamily="34" charset="-120"/>
              </a:rPr>
              <a:t>BUILT-IN COMMANDS</a:t>
            </a:r>
            <a:endParaRPr lang="en-US" sz="900" dirty="0"/>
          </a:p>
        </p:txBody>
      </p:sp>
      <p:sp>
        <p:nvSpPr>
          <p:cNvPr id="18" name="Text 16"/>
          <p:cNvSpPr/>
          <p:nvPr/>
        </p:nvSpPr>
        <p:spPr>
          <a:xfrm>
            <a:off x="3838277" y="1114871"/>
            <a:ext cx="5039023" cy="1230509"/>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19" name="Text 17"/>
          <p:cNvSpPr/>
          <p:nvPr/>
        </p:nvSpPr>
        <p:spPr>
          <a:xfrm>
            <a:off x="3962102" y="1238696"/>
            <a:ext cx="2365876" cy="582811"/>
          </a:xfrm>
          <a:prstGeom prst="rect">
            <a:avLst/>
          </a:prstGeom>
          <a:noFill/>
          <a:ln/>
        </p:spPr>
        <p:txBody>
          <a:bodyPr wrap="square" lIns="0" tIns="0" rIns="0" bIns="0" rtlCol="0" anchor="t"/>
          <a:lstStyle/>
          <a:p>
            <a:pPr marL="0" indent="0" algn="l">
              <a:lnSpc>
                <a:spcPts val="1148"/>
              </a:lnSpc>
              <a:buNone/>
            </a:pPr>
            <a:r>
              <a:rPr lang="en-US" sz="675" b="1" dirty="0">
                <a:solidFill>
                  <a:srgbClr val="D97706"/>
                </a:solidFill>
                <a:latin typeface="Arial" pitchFamily="34" charset="0"/>
                <a:ea typeface="Arial" pitchFamily="34" charset="-122"/>
                <a:cs typeface="Arial" pitchFamily="34" charset="-120"/>
              </a:rPr>
              <a:t>/plan</a:t>
            </a:r>
            <a:r>
              <a:rPr lang="en-US" sz="675" dirty="0">
                <a:solidFill>
                  <a:srgbClr val="6B7280"/>
                </a:solidFill>
                <a:latin typeface="Arial" pitchFamily="34" charset="0"/>
                <a:ea typeface="Arial" pitchFamily="34" charset="-122"/>
                <a:cs typeface="Arial" pitchFamily="34" charset="-120"/>
              </a:rPr>
              <a:t> — Enter planning mode</a:t>
            </a:r>
            <a:endParaRPr lang="en-US" sz="675" dirty="0"/>
          </a:p>
          <a:p>
            <a:pPr marL="0" indent="0" algn="l">
              <a:lnSpc>
                <a:spcPts val="1148"/>
              </a:lnSpc>
              <a:buNone/>
            </a:pPr>
            <a:r>
              <a:rPr lang="en-US" sz="675" dirty="0">
                <a:solidFill>
                  <a:srgbClr val="6B7280"/>
                </a:solidFill>
                <a:latin typeface="Arial" pitchFamily="34" charset="0"/>
                <a:ea typeface="Arial" pitchFamily="34" charset="-122"/>
                <a:cs typeface="Arial" pitchFamily="34" charset="-120"/>
              </a:rPr>
              <a:t> </a:t>
            </a:r>
            <a:endParaRPr lang="en-US" sz="675" dirty="0"/>
          </a:p>
          <a:p>
            <a:pPr marL="0" indent="0" algn="l">
              <a:lnSpc>
                <a:spcPts val="1148"/>
              </a:lnSpc>
              <a:buNone/>
            </a:pPr>
            <a:r>
              <a:rPr lang="en-US" sz="675" b="1" dirty="0">
                <a:solidFill>
                  <a:srgbClr val="D97706"/>
                </a:solidFill>
                <a:latin typeface="Arial" pitchFamily="34" charset="0"/>
                <a:ea typeface="Arial" pitchFamily="34" charset="-122"/>
                <a:cs typeface="Arial" pitchFamily="34" charset="-120"/>
              </a:rPr>
              <a:t>/model</a:t>
            </a:r>
            <a:r>
              <a:rPr lang="en-US" sz="675" dirty="0">
                <a:solidFill>
                  <a:srgbClr val="6B7280"/>
                </a:solidFill>
                <a:latin typeface="Arial" pitchFamily="34" charset="0"/>
                <a:ea typeface="Arial" pitchFamily="34" charset="-122"/>
                <a:cs typeface="Arial" pitchFamily="34" charset="-120"/>
              </a:rPr>
              <a:t> — Switch models</a:t>
            </a:r>
            <a:endParaRPr lang="en-US" sz="675" dirty="0"/>
          </a:p>
          <a:p>
            <a:pPr marL="0" indent="0" algn="l">
              <a:lnSpc>
                <a:spcPts val="1148"/>
              </a:lnSpc>
              <a:buNone/>
            </a:pPr>
            <a:r>
              <a:rPr lang="en-US" sz="675" dirty="0">
                <a:solidFill>
                  <a:srgbClr val="6B7280"/>
                </a:solidFill>
                <a:latin typeface="Arial" pitchFamily="34" charset="0"/>
                <a:ea typeface="Arial" pitchFamily="34" charset="-122"/>
                <a:cs typeface="Arial" pitchFamily="34" charset="-120"/>
              </a:rPr>
              <a:t> </a:t>
            </a:r>
            <a:endParaRPr lang="en-US" sz="675" dirty="0"/>
          </a:p>
          <a:p>
            <a:pPr marL="0" indent="0" algn="l">
              <a:lnSpc>
                <a:spcPts val="1148"/>
              </a:lnSpc>
              <a:buNone/>
            </a:pPr>
            <a:r>
              <a:rPr lang="en-US" sz="675" b="1" dirty="0">
                <a:solidFill>
                  <a:srgbClr val="D97706"/>
                </a:solidFill>
                <a:latin typeface="Arial" pitchFamily="34" charset="0"/>
                <a:ea typeface="Arial" pitchFamily="34" charset="-122"/>
                <a:cs typeface="Arial" pitchFamily="34" charset="-120"/>
              </a:rPr>
              <a:t>/compact</a:t>
            </a:r>
            <a:r>
              <a:rPr lang="en-US" sz="675" dirty="0">
                <a:solidFill>
                  <a:srgbClr val="6B7280"/>
                </a:solidFill>
                <a:latin typeface="Arial" pitchFamily="34" charset="0"/>
                <a:ea typeface="Arial" pitchFamily="34" charset="-122"/>
                <a:cs typeface="Arial" pitchFamily="34" charset="-120"/>
              </a:rPr>
              <a:t> — Summarize context</a:t>
            </a:r>
            <a:endParaRPr lang="en-US" sz="675" dirty="0"/>
          </a:p>
          <a:p>
            <a:pPr marL="0" indent="0" algn="l">
              <a:lnSpc>
                <a:spcPts val="1148"/>
              </a:lnSpc>
              <a:buNone/>
            </a:pPr>
            <a:r>
              <a:rPr lang="en-US" sz="675" dirty="0">
                <a:solidFill>
                  <a:srgbClr val="6B7280"/>
                </a:solidFill>
                <a:latin typeface="Arial" pitchFamily="34" charset="0"/>
                <a:ea typeface="Arial" pitchFamily="34" charset="-122"/>
                <a:cs typeface="Arial" pitchFamily="34" charset="-120"/>
              </a:rPr>
              <a:t> </a:t>
            </a:r>
            <a:endParaRPr lang="en-US" sz="675" dirty="0"/>
          </a:p>
          <a:p>
            <a:pPr marL="0" indent="0" algn="l">
              <a:lnSpc>
                <a:spcPts val="1148"/>
              </a:lnSpc>
              <a:buNone/>
            </a:pPr>
            <a:r>
              <a:rPr lang="en-US" sz="675" b="1" dirty="0">
                <a:solidFill>
                  <a:srgbClr val="D97706"/>
                </a:solidFill>
                <a:latin typeface="Arial" pitchFamily="34" charset="0"/>
                <a:ea typeface="Arial" pitchFamily="34" charset="-122"/>
                <a:cs typeface="Arial" pitchFamily="34" charset="-120"/>
              </a:rPr>
              <a:t>/clear</a:t>
            </a:r>
            <a:r>
              <a:rPr lang="en-US" sz="675" dirty="0">
                <a:solidFill>
                  <a:srgbClr val="6B7280"/>
                </a:solidFill>
                <a:latin typeface="Arial" pitchFamily="34" charset="0"/>
                <a:ea typeface="Arial" pitchFamily="34" charset="-122"/>
                <a:cs typeface="Arial" pitchFamily="34" charset="-120"/>
              </a:rPr>
              <a:t> — Reset conversation</a:t>
            </a:r>
            <a:endParaRPr lang="en-US" sz="675" dirty="0"/>
          </a:p>
        </p:txBody>
      </p:sp>
      <p:sp>
        <p:nvSpPr>
          <p:cNvPr id="20" name="Text 18"/>
          <p:cNvSpPr/>
          <p:nvPr/>
        </p:nvSpPr>
        <p:spPr>
          <a:xfrm>
            <a:off x="6433989" y="1238696"/>
            <a:ext cx="2365876" cy="582811"/>
          </a:xfrm>
          <a:prstGeom prst="rect">
            <a:avLst/>
          </a:prstGeom>
          <a:noFill/>
          <a:ln/>
        </p:spPr>
        <p:txBody>
          <a:bodyPr wrap="square" lIns="0" tIns="0" rIns="0" bIns="0" rtlCol="0" anchor="t"/>
          <a:lstStyle/>
          <a:p>
            <a:pPr marL="0" indent="0" algn="l">
              <a:lnSpc>
                <a:spcPts val="1148"/>
              </a:lnSpc>
              <a:buNone/>
            </a:pPr>
            <a:r>
              <a:rPr lang="en-US" sz="675" b="1" dirty="0">
                <a:solidFill>
                  <a:srgbClr val="D97706"/>
                </a:solidFill>
                <a:latin typeface="Arial" pitchFamily="34" charset="0"/>
                <a:ea typeface="Arial" pitchFamily="34" charset="-122"/>
                <a:cs typeface="Arial" pitchFamily="34" charset="-120"/>
              </a:rPr>
              <a:t>/help</a:t>
            </a:r>
            <a:r>
              <a:rPr lang="en-US" sz="675" dirty="0">
                <a:solidFill>
                  <a:srgbClr val="6B7280"/>
                </a:solidFill>
                <a:latin typeface="Arial" pitchFamily="34" charset="0"/>
                <a:ea typeface="Arial" pitchFamily="34" charset="-122"/>
                <a:cs typeface="Arial" pitchFamily="34" charset="-120"/>
              </a:rPr>
              <a:t> — Show all commands</a:t>
            </a:r>
            <a:endParaRPr lang="en-US" sz="675" dirty="0"/>
          </a:p>
          <a:p>
            <a:pPr marL="0" indent="0" algn="l">
              <a:lnSpc>
                <a:spcPts val="1148"/>
              </a:lnSpc>
              <a:buNone/>
            </a:pPr>
            <a:r>
              <a:rPr lang="en-US" sz="675" dirty="0">
                <a:solidFill>
                  <a:srgbClr val="6B7280"/>
                </a:solidFill>
                <a:latin typeface="Arial" pitchFamily="34" charset="0"/>
                <a:ea typeface="Arial" pitchFamily="34" charset="-122"/>
                <a:cs typeface="Arial" pitchFamily="34" charset="-120"/>
              </a:rPr>
              <a:t> </a:t>
            </a:r>
            <a:endParaRPr lang="en-US" sz="675" dirty="0"/>
          </a:p>
          <a:p>
            <a:pPr marL="0" indent="0" algn="l">
              <a:lnSpc>
                <a:spcPts val="1148"/>
              </a:lnSpc>
              <a:buNone/>
            </a:pPr>
            <a:r>
              <a:rPr lang="en-US" sz="675" b="1" dirty="0">
                <a:solidFill>
                  <a:srgbClr val="D97706"/>
                </a:solidFill>
                <a:latin typeface="Arial" pitchFamily="34" charset="0"/>
                <a:ea typeface="Arial" pitchFamily="34" charset="-122"/>
                <a:cs typeface="Arial" pitchFamily="34" charset="-120"/>
              </a:rPr>
              <a:t>/config</a:t>
            </a:r>
            <a:r>
              <a:rPr lang="en-US" sz="675" dirty="0">
                <a:solidFill>
                  <a:srgbClr val="6B7280"/>
                </a:solidFill>
                <a:latin typeface="Arial" pitchFamily="34" charset="0"/>
                <a:ea typeface="Arial" pitchFamily="34" charset="-122"/>
                <a:cs typeface="Arial" pitchFamily="34" charset="-120"/>
              </a:rPr>
              <a:t> — Open settings</a:t>
            </a:r>
            <a:endParaRPr lang="en-US" sz="675" dirty="0"/>
          </a:p>
          <a:p>
            <a:pPr marL="0" indent="0" algn="l">
              <a:lnSpc>
                <a:spcPts val="1148"/>
              </a:lnSpc>
              <a:buNone/>
            </a:pPr>
            <a:r>
              <a:rPr lang="en-US" sz="675" dirty="0">
                <a:solidFill>
                  <a:srgbClr val="6B7280"/>
                </a:solidFill>
                <a:latin typeface="Arial" pitchFamily="34" charset="0"/>
                <a:ea typeface="Arial" pitchFamily="34" charset="-122"/>
                <a:cs typeface="Arial" pitchFamily="34" charset="-120"/>
              </a:rPr>
              <a:t> </a:t>
            </a:r>
            <a:endParaRPr lang="en-US" sz="675" dirty="0"/>
          </a:p>
          <a:p>
            <a:pPr marL="0" indent="0" algn="l">
              <a:lnSpc>
                <a:spcPts val="1148"/>
              </a:lnSpc>
              <a:buNone/>
            </a:pPr>
            <a:r>
              <a:rPr lang="en-US" sz="675" b="1" dirty="0">
                <a:solidFill>
                  <a:srgbClr val="D97706"/>
                </a:solidFill>
                <a:latin typeface="Arial" pitchFamily="34" charset="0"/>
                <a:ea typeface="Arial" pitchFamily="34" charset="-122"/>
                <a:cs typeface="Arial" pitchFamily="34" charset="-120"/>
              </a:rPr>
              <a:t>/review</a:t>
            </a:r>
            <a:r>
              <a:rPr lang="en-US" sz="675" dirty="0">
                <a:solidFill>
                  <a:srgbClr val="6B7280"/>
                </a:solidFill>
                <a:latin typeface="Arial" pitchFamily="34" charset="0"/>
                <a:ea typeface="Arial" pitchFamily="34" charset="-122"/>
                <a:cs typeface="Arial" pitchFamily="34" charset="-120"/>
              </a:rPr>
              <a:t> — Code review mode</a:t>
            </a:r>
            <a:endParaRPr lang="en-US" sz="675" dirty="0"/>
          </a:p>
          <a:p>
            <a:pPr marL="0" indent="0" algn="l">
              <a:lnSpc>
                <a:spcPts val="1148"/>
              </a:lnSpc>
              <a:buNone/>
            </a:pPr>
            <a:r>
              <a:rPr lang="en-US" sz="675" dirty="0">
                <a:solidFill>
                  <a:srgbClr val="6B7280"/>
                </a:solidFill>
                <a:latin typeface="Arial" pitchFamily="34" charset="0"/>
                <a:ea typeface="Arial" pitchFamily="34" charset="-122"/>
                <a:cs typeface="Arial" pitchFamily="34" charset="-120"/>
              </a:rPr>
              <a:t> </a:t>
            </a:r>
            <a:endParaRPr lang="en-US" sz="675" dirty="0"/>
          </a:p>
          <a:p>
            <a:pPr marL="0" indent="0" algn="l">
              <a:lnSpc>
                <a:spcPts val="1148"/>
              </a:lnSpc>
              <a:buNone/>
            </a:pPr>
            <a:r>
              <a:rPr lang="en-US" sz="675" b="1" dirty="0">
                <a:solidFill>
                  <a:srgbClr val="D97706"/>
                </a:solidFill>
                <a:latin typeface="Arial" pitchFamily="34" charset="0"/>
                <a:ea typeface="Arial" pitchFamily="34" charset="-122"/>
                <a:cs typeface="Arial" pitchFamily="34" charset="-120"/>
              </a:rPr>
              <a:t>/cost</a:t>
            </a:r>
            <a:r>
              <a:rPr lang="en-US" sz="675" dirty="0">
                <a:solidFill>
                  <a:srgbClr val="6B7280"/>
                </a:solidFill>
                <a:latin typeface="Arial" pitchFamily="34" charset="0"/>
                <a:ea typeface="Arial" pitchFamily="34" charset="-122"/>
                <a:cs typeface="Arial" pitchFamily="34" charset="-120"/>
              </a:rPr>
              <a:t> — Show token usage</a:t>
            </a:r>
            <a:endParaRPr lang="en-US" sz="675" dirty="0"/>
          </a:p>
        </p:txBody>
      </p:sp>
      <p:sp>
        <p:nvSpPr>
          <p:cNvPr id="21" name="Text 19"/>
          <p:cNvSpPr/>
          <p:nvPr/>
        </p:nvSpPr>
        <p:spPr>
          <a:xfrm>
            <a:off x="3864087" y="2383481"/>
            <a:ext cx="5139803" cy="146596"/>
          </a:xfrm>
          <a:prstGeom prst="rect">
            <a:avLst/>
          </a:prstGeom>
          <a:noFill/>
          <a:ln/>
        </p:spPr>
        <p:txBody>
          <a:bodyPr wrap="square" lIns="0" tIns="0" rIns="0" bIns="0" rtlCol="0" anchor="t"/>
          <a:lstStyle/>
          <a:p>
            <a:pPr marL="0" indent="0" algn="l">
              <a:lnSpc>
                <a:spcPts val="1155"/>
              </a:lnSpc>
              <a:spcAft>
                <a:spcPts val="600"/>
              </a:spcAft>
              <a:buNone/>
            </a:pPr>
            <a:r>
              <a:rPr lang="en-US" sz="825" b="1" dirty="0">
                <a:solidFill>
                  <a:srgbClr val="1A1F2E"/>
                </a:solidFill>
                <a:latin typeface="Arial" pitchFamily="34" charset="0"/>
                <a:ea typeface="Arial" pitchFamily="34" charset="-122"/>
                <a:cs typeface="Arial" pitchFamily="34" charset="-120"/>
              </a:rPr>
              <a:t>CUSTOM COMMANDS</a:t>
            </a:r>
            <a:endParaRPr lang="en-US" sz="825" dirty="0"/>
          </a:p>
        </p:txBody>
      </p:sp>
      <p:sp>
        <p:nvSpPr>
          <p:cNvPr id="22" name="Text 20"/>
          <p:cNvSpPr/>
          <p:nvPr/>
        </p:nvSpPr>
        <p:spPr>
          <a:xfrm>
            <a:off x="3838277" y="2568178"/>
            <a:ext cx="5039023" cy="1077664"/>
          </a:xfrm>
          <a:prstGeom prst="rect">
            <a:avLst/>
          </a:prstGeom>
          <a:solidFill>
            <a:srgbClr val="1A1F2E"/>
          </a:solidFill>
          <a:ln/>
        </p:spPr>
        <p:txBody>
          <a:bodyPr wrap="square" rtlCol="0" anchor="ctr"/>
          <a:lstStyle/>
          <a:p>
            <a:pPr marL="0" indent="0">
              <a:buNone/>
            </a:pPr>
            <a:endParaRPr lang="en-US" dirty="0"/>
          </a:p>
        </p:txBody>
      </p:sp>
      <p:sp>
        <p:nvSpPr>
          <p:cNvPr id="23" name="Text 21"/>
          <p:cNvSpPr/>
          <p:nvPr/>
        </p:nvSpPr>
        <p:spPr>
          <a:xfrm>
            <a:off x="3952577" y="2682478"/>
            <a:ext cx="4906631" cy="106561"/>
          </a:xfrm>
          <a:prstGeom prst="rect">
            <a:avLst/>
          </a:prstGeom>
          <a:noFill/>
          <a:ln/>
        </p:spPr>
        <p:txBody>
          <a:bodyPr wrap="square" lIns="0" tIns="0" rIns="0" bIns="0" rtlCol="0" anchor="t"/>
          <a:lstStyle/>
          <a:p>
            <a:pPr marL="0" indent="0" algn="l">
              <a:lnSpc>
                <a:spcPts val="840"/>
              </a:lnSpc>
              <a:spcAft>
                <a:spcPts val="450"/>
              </a:spcAft>
              <a:buNone/>
            </a:pPr>
            <a:r>
              <a:rPr lang="en-US" sz="600" dirty="0">
                <a:solidFill>
                  <a:srgbClr val="C9A227"/>
                </a:solidFill>
                <a:latin typeface="Arial" pitchFamily="34" charset="0"/>
                <a:ea typeface="Arial" pitchFamily="34" charset="-122"/>
                <a:cs typeface="Arial" pitchFamily="34" charset="-120"/>
              </a:rPr>
              <a:t>CREATE YOUR OWN</a:t>
            </a:r>
            <a:endParaRPr lang="en-US" sz="600" dirty="0"/>
          </a:p>
        </p:txBody>
      </p:sp>
      <p:sp>
        <p:nvSpPr>
          <p:cNvPr id="24" name="Text 22"/>
          <p:cNvSpPr/>
          <p:nvPr/>
        </p:nvSpPr>
        <p:spPr>
          <a:xfrm>
            <a:off x="3952577" y="2846189"/>
            <a:ext cx="4906631" cy="685354"/>
          </a:xfrm>
          <a:prstGeom prst="rect">
            <a:avLst/>
          </a:prstGeom>
          <a:noFill/>
          <a:ln/>
        </p:spPr>
        <p:txBody>
          <a:bodyPr wrap="square" lIns="0" tIns="0" rIns="0" bIns="0" rtlCol="0" anchor="t"/>
          <a:lstStyle/>
          <a:p>
            <a:pPr marL="0" indent="0" algn="l">
              <a:lnSpc>
                <a:spcPts val="1080"/>
              </a:lnSpc>
              <a:buNone/>
            </a:pPr>
            <a:r>
              <a:rPr lang="en-US" sz="675" dirty="0">
                <a:solidFill>
                  <a:srgbClr val="9CA3AF">
                    <a:alpha val="80000"/>
                  </a:srgbClr>
                </a:solidFill>
                <a:latin typeface="Arial" pitchFamily="34" charset="0"/>
                <a:ea typeface="Arial" pitchFamily="34" charset="-122"/>
                <a:cs typeface="Arial" pitchFamily="34" charset="-120"/>
              </a:rPr>
              <a:t># Add markdown files to:</a:t>
            </a:r>
            <a:endParaRPr lang="en-US" sz="675" dirty="0"/>
          </a:p>
          <a:p>
            <a:pPr marL="0" indent="0" algn="l">
              <a:lnSpc>
                <a:spcPts val="1080"/>
              </a:lnSpc>
              <a:buNone/>
            </a:pPr>
            <a:r>
              <a:rPr lang="en-US" sz="675" dirty="0">
                <a:solidFill>
                  <a:srgbClr val="FFFFFF">
                    <a:alpha val="80000"/>
                  </a:srgbClr>
                </a:solidFill>
                <a:latin typeface="Arial" pitchFamily="34" charset="0"/>
                <a:ea typeface="Arial" pitchFamily="34" charset="-122"/>
                <a:cs typeface="Arial" pitchFamily="34" charset="-120"/>
              </a:rPr>
              <a:t> .claude/commands/my-command.md</a:t>
            </a:r>
            <a:endParaRPr lang="en-US" sz="675" dirty="0"/>
          </a:p>
          <a:p>
            <a:pPr marL="0" indent="0" algn="l">
              <a:lnSpc>
                <a:spcPts val="1080"/>
              </a:lnSpc>
              <a:buNone/>
            </a:pPr>
            <a:r>
              <a:rPr lang="en-US" sz="675" dirty="0">
                <a:solidFill>
                  <a:srgbClr val="FFFFFF">
                    <a:alpha val="80000"/>
                  </a:srgbClr>
                </a:solidFill>
                <a:latin typeface="Arial" pitchFamily="34" charset="0"/>
                <a:ea typeface="Arial" pitchFamily="34" charset="-122"/>
                <a:cs typeface="Arial" pitchFamily="34" charset="-120"/>
              </a:rPr>
              <a:t> </a:t>
            </a:r>
            <a:endParaRPr lang="en-US" sz="675" dirty="0"/>
          </a:p>
          <a:p>
            <a:pPr marL="0" indent="0" algn="l">
              <a:lnSpc>
                <a:spcPts val="1080"/>
              </a:lnSpc>
              <a:buNone/>
            </a:pPr>
            <a:r>
              <a:rPr lang="en-US" sz="675" dirty="0">
                <a:solidFill>
                  <a:srgbClr val="9CA3AF">
                    <a:alpha val="80000"/>
                  </a:srgbClr>
                </a:solidFill>
                <a:latin typeface="Arial" pitchFamily="34" charset="0"/>
                <a:ea typeface="Arial" pitchFamily="34" charset="-122"/>
                <a:cs typeface="Arial" pitchFamily="34" charset="-120"/>
              </a:rPr>
              <a:t># Then invoke with:</a:t>
            </a:r>
            <a:endParaRPr lang="en-US" sz="675" dirty="0"/>
          </a:p>
          <a:p>
            <a:pPr marL="0" indent="0" algn="l">
              <a:lnSpc>
                <a:spcPts val="1080"/>
              </a:lnSpc>
              <a:buNone/>
            </a:pPr>
            <a:r>
              <a:rPr lang="en-US" sz="675" dirty="0">
                <a:solidFill>
                  <a:srgbClr val="FFFFFF">
                    <a:alpha val="80000"/>
                  </a:srgbClr>
                </a:solidFill>
                <a:latin typeface="Arial" pitchFamily="34" charset="0"/>
                <a:ea typeface="Arial" pitchFamily="34" charset="-122"/>
                <a:cs typeface="Arial" pitchFamily="34" charset="-120"/>
              </a:rPr>
              <a:t> /project:my-command</a:t>
            </a:r>
            <a:endParaRPr lang="en-US" sz="675" dirty="0"/>
          </a:p>
        </p:txBody>
      </p:sp>
      <p:sp>
        <p:nvSpPr>
          <p:cNvPr id="25" name="Text 23"/>
          <p:cNvSpPr/>
          <p:nvPr/>
        </p:nvSpPr>
        <p:spPr>
          <a:xfrm>
            <a:off x="3838277" y="3893493"/>
            <a:ext cx="2481411" cy="561677"/>
          </a:xfrm>
          <a:prstGeom prst="rect">
            <a:avLst/>
          </a:prstGeom>
          <a:solidFill>
            <a:srgbClr val="DCFCE7"/>
          </a:solidFill>
          <a:ln/>
        </p:spPr>
        <p:txBody>
          <a:bodyPr wrap="square" rtlCol="0" anchor="ctr"/>
          <a:lstStyle/>
          <a:p>
            <a:pPr marL="0" indent="0">
              <a:buNone/>
            </a:pPr>
            <a:endParaRPr lang="en-US" dirty="0"/>
          </a:p>
        </p:txBody>
      </p:sp>
      <p:sp>
        <p:nvSpPr>
          <p:cNvPr id="26" name="Shape 24"/>
          <p:cNvSpPr/>
          <p:nvPr/>
        </p:nvSpPr>
        <p:spPr>
          <a:xfrm>
            <a:off x="3852565" y="3893493"/>
            <a:ext cx="0" cy="561677"/>
          </a:xfrm>
          <a:prstGeom prst="line">
            <a:avLst/>
          </a:prstGeom>
          <a:noFill/>
          <a:ln w="28575">
            <a:solidFill>
              <a:srgbClr val="059669"/>
            </a:solidFill>
            <a:prstDash val="solid"/>
          </a:ln>
        </p:spPr>
        <p:txBody>
          <a:bodyPr/>
          <a:lstStyle/>
          <a:p>
            <a:endParaRPr lang="en-US"/>
          </a:p>
        </p:txBody>
      </p:sp>
      <p:sp>
        <p:nvSpPr>
          <p:cNvPr id="27" name="Text 25"/>
          <p:cNvSpPr/>
          <p:nvPr/>
        </p:nvSpPr>
        <p:spPr>
          <a:xfrm>
            <a:off x="3962102" y="3988743"/>
            <a:ext cx="2307583" cy="119955"/>
          </a:xfrm>
          <a:prstGeom prst="rect">
            <a:avLst/>
          </a:prstGeom>
          <a:noFill/>
          <a:ln/>
        </p:spPr>
        <p:txBody>
          <a:bodyPr wrap="square" lIns="0" tIns="0" rIns="0" bIns="0" rtlCol="0" anchor="t"/>
          <a:lstStyle/>
          <a:p>
            <a:pPr marL="0" indent="0" algn="l">
              <a:lnSpc>
                <a:spcPts val="945"/>
              </a:lnSpc>
              <a:spcAft>
                <a:spcPts val="300"/>
              </a:spcAft>
              <a:buNone/>
            </a:pPr>
            <a:r>
              <a:rPr lang="en-US" sz="675" b="1" dirty="0">
                <a:solidFill>
                  <a:srgbClr val="166534"/>
                </a:solidFill>
                <a:latin typeface="Arial" pitchFamily="34" charset="0"/>
                <a:ea typeface="Arial" pitchFamily="34" charset="-122"/>
                <a:cs typeface="Arial" pitchFamily="34" charset="-120"/>
              </a:rPr>
              <a:t>TEAM SHARING</a:t>
            </a:r>
            <a:endParaRPr lang="en-US" sz="675" dirty="0"/>
          </a:p>
        </p:txBody>
      </p:sp>
      <p:sp>
        <p:nvSpPr>
          <p:cNvPr id="28" name="Text 26"/>
          <p:cNvSpPr/>
          <p:nvPr/>
        </p:nvSpPr>
        <p:spPr>
          <a:xfrm>
            <a:off x="3962102" y="4146798"/>
            <a:ext cx="2307583" cy="213122"/>
          </a:xfrm>
          <a:prstGeom prst="rect">
            <a:avLst/>
          </a:prstGeom>
          <a:noFill/>
          <a:ln/>
        </p:spPr>
        <p:txBody>
          <a:bodyPr wrap="square" lIns="0" tIns="0" rIns="0" bIns="0" rtlCol="0" anchor="t"/>
          <a:lstStyle/>
          <a:p>
            <a:pPr marL="0" indent="0" algn="l">
              <a:lnSpc>
                <a:spcPts val="840"/>
              </a:lnSpc>
              <a:buNone/>
            </a:pPr>
            <a:r>
              <a:rPr lang="en-US" sz="600" dirty="0">
                <a:solidFill>
                  <a:srgbClr val="166534"/>
                </a:solidFill>
                <a:latin typeface="Arial" pitchFamily="34" charset="0"/>
                <a:ea typeface="Arial" pitchFamily="34" charset="-122"/>
                <a:cs typeface="Arial" pitchFamily="34" charset="-120"/>
              </a:rPr>
              <a:t>Commit .claude/commands/ to git — everyone gets the same commands</a:t>
            </a:r>
            <a:endParaRPr lang="en-US" sz="600" dirty="0"/>
          </a:p>
        </p:txBody>
      </p:sp>
      <p:sp>
        <p:nvSpPr>
          <p:cNvPr id="29" name="Text 27"/>
          <p:cNvSpPr/>
          <p:nvPr/>
        </p:nvSpPr>
        <p:spPr>
          <a:xfrm>
            <a:off x="6395889" y="3946773"/>
            <a:ext cx="2481411" cy="455116"/>
          </a:xfrm>
          <a:prstGeom prst="rect">
            <a:avLst/>
          </a:prstGeom>
          <a:solidFill>
            <a:srgbClr val="DBEAFE"/>
          </a:solidFill>
          <a:ln/>
        </p:spPr>
        <p:txBody>
          <a:bodyPr wrap="square" rtlCol="0" anchor="ctr"/>
          <a:lstStyle/>
          <a:p>
            <a:pPr marL="0" indent="0">
              <a:buNone/>
            </a:pPr>
            <a:endParaRPr lang="en-US" dirty="0"/>
          </a:p>
        </p:txBody>
      </p:sp>
      <p:sp>
        <p:nvSpPr>
          <p:cNvPr id="30" name="Shape 28"/>
          <p:cNvSpPr/>
          <p:nvPr/>
        </p:nvSpPr>
        <p:spPr>
          <a:xfrm>
            <a:off x="6410176" y="3946773"/>
            <a:ext cx="0" cy="455116"/>
          </a:xfrm>
          <a:prstGeom prst="line">
            <a:avLst/>
          </a:prstGeom>
          <a:noFill/>
          <a:ln w="28575">
            <a:solidFill>
              <a:srgbClr val="3B82F6"/>
            </a:solidFill>
            <a:prstDash val="solid"/>
          </a:ln>
        </p:spPr>
        <p:txBody>
          <a:bodyPr/>
          <a:lstStyle/>
          <a:p>
            <a:endParaRPr lang="en-US"/>
          </a:p>
        </p:txBody>
      </p:sp>
      <p:sp>
        <p:nvSpPr>
          <p:cNvPr id="31" name="Text 29"/>
          <p:cNvSpPr/>
          <p:nvPr/>
        </p:nvSpPr>
        <p:spPr>
          <a:xfrm>
            <a:off x="6519714" y="4042023"/>
            <a:ext cx="2307583" cy="119955"/>
          </a:xfrm>
          <a:prstGeom prst="rect">
            <a:avLst/>
          </a:prstGeom>
          <a:noFill/>
          <a:ln/>
        </p:spPr>
        <p:txBody>
          <a:bodyPr wrap="square" lIns="0" tIns="0" rIns="0" bIns="0" rtlCol="0" anchor="t"/>
          <a:lstStyle/>
          <a:p>
            <a:pPr marL="0" indent="0" algn="l">
              <a:lnSpc>
                <a:spcPts val="945"/>
              </a:lnSpc>
              <a:spcAft>
                <a:spcPts val="300"/>
              </a:spcAft>
              <a:buNone/>
            </a:pPr>
            <a:r>
              <a:rPr lang="en-US" sz="675" b="1" dirty="0">
                <a:solidFill>
                  <a:srgbClr val="1E40AF"/>
                </a:solidFill>
                <a:latin typeface="Arial" pitchFamily="34" charset="0"/>
                <a:ea typeface="Arial" pitchFamily="34" charset="-122"/>
                <a:cs typeface="Arial" pitchFamily="34" charset="-120"/>
              </a:rPr>
              <a:t>USE CASE</a:t>
            </a:r>
            <a:endParaRPr lang="en-US" sz="675" dirty="0"/>
          </a:p>
        </p:txBody>
      </p:sp>
      <p:sp>
        <p:nvSpPr>
          <p:cNvPr id="32" name="Text 30"/>
          <p:cNvSpPr/>
          <p:nvPr/>
        </p:nvSpPr>
        <p:spPr>
          <a:xfrm>
            <a:off x="6519714" y="4200079"/>
            <a:ext cx="2307583" cy="106561"/>
          </a:xfrm>
          <a:prstGeom prst="rect">
            <a:avLst/>
          </a:prstGeom>
          <a:noFill/>
          <a:ln/>
        </p:spPr>
        <p:txBody>
          <a:bodyPr wrap="square" lIns="0" tIns="0" rIns="0" bIns="0" rtlCol="0" anchor="t"/>
          <a:lstStyle/>
          <a:p>
            <a:pPr marL="0" indent="0" algn="l">
              <a:lnSpc>
                <a:spcPts val="840"/>
              </a:lnSpc>
              <a:buNone/>
            </a:pPr>
            <a:r>
              <a:rPr lang="en-US" sz="600" dirty="0">
                <a:solidFill>
                  <a:srgbClr val="1E40AF"/>
                </a:solidFill>
                <a:latin typeface="Arial" pitchFamily="34" charset="0"/>
                <a:ea typeface="Arial" pitchFamily="34" charset="-122"/>
                <a:cs typeface="Arial" pitchFamily="34" charset="-120"/>
              </a:rPr>
              <a:t>Standard prompts for PRs, commits, code review templates</a:t>
            </a:r>
            <a:endParaRPr lang="en-US" sz="6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0" y="0"/>
            <a:ext cx="3419177" cy="5143500"/>
          </a:xfrm>
          <a:prstGeom prst="rect">
            <a:avLst/>
          </a:prstGeom>
          <a:solidFill>
            <a:srgbClr val="1A1F2E"/>
          </a:solidFill>
          <a:ln/>
        </p:spPr>
        <p:txBody>
          <a:bodyPr wrap="square" rtlCol="0" anchor="ctr"/>
          <a:lstStyle/>
          <a:p>
            <a:pPr marL="0" indent="0">
              <a:buNone/>
            </a:pPr>
            <a:endParaRPr lang="en-US" dirty="0"/>
          </a:p>
        </p:txBody>
      </p:sp>
      <p:sp>
        <p:nvSpPr>
          <p:cNvPr id="3" name="Text 1"/>
          <p:cNvSpPr/>
          <p:nvPr/>
        </p:nvSpPr>
        <p:spPr>
          <a:xfrm>
            <a:off x="266700" y="266700"/>
            <a:ext cx="946845" cy="201811"/>
          </a:xfrm>
          <a:prstGeom prst="rect">
            <a:avLst/>
          </a:prstGeom>
          <a:solidFill>
            <a:srgbClr val="D97706"/>
          </a:solidFill>
          <a:ln/>
        </p:spPr>
        <p:txBody>
          <a:bodyPr wrap="square" rtlCol="0" anchor="ctr"/>
          <a:lstStyle/>
          <a:p>
            <a:pPr marL="0" indent="0">
              <a:buNone/>
            </a:pPr>
            <a:endParaRPr lang="en-US" dirty="0"/>
          </a:p>
        </p:txBody>
      </p:sp>
      <p:sp>
        <p:nvSpPr>
          <p:cNvPr id="4" name="Text 2"/>
          <p:cNvSpPr/>
          <p:nvPr/>
        </p:nvSpPr>
        <p:spPr>
          <a:xfrm>
            <a:off x="361950" y="314325"/>
            <a:ext cx="771471" cy="106561"/>
          </a:xfrm>
          <a:prstGeom prst="rect">
            <a:avLst/>
          </a:prstGeom>
          <a:noFill/>
          <a:ln/>
        </p:spPr>
        <p:txBody>
          <a:bodyPr wrap="square" lIns="0" tIns="0" rIns="0" bIns="0" rtlCol="0" anchor="t"/>
          <a:lstStyle/>
          <a:p>
            <a:pPr marL="0" indent="0" algn="l">
              <a:lnSpc>
                <a:spcPts val="840"/>
              </a:lnSpc>
              <a:buNone/>
            </a:pPr>
            <a:r>
              <a:rPr lang="en-US" sz="600" b="1" dirty="0">
                <a:solidFill>
                  <a:srgbClr val="1A1F2E"/>
                </a:solidFill>
                <a:latin typeface="Arial" pitchFamily="34" charset="0"/>
                <a:ea typeface="Arial" pitchFamily="34" charset="-122"/>
                <a:cs typeface="Arial" pitchFamily="34" charset="-120"/>
              </a:rPr>
              <a:t>KEY WORKFLOW</a:t>
            </a:r>
            <a:endParaRPr lang="en-US" sz="600" dirty="0"/>
          </a:p>
        </p:txBody>
      </p:sp>
      <p:sp>
        <p:nvSpPr>
          <p:cNvPr id="5" name="Text 3"/>
          <p:cNvSpPr/>
          <p:nvPr/>
        </p:nvSpPr>
        <p:spPr>
          <a:xfrm>
            <a:off x="266700" y="716161"/>
            <a:ext cx="1476756" cy="594122"/>
          </a:xfrm>
          <a:prstGeom prst="rect">
            <a:avLst/>
          </a:prstGeom>
          <a:noFill/>
          <a:ln/>
        </p:spPr>
        <p:txBody>
          <a:bodyPr wrap="square" lIns="0" tIns="0" rIns="0" bIns="0" rtlCol="0" anchor="t"/>
          <a:lstStyle/>
          <a:p>
            <a:pPr marL="0" indent="0" algn="l">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Planning</a:t>
            </a:r>
            <a:endParaRPr lang="en-US" sz="1950" dirty="0"/>
          </a:p>
          <a:p>
            <a:pPr marL="0" indent="0" algn="l">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Mode</a:t>
            </a:r>
            <a:endParaRPr lang="en-US" sz="1950" dirty="0"/>
          </a:p>
        </p:txBody>
      </p:sp>
      <p:sp>
        <p:nvSpPr>
          <p:cNvPr id="6" name="Text 4"/>
          <p:cNvSpPr/>
          <p:nvPr/>
        </p:nvSpPr>
        <p:spPr>
          <a:xfrm>
            <a:off x="266700" y="1557933"/>
            <a:ext cx="381000" cy="19050"/>
          </a:xfrm>
          <a:prstGeom prst="rect">
            <a:avLst/>
          </a:prstGeom>
          <a:solidFill>
            <a:srgbClr val="C9A227"/>
          </a:solidFill>
          <a:ln/>
        </p:spPr>
        <p:txBody>
          <a:bodyPr wrap="square" rtlCol="0" anchor="ctr"/>
          <a:lstStyle/>
          <a:p>
            <a:pPr marL="0" indent="0">
              <a:buNone/>
            </a:pPr>
            <a:endParaRPr lang="en-US" dirty="0"/>
          </a:p>
        </p:txBody>
      </p:sp>
      <p:sp>
        <p:nvSpPr>
          <p:cNvPr id="7" name="Text 5"/>
          <p:cNvSpPr/>
          <p:nvPr/>
        </p:nvSpPr>
        <p:spPr>
          <a:xfrm>
            <a:off x="266700" y="1862733"/>
            <a:ext cx="2885777" cy="685800"/>
          </a:xfrm>
          <a:prstGeom prst="rect">
            <a:avLst/>
          </a:prstGeom>
          <a:solidFill>
            <a:srgbClr val="D97706">
              <a:alpha val="15000"/>
            </a:srgbClr>
          </a:solidFill>
          <a:ln/>
        </p:spPr>
        <p:txBody>
          <a:bodyPr wrap="square" rtlCol="0" anchor="ctr"/>
          <a:lstStyle/>
          <a:p>
            <a:pPr marL="0" indent="0">
              <a:buNone/>
            </a:pPr>
            <a:endParaRPr lang="en-US" dirty="0"/>
          </a:p>
        </p:txBody>
      </p:sp>
      <p:sp>
        <p:nvSpPr>
          <p:cNvPr id="8" name="Shape 6"/>
          <p:cNvSpPr/>
          <p:nvPr/>
        </p:nvSpPr>
        <p:spPr>
          <a:xfrm>
            <a:off x="280988" y="1862733"/>
            <a:ext cx="0" cy="685800"/>
          </a:xfrm>
          <a:prstGeom prst="line">
            <a:avLst/>
          </a:prstGeom>
          <a:noFill/>
          <a:ln w="28575">
            <a:solidFill>
              <a:srgbClr val="D97706"/>
            </a:solidFill>
            <a:prstDash val="solid"/>
          </a:ln>
        </p:spPr>
        <p:txBody>
          <a:bodyPr/>
          <a:lstStyle/>
          <a:p>
            <a:endParaRPr lang="en-US"/>
          </a:p>
        </p:txBody>
      </p:sp>
      <p:sp>
        <p:nvSpPr>
          <p:cNvPr id="9" name="Text 7"/>
          <p:cNvSpPr/>
          <p:nvPr/>
        </p:nvSpPr>
        <p:spPr>
          <a:xfrm>
            <a:off x="409575" y="1977033"/>
            <a:ext cx="2681174"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FBBF24"/>
                </a:solidFill>
                <a:latin typeface="Arial" pitchFamily="34" charset="0"/>
                <a:ea typeface="Arial" pitchFamily="34" charset="-122"/>
                <a:cs typeface="Arial" pitchFamily="34" charset="-120"/>
              </a:rPr>
              <a:t>THE CONCEPT</a:t>
            </a:r>
            <a:endParaRPr lang="en-US" sz="750" dirty="0"/>
          </a:p>
        </p:txBody>
      </p:sp>
      <p:sp>
        <p:nvSpPr>
          <p:cNvPr id="10" name="Text 8"/>
          <p:cNvSpPr/>
          <p:nvPr/>
        </p:nvSpPr>
        <p:spPr>
          <a:xfrm>
            <a:off x="409575" y="2148483"/>
            <a:ext cx="2681174" cy="285750"/>
          </a:xfrm>
          <a:prstGeom prst="rect">
            <a:avLst/>
          </a:prstGeom>
          <a:noFill/>
          <a:ln/>
        </p:spPr>
        <p:txBody>
          <a:bodyPr wrap="square" lIns="0" tIns="0" rIns="0" bIns="0" rtlCol="0" anchor="t"/>
          <a:lstStyle/>
          <a:p>
            <a:pPr marL="0" indent="0" algn="l">
              <a:lnSpc>
                <a:spcPts val="1125"/>
              </a:lnSpc>
              <a:buNone/>
            </a:pPr>
            <a:r>
              <a:rPr lang="en-US" sz="750" dirty="0">
                <a:solidFill>
                  <a:srgbClr val="FFFFFF">
                    <a:alpha val="80000"/>
                  </a:srgbClr>
                </a:solidFill>
                <a:latin typeface="Arial" pitchFamily="34" charset="0"/>
                <a:ea typeface="Arial" pitchFamily="34" charset="-122"/>
                <a:cs typeface="Arial" pitchFamily="34" charset="-120"/>
              </a:rPr>
              <a:t>Think before you code. Plan mode lets you design your approach before making changes.</a:t>
            </a:r>
            <a:endParaRPr lang="en-US" sz="750" dirty="0"/>
          </a:p>
        </p:txBody>
      </p:sp>
      <p:sp>
        <p:nvSpPr>
          <p:cNvPr id="11" name="Text 9"/>
          <p:cNvSpPr/>
          <p:nvPr/>
        </p:nvSpPr>
        <p:spPr>
          <a:xfrm>
            <a:off x="266700" y="2834283"/>
            <a:ext cx="2885777" cy="830312"/>
          </a:xfrm>
          <a:prstGeom prst="rect">
            <a:avLst/>
          </a:prstGeom>
          <a:solidFill>
            <a:srgbClr val="FFFFFF">
              <a:alpha val="5000"/>
            </a:srgbClr>
          </a:solidFill>
          <a:ln/>
        </p:spPr>
        <p:txBody>
          <a:bodyPr wrap="square" rtlCol="0" anchor="ctr"/>
          <a:lstStyle/>
          <a:p>
            <a:pPr marL="0" indent="0">
              <a:buNone/>
            </a:pPr>
            <a:endParaRPr lang="en-US" dirty="0"/>
          </a:p>
        </p:txBody>
      </p:sp>
      <p:sp>
        <p:nvSpPr>
          <p:cNvPr id="12" name="Text 10"/>
          <p:cNvSpPr/>
          <p:nvPr/>
        </p:nvSpPr>
        <p:spPr>
          <a:xfrm>
            <a:off x="381000" y="2948583"/>
            <a:ext cx="2710321" cy="133350"/>
          </a:xfrm>
          <a:prstGeom prst="rect">
            <a:avLst/>
          </a:prstGeom>
          <a:noFill/>
          <a:ln/>
        </p:spPr>
        <p:txBody>
          <a:bodyPr wrap="square" lIns="0" tIns="0" rIns="0" bIns="0" rtlCol="0" anchor="t"/>
          <a:lstStyle/>
          <a:p>
            <a:pPr marL="0" indent="0" algn="l">
              <a:lnSpc>
                <a:spcPts val="1050"/>
              </a:lnSpc>
              <a:spcAft>
                <a:spcPts val="450"/>
              </a:spcAft>
              <a:buNone/>
            </a:pPr>
            <a:r>
              <a:rPr lang="en-US" sz="750" b="1" dirty="0">
                <a:solidFill>
                  <a:srgbClr val="FFFFFF"/>
                </a:solidFill>
                <a:latin typeface="Arial" pitchFamily="34" charset="0"/>
                <a:ea typeface="Arial" pitchFamily="34" charset="-122"/>
                <a:cs typeface="Arial" pitchFamily="34" charset="-120"/>
              </a:rPr>
              <a:t>HOW TO ENTER</a:t>
            </a:r>
            <a:endParaRPr lang="en-US" sz="750" dirty="0"/>
          </a:p>
        </p:txBody>
      </p:sp>
      <p:sp>
        <p:nvSpPr>
          <p:cNvPr id="13" name="Text 11"/>
          <p:cNvSpPr/>
          <p:nvPr/>
        </p:nvSpPr>
        <p:spPr>
          <a:xfrm>
            <a:off x="381000" y="3139083"/>
            <a:ext cx="2710321" cy="411212"/>
          </a:xfrm>
          <a:prstGeom prst="rect">
            <a:avLst/>
          </a:prstGeom>
          <a:noFill/>
          <a:ln/>
        </p:spPr>
        <p:txBody>
          <a:bodyPr wrap="square" lIns="0" tIns="0" rIns="0" bIns="0" rtlCol="0" anchor="t"/>
          <a:lstStyle/>
          <a:p>
            <a:pPr marL="0" indent="0" algn="l">
              <a:lnSpc>
                <a:spcPts val="1080"/>
              </a:lnSpc>
              <a:buNone/>
            </a:pPr>
            <a:r>
              <a:rPr lang="en-US" sz="675" dirty="0">
                <a:solidFill>
                  <a:srgbClr val="FFFFFF">
                    <a:alpha val="60000"/>
                  </a:srgbClr>
                </a:solidFill>
                <a:latin typeface="Arial" pitchFamily="34" charset="0"/>
                <a:ea typeface="Arial" pitchFamily="34" charset="-122"/>
                <a:cs typeface="Arial" pitchFamily="34" charset="-120"/>
              </a:rPr>
              <a:t>/plan command</a:t>
            </a:r>
            <a:endParaRPr lang="en-US" sz="675" dirty="0"/>
          </a:p>
          <a:p>
            <a:pPr marL="0" indent="0" algn="l">
              <a:lnSpc>
                <a:spcPts val="1080"/>
              </a:lnSpc>
              <a:buNone/>
            </a:pPr>
            <a:r>
              <a:rPr lang="en-US" sz="675" dirty="0">
                <a:solidFill>
                  <a:srgbClr val="FFFFFF">
                    <a:alpha val="60000"/>
                  </a:srgbClr>
                </a:solidFill>
                <a:latin typeface="Arial" pitchFamily="34" charset="0"/>
                <a:ea typeface="Arial" pitchFamily="34" charset="-122"/>
                <a:cs typeface="Arial" pitchFamily="34" charset="-120"/>
              </a:rPr>
              <a:t> </a:t>
            </a:r>
            <a:endParaRPr lang="en-US" sz="675" dirty="0"/>
          </a:p>
          <a:p>
            <a:pPr marL="0" indent="0" algn="l">
              <a:lnSpc>
                <a:spcPts val="1080"/>
              </a:lnSpc>
              <a:buNone/>
            </a:pPr>
            <a:r>
              <a:rPr lang="en-US" sz="675" dirty="0">
                <a:solidFill>
                  <a:srgbClr val="FFFFFF">
                    <a:alpha val="60000"/>
                  </a:srgbClr>
                </a:solidFill>
                <a:latin typeface="Arial" pitchFamily="34" charset="0"/>
                <a:ea typeface="Arial" pitchFamily="34" charset="-122"/>
                <a:cs typeface="Arial" pitchFamily="34" charset="-120"/>
              </a:rPr>
              <a:t>Shift+Tab twice</a:t>
            </a:r>
            <a:endParaRPr lang="en-US" sz="675" dirty="0"/>
          </a:p>
          <a:p>
            <a:pPr marL="0" indent="0" algn="l">
              <a:lnSpc>
                <a:spcPts val="1080"/>
              </a:lnSpc>
              <a:buNone/>
            </a:pPr>
            <a:r>
              <a:rPr lang="en-US" sz="675" dirty="0">
                <a:solidFill>
                  <a:srgbClr val="FFFFFF">
                    <a:alpha val="60000"/>
                  </a:srgbClr>
                </a:solidFill>
                <a:latin typeface="Arial" pitchFamily="34" charset="0"/>
                <a:ea typeface="Arial" pitchFamily="34" charset="-122"/>
                <a:cs typeface="Arial" pitchFamily="34" charset="-120"/>
              </a:rPr>
              <a:t> Start prompt with "plan"</a:t>
            </a:r>
            <a:endParaRPr lang="en-US" sz="675" dirty="0"/>
          </a:p>
        </p:txBody>
      </p:sp>
      <p:sp>
        <p:nvSpPr>
          <p:cNvPr id="14" name="Text 12"/>
          <p:cNvSpPr/>
          <p:nvPr/>
        </p:nvSpPr>
        <p:spPr>
          <a:xfrm>
            <a:off x="266700" y="4566345"/>
            <a:ext cx="2885777" cy="310455"/>
          </a:xfrm>
          <a:prstGeom prst="rect">
            <a:avLst/>
          </a:prstGeom>
          <a:solidFill>
            <a:srgbClr val="C9A227"/>
          </a:solidFill>
          <a:ln/>
        </p:spPr>
        <p:txBody>
          <a:bodyPr wrap="square" rtlCol="0" anchor="ctr"/>
          <a:lstStyle/>
          <a:p>
            <a:pPr marL="0" indent="0">
              <a:buNone/>
            </a:pPr>
            <a:endParaRPr lang="en-US" dirty="0"/>
          </a:p>
        </p:txBody>
      </p:sp>
      <p:sp>
        <p:nvSpPr>
          <p:cNvPr id="15" name="Text 13"/>
          <p:cNvSpPr/>
          <p:nvPr/>
        </p:nvSpPr>
        <p:spPr>
          <a:xfrm>
            <a:off x="334997" y="4661595"/>
            <a:ext cx="2749183" cy="119955"/>
          </a:xfrm>
          <a:prstGeom prst="rect">
            <a:avLst/>
          </a:prstGeom>
          <a:noFill/>
          <a:ln/>
        </p:spPr>
        <p:txBody>
          <a:bodyPr wrap="square" lIns="0" tIns="0" rIns="0" bIns="0" rtlCol="0" anchor="t"/>
          <a:lstStyle/>
          <a:p>
            <a:pPr marL="0" indent="0" algn="ctr">
              <a:lnSpc>
                <a:spcPts val="945"/>
              </a:lnSpc>
              <a:buNone/>
            </a:pPr>
            <a:r>
              <a:rPr lang="en-US" sz="675" b="1" dirty="0">
                <a:solidFill>
                  <a:srgbClr val="1A1F2E"/>
                </a:solidFill>
                <a:latin typeface="Arial" pitchFamily="34" charset="0"/>
                <a:ea typeface="Arial" pitchFamily="34" charset="-122"/>
                <a:cs typeface="Arial" pitchFamily="34" charset="-120"/>
              </a:rPr>
              <a:t>Always plan before PRs</a:t>
            </a:r>
            <a:endParaRPr lang="en-US" sz="675" dirty="0"/>
          </a:p>
        </p:txBody>
      </p:sp>
      <p:sp>
        <p:nvSpPr>
          <p:cNvPr id="16" name="Text 14"/>
          <p:cNvSpPr/>
          <p:nvPr/>
        </p:nvSpPr>
        <p:spPr>
          <a:xfrm>
            <a:off x="3571577" y="0"/>
            <a:ext cx="5572423" cy="5143500"/>
          </a:xfrm>
          <a:prstGeom prst="rect">
            <a:avLst/>
          </a:prstGeom>
          <a:solidFill>
            <a:srgbClr val="F7F8FA"/>
          </a:solidFill>
          <a:ln/>
        </p:spPr>
        <p:txBody>
          <a:bodyPr wrap="square" rtlCol="0" anchor="ctr"/>
          <a:lstStyle/>
          <a:p>
            <a:pPr marL="0" indent="0">
              <a:buNone/>
            </a:pPr>
            <a:endParaRPr lang="en-US" dirty="0"/>
          </a:p>
        </p:txBody>
      </p:sp>
      <p:sp>
        <p:nvSpPr>
          <p:cNvPr id="17" name="Text 15"/>
          <p:cNvSpPr/>
          <p:nvPr/>
        </p:nvSpPr>
        <p:spPr>
          <a:xfrm>
            <a:off x="3838277" y="487412"/>
            <a:ext cx="5139803" cy="159990"/>
          </a:xfrm>
          <a:prstGeom prst="rect">
            <a:avLst/>
          </a:prstGeom>
          <a:noFill/>
          <a:ln/>
        </p:spPr>
        <p:txBody>
          <a:bodyPr wrap="square" lIns="0" tIns="0" rIns="0" bIns="0" rtlCol="0" anchor="t"/>
          <a:lstStyle/>
          <a:p>
            <a:pPr marL="0" indent="0" algn="l">
              <a:lnSpc>
                <a:spcPts val="1260"/>
              </a:lnSpc>
              <a:spcAft>
                <a:spcPts val="900"/>
              </a:spcAft>
              <a:buNone/>
            </a:pPr>
            <a:r>
              <a:rPr lang="en-US" sz="900" b="1" dirty="0">
                <a:solidFill>
                  <a:srgbClr val="1A1F2E"/>
                </a:solidFill>
                <a:latin typeface="Arial" pitchFamily="34" charset="0"/>
                <a:ea typeface="Arial" pitchFamily="34" charset="-122"/>
                <a:cs typeface="Arial" pitchFamily="34" charset="-120"/>
              </a:rPr>
              <a:t>WHY PLANNING MODE MATTERS</a:t>
            </a:r>
            <a:endParaRPr lang="en-US" sz="900" dirty="0"/>
          </a:p>
        </p:txBody>
      </p:sp>
      <p:sp>
        <p:nvSpPr>
          <p:cNvPr id="18" name="Text 16"/>
          <p:cNvSpPr/>
          <p:nvPr/>
        </p:nvSpPr>
        <p:spPr>
          <a:xfrm>
            <a:off x="3838277" y="914102"/>
            <a:ext cx="5039023" cy="1020812"/>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19" name="Shape 17"/>
          <p:cNvSpPr/>
          <p:nvPr/>
        </p:nvSpPr>
        <p:spPr>
          <a:xfrm>
            <a:off x="5462439" y="1056977"/>
            <a:ext cx="0" cy="735062"/>
          </a:xfrm>
          <a:prstGeom prst="line">
            <a:avLst/>
          </a:prstGeom>
          <a:noFill/>
          <a:ln w="9525">
            <a:solidFill>
              <a:srgbClr val="E4E7ED"/>
            </a:solidFill>
            <a:prstDash val="solid"/>
          </a:ln>
        </p:spPr>
        <p:txBody>
          <a:bodyPr/>
          <a:lstStyle/>
          <a:p>
            <a:endParaRPr lang="en-US"/>
          </a:p>
        </p:txBody>
      </p:sp>
      <p:sp>
        <p:nvSpPr>
          <p:cNvPr id="20" name="Text 18"/>
          <p:cNvSpPr/>
          <p:nvPr/>
        </p:nvSpPr>
        <p:spPr>
          <a:xfrm>
            <a:off x="4063542" y="1152227"/>
            <a:ext cx="1311744" cy="293340"/>
          </a:xfrm>
          <a:prstGeom prst="rect">
            <a:avLst/>
          </a:prstGeom>
          <a:noFill/>
          <a:ln/>
        </p:spPr>
        <p:txBody>
          <a:bodyPr wrap="square" lIns="0" tIns="0" rIns="0" bIns="0" rtlCol="0" anchor="t"/>
          <a:lstStyle/>
          <a:p>
            <a:pPr marL="0" indent="0" algn="ctr">
              <a:lnSpc>
                <a:spcPts val="2310"/>
              </a:lnSpc>
              <a:buNone/>
            </a:pPr>
            <a:r>
              <a:rPr lang="en-US" sz="1650" b="1" dirty="0">
                <a:solidFill>
                  <a:srgbClr val="D97706"/>
                </a:solidFill>
                <a:latin typeface="Arial" pitchFamily="34" charset="0"/>
                <a:ea typeface="Arial" pitchFamily="34" charset="-122"/>
                <a:cs typeface="Arial" pitchFamily="34" charset="-120"/>
              </a:rPr>
              <a:t>Read</a:t>
            </a:r>
            <a:endParaRPr lang="en-US" sz="1650" dirty="0"/>
          </a:p>
        </p:txBody>
      </p:sp>
      <p:sp>
        <p:nvSpPr>
          <p:cNvPr id="21" name="Text 19"/>
          <p:cNvSpPr/>
          <p:nvPr/>
        </p:nvSpPr>
        <p:spPr>
          <a:xfrm>
            <a:off x="4063542" y="1483668"/>
            <a:ext cx="1311744" cy="213122"/>
          </a:xfrm>
          <a:prstGeom prst="rect">
            <a:avLst/>
          </a:prstGeom>
          <a:noFill/>
          <a:ln/>
        </p:spPr>
        <p:txBody>
          <a:bodyPr wrap="square" lIns="0" tIns="0" rIns="0" bIns="0" rtlCol="0" anchor="t"/>
          <a:lstStyle/>
          <a:p>
            <a:pPr marL="0" indent="0" algn="ctr">
              <a:lnSpc>
                <a:spcPts val="840"/>
              </a:lnSpc>
              <a:spcBef>
                <a:spcPts val="300"/>
              </a:spcBef>
              <a:buNone/>
            </a:pPr>
            <a:r>
              <a:rPr lang="en-US" sz="600" dirty="0">
                <a:solidFill>
                  <a:srgbClr val="6B7280"/>
                </a:solidFill>
                <a:latin typeface="Arial" pitchFamily="34" charset="0"/>
                <a:ea typeface="Arial" pitchFamily="34" charset="-122"/>
                <a:cs typeface="Arial" pitchFamily="34" charset="-120"/>
              </a:rPr>
              <a:t>Explore codebase</a:t>
            </a:r>
            <a:endParaRPr lang="en-US" sz="600" dirty="0"/>
          </a:p>
          <a:p>
            <a:pPr marL="0" indent="0" algn="ctr">
              <a:lnSpc>
                <a:spcPts val="840"/>
              </a:lnSpc>
              <a:spcBef>
                <a:spcPts val="300"/>
              </a:spcBef>
              <a:buNone/>
            </a:pPr>
            <a:r>
              <a:rPr lang="en-US" sz="600" dirty="0">
                <a:solidFill>
                  <a:srgbClr val="6B7280"/>
                </a:solidFill>
                <a:latin typeface="Arial" pitchFamily="34" charset="0"/>
                <a:ea typeface="Arial" pitchFamily="34" charset="-122"/>
                <a:cs typeface="Arial" pitchFamily="34" charset="-120"/>
              </a:rPr>
              <a:t>without changes</a:t>
            </a:r>
            <a:endParaRPr lang="en-US" sz="600" dirty="0"/>
          </a:p>
        </p:txBody>
      </p:sp>
      <p:sp>
        <p:nvSpPr>
          <p:cNvPr id="22" name="Shape 20"/>
          <p:cNvSpPr/>
          <p:nvPr/>
        </p:nvSpPr>
        <p:spPr>
          <a:xfrm>
            <a:off x="7100888" y="1056977"/>
            <a:ext cx="0" cy="735062"/>
          </a:xfrm>
          <a:prstGeom prst="line">
            <a:avLst/>
          </a:prstGeom>
          <a:noFill/>
          <a:ln w="9525">
            <a:solidFill>
              <a:srgbClr val="E4E7ED"/>
            </a:solidFill>
            <a:prstDash val="solid"/>
          </a:ln>
        </p:spPr>
        <p:txBody>
          <a:bodyPr/>
          <a:lstStyle/>
          <a:p>
            <a:endParaRPr lang="en-US"/>
          </a:p>
        </p:txBody>
      </p:sp>
      <p:sp>
        <p:nvSpPr>
          <p:cNvPr id="23" name="Text 21"/>
          <p:cNvSpPr/>
          <p:nvPr/>
        </p:nvSpPr>
        <p:spPr>
          <a:xfrm>
            <a:off x="5701991" y="1152227"/>
            <a:ext cx="1311744" cy="293340"/>
          </a:xfrm>
          <a:prstGeom prst="rect">
            <a:avLst/>
          </a:prstGeom>
          <a:noFill/>
          <a:ln/>
        </p:spPr>
        <p:txBody>
          <a:bodyPr wrap="square" lIns="0" tIns="0" rIns="0" bIns="0" rtlCol="0" anchor="t"/>
          <a:lstStyle/>
          <a:p>
            <a:pPr marL="0" indent="0" algn="ctr">
              <a:lnSpc>
                <a:spcPts val="2310"/>
              </a:lnSpc>
              <a:buNone/>
            </a:pPr>
            <a:r>
              <a:rPr lang="en-US" sz="1650" b="1" dirty="0">
                <a:solidFill>
                  <a:srgbClr val="D97706"/>
                </a:solidFill>
                <a:latin typeface="Arial" pitchFamily="34" charset="0"/>
                <a:ea typeface="Arial" pitchFamily="34" charset="-122"/>
                <a:cs typeface="Arial" pitchFamily="34" charset="-120"/>
              </a:rPr>
              <a:t>Think</a:t>
            </a:r>
            <a:endParaRPr lang="en-US" sz="1650" dirty="0"/>
          </a:p>
        </p:txBody>
      </p:sp>
      <p:sp>
        <p:nvSpPr>
          <p:cNvPr id="24" name="Text 22"/>
          <p:cNvSpPr/>
          <p:nvPr/>
        </p:nvSpPr>
        <p:spPr>
          <a:xfrm>
            <a:off x="5701991" y="1483668"/>
            <a:ext cx="1311744" cy="213122"/>
          </a:xfrm>
          <a:prstGeom prst="rect">
            <a:avLst/>
          </a:prstGeom>
          <a:noFill/>
          <a:ln/>
        </p:spPr>
        <p:txBody>
          <a:bodyPr wrap="square" lIns="0" tIns="0" rIns="0" bIns="0" rtlCol="0" anchor="t"/>
          <a:lstStyle/>
          <a:p>
            <a:pPr marL="0" indent="0" algn="ctr">
              <a:lnSpc>
                <a:spcPts val="840"/>
              </a:lnSpc>
              <a:spcBef>
                <a:spcPts val="300"/>
              </a:spcBef>
              <a:buNone/>
            </a:pPr>
            <a:r>
              <a:rPr lang="en-US" sz="600" dirty="0">
                <a:solidFill>
                  <a:srgbClr val="6B7280"/>
                </a:solidFill>
                <a:latin typeface="Arial" pitchFamily="34" charset="0"/>
                <a:ea typeface="Arial" pitchFamily="34" charset="-122"/>
                <a:cs typeface="Arial" pitchFamily="34" charset="-120"/>
              </a:rPr>
              <a:t>Design approach</a:t>
            </a:r>
            <a:endParaRPr lang="en-US" sz="600" dirty="0"/>
          </a:p>
          <a:p>
            <a:pPr marL="0" indent="0" algn="ctr">
              <a:lnSpc>
                <a:spcPts val="840"/>
              </a:lnSpc>
              <a:spcBef>
                <a:spcPts val="300"/>
              </a:spcBef>
              <a:buNone/>
            </a:pPr>
            <a:r>
              <a:rPr lang="en-US" sz="600" dirty="0">
                <a:solidFill>
                  <a:srgbClr val="6B7280"/>
                </a:solidFill>
                <a:latin typeface="Arial" pitchFamily="34" charset="0"/>
                <a:ea typeface="Arial" pitchFamily="34" charset="-122"/>
                <a:cs typeface="Arial" pitchFamily="34" charset="-120"/>
              </a:rPr>
              <a:t>before committing</a:t>
            </a:r>
            <a:endParaRPr lang="en-US" sz="600" dirty="0"/>
          </a:p>
        </p:txBody>
      </p:sp>
      <p:sp>
        <p:nvSpPr>
          <p:cNvPr id="25" name="Text 23"/>
          <p:cNvSpPr/>
          <p:nvPr/>
        </p:nvSpPr>
        <p:spPr>
          <a:xfrm>
            <a:off x="7340440" y="1152227"/>
            <a:ext cx="1311744" cy="293340"/>
          </a:xfrm>
          <a:prstGeom prst="rect">
            <a:avLst/>
          </a:prstGeom>
          <a:noFill/>
          <a:ln/>
        </p:spPr>
        <p:txBody>
          <a:bodyPr wrap="square" lIns="0" tIns="0" rIns="0" bIns="0" rtlCol="0" anchor="t"/>
          <a:lstStyle/>
          <a:p>
            <a:pPr marL="0" indent="0" algn="ctr">
              <a:lnSpc>
                <a:spcPts val="2310"/>
              </a:lnSpc>
              <a:buNone/>
            </a:pPr>
            <a:r>
              <a:rPr lang="en-US" sz="1650" b="1" dirty="0">
                <a:solidFill>
                  <a:srgbClr val="D97706"/>
                </a:solidFill>
                <a:latin typeface="Arial" pitchFamily="34" charset="0"/>
                <a:ea typeface="Arial" pitchFamily="34" charset="-122"/>
                <a:cs typeface="Arial" pitchFamily="34" charset="-120"/>
              </a:rPr>
              <a:t>Iterate</a:t>
            </a:r>
            <a:endParaRPr lang="en-US" sz="1650" dirty="0"/>
          </a:p>
        </p:txBody>
      </p:sp>
      <p:sp>
        <p:nvSpPr>
          <p:cNvPr id="26" name="Text 24"/>
          <p:cNvSpPr/>
          <p:nvPr/>
        </p:nvSpPr>
        <p:spPr>
          <a:xfrm>
            <a:off x="7340440" y="1483668"/>
            <a:ext cx="1311744" cy="213122"/>
          </a:xfrm>
          <a:prstGeom prst="rect">
            <a:avLst/>
          </a:prstGeom>
          <a:noFill/>
          <a:ln/>
        </p:spPr>
        <p:txBody>
          <a:bodyPr wrap="square" lIns="0" tIns="0" rIns="0" bIns="0" rtlCol="0" anchor="t"/>
          <a:lstStyle/>
          <a:p>
            <a:pPr marL="0" indent="0" algn="ctr">
              <a:lnSpc>
                <a:spcPts val="840"/>
              </a:lnSpc>
              <a:spcBef>
                <a:spcPts val="300"/>
              </a:spcBef>
              <a:buNone/>
            </a:pPr>
            <a:r>
              <a:rPr lang="en-US" sz="600" dirty="0">
                <a:solidFill>
                  <a:srgbClr val="6B7280"/>
                </a:solidFill>
                <a:latin typeface="Arial" pitchFamily="34" charset="0"/>
                <a:ea typeface="Arial" pitchFamily="34" charset="-122"/>
                <a:cs typeface="Arial" pitchFamily="34" charset="-120"/>
              </a:rPr>
              <a:t>Refine plan with</a:t>
            </a:r>
            <a:endParaRPr lang="en-US" sz="600" dirty="0"/>
          </a:p>
          <a:p>
            <a:pPr marL="0" indent="0" algn="ctr">
              <a:lnSpc>
                <a:spcPts val="840"/>
              </a:lnSpc>
              <a:spcBef>
                <a:spcPts val="300"/>
              </a:spcBef>
              <a:buNone/>
            </a:pPr>
            <a:r>
              <a:rPr lang="en-US" sz="600" dirty="0">
                <a:solidFill>
                  <a:srgbClr val="6B7280"/>
                </a:solidFill>
                <a:latin typeface="Arial" pitchFamily="34" charset="0"/>
                <a:ea typeface="Arial" pitchFamily="34" charset="-122"/>
                <a:cs typeface="Arial" pitchFamily="34" charset="-120"/>
              </a:rPr>
              <a:t>feedback</a:t>
            </a:r>
            <a:endParaRPr lang="en-US" sz="600" dirty="0"/>
          </a:p>
        </p:txBody>
      </p:sp>
      <p:sp>
        <p:nvSpPr>
          <p:cNvPr id="27" name="Text 25"/>
          <p:cNvSpPr/>
          <p:nvPr/>
        </p:nvSpPr>
        <p:spPr>
          <a:xfrm>
            <a:off x="3838277" y="2201614"/>
            <a:ext cx="5039023" cy="1625947"/>
          </a:xfrm>
          <a:prstGeom prst="rect">
            <a:avLst/>
          </a:prstGeom>
          <a:solidFill>
            <a:srgbClr val="1A1F2E"/>
          </a:solidFill>
          <a:ln/>
        </p:spPr>
        <p:txBody>
          <a:bodyPr wrap="square" rtlCol="0" anchor="ctr"/>
          <a:lstStyle/>
          <a:p>
            <a:pPr marL="0" indent="0">
              <a:buNone/>
            </a:pPr>
            <a:endParaRPr lang="en-US" dirty="0"/>
          </a:p>
        </p:txBody>
      </p:sp>
      <p:sp>
        <p:nvSpPr>
          <p:cNvPr id="28" name="Text 26"/>
          <p:cNvSpPr/>
          <p:nvPr/>
        </p:nvSpPr>
        <p:spPr>
          <a:xfrm>
            <a:off x="3952577" y="2315914"/>
            <a:ext cx="4906631" cy="106561"/>
          </a:xfrm>
          <a:prstGeom prst="rect">
            <a:avLst/>
          </a:prstGeom>
          <a:noFill/>
          <a:ln/>
        </p:spPr>
        <p:txBody>
          <a:bodyPr wrap="square" lIns="0" tIns="0" rIns="0" bIns="0" rtlCol="0" anchor="t"/>
          <a:lstStyle/>
          <a:p>
            <a:pPr marL="0" indent="0" algn="l">
              <a:lnSpc>
                <a:spcPts val="840"/>
              </a:lnSpc>
              <a:spcAft>
                <a:spcPts val="450"/>
              </a:spcAft>
              <a:buNone/>
            </a:pPr>
            <a:r>
              <a:rPr lang="en-US" sz="600" dirty="0">
                <a:solidFill>
                  <a:srgbClr val="C9A227"/>
                </a:solidFill>
                <a:latin typeface="Arial" pitchFamily="34" charset="0"/>
                <a:ea typeface="Arial" pitchFamily="34" charset="-122"/>
                <a:cs typeface="Arial" pitchFamily="34" charset="-120"/>
              </a:rPr>
              <a:t>EXAMPLE WORKFLOW</a:t>
            </a:r>
            <a:endParaRPr lang="en-US" sz="600" dirty="0"/>
          </a:p>
        </p:txBody>
      </p:sp>
      <p:sp>
        <p:nvSpPr>
          <p:cNvPr id="29" name="Text 27"/>
          <p:cNvSpPr/>
          <p:nvPr/>
        </p:nvSpPr>
        <p:spPr>
          <a:xfrm>
            <a:off x="3952577" y="2479625"/>
            <a:ext cx="4906631" cy="1233636"/>
          </a:xfrm>
          <a:prstGeom prst="rect">
            <a:avLst/>
          </a:prstGeom>
          <a:noFill/>
          <a:ln/>
        </p:spPr>
        <p:txBody>
          <a:bodyPr wrap="square" lIns="0" tIns="0" rIns="0" bIns="0" rtlCol="0" anchor="t"/>
          <a:lstStyle/>
          <a:p>
            <a:pPr marL="0" indent="0" algn="l">
              <a:lnSpc>
                <a:spcPts val="1080"/>
              </a:lnSpc>
              <a:buNone/>
            </a:pPr>
            <a:r>
              <a:rPr lang="en-US" sz="675" dirty="0">
                <a:solidFill>
                  <a:srgbClr val="9CA3AF">
                    <a:alpha val="80000"/>
                  </a:srgbClr>
                </a:solidFill>
                <a:latin typeface="Arial" pitchFamily="34" charset="0"/>
                <a:ea typeface="Arial" pitchFamily="34" charset="-122"/>
                <a:cs typeface="Arial" pitchFamily="34" charset="-120"/>
              </a:rPr>
              <a:t># Enter planning mode</a:t>
            </a:r>
            <a:endParaRPr lang="en-US" sz="675" dirty="0"/>
          </a:p>
          <a:p>
            <a:pPr marL="0" indent="0" algn="l">
              <a:lnSpc>
                <a:spcPts val="1080"/>
              </a:lnSpc>
              <a:buNone/>
            </a:pPr>
            <a:r>
              <a:rPr lang="en-US" sz="675" dirty="0">
                <a:solidFill>
                  <a:srgbClr val="FFFFFF">
                    <a:alpha val="80000"/>
                  </a:srgbClr>
                </a:solidFill>
                <a:latin typeface="Arial" pitchFamily="34" charset="0"/>
                <a:ea typeface="Arial" pitchFamily="34" charset="-122"/>
                <a:cs typeface="Arial" pitchFamily="34" charset="-120"/>
              </a:rPr>
              <a:t> /plan</a:t>
            </a:r>
            <a:endParaRPr lang="en-US" sz="675" dirty="0"/>
          </a:p>
          <a:p>
            <a:pPr marL="0" indent="0" algn="l">
              <a:lnSpc>
                <a:spcPts val="1080"/>
              </a:lnSpc>
              <a:buNone/>
            </a:pPr>
            <a:endParaRPr lang="en-US" sz="675" dirty="0"/>
          </a:p>
          <a:p>
            <a:pPr marL="0" indent="0" algn="l">
              <a:lnSpc>
                <a:spcPts val="1080"/>
              </a:lnSpc>
              <a:buNone/>
            </a:pPr>
            <a:r>
              <a:rPr lang="en-US" sz="675" dirty="0">
                <a:solidFill>
                  <a:srgbClr val="FFFFFF">
                    <a:alpha val="80000"/>
                  </a:srgbClr>
                </a:solidFill>
                <a:latin typeface="Arial" pitchFamily="34" charset="0"/>
                <a:ea typeface="Arial" pitchFamily="34" charset="-122"/>
                <a:cs typeface="Arial" pitchFamily="34" charset="-120"/>
              </a:rPr>
              <a:t> </a:t>
            </a:r>
            <a:endParaRPr lang="en-US" sz="675" dirty="0"/>
          </a:p>
          <a:p>
            <a:pPr marL="0" indent="0" algn="l">
              <a:lnSpc>
                <a:spcPts val="1080"/>
              </a:lnSpc>
              <a:buNone/>
            </a:pPr>
            <a:r>
              <a:rPr lang="en-US" sz="675" dirty="0">
                <a:solidFill>
                  <a:srgbClr val="6EE7B7">
                    <a:alpha val="80000"/>
                  </a:srgbClr>
                </a:solidFill>
                <a:latin typeface="Arial" pitchFamily="34" charset="0"/>
                <a:ea typeface="Arial" pitchFamily="34" charset="-122"/>
                <a:cs typeface="Arial" pitchFamily="34" charset="-120"/>
              </a:rPr>
              <a:t>"I need to add user authentication.</a:t>
            </a:r>
            <a:endParaRPr lang="en-US" sz="675" dirty="0"/>
          </a:p>
          <a:p>
            <a:pPr marL="0" indent="0" algn="l">
              <a:lnSpc>
                <a:spcPts val="1080"/>
              </a:lnSpc>
              <a:buNone/>
            </a:pPr>
            <a:r>
              <a:rPr lang="en-US" sz="675" dirty="0">
                <a:solidFill>
                  <a:srgbClr val="6EE7B7">
                    <a:alpha val="80000"/>
                  </a:srgbClr>
                </a:solidFill>
                <a:latin typeface="Arial" pitchFamily="34" charset="0"/>
                <a:ea typeface="Arial" pitchFamily="34" charset="-122"/>
                <a:cs typeface="Arial" pitchFamily="34" charset="-120"/>
              </a:rPr>
              <a:t>Review the codebase and propose an approach."</a:t>
            </a:r>
            <a:endParaRPr lang="en-US" sz="675" dirty="0"/>
          </a:p>
          <a:p>
            <a:pPr marL="0" indent="0" algn="l">
              <a:lnSpc>
                <a:spcPts val="1080"/>
              </a:lnSpc>
              <a:buNone/>
            </a:pPr>
            <a:endParaRPr lang="en-US" sz="675" dirty="0"/>
          </a:p>
          <a:p>
            <a:pPr marL="0" indent="0" algn="l">
              <a:lnSpc>
                <a:spcPts val="1080"/>
              </a:lnSpc>
              <a:buNone/>
            </a:pPr>
            <a:endParaRPr lang="en-US" sz="675" dirty="0"/>
          </a:p>
          <a:p>
            <a:pPr marL="0" indent="0" algn="l">
              <a:lnSpc>
                <a:spcPts val="1080"/>
              </a:lnSpc>
              <a:buNone/>
            </a:pPr>
            <a:r>
              <a:rPr lang="en-US" sz="675" dirty="0">
                <a:solidFill>
                  <a:srgbClr val="FFFFFF">
                    <a:alpha val="80000"/>
                  </a:srgbClr>
                </a:solidFill>
                <a:latin typeface="Arial" pitchFamily="34" charset="0"/>
                <a:ea typeface="Arial" pitchFamily="34" charset="-122"/>
                <a:cs typeface="Arial" pitchFamily="34" charset="-120"/>
              </a:rPr>
              <a:t> </a:t>
            </a:r>
            <a:endParaRPr lang="en-US" sz="675" dirty="0"/>
          </a:p>
          <a:p>
            <a:pPr marL="0" indent="0" algn="l">
              <a:lnSpc>
                <a:spcPts val="1080"/>
              </a:lnSpc>
              <a:buNone/>
            </a:pPr>
            <a:r>
              <a:rPr lang="en-US" sz="675" dirty="0">
                <a:solidFill>
                  <a:srgbClr val="9CA3AF">
                    <a:alpha val="80000"/>
                  </a:srgbClr>
                </a:solidFill>
                <a:latin typeface="Arial" pitchFamily="34" charset="0"/>
                <a:ea typeface="Arial" pitchFamily="34" charset="-122"/>
                <a:cs typeface="Arial" pitchFamily="34" charset="-120"/>
              </a:rPr>
              <a:t># Claude explores, then presents plan</a:t>
            </a:r>
            <a:endParaRPr lang="en-US" sz="675" dirty="0"/>
          </a:p>
          <a:p>
            <a:pPr marL="0" indent="0" algn="l">
              <a:lnSpc>
                <a:spcPts val="1080"/>
              </a:lnSpc>
              <a:buNone/>
            </a:pPr>
            <a:r>
              <a:rPr lang="en-US" sz="675" dirty="0">
                <a:solidFill>
                  <a:srgbClr val="FFFFFF">
                    <a:alpha val="80000"/>
                  </a:srgbClr>
                </a:solidFill>
                <a:latin typeface="Arial" pitchFamily="34" charset="0"/>
                <a:ea typeface="Arial" pitchFamily="34" charset="-122"/>
                <a:cs typeface="Arial" pitchFamily="34" charset="-120"/>
              </a:rPr>
              <a:t> </a:t>
            </a:r>
            <a:endParaRPr lang="en-US" sz="675" dirty="0"/>
          </a:p>
          <a:p>
            <a:pPr marL="0" indent="0" algn="l">
              <a:lnSpc>
                <a:spcPts val="1080"/>
              </a:lnSpc>
              <a:buNone/>
            </a:pPr>
            <a:r>
              <a:rPr lang="en-US" sz="675" dirty="0">
                <a:solidFill>
                  <a:srgbClr val="9CA3AF">
                    <a:alpha val="80000"/>
                  </a:srgbClr>
                </a:solidFill>
                <a:latin typeface="Arial" pitchFamily="34" charset="0"/>
                <a:ea typeface="Arial" pitchFamily="34" charset="-122"/>
                <a:cs typeface="Arial" pitchFamily="34" charset="-120"/>
              </a:rPr>
              <a:t># You approve or refine</a:t>
            </a:r>
            <a:endParaRPr lang="en-US" sz="675" dirty="0"/>
          </a:p>
          <a:p>
            <a:pPr marL="0" indent="0" algn="l">
              <a:lnSpc>
                <a:spcPts val="1080"/>
              </a:lnSpc>
              <a:buNone/>
            </a:pPr>
            <a:r>
              <a:rPr lang="en-US" sz="675" dirty="0">
                <a:solidFill>
                  <a:srgbClr val="FFFFFF">
                    <a:alpha val="80000"/>
                  </a:srgbClr>
                </a:solidFill>
                <a:latin typeface="Arial" pitchFamily="34" charset="0"/>
                <a:ea typeface="Arial" pitchFamily="34" charset="-122"/>
                <a:cs typeface="Arial" pitchFamily="34" charset="-120"/>
              </a:rPr>
              <a:t> </a:t>
            </a:r>
            <a:endParaRPr lang="en-US" sz="675" dirty="0"/>
          </a:p>
          <a:p>
            <a:pPr marL="0" indent="0" algn="l">
              <a:lnSpc>
                <a:spcPts val="1080"/>
              </a:lnSpc>
              <a:buNone/>
            </a:pPr>
            <a:r>
              <a:rPr lang="en-US" sz="675" dirty="0">
                <a:solidFill>
                  <a:srgbClr val="9CA3AF">
                    <a:alpha val="80000"/>
                  </a:srgbClr>
                </a:solidFill>
                <a:latin typeface="Arial" pitchFamily="34" charset="0"/>
                <a:ea typeface="Arial" pitchFamily="34" charset="-122"/>
                <a:cs typeface="Arial" pitchFamily="34" charset="-120"/>
              </a:rPr>
              <a:t># Exit plan mode to implement</a:t>
            </a:r>
            <a:endParaRPr lang="en-US" sz="675" dirty="0"/>
          </a:p>
        </p:txBody>
      </p:sp>
      <p:sp>
        <p:nvSpPr>
          <p:cNvPr id="30" name="Text 28"/>
          <p:cNvSpPr/>
          <p:nvPr/>
        </p:nvSpPr>
        <p:spPr>
          <a:xfrm>
            <a:off x="3838277" y="4147542"/>
            <a:ext cx="2481411" cy="455116"/>
          </a:xfrm>
          <a:prstGeom prst="rect">
            <a:avLst/>
          </a:prstGeom>
          <a:solidFill>
            <a:srgbClr val="DCFCE7"/>
          </a:solidFill>
          <a:ln/>
        </p:spPr>
        <p:txBody>
          <a:bodyPr wrap="square" rtlCol="0" anchor="ctr"/>
          <a:lstStyle/>
          <a:p>
            <a:pPr marL="0" indent="0">
              <a:buNone/>
            </a:pPr>
            <a:endParaRPr lang="en-US" dirty="0"/>
          </a:p>
        </p:txBody>
      </p:sp>
      <p:sp>
        <p:nvSpPr>
          <p:cNvPr id="31" name="Shape 29"/>
          <p:cNvSpPr/>
          <p:nvPr/>
        </p:nvSpPr>
        <p:spPr>
          <a:xfrm>
            <a:off x="3852565" y="4147542"/>
            <a:ext cx="0" cy="455116"/>
          </a:xfrm>
          <a:prstGeom prst="line">
            <a:avLst/>
          </a:prstGeom>
          <a:noFill/>
          <a:ln w="28575">
            <a:solidFill>
              <a:srgbClr val="059669"/>
            </a:solidFill>
            <a:prstDash val="solid"/>
          </a:ln>
        </p:spPr>
        <p:txBody>
          <a:bodyPr/>
          <a:lstStyle/>
          <a:p>
            <a:endParaRPr lang="en-US"/>
          </a:p>
        </p:txBody>
      </p:sp>
      <p:sp>
        <p:nvSpPr>
          <p:cNvPr id="32" name="Text 30"/>
          <p:cNvSpPr/>
          <p:nvPr/>
        </p:nvSpPr>
        <p:spPr>
          <a:xfrm>
            <a:off x="3962102" y="4242792"/>
            <a:ext cx="2307583" cy="119955"/>
          </a:xfrm>
          <a:prstGeom prst="rect">
            <a:avLst/>
          </a:prstGeom>
          <a:noFill/>
          <a:ln/>
        </p:spPr>
        <p:txBody>
          <a:bodyPr wrap="square" lIns="0" tIns="0" rIns="0" bIns="0" rtlCol="0" anchor="t"/>
          <a:lstStyle/>
          <a:p>
            <a:pPr marL="0" indent="0" algn="l">
              <a:lnSpc>
                <a:spcPts val="945"/>
              </a:lnSpc>
              <a:spcAft>
                <a:spcPts val="300"/>
              </a:spcAft>
              <a:buNone/>
            </a:pPr>
            <a:r>
              <a:rPr lang="en-US" sz="675" b="1" dirty="0">
                <a:solidFill>
                  <a:srgbClr val="166534"/>
                </a:solidFill>
                <a:latin typeface="Arial" pitchFamily="34" charset="0"/>
                <a:ea typeface="Arial" pitchFamily="34" charset="-122"/>
                <a:cs typeface="Arial" pitchFamily="34" charset="-120"/>
              </a:rPr>
              <a:t>CONTEXT BENEFIT</a:t>
            </a:r>
            <a:endParaRPr lang="en-US" sz="675" dirty="0"/>
          </a:p>
        </p:txBody>
      </p:sp>
      <p:sp>
        <p:nvSpPr>
          <p:cNvPr id="33" name="Text 31"/>
          <p:cNvSpPr/>
          <p:nvPr/>
        </p:nvSpPr>
        <p:spPr>
          <a:xfrm>
            <a:off x="3962102" y="4400848"/>
            <a:ext cx="2307583" cy="106561"/>
          </a:xfrm>
          <a:prstGeom prst="rect">
            <a:avLst/>
          </a:prstGeom>
          <a:noFill/>
          <a:ln/>
        </p:spPr>
        <p:txBody>
          <a:bodyPr wrap="square" lIns="0" tIns="0" rIns="0" bIns="0" rtlCol="0" anchor="t"/>
          <a:lstStyle/>
          <a:p>
            <a:pPr marL="0" indent="0" algn="l">
              <a:lnSpc>
                <a:spcPts val="840"/>
              </a:lnSpc>
              <a:buNone/>
            </a:pPr>
            <a:r>
              <a:rPr lang="en-US" sz="600" dirty="0">
                <a:solidFill>
                  <a:srgbClr val="166534"/>
                </a:solidFill>
                <a:latin typeface="Arial" pitchFamily="34" charset="0"/>
                <a:ea typeface="Arial" pitchFamily="34" charset="-122"/>
                <a:cs typeface="Arial" pitchFamily="34" charset="-120"/>
              </a:rPr>
              <a:t>Uses sub-agents for exploration — keeps main context clean</a:t>
            </a:r>
            <a:endParaRPr lang="en-US" sz="600" dirty="0"/>
          </a:p>
        </p:txBody>
      </p:sp>
      <p:sp>
        <p:nvSpPr>
          <p:cNvPr id="34" name="Text 32"/>
          <p:cNvSpPr/>
          <p:nvPr/>
        </p:nvSpPr>
        <p:spPr>
          <a:xfrm>
            <a:off x="6395889" y="4094262"/>
            <a:ext cx="2481411" cy="561677"/>
          </a:xfrm>
          <a:prstGeom prst="rect">
            <a:avLst/>
          </a:prstGeom>
          <a:solidFill>
            <a:srgbClr val="FEF3C7"/>
          </a:solidFill>
          <a:ln/>
        </p:spPr>
        <p:txBody>
          <a:bodyPr wrap="square" rtlCol="0" anchor="ctr"/>
          <a:lstStyle/>
          <a:p>
            <a:pPr marL="0" indent="0">
              <a:buNone/>
            </a:pPr>
            <a:endParaRPr lang="en-US" dirty="0"/>
          </a:p>
        </p:txBody>
      </p:sp>
      <p:sp>
        <p:nvSpPr>
          <p:cNvPr id="35" name="Shape 33"/>
          <p:cNvSpPr/>
          <p:nvPr/>
        </p:nvSpPr>
        <p:spPr>
          <a:xfrm>
            <a:off x="6410176" y="4094262"/>
            <a:ext cx="0" cy="561677"/>
          </a:xfrm>
          <a:prstGeom prst="line">
            <a:avLst/>
          </a:prstGeom>
          <a:noFill/>
          <a:ln w="28575">
            <a:solidFill>
              <a:srgbClr val="F59E0B"/>
            </a:solidFill>
            <a:prstDash val="solid"/>
          </a:ln>
        </p:spPr>
        <p:txBody>
          <a:bodyPr/>
          <a:lstStyle/>
          <a:p>
            <a:endParaRPr lang="en-US"/>
          </a:p>
        </p:txBody>
      </p:sp>
      <p:sp>
        <p:nvSpPr>
          <p:cNvPr id="36" name="Text 34"/>
          <p:cNvSpPr/>
          <p:nvPr/>
        </p:nvSpPr>
        <p:spPr>
          <a:xfrm>
            <a:off x="6519714" y="4189512"/>
            <a:ext cx="2307583" cy="119955"/>
          </a:xfrm>
          <a:prstGeom prst="rect">
            <a:avLst/>
          </a:prstGeom>
          <a:noFill/>
          <a:ln/>
        </p:spPr>
        <p:txBody>
          <a:bodyPr wrap="square" lIns="0" tIns="0" rIns="0" bIns="0" rtlCol="0" anchor="t"/>
          <a:lstStyle/>
          <a:p>
            <a:pPr marL="0" indent="0" algn="l">
              <a:lnSpc>
                <a:spcPts val="945"/>
              </a:lnSpc>
              <a:spcAft>
                <a:spcPts val="300"/>
              </a:spcAft>
              <a:buNone/>
            </a:pPr>
            <a:r>
              <a:rPr lang="en-US" sz="675" b="1" dirty="0">
                <a:solidFill>
                  <a:srgbClr val="92400E"/>
                </a:solidFill>
                <a:latin typeface="Arial" pitchFamily="34" charset="0"/>
                <a:ea typeface="Arial" pitchFamily="34" charset="-122"/>
                <a:cs typeface="Arial" pitchFamily="34" charset="-120"/>
              </a:rPr>
              <a:t>BEST PRACTICE</a:t>
            </a:r>
            <a:endParaRPr lang="en-US" sz="675" dirty="0"/>
          </a:p>
        </p:txBody>
      </p:sp>
      <p:sp>
        <p:nvSpPr>
          <p:cNvPr id="37" name="Text 35"/>
          <p:cNvSpPr/>
          <p:nvPr/>
        </p:nvSpPr>
        <p:spPr>
          <a:xfrm>
            <a:off x="6519714" y="4347567"/>
            <a:ext cx="2307583" cy="213122"/>
          </a:xfrm>
          <a:prstGeom prst="rect">
            <a:avLst/>
          </a:prstGeom>
          <a:noFill/>
          <a:ln/>
        </p:spPr>
        <p:txBody>
          <a:bodyPr wrap="square" lIns="0" tIns="0" rIns="0" bIns="0" rtlCol="0" anchor="t"/>
          <a:lstStyle/>
          <a:p>
            <a:pPr marL="0" indent="0" algn="l">
              <a:lnSpc>
                <a:spcPts val="840"/>
              </a:lnSpc>
              <a:buNone/>
            </a:pPr>
            <a:r>
              <a:rPr lang="en-US" sz="600" dirty="0">
                <a:solidFill>
                  <a:srgbClr val="92400E"/>
                </a:solidFill>
                <a:latin typeface="Arial" pitchFamily="34" charset="0"/>
                <a:ea typeface="Arial" pitchFamily="34" charset="-122"/>
                <a:cs typeface="Arial" pitchFamily="34" charset="-120"/>
              </a:rPr>
              <a:t>For PRs, always plan first — iterate on approach before writing code</a:t>
            </a:r>
            <a:endParaRPr lang="en-US" sz="6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0" y="0"/>
            <a:ext cx="3419177" cy="5143500"/>
          </a:xfrm>
          <a:prstGeom prst="rect">
            <a:avLst/>
          </a:prstGeom>
          <a:solidFill>
            <a:srgbClr val="1A1F2E"/>
          </a:solidFill>
          <a:ln/>
        </p:spPr>
        <p:txBody>
          <a:bodyPr wrap="square" rtlCol="0" anchor="ctr"/>
          <a:lstStyle/>
          <a:p>
            <a:pPr marL="0" indent="0">
              <a:buNone/>
            </a:pPr>
            <a:endParaRPr lang="en-US" dirty="0"/>
          </a:p>
        </p:txBody>
      </p:sp>
      <p:sp>
        <p:nvSpPr>
          <p:cNvPr id="3" name="Text 1"/>
          <p:cNvSpPr/>
          <p:nvPr/>
        </p:nvSpPr>
        <p:spPr>
          <a:xfrm>
            <a:off x="266700" y="266700"/>
            <a:ext cx="976164" cy="201811"/>
          </a:xfrm>
          <a:prstGeom prst="rect">
            <a:avLst/>
          </a:prstGeom>
          <a:solidFill>
            <a:srgbClr val="D97706"/>
          </a:solidFill>
          <a:ln/>
        </p:spPr>
        <p:txBody>
          <a:bodyPr wrap="square" rtlCol="0" anchor="ctr"/>
          <a:lstStyle/>
          <a:p>
            <a:pPr marL="0" indent="0">
              <a:buNone/>
            </a:pPr>
            <a:endParaRPr lang="en-US" dirty="0"/>
          </a:p>
        </p:txBody>
      </p:sp>
      <p:sp>
        <p:nvSpPr>
          <p:cNvPr id="4" name="Text 2"/>
          <p:cNvSpPr/>
          <p:nvPr/>
        </p:nvSpPr>
        <p:spPr>
          <a:xfrm>
            <a:off x="361950" y="314325"/>
            <a:ext cx="801377" cy="106561"/>
          </a:xfrm>
          <a:prstGeom prst="rect">
            <a:avLst/>
          </a:prstGeom>
          <a:noFill/>
          <a:ln/>
        </p:spPr>
        <p:txBody>
          <a:bodyPr wrap="square" lIns="0" tIns="0" rIns="0" bIns="0" rtlCol="0" anchor="t"/>
          <a:lstStyle/>
          <a:p>
            <a:pPr marL="0" indent="0" algn="l">
              <a:lnSpc>
                <a:spcPts val="840"/>
              </a:lnSpc>
              <a:buNone/>
            </a:pPr>
            <a:r>
              <a:rPr lang="en-US" sz="600" b="1" dirty="0">
                <a:solidFill>
                  <a:srgbClr val="1A1F2E"/>
                </a:solidFill>
                <a:latin typeface="Arial" pitchFamily="34" charset="0"/>
                <a:ea typeface="Arial" pitchFamily="34" charset="-122"/>
                <a:cs typeface="Arial" pitchFamily="34" charset="-120"/>
              </a:rPr>
              <a:t>PARALLEL WORK</a:t>
            </a:r>
            <a:endParaRPr lang="en-US" sz="600" dirty="0"/>
          </a:p>
        </p:txBody>
      </p:sp>
      <p:sp>
        <p:nvSpPr>
          <p:cNvPr id="5" name="Text 3"/>
          <p:cNvSpPr/>
          <p:nvPr/>
        </p:nvSpPr>
        <p:spPr>
          <a:xfrm>
            <a:off x="266700" y="716161"/>
            <a:ext cx="1476756" cy="297061"/>
          </a:xfrm>
          <a:prstGeom prst="rect">
            <a:avLst/>
          </a:prstGeom>
          <a:noFill/>
          <a:ln/>
        </p:spPr>
        <p:txBody>
          <a:bodyPr wrap="square" lIns="0" tIns="0" rIns="0" bIns="0" rtlCol="0" anchor="t"/>
          <a:lstStyle/>
          <a:p>
            <a:pPr marL="0" indent="0" algn="l">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Sub-Agents</a:t>
            </a:r>
            <a:endParaRPr lang="en-US" sz="1950" dirty="0"/>
          </a:p>
        </p:txBody>
      </p:sp>
      <p:sp>
        <p:nvSpPr>
          <p:cNvPr id="6" name="Text 4"/>
          <p:cNvSpPr/>
          <p:nvPr/>
        </p:nvSpPr>
        <p:spPr>
          <a:xfrm>
            <a:off x="266700" y="1260872"/>
            <a:ext cx="381000" cy="19050"/>
          </a:xfrm>
          <a:prstGeom prst="rect">
            <a:avLst/>
          </a:prstGeom>
          <a:solidFill>
            <a:srgbClr val="C9A227"/>
          </a:solidFill>
          <a:ln/>
        </p:spPr>
        <p:txBody>
          <a:bodyPr wrap="square" rtlCol="0" anchor="ctr"/>
          <a:lstStyle/>
          <a:p>
            <a:pPr marL="0" indent="0">
              <a:buNone/>
            </a:pPr>
            <a:endParaRPr lang="en-US" dirty="0"/>
          </a:p>
        </p:txBody>
      </p:sp>
      <p:sp>
        <p:nvSpPr>
          <p:cNvPr id="7" name="Text 5"/>
          <p:cNvSpPr/>
          <p:nvPr/>
        </p:nvSpPr>
        <p:spPr>
          <a:xfrm>
            <a:off x="266700" y="1565672"/>
            <a:ext cx="2885777" cy="685800"/>
          </a:xfrm>
          <a:prstGeom prst="rect">
            <a:avLst/>
          </a:prstGeom>
          <a:solidFill>
            <a:srgbClr val="D97706">
              <a:alpha val="15000"/>
            </a:srgbClr>
          </a:solidFill>
          <a:ln/>
        </p:spPr>
        <p:txBody>
          <a:bodyPr wrap="square" rtlCol="0" anchor="ctr"/>
          <a:lstStyle/>
          <a:p>
            <a:pPr marL="0" indent="0">
              <a:buNone/>
            </a:pPr>
            <a:endParaRPr lang="en-US" dirty="0"/>
          </a:p>
        </p:txBody>
      </p:sp>
      <p:sp>
        <p:nvSpPr>
          <p:cNvPr id="8" name="Shape 6"/>
          <p:cNvSpPr/>
          <p:nvPr/>
        </p:nvSpPr>
        <p:spPr>
          <a:xfrm>
            <a:off x="280988" y="1565672"/>
            <a:ext cx="0" cy="685800"/>
          </a:xfrm>
          <a:prstGeom prst="line">
            <a:avLst/>
          </a:prstGeom>
          <a:noFill/>
          <a:ln w="28575">
            <a:solidFill>
              <a:srgbClr val="D97706"/>
            </a:solidFill>
            <a:prstDash val="solid"/>
          </a:ln>
        </p:spPr>
        <p:txBody>
          <a:bodyPr/>
          <a:lstStyle/>
          <a:p>
            <a:endParaRPr lang="en-US"/>
          </a:p>
        </p:txBody>
      </p:sp>
      <p:sp>
        <p:nvSpPr>
          <p:cNvPr id="9" name="Text 7"/>
          <p:cNvSpPr/>
          <p:nvPr/>
        </p:nvSpPr>
        <p:spPr>
          <a:xfrm>
            <a:off x="409575" y="1679972"/>
            <a:ext cx="2681174"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FBBF24"/>
                </a:solidFill>
                <a:latin typeface="Arial" pitchFamily="34" charset="0"/>
                <a:ea typeface="Arial" pitchFamily="34" charset="-122"/>
                <a:cs typeface="Arial" pitchFamily="34" charset="-120"/>
              </a:rPr>
              <a:t>WHAT THEY ARE</a:t>
            </a:r>
            <a:endParaRPr lang="en-US" sz="750" dirty="0"/>
          </a:p>
        </p:txBody>
      </p:sp>
      <p:sp>
        <p:nvSpPr>
          <p:cNvPr id="10" name="Text 8"/>
          <p:cNvSpPr/>
          <p:nvPr/>
        </p:nvSpPr>
        <p:spPr>
          <a:xfrm>
            <a:off x="409575" y="1851422"/>
            <a:ext cx="2681174" cy="285750"/>
          </a:xfrm>
          <a:prstGeom prst="rect">
            <a:avLst/>
          </a:prstGeom>
          <a:noFill/>
          <a:ln/>
        </p:spPr>
        <p:txBody>
          <a:bodyPr wrap="square" lIns="0" tIns="0" rIns="0" bIns="0" rtlCol="0" anchor="t"/>
          <a:lstStyle/>
          <a:p>
            <a:pPr marL="0" indent="0" algn="l">
              <a:lnSpc>
                <a:spcPts val="1125"/>
              </a:lnSpc>
              <a:buNone/>
            </a:pPr>
            <a:r>
              <a:rPr lang="en-US" sz="750" dirty="0">
                <a:solidFill>
                  <a:srgbClr val="FFFFFF">
                    <a:alpha val="80000"/>
                  </a:srgbClr>
                </a:solidFill>
                <a:latin typeface="Arial" pitchFamily="34" charset="0"/>
                <a:ea typeface="Arial" pitchFamily="34" charset="-122"/>
                <a:cs typeface="Arial" pitchFamily="34" charset="-120"/>
              </a:rPr>
              <a:t>Specialized agents that work in parallel, each with their own context window.</a:t>
            </a:r>
            <a:endParaRPr lang="en-US" sz="750" dirty="0"/>
          </a:p>
        </p:txBody>
      </p:sp>
      <p:sp>
        <p:nvSpPr>
          <p:cNvPr id="11" name="Text 9"/>
          <p:cNvSpPr/>
          <p:nvPr/>
        </p:nvSpPr>
        <p:spPr>
          <a:xfrm>
            <a:off x="266700" y="2537222"/>
            <a:ext cx="2885777" cy="967383"/>
          </a:xfrm>
          <a:prstGeom prst="rect">
            <a:avLst/>
          </a:prstGeom>
          <a:solidFill>
            <a:srgbClr val="FFFFFF">
              <a:alpha val="5000"/>
            </a:srgbClr>
          </a:solidFill>
          <a:ln/>
        </p:spPr>
        <p:txBody>
          <a:bodyPr wrap="square" rtlCol="0" anchor="ctr"/>
          <a:lstStyle/>
          <a:p>
            <a:pPr marL="0" indent="0">
              <a:buNone/>
            </a:pPr>
            <a:endParaRPr lang="en-US" dirty="0"/>
          </a:p>
        </p:txBody>
      </p:sp>
      <p:sp>
        <p:nvSpPr>
          <p:cNvPr id="12" name="Text 10"/>
          <p:cNvSpPr/>
          <p:nvPr/>
        </p:nvSpPr>
        <p:spPr>
          <a:xfrm>
            <a:off x="381000" y="2651522"/>
            <a:ext cx="2710321" cy="133350"/>
          </a:xfrm>
          <a:prstGeom prst="rect">
            <a:avLst/>
          </a:prstGeom>
          <a:noFill/>
          <a:ln/>
        </p:spPr>
        <p:txBody>
          <a:bodyPr wrap="square" lIns="0" tIns="0" rIns="0" bIns="0" rtlCol="0" anchor="t"/>
          <a:lstStyle/>
          <a:p>
            <a:pPr marL="0" indent="0" algn="l">
              <a:lnSpc>
                <a:spcPts val="1050"/>
              </a:lnSpc>
              <a:spcAft>
                <a:spcPts val="450"/>
              </a:spcAft>
              <a:buNone/>
            </a:pPr>
            <a:r>
              <a:rPr lang="en-US" sz="750" b="1" dirty="0">
                <a:solidFill>
                  <a:srgbClr val="FFFFFF"/>
                </a:solidFill>
                <a:latin typeface="Arial" pitchFamily="34" charset="0"/>
                <a:ea typeface="Arial" pitchFamily="34" charset="-122"/>
                <a:cs typeface="Arial" pitchFamily="34" charset="-120"/>
              </a:rPr>
              <a:t>WHY USE THEM</a:t>
            </a:r>
            <a:endParaRPr lang="en-US" sz="750" dirty="0"/>
          </a:p>
        </p:txBody>
      </p:sp>
      <p:sp>
        <p:nvSpPr>
          <p:cNvPr id="13" name="Text 11"/>
          <p:cNvSpPr/>
          <p:nvPr/>
        </p:nvSpPr>
        <p:spPr>
          <a:xfrm>
            <a:off x="381000" y="2842022"/>
            <a:ext cx="2710321" cy="548283"/>
          </a:xfrm>
          <a:prstGeom prst="rect">
            <a:avLst/>
          </a:prstGeom>
          <a:noFill/>
          <a:ln/>
        </p:spPr>
        <p:txBody>
          <a:bodyPr wrap="square" lIns="0" tIns="0" rIns="0" bIns="0" rtlCol="0" anchor="t"/>
          <a:lstStyle/>
          <a:p>
            <a:pPr marL="0" indent="0" algn="l">
              <a:lnSpc>
                <a:spcPts val="1080"/>
              </a:lnSpc>
              <a:buNone/>
            </a:pPr>
            <a:r>
              <a:rPr lang="en-US" sz="675" dirty="0">
                <a:solidFill>
                  <a:srgbClr val="FFFFFF">
                    <a:alpha val="60000"/>
                  </a:srgbClr>
                </a:solidFill>
                <a:latin typeface="Arial" pitchFamily="34" charset="0"/>
                <a:ea typeface="Arial" pitchFamily="34" charset="-122"/>
                <a:cs typeface="Arial" pitchFamily="34" charset="-120"/>
              </a:rPr>
              <a:t>Keep main context clean</a:t>
            </a:r>
            <a:endParaRPr lang="en-US" sz="675" dirty="0"/>
          </a:p>
          <a:p>
            <a:pPr marL="0" indent="0" algn="l">
              <a:lnSpc>
                <a:spcPts val="1080"/>
              </a:lnSpc>
              <a:buNone/>
            </a:pPr>
            <a:r>
              <a:rPr lang="en-US" sz="675" dirty="0">
                <a:solidFill>
                  <a:srgbClr val="FFFFFF">
                    <a:alpha val="60000"/>
                  </a:srgbClr>
                </a:solidFill>
                <a:latin typeface="Arial" pitchFamily="34" charset="0"/>
                <a:ea typeface="Arial" pitchFamily="34" charset="-122"/>
                <a:cs typeface="Arial" pitchFamily="34" charset="-120"/>
              </a:rPr>
              <a:t> Parallel task execution</a:t>
            </a:r>
            <a:endParaRPr lang="en-US" sz="675" dirty="0"/>
          </a:p>
          <a:p>
            <a:pPr marL="0" indent="0" algn="l">
              <a:lnSpc>
                <a:spcPts val="1080"/>
              </a:lnSpc>
              <a:buNone/>
            </a:pPr>
            <a:r>
              <a:rPr lang="en-US" sz="675" dirty="0">
                <a:solidFill>
                  <a:srgbClr val="FFFFFF">
                    <a:alpha val="60000"/>
                  </a:srgbClr>
                </a:solidFill>
                <a:latin typeface="Arial" pitchFamily="34" charset="0"/>
                <a:ea typeface="Arial" pitchFamily="34" charset="-122"/>
                <a:cs typeface="Arial" pitchFamily="34" charset="-120"/>
              </a:rPr>
              <a:t> Specialized capabilities</a:t>
            </a:r>
            <a:endParaRPr lang="en-US" sz="675" dirty="0"/>
          </a:p>
          <a:p>
            <a:pPr marL="0" indent="0" algn="l">
              <a:lnSpc>
                <a:spcPts val="1080"/>
              </a:lnSpc>
              <a:buNone/>
            </a:pPr>
            <a:r>
              <a:rPr lang="en-US" sz="675" dirty="0">
                <a:solidFill>
                  <a:srgbClr val="FFFFFF">
                    <a:alpha val="60000"/>
                  </a:srgbClr>
                </a:solidFill>
                <a:latin typeface="Arial" pitchFamily="34" charset="0"/>
                <a:ea typeface="Arial" pitchFamily="34" charset="-122"/>
                <a:cs typeface="Arial" pitchFamily="34" charset="-120"/>
              </a:rPr>
              <a:t> Different models per task</a:t>
            </a:r>
            <a:endParaRPr lang="en-US" sz="675" dirty="0"/>
          </a:p>
        </p:txBody>
      </p:sp>
      <p:sp>
        <p:nvSpPr>
          <p:cNvPr id="14" name="Text 12"/>
          <p:cNvSpPr/>
          <p:nvPr/>
        </p:nvSpPr>
        <p:spPr>
          <a:xfrm>
            <a:off x="266700" y="4566345"/>
            <a:ext cx="2885777" cy="310455"/>
          </a:xfrm>
          <a:prstGeom prst="rect">
            <a:avLst/>
          </a:prstGeom>
          <a:solidFill>
            <a:srgbClr val="C9A227"/>
          </a:solidFill>
          <a:ln/>
        </p:spPr>
        <p:txBody>
          <a:bodyPr wrap="square" rtlCol="0" anchor="ctr"/>
          <a:lstStyle/>
          <a:p>
            <a:pPr marL="0" indent="0">
              <a:buNone/>
            </a:pPr>
            <a:endParaRPr lang="en-US" dirty="0"/>
          </a:p>
        </p:txBody>
      </p:sp>
      <p:sp>
        <p:nvSpPr>
          <p:cNvPr id="15" name="Text 13"/>
          <p:cNvSpPr/>
          <p:nvPr/>
        </p:nvSpPr>
        <p:spPr>
          <a:xfrm>
            <a:off x="334997" y="4661595"/>
            <a:ext cx="2749183" cy="119955"/>
          </a:xfrm>
          <a:prstGeom prst="rect">
            <a:avLst/>
          </a:prstGeom>
          <a:noFill/>
          <a:ln/>
        </p:spPr>
        <p:txBody>
          <a:bodyPr wrap="square" lIns="0" tIns="0" rIns="0" bIns="0" rtlCol="0" anchor="t"/>
          <a:lstStyle/>
          <a:p>
            <a:pPr marL="0" indent="0" algn="ctr">
              <a:lnSpc>
                <a:spcPts val="945"/>
              </a:lnSpc>
              <a:buNone/>
            </a:pPr>
            <a:r>
              <a:rPr lang="en-US" sz="675" b="1" dirty="0">
                <a:solidFill>
                  <a:srgbClr val="1A1F2E"/>
                </a:solidFill>
                <a:latin typeface="Arial" pitchFamily="34" charset="0"/>
                <a:ea typeface="Arial" pitchFamily="34" charset="-122"/>
                <a:cs typeface="Arial" pitchFamily="34" charset="-120"/>
              </a:rPr>
              <a:t>Context management is key</a:t>
            </a:r>
            <a:endParaRPr lang="en-US" sz="675" dirty="0"/>
          </a:p>
        </p:txBody>
      </p:sp>
      <p:sp>
        <p:nvSpPr>
          <p:cNvPr id="16" name="Text 14"/>
          <p:cNvSpPr/>
          <p:nvPr/>
        </p:nvSpPr>
        <p:spPr>
          <a:xfrm>
            <a:off x="3571577" y="0"/>
            <a:ext cx="5572423" cy="5143500"/>
          </a:xfrm>
          <a:prstGeom prst="rect">
            <a:avLst/>
          </a:prstGeom>
          <a:solidFill>
            <a:srgbClr val="F7F8FA"/>
          </a:solidFill>
          <a:ln/>
        </p:spPr>
        <p:txBody>
          <a:bodyPr wrap="square" rtlCol="0" anchor="ctr"/>
          <a:lstStyle/>
          <a:p>
            <a:pPr marL="0" indent="0">
              <a:buNone/>
            </a:pPr>
            <a:endParaRPr lang="en-US" dirty="0"/>
          </a:p>
        </p:txBody>
      </p:sp>
      <p:sp>
        <p:nvSpPr>
          <p:cNvPr id="17" name="Text 15"/>
          <p:cNvSpPr/>
          <p:nvPr/>
        </p:nvSpPr>
        <p:spPr>
          <a:xfrm>
            <a:off x="3838277" y="779711"/>
            <a:ext cx="5139803" cy="159990"/>
          </a:xfrm>
          <a:prstGeom prst="rect">
            <a:avLst/>
          </a:prstGeom>
          <a:noFill/>
          <a:ln/>
        </p:spPr>
        <p:txBody>
          <a:bodyPr wrap="square" lIns="0" tIns="0" rIns="0" bIns="0" rtlCol="0" anchor="t"/>
          <a:lstStyle/>
          <a:p>
            <a:pPr marL="0" indent="0" algn="l">
              <a:lnSpc>
                <a:spcPts val="1260"/>
              </a:lnSpc>
              <a:spcAft>
                <a:spcPts val="900"/>
              </a:spcAft>
              <a:buNone/>
            </a:pPr>
            <a:r>
              <a:rPr lang="en-US" sz="900" b="1" dirty="0">
                <a:solidFill>
                  <a:srgbClr val="1A1F2E"/>
                </a:solidFill>
                <a:latin typeface="Arial" pitchFamily="34" charset="0"/>
                <a:ea typeface="Arial" pitchFamily="34" charset="-122"/>
                <a:cs typeface="Arial" pitchFamily="34" charset="-120"/>
              </a:rPr>
              <a:t>BUILT-IN SUB-AGENTS</a:t>
            </a:r>
            <a:endParaRPr lang="en-US" sz="900" dirty="0"/>
          </a:p>
        </p:txBody>
      </p:sp>
      <p:sp>
        <p:nvSpPr>
          <p:cNvPr id="18" name="Text 16"/>
          <p:cNvSpPr/>
          <p:nvPr/>
        </p:nvSpPr>
        <p:spPr>
          <a:xfrm>
            <a:off x="3838277" y="1259681"/>
            <a:ext cx="1628924" cy="658862"/>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19" name="Text 17"/>
          <p:cNvSpPr/>
          <p:nvPr/>
        </p:nvSpPr>
        <p:spPr>
          <a:xfrm>
            <a:off x="3962102" y="1383506"/>
            <a:ext cx="1408899" cy="159990"/>
          </a:xfrm>
          <a:prstGeom prst="rect">
            <a:avLst/>
          </a:prstGeom>
          <a:noFill/>
          <a:ln/>
        </p:spPr>
        <p:txBody>
          <a:bodyPr wrap="square" lIns="0" tIns="0" rIns="0" bIns="0" rtlCol="0" anchor="t"/>
          <a:lstStyle/>
          <a:p>
            <a:pPr marL="0" indent="0" algn="l">
              <a:lnSpc>
                <a:spcPts val="1260"/>
              </a:lnSpc>
              <a:spcAft>
                <a:spcPts val="300"/>
              </a:spcAft>
              <a:buNone/>
            </a:pPr>
            <a:r>
              <a:rPr lang="en-US" sz="900" b="1" dirty="0">
                <a:solidFill>
                  <a:srgbClr val="D97706"/>
                </a:solidFill>
                <a:latin typeface="Arial" pitchFamily="34" charset="0"/>
                <a:ea typeface="Arial" pitchFamily="34" charset="-122"/>
                <a:cs typeface="Arial" pitchFamily="34" charset="-120"/>
              </a:rPr>
              <a:t>Explore</a:t>
            </a:r>
            <a:endParaRPr lang="en-US" sz="900" dirty="0"/>
          </a:p>
        </p:txBody>
      </p:sp>
      <p:sp>
        <p:nvSpPr>
          <p:cNvPr id="20" name="Text 18"/>
          <p:cNvSpPr/>
          <p:nvPr/>
        </p:nvSpPr>
        <p:spPr>
          <a:xfrm>
            <a:off x="3962102" y="1581596"/>
            <a:ext cx="1408899" cy="213122"/>
          </a:xfrm>
          <a:prstGeom prst="rect">
            <a:avLst/>
          </a:prstGeom>
          <a:noFill/>
          <a:ln/>
        </p:spPr>
        <p:txBody>
          <a:bodyPr wrap="square" lIns="0" tIns="0" rIns="0" bIns="0" rtlCol="0" anchor="t"/>
          <a:lstStyle/>
          <a:p>
            <a:pPr marL="0" indent="0" algn="l">
              <a:lnSpc>
                <a:spcPts val="840"/>
              </a:lnSpc>
              <a:buNone/>
            </a:pPr>
            <a:r>
              <a:rPr lang="en-US" sz="600" dirty="0">
                <a:solidFill>
                  <a:srgbClr val="6B7280"/>
                </a:solidFill>
                <a:latin typeface="Arial" pitchFamily="34" charset="0"/>
                <a:ea typeface="Arial" pitchFamily="34" charset="-122"/>
                <a:cs typeface="Arial" pitchFamily="34" charset="-120"/>
              </a:rPr>
              <a:t>Fast codebase scanning. Uses Haiku for speed. Returns findings to main thread.</a:t>
            </a:r>
            <a:endParaRPr lang="en-US" sz="600" dirty="0"/>
          </a:p>
        </p:txBody>
      </p:sp>
      <p:sp>
        <p:nvSpPr>
          <p:cNvPr id="21" name="Text 19"/>
          <p:cNvSpPr/>
          <p:nvPr/>
        </p:nvSpPr>
        <p:spPr>
          <a:xfrm>
            <a:off x="5543401" y="1206401"/>
            <a:ext cx="1628924" cy="765423"/>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22" name="Text 20"/>
          <p:cNvSpPr/>
          <p:nvPr/>
        </p:nvSpPr>
        <p:spPr>
          <a:xfrm>
            <a:off x="5667226" y="1330226"/>
            <a:ext cx="1408899" cy="159990"/>
          </a:xfrm>
          <a:prstGeom prst="rect">
            <a:avLst/>
          </a:prstGeom>
          <a:noFill/>
          <a:ln/>
        </p:spPr>
        <p:txBody>
          <a:bodyPr wrap="square" lIns="0" tIns="0" rIns="0" bIns="0" rtlCol="0" anchor="t"/>
          <a:lstStyle/>
          <a:p>
            <a:pPr marL="0" indent="0" algn="l">
              <a:lnSpc>
                <a:spcPts val="1260"/>
              </a:lnSpc>
              <a:spcAft>
                <a:spcPts val="300"/>
              </a:spcAft>
              <a:buNone/>
            </a:pPr>
            <a:r>
              <a:rPr lang="en-US" sz="900" b="1" dirty="0">
                <a:solidFill>
                  <a:srgbClr val="D97706"/>
                </a:solidFill>
                <a:latin typeface="Arial" pitchFamily="34" charset="0"/>
                <a:ea typeface="Arial" pitchFamily="34" charset="-122"/>
                <a:cs typeface="Arial" pitchFamily="34" charset="-120"/>
              </a:rPr>
              <a:t>Plan</a:t>
            </a:r>
            <a:endParaRPr lang="en-US" sz="900" dirty="0"/>
          </a:p>
        </p:txBody>
      </p:sp>
      <p:sp>
        <p:nvSpPr>
          <p:cNvPr id="23" name="Text 21"/>
          <p:cNvSpPr/>
          <p:nvPr/>
        </p:nvSpPr>
        <p:spPr>
          <a:xfrm>
            <a:off x="5667226" y="1528316"/>
            <a:ext cx="1408899" cy="319683"/>
          </a:xfrm>
          <a:prstGeom prst="rect">
            <a:avLst/>
          </a:prstGeom>
          <a:noFill/>
          <a:ln/>
        </p:spPr>
        <p:txBody>
          <a:bodyPr wrap="square" lIns="0" tIns="0" rIns="0" bIns="0" rtlCol="0" anchor="t"/>
          <a:lstStyle/>
          <a:p>
            <a:pPr marL="0" indent="0" algn="l">
              <a:lnSpc>
                <a:spcPts val="840"/>
              </a:lnSpc>
              <a:buNone/>
            </a:pPr>
            <a:r>
              <a:rPr lang="en-US" sz="600" dirty="0">
                <a:solidFill>
                  <a:srgbClr val="6B7280"/>
                </a:solidFill>
                <a:latin typeface="Arial" pitchFamily="34" charset="0"/>
                <a:ea typeface="Arial" pitchFamily="34" charset="-122"/>
                <a:cs typeface="Arial" pitchFamily="34" charset="-120"/>
              </a:rPr>
              <a:t>Architecture planning. Reads full context. Designs implementation approach.</a:t>
            </a:r>
            <a:endParaRPr lang="en-US" sz="600" dirty="0"/>
          </a:p>
        </p:txBody>
      </p:sp>
      <p:sp>
        <p:nvSpPr>
          <p:cNvPr id="24" name="Text 22"/>
          <p:cNvSpPr/>
          <p:nvPr/>
        </p:nvSpPr>
        <p:spPr>
          <a:xfrm>
            <a:off x="7248525" y="1259681"/>
            <a:ext cx="1628924" cy="658862"/>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25" name="Text 23"/>
          <p:cNvSpPr/>
          <p:nvPr/>
        </p:nvSpPr>
        <p:spPr>
          <a:xfrm>
            <a:off x="7372350" y="1383506"/>
            <a:ext cx="1408899" cy="159990"/>
          </a:xfrm>
          <a:prstGeom prst="rect">
            <a:avLst/>
          </a:prstGeom>
          <a:noFill/>
          <a:ln/>
        </p:spPr>
        <p:txBody>
          <a:bodyPr wrap="square" lIns="0" tIns="0" rIns="0" bIns="0" rtlCol="0" anchor="t"/>
          <a:lstStyle/>
          <a:p>
            <a:pPr marL="0" indent="0" algn="l">
              <a:lnSpc>
                <a:spcPts val="1260"/>
              </a:lnSpc>
              <a:spcAft>
                <a:spcPts val="300"/>
              </a:spcAft>
              <a:buNone/>
            </a:pPr>
            <a:r>
              <a:rPr lang="en-US" sz="900" b="1" dirty="0">
                <a:solidFill>
                  <a:srgbClr val="D97706"/>
                </a:solidFill>
                <a:latin typeface="Arial" pitchFamily="34" charset="0"/>
                <a:ea typeface="Arial" pitchFamily="34" charset="-122"/>
                <a:cs typeface="Arial" pitchFamily="34" charset="-120"/>
              </a:rPr>
              <a:t>Bash</a:t>
            </a:r>
            <a:endParaRPr lang="en-US" sz="900" dirty="0"/>
          </a:p>
        </p:txBody>
      </p:sp>
      <p:sp>
        <p:nvSpPr>
          <p:cNvPr id="26" name="Text 24"/>
          <p:cNvSpPr/>
          <p:nvPr/>
        </p:nvSpPr>
        <p:spPr>
          <a:xfrm>
            <a:off x="7372350" y="1581596"/>
            <a:ext cx="1408899" cy="213122"/>
          </a:xfrm>
          <a:prstGeom prst="rect">
            <a:avLst/>
          </a:prstGeom>
          <a:noFill/>
          <a:ln/>
        </p:spPr>
        <p:txBody>
          <a:bodyPr wrap="square" lIns="0" tIns="0" rIns="0" bIns="0" rtlCol="0" anchor="t"/>
          <a:lstStyle/>
          <a:p>
            <a:pPr marL="0" indent="0" algn="l">
              <a:lnSpc>
                <a:spcPts val="840"/>
              </a:lnSpc>
              <a:buNone/>
            </a:pPr>
            <a:r>
              <a:rPr lang="en-US" sz="600" dirty="0">
                <a:solidFill>
                  <a:srgbClr val="6B7280"/>
                </a:solidFill>
                <a:latin typeface="Arial" pitchFamily="34" charset="0"/>
                <a:ea typeface="Arial" pitchFamily="34" charset="-122"/>
                <a:cs typeface="Arial" pitchFamily="34" charset="-120"/>
              </a:rPr>
              <a:t>Command execution. Runs shell commands. Reports results back.</a:t>
            </a:r>
            <a:endParaRPr lang="en-US" sz="600" dirty="0"/>
          </a:p>
        </p:txBody>
      </p:sp>
      <p:sp>
        <p:nvSpPr>
          <p:cNvPr id="27" name="Text 25"/>
          <p:cNvSpPr/>
          <p:nvPr/>
        </p:nvSpPr>
        <p:spPr>
          <a:xfrm>
            <a:off x="3838277" y="2238524"/>
            <a:ext cx="5139803" cy="146596"/>
          </a:xfrm>
          <a:prstGeom prst="rect">
            <a:avLst/>
          </a:prstGeom>
          <a:noFill/>
          <a:ln/>
        </p:spPr>
        <p:txBody>
          <a:bodyPr wrap="square" lIns="0" tIns="0" rIns="0" bIns="0" rtlCol="0" anchor="t"/>
          <a:lstStyle/>
          <a:p>
            <a:pPr marL="0" indent="0" algn="l">
              <a:lnSpc>
                <a:spcPts val="1155"/>
              </a:lnSpc>
              <a:spcAft>
                <a:spcPts val="600"/>
              </a:spcAft>
              <a:buNone/>
            </a:pPr>
            <a:r>
              <a:rPr lang="en-US" sz="825" b="1" dirty="0">
                <a:solidFill>
                  <a:srgbClr val="1A1F2E"/>
                </a:solidFill>
                <a:latin typeface="Arial" pitchFamily="34" charset="0"/>
                <a:ea typeface="Arial" pitchFamily="34" charset="-122"/>
                <a:cs typeface="Arial" pitchFamily="34" charset="-120"/>
              </a:rPr>
              <a:t>CUSTOM SUB-AGENTS</a:t>
            </a:r>
            <a:endParaRPr lang="en-US" sz="825" dirty="0"/>
          </a:p>
        </p:txBody>
      </p:sp>
      <p:sp>
        <p:nvSpPr>
          <p:cNvPr id="28" name="Text 26"/>
          <p:cNvSpPr/>
          <p:nvPr/>
        </p:nvSpPr>
        <p:spPr>
          <a:xfrm>
            <a:off x="3838277" y="2613720"/>
            <a:ext cx="5039023" cy="940594"/>
          </a:xfrm>
          <a:prstGeom prst="rect">
            <a:avLst/>
          </a:prstGeom>
          <a:solidFill>
            <a:srgbClr val="1A1F2E"/>
          </a:solidFill>
          <a:ln/>
        </p:spPr>
        <p:txBody>
          <a:bodyPr wrap="square" rtlCol="0" anchor="ctr"/>
          <a:lstStyle/>
          <a:p>
            <a:pPr marL="0" indent="0">
              <a:buNone/>
            </a:pPr>
            <a:endParaRPr lang="en-US" dirty="0"/>
          </a:p>
        </p:txBody>
      </p:sp>
      <p:sp>
        <p:nvSpPr>
          <p:cNvPr id="29" name="Text 27"/>
          <p:cNvSpPr/>
          <p:nvPr/>
        </p:nvSpPr>
        <p:spPr>
          <a:xfrm>
            <a:off x="3952577" y="2728020"/>
            <a:ext cx="4906631" cy="106561"/>
          </a:xfrm>
          <a:prstGeom prst="rect">
            <a:avLst/>
          </a:prstGeom>
          <a:noFill/>
          <a:ln/>
        </p:spPr>
        <p:txBody>
          <a:bodyPr wrap="square" lIns="0" tIns="0" rIns="0" bIns="0" rtlCol="0" anchor="t"/>
          <a:lstStyle/>
          <a:p>
            <a:pPr marL="0" indent="0" algn="l">
              <a:lnSpc>
                <a:spcPts val="840"/>
              </a:lnSpc>
              <a:spcAft>
                <a:spcPts val="450"/>
              </a:spcAft>
              <a:buNone/>
            </a:pPr>
            <a:r>
              <a:rPr lang="en-US" sz="600" dirty="0">
                <a:solidFill>
                  <a:srgbClr val="C9A227"/>
                </a:solidFill>
                <a:latin typeface="Arial" pitchFamily="34" charset="0"/>
                <a:ea typeface="Arial" pitchFamily="34" charset="-122"/>
                <a:cs typeface="Arial" pitchFamily="34" charset="-120"/>
              </a:rPr>
              <a:t>CREATE IN .claude/agents/</a:t>
            </a:r>
            <a:endParaRPr lang="en-US" sz="600" dirty="0"/>
          </a:p>
        </p:txBody>
      </p:sp>
      <p:sp>
        <p:nvSpPr>
          <p:cNvPr id="30" name="Text 28"/>
          <p:cNvSpPr/>
          <p:nvPr/>
        </p:nvSpPr>
        <p:spPr>
          <a:xfrm>
            <a:off x="3952577" y="2891730"/>
            <a:ext cx="4906631" cy="548283"/>
          </a:xfrm>
          <a:prstGeom prst="rect">
            <a:avLst/>
          </a:prstGeom>
          <a:noFill/>
          <a:ln/>
        </p:spPr>
        <p:txBody>
          <a:bodyPr wrap="square" lIns="0" tIns="0" rIns="0" bIns="0" rtlCol="0" anchor="t"/>
          <a:lstStyle/>
          <a:p>
            <a:pPr marL="0" indent="0" algn="l">
              <a:lnSpc>
                <a:spcPts val="1080"/>
              </a:lnSpc>
              <a:buNone/>
            </a:pPr>
            <a:r>
              <a:rPr lang="en-US" sz="675" dirty="0">
                <a:solidFill>
                  <a:srgbClr val="FFFFFF">
                    <a:alpha val="80000"/>
                  </a:srgbClr>
                </a:solidFill>
                <a:latin typeface="Arial" pitchFamily="34" charset="0"/>
                <a:ea typeface="Arial" pitchFamily="34" charset="-122"/>
                <a:cs typeface="Arial" pitchFamily="34" charset="-120"/>
              </a:rPr>
              <a:t>.claude/agents/my-agent.md</a:t>
            </a:r>
            <a:endParaRPr lang="en-US" sz="675" dirty="0"/>
          </a:p>
          <a:p>
            <a:pPr marL="0" indent="0" algn="l">
              <a:lnSpc>
                <a:spcPts val="1080"/>
              </a:lnSpc>
              <a:buNone/>
            </a:pPr>
            <a:endParaRPr lang="en-US" sz="675" dirty="0"/>
          </a:p>
          <a:p>
            <a:pPr marL="0" indent="0" algn="l">
              <a:lnSpc>
                <a:spcPts val="1080"/>
              </a:lnSpc>
              <a:buNone/>
            </a:pPr>
            <a:r>
              <a:rPr lang="en-US" sz="675" dirty="0">
                <a:solidFill>
                  <a:srgbClr val="FFFFFF">
                    <a:alpha val="80000"/>
                  </a:srgbClr>
                </a:solidFill>
                <a:latin typeface="Arial" pitchFamily="34" charset="0"/>
                <a:ea typeface="Arial" pitchFamily="34" charset="-122"/>
                <a:cs typeface="Arial" pitchFamily="34" charset="-120"/>
              </a:rPr>
              <a:t> </a:t>
            </a:r>
            <a:endParaRPr lang="en-US" sz="675" dirty="0"/>
          </a:p>
          <a:p>
            <a:pPr marL="0" indent="0" algn="l">
              <a:lnSpc>
                <a:spcPts val="1080"/>
              </a:lnSpc>
              <a:buNone/>
            </a:pPr>
            <a:r>
              <a:rPr lang="en-US" sz="675" dirty="0">
                <a:solidFill>
                  <a:srgbClr val="9CA3AF">
                    <a:alpha val="80000"/>
                  </a:srgbClr>
                </a:solidFill>
                <a:latin typeface="Arial" pitchFamily="34" charset="0"/>
                <a:ea typeface="Arial" pitchFamily="34" charset="-122"/>
                <a:cs typeface="Arial" pitchFamily="34" charset="-120"/>
              </a:rPr>
              <a:t># Define: name, description, model,</a:t>
            </a:r>
            <a:endParaRPr lang="en-US" sz="675" dirty="0"/>
          </a:p>
          <a:p>
            <a:pPr marL="0" indent="0" algn="l">
              <a:lnSpc>
                <a:spcPts val="1080"/>
              </a:lnSpc>
              <a:buNone/>
            </a:pPr>
            <a:r>
              <a:rPr lang="en-US" sz="675" dirty="0">
                <a:solidFill>
                  <a:srgbClr val="FFFFFF">
                    <a:alpha val="80000"/>
                  </a:srgbClr>
                </a:solidFill>
                <a:latin typeface="Arial" pitchFamily="34" charset="0"/>
                <a:ea typeface="Arial" pitchFamily="34" charset="-122"/>
                <a:cs typeface="Arial" pitchFamily="34" charset="-120"/>
              </a:rPr>
              <a:t> </a:t>
            </a:r>
            <a:endParaRPr lang="en-US" sz="675" dirty="0"/>
          </a:p>
          <a:p>
            <a:pPr marL="0" indent="0" algn="l">
              <a:lnSpc>
                <a:spcPts val="1080"/>
              </a:lnSpc>
              <a:buNone/>
            </a:pPr>
            <a:r>
              <a:rPr lang="en-US" sz="675" dirty="0">
                <a:solidFill>
                  <a:srgbClr val="9CA3AF">
                    <a:alpha val="80000"/>
                  </a:srgbClr>
                </a:solidFill>
                <a:latin typeface="Arial" pitchFamily="34" charset="0"/>
                <a:ea typeface="Arial" pitchFamily="34" charset="-122"/>
                <a:cs typeface="Arial" pitchFamily="34" charset="-120"/>
              </a:rPr>
              <a:t># available tools, and instructions</a:t>
            </a:r>
            <a:endParaRPr lang="en-US" sz="675" dirty="0"/>
          </a:p>
        </p:txBody>
      </p:sp>
      <p:sp>
        <p:nvSpPr>
          <p:cNvPr id="31" name="Text 29"/>
          <p:cNvSpPr/>
          <p:nvPr/>
        </p:nvSpPr>
        <p:spPr>
          <a:xfrm>
            <a:off x="3838277" y="3855244"/>
            <a:ext cx="2481411" cy="455116"/>
          </a:xfrm>
          <a:prstGeom prst="rect">
            <a:avLst/>
          </a:prstGeom>
          <a:solidFill>
            <a:srgbClr val="EDE9FE"/>
          </a:solidFill>
          <a:ln/>
        </p:spPr>
        <p:txBody>
          <a:bodyPr wrap="square" rtlCol="0" anchor="ctr"/>
          <a:lstStyle/>
          <a:p>
            <a:pPr marL="0" indent="0">
              <a:buNone/>
            </a:pPr>
            <a:endParaRPr lang="en-US" dirty="0"/>
          </a:p>
        </p:txBody>
      </p:sp>
      <p:sp>
        <p:nvSpPr>
          <p:cNvPr id="32" name="Shape 30"/>
          <p:cNvSpPr/>
          <p:nvPr/>
        </p:nvSpPr>
        <p:spPr>
          <a:xfrm>
            <a:off x="3852565" y="3855244"/>
            <a:ext cx="0" cy="455116"/>
          </a:xfrm>
          <a:prstGeom prst="line">
            <a:avLst/>
          </a:prstGeom>
          <a:noFill/>
          <a:ln w="28575">
            <a:solidFill>
              <a:srgbClr val="7C3AED"/>
            </a:solidFill>
            <a:prstDash val="solid"/>
          </a:ln>
        </p:spPr>
        <p:txBody>
          <a:bodyPr/>
          <a:lstStyle/>
          <a:p>
            <a:endParaRPr lang="en-US"/>
          </a:p>
        </p:txBody>
      </p:sp>
      <p:sp>
        <p:nvSpPr>
          <p:cNvPr id="33" name="Text 31"/>
          <p:cNvSpPr/>
          <p:nvPr/>
        </p:nvSpPr>
        <p:spPr>
          <a:xfrm>
            <a:off x="3962102" y="3950494"/>
            <a:ext cx="2307583" cy="119955"/>
          </a:xfrm>
          <a:prstGeom prst="rect">
            <a:avLst/>
          </a:prstGeom>
          <a:noFill/>
          <a:ln/>
        </p:spPr>
        <p:txBody>
          <a:bodyPr wrap="square" lIns="0" tIns="0" rIns="0" bIns="0" rtlCol="0" anchor="t"/>
          <a:lstStyle/>
          <a:p>
            <a:pPr marL="0" indent="0" algn="l">
              <a:lnSpc>
                <a:spcPts val="945"/>
              </a:lnSpc>
              <a:spcAft>
                <a:spcPts val="300"/>
              </a:spcAft>
              <a:buNone/>
            </a:pPr>
            <a:r>
              <a:rPr lang="en-US" sz="675" b="1" dirty="0">
                <a:solidFill>
                  <a:srgbClr val="5B21B6"/>
                </a:solidFill>
                <a:latin typeface="Arial" pitchFamily="34" charset="0"/>
                <a:ea typeface="Arial" pitchFamily="34" charset="-122"/>
                <a:cs typeface="Arial" pitchFamily="34" charset="-120"/>
              </a:rPr>
              <a:t>MODEL STRATEGY</a:t>
            </a:r>
            <a:endParaRPr lang="en-US" sz="675" dirty="0"/>
          </a:p>
        </p:txBody>
      </p:sp>
      <p:sp>
        <p:nvSpPr>
          <p:cNvPr id="34" name="Text 32"/>
          <p:cNvSpPr/>
          <p:nvPr/>
        </p:nvSpPr>
        <p:spPr>
          <a:xfrm>
            <a:off x="3962102" y="4108549"/>
            <a:ext cx="2307583" cy="106561"/>
          </a:xfrm>
          <a:prstGeom prst="rect">
            <a:avLst/>
          </a:prstGeom>
          <a:noFill/>
          <a:ln/>
        </p:spPr>
        <p:txBody>
          <a:bodyPr wrap="square" lIns="0" tIns="0" rIns="0" bIns="0" rtlCol="0" anchor="t"/>
          <a:lstStyle/>
          <a:p>
            <a:pPr marL="0" indent="0" algn="l">
              <a:lnSpc>
                <a:spcPts val="840"/>
              </a:lnSpc>
              <a:buNone/>
            </a:pPr>
            <a:r>
              <a:rPr lang="en-US" sz="600" dirty="0">
                <a:solidFill>
                  <a:srgbClr val="5B21B6"/>
                </a:solidFill>
                <a:latin typeface="Arial" pitchFamily="34" charset="0"/>
                <a:ea typeface="Arial" pitchFamily="34" charset="-122"/>
                <a:cs typeface="Arial" pitchFamily="34" charset="-120"/>
              </a:rPr>
              <a:t>Haiku for exploration, Sonnet for coding, Opus for architecture</a:t>
            </a:r>
            <a:endParaRPr lang="en-US" sz="600" dirty="0"/>
          </a:p>
        </p:txBody>
      </p:sp>
      <p:sp>
        <p:nvSpPr>
          <p:cNvPr id="35" name="Text 33"/>
          <p:cNvSpPr/>
          <p:nvPr/>
        </p:nvSpPr>
        <p:spPr>
          <a:xfrm>
            <a:off x="6395889" y="3801963"/>
            <a:ext cx="2481411" cy="561677"/>
          </a:xfrm>
          <a:prstGeom prst="rect">
            <a:avLst/>
          </a:prstGeom>
          <a:solidFill>
            <a:srgbClr val="DBEAFE"/>
          </a:solidFill>
          <a:ln/>
        </p:spPr>
        <p:txBody>
          <a:bodyPr wrap="square" rtlCol="0" anchor="ctr"/>
          <a:lstStyle/>
          <a:p>
            <a:pPr marL="0" indent="0">
              <a:buNone/>
            </a:pPr>
            <a:endParaRPr lang="en-US" dirty="0"/>
          </a:p>
        </p:txBody>
      </p:sp>
      <p:sp>
        <p:nvSpPr>
          <p:cNvPr id="36" name="Shape 34"/>
          <p:cNvSpPr/>
          <p:nvPr/>
        </p:nvSpPr>
        <p:spPr>
          <a:xfrm>
            <a:off x="6410176" y="3801963"/>
            <a:ext cx="0" cy="561677"/>
          </a:xfrm>
          <a:prstGeom prst="line">
            <a:avLst/>
          </a:prstGeom>
          <a:noFill/>
          <a:ln w="28575">
            <a:solidFill>
              <a:srgbClr val="3B82F6"/>
            </a:solidFill>
            <a:prstDash val="solid"/>
          </a:ln>
        </p:spPr>
        <p:txBody>
          <a:bodyPr/>
          <a:lstStyle/>
          <a:p>
            <a:endParaRPr lang="en-US"/>
          </a:p>
        </p:txBody>
      </p:sp>
      <p:sp>
        <p:nvSpPr>
          <p:cNvPr id="37" name="Text 35"/>
          <p:cNvSpPr/>
          <p:nvPr/>
        </p:nvSpPr>
        <p:spPr>
          <a:xfrm>
            <a:off x="6519714" y="3897213"/>
            <a:ext cx="2307583" cy="119955"/>
          </a:xfrm>
          <a:prstGeom prst="rect">
            <a:avLst/>
          </a:prstGeom>
          <a:noFill/>
          <a:ln/>
        </p:spPr>
        <p:txBody>
          <a:bodyPr wrap="square" lIns="0" tIns="0" rIns="0" bIns="0" rtlCol="0" anchor="t"/>
          <a:lstStyle/>
          <a:p>
            <a:pPr marL="0" indent="0" algn="l">
              <a:lnSpc>
                <a:spcPts val="945"/>
              </a:lnSpc>
              <a:spcAft>
                <a:spcPts val="300"/>
              </a:spcAft>
              <a:buNone/>
            </a:pPr>
            <a:r>
              <a:rPr lang="en-US" sz="675" b="1" dirty="0">
                <a:solidFill>
                  <a:srgbClr val="1E40AF"/>
                </a:solidFill>
                <a:latin typeface="Arial" pitchFamily="34" charset="0"/>
                <a:ea typeface="Arial" pitchFamily="34" charset="-122"/>
                <a:cs typeface="Arial" pitchFamily="34" charset="-120"/>
              </a:rPr>
              <a:t>CONTEXT TIP</a:t>
            </a:r>
            <a:endParaRPr lang="en-US" sz="675" dirty="0"/>
          </a:p>
        </p:txBody>
      </p:sp>
      <p:sp>
        <p:nvSpPr>
          <p:cNvPr id="38" name="Text 36"/>
          <p:cNvSpPr/>
          <p:nvPr/>
        </p:nvSpPr>
        <p:spPr>
          <a:xfrm>
            <a:off x="6519714" y="4055269"/>
            <a:ext cx="2307583" cy="213122"/>
          </a:xfrm>
          <a:prstGeom prst="rect">
            <a:avLst/>
          </a:prstGeom>
          <a:noFill/>
          <a:ln/>
        </p:spPr>
        <p:txBody>
          <a:bodyPr wrap="square" lIns="0" tIns="0" rIns="0" bIns="0" rtlCol="0" anchor="t"/>
          <a:lstStyle/>
          <a:p>
            <a:pPr marL="0" indent="0" algn="l">
              <a:lnSpc>
                <a:spcPts val="840"/>
              </a:lnSpc>
              <a:buNone/>
            </a:pPr>
            <a:r>
              <a:rPr lang="en-US" sz="600" dirty="0">
                <a:solidFill>
                  <a:srgbClr val="1E40AF"/>
                </a:solidFill>
                <a:latin typeface="Arial" pitchFamily="34" charset="0"/>
                <a:ea typeface="Arial" pitchFamily="34" charset="-122"/>
                <a:cs typeface="Arial" pitchFamily="34" charset="-120"/>
              </a:rPr>
              <a:t>Offload exploration to sub-agents — save main context for actual changes</a:t>
            </a:r>
            <a:endParaRPr lang="en-US" sz="6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0" y="0"/>
            <a:ext cx="3419177" cy="5143500"/>
          </a:xfrm>
          <a:prstGeom prst="rect">
            <a:avLst/>
          </a:prstGeom>
          <a:solidFill>
            <a:srgbClr val="1A1F2E"/>
          </a:solidFill>
          <a:ln/>
        </p:spPr>
        <p:txBody>
          <a:bodyPr wrap="square" rtlCol="0" anchor="ctr"/>
          <a:lstStyle/>
          <a:p>
            <a:pPr marL="0" indent="0">
              <a:buNone/>
            </a:pPr>
            <a:endParaRPr lang="en-US" dirty="0"/>
          </a:p>
        </p:txBody>
      </p:sp>
      <p:sp>
        <p:nvSpPr>
          <p:cNvPr id="3" name="Text 1"/>
          <p:cNvSpPr/>
          <p:nvPr/>
        </p:nvSpPr>
        <p:spPr>
          <a:xfrm>
            <a:off x="266700" y="266700"/>
            <a:ext cx="1009799" cy="201811"/>
          </a:xfrm>
          <a:prstGeom prst="rect">
            <a:avLst/>
          </a:prstGeom>
          <a:solidFill>
            <a:srgbClr val="D97706"/>
          </a:solidFill>
          <a:ln/>
        </p:spPr>
        <p:txBody>
          <a:bodyPr wrap="square" rtlCol="0" anchor="ctr"/>
          <a:lstStyle/>
          <a:p>
            <a:pPr marL="0" indent="0">
              <a:buNone/>
            </a:pPr>
            <a:endParaRPr lang="en-US" dirty="0"/>
          </a:p>
        </p:txBody>
      </p:sp>
      <p:sp>
        <p:nvSpPr>
          <p:cNvPr id="4" name="Text 2"/>
          <p:cNvSpPr/>
          <p:nvPr/>
        </p:nvSpPr>
        <p:spPr>
          <a:xfrm>
            <a:off x="361950" y="314325"/>
            <a:ext cx="835685" cy="106561"/>
          </a:xfrm>
          <a:prstGeom prst="rect">
            <a:avLst/>
          </a:prstGeom>
          <a:noFill/>
          <a:ln/>
        </p:spPr>
        <p:txBody>
          <a:bodyPr wrap="square" lIns="0" tIns="0" rIns="0" bIns="0" rtlCol="0" anchor="t"/>
          <a:lstStyle/>
          <a:p>
            <a:pPr marL="0" indent="0" algn="l">
              <a:lnSpc>
                <a:spcPts val="840"/>
              </a:lnSpc>
              <a:buNone/>
            </a:pPr>
            <a:r>
              <a:rPr lang="en-US" sz="600" b="1" dirty="0">
                <a:solidFill>
                  <a:srgbClr val="1A1F2E"/>
                </a:solidFill>
                <a:latin typeface="Arial" pitchFamily="34" charset="0"/>
                <a:ea typeface="Arial" pitchFamily="34" charset="-122"/>
                <a:cs typeface="Arial" pitchFamily="34" charset="-120"/>
              </a:rPr>
              <a:t>AUTO-DISCOVERY</a:t>
            </a:r>
            <a:endParaRPr lang="en-US" sz="600" dirty="0"/>
          </a:p>
        </p:txBody>
      </p:sp>
      <p:sp>
        <p:nvSpPr>
          <p:cNvPr id="5" name="Text 3"/>
          <p:cNvSpPr/>
          <p:nvPr/>
        </p:nvSpPr>
        <p:spPr>
          <a:xfrm>
            <a:off x="266700" y="716161"/>
            <a:ext cx="1476756" cy="297061"/>
          </a:xfrm>
          <a:prstGeom prst="rect">
            <a:avLst/>
          </a:prstGeom>
          <a:noFill/>
          <a:ln/>
        </p:spPr>
        <p:txBody>
          <a:bodyPr wrap="square" lIns="0" tIns="0" rIns="0" bIns="0" rtlCol="0" anchor="t"/>
          <a:lstStyle/>
          <a:p>
            <a:pPr marL="0" indent="0" algn="l">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Skills</a:t>
            </a:r>
            <a:endParaRPr lang="en-US" sz="1950" dirty="0"/>
          </a:p>
        </p:txBody>
      </p:sp>
      <p:sp>
        <p:nvSpPr>
          <p:cNvPr id="6" name="Text 4"/>
          <p:cNvSpPr/>
          <p:nvPr/>
        </p:nvSpPr>
        <p:spPr>
          <a:xfrm>
            <a:off x="266700" y="1260872"/>
            <a:ext cx="381000" cy="19050"/>
          </a:xfrm>
          <a:prstGeom prst="rect">
            <a:avLst/>
          </a:prstGeom>
          <a:solidFill>
            <a:srgbClr val="C9A227"/>
          </a:solidFill>
          <a:ln/>
        </p:spPr>
        <p:txBody>
          <a:bodyPr wrap="square" rtlCol="0" anchor="ctr"/>
          <a:lstStyle/>
          <a:p>
            <a:pPr marL="0" indent="0">
              <a:buNone/>
            </a:pPr>
            <a:endParaRPr lang="en-US" dirty="0"/>
          </a:p>
        </p:txBody>
      </p:sp>
      <p:sp>
        <p:nvSpPr>
          <p:cNvPr id="7" name="Text 5"/>
          <p:cNvSpPr/>
          <p:nvPr/>
        </p:nvSpPr>
        <p:spPr>
          <a:xfrm>
            <a:off x="266700" y="1565672"/>
            <a:ext cx="2885777" cy="685800"/>
          </a:xfrm>
          <a:prstGeom prst="rect">
            <a:avLst/>
          </a:prstGeom>
          <a:solidFill>
            <a:srgbClr val="D97706">
              <a:alpha val="15000"/>
            </a:srgbClr>
          </a:solidFill>
          <a:ln/>
        </p:spPr>
        <p:txBody>
          <a:bodyPr wrap="square" rtlCol="0" anchor="ctr"/>
          <a:lstStyle/>
          <a:p>
            <a:pPr marL="0" indent="0">
              <a:buNone/>
            </a:pPr>
            <a:endParaRPr lang="en-US" dirty="0"/>
          </a:p>
        </p:txBody>
      </p:sp>
      <p:sp>
        <p:nvSpPr>
          <p:cNvPr id="8" name="Shape 6"/>
          <p:cNvSpPr/>
          <p:nvPr/>
        </p:nvSpPr>
        <p:spPr>
          <a:xfrm>
            <a:off x="280988" y="1565672"/>
            <a:ext cx="0" cy="685800"/>
          </a:xfrm>
          <a:prstGeom prst="line">
            <a:avLst/>
          </a:prstGeom>
          <a:noFill/>
          <a:ln w="28575">
            <a:solidFill>
              <a:srgbClr val="D97706"/>
            </a:solidFill>
            <a:prstDash val="solid"/>
          </a:ln>
        </p:spPr>
        <p:txBody>
          <a:bodyPr/>
          <a:lstStyle/>
          <a:p>
            <a:endParaRPr lang="en-US"/>
          </a:p>
        </p:txBody>
      </p:sp>
      <p:sp>
        <p:nvSpPr>
          <p:cNvPr id="9" name="Text 7"/>
          <p:cNvSpPr/>
          <p:nvPr/>
        </p:nvSpPr>
        <p:spPr>
          <a:xfrm>
            <a:off x="409575" y="1679972"/>
            <a:ext cx="2681174"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FBBF24"/>
                </a:solidFill>
                <a:latin typeface="Arial" pitchFamily="34" charset="0"/>
                <a:ea typeface="Arial" pitchFamily="34" charset="-122"/>
                <a:cs typeface="Arial" pitchFamily="34" charset="-120"/>
              </a:rPr>
              <a:t>THE KEY DIFFERENCE</a:t>
            </a:r>
            <a:endParaRPr lang="en-US" sz="750" dirty="0"/>
          </a:p>
        </p:txBody>
      </p:sp>
      <p:sp>
        <p:nvSpPr>
          <p:cNvPr id="10" name="Text 8"/>
          <p:cNvSpPr/>
          <p:nvPr/>
        </p:nvSpPr>
        <p:spPr>
          <a:xfrm>
            <a:off x="409575" y="1851422"/>
            <a:ext cx="2681174" cy="285750"/>
          </a:xfrm>
          <a:prstGeom prst="rect">
            <a:avLst/>
          </a:prstGeom>
          <a:noFill/>
          <a:ln/>
        </p:spPr>
        <p:txBody>
          <a:bodyPr wrap="square" lIns="0" tIns="0" rIns="0" bIns="0" rtlCol="0" anchor="t"/>
          <a:lstStyle/>
          <a:p>
            <a:pPr marL="0" indent="0" algn="l">
              <a:lnSpc>
                <a:spcPts val="1125"/>
              </a:lnSpc>
              <a:buNone/>
            </a:pPr>
            <a:r>
              <a:rPr lang="en-US" sz="750" dirty="0">
                <a:solidFill>
                  <a:srgbClr val="FFFFFF">
                    <a:alpha val="80000"/>
                  </a:srgbClr>
                </a:solidFill>
                <a:latin typeface="Arial" pitchFamily="34" charset="0"/>
                <a:ea typeface="Arial" pitchFamily="34" charset="-122"/>
                <a:cs typeface="Arial" pitchFamily="34" charset="-120"/>
              </a:rPr>
              <a:t>Unlike slash commands, skills activate </a:t>
            </a:r>
            <a:r>
              <a:rPr lang="en-US" sz="750" i="1" dirty="0">
                <a:solidFill>
                  <a:srgbClr val="FFFFFF">
                    <a:alpha val="80000"/>
                  </a:srgbClr>
                </a:solidFill>
                <a:latin typeface="Arial" pitchFamily="34" charset="0"/>
                <a:ea typeface="Arial" pitchFamily="34" charset="-122"/>
                <a:cs typeface="Arial" pitchFamily="34" charset="-120"/>
              </a:rPr>
              <a:t>automatically</a:t>
            </a:r>
            <a:r>
              <a:rPr lang="en-US" sz="750" dirty="0">
                <a:solidFill>
                  <a:srgbClr val="FFFFFF">
                    <a:alpha val="80000"/>
                  </a:srgbClr>
                </a:solidFill>
                <a:latin typeface="Arial" pitchFamily="34" charset="0"/>
                <a:ea typeface="Arial" pitchFamily="34" charset="-122"/>
                <a:cs typeface="Arial" pitchFamily="34" charset="-120"/>
              </a:rPr>
              <a:t> when task context matches.</a:t>
            </a:r>
            <a:endParaRPr lang="en-US" sz="750" dirty="0"/>
          </a:p>
        </p:txBody>
      </p:sp>
      <p:sp>
        <p:nvSpPr>
          <p:cNvPr id="11" name="Text 9"/>
          <p:cNvSpPr/>
          <p:nvPr/>
        </p:nvSpPr>
        <p:spPr>
          <a:xfrm>
            <a:off x="266700" y="2537222"/>
            <a:ext cx="2885777" cy="967383"/>
          </a:xfrm>
          <a:prstGeom prst="rect">
            <a:avLst/>
          </a:prstGeom>
          <a:solidFill>
            <a:srgbClr val="FFFFFF">
              <a:alpha val="5000"/>
            </a:srgbClr>
          </a:solidFill>
          <a:ln/>
        </p:spPr>
        <p:txBody>
          <a:bodyPr wrap="square" rtlCol="0" anchor="ctr"/>
          <a:lstStyle/>
          <a:p>
            <a:pPr marL="0" indent="0">
              <a:buNone/>
            </a:pPr>
            <a:endParaRPr lang="en-US" dirty="0"/>
          </a:p>
        </p:txBody>
      </p:sp>
      <p:sp>
        <p:nvSpPr>
          <p:cNvPr id="12" name="Text 10"/>
          <p:cNvSpPr/>
          <p:nvPr/>
        </p:nvSpPr>
        <p:spPr>
          <a:xfrm>
            <a:off x="381000" y="2651522"/>
            <a:ext cx="2710321" cy="133350"/>
          </a:xfrm>
          <a:prstGeom prst="rect">
            <a:avLst/>
          </a:prstGeom>
          <a:noFill/>
          <a:ln/>
        </p:spPr>
        <p:txBody>
          <a:bodyPr wrap="square" lIns="0" tIns="0" rIns="0" bIns="0" rtlCol="0" anchor="t"/>
          <a:lstStyle/>
          <a:p>
            <a:pPr marL="0" indent="0" algn="l">
              <a:lnSpc>
                <a:spcPts val="1050"/>
              </a:lnSpc>
              <a:spcAft>
                <a:spcPts val="450"/>
              </a:spcAft>
              <a:buNone/>
            </a:pPr>
            <a:r>
              <a:rPr lang="en-US" sz="750" b="1" dirty="0">
                <a:solidFill>
                  <a:srgbClr val="FFFFFF"/>
                </a:solidFill>
                <a:latin typeface="Arial" pitchFamily="34" charset="0"/>
                <a:ea typeface="Arial" pitchFamily="34" charset="-122"/>
                <a:cs typeface="Arial" pitchFamily="34" charset="-120"/>
              </a:rPr>
              <a:t>HOW THEY WORK</a:t>
            </a:r>
            <a:endParaRPr lang="en-US" sz="750" dirty="0"/>
          </a:p>
        </p:txBody>
      </p:sp>
      <p:sp>
        <p:nvSpPr>
          <p:cNvPr id="13" name="Text 11"/>
          <p:cNvSpPr/>
          <p:nvPr/>
        </p:nvSpPr>
        <p:spPr>
          <a:xfrm>
            <a:off x="381000" y="2842022"/>
            <a:ext cx="2710321" cy="548283"/>
          </a:xfrm>
          <a:prstGeom prst="rect">
            <a:avLst/>
          </a:prstGeom>
          <a:noFill/>
          <a:ln/>
        </p:spPr>
        <p:txBody>
          <a:bodyPr wrap="square" lIns="0" tIns="0" rIns="0" bIns="0" rtlCol="0" anchor="t"/>
          <a:lstStyle/>
          <a:p>
            <a:pPr marL="0" indent="0" algn="l">
              <a:lnSpc>
                <a:spcPts val="1080"/>
              </a:lnSpc>
              <a:buNone/>
            </a:pPr>
            <a:r>
              <a:rPr lang="en-US" sz="675" dirty="0">
                <a:solidFill>
                  <a:srgbClr val="FFFFFF">
                    <a:alpha val="60000"/>
                  </a:srgbClr>
                </a:solidFill>
                <a:latin typeface="Arial" pitchFamily="34" charset="0"/>
                <a:ea typeface="Arial" pitchFamily="34" charset="-122"/>
                <a:cs typeface="Arial" pitchFamily="34" charset="-120"/>
              </a:rPr>
              <a:t>1. You give a task</a:t>
            </a:r>
            <a:endParaRPr lang="en-US" sz="675" dirty="0"/>
          </a:p>
          <a:p>
            <a:pPr marL="0" indent="0" algn="l">
              <a:lnSpc>
                <a:spcPts val="1080"/>
              </a:lnSpc>
              <a:buNone/>
            </a:pPr>
            <a:r>
              <a:rPr lang="en-US" sz="675" dirty="0">
                <a:solidFill>
                  <a:srgbClr val="FFFFFF">
                    <a:alpha val="60000"/>
                  </a:srgbClr>
                </a:solidFill>
                <a:latin typeface="Arial" pitchFamily="34" charset="0"/>
                <a:ea typeface="Arial" pitchFamily="34" charset="-122"/>
                <a:cs typeface="Arial" pitchFamily="34" charset="-120"/>
              </a:rPr>
              <a:t> 2. Claude reviews skill descriptions</a:t>
            </a:r>
            <a:endParaRPr lang="en-US" sz="675" dirty="0"/>
          </a:p>
          <a:p>
            <a:pPr marL="0" indent="0" algn="l">
              <a:lnSpc>
                <a:spcPts val="1080"/>
              </a:lnSpc>
              <a:buNone/>
            </a:pPr>
            <a:r>
              <a:rPr lang="en-US" sz="675" dirty="0">
                <a:solidFill>
                  <a:srgbClr val="FFFFFF">
                    <a:alpha val="60000"/>
                  </a:srgbClr>
                </a:solidFill>
                <a:latin typeface="Arial" pitchFamily="34" charset="0"/>
                <a:ea typeface="Arial" pitchFamily="34" charset="-122"/>
                <a:cs typeface="Arial" pitchFamily="34" charset="-120"/>
              </a:rPr>
              <a:t> 3. Matching skills auto-load</a:t>
            </a:r>
            <a:endParaRPr lang="en-US" sz="675" dirty="0"/>
          </a:p>
          <a:p>
            <a:pPr marL="0" indent="0" algn="l">
              <a:lnSpc>
                <a:spcPts val="1080"/>
              </a:lnSpc>
              <a:buNone/>
            </a:pPr>
            <a:r>
              <a:rPr lang="en-US" sz="675" dirty="0">
                <a:solidFill>
                  <a:srgbClr val="FFFFFF">
                    <a:alpha val="60000"/>
                  </a:srgbClr>
                </a:solidFill>
                <a:latin typeface="Arial" pitchFamily="34" charset="0"/>
                <a:ea typeface="Arial" pitchFamily="34" charset="-122"/>
                <a:cs typeface="Arial" pitchFamily="34" charset="-120"/>
              </a:rPr>
              <a:t> 4. Instructions apply automatically</a:t>
            </a:r>
            <a:endParaRPr lang="en-US" sz="675" dirty="0"/>
          </a:p>
        </p:txBody>
      </p:sp>
      <p:sp>
        <p:nvSpPr>
          <p:cNvPr id="14" name="Text 12"/>
          <p:cNvSpPr/>
          <p:nvPr/>
        </p:nvSpPr>
        <p:spPr>
          <a:xfrm>
            <a:off x="266700" y="4566345"/>
            <a:ext cx="2885777" cy="310455"/>
          </a:xfrm>
          <a:prstGeom prst="rect">
            <a:avLst/>
          </a:prstGeom>
          <a:solidFill>
            <a:srgbClr val="C9A227"/>
          </a:solidFill>
          <a:ln/>
        </p:spPr>
        <p:txBody>
          <a:bodyPr wrap="square" rtlCol="0" anchor="ctr"/>
          <a:lstStyle/>
          <a:p>
            <a:pPr marL="0" indent="0">
              <a:buNone/>
            </a:pPr>
            <a:endParaRPr lang="en-US" dirty="0"/>
          </a:p>
        </p:txBody>
      </p:sp>
      <p:sp>
        <p:nvSpPr>
          <p:cNvPr id="15" name="Text 13"/>
          <p:cNvSpPr/>
          <p:nvPr/>
        </p:nvSpPr>
        <p:spPr>
          <a:xfrm>
            <a:off x="334997" y="4661595"/>
            <a:ext cx="2749183" cy="119955"/>
          </a:xfrm>
          <a:prstGeom prst="rect">
            <a:avLst/>
          </a:prstGeom>
          <a:noFill/>
          <a:ln/>
        </p:spPr>
        <p:txBody>
          <a:bodyPr wrap="square" lIns="0" tIns="0" rIns="0" bIns="0" rtlCol="0" anchor="t"/>
          <a:lstStyle/>
          <a:p>
            <a:pPr marL="0" indent="0" algn="ctr">
              <a:lnSpc>
                <a:spcPts val="945"/>
              </a:lnSpc>
              <a:buNone/>
            </a:pPr>
            <a:r>
              <a:rPr lang="en-US" sz="675" b="1" dirty="0">
                <a:solidFill>
                  <a:srgbClr val="1A1F2E"/>
                </a:solidFill>
                <a:latin typeface="Arial" pitchFamily="34" charset="0"/>
                <a:ea typeface="Arial" pitchFamily="34" charset="-122"/>
                <a:cs typeface="Arial" pitchFamily="34" charset="-120"/>
              </a:rPr>
              <a:t>No manual invocation needed</a:t>
            </a:r>
            <a:endParaRPr lang="en-US" sz="675" dirty="0"/>
          </a:p>
        </p:txBody>
      </p:sp>
      <p:sp>
        <p:nvSpPr>
          <p:cNvPr id="16" name="Text 14"/>
          <p:cNvSpPr/>
          <p:nvPr/>
        </p:nvSpPr>
        <p:spPr>
          <a:xfrm>
            <a:off x="3571577" y="0"/>
            <a:ext cx="5572423" cy="5143500"/>
          </a:xfrm>
          <a:prstGeom prst="rect">
            <a:avLst/>
          </a:prstGeom>
          <a:solidFill>
            <a:srgbClr val="F7F8FA"/>
          </a:solidFill>
          <a:ln/>
        </p:spPr>
        <p:txBody>
          <a:bodyPr wrap="square" rtlCol="0" anchor="ctr"/>
          <a:lstStyle/>
          <a:p>
            <a:pPr marL="0" indent="0">
              <a:buNone/>
            </a:pPr>
            <a:endParaRPr lang="en-US" dirty="0"/>
          </a:p>
        </p:txBody>
      </p:sp>
      <p:sp>
        <p:nvSpPr>
          <p:cNvPr id="17" name="Text 15"/>
          <p:cNvSpPr/>
          <p:nvPr/>
        </p:nvSpPr>
        <p:spPr>
          <a:xfrm>
            <a:off x="3838277" y="724346"/>
            <a:ext cx="5139803" cy="159990"/>
          </a:xfrm>
          <a:prstGeom prst="rect">
            <a:avLst/>
          </a:prstGeom>
          <a:noFill/>
          <a:ln/>
        </p:spPr>
        <p:txBody>
          <a:bodyPr wrap="square" lIns="0" tIns="0" rIns="0" bIns="0" rtlCol="0" anchor="t"/>
          <a:lstStyle/>
          <a:p>
            <a:pPr marL="0" indent="0" algn="l">
              <a:lnSpc>
                <a:spcPts val="1260"/>
              </a:lnSpc>
              <a:spcAft>
                <a:spcPts val="750"/>
              </a:spcAft>
              <a:buNone/>
            </a:pPr>
            <a:r>
              <a:rPr lang="en-US" sz="900" b="1" dirty="0">
                <a:solidFill>
                  <a:srgbClr val="1A1F2E"/>
                </a:solidFill>
                <a:latin typeface="Arial" pitchFamily="34" charset="0"/>
                <a:ea typeface="Arial" pitchFamily="34" charset="-122"/>
                <a:cs typeface="Arial" pitchFamily="34" charset="-120"/>
              </a:rPr>
              <a:t>SKILLS VS SLASH COMMANDS</a:t>
            </a:r>
            <a:endParaRPr lang="en-US" sz="900" dirty="0"/>
          </a:p>
        </p:txBody>
      </p:sp>
      <p:sp>
        <p:nvSpPr>
          <p:cNvPr id="18" name="Text 16"/>
          <p:cNvSpPr/>
          <p:nvPr/>
        </p:nvSpPr>
        <p:spPr>
          <a:xfrm>
            <a:off x="3838277" y="1131987"/>
            <a:ext cx="5039023" cy="965746"/>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19" name="Shape 17"/>
          <p:cNvSpPr/>
          <p:nvPr/>
        </p:nvSpPr>
        <p:spPr>
          <a:xfrm>
            <a:off x="6357789" y="1255812"/>
            <a:ext cx="0" cy="718096"/>
          </a:xfrm>
          <a:prstGeom prst="line">
            <a:avLst/>
          </a:prstGeom>
          <a:noFill/>
          <a:ln w="9525">
            <a:solidFill>
              <a:srgbClr val="E4E7ED"/>
            </a:solidFill>
            <a:prstDash val="solid"/>
          </a:ln>
        </p:spPr>
        <p:txBody>
          <a:bodyPr/>
          <a:lstStyle/>
          <a:p>
            <a:endParaRPr lang="en-US"/>
          </a:p>
        </p:txBody>
      </p:sp>
      <p:sp>
        <p:nvSpPr>
          <p:cNvPr id="20" name="Text 18"/>
          <p:cNvSpPr/>
          <p:nvPr/>
        </p:nvSpPr>
        <p:spPr>
          <a:xfrm>
            <a:off x="3962102" y="1255812"/>
            <a:ext cx="2283294" cy="146596"/>
          </a:xfrm>
          <a:prstGeom prst="rect">
            <a:avLst/>
          </a:prstGeom>
          <a:noFill/>
          <a:ln/>
        </p:spPr>
        <p:txBody>
          <a:bodyPr wrap="square" lIns="0" tIns="0" rIns="0" bIns="0" rtlCol="0" anchor="t"/>
          <a:lstStyle/>
          <a:p>
            <a:pPr marL="0" indent="0" algn="l">
              <a:lnSpc>
                <a:spcPts val="1155"/>
              </a:lnSpc>
              <a:spcAft>
                <a:spcPts val="450"/>
              </a:spcAft>
              <a:buNone/>
            </a:pPr>
            <a:r>
              <a:rPr lang="en-US" sz="825" b="1" dirty="0">
                <a:solidFill>
                  <a:srgbClr val="D97706"/>
                </a:solidFill>
                <a:latin typeface="Arial" pitchFamily="34" charset="0"/>
                <a:ea typeface="Arial" pitchFamily="34" charset="-122"/>
                <a:cs typeface="Arial" pitchFamily="34" charset="-120"/>
              </a:rPr>
              <a:t>SLASH COMMANDS</a:t>
            </a:r>
            <a:endParaRPr lang="en-US" sz="825" dirty="0"/>
          </a:p>
        </p:txBody>
      </p:sp>
      <p:sp>
        <p:nvSpPr>
          <p:cNvPr id="21" name="Text 19"/>
          <p:cNvSpPr/>
          <p:nvPr/>
        </p:nvSpPr>
        <p:spPr>
          <a:xfrm>
            <a:off x="3962102" y="1459557"/>
            <a:ext cx="2283294" cy="514350"/>
          </a:xfrm>
          <a:prstGeom prst="rect">
            <a:avLst/>
          </a:prstGeom>
          <a:noFill/>
          <a:ln/>
        </p:spPr>
        <p:txBody>
          <a:bodyPr wrap="square" lIns="0" tIns="0" rIns="0" bIns="0" rtlCol="0" anchor="t"/>
          <a:lstStyle/>
          <a:p>
            <a:pPr marL="0" indent="0" algn="l">
              <a:lnSpc>
                <a:spcPts val="1013"/>
              </a:lnSpc>
              <a:buNone/>
            </a:pPr>
            <a:r>
              <a:rPr lang="en-US" sz="675" dirty="0">
                <a:solidFill>
                  <a:srgbClr val="6B7280"/>
                </a:solidFill>
                <a:latin typeface="Arial" pitchFamily="34" charset="0"/>
                <a:ea typeface="Arial" pitchFamily="34" charset="-122"/>
                <a:cs typeface="Arial" pitchFamily="34" charset="-120"/>
              </a:rPr>
              <a:t>Manual invocation</a:t>
            </a:r>
            <a:endParaRPr lang="en-US" sz="675" dirty="0"/>
          </a:p>
          <a:p>
            <a:pPr marL="0" indent="0" algn="l">
              <a:lnSpc>
                <a:spcPts val="1013"/>
              </a:lnSpc>
              <a:buNone/>
            </a:pPr>
            <a:r>
              <a:rPr lang="en-US" sz="675" dirty="0">
                <a:solidFill>
                  <a:srgbClr val="6B7280"/>
                </a:solidFill>
                <a:latin typeface="Arial" pitchFamily="34" charset="0"/>
                <a:ea typeface="Arial" pitchFamily="34" charset="-122"/>
                <a:cs typeface="Arial" pitchFamily="34" charset="-120"/>
              </a:rPr>
              <a:t> You type /command</a:t>
            </a:r>
            <a:endParaRPr lang="en-US" sz="675" dirty="0"/>
          </a:p>
          <a:p>
            <a:pPr marL="0" indent="0" algn="l">
              <a:lnSpc>
                <a:spcPts val="1013"/>
              </a:lnSpc>
              <a:buNone/>
            </a:pPr>
            <a:r>
              <a:rPr lang="en-US" sz="675" dirty="0">
                <a:solidFill>
                  <a:srgbClr val="6B7280"/>
                </a:solidFill>
                <a:latin typeface="Arial" pitchFamily="34" charset="0"/>
                <a:ea typeface="Arial" pitchFamily="34" charset="-122"/>
                <a:cs typeface="Arial" pitchFamily="34" charset="-120"/>
              </a:rPr>
              <a:t> Explicit workflow triggers</a:t>
            </a:r>
            <a:endParaRPr lang="en-US" sz="675" dirty="0"/>
          </a:p>
          <a:p>
            <a:pPr marL="0" indent="0" algn="l">
              <a:lnSpc>
                <a:spcPts val="1013"/>
              </a:lnSpc>
              <a:buNone/>
            </a:pPr>
            <a:r>
              <a:rPr lang="en-US" sz="675" dirty="0">
                <a:solidFill>
                  <a:srgbClr val="6B7280"/>
                </a:solidFill>
                <a:latin typeface="Arial" pitchFamily="34" charset="0"/>
                <a:ea typeface="Arial" pitchFamily="34" charset="-122"/>
                <a:cs typeface="Arial" pitchFamily="34" charset="-120"/>
              </a:rPr>
              <a:t> Best for: specific actions</a:t>
            </a:r>
            <a:endParaRPr lang="en-US" sz="675" dirty="0"/>
          </a:p>
        </p:txBody>
      </p:sp>
      <p:sp>
        <p:nvSpPr>
          <p:cNvPr id="22" name="Text 20"/>
          <p:cNvSpPr/>
          <p:nvPr/>
        </p:nvSpPr>
        <p:spPr>
          <a:xfrm>
            <a:off x="6514951" y="1255812"/>
            <a:ext cx="2283294" cy="146596"/>
          </a:xfrm>
          <a:prstGeom prst="rect">
            <a:avLst/>
          </a:prstGeom>
          <a:noFill/>
          <a:ln/>
        </p:spPr>
        <p:txBody>
          <a:bodyPr wrap="square" lIns="0" tIns="0" rIns="0" bIns="0" rtlCol="0" anchor="t"/>
          <a:lstStyle/>
          <a:p>
            <a:pPr marL="0" indent="0" algn="l">
              <a:lnSpc>
                <a:spcPts val="1155"/>
              </a:lnSpc>
              <a:spcAft>
                <a:spcPts val="450"/>
              </a:spcAft>
              <a:buNone/>
            </a:pPr>
            <a:r>
              <a:rPr lang="en-US" sz="825" b="1" dirty="0">
                <a:solidFill>
                  <a:srgbClr val="D97706"/>
                </a:solidFill>
                <a:latin typeface="Arial" pitchFamily="34" charset="0"/>
                <a:ea typeface="Arial" pitchFamily="34" charset="-122"/>
                <a:cs typeface="Arial" pitchFamily="34" charset="-120"/>
              </a:rPr>
              <a:t>SKILLS</a:t>
            </a:r>
            <a:endParaRPr lang="en-US" sz="825" dirty="0"/>
          </a:p>
        </p:txBody>
      </p:sp>
      <p:sp>
        <p:nvSpPr>
          <p:cNvPr id="23" name="Text 21"/>
          <p:cNvSpPr/>
          <p:nvPr/>
        </p:nvSpPr>
        <p:spPr>
          <a:xfrm>
            <a:off x="6514951" y="1459557"/>
            <a:ext cx="2283294" cy="514350"/>
          </a:xfrm>
          <a:prstGeom prst="rect">
            <a:avLst/>
          </a:prstGeom>
          <a:noFill/>
          <a:ln/>
        </p:spPr>
        <p:txBody>
          <a:bodyPr wrap="square" lIns="0" tIns="0" rIns="0" bIns="0" rtlCol="0" anchor="t"/>
          <a:lstStyle/>
          <a:p>
            <a:pPr marL="0" indent="0" algn="l">
              <a:lnSpc>
                <a:spcPts val="1013"/>
              </a:lnSpc>
              <a:buNone/>
            </a:pPr>
            <a:r>
              <a:rPr lang="en-US" sz="675" dirty="0">
                <a:solidFill>
                  <a:srgbClr val="6B7280"/>
                </a:solidFill>
                <a:latin typeface="Arial" pitchFamily="34" charset="0"/>
                <a:ea typeface="Arial" pitchFamily="34" charset="-122"/>
                <a:cs typeface="Arial" pitchFamily="34" charset="-120"/>
              </a:rPr>
              <a:t>Automatic activation</a:t>
            </a:r>
            <a:endParaRPr lang="en-US" sz="675" dirty="0"/>
          </a:p>
          <a:p>
            <a:pPr marL="0" indent="0" algn="l">
              <a:lnSpc>
                <a:spcPts val="1013"/>
              </a:lnSpc>
              <a:buNone/>
            </a:pPr>
            <a:r>
              <a:rPr lang="en-US" sz="675" dirty="0">
                <a:solidFill>
                  <a:srgbClr val="6B7280"/>
                </a:solidFill>
                <a:latin typeface="Arial" pitchFamily="34" charset="0"/>
                <a:ea typeface="Arial" pitchFamily="34" charset="-122"/>
                <a:cs typeface="Arial" pitchFamily="34" charset="-120"/>
              </a:rPr>
              <a:t> Context-based matching</a:t>
            </a:r>
            <a:endParaRPr lang="en-US" sz="675" dirty="0"/>
          </a:p>
          <a:p>
            <a:pPr marL="0" indent="0" algn="l">
              <a:lnSpc>
                <a:spcPts val="1013"/>
              </a:lnSpc>
              <a:buNone/>
            </a:pPr>
            <a:r>
              <a:rPr lang="en-US" sz="675" dirty="0">
                <a:solidFill>
                  <a:srgbClr val="6B7280"/>
                </a:solidFill>
                <a:latin typeface="Arial" pitchFamily="34" charset="0"/>
                <a:ea typeface="Arial" pitchFamily="34" charset="-122"/>
                <a:cs typeface="Arial" pitchFamily="34" charset="-120"/>
              </a:rPr>
              <a:t> Always-on capabilities</a:t>
            </a:r>
            <a:endParaRPr lang="en-US" sz="675" dirty="0"/>
          </a:p>
          <a:p>
            <a:pPr marL="0" indent="0" algn="l">
              <a:lnSpc>
                <a:spcPts val="1013"/>
              </a:lnSpc>
              <a:buNone/>
            </a:pPr>
            <a:r>
              <a:rPr lang="en-US" sz="675" dirty="0">
                <a:solidFill>
                  <a:srgbClr val="6B7280"/>
                </a:solidFill>
                <a:latin typeface="Arial" pitchFamily="34" charset="0"/>
                <a:ea typeface="Arial" pitchFamily="34" charset="-122"/>
                <a:cs typeface="Arial" pitchFamily="34" charset="-120"/>
              </a:rPr>
              <a:t> Best for: domain expertise</a:t>
            </a:r>
            <a:endParaRPr lang="en-US" sz="675" dirty="0"/>
          </a:p>
        </p:txBody>
      </p:sp>
      <p:sp>
        <p:nvSpPr>
          <p:cNvPr id="24" name="Text 22"/>
          <p:cNvSpPr/>
          <p:nvPr/>
        </p:nvSpPr>
        <p:spPr>
          <a:xfrm>
            <a:off x="3838277" y="2364432"/>
            <a:ext cx="5039023" cy="1351806"/>
          </a:xfrm>
          <a:prstGeom prst="rect">
            <a:avLst/>
          </a:prstGeom>
          <a:solidFill>
            <a:srgbClr val="1A1F2E"/>
          </a:solidFill>
          <a:ln/>
        </p:spPr>
        <p:txBody>
          <a:bodyPr wrap="square" rtlCol="0" anchor="ctr"/>
          <a:lstStyle/>
          <a:p>
            <a:pPr marL="0" indent="0">
              <a:buNone/>
            </a:pPr>
            <a:endParaRPr lang="en-US" dirty="0"/>
          </a:p>
        </p:txBody>
      </p:sp>
      <p:sp>
        <p:nvSpPr>
          <p:cNvPr id="25" name="Text 23"/>
          <p:cNvSpPr/>
          <p:nvPr/>
        </p:nvSpPr>
        <p:spPr>
          <a:xfrm>
            <a:off x="3952577" y="2478732"/>
            <a:ext cx="4906631" cy="106561"/>
          </a:xfrm>
          <a:prstGeom prst="rect">
            <a:avLst/>
          </a:prstGeom>
          <a:noFill/>
          <a:ln/>
        </p:spPr>
        <p:txBody>
          <a:bodyPr wrap="square" lIns="0" tIns="0" rIns="0" bIns="0" rtlCol="0" anchor="t"/>
          <a:lstStyle/>
          <a:p>
            <a:pPr marL="0" indent="0" algn="l">
              <a:lnSpc>
                <a:spcPts val="840"/>
              </a:lnSpc>
              <a:spcAft>
                <a:spcPts val="450"/>
              </a:spcAft>
              <a:buNone/>
            </a:pPr>
            <a:r>
              <a:rPr lang="en-US" sz="600" dirty="0">
                <a:solidFill>
                  <a:srgbClr val="C9A227"/>
                </a:solidFill>
                <a:latin typeface="Arial" pitchFamily="34" charset="0"/>
                <a:ea typeface="Arial" pitchFamily="34" charset="-122"/>
                <a:cs typeface="Arial" pitchFamily="34" charset="-120"/>
              </a:rPr>
              <a:t>SKILL FILE STRUCTURE</a:t>
            </a:r>
            <a:endParaRPr lang="en-US" sz="600" dirty="0"/>
          </a:p>
        </p:txBody>
      </p:sp>
      <p:sp>
        <p:nvSpPr>
          <p:cNvPr id="26" name="Text 24"/>
          <p:cNvSpPr/>
          <p:nvPr/>
        </p:nvSpPr>
        <p:spPr>
          <a:xfrm>
            <a:off x="3952577" y="2642443"/>
            <a:ext cx="4906631" cy="959495"/>
          </a:xfrm>
          <a:prstGeom prst="rect">
            <a:avLst/>
          </a:prstGeom>
          <a:noFill/>
          <a:ln/>
        </p:spPr>
        <p:txBody>
          <a:bodyPr wrap="square" lIns="0" tIns="0" rIns="0" bIns="0" rtlCol="0" anchor="t"/>
          <a:lstStyle/>
          <a:p>
            <a:pPr marL="0" indent="0" algn="l">
              <a:lnSpc>
                <a:spcPts val="1080"/>
              </a:lnSpc>
              <a:buNone/>
            </a:pPr>
            <a:r>
              <a:rPr lang="en-US" sz="675" dirty="0">
                <a:solidFill>
                  <a:srgbClr val="FFFFFF">
                    <a:alpha val="80000"/>
                  </a:srgbClr>
                </a:solidFill>
                <a:latin typeface="Arial" pitchFamily="34" charset="0"/>
                <a:ea typeface="Arial" pitchFamily="34" charset="-122"/>
                <a:cs typeface="Arial" pitchFamily="34" charset="-120"/>
              </a:rPr>
              <a:t>.claude/skills/react-patterns.md</a:t>
            </a:r>
            <a:endParaRPr lang="en-US" sz="675" dirty="0"/>
          </a:p>
          <a:p>
            <a:pPr marL="0" indent="0" algn="l">
              <a:lnSpc>
                <a:spcPts val="1080"/>
              </a:lnSpc>
              <a:buNone/>
            </a:pPr>
            <a:endParaRPr lang="en-US" sz="675" dirty="0"/>
          </a:p>
          <a:p>
            <a:pPr marL="0" indent="0" algn="l">
              <a:lnSpc>
                <a:spcPts val="1080"/>
              </a:lnSpc>
              <a:buNone/>
            </a:pPr>
            <a:r>
              <a:rPr lang="en-US" sz="675" dirty="0">
                <a:solidFill>
                  <a:srgbClr val="FFFFFF">
                    <a:alpha val="80000"/>
                  </a:srgbClr>
                </a:solidFill>
                <a:latin typeface="Arial" pitchFamily="34" charset="0"/>
                <a:ea typeface="Arial" pitchFamily="34" charset="-122"/>
                <a:cs typeface="Arial" pitchFamily="34" charset="-120"/>
              </a:rPr>
              <a:t> </a:t>
            </a:r>
            <a:endParaRPr lang="en-US" sz="675" dirty="0"/>
          </a:p>
          <a:p>
            <a:pPr marL="0" indent="0" algn="l">
              <a:lnSpc>
                <a:spcPts val="1080"/>
              </a:lnSpc>
              <a:buNone/>
            </a:pPr>
            <a:r>
              <a:rPr lang="en-US" sz="675" dirty="0">
                <a:solidFill>
                  <a:srgbClr val="9CA3AF">
                    <a:alpha val="80000"/>
                  </a:srgbClr>
                </a:solidFill>
                <a:latin typeface="Arial" pitchFamily="34" charset="0"/>
                <a:ea typeface="Arial" pitchFamily="34" charset="-122"/>
                <a:cs typeface="Arial" pitchFamily="34" charset="-120"/>
              </a:rPr>
              <a:t># Description (for matching)</a:t>
            </a:r>
            <a:endParaRPr lang="en-US" sz="675" dirty="0"/>
          </a:p>
          <a:p>
            <a:pPr marL="0" indent="0" algn="l">
              <a:lnSpc>
                <a:spcPts val="1080"/>
              </a:lnSpc>
              <a:buNone/>
            </a:pPr>
            <a:r>
              <a:rPr lang="en-US" sz="675" dirty="0">
                <a:solidFill>
                  <a:srgbClr val="FFFFFF">
                    <a:alpha val="80000"/>
                  </a:srgbClr>
                </a:solidFill>
                <a:latin typeface="Arial" pitchFamily="34" charset="0"/>
                <a:ea typeface="Arial" pitchFamily="34" charset="-122"/>
                <a:cs typeface="Arial" pitchFamily="34" charset="-120"/>
              </a:rPr>
              <a:t> </a:t>
            </a:r>
            <a:endParaRPr lang="en-US" sz="675" dirty="0"/>
          </a:p>
          <a:p>
            <a:pPr marL="0" indent="0" algn="l">
              <a:lnSpc>
                <a:spcPts val="1080"/>
              </a:lnSpc>
              <a:buNone/>
            </a:pPr>
            <a:r>
              <a:rPr lang="en-US" sz="675" dirty="0">
                <a:solidFill>
                  <a:srgbClr val="6EE7B7">
                    <a:alpha val="80000"/>
                  </a:srgbClr>
                </a:solidFill>
                <a:latin typeface="Arial" pitchFamily="34" charset="0"/>
                <a:ea typeface="Arial" pitchFamily="34" charset="-122"/>
                <a:cs typeface="Arial" pitchFamily="34" charset="-120"/>
              </a:rPr>
              <a:t>"Use for React component development"</a:t>
            </a:r>
            <a:endParaRPr lang="en-US" sz="675" dirty="0"/>
          </a:p>
          <a:p>
            <a:pPr marL="0" indent="0" algn="l">
              <a:lnSpc>
                <a:spcPts val="1080"/>
              </a:lnSpc>
              <a:buNone/>
            </a:pPr>
            <a:endParaRPr lang="en-US" sz="675" dirty="0"/>
          </a:p>
          <a:p>
            <a:pPr marL="0" indent="0" algn="l">
              <a:lnSpc>
                <a:spcPts val="1080"/>
              </a:lnSpc>
              <a:buNone/>
            </a:pPr>
            <a:r>
              <a:rPr lang="en-US" sz="675" dirty="0">
                <a:solidFill>
                  <a:srgbClr val="FFFFFF">
                    <a:alpha val="80000"/>
                  </a:srgbClr>
                </a:solidFill>
                <a:latin typeface="Arial" pitchFamily="34" charset="0"/>
                <a:ea typeface="Arial" pitchFamily="34" charset="-122"/>
                <a:cs typeface="Arial" pitchFamily="34" charset="-120"/>
              </a:rPr>
              <a:t> </a:t>
            </a:r>
            <a:endParaRPr lang="en-US" sz="675" dirty="0"/>
          </a:p>
          <a:p>
            <a:pPr marL="0" indent="0" algn="l">
              <a:lnSpc>
                <a:spcPts val="1080"/>
              </a:lnSpc>
              <a:buNone/>
            </a:pPr>
            <a:r>
              <a:rPr lang="en-US" sz="675" dirty="0">
                <a:solidFill>
                  <a:srgbClr val="9CA3AF">
                    <a:alpha val="80000"/>
                  </a:srgbClr>
                </a:solidFill>
                <a:latin typeface="Arial" pitchFamily="34" charset="0"/>
                <a:ea typeface="Arial" pitchFamily="34" charset="-122"/>
                <a:cs typeface="Arial" pitchFamily="34" charset="-120"/>
              </a:rPr>
              <a:t># Instructions (loaded when matched)</a:t>
            </a:r>
            <a:endParaRPr lang="en-US" sz="675" dirty="0"/>
          </a:p>
          <a:p>
            <a:pPr marL="0" indent="0" algn="l">
              <a:lnSpc>
                <a:spcPts val="1080"/>
              </a:lnSpc>
              <a:buNone/>
            </a:pPr>
            <a:r>
              <a:rPr lang="en-US" sz="675" dirty="0">
                <a:solidFill>
                  <a:srgbClr val="FFFFFF">
                    <a:alpha val="80000"/>
                  </a:srgbClr>
                </a:solidFill>
                <a:latin typeface="Arial" pitchFamily="34" charset="0"/>
                <a:ea typeface="Arial" pitchFamily="34" charset="-122"/>
                <a:cs typeface="Arial" pitchFamily="34" charset="-120"/>
              </a:rPr>
              <a:t> </a:t>
            </a:r>
            <a:endParaRPr lang="en-US" sz="675" dirty="0"/>
          </a:p>
          <a:p>
            <a:pPr marL="0" indent="0" algn="l">
              <a:lnSpc>
                <a:spcPts val="1080"/>
              </a:lnSpc>
              <a:buNone/>
            </a:pPr>
            <a:r>
              <a:rPr lang="en-US" sz="675" dirty="0">
                <a:solidFill>
                  <a:srgbClr val="6EE7B7">
                    <a:alpha val="80000"/>
                  </a:srgbClr>
                </a:solidFill>
                <a:latin typeface="Arial" pitchFamily="34" charset="0"/>
                <a:ea typeface="Arial" pitchFamily="34" charset="-122"/>
                <a:cs typeface="Arial" pitchFamily="34" charset="-120"/>
              </a:rPr>
              <a:t>"Follow these patterns..."</a:t>
            </a:r>
            <a:endParaRPr lang="en-US" sz="675" dirty="0"/>
          </a:p>
        </p:txBody>
      </p:sp>
      <p:sp>
        <p:nvSpPr>
          <p:cNvPr id="27" name="Text 25"/>
          <p:cNvSpPr/>
          <p:nvPr/>
        </p:nvSpPr>
        <p:spPr>
          <a:xfrm>
            <a:off x="3838277" y="3963888"/>
            <a:ext cx="2481411" cy="455116"/>
          </a:xfrm>
          <a:prstGeom prst="rect">
            <a:avLst/>
          </a:prstGeom>
          <a:solidFill>
            <a:srgbClr val="DCFCE7"/>
          </a:solidFill>
          <a:ln/>
        </p:spPr>
        <p:txBody>
          <a:bodyPr wrap="square" rtlCol="0" anchor="ctr"/>
          <a:lstStyle/>
          <a:p>
            <a:pPr marL="0" indent="0">
              <a:buNone/>
            </a:pPr>
            <a:endParaRPr lang="en-US" dirty="0"/>
          </a:p>
        </p:txBody>
      </p:sp>
      <p:sp>
        <p:nvSpPr>
          <p:cNvPr id="28" name="Shape 26"/>
          <p:cNvSpPr/>
          <p:nvPr/>
        </p:nvSpPr>
        <p:spPr>
          <a:xfrm>
            <a:off x="3852565" y="3963888"/>
            <a:ext cx="0" cy="455116"/>
          </a:xfrm>
          <a:prstGeom prst="line">
            <a:avLst/>
          </a:prstGeom>
          <a:noFill/>
          <a:ln w="28575">
            <a:solidFill>
              <a:srgbClr val="059669"/>
            </a:solidFill>
            <a:prstDash val="solid"/>
          </a:ln>
        </p:spPr>
        <p:txBody>
          <a:bodyPr/>
          <a:lstStyle/>
          <a:p>
            <a:endParaRPr lang="en-US"/>
          </a:p>
        </p:txBody>
      </p:sp>
      <p:sp>
        <p:nvSpPr>
          <p:cNvPr id="29" name="Text 27"/>
          <p:cNvSpPr/>
          <p:nvPr/>
        </p:nvSpPr>
        <p:spPr>
          <a:xfrm>
            <a:off x="3962102" y="4059138"/>
            <a:ext cx="2307583" cy="119955"/>
          </a:xfrm>
          <a:prstGeom prst="rect">
            <a:avLst/>
          </a:prstGeom>
          <a:noFill/>
          <a:ln/>
        </p:spPr>
        <p:txBody>
          <a:bodyPr wrap="square" lIns="0" tIns="0" rIns="0" bIns="0" rtlCol="0" anchor="t"/>
          <a:lstStyle/>
          <a:p>
            <a:pPr marL="0" indent="0" algn="l">
              <a:lnSpc>
                <a:spcPts val="945"/>
              </a:lnSpc>
              <a:spcAft>
                <a:spcPts val="300"/>
              </a:spcAft>
              <a:buNone/>
            </a:pPr>
            <a:r>
              <a:rPr lang="en-US" sz="675" b="1" dirty="0">
                <a:solidFill>
                  <a:srgbClr val="166534"/>
                </a:solidFill>
                <a:latin typeface="Arial" pitchFamily="34" charset="0"/>
                <a:ea typeface="Arial" pitchFamily="34" charset="-122"/>
                <a:cs typeface="Arial" pitchFamily="34" charset="-120"/>
              </a:rPr>
              <a:t>USE CASE</a:t>
            </a:r>
            <a:endParaRPr lang="en-US" sz="675" dirty="0"/>
          </a:p>
        </p:txBody>
      </p:sp>
      <p:sp>
        <p:nvSpPr>
          <p:cNvPr id="30" name="Text 28"/>
          <p:cNvSpPr/>
          <p:nvPr/>
        </p:nvSpPr>
        <p:spPr>
          <a:xfrm>
            <a:off x="3962102" y="4217194"/>
            <a:ext cx="2307583" cy="106561"/>
          </a:xfrm>
          <a:prstGeom prst="rect">
            <a:avLst/>
          </a:prstGeom>
          <a:noFill/>
          <a:ln/>
        </p:spPr>
        <p:txBody>
          <a:bodyPr wrap="square" lIns="0" tIns="0" rIns="0" bIns="0" rtlCol="0" anchor="t"/>
          <a:lstStyle/>
          <a:p>
            <a:pPr marL="0" indent="0" algn="l">
              <a:lnSpc>
                <a:spcPts val="840"/>
              </a:lnSpc>
              <a:buNone/>
            </a:pPr>
            <a:r>
              <a:rPr lang="en-US" sz="600" dirty="0">
                <a:solidFill>
                  <a:srgbClr val="166534"/>
                </a:solidFill>
                <a:latin typeface="Arial" pitchFamily="34" charset="0"/>
                <a:ea typeface="Arial" pitchFamily="34" charset="-122"/>
                <a:cs typeface="Arial" pitchFamily="34" charset="-120"/>
              </a:rPr>
              <a:t>Domain-specific patterns, coding standards, framework guidelines</a:t>
            </a:r>
            <a:endParaRPr lang="en-US" sz="600" dirty="0"/>
          </a:p>
        </p:txBody>
      </p:sp>
      <p:sp>
        <p:nvSpPr>
          <p:cNvPr id="31" name="Text 29"/>
          <p:cNvSpPr/>
          <p:nvPr/>
        </p:nvSpPr>
        <p:spPr>
          <a:xfrm>
            <a:off x="6395889" y="3963888"/>
            <a:ext cx="2481411" cy="455116"/>
          </a:xfrm>
          <a:prstGeom prst="rect">
            <a:avLst/>
          </a:prstGeom>
          <a:solidFill>
            <a:srgbClr val="DBEAFE"/>
          </a:solidFill>
          <a:ln/>
        </p:spPr>
        <p:txBody>
          <a:bodyPr wrap="square" rtlCol="0" anchor="ctr"/>
          <a:lstStyle/>
          <a:p>
            <a:pPr marL="0" indent="0">
              <a:buNone/>
            </a:pPr>
            <a:endParaRPr lang="en-US" dirty="0"/>
          </a:p>
        </p:txBody>
      </p:sp>
      <p:sp>
        <p:nvSpPr>
          <p:cNvPr id="32" name="Shape 30"/>
          <p:cNvSpPr/>
          <p:nvPr/>
        </p:nvSpPr>
        <p:spPr>
          <a:xfrm>
            <a:off x="6410176" y="3963888"/>
            <a:ext cx="0" cy="455116"/>
          </a:xfrm>
          <a:prstGeom prst="line">
            <a:avLst/>
          </a:prstGeom>
          <a:noFill/>
          <a:ln w="28575">
            <a:solidFill>
              <a:srgbClr val="3B82F6"/>
            </a:solidFill>
            <a:prstDash val="solid"/>
          </a:ln>
        </p:spPr>
        <p:txBody>
          <a:bodyPr/>
          <a:lstStyle/>
          <a:p>
            <a:endParaRPr lang="en-US"/>
          </a:p>
        </p:txBody>
      </p:sp>
      <p:sp>
        <p:nvSpPr>
          <p:cNvPr id="33" name="Text 31"/>
          <p:cNvSpPr/>
          <p:nvPr/>
        </p:nvSpPr>
        <p:spPr>
          <a:xfrm>
            <a:off x="6519714" y="4059138"/>
            <a:ext cx="2307583" cy="119955"/>
          </a:xfrm>
          <a:prstGeom prst="rect">
            <a:avLst/>
          </a:prstGeom>
          <a:noFill/>
          <a:ln/>
        </p:spPr>
        <p:txBody>
          <a:bodyPr wrap="square" lIns="0" tIns="0" rIns="0" bIns="0" rtlCol="0" anchor="t"/>
          <a:lstStyle/>
          <a:p>
            <a:pPr marL="0" indent="0" algn="l">
              <a:lnSpc>
                <a:spcPts val="945"/>
              </a:lnSpc>
              <a:spcAft>
                <a:spcPts val="300"/>
              </a:spcAft>
              <a:buNone/>
            </a:pPr>
            <a:r>
              <a:rPr lang="en-US" sz="675" b="1" dirty="0">
                <a:solidFill>
                  <a:srgbClr val="1E40AF"/>
                </a:solidFill>
                <a:latin typeface="Arial" pitchFamily="34" charset="0"/>
                <a:ea typeface="Arial" pitchFamily="34" charset="-122"/>
                <a:cs typeface="Arial" pitchFamily="34" charset="-120"/>
              </a:rPr>
              <a:t>TEAM BENEFIT</a:t>
            </a:r>
            <a:endParaRPr lang="en-US" sz="675" dirty="0"/>
          </a:p>
        </p:txBody>
      </p:sp>
      <p:sp>
        <p:nvSpPr>
          <p:cNvPr id="34" name="Text 32"/>
          <p:cNvSpPr/>
          <p:nvPr/>
        </p:nvSpPr>
        <p:spPr>
          <a:xfrm>
            <a:off x="6519714" y="4217194"/>
            <a:ext cx="2307583" cy="106561"/>
          </a:xfrm>
          <a:prstGeom prst="rect">
            <a:avLst/>
          </a:prstGeom>
          <a:noFill/>
          <a:ln/>
        </p:spPr>
        <p:txBody>
          <a:bodyPr wrap="square" lIns="0" tIns="0" rIns="0" bIns="0" rtlCol="0" anchor="t"/>
          <a:lstStyle/>
          <a:p>
            <a:pPr marL="0" indent="0" algn="l">
              <a:lnSpc>
                <a:spcPts val="840"/>
              </a:lnSpc>
              <a:buNone/>
            </a:pPr>
            <a:r>
              <a:rPr lang="en-US" sz="600" dirty="0">
                <a:solidFill>
                  <a:srgbClr val="1E40AF"/>
                </a:solidFill>
                <a:latin typeface="Arial" pitchFamily="34" charset="0"/>
                <a:ea typeface="Arial" pitchFamily="34" charset="-122"/>
                <a:cs typeface="Arial" pitchFamily="34" charset="-120"/>
              </a:rPr>
              <a:t>Commit to git — entire team gets consistent AI behavior</a:t>
            </a:r>
            <a:endParaRPr lang="en-US" sz="6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0" y="0"/>
            <a:ext cx="3419177" cy="5143500"/>
          </a:xfrm>
          <a:prstGeom prst="rect">
            <a:avLst/>
          </a:prstGeom>
          <a:solidFill>
            <a:srgbClr val="1A1F2E"/>
          </a:solidFill>
          <a:ln/>
        </p:spPr>
        <p:txBody>
          <a:bodyPr wrap="square" rtlCol="0" anchor="ctr"/>
          <a:lstStyle/>
          <a:p>
            <a:pPr marL="0" indent="0">
              <a:buNone/>
            </a:pPr>
            <a:endParaRPr lang="en-US" dirty="0"/>
          </a:p>
        </p:txBody>
      </p:sp>
      <p:sp>
        <p:nvSpPr>
          <p:cNvPr id="3" name="Text 1"/>
          <p:cNvSpPr/>
          <p:nvPr/>
        </p:nvSpPr>
        <p:spPr>
          <a:xfrm>
            <a:off x="266700" y="266700"/>
            <a:ext cx="874961" cy="201811"/>
          </a:xfrm>
          <a:prstGeom prst="rect">
            <a:avLst/>
          </a:prstGeom>
          <a:solidFill>
            <a:srgbClr val="D97706"/>
          </a:solidFill>
          <a:ln/>
        </p:spPr>
        <p:txBody>
          <a:bodyPr wrap="square" rtlCol="0" anchor="ctr"/>
          <a:lstStyle/>
          <a:p>
            <a:pPr marL="0" indent="0">
              <a:buNone/>
            </a:pPr>
            <a:endParaRPr lang="en-US" dirty="0"/>
          </a:p>
        </p:txBody>
      </p:sp>
      <p:sp>
        <p:nvSpPr>
          <p:cNvPr id="4" name="Text 2"/>
          <p:cNvSpPr/>
          <p:nvPr/>
        </p:nvSpPr>
        <p:spPr>
          <a:xfrm>
            <a:off x="361950" y="314325"/>
            <a:ext cx="698150" cy="106561"/>
          </a:xfrm>
          <a:prstGeom prst="rect">
            <a:avLst/>
          </a:prstGeom>
          <a:noFill/>
          <a:ln/>
        </p:spPr>
        <p:txBody>
          <a:bodyPr wrap="square" lIns="0" tIns="0" rIns="0" bIns="0" rtlCol="0" anchor="t"/>
          <a:lstStyle/>
          <a:p>
            <a:pPr marL="0" indent="0" algn="l">
              <a:lnSpc>
                <a:spcPts val="840"/>
              </a:lnSpc>
              <a:buNone/>
            </a:pPr>
            <a:r>
              <a:rPr lang="en-US" sz="600" b="1" dirty="0">
                <a:solidFill>
                  <a:srgbClr val="1A1F2E"/>
                </a:solidFill>
                <a:latin typeface="Arial" pitchFamily="34" charset="0"/>
                <a:ea typeface="Arial" pitchFamily="34" charset="-122"/>
                <a:cs typeface="Arial" pitchFamily="34" charset="-120"/>
              </a:rPr>
              <a:t>INTEGRATIONS</a:t>
            </a:r>
            <a:endParaRPr lang="en-US" sz="600" dirty="0"/>
          </a:p>
        </p:txBody>
      </p:sp>
      <p:sp>
        <p:nvSpPr>
          <p:cNvPr id="5" name="Text 3"/>
          <p:cNvSpPr/>
          <p:nvPr/>
        </p:nvSpPr>
        <p:spPr>
          <a:xfrm>
            <a:off x="266700" y="716161"/>
            <a:ext cx="1476756" cy="594122"/>
          </a:xfrm>
          <a:prstGeom prst="rect">
            <a:avLst/>
          </a:prstGeom>
          <a:noFill/>
          <a:ln/>
        </p:spPr>
        <p:txBody>
          <a:bodyPr wrap="square" lIns="0" tIns="0" rIns="0" bIns="0" rtlCol="0" anchor="t"/>
          <a:lstStyle/>
          <a:p>
            <a:pPr marL="0" indent="0" algn="l">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MCP</a:t>
            </a:r>
            <a:endParaRPr lang="en-US" sz="1950" dirty="0"/>
          </a:p>
          <a:p>
            <a:pPr marL="0" indent="0" algn="l">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Servers</a:t>
            </a:r>
            <a:endParaRPr lang="en-US" sz="1950" dirty="0"/>
          </a:p>
        </p:txBody>
      </p:sp>
      <p:sp>
        <p:nvSpPr>
          <p:cNvPr id="6" name="Text 4"/>
          <p:cNvSpPr/>
          <p:nvPr/>
        </p:nvSpPr>
        <p:spPr>
          <a:xfrm>
            <a:off x="266700" y="1557933"/>
            <a:ext cx="381000" cy="19050"/>
          </a:xfrm>
          <a:prstGeom prst="rect">
            <a:avLst/>
          </a:prstGeom>
          <a:solidFill>
            <a:srgbClr val="C9A227"/>
          </a:solidFill>
          <a:ln/>
        </p:spPr>
        <p:txBody>
          <a:bodyPr wrap="square" rtlCol="0" anchor="ctr"/>
          <a:lstStyle/>
          <a:p>
            <a:pPr marL="0" indent="0">
              <a:buNone/>
            </a:pPr>
            <a:endParaRPr lang="en-US" dirty="0"/>
          </a:p>
        </p:txBody>
      </p:sp>
      <p:sp>
        <p:nvSpPr>
          <p:cNvPr id="7" name="Text 5"/>
          <p:cNvSpPr/>
          <p:nvPr/>
        </p:nvSpPr>
        <p:spPr>
          <a:xfrm>
            <a:off x="266700" y="1862733"/>
            <a:ext cx="2885777" cy="685800"/>
          </a:xfrm>
          <a:prstGeom prst="rect">
            <a:avLst/>
          </a:prstGeom>
          <a:solidFill>
            <a:srgbClr val="D97706">
              <a:alpha val="15000"/>
            </a:srgbClr>
          </a:solidFill>
          <a:ln/>
        </p:spPr>
        <p:txBody>
          <a:bodyPr wrap="square" rtlCol="0" anchor="ctr"/>
          <a:lstStyle/>
          <a:p>
            <a:pPr marL="0" indent="0">
              <a:buNone/>
            </a:pPr>
            <a:endParaRPr lang="en-US" dirty="0"/>
          </a:p>
        </p:txBody>
      </p:sp>
      <p:sp>
        <p:nvSpPr>
          <p:cNvPr id="8" name="Shape 6"/>
          <p:cNvSpPr/>
          <p:nvPr/>
        </p:nvSpPr>
        <p:spPr>
          <a:xfrm>
            <a:off x="280988" y="1862733"/>
            <a:ext cx="0" cy="685800"/>
          </a:xfrm>
          <a:prstGeom prst="line">
            <a:avLst/>
          </a:prstGeom>
          <a:noFill/>
          <a:ln w="28575">
            <a:solidFill>
              <a:srgbClr val="D97706"/>
            </a:solidFill>
            <a:prstDash val="solid"/>
          </a:ln>
        </p:spPr>
        <p:txBody>
          <a:bodyPr/>
          <a:lstStyle/>
          <a:p>
            <a:endParaRPr lang="en-US"/>
          </a:p>
        </p:txBody>
      </p:sp>
      <p:sp>
        <p:nvSpPr>
          <p:cNvPr id="9" name="Text 7"/>
          <p:cNvSpPr/>
          <p:nvPr/>
        </p:nvSpPr>
        <p:spPr>
          <a:xfrm>
            <a:off x="409575" y="1977033"/>
            <a:ext cx="2681174"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FBBF24"/>
                </a:solidFill>
                <a:latin typeface="Arial" pitchFamily="34" charset="0"/>
                <a:ea typeface="Arial" pitchFamily="34" charset="-122"/>
                <a:cs typeface="Arial" pitchFamily="34" charset="-120"/>
              </a:rPr>
              <a:t>MODEL CONTEXT PROTOCOL</a:t>
            </a:r>
            <a:endParaRPr lang="en-US" sz="750" dirty="0"/>
          </a:p>
        </p:txBody>
      </p:sp>
      <p:sp>
        <p:nvSpPr>
          <p:cNvPr id="10" name="Text 8"/>
          <p:cNvSpPr/>
          <p:nvPr/>
        </p:nvSpPr>
        <p:spPr>
          <a:xfrm>
            <a:off x="409575" y="2148483"/>
            <a:ext cx="2681174" cy="285750"/>
          </a:xfrm>
          <a:prstGeom prst="rect">
            <a:avLst/>
          </a:prstGeom>
          <a:noFill/>
          <a:ln/>
        </p:spPr>
        <p:txBody>
          <a:bodyPr wrap="square" lIns="0" tIns="0" rIns="0" bIns="0" rtlCol="0" anchor="t"/>
          <a:lstStyle/>
          <a:p>
            <a:pPr marL="0" indent="0" algn="l">
              <a:lnSpc>
                <a:spcPts val="1125"/>
              </a:lnSpc>
              <a:buNone/>
            </a:pPr>
            <a:r>
              <a:rPr lang="en-US" sz="750" dirty="0">
                <a:solidFill>
                  <a:srgbClr val="FFFFFF">
                    <a:alpha val="80000"/>
                  </a:srgbClr>
                </a:solidFill>
                <a:latin typeface="Arial" pitchFamily="34" charset="0"/>
                <a:ea typeface="Arial" pitchFamily="34" charset="-122"/>
                <a:cs typeface="Arial" pitchFamily="34" charset="-120"/>
              </a:rPr>
              <a:t>Open standard for AI-tool integrations. Connect Claude to databases, APIs, and services.</a:t>
            </a:r>
            <a:endParaRPr lang="en-US" sz="750" dirty="0"/>
          </a:p>
        </p:txBody>
      </p:sp>
      <p:sp>
        <p:nvSpPr>
          <p:cNvPr id="11" name="Text 9"/>
          <p:cNvSpPr/>
          <p:nvPr/>
        </p:nvSpPr>
        <p:spPr>
          <a:xfrm>
            <a:off x="266700" y="2834283"/>
            <a:ext cx="2885777" cy="967383"/>
          </a:xfrm>
          <a:prstGeom prst="rect">
            <a:avLst/>
          </a:prstGeom>
          <a:solidFill>
            <a:srgbClr val="FFFFFF">
              <a:alpha val="5000"/>
            </a:srgbClr>
          </a:solidFill>
          <a:ln/>
        </p:spPr>
        <p:txBody>
          <a:bodyPr wrap="square" rtlCol="0" anchor="ctr"/>
          <a:lstStyle/>
          <a:p>
            <a:pPr marL="0" indent="0">
              <a:buNone/>
            </a:pPr>
            <a:endParaRPr lang="en-US" dirty="0"/>
          </a:p>
        </p:txBody>
      </p:sp>
      <p:sp>
        <p:nvSpPr>
          <p:cNvPr id="12" name="Text 10"/>
          <p:cNvSpPr/>
          <p:nvPr/>
        </p:nvSpPr>
        <p:spPr>
          <a:xfrm>
            <a:off x="381000" y="2948583"/>
            <a:ext cx="2710321" cy="133350"/>
          </a:xfrm>
          <a:prstGeom prst="rect">
            <a:avLst/>
          </a:prstGeom>
          <a:noFill/>
          <a:ln/>
        </p:spPr>
        <p:txBody>
          <a:bodyPr wrap="square" lIns="0" tIns="0" rIns="0" bIns="0" rtlCol="0" anchor="t"/>
          <a:lstStyle/>
          <a:p>
            <a:pPr marL="0" indent="0" algn="l">
              <a:lnSpc>
                <a:spcPts val="1050"/>
              </a:lnSpc>
              <a:spcAft>
                <a:spcPts val="450"/>
              </a:spcAft>
              <a:buNone/>
            </a:pPr>
            <a:r>
              <a:rPr lang="en-US" sz="750" b="1" dirty="0">
                <a:solidFill>
                  <a:srgbClr val="FFFFFF"/>
                </a:solidFill>
                <a:latin typeface="Arial" pitchFamily="34" charset="0"/>
                <a:ea typeface="Arial" pitchFamily="34" charset="-122"/>
                <a:cs typeface="Arial" pitchFamily="34" charset="-120"/>
              </a:rPr>
              <a:t>WHAT MCP ENABLES</a:t>
            </a:r>
            <a:endParaRPr lang="en-US" sz="750" dirty="0"/>
          </a:p>
        </p:txBody>
      </p:sp>
      <p:sp>
        <p:nvSpPr>
          <p:cNvPr id="13" name="Text 11"/>
          <p:cNvSpPr/>
          <p:nvPr/>
        </p:nvSpPr>
        <p:spPr>
          <a:xfrm>
            <a:off x="381000" y="3139083"/>
            <a:ext cx="2710321" cy="548283"/>
          </a:xfrm>
          <a:prstGeom prst="rect">
            <a:avLst/>
          </a:prstGeom>
          <a:noFill/>
          <a:ln/>
        </p:spPr>
        <p:txBody>
          <a:bodyPr wrap="square" lIns="0" tIns="0" rIns="0" bIns="0" rtlCol="0" anchor="t"/>
          <a:lstStyle/>
          <a:p>
            <a:pPr marL="0" indent="0" algn="l">
              <a:lnSpc>
                <a:spcPts val="1080"/>
              </a:lnSpc>
              <a:buNone/>
            </a:pPr>
            <a:r>
              <a:rPr lang="en-US" sz="675" dirty="0">
                <a:solidFill>
                  <a:srgbClr val="FFFFFF">
                    <a:alpha val="60000"/>
                  </a:srgbClr>
                </a:solidFill>
                <a:latin typeface="Arial" pitchFamily="34" charset="0"/>
                <a:ea typeface="Arial" pitchFamily="34" charset="-122"/>
                <a:cs typeface="Arial" pitchFamily="34" charset="-120"/>
              </a:rPr>
              <a:t>Database queries</a:t>
            </a:r>
            <a:endParaRPr lang="en-US" sz="675" dirty="0"/>
          </a:p>
          <a:p>
            <a:pPr marL="0" indent="0" algn="l">
              <a:lnSpc>
                <a:spcPts val="1080"/>
              </a:lnSpc>
              <a:buNone/>
            </a:pPr>
            <a:r>
              <a:rPr lang="en-US" sz="675" dirty="0">
                <a:solidFill>
                  <a:srgbClr val="FFFFFF">
                    <a:alpha val="60000"/>
                  </a:srgbClr>
                </a:solidFill>
                <a:latin typeface="Arial" pitchFamily="34" charset="0"/>
                <a:ea typeface="Arial" pitchFamily="34" charset="-122"/>
                <a:cs typeface="Arial" pitchFamily="34" charset="-120"/>
              </a:rPr>
              <a:t> API integrations</a:t>
            </a:r>
            <a:endParaRPr lang="en-US" sz="675" dirty="0"/>
          </a:p>
          <a:p>
            <a:pPr marL="0" indent="0" algn="l">
              <a:lnSpc>
                <a:spcPts val="1080"/>
              </a:lnSpc>
              <a:buNone/>
            </a:pPr>
            <a:r>
              <a:rPr lang="en-US" sz="675" dirty="0">
                <a:solidFill>
                  <a:srgbClr val="FFFFFF">
                    <a:alpha val="60000"/>
                  </a:srgbClr>
                </a:solidFill>
                <a:latin typeface="Arial" pitchFamily="34" charset="0"/>
                <a:ea typeface="Arial" pitchFamily="34" charset="-122"/>
                <a:cs typeface="Arial" pitchFamily="34" charset="-120"/>
              </a:rPr>
              <a:t> File system access</a:t>
            </a:r>
            <a:endParaRPr lang="en-US" sz="675" dirty="0"/>
          </a:p>
          <a:p>
            <a:pPr marL="0" indent="0" algn="l">
              <a:lnSpc>
                <a:spcPts val="1080"/>
              </a:lnSpc>
              <a:buNone/>
            </a:pPr>
            <a:r>
              <a:rPr lang="en-US" sz="675" dirty="0">
                <a:solidFill>
                  <a:srgbClr val="FFFFFF">
                    <a:alpha val="60000"/>
                  </a:srgbClr>
                </a:solidFill>
                <a:latin typeface="Arial" pitchFamily="34" charset="0"/>
                <a:ea typeface="Arial" pitchFamily="34" charset="-122"/>
                <a:cs typeface="Arial" pitchFamily="34" charset="-120"/>
              </a:rPr>
              <a:t> External services</a:t>
            </a:r>
            <a:endParaRPr lang="en-US" sz="675" dirty="0"/>
          </a:p>
        </p:txBody>
      </p:sp>
      <p:sp>
        <p:nvSpPr>
          <p:cNvPr id="14" name="Text 12"/>
          <p:cNvSpPr/>
          <p:nvPr/>
        </p:nvSpPr>
        <p:spPr>
          <a:xfrm>
            <a:off x="266700" y="4566345"/>
            <a:ext cx="2885777" cy="310455"/>
          </a:xfrm>
          <a:prstGeom prst="rect">
            <a:avLst/>
          </a:prstGeom>
          <a:solidFill>
            <a:srgbClr val="C9A227"/>
          </a:solidFill>
          <a:ln/>
        </p:spPr>
        <p:txBody>
          <a:bodyPr wrap="square" rtlCol="0" anchor="ctr"/>
          <a:lstStyle/>
          <a:p>
            <a:pPr marL="0" indent="0">
              <a:buNone/>
            </a:pPr>
            <a:endParaRPr lang="en-US" dirty="0"/>
          </a:p>
        </p:txBody>
      </p:sp>
      <p:sp>
        <p:nvSpPr>
          <p:cNvPr id="15" name="Text 13"/>
          <p:cNvSpPr/>
          <p:nvPr/>
        </p:nvSpPr>
        <p:spPr>
          <a:xfrm>
            <a:off x="334997" y="4661595"/>
            <a:ext cx="2749183" cy="119955"/>
          </a:xfrm>
          <a:prstGeom prst="rect">
            <a:avLst/>
          </a:prstGeom>
          <a:noFill/>
          <a:ln/>
        </p:spPr>
        <p:txBody>
          <a:bodyPr wrap="square" lIns="0" tIns="0" rIns="0" bIns="0" rtlCol="0" anchor="t"/>
          <a:lstStyle/>
          <a:p>
            <a:pPr marL="0" indent="0" algn="ctr">
              <a:lnSpc>
                <a:spcPts val="945"/>
              </a:lnSpc>
              <a:buNone/>
            </a:pPr>
            <a:r>
              <a:rPr lang="en-US" sz="675" b="1" dirty="0">
                <a:solidFill>
                  <a:srgbClr val="1A1F2E"/>
                </a:solidFill>
                <a:latin typeface="Arial" pitchFamily="34" charset="0"/>
                <a:ea typeface="Arial" pitchFamily="34" charset="-122"/>
                <a:cs typeface="Arial" pitchFamily="34" charset="-120"/>
              </a:rPr>
              <a:t>Hundreds of pre-built servers</a:t>
            </a:r>
            <a:endParaRPr lang="en-US" sz="675" dirty="0"/>
          </a:p>
        </p:txBody>
      </p:sp>
      <p:sp>
        <p:nvSpPr>
          <p:cNvPr id="16" name="Text 14"/>
          <p:cNvSpPr/>
          <p:nvPr/>
        </p:nvSpPr>
        <p:spPr>
          <a:xfrm>
            <a:off x="3571577" y="0"/>
            <a:ext cx="5572423" cy="5143500"/>
          </a:xfrm>
          <a:prstGeom prst="rect">
            <a:avLst/>
          </a:prstGeom>
          <a:solidFill>
            <a:srgbClr val="F7F8FA"/>
          </a:solidFill>
          <a:ln/>
        </p:spPr>
        <p:txBody>
          <a:bodyPr wrap="square" rtlCol="0" anchor="ctr"/>
          <a:lstStyle/>
          <a:p>
            <a:pPr marL="0" indent="0">
              <a:buNone/>
            </a:pPr>
            <a:endParaRPr lang="en-US" dirty="0"/>
          </a:p>
        </p:txBody>
      </p:sp>
      <p:sp>
        <p:nvSpPr>
          <p:cNvPr id="17" name="Text 15"/>
          <p:cNvSpPr/>
          <p:nvPr/>
        </p:nvSpPr>
        <p:spPr>
          <a:xfrm>
            <a:off x="3838277" y="696069"/>
            <a:ext cx="5139803" cy="159990"/>
          </a:xfrm>
          <a:prstGeom prst="rect">
            <a:avLst/>
          </a:prstGeom>
          <a:noFill/>
          <a:ln/>
        </p:spPr>
        <p:txBody>
          <a:bodyPr wrap="square" lIns="0" tIns="0" rIns="0" bIns="0" rtlCol="0" anchor="t"/>
          <a:lstStyle/>
          <a:p>
            <a:pPr marL="0" indent="0" algn="l">
              <a:lnSpc>
                <a:spcPts val="1260"/>
              </a:lnSpc>
              <a:spcAft>
                <a:spcPts val="750"/>
              </a:spcAft>
              <a:buNone/>
            </a:pPr>
            <a:r>
              <a:rPr lang="en-US" sz="900" b="1" dirty="0">
                <a:solidFill>
                  <a:srgbClr val="1A1F2E"/>
                </a:solidFill>
                <a:latin typeface="Arial" pitchFamily="34" charset="0"/>
                <a:ea typeface="Arial" pitchFamily="34" charset="-122"/>
                <a:cs typeface="Arial" pitchFamily="34" charset="-120"/>
              </a:rPr>
              <a:t>CONFIGURATION SCOPES</a:t>
            </a:r>
            <a:endParaRPr lang="en-US" sz="900" dirty="0"/>
          </a:p>
        </p:txBody>
      </p:sp>
      <p:sp>
        <p:nvSpPr>
          <p:cNvPr id="18" name="Text 16"/>
          <p:cNvSpPr/>
          <p:nvPr/>
        </p:nvSpPr>
        <p:spPr>
          <a:xfrm>
            <a:off x="3838277" y="1103709"/>
            <a:ext cx="1628924" cy="641747"/>
          </a:xfrm>
          <a:prstGeom prst="rect">
            <a:avLst/>
          </a:prstGeom>
          <a:solidFill>
            <a:srgbClr val="FFFFFF"/>
          </a:solidFill>
          <a:ln/>
        </p:spPr>
        <p:txBody>
          <a:bodyPr wrap="square" rtlCol="0" anchor="ctr"/>
          <a:lstStyle/>
          <a:p>
            <a:pPr marL="0" indent="0">
              <a:buNone/>
            </a:pPr>
            <a:endParaRPr lang="en-US" dirty="0"/>
          </a:p>
        </p:txBody>
      </p:sp>
      <p:sp>
        <p:nvSpPr>
          <p:cNvPr id="19" name="Shape 17"/>
          <p:cNvSpPr/>
          <p:nvPr/>
        </p:nvSpPr>
        <p:spPr>
          <a:xfrm>
            <a:off x="3838277" y="1117997"/>
            <a:ext cx="1628924" cy="0"/>
          </a:xfrm>
          <a:prstGeom prst="line">
            <a:avLst/>
          </a:prstGeom>
          <a:noFill/>
          <a:ln w="28575">
            <a:solidFill>
              <a:srgbClr val="059669"/>
            </a:solidFill>
            <a:prstDash val="solid"/>
          </a:ln>
        </p:spPr>
        <p:txBody>
          <a:bodyPr/>
          <a:lstStyle/>
          <a:p>
            <a:endParaRPr lang="en-US"/>
          </a:p>
        </p:txBody>
      </p:sp>
      <p:sp>
        <p:nvSpPr>
          <p:cNvPr id="20" name="Text 18"/>
          <p:cNvSpPr/>
          <p:nvPr/>
        </p:nvSpPr>
        <p:spPr>
          <a:xfrm>
            <a:off x="3933527" y="1227534"/>
            <a:ext cx="1467192"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059669"/>
                </a:solidFill>
                <a:latin typeface="Arial" pitchFamily="34" charset="0"/>
                <a:ea typeface="Arial" pitchFamily="34" charset="-122"/>
                <a:cs typeface="Arial" pitchFamily="34" charset="-120"/>
              </a:rPr>
              <a:t>LOCAL</a:t>
            </a:r>
            <a:endParaRPr lang="en-US" sz="750" dirty="0"/>
          </a:p>
        </p:txBody>
      </p:sp>
      <p:sp>
        <p:nvSpPr>
          <p:cNvPr id="21" name="Text 19"/>
          <p:cNvSpPr/>
          <p:nvPr/>
        </p:nvSpPr>
        <p:spPr>
          <a:xfrm>
            <a:off x="3933527" y="1398984"/>
            <a:ext cx="1467192" cy="106561"/>
          </a:xfrm>
          <a:prstGeom prst="rect">
            <a:avLst/>
          </a:prstGeom>
          <a:noFill/>
          <a:ln/>
        </p:spPr>
        <p:txBody>
          <a:bodyPr wrap="square" lIns="0" tIns="0" rIns="0" bIns="0" rtlCol="0" anchor="t"/>
          <a:lstStyle/>
          <a:p>
            <a:pPr marL="0" indent="0" algn="l">
              <a:lnSpc>
                <a:spcPts val="840"/>
              </a:lnSpc>
              <a:spcAft>
                <a:spcPts val="300"/>
              </a:spcAft>
              <a:buNone/>
            </a:pPr>
            <a:r>
              <a:rPr lang="en-US" sz="600" dirty="0">
                <a:solidFill>
                  <a:srgbClr val="9CA3AF"/>
                </a:solidFill>
                <a:latin typeface="Arial" pitchFamily="34" charset="0"/>
                <a:ea typeface="Arial" pitchFamily="34" charset="-122"/>
                <a:cs typeface="Arial" pitchFamily="34" charset="-120"/>
              </a:rPr>
              <a:t>~/.claude.json</a:t>
            </a:r>
            <a:endParaRPr lang="en-US" sz="600" dirty="0"/>
          </a:p>
        </p:txBody>
      </p:sp>
      <p:sp>
        <p:nvSpPr>
          <p:cNvPr id="22" name="Text 20"/>
          <p:cNvSpPr/>
          <p:nvPr/>
        </p:nvSpPr>
        <p:spPr>
          <a:xfrm>
            <a:off x="3933527" y="1543645"/>
            <a:ext cx="1467192" cy="106561"/>
          </a:xfrm>
          <a:prstGeom prst="rect">
            <a:avLst/>
          </a:prstGeom>
          <a:noFill/>
          <a:ln/>
        </p:spPr>
        <p:txBody>
          <a:bodyPr wrap="square" lIns="0" tIns="0" rIns="0" bIns="0" rtlCol="0" anchor="t"/>
          <a:lstStyle/>
          <a:p>
            <a:pPr marL="0" indent="0" algn="l">
              <a:lnSpc>
                <a:spcPts val="840"/>
              </a:lnSpc>
              <a:buNone/>
            </a:pPr>
            <a:r>
              <a:rPr lang="en-US" sz="600" dirty="0">
                <a:solidFill>
                  <a:srgbClr val="6B7280"/>
                </a:solidFill>
                <a:latin typeface="Arial" pitchFamily="34" charset="0"/>
                <a:ea typeface="Arial" pitchFamily="34" charset="-122"/>
                <a:cs typeface="Arial" pitchFamily="34" charset="-120"/>
              </a:rPr>
              <a:t>Private to you, current project only</a:t>
            </a:r>
            <a:endParaRPr lang="en-US" sz="600" dirty="0"/>
          </a:p>
        </p:txBody>
      </p:sp>
      <p:sp>
        <p:nvSpPr>
          <p:cNvPr id="23" name="Text 21"/>
          <p:cNvSpPr/>
          <p:nvPr/>
        </p:nvSpPr>
        <p:spPr>
          <a:xfrm>
            <a:off x="5543401" y="1103709"/>
            <a:ext cx="1628924" cy="641747"/>
          </a:xfrm>
          <a:prstGeom prst="rect">
            <a:avLst/>
          </a:prstGeom>
          <a:solidFill>
            <a:srgbClr val="FFFFFF"/>
          </a:solidFill>
          <a:ln/>
        </p:spPr>
        <p:txBody>
          <a:bodyPr wrap="square" rtlCol="0" anchor="ctr"/>
          <a:lstStyle/>
          <a:p>
            <a:pPr marL="0" indent="0">
              <a:buNone/>
            </a:pPr>
            <a:endParaRPr lang="en-US" dirty="0"/>
          </a:p>
        </p:txBody>
      </p:sp>
      <p:sp>
        <p:nvSpPr>
          <p:cNvPr id="24" name="Shape 22"/>
          <p:cNvSpPr/>
          <p:nvPr/>
        </p:nvSpPr>
        <p:spPr>
          <a:xfrm>
            <a:off x="5543401" y="1117997"/>
            <a:ext cx="1628924" cy="0"/>
          </a:xfrm>
          <a:prstGeom prst="line">
            <a:avLst/>
          </a:prstGeom>
          <a:noFill/>
          <a:ln w="28575">
            <a:solidFill>
              <a:srgbClr val="3B82F6"/>
            </a:solidFill>
            <a:prstDash val="solid"/>
          </a:ln>
        </p:spPr>
        <p:txBody>
          <a:bodyPr/>
          <a:lstStyle/>
          <a:p>
            <a:endParaRPr lang="en-US"/>
          </a:p>
        </p:txBody>
      </p:sp>
      <p:sp>
        <p:nvSpPr>
          <p:cNvPr id="25" name="Text 23"/>
          <p:cNvSpPr/>
          <p:nvPr/>
        </p:nvSpPr>
        <p:spPr>
          <a:xfrm>
            <a:off x="5638651" y="1227534"/>
            <a:ext cx="1467192"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3B82F6"/>
                </a:solidFill>
                <a:latin typeface="Arial" pitchFamily="34" charset="0"/>
                <a:ea typeface="Arial" pitchFamily="34" charset="-122"/>
                <a:cs typeface="Arial" pitchFamily="34" charset="-120"/>
              </a:rPr>
              <a:t>PROJECT</a:t>
            </a:r>
            <a:endParaRPr lang="en-US" sz="750" dirty="0"/>
          </a:p>
        </p:txBody>
      </p:sp>
      <p:sp>
        <p:nvSpPr>
          <p:cNvPr id="26" name="Text 24"/>
          <p:cNvSpPr/>
          <p:nvPr/>
        </p:nvSpPr>
        <p:spPr>
          <a:xfrm>
            <a:off x="5638651" y="1398984"/>
            <a:ext cx="1467192" cy="106561"/>
          </a:xfrm>
          <a:prstGeom prst="rect">
            <a:avLst/>
          </a:prstGeom>
          <a:noFill/>
          <a:ln/>
        </p:spPr>
        <p:txBody>
          <a:bodyPr wrap="square" lIns="0" tIns="0" rIns="0" bIns="0" rtlCol="0" anchor="t"/>
          <a:lstStyle/>
          <a:p>
            <a:pPr marL="0" indent="0" algn="l">
              <a:lnSpc>
                <a:spcPts val="840"/>
              </a:lnSpc>
              <a:spcAft>
                <a:spcPts val="300"/>
              </a:spcAft>
              <a:buNone/>
            </a:pPr>
            <a:r>
              <a:rPr lang="en-US" sz="600" dirty="0">
                <a:solidFill>
                  <a:srgbClr val="9CA3AF"/>
                </a:solidFill>
                <a:latin typeface="Arial" pitchFamily="34" charset="0"/>
                <a:ea typeface="Arial" pitchFamily="34" charset="-122"/>
                <a:cs typeface="Arial" pitchFamily="34" charset="-120"/>
              </a:rPr>
              <a:t>.claude/</a:t>
            </a:r>
            <a:endParaRPr lang="en-US" sz="600" dirty="0"/>
          </a:p>
        </p:txBody>
      </p:sp>
      <p:sp>
        <p:nvSpPr>
          <p:cNvPr id="27" name="Text 25"/>
          <p:cNvSpPr/>
          <p:nvPr/>
        </p:nvSpPr>
        <p:spPr>
          <a:xfrm>
            <a:off x="5638651" y="1543645"/>
            <a:ext cx="1467192" cy="106561"/>
          </a:xfrm>
          <a:prstGeom prst="rect">
            <a:avLst/>
          </a:prstGeom>
          <a:noFill/>
          <a:ln/>
        </p:spPr>
        <p:txBody>
          <a:bodyPr wrap="square" lIns="0" tIns="0" rIns="0" bIns="0" rtlCol="0" anchor="t"/>
          <a:lstStyle/>
          <a:p>
            <a:pPr marL="0" indent="0" algn="l">
              <a:lnSpc>
                <a:spcPts val="840"/>
              </a:lnSpc>
              <a:buNone/>
            </a:pPr>
            <a:r>
              <a:rPr lang="en-US" sz="600" dirty="0">
                <a:solidFill>
                  <a:srgbClr val="6B7280"/>
                </a:solidFill>
                <a:latin typeface="Arial" pitchFamily="34" charset="0"/>
                <a:ea typeface="Arial" pitchFamily="34" charset="-122"/>
                <a:cs typeface="Arial" pitchFamily="34" charset="-120"/>
              </a:rPr>
              <a:t>Shared via git with team</a:t>
            </a:r>
            <a:endParaRPr lang="en-US" sz="600" dirty="0"/>
          </a:p>
        </p:txBody>
      </p:sp>
      <p:sp>
        <p:nvSpPr>
          <p:cNvPr id="28" name="Text 26"/>
          <p:cNvSpPr/>
          <p:nvPr/>
        </p:nvSpPr>
        <p:spPr>
          <a:xfrm>
            <a:off x="7248525" y="1103709"/>
            <a:ext cx="1628924" cy="641747"/>
          </a:xfrm>
          <a:prstGeom prst="rect">
            <a:avLst/>
          </a:prstGeom>
          <a:solidFill>
            <a:srgbClr val="FFFFFF"/>
          </a:solidFill>
          <a:ln/>
        </p:spPr>
        <p:txBody>
          <a:bodyPr wrap="square" rtlCol="0" anchor="ctr"/>
          <a:lstStyle/>
          <a:p>
            <a:pPr marL="0" indent="0">
              <a:buNone/>
            </a:pPr>
            <a:endParaRPr lang="en-US" dirty="0"/>
          </a:p>
        </p:txBody>
      </p:sp>
      <p:sp>
        <p:nvSpPr>
          <p:cNvPr id="29" name="Shape 27"/>
          <p:cNvSpPr/>
          <p:nvPr/>
        </p:nvSpPr>
        <p:spPr>
          <a:xfrm>
            <a:off x="7248525" y="1117997"/>
            <a:ext cx="1628924" cy="0"/>
          </a:xfrm>
          <a:prstGeom prst="line">
            <a:avLst/>
          </a:prstGeom>
          <a:noFill/>
          <a:ln w="28575">
            <a:solidFill>
              <a:srgbClr val="7C3AED"/>
            </a:solidFill>
            <a:prstDash val="solid"/>
          </a:ln>
        </p:spPr>
        <p:txBody>
          <a:bodyPr/>
          <a:lstStyle/>
          <a:p>
            <a:endParaRPr lang="en-US"/>
          </a:p>
        </p:txBody>
      </p:sp>
      <p:sp>
        <p:nvSpPr>
          <p:cNvPr id="30" name="Text 28"/>
          <p:cNvSpPr/>
          <p:nvPr/>
        </p:nvSpPr>
        <p:spPr>
          <a:xfrm>
            <a:off x="7343775" y="1227534"/>
            <a:ext cx="1467192"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7C3AED"/>
                </a:solidFill>
                <a:latin typeface="Arial" pitchFamily="34" charset="0"/>
                <a:ea typeface="Arial" pitchFamily="34" charset="-122"/>
                <a:cs typeface="Arial" pitchFamily="34" charset="-120"/>
              </a:rPr>
              <a:t>GLOBAL</a:t>
            </a:r>
            <a:endParaRPr lang="en-US" sz="750" dirty="0"/>
          </a:p>
        </p:txBody>
      </p:sp>
      <p:sp>
        <p:nvSpPr>
          <p:cNvPr id="31" name="Text 29"/>
          <p:cNvSpPr/>
          <p:nvPr/>
        </p:nvSpPr>
        <p:spPr>
          <a:xfrm>
            <a:off x="7343775" y="1398984"/>
            <a:ext cx="1467192" cy="106561"/>
          </a:xfrm>
          <a:prstGeom prst="rect">
            <a:avLst/>
          </a:prstGeom>
          <a:noFill/>
          <a:ln/>
        </p:spPr>
        <p:txBody>
          <a:bodyPr wrap="square" lIns="0" tIns="0" rIns="0" bIns="0" rtlCol="0" anchor="t"/>
          <a:lstStyle/>
          <a:p>
            <a:pPr marL="0" indent="0" algn="l">
              <a:lnSpc>
                <a:spcPts val="840"/>
              </a:lnSpc>
              <a:spcAft>
                <a:spcPts val="300"/>
              </a:spcAft>
              <a:buNone/>
            </a:pPr>
            <a:r>
              <a:rPr lang="en-US" sz="600" dirty="0">
                <a:solidFill>
                  <a:srgbClr val="9CA3AF"/>
                </a:solidFill>
                <a:latin typeface="Arial" pitchFamily="34" charset="0"/>
                <a:ea typeface="Arial" pitchFamily="34" charset="-122"/>
                <a:cs typeface="Arial" pitchFamily="34" charset="-120"/>
              </a:rPr>
              <a:t>User config</a:t>
            </a:r>
            <a:endParaRPr lang="en-US" sz="600" dirty="0"/>
          </a:p>
        </p:txBody>
      </p:sp>
      <p:sp>
        <p:nvSpPr>
          <p:cNvPr id="32" name="Text 30"/>
          <p:cNvSpPr/>
          <p:nvPr/>
        </p:nvSpPr>
        <p:spPr>
          <a:xfrm>
            <a:off x="7343775" y="1543645"/>
            <a:ext cx="1467192" cy="106561"/>
          </a:xfrm>
          <a:prstGeom prst="rect">
            <a:avLst/>
          </a:prstGeom>
          <a:noFill/>
          <a:ln/>
        </p:spPr>
        <p:txBody>
          <a:bodyPr wrap="square" lIns="0" tIns="0" rIns="0" bIns="0" rtlCol="0" anchor="t"/>
          <a:lstStyle/>
          <a:p>
            <a:pPr marL="0" indent="0" algn="l">
              <a:lnSpc>
                <a:spcPts val="840"/>
              </a:lnSpc>
              <a:buNone/>
            </a:pPr>
            <a:r>
              <a:rPr lang="en-US" sz="600" dirty="0">
                <a:solidFill>
                  <a:srgbClr val="6B7280"/>
                </a:solidFill>
                <a:latin typeface="Arial" pitchFamily="34" charset="0"/>
                <a:ea typeface="Arial" pitchFamily="34" charset="-122"/>
                <a:cs typeface="Arial" pitchFamily="34" charset="-120"/>
              </a:rPr>
              <a:t>Available across all projects</a:t>
            </a:r>
            <a:endParaRPr lang="en-US" sz="600" dirty="0"/>
          </a:p>
        </p:txBody>
      </p:sp>
      <p:sp>
        <p:nvSpPr>
          <p:cNvPr id="33" name="Text 31"/>
          <p:cNvSpPr/>
          <p:nvPr/>
        </p:nvSpPr>
        <p:spPr>
          <a:xfrm>
            <a:off x="3838277" y="2012156"/>
            <a:ext cx="5039023" cy="1625947"/>
          </a:xfrm>
          <a:prstGeom prst="rect">
            <a:avLst/>
          </a:prstGeom>
          <a:solidFill>
            <a:srgbClr val="1A1F2E"/>
          </a:solidFill>
          <a:ln/>
        </p:spPr>
        <p:txBody>
          <a:bodyPr wrap="square" rtlCol="0" anchor="ctr"/>
          <a:lstStyle/>
          <a:p>
            <a:pPr marL="0" indent="0">
              <a:buNone/>
            </a:pPr>
            <a:endParaRPr lang="en-US" dirty="0"/>
          </a:p>
        </p:txBody>
      </p:sp>
      <p:sp>
        <p:nvSpPr>
          <p:cNvPr id="34" name="Text 32"/>
          <p:cNvSpPr/>
          <p:nvPr/>
        </p:nvSpPr>
        <p:spPr>
          <a:xfrm>
            <a:off x="3952577" y="2126456"/>
            <a:ext cx="4906631" cy="106561"/>
          </a:xfrm>
          <a:prstGeom prst="rect">
            <a:avLst/>
          </a:prstGeom>
          <a:noFill/>
          <a:ln/>
        </p:spPr>
        <p:txBody>
          <a:bodyPr wrap="square" lIns="0" tIns="0" rIns="0" bIns="0" rtlCol="0" anchor="t"/>
          <a:lstStyle/>
          <a:p>
            <a:pPr marL="0" indent="0" algn="l">
              <a:lnSpc>
                <a:spcPts val="840"/>
              </a:lnSpc>
              <a:spcAft>
                <a:spcPts val="450"/>
              </a:spcAft>
              <a:buNone/>
            </a:pPr>
            <a:r>
              <a:rPr lang="en-US" sz="600" dirty="0">
                <a:solidFill>
                  <a:srgbClr val="C9A227"/>
                </a:solidFill>
                <a:latin typeface="Arial" pitchFamily="34" charset="0"/>
                <a:ea typeface="Arial" pitchFamily="34" charset="-122"/>
                <a:cs typeface="Arial" pitchFamily="34" charset="-120"/>
              </a:rPr>
              <a:t>EXAMPLE: ADD GITHUB MCP</a:t>
            </a:r>
            <a:endParaRPr lang="en-US" sz="600" dirty="0"/>
          </a:p>
        </p:txBody>
      </p:sp>
      <p:sp>
        <p:nvSpPr>
          <p:cNvPr id="35" name="Text 33"/>
          <p:cNvSpPr/>
          <p:nvPr/>
        </p:nvSpPr>
        <p:spPr>
          <a:xfrm>
            <a:off x="3952577" y="2290167"/>
            <a:ext cx="4906631" cy="1233636"/>
          </a:xfrm>
          <a:prstGeom prst="rect">
            <a:avLst/>
          </a:prstGeom>
          <a:noFill/>
          <a:ln/>
        </p:spPr>
        <p:txBody>
          <a:bodyPr wrap="square" lIns="0" tIns="0" rIns="0" bIns="0" rtlCol="0" anchor="t"/>
          <a:lstStyle/>
          <a:p>
            <a:pPr marL="0" indent="0" algn="l">
              <a:lnSpc>
                <a:spcPts val="1080"/>
              </a:lnSpc>
              <a:buNone/>
            </a:pPr>
            <a:r>
              <a:rPr lang="en-US" sz="675" dirty="0">
                <a:solidFill>
                  <a:srgbClr val="9CA3AF">
                    <a:alpha val="80000"/>
                  </a:srgbClr>
                </a:solidFill>
                <a:latin typeface="Arial" pitchFamily="34" charset="0"/>
                <a:ea typeface="Arial" pitchFamily="34" charset="-122"/>
                <a:cs typeface="Arial" pitchFamily="34" charset="-120"/>
              </a:rPr>
              <a:t># In your claude config:</a:t>
            </a:r>
            <a:endParaRPr lang="en-US" sz="675" dirty="0"/>
          </a:p>
          <a:p>
            <a:pPr marL="0" indent="0" algn="l">
              <a:lnSpc>
                <a:spcPts val="1080"/>
              </a:lnSpc>
              <a:buNone/>
            </a:pPr>
            <a:r>
              <a:rPr lang="en-US" sz="675" dirty="0">
                <a:solidFill>
                  <a:srgbClr val="FFFFFF">
                    <a:alpha val="80000"/>
                  </a:srgbClr>
                </a:solidFill>
                <a:latin typeface="Arial" pitchFamily="34" charset="0"/>
                <a:ea typeface="Arial" pitchFamily="34" charset="-122"/>
                <a:cs typeface="Arial" pitchFamily="34" charset="-120"/>
              </a:rPr>
              <a:t> {</a:t>
            </a:r>
            <a:endParaRPr lang="en-US" sz="675" dirty="0"/>
          </a:p>
          <a:p>
            <a:pPr marL="0" indent="0" algn="l">
              <a:lnSpc>
                <a:spcPts val="1080"/>
              </a:lnSpc>
              <a:buNone/>
            </a:pPr>
            <a:r>
              <a:rPr lang="en-US" sz="675" dirty="0">
                <a:solidFill>
                  <a:srgbClr val="FFFFFF">
                    <a:alpha val="80000"/>
                  </a:srgbClr>
                </a:solidFill>
                <a:latin typeface="Arial" pitchFamily="34" charset="0"/>
                <a:ea typeface="Arial" pitchFamily="34" charset="-122"/>
                <a:cs typeface="Arial" pitchFamily="34" charset="-120"/>
              </a:rPr>
              <a:t> "mcpServers": {</a:t>
            </a:r>
            <a:endParaRPr lang="en-US" sz="675" dirty="0"/>
          </a:p>
          <a:p>
            <a:pPr marL="0" indent="0" algn="l">
              <a:lnSpc>
                <a:spcPts val="1080"/>
              </a:lnSpc>
              <a:buNone/>
            </a:pPr>
            <a:r>
              <a:rPr lang="en-US" sz="675" dirty="0">
                <a:solidFill>
                  <a:srgbClr val="FFFFFF">
                    <a:alpha val="80000"/>
                  </a:srgbClr>
                </a:solidFill>
                <a:latin typeface="Arial" pitchFamily="34" charset="0"/>
                <a:ea typeface="Arial" pitchFamily="34" charset="-122"/>
                <a:cs typeface="Arial" pitchFamily="34" charset="-120"/>
              </a:rPr>
              <a:t> "github": {</a:t>
            </a:r>
            <a:endParaRPr lang="en-US" sz="675" dirty="0"/>
          </a:p>
          <a:p>
            <a:pPr marL="0" indent="0" algn="l">
              <a:lnSpc>
                <a:spcPts val="1080"/>
              </a:lnSpc>
              <a:buNone/>
            </a:pPr>
            <a:r>
              <a:rPr lang="en-US" sz="675" dirty="0">
                <a:solidFill>
                  <a:srgbClr val="FFFFFF">
                    <a:alpha val="80000"/>
                  </a:srgbClr>
                </a:solidFill>
                <a:latin typeface="Arial" pitchFamily="34" charset="0"/>
                <a:ea typeface="Arial" pitchFamily="34" charset="-122"/>
                <a:cs typeface="Arial" pitchFamily="34" charset="-120"/>
              </a:rPr>
              <a:t> "command": "npx",</a:t>
            </a:r>
            <a:endParaRPr lang="en-US" sz="675" dirty="0"/>
          </a:p>
          <a:p>
            <a:pPr marL="0" indent="0" algn="l">
              <a:lnSpc>
                <a:spcPts val="1080"/>
              </a:lnSpc>
              <a:buNone/>
            </a:pPr>
            <a:r>
              <a:rPr lang="en-US" sz="675" dirty="0">
                <a:solidFill>
                  <a:srgbClr val="FFFFFF">
                    <a:alpha val="80000"/>
                  </a:srgbClr>
                </a:solidFill>
                <a:latin typeface="Arial" pitchFamily="34" charset="0"/>
                <a:ea typeface="Arial" pitchFamily="34" charset="-122"/>
                <a:cs typeface="Arial" pitchFamily="34" charset="-120"/>
              </a:rPr>
              <a:t> "args": ["@anthropic/mcp-github"]</a:t>
            </a:r>
            <a:endParaRPr lang="en-US" sz="675" dirty="0"/>
          </a:p>
          <a:p>
            <a:pPr marL="0" indent="0" algn="l">
              <a:lnSpc>
                <a:spcPts val="1080"/>
              </a:lnSpc>
              <a:buNone/>
            </a:pPr>
            <a:r>
              <a:rPr lang="en-US" sz="675" dirty="0">
                <a:solidFill>
                  <a:srgbClr val="FFFFFF">
                    <a:alpha val="80000"/>
                  </a:srgbClr>
                </a:solidFill>
                <a:latin typeface="Arial" pitchFamily="34" charset="0"/>
                <a:ea typeface="Arial" pitchFamily="34" charset="-122"/>
                <a:cs typeface="Arial" pitchFamily="34" charset="-120"/>
              </a:rPr>
              <a:t> }</a:t>
            </a:r>
            <a:endParaRPr lang="en-US" sz="675" dirty="0"/>
          </a:p>
          <a:p>
            <a:pPr marL="0" indent="0" algn="l">
              <a:lnSpc>
                <a:spcPts val="1080"/>
              </a:lnSpc>
              <a:buNone/>
            </a:pPr>
            <a:r>
              <a:rPr lang="en-US" sz="675" dirty="0">
                <a:solidFill>
                  <a:srgbClr val="FFFFFF">
                    <a:alpha val="80000"/>
                  </a:srgbClr>
                </a:solidFill>
                <a:latin typeface="Arial" pitchFamily="34" charset="0"/>
                <a:ea typeface="Arial" pitchFamily="34" charset="-122"/>
                <a:cs typeface="Arial" pitchFamily="34" charset="-120"/>
              </a:rPr>
              <a:t> }</a:t>
            </a:r>
            <a:endParaRPr lang="en-US" sz="675" dirty="0"/>
          </a:p>
          <a:p>
            <a:pPr marL="0" indent="0" algn="l">
              <a:lnSpc>
                <a:spcPts val="1080"/>
              </a:lnSpc>
              <a:buNone/>
            </a:pPr>
            <a:r>
              <a:rPr lang="en-US" sz="675" dirty="0">
                <a:solidFill>
                  <a:srgbClr val="FFFFFF">
                    <a:alpha val="80000"/>
                  </a:srgbClr>
                </a:solidFill>
                <a:latin typeface="Arial" pitchFamily="34" charset="0"/>
                <a:ea typeface="Arial" pitchFamily="34" charset="-122"/>
                <a:cs typeface="Arial" pitchFamily="34" charset="-120"/>
              </a:rPr>
              <a:t> }</a:t>
            </a:r>
            <a:endParaRPr lang="en-US" sz="675" dirty="0"/>
          </a:p>
        </p:txBody>
      </p:sp>
      <p:sp>
        <p:nvSpPr>
          <p:cNvPr id="36" name="Text 34"/>
          <p:cNvSpPr/>
          <p:nvPr/>
        </p:nvSpPr>
        <p:spPr>
          <a:xfrm>
            <a:off x="3838277" y="3939034"/>
            <a:ext cx="2481411" cy="455116"/>
          </a:xfrm>
          <a:prstGeom prst="rect">
            <a:avLst/>
          </a:prstGeom>
          <a:solidFill>
            <a:srgbClr val="DCFCE7"/>
          </a:solidFill>
          <a:ln/>
        </p:spPr>
        <p:txBody>
          <a:bodyPr wrap="square" rtlCol="0" anchor="ctr"/>
          <a:lstStyle/>
          <a:p>
            <a:pPr marL="0" indent="0">
              <a:buNone/>
            </a:pPr>
            <a:endParaRPr lang="en-US" dirty="0"/>
          </a:p>
        </p:txBody>
      </p:sp>
      <p:sp>
        <p:nvSpPr>
          <p:cNvPr id="37" name="Shape 35"/>
          <p:cNvSpPr/>
          <p:nvPr/>
        </p:nvSpPr>
        <p:spPr>
          <a:xfrm>
            <a:off x="3852565" y="3939034"/>
            <a:ext cx="0" cy="455116"/>
          </a:xfrm>
          <a:prstGeom prst="line">
            <a:avLst/>
          </a:prstGeom>
          <a:noFill/>
          <a:ln w="28575">
            <a:solidFill>
              <a:srgbClr val="059669"/>
            </a:solidFill>
            <a:prstDash val="solid"/>
          </a:ln>
        </p:spPr>
        <p:txBody>
          <a:bodyPr/>
          <a:lstStyle/>
          <a:p>
            <a:endParaRPr lang="en-US"/>
          </a:p>
        </p:txBody>
      </p:sp>
      <p:sp>
        <p:nvSpPr>
          <p:cNvPr id="38" name="Text 36"/>
          <p:cNvSpPr/>
          <p:nvPr/>
        </p:nvSpPr>
        <p:spPr>
          <a:xfrm>
            <a:off x="3962102" y="4034284"/>
            <a:ext cx="2307583" cy="119955"/>
          </a:xfrm>
          <a:prstGeom prst="rect">
            <a:avLst/>
          </a:prstGeom>
          <a:noFill/>
          <a:ln/>
        </p:spPr>
        <p:txBody>
          <a:bodyPr wrap="square" lIns="0" tIns="0" rIns="0" bIns="0" rtlCol="0" anchor="t"/>
          <a:lstStyle/>
          <a:p>
            <a:pPr marL="0" indent="0" algn="l">
              <a:lnSpc>
                <a:spcPts val="945"/>
              </a:lnSpc>
              <a:spcAft>
                <a:spcPts val="300"/>
              </a:spcAft>
              <a:buNone/>
            </a:pPr>
            <a:r>
              <a:rPr lang="en-US" sz="675" b="1" dirty="0">
                <a:solidFill>
                  <a:srgbClr val="166534"/>
                </a:solidFill>
                <a:latin typeface="Arial" pitchFamily="34" charset="0"/>
                <a:ea typeface="Arial" pitchFamily="34" charset="-122"/>
                <a:cs typeface="Arial" pitchFamily="34" charset="-120"/>
              </a:rPr>
              <a:t>POPULAR SERVERS</a:t>
            </a:r>
            <a:endParaRPr lang="en-US" sz="675" dirty="0"/>
          </a:p>
        </p:txBody>
      </p:sp>
      <p:sp>
        <p:nvSpPr>
          <p:cNvPr id="39" name="Text 37"/>
          <p:cNvSpPr/>
          <p:nvPr/>
        </p:nvSpPr>
        <p:spPr>
          <a:xfrm>
            <a:off x="3962102" y="4192339"/>
            <a:ext cx="2307583" cy="106561"/>
          </a:xfrm>
          <a:prstGeom prst="rect">
            <a:avLst/>
          </a:prstGeom>
          <a:noFill/>
          <a:ln/>
        </p:spPr>
        <p:txBody>
          <a:bodyPr wrap="square" lIns="0" tIns="0" rIns="0" bIns="0" rtlCol="0" anchor="t"/>
          <a:lstStyle/>
          <a:p>
            <a:pPr marL="0" indent="0" algn="l">
              <a:lnSpc>
                <a:spcPts val="840"/>
              </a:lnSpc>
              <a:buNone/>
            </a:pPr>
            <a:r>
              <a:rPr lang="en-US" sz="600" dirty="0">
                <a:solidFill>
                  <a:srgbClr val="166534"/>
                </a:solidFill>
                <a:latin typeface="Arial" pitchFamily="34" charset="0"/>
                <a:ea typeface="Arial" pitchFamily="34" charset="-122"/>
                <a:cs typeface="Arial" pitchFamily="34" charset="-120"/>
              </a:rPr>
              <a:t>GitHub, PostgreSQL, Slack, Notion, Google Drive, Linear</a:t>
            </a:r>
            <a:endParaRPr lang="en-US" sz="600" dirty="0"/>
          </a:p>
        </p:txBody>
      </p:sp>
      <p:sp>
        <p:nvSpPr>
          <p:cNvPr id="40" name="Text 38"/>
          <p:cNvSpPr/>
          <p:nvPr/>
        </p:nvSpPr>
        <p:spPr>
          <a:xfrm>
            <a:off x="6395889" y="3885754"/>
            <a:ext cx="2481411" cy="561677"/>
          </a:xfrm>
          <a:prstGeom prst="rect">
            <a:avLst/>
          </a:prstGeom>
          <a:solidFill>
            <a:srgbClr val="FEF3C7"/>
          </a:solidFill>
          <a:ln/>
        </p:spPr>
        <p:txBody>
          <a:bodyPr wrap="square" rtlCol="0" anchor="ctr"/>
          <a:lstStyle/>
          <a:p>
            <a:pPr marL="0" indent="0">
              <a:buNone/>
            </a:pPr>
            <a:endParaRPr lang="en-US" dirty="0"/>
          </a:p>
        </p:txBody>
      </p:sp>
      <p:sp>
        <p:nvSpPr>
          <p:cNvPr id="41" name="Shape 39"/>
          <p:cNvSpPr/>
          <p:nvPr/>
        </p:nvSpPr>
        <p:spPr>
          <a:xfrm>
            <a:off x="6410176" y="3885754"/>
            <a:ext cx="0" cy="561677"/>
          </a:xfrm>
          <a:prstGeom prst="line">
            <a:avLst/>
          </a:prstGeom>
          <a:noFill/>
          <a:ln w="28575">
            <a:solidFill>
              <a:srgbClr val="F59E0B"/>
            </a:solidFill>
            <a:prstDash val="solid"/>
          </a:ln>
        </p:spPr>
        <p:txBody>
          <a:bodyPr/>
          <a:lstStyle/>
          <a:p>
            <a:endParaRPr lang="en-US"/>
          </a:p>
        </p:txBody>
      </p:sp>
      <p:sp>
        <p:nvSpPr>
          <p:cNvPr id="42" name="Text 40"/>
          <p:cNvSpPr/>
          <p:nvPr/>
        </p:nvSpPr>
        <p:spPr>
          <a:xfrm>
            <a:off x="6519714" y="3981004"/>
            <a:ext cx="2307583" cy="119955"/>
          </a:xfrm>
          <a:prstGeom prst="rect">
            <a:avLst/>
          </a:prstGeom>
          <a:noFill/>
          <a:ln/>
        </p:spPr>
        <p:txBody>
          <a:bodyPr wrap="square" lIns="0" tIns="0" rIns="0" bIns="0" rtlCol="0" anchor="t"/>
          <a:lstStyle/>
          <a:p>
            <a:pPr marL="0" indent="0" algn="l">
              <a:lnSpc>
                <a:spcPts val="945"/>
              </a:lnSpc>
              <a:spcAft>
                <a:spcPts val="300"/>
              </a:spcAft>
              <a:buNone/>
            </a:pPr>
            <a:r>
              <a:rPr lang="en-US" sz="675" b="1" dirty="0">
                <a:solidFill>
                  <a:srgbClr val="92400E"/>
                </a:solidFill>
                <a:latin typeface="Arial" pitchFamily="34" charset="0"/>
                <a:ea typeface="Arial" pitchFamily="34" charset="-122"/>
                <a:cs typeface="Arial" pitchFamily="34" charset="-120"/>
              </a:rPr>
              <a:t>SECURITY NOTE</a:t>
            </a:r>
            <a:endParaRPr lang="en-US" sz="675" dirty="0"/>
          </a:p>
        </p:txBody>
      </p:sp>
      <p:sp>
        <p:nvSpPr>
          <p:cNvPr id="43" name="Text 41"/>
          <p:cNvSpPr/>
          <p:nvPr/>
        </p:nvSpPr>
        <p:spPr>
          <a:xfrm>
            <a:off x="6519714" y="4139059"/>
            <a:ext cx="2307583" cy="213122"/>
          </a:xfrm>
          <a:prstGeom prst="rect">
            <a:avLst/>
          </a:prstGeom>
          <a:noFill/>
          <a:ln/>
        </p:spPr>
        <p:txBody>
          <a:bodyPr wrap="square" lIns="0" tIns="0" rIns="0" bIns="0" rtlCol="0" anchor="t"/>
          <a:lstStyle/>
          <a:p>
            <a:pPr marL="0" indent="0" algn="l">
              <a:lnSpc>
                <a:spcPts val="840"/>
              </a:lnSpc>
              <a:buNone/>
            </a:pPr>
            <a:r>
              <a:rPr lang="en-US" sz="600" dirty="0">
                <a:solidFill>
                  <a:srgbClr val="92400E"/>
                </a:solidFill>
                <a:latin typeface="Arial" pitchFamily="34" charset="0"/>
                <a:ea typeface="Arial" pitchFamily="34" charset="-122"/>
                <a:cs typeface="Arial" pitchFamily="34" charset="-120"/>
              </a:rPr>
              <a:t>MCP servers can access external data — review permissions carefully</a:t>
            </a:r>
            <a:endParaRPr lang="en-US" sz="6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0" y="0"/>
            <a:ext cx="3419177" cy="5143500"/>
          </a:xfrm>
          <a:prstGeom prst="rect">
            <a:avLst/>
          </a:prstGeom>
          <a:solidFill>
            <a:srgbClr val="1A1F2E"/>
          </a:solidFill>
          <a:ln/>
        </p:spPr>
        <p:txBody>
          <a:bodyPr wrap="square" rtlCol="0" anchor="ctr"/>
          <a:lstStyle/>
          <a:p>
            <a:pPr marL="0" indent="0">
              <a:buNone/>
            </a:pPr>
            <a:endParaRPr lang="en-US" dirty="0"/>
          </a:p>
        </p:txBody>
      </p:sp>
      <p:sp>
        <p:nvSpPr>
          <p:cNvPr id="3" name="Text 1"/>
          <p:cNvSpPr/>
          <p:nvPr/>
        </p:nvSpPr>
        <p:spPr>
          <a:xfrm>
            <a:off x="266700" y="266700"/>
            <a:ext cx="692944" cy="201811"/>
          </a:xfrm>
          <a:prstGeom prst="rect">
            <a:avLst/>
          </a:prstGeom>
          <a:solidFill>
            <a:srgbClr val="D97706"/>
          </a:solidFill>
          <a:ln/>
        </p:spPr>
        <p:txBody>
          <a:bodyPr wrap="square" rtlCol="0" anchor="ctr"/>
          <a:lstStyle/>
          <a:p>
            <a:pPr marL="0" indent="0">
              <a:buNone/>
            </a:pPr>
            <a:endParaRPr lang="en-US" dirty="0"/>
          </a:p>
        </p:txBody>
      </p:sp>
      <p:sp>
        <p:nvSpPr>
          <p:cNvPr id="4" name="Text 2"/>
          <p:cNvSpPr/>
          <p:nvPr/>
        </p:nvSpPr>
        <p:spPr>
          <a:xfrm>
            <a:off x="361950" y="314325"/>
            <a:ext cx="512493" cy="106561"/>
          </a:xfrm>
          <a:prstGeom prst="rect">
            <a:avLst/>
          </a:prstGeom>
          <a:noFill/>
          <a:ln/>
        </p:spPr>
        <p:txBody>
          <a:bodyPr wrap="square" lIns="0" tIns="0" rIns="0" bIns="0" rtlCol="0" anchor="t"/>
          <a:lstStyle/>
          <a:p>
            <a:pPr marL="0" indent="0" algn="l">
              <a:lnSpc>
                <a:spcPts val="840"/>
              </a:lnSpc>
              <a:buNone/>
            </a:pPr>
            <a:r>
              <a:rPr lang="en-US" sz="600" b="1" dirty="0">
                <a:solidFill>
                  <a:srgbClr val="1A1F2E"/>
                </a:solidFill>
                <a:latin typeface="Arial" pitchFamily="34" charset="0"/>
                <a:ea typeface="Arial" pitchFamily="34" charset="-122"/>
                <a:cs typeface="Arial" pitchFamily="34" charset="-120"/>
              </a:rPr>
              <a:t>ADVANCED</a:t>
            </a:r>
            <a:endParaRPr lang="en-US" sz="600" dirty="0"/>
          </a:p>
        </p:txBody>
      </p:sp>
      <p:sp>
        <p:nvSpPr>
          <p:cNvPr id="5" name="Text 3"/>
          <p:cNvSpPr/>
          <p:nvPr/>
        </p:nvSpPr>
        <p:spPr>
          <a:xfrm>
            <a:off x="266700" y="716161"/>
            <a:ext cx="1476756" cy="297061"/>
          </a:xfrm>
          <a:prstGeom prst="rect">
            <a:avLst/>
          </a:prstGeom>
          <a:noFill/>
          <a:ln/>
        </p:spPr>
        <p:txBody>
          <a:bodyPr wrap="square" lIns="0" tIns="0" rIns="0" bIns="0" rtlCol="0" anchor="t"/>
          <a:lstStyle/>
          <a:p>
            <a:pPr marL="0" indent="0" algn="l">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Hooks</a:t>
            </a:r>
            <a:endParaRPr lang="en-US" sz="1950" dirty="0"/>
          </a:p>
        </p:txBody>
      </p:sp>
      <p:sp>
        <p:nvSpPr>
          <p:cNvPr id="6" name="Text 4"/>
          <p:cNvSpPr/>
          <p:nvPr/>
        </p:nvSpPr>
        <p:spPr>
          <a:xfrm>
            <a:off x="266700" y="1260872"/>
            <a:ext cx="381000" cy="19050"/>
          </a:xfrm>
          <a:prstGeom prst="rect">
            <a:avLst/>
          </a:prstGeom>
          <a:solidFill>
            <a:srgbClr val="C9A227"/>
          </a:solidFill>
          <a:ln/>
        </p:spPr>
        <p:txBody>
          <a:bodyPr wrap="square" rtlCol="0" anchor="ctr"/>
          <a:lstStyle/>
          <a:p>
            <a:pPr marL="0" indent="0">
              <a:buNone/>
            </a:pPr>
            <a:endParaRPr lang="en-US" dirty="0"/>
          </a:p>
        </p:txBody>
      </p:sp>
      <p:sp>
        <p:nvSpPr>
          <p:cNvPr id="7" name="Text 5"/>
          <p:cNvSpPr/>
          <p:nvPr/>
        </p:nvSpPr>
        <p:spPr>
          <a:xfrm>
            <a:off x="266700" y="1565672"/>
            <a:ext cx="2885777" cy="685800"/>
          </a:xfrm>
          <a:prstGeom prst="rect">
            <a:avLst/>
          </a:prstGeom>
          <a:solidFill>
            <a:srgbClr val="D97706">
              <a:alpha val="15000"/>
            </a:srgbClr>
          </a:solidFill>
          <a:ln/>
        </p:spPr>
        <p:txBody>
          <a:bodyPr wrap="square" rtlCol="0" anchor="ctr"/>
          <a:lstStyle/>
          <a:p>
            <a:pPr marL="0" indent="0">
              <a:buNone/>
            </a:pPr>
            <a:endParaRPr lang="en-US" dirty="0"/>
          </a:p>
        </p:txBody>
      </p:sp>
      <p:sp>
        <p:nvSpPr>
          <p:cNvPr id="8" name="Shape 6"/>
          <p:cNvSpPr/>
          <p:nvPr/>
        </p:nvSpPr>
        <p:spPr>
          <a:xfrm>
            <a:off x="280988" y="1565672"/>
            <a:ext cx="0" cy="685800"/>
          </a:xfrm>
          <a:prstGeom prst="line">
            <a:avLst/>
          </a:prstGeom>
          <a:noFill/>
          <a:ln w="28575">
            <a:solidFill>
              <a:srgbClr val="D97706"/>
            </a:solidFill>
            <a:prstDash val="solid"/>
          </a:ln>
        </p:spPr>
        <p:txBody>
          <a:bodyPr/>
          <a:lstStyle/>
          <a:p>
            <a:endParaRPr lang="en-US"/>
          </a:p>
        </p:txBody>
      </p:sp>
      <p:sp>
        <p:nvSpPr>
          <p:cNvPr id="9" name="Text 7"/>
          <p:cNvSpPr/>
          <p:nvPr/>
        </p:nvSpPr>
        <p:spPr>
          <a:xfrm>
            <a:off x="409575" y="1679972"/>
            <a:ext cx="2681174"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FBBF24"/>
                </a:solidFill>
                <a:latin typeface="Arial" pitchFamily="34" charset="0"/>
                <a:ea typeface="Arial" pitchFamily="34" charset="-122"/>
                <a:cs typeface="Arial" pitchFamily="34" charset="-120"/>
              </a:rPr>
              <a:t>WHAT THEY ARE</a:t>
            </a:r>
            <a:endParaRPr lang="en-US" sz="750" dirty="0"/>
          </a:p>
        </p:txBody>
      </p:sp>
      <p:sp>
        <p:nvSpPr>
          <p:cNvPr id="10" name="Text 8"/>
          <p:cNvSpPr/>
          <p:nvPr/>
        </p:nvSpPr>
        <p:spPr>
          <a:xfrm>
            <a:off x="409575" y="1851422"/>
            <a:ext cx="2681174" cy="285750"/>
          </a:xfrm>
          <a:prstGeom prst="rect">
            <a:avLst/>
          </a:prstGeom>
          <a:noFill/>
          <a:ln/>
        </p:spPr>
        <p:txBody>
          <a:bodyPr wrap="square" lIns="0" tIns="0" rIns="0" bIns="0" rtlCol="0" anchor="t"/>
          <a:lstStyle/>
          <a:p>
            <a:pPr marL="0" indent="0" algn="l">
              <a:lnSpc>
                <a:spcPts val="1125"/>
              </a:lnSpc>
              <a:buNone/>
            </a:pPr>
            <a:r>
              <a:rPr lang="en-US" sz="750" dirty="0">
                <a:solidFill>
                  <a:srgbClr val="FFFFFF">
                    <a:alpha val="80000"/>
                  </a:srgbClr>
                </a:solidFill>
                <a:latin typeface="Arial" pitchFamily="34" charset="0"/>
                <a:ea typeface="Arial" pitchFamily="34" charset="-122"/>
                <a:cs typeface="Arial" pitchFamily="34" charset="-120"/>
              </a:rPr>
              <a:t>Deterministic code that runs at specific points in Claude's execution pipeline.</a:t>
            </a:r>
            <a:endParaRPr lang="en-US" sz="750" dirty="0"/>
          </a:p>
        </p:txBody>
      </p:sp>
      <p:sp>
        <p:nvSpPr>
          <p:cNvPr id="11" name="Text 9"/>
          <p:cNvSpPr/>
          <p:nvPr/>
        </p:nvSpPr>
        <p:spPr>
          <a:xfrm>
            <a:off x="266700" y="2537222"/>
            <a:ext cx="2885777" cy="967383"/>
          </a:xfrm>
          <a:prstGeom prst="rect">
            <a:avLst/>
          </a:prstGeom>
          <a:solidFill>
            <a:srgbClr val="FFFFFF">
              <a:alpha val="5000"/>
            </a:srgbClr>
          </a:solidFill>
          <a:ln/>
        </p:spPr>
        <p:txBody>
          <a:bodyPr wrap="square" rtlCol="0" anchor="ctr"/>
          <a:lstStyle/>
          <a:p>
            <a:pPr marL="0" indent="0">
              <a:buNone/>
            </a:pPr>
            <a:endParaRPr lang="en-US" dirty="0"/>
          </a:p>
        </p:txBody>
      </p:sp>
      <p:sp>
        <p:nvSpPr>
          <p:cNvPr id="12" name="Text 10"/>
          <p:cNvSpPr/>
          <p:nvPr/>
        </p:nvSpPr>
        <p:spPr>
          <a:xfrm>
            <a:off x="381000" y="2651522"/>
            <a:ext cx="2710321" cy="133350"/>
          </a:xfrm>
          <a:prstGeom prst="rect">
            <a:avLst/>
          </a:prstGeom>
          <a:noFill/>
          <a:ln/>
        </p:spPr>
        <p:txBody>
          <a:bodyPr wrap="square" lIns="0" tIns="0" rIns="0" bIns="0" rtlCol="0" anchor="t"/>
          <a:lstStyle/>
          <a:p>
            <a:pPr marL="0" indent="0" algn="l">
              <a:lnSpc>
                <a:spcPts val="1050"/>
              </a:lnSpc>
              <a:spcAft>
                <a:spcPts val="450"/>
              </a:spcAft>
              <a:buNone/>
            </a:pPr>
            <a:r>
              <a:rPr lang="en-US" sz="750" b="1" dirty="0">
                <a:solidFill>
                  <a:srgbClr val="FFFFFF"/>
                </a:solidFill>
                <a:latin typeface="Arial" pitchFamily="34" charset="0"/>
                <a:ea typeface="Arial" pitchFamily="34" charset="-122"/>
                <a:cs typeface="Arial" pitchFamily="34" charset="-120"/>
              </a:rPr>
              <a:t>WHY USE HOOKS</a:t>
            </a:r>
            <a:endParaRPr lang="en-US" sz="750" dirty="0"/>
          </a:p>
        </p:txBody>
      </p:sp>
      <p:sp>
        <p:nvSpPr>
          <p:cNvPr id="13" name="Text 11"/>
          <p:cNvSpPr/>
          <p:nvPr/>
        </p:nvSpPr>
        <p:spPr>
          <a:xfrm>
            <a:off x="381000" y="2842022"/>
            <a:ext cx="2710321" cy="548283"/>
          </a:xfrm>
          <a:prstGeom prst="rect">
            <a:avLst/>
          </a:prstGeom>
          <a:noFill/>
          <a:ln/>
        </p:spPr>
        <p:txBody>
          <a:bodyPr wrap="square" lIns="0" tIns="0" rIns="0" bIns="0" rtlCol="0" anchor="t"/>
          <a:lstStyle/>
          <a:p>
            <a:pPr marL="0" indent="0" algn="l">
              <a:lnSpc>
                <a:spcPts val="1080"/>
              </a:lnSpc>
              <a:buNone/>
            </a:pPr>
            <a:r>
              <a:rPr lang="en-US" sz="675" dirty="0">
                <a:solidFill>
                  <a:srgbClr val="FFFFFF">
                    <a:alpha val="60000"/>
                  </a:srgbClr>
                </a:solidFill>
                <a:latin typeface="Arial" pitchFamily="34" charset="0"/>
                <a:ea typeface="Arial" pitchFamily="34" charset="-122"/>
                <a:cs typeface="Arial" pitchFamily="34" charset="-120"/>
              </a:rPr>
              <a:t>Transparency &amp; auditability</a:t>
            </a:r>
            <a:endParaRPr lang="en-US" sz="675" dirty="0"/>
          </a:p>
          <a:p>
            <a:pPr marL="0" indent="0" algn="l">
              <a:lnSpc>
                <a:spcPts val="1080"/>
              </a:lnSpc>
              <a:buNone/>
            </a:pPr>
            <a:r>
              <a:rPr lang="en-US" sz="675" dirty="0">
                <a:solidFill>
                  <a:srgbClr val="FFFFFF">
                    <a:alpha val="60000"/>
                  </a:srgbClr>
                </a:solidFill>
                <a:latin typeface="Arial" pitchFamily="34" charset="0"/>
                <a:ea typeface="Arial" pitchFamily="34" charset="-122"/>
                <a:cs typeface="Arial" pitchFamily="34" charset="-120"/>
              </a:rPr>
              <a:t> Security enforcement</a:t>
            </a:r>
            <a:endParaRPr lang="en-US" sz="675" dirty="0"/>
          </a:p>
          <a:p>
            <a:pPr marL="0" indent="0" algn="l">
              <a:lnSpc>
                <a:spcPts val="1080"/>
              </a:lnSpc>
              <a:buNone/>
            </a:pPr>
            <a:r>
              <a:rPr lang="en-US" sz="675" dirty="0">
                <a:solidFill>
                  <a:srgbClr val="FFFFFF">
                    <a:alpha val="60000"/>
                  </a:srgbClr>
                </a:solidFill>
                <a:latin typeface="Arial" pitchFamily="34" charset="0"/>
                <a:ea typeface="Arial" pitchFamily="34" charset="-122"/>
                <a:cs typeface="Arial" pitchFamily="34" charset="-120"/>
              </a:rPr>
              <a:t> Cost tracking</a:t>
            </a:r>
            <a:endParaRPr lang="en-US" sz="675" dirty="0"/>
          </a:p>
          <a:p>
            <a:pPr marL="0" indent="0" algn="l">
              <a:lnSpc>
                <a:spcPts val="1080"/>
              </a:lnSpc>
              <a:buNone/>
            </a:pPr>
            <a:r>
              <a:rPr lang="en-US" sz="675" dirty="0">
                <a:solidFill>
                  <a:srgbClr val="FFFFFF">
                    <a:alpha val="60000"/>
                  </a:srgbClr>
                </a:solidFill>
                <a:latin typeface="Arial" pitchFamily="34" charset="0"/>
                <a:ea typeface="Arial" pitchFamily="34" charset="-122"/>
                <a:cs typeface="Arial" pitchFamily="34" charset="-120"/>
              </a:rPr>
              <a:t> Policy compliance</a:t>
            </a:r>
            <a:endParaRPr lang="en-US" sz="675" dirty="0"/>
          </a:p>
        </p:txBody>
      </p:sp>
      <p:sp>
        <p:nvSpPr>
          <p:cNvPr id="14" name="Text 12"/>
          <p:cNvSpPr/>
          <p:nvPr/>
        </p:nvSpPr>
        <p:spPr>
          <a:xfrm>
            <a:off x="266700" y="4566345"/>
            <a:ext cx="2885777" cy="310455"/>
          </a:xfrm>
          <a:prstGeom prst="rect">
            <a:avLst/>
          </a:prstGeom>
          <a:solidFill>
            <a:srgbClr val="C9A227"/>
          </a:solidFill>
          <a:ln/>
        </p:spPr>
        <p:txBody>
          <a:bodyPr wrap="square" rtlCol="0" anchor="ctr"/>
          <a:lstStyle/>
          <a:p>
            <a:pPr marL="0" indent="0">
              <a:buNone/>
            </a:pPr>
            <a:endParaRPr lang="en-US" dirty="0"/>
          </a:p>
        </p:txBody>
      </p:sp>
      <p:sp>
        <p:nvSpPr>
          <p:cNvPr id="15" name="Text 13"/>
          <p:cNvSpPr/>
          <p:nvPr/>
        </p:nvSpPr>
        <p:spPr>
          <a:xfrm>
            <a:off x="334997" y="4661595"/>
            <a:ext cx="2749183" cy="119955"/>
          </a:xfrm>
          <a:prstGeom prst="rect">
            <a:avLst/>
          </a:prstGeom>
          <a:noFill/>
          <a:ln/>
        </p:spPr>
        <p:txBody>
          <a:bodyPr wrap="square" lIns="0" tIns="0" rIns="0" bIns="0" rtlCol="0" anchor="t"/>
          <a:lstStyle/>
          <a:p>
            <a:pPr marL="0" indent="0" algn="ctr">
              <a:lnSpc>
                <a:spcPts val="945"/>
              </a:lnSpc>
              <a:buNone/>
            </a:pPr>
            <a:r>
              <a:rPr lang="en-US" sz="675" b="1" dirty="0">
                <a:solidFill>
                  <a:srgbClr val="1A1F2E"/>
                </a:solidFill>
                <a:latin typeface="Arial" pitchFamily="34" charset="0"/>
                <a:ea typeface="Arial" pitchFamily="34" charset="-122"/>
                <a:cs typeface="Arial" pitchFamily="34" charset="-120"/>
              </a:rPr>
              <a:t>Enterprise-grade control</a:t>
            </a:r>
            <a:endParaRPr lang="en-US" sz="675" dirty="0"/>
          </a:p>
        </p:txBody>
      </p:sp>
      <p:sp>
        <p:nvSpPr>
          <p:cNvPr id="16" name="Text 14"/>
          <p:cNvSpPr/>
          <p:nvPr/>
        </p:nvSpPr>
        <p:spPr>
          <a:xfrm>
            <a:off x="3571577" y="0"/>
            <a:ext cx="5572423" cy="5143500"/>
          </a:xfrm>
          <a:prstGeom prst="rect">
            <a:avLst/>
          </a:prstGeom>
          <a:solidFill>
            <a:srgbClr val="F7F8FA"/>
          </a:solidFill>
          <a:ln/>
        </p:spPr>
        <p:txBody>
          <a:bodyPr wrap="square" rtlCol="0" anchor="ctr"/>
          <a:lstStyle/>
          <a:p>
            <a:pPr marL="0" indent="0">
              <a:buNone/>
            </a:pPr>
            <a:endParaRPr lang="en-US" dirty="0"/>
          </a:p>
        </p:txBody>
      </p:sp>
      <p:sp>
        <p:nvSpPr>
          <p:cNvPr id="17" name="Text 15"/>
          <p:cNvSpPr/>
          <p:nvPr/>
        </p:nvSpPr>
        <p:spPr>
          <a:xfrm>
            <a:off x="3838277" y="828080"/>
            <a:ext cx="5139803" cy="159990"/>
          </a:xfrm>
          <a:prstGeom prst="rect">
            <a:avLst/>
          </a:prstGeom>
          <a:noFill/>
          <a:ln/>
        </p:spPr>
        <p:txBody>
          <a:bodyPr wrap="square" lIns="0" tIns="0" rIns="0" bIns="0" rtlCol="0" anchor="t"/>
          <a:lstStyle/>
          <a:p>
            <a:pPr marL="0" indent="0" algn="l">
              <a:lnSpc>
                <a:spcPts val="1260"/>
              </a:lnSpc>
              <a:spcAft>
                <a:spcPts val="750"/>
              </a:spcAft>
              <a:buNone/>
            </a:pPr>
            <a:r>
              <a:rPr lang="en-US" sz="900" b="1" dirty="0">
                <a:solidFill>
                  <a:srgbClr val="1A1F2E"/>
                </a:solidFill>
                <a:latin typeface="Arial" pitchFamily="34" charset="0"/>
                <a:ea typeface="Arial" pitchFamily="34" charset="-122"/>
                <a:cs typeface="Arial" pitchFamily="34" charset="-120"/>
              </a:rPr>
              <a:t>HOOK TYPES</a:t>
            </a:r>
            <a:endParaRPr lang="en-US" sz="900" dirty="0"/>
          </a:p>
        </p:txBody>
      </p:sp>
      <p:sp>
        <p:nvSpPr>
          <p:cNvPr id="18" name="Text 16"/>
          <p:cNvSpPr/>
          <p:nvPr/>
        </p:nvSpPr>
        <p:spPr>
          <a:xfrm>
            <a:off x="3838277" y="1235720"/>
            <a:ext cx="5039023" cy="525661"/>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19" name="Text 17"/>
          <p:cNvSpPr/>
          <p:nvPr/>
        </p:nvSpPr>
        <p:spPr>
          <a:xfrm>
            <a:off x="3962102" y="1359545"/>
            <a:ext cx="2385307"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F59E0B"/>
                </a:solidFill>
                <a:latin typeface="Arial" pitchFamily="34" charset="0"/>
                <a:ea typeface="Arial" pitchFamily="34" charset="-122"/>
                <a:cs typeface="Arial" pitchFamily="34" charset="-120"/>
              </a:rPr>
              <a:t>PreToolUse</a:t>
            </a:r>
            <a:endParaRPr lang="en-US" sz="750" dirty="0"/>
          </a:p>
        </p:txBody>
      </p:sp>
      <p:sp>
        <p:nvSpPr>
          <p:cNvPr id="20" name="Text 18"/>
          <p:cNvSpPr/>
          <p:nvPr/>
        </p:nvSpPr>
        <p:spPr>
          <a:xfrm>
            <a:off x="3962102" y="1530995"/>
            <a:ext cx="2385307" cy="106561"/>
          </a:xfrm>
          <a:prstGeom prst="rect">
            <a:avLst/>
          </a:prstGeom>
          <a:noFill/>
          <a:ln/>
        </p:spPr>
        <p:txBody>
          <a:bodyPr wrap="square" lIns="0" tIns="0" rIns="0" bIns="0" rtlCol="0" anchor="t"/>
          <a:lstStyle/>
          <a:p>
            <a:pPr marL="0" indent="0" algn="l">
              <a:lnSpc>
                <a:spcPts val="840"/>
              </a:lnSpc>
              <a:buNone/>
            </a:pPr>
            <a:r>
              <a:rPr lang="en-US" sz="600" dirty="0">
                <a:solidFill>
                  <a:srgbClr val="6B7280"/>
                </a:solidFill>
                <a:latin typeface="Arial" pitchFamily="34" charset="0"/>
                <a:ea typeface="Arial" pitchFamily="34" charset="-122"/>
                <a:cs typeface="Arial" pitchFamily="34" charset="-120"/>
              </a:rPr>
              <a:t>Before tool execution. Can block calls, validate permissions.</a:t>
            </a:r>
            <a:endParaRPr lang="en-US" sz="600" dirty="0"/>
          </a:p>
        </p:txBody>
      </p:sp>
      <p:sp>
        <p:nvSpPr>
          <p:cNvPr id="21" name="Text 19"/>
          <p:cNvSpPr/>
          <p:nvPr/>
        </p:nvSpPr>
        <p:spPr>
          <a:xfrm>
            <a:off x="6414939" y="1359545"/>
            <a:ext cx="2385307"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059669"/>
                </a:solidFill>
                <a:latin typeface="Arial" pitchFamily="34" charset="0"/>
                <a:ea typeface="Arial" pitchFamily="34" charset="-122"/>
                <a:cs typeface="Arial" pitchFamily="34" charset="-120"/>
              </a:rPr>
              <a:t>PostToolUse</a:t>
            </a:r>
            <a:endParaRPr lang="en-US" sz="750" dirty="0"/>
          </a:p>
        </p:txBody>
      </p:sp>
      <p:sp>
        <p:nvSpPr>
          <p:cNvPr id="22" name="Text 20"/>
          <p:cNvSpPr/>
          <p:nvPr/>
        </p:nvSpPr>
        <p:spPr>
          <a:xfrm>
            <a:off x="6414939" y="1530995"/>
            <a:ext cx="2385307" cy="106561"/>
          </a:xfrm>
          <a:prstGeom prst="rect">
            <a:avLst/>
          </a:prstGeom>
          <a:noFill/>
          <a:ln/>
        </p:spPr>
        <p:txBody>
          <a:bodyPr wrap="square" lIns="0" tIns="0" rIns="0" bIns="0" rtlCol="0" anchor="t"/>
          <a:lstStyle/>
          <a:p>
            <a:pPr marL="0" indent="0" algn="l">
              <a:lnSpc>
                <a:spcPts val="840"/>
              </a:lnSpc>
              <a:buNone/>
            </a:pPr>
            <a:r>
              <a:rPr lang="en-US" sz="600" dirty="0">
                <a:solidFill>
                  <a:srgbClr val="6B7280"/>
                </a:solidFill>
                <a:latin typeface="Arial" pitchFamily="34" charset="0"/>
                <a:ea typeface="Arial" pitchFamily="34" charset="-122"/>
                <a:cs typeface="Arial" pitchFamily="34" charset="-120"/>
              </a:rPr>
              <a:t>After tool execution. Log results, inject metrics.</a:t>
            </a:r>
            <a:endParaRPr lang="en-US" sz="600" dirty="0"/>
          </a:p>
        </p:txBody>
      </p:sp>
      <p:sp>
        <p:nvSpPr>
          <p:cNvPr id="23" name="Text 21"/>
          <p:cNvSpPr/>
          <p:nvPr/>
        </p:nvSpPr>
        <p:spPr>
          <a:xfrm>
            <a:off x="3838277" y="2009031"/>
            <a:ext cx="5039023" cy="525661"/>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24" name="Text 22"/>
          <p:cNvSpPr/>
          <p:nvPr/>
        </p:nvSpPr>
        <p:spPr>
          <a:xfrm>
            <a:off x="3962102" y="2132856"/>
            <a:ext cx="2385307"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3B82F6"/>
                </a:solidFill>
                <a:latin typeface="Arial" pitchFamily="34" charset="0"/>
                <a:ea typeface="Arial" pitchFamily="34" charset="-122"/>
                <a:cs typeface="Arial" pitchFamily="34" charset="-120"/>
              </a:rPr>
              <a:t>PermissionRequest</a:t>
            </a:r>
            <a:endParaRPr lang="en-US" sz="750" dirty="0"/>
          </a:p>
        </p:txBody>
      </p:sp>
      <p:sp>
        <p:nvSpPr>
          <p:cNvPr id="25" name="Text 23"/>
          <p:cNvSpPr/>
          <p:nvPr/>
        </p:nvSpPr>
        <p:spPr>
          <a:xfrm>
            <a:off x="3962102" y="2304306"/>
            <a:ext cx="2385307" cy="106561"/>
          </a:xfrm>
          <a:prstGeom prst="rect">
            <a:avLst/>
          </a:prstGeom>
          <a:noFill/>
          <a:ln/>
        </p:spPr>
        <p:txBody>
          <a:bodyPr wrap="square" lIns="0" tIns="0" rIns="0" bIns="0" rtlCol="0" anchor="t"/>
          <a:lstStyle/>
          <a:p>
            <a:pPr marL="0" indent="0" algn="l">
              <a:lnSpc>
                <a:spcPts val="840"/>
              </a:lnSpc>
              <a:buNone/>
            </a:pPr>
            <a:r>
              <a:rPr lang="en-US" sz="600" dirty="0">
                <a:solidFill>
                  <a:srgbClr val="6B7280"/>
                </a:solidFill>
                <a:latin typeface="Arial" pitchFamily="34" charset="0"/>
                <a:ea typeface="Arial" pitchFamily="34" charset="-122"/>
                <a:cs typeface="Arial" pitchFamily="34" charset="-120"/>
              </a:rPr>
              <a:t>When permission dialog shown. Auto-approve or deny.</a:t>
            </a:r>
            <a:endParaRPr lang="en-US" sz="600" dirty="0"/>
          </a:p>
        </p:txBody>
      </p:sp>
      <p:sp>
        <p:nvSpPr>
          <p:cNvPr id="26" name="Text 24"/>
          <p:cNvSpPr/>
          <p:nvPr/>
        </p:nvSpPr>
        <p:spPr>
          <a:xfrm>
            <a:off x="6414939" y="2132856"/>
            <a:ext cx="2385307"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DC2626"/>
                </a:solidFill>
                <a:latin typeface="Arial" pitchFamily="34" charset="0"/>
                <a:ea typeface="Arial" pitchFamily="34" charset="-122"/>
                <a:cs typeface="Arial" pitchFamily="34" charset="-120"/>
              </a:rPr>
              <a:t>AgentCompletion</a:t>
            </a:r>
            <a:endParaRPr lang="en-US" sz="750" dirty="0"/>
          </a:p>
        </p:txBody>
      </p:sp>
      <p:sp>
        <p:nvSpPr>
          <p:cNvPr id="27" name="Text 25"/>
          <p:cNvSpPr/>
          <p:nvPr/>
        </p:nvSpPr>
        <p:spPr>
          <a:xfrm>
            <a:off x="6414939" y="2304306"/>
            <a:ext cx="2385307" cy="106561"/>
          </a:xfrm>
          <a:prstGeom prst="rect">
            <a:avLst/>
          </a:prstGeom>
          <a:noFill/>
          <a:ln/>
        </p:spPr>
        <p:txBody>
          <a:bodyPr wrap="square" lIns="0" tIns="0" rIns="0" bIns="0" rtlCol="0" anchor="t"/>
          <a:lstStyle/>
          <a:p>
            <a:pPr marL="0" indent="0" algn="l">
              <a:lnSpc>
                <a:spcPts val="840"/>
              </a:lnSpc>
              <a:buNone/>
            </a:pPr>
            <a:r>
              <a:rPr lang="en-US" sz="600" dirty="0">
                <a:solidFill>
                  <a:srgbClr val="6B7280"/>
                </a:solidFill>
                <a:latin typeface="Arial" pitchFamily="34" charset="0"/>
                <a:ea typeface="Arial" pitchFamily="34" charset="-122"/>
                <a:cs typeface="Arial" pitchFamily="34" charset="-120"/>
              </a:rPr>
              <a:t>When agent finishes. Clean up resources, validate outputs.</a:t>
            </a:r>
            <a:endParaRPr lang="en-US" sz="600" dirty="0"/>
          </a:p>
        </p:txBody>
      </p:sp>
      <p:sp>
        <p:nvSpPr>
          <p:cNvPr id="28" name="Text 26"/>
          <p:cNvSpPr/>
          <p:nvPr/>
        </p:nvSpPr>
        <p:spPr>
          <a:xfrm>
            <a:off x="3838277" y="2782342"/>
            <a:ext cx="5139803" cy="146596"/>
          </a:xfrm>
          <a:prstGeom prst="rect">
            <a:avLst/>
          </a:prstGeom>
          <a:noFill/>
          <a:ln/>
        </p:spPr>
        <p:txBody>
          <a:bodyPr wrap="square" lIns="0" tIns="0" rIns="0" bIns="0" rtlCol="0" anchor="t"/>
          <a:lstStyle/>
          <a:p>
            <a:pPr marL="0" indent="0" algn="l">
              <a:lnSpc>
                <a:spcPts val="1155"/>
              </a:lnSpc>
              <a:spcAft>
                <a:spcPts val="600"/>
              </a:spcAft>
              <a:buNone/>
            </a:pPr>
            <a:r>
              <a:rPr lang="en-US" sz="825" b="1" dirty="0">
                <a:solidFill>
                  <a:srgbClr val="1A1F2E"/>
                </a:solidFill>
                <a:latin typeface="Arial" pitchFamily="34" charset="0"/>
                <a:ea typeface="Arial" pitchFamily="34" charset="-122"/>
                <a:cs typeface="Arial" pitchFamily="34" charset="-120"/>
              </a:rPr>
              <a:t>USE CASES</a:t>
            </a:r>
            <a:endParaRPr lang="en-US" sz="825" dirty="0"/>
          </a:p>
        </p:txBody>
      </p:sp>
      <p:sp>
        <p:nvSpPr>
          <p:cNvPr id="29" name="Text 27"/>
          <p:cNvSpPr/>
          <p:nvPr/>
        </p:nvSpPr>
        <p:spPr>
          <a:xfrm>
            <a:off x="3838277" y="3157538"/>
            <a:ext cx="2481411" cy="455116"/>
          </a:xfrm>
          <a:prstGeom prst="rect">
            <a:avLst/>
          </a:prstGeom>
          <a:solidFill>
            <a:srgbClr val="FEE2E2"/>
          </a:solidFill>
          <a:ln/>
        </p:spPr>
        <p:txBody>
          <a:bodyPr wrap="square" rtlCol="0" anchor="ctr"/>
          <a:lstStyle/>
          <a:p>
            <a:pPr marL="0" indent="0">
              <a:buNone/>
            </a:pPr>
            <a:endParaRPr lang="en-US" dirty="0"/>
          </a:p>
        </p:txBody>
      </p:sp>
      <p:sp>
        <p:nvSpPr>
          <p:cNvPr id="30" name="Shape 28"/>
          <p:cNvSpPr/>
          <p:nvPr/>
        </p:nvSpPr>
        <p:spPr>
          <a:xfrm>
            <a:off x="3852565" y="3157538"/>
            <a:ext cx="0" cy="455116"/>
          </a:xfrm>
          <a:prstGeom prst="line">
            <a:avLst/>
          </a:prstGeom>
          <a:noFill/>
          <a:ln w="28575">
            <a:solidFill>
              <a:srgbClr val="DC2626"/>
            </a:solidFill>
            <a:prstDash val="solid"/>
          </a:ln>
        </p:spPr>
        <p:txBody>
          <a:bodyPr/>
          <a:lstStyle/>
          <a:p>
            <a:endParaRPr lang="en-US"/>
          </a:p>
        </p:txBody>
      </p:sp>
      <p:sp>
        <p:nvSpPr>
          <p:cNvPr id="31" name="Text 29"/>
          <p:cNvSpPr/>
          <p:nvPr/>
        </p:nvSpPr>
        <p:spPr>
          <a:xfrm>
            <a:off x="3962102" y="3252788"/>
            <a:ext cx="2307583" cy="119955"/>
          </a:xfrm>
          <a:prstGeom prst="rect">
            <a:avLst/>
          </a:prstGeom>
          <a:noFill/>
          <a:ln/>
        </p:spPr>
        <p:txBody>
          <a:bodyPr wrap="square" lIns="0" tIns="0" rIns="0" bIns="0" rtlCol="0" anchor="t"/>
          <a:lstStyle/>
          <a:p>
            <a:pPr marL="0" indent="0" algn="l">
              <a:lnSpc>
                <a:spcPts val="945"/>
              </a:lnSpc>
              <a:spcAft>
                <a:spcPts val="300"/>
              </a:spcAft>
              <a:buNone/>
            </a:pPr>
            <a:r>
              <a:rPr lang="en-US" sz="675" b="1" dirty="0">
                <a:solidFill>
                  <a:srgbClr val="991B1B"/>
                </a:solidFill>
                <a:latin typeface="Arial" pitchFamily="34" charset="0"/>
                <a:ea typeface="Arial" pitchFamily="34" charset="-122"/>
                <a:cs typeface="Arial" pitchFamily="34" charset="-120"/>
              </a:rPr>
              <a:t>SECURITY</a:t>
            </a:r>
            <a:endParaRPr lang="en-US" sz="675" dirty="0"/>
          </a:p>
        </p:txBody>
      </p:sp>
      <p:sp>
        <p:nvSpPr>
          <p:cNvPr id="32" name="Text 30"/>
          <p:cNvSpPr/>
          <p:nvPr/>
        </p:nvSpPr>
        <p:spPr>
          <a:xfrm>
            <a:off x="3962102" y="3410843"/>
            <a:ext cx="2307583" cy="106561"/>
          </a:xfrm>
          <a:prstGeom prst="rect">
            <a:avLst/>
          </a:prstGeom>
          <a:noFill/>
          <a:ln/>
        </p:spPr>
        <p:txBody>
          <a:bodyPr wrap="square" lIns="0" tIns="0" rIns="0" bIns="0" rtlCol="0" anchor="t"/>
          <a:lstStyle/>
          <a:p>
            <a:pPr marL="0" indent="0" algn="l">
              <a:lnSpc>
                <a:spcPts val="840"/>
              </a:lnSpc>
              <a:buNone/>
            </a:pPr>
            <a:r>
              <a:rPr lang="en-US" sz="600" dirty="0">
                <a:solidFill>
                  <a:srgbClr val="991B1B"/>
                </a:solidFill>
                <a:latin typeface="Arial" pitchFamily="34" charset="0"/>
                <a:ea typeface="Arial" pitchFamily="34" charset="-122"/>
                <a:cs typeface="Arial" pitchFamily="34" charset="-120"/>
              </a:rPr>
              <a:t>Block sensitive file access, enforce allowed directories</a:t>
            </a:r>
            <a:endParaRPr lang="en-US" sz="600" dirty="0"/>
          </a:p>
        </p:txBody>
      </p:sp>
      <p:sp>
        <p:nvSpPr>
          <p:cNvPr id="33" name="Text 31"/>
          <p:cNvSpPr/>
          <p:nvPr/>
        </p:nvSpPr>
        <p:spPr>
          <a:xfrm>
            <a:off x="6395889" y="3157538"/>
            <a:ext cx="2481411" cy="455116"/>
          </a:xfrm>
          <a:prstGeom prst="rect">
            <a:avLst/>
          </a:prstGeom>
          <a:solidFill>
            <a:srgbClr val="DCFCE7"/>
          </a:solidFill>
          <a:ln/>
        </p:spPr>
        <p:txBody>
          <a:bodyPr wrap="square" rtlCol="0" anchor="ctr"/>
          <a:lstStyle/>
          <a:p>
            <a:pPr marL="0" indent="0">
              <a:buNone/>
            </a:pPr>
            <a:endParaRPr lang="en-US" dirty="0"/>
          </a:p>
        </p:txBody>
      </p:sp>
      <p:sp>
        <p:nvSpPr>
          <p:cNvPr id="34" name="Shape 32"/>
          <p:cNvSpPr/>
          <p:nvPr/>
        </p:nvSpPr>
        <p:spPr>
          <a:xfrm>
            <a:off x="6410176" y="3157538"/>
            <a:ext cx="0" cy="455116"/>
          </a:xfrm>
          <a:prstGeom prst="line">
            <a:avLst/>
          </a:prstGeom>
          <a:noFill/>
          <a:ln w="28575">
            <a:solidFill>
              <a:srgbClr val="059669"/>
            </a:solidFill>
            <a:prstDash val="solid"/>
          </a:ln>
        </p:spPr>
        <p:txBody>
          <a:bodyPr/>
          <a:lstStyle/>
          <a:p>
            <a:endParaRPr lang="en-US"/>
          </a:p>
        </p:txBody>
      </p:sp>
      <p:sp>
        <p:nvSpPr>
          <p:cNvPr id="35" name="Text 33"/>
          <p:cNvSpPr/>
          <p:nvPr/>
        </p:nvSpPr>
        <p:spPr>
          <a:xfrm>
            <a:off x="6519714" y="3252788"/>
            <a:ext cx="2307583" cy="119955"/>
          </a:xfrm>
          <a:prstGeom prst="rect">
            <a:avLst/>
          </a:prstGeom>
          <a:noFill/>
          <a:ln/>
        </p:spPr>
        <p:txBody>
          <a:bodyPr wrap="square" lIns="0" tIns="0" rIns="0" bIns="0" rtlCol="0" anchor="t"/>
          <a:lstStyle/>
          <a:p>
            <a:pPr marL="0" indent="0" algn="l">
              <a:lnSpc>
                <a:spcPts val="945"/>
              </a:lnSpc>
              <a:spcAft>
                <a:spcPts val="300"/>
              </a:spcAft>
              <a:buNone/>
            </a:pPr>
            <a:r>
              <a:rPr lang="en-US" sz="675" b="1" dirty="0">
                <a:solidFill>
                  <a:srgbClr val="166534"/>
                </a:solidFill>
                <a:latin typeface="Arial" pitchFamily="34" charset="0"/>
                <a:ea typeface="Arial" pitchFamily="34" charset="-122"/>
                <a:cs typeface="Arial" pitchFamily="34" charset="-120"/>
              </a:rPr>
              <a:t>COMPLIANCE</a:t>
            </a:r>
            <a:endParaRPr lang="en-US" sz="675" dirty="0"/>
          </a:p>
        </p:txBody>
      </p:sp>
      <p:sp>
        <p:nvSpPr>
          <p:cNvPr id="36" name="Text 34"/>
          <p:cNvSpPr/>
          <p:nvPr/>
        </p:nvSpPr>
        <p:spPr>
          <a:xfrm>
            <a:off x="6519714" y="3410843"/>
            <a:ext cx="2307583" cy="106561"/>
          </a:xfrm>
          <a:prstGeom prst="rect">
            <a:avLst/>
          </a:prstGeom>
          <a:noFill/>
          <a:ln/>
        </p:spPr>
        <p:txBody>
          <a:bodyPr wrap="square" lIns="0" tIns="0" rIns="0" bIns="0" rtlCol="0" anchor="t"/>
          <a:lstStyle/>
          <a:p>
            <a:pPr marL="0" indent="0" algn="l">
              <a:lnSpc>
                <a:spcPts val="840"/>
              </a:lnSpc>
              <a:buNone/>
            </a:pPr>
            <a:r>
              <a:rPr lang="en-US" sz="600" dirty="0">
                <a:solidFill>
                  <a:srgbClr val="166534"/>
                </a:solidFill>
                <a:latin typeface="Arial" pitchFamily="34" charset="0"/>
                <a:ea typeface="Arial" pitchFamily="34" charset="-122"/>
                <a:cs typeface="Arial" pitchFamily="34" charset="-120"/>
              </a:rPr>
              <a:t>Audit logging, cost tracking, usage reports</a:t>
            </a:r>
            <a:endParaRPr lang="en-US" sz="600" dirty="0"/>
          </a:p>
        </p:txBody>
      </p:sp>
      <p:sp>
        <p:nvSpPr>
          <p:cNvPr id="37" name="Text 35"/>
          <p:cNvSpPr/>
          <p:nvPr/>
        </p:nvSpPr>
        <p:spPr>
          <a:xfrm>
            <a:off x="3838277" y="3860304"/>
            <a:ext cx="5039023" cy="455116"/>
          </a:xfrm>
          <a:prstGeom prst="rect">
            <a:avLst/>
          </a:prstGeom>
          <a:solidFill>
            <a:srgbClr val="1A1F2E"/>
          </a:solidFill>
          <a:ln/>
        </p:spPr>
        <p:txBody>
          <a:bodyPr wrap="square" rtlCol="0" anchor="ctr"/>
          <a:lstStyle/>
          <a:p>
            <a:pPr marL="0" indent="0">
              <a:buNone/>
            </a:pPr>
            <a:endParaRPr lang="en-US" dirty="0"/>
          </a:p>
        </p:txBody>
      </p:sp>
      <p:sp>
        <p:nvSpPr>
          <p:cNvPr id="38" name="Text 36"/>
          <p:cNvSpPr/>
          <p:nvPr/>
        </p:nvSpPr>
        <p:spPr>
          <a:xfrm>
            <a:off x="3933527" y="3955554"/>
            <a:ext cx="4945493" cy="106561"/>
          </a:xfrm>
          <a:prstGeom prst="rect">
            <a:avLst/>
          </a:prstGeom>
          <a:noFill/>
          <a:ln/>
        </p:spPr>
        <p:txBody>
          <a:bodyPr wrap="square" lIns="0" tIns="0" rIns="0" bIns="0" rtlCol="0" anchor="t"/>
          <a:lstStyle/>
          <a:p>
            <a:pPr marL="0" indent="0" algn="l">
              <a:lnSpc>
                <a:spcPts val="840"/>
              </a:lnSpc>
              <a:spcAft>
                <a:spcPts val="300"/>
              </a:spcAft>
              <a:buNone/>
            </a:pPr>
            <a:r>
              <a:rPr lang="en-US" sz="600" dirty="0">
                <a:solidFill>
                  <a:srgbClr val="C9A227"/>
                </a:solidFill>
                <a:latin typeface="Arial" pitchFamily="34" charset="0"/>
                <a:ea typeface="Arial" pitchFamily="34" charset="-122"/>
                <a:cs typeface="Arial" pitchFamily="34" charset="-120"/>
              </a:rPr>
              <a:t>KEY INSIGHT</a:t>
            </a:r>
            <a:endParaRPr lang="en-US" sz="600" dirty="0"/>
          </a:p>
        </p:txBody>
      </p:sp>
      <p:sp>
        <p:nvSpPr>
          <p:cNvPr id="39" name="Text 37"/>
          <p:cNvSpPr/>
          <p:nvPr/>
        </p:nvSpPr>
        <p:spPr>
          <a:xfrm>
            <a:off x="3933527" y="4100215"/>
            <a:ext cx="4945493" cy="119955"/>
          </a:xfrm>
          <a:prstGeom prst="rect">
            <a:avLst/>
          </a:prstGeom>
          <a:noFill/>
          <a:ln/>
        </p:spPr>
        <p:txBody>
          <a:bodyPr wrap="square" lIns="0" tIns="0" rIns="0" bIns="0" rtlCol="0" anchor="t"/>
          <a:lstStyle/>
          <a:p>
            <a:pPr marL="0" indent="0" algn="l">
              <a:lnSpc>
                <a:spcPts val="945"/>
              </a:lnSpc>
              <a:buNone/>
            </a:pPr>
            <a:r>
              <a:rPr lang="en-US" sz="675" dirty="0">
                <a:solidFill>
                  <a:srgbClr val="FFFFFF">
                    <a:alpha val="80000"/>
                  </a:srgbClr>
                </a:solidFill>
                <a:latin typeface="Arial" pitchFamily="34" charset="0"/>
                <a:ea typeface="Arial" pitchFamily="34" charset="-122"/>
                <a:cs typeface="Arial" pitchFamily="34" charset="-120"/>
              </a:rPr>
              <a:t>Hooks transform Claude from black-box executor → transparent, auditable infrastructure</a:t>
            </a:r>
            <a:endParaRPr lang="en-US" sz="675"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0" y="0"/>
            <a:ext cx="3419177" cy="5143500"/>
          </a:xfrm>
          <a:prstGeom prst="rect">
            <a:avLst/>
          </a:prstGeom>
          <a:solidFill>
            <a:srgbClr val="1A1F2E"/>
          </a:solidFill>
          <a:ln/>
        </p:spPr>
        <p:txBody>
          <a:bodyPr wrap="square" rtlCol="0" anchor="ctr"/>
          <a:lstStyle/>
          <a:p>
            <a:pPr marL="0" indent="0">
              <a:buNone/>
            </a:pPr>
            <a:endParaRPr lang="en-US" dirty="0"/>
          </a:p>
        </p:txBody>
      </p:sp>
      <p:sp>
        <p:nvSpPr>
          <p:cNvPr id="3" name="Text 1"/>
          <p:cNvSpPr/>
          <p:nvPr/>
        </p:nvSpPr>
        <p:spPr>
          <a:xfrm>
            <a:off x="266700" y="266700"/>
            <a:ext cx="846683" cy="201811"/>
          </a:xfrm>
          <a:prstGeom prst="rect">
            <a:avLst/>
          </a:prstGeom>
          <a:solidFill>
            <a:srgbClr val="D97706"/>
          </a:solidFill>
          <a:ln/>
        </p:spPr>
        <p:txBody>
          <a:bodyPr wrap="square" rtlCol="0" anchor="ctr"/>
          <a:lstStyle/>
          <a:p>
            <a:pPr marL="0" indent="0">
              <a:buNone/>
            </a:pPr>
            <a:endParaRPr lang="en-US" dirty="0"/>
          </a:p>
        </p:txBody>
      </p:sp>
      <p:sp>
        <p:nvSpPr>
          <p:cNvPr id="4" name="Text 2"/>
          <p:cNvSpPr/>
          <p:nvPr/>
        </p:nvSpPr>
        <p:spPr>
          <a:xfrm>
            <a:off x="361950" y="314325"/>
            <a:ext cx="669307" cy="106561"/>
          </a:xfrm>
          <a:prstGeom prst="rect">
            <a:avLst/>
          </a:prstGeom>
          <a:noFill/>
          <a:ln/>
        </p:spPr>
        <p:txBody>
          <a:bodyPr wrap="square" lIns="0" tIns="0" rIns="0" bIns="0" rtlCol="0" anchor="t"/>
          <a:lstStyle/>
          <a:p>
            <a:pPr marL="0" indent="0" algn="l">
              <a:lnSpc>
                <a:spcPts val="840"/>
              </a:lnSpc>
              <a:buNone/>
            </a:pPr>
            <a:r>
              <a:rPr lang="en-US" sz="600" b="1" dirty="0">
                <a:solidFill>
                  <a:srgbClr val="1A1F2E"/>
                </a:solidFill>
                <a:latin typeface="Arial" pitchFamily="34" charset="0"/>
                <a:ea typeface="Arial" pitchFamily="34" charset="-122"/>
                <a:cs typeface="Arial" pitchFamily="34" charset="-120"/>
              </a:rPr>
              <a:t>DISTRIBUTION</a:t>
            </a:r>
            <a:endParaRPr lang="en-US" sz="600" dirty="0"/>
          </a:p>
        </p:txBody>
      </p:sp>
      <p:sp>
        <p:nvSpPr>
          <p:cNvPr id="5" name="Text 3"/>
          <p:cNvSpPr/>
          <p:nvPr/>
        </p:nvSpPr>
        <p:spPr>
          <a:xfrm>
            <a:off x="266700" y="716161"/>
            <a:ext cx="1476756" cy="297061"/>
          </a:xfrm>
          <a:prstGeom prst="rect">
            <a:avLst/>
          </a:prstGeom>
          <a:noFill/>
          <a:ln/>
        </p:spPr>
        <p:txBody>
          <a:bodyPr wrap="square" lIns="0" tIns="0" rIns="0" bIns="0" rtlCol="0" anchor="t"/>
          <a:lstStyle/>
          <a:p>
            <a:pPr marL="0" indent="0" algn="l">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Plugins</a:t>
            </a:r>
            <a:endParaRPr lang="en-US" sz="1950" dirty="0"/>
          </a:p>
        </p:txBody>
      </p:sp>
      <p:sp>
        <p:nvSpPr>
          <p:cNvPr id="6" name="Text 4"/>
          <p:cNvSpPr/>
          <p:nvPr/>
        </p:nvSpPr>
        <p:spPr>
          <a:xfrm>
            <a:off x="266700" y="1260872"/>
            <a:ext cx="381000" cy="19050"/>
          </a:xfrm>
          <a:prstGeom prst="rect">
            <a:avLst/>
          </a:prstGeom>
          <a:solidFill>
            <a:srgbClr val="C9A227"/>
          </a:solidFill>
          <a:ln/>
        </p:spPr>
        <p:txBody>
          <a:bodyPr wrap="square" rtlCol="0" anchor="ctr"/>
          <a:lstStyle/>
          <a:p>
            <a:pPr marL="0" indent="0">
              <a:buNone/>
            </a:pPr>
            <a:endParaRPr lang="en-US" dirty="0"/>
          </a:p>
        </p:txBody>
      </p:sp>
      <p:sp>
        <p:nvSpPr>
          <p:cNvPr id="7" name="Text 5"/>
          <p:cNvSpPr/>
          <p:nvPr/>
        </p:nvSpPr>
        <p:spPr>
          <a:xfrm>
            <a:off x="266700" y="1565672"/>
            <a:ext cx="2885777" cy="685800"/>
          </a:xfrm>
          <a:prstGeom prst="rect">
            <a:avLst/>
          </a:prstGeom>
          <a:solidFill>
            <a:srgbClr val="D97706">
              <a:alpha val="15000"/>
            </a:srgbClr>
          </a:solidFill>
          <a:ln/>
        </p:spPr>
        <p:txBody>
          <a:bodyPr wrap="square" rtlCol="0" anchor="ctr"/>
          <a:lstStyle/>
          <a:p>
            <a:pPr marL="0" indent="0">
              <a:buNone/>
            </a:pPr>
            <a:endParaRPr lang="en-US" dirty="0"/>
          </a:p>
        </p:txBody>
      </p:sp>
      <p:sp>
        <p:nvSpPr>
          <p:cNvPr id="8" name="Shape 6"/>
          <p:cNvSpPr/>
          <p:nvPr/>
        </p:nvSpPr>
        <p:spPr>
          <a:xfrm>
            <a:off x="280988" y="1565672"/>
            <a:ext cx="0" cy="685800"/>
          </a:xfrm>
          <a:prstGeom prst="line">
            <a:avLst/>
          </a:prstGeom>
          <a:noFill/>
          <a:ln w="28575">
            <a:solidFill>
              <a:srgbClr val="D97706"/>
            </a:solidFill>
            <a:prstDash val="solid"/>
          </a:ln>
        </p:spPr>
        <p:txBody>
          <a:bodyPr/>
          <a:lstStyle/>
          <a:p>
            <a:endParaRPr lang="en-US"/>
          </a:p>
        </p:txBody>
      </p:sp>
      <p:sp>
        <p:nvSpPr>
          <p:cNvPr id="9" name="Text 7"/>
          <p:cNvSpPr/>
          <p:nvPr/>
        </p:nvSpPr>
        <p:spPr>
          <a:xfrm>
            <a:off x="409575" y="1679972"/>
            <a:ext cx="2681174"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FBBF24"/>
                </a:solidFill>
                <a:latin typeface="Arial" pitchFamily="34" charset="0"/>
                <a:ea typeface="Arial" pitchFamily="34" charset="-122"/>
                <a:cs typeface="Arial" pitchFamily="34" charset="-120"/>
              </a:rPr>
              <a:t>THE BIG PICTURE</a:t>
            </a:r>
            <a:endParaRPr lang="en-US" sz="750" dirty="0"/>
          </a:p>
        </p:txBody>
      </p:sp>
      <p:sp>
        <p:nvSpPr>
          <p:cNvPr id="10" name="Text 8"/>
          <p:cNvSpPr/>
          <p:nvPr/>
        </p:nvSpPr>
        <p:spPr>
          <a:xfrm>
            <a:off x="409575" y="1851422"/>
            <a:ext cx="2681174" cy="285750"/>
          </a:xfrm>
          <a:prstGeom prst="rect">
            <a:avLst/>
          </a:prstGeom>
          <a:noFill/>
          <a:ln/>
        </p:spPr>
        <p:txBody>
          <a:bodyPr wrap="square" lIns="0" tIns="0" rIns="0" bIns="0" rtlCol="0" anchor="t"/>
          <a:lstStyle/>
          <a:p>
            <a:pPr marL="0" indent="0" algn="l">
              <a:lnSpc>
                <a:spcPts val="1125"/>
              </a:lnSpc>
              <a:buNone/>
            </a:pPr>
            <a:r>
              <a:rPr lang="en-US" sz="750" dirty="0">
                <a:solidFill>
                  <a:srgbClr val="FFFFFF">
                    <a:alpha val="80000"/>
                  </a:srgbClr>
                </a:solidFill>
                <a:latin typeface="Arial" pitchFamily="34" charset="0"/>
                <a:ea typeface="Arial" pitchFamily="34" charset="-122"/>
                <a:cs typeface="Arial" pitchFamily="34" charset="-120"/>
              </a:rPr>
              <a:t>Plugins bundle everything together: commands, agents, MCP servers, hooks. One install.</a:t>
            </a:r>
            <a:endParaRPr lang="en-US" sz="750" dirty="0"/>
          </a:p>
        </p:txBody>
      </p:sp>
      <p:sp>
        <p:nvSpPr>
          <p:cNvPr id="11" name="Text 9"/>
          <p:cNvSpPr/>
          <p:nvPr/>
        </p:nvSpPr>
        <p:spPr>
          <a:xfrm>
            <a:off x="266700" y="2537222"/>
            <a:ext cx="2885777" cy="967383"/>
          </a:xfrm>
          <a:prstGeom prst="rect">
            <a:avLst/>
          </a:prstGeom>
          <a:solidFill>
            <a:srgbClr val="FFFFFF">
              <a:alpha val="5000"/>
            </a:srgbClr>
          </a:solidFill>
          <a:ln/>
        </p:spPr>
        <p:txBody>
          <a:bodyPr wrap="square" rtlCol="0" anchor="ctr"/>
          <a:lstStyle/>
          <a:p>
            <a:pPr marL="0" indent="0">
              <a:buNone/>
            </a:pPr>
            <a:endParaRPr lang="en-US" dirty="0"/>
          </a:p>
        </p:txBody>
      </p:sp>
      <p:sp>
        <p:nvSpPr>
          <p:cNvPr id="12" name="Text 10"/>
          <p:cNvSpPr/>
          <p:nvPr/>
        </p:nvSpPr>
        <p:spPr>
          <a:xfrm>
            <a:off x="381000" y="2651522"/>
            <a:ext cx="2710321" cy="133350"/>
          </a:xfrm>
          <a:prstGeom prst="rect">
            <a:avLst/>
          </a:prstGeom>
          <a:noFill/>
          <a:ln/>
        </p:spPr>
        <p:txBody>
          <a:bodyPr wrap="square" lIns="0" tIns="0" rIns="0" bIns="0" rtlCol="0" anchor="t"/>
          <a:lstStyle/>
          <a:p>
            <a:pPr marL="0" indent="0" algn="l">
              <a:lnSpc>
                <a:spcPts val="1050"/>
              </a:lnSpc>
              <a:spcAft>
                <a:spcPts val="450"/>
              </a:spcAft>
              <a:buNone/>
            </a:pPr>
            <a:r>
              <a:rPr lang="en-US" sz="750" b="1" dirty="0">
                <a:solidFill>
                  <a:srgbClr val="FFFFFF"/>
                </a:solidFill>
                <a:latin typeface="Arial" pitchFamily="34" charset="0"/>
                <a:ea typeface="Arial" pitchFamily="34" charset="-122"/>
                <a:cs typeface="Arial" pitchFamily="34" charset="-120"/>
              </a:rPr>
              <a:t>WHAT PLUGINS BUNDLE</a:t>
            </a:r>
            <a:endParaRPr lang="en-US" sz="750" dirty="0"/>
          </a:p>
        </p:txBody>
      </p:sp>
      <p:sp>
        <p:nvSpPr>
          <p:cNvPr id="13" name="Text 11"/>
          <p:cNvSpPr/>
          <p:nvPr/>
        </p:nvSpPr>
        <p:spPr>
          <a:xfrm>
            <a:off x="381000" y="2842022"/>
            <a:ext cx="2710321" cy="548283"/>
          </a:xfrm>
          <a:prstGeom prst="rect">
            <a:avLst/>
          </a:prstGeom>
          <a:noFill/>
          <a:ln/>
        </p:spPr>
        <p:txBody>
          <a:bodyPr wrap="square" lIns="0" tIns="0" rIns="0" bIns="0" rtlCol="0" anchor="t"/>
          <a:lstStyle/>
          <a:p>
            <a:pPr marL="0" indent="0" algn="l">
              <a:lnSpc>
                <a:spcPts val="1080"/>
              </a:lnSpc>
              <a:buNone/>
            </a:pPr>
            <a:r>
              <a:rPr lang="en-US" sz="675" dirty="0">
                <a:solidFill>
                  <a:srgbClr val="FFFFFF">
                    <a:alpha val="60000"/>
                  </a:srgbClr>
                </a:solidFill>
                <a:latin typeface="Arial" pitchFamily="34" charset="0"/>
                <a:ea typeface="Arial" pitchFamily="34" charset="-122"/>
                <a:cs typeface="Arial" pitchFamily="34" charset="-120"/>
              </a:rPr>
              <a:t>Slash commands</a:t>
            </a:r>
            <a:endParaRPr lang="en-US" sz="675" dirty="0"/>
          </a:p>
          <a:p>
            <a:pPr marL="0" indent="0" algn="l">
              <a:lnSpc>
                <a:spcPts val="1080"/>
              </a:lnSpc>
              <a:buNone/>
            </a:pPr>
            <a:r>
              <a:rPr lang="en-US" sz="675" dirty="0">
                <a:solidFill>
                  <a:srgbClr val="FFFFFF">
                    <a:alpha val="60000"/>
                  </a:srgbClr>
                </a:solidFill>
                <a:latin typeface="Arial" pitchFamily="34" charset="0"/>
                <a:ea typeface="Arial" pitchFamily="34" charset="-122"/>
                <a:cs typeface="Arial" pitchFamily="34" charset="-120"/>
              </a:rPr>
              <a:t> Sub-agents</a:t>
            </a:r>
            <a:endParaRPr lang="en-US" sz="675" dirty="0"/>
          </a:p>
          <a:p>
            <a:pPr marL="0" indent="0" algn="l">
              <a:lnSpc>
                <a:spcPts val="1080"/>
              </a:lnSpc>
              <a:buNone/>
            </a:pPr>
            <a:r>
              <a:rPr lang="en-US" sz="675" dirty="0">
                <a:solidFill>
                  <a:srgbClr val="FFFFFF">
                    <a:alpha val="60000"/>
                  </a:srgbClr>
                </a:solidFill>
                <a:latin typeface="Arial" pitchFamily="34" charset="0"/>
                <a:ea typeface="Arial" pitchFamily="34" charset="-122"/>
                <a:cs typeface="Arial" pitchFamily="34" charset="-120"/>
              </a:rPr>
              <a:t> MCP servers</a:t>
            </a:r>
            <a:endParaRPr lang="en-US" sz="675" dirty="0"/>
          </a:p>
          <a:p>
            <a:pPr marL="0" indent="0" algn="l">
              <a:lnSpc>
                <a:spcPts val="1080"/>
              </a:lnSpc>
              <a:buNone/>
            </a:pPr>
            <a:r>
              <a:rPr lang="en-US" sz="675" dirty="0">
                <a:solidFill>
                  <a:srgbClr val="FFFFFF">
                    <a:alpha val="60000"/>
                  </a:srgbClr>
                </a:solidFill>
                <a:latin typeface="Arial" pitchFamily="34" charset="0"/>
                <a:ea typeface="Arial" pitchFamily="34" charset="-122"/>
                <a:cs typeface="Arial" pitchFamily="34" charset="-120"/>
              </a:rPr>
              <a:t> Hooks</a:t>
            </a:r>
            <a:endParaRPr lang="en-US" sz="675" dirty="0"/>
          </a:p>
        </p:txBody>
      </p:sp>
      <p:sp>
        <p:nvSpPr>
          <p:cNvPr id="14" name="Text 12"/>
          <p:cNvSpPr/>
          <p:nvPr/>
        </p:nvSpPr>
        <p:spPr>
          <a:xfrm>
            <a:off x="266700" y="4566345"/>
            <a:ext cx="2885777" cy="310455"/>
          </a:xfrm>
          <a:prstGeom prst="rect">
            <a:avLst/>
          </a:prstGeom>
          <a:solidFill>
            <a:srgbClr val="C9A227"/>
          </a:solidFill>
          <a:ln/>
        </p:spPr>
        <p:txBody>
          <a:bodyPr wrap="square" rtlCol="0" anchor="ctr"/>
          <a:lstStyle/>
          <a:p>
            <a:pPr marL="0" indent="0">
              <a:buNone/>
            </a:pPr>
            <a:endParaRPr lang="en-US" dirty="0"/>
          </a:p>
        </p:txBody>
      </p:sp>
      <p:sp>
        <p:nvSpPr>
          <p:cNvPr id="15" name="Text 13"/>
          <p:cNvSpPr/>
          <p:nvPr/>
        </p:nvSpPr>
        <p:spPr>
          <a:xfrm>
            <a:off x="334997" y="4661595"/>
            <a:ext cx="2749183" cy="119955"/>
          </a:xfrm>
          <a:prstGeom prst="rect">
            <a:avLst/>
          </a:prstGeom>
          <a:noFill/>
          <a:ln/>
        </p:spPr>
        <p:txBody>
          <a:bodyPr wrap="square" lIns="0" tIns="0" rIns="0" bIns="0" rtlCol="0" anchor="t"/>
          <a:lstStyle/>
          <a:p>
            <a:pPr marL="0" indent="0" algn="ctr">
              <a:lnSpc>
                <a:spcPts val="945"/>
              </a:lnSpc>
              <a:buNone/>
            </a:pPr>
            <a:r>
              <a:rPr lang="en-US" sz="675" b="1" dirty="0">
                <a:solidFill>
                  <a:srgbClr val="1A1F2E"/>
                </a:solidFill>
                <a:latin typeface="Arial" pitchFamily="34" charset="0"/>
                <a:ea typeface="Arial" pitchFamily="34" charset="-122"/>
                <a:cs typeface="Arial" pitchFamily="34" charset="-120"/>
              </a:rPr>
              <a:t>Share complete setups instantly</a:t>
            </a:r>
            <a:endParaRPr lang="en-US" sz="675" dirty="0"/>
          </a:p>
        </p:txBody>
      </p:sp>
      <p:sp>
        <p:nvSpPr>
          <p:cNvPr id="16" name="Text 14"/>
          <p:cNvSpPr/>
          <p:nvPr/>
        </p:nvSpPr>
        <p:spPr>
          <a:xfrm>
            <a:off x="3571577" y="0"/>
            <a:ext cx="5572423" cy="5143500"/>
          </a:xfrm>
          <a:prstGeom prst="rect">
            <a:avLst/>
          </a:prstGeom>
          <a:solidFill>
            <a:srgbClr val="F7F8FA"/>
          </a:solidFill>
          <a:ln/>
        </p:spPr>
        <p:txBody>
          <a:bodyPr wrap="square" rtlCol="0" anchor="ctr"/>
          <a:lstStyle/>
          <a:p>
            <a:pPr marL="0" indent="0">
              <a:buNone/>
            </a:pPr>
            <a:endParaRPr lang="en-US" dirty="0"/>
          </a:p>
        </p:txBody>
      </p:sp>
      <p:sp>
        <p:nvSpPr>
          <p:cNvPr id="17" name="Text 15"/>
          <p:cNvSpPr/>
          <p:nvPr/>
        </p:nvSpPr>
        <p:spPr>
          <a:xfrm>
            <a:off x="3838277" y="798761"/>
            <a:ext cx="5139803" cy="159990"/>
          </a:xfrm>
          <a:prstGeom prst="rect">
            <a:avLst/>
          </a:prstGeom>
          <a:noFill/>
          <a:ln/>
        </p:spPr>
        <p:txBody>
          <a:bodyPr wrap="square" lIns="0" tIns="0" rIns="0" bIns="0" rtlCol="0" anchor="t"/>
          <a:lstStyle/>
          <a:p>
            <a:pPr marL="0" indent="0" algn="l">
              <a:lnSpc>
                <a:spcPts val="1260"/>
              </a:lnSpc>
              <a:spcAft>
                <a:spcPts val="750"/>
              </a:spcAft>
              <a:buNone/>
            </a:pPr>
            <a:r>
              <a:rPr lang="en-US" sz="900" b="1" dirty="0">
                <a:solidFill>
                  <a:srgbClr val="1A1F2E"/>
                </a:solidFill>
                <a:latin typeface="Arial" pitchFamily="34" charset="0"/>
                <a:ea typeface="Arial" pitchFamily="34" charset="-122"/>
                <a:cs typeface="Arial" pitchFamily="34" charset="-120"/>
              </a:rPr>
              <a:t>HOW PLUGINS WORK</a:t>
            </a:r>
            <a:endParaRPr lang="en-US" sz="900" dirty="0"/>
          </a:p>
        </p:txBody>
      </p:sp>
      <p:sp>
        <p:nvSpPr>
          <p:cNvPr id="18" name="Text 16"/>
          <p:cNvSpPr/>
          <p:nvPr/>
        </p:nvSpPr>
        <p:spPr>
          <a:xfrm>
            <a:off x="3838277" y="1206401"/>
            <a:ext cx="5039023" cy="710357"/>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19" name="Text 17"/>
          <p:cNvSpPr/>
          <p:nvPr/>
        </p:nvSpPr>
        <p:spPr>
          <a:xfrm>
            <a:off x="3981152" y="1349276"/>
            <a:ext cx="1381274" cy="424607"/>
          </a:xfrm>
          <a:prstGeom prst="rect">
            <a:avLst/>
          </a:prstGeom>
          <a:solidFill>
            <a:srgbClr val="F7F8FA"/>
          </a:solidFill>
          <a:ln/>
        </p:spPr>
        <p:txBody>
          <a:bodyPr wrap="square" rtlCol="0" anchor="ctr"/>
          <a:lstStyle/>
          <a:p>
            <a:pPr marL="0" indent="0">
              <a:buNone/>
            </a:pPr>
            <a:endParaRPr lang="en-US" dirty="0"/>
          </a:p>
        </p:txBody>
      </p:sp>
      <p:sp>
        <p:nvSpPr>
          <p:cNvPr id="20" name="Text 18"/>
          <p:cNvSpPr/>
          <p:nvPr/>
        </p:nvSpPr>
        <p:spPr>
          <a:xfrm>
            <a:off x="4045064" y="1425476"/>
            <a:ext cx="1253451" cy="146596"/>
          </a:xfrm>
          <a:prstGeom prst="rect">
            <a:avLst/>
          </a:prstGeom>
          <a:noFill/>
          <a:ln/>
        </p:spPr>
        <p:txBody>
          <a:bodyPr wrap="square" lIns="0" tIns="0" rIns="0" bIns="0" rtlCol="0" anchor="t"/>
          <a:lstStyle/>
          <a:p>
            <a:pPr marL="0" indent="0" algn="ctr">
              <a:lnSpc>
                <a:spcPts val="1155"/>
              </a:lnSpc>
              <a:buNone/>
            </a:pPr>
            <a:r>
              <a:rPr lang="en-US" sz="825" b="1" dirty="0">
                <a:solidFill>
                  <a:srgbClr val="D97706"/>
                </a:solidFill>
                <a:latin typeface="Arial" pitchFamily="34" charset="0"/>
                <a:ea typeface="Arial" pitchFamily="34" charset="-122"/>
                <a:cs typeface="Arial" pitchFamily="34" charset="-120"/>
              </a:rPr>
              <a:t>Install</a:t>
            </a:r>
            <a:endParaRPr lang="en-US" sz="825" dirty="0"/>
          </a:p>
        </p:txBody>
      </p:sp>
      <p:sp>
        <p:nvSpPr>
          <p:cNvPr id="21" name="Text 19"/>
          <p:cNvSpPr/>
          <p:nvPr/>
        </p:nvSpPr>
        <p:spPr>
          <a:xfrm>
            <a:off x="4045064" y="1591121"/>
            <a:ext cx="1253451" cy="106561"/>
          </a:xfrm>
          <a:prstGeom prst="rect">
            <a:avLst/>
          </a:prstGeom>
          <a:noFill/>
          <a:ln/>
        </p:spPr>
        <p:txBody>
          <a:bodyPr wrap="square" lIns="0" tIns="0" rIns="0" bIns="0" rtlCol="0" anchor="t"/>
          <a:lstStyle/>
          <a:p>
            <a:pPr marL="0" indent="0" algn="ctr">
              <a:lnSpc>
                <a:spcPts val="840"/>
              </a:lnSpc>
              <a:spcBef>
                <a:spcPts val="150"/>
              </a:spcBef>
              <a:buNone/>
            </a:pPr>
            <a:r>
              <a:rPr lang="en-US" sz="600" dirty="0">
                <a:solidFill>
                  <a:srgbClr val="9CA3AF"/>
                </a:solidFill>
                <a:latin typeface="Arial" pitchFamily="34" charset="0"/>
                <a:ea typeface="Arial" pitchFamily="34" charset="-122"/>
                <a:cs typeface="Arial" pitchFamily="34" charset="-120"/>
              </a:rPr>
              <a:t>/plugin install</a:t>
            </a:r>
            <a:endParaRPr lang="en-US" sz="600" dirty="0"/>
          </a:p>
        </p:txBody>
      </p:sp>
      <p:sp>
        <p:nvSpPr>
          <p:cNvPr id="22" name="Text 20"/>
          <p:cNvSpPr/>
          <p:nvPr/>
        </p:nvSpPr>
        <p:spPr>
          <a:xfrm>
            <a:off x="5667226" y="1349276"/>
            <a:ext cx="1381274" cy="424607"/>
          </a:xfrm>
          <a:prstGeom prst="rect">
            <a:avLst/>
          </a:prstGeom>
          <a:solidFill>
            <a:srgbClr val="F7F8FA"/>
          </a:solidFill>
          <a:ln/>
        </p:spPr>
        <p:txBody>
          <a:bodyPr wrap="square" rtlCol="0" anchor="ctr"/>
          <a:lstStyle/>
          <a:p>
            <a:pPr marL="0" indent="0">
              <a:buNone/>
            </a:pPr>
            <a:endParaRPr lang="en-US" dirty="0"/>
          </a:p>
        </p:txBody>
      </p:sp>
      <p:sp>
        <p:nvSpPr>
          <p:cNvPr id="23" name="Text 21"/>
          <p:cNvSpPr/>
          <p:nvPr/>
        </p:nvSpPr>
        <p:spPr>
          <a:xfrm>
            <a:off x="5731137" y="1425476"/>
            <a:ext cx="1253451" cy="146596"/>
          </a:xfrm>
          <a:prstGeom prst="rect">
            <a:avLst/>
          </a:prstGeom>
          <a:noFill/>
          <a:ln/>
        </p:spPr>
        <p:txBody>
          <a:bodyPr wrap="square" lIns="0" tIns="0" rIns="0" bIns="0" rtlCol="0" anchor="t"/>
          <a:lstStyle/>
          <a:p>
            <a:pPr marL="0" indent="0" algn="ctr">
              <a:lnSpc>
                <a:spcPts val="1155"/>
              </a:lnSpc>
              <a:buNone/>
            </a:pPr>
            <a:r>
              <a:rPr lang="en-US" sz="825" b="1" dirty="0">
                <a:solidFill>
                  <a:srgbClr val="D97706"/>
                </a:solidFill>
                <a:latin typeface="Arial" pitchFamily="34" charset="0"/>
                <a:ea typeface="Arial" pitchFamily="34" charset="-122"/>
                <a:cs typeface="Arial" pitchFamily="34" charset="-120"/>
              </a:rPr>
              <a:t>Enable</a:t>
            </a:r>
            <a:endParaRPr lang="en-US" sz="825" dirty="0"/>
          </a:p>
        </p:txBody>
      </p:sp>
      <p:sp>
        <p:nvSpPr>
          <p:cNvPr id="24" name="Text 22"/>
          <p:cNvSpPr/>
          <p:nvPr/>
        </p:nvSpPr>
        <p:spPr>
          <a:xfrm>
            <a:off x="5731137" y="1591121"/>
            <a:ext cx="1253451" cy="106561"/>
          </a:xfrm>
          <a:prstGeom prst="rect">
            <a:avLst/>
          </a:prstGeom>
          <a:noFill/>
          <a:ln/>
        </p:spPr>
        <p:txBody>
          <a:bodyPr wrap="square" lIns="0" tIns="0" rIns="0" bIns="0" rtlCol="0" anchor="t"/>
          <a:lstStyle/>
          <a:p>
            <a:pPr marL="0" indent="0" algn="ctr">
              <a:lnSpc>
                <a:spcPts val="840"/>
              </a:lnSpc>
              <a:spcBef>
                <a:spcPts val="150"/>
              </a:spcBef>
              <a:buNone/>
            </a:pPr>
            <a:r>
              <a:rPr lang="en-US" sz="600" dirty="0">
                <a:solidFill>
                  <a:srgbClr val="9CA3AF"/>
                </a:solidFill>
                <a:latin typeface="Arial" pitchFamily="34" charset="0"/>
                <a:ea typeface="Arial" pitchFamily="34" charset="-122"/>
                <a:cs typeface="Arial" pitchFamily="34" charset="-120"/>
              </a:rPr>
              <a:t>Auto or manual</a:t>
            </a:r>
            <a:endParaRPr lang="en-US" sz="600" dirty="0"/>
          </a:p>
        </p:txBody>
      </p:sp>
      <p:sp>
        <p:nvSpPr>
          <p:cNvPr id="25" name="Text 23"/>
          <p:cNvSpPr/>
          <p:nvPr/>
        </p:nvSpPr>
        <p:spPr>
          <a:xfrm>
            <a:off x="7353300" y="1349276"/>
            <a:ext cx="1381274" cy="424607"/>
          </a:xfrm>
          <a:prstGeom prst="rect">
            <a:avLst/>
          </a:prstGeom>
          <a:solidFill>
            <a:srgbClr val="F7F8FA"/>
          </a:solidFill>
          <a:ln/>
        </p:spPr>
        <p:txBody>
          <a:bodyPr wrap="square" rtlCol="0" anchor="ctr"/>
          <a:lstStyle/>
          <a:p>
            <a:pPr marL="0" indent="0">
              <a:buNone/>
            </a:pPr>
            <a:endParaRPr lang="en-US" dirty="0"/>
          </a:p>
        </p:txBody>
      </p:sp>
      <p:sp>
        <p:nvSpPr>
          <p:cNvPr id="26" name="Text 24"/>
          <p:cNvSpPr/>
          <p:nvPr/>
        </p:nvSpPr>
        <p:spPr>
          <a:xfrm>
            <a:off x="7417211" y="1425476"/>
            <a:ext cx="1253451" cy="146596"/>
          </a:xfrm>
          <a:prstGeom prst="rect">
            <a:avLst/>
          </a:prstGeom>
          <a:noFill/>
          <a:ln/>
        </p:spPr>
        <p:txBody>
          <a:bodyPr wrap="square" lIns="0" tIns="0" rIns="0" bIns="0" rtlCol="0" anchor="t"/>
          <a:lstStyle/>
          <a:p>
            <a:pPr marL="0" indent="0" algn="ctr">
              <a:lnSpc>
                <a:spcPts val="1155"/>
              </a:lnSpc>
              <a:buNone/>
            </a:pPr>
            <a:r>
              <a:rPr lang="en-US" sz="825" b="1" dirty="0">
                <a:solidFill>
                  <a:srgbClr val="D97706"/>
                </a:solidFill>
                <a:latin typeface="Arial" pitchFamily="34" charset="0"/>
                <a:ea typeface="Arial" pitchFamily="34" charset="-122"/>
                <a:cs typeface="Arial" pitchFamily="34" charset="-120"/>
              </a:rPr>
              <a:t>Active</a:t>
            </a:r>
            <a:endParaRPr lang="en-US" sz="825" dirty="0"/>
          </a:p>
        </p:txBody>
      </p:sp>
      <p:sp>
        <p:nvSpPr>
          <p:cNvPr id="27" name="Text 25"/>
          <p:cNvSpPr/>
          <p:nvPr/>
        </p:nvSpPr>
        <p:spPr>
          <a:xfrm>
            <a:off x="7417211" y="1591121"/>
            <a:ext cx="1253451" cy="106561"/>
          </a:xfrm>
          <a:prstGeom prst="rect">
            <a:avLst/>
          </a:prstGeom>
          <a:noFill/>
          <a:ln/>
        </p:spPr>
        <p:txBody>
          <a:bodyPr wrap="square" lIns="0" tIns="0" rIns="0" bIns="0" rtlCol="0" anchor="t"/>
          <a:lstStyle/>
          <a:p>
            <a:pPr marL="0" indent="0" algn="ctr">
              <a:lnSpc>
                <a:spcPts val="840"/>
              </a:lnSpc>
              <a:spcBef>
                <a:spcPts val="150"/>
              </a:spcBef>
              <a:buNone/>
            </a:pPr>
            <a:r>
              <a:rPr lang="en-US" sz="600" dirty="0">
                <a:solidFill>
                  <a:srgbClr val="9CA3AF"/>
                </a:solidFill>
                <a:latin typeface="Arial" pitchFamily="34" charset="0"/>
                <a:ea typeface="Arial" pitchFamily="34" charset="-122"/>
                <a:cs typeface="Arial" pitchFamily="34" charset="-120"/>
              </a:rPr>
              <a:t>MCP servers start</a:t>
            </a:r>
            <a:endParaRPr lang="en-US" sz="600" dirty="0"/>
          </a:p>
        </p:txBody>
      </p:sp>
      <p:sp>
        <p:nvSpPr>
          <p:cNvPr id="28" name="Text 26"/>
          <p:cNvSpPr/>
          <p:nvPr/>
        </p:nvSpPr>
        <p:spPr>
          <a:xfrm>
            <a:off x="3838277" y="2183457"/>
            <a:ext cx="5039023" cy="1351806"/>
          </a:xfrm>
          <a:prstGeom prst="rect">
            <a:avLst/>
          </a:prstGeom>
          <a:solidFill>
            <a:srgbClr val="1A1F2E"/>
          </a:solidFill>
          <a:ln/>
        </p:spPr>
        <p:txBody>
          <a:bodyPr wrap="square" rtlCol="0" anchor="ctr"/>
          <a:lstStyle/>
          <a:p>
            <a:pPr marL="0" indent="0">
              <a:buNone/>
            </a:pPr>
            <a:endParaRPr lang="en-US" dirty="0"/>
          </a:p>
        </p:txBody>
      </p:sp>
      <p:sp>
        <p:nvSpPr>
          <p:cNvPr id="29" name="Text 27"/>
          <p:cNvSpPr/>
          <p:nvPr/>
        </p:nvSpPr>
        <p:spPr>
          <a:xfrm>
            <a:off x="3952577" y="2297757"/>
            <a:ext cx="4906631" cy="106561"/>
          </a:xfrm>
          <a:prstGeom prst="rect">
            <a:avLst/>
          </a:prstGeom>
          <a:noFill/>
          <a:ln/>
        </p:spPr>
        <p:txBody>
          <a:bodyPr wrap="square" lIns="0" tIns="0" rIns="0" bIns="0" rtlCol="0" anchor="t"/>
          <a:lstStyle/>
          <a:p>
            <a:pPr marL="0" indent="0" algn="l">
              <a:lnSpc>
                <a:spcPts val="840"/>
              </a:lnSpc>
              <a:spcAft>
                <a:spcPts val="450"/>
              </a:spcAft>
              <a:buNone/>
            </a:pPr>
            <a:r>
              <a:rPr lang="en-US" sz="600" dirty="0">
                <a:solidFill>
                  <a:srgbClr val="C9A227"/>
                </a:solidFill>
                <a:latin typeface="Arial" pitchFamily="34" charset="0"/>
                <a:ea typeface="Arial" pitchFamily="34" charset="-122"/>
                <a:cs typeface="Arial" pitchFamily="34" charset="-120"/>
              </a:rPr>
              <a:t>EXAMPLE: INSTALL A PLUGIN</a:t>
            </a:r>
            <a:endParaRPr lang="en-US" sz="600" dirty="0"/>
          </a:p>
        </p:txBody>
      </p:sp>
      <p:sp>
        <p:nvSpPr>
          <p:cNvPr id="30" name="Text 28"/>
          <p:cNvSpPr/>
          <p:nvPr/>
        </p:nvSpPr>
        <p:spPr>
          <a:xfrm>
            <a:off x="3952577" y="2461468"/>
            <a:ext cx="4906631" cy="959495"/>
          </a:xfrm>
          <a:prstGeom prst="rect">
            <a:avLst/>
          </a:prstGeom>
          <a:noFill/>
          <a:ln/>
        </p:spPr>
        <p:txBody>
          <a:bodyPr wrap="square" lIns="0" tIns="0" rIns="0" bIns="0" rtlCol="0" anchor="t"/>
          <a:lstStyle/>
          <a:p>
            <a:pPr marL="0" indent="0" algn="l">
              <a:lnSpc>
                <a:spcPts val="1080"/>
              </a:lnSpc>
              <a:buNone/>
            </a:pPr>
            <a:r>
              <a:rPr lang="en-US" sz="675" dirty="0">
                <a:solidFill>
                  <a:srgbClr val="9CA3AF">
                    <a:alpha val="80000"/>
                  </a:srgbClr>
                </a:solidFill>
                <a:latin typeface="Arial" pitchFamily="34" charset="0"/>
                <a:ea typeface="Arial" pitchFamily="34" charset="-122"/>
                <a:cs typeface="Arial" pitchFamily="34" charset="-120"/>
              </a:rPr>
              <a:t># Browse available plugins</a:t>
            </a:r>
            <a:endParaRPr lang="en-US" sz="675" dirty="0"/>
          </a:p>
          <a:p>
            <a:pPr marL="0" indent="0" algn="l">
              <a:lnSpc>
                <a:spcPts val="1080"/>
              </a:lnSpc>
              <a:buNone/>
            </a:pPr>
            <a:r>
              <a:rPr lang="en-US" sz="675" dirty="0">
                <a:solidFill>
                  <a:srgbClr val="FFFFFF">
                    <a:alpha val="80000"/>
                  </a:srgbClr>
                </a:solidFill>
                <a:latin typeface="Arial" pitchFamily="34" charset="0"/>
                <a:ea typeface="Arial" pitchFamily="34" charset="-122"/>
                <a:cs typeface="Arial" pitchFamily="34" charset="-120"/>
              </a:rPr>
              <a:t> /plugin list</a:t>
            </a:r>
            <a:endParaRPr lang="en-US" sz="675" dirty="0"/>
          </a:p>
          <a:p>
            <a:pPr marL="0" indent="0" algn="l">
              <a:lnSpc>
                <a:spcPts val="1080"/>
              </a:lnSpc>
              <a:buNone/>
            </a:pPr>
            <a:endParaRPr lang="en-US" sz="675" dirty="0"/>
          </a:p>
          <a:p>
            <a:pPr marL="0" indent="0" algn="l">
              <a:lnSpc>
                <a:spcPts val="1080"/>
              </a:lnSpc>
              <a:buNone/>
            </a:pPr>
            <a:r>
              <a:rPr lang="en-US" sz="675" dirty="0">
                <a:solidFill>
                  <a:srgbClr val="FFFFFF">
                    <a:alpha val="80000"/>
                  </a:srgbClr>
                </a:solidFill>
                <a:latin typeface="Arial" pitchFamily="34" charset="0"/>
                <a:ea typeface="Arial" pitchFamily="34" charset="-122"/>
                <a:cs typeface="Arial" pitchFamily="34" charset="-120"/>
              </a:rPr>
              <a:t> </a:t>
            </a:r>
            <a:endParaRPr lang="en-US" sz="675" dirty="0"/>
          </a:p>
          <a:p>
            <a:pPr marL="0" indent="0" algn="l">
              <a:lnSpc>
                <a:spcPts val="1080"/>
              </a:lnSpc>
              <a:buNone/>
            </a:pPr>
            <a:r>
              <a:rPr lang="en-US" sz="675" dirty="0">
                <a:solidFill>
                  <a:srgbClr val="9CA3AF">
                    <a:alpha val="80000"/>
                  </a:srgbClr>
                </a:solidFill>
                <a:latin typeface="Arial" pitchFamily="34" charset="0"/>
                <a:ea typeface="Arial" pitchFamily="34" charset="-122"/>
                <a:cs typeface="Arial" pitchFamily="34" charset="-120"/>
              </a:rPr>
              <a:t># Install specific plugin</a:t>
            </a:r>
            <a:endParaRPr lang="en-US" sz="675" dirty="0"/>
          </a:p>
          <a:p>
            <a:pPr marL="0" indent="0" algn="l">
              <a:lnSpc>
                <a:spcPts val="1080"/>
              </a:lnSpc>
              <a:buNone/>
            </a:pPr>
            <a:r>
              <a:rPr lang="en-US" sz="675" dirty="0">
                <a:solidFill>
                  <a:srgbClr val="FFFFFF">
                    <a:alpha val="80000"/>
                  </a:srgbClr>
                </a:solidFill>
                <a:latin typeface="Arial" pitchFamily="34" charset="0"/>
                <a:ea typeface="Arial" pitchFamily="34" charset="-122"/>
                <a:cs typeface="Arial" pitchFamily="34" charset="-120"/>
              </a:rPr>
              <a:t> /plugin install @anthropic/github-plugin</a:t>
            </a:r>
            <a:endParaRPr lang="en-US" sz="675" dirty="0"/>
          </a:p>
          <a:p>
            <a:pPr marL="0" indent="0" algn="l">
              <a:lnSpc>
                <a:spcPts val="1080"/>
              </a:lnSpc>
              <a:buNone/>
            </a:pPr>
            <a:endParaRPr lang="en-US" sz="675" dirty="0"/>
          </a:p>
          <a:p>
            <a:pPr marL="0" indent="0" algn="l">
              <a:lnSpc>
                <a:spcPts val="1080"/>
              </a:lnSpc>
              <a:buNone/>
            </a:pPr>
            <a:r>
              <a:rPr lang="en-US" sz="675" dirty="0">
                <a:solidFill>
                  <a:srgbClr val="FFFFFF">
                    <a:alpha val="80000"/>
                  </a:srgbClr>
                </a:solidFill>
                <a:latin typeface="Arial" pitchFamily="34" charset="0"/>
                <a:ea typeface="Arial" pitchFamily="34" charset="-122"/>
                <a:cs typeface="Arial" pitchFamily="34" charset="-120"/>
              </a:rPr>
              <a:t> </a:t>
            </a:r>
            <a:endParaRPr lang="en-US" sz="675" dirty="0"/>
          </a:p>
          <a:p>
            <a:pPr marL="0" indent="0" algn="l">
              <a:lnSpc>
                <a:spcPts val="1080"/>
              </a:lnSpc>
              <a:buNone/>
            </a:pPr>
            <a:r>
              <a:rPr lang="en-US" sz="675" dirty="0">
                <a:solidFill>
                  <a:srgbClr val="9CA3AF">
                    <a:alpha val="80000"/>
                  </a:srgbClr>
                </a:solidFill>
                <a:latin typeface="Arial" pitchFamily="34" charset="0"/>
                <a:ea typeface="Arial" pitchFamily="34" charset="-122"/>
                <a:cs typeface="Arial" pitchFamily="34" charset="-120"/>
              </a:rPr>
              <a:t># Plugin's MCP servers start automatically</a:t>
            </a:r>
            <a:endParaRPr lang="en-US" sz="675" dirty="0"/>
          </a:p>
        </p:txBody>
      </p:sp>
      <p:sp>
        <p:nvSpPr>
          <p:cNvPr id="31" name="Text 29"/>
          <p:cNvSpPr/>
          <p:nvPr/>
        </p:nvSpPr>
        <p:spPr>
          <a:xfrm>
            <a:off x="3838277" y="3782913"/>
            <a:ext cx="2481411" cy="561677"/>
          </a:xfrm>
          <a:prstGeom prst="rect">
            <a:avLst/>
          </a:prstGeom>
          <a:solidFill>
            <a:srgbClr val="DCFCE7"/>
          </a:solidFill>
          <a:ln/>
        </p:spPr>
        <p:txBody>
          <a:bodyPr wrap="square" rtlCol="0" anchor="ctr"/>
          <a:lstStyle/>
          <a:p>
            <a:pPr marL="0" indent="0">
              <a:buNone/>
            </a:pPr>
            <a:endParaRPr lang="en-US" dirty="0"/>
          </a:p>
        </p:txBody>
      </p:sp>
      <p:sp>
        <p:nvSpPr>
          <p:cNvPr id="32" name="Shape 30"/>
          <p:cNvSpPr/>
          <p:nvPr/>
        </p:nvSpPr>
        <p:spPr>
          <a:xfrm>
            <a:off x="3852565" y="3782913"/>
            <a:ext cx="0" cy="561677"/>
          </a:xfrm>
          <a:prstGeom prst="line">
            <a:avLst/>
          </a:prstGeom>
          <a:noFill/>
          <a:ln w="28575">
            <a:solidFill>
              <a:srgbClr val="059669"/>
            </a:solidFill>
            <a:prstDash val="solid"/>
          </a:ln>
        </p:spPr>
        <p:txBody>
          <a:bodyPr/>
          <a:lstStyle/>
          <a:p>
            <a:endParaRPr lang="en-US"/>
          </a:p>
        </p:txBody>
      </p:sp>
      <p:sp>
        <p:nvSpPr>
          <p:cNvPr id="33" name="Text 31"/>
          <p:cNvSpPr/>
          <p:nvPr/>
        </p:nvSpPr>
        <p:spPr>
          <a:xfrm>
            <a:off x="3962102" y="3878163"/>
            <a:ext cx="2307583" cy="119955"/>
          </a:xfrm>
          <a:prstGeom prst="rect">
            <a:avLst/>
          </a:prstGeom>
          <a:noFill/>
          <a:ln/>
        </p:spPr>
        <p:txBody>
          <a:bodyPr wrap="square" lIns="0" tIns="0" rIns="0" bIns="0" rtlCol="0" anchor="t"/>
          <a:lstStyle/>
          <a:p>
            <a:pPr marL="0" indent="0" algn="l">
              <a:lnSpc>
                <a:spcPts val="945"/>
              </a:lnSpc>
              <a:spcAft>
                <a:spcPts val="300"/>
              </a:spcAft>
              <a:buNone/>
            </a:pPr>
            <a:r>
              <a:rPr lang="en-US" sz="675" b="1" dirty="0">
                <a:solidFill>
                  <a:srgbClr val="166534"/>
                </a:solidFill>
                <a:latin typeface="Arial" pitchFamily="34" charset="0"/>
                <a:ea typeface="Arial" pitchFamily="34" charset="-122"/>
                <a:cs typeface="Arial" pitchFamily="34" charset="-120"/>
              </a:rPr>
              <a:t>ADVANTAGE</a:t>
            </a:r>
            <a:endParaRPr lang="en-US" sz="675" dirty="0"/>
          </a:p>
        </p:txBody>
      </p:sp>
      <p:sp>
        <p:nvSpPr>
          <p:cNvPr id="34" name="Text 32"/>
          <p:cNvSpPr/>
          <p:nvPr/>
        </p:nvSpPr>
        <p:spPr>
          <a:xfrm>
            <a:off x="3962102" y="4036219"/>
            <a:ext cx="2307583" cy="213122"/>
          </a:xfrm>
          <a:prstGeom prst="rect">
            <a:avLst/>
          </a:prstGeom>
          <a:noFill/>
          <a:ln/>
        </p:spPr>
        <p:txBody>
          <a:bodyPr wrap="square" lIns="0" tIns="0" rIns="0" bIns="0" rtlCol="0" anchor="t"/>
          <a:lstStyle/>
          <a:p>
            <a:pPr marL="0" indent="0" algn="l">
              <a:lnSpc>
                <a:spcPts val="840"/>
              </a:lnSpc>
              <a:buNone/>
            </a:pPr>
            <a:r>
              <a:rPr lang="en-US" sz="600" dirty="0">
                <a:solidFill>
                  <a:srgbClr val="166534"/>
                </a:solidFill>
                <a:latin typeface="Arial" pitchFamily="34" charset="0"/>
                <a:ea typeface="Arial" pitchFamily="34" charset="-122"/>
                <a:cs typeface="Arial" pitchFamily="34" charset="-120"/>
              </a:rPr>
              <a:t>One command vs. manual config of commands + agents + MCP + hooks</a:t>
            </a:r>
            <a:endParaRPr lang="en-US" sz="600" dirty="0"/>
          </a:p>
        </p:txBody>
      </p:sp>
      <p:sp>
        <p:nvSpPr>
          <p:cNvPr id="35" name="Text 33"/>
          <p:cNvSpPr/>
          <p:nvPr/>
        </p:nvSpPr>
        <p:spPr>
          <a:xfrm>
            <a:off x="6395889" y="3836194"/>
            <a:ext cx="2481411" cy="455116"/>
          </a:xfrm>
          <a:prstGeom prst="rect">
            <a:avLst/>
          </a:prstGeom>
          <a:solidFill>
            <a:srgbClr val="DBEAFE"/>
          </a:solidFill>
          <a:ln/>
        </p:spPr>
        <p:txBody>
          <a:bodyPr wrap="square" rtlCol="0" anchor="ctr"/>
          <a:lstStyle/>
          <a:p>
            <a:pPr marL="0" indent="0">
              <a:buNone/>
            </a:pPr>
            <a:endParaRPr lang="en-US" dirty="0"/>
          </a:p>
        </p:txBody>
      </p:sp>
      <p:sp>
        <p:nvSpPr>
          <p:cNvPr id="36" name="Shape 34"/>
          <p:cNvSpPr/>
          <p:nvPr/>
        </p:nvSpPr>
        <p:spPr>
          <a:xfrm>
            <a:off x="6410176" y="3836194"/>
            <a:ext cx="0" cy="455116"/>
          </a:xfrm>
          <a:prstGeom prst="line">
            <a:avLst/>
          </a:prstGeom>
          <a:noFill/>
          <a:ln w="28575">
            <a:solidFill>
              <a:srgbClr val="3B82F6"/>
            </a:solidFill>
            <a:prstDash val="solid"/>
          </a:ln>
        </p:spPr>
        <p:txBody>
          <a:bodyPr/>
          <a:lstStyle/>
          <a:p>
            <a:endParaRPr lang="en-US"/>
          </a:p>
        </p:txBody>
      </p:sp>
      <p:sp>
        <p:nvSpPr>
          <p:cNvPr id="37" name="Text 35"/>
          <p:cNvSpPr/>
          <p:nvPr/>
        </p:nvSpPr>
        <p:spPr>
          <a:xfrm>
            <a:off x="6519714" y="3931444"/>
            <a:ext cx="2307583" cy="119955"/>
          </a:xfrm>
          <a:prstGeom prst="rect">
            <a:avLst/>
          </a:prstGeom>
          <a:noFill/>
          <a:ln/>
        </p:spPr>
        <p:txBody>
          <a:bodyPr wrap="square" lIns="0" tIns="0" rIns="0" bIns="0" rtlCol="0" anchor="t"/>
          <a:lstStyle/>
          <a:p>
            <a:pPr marL="0" indent="0" algn="l">
              <a:lnSpc>
                <a:spcPts val="945"/>
              </a:lnSpc>
              <a:spcAft>
                <a:spcPts val="300"/>
              </a:spcAft>
              <a:buNone/>
            </a:pPr>
            <a:r>
              <a:rPr lang="en-US" sz="675" b="1" dirty="0">
                <a:solidFill>
                  <a:srgbClr val="1E40AF"/>
                </a:solidFill>
                <a:latin typeface="Arial" pitchFamily="34" charset="0"/>
                <a:ea typeface="Arial" pitchFamily="34" charset="-122"/>
                <a:cs typeface="Arial" pitchFamily="34" charset="-120"/>
              </a:rPr>
              <a:t>CREATE YOUR OWN</a:t>
            </a:r>
            <a:endParaRPr lang="en-US" sz="675" dirty="0"/>
          </a:p>
        </p:txBody>
      </p:sp>
      <p:sp>
        <p:nvSpPr>
          <p:cNvPr id="38" name="Text 36"/>
          <p:cNvSpPr/>
          <p:nvPr/>
        </p:nvSpPr>
        <p:spPr>
          <a:xfrm>
            <a:off x="6519714" y="4089499"/>
            <a:ext cx="2307583" cy="106561"/>
          </a:xfrm>
          <a:prstGeom prst="rect">
            <a:avLst/>
          </a:prstGeom>
          <a:noFill/>
          <a:ln/>
        </p:spPr>
        <p:txBody>
          <a:bodyPr wrap="square" lIns="0" tIns="0" rIns="0" bIns="0" rtlCol="0" anchor="t"/>
          <a:lstStyle/>
          <a:p>
            <a:pPr marL="0" indent="0" algn="l">
              <a:lnSpc>
                <a:spcPts val="840"/>
              </a:lnSpc>
              <a:buNone/>
            </a:pPr>
            <a:r>
              <a:rPr lang="en-US" sz="600" dirty="0">
                <a:solidFill>
                  <a:srgbClr val="1E40AF"/>
                </a:solidFill>
                <a:latin typeface="Arial" pitchFamily="34" charset="0"/>
                <a:ea typeface="Arial" pitchFamily="34" charset="-122"/>
                <a:cs typeface="Arial" pitchFamily="34" charset="-120"/>
              </a:rPr>
              <a:t>Package your team's setup as a plugin for instant onboarding</a:t>
            </a:r>
            <a:endParaRPr lang="en-US" sz="6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0" y="0"/>
            <a:ext cx="3419177" cy="5143500"/>
          </a:xfrm>
          <a:prstGeom prst="rect">
            <a:avLst/>
          </a:prstGeom>
          <a:solidFill>
            <a:srgbClr val="1A1F2E"/>
          </a:solidFill>
          <a:ln/>
        </p:spPr>
        <p:txBody>
          <a:bodyPr wrap="square" rtlCol="0" anchor="ctr"/>
          <a:lstStyle/>
          <a:p>
            <a:pPr marL="0" indent="0">
              <a:buNone/>
            </a:pPr>
            <a:endParaRPr lang="en-US" dirty="0"/>
          </a:p>
        </p:txBody>
      </p:sp>
      <p:sp>
        <p:nvSpPr>
          <p:cNvPr id="3" name="Text 1"/>
          <p:cNvSpPr/>
          <p:nvPr/>
        </p:nvSpPr>
        <p:spPr>
          <a:xfrm>
            <a:off x="266700" y="417612"/>
            <a:ext cx="648146" cy="182761"/>
          </a:xfrm>
          <a:prstGeom prst="rect">
            <a:avLst/>
          </a:prstGeom>
          <a:solidFill>
            <a:srgbClr val="C9A227"/>
          </a:solidFill>
          <a:ln/>
        </p:spPr>
        <p:txBody>
          <a:bodyPr wrap="square" rtlCol="0" anchor="ctr"/>
          <a:lstStyle/>
          <a:p>
            <a:pPr marL="0" indent="0">
              <a:buNone/>
            </a:pPr>
            <a:endParaRPr lang="en-US" dirty="0"/>
          </a:p>
        </p:txBody>
      </p:sp>
      <p:sp>
        <p:nvSpPr>
          <p:cNvPr id="4" name="Text 2"/>
          <p:cNvSpPr/>
          <p:nvPr/>
        </p:nvSpPr>
        <p:spPr>
          <a:xfrm>
            <a:off x="361950" y="455712"/>
            <a:ext cx="466799" cy="106561"/>
          </a:xfrm>
          <a:prstGeom prst="rect">
            <a:avLst/>
          </a:prstGeom>
          <a:noFill/>
          <a:ln/>
        </p:spPr>
        <p:txBody>
          <a:bodyPr wrap="square" lIns="0" tIns="0" rIns="0" bIns="0" rtlCol="0" anchor="t"/>
          <a:lstStyle/>
          <a:p>
            <a:pPr marL="0" indent="0" algn="l">
              <a:lnSpc>
                <a:spcPts val="840"/>
              </a:lnSpc>
              <a:buNone/>
            </a:pPr>
            <a:r>
              <a:rPr lang="en-US" sz="600" b="1" dirty="0">
                <a:solidFill>
                  <a:srgbClr val="1A1F2E"/>
                </a:solidFill>
                <a:latin typeface="Arial" pitchFamily="34" charset="0"/>
                <a:ea typeface="Arial" pitchFamily="34" charset="-122"/>
                <a:cs typeface="Arial" pitchFamily="34" charset="-120"/>
              </a:rPr>
              <a:t>SUMMARY</a:t>
            </a:r>
            <a:endParaRPr lang="en-US" sz="600" dirty="0"/>
          </a:p>
        </p:txBody>
      </p:sp>
      <p:sp>
        <p:nvSpPr>
          <p:cNvPr id="5" name="Text 3"/>
          <p:cNvSpPr/>
          <p:nvPr/>
        </p:nvSpPr>
        <p:spPr>
          <a:xfrm>
            <a:off x="266700" y="848023"/>
            <a:ext cx="1476756" cy="594122"/>
          </a:xfrm>
          <a:prstGeom prst="rect">
            <a:avLst/>
          </a:prstGeom>
          <a:noFill/>
          <a:ln/>
        </p:spPr>
        <p:txBody>
          <a:bodyPr wrap="square" lIns="0" tIns="0" rIns="0" bIns="0" rtlCol="0" anchor="t"/>
          <a:lstStyle/>
          <a:p>
            <a:pPr marL="0" indent="0" algn="l">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Key</a:t>
            </a:r>
            <a:endParaRPr lang="en-US" sz="1950" dirty="0"/>
          </a:p>
          <a:p>
            <a:pPr marL="0" indent="0" algn="l">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Takeaways</a:t>
            </a:r>
            <a:endParaRPr lang="en-US" sz="1950" dirty="0"/>
          </a:p>
        </p:txBody>
      </p:sp>
      <p:sp>
        <p:nvSpPr>
          <p:cNvPr id="6" name="Text 4"/>
          <p:cNvSpPr/>
          <p:nvPr/>
        </p:nvSpPr>
        <p:spPr>
          <a:xfrm>
            <a:off x="266700" y="1689795"/>
            <a:ext cx="381000" cy="19050"/>
          </a:xfrm>
          <a:prstGeom prst="rect">
            <a:avLst/>
          </a:prstGeom>
          <a:solidFill>
            <a:srgbClr val="C9A227"/>
          </a:solidFill>
          <a:ln/>
        </p:spPr>
        <p:txBody>
          <a:bodyPr wrap="square" rtlCol="0" anchor="ctr"/>
          <a:lstStyle/>
          <a:p>
            <a:pPr marL="0" indent="0">
              <a:buNone/>
            </a:pPr>
            <a:endParaRPr lang="en-US" dirty="0"/>
          </a:p>
        </p:txBody>
      </p:sp>
      <p:sp>
        <p:nvSpPr>
          <p:cNvPr id="7" name="Text 5"/>
          <p:cNvSpPr/>
          <p:nvPr/>
        </p:nvSpPr>
        <p:spPr>
          <a:xfrm>
            <a:off x="266700" y="1975545"/>
            <a:ext cx="2885777" cy="628650"/>
          </a:xfrm>
          <a:prstGeom prst="rect">
            <a:avLst/>
          </a:prstGeom>
          <a:solidFill>
            <a:srgbClr val="C9A227">
              <a:alpha val="15000"/>
            </a:srgbClr>
          </a:solidFill>
          <a:ln/>
        </p:spPr>
        <p:txBody>
          <a:bodyPr wrap="square" rtlCol="0" anchor="ctr"/>
          <a:lstStyle/>
          <a:p>
            <a:pPr marL="0" indent="0">
              <a:buNone/>
            </a:pPr>
            <a:endParaRPr lang="en-US" dirty="0"/>
          </a:p>
        </p:txBody>
      </p:sp>
      <p:sp>
        <p:nvSpPr>
          <p:cNvPr id="8" name="Shape 6"/>
          <p:cNvSpPr/>
          <p:nvPr/>
        </p:nvSpPr>
        <p:spPr>
          <a:xfrm>
            <a:off x="280988" y="1975545"/>
            <a:ext cx="0" cy="628650"/>
          </a:xfrm>
          <a:prstGeom prst="line">
            <a:avLst/>
          </a:prstGeom>
          <a:noFill/>
          <a:ln w="28575">
            <a:solidFill>
              <a:srgbClr val="C9A227"/>
            </a:solidFill>
            <a:prstDash val="solid"/>
          </a:ln>
        </p:spPr>
        <p:txBody>
          <a:bodyPr/>
          <a:lstStyle/>
          <a:p>
            <a:endParaRPr lang="en-US"/>
          </a:p>
        </p:txBody>
      </p:sp>
      <p:sp>
        <p:nvSpPr>
          <p:cNvPr id="9" name="Text 7"/>
          <p:cNvSpPr/>
          <p:nvPr/>
        </p:nvSpPr>
        <p:spPr>
          <a:xfrm>
            <a:off x="390525" y="2070795"/>
            <a:ext cx="2720036"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C9A227"/>
                </a:solidFill>
                <a:latin typeface="Arial" pitchFamily="34" charset="0"/>
                <a:ea typeface="Arial" pitchFamily="34" charset="-122"/>
                <a:cs typeface="Arial" pitchFamily="34" charset="-120"/>
              </a:rPr>
              <a:t>THE BIG IDEA</a:t>
            </a:r>
            <a:endParaRPr lang="en-US" sz="750" dirty="0"/>
          </a:p>
        </p:txBody>
      </p:sp>
      <p:sp>
        <p:nvSpPr>
          <p:cNvPr id="10" name="Text 8"/>
          <p:cNvSpPr/>
          <p:nvPr/>
        </p:nvSpPr>
        <p:spPr>
          <a:xfrm>
            <a:off x="390525" y="2242245"/>
            <a:ext cx="2720036" cy="266700"/>
          </a:xfrm>
          <a:prstGeom prst="rect">
            <a:avLst/>
          </a:prstGeom>
          <a:noFill/>
          <a:ln/>
        </p:spPr>
        <p:txBody>
          <a:bodyPr wrap="square" lIns="0" tIns="0" rIns="0" bIns="0" rtlCol="0" anchor="t"/>
          <a:lstStyle/>
          <a:p>
            <a:pPr marL="0" indent="0" algn="l">
              <a:lnSpc>
                <a:spcPts val="1050"/>
              </a:lnSpc>
              <a:buNone/>
            </a:pPr>
            <a:r>
              <a:rPr lang="en-US" sz="750" dirty="0">
                <a:solidFill>
                  <a:srgbClr val="FFFFFF">
                    <a:alpha val="80000"/>
                  </a:srgbClr>
                </a:solidFill>
                <a:latin typeface="Arial" pitchFamily="34" charset="0"/>
                <a:ea typeface="Arial" pitchFamily="34" charset="-122"/>
                <a:cs typeface="Arial" pitchFamily="34" charset="-120"/>
              </a:rPr>
              <a:t>Claude Code is more than a coding assistant — it's customizable AI infrastructure.</a:t>
            </a:r>
            <a:endParaRPr lang="en-US" sz="750" dirty="0"/>
          </a:p>
        </p:txBody>
      </p:sp>
      <p:sp>
        <p:nvSpPr>
          <p:cNvPr id="11" name="Text 9"/>
          <p:cNvSpPr/>
          <p:nvPr/>
        </p:nvSpPr>
        <p:spPr>
          <a:xfrm>
            <a:off x="266700" y="2870895"/>
            <a:ext cx="2885777" cy="898922"/>
          </a:xfrm>
          <a:prstGeom prst="rect">
            <a:avLst/>
          </a:prstGeom>
          <a:solidFill>
            <a:srgbClr val="FFFFFF">
              <a:alpha val="5000"/>
            </a:srgbClr>
          </a:solidFill>
          <a:ln/>
        </p:spPr>
        <p:txBody>
          <a:bodyPr wrap="square" rtlCol="0" anchor="ctr"/>
          <a:lstStyle/>
          <a:p>
            <a:pPr marL="0" indent="0">
              <a:buNone/>
            </a:pPr>
            <a:endParaRPr lang="en-US" dirty="0"/>
          </a:p>
        </p:txBody>
      </p:sp>
      <p:sp>
        <p:nvSpPr>
          <p:cNvPr id="12" name="Text 10"/>
          <p:cNvSpPr/>
          <p:nvPr/>
        </p:nvSpPr>
        <p:spPr>
          <a:xfrm>
            <a:off x="361950" y="2966145"/>
            <a:ext cx="2749183" cy="133350"/>
          </a:xfrm>
          <a:prstGeom prst="rect">
            <a:avLst/>
          </a:prstGeom>
          <a:noFill/>
          <a:ln/>
        </p:spPr>
        <p:txBody>
          <a:bodyPr wrap="square" lIns="0" tIns="0" rIns="0" bIns="0" rtlCol="0" anchor="t"/>
          <a:lstStyle/>
          <a:p>
            <a:pPr marL="0" indent="0" algn="l">
              <a:lnSpc>
                <a:spcPts val="1050"/>
              </a:lnSpc>
              <a:spcAft>
                <a:spcPts val="450"/>
              </a:spcAft>
              <a:buNone/>
            </a:pPr>
            <a:r>
              <a:rPr lang="en-US" sz="750" b="1" dirty="0">
                <a:solidFill>
                  <a:srgbClr val="FFFFFF"/>
                </a:solidFill>
                <a:latin typeface="Arial" pitchFamily="34" charset="0"/>
                <a:ea typeface="Arial" pitchFamily="34" charset="-122"/>
                <a:cs typeface="Arial" pitchFamily="34" charset="-120"/>
              </a:rPr>
              <a:t>CORE FEATURES</a:t>
            </a:r>
            <a:endParaRPr lang="en-US" sz="750" dirty="0"/>
          </a:p>
        </p:txBody>
      </p:sp>
      <p:sp>
        <p:nvSpPr>
          <p:cNvPr id="13" name="Text 11"/>
          <p:cNvSpPr/>
          <p:nvPr/>
        </p:nvSpPr>
        <p:spPr>
          <a:xfrm>
            <a:off x="361950" y="3156645"/>
            <a:ext cx="2749183" cy="517922"/>
          </a:xfrm>
          <a:prstGeom prst="rect">
            <a:avLst/>
          </a:prstGeom>
          <a:noFill/>
          <a:ln/>
        </p:spPr>
        <p:txBody>
          <a:bodyPr wrap="square" lIns="0" tIns="0" rIns="0" bIns="0" rtlCol="0" anchor="t"/>
          <a:lstStyle/>
          <a:p>
            <a:pPr marL="0" indent="0" algn="l">
              <a:lnSpc>
                <a:spcPts val="1020"/>
              </a:lnSpc>
              <a:buNone/>
            </a:pPr>
            <a:r>
              <a:rPr lang="en-US" sz="600" dirty="0">
                <a:solidFill>
                  <a:srgbClr val="FFFFFF">
                    <a:alpha val="50000"/>
                  </a:srgbClr>
                </a:solidFill>
                <a:latin typeface="Arial" pitchFamily="34" charset="0"/>
                <a:ea typeface="Arial" pitchFamily="34" charset="-122"/>
                <a:cs typeface="Arial" pitchFamily="34" charset="-120"/>
              </a:rPr>
              <a:t>Models (Opus/Sonnet/Haiku)</a:t>
            </a:r>
            <a:endParaRPr lang="en-US" sz="600" dirty="0"/>
          </a:p>
          <a:p>
            <a:pPr marL="0" indent="0" algn="l">
              <a:lnSpc>
                <a:spcPts val="1020"/>
              </a:lnSpc>
              <a:buNone/>
            </a:pPr>
            <a:r>
              <a:rPr lang="en-US" sz="600" dirty="0">
                <a:solidFill>
                  <a:srgbClr val="FFFFFF">
                    <a:alpha val="50000"/>
                  </a:srgbClr>
                </a:solidFill>
                <a:latin typeface="Arial" pitchFamily="34" charset="0"/>
                <a:ea typeface="Arial" pitchFamily="34" charset="-122"/>
                <a:cs typeface="Arial" pitchFamily="34" charset="-120"/>
              </a:rPr>
              <a:t> Slash Commands</a:t>
            </a:r>
            <a:endParaRPr lang="en-US" sz="600" dirty="0"/>
          </a:p>
          <a:p>
            <a:pPr marL="0" indent="0" algn="l">
              <a:lnSpc>
                <a:spcPts val="1020"/>
              </a:lnSpc>
              <a:buNone/>
            </a:pPr>
            <a:r>
              <a:rPr lang="en-US" sz="600" dirty="0">
                <a:solidFill>
                  <a:srgbClr val="FFFFFF">
                    <a:alpha val="50000"/>
                  </a:srgbClr>
                </a:solidFill>
                <a:latin typeface="Arial" pitchFamily="34" charset="0"/>
                <a:ea typeface="Arial" pitchFamily="34" charset="-122"/>
                <a:cs typeface="Arial" pitchFamily="34" charset="-120"/>
              </a:rPr>
              <a:t> Planning Mode</a:t>
            </a:r>
            <a:endParaRPr lang="en-US" sz="600" dirty="0"/>
          </a:p>
          <a:p>
            <a:pPr marL="0" indent="0" algn="l">
              <a:lnSpc>
                <a:spcPts val="1020"/>
              </a:lnSpc>
              <a:buNone/>
            </a:pPr>
            <a:r>
              <a:rPr lang="en-US" sz="600" dirty="0">
                <a:solidFill>
                  <a:srgbClr val="FFFFFF">
                    <a:alpha val="50000"/>
                  </a:srgbClr>
                </a:solidFill>
                <a:latin typeface="Arial" pitchFamily="34" charset="0"/>
                <a:ea typeface="Arial" pitchFamily="34" charset="-122"/>
                <a:cs typeface="Arial" pitchFamily="34" charset="-120"/>
              </a:rPr>
              <a:t> Sub-Agents</a:t>
            </a:r>
            <a:endParaRPr lang="en-US" sz="600" dirty="0"/>
          </a:p>
        </p:txBody>
      </p:sp>
      <p:sp>
        <p:nvSpPr>
          <p:cNvPr id="14" name="Text 12"/>
          <p:cNvSpPr/>
          <p:nvPr/>
        </p:nvSpPr>
        <p:spPr>
          <a:xfrm>
            <a:off x="266700" y="4017466"/>
            <a:ext cx="2885777" cy="708422"/>
          </a:xfrm>
          <a:prstGeom prst="rect">
            <a:avLst/>
          </a:prstGeom>
          <a:solidFill>
            <a:srgbClr val="FFFFFF">
              <a:alpha val="5000"/>
            </a:srgbClr>
          </a:solidFill>
          <a:ln/>
        </p:spPr>
        <p:txBody>
          <a:bodyPr wrap="square" rtlCol="0" anchor="ctr"/>
          <a:lstStyle/>
          <a:p>
            <a:pPr marL="0" indent="0">
              <a:buNone/>
            </a:pPr>
            <a:endParaRPr lang="en-US" dirty="0"/>
          </a:p>
        </p:txBody>
      </p:sp>
      <p:sp>
        <p:nvSpPr>
          <p:cNvPr id="15" name="Text 13"/>
          <p:cNvSpPr/>
          <p:nvPr/>
        </p:nvSpPr>
        <p:spPr>
          <a:xfrm>
            <a:off x="361950" y="4112716"/>
            <a:ext cx="2749183" cy="517922"/>
          </a:xfrm>
          <a:prstGeom prst="rect">
            <a:avLst/>
          </a:prstGeom>
          <a:noFill/>
          <a:ln/>
        </p:spPr>
        <p:txBody>
          <a:bodyPr wrap="square" lIns="0" tIns="0" rIns="0" bIns="0" rtlCol="0" anchor="t"/>
          <a:lstStyle/>
          <a:p>
            <a:pPr marL="0" indent="0" algn="l">
              <a:lnSpc>
                <a:spcPts val="1020"/>
              </a:lnSpc>
              <a:buNone/>
            </a:pPr>
            <a:r>
              <a:rPr lang="en-US" sz="600" dirty="0">
                <a:solidFill>
                  <a:srgbClr val="FFFFFF">
                    <a:alpha val="50000"/>
                  </a:srgbClr>
                </a:solidFill>
                <a:latin typeface="Arial" pitchFamily="34" charset="0"/>
                <a:ea typeface="Arial" pitchFamily="34" charset="-122"/>
                <a:cs typeface="Arial" pitchFamily="34" charset="-120"/>
              </a:rPr>
              <a:t>Skills (auto-discovery)</a:t>
            </a:r>
            <a:endParaRPr lang="en-US" sz="600" dirty="0"/>
          </a:p>
          <a:p>
            <a:pPr marL="0" indent="0" algn="l">
              <a:lnSpc>
                <a:spcPts val="1020"/>
              </a:lnSpc>
              <a:buNone/>
            </a:pPr>
            <a:r>
              <a:rPr lang="en-US" sz="600" dirty="0">
                <a:solidFill>
                  <a:srgbClr val="FFFFFF">
                    <a:alpha val="50000"/>
                  </a:srgbClr>
                </a:solidFill>
                <a:latin typeface="Arial" pitchFamily="34" charset="0"/>
                <a:ea typeface="Arial" pitchFamily="34" charset="-122"/>
                <a:cs typeface="Arial" pitchFamily="34" charset="-120"/>
              </a:rPr>
              <a:t> MCP Servers</a:t>
            </a:r>
            <a:endParaRPr lang="en-US" sz="600" dirty="0"/>
          </a:p>
          <a:p>
            <a:pPr marL="0" indent="0" algn="l">
              <a:lnSpc>
                <a:spcPts val="1020"/>
              </a:lnSpc>
              <a:buNone/>
            </a:pPr>
            <a:r>
              <a:rPr lang="en-US" sz="600" dirty="0">
                <a:solidFill>
                  <a:srgbClr val="FFFFFF">
                    <a:alpha val="50000"/>
                  </a:srgbClr>
                </a:solidFill>
                <a:latin typeface="Arial" pitchFamily="34" charset="0"/>
                <a:ea typeface="Arial" pitchFamily="34" charset="-122"/>
                <a:cs typeface="Arial" pitchFamily="34" charset="-120"/>
              </a:rPr>
              <a:t> Hooks (enterprise)</a:t>
            </a:r>
            <a:endParaRPr lang="en-US" sz="600" dirty="0"/>
          </a:p>
          <a:p>
            <a:pPr marL="0" indent="0" algn="l">
              <a:lnSpc>
                <a:spcPts val="1020"/>
              </a:lnSpc>
              <a:buNone/>
            </a:pPr>
            <a:r>
              <a:rPr lang="en-US" sz="600" dirty="0">
                <a:solidFill>
                  <a:srgbClr val="FFFFFF">
                    <a:alpha val="50000"/>
                  </a:srgbClr>
                </a:solidFill>
                <a:latin typeface="Arial" pitchFamily="34" charset="0"/>
                <a:ea typeface="Arial" pitchFamily="34" charset="-122"/>
                <a:cs typeface="Arial" pitchFamily="34" charset="-120"/>
              </a:rPr>
              <a:t> Plugins (distribution)</a:t>
            </a:r>
            <a:endParaRPr lang="en-US" sz="600" dirty="0"/>
          </a:p>
        </p:txBody>
      </p:sp>
      <p:sp>
        <p:nvSpPr>
          <p:cNvPr id="16" name="Text 14"/>
          <p:cNvSpPr/>
          <p:nvPr/>
        </p:nvSpPr>
        <p:spPr>
          <a:xfrm>
            <a:off x="3571577" y="0"/>
            <a:ext cx="5572423" cy="5143500"/>
          </a:xfrm>
          <a:prstGeom prst="rect">
            <a:avLst/>
          </a:prstGeom>
          <a:solidFill>
            <a:srgbClr val="F7F8FA"/>
          </a:solidFill>
          <a:ln/>
        </p:spPr>
        <p:txBody>
          <a:bodyPr wrap="square" rtlCol="0" anchor="ctr"/>
          <a:lstStyle/>
          <a:p>
            <a:pPr marL="0" indent="0">
              <a:buNone/>
            </a:pPr>
            <a:endParaRPr lang="en-US" dirty="0"/>
          </a:p>
        </p:txBody>
      </p:sp>
      <p:sp>
        <p:nvSpPr>
          <p:cNvPr id="17" name="Text 15"/>
          <p:cNvSpPr/>
          <p:nvPr/>
        </p:nvSpPr>
        <p:spPr>
          <a:xfrm>
            <a:off x="3838277" y="905024"/>
            <a:ext cx="5139803" cy="159990"/>
          </a:xfrm>
          <a:prstGeom prst="rect">
            <a:avLst/>
          </a:prstGeom>
          <a:noFill/>
          <a:ln/>
        </p:spPr>
        <p:txBody>
          <a:bodyPr wrap="square" lIns="0" tIns="0" rIns="0" bIns="0" rtlCol="0" anchor="t"/>
          <a:lstStyle/>
          <a:p>
            <a:pPr marL="0" indent="0" algn="l">
              <a:lnSpc>
                <a:spcPts val="1260"/>
              </a:lnSpc>
              <a:spcAft>
                <a:spcPts val="900"/>
              </a:spcAft>
              <a:buNone/>
            </a:pPr>
            <a:r>
              <a:rPr lang="en-US" sz="900" b="1" dirty="0">
                <a:solidFill>
                  <a:srgbClr val="1A1F2E"/>
                </a:solidFill>
                <a:latin typeface="Arial" pitchFamily="34" charset="0"/>
                <a:ea typeface="Arial" pitchFamily="34" charset="-122"/>
                <a:cs typeface="Arial" pitchFamily="34" charset="-120"/>
              </a:rPr>
              <a:t>ESSENTIAL PRACTICES</a:t>
            </a:r>
            <a:endParaRPr lang="en-US" sz="900" dirty="0"/>
          </a:p>
        </p:txBody>
      </p:sp>
      <p:sp>
        <p:nvSpPr>
          <p:cNvPr id="18" name="Text 16"/>
          <p:cNvSpPr/>
          <p:nvPr/>
        </p:nvSpPr>
        <p:spPr>
          <a:xfrm>
            <a:off x="3838277" y="1331714"/>
            <a:ext cx="2471886" cy="811411"/>
          </a:xfrm>
          <a:prstGeom prst="rect">
            <a:avLst/>
          </a:prstGeom>
          <a:solidFill>
            <a:srgbClr val="FFFFFF"/>
          </a:solidFill>
          <a:ln/>
        </p:spPr>
        <p:txBody>
          <a:bodyPr wrap="square" rtlCol="0" anchor="ctr"/>
          <a:lstStyle/>
          <a:p>
            <a:pPr marL="0" indent="0">
              <a:buNone/>
            </a:pPr>
            <a:endParaRPr lang="en-US" dirty="0"/>
          </a:p>
        </p:txBody>
      </p:sp>
      <p:sp>
        <p:nvSpPr>
          <p:cNvPr id="19" name="Shape 17"/>
          <p:cNvSpPr/>
          <p:nvPr/>
        </p:nvSpPr>
        <p:spPr>
          <a:xfrm>
            <a:off x="3852565" y="1331714"/>
            <a:ext cx="0" cy="811411"/>
          </a:xfrm>
          <a:prstGeom prst="line">
            <a:avLst/>
          </a:prstGeom>
          <a:noFill/>
          <a:ln w="28575">
            <a:solidFill>
              <a:srgbClr val="C9A227"/>
            </a:solidFill>
            <a:prstDash val="solid"/>
          </a:ln>
        </p:spPr>
        <p:txBody>
          <a:bodyPr/>
          <a:lstStyle/>
          <a:p>
            <a:endParaRPr lang="en-US"/>
          </a:p>
        </p:txBody>
      </p:sp>
      <p:sp>
        <p:nvSpPr>
          <p:cNvPr id="20" name="Text 18"/>
          <p:cNvSpPr/>
          <p:nvPr/>
        </p:nvSpPr>
        <p:spPr>
          <a:xfrm>
            <a:off x="3981152" y="1446014"/>
            <a:ext cx="2259006" cy="266700"/>
          </a:xfrm>
          <a:prstGeom prst="rect">
            <a:avLst/>
          </a:prstGeom>
          <a:noFill/>
          <a:ln/>
        </p:spPr>
        <p:txBody>
          <a:bodyPr wrap="square" lIns="0" tIns="0" rIns="0" bIns="0" rtlCol="0" anchor="t"/>
          <a:lstStyle/>
          <a:p>
            <a:pPr marL="0" indent="0" algn="l">
              <a:lnSpc>
                <a:spcPts val="2100"/>
              </a:lnSpc>
              <a:buNone/>
            </a:pPr>
            <a:r>
              <a:rPr lang="en-US" sz="1500" b="1" dirty="0">
                <a:solidFill>
                  <a:srgbClr val="C9A227"/>
                </a:solidFill>
                <a:latin typeface="Arial" pitchFamily="34" charset="0"/>
                <a:ea typeface="Arial" pitchFamily="34" charset="-122"/>
                <a:cs typeface="Arial" pitchFamily="34" charset="-120"/>
              </a:rPr>
              <a:t>1</a:t>
            </a:r>
            <a:endParaRPr lang="en-US" sz="1500" dirty="0"/>
          </a:p>
        </p:txBody>
      </p:sp>
      <p:sp>
        <p:nvSpPr>
          <p:cNvPr id="21" name="Text 19"/>
          <p:cNvSpPr/>
          <p:nvPr/>
        </p:nvSpPr>
        <p:spPr>
          <a:xfrm>
            <a:off x="3981152" y="1760339"/>
            <a:ext cx="2259006" cy="133350"/>
          </a:xfrm>
          <a:prstGeom prst="rect">
            <a:avLst/>
          </a:prstGeom>
          <a:noFill/>
          <a:ln/>
        </p:spPr>
        <p:txBody>
          <a:bodyPr wrap="square" lIns="0" tIns="0" rIns="0" bIns="0" rtlCol="0" anchor="t"/>
          <a:lstStyle/>
          <a:p>
            <a:pPr marL="0" indent="0" algn="l">
              <a:lnSpc>
                <a:spcPts val="1050"/>
              </a:lnSpc>
              <a:spcBef>
                <a:spcPts val="375"/>
              </a:spcBef>
              <a:spcAft>
                <a:spcPts val="225"/>
              </a:spcAft>
              <a:buNone/>
            </a:pPr>
            <a:r>
              <a:rPr lang="en-US" sz="750" b="1" dirty="0">
                <a:solidFill>
                  <a:srgbClr val="1A1F2E"/>
                </a:solidFill>
                <a:latin typeface="Arial" pitchFamily="34" charset="0"/>
                <a:ea typeface="Arial" pitchFamily="34" charset="-122"/>
                <a:cs typeface="Arial" pitchFamily="34" charset="-120"/>
              </a:rPr>
              <a:t>Plan Before Code</a:t>
            </a:r>
            <a:endParaRPr lang="en-US" sz="750" dirty="0"/>
          </a:p>
        </p:txBody>
      </p:sp>
      <p:sp>
        <p:nvSpPr>
          <p:cNvPr id="22" name="Text 20"/>
          <p:cNvSpPr/>
          <p:nvPr/>
        </p:nvSpPr>
        <p:spPr>
          <a:xfrm>
            <a:off x="3981152" y="1922264"/>
            <a:ext cx="2259006" cy="106561"/>
          </a:xfrm>
          <a:prstGeom prst="rect">
            <a:avLst/>
          </a:prstGeom>
          <a:noFill/>
          <a:ln/>
        </p:spPr>
        <p:txBody>
          <a:bodyPr wrap="square" lIns="0" tIns="0" rIns="0" bIns="0" rtlCol="0" anchor="t"/>
          <a:lstStyle/>
          <a:p>
            <a:pPr marL="0" indent="0" algn="l">
              <a:lnSpc>
                <a:spcPts val="840"/>
              </a:lnSpc>
              <a:buNone/>
            </a:pPr>
            <a:r>
              <a:rPr lang="en-US" sz="600" dirty="0">
                <a:solidFill>
                  <a:srgbClr val="6B7280"/>
                </a:solidFill>
                <a:latin typeface="Arial" pitchFamily="34" charset="0"/>
                <a:ea typeface="Arial" pitchFamily="34" charset="-122"/>
                <a:cs typeface="Arial" pitchFamily="34" charset="-120"/>
              </a:rPr>
              <a:t>Use /plan for PRs. Think first, implement second.</a:t>
            </a:r>
            <a:endParaRPr lang="en-US" sz="600" dirty="0"/>
          </a:p>
        </p:txBody>
      </p:sp>
      <p:sp>
        <p:nvSpPr>
          <p:cNvPr id="23" name="Text 21"/>
          <p:cNvSpPr/>
          <p:nvPr/>
        </p:nvSpPr>
        <p:spPr>
          <a:xfrm>
            <a:off x="6405414" y="1331714"/>
            <a:ext cx="2471886" cy="811411"/>
          </a:xfrm>
          <a:prstGeom prst="rect">
            <a:avLst/>
          </a:prstGeom>
          <a:solidFill>
            <a:srgbClr val="FFFFFF"/>
          </a:solidFill>
          <a:ln/>
        </p:spPr>
        <p:txBody>
          <a:bodyPr wrap="square" rtlCol="0" anchor="ctr"/>
          <a:lstStyle/>
          <a:p>
            <a:pPr marL="0" indent="0">
              <a:buNone/>
            </a:pPr>
            <a:endParaRPr lang="en-US" dirty="0"/>
          </a:p>
        </p:txBody>
      </p:sp>
      <p:sp>
        <p:nvSpPr>
          <p:cNvPr id="24" name="Shape 22"/>
          <p:cNvSpPr/>
          <p:nvPr/>
        </p:nvSpPr>
        <p:spPr>
          <a:xfrm>
            <a:off x="6419701" y="1331714"/>
            <a:ext cx="0" cy="811411"/>
          </a:xfrm>
          <a:prstGeom prst="line">
            <a:avLst/>
          </a:prstGeom>
          <a:noFill/>
          <a:ln w="28575">
            <a:solidFill>
              <a:srgbClr val="C9A227"/>
            </a:solidFill>
            <a:prstDash val="solid"/>
          </a:ln>
        </p:spPr>
        <p:txBody>
          <a:bodyPr/>
          <a:lstStyle/>
          <a:p>
            <a:endParaRPr lang="en-US"/>
          </a:p>
        </p:txBody>
      </p:sp>
      <p:sp>
        <p:nvSpPr>
          <p:cNvPr id="25" name="Text 23"/>
          <p:cNvSpPr/>
          <p:nvPr/>
        </p:nvSpPr>
        <p:spPr>
          <a:xfrm>
            <a:off x="6548289" y="1446014"/>
            <a:ext cx="2259006" cy="266700"/>
          </a:xfrm>
          <a:prstGeom prst="rect">
            <a:avLst/>
          </a:prstGeom>
          <a:noFill/>
          <a:ln/>
        </p:spPr>
        <p:txBody>
          <a:bodyPr wrap="square" lIns="0" tIns="0" rIns="0" bIns="0" rtlCol="0" anchor="t"/>
          <a:lstStyle/>
          <a:p>
            <a:pPr marL="0" indent="0" algn="l">
              <a:lnSpc>
                <a:spcPts val="2100"/>
              </a:lnSpc>
              <a:buNone/>
            </a:pPr>
            <a:r>
              <a:rPr lang="en-US" sz="1500" b="1" dirty="0">
                <a:solidFill>
                  <a:srgbClr val="C9A227"/>
                </a:solidFill>
                <a:latin typeface="Arial" pitchFamily="34" charset="0"/>
                <a:ea typeface="Arial" pitchFamily="34" charset="-122"/>
                <a:cs typeface="Arial" pitchFamily="34" charset="-120"/>
              </a:rPr>
              <a:t>2</a:t>
            </a:r>
            <a:endParaRPr lang="en-US" sz="1500" dirty="0"/>
          </a:p>
        </p:txBody>
      </p:sp>
      <p:sp>
        <p:nvSpPr>
          <p:cNvPr id="26" name="Text 24"/>
          <p:cNvSpPr/>
          <p:nvPr/>
        </p:nvSpPr>
        <p:spPr>
          <a:xfrm>
            <a:off x="6548289" y="1760339"/>
            <a:ext cx="2259006" cy="133350"/>
          </a:xfrm>
          <a:prstGeom prst="rect">
            <a:avLst/>
          </a:prstGeom>
          <a:noFill/>
          <a:ln/>
        </p:spPr>
        <p:txBody>
          <a:bodyPr wrap="square" lIns="0" tIns="0" rIns="0" bIns="0" rtlCol="0" anchor="t"/>
          <a:lstStyle/>
          <a:p>
            <a:pPr marL="0" indent="0" algn="l">
              <a:lnSpc>
                <a:spcPts val="1050"/>
              </a:lnSpc>
              <a:spcBef>
                <a:spcPts val="375"/>
              </a:spcBef>
              <a:spcAft>
                <a:spcPts val="225"/>
              </a:spcAft>
              <a:buNone/>
            </a:pPr>
            <a:r>
              <a:rPr lang="en-US" sz="750" b="1" dirty="0">
                <a:solidFill>
                  <a:srgbClr val="1A1F2E"/>
                </a:solidFill>
                <a:latin typeface="Arial" pitchFamily="34" charset="0"/>
                <a:ea typeface="Arial" pitchFamily="34" charset="-122"/>
                <a:cs typeface="Arial" pitchFamily="34" charset="-120"/>
              </a:rPr>
              <a:t>Manage Context</a:t>
            </a:r>
            <a:endParaRPr lang="en-US" sz="750" dirty="0"/>
          </a:p>
        </p:txBody>
      </p:sp>
      <p:sp>
        <p:nvSpPr>
          <p:cNvPr id="27" name="Text 25"/>
          <p:cNvSpPr/>
          <p:nvPr/>
        </p:nvSpPr>
        <p:spPr>
          <a:xfrm>
            <a:off x="6548289" y="1922264"/>
            <a:ext cx="2259006" cy="106561"/>
          </a:xfrm>
          <a:prstGeom prst="rect">
            <a:avLst/>
          </a:prstGeom>
          <a:noFill/>
          <a:ln/>
        </p:spPr>
        <p:txBody>
          <a:bodyPr wrap="square" lIns="0" tIns="0" rIns="0" bIns="0" rtlCol="0" anchor="t"/>
          <a:lstStyle/>
          <a:p>
            <a:pPr marL="0" indent="0" algn="l">
              <a:lnSpc>
                <a:spcPts val="840"/>
              </a:lnSpc>
              <a:buNone/>
            </a:pPr>
            <a:r>
              <a:rPr lang="en-US" sz="600" dirty="0">
                <a:solidFill>
                  <a:srgbClr val="6B7280"/>
                </a:solidFill>
                <a:latin typeface="Arial" pitchFamily="34" charset="0"/>
                <a:ea typeface="Arial" pitchFamily="34" charset="-122"/>
                <a:cs typeface="Arial" pitchFamily="34" charset="-120"/>
              </a:rPr>
              <a:t>Use sub-agents for exploration. Keep main thread for changes.</a:t>
            </a:r>
            <a:endParaRPr lang="en-US" sz="600" dirty="0"/>
          </a:p>
        </p:txBody>
      </p:sp>
      <p:sp>
        <p:nvSpPr>
          <p:cNvPr id="28" name="Text 26"/>
          <p:cNvSpPr/>
          <p:nvPr/>
        </p:nvSpPr>
        <p:spPr>
          <a:xfrm>
            <a:off x="3838277" y="2390775"/>
            <a:ext cx="2471886" cy="811411"/>
          </a:xfrm>
          <a:prstGeom prst="rect">
            <a:avLst/>
          </a:prstGeom>
          <a:solidFill>
            <a:srgbClr val="FFFFFF"/>
          </a:solidFill>
          <a:ln/>
        </p:spPr>
        <p:txBody>
          <a:bodyPr wrap="square" rtlCol="0" anchor="ctr"/>
          <a:lstStyle/>
          <a:p>
            <a:pPr marL="0" indent="0">
              <a:buNone/>
            </a:pPr>
            <a:endParaRPr lang="en-US" dirty="0"/>
          </a:p>
        </p:txBody>
      </p:sp>
      <p:sp>
        <p:nvSpPr>
          <p:cNvPr id="29" name="Shape 27"/>
          <p:cNvSpPr/>
          <p:nvPr/>
        </p:nvSpPr>
        <p:spPr>
          <a:xfrm>
            <a:off x="3852565" y="2390775"/>
            <a:ext cx="0" cy="811411"/>
          </a:xfrm>
          <a:prstGeom prst="line">
            <a:avLst/>
          </a:prstGeom>
          <a:noFill/>
          <a:ln w="28575">
            <a:solidFill>
              <a:srgbClr val="C9A227"/>
            </a:solidFill>
            <a:prstDash val="solid"/>
          </a:ln>
        </p:spPr>
        <p:txBody>
          <a:bodyPr/>
          <a:lstStyle/>
          <a:p>
            <a:endParaRPr lang="en-US"/>
          </a:p>
        </p:txBody>
      </p:sp>
      <p:sp>
        <p:nvSpPr>
          <p:cNvPr id="30" name="Text 28"/>
          <p:cNvSpPr/>
          <p:nvPr/>
        </p:nvSpPr>
        <p:spPr>
          <a:xfrm>
            <a:off x="3981152" y="2505075"/>
            <a:ext cx="2259006" cy="266700"/>
          </a:xfrm>
          <a:prstGeom prst="rect">
            <a:avLst/>
          </a:prstGeom>
          <a:noFill/>
          <a:ln/>
        </p:spPr>
        <p:txBody>
          <a:bodyPr wrap="square" lIns="0" tIns="0" rIns="0" bIns="0" rtlCol="0" anchor="t"/>
          <a:lstStyle/>
          <a:p>
            <a:pPr marL="0" indent="0" algn="l">
              <a:lnSpc>
                <a:spcPts val="2100"/>
              </a:lnSpc>
              <a:buNone/>
            </a:pPr>
            <a:r>
              <a:rPr lang="en-US" sz="1500" b="1" dirty="0">
                <a:solidFill>
                  <a:srgbClr val="C9A227"/>
                </a:solidFill>
                <a:latin typeface="Arial" pitchFamily="34" charset="0"/>
                <a:ea typeface="Arial" pitchFamily="34" charset="-122"/>
                <a:cs typeface="Arial" pitchFamily="34" charset="-120"/>
              </a:rPr>
              <a:t>3</a:t>
            </a:r>
            <a:endParaRPr lang="en-US" sz="1500" dirty="0"/>
          </a:p>
        </p:txBody>
      </p:sp>
      <p:sp>
        <p:nvSpPr>
          <p:cNvPr id="31" name="Text 29"/>
          <p:cNvSpPr/>
          <p:nvPr/>
        </p:nvSpPr>
        <p:spPr>
          <a:xfrm>
            <a:off x="3981152" y="2819400"/>
            <a:ext cx="2259006" cy="133350"/>
          </a:xfrm>
          <a:prstGeom prst="rect">
            <a:avLst/>
          </a:prstGeom>
          <a:noFill/>
          <a:ln/>
        </p:spPr>
        <p:txBody>
          <a:bodyPr wrap="square" lIns="0" tIns="0" rIns="0" bIns="0" rtlCol="0" anchor="t"/>
          <a:lstStyle/>
          <a:p>
            <a:pPr marL="0" indent="0" algn="l">
              <a:lnSpc>
                <a:spcPts val="1050"/>
              </a:lnSpc>
              <a:spcBef>
                <a:spcPts val="375"/>
              </a:spcBef>
              <a:spcAft>
                <a:spcPts val="225"/>
              </a:spcAft>
              <a:buNone/>
            </a:pPr>
            <a:r>
              <a:rPr lang="en-US" sz="750" b="1" dirty="0">
                <a:solidFill>
                  <a:srgbClr val="1A1F2E"/>
                </a:solidFill>
                <a:latin typeface="Arial" pitchFamily="34" charset="0"/>
                <a:ea typeface="Arial" pitchFamily="34" charset="-122"/>
                <a:cs typeface="Arial" pitchFamily="34" charset="-120"/>
              </a:rPr>
              <a:t>Customize Your Setup</a:t>
            </a:r>
            <a:endParaRPr lang="en-US" sz="750" dirty="0"/>
          </a:p>
        </p:txBody>
      </p:sp>
      <p:sp>
        <p:nvSpPr>
          <p:cNvPr id="32" name="Text 30"/>
          <p:cNvSpPr/>
          <p:nvPr/>
        </p:nvSpPr>
        <p:spPr>
          <a:xfrm>
            <a:off x="3981152" y="2981325"/>
            <a:ext cx="2259006" cy="106561"/>
          </a:xfrm>
          <a:prstGeom prst="rect">
            <a:avLst/>
          </a:prstGeom>
          <a:noFill/>
          <a:ln/>
        </p:spPr>
        <p:txBody>
          <a:bodyPr wrap="square" lIns="0" tIns="0" rIns="0" bIns="0" rtlCol="0" anchor="t"/>
          <a:lstStyle/>
          <a:p>
            <a:pPr marL="0" indent="0" algn="l">
              <a:lnSpc>
                <a:spcPts val="840"/>
              </a:lnSpc>
              <a:buNone/>
            </a:pPr>
            <a:r>
              <a:rPr lang="en-US" sz="600" dirty="0">
                <a:solidFill>
                  <a:srgbClr val="6B7280"/>
                </a:solidFill>
                <a:latin typeface="Arial" pitchFamily="34" charset="0"/>
                <a:ea typeface="Arial" pitchFamily="34" charset="-122"/>
                <a:cs typeface="Arial" pitchFamily="34" charset="-120"/>
              </a:rPr>
              <a:t>Add skills for domain patterns. Share via .claude/ folder.</a:t>
            </a:r>
            <a:endParaRPr lang="en-US" sz="600" dirty="0"/>
          </a:p>
        </p:txBody>
      </p:sp>
      <p:sp>
        <p:nvSpPr>
          <p:cNvPr id="33" name="Text 31"/>
          <p:cNvSpPr/>
          <p:nvPr/>
        </p:nvSpPr>
        <p:spPr>
          <a:xfrm>
            <a:off x="6405414" y="2390775"/>
            <a:ext cx="2471886" cy="811411"/>
          </a:xfrm>
          <a:prstGeom prst="rect">
            <a:avLst/>
          </a:prstGeom>
          <a:solidFill>
            <a:srgbClr val="FFFFFF"/>
          </a:solidFill>
          <a:ln/>
        </p:spPr>
        <p:txBody>
          <a:bodyPr wrap="square" rtlCol="0" anchor="ctr"/>
          <a:lstStyle/>
          <a:p>
            <a:pPr marL="0" indent="0">
              <a:buNone/>
            </a:pPr>
            <a:endParaRPr lang="en-US" dirty="0"/>
          </a:p>
        </p:txBody>
      </p:sp>
      <p:sp>
        <p:nvSpPr>
          <p:cNvPr id="34" name="Shape 32"/>
          <p:cNvSpPr/>
          <p:nvPr/>
        </p:nvSpPr>
        <p:spPr>
          <a:xfrm>
            <a:off x="6419701" y="2390775"/>
            <a:ext cx="0" cy="811411"/>
          </a:xfrm>
          <a:prstGeom prst="line">
            <a:avLst/>
          </a:prstGeom>
          <a:noFill/>
          <a:ln w="28575">
            <a:solidFill>
              <a:srgbClr val="C9A227"/>
            </a:solidFill>
            <a:prstDash val="solid"/>
          </a:ln>
        </p:spPr>
        <p:txBody>
          <a:bodyPr/>
          <a:lstStyle/>
          <a:p>
            <a:endParaRPr lang="en-US"/>
          </a:p>
        </p:txBody>
      </p:sp>
      <p:sp>
        <p:nvSpPr>
          <p:cNvPr id="35" name="Text 33"/>
          <p:cNvSpPr/>
          <p:nvPr/>
        </p:nvSpPr>
        <p:spPr>
          <a:xfrm>
            <a:off x="6548289" y="2505075"/>
            <a:ext cx="2259006" cy="266700"/>
          </a:xfrm>
          <a:prstGeom prst="rect">
            <a:avLst/>
          </a:prstGeom>
          <a:noFill/>
          <a:ln/>
        </p:spPr>
        <p:txBody>
          <a:bodyPr wrap="square" lIns="0" tIns="0" rIns="0" bIns="0" rtlCol="0" anchor="t"/>
          <a:lstStyle/>
          <a:p>
            <a:pPr marL="0" indent="0" algn="l">
              <a:lnSpc>
                <a:spcPts val="2100"/>
              </a:lnSpc>
              <a:buNone/>
            </a:pPr>
            <a:r>
              <a:rPr lang="en-US" sz="1500" b="1" dirty="0">
                <a:solidFill>
                  <a:srgbClr val="C9A227"/>
                </a:solidFill>
                <a:latin typeface="Arial" pitchFamily="34" charset="0"/>
                <a:ea typeface="Arial" pitchFamily="34" charset="-122"/>
                <a:cs typeface="Arial" pitchFamily="34" charset="-120"/>
              </a:rPr>
              <a:t>4</a:t>
            </a:r>
            <a:endParaRPr lang="en-US" sz="1500" dirty="0"/>
          </a:p>
        </p:txBody>
      </p:sp>
      <p:sp>
        <p:nvSpPr>
          <p:cNvPr id="36" name="Text 34"/>
          <p:cNvSpPr/>
          <p:nvPr/>
        </p:nvSpPr>
        <p:spPr>
          <a:xfrm>
            <a:off x="6548289" y="2819400"/>
            <a:ext cx="2259006" cy="133350"/>
          </a:xfrm>
          <a:prstGeom prst="rect">
            <a:avLst/>
          </a:prstGeom>
          <a:noFill/>
          <a:ln/>
        </p:spPr>
        <p:txBody>
          <a:bodyPr wrap="square" lIns="0" tIns="0" rIns="0" bIns="0" rtlCol="0" anchor="t"/>
          <a:lstStyle/>
          <a:p>
            <a:pPr marL="0" indent="0" algn="l">
              <a:lnSpc>
                <a:spcPts val="1050"/>
              </a:lnSpc>
              <a:spcBef>
                <a:spcPts val="375"/>
              </a:spcBef>
              <a:spcAft>
                <a:spcPts val="225"/>
              </a:spcAft>
              <a:buNone/>
            </a:pPr>
            <a:r>
              <a:rPr lang="en-US" sz="750" b="1" dirty="0">
                <a:solidFill>
                  <a:srgbClr val="1A1F2E"/>
                </a:solidFill>
                <a:latin typeface="Arial" pitchFamily="34" charset="0"/>
                <a:ea typeface="Arial" pitchFamily="34" charset="-122"/>
                <a:cs typeface="Arial" pitchFamily="34" charset="-120"/>
              </a:rPr>
              <a:t>Match Model to Task</a:t>
            </a:r>
            <a:endParaRPr lang="en-US" sz="750" dirty="0"/>
          </a:p>
        </p:txBody>
      </p:sp>
      <p:sp>
        <p:nvSpPr>
          <p:cNvPr id="37" name="Text 35"/>
          <p:cNvSpPr/>
          <p:nvPr/>
        </p:nvSpPr>
        <p:spPr>
          <a:xfrm>
            <a:off x="6548289" y="2981325"/>
            <a:ext cx="2259006" cy="106561"/>
          </a:xfrm>
          <a:prstGeom prst="rect">
            <a:avLst/>
          </a:prstGeom>
          <a:noFill/>
          <a:ln/>
        </p:spPr>
        <p:txBody>
          <a:bodyPr wrap="square" lIns="0" tIns="0" rIns="0" bIns="0" rtlCol="0" anchor="t"/>
          <a:lstStyle/>
          <a:p>
            <a:pPr marL="0" indent="0" algn="l">
              <a:lnSpc>
                <a:spcPts val="840"/>
              </a:lnSpc>
              <a:buNone/>
            </a:pPr>
            <a:r>
              <a:rPr lang="en-US" sz="600" dirty="0">
                <a:solidFill>
                  <a:srgbClr val="6B7280"/>
                </a:solidFill>
                <a:latin typeface="Arial" pitchFamily="34" charset="0"/>
                <a:ea typeface="Arial" pitchFamily="34" charset="-122"/>
                <a:cs typeface="Arial" pitchFamily="34" charset="-120"/>
              </a:rPr>
              <a:t>Haiku for speed, Sonnet for balance, Opus for complexity.</a:t>
            </a:r>
            <a:endParaRPr lang="en-US" sz="600" dirty="0"/>
          </a:p>
        </p:txBody>
      </p:sp>
      <p:sp>
        <p:nvSpPr>
          <p:cNvPr id="38" name="Text 36"/>
          <p:cNvSpPr/>
          <p:nvPr/>
        </p:nvSpPr>
        <p:spPr>
          <a:xfrm>
            <a:off x="3838277" y="3468886"/>
            <a:ext cx="5039023" cy="769590"/>
          </a:xfrm>
          <a:prstGeom prst="rect">
            <a:avLst/>
          </a:prstGeom>
          <a:solidFill>
            <a:srgbClr val="1A1F2E"/>
          </a:solidFill>
          <a:ln/>
        </p:spPr>
        <p:txBody>
          <a:bodyPr wrap="square" rtlCol="0" anchor="ctr"/>
          <a:lstStyle/>
          <a:p>
            <a:pPr marL="0" indent="0">
              <a:buNone/>
            </a:pPr>
            <a:endParaRPr lang="en-US" dirty="0"/>
          </a:p>
        </p:txBody>
      </p:sp>
      <p:sp>
        <p:nvSpPr>
          <p:cNvPr id="39" name="Text 37"/>
          <p:cNvSpPr/>
          <p:nvPr/>
        </p:nvSpPr>
        <p:spPr>
          <a:xfrm>
            <a:off x="3923904" y="3602236"/>
            <a:ext cx="4867769" cy="159990"/>
          </a:xfrm>
          <a:prstGeom prst="rect">
            <a:avLst/>
          </a:prstGeom>
          <a:noFill/>
          <a:ln/>
        </p:spPr>
        <p:txBody>
          <a:bodyPr wrap="square" lIns="0" tIns="0" rIns="0" bIns="0" rtlCol="0" anchor="t"/>
          <a:lstStyle/>
          <a:p>
            <a:pPr marL="0" indent="0" algn="ctr">
              <a:lnSpc>
                <a:spcPts val="1260"/>
              </a:lnSpc>
              <a:spcAft>
                <a:spcPts val="450"/>
              </a:spcAft>
              <a:buNone/>
            </a:pPr>
            <a:r>
              <a:rPr lang="en-US" sz="900" b="1" dirty="0">
                <a:solidFill>
                  <a:srgbClr val="C9A227"/>
                </a:solidFill>
                <a:latin typeface="Arial" pitchFamily="34" charset="0"/>
                <a:ea typeface="Arial" pitchFamily="34" charset="-122"/>
                <a:cs typeface="Arial" pitchFamily="34" charset="-120"/>
              </a:rPr>
              <a:t>VOICE + CLAUDE CODE</a:t>
            </a:r>
            <a:endParaRPr lang="en-US" sz="900" dirty="0"/>
          </a:p>
        </p:txBody>
      </p:sp>
      <p:sp>
        <p:nvSpPr>
          <p:cNvPr id="40" name="Text 38"/>
          <p:cNvSpPr/>
          <p:nvPr/>
        </p:nvSpPr>
        <p:spPr>
          <a:xfrm>
            <a:off x="3923904" y="3819376"/>
            <a:ext cx="4867769" cy="285750"/>
          </a:xfrm>
          <a:prstGeom prst="rect">
            <a:avLst/>
          </a:prstGeom>
          <a:noFill/>
          <a:ln/>
        </p:spPr>
        <p:txBody>
          <a:bodyPr wrap="square" lIns="0" tIns="0" rIns="0" bIns="0" rtlCol="0" anchor="t"/>
          <a:lstStyle/>
          <a:p>
            <a:pPr marL="0" indent="0" algn="ctr">
              <a:lnSpc>
                <a:spcPts val="1125"/>
              </a:lnSpc>
              <a:buNone/>
            </a:pPr>
            <a:r>
              <a:rPr lang="en-US" sz="750" dirty="0">
                <a:solidFill>
                  <a:srgbClr val="FFFFFF">
                    <a:alpha val="80000"/>
                  </a:srgbClr>
                </a:solidFill>
                <a:latin typeface="Arial" pitchFamily="34" charset="0"/>
                <a:ea typeface="Arial" pitchFamily="34" charset="-122"/>
                <a:cs typeface="Arial" pitchFamily="34" charset="-120"/>
              </a:rPr>
              <a:t>SuperWhisper voice input → structured prompts → Claude Code execution</a:t>
            </a:r>
            <a:endParaRPr lang="en-US" sz="750" dirty="0"/>
          </a:p>
          <a:p>
            <a:pPr marL="0" indent="0" algn="ctr">
              <a:lnSpc>
                <a:spcPts val="1125"/>
              </a:lnSpc>
              <a:buNone/>
            </a:pPr>
            <a:r>
              <a:rPr lang="en-US" sz="750" dirty="0">
                <a:solidFill>
                  <a:srgbClr val="FFFFFF">
                    <a:alpha val="80000"/>
                  </a:srgbClr>
                </a:solidFill>
                <a:latin typeface="Arial" pitchFamily="34" charset="0"/>
                <a:ea typeface="Arial" pitchFamily="34" charset="-122"/>
                <a:cs typeface="Arial" pitchFamily="34" charset="-120"/>
              </a:rPr>
              <a:t>The complete voice-driven development stack.</a:t>
            </a:r>
            <a:endParaRPr lang="en-US" sz="7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var/folders/8s/qp6qfsr90ml5q7fb2n2ptwch0000gn/T/rasterized-gradient-a0dcf650.png"/>
          <p:cNvPicPr>
            <a:picLocks noChangeAspect="1"/>
          </p:cNvPicPr>
          <p:nvPr/>
        </p:nvPicPr>
        <p:blipFill>
          <a:blip r:embed="rId3"/>
          <a:stretch>
            <a:fillRect/>
          </a:stretch>
        </p:blipFill>
        <p:spPr>
          <a:xfrm>
            <a:off x="0" y="0"/>
            <a:ext cx="5850434" cy="5143500"/>
          </a:xfrm>
          <a:prstGeom prst="rect">
            <a:avLst/>
          </a:prstGeom>
        </p:spPr>
      </p:pic>
      <p:sp>
        <p:nvSpPr>
          <p:cNvPr id="4" name="Text 1"/>
          <p:cNvSpPr/>
          <p:nvPr/>
        </p:nvSpPr>
        <p:spPr>
          <a:xfrm>
            <a:off x="457200" y="1573560"/>
            <a:ext cx="4556570" cy="832247"/>
          </a:xfrm>
          <a:prstGeom prst="rect">
            <a:avLst/>
          </a:prstGeom>
          <a:noFill/>
          <a:ln/>
        </p:spPr>
        <p:txBody>
          <a:bodyPr wrap="square" lIns="0" tIns="0" rIns="0" bIns="0" rtlCol="0" anchor="t"/>
          <a:lstStyle/>
          <a:p>
            <a:pPr marL="0" indent="0" algn="l">
              <a:lnSpc>
                <a:spcPts val="3278"/>
              </a:lnSpc>
              <a:spcAft>
                <a:spcPts val="900"/>
              </a:spcAft>
              <a:buNone/>
            </a:pPr>
            <a:r>
              <a:rPr lang="en-US" sz="2850" dirty="0">
                <a:solidFill>
                  <a:srgbClr val="FFFFFF"/>
                </a:solidFill>
                <a:latin typeface="Georgia" pitchFamily="34" charset="0"/>
                <a:ea typeface="Georgia" pitchFamily="34" charset="-122"/>
                <a:cs typeface="Georgia" pitchFamily="34" charset="-120"/>
              </a:rPr>
              <a:t>Structuring Projects for Voice-First AI Development</a:t>
            </a:r>
            <a:endParaRPr lang="en-US" sz="2850" dirty="0"/>
          </a:p>
        </p:txBody>
      </p:sp>
      <p:sp>
        <p:nvSpPr>
          <p:cNvPr id="5" name="Text 2"/>
          <p:cNvSpPr/>
          <p:nvPr/>
        </p:nvSpPr>
        <p:spPr>
          <a:xfrm>
            <a:off x="457200" y="2672507"/>
            <a:ext cx="5034754" cy="266700"/>
          </a:xfrm>
          <a:prstGeom prst="rect">
            <a:avLst/>
          </a:prstGeom>
          <a:noFill/>
          <a:ln/>
        </p:spPr>
        <p:txBody>
          <a:bodyPr wrap="square" lIns="0" tIns="0" rIns="0" bIns="0" rtlCol="0" anchor="t"/>
          <a:lstStyle/>
          <a:p>
            <a:pPr marL="0" indent="0" algn="l">
              <a:lnSpc>
                <a:spcPts val="2100"/>
              </a:lnSpc>
              <a:spcAft>
                <a:spcPts val="2400"/>
              </a:spcAft>
              <a:buNone/>
            </a:pPr>
            <a:r>
              <a:rPr lang="en-US" sz="1500" dirty="0">
                <a:solidFill>
                  <a:srgbClr val="C9A227"/>
                </a:solidFill>
                <a:latin typeface="Georgia" pitchFamily="34" charset="0"/>
                <a:ea typeface="Georgia" pitchFamily="34" charset="-122"/>
                <a:cs typeface="Georgia" pitchFamily="34" charset="-120"/>
              </a:rPr>
              <a:t>A 10-Phase Workflow</a:t>
            </a:r>
            <a:endParaRPr lang="en-US" sz="1500" dirty="0"/>
          </a:p>
        </p:txBody>
      </p:sp>
      <p:sp>
        <p:nvSpPr>
          <p:cNvPr id="6" name="Text 3"/>
          <p:cNvSpPr/>
          <p:nvPr/>
        </p:nvSpPr>
        <p:spPr>
          <a:xfrm>
            <a:off x="457200" y="3396407"/>
            <a:ext cx="762000" cy="19050"/>
          </a:xfrm>
          <a:prstGeom prst="rect">
            <a:avLst/>
          </a:prstGeom>
          <a:solidFill>
            <a:srgbClr val="C9A227"/>
          </a:solidFill>
          <a:ln/>
        </p:spPr>
        <p:txBody>
          <a:bodyPr wrap="square" rtlCol="0" anchor="ctr"/>
          <a:lstStyle/>
          <a:p>
            <a:pPr marL="0" indent="0">
              <a:buNone/>
            </a:pPr>
            <a:endParaRPr lang="en-US" dirty="0"/>
          </a:p>
        </p:txBody>
      </p:sp>
      <p:sp>
        <p:nvSpPr>
          <p:cNvPr id="7" name="Text 4"/>
          <p:cNvSpPr/>
          <p:nvPr/>
        </p:nvSpPr>
        <p:spPr>
          <a:xfrm>
            <a:off x="457200" y="3872657"/>
            <a:ext cx="5034754" cy="186630"/>
          </a:xfrm>
          <a:prstGeom prst="rect">
            <a:avLst/>
          </a:prstGeom>
          <a:noFill/>
          <a:ln/>
        </p:spPr>
        <p:txBody>
          <a:bodyPr wrap="square" lIns="0" tIns="0" rIns="0" bIns="0" rtlCol="0" anchor="t"/>
          <a:lstStyle/>
          <a:p>
            <a:pPr marL="0" indent="0" algn="l">
              <a:lnSpc>
                <a:spcPts val="1470"/>
              </a:lnSpc>
              <a:buNone/>
            </a:pPr>
            <a:r>
              <a:rPr lang="en-US" sz="1050" dirty="0">
                <a:solidFill>
                  <a:srgbClr val="FFFFFF">
                    <a:alpha val="70000"/>
                  </a:srgbClr>
                </a:solidFill>
                <a:latin typeface="Arial" pitchFamily="34" charset="0"/>
                <a:ea typeface="Arial" pitchFamily="34" charset="-122"/>
                <a:cs typeface="Arial" pitchFamily="34" charset="-120"/>
              </a:rPr>
              <a:t>From idea to deployment using voice-driven AI agents</a:t>
            </a:r>
            <a:endParaRPr lang="en-US" sz="1050" dirty="0"/>
          </a:p>
        </p:txBody>
      </p:sp>
      <p:sp>
        <p:nvSpPr>
          <p:cNvPr id="8" name="Text 5"/>
          <p:cNvSpPr/>
          <p:nvPr/>
        </p:nvSpPr>
        <p:spPr>
          <a:xfrm>
            <a:off x="6002834" y="0"/>
            <a:ext cx="3141166" cy="5143500"/>
          </a:xfrm>
          <a:prstGeom prst="rect">
            <a:avLst/>
          </a:prstGeom>
          <a:solidFill>
            <a:srgbClr val="C9A227"/>
          </a:solidFill>
          <a:ln/>
        </p:spPr>
        <p:txBody>
          <a:bodyPr wrap="square" rtlCol="0" anchor="ctr"/>
          <a:lstStyle/>
          <a:p>
            <a:pPr marL="0" indent="0">
              <a:buNone/>
            </a:pPr>
            <a:endParaRPr lang="en-US" dirty="0"/>
          </a:p>
        </p:txBody>
      </p:sp>
      <p:sp>
        <p:nvSpPr>
          <p:cNvPr id="9" name="Text 6"/>
          <p:cNvSpPr/>
          <p:nvPr/>
        </p:nvSpPr>
        <p:spPr>
          <a:xfrm>
            <a:off x="7249010" y="1578322"/>
            <a:ext cx="648813" cy="853380"/>
          </a:xfrm>
          <a:prstGeom prst="rect">
            <a:avLst/>
          </a:prstGeom>
          <a:noFill/>
          <a:ln/>
        </p:spPr>
        <p:txBody>
          <a:bodyPr wrap="square" lIns="0" tIns="0" rIns="0" bIns="0" rtlCol="0" anchor="t"/>
          <a:lstStyle/>
          <a:p>
            <a:pPr marL="0" indent="0" algn="ctr">
              <a:lnSpc>
                <a:spcPts val="6720"/>
              </a:lnSpc>
              <a:buNone/>
            </a:pPr>
            <a:r>
              <a:rPr lang="en-US" sz="4800" dirty="0">
                <a:solidFill>
                  <a:srgbClr val="1A1F2E"/>
                </a:solidFill>
                <a:latin typeface="Georgia" pitchFamily="34" charset="0"/>
                <a:ea typeface="Georgia" pitchFamily="34" charset="-122"/>
                <a:cs typeface="Georgia" pitchFamily="34" charset="-120"/>
              </a:rPr>
              <a:t>10</a:t>
            </a:r>
            <a:endParaRPr lang="en-US" sz="4800" dirty="0"/>
          </a:p>
        </p:txBody>
      </p:sp>
      <p:sp>
        <p:nvSpPr>
          <p:cNvPr id="10" name="Text 7"/>
          <p:cNvSpPr/>
          <p:nvPr/>
        </p:nvSpPr>
        <p:spPr>
          <a:xfrm>
            <a:off x="7239143" y="2622203"/>
            <a:ext cx="668548" cy="186630"/>
          </a:xfrm>
          <a:prstGeom prst="rect">
            <a:avLst/>
          </a:prstGeom>
          <a:noFill/>
          <a:ln/>
        </p:spPr>
        <p:txBody>
          <a:bodyPr wrap="square" lIns="0" tIns="0" rIns="0" bIns="0" rtlCol="0" anchor="t"/>
          <a:lstStyle/>
          <a:p>
            <a:pPr marL="0" indent="0" algn="ctr">
              <a:lnSpc>
                <a:spcPts val="1470"/>
              </a:lnSpc>
              <a:spcBef>
                <a:spcPts val="300"/>
              </a:spcBef>
              <a:buNone/>
            </a:pPr>
            <a:r>
              <a:rPr lang="en-US" sz="1050" dirty="0">
                <a:solidFill>
                  <a:srgbClr val="1A1F2E"/>
                </a:solidFill>
                <a:latin typeface="Arial" pitchFamily="34" charset="0"/>
                <a:ea typeface="Arial" pitchFamily="34" charset="-122"/>
                <a:cs typeface="Arial" pitchFamily="34" charset="-120"/>
              </a:rPr>
              <a:t>PHASES</a:t>
            </a:r>
            <a:endParaRPr lang="en-US" sz="1050" dirty="0"/>
          </a:p>
        </p:txBody>
      </p:sp>
      <p:sp>
        <p:nvSpPr>
          <p:cNvPr id="11" name="Text 8"/>
          <p:cNvSpPr/>
          <p:nvPr/>
        </p:nvSpPr>
        <p:spPr>
          <a:xfrm>
            <a:off x="6204594" y="4768304"/>
            <a:ext cx="2737646" cy="146596"/>
          </a:xfrm>
          <a:prstGeom prst="rect">
            <a:avLst/>
          </a:prstGeom>
          <a:noFill/>
          <a:ln/>
        </p:spPr>
        <p:txBody>
          <a:bodyPr wrap="square" lIns="0" tIns="0" rIns="0" bIns="0" rtlCol="0" anchor="t"/>
          <a:lstStyle/>
          <a:p>
            <a:pPr marL="0" indent="0" algn="ctr">
              <a:lnSpc>
                <a:spcPts val="1155"/>
              </a:lnSpc>
              <a:buNone/>
            </a:pPr>
            <a:r>
              <a:rPr lang="en-US" sz="825" dirty="0">
                <a:solidFill>
                  <a:srgbClr val="1A1F2E">
                    <a:alpha val="60000"/>
                  </a:srgbClr>
                </a:solidFill>
                <a:latin typeface="Arial" pitchFamily="34" charset="0"/>
                <a:ea typeface="Arial" pitchFamily="34" charset="-122"/>
                <a:cs typeface="Arial" pitchFamily="34" charset="-120"/>
              </a:rPr>
              <a:t>Session 2 Deep Dive</a:t>
            </a:r>
            <a:endParaRPr lang="en-US" sz="825"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81000" y="228600"/>
            <a:ext cx="8549640" cy="133350"/>
          </a:xfrm>
          <a:prstGeom prst="rect">
            <a:avLst/>
          </a:prstGeom>
          <a:noFill/>
          <a:ln/>
        </p:spPr>
        <p:txBody>
          <a:bodyPr wrap="square" lIns="0" tIns="0" rIns="0" bIns="0" rtlCol="0" anchor="t"/>
          <a:lstStyle/>
          <a:p>
            <a:pPr marL="0" indent="0" algn="l">
              <a:lnSpc>
                <a:spcPts val="1050"/>
              </a:lnSpc>
              <a:spcAft>
                <a:spcPts val="450"/>
              </a:spcAft>
              <a:buNone/>
            </a:pPr>
            <a:r>
              <a:rPr lang="en-US" sz="750" dirty="0">
                <a:solidFill>
                  <a:srgbClr val="C9A227"/>
                </a:solidFill>
                <a:latin typeface="Arial" pitchFamily="34" charset="0"/>
                <a:ea typeface="Arial" pitchFamily="34" charset="-122"/>
                <a:cs typeface="Arial" pitchFamily="34" charset="-120"/>
              </a:rPr>
              <a:t>OVERVIEW</a:t>
            </a:r>
            <a:endParaRPr lang="en-US" sz="750" dirty="0"/>
          </a:p>
        </p:txBody>
      </p:sp>
      <p:sp>
        <p:nvSpPr>
          <p:cNvPr id="3" name="Text 1"/>
          <p:cNvSpPr/>
          <p:nvPr/>
        </p:nvSpPr>
        <p:spPr>
          <a:xfrm>
            <a:off x="381000" y="419100"/>
            <a:ext cx="4284536" cy="266700"/>
          </a:xfrm>
          <a:prstGeom prst="rect">
            <a:avLst/>
          </a:prstGeom>
          <a:noFill/>
          <a:ln/>
        </p:spPr>
        <p:txBody>
          <a:bodyPr wrap="square" lIns="0" tIns="0" rIns="0" bIns="0" rtlCol="0" anchor="t"/>
          <a:lstStyle/>
          <a:p>
            <a:pPr marL="0" indent="0" algn="l">
              <a:lnSpc>
                <a:spcPts val="2100"/>
              </a:lnSpc>
              <a:buNone/>
            </a:pPr>
            <a:r>
              <a:rPr lang="en-US" sz="2100" dirty="0">
                <a:solidFill>
                  <a:srgbClr val="1A1F2E"/>
                </a:solidFill>
                <a:latin typeface="Georgia" pitchFamily="34" charset="0"/>
                <a:ea typeface="Georgia" pitchFamily="34" charset="-122"/>
                <a:cs typeface="Georgia" pitchFamily="34" charset="-120"/>
              </a:rPr>
              <a:t>The 10-Phase Voice-First Workflow</a:t>
            </a:r>
            <a:endParaRPr lang="en-US" sz="2100" dirty="0"/>
          </a:p>
        </p:txBody>
      </p:sp>
      <p:sp>
        <p:nvSpPr>
          <p:cNvPr id="4" name="Text 2"/>
          <p:cNvSpPr/>
          <p:nvPr/>
        </p:nvSpPr>
        <p:spPr>
          <a:xfrm>
            <a:off x="381000" y="1400473"/>
            <a:ext cx="1600200" cy="727472"/>
          </a:xfrm>
          <a:prstGeom prst="rect">
            <a:avLst/>
          </a:prstGeom>
          <a:solidFill>
            <a:srgbClr val="1A1F2E"/>
          </a:solidFill>
          <a:ln/>
        </p:spPr>
        <p:txBody>
          <a:bodyPr wrap="square" rtlCol="0" anchor="ctr"/>
          <a:lstStyle/>
          <a:p>
            <a:pPr marL="0" indent="0">
              <a:buNone/>
            </a:pPr>
            <a:endParaRPr lang="en-US" dirty="0"/>
          </a:p>
        </p:txBody>
      </p:sp>
      <p:sp>
        <p:nvSpPr>
          <p:cNvPr id="5" name="Text 3"/>
          <p:cNvSpPr/>
          <p:nvPr/>
        </p:nvSpPr>
        <p:spPr>
          <a:xfrm>
            <a:off x="514350" y="1495723"/>
            <a:ext cx="1360170" cy="239911"/>
          </a:xfrm>
          <a:prstGeom prst="rect">
            <a:avLst/>
          </a:prstGeom>
          <a:noFill/>
          <a:ln/>
        </p:spPr>
        <p:txBody>
          <a:bodyPr wrap="square" lIns="0" tIns="0" rIns="0" bIns="0" rtlCol="0" anchor="t"/>
          <a:lstStyle/>
          <a:p>
            <a:pPr marL="0" indent="0" algn="l">
              <a:lnSpc>
                <a:spcPts val="1890"/>
              </a:lnSpc>
              <a:spcAft>
                <a:spcPts val="300"/>
              </a:spcAft>
              <a:buNone/>
            </a:pPr>
            <a:r>
              <a:rPr lang="en-US" sz="1350" dirty="0">
                <a:solidFill>
                  <a:srgbClr val="C9A227"/>
                </a:solidFill>
                <a:latin typeface="Georgia" pitchFamily="34" charset="0"/>
                <a:ea typeface="Georgia" pitchFamily="34" charset="-122"/>
                <a:cs typeface="Georgia" pitchFamily="34" charset="-120"/>
              </a:rPr>
              <a:t>1</a:t>
            </a:r>
            <a:endParaRPr lang="en-US" sz="1350" dirty="0"/>
          </a:p>
        </p:txBody>
      </p:sp>
      <p:sp>
        <p:nvSpPr>
          <p:cNvPr id="6" name="Text 4"/>
          <p:cNvSpPr/>
          <p:nvPr/>
        </p:nvSpPr>
        <p:spPr>
          <a:xfrm>
            <a:off x="514350" y="1773734"/>
            <a:ext cx="1360170" cy="133350"/>
          </a:xfrm>
          <a:prstGeom prst="rect">
            <a:avLst/>
          </a:prstGeom>
          <a:noFill/>
          <a:ln/>
        </p:spPr>
        <p:txBody>
          <a:bodyPr wrap="square" lIns="0" tIns="0" rIns="0" bIns="0" rtlCol="0" anchor="t"/>
          <a:lstStyle/>
          <a:p>
            <a:pPr marL="0" indent="0" algn="l">
              <a:lnSpc>
                <a:spcPts val="1050"/>
              </a:lnSpc>
              <a:buNone/>
            </a:pPr>
            <a:r>
              <a:rPr lang="en-US" sz="750" b="1" dirty="0">
                <a:solidFill>
                  <a:srgbClr val="FFFFFF"/>
                </a:solidFill>
                <a:latin typeface="Arial" pitchFamily="34" charset="0"/>
                <a:ea typeface="Arial" pitchFamily="34" charset="-122"/>
                <a:cs typeface="Arial" pitchFamily="34" charset="-120"/>
              </a:rPr>
              <a:t>GitHub Repo</a:t>
            </a:r>
            <a:endParaRPr lang="en-US" sz="750" dirty="0"/>
          </a:p>
        </p:txBody>
      </p:sp>
      <p:sp>
        <p:nvSpPr>
          <p:cNvPr id="7" name="Text 5"/>
          <p:cNvSpPr/>
          <p:nvPr/>
        </p:nvSpPr>
        <p:spPr>
          <a:xfrm>
            <a:off x="514350" y="1926134"/>
            <a:ext cx="1360170" cy="106561"/>
          </a:xfrm>
          <a:prstGeom prst="rect">
            <a:avLst/>
          </a:prstGeom>
          <a:noFill/>
          <a:ln/>
        </p:spPr>
        <p:txBody>
          <a:bodyPr wrap="square" lIns="0" tIns="0" rIns="0" bIns="0" rtlCol="0" anchor="t"/>
          <a:lstStyle/>
          <a:p>
            <a:pPr marL="0" indent="0" algn="l">
              <a:lnSpc>
                <a:spcPts val="840"/>
              </a:lnSpc>
              <a:spcBef>
                <a:spcPts val="150"/>
              </a:spcBef>
              <a:buNone/>
            </a:pPr>
            <a:r>
              <a:rPr lang="en-US" sz="600" dirty="0">
                <a:solidFill>
                  <a:srgbClr val="FFFFFF">
                    <a:alpha val="50000"/>
                  </a:srgbClr>
                </a:solidFill>
                <a:latin typeface="Arial" pitchFamily="34" charset="0"/>
                <a:ea typeface="Arial" pitchFamily="34" charset="-122"/>
                <a:cs typeface="Arial" pitchFamily="34" charset="-120"/>
              </a:rPr>
              <a:t>Foundation</a:t>
            </a:r>
            <a:endParaRPr lang="en-US" sz="600" dirty="0"/>
          </a:p>
        </p:txBody>
      </p:sp>
      <p:sp>
        <p:nvSpPr>
          <p:cNvPr id="8" name="Text 6"/>
          <p:cNvSpPr/>
          <p:nvPr/>
        </p:nvSpPr>
        <p:spPr>
          <a:xfrm>
            <a:off x="2076450" y="1400473"/>
            <a:ext cx="1600200" cy="727472"/>
          </a:xfrm>
          <a:prstGeom prst="rect">
            <a:avLst/>
          </a:prstGeom>
          <a:solidFill>
            <a:srgbClr val="1A1F2E"/>
          </a:solidFill>
          <a:ln/>
        </p:spPr>
        <p:txBody>
          <a:bodyPr wrap="square" rtlCol="0" anchor="ctr"/>
          <a:lstStyle/>
          <a:p>
            <a:pPr marL="0" indent="0">
              <a:buNone/>
            </a:pPr>
            <a:endParaRPr lang="en-US" dirty="0"/>
          </a:p>
        </p:txBody>
      </p:sp>
      <p:sp>
        <p:nvSpPr>
          <p:cNvPr id="9" name="Text 7"/>
          <p:cNvSpPr/>
          <p:nvPr/>
        </p:nvSpPr>
        <p:spPr>
          <a:xfrm>
            <a:off x="2209800" y="1495723"/>
            <a:ext cx="1360170" cy="239911"/>
          </a:xfrm>
          <a:prstGeom prst="rect">
            <a:avLst/>
          </a:prstGeom>
          <a:noFill/>
          <a:ln/>
        </p:spPr>
        <p:txBody>
          <a:bodyPr wrap="square" lIns="0" tIns="0" rIns="0" bIns="0" rtlCol="0" anchor="t"/>
          <a:lstStyle/>
          <a:p>
            <a:pPr marL="0" indent="0" algn="l">
              <a:lnSpc>
                <a:spcPts val="1890"/>
              </a:lnSpc>
              <a:spcAft>
                <a:spcPts val="300"/>
              </a:spcAft>
              <a:buNone/>
            </a:pPr>
            <a:r>
              <a:rPr lang="en-US" sz="1350" dirty="0">
                <a:solidFill>
                  <a:srgbClr val="C9A227"/>
                </a:solidFill>
                <a:latin typeface="Georgia" pitchFamily="34" charset="0"/>
                <a:ea typeface="Georgia" pitchFamily="34" charset="-122"/>
                <a:cs typeface="Georgia" pitchFamily="34" charset="-120"/>
              </a:rPr>
              <a:t>2</a:t>
            </a:r>
            <a:endParaRPr lang="en-US" sz="1350" dirty="0"/>
          </a:p>
        </p:txBody>
      </p:sp>
      <p:sp>
        <p:nvSpPr>
          <p:cNvPr id="10" name="Text 8"/>
          <p:cNvSpPr/>
          <p:nvPr/>
        </p:nvSpPr>
        <p:spPr>
          <a:xfrm>
            <a:off x="2209800" y="1773734"/>
            <a:ext cx="1360170" cy="133350"/>
          </a:xfrm>
          <a:prstGeom prst="rect">
            <a:avLst/>
          </a:prstGeom>
          <a:noFill/>
          <a:ln/>
        </p:spPr>
        <p:txBody>
          <a:bodyPr wrap="square" lIns="0" tIns="0" rIns="0" bIns="0" rtlCol="0" anchor="t"/>
          <a:lstStyle/>
          <a:p>
            <a:pPr marL="0" indent="0" algn="l">
              <a:lnSpc>
                <a:spcPts val="1050"/>
              </a:lnSpc>
              <a:buNone/>
            </a:pPr>
            <a:r>
              <a:rPr lang="en-US" sz="750" b="1" dirty="0">
                <a:solidFill>
                  <a:srgbClr val="FFFFFF"/>
                </a:solidFill>
                <a:latin typeface="Arial" pitchFamily="34" charset="0"/>
                <a:ea typeface="Arial" pitchFamily="34" charset="-122"/>
                <a:cs typeface="Arial" pitchFamily="34" charset="-120"/>
              </a:rPr>
              <a:t>Brainstorm</a:t>
            </a:r>
            <a:endParaRPr lang="en-US" sz="750" dirty="0"/>
          </a:p>
        </p:txBody>
      </p:sp>
      <p:sp>
        <p:nvSpPr>
          <p:cNvPr id="11" name="Text 9"/>
          <p:cNvSpPr/>
          <p:nvPr/>
        </p:nvSpPr>
        <p:spPr>
          <a:xfrm>
            <a:off x="2209800" y="1926134"/>
            <a:ext cx="1360170" cy="106561"/>
          </a:xfrm>
          <a:prstGeom prst="rect">
            <a:avLst/>
          </a:prstGeom>
          <a:noFill/>
          <a:ln/>
        </p:spPr>
        <p:txBody>
          <a:bodyPr wrap="square" lIns="0" tIns="0" rIns="0" bIns="0" rtlCol="0" anchor="t"/>
          <a:lstStyle/>
          <a:p>
            <a:pPr marL="0" indent="0" algn="l">
              <a:lnSpc>
                <a:spcPts val="840"/>
              </a:lnSpc>
              <a:spcBef>
                <a:spcPts val="150"/>
              </a:spcBef>
              <a:buNone/>
            </a:pPr>
            <a:r>
              <a:rPr lang="en-US" sz="600" dirty="0">
                <a:solidFill>
                  <a:srgbClr val="FFFFFF">
                    <a:alpha val="50000"/>
                  </a:srgbClr>
                </a:solidFill>
                <a:latin typeface="Arial" pitchFamily="34" charset="0"/>
                <a:ea typeface="Arial" pitchFamily="34" charset="-122"/>
                <a:cs typeface="Arial" pitchFamily="34" charset="-120"/>
              </a:rPr>
              <a:t>Ideation</a:t>
            </a:r>
            <a:endParaRPr lang="en-US" sz="600" dirty="0"/>
          </a:p>
        </p:txBody>
      </p:sp>
      <p:sp>
        <p:nvSpPr>
          <p:cNvPr id="12" name="Text 10"/>
          <p:cNvSpPr/>
          <p:nvPr/>
        </p:nvSpPr>
        <p:spPr>
          <a:xfrm>
            <a:off x="3771900" y="1400473"/>
            <a:ext cx="1600200" cy="727472"/>
          </a:xfrm>
          <a:prstGeom prst="rect">
            <a:avLst/>
          </a:prstGeom>
          <a:solidFill>
            <a:srgbClr val="1A1F2E"/>
          </a:solidFill>
          <a:ln/>
        </p:spPr>
        <p:txBody>
          <a:bodyPr wrap="square" rtlCol="0" anchor="ctr"/>
          <a:lstStyle/>
          <a:p>
            <a:pPr marL="0" indent="0">
              <a:buNone/>
            </a:pPr>
            <a:endParaRPr lang="en-US" dirty="0"/>
          </a:p>
        </p:txBody>
      </p:sp>
      <p:sp>
        <p:nvSpPr>
          <p:cNvPr id="13" name="Text 11"/>
          <p:cNvSpPr/>
          <p:nvPr/>
        </p:nvSpPr>
        <p:spPr>
          <a:xfrm>
            <a:off x="3905250" y="1495723"/>
            <a:ext cx="1360170" cy="239911"/>
          </a:xfrm>
          <a:prstGeom prst="rect">
            <a:avLst/>
          </a:prstGeom>
          <a:noFill/>
          <a:ln/>
        </p:spPr>
        <p:txBody>
          <a:bodyPr wrap="square" lIns="0" tIns="0" rIns="0" bIns="0" rtlCol="0" anchor="t"/>
          <a:lstStyle/>
          <a:p>
            <a:pPr marL="0" indent="0" algn="l">
              <a:lnSpc>
                <a:spcPts val="1890"/>
              </a:lnSpc>
              <a:spcAft>
                <a:spcPts val="300"/>
              </a:spcAft>
              <a:buNone/>
            </a:pPr>
            <a:r>
              <a:rPr lang="en-US" sz="1350" dirty="0">
                <a:solidFill>
                  <a:srgbClr val="C9A227"/>
                </a:solidFill>
                <a:latin typeface="Georgia" pitchFamily="34" charset="0"/>
                <a:ea typeface="Georgia" pitchFamily="34" charset="-122"/>
                <a:cs typeface="Georgia" pitchFamily="34" charset="-120"/>
              </a:rPr>
              <a:t>3</a:t>
            </a:r>
            <a:endParaRPr lang="en-US" sz="1350" dirty="0"/>
          </a:p>
        </p:txBody>
      </p:sp>
      <p:sp>
        <p:nvSpPr>
          <p:cNvPr id="14" name="Text 12"/>
          <p:cNvSpPr/>
          <p:nvPr/>
        </p:nvSpPr>
        <p:spPr>
          <a:xfrm>
            <a:off x="3905250" y="1773734"/>
            <a:ext cx="1360170" cy="133350"/>
          </a:xfrm>
          <a:prstGeom prst="rect">
            <a:avLst/>
          </a:prstGeom>
          <a:noFill/>
          <a:ln/>
        </p:spPr>
        <p:txBody>
          <a:bodyPr wrap="square" lIns="0" tIns="0" rIns="0" bIns="0" rtlCol="0" anchor="t"/>
          <a:lstStyle/>
          <a:p>
            <a:pPr marL="0" indent="0" algn="l">
              <a:lnSpc>
                <a:spcPts val="1050"/>
              </a:lnSpc>
              <a:buNone/>
            </a:pPr>
            <a:r>
              <a:rPr lang="en-US" sz="750" b="1" dirty="0">
                <a:solidFill>
                  <a:srgbClr val="FFFFFF"/>
                </a:solidFill>
                <a:latin typeface="Arial" pitchFamily="34" charset="0"/>
                <a:ea typeface="Arial" pitchFamily="34" charset="-122"/>
                <a:cs typeface="Arial" pitchFamily="34" charset="-120"/>
              </a:rPr>
              <a:t>Deep Research</a:t>
            </a:r>
            <a:endParaRPr lang="en-US" sz="750" dirty="0"/>
          </a:p>
        </p:txBody>
      </p:sp>
      <p:sp>
        <p:nvSpPr>
          <p:cNvPr id="15" name="Text 13"/>
          <p:cNvSpPr/>
          <p:nvPr/>
        </p:nvSpPr>
        <p:spPr>
          <a:xfrm>
            <a:off x="3905250" y="1926134"/>
            <a:ext cx="1360170" cy="106561"/>
          </a:xfrm>
          <a:prstGeom prst="rect">
            <a:avLst/>
          </a:prstGeom>
          <a:noFill/>
          <a:ln/>
        </p:spPr>
        <p:txBody>
          <a:bodyPr wrap="square" lIns="0" tIns="0" rIns="0" bIns="0" rtlCol="0" anchor="t"/>
          <a:lstStyle/>
          <a:p>
            <a:pPr marL="0" indent="0" algn="l">
              <a:lnSpc>
                <a:spcPts val="840"/>
              </a:lnSpc>
              <a:spcBef>
                <a:spcPts val="150"/>
              </a:spcBef>
              <a:buNone/>
            </a:pPr>
            <a:r>
              <a:rPr lang="en-US" sz="600" dirty="0">
                <a:solidFill>
                  <a:srgbClr val="FFFFFF">
                    <a:alpha val="50000"/>
                  </a:srgbClr>
                </a:solidFill>
                <a:latin typeface="Arial" pitchFamily="34" charset="0"/>
                <a:ea typeface="Arial" pitchFamily="34" charset="-122"/>
                <a:cs typeface="Arial" pitchFamily="34" charset="-120"/>
              </a:rPr>
              <a:t>Discovery</a:t>
            </a:r>
            <a:endParaRPr lang="en-US" sz="600" dirty="0"/>
          </a:p>
        </p:txBody>
      </p:sp>
      <p:sp>
        <p:nvSpPr>
          <p:cNvPr id="16" name="Text 14"/>
          <p:cNvSpPr/>
          <p:nvPr/>
        </p:nvSpPr>
        <p:spPr>
          <a:xfrm>
            <a:off x="5467350" y="1400473"/>
            <a:ext cx="1600200" cy="727472"/>
          </a:xfrm>
          <a:prstGeom prst="rect">
            <a:avLst/>
          </a:prstGeom>
          <a:solidFill>
            <a:srgbClr val="1A1F2E"/>
          </a:solidFill>
          <a:ln/>
        </p:spPr>
        <p:txBody>
          <a:bodyPr wrap="square" rtlCol="0" anchor="ctr"/>
          <a:lstStyle/>
          <a:p>
            <a:pPr marL="0" indent="0">
              <a:buNone/>
            </a:pPr>
            <a:endParaRPr lang="en-US" dirty="0"/>
          </a:p>
        </p:txBody>
      </p:sp>
      <p:sp>
        <p:nvSpPr>
          <p:cNvPr id="17" name="Text 15"/>
          <p:cNvSpPr/>
          <p:nvPr/>
        </p:nvSpPr>
        <p:spPr>
          <a:xfrm>
            <a:off x="5600700" y="1495723"/>
            <a:ext cx="1360170" cy="239911"/>
          </a:xfrm>
          <a:prstGeom prst="rect">
            <a:avLst/>
          </a:prstGeom>
          <a:noFill/>
          <a:ln/>
        </p:spPr>
        <p:txBody>
          <a:bodyPr wrap="square" lIns="0" tIns="0" rIns="0" bIns="0" rtlCol="0" anchor="t"/>
          <a:lstStyle/>
          <a:p>
            <a:pPr marL="0" indent="0" algn="l">
              <a:lnSpc>
                <a:spcPts val="1890"/>
              </a:lnSpc>
              <a:spcAft>
                <a:spcPts val="300"/>
              </a:spcAft>
              <a:buNone/>
            </a:pPr>
            <a:r>
              <a:rPr lang="en-US" sz="1350" dirty="0">
                <a:solidFill>
                  <a:srgbClr val="C9A227"/>
                </a:solidFill>
                <a:latin typeface="Georgia" pitchFamily="34" charset="0"/>
                <a:ea typeface="Georgia" pitchFamily="34" charset="-122"/>
                <a:cs typeface="Georgia" pitchFamily="34" charset="-120"/>
              </a:rPr>
              <a:t>4</a:t>
            </a:r>
            <a:endParaRPr lang="en-US" sz="1350" dirty="0"/>
          </a:p>
        </p:txBody>
      </p:sp>
      <p:sp>
        <p:nvSpPr>
          <p:cNvPr id="18" name="Text 16"/>
          <p:cNvSpPr/>
          <p:nvPr/>
        </p:nvSpPr>
        <p:spPr>
          <a:xfrm>
            <a:off x="5600700" y="1773734"/>
            <a:ext cx="1360170" cy="133350"/>
          </a:xfrm>
          <a:prstGeom prst="rect">
            <a:avLst/>
          </a:prstGeom>
          <a:noFill/>
          <a:ln/>
        </p:spPr>
        <p:txBody>
          <a:bodyPr wrap="square" lIns="0" tIns="0" rIns="0" bIns="0" rtlCol="0" anchor="t"/>
          <a:lstStyle/>
          <a:p>
            <a:pPr marL="0" indent="0" algn="l">
              <a:lnSpc>
                <a:spcPts val="1050"/>
              </a:lnSpc>
              <a:buNone/>
            </a:pPr>
            <a:r>
              <a:rPr lang="en-US" sz="750" b="1" dirty="0">
                <a:solidFill>
                  <a:srgbClr val="FFFFFF"/>
                </a:solidFill>
                <a:latin typeface="Arial" pitchFamily="34" charset="0"/>
                <a:ea typeface="Arial" pitchFamily="34" charset="-122"/>
                <a:cs typeface="Arial" pitchFamily="34" charset="-120"/>
              </a:rPr>
              <a:t>Planning</a:t>
            </a:r>
            <a:endParaRPr lang="en-US" sz="750" dirty="0"/>
          </a:p>
        </p:txBody>
      </p:sp>
      <p:sp>
        <p:nvSpPr>
          <p:cNvPr id="19" name="Text 17"/>
          <p:cNvSpPr/>
          <p:nvPr/>
        </p:nvSpPr>
        <p:spPr>
          <a:xfrm>
            <a:off x="5600700" y="1926134"/>
            <a:ext cx="1360170" cy="106561"/>
          </a:xfrm>
          <a:prstGeom prst="rect">
            <a:avLst/>
          </a:prstGeom>
          <a:noFill/>
          <a:ln/>
        </p:spPr>
        <p:txBody>
          <a:bodyPr wrap="square" lIns="0" tIns="0" rIns="0" bIns="0" rtlCol="0" anchor="t"/>
          <a:lstStyle/>
          <a:p>
            <a:pPr marL="0" indent="0" algn="l">
              <a:lnSpc>
                <a:spcPts val="840"/>
              </a:lnSpc>
              <a:spcBef>
                <a:spcPts val="150"/>
              </a:spcBef>
              <a:buNone/>
            </a:pPr>
            <a:r>
              <a:rPr lang="en-US" sz="600" dirty="0">
                <a:solidFill>
                  <a:srgbClr val="FFFFFF">
                    <a:alpha val="50000"/>
                  </a:srgbClr>
                </a:solidFill>
                <a:latin typeface="Arial" pitchFamily="34" charset="0"/>
                <a:ea typeface="Arial" pitchFamily="34" charset="-122"/>
                <a:cs typeface="Arial" pitchFamily="34" charset="-120"/>
              </a:rPr>
              <a:t>Strategy</a:t>
            </a:r>
            <a:endParaRPr lang="en-US" sz="600" dirty="0"/>
          </a:p>
        </p:txBody>
      </p:sp>
      <p:sp>
        <p:nvSpPr>
          <p:cNvPr id="20" name="Text 18"/>
          <p:cNvSpPr/>
          <p:nvPr/>
        </p:nvSpPr>
        <p:spPr>
          <a:xfrm>
            <a:off x="7162800" y="1400473"/>
            <a:ext cx="1600200" cy="727472"/>
          </a:xfrm>
          <a:prstGeom prst="rect">
            <a:avLst/>
          </a:prstGeom>
          <a:solidFill>
            <a:srgbClr val="1A1F2E"/>
          </a:solidFill>
          <a:ln/>
        </p:spPr>
        <p:txBody>
          <a:bodyPr wrap="square" rtlCol="0" anchor="ctr"/>
          <a:lstStyle/>
          <a:p>
            <a:pPr marL="0" indent="0">
              <a:buNone/>
            </a:pPr>
            <a:endParaRPr lang="en-US" dirty="0"/>
          </a:p>
        </p:txBody>
      </p:sp>
      <p:sp>
        <p:nvSpPr>
          <p:cNvPr id="21" name="Text 19"/>
          <p:cNvSpPr/>
          <p:nvPr/>
        </p:nvSpPr>
        <p:spPr>
          <a:xfrm>
            <a:off x="7296150" y="1495723"/>
            <a:ext cx="1360170" cy="239911"/>
          </a:xfrm>
          <a:prstGeom prst="rect">
            <a:avLst/>
          </a:prstGeom>
          <a:noFill/>
          <a:ln/>
        </p:spPr>
        <p:txBody>
          <a:bodyPr wrap="square" lIns="0" tIns="0" rIns="0" bIns="0" rtlCol="0" anchor="t"/>
          <a:lstStyle/>
          <a:p>
            <a:pPr marL="0" indent="0" algn="l">
              <a:lnSpc>
                <a:spcPts val="1890"/>
              </a:lnSpc>
              <a:spcAft>
                <a:spcPts val="300"/>
              </a:spcAft>
              <a:buNone/>
            </a:pPr>
            <a:r>
              <a:rPr lang="en-US" sz="1350" dirty="0">
                <a:solidFill>
                  <a:srgbClr val="C9A227"/>
                </a:solidFill>
                <a:latin typeface="Georgia" pitchFamily="34" charset="0"/>
                <a:ea typeface="Georgia" pitchFamily="34" charset="-122"/>
                <a:cs typeface="Georgia" pitchFamily="34" charset="-120"/>
              </a:rPr>
              <a:t>5</a:t>
            </a:r>
            <a:endParaRPr lang="en-US" sz="1350" dirty="0"/>
          </a:p>
        </p:txBody>
      </p:sp>
      <p:sp>
        <p:nvSpPr>
          <p:cNvPr id="22" name="Text 20"/>
          <p:cNvSpPr/>
          <p:nvPr/>
        </p:nvSpPr>
        <p:spPr>
          <a:xfrm>
            <a:off x="7296150" y="1773734"/>
            <a:ext cx="1360170" cy="133350"/>
          </a:xfrm>
          <a:prstGeom prst="rect">
            <a:avLst/>
          </a:prstGeom>
          <a:noFill/>
          <a:ln/>
        </p:spPr>
        <p:txBody>
          <a:bodyPr wrap="square" lIns="0" tIns="0" rIns="0" bIns="0" rtlCol="0" anchor="t"/>
          <a:lstStyle/>
          <a:p>
            <a:pPr marL="0" indent="0" algn="l">
              <a:lnSpc>
                <a:spcPts val="1050"/>
              </a:lnSpc>
              <a:buNone/>
            </a:pPr>
            <a:r>
              <a:rPr lang="en-US" sz="750" b="1" dirty="0">
                <a:solidFill>
                  <a:srgbClr val="FFFFFF"/>
                </a:solidFill>
                <a:latin typeface="Arial" pitchFamily="34" charset="0"/>
                <a:ea typeface="Arial" pitchFamily="34" charset="-122"/>
                <a:cs typeface="Arial" pitchFamily="34" charset="-120"/>
              </a:rPr>
              <a:t>MVP Prototype</a:t>
            </a:r>
            <a:endParaRPr lang="en-US" sz="750" dirty="0"/>
          </a:p>
        </p:txBody>
      </p:sp>
      <p:sp>
        <p:nvSpPr>
          <p:cNvPr id="23" name="Text 21"/>
          <p:cNvSpPr/>
          <p:nvPr/>
        </p:nvSpPr>
        <p:spPr>
          <a:xfrm>
            <a:off x="7296150" y="1926134"/>
            <a:ext cx="1360170" cy="106561"/>
          </a:xfrm>
          <a:prstGeom prst="rect">
            <a:avLst/>
          </a:prstGeom>
          <a:noFill/>
          <a:ln/>
        </p:spPr>
        <p:txBody>
          <a:bodyPr wrap="square" lIns="0" tIns="0" rIns="0" bIns="0" rtlCol="0" anchor="t"/>
          <a:lstStyle/>
          <a:p>
            <a:pPr marL="0" indent="0" algn="l">
              <a:lnSpc>
                <a:spcPts val="840"/>
              </a:lnSpc>
              <a:spcBef>
                <a:spcPts val="150"/>
              </a:spcBef>
              <a:buNone/>
            </a:pPr>
            <a:r>
              <a:rPr lang="en-US" sz="600" dirty="0">
                <a:solidFill>
                  <a:srgbClr val="FFFFFF">
                    <a:alpha val="50000"/>
                  </a:srgbClr>
                </a:solidFill>
                <a:latin typeface="Arial" pitchFamily="34" charset="0"/>
                <a:ea typeface="Arial" pitchFamily="34" charset="-122"/>
                <a:cs typeface="Arial" pitchFamily="34" charset="-120"/>
              </a:rPr>
              <a:t>Experiment</a:t>
            </a:r>
            <a:endParaRPr lang="en-US" sz="600" dirty="0"/>
          </a:p>
        </p:txBody>
      </p:sp>
      <p:sp>
        <p:nvSpPr>
          <p:cNvPr id="24" name="Text 22"/>
          <p:cNvSpPr/>
          <p:nvPr/>
        </p:nvSpPr>
        <p:spPr>
          <a:xfrm>
            <a:off x="381000" y="2223195"/>
            <a:ext cx="1600200" cy="727472"/>
          </a:xfrm>
          <a:prstGeom prst="rect">
            <a:avLst/>
          </a:prstGeom>
          <a:solidFill>
            <a:srgbClr val="252B3D"/>
          </a:solidFill>
          <a:ln/>
        </p:spPr>
        <p:txBody>
          <a:bodyPr wrap="square" rtlCol="0" anchor="ctr"/>
          <a:lstStyle/>
          <a:p>
            <a:pPr marL="0" indent="0">
              <a:buNone/>
            </a:pPr>
            <a:endParaRPr lang="en-US" dirty="0"/>
          </a:p>
        </p:txBody>
      </p:sp>
      <p:sp>
        <p:nvSpPr>
          <p:cNvPr id="25" name="Text 23"/>
          <p:cNvSpPr/>
          <p:nvPr/>
        </p:nvSpPr>
        <p:spPr>
          <a:xfrm>
            <a:off x="514350" y="2318445"/>
            <a:ext cx="1360170" cy="239911"/>
          </a:xfrm>
          <a:prstGeom prst="rect">
            <a:avLst/>
          </a:prstGeom>
          <a:noFill/>
          <a:ln/>
        </p:spPr>
        <p:txBody>
          <a:bodyPr wrap="square" lIns="0" tIns="0" rIns="0" bIns="0" rtlCol="0" anchor="t"/>
          <a:lstStyle/>
          <a:p>
            <a:pPr marL="0" indent="0" algn="l">
              <a:lnSpc>
                <a:spcPts val="1890"/>
              </a:lnSpc>
              <a:spcAft>
                <a:spcPts val="300"/>
              </a:spcAft>
              <a:buNone/>
            </a:pPr>
            <a:r>
              <a:rPr lang="en-US" sz="1350" dirty="0">
                <a:solidFill>
                  <a:srgbClr val="C9A227"/>
                </a:solidFill>
                <a:latin typeface="Georgia" pitchFamily="34" charset="0"/>
                <a:ea typeface="Georgia" pitchFamily="34" charset="-122"/>
                <a:cs typeface="Georgia" pitchFamily="34" charset="-120"/>
              </a:rPr>
              <a:t>6</a:t>
            </a:r>
            <a:endParaRPr lang="en-US" sz="1350" dirty="0"/>
          </a:p>
        </p:txBody>
      </p:sp>
      <p:sp>
        <p:nvSpPr>
          <p:cNvPr id="26" name="Text 24"/>
          <p:cNvSpPr/>
          <p:nvPr/>
        </p:nvSpPr>
        <p:spPr>
          <a:xfrm>
            <a:off x="514350" y="2596455"/>
            <a:ext cx="1360170" cy="133350"/>
          </a:xfrm>
          <a:prstGeom prst="rect">
            <a:avLst/>
          </a:prstGeom>
          <a:noFill/>
          <a:ln/>
        </p:spPr>
        <p:txBody>
          <a:bodyPr wrap="square" lIns="0" tIns="0" rIns="0" bIns="0" rtlCol="0" anchor="t"/>
          <a:lstStyle/>
          <a:p>
            <a:pPr marL="0" indent="0" algn="l">
              <a:lnSpc>
                <a:spcPts val="1050"/>
              </a:lnSpc>
              <a:buNone/>
            </a:pPr>
            <a:r>
              <a:rPr lang="en-US" sz="750" b="1" dirty="0">
                <a:solidFill>
                  <a:srgbClr val="FFFFFF"/>
                </a:solidFill>
                <a:latin typeface="Arial" pitchFamily="34" charset="0"/>
                <a:ea typeface="Arial" pitchFamily="34" charset="-122"/>
                <a:cs typeface="Arial" pitchFamily="34" charset="-120"/>
              </a:rPr>
              <a:t>Documentation</a:t>
            </a:r>
            <a:endParaRPr lang="en-US" sz="750" dirty="0"/>
          </a:p>
        </p:txBody>
      </p:sp>
      <p:sp>
        <p:nvSpPr>
          <p:cNvPr id="27" name="Text 25"/>
          <p:cNvSpPr/>
          <p:nvPr/>
        </p:nvSpPr>
        <p:spPr>
          <a:xfrm>
            <a:off x="514350" y="2748855"/>
            <a:ext cx="1360170" cy="106561"/>
          </a:xfrm>
          <a:prstGeom prst="rect">
            <a:avLst/>
          </a:prstGeom>
          <a:noFill/>
          <a:ln/>
        </p:spPr>
        <p:txBody>
          <a:bodyPr wrap="square" lIns="0" tIns="0" rIns="0" bIns="0" rtlCol="0" anchor="t"/>
          <a:lstStyle/>
          <a:p>
            <a:pPr marL="0" indent="0" algn="l">
              <a:lnSpc>
                <a:spcPts val="840"/>
              </a:lnSpc>
              <a:spcBef>
                <a:spcPts val="150"/>
              </a:spcBef>
              <a:buNone/>
            </a:pPr>
            <a:r>
              <a:rPr lang="en-US" sz="600" dirty="0">
                <a:solidFill>
                  <a:srgbClr val="FFFFFF">
                    <a:alpha val="50000"/>
                  </a:srgbClr>
                </a:solidFill>
                <a:latin typeface="Arial" pitchFamily="34" charset="0"/>
                <a:ea typeface="Arial" pitchFamily="34" charset="-122"/>
                <a:cs typeface="Arial" pitchFamily="34" charset="-120"/>
              </a:rPr>
              <a:t>Standards</a:t>
            </a:r>
            <a:endParaRPr lang="en-US" sz="600" dirty="0"/>
          </a:p>
        </p:txBody>
      </p:sp>
      <p:sp>
        <p:nvSpPr>
          <p:cNvPr id="28" name="Text 26"/>
          <p:cNvSpPr/>
          <p:nvPr/>
        </p:nvSpPr>
        <p:spPr>
          <a:xfrm>
            <a:off x="2076450" y="2223195"/>
            <a:ext cx="1600200" cy="727472"/>
          </a:xfrm>
          <a:prstGeom prst="rect">
            <a:avLst/>
          </a:prstGeom>
          <a:solidFill>
            <a:srgbClr val="252B3D"/>
          </a:solidFill>
          <a:ln/>
        </p:spPr>
        <p:txBody>
          <a:bodyPr wrap="square" rtlCol="0" anchor="ctr"/>
          <a:lstStyle/>
          <a:p>
            <a:pPr marL="0" indent="0">
              <a:buNone/>
            </a:pPr>
            <a:endParaRPr lang="en-US" dirty="0"/>
          </a:p>
        </p:txBody>
      </p:sp>
      <p:sp>
        <p:nvSpPr>
          <p:cNvPr id="29" name="Text 27"/>
          <p:cNvSpPr/>
          <p:nvPr/>
        </p:nvSpPr>
        <p:spPr>
          <a:xfrm>
            <a:off x="2209800" y="2318445"/>
            <a:ext cx="1360170" cy="239911"/>
          </a:xfrm>
          <a:prstGeom prst="rect">
            <a:avLst/>
          </a:prstGeom>
          <a:noFill/>
          <a:ln/>
        </p:spPr>
        <p:txBody>
          <a:bodyPr wrap="square" lIns="0" tIns="0" rIns="0" bIns="0" rtlCol="0" anchor="t"/>
          <a:lstStyle/>
          <a:p>
            <a:pPr marL="0" indent="0" algn="l">
              <a:lnSpc>
                <a:spcPts val="1890"/>
              </a:lnSpc>
              <a:spcAft>
                <a:spcPts val="300"/>
              </a:spcAft>
              <a:buNone/>
            </a:pPr>
            <a:r>
              <a:rPr lang="en-US" sz="1350" dirty="0">
                <a:solidFill>
                  <a:srgbClr val="C9A227"/>
                </a:solidFill>
                <a:latin typeface="Georgia" pitchFamily="34" charset="0"/>
                <a:ea typeface="Georgia" pitchFamily="34" charset="-122"/>
                <a:cs typeface="Georgia" pitchFamily="34" charset="-120"/>
              </a:rPr>
              <a:t>7</a:t>
            </a:r>
            <a:endParaRPr lang="en-US" sz="1350" dirty="0"/>
          </a:p>
        </p:txBody>
      </p:sp>
      <p:sp>
        <p:nvSpPr>
          <p:cNvPr id="30" name="Text 28"/>
          <p:cNvSpPr/>
          <p:nvPr/>
        </p:nvSpPr>
        <p:spPr>
          <a:xfrm>
            <a:off x="2209800" y="2596455"/>
            <a:ext cx="1360170" cy="133350"/>
          </a:xfrm>
          <a:prstGeom prst="rect">
            <a:avLst/>
          </a:prstGeom>
          <a:noFill/>
          <a:ln/>
        </p:spPr>
        <p:txBody>
          <a:bodyPr wrap="square" lIns="0" tIns="0" rIns="0" bIns="0" rtlCol="0" anchor="t"/>
          <a:lstStyle/>
          <a:p>
            <a:pPr marL="0" indent="0" algn="l">
              <a:lnSpc>
                <a:spcPts val="1050"/>
              </a:lnSpc>
              <a:buNone/>
            </a:pPr>
            <a:r>
              <a:rPr lang="en-US" sz="750" b="1" dirty="0">
                <a:solidFill>
                  <a:srgbClr val="FFFFFF"/>
                </a:solidFill>
                <a:latin typeface="Arial" pitchFamily="34" charset="0"/>
                <a:ea typeface="Arial" pitchFamily="34" charset="-122"/>
                <a:cs typeface="Arial" pitchFamily="34" charset="-120"/>
              </a:rPr>
              <a:t>PRD Creation</a:t>
            </a:r>
            <a:endParaRPr lang="en-US" sz="750" dirty="0"/>
          </a:p>
        </p:txBody>
      </p:sp>
      <p:sp>
        <p:nvSpPr>
          <p:cNvPr id="31" name="Text 29"/>
          <p:cNvSpPr/>
          <p:nvPr/>
        </p:nvSpPr>
        <p:spPr>
          <a:xfrm>
            <a:off x="2209800" y="2748855"/>
            <a:ext cx="1360170" cy="106561"/>
          </a:xfrm>
          <a:prstGeom prst="rect">
            <a:avLst/>
          </a:prstGeom>
          <a:noFill/>
          <a:ln/>
        </p:spPr>
        <p:txBody>
          <a:bodyPr wrap="square" lIns="0" tIns="0" rIns="0" bIns="0" rtlCol="0" anchor="t"/>
          <a:lstStyle/>
          <a:p>
            <a:pPr marL="0" indent="0" algn="l">
              <a:lnSpc>
                <a:spcPts val="840"/>
              </a:lnSpc>
              <a:spcBef>
                <a:spcPts val="150"/>
              </a:spcBef>
              <a:buNone/>
            </a:pPr>
            <a:r>
              <a:rPr lang="en-US" sz="600" dirty="0">
                <a:solidFill>
                  <a:srgbClr val="FFFFFF">
                    <a:alpha val="50000"/>
                  </a:srgbClr>
                </a:solidFill>
                <a:latin typeface="Arial" pitchFamily="34" charset="0"/>
                <a:ea typeface="Arial" pitchFamily="34" charset="-122"/>
                <a:cs typeface="Arial" pitchFamily="34" charset="-120"/>
              </a:rPr>
              <a:t>Specification</a:t>
            </a:r>
            <a:endParaRPr lang="en-US" sz="600" dirty="0"/>
          </a:p>
        </p:txBody>
      </p:sp>
      <p:sp>
        <p:nvSpPr>
          <p:cNvPr id="32" name="Text 30"/>
          <p:cNvSpPr/>
          <p:nvPr/>
        </p:nvSpPr>
        <p:spPr>
          <a:xfrm>
            <a:off x="3771900" y="2223195"/>
            <a:ext cx="1600200" cy="727472"/>
          </a:xfrm>
          <a:prstGeom prst="rect">
            <a:avLst/>
          </a:prstGeom>
          <a:solidFill>
            <a:srgbClr val="252B3D"/>
          </a:solidFill>
          <a:ln/>
        </p:spPr>
        <p:txBody>
          <a:bodyPr wrap="square" rtlCol="0" anchor="ctr"/>
          <a:lstStyle/>
          <a:p>
            <a:pPr marL="0" indent="0">
              <a:buNone/>
            </a:pPr>
            <a:endParaRPr lang="en-US" dirty="0"/>
          </a:p>
        </p:txBody>
      </p:sp>
      <p:sp>
        <p:nvSpPr>
          <p:cNvPr id="33" name="Text 31"/>
          <p:cNvSpPr/>
          <p:nvPr/>
        </p:nvSpPr>
        <p:spPr>
          <a:xfrm>
            <a:off x="3905250" y="2318445"/>
            <a:ext cx="1360170" cy="239911"/>
          </a:xfrm>
          <a:prstGeom prst="rect">
            <a:avLst/>
          </a:prstGeom>
          <a:noFill/>
          <a:ln/>
        </p:spPr>
        <p:txBody>
          <a:bodyPr wrap="square" lIns="0" tIns="0" rIns="0" bIns="0" rtlCol="0" anchor="t"/>
          <a:lstStyle/>
          <a:p>
            <a:pPr marL="0" indent="0" algn="l">
              <a:lnSpc>
                <a:spcPts val="1890"/>
              </a:lnSpc>
              <a:spcAft>
                <a:spcPts val="300"/>
              </a:spcAft>
              <a:buNone/>
            </a:pPr>
            <a:r>
              <a:rPr lang="en-US" sz="1350" dirty="0">
                <a:solidFill>
                  <a:srgbClr val="C9A227"/>
                </a:solidFill>
                <a:latin typeface="Georgia" pitchFamily="34" charset="0"/>
                <a:ea typeface="Georgia" pitchFamily="34" charset="-122"/>
                <a:cs typeface="Georgia" pitchFamily="34" charset="-120"/>
              </a:rPr>
              <a:t>8</a:t>
            </a:r>
            <a:endParaRPr lang="en-US" sz="1350" dirty="0"/>
          </a:p>
        </p:txBody>
      </p:sp>
      <p:sp>
        <p:nvSpPr>
          <p:cNvPr id="34" name="Text 32"/>
          <p:cNvSpPr/>
          <p:nvPr/>
        </p:nvSpPr>
        <p:spPr>
          <a:xfrm>
            <a:off x="3905250" y="2596455"/>
            <a:ext cx="1360170" cy="133350"/>
          </a:xfrm>
          <a:prstGeom prst="rect">
            <a:avLst/>
          </a:prstGeom>
          <a:noFill/>
          <a:ln/>
        </p:spPr>
        <p:txBody>
          <a:bodyPr wrap="square" lIns="0" tIns="0" rIns="0" bIns="0" rtlCol="0" anchor="t"/>
          <a:lstStyle/>
          <a:p>
            <a:pPr marL="0" indent="0" algn="l">
              <a:lnSpc>
                <a:spcPts val="1050"/>
              </a:lnSpc>
              <a:buNone/>
            </a:pPr>
            <a:r>
              <a:rPr lang="en-US" sz="750" b="1" dirty="0">
                <a:solidFill>
                  <a:srgbClr val="FFFFFF"/>
                </a:solidFill>
                <a:latin typeface="Arial" pitchFamily="34" charset="0"/>
                <a:ea typeface="Arial" pitchFamily="34" charset="-122"/>
                <a:cs typeface="Arial" pitchFamily="34" charset="-120"/>
              </a:rPr>
              <a:t>Agentic Mode</a:t>
            </a:r>
            <a:endParaRPr lang="en-US" sz="750" dirty="0"/>
          </a:p>
        </p:txBody>
      </p:sp>
      <p:sp>
        <p:nvSpPr>
          <p:cNvPr id="35" name="Text 33"/>
          <p:cNvSpPr/>
          <p:nvPr/>
        </p:nvSpPr>
        <p:spPr>
          <a:xfrm>
            <a:off x="3905250" y="2748855"/>
            <a:ext cx="1360170" cy="106561"/>
          </a:xfrm>
          <a:prstGeom prst="rect">
            <a:avLst/>
          </a:prstGeom>
          <a:noFill/>
          <a:ln/>
        </p:spPr>
        <p:txBody>
          <a:bodyPr wrap="square" lIns="0" tIns="0" rIns="0" bIns="0" rtlCol="0" anchor="t"/>
          <a:lstStyle/>
          <a:p>
            <a:pPr marL="0" indent="0" algn="l">
              <a:lnSpc>
                <a:spcPts val="840"/>
              </a:lnSpc>
              <a:spcBef>
                <a:spcPts val="150"/>
              </a:spcBef>
              <a:buNone/>
            </a:pPr>
            <a:r>
              <a:rPr lang="en-US" sz="600" dirty="0">
                <a:solidFill>
                  <a:srgbClr val="FFFFFF">
                    <a:alpha val="50000"/>
                  </a:srgbClr>
                </a:solidFill>
                <a:latin typeface="Arial" pitchFamily="34" charset="0"/>
                <a:ea typeface="Arial" pitchFamily="34" charset="-122"/>
                <a:cs typeface="Arial" pitchFamily="34" charset="-120"/>
              </a:rPr>
              <a:t>Execution</a:t>
            </a:r>
            <a:endParaRPr lang="en-US" sz="600" dirty="0"/>
          </a:p>
        </p:txBody>
      </p:sp>
      <p:sp>
        <p:nvSpPr>
          <p:cNvPr id="36" name="Text 34"/>
          <p:cNvSpPr/>
          <p:nvPr/>
        </p:nvSpPr>
        <p:spPr>
          <a:xfrm>
            <a:off x="5467350" y="2223195"/>
            <a:ext cx="1600200" cy="727472"/>
          </a:xfrm>
          <a:prstGeom prst="rect">
            <a:avLst/>
          </a:prstGeom>
          <a:solidFill>
            <a:srgbClr val="252B3D"/>
          </a:solidFill>
          <a:ln/>
        </p:spPr>
        <p:txBody>
          <a:bodyPr wrap="square" rtlCol="0" anchor="ctr"/>
          <a:lstStyle/>
          <a:p>
            <a:pPr marL="0" indent="0">
              <a:buNone/>
            </a:pPr>
            <a:endParaRPr lang="en-US" dirty="0"/>
          </a:p>
        </p:txBody>
      </p:sp>
      <p:sp>
        <p:nvSpPr>
          <p:cNvPr id="37" name="Text 35"/>
          <p:cNvSpPr/>
          <p:nvPr/>
        </p:nvSpPr>
        <p:spPr>
          <a:xfrm>
            <a:off x="5600700" y="2318445"/>
            <a:ext cx="1360170" cy="239911"/>
          </a:xfrm>
          <a:prstGeom prst="rect">
            <a:avLst/>
          </a:prstGeom>
          <a:noFill/>
          <a:ln/>
        </p:spPr>
        <p:txBody>
          <a:bodyPr wrap="square" lIns="0" tIns="0" rIns="0" bIns="0" rtlCol="0" anchor="t"/>
          <a:lstStyle/>
          <a:p>
            <a:pPr marL="0" indent="0" algn="l">
              <a:lnSpc>
                <a:spcPts val="1890"/>
              </a:lnSpc>
              <a:spcAft>
                <a:spcPts val="300"/>
              </a:spcAft>
              <a:buNone/>
            </a:pPr>
            <a:r>
              <a:rPr lang="en-US" sz="1350" dirty="0">
                <a:solidFill>
                  <a:srgbClr val="C9A227"/>
                </a:solidFill>
                <a:latin typeface="Georgia" pitchFamily="34" charset="0"/>
                <a:ea typeface="Georgia" pitchFamily="34" charset="-122"/>
                <a:cs typeface="Georgia" pitchFamily="34" charset="-120"/>
              </a:rPr>
              <a:t>9</a:t>
            </a:r>
            <a:endParaRPr lang="en-US" sz="1350" dirty="0"/>
          </a:p>
        </p:txBody>
      </p:sp>
      <p:sp>
        <p:nvSpPr>
          <p:cNvPr id="38" name="Text 36"/>
          <p:cNvSpPr/>
          <p:nvPr/>
        </p:nvSpPr>
        <p:spPr>
          <a:xfrm>
            <a:off x="5600700" y="2596455"/>
            <a:ext cx="1360170" cy="133350"/>
          </a:xfrm>
          <a:prstGeom prst="rect">
            <a:avLst/>
          </a:prstGeom>
          <a:noFill/>
          <a:ln/>
        </p:spPr>
        <p:txBody>
          <a:bodyPr wrap="square" lIns="0" tIns="0" rIns="0" bIns="0" rtlCol="0" anchor="t"/>
          <a:lstStyle/>
          <a:p>
            <a:pPr marL="0" indent="0" algn="l">
              <a:lnSpc>
                <a:spcPts val="1050"/>
              </a:lnSpc>
              <a:buNone/>
            </a:pPr>
            <a:r>
              <a:rPr lang="en-US" sz="750" b="1" dirty="0">
                <a:solidFill>
                  <a:srgbClr val="FFFFFF"/>
                </a:solidFill>
                <a:latin typeface="Arial" pitchFamily="34" charset="0"/>
                <a:ea typeface="Arial" pitchFamily="34" charset="-122"/>
                <a:cs typeface="Arial" pitchFamily="34" charset="-120"/>
              </a:rPr>
              <a:t>Review Cycle</a:t>
            </a:r>
            <a:endParaRPr lang="en-US" sz="750" dirty="0"/>
          </a:p>
        </p:txBody>
      </p:sp>
      <p:sp>
        <p:nvSpPr>
          <p:cNvPr id="39" name="Text 37"/>
          <p:cNvSpPr/>
          <p:nvPr/>
        </p:nvSpPr>
        <p:spPr>
          <a:xfrm>
            <a:off x="5600700" y="2748855"/>
            <a:ext cx="1360170" cy="106561"/>
          </a:xfrm>
          <a:prstGeom prst="rect">
            <a:avLst/>
          </a:prstGeom>
          <a:noFill/>
          <a:ln/>
        </p:spPr>
        <p:txBody>
          <a:bodyPr wrap="square" lIns="0" tIns="0" rIns="0" bIns="0" rtlCol="0" anchor="t"/>
          <a:lstStyle/>
          <a:p>
            <a:pPr marL="0" indent="0" algn="l">
              <a:lnSpc>
                <a:spcPts val="840"/>
              </a:lnSpc>
              <a:spcBef>
                <a:spcPts val="150"/>
              </a:spcBef>
              <a:buNone/>
            </a:pPr>
            <a:r>
              <a:rPr lang="en-US" sz="600" dirty="0">
                <a:solidFill>
                  <a:srgbClr val="FFFFFF">
                    <a:alpha val="50000"/>
                  </a:srgbClr>
                </a:solidFill>
                <a:latin typeface="Arial" pitchFamily="34" charset="0"/>
                <a:ea typeface="Arial" pitchFamily="34" charset="-122"/>
                <a:cs typeface="Arial" pitchFamily="34" charset="-120"/>
              </a:rPr>
              <a:t>Refinement</a:t>
            </a:r>
            <a:endParaRPr lang="en-US" sz="600" dirty="0"/>
          </a:p>
        </p:txBody>
      </p:sp>
      <p:sp>
        <p:nvSpPr>
          <p:cNvPr id="40" name="Text 38"/>
          <p:cNvSpPr/>
          <p:nvPr/>
        </p:nvSpPr>
        <p:spPr>
          <a:xfrm>
            <a:off x="7162800" y="2223195"/>
            <a:ext cx="1600200" cy="727472"/>
          </a:xfrm>
          <a:prstGeom prst="rect">
            <a:avLst/>
          </a:prstGeom>
          <a:solidFill>
            <a:srgbClr val="C9A227"/>
          </a:solidFill>
          <a:ln/>
        </p:spPr>
        <p:txBody>
          <a:bodyPr wrap="square" rtlCol="0" anchor="ctr"/>
          <a:lstStyle/>
          <a:p>
            <a:pPr marL="0" indent="0">
              <a:buNone/>
            </a:pPr>
            <a:endParaRPr lang="en-US" dirty="0"/>
          </a:p>
        </p:txBody>
      </p:sp>
      <p:sp>
        <p:nvSpPr>
          <p:cNvPr id="41" name="Text 39"/>
          <p:cNvSpPr/>
          <p:nvPr/>
        </p:nvSpPr>
        <p:spPr>
          <a:xfrm>
            <a:off x="7296150" y="2318445"/>
            <a:ext cx="1360170" cy="239911"/>
          </a:xfrm>
          <a:prstGeom prst="rect">
            <a:avLst/>
          </a:prstGeom>
          <a:noFill/>
          <a:ln/>
        </p:spPr>
        <p:txBody>
          <a:bodyPr wrap="square" lIns="0" tIns="0" rIns="0" bIns="0" rtlCol="0" anchor="t"/>
          <a:lstStyle/>
          <a:p>
            <a:pPr marL="0" indent="0" algn="l">
              <a:lnSpc>
                <a:spcPts val="1890"/>
              </a:lnSpc>
              <a:spcAft>
                <a:spcPts val="300"/>
              </a:spcAft>
              <a:buNone/>
            </a:pPr>
            <a:r>
              <a:rPr lang="en-US" sz="1350" dirty="0">
                <a:solidFill>
                  <a:srgbClr val="1A1F2E"/>
                </a:solidFill>
                <a:latin typeface="Georgia" pitchFamily="34" charset="0"/>
                <a:ea typeface="Georgia" pitchFamily="34" charset="-122"/>
                <a:cs typeface="Georgia" pitchFamily="34" charset="-120"/>
              </a:rPr>
              <a:t>10</a:t>
            </a:r>
            <a:endParaRPr lang="en-US" sz="1350" dirty="0"/>
          </a:p>
        </p:txBody>
      </p:sp>
      <p:sp>
        <p:nvSpPr>
          <p:cNvPr id="42" name="Text 40"/>
          <p:cNvSpPr/>
          <p:nvPr/>
        </p:nvSpPr>
        <p:spPr>
          <a:xfrm>
            <a:off x="7296150" y="2596455"/>
            <a:ext cx="1360170" cy="133350"/>
          </a:xfrm>
          <a:prstGeom prst="rect">
            <a:avLst/>
          </a:prstGeom>
          <a:noFill/>
          <a:ln/>
        </p:spPr>
        <p:txBody>
          <a:bodyPr wrap="square" lIns="0" tIns="0" rIns="0" bIns="0" rtlCol="0" anchor="t"/>
          <a:lstStyle/>
          <a:p>
            <a:pPr marL="0" indent="0" algn="l">
              <a:lnSpc>
                <a:spcPts val="1050"/>
              </a:lnSpc>
              <a:buNone/>
            </a:pPr>
            <a:r>
              <a:rPr lang="en-US" sz="750" b="1" dirty="0">
                <a:solidFill>
                  <a:srgbClr val="1A1F2E"/>
                </a:solidFill>
                <a:latin typeface="Arial" pitchFamily="34" charset="0"/>
                <a:ea typeface="Arial" pitchFamily="34" charset="-122"/>
                <a:cs typeface="Arial" pitchFamily="34" charset="-120"/>
              </a:rPr>
              <a:t>Deployment</a:t>
            </a:r>
            <a:endParaRPr lang="en-US" sz="750" dirty="0"/>
          </a:p>
        </p:txBody>
      </p:sp>
      <p:sp>
        <p:nvSpPr>
          <p:cNvPr id="43" name="Text 41"/>
          <p:cNvSpPr/>
          <p:nvPr/>
        </p:nvSpPr>
        <p:spPr>
          <a:xfrm>
            <a:off x="7296150" y="2748855"/>
            <a:ext cx="1360170" cy="106561"/>
          </a:xfrm>
          <a:prstGeom prst="rect">
            <a:avLst/>
          </a:prstGeom>
          <a:noFill/>
          <a:ln/>
        </p:spPr>
        <p:txBody>
          <a:bodyPr wrap="square" lIns="0" tIns="0" rIns="0" bIns="0" rtlCol="0" anchor="t"/>
          <a:lstStyle/>
          <a:p>
            <a:pPr marL="0" indent="0" algn="l">
              <a:lnSpc>
                <a:spcPts val="840"/>
              </a:lnSpc>
              <a:spcBef>
                <a:spcPts val="150"/>
              </a:spcBef>
              <a:buNone/>
            </a:pPr>
            <a:r>
              <a:rPr lang="en-US" sz="600" dirty="0">
                <a:solidFill>
                  <a:srgbClr val="1A1F2E">
                    <a:alpha val="60000"/>
                  </a:srgbClr>
                </a:solidFill>
                <a:latin typeface="Arial" pitchFamily="34" charset="0"/>
                <a:ea typeface="Arial" pitchFamily="34" charset="-122"/>
                <a:cs typeface="Arial" pitchFamily="34" charset="-120"/>
              </a:rPr>
              <a:t>Ship It</a:t>
            </a:r>
            <a:endParaRPr lang="en-US" sz="600" dirty="0"/>
          </a:p>
        </p:txBody>
      </p:sp>
      <p:sp>
        <p:nvSpPr>
          <p:cNvPr id="44" name="Text 42"/>
          <p:cNvSpPr/>
          <p:nvPr/>
        </p:nvSpPr>
        <p:spPr>
          <a:xfrm>
            <a:off x="381000" y="3255466"/>
            <a:ext cx="2717750" cy="639961"/>
          </a:xfrm>
          <a:prstGeom prst="rect">
            <a:avLst/>
          </a:prstGeom>
          <a:solidFill>
            <a:srgbClr val="DBEAFE"/>
          </a:solidFill>
          <a:ln/>
        </p:spPr>
        <p:txBody>
          <a:bodyPr wrap="square" rtlCol="0" anchor="ctr"/>
          <a:lstStyle/>
          <a:p>
            <a:pPr marL="0" indent="0">
              <a:buNone/>
            </a:pPr>
            <a:endParaRPr lang="en-US" dirty="0"/>
          </a:p>
        </p:txBody>
      </p:sp>
      <p:sp>
        <p:nvSpPr>
          <p:cNvPr id="45" name="Shape 43"/>
          <p:cNvSpPr/>
          <p:nvPr/>
        </p:nvSpPr>
        <p:spPr>
          <a:xfrm>
            <a:off x="395288" y="3255466"/>
            <a:ext cx="0" cy="639961"/>
          </a:xfrm>
          <a:prstGeom prst="line">
            <a:avLst/>
          </a:prstGeom>
          <a:noFill/>
          <a:ln w="28575">
            <a:solidFill>
              <a:srgbClr val="3B82F6"/>
            </a:solidFill>
            <a:prstDash val="solid"/>
          </a:ln>
        </p:spPr>
        <p:txBody>
          <a:bodyPr/>
          <a:lstStyle/>
          <a:p>
            <a:endParaRPr lang="en-US"/>
          </a:p>
        </p:txBody>
      </p:sp>
      <p:sp>
        <p:nvSpPr>
          <p:cNvPr id="46" name="Text 44"/>
          <p:cNvSpPr/>
          <p:nvPr/>
        </p:nvSpPr>
        <p:spPr>
          <a:xfrm>
            <a:off x="523875" y="3369766"/>
            <a:ext cx="2509787"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1E40AF"/>
                </a:solidFill>
                <a:latin typeface="Arial" pitchFamily="34" charset="0"/>
                <a:ea typeface="Arial" pitchFamily="34" charset="-122"/>
                <a:cs typeface="Arial" pitchFamily="34" charset="-120"/>
              </a:rPr>
              <a:t>PHASES 1-5</a:t>
            </a:r>
            <a:endParaRPr lang="en-US" sz="750" dirty="0"/>
          </a:p>
        </p:txBody>
      </p:sp>
      <p:sp>
        <p:nvSpPr>
          <p:cNvPr id="47" name="Text 45"/>
          <p:cNvSpPr/>
          <p:nvPr/>
        </p:nvSpPr>
        <p:spPr>
          <a:xfrm>
            <a:off x="523875" y="3541216"/>
            <a:ext cx="2509787" cy="239911"/>
          </a:xfrm>
          <a:prstGeom prst="rect">
            <a:avLst/>
          </a:prstGeom>
          <a:noFill/>
          <a:ln/>
        </p:spPr>
        <p:txBody>
          <a:bodyPr wrap="square" lIns="0" tIns="0" rIns="0" bIns="0" rtlCol="0" anchor="t"/>
          <a:lstStyle/>
          <a:p>
            <a:pPr marL="0" indent="0" algn="l">
              <a:lnSpc>
                <a:spcPts val="945"/>
              </a:lnSpc>
              <a:buNone/>
            </a:pPr>
            <a:r>
              <a:rPr lang="en-US" sz="675" dirty="0">
                <a:solidFill>
                  <a:srgbClr val="1E40AF"/>
                </a:solidFill>
                <a:latin typeface="Arial" pitchFamily="34" charset="0"/>
                <a:ea typeface="Arial" pitchFamily="34" charset="-122"/>
                <a:cs typeface="Arial" pitchFamily="34" charset="-120"/>
              </a:rPr>
              <a:t>Discovery and experimentation. High human involvement, lots of voice interaction with the agent.</a:t>
            </a:r>
            <a:endParaRPr lang="en-US" sz="675" dirty="0"/>
          </a:p>
        </p:txBody>
      </p:sp>
      <p:sp>
        <p:nvSpPr>
          <p:cNvPr id="48" name="Text 46"/>
          <p:cNvSpPr/>
          <p:nvPr/>
        </p:nvSpPr>
        <p:spPr>
          <a:xfrm>
            <a:off x="3213050" y="3255466"/>
            <a:ext cx="2717750" cy="639961"/>
          </a:xfrm>
          <a:prstGeom prst="rect">
            <a:avLst/>
          </a:prstGeom>
          <a:solidFill>
            <a:srgbClr val="FEF3C7"/>
          </a:solidFill>
          <a:ln/>
        </p:spPr>
        <p:txBody>
          <a:bodyPr wrap="square" rtlCol="0" anchor="ctr"/>
          <a:lstStyle/>
          <a:p>
            <a:pPr marL="0" indent="0">
              <a:buNone/>
            </a:pPr>
            <a:endParaRPr lang="en-US" dirty="0"/>
          </a:p>
        </p:txBody>
      </p:sp>
      <p:sp>
        <p:nvSpPr>
          <p:cNvPr id="49" name="Shape 47"/>
          <p:cNvSpPr/>
          <p:nvPr/>
        </p:nvSpPr>
        <p:spPr>
          <a:xfrm>
            <a:off x="3227338" y="3255466"/>
            <a:ext cx="0" cy="639961"/>
          </a:xfrm>
          <a:prstGeom prst="line">
            <a:avLst/>
          </a:prstGeom>
          <a:noFill/>
          <a:ln w="28575">
            <a:solidFill>
              <a:srgbClr val="F59E0B"/>
            </a:solidFill>
            <a:prstDash val="solid"/>
          </a:ln>
        </p:spPr>
        <p:txBody>
          <a:bodyPr/>
          <a:lstStyle/>
          <a:p>
            <a:endParaRPr lang="en-US"/>
          </a:p>
        </p:txBody>
      </p:sp>
      <p:sp>
        <p:nvSpPr>
          <p:cNvPr id="50" name="Text 48"/>
          <p:cNvSpPr/>
          <p:nvPr/>
        </p:nvSpPr>
        <p:spPr>
          <a:xfrm>
            <a:off x="3355925" y="3369766"/>
            <a:ext cx="2509787"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92400E"/>
                </a:solidFill>
                <a:latin typeface="Arial" pitchFamily="34" charset="0"/>
                <a:ea typeface="Arial" pitchFamily="34" charset="-122"/>
                <a:cs typeface="Arial" pitchFamily="34" charset="-120"/>
              </a:rPr>
              <a:t>PHASES 6-7</a:t>
            </a:r>
            <a:endParaRPr lang="en-US" sz="750" dirty="0"/>
          </a:p>
        </p:txBody>
      </p:sp>
      <p:sp>
        <p:nvSpPr>
          <p:cNvPr id="51" name="Text 49"/>
          <p:cNvSpPr/>
          <p:nvPr/>
        </p:nvSpPr>
        <p:spPr>
          <a:xfrm>
            <a:off x="3355925" y="3541216"/>
            <a:ext cx="2509787" cy="239911"/>
          </a:xfrm>
          <a:prstGeom prst="rect">
            <a:avLst/>
          </a:prstGeom>
          <a:noFill/>
          <a:ln/>
        </p:spPr>
        <p:txBody>
          <a:bodyPr wrap="square" lIns="0" tIns="0" rIns="0" bIns="0" rtlCol="0" anchor="t"/>
          <a:lstStyle/>
          <a:p>
            <a:pPr marL="0" indent="0" algn="l">
              <a:lnSpc>
                <a:spcPts val="945"/>
              </a:lnSpc>
              <a:buNone/>
            </a:pPr>
            <a:r>
              <a:rPr lang="en-US" sz="675" dirty="0">
                <a:solidFill>
                  <a:srgbClr val="92400E"/>
                </a:solidFill>
                <a:latin typeface="Arial" pitchFamily="34" charset="0"/>
                <a:ea typeface="Arial" pitchFamily="34" charset="-122"/>
                <a:cs typeface="Arial" pitchFamily="34" charset="-120"/>
              </a:rPr>
              <a:t>Formalization. Lock in standards so the agent can work autonomously later.</a:t>
            </a:r>
            <a:endParaRPr lang="en-US" sz="675" dirty="0"/>
          </a:p>
        </p:txBody>
      </p:sp>
      <p:sp>
        <p:nvSpPr>
          <p:cNvPr id="52" name="Text 50"/>
          <p:cNvSpPr/>
          <p:nvPr/>
        </p:nvSpPr>
        <p:spPr>
          <a:xfrm>
            <a:off x="6045101" y="3315444"/>
            <a:ext cx="2717750" cy="520005"/>
          </a:xfrm>
          <a:prstGeom prst="rect">
            <a:avLst/>
          </a:prstGeom>
          <a:solidFill>
            <a:srgbClr val="DCFCE7"/>
          </a:solidFill>
          <a:ln/>
        </p:spPr>
        <p:txBody>
          <a:bodyPr wrap="square" rtlCol="0" anchor="ctr"/>
          <a:lstStyle/>
          <a:p>
            <a:pPr marL="0" indent="0">
              <a:buNone/>
            </a:pPr>
            <a:endParaRPr lang="en-US" dirty="0"/>
          </a:p>
        </p:txBody>
      </p:sp>
      <p:sp>
        <p:nvSpPr>
          <p:cNvPr id="53" name="Shape 51"/>
          <p:cNvSpPr/>
          <p:nvPr/>
        </p:nvSpPr>
        <p:spPr>
          <a:xfrm>
            <a:off x="6059388" y="3315444"/>
            <a:ext cx="0" cy="520005"/>
          </a:xfrm>
          <a:prstGeom prst="line">
            <a:avLst/>
          </a:prstGeom>
          <a:noFill/>
          <a:ln w="28575">
            <a:solidFill>
              <a:srgbClr val="059669"/>
            </a:solidFill>
            <a:prstDash val="solid"/>
          </a:ln>
        </p:spPr>
        <p:txBody>
          <a:bodyPr/>
          <a:lstStyle/>
          <a:p>
            <a:endParaRPr lang="en-US"/>
          </a:p>
        </p:txBody>
      </p:sp>
      <p:sp>
        <p:nvSpPr>
          <p:cNvPr id="54" name="Text 52"/>
          <p:cNvSpPr/>
          <p:nvPr/>
        </p:nvSpPr>
        <p:spPr>
          <a:xfrm>
            <a:off x="6187976" y="3429744"/>
            <a:ext cx="2509787"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166534"/>
                </a:solidFill>
                <a:latin typeface="Arial" pitchFamily="34" charset="0"/>
                <a:ea typeface="Arial" pitchFamily="34" charset="-122"/>
                <a:cs typeface="Arial" pitchFamily="34" charset="-120"/>
              </a:rPr>
              <a:t>PHASES 8-10</a:t>
            </a:r>
            <a:endParaRPr lang="en-US" sz="750" dirty="0"/>
          </a:p>
        </p:txBody>
      </p:sp>
      <p:sp>
        <p:nvSpPr>
          <p:cNvPr id="55" name="Text 53"/>
          <p:cNvSpPr/>
          <p:nvPr/>
        </p:nvSpPr>
        <p:spPr>
          <a:xfrm>
            <a:off x="6187976" y="3601194"/>
            <a:ext cx="2509787" cy="119955"/>
          </a:xfrm>
          <a:prstGeom prst="rect">
            <a:avLst/>
          </a:prstGeom>
          <a:noFill/>
          <a:ln/>
        </p:spPr>
        <p:txBody>
          <a:bodyPr wrap="square" lIns="0" tIns="0" rIns="0" bIns="0" rtlCol="0" anchor="t"/>
          <a:lstStyle/>
          <a:p>
            <a:pPr marL="0" indent="0" algn="l">
              <a:lnSpc>
                <a:spcPts val="945"/>
              </a:lnSpc>
              <a:buNone/>
            </a:pPr>
            <a:r>
              <a:rPr lang="en-US" sz="675" dirty="0">
                <a:solidFill>
                  <a:srgbClr val="166534"/>
                </a:solidFill>
                <a:latin typeface="Arial" pitchFamily="34" charset="0"/>
                <a:ea typeface="Arial" pitchFamily="34" charset="-122"/>
                <a:cs typeface="Arial" pitchFamily="34" charset="-120"/>
              </a:rPr>
              <a:t>Execution mode. Agent does heavy lifting. You review and ship.</a:t>
            </a:r>
            <a:endParaRPr lang="en-US" sz="675" dirty="0"/>
          </a:p>
        </p:txBody>
      </p:sp>
      <p:sp>
        <p:nvSpPr>
          <p:cNvPr id="56" name="Text 54"/>
          <p:cNvSpPr/>
          <p:nvPr/>
        </p:nvSpPr>
        <p:spPr>
          <a:xfrm>
            <a:off x="381000" y="4162127"/>
            <a:ext cx="8382000" cy="342900"/>
          </a:xfrm>
          <a:prstGeom prst="rect">
            <a:avLst/>
          </a:prstGeom>
          <a:solidFill>
            <a:srgbClr val="FFFFFF"/>
          </a:solidFill>
          <a:ln w="9525">
            <a:solidFill>
              <a:srgbClr val="C9A227"/>
            </a:solidFill>
          </a:ln>
        </p:spPr>
        <p:txBody>
          <a:bodyPr wrap="square" rtlCol="0" anchor="ctr"/>
          <a:lstStyle/>
          <a:p>
            <a:pPr marL="0" indent="0">
              <a:buNone/>
            </a:pPr>
            <a:endParaRPr lang="en-US" dirty="0"/>
          </a:p>
        </p:txBody>
      </p:sp>
      <p:sp>
        <p:nvSpPr>
          <p:cNvPr id="57" name="Text 55"/>
          <p:cNvSpPr/>
          <p:nvPr/>
        </p:nvSpPr>
        <p:spPr>
          <a:xfrm>
            <a:off x="542925" y="4266902"/>
            <a:ext cx="8219313" cy="133350"/>
          </a:xfrm>
          <a:prstGeom prst="rect">
            <a:avLst/>
          </a:prstGeom>
          <a:noFill/>
          <a:ln/>
        </p:spPr>
        <p:txBody>
          <a:bodyPr wrap="square" lIns="0" tIns="0" rIns="0" bIns="0" rtlCol="0" anchor="t"/>
          <a:lstStyle/>
          <a:p>
            <a:pPr marL="0" indent="0" algn="l">
              <a:lnSpc>
                <a:spcPts val="1050"/>
              </a:lnSpc>
              <a:buNone/>
            </a:pPr>
            <a:r>
              <a:rPr lang="en-US" sz="750" b="1" dirty="0">
                <a:solidFill>
                  <a:srgbClr val="1A1F2E"/>
                </a:solidFill>
                <a:latin typeface="Arial" pitchFamily="34" charset="0"/>
                <a:ea typeface="Arial" pitchFamily="34" charset="-122"/>
                <a:cs typeface="Arial" pitchFamily="34" charset="-120"/>
              </a:rPr>
              <a:t>Key Insight:</a:t>
            </a:r>
            <a:r>
              <a:rPr lang="en-US" sz="750" dirty="0">
                <a:solidFill>
                  <a:srgbClr val="1A1F2E"/>
                </a:solidFill>
                <a:latin typeface="Arial" pitchFamily="34" charset="0"/>
                <a:ea typeface="Arial" pitchFamily="34" charset="-122"/>
                <a:cs typeface="Arial" pitchFamily="34" charset="-120"/>
              </a:rPr>
              <a:t> The first 7 phases are investment. They enable phases 8-10 where the agent becomes highly autonomous.</a:t>
            </a:r>
            <a:endParaRPr lang="en-US" sz="7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0" y="0"/>
            <a:ext cx="3419624" cy="5143500"/>
          </a:xfrm>
          <a:prstGeom prst="rect">
            <a:avLst/>
          </a:prstGeom>
          <a:solidFill>
            <a:srgbClr val="1A1F2E"/>
          </a:solidFill>
          <a:ln/>
        </p:spPr>
        <p:txBody>
          <a:bodyPr wrap="square" rtlCol="0" anchor="ctr"/>
          <a:lstStyle/>
          <a:p>
            <a:pPr marL="0" indent="0">
              <a:buNone/>
            </a:pPr>
            <a:endParaRPr lang="en-US" dirty="0"/>
          </a:p>
        </p:txBody>
      </p:sp>
      <p:sp>
        <p:nvSpPr>
          <p:cNvPr id="3" name="Text 1"/>
          <p:cNvSpPr/>
          <p:nvPr/>
        </p:nvSpPr>
        <p:spPr>
          <a:xfrm>
            <a:off x="304800" y="282178"/>
            <a:ext cx="981373" cy="234255"/>
          </a:xfrm>
          <a:prstGeom prst="rect">
            <a:avLst/>
          </a:prstGeom>
          <a:solidFill>
            <a:srgbClr val="059669"/>
          </a:solidFill>
          <a:ln/>
        </p:spPr>
        <p:txBody>
          <a:bodyPr wrap="square" rtlCol="0" anchor="ctr"/>
          <a:lstStyle/>
          <a:p>
            <a:pPr marL="0" indent="0">
              <a:buNone/>
            </a:pPr>
            <a:endParaRPr lang="en-US" dirty="0"/>
          </a:p>
        </p:txBody>
      </p:sp>
      <p:sp>
        <p:nvSpPr>
          <p:cNvPr id="4" name="Text 2"/>
          <p:cNvSpPr/>
          <p:nvPr/>
        </p:nvSpPr>
        <p:spPr>
          <a:xfrm>
            <a:off x="419100" y="339328"/>
            <a:ext cx="767828" cy="119955"/>
          </a:xfrm>
          <a:prstGeom prst="rect">
            <a:avLst/>
          </a:prstGeom>
          <a:noFill/>
          <a:ln/>
        </p:spPr>
        <p:txBody>
          <a:bodyPr wrap="square" lIns="0" tIns="0" rIns="0" bIns="0" rtlCol="0" anchor="t"/>
          <a:lstStyle/>
          <a:p>
            <a:pPr marL="0" indent="0" algn="l">
              <a:lnSpc>
                <a:spcPts val="945"/>
              </a:lnSpc>
              <a:buNone/>
            </a:pPr>
            <a:r>
              <a:rPr lang="en-US" sz="675" b="1" dirty="0">
                <a:solidFill>
                  <a:srgbClr val="FFFFFF"/>
                </a:solidFill>
                <a:latin typeface="Arial" pitchFamily="34" charset="0"/>
                <a:ea typeface="Arial" pitchFamily="34" charset="-122"/>
                <a:cs typeface="Arial" pitchFamily="34" charset="-120"/>
              </a:rPr>
              <a:t>PHASE 1 OF 10</a:t>
            </a:r>
            <a:endParaRPr lang="en-US" sz="675" dirty="0"/>
          </a:p>
        </p:txBody>
      </p:sp>
      <p:sp>
        <p:nvSpPr>
          <p:cNvPr id="5" name="Text 3"/>
          <p:cNvSpPr/>
          <p:nvPr/>
        </p:nvSpPr>
        <p:spPr>
          <a:xfrm>
            <a:off x="304800" y="783134"/>
            <a:ext cx="1593342" cy="639961"/>
          </a:xfrm>
          <a:prstGeom prst="rect">
            <a:avLst/>
          </a:prstGeom>
          <a:noFill/>
          <a:ln/>
        </p:spPr>
        <p:txBody>
          <a:bodyPr wrap="square" lIns="0" tIns="0" rIns="0" bIns="0" rtlCol="0" anchor="t"/>
          <a:lstStyle/>
          <a:p>
            <a:pPr marL="0" indent="0" algn="l">
              <a:lnSpc>
                <a:spcPts val="2520"/>
              </a:lnSpc>
              <a:spcAft>
                <a:spcPts val="900"/>
              </a:spcAft>
              <a:buNone/>
            </a:pPr>
            <a:r>
              <a:rPr lang="en-US" sz="2100" dirty="0">
                <a:solidFill>
                  <a:srgbClr val="FFFFFF"/>
                </a:solidFill>
                <a:latin typeface="Georgia" pitchFamily="34" charset="0"/>
                <a:ea typeface="Georgia" pitchFamily="34" charset="-122"/>
                <a:cs typeface="Georgia" pitchFamily="34" charset="-120"/>
              </a:rPr>
              <a:t>Create a</a:t>
            </a:r>
            <a:endParaRPr lang="en-US" sz="2100" dirty="0"/>
          </a:p>
          <a:p>
            <a:pPr marL="0" indent="0" algn="l">
              <a:lnSpc>
                <a:spcPts val="2520"/>
              </a:lnSpc>
              <a:spcAft>
                <a:spcPts val="900"/>
              </a:spcAft>
              <a:buNone/>
            </a:pPr>
            <a:r>
              <a:rPr lang="en-US" sz="2100" dirty="0">
                <a:solidFill>
                  <a:srgbClr val="FFFFFF"/>
                </a:solidFill>
                <a:latin typeface="Georgia" pitchFamily="34" charset="0"/>
                <a:ea typeface="Georgia" pitchFamily="34" charset="-122"/>
                <a:cs typeface="Georgia" pitchFamily="34" charset="-120"/>
              </a:rPr>
              <a:t>GitHub Repo</a:t>
            </a:r>
            <a:endParaRPr lang="en-US" sz="2100" dirty="0"/>
          </a:p>
        </p:txBody>
      </p:sp>
      <p:sp>
        <p:nvSpPr>
          <p:cNvPr id="6" name="Text 4"/>
          <p:cNvSpPr/>
          <p:nvPr/>
        </p:nvSpPr>
        <p:spPr>
          <a:xfrm>
            <a:off x="304800" y="1994595"/>
            <a:ext cx="2810024" cy="784771"/>
          </a:xfrm>
          <a:prstGeom prst="rect">
            <a:avLst/>
          </a:prstGeom>
          <a:solidFill>
            <a:srgbClr val="C9A227">
              <a:alpha val="15000"/>
            </a:srgbClr>
          </a:solidFill>
          <a:ln/>
        </p:spPr>
        <p:txBody>
          <a:bodyPr wrap="square" rtlCol="0" anchor="ctr"/>
          <a:lstStyle/>
          <a:p>
            <a:pPr marL="0" indent="0">
              <a:buNone/>
            </a:pPr>
            <a:endParaRPr lang="en-US" dirty="0"/>
          </a:p>
        </p:txBody>
      </p:sp>
      <p:sp>
        <p:nvSpPr>
          <p:cNvPr id="7" name="Shape 5"/>
          <p:cNvSpPr/>
          <p:nvPr/>
        </p:nvSpPr>
        <p:spPr>
          <a:xfrm>
            <a:off x="319088" y="1994595"/>
            <a:ext cx="0" cy="784771"/>
          </a:xfrm>
          <a:prstGeom prst="line">
            <a:avLst/>
          </a:prstGeom>
          <a:noFill/>
          <a:ln w="28575">
            <a:solidFill>
              <a:srgbClr val="C9A227"/>
            </a:solidFill>
            <a:prstDash val="solid"/>
          </a:ln>
        </p:spPr>
        <p:txBody>
          <a:bodyPr/>
          <a:lstStyle/>
          <a:p>
            <a:endParaRPr lang="en-US"/>
          </a:p>
        </p:txBody>
      </p:sp>
      <p:sp>
        <p:nvSpPr>
          <p:cNvPr id="8" name="Text 6"/>
          <p:cNvSpPr/>
          <p:nvPr/>
        </p:nvSpPr>
        <p:spPr>
          <a:xfrm>
            <a:off x="466725" y="2127945"/>
            <a:ext cx="2565044" cy="146596"/>
          </a:xfrm>
          <a:prstGeom prst="rect">
            <a:avLst/>
          </a:prstGeom>
          <a:noFill/>
          <a:ln/>
        </p:spPr>
        <p:txBody>
          <a:bodyPr wrap="square" lIns="0" tIns="0" rIns="0" bIns="0" rtlCol="0" anchor="t"/>
          <a:lstStyle/>
          <a:p>
            <a:pPr marL="0" indent="0" algn="l">
              <a:lnSpc>
                <a:spcPts val="1155"/>
              </a:lnSpc>
              <a:spcAft>
                <a:spcPts val="450"/>
              </a:spcAft>
              <a:buNone/>
            </a:pPr>
            <a:r>
              <a:rPr lang="en-US" sz="825" b="1" dirty="0">
                <a:solidFill>
                  <a:srgbClr val="C9A227"/>
                </a:solidFill>
                <a:latin typeface="Arial" pitchFamily="34" charset="0"/>
                <a:ea typeface="Arial" pitchFamily="34" charset="-122"/>
                <a:cs typeface="Arial" pitchFamily="34" charset="-120"/>
              </a:rPr>
              <a:t>THE PRINCIPLE</a:t>
            </a:r>
            <a:endParaRPr lang="en-US" sz="825" dirty="0"/>
          </a:p>
        </p:txBody>
      </p:sp>
      <p:sp>
        <p:nvSpPr>
          <p:cNvPr id="9" name="Text 7"/>
          <p:cNvSpPr/>
          <p:nvPr/>
        </p:nvSpPr>
        <p:spPr>
          <a:xfrm>
            <a:off x="466725" y="2331690"/>
            <a:ext cx="2565044" cy="314325"/>
          </a:xfrm>
          <a:prstGeom prst="rect">
            <a:avLst/>
          </a:prstGeom>
          <a:noFill/>
          <a:ln/>
        </p:spPr>
        <p:txBody>
          <a:bodyPr wrap="square" lIns="0" tIns="0" rIns="0" bIns="0" rtlCol="0" anchor="t"/>
          <a:lstStyle/>
          <a:p>
            <a:pPr marL="0" indent="0" algn="l">
              <a:lnSpc>
                <a:spcPts val="1238"/>
              </a:lnSpc>
              <a:buNone/>
            </a:pPr>
            <a:r>
              <a:rPr lang="en-US" sz="825" dirty="0">
                <a:solidFill>
                  <a:srgbClr val="FFFFFF">
                    <a:alpha val="80000"/>
                  </a:srgbClr>
                </a:solidFill>
                <a:latin typeface="Arial" pitchFamily="34" charset="0"/>
                <a:ea typeface="Arial" pitchFamily="34" charset="-122"/>
                <a:cs typeface="Arial" pitchFamily="34" charset="-120"/>
              </a:rPr>
              <a:t>Everything lives in Git. Always. This is non-negotiable for voice-first development.</a:t>
            </a:r>
            <a:endParaRPr lang="en-US" sz="825" dirty="0"/>
          </a:p>
        </p:txBody>
      </p:sp>
      <p:sp>
        <p:nvSpPr>
          <p:cNvPr id="10" name="Text 8"/>
          <p:cNvSpPr/>
          <p:nvPr/>
        </p:nvSpPr>
        <p:spPr>
          <a:xfrm>
            <a:off x="304800" y="3084165"/>
            <a:ext cx="2810024" cy="1041946"/>
          </a:xfrm>
          <a:prstGeom prst="rect">
            <a:avLst/>
          </a:prstGeom>
          <a:solidFill>
            <a:srgbClr val="FFFFFF">
              <a:alpha val="5000"/>
            </a:srgbClr>
          </a:solidFill>
          <a:ln/>
        </p:spPr>
        <p:txBody>
          <a:bodyPr wrap="square" rtlCol="0" anchor="ctr"/>
          <a:lstStyle/>
          <a:p>
            <a:pPr marL="0" indent="0">
              <a:buNone/>
            </a:pPr>
            <a:endParaRPr lang="en-US" dirty="0"/>
          </a:p>
        </p:txBody>
      </p:sp>
      <p:sp>
        <p:nvSpPr>
          <p:cNvPr id="11" name="Text 9"/>
          <p:cNvSpPr/>
          <p:nvPr/>
        </p:nvSpPr>
        <p:spPr>
          <a:xfrm>
            <a:off x="438150" y="3217515"/>
            <a:ext cx="2594190" cy="146596"/>
          </a:xfrm>
          <a:prstGeom prst="rect">
            <a:avLst/>
          </a:prstGeom>
          <a:noFill/>
          <a:ln/>
        </p:spPr>
        <p:txBody>
          <a:bodyPr wrap="square" lIns="0" tIns="0" rIns="0" bIns="0" rtlCol="0" anchor="t"/>
          <a:lstStyle/>
          <a:p>
            <a:pPr marL="0" indent="0" algn="l">
              <a:lnSpc>
                <a:spcPts val="1155"/>
              </a:lnSpc>
              <a:spcAft>
                <a:spcPts val="450"/>
              </a:spcAft>
              <a:buNone/>
            </a:pPr>
            <a:r>
              <a:rPr lang="en-US" sz="825" b="1" dirty="0">
                <a:solidFill>
                  <a:srgbClr val="FFFFFF"/>
                </a:solidFill>
                <a:latin typeface="Arial" pitchFamily="34" charset="0"/>
                <a:ea typeface="Arial" pitchFamily="34" charset="-122"/>
                <a:cs typeface="Arial" pitchFamily="34" charset="-120"/>
              </a:rPr>
              <a:t>WHY FIRST?</a:t>
            </a:r>
            <a:endParaRPr lang="en-US" sz="825" dirty="0"/>
          </a:p>
        </p:txBody>
      </p:sp>
      <p:sp>
        <p:nvSpPr>
          <p:cNvPr id="12" name="Text 10"/>
          <p:cNvSpPr/>
          <p:nvPr/>
        </p:nvSpPr>
        <p:spPr>
          <a:xfrm>
            <a:off x="438150" y="3421261"/>
            <a:ext cx="2594190" cy="571500"/>
          </a:xfrm>
          <a:prstGeom prst="rect">
            <a:avLst/>
          </a:prstGeom>
          <a:noFill/>
          <a:ln/>
        </p:spPr>
        <p:txBody>
          <a:bodyPr wrap="square" lIns="0" tIns="0" rIns="0" bIns="0" rtlCol="0" anchor="t"/>
          <a:lstStyle/>
          <a:p>
            <a:pPr marL="0" indent="0" algn="l">
              <a:lnSpc>
                <a:spcPts val="1125"/>
              </a:lnSpc>
              <a:buNone/>
            </a:pPr>
            <a:r>
              <a:rPr lang="en-US" sz="750" dirty="0">
                <a:solidFill>
                  <a:srgbClr val="FFFFFF">
                    <a:alpha val="60000"/>
                  </a:srgbClr>
                </a:solidFill>
                <a:latin typeface="Arial" pitchFamily="34" charset="0"/>
                <a:ea typeface="Arial" pitchFamily="34" charset="-122"/>
                <a:cs typeface="Arial" pitchFamily="34" charset="-120"/>
              </a:rPr>
              <a:t>Agent commits frequently</a:t>
            </a:r>
            <a:endParaRPr lang="en-US" sz="750" dirty="0"/>
          </a:p>
          <a:p>
            <a:pPr marL="0" indent="0" algn="l">
              <a:lnSpc>
                <a:spcPts val="1125"/>
              </a:lnSpc>
              <a:buNone/>
            </a:pPr>
            <a:r>
              <a:rPr lang="en-US" sz="750" dirty="0">
                <a:solidFill>
                  <a:srgbClr val="FFFFFF">
                    <a:alpha val="60000"/>
                  </a:srgbClr>
                </a:solidFill>
                <a:latin typeface="Arial" pitchFamily="34" charset="0"/>
                <a:ea typeface="Arial" pitchFamily="34" charset="-122"/>
                <a:cs typeface="Arial" pitchFamily="34" charset="-120"/>
              </a:rPr>
              <a:t> Creates natural checkpoints</a:t>
            </a:r>
            <a:endParaRPr lang="en-US" sz="750" dirty="0"/>
          </a:p>
          <a:p>
            <a:pPr marL="0" indent="0" algn="l">
              <a:lnSpc>
                <a:spcPts val="1125"/>
              </a:lnSpc>
              <a:buNone/>
            </a:pPr>
            <a:r>
              <a:rPr lang="en-US" sz="750" dirty="0">
                <a:solidFill>
                  <a:srgbClr val="FFFFFF">
                    <a:alpha val="60000"/>
                  </a:srgbClr>
                </a:solidFill>
                <a:latin typeface="Arial" pitchFamily="34" charset="0"/>
                <a:ea typeface="Arial" pitchFamily="34" charset="-122"/>
                <a:cs typeface="Arial" pitchFamily="34" charset="-120"/>
              </a:rPr>
              <a:t> Enables rollback on mistakes</a:t>
            </a:r>
            <a:endParaRPr lang="en-US" sz="750" dirty="0"/>
          </a:p>
          <a:p>
            <a:pPr marL="0" indent="0" algn="l">
              <a:lnSpc>
                <a:spcPts val="1125"/>
              </a:lnSpc>
              <a:buNone/>
            </a:pPr>
            <a:r>
              <a:rPr lang="en-US" sz="750" dirty="0">
                <a:solidFill>
                  <a:srgbClr val="FFFFFF">
                    <a:alpha val="60000"/>
                  </a:srgbClr>
                </a:solidFill>
                <a:latin typeface="Arial" pitchFamily="34" charset="0"/>
                <a:ea typeface="Arial" pitchFamily="34" charset="-122"/>
                <a:cs typeface="Arial" pitchFamily="34" charset="-120"/>
              </a:rPr>
              <a:t> Documents project evolution</a:t>
            </a:r>
            <a:endParaRPr lang="en-US" sz="750" dirty="0"/>
          </a:p>
        </p:txBody>
      </p:sp>
      <p:sp>
        <p:nvSpPr>
          <p:cNvPr id="13" name="Text 11"/>
          <p:cNvSpPr/>
          <p:nvPr/>
        </p:nvSpPr>
        <p:spPr>
          <a:xfrm>
            <a:off x="304800" y="4430911"/>
            <a:ext cx="2810024" cy="430411"/>
          </a:xfrm>
          <a:prstGeom prst="rect">
            <a:avLst/>
          </a:prstGeom>
          <a:solidFill>
            <a:srgbClr val="DBEAFE"/>
          </a:solidFill>
          <a:ln/>
        </p:spPr>
        <p:txBody>
          <a:bodyPr wrap="square" rtlCol="0" anchor="ctr"/>
          <a:lstStyle/>
          <a:p>
            <a:pPr marL="0" indent="0">
              <a:buNone/>
            </a:pPr>
            <a:endParaRPr lang="en-US" dirty="0"/>
          </a:p>
        </p:txBody>
      </p:sp>
      <p:sp>
        <p:nvSpPr>
          <p:cNvPr id="14" name="Shape 12"/>
          <p:cNvSpPr/>
          <p:nvPr/>
        </p:nvSpPr>
        <p:spPr>
          <a:xfrm>
            <a:off x="319088" y="4430911"/>
            <a:ext cx="0" cy="430411"/>
          </a:xfrm>
          <a:prstGeom prst="line">
            <a:avLst/>
          </a:prstGeom>
          <a:noFill/>
          <a:ln w="28575">
            <a:solidFill>
              <a:srgbClr val="3B82F6"/>
            </a:solidFill>
            <a:prstDash val="solid"/>
          </a:ln>
        </p:spPr>
        <p:txBody>
          <a:bodyPr/>
          <a:lstStyle/>
          <a:p>
            <a:endParaRPr lang="en-US"/>
          </a:p>
        </p:txBody>
      </p:sp>
      <p:sp>
        <p:nvSpPr>
          <p:cNvPr id="15" name="Text 13"/>
          <p:cNvSpPr/>
          <p:nvPr/>
        </p:nvSpPr>
        <p:spPr>
          <a:xfrm>
            <a:off x="428625" y="4526161"/>
            <a:ext cx="2642768" cy="239911"/>
          </a:xfrm>
          <a:prstGeom prst="rect">
            <a:avLst/>
          </a:prstGeom>
          <a:noFill/>
          <a:ln/>
        </p:spPr>
        <p:txBody>
          <a:bodyPr wrap="square" lIns="0" tIns="0" rIns="0" bIns="0" rtlCol="0" anchor="t"/>
          <a:lstStyle/>
          <a:p>
            <a:pPr marL="0" indent="0" algn="l">
              <a:lnSpc>
                <a:spcPts val="945"/>
              </a:lnSpc>
              <a:buNone/>
            </a:pPr>
            <a:r>
              <a:rPr lang="en-US" sz="675" b="1" dirty="0">
                <a:solidFill>
                  <a:srgbClr val="1E40AF"/>
                </a:solidFill>
                <a:latin typeface="Arial" pitchFamily="34" charset="0"/>
                <a:ea typeface="Arial" pitchFamily="34" charset="-122"/>
                <a:cs typeface="Arial" pitchFamily="34" charset="-120"/>
              </a:rPr>
              <a:t>Session 2:</a:t>
            </a:r>
            <a:r>
              <a:rPr lang="en-US" sz="675" dirty="0">
                <a:solidFill>
                  <a:srgbClr val="1E40AF"/>
                </a:solidFill>
                <a:latin typeface="Arial" pitchFamily="34" charset="0"/>
                <a:ea typeface="Arial" pitchFamily="34" charset="-122"/>
                <a:cs typeface="Arial" pitchFamily="34" charset="-120"/>
              </a:rPr>
              <a:t> We'll cover repo setup templates and best practices in detail.</a:t>
            </a:r>
            <a:endParaRPr lang="en-US" sz="675" dirty="0"/>
          </a:p>
        </p:txBody>
      </p:sp>
      <p:sp>
        <p:nvSpPr>
          <p:cNvPr id="16" name="Text 14"/>
          <p:cNvSpPr/>
          <p:nvPr/>
        </p:nvSpPr>
        <p:spPr>
          <a:xfrm>
            <a:off x="3572024" y="0"/>
            <a:ext cx="5571976" cy="5143500"/>
          </a:xfrm>
          <a:prstGeom prst="rect">
            <a:avLst/>
          </a:prstGeom>
          <a:solidFill>
            <a:srgbClr val="F7F8FA"/>
          </a:solidFill>
          <a:ln/>
        </p:spPr>
        <p:txBody>
          <a:bodyPr wrap="square" rtlCol="0" anchor="ctr"/>
          <a:lstStyle/>
          <a:p>
            <a:pPr marL="0" indent="0">
              <a:buNone/>
            </a:pPr>
            <a:endParaRPr lang="en-US" dirty="0"/>
          </a:p>
        </p:txBody>
      </p:sp>
      <p:sp>
        <p:nvSpPr>
          <p:cNvPr id="17" name="Text 15"/>
          <p:cNvSpPr/>
          <p:nvPr/>
        </p:nvSpPr>
        <p:spPr>
          <a:xfrm>
            <a:off x="3876824" y="287834"/>
            <a:ext cx="5061624" cy="173236"/>
          </a:xfrm>
          <a:prstGeom prst="rect">
            <a:avLst/>
          </a:prstGeom>
          <a:noFill/>
          <a:ln/>
        </p:spPr>
        <p:txBody>
          <a:bodyPr wrap="square" lIns="0" tIns="0" rIns="0" bIns="0" rtlCol="0" anchor="t"/>
          <a:lstStyle/>
          <a:p>
            <a:pPr marL="0" indent="0" algn="l">
              <a:lnSpc>
                <a:spcPts val="1365"/>
              </a:lnSpc>
              <a:spcAft>
                <a:spcPts val="1200"/>
              </a:spcAft>
              <a:buNone/>
            </a:pPr>
            <a:r>
              <a:rPr lang="en-US" sz="975" b="1" dirty="0">
                <a:solidFill>
                  <a:srgbClr val="1A1F2E"/>
                </a:solidFill>
                <a:latin typeface="Arial" pitchFamily="34" charset="0"/>
                <a:ea typeface="Arial" pitchFamily="34" charset="-122"/>
                <a:cs typeface="Arial" pitchFamily="34" charset="-120"/>
              </a:rPr>
              <a:t>VOICE COMMANDS TO START</a:t>
            </a:r>
            <a:endParaRPr lang="en-US" sz="975" dirty="0"/>
          </a:p>
        </p:txBody>
      </p:sp>
      <p:sp>
        <p:nvSpPr>
          <p:cNvPr id="18" name="Text 16"/>
          <p:cNvSpPr/>
          <p:nvPr/>
        </p:nvSpPr>
        <p:spPr>
          <a:xfrm>
            <a:off x="3876824" y="765870"/>
            <a:ext cx="4962376" cy="1051322"/>
          </a:xfrm>
          <a:prstGeom prst="rect">
            <a:avLst/>
          </a:prstGeom>
          <a:solidFill>
            <a:srgbClr val="1A1F2E"/>
          </a:solidFill>
          <a:ln/>
        </p:spPr>
        <p:txBody>
          <a:bodyPr wrap="square" rtlCol="0" anchor="ctr"/>
          <a:lstStyle/>
          <a:p>
            <a:pPr marL="0" indent="0">
              <a:buNone/>
            </a:pPr>
            <a:endParaRPr lang="en-US" dirty="0"/>
          </a:p>
        </p:txBody>
      </p:sp>
      <p:sp>
        <p:nvSpPr>
          <p:cNvPr id="19" name="Text 17"/>
          <p:cNvSpPr/>
          <p:nvPr/>
        </p:nvSpPr>
        <p:spPr>
          <a:xfrm>
            <a:off x="4029224" y="918270"/>
            <a:ext cx="4750728" cy="119955"/>
          </a:xfrm>
          <a:prstGeom prst="rect">
            <a:avLst/>
          </a:prstGeom>
          <a:noFill/>
          <a:ln/>
        </p:spPr>
        <p:txBody>
          <a:bodyPr wrap="square" lIns="0" tIns="0" rIns="0" bIns="0" rtlCol="0" anchor="t"/>
          <a:lstStyle/>
          <a:p>
            <a:pPr marL="0" indent="0" algn="l">
              <a:lnSpc>
                <a:spcPts val="945"/>
              </a:lnSpc>
              <a:spcAft>
                <a:spcPts val="600"/>
              </a:spcAft>
              <a:buNone/>
            </a:pPr>
            <a:r>
              <a:rPr lang="en-US" sz="675" dirty="0">
                <a:solidFill>
                  <a:srgbClr val="C9A227"/>
                </a:solidFill>
                <a:latin typeface="Arial" pitchFamily="34" charset="0"/>
                <a:ea typeface="Arial" pitchFamily="34" charset="-122"/>
                <a:cs typeface="Arial" pitchFamily="34" charset="-120"/>
              </a:rPr>
              <a:t>"Create a new repo for this project"</a:t>
            </a:r>
            <a:endParaRPr lang="en-US" sz="675" dirty="0"/>
          </a:p>
        </p:txBody>
      </p:sp>
      <p:sp>
        <p:nvSpPr>
          <p:cNvPr id="20" name="Text 18"/>
          <p:cNvSpPr/>
          <p:nvPr/>
        </p:nvSpPr>
        <p:spPr>
          <a:xfrm>
            <a:off x="4029224" y="1114425"/>
            <a:ext cx="4750728" cy="119955"/>
          </a:xfrm>
          <a:prstGeom prst="rect">
            <a:avLst/>
          </a:prstGeom>
          <a:noFill/>
          <a:ln/>
        </p:spPr>
        <p:txBody>
          <a:bodyPr wrap="square" lIns="114300" tIns="0" rIns="0" bIns="0" rtlCol="0" anchor="t"/>
          <a:lstStyle/>
          <a:p>
            <a:pPr marL="0" indent="0" algn="l">
              <a:lnSpc>
                <a:spcPts val="945"/>
              </a:lnSpc>
              <a:spcAft>
                <a:spcPts val="900"/>
              </a:spcAft>
              <a:buNone/>
            </a:pPr>
            <a:r>
              <a:rPr lang="en-US" sz="675" dirty="0">
                <a:solidFill>
                  <a:srgbClr val="FFFFFF">
                    <a:alpha val="70000"/>
                  </a:srgbClr>
                </a:solidFill>
                <a:latin typeface="Arial" pitchFamily="34" charset="0"/>
                <a:ea typeface="Arial" pitchFamily="34" charset="-122"/>
                <a:cs typeface="Arial" pitchFamily="34" charset="-120"/>
              </a:rPr>
              <a:t>gh repo create project-name --public --clone</a:t>
            </a:r>
            <a:endParaRPr lang="en-US" sz="675" dirty="0"/>
          </a:p>
        </p:txBody>
      </p:sp>
      <p:sp>
        <p:nvSpPr>
          <p:cNvPr id="21" name="Text 19"/>
          <p:cNvSpPr/>
          <p:nvPr/>
        </p:nvSpPr>
        <p:spPr>
          <a:xfrm>
            <a:off x="4029224" y="1348680"/>
            <a:ext cx="4750728" cy="119955"/>
          </a:xfrm>
          <a:prstGeom prst="rect">
            <a:avLst/>
          </a:prstGeom>
          <a:noFill/>
          <a:ln/>
        </p:spPr>
        <p:txBody>
          <a:bodyPr wrap="square" lIns="0" tIns="0" rIns="0" bIns="0" rtlCol="0" anchor="t"/>
          <a:lstStyle/>
          <a:p>
            <a:pPr marL="0" indent="0" algn="l">
              <a:lnSpc>
                <a:spcPts val="945"/>
              </a:lnSpc>
              <a:spcAft>
                <a:spcPts val="600"/>
              </a:spcAft>
              <a:buNone/>
            </a:pPr>
            <a:r>
              <a:rPr lang="en-US" sz="675" dirty="0">
                <a:solidFill>
                  <a:srgbClr val="C9A227"/>
                </a:solidFill>
                <a:latin typeface="Arial" pitchFamily="34" charset="0"/>
                <a:ea typeface="Arial" pitchFamily="34" charset="-122"/>
                <a:cs typeface="Arial" pitchFamily="34" charset="-120"/>
              </a:rPr>
              <a:t>"Initialize with a basic structure"</a:t>
            </a:r>
            <a:endParaRPr lang="en-US" sz="675" dirty="0"/>
          </a:p>
        </p:txBody>
      </p:sp>
      <p:sp>
        <p:nvSpPr>
          <p:cNvPr id="22" name="Text 20"/>
          <p:cNvSpPr/>
          <p:nvPr/>
        </p:nvSpPr>
        <p:spPr>
          <a:xfrm>
            <a:off x="4029224" y="1544836"/>
            <a:ext cx="4750728" cy="119955"/>
          </a:xfrm>
          <a:prstGeom prst="rect">
            <a:avLst/>
          </a:prstGeom>
          <a:noFill/>
          <a:ln/>
        </p:spPr>
        <p:txBody>
          <a:bodyPr wrap="square" lIns="114300" tIns="0" rIns="0" bIns="0" rtlCol="0" anchor="t"/>
          <a:lstStyle/>
          <a:p>
            <a:pPr marL="0" indent="0" algn="l">
              <a:lnSpc>
                <a:spcPts val="945"/>
              </a:lnSpc>
              <a:buNone/>
            </a:pPr>
            <a:r>
              <a:rPr lang="en-US" sz="675" dirty="0">
                <a:solidFill>
                  <a:srgbClr val="FFFFFF">
                    <a:alpha val="70000"/>
                  </a:srgbClr>
                </a:solidFill>
                <a:latin typeface="Arial" pitchFamily="34" charset="0"/>
                <a:ea typeface="Arial" pitchFamily="34" charset="-122"/>
                <a:cs typeface="Arial" pitchFamily="34" charset="-120"/>
              </a:rPr>
              <a:t>Creates README, .gitignore, src/, docs/</a:t>
            </a:r>
            <a:endParaRPr lang="en-US" sz="675" dirty="0"/>
          </a:p>
        </p:txBody>
      </p:sp>
      <p:sp>
        <p:nvSpPr>
          <p:cNvPr id="23" name="Text 21"/>
          <p:cNvSpPr/>
          <p:nvPr/>
        </p:nvSpPr>
        <p:spPr>
          <a:xfrm>
            <a:off x="3876824" y="2121991"/>
            <a:ext cx="2424113" cy="733425"/>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24" name="Text 22"/>
          <p:cNvSpPr/>
          <p:nvPr/>
        </p:nvSpPr>
        <p:spPr>
          <a:xfrm>
            <a:off x="4019699" y="2264866"/>
            <a:ext cx="2181130" cy="133350"/>
          </a:xfrm>
          <a:prstGeom prst="rect">
            <a:avLst/>
          </a:prstGeom>
          <a:noFill/>
          <a:ln/>
        </p:spPr>
        <p:txBody>
          <a:bodyPr wrap="square" lIns="0" tIns="0" rIns="0" bIns="0" rtlCol="0" anchor="t"/>
          <a:lstStyle/>
          <a:p>
            <a:pPr marL="0" indent="0" algn="l">
              <a:lnSpc>
                <a:spcPts val="1050"/>
              </a:lnSpc>
              <a:spcAft>
                <a:spcPts val="450"/>
              </a:spcAft>
              <a:buNone/>
            </a:pPr>
            <a:r>
              <a:rPr lang="en-US" sz="750" b="1" dirty="0">
                <a:solidFill>
                  <a:srgbClr val="1A1F2E"/>
                </a:solidFill>
                <a:latin typeface="Arial" pitchFamily="34" charset="0"/>
                <a:ea typeface="Arial" pitchFamily="34" charset="-122"/>
                <a:cs typeface="Arial" pitchFamily="34" charset="-120"/>
              </a:rPr>
              <a:t>COMMIT FREQUENCY</a:t>
            </a:r>
            <a:endParaRPr lang="en-US" sz="750" dirty="0"/>
          </a:p>
        </p:txBody>
      </p:sp>
      <p:sp>
        <p:nvSpPr>
          <p:cNvPr id="25" name="Text 23"/>
          <p:cNvSpPr/>
          <p:nvPr/>
        </p:nvSpPr>
        <p:spPr>
          <a:xfrm>
            <a:off x="4019699" y="2455366"/>
            <a:ext cx="2181130" cy="257175"/>
          </a:xfrm>
          <a:prstGeom prst="rect">
            <a:avLst/>
          </a:prstGeom>
          <a:noFill/>
          <a:ln/>
        </p:spPr>
        <p:txBody>
          <a:bodyPr wrap="square" lIns="0" tIns="0" rIns="0" bIns="0" rtlCol="0" anchor="t"/>
          <a:lstStyle/>
          <a:p>
            <a:pPr marL="0" indent="0" algn="l">
              <a:lnSpc>
                <a:spcPts val="1013"/>
              </a:lnSpc>
              <a:buNone/>
            </a:pPr>
            <a:r>
              <a:rPr lang="en-US" sz="675" dirty="0">
                <a:solidFill>
                  <a:srgbClr val="6B7280"/>
                </a:solidFill>
                <a:latin typeface="Arial" pitchFamily="34" charset="0"/>
                <a:ea typeface="Arial" pitchFamily="34" charset="-122"/>
                <a:cs typeface="Arial" pitchFamily="34" charset="-120"/>
              </a:rPr>
              <a:t>Tell your agent: "Commit after each significant change." Small, frequent commits beat monolithic ones.</a:t>
            </a:r>
            <a:endParaRPr lang="en-US" sz="675" dirty="0"/>
          </a:p>
        </p:txBody>
      </p:sp>
      <p:sp>
        <p:nvSpPr>
          <p:cNvPr id="26" name="Text 24"/>
          <p:cNvSpPr/>
          <p:nvPr/>
        </p:nvSpPr>
        <p:spPr>
          <a:xfrm>
            <a:off x="6415236" y="2121991"/>
            <a:ext cx="2424113" cy="733425"/>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27" name="Text 25"/>
          <p:cNvSpPr/>
          <p:nvPr/>
        </p:nvSpPr>
        <p:spPr>
          <a:xfrm>
            <a:off x="6558111" y="2264866"/>
            <a:ext cx="2181130" cy="133350"/>
          </a:xfrm>
          <a:prstGeom prst="rect">
            <a:avLst/>
          </a:prstGeom>
          <a:noFill/>
          <a:ln/>
        </p:spPr>
        <p:txBody>
          <a:bodyPr wrap="square" lIns="0" tIns="0" rIns="0" bIns="0" rtlCol="0" anchor="t"/>
          <a:lstStyle/>
          <a:p>
            <a:pPr marL="0" indent="0" algn="l">
              <a:lnSpc>
                <a:spcPts val="1050"/>
              </a:lnSpc>
              <a:spcAft>
                <a:spcPts val="450"/>
              </a:spcAft>
              <a:buNone/>
            </a:pPr>
            <a:r>
              <a:rPr lang="en-US" sz="750" b="1" dirty="0">
                <a:solidFill>
                  <a:srgbClr val="1A1F2E"/>
                </a:solidFill>
                <a:latin typeface="Arial" pitchFamily="34" charset="0"/>
                <a:ea typeface="Arial" pitchFamily="34" charset="-122"/>
                <a:cs typeface="Arial" pitchFamily="34" charset="-120"/>
              </a:rPr>
              <a:t>BRANCH STRATEGY</a:t>
            </a:r>
            <a:endParaRPr lang="en-US" sz="750" dirty="0"/>
          </a:p>
        </p:txBody>
      </p:sp>
      <p:sp>
        <p:nvSpPr>
          <p:cNvPr id="28" name="Text 26"/>
          <p:cNvSpPr/>
          <p:nvPr/>
        </p:nvSpPr>
        <p:spPr>
          <a:xfrm>
            <a:off x="6558111" y="2455366"/>
            <a:ext cx="2181130" cy="257175"/>
          </a:xfrm>
          <a:prstGeom prst="rect">
            <a:avLst/>
          </a:prstGeom>
          <a:noFill/>
          <a:ln/>
        </p:spPr>
        <p:txBody>
          <a:bodyPr wrap="square" lIns="0" tIns="0" rIns="0" bIns="0" rtlCol="0" anchor="t"/>
          <a:lstStyle/>
          <a:p>
            <a:pPr marL="0" indent="0" algn="l">
              <a:lnSpc>
                <a:spcPts val="1013"/>
              </a:lnSpc>
              <a:buNone/>
            </a:pPr>
            <a:r>
              <a:rPr lang="en-US" sz="675" dirty="0">
                <a:solidFill>
                  <a:srgbClr val="6B7280"/>
                </a:solidFill>
                <a:latin typeface="Arial" pitchFamily="34" charset="0"/>
                <a:ea typeface="Arial" pitchFamily="34" charset="-122"/>
                <a:cs typeface="Arial" pitchFamily="34" charset="-120"/>
              </a:rPr>
              <a:t>Start simple: work on main for solo projects. Add branches when collaborating or experimenting.</a:t>
            </a:r>
            <a:endParaRPr lang="en-US" sz="675" dirty="0"/>
          </a:p>
        </p:txBody>
      </p:sp>
      <p:sp>
        <p:nvSpPr>
          <p:cNvPr id="29" name="Text 27"/>
          <p:cNvSpPr/>
          <p:nvPr/>
        </p:nvSpPr>
        <p:spPr>
          <a:xfrm>
            <a:off x="3876824" y="3160216"/>
            <a:ext cx="4962376" cy="714375"/>
          </a:xfrm>
          <a:prstGeom prst="rect">
            <a:avLst/>
          </a:prstGeom>
          <a:solidFill>
            <a:srgbClr val="DCFCE7"/>
          </a:solidFill>
          <a:ln/>
        </p:spPr>
        <p:txBody>
          <a:bodyPr wrap="square" rtlCol="0" anchor="ctr"/>
          <a:lstStyle/>
          <a:p>
            <a:pPr marL="0" indent="0">
              <a:buNone/>
            </a:pPr>
            <a:endParaRPr lang="en-US" dirty="0"/>
          </a:p>
        </p:txBody>
      </p:sp>
      <p:sp>
        <p:nvSpPr>
          <p:cNvPr id="30" name="Shape 28"/>
          <p:cNvSpPr/>
          <p:nvPr/>
        </p:nvSpPr>
        <p:spPr>
          <a:xfrm>
            <a:off x="3895874" y="3160216"/>
            <a:ext cx="0" cy="714375"/>
          </a:xfrm>
          <a:prstGeom prst="line">
            <a:avLst/>
          </a:prstGeom>
          <a:noFill/>
          <a:ln w="38100">
            <a:solidFill>
              <a:srgbClr val="059669"/>
            </a:solidFill>
            <a:prstDash val="solid"/>
          </a:ln>
        </p:spPr>
        <p:txBody>
          <a:bodyPr/>
          <a:lstStyle/>
          <a:p>
            <a:endParaRPr lang="en-US"/>
          </a:p>
        </p:txBody>
      </p:sp>
      <p:sp>
        <p:nvSpPr>
          <p:cNvPr id="31" name="Text 29"/>
          <p:cNvSpPr/>
          <p:nvPr/>
        </p:nvSpPr>
        <p:spPr>
          <a:xfrm>
            <a:off x="4048274" y="3293566"/>
            <a:ext cx="4750728" cy="133350"/>
          </a:xfrm>
          <a:prstGeom prst="rect">
            <a:avLst/>
          </a:prstGeom>
          <a:noFill/>
          <a:ln/>
        </p:spPr>
        <p:txBody>
          <a:bodyPr wrap="square" lIns="0" tIns="0" rIns="0" bIns="0" rtlCol="0" anchor="t"/>
          <a:lstStyle/>
          <a:p>
            <a:pPr marL="0" indent="0" algn="l">
              <a:lnSpc>
                <a:spcPts val="1050"/>
              </a:lnSpc>
              <a:spcAft>
                <a:spcPts val="450"/>
              </a:spcAft>
              <a:buNone/>
            </a:pPr>
            <a:r>
              <a:rPr lang="en-US" sz="750" b="1" dirty="0">
                <a:solidFill>
                  <a:srgbClr val="166534"/>
                </a:solidFill>
                <a:latin typeface="Arial" pitchFamily="34" charset="0"/>
                <a:ea typeface="Arial" pitchFamily="34" charset="-122"/>
                <a:cs typeface="Arial" pitchFamily="34" charset="-120"/>
              </a:rPr>
              <a:t>BEST PRACTICE</a:t>
            </a:r>
            <a:endParaRPr lang="en-US" sz="750" dirty="0"/>
          </a:p>
        </p:txBody>
      </p:sp>
      <p:sp>
        <p:nvSpPr>
          <p:cNvPr id="32" name="Text 30"/>
          <p:cNvSpPr/>
          <p:nvPr/>
        </p:nvSpPr>
        <p:spPr>
          <a:xfrm>
            <a:off x="4048274" y="3484066"/>
            <a:ext cx="4750728" cy="257175"/>
          </a:xfrm>
          <a:prstGeom prst="rect">
            <a:avLst/>
          </a:prstGeom>
          <a:noFill/>
          <a:ln/>
        </p:spPr>
        <p:txBody>
          <a:bodyPr wrap="square" lIns="0" tIns="0" rIns="0" bIns="0" rtlCol="0" anchor="t"/>
          <a:lstStyle/>
          <a:p>
            <a:pPr marL="0" indent="0" algn="l">
              <a:lnSpc>
                <a:spcPts val="1013"/>
              </a:lnSpc>
              <a:buNone/>
            </a:pPr>
            <a:r>
              <a:rPr lang="en-US" sz="675" dirty="0">
                <a:solidFill>
                  <a:srgbClr val="166534"/>
                </a:solidFill>
                <a:latin typeface="Arial" pitchFamily="34" charset="0"/>
                <a:ea typeface="Arial" pitchFamily="34" charset="-122"/>
                <a:cs typeface="Arial" pitchFamily="34" charset="-120"/>
              </a:rPr>
              <a:t>Have the agent commit after: new files created, features completed, bugs fixed, documentation added. Each commit is a restore point.</a:t>
            </a:r>
            <a:endParaRPr lang="en-US" sz="675" dirty="0"/>
          </a:p>
        </p:txBody>
      </p:sp>
      <p:sp>
        <p:nvSpPr>
          <p:cNvPr id="33" name="Text 31"/>
          <p:cNvSpPr/>
          <p:nvPr/>
        </p:nvSpPr>
        <p:spPr>
          <a:xfrm>
            <a:off x="3876824" y="4141291"/>
            <a:ext cx="4962376" cy="714375"/>
          </a:xfrm>
          <a:prstGeom prst="rect">
            <a:avLst/>
          </a:prstGeom>
          <a:solidFill>
            <a:srgbClr val="FEF3C7"/>
          </a:solidFill>
          <a:ln/>
        </p:spPr>
        <p:txBody>
          <a:bodyPr wrap="square" rtlCol="0" anchor="ctr"/>
          <a:lstStyle/>
          <a:p>
            <a:pPr marL="0" indent="0">
              <a:buNone/>
            </a:pPr>
            <a:endParaRPr lang="en-US" dirty="0"/>
          </a:p>
        </p:txBody>
      </p:sp>
      <p:sp>
        <p:nvSpPr>
          <p:cNvPr id="34" name="Shape 32"/>
          <p:cNvSpPr/>
          <p:nvPr/>
        </p:nvSpPr>
        <p:spPr>
          <a:xfrm>
            <a:off x="3895874" y="4141291"/>
            <a:ext cx="0" cy="714375"/>
          </a:xfrm>
          <a:prstGeom prst="line">
            <a:avLst/>
          </a:prstGeom>
          <a:noFill/>
          <a:ln w="38100">
            <a:solidFill>
              <a:srgbClr val="F59E0B"/>
            </a:solidFill>
            <a:prstDash val="solid"/>
          </a:ln>
        </p:spPr>
        <p:txBody>
          <a:bodyPr/>
          <a:lstStyle/>
          <a:p>
            <a:endParaRPr lang="en-US"/>
          </a:p>
        </p:txBody>
      </p:sp>
      <p:sp>
        <p:nvSpPr>
          <p:cNvPr id="35" name="Text 33"/>
          <p:cNvSpPr/>
          <p:nvPr/>
        </p:nvSpPr>
        <p:spPr>
          <a:xfrm>
            <a:off x="4048274" y="4274641"/>
            <a:ext cx="4750728" cy="133350"/>
          </a:xfrm>
          <a:prstGeom prst="rect">
            <a:avLst/>
          </a:prstGeom>
          <a:noFill/>
          <a:ln/>
        </p:spPr>
        <p:txBody>
          <a:bodyPr wrap="square" lIns="0" tIns="0" rIns="0" bIns="0" rtlCol="0" anchor="t"/>
          <a:lstStyle/>
          <a:p>
            <a:pPr marL="0" indent="0" algn="l">
              <a:lnSpc>
                <a:spcPts val="1050"/>
              </a:lnSpc>
              <a:spcAft>
                <a:spcPts val="450"/>
              </a:spcAft>
              <a:buNone/>
            </a:pPr>
            <a:r>
              <a:rPr lang="en-US" sz="750" b="1" dirty="0">
                <a:solidFill>
                  <a:srgbClr val="92400E"/>
                </a:solidFill>
                <a:latin typeface="Arial" pitchFamily="34" charset="0"/>
                <a:ea typeface="Arial" pitchFamily="34" charset="-122"/>
                <a:cs typeface="Arial" pitchFamily="34" charset="-120"/>
              </a:rPr>
              <a:t>NEW TO GIT?</a:t>
            </a:r>
            <a:endParaRPr lang="en-US" sz="750" dirty="0"/>
          </a:p>
        </p:txBody>
      </p:sp>
      <p:sp>
        <p:nvSpPr>
          <p:cNvPr id="36" name="Text 34"/>
          <p:cNvSpPr/>
          <p:nvPr/>
        </p:nvSpPr>
        <p:spPr>
          <a:xfrm>
            <a:off x="4048274" y="4465141"/>
            <a:ext cx="4750728" cy="257175"/>
          </a:xfrm>
          <a:prstGeom prst="rect">
            <a:avLst/>
          </a:prstGeom>
          <a:noFill/>
          <a:ln/>
        </p:spPr>
        <p:txBody>
          <a:bodyPr wrap="square" lIns="0" tIns="0" rIns="0" bIns="0" rtlCol="0" anchor="t"/>
          <a:lstStyle/>
          <a:p>
            <a:pPr marL="0" indent="0" algn="l">
              <a:lnSpc>
                <a:spcPts val="1013"/>
              </a:lnSpc>
              <a:buNone/>
            </a:pPr>
            <a:r>
              <a:rPr lang="en-US" sz="675" dirty="0">
                <a:solidFill>
                  <a:srgbClr val="92400E"/>
                </a:solidFill>
                <a:latin typeface="Arial" pitchFamily="34" charset="0"/>
                <a:ea typeface="Arial" pitchFamily="34" charset="-122"/>
                <a:cs typeface="Arial" pitchFamily="34" charset="-120"/>
              </a:rPr>
              <a:t>Don't worry if you don't have templates set up yet. We'll cover repo structure, CLAUDE.md files, and agent-friendly project layouts in Session 2.</a:t>
            </a:r>
            <a:endParaRPr lang="en-US" sz="675"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0" y="0"/>
            <a:ext cx="3419624" cy="5143500"/>
          </a:xfrm>
          <a:prstGeom prst="rect">
            <a:avLst/>
          </a:prstGeom>
          <a:solidFill>
            <a:srgbClr val="1A1F2E"/>
          </a:solidFill>
          <a:ln/>
        </p:spPr>
        <p:txBody>
          <a:bodyPr wrap="square" rtlCol="0" anchor="ctr"/>
          <a:lstStyle/>
          <a:p>
            <a:pPr marL="0" indent="0">
              <a:buNone/>
            </a:pPr>
            <a:endParaRPr lang="en-US" dirty="0"/>
          </a:p>
        </p:txBody>
      </p:sp>
      <p:sp>
        <p:nvSpPr>
          <p:cNvPr id="3" name="Text 1"/>
          <p:cNvSpPr/>
          <p:nvPr/>
        </p:nvSpPr>
        <p:spPr>
          <a:xfrm>
            <a:off x="304800" y="297359"/>
            <a:ext cx="981373" cy="234255"/>
          </a:xfrm>
          <a:prstGeom prst="rect">
            <a:avLst/>
          </a:prstGeom>
          <a:solidFill>
            <a:srgbClr val="3B82F6"/>
          </a:solidFill>
          <a:ln/>
        </p:spPr>
        <p:txBody>
          <a:bodyPr wrap="square" rtlCol="0" anchor="ctr"/>
          <a:lstStyle/>
          <a:p>
            <a:pPr marL="0" indent="0">
              <a:buNone/>
            </a:pPr>
            <a:endParaRPr lang="en-US" dirty="0"/>
          </a:p>
        </p:txBody>
      </p:sp>
      <p:sp>
        <p:nvSpPr>
          <p:cNvPr id="4" name="Text 2"/>
          <p:cNvSpPr/>
          <p:nvPr/>
        </p:nvSpPr>
        <p:spPr>
          <a:xfrm>
            <a:off x="419100" y="354509"/>
            <a:ext cx="767828" cy="119955"/>
          </a:xfrm>
          <a:prstGeom prst="rect">
            <a:avLst/>
          </a:prstGeom>
          <a:noFill/>
          <a:ln/>
        </p:spPr>
        <p:txBody>
          <a:bodyPr wrap="square" lIns="0" tIns="0" rIns="0" bIns="0" rtlCol="0" anchor="t"/>
          <a:lstStyle/>
          <a:p>
            <a:pPr marL="0" indent="0" algn="l">
              <a:lnSpc>
                <a:spcPts val="945"/>
              </a:lnSpc>
              <a:buNone/>
            </a:pPr>
            <a:r>
              <a:rPr lang="en-US" sz="675" b="1" dirty="0">
                <a:solidFill>
                  <a:srgbClr val="FFFFFF"/>
                </a:solidFill>
                <a:latin typeface="Arial" pitchFamily="34" charset="0"/>
                <a:ea typeface="Arial" pitchFamily="34" charset="-122"/>
                <a:cs typeface="Arial" pitchFamily="34" charset="-120"/>
              </a:rPr>
              <a:t>PHASE 2 OF 10</a:t>
            </a:r>
            <a:endParaRPr lang="en-US" sz="675" dirty="0"/>
          </a:p>
        </p:txBody>
      </p:sp>
      <p:sp>
        <p:nvSpPr>
          <p:cNvPr id="5" name="Text 3"/>
          <p:cNvSpPr/>
          <p:nvPr/>
        </p:nvSpPr>
        <p:spPr>
          <a:xfrm>
            <a:off x="304800" y="798314"/>
            <a:ext cx="1768221" cy="639961"/>
          </a:xfrm>
          <a:prstGeom prst="rect">
            <a:avLst/>
          </a:prstGeom>
          <a:noFill/>
          <a:ln/>
        </p:spPr>
        <p:txBody>
          <a:bodyPr wrap="square" lIns="0" tIns="0" rIns="0" bIns="0" rtlCol="0" anchor="t"/>
          <a:lstStyle/>
          <a:p>
            <a:pPr marL="0" indent="0" algn="l">
              <a:lnSpc>
                <a:spcPts val="2520"/>
              </a:lnSpc>
              <a:spcAft>
                <a:spcPts val="900"/>
              </a:spcAft>
              <a:buNone/>
            </a:pPr>
            <a:r>
              <a:rPr lang="en-US" sz="2100" dirty="0">
                <a:solidFill>
                  <a:srgbClr val="FFFFFF"/>
                </a:solidFill>
                <a:latin typeface="Georgia" pitchFamily="34" charset="0"/>
                <a:ea typeface="Georgia" pitchFamily="34" charset="-122"/>
                <a:cs typeface="Georgia" pitchFamily="34" charset="-120"/>
              </a:rPr>
              <a:t>Brainstorming</a:t>
            </a:r>
            <a:endParaRPr lang="en-US" sz="2100" dirty="0"/>
          </a:p>
          <a:p>
            <a:pPr marL="0" indent="0" algn="l">
              <a:lnSpc>
                <a:spcPts val="2520"/>
              </a:lnSpc>
              <a:spcAft>
                <a:spcPts val="900"/>
              </a:spcAft>
              <a:buNone/>
            </a:pPr>
            <a:r>
              <a:rPr lang="en-US" sz="2100" dirty="0">
                <a:solidFill>
                  <a:srgbClr val="FFFFFF"/>
                </a:solidFill>
                <a:latin typeface="Georgia" pitchFamily="34" charset="0"/>
                <a:ea typeface="Georgia" pitchFamily="34" charset="-122"/>
                <a:cs typeface="Georgia" pitchFamily="34" charset="-120"/>
              </a:rPr>
              <a:t>Session</a:t>
            </a:r>
            <a:endParaRPr lang="en-US" sz="2100" dirty="0"/>
          </a:p>
        </p:txBody>
      </p:sp>
      <p:sp>
        <p:nvSpPr>
          <p:cNvPr id="6" name="Text 4"/>
          <p:cNvSpPr/>
          <p:nvPr/>
        </p:nvSpPr>
        <p:spPr>
          <a:xfrm>
            <a:off x="304800" y="2009775"/>
            <a:ext cx="2810024" cy="784771"/>
          </a:xfrm>
          <a:prstGeom prst="rect">
            <a:avLst/>
          </a:prstGeom>
          <a:solidFill>
            <a:srgbClr val="C9A227">
              <a:alpha val="15000"/>
            </a:srgbClr>
          </a:solidFill>
          <a:ln/>
        </p:spPr>
        <p:txBody>
          <a:bodyPr wrap="square" rtlCol="0" anchor="ctr"/>
          <a:lstStyle/>
          <a:p>
            <a:pPr marL="0" indent="0">
              <a:buNone/>
            </a:pPr>
            <a:endParaRPr lang="en-US" dirty="0"/>
          </a:p>
        </p:txBody>
      </p:sp>
      <p:sp>
        <p:nvSpPr>
          <p:cNvPr id="7" name="Shape 5"/>
          <p:cNvSpPr/>
          <p:nvPr/>
        </p:nvSpPr>
        <p:spPr>
          <a:xfrm>
            <a:off x="319088" y="2009775"/>
            <a:ext cx="0" cy="784771"/>
          </a:xfrm>
          <a:prstGeom prst="line">
            <a:avLst/>
          </a:prstGeom>
          <a:noFill/>
          <a:ln w="28575">
            <a:solidFill>
              <a:srgbClr val="C9A227"/>
            </a:solidFill>
            <a:prstDash val="solid"/>
          </a:ln>
        </p:spPr>
        <p:txBody>
          <a:bodyPr/>
          <a:lstStyle/>
          <a:p>
            <a:endParaRPr lang="en-US"/>
          </a:p>
        </p:txBody>
      </p:sp>
      <p:sp>
        <p:nvSpPr>
          <p:cNvPr id="8" name="Text 6"/>
          <p:cNvSpPr/>
          <p:nvPr/>
        </p:nvSpPr>
        <p:spPr>
          <a:xfrm>
            <a:off x="466725" y="2143125"/>
            <a:ext cx="2565044" cy="146596"/>
          </a:xfrm>
          <a:prstGeom prst="rect">
            <a:avLst/>
          </a:prstGeom>
          <a:noFill/>
          <a:ln/>
        </p:spPr>
        <p:txBody>
          <a:bodyPr wrap="square" lIns="0" tIns="0" rIns="0" bIns="0" rtlCol="0" anchor="t"/>
          <a:lstStyle/>
          <a:p>
            <a:pPr marL="0" indent="0" algn="l">
              <a:lnSpc>
                <a:spcPts val="1155"/>
              </a:lnSpc>
              <a:spcAft>
                <a:spcPts val="450"/>
              </a:spcAft>
              <a:buNone/>
            </a:pPr>
            <a:r>
              <a:rPr lang="en-US" sz="825" b="1" dirty="0">
                <a:solidFill>
                  <a:srgbClr val="C9A227"/>
                </a:solidFill>
                <a:latin typeface="Arial" pitchFamily="34" charset="0"/>
                <a:ea typeface="Arial" pitchFamily="34" charset="-122"/>
                <a:cs typeface="Arial" pitchFamily="34" charset="-120"/>
              </a:rPr>
              <a:t>THE GOAL</a:t>
            </a:r>
            <a:endParaRPr lang="en-US" sz="825" dirty="0"/>
          </a:p>
        </p:txBody>
      </p:sp>
      <p:sp>
        <p:nvSpPr>
          <p:cNvPr id="9" name="Text 7"/>
          <p:cNvSpPr/>
          <p:nvPr/>
        </p:nvSpPr>
        <p:spPr>
          <a:xfrm>
            <a:off x="466725" y="2346871"/>
            <a:ext cx="2565044" cy="314325"/>
          </a:xfrm>
          <a:prstGeom prst="rect">
            <a:avLst/>
          </a:prstGeom>
          <a:noFill/>
          <a:ln/>
        </p:spPr>
        <p:txBody>
          <a:bodyPr wrap="square" lIns="0" tIns="0" rIns="0" bIns="0" rtlCol="0" anchor="t"/>
          <a:lstStyle/>
          <a:p>
            <a:pPr marL="0" indent="0" algn="l">
              <a:lnSpc>
                <a:spcPts val="1238"/>
              </a:lnSpc>
              <a:buNone/>
            </a:pPr>
            <a:r>
              <a:rPr lang="en-US" sz="825" dirty="0">
                <a:solidFill>
                  <a:srgbClr val="FFFFFF">
                    <a:alpha val="80000"/>
                  </a:srgbClr>
                </a:solidFill>
                <a:latin typeface="Arial" pitchFamily="34" charset="0"/>
                <a:ea typeface="Arial" pitchFamily="34" charset="-122"/>
                <a:cs typeface="Arial" pitchFamily="34" charset="-120"/>
              </a:rPr>
              <a:t>Kick around the idea with your agent. This is collaborative ideation, not specification.</a:t>
            </a:r>
            <a:endParaRPr lang="en-US" sz="825" dirty="0"/>
          </a:p>
        </p:txBody>
      </p:sp>
      <p:sp>
        <p:nvSpPr>
          <p:cNvPr id="10" name="Text 8"/>
          <p:cNvSpPr/>
          <p:nvPr/>
        </p:nvSpPr>
        <p:spPr>
          <a:xfrm>
            <a:off x="304800" y="3099346"/>
            <a:ext cx="2810024" cy="1080046"/>
          </a:xfrm>
          <a:prstGeom prst="rect">
            <a:avLst/>
          </a:prstGeom>
          <a:solidFill>
            <a:srgbClr val="FFFFFF">
              <a:alpha val="5000"/>
            </a:srgbClr>
          </a:solidFill>
          <a:ln/>
        </p:spPr>
        <p:txBody>
          <a:bodyPr wrap="square" rtlCol="0" anchor="ctr"/>
          <a:lstStyle/>
          <a:p>
            <a:pPr marL="0" indent="0">
              <a:buNone/>
            </a:pPr>
            <a:endParaRPr lang="en-US" dirty="0"/>
          </a:p>
        </p:txBody>
      </p:sp>
      <p:sp>
        <p:nvSpPr>
          <p:cNvPr id="11" name="Text 9"/>
          <p:cNvSpPr/>
          <p:nvPr/>
        </p:nvSpPr>
        <p:spPr>
          <a:xfrm>
            <a:off x="438150" y="3232696"/>
            <a:ext cx="2594190" cy="146596"/>
          </a:xfrm>
          <a:prstGeom prst="rect">
            <a:avLst/>
          </a:prstGeom>
          <a:noFill/>
          <a:ln/>
        </p:spPr>
        <p:txBody>
          <a:bodyPr wrap="square" lIns="0" tIns="0" rIns="0" bIns="0" rtlCol="0" anchor="t"/>
          <a:lstStyle/>
          <a:p>
            <a:pPr marL="0" indent="0" algn="l">
              <a:lnSpc>
                <a:spcPts val="1155"/>
              </a:lnSpc>
              <a:spcAft>
                <a:spcPts val="450"/>
              </a:spcAft>
              <a:buNone/>
            </a:pPr>
            <a:r>
              <a:rPr lang="en-US" sz="825" b="1" dirty="0">
                <a:solidFill>
                  <a:srgbClr val="FFFFFF"/>
                </a:solidFill>
                <a:latin typeface="Arial" pitchFamily="34" charset="0"/>
                <a:ea typeface="Arial" pitchFamily="34" charset="-122"/>
                <a:cs typeface="Arial" pitchFamily="34" charset="-120"/>
              </a:rPr>
              <a:t>DISCUSS</a:t>
            </a:r>
            <a:endParaRPr lang="en-US" sz="825" dirty="0"/>
          </a:p>
        </p:txBody>
      </p:sp>
      <p:sp>
        <p:nvSpPr>
          <p:cNvPr id="12" name="Text 10"/>
          <p:cNvSpPr/>
          <p:nvPr/>
        </p:nvSpPr>
        <p:spPr>
          <a:xfrm>
            <a:off x="438150" y="3436441"/>
            <a:ext cx="2594190" cy="609600"/>
          </a:xfrm>
          <a:prstGeom prst="rect">
            <a:avLst/>
          </a:prstGeom>
          <a:noFill/>
          <a:ln/>
        </p:spPr>
        <p:txBody>
          <a:bodyPr wrap="square" lIns="0" tIns="0" rIns="0" bIns="0" rtlCol="0" anchor="t"/>
          <a:lstStyle/>
          <a:p>
            <a:pPr marL="0" indent="0" algn="l">
              <a:lnSpc>
                <a:spcPts val="1200"/>
              </a:lnSpc>
              <a:buNone/>
            </a:pPr>
            <a:r>
              <a:rPr lang="en-US" sz="750" dirty="0">
                <a:solidFill>
                  <a:srgbClr val="FFFFFF">
                    <a:alpha val="60000"/>
                  </a:srgbClr>
                </a:solidFill>
                <a:latin typeface="Arial" pitchFamily="34" charset="0"/>
                <a:ea typeface="Arial" pitchFamily="34" charset="-122"/>
                <a:cs typeface="Arial" pitchFamily="34" charset="-120"/>
              </a:rPr>
              <a:t>What's the core intent?</a:t>
            </a:r>
            <a:endParaRPr lang="en-US" sz="750" dirty="0"/>
          </a:p>
          <a:p>
            <a:pPr marL="0" indent="0" algn="l">
              <a:lnSpc>
                <a:spcPts val="1200"/>
              </a:lnSpc>
              <a:buNone/>
            </a:pPr>
            <a:r>
              <a:rPr lang="en-US" sz="750" dirty="0">
                <a:solidFill>
                  <a:srgbClr val="FFFFFF">
                    <a:alpha val="60000"/>
                  </a:srgbClr>
                </a:solidFill>
                <a:latin typeface="Arial" pitchFamily="34" charset="0"/>
                <a:ea typeface="Arial" pitchFamily="34" charset="-122"/>
                <a:cs typeface="Arial" pitchFamily="34" charset="-120"/>
              </a:rPr>
              <a:t> Who is the audience?</a:t>
            </a:r>
            <a:endParaRPr lang="en-US" sz="750" dirty="0"/>
          </a:p>
          <a:p>
            <a:pPr marL="0" indent="0" algn="l">
              <a:lnSpc>
                <a:spcPts val="1200"/>
              </a:lnSpc>
              <a:buNone/>
            </a:pPr>
            <a:r>
              <a:rPr lang="en-US" sz="750" dirty="0">
                <a:solidFill>
                  <a:srgbClr val="FFFFFF">
                    <a:alpha val="60000"/>
                  </a:srgbClr>
                </a:solidFill>
                <a:latin typeface="Arial" pitchFamily="34" charset="0"/>
                <a:ea typeface="Arial" pitchFamily="34" charset="-122"/>
                <a:cs typeface="Arial" pitchFamily="34" charset="-120"/>
              </a:rPr>
              <a:t> What are the objectives?</a:t>
            </a:r>
            <a:endParaRPr lang="en-US" sz="750" dirty="0"/>
          </a:p>
          <a:p>
            <a:pPr marL="0" indent="0" algn="l">
              <a:lnSpc>
                <a:spcPts val="1200"/>
              </a:lnSpc>
              <a:buNone/>
            </a:pPr>
            <a:r>
              <a:rPr lang="en-US" sz="750" dirty="0">
                <a:solidFill>
                  <a:srgbClr val="FFFFFF">
                    <a:alpha val="60000"/>
                  </a:srgbClr>
                </a:solidFill>
                <a:latin typeface="Arial" pitchFamily="34" charset="0"/>
                <a:ea typeface="Arial" pitchFamily="34" charset="-122"/>
                <a:cs typeface="Arial" pitchFamily="34" charset="-120"/>
              </a:rPr>
              <a:t> What would success look like?</a:t>
            </a:r>
            <a:endParaRPr lang="en-US" sz="750" dirty="0"/>
          </a:p>
        </p:txBody>
      </p:sp>
      <p:sp>
        <p:nvSpPr>
          <p:cNvPr id="13" name="Text 11"/>
          <p:cNvSpPr/>
          <p:nvPr/>
        </p:nvSpPr>
        <p:spPr>
          <a:xfrm>
            <a:off x="304800" y="4484191"/>
            <a:ext cx="2810024" cy="361950"/>
          </a:xfrm>
          <a:prstGeom prst="rect">
            <a:avLst/>
          </a:prstGeom>
          <a:solidFill>
            <a:srgbClr val="059669"/>
          </a:solidFill>
          <a:ln/>
        </p:spPr>
        <p:txBody>
          <a:bodyPr wrap="square" rtlCol="0" anchor="ctr"/>
          <a:lstStyle/>
          <a:p>
            <a:pPr marL="0" indent="0">
              <a:buNone/>
            </a:pPr>
            <a:endParaRPr lang="en-US" dirty="0"/>
          </a:p>
        </p:txBody>
      </p:sp>
      <p:sp>
        <p:nvSpPr>
          <p:cNvPr id="14" name="Text 12"/>
          <p:cNvSpPr/>
          <p:nvPr/>
        </p:nvSpPr>
        <p:spPr>
          <a:xfrm>
            <a:off x="393286" y="4598491"/>
            <a:ext cx="2633052" cy="133350"/>
          </a:xfrm>
          <a:prstGeom prst="rect">
            <a:avLst/>
          </a:prstGeom>
          <a:noFill/>
          <a:ln/>
        </p:spPr>
        <p:txBody>
          <a:bodyPr wrap="square" lIns="0" tIns="0" rIns="0" bIns="0" rtlCol="0" anchor="t"/>
          <a:lstStyle/>
          <a:p>
            <a:pPr marL="0" indent="0" algn="ctr">
              <a:lnSpc>
                <a:spcPts val="1050"/>
              </a:lnSpc>
              <a:buNone/>
            </a:pPr>
            <a:r>
              <a:rPr lang="en-US" sz="750" dirty="0">
                <a:solidFill>
                  <a:srgbClr val="FFFFFF"/>
                </a:solidFill>
                <a:latin typeface="Arial" pitchFamily="34" charset="0"/>
                <a:ea typeface="Arial" pitchFamily="34" charset="-122"/>
                <a:cs typeface="Arial" pitchFamily="34" charset="-120"/>
              </a:rPr>
              <a:t>Voice is perfect for brainstorming</a:t>
            </a:r>
            <a:endParaRPr lang="en-US" sz="750" dirty="0"/>
          </a:p>
        </p:txBody>
      </p:sp>
      <p:sp>
        <p:nvSpPr>
          <p:cNvPr id="15" name="Text 13"/>
          <p:cNvSpPr/>
          <p:nvPr/>
        </p:nvSpPr>
        <p:spPr>
          <a:xfrm>
            <a:off x="3572024" y="0"/>
            <a:ext cx="5571976" cy="5143500"/>
          </a:xfrm>
          <a:prstGeom prst="rect">
            <a:avLst/>
          </a:prstGeom>
          <a:solidFill>
            <a:srgbClr val="F7F8FA"/>
          </a:solidFill>
          <a:ln/>
        </p:spPr>
        <p:txBody>
          <a:bodyPr wrap="square" rtlCol="0" anchor="ctr"/>
          <a:lstStyle/>
          <a:p>
            <a:pPr marL="0" indent="0">
              <a:buNone/>
            </a:pPr>
            <a:endParaRPr lang="en-US" dirty="0"/>
          </a:p>
        </p:txBody>
      </p:sp>
      <p:sp>
        <p:nvSpPr>
          <p:cNvPr id="16" name="Text 14"/>
          <p:cNvSpPr/>
          <p:nvPr/>
        </p:nvSpPr>
        <p:spPr>
          <a:xfrm>
            <a:off x="3876824" y="588169"/>
            <a:ext cx="5061624" cy="173236"/>
          </a:xfrm>
          <a:prstGeom prst="rect">
            <a:avLst/>
          </a:prstGeom>
          <a:noFill/>
          <a:ln/>
        </p:spPr>
        <p:txBody>
          <a:bodyPr wrap="square" lIns="0" tIns="0" rIns="0" bIns="0" rtlCol="0" anchor="t"/>
          <a:lstStyle/>
          <a:p>
            <a:pPr marL="0" indent="0" algn="l">
              <a:lnSpc>
                <a:spcPts val="1365"/>
              </a:lnSpc>
              <a:spcAft>
                <a:spcPts val="1050"/>
              </a:spcAft>
              <a:buNone/>
            </a:pPr>
            <a:r>
              <a:rPr lang="en-US" sz="975" b="1" dirty="0">
                <a:solidFill>
                  <a:srgbClr val="1A1F2E"/>
                </a:solidFill>
                <a:latin typeface="Arial" pitchFamily="34" charset="0"/>
                <a:ea typeface="Arial" pitchFamily="34" charset="-122"/>
                <a:cs typeface="Arial" pitchFamily="34" charset="-120"/>
              </a:rPr>
              <a:t>HOW TO BRAINSTORM WITH AN AGENT</a:t>
            </a:r>
            <a:endParaRPr lang="en-US" sz="975" dirty="0"/>
          </a:p>
        </p:txBody>
      </p:sp>
      <p:sp>
        <p:nvSpPr>
          <p:cNvPr id="17" name="Text 15"/>
          <p:cNvSpPr/>
          <p:nvPr/>
        </p:nvSpPr>
        <p:spPr>
          <a:xfrm>
            <a:off x="3876824" y="1047155"/>
            <a:ext cx="2424113" cy="639961"/>
          </a:xfrm>
          <a:prstGeom prst="rect">
            <a:avLst/>
          </a:prstGeom>
          <a:solidFill>
            <a:srgbClr val="FFFFFF"/>
          </a:solidFill>
          <a:ln/>
        </p:spPr>
        <p:txBody>
          <a:bodyPr wrap="square" rtlCol="0" anchor="ctr"/>
          <a:lstStyle/>
          <a:p>
            <a:pPr marL="0" indent="0">
              <a:buNone/>
            </a:pPr>
            <a:endParaRPr lang="en-US" dirty="0"/>
          </a:p>
        </p:txBody>
      </p:sp>
      <p:sp>
        <p:nvSpPr>
          <p:cNvPr id="18" name="Shape 16"/>
          <p:cNvSpPr/>
          <p:nvPr/>
        </p:nvSpPr>
        <p:spPr>
          <a:xfrm>
            <a:off x="3895874" y="1047155"/>
            <a:ext cx="0" cy="639961"/>
          </a:xfrm>
          <a:prstGeom prst="line">
            <a:avLst/>
          </a:prstGeom>
          <a:noFill/>
          <a:ln w="38100">
            <a:solidFill>
              <a:srgbClr val="C9A227"/>
            </a:solidFill>
            <a:prstDash val="solid"/>
          </a:ln>
        </p:spPr>
        <p:txBody>
          <a:bodyPr/>
          <a:lstStyle/>
          <a:p>
            <a:endParaRPr lang="en-US"/>
          </a:p>
        </p:txBody>
      </p:sp>
      <p:sp>
        <p:nvSpPr>
          <p:cNvPr id="19" name="Text 17"/>
          <p:cNvSpPr/>
          <p:nvPr/>
        </p:nvSpPr>
        <p:spPr>
          <a:xfrm>
            <a:off x="4029224" y="1161455"/>
            <a:ext cx="2200561"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1A1F2E"/>
                </a:solidFill>
                <a:latin typeface="Arial" pitchFamily="34" charset="0"/>
                <a:ea typeface="Arial" pitchFamily="34" charset="-122"/>
                <a:cs typeface="Arial" pitchFamily="34" charset="-120"/>
              </a:rPr>
              <a:t>1. STREAM OF CONSCIOUSNESS</a:t>
            </a:r>
            <a:endParaRPr lang="en-US" sz="750" dirty="0"/>
          </a:p>
        </p:txBody>
      </p:sp>
      <p:sp>
        <p:nvSpPr>
          <p:cNvPr id="20" name="Text 18"/>
          <p:cNvSpPr/>
          <p:nvPr/>
        </p:nvSpPr>
        <p:spPr>
          <a:xfrm>
            <a:off x="4029224" y="1332905"/>
            <a:ext cx="2200561" cy="239911"/>
          </a:xfrm>
          <a:prstGeom prst="rect">
            <a:avLst/>
          </a:prstGeom>
          <a:noFill/>
          <a:ln/>
        </p:spPr>
        <p:txBody>
          <a:bodyPr wrap="square" lIns="0" tIns="0" rIns="0" bIns="0" rtlCol="0" anchor="t"/>
          <a:lstStyle/>
          <a:p>
            <a:pPr marL="0" indent="0" algn="l">
              <a:lnSpc>
                <a:spcPts val="945"/>
              </a:lnSpc>
              <a:buNone/>
            </a:pPr>
            <a:r>
              <a:rPr lang="en-US" sz="675" dirty="0">
                <a:solidFill>
                  <a:srgbClr val="6B7280"/>
                </a:solidFill>
                <a:latin typeface="Arial" pitchFamily="34" charset="0"/>
                <a:ea typeface="Arial" pitchFamily="34" charset="-122"/>
                <a:cs typeface="Arial" pitchFamily="34" charset="-120"/>
              </a:rPr>
              <a:t>Just talk. Describe what you're imagining. Don't worry about structure or completeness.</a:t>
            </a:r>
            <a:endParaRPr lang="en-US" sz="675" dirty="0"/>
          </a:p>
        </p:txBody>
      </p:sp>
      <p:sp>
        <p:nvSpPr>
          <p:cNvPr id="21" name="Text 19"/>
          <p:cNvSpPr/>
          <p:nvPr/>
        </p:nvSpPr>
        <p:spPr>
          <a:xfrm>
            <a:off x="6415236" y="1047155"/>
            <a:ext cx="2424113" cy="639961"/>
          </a:xfrm>
          <a:prstGeom prst="rect">
            <a:avLst/>
          </a:prstGeom>
          <a:solidFill>
            <a:srgbClr val="FFFFFF"/>
          </a:solidFill>
          <a:ln/>
        </p:spPr>
        <p:txBody>
          <a:bodyPr wrap="square" rtlCol="0" anchor="ctr"/>
          <a:lstStyle/>
          <a:p>
            <a:pPr marL="0" indent="0">
              <a:buNone/>
            </a:pPr>
            <a:endParaRPr lang="en-US" dirty="0"/>
          </a:p>
        </p:txBody>
      </p:sp>
      <p:sp>
        <p:nvSpPr>
          <p:cNvPr id="22" name="Shape 20"/>
          <p:cNvSpPr/>
          <p:nvPr/>
        </p:nvSpPr>
        <p:spPr>
          <a:xfrm>
            <a:off x="6434286" y="1047155"/>
            <a:ext cx="0" cy="639961"/>
          </a:xfrm>
          <a:prstGeom prst="line">
            <a:avLst/>
          </a:prstGeom>
          <a:noFill/>
          <a:ln w="38100">
            <a:solidFill>
              <a:srgbClr val="C9A227"/>
            </a:solidFill>
            <a:prstDash val="solid"/>
          </a:ln>
        </p:spPr>
        <p:txBody>
          <a:bodyPr/>
          <a:lstStyle/>
          <a:p>
            <a:endParaRPr lang="en-US"/>
          </a:p>
        </p:txBody>
      </p:sp>
      <p:sp>
        <p:nvSpPr>
          <p:cNvPr id="23" name="Text 21"/>
          <p:cNvSpPr/>
          <p:nvPr/>
        </p:nvSpPr>
        <p:spPr>
          <a:xfrm>
            <a:off x="6567636" y="1161455"/>
            <a:ext cx="2200561"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1A1F2E"/>
                </a:solidFill>
                <a:latin typeface="Arial" pitchFamily="34" charset="0"/>
                <a:ea typeface="Arial" pitchFamily="34" charset="-122"/>
                <a:cs typeface="Arial" pitchFamily="34" charset="-120"/>
              </a:rPr>
              <a:t>2. ASK FOR PUSHBACK</a:t>
            </a:r>
            <a:endParaRPr lang="en-US" sz="750" dirty="0"/>
          </a:p>
        </p:txBody>
      </p:sp>
      <p:sp>
        <p:nvSpPr>
          <p:cNvPr id="24" name="Text 22"/>
          <p:cNvSpPr/>
          <p:nvPr/>
        </p:nvSpPr>
        <p:spPr>
          <a:xfrm>
            <a:off x="6567636" y="1332905"/>
            <a:ext cx="2200561" cy="239911"/>
          </a:xfrm>
          <a:prstGeom prst="rect">
            <a:avLst/>
          </a:prstGeom>
          <a:noFill/>
          <a:ln/>
        </p:spPr>
        <p:txBody>
          <a:bodyPr wrap="square" lIns="0" tIns="0" rIns="0" bIns="0" rtlCol="0" anchor="t"/>
          <a:lstStyle/>
          <a:p>
            <a:pPr marL="0" indent="0" algn="l">
              <a:lnSpc>
                <a:spcPts val="945"/>
              </a:lnSpc>
              <a:buNone/>
            </a:pPr>
            <a:r>
              <a:rPr lang="en-US" sz="675" dirty="0">
                <a:solidFill>
                  <a:srgbClr val="6B7280"/>
                </a:solidFill>
                <a:latin typeface="Arial" pitchFamily="34" charset="0"/>
                <a:ea typeface="Arial" pitchFamily="34" charset="-122"/>
                <a:cs typeface="Arial" pitchFamily="34" charset="-120"/>
              </a:rPr>
              <a:t>"What am I missing?" "What problems do you see?" Let the agent challenge your assumptions.</a:t>
            </a:r>
            <a:endParaRPr lang="en-US" sz="675" dirty="0"/>
          </a:p>
        </p:txBody>
      </p:sp>
      <p:sp>
        <p:nvSpPr>
          <p:cNvPr id="25" name="Text 23"/>
          <p:cNvSpPr/>
          <p:nvPr/>
        </p:nvSpPr>
        <p:spPr>
          <a:xfrm>
            <a:off x="3876824" y="1972866"/>
            <a:ext cx="4962376" cy="1656606"/>
          </a:xfrm>
          <a:prstGeom prst="rect">
            <a:avLst/>
          </a:prstGeom>
          <a:solidFill>
            <a:srgbClr val="1A1F2E"/>
          </a:solidFill>
          <a:ln/>
        </p:spPr>
        <p:txBody>
          <a:bodyPr wrap="square" rtlCol="0" anchor="ctr"/>
          <a:lstStyle/>
          <a:p>
            <a:pPr marL="0" indent="0">
              <a:buNone/>
            </a:pPr>
            <a:endParaRPr lang="en-US" dirty="0"/>
          </a:p>
        </p:txBody>
      </p:sp>
      <p:sp>
        <p:nvSpPr>
          <p:cNvPr id="26" name="Text 24"/>
          <p:cNvSpPr/>
          <p:nvPr/>
        </p:nvSpPr>
        <p:spPr>
          <a:xfrm>
            <a:off x="3963217" y="2027503"/>
            <a:ext cx="4789590" cy="119955"/>
          </a:xfrm>
          <a:prstGeom prst="rect">
            <a:avLst/>
          </a:prstGeom>
          <a:noFill/>
          <a:ln/>
        </p:spPr>
        <p:txBody>
          <a:bodyPr wrap="square" lIns="0" tIns="0" rIns="0" bIns="0" rtlCol="0" anchor="t"/>
          <a:lstStyle/>
          <a:p>
            <a:pPr marL="0" indent="0" algn="l">
              <a:lnSpc>
                <a:spcPts val="945"/>
              </a:lnSpc>
              <a:spcAft>
                <a:spcPts val="450"/>
              </a:spcAft>
              <a:buNone/>
            </a:pPr>
            <a:r>
              <a:rPr lang="en-US" sz="675" dirty="0">
                <a:solidFill>
                  <a:srgbClr val="C9A227"/>
                </a:solidFill>
                <a:latin typeface="Arial" pitchFamily="34" charset="0"/>
                <a:ea typeface="Arial" pitchFamily="34" charset="-122"/>
                <a:cs typeface="Arial" pitchFamily="34" charset="-120"/>
              </a:rPr>
              <a:t>EXAMPLE VOICE PROMPTS</a:t>
            </a:r>
            <a:endParaRPr lang="en-US" sz="675" dirty="0"/>
          </a:p>
        </p:txBody>
      </p:sp>
      <p:sp>
        <p:nvSpPr>
          <p:cNvPr id="27" name="Text 25"/>
          <p:cNvSpPr/>
          <p:nvPr/>
        </p:nvSpPr>
        <p:spPr>
          <a:xfrm>
            <a:off x="4172841" y="2167285"/>
            <a:ext cx="4789590" cy="548283"/>
          </a:xfrm>
          <a:prstGeom prst="rect">
            <a:avLst/>
          </a:prstGeom>
          <a:noFill/>
          <a:ln/>
        </p:spPr>
        <p:txBody>
          <a:bodyPr wrap="square" lIns="0" tIns="0" rIns="0" bIns="0" rtlCol="0" anchor="t"/>
          <a:lstStyle/>
          <a:p>
            <a:pPr marL="0" indent="0" algn="l">
              <a:lnSpc>
                <a:spcPts val="1080"/>
              </a:lnSpc>
              <a:spcAft>
                <a:spcPts val="600"/>
              </a:spcAft>
              <a:buNone/>
            </a:pPr>
            <a:r>
              <a:rPr lang="en-US" sz="675" dirty="0">
                <a:solidFill>
                  <a:srgbClr val="FFFFFF">
                    <a:alpha val="80000"/>
                  </a:srgbClr>
                </a:solidFill>
                <a:latin typeface="Arial" pitchFamily="34" charset="0"/>
                <a:ea typeface="Arial" pitchFamily="34" charset="-122"/>
                <a:cs typeface="Arial" pitchFamily="34" charset="-120"/>
              </a:rPr>
              <a:t>"I'm thinking about building a tool that..."</a:t>
            </a:r>
            <a:endParaRPr lang="en-US" sz="675" dirty="0"/>
          </a:p>
          <a:p>
            <a:pPr marL="0" indent="0" algn="l">
              <a:lnSpc>
                <a:spcPts val="1080"/>
              </a:lnSpc>
              <a:spcAft>
                <a:spcPts val="600"/>
              </a:spcAft>
              <a:buNone/>
            </a:pPr>
            <a:r>
              <a:rPr lang="en-US" sz="675" dirty="0">
                <a:solidFill>
                  <a:srgbClr val="FFFFFF">
                    <a:alpha val="80000"/>
                  </a:srgbClr>
                </a:solidFill>
                <a:latin typeface="Arial" pitchFamily="34" charset="0"/>
                <a:ea typeface="Arial" pitchFamily="34" charset="-122"/>
                <a:cs typeface="Arial" pitchFamily="34" charset="-120"/>
              </a:rPr>
              <a:t> "The main problem I want to solve is..."</a:t>
            </a:r>
            <a:endParaRPr lang="en-US" sz="675" dirty="0"/>
          </a:p>
          <a:p>
            <a:pPr marL="0" indent="0" algn="l">
              <a:lnSpc>
                <a:spcPts val="1080"/>
              </a:lnSpc>
              <a:spcAft>
                <a:spcPts val="600"/>
              </a:spcAft>
              <a:buNone/>
            </a:pPr>
            <a:r>
              <a:rPr lang="en-US" sz="675" dirty="0">
                <a:solidFill>
                  <a:srgbClr val="FFFFFF">
                    <a:alpha val="80000"/>
                  </a:srgbClr>
                </a:solidFill>
                <a:latin typeface="Arial" pitchFamily="34" charset="0"/>
                <a:ea typeface="Arial" pitchFamily="34" charset="-122"/>
                <a:cs typeface="Arial" pitchFamily="34" charset="-120"/>
              </a:rPr>
              <a:t> "My users would be people who..."</a:t>
            </a:r>
            <a:endParaRPr lang="en-US" sz="675" dirty="0"/>
          </a:p>
          <a:p>
            <a:pPr marL="0" indent="0" algn="l">
              <a:lnSpc>
                <a:spcPts val="1080"/>
              </a:lnSpc>
              <a:spcAft>
                <a:spcPts val="600"/>
              </a:spcAft>
              <a:buNone/>
            </a:pPr>
            <a:r>
              <a:rPr lang="en-US" sz="675" dirty="0">
                <a:solidFill>
                  <a:srgbClr val="FFFFFF">
                    <a:alpha val="80000"/>
                  </a:srgbClr>
                </a:solidFill>
                <a:latin typeface="Arial" pitchFamily="34" charset="0"/>
                <a:ea typeface="Arial" pitchFamily="34" charset="-122"/>
                <a:cs typeface="Arial" pitchFamily="34" charset="-120"/>
              </a:rPr>
              <a:t> "What do you think about this approach?"</a:t>
            </a:r>
            <a:endParaRPr lang="en-US" sz="675" dirty="0"/>
          </a:p>
        </p:txBody>
      </p:sp>
      <p:sp>
        <p:nvSpPr>
          <p:cNvPr id="28" name="Text 26"/>
          <p:cNvSpPr/>
          <p:nvPr/>
        </p:nvSpPr>
        <p:spPr>
          <a:xfrm>
            <a:off x="3963217" y="2949749"/>
            <a:ext cx="4789590" cy="119955"/>
          </a:xfrm>
          <a:prstGeom prst="rect">
            <a:avLst/>
          </a:prstGeom>
          <a:noFill/>
          <a:ln/>
        </p:spPr>
        <p:txBody>
          <a:bodyPr wrap="square" lIns="0" tIns="0" rIns="0" bIns="0" rtlCol="0" anchor="t"/>
          <a:lstStyle/>
          <a:p>
            <a:pPr marL="0" indent="0" algn="l">
              <a:lnSpc>
                <a:spcPts val="945"/>
              </a:lnSpc>
              <a:spcAft>
                <a:spcPts val="450"/>
              </a:spcAft>
              <a:buNone/>
            </a:pPr>
            <a:r>
              <a:rPr lang="en-US" sz="675" dirty="0">
                <a:solidFill>
                  <a:srgbClr val="C9A227"/>
                </a:solidFill>
                <a:latin typeface="Arial" pitchFamily="34" charset="0"/>
                <a:ea typeface="Arial" pitchFamily="34" charset="-122"/>
                <a:cs typeface="Arial" pitchFamily="34" charset="-120"/>
              </a:rPr>
              <a:t>FOLLOW-UPS</a:t>
            </a:r>
            <a:endParaRPr lang="en-US" sz="675" dirty="0"/>
          </a:p>
        </p:txBody>
      </p:sp>
      <p:sp>
        <p:nvSpPr>
          <p:cNvPr id="29" name="Text 27"/>
          <p:cNvSpPr/>
          <p:nvPr/>
        </p:nvSpPr>
        <p:spPr>
          <a:xfrm>
            <a:off x="4010174" y="3084909"/>
            <a:ext cx="4789590" cy="411212"/>
          </a:xfrm>
          <a:prstGeom prst="rect">
            <a:avLst/>
          </a:prstGeom>
          <a:noFill/>
          <a:ln/>
        </p:spPr>
        <p:txBody>
          <a:bodyPr wrap="square" lIns="0" tIns="0" rIns="0" bIns="0" rtlCol="0" anchor="t"/>
          <a:lstStyle/>
          <a:p>
            <a:pPr marL="0" indent="0" algn="l">
              <a:lnSpc>
                <a:spcPts val="1080"/>
              </a:lnSpc>
              <a:buNone/>
            </a:pPr>
            <a:r>
              <a:rPr lang="en-US" sz="675" dirty="0">
                <a:solidFill>
                  <a:srgbClr val="FFFFFF">
                    <a:alpha val="80000"/>
                  </a:srgbClr>
                </a:solidFill>
                <a:latin typeface="Arial" pitchFamily="34" charset="0"/>
                <a:ea typeface="Arial" pitchFamily="34" charset="-122"/>
                <a:cs typeface="Arial" pitchFamily="34" charset="-120"/>
              </a:rPr>
              <a:t>"Can you poke holes in that idea?"</a:t>
            </a:r>
            <a:endParaRPr lang="en-US" sz="675" dirty="0"/>
          </a:p>
          <a:p>
            <a:pPr marL="0" indent="0" algn="l">
              <a:lnSpc>
                <a:spcPts val="1080"/>
              </a:lnSpc>
              <a:buNone/>
            </a:pPr>
            <a:r>
              <a:rPr lang="en-US" sz="675" dirty="0">
                <a:solidFill>
                  <a:srgbClr val="FFFFFF">
                    <a:alpha val="80000"/>
                  </a:srgbClr>
                </a:solidFill>
                <a:latin typeface="Arial" pitchFamily="34" charset="0"/>
                <a:ea typeface="Arial" pitchFamily="34" charset="-122"/>
                <a:cs typeface="Arial" pitchFamily="34" charset="-120"/>
              </a:rPr>
              <a:t> "What similar products exist?"</a:t>
            </a:r>
            <a:endParaRPr lang="en-US" sz="675" dirty="0"/>
          </a:p>
          <a:p>
            <a:pPr marL="0" indent="0" algn="l">
              <a:lnSpc>
                <a:spcPts val="1080"/>
              </a:lnSpc>
              <a:buNone/>
            </a:pPr>
            <a:r>
              <a:rPr lang="en-US" sz="675" dirty="0">
                <a:solidFill>
                  <a:srgbClr val="FFFFFF">
                    <a:alpha val="80000"/>
                  </a:srgbClr>
                </a:solidFill>
                <a:latin typeface="Arial" pitchFamily="34" charset="0"/>
                <a:ea typeface="Arial" pitchFamily="34" charset="-122"/>
                <a:cs typeface="Arial" pitchFamily="34" charset="-120"/>
              </a:rPr>
              <a:t> "How would you scope an MVP?"</a:t>
            </a:r>
            <a:endParaRPr lang="en-US" sz="675" dirty="0"/>
          </a:p>
        </p:txBody>
      </p:sp>
      <p:sp>
        <p:nvSpPr>
          <p:cNvPr id="30" name="Text 28"/>
          <p:cNvSpPr/>
          <p:nvPr/>
        </p:nvSpPr>
        <p:spPr>
          <a:xfrm>
            <a:off x="3876824" y="3915221"/>
            <a:ext cx="2424113" cy="639961"/>
          </a:xfrm>
          <a:prstGeom prst="rect">
            <a:avLst/>
          </a:prstGeom>
          <a:solidFill>
            <a:srgbClr val="DBEAFE"/>
          </a:solidFill>
          <a:ln/>
        </p:spPr>
        <p:txBody>
          <a:bodyPr wrap="square" rtlCol="0" anchor="ctr"/>
          <a:lstStyle/>
          <a:p>
            <a:pPr marL="0" indent="0">
              <a:buNone/>
            </a:pPr>
            <a:endParaRPr lang="en-US" dirty="0"/>
          </a:p>
        </p:txBody>
      </p:sp>
      <p:sp>
        <p:nvSpPr>
          <p:cNvPr id="31" name="Shape 29"/>
          <p:cNvSpPr/>
          <p:nvPr/>
        </p:nvSpPr>
        <p:spPr>
          <a:xfrm>
            <a:off x="3891111" y="3915221"/>
            <a:ext cx="0" cy="639961"/>
          </a:xfrm>
          <a:prstGeom prst="line">
            <a:avLst/>
          </a:prstGeom>
          <a:noFill/>
          <a:ln w="28575">
            <a:solidFill>
              <a:srgbClr val="3B82F6"/>
            </a:solidFill>
            <a:prstDash val="solid"/>
          </a:ln>
        </p:spPr>
        <p:txBody>
          <a:bodyPr/>
          <a:lstStyle/>
          <a:p>
            <a:endParaRPr lang="en-US"/>
          </a:p>
        </p:txBody>
      </p:sp>
      <p:sp>
        <p:nvSpPr>
          <p:cNvPr id="32" name="Text 30"/>
          <p:cNvSpPr/>
          <p:nvPr/>
        </p:nvSpPr>
        <p:spPr>
          <a:xfrm>
            <a:off x="4019699" y="4029521"/>
            <a:ext cx="2210276"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1E40AF"/>
                </a:solidFill>
                <a:latin typeface="Arial" pitchFamily="34" charset="0"/>
                <a:ea typeface="Arial" pitchFamily="34" charset="-122"/>
                <a:cs typeface="Arial" pitchFamily="34" charset="-120"/>
              </a:rPr>
              <a:t>SAVE THE OUTPUT</a:t>
            </a:r>
            <a:endParaRPr lang="en-US" sz="750" dirty="0"/>
          </a:p>
        </p:txBody>
      </p:sp>
      <p:sp>
        <p:nvSpPr>
          <p:cNvPr id="33" name="Text 31"/>
          <p:cNvSpPr/>
          <p:nvPr/>
        </p:nvSpPr>
        <p:spPr>
          <a:xfrm>
            <a:off x="4019699" y="4200971"/>
            <a:ext cx="2210276" cy="239911"/>
          </a:xfrm>
          <a:prstGeom prst="rect">
            <a:avLst/>
          </a:prstGeom>
          <a:noFill/>
          <a:ln/>
        </p:spPr>
        <p:txBody>
          <a:bodyPr wrap="square" lIns="0" tIns="0" rIns="0" bIns="0" rtlCol="0" anchor="t"/>
          <a:lstStyle/>
          <a:p>
            <a:pPr marL="0" indent="0" algn="l">
              <a:lnSpc>
                <a:spcPts val="945"/>
              </a:lnSpc>
              <a:buNone/>
            </a:pPr>
            <a:r>
              <a:rPr lang="en-US" sz="675" dirty="0">
                <a:solidFill>
                  <a:srgbClr val="1E40AF"/>
                </a:solidFill>
                <a:latin typeface="Arial" pitchFamily="34" charset="0"/>
                <a:ea typeface="Arial" pitchFamily="34" charset="-122"/>
                <a:cs typeface="Arial" pitchFamily="34" charset="-120"/>
              </a:rPr>
              <a:t>Ask the agent to summarize the brainstorm into a markdown file. Commit it to the repo.</a:t>
            </a:r>
            <a:endParaRPr lang="en-US" sz="675" dirty="0"/>
          </a:p>
        </p:txBody>
      </p:sp>
      <p:sp>
        <p:nvSpPr>
          <p:cNvPr id="34" name="Text 32"/>
          <p:cNvSpPr/>
          <p:nvPr/>
        </p:nvSpPr>
        <p:spPr>
          <a:xfrm>
            <a:off x="6415236" y="3915221"/>
            <a:ext cx="2424113" cy="639961"/>
          </a:xfrm>
          <a:prstGeom prst="rect">
            <a:avLst/>
          </a:prstGeom>
          <a:solidFill>
            <a:srgbClr val="FEF3C7"/>
          </a:solidFill>
          <a:ln/>
        </p:spPr>
        <p:txBody>
          <a:bodyPr wrap="square" rtlCol="0" anchor="ctr"/>
          <a:lstStyle/>
          <a:p>
            <a:pPr marL="0" indent="0">
              <a:buNone/>
            </a:pPr>
            <a:endParaRPr lang="en-US" dirty="0"/>
          </a:p>
        </p:txBody>
      </p:sp>
      <p:sp>
        <p:nvSpPr>
          <p:cNvPr id="35" name="Shape 33"/>
          <p:cNvSpPr/>
          <p:nvPr/>
        </p:nvSpPr>
        <p:spPr>
          <a:xfrm>
            <a:off x="6429524" y="3915221"/>
            <a:ext cx="0" cy="639961"/>
          </a:xfrm>
          <a:prstGeom prst="line">
            <a:avLst/>
          </a:prstGeom>
          <a:noFill/>
          <a:ln w="28575">
            <a:solidFill>
              <a:srgbClr val="F59E0B"/>
            </a:solidFill>
            <a:prstDash val="solid"/>
          </a:ln>
        </p:spPr>
        <p:txBody>
          <a:bodyPr/>
          <a:lstStyle/>
          <a:p>
            <a:endParaRPr lang="en-US"/>
          </a:p>
        </p:txBody>
      </p:sp>
      <p:sp>
        <p:nvSpPr>
          <p:cNvPr id="36" name="Text 34"/>
          <p:cNvSpPr/>
          <p:nvPr/>
        </p:nvSpPr>
        <p:spPr>
          <a:xfrm>
            <a:off x="6558111" y="4029521"/>
            <a:ext cx="2210276"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92400E"/>
                </a:solidFill>
                <a:latin typeface="Arial" pitchFamily="34" charset="0"/>
                <a:ea typeface="Arial" pitchFamily="34" charset="-122"/>
                <a:cs typeface="Arial" pitchFamily="34" charset="-120"/>
              </a:rPr>
              <a:t>DON'T SKIP THIS</a:t>
            </a:r>
            <a:endParaRPr lang="en-US" sz="750" dirty="0"/>
          </a:p>
        </p:txBody>
      </p:sp>
      <p:sp>
        <p:nvSpPr>
          <p:cNvPr id="37" name="Text 35"/>
          <p:cNvSpPr/>
          <p:nvPr/>
        </p:nvSpPr>
        <p:spPr>
          <a:xfrm>
            <a:off x="6558111" y="4200971"/>
            <a:ext cx="2210276" cy="239911"/>
          </a:xfrm>
          <a:prstGeom prst="rect">
            <a:avLst/>
          </a:prstGeom>
          <a:noFill/>
          <a:ln/>
        </p:spPr>
        <p:txBody>
          <a:bodyPr wrap="square" lIns="0" tIns="0" rIns="0" bIns="0" rtlCol="0" anchor="t"/>
          <a:lstStyle/>
          <a:p>
            <a:pPr marL="0" indent="0" algn="l">
              <a:lnSpc>
                <a:spcPts val="945"/>
              </a:lnSpc>
              <a:buNone/>
            </a:pPr>
            <a:r>
              <a:rPr lang="en-US" sz="675" dirty="0">
                <a:solidFill>
                  <a:srgbClr val="92400E"/>
                </a:solidFill>
                <a:latin typeface="Arial" pitchFamily="34" charset="0"/>
                <a:ea typeface="Arial" pitchFamily="34" charset="-122"/>
                <a:cs typeface="Arial" pitchFamily="34" charset="-120"/>
              </a:rPr>
              <a:t>Rushing to code without brainstorming leads to building the wrong thing. Investment here saves time later.</a:t>
            </a:r>
            <a:endParaRPr lang="en-US" sz="675"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0" y="0"/>
            <a:ext cx="3419624" cy="5143500"/>
          </a:xfrm>
          <a:prstGeom prst="rect">
            <a:avLst/>
          </a:prstGeom>
          <a:solidFill>
            <a:srgbClr val="1A1F2E"/>
          </a:solidFill>
          <a:ln/>
        </p:spPr>
        <p:txBody>
          <a:bodyPr wrap="square" rtlCol="0" anchor="ctr"/>
          <a:lstStyle/>
          <a:p>
            <a:pPr marL="0" indent="0">
              <a:buNone/>
            </a:pPr>
            <a:endParaRPr lang="en-US" dirty="0"/>
          </a:p>
        </p:txBody>
      </p:sp>
      <p:sp>
        <p:nvSpPr>
          <p:cNvPr id="3" name="Text 1"/>
          <p:cNvSpPr/>
          <p:nvPr/>
        </p:nvSpPr>
        <p:spPr>
          <a:xfrm>
            <a:off x="304800" y="304800"/>
            <a:ext cx="981373" cy="234255"/>
          </a:xfrm>
          <a:prstGeom prst="rect">
            <a:avLst/>
          </a:prstGeom>
          <a:solidFill>
            <a:srgbClr val="8B5CF6"/>
          </a:solidFill>
          <a:ln/>
        </p:spPr>
        <p:txBody>
          <a:bodyPr wrap="square" rtlCol="0" anchor="ctr"/>
          <a:lstStyle/>
          <a:p>
            <a:pPr marL="0" indent="0">
              <a:buNone/>
            </a:pPr>
            <a:endParaRPr lang="en-US" dirty="0"/>
          </a:p>
        </p:txBody>
      </p:sp>
      <p:sp>
        <p:nvSpPr>
          <p:cNvPr id="4" name="Text 2"/>
          <p:cNvSpPr/>
          <p:nvPr/>
        </p:nvSpPr>
        <p:spPr>
          <a:xfrm>
            <a:off x="419100" y="361950"/>
            <a:ext cx="767828" cy="119955"/>
          </a:xfrm>
          <a:prstGeom prst="rect">
            <a:avLst/>
          </a:prstGeom>
          <a:noFill/>
          <a:ln/>
        </p:spPr>
        <p:txBody>
          <a:bodyPr wrap="square" lIns="0" tIns="0" rIns="0" bIns="0" rtlCol="0" anchor="t"/>
          <a:lstStyle/>
          <a:p>
            <a:pPr marL="0" indent="0" algn="l">
              <a:lnSpc>
                <a:spcPts val="945"/>
              </a:lnSpc>
              <a:buNone/>
            </a:pPr>
            <a:r>
              <a:rPr lang="en-US" sz="675" b="1" dirty="0">
                <a:solidFill>
                  <a:srgbClr val="FFFFFF"/>
                </a:solidFill>
                <a:latin typeface="Arial" pitchFamily="34" charset="0"/>
                <a:ea typeface="Arial" pitchFamily="34" charset="-122"/>
                <a:cs typeface="Arial" pitchFamily="34" charset="-120"/>
              </a:rPr>
              <a:t>PHASE 3 OF 10</a:t>
            </a:r>
            <a:endParaRPr lang="en-US" sz="675" dirty="0"/>
          </a:p>
        </p:txBody>
      </p:sp>
      <p:sp>
        <p:nvSpPr>
          <p:cNvPr id="5" name="Text 3"/>
          <p:cNvSpPr/>
          <p:nvPr/>
        </p:nvSpPr>
        <p:spPr>
          <a:xfrm>
            <a:off x="304800" y="805755"/>
            <a:ext cx="1797368" cy="639961"/>
          </a:xfrm>
          <a:prstGeom prst="rect">
            <a:avLst/>
          </a:prstGeom>
          <a:noFill/>
          <a:ln/>
        </p:spPr>
        <p:txBody>
          <a:bodyPr wrap="square" lIns="0" tIns="0" rIns="0" bIns="0" rtlCol="0" anchor="t"/>
          <a:lstStyle/>
          <a:p>
            <a:pPr marL="0" indent="0" algn="l">
              <a:lnSpc>
                <a:spcPts val="2520"/>
              </a:lnSpc>
              <a:spcAft>
                <a:spcPts val="900"/>
              </a:spcAft>
              <a:buNone/>
            </a:pPr>
            <a:r>
              <a:rPr lang="en-US" sz="2100" dirty="0">
                <a:solidFill>
                  <a:srgbClr val="FFFFFF"/>
                </a:solidFill>
                <a:latin typeface="Georgia" pitchFamily="34" charset="0"/>
                <a:ea typeface="Georgia" pitchFamily="34" charset="-122"/>
                <a:cs typeface="Georgia" pitchFamily="34" charset="-120"/>
              </a:rPr>
              <a:t>Deep Research</a:t>
            </a:r>
            <a:endParaRPr lang="en-US" sz="2100" dirty="0"/>
          </a:p>
          <a:p>
            <a:pPr marL="0" indent="0" algn="l">
              <a:lnSpc>
                <a:spcPts val="2520"/>
              </a:lnSpc>
              <a:spcAft>
                <a:spcPts val="900"/>
              </a:spcAft>
              <a:buNone/>
            </a:pPr>
            <a:r>
              <a:rPr lang="en-US" sz="2100" dirty="0">
                <a:solidFill>
                  <a:srgbClr val="FFFFFF"/>
                </a:solidFill>
                <a:latin typeface="Georgia" pitchFamily="34" charset="0"/>
                <a:ea typeface="Georgia" pitchFamily="34" charset="-122"/>
                <a:cs typeface="Georgia" pitchFamily="34" charset="-120"/>
              </a:rPr>
              <a:t>Phase</a:t>
            </a:r>
            <a:endParaRPr lang="en-US" sz="2100" dirty="0"/>
          </a:p>
        </p:txBody>
      </p:sp>
      <p:sp>
        <p:nvSpPr>
          <p:cNvPr id="6" name="Text 4"/>
          <p:cNvSpPr/>
          <p:nvPr/>
        </p:nvSpPr>
        <p:spPr>
          <a:xfrm>
            <a:off x="304800" y="1712416"/>
            <a:ext cx="381000" cy="19050"/>
          </a:xfrm>
          <a:prstGeom prst="rect">
            <a:avLst/>
          </a:prstGeom>
          <a:solidFill>
            <a:srgbClr val="C9A227"/>
          </a:solidFill>
          <a:ln/>
        </p:spPr>
        <p:txBody>
          <a:bodyPr wrap="square" rtlCol="0" anchor="ctr"/>
          <a:lstStyle/>
          <a:p>
            <a:pPr marL="0" indent="0">
              <a:buNone/>
            </a:pPr>
            <a:endParaRPr lang="en-US" dirty="0"/>
          </a:p>
        </p:txBody>
      </p:sp>
      <p:sp>
        <p:nvSpPr>
          <p:cNvPr id="7" name="Text 5"/>
          <p:cNvSpPr/>
          <p:nvPr/>
        </p:nvSpPr>
        <p:spPr>
          <a:xfrm>
            <a:off x="304800" y="2036266"/>
            <a:ext cx="2810024" cy="784771"/>
          </a:xfrm>
          <a:prstGeom prst="rect">
            <a:avLst/>
          </a:prstGeom>
          <a:solidFill>
            <a:srgbClr val="C9A227">
              <a:alpha val="15000"/>
            </a:srgbClr>
          </a:solidFill>
          <a:ln/>
        </p:spPr>
        <p:txBody>
          <a:bodyPr wrap="square" rtlCol="0" anchor="ctr"/>
          <a:lstStyle/>
          <a:p>
            <a:pPr marL="0" indent="0">
              <a:buNone/>
            </a:pPr>
            <a:endParaRPr lang="en-US" dirty="0"/>
          </a:p>
        </p:txBody>
      </p:sp>
      <p:sp>
        <p:nvSpPr>
          <p:cNvPr id="8" name="Shape 6"/>
          <p:cNvSpPr/>
          <p:nvPr/>
        </p:nvSpPr>
        <p:spPr>
          <a:xfrm>
            <a:off x="319088" y="2036266"/>
            <a:ext cx="0" cy="784771"/>
          </a:xfrm>
          <a:prstGeom prst="line">
            <a:avLst/>
          </a:prstGeom>
          <a:noFill/>
          <a:ln w="28575">
            <a:solidFill>
              <a:srgbClr val="C9A227"/>
            </a:solidFill>
            <a:prstDash val="solid"/>
          </a:ln>
        </p:spPr>
        <p:txBody>
          <a:bodyPr/>
          <a:lstStyle/>
          <a:p>
            <a:endParaRPr lang="en-US"/>
          </a:p>
        </p:txBody>
      </p:sp>
      <p:sp>
        <p:nvSpPr>
          <p:cNvPr id="9" name="Text 7"/>
          <p:cNvSpPr/>
          <p:nvPr/>
        </p:nvSpPr>
        <p:spPr>
          <a:xfrm>
            <a:off x="466725" y="2169616"/>
            <a:ext cx="2565044" cy="146596"/>
          </a:xfrm>
          <a:prstGeom prst="rect">
            <a:avLst/>
          </a:prstGeom>
          <a:noFill/>
          <a:ln/>
        </p:spPr>
        <p:txBody>
          <a:bodyPr wrap="square" lIns="0" tIns="0" rIns="0" bIns="0" rtlCol="0" anchor="t"/>
          <a:lstStyle/>
          <a:p>
            <a:pPr marL="0" indent="0" algn="l">
              <a:lnSpc>
                <a:spcPts val="1155"/>
              </a:lnSpc>
              <a:spcAft>
                <a:spcPts val="450"/>
              </a:spcAft>
              <a:buNone/>
            </a:pPr>
            <a:r>
              <a:rPr lang="en-US" sz="825" b="1" dirty="0">
                <a:solidFill>
                  <a:srgbClr val="C9A227"/>
                </a:solidFill>
                <a:latin typeface="Arial" pitchFamily="34" charset="0"/>
                <a:ea typeface="Arial" pitchFamily="34" charset="-122"/>
                <a:cs typeface="Arial" pitchFamily="34" charset="-120"/>
              </a:rPr>
              <a:t>THE MISSION</a:t>
            </a:r>
            <a:endParaRPr lang="en-US" sz="825" dirty="0"/>
          </a:p>
        </p:txBody>
      </p:sp>
      <p:sp>
        <p:nvSpPr>
          <p:cNvPr id="10" name="Text 8"/>
          <p:cNvSpPr/>
          <p:nvPr/>
        </p:nvSpPr>
        <p:spPr>
          <a:xfrm>
            <a:off x="466725" y="2373362"/>
            <a:ext cx="2565044" cy="314325"/>
          </a:xfrm>
          <a:prstGeom prst="rect">
            <a:avLst/>
          </a:prstGeom>
          <a:noFill/>
          <a:ln/>
        </p:spPr>
        <p:txBody>
          <a:bodyPr wrap="square" lIns="0" tIns="0" rIns="0" bIns="0" rtlCol="0" anchor="t"/>
          <a:lstStyle/>
          <a:p>
            <a:pPr marL="0" indent="0" algn="l">
              <a:lnSpc>
                <a:spcPts val="1238"/>
              </a:lnSpc>
              <a:buNone/>
            </a:pPr>
            <a:r>
              <a:rPr lang="en-US" sz="825" dirty="0">
                <a:solidFill>
                  <a:srgbClr val="FFFFFF">
                    <a:alpha val="80000"/>
                  </a:srgbClr>
                </a:solidFill>
                <a:latin typeface="Arial" pitchFamily="34" charset="0"/>
                <a:ea typeface="Arial" pitchFamily="34" charset="-122"/>
                <a:cs typeface="Arial" pitchFamily="34" charset="-120"/>
              </a:rPr>
              <a:t>Launch comprehensive research efforts. Build deep context before building anything.</a:t>
            </a:r>
            <a:endParaRPr lang="en-US" sz="825" dirty="0"/>
          </a:p>
        </p:txBody>
      </p:sp>
      <p:sp>
        <p:nvSpPr>
          <p:cNvPr id="11" name="Text 9"/>
          <p:cNvSpPr/>
          <p:nvPr/>
        </p:nvSpPr>
        <p:spPr>
          <a:xfrm>
            <a:off x="304800" y="3125837"/>
            <a:ext cx="2810024" cy="1099096"/>
          </a:xfrm>
          <a:prstGeom prst="rect">
            <a:avLst/>
          </a:prstGeom>
          <a:solidFill>
            <a:srgbClr val="FFFFFF">
              <a:alpha val="5000"/>
            </a:srgbClr>
          </a:solidFill>
          <a:ln/>
        </p:spPr>
        <p:txBody>
          <a:bodyPr wrap="square" rtlCol="0" anchor="ctr"/>
          <a:lstStyle/>
          <a:p>
            <a:pPr marL="0" indent="0">
              <a:buNone/>
            </a:pPr>
            <a:endParaRPr lang="en-US" dirty="0"/>
          </a:p>
        </p:txBody>
      </p:sp>
      <p:sp>
        <p:nvSpPr>
          <p:cNvPr id="12" name="Text 10"/>
          <p:cNvSpPr/>
          <p:nvPr/>
        </p:nvSpPr>
        <p:spPr>
          <a:xfrm>
            <a:off x="438150" y="3259187"/>
            <a:ext cx="2594190" cy="146596"/>
          </a:xfrm>
          <a:prstGeom prst="rect">
            <a:avLst/>
          </a:prstGeom>
          <a:noFill/>
          <a:ln/>
        </p:spPr>
        <p:txBody>
          <a:bodyPr wrap="square" lIns="0" tIns="0" rIns="0" bIns="0" rtlCol="0" anchor="t"/>
          <a:lstStyle/>
          <a:p>
            <a:pPr marL="0" indent="0" algn="l">
              <a:lnSpc>
                <a:spcPts val="1155"/>
              </a:lnSpc>
              <a:spcAft>
                <a:spcPts val="600"/>
              </a:spcAft>
              <a:buNone/>
            </a:pPr>
            <a:r>
              <a:rPr lang="en-US" sz="825" b="1" dirty="0">
                <a:solidFill>
                  <a:srgbClr val="FFFFFF"/>
                </a:solidFill>
                <a:latin typeface="Arial" pitchFamily="34" charset="0"/>
                <a:ea typeface="Arial" pitchFamily="34" charset="-122"/>
                <a:cs typeface="Arial" pitchFamily="34" charset="-120"/>
              </a:rPr>
              <a:t>RESEARCH TARGETS</a:t>
            </a:r>
            <a:endParaRPr lang="en-US" sz="825" dirty="0"/>
          </a:p>
        </p:txBody>
      </p:sp>
      <p:sp>
        <p:nvSpPr>
          <p:cNvPr id="13" name="Text 11"/>
          <p:cNvSpPr/>
          <p:nvPr/>
        </p:nvSpPr>
        <p:spPr>
          <a:xfrm>
            <a:off x="438150" y="3481983"/>
            <a:ext cx="2594190" cy="609600"/>
          </a:xfrm>
          <a:prstGeom prst="rect">
            <a:avLst/>
          </a:prstGeom>
          <a:noFill/>
          <a:ln/>
        </p:spPr>
        <p:txBody>
          <a:bodyPr wrap="square" lIns="0" tIns="0" rIns="0" bIns="0" rtlCol="0" anchor="t"/>
          <a:lstStyle/>
          <a:p>
            <a:pPr marL="0" indent="0" algn="l">
              <a:lnSpc>
                <a:spcPts val="1200"/>
              </a:lnSpc>
              <a:buNone/>
            </a:pPr>
            <a:r>
              <a:rPr lang="en-US" sz="750" dirty="0">
                <a:solidFill>
                  <a:srgbClr val="FFFFFF">
                    <a:alpha val="60000"/>
                  </a:srgbClr>
                </a:solidFill>
                <a:latin typeface="Arial" pitchFamily="34" charset="0"/>
                <a:ea typeface="Arial" pitchFamily="34" charset="-122"/>
                <a:cs typeface="Arial" pitchFamily="34" charset="-120"/>
              </a:rPr>
              <a:t>Subject matter expertise</a:t>
            </a:r>
            <a:endParaRPr lang="en-US" sz="750" dirty="0"/>
          </a:p>
          <a:p>
            <a:pPr marL="0" indent="0" algn="l">
              <a:lnSpc>
                <a:spcPts val="1200"/>
              </a:lnSpc>
              <a:buNone/>
            </a:pPr>
            <a:r>
              <a:rPr lang="en-US" sz="750" dirty="0">
                <a:solidFill>
                  <a:srgbClr val="FFFFFF">
                    <a:alpha val="60000"/>
                  </a:srgbClr>
                </a:solidFill>
                <a:latin typeface="Arial" pitchFamily="34" charset="0"/>
                <a:ea typeface="Arial" pitchFamily="34" charset="-122"/>
                <a:cs typeface="Arial" pitchFamily="34" charset="-120"/>
              </a:rPr>
              <a:t> Current best practices</a:t>
            </a:r>
            <a:endParaRPr lang="en-US" sz="750" dirty="0"/>
          </a:p>
          <a:p>
            <a:pPr marL="0" indent="0" algn="l">
              <a:lnSpc>
                <a:spcPts val="1200"/>
              </a:lnSpc>
              <a:buNone/>
            </a:pPr>
            <a:r>
              <a:rPr lang="en-US" sz="750" dirty="0">
                <a:solidFill>
                  <a:srgbClr val="FFFFFF">
                    <a:alpha val="60000"/>
                  </a:srgbClr>
                </a:solidFill>
                <a:latin typeface="Arial" pitchFamily="34" charset="0"/>
                <a:ea typeface="Arial" pitchFamily="34" charset="-122"/>
                <a:cs typeface="Arial" pitchFamily="34" charset="-120"/>
              </a:rPr>
              <a:t> Industry landscape</a:t>
            </a:r>
            <a:endParaRPr lang="en-US" sz="750" dirty="0"/>
          </a:p>
          <a:p>
            <a:pPr marL="0" indent="0" algn="l">
              <a:lnSpc>
                <a:spcPts val="1200"/>
              </a:lnSpc>
              <a:buNone/>
            </a:pPr>
            <a:r>
              <a:rPr lang="en-US" sz="750" dirty="0">
                <a:solidFill>
                  <a:srgbClr val="FFFFFF">
                    <a:alpha val="60000"/>
                  </a:srgbClr>
                </a:solidFill>
                <a:latin typeface="Arial" pitchFamily="34" charset="0"/>
                <a:ea typeface="Arial" pitchFamily="34" charset="-122"/>
                <a:cs typeface="Arial" pitchFamily="34" charset="-120"/>
              </a:rPr>
              <a:t> Competitive products</a:t>
            </a:r>
            <a:endParaRPr lang="en-US" sz="750" dirty="0"/>
          </a:p>
        </p:txBody>
      </p:sp>
      <p:sp>
        <p:nvSpPr>
          <p:cNvPr id="14" name="Text 12"/>
          <p:cNvSpPr/>
          <p:nvPr/>
        </p:nvSpPr>
        <p:spPr>
          <a:xfrm>
            <a:off x="304800" y="4528245"/>
            <a:ext cx="2810024" cy="310455"/>
          </a:xfrm>
          <a:prstGeom prst="rect">
            <a:avLst/>
          </a:prstGeom>
          <a:solidFill>
            <a:srgbClr val="DCFCE7"/>
          </a:solidFill>
          <a:ln/>
        </p:spPr>
        <p:txBody>
          <a:bodyPr wrap="square" rtlCol="0" anchor="ctr"/>
          <a:lstStyle/>
          <a:p>
            <a:pPr marL="0" indent="0">
              <a:buNone/>
            </a:pPr>
            <a:endParaRPr lang="en-US" dirty="0"/>
          </a:p>
        </p:txBody>
      </p:sp>
      <p:sp>
        <p:nvSpPr>
          <p:cNvPr id="15" name="Shape 13"/>
          <p:cNvSpPr/>
          <p:nvPr/>
        </p:nvSpPr>
        <p:spPr>
          <a:xfrm>
            <a:off x="319088" y="4528245"/>
            <a:ext cx="0" cy="310455"/>
          </a:xfrm>
          <a:prstGeom prst="line">
            <a:avLst/>
          </a:prstGeom>
          <a:noFill/>
          <a:ln w="28575">
            <a:solidFill>
              <a:srgbClr val="059669"/>
            </a:solidFill>
            <a:prstDash val="solid"/>
          </a:ln>
        </p:spPr>
        <p:txBody>
          <a:bodyPr/>
          <a:lstStyle/>
          <a:p>
            <a:endParaRPr lang="en-US"/>
          </a:p>
        </p:txBody>
      </p:sp>
      <p:sp>
        <p:nvSpPr>
          <p:cNvPr id="16" name="Text 14"/>
          <p:cNvSpPr/>
          <p:nvPr/>
        </p:nvSpPr>
        <p:spPr>
          <a:xfrm>
            <a:off x="428625" y="4623495"/>
            <a:ext cx="2642768" cy="119955"/>
          </a:xfrm>
          <a:prstGeom prst="rect">
            <a:avLst/>
          </a:prstGeom>
          <a:noFill/>
          <a:ln/>
        </p:spPr>
        <p:txBody>
          <a:bodyPr wrap="square" lIns="0" tIns="0" rIns="0" bIns="0" rtlCol="0" anchor="t"/>
          <a:lstStyle/>
          <a:p>
            <a:pPr marL="0" indent="0" algn="l">
              <a:lnSpc>
                <a:spcPts val="945"/>
              </a:lnSpc>
              <a:buNone/>
            </a:pPr>
            <a:r>
              <a:rPr lang="en-US" sz="675" b="1" dirty="0">
                <a:solidFill>
                  <a:srgbClr val="166534"/>
                </a:solidFill>
                <a:latin typeface="Arial" pitchFamily="34" charset="0"/>
                <a:ea typeface="Arial" pitchFamily="34" charset="-122"/>
                <a:cs typeface="Arial" pitchFamily="34" charset="-120"/>
              </a:rPr>
              <a:t>Key:</a:t>
            </a:r>
            <a:r>
              <a:rPr lang="en-US" sz="675" dirty="0">
                <a:solidFill>
                  <a:srgbClr val="166534"/>
                </a:solidFill>
                <a:latin typeface="Arial" pitchFamily="34" charset="0"/>
                <a:ea typeface="Arial" pitchFamily="34" charset="-122"/>
                <a:cs typeface="Arial" pitchFamily="34" charset="-120"/>
              </a:rPr>
              <a:t> Save all research artifacts to the repo.</a:t>
            </a:r>
            <a:endParaRPr lang="en-US" sz="675" dirty="0"/>
          </a:p>
        </p:txBody>
      </p:sp>
      <p:sp>
        <p:nvSpPr>
          <p:cNvPr id="17" name="Text 15"/>
          <p:cNvSpPr/>
          <p:nvPr/>
        </p:nvSpPr>
        <p:spPr>
          <a:xfrm>
            <a:off x="3572024" y="0"/>
            <a:ext cx="5571976" cy="5143500"/>
          </a:xfrm>
          <a:prstGeom prst="rect">
            <a:avLst/>
          </a:prstGeom>
          <a:solidFill>
            <a:srgbClr val="F7F8FA"/>
          </a:solidFill>
          <a:ln/>
        </p:spPr>
        <p:txBody>
          <a:bodyPr wrap="square" rtlCol="0" anchor="ctr"/>
          <a:lstStyle/>
          <a:p>
            <a:pPr marL="0" indent="0">
              <a:buNone/>
            </a:pPr>
            <a:endParaRPr lang="en-US" dirty="0"/>
          </a:p>
        </p:txBody>
      </p:sp>
      <p:sp>
        <p:nvSpPr>
          <p:cNvPr id="18" name="Text 16"/>
          <p:cNvSpPr/>
          <p:nvPr/>
        </p:nvSpPr>
        <p:spPr>
          <a:xfrm>
            <a:off x="3876824" y="357336"/>
            <a:ext cx="5061624" cy="173236"/>
          </a:xfrm>
          <a:prstGeom prst="rect">
            <a:avLst/>
          </a:prstGeom>
          <a:noFill/>
          <a:ln/>
        </p:spPr>
        <p:txBody>
          <a:bodyPr wrap="square" lIns="0" tIns="0" rIns="0" bIns="0" rtlCol="0" anchor="t"/>
          <a:lstStyle/>
          <a:p>
            <a:pPr marL="0" indent="0" algn="l">
              <a:lnSpc>
                <a:spcPts val="1365"/>
              </a:lnSpc>
              <a:spcAft>
                <a:spcPts val="1050"/>
              </a:spcAft>
              <a:buNone/>
            </a:pPr>
            <a:r>
              <a:rPr lang="en-US" sz="975" b="1" dirty="0">
                <a:solidFill>
                  <a:srgbClr val="1A1F2E"/>
                </a:solidFill>
                <a:latin typeface="Arial" pitchFamily="34" charset="0"/>
                <a:ea typeface="Arial" pitchFamily="34" charset="-122"/>
                <a:cs typeface="Arial" pitchFamily="34" charset="-120"/>
              </a:rPr>
              <a:t>THREE RESEARCH DIMENSIONS</a:t>
            </a:r>
            <a:endParaRPr lang="en-US" sz="975" dirty="0"/>
          </a:p>
        </p:txBody>
      </p:sp>
      <p:sp>
        <p:nvSpPr>
          <p:cNvPr id="19" name="Text 17"/>
          <p:cNvSpPr/>
          <p:nvPr/>
        </p:nvSpPr>
        <p:spPr>
          <a:xfrm>
            <a:off x="3876824" y="816322"/>
            <a:ext cx="4962376" cy="628650"/>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20" name="Text 18"/>
          <p:cNvSpPr/>
          <p:nvPr/>
        </p:nvSpPr>
        <p:spPr>
          <a:xfrm>
            <a:off x="4019699" y="959197"/>
            <a:ext cx="342900" cy="342900"/>
          </a:xfrm>
          <a:prstGeom prst="rect">
            <a:avLst/>
          </a:prstGeom>
          <a:solidFill>
            <a:srgbClr val="8B5CF6"/>
          </a:solidFill>
          <a:ln/>
        </p:spPr>
        <p:txBody>
          <a:bodyPr wrap="square" rtlCol="0" anchor="ctr"/>
          <a:lstStyle/>
          <a:p>
            <a:pPr marL="0" indent="0">
              <a:buNone/>
            </a:pPr>
            <a:endParaRPr lang="en-US" dirty="0"/>
          </a:p>
        </p:txBody>
      </p:sp>
      <p:sp>
        <p:nvSpPr>
          <p:cNvPr id="21" name="Text 19"/>
          <p:cNvSpPr/>
          <p:nvPr/>
        </p:nvSpPr>
        <p:spPr>
          <a:xfrm>
            <a:off x="4153942" y="1037332"/>
            <a:ext cx="75751" cy="186630"/>
          </a:xfrm>
          <a:prstGeom prst="rect">
            <a:avLst/>
          </a:prstGeom>
          <a:noFill/>
          <a:ln/>
        </p:spPr>
        <p:txBody>
          <a:bodyPr wrap="square" lIns="0" tIns="0" rIns="0" bIns="0" rtlCol="0" anchor="t"/>
          <a:lstStyle/>
          <a:p>
            <a:pPr marL="0" indent="0" algn="l">
              <a:lnSpc>
                <a:spcPts val="1470"/>
              </a:lnSpc>
              <a:buNone/>
            </a:pPr>
            <a:r>
              <a:rPr lang="en-US" sz="1050" b="1" dirty="0">
                <a:solidFill>
                  <a:srgbClr val="FFFFFF"/>
                </a:solidFill>
                <a:latin typeface="Arial" pitchFamily="34" charset="0"/>
                <a:ea typeface="Arial" pitchFamily="34" charset="-122"/>
                <a:cs typeface="Arial" pitchFamily="34" charset="-120"/>
              </a:rPr>
              <a:t>1</a:t>
            </a:r>
            <a:endParaRPr lang="en-US" sz="1050" dirty="0"/>
          </a:p>
        </p:txBody>
      </p:sp>
      <p:sp>
        <p:nvSpPr>
          <p:cNvPr id="22" name="Text 20"/>
          <p:cNvSpPr/>
          <p:nvPr/>
        </p:nvSpPr>
        <p:spPr>
          <a:xfrm>
            <a:off x="4476899" y="987772"/>
            <a:ext cx="4303815" cy="146596"/>
          </a:xfrm>
          <a:prstGeom prst="rect">
            <a:avLst/>
          </a:prstGeom>
          <a:noFill/>
          <a:ln/>
        </p:spPr>
        <p:txBody>
          <a:bodyPr wrap="square" lIns="0" tIns="0" rIns="0" bIns="0" rtlCol="0" anchor="t"/>
          <a:lstStyle/>
          <a:p>
            <a:pPr marL="0" indent="0" algn="l">
              <a:lnSpc>
                <a:spcPts val="1155"/>
              </a:lnSpc>
              <a:spcAft>
                <a:spcPts val="150"/>
              </a:spcAft>
              <a:buNone/>
            </a:pPr>
            <a:r>
              <a:rPr lang="en-US" sz="825" b="1" dirty="0">
                <a:solidFill>
                  <a:srgbClr val="1A1F2E"/>
                </a:solidFill>
                <a:latin typeface="Arial" pitchFamily="34" charset="0"/>
                <a:ea typeface="Arial" pitchFamily="34" charset="-122"/>
                <a:cs typeface="Arial" pitchFamily="34" charset="-120"/>
              </a:rPr>
              <a:t>Subject Matter Research</a:t>
            </a:r>
            <a:endParaRPr lang="en-US" sz="825" dirty="0"/>
          </a:p>
        </p:txBody>
      </p:sp>
      <p:sp>
        <p:nvSpPr>
          <p:cNvPr id="23" name="Text 21"/>
          <p:cNvSpPr/>
          <p:nvPr/>
        </p:nvSpPr>
        <p:spPr>
          <a:xfrm>
            <a:off x="4476899" y="1153418"/>
            <a:ext cx="4303815" cy="119955"/>
          </a:xfrm>
          <a:prstGeom prst="rect">
            <a:avLst/>
          </a:prstGeom>
          <a:noFill/>
          <a:ln/>
        </p:spPr>
        <p:txBody>
          <a:bodyPr wrap="square" lIns="0" tIns="0" rIns="0" bIns="0" rtlCol="0" anchor="t"/>
          <a:lstStyle/>
          <a:p>
            <a:pPr marL="0" indent="0" algn="l">
              <a:lnSpc>
                <a:spcPts val="945"/>
              </a:lnSpc>
              <a:buNone/>
            </a:pPr>
            <a:r>
              <a:rPr lang="en-US" sz="675" dirty="0">
                <a:solidFill>
                  <a:srgbClr val="6B7280"/>
                </a:solidFill>
                <a:latin typeface="Arial" pitchFamily="34" charset="0"/>
                <a:ea typeface="Arial" pitchFamily="34" charset="-122"/>
                <a:cs typeface="Arial" pitchFamily="34" charset="-120"/>
              </a:rPr>
              <a:t>Deep dive into the domain. What does the agent need to know to build this well?</a:t>
            </a:r>
            <a:endParaRPr lang="en-US" sz="675" dirty="0"/>
          </a:p>
        </p:txBody>
      </p:sp>
      <p:sp>
        <p:nvSpPr>
          <p:cNvPr id="24" name="Text 22"/>
          <p:cNvSpPr/>
          <p:nvPr/>
        </p:nvSpPr>
        <p:spPr>
          <a:xfrm>
            <a:off x="3876824" y="1540222"/>
            <a:ext cx="4962376" cy="628650"/>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25" name="Text 23"/>
          <p:cNvSpPr/>
          <p:nvPr/>
        </p:nvSpPr>
        <p:spPr>
          <a:xfrm>
            <a:off x="4019699" y="1683097"/>
            <a:ext cx="342900" cy="342900"/>
          </a:xfrm>
          <a:prstGeom prst="rect">
            <a:avLst/>
          </a:prstGeom>
          <a:solidFill>
            <a:srgbClr val="8B5CF6"/>
          </a:solidFill>
          <a:ln/>
        </p:spPr>
        <p:txBody>
          <a:bodyPr wrap="square" rtlCol="0" anchor="ctr"/>
          <a:lstStyle/>
          <a:p>
            <a:pPr marL="0" indent="0">
              <a:buNone/>
            </a:pPr>
            <a:endParaRPr lang="en-US" dirty="0"/>
          </a:p>
        </p:txBody>
      </p:sp>
      <p:sp>
        <p:nvSpPr>
          <p:cNvPr id="26" name="Text 24"/>
          <p:cNvSpPr/>
          <p:nvPr/>
        </p:nvSpPr>
        <p:spPr>
          <a:xfrm>
            <a:off x="4153942" y="1761232"/>
            <a:ext cx="75751" cy="186630"/>
          </a:xfrm>
          <a:prstGeom prst="rect">
            <a:avLst/>
          </a:prstGeom>
          <a:noFill/>
          <a:ln/>
        </p:spPr>
        <p:txBody>
          <a:bodyPr wrap="square" lIns="0" tIns="0" rIns="0" bIns="0" rtlCol="0" anchor="t"/>
          <a:lstStyle/>
          <a:p>
            <a:pPr marL="0" indent="0" algn="l">
              <a:lnSpc>
                <a:spcPts val="1470"/>
              </a:lnSpc>
              <a:buNone/>
            </a:pPr>
            <a:r>
              <a:rPr lang="en-US" sz="1050" b="1" dirty="0">
                <a:solidFill>
                  <a:srgbClr val="FFFFFF"/>
                </a:solidFill>
                <a:latin typeface="Arial" pitchFamily="34" charset="0"/>
                <a:ea typeface="Arial" pitchFamily="34" charset="-122"/>
                <a:cs typeface="Arial" pitchFamily="34" charset="-120"/>
              </a:rPr>
              <a:t>2</a:t>
            </a:r>
            <a:endParaRPr lang="en-US" sz="1050" dirty="0"/>
          </a:p>
        </p:txBody>
      </p:sp>
      <p:sp>
        <p:nvSpPr>
          <p:cNvPr id="27" name="Text 25"/>
          <p:cNvSpPr/>
          <p:nvPr/>
        </p:nvSpPr>
        <p:spPr>
          <a:xfrm>
            <a:off x="4476899" y="1711672"/>
            <a:ext cx="4303815" cy="146596"/>
          </a:xfrm>
          <a:prstGeom prst="rect">
            <a:avLst/>
          </a:prstGeom>
          <a:noFill/>
          <a:ln/>
        </p:spPr>
        <p:txBody>
          <a:bodyPr wrap="square" lIns="0" tIns="0" rIns="0" bIns="0" rtlCol="0" anchor="t"/>
          <a:lstStyle/>
          <a:p>
            <a:pPr marL="0" indent="0" algn="l">
              <a:lnSpc>
                <a:spcPts val="1155"/>
              </a:lnSpc>
              <a:spcAft>
                <a:spcPts val="150"/>
              </a:spcAft>
              <a:buNone/>
            </a:pPr>
            <a:r>
              <a:rPr lang="en-US" sz="825" b="1" dirty="0">
                <a:solidFill>
                  <a:srgbClr val="1A1F2E"/>
                </a:solidFill>
                <a:latin typeface="Arial" pitchFamily="34" charset="0"/>
                <a:ea typeface="Arial" pitchFamily="34" charset="-122"/>
                <a:cs typeface="Arial" pitchFamily="34" charset="-120"/>
              </a:rPr>
              <a:t>Best Practices &amp; Patterns</a:t>
            </a:r>
            <a:endParaRPr lang="en-US" sz="825" dirty="0"/>
          </a:p>
        </p:txBody>
      </p:sp>
      <p:sp>
        <p:nvSpPr>
          <p:cNvPr id="28" name="Text 26"/>
          <p:cNvSpPr/>
          <p:nvPr/>
        </p:nvSpPr>
        <p:spPr>
          <a:xfrm>
            <a:off x="4476899" y="1877318"/>
            <a:ext cx="4303815" cy="119955"/>
          </a:xfrm>
          <a:prstGeom prst="rect">
            <a:avLst/>
          </a:prstGeom>
          <a:noFill/>
          <a:ln/>
        </p:spPr>
        <p:txBody>
          <a:bodyPr wrap="square" lIns="0" tIns="0" rIns="0" bIns="0" rtlCol="0" anchor="t"/>
          <a:lstStyle/>
          <a:p>
            <a:pPr marL="0" indent="0" algn="l">
              <a:lnSpc>
                <a:spcPts val="945"/>
              </a:lnSpc>
              <a:buNone/>
            </a:pPr>
            <a:r>
              <a:rPr lang="en-US" sz="675" dirty="0">
                <a:solidFill>
                  <a:srgbClr val="6B7280"/>
                </a:solidFill>
                <a:latin typeface="Arial" pitchFamily="34" charset="0"/>
                <a:ea typeface="Arial" pitchFamily="34" charset="-122"/>
                <a:cs typeface="Arial" pitchFamily="34" charset="-120"/>
              </a:rPr>
              <a:t>Current industry standards. How are the best teams solving similar problems?</a:t>
            </a:r>
            <a:endParaRPr lang="en-US" sz="675" dirty="0"/>
          </a:p>
        </p:txBody>
      </p:sp>
      <p:sp>
        <p:nvSpPr>
          <p:cNvPr id="29" name="Text 27"/>
          <p:cNvSpPr/>
          <p:nvPr/>
        </p:nvSpPr>
        <p:spPr>
          <a:xfrm>
            <a:off x="3876824" y="2264122"/>
            <a:ext cx="4962376" cy="628650"/>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30" name="Text 28"/>
          <p:cNvSpPr/>
          <p:nvPr/>
        </p:nvSpPr>
        <p:spPr>
          <a:xfrm>
            <a:off x="4019699" y="2406997"/>
            <a:ext cx="342900" cy="342900"/>
          </a:xfrm>
          <a:prstGeom prst="rect">
            <a:avLst/>
          </a:prstGeom>
          <a:solidFill>
            <a:srgbClr val="8B5CF6"/>
          </a:solidFill>
          <a:ln/>
        </p:spPr>
        <p:txBody>
          <a:bodyPr wrap="square" rtlCol="0" anchor="ctr"/>
          <a:lstStyle/>
          <a:p>
            <a:pPr marL="0" indent="0">
              <a:buNone/>
            </a:pPr>
            <a:endParaRPr lang="en-US" dirty="0"/>
          </a:p>
        </p:txBody>
      </p:sp>
      <p:sp>
        <p:nvSpPr>
          <p:cNvPr id="31" name="Text 29"/>
          <p:cNvSpPr/>
          <p:nvPr/>
        </p:nvSpPr>
        <p:spPr>
          <a:xfrm>
            <a:off x="4153942" y="2485132"/>
            <a:ext cx="75751" cy="186630"/>
          </a:xfrm>
          <a:prstGeom prst="rect">
            <a:avLst/>
          </a:prstGeom>
          <a:noFill/>
          <a:ln/>
        </p:spPr>
        <p:txBody>
          <a:bodyPr wrap="square" lIns="0" tIns="0" rIns="0" bIns="0" rtlCol="0" anchor="t"/>
          <a:lstStyle/>
          <a:p>
            <a:pPr marL="0" indent="0" algn="l">
              <a:lnSpc>
                <a:spcPts val="1470"/>
              </a:lnSpc>
              <a:buNone/>
            </a:pPr>
            <a:r>
              <a:rPr lang="en-US" sz="1050" b="1" dirty="0">
                <a:solidFill>
                  <a:srgbClr val="FFFFFF"/>
                </a:solidFill>
                <a:latin typeface="Arial" pitchFamily="34" charset="0"/>
                <a:ea typeface="Arial" pitchFamily="34" charset="-122"/>
                <a:cs typeface="Arial" pitchFamily="34" charset="-120"/>
              </a:rPr>
              <a:t>3</a:t>
            </a:r>
            <a:endParaRPr lang="en-US" sz="1050" dirty="0"/>
          </a:p>
        </p:txBody>
      </p:sp>
      <p:sp>
        <p:nvSpPr>
          <p:cNvPr id="32" name="Text 30"/>
          <p:cNvSpPr/>
          <p:nvPr/>
        </p:nvSpPr>
        <p:spPr>
          <a:xfrm>
            <a:off x="4476899" y="2435572"/>
            <a:ext cx="4303815" cy="146596"/>
          </a:xfrm>
          <a:prstGeom prst="rect">
            <a:avLst/>
          </a:prstGeom>
          <a:noFill/>
          <a:ln/>
        </p:spPr>
        <p:txBody>
          <a:bodyPr wrap="square" lIns="0" tIns="0" rIns="0" bIns="0" rtlCol="0" anchor="t"/>
          <a:lstStyle/>
          <a:p>
            <a:pPr marL="0" indent="0" algn="l">
              <a:lnSpc>
                <a:spcPts val="1155"/>
              </a:lnSpc>
              <a:spcAft>
                <a:spcPts val="150"/>
              </a:spcAft>
              <a:buNone/>
            </a:pPr>
            <a:r>
              <a:rPr lang="en-US" sz="825" b="1" dirty="0">
                <a:solidFill>
                  <a:srgbClr val="1A1F2E"/>
                </a:solidFill>
                <a:latin typeface="Arial" pitchFamily="34" charset="0"/>
                <a:ea typeface="Arial" pitchFamily="34" charset="-122"/>
                <a:cs typeface="Arial" pitchFamily="34" charset="-120"/>
              </a:rPr>
              <a:t>Competitive Landscape</a:t>
            </a:r>
            <a:endParaRPr lang="en-US" sz="825" dirty="0"/>
          </a:p>
        </p:txBody>
      </p:sp>
      <p:sp>
        <p:nvSpPr>
          <p:cNvPr id="33" name="Text 31"/>
          <p:cNvSpPr/>
          <p:nvPr/>
        </p:nvSpPr>
        <p:spPr>
          <a:xfrm>
            <a:off x="4476899" y="2601218"/>
            <a:ext cx="4303815" cy="119955"/>
          </a:xfrm>
          <a:prstGeom prst="rect">
            <a:avLst/>
          </a:prstGeom>
          <a:noFill/>
          <a:ln/>
        </p:spPr>
        <p:txBody>
          <a:bodyPr wrap="square" lIns="0" tIns="0" rIns="0" bIns="0" rtlCol="0" anchor="t"/>
          <a:lstStyle/>
          <a:p>
            <a:pPr marL="0" indent="0" algn="l">
              <a:lnSpc>
                <a:spcPts val="945"/>
              </a:lnSpc>
              <a:buNone/>
            </a:pPr>
            <a:r>
              <a:rPr lang="en-US" sz="675" dirty="0">
                <a:solidFill>
                  <a:srgbClr val="6B7280"/>
                </a:solidFill>
                <a:latin typeface="Arial" pitchFamily="34" charset="0"/>
                <a:ea typeface="Arial" pitchFamily="34" charset="-122"/>
                <a:cs typeface="Arial" pitchFamily="34" charset="-120"/>
              </a:rPr>
              <a:t>What products exist? What works well? What gaps can you fill?</a:t>
            </a:r>
            <a:endParaRPr lang="en-US" sz="675" dirty="0"/>
          </a:p>
        </p:txBody>
      </p:sp>
      <p:sp>
        <p:nvSpPr>
          <p:cNvPr id="34" name="Text 32"/>
          <p:cNvSpPr/>
          <p:nvPr/>
        </p:nvSpPr>
        <p:spPr>
          <a:xfrm>
            <a:off x="3876824" y="3178522"/>
            <a:ext cx="4962376" cy="700980"/>
          </a:xfrm>
          <a:prstGeom prst="rect">
            <a:avLst/>
          </a:prstGeom>
          <a:solidFill>
            <a:srgbClr val="1A1F2E"/>
          </a:solidFill>
          <a:ln/>
        </p:spPr>
        <p:txBody>
          <a:bodyPr wrap="square" rtlCol="0" anchor="ctr"/>
          <a:lstStyle/>
          <a:p>
            <a:pPr marL="0" indent="0">
              <a:buNone/>
            </a:pPr>
            <a:endParaRPr lang="en-US" dirty="0"/>
          </a:p>
        </p:txBody>
      </p:sp>
      <p:sp>
        <p:nvSpPr>
          <p:cNvPr id="35" name="Text 33"/>
          <p:cNvSpPr/>
          <p:nvPr/>
        </p:nvSpPr>
        <p:spPr>
          <a:xfrm>
            <a:off x="4010174" y="3311872"/>
            <a:ext cx="4789590" cy="119955"/>
          </a:xfrm>
          <a:prstGeom prst="rect">
            <a:avLst/>
          </a:prstGeom>
          <a:noFill/>
          <a:ln/>
        </p:spPr>
        <p:txBody>
          <a:bodyPr wrap="square" lIns="0" tIns="0" rIns="0" bIns="0" rtlCol="0" anchor="t"/>
          <a:lstStyle/>
          <a:p>
            <a:pPr marL="0" indent="0" algn="l">
              <a:lnSpc>
                <a:spcPts val="945"/>
              </a:lnSpc>
              <a:spcAft>
                <a:spcPts val="450"/>
              </a:spcAft>
              <a:buNone/>
            </a:pPr>
            <a:r>
              <a:rPr lang="en-US" sz="675" dirty="0">
                <a:solidFill>
                  <a:srgbClr val="C9A227"/>
                </a:solidFill>
                <a:latin typeface="Arial" pitchFamily="34" charset="0"/>
                <a:ea typeface="Arial" pitchFamily="34" charset="-122"/>
                <a:cs typeface="Arial" pitchFamily="34" charset="-120"/>
              </a:rPr>
              <a:t>VOICE PROMPT EXAMPLE</a:t>
            </a:r>
            <a:endParaRPr lang="en-US" sz="675" dirty="0"/>
          </a:p>
        </p:txBody>
      </p:sp>
      <p:sp>
        <p:nvSpPr>
          <p:cNvPr id="36" name="Text 34"/>
          <p:cNvSpPr/>
          <p:nvPr/>
        </p:nvSpPr>
        <p:spPr>
          <a:xfrm>
            <a:off x="4010174" y="3488978"/>
            <a:ext cx="4789590" cy="257175"/>
          </a:xfrm>
          <a:prstGeom prst="rect">
            <a:avLst/>
          </a:prstGeom>
          <a:noFill/>
          <a:ln/>
        </p:spPr>
        <p:txBody>
          <a:bodyPr wrap="square" lIns="0" tIns="0" rIns="0" bIns="0" rtlCol="0" anchor="t"/>
          <a:lstStyle/>
          <a:p>
            <a:pPr marL="0" indent="0" algn="l">
              <a:lnSpc>
                <a:spcPts val="1013"/>
              </a:lnSpc>
              <a:buNone/>
            </a:pPr>
            <a:r>
              <a:rPr lang="en-US" sz="675" dirty="0">
                <a:solidFill>
                  <a:srgbClr val="FFFFFF">
                    <a:alpha val="80000"/>
                  </a:srgbClr>
                </a:solidFill>
                <a:latin typeface="Arial" pitchFamily="34" charset="0"/>
                <a:ea typeface="Arial" pitchFamily="34" charset="-122"/>
                <a:cs typeface="Arial" pitchFamily="34" charset="-120"/>
              </a:rPr>
              <a:t>"Research the current state of [topic]. Look at what tools exist, how teams are solving this, and what the best practices are. Save your findings to docs/research/"</a:t>
            </a:r>
            <a:endParaRPr lang="en-US" sz="675" dirty="0"/>
          </a:p>
        </p:txBody>
      </p:sp>
      <p:sp>
        <p:nvSpPr>
          <p:cNvPr id="37" name="Text 35"/>
          <p:cNvSpPr/>
          <p:nvPr/>
        </p:nvSpPr>
        <p:spPr>
          <a:xfrm>
            <a:off x="3876824" y="4146203"/>
            <a:ext cx="4962376" cy="639961"/>
          </a:xfrm>
          <a:prstGeom prst="rect">
            <a:avLst/>
          </a:prstGeom>
          <a:solidFill>
            <a:srgbClr val="DBEAFE"/>
          </a:solidFill>
          <a:ln/>
        </p:spPr>
        <p:txBody>
          <a:bodyPr wrap="square" rtlCol="0" anchor="ctr"/>
          <a:lstStyle/>
          <a:p>
            <a:pPr marL="0" indent="0">
              <a:buNone/>
            </a:pPr>
            <a:endParaRPr lang="en-US" dirty="0"/>
          </a:p>
        </p:txBody>
      </p:sp>
      <p:sp>
        <p:nvSpPr>
          <p:cNvPr id="38" name="Shape 36"/>
          <p:cNvSpPr/>
          <p:nvPr/>
        </p:nvSpPr>
        <p:spPr>
          <a:xfrm>
            <a:off x="3891111" y="4146203"/>
            <a:ext cx="0" cy="639961"/>
          </a:xfrm>
          <a:prstGeom prst="line">
            <a:avLst/>
          </a:prstGeom>
          <a:noFill/>
          <a:ln w="28575">
            <a:solidFill>
              <a:srgbClr val="3B82F6"/>
            </a:solidFill>
            <a:prstDash val="solid"/>
          </a:ln>
        </p:spPr>
        <p:txBody>
          <a:bodyPr/>
          <a:lstStyle/>
          <a:p>
            <a:endParaRPr lang="en-US"/>
          </a:p>
        </p:txBody>
      </p:sp>
      <p:sp>
        <p:nvSpPr>
          <p:cNvPr id="39" name="Text 37"/>
          <p:cNvSpPr/>
          <p:nvPr/>
        </p:nvSpPr>
        <p:spPr>
          <a:xfrm>
            <a:off x="4019699" y="4260503"/>
            <a:ext cx="4799305"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1E40AF"/>
                </a:solidFill>
                <a:latin typeface="Arial" pitchFamily="34" charset="0"/>
                <a:ea typeface="Arial" pitchFamily="34" charset="-122"/>
                <a:cs typeface="Arial" pitchFamily="34" charset="-120"/>
              </a:rPr>
              <a:t>OUTPUT FORMAT</a:t>
            </a:r>
            <a:endParaRPr lang="en-US" sz="750" dirty="0"/>
          </a:p>
        </p:txBody>
      </p:sp>
      <p:sp>
        <p:nvSpPr>
          <p:cNvPr id="40" name="Text 38"/>
          <p:cNvSpPr/>
          <p:nvPr/>
        </p:nvSpPr>
        <p:spPr>
          <a:xfrm>
            <a:off x="4019699" y="4431953"/>
            <a:ext cx="4799305" cy="239911"/>
          </a:xfrm>
          <a:prstGeom prst="rect">
            <a:avLst/>
          </a:prstGeom>
          <a:noFill/>
          <a:ln/>
        </p:spPr>
        <p:txBody>
          <a:bodyPr wrap="square" lIns="0" tIns="0" rIns="0" bIns="0" rtlCol="0" anchor="t"/>
          <a:lstStyle/>
          <a:p>
            <a:pPr marL="0" indent="0" algn="l">
              <a:lnSpc>
                <a:spcPts val="945"/>
              </a:lnSpc>
              <a:buNone/>
            </a:pPr>
            <a:r>
              <a:rPr lang="en-US" sz="675" dirty="0">
                <a:solidFill>
                  <a:srgbClr val="1E40AF"/>
                </a:solidFill>
                <a:latin typeface="Arial" pitchFamily="34" charset="0"/>
                <a:ea typeface="Arial" pitchFamily="34" charset="-122"/>
                <a:cs typeface="Arial" pitchFamily="34" charset="-120"/>
              </a:rPr>
              <a:t>Markdown files in docs/research/: competitive-analysis.md, best-practices.md, domain-knowledge.md. These become context for later phases.</a:t>
            </a:r>
            <a:endParaRPr lang="en-US" sz="675"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0" y="0"/>
            <a:ext cx="3419624" cy="5143500"/>
          </a:xfrm>
          <a:prstGeom prst="rect">
            <a:avLst/>
          </a:prstGeom>
          <a:solidFill>
            <a:srgbClr val="1A1F2E"/>
          </a:solidFill>
          <a:ln/>
        </p:spPr>
        <p:txBody>
          <a:bodyPr wrap="square" rtlCol="0" anchor="ctr"/>
          <a:lstStyle/>
          <a:p>
            <a:pPr marL="0" indent="0">
              <a:buNone/>
            </a:pPr>
            <a:endParaRPr lang="en-US" dirty="0"/>
          </a:p>
        </p:txBody>
      </p:sp>
      <p:sp>
        <p:nvSpPr>
          <p:cNvPr id="3" name="Text 1"/>
          <p:cNvSpPr/>
          <p:nvPr/>
        </p:nvSpPr>
        <p:spPr>
          <a:xfrm>
            <a:off x="304800" y="287834"/>
            <a:ext cx="981373" cy="234255"/>
          </a:xfrm>
          <a:prstGeom prst="rect">
            <a:avLst/>
          </a:prstGeom>
          <a:solidFill>
            <a:srgbClr val="F59E0B"/>
          </a:solidFill>
          <a:ln/>
        </p:spPr>
        <p:txBody>
          <a:bodyPr wrap="square" rtlCol="0" anchor="ctr"/>
          <a:lstStyle/>
          <a:p>
            <a:pPr marL="0" indent="0">
              <a:buNone/>
            </a:pPr>
            <a:endParaRPr lang="en-US" dirty="0"/>
          </a:p>
        </p:txBody>
      </p:sp>
      <p:sp>
        <p:nvSpPr>
          <p:cNvPr id="4" name="Text 2"/>
          <p:cNvSpPr/>
          <p:nvPr/>
        </p:nvSpPr>
        <p:spPr>
          <a:xfrm>
            <a:off x="419100" y="344984"/>
            <a:ext cx="767828" cy="119955"/>
          </a:xfrm>
          <a:prstGeom prst="rect">
            <a:avLst/>
          </a:prstGeom>
          <a:noFill/>
          <a:ln/>
        </p:spPr>
        <p:txBody>
          <a:bodyPr wrap="square" lIns="0" tIns="0" rIns="0" bIns="0" rtlCol="0" anchor="t"/>
          <a:lstStyle/>
          <a:p>
            <a:pPr marL="0" indent="0" algn="l">
              <a:lnSpc>
                <a:spcPts val="945"/>
              </a:lnSpc>
              <a:buNone/>
            </a:pPr>
            <a:r>
              <a:rPr lang="en-US" sz="675" b="1" dirty="0">
                <a:solidFill>
                  <a:srgbClr val="1A1F2E"/>
                </a:solidFill>
                <a:latin typeface="Arial" pitchFamily="34" charset="0"/>
                <a:ea typeface="Arial" pitchFamily="34" charset="-122"/>
                <a:cs typeface="Arial" pitchFamily="34" charset="-120"/>
              </a:rPr>
              <a:t>PHASE 4 OF 10</a:t>
            </a:r>
            <a:endParaRPr lang="en-US" sz="675" dirty="0"/>
          </a:p>
        </p:txBody>
      </p:sp>
      <p:sp>
        <p:nvSpPr>
          <p:cNvPr id="5" name="Text 3"/>
          <p:cNvSpPr/>
          <p:nvPr/>
        </p:nvSpPr>
        <p:spPr>
          <a:xfrm>
            <a:off x="304800" y="788789"/>
            <a:ext cx="1437894" cy="639961"/>
          </a:xfrm>
          <a:prstGeom prst="rect">
            <a:avLst/>
          </a:prstGeom>
          <a:noFill/>
          <a:ln/>
        </p:spPr>
        <p:txBody>
          <a:bodyPr wrap="square" lIns="0" tIns="0" rIns="0" bIns="0" rtlCol="0" anchor="t"/>
          <a:lstStyle/>
          <a:p>
            <a:pPr marL="0" indent="0" algn="l">
              <a:lnSpc>
                <a:spcPts val="2520"/>
              </a:lnSpc>
              <a:spcAft>
                <a:spcPts val="900"/>
              </a:spcAft>
              <a:buNone/>
            </a:pPr>
            <a:r>
              <a:rPr lang="en-US" sz="2100" dirty="0">
                <a:solidFill>
                  <a:srgbClr val="FFFFFF"/>
                </a:solidFill>
                <a:latin typeface="Georgia" pitchFamily="34" charset="0"/>
                <a:ea typeface="Georgia" pitchFamily="34" charset="-122"/>
                <a:cs typeface="Georgia" pitchFamily="34" charset="-120"/>
              </a:rPr>
              <a:t>Planning</a:t>
            </a:r>
            <a:endParaRPr lang="en-US" sz="2100" dirty="0"/>
          </a:p>
          <a:p>
            <a:pPr marL="0" indent="0" algn="l">
              <a:lnSpc>
                <a:spcPts val="2520"/>
              </a:lnSpc>
              <a:spcAft>
                <a:spcPts val="900"/>
              </a:spcAft>
              <a:buNone/>
            </a:pPr>
            <a:r>
              <a:rPr lang="en-US" sz="2100" dirty="0">
                <a:solidFill>
                  <a:srgbClr val="FFFFFF"/>
                </a:solidFill>
                <a:latin typeface="Georgia" pitchFamily="34" charset="0"/>
                <a:ea typeface="Georgia" pitchFamily="34" charset="-122"/>
                <a:cs typeface="Georgia" pitchFamily="34" charset="-120"/>
              </a:rPr>
              <a:t>Session</a:t>
            </a:r>
            <a:endParaRPr lang="en-US" sz="2100" dirty="0"/>
          </a:p>
        </p:txBody>
      </p:sp>
      <p:sp>
        <p:nvSpPr>
          <p:cNvPr id="6" name="Text 4"/>
          <p:cNvSpPr/>
          <p:nvPr/>
        </p:nvSpPr>
        <p:spPr>
          <a:xfrm>
            <a:off x="304800" y="2000250"/>
            <a:ext cx="2810024" cy="784771"/>
          </a:xfrm>
          <a:prstGeom prst="rect">
            <a:avLst/>
          </a:prstGeom>
          <a:solidFill>
            <a:srgbClr val="C9A227">
              <a:alpha val="15000"/>
            </a:srgbClr>
          </a:solidFill>
          <a:ln/>
        </p:spPr>
        <p:txBody>
          <a:bodyPr wrap="square" rtlCol="0" anchor="ctr"/>
          <a:lstStyle/>
          <a:p>
            <a:pPr marL="0" indent="0">
              <a:buNone/>
            </a:pPr>
            <a:endParaRPr lang="en-US" dirty="0"/>
          </a:p>
        </p:txBody>
      </p:sp>
      <p:sp>
        <p:nvSpPr>
          <p:cNvPr id="7" name="Shape 5"/>
          <p:cNvSpPr/>
          <p:nvPr/>
        </p:nvSpPr>
        <p:spPr>
          <a:xfrm>
            <a:off x="319088" y="2000250"/>
            <a:ext cx="0" cy="784771"/>
          </a:xfrm>
          <a:prstGeom prst="line">
            <a:avLst/>
          </a:prstGeom>
          <a:noFill/>
          <a:ln w="28575">
            <a:solidFill>
              <a:srgbClr val="C9A227"/>
            </a:solidFill>
            <a:prstDash val="solid"/>
          </a:ln>
        </p:spPr>
        <p:txBody>
          <a:bodyPr/>
          <a:lstStyle/>
          <a:p>
            <a:endParaRPr lang="en-US"/>
          </a:p>
        </p:txBody>
      </p:sp>
      <p:sp>
        <p:nvSpPr>
          <p:cNvPr id="8" name="Text 6"/>
          <p:cNvSpPr/>
          <p:nvPr/>
        </p:nvSpPr>
        <p:spPr>
          <a:xfrm>
            <a:off x="466725" y="2133600"/>
            <a:ext cx="2565044" cy="146596"/>
          </a:xfrm>
          <a:prstGeom prst="rect">
            <a:avLst/>
          </a:prstGeom>
          <a:noFill/>
          <a:ln/>
        </p:spPr>
        <p:txBody>
          <a:bodyPr wrap="square" lIns="0" tIns="0" rIns="0" bIns="0" rtlCol="0" anchor="t"/>
          <a:lstStyle/>
          <a:p>
            <a:pPr marL="0" indent="0" algn="l">
              <a:lnSpc>
                <a:spcPts val="1155"/>
              </a:lnSpc>
              <a:spcAft>
                <a:spcPts val="450"/>
              </a:spcAft>
              <a:buNone/>
            </a:pPr>
            <a:r>
              <a:rPr lang="en-US" sz="825" b="1" dirty="0">
                <a:solidFill>
                  <a:srgbClr val="C9A227"/>
                </a:solidFill>
                <a:latin typeface="Arial" pitchFamily="34" charset="0"/>
                <a:ea typeface="Arial" pitchFamily="34" charset="-122"/>
                <a:cs typeface="Arial" pitchFamily="34" charset="-120"/>
              </a:rPr>
              <a:t>THE OBJECTIVE</a:t>
            </a:r>
            <a:endParaRPr lang="en-US" sz="825" dirty="0"/>
          </a:p>
        </p:txBody>
      </p:sp>
      <p:sp>
        <p:nvSpPr>
          <p:cNvPr id="9" name="Text 7"/>
          <p:cNvSpPr/>
          <p:nvPr/>
        </p:nvSpPr>
        <p:spPr>
          <a:xfrm>
            <a:off x="466725" y="2337346"/>
            <a:ext cx="2565044" cy="314325"/>
          </a:xfrm>
          <a:prstGeom prst="rect">
            <a:avLst/>
          </a:prstGeom>
          <a:noFill/>
          <a:ln/>
        </p:spPr>
        <p:txBody>
          <a:bodyPr wrap="square" lIns="0" tIns="0" rIns="0" bIns="0" rtlCol="0" anchor="t"/>
          <a:lstStyle/>
          <a:p>
            <a:pPr marL="0" indent="0" algn="l">
              <a:lnSpc>
                <a:spcPts val="1238"/>
              </a:lnSpc>
              <a:buNone/>
            </a:pPr>
            <a:r>
              <a:rPr lang="en-US" sz="825" dirty="0">
                <a:solidFill>
                  <a:srgbClr val="FFFFFF">
                    <a:alpha val="80000"/>
                  </a:srgbClr>
                </a:solidFill>
                <a:latin typeface="Arial" pitchFamily="34" charset="0"/>
                <a:ea typeface="Arial" pitchFamily="34" charset="-122"/>
                <a:cs typeface="Arial" pitchFamily="34" charset="-120"/>
              </a:rPr>
              <a:t>Define what you're building. Not the full spec yet, just clear deliverables and their purposes.</a:t>
            </a:r>
            <a:endParaRPr lang="en-US" sz="825" dirty="0"/>
          </a:p>
        </p:txBody>
      </p:sp>
      <p:sp>
        <p:nvSpPr>
          <p:cNvPr id="10" name="Text 8"/>
          <p:cNvSpPr/>
          <p:nvPr/>
        </p:nvSpPr>
        <p:spPr>
          <a:xfrm>
            <a:off x="304800" y="3089821"/>
            <a:ext cx="2810024" cy="1099096"/>
          </a:xfrm>
          <a:prstGeom prst="rect">
            <a:avLst/>
          </a:prstGeom>
          <a:solidFill>
            <a:srgbClr val="FFFFFF">
              <a:alpha val="5000"/>
            </a:srgbClr>
          </a:solidFill>
          <a:ln/>
        </p:spPr>
        <p:txBody>
          <a:bodyPr wrap="square" rtlCol="0" anchor="ctr"/>
          <a:lstStyle/>
          <a:p>
            <a:pPr marL="0" indent="0">
              <a:buNone/>
            </a:pPr>
            <a:endParaRPr lang="en-US" dirty="0"/>
          </a:p>
        </p:txBody>
      </p:sp>
      <p:sp>
        <p:nvSpPr>
          <p:cNvPr id="11" name="Text 9"/>
          <p:cNvSpPr/>
          <p:nvPr/>
        </p:nvSpPr>
        <p:spPr>
          <a:xfrm>
            <a:off x="438150" y="3223171"/>
            <a:ext cx="2594190" cy="146596"/>
          </a:xfrm>
          <a:prstGeom prst="rect">
            <a:avLst/>
          </a:prstGeom>
          <a:noFill/>
          <a:ln/>
        </p:spPr>
        <p:txBody>
          <a:bodyPr wrap="square" lIns="0" tIns="0" rIns="0" bIns="0" rtlCol="0" anchor="t"/>
          <a:lstStyle/>
          <a:p>
            <a:pPr marL="0" indent="0" algn="l">
              <a:lnSpc>
                <a:spcPts val="1155"/>
              </a:lnSpc>
              <a:spcAft>
                <a:spcPts val="600"/>
              </a:spcAft>
              <a:buNone/>
            </a:pPr>
            <a:r>
              <a:rPr lang="en-US" sz="825" b="1" dirty="0">
                <a:solidFill>
                  <a:srgbClr val="FFFFFF"/>
                </a:solidFill>
                <a:latin typeface="Arial" pitchFamily="34" charset="0"/>
                <a:ea typeface="Arial" pitchFamily="34" charset="-122"/>
                <a:cs typeface="Arial" pitchFamily="34" charset="-120"/>
              </a:rPr>
              <a:t>PLANNING OUTPUTS</a:t>
            </a:r>
            <a:endParaRPr lang="en-US" sz="825" dirty="0"/>
          </a:p>
        </p:txBody>
      </p:sp>
      <p:sp>
        <p:nvSpPr>
          <p:cNvPr id="12" name="Text 10"/>
          <p:cNvSpPr/>
          <p:nvPr/>
        </p:nvSpPr>
        <p:spPr>
          <a:xfrm>
            <a:off x="438150" y="3445966"/>
            <a:ext cx="2594190" cy="609600"/>
          </a:xfrm>
          <a:prstGeom prst="rect">
            <a:avLst/>
          </a:prstGeom>
          <a:noFill/>
          <a:ln/>
        </p:spPr>
        <p:txBody>
          <a:bodyPr wrap="square" lIns="0" tIns="0" rIns="0" bIns="0" rtlCol="0" anchor="t"/>
          <a:lstStyle/>
          <a:p>
            <a:pPr marL="0" indent="0" algn="l">
              <a:lnSpc>
                <a:spcPts val="1200"/>
              </a:lnSpc>
              <a:buNone/>
            </a:pPr>
            <a:r>
              <a:rPr lang="en-US" sz="750" dirty="0">
                <a:solidFill>
                  <a:srgbClr val="FFFFFF">
                    <a:alpha val="60000"/>
                  </a:srgbClr>
                </a:solidFill>
                <a:latin typeface="Arial" pitchFamily="34" charset="0"/>
                <a:ea typeface="Arial" pitchFamily="34" charset="-122"/>
                <a:cs typeface="Arial" pitchFamily="34" charset="-120"/>
              </a:rPr>
              <a:t>List of deliverables</a:t>
            </a:r>
            <a:endParaRPr lang="en-US" sz="750" dirty="0"/>
          </a:p>
          <a:p>
            <a:pPr marL="0" indent="0" algn="l">
              <a:lnSpc>
                <a:spcPts val="1200"/>
              </a:lnSpc>
              <a:buNone/>
            </a:pPr>
            <a:r>
              <a:rPr lang="en-US" sz="750" dirty="0">
                <a:solidFill>
                  <a:srgbClr val="FFFFFF">
                    <a:alpha val="60000"/>
                  </a:srgbClr>
                </a:solidFill>
                <a:latin typeface="Arial" pitchFamily="34" charset="0"/>
                <a:ea typeface="Arial" pitchFamily="34" charset="-122"/>
                <a:cs typeface="Arial" pitchFamily="34" charset="-120"/>
              </a:rPr>
              <a:t> Objective for each</a:t>
            </a:r>
            <a:endParaRPr lang="en-US" sz="750" dirty="0"/>
          </a:p>
          <a:p>
            <a:pPr marL="0" indent="0" algn="l">
              <a:lnSpc>
                <a:spcPts val="1200"/>
              </a:lnSpc>
              <a:buNone/>
            </a:pPr>
            <a:r>
              <a:rPr lang="en-US" sz="750" dirty="0">
                <a:solidFill>
                  <a:srgbClr val="FFFFFF">
                    <a:alpha val="60000"/>
                  </a:srgbClr>
                </a:solidFill>
                <a:latin typeface="Arial" pitchFamily="34" charset="0"/>
                <a:ea typeface="Arial" pitchFamily="34" charset="-122"/>
                <a:cs typeface="Arial" pitchFamily="34" charset="-120"/>
              </a:rPr>
              <a:t> Success criteria</a:t>
            </a:r>
            <a:endParaRPr lang="en-US" sz="750" dirty="0"/>
          </a:p>
          <a:p>
            <a:pPr marL="0" indent="0" algn="l">
              <a:lnSpc>
                <a:spcPts val="1200"/>
              </a:lnSpc>
              <a:buNone/>
            </a:pPr>
            <a:r>
              <a:rPr lang="en-US" sz="750" dirty="0">
                <a:solidFill>
                  <a:srgbClr val="FFFFFF">
                    <a:alpha val="60000"/>
                  </a:srgbClr>
                </a:solidFill>
                <a:latin typeface="Arial" pitchFamily="34" charset="0"/>
                <a:ea typeface="Arial" pitchFamily="34" charset="-122"/>
                <a:cs typeface="Arial" pitchFamily="34" charset="-120"/>
              </a:rPr>
              <a:t> Initial build plan</a:t>
            </a:r>
            <a:endParaRPr lang="en-US" sz="750" dirty="0"/>
          </a:p>
        </p:txBody>
      </p:sp>
      <p:sp>
        <p:nvSpPr>
          <p:cNvPr id="13" name="Text 11"/>
          <p:cNvSpPr/>
          <p:nvPr/>
        </p:nvSpPr>
        <p:spPr>
          <a:xfrm>
            <a:off x="304800" y="4493716"/>
            <a:ext cx="2810024" cy="361950"/>
          </a:xfrm>
          <a:prstGeom prst="rect">
            <a:avLst/>
          </a:prstGeom>
          <a:solidFill>
            <a:srgbClr val="C9A227"/>
          </a:solidFill>
          <a:ln/>
        </p:spPr>
        <p:txBody>
          <a:bodyPr wrap="square" rtlCol="0" anchor="ctr"/>
          <a:lstStyle/>
          <a:p>
            <a:pPr marL="0" indent="0">
              <a:buNone/>
            </a:pPr>
            <a:endParaRPr lang="en-US" dirty="0"/>
          </a:p>
        </p:txBody>
      </p:sp>
      <p:sp>
        <p:nvSpPr>
          <p:cNvPr id="14" name="Text 12"/>
          <p:cNvSpPr/>
          <p:nvPr/>
        </p:nvSpPr>
        <p:spPr>
          <a:xfrm>
            <a:off x="393286" y="4608016"/>
            <a:ext cx="2633052" cy="133350"/>
          </a:xfrm>
          <a:prstGeom prst="rect">
            <a:avLst/>
          </a:prstGeom>
          <a:noFill/>
          <a:ln/>
        </p:spPr>
        <p:txBody>
          <a:bodyPr wrap="square" lIns="0" tIns="0" rIns="0" bIns="0" rtlCol="0" anchor="t"/>
          <a:lstStyle/>
          <a:p>
            <a:pPr marL="0" indent="0" algn="ctr">
              <a:lnSpc>
                <a:spcPts val="1050"/>
              </a:lnSpc>
              <a:buNone/>
            </a:pPr>
            <a:r>
              <a:rPr lang="en-US" sz="750" b="1" dirty="0">
                <a:solidFill>
                  <a:srgbClr val="1A1F2E"/>
                </a:solidFill>
                <a:latin typeface="Arial" pitchFamily="34" charset="0"/>
                <a:ea typeface="Arial" pitchFamily="34" charset="-122"/>
                <a:cs typeface="Arial" pitchFamily="34" charset="-120"/>
              </a:rPr>
              <a:t>This is strategy, not specification</a:t>
            </a:r>
            <a:endParaRPr lang="en-US" sz="750" dirty="0"/>
          </a:p>
        </p:txBody>
      </p:sp>
      <p:sp>
        <p:nvSpPr>
          <p:cNvPr id="15" name="Text 13"/>
          <p:cNvSpPr/>
          <p:nvPr/>
        </p:nvSpPr>
        <p:spPr>
          <a:xfrm>
            <a:off x="3572024" y="0"/>
            <a:ext cx="5571976" cy="5143500"/>
          </a:xfrm>
          <a:prstGeom prst="rect">
            <a:avLst/>
          </a:prstGeom>
          <a:solidFill>
            <a:srgbClr val="F7F8FA"/>
          </a:solidFill>
          <a:ln/>
        </p:spPr>
        <p:txBody>
          <a:bodyPr wrap="square" rtlCol="0" anchor="ctr"/>
          <a:lstStyle/>
          <a:p>
            <a:pPr marL="0" indent="0">
              <a:buNone/>
            </a:pPr>
            <a:endParaRPr lang="en-US" dirty="0"/>
          </a:p>
        </p:txBody>
      </p:sp>
      <p:sp>
        <p:nvSpPr>
          <p:cNvPr id="16" name="Text 14"/>
          <p:cNvSpPr/>
          <p:nvPr/>
        </p:nvSpPr>
        <p:spPr>
          <a:xfrm>
            <a:off x="3876824" y="511969"/>
            <a:ext cx="5061624" cy="173236"/>
          </a:xfrm>
          <a:prstGeom prst="rect">
            <a:avLst/>
          </a:prstGeom>
          <a:noFill/>
          <a:ln/>
        </p:spPr>
        <p:txBody>
          <a:bodyPr wrap="square" lIns="0" tIns="0" rIns="0" bIns="0" rtlCol="0" anchor="t"/>
          <a:lstStyle/>
          <a:p>
            <a:pPr marL="0" indent="0" algn="l">
              <a:lnSpc>
                <a:spcPts val="1365"/>
              </a:lnSpc>
              <a:spcAft>
                <a:spcPts val="1050"/>
              </a:spcAft>
              <a:buNone/>
            </a:pPr>
            <a:r>
              <a:rPr lang="en-US" sz="975" b="1" dirty="0">
                <a:solidFill>
                  <a:srgbClr val="1A1F2E"/>
                </a:solidFill>
                <a:latin typeface="Arial" pitchFamily="34" charset="0"/>
                <a:ea typeface="Arial" pitchFamily="34" charset="-122"/>
                <a:cs typeface="Arial" pitchFamily="34" charset="-120"/>
              </a:rPr>
              <a:t>PLANNING WITH YOUR AGENT</a:t>
            </a:r>
            <a:endParaRPr lang="en-US" sz="975" dirty="0"/>
          </a:p>
        </p:txBody>
      </p:sp>
      <p:sp>
        <p:nvSpPr>
          <p:cNvPr id="17" name="Text 15"/>
          <p:cNvSpPr/>
          <p:nvPr/>
        </p:nvSpPr>
        <p:spPr>
          <a:xfrm>
            <a:off x="3876824" y="760660"/>
            <a:ext cx="4962376" cy="1151930"/>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18" name="Text 16"/>
          <p:cNvSpPr/>
          <p:nvPr/>
        </p:nvSpPr>
        <p:spPr>
          <a:xfrm>
            <a:off x="3956623" y="834623"/>
            <a:ext cx="4770159" cy="146596"/>
          </a:xfrm>
          <a:prstGeom prst="rect">
            <a:avLst/>
          </a:prstGeom>
          <a:noFill/>
          <a:ln/>
        </p:spPr>
        <p:txBody>
          <a:bodyPr wrap="square" lIns="0" tIns="0" rIns="0" bIns="0" rtlCol="0" anchor="t"/>
          <a:lstStyle/>
          <a:p>
            <a:pPr marL="0" indent="0" algn="l">
              <a:lnSpc>
                <a:spcPts val="1155"/>
              </a:lnSpc>
              <a:spcAft>
                <a:spcPts val="600"/>
              </a:spcAft>
              <a:buNone/>
            </a:pPr>
            <a:r>
              <a:rPr lang="en-US" sz="825" b="1" dirty="0">
                <a:solidFill>
                  <a:srgbClr val="1A1F2E"/>
                </a:solidFill>
                <a:latin typeface="Arial" pitchFamily="34" charset="0"/>
                <a:ea typeface="Arial" pitchFamily="34" charset="-122"/>
                <a:cs typeface="Arial" pitchFamily="34" charset="-120"/>
              </a:rPr>
              <a:t>DELIVERABLES FRAMEWORK</a:t>
            </a:r>
            <a:endParaRPr lang="en-US" sz="825" dirty="0"/>
          </a:p>
        </p:txBody>
      </p:sp>
      <p:sp>
        <p:nvSpPr>
          <p:cNvPr id="19" name="Text 17"/>
          <p:cNvSpPr/>
          <p:nvPr/>
        </p:nvSpPr>
        <p:spPr>
          <a:xfrm>
            <a:off x="4010174" y="1104466"/>
            <a:ext cx="2307431" cy="411212"/>
          </a:xfrm>
          <a:prstGeom prst="rect">
            <a:avLst/>
          </a:prstGeom>
          <a:noFill/>
          <a:ln/>
        </p:spPr>
        <p:txBody>
          <a:bodyPr wrap="square" lIns="0" tIns="0" rIns="0" bIns="0" rtlCol="0" anchor="t"/>
          <a:lstStyle/>
          <a:p>
            <a:pPr marL="0" indent="0" algn="l">
              <a:lnSpc>
                <a:spcPts val="1080"/>
              </a:lnSpc>
              <a:buNone/>
            </a:pPr>
            <a:r>
              <a:rPr lang="en-US" sz="675" b="1" dirty="0">
                <a:solidFill>
                  <a:srgbClr val="1A1F2E"/>
                </a:solidFill>
                <a:latin typeface="Arial" pitchFamily="34" charset="0"/>
                <a:ea typeface="Arial" pitchFamily="34" charset="-122"/>
                <a:cs typeface="Arial" pitchFamily="34" charset="-120"/>
              </a:rPr>
              <a:t>What</a:t>
            </a:r>
            <a:r>
              <a:rPr lang="en-US" sz="675" dirty="0">
                <a:solidFill>
                  <a:srgbClr val="6B7280"/>
                </a:solidFill>
                <a:latin typeface="Arial" pitchFamily="34" charset="0"/>
                <a:ea typeface="Arial" pitchFamily="34" charset="-122"/>
                <a:cs typeface="Arial" pitchFamily="34" charset="-120"/>
              </a:rPr>
              <a:t> - Name the deliverable</a:t>
            </a:r>
            <a:endParaRPr lang="en-US" sz="675" dirty="0"/>
          </a:p>
          <a:p>
            <a:pPr marL="0" indent="0" algn="l">
              <a:lnSpc>
                <a:spcPts val="1080"/>
              </a:lnSpc>
              <a:buNone/>
            </a:pPr>
            <a:r>
              <a:rPr lang="en-US" sz="675" dirty="0">
                <a:solidFill>
                  <a:srgbClr val="6B7280"/>
                </a:solidFill>
                <a:latin typeface="Arial" pitchFamily="34" charset="0"/>
                <a:ea typeface="Arial" pitchFamily="34" charset="-122"/>
                <a:cs typeface="Arial" pitchFamily="34" charset="-120"/>
              </a:rPr>
              <a:t> </a:t>
            </a:r>
            <a:endParaRPr lang="en-US" sz="675" dirty="0"/>
          </a:p>
          <a:p>
            <a:pPr marL="0" indent="0" algn="l">
              <a:lnSpc>
                <a:spcPts val="1080"/>
              </a:lnSpc>
              <a:buNone/>
            </a:pPr>
            <a:r>
              <a:rPr lang="en-US" sz="675" b="1" dirty="0">
                <a:solidFill>
                  <a:srgbClr val="1A1F2E"/>
                </a:solidFill>
                <a:latin typeface="Arial" pitchFamily="34" charset="0"/>
                <a:ea typeface="Arial" pitchFamily="34" charset="-122"/>
                <a:cs typeface="Arial" pitchFamily="34" charset="-120"/>
              </a:rPr>
              <a:t>Why</a:t>
            </a:r>
            <a:r>
              <a:rPr lang="en-US" sz="675" dirty="0">
                <a:solidFill>
                  <a:srgbClr val="6B7280"/>
                </a:solidFill>
                <a:latin typeface="Arial" pitchFamily="34" charset="0"/>
                <a:ea typeface="Arial" pitchFamily="34" charset="-122"/>
                <a:cs typeface="Arial" pitchFamily="34" charset="-120"/>
              </a:rPr>
              <a:t> - Its core objective</a:t>
            </a:r>
            <a:endParaRPr lang="en-US" sz="675" dirty="0"/>
          </a:p>
          <a:p>
            <a:pPr marL="0" indent="0" algn="l">
              <a:lnSpc>
                <a:spcPts val="1080"/>
              </a:lnSpc>
              <a:buNone/>
            </a:pPr>
            <a:r>
              <a:rPr lang="en-US" sz="675" dirty="0">
                <a:solidFill>
                  <a:srgbClr val="6B7280"/>
                </a:solidFill>
                <a:latin typeface="Arial" pitchFamily="34" charset="0"/>
                <a:ea typeface="Arial" pitchFamily="34" charset="-122"/>
                <a:cs typeface="Arial" pitchFamily="34" charset="-120"/>
              </a:rPr>
              <a:t> </a:t>
            </a:r>
            <a:endParaRPr lang="en-US" sz="675" dirty="0"/>
          </a:p>
          <a:p>
            <a:pPr marL="0" indent="0" algn="l">
              <a:lnSpc>
                <a:spcPts val="1080"/>
              </a:lnSpc>
              <a:buNone/>
            </a:pPr>
            <a:r>
              <a:rPr lang="en-US" sz="675" b="1" dirty="0">
                <a:solidFill>
                  <a:srgbClr val="1A1F2E"/>
                </a:solidFill>
                <a:latin typeface="Arial" pitchFamily="34" charset="0"/>
                <a:ea typeface="Arial" pitchFamily="34" charset="-122"/>
                <a:cs typeface="Arial" pitchFamily="34" charset="-120"/>
              </a:rPr>
              <a:t>How</a:t>
            </a:r>
            <a:r>
              <a:rPr lang="en-US" sz="675" dirty="0">
                <a:solidFill>
                  <a:srgbClr val="6B7280"/>
                </a:solidFill>
                <a:latin typeface="Arial" pitchFamily="34" charset="0"/>
                <a:ea typeface="Arial" pitchFamily="34" charset="-122"/>
                <a:cs typeface="Arial" pitchFamily="34" charset="-120"/>
              </a:rPr>
              <a:t> - High-level approach</a:t>
            </a:r>
            <a:endParaRPr lang="en-US" sz="675" dirty="0"/>
          </a:p>
        </p:txBody>
      </p:sp>
      <p:sp>
        <p:nvSpPr>
          <p:cNvPr id="20" name="Text 18"/>
          <p:cNvSpPr/>
          <p:nvPr/>
        </p:nvSpPr>
        <p:spPr>
          <a:xfrm>
            <a:off x="6419351" y="1140160"/>
            <a:ext cx="2307431" cy="411212"/>
          </a:xfrm>
          <a:prstGeom prst="rect">
            <a:avLst/>
          </a:prstGeom>
          <a:noFill/>
          <a:ln/>
        </p:spPr>
        <p:txBody>
          <a:bodyPr wrap="square" lIns="0" tIns="0" rIns="0" bIns="0" rtlCol="0" anchor="t"/>
          <a:lstStyle/>
          <a:p>
            <a:pPr marL="0" indent="0" algn="l">
              <a:lnSpc>
                <a:spcPts val="1080"/>
              </a:lnSpc>
              <a:buNone/>
            </a:pPr>
            <a:r>
              <a:rPr lang="en-US" sz="675" b="1" dirty="0">
                <a:solidFill>
                  <a:srgbClr val="1A1F2E"/>
                </a:solidFill>
                <a:latin typeface="Arial" pitchFamily="34" charset="0"/>
                <a:ea typeface="Arial" pitchFamily="34" charset="-122"/>
                <a:cs typeface="Arial" pitchFamily="34" charset="-120"/>
              </a:rPr>
              <a:t>Success</a:t>
            </a:r>
            <a:r>
              <a:rPr lang="en-US" sz="675" dirty="0">
                <a:solidFill>
                  <a:srgbClr val="6B7280"/>
                </a:solidFill>
                <a:latin typeface="Arial" pitchFamily="34" charset="0"/>
                <a:ea typeface="Arial" pitchFamily="34" charset="-122"/>
                <a:cs typeface="Arial" pitchFamily="34" charset="-120"/>
              </a:rPr>
              <a:t> - How we'll know it works</a:t>
            </a:r>
            <a:endParaRPr lang="en-US" sz="675" dirty="0"/>
          </a:p>
          <a:p>
            <a:pPr marL="0" indent="0" algn="l">
              <a:lnSpc>
                <a:spcPts val="1080"/>
              </a:lnSpc>
              <a:buNone/>
            </a:pPr>
            <a:r>
              <a:rPr lang="en-US" sz="675" dirty="0">
                <a:solidFill>
                  <a:srgbClr val="6B7280"/>
                </a:solidFill>
                <a:latin typeface="Arial" pitchFamily="34" charset="0"/>
                <a:ea typeface="Arial" pitchFamily="34" charset="-122"/>
                <a:cs typeface="Arial" pitchFamily="34" charset="-120"/>
              </a:rPr>
              <a:t> </a:t>
            </a:r>
            <a:endParaRPr lang="en-US" sz="675" dirty="0"/>
          </a:p>
          <a:p>
            <a:pPr marL="0" indent="0" algn="l">
              <a:lnSpc>
                <a:spcPts val="1080"/>
              </a:lnSpc>
              <a:buNone/>
            </a:pPr>
            <a:r>
              <a:rPr lang="en-US" sz="675" b="1" dirty="0">
                <a:solidFill>
                  <a:srgbClr val="1A1F2E"/>
                </a:solidFill>
                <a:latin typeface="Arial" pitchFamily="34" charset="0"/>
                <a:ea typeface="Arial" pitchFamily="34" charset="-122"/>
                <a:cs typeface="Arial" pitchFamily="34" charset="-120"/>
              </a:rPr>
              <a:t>Dependencies</a:t>
            </a:r>
            <a:r>
              <a:rPr lang="en-US" sz="675" dirty="0">
                <a:solidFill>
                  <a:srgbClr val="6B7280"/>
                </a:solidFill>
                <a:latin typeface="Arial" pitchFamily="34" charset="0"/>
                <a:ea typeface="Arial" pitchFamily="34" charset="-122"/>
                <a:cs typeface="Arial" pitchFamily="34" charset="-120"/>
              </a:rPr>
              <a:t> - What it needs</a:t>
            </a:r>
            <a:endParaRPr lang="en-US" sz="675" dirty="0"/>
          </a:p>
          <a:p>
            <a:pPr marL="0" indent="0" algn="l">
              <a:lnSpc>
                <a:spcPts val="1080"/>
              </a:lnSpc>
              <a:buNone/>
            </a:pPr>
            <a:r>
              <a:rPr lang="en-US" sz="675" dirty="0">
                <a:solidFill>
                  <a:srgbClr val="6B7280"/>
                </a:solidFill>
                <a:latin typeface="Arial" pitchFamily="34" charset="0"/>
                <a:ea typeface="Arial" pitchFamily="34" charset="-122"/>
                <a:cs typeface="Arial" pitchFamily="34" charset="-120"/>
              </a:rPr>
              <a:t> </a:t>
            </a:r>
            <a:endParaRPr lang="en-US" sz="675" dirty="0"/>
          </a:p>
          <a:p>
            <a:pPr marL="0" indent="0" algn="l">
              <a:lnSpc>
                <a:spcPts val="1080"/>
              </a:lnSpc>
              <a:buNone/>
            </a:pPr>
            <a:r>
              <a:rPr lang="en-US" sz="675" b="1" dirty="0">
                <a:solidFill>
                  <a:srgbClr val="1A1F2E"/>
                </a:solidFill>
                <a:latin typeface="Arial" pitchFamily="34" charset="0"/>
                <a:ea typeface="Arial" pitchFamily="34" charset="-122"/>
                <a:cs typeface="Arial" pitchFamily="34" charset="-120"/>
              </a:rPr>
              <a:t>Priority</a:t>
            </a:r>
            <a:r>
              <a:rPr lang="en-US" sz="675" dirty="0">
                <a:solidFill>
                  <a:srgbClr val="6B7280"/>
                </a:solidFill>
                <a:latin typeface="Arial" pitchFamily="34" charset="0"/>
                <a:ea typeface="Arial" pitchFamily="34" charset="-122"/>
                <a:cs typeface="Arial" pitchFamily="34" charset="-120"/>
              </a:rPr>
              <a:t> - Order of building</a:t>
            </a:r>
            <a:endParaRPr lang="en-US" sz="675" dirty="0"/>
          </a:p>
        </p:txBody>
      </p:sp>
      <p:sp>
        <p:nvSpPr>
          <p:cNvPr id="21" name="Text 19"/>
          <p:cNvSpPr/>
          <p:nvPr/>
        </p:nvSpPr>
        <p:spPr>
          <a:xfrm>
            <a:off x="3876824" y="2157413"/>
            <a:ext cx="4962376" cy="700980"/>
          </a:xfrm>
          <a:prstGeom prst="rect">
            <a:avLst/>
          </a:prstGeom>
          <a:solidFill>
            <a:srgbClr val="1A1F2E"/>
          </a:solidFill>
          <a:ln/>
        </p:spPr>
        <p:txBody>
          <a:bodyPr wrap="square" rtlCol="0" anchor="ctr"/>
          <a:lstStyle/>
          <a:p>
            <a:pPr marL="0" indent="0">
              <a:buNone/>
            </a:pPr>
            <a:endParaRPr lang="en-US" dirty="0"/>
          </a:p>
        </p:txBody>
      </p:sp>
      <p:sp>
        <p:nvSpPr>
          <p:cNvPr id="22" name="Text 20"/>
          <p:cNvSpPr/>
          <p:nvPr/>
        </p:nvSpPr>
        <p:spPr>
          <a:xfrm>
            <a:off x="4010174" y="2290763"/>
            <a:ext cx="4789590" cy="119955"/>
          </a:xfrm>
          <a:prstGeom prst="rect">
            <a:avLst/>
          </a:prstGeom>
          <a:noFill/>
          <a:ln/>
        </p:spPr>
        <p:txBody>
          <a:bodyPr wrap="square" lIns="0" tIns="0" rIns="0" bIns="0" rtlCol="0" anchor="t"/>
          <a:lstStyle/>
          <a:p>
            <a:pPr marL="0" indent="0" algn="l">
              <a:lnSpc>
                <a:spcPts val="945"/>
              </a:lnSpc>
              <a:spcAft>
                <a:spcPts val="450"/>
              </a:spcAft>
              <a:buNone/>
            </a:pPr>
            <a:r>
              <a:rPr lang="en-US" sz="675" dirty="0">
                <a:solidFill>
                  <a:srgbClr val="C9A227"/>
                </a:solidFill>
                <a:latin typeface="Arial" pitchFamily="34" charset="0"/>
                <a:ea typeface="Arial" pitchFamily="34" charset="-122"/>
                <a:cs typeface="Arial" pitchFamily="34" charset="-120"/>
              </a:rPr>
              <a:t>EXAMPLE VOICE PROMPT</a:t>
            </a:r>
            <a:endParaRPr lang="en-US" sz="675" dirty="0"/>
          </a:p>
        </p:txBody>
      </p:sp>
      <p:sp>
        <p:nvSpPr>
          <p:cNvPr id="23" name="Text 21"/>
          <p:cNvSpPr/>
          <p:nvPr/>
        </p:nvSpPr>
        <p:spPr>
          <a:xfrm>
            <a:off x="4010174" y="2467868"/>
            <a:ext cx="4789590" cy="257175"/>
          </a:xfrm>
          <a:prstGeom prst="rect">
            <a:avLst/>
          </a:prstGeom>
          <a:noFill/>
          <a:ln/>
        </p:spPr>
        <p:txBody>
          <a:bodyPr wrap="square" lIns="0" tIns="0" rIns="0" bIns="0" rtlCol="0" anchor="t"/>
          <a:lstStyle/>
          <a:p>
            <a:pPr marL="0" indent="0" algn="l">
              <a:lnSpc>
                <a:spcPts val="1013"/>
              </a:lnSpc>
              <a:buNone/>
            </a:pPr>
            <a:r>
              <a:rPr lang="en-US" sz="675" dirty="0">
                <a:solidFill>
                  <a:srgbClr val="FFFFFF">
                    <a:alpha val="80000"/>
                  </a:srgbClr>
                </a:solidFill>
                <a:latin typeface="Arial" pitchFamily="34" charset="0"/>
                <a:ea typeface="Arial" pitchFamily="34" charset="-122"/>
                <a:cs typeface="Arial" pitchFamily="34" charset="-120"/>
              </a:rPr>
              <a:t>"Based on our brainstorming and research, let's define what we're actually building. List out the key deliverables, what each one needs to accomplish, and how we should sequence building them."</a:t>
            </a:r>
            <a:endParaRPr lang="en-US" sz="675" dirty="0"/>
          </a:p>
        </p:txBody>
      </p:sp>
      <p:sp>
        <p:nvSpPr>
          <p:cNvPr id="24" name="Text 22"/>
          <p:cNvSpPr/>
          <p:nvPr/>
        </p:nvSpPr>
        <p:spPr>
          <a:xfrm>
            <a:off x="3876824" y="3125093"/>
            <a:ext cx="2433638" cy="599777"/>
          </a:xfrm>
          <a:prstGeom prst="rect">
            <a:avLst/>
          </a:prstGeom>
          <a:solidFill>
            <a:srgbClr val="DCFCE7"/>
          </a:solidFill>
          <a:ln/>
        </p:spPr>
        <p:txBody>
          <a:bodyPr wrap="square" rtlCol="0" anchor="ctr"/>
          <a:lstStyle/>
          <a:p>
            <a:pPr marL="0" indent="0">
              <a:buNone/>
            </a:pPr>
            <a:endParaRPr lang="en-US" dirty="0"/>
          </a:p>
        </p:txBody>
      </p:sp>
      <p:sp>
        <p:nvSpPr>
          <p:cNvPr id="25" name="Shape 23"/>
          <p:cNvSpPr/>
          <p:nvPr/>
        </p:nvSpPr>
        <p:spPr>
          <a:xfrm>
            <a:off x="3891111" y="3125093"/>
            <a:ext cx="0" cy="599777"/>
          </a:xfrm>
          <a:prstGeom prst="line">
            <a:avLst/>
          </a:prstGeom>
          <a:noFill/>
          <a:ln w="28575">
            <a:solidFill>
              <a:srgbClr val="059669"/>
            </a:solidFill>
            <a:prstDash val="solid"/>
          </a:ln>
        </p:spPr>
        <p:txBody>
          <a:bodyPr/>
          <a:lstStyle/>
          <a:p>
            <a:endParaRPr lang="en-US"/>
          </a:p>
        </p:txBody>
      </p:sp>
      <p:sp>
        <p:nvSpPr>
          <p:cNvPr id="26" name="Text 24"/>
          <p:cNvSpPr/>
          <p:nvPr/>
        </p:nvSpPr>
        <p:spPr>
          <a:xfrm>
            <a:off x="4019699" y="3239393"/>
            <a:ext cx="2219992" cy="119955"/>
          </a:xfrm>
          <a:prstGeom prst="rect">
            <a:avLst/>
          </a:prstGeom>
          <a:noFill/>
          <a:ln/>
        </p:spPr>
        <p:txBody>
          <a:bodyPr wrap="square" lIns="0" tIns="0" rIns="0" bIns="0" rtlCol="0" anchor="t"/>
          <a:lstStyle/>
          <a:p>
            <a:pPr marL="0" indent="0" algn="l">
              <a:lnSpc>
                <a:spcPts val="945"/>
              </a:lnSpc>
              <a:spcAft>
                <a:spcPts val="300"/>
              </a:spcAft>
              <a:buNone/>
            </a:pPr>
            <a:r>
              <a:rPr lang="en-US" sz="675" b="1" dirty="0">
                <a:solidFill>
                  <a:srgbClr val="166534"/>
                </a:solidFill>
                <a:latin typeface="Arial" pitchFamily="34" charset="0"/>
                <a:ea typeface="Arial" pitchFamily="34" charset="-122"/>
                <a:cs typeface="Arial" pitchFamily="34" charset="-120"/>
              </a:rPr>
              <a:t>KEEP IT LOOSE</a:t>
            </a:r>
            <a:endParaRPr lang="en-US" sz="675" dirty="0"/>
          </a:p>
        </p:txBody>
      </p:sp>
      <p:sp>
        <p:nvSpPr>
          <p:cNvPr id="27" name="Text 25"/>
          <p:cNvSpPr/>
          <p:nvPr/>
        </p:nvSpPr>
        <p:spPr>
          <a:xfrm>
            <a:off x="4019699" y="3397448"/>
            <a:ext cx="2219992" cy="213122"/>
          </a:xfrm>
          <a:prstGeom prst="rect">
            <a:avLst/>
          </a:prstGeom>
          <a:noFill/>
          <a:ln/>
        </p:spPr>
        <p:txBody>
          <a:bodyPr wrap="square" lIns="0" tIns="0" rIns="0" bIns="0" rtlCol="0" anchor="t"/>
          <a:lstStyle/>
          <a:p>
            <a:pPr marL="0" indent="0" algn="l">
              <a:lnSpc>
                <a:spcPts val="840"/>
              </a:lnSpc>
              <a:buNone/>
            </a:pPr>
            <a:r>
              <a:rPr lang="en-US" sz="600" dirty="0">
                <a:solidFill>
                  <a:srgbClr val="166534"/>
                </a:solidFill>
                <a:latin typeface="Arial" pitchFamily="34" charset="0"/>
                <a:ea typeface="Arial" pitchFamily="34" charset="-122"/>
                <a:cs typeface="Arial" pitchFamily="34" charset="-120"/>
              </a:rPr>
              <a:t>This isn't the final spec. You'll refine during prototyping. Focus on direction, not details.</a:t>
            </a:r>
            <a:endParaRPr lang="en-US" sz="600" dirty="0"/>
          </a:p>
        </p:txBody>
      </p:sp>
      <p:sp>
        <p:nvSpPr>
          <p:cNvPr id="28" name="Text 26"/>
          <p:cNvSpPr/>
          <p:nvPr/>
        </p:nvSpPr>
        <p:spPr>
          <a:xfrm>
            <a:off x="6405711" y="3125093"/>
            <a:ext cx="2433638" cy="599777"/>
          </a:xfrm>
          <a:prstGeom prst="rect">
            <a:avLst/>
          </a:prstGeom>
          <a:solidFill>
            <a:srgbClr val="DBEAFE"/>
          </a:solidFill>
          <a:ln/>
        </p:spPr>
        <p:txBody>
          <a:bodyPr wrap="square" rtlCol="0" anchor="ctr"/>
          <a:lstStyle/>
          <a:p>
            <a:pPr marL="0" indent="0">
              <a:buNone/>
            </a:pPr>
            <a:endParaRPr lang="en-US" dirty="0"/>
          </a:p>
        </p:txBody>
      </p:sp>
      <p:sp>
        <p:nvSpPr>
          <p:cNvPr id="29" name="Shape 27"/>
          <p:cNvSpPr/>
          <p:nvPr/>
        </p:nvSpPr>
        <p:spPr>
          <a:xfrm>
            <a:off x="6419999" y="3125093"/>
            <a:ext cx="0" cy="599777"/>
          </a:xfrm>
          <a:prstGeom prst="line">
            <a:avLst/>
          </a:prstGeom>
          <a:noFill/>
          <a:ln w="28575">
            <a:solidFill>
              <a:srgbClr val="3B82F6"/>
            </a:solidFill>
            <a:prstDash val="solid"/>
          </a:ln>
        </p:spPr>
        <p:txBody>
          <a:bodyPr/>
          <a:lstStyle/>
          <a:p>
            <a:endParaRPr lang="en-US"/>
          </a:p>
        </p:txBody>
      </p:sp>
      <p:sp>
        <p:nvSpPr>
          <p:cNvPr id="30" name="Text 28"/>
          <p:cNvSpPr/>
          <p:nvPr/>
        </p:nvSpPr>
        <p:spPr>
          <a:xfrm>
            <a:off x="6548586" y="3239393"/>
            <a:ext cx="2219992" cy="119955"/>
          </a:xfrm>
          <a:prstGeom prst="rect">
            <a:avLst/>
          </a:prstGeom>
          <a:noFill/>
          <a:ln/>
        </p:spPr>
        <p:txBody>
          <a:bodyPr wrap="square" lIns="0" tIns="0" rIns="0" bIns="0" rtlCol="0" anchor="t"/>
          <a:lstStyle/>
          <a:p>
            <a:pPr marL="0" indent="0" algn="l">
              <a:lnSpc>
                <a:spcPts val="945"/>
              </a:lnSpc>
              <a:spcAft>
                <a:spcPts val="300"/>
              </a:spcAft>
              <a:buNone/>
            </a:pPr>
            <a:r>
              <a:rPr lang="en-US" sz="675" b="1" dirty="0">
                <a:solidFill>
                  <a:srgbClr val="1E40AF"/>
                </a:solidFill>
                <a:latin typeface="Arial" pitchFamily="34" charset="0"/>
                <a:ea typeface="Arial" pitchFamily="34" charset="-122"/>
                <a:cs typeface="Arial" pitchFamily="34" charset="-120"/>
              </a:rPr>
              <a:t>SAVE IT</a:t>
            </a:r>
            <a:endParaRPr lang="en-US" sz="675" dirty="0"/>
          </a:p>
        </p:txBody>
      </p:sp>
      <p:sp>
        <p:nvSpPr>
          <p:cNvPr id="31" name="Text 29"/>
          <p:cNvSpPr/>
          <p:nvPr/>
        </p:nvSpPr>
        <p:spPr>
          <a:xfrm>
            <a:off x="6548586" y="3397448"/>
            <a:ext cx="2219992" cy="213122"/>
          </a:xfrm>
          <a:prstGeom prst="rect">
            <a:avLst/>
          </a:prstGeom>
          <a:noFill/>
          <a:ln/>
        </p:spPr>
        <p:txBody>
          <a:bodyPr wrap="square" lIns="0" tIns="0" rIns="0" bIns="0" rtlCol="0" anchor="t"/>
          <a:lstStyle/>
          <a:p>
            <a:pPr marL="0" indent="0" algn="l">
              <a:lnSpc>
                <a:spcPts val="840"/>
              </a:lnSpc>
              <a:buNone/>
            </a:pPr>
            <a:r>
              <a:rPr lang="en-US" sz="600" dirty="0">
                <a:solidFill>
                  <a:srgbClr val="1E40AF"/>
                </a:solidFill>
                <a:latin typeface="Arial" pitchFamily="34" charset="0"/>
                <a:ea typeface="Arial" pitchFamily="34" charset="-122"/>
                <a:cs typeface="Arial" pitchFamily="34" charset="-120"/>
              </a:rPr>
              <a:t>docs/planning/deliverables.md becomes input for later phases and PRD creation.</a:t>
            </a:r>
            <a:endParaRPr lang="en-US" sz="600" dirty="0"/>
          </a:p>
        </p:txBody>
      </p:sp>
      <p:sp>
        <p:nvSpPr>
          <p:cNvPr id="32" name="Text 30"/>
          <p:cNvSpPr/>
          <p:nvPr/>
        </p:nvSpPr>
        <p:spPr>
          <a:xfrm>
            <a:off x="3876824" y="3991570"/>
            <a:ext cx="4962376" cy="639961"/>
          </a:xfrm>
          <a:prstGeom prst="rect">
            <a:avLst/>
          </a:prstGeom>
          <a:solidFill>
            <a:srgbClr val="FEF3C7"/>
          </a:solidFill>
          <a:ln/>
        </p:spPr>
        <p:txBody>
          <a:bodyPr wrap="square" rtlCol="0" anchor="ctr"/>
          <a:lstStyle/>
          <a:p>
            <a:pPr marL="0" indent="0">
              <a:buNone/>
            </a:pPr>
            <a:endParaRPr lang="en-US" dirty="0"/>
          </a:p>
        </p:txBody>
      </p:sp>
      <p:sp>
        <p:nvSpPr>
          <p:cNvPr id="33" name="Shape 31"/>
          <p:cNvSpPr/>
          <p:nvPr/>
        </p:nvSpPr>
        <p:spPr>
          <a:xfrm>
            <a:off x="3891111" y="3991570"/>
            <a:ext cx="0" cy="639961"/>
          </a:xfrm>
          <a:prstGeom prst="line">
            <a:avLst/>
          </a:prstGeom>
          <a:noFill/>
          <a:ln w="28575">
            <a:solidFill>
              <a:srgbClr val="F59E0B"/>
            </a:solidFill>
            <a:prstDash val="solid"/>
          </a:ln>
        </p:spPr>
        <p:txBody>
          <a:bodyPr/>
          <a:lstStyle/>
          <a:p>
            <a:endParaRPr lang="en-US"/>
          </a:p>
        </p:txBody>
      </p:sp>
      <p:sp>
        <p:nvSpPr>
          <p:cNvPr id="34" name="Text 32"/>
          <p:cNvSpPr/>
          <p:nvPr/>
        </p:nvSpPr>
        <p:spPr>
          <a:xfrm>
            <a:off x="4019699" y="4105870"/>
            <a:ext cx="4799305"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92400E"/>
                </a:solidFill>
                <a:latin typeface="Arial" pitchFamily="34" charset="0"/>
                <a:ea typeface="Arial" pitchFamily="34" charset="-122"/>
                <a:cs typeface="Arial" pitchFamily="34" charset="-120"/>
              </a:rPr>
              <a:t>AVOID OVER-PLANNING</a:t>
            </a:r>
            <a:endParaRPr lang="en-US" sz="750" dirty="0"/>
          </a:p>
        </p:txBody>
      </p:sp>
      <p:sp>
        <p:nvSpPr>
          <p:cNvPr id="35" name="Text 33"/>
          <p:cNvSpPr/>
          <p:nvPr/>
        </p:nvSpPr>
        <p:spPr>
          <a:xfrm>
            <a:off x="4019699" y="4277320"/>
            <a:ext cx="4799305" cy="239911"/>
          </a:xfrm>
          <a:prstGeom prst="rect">
            <a:avLst/>
          </a:prstGeom>
          <a:noFill/>
          <a:ln/>
        </p:spPr>
        <p:txBody>
          <a:bodyPr wrap="square" lIns="0" tIns="0" rIns="0" bIns="0" rtlCol="0" anchor="t"/>
          <a:lstStyle/>
          <a:p>
            <a:pPr marL="0" indent="0" algn="l">
              <a:lnSpc>
                <a:spcPts val="945"/>
              </a:lnSpc>
              <a:buNone/>
            </a:pPr>
            <a:r>
              <a:rPr lang="en-US" sz="675" dirty="0">
                <a:solidFill>
                  <a:srgbClr val="92400E"/>
                </a:solidFill>
                <a:latin typeface="Arial" pitchFamily="34" charset="0"/>
                <a:ea typeface="Arial" pitchFamily="34" charset="-122"/>
                <a:cs typeface="Arial" pitchFamily="34" charset="-120"/>
              </a:rPr>
              <a:t>Don't try to spec everything now. The next phase (MVP Prototype) is specifically for experimenting and learning. Planning is a compass, not a map.</a:t>
            </a:r>
            <a:endParaRPr lang="en-US" sz="675"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0" y="0"/>
            <a:ext cx="3419624" cy="5143500"/>
          </a:xfrm>
          <a:prstGeom prst="rect">
            <a:avLst/>
          </a:prstGeom>
          <a:solidFill>
            <a:srgbClr val="1A1F2E"/>
          </a:solidFill>
          <a:ln/>
        </p:spPr>
        <p:txBody>
          <a:bodyPr wrap="square" rtlCol="0" anchor="ctr"/>
          <a:lstStyle/>
          <a:p>
            <a:pPr marL="0" indent="0">
              <a:buNone/>
            </a:pPr>
            <a:endParaRPr lang="en-US" dirty="0"/>
          </a:p>
        </p:txBody>
      </p:sp>
      <p:sp>
        <p:nvSpPr>
          <p:cNvPr id="3" name="Text 1"/>
          <p:cNvSpPr/>
          <p:nvPr/>
        </p:nvSpPr>
        <p:spPr>
          <a:xfrm>
            <a:off x="304800" y="287834"/>
            <a:ext cx="981373" cy="234255"/>
          </a:xfrm>
          <a:prstGeom prst="rect">
            <a:avLst/>
          </a:prstGeom>
          <a:solidFill>
            <a:srgbClr val="7C3AED"/>
          </a:solidFill>
          <a:ln/>
        </p:spPr>
        <p:txBody>
          <a:bodyPr wrap="square" rtlCol="0" anchor="ctr"/>
          <a:lstStyle/>
          <a:p>
            <a:pPr marL="0" indent="0">
              <a:buNone/>
            </a:pPr>
            <a:endParaRPr lang="en-US" dirty="0"/>
          </a:p>
        </p:txBody>
      </p:sp>
      <p:sp>
        <p:nvSpPr>
          <p:cNvPr id="4" name="Text 2"/>
          <p:cNvSpPr/>
          <p:nvPr/>
        </p:nvSpPr>
        <p:spPr>
          <a:xfrm>
            <a:off x="419100" y="344984"/>
            <a:ext cx="767828" cy="119955"/>
          </a:xfrm>
          <a:prstGeom prst="rect">
            <a:avLst/>
          </a:prstGeom>
          <a:noFill/>
          <a:ln/>
        </p:spPr>
        <p:txBody>
          <a:bodyPr wrap="square" lIns="0" tIns="0" rIns="0" bIns="0" rtlCol="0" anchor="t"/>
          <a:lstStyle/>
          <a:p>
            <a:pPr marL="0" indent="0" algn="l">
              <a:lnSpc>
                <a:spcPts val="945"/>
              </a:lnSpc>
              <a:buNone/>
            </a:pPr>
            <a:r>
              <a:rPr lang="en-US" sz="675" b="1" dirty="0">
                <a:solidFill>
                  <a:srgbClr val="FFFFFF"/>
                </a:solidFill>
                <a:latin typeface="Arial" pitchFamily="34" charset="0"/>
                <a:ea typeface="Arial" pitchFamily="34" charset="-122"/>
                <a:cs typeface="Arial" pitchFamily="34" charset="-120"/>
              </a:rPr>
              <a:t>PHASE 5 OF 10</a:t>
            </a:r>
            <a:endParaRPr lang="en-US" sz="675" dirty="0"/>
          </a:p>
        </p:txBody>
      </p:sp>
      <p:sp>
        <p:nvSpPr>
          <p:cNvPr id="5" name="Text 3"/>
          <p:cNvSpPr/>
          <p:nvPr/>
        </p:nvSpPr>
        <p:spPr>
          <a:xfrm>
            <a:off x="304800" y="788789"/>
            <a:ext cx="1845945" cy="639961"/>
          </a:xfrm>
          <a:prstGeom prst="rect">
            <a:avLst/>
          </a:prstGeom>
          <a:noFill/>
          <a:ln/>
        </p:spPr>
        <p:txBody>
          <a:bodyPr wrap="square" lIns="0" tIns="0" rIns="0" bIns="0" rtlCol="0" anchor="t"/>
          <a:lstStyle/>
          <a:p>
            <a:pPr marL="0" indent="0" algn="l">
              <a:lnSpc>
                <a:spcPts val="2520"/>
              </a:lnSpc>
              <a:spcAft>
                <a:spcPts val="900"/>
              </a:spcAft>
              <a:buNone/>
            </a:pPr>
            <a:r>
              <a:rPr lang="en-US" sz="2100" dirty="0">
                <a:solidFill>
                  <a:srgbClr val="FFFFFF"/>
                </a:solidFill>
                <a:latin typeface="Georgia" pitchFamily="34" charset="0"/>
                <a:ea typeface="Georgia" pitchFamily="34" charset="-122"/>
                <a:cs typeface="Georgia" pitchFamily="34" charset="-120"/>
              </a:rPr>
              <a:t>MVP Prototype</a:t>
            </a:r>
            <a:endParaRPr lang="en-US" sz="2100" dirty="0"/>
          </a:p>
          <a:p>
            <a:pPr marL="0" indent="0" algn="l">
              <a:lnSpc>
                <a:spcPts val="2520"/>
              </a:lnSpc>
              <a:spcAft>
                <a:spcPts val="900"/>
              </a:spcAft>
              <a:buNone/>
            </a:pPr>
            <a:r>
              <a:rPr lang="en-US" sz="2100" dirty="0">
                <a:solidFill>
                  <a:srgbClr val="FFFFFF"/>
                </a:solidFill>
                <a:latin typeface="Georgia" pitchFamily="34" charset="0"/>
                <a:ea typeface="Georgia" pitchFamily="34" charset="-122"/>
                <a:cs typeface="Georgia" pitchFamily="34" charset="-120"/>
              </a:rPr>
              <a:t>Round</a:t>
            </a:r>
            <a:endParaRPr lang="en-US" sz="2100" dirty="0"/>
          </a:p>
        </p:txBody>
      </p:sp>
      <p:sp>
        <p:nvSpPr>
          <p:cNvPr id="6" name="Text 4"/>
          <p:cNvSpPr/>
          <p:nvPr/>
        </p:nvSpPr>
        <p:spPr>
          <a:xfrm>
            <a:off x="304800" y="2000250"/>
            <a:ext cx="2810024" cy="784771"/>
          </a:xfrm>
          <a:prstGeom prst="rect">
            <a:avLst/>
          </a:prstGeom>
          <a:solidFill>
            <a:srgbClr val="7C3AED">
              <a:alpha val="15000"/>
            </a:srgbClr>
          </a:solidFill>
          <a:ln/>
        </p:spPr>
        <p:txBody>
          <a:bodyPr wrap="square" rtlCol="0" anchor="ctr"/>
          <a:lstStyle/>
          <a:p>
            <a:pPr marL="0" indent="0">
              <a:buNone/>
            </a:pPr>
            <a:endParaRPr lang="en-US" dirty="0"/>
          </a:p>
        </p:txBody>
      </p:sp>
      <p:sp>
        <p:nvSpPr>
          <p:cNvPr id="7" name="Shape 5"/>
          <p:cNvSpPr/>
          <p:nvPr/>
        </p:nvSpPr>
        <p:spPr>
          <a:xfrm>
            <a:off x="319088" y="2000250"/>
            <a:ext cx="0" cy="784771"/>
          </a:xfrm>
          <a:prstGeom prst="line">
            <a:avLst/>
          </a:prstGeom>
          <a:noFill/>
          <a:ln w="28575">
            <a:solidFill>
              <a:srgbClr val="7C3AED"/>
            </a:solidFill>
            <a:prstDash val="solid"/>
          </a:ln>
        </p:spPr>
        <p:txBody>
          <a:bodyPr/>
          <a:lstStyle/>
          <a:p>
            <a:endParaRPr lang="en-US"/>
          </a:p>
        </p:txBody>
      </p:sp>
      <p:sp>
        <p:nvSpPr>
          <p:cNvPr id="8" name="Text 6"/>
          <p:cNvSpPr/>
          <p:nvPr/>
        </p:nvSpPr>
        <p:spPr>
          <a:xfrm>
            <a:off x="466725" y="2133600"/>
            <a:ext cx="2565044" cy="146596"/>
          </a:xfrm>
          <a:prstGeom prst="rect">
            <a:avLst/>
          </a:prstGeom>
          <a:noFill/>
          <a:ln/>
        </p:spPr>
        <p:txBody>
          <a:bodyPr wrap="square" lIns="0" tIns="0" rIns="0" bIns="0" rtlCol="0" anchor="t"/>
          <a:lstStyle/>
          <a:p>
            <a:pPr marL="0" indent="0" algn="l">
              <a:lnSpc>
                <a:spcPts val="1155"/>
              </a:lnSpc>
              <a:spcAft>
                <a:spcPts val="450"/>
              </a:spcAft>
              <a:buNone/>
            </a:pPr>
            <a:r>
              <a:rPr lang="en-US" sz="825" b="1" dirty="0">
                <a:solidFill>
                  <a:srgbClr val="A78BFA"/>
                </a:solidFill>
                <a:latin typeface="Arial" pitchFamily="34" charset="0"/>
                <a:ea typeface="Arial" pitchFamily="34" charset="-122"/>
                <a:cs typeface="Arial" pitchFamily="34" charset="-120"/>
              </a:rPr>
              <a:t>THE OBJECTIVE</a:t>
            </a:r>
            <a:endParaRPr lang="en-US" sz="825" dirty="0"/>
          </a:p>
        </p:txBody>
      </p:sp>
      <p:sp>
        <p:nvSpPr>
          <p:cNvPr id="9" name="Text 7"/>
          <p:cNvSpPr/>
          <p:nvPr/>
        </p:nvSpPr>
        <p:spPr>
          <a:xfrm>
            <a:off x="466725" y="2337346"/>
            <a:ext cx="2565044" cy="314325"/>
          </a:xfrm>
          <a:prstGeom prst="rect">
            <a:avLst/>
          </a:prstGeom>
          <a:noFill/>
          <a:ln/>
        </p:spPr>
        <p:txBody>
          <a:bodyPr wrap="square" lIns="0" tIns="0" rIns="0" bIns="0" rtlCol="0" anchor="t"/>
          <a:lstStyle/>
          <a:p>
            <a:pPr marL="0" indent="0" algn="l">
              <a:lnSpc>
                <a:spcPts val="1238"/>
              </a:lnSpc>
              <a:buNone/>
            </a:pPr>
            <a:r>
              <a:rPr lang="en-US" sz="825" dirty="0">
                <a:solidFill>
                  <a:srgbClr val="FFFFFF">
                    <a:alpha val="80000"/>
                  </a:srgbClr>
                </a:solidFill>
                <a:latin typeface="Arial" pitchFamily="34" charset="0"/>
                <a:ea typeface="Arial" pitchFamily="34" charset="-122"/>
                <a:cs typeface="Arial" pitchFamily="34" charset="-120"/>
              </a:rPr>
              <a:t>Build fast, break things, learn. First creation cycle focuses on experimentation, not perfection.</a:t>
            </a:r>
            <a:endParaRPr lang="en-US" sz="825" dirty="0"/>
          </a:p>
        </p:txBody>
      </p:sp>
      <p:sp>
        <p:nvSpPr>
          <p:cNvPr id="10" name="Text 8"/>
          <p:cNvSpPr/>
          <p:nvPr/>
        </p:nvSpPr>
        <p:spPr>
          <a:xfrm>
            <a:off x="304800" y="3089821"/>
            <a:ext cx="2810024" cy="1099096"/>
          </a:xfrm>
          <a:prstGeom prst="rect">
            <a:avLst/>
          </a:prstGeom>
          <a:solidFill>
            <a:srgbClr val="FFFFFF">
              <a:alpha val="5000"/>
            </a:srgbClr>
          </a:solidFill>
          <a:ln/>
        </p:spPr>
        <p:txBody>
          <a:bodyPr wrap="square" rtlCol="0" anchor="ctr"/>
          <a:lstStyle/>
          <a:p>
            <a:pPr marL="0" indent="0">
              <a:buNone/>
            </a:pPr>
            <a:endParaRPr lang="en-US" dirty="0"/>
          </a:p>
        </p:txBody>
      </p:sp>
      <p:sp>
        <p:nvSpPr>
          <p:cNvPr id="11" name="Text 9"/>
          <p:cNvSpPr/>
          <p:nvPr/>
        </p:nvSpPr>
        <p:spPr>
          <a:xfrm>
            <a:off x="438150" y="3223171"/>
            <a:ext cx="2594190" cy="146596"/>
          </a:xfrm>
          <a:prstGeom prst="rect">
            <a:avLst/>
          </a:prstGeom>
          <a:noFill/>
          <a:ln/>
        </p:spPr>
        <p:txBody>
          <a:bodyPr wrap="square" lIns="0" tIns="0" rIns="0" bIns="0" rtlCol="0" anchor="t"/>
          <a:lstStyle/>
          <a:p>
            <a:pPr marL="0" indent="0" algn="l">
              <a:lnSpc>
                <a:spcPts val="1155"/>
              </a:lnSpc>
              <a:spcAft>
                <a:spcPts val="600"/>
              </a:spcAft>
              <a:buNone/>
            </a:pPr>
            <a:r>
              <a:rPr lang="en-US" sz="825" b="1" dirty="0">
                <a:solidFill>
                  <a:srgbClr val="FFFFFF"/>
                </a:solidFill>
                <a:latin typeface="Arial" pitchFamily="34" charset="0"/>
                <a:ea typeface="Arial" pitchFamily="34" charset="-122"/>
                <a:cs typeface="Arial" pitchFamily="34" charset="-120"/>
              </a:rPr>
              <a:t>MVP FOCUS AREAS</a:t>
            </a:r>
            <a:endParaRPr lang="en-US" sz="825" dirty="0"/>
          </a:p>
        </p:txBody>
      </p:sp>
      <p:sp>
        <p:nvSpPr>
          <p:cNvPr id="12" name="Text 10"/>
          <p:cNvSpPr/>
          <p:nvPr/>
        </p:nvSpPr>
        <p:spPr>
          <a:xfrm>
            <a:off x="438150" y="3445966"/>
            <a:ext cx="2594190" cy="609600"/>
          </a:xfrm>
          <a:prstGeom prst="rect">
            <a:avLst/>
          </a:prstGeom>
          <a:noFill/>
          <a:ln/>
        </p:spPr>
        <p:txBody>
          <a:bodyPr wrap="square" lIns="0" tIns="0" rIns="0" bIns="0" rtlCol="0" anchor="t"/>
          <a:lstStyle/>
          <a:p>
            <a:pPr marL="0" indent="0" algn="l">
              <a:lnSpc>
                <a:spcPts val="1200"/>
              </a:lnSpc>
              <a:buNone/>
            </a:pPr>
            <a:r>
              <a:rPr lang="en-US" sz="750" dirty="0">
                <a:solidFill>
                  <a:srgbClr val="FFFFFF">
                    <a:alpha val="60000"/>
                  </a:srgbClr>
                </a:solidFill>
                <a:latin typeface="Arial" pitchFamily="34" charset="0"/>
                <a:ea typeface="Arial" pitchFamily="34" charset="-122"/>
                <a:cs typeface="Arial" pitchFamily="34" charset="-120"/>
              </a:rPr>
              <a:t>Core functionality first</a:t>
            </a:r>
            <a:endParaRPr lang="en-US" sz="750" dirty="0"/>
          </a:p>
          <a:p>
            <a:pPr marL="0" indent="0" algn="l">
              <a:lnSpc>
                <a:spcPts val="1200"/>
              </a:lnSpc>
              <a:buNone/>
            </a:pPr>
            <a:r>
              <a:rPr lang="en-US" sz="750" dirty="0">
                <a:solidFill>
                  <a:srgbClr val="FFFFFF">
                    <a:alpha val="60000"/>
                  </a:srgbClr>
                </a:solidFill>
                <a:latin typeface="Arial" pitchFamily="34" charset="0"/>
                <a:ea typeface="Arial" pitchFamily="34" charset="-122"/>
                <a:cs typeface="Arial" pitchFamily="34" charset="-120"/>
              </a:rPr>
              <a:t> UI/UX experimentation</a:t>
            </a:r>
            <a:endParaRPr lang="en-US" sz="750" dirty="0"/>
          </a:p>
          <a:p>
            <a:pPr marL="0" indent="0" algn="l">
              <a:lnSpc>
                <a:spcPts val="1200"/>
              </a:lnSpc>
              <a:buNone/>
            </a:pPr>
            <a:r>
              <a:rPr lang="en-US" sz="750" dirty="0">
                <a:solidFill>
                  <a:srgbClr val="FFFFFF">
                    <a:alpha val="60000"/>
                  </a:srgbClr>
                </a:solidFill>
                <a:latin typeface="Arial" pitchFamily="34" charset="0"/>
                <a:ea typeface="Arial" pitchFamily="34" charset="-122"/>
                <a:cs typeface="Arial" pitchFamily="34" charset="-120"/>
              </a:rPr>
              <a:t> Bug discovery &amp; fixes</a:t>
            </a:r>
            <a:endParaRPr lang="en-US" sz="750" dirty="0"/>
          </a:p>
          <a:p>
            <a:pPr marL="0" indent="0" algn="l">
              <a:lnSpc>
                <a:spcPts val="1200"/>
              </a:lnSpc>
              <a:buNone/>
            </a:pPr>
            <a:r>
              <a:rPr lang="en-US" sz="750" dirty="0">
                <a:solidFill>
                  <a:srgbClr val="FFFFFF">
                    <a:alpha val="60000"/>
                  </a:srgbClr>
                </a:solidFill>
                <a:latin typeface="Arial" pitchFamily="34" charset="0"/>
                <a:ea typeface="Arial" pitchFamily="34" charset="-122"/>
                <a:cs typeface="Arial" pitchFamily="34" charset="-120"/>
              </a:rPr>
              <a:t> Design iteration</a:t>
            </a:r>
            <a:endParaRPr lang="en-US" sz="750" dirty="0"/>
          </a:p>
        </p:txBody>
      </p:sp>
      <p:sp>
        <p:nvSpPr>
          <p:cNvPr id="13" name="Text 11"/>
          <p:cNvSpPr/>
          <p:nvPr/>
        </p:nvSpPr>
        <p:spPr>
          <a:xfrm>
            <a:off x="304800" y="4493716"/>
            <a:ext cx="2810024" cy="361950"/>
          </a:xfrm>
          <a:prstGeom prst="rect">
            <a:avLst/>
          </a:prstGeom>
          <a:solidFill>
            <a:srgbClr val="C9A227"/>
          </a:solidFill>
          <a:ln/>
        </p:spPr>
        <p:txBody>
          <a:bodyPr wrap="square" rtlCol="0" anchor="ctr"/>
          <a:lstStyle/>
          <a:p>
            <a:pPr marL="0" indent="0">
              <a:buNone/>
            </a:pPr>
            <a:endParaRPr lang="en-US" dirty="0"/>
          </a:p>
        </p:txBody>
      </p:sp>
      <p:sp>
        <p:nvSpPr>
          <p:cNvPr id="14" name="Text 12"/>
          <p:cNvSpPr/>
          <p:nvPr/>
        </p:nvSpPr>
        <p:spPr>
          <a:xfrm>
            <a:off x="393286" y="4608016"/>
            <a:ext cx="2633052" cy="133350"/>
          </a:xfrm>
          <a:prstGeom prst="rect">
            <a:avLst/>
          </a:prstGeom>
          <a:noFill/>
          <a:ln/>
        </p:spPr>
        <p:txBody>
          <a:bodyPr wrap="square" lIns="0" tIns="0" rIns="0" bIns="0" rtlCol="0" anchor="t"/>
          <a:lstStyle/>
          <a:p>
            <a:pPr marL="0" indent="0" algn="ctr">
              <a:lnSpc>
                <a:spcPts val="1050"/>
              </a:lnSpc>
              <a:buNone/>
            </a:pPr>
            <a:r>
              <a:rPr lang="en-US" sz="750" b="1" dirty="0">
                <a:solidFill>
                  <a:srgbClr val="1A1F2E"/>
                </a:solidFill>
                <a:latin typeface="Arial" pitchFamily="34" charset="0"/>
                <a:ea typeface="Arial" pitchFamily="34" charset="-122"/>
                <a:cs typeface="Arial" pitchFamily="34" charset="-120"/>
              </a:rPr>
              <a:t>Expect to throw away 50% of this code</a:t>
            </a:r>
            <a:endParaRPr lang="en-US" sz="750" dirty="0"/>
          </a:p>
        </p:txBody>
      </p:sp>
      <p:sp>
        <p:nvSpPr>
          <p:cNvPr id="15" name="Text 13"/>
          <p:cNvSpPr/>
          <p:nvPr/>
        </p:nvSpPr>
        <p:spPr>
          <a:xfrm>
            <a:off x="3572024" y="0"/>
            <a:ext cx="5571976" cy="5143500"/>
          </a:xfrm>
          <a:prstGeom prst="rect">
            <a:avLst/>
          </a:prstGeom>
          <a:solidFill>
            <a:srgbClr val="F7F8FA"/>
          </a:solidFill>
          <a:ln/>
        </p:spPr>
        <p:txBody>
          <a:bodyPr wrap="square" rtlCol="0" anchor="ctr"/>
          <a:lstStyle/>
          <a:p>
            <a:pPr marL="0" indent="0">
              <a:buNone/>
            </a:pPr>
            <a:endParaRPr lang="en-US" dirty="0"/>
          </a:p>
        </p:txBody>
      </p:sp>
      <p:sp>
        <p:nvSpPr>
          <p:cNvPr id="16" name="Text 14"/>
          <p:cNvSpPr/>
          <p:nvPr/>
        </p:nvSpPr>
        <p:spPr>
          <a:xfrm>
            <a:off x="3876824" y="649039"/>
            <a:ext cx="5061624" cy="173236"/>
          </a:xfrm>
          <a:prstGeom prst="rect">
            <a:avLst/>
          </a:prstGeom>
          <a:noFill/>
          <a:ln/>
        </p:spPr>
        <p:txBody>
          <a:bodyPr wrap="square" lIns="0" tIns="0" rIns="0" bIns="0" rtlCol="0" anchor="t"/>
          <a:lstStyle/>
          <a:p>
            <a:pPr marL="0" indent="0" algn="l">
              <a:lnSpc>
                <a:spcPts val="1365"/>
              </a:lnSpc>
              <a:spcAft>
                <a:spcPts val="1050"/>
              </a:spcAft>
              <a:buNone/>
            </a:pPr>
            <a:r>
              <a:rPr lang="en-US" sz="975" b="1" dirty="0">
                <a:solidFill>
                  <a:srgbClr val="1A1F2E"/>
                </a:solidFill>
                <a:latin typeface="Arial" pitchFamily="34" charset="0"/>
                <a:ea typeface="Arial" pitchFamily="34" charset="-122"/>
                <a:cs typeface="Arial" pitchFamily="34" charset="-120"/>
              </a:rPr>
              <a:t>THE PROTOTYPING MINDSET</a:t>
            </a:r>
            <a:endParaRPr lang="en-US" sz="975" dirty="0"/>
          </a:p>
        </p:txBody>
      </p:sp>
      <p:sp>
        <p:nvSpPr>
          <p:cNvPr id="17" name="Text 15"/>
          <p:cNvSpPr/>
          <p:nvPr/>
        </p:nvSpPr>
        <p:spPr>
          <a:xfrm>
            <a:off x="3876824" y="1108025"/>
            <a:ext cx="1590675" cy="765572"/>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18" name="Text 16"/>
          <p:cNvSpPr/>
          <p:nvPr/>
        </p:nvSpPr>
        <p:spPr>
          <a:xfrm>
            <a:off x="4000649" y="1231850"/>
            <a:ext cx="1369886" cy="239911"/>
          </a:xfrm>
          <a:prstGeom prst="rect">
            <a:avLst/>
          </a:prstGeom>
          <a:noFill/>
          <a:ln/>
        </p:spPr>
        <p:txBody>
          <a:bodyPr wrap="square" lIns="0" tIns="0" rIns="0" bIns="0" rtlCol="0" anchor="t"/>
          <a:lstStyle/>
          <a:p>
            <a:pPr marL="0" indent="0" algn="l">
              <a:lnSpc>
                <a:spcPts val="1890"/>
              </a:lnSpc>
              <a:spcAft>
                <a:spcPts val="300"/>
              </a:spcAft>
              <a:buNone/>
            </a:pPr>
            <a:r>
              <a:rPr lang="en-US" sz="1350" b="1" dirty="0">
                <a:solidFill>
                  <a:srgbClr val="7C3AED"/>
                </a:solidFill>
                <a:latin typeface="Arial" pitchFamily="34" charset="0"/>
                <a:ea typeface="Arial" pitchFamily="34" charset="-122"/>
                <a:cs typeface="Arial" pitchFamily="34" charset="-120"/>
              </a:rPr>
              <a:t>Speed</a:t>
            </a:r>
            <a:endParaRPr lang="en-US" sz="1350" dirty="0"/>
          </a:p>
        </p:txBody>
      </p:sp>
      <p:sp>
        <p:nvSpPr>
          <p:cNvPr id="19" name="Text 17"/>
          <p:cNvSpPr/>
          <p:nvPr/>
        </p:nvSpPr>
        <p:spPr>
          <a:xfrm>
            <a:off x="4000649" y="1509861"/>
            <a:ext cx="1369886" cy="239911"/>
          </a:xfrm>
          <a:prstGeom prst="rect">
            <a:avLst/>
          </a:prstGeom>
          <a:noFill/>
          <a:ln/>
        </p:spPr>
        <p:txBody>
          <a:bodyPr wrap="square" lIns="0" tIns="0" rIns="0" bIns="0" rtlCol="0" anchor="t"/>
          <a:lstStyle/>
          <a:p>
            <a:pPr marL="0" indent="0" algn="l">
              <a:lnSpc>
                <a:spcPts val="945"/>
              </a:lnSpc>
              <a:buNone/>
            </a:pPr>
            <a:r>
              <a:rPr lang="en-US" sz="675" dirty="0">
                <a:solidFill>
                  <a:srgbClr val="6B7280"/>
                </a:solidFill>
                <a:latin typeface="Arial" pitchFamily="34" charset="0"/>
                <a:ea typeface="Arial" pitchFamily="34" charset="-122"/>
                <a:cs typeface="Arial" pitchFamily="34" charset="-120"/>
              </a:rPr>
              <a:t>Build quickly. Don't over-engineer. The goal is to see what works.</a:t>
            </a:r>
            <a:endParaRPr lang="en-US" sz="675" dirty="0"/>
          </a:p>
        </p:txBody>
      </p:sp>
      <p:sp>
        <p:nvSpPr>
          <p:cNvPr id="20" name="Text 18"/>
          <p:cNvSpPr/>
          <p:nvPr/>
        </p:nvSpPr>
        <p:spPr>
          <a:xfrm>
            <a:off x="5562749" y="1108025"/>
            <a:ext cx="1590675" cy="765572"/>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21" name="Text 19"/>
          <p:cNvSpPr/>
          <p:nvPr/>
        </p:nvSpPr>
        <p:spPr>
          <a:xfrm>
            <a:off x="5686574" y="1231850"/>
            <a:ext cx="1369886" cy="239911"/>
          </a:xfrm>
          <a:prstGeom prst="rect">
            <a:avLst/>
          </a:prstGeom>
          <a:noFill/>
          <a:ln/>
        </p:spPr>
        <p:txBody>
          <a:bodyPr wrap="square" lIns="0" tIns="0" rIns="0" bIns="0" rtlCol="0" anchor="t"/>
          <a:lstStyle/>
          <a:p>
            <a:pPr marL="0" indent="0" algn="l">
              <a:lnSpc>
                <a:spcPts val="1890"/>
              </a:lnSpc>
              <a:spcAft>
                <a:spcPts val="300"/>
              </a:spcAft>
              <a:buNone/>
            </a:pPr>
            <a:r>
              <a:rPr lang="en-US" sz="1350" b="1" dirty="0">
                <a:solidFill>
                  <a:srgbClr val="7C3AED"/>
                </a:solidFill>
                <a:latin typeface="Arial" pitchFamily="34" charset="0"/>
                <a:ea typeface="Arial" pitchFamily="34" charset="-122"/>
                <a:cs typeface="Arial" pitchFamily="34" charset="-120"/>
              </a:rPr>
              <a:t>Learn</a:t>
            </a:r>
            <a:endParaRPr lang="en-US" sz="1350" dirty="0"/>
          </a:p>
        </p:txBody>
      </p:sp>
      <p:sp>
        <p:nvSpPr>
          <p:cNvPr id="22" name="Text 20"/>
          <p:cNvSpPr/>
          <p:nvPr/>
        </p:nvSpPr>
        <p:spPr>
          <a:xfrm>
            <a:off x="5686574" y="1509861"/>
            <a:ext cx="1369886" cy="239911"/>
          </a:xfrm>
          <a:prstGeom prst="rect">
            <a:avLst/>
          </a:prstGeom>
          <a:noFill/>
          <a:ln/>
        </p:spPr>
        <p:txBody>
          <a:bodyPr wrap="square" lIns="0" tIns="0" rIns="0" bIns="0" rtlCol="0" anchor="t"/>
          <a:lstStyle/>
          <a:p>
            <a:pPr marL="0" indent="0" algn="l">
              <a:lnSpc>
                <a:spcPts val="945"/>
              </a:lnSpc>
              <a:buNone/>
            </a:pPr>
            <a:r>
              <a:rPr lang="en-US" sz="675" dirty="0">
                <a:solidFill>
                  <a:srgbClr val="6B7280"/>
                </a:solidFill>
                <a:latin typeface="Arial" pitchFamily="34" charset="0"/>
                <a:ea typeface="Arial" pitchFamily="34" charset="-122"/>
                <a:cs typeface="Arial" pitchFamily="34" charset="-120"/>
              </a:rPr>
              <a:t>Each iteration teaches you something. Bugs are data points.</a:t>
            </a:r>
            <a:endParaRPr lang="en-US" sz="675" dirty="0"/>
          </a:p>
        </p:txBody>
      </p:sp>
      <p:sp>
        <p:nvSpPr>
          <p:cNvPr id="23" name="Text 21"/>
          <p:cNvSpPr/>
          <p:nvPr/>
        </p:nvSpPr>
        <p:spPr>
          <a:xfrm>
            <a:off x="7248674" y="1108025"/>
            <a:ext cx="1590675" cy="765572"/>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24" name="Text 22"/>
          <p:cNvSpPr/>
          <p:nvPr/>
        </p:nvSpPr>
        <p:spPr>
          <a:xfrm>
            <a:off x="7372499" y="1231850"/>
            <a:ext cx="1369886" cy="239911"/>
          </a:xfrm>
          <a:prstGeom prst="rect">
            <a:avLst/>
          </a:prstGeom>
          <a:noFill/>
          <a:ln/>
        </p:spPr>
        <p:txBody>
          <a:bodyPr wrap="square" lIns="0" tIns="0" rIns="0" bIns="0" rtlCol="0" anchor="t"/>
          <a:lstStyle/>
          <a:p>
            <a:pPr marL="0" indent="0" algn="l">
              <a:lnSpc>
                <a:spcPts val="1890"/>
              </a:lnSpc>
              <a:spcAft>
                <a:spcPts val="300"/>
              </a:spcAft>
              <a:buNone/>
            </a:pPr>
            <a:r>
              <a:rPr lang="en-US" sz="1350" b="1" dirty="0">
                <a:solidFill>
                  <a:srgbClr val="7C3AED"/>
                </a:solidFill>
                <a:latin typeface="Arial" pitchFamily="34" charset="0"/>
                <a:ea typeface="Arial" pitchFamily="34" charset="-122"/>
                <a:cs typeface="Arial" pitchFamily="34" charset="-120"/>
              </a:rPr>
              <a:t>Iterate</a:t>
            </a:r>
            <a:endParaRPr lang="en-US" sz="1350" dirty="0"/>
          </a:p>
        </p:txBody>
      </p:sp>
      <p:sp>
        <p:nvSpPr>
          <p:cNvPr id="25" name="Text 23"/>
          <p:cNvSpPr/>
          <p:nvPr/>
        </p:nvSpPr>
        <p:spPr>
          <a:xfrm>
            <a:off x="7372499" y="1509861"/>
            <a:ext cx="1369886" cy="239911"/>
          </a:xfrm>
          <a:prstGeom prst="rect">
            <a:avLst/>
          </a:prstGeom>
          <a:noFill/>
          <a:ln/>
        </p:spPr>
        <p:txBody>
          <a:bodyPr wrap="square" lIns="0" tIns="0" rIns="0" bIns="0" rtlCol="0" anchor="t"/>
          <a:lstStyle/>
          <a:p>
            <a:pPr marL="0" indent="0" algn="l">
              <a:lnSpc>
                <a:spcPts val="945"/>
              </a:lnSpc>
              <a:buNone/>
            </a:pPr>
            <a:r>
              <a:rPr lang="en-US" sz="675" dirty="0">
                <a:solidFill>
                  <a:srgbClr val="6B7280"/>
                </a:solidFill>
                <a:latin typeface="Arial" pitchFamily="34" charset="0"/>
                <a:ea typeface="Arial" pitchFamily="34" charset="-122"/>
                <a:cs typeface="Arial" pitchFamily="34" charset="-120"/>
              </a:rPr>
              <a:t>Refine through cycles. Each version gets closer to the vision.</a:t>
            </a:r>
            <a:endParaRPr lang="en-US" sz="675" dirty="0"/>
          </a:p>
        </p:txBody>
      </p:sp>
      <p:sp>
        <p:nvSpPr>
          <p:cNvPr id="26" name="Text 24"/>
          <p:cNvSpPr/>
          <p:nvPr/>
        </p:nvSpPr>
        <p:spPr>
          <a:xfrm>
            <a:off x="3876824" y="2140297"/>
            <a:ext cx="4962376" cy="700980"/>
          </a:xfrm>
          <a:prstGeom prst="rect">
            <a:avLst/>
          </a:prstGeom>
          <a:solidFill>
            <a:srgbClr val="1A1F2E"/>
          </a:solidFill>
          <a:ln/>
        </p:spPr>
        <p:txBody>
          <a:bodyPr wrap="square" rtlCol="0" anchor="ctr"/>
          <a:lstStyle/>
          <a:p>
            <a:pPr marL="0" indent="0">
              <a:buNone/>
            </a:pPr>
            <a:endParaRPr lang="en-US" dirty="0"/>
          </a:p>
        </p:txBody>
      </p:sp>
      <p:sp>
        <p:nvSpPr>
          <p:cNvPr id="27" name="Text 25"/>
          <p:cNvSpPr/>
          <p:nvPr/>
        </p:nvSpPr>
        <p:spPr>
          <a:xfrm>
            <a:off x="4010174" y="2273647"/>
            <a:ext cx="4789590" cy="119955"/>
          </a:xfrm>
          <a:prstGeom prst="rect">
            <a:avLst/>
          </a:prstGeom>
          <a:noFill/>
          <a:ln/>
        </p:spPr>
        <p:txBody>
          <a:bodyPr wrap="square" lIns="0" tIns="0" rIns="0" bIns="0" rtlCol="0" anchor="t"/>
          <a:lstStyle/>
          <a:p>
            <a:pPr marL="0" indent="0" algn="l">
              <a:lnSpc>
                <a:spcPts val="945"/>
              </a:lnSpc>
              <a:spcAft>
                <a:spcPts val="450"/>
              </a:spcAft>
              <a:buNone/>
            </a:pPr>
            <a:r>
              <a:rPr lang="en-US" sz="675" dirty="0">
                <a:solidFill>
                  <a:srgbClr val="C9A227"/>
                </a:solidFill>
                <a:latin typeface="Arial" pitchFamily="34" charset="0"/>
                <a:ea typeface="Arial" pitchFamily="34" charset="-122"/>
                <a:cs typeface="Arial" pitchFamily="34" charset="-120"/>
              </a:rPr>
              <a:t>EXAMPLE VOICE PROMPT</a:t>
            </a:r>
            <a:endParaRPr lang="en-US" sz="675" dirty="0"/>
          </a:p>
        </p:txBody>
      </p:sp>
      <p:sp>
        <p:nvSpPr>
          <p:cNvPr id="28" name="Text 26"/>
          <p:cNvSpPr/>
          <p:nvPr/>
        </p:nvSpPr>
        <p:spPr>
          <a:xfrm>
            <a:off x="4010174" y="2450753"/>
            <a:ext cx="4789590" cy="257175"/>
          </a:xfrm>
          <a:prstGeom prst="rect">
            <a:avLst/>
          </a:prstGeom>
          <a:noFill/>
          <a:ln/>
        </p:spPr>
        <p:txBody>
          <a:bodyPr wrap="square" lIns="0" tIns="0" rIns="0" bIns="0" rtlCol="0" anchor="t"/>
          <a:lstStyle/>
          <a:p>
            <a:pPr marL="0" indent="0" algn="l">
              <a:lnSpc>
                <a:spcPts val="1013"/>
              </a:lnSpc>
              <a:buNone/>
            </a:pPr>
            <a:r>
              <a:rPr lang="en-US" sz="675" dirty="0">
                <a:solidFill>
                  <a:srgbClr val="FFFFFF">
                    <a:alpha val="80000"/>
                  </a:srgbClr>
                </a:solidFill>
                <a:latin typeface="Arial" pitchFamily="34" charset="0"/>
                <a:ea typeface="Arial" pitchFamily="34" charset="-122"/>
                <a:cs typeface="Arial" pitchFamily="34" charset="-120"/>
              </a:rPr>
              <a:t>"Let's start building the MVP. Focus on the core user flow first — I want something I can actually click through and test. Don't worry about edge cases yet, just get the happy path working."</a:t>
            </a:r>
            <a:endParaRPr lang="en-US" sz="675" dirty="0"/>
          </a:p>
        </p:txBody>
      </p:sp>
      <p:sp>
        <p:nvSpPr>
          <p:cNvPr id="29" name="Text 27"/>
          <p:cNvSpPr/>
          <p:nvPr/>
        </p:nvSpPr>
        <p:spPr>
          <a:xfrm>
            <a:off x="3876824" y="3107978"/>
            <a:ext cx="2433638" cy="599777"/>
          </a:xfrm>
          <a:prstGeom prst="rect">
            <a:avLst/>
          </a:prstGeom>
          <a:solidFill>
            <a:srgbClr val="DCFCE7"/>
          </a:solidFill>
          <a:ln/>
        </p:spPr>
        <p:txBody>
          <a:bodyPr wrap="square" rtlCol="0" anchor="ctr"/>
          <a:lstStyle/>
          <a:p>
            <a:pPr marL="0" indent="0">
              <a:buNone/>
            </a:pPr>
            <a:endParaRPr lang="en-US" dirty="0"/>
          </a:p>
        </p:txBody>
      </p:sp>
      <p:sp>
        <p:nvSpPr>
          <p:cNvPr id="30" name="Shape 28"/>
          <p:cNvSpPr/>
          <p:nvPr/>
        </p:nvSpPr>
        <p:spPr>
          <a:xfrm>
            <a:off x="3891111" y="3107978"/>
            <a:ext cx="0" cy="599777"/>
          </a:xfrm>
          <a:prstGeom prst="line">
            <a:avLst/>
          </a:prstGeom>
          <a:noFill/>
          <a:ln w="28575">
            <a:solidFill>
              <a:srgbClr val="059669"/>
            </a:solidFill>
            <a:prstDash val="solid"/>
          </a:ln>
        </p:spPr>
        <p:txBody>
          <a:bodyPr/>
          <a:lstStyle/>
          <a:p>
            <a:endParaRPr lang="en-US"/>
          </a:p>
        </p:txBody>
      </p:sp>
      <p:sp>
        <p:nvSpPr>
          <p:cNvPr id="31" name="Text 29"/>
          <p:cNvSpPr/>
          <p:nvPr/>
        </p:nvSpPr>
        <p:spPr>
          <a:xfrm>
            <a:off x="4019699" y="3222278"/>
            <a:ext cx="2219992" cy="119955"/>
          </a:xfrm>
          <a:prstGeom prst="rect">
            <a:avLst/>
          </a:prstGeom>
          <a:noFill/>
          <a:ln/>
        </p:spPr>
        <p:txBody>
          <a:bodyPr wrap="square" lIns="0" tIns="0" rIns="0" bIns="0" rtlCol="0" anchor="t"/>
          <a:lstStyle/>
          <a:p>
            <a:pPr marL="0" indent="0" algn="l">
              <a:lnSpc>
                <a:spcPts val="945"/>
              </a:lnSpc>
              <a:spcAft>
                <a:spcPts val="300"/>
              </a:spcAft>
              <a:buNone/>
            </a:pPr>
            <a:r>
              <a:rPr lang="en-US" sz="675" b="1" dirty="0">
                <a:solidFill>
                  <a:srgbClr val="166534"/>
                </a:solidFill>
                <a:latin typeface="Arial" pitchFamily="34" charset="0"/>
                <a:ea typeface="Arial" pitchFamily="34" charset="-122"/>
                <a:cs typeface="Arial" pitchFamily="34" charset="-120"/>
              </a:rPr>
              <a:t>DO</a:t>
            </a:r>
            <a:endParaRPr lang="en-US" sz="675" dirty="0"/>
          </a:p>
        </p:txBody>
      </p:sp>
      <p:sp>
        <p:nvSpPr>
          <p:cNvPr id="32" name="Text 30"/>
          <p:cNvSpPr/>
          <p:nvPr/>
        </p:nvSpPr>
        <p:spPr>
          <a:xfrm>
            <a:off x="4019699" y="3380333"/>
            <a:ext cx="2219992" cy="213122"/>
          </a:xfrm>
          <a:prstGeom prst="rect">
            <a:avLst/>
          </a:prstGeom>
          <a:noFill/>
          <a:ln/>
        </p:spPr>
        <p:txBody>
          <a:bodyPr wrap="square" lIns="0" tIns="0" rIns="0" bIns="0" rtlCol="0" anchor="t"/>
          <a:lstStyle/>
          <a:p>
            <a:pPr marL="0" indent="0" algn="l">
              <a:lnSpc>
                <a:spcPts val="840"/>
              </a:lnSpc>
              <a:buNone/>
            </a:pPr>
            <a:r>
              <a:rPr lang="en-US" sz="600" dirty="0">
                <a:solidFill>
                  <a:srgbClr val="166534"/>
                </a:solidFill>
                <a:latin typeface="Arial" pitchFamily="34" charset="0"/>
                <a:ea typeface="Arial" pitchFamily="34" charset="-122"/>
                <a:cs typeface="Arial" pitchFamily="34" charset="-120"/>
              </a:rPr>
              <a:t>Build fast, test often, embrace failure as learning, commit frequently</a:t>
            </a:r>
            <a:endParaRPr lang="en-US" sz="600" dirty="0"/>
          </a:p>
        </p:txBody>
      </p:sp>
      <p:sp>
        <p:nvSpPr>
          <p:cNvPr id="33" name="Text 31"/>
          <p:cNvSpPr/>
          <p:nvPr/>
        </p:nvSpPr>
        <p:spPr>
          <a:xfrm>
            <a:off x="6405711" y="3107978"/>
            <a:ext cx="2433638" cy="599777"/>
          </a:xfrm>
          <a:prstGeom prst="rect">
            <a:avLst/>
          </a:prstGeom>
          <a:solidFill>
            <a:srgbClr val="FEE2E2"/>
          </a:solidFill>
          <a:ln/>
        </p:spPr>
        <p:txBody>
          <a:bodyPr wrap="square" rtlCol="0" anchor="ctr"/>
          <a:lstStyle/>
          <a:p>
            <a:pPr marL="0" indent="0">
              <a:buNone/>
            </a:pPr>
            <a:endParaRPr lang="en-US" dirty="0"/>
          </a:p>
        </p:txBody>
      </p:sp>
      <p:sp>
        <p:nvSpPr>
          <p:cNvPr id="34" name="Shape 32"/>
          <p:cNvSpPr/>
          <p:nvPr/>
        </p:nvSpPr>
        <p:spPr>
          <a:xfrm>
            <a:off x="6419999" y="3107978"/>
            <a:ext cx="0" cy="599777"/>
          </a:xfrm>
          <a:prstGeom prst="line">
            <a:avLst/>
          </a:prstGeom>
          <a:noFill/>
          <a:ln w="28575">
            <a:solidFill>
              <a:srgbClr val="DC2626"/>
            </a:solidFill>
            <a:prstDash val="solid"/>
          </a:ln>
        </p:spPr>
        <p:txBody>
          <a:bodyPr/>
          <a:lstStyle/>
          <a:p>
            <a:endParaRPr lang="en-US"/>
          </a:p>
        </p:txBody>
      </p:sp>
      <p:sp>
        <p:nvSpPr>
          <p:cNvPr id="35" name="Text 33"/>
          <p:cNvSpPr/>
          <p:nvPr/>
        </p:nvSpPr>
        <p:spPr>
          <a:xfrm>
            <a:off x="6548586" y="3222278"/>
            <a:ext cx="2219992" cy="119955"/>
          </a:xfrm>
          <a:prstGeom prst="rect">
            <a:avLst/>
          </a:prstGeom>
          <a:noFill/>
          <a:ln/>
        </p:spPr>
        <p:txBody>
          <a:bodyPr wrap="square" lIns="0" tIns="0" rIns="0" bIns="0" rtlCol="0" anchor="t"/>
          <a:lstStyle/>
          <a:p>
            <a:pPr marL="0" indent="0" algn="l">
              <a:lnSpc>
                <a:spcPts val="945"/>
              </a:lnSpc>
              <a:spcAft>
                <a:spcPts val="300"/>
              </a:spcAft>
              <a:buNone/>
            </a:pPr>
            <a:r>
              <a:rPr lang="en-US" sz="675" b="1" dirty="0">
                <a:solidFill>
                  <a:srgbClr val="991B1B"/>
                </a:solidFill>
                <a:latin typeface="Arial" pitchFamily="34" charset="0"/>
                <a:ea typeface="Arial" pitchFamily="34" charset="-122"/>
                <a:cs typeface="Arial" pitchFamily="34" charset="-120"/>
              </a:rPr>
              <a:t>DON'T</a:t>
            </a:r>
            <a:endParaRPr lang="en-US" sz="675" dirty="0"/>
          </a:p>
        </p:txBody>
      </p:sp>
      <p:sp>
        <p:nvSpPr>
          <p:cNvPr id="36" name="Text 34"/>
          <p:cNvSpPr/>
          <p:nvPr/>
        </p:nvSpPr>
        <p:spPr>
          <a:xfrm>
            <a:off x="6548586" y="3380333"/>
            <a:ext cx="2219992" cy="213122"/>
          </a:xfrm>
          <a:prstGeom prst="rect">
            <a:avLst/>
          </a:prstGeom>
          <a:noFill/>
          <a:ln/>
        </p:spPr>
        <p:txBody>
          <a:bodyPr wrap="square" lIns="0" tIns="0" rIns="0" bIns="0" rtlCol="0" anchor="t"/>
          <a:lstStyle/>
          <a:p>
            <a:pPr marL="0" indent="0" algn="l">
              <a:lnSpc>
                <a:spcPts val="840"/>
              </a:lnSpc>
              <a:buNone/>
            </a:pPr>
            <a:r>
              <a:rPr lang="en-US" sz="600" dirty="0">
                <a:solidFill>
                  <a:srgbClr val="991B1B"/>
                </a:solidFill>
                <a:latin typeface="Arial" pitchFamily="34" charset="0"/>
                <a:ea typeface="Arial" pitchFamily="34" charset="-122"/>
                <a:cs typeface="Arial" pitchFamily="34" charset="-120"/>
              </a:rPr>
              <a:t>Perfect code style, handle all edge cases, write comprehensive tests yet</a:t>
            </a:r>
            <a:endParaRPr lang="en-US" sz="600" dirty="0"/>
          </a:p>
        </p:txBody>
      </p:sp>
      <p:sp>
        <p:nvSpPr>
          <p:cNvPr id="37" name="Text 35"/>
          <p:cNvSpPr/>
          <p:nvPr/>
        </p:nvSpPr>
        <p:spPr>
          <a:xfrm>
            <a:off x="3876824" y="3974455"/>
            <a:ext cx="4962376" cy="520005"/>
          </a:xfrm>
          <a:prstGeom prst="rect">
            <a:avLst/>
          </a:prstGeom>
          <a:solidFill>
            <a:srgbClr val="DBEAFE"/>
          </a:solidFill>
          <a:ln/>
        </p:spPr>
        <p:txBody>
          <a:bodyPr wrap="square" rtlCol="0" anchor="ctr"/>
          <a:lstStyle/>
          <a:p>
            <a:pPr marL="0" indent="0">
              <a:buNone/>
            </a:pPr>
            <a:endParaRPr lang="en-US" dirty="0"/>
          </a:p>
        </p:txBody>
      </p:sp>
      <p:sp>
        <p:nvSpPr>
          <p:cNvPr id="38" name="Shape 36"/>
          <p:cNvSpPr/>
          <p:nvPr/>
        </p:nvSpPr>
        <p:spPr>
          <a:xfrm>
            <a:off x="3891111" y="3974455"/>
            <a:ext cx="0" cy="520005"/>
          </a:xfrm>
          <a:prstGeom prst="line">
            <a:avLst/>
          </a:prstGeom>
          <a:noFill/>
          <a:ln w="28575">
            <a:solidFill>
              <a:srgbClr val="3B82F6"/>
            </a:solidFill>
            <a:prstDash val="solid"/>
          </a:ln>
        </p:spPr>
        <p:txBody>
          <a:bodyPr/>
          <a:lstStyle/>
          <a:p>
            <a:endParaRPr lang="en-US"/>
          </a:p>
        </p:txBody>
      </p:sp>
      <p:sp>
        <p:nvSpPr>
          <p:cNvPr id="39" name="Text 37"/>
          <p:cNvSpPr/>
          <p:nvPr/>
        </p:nvSpPr>
        <p:spPr>
          <a:xfrm>
            <a:off x="4019699" y="4088755"/>
            <a:ext cx="4799305"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1E40AF"/>
                </a:solidFill>
                <a:latin typeface="Arial" pitchFamily="34" charset="0"/>
                <a:ea typeface="Arial" pitchFamily="34" charset="-122"/>
                <a:cs typeface="Arial" pitchFamily="34" charset="-120"/>
              </a:rPr>
              <a:t>PROTOTYPE OUTPUT</a:t>
            </a:r>
            <a:endParaRPr lang="en-US" sz="750" dirty="0"/>
          </a:p>
        </p:txBody>
      </p:sp>
      <p:sp>
        <p:nvSpPr>
          <p:cNvPr id="40" name="Text 38"/>
          <p:cNvSpPr/>
          <p:nvPr/>
        </p:nvSpPr>
        <p:spPr>
          <a:xfrm>
            <a:off x="4019699" y="4260205"/>
            <a:ext cx="4799305" cy="119955"/>
          </a:xfrm>
          <a:prstGeom prst="rect">
            <a:avLst/>
          </a:prstGeom>
          <a:noFill/>
          <a:ln/>
        </p:spPr>
        <p:txBody>
          <a:bodyPr wrap="square" lIns="0" tIns="0" rIns="0" bIns="0" rtlCol="0" anchor="t"/>
          <a:lstStyle/>
          <a:p>
            <a:pPr marL="0" indent="0" algn="l">
              <a:lnSpc>
                <a:spcPts val="945"/>
              </a:lnSpc>
              <a:buNone/>
            </a:pPr>
            <a:r>
              <a:rPr lang="en-US" sz="675" dirty="0">
                <a:solidFill>
                  <a:srgbClr val="1E40AF"/>
                </a:solidFill>
                <a:latin typeface="Arial" pitchFamily="34" charset="0"/>
                <a:ea typeface="Arial" pitchFamily="34" charset="-122"/>
                <a:cs typeface="Arial" pitchFamily="34" charset="-120"/>
              </a:rPr>
              <a:t>A working (rough) version you can interact with. This becomes the foundation for documentation standards in Phase 6.</a:t>
            </a:r>
            <a:endParaRPr lang="en-US" sz="675"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0" y="0"/>
            <a:ext cx="3419624" cy="5143500"/>
          </a:xfrm>
          <a:prstGeom prst="rect">
            <a:avLst/>
          </a:prstGeom>
          <a:solidFill>
            <a:srgbClr val="1A1F2E"/>
          </a:solidFill>
          <a:ln/>
        </p:spPr>
        <p:txBody>
          <a:bodyPr wrap="square" rtlCol="0" anchor="ctr"/>
          <a:lstStyle/>
          <a:p>
            <a:pPr marL="0" indent="0">
              <a:buNone/>
            </a:pPr>
            <a:endParaRPr lang="en-US" dirty="0"/>
          </a:p>
        </p:txBody>
      </p:sp>
      <p:sp>
        <p:nvSpPr>
          <p:cNvPr id="3" name="Text 1"/>
          <p:cNvSpPr/>
          <p:nvPr/>
        </p:nvSpPr>
        <p:spPr>
          <a:xfrm>
            <a:off x="304800" y="304800"/>
            <a:ext cx="981373" cy="234255"/>
          </a:xfrm>
          <a:prstGeom prst="rect">
            <a:avLst/>
          </a:prstGeom>
          <a:solidFill>
            <a:srgbClr val="0D9488"/>
          </a:solidFill>
          <a:ln/>
        </p:spPr>
        <p:txBody>
          <a:bodyPr wrap="square" rtlCol="0" anchor="ctr"/>
          <a:lstStyle/>
          <a:p>
            <a:pPr marL="0" indent="0">
              <a:buNone/>
            </a:pPr>
            <a:endParaRPr lang="en-US" dirty="0"/>
          </a:p>
        </p:txBody>
      </p:sp>
      <p:sp>
        <p:nvSpPr>
          <p:cNvPr id="4" name="Text 2"/>
          <p:cNvSpPr/>
          <p:nvPr/>
        </p:nvSpPr>
        <p:spPr>
          <a:xfrm>
            <a:off x="419100" y="361950"/>
            <a:ext cx="767828" cy="119955"/>
          </a:xfrm>
          <a:prstGeom prst="rect">
            <a:avLst/>
          </a:prstGeom>
          <a:noFill/>
          <a:ln/>
        </p:spPr>
        <p:txBody>
          <a:bodyPr wrap="square" lIns="0" tIns="0" rIns="0" bIns="0" rtlCol="0" anchor="t"/>
          <a:lstStyle/>
          <a:p>
            <a:pPr marL="0" indent="0" algn="l">
              <a:lnSpc>
                <a:spcPts val="945"/>
              </a:lnSpc>
              <a:buNone/>
            </a:pPr>
            <a:r>
              <a:rPr lang="en-US" sz="675" b="1" dirty="0">
                <a:solidFill>
                  <a:srgbClr val="FFFFFF"/>
                </a:solidFill>
                <a:latin typeface="Arial" pitchFamily="34" charset="0"/>
                <a:ea typeface="Arial" pitchFamily="34" charset="-122"/>
                <a:cs typeface="Arial" pitchFamily="34" charset="-120"/>
              </a:rPr>
              <a:t>PHASE 6 OF 10</a:t>
            </a:r>
            <a:endParaRPr lang="en-US" sz="675" dirty="0"/>
          </a:p>
        </p:txBody>
      </p:sp>
      <p:sp>
        <p:nvSpPr>
          <p:cNvPr id="5" name="Text 3"/>
          <p:cNvSpPr/>
          <p:nvPr/>
        </p:nvSpPr>
        <p:spPr>
          <a:xfrm>
            <a:off x="304800" y="805755"/>
            <a:ext cx="1748790" cy="594122"/>
          </a:xfrm>
          <a:prstGeom prst="rect">
            <a:avLst/>
          </a:prstGeom>
          <a:noFill/>
          <a:ln/>
        </p:spPr>
        <p:txBody>
          <a:bodyPr wrap="square" lIns="0" tIns="0" rIns="0" bIns="0" rtlCol="0" anchor="t"/>
          <a:lstStyle/>
          <a:p>
            <a:pPr marL="0" indent="0" algn="l">
              <a:lnSpc>
                <a:spcPts val="2340"/>
              </a:lnSpc>
              <a:spcAft>
                <a:spcPts val="900"/>
              </a:spcAft>
              <a:buNone/>
            </a:pPr>
            <a:r>
              <a:rPr lang="en-US" sz="1950" dirty="0">
                <a:solidFill>
                  <a:srgbClr val="FFFFFF"/>
                </a:solidFill>
                <a:latin typeface="Georgia" pitchFamily="34" charset="0"/>
                <a:ea typeface="Georgia" pitchFamily="34" charset="-122"/>
                <a:cs typeface="Georgia" pitchFamily="34" charset="-120"/>
              </a:rPr>
              <a:t>Documentation</a:t>
            </a:r>
            <a:endParaRPr lang="en-US" sz="1950" dirty="0"/>
          </a:p>
          <a:p>
            <a:pPr marL="0" indent="0" algn="l">
              <a:lnSpc>
                <a:spcPts val="2340"/>
              </a:lnSpc>
              <a:spcAft>
                <a:spcPts val="900"/>
              </a:spcAft>
              <a:buNone/>
            </a:pPr>
            <a:r>
              <a:rPr lang="en-US" sz="1950" dirty="0">
                <a:solidFill>
                  <a:srgbClr val="FFFFFF"/>
                </a:solidFill>
                <a:latin typeface="Georgia" pitchFamily="34" charset="0"/>
                <a:ea typeface="Georgia" pitchFamily="34" charset="-122"/>
                <a:cs typeface="Georgia" pitchFamily="34" charset="-120"/>
              </a:rPr>
              <a:t>&amp; Standards</a:t>
            </a:r>
            <a:endParaRPr lang="en-US" sz="1950" dirty="0"/>
          </a:p>
        </p:txBody>
      </p:sp>
      <p:sp>
        <p:nvSpPr>
          <p:cNvPr id="6" name="Text 4"/>
          <p:cNvSpPr/>
          <p:nvPr/>
        </p:nvSpPr>
        <p:spPr>
          <a:xfrm>
            <a:off x="304800" y="1666577"/>
            <a:ext cx="381000" cy="11906"/>
          </a:xfrm>
          <a:prstGeom prst="rect">
            <a:avLst/>
          </a:prstGeom>
          <a:solidFill>
            <a:srgbClr val="C9A227"/>
          </a:solidFill>
          <a:ln/>
        </p:spPr>
        <p:txBody>
          <a:bodyPr wrap="square" rtlCol="0" anchor="ctr"/>
          <a:lstStyle/>
          <a:p>
            <a:pPr marL="0" indent="0">
              <a:buNone/>
            </a:pPr>
            <a:endParaRPr lang="en-US" dirty="0"/>
          </a:p>
        </p:txBody>
      </p:sp>
      <p:sp>
        <p:nvSpPr>
          <p:cNvPr id="7" name="Text 5"/>
          <p:cNvSpPr/>
          <p:nvPr/>
        </p:nvSpPr>
        <p:spPr>
          <a:xfrm>
            <a:off x="304800" y="1983284"/>
            <a:ext cx="2810024" cy="784771"/>
          </a:xfrm>
          <a:prstGeom prst="rect">
            <a:avLst/>
          </a:prstGeom>
          <a:solidFill>
            <a:srgbClr val="0D9488">
              <a:alpha val="15000"/>
            </a:srgbClr>
          </a:solidFill>
          <a:ln/>
        </p:spPr>
        <p:txBody>
          <a:bodyPr wrap="square" rtlCol="0" anchor="ctr"/>
          <a:lstStyle/>
          <a:p>
            <a:pPr marL="0" indent="0">
              <a:buNone/>
            </a:pPr>
            <a:endParaRPr lang="en-US" dirty="0"/>
          </a:p>
        </p:txBody>
      </p:sp>
      <p:sp>
        <p:nvSpPr>
          <p:cNvPr id="8" name="Shape 6"/>
          <p:cNvSpPr/>
          <p:nvPr/>
        </p:nvSpPr>
        <p:spPr>
          <a:xfrm>
            <a:off x="319088" y="1983284"/>
            <a:ext cx="0" cy="784771"/>
          </a:xfrm>
          <a:prstGeom prst="line">
            <a:avLst/>
          </a:prstGeom>
          <a:noFill/>
          <a:ln w="28575">
            <a:solidFill>
              <a:srgbClr val="0D9488"/>
            </a:solidFill>
            <a:prstDash val="solid"/>
          </a:ln>
        </p:spPr>
        <p:txBody>
          <a:bodyPr/>
          <a:lstStyle/>
          <a:p>
            <a:endParaRPr lang="en-US"/>
          </a:p>
        </p:txBody>
      </p:sp>
      <p:sp>
        <p:nvSpPr>
          <p:cNvPr id="9" name="Text 7"/>
          <p:cNvSpPr/>
          <p:nvPr/>
        </p:nvSpPr>
        <p:spPr>
          <a:xfrm>
            <a:off x="466725" y="2116634"/>
            <a:ext cx="2565044" cy="146596"/>
          </a:xfrm>
          <a:prstGeom prst="rect">
            <a:avLst/>
          </a:prstGeom>
          <a:noFill/>
          <a:ln/>
        </p:spPr>
        <p:txBody>
          <a:bodyPr wrap="square" lIns="0" tIns="0" rIns="0" bIns="0" rtlCol="0" anchor="t"/>
          <a:lstStyle/>
          <a:p>
            <a:pPr marL="0" indent="0" algn="l">
              <a:lnSpc>
                <a:spcPts val="1155"/>
              </a:lnSpc>
              <a:spcAft>
                <a:spcPts val="450"/>
              </a:spcAft>
              <a:buNone/>
            </a:pPr>
            <a:r>
              <a:rPr lang="en-US" sz="825" b="1" dirty="0">
                <a:solidFill>
                  <a:srgbClr val="5EEAD4"/>
                </a:solidFill>
                <a:latin typeface="Arial" pitchFamily="34" charset="0"/>
                <a:ea typeface="Arial" pitchFamily="34" charset="-122"/>
                <a:cs typeface="Arial" pitchFamily="34" charset="-120"/>
              </a:rPr>
              <a:t>THE OBJECTIVE</a:t>
            </a:r>
            <a:endParaRPr lang="en-US" sz="825" dirty="0"/>
          </a:p>
        </p:txBody>
      </p:sp>
      <p:sp>
        <p:nvSpPr>
          <p:cNvPr id="10" name="Text 8"/>
          <p:cNvSpPr/>
          <p:nvPr/>
        </p:nvSpPr>
        <p:spPr>
          <a:xfrm>
            <a:off x="466725" y="2320379"/>
            <a:ext cx="2565044" cy="314325"/>
          </a:xfrm>
          <a:prstGeom prst="rect">
            <a:avLst/>
          </a:prstGeom>
          <a:noFill/>
          <a:ln/>
        </p:spPr>
        <p:txBody>
          <a:bodyPr wrap="square" lIns="0" tIns="0" rIns="0" bIns="0" rtlCol="0" anchor="t"/>
          <a:lstStyle/>
          <a:p>
            <a:pPr marL="0" indent="0" algn="l">
              <a:lnSpc>
                <a:spcPts val="1238"/>
              </a:lnSpc>
              <a:buNone/>
            </a:pPr>
            <a:r>
              <a:rPr lang="en-US" sz="825" dirty="0">
                <a:solidFill>
                  <a:srgbClr val="FFFFFF">
                    <a:alpha val="80000"/>
                  </a:srgbClr>
                </a:solidFill>
                <a:latin typeface="Arial" pitchFamily="34" charset="0"/>
                <a:ea typeface="Arial" pitchFamily="34" charset="-122"/>
                <a:cs typeface="Arial" pitchFamily="34" charset="-120"/>
              </a:rPr>
              <a:t>Capture what you learned from prototyping. Define the rules that will guide all future development.</a:t>
            </a:r>
            <a:endParaRPr lang="en-US" sz="825" dirty="0"/>
          </a:p>
        </p:txBody>
      </p:sp>
      <p:sp>
        <p:nvSpPr>
          <p:cNvPr id="11" name="Text 9"/>
          <p:cNvSpPr/>
          <p:nvPr/>
        </p:nvSpPr>
        <p:spPr>
          <a:xfrm>
            <a:off x="304800" y="3072854"/>
            <a:ext cx="2810024" cy="1099096"/>
          </a:xfrm>
          <a:prstGeom prst="rect">
            <a:avLst/>
          </a:prstGeom>
          <a:solidFill>
            <a:srgbClr val="FFFFFF">
              <a:alpha val="5000"/>
            </a:srgbClr>
          </a:solidFill>
          <a:ln/>
        </p:spPr>
        <p:txBody>
          <a:bodyPr wrap="square" rtlCol="0" anchor="ctr"/>
          <a:lstStyle/>
          <a:p>
            <a:pPr marL="0" indent="0">
              <a:buNone/>
            </a:pPr>
            <a:endParaRPr lang="en-US" dirty="0"/>
          </a:p>
        </p:txBody>
      </p:sp>
      <p:sp>
        <p:nvSpPr>
          <p:cNvPr id="12" name="Text 10"/>
          <p:cNvSpPr/>
          <p:nvPr/>
        </p:nvSpPr>
        <p:spPr>
          <a:xfrm>
            <a:off x="438150" y="3206204"/>
            <a:ext cx="2594190" cy="146596"/>
          </a:xfrm>
          <a:prstGeom prst="rect">
            <a:avLst/>
          </a:prstGeom>
          <a:noFill/>
          <a:ln/>
        </p:spPr>
        <p:txBody>
          <a:bodyPr wrap="square" lIns="0" tIns="0" rIns="0" bIns="0" rtlCol="0" anchor="t"/>
          <a:lstStyle/>
          <a:p>
            <a:pPr marL="0" indent="0" algn="l">
              <a:lnSpc>
                <a:spcPts val="1155"/>
              </a:lnSpc>
              <a:spcAft>
                <a:spcPts val="600"/>
              </a:spcAft>
              <a:buNone/>
            </a:pPr>
            <a:r>
              <a:rPr lang="en-US" sz="825" b="1" dirty="0">
                <a:solidFill>
                  <a:srgbClr val="FFFFFF"/>
                </a:solidFill>
                <a:latin typeface="Arial" pitchFamily="34" charset="0"/>
                <a:ea typeface="Arial" pitchFamily="34" charset="-122"/>
                <a:cs typeface="Arial" pitchFamily="34" charset="-120"/>
              </a:rPr>
              <a:t>WHY THIS MATTERS</a:t>
            </a:r>
            <a:endParaRPr lang="en-US" sz="825" dirty="0"/>
          </a:p>
        </p:txBody>
      </p:sp>
      <p:sp>
        <p:nvSpPr>
          <p:cNvPr id="13" name="Text 11"/>
          <p:cNvSpPr/>
          <p:nvPr/>
        </p:nvSpPr>
        <p:spPr>
          <a:xfrm>
            <a:off x="438150" y="3429000"/>
            <a:ext cx="2594190" cy="609600"/>
          </a:xfrm>
          <a:prstGeom prst="rect">
            <a:avLst/>
          </a:prstGeom>
          <a:noFill/>
          <a:ln/>
        </p:spPr>
        <p:txBody>
          <a:bodyPr wrap="square" lIns="0" tIns="0" rIns="0" bIns="0" rtlCol="0" anchor="t"/>
          <a:lstStyle/>
          <a:p>
            <a:pPr marL="0" indent="0" algn="l">
              <a:lnSpc>
                <a:spcPts val="1200"/>
              </a:lnSpc>
              <a:buNone/>
            </a:pPr>
            <a:r>
              <a:rPr lang="en-US" sz="750" dirty="0">
                <a:solidFill>
                  <a:srgbClr val="FFFFFF">
                    <a:alpha val="60000"/>
                  </a:srgbClr>
                </a:solidFill>
                <a:latin typeface="Arial" pitchFamily="34" charset="0"/>
                <a:ea typeface="Arial" pitchFamily="34" charset="-122"/>
                <a:cs typeface="Arial" pitchFamily="34" charset="-120"/>
              </a:rPr>
              <a:t>AI agents need context</a:t>
            </a:r>
            <a:endParaRPr lang="en-US" sz="750" dirty="0"/>
          </a:p>
          <a:p>
            <a:pPr marL="0" indent="0" algn="l">
              <a:lnSpc>
                <a:spcPts val="1200"/>
              </a:lnSpc>
              <a:buNone/>
            </a:pPr>
            <a:r>
              <a:rPr lang="en-US" sz="750" dirty="0">
                <a:solidFill>
                  <a:srgbClr val="FFFFFF">
                    <a:alpha val="60000"/>
                  </a:srgbClr>
                </a:solidFill>
                <a:latin typeface="Arial" pitchFamily="34" charset="0"/>
                <a:ea typeface="Arial" pitchFamily="34" charset="-122"/>
                <a:cs typeface="Arial" pitchFamily="34" charset="-120"/>
              </a:rPr>
              <a:t> Consistency across iterations</a:t>
            </a:r>
            <a:endParaRPr lang="en-US" sz="750" dirty="0"/>
          </a:p>
          <a:p>
            <a:pPr marL="0" indent="0" algn="l">
              <a:lnSpc>
                <a:spcPts val="1200"/>
              </a:lnSpc>
              <a:buNone/>
            </a:pPr>
            <a:r>
              <a:rPr lang="en-US" sz="750" dirty="0">
                <a:solidFill>
                  <a:srgbClr val="FFFFFF">
                    <a:alpha val="60000"/>
                  </a:srgbClr>
                </a:solidFill>
                <a:latin typeface="Arial" pitchFamily="34" charset="0"/>
                <a:ea typeface="Arial" pitchFamily="34" charset="-122"/>
                <a:cs typeface="Arial" pitchFamily="34" charset="-120"/>
              </a:rPr>
              <a:t> Prevents design drift</a:t>
            </a:r>
            <a:endParaRPr lang="en-US" sz="750" dirty="0"/>
          </a:p>
          <a:p>
            <a:pPr marL="0" indent="0" algn="l">
              <a:lnSpc>
                <a:spcPts val="1200"/>
              </a:lnSpc>
              <a:buNone/>
            </a:pPr>
            <a:r>
              <a:rPr lang="en-US" sz="750" dirty="0">
                <a:solidFill>
                  <a:srgbClr val="FFFFFF">
                    <a:alpha val="60000"/>
                  </a:srgbClr>
                </a:solidFill>
                <a:latin typeface="Arial" pitchFamily="34" charset="0"/>
                <a:ea typeface="Arial" pitchFamily="34" charset="-122"/>
                <a:cs typeface="Arial" pitchFamily="34" charset="-120"/>
              </a:rPr>
              <a:t> Speeds future decisions</a:t>
            </a:r>
            <a:endParaRPr lang="en-US" sz="750" dirty="0"/>
          </a:p>
        </p:txBody>
      </p:sp>
      <p:sp>
        <p:nvSpPr>
          <p:cNvPr id="14" name="Text 12"/>
          <p:cNvSpPr/>
          <p:nvPr/>
        </p:nvSpPr>
        <p:spPr>
          <a:xfrm>
            <a:off x="304800" y="4476750"/>
            <a:ext cx="2810024" cy="361950"/>
          </a:xfrm>
          <a:prstGeom prst="rect">
            <a:avLst/>
          </a:prstGeom>
          <a:solidFill>
            <a:srgbClr val="C9A227"/>
          </a:solidFill>
          <a:ln/>
        </p:spPr>
        <p:txBody>
          <a:bodyPr wrap="square" rtlCol="0" anchor="ctr"/>
          <a:lstStyle/>
          <a:p>
            <a:pPr marL="0" indent="0">
              <a:buNone/>
            </a:pPr>
            <a:endParaRPr lang="en-US" dirty="0"/>
          </a:p>
        </p:txBody>
      </p:sp>
      <p:sp>
        <p:nvSpPr>
          <p:cNvPr id="15" name="Text 13"/>
          <p:cNvSpPr/>
          <p:nvPr/>
        </p:nvSpPr>
        <p:spPr>
          <a:xfrm>
            <a:off x="393286" y="4591050"/>
            <a:ext cx="2633052" cy="133350"/>
          </a:xfrm>
          <a:prstGeom prst="rect">
            <a:avLst/>
          </a:prstGeom>
          <a:noFill/>
          <a:ln/>
        </p:spPr>
        <p:txBody>
          <a:bodyPr wrap="square" lIns="0" tIns="0" rIns="0" bIns="0" rtlCol="0" anchor="t"/>
          <a:lstStyle/>
          <a:p>
            <a:pPr marL="0" indent="0" algn="ctr">
              <a:lnSpc>
                <a:spcPts val="1050"/>
              </a:lnSpc>
              <a:buNone/>
            </a:pPr>
            <a:r>
              <a:rPr lang="en-US" sz="750" b="1" dirty="0">
                <a:solidFill>
                  <a:srgbClr val="1A1F2E"/>
                </a:solidFill>
                <a:latin typeface="Arial" pitchFamily="34" charset="0"/>
                <a:ea typeface="Arial" pitchFamily="34" charset="-122"/>
                <a:cs typeface="Arial" pitchFamily="34" charset="-120"/>
              </a:rPr>
              <a:t>Document everything in markdown</a:t>
            </a:r>
            <a:endParaRPr lang="en-US" sz="750" dirty="0"/>
          </a:p>
        </p:txBody>
      </p:sp>
      <p:sp>
        <p:nvSpPr>
          <p:cNvPr id="16" name="Text 14"/>
          <p:cNvSpPr/>
          <p:nvPr/>
        </p:nvSpPr>
        <p:spPr>
          <a:xfrm>
            <a:off x="3572024" y="0"/>
            <a:ext cx="5571976" cy="5143500"/>
          </a:xfrm>
          <a:prstGeom prst="rect">
            <a:avLst/>
          </a:prstGeom>
          <a:solidFill>
            <a:srgbClr val="F7F8FA"/>
          </a:solidFill>
          <a:ln/>
        </p:spPr>
        <p:txBody>
          <a:bodyPr wrap="square" rtlCol="0" anchor="ctr"/>
          <a:lstStyle/>
          <a:p>
            <a:pPr marL="0" indent="0">
              <a:buNone/>
            </a:pPr>
            <a:endParaRPr lang="en-US" dirty="0"/>
          </a:p>
        </p:txBody>
      </p:sp>
      <p:sp>
        <p:nvSpPr>
          <p:cNvPr id="17" name="Text 15"/>
          <p:cNvSpPr/>
          <p:nvPr/>
        </p:nvSpPr>
        <p:spPr>
          <a:xfrm>
            <a:off x="3876824" y="354509"/>
            <a:ext cx="5061624" cy="173236"/>
          </a:xfrm>
          <a:prstGeom prst="rect">
            <a:avLst/>
          </a:prstGeom>
          <a:noFill/>
          <a:ln/>
        </p:spPr>
        <p:txBody>
          <a:bodyPr wrap="square" lIns="0" tIns="0" rIns="0" bIns="0" rtlCol="0" anchor="t"/>
          <a:lstStyle/>
          <a:p>
            <a:pPr marL="0" indent="0" algn="l">
              <a:lnSpc>
                <a:spcPts val="1365"/>
              </a:lnSpc>
              <a:spcAft>
                <a:spcPts val="1050"/>
              </a:spcAft>
              <a:buNone/>
            </a:pPr>
            <a:r>
              <a:rPr lang="en-US" sz="975" b="1" dirty="0">
                <a:solidFill>
                  <a:srgbClr val="1A1F2E"/>
                </a:solidFill>
                <a:latin typeface="Arial" pitchFamily="34" charset="0"/>
                <a:ea typeface="Arial" pitchFamily="34" charset="-122"/>
                <a:cs typeface="Arial" pitchFamily="34" charset="-120"/>
              </a:rPr>
              <a:t>DOCUMENTATION ARTIFACTS</a:t>
            </a:r>
            <a:endParaRPr lang="en-US" sz="975" dirty="0"/>
          </a:p>
        </p:txBody>
      </p:sp>
      <p:sp>
        <p:nvSpPr>
          <p:cNvPr id="18" name="Text 16"/>
          <p:cNvSpPr/>
          <p:nvPr/>
        </p:nvSpPr>
        <p:spPr>
          <a:xfrm>
            <a:off x="3876824" y="813495"/>
            <a:ext cx="4962376" cy="990600"/>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19" name="Text 17"/>
          <p:cNvSpPr/>
          <p:nvPr/>
        </p:nvSpPr>
        <p:spPr>
          <a:xfrm>
            <a:off x="4019699" y="956370"/>
            <a:ext cx="1486472" cy="133350"/>
          </a:xfrm>
          <a:prstGeom prst="rect">
            <a:avLst/>
          </a:prstGeom>
          <a:noFill/>
          <a:ln/>
        </p:spPr>
        <p:txBody>
          <a:bodyPr wrap="square" lIns="0" tIns="0" rIns="0" bIns="0" rtlCol="0" anchor="t"/>
          <a:lstStyle/>
          <a:p>
            <a:pPr marL="0" indent="0" algn="l">
              <a:lnSpc>
                <a:spcPts val="1050"/>
              </a:lnSpc>
              <a:spcAft>
                <a:spcPts val="450"/>
              </a:spcAft>
              <a:buNone/>
            </a:pPr>
            <a:r>
              <a:rPr lang="en-US" sz="750" b="1" dirty="0">
                <a:solidFill>
                  <a:srgbClr val="0D9488"/>
                </a:solidFill>
                <a:latin typeface="Arial" pitchFamily="34" charset="0"/>
                <a:ea typeface="Arial" pitchFamily="34" charset="-122"/>
                <a:cs typeface="Arial" pitchFamily="34" charset="-120"/>
              </a:rPr>
              <a:t>UI/UX PATTERNS</a:t>
            </a:r>
            <a:endParaRPr lang="en-US" sz="750" dirty="0"/>
          </a:p>
        </p:txBody>
      </p:sp>
      <p:sp>
        <p:nvSpPr>
          <p:cNvPr id="20" name="Text 18"/>
          <p:cNvSpPr/>
          <p:nvPr/>
        </p:nvSpPr>
        <p:spPr>
          <a:xfrm>
            <a:off x="4019699" y="1146870"/>
            <a:ext cx="1486472" cy="514350"/>
          </a:xfrm>
          <a:prstGeom prst="rect">
            <a:avLst/>
          </a:prstGeom>
          <a:noFill/>
          <a:ln/>
        </p:spPr>
        <p:txBody>
          <a:bodyPr wrap="square" lIns="0" tIns="0" rIns="0" bIns="0" rtlCol="0" anchor="t"/>
          <a:lstStyle/>
          <a:p>
            <a:pPr marL="0" indent="0" algn="l">
              <a:lnSpc>
                <a:spcPts val="1013"/>
              </a:lnSpc>
              <a:buNone/>
            </a:pPr>
            <a:r>
              <a:rPr lang="en-US" sz="675" dirty="0">
                <a:solidFill>
                  <a:srgbClr val="6B7280"/>
                </a:solidFill>
                <a:latin typeface="Arial" pitchFamily="34" charset="0"/>
                <a:ea typeface="Arial" pitchFamily="34" charset="-122"/>
                <a:cs typeface="Arial" pitchFamily="34" charset="-120"/>
              </a:rPr>
              <a:t>Component naming conventions</a:t>
            </a:r>
            <a:endParaRPr lang="en-US" sz="675" dirty="0"/>
          </a:p>
          <a:p>
            <a:pPr marL="0" indent="0" algn="l">
              <a:lnSpc>
                <a:spcPts val="1013"/>
              </a:lnSpc>
              <a:buNone/>
            </a:pPr>
            <a:r>
              <a:rPr lang="en-US" sz="675" dirty="0">
                <a:solidFill>
                  <a:srgbClr val="6B7280"/>
                </a:solidFill>
                <a:latin typeface="Arial" pitchFamily="34" charset="0"/>
                <a:ea typeface="Arial" pitchFamily="34" charset="-122"/>
                <a:cs typeface="Arial" pitchFamily="34" charset="-120"/>
              </a:rPr>
              <a:t> Layout grid decisions</a:t>
            </a:r>
            <a:endParaRPr lang="en-US" sz="675" dirty="0"/>
          </a:p>
          <a:p>
            <a:pPr marL="0" indent="0" algn="l">
              <a:lnSpc>
                <a:spcPts val="1013"/>
              </a:lnSpc>
              <a:buNone/>
            </a:pPr>
            <a:r>
              <a:rPr lang="en-US" sz="675" dirty="0">
                <a:solidFill>
                  <a:srgbClr val="6B7280"/>
                </a:solidFill>
                <a:latin typeface="Arial" pitchFamily="34" charset="0"/>
                <a:ea typeface="Arial" pitchFamily="34" charset="-122"/>
                <a:cs typeface="Arial" pitchFamily="34" charset="-120"/>
              </a:rPr>
              <a:t> Color palette rationale</a:t>
            </a:r>
            <a:endParaRPr lang="en-US" sz="675" dirty="0"/>
          </a:p>
          <a:p>
            <a:pPr marL="0" indent="0" algn="l">
              <a:lnSpc>
                <a:spcPts val="1013"/>
              </a:lnSpc>
              <a:buNone/>
            </a:pPr>
            <a:r>
              <a:rPr lang="en-US" sz="675" dirty="0">
                <a:solidFill>
                  <a:srgbClr val="6B7280"/>
                </a:solidFill>
                <a:latin typeface="Arial" pitchFamily="34" charset="0"/>
                <a:ea typeface="Arial" pitchFamily="34" charset="-122"/>
                <a:cs typeface="Arial" pitchFamily="34" charset="-120"/>
              </a:rPr>
              <a:t> Typography scale</a:t>
            </a:r>
            <a:endParaRPr lang="en-US" sz="675" dirty="0"/>
          </a:p>
        </p:txBody>
      </p:sp>
      <p:sp>
        <p:nvSpPr>
          <p:cNvPr id="21" name="Text 19"/>
          <p:cNvSpPr/>
          <p:nvPr/>
        </p:nvSpPr>
        <p:spPr>
          <a:xfrm>
            <a:off x="5629424" y="956370"/>
            <a:ext cx="1486472" cy="133350"/>
          </a:xfrm>
          <a:prstGeom prst="rect">
            <a:avLst/>
          </a:prstGeom>
          <a:noFill/>
          <a:ln/>
        </p:spPr>
        <p:txBody>
          <a:bodyPr wrap="square" lIns="0" tIns="0" rIns="0" bIns="0" rtlCol="0" anchor="t"/>
          <a:lstStyle/>
          <a:p>
            <a:pPr marL="0" indent="0" algn="l">
              <a:lnSpc>
                <a:spcPts val="1050"/>
              </a:lnSpc>
              <a:spcAft>
                <a:spcPts val="450"/>
              </a:spcAft>
              <a:buNone/>
            </a:pPr>
            <a:r>
              <a:rPr lang="en-US" sz="750" b="1" dirty="0">
                <a:solidFill>
                  <a:srgbClr val="0D9488"/>
                </a:solidFill>
                <a:latin typeface="Arial" pitchFamily="34" charset="0"/>
                <a:ea typeface="Arial" pitchFamily="34" charset="-122"/>
                <a:cs typeface="Arial" pitchFamily="34" charset="-120"/>
              </a:rPr>
              <a:t>DESIGN LANGUAGE</a:t>
            </a:r>
            <a:endParaRPr lang="en-US" sz="750" dirty="0"/>
          </a:p>
        </p:txBody>
      </p:sp>
      <p:sp>
        <p:nvSpPr>
          <p:cNvPr id="22" name="Text 20"/>
          <p:cNvSpPr/>
          <p:nvPr/>
        </p:nvSpPr>
        <p:spPr>
          <a:xfrm>
            <a:off x="5629424" y="1146870"/>
            <a:ext cx="1486472" cy="514350"/>
          </a:xfrm>
          <a:prstGeom prst="rect">
            <a:avLst/>
          </a:prstGeom>
          <a:noFill/>
          <a:ln/>
        </p:spPr>
        <p:txBody>
          <a:bodyPr wrap="square" lIns="0" tIns="0" rIns="0" bIns="0" rtlCol="0" anchor="t"/>
          <a:lstStyle/>
          <a:p>
            <a:pPr marL="0" indent="0" algn="l">
              <a:lnSpc>
                <a:spcPts val="1013"/>
              </a:lnSpc>
              <a:buNone/>
            </a:pPr>
            <a:r>
              <a:rPr lang="en-US" sz="675" dirty="0">
                <a:solidFill>
                  <a:srgbClr val="6B7280"/>
                </a:solidFill>
                <a:latin typeface="Arial" pitchFamily="34" charset="0"/>
                <a:ea typeface="Arial" pitchFamily="34" charset="-122"/>
                <a:cs typeface="Arial" pitchFamily="34" charset="-120"/>
              </a:rPr>
              <a:t>Voice and tone guide</a:t>
            </a:r>
            <a:endParaRPr lang="en-US" sz="675" dirty="0"/>
          </a:p>
          <a:p>
            <a:pPr marL="0" indent="0" algn="l">
              <a:lnSpc>
                <a:spcPts val="1013"/>
              </a:lnSpc>
              <a:buNone/>
            </a:pPr>
            <a:r>
              <a:rPr lang="en-US" sz="675" dirty="0">
                <a:solidFill>
                  <a:srgbClr val="6B7280"/>
                </a:solidFill>
                <a:latin typeface="Arial" pitchFamily="34" charset="0"/>
                <a:ea typeface="Arial" pitchFamily="34" charset="-122"/>
                <a:cs typeface="Arial" pitchFamily="34" charset="-120"/>
              </a:rPr>
              <a:t> Interaction patterns</a:t>
            </a:r>
            <a:endParaRPr lang="en-US" sz="675" dirty="0"/>
          </a:p>
          <a:p>
            <a:pPr marL="0" indent="0" algn="l">
              <a:lnSpc>
                <a:spcPts val="1013"/>
              </a:lnSpc>
              <a:buNone/>
            </a:pPr>
            <a:r>
              <a:rPr lang="en-US" sz="675" dirty="0">
                <a:solidFill>
                  <a:srgbClr val="6B7280"/>
                </a:solidFill>
                <a:latin typeface="Arial" pitchFamily="34" charset="0"/>
                <a:ea typeface="Arial" pitchFamily="34" charset="-122"/>
                <a:cs typeface="Arial" pitchFamily="34" charset="-120"/>
              </a:rPr>
              <a:t> Error messaging style</a:t>
            </a:r>
            <a:endParaRPr lang="en-US" sz="675" dirty="0"/>
          </a:p>
          <a:p>
            <a:pPr marL="0" indent="0" algn="l">
              <a:lnSpc>
                <a:spcPts val="1013"/>
              </a:lnSpc>
              <a:buNone/>
            </a:pPr>
            <a:r>
              <a:rPr lang="en-US" sz="675" dirty="0">
                <a:solidFill>
                  <a:srgbClr val="6B7280"/>
                </a:solidFill>
                <a:latin typeface="Arial" pitchFamily="34" charset="0"/>
                <a:ea typeface="Arial" pitchFamily="34" charset="-122"/>
                <a:cs typeface="Arial" pitchFamily="34" charset="-120"/>
              </a:rPr>
              <a:t> Iconography rules</a:t>
            </a:r>
            <a:endParaRPr lang="en-US" sz="675" dirty="0"/>
          </a:p>
        </p:txBody>
      </p:sp>
      <p:sp>
        <p:nvSpPr>
          <p:cNvPr id="23" name="Text 21"/>
          <p:cNvSpPr/>
          <p:nvPr/>
        </p:nvSpPr>
        <p:spPr>
          <a:xfrm>
            <a:off x="7239149" y="956370"/>
            <a:ext cx="1486472" cy="133350"/>
          </a:xfrm>
          <a:prstGeom prst="rect">
            <a:avLst/>
          </a:prstGeom>
          <a:noFill/>
          <a:ln/>
        </p:spPr>
        <p:txBody>
          <a:bodyPr wrap="square" lIns="0" tIns="0" rIns="0" bIns="0" rtlCol="0" anchor="t"/>
          <a:lstStyle/>
          <a:p>
            <a:pPr marL="0" indent="0" algn="l">
              <a:lnSpc>
                <a:spcPts val="1050"/>
              </a:lnSpc>
              <a:spcAft>
                <a:spcPts val="450"/>
              </a:spcAft>
              <a:buNone/>
            </a:pPr>
            <a:r>
              <a:rPr lang="en-US" sz="750" b="1" dirty="0">
                <a:solidFill>
                  <a:srgbClr val="0D9488"/>
                </a:solidFill>
                <a:latin typeface="Arial" pitchFamily="34" charset="0"/>
                <a:ea typeface="Arial" pitchFamily="34" charset="-122"/>
                <a:cs typeface="Arial" pitchFamily="34" charset="-120"/>
              </a:rPr>
              <a:t>NARRATIVE GUIDELINES</a:t>
            </a:r>
            <a:endParaRPr lang="en-US" sz="750" dirty="0"/>
          </a:p>
        </p:txBody>
      </p:sp>
      <p:sp>
        <p:nvSpPr>
          <p:cNvPr id="24" name="Text 22"/>
          <p:cNvSpPr/>
          <p:nvPr/>
        </p:nvSpPr>
        <p:spPr>
          <a:xfrm>
            <a:off x="7239149" y="1146870"/>
            <a:ext cx="1486472" cy="514350"/>
          </a:xfrm>
          <a:prstGeom prst="rect">
            <a:avLst/>
          </a:prstGeom>
          <a:noFill/>
          <a:ln/>
        </p:spPr>
        <p:txBody>
          <a:bodyPr wrap="square" lIns="0" tIns="0" rIns="0" bIns="0" rtlCol="0" anchor="t"/>
          <a:lstStyle/>
          <a:p>
            <a:pPr marL="0" indent="0" algn="l">
              <a:lnSpc>
                <a:spcPts val="1013"/>
              </a:lnSpc>
              <a:buNone/>
            </a:pPr>
            <a:r>
              <a:rPr lang="en-US" sz="675" dirty="0">
                <a:solidFill>
                  <a:srgbClr val="6B7280"/>
                </a:solidFill>
                <a:latin typeface="Arial" pitchFamily="34" charset="0"/>
                <a:ea typeface="Arial" pitchFamily="34" charset="-122"/>
                <a:cs typeface="Arial" pitchFamily="34" charset="-120"/>
              </a:rPr>
              <a:t>User journey story</a:t>
            </a:r>
            <a:endParaRPr lang="en-US" sz="675" dirty="0"/>
          </a:p>
          <a:p>
            <a:pPr marL="0" indent="0" algn="l">
              <a:lnSpc>
                <a:spcPts val="1013"/>
              </a:lnSpc>
              <a:buNone/>
            </a:pPr>
            <a:r>
              <a:rPr lang="en-US" sz="675" dirty="0">
                <a:solidFill>
                  <a:srgbClr val="6B7280"/>
                </a:solidFill>
                <a:latin typeface="Arial" pitchFamily="34" charset="0"/>
                <a:ea typeface="Arial" pitchFamily="34" charset="-122"/>
                <a:cs typeface="Arial" pitchFamily="34" charset="-120"/>
              </a:rPr>
              <a:t> Feature priorities</a:t>
            </a:r>
            <a:endParaRPr lang="en-US" sz="675" dirty="0"/>
          </a:p>
          <a:p>
            <a:pPr marL="0" indent="0" algn="l">
              <a:lnSpc>
                <a:spcPts val="1013"/>
              </a:lnSpc>
              <a:buNone/>
            </a:pPr>
            <a:r>
              <a:rPr lang="en-US" sz="675" dirty="0">
                <a:solidFill>
                  <a:srgbClr val="6B7280"/>
                </a:solidFill>
                <a:latin typeface="Arial" pitchFamily="34" charset="0"/>
                <a:ea typeface="Arial" pitchFamily="34" charset="-122"/>
                <a:cs typeface="Arial" pitchFamily="34" charset="-120"/>
              </a:rPr>
              <a:t> What we're NOT building</a:t>
            </a:r>
            <a:endParaRPr lang="en-US" sz="675" dirty="0"/>
          </a:p>
          <a:p>
            <a:pPr marL="0" indent="0" algn="l">
              <a:lnSpc>
                <a:spcPts val="1013"/>
              </a:lnSpc>
              <a:buNone/>
            </a:pPr>
            <a:r>
              <a:rPr lang="en-US" sz="675" dirty="0">
                <a:solidFill>
                  <a:srgbClr val="6B7280"/>
                </a:solidFill>
                <a:latin typeface="Arial" pitchFamily="34" charset="0"/>
                <a:ea typeface="Arial" pitchFamily="34" charset="-122"/>
                <a:cs typeface="Arial" pitchFamily="34" charset="-120"/>
              </a:rPr>
              <a:t> Success metrics</a:t>
            </a:r>
            <a:endParaRPr lang="en-US" sz="675" dirty="0"/>
          </a:p>
        </p:txBody>
      </p:sp>
      <p:sp>
        <p:nvSpPr>
          <p:cNvPr id="25" name="Text 23"/>
          <p:cNvSpPr/>
          <p:nvPr/>
        </p:nvSpPr>
        <p:spPr>
          <a:xfrm>
            <a:off x="3876824" y="2070795"/>
            <a:ext cx="4962376" cy="700980"/>
          </a:xfrm>
          <a:prstGeom prst="rect">
            <a:avLst/>
          </a:prstGeom>
          <a:solidFill>
            <a:srgbClr val="1A1F2E"/>
          </a:solidFill>
          <a:ln/>
        </p:spPr>
        <p:txBody>
          <a:bodyPr wrap="square" rtlCol="0" anchor="ctr"/>
          <a:lstStyle/>
          <a:p>
            <a:pPr marL="0" indent="0">
              <a:buNone/>
            </a:pPr>
            <a:endParaRPr lang="en-US" dirty="0"/>
          </a:p>
        </p:txBody>
      </p:sp>
      <p:sp>
        <p:nvSpPr>
          <p:cNvPr id="26" name="Text 24"/>
          <p:cNvSpPr/>
          <p:nvPr/>
        </p:nvSpPr>
        <p:spPr>
          <a:xfrm>
            <a:off x="4010174" y="2204145"/>
            <a:ext cx="4789590" cy="119955"/>
          </a:xfrm>
          <a:prstGeom prst="rect">
            <a:avLst/>
          </a:prstGeom>
          <a:noFill/>
          <a:ln/>
        </p:spPr>
        <p:txBody>
          <a:bodyPr wrap="square" lIns="0" tIns="0" rIns="0" bIns="0" rtlCol="0" anchor="t"/>
          <a:lstStyle/>
          <a:p>
            <a:pPr marL="0" indent="0" algn="l">
              <a:lnSpc>
                <a:spcPts val="945"/>
              </a:lnSpc>
              <a:spcAft>
                <a:spcPts val="450"/>
              </a:spcAft>
              <a:buNone/>
            </a:pPr>
            <a:r>
              <a:rPr lang="en-US" sz="675" dirty="0">
                <a:solidFill>
                  <a:srgbClr val="C9A227"/>
                </a:solidFill>
                <a:latin typeface="Arial" pitchFamily="34" charset="0"/>
                <a:ea typeface="Arial" pitchFamily="34" charset="-122"/>
                <a:cs typeface="Arial" pitchFamily="34" charset="-120"/>
              </a:rPr>
              <a:t>EXAMPLE VOICE PROMPT</a:t>
            </a:r>
            <a:endParaRPr lang="en-US" sz="675" dirty="0"/>
          </a:p>
        </p:txBody>
      </p:sp>
      <p:sp>
        <p:nvSpPr>
          <p:cNvPr id="27" name="Text 25"/>
          <p:cNvSpPr/>
          <p:nvPr/>
        </p:nvSpPr>
        <p:spPr>
          <a:xfrm>
            <a:off x="4010174" y="2381250"/>
            <a:ext cx="4789590" cy="257175"/>
          </a:xfrm>
          <a:prstGeom prst="rect">
            <a:avLst/>
          </a:prstGeom>
          <a:noFill/>
          <a:ln/>
        </p:spPr>
        <p:txBody>
          <a:bodyPr wrap="square" lIns="0" tIns="0" rIns="0" bIns="0" rtlCol="0" anchor="t"/>
          <a:lstStyle/>
          <a:p>
            <a:pPr marL="0" indent="0" algn="l">
              <a:lnSpc>
                <a:spcPts val="1013"/>
              </a:lnSpc>
              <a:buNone/>
            </a:pPr>
            <a:r>
              <a:rPr lang="en-US" sz="675" dirty="0">
                <a:solidFill>
                  <a:srgbClr val="FFFFFF">
                    <a:alpha val="80000"/>
                  </a:srgbClr>
                </a:solidFill>
                <a:latin typeface="Arial" pitchFamily="34" charset="0"/>
                <a:ea typeface="Arial" pitchFamily="34" charset="-122"/>
                <a:cs typeface="Arial" pitchFamily="34" charset="-120"/>
              </a:rPr>
              <a:t>"Based on what we built in the prototype, let's document our design standards. Create a design-system.md that captures the UI patterns, component styles, and interaction behaviors we want to maintain going forward."</a:t>
            </a:r>
            <a:endParaRPr lang="en-US" sz="675" dirty="0"/>
          </a:p>
        </p:txBody>
      </p:sp>
      <p:sp>
        <p:nvSpPr>
          <p:cNvPr id="28" name="Text 26"/>
          <p:cNvSpPr/>
          <p:nvPr/>
        </p:nvSpPr>
        <p:spPr>
          <a:xfrm>
            <a:off x="3876824" y="3038475"/>
            <a:ext cx="2433638" cy="843855"/>
          </a:xfrm>
          <a:prstGeom prst="rect">
            <a:avLst/>
          </a:prstGeom>
          <a:solidFill>
            <a:srgbClr val="CCFBF1"/>
          </a:solidFill>
          <a:ln/>
        </p:spPr>
        <p:txBody>
          <a:bodyPr wrap="square" rtlCol="0" anchor="ctr"/>
          <a:lstStyle/>
          <a:p>
            <a:pPr marL="0" indent="0">
              <a:buNone/>
            </a:pPr>
            <a:endParaRPr lang="en-US" dirty="0"/>
          </a:p>
        </p:txBody>
      </p:sp>
      <p:sp>
        <p:nvSpPr>
          <p:cNvPr id="29" name="Shape 27"/>
          <p:cNvSpPr/>
          <p:nvPr/>
        </p:nvSpPr>
        <p:spPr>
          <a:xfrm>
            <a:off x="3891111" y="3038475"/>
            <a:ext cx="0" cy="843855"/>
          </a:xfrm>
          <a:prstGeom prst="line">
            <a:avLst/>
          </a:prstGeom>
          <a:noFill/>
          <a:ln w="28575">
            <a:solidFill>
              <a:srgbClr val="0D9488"/>
            </a:solidFill>
            <a:prstDash val="solid"/>
          </a:ln>
        </p:spPr>
        <p:txBody>
          <a:bodyPr/>
          <a:lstStyle/>
          <a:p>
            <a:endParaRPr lang="en-US"/>
          </a:p>
        </p:txBody>
      </p:sp>
      <p:sp>
        <p:nvSpPr>
          <p:cNvPr id="30" name="Text 28"/>
          <p:cNvSpPr/>
          <p:nvPr/>
        </p:nvSpPr>
        <p:spPr>
          <a:xfrm>
            <a:off x="4019699" y="3152775"/>
            <a:ext cx="2219992" cy="119955"/>
          </a:xfrm>
          <a:prstGeom prst="rect">
            <a:avLst/>
          </a:prstGeom>
          <a:noFill/>
          <a:ln/>
        </p:spPr>
        <p:txBody>
          <a:bodyPr wrap="square" lIns="0" tIns="0" rIns="0" bIns="0" rtlCol="0" anchor="t"/>
          <a:lstStyle/>
          <a:p>
            <a:pPr marL="0" indent="0" algn="l">
              <a:lnSpc>
                <a:spcPts val="945"/>
              </a:lnSpc>
              <a:spcAft>
                <a:spcPts val="300"/>
              </a:spcAft>
              <a:buNone/>
            </a:pPr>
            <a:r>
              <a:rPr lang="en-US" sz="675" b="1" dirty="0">
                <a:solidFill>
                  <a:srgbClr val="115E59"/>
                </a:solidFill>
                <a:latin typeface="Arial" pitchFamily="34" charset="0"/>
                <a:ea typeface="Arial" pitchFamily="34" charset="-122"/>
                <a:cs typeface="Arial" pitchFamily="34" charset="-120"/>
              </a:rPr>
              <a:t>DOCS FOLDER STRUCTURE</a:t>
            </a:r>
            <a:endParaRPr lang="en-US" sz="675" dirty="0"/>
          </a:p>
        </p:txBody>
      </p:sp>
      <p:sp>
        <p:nvSpPr>
          <p:cNvPr id="31" name="Text 29"/>
          <p:cNvSpPr/>
          <p:nvPr/>
        </p:nvSpPr>
        <p:spPr>
          <a:xfrm>
            <a:off x="4019699" y="3310830"/>
            <a:ext cx="2219992" cy="457200"/>
          </a:xfrm>
          <a:prstGeom prst="rect">
            <a:avLst/>
          </a:prstGeom>
          <a:noFill/>
          <a:ln/>
        </p:spPr>
        <p:txBody>
          <a:bodyPr wrap="square" lIns="0" tIns="0" rIns="0" bIns="0" rtlCol="0" anchor="t"/>
          <a:lstStyle/>
          <a:p>
            <a:pPr marL="0" indent="0" algn="l">
              <a:lnSpc>
                <a:spcPts val="900"/>
              </a:lnSpc>
              <a:buNone/>
            </a:pPr>
            <a:r>
              <a:rPr lang="en-US" sz="600" dirty="0">
                <a:solidFill>
                  <a:srgbClr val="115E59"/>
                </a:solidFill>
                <a:latin typeface="monospace" pitchFamily="34" charset="0"/>
                <a:ea typeface="monospace" pitchFamily="34" charset="-122"/>
                <a:cs typeface="monospace" pitchFamily="34" charset="-120"/>
              </a:rPr>
              <a:t>docs/</a:t>
            </a:r>
            <a:endParaRPr lang="en-US" sz="600" dirty="0"/>
          </a:p>
          <a:p>
            <a:pPr marL="0" indent="0" algn="l">
              <a:lnSpc>
                <a:spcPts val="900"/>
              </a:lnSpc>
              <a:buNone/>
            </a:pPr>
            <a:r>
              <a:rPr lang="en-US" sz="600" dirty="0">
                <a:solidFill>
                  <a:srgbClr val="115E59"/>
                </a:solidFill>
                <a:latin typeface="monospace" pitchFamily="34" charset="0"/>
                <a:ea typeface="monospace" pitchFamily="34" charset="-122"/>
                <a:cs typeface="monospace" pitchFamily="34" charset="-120"/>
              </a:rPr>
              <a:t> design-system.md</a:t>
            </a:r>
            <a:endParaRPr lang="en-US" sz="600" dirty="0"/>
          </a:p>
          <a:p>
            <a:pPr marL="0" indent="0" algn="l">
              <a:lnSpc>
                <a:spcPts val="900"/>
              </a:lnSpc>
              <a:buNone/>
            </a:pPr>
            <a:r>
              <a:rPr lang="en-US" sz="600" dirty="0">
                <a:solidFill>
                  <a:srgbClr val="115E59"/>
                </a:solidFill>
                <a:latin typeface="monospace" pitchFamily="34" charset="0"/>
                <a:ea typeface="monospace" pitchFamily="34" charset="-122"/>
                <a:cs typeface="monospace" pitchFamily="34" charset="-120"/>
              </a:rPr>
              <a:t> architecture.md</a:t>
            </a:r>
            <a:endParaRPr lang="en-US" sz="600" dirty="0"/>
          </a:p>
          <a:p>
            <a:pPr marL="0" indent="0" algn="l">
              <a:lnSpc>
                <a:spcPts val="900"/>
              </a:lnSpc>
              <a:buNone/>
            </a:pPr>
            <a:r>
              <a:rPr lang="en-US" sz="600" dirty="0">
                <a:solidFill>
                  <a:srgbClr val="115E59"/>
                </a:solidFill>
                <a:latin typeface="monospace" pitchFamily="34" charset="0"/>
                <a:ea typeface="monospace" pitchFamily="34" charset="-122"/>
                <a:cs typeface="monospace" pitchFamily="34" charset="-120"/>
              </a:rPr>
              <a:t> narrative.md</a:t>
            </a:r>
            <a:endParaRPr lang="en-US" sz="600" dirty="0"/>
          </a:p>
        </p:txBody>
      </p:sp>
      <p:sp>
        <p:nvSpPr>
          <p:cNvPr id="32" name="Text 30"/>
          <p:cNvSpPr/>
          <p:nvPr/>
        </p:nvSpPr>
        <p:spPr>
          <a:xfrm>
            <a:off x="6405711" y="3160514"/>
            <a:ext cx="2433638" cy="599777"/>
          </a:xfrm>
          <a:prstGeom prst="rect">
            <a:avLst/>
          </a:prstGeom>
          <a:solidFill>
            <a:srgbClr val="FEF3C7"/>
          </a:solidFill>
          <a:ln/>
        </p:spPr>
        <p:txBody>
          <a:bodyPr wrap="square" rtlCol="0" anchor="ctr"/>
          <a:lstStyle/>
          <a:p>
            <a:pPr marL="0" indent="0">
              <a:buNone/>
            </a:pPr>
            <a:endParaRPr lang="en-US" dirty="0"/>
          </a:p>
        </p:txBody>
      </p:sp>
      <p:sp>
        <p:nvSpPr>
          <p:cNvPr id="33" name="Shape 31"/>
          <p:cNvSpPr/>
          <p:nvPr/>
        </p:nvSpPr>
        <p:spPr>
          <a:xfrm>
            <a:off x="6419999" y="3160514"/>
            <a:ext cx="0" cy="599777"/>
          </a:xfrm>
          <a:prstGeom prst="line">
            <a:avLst/>
          </a:prstGeom>
          <a:noFill/>
          <a:ln w="28575">
            <a:solidFill>
              <a:srgbClr val="F59E0B"/>
            </a:solidFill>
            <a:prstDash val="solid"/>
          </a:ln>
        </p:spPr>
        <p:txBody>
          <a:bodyPr/>
          <a:lstStyle/>
          <a:p>
            <a:endParaRPr lang="en-US"/>
          </a:p>
        </p:txBody>
      </p:sp>
      <p:sp>
        <p:nvSpPr>
          <p:cNvPr id="34" name="Text 32"/>
          <p:cNvSpPr/>
          <p:nvPr/>
        </p:nvSpPr>
        <p:spPr>
          <a:xfrm>
            <a:off x="6548586" y="3274814"/>
            <a:ext cx="2219992" cy="119955"/>
          </a:xfrm>
          <a:prstGeom prst="rect">
            <a:avLst/>
          </a:prstGeom>
          <a:noFill/>
          <a:ln/>
        </p:spPr>
        <p:txBody>
          <a:bodyPr wrap="square" lIns="0" tIns="0" rIns="0" bIns="0" rtlCol="0" anchor="t"/>
          <a:lstStyle/>
          <a:p>
            <a:pPr marL="0" indent="0" algn="l">
              <a:lnSpc>
                <a:spcPts val="945"/>
              </a:lnSpc>
              <a:spcAft>
                <a:spcPts val="300"/>
              </a:spcAft>
              <a:buNone/>
            </a:pPr>
            <a:r>
              <a:rPr lang="en-US" sz="675" b="1" dirty="0">
                <a:solidFill>
                  <a:srgbClr val="92400E"/>
                </a:solidFill>
                <a:latin typeface="Arial" pitchFamily="34" charset="0"/>
                <a:ea typeface="Arial" pitchFamily="34" charset="-122"/>
                <a:cs typeface="Arial" pitchFamily="34" charset="-120"/>
              </a:rPr>
              <a:t>KEEP IT LIVING</a:t>
            </a:r>
            <a:endParaRPr lang="en-US" sz="675" dirty="0"/>
          </a:p>
        </p:txBody>
      </p:sp>
      <p:sp>
        <p:nvSpPr>
          <p:cNvPr id="35" name="Text 33"/>
          <p:cNvSpPr/>
          <p:nvPr/>
        </p:nvSpPr>
        <p:spPr>
          <a:xfrm>
            <a:off x="6548586" y="3432870"/>
            <a:ext cx="2219992" cy="213122"/>
          </a:xfrm>
          <a:prstGeom prst="rect">
            <a:avLst/>
          </a:prstGeom>
          <a:noFill/>
          <a:ln/>
        </p:spPr>
        <p:txBody>
          <a:bodyPr wrap="square" lIns="0" tIns="0" rIns="0" bIns="0" rtlCol="0" anchor="t"/>
          <a:lstStyle/>
          <a:p>
            <a:pPr marL="0" indent="0" algn="l">
              <a:lnSpc>
                <a:spcPts val="840"/>
              </a:lnSpc>
              <a:buNone/>
            </a:pPr>
            <a:r>
              <a:rPr lang="en-US" sz="600" dirty="0">
                <a:solidFill>
                  <a:srgbClr val="92400E"/>
                </a:solidFill>
                <a:latin typeface="Arial" pitchFamily="34" charset="0"/>
                <a:ea typeface="Arial" pitchFamily="34" charset="-122"/>
                <a:cs typeface="Arial" pitchFamily="34" charset="-120"/>
              </a:rPr>
              <a:t>These docs evolve. Update them as you learn. Stale documentation is worse than none.</a:t>
            </a:r>
            <a:endParaRPr lang="en-US" sz="600" dirty="0"/>
          </a:p>
        </p:txBody>
      </p:sp>
      <p:sp>
        <p:nvSpPr>
          <p:cNvPr id="36" name="Text 34"/>
          <p:cNvSpPr/>
          <p:nvPr/>
        </p:nvSpPr>
        <p:spPr>
          <a:xfrm>
            <a:off x="3876824" y="4149030"/>
            <a:ext cx="4962376" cy="639961"/>
          </a:xfrm>
          <a:prstGeom prst="rect">
            <a:avLst/>
          </a:prstGeom>
          <a:solidFill>
            <a:srgbClr val="DBEAFE"/>
          </a:solidFill>
          <a:ln/>
        </p:spPr>
        <p:txBody>
          <a:bodyPr wrap="square" rtlCol="0" anchor="ctr"/>
          <a:lstStyle/>
          <a:p>
            <a:pPr marL="0" indent="0">
              <a:buNone/>
            </a:pPr>
            <a:endParaRPr lang="en-US" dirty="0"/>
          </a:p>
        </p:txBody>
      </p:sp>
      <p:sp>
        <p:nvSpPr>
          <p:cNvPr id="37" name="Shape 35"/>
          <p:cNvSpPr/>
          <p:nvPr/>
        </p:nvSpPr>
        <p:spPr>
          <a:xfrm>
            <a:off x="3891111" y="4149030"/>
            <a:ext cx="0" cy="639961"/>
          </a:xfrm>
          <a:prstGeom prst="line">
            <a:avLst/>
          </a:prstGeom>
          <a:noFill/>
          <a:ln w="28575">
            <a:solidFill>
              <a:srgbClr val="3B82F6"/>
            </a:solidFill>
            <a:prstDash val="solid"/>
          </a:ln>
        </p:spPr>
        <p:txBody>
          <a:bodyPr/>
          <a:lstStyle/>
          <a:p>
            <a:endParaRPr lang="en-US"/>
          </a:p>
        </p:txBody>
      </p:sp>
      <p:sp>
        <p:nvSpPr>
          <p:cNvPr id="38" name="Text 36"/>
          <p:cNvSpPr/>
          <p:nvPr/>
        </p:nvSpPr>
        <p:spPr>
          <a:xfrm>
            <a:off x="4019699" y="4263330"/>
            <a:ext cx="4799305"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1E40AF"/>
                </a:solidFill>
                <a:latin typeface="Arial" pitchFamily="34" charset="0"/>
                <a:ea typeface="Arial" pitchFamily="34" charset="-122"/>
                <a:cs typeface="Arial" pitchFamily="34" charset="-120"/>
              </a:rPr>
              <a:t>FEEDS INTO NEXT PHASE</a:t>
            </a:r>
            <a:endParaRPr lang="en-US" sz="750" dirty="0"/>
          </a:p>
        </p:txBody>
      </p:sp>
      <p:sp>
        <p:nvSpPr>
          <p:cNvPr id="39" name="Text 37"/>
          <p:cNvSpPr/>
          <p:nvPr/>
        </p:nvSpPr>
        <p:spPr>
          <a:xfrm>
            <a:off x="4019699" y="4434780"/>
            <a:ext cx="4799305" cy="239911"/>
          </a:xfrm>
          <a:prstGeom prst="rect">
            <a:avLst/>
          </a:prstGeom>
          <a:noFill/>
          <a:ln/>
        </p:spPr>
        <p:txBody>
          <a:bodyPr wrap="square" lIns="0" tIns="0" rIns="0" bIns="0" rtlCol="0" anchor="t"/>
          <a:lstStyle/>
          <a:p>
            <a:pPr marL="0" indent="0" algn="l">
              <a:lnSpc>
                <a:spcPts val="945"/>
              </a:lnSpc>
              <a:buNone/>
            </a:pPr>
            <a:r>
              <a:rPr lang="en-US" sz="675" dirty="0">
                <a:solidFill>
                  <a:srgbClr val="1E40AF"/>
                </a:solidFill>
                <a:latin typeface="Arial" pitchFamily="34" charset="0"/>
                <a:ea typeface="Arial" pitchFamily="34" charset="-122"/>
                <a:cs typeface="Arial" pitchFamily="34" charset="-120"/>
              </a:rPr>
              <a:t>Your documentation becomes the foundation for the PRD. The more thorough this phase, the better your specification will be.</a:t>
            </a:r>
            <a:endParaRPr lang="en-US" sz="675"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0" y="0"/>
            <a:ext cx="3419624" cy="5143500"/>
          </a:xfrm>
          <a:prstGeom prst="rect">
            <a:avLst/>
          </a:prstGeom>
          <a:solidFill>
            <a:srgbClr val="1A1F2E"/>
          </a:solidFill>
          <a:ln/>
        </p:spPr>
        <p:txBody>
          <a:bodyPr wrap="square" rtlCol="0" anchor="ctr"/>
          <a:lstStyle/>
          <a:p>
            <a:pPr marL="0" indent="0">
              <a:buNone/>
            </a:pPr>
            <a:endParaRPr lang="en-US" dirty="0"/>
          </a:p>
        </p:txBody>
      </p:sp>
      <p:sp>
        <p:nvSpPr>
          <p:cNvPr id="3" name="Text 1"/>
          <p:cNvSpPr/>
          <p:nvPr/>
        </p:nvSpPr>
        <p:spPr>
          <a:xfrm>
            <a:off x="304800" y="304800"/>
            <a:ext cx="981373" cy="234255"/>
          </a:xfrm>
          <a:prstGeom prst="rect">
            <a:avLst/>
          </a:prstGeom>
          <a:solidFill>
            <a:srgbClr val="E11D48"/>
          </a:solidFill>
          <a:ln/>
        </p:spPr>
        <p:txBody>
          <a:bodyPr wrap="square" rtlCol="0" anchor="ctr"/>
          <a:lstStyle/>
          <a:p>
            <a:pPr marL="0" indent="0">
              <a:buNone/>
            </a:pPr>
            <a:endParaRPr lang="en-US" dirty="0"/>
          </a:p>
        </p:txBody>
      </p:sp>
      <p:sp>
        <p:nvSpPr>
          <p:cNvPr id="4" name="Text 2"/>
          <p:cNvSpPr/>
          <p:nvPr/>
        </p:nvSpPr>
        <p:spPr>
          <a:xfrm>
            <a:off x="419100" y="361950"/>
            <a:ext cx="767828" cy="119955"/>
          </a:xfrm>
          <a:prstGeom prst="rect">
            <a:avLst/>
          </a:prstGeom>
          <a:noFill/>
          <a:ln/>
        </p:spPr>
        <p:txBody>
          <a:bodyPr wrap="square" lIns="0" tIns="0" rIns="0" bIns="0" rtlCol="0" anchor="t"/>
          <a:lstStyle/>
          <a:p>
            <a:pPr marL="0" indent="0" algn="l">
              <a:lnSpc>
                <a:spcPts val="945"/>
              </a:lnSpc>
              <a:buNone/>
            </a:pPr>
            <a:r>
              <a:rPr lang="en-US" sz="675" b="1" dirty="0">
                <a:solidFill>
                  <a:srgbClr val="FFFFFF"/>
                </a:solidFill>
                <a:latin typeface="Arial" pitchFamily="34" charset="0"/>
                <a:ea typeface="Arial" pitchFamily="34" charset="-122"/>
                <a:cs typeface="Arial" pitchFamily="34" charset="-120"/>
              </a:rPr>
              <a:t>PHASE 7 OF 10</a:t>
            </a:r>
            <a:endParaRPr lang="en-US" sz="675" dirty="0"/>
          </a:p>
        </p:txBody>
      </p:sp>
      <p:sp>
        <p:nvSpPr>
          <p:cNvPr id="5" name="Text 3"/>
          <p:cNvSpPr/>
          <p:nvPr/>
        </p:nvSpPr>
        <p:spPr>
          <a:xfrm>
            <a:off x="304800" y="805755"/>
            <a:ext cx="1437894" cy="594122"/>
          </a:xfrm>
          <a:prstGeom prst="rect">
            <a:avLst/>
          </a:prstGeom>
          <a:noFill/>
          <a:ln/>
        </p:spPr>
        <p:txBody>
          <a:bodyPr wrap="square" lIns="0" tIns="0" rIns="0" bIns="0" rtlCol="0" anchor="t"/>
          <a:lstStyle/>
          <a:p>
            <a:pPr marL="0" indent="0" algn="l">
              <a:lnSpc>
                <a:spcPts val="2340"/>
              </a:lnSpc>
              <a:spcAft>
                <a:spcPts val="900"/>
              </a:spcAft>
              <a:buNone/>
            </a:pPr>
            <a:r>
              <a:rPr lang="en-US" sz="1950" dirty="0">
                <a:solidFill>
                  <a:srgbClr val="FFFFFF"/>
                </a:solidFill>
                <a:latin typeface="Georgia" pitchFamily="34" charset="0"/>
                <a:ea typeface="Georgia" pitchFamily="34" charset="-122"/>
                <a:cs typeface="Georgia" pitchFamily="34" charset="-120"/>
              </a:rPr>
              <a:t>PRD</a:t>
            </a:r>
            <a:endParaRPr lang="en-US" sz="1950" dirty="0"/>
          </a:p>
          <a:p>
            <a:pPr marL="0" indent="0" algn="l">
              <a:lnSpc>
                <a:spcPts val="2340"/>
              </a:lnSpc>
              <a:spcAft>
                <a:spcPts val="900"/>
              </a:spcAft>
              <a:buNone/>
            </a:pPr>
            <a:r>
              <a:rPr lang="en-US" sz="1950" dirty="0">
                <a:solidFill>
                  <a:srgbClr val="FFFFFF"/>
                </a:solidFill>
                <a:latin typeface="Georgia" pitchFamily="34" charset="0"/>
                <a:ea typeface="Georgia" pitchFamily="34" charset="-122"/>
                <a:cs typeface="Georgia" pitchFamily="34" charset="-120"/>
              </a:rPr>
              <a:t>Creation</a:t>
            </a:r>
            <a:endParaRPr lang="en-US" sz="1950" dirty="0"/>
          </a:p>
        </p:txBody>
      </p:sp>
      <p:sp>
        <p:nvSpPr>
          <p:cNvPr id="6" name="Text 4"/>
          <p:cNvSpPr/>
          <p:nvPr/>
        </p:nvSpPr>
        <p:spPr>
          <a:xfrm>
            <a:off x="304800" y="1666577"/>
            <a:ext cx="381000" cy="11906"/>
          </a:xfrm>
          <a:prstGeom prst="rect">
            <a:avLst/>
          </a:prstGeom>
          <a:solidFill>
            <a:srgbClr val="C9A227"/>
          </a:solidFill>
          <a:ln/>
        </p:spPr>
        <p:txBody>
          <a:bodyPr wrap="square" rtlCol="0" anchor="ctr"/>
          <a:lstStyle/>
          <a:p>
            <a:pPr marL="0" indent="0">
              <a:buNone/>
            </a:pPr>
            <a:endParaRPr lang="en-US" dirty="0"/>
          </a:p>
        </p:txBody>
      </p:sp>
      <p:sp>
        <p:nvSpPr>
          <p:cNvPr id="7" name="Text 5"/>
          <p:cNvSpPr/>
          <p:nvPr/>
        </p:nvSpPr>
        <p:spPr>
          <a:xfrm>
            <a:off x="304800" y="1983284"/>
            <a:ext cx="2810024" cy="784771"/>
          </a:xfrm>
          <a:prstGeom prst="rect">
            <a:avLst/>
          </a:prstGeom>
          <a:solidFill>
            <a:srgbClr val="E11D48">
              <a:alpha val="15000"/>
            </a:srgbClr>
          </a:solidFill>
          <a:ln/>
        </p:spPr>
        <p:txBody>
          <a:bodyPr wrap="square" rtlCol="0" anchor="ctr"/>
          <a:lstStyle/>
          <a:p>
            <a:pPr marL="0" indent="0">
              <a:buNone/>
            </a:pPr>
            <a:endParaRPr lang="en-US" dirty="0"/>
          </a:p>
        </p:txBody>
      </p:sp>
      <p:sp>
        <p:nvSpPr>
          <p:cNvPr id="8" name="Shape 6"/>
          <p:cNvSpPr/>
          <p:nvPr/>
        </p:nvSpPr>
        <p:spPr>
          <a:xfrm>
            <a:off x="319088" y="1983284"/>
            <a:ext cx="0" cy="784771"/>
          </a:xfrm>
          <a:prstGeom prst="line">
            <a:avLst/>
          </a:prstGeom>
          <a:noFill/>
          <a:ln w="28575">
            <a:solidFill>
              <a:srgbClr val="E11D48"/>
            </a:solidFill>
            <a:prstDash val="solid"/>
          </a:ln>
        </p:spPr>
        <p:txBody>
          <a:bodyPr/>
          <a:lstStyle/>
          <a:p>
            <a:endParaRPr lang="en-US"/>
          </a:p>
        </p:txBody>
      </p:sp>
      <p:sp>
        <p:nvSpPr>
          <p:cNvPr id="9" name="Text 7"/>
          <p:cNvSpPr/>
          <p:nvPr/>
        </p:nvSpPr>
        <p:spPr>
          <a:xfrm>
            <a:off x="466725" y="2116634"/>
            <a:ext cx="2565044" cy="146596"/>
          </a:xfrm>
          <a:prstGeom prst="rect">
            <a:avLst/>
          </a:prstGeom>
          <a:noFill/>
          <a:ln/>
        </p:spPr>
        <p:txBody>
          <a:bodyPr wrap="square" lIns="0" tIns="0" rIns="0" bIns="0" rtlCol="0" anchor="t"/>
          <a:lstStyle/>
          <a:p>
            <a:pPr marL="0" indent="0" algn="l">
              <a:lnSpc>
                <a:spcPts val="1155"/>
              </a:lnSpc>
              <a:spcAft>
                <a:spcPts val="450"/>
              </a:spcAft>
              <a:buNone/>
            </a:pPr>
            <a:r>
              <a:rPr lang="en-US" sz="825" b="1" dirty="0">
                <a:solidFill>
                  <a:srgbClr val="FDA4AF"/>
                </a:solidFill>
                <a:latin typeface="Arial" pitchFamily="34" charset="0"/>
                <a:ea typeface="Arial" pitchFamily="34" charset="-122"/>
                <a:cs typeface="Arial" pitchFamily="34" charset="-120"/>
              </a:rPr>
              <a:t>THE OBJECTIVE</a:t>
            </a:r>
            <a:endParaRPr lang="en-US" sz="825" dirty="0"/>
          </a:p>
        </p:txBody>
      </p:sp>
      <p:sp>
        <p:nvSpPr>
          <p:cNvPr id="10" name="Text 8"/>
          <p:cNvSpPr/>
          <p:nvPr/>
        </p:nvSpPr>
        <p:spPr>
          <a:xfrm>
            <a:off x="466725" y="2320379"/>
            <a:ext cx="2565044" cy="314325"/>
          </a:xfrm>
          <a:prstGeom prst="rect">
            <a:avLst/>
          </a:prstGeom>
          <a:noFill/>
          <a:ln/>
        </p:spPr>
        <p:txBody>
          <a:bodyPr wrap="square" lIns="0" tIns="0" rIns="0" bIns="0" rtlCol="0" anchor="t"/>
          <a:lstStyle/>
          <a:p>
            <a:pPr marL="0" indent="0" algn="l">
              <a:lnSpc>
                <a:spcPts val="1238"/>
              </a:lnSpc>
              <a:buNone/>
            </a:pPr>
            <a:r>
              <a:rPr lang="en-US" sz="825" dirty="0">
                <a:solidFill>
                  <a:srgbClr val="FFFFFF">
                    <a:alpha val="80000"/>
                  </a:srgbClr>
                </a:solidFill>
                <a:latin typeface="Arial" pitchFamily="34" charset="0"/>
                <a:ea typeface="Arial" pitchFamily="34" charset="-122"/>
                <a:cs typeface="Arial" pitchFamily="34" charset="-120"/>
              </a:rPr>
              <a:t>Create the definitive specification document that guides all future agentic work.</a:t>
            </a:r>
            <a:endParaRPr lang="en-US" sz="825" dirty="0"/>
          </a:p>
        </p:txBody>
      </p:sp>
      <p:sp>
        <p:nvSpPr>
          <p:cNvPr id="11" name="Text 9"/>
          <p:cNvSpPr/>
          <p:nvPr/>
        </p:nvSpPr>
        <p:spPr>
          <a:xfrm>
            <a:off x="304800" y="3072854"/>
            <a:ext cx="2810024" cy="1099096"/>
          </a:xfrm>
          <a:prstGeom prst="rect">
            <a:avLst/>
          </a:prstGeom>
          <a:solidFill>
            <a:srgbClr val="FFFFFF">
              <a:alpha val="5000"/>
            </a:srgbClr>
          </a:solidFill>
          <a:ln/>
        </p:spPr>
        <p:txBody>
          <a:bodyPr wrap="square" rtlCol="0" anchor="ctr"/>
          <a:lstStyle/>
          <a:p>
            <a:pPr marL="0" indent="0">
              <a:buNone/>
            </a:pPr>
            <a:endParaRPr lang="en-US" dirty="0"/>
          </a:p>
        </p:txBody>
      </p:sp>
      <p:sp>
        <p:nvSpPr>
          <p:cNvPr id="12" name="Text 10"/>
          <p:cNvSpPr/>
          <p:nvPr/>
        </p:nvSpPr>
        <p:spPr>
          <a:xfrm>
            <a:off x="438150" y="3206204"/>
            <a:ext cx="2594190" cy="146596"/>
          </a:xfrm>
          <a:prstGeom prst="rect">
            <a:avLst/>
          </a:prstGeom>
          <a:noFill/>
          <a:ln/>
        </p:spPr>
        <p:txBody>
          <a:bodyPr wrap="square" lIns="0" tIns="0" rIns="0" bIns="0" rtlCol="0" anchor="t"/>
          <a:lstStyle/>
          <a:p>
            <a:pPr marL="0" indent="0" algn="l">
              <a:lnSpc>
                <a:spcPts val="1155"/>
              </a:lnSpc>
              <a:spcAft>
                <a:spcPts val="600"/>
              </a:spcAft>
              <a:buNone/>
            </a:pPr>
            <a:r>
              <a:rPr lang="en-US" sz="825" b="1" dirty="0">
                <a:solidFill>
                  <a:srgbClr val="FFFFFF"/>
                </a:solidFill>
                <a:latin typeface="Arial" pitchFamily="34" charset="0"/>
                <a:ea typeface="Arial" pitchFamily="34" charset="-122"/>
                <a:cs typeface="Arial" pitchFamily="34" charset="-120"/>
              </a:rPr>
              <a:t>PRD COMPONENTS</a:t>
            </a:r>
            <a:endParaRPr lang="en-US" sz="825" dirty="0"/>
          </a:p>
        </p:txBody>
      </p:sp>
      <p:sp>
        <p:nvSpPr>
          <p:cNvPr id="13" name="Text 11"/>
          <p:cNvSpPr/>
          <p:nvPr/>
        </p:nvSpPr>
        <p:spPr>
          <a:xfrm>
            <a:off x="438150" y="3429000"/>
            <a:ext cx="2594190" cy="609600"/>
          </a:xfrm>
          <a:prstGeom prst="rect">
            <a:avLst/>
          </a:prstGeom>
          <a:noFill/>
          <a:ln/>
        </p:spPr>
        <p:txBody>
          <a:bodyPr wrap="square" lIns="0" tIns="0" rIns="0" bIns="0" rtlCol="0" anchor="t"/>
          <a:lstStyle/>
          <a:p>
            <a:pPr marL="0" indent="0" algn="l">
              <a:lnSpc>
                <a:spcPts val="1200"/>
              </a:lnSpc>
              <a:buNone/>
            </a:pPr>
            <a:r>
              <a:rPr lang="en-US" sz="750" dirty="0">
                <a:solidFill>
                  <a:srgbClr val="FFFFFF">
                    <a:alpha val="60000"/>
                  </a:srgbClr>
                </a:solidFill>
                <a:latin typeface="Arial" pitchFamily="34" charset="0"/>
                <a:ea typeface="Arial" pitchFamily="34" charset="-122"/>
                <a:cs typeface="Arial" pitchFamily="34" charset="-120"/>
              </a:rPr>
              <a:t>Feature specifications</a:t>
            </a:r>
            <a:endParaRPr lang="en-US" sz="750" dirty="0"/>
          </a:p>
          <a:p>
            <a:pPr marL="0" indent="0" algn="l">
              <a:lnSpc>
                <a:spcPts val="1200"/>
              </a:lnSpc>
              <a:buNone/>
            </a:pPr>
            <a:r>
              <a:rPr lang="en-US" sz="750" dirty="0">
                <a:solidFill>
                  <a:srgbClr val="FFFFFF">
                    <a:alpha val="60000"/>
                  </a:srgbClr>
                </a:solidFill>
                <a:latin typeface="Arial" pitchFamily="34" charset="0"/>
                <a:ea typeface="Arial" pitchFamily="34" charset="-122"/>
                <a:cs typeface="Arial" pitchFamily="34" charset="-120"/>
              </a:rPr>
              <a:t> Technical requirements</a:t>
            </a:r>
            <a:endParaRPr lang="en-US" sz="750" dirty="0"/>
          </a:p>
          <a:p>
            <a:pPr marL="0" indent="0" algn="l">
              <a:lnSpc>
                <a:spcPts val="1200"/>
              </a:lnSpc>
              <a:buNone/>
            </a:pPr>
            <a:r>
              <a:rPr lang="en-US" sz="750" dirty="0">
                <a:solidFill>
                  <a:srgbClr val="FFFFFF">
                    <a:alpha val="60000"/>
                  </a:srgbClr>
                </a:solidFill>
                <a:latin typeface="Arial" pitchFamily="34" charset="0"/>
                <a:ea typeface="Arial" pitchFamily="34" charset="-122"/>
                <a:cs typeface="Arial" pitchFamily="34" charset="-120"/>
              </a:rPr>
              <a:t> User stories &amp; flows</a:t>
            </a:r>
            <a:endParaRPr lang="en-US" sz="750" dirty="0"/>
          </a:p>
          <a:p>
            <a:pPr marL="0" indent="0" algn="l">
              <a:lnSpc>
                <a:spcPts val="1200"/>
              </a:lnSpc>
              <a:buNone/>
            </a:pPr>
            <a:r>
              <a:rPr lang="en-US" sz="750" dirty="0">
                <a:solidFill>
                  <a:srgbClr val="FFFFFF">
                    <a:alpha val="60000"/>
                  </a:srgbClr>
                </a:solidFill>
                <a:latin typeface="Arial" pitchFamily="34" charset="0"/>
                <a:ea typeface="Arial" pitchFamily="34" charset="-122"/>
                <a:cs typeface="Arial" pitchFamily="34" charset="-120"/>
              </a:rPr>
              <a:t> Acceptance criteria</a:t>
            </a:r>
            <a:endParaRPr lang="en-US" sz="750" dirty="0"/>
          </a:p>
        </p:txBody>
      </p:sp>
      <p:sp>
        <p:nvSpPr>
          <p:cNvPr id="14" name="Text 12"/>
          <p:cNvSpPr/>
          <p:nvPr/>
        </p:nvSpPr>
        <p:spPr>
          <a:xfrm>
            <a:off x="304800" y="4476750"/>
            <a:ext cx="2810024" cy="361950"/>
          </a:xfrm>
          <a:prstGeom prst="rect">
            <a:avLst/>
          </a:prstGeom>
          <a:solidFill>
            <a:srgbClr val="C9A227"/>
          </a:solidFill>
          <a:ln/>
        </p:spPr>
        <p:txBody>
          <a:bodyPr wrap="square" rtlCol="0" anchor="ctr"/>
          <a:lstStyle/>
          <a:p>
            <a:pPr marL="0" indent="0">
              <a:buNone/>
            </a:pPr>
            <a:endParaRPr lang="en-US" dirty="0"/>
          </a:p>
        </p:txBody>
      </p:sp>
      <p:sp>
        <p:nvSpPr>
          <p:cNvPr id="15" name="Text 13"/>
          <p:cNvSpPr/>
          <p:nvPr/>
        </p:nvSpPr>
        <p:spPr>
          <a:xfrm>
            <a:off x="393286" y="4591050"/>
            <a:ext cx="2633052" cy="133350"/>
          </a:xfrm>
          <a:prstGeom prst="rect">
            <a:avLst/>
          </a:prstGeom>
          <a:noFill/>
          <a:ln/>
        </p:spPr>
        <p:txBody>
          <a:bodyPr wrap="square" lIns="0" tIns="0" rIns="0" bIns="0" rtlCol="0" anchor="t"/>
          <a:lstStyle/>
          <a:p>
            <a:pPr marL="0" indent="0" algn="ctr">
              <a:lnSpc>
                <a:spcPts val="1050"/>
              </a:lnSpc>
              <a:buNone/>
            </a:pPr>
            <a:r>
              <a:rPr lang="en-US" sz="750" b="1" dirty="0">
                <a:solidFill>
                  <a:srgbClr val="1A1F2E"/>
                </a:solidFill>
                <a:latin typeface="Arial" pitchFamily="34" charset="0"/>
                <a:ea typeface="Arial" pitchFamily="34" charset="-122"/>
                <a:cs typeface="Arial" pitchFamily="34" charset="-120"/>
              </a:rPr>
              <a:t>The PRD is your agent's instruction manual</a:t>
            </a:r>
            <a:endParaRPr lang="en-US" sz="750" dirty="0"/>
          </a:p>
        </p:txBody>
      </p:sp>
      <p:sp>
        <p:nvSpPr>
          <p:cNvPr id="16" name="Text 14"/>
          <p:cNvSpPr/>
          <p:nvPr/>
        </p:nvSpPr>
        <p:spPr>
          <a:xfrm>
            <a:off x="3572024" y="0"/>
            <a:ext cx="5571976" cy="5143500"/>
          </a:xfrm>
          <a:prstGeom prst="rect">
            <a:avLst/>
          </a:prstGeom>
          <a:solidFill>
            <a:srgbClr val="F7F8FA"/>
          </a:solidFill>
          <a:ln/>
        </p:spPr>
        <p:txBody>
          <a:bodyPr wrap="square" rtlCol="0" anchor="ctr"/>
          <a:lstStyle/>
          <a:p>
            <a:pPr marL="0" indent="0">
              <a:buNone/>
            </a:pPr>
            <a:endParaRPr lang="en-US" dirty="0"/>
          </a:p>
        </p:txBody>
      </p:sp>
      <p:sp>
        <p:nvSpPr>
          <p:cNvPr id="17" name="Text 15"/>
          <p:cNvSpPr/>
          <p:nvPr/>
        </p:nvSpPr>
        <p:spPr>
          <a:xfrm>
            <a:off x="3876824" y="918567"/>
            <a:ext cx="5061624" cy="173236"/>
          </a:xfrm>
          <a:prstGeom prst="rect">
            <a:avLst/>
          </a:prstGeom>
          <a:noFill/>
          <a:ln/>
        </p:spPr>
        <p:txBody>
          <a:bodyPr wrap="square" lIns="0" tIns="0" rIns="0" bIns="0" rtlCol="0" anchor="t"/>
          <a:lstStyle/>
          <a:p>
            <a:pPr marL="0" indent="0" algn="l">
              <a:lnSpc>
                <a:spcPts val="1365"/>
              </a:lnSpc>
              <a:spcAft>
                <a:spcPts val="1050"/>
              </a:spcAft>
              <a:buNone/>
            </a:pPr>
            <a:r>
              <a:rPr lang="en-US" sz="975" b="1" dirty="0">
                <a:solidFill>
                  <a:srgbClr val="1A1F2E"/>
                </a:solidFill>
                <a:latin typeface="Arial" pitchFamily="34" charset="0"/>
                <a:ea typeface="Arial" pitchFamily="34" charset="-122"/>
                <a:cs typeface="Arial" pitchFamily="34" charset="-120"/>
              </a:rPr>
              <a:t>PRD CREATION OPTIONS</a:t>
            </a:r>
            <a:endParaRPr lang="en-US" sz="975" dirty="0"/>
          </a:p>
        </p:txBody>
      </p:sp>
      <p:sp>
        <p:nvSpPr>
          <p:cNvPr id="18" name="Text 16"/>
          <p:cNvSpPr/>
          <p:nvPr/>
        </p:nvSpPr>
        <p:spPr>
          <a:xfrm>
            <a:off x="3876824" y="1377553"/>
            <a:ext cx="1603325" cy="1013073"/>
          </a:xfrm>
          <a:prstGeom prst="rect">
            <a:avLst/>
          </a:prstGeom>
          <a:solidFill>
            <a:srgbClr val="FFFFFF"/>
          </a:solidFill>
          <a:ln w="19050">
            <a:solidFill>
              <a:srgbClr val="E11D48"/>
            </a:solidFill>
          </a:ln>
        </p:spPr>
        <p:txBody>
          <a:bodyPr wrap="square" rtlCol="0" anchor="ctr"/>
          <a:lstStyle/>
          <a:p>
            <a:pPr marL="0" indent="0">
              <a:buNone/>
            </a:pPr>
            <a:endParaRPr lang="en-US" dirty="0"/>
          </a:p>
        </p:txBody>
      </p:sp>
      <p:sp>
        <p:nvSpPr>
          <p:cNvPr id="19" name="Text 17"/>
          <p:cNvSpPr/>
          <p:nvPr/>
        </p:nvSpPr>
        <p:spPr>
          <a:xfrm>
            <a:off x="4010174" y="1510903"/>
            <a:ext cx="1363358" cy="146596"/>
          </a:xfrm>
          <a:prstGeom prst="rect">
            <a:avLst/>
          </a:prstGeom>
          <a:noFill/>
          <a:ln/>
        </p:spPr>
        <p:txBody>
          <a:bodyPr wrap="square" lIns="0" tIns="0" rIns="0" bIns="0" rtlCol="0" anchor="t"/>
          <a:lstStyle/>
          <a:p>
            <a:pPr marL="0" indent="0" algn="l">
              <a:lnSpc>
                <a:spcPts val="1155"/>
              </a:lnSpc>
              <a:spcAft>
                <a:spcPts val="450"/>
              </a:spcAft>
              <a:buNone/>
            </a:pPr>
            <a:r>
              <a:rPr lang="en-US" sz="825" b="1" dirty="0">
                <a:solidFill>
                  <a:srgbClr val="E11D48"/>
                </a:solidFill>
                <a:latin typeface="Arial" pitchFamily="34" charset="0"/>
                <a:ea typeface="Arial" pitchFamily="34" charset="-122"/>
                <a:cs typeface="Arial" pitchFamily="34" charset="-120"/>
              </a:rPr>
              <a:t>SPEC KIT</a:t>
            </a:r>
            <a:endParaRPr lang="en-US" sz="825" dirty="0"/>
          </a:p>
        </p:txBody>
      </p:sp>
      <p:sp>
        <p:nvSpPr>
          <p:cNvPr id="20" name="Text 18"/>
          <p:cNvSpPr/>
          <p:nvPr/>
        </p:nvSpPr>
        <p:spPr>
          <a:xfrm>
            <a:off x="4010174" y="1714649"/>
            <a:ext cx="1363358" cy="359866"/>
          </a:xfrm>
          <a:prstGeom prst="rect">
            <a:avLst/>
          </a:prstGeom>
          <a:noFill/>
          <a:ln/>
        </p:spPr>
        <p:txBody>
          <a:bodyPr wrap="square" lIns="0" tIns="0" rIns="0" bIns="0" rtlCol="0" anchor="t"/>
          <a:lstStyle/>
          <a:p>
            <a:pPr marL="0" indent="0" algn="l">
              <a:lnSpc>
                <a:spcPts val="945"/>
              </a:lnSpc>
              <a:buNone/>
            </a:pPr>
            <a:r>
              <a:rPr lang="en-US" sz="675" dirty="0">
                <a:solidFill>
                  <a:srgbClr val="6B7280"/>
                </a:solidFill>
                <a:latin typeface="Arial" pitchFamily="34" charset="0"/>
                <a:ea typeface="Arial" pitchFamily="34" charset="-122"/>
                <a:cs typeface="Arial" pitchFamily="34" charset="-120"/>
              </a:rPr>
              <a:t>AI-native PRD generator. Feed it your docs, get structured spec output. Built for this workflow.</a:t>
            </a:r>
            <a:endParaRPr lang="en-US" sz="675" dirty="0"/>
          </a:p>
        </p:txBody>
      </p:sp>
      <p:sp>
        <p:nvSpPr>
          <p:cNvPr id="21" name="Text 19"/>
          <p:cNvSpPr/>
          <p:nvPr/>
        </p:nvSpPr>
        <p:spPr>
          <a:xfrm>
            <a:off x="4010174" y="2150715"/>
            <a:ext cx="1363358" cy="106561"/>
          </a:xfrm>
          <a:prstGeom prst="rect">
            <a:avLst/>
          </a:prstGeom>
          <a:noFill/>
          <a:ln/>
        </p:spPr>
        <p:txBody>
          <a:bodyPr wrap="square" lIns="0" tIns="0" rIns="0" bIns="0" rtlCol="0" anchor="t"/>
          <a:lstStyle/>
          <a:p>
            <a:pPr marL="0" indent="0" algn="l">
              <a:lnSpc>
                <a:spcPts val="840"/>
              </a:lnSpc>
              <a:spcBef>
                <a:spcPts val="600"/>
              </a:spcBef>
              <a:buNone/>
            </a:pPr>
            <a:r>
              <a:rPr lang="en-US" sz="600" i="1" dirty="0">
                <a:solidFill>
                  <a:srgbClr val="9CA3AF"/>
                </a:solidFill>
                <a:latin typeface="Arial" pitchFamily="34" charset="0"/>
                <a:ea typeface="Arial" pitchFamily="34" charset="-122"/>
                <a:cs typeface="Arial" pitchFamily="34" charset="-120"/>
              </a:rPr>
              <a:t>Best for: Complex projects</a:t>
            </a:r>
            <a:endParaRPr lang="en-US" sz="600" dirty="0"/>
          </a:p>
        </p:txBody>
      </p:sp>
      <p:sp>
        <p:nvSpPr>
          <p:cNvPr id="22" name="Text 20"/>
          <p:cNvSpPr/>
          <p:nvPr/>
        </p:nvSpPr>
        <p:spPr>
          <a:xfrm>
            <a:off x="5575399" y="1387078"/>
            <a:ext cx="1584275" cy="994023"/>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23" name="Text 21"/>
          <p:cNvSpPr/>
          <p:nvPr/>
        </p:nvSpPr>
        <p:spPr>
          <a:xfrm>
            <a:off x="5699224" y="1510903"/>
            <a:ext cx="1363358" cy="146596"/>
          </a:xfrm>
          <a:prstGeom prst="rect">
            <a:avLst/>
          </a:prstGeom>
          <a:noFill/>
          <a:ln/>
        </p:spPr>
        <p:txBody>
          <a:bodyPr wrap="square" lIns="0" tIns="0" rIns="0" bIns="0" rtlCol="0" anchor="t"/>
          <a:lstStyle/>
          <a:p>
            <a:pPr marL="0" indent="0" algn="l">
              <a:lnSpc>
                <a:spcPts val="1155"/>
              </a:lnSpc>
              <a:spcAft>
                <a:spcPts val="450"/>
              </a:spcAft>
              <a:buNone/>
            </a:pPr>
            <a:r>
              <a:rPr lang="en-US" sz="825" b="1" dirty="0">
                <a:solidFill>
                  <a:srgbClr val="1A1F2E"/>
                </a:solidFill>
                <a:latin typeface="Arial" pitchFamily="34" charset="0"/>
                <a:ea typeface="Arial" pitchFamily="34" charset="-122"/>
                <a:cs typeface="Arial" pitchFamily="34" charset="-120"/>
              </a:rPr>
              <a:t>PLANNING MODE</a:t>
            </a:r>
            <a:endParaRPr lang="en-US" sz="825" dirty="0"/>
          </a:p>
        </p:txBody>
      </p:sp>
      <p:sp>
        <p:nvSpPr>
          <p:cNvPr id="24" name="Text 22"/>
          <p:cNvSpPr/>
          <p:nvPr/>
        </p:nvSpPr>
        <p:spPr>
          <a:xfrm>
            <a:off x="5699224" y="1714649"/>
            <a:ext cx="1363358" cy="359866"/>
          </a:xfrm>
          <a:prstGeom prst="rect">
            <a:avLst/>
          </a:prstGeom>
          <a:noFill/>
          <a:ln/>
        </p:spPr>
        <p:txBody>
          <a:bodyPr wrap="square" lIns="0" tIns="0" rIns="0" bIns="0" rtlCol="0" anchor="t"/>
          <a:lstStyle/>
          <a:p>
            <a:pPr marL="0" indent="0" algn="l">
              <a:lnSpc>
                <a:spcPts val="945"/>
              </a:lnSpc>
              <a:buNone/>
            </a:pPr>
            <a:r>
              <a:rPr lang="en-US" sz="675" dirty="0">
                <a:solidFill>
                  <a:srgbClr val="6B7280"/>
                </a:solidFill>
                <a:latin typeface="Arial" pitchFamily="34" charset="0"/>
                <a:ea typeface="Arial" pitchFamily="34" charset="-122"/>
                <a:cs typeface="Arial" pitchFamily="34" charset="-120"/>
              </a:rPr>
              <a:t>Use Claude's planning mode to iteratively build the PRD through conversation.</a:t>
            </a:r>
            <a:endParaRPr lang="en-US" sz="675" dirty="0"/>
          </a:p>
        </p:txBody>
      </p:sp>
      <p:sp>
        <p:nvSpPr>
          <p:cNvPr id="25" name="Text 23"/>
          <p:cNvSpPr/>
          <p:nvPr/>
        </p:nvSpPr>
        <p:spPr>
          <a:xfrm>
            <a:off x="5699224" y="2150715"/>
            <a:ext cx="1363358" cy="106561"/>
          </a:xfrm>
          <a:prstGeom prst="rect">
            <a:avLst/>
          </a:prstGeom>
          <a:noFill/>
          <a:ln/>
        </p:spPr>
        <p:txBody>
          <a:bodyPr wrap="square" lIns="0" tIns="0" rIns="0" bIns="0" rtlCol="0" anchor="t"/>
          <a:lstStyle/>
          <a:p>
            <a:pPr marL="0" indent="0" algn="l">
              <a:lnSpc>
                <a:spcPts val="840"/>
              </a:lnSpc>
              <a:spcBef>
                <a:spcPts val="600"/>
              </a:spcBef>
              <a:buNone/>
            </a:pPr>
            <a:r>
              <a:rPr lang="en-US" sz="600" i="1" dirty="0">
                <a:solidFill>
                  <a:srgbClr val="9CA3AF"/>
                </a:solidFill>
                <a:latin typeface="Arial" pitchFamily="34" charset="0"/>
                <a:ea typeface="Arial" pitchFamily="34" charset="-122"/>
                <a:cs typeface="Arial" pitchFamily="34" charset="-120"/>
              </a:rPr>
              <a:t>Best for: Medium projects</a:t>
            </a:r>
            <a:endParaRPr lang="en-US" sz="600" dirty="0"/>
          </a:p>
        </p:txBody>
      </p:sp>
      <p:sp>
        <p:nvSpPr>
          <p:cNvPr id="26" name="Text 24"/>
          <p:cNvSpPr/>
          <p:nvPr/>
        </p:nvSpPr>
        <p:spPr>
          <a:xfrm>
            <a:off x="7254925" y="1447056"/>
            <a:ext cx="1584275" cy="874068"/>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27" name="Text 25"/>
          <p:cNvSpPr/>
          <p:nvPr/>
        </p:nvSpPr>
        <p:spPr>
          <a:xfrm>
            <a:off x="7378750" y="1570881"/>
            <a:ext cx="1363358" cy="146596"/>
          </a:xfrm>
          <a:prstGeom prst="rect">
            <a:avLst/>
          </a:prstGeom>
          <a:noFill/>
          <a:ln/>
        </p:spPr>
        <p:txBody>
          <a:bodyPr wrap="square" lIns="0" tIns="0" rIns="0" bIns="0" rtlCol="0" anchor="t"/>
          <a:lstStyle/>
          <a:p>
            <a:pPr marL="0" indent="0" algn="l">
              <a:lnSpc>
                <a:spcPts val="1155"/>
              </a:lnSpc>
              <a:spcAft>
                <a:spcPts val="450"/>
              </a:spcAft>
              <a:buNone/>
            </a:pPr>
            <a:r>
              <a:rPr lang="en-US" sz="825" b="1" dirty="0">
                <a:solidFill>
                  <a:srgbClr val="1A1F2E"/>
                </a:solidFill>
                <a:latin typeface="Arial" pitchFamily="34" charset="0"/>
                <a:ea typeface="Arial" pitchFamily="34" charset="-122"/>
                <a:cs typeface="Arial" pitchFamily="34" charset="-120"/>
              </a:rPr>
              <a:t>MANUAL + AI</a:t>
            </a:r>
            <a:endParaRPr lang="en-US" sz="825" dirty="0"/>
          </a:p>
        </p:txBody>
      </p:sp>
      <p:sp>
        <p:nvSpPr>
          <p:cNvPr id="28" name="Text 26"/>
          <p:cNvSpPr/>
          <p:nvPr/>
        </p:nvSpPr>
        <p:spPr>
          <a:xfrm>
            <a:off x="7378750" y="1774627"/>
            <a:ext cx="1363358" cy="239911"/>
          </a:xfrm>
          <a:prstGeom prst="rect">
            <a:avLst/>
          </a:prstGeom>
          <a:noFill/>
          <a:ln/>
        </p:spPr>
        <p:txBody>
          <a:bodyPr wrap="square" lIns="0" tIns="0" rIns="0" bIns="0" rtlCol="0" anchor="t"/>
          <a:lstStyle/>
          <a:p>
            <a:pPr marL="0" indent="0" algn="l">
              <a:lnSpc>
                <a:spcPts val="945"/>
              </a:lnSpc>
              <a:buNone/>
            </a:pPr>
            <a:r>
              <a:rPr lang="en-US" sz="675" dirty="0">
                <a:solidFill>
                  <a:srgbClr val="6B7280"/>
                </a:solidFill>
                <a:latin typeface="Arial" pitchFamily="34" charset="0"/>
                <a:ea typeface="Arial" pitchFamily="34" charset="-122"/>
                <a:cs typeface="Arial" pitchFamily="34" charset="-120"/>
              </a:rPr>
              <a:t>Write structure yourself, use AI to fill sections and refine language.</a:t>
            </a:r>
            <a:endParaRPr lang="en-US" sz="675" dirty="0"/>
          </a:p>
        </p:txBody>
      </p:sp>
      <p:sp>
        <p:nvSpPr>
          <p:cNvPr id="29" name="Text 27"/>
          <p:cNvSpPr/>
          <p:nvPr/>
        </p:nvSpPr>
        <p:spPr>
          <a:xfrm>
            <a:off x="7378750" y="2090738"/>
            <a:ext cx="1363358" cy="106561"/>
          </a:xfrm>
          <a:prstGeom prst="rect">
            <a:avLst/>
          </a:prstGeom>
          <a:noFill/>
          <a:ln/>
        </p:spPr>
        <p:txBody>
          <a:bodyPr wrap="square" lIns="0" tIns="0" rIns="0" bIns="0" rtlCol="0" anchor="t"/>
          <a:lstStyle/>
          <a:p>
            <a:pPr marL="0" indent="0" algn="l">
              <a:lnSpc>
                <a:spcPts val="840"/>
              </a:lnSpc>
              <a:spcBef>
                <a:spcPts val="600"/>
              </a:spcBef>
              <a:buNone/>
            </a:pPr>
            <a:r>
              <a:rPr lang="en-US" sz="600" i="1" dirty="0">
                <a:solidFill>
                  <a:srgbClr val="9CA3AF"/>
                </a:solidFill>
                <a:latin typeface="Arial" pitchFamily="34" charset="0"/>
                <a:ea typeface="Arial" pitchFamily="34" charset="-122"/>
                <a:cs typeface="Arial" pitchFamily="34" charset="-120"/>
              </a:rPr>
              <a:t>Best for: Simple projects</a:t>
            </a:r>
            <a:endParaRPr lang="en-US" sz="600" dirty="0"/>
          </a:p>
        </p:txBody>
      </p:sp>
      <p:sp>
        <p:nvSpPr>
          <p:cNvPr id="30" name="Text 28"/>
          <p:cNvSpPr/>
          <p:nvPr/>
        </p:nvSpPr>
        <p:spPr>
          <a:xfrm>
            <a:off x="3876824" y="2657326"/>
            <a:ext cx="4962376" cy="700980"/>
          </a:xfrm>
          <a:prstGeom prst="rect">
            <a:avLst/>
          </a:prstGeom>
          <a:solidFill>
            <a:srgbClr val="1A1F2E"/>
          </a:solidFill>
          <a:ln/>
        </p:spPr>
        <p:txBody>
          <a:bodyPr wrap="square" rtlCol="0" anchor="ctr"/>
          <a:lstStyle/>
          <a:p>
            <a:pPr marL="0" indent="0">
              <a:buNone/>
            </a:pPr>
            <a:endParaRPr lang="en-US" dirty="0"/>
          </a:p>
        </p:txBody>
      </p:sp>
      <p:sp>
        <p:nvSpPr>
          <p:cNvPr id="31" name="Text 29"/>
          <p:cNvSpPr/>
          <p:nvPr/>
        </p:nvSpPr>
        <p:spPr>
          <a:xfrm>
            <a:off x="4010174" y="2790676"/>
            <a:ext cx="4789590" cy="119955"/>
          </a:xfrm>
          <a:prstGeom prst="rect">
            <a:avLst/>
          </a:prstGeom>
          <a:noFill/>
          <a:ln/>
        </p:spPr>
        <p:txBody>
          <a:bodyPr wrap="square" lIns="0" tIns="0" rIns="0" bIns="0" rtlCol="0" anchor="t"/>
          <a:lstStyle/>
          <a:p>
            <a:pPr marL="0" indent="0" algn="l">
              <a:lnSpc>
                <a:spcPts val="945"/>
              </a:lnSpc>
              <a:spcAft>
                <a:spcPts val="450"/>
              </a:spcAft>
              <a:buNone/>
            </a:pPr>
            <a:r>
              <a:rPr lang="en-US" sz="675" dirty="0">
                <a:solidFill>
                  <a:srgbClr val="C9A227"/>
                </a:solidFill>
                <a:latin typeface="Arial" pitchFamily="34" charset="0"/>
                <a:ea typeface="Arial" pitchFamily="34" charset="-122"/>
                <a:cs typeface="Arial" pitchFamily="34" charset="-120"/>
              </a:rPr>
              <a:t>EXAMPLE VOICE PROMPT</a:t>
            </a:r>
            <a:endParaRPr lang="en-US" sz="675" dirty="0"/>
          </a:p>
        </p:txBody>
      </p:sp>
      <p:sp>
        <p:nvSpPr>
          <p:cNvPr id="32" name="Text 30"/>
          <p:cNvSpPr/>
          <p:nvPr/>
        </p:nvSpPr>
        <p:spPr>
          <a:xfrm>
            <a:off x="4010174" y="2967782"/>
            <a:ext cx="4789590" cy="257175"/>
          </a:xfrm>
          <a:prstGeom prst="rect">
            <a:avLst/>
          </a:prstGeom>
          <a:noFill/>
          <a:ln/>
        </p:spPr>
        <p:txBody>
          <a:bodyPr wrap="square" lIns="0" tIns="0" rIns="0" bIns="0" rtlCol="0" anchor="t"/>
          <a:lstStyle/>
          <a:p>
            <a:pPr marL="0" indent="0" algn="l">
              <a:lnSpc>
                <a:spcPts val="1013"/>
              </a:lnSpc>
              <a:buNone/>
            </a:pPr>
            <a:r>
              <a:rPr lang="en-US" sz="675" dirty="0">
                <a:solidFill>
                  <a:srgbClr val="FFFFFF">
                    <a:alpha val="80000"/>
                  </a:srgbClr>
                </a:solidFill>
                <a:latin typeface="Arial" pitchFamily="34" charset="0"/>
                <a:ea typeface="Arial" pitchFamily="34" charset="-122"/>
                <a:cs typeface="Arial" pitchFamily="34" charset="-120"/>
              </a:rPr>
              <a:t>"Using everything in our docs folder — the design system, architecture notes, and narrative guidelines — create a comprehensive PRD. Include user stories, technical specs, and clear acceptance criteria for each feature."</a:t>
            </a:r>
            <a:endParaRPr lang="en-US" sz="675" dirty="0"/>
          </a:p>
        </p:txBody>
      </p:sp>
      <p:sp>
        <p:nvSpPr>
          <p:cNvPr id="33" name="Text 31"/>
          <p:cNvSpPr/>
          <p:nvPr/>
        </p:nvSpPr>
        <p:spPr>
          <a:xfrm>
            <a:off x="3876824" y="3625007"/>
            <a:ext cx="2433638" cy="599777"/>
          </a:xfrm>
          <a:prstGeom prst="rect">
            <a:avLst/>
          </a:prstGeom>
          <a:solidFill>
            <a:srgbClr val="DCFCE7"/>
          </a:solidFill>
          <a:ln/>
        </p:spPr>
        <p:txBody>
          <a:bodyPr wrap="square" rtlCol="0" anchor="ctr"/>
          <a:lstStyle/>
          <a:p>
            <a:pPr marL="0" indent="0">
              <a:buNone/>
            </a:pPr>
            <a:endParaRPr lang="en-US" dirty="0"/>
          </a:p>
        </p:txBody>
      </p:sp>
      <p:sp>
        <p:nvSpPr>
          <p:cNvPr id="34" name="Shape 32"/>
          <p:cNvSpPr/>
          <p:nvPr/>
        </p:nvSpPr>
        <p:spPr>
          <a:xfrm>
            <a:off x="3891111" y="3625007"/>
            <a:ext cx="0" cy="599777"/>
          </a:xfrm>
          <a:prstGeom prst="line">
            <a:avLst/>
          </a:prstGeom>
          <a:noFill/>
          <a:ln w="28575">
            <a:solidFill>
              <a:srgbClr val="059669"/>
            </a:solidFill>
            <a:prstDash val="solid"/>
          </a:ln>
        </p:spPr>
        <p:txBody>
          <a:bodyPr/>
          <a:lstStyle/>
          <a:p>
            <a:endParaRPr lang="en-US"/>
          </a:p>
        </p:txBody>
      </p:sp>
      <p:sp>
        <p:nvSpPr>
          <p:cNvPr id="35" name="Text 33"/>
          <p:cNvSpPr/>
          <p:nvPr/>
        </p:nvSpPr>
        <p:spPr>
          <a:xfrm>
            <a:off x="4019699" y="3739307"/>
            <a:ext cx="2219992" cy="119955"/>
          </a:xfrm>
          <a:prstGeom prst="rect">
            <a:avLst/>
          </a:prstGeom>
          <a:noFill/>
          <a:ln/>
        </p:spPr>
        <p:txBody>
          <a:bodyPr wrap="square" lIns="0" tIns="0" rIns="0" bIns="0" rtlCol="0" anchor="t"/>
          <a:lstStyle/>
          <a:p>
            <a:pPr marL="0" indent="0" algn="l">
              <a:lnSpc>
                <a:spcPts val="945"/>
              </a:lnSpc>
              <a:spcAft>
                <a:spcPts val="300"/>
              </a:spcAft>
              <a:buNone/>
            </a:pPr>
            <a:r>
              <a:rPr lang="en-US" sz="675" b="1" dirty="0">
                <a:solidFill>
                  <a:srgbClr val="166534"/>
                </a:solidFill>
                <a:latin typeface="Arial" pitchFamily="34" charset="0"/>
                <a:ea typeface="Arial" pitchFamily="34" charset="-122"/>
                <a:cs typeface="Arial" pitchFamily="34" charset="-120"/>
              </a:rPr>
              <a:t>QUALITY INDICATORS</a:t>
            </a:r>
            <a:endParaRPr lang="en-US" sz="675" dirty="0"/>
          </a:p>
        </p:txBody>
      </p:sp>
      <p:sp>
        <p:nvSpPr>
          <p:cNvPr id="36" name="Text 34"/>
          <p:cNvSpPr/>
          <p:nvPr/>
        </p:nvSpPr>
        <p:spPr>
          <a:xfrm>
            <a:off x="4019699" y="3897362"/>
            <a:ext cx="2219992" cy="213122"/>
          </a:xfrm>
          <a:prstGeom prst="rect">
            <a:avLst/>
          </a:prstGeom>
          <a:noFill/>
          <a:ln/>
        </p:spPr>
        <p:txBody>
          <a:bodyPr wrap="square" lIns="0" tIns="0" rIns="0" bIns="0" rtlCol="0" anchor="t"/>
          <a:lstStyle/>
          <a:p>
            <a:pPr marL="0" indent="0" algn="l">
              <a:lnSpc>
                <a:spcPts val="840"/>
              </a:lnSpc>
              <a:buNone/>
            </a:pPr>
            <a:r>
              <a:rPr lang="en-US" sz="600" dirty="0">
                <a:solidFill>
                  <a:srgbClr val="166534"/>
                </a:solidFill>
                <a:latin typeface="Arial" pitchFamily="34" charset="0"/>
                <a:ea typeface="Arial" pitchFamily="34" charset="-122"/>
                <a:cs typeface="Arial" pitchFamily="34" charset="-120"/>
              </a:rPr>
              <a:t>Testable acceptance criteria, clear scope boundaries, no ambiguous requirements</a:t>
            </a:r>
            <a:endParaRPr lang="en-US" sz="600" dirty="0"/>
          </a:p>
        </p:txBody>
      </p:sp>
      <p:sp>
        <p:nvSpPr>
          <p:cNvPr id="37" name="Text 35"/>
          <p:cNvSpPr/>
          <p:nvPr/>
        </p:nvSpPr>
        <p:spPr>
          <a:xfrm>
            <a:off x="6405711" y="3625007"/>
            <a:ext cx="2433638" cy="599777"/>
          </a:xfrm>
          <a:prstGeom prst="rect">
            <a:avLst/>
          </a:prstGeom>
          <a:solidFill>
            <a:srgbClr val="FEF3C7"/>
          </a:solidFill>
          <a:ln/>
        </p:spPr>
        <p:txBody>
          <a:bodyPr wrap="square" rtlCol="0" anchor="ctr"/>
          <a:lstStyle/>
          <a:p>
            <a:pPr marL="0" indent="0">
              <a:buNone/>
            </a:pPr>
            <a:endParaRPr lang="en-US" dirty="0"/>
          </a:p>
        </p:txBody>
      </p:sp>
      <p:sp>
        <p:nvSpPr>
          <p:cNvPr id="38" name="Shape 36"/>
          <p:cNvSpPr/>
          <p:nvPr/>
        </p:nvSpPr>
        <p:spPr>
          <a:xfrm>
            <a:off x="6419999" y="3625007"/>
            <a:ext cx="0" cy="599777"/>
          </a:xfrm>
          <a:prstGeom prst="line">
            <a:avLst/>
          </a:prstGeom>
          <a:noFill/>
          <a:ln w="28575">
            <a:solidFill>
              <a:srgbClr val="F59E0B"/>
            </a:solidFill>
            <a:prstDash val="solid"/>
          </a:ln>
        </p:spPr>
        <p:txBody>
          <a:bodyPr/>
          <a:lstStyle/>
          <a:p>
            <a:endParaRPr lang="en-US"/>
          </a:p>
        </p:txBody>
      </p:sp>
      <p:sp>
        <p:nvSpPr>
          <p:cNvPr id="39" name="Text 37"/>
          <p:cNvSpPr/>
          <p:nvPr/>
        </p:nvSpPr>
        <p:spPr>
          <a:xfrm>
            <a:off x="6548586" y="3739307"/>
            <a:ext cx="2219992" cy="119955"/>
          </a:xfrm>
          <a:prstGeom prst="rect">
            <a:avLst/>
          </a:prstGeom>
          <a:noFill/>
          <a:ln/>
        </p:spPr>
        <p:txBody>
          <a:bodyPr wrap="square" lIns="0" tIns="0" rIns="0" bIns="0" rtlCol="0" anchor="t"/>
          <a:lstStyle/>
          <a:p>
            <a:pPr marL="0" indent="0" algn="l">
              <a:lnSpc>
                <a:spcPts val="945"/>
              </a:lnSpc>
              <a:spcAft>
                <a:spcPts val="300"/>
              </a:spcAft>
              <a:buNone/>
            </a:pPr>
            <a:r>
              <a:rPr lang="en-US" sz="675" b="1" dirty="0">
                <a:solidFill>
                  <a:srgbClr val="92400E"/>
                </a:solidFill>
                <a:latin typeface="Arial" pitchFamily="34" charset="0"/>
                <a:ea typeface="Arial" pitchFamily="34" charset="-122"/>
                <a:cs typeface="Arial" pitchFamily="34" charset="-120"/>
              </a:rPr>
              <a:t>OUTPUT</a:t>
            </a:r>
            <a:endParaRPr lang="en-US" sz="675" dirty="0"/>
          </a:p>
        </p:txBody>
      </p:sp>
      <p:sp>
        <p:nvSpPr>
          <p:cNvPr id="40" name="Text 38"/>
          <p:cNvSpPr/>
          <p:nvPr/>
        </p:nvSpPr>
        <p:spPr>
          <a:xfrm>
            <a:off x="6548586" y="3897362"/>
            <a:ext cx="2219992" cy="213122"/>
          </a:xfrm>
          <a:prstGeom prst="rect">
            <a:avLst/>
          </a:prstGeom>
          <a:noFill/>
          <a:ln/>
        </p:spPr>
        <p:txBody>
          <a:bodyPr wrap="square" lIns="0" tIns="0" rIns="0" bIns="0" rtlCol="0" anchor="t"/>
          <a:lstStyle/>
          <a:p>
            <a:pPr marL="0" indent="0" algn="l">
              <a:lnSpc>
                <a:spcPts val="840"/>
              </a:lnSpc>
              <a:buNone/>
            </a:pPr>
            <a:r>
              <a:rPr lang="en-US" sz="600" dirty="0">
                <a:solidFill>
                  <a:srgbClr val="92400E"/>
                </a:solidFill>
                <a:latin typeface="Arial" pitchFamily="34" charset="0"/>
                <a:ea typeface="Arial" pitchFamily="34" charset="-122"/>
                <a:cs typeface="Arial" pitchFamily="34" charset="-120"/>
              </a:rPr>
              <a:t>docs/PRD.md — this file becomes the primary reference for agentic iteration</a:t>
            </a:r>
            <a:endParaRPr lang="en-US" sz="6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0" y="0"/>
            <a:ext cx="3419624" cy="5143500"/>
          </a:xfrm>
          <a:prstGeom prst="rect">
            <a:avLst/>
          </a:prstGeom>
          <a:solidFill>
            <a:srgbClr val="1A1F2E"/>
          </a:solidFill>
          <a:ln/>
        </p:spPr>
        <p:txBody>
          <a:bodyPr wrap="square" rtlCol="0" anchor="ctr"/>
          <a:lstStyle/>
          <a:p>
            <a:pPr marL="0" indent="0">
              <a:buNone/>
            </a:pPr>
            <a:endParaRPr lang="en-US" dirty="0"/>
          </a:p>
        </p:txBody>
      </p:sp>
      <p:sp>
        <p:nvSpPr>
          <p:cNvPr id="3" name="Text 1"/>
          <p:cNvSpPr/>
          <p:nvPr/>
        </p:nvSpPr>
        <p:spPr>
          <a:xfrm>
            <a:off x="304800" y="304800"/>
            <a:ext cx="981373" cy="234255"/>
          </a:xfrm>
          <a:prstGeom prst="rect">
            <a:avLst/>
          </a:prstGeom>
          <a:solidFill>
            <a:srgbClr val="D97706"/>
          </a:solidFill>
          <a:ln/>
        </p:spPr>
        <p:txBody>
          <a:bodyPr wrap="square" rtlCol="0" anchor="ctr"/>
          <a:lstStyle/>
          <a:p>
            <a:pPr marL="0" indent="0">
              <a:buNone/>
            </a:pPr>
            <a:endParaRPr lang="en-US" dirty="0"/>
          </a:p>
        </p:txBody>
      </p:sp>
      <p:sp>
        <p:nvSpPr>
          <p:cNvPr id="4" name="Text 2"/>
          <p:cNvSpPr/>
          <p:nvPr/>
        </p:nvSpPr>
        <p:spPr>
          <a:xfrm>
            <a:off x="419100" y="361950"/>
            <a:ext cx="767828" cy="119955"/>
          </a:xfrm>
          <a:prstGeom prst="rect">
            <a:avLst/>
          </a:prstGeom>
          <a:noFill/>
          <a:ln/>
        </p:spPr>
        <p:txBody>
          <a:bodyPr wrap="square" lIns="0" tIns="0" rIns="0" bIns="0" rtlCol="0" anchor="t"/>
          <a:lstStyle/>
          <a:p>
            <a:pPr marL="0" indent="0" algn="l">
              <a:lnSpc>
                <a:spcPts val="945"/>
              </a:lnSpc>
              <a:buNone/>
            </a:pPr>
            <a:r>
              <a:rPr lang="en-US" sz="675" b="1" dirty="0">
                <a:solidFill>
                  <a:srgbClr val="1A1F2E"/>
                </a:solidFill>
                <a:latin typeface="Arial" pitchFamily="34" charset="0"/>
                <a:ea typeface="Arial" pitchFamily="34" charset="-122"/>
                <a:cs typeface="Arial" pitchFamily="34" charset="-120"/>
              </a:rPr>
              <a:t>PHASE 8 OF 10</a:t>
            </a:r>
            <a:endParaRPr lang="en-US" sz="675" dirty="0"/>
          </a:p>
        </p:txBody>
      </p:sp>
      <p:sp>
        <p:nvSpPr>
          <p:cNvPr id="5" name="Text 3"/>
          <p:cNvSpPr/>
          <p:nvPr/>
        </p:nvSpPr>
        <p:spPr>
          <a:xfrm>
            <a:off x="304800" y="805755"/>
            <a:ext cx="1690497" cy="594122"/>
          </a:xfrm>
          <a:prstGeom prst="rect">
            <a:avLst/>
          </a:prstGeom>
          <a:noFill/>
          <a:ln/>
        </p:spPr>
        <p:txBody>
          <a:bodyPr wrap="square" lIns="0" tIns="0" rIns="0" bIns="0" rtlCol="0" anchor="t"/>
          <a:lstStyle/>
          <a:p>
            <a:pPr marL="0" indent="0" algn="l">
              <a:lnSpc>
                <a:spcPts val="2340"/>
              </a:lnSpc>
              <a:spcAft>
                <a:spcPts val="900"/>
              </a:spcAft>
              <a:buNone/>
            </a:pPr>
            <a:r>
              <a:rPr lang="en-US" sz="1950" dirty="0">
                <a:solidFill>
                  <a:srgbClr val="FFFFFF"/>
                </a:solidFill>
                <a:latin typeface="Georgia" pitchFamily="34" charset="0"/>
                <a:ea typeface="Georgia" pitchFamily="34" charset="-122"/>
                <a:cs typeface="Georgia" pitchFamily="34" charset="-120"/>
              </a:rPr>
              <a:t>Agentic</a:t>
            </a:r>
            <a:endParaRPr lang="en-US" sz="1950" dirty="0"/>
          </a:p>
          <a:p>
            <a:pPr marL="0" indent="0" algn="l">
              <a:lnSpc>
                <a:spcPts val="2340"/>
              </a:lnSpc>
              <a:spcAft>
                <a:spcPts val="900"/>
              </a:spcAft>
              <a:buNone/>
            </a:pPr>
            <a:r>
              <a:rPr lang="en-US" sz="1950" dirty="0">
                <a:solidFill>
                  <a:srgbClr val="FFFFFF"/>
                </a:solidFill>
                <a:latin typeface="Georgia" pitchFamily="34" charset="0"/>
                <a:ea typeface="Georgia" pitchFamily="34" charset="-122"/>
                <a:cs typeface="Georgia" pitchFamily="34" charset="-120"/>
              </a:rPr>
              <a:t>Iteration Mode</a:t>
            </a:r>
            <a:endParaRPr lang="en-US" sz="1950" dirty="0"/>
          </a:p>
        </p:txBody>
      </p:sp>
      <p:sp>
        <p:nvSpPr>
          <p:cNvPr id="6" name="Text 4"/>
          <p:cNvSpPr/>
          <p:nvPr/>
        </p:nvSpPr>
        <p:spPr>
          <a:xfrm>
            <a:off x="304800" y="1666577"/>
            <a:ext cx="381000" cy="11906"/>
          </a:xfrm>
          <a:prstGeom prst="rect">
            <a:avLst/>
          </a:prstGeom>
          <a:solidFill>
            <a:srgbClr val="C9A227"/>
          </a:solidFill>
          <a:ln/>
        </p:spPr>
        <p:txBody>
          <a:bodyPr wrap="square" rtlCol="0" anchor="ctr"/>
          <a:lstStyle/>
          <a:p>
            <a:pPr marL="0" indent="0">
              <a:buNone/>
            </a:pPr>
            <a:endParaRPr lang="en-US" dirty="0"/>
          </a:p>
        </p:txBody>
      </p:sp>
      <p:sp>
        <p:nvSpPr>
          <p:cNvPr id="7" name="Text 5"/>
          <p:cNvSpPr/>
          <p:nvPr/>
        </p:nvSpPr>
        <p:spPr>
          <a:xfrm>
            <a:off x="304800" y="1983284"/>
            <a:ext cx="2810024" cy="784771"/>
          </a:xfrm>
          <a:prstGeom prst="rect">
            <a:avLst/>
          </a:prstGeom>
          <a:solidFill>
            <a:srgbClr val="D97706">
              <a:alpha val="15000"/>
            </a:srgbClr>
          </a:solidFill>
          <a:ln/>
        </p:spPr>
        <p:txBody>
          <a:bodyPr wrap="square" rtlCol="0" anchor="ctr"/>
          <a:lstStyle/>
          <a:p>
            <a:pPr marL="0" indent="0">
              <a:buNone/>
            </a:pPr>
            <a:endParaRPr lang="en-US" dirty="0"/>
          </a:p>
        </p:txBody>
      </p:sp>
      <p:sp>
        <p:nvSpPr>
          <p:cNvPr id="8" name="Shape 6"/>
          <p:cNvSpPr/>
          <p:nvPr/>
        </p:nvSpPr>
        <p:spPr>
          <a:xfrm>
            <a:off x="319088" y="1983284"/>
            <a:ext cx="0" cy="784771"/>
          </a:xfrm>
          <a:prstGeom prst="line">
            <a:avLst/>
          </a:prstGeom>
          <a:noFill/>
          <a:ln w="28575">
            <a:solidFill>
              <a:srgbClr val="D97706"/>
            </a:solidFill>
            <a:prstDash val="solid"/>
          </a:ln>
        </p:spPr>
        <p:txBody>
          <a:bodyPr/>
          <a:lstStyle/>
          <a:p>
            <a:endParaRPr lang="en-US"/>
          </a:p>
        </p:txBody>
      </p:sp>
      <p:sp>
        <p:nvSpPr>
          <p:cNvPr id="9" name="Text 7"/>
          <p:cNvSpPr/>
          <p:nvPr/>
        </p:nvSpPr>
        <p:spPr>
          <a:xfrm>
            <a:off x="466725" y="2116634"/>
            <a:ext cx="2565044" cy="146596"/>
          </a:xfrm>
          <a:prstGeom prst="rect">
            <a:avLst/>
          </a:prstGeom>
          <a:noFill/>
          <a:ln/>
        </p:spPr>
        <p:txBody>
          <a:bodyPr wrap="square" lIns="0" tIns="0" rIns="0" bIns="0" rtlCol="0" anchor="t"/>
          <a:lstStyle/>
          <a:p>
            <a:pPr marL="0" indent="0" algn="l">
              <a:lnSpc>
                <a:spcPts val="1155"/>
              </a:lnSpc>
              <a:spcAft>
                <a:spcPts val="450"/>
              </a:spcAft>
              <a:buNone/>
            </a:pPr>
            <a:r>
              <a:rPr lang="en-US" sz="825" b="1" dirty="0">
                <a:solidFill>
                  <a:srgbClr val="FBBF24"/>
                </a:solidFill>
                <a:latin typeface="Arial" pitchFamily="34" charset="0"/>
                <a:ea typeface="Arial" pitchFamily="34" charset="-122"/>
                <a:cs typeface="Arial" pitchFamily="34" charset="-120"/>
              </a:rPr>
              <a:t>THE OBJECTIVE</a:t>
            </a:r>
            <a:endParaRPr lang="en-US" sz="825" dirty="0"/>
          </a:p>
        </p:txBody>
      </p:sp>
      <p:sp>
        <p:nvSpPr>
          <p:cNvPr id="10" name="Text 8"/>
          <p:cNvSpPr/>
          <p:nvPr/>
        </p:nvSpPr>
        <p:spPr>
          <a:xfrm>
            <a:off x="466725" y="2320379"/>
            <a:ext cx="2565044" cy="314325"/>
          </a:xfrm>
          <a:prstGeom prst="rect">
            <a:avLst/>
          </a:prstGeom>
          <a:noFill/>
          <a:ln/>
        </p:spPr>
        <p:txBody>
          <a:bodyPr wrap="square" lIns="0" tIns="0" rIns="0" bIns="0" rtlCol="0" anchor="t"/>
          <a:lstStyle/>
          <a:p>
            <a:pPr marL="0" indent="0" algn="l">
              <a:lnSpc>
                <a:spcPts val="1238"/>
              </a:lnSpc>
              <a:buNone/>
            </a:pPr>
            <a:r>
              <a:rPr lang="en-US" sz="825" dirty="0">
                <a:solidFill>
                  <a:srgbClr val="FFFFFF">
                    <a:alpha val="80000"/>
                  </a:srgbClr>
                </a:solidFill>
                <a:latin typeface="Arial" pitchFamily="34" charset="0"/>
                <a:ea typeface="Arial" pitchFamily="34" charset="-122"/>
                <a:cs typeface="Arial" pitchFamily="34" charset="-120"/>
              </a:rPr>
              <a:t>Let the agent execute substantial work autonomously. All setup pays off here.</a:t>
            </a:r>
            <a:endParaRPr lang="en-US" sz="825" dirty="0"/>
          </a:p>
        </p:txBody>
      </p:sp>
      <p:sp>
        <p:nvSpPr>
          <p:cNvPr id="11" name="Text 9"/>
          <p:cNvSpPr/>
          <p:nvPr/>
        </p:nvSpPr>
        <p:spPr>
          <a:xfrm>
            <a:off x="304800" y="3072854"/>
            <a:ext cx="2810024" cy="1099096"/>
          </a:xfrm>
          <a:prstGeom prst="rect">
            <a:avLst/>
          </a:prstGeom>
          <a:solidFill>
            <a:srgbClr val="FFFFFF">
              <a:alpha val="5000"/>
            </a:srgbClr>
          </a:solidFill>
          <a:ln/>
        </p:spPr>
        <p:txBody>
          <a:bodyPr wrap="square" rtlCol="0" anchor="ctr"/>
          <a:lstStyle/>
          <a:p>
            <a:pPr marL="0" indent="0">
              <a:buNone/>
            </a:pPr>
            <a:endParaRPr lang="en-US" dirty="0"/>
          </a:p>
        </p:txBody>
      </p:sp>
      <p:sp>
        <p:nvSpPr>
          <p:cNvPr id="12" name="Text 10"/>
          <p:cNvSpPr/>
          <p:nvPr/>
        </p:nvSpPr>
        <p:spPr>
          <a:xfrm>
            <a:off x="438150" y="3206204"/>
            <a:ext cx="2594190" cy="146596"/>
          </a:xfrm>
          <a:prstGeom prst="rect">
            <a:avLst/>
          </a:prstGeom>
          <a:noFill/>
          <a:ln/>
        </p:spPr>
        <p:txBody>
          <a:bodyPr wrap="square" lIns="0" tIns="0" rIns="0" bIns="0" rtlCol="0" anchor="t"/>
          <a:lstStyle/>
          <a:p>
            <a:pPr marL="0" indent="0" algn="l">
              <a:lnSpc>
                <a:spcPts val="1155"/>
              </a:lnSpc>
              <a:spcAft>
                <a:spcPts val="600"/>
              </a:spcAft>
              <a:buNone/>
            </a:pPr>
            <a:r>
              <a:rPr lang="en-US" sz="825" b="1" dirty="0">
                <a:solidFill>
                  <a:srgbClr val="FFFFFF"/>
                </a:solidFill>
                <a:latin typeface="Arial" pitchFamily="34" charset="0"/>
                <a:ea typeface="Arial" pitchFamily="34" charset="-122"/>
                <a:cs typeface="Arial" pitchFamily="34" charset="-120"/>
              </a:rPr>
              <a:t>WHAT ENABLES THIS</a:t>
            </a:r>
            <a:endParaRPr lang="en-US" sz="825" dirty="0"/>
          </a:p>
        </p:txBody>
      </p:sp>
      <p:sp>
        <p:nvSpPr>
          <p:cNvPr id="13" name="Text 11"/>
          <p:cNvSpPr/>
          <p:nvPr/>
        </p:nvSpPr>
        <p:spPr>
          <a:xfrm>
            <a:off x="438150" y="3429000"/>
            <a:ext cx="2594190" cy="609600"/>
          </a:xfrm>
          <a:prstGeom prst="rect">
            <a:avLst/>
          </a:prstGeom>
          <a:noFill/>
          <a:ln/>
        </p:spPr>
        <p:txBody>
          <a:bodyPr wrap="square" lIns="0" tIns="0" rIns="0" bIns="0" rtlCol="0" anchor="t"/>
          <a:lstStyle/>
          <a:p>
            <a:pPr marL="0" indent="0" algn="l">
              <a:lnSpc>
                <a:spcPts val="1200"/>
              </a:lnSpc>
              <a:buNone/>
            </a:pPr>
            <a:r>
              <a:rPr lang="en-US" sz="750" dirty="0">
                <a:solidFill>
                  <a:srgbClr val="FFFFFF">
                    <a:alpha val="60000"/>
                  </a:srgbClr>
                </a:solidFill>
                <a:latin typeface="Arial" pitchFamily="34" charset="0"/>
                <a:ea typeface="Arial" pitchFamily="34" charset="-122"/>
                <a:cs typeface="Arial" pitchFamily="34" charset="-120"/>
              </a:rPr>
              <a:t>Clear PRD specification</a:t>
            </a:r>
            <a:endParaRPr lang="en-US" sz="750" dirty="0"/>
          </a:p>
          <a:p>
            <a:pPr marL="0" indent="0" algn="l">
              <a:lnSpc>
                <a:spcPts val="1200"/>
              </a:lnSpc>
              <a:buNone/>
            </a:pPr>
            <a:r>
              <a:rPr lang="en-US" sz="750" dirty="0">
                <a:solidFill>
                  <a:srgbClr val="FFFFFF">
                    <a:alpha val="60000"/>
                  </a:srgbClr>
                </a:solidFill>
                <a:latin typeface="Arial" pitchFamily="34" charset="0"/>
                <a:ea typeface="Arial" pitchFamily="34" charset="-122"/>
                <a:cs typeface="Arial" pitchFamily="34" charset="-120"/>
              </a:rPr>
              <a:t> Design system context</a:t>
            </a:r>
            <a:endParaRPr lang="en-US" sz="750" dirty="0"/>
          </a:p>
          <a:p>
            <a:pPr marL="0" indent="0" algn="l">
              <a:lnSpc>
                <a:spcPts val="1200"/>
              </a:lnSpc>
              <a:buNone/>
            </a:pPr>
            <a:r>
              <a:rPr lang="en-US" sz="750" dirty="0">
                <a:solidFill>
                  <a:srgbClr val="FFFFFF">
                    <a:alpha val="60000"/>
                  </a:srgbClr>
                </a:solidFill>
                <a:latin typeface="Arial" pitchFamily="34" charset="0"/>
                <a:ea typeface="Arial" pitchFamily="34" charset="-122"/>
                <a:cs typeface="Arial" pitchFamily="34" charset="-120"/>
              </a:rPr>
              <a:t> Well-structured codebase</a:t>
            </a:r>
            <a:endParaRPr lang="en-US" sz="750" dirty="0"/>
          </a:p>
          <a:p>
            <a:pPr marL="0" indent="0" algn="l">
              <a:lnSpc>
                <a:spcPts val="1200"/>
              </a:lnSpc>
              <a:buNone/>
            </a:pPr>
            <a:r>
              <a:rPr lang="en-US" sz="750" dirty="0">
                <a:solidFill>
                  <a:srgbClr val="FFFFFF">
                    <a:alpha val="60000"/>
                  </a:srgbClr>
                </a:solidFill>
                <a:latin typeface="Arial" pitchFamily="34" charset="0"/>
                <a:ea typeface="Arial" pitchFamily="34" charset="-122"/>
                <a:cs typeface="Arial" pitchFamily="34" charset="-120"/>
              </a:rPr>
              <a:t> Established patterns</a:t>
            </a:r>
            <a:endParaRPr lang="en-US" sz="750" dirty="0"/>
          </a:p>
        </p:txBody>
      </p:sp>
      <p:sp>
        <p:nvSpPr>
          <p:cNvPr id="14" name="Text 12"/>
          <p:cNvSpPr/>
          <p:nvPr/>
        </p:nvSpPr>
        <p:spPr>
          <a:xfrm>
            <a:off x="304800" y="4476750"/>
            <a:ext cx="2810024" cy="361950"/>
          </a:xfrm>
          <a:prstGeom prst="rect">
            <a:avLst/>
          </a:prstGeom>
          <a:solidFill>
            <a:srgbClr val="C9A227"/>
          </a:solidFill>
          <a:ln/>
        </p:spPr>
        <p:txBody>
          <a:bodyPr wrap="square" rtlCol="0" anchor="ctr"/>
          <a:lstStyle/>
          <a:p>
            <a:pPr marL="0" indent="0">
              <a:buNone/>
            </a:pPr>
            <a:endParaRPr lang="en-US" dirty="0"/>
          </a:p>
        </p:txBody>
      </p:sp>
      <p:sp>
        <p:nvSpPr>
          <p:cNvPr id="15" name="Text 13"/>
          <p:cNvSpPr/>
          <p:nvPr/>
        </p:nvSpPr>
        <p:spPr>
          <a:xfrm>
            <a:off x="393286" y="4591050"/>
            <a:ext cx="2633052" cy="133350"/>
          </a:xfrm>
          <a:prstGeom prst="rect">
            <a:avLst/>
          </a:prstGeom>
          <a:noFill/>
          <a:ln/>
        </p:spPr>
        <p:txBody>
          <a:bodyPr wrap="square" lIns="0" tIns="0" rIns="0" bIns="0" rtlCol="0" anchor="t"/>
          <a:lstStyle/>
          <a:p>
            <a:pPr marL="0" indent="0" algn="ctr">
              <a:lnSpc>
                <a:spcPts val="1050"/>
              </a:lnSpc>
              <a:buNone/>
            </a:pPr>
            <a:r>
              <a:rPr lang="en-US" sz="750" b="1" dirty="0">
                <a:solidFill>
                  <a:srgbClr val="1A1F2E"/>
                </a:solidFill>
                <a:latin typeface="Arial" pitchFamily="34" charset="0"/>
                <a:ea typeface="Arial" pitchFamily="34" charset="-122"/>
                <a:cs typeface="Arial" pitchFamily="34" charset="-120"/>
              </a:rPr>
              <a:t>This is where the magic happens</a:t>
            </a:r>
            <a:endParaRPr lang="en-US" sz="750" dirty="0"/>
          </a:p>
        </p:txBody>
      </p:sp>
      <p:sp>
        <p:nvSpPr>
          <p:cNvPr id="16" name="Text 14"/>
          <p:cNvSpPr/>
          <p:nvPr/>
        </p:nvSpPr>
        <p:spPr>
          <a:xfrm>
            <a:off x="3572024" y="0"/>
            <a:ext cx="5571976" cy="5143500"/>
          </a:xfrm>
          <a:prstGeom prst="rect">
            <a:avLst/>
          </a:prstGeom>
          <a:solidFill>
            <a:srgbClr val="F7F8FA"/>
          </a:solidFill>
          <a:ln/>
        </p:spPr>
        <p:txBody>
          <a:bodyPr wrap="square" rtlCol="0" anchor="ctr"/>
          <a:lstStyle/>
          <a:p>
            <a:pPr marL="0" indent="0">
              <a:buNone/>
            </a:pPr>
            <a:endParaRPr lang="en-US" dirty="0"/>
          </a:p>
        </p:txBody>
      </p:sp>
      <p:sp>
        <p:nvSpPr>
          <p:cNvPr id="17" name="Text 15"/>
          <p:cNvSpPr/>
          <p:nvPr/>
        </p:nvSpPr>
        <p:spPr>
          <a:xfrm>
            <a:off x="3876824" y="642193"/>
            <a:ext cx="5061624" cy="173236"/>
          </a:xfrm>
          <a:prstGeom prst="rect">
            <a:avLst/>
          </a:prstGeom>
          <a:noFill/>
          <a:ln/>
        </p:spPr>
        <p:txBody>
          <a:bodyPr wrap="square" lIns="0" tIns="0" rIns="0" bIns="0" rtlCol="0" anchor="t"/>
          <a:lstStyle/>
          <a:p>
            <a:pPr marL="0" indent="0" algn="l">
              <a:lnSpc>
                <a:spcPts val="1365"/>
              </a:lnSpc>
              <a:spcAft>
                <a:spcPts val="1050"/>
              </a:spcAft>
              <a:buNone/>
            </a:pPr>
            <a:r>
              <a:rPr lang="en-US" sz="975" b="1" dirty="0">
                <a:solidFill>
                  <a:srgbClr val="1A1F2E"/>
                </a:solidFill>
                <a:latin typeface="Arial" pitchFamily="34" charset="0"/>
                <a:ea typeface="Arial" pitchFamily="34" charset="-122"/>
                <a:cs typeface="Arial" pitchFamily="34" charset="-120"/>
              </a:rPr>
              <a:t>THE AGENTIC WORKFLOW</a:t>
            </a:r>
            <a:endParaRPr lang="en-US" sz="975" dirty="0"/>
          </a:p>
        </p:txBody>
      </p:sp>
      <p:sp>
        <p:nvSpPr>
          <p:cNvPr id="18" name="Text 16"/>
          <p:cNvSpPr/>
          <p:nvPr/>
        </p:nvSpPr>
        <p:spPr>
          <a:xfrm>
            <a:off x="3876824" y="1101179"/>
            <a:ext cx="4962376" cy="666750"/>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19" name="Text 17"/>
          <p:cNvSpPr/>
          <p:nvPr/>
        </p:nvSpPr>
        <p:spPr>
          <a:xfrm>
            <a:off x="4019699" y="1244054"/>
            <a:ext cx="381000" cy="381000"/>
          </a:xfrm>
          <a:prstGeom prst="rect">
            <a:avLst/>
          </a:prstGeom>
          <a:solidFill>
            <a:srgbClr val="D97706"/>
          </a:solidFill>
          <a:ln/>
        </p:spPr>
        <p:txBody>
          <a:bodyPr wrap="square" rtlCol="0" anchor="ctr"/>
          <a:lstStyle/>
          <a:p>
            <a:pPr marL="0" indent="0">
              <a:buNone/>
            </a:pPr>
            <a:endParaRPr lang="en-US" dirty="0"/>
          </a:p>
        </p:txBody>
      </p:sp>
      <p:sp>
        <p:nvSpPr>
          <p:cNvPr id="20" name="Text 18"/>
          <p:cNvSpPr/>
          <p:nvPr/>
        </p:nvSpPr>
        <p:spPr>
          <a:xfrm>
            <a:off x="4514999" y="1282154"/>
            <a:ext cx="4264953" cy="146596"/>
          </a:xfrm>
          <a:prstGeom prst="rect">
            <a:avLst/>
          </a:prstGeom>
          <a:noFill/>
          <a:ln/>
        </p:spPr>
        <p:txBody>
          <a:bodyPr wrap="square" lIns="0" tIns="0" rIns="0" bIns="0" rtlCol="0" anchor="t"/>
          <a:lstStyle/>
          <a:p>
            <a:pPr marL="0" indent="0" algn="l">
              <a:lnSpc>
                <a:spcPts val="1155"/>
              </a:lnSpc>
              <a:buNone/>
            </a:pPr>
            <a:r>
              <a:rPr lang="en-US" sz="825" b="1" dirty="0">
                <a:solidFill>
                  <a:srgbClr val="1A1F2E"/>
                </a:solidFill>
                <a:latin typeface="Arial" pitchFamily="34" charset="0"/>
                <a:ea typeface="Arial" pitchFamily="34" charset="-122"/>
                <a:cs typeface="Arial" pitchFamily="34" charset="-120"/>
              </a:rPr>
              <a:t>Point at PRD</a:t>
            </a:r>
            <a:endParaRPr lang="en-US" sz="825" dirty="0"/>
          </a:p>
        </p:txBody>
      </p:sp>
      <p:sp>
        <p:nvSpPr>
          <p:cNvPr id="21" name="Text 19"/>
          <p:cNvSpPr/>
          <p:nvPr/>
        </p:nvSpPr>
        <p:spPr>
          <a:xfrm>
            <a:off x="4514999" y="1466850"/>
            <a:ext cx="4264953" cy="119955"/>
          </a:xfrm>
          <a:prstGeom prst="rect">
            <a:avLst/>
          </a:prstGeom>
          <a:noFill/>
          <a:ln/>
        </p:spPr>
        <p:txBody>
          <a:bodyPr wrap="square" lIns="0" tIns="0" rIns="0" bIns="0" rtlCol="0" anchor="t"/>
          <a:lstStyle/>
          <a:p>
            <a:pPr marL="0" indent="0" algn="l">
              <a:lnSpc>
                <a:spcPts val="945"/>
              </a:lnSpc>
              <a:spcBef>
                <a:spcPts val="300"/>
              </a:spcBef>
              <a:buNone/>
            </a:pPr>
            <a:r>
              <a:rPr lang="en-US" sz="675" dirty="0">
                <a:solidFill>
                  <a:srgbClr val="6B7280"/>
                </a:solidFill>
                <a:latin typeface="Arial" pitchFamily="34" charset="0"/>
                <a:ea typeface="Arial" pitchFamily="34" charset="-122"/>
                <a:cs typeface="Arial" pitchFamily="34" charset="-120"/>
              </a:rPr>
              <a:t>"Read the PRD and implement the user authentication feature according to spec"</a:t>
            </a:r>
            <a:endParaRPr lang="en-US" sz="675" dirty="0"/>
          </a:p>
        </p:txBody>
      </p:sp>
      <p:sp>
        <p:nvSpPr>
          <p:cNvPr id="22" name="Text 20"/>
          <p:cNvSpPr/>
          <p:nvPr/>
        </p:nvSpPr>
        <p:spPr>
          <a:xfrm>
            <a:off x="3876824" y="2034629"/>
            <a:ext cx="4962376" cy="666750"/>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23" name="Text 21"/>
          <p:cNvSpPr/>
          <p:nvPr/>
        </p:nvSpPr>
        <p:spPr>
          <a:xfrm>
            <a:off x="4019699" y="2177504"/>
            <a:ext cx="381000" cy="381000"/>
          </a:xfrm>
          <a:prstGeom prst="rect">
            <a:avLst/>
          </a:prstGeom>
          <a:solidFill>
            <a:srgbClr val="D97706"/>
          </a:solidFill>
          <a:ln/>
        </p:spPr>
        <p:txBody>
          <a:bodyPr wrap="square" rtlCol="0" anchor="ctr"/>
          <a:lstStyle/>
          <a:p>
            <a:pPr marL="0" indent="0">
              <a:buNone/>
            </a:pPr>
            <a:endParaRPr lang="en-US" dirty="0"/>
          </a:p>
        </p:txBody>
      </p:sp>
      <p:sp>
        <p:nvSpPr>
          <p:cNvPr id="24" name="Text 22"/>
          <p:cNvSpPr/>
          <p:nvPr/>
        </p:nvSpPr>
        <p:spPr>
          <a:xfrm>
            <a:off x="4514999" y="2215604"/>
            <a:ext cx="4264953" cy="146596"/>
          </a:xfrm>
          <a:prstGeom prst="rect">
            <a:avLst/>
          </a:prstGeom>
          <a:noFill/>
          <a:ln/>
        </p:spPr>
        <p:txBody>
          <a:bodyPr wrap="square" lIns="0" tIns="0" rIns="0" bIns="0" rtlCol="0" anchor="t"/>
          <a:lstStyle/>
          <a:p>
            <a:pPr marL="0" indent="0" algn="l">
              <a:lnSpc>
                <a:spcPts val="1155"/>
              </a:lnSpc>
              <a:buNone/>
            </a:pPr>
            <a:r>
              <a:rPr lang="en-US" sz="825" b="1" dirty="0">
                <a:solidFill>
                  <a:srgbClr val="1A1F2E"/>
                </a:solidFill>
                <a:latin typeface="Arial" pitchFamily="34" charset="0"/>
                <a:ea typeface="Arial" pitchFamily="34" charset="-122"/>
                <a:cs typeface="Arial" pitchFamily="34" charset="-120"/>
              </a:rPr>
              <a:t>Agent Executes</a:t>
            </a:r>
            <a:endParaRPr lang="en-US" sz="825" dirty="0"/>
          </a:p>
        </p:txBody>
      </p:sp>
      <p:sp>
        <p:nvSpPr>
          <p:cNvPr id="25" name="Text 23"/>
          <p:cNvSpPr/>
          <p:nvPr/>
        </p:nvSpPr>
        <p:spPr>
          <a:xfrm>
            <a:off x="4514999" y="2400300"/>
            <a:ext cx="4264953" cy="119955"/>
          </a:xfrm>
          <a:prstGeom prst="rect">
            <a:avLst/>
          </a:prstGeom>
          <a:noFill/>
          <a:ln/>
        </p:spPr>
        <p:txBody>
          <a:bodyPr wrap="square" lIns="0" tIns="0" rIns="0" bIns="0" rtlCol="0" anchor="t"/>
          <a:lstStyle/>
          <a:p>
            <a:pPr marL="0" indent="0" algn="l">
              <a:lnSpc>
                <a:spcPts val="945"/>
              </a:lnSpc>
              <a:spcBef>
                <a:spcPts val="300"/>
              </a:spcBef>
              <a:buNone/>
            </a:pPr>
            <a:r>
              <a:rPr lang="en-US" sz="675" dirty="0">
                <a:solidFill>
                  <a:srgbClr val="6B7280"/>
                </a:solidFill>
                <a:latin typeface="Arial" pitchFamily="34" charset="0"/>
                <a:ea typeface="Arial" pitchFamily="34" charset="-122"/>
                <a:cs typeface="Arial" pitchFamily="34" charset="-120"/>
              </a:rPr>
              <a:t>Reads spec, references design system, writes code, creates tests, commits work</a:t>
            </a:r>
            <a:endParaRPr lang="en-US" sz="675" dirty="0"/>
          </a:p>
        </p:txBody>
      </p:sp>
      <p:sp>
        <p:nvSpPr>
          <p:cNvPr id="26" name="Text 24"/>
          <p:cNvSpPr/>
          <p:nvPr/>
        </p:nvSpPr>
        <p:spPr>
          <a:xfrm>
            <a:off x="3876824" y="2968079"/>
            <a:ext cx="4962376" cy="666750"/>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27" name="Text 25"/>
          <p:cNvSpPr/>
          <p:nvPr/>
        </p:nvSpPr>
        <p:spPr>
          <a:xfrm>
            <a:off x="4019699" y="3110954"/>
            <a:ext cx="381000" cy="381000"/>
          </a:xfrm>
          <a:prstGeom prst="rect">
            <a:avLst/>
          </a:prstGeom>
          <a:solidFill>
            <a:srgbClr val="D97706"/>
          </a:solidFill>
          <a:ln/>
        </p:spPr>
        <p:txBody>
          <a:bodyPr wrap="square" rtlCol="0" anchor="ctr"/>
          <a:lstStyle/>
          <a:p>
            <a:pPr marL="0" indent="0">
              <a:buNone/>
            </a:pPr>
            <a:endParaRPr lang="en-US" dirty="0"/>
          </a:p>
        </p:txBody>
      </p:sp>
      <p:sp>
        <p:nvSpPr>
          <p:cNvPr id="28" name="Text 26"/>
          <p:cNvSpPr/>
          <p:nvPr/>
        </p:nvSpPr>
        <p:spPr>
          <a:xfrm>
            <a:off x="4514999" y="3149054"/>
            <a:ext cx="4264953" cy="146596"/>
          </a:xfrm>
          <a:prstGeom prst="rect">
            <a:avLst/>
          </a:prstGeom>
          <a:noFill/>
          <a:ln/>
        </p:spPr>
        <p:txBody>
          <a:bodyPr wrap="square" lIns="0" tIns="0" rIns="0" bIns="0" rtlCol="0" anchor="t"/>
          <a:lstStyle/>
          <a:p>
            <a:pPr marL="0" indent="0" algn="l">
              <a:lnSpc>
                <a:spcPts val="1155"/>
              </a:lnSpc>
              <a:buNone/>
            </a:pPr>
            <a:r>
              <a:rPr lang="en-US" sz="825" b="1" dirty="0">
                <a:solidFill>
                  <a:srgbClr val="1A1F2E"/>
                </a:solidFill>
                <a:latin typeface="Arial" pitchFamily="34" charset="0"/>
                <a:ea typeface="Arial" pitchFamily="34" charset="-122"/>
                <a:cs typeface="Arial" pitchFamily="34" charset="-120"/>
              </a:rPr>
              <a:t>You Review</a:t>
            </a:r>
            <a:endParaRPr lang="en-US" sz="825" dirty="0"/>
          </a:p>
        </p:txBody>
      </p:sp>
      <p:sp>
        <p:nvSpPr>
          <p:cNvPr id="29" name="Text 27"/>
          <p:cNvSpPr/>
          <p:nvPr/>
        </p:nvSpPr>
        <p:spPr>
          <a:xfrm>
            <a:off x="4514999" y="3333750"/>
            <a:ext cx="4264953" cy="119955"/>
          </a:xfrm>
          <a:prstGeom prst="rect">
            <a:avLst/>
          </a:prstGeom>
          <a:noFill/>
          <a:ln/>
        </p:spPr>
        <p:txBody>
          <a:bodyPr wrap="square" lIns="0" tIns="0" rIns="0" bIns="0" rtlCol="0" anchor="t"/>
          <a:lstStyle/>
          <a:p>
            <a:pPr marL="0" indent="0" algn="l">
              <a:lnSpc>
                <a:spcPts val="945"/>
              </a:lnSpc>
              <a:spcBef>
                <a:spcPts val="300"/>
              </a:spcBef>
              <a:buNone/>
            </a:pPr>
            <a:r>
              <a:rPr lang="en-US" sz="675" dirty="0">
                <a:solidFill>
                  <a:srgbClr val="6B7280"/>
                </a:solidFill>
                <a:latin typeface="Arial" pitchFamily="34" charset="0"/>
                <a:ea typeface="Arial" pitchFamily="34" charset="-122"/>
                <a:cs typeface="Arial" pitchFamily="34" charset="-120"/>
              </a:rPr>
              <a:t>Check the output, provide feedback, request refinements — all via voice</a:t>
            </a:r>
            <a:endParaRPr lang="en-US" sz="675" dirty="0"/>
          </a:p>
        </p:txBody>
      </p:sp>
      <p:sp>
        <p:nvSpPr>
          <p:cNvPr id="30" name="Text 28"/>
          <p:cNvSpPr/>
          <p:nvPr/>
        </p:nvSpPr>
        <p:spPr>
          <a:xfrm>
            <a:off x="3876824" y="3901529"/>
            <a:ext cx="2433638" cy="599777"/>
          </a:xfrm>
          <a:prstGeom prst="rect">
            <a:avLst/>
          </a:prstGeom>
          <a:solidFill>
            <a:srgbClr val="DCFCE7"/>
          </a:solidFill>
          <a:ln/>
        </p:spPr>
        <p:txBody>
          <a:bodyPr wrap="square" rtlCol="0" anchor="ctr"/>
          <a:lstStyle/>
          <a:p>
            <a:pPr marL="0" indent="0">
              <a:buNone/>
            </a:pPr>
            <a:endParaRPr lang="en-US" dirty="0"/>
          </a:p>
        </p:txBody>
      </p:sp>
      <p:sp>
        <p:nvSpPr>
          <p:cNvPr id="31" name="Shape 29"/>
          <p:cNvSpPr/>
          <p:nvPr/>
        </p:nvSpPr>
        <p:spPr>
          <a:xfrm>
            <a:off x="3891111" y="3901529"/>
            <a:ext cx="0" cy="599777"/>
          </a:xfrm>
          <a:prstGeom prst="line">
            <a:avLst/>
          </a:prstGeom>
          <a:noFill/>
          <a:ln w="28575">
            <a:solidFill>
              <a:srgbClr val="059669"/>
            </a:solidFill>
            <a:prstDash val="solid"/>
          </a:ln>
        </p:spPr>
        <p:txBody>
          <a:bodyPr/>
          <a:lstStyle/>
          <a:p>
            <a:endParaRPr lang="en-US"/>
          </a:p>
        </p:txBody>
      </p:sp>
      <p:sp>
        <p:nvSpPr>
          <p:cNvPr id="32" name="Text 30"/>
          <p:cNvSpPr/>
          <p:nvPr/>
        </p:nvSpPr>
        <p:spPr>
          <a:xfrm>
            <a:off x="4019699" y="4015829"/>
            <a:ext cx="2219992" cy="119955"/>
          </a:xfrm>
          <a:prstGeom prst="rect">
            <a:avLst/>
          </a:prstGeom>
          <a:noFill/>
          <a:ln/>
        </p:spPr>
        <p:txBody>
          <a:bodyPr wrap="square" lIns="0" tIns="0" rIns="0" bIns="0" rtlCol="0" anchor="t"/>
          <a:lstStyle/>
          <a:p>
            <a:pPr marL="0" indent="0" algn="l">
              <a:lnSpc>
                <a:spcPts val="945"/>
              </a:lnSpc>
              <a:spcAft>
                <a:spcPts val="300"/>
              </a:spcAft>
              <a:buNone/>
            </a:pPr>
            <a:r>
              <a:rPr lang="en-US" sz="675" b="1" dirty="0">
                <a:solidFill>
                  <a:srgbClr val="166534"/>
                </a:solidFill>
                <a:latin typeface="Arial" pitchFamily="34" charset="0"/>
                <a:ea typeface="Arial" pitchFamily="34" charset="-122"/>
                <a:cs typeface="Arial" pitchFamily="34" charset="-120"/>
              </a:rPr>
              <a:t>AUTONOMY UNLOCKED</a:t>
            </a:r>
            <a:endParaRPr lang="en-US" sz="675" dirty="0"/>
          </a:p>
        </p:txBody>
      </p:sp>
      <p:sp>
        <p:nvSpPr>
          <p:cNvPr id="33" name="Text 31"/>
          <p:cNvSpPr/>
          <p:nvPr/>
        </p:nvSpPr>
        <p:spPr>
          <a:xfrm>
            <a:off x="4019699" y="4173885"/>
            <a:ext cx="2219992" cy="213122"/>
          </a:xfrm>
          <a:prstGeom prst="rect">
            <a:avLst/>
          </a:prstGeom>
          <a:noFill/>
          <a:ln/>
        </p:spPr>
        <p:txBody>
          <a:bodyPr wrap="square" lIns="0" tIns="0" rIns="0" bIns="0" rtlCol="0" anchor="t"/>
          <a:lstStyle/>
          <a:p>
            <a:pPr marL="0" indent="0" algn="l">
              <a:lnSpc>
                <a:spcPts val="840"/>
              </a:lnSpc>
              <a:buNone/>
            </a:pPr>
            <a:r>
              <a:rPr lang="en-US" sz="600" dirty="0">
                <a:solidFill>
                  <a:srgbClr val="166534"/>
                </a:solidFill>
                <a:latin typeface="Arial" pitchFamily="34" charset="0"/>
                <a:ea typeface="Arial" pitchFamily="34" charset="-122"/>
                <a:cs typeface="Arial" pitchFamily="34" charset="-120"/>
              </a:rPr>
              <a:t>Agent can work for extended periods without constant guidance. Your setup enables this.</a:t>
            </a:r>
            <a:endParaRPr lang="en-US" sz="600" dirty="0"/>
          </a:p>
        </p:txBody>
      </p:sp>
      <p:sp>
        <p:nvSpPr>
          <p:cNvPr id="34" name="Text 32"/>
          <p:cNvSpPr/>
          <p:nvPr/>
        </p:nvSpPr>
        <p:spPr>
          <a:xfrm>
            <a:off x="6405711" y="3901529"/>
            <a:ext cx="2433638" cy="599777"/>
          </a:xfrm>
          <a:prstGeom prst="rect">
            <a:avLst/>
          </a:prstGeom>
          <a:solidFill>
            <a:srgbClr val="DBEAFE"/>
          </a:solidFill>
          <a:ln/>
        </p:spPr>
        <p:txBody>
          <a:bodyPr wrap="square" rtlCol="0" anchor="ctr"/>
          <a:lstStyle/>
          <a:p>
            <a:pPr marL="0" indent="0">
              <a:buNone/>
            </a:pPr>
            <a:endParaRPr lang="en-US" dirty="0"/>
          </a:p>
        </p:txBody>
      </p:sp>
      <p:sp>
        <p:nvSpPr>
          <p:cNvPr id="35" name="Shape 33"/>
          <p:cNvSpPr/>
          <p:nvPr/>
        </p:nvSpPr>
        <p:spPr>
          <a:xfrm>
            <a:off x="6419999" y="3901529"/>
            <a:ext cx="0" cy="599777"/>
          </a:xfrm>
          <a:prstGeom prst="line">
            <a:avLst/>
          </a:prstGeom>
          <a:noFill/>
          <a:ln w="28575">
            <a:solidFill>
              <a:srgbClr val="3B82F6"/>
            </a:solidFill>
            <a:prstDash val="solid"/>
          </a:ln>
        </p:spPr>
        <p:txBody>
          <a:bodyPr/>
          <a:lstStyle/>
          <a:p>
            <a:endParaRPr lang="en-US"/>
          </a:p>
        </p:txBody>
      </p:sp>
      <p:sp>
        <p:nvSpPr>
          <p:cNvPr id="36" name="Text 34"/>
          <p:cNvSpPr/>
          <p:nvPr/>
        </p:nvSpPr>
        <p:spPr>
          <a:xfrm>
            <a:off x="6548586" y="4015829"/>
            <a:ext cx="2219992" cy="119955"/>
          </a:xfrm>
          <a:prstGeom prst="rect">
            <a:avLst/>
          </a:prstGeom>
          <a:noFill/>
          <a:ln/>
        </p:spPr>
        <p:txBody>
          <a:bodyPr wrap="square" lIns="0" tIns="0" rIns="0" bIns="0" rtlCol="0" anchor="t"/>
          <a:lstStyle/>
          <a:p>
            <a:pPr marL="0" indent="0" algn="l">
              <a:lnSpc>
                <a:spcPts val="945"/>
              </a:lnSpc>
              <a:spcAft>
                <a:spcPts val="300"/>
              </a:spcAft>
              <a:buNone/>
            </a:pPr>
            <a:r>
              <a:rPr lang="en-US" sz="675" b="1" dirty="0">
                <a:solidFill>
                  <a:srgbClr val="1E40AF"/>
                </a:solidFill>
                <a:latin typeface="Arial" pitchFamily="34" charset="0"/>
                <a:ea typeface="Arial" pitchFamily="34" charset="-122"/>
                <a:cs typeface="Arial" pitchFamily="34" charset="-120"/>
              </a:rPr>
              <a:t>COMMIT OFTEN</a:t>
            </a:r>
            <a:endParaRPr lang="en-US" sz="675" dirty="0"/>
          </a:p>
        </p:txBody>
      </p:sp>
      <p:sp>
        <p:nvSpPr>
          <p:cNvPr id="37" name="Text 35"/>
          <p:cNvSpPr/>
          <p:nvPr/>
        </p:nvSpPr>
        <p:spPr>
          <a:xfrm>
            <a:off x="6548586" y="4173885"/>
            <a:ext cx="2219992" cy="213122"/>
          </a:xfrm>
          <a:prstGeom prst="rect">
            <a:avLst/>
          </a:prstGeom>
          <a:noFill/>
          <a:ln/>
        </p:spPr>
        <p:txBody>
          <a:bodyPr wrap="square" lIns="0" tIns="0" rIns="0" bIns="0" rtlCol="0" anchor="t"/>
          <a:lstStyle/>
          <a:p>
            <a:pPr marL="0" indent="0" algn="l">
              <a:lnSpc>
                <a:spcPts val="840"/>
              </a:lnSpc>
              <a:buNone/>
            </a:pPr>
            <a:r>
              <a:rPr lang="en-US" sz="600" dirty="0">
                <a:solidFill>
                  <a:srgbClr val="1E40AF"/>
                </a:solidFill>
                <a:latin typeface="Arial" pitchFamily="34" charset="0"/>
                <a:ea typeface="Arial" pitchFamily="34" charset="-122"/>
                <a:cs typeface="Arial" pitchFamily="34" charset="-120"/>
              </a:rPr>
              <a:t>Request commits after each feature. Small, frequent commits make review easier.</a:t>
            </a:r>
            <a:endParaRPr lang="en-US" sz="6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0" y="0"/>
            <a:ext cx="3419624" cy="5143500"/>
          </a:xfrm>
          <a:prstGeom prst="rect">
            <a:avLst/>
          </a:prstGeom>
          <a:solidFill>
            <a:srgbClr val="1A1F2E"/>
          </a:solidFill>
          <a:ln/>
        </p:spPr>
        <p:txBody>
          <a:bodyPr wrap="square" rtlCol="0" anchor="ctr"/>
          <a:lstStyle/>
          <a:p>
            <a:pPr marL="0" indent="0">
              <a:buNone/>
            </a:pPr>
            <a:endParaRPr lang="en-US" dirty="0"/>
          </a:p>
        </p:txBody>
      </p:sp>
      <p:sp>
        <p:nvSpPr>
          <p:cNvPr id="3" name="Text 1"/>
          <p:cNvSpPr/>
          <p:nvPr/>
        </p:nvSpPr>
        <p:spPr>
          <a:xfrm>
            <a:off x="304800" y="304800"/>
            <a:ext cx="981373" cy="234255"/>
          </a:xfrm>
          <a:prstGeom prst="rect">
            <a:avLst/>
          </a:prstGeom>
          <a:solidFill>
            <a:srgbClr val="0891B2"/>
          </a:solidFill>
          <a:ln/>
        </p:spPr>
        <p:txBody>
          <a:bodyPr wrap="square" rtlCol="0" anchor="ctr"/>
          <a:lstStyle/>
          <a:p>
            <a:pPr marL="0" indent="0">
              <a:buNone/>
            </a:pPr>
            <a:endParaRPr lang="en-US" dirty="0"/>
          </a:p>
        </p:txBody>
      </p:sp>
      <p:sp>
        <p:nvSpPr>
          <p:cNvPr id="4" name="Text 2"/>
          <p:cNvSpPr/>
          <p:nvPr/>
        </p:nvSpPr>
        <p:spPr>
          <a:xfrm>
            <a:off x="419100" y="361950"/>
            <a:ext cx="767828" cy="119955"/>
          </a:xfrm>
          <a:prstGeom prst="rect">
            <a:avLst/>
          </a:prstGeom>
          <a:noFill/>
          <a:ln/>
        </p:spPr>
        <p:txBody>
          <a:bodyPr wrap="square" lIns="0" tIns="0" rIns="0" bIns="0" rtlCol="0" anchor="t"/>
          <a:lstStyle/>
          <a:p>
            <a:pPr marL="0" indent="0" algn="l">
              <a:lnSpc>
                <a:spcPts val="945"/>
              </a:lnSpc>
              <a:buNone/>
            </a:pPr>
            <a:r>
              <a:rPr lang="en-US" sz="675" b="1" dirty="0">
                <a:solidFill>
                  <a:srgbClr val="FFFFFF"/>
                </a:solidFill>
                <a:latin typeface="Arial" pitchFamily="34" charset="0"/>
                <a:ea typeface="Arial" pitchFamily="34" charset="-122"/>
                <a:cs typeface="Arial" pitchFamily="34" charset="-120"/>
              </a:rPr>
              <a:t>PHASE 9 OF 10</a:t>
            </a:r>
            <a:endParaRPr lang="en-US" sz="675" dirty="0"/>
          </a:p>
        </p:txBody>
      </p:sp>
      <p:sp>
        <p:nvSpPr>
          <p:cNvPr id="5" name="Text 3"/>
          <p:cNvSpPr/>
          <p:nvPr/>
        </p:nvSpPr>
        <p:spPr>
          <a:xfrm>
            <a:off x="304800" y="805755"/>
            <a:ext cx="1467041" cy="594122"/>
          </a:xfrm>
          <a:prstGeom prst="rect">
            <a:avLst/>
          </a:prstGeom>
          <a:noFill/>
          <a:ln/>
        </p:spPr>
        <p:txBody>
          <a:bodyPr wrap="square" lIns="0" tIns="0" rIns="0" bIns="0" rtlCol="0" anchor="t"/>
          <a:lstStyle/>
          <a:p>
            <a:pPr marL="0" indent="0" algn="l">
              <a:lnSpc>
                <a:spcPts val="2340"/>
              </a:lnSpc>
              <a:spcAft>
                <a:spcPts val="900"/>
              </a:spcAft>
              <a:buNone/>
            </a:pPr>
            <a:r>
              <a:rPr lang="en-US" sz="1950" dirty="0">
                <a:solidFill>
                  <a:srgbClr val="FFFFFF"/>
                </a:solidFill>
                <a:latin typeface="Georgia" pitchFamily="34" charset="0"/>
                <a:ea typeface="Georgia" pitchFamily="34" charset="-122"/>
                <a:cs typeface="Georgia" pitchFamily="34" charset="-120"/>
              </a:rPr>
              <a:t>Iterative</a:t>
            </a:r>
            <a:endParaRPr lang="en-US" sz="1950" dirty="0"/>
          </a:p>
          <a:p>
            <a:pPr marL="0" indent="0" algn="l">
              <a:lnSpc>
                <a:spcPts val="2340"/>
              </a:lnSpc>
              <a:spcAft>
                <a:spcPts val="900"/>
              </a:spcAft>
              <a:buNone/>
            </a:pPr>
            <a:r>
              <a:rPr lang="en-US" sz="1950" dirty="0">
                <a:solidFill>
                  <a:srgbClr val="FFFFFF"/>
                </a:solidFill>
                <a:latin typeface="Georgia" pitchFamily="34" charset="0"/>
                <a:ea typeface="Georgia" pitchFamily="34" charset="-122"/>
                <a:cs typeface="Georgia" pitchFamily="34" charset="-120"/>
              </a:rPr>
              <a:t>Review Cycle</a:t>
            </a:r>
            <a:endParaRPr lang="en-US" sz="1950" dirty="0"/>
          </a:p>
        </p:txBody>
      </p:sp>
      <p:sp>
        <p:nvSpPr>
          <p:cNvPr id="6" name="Text 4"/>
          <p:cNvSpPr/>
          <p:nvPr/>
        </p:nvSpPr>
        <p:spPr>
          <a:xfrm>
            <a:off x="304800" y="1666577"/>
            <a:ext cx="381000" cy="11906"/>
          </a:xfrm>
          <a:prstGeom prst="rect">
            <a:avLst/>
          </a:prstGeom>
          <a:solidFill>
            <a:srgbClr val="C9A227"/>
          </a:solidFill>
          <a:ln/>
        </p:spPr>
        <p:txBody>
          <a:bodyPr wrap="square" rtlCol="0" anchor="ctr"/>
          <a:lstStyle/>
          <a:p>
            <a:pPr marL="0" indent="0">
              <a:buNone/>
            </a:pPr>
            <a:endParaRPr lang="en-US" dirty="0"/>
          </a:p>
        </p:txBody>
      </p:sp>
      <p:sp>
        <p:nvSpPr>
          <p:cNvPr id="7" name="Text 5"/>
          <p:cNvSpPr/>
          <p:nvPr/>
        </p:nvSpPr>
        <p:spPr>
          <a:xfrm>
            <a:off x="304800" y="1983284"/>
            <a:ext cx="2810024" cy="784771"/>
          </a:xfrm>
          <a:prstGeom prst="rect">
            <a:avLst/>
          </a:prstGeom>
          <a:solidFill>
            <a:srgbClr val="0891B2">
              <a:alpha val="15000"/>
            </a:srgbClr>
          </a:solidFill>
          <a:ln/>
        </p:spPr>
        <p:txBody>
          <a:bodyPr wrap="square" rtlCol="0" anchor="ctr"/>
          <a:lstStyle/>
          <a:p>
            <a:pPr marL="0" indent="0">
              <a:buNone/>
            </a:pPr>
            <a:endParaRPr lang="en-US" dirty="0"/>
          </a:p>
        </p:txBody>
      </p:sp>
      <p:sp>
        <p:nvSpPr>
          <p:cNvPr id="8" name="Shape 6"/>
          <p:cNvSpPr/>
          <p:nvPr/>
        </p:nvSpPr>
        <p:spPr>
          <a:xfrm>
            <a:off x="319088" y="1983284"/>
            <a:ext cx="0" cy="784771"/>
          </a:xfrm>
          <a:prstGeom prst="line">
            <a:avLst/>
          </a:prstGeom>
          <a:noFill/>
          <a:ln w="28575">
            <a:solidFill>
              <a:srgbClr val="0891B2"/>
            </a:solidFill>
            <a:prstDash val="solid"/>
          </a:ln>
        </p:spPr>
        <p:txBody>
          <a:bodyPr/>
          <a:lstStyle/>
          <a:p>
            <a:endParaRPr lang="en-US"/>
          </a:p>
        </p:txBody>
      </p:sp>
      <p:sp>
        <p:nvSpPr>
          <p:cNvPr id="9" name="Text 7"/>
          <p:cNvSpPr/>
          <p:nvPr/>
        </p:nvSpPr>
        <p:spPr>
          <a:xfrm>
            <a:off x="466725" y="2116634"/>
            <a:ext cx="2565044" cy="146596"/>
          </a:xfrm>
          <a:prstGeom prst="rect">
            <a:avLst/>
          </a:prstGeom>
          <a:noFill/>
          <a:ln/>
        </p:spPr>
        <p:txBody>
          <a:bodyPr wrap="square" lIns="0" tIns="0" rIns="0" bIns="0" rtlCol="0" anchor="t"/>
          <a:lstStyle/>
          <a:p>
            <a:pPr marL="0" indent="0" algn="l">
              <a:lnSpc>
                <a:spcPts val="1155"/>
              </a:lnSpc>
              <a:spcAft>
                <a:spcPts val="450"/>
              </a:spcAft>
              <a:buNone/>
            </a:pPr>
            <a:r>
              <a:rPr lang="en-US" sz="825" b="1" dirty="0">
                <a:solidFill>
                  <a:srgbClr val="67E8F9"/>
                </a:solidFill>
                <a:latin typeface="Arial" pitchFamily="34" charset="0"/>
                <a:ea typeface="Arial" pitchFamily="34" charset="-122"/>
                <a:cs typeface="Arial" pitchFamily="34" charset="-120"/>
              </a:rPr>
              <a:t>THE OBJECTIVE</a:t>
            </a:r>
            <a:endParaRPr lang="en-US" sz="825" dirty="0"/>
          </a:p>
        </p:txBody>
      </p:sp>
      <p:sp>
        <p:nvSpPr>
          <p:cNvPr id="10" name="Text 8"/>
          <p:cNvSpPr/>
          <p:nvPr/>
        </p:nvSpPr>
        <p:spPr>
          <a:xfrm>
            <a:off x="466725" y="2320379"/>
            <a:ext cx="2565044" cy="314325"/>
          </a:xfrm>
          <a:prstGeom prst="rect">
            <a:avLst/>
          </a:prstGeom>
          <a:noFill/>
          <a:ln/>
        </p:spPr>
        <p:txBody>
          <a:bodyPr wrap="square" lIns="0" tIns="0" rIns="0" bIns="0" rtlCol="0" anchor="t"/>
          <a:lstStyle/>
          <a:p>
            <a:pPr marL="0" indent="0" algn="l">
              <a:lnSpc>
                <a:spcPts val="1238"/>
              </a:lnSpc>
              <a:buNone/>
            </a:pPr>
            <a:r>
              <a:rPr lang="en-US" sz="825" dirty="0">
                <a:solidFill>
                  <a:srgbClr val="FFFFFF">
                    <a:alpha val="80000"/>
                  </a:srgbClr>
                </a:solidFill>
                <a:latin typeface="Arial" pitchFamily="34" charset="0"/>
                <a:ea typeface="Arial" pitchFamily="34" charset="-122"/>
                <a:cs typeface="Arial" pitchFamily="34" charset="-120"/>
              </a:rPr>
              <a:t>Review, refine, repeat. Verbal feedback guides the agent through multiple polish cycles.</a:t>
            </a:r>
            <a:endParaRPr lang="en-US" sz="825" dirty="0"/>
          </a:p>
        </p:txBody>
      </p:sp>
      <p:sp>
        <p:nvSpPr>
          <p:cNvPr id="11" name="Text 9"/>
          <p:cNvSpPr/>
          <p:nvPr/>
        </p:nvSpPr>
        <p:spPr>
          <a:xfrm>
            <a:off x="304800" y="3072854"/>
            <a:ext cx="2810024" cy="1099096"/>
          </a:xfrm>
          <a:prstGeom prst="rect">
            <a:avLst/>
          </a:prstGeom>
          <a:solidFill>
            <a:srgbClr val="FFFFFF">
              <a:alpha val="5000"/>
            </a:srgbClr>
          </a:solidFill>
          <a:ln/>
        </p:spPr>
        <p:txBody>
          <a:bodyPr wrap="square" rtlCol="0" anchor="ctr"/>
          <a:lstStyle/>
          <a:p>
            <a:pPr marL="0" indent="0">
              <a:buNone/>
            </a:pPr>
            <a:endParaRPr lang="en-US" dirty="0"/>
          </a:p>
        </p:txBody>
      </p:sp>
      <p:sp>
        <p:nvSpPr>
          <p:cNvPr id="12" name="Text 10"/>
          <p:cNvSpPr/>
          <p:nvPr/>
        </p:nvSpPr>
        <p:spPr>
          <a:xfrm>
            <a:off x="438150" y="3206204"/>
            <a:ext cx="2594190" cy="146596"/>
          </a:xfrm>
          <a:prstGeom prst="rect">
            <a:avLst/>
          </a:prstGeom>
          <a:noFill/>
          <a:ln/>
        </p:spPr>
        <p:txBody>
          <a:bodyPr wrap="square" lIns="0" tIns="0" rIns="0" bIns="0" rtlCol="0" anchor="t"/>
          <a:lstStyle/>
          <a:p>
            <a:pPr marL="0" indent="0" algn="l">
              <a:lnSpc>
                <a:spcPts val="1155"/>
              </a:lnSpc>
              <a:spcAft>
                <a:spcPts val="600"/>
              </a:spcAft>
              <a:buNone/>
            </a:pPr>
            <a:r>
              <a:rPr lang="en-US" sz="825" b="1" dirty="0">
                <a:solidFill>
                  <a:srgbClr val="FFFFFF"/>
                </a:solidFill>
                <a:latin typeface="Arial" pitchFamily="34" charset="0"/>
                <a:ea typeface="Arial" pitchFamily="34" charset="-122"/>
                <a:cs typeface="Arial" pitchFamily="34" charset="-120"/>
              </a:rPr>
              <a:t>REVIEW PRIORITY</a:t>
            </a:r>
            <a:endParaRPr lang="en-US" sz="825" dirty="0"/>
          </a:p>
        </p:txBody>
      </p:sp>
      <p:sp>
        <p:nvSpPr>
          <p:cNvPr id="13" name="Text 11"/>
          <p:cNvSpPr/>
          <p:nvPr/>
        </p:nvSpPr>
        <p:spPr>
          <a:xfrm>
            <a:off x="438150" y="3429000"/>
            <a:ext cx="2594190" cy="609600"/>
          </a:xfrm>
          <a:prstGeom prst="rect">
            <a:avLst/>
          </a:prstGeom>
          <a:noFill/>
          <a:ln/>
        </p:spPr>
        <p:txBody>
          <a:bodyPr wrap="square" lIns="0" tIns="0" rIns="0" bIns="0" rtlCol="0" anchor="t"/>
          <a:lstStyle/>
          <a:p>
            <a:pPr marL="0" indent="0" algn="l">
              <a:lnSpc>
                <a:spcPts val="1200"/>
              </a:lnSpc>
              <a:buNone/>
            </a:pPr>
            <a:r>
              <a:rPr lang="en-US" sz="750" dirty="0">
                <a:solidFill>
                  <a:srgbClr val="FFFFFF">
                    <a:alpha val="60000"/>
                  </a:srgbClr>
                </a:solidFill>
                <a:latin typeface="Arial" pitchFamily="34" charset="0"/>
                <a:ea typeface="Arial" pitchFamily="34" charset="-122"/>
                <a:cs typeface="Arial" pitchFamily="34" charset="-120"/>
              </a:rPr>
              <a:t>1. Functionality first</a:t>
            </a:r>
            <a:endParaRPr lang="en-US" sz="750" dirty="0"/>
          </a:p>
          <a:p>
            <a:pPr marL="0" indent="0" algn="l">
              <a:lnSpc>
                <a:spcPts val="1200"/>
              </a:lnSpc>
              <a:buNone/>
            </a:pPr>
            <a:r>
              <a:rPr lang="en-US" sz="750" dirty="0">
                <a:solidFill>
                  <a:srgbClr val="FFFFFF">
                    <a:alpha val="60000"/>
                  </a:srgbClr>
                </a:solidFill>
                <a:latin typeface="Arial" pitchFamily="34" charset="0"/>
                <a:ea typeface="Arial" pitchFamily="34" charset="-122"/>
                <a:cs typeface="Arial" pitchFamily="34" charset="-120"/>
              </a:rPr>
              <a:t> 2. User experience</a:t>
            </a:r>
            <a:endParaRPr lang="en-US" sz="750" dirty="0"/>
          </a:p>
          <a:p>
            <a:pPr marL="0" indent="0" algn="l">
              <a:lnSpc>
                <a:spcPts val="1200"/>
              </a:lnSpc>
              <a:buNone/>
            </a:pPr>
            <a:r>
              <a:rPr lang="en-US" sz="750" dirty="0">
                <a:solidFill>
                  <a:srgbClr val="FFFFFF">
                    <a:alpha val="60000"/>
                  </a:srgbClr>
                </a:solidFill>
                <a:latin typeface="Arial" pitchFamily="34" charset="0"/>
                <a:ea typeface="Arial" pitchFamily="34" charset="-122"/>
                <a:cs typeface="Arial" pitchFamily="34" charset="-120"/>
              </a:rPr>
              <a:t> 3. Visual polish</a:t>
            </a:r>
            <a:endParaRPr lang="en-US" sz="750" dirty="0"/>
          </a:p>
          <a:p>
            <a:pPr marL="0" indent="0" algn="l">
              <a:lnSpc>
                <a:spcPts val="1200"/>
              </a:lnSpc>
              <a:buNone/>
            </a:pPr>
            <a:r>
              <a:rPr lang="en-US" sz="750" dirty="0">
                <a:solidFill>
                  <a:srgbClr val="FFFFFF">
                    <a:alpha val="60000"/>
                  </a:srgbClr>
                </a:solidFill>
                <a:latin typeface="Arial" pitchFamily="34" charset="0"/>
                <a:ea typeface="Arial" pitchFamily="34" charset="-122"/>
                <a:cs typeface="Arial" pitchFamily="34" charset="-120"/>
              </a:rPr>
              <a:t> 4. Edge cases</a:t>
            </a:r>
            <a:endParaRPr lang="en-US" sz="750" dirty="0"/>
          </a:p>
        </p:txBody>
      </p:sp>
      <p:sp>
        <p:nvSpPr>
          <p:cNvPr id="14" name="Text 12"/>
          <p:cNvSpPr/>
          <p:nvPr/>
        </p:nvSpPr>
        <p:spPr>
          <a:xfrm>
            <a:off x="304800" y="4476750"/>
            <a:ext cx="2810024" cy="361950"/>
          </a:xfrm>
          <a:prstGeom prst="rect">
            <a:avLst/>
          </a:prstGeom>
          <a:solidFill>
            <a:srgbClr val="C9A227"/>
          </a:solidFill>
          <a:ln/>
        </p:spPr>
        <p:txBody>
          <a:bodyPr wrap="square" rtlCol="0" anchor="ctr"/>
          <a:lstStyle/>
          <a:p>
            <a:pPr marL="0" indent="0">
              <a:buNone/>
            </a:pPr>
            <a:endParaRPr lang="en-US" dirty="0"/>
          </a:p>
        </p:txBody>
      </p:sp>
      <p:sp>
        <p:nvSpPr>
          <p:cNvPr id="15" name="Text 13"/>
          <p:cNvSpPr/>
          <p:nvPr/>
        </p:nvSpPr>
        <p:spPr>
          <a:xfrm>
            <a:off x="393286" y="4591050"/>
            <a:ext cx="2633052" cy="133350"/>
          </a:xfrm>
          <a:prstGeom prst="rect">
            <a:avLst/>
          </a:prstGeom>
          <a:noFill/>
          <a:ln/>
        </p:spPr>
        <p:txBody>
          <a:bodyPr wrap="square" lIns="0" tIns="0" rIns="0" bIns="0" rtlCol="0" anchor="t"/>
          <a:lstStyle/>
          <a:p>
            <a:pPr marL="0" indent="0" algn="ctr">
              <a:lnSpc>
                <a:spcPts val="1050"/>
              </a:lnSpc>
              <a:buNone/>
            </a:pPr>
            <a:r>
              <a:rPr lang="en-US" sz="750" b="1" dirty="0">
                <a:solidFill>
                  <a:srgbClr val="1A1F2E"/>
                </a:solidFill>
                <a:latin typeface="Arial" pitchFamily="34" charset="0"/>
                <a:ea typeface="Arial" pitchFamily="34" charset="-122"/>
                <a:cs typeface="Arial" pitchFamily="34" charset="-120"/>
              </a:rPr>
              <a:t>Multiple iterations are normal</a:t>
            </a:r>
            <a:endParaRPr lang="en-US" sz="750" dirty="0"/>
          </a:p>
        </p:txBody>
      </p:sp>
      <p:sp>
        <p:nvSpPr>
          <p:cNvPr id="16" name="Text 14"/>
          <p:cNvSpPr/>
          <p:nvPr/>
        </p:nvSpPr>
        <p:spPr>
          <a:xfrm>
            <a:off x="3572024" y="0"/>
            <a:ext cx="5571976" cy="5143500"/>
          </a:xfrm>
          <a:prstGeom prst="rect">
            <a:avLst/>
          </a:prstGeom>
          <a:solidFill>
            <a:srgbClr val="F7F8FA"/>
          </a:solidFill>
          <a:ln/>
        </p:spPr>
        <p:txBody>
          <a:bodyPr wrap="square" rtlCol="0" anchor="ctr"/>
          <a:lstStyle/>
          <a:p>
            <a:pPr marL="0" indent="0">
              <a:buNone/>
            </a:pPr>
            <a:endParaRPr lang="en-US" dirty="0"/>
          </a:p>
        </p:txBody>
      </p:sp>
      <p:sp>
        <p:nvSpPr>
          <p:cNvPr id="17" name="Text 15"/>
          <p:cNvSpPr/>
          <p:nvPr/>
        </p:nvSpPr>
        <p:spPr>
          <a:xfrm>
            <a:off x="3876824" y="561380"/>
            <a:ext cx="5061624" cy="173236"/>
          </a:xfrm>
          <a:prstGeom prst="rect">
            <a:avLst/>
          </a:prstGeom>
          <a:noFill/>
          <a:ln/>
        </p:spPr>
        <p:txBody>
          <a:bodyPr wrap="square" lIns="0" tIns="0" rIns="0" bIns="0" rtlCol="0" anchor="t"/>
          <a:lstStyle/>
          <a:p>
            <a:pPr marL="0" indent="0" algn="l">
              <a:lnSpc>
                <a:spcPts val="1365"/>
              </a:lnSpc>
              <a:spcAft>
                <a:spcPts val="1050"/>
              </a:spcAft>
              <a:buNone/>
            </a:pPr>
            <a:r>
              <a:rPr lang="en-US" sz="975" b="1" dirty="0">
                <a:solidFill>
                  <a:srgbClr val="1A1F2E"/>
                </a:solidFill>
                <a:latin typeface="Arial" pitchFamily="34" charset="0"/>
                <a:ea typeface="Arial" pitchFamily="34" charset="-122"/>
                <a:cs typeface="Arial" pitchFamily="34" charset="-120"/>
              </a:rPr>
              <a:t>THE REVIEW LOOP</a:t>
            </a:r>
            <a:endParaRPr lang="en-US" sz="975" dirty="0"/>
          </a:p>
        </p:txBody>
      </p:sp>
      <p:sp>
        <p:nvSpPr>
          <p:cNvPr id="18" name="Text 16"/>
          <p:cNvSpPr/>
          <p:nvPr/>
        </p:nvSpPr>
        <p:spPr>
          <a:xfrm>
            <a:off x="3876824" y="1020366"/>
            <a:ext cx="4962376" cy="940743"/>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19" name="Text 17"/>
          <p:cNvSpPr/>
          <p:nvPr/>
        </p:nvSpPr>
        <p:spPr>
          <a:xfrm>
            <a:off x="4019699" y="1163241"/>
            <a:ext cx="1355675" cy="654993"/>
          </a:xfrm>
          <a:prstGeom prst="rect">
            <a:avLst/>
          </a:prstGeom>
          <a:solidFill>
            <a:srgbClr val="CFFAFE"/>
          </a:solidFill>
          <a:ln/>
        </p:spPr>
        <p:txBody>
          <a:bodyPr wrap="square" rtlCol="0" anchor="ctr"/>
          <a:lstStyle/>
          <a:p>
            <a:pPr marL="0" indent="0">
              <a:buNone/>
            </a:pPr>
            <a:endParaRPr lang="en-US" dirty="0"/>
          </a:p>
        </p:txBody>
      </p:sp>
      <p:sp>
        <p:nvSpPr>
          <p:cNvPr id="20" name="Text 18"/>
          <p:cNvSpPr/>
          <p:nvPr/>
        </p:nvSpPr>
        <p:spPr>
          <a:xfrm>
            <a:off x="4103297" y="1258491"/>
            <a:ext cx="1188479" cy="213271"/>
          </a:xfrm>
          <a:prstGeom prst="rect">
            <a:avLst/>
          </a:prstGeom>
          <a:noFill/>
          <a:ln/>
        </p:spPr>
        <p:txBody>
          <a:bodyPr wrap="square" lIns="0" tIns="0" rIns="0" bIns="0" rtlCol="0" anchor="t"/>
          <a:lstStyle/>
          <a:p>
            <a:pPr marL="0" indent="0" algn="ctr">
              <a:lnSpc>
                <a:spcPts val="1680"/>
              </a:lnSpc>
              <a:buNone/>
            </a:pPr>
            <a:r>
              <a:rPr lang="en-US" sz="1200" b="1" dirty="0">
                <a:solidFill>
                  <a:srgbClr val="0891B2"/>
                </a:solidFill>
                <a:latin typeface="Arial" pitchFamily="34" charset="0"/>
                <a:ea typeface="Arial" pitchFamily="34" charset="-122"/>
                <a:cs typeface="Arial" pitchFamily="34" charset="-120"/>
              </a:rPr>
              <a:t>Test</a:t>
            </a:r>
            <a:endParaRPr lang="en-US" sz="1200" dirty="0"/>
          </a:p>
        </p:txBody>
      </p:sp>
      <p:sp>
        <p:nvSpPr>
          <p:cNvPr id="21" name="Text 19"/>
          <p:cNvSpPr/>
          <p:nvPr/>
        </p:nvSpPr>
        <p:spPr>
          <a:xfrm>
            <a:off x="4103297" y="1509861"/>
            <a:ext cx="1188479" cy="106561"/>
          </a:xfrm>
          <a:prstGeom prst="rect">
            <a:avLst/>
          </a:prstGeom>
          <a:noFill/>
          <a:ln/>
        </p:spPr>
        <p:txBody>
          <a:bodyPr wrap="square" lIns="0" tIns="0" rIns="0" bIns="0" rtlCol="0" anchor="t"/>
          <a:lstStyle/>
          <a:p>
            <a:pPr marL="0" indent="0" algn="ctr">
              <a:lnSpc>
                <a:spcPts val="840"/>
              </a:lnSpc>
              <a:spcBef>
                <a:spcPts val="300"/>
              </a:spcBef>
              <a:buNone/>
            </a:pPr>
            <a:r>
              <a:rPr lang="en-US" sz="600" dirty="0">
                <a:solidFill>
                  <a:srgbClr val="155E75"/>
                </a:solidFill>
                <a:latin typeface="Arial" pitchFamily="34" charset="0"/>
                <a:ea typeface="Arial" pitchFamily="34" charset="-122"/>
                <a:cs typeface="Arial" pitchFamily="34" charset="-120"/>
              </a:rPr>
              <a:t>Run it, click through it, break it</a:t>
            </a:r>
            <a:endParaRPr lang="en-US" sz="600" dirty="0"/>
          </a:p>
        </p:txBody>
      </p:sp>
      <p:sp>
        <p:nvSpPr>
          <p:cNvPr id="22" name="Text 20"/>
          <p:cNvSpPr/>
          <p:nvPr/>
        </p:nvSpPr>
        <p:spPr>
          <a:xfrm>
            <a:off x="5680174" y="1163241"/>
            <a:ext cx="1355675" cy="654993"/>
          </a:xfrm>
          <a:prstGeom prst="rect">
            <a:avLst/>
          </a:prstGeom>
          <a:solidFill>
            <a:srgbClr val="FEF3C7"/>
          </a:solidFill>
          <a:ln/>
        </p:spPr>
        <p:txBody>
          <a:bodyPr wrap="square" rtlCol="0" anchor="ctr"/>
          <a:lstStyle/>
          <a:p>
            <a:pPr marL="0" indent="0">
              <a:buNone/>
            </a:pPr>
            <a:endParaRPr lang="en-US" dirty="0"/>
          </a:p>
        </p:txBody>
      </p:sp>
      <p:sp>
        <p:nvSpPr>
          <p:cNvPr id="23" name="Text 21"/>
          <p:cNvSpPr/>
          <p:nvPr/>
        </p:nvSpPr>
        <p:spPr>
          <a:xfrm>
            <a:off x="5763772" y="1258491"/>
            <a:ext cx="1188479" cy="213271"/>
          </a:xfrm>
          <a:prstGeom prst="rect">
            <a:avLst/>
          </a:prstGeom>
          <a:noFill/>
          <a:ln/>
        </p:spPr>
        <p:txBody>
          <a:bodyPr wrap="square" lIns="0" tIns="0" rIns="0" bIns="0" rtlCol="0" anchor="t"/>
          <a:lstStyle/>
          <a:p>
            <a:pPr marL="0" indent="0" algn="ctr">
              <a:lnSpc>
                <a:spcPts val="1680"/>
              </a:lnSpc>
              <a:buNone/>
            </a:pPr>
            <a:r>
              <a:rPr lang="en-US" sz="1200" b="1" dirty="0">
                <a:solidFill>
                  <a:srgbClr val="F59E0B"/>
                </a:solidFill>
                <a:latin typeface="Arial" pitchFamily="34" charset="0"/>
                <a:ea typeface="Arial" pitchFamily="34" charset="-122"/>
                <a:cs typeface="Arial" pitchFamily="34" charset="-120"/>
              </a:rPr>
              <a:t>Speak</a:t>
            </a:r>
            <a:endParaRPr lang="en-US" sz="1200" dirty="0"/>
          </a:p>
        </p:txBody>
      </p:sp>
      <p:sp>
        <p:nvSpPr>
          <p:cNvPr id="24" name="Text 22"/>
          <p:cNvSpPr/>
          <p:nvPr/>
        </p:nvSpPr>
        <p:spPr>
          <a:xfrm>
            <a:off x="5763772" y="1509861"/>
            <a:ext cx="1188479" cy="213122"/>
          </a:xfrm>
          <a:prstGeom prst="rect">
            <a:avLst/>
          </a:prstGeom>
          <a:noFill/>
          <a:ln/>
        </p:spPr>
        <p:txBody>
          <a:bodyPr wrap="square" lIns="0" tIns="0" rIns="0" bIns="0" rtlCol="0" anchor="t"/>
          <a:lstStyle/>
          <a:p>
            <a:pPr marL="0" indent="0" algn="ctr">
              <a:lnSpc>
                <a:spcPts val="840"/>
              </a:lnSpc>
              <a:spcBef>
                <a:spcPts val="300"/>
              </a:spcBef>
              <a:buNone/>
            </a:pPr>
            <a:r>
              <a:rPr lang="en-US" sz="600" dirty="0">
                <a:solidFill>
                  <a:srgbClr val="92400E"/>
                </a:solidFill>
                <a:latin typeface="Arial" pitchFamily="34" charset="0"/>
                <a:ea typeface="Arial" pitchFamily="34" charset="-122"/>
                <a:cs typeface="Arial" pitchFamily="34" charset="-120"/>
              </a:rPr>
              <a:t>Verbal feedback on what needs fixing</a:t>
            </a:r>
            <a:endParaRPr lang="en-US" sz="600" dirty="0"/>
          </a:p>
        </p:txBody>
      </p:sp>
      <p:sp>
        <p:nvSpPr>
          <p:cNvPr id="25" name="Text 23"/>
          <p:cNvSpPr/>
          <p:nvPr/>
        </p:nvSpPr>
        <p:spPr>
          <a:xfrm>
            <a:off x="7340650" y="1163241"/>
            <a:ext cx="1355675" cy="654993"/>
          </a:xfrm>
          <a:prstGeom prst="rect">
            <a:avLst/>
          </a:prstGeom>
          <a:solidFill>
            <a:srgbClr val="DCFCE7"/>
          </a:solidFill>
          <a:ln/>
        </p:spPr>
        <p:txBody>
          <a:bodyPr wrap="square" rtlCol="0" anchor="ctr"/>
          <a:lstStyle/>
          <a:p>
            <a:pPr marL="0" indent="0">
              <a:buNone/>
            </a:pPr>
            <a:endParaRPr lang="en-US" dirty="0"/>
          </a:p>
        </p:txBody>
      </p:sp>
      <p:sp>
        <p:nvSpPr>
          <p:cNvPr id="26" name="Text 24"/>
          <p:cNvSpPr/>
          <p:nvPr/>
        </p:nvSpPr>
        <p:spPr>
          <a:xfrm>
            <a:off x="7424248" y="1258491"/>
            <a:ext cx="1188479" cy="213271"/>
          </a:xfrm>
          <a:prstGeom prst="rect">
            <a:avLst/>
          </a:prstGeom>
          <a:noFill/>
          <a:ln/>
        </p:spPr>
        <p:txBody>
          <a:bodyPr wrap="square" lIns="0" tIns="0" rIns="0" bIns="0" rtlCol="0" anchor="t"/>
          <a:lstStyle/>
          <a:p>
            <a:pPr marL="0" indent="0" algn="ctr">
              <a:lnSpc>
                <a:spcPts val="1680"/>
              </a:lnSpc>
              <a:buNone/>
            </a:pPr>
            <a:r>
              <a:rPr lang="en-US" sz="1200" b="1" dirty="0">
                <a:solidFill>
                  <a:srgbClr val="059669"/>
                </a:solidFill>
                <a:latin typeface="Arial" pitchFamily="34" charset="0"/>
                <a:ea typeface="Arial" pitchFamily="34" charset="-122"/>
                <a:cs typeface="Arial" pitchFamily="34" charset="-120"/>
              </a:rPr>
              <a:t>Iterate</a:t>
            </a:r>
            <a:endParaRPr lang="en-US" sz="1200" dirty="0"/>
          </a:p>
        </p:txBody>
      </p:sp>
      <p:sp>
        <p:nvSpPr>
          <p:cNvPr id="27" name="Text 25"/>
          <p:cNvSpPr/>
          <p:nvPr/>
        </p:nvSpPr>
        <p:spPr>
          <a:xfrm>
            <a:off x="7424248" y="1509861"/>
            <a:ext cx="1188479" cy="106561"/>
          </a:xfrm>
          <a:prstGeom prst="rect">
            <a:avLst/>
          </a:prstGeom>
          <a:noFill/>
          <a:ln/>
        </p:spPr>
        <p:txBody>
          <a:bodyPr wrap="square" lIns="0" tIns="0" rIns="0" bIns="0" rtlCol="0" anchor="t"/>
          <a:lstStyle/>
          <a:p>
            <a:pPr marL="0" indent="0" algn="ctr">
              <a:lnSpc>
                <a:spcPts val="840"/>
              </a:lnSpc>
              <a:spcBef>
                <a:spcPts val="300"/>
              </a:spcBef>
              <a:buNone/>
            </a:pPr>
            <a:r>
              <a:rPr lang="en-US" sz="600" dirty="0">
                <a:solidFill>
                  <a:srgbClr val="166534"/>
                </a:solidFill>
                <a:latin typeface="Arial" pitchFamily="34" charset="0"/>
                <a:ea typeface="Arial" pitchFamily="34" charset="-122"/>
                <a:cs typeface="Arial" pitchFamily="34" charset="-120"/>
              </a:rPr>
              <a:t>Agent implements, you test again</a:t>
            </a:r>
            <a:endParaRPr lang="en-US" sz="600" dirty="0"/>
          </a:p>
        </p:txBody>
      </p:sp>
      <p:sp>
        <p:nvSpPr>
          <p:cNvPr id="28" name="Text 26"/>
          <p:cNvSpPr/>
          <p:nvPr/>
        </p:nvSpPr>
        <p:spPr>
          <a:xfrm>
            <a:off x="3876824" y="2227808"/>
            <a:ext cx="4962376" cy="700980"/>
          </a:xfrm>
          <a:prstGeom prst="rect">
            <a:avLst/>
          </a:prstGeom>
          <a:solidFill>
            <a:srgbClr val="1A1F2E"/>
          </a:solidFill>
          <a:ln/>
        </p:spPr>
        <p:txBody>
          <a:bodyPr wrap="square" rtlCol="0" anchor="ctr"/>
          <a:lstStyle/>
          <a:p>
            <a:pPr marL="0" indent="0">
              <a:buNone/>
            </a:pPr>
            <a:endParaRPr lang="en-US" dirty="0"/>
          </a:p>
        </p:txBody>
      </p:sp>
      <p:sp>
        <p:nvSpPr>
          <p:cNvPr id="29" name="Text 27"/>
          <p:cNvSpPr/>
          <p:nvPr/>
        </p:nvSpPr>
        <p:spPr>
          <a:xfrm>
            <a:off x="4010174" y="2361158"/>
            <a:ext cx="4789590" cy="119955"/>
          </a:xfrm>
          <a:prstGeom prst="rect">
            <a:avLst/>
          </a:prstGeom>
          <a:noFill/>
          <a:ln/>
        </p:spPr>
        <p:txBody>
          <a:bodyPr wrap="square" lIns="0" tIns="0" rIns="0" bIns="0" rtlCol="0" anchor="t"/>
          <a:lstStyle/>
          <a:p>
            <a:pPr marL="0" indent="0" algn="l">
              <a:lnSpc>
                <a:spcPts val="945"/>
              </a:lnSpc>
              <a:spcAft>
                <a:spcPts val="450"/>
              </a:spcAft>
              <a:buNone/>
            </a:pPr>
            <a:r>
              <a:rPr lang="en-US" sz="675" dirty="0">
                <a:solidFill>
                  <a:srgbClr val="C9A227"/>
                </a:solidFill>
                <a:latin typeface="Arial" pitchFamily="34" charset="0"/>
                <a:ea typeface="Arial" pitchFamily="34" charset="-122"/>
                <a:cs typeface="Arial" pitchFamily="34" charset="-120"/>
              </a:rPr>
              <a:t>EXAMPLE VOICE FEEDBACK</a:t>
            </a:r>
            <a:endParaRPr lang="en-US" sz="675" dirty="0"/>
          </a:p>
        </p:txBody>
      </p:sp>
      <p:sp>
        <p:nvSpPr>
          <p:cNvPr id="30" name="Text 28"/>
          <p:cNvSpPr/>
          <p:nvPr/>
        </p:nvSpPr>
        <p:spPr>
          <a:xfrm>
            <a:off x="4010174" y="2538264"/>
            <a:ext cx="4789590" cy="257175"/>
          </a:xfrm>
          <a:prstGeom prst="rect">
            <a:avLst/>
          </a:prstGeom>
          <a:noFill/>
          <a:ln/>
        </p:spPr>
        <p:txBody>
          <a:bodyPr wrap="square" lIns="0" tIns="0" rIns="0" bIns="0" rtlCol="0" anchor="t"/>
          <a:lstStyle/>
          <a:p>
            <a:pPr marL="0" indent="0" algn="l">
              <a:lnSpc>
                <a:spcPts val="1013"/>
              </a:lnSpc>
              <a:buNone/>
            </a:pPr>
            <a:r>
              <a:rPr lang="en-US" sz="675" dirty="0">
                <a:solidFill>
                  <a:srgbClr val="FFFFFF">
                    <a:alpha val="80000"/>
                  </a:srgbClr>
                </a:solidFill>
                <a:latin typeface="Arial" pitchFamily="34" charset="0"/>
                <a:ea typeface="Arial" pitchFamily="34" charset="-122"/>
                <a:cs typeface="Arial" pitchFamily="34" charset="-120"/>
              </a:rPr>
              <a:t>"The login form works but the error messages are too harsh. Soften the language to match our narrative guidelines. Also, the submit button needs more padding — it feels cramped."</a:t>
            </a:r>
            <a:endParaRPr lang="en-US" sz="675" dirty="0"/>
          </a:p>
        </p:txBody>
      </p:sp>
      <p:sp>
        <p:nvSpPr>
          <p:cNvPr id="31" name="Text 29"/>
          <p:cNvSpPr/>
          <p:nvPr/>
        </p:nvSpPr>
        <p:spPr>
          <a:xfrm>
            <a:off x="3876824" y="3195489"/>
            <a:ext cx="2433638" cy="599777"/>
          </a:xfrm>
          <a:prstGeom prst="rect">
            <a:avLst/>
          </a:prstGeom>
          <a:solidFill>
            <a:srgbClr val="DBEAFE"/>
          </a:solidFill>
          <a:ln/>
        </p:spPr>
        <p:txBody>
          <a:bodyPr wrap="square" rtlCol="0" anchor="ctr"/>
          <a:lstStyle/>
          <a:p>
            <a:pPr marL="0" indent="0">
              <a:buNone/>
            </a:pPr>
            <a:endParaRPr lang="en-US" dirty="0"/>
          </a:p>
        </p:txBody>
      </p:sp>
      <p:sp>
        <p:nvSpPr>
          <p:cNvPr id="32" name="Shape 30"/>
          <p:cNvSpPr/>
          <p:nvPr/>
        </p:nvSpPr>
        <p:spPr>
          <a:xfrm>
            <a:off x="3891111" y="3195489"/>
            <a:ext cx="0" cy="599777"/>
          </a:xfrm>
          <a:prstGeom prst="line">
            <a:avLst/>
          </a:prstGeom>
          <a:noFill/>
          <a:ln w="28575">
            <a:solidFill>
              <a:srgbClr val="3B82F6"/>
            </a:solidFill>
            <a:prstDash val="solid"/>
          </a:ln>
        </p:spPr>
        <p:txBody>
          <a:bodyPr/>
          <a:lstStyle/>
          <a:p>
            <a:endParaRPr lang="en-US"/>
          </a:p>
        </p:txBody>
      </p:sp>
      <p:sp>
        <p:nvSpPr>
          <p:cNvPr id="33" name="Text 31"/>
          <p:cNvSpPr/>
          <p:nvPr/>
        </p:nvSpPr>
        <p:spPr>
          <a:xfrm>
            <a:off x="4019699" y="3309789"/>
            <a:ext cx="2219992" cy="119955"/>
          </a:xfrm>
          <a:prstGeom prst="rect">
            <a:avLst/>
          </a:prstGeom>
          <a:noFill/>
          <a:ln/>
        </p:spPr>
        <p:txBody>
          <a:bodyPr wrap="square" lIns="0" tIns="0" rIns="0" bIns="0" rtlCol="0" anchor="t"/>
          <a:lstStyle/>
          <a:p>
            <a:pPr marL="0" indent="0" algn="l">
              <a:lnSpc>
                <a:spcPts val="945"/>
              </a:lnSpc>
              <a:spcAft>
                <a:spcPts val="300"/>
              </a:spcAft>
              <a:buNone/>
            </a:pPr>
            <a:r>
              <a:rPr lang="en-US" sz="675" b="1" dirty="0">
                <a:solidFill>
                  <a:srgbClr val="1E40AF"/>
                </a:solidFill>
                <a:latin typeface="Arial" pitchFamily="34" charset="0"/>
                <a:ea typeface="Arial" pitchFamily="34" charset="-122"/>
                <a:cs typeface="Arial" pitchFamily="34" charset="-120"/>
              </a:rPr>
              <a:t>BE SPECIFIC</a:t>
            </a:r>
            <a:endParaRPr lang="en-US" sz="675" dirty="0"/>
          </a:p>
        </p:txBody>
      </p:sp>
      <p:sp>
        <p:nvSpPr>
          <p:cNvPr id="34" name="Text 32"/>
          <p:cNvSpPr/>
          <p:nvPr/>
        </p:nvSpPr>
        <p:spPr>
          <a:xfrm>
            <a:off x="4019699" y="3467844"/>
            <a:ext cx="2219992" cy="213122"/>
          </a:xfrm>
          <a:prstGeom prst="rect">
            <a:avLst/>
          </a:prstGeom>
          <a:noFill/>
          <a:ln/>
        </p:spPr>
        <p:txBody>
          <a:bodyPr wrap="square" lIns="0" tIns="0" rIns="0" bIns="0" rtlCol="0" anchor="t"/>
          <a:lstStyle/>
          <a:p>
            <a:pPr marL="0" indent="0" algn="l">
              <a:lnSpc>
                <a:spcPts val="840"/>
              </a:lnSpc>
              <a:buNone/>
            </a:pPr>
            <a:r>
              <a:rPr lang="en-US" sz="600" dirty="0">
                <a:solidFill>
                  <a:srgbClr val="1E40AF"/>
                </a:solidFill>
                <a:latin typeface="Arial" pitchFamily="34" charset="0"/>
                <a:ea typeface="Arial" pitchFamily="34" charset="-122"/>
                <a:cs typeface="Arial" pitchFamily="34" charset="-120"/>
              </a:rPr>
              <a:t>"The button is too small" → "Add 8px padding to the submit button"</a:t>
            </a:r>
            <a:endParaRPr lang="en-US" sz="600" dirty="0"/>
          </a:p>
        </p:txBody>
      </p:sp>
      <p:sp>
        <p:nvSpPr>
          <p:cNvPr id="35" name="Text 33"/>
          <p:cNvSpPr/>
          <p:nvPr/>
        </p:nvSpPr>
        <p:spPr>
          <a:xfrm>
            <a:off x="6405711" y="3248769"/>
            <a:ext cx="2433638" cy="493216"/>
          </a:xfrm>
          <a:prstGeom prst="rect">
            <a:avLst/>
          </a:prstGeom>
          <a:solidFill>
            <a:srgbClr val="FEF3C7"/>
          </a:solidFill>
          <a:ln/>
        </p:spPr>
        <p:txBody>
          <a:bodyPr wrap="square" rtlCol="0" anchor="ctr"/>
          <a:lstStyle/>
          <a:p>
            <a:pPr marL="0" indent="0">
              <a:buNone/>
            </a:pPr>
            <a:endParaRPr lang="en-US" dirty="0"/>
          </a:p>
        </p:txBody>
      </p:sp>
      <p:sp>
        <p:nvSpPr>
          <p:cNvPr id="36" name="Shape 34"/>
          <p:cNvSpPr/>
          <p:nvPr/>
        </p:nvSpPr>
        <p:spPr>
          <a:xfrm>
            <a:off x="6419999" y="3248769"/>
            <a:ext cx="0" cy="493216"/>
          </a:xfrm>
          <a:prstGeom prst="line">
            <a:avLst/>
          </a:prstGeom>
          <a:noFill/>
          <a:ln w="28575">
            <a:solidFill>
              <a:srgbClr val="F59E0B"/>
            </a:solidFill>
            <a:prstDash val="solid"/>
          </a:ln>
        </p:spPr>
        <p:txBody>
          <a:bodyPr/>
          <a:lstStyle/>
          <a:p>
            <a:endParaRPr lang="en-US"/>
          </a:p>
        </p:txBody>
      </p:sp>
      <p:sp>
        <p:nvSpPr>
          <p:cNvPr id="37" name="Text 35"/>
          <p:cNvSpPr/>
          <p:nvPr/>
        </p:nvSpPr>
        <p:spPr>
          <a:xfrm>
            <a:off x="6548586" y="3363069"/>
            <a:ext cx="2219992" cy="119955"/>
          </a:xfrm>
          <a:prstGeom prst="rect">
            <a:avLst/>
          </a:prstGeom>
          <a:noFill/>
          <a:ln/>
        </p:spPr>
        <p:txBody>
          <a:bodyPr wrap="square" lIns="0" tIns="0" rIns="0" bIns="0" rtlCol="0" anchor="t"/>
          <a:lstStyle/>
          <a:p>
            <a:pPr marL="0" indent="0" algn="l">
              <a:lnSpc>
                <a:spcPts val="945"/>
              </a:lnSpc>
              <a:spcAft>
                <a:spcPts val="300"/>
              </a:spcAft>
              <a:buNone/>
            </a:pPr>
            <a:r>
              <a:rPr lang="en-US" sz="675" b="1" dirty="0">
                <a:solidFill>
                  <a:srgbClr val="92400E"/>
                </a:solidFill>
                <a:latin typeface="Arial" pitchFamily="34" charset="0"/>
                <a:ea typeface="Arial" pitchFamily="34" charset="-122"/>
                <a:cs typeface="Arial" pitchFamily="34" charset="-120"/>
              </a:rPr>
              <a:t>REFERENCE DOCS</a:t>
            </a:r>
            <a:endParaRPr lang="en-US" sz="675" dirty="0"/>
          </a:p>
        </p:txBody>
      </p:sp>
      <p:sp>
        <p:nvSpPr>
          <p:cNvPr id="38" name="Text 36"/>
          <p:cNvSpPr/>
          <p:nvPr/>
        </p:nvSpPr>
        <p:spPr>
          <a:xfrm>
            <a:off x="6548586" y="3521125"/>
            <a:ext cx="2219992" cy="106561"/>
          </a:xfrm>
          <a:prstGeom prst="rect">
            <a:avLst/>
          </a:prstGeom>
          <a:noFill/>
          <a:ln/>
        </p:spPr>
        <p:txBody>
          <a:bodyPr wrap="square" lIns="0" tIns="0" rIns="0" bIns="0" rtlCol="0" anchor="t"/>
          <a:lstStyle/>
          <a:p>
            <a:pPr marL="0" indent="0" algn="l">
              <a:lnSpc>
                <a:spcPts val="840"/>
              </a:lnSpc>
              <a:buNone/>
            </a:pPr>
            <a:r>
              <a:rPr lang="en-US" sz="600" dirty="0">
                <a:solidFill>
                  <a:srgbClr val="92400E"/>
                </a:solidFill>
                <a:latin typeface="Arial" pitchFamily="34" charset="0"/>
                <a:ea typeface="Arial" pitchFamily="34" charset="-122"/>
                <a:cs typeface="Arial" pitchFamily="34" charset="-120"/>
              </a:rPr>
              <a:t>"Match the design system" → Agent checks design-system.md</a:t>
            </a:r>
            <a:endParaRPr lang="en-US" sz="600" dirty="0"/>
          </a:p>
        </p:txBody>
      </p:sp>
      <p:sp>
        <p:nvSpPr>
          <p:cNvPr id="39" name="Text 37"/>
          <p:cNvSpPr/>
          <p:nvPr/>
        </p:nvSpPr>
        <p:spPr>
          <a:xfrm>
            <a:off x="3876824" y="4061966"/>
            <a:ext cx="4962376" cy="520005"/>
          </a:xfrm>
          <a:prstGeom prst="rect">
            <a:avLst/>
          </a:prstGeom>
          <a:solidFill>
            <a:srgbClr val="FEE2E2"/>
          </a:solidFill>
          <a:ln/>
        </p:spPr>
        <p:txBody>
          <a:bodyPr wrap="square" rtlCol="0" anchor="ctr"/>
          <a:lstStyle/>
          <a:p>
            <a:pPr marL="0" indent="0">
              <a:buNone/>
            </a:pPr>
            <a:endParaRPr lang="en-US" dirty="0"/>
          </a:p>
        </p:txBody>
      </p:sp>
      <p:sp>
        <p:nvSpPr>
          <p:cNvPr id="40" name="Shape 38"/>
          <p:cNvSpPr/>
          <p:nvPr/>
        </p:nvSpPr>
        <p:spPr>
          <a:xfrm>
            <a:off x="3891111" y="4061966"/>
            <a:ext cx="0" cy="520005"/>
          </a:xfrm>
          <a:prstGeom prst="line">
            <a:avLst/>
          </a:prstGeom>
          <a:noFill/>
          <a:ln w="28575">
            <a:solidFill>
              <a:srgbClr val="DC2626"/>
            </a:solidFill>
            <a:prstDash val="solid"/>
          </a:ln>
        </p:spPr>
        <p:txBody>
          <a:bodyPr/>
          <a:lstStyle/>
          <a:p>
            <a:endParaRPr lang="en-US"/>
          </a:p>
        </p:txBody>
      </p:sp>
      <p:sp>
        <p:nvSpPr>
          <p:cNvPr id="41" name="Text 39"/>
          <p:cNvSpPr/>
          <p:nvPr/>
        </p:nvSpPr>
        <p:spPr>
          <a:xfrm>
            <a:off x="4019699" y="4176266"/>
            <a:ext cx="4799305"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991B1B"/>
                </a:solidFill>
                <a:latin typeface="Arial" pitchFamily="34" charset="0"/>
                <a:ea typeface="Arial" pitchFamily="34" charset="-122"/>
                <a:cs typeface="Arial" pitchFamily="34" charset="-120"/>
              </a:rPr>
              <a:t>KNOW WHEN TO STOP</a:t>
            </a:r>
            <a:endParaRPr lang="en-US" sz="750" dirty="0"/>
          </a:p>
        </p:txBody>
      </p:sp>
      <p:sp>
        <p:nvSpPr>
          <p:cNvPr id="42" name="Text 40"/>
          <p:cNvSpPr/>
          <p:nvPr/>
        </p:nvSpPr>
        <p:spPr>
          <a:xfrm>
            <a:off x="4019699" y="4347716"/>
            <a:ext cx="4799305" cy="119955"/>
          </a:xfrm>
          <a:prstGeom prst="rect">
            <a:avLst/>
          </a:prstGeom>
          <a:noFill/>
          <a:ln/>
        </p:spPr>
        <p:txBody>
          <a:bodyPr wrap="square" lIns="0" tIns="0" rIns="0" bIns="0" rtlCol="0" anchor="t"/>
          <a:lstStyle/>
          <a:p>
            <a:pPr marL="0" indent="0" algn="l">
              <a:lnSpc>
                <a:spcPts val="945"/>
              </a:lnSpc>
              <a:buNone/>
            </a:pPr>
            <a:r>
              <a:rPr lang="en-US" sz="675" dirty="0">
                <a:solidFill>
                  <a:srgbClr val="991B1B"/>
                </a:solidFill>
                <a:latin typeface="Arial" pitchFamily="34" charset="0"/>
                <a:ea typeface="Arial" pitchFamily="34" charset="-122"/>
                <a:cs typeface="Arial" pitchFamily="34" charset="-120"/>
              </a:rPr>
              <a:t>Diminishing returns are real. Ship when it's good enough. Perfect is the enemy of deployed.</a:t>
            </a:r>
            <a:endParaRPr lang="en-US" sz="675"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0" y="0"/>
            <a:ext cx="3419624" cy="5143500"/>
          </a:xfrm>
          <a:prstGeom prst="rect">
            <a:avLst/>
          </a:prstGeom>
          <a:solidFill>
            <a:srgbClr val="1A1F2E"/>
          </a:solidFill>
          <a:ln/>
        </p:spPr>
        <p:txBody>
          <a:bodyPr wrap="square" rtlCol="0" anchor="ctr"/>
          <a:lstStyle/>
          <a:p>
            <a:pPr marL="0" indent="0">
              <a:buNone/>
            </a:pPr>
            <a:endParaRPr lang="en-US" dirty="0"/>
          </a:p>
        </p:txBody>
      </p:sp>
      <p:sp>
        <p:nvSpPr>
          <p:cNvPr id="3" name="Text 1"/>
          <p:cNvSpPr/>
          <p:nvPr/>
        </p:nvSpPr>
        <p:spPr>
          <a:xfrm>
            <a:off x="304800" y="304800"/>
            <a:ext cx="1038523" cy="234255"/>
          </a:xfrm>
          <a:prstGeom prst="rect">
            <a:avLst/>
          </a:prstGeom>
          <a:solidFill>
            <a:srgbClr val="059669"/>
          </a:solidFill>
          <a:ln/>
        </p:spPr>
        <p:txBody>
          <a:bodyPr wrap="square" rtlCol="0" anchor="ctr"/>
          <a:lstStyle/>
          <a:p>
            <a:pPr marL="0" indent="0">
              <a:buNone/>
            </a:pPr>
            <a:endParaRPr lang="en-US" dirty="0"/>
          </a:p>
        </p:txBody>
      </p:sp>
      <p:sp>
        <p:nvSpPr>
          <p:cNvPr id="4" name="Text 2"/>
          <p:cNvSpPr/>
          <p:nvPr/>
        </p:nvSpPr>
        <p:spPr>
          <a:xfrm>
            <a:off x="419100" y="361950"/>
            <a:ext cx="826121" cy="119955"/>
          </a:xfrm>
          <a:prstGeom prst="rect">
            <a:avLst/>
          </a:prstGeom>
          <a:noFill/>
          <a:ln/>
        </p:spPr>
        <p:txBody>
          <a:bodyPr wrap="square" lIns="0" tIns="0" rIns="0" bIns="0" rtlCol="0" anchor="t"/>
          <a:lstStyle/>
          <a:p>
            <a:pPr marL="0" indent="0" algn="l">
              <a:lnSpc>
                <a:spcPts val="945"/>
              </a:lnSpc>
              <a:buNone/>
            </a:pPr>
            <a:r>
              <a:rPr lang="en-US" sz="675" b="1" dirty="0">
                <a:solidFill>
                  <a:srgbClr val="FFFFFF"/>
                </a:solidFill>
                <a:latin typeface="Arial" pitchFamily="34" charset="0"/>
                <a:ea typeface="Arial" pitchFamily="34" charset="-122"/>
                <a:cs typeface="Arial" pitchFamily="34" charset="-120"/>
              </a:rPr>
              <a:t>PHASE 10 OF 10</a:t>
            </a:r>
            <a:endParaRPr lang="en-US" sz="675" dirty="0"/>
          </a:p>
        </p:txBody>
      </p:sp>
      <p:sp>
        <p:nvSpPr>
          <p:cNvPr id="5" name="Text 3"/>
          <p:cNvSpPr/>
          <p:nvPr/>
        </p:nvSpPr>
        <p:spPr>
          <a:xfrm>
            <a:off x="304800" y="805755"/>
            <a:ext cx="1486472" cy="319980"/>
          </a:xfrm>
          <a:prstGeom prst="rect">
            <a:avLst/>
          </a:prstGeom>
          <a:noFill/>
          <a:ln/>
        </p:spPr>
        <p:txBody>
          <a:bodyPr wrap="square" lIns="0" tIns="0" rIns="0" bIns="0" rtlCol="0" anchor="t"/>
          <a:lstStyle/>
          <a:p>
            <a:pPr marL="0" indent="0" algn="l">
              <a:lnSpc>
                <a:spcPts val="2520"/>
              </a:lnSpc>
              <a:spcAft>
                <a:spcPts val="900"/>
              </a:spcAft>
              <a:buNone/>
            </a:pPr>
            <a:r>
              <a:rPr lang="en-US" sz="2100" dirty="0">
                <a:solidFill>
                  <a:srgbClr val="FFFFFF"/>
                </a:solidFill>
                <a:latin typeface="Georgia" pitchFamily="34" charset="0"/>
                <a:ea typeface="Georgia" pitchFamily="34" charset="-122"/>
                <a:cs typeface="Georgia" pitchFamily="34" charset="-120"/>
              </a:rPr>
              <a:t>Deployment</a:t>
            </a:r>
            <a:endParaRPr lang="en-US" sz="2100" dirty="0"/>
          </a:p>
        </p:txBody>
      </p:sp>
      <p:sp>
        <p:nvSpPr>
          <p:cNvPr id="6" name="Text 4"/>
          <p:cNvSpPr/>
          <p:nvPr/>
        </p:nvSpPr>
        <p:spPr>
          <a:xfrm>
            <a:off x="304800" y="1392436"/>
            <a:ext cx="381000" cy="19050"/>
          </a:xfrm>
          <a:prstGeom prst="rect">
            <a:avLst/>
          </a:prstGeom>
          <a:solidFill>
            <a:srgbClr val="C9A227"/>
          </a:solidFill>
          <a:ln/>
        </p:spPr>
        <p:txBody>
          <a:bodyPr wrap="square" rtlCol="0" anchor="ctr"/>
          <a:lstStyle/>
          <a:p>
            <a:pPr marL="0" indent="0">
              <a:buNone/>
            </a:pPr>
            <a:endParaRPr lang="en-US" dirty="0"/>
          </a:p>
        </p:txBody>
      </p:sp>
      <p:sp>
        <p:nvSpPr>
          <p:cNvPr id="7" name="Text 5"/>
          <p:cNvSpPr/>
          <p:nvPr/>
        </p:nvSpPr>
        <p:spPr>
          <a:xfrm>
            <a:off x="304800" y="1716286"/>
            <a:ext cx="2810024" cy="784771"/>
          </a:xfrm>
          <a:prstGeom prst="rect">
            <a:avLst/>
          </a:prstGeom>
          <a:solidFill>
            <a:srgbClr val="059669">
              <a:alpha val="15000"/>
            </a:srgbClr>
          </a:solidFill>
          <a:ln/>
        </p:spPr>
        <p:txBody>
          <a:bodyPr wrap="square" rtlCol="0" anchor="ctr"/>
          <a:lstStyle/>
          <a:p>
            <a:pPr marL="0" indent="0">
              <a:buNone/>
            </a:pPr>
            <a:endParaRPr lang="en-US" dirty="0"/>
          </a:p>
        </p:txBody>
      </p:sp>
      <p:sp>
        <p:nvSpPr>
          <p:cNvPr id="8" name="Shape 6"/>
          <p:cNvSpPr/>
          <p:nvPr/>
        </p:nvSpPr>
        <p:spPr>
          <a:xfrm>
            <a:off x="319088" y="1716286"/>
            <a:ext cx="0" cy="784771"/>
          </a:xfrm>
          <a:prstGeom prst="line">
            <a:avLst/>
          </a:prstGeom>
          <a:noFill/>
          <a:ln w="28575">
            <a:solidFill>
              <a:srgbClr val="059669"/>
            </a:solidFill>
            <a:prstDash val="solid"/>
          </a:ln>
        </p:spPr>
        <p:txBody>
          <a:bodyPr/>
          <a:lstStyle/>
          <a:p>
            <a:endParaRPr lang="en-US"/>
          </a:p>
        </p:txBody>
      </p:sp>
      <p:sp>
        <p:nvSpPr>
          <p:cNvPr id="9" name="Text 7"/>
          <p:cNvSpPr/>
          <p:nvPr/>
        </p:nvSpPr>
        <p:spPr>
          <a:xfrm>
            <a:off x="466725" y="1849636"/>
            <a:ext cx="2565044" cy="146596"/>
          </a:xfrm>
          <a:prstGeom prst="rect">
            <a:avLst/>
          </a:prstGeom>
          <a:noFill/>
          <a:ln/>
        </p:spPr>
        <p:txBody>
          <a:bodyPr wrap="square" lIns="0" tIns="0" rIns="0" bIns="0" rtlCol="0" anchor="t"/>
          <a:lstStyle/>
          <a:p>
            <a:pPr marL="0" indent="0" algn="l">
              <a:lnSpc>
                <a:spcPts val="1155"/>
              </a:lnSpc>
              <a:spcAft>
                <a:spcPts val="450"/>
              </a:spcAft>
              <a:buNone/>
            </a:pPr>
            <a:r>
              <a:rPr lang="en-US" sz="825" b="1" dirty="0">
                <a:solidFill>
                  <a:srgbClr val="6EE7B7"/>
                </a:solidFill>
                <a:latin typeface="Arial" pitchFamily="34" charset="0"/>
                <a:ea typeface="Arial" pitchFamily="34" charset="-122"/>
                <a:cs typeface="Arial" pitchFamily="34" charset="-120"/>
              </a:rPr>
              <a:t>THE OBJECTIVE</a:t>
            </a:r>
            <a:endParaRPr lang="en-US" sz="825" dirty="0"/>
          </a:p>
        </p:txBody>
      </p:sp>
      <p:sp>
        <p:nvSpPr>
          <p:cNvPr id="10" name="Text 8"/>
          <p:cNvSpPr/>
          <p:nvPr/>
        </p:nvSpPr>
        <p:spPr>
          <a:xfrm>
            <a:off x="466725" y="2053382"/>
            <a:ext cx="2565044" cy="314325"/>
          </a:xfrm>
          <a:prstGeom prst="rect">
            <a:avLst/>
          </a:prstGeom>
          <a:noFill/>
          <a:ln/>
        </p:spPr>
        <p:txBody>
          <a:bodyPr wrap="square" lIns="0" tIns="0" rIns="0" bIns="0" rtlCol="0" anchor="t"/>
          <a:lstStyle/>
          <a:p>
            <a:pPr marL="0" indent="0" algn="l">
              <a:lnSpc>
                <a:spcPts val="1238"/>
              </a:lnSpc>
              <a:buNone/>
            </a:pPr>
            <a:r>
              <a:rPr lang="en-US" sz="825" dirty="0">
                <a:solidFill>
                  <a:srgbClr val="FFFFFF">
                    <a:alpha val="80000"/>
                  </a:srgbClr>
                </a:solidFill>
                <a:latin typeface="Arial" pitchFamily="34" charset="0"/>
                <a:ea typeface="Arial" pitchFamily="34" charset="-122"/>
                <a:cs typeface="Arial" pitchFamily="34" charset="-120"/>
              </a:rPr>
              <a:t>Push from local to cloud. Voice-driven deployment through CLI-accessible platforms.</a:t>
            </a:r>
            <a:endParaRPr lang="en-US" sz="825" dirty="0"/>
          </a:p>
        </p:txBody>
      </p:sp>
      <p:sp>
        <p:nvSpPr>
          <p:cNvPr id="11" name="Text 9"/>
          <p:cNvSpPr/>
          <p:nvPr/>
        </p:nvSpPr>
        <p:spPr>
          <a:xfrm>
            <a:off x="304800" y="2805857"/>
            <a:ext cx="2810024" cy="1099096"/>
          </a:xfrm>
          <a:prstGeom prst="rect">
            <a:avLst/>
          </a:prstGeom>
          <a:solidFill>
            <a:srgbClr val="FFFFFF">
              <a:alpha val="5000"/>
            </a:srgbClr>
          </a:solidFill>
          <a:ln/>
        </p:spPr>
        <p:txBody>
          <a:bodyPr wrap="square" rtlCol="0" anchor="ctr"/>
          <a:lstStyle/>
          <a:p>
            <a:pPr marL="0" indent="0">
              <a:buNone/>
            </a:pPr>
            <a:endParaRPr lang="en-US" dirty="0"/>
          </a:p>
        </p:txBody>
      </p:sp>
      <p:sp>
        <p:nvSpPr>
          <p:cNvPr id="12" name="Text 10"/>
          <p:cNvSpPr/>
          <p:nvPr/>
        </p:nvSpPr>
        <p:spPr>
          <a:xfrm>
            <a:off x="438150" y="2939207"/>
            <a:ext cx="2594190" cy="146596"/>
          </a:xfrm>
          <a:prstGeom prst="rect">
            <a:avLst/>
          </a:prstGeom>
          <a:noFill/>
          <a:ln/>
        </p:spPr>
        <p:txBody>
          <a:bodyPr wrap="square" lIns="0" tIns="0" rIns="0" bIns="0" rtlCol="0" anchor="t"/>
          <a:lstStyle/>
          <a:p>
            <a:pPr marL="0" indent="0" algn="l">
              <a:lnSpc>
                <a:spcPts val="1155"/>
              </a:lnSpc>
              <a:spcAft>
                <a:spcPts val="600"/>
              </a:spcAft>
              <a:buNone/>
            </a:pPr>
            <a:r>
              <a:rPr lang="en-US" sz="825" b="1" dirty="0">
                <a:solidFill>
                  <a:srgbClr val="FFFFFF"/>
                </a:solidFill>
                <a:latin typeface="Arial" pitchFamily="34" charset="0"/>
                <a:ea typeface="Arial" pitchFamily="34" charset="-122"/>
                <a:cs typeface="Arial" pitchFamily="34" charset="-120"/>
              </a:rPr>
              <a:t>DEPLOYMENT CHECKLIST</a:t>
            </a:r>
            <a:endParaRPr lang="en-US" sz="825" dirty="0"/>
          </a:p>
        </p:txBody>
      </p:sp>
      <p:sp>
        <p:nvSpPr>
          <p:cNvPr id="13" name="Text 11"/>
          <p:cNvSpPr/>
          <p:nvPr/>
        </p:nvSpPr>
        <p:spPr>
          <a:xfrm>
            <a:off x="438150" y="3162002"/>
            <a:ext cx="2594190" cy="609600"/>
          </a:xfrm>
          <a:prstGeom prst="rect">
            <a:avLst/>
          </a:prstGeom>
          <a:noFill/>
          <a:ln/>
        </p:spPr>
        <p:txBody>
          <a:bodyPr wrap="square" lIns="0" tIns="0" rIns="0" bIns="0" rtlCol="0" anchor="t"/>
          <a:lstStyle/>
          <a:p>
            <a:pPr marL="0" indent="0" algn="l">
              <a:lnSpc>
                <a:spcPts val="1200"/>
              </a:lnSpc>
              <a:buNone/>
            </a:pPr>
            <a:r>
              <a:rPr lang="en-US" sz="750" dirty="0">
                <a:solidFill>
                  <a:srgbClr val="FFFFFF">
                    <a:alpha val="60000"/>
                  </a:srgbClr>
                </a:solidFill>
                <a:latin typeface="Arial" pitchFamily="34" charset="0"/>
                <a:ea typeface="Arial" pitchFamily="34" charset="-122"/>
                <a:cs typeface="Arial" pitchFamily="34" charset="-120"/>
              </a:rPr>
              <a:t>Environment variables set</a:t>
            </a:r>
            <a:endParaRPr lang="en-US" sz="750" dirty="0"/>
          </a:p>
          <a:p>
            <a:pPr marL="0" indent="0" algn="l">
              <a:lnSpc>
                <a:spcPts val="1200"/>
              </a:lnSpc>
              <a:buNone/>
            </a:pPr>
            <a:r>
              <a:rPr lang="en-US" sz="750" dirty="0">
                <a:solidFill>
                  <a:srgbClr val="FFFFFF">
                    <a:alpha val="60000"/>
                  </a:srgbClr>
                </a:solidFill>
                <a:latin typeface="Arial" pitchFamily="34" charset="0"/>
                <a:ea typeface="Arial" pitchFamily="34" charset="-122"/>
                <a:cs typeface="Arial" pitchFamily="34" charset="-120"/>
              </a:rPr>
              <a:t> Build passes locally</a:t>
            </a:r>
            <a:endParaRPr lang="en-US" sz="750" dirty="0"/>
          </a:p>
          <a:p>
            <a:pPr marL="0" indent="0" algn="l">
              <a:lnSpc>
                <a:spcPts val="1200"/>
              </a:lnSpc>
              <a:buNone/>
            </a:pPr>
            <a:r>
              <a:rPr lang="en-US" sz="750" dirty="0">
                <a:solidFill>
                  <a:srgbClr val="FFFFFF">
                    <a:alpha val="60000"/>
                  </a:srgbClr>
                </a:solidFill>
                <a:latin typeface="Arial" pitchFamily="34" charset="0"/>
                <a:ea typeface="Arial" pitchFamily="34" charset="-122"/>
                <a:cs typeface="Arial" pitchFamily="34" charset="-120"/>
              </a:rPr>
              <a:t> Tests green</a:t>
            </a:r>
            <a:endParaRPr lang="en-US" sz="750" dirty="0"/>
          </a:p>
          <a:p>
            <a:pPr marL="0" indent="0" algn="l">
              <a:lnSpc>
                <a:spcPts val="1200"/>
              </a:lnSpc>
              <a:buNone/>
            </a:pPr>
            <a:r>
              <a:rPr lang="en-US" sz="750" dirty="0">
                <a:solidFill>
                  <a:srgbClr val="FFFFFF">
                    <a:alpha val="60000"/>
                  </a:srgbClr>
                </a:solidFill>
                <a:latin typeface="Arial" pitchFamily="34" charset="0"/>
                <a:ea typeface="Arial" pitchFamily="34" charset="-122"/>
                <a:cs typeface="Arial" pitchFamily="34" charset="-120"/>
              </a:rPr>
              <a:t> README updated</a:t>
            </a:r>
            <a:endParaRPr lang="en-US" sz="750" dirty="0"/>
          </a:p>
        </p:txBody>
      </p:sp>
      <p:sp>
        <p:nvSpPr>
          <p:cNvPr id="14" name="Text 12"/>
          <p:cNvSpPr/>
          <p:nvPr/>
        </p:nvSpPr>
        <p:spPr>
          <a:xfrm>
            <a:off x="304800" y="4476750"/>
            <a:ext cx="2810024" cy="361950"/>
          </a:xfrm>
          <a:prstGeom prst="rect">
            <a:avLst/>
          </a:prstGeom>
          <a:solidFill>
            <a:srgbClr val="C9A227"/>
          </a:solidFill>
          <a:ln/>
        </p:spPr>
        <p:txBody>
          <a:bodyPr wrap="square" rtlCol="0" anchor="ctr"/>
          <a:lstStyle/>
          <a:p>
            <a:pPr marL="0" indent="0">
              <a:buNone/>
            </a:pPr>
            <a:endParaRPr lang="en-US" dirty="0"/>
          </a:p>
        </p:txBody>
      </p:sp>
      <p:sp>
        <p:nvSpPr>
          <p:cNvPr id="15" name="Text 13"/>
          <p:cNvSpPr/>
          <p:nvPr/>
        </p:nvSpPr>
        <p:spPr>
          <a:xfrm>
            <a:off x="393286" y="4591050"/>
            <a:ext cx="2633052" cy="133350"/>
          </a:xfrm>
          <a:prstGeom prst="rect">
            <a:avLst/>
          </a:prstGeom>
          <a:noFill/>
          <a:ln/>
        </p:spPr>
        <p:txBody>
          <a:bodyPr wrap="square" lIns="0" tIns="0" rIns="0" bIns="0" rtlCol="0" anchor="t"/>
          <a:lstStyle/>
          <a:p>
            <a:pPr marL="0" indent="0" algn="ctr">
              <a:lnSpc>
                <a:spcPts val="1050"/>
              </a:lnSpc>
              <a:buNone/>
            </a:pPr>
            <a:r>
              <a:rPr lang="en-US" sz="750" b="1" dirty="0">
                <a:solidFill>
                  <a:srgbClr val="1A1F2E"/>
                </a:solidFill>
                <a:latin typeface="Arial" pitchFamily="34" charset="0"/>
                <a:ea typeface="Arial" pitchFamily="34" charset="-122"/>
                <a:cs typeface="Arial" pitchFamily="34" charset="-120"/>
              </a:rPr>
              <a:t>Ship it!</a:t>
            </a:r>
            <a:endParaRPr lang="en-US" sz="750" dirty="0"/>
          </a:p>
        </p:txBody>
      </p:sp>
      <p:sp>
        <p:nvSpPr>
          <p:cNvPr id="16" name="Text 14"/>
          <p:cNvSpPr/>
          <p:nvPr/>
        </p:nvSpPr>
        <p:spPr>
          <a:xfrm>
            <a:off x="3572024" y="0"/>
            <a:ext cx="5571976" cy="5143500"/>
          </a:xfrm>
          <a:prstGeom prst="rect">
            <a:avLst/>
          </a:prstGeom>
          <a:solidFill>
            <a:srgbClr val="F7F8FA"/>
          </a:solidFill>
          <a:ln/>
        </p:spPr>
        <p:txBody>
          <a:bodyPr wrap="square" rtlCol="0" anchor="ctr"/>
          <a:lstStyle/>
          <a:p>
            <a:pPr marL="0" indent="0">
              <a:buNone/>
            </a:pPr>
            <a:endParaRPr lang="en-US" dirty="0"/>
          </a:p>
        </p:txBody>
      </p:sp>
      <p:sp>
        <p:nvSpPr>
          <p:cNvPr id="17" name="Text 15"/>
          <p:cNvSpPr/>
          <p:nvPr/>
        </p:nvSpPr>
        <p:spPr>
          <a:xfrm>
            <a:off x="3876824" y="670024"/>
            <a:ext cx="5061624" cy="173236"/>
          </a:xfrm>
          <a:prstGeom prst="rect">
            <a:avLst/>
          </a:prstGeom>
          <a:noFill/>
          <a:ln/>
        </p:spPr>
        <p:txBody>
          <a:bodyPr wrap="square" lIns="0" tIns="0" rIns="0" bIns="0" rtlCol="0" anchor="t"/>
          <a:lstStyle/>
          <a:p>
            <a:pPr marL="0" indent="0" algn="l">
              <a:lnSpc>
                <a:spcPts val="1365"/>
              </a:lnSpc>
              <a:spcAft>
                <a:spcPts val="1050"/>
              </a:spcAft>
              <a:buNone/>
            </a:pPr>
            <a:r>
              <a:rPr lang="en-US" sz="975" b="1" dirty="0">
                <a:solidFill>
                  <a:srgbClr val="1A1F2E"/>
                </a:solidFill>
                <a:latin typeface="Arial" pitchFamily="34" charset="0"/>
                <a:ea typeface="Arial" pitchFamily="34" charset="-122"/>
                <a:cs typeface="Arial" pitchFamily="34" charset="-120"/>
              </a:rPr>
              <a:t>CLI-ACCESSIBLE DEPLOYMENT PLATFORMS</a:t>
            </a:r>
            <a:endParaRPr lang="en-US" sz="975" dirty="0"/>
          </a:p>
        </p:txBody>
      </p:sp>
      <p:sp>
        <p:nvSpPr>
          <p:cNvPr id="18" name="Text 16"/>
          <p:cNvSpPr/>
          <p:nvPr/>
        </p:nvSpPr>
        <p:spPr>
          <a:xfrm>
            <a:off x="3876824" y="1129010"/>
            <a:ext cx="1183481" cy="723602"/>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19" name="Text 17"/>
          <p:cNvSpPr/>
          <p:nvPr/>
        </p:nvSpPr>
        <p:spPr>
          <a:xfrm>
            <a:off x="3991291" y="1252835"/>
            <a:ext cx="954548" cy="173236"/>
          </a:xfrm>
          <a:prstGeom prst="rect">
            <a:avLst/>
          </a:prstGeom>
          <a:noFill/>
          <a:ln/>
        </p:spPr>
        <p:txBody>
          <a:bodyPr wrap="square" lIns="0" tIns="0" rIns="0" bIns="0" rtlCol="0" anchor="t"/>
          <a:lstStyle/>
          <a:p>
            <a:pPr marL="0" indent="0" algn="ctr">
              <a:lnSpc>
                <a:spcPts val="1365"/>
              </a:lnSpc>
              <a:buNone/>
            </a:pPr>
            <a:r>
              <a:rPr lang="en-US" sz="975" b="1" dirty="0">
                <a:solidFill>
                  <a:srgbClr val="1A1F2E"/>
                </a:solidFill>
                <a:latin typeface="Arial" pitchFamily="34" charset="0"/>
                <a:ea typeface="Arial" pitchFamily="34" charset="-122"/>
                <a:cs typeface="Arial" pitchFamily="34" charset="-120"/>
              </a:rPr>
              <a:t>Vercel</a:t>
            </a:r>
            <a:endParaRPr lang="en-US" sz="975" dirty="0"/>
          </a:p>
        </p:txBody>
      </p:sp>
      <p:sp>
        <p:nvSpPr>
          <p:cNvPr id="20" name="Text 18"/>
          <p:cNvSpPr/>
          <p:nvPr/>
        </p:nvSpPr>
        <p:spPr>
          <a:xfrm>
            <a:off x="3991291" y="1464171"/>
            <a:ext cx="954548" cy="119955"/>
          </a:xfrm>
          <a:prstGeom prst="rect">
            <a:avLst/>
          </a:prstGeom>
          <a:noFill/>
          <a:ln/>
        </p:spPr>
        <p:txBody>
          <a:bodyPr wrap="square" lIns="0" tIns="0" rIns="0" bIns="0" rtlCol="0" anchor="t"/>
          <a:lstStyle/>
          <a:p>
            <a:pPr marL="0" indent="0" algn="ctr">
              <a:lnSpc>
                <a:spcPts val="945"/>
              </a:lnSpc>
              <a:spcBef>
                <a:spcPts val="300"/>
              </a:spcBef>
              <a:buNone/>
            </a:pPr>
            <a:r>
              <a:rPr lang="en-US" sz="675" dirty="0">
                <a:solidFill>
                  <a:srgbClr val="6B7280"/>
                </a:solidFill>
                <a:latin typeface="Arial" pitchFamily="34" charset="0"/>
                <a:ea typeface="Arial" pitchFamily="34" charset="-122"/>
                <a:cs typeface="Arial" pitchFamily="34" charset="-120"/>
              </a:rPr>
              <a:t>Frontend &amp; Edge</a:t>
            </a:r>
            <a:endParaRPr lang="en-US" sz="675" dirty="0"/>
          </a:p>
        </p:txBody>
      </p:sp>
      <p:sp>
        <p:nvSpPr>
          <p:cNvPr id="21" name="Text 19"/>
          <p:cNvSpPr/>
          <p:nvPr/>
        </p:nvSpPr>
        <p:spPr>
          <a:xfrm>
            <a:off x="3991291" y="1622227"/>
            <a:ext cx="954548" cy="106561"/>
          </a:xfrm>
          <a:prstGeom prst="rect">
            <a:avLst/>
          </a:prstGeom>
          <a:noFill/>
          <a:ln/>
        </p:spPr>
        <p:txBody>
          <a:bodyPr wrap="square" lIns="0" tIns="0" rIns="0" bIns="0" rtlCol="0" anchor="t"/>
          <a:lstStyle/>
          <a:p>
            <a:pPr marL="0" indent="0" algn="ctr">
              <a:lnSpc>
                <a:spcPts val="840"/>
              </a:lnSpc>
              <a:spcBef>
                <a:spcPts val="300"/>
              </a:spcBef>
              <a:buNone/>
            </a:pPr>
            <a:r>
              <a:rPr lang="en-US" sz="600" dirty="0">
                <a:solidFill>
                  <a:srgbClr val="9CA3AF"/>
                </a:solidFill>
                <a:latin typeface="monospace" pitchFamily="34" charset="0"/>
                <a:ea typeface="monospace" pitchFamily="34" charset="-122"/>
                <a:cs typeface="monospace" pitchFamily="34" charset="-120"/>
              </a:rPr>
              <a:t>vercel deploy</a:t>
            </a:r>
            <a:endParaRPr lang="en-US" sz="600" dirty="0"/>
          </a:p>
        </p:txBody>
      </p:sp>
      <p:sp>
        <p:nvSpPr>
          <p:cNvPr id="22" name="Text 20"/>
          <p:cNvSpPr/>
          <p:nvPr/>
        </p:nvSpPr>
        <p:spPr>
          <a:xfrm>
            <a:off x="5136505" y="1129010"/>
            <a:ext cx="1183481" cy="723602"/>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23" name="Text 21"/>
          <p:cNvSpPr/>
          <p:nvPr/>
        </p:nvSpPr>
        <p:spPr>
          <a:xfrm>
            <a:off x="5250972" y="1252835"/>
            <a:ext cx="954548" cy="173236"/>
          </a:xfrm>
          <a:prstGeom prst="rect">
            <a:avLst/>
          </a:prstGeom>
          <a:noFill/>
          <a:ln/>
        </p:spPr>
        <p:txBody>
          <a:bodyPr wrap="square" lIns="0" tIns="0" rIns="0" bIns="0" rtlCol="0" anchor="t"/>
          <a:lstStyle/>
          <a:p>
            <a:pPr marL="0" indent="0" algn="ctr">
              <a:lnSpc>
                <a:spcPts val="1365"/>
              </a:lnSpc>
              <a:buNone/>
            </a:pPr>
            <a:r>
              <a:rPr lang="en-US" sz="975" b="1" dirty="0">
                <a:solidFill>
                  <a:srgbClr val="1A1F2E"/>
                </a:solidFill>
                <a:latin typeface="Arial" pitchFamily="34" charset="0"/>
                <a:ea typeface="Arial" pitchFamily="34" charset="-122"/>
                <a:cs typeface="Arial" pitchFamily="34" charset="-120"/>
              </a:rPr>
              <a:t>Railway</a:t>
            </a:r>
            <a:endParaRPr lang="en-US" sz="975" dirty="0"/>
          </a:p>
        </p:txBody>
      </p:sp>
      <p:sp>
        <p:nvSpPr>
          <p:cNvPr id="24" name="Text 22"/>
          <p:cNvSpPr/>
          <p:nvPr/>
        </p:nvSpPr>
        <p:spPr>
          <a:xfrm>
            <a:off x="5250972" y="1464171"/>
            <a:ext cx="954548" cy="119955"/>
          </a:xfrm>
          <a:prstGeom prst="rect">
            <a:avLst/>
          </a:prstGeom>
          <a:noFill/>
          <a:ln/>
        </p:spPr>
        <p:txBody>
          <a:bodyPr wrap="square" lIns="0" tIns="0" rIns="0" bIns="0" rtlCol="0" anchor="t"/>
          <a:lstStyle/>
          <a:p>
            <a:pPr marL="0" indent="0" algn="ctr">
              <a:lnSpc>
                <a:spcPts val="945"/>
              </a:lnSpc>
              <a:spcBef>
                <a:spcPts val="300"/>
              </a:spcBef>
              <a:buNone/>
            </a:pPr>
            <a:r>
              <a:rPr lang="en-US" sz="675" dirty="0">
                <a:solidFill>
                  <a:srgbClr val="6B7280"/>
                </a:solidFill>
                <a:latin typeface="Arial" pitchFamily="34" charset="0"/>
                <a:ea typeface="Arial" pitchFamily="34" charset="-122"/>
                <a:cs typeface="Arial" pitchFamily="34" charset="-120"/>
              </a:rPr>
              <a:t>Full-Stack Apps</a:t>
            </a:r>
            <a:endParaRPr lang="en-US" sz="675" dirty="0"/>
          </a:p>
        </p:txBody>
      </p:sp>
      <p:sp>
        <p:nvSpPr>
          <p:cNvPr id="25" name="Text 23"/>
          <p:cNvSpPr/>
          <p:nvPr/>
        </p:nvSpPr>
        <p:spPr>
          <a:xfrm>
            <a:off x="5250972" y="1622227"/>
            <a:ext cx="954548" cy="106561"/>
          </a:xfrm>
          <a:prstGeom prst="rect">
            <a:avLst/>
          </a:prstGeom>
          <a:noFill/>
          <a:ln/>
        </p:spPr>
        <p:txBody>
          <a:bodyPr wrap="square" lIns="0" tIns="0" rIns="0" bIns="0" rtlCol="0" anchor="t"/>
          <a:lstStyle/>
          <a:p>
            <a:pPr marL="0" indent="0" algn="ctr">
              <a:lnSpc>
                <a:spcPts val="840"/>
              </a:lnSpc>
              <a:spcBef>
                <a:spcPts val="300"/>
              </a:spcBef>
              <a:buNone/>
            </a:pPr>
            <a:r>
              <a:rPr lang="en-US" sz="600" dirty="0">
                <a:solidFill>
                  <a:srgbClr val="9CA3AF"/>
                </a:solidFill>
                <a:latin typeface="monospace" pitchFamily="34" charset="0"/>
                <a:ea typeface="monospace" pitchFamily="34" charset="-122"/>
                <a:cs typeface="monospace" pitchFamily="34" charset="-120"/>
              </a:rPr>
              <a:t>railway up</a:t>
            </a:r>
            <a:endParaRPr lang="en-US" sz="600" dirty="0"/>
          </a:p>
        </p:txBody>
      </p:sp>
      <p:sp>
        <p:nvSpPr>
          <p:cNvPr id="26" name="Text 24"/>
          <p:cNvSpPr/>
          <p:nvPr/>
        </p:nvSpPr>
        <p:spPr>
          <a:xfrm>
            <a:off x="6396186" y="1129010"/>
            <a:ext cx="1183481" cy="723602"/>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27" name="Text 25"/>
          <p:cNvSpPr/>
          <p:nvPr/>
        </p:nvSpPr>
        <p:spPr>
          <a:xfrm>
            <a:off x="6510653" y="1252835"/>
            <a:ext cx="954548" cy="173236"/>
          </a:xfrm>
          <a:prstGeom prst="rect">
            <a:avLst/>
          </a:prstGeom>
          <a:noFill/>
          <a:ln/>
        </p:spPr>
        <p:txBody>
          <a:bodyPr wrap="square" lIns="0" tIns="0" rIns="0" bIns="0" rtlCol="0" anchor="t"/>
          <a:lstStyle/>
          <a:p>
            <a:pPr marL="0" indent="0" algn="ctr">
              <a:lnSpc>
                <a:spcPts val="1365"/>
              </a:lnSpc>
              <a:buNone/>
            </a:pPr>
            <a:r>
              <a:rPr lang="en-US" sz="975" b="1" dirty="0">
                <a:solidFill>
                  <a:srgbClr val="1A1F2E"/>
                </a:solidFill>
                <a:latin typeface="Arial" pitchFamily="34" charset="0"/>
                <a:ea typeface="Arial" pitchFamily="34" charset="-122"/>
                <a:cs typeface="Arial" pitchFamily="34" charset="-120"/>
              </a:rPr>
              <a:t>Supabase</a:t>
            </a:r>
            <a:endParaRPr lang="en-US" sz="975" dirty="0"/>
          </a:p>
        </p:txBody>
      </p:sp>
      <p:sp>
        <p:nvSpPr>
          <p:cNvPr id="28" name="Text 26"/>
          <p:cNvSpPr/>
          <p:nvPr/>
        </p:nvSpPr>
        <p:spPr>
          <a:xfrm>
            <a:off x="6510653" y="1464171"/>
            <a:ext cx="954548" cy="119955"/>
          </a:xfrm>
          <a:prstGeom prst="rect">
            <a:avLst/>
          </a:prstGeom>
          <a:noFill/>
          <a:ln/>
        </p:spPr>
        <p:txBody>
          <a:bodyPr wrap="square" lIns="0" tIns="0" rIns="0" bIns="0" rtlCol="0" anchor="t"/>
          <a:lstStyle/>
          <a:p>
            <a:pPr marL="0" indent="0" algn="ctr">
              <a:lnSpc>
                <a:spcPts val="945"/>
              </a:lnSpc>
              <a:spcBef>
                <a:spcPts val="300"/>
              </a:spcBef>
              <a:buNone/>
            </a:pPr>
            <a:r>
              <a:rPr lang="en-US" sz="675" dirty="0">
                <a:solidFill>
                  <a:srgbClr val="6B7280"/>
                </a:solidFill>
                <a:latin typeface="Arial" pitchFamily="34" charset="0"/>
                <a:ea typeface="Arial" pitchFamily="34" charset="-122"/>
                <a:cs typeface="Arial" pitchFamily="34" charset="-120"/>
              </a:rPr>
              <a:t>Database &amp; Auth</a:t>
            </a:r>
            <a:endParaRPr lang="en-US" sz="675" dirty="0"/>
          </a:p>
        </p:txBody>
      </p:sp>
      <p:sp>
        <p:nvSpPr>
          <p:cNvPr id="29" name="Text 27"/>
          <p:cNvSpPr/>
          <p:nvPr/>
        </p:nvSpPr>
        <p:spPr>
          <a:xfrm>
            <a:off x="6510653" y="1622227"/>
            <a:ext cx="954548" cy="106561"/>
          </a:xfrm>
          <a:prstGeom prst="rect">
            <a:avLst/>
          </a:prstGeom>
          <a:noFill/>
          <a:ln/>
        </p:spPr>
        <p:txBody>
          <a:bodyPr wrap="square" lIns="0" tIns="0" rIns="0" bIns="0" rtlCol="0" anchor="t"/>
          <a:lstStyle/>
          <a:p>
            <a:pPr marL="0" indent="0" algn="ctr">
              <a:lnSpc>
                <a:spcPts val="840"/>
              </a:lnSpc>
              <a:spcBef>
                <a:spcPts val="300"/>
              </a:spcBef>
              <a:buNone/>
            </a:pPr>
            <a:r>
              <a:rPr lang="en-US" sz="600" dirty="0">
                <a:solidFill>
                  <a:srgbClr val="9CA3AF"/>
                </a:solidFill>
                <a:latin typeface="monospace" pitchFamily="34" charset="0"/>
                <a:ea typeface="monospace" pitchFamily="34" charset="-122"/>
                <a:cs typeface="monospace" pitchFamily="34" charset="-120"/>
              </a:rPr>
              <a:t>supabase db push</a:t>
            </a:r>
            <a:endParaRPr lang="en-US" sz="600" dirty="0"/>
          </a:p>
        </p:txBody>
      </p:sp>
      <p:sp>
        <p:nvSpPr>
          <p:cNvPr id="30" name="Text 28"/>
          <p:cNvSpPr/>
          <p:nvPr/>
        </p:nvSpPr>
        <p:spPr>
          <a:xfrm>
            <a:off x="7655868" y="1129010"/>
            <a:ext cx="1183481" cy="723602"/>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31" name="Text 29"/>
          <p:cNvSpPr/>
          <p:nvPr/>
        </p:nvSpPr>
        <p:spPr>
          <a:xfrm>
            <a:off x="7770334" y="1252835"/>
            <a:ext cx="954548" cy="173236"/>
          </a:xfrm>
          <a:prstGeom prst="rect">
            <a:avLst/>
          </a:prstGeom>
          <a:noFill/>
          <a:ln/>
        </p:spPr>
        <p:txBody>
          <a:bodyPr wrap="square" lIns="0" tIns="0" rIns="0" bIns="0" rtlCol="0" anchor="t"/>
          <a:lstStyle/>
          <a:p>
            <a:pPr marL="0" indent="0" algn="ctr">
              <a:lnSpc>
                <a:spcPts val="1365"/>
              </a:lnSpc>
              <a:buNone/>
            </a:pPr>
            <a:r>
              <a:rPr lang="en-US" sz="975" b="1" dirty="0">
                <a:solidFill>
                  <a:srgbClr val="1A1F2E"/>
                </a:solidFill>
                <a:latin typeface="Arial" pitchFamily="34" charset="0"/>
                <a:ea typeface="Arial" pitchFamily="34" charset="-122"/>
                <a:cs typeface="Arial" pitchFamily="34" charset="-120"/>
              </a:rPr>
              <a:t>Azure</a:t>
            </a:r>
            <a:endParaRPr lang="en-US" sz="975" dirty="0"/>
          </a:p>
        </p:txBody>
      </p:sp>
      <p:sp>
        <p:nvSpPr>
          <p:cNvPr id="32" name="Text 30"/>
          <p:cNvSpPr/>
          <p:nvPr/>
        </p:nvSpPr>
        <p:spPr>
          <a:xfrm>
            <a:off x="7770334" y="1464171"/>
            <a:ext cx="954548" cy="119955"/>
          </a:xfrm>
          <a:prstGeom prst="rect">
            <a:avLst/>
          </a:prstGeom>
          <a:noFill/>
          <a:ln/>
        </p:spPr>
        <p:txBody>
          <a:bodyPr wrap="square" lIns="0" tIns="0" rIns="0" bIns="0" rtlCol="0" anchor="t"/>
          <a:lstStyle/>
          <a:p>
            <a:pPr marL="0" indent="0" algn="ctr">
              <a:lnSpc>
                <a:spcPts val="945"/>
              </a:lnSpc>
              <a:spcBef>
                <a:spcPts val="300"/>
              </a:spcBef>
              <a:buNone/>
            </a:pPr>
            <a:r>
              <a:rPr lang="en-US" sz="675" dirty="0">
                <a:solidFill>
                  <a:srgbClr val="6B7280"/>
                </a:solidFill>
                <a:latin typeface="Arial" pitchFamily="34" charset="0"/>
                <a:ea typeface="Arial" pitchFamily="34" charset="-122"/>
                <a:cs typeface="Arial" pitchFamily="34" charset="-120"/>
              </a:rPr>
              <a:t>Enterprise</a:t>
            </a:r>
            <a:endParaRPr lang="en-US" sz="675" dirty="0"/>
          </a:p>
        </p:txBody>
      </p:sp>
      <p:sp>
        <p:nvSpPr>
          <p:cNvPr id="33" name="Text 31"/>
          <p:cNvSpPr/>
          <p:nvPr/>
        </p:nvSpPr>
        <p:spPr>
          <a:xfrm>
            <a:off x="7770334" y="1622227"/>
            <a:ext cx="954548" cy="106561"/>
          </a:xfrm>
          <a:prstGeom prst="rect">
            <a:avLst/>
          </a:prstGeom>
          <a:noFill/>
          <a:ln/>
        </p:spPr>
        <p:txBody>
          <a:bodyPr wrap="square" lIns="0" tIns="0" rIns="0" bIns="0" rtlCol="0" anchor="t"/>
          <a:lstStyle/>
          <a:p>
            <a:pPr marL="0" indent="0" algn="ctr">
              <a:lnSpc>
                <a:spcPts val="840"/>
              </a:lnSpc>
              <a:spcBef>
                <a:spcPts val="300"/>
              </a:spcBef>
              <a:buNone/>
            </a:pPr>
            <a:r>
              <a:rPr lang="en-US" sz="600" dirty="0">
                <a:solidFill>
                  <a:srgbClr val="9CA3AF"/>
                </a:solidFill>
                <a:latin typeface="monospace" pitchFamily="34" charset="0"/>
                <a:ea typeface="monospace" pitchFamily="34" charset="-122"/>
                <a:cs typeface="monospace" pitchFamily="34" charset="-120"/>
              </a:rPr>
              <a:t>az webapp up</a:t>
            </a:r>
            <a:endParaRPr lang="en-US" sz="600" dirty="0"/>
          </a:p>
        </p:txBody>
      </p:sp>
      <p:sp>
        <p:nvSpPr>
          <p:cNvPr id="34" name="Text 32"/>
          <p:cNvSpPr/>
          <p:nvPr/>
        </p:nvSpPr>
        <p:spPr>
          <a:xfrm>
            <a:off x="3876824" y="2119313"/>
            <a:ext cx="4962376" cy="700980"/>
          </a:xfrm>
          <a:prstGeom prst="rect">
            <a:avLst/>
          </a:prstGeom>
          <a:solidFill>
            <a:srgbClr val="1A1F2E"/>
          </a:solidFill>
          <a:ln/>
        </p:spPr>
        <p:txBody>
          <a:bodyPr wrap="square" rtlCol="0" anchor="ctr"/>
          <a:lstStyle/>
          <a:p>
            <a:pPr marL="0" indent="0">
              <a:buNone/>
            </a:pPr>
            <a:endParaRPr lang="en-US" dirty="0"/>
          </a:p>
        </p:txBody>
      </p:sp>
      <p:sp>
        <p:nvSpPr>
          <p:cNvPr id="35" name="Text 33"/>
          <p:cNvSpPr/>
          <p:nvPr/>
        </p:nvSpPr>
        <p:spPr>
          <a:xfrm>
            <a:off x="4010174" y="2252663"/>
            <a:ext cx="4789590" cy="119955"/>
          </a:xfrm>
          <a:prstGeom prst="rect">
            <a:avLst/>
          </a:prstGeom>
          <a:noFill/>
          <a:ln/>
        </p:spPr>
        <p:txBody>
          <a:bodyPr wrap="square" lIns="0" tIns="0" rIns="0" bIns="0" rtlCol="0" anchor="t"/>
          <a:lstStyle/>
          <a:p>
            <a:pPr marL="0" indent="0" algn="l">
              <a:lnSpc>
                <a:spcPts val="945"/>
              </a:lnSpc>
              <a:spcAft>
                <a:spcPts val="450"/>
              </a:spcAft>
              <a:buNone/>
            </a:pPr>
            <a:r>
              <a:rPr lang="en-US" sz="675" dirty="0">
                <a:solidFill>
                  <a:srgbClr val="C9A227"/>
                </a:solidFill>
                <a:latin typeface="Arial" pitchFamily="34" charset="0"/>
                <a:ea typeface="Arial" pitchFamily="34" charset="-122"/>
                <a:cs typeface="Arial" pitchFamily="34" charset="-120"/>
              </a:rPr>
              <a:t>EXAMPLE VOICE PROMPT</a:t>
            </a:r>
            <a:endParaRPr lang="en-US" sz="675" dirty="0"/>
          </a:p>
        </p:txBody>
      </p:sp>
      <p:sp>
        <p:nvSpPr>
          <p:cNvPr id="36" name="Text 34"/>
          <p:cNvSpPr/>
          <p:nvPr/>
        </p:nvSpPr>
        <p:spPr>
          <a:xfrm>
            <a:off x="4010174" y="2429768"/>
            <a:ext cx="4789590" cy="257175"/>
          </a:xfrm>
          <a:prstGeom prst="rect">
            <a:avLst/>
          </a:prstGeom>
          <a:noFill/>
          <a:ln/>
        </p:spPr>
        <p:txBody>
          <a:bodyPr wrap="square" lIns="0" tIns="0" rIns="0" bIns="0" rtlCol="0" anchor="t"/>
          <a:lstStyle/>
          <a:p>
            <a:pPr marL="0" indent="0" algn="l">
              <a:lnSpc>
                <a:spcPts val="1013"/>
              </a:lnSpc>
              <a:buNone/>
            </a:pPr>
            <a:r>
              <a:rPr lang="en-US" sz="675" dirty="0">
                <a:solidFill>
                  <a:srgbClr val="FFFFFF">
                    <a:alpha val="80000"/>
                  </a:srgbClr>
                </a:solidFill>
                <a:latin typeface="Arial" pitchFamily="34" charset="0"/>
                <a:ea typeface="Arial" pitchFamily="34" charset="-122"/>
                <a:cs typeface="Arial" pitchFamily="34" charset="-120"/>
              </a:rPr>
              <a:t>"Deploy this to Vercel. Set the environment variables from our .env.example, run the build, and give me the deployment URL when it's live."</a:t>
            </a:r>
            <a:endParaRPr lang="en-US" sz="675" dirty="0"/>
          </a:p>
        </p:txBody>
      </p:sp>
      <p:sp>
        <p:nvSpPr>
          <p:cNvPr id="37" name="Text 35"/>
          <p:cNvSpPr/>
          <p:nvPr/>
        </p:nvSpPr>
        <p:spPr>
          <a:xfrm>
            <a:off x="3876824" y="3086993"/>
            <a:ext cx="2433638" cy="599777"/>
          </a:xfrm>
          <a:prstGeom prst="rect">
            <a:avLst/>
          </a:prstGeom>
          <a:solidFill>
            <a:srgbClr val="DCFCE7"/>
          </a:solidFill>
          <a:ln/>
        </p:spPr>
        <p:txBody>
          <a:bodyPr wrap="square" rtlCol="0" anchor="ctr"/>
          <a:lstStyle/>
          <a:p>
            <a:pPr marL="0" indent="0">
              <a:buNone/>
            </a:pPr>
            <a:endParaRPr lang="en-US" dirty="0"/>
          </a:p>
        </p:txBody>
      </p:sp>
      <p:sp>
        <p:nvSpPr>
          <p:cNvPr id="38" name="Shape 36"/>
          <p:cNvSpPr/>
          <p:nvPr/>
        </p:nvSpPr>
        <p:spPr>
          <a:xfrm>
            <a:off x="3891111" y="3086993"/>
            <a:ext cx="0" cy="599777"/>
          </a:xfrm>
          <a:prstGeom prst="line">
            <a:avLst/>
          </a:prstGeom>
          <a:noFill/>
          <a:ln w="28575">
            <a:solidFill>
              <a:srgbClr val="059669"/>
            </a:solidFill>
            <a:prstDash val="solid"/>
          </a:ln>
        </p:spPr>
        <p:txBody>
          <a:bodyPr/>
          <a:lstStyle/>
          <a:p>
            <a:endParaRPr lang="en-US"/>
          </a:p>
        </p:txBody>
      </p:sp>
      <p:sp>
        <p:nvSpPr>
          <p:cNvPr id="39" name="Text 37"/>
          <p:cNvSpPr/>
          <p:nvPr/>
        </p:nvSpPr>
        <p:spPr>
          <a:xfrm>
            <a:off x="4019699" y="3201293"/>
            <a:ext cx="2219992" cy="119955"/>
          </a:xfrm>
          <a:prstGeom prst="rect">
            <a:avLst/>
          </a:prstGeom>
          <a:noFill/>
          <a:ln/>
        </p:spPr>
        <p:txBody>
          <a:bodyPr wrap="square" lIns="0" tIns="0" rIns="0" bIns="0" rtlCol="0" anchor="t"/>
          <a:lstStyle/>
          <a:p>
            <a:pPr marL="0" indent="0" algn="l">
              <a:lnSpc>
                <a:spcPts val="945"/>
              </a:lnSpc>
              <a:spcAft>
                <a:spcPts val="300"/>
              </a:spcAft>
              <a:buNone/>
            </a:pPr>
            <a:r>
              <a:rPr lang="en-US" sz="675" b="1" dirty="0">
                <a:solidFill>
                  <a:srgbClr val="166534"/>
                </a:solidFill>
                <a:latin typeface="Arial" pitchFamily="34" charset="0"/>
                <a:ea typeface="Arial" pitchFamily="34" charset="-122"/>
                <a:cs typeface="Arial" pitchFamily="34" charset="-120"/>
              </a:rPr>
              <a:t>WHY CLI MATTERS</a:t>
            </a:r>
            <a:endParaRPr lang="en-US" sz="675" dirty="0"/>
          </a:p>
        </p:txBody>
      </p:sp>
      <p:sp>
        <p:nvSpPr>
          <p:cNvPr id="40" name="Text 38"/>
          <p:cNvSpPr/>
          <p:nvPr/>
        </p:nvSpPr>
        <p:spPr>
          <a:xfrm>
            <a:off x="4019699" y="3359348"/>
            <a:ext cx="2219992" cy="213122"/>
          </a:xfrm>
          <a:prstGeom prst="rect">
            <a:avLst/>
          </a:prstGeom>
          <a:noFill/>
          <a:ln/>
        </p:spPr>
        <p:txBody>
          <a:bodyPr wrap="square" lIns="0" tIns="0" rIns="0" bIns="0" rtlCol="0" anchor="t"/>
          <a:lstStyle/>
          <a:p>
            <a:pPr marL="0" indent="0" algn="l">
              <a:lnSpc>
                <a:spcPts val="840"/>
              </a:lnSpc>
              <a:buNone/>
            </a:pPr>
            <a:r>
              <a:rPr lang="en-US" sz="600" dirty="0">
                <a:solidFill>
                  <a:srgbClr val="166534"/>
                </a:solidFill>
                <a:latin typeface="Arial" pitchFamily="34" charset="0"/>
                <a:ea typeface="Arial" pitchFamily="34" charset="-122"/>
                <a:cs typeface="Arial" pitchFamily="34" charset="-120"/>
              </a:rPr>
              <a:t>All these platforms have CLIs your agent can access through shell environments. No clicking required.</a:t>
            </a:r>
            <a:endParaRPr lang="en-US" sz="600" dirty="0"/>
          </a:p>
        </p:txBody>
      </p:sp>
      <p:sp>
        <p:nvSpPr>
          <p:cNvPr id="41" name="Text 39"/>
          <p:cNvSpPr/>
          <p:nvPr/>
        </p:nvSpPr>
        <p:spPr>
          <a:xfrm>
            <a:off x="6405711" y="3086993"/>
            <a:ext cx="2433638" cy="599777"/>
          </a:xfrm>
          <a:prstGeom prst="rect">
            <a:avLst/>
          </a:prstGeom>
          <a:solidFill>
            <a:srgbClr val="DBEAFE"/>
          </a:solidFill>
          <a:ln/>
        </p:spPr>
        <p:txBody>
          <a:bodyPr wrap="square" rtlCol="0" anchor="ctr"/>
          <a:lstStyle/>
          <a:p>
            <a:pPr marL="0" indent="0">
              <a:buNone/>
            </a:pPr>
            <a:endParaRPr lang="en-US" dirty="0"/>
          </a:p>
        </p:txBody>
      </p:sp>
      <p:sp>
        <p:nvSpPr>
          <p:cNvPr id="42" name="Shape 40"/>
          <p:cNvSpPr/>
          <p:nvPr/>
        </p:nvSpPr>
        <p:spPr>
          <a:xfrm>
            <a:off x="6419999" y="3086993"/>
            <a:ext cx="0" cy="599777"/>
          </a:xfrm>
          <a:prstGeom prst="line">
            <a:avLst/>
          </a:prstGeom>
          <a:noFill/>
          <a:ln w="28575">
            <a:solidFill>
              <a:srgbClr val="3B82F6"/>
            </a:solidFill>
            <a:prstDash val="solid"/>
          </a:ln>
        </p:spPr>
        <p:txBody>
          <a:bodyPr/>
          <a:lstStyle/>
          <a:p>
            <a:endParaRPr lang="en-US"/>
          </a:p>
        </p:txBody>
      </p:sp>
      <p:sp>
        <p:nvSpPr>
          <p:cNvPr id="43" name="Text 41"/>
          <p:cNvSpPr/>
          <p:nvPr/>
        </p:nvSpPr>
        <p:spPr>
          <a:xfrm>
            <a:off x="6548586" y="3201293"/>
            <a:ext cx="2219992" cy="119955"/>
          </a:xfrm>
          <a:prstGeom prst="rect">
            <a:avLst/>
          </a:prstGeom>
          <a:noFill/>
          <a:ln/>
        </p:spPr>
        <p:txBody>
          <a:bodyPr wrap="square" lIns="0" tIns="0" rIns="0" bIns="0" rtlCol="0" anchor="t"/>
          <a:lstStyle/>
          <a:p>
            <a:pPr marL="0" indent="0" algn="l">
              <a:lnSpc>
                <a:spcPts val="945"/>
              </a:lnSpc>
              <a:spcAft>
                <a:spcPts val="300"/>
              </a:spcAft>
              <a:buNone/>
            </a:pPr>
            <a:r>
              <a:rPr lang="en-US" sz="675" b="1" dirty="0">
                <a:solidFill>
                  <a:srgbClr val="1E40AF"/>
                </a:solidFill>
                <a:latin typeface="Arial" pitchFamily="34" charset="0"/>
                <a:ea typeface="Arial" pitchFamily="34" charset="-122"/>
                <a:cs typeface="Arial" pitchFamily="34" charset="-120"/>
              </a:rPr>
              <a:t>POST-DEPLOY</a:t>
            </a:r>
            <a:endParaRPr lang="en-US" sz="675" dirty="0"/>
          </a:p>
        </p:txBody>
      </p:sp>
      <p:sp>
        <p:nvSpPr>
          <p:cNvPr id="44" name="Text 42"/>
          <p:cNvSpPr/>
          <p:nvPr/>
        </p:nvSpPr>
        <p:spPr>
          <a:xfrm>
            <a:off x="6548586" y="3359348"/>
            <a:ext cx="2219992" cy="213122"/>
          </a:xfrm>
          <a:prstGeom prst="rect">
            <a:avLst/>
          </a:prstGeom>
          <a:noFill/>
          <a:ln/>
        </p:spPr>
        <p:txBody>
          <a:bodyPr wrap="square" lIns="0" tIns="0" rIns="0" bIns="0" rtlCol="0" anchor="t"/>
          <a:lstStyle/>
          <a:p>
            <a:pPr marL="0" indent="0" algn="l">
              <a:lnSpc>
                <a:spcPts val="840"/>
              </a:lnSpc>
              <a:buNone/>
            </a:pPr>
            <a:r>
              <a:rPr lang="en-US" sz="600" dirty="0">
                <a:solidFill>
                  <a:srgbClr val="1E40AF"/>
                </a:solidFill>
                <a:latin typeface="Arial" pitchFamily="34" charset="0"/>
                <a:ea typeface="Arial" pitchFamily="34" charset="-122"/>
                <a:cs typeface="Arial" pitchFamily="34" charset="-120"/>
              </a:rPr>
              <a:t>Test the live URL, verify functionality, then celebrate. You built something real.</a:t>
            </a:r>
            <a:endParaRPr lang="en-US" sz="600" dirty="0"/>
          </a:p>
        </p:txBody>
      </p:sp>
      <p:sp>
        <p:nvSpPr>
          <p:cNvPr id="45" name="Text 43"/>
          <p:cNvSpPr/>
          <p:nvPr/>
        </p:nvSpPr>
        <p:spPr>
          <a:xfrm>
            <a:off x="3876824" y="3953470"/>
            <a:ext cx="4962376" cy="520005"/>
          </a:xfrm>
          <a:prstGeom prst="rect">
            <a:avLst/>
          </a:prstGeom>
          <a:solidFill>
            <a:srgbClr val="FEF3C7"/>
          </a:solidFill>
          <a:ln/>
        </p:spPr>
        <p:txBody>
          <a:bodyPr wrap="square" rtlCol="0" anchor="ctr"/>
          <a:lstStyle/>
          <a:p>
            <a:pPr marL="0" indent="0">
              <a:buNone/>
            </a:pPr>
            <a:endParaRPr lang="en-US" dirty="0"/>
          </a:p>
        </p:txBody>
      </p:sp>
      <p:sp>
        <p:nvSpPr>
          <p:cNvPr id="46" name="Shape 44"/>
          <p:cNvSpPr/>
          <p:nvPr/>
        </p:nvSpPr>
        <p:spPr>
          <a:xfrm>
            <a:off x="3891111" y="3953470"/>
            <a:ext cx="0" cy="520005"/>
          </a:xfrm>
          <a:prstGeom prst="line">
            <a:avLst/>
          </a:prstGeom>
          <a:noFill/>
          <a:ln w="28575">
            <a:solidFill>
              <a:srgbClr val="F59E0B"/>
            </a:solidFill>
            <a:prstDash val="solid"/>
          </a:ln>
        </p:spPr>
        <p:txBody>
          <a:bodyPr/>
          <a:lstStyle/>
          <a:p>
            <a:endParaRPr lang="en-US"/>
          </a:p>
        </p:txBody>
      </p:sp>
      <p:sp>
        <p:nvSpPr>
          <p:cNvPr id="47" name="Text 45"/>
          <p:cNvSpPr/>
          <p:nvPr/>
        </p:nvSpPr>
        <p:spPr>
          <a:xfrm>
            <a:off x="4019699" y="4067770"/>
            <a:ext cx="4799305"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92400E"/>
                </a:solidFill>
                <a:latin typeface="Arial" pitchFamily="34" charset="0"/>
                <a:ea typeface="Arial" pitchFamily="34" charset="-122"/>
                <a:cs typeface="Arial" pitchFamily="34" charset="-120"/>
              </a:rPr>
              <a:t>DON'T FORGET</a:t>
            </a:r>
            <a:endParaRPr lang="en-US" sz="750" dirty="0"/>
          </a:p>
        </p:txBody>
      </p:sp>
      <p:sp>
        <p:nvSpPr>
          <p:cNvPr id="48" name="Text 46"/>
          <p:cNvSpPr/>
          <p:nvPr/>
        </p:nvSpPr>
        <p:spPr>
          <a:xfrm>
            <a:off x="4019699" y="4239220"/>
            <a:ext cx="4799305" cy="119955"/>
          </a:xfrm>
          <a:prstGeom prst="rect">
            <a:avLst/>
          </a:prstGeom>
          <a:noFill/>
          <a:ln/>
        </p:spPr>
        <p:txBody>
          <a:bodyPr wrap="square" lIns="0" tIns="0" rIns="0" bIns="0" rtlCol="0" anchor="t"/>
          <a:lstStyle/>
          <a:p>
            <a:pPr marL="0" indent="0" algn="l">
              <a:lnSpc>
                <a:spcPts val="945"/>
              </a:lnSpc>
              <a:buNone/>
            </a:pPr>
            <a:r>
              <a:rPr lang="en-US" sz="675" dirty="0">
                <a:solidFill>
                  <a:srgbClr val="92400E"/>
                </a:solidFill>
                <a:latin typeface="Arial" pitchFamily="34" charset="0"/>
                <a:ea typeface="Arial" pitchFamily="34" charset="-122"/>
                <a:cs typeface="Arial" pitchFamily="34" charset="-120"/>
              </a:rPr>
              <a:t>Update README with deployment instructions. Future you (and collaborators) will thank present you.</a:t>
            </a:r>
            <a:endParaRPr lang="en-US" sz="675"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0" y="0"/>
            <a:ext cx="3418731" cy="5143500"/>
          </a:xfrm>
          <a:prstGeom prst="rect">
            <a:avLst/>
          </a:prstGeom>
          <a:solidFill>
            <a:srgbClr val="1A1F2E"/>
          </a:solidFill>
          <a:ln/>
        </p:spPr>
        <p:txBody>
          <a:bodyPr wrap="square" rtlCol="0" anchor="ctr"/>
          <a:lstStyle/>
          <a:p>
            <a:pPr marL="0" indent="0">
              <a:buNone/>
            </a:pPr>
            <a:endParaRPr lang="en-US" dirty="0"/>
          </a:p>
        </p:txBody>
      </p:sp>
      <p:sp>
        <p:nvSpPr>
          <p:cNvPr id="3" name="Text 1"/>
          <p:cNvSpPr/>
          <p:nvPr/>
        </p:nvSpPr>
        <p:spPr>
          <a:xfrm>
            <a:off x="266700" y="288131"/>
            <a:ext cx="648146" cy="182761"/>
          </a:xfrm>
          <a:prstGeom prst="rect">
            <a:avLst/>
          </a:prstGeom>
          <a:solidFill>
            <a:srgbClr val="C9A227"/>
          </a:solidFill>
          <a:ln/>
        </p:spPr>
        <p:txBody>
          <a:bodyPr wrap="square" rtlCol="0" anchor="ctr"/>
          <a:lstStyle/>
          <a:p>
            <a:pPr marL="0" indent="0">
              <a:buNone/>
            </a:pPr>
            <a:endParaRPr lang="en-US" dirty="0"/>
          </a:p>
        </p:txBody>
      </p:sp>
      <p:sp>
        <p:nvSpPr>
          <p:cNvPr id="4" name="Text 2"/>
          <p:cNvSpPr/>
          <p:nvPr/>
        </p:nvSpPr>
        <p:spPr>
          <a:xfrm>
            <a:off x="361950" y="326231"/>
            <a:ext cx="466799" cy="106561"/>
          </a:xfrm>
          <a:prstGeom prst="rect">
            <a:avLst/>
          </a:prstGeom>
          <a:noFill/>
          <a:ln/>
        </p:spPr>
        <p:txBody>
          <a:bodyPr wrap="square" lIns="0" tIns="0" rIns="0" bIns="0" rtlCol="0" anchor="t"/>
          <a:lstStyle/>
          <a:p>
            <a:pPr marL="0" indent="0" algn="l">
              <a:lnSpc>
                <a:spcPts val="840"/>
              </a:lnSpc>
              <a:buNone/>
            </a:pPr>
            <a:r>
              <a:rPr lang="en-US" sz="600" b="1" dirty="0">
                <a:solidFill>
                  <a:srgbClr val="1A1F2E"/>
                </a:solidFill>
                <a:latin typeface="Arial" pitchFamily="34" charset="0"/>
                <a:ea typeface="Arial" pitchFamily="34" charset="-122"/>
                <a:cs typeface="Arial" pitchFamily="34" charset="-120"/>
              </a:rPr>
              <a:t>SUMMARY</a:t>
            </a:r>
            <a:endParaRPr lang="en-US" sz="600" dirty="0"/>
          </a:p>
        </p:txBody>
      </p:sp>
      <p:sp>
        <p:nvSpPr>
          <p:cNvPr id="5" name="Text 3"/>
          <p:cNvSpPr/>
          <p:nvPr/>
        </p:nvSpPr>
        <p:spPr>
          <a:xfrm>
            <a:off x="266700" y="718542"/>
            <a:ext cx="1476756" cy="594122"/>
          </a:xfrm>
          <a:prstGeom prst="rect">
            <a:avLst/>
          </a:prstGeom>
          <a:noFill/>
          <a:ln/>
        </p:spPr>
        <p:txBody>
          <a:bodyPr wrap="square" lIns="0" tIns="0" rIns="0" bIns="0" rtlCol="0" anchor="t"/>
          <a:lstStyle/>
          <a:p>
            <a:pPr marL="0" indent="0" algn="l">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Key</a:t>
            </a:r>
            <a:endParaRPr lang="en-US" sz="1950" dirty="0"/>
          </a:p>
          <a:p>
            <a:pPr marL="0" indent="0" algn="l">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Takeaways</a:t>
            </a:r>
            <a:endParaRPr lang="en-US" sz="1950" dirty="0"/>
          </a:p>
        </p:txBody>
      </p:sp>
      <p:sp>
        <p:nvSpPr>
          <p:cNvPr id="6" name="Text 4"/>
          <p:cNvSpPr/>
          <p:nvPr/>
        </p:nvSpPr>
        <p:spPr>
          <a:xfrm>
            <a:off x="266700" y="1560314"/>
            <a:ext cx="381000" cy="19050"/>
          </a:xfrm>
          <a:prstGeom prst="rect">
            <a:avLst/>
          </a:prstGeom>
          <a:solidFill>
            <a:srgbClr val="C9A227"/>
          </a:solidFill>
          <a:ln/>
        </p:spPr>
        <p:txBody>
          <a:bodyPr wrap="square" rtlCol="0" anchor="ctr"/>
          <a:lstStyle/>
          <a:p>
            <a:pPr marL="0" indent="0">
              <a:buNone/>
            </a:pPr>
            <a:endParaRPr lang="en-US" dirty="0"/>
          </a:p>
        </p:txBody>
      </p:sp>
      <p:sp>
        <p:nvSpPr>
          <p:cNvPr id="7" name="Text 5"/>
          <p:cNvSpPr/>
          <p:nvPr/>
        </p:nvSpPr>
        <p:spPr>
          <a:xfrm>
            <a:off x="266700" y="1846064"/>
            <a:ext cx="2885331" cy="628650"/>
          </a:xfrm>
          <a:prstGeom prst="rect">
            <a:avLst/>
          </a:prstGeom>
          <a:solidFill>
            <a:srgbClr val="C9A227">
              <a:alpha val="15000"/>
            </a:srgbClr>
          </a:solidFill>
          <a:ln/>
        </p:spPr>
        <p:txBody>
          <a:bodyPr wrap="square" rtlCol="0" anchor="ctr"/>
          <a:lstStyle/>
          <a:p>
            <a:pPr marL="0" indent="0">
              <a:buNone/>
            </a:pPr>
            <a:endParaRPr lang="en-US" dirty="0"/>
          </a:p>
        </p:txBody>
      </p:sp>
      <p:sp>
        <p:nvSpPr>
          <p:cNvPr id="8" name="Shape 6"/>
          <p:cNvSpPr/>
          <p:nvPr/>
        </p:nvSpPr>
        <p:spPr>
          <a:xfrm>
            <a:off x="280988" y="1846064"/>
            <a:ext cx="0" cy="628650"/>
          </a:xfrm>
          <a:prstGeom prst="line">
            <a:avLst/>
          </a:prstGeom>
          <a:noFill/>
          <a:ln w="28575">
            <a:solidFill>
              <a:srgbClr val="C9A227"/>
            </a:solidFill>
            <a:prstDash val="solid"/>
          </a:ln>
        </p:spPr>
        <p:txBody>
          <a:bodyPr/>
          <a:lstStyle/>
          <a:p>
            <a:endParaRPr lang="en-US"/>
          </a:p>
        </p:txBody>
      </p:sp>
      <p:sp>
        <p:nvSpPr>
          <p:cNvPr id="9" name="Text 7"/>
          <p:cNvSpPr/>
          <p:nvPr/>
        </p:nvSpPr>
        <p:spPr>
          <a:xfrm>
            <a:off x="390525" y="1941314"/>
            <a:ext cx="2719581"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C9A227"/>
                </a:solidFill>
                <a:latin typeface="Arial" pitchFamily="34" charset="0"/>
                <a:ea typeface="Arial" pitchFamily="34" charset="-122"/>
                <a:cs typeface="Arial" pitchFamily="34" charset="-120"/>
              </a:rPr>
              <a:t>THE BIG IDEA</a:t>
            </a:r>
            <a:endParaRPr lang="en-US" sz="750" dirty="0"/>
          </a:p>
        </p:txBody>
      </p:sp>
      <p:sp>
        <p:nvSpPr>
          <p:cNvPr id="10" name="Text 8"/>
          <p:cNvSpPr/>
          <p:nvPr/>
        </p:nvSpPr>
        <p:spPr>
          <a:xfrm>
            <a:off x="390525" y="2112764"/>
            <a:ext cx="2719581" cy="266700"/>
          </a:xfrm>
          <a:prstGeom prst="rect">
            <a:avLst/>
          </a:prstGeom>
          <a:noFill/>
          <a:ln/>
        </p:spPr>
        <p:txBody>
          <a:bodyPr wrap="square" lIns="0" tIns="0" rIns="0" bIns="0" rtlCol="0" anchor="t"/>
          <a:lstStyle/>
          <a:p>
            <a:pPr marL="0" indent="0" algn="l">
              <a:lnSpc>
                <a:spcPts val="1050"/>
              </a:lnSpc>
              <a:buNone/>
            </a:pPr>
            <a:r>
              <a:rPr lang="en-US" sz="750" dirty="0">
                <a:solidFill>
                  <a:srgbClr val="FFFFFF">
                    <a:alpha val="80000"/>
                  </a:srgbClr>
                </a:solidFill>
                <a:latin typeface="Arial" pitchFamily="34" charset="0"/>
                <a:ea typeface="Arial" pitchFamily="34" charset="-122"/>
                <a:cs typeface="Arial" pitchFamily="34" charset="-120"/>
              </a:rPr>
              <a:t>Structure enables autonomy. The more you invest upfront, the more your agent can do independently.</a:t>
            </a:r>
            <a:endParaRPr lang="en-US" sz="750" dirty="0"/>
          </a:p>
        </p:txBody>
      </p:sp>
      <p:sp>
        <p:nvSpPr>
          <p:cNvPr id="11" name="Text 9"/>
          <p:cNvSpPr/>
          <p:nvPr/>
        </p:nvSpPr>
        <p:spPr>
          <a:xfrm>
            <a:off x="266700" y="2741414"/>
            <a:ext cx="2885331" cy="1028402"/>
          </a:xfrm>
          <a:prstGeom prst="rect">
            <a:avLst/>
          </a:prstGeom>
          <a:solidFill>
            <a:srgbClr val="FFFFFF">
              <a:alpha val="5000"/>
            </a:srgbClr>
          </a:solidFill>
          <a:ln/>
        </p:spPr>
        <p:txBody>
          <a:bodyPr wrap="square" rtlCol="0" anchor="ctr"/>
          <a:lstStyle/>
          <a:p>
            <a:pPr marL="0" indent="0">
              <a:buNone/>
            </a:pPr>
            <a:endParaRPr lang="en-US" dirty="0"/>
          </a:p>
        </p:txBody>
      </p:sp>
      <p:sp>
        <p:nvSpPr>
          <p:cNvPr id="12" name="Text 10"/>
          <p:cNvSpPr/>
          <p:nvPr/>
        </p:nvSpPr>
        <p:spPr>
          <a:xfrm>
            <a:off x="361950" y="2836664"/>
            <a:ext cx="2748727" cy="133350"/>
          </a:xfrm>
          <a:prstGeom prst="rect">
            <a:avLst/>
          </a:prstGeom>
          <a:noFill/>
          <a:ln/>
        </p:spPr>
        <p:txBody>
          <a:bodyPr wrap="square" lIns="0" tIns="0" rIns="0" bIns="0" rtlCol="0" anchor="t"/>
          <a:lstStyle/>
          <a:p>
            <a:pPr marL="0" indent="0" algn="l">
              <a:lnSpc>
                <a:spcPts val="1050"/>
              </a:lnSpc>
              <a:spcAft>
                <a:spcPts val="450"/>
              </a:spcAft>
              <a:buNone/>
            </a:pPr>
            <a:r>
              <a:rPr lang="en-US" sz="750" b="1" dirty="0">
                <a:solidFill>
                  <a:srgbClr val="FFFFFF"/>
                </a:solidFill>
                <a:latin typeface="Arial" pitchFamily="34" charset="0"/>
                <a:ea typeface="Arial" pitchFamily="34" charset="-122"/>
                <a:cs typeface="Arial" pitchFamily="34" charset="-120"/>
              </a:rPr>
              <a:t>THE 10 PHASES</a:t>
            </a:r>
            <a:endParaRPr lang="en-US" sz="750" dirty="0"/>
          </a:p>
        </p:txBody>
      </p:sp>
      <p:sp>
        <p:nvSpPr>
          <p:cNvPr id="13" name="Text 11"/>
          <p:cNvSpPr/>
          <p:nvPr/>
        </p:nvSpPr>
        <p:spPr>
          <a:xfrm>
            <a:off x="361950" y="3027164"/>
            <a:ext cx="2748727" cy="647402"/>
          </a:xfrm>
          <a:prstGeom prst="rect">
            <a:avLst/>
          </a:prstGeom>
          <a:noFill/>
          <a:ln/>
        </p:spPr>
        <p:txBody>
          <a:bodyPr wrap="square" lIns="0" tIns="0" rIns="0" bIns="0" rtlCol="0" anchor="t"/>
          <a:lstStyle/>
          <a:p>
            <a:pPr marL="0" indent="0" algn="l">
              <a:lnSpc>
                <a:spcPts val="1020"/>
              </a:lnSpc>
              <a:buNone/>
            </a:pPr>
            <a:r>
              <a:rPr lang="en-US" sz="600" dirty="0">
                <a:solidFill>
                  <a:srgbClr val="FFFFFF">
                    <a:alpha val="50000"/>
                  </a:srgbClr>
                </a:solidFill>
                <a:latin typeface="Arial" pitchFamily="34" charset="0"/>
                <a:ea typeface="Arial" pitchFamily="34" charset="-122"/>
                <a:cs typeface="Arial" pitchFamily="34" charset="-120"/>
              </a:rPr>
              <a:t>1. GitHub Repo</a:t>
            </a:r>
            <a:endParaRPr lang="en-US" sz="600" dirty="0"/>
          </a:p>
          <a:p>
            <a:pPr marL="0" indent="0" algn="l">
              <a:lnSpc>
                <a:spcPts val="1020"/>
              </a:lnSpc>
              <a:buNone/>
            </a:pPr>
            <a:r>
              <a:rPr lang="en-US" sz="600" dirty="0">
                <a:solidFill>
                  <a:srgbClr val="FFFFFF">
                    <a:alpha val="50000"/>
                  </a:srgbClr>
                </a:solidFill>
                <a:latin typeface="Arial" pitchFamily="34" charset="0"/>
                <a:ea typeface="Arial" pitchFamily="34" charset="-122"/>
                <a:cs typeface="Arial" pitchFamily="34" charset="-120"/>
              </a:rPr>
              <a:t> 2. Brainstorming</a:t>
            </a:r>
            <a:endParaRPr lang="en-US" sz="600" dirty="0"/>
          </a:p>
          <a:p>
            <a:pPr marL="0" indent="0" algn="l">
              <a:lnSpc>
                <a:spcPts val="1020"/>
              </a:lnSpc>
              <a:buNone/>
            </a:pPr>
            <a:r>
              <a:rPr lang="en-US" sz="600" dirty="0">
                <a:solidFill>
                  <a:srgbClr val="FFFFFF">
                    <a:alpha val="50000"/>
                  </a:srgbClr>
                </a:solidFill>
                <a:latin typeface="Arial" pitchFamily="34" charset="0"/>
                <a:ea typeface="Arial" pitchFamily="34" charset="-122"/>
                <a:cs typeface="Arial" pitchFamily="34" charset="-120"/>
              </a:rPr>
              <a:t> 3. Deep Research</a:t>
            </a:r>
            <a:endParaRPr lang="en-US" sz="600" dirty="0"/>
          </a:p>
          <a:p>
            <a:pPr marL="0" indent="0" algn="l">
              <a:lnSpc>
                <a:spcPts val="1020"/>
              </a:lnSpc>
              <a:buNone/>
            </a:pPr>
            <a:r>
              <a:rPr lang="en-US" sz="600" dirty="0">
                <a:solidFill>
                  <a:srgbClr val="FFFFFF">
                    <a:alpha val="50000"/>
                  </a:srgbClr>
                </a:solidFill>
                <a:latin typeface="Arial" pitchFamily="34" charset="0"/>
                <a:ea typeface="Arial" pitchFamily="34" charset="-122"/>
                <a:cs typeface="Arial" pitchFamily="34" charset="-120"/>
              </a:rPr>
              <a:t> 4. Planning Session</a:t>
            </a:r>
            <a:endParaRPr lang="en-US" sz="600" dirty="0"/>
          </a:p>
          <a:p>
            <a:pPr marL="0" indent="0" algn="l">
              <a:lnSpc>
                <a:spcPts val="1020"/>
              </a:lnSpc>
              <a:buNone/>
            </a:pPr>
            <a:r>
              <a:rPr lang="en-US" sz="600" dirty="0">
                <a:solidFill>
                  <a:srgbClr val="FFFFFF">
                    <a:alpha val="50000"/>
                  </a:srgbClr>
                </a:solidFill>
                <a:latin typeface="Arial" pitchFamily="34" charset="0"/>
                <a:ea typeface="Arial" pitchFamily="34" charset="-122"/>
                <a:cs typeface="Arial" pitchFamily="34" charset="-120"/>
              </a:rPr>
              <a:t> 5. MVP Prototype</a:t>
            </a:r>
            <a:endParaRPr lang="en-US" sz="600" dirty="0"/>
          </a:p>
        </p:txBody>
      </p:sp>
      <p:sp>
        <p:nvSpPr>
          <p:cNvPr id="14" name="Text 12"/>
          <p:cNvSpPr/>
          <p:nvPr/>
        </p:nvSpPr>
        <p:spPr>
          <a:xfrm>
            <a:off x="266700" y="4017466"/>
            <a:ext cx="2885331" cy="837902"/>
          </a:xfrm>
          <a:prstGeom prst="rect">
            <a:avLst/>
          </a:prstGeom>
          <a:solidFill>
            <a:srgbClr val="FFFFFF">
              <a:alpha val="5000"/>
            </a:srgbClr>
          </a:solidFill>
          <a:ln/>
        </p:spPr>
        <p:txBody>
          <a:bodyPr wrap="square" rtlCol="0" anchor="ctr"/>
          <a:lstStyle/>
          <a:p>
            <a:pPr marL="0" indent="0">
              <a:buNone/>
            </a:pPr>
            <a:endParaRPr lang="en-US" dirty="0"/>
          </a:p>
        </p:txBody>
      </p:sp>
      <p:sp>
        <p:nvSpPr>
          <p:cNvPr id="15" name="Text 13"/>
          <p:cNvSpPr/>
          <p:nvPr/>
        </p:nvSpPr>
        <p:spPr>
          <a:xfrm>
            <a:off x="361950" y="4112716"/>
            <a:ext cx="2748727" cy="647402"/>
          </a:xfrm>
          <a:prstGeom prst="rect">
            <a:avLst/>
          </a:prstGeom>
          <a:noFill/>
          <a:ln/>
        </p:spPr>
        <p:txBody>
          <a:bodyPr wrap="square" lIns="0" tIns="0" rIns="0" bIns="0" rtlCol="0" anchor="t"/>
          <a:lstStyle/>
          <a:p>
            <a:pPr marL="0" indent="0" algn="l">
              <a:lnSpc>
                <a:spcPts val="1020"/>
              </a:lnSpc>
              <a:buNone/>
            </a:pPr>
            <a:r>
              <a:rPr lang="en-US" sz="600" dirty="0">
                <a:solidFill>
                  <a:srgbClr val="FFFFFF">
                    <a:alpha val="50000"/>
                  </a:srgbClr>
                </a:solidFill>
                <a:latin typeface="Arial" pitchFamily="34" charset="0"/>
                <a:ea typeface="Arial" pitchFamily="34" charset="-122"/>
                <a:cs typeface="Arial" pitchFamily="34" charset="-120"/>
              </a:rPr>
              <a:t>6. Documentation</a:t>
            </a:r>
            <a:endParaRPr lang="en-US" sz="600" dirty="0"/>
          </a:p>
          <a:p>
            <a:pPr marL="0" indent="0" algn="l">
              <a:lnSpc>
                <a:spcPts val="1020"/>
              </a:lnSpc>
              <a:buNone/>
            </a:pPr>
            <a:r>
              <a:rPr lang="en-US" sz="600" dirty="0">
                <a:solidFill>
                  <a:srgbClr val="FFFFFF">
                    <a:alpha val="50000"/>
                  </a:srgbClr>
                </a:solidFill>
                <a:latin typeface="Arial" pitchFamily="34" charset="0"/>
                <a:ea typeface="Arial" pitchFamily="34" charset="-122"/>
                <a:cs typeface="Arial" pitchFamily="34" charset="-120"/>
              </a:rPr>
              <a:t> 7. PRD Creation</a:t>
            </a:r>
            <a:endParaRPr lang="en-US" sz="600" dirty="0"/>
          </a:p>
          <a:p>
            <a:pPr marL="0" indent="0" algn="l">
              <a:lnSpc>
                <a:spcPts val="1020"/>
              </a:lnSpc>
              <a:buNone/>
            </a:pPr>
            <a:r>
              <a:rPr lang="en-US" sz="600" dirty="0">
                <a:solidFill>
                  <a:srgbClr val="FFFFFF">
                    <a:alpha val="50000"/>
                  </a:srgbClr>
                </a:solidFill>
                <a:latin typeface="Arial" pitchFamily="34" charset="0"/>
                <a:ea typeface="Arial" pitchFamily="34" charset="-122"/>
                <a:cs typeface="Arial" pitchFamily="34" charset="-120"/>
              </a:rPr>
              <a:t> 8. Agentic Iteration</a:t>
            </a:r>
            <a:endParaRPr lang="en-US" sz="600" dirty="0"/>
          </a:p>
          <a:p>
            <a:pPr marL="0" indent="0" algn="l">
              <a:lnSpc>
                <a:spcPts val="1020"/>
              </a:lnSpc>
              <a:buNone/>
            </a:pPr>
            <a:r>
              <a:rPr lang="en-US" sz="600" dirty="0">
                <a:solidFill>
                  <a:srgbClr val="FFFFFF">
                    <a:alpha val="50000"/>
                  </a:srgbClr>
                </a:solidFill>
                <a:latin typeface="Arial" pitchFamily="34" charset="0"/>
                <a:ea typeface="Arial" pitchFamily="34" charset="-122"/>
                <a:cs typeface="Arial" pitchFamily="34" charset="-120"/>
              </a:rPr>
              <a:t> 9. Review Cycle</a:t>
            </a:r>
            <a:endParaRPr lang="en-US" sz="600" dirty="0"/>
          </a:p>
          <a:p>
            <a:pPr marL="0" indent="0" algn="l">
              <a:lnSpc>
                <a:spcPts val="1020"/>
              </a:lnSpc>
              <a:buNone/>
            </a:pPr>
            <a:r>
              <a:rPr lang="en-US" sz="600" dirty="0">
                <a:solidFill>
                  <a:srgbClr val="FFFFFF">
                    <a:alpha val="50000"/>
                  </a:srgbClr>
                </a:solidFill>
                <a:latin typeface="Arial" pitchFamily="34" charset="0"/>
                <a:ea typeface="Arial" pitchFamily="34" charset="-122"/>
                <a:cs typeface="Arial" pitchFamily="34" charset="-120"/>
              </a:rPr>
              <a:t> 10. Deployment</a:t>
            </a:r>
            <a:endParaRPr lang="en-US" sz="600" dirty="0"/>
          </a:p>
        </p:txBody>
      </p:sp>
      <p:sp>
        <p:nvSpPr>
          <p:cNvPr id="16" name="Text 14"/>
          <p:cNvSpPr/>
          <p:nvPr/>
        </p:nvSpPr>
        <p:spPr>
          <a:xfrm>
            <a:off x="3571131" y="0"/>
            <a:ext cx="5572869" cy="5143500"/>
          </a:xfrm>
          <a:prstGeom prst="rect">
            <a:avLst/>
          </a:prstGeom>
          <a:solidFill>
            <a:srgbClr val="F7F8FA"/>
          </a:solidFill>
          <a:ln/>
        </p:spPr>
        <p:txBody>
          <a:bodyPr wrap="square" rtlCol="0" anchor="ctr"/>
          <a:lstStyle/>
          <a:p>
            <a:pPr marL="0" indent="0">
              <a:buNone/>
            </a:pPr>
            <a:endParaRPr lang="en-US" dirty="0"/>
          </a:p>
        </p:txBody>
      </p:sp>
      <p:sp>
        <p:nvSpPr>
          <p:cNvPr id="17" name="Text 15"/>
          <p:cNvSpPr/>
          <p:nvPr/>
        </p:nvSpPr>
        <p:spPr>
          <a:xfrm>
            <a:off x="3875931" y="566142"/>
            <a:ext cx="5062535" cy="173236"/>
          </a:xfrm>
          <a:prstGeom prst="rect">
            <a:avLst/>
          </a:prstGeom>
          <a:noFill/>
          <a:ln/>
        </p:spPr>
        <p:txBody>
          <a:bodyPr wrap="square" lIns="0" tIns="0" rIns="0" bIns="0" rtlCol="0" anchor="t"/>
          <a:lstStyle/>
          <a:p>
            <a:pPr marL="0" indent="0" algn="l">
              <a:lnSpc>
                <a:spcPts val="1365"/>
              </a:lnSpc>
              <a:spcAft>
                <a:spcPts val="1050"/>
              </a:spcAft>
              <a:buNone/>
            </a:pPr>
            <a:r>
              <a:rPr lang="en-US" sz="975" b="1" dirty="0">
                <a:solidFill>
                  <a:srgbClr val="1A1F2E"/>
                </a:solidFill>
                <a:latin typeface="Arial" pitchFamily="34" charset="0"/>
                <a:ea typeface="Arial" pitchFamily="34" charset="-122"/>
                <a:cs typeface="Arial" pitchFamily="34" charset="-120"/>
              </a:rPr>
              <a:t>WHAT MAKES THIS WORK</a:t>
            </a:r>
            <a:endParaRPr lang="en-US" sz="975" dirty="0"/>
          </a:p>
        </p:txBody>
      </p:sp>
      <p:sp>
        <p:nvSpPr>
          <p:cNvPr id="18" name="Text 16"/>
          <p:cNvSpPr/>
          <p:nvPr/>
        </p:nvSpPr>
        <p:spPr>
          <a:xfrm>
            <a:off x="3875931" y="1025128"/>
            <a:ext cx="2434084" cy="1068437"/>
          </a:xfrm>
          <a:prstGeom prst="rect">
            <a:avLst/>
          </a:prstGeom>
          <a:solidFill>
            <a:srgbClr val="FFFFFF"/>
          </a:solidFill>
          <a:ln/>
        </p:spPr>
        <p:txBody>
          <a:bodyPr wrap="square" rtlCol="0" anchor="ctr"/>
          <a:lstStyle/>
          <a:p>
            <a:pPr marL="0" indent="0">
              <a:buNone/>
            </a:pPr>
            <a:endParaRPr lang="en-US" dirty="0"/>
          </a:p>
        </p:txBody>
      </p:sp>
      <p:sp>
        <p:nvSpPr>
          <p:cNvPr id="19" name="Shape 17"/>
          <p:cNvSpPr/>
          <p:nvPr/>
        </p:nvSpPr>
        <p:spPr>
          <a:xfrm>
            <a:off x="3890218" y="1025128"/>
            <a:ext cx="0" cy="1068437"/>
          </a:xfrm>
          <a:prstGeom prst="line">
            <a:avLst/>
          </a:prstGeom>
          <a:noFill/>
          <a:ln w="28575">
            <a:solidFill>
              <a:srgbClr val="C9A227"/>
            </a:solidFill>
            <a:prstDash val="solid"/>
          </a:ln>
        </p:spPr>
        <p:txBody>
          <a:bodyPr/>
          <a:lstStyle/>
          <a:p>
            <a:endParaRPr lang="en-US"/>
          </a:p>
        </p:txBody>
      </p:sp>
      <p:sp>
        <p:nvSpPr>
          <p:cNvPr id="20" name="Text 18"/>
          <p:cNvSpPr/>
          <p:nvPr/>
        </p:nvSpPr>
        <p:spPr>
          <a:xfrm>
            <a:off x="4037856" y="1158478"/>
            <a:ext cx="2181585" cy="319980"/>
          </a:xfrm>
          <a:prstGeom prst="rect">
            <a:avLst/>
          </a:prstGeom>
          <a:noFill/>
          <a:ln/>
        </p:spPr>
        <p:txBody>
          <a:bodyPr wrap="square" lIns="0" tIns="0" rIns="0" bIns="0" rtlCol="0" anchor="t"/>
          <a:lstStyle/>
          <a:p>
            <a:pPr marL="0" indent="0" algn="l">
              <a:lnSpc>
                <a:spcPts val="2520"/>
              </a:lnSpc>
              <a:buNone/>
            </a:pPr>
            <a:r>
              <a:rPr lang="en-US" sz="1800" b="1" dirty="0">
                <a:solidFill>
                  <a:srgbClr val="C9A227"/>
                </a:solidFill>
                <a:latin typeface="Arial" pitchFamily="34" charset="0"/>
                <a:ea typeface="Arial" pitchFamily="34" charset="-122"/>
                <a:cs typeface="Arial" pitchFamily="34" charset="-120"/>
              </a:rPr>
              <a:t>1</a:t>
            </a:r>
            <a:endParaRPr lang="en-US" sz="1800" dirty="0"/>
          </a:p>
        </p:txBody>
      </p:sp>
      <p:sp>
        <p:nvSpPr>
          <p:cNvPr id="21" name="Text 19"/>
          <p:cNvSpPr/>
          <p:nvPr/>
        </p:nvSpPr>
        <p:spPr>
          <a:xfrm>
            <a:off x="4037856" y="1535609"/>
            <a:ext cx="2181585" cy="146596"/>
          </a:xfrm>
          <a:prstGeom prst="rect">
            <a:avLst/>
          </a:prstGeom>
          <a:noFill/>
          <a:ln/>
        </p:spPr>
        <p:txBody>
          <a:bodyPr wrap="square" lIns="0" tIns="0" rIns="0" bIns="0" rtlCol="0" anchor="t"/>
          <a:lstStyle/>
          <a:p>
            <a:pPr marL="0" indent="0" algn="l">
              <a:lnSpc>
                <a:spcPts val="1155"/>
              </a:lnSpc>
              <a:spcBef>
                <a:spcPts val="450"/>
              </a:spcBef>
              <a:spcAft>
                <a:spcPts val="300"/>
              </a:spcAft>
              <a:buNone/>
            </a:pPr>
            <a:r>
              <a:rPr lang="en-US" sz="825" b="1" dirty="0">
                <a:solidFill>
                  <a:srgbClr val="1A1F2E"/>
                </a:solidFill>
                <a:latin typeface="Arial" pitchFamily="34" charset="0"/>
                <a:ea typeface="Arial" pitchFamily="34" charset="-122"/>
                <a:cs typeface="Arial" pitchFamily="34" charset="-120"/>
              </a:rPr>
              <a:t>Commit Early &amp; Often</a:t>
            </a:r>
            <a:endParaRPr lang="en-US" sz="825" dirty="0"/>
          </a:p>
        </p:txBody>
      </p:sp>
      <p:sp>
        <p:nvSpPr>
          <p:cNvPr id="22" name="Text 20"/>
          <p:cNvSpPr/>
          <p:nvPr/>
        </p:nvSpPr>
        <p:spPr>
          <a:xfrm>
            <a:off x="4037856" y="1720304"/>
            <a:ext cx="2181585" cy="239911"/>
          </a:xfrm>
          <a:prstGeom prst="rect">
            <a:avLst/>
          </a:prstGeom>
          <a:noFill/>
          <a:ln/>
        </p:spPr>
        <p:txBody>
          <a:bodyPr wrap="square" lIns="0" tIns="0" rIns="0" bIns="0" rtlCol="0" anchor="t"/>
          <a:lstStyle/>
          <a:p>
            <a:pPr marL="0" indent="0" algn="l">
              <a:lnSpc>
                <a:spcPts val="945"/>
              </a:lnSpc>
              <a:buNone/>
            </a:pPr>
            <a:r>
              <a:rPr lang="en-US" sz="675" dirty="0">
                <a:solidFill>
                  <a:srgbClr val="6B7280"/>
                </a:solidFill>
                <a:latin typeface="Arial" pitchFamily="34" charset="0"/>
                <a:ea typeface="Arial" pitchFamily="34" charset="-122"/>
                <a:cs typeface="Arial" pitchFamily="34" charset="-120"/>
              </a:rPr>
              <a:t>Git history is your safety net. Small, frequent commits make everything reversible.</a:t>
            </a:r>
            <a:endParaRPr lang="en-US" sz="675" dirty="0"/>
          </a:p>
        </p:txBody>
      </p:sp>
      <p:sp>
        <p:nvSpPr>
          <p:cNvPr id="23" name="Text 21"/>
          <p:cNvSpPr/>
          <p:nvPr/>
        </p:nvSpPr>
        <p:spPr>
          <a:xfrm>
            <a:off x="6405265" y="1025128"/>
            <a:ext cx="2434084" cy="1068437"/>
          </a:xfrm>
          <a:prstGeom prst="rect">
            <a:avLst/>
          </a:prstGeom>
          <a:solidFill>
            <a:srgbClr val="FFFFFF"/>
          </a:solidFill>
          <a:ln/>
        </p:spPr>
        <p:txBody>
          <a:bodyPr wrap="square" rtlCol="0" anchor="ctr"/>
          <a:lstStyle/>
          <a:p>
            <a:pPr marL="0" indent="0">
              <a:buNone/>
            </a:pPr>
            <a:endParaRPr lang="en-US" dirty="0"/>
          </a:p>
        </p:txBody>
      </p:sp>
      <p:sp>
        <p:nvSpPr>
          <p:cNvPr id="24" name="Shape 22"/>
          <p:cNvSpPr/>
          <p:nvPr/>
        </p:nvSpPr>
        <p:spPr>
          <a:xfrm>
            <a:off x="6419552" y="1025128"/>
            <a:ext cx="0" cy="1068437"/>
          </a:xfrm>
          <a:prstGeom prst="line">
            <a:avLst/>
          </a:prstGeom>
          <a:noFill/>
          <a:ln w="28575">
            <a:solidFill>
              <a:srgbClr val="C9A227"/>
            </a:solidFill>
            <a:prstDash val="solid"/>
          </a:ln>
        </p:spPr>
        <p:txBody>
          <a:bodyPr/>
          <a:lstStyle/>
          <a:p>
            <a:endParaRPr lang="en-US"/>
          </a:p>
        </p:txBody>
      </p:sp>
      <p:sp>
        <p:nvSpPr>
          <p:cNvPr id="25" name="Text 23"/>
          <p:cNvSpPr/>
          <p:nvPr/>
        </p:nvSpPr>
        <p:spPr>
          <a:xfrm>
            <a:off x="6567190" y="1158478"/>
            <a:ext cx="2181585" cy="319980"/>
          </a:xfrm>
          <a:prstGeom prst="rect">
            <a:avLst/>
          </a:prstGeom>
          <a:noFill/>
          <a:ln/>
        </p:spPr>
        <p:txBody>
          <a:bodyPr wrap="square" lIns="0" tIns="0" rIns="0" bIns="0" rtlCol="0" anchor="t"/>
          <a:lstStyle/>
          <a:p>
            <a:pPr marL="0" indent="0" algn="l">
              <a:lnSpc>
                <a:spcPts val="2520"/>
              </a:lnSpc>
              <a:buNone/>
            </a:pPr>
            <a:r>
              <a:rPr lang="en-US" sz="1800" b="1" dirty="0">
                <a:solidFill>
                  <a:srgbClr val="C9A227"/>
                </a:solidFill>
                <a:latin typeface="Arial" pitchFamily="34" charset="0"/>
                <a:ea typeface="Arial" pitchFamily="34" charset="-122"/>
                <a:cs typeface="Arial" pitchFamily="34" charset="-120"/>
              </a:rPr>
              <a:t>2</a:t>
            </a:r>
            <a:endParaRPr lang="en-US" sz="1800" dirty="0"/>
          </a:p>
        </p:txBody>
      </p:sp>
      <p:sp>
        <p:nvSpPr>
          <p:cNvPr id="26" name="Text 24"/>
          <p:cNvSpPr/>
          <p:nvPr/>
        </p:nvSpPr>
        <p:spPr>
          <a:xfrm>
            <a:off x="6567190" y="1535609"/>
            <a:ext cx="2181585" cy="146596"/>
          </a:xfrm>
          <a:prstGeom prst="rect">
            <a:avLst/>
          </a:prstGeom>
          <a:noFill/>
          <a:ln/>
        </p:spPr>
        <p:txBody>
          <a:bodyPr wrap="square" lIns="0" tIns="0" rIns="0" bIns="0" rtlCol="0" anchor="t"/>
          <a:lstStyle/>
          <a:p>
            <a:pPr marL="0" indent="0" algn="l">
              <a:lnSpc>
                <a:spcPts val="1155"/>
              </a:lnSpc>
              <a:spcBef>
                <a:spcPts val="450"/>
              </a:spcBef>
              <a:spcAft>
                <a:spcPts val="300"/>
              </a:spcAft>
              <a:buNone/>
            </a:pPr>
            <a:r>
              <a:rPr lang="en-US" sz="825" b="1" dirty="0">
                <a:solidFill>
                  <a:srgbClr val="1A1F2E"/>
                </a:solidFill>
                <a:latin typeface="Arial" pitchFamily="34" charset="0"/>
                <a:ea typeface="Arial" pitchFamily="34" charset="-122"/>
                <a:cs typeface="Arial" pitchFamily="34" charset="-120"/>
              </a:rPr>
              <a:t>Document Everything</a:t>
            </a:r>
            <a:endParaRPr lang="en-US" sz="825" dirty="0"/>
          </a:p>
        </p:txBody>
      </p:sp>
      <p:sp>
        <p:nvSpPr>
          <p:cNvPr id="27" name="Text 25"/>
          <p:cNvSpPr/>
          <p:nvPr/>
        </p:nvSpPr>
        <p:spPr>
          <a:xfrm>
            <a:off x="6567190" y="1720304"/>
            <a:ext cx="2181585" cy="239911"/>
          </a:xfrm>
          <a:prstGeom prst="rect">
            <a:avLst/>
          </a:prstGeom>
          <a:noFill/>
          <a:ln/>
        </p:spPr>
        <p:txBody>
          <a:bodyPr wrap="square" lIns="0" tIns="0" rIns="0" bIns="0" rtlCol="0" anchor="t"/>
          <a:lstStyle/>
          <a:p>
            <a:pPr marL="0" indent="0" algn="l">
              <a:lnSpc>
                <a:spcPts val="945"/>
              </a:lnSpc>
              <a:buNone/>
            </a:pPr>
            <a:r>
              <a:rPr lang="en-US" sz="675" dirty="0">
                <a:solidFill>
                  <a:srgbClr val="6B7280"/>
                </a:solidFill>
                <a:latin typeface="Arial" pitchFamily="34" charset="0"/>
                <a:ea typeface="Arial" pitchFamily="34" charset="-122"/>
                <a:cs typeface="Arial" pitchFamily="34" charset="-120"/>
              </a:rPr>
              <a:t>Markdown files are context for your agent. The more you document, the smarter it gets.</a:t>
            </a:r>
            <a:endParaRPr lang="en-US" sz="675" dirty="0"/>
          </a:p>
        </p:txBody>
      </p:sp>
      <p:sp>
        <p:nvSpPr>
          <p:cNvPr id="28" name="Text 26"/>
          <p:cNvSpPr/>
          <p:nvPr/>
        </p:nvSpPr>
        <p:spPr>
          <a:xfrm>
            <a:off x="3875931" y="2360265"/>
            <a:ext cx="2434084" cy="1068437"/>
          </a:xfrm>
          <a:prstGeom prst="rect">
            <a:avLst/>
          </a:prstGeom>
          <a:solidFill>
            <a:srgbClr val="FFFFFF"/>
          </a:solidFill>
          <a:ln/>
        </p:spPr>
        <p:txBody>
          <a:bodyPr wrap="square" rtlCol="0" anchor="ctr"/>
          <a:lstStyle/>
          <a:p>
            <a:pPr marL="0" indent="0">
              <a:buNone/>
            </a:pPr>
            <a:endParaRPr lang="en-US" dirty="0"/>
          </a:p>
        </p:txBody>
      </p:sp>
      <p:sp>
        <p:nvSpPr>
          <p:cNvPr id="29" name="Shape 27"/>
          <p:cNvSpPr/>
          <p:nvPr/>
        </p:nvSpPr>
        <p:spPr>
          <a:xfrm>
            <a:off x="3890218" y="2360265"/>
            <a:ext cx="0" cy="1068437"/>
          </a:xfrm>
          <a:prstGeom prst="line">
            <a:avLst/>
          </a:prstGeom>
          <a:noFill/>
          <a:ln w="28575">
            <a:solidFill>
              <a:srgbClr val="C9A227"/>
            </a:solidFill>
            <a:prstDash val="solid"/>
          </a:ln>
        </p:spPr>
        <p:txBody>
          <a:bodyPr/>
          <a:lstStyle/>
          <a:p>
            <a:endParaRPr lang="en-US"/>
          </a:p>
        </p:txBody>
      </p:sp>
      <p:sp>
        <p:nvSpPr>
          <p:cNvPr id="30" name="Text 28"/>
          <p:cNvSpPr/>
          <p:nvPr/>
        </p:nvSpPr>
        <p:spPr>
          <a:xfrm>
            <a:off x="4037856" y="2493615"/>
            <a:ext cx="2181585" cy="319980"/>
          </a:xfrm>
          <a:prstGeom prst="rect">
            <a:avLst/>
          </a:prstGeom>
          <a:noFill/>
          <a:ln/>
        </p:spPr>
        <p:txBody>
          <a:bodyPr wrap="square" lIns="0" tIns="0" rIns="0" bIns="0" rtlCol="0" anchor="t"/>
          <a:lstStyle/>
          <a:p>
            <a:pPr marL="0" indent="0" algn="l">
              <a:lnSpc>
                <a:spcPts val="2520"/>
              </a:lnSpc>
              <a:buNone/>
            </a:pPr>
            <a:r>
              <a:rPr lang="en-US" sz="1800" b="1" dirty="0">
                <a:solidFill>
                  <a:srgbClr val="C9A227"/>
                </a:solidFill>
                <a:latin typeface="Arial" pitchFamily="34" charset="0"/>
                <a:ea typeface="Arial" pitchFamily="34" charset="-122"/>
                <a:cs typeface="Arial" pitchFamily="34" charset="-120"/>
              </a:rPr>
              <a:t>3</a:t>
            </a:r>
            <a:endParaRPr lang="en-US" sz="1800" dirty="0"/>
          </a:p>
        </p:txBody>
      </p:sp>
      <p:sp>
        <p:nvSpPr>
          <p:cNvPr id="31" name="Text 29"/>
          <p:cNvSpPr/>
          <p:nvPr/>
        </p:nvSpPr>
        <p:spPr>
          <a:xfrm>
            <a:off x="4037856" y="2870746"/>
            <a:ext cx="2181585" cy="146596"/>
          </a:xfrm>
          <a:prstGeom prst="rect">
            <a:avLst/>
          </a:prstGeom>
          <a:noFill/>
          <a:ln/>
        </p:spPr>
        <p:txBody>
          <a:bodyPr wrap="square" lIns="0" tIns="0" rIns="0" bIns="0" rtlCol="0" anchor="t"/>
          <a:lstStyle/>
          <a:p>
            <a:pPr marL="0" indent="0" algn="l">
              <a:lnSpc>
                <a:spcPts val="1155"/>
              </a:lnSpc>
              <a:spcBef>
                <a:spcPts val="450"/>
              </a:spcBef>
              <a:spcAft>
                <a:spcPts val="300"/>
              </a:spcAft>
              <a:buNone/>
            </a:pPr>
            <a:r>
              <a:rPr lang="en-US" sz="825" b="1" dirty="0">
                <a:solidFill>
                  <a:srgbClr val="1A1F2E"/>
                </a:solidFill>
                <a:latin typeface="Arial" pitchFamily="34" charset="0"/>
                <a:ea typeface="Arial" pitchFamily="34" charset="-122"/>
                <a:cs typeface="Arial" pitchFamily="34" charset="-120"/>
              </a:rPr>
              <a:t>Voice is Your Interface</a:t>
            </a:r>
            <a:endParaRPr lang="en-US" sz="825" dirty="0"/>
          </a:p>
        </p:txBody>
      </p:sp>
      <p:sp>
        <p:nvSpPr>
          <p:cNvPr id="32" name="Text 30"/>
          <p:cNvSpPr/>
          <p:nvPr/>
        </p:nvSpPr>
        <p:spPr>
          <a:xfrm>
            <a:off x="4037856" y="3055441"/>
            <a:ext cx="2181585" cy="239911"/>
          </a:xfrm>
          <a:prstGeom prst="rect">
            <a:avLst/>
          </a:prstGeom>
          <a:noFill/>
          <a:ln/>
        </p:spPr>
        <p:txBody>
          <a:bodyPr wrap="square" lIns="0" tIns="0" rIns="0" bIns="0" rtlCol="0" anchor="t"/>
          <a:lstStyle/>
          <a:p>
            <a:pPr marL="0" indent="0" algn="l">
              <a:lnSpc>
                <a:spcPts val="945"/>
              </a:lnSpc>
              <a:buNone/>
            </a:pPr>
            <a:r>
              <a:rPr lang="en-US" sz="675" dirty="0">
                <a:solidFill>
                  <a:srgbClr val="6B7280"/>
                </a:solidFill>
                <a:latin typeface="Arial" pitchFamily="34" charset="0"/>
                <a:ea typeface="Arial" pitchFamily="34" charset="-122"/>
                <a:cs typeface="Arial" pitchFamily="34" charset="-120"/>
              </a:rPr>
              <a:t>Speak naturally, give context, be specific. Your voice drives the entire workflow.</a:t>
            </a:r>
            <a:endParaRPr lang="en-US" sz="675" dirty="0"/>
          </a:p>
        </p:txBody>
      </p:sp>
      <p:sp>
        <p:nvSpPr>
          <p:cNvPr id="33" name="Text 31"/>
          <p:cNvSpPr/>
          <p:nvPr/>
        </p:nvSpPr>
        <p:spPr>
          <a:xfrm>
            <a:off x="6405265" y="2360265"/>
            <a:ext cx="2434084" cy="1068437"/>
          </a:xfrm>
          <a:prstGeom prst="rect">
            <a:avLst/>
          </a:prstGeom>
          <a:solidFill>
            <a:srgbClr val="FFFFFF"/>
          </a:solidFill>
          <a:ln/>
        </p:spPr>
        <p:txBody>
          <a:bodyPr wrap="square" rtlCol="0" anchor="ctr"/>
          <a:lstStyle/>
          <a:p>
            <a:pPr marL="0" indent="0">
              <a:buNone/>
            </a:pPr>
            <a:endParaRPr lang="en-US" dirty="0"/>
          </a:p>
        </p:txBody>
      </p:sp>
      <p:sp>
        <p:nvSpPr>
          <p:cNvPr id="34" name="Shape 32"/>
          <p:cNvSpPr/>
          <p:nvPr/>
        </p:nvSpPr>
        <p:spPr>
          <a:xfrm>
            <a:off x="6419552" y="2360265"/>
            <a:ext cx="0" cy="1068437"/>
          </a:xfrm>
          <a:prstGeom prst="line">
            <a:avLst/>
          </a:prstGeom>
          <a:noFill/>
          <a:ln w="28575">
            <a:solidFill>
              <a:srgbClr val="C9A227"/>
            </a:solidFill>
            <a:prstDash val="solid"/>
          </a:ln>
        </p:spPr>
        <p:txBody>
          <a:bodyPr/>
          <a:lstStyle/>
          <a:p>
            <a:endParaRPr lang="en-US"/>
          </a:p>
        </p:txBody>
      </p:sp>
      <p:sp>
        <p:nvSpPr>
          <p:cNvPr id="35" name="Text 33"/>
          <p:cNvSpPr/>
          <p:nvPr/>
        </p:nvSpPr>
        <p:spPr>
          <a:xfrm>
            <a:off x="6567190" y="2493615"/>
            <a:ext cx="2181585" cy="319980"/>
          </a:xfrm>
          <a:prstGeom prst="rect">
            <a:avLst/>
          </a:prstGeom>
          <a:noFill/>
          <a:ln/>
        </p:spPr>
        <p:txBody>
          <a:bodyPr wrap="square" lIns="0" tIns="0" rIns="0" bIns="0" rtlCol="0" anchor="t"/>
          <a:lstStyle/>
          <a:p>
            <a:pPr marL="0" indent="0" algn="l">
              <a:lnSpc>
                <a:spcPts val="2520"/>
              </a:lnSpc>
              <a:buNone/>
            </a:pPr>
            <a:r>
              <a:rPr lang="en-US" sz="1800" b="1" dirty="0">
                <a:solidFill>
                  <a:srgbClr val="C9A227"/>
                </a:solidFill>
                <a:latin typeface="Arial" pitchFamily="34" charset="0"/>
                <a:ea typeface="Arial" pitchFamily="34" charset="-122"/>
                <a:cs typeface="Arial" pitchFamily="34" charset="-120"/>
              </a:rPr>
              <a:t>4</a:t>
            </a:r>
            <a:endParaRPr lang="en-US" sz="1800" dirty="0"/>
          </a:p>
        </p:txBody>
      </p:sp>
      <p:sp>
        <p:nvSpPr>
          <p:cNvPr id="36" name="Text 34"/>
          <p:cNvSpPr/>
          <p:nvPr/>
        </p:nvSpPr>
        <p:spPr>
          <a:xfrm>
            <a:off x="6567190" y="2870746"/>
            <a:ext cx="2181585" cy="146596"/>
          </a:xfrm>
          <a:prstGeom prst="rect">
            <a:avLst/>
          </a:prstGeom>
          <a:noFill/>
          <a:ln/>
        </p:spPr>
        <p:txBody>
          <a:bodyPr wrap="square" lIns="0" tIns="0" rIns="0" bIns="0" rtlCol="0" anchor="t"/>
          <a:lstStyle/>
          <a:p>
            <a:pPr marL="0" indent="0" algn="l">
              <a:lnSpc>
                <a:spcPts val="1155"/>
              </a:lnSpc>
              <a:spcBef>
                <a:spcPts val="450"/>
              </a:spcBef>
              <a:spcAft>
                <a:spcPts val="300"/>
              </a:spcAft>
              <a:buNone/>
            </a:pPr>
            <a:r>
              <a:rPr lang="en-US" sz="825" b="1" dirty="0">
                <a:solidFill>
                  <a:srgbClr val="1A1F2E"/>
                </a:solidFill>
                <a:latin typeface="Arial" pitchFamily="34" charset="0"/>
                <a:ea typeface="Arial" pitchFamily="34" charset="-122"/>
                <a:cs typeface="Arial" pitchFamily="34" charset="-120"/>
              </a:rPr>
              <a:t>Iterate Relentlessly</a:t>
            </a:r>
            <a:endParaRPr lang="en-US" sz="825" dirty="0"/>
          </a:p>
        </p:txBody>
      </p:sp>
      <p:sp>
        <p:nvSpPr>
          <p:cNvPr id="37" name="Text 35"/>
          <p:cNvSpPr/>
          <p:nvPr/>
        </p:nvSpPr>
        <p:spPr>
          <a:xfrm>
            <a:off x="6567190" y="3055441"/>
            <a:ext cx="2181585" cy="239911"/>
          </a:xfrm>
          <a:prstGeom prst="rect">
            <a:avLst/>
          </a:prstGeom>
          <a:noFill/>
          <a:ln/>
        </p:spPr>
        <p:txBody>
          <a:bodyPr wrap="square" lIns="0" tIns="0" rIns="0" bIns="0" rtlCol="0" anchor="t"/>
          <a:lstStyle/>
          <a:p>
            <a:pPr marL="0" indent="0" algn="l">
              <a:lnSpc>
                <a:spcPts val="945"/>
              </a:lnSpc>
              <a:buNone/>
            </a:pPr>
            <a:r>
              <a:rPr lang="en-US" sz="675" dirty="0">
                <a:solidFill>
                  <a:srgbClr val="6B7280"/>
                </a:solidFill>
                <a:latin typeface="Arial" pitchFamily="34" charset="0"/>
                <a:ea typeface="Arial" pitchFamily="34" charset="-122"/>
                <a:cs typeface="Arial" pitchFamily="34" charset="-120"/>
              </a:rPr>
              <a:t>Perfect doesn't exist. Ship early, learn fast, improve continuously.</a:t>
            </a:r>
            <a:endParaRPr lang="en-US" sz="675" dirty="0"/>
          </a:p>
        </p:txBody>
      </p:sp>
      <p:sp>
        <p:nvSpPr>
          <p:cNvPr id="38" name="Text 36"/>
          <p:cNvSpPr/>
          <p:nvPr/>
        </p:nvSpPr>
        <p:spPr>
          <a:xfrm>
            <a:off x="3875931" y="3695402"/>
            <a:ext cx="4963269" cy="881955"/>
          </a:xfrm>
          <a:prstGeom prst="rect">
            <a:avLst/>
          </a:prstGeom>
          <a:solidFill>
            <a:srgbClr val="1A1F2E"/>
          </a:solidFill>
          <a:ln/>
        </p:spPr>
        <p:txBody>
          <a:bodyPr wrap="square" rtlCol="0" anchor="ctr"/>
          <a:lstStyle/>
          <a:p>
            <a:pPr marL="0" indent="0">
              <a:buNone/>
            </a:pPr>
            <a:endParaRPr lang="en-US" dirty="0"/>
          </a:p>
        </p:txBody>
      </p:sp>
      <p:sp>
        <p:nvSpPr>
          <p:cNvPr id="39" name="Text 37"/>
          <p:cNvSpPr/>
          <p:nvPr/>
        </p:nvSpPr>
        <p:spPr>
          <a:xfrm>
            <a:off x="3981746" y="3847802"/>
            <a:ext cx="4751639" cy="186630"/>
          </a:xfrm>
          <a:prstGeom prst="rect">
            <a:avLst/>
          </a:prstGeom>
          <a:noFill/>
          <a:ln/>
        </p:spPr>
        <p:txBody>
          <a:bodyPr wrap="square" lIns="0" tIns="0" rIns="0" bIns="0" rtlCol="0" anchor="t"/>
          <a:lstStyle/>
          <a:p>
            <a:pPr marL="0" indent="0" algn="ctr">
              <a:lnSpc>
                <a:spcPts val="1470"/>
              </a:lnSpc>
              <a:spcAft>
                <a:spcPts val="600"/>
              </a:spcAft>
              <a:buNone/>
            </a:pPr>
            <a:r>
              <a:rPr lang="en-US" sz="1050" b="1" dirty="0">
                <a:solidFill>
                  <a:srgbClr val="C9A227"/>
                </a:solidFill>
                <a:latin typeface="Arial" pitchFamily="34" charset="0"/>
                <a:ea typeface="Arial" pitchFamily="34" charset="-122"/>
                <a:cs typeface="Arial" pitchFamily="34" charset="-120"/>
              </a:rPr>
              <a:t>FROM IDEA TO DEPLOYMENT</a:t>
            </a:r>
            <a:endParaRPr lang="en-US" sz="1050" dirty="0"/>
          </a:p>
        </p:txBody>
      </p:sp>
      <p:sp>
        <p:nvSpPr>
          <p:cNvPr id="40" name="Text 38"/>
          <p:cNvSpPr/>
          <p:nvPr/>
        </p:nvSpPr>
        <p:spPr>
          <a:xfrm>
            <a:off x="3981746" y="4110633"/>
            <a:ext cx="4751639" cy="314325"/>
          </a:xfrm>
          <a:prstGeom prst="rect">
            <a:avLst/>
          </a:prstGeom>
          <a:noFill/>
          <a:ln/>
        </p:spPr>
        <p:txBody>
          <a:bodyPr wrap="square" lIns="0" tIns="0" rIns="0" bIns="0" rtlCol="0" anchor="t"/>
          <a:lstStyle/>
          <a:p>
            <a:pPr marL="0" indent="0" algn="ctr">
              <a:lnSpc>
                <a:spcPts val="1238"/>
              </a:lnSpc>
              <a:buNone/>
            </a:pPr>
            <a:r>
              <a:rPr lang="en-US" sz="825" dirty="0">
                <a:solidFill>
                  <a:srgbClr val="FFFFFF">
                    <a:alpha val="80000"/>
                  </a:srgbClr>
                </a:solidFill>
                <a:latin typeface="Arial" pitchFamily="34" charset="0"/>
                <a:ea typeface="Arial" pitchFamily="34" charset="-122"/>
                <a:cs typeface="Arial" pitchFamily="34" charset="-120"/>
              </a:rPr>
              <a:t>This workflow turns a voice conversation into a shipped product.</a:t>
            </a:r>
            <a:endParaRPr lang="en-US" sz="825" dirty="0"/>
          </a:p>
          <a:p>
            <a:pPr marL="0" indent="0" algn="ctr">
              <a:lnSpc>
                <a:spcPts val="1238"/>
              </a:lnSpc>
              <a:buNone/>
            </a:pPr>
            <a:r>
              <a:rPr lang="en-US" sz="825" dirty="0">
                <a:solidFill>
                  <a:srgbClr val="FFFFFF">
                    <a:alpha val="80000"/>
                  </a:srgbClr>
                </a:solidFill>
                <a:latin typeface="Arial" pitchFamily="34" charset="0"/>
                <a:ea typeface="Arial" pitchFamily="34" charset="-122"/>
                <a:cs typeface="Arial" pitchFamily="34" charset="-120"/>
              </a:rPr>
              <a:t>Your agent does the heavy lifting. You provide the vision.</a:t>
            </a:r>
            <a:endParaRPr lang="en-US" sz="825"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038103" y="1041202"/>
            <a:ext cx="1067794" cy="186630"/>
          </a:xfrm>
          <a:prstGeom prst="rect">
            <a:avLst/>
          </a:prstGeom>
          <a:noFill/>
          <a:ln/>
        </p:spPr>
        <p:txBody>
          <a:bodyPr wrap="square" lIns="0" tIns="0" rIns="0" bIns="0" rtlCol="0" anchor="t"/>
          <a:lstStyle/>
          <a:p>
            <a:pPr marL="0" indent="0" algn="ctr">
              <a:lnSpc>
                <a:spcPts val="1470"/>
              </a:lnSpc>
              <a:spcAft>
                <a:spcPts val="1500"/>
              </a:spcAft>
              <a:buNone/>
            </a:pPr>
            <a:r>
              <a:rPr lang="en-US" sz="1050" dirty="0">
                <a:solidFill>
                  <a:srgbClr val="C9A227"/>
                </a:solidFill>
                <a:latin typeface="Arial" pitchFamily="34" charset="0"/>
                <a:ea typeface="Arial" pitchFamily="34" charset="-122"/>
                <a:cs typeface="Arial" pitchFamily="34" charset="-120"/>
              </a:rPr>
              <a:t>SECTION 9</a:t>
            </a:r>
            <a:endParaRPr lang="en-US" sz="1050" dirty="0"/>
          </a:p>
        </p:txBody>
      </p:sp>
      <p:sp>
        <p:nvSpPr>
          <p:cNvPr id="3" name="Text 1"/>
          <p:cNvSpPr/>
          <p:nvPr/>
        </p:nvSpPr>
        <p:spPr>
          <a:xfrm>
            <a:off x="3375931" y="1570732"/>
            <a:ext cx="2392138" cy="495300"/>
          </a:xfrm>
          <a:prstGeom prst="rect">
            <a:avLst/>
          </a:prstGeom>
          <a:noFill/>
          <a:ln/>
        </p:spPr>
        <p:txBody>
          <a:bodyPr wrap="square" lIns="0" tIns="0" rIns="0" bIns="0" rtlCol="0" anchor="t"/>
          <a:lstStyle/>
          <a:p>
            <a:pPr marL="0" indent="0" algn="ctr">
              <a:lnSpc>
                <a:spcPts val="3900"/>
              </a:lnSpc>
              <a:spcAft>
                <a:spcPts val="1500"/>
              </a:spcAft>
              <a:buNone/>
            </a:pPr>
            <a:r>
              <a:rPr lang="en-US" sz="3900" dirty="0">
                <a:solidFill>
                  <a:srgbClr val="FFFFFF"/>
                </a:solidFill>
                <a:latin typeface="Georgia" pitchFamily="34" charset="0"/>
                <a:ea typeface="Georgia" pitchFamily="34" charset="-122"/>
                <a:cs typeface="Georgia" pitchFamily="34" charset="-120"/>
              </a:rPr>
              <a:t>Next Steps</a:t>
            </a:r>
            <a:endParaRPr lang="en-US" sz="3900" dirty="0"/>
          </a:p>
        </p:txBody>
      </p:sp>
      <p:sp>
        <p:nvSpPr>
          <p:cNvPr id="4" name="Text 2"/>
          <p:cNvSpPr/>
          <p:nvPr/>
        </p:nvSpPr>
        <p:spPr>
          <a:xfrm>
            <a:off x="4191000" y="2408932"/>
            <a:ext cx="762000" cy="28575"/>
          </a:xfrm>
          <a:prstGeom prst="rect">
            <a:avLst/>
          </a:prstGeom>
          <a:solidFill>
            <a:srgbClr val="C9A227"/>
          </a:solidFill>
          <a:ln/>
        </p:spPr>
        <p:txBody>
          <a:bodyPr wrap="square" rtlCol="0" anchor="ctr"/>
          <a:lstStyle/>
          <a:p>
            <a:pPr marL="0" indent="0">
              <a:buNone/>
            </a:pPr>
            <a:endParaRPr lang="en-US" dirty="0"/>
          </a:p>
        </p:txBody>
      </p:sp>
      <p:sp>
        <p:nvSpPr>
          <p:cNvPr id="5" name="Text 3"/>
          <p:cNvSpPr/>
          <p:nvPr/>
        </p:nvSpPr>
        <p:spPr>
          <a:xfrm>
            <a:off x="3808879" y="2818507"/>
            <a:ext cx="1526093" cy="239911"/>
          </a:xfrm>
          <a:prstGeom prst="rect">
            <a:avLst/>
          </a:prstGeom>
          <a:noFill/>
          <a:ln/>
        </p:spPr>
        <p:txBody>
          <a:bodyPr wrap="square" lIns="0" tIns="0" rIns="0" bIns="0" rtlCol="0" anchor="t"/>
          <a:lstStyle/>
          <a:p>
            <a:pPr marL="0" indent="0" algn="ctr">
              <a:lnSpc>
                <a:spcPts val="1890"/>
              </a:lnSpc>
              <a:buNone/>
            </a:pPr>
            <a:r>
              <a:rPr lang="en-US" sz="1350" dirty="0">
                <a:solidFill>
                  <a:srgbClr val="FFFFFF">
                    <a:alpha val="70000"/>
                  </a:srgbClr>
                </a:solidFill>
                <a:latin typeface="Arial" pitchFamily="34" charset="0"/>
                <a:ea typeface="Arial" pitchFamily="34" charset="-122"/>
                <a:cs typeface="Arial" pitchFamily="34" charset="-120"/>
              </a:rPr>
              <a:t>Preparing for Part 2</a:t>
            </a:r>
            <a:endParaRPr lang="en-US" sz="1350" dirty="0"/>
          </a:p>
        </p:txBody>
      </p:sp>
      <p:sp>
        <p:nvSpPr>
          <p:cNvPr id="6" name="Text 4"/>
          <p:cNvSpPr/>
          <p:nvPr/>
        </p:nvSpPr>
        <p:spPr>
          <a:xfrm>
            <a:off x="3968502" y="3591818"/>
            <a:ext cx="1206847" cy="510480"/>
          </a:xfrm>
          <a:prstGeom prst="rect">
            <a:avLst/>
          </a:prstGeom>
          <a:solidFill>
            <a:srgbClr val="C9A227">
              <a:alpha val="15000"/>
            </a:srgbClr>
          </a:solidFill>
          <a:ln w="9525">
            <a:solidFill>
              <a:srgbClr val="C9A227"/>
            </a:solidFill>
          </a:ln>
        </p:spPr>
        <p:txBody>
          <a:bodyPr wrap="square" rtlCol="0" anchor="ctr"/>
          <a:lstStyle/>
          <a:p>
            <a:pPr marL="0" indent="0">
              <a:buNone/>
            </a:pPr>
            <a:endParaRPr lang="en-US" dirty="0"/>
          </a:p>
        </p:txBody>
      </p:sp>
      <p:sp>
        <p:nvSpPr>
          <p:cNvPr id="7" name="Text 5"/>
          <p:cNvSpPr/>
          <p:nvPr/>
        </p:nvSpPr>
        <p:spPr>
          <a:xfrm>
            <a:off x="4277045" y="3753743"/>
            <a:ext cx="589761" cy="186630"/>
          </a:xfrm>
          <a:prstGeom prst="rect">
            <a:avLst/>
          </a:prstGeom>
          <a:noFill/>
          <a:ln/>
        </p:spPr>
        <p:txBody>
          <a:bodyPr wrap="square" lIns="0" tIns="0" rIns="0" bIns="0" rtlCol="0" anchor="t"/>
          <a:lstStyle/>
          <a:p>
            <a:pPr marL="0" indent="0" algn="ctr">
              <a:lnSpc>
                <a:spcPts val="1470"/>
              </a:lnSpc>
              <a:buNone/>
            </a:pPr>
            <a:r>
              <a:rPr lang="en-US" sz="1050" dirty="0">
                <a:solidFill>
                  <a:srgbClr val="C9A227"/>
                </a:solidFill>
                <a:latin typeface="Arial" pitchFamily="34" charset="0"/>
                <a:ea typeface="Arial" pitchFamily="34" charset="-122"/>
                <a:cs typeface="Arial" pitchFamily="34" charset="-120"/>
              </a:rPr>
              <a:t>5 minutes</a:t>
            </a:r>
            <a:endParaRPr lang="en-US" sz="105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3599706" cy="5143500"/>
          </a:xfrm>
          <a:prstGeom prst="rect">
            <a:avLst/>
          </a:prstGeom>
          <a:solidFill>
            <a:srgbClr val="C9A227"/>
          </a:solidFill>
          <a:ln/>
        </p:spPr>
        <p:txBody>
          <a:bodyPr wrap="square" rtlCol="0" anchor="ctr"/>
          <a:lstStyle/>
          <a:p>
            <a:pPr marL="0" indent="0">
              <a:buNone/>
            </a:pPr>
            <a:endParaRPr lang="en-US" dirty="0"/>
          </a:p>
        </p:txBody>
      </p:sp>
      <p:sp>
        <p:nvSpPr>
          <p:cNvPr id="3" name="Text 1"/>
          <p:cNvSpPr/>
          <p:nvPr/>
        </p:nvSpPr>
        <p:spPr>
          <a:xfrm>
            <a:off x="381000" y="1384102"/>
            <a:ext cx="2894460" cy="146596"/>
          </a:xfrm>
          <a:prstGeom prst="rect">
            <a:avLst/>
          </a:prstGeom>
          <a:noFill/>
          <a:ln/>
        </p:spPr>
        <p:txBody>
          <a:bodyPr wrap="square" lIns="0" tIns="0" rIns="0" bIns="0" rtlCol="0" anchor="t"/>
          <a:lstStyle/>
          <a:p>
            <a:pPr marL="0" indent="0" algn="l">
              <a:lnSpc>
                <a:spcPts val="1155"/>
              </a:lnSpc>
              <a:spcAft>
                <a:spcPts val="1200"/>
              </a:spcAft>
              <a:buNone/>
            </a:pPr>
            <a:r>
              <a:rPr lang="en-US" sz="825" dirty="0">
                <a:solidFill>
                  <a:srgbClr val="1A1F2E"/>
                </a:solidFill>
                <a:latin typeface="Arial" pitchFamily="34" charset="0"/>
                <a:ea typeface="Arial" pitchFamily="34" charset="-122"/>
                <a:cs typeface="Arial" pitchFamily="34" charset="-120"/>
              </a:rPr>
              <a:t>HOMEWORK</a:t>
            </a:r>
            <a:endParaRPr lang="en-US" sz="825" dirty="0"/>
          </a:p>
        </p:txBody>
      </p:sp>
      <p:sp>
        <p:nvSpPr>
          <p:cNvPr id="4" name="Text 2"/>
          <p:cNvSpPr/>
          <p:nvPr/>
        </p:nvSpPr>
        <p:spPr>
          <a:xfrm>
            <a:off x="381000" y="1835497"/>
            <a:ext cx="1525334" cy="822722"/>
          </a:xfrm>
          <a:prstGeom prst="rect">
            <a:avLst/>
          </a:prstGeom>
          <a:noFill/>
          <a:ln/>
        </p:spPr>
        <p:txBody>
          <a:bodyPr wrap="square" lIns="0" tIns="0" rIns="0" bIns="0" rtlCol="0" anchor="t"/>
          <a:lstStyle/>
          <a:p>
            <a:pPr marL="0" indent="0" algn="l">
              <a:lnSpc>
                <a:spcPts val="3240"/>
              </a:lnSpc>
              <a:buNone/>
            </a:pPr>
            <a:r>
              <a:rPr lang="en-US" sz="2700" dirty="0">
                <a:solidFill>
                  <a:srgbClr val="1A1F2E"/>
                </a:solidFill>
                <a:latin typeface="Georgia" pitchFamily="34" charset="0"/>
                <a:ea typeface="Georgia" pitchFamily="34" charset="-122"/>
                <a:cs typeface="Georgia" pitchFamily="34" charset="-120"/>
              </a:rPr>
              <a:t>Pre-Work</a:t>
            </a:r>
            <a:endParaRPr lang="en-US" sz="2700" dirty="0"/>
          </a:p>
          <a:p>
            <a:pPr marL="0" indent="0" algn="l">
              <a:lnSpc>
                <a:spcPts val="3240"/>
              </a:lnSpc>
              <a:buNone/>
            </a:pPr>
            <a:r>
              <a:rPr lang="en-US" sz="2700" dirty="0">
                <a:solidFill>
                  <a:srgbClr val="1A1F2E"/>
                </a:solidFill>
                <a:latin typeface="Georgia" pitchFamily="34" charset="0"/>
                <a:ea typeface="Georgia" pitchFamily="34" charset="-122"/>
                <a:cs typeface="Georgia" pitchFamily="34" charset="-120"/>
              </a:rPr>
              <a:t>for Part 2</a:t>
            </a:r>
            <a:endParaRPr lang="en-US" sz="2700" dirty="0"/>
          </a:p>
        </p:txBody>
      </p:sp>
      <p:sp>
        <p:nvSpPr>
          <p:cNvPr id="5" name="Text 3"/>
          <p:cNvSpPr/>
          <p:nvPr/>
        </p:nvSpPr>
        <p:spPr>
          <a:xfrm>
            <a:off x="381000" y="3001119"/>
            <a:ext cx="457200" cy="19050"/>
          </a:xfrm>
          <a:prstGeom prst="rect">
            <a:avLst/>
          </a:prstGeom>
          <a:solidFill>
            <a:srgbClr val="1A1F2E"/>
          </a:solidFill>
          <a:ln/>
        </p:spPr>
        <p:txBody>
          <a:bodyPr wrap="square" rtlCol="0" anchor="ctr"/>
          <a:lstStyle/>
          <a:p>
            <a:pPr marL="0" indent="0">
              <a:buNone/>
            </a:pPr>
            <a:endParaRPr lang="en-US" dirty="0"/>
          </a:p>
        </p:txBody>
      </p:sp>
      <p:sp>
        <p:nvSpPr>
          <p:cNvPr id="6" name="Text 4"/>
          <p:cNvSpPr/>
          <p:nvPr/>
        </p:nvSpPr>
        <p:spPr>
          <a:xfrm>
            <a:off x="381000" y="3363069"/>
            <a:ext cx="2894460" cy="396180"/>
          </a:xfrm>
          <a:prstGeom prst="rect">
            <a:avLst/>
          </a:prstGeom>
          <a:noFill/>
          <a:ln/>
        </p:spPr>
        <p:txBody>
          <a:bodyPr wrap="square" lIns="0" tIns="0" rIns="0" bIns="0" rtlCol="0" anchor="t"/>
          <a:lstStyle/>
          <a:p>
            <a:pPr marL="0" indent="0" algn="l">
              <a:lnSpc>
                <a:spcPts val="1560"/>
              </a:lnSpc>
              <a:buNone/>
            </a:pPr>
            <a:r>
              <a:rPr lang="en-US" sz="975" dirty="0">
                <a:solidFill>
                  <a:srgbClr val="1A1F2E">
                    <a:alpha val="70000"/>
                  </a:srgbClr>
                </a:solidFill>
                <a:latin typeface="Arial" pitchFamily="34" charset="0"/>
                <a:ea typeface="Arial" pitchFamily="34" charset="-122"/>
                <a:cs typeface="Arial" pitchFamily="34" charset="-120"/>
              </a:rPr>
              <a:t>Complete these before our next session for the best hands-on experience.</a:t>
            </a:r>
            <a:endParaRPr lang="en-US" sz="975" dirty="0"/>
          </a:p>
        </p:txBody>
      </p:sp>
      <p:sp>
        <p:nvSpPr>
          <p:cNvPr id="7" name="Text 5"/>
          <p:cNvSpPr/>
          <p:nvPr/>
        </p:nvSpPr>
        <p:spPr>
          <a:xfrm>
            <a:off x="3752106" y="0"/>
            <a:ext cx="5391894" cy="5143500"/>
          </a:xfrm>
          <a:prstGeom prst="rect">
            <a:avLst/>
          </a:prstGeom>
          <a:solidFill>
            <a:srgbClr val="F7F8FA"/>
          </a:solidFill>
          <a:ln/>
        </p:spPr>
        <p:txBody>
          <a:bodyPr wrap="square" rtlCol="0" anchor="ctr"/>
          <a:lstStyle/>
          <a:p>
            <a:pPr marL="0" indent="0">
              <a:buNone/>
            </a:pPr>
            <a:endParaRPr lang="en-US" dirty="0"/>
          </a:p>
        </p:txBody>
      </p:sp>
      <p:sp>
        <p:nvSpPr>
          <p:cNvPr id="8" name="Text 6"/>
          <p:cNvSpPr/>
          <p:nvPr/>
        </p:nvSpPr>
        <p:spPr>
          <a:xfrm>
            <a:off x="4133106" y="805309"/>
            <a:ext cx="4629894" cy="634157"/>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9" name="Text 7"/>
          <p:cNvSpPr/>
          <p:nvPr/>
        </p:nvSpPr>
        <p:spPr>
          <a:xfrm>
            <a:off x="4314081" y="988963"/>
            <a:ext cx="266700" cy="266700"/>
          </a:xfrm>
          <a:prstGeom prst="rect">
            <a:avLst/>
          </a:prstGeom>
          <a:solidFill>
            <a:srgbClr val="1A1F2E"/>
          </a:solidFill>
          <a:ln/>
        </p:spPr>
        <p:txBody>
          <a:bodyPr wrap="square" rtlCol="0" anchor="ctr"/>
          <a:lstStyle/>
          <a:p>
            <a:pPr marL="0" indent="0">
              <a:buNone/>
            </a:pPr>
            <a:endParaRPr lang="en-US" dirty="0"/>
          </a:p>
        </p:txBody>
      </p:sp>
      <p:sp>
        <p:nvSpPr>
          <p:cNvPr id="10" name="Text 8"/>
          <p:cNvSpPr/>
          <p:nvPr/>
        </p:nvSpPr>
        <p:spPr>
          <a:xfrm>
            <a:off x="4415582" y="1042243"/>
            <a:ext cx="64972" cy="159990"/>
          </a:xfrm>
          <a:prstGeom prst="rect">
            <a:avLst/>
          </a:prstGeom>
          <a:noFill/>
          <a:ln/>
        </p:spPr>
        <p:txBody>
          <a:bodyPr wrap="square" lIns="0" tIns="0" rIns="0" bIns="0" rtlCol="0" anchor="t"/>
          <a:lstStyle/>
          <a:p>
            <a:pPr marL="0" indent="0" algn="l">
              <a:lnSpc>
                <a:spcPts val="1260"/>
              </a:lnSpc>
              <a:buNone/>
            </a:pPr>
            <a:r>
              <a:rPr lang="en-US" sz="900" b="1" dirty="0">
                <a:solidFill>
                  <a:srgbClr val="FFFFFF"/>
                </a:solidFill>
                <a:latin typeface="Arial" pitchFamily="34" charset="0"/>
                <a:ea typeface="Arial" pitchFamily="34" charset="-122"/>
                <a:cs typeface="Arial" pitchFamily="34" charset="-120"/>
              </a:rPr>
              <a:t>1</a:t>
            </a:r>
            <a:endParaRPr lang="en-US" sz="900" dirty="0"/>
          </a:p>
        </p:txBody>
      </p:sp>
      <p:sp>
        <p:nvSpPr>
          <p:cNvPr id="11" name="Text 9"/>
          <p:cNvSpPr/>
          <p:nvPr/>
        </p:nvSpPr>
        <p:spPr>
          <a:xfrm>
            <a:off x="4866531" y="948184"/>
            <a:ext cx="2571571" cy="173236"/>
          </a:xfrm>
          <a:prstGeom prst="rect">
            <a:avLst/>
          </a:prstGeom>
          <a:noFill/>
          <a:ln/>
        </p:spPr>
        <p:txBody>
          <a:bodyPr wrap="square" lIns="0" tIns="0" rIns="0" bIns="0" rtlCol="0" anchor="t"/>
          <a:lstStyle/>
          <a:p>
            <a:pPr marL="0" indent="0" algn="l">
              <a:lnSpc>
                <a:spcPts val="1365"/>
              </a:lnSpc>
              <a:buNone/>
            </a:pPr>
            <a:r>
              <a:rPr lang="en-US" sz="975" b="1" dirty="0">
                <a:solidFill>
                  <a:srgbClr val="1A1F2E"/>
                </a:solidFill>
                <a:latin typeface="Arial" pitchFamily="34" charset="0"/>
                <a:ea typeface="Arial" pitchFamily="34" charset="-122"/>
                <a:cs typeface="Arial" pitchFamily="34" charset="-120"/>
              </a:rPr>
              <a:t>Install your voice tool</a:t>
            </a:r>
            <a:endParaRPr lang="en-US" sz="975" dirty="0"/>
          </a:p>
        </p:txBody>
      </p:sp>
      <p:sp>
        <p:nvSpPr>
          <p:cNvPr id="12" name="Text 10"/>
          <p:cNvSpPr/>
          <p:nvPr/>
        </p:nvSpPr>
        <p:spPr>
          <a:xfrm>
            <a:off x="4866531" y="1149995"/>
            <a:ext cx="2571571" cy="146596"/>
          </a:xfrm>
          <a:prstGeom prst="rect">
            <a:avLst/>
          </a:prstGeom>
          <a:noFill/>
          <a:ln/>
        </p:spPr>
        <p:txBody>
          <a:bodyPr wrap="square" lIns="0" tIns="0" rIns="0" bIns="0" rtlCol="0" anchor="t"/>
          <a:lstStyle/>
          <a:p>
            <a:pPr marL="0" indent="0" algn="l">
              <a:lnSpc>
                <a:spcPts val="1155"/>
              </a:lnSpc>
              <a:spcBef>
                <a:spcPts val="225"/>
              </a:spcBef>
              <a:buNone/>
            </a:pPr>
            <a:r>
              <a:rPr lang="en-US" sz="825" dirty="0">
                <a:solidFill>
                  <a:srgbClr val="6B7280"/>
                </a:solidFill>
                <a:latin typeface="Arial" pitchFamily="34" charset="0"/>
                <a:ea typeface="Arial" pitchFamily="34" charset="-122"/>
                <a:cs typeface="Arial" pitchFamily="34" charset="-120"/>
              </a:rPr>
              <a:t>SuperWhisper (Mac) or WhisperFlow (Windows/Linux)</a:t>
            </a:r>
            <a:endParaRPr lang="en-US" sz="825" dirty="0"/>
          </a:p>
        </p:txBody>
      </p:sp>
      <p:sp>
        <p:nvSpPr>
          <p:cNvPr id="13" name="Text 11"/>
          <p:cNvSpPr/>
          <p:nvPr/>
        </p:nvSpPr>
        <p:spPr>
          <a:xfrm>
            <a:off x="4133106" y="1534716"/>
            <a:ext cx="4629894" cy="634157"/>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14" name="Text 12"/>
          <p:cNvSpPr/>
          <p:nvPr/>
        </p:nvSpPr>
        <p:spPr>
          <a:xfrm>
            <a:off x="4314081" y="1718370"/>
            <a:ext cx="266700" cy="266700"/>
          </a:xfrm>
          <a:prstGeom prst="rect">
            <a:avLst/>
          </a:prstGeom>
          <a:solidFill>
            <a:srgbClr val="1A1F2E"/>
          </a:solidFill>
          <a:ln/>
        </p:spPr>
        <p:txBody>
          <a:bodyPr wrap="square" rtlCol="0" anchor="ctr"/>
          <a:lstStyle/>
          <a:p>
            <a:pPr marL="0" indent="0">
              <a:buNone/>
            </a:pPr>
            <a:endParaRPr lang="en-US" dirty="0"/>
          </a:p>
        </p:txBody>
      </p:sp>
      <p:sp>
        <p:nvSpPr>
          <p:cNvPr id="15" name="Text 13"/>
          <p:cNvSpPr/>
          <p:nvPr/>
        </p:nvSpPr>
        <p:spPr>
          <a:xfrm>
            <a:off x="4415582" y="1771650"/>
            <a:ext cx="64972" cy="159990"/>
          </a:xfrm>
          <a:prstGeom prst="rect">
            <a:avLst/>
          </a:prstGeom>
          <a:noFill/>
          <a:ln/>
        </p:spPr>
        <p:txBody>
          <a:bodyPr wrap="square" lIns="0" tIns="0" rIns="0" bIns="0" rtlCol="0" anchor="t"/>
          <a:lstStyle/>
          <a:p>
            <a:pPr marL="0" indent="0" algn="l">
              <a:lnSpc>
                <a:spcPts val="1260"/>
              </a:lnSpc>
              <a:buNone/>
            </a:pPr>
            <a:r>
              <a:rPr lang="en-US" sz="900" b="1" dirty="0">
                <a:solidFill>
                  <a:srgbClr val="FFFFFF"/>
                </a:solidFill>
                <a:latin typeface="Arial" pitchFamily="34" charset="0"/>
                <a:ea typeface="Arial" pitchFamily="34" charset="-122"/>
                <a:cs typeface="Arial" pitchFamily="34" charset="-120"/>
              </a:rPr>
              <a:t>2</a:t>
            </a:r>
            <a:endParaRPr lang="en-US" sz="900" dirty="0"/>
          </a:p>
        </p:txBody>
      </p:sp>
      <p:sp>
        <p:nvSpPr>
          <p:cNvPr id="16" name="Text 14"/>
          <p:cNvSpPr/>
          <p:nvPr/>
        </p:nvSpPr>
        <p:spPr>
          <a:xfrm>
            <a:off x="4866531" y="1677591"/>
            <a:ext cx="1944163" cy="173236"/>
          </a:xfrm>
          <a:prstGeom prst="rect">
            <a:avLst/>
          </a:prstGeom>
          <a:noFill/>
          <a:ln/>
        </p:spPr>
        <p:txBody>
          <a:bodyPr wrap="square" lIns="0" tIns="0" rIns="0" bIns="0" rtlCol="0" anchor="t"/>
          <a:lstStyle/>
          <a:p>
            <a:pPr marL="0" indent="0" algn="l">
              <a:lnSpc>
                <a:spcPts val="1365"/>
              </a:lnSpc>
              <a:buNone/>
            </a:pPr>
            <a:r>
              <a:rPr lang="en-US" sz="975" b="1" dirty="0">
                <a:solidFill>
                  <a:srgbClr val="1A1F2E"/>
                </a:solidFill>
                <a:latin typeface="Arial" pitchFamily="34" charset="0"/>
                <a:ea typeface="Arial" pitchFamily="34" charset="-122"/>
                <a:cs typeface="Arial" pitchFamily="34" charset="-120"/>
              </a:rPr>
              <a:t>Install Claude Code</a:t>
            </a:r>
            <a:endParaRPr lang="en-US" sz="975" dirty="0"/>
          </a:p>
        </p:txBody>
      </p:sp>
      <p:sp>
        <p:nvSpPr>
          <p:cNvPr id="17" name="Text 15"/>
          <p:cNvSpPr/>
          <p:nvPr/>
        </p:nvSpPr>
        <p:spPr>
          <a:xfrm>
            <a:off x="4866531" y="1879402"/>
            <a:ext cx="1944163" cy="146596"/>
          </a:xfrm>
          <a:prstGeom prst="rect">
            <a:avLst/>
          </a:prstGeom>
          <a:noFill/>
          <a:ln/>
        </p:spPr>
        <p:txBody>
          <a:bodyPr wrap="square" lIns="0" tIns="0" rIns="0" bIns="0" rtlCol="0" anchor="t"/>
          <a:lstStyle/>
          <a:p>
            <a:pPr marL="0" indent="0" algn="l">
              <a:lnSpc>
                <a:spcPts val="1155"/>
              </a:lnSpc>
              <a:spcBef>
                <a:spcPts val="225"/>
              </a:spcBef>
              <a:buNone/>
            </a:pPr>
            <a:r>
              <a:rPr lang="en-US" sz="825" dirty="0">
                <a:solidFill>
                  <a:srgbClr val="6B7280"/>
                </a:solidFill>
                <a:latin typeface="Arial" pitchFamily="34" charset="0"/>
                <a:ea typeface="Arial" pitchFamily="34" charset="-122"/>
                <a:cs typeface="Arial" pitchFamily="34" charset="-120"/>
              </a:rPr>
              <a:t>npm install -g @anthropic-ai/claude-code</a:t>
            </a:r>
            <a:endParaRPr lang="en-US" sz="825" dirty="0"/>
          </a:p>
        </p:txBody>
      </p:sp>
      <p:sp>
        <p:nvSpPr>
          <p:cNvPr id="18" name="Text 16"/>
          <p:cNvSpPr/>
          <p:nvPr/>
        </p:nvSpPr>
        <p:spPr>
          <a:xfrm>
            <a:off x="4133106" y="2264122"/>
            <a:ext cx="4629894" cy="634157"/>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19" name="Text 17"/>
          <p:cNvSpPr/>
          <p:nvPr/>
        </p:nvSpPr>
        <p:spPr>
          <a:xfrm>
            <a:off x="4314081" y="2447776"/>
            <a:ext cx="266700" cy="266700"/>
          </a:xfrm>
          <a:prstGeom prst="rect">
            <a:avLst/>
          </a:prstGeom>
          <a:solidFill>
            <a:srgbClr val="1A1F2E"/>
          </a:solidFill>
          <a:ln/>
        </p:spPr>
        <p:txBody>
          <a:bodyPr wrap="square" rtlCol="0" anchor="ctr"/>
          <a:lstStyle/>
          <a:p>
            <a:pPr marL="0" indent="0">
              <a:buNone/>
            </a:pPr>
            <a:endParaRPr lang="en-US" dirty="0"/>
          </a:p>
        </p:txBody>
      </p:sp>
      <p:sp>
        <p:nvSpPr>
          <p:cNvPr id="20" name="Text 18"/>
          <p:cNvSpPr/>
          <p:nvPr/>
        </p:nvSpPr>
        <p:spPr>
          <a:xfrm>
            <a:off x="4415582" y="2501057"/>
            <a:ext cx="64972" cy="159990"/>
          </a:xfrm>
          <a:prstGeom prst="rect">
            <a:avLst/>
          </a:prstGeom>
          <a:noFill/>
          <a:ln/>
        </p:spPr>
        <p:txBody>
          <a:bodyPr wrap="square" lIns="0" tIns="0" rIns="0" bIns="0" rtlCol="0" anchor="t"/>
          <a:lstStyle/>
          <a:p>
            <a:pPr marL="0" indent="0" algn="l">
              <a:lnSpc>
                <a:spcPts val="1260"/>
              </a:lnSpc>
              <a:buNone/>
            </a:pPr>
            <a:r>
              <a:rPr lang="en-US" sz="900" b="1" dirty="0">
                <a:solidFill>
                  <a:srgbClr val="FFFFFF"/>
                </a:solidFill>
                <a:latin typeface="Arial" pitchFamily="34" charset="0"/>
                <a:ea typeface="Arial" pitchFamily="34" charset="-122"/>
                <a:cs typeface="Arial" pitchFamily="34" charset="-120"/>
              </a:rPr>
              <a:t>3</a:t>
            </a:r>
            <a:endParaRPr lang="en-US" sz="900" dirty="0"/>
          </a:p>
        </p:txBody>
      </p:sp>
      <p:sp>
        <p:nvSpPr>
          <p:cNvPr id="21" name="Text 19"/>
          <p:cNvSpPr/>
          <p:nvPr/>
        </p:nvSpPr>
        <p:spPr>
          <a:xfrm>
            <a:off x="4866531" y="2406997"/>
            <a:ext cx="2352669" cy="173236"/>
          </a:xfrm>
          <a:prstGeom prst="rect">
            <a:avLst/>
          </a:prstGeom>
          <a:noFill/>
          <a:ln/>
        </p:spPr>
        <p:txBody>
          <a:bodyPr wrap="square" lIns="0" tIns="0" rIns="0" bIns="0" rtlCol="0" anchor="t"/>
          <a:lstStyle/>
          <a:p>
            <a:pPr marL="0" indent="0" algn="l">
              <a:lnSpc>
                <a:spcPts val="1365"/>
              </a:lnSpc>
              <a:buNone/>
            </a:pPr>
            <a:r>
              <a:rPr lang="en-US" sz="975" b="1" dirty="0">
                <a:solidFill>
                  <a:srgbClr val="1A1F2E"/>
                </a:solidFill>
                <a:latin typeface="Arial" pitchFamily="34" charset="0"/>
                <a:ea typeface="Arial" pitchFamily="34" charset="-122"/>
                <a:cs typeface="Arial" pitchFamily="34" charset="-120"/>
              </a:rPr>
              <a:t>Set up authentication</a:t>
            </a:r>
            <a:endParaRPr lang="en-US" sz="975" dirty="0"/>
          </a:p>
        </p:txBody>
      </p:sp>
      <p:sp>
        <p:nvSpPr>
          <p:cNvPr id="22" name="Text 20"/>
          <p:cNvSpPr/>
          <p:nvPr/>
        </p:nvSpPr>
        <p:spPr>
          <a:xfrm>
            <a:off x="4866531" y="2608808"/>
            <a:ext cx="2352669" cy="146596"/>
          </a:xfrm>
          <a:prstGeom prst="rect">
            <a:avLst/>
          </a:prstGeom>
          <a:noFill/>
          <a:ln/>
        </p:spPr>
        <p:txBody>
          <a:bodyPr wrap="square" lIns="0" tIns="0" rIns="0" bIns="0" rtlCol="0" anchor="t"/>
          <a:lstStyle/>
          <a:p>
            <a:pPr marL="0" indent="0" algn="l">
              <a:lnSpc>
                <a:spcPts val="1155"/>
              </a:lnSpc>
              <a:spcBef>
                <a:spcPts val="225"/>
              </a:spcBef>
              <a:buNone/>
            </a:pPr>
            <a:r>
              <a:rPr lang="en-US" sz="825" dirty="0">
                <a:solidFill>
                  <a:srgbClr val="6B7280"/>
                </a:solidFill>
                <a:latin typeface="Arial" pitchFamily="34" charset="0"/>
                <a:ea typeface="Arial" pitchFamily="34" charset="-122"/>
                <a:cs typeface="Arial" pitchFamily="34" charset="-120"/>
              </a:rPr>
              <a:t>Run claude and complete OAuth or API key setup</a:t>
            </a:r>
            <a:endParaRPr lang="en-US" sz="825" dirty="0"/>
          </a:p>
        </p:txBody>
      </p:sp>
      <p:sp>
        <p:nvSpPr>
          <p:cNvPr id="23" name="Text 21"/>
          <p:cNvSpPr/>
          <p:nvPr/>
        </p:nvSpPr>
        <p:spPr>
          <a:xfrm>
            <a:off x="4133106" y="2993529"/>
            <a:ext cx="4629894" cy="634157"/>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24" name="Text 22"/>
          <p:cNvSpPr/>
          <p:nvPr/>
        </p:nvSpPr>
        <p:spPr>
          <a:xfrm>
            <a:off x="4314081" y="3177183"/>
            <a:ext cx="266700" cy="266700"/>
          </a:xfrm>
          <a:prstGeom prst="rect">
            <a:avLst/>
          </a:prstGeom>
          <a:solidFill>
            <a:srgbClr val="1A1F2E"/>
          </a:solidFill>
          <a:ln/>
        </p:spPr>
        <p:txBody>
          <a:bodyPr wrap="square" rtlCol="0" anchor="ctr"/>
          <a:lstStyle/>
          <a:p>
            <a:pPr marL="0" indent="0">
              <a:buNone/>
            </a:pPr>
            <a:endParaRPr lang="en-US" dirty="0"/>
          </a:p>
        </p:txBody>
      </p:sp>
      <p:sp>
        <p:nvSpPr>
          <p:cNvPr id="25" name="Text 23"/>
          <p:cNvSpPr/>
          <p:nvPr/>
        </p:nvSpPr>
        <p:spPr>
          <a:xfrm>
            <a:off x="4415582" y="3230463"/>
            <a:ext cx="64972" cy="159990"/>
          </a:xfrm>
          <a:prstGeom prst="rect">
            <a:avLst/>
          </a:prstGeom>
          <a:noFill/>
          <a:ln/>
        </p:spPr>
        <p:txBody>
          <a:bodyPr wrap="square" lIns="0" tIns="0" rIns="0" bIns="0" rtlCol="0" anchor="t"/>
          <a:lstStyle/>
          <a:p>
            <a:pPr marL="0" indent="0" algn="l">
              <a:lnSpc>
                <a:spcPts val="1260"/>
              </a:lnSpc>
              <a:buNone/>
            </a:pPr>
            <a:r>
              <a:rPr lang="en-US" sz="900" b="1" dirty="0">
                <a:solidFill>
                  <a:srgbClr val="FFFFFF"/>
                </a:solidFill>
                <a:latin typeface="Arial" pitchFamily="34" charset="0"/>
                <a:ea typeface="Arial" pitchFamily="34" charset="-122"/>
                <a:cs typeface="Arial" pitchFamily="34" charset="-120"/>
              </a:rPr>
              <a:t>4</a:t>
            </a:r>
            <a:endParaRPr lang="en-US" sz="900" dirty="0"/>
          </a:p>
        </p:txBody>
      </p:sp>
      <p:sp>
        <p:nvSpPr>
          <p:cNvPr id="26" name="Text 24"/>
          <p:cNvSpPr/>
          <p:nvPr/>
        </p:nvSpPr>
        <p:spPr>
          <a:xfrm>
            <a:off x="4866531" y="3136404"/>
            <a:ext cx="2031754" cy="173236"/>
          </a:xfrm>
          <a:prstGeom prst="rect">
            <a:avLst/>
          </a:prstGeom>
          <a:noFill/>
          <a:ln/>
        </p:spPr>
        <p:txBody>
          <a:bodyPr wrap="square" lIns="0" tIns="0" rIns="0" bIns="0" rtlCol="0" anchor="t"/>
          <a:lstStyle/>
          <a:p>
            <a:pPr marL="0" indent="0" algn="l">
              <a:lnSpc>
                <a:spcPts val="1365"/>
              </a:lnSpc>
              <a:buNone/>
            </a:pPr>
            <a:r>
              <a:rPr lang="en-US" sz="975" b="1" dirty="0">
                <a:solidFill>
                  <a:srgbClr val="1A1F2E"/>
                </a:solidFill>
                <a:latin typeface="Arial" pitchFamily="34" charset="0"/>
                <a:ea typeface="Arial" pitchFamily="34" charset="-122"/>
                <a:cs typeface="Arial" pitchFamily="34" charset="-120"/>
              </a:rPr>
              <a:t>Have a project ready</a:t>
            </a:r>
            <a:endParaRPr lang="en-US" sz="975" dirty="0"/>
          </a:p>
        </p:txBody>
      </p:sp>
      <p:sp>
        <p:nvSpPr>
          <p:cNvPr id="27" name="Text 25"/>
          <p:cNvSpPr/>
          <p:nvPr/>
        </p:nvSpPr>
        <p:spPr>
          <a:xfrm>
            <a:off x="4866531" y="3338215"/>
            <a:ext cx="2031754" cy="146596"/>
          </a:xfrm>
          <a:prstGeom prst="rect">
            <a:avLst/>
          </a:prstGeom>
          <a:noFill/>
          <a:ln/>
        </p:spPr>
        <p:txBody>
          <a:bodyPr wrap="square" lIns="0" tIns="0" rIns="0" bIns="0" rtlCol="0" anchor="t"/>
          <a:lstStyle/>
          <a:p>
            <a:pPr marL="0" indent="0" algn="l">
              <a:lnSpc>
                <a:spcPts val="1155"/>
              </a:lnSpc>
              <a:spcBef>
                <a:spcPts val="225"/>
              </a:spcBef>
              <a:buNone/>
            </a:pPr>
            <a:r>
              <a:rPr lang="en-US" sz="825" dirty="0">
                <a:solidFill>
                  <a:srgbClr val="6B7280"/>
                </a:solidFill>
                <a:latin typeface="Arial" pitchFamily="34" charset="0"/>
                <a:ea typeface="Arial" pitchFamily="34" charset="-122"/>
                <a:cs typeface="Arial" pitchFamily="34" charset="-120"/>
              </a:rPr>
              <a:t>Any codebase you want to experiment with</a:t>
            </a:r>
            <a:endParaRPr lang="en-US" sz="825" dirty="0"/>
          </a:p>
        </p:txBody>
      </p:sp>
      <p:sp>
        <p:nvSpPr>
          <p:cNvPr id="28" name="Text 26"/>
          <p:cNvSpPr/>
          <p:nvPr/>
        </p:nvSpPr>
        <p:spPr>
          <a:xfrm>
            <a:off x="4133106" y="3722936"/>
            <a:ext cx="4629894" cy="615107"/>
          </a:xfrm>
          <a:prstGeom prst="rect">
            <a:avLst/>
          </a:prstGeom>
          <a:solidFill>
            <a:srgbClr val="1A1F2E"/>
          </a:solidFill>
          <a:ln/>
        </p:spPr>
        <p:txBody>
          <a:bodyPr wrap="square" rtlCol="0" anchor="ctr"/>
          <a:lstStyle/>
          <a:p>
            <a:pPr marL="0" indent="0">
              <a:buNone/>
            </a:pPr>
            <a:endParaRPr lang="en-US" dirty="0"/>
          </a:p>
        </p:txBody>
      </p:sp>
      <p:sp>
        <p:nvSpPr>
          <p:cNvPr id="29" name="Text 27"/>
          <p:cNvSpPr/>
          <p:nvPr/>
        </p:nvSpPr>
        <p:spPr>
          <a:xfrm>
            <a:off x="4304556" y="3897064"/>
            <a:ext cx="266700" cy="266700"/>
          </a:xfrm>
          <a:prstGeom prst="rect">
            <a:avLst/>
          </a:prstGeom>
          <a:solidFill>
            <a:srgbClr val="C9A227"/>
          </a:solidFill>
          <a:ln/>
        </p:spPr>
        <p:txBody>
          <a:bodyPr wrap="square" rtlCol="0" anchor="ctr"/>
          <a:lstStyle/>
          <a:p>
            <a:pPr marL="0" indent="0">
              <a:buNone/>
            </a:pPr>
            <a:endParaRPr lang="en-US" dirty="0"/>
          </a:p>
        </p:txBody>
      </p:sp>
      <p:sp>
        <p:nvSpPr>
          <p:cNvPr id="30" name="Text 28"/>
          <p:cNvSpPr/>
          <p:nvPr/>
        </p:nvSpPr>
        <p:spPr>
          <a:xfrm>
            <a:off x="4406057" y="3950345"/>
            <a:ext cx="64972" cy="159990"/>
          </a:xfrm>
          <a:prstGeom prst="rect">
            <a:avLst/>
          </a:prstGeom>
          <a:noFill/>
          <a:ln/>
        </p:spPr>
        <p:txBody>
          <a:bodyPr wrap="square" lIns="0" tIns="0" rIns="0" bIns="0" rtlCol="0" anchor="t"/>
          <a:lstStyle/>
          <a:p>
            <a:pPr marL="0" indent="0" algn="l">
              <a:lnSpc>
                <a:spcPts val="1260"/>
              </a:lnSpc>
              <a:buNone/>
            </a:pPr>
            <a:r>
              <a:rPr lang="en-US" sz="900" b="1" dirty="0">
                <a:solidFill>
                  <a:srgbClr val="1A1F2E"/>
                </a:solidFill>
                <a:latin typeface="Arial" pitchFamily="34" charset="0"/>
                <a:ea typeface="Arial" pitchFamily="34" charset="-122"/>
                <a:cs typeface="Arial" pitchFamily="34" charset="-120"/>
              </a:rPr>
              <a:t>5</a:t>
            </a:r>
            <a:endParaRPr lang="en-US" sz="900" dirty="0"/>
          </a:p>
        </p:txBody>
      </p:sp>
      <p:sp>
        <p:nvSpPr>
          <p:cNvPr id="31" name="Text 29"/>
          <p:cNvSpPr/>
          <p:nvPr/>
        </p:nvSpPr>
        <p:spPr>
          <a:xfrm>
            <a:off x="4857006" y="3856286"/>
            <a:ext cx="2217563" cy="173236"/>
          </a:xfrm>
          <a:prstGeom prst="rect">
            <a:avLst/>
          </a:prstGeom>
          <a:noFill/>
          <a:ln/>
        </p:spPr>
        <p:txBody>
          <a:bodyPr wrap="square" lIns="0" tIns="0" rIns="0" bIns="0" rtlCol="0" anchor="t"/>
          <a:lstStyle/>
          <a:p>
            <a:pPr marL="0" indent="0" algn="l">
              <a:lnSpc>
                <a:spcPts val="1365"/>
              </a:lnSpc>
              <a:buNone/>
            </a:pPr>
            <a:r>
              <a:rPr lang="en-US" sz="975" b="1" dirty="0">
                <a:solidFill>
                  <a:srgbClr val="FFFFFF"/>
                </a:solidFill>
                <a:latin typeface="Arial" pitchFamily="34" charset="0"/>
                <a:ea typeface="Arial" pitchFamily="34" charset="-122"/>
                <a:cs typeface="Arial" pitchFamily="34" charset="-120"/>
              </a:rPr>
              <a:t>Practice voice input</a:t>
            </a:r>
            <a:endParaRPr lang="en-US" sz="975" dirty="0"/>
          </a:p>
        </p:txBody>
      </p:sp>
      <p:sp>
        <p:nvSpPr>
          <p:cNvPr id="32" name="Text 30"/>
          <p:cNvSpPr/>
          <p:nvPr/>
        </p:nvSpPr>
        <p:spPr>
          <a:xfrm>
            <a:off x="4857006" y="4058096"/>
            <a:ext cx="2217563" cy="146596"/>
          </a:xfrm>
          <a:prstGeom prst="rect">
            <a:avLst/>
          </a:prstGeom>
          <a:noFill/>
          <a:ln/>
        </p:spPr>
        <p:txBody>
          <a:bodyPr wrap="square" lIns="0" tIns="0" rIns="0" bIns="0" rtlCol="0" anchor="t"/>
          <a:lstStyle/>
          <a:p>
            <a:pPr marL="0" indent="0" algn="l">
              <a:lnSpc>
                <a:spcPts val="1155"/>
              </a:lnSpc>
              <a:spcBef>
                <a:spcPts val="225"/>
              </a:spcBef>
              <a:buNone/>
            </a:pPr>
            <a:r>
              <a:rPr lang="en-US" sz="825" dirty="0">
                <a:solidFill>
                  <a:srgbClr val="FFFFFF">
                    <a:alpha val="60000"/>
                  </a:srgbClr>
                </a:solidFill>
                <a:latin typeface="Arial" pitchFamily="34" charset="0"/>
                <a:ea typeface="Arial" pitchFamily="34" charset="-122"/>
                <a:cs typeface="Arial" pitchFamily="34" charset="-120"/>
              </a:rPr>
              <a:t>Try dictating emails or notes to get comfortable</a:t>
            </a:r>
            <a:endParaRPr lang="en-US" sz="825"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32">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457200" y="304800"/>
            <a:ext cx="8394192" cy="146596"/>
          </a:xfrm>
          <a:prstGeom prst="rect">
            <a:avLst/>
          </a:prstGeom>
          <a:noFill/>
          <a:ln/>
        </p:spPr>
        <p:txBody>
          <a:bodyPr wrap="square" lIns="0" tIns="0" rIns="0" bIns="0" rtlCol="0" anchor="t"/>
          <a:lstStyle/>
          <a:p>
            <a:pPr marL="0" indent="0" algn="l">
              <a:lnSpc>
                <a:spcPts val="1155"/>
              </a:lnSpc>
              <a:spcAft>
                <a:spcPts val="600"/>
              </a:spcAft>
              <a:buNone/>
            </a:pPr>
            <a:r>
              <a:rPr lang="en-US" sz="825" dirty="0">
                <a:solidFill>
                  <a:srgbClr val="C9A227"/>
                </a:solidFill>
                <a:latin typeface="Arial" pitchFamily="34" charset="0"/>
                <a:ea typeface="Arial" pitchFamily="34" charset="-122"/>
                <a:cs typeface="Arial" pitchFamily="34" charset="-120"/>
              </a:rPr>
              <a:t>PREVIEW</a:t>
            </a:r>
            <a:endParaRPr lang="en-US" sz="825" dirty="0"/>
          </a:p>
        </p:txBody>
      </p:sp>
      <p:sp>
        <p:nvSpPr>
          <p:cNvPr id="3" name="Text 1"/>
          <p:cNvSpPr/>
          <p:nvPr/>
        </p:nvSpPr>
        <p:spPr>
          <a:xfrm>
            <a:off x="457200" y="527596"/>
            <a:ext cx="5120068" cy="304800"/>
          </a:xfrm>
          <a:prstGeom prst="rect">
            <a:avLst/>
          </a:prstGeom>
          <a:noFill/>
          <a:ln/>
        </p:spPr>
        <p:txBody>
          <a:bodyPr wrap="square" lIns="0" tIns="0" rIns="0" bIns="0" rtlCol="0" anchor="t"/>
          <a:lstStyle/>
          <a:p>
            <a:pPr marL="0" indent="0" algn="l">
              <a:lnSpc>
                <a:spcPts val="2400"/>
              </a:lnSpc>
              <a:buNone/>
            </a:pPr>
            <a:r>
              <a:rPr lang="en-US" sz="2400" dirty="0">
                <a:solidFill>
                  <a:srgbClr val="1A1F2E"/>
                </a:solidFill>
                <a:latin typeface="Georgia" pitchFamily="34" charset="0"/>
                <a:ea typeface="Georgia" pitchFamily="34" charset="-122"/>
                <a:cs typeface="Georgia" pitchFamily="34" charset="-120"/>
              </a:rPr>
              <a:t>Coming in Part 2: Hands-On Practice</a:t>
            </a:r>
            <a:endParaRPr lang="en-US" sz="2400" dirty="0"/>
          </a:p>
        </p:txBody>
      </p:sp>
      <p:sp>
        <p:nvSpPr>
          <p:cNvPr id="4" name="Text 2"/>
          <p:cNvSpPr/>
          <p:nvPr/>
        </p:nvSpPr>
        <p:spPr>
          <a:xfrm>
            <a:off x="457200" y="1237506"/>
            <a:ext cx="2641550" cy="2476054"/>
          </a:xfrm>
          <a:prstGeom prst="rect">
            <a:avLst/>
          </a:prstGeom>
          <a:solidFill>
            <a:srgbClr val="1A1F2E"/>
          </a:solidFill>
          <a:ln/>
        </p:spPr>
        <p:txBody>
          <a:bodyPr wrap="square" rtlCol="0" anchor="ctr"/>
          <a:lstStyle/>
          <a:p>
            <a:pPr marL="0" indent="0">
              <a:buNone/>
            </a:pPr>
            <a:endParaRPr lang="en-US" dirty="0"/>
          </a:p>
        </p:txBody>
      </p:sp>
      <p:sp>
        <p:nvSpPr>
          <p:cNvPr id="5" name="Text 3"/>
          <p:cNvSpPr/>
          <p:nvPr/>
        </p:nvSpPr>
        <p:spPr>
          <a:xfrm>
            <a:off x="685800" y="1466106"/>
            <a:ext cx="457200" cy="457200"/>
          </a:xfrm>
          <a:prstGeom prst="rect">
            <a:avLst/>
          </a:prstGeom>
          <a:solidFill>
            <a:srgbClr val="C9A227"/>
          </a:solidFill>
          <a:ln/>
        </p:spPr>
        <p:txBody>
          <a:bodyPr wrap="square" rtlCol="0" anchor="ctr"/>
          <a:lstStyle/>
          <a:p>
            <a:pPr marL="0" indent="0">
              <a:buNone/>
            </a:pPr>
            <a:endParaRPr lang="en-US" dirty="0"/>
          </a:p>
        </p:txBody>
      </p:sp>
      <p:sp>
        <p:nvSpPr>
          <p:cNvPr id="6" name="Text 4"/>
          <p:cNvSpPr/>
          <p:nvPr/>
        </p:nvSpPr>
        <p:spPr>
          <a:xfrm>
            <a:off x="814983" y="1561356"/>
            <a:ext cx="202811" cy="266700"/>
          </a:xfrm>
          <a:prstGeom prst="rect">
            <a:avLst/>
          </a:prstGeom>
          <a:noFill/>
          <a:ln/>
        </p:spPr>
        <p:txBody>
          <a:bodyPr wrap="square" lIns="0" tIns="0" rIns="0" bIns="0" rtlCol="0" anchor="t"/>
          <a:lstStyle/>
          <a:p>
            <a:pPr marL="0" indent="0" algn="l">
              <a:lnSpc>
                <a:spcPts val="2100"/>
              </a:lnSpc>
              <a:buNone/>
            </a:pPr>
            <a:r>
              <a:rPr lang="en-US" sz="1500" dirty="0">
                <a:solidFill>
                  <a:srgbClr val="1A1F2E"/>
                </a:solidFill>
                <a:latin typeface="Georgia" pitchFamily="34" charset="0"/>
                <a:ea typeface="Georgia" pitchFamily="34" charset="-122"/>
                <a:cs typeface="Georgia" pitchFamily="34" charset="-120"/>
              </a:rPr>
              <a:t>01</a:t>
            </a:r>
            <a:endParaRPr lang="en-US" sz="1500" dirty="0"/>
          </a:p>
        </p:txBody>
      </p:sp>
      <p:sp>
        <p:nvSpPr>
          <p:cNvPr id="7" name="Text 5"/>
          <p:cNvSpPr/>
          <p:nvPr/>
        </p:nvSpPr>
        <p:spPr>
          <a:xfrm>
            <a:off x="685800" y="2228106"/>
            <a:ext cx="2228037" cy="213271"/>
          </a:xfrm>
          <a:prstGeom prst="rect">
            <a:avLst/>
          </a:prstGeom>
          <a:noFill/>
          <a:ln/>
        </p:spPr>
        <p:txBody>
          <a:bodyPr wrap="square" lIns="0" tIns="0" rIns="0" bIns="0" rtlCol="0" anchor="t"/>
          <a:lstStyle/>
          <a:p>
            <a:pPr marL="0" indent="0" algn="l">
              <a:lnSpc>
                <a:spcPts val="1680"/>
              </a:lnSpc>
              <a:spcAft>
                <a:spcPts val="900"/>
              </a:spcAft>
              <a:buNone/>
            </a:pPr>
            <a:r>
              <a:rPr lang="en-US" sz="1200" dirty="0">
                <a:solidFill>
                  <a:srgbClr val="FFFFFF"/>
                </a:solidFill>
                <a:latin typeface="Georgia" pitchFamily="34" charset="0"/>
                <a:ea typeface="Georgia" pitchFamily="34" charset="-122"/>
                <a:cs typeface="Georgia" pitchFamily="34" charset="-120"/>
              </a:rPr>
              <a:t>Real Exercises</a:t>
            </a:r>
            <a:endParaRPr lang="en-US" sz="1200" dirty="0"/>
          </a:p>
        </p:txBody>
      </p:sp>
      <p:sp>
        <p:nvSpPr>
          <p:cNvPr id="8" name="Text 6"/>
          <p:cNvSpPr/>
          <p:nvPr/>
        </p:nvSpPr>
        <p:spPr>
          <a:xfrm>
            <a:off x="685800" y="2708077"/>
            <a:ext cx="2228037" cy="776883"/>
          </a:xfrm>
          <a:prstGeom prst="rect">
            <a:avLst/>
          </a:prstGeom>
          <a:noFill/>
          <a:ln/>
        </p:spPr>
        <p:txBody>
          <a:bodyPr wrap="square" lIns="0" tIns="0" rIns="0" bIns="0" rtlCol="0" anchor="t"/>
          <a:lstStyle/>
          <a:p>
            <a:pPr marL="0" indent="0" algn="l">
              <a:lnSpc>
                <a:spcPts val="1530"/>
              </a:lnSpc>
              <a:buNone/>
            </a:pPr>
            <a:r>
              <a:rPr lang="en-US" sz="900" dirty="0">
                <a:solidFill>
                  <a:srgbClr val="FFFFFF">
                    <a:alpha val="60000"/>
                  </a:srgbClr>
                </a:solidFill>
                <a:latin typeface="Arial" pitchFamily="34" charset="0"/>
                <a:ea typeface="Arial" pitchFamily="34" charset="-122"/>
                <a:cs typeface="Arial" pitchFamily="34" charset="-120"/>
              </a:rPr>
              <a:t>Voice-driven refactoring</a:t>
            </a:r>
            <a:endParaRPr lang="en-US" sz="900" dirty="0"/>
          </a:p>
          <a:p>
            <a:pPr marL="0" indent="0" algn="l">
              <a:lnSpc>
                <a:spcPts val="1530"/>
              </a:lnSpc>
              <a:buNone/>
            </a:pPr>
            <a:r>
              <a:rPr lang="en-US" sz="900" dirty="0">
                <a:solidFill>
                  <a:srgbClr val="FFFFFF">
                    <a:alpha val="60000"/>
                  </a:srgbClr>
                </a:solidFill>
                <a:latin typeface="Arial" pitchFamily="34" charset="0"/>
                <a:ea typeface="Arial" pitchFamily="34" charset="-122"/>
                <a:cs typeface="Arial" pitchFamily="34" charset="-120"/>
              </a:rPr>
              <a:t>Test generation</a:t>
            </a:r>
            <a:endParaRPr lang="en-US" sz="900" dirty="0"/>
          </a:p>
          <a:p>
            <a:pPr marL="0" indent="0" algn="l">
              <a:lnSpc>
                <a:spcPts val="1530"/>
              </a:lnSpc>
              <a:buNone/>
            </a:pPr>
            <a:r>
              <a:rPr lang="en-US" sz="900" dirty="0">
                <a:solidFill>
                  <a:srgbClr val="FFFFFF">
                    <a:alpha val="60000"/>
                  </a:srgbClr>
                </a:solidFill>
                <a:latin typeface="Arial" pitchFamily="34" charset="0"/>
                <a:ea typeface="Arial" pitchFamily="34" charset="-122"/>
                <a:cs typeface="Arial" pitchFamily="34" charset="-120"/>
              </a:rPr>
              <a:t>Documentation updates</a:t>
            </a:r>
            <a:endParaRPr lang="en-US" sz="900" dirty="0"/>
          </a:p>
          <a:p>
            <a:pPr marL="0" indent="0" algn="l">
              <a:lnSpc>
                <a:spcPts val="1530"/>
              </a:lnSpc>
              <a:buNone/>
            </a:pPr>
            <a:r>
              <a:rPr lang="en-US" sz="900" dirty="0">
                <a:solidFill>
                  <a:srgbClr val="FFFFFF">
                    <a:alpha val="60000"/>
                  </a:srgbClr>
                </a:solidFill>
                <a:latin typeface="Arial" pitchFamily="34" charset="0"/>
                <a:ea typeface="Arial" pitchFamily="34" charset="-122"/>
                <a:cs typeface="Arial" pitchFamily="34" charset="-120"/>
              </a:rPr>
              <a:t>Bug fixing workflows</a:t>
            </a:r>
            <a:endParaRPr lang="en-US" sz="900" dirty="0"/>
          </a:p>
        </p:txBody>
      </p:sp>
      <p:sp>
        <p:nvSpPr>
          <p:cNvPr id="9" name="Text 7"/>
          <p:cNvSpPr/>
          <p:nvPr/>
        </p:nvSpPr>
        <p:spPr>
          <a:xfrm>
            <a:off x="3251150" y="1237506"/>
            <a:ext cx="2641550" cy="2476054"/>
          </a:xfrm>
          <a:prstGeom prst="rect">
            <a:avLst/>
          </a:prstGeom>
          <a:solidFill>
            <a:srgbClr val="1A1F2E"/>
          </a:solidFill>
          <a:ln/>
        </p:spPr>
        <p:txBody>
          <a:bodyPr wrap="square" rtlCol="0" anchor="ctr"/>
          <a:lstStyle/>
          <a:p>
            <a:pPr marL="0" indent="0">
              <a:buNone/>
            </a:pPr>
            <a:endParaRPr lang="en-US" dirty="0"/>
          </a:p>
        </p:txBody>
      </p:sp>
      <p:sp>
        <p:nvSpPr>
          <p:cNvPr id="10" name="Text 8"/>
          <p:cNvSpPr/>
          <p:nvPr/>
        </p:nvSpPr>
        <p:spPr>
          <a:xfrm>
            <a:off x="3479750" y="1466106"/>
            <a:ext cx="457200" cy="457200"/>
          </a:xfrm>
          <a:prstGeom prst="rect">
            <a:avLst/>
          </a:prstGeom>
          <a:solidFill>
            <a:srgbClr val="C9A227"/>
          </a:solidFill>
          <a:ln/>
        </p:spPr>
        <p:txBody>
          <a:bodyPr wrap="square" rtlCol="0" anchor="ctr"/>
          <a:lstStyle/>
          <a:p>
            <a:pPr marL="0" indent="0">
              <a:buNone/>
            </a:pPr>
            <a:endParaRPr lang="en-US" dirty="0"/>
          </a:p>
        </p:txBody>
      </p:sp>
      <p:sp>
        <p:nvSpPr>
          <p:cNvPr id="11" name="Text 9"/>
          <p:cNvSpPr/>
          <p:nvPr/>
        </p:nvSpPr>
        <p:spPr>
          <a:xfrm>
            <a:off x="3596580" y="1561356"/>
            <a:ext cx="227859" cy="266700"/>
          </a:xfrm>
          <a:prstGeom prst="rect">
            <a:avLst/>
          </a:prstGeom>
          <a:noFill/>
          <a:ln/>
        </p:spPr>
        <p:txBody>
          <a:bodyPr wrap="square" lIns="0" tIns="0" rIns="0" bIns="0" rtlCol="0" anchor="t"/>
          <a:lstStyle/>
          <a:p>
            <a:pPr marL="0" indent="0" algn="l">
              <a:lnSpc>
                <a:spcPts val="2100"/>
              </a:lnSpc>
              <a:buNone/>
            </a:pPr>
            <a:r>
              <a:rPr lang="en-US" sz="1500" dirty="0">
                <a:solidFill>
                  <a:srgbClr val="1A1F2E"/>
                </a:solidFill>
                <a:latin typeface="Georgia" pitchFamily="34" charset="0"/>
                <a:ea typeface="Georgia" pitchFamily="34" charset="-122"/>
                <a:cs typeface="Georgia" pitchFamily="34" charset="-120"/>
              </a:rPr>
              <a:t>02</a:t>
            </a:r>
            <a:endParaRPr lang="en-US" sz="1500" dirty="0"/>
          </a:p>
        </p:txBody>
      </p:sp>
      <p:sp>
        <p:nvSpPr>
          <p:cNvPr id="12" name="Text 10"/>
          <p:cNvSpPr/>
          <p:nvPr/>
        </p:nvSpPr>
        <p:spPr>
          <a:xfrm>
            <a:off x="3479750" y="2228106"/>
            <a:ext cx="2228037" cy="213271"/>
          </a:xfrm>
          <a:prstGeom prst="rect">
            <a:avLst/>
          </a:prstGeom>
          <a:noFill/>
          <a:ln/>
        </p:spPr>
        <p:txBody>
          <a:bodyPr wrap="square" lIns="0" tIns="0" rIns="0" bIns="0" rtlCol="0" anchor="t"/>
          <a:lstStyle/>
          <a:p>
            <a:pPr marL="0" indent="0" algn="l">
              <a:lnSpc>
                <a:spcPts val="1680"/>
              </a:lnSpc>
              <a:spcAft>
                <a:spcPts val="900"/>
              </a:spcAft>
              <a:buNone/>
            </a:pPr>
            <a:r>
              <a:rPr lang="en-US" sz="1200" dirty="0">
                <a:solidFill>
                  <a:srgbClr val="FFFFFF"/>
                </a:solidFill>
                <a:latin typeface="Georgia" pitchFamily="34" charset="0"/>
                <a:ea typeface="Georgia" pitchFamily="34" charset="-122"/>
                <a:cs typeface="Georgia" pitchFamily="34" charset="-120"/>
              </a:rPr>
              <a:t>Your Projects</a:t>
            </a:r>
            <a:endParaRPr lang="en-US" sz="1200" dirty="0"/>
          </a:p>
        </p:txBody>
      </p:sp>
      <p:sp>
        <p:nvSpPr>
          <p:cNvPr id="13" name="Text 11"/>
          <p:cNvSpPr/>
          <p:nvPr/>
        </p:nvSpPr>
        <p:spPr>
          <a:xfrm>
            <a:off x="3479750" y="2708077"/>
            <a:ext cx="2228037" cy="776883"/>
          </a:xfrm>
          <a:prstGeom prst="rect">
            <a:avLst/>
          </a:prstGeom>
          <a:noFill/>
          <a:ln/>
        </p:spPr>
        <p:txBody>
          <a:bodyPr wrap="square" lIns="0" tIns="0" rIns="0" bIns="0" rtlCol="0" anchor="t"/>
          <a:lstStyle/>
          <a:p>
            <a:pPr marL="0" indent="0" algn="l">
              <a:lnSpc>
                <a:spcPts val="1530"/>
              </a:lnSpc>
              <a:buNone/>
            </a:pPr>
            <a:r>
              <a:rPr lang="en-US" sz="900" dirty="0">
                <a:solidFill>
                  <a:srgbClr val="FFFFFF">
                    <a:alpha val="60000"/>
                  </a:srgbClr>
                </a:solidFill>
                <a:latin typeface="Arial" pitchFamily="34" charset="0"/>
                <a:ea typeface="Arial" pitchFamily="34" charset="-122"/>
                <a:cs typeface="Arial" pitchFamily="34" charset="-120"/>
              </a:rPr>
              <a:t>Work on your own code</a:t>
            </a:r>
            <a:endParaRPr lang="en-US" sz="900" dirty="0"/>
          </a:p>
          <a:p>
            <a:pPr marL="0" indent="0" algn="l">
              <a:lnSpc>
                <a:spcPts val="1530"/>
              </a:lnSpc>
              <a:buNone/>
            </a:pPr>
            <a:r>
              <a:rPr lang="en-US" sz="900" dirty="0">
                <a:solidFill>
                  <a:srgbClr val="FFFFFF">
                    <a:alpha val="60000"/>
                  </a:srgbClr>
                </a:solidFill>
                <a:latin typeface="Arial" pitchFamily="34" charset="0"/>
                <a:ea typeface="Arial" pitchFamily="34" charset="-122"/>
                <a:cs typeface="Arial" pitchFamily="34" charset="-120"/>
              </a:rPr>
              <a:t>Real-world scenarios</a:t>
            </a:r>
            <a:endParaRPr lang="en-US" sz="900" dirty="0"/>
          </a:p>
          <a:p>
            <a:pPr marL="0" indent="0" algn="l">
              <a:lnSpc>
                <a:spcPts val="1530"/>
              </a:lnSpc>
              <a:buNone/>
            </a:pPr>
            <a:r>
              <a:rPr lang="en-US" sz="900" dirty="0">
                <a:solidFill>
                  <a:srgbClr val="FFFFFF">
                    <a:alpha val="60000"/>
                  </a:srgbClr>
                </a:solidFill>
                <a:latin typeface="Arial" pitchFamily="34" charset="0"/>
                <a:ea typeface="Arial" pitchFamily="34" charset="-122"/>
                <a:cs typeface="Arial" pitchFamily="34" charset="-120"/>
              </a:rPr>
              <a:t>Team-specific patterns</a:t>
            </a:r>
            <a:endParaRPr lang="en-US" sz="900" dirty="0"/>
          </a:p>
          <a:p>
            <a:pPr marL="0" indent="0" algn="l">
              <a:lnSpc>
                <a:spcPts val="1530"/>
              </a:lnSpc>
              <a:buNone/>
            </a:pPr>
            <a:r>
              <a:rPr lang="en-US" sz="900" dirty="0">
                <a:solidFill>
                  <a:srgbClr val="FFFFFF">
                    <a:alpha val="60000"/>
                  </a:srgbClr>
                </a:solidFill>
                <a:latin typeface="Arial" pitchFamily="34" charset="0"/>
                <a:ea typeface="Arial" pitchFamily="34" charset="-122"/>
                <a:cs typeface="Arial" pitchFamily="34" charset="-120"/>
              </a:rPr>
              <a:t>Custom workflows</a:t>
            </a:r>
            <a:endParaRPr lang="en-US" sz="900" dirty="0"/>
          </a:p>
        </p:txBody>
      </p:sp>
      <p:sp>
        <p:nvSpPr>
          <p:cNvPr id="14" name="Text 12"/>
          <p:cNvSpPr/>
          <p:nvPr/>
        </p:nvSpPr>
        <p:spPr>
          <a:xfrm>
            <a:off x="6045101" y="1237506"/>
            <a:ext cx="2641550" cy="2476054"/>
          </a:xfrm>
          <a:prstGeom prst="rect">
            <a:avLst/>
          </a:prstGeom>
          <a:solidFill>
            <a:srgbClr val="1A1F2E"/>
          </a:solidFill>
          <a:ln/>
        </p:spPr>
        <p:txBody>
          <a:bodyPr wrap="square" rtlCol="0" anchor="ctr"/>
          <a:lstStyle/>
          <a:p>
            <a:pPr marL="0" indent="0">
              <a:buNone/>
            </a:pPr>
            <a:endParaRPr lang="en-US" dirty="0"/>
          </a:p>
        </p:txBody>
      </p:sp>
      <p:sp>
        <p:nvSpPr>
          <p:cNvPr id="15" name="Text 13"/>
          <p:cNvSpPr/>
          <p:nvPr/>
        </p:nvSpPr>
        <p:spPr>
          <a:xfrm>
            <a:off x="6273701" y="1466106"/>
            <a:ext cx="457200" cy="457200"/>
          </a:xfrm>
          <a:prstGeom prst="rect">
            <a:avLst/>
          </a:prstGeom>
          <a:solidFill>
            <a:srgbClr val="C9A227"/>
          </a:solidFill>
          <a:ln/>
        </p:spPr>
        <p:txBody>
          <a:bodyPr wrap="square" rtlCol="0" anchor="ctr"/>
          <a:lstStyle/>
          <a:p>
            <a:pPr marL="0" indent="0">
              <a:buNone/>
            </a:pPr>
            <a:endParaRPr lang="en-US" dirty="0"/>
          </a:p>
        </p:txBody>
      </p:sp>
      <p:sp>
        <p:nvSpPr>
          <p:cNvPr id="16" name="Text 14"/>
          <p:cNvSpPr/>
          <p:nvPr/>
        </p:nvSpPr>
        <p:spPr>
          <a:xfrm>
            <a:off x="6391275" y="1561356"/>
            <a:ext cx="226493" cy="266700"/>
          </a:xfrm>
          <a:prstGeom prst="rect">
            <a:avLst/>
          </a:prstGeom>
          <a:noFill/>
          <a:ln/>
        </p:spPr>
        <p:txBody>
          <a:bodyPr wrap="square" lIns="0" tIns="0" rIns="0" bIns="0" rtlCol="0" anchor="t"/>
          <a:lstStyle/>
          <a:p>
            <a:pPr marL="0" indent="0" algn="l">
              <a:lnSpc>
                <a:spcPts val="2100"/>
              </a:lnSpc>
              <a:buNone/>
            </a:pPr>
            <a:r>
              <a:rPr lang="en-US" sz="1500" dirty="0">
                <a:solidFill>
                  <a:srgbClr val="1A1F2E"/>
                </a:solidFill>
                <a:latin typeface="Georgia" pitchFamily="34" charset="0"/>
                <a:ea typeface="Georgia" pitchFamily="34" charset="-122"/>
                <a:cs typeface="Georgia" pitchFamily="34" charset="-120"/>
              </a:rPr>
              <a:t>03</a:t>
            </a:r>
            <a:endParaRPr lang="en-US" sz="1500" dirty="0"/>
          </a:p>
        </p:txBody>
      </p:sp>
      <p:sp>
        <p:nvSpPr>
          <p:cNvPr id="17" name="Text 15"/>
          <p:cNvSpPr/>
          <p:nvPr/>
        </p:nvSpPr>
        <p:spPr>
          <a:xfrm>
            <a:off x="6273701" y="2228106"/>
            <a:ext cx="2228037" cy="213271"/>
          </a:xfrm>
          <a:prstGeom prst="rect">
            <a:avLst/>
          </a:prstGeom>
          <a:noFill/>
          <a:ln/>
        </p:spPr>
        <p:txBody>
          <a:bodyPr wrap="square" lIns="0" tIns="0" rIns="0" bIns="0" rtlCol="0" anchor="t"/>
          <a:lstStyle/>
          <a:p>
            <a:pPr marL="0" indent="0" algn="l">
              <a:lnSpc>
                <a:spcPts val="1680"/>
              </a:lnSpc>
              <a:spcAft>
                <a:spcPts val="900"/>
              </a:spcAft>
              <a:buNone/>
            </a:pPr>
            <a:r>
              <a:rPr lang="en-US" sz="1200" dirty="0">
                <a:solidFill>
                  <a:srgbClr val="FFFFFF"/>
                </a:solidFill>
                <a:latin typeface="Georgia" pitchFamily="34" charset="0"/>
                <a:ea typeface="Georgia" pitchFamily="34" charset="-122"/>
                <a:cs typeface="Georgia" pitchFamily="34" charset="-120"/>
              </a:rPr>
              <a:t>Tips &amp; Troubleshooting</a:t>
            </a:r>
            <a:endParaRPr lang="en-US" sz="1200" dirty="0"/>
          </a:p>
        </p:txBody>
      </p:sp>
      <p:sp>
        <p:nvSpPr>
          <p:cNvPr id="18" name="Text 16"/>
          <p:cNvSpPr/>
          <p:nvPr/>
        </p:nvSpPr>
        <p:spPr>
          <a:xfrm>
            <a:off x="6273701" y="2708077"/>
            <a:ext cx="2228037" cy="776883"/>
          </a:xfrm>
          <a:prstGeom prst="rect">
            <a:avLst/>
          </a:prstGeom>
          <a:noFill/>
          <a:ln/>
        </p:spPr>
        <p:txBody>
          <a:bodyPr wrap="square" lIns="0" tIns="0" rIns="0" bIns="0" rtlCol="0" anchor="t"/>
          <a:lstStyle/>
          <a:p>
            <a:pPr marL="0" indent="0" algn="l">
              <a:lnSpc>
                <a:spcPts val="1530"/>
              </a:lnSpc>
              <a:buNone/>
            </a:pPr>
            <a:r>
              <a:rPr lang="en-US" sz="900" dirty="0">
                <a:solidFill>
                  <a:srgbClr val="FFFFFF">
                    <a:alpha val="60000"/>
                  </a:srgbClr>
                </a:solidFill>
                <a:latin typeface="Arial" pitchFamily="34" charset="0"/>
                <a:ea typeface="Arial" pitchFamily="34" charset="-122"/>
                <a:cs typeface="Arial" pitchFamily="34" charset="-120"/>
              </a:rPr>
              <a:t>Common pitfalls</a:t>
            </a:r>
            <a:endParaRPr lang="en-US" sz="900" dirty="0"/>
          </a:p>
          <a:p>
            <a:pPr marL="0" indent="0" algn="l">
              <a:lnSpc>
                <a:spcPts val="1530"/>
              </a:lnSpc>
              <a:buNone/>
            </a:pPr>
            <a:r>
              <a:rPr lang="en-US" sz="900" dirty="0">
                <a:solidFill>
                  <a:srgbClr val="FFFFFF">
                    <a:alpha val="60000"/>
                  </a:srgbClr>
                </a:solidFill>
                <a:latin typeface="Arial" pitchFamily="34" charset="0"/>
                <a:ea typeface="Arial" pitchFamily="34" charset="-122"/>
                <a:cs typeface="Arial" pitchFamily="34" charset="-120"/>
              </a:rPr>
              <a:t>Optimization tricks</a:t>
            </a:r>
            <a:endParaRPr lang="en-US" sz="900" dirty="0"/>
          </a:p>
          <a:p>
            <a:pPr marL="0" indent="0" algn="l">
              <a:lnSpc>
                <a:spcPts val="1530"/>
              </a:lnSpc>
              <a:buNone/>
            </a:pPr>
            <a:r>
              <a:rPr lang="en-US" sz="900" dirty="0">
                <a:solidFill>
                  <a:srgbClr val="FFFFFF">
                    <a:alpha val="60000"/>
                  </a:srgbClr>
                </a:solidFill>
                <a:latin typeface="Arial" pitchFamily="34" charset="0"/>
                <a:ea typeface="Arial" pitchFamily="34" charset="-122"/>
                <a:cs typeface="Arial" pitchFamily="34" charset="-120"/>
              </a:rPr>
              <a:t>Voice command patterns</a:t>
            </a:r>
            <a:endParaRPr lang="en-US" sz="900" dirty="0"/>
          </a:p>
          <a:p>
            <a:pPr marL="0" indent="0" algn="l">
              <a:lnSpc>
                <a:spcPts val="1530"/>
              </a:lnSpc>
              <a:buNone/>
            </a:pPr>
            <a:r>
              <a:rPr lang="en-US" sz="900" dirty="0">
                <a:solidFill>
                  <a:srgbClr val="FFFFFF">
                    <a:alpha val="60000"/>
                  </a:srgbClr>
                </a:solidFill>
                <a:latin typeface="Arial" pitchFamily="34" charset="0"/>
                <a:ea typeface="Arial" pitchFamily="34" charset="-122"/>
                <a:cs typeface="Arial" pitchFamily="34" charset="-120"/>
              </a:rPr>
              <a:t>Debug techniques</a:t>
            </a:r>
            <a:endParaRPr lang="en-US" sz="900" dirty="0"/>
          </a:p>
        </p:txBody>
      </p:sp>
      <p:sp>
        <p:nvSpPr>
          <p:cNvPr id="19" name="Text 17"/>
          <p:cNvSpPr/>
          <p:nvPr/>
        </p:nvSpPr>
        <p:spPr>
          <a:xfrm>
            <a:off x="457200" y="4271070"/>
            <a:ext cx="8229600" cy="567630"/>
          </a:xfrm>
          <a:prstGeom prst="rect">
            <a:avLst/>
          </a:prstGeom>
          <a:solidFill>
            <a:srgbClr val="C9A227"/>
          </a:solidFill>
          <a:ln/>
        </p:spPr>
        <p:txBody>
          <a:bodyPr wrap="square" rtlCol="0" anchor="ctr"/>
          <a:lstStyle/>
          <a:p>
            <a:pPr marL="0" indent="0">
              <a:buNone/>
            </a:pPr>
            <a:endParaRPr lang="en-US" dirty="0"/>
          </a:p>
        </p:txBody>
      </p:sp>
      <p:sp>
        <p:nvSpPr>
          <p:cNvPr id="20" name="Text 18"/>
          <p:cNvSpPr/>
          <p:nvPr/>
        </p:nvSpPr>
        <p:spPr>
          <a:xfrm>
            <a:off x="608076" y="4461570"/>
            <a:ext cx="7927848" cy="186630"/>
          </a:xfrm>
          <a:prstGeom prst="rect">
            <a:avLst/>
          </a:prstGeom>
          <a:noFill/>
          <a:ln/>
        </p:spPr>
        <p:txBody>
          <a:bodyPr wrap="square" lIns="0" tIns="0" rIns="0" bIns="0" rtlCol="0" anchor="t"/>
          <a:lstStyle/>
          <a:p>
            <a:pPr marL="0" indent="0" algn="ctr">
              <a:lnSpc>
                <a:spcPts val="1470"/>
              </a:lnSpc>
              <a:buNone/>
            </a:pPr>
            <a:r>
              <a:rPr lang="en-US" sz="1050" b="1" dirty="0">
                <a:solidFill>
                  <a:srgbClr val="1A1F2E"/>
                </a:solidFill>
                <a:latin typeface="Arial" pitchFamily="34" charset="0"/>
                <a:ea typeface="Arial" pitchFamily="34" charset="-122"/>
                <a:cs typeface="Arial" pitchFamily="34" charset="-120"/>
              </a:rPr>
              <a:t>Part 2 is all hands-on - bring your laptop and a project you want to improve</a:t>
            </a:r>
            <a:endParaRPr lang="en-US" sz="105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pic>
        <p:nvPicPr>
          <p:cNvPr id="2" name="Image 0" descr="/var/folders/8s/qp6qfsr90ml5q7fb2n2ptwch0000gn/T/rasterized-gradient-2d3573eb.png"/>
          <p:cNvPicPr>
            <a:picLocks noChangeAspect="1"/>
          </p:cNvPicPr>
          <p:nvPr/>
        </p:nvPicPr>
        <p:blipFill>
          <a:blip r:embed="rId3"/>
          <a:stretch>
            <a:fillRect/>
          </a:stretch>
        </p:blipFill>
        <p:spPr>
          <a:xfrm>
            <a:off x="0" y="0"/>
            <a:ext cx="5850434" cy="5143500"/>
          </a:xfrm>
          <a:prstGeom prst="rect">
            <a:avLst/>
          </a:prstGeom>
        </p:spPr>
      </p:pic>
      <p:sp>
        <p:nvSpPr>
          <p:cNvPr id="3" name="Text 0"/>
          <p:cNvSpPr/>
          <p:nvPr/>
        </p:nvSpPr>
        <p:spPr>
          <a:xfrm>
            <a:off x="457200" y="1023193"/>
            <a:ext cx="5034754" cy="146596"/>
          </a:xfrm>
          <a:prstGeom prst="rect">
            <a:avLst/>
          </a:prstGeom>
          <a:noFill/>
          <a:ln/>
        </p:spPr>
        <p:txBody>
          <a:bodyPr wrap="square" lIns="0" tIns="0" rIns="0" bIns="0" rtlCol="0" anchor="t"/>
          <a:lstStyle/>
          <a:p>
            <a:pPr marL="0" indent="0" algn="l">
              <a:lnSpc>
                <a:spcPts val="1155"/>
              </a:lnSpc>
              <a:spcAft>
                <a:spcPts val="1500"/>
              </a:spcAft>
              <a:buNone/>
            </a:pPr>
            <a:r>
              <a:rPr lang="en-US" sz="825" dirty="0">
                <a:solidFill>
                  <a:srgbClr val="C9A227"/>
                </a:solidFill>
                <a:latin typeface="Arial" pitchFamily="34" charset="0"/>
                <a:ea typeface="Arial" pitchFamily="34" charset="-122"/>
                <a:cs typeface="Arial" pitchFamily="34" charset="-120"/>
              </a:rPr>
              <a:t>AUSTIN PUBLIC HEALTH</a:t>
            </a:r>
            <a:endParaRPr lang="en-US" sz="825" dirty="0"/>
          </a:p>
        </p:txBody>
      </p:sp>
      <p:sp>
        <p:nvSpPr>
          <p:cNvPr id="4" name="Text 1"/>
          <p:cNvSpPr/>
          <p:nvPr/>
        </p:nvSpPr>
        <p:spPr>
          <a:xfrm>
            <a:off x="457200" y="1512689"/>
            <a:ext cx="2526030" cy="460921"/>
          </a:xfrm>
          <a:prstGeom prst="rect">
            <a:avLst/>
          </a:prstGeom>
          <a:noFill/>
          <a:ln/>
        </p:spPr>
        <p:txBody>
          <a:bodyPr wrap="square" lIns="0" tIns="0" rIns="0" bIns="0" rtlCol="0" anchor="t"/>
          <a:lstStyle/>
          <a:p>
            <a:pPr marL="0" indent="0" algn="l">
              <a:lnSpc>
                <a:spcPts val="3630"/>
              </a:lnSpc>
              <a:spcAft>
                <a:spcPts val="1200"/>
              </a:spcAft>
              <a:buNone/>
            </a:pPr>
            <a:r>
              <a:rPr lang="en-US" sz="3300" dirty="0">
                <a:solidFill>
                  <a:srgbClr val="FFFFFF"/>
                </a:solidFill>
                <a:latin typeface="Georgia" pitchFamily="34" charset="0"/>
                <a:ea typeface="Georgia" pitchFamily="34" charset="-122"/>
                <a:cs typeface="Georgia" pitchFamily="34" charset="-120"/>
              </a:rPr>
              <a:t>Thank You</a:t>
            </a:r>
            <a:endParaRPr lang="en-US" sz="3300" dirty="0"/>
          </a:p>
        </p:txBody>
      </p:sp>
      <p:sp>
        <p:nvSpPr>
          <p:cNvPr id="5" name="Text 2"/>
          <p:cNvSpPr/>
          <p:nvPr/>
        </p:nvSpPr>
        <p:spPr>
          <a:xfrm>
            <a:off x="457200" y="2278410"/>
            <a:ext cx="5034754" cy="319980"/>
          </a:xfrm>
          <a:prstGeom prst="rect">
            <a:avLst/>
          </a:prstGeom>
          <a:noFill/>
          <a:ln/>
        </p:spPr>
        <p:txBody>
          <a:bodyPr wrap="square" lIns="0" tIns="0" rIns="0" bIns="0" rtlCol="0" anchor="t"/>
          <a:lstStyle/>
          <a:p>
            <a:pPr marL="0" indent="0" algn="l">
              <a:lnSpc>
                <a:spcPts val="2520"/>
              </a:lnSpc>
              <a:spcAft>
                <a:spcPts val="2400"/>
              </a:spcAft>
              <a:buNone/>
            </a:pPr>
            <a:r>
              <a:rPr lang="en-US" sz="1800" dirty="0">
                <a:solidFill>
                  <a:srgbClr val="C9A227"/>
                </a:solidFill>
                <a:latin typeface="Georgia" pitchFamily="34" charset="0"/>
                <a:ea typeface="Georgia" pitchFamily="34" charset="-122"/>
                <a:cs typeface="Georgia" pitchFamily="34" charset="-120"/>
              </a:rPr>
              <a:t>Part 1 Complete</a:t>
            </a:r>
            <a:endParaRPr lang="en-US" sz="1800" dirty="0"/>
          </a:p>
        </p:txBody>
      </p:sp>
      <p:sp>
        <p:nvSpPr>
          <p:cNvPr id="6" name="Text 3"/>
          <p:cNvSpPr/>
          <p:nvPr/>
        </p:nvSpPr>
        <p:spPr>
          <a:xfrm>
            <a:off x="457200" y="3055590"/>
            <a:ext cx="762000" cy="19050"/>
          </a:xfrm>
          <a:prstGeom prst="rect">
            <a:avLst/>
          </a:prstGeom>
          <a:solidFill>
            <a:srgbClr val="C9A227"/>
          </a:solidFill>
          <a:ln/>
        </p:spPr>
        <p:txBody>
          <a:bodyPr wrap="square" rtlCol="0" anchor="ctr"/>
          <a:lstStyle/>
          <a:p>
            <a:pPr marL="0" indent="0">
              <a:buNone/>
            </a:pPr>
            <a:endParaRPr lang="en-US" dirty="0"/>
          </a:p>
        </p:txBody>
      </p:sp>
      <p:sp>
        <p:nvSpPr>
          <p:cNvPr id="7" name="Text 4"/>
          <p:cNvSpPr/>
          <p:nvPr/>
        </p:nvSpPr>
        <p:spPr>
          <a:xfrm>
            <a:off x="457200" y="3531840"/>
            <a:ext cx="5034754" cy="186630"/>
          </a:xfrm>
          <a:prstGeom prst="rect">
            <a:avLst/>
          </a:prstGeom>
          <a:noFill/>
          <a:ln/>
        </p:spPr>
        <p:txBody>
          <a:bodyPr wrap="square" lIns="0" tIns="0" rIns="0" bIns="0" rtlCol="0" anchor="t"/>
          <a:lstStyle/>
          <a:p>
            <a:pPr marL="0" indent="0" algn="l">
              <a:lnSpc>
                <a:spcPts val="1470"/>
              </a:lnSpc>
              <a:spcAft>
                <a:spcPts val="600"/>
              </a:spcAft>
              <a:buNone/>
            </a:pPr>
            <a:r>
              <a:rPr lang="en-US" sz="1050" dirty="0">
                <a:solidFill>
                  <a:srgbClr val="FFFFFF">
                    <a:alpha val="70000"/>
                  </a:srgbClr>
                </a:solidFill>
                <a:latin typeface="Arial" pitchFamily="34" charset="0"/>
                <a:ea typeface="Arial" pitchFamily="34" charset="-122"/>
                <a:cs typeface="Arial" pitchFamily="34" charset="-120"/>
              </a:rPr>
              <a:t>Questions? Reach out anytime.</a:t>
            </a:r>
            <a:endParaRPr lang="en-US" sz="1050" dirty="0"/>
          </a:p>
        </p:txBody>
      </p:sp>
      <p:sp>
        <p:nvSpPr>
          <p:cNvPr id="8" name="Text 5"/>
          <p:cNvSpPr/>
          <p:nvPr/>
        </p:nvSpPr>
        <p:spPr>
          <a:xfrm>
            <a:off x="457200" y="3947071"/>
            <a:ext cx="5034754" cy="173236"/>
          </a:xfrm>
          <a:prstGeom prst="rect">
            <a:avLst/>
          </a:prstGeom>
          <a:noFill/>
          <a:ln/>
        </p:spPr>
        <p:txBody>
          <a:bodyPr wrap="square" lIns="0" tIns="0" rIns="0" bIns="0" rtlCol="0" anchor="t"/>
          <a:lstStyle/>
          <a:p>
            <a:pPr marL="0" indent="0" algn="l">
              <a:lnSpc>
                <a:spcPts val="1365"/>
              </a:lnSpc>
              <a:buNone/>
            </a:pPr>
            <a:r>
              <a:rPr lang="en-US" sz="975" dirty="0">
                <a:solidFill>
                  <a:srgbClr val="FFFFFF">
                    <a:alpha val="50000"/>
                  </a:srgbClr>
                </a:solidFill>
                <a:latin typeface="Arial" pitchFamily="34" charset="0"/>
                <a:ea typeface="Arial" pitchFamily="34" charset="-122"/>
                <a:cs typeface="Arial" pitchFamily="34" charset="-120"/>
              </a:rPr>
              <a:t>See you in Part 2: Hands-On Practice</a:t>
            </a:r>
            <a:endParaRPr lang="en-US" sz="975" dirty="0"/>
          </a:p>
        </p:txBody>
      </p:sp>
      <p:sp>
        <p:nvSpPr>
          <p:cNvPr id="9" name="Text 6"/>
          <p:cNvSpPr/>
          <p:nvPr/>
        </p:nvSpPr>
        <p:spPr>
          <a:xfrm>
            <a:off x="6002834" y="0"/>
            <a:ext cx="3141166" cy="5143500"/>
          </a:xfrm>
          <a:prstGeom prst="rect">
            <a:avLst/>
          </a:prstGeom>
          <a:solidFill>
            <a:srgbClr val="C9A227"/>
          </a:solidFill>
          <a:ln/>
        </p:spPr>
        <p:txBody>
          <a:bodyPr wrap="square" rtlCol="0" anchor="ctr"/>
          <a:lstStyle/>
          <a:p>
            <a:pPr marL="0" indent="0">
              <a:buNone/>
            </a:pPr>
            <a:endParaRPr lang="en-US" dirty="0"/>
          </a:p>
        </p:txBody>
      </p:sp>
      <p:sp>
        <p:nvSpPr>
          <p:cNvPr id="10" name="Text 7"/>
          <p:cNvSpPr/>
          <p:nvPr/>
        </p:nvSpPr>
        <p:spPr>
          <a:xfrm>
            <a:off x="7122557" y="315516"/>
            <a:ext cx="901720" cy="853380"/>
          </a:xfrm>
          <a:prstGeom prst="rect">
            <a:avLst/>
          </a:prstGeom>
          <a:noFill/>
          <a:ln/>
        </p:spPr>
        <p:txBody>
          <a:bodyPr wrap="square" lIns="0" tIns="0" rIns="0" bIns="0" rtlCol="0" anchor="t"/>
          <a:lstStyle/>
          <a:p>
            <a:pPr marL="0" indent="0" algn="ctr">
              <a:lnSpc>
                <a:spcPts val="6720"/>
              </a:lnSpc>
              <a:buNone/>
            </a:pPr>
            <a:r>
              <a:rPr lang="en-US" sz="4800" dirty="0">
                <a:solidFill>
                  <a:srgbClr val="1A1F2E"/>
                </a:solidFill>
                <a:latin typeface="Georgia" pitchFamily="34" charset="0"/>
                <a:ea typeface="Georgia" pitchFamily="34" charset="-122"/>
                <a:cs typeface="Georgia" pitchFamily="34" charset="-120"/>
              </a:rPr>
              <a:t>1/3</a:t>
            </a:r>
            <a:endParaRPr lang="en-US" sz="4800" dirty="0"/>
          </a:p>
        </p:txBody>
      </p:sp>
      <p:sp>
        <p:nvSpPr>
          <p:cNvPr id="11" name="Text 8"/>
          <p:cNvSpPr/>
          <p:nvPr/>
        </p:nvSpPr>
        <p:spPr>
          <a:xfrm>
            <a:off x="7121496" y="1397496"/>
            <a:ext cx="903693" cy="186630"/>
          </a:xfrm>
          <a:prstGeom prst="rect">
            <a:avLst/>
          </a:prstGeom>
          <a:noFill/>
          <a:ln/>
        </p:spPr>
        <p:txBody>
          <a:bodyPr wrap="square" lIns="0" tIns="0" rIns="0" bIns="0" rtlCol="0" anchor="t"/>
          <a:lstStyle/>
          <a:p>
            <a:pPr marL="0" indent="0" algn="ctr">
              <a:lnSpc>
                <a:spcPts val="1470"/>
              </a:lnSpc>
              <a:spcBef>
                <a:spcPts val="600"/>
              </a:spcBef>
              <a:buNone/>
            </a:pPr>
            <a:r>
              <a:rPr lang="en-US" sz="1050" dirty="0">
                <a:solidFill>
                  <a:srgbClr val="1A1F2E"/>
                </a:solidFill>
                <a:latin typeface="Arial" pitchFamily="34" charset="0"/>
                <a:ea typeface="Arial" pitchFamily="34" charset="-122"/>
                <a:cs typeface="Arial" pitchFamily="34" charset="-120"/>
              </a:rPr>
              <a:t>COMPLETE</a:t>
            </a:r>
            <a:endParaRPr lang="en-US" sz="1050" dirty="0"/>
          </a:p>
        </p:txBody>
      </p:sp>
      <p:sp>
        <p:nvSpPr>
          <p:cNvPr id="12" name="Text 9"/>
          <p:cNvSpPr/>
          <p:nvPr/>
        </p:nvSpPr>
        <p:spPr>
          <a:xfrm>
            <a:off x="6307634" y="2356842"/>
            <a:ext cx="2531566" cy="649486"/>
          </a:xfrm>
          <a:prstGeom prst="rect">
            <a:avLst/>
          </a:prstGeom>
          <a:solidFill>
            <a:srgbClr val="1A1F2E">
              <a:alpha val="10000"/>
            </a:srgbClr>
          </a:solidFill>
          <a:ln/>
        </p:spPr>
        <p:txBody>
          <a:bodyPr wrap="square" rtlCol="0" anchor="ctr"/>
          <a:lstStyle/>
          <a:p>
            <a:pPr marL="0" indent="0">
              <a:buNone/>
            </a:pPr>
            <a:endParaRPr lang="en-US" dirty="0"/>
          </a:p>
        </p:txBody>
      </p:sp>
      <p:sp>
        <p:nvSpPr>
          <p:cNvPr id="13" name="Text 10"/>
          <p:cNvSpPr/>
          <p:nvPr/>
        </p:nvSpPr>
        <p:spPr>
          <a:xfrm>
            <a:off x="6460034" y="2509242"/>
            <a:ext cx="2271302" cy="159990"/>
          </a:xfrm>
          <a:prstGeom prst="rect">
            <a:avLst/>
          </a:prstGeom>
          <a:noFill/>
          <a:ln/>
        </p:spPr>
        <p:txBody>
          <a:bodyPr wrap="square" lIns="0" tIns="0" rIns="0" bIns="0" rtlCol="0" anchor="t"/>
          <a:lstStyle/>
          <a:p>
            <a:pPr marL="0" indent="0" algn="l">
              <a:lnSpc>
                <a:spcPts val="1260"/>
              </a:lnSpc>
              <a:spcAft>
                <a:spcPts val="300"/>
              </a:spcAft>
              <a:buNone/>
            </a:pPr>
            <a:r>
              <a:rPr lang="en-US" sz="900" b="1" dirty="0">
                <a:solidFill>
                  <a:srgbClr val="1A1F2E"/>
                </a:solidFill>
                <a:latin typeface="Arial" pitchFamily="34" charset="0"/>
                <a:ea typeface="Arial" pitchFamily="34" charset="-122"/>
                <a:cs typeface="Arial" pitchFamily="34" charset="-120"/>
              </a:rPr>
              <a:t>Today</a:t>
            </a:r>
            <a:endParaRPr lang="en-US" sz="900" dirty="0"/>
          </a:p>
        </p:txBody>
      </p:sp>
      <p:sp>
        <p:nvSpPr>
          <p:cNvPr id="14" name="Text 11"/>
          <p:cNvSpPr/>
          <p:nvPr/>
        </p:nvSpPr>
        <p:spPr>
          <a:xfrm>
            <a:off x="6460034" y="2707332"/>
            <a:ext cx="2271302" cy="146596"/>
          </a:xfrm>
          <a:prstGeom prst="rect">
            <a:avLst/>
          </a:prstGeom>
          <a:noFill/>
          <a:ln/>
        </p:spPr>
        <p:txBody>
          <a:bodyPr wrap="square" lIns="0" tIns="0" rIns="0" bIns="0" rtlCol="0" anchor="t"/>
          <a:lstStyle/>
          <a:p>
            <a:pPr marL="0" indent="0" algn="l">
              <a:lnSpc>
                <a:spcPts val="1155"/>
              </a:lnSpc>
              <a:buNone/>
            </a:pPr>
            <a:r>
              <a:rPr lang="en-US" sz="825" dirty="0">
                <a:solidFill>
                  <a:srgbClr val="1A1F2E">
                    <a:alpha val="70000"/>
                  </a:srgbClr>
                </a:solidFill>
                <a:latin typeface="Arial" pitchFamily="34" charset="0"/>
                <a:ea typeface="Arial" pitchFamily="34" charset="-122"/>
                <a:cs typeface="Arial" pitchFamily="34" charset="-120"/>
              </a:rPr>
              <a:t>Setup &amp; Tool Overview</a:t>
            </a:r>
            <a:endParaRPr lang="en-US" sz="825" dirty="0"/>
          </a:p>
        </p:txBody>
      </p:sp>
      <p:sp>
        <p:nvSpPr>
          <p:cNvPr id="15" name="Text 12"/>
          <p:cNvSpPr/>
          <p:nvPr/>
        </p:nvSpPr>
        <p:spPr>
          <a:xfrm>
            <a:off x="6307634" y="3273028"/>
            <a:ext cx="2531566" cy="649486"/>
          </a:xfrm>
          <a:prstGeom prst="rect">
            <a:avLst/>
          </a:prstGeom>
          <a:solidFill>
            <a:srgbClr val="1A1F2E">
              <a:alpha val="5000"/>
            </a:srgbClr>
          </a:solidFill>
          <a:ln/>
        </p:spPr>
        <p:txBody>
          <a:bodyPr wrap="square" rtlCol="0" anchor="ctr"/>
          <a:lstStyle/>
          <a:p>
            <a:pPr marL="0" indent="0">
              <a:buNone/>
            </a:pPr>
            <a:endParaRPr lang="en-US" dirty="0"/>
          </a:p>
        </p:txBody>
      </p:sp>
      <p:sp>
        <p:nvSpPr>
          <p:cNvPr id="16" name="Text 13"/>
          <p:cNvSpPr/>
          <p:nvPr/>
        </p:nvSpPr>
        <p:spPr>
          <a:xfrm>
            <a:off x="6460034" y="3425428"/>
            <a:ext cx="2271302" cy="159990"/>
          </a:xfrm>
          <a:prstGeom prst="rect">
            <a:avLst/>
          </a:prstGeom>
          <a:noFill/>
          <a:ln/>
        </p:spPr>
        <p:txBody>
          <a:bodyPr wrap="square" lIns="0" tIns="0" rIns="0" bIns="0" rtlCol="0" anchor="t"/>
          <a:lstStyle/>
          <a:p>
            <a:pPr marL="0" indent="0" algn="l">
              <a:lnSpc>
                <a:spcPts val="1260"/>
              </a:lnSpc>
              <a:spcAft>
                <a:spcPts val="300"/>
              </a:spcAft>
              <a:buNone/>
            </a:pPr>
            <a:r>
              <a:rPr lang="en-US" sz="900" b="1" dirty="0">
                <a:solidFill>
                  <a:srgbClr val="1A1F2E">
                    <a:alpha val="60000"/>
                  </a:srgbClr>
                </a:solidFill>
                <a:latin typeface="Arial" pitchFamily="34" charset="0"/>
                <a:ea typeface="Arial" pitchFamily="34" charset="-122"/>
                <a:cs typeface="Arial" pitchFamily="34" charset="-120"/>
              </a:rPr>
              <a:t>Next</a:t>
            </a:r>
            <a:endParaRPr lang="en-US" sz="900" dirty="0"/>
          </a:p>
        </p:txBody>
      </p:sp>
      <p:sp>
        <p:nvSpPr>
          <p:cNvPr id="17" name="Text 14"/>
          <p:cNvSpPr/>
          <p:nvPr/>
        </p:nvSpPr>
        <p:spPr>
          <a:xfrm>
            <a:off x="6460034" y="3623518"/>
            <a:ext cx="2271302" cy="146596"/>
          </a:xfrm>
          <a:prstGeom prst="rect">
            <a:avLst/>
          </a:prstGeom>
          <a:noFill/>
          <a:ln/>
        </p:spPr>
        <p:txBody>
          <a:bodyPr wrap="square" lIns="0" tIns="0" rIns="0" bIns="0" rtlCol="0" anchor="t"/>
          <a:lstStyle/>
          <a:p>
            <a:pPr marL="0" indent="0" algn="l">
              <a:lnSpc>
                <a:spcPts val="1155"/>
              </a:lnSpc>
              <a:buNone/>
            </a:pPr>
            <a:r>
              <a:rPr lang="en-US" sz="825" dirty="0">
                <a:solidFill>
                  <a:srgbClr val="1A1F2E">
                    <a:alpha val="50000"/>
                  </a:srgbClr>
                </a:solidFill>
                <a:latin typeface="Arial" pitchFamily="34" charset="0"/>
                <a:ea typeface="Arial" pitchFamily="34" charset="-122"/>
                <a:cs typeface="Arial" pitchFamily="34" charset="-120"/>
              </a:rPr>
              <a:t>Hands-On Practice</a:t>
            </a:r>
            <a:endParaRPr lang="en-US" sz="825" dirty="0"/>
          </a:p>
        </p:txBody>
      </p:sp>
      <p:sp>
        <p:nvSpPr>
          <p:cNvPr id="18" name="Text 15"/>
          <p:cNvSpPr/>
          <p:nvPr/>
        </p:nvSpPr>
        <p:spPr>
          <a:xfrm>
            <a:off x="6307634" y="4189214"/>
            <a:ext cx="2531566" cy="649486"/>
          </a:xfrm>
          <a:prstGeom prst="rect">
            <a:avLst/>
          </a:prstGeom>
          <a:solidFill>
            <a:srgbClr val="1A1F2E">
              <a:alpha val="5000"/>
            </a:srgbClr>
          </a:solidFill>
          <a:ln/>
        </p:spPr>
        <p:txBody>
          <a:bodyPr wrap="square" rtlCol="0" anchor="ctr"/>
          <a:lstStyle/>
          <a:p>
            <a:pPr marL="0" indent="0">
              <a:buNone/>
            </a:pPr>
            <a:endParaRPr lang="en-US" dirty="0"/>
          </a:p>
        </p:txBody>
      </p:sp>
      <p:sp>
        <p:nvSpPr>
          <p:cNvPr id="19" name="Text 16"/>
          <p:cNvSpPr/>
          <p:nvPr/>
        </p:nvSpPr>
        <p:spPr>
          <a:xfrm>
            <a:off x="6460034" y="4341614"/>
            <a:ext cx="2271302" cy="159990"/>
          </a:xfrm>
          <a:prstGeom prst="rect">
            <a:avLst/>
          </a:prstGeom>
          <a:noFill/>
          <a:ln/>
        </p:spPr>
        <p:txBody>
          <a:bodyPr wrap="square" lIns="0" tIns="0" rIns="0" bIns="0" rtlCol="0" anchor="t"/>
          <a:lstStyle/>
          <a:p>
            <a:pPr marL="0" indent="0" algn="l">
              <a:lnSpc>
                <a:spcPts val="1260"/>
              </a:lnSpc>
              <a:spcAft>
                <a:spcPts val="300"/>
              </a:spcAft>
              <a:buNone/>
            </a:pPr>
            <a:r>
              <a:rPr lang="en-US" sz="900" b="1" dirty="0">
                <a:solidFill>
                  <a:srgbClr val="1A1F2E">
                    <a:alpha val="60000"/>
                  </a:srgbClr>
                </a:solidFill>
                <a:latin typeface="Arial" pitchFamily="34" charset="0"/>
                <a:ea typeface="Arial" pitchFamily="34" charset="-122"/>
                <a:cs typeface="Arial" pitchFamily="34" charset="-120"/>
              </a:rPr>
              <a:t>Final</a:t>
            </a:r>
            <a:endParaRPr lang="en-US" sz="900" dirty="0"/>
          </a:p>
        </p:txBody>
      </p:sp>
      <p:sp>
        <p:nvSpPr>
          <p:cNvPr id="20" name="Text 17"/>
          <p:cNvSpPr/>
          <p:nvPr/>
        </p:nvSpPr>
        <p:spPr>
          <a:xfrm>
            <a:off x="6460034" y="4539704"/>
            <a:ext cx="2271302" cy="146596"/>
          </a:xfrm>
          <a:prstGeom prst="rect">
            <a:avLst/>
          </a:prstGeom>
          <a:noFill/>
          <a:ln/>
        </p:spPr>
        <p:txBody>
          <a:bodyPr wrap="square" lIns="0" tIns="0" rIns="0" bIns="0" rtlCol="0" anchor="t"/>
          <a:lstStyle/>
          <a:p>
            <a:pPr marL="0" indent="0" algn="l">
              <a:lnSpc>
                <a:spcPts val="1155"/>
              </a:lnSpc>
              <a:buNone/>
            </a:pPr>
            <a:r>
              <a:rPr lang="en-US" sz="825" dirty="0">
                <a:solidFill>
                  <a:srgbClr val="1A1F2E">
                    <a:alpha val="50000"/>
                  </a:srgbClr>
                </a:solidFill>
                <a:latin typeface="Arial" pitchFamily="34" charset="0"/>
                <a:ea typeface="Arial" pitchFamily="34" charset="-122"/>
                <a:cs typeface="Arial" pitchFamily="34" charset="-120"/>
              </a:rPr>
              <a:t>Build a Transcriber</a:t>
            </a:r>
            <a:endParaRPr lang="en-US" sz="82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717</TotalTime>
  <Words>10223</Words>
  <Application>Microsoft Macintosh PowerPoint</Application>
  <PresentationFormat>On-screen Show (16:9)</PresentationFormat>
  <Paragraphs>1608</Paragraphs>
  <Slides>71</Slides>
  <Notes>57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71</vt:i4>
      </vt:variant>
    </vt:vector>
  </HeadingPairs>
  <TitlesOfParts>
    <vt:vector size="76" baseType="lpstr">
      <vt:lpstr>Arial</vt:lpstr>
      <vt:lpstr>Georgia</vt:lpstr>
      <vt:lpstr>monospace</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Voice-Driven AI Development Workflows - Part 1</dc:title>
  <dc:subject>Setup, Introduction &amp; Tool Overview</dc:subject>
  <dc:creator>Austin Public Health</dc:creator>
  <cp:lastModifiedBy>c c</cp:lastModifiedBy>
  <cp:revision>4</cp:revision>
  <dcterms:created xsi:type="dcterms:W3CDTF">2026-01-15T07:07:05Z</dcterms:created>
  <dcterms:modified xsi:type="dcterms:W3CDTF">2026-01-15T19:07:17Z</dcterms:modified>
</cp:coreProperties>
</file>