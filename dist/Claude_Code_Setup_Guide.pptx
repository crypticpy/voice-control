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Claude Code setup guide. This is part of our Tool Setup series — we'll follow the same pattern for Cursor, VS Code, and other AI coding tools. Today we're covering installation, core features, and how to customize Claude Code for your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is straightforward. You can use npm or the official installer script. After installation, run 'claude' in your terminal to authenticate. The first time, you'll be asked to log in via browser and select your default model. Five minutes and you're ready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is your first real decision. Sonnet is the default and handles most tasks well. Use Opus when you need deep reasoning — architecture decisions, complex debugging. Haiku is great for quick exploration tasks. Key insight: sub-agents can use different models, so you can use Haiku for exploration while keeping Sonnet for your main coding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manual commands you invoke by typing /command. Built-in commands include /plan for planning mode, /model to switch models, /compact to summarize context. The real power: create custom commands by adding markdown files to .claude/commands/. Commit these to git and your whole team gets the same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mode is THE key workflow pattern. Before making any code changes, especially for PRs, enter planning mode with /plan or Shift+Tab twice. Claude will explore the codebase using sub-agents, keeping your main context clean. Think through your approach, iterate on the plan, then exit to implement. This prevents wasted effort and keeps context optimized.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are specialized agents that work in parallel. Built-in ones include Explore for fast codebase scanning, Plan for architecture, and Bash for command execution. Each sub-agent has its own context window, so exploration doesn't bloat your main thread. You can create custom sub-agents in .claude/agents/ with specific models, tools, and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automatic counterpart to slash commands. Instead of invoking them manually, skills activate automatically when your task context matches their description. Store them in .claude/skills/ as markdown files. Claude reads the description, and if it matches what you're doing, the skill's instructions are automatically applied. Great for domain-specific patterns and coding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 is an open standard for AI-tool integrations. It lets Claude Code connect to databases, APIs, and external services. Configure MCP servers at three levels: local (private to you), project (shared via git), or global (all projects). Popular servers include GitHub, PostgreSQL, Slack, and Notion. Plugins can also include MCP servers that start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for advanced users — deterministic code that runs at specific points in Claude's execution. PreToolUse runs before any tool call — you can block sensitive operations. PostToolUse runs after — useful for logging. PermissionRequest intercepts permission dialogs. AgentCompletion runs when an agent finishes. Hooks transform Claude from a black box into transparent, auditable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bundle everything together: slash commands, sub-agents, MCP servers, and hooks. One install command sets up an entire integrated environment. When you enable a plugin, its MCP servers start automatically. This is perfect for team onboarding — package your team's entire setup as a plugin and new developers can install it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comparison matrix. Slash commands are manual, skills are automatic. Sub-agents handle parallel work with separate contexts. Hooks provide event-based control for security and monitoring. MCP servers connect to external tools. Plugins bundle everything for distribution. Start with slash commands and planning mode, then add skills as you identify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Plan before you code — always use /plan for PRs. Manage your context — sub-agents keep the main thread clean. Customize with skills for domain expertise. Match models to tasks. And remember: Claude Code + SuperWhisper voice input creates the complete voice-driven development stack we're building toward in this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530"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42900" y="381000"/>
            <a:ext cx="1426964" cy="247650"/>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476250" y="438150"/>
            <a:ext cx="118346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42900" y="933450"/>
            <a:ext cx="1943100" cy="394246"/>
          </a:xfrm>
          <a:prstGeom prst="rect">
            <a:avLst/>
          </a:prstGeom>
          <a:noFill/>
          <a:ln/>
        </p:spPr>
        <p:txBody>
          <a:bodyPr wrap="square" lIns="0" tIns="0" rIns="0" bIns="0" rtlCol="0" anchor="t"/>
          <a:lstStyle/>
          <a:p>
            <a:pPr algn="l" indent="0" marL="0">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Claude Code</a:t>
            </a:r>
            <a:endParaRPr lang="en-US" sz="2700" dirty="0"/>
          </a:p>
        </p:txBody>
      </p:sp>
      <p:sp>
        <p:nvSpPr>
          <p:cNvPr id="6" name="Text 4"/>
          <p:cNvSpPr/>
          <p:nvPr/>
        </p:nvSpPr>
        <p:spPr>
          <a:xfrm>
            <a:off x="342900" y="1632496"/>
            <a:ext cx="476250" cy="28575"/>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42900" y="2003971"/>
            <a:ext cx="3428964" cy="457200"/>
          </a:xfrm>
          <a:prstGeom prst="rect">
            <a:avLst/>
          </a:prstGeom>
          <a:noFill/>
          <a:ln/>
        </p:spPr>
        <p:txBody>
          <a:bodyPr wrap="square" lIns="0" tIns="0" rIns="0" bIns="0" rtlCol="0" anchor="t"/>
          <a:lstStyle/>
          <a:p>
            <a:pPr algn="l" indent="0" marL="0">
              <a:lnSpc>
                <a:spcPts val="1800"/>
              </a:lnSpc>
              <a:spcAft>
                <a:spcPts val="1800"/>
              </a:spcAft>
              <a:buNone/>
            </a:pPr>
            <a:r>
              <a:rPr lang="en-US" sz="1200" dirty="0">
                <a:solidFill>
                  <a:srgbClr val="FFFFFF">
                    <a:alpha val="70000"/>
                  </a:srgbClr>
                </a:solidFill>
                <a:latin typeface="Arial" pitchFamily="34" charset="0"/>
                <a:ea typeface="Arial" pitchFamily="34" charset="-122"/>
                <a:cs typeface="Arial" pitchFamily="34" charset="-120"/>
              </a:rPr>
              <a:t>Setup, Configuration &amp;</a:t>
            </a:r>
            <a:endParaRPr lang="en-US" sz="1200" dirty="0"/>
          </a:p>
          <a:p>
            <a:pPr algn="l" indent="0" marL="0">
              <a:lnSpc>
                <a:spcPts val="1800"/>
              </a:lnSpc>
              <a:spcAft>
                <a:spcPts val="1800"/>
              </a:spcAft>
              <a:buNone/>
            </a:pPr>
            <a:r>
              <a:rPr lang="en-US" sz="1200" dirty="0">
                <a:solidFill>
                  <a:srgbClr val="FFFFFF">
                    <a:alpha val="70000"/>
                  </a:srgbClr>
                </a:solidFill>
                <a:latin typeface="Arial" pitchFamily="34" charset="0"/>
                <a:ea typeface="Arial" pitchFamily="34" charset="-122"/>
                <a:cs typeface="Arial" pitchFamily="34" charset="-120"/>
              </a:rPr>
              <a:t>Core Features</a:t>
            </a:r>
            <a:endParaRPr lang="en-US" sz="1200" dirty="0"/>
          </a:p>
        </p:txBody>
      </p:sp>
      <p:sp>
        <p:nvSpPr>
          <p:cNvPr id="8" name="Text 6"/>
          <p:cNvSpPr/>
          <p:nvPr/>
        </p:nvSpPr>
        <p:spPr>
          <a:xfrm>
            <a:off x="342900" y="4338638"/>
            <a:ext cx="3361730" cy="423863"/>
          </a:xfrm>
          <a:prstGeom prst="rect">
            <a:avLst/>
          </a:prstGeom>
          <a:solidFill>
            <a:srgbClr val="D97706">
              <a:alpha val="20000"/>
            </a:srgbClr>
          </a:solidFill>
          <a:ln/>
        </p:spPr>
        <p:txBody>
          <a:bodyPr wrap="square" rtlCol="0" anchor="ctr"/>
          <a:lstStyle/>
          <a:p>
            <a:pPr indent="0" marL="0">
              <a:buNone/>
            </a:pPr>
            <a:endParaRPr lang="en-US" dirty="0"/>
          </a:p>
        </p:txBody>
      </p:sp>
      <p:sp>
        <p:nvSpPr>
          <p:cNvPr id="9" name="Shape 7"/>
          <p:cNvSpPr/>
          <p:nvPr/>
        </p:nvSpPr>
        <p:spPr>
          <a:xfrm>
            <a:off x="357188" y="4338638"/>
            <a:ext cx="0" cy="423863"/>
          </a:xfrm>
          <a:prstGeom prst="line">
            <a:avLst/>
          </a:prstGeom>
          <a:noFill/>
          <a:ln w="28575">
            <a:solidFill>
              <a:srgbClr val="D97706"/>
            </a:solidFill>
            <a:prstDash val="solid"/>
          </a:ln>
        </p:spPr>
      </p:sp>
      <p:sp>
        <p:nvSpPr>
          <p:cNvPr id="10" name="Text 8"/>
          <p:cNvSpPr/>
          <p:nvPr/>
        </p:nvSpPr>
        <p:spPr>
          <a:xfrm>
            <a:off x="504825" y="4471988"/>
            <a:ext cx="3127784" cy="157163"/>
          </a:xfrm>
          <a:prstGeom prst="rect">
            <a:avLst/>
          </a:prstGeom>
          <a:noFill/>
          <a:ln/>
        </p:spPr>
        <p:txBody>
          <a:bodyPr wrap="square" lIns="0" tIns="0" rIns="0" bIns="0" rtlCol="0" anchor="t"/>
          <a:lstStyle/>
          <a:p>
            <a:pPr algn="l" indent="0" marL="0">
              <a:lnSpc>
                <a:spcPts val="1238"/>
              </a:lnSpc>
              <a:buNone/>
            </a:pPr>
            <a:r>
              <a:rPr lang="en-US" sz="825" dirty="0">
                <a:solidFill>
                  <a:srgbClr val="FFFFFF">
                    <a:alpha val="90000"/>
                  </a:srgbClr>
                </a:solidFill>
                <a:latin typeface="Arial" pitchFamily="34" charset="0"/>
                <a:ea typeface="Arial" pitchFamily="34" charset="-122"/>
                <a:cs typeface="Arial" pitchFamily="34" charset="-120"/>
              </a:rPr>
              <a:t>Anthropic's agentic coding tool for terminal and IDE integration</a:t>
            </a:r>
            <a:endParaRPr lang="en-US" sz="825" dirty="0"/>
          </a:p>
        </p:txBody>
      </p:sp>
      <p:sp>
        <p:nvSpPr>
          <p:cNvPr id="11" name="Text 9"/>
          <p:cNvSpPr/>
          <p:nvPr/>
        </p:nvSpPr>
        <p:spPr>
          <a:xfrm>
            <a:off x="4199930" y="0"/>
            <a:ext cx="4944070" cy="5143500"/>
          </a:xfrm>
          <a:prstGeom prst="rect">
            <a:avLst/>
          </a:prstGeom>
          <a:solidFill>
            <a:srgbClr val="F7F8FA"/>
          </a:solidFill>
          <a:ln/>
        </p:spPr>
        <p:txBody>
          <a:bodyPr wrap="square" rtlCol="0" anchor="ctr"/>
          <a:lstStyle/>
          <a:p>
            <a:pPr indent="0" marL="0">
              <a:buNone/>
            </a:pPr>
            <a:endParaRPr lang="en-US" dirty="0"/>
          </a:p>
        </p:txBody>
      </p:sp>
      <p:sp>
        <p:nvSpPr>
          <p:cNvPr id="12" name="Text 10"/>
          <p:cNvSpPr/>
          <p:nvPr/>
        </p:nvSpPr>
        <p:spPr>
          <a:xfrm>
            <a:off x="4542830" y="1046857"/>
            <a:ext cx="4343436" cy="159990"/>
          </a:xfrm>
          <a:prstGeom prst="rect">
            <a:avLst/>
          </a:prstGeom>
          <a:noFill/>
          <a:ln/>
        </p:spPr>
        <p:txBody>
          <a:bodyPr wrap="square" lIns="0" tIns="0" rIns="0" bIns="0" rtlCol="0" anchor="t"/>
          <a:lstStyle/>
          <a:p>
            <a:pPr algn="l" indent="0" marL="0">
              <a:lnSpc>
                <a:spcPts val="1260"/>
              </a:lnSpc>
              <a:spcAft>
                <a:spcPts val="1500"/>
              </a:spcAft>
              <a:buNone/>
            </a:pPr>
            <a:r>
              <a:rPr lang="en-US" sz="900" b="1" dirty="0">
                <a:solidFill>
                  <a:srgbClr val="1A1F2E"/>
                </a:solidFill>
                <a:latin typeface="Arial" pitchFamily="34" charset="0"/>
                <a:ea typeface="Arial" pitchFamily="34" charset="-122"/>
                <a:cs typeface="Arial" pitchFamily="34" charset="-120"/>
              </a:rPr>
              <a:t>WHAT YOU'LL LEARN</a:t>
            </a:r>
            <a:endParaRPr lang="en-US" sz="900" dirty="0"/>
          </a:p>
        </p:txBody>
      </p:sp>
      <p:sp>
        <p:nvSpPr>
          <p:cNvPr id="13" name="Text 11"/>
          <p:cNvSpPr/>
          <p:nvPr/>
        </p:nvSpPr>
        <p:spPr>
          <a:xfrm>
            <a:off x="4542830" y="1549747"/>
            <a:ext cx="266700" cy="266700"/>
          </a:xfrm>
          <a:prstGeom prst="rect">
            <a:avLst/>
          </a:prstGeom>
          <a:solidFill>
            <a:srgbClr val="D97706"/>
          </a:solidFill>
          <a:ln/>
        </p:spPr>
        <p:txBody>
          <a:bodyPr wrap="square" rtlCol="0" anchor="ctr"/>
          <a:lstStyle/>
          <a:p>
            <a:pPr indent="0" marL="0">
              <a:buNone/>
            </a:pPr>
            <a:endParaRPr lang="en-US" dirty="0"/>
          </a:p>
        </p:txBody>
      </p:sp>
      <p:sp>
        <p:nvSpPr>
          <p:cNvPr id="14" name="Text 12"/>
          <p:cNvSpPr/>
          <p:nvPr/>
        </p:nvSpPr>
        <p:spPr>
          <a:xfrm>
            <a:off x="4923830" y="1603028"/>
            <a:ext cx="1510001"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Installation &amp; model selection</a:t>
            </a:r>
            <a:endParaRPr lang="en-US" sz="900" dirty="0"/>
          </a:p>
        </p:txBody>
      </p:sp>
      <p:sp>
        <p:nvSpPr>
          <p:cNvPr id="15" name="Text 13"/>
          <p:cNvSpPr/>
          <p:nvPr/>
        </p:nvSpPr>
        <p:spPr>
          <a:xfrm>
            <a:off x="4542830" y="1911697"/>
            <a:ext cx="266700" cy="266700"/>
          </a:xfrm>
          <a:prstGeom prst="rect">
            <a:avLst/>
          </a:prstGeom>
          <a:solidFill>
            <a:srgbClr val="D97706"/>
          </a:solidFill>
          <a:ln/>
        </p:spPr>
        <p:txBody>
          <a:bodyPr wrap="square" rtlCol="0" anchor="ctr"/>
          <a:lstStyle/>
          <a:p>
            <a:pPr indent="0" marL="0">
              <a:buNone/>
            </a:pPr>
            <a:endParaRPr lang="en-US" dirty="0"/>
          </a:p>
        </p:txBody>
      </p:sp>
      <p:sp>
        <p:nvSpPr>
          <p:cNvPr id="16" name="Text 14"/>
          <p:cNvSpPr/>
          <p:nvPr/>
        </p:nvSpPr>
        <p:spPr>
          <a:xfrm>
            <a:off x="4923830" y="1964978"/>
            <a:ext cx="1801618"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Slash commands &amp; planning mode</a:t>
            </a:r>
            <a:endParaRPr lang="en-US" sz="900" dirty="0"/>
          </a:p>
        </p:txBody>
      </p:sp>
      <p:sp>
        <p:nvSpPr>
          <p:cNvPr id="17" name="Text 15"/>
          <p:cNvSpPr/>
          <p:nvPr/>
        </p:nvSpPr>
        <p:spPr>
          <a:xfrm>
            <a:off x="4542830" y="2273647"/>
            <a:ext cx="266700" cy="266700"/>
          </a:xfrm>
          <a:prstGeom prst="rect">
            <a:avLst/>
          </a:prstGeom>
          <a:solidFill>
            <a:srgbClr val="D97706"/>
          </a:solidFill>
          <a:ln/>
        </p:spPr>
        <p:txBody>
          <a:bodyPr wrap="square" rtlCol="0" anchor="ctr"/>
          <a:lstStyle/>
          <a:p>
            <a:pPr indent="0" marL="0">
              <a:buNone/>
            </a:pPr>
            <a:endParaRPr lang="en-US" dirty="0"/>
          </a:p>
        </p:txBody>
      </p:sp>
      <p:sp>
        <p:nvSpPr>
          <p:cNvPr id="18" name="Text 16"/>
          <p:cNvSpPr/>
          <p:nvPr/>
        </p:nvSpPr>
        <p:spPr>
          <a:xfrm>
            <a:off x="4923830" y="2326928"/>
            <a:ext cx="1451708"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Sub-agents for parallel work</a:t>
            </a:r>
            <a:endParaRPr lang="en-US" sz="900" dirty="0"/>
          </a:p>
        </p:txBody>
      </p:sp>
      <p:sp>
        <p:nvSpPr>
          <p:cNvPr id="19" name="Text 17"/>
          <p:cNvSpPr/>
          <p:nvPr/>
        </p:nvSpPr>
        <p:spPr>
          <a:xfrm>
            <a:off x="4542830" y="2635597"/>
            <a:ext cx="266700" cy="266700"/>
          </a:xfrm>
          <a:prstGeom prst="rect">
            <a:avLst/>
          </a:prstGeom>
          <a:solidFill>
            <a:srgbClr val="D97706"/>
          </a:solidFill>
          <a:ln/>
        </p:spPr>
        <p:txBody>
          <a:bodyPr wrap="square" rtlCol="0" anchor="ctr"/>
          <a:lstStyle/>
          <a:p>
            <a:pPr indent="0" marL="0">
              <a:buNone/>
            </a:pPr>
            <a:endParaRPr lang="en-US" dirty="0"/>
          </a:p>
        </p:txBody>
      </p:sp>
      <p:sp>
        <p:nvSpPr>
          <p:cNvPr id="20" name="Text 18"/>
          <p:cNvSpPr/>
          <p:nvPr/>
        </p:nvSpPr>
        <p:spPr>
          <a:xfrm>
            <a:off x="4923830" y="2688878"/>
            <a:ext cx="1462183"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Skills, MCP servers &amp; hooks</a:t>
            </a:r>
            <a:endParaRPr lang="en-US" sz="900" dirty="0"/>
          </a:p>
        </p:txBody>
      </p:sp>
      <p:sp>
        <p:nvSpPr>
          <p:cNvPr id="21" name="Text 19"/>
          <p:cNvSpPr/>
          <p:nvPr/>
        </p:nvSpPr>
        <p:spPr>
          <a:xfrm>
            <a:off x="4542830" y="2997547"/>
            <a:ext cx="266700" cy="266700"/>
          </a:xfrm>
          <a:prstGeom prst="rect">
            <a:avLst/>
          </a:prstGeom>
          <a:solidFill>
            <a:srgbClr val="D97706"/>
          </a:solidFill>
          <a:ln/>
        </p:spPr>
        <p:txBody>
          <a:bodyPr wrap="square" rtlCol="0" anchor="ctr"/>
          <a:lstStyle/>
          <a:p>
            <a:pPr indent="0" marL="0">
              <a:buNone/>
            </a:pPr>
            <a:endParaRPr lang="en-US" dirty="0"/>
          </a:p>
        </p:txBody>
      </p:sp>
      <p:sp>
        <p:nvSpPr>
          <p:cNvPr id="22" name="Text 20"/>
          <p:cNvSpPr/>
          <p:nvPr/>
        </p:nvSpPr>
        <p:spPr>
          <a:xfrm>
            <a:off x="4923830" y="3050828"/>
            <a:ext cx="1088743"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Plugins &amp; distribution</a:t>
            </a:r>
            <a:endParaRPr lang="en-US" sz="900" dirty="0"/>
          </a:p>
        </p:txBody>
      </p:sp>
      <p:sp>
        <p:nvSpPr>
          <p:cNvPr id="23" name="Text 21"/>
          <p:cNvSpPr/>
          <p:nvPr/>
        </p:nvSpPr>
        <p:spPr>
          <a:xfrm>
            <a:off x="4542830" y="3683347"/>
            <a:ext cx="4258270" cy="413296"/>
          </a:xfrm>
          <a:prstGeom prst="rect">
            <a:avLst/>
          </a:prstGeom>
          <a:solidFill>
            <a:srgbClr val="1A1F2E"/>
          </a:solidFill>
          <a:ln/>
        </p:spPr>
        <p:txBody>
          <a:bodyPr wrap="square" rtlCol="0" anchor="ctr"/>
          <a:lstStyle/>
          <a:p>
            <a:pPr indent="0" marL="0">
              <a:buNone/>
            </a:pPr>
            <a:endParaRPr lang="en-US" dirty="0"/>
          </a:p>
        </p:txBody>
      </p:sp>
      <p:sp>
        <p:nvSpPr>
          <p:cNvPr id="24" name="Text 22"/>
          <p:cNvSpPr/>
          <p:nvPr/>
        </p:nvSpPr>
        <p:spPr>
          <a:xfrm>
            <a:off x="4636264" y="3816697"/>
            <a:ext cx="4071402"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Part of the Voice-Driven AI Development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1047452"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874091"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GETTING STARTED</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Installation</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Setup</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828675"/>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828675"/>
          </a:xfrm>
          <a:prstGeom prst="line">
            <a:avLst/>
          </a:prstGeom>
          <a:noFill/>
          <a:ln w="28575">
            <a:solidFill>
              <a:srgbClr val="D9770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PREREQUISITES</a:t>
            </a:r>
            <a:endParaRPr lang="en-US" sz="750" dirty="0"/>
          </a:p>
        </p:txBody>
      </p:sp>
      <p:sp>
        <p:nvSpPr>
          <p:cNvPr id="10" name="Text 8"/>
          <p:cNvSpPr/>
          <p:nvPr/>
        </p:nvSpPr>
        <p:spPr>
          <a:xfrm>
            <a:off x="409575" y="2148483"/>
            <a:ext cx="2681174" cy="42862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macOS, Linux, or Windows</a:t>
            </a:r>
            <a:endParaRPr lang="en-US" sz="750" dirty="0"/>
          </a:p>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Anthropic API key or</a:t>
            </a:r>
            <a:endParaRPr lang="en-US" sz="750" dirty="0"/>
          </a:p>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Claude Pro/Max subscription</a:t>
            </a:r>
            <a:endParaRPr lang="en-US" sz="750" dirty="0"/>
          </a:p>
        </p:txBody>
      </p:sp>
      <p:sp>
        <p:nvSpPr>
          <p:cNvPr id="11" name="Text 9"/>
          <p:cNvSpPr/>
          <p:nvPr/>
        </p:nvSpPr>
        <p:spPr>
          <a:xfrm>
            <a:off x="266700" y="2977158"/>
            <a:ext cx="2885777" cy="933450"/>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3091458"/>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SUPPORTED PLATFORMS</a:t>
            </a:r>
            <a:endParaRPr lang="en-US" sz="750" dirty="0"/>
          </a:p>
        </p:txBody>
      </p:sp>
      <p:sp>
        <p:nvSpPr>
          <p:cNvPr id="13" name="Text 11"/>
          <p:cNvSpPr/>
          <p:nvPr/>
        </p:nvSpPr>
        <p:spPr>
          <a:xfrm>
            <a:off x="381000" y="3281958"/>
            <a:ext cx="2710321"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Terminal (standalone CLI)</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VS Code extension</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JetBrains IDEs</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Any terminal emulator</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5-minute setup process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92212"/>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INSTALLATION STEPS</a:t>
            </a:r>
            <a:endParaRPr lang="en-US" sz="900" dirty="0"/>
          </a:p>
        </p:txBody>
      </p:sp>
      <p:sp>
        <p:nvSpPr>
          <p:cNvPr id="18" name="Text 16"/>
          <p:cNvSpPr/>
          <p:nvPr/>
        </p:nvSpPr>
        <p:spPr>
          <a:xfrm>
            <a:off x="3838277" y="1218902"/>
            <a:ext cx="5039023" cy="1300758"/>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1352252"/>
            <a:ext cx="4867769"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MACOS / LINUX</a:t>
            </a:r>
            <a:endParaRPr lang="en-US" sz="675" dirty="0"/>
          </a:p>
        </p:txBody>
      </p:sp>
      <p:sp>
        <p:nvSpPr>
          <p:cNvPr id="20" name="Text 18"/>
          <p:cNvSpPr/>
          <p:nvPr/>
        </p:nvSpPr>
        <p:spPr>
          <a:xfrm>
            <a:off x="3971627" y="1548408"/>
            <a:ext cx="4867769" cy="837902"/>
          </a:xfrm>
          <a:prstGeom prst="rect">
            <a:avLst/>
          </a:prstGeom>
          <a:noFill/>
          <a:ln/>
        </p:spPr>
        <p:txBody>
          <a:bodyPr wrap="square" lIns="0" tIns="0" rIns="0" bIns="0" rtlCol="0" anchor="t"/>
          <a:lstStyle/>
          <a:p>
            <a:pPr algn="l" indent="0" marL="0">
              <a:lnSpc>
                <a:spcPts val="1320"/>
              </a:lnSpc>
              <a:buNone/>
            </a:pPr>
            <a:r>
              <a:rPr lang="en-US" sz="825" dirty="0">
                <a:solidFill>
                  <a:srgbClr val="9CA3AF">
                    <a:alpha val="90000"/>
                  </a:srgbClr>
                </a:solidFill>
                <a:latin typeface="Arial" pitchFamily="34" charset="0"/>
                <a:ea typeface="Arial" pitchFamily="34" charset="-122"/>
                <a:cs typeface="Arial" pitchFamily="34" charset="-120"/>
              </a:rPr>
              <a:t># Install via npm (Node.js 18+ required)</a:t>
            </a:r>
            <a:pPr algn="l" indent="0" marL="0">
              <a:lnSpc>
                <a:spcPts val="1320"/>
              </a:lnSpc>
              <a:buNone/>
            </a:pPr>
            <a:endParaRPr lang="en-US" sz="825" dirty="0"/>
          </a:p>
          <a:p>
            <a:pPr algn="l" indent="0" marL="0">
              <a:lnSpc>
                <a:spcPts val="1320"/>
              </a:lnSpc>
              <a:buNone/>
            </a:pPr>
            <a:r>
              <a:rPr lang="en-US" sz="825" dirty="0">
                <a:solidFill>
                  <a:srgbClr val="FFFFFF">
                    <a:alpha val="90000"/>
                  </a:srgbClr>
                </a:solidFill>
                <a:latin typeface="Arial" pitchFamily="34" charset="0"/>
                <a:ea typeface="Arial" pitchFamily="34" charset="-122"/>
                <a:cs typeface="Arial" pitchFamily="34" charset="-120"/>
              </a:rPr>
              <a:t> npm install -g @anthropic-ai/claude-code</a:t>
            </a:r>
            <a:endParaRPr lang="en-US" sz="825" dirty="0"/>
          </a:p>
          <a:p>
            <a:pPr algn="l" indent="0" marL="0">
              <a:lnSpc>
                <a:spcPts val="1320"/>
              </a:lnSpc>
              <a:buNone/>
            </a:pPr>
            <a:endParaRPr lang="en-US" sz="825" dirty="0"/>
          </a:p>
          <a:p>
            <a:pPr algn="l" indent="0" marL="0">
              <a:lnSpc>
                <a:spcPts val="1320"/>
              </a:lnSpc>
              <a:buNone/>
            </a:pPr>
            <a:r>
              <a:rPr lang="en-US" sz="825" dirty="0">
                <a:solidFill>
                  <a:srgbClr val="FFFFFF">
                    <a:alpha val="90000"/>
                  </a:srgbClr>
                </a:solidFill>
                <a:latin typeface="Arial" pitchFamily="34" charset="0"/>
                <a:ea typeface="Arial" pitchFamily="34" charset="-122"/>
                <a:cs typeface="Arial" pitchFamily="34" charset="-120"/>
              </a:rPr>
              <a:t> </a:t>
            </a:r>
            <a:endParaRPr lang="en-US" sz="825" dirty="0"/>
          </a:p>
          <a:p>
            <a:pPr algn="l" indent="0" marL="0">
              <a:lnSpc>
                <a:spcPts val="1320"/>
              </a:lnSpc>
              <a:buNone/>
            </a:pPr>
            <a:r>
              <a:rPr lang="en-US" sz="825" dirty="0">
                <a:solidFill>
                  <a:srgbClr val="9CA3AF">
                    <a:alpha val="90000"/>
                  </a:srgbClr>
                </a:solidFill>
                <a:latin typeface="Arial" pitchFamily="34" charset="0"/>
                <a:ea typeface="Arial" pitchFamily="34" charset="-122"/>
                <a:cs typeface="Arial" pitchFamily="34" charset="-120"/>
              </a:rPr>
              <a:t># Or use the official installer</a:t>
            </a:r>
            <a:pPr algn="l" indent="0" marL="0">
              <a:lnSpc>
                <a:spcPts val="1320"/>
              </a:lnSpc>
              <a:buNone/>
            </a:pPr>
            <a:endParaRPr lang="en-US" sz="825" dirty="0"/>
          </a:p>
          <a:p>
            <a:pPr algn="l" indent="0" marL="0">
              <a:lnSpc>
                <a:spcPts val="1320"/>
              </a:lnSpc>
              <a:buNone/>
            </a:pPr>
            <a:r>
              <a:rPr lang="en-US" sz="825" dirty="0">
                <a:solidFill>
                  <a:srgbClr val="FFFFFF">
                    <a:alpha val="90000"/>
                  </a:srgbClr>
                </a:solidFill>
                <a:latin typeface="Arial" pitchFamily="34" charset="0"/>
                <a:ea typeface="Arial" pitchFamily="34" charset="-122"/>
                <a:cs typeface="Arial" pitchFamily="34" charset="-120"/>
              </a:rPr>
              <a:t> curl -fsSL https://claude.ai/install.sh | sh</a:t>
            </a:r>
            <a:endParaRPr lang="en-US" sz="825" dirty="0"/>
          </a:p>
        </p:txBody>
      </p:sp>
      <p:sp>
        <p:nvSpPr>
          <p:cNvPr id="21" name="Text 19"/>
          <p:cNvSpPr/>
          <p:nvPr/>
        </p:nvSpPr>
        <p:spPr>
          <a:xfrm>
            <a:off x="3838277" y="2786360"/>
            <a:ext cx="5039023" cy="842963"/>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2" name="Text 20"/>
          <p:cNvSpPr/>
          <p:nvPr/>
        </p:nvSpPr>
        <p:spPr>
          <a:xfrm>
            <a:off x="3962102" y="2910185"/>
            <a:ext cx="4887200"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1A1F2E"/>
                </a:solidFill>
                <a:latin typeface="Arial" pitchFamily="34" charset="0"/>
                <a:ea typeface="Arial" pitchFamily="34" charset="-122"/>
                <a:cs typeface="Arial" pitchFamily="34" charset="-120"/>
              </a:rPr>
              <a:t>FIRST RUN</a:t>
            </a:r>
            <a:endParaRPr lang="en-US" sz="750" dirty="0"/>
          </a:p>
        </p:txBody>
      </p:sp>
      <p:sp>
        <p:nvSpPr>
          <p:cNvPr id="23" name="Text 21"/>
          <p:cNvSpPr/>
          <p:nvPr/>
        </p:nvSpPr>
        <p:spPr>
          <a:xfrm>
            <a:off x="3962102" y="3119735"/>
            <a:ext cx="2385307" cy="385763"/>
          </a:xfrm>
          <a:prstGeom prst="rect">
            <a:avLst/>
          </a:prstGeom>
          <a:noFill/>
          <a:ln/>
        </p:spPr>
        <p:txBody>
          <a:bodyPr wrap="square" lIns="0" tIns="0" rIns="0" bIns="0" rtlCol="0" anchor="t"/>
          <a:lstStyle/>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1.</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Run </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claude</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in terminal</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2.</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Authenticate via browser</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3.</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Select your model</a:t>
            </a:r>
            <a:endParaRPr lang="en-US" sz="675" dirty="0"/>
          </a:p>
        </p:txBody>
      </p:sp>
      <p:sp>
        <p:nvSpPr>
          <p:cNvPr id="24" name="Text 22"/>
          <p:cNvSpPr/>
          <p:nvPr/>
        </p:nvSpPr>
        <p:spPr>
          <a:xfrm>
            <a:off x="6414939" y="3184029"/>
            <a:ext cx="2385307" cy="257175"/>
          </a:xfrm>
          <a:prstGeom prst="rect">
            <a:avLst/>
          </a:prstGeom>
          <a:noFill/>
          <a:ln/>
        </p:spPr>
        <p:txBody>
          <a:bodyPr wrap="square" lIns="0" tIns="0" rIns="0" bIns="0" rtlCol="0" anchor="t"/>
          <a:lstStyle/>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4.</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Navigate to project folder</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5.</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Start coding with voice!</a:t>
            </a:r>
            <a:endParaRPr lang="en-US" sz="675" dirty="0"/>
          </a:p>
        </p:txBody>
      </p:sp>
      <p:sp>
        <p:nvSpPr>
          <p:cNvPr id="25" name="Text 23"/>
          <p:cNvSpPr/>
          <p:nvPr/>
        </p:nvSpPr>
        <p:spPr>
          <a:xfrm>
            <a:off x="3838277" y="3896023"/>
            <a:ext cx="1628924" cy="455116"/>
          </a:xfrm>
          <a:prstGeom prst="rect">
            <a:avLst/>
          </a:prstGeom>
          <a:solidFill>
            <a:srgbClr val="DCFCE7"/>
          </a:solidFill>
          <a:ln/>
        </p:spPr>
        <p:txBody>
          <a:bodyPr wrap="square" rtlCol="0" anchor="ctr"/>
          <a:lstStyle/>
          <a:p>
            <a:pPr indent="0" marL="0">
              <a:buNone/>
            </a:pPr>
            <a:endParaRPr lang="en-US" dirty="0"/>
          </a:p>
        </p:txBody>
      </p:sp>
      <p:sp>
        <p:nvSpPr>
          <p:cNvPr id="26" name="Shape 24"/>
          <p:cNvSpPr/>
          <p:nvPr/>
        </p:nvSpPr>
        <p:spPr>
          <a:xfrm>
            <a:off x="3852565" y="3896023"/>
            <a:ext cx="0" cy="455116"/>
          </a:xfrm>
          <a:prstGeom prst="line">
            <a:avLst/>
          </a:prstGeom>
          <a:noFill/>
          <a:ln w="28575">
            <a:solidFill>
              <a:srgbClr val="059669"/>
            </a:solidFill>
            <a:prstDash val="solid"/>
          </a:ln>
        </p:spPr>
      </p:sp>
      <p:sp>
        <p:nvSpPr>
          <p:cNvPr id="27" name="Text 25"/>
          <p:cNvSpPr/>
          <p:nvPr/>
        </p:nvSpPr>
        <p:spPr>
          <a:xfrm>
            <a:off x="3962102" y="3991273"/>
            <a:ext cx="143804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VERIFY INSTALL</a:t>
            </a:r>
            <a:endParaRPr lang="en-US" sz="675" dirty="0"/>
          </a:p>
        </p:txBody>
      </p:sp>
      <p:sp>
        <p:nvSpPr>
          <p:cNvPr id="28" name="Text 26"/>
          <p:cNvSpPr/>
          <p:nvPr/>
        </p:nvSpPr>
        <p:spPr>
          <a:xfrm>
            <a:off x="3962102" y="4149328"/>
            <a:ext cx="1438046"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monospace" pitchFamily="34" charset="0"/>
                <a:ea typeface="monospace" pitchFamily="34" charset="-122"/>
                <a:cs typeface="monospace" pitchFamily="34" charset="-120"/>
              </a:rPr>
              <a:t>claude --version</a:t>
            </a:r>
            <a:endParaRPr lang="en-US" sz="600" dirty="0"/>
          </a:p>
        </p:txBody>
      </p:sp>
      <p:sp>
        <p:nvSpPr>
          <p:cNvPr id="29" name="Text 27"/>
          <p:cNvSpPr/>
          <p:nvPr/>
        </p:nvSpPr>
        <p:spPr>
          <a:xfrm>
            <a:off x="5543401" y="3896023"/>
            <a:ext cx="1628924" cy="455116"/>
          </a:xfrm>
          <a:prstGeom prst="rect">
            <a:avLst/>
          </a:prstGeom>
          <a:solidFill>
            <a:srgbClr val="DBEAFE"/>
          </a:solidFill>
          <a:ln/>
        </p:spPr>
        <p:txBody>
          <a:bodyPr wrap="square" rtlCol="0" anchor="ctr"/>
          <a:lstStyle/>
          <a:p>
            <a:pPr indent="0" marL="0">
              <a:buNone/>
            </a:pPr>
            <a:endParaRPr lang="en-US" dirty="0"/>
          </a:p>
        </p:txBody>
      </p:sp>
      <p:sp>
        <p:nvSpPr>
          <p:cNvPr id="30" name="Shape 28"/>
          <p:cNvSpPr/>
          <p:nvPr/>
        </p:nvSpPr>
        <p:spPr>
          <a:xfrm>
            <a:off x="5557689" y="3896023"/>
            <a:ext cx="0" cy="455116"/>
          </a:xfrm>
          <a:prstGeom prst="line">
            <a:avLst/>
          </a:prstGeom>
          <a:noFill/>
          <a:ln w="28575">
            <a:solidFill>
              <a:srgbClr val="3B82F6"/>
            </a:solidFill>
            <a:prstDash val="solid"/>
          </a:ln>
        </p:spPr>
      </p:sp>
      <p:sp>
        <p:nvSpPr>
          <p:cNvPr id="31" name="Text 29"/>
          <p:cNvSpPr/>
          <p:nvPr/>
        </p:nvSpPr>
        <p:spPr>
          <a:xfrm>
            <a:off x="5667226" y="3991273"/>
            <a:ext cx="143804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GET HELP</a:t>
            </a:r>
            <a:endParaRPr lang="en-US" sz="675" dirty="0"/>
          </a:p>
        </p:txBody>
      </p:sp>
      <p:sp>
        <p:nvSpPr>
          <p:cNvPr id="32" name="Text 30"/>
          <p:cNvSpPr/>
          <p:nvPr/>
        </p:nvSpPr>
        <p:spPr>
          <a:xfrm>
            <a:off x="5667226" y="4149328"/>
            <a:ext cx="1438046"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monospace" pitchFamily="34" charset="0"/>
                <a:ea typeface="monospace" pitchFamily="34" charset="-122"/>
                <a:cs typeface="monospace" pitchFamily="34" charset="-120"/>
              </a:rPr>
              <a:t>claude --help</a:t>
            </a:r>
            <a:endParaRPr lang="en-US" sz="600" dirty="0"/>
          </a:p>
        </p:txBody>
      </p:sp>
      <p:sp>
        <p:nvSpPr>
          <p:cNvPr id="33" name="Text 31"/>
          <p:cNvSpPr/>
          <p:nvPr/>
        </p:nvSpPr>
        <p:spPr>
          <a:xfrm>
            <a:off x="7248525" y="3896023"/>
            <a:ext cx="1628924" cy="455116"/>
          </a:xfrm>
          <a:prstGeom prst="rect">
            <a:avLst/>
          </a:prstGeom>
          <a:solidFill>
            <a:srgbClr val="FEF3C7"/>
          </a:solidFill>
          <a:ln/>
        </p:spPr>
        <p:txBody>
          <a:bodyPr wrap="square" rtlCol="0" anchor="ctr"/>
          <a:lstStyle/>
          <a:p>
            <a:pPr indent="0" marL="0">
              <a:buNone/>
            </a:pPr>
            <a:endParaRPr lang="en-US" dirty="0"/>
          </a:p>
        </p:txBody>
      </p:sp>
      <p:sp>
        <p:nvSpPr>
          <p:cNvPr id="34" name="Shape 32"/>
          <p:cNvSpPr/>
          <p:nvPr/>
        </p:nvSpPr>
        <p:spPr>
          <a:xfrm>
            <a:off x="7262813" y="3896023"/>
            <a:ext cx="0" cy="455116"/>
          </a:xfrm>
          <a:prstGeom prst="line">
            <a:avLst/>
          </a:prstGeom>
          <a:noFill/>
          <a:ln w="28575">
            <a:solidFill>
              <a:srgbClr val="F59E0B"/>
            </a:solidFill>
            <a:prstDash val="solid"/>
          </a:ln>
        </p:spPr>
      </p:sp>
      <p:sp>
        <p:nvSpPr>
          <p:cNvPr id="35" name="Text 33"/>
          <p:cNvSpPr/>
          <p:nvPr/>
        </p:nvSpPr>
        <p:spPr>
          <a:xfrm>
            <a:off x="7372350" y="3991273"/>
            <a:ext cx="143804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UPDATE</a:t>
            </a:r>
            <a:endParaRPr lang="en-US" sz="675" dirty="0"/>
          </a:p>
        </p:txBody>
      </p:sp>
      <p:sp>
        <p:nvSpPr>
          <p:cNvPr id="36" name="Text 34"/>
          <p:cNvSpPr/>
          <p:nvPr/>
        </p:nvSpPr>
        <p:spPr>
          <a:xfrm>
            <a:off x="7372350" y="4149328"/>
            <a:ext cx="1438046"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monospace" pitchFamily="34" charset="0"/>
                <a:ea typeface="monospace" pitchFamily="34" charset="-122"/>
                <a:cs typeface="monospace" pitchFamily="34" charset="-120"/>
              </a:rPr>
              <a:t>npm update -g</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52202"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776936"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CONFIGURATION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Model</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Selection</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CHOICE</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Different models for different tasks. Choose based on complexity, speed, and cost.</a:t>
            </a:r>
            <a:endParaRPr lang="en-US" sz="750" dirty="0"/>
          </a:p>
        </p:txBody>
      </p:sp>
      <p:sp>
        <p:nvSpPr>
          <p:cNvPr id="11" name="Text 9"/>
          <p:cNvSpPr/>
          <p:nvPr/>
        </p:nvSpPr>
        <p:spPr>
          <a:xfrm>
            <a:off x="266700" y="2834283"/>
            <a:ext cx="2885777" cy="69324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CHANGE</a:t>
            </a:r>
            <a:endParaRPr lang="en-US" sz="750" dirty="0"/>
          </a:p>
        </p:txBody>
      </p:sp>
      <p:sp>
        <p:nvSpPr>
          <p:cNvPr id="13" name="Text 11"/>
          <p:cNvSpPr/>
          <p:nvPr/>
        </p:nvSpPr>
        <p:spPr>
          <a:xfrm>
            <a:off x="381000" y="3139083"/>
            <a:ext cx="2710321" cy="274141"/>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/model</a:t>
            </a:r>
            <a:endParaRPr lang="en-US" sz="675" dirty="0"/>
          </a:p>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a:t>
            </a:r>
            <a:endParaRPr lang="en-US" sz="675" dirty="0"/>
          </a:p>
          <a:p>
            <a:pPr algn="l" indent="0" marL="0">
              <a:lnSpc>
                <a:spcPts val="1080"/>
              </a:lnSpc>
              <a:buNone/>
            </a:pPr>
            <a:r>
              <a:rPr lang="en-US" sz="675" dirty="0">
                <a:solidFill>
                  <a:srgbClr val="FFFFFF">
                    <a:alpha val="40000"/>
                  </a:srgbClr>
                </a:solidFill>
                <a:latin typeface="monospace" pitchFamily="34" charset="0"/>
                <a:ea typeface="monospace" pitchFamily="34" charset="-122"/>
                <a:cs typeface="monospace" pitchFamily="34" charset="-120"/>
              </a:rPr>
              <a:t>or press</a:t>
            </a:r>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Shift+M</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Sonnet is the default — best balance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512713"/>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AVAILABLE MODELS</a:t>
            </a:r>
            <a:endParaRPr lang="en-US" sz="900" dirty="0"/>
          </a:p>
        </p:txBody>
      </p:sp>
      <p:sp>
        <p:nvSpPr>
          <p:cNvPr id="18" name="Text 16"/>
          <p:cNvSpPr/>
          <p:nvPr/>
        </p:nvSpPr>
        <p:spPr>
          <a:xfrm>
            <a:off x="3838277" y="939403"/>
            <a:ext cx="5039023" cy="573286"/>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7327" y="939403"/>
            <a:ext cx="0" cy="573286"/>
          </a:xfrm>
          <a:prstGeom prst="line">
            <a:avLst/>
          </a:prstGeom>
          <a:noFill/>
          <a:ln w="38100">
            <a:solidFill>
              <a:srgbClr val="7C3AED"/>
            </a:solidFill>
            <a:prstDash val="solid"/>
          </a:ln>
        </p:spPr>
      </p:sp>
      <p:sp>
        <p:nvSpPr>
          <p:cNvPr id="20" name="Text 18"/>
          <p:cNvSpPr/>
          <p:nvPr/>
        </p:nvSpPr>
        <p:spPr>
          <a:xfrm>
            <a:off x="4009727" y="1053703"/>
            <a:ext cx="2005492" cy="186630"/>
          </a:xfrm>
          <a:prstGeom prst="rect">
            <a:avLst/>
          </a:prstGeom>
          <a:noFill/>
          <a:ln/>
        </p:spPr>
        <p:txBody>
          <a:bodyPr wrap="square" lIns="0" tIns="0" rIns="0" bIns="0" rtlCol="0" anchor="t"/>
          <a:lstStyle/>
          <a:p>
            <a:pPr algn="l" indent="0" marL="0">
              <a:lnSpc>
                <a:spcPts val="1470"/>
              </a:lnSpc>
              <a:buNone/>
            </a:pPr>
            <a:r>
              <a:rPr lang="en-US" sz="1050" b="1" dirty="0">
                <a:solidFill>
                  <a:srgbClr val="7C3AED"/>
                </a:solidFill>
                <a:latin typeface="Arial" pitchFamily="34" charset="0"/>
                <a:ea typeface="Arial" pitchFamily="34" charset="-122"/>
                <a:cs typeface="Arial" pitchFamily="34" charset="-120"/>
              </a:rPr>
              <a:t>Claude Opus 4</a:t>
            </a:r>
            <a:endParaRPr lang="en-US" sz="1050" dirty="0"/>
          </a:p>
        </p:txBody>
      </p:sp>
      <p:sp>
        <p:nvSpPr>
          <p:cNvPr id="21" name="Text 19"/>
          <p:cNvSpPr/>
          <p:nvPr/>
        </p:nvSpPr>
        <p:spPr>
          <a:xfrm>
            <a:off x="4009727" y="1278434"/>
            <a:ext cx="2005492"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Most capable • Complex reasoning • Highest quality</a:t>
            </a:r>
            <a:endParaRPr lang="en-US" sz="675" dirty="0"/>
          </a:p>
        </p:txBody>
      </p:sp>
      <p:sp>
        <p:nvSpPr>
          <p:cNvPr id="22" name="Text 20"/>
          <p:cNvSpPr/>
          <p:nvPr/>
        </p:nvSpPr>
        <p:spPr>
          <a:xfrm>
            <a:off x="7820370" y="1103263"/>
            <a:ext cx="923580" cy="106561"/>
          </a:xfrm>
          <a:prstGeom prst="rect">
            <a:avLst/>
          </a:prstGeom>
          <a:noFill/>
          <a:ln/>
        </p:spPr>
        <p:txBody>
          <a:bodyPr wrap="square" lIns="0" tIns="0" rIns="0" bIns="0" rtlCol="0" anchor="t"/>
          <a:lstStyle/>
          <a:p>
            <a:pPr algn="r" indent="0" marL="0">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23" name="Text 21"/>
          <p:cNvSpPr/>
          <p:nvPr/>
        </p:nvSpPr>
        <p:spPr>
          <a:xfrm>
            <a:off x="7820370" y="1228874"/>
            <a:ext cx="923580" cy="119955"/>
          </a:xfrm>
          <a:prstGeom prst="rect">
            <a:avLst/>
          </a:prstGeom>
          <a:noFill/>
          <a:ln/>
        </p:spPr>
        <p:txBody>
          <a:bodyPr wrap="square" lIns="0" tIns="0" rIns="0" bIns="0" rtlCol="0" anchor="t"/>
          <a:lstStyle/>
          <a:p>
            <a:pPr algn="r"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Architecture, debugging</a:t>
            </a:r>
            <a:endParaRPr lang="en-US" sz="675" dirty="0"/>
          </a:p>
        </p:txBody>
      </p:sp>
      <p:sp>
        <p:nvSpPr>
          <p:cNvPr id="24" name="Text 22"/>
          <p:cNvSpPr/>
          <p:nvPr/>
        </p:nvSpPr>
        <p:spPr>
          <a:xfrm>
            <a:off x="3838277" y="1760339"/>
            <a:ext cx="5039023" cy="573286"/>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3857327" y="1760339"/>
            <a:ext cx="0" cy="573286"/>
          </a:xfrm>
          <a:prstGeom prst="line">
            <a:avLst/>
          </a:prstGeom>
          <a:noFill/>
          <a:ln w="38100">
            <a:solidFill>
              <a:srgbClr val="3B82F6"/>
            </a:solidFill>
            <a:prstDash val="solid"/>
          </a:ln>
        </p:spPr>
      </p:sp>
      <p:sp>
        <p:nvSpPr>
          <p:cNvPr id="26" name="Text 24"/>
          <p:cNvSpPr/>
          <p:nvPr/>
        </p:nvSpPr>
        <p:spPr>
          <a:xfrm>
            <a:off x="4009727" y="1874639"/>
            <a:ext cx="1538389" cy="186630"/>
          </a:xfrm>
          <a:prstGeom prst="rect">
            <a:avLst/>
          </a:prstGeom>
          <a:noFill/>
          <a:ln/>
        </p:spPr>
        <p:txBody>
          <a:bodyPr wrap="square" lIns="0" tIns="0" rIns="0" bIns="0" rtlCol="0" anchor="t"/>
          <a:lstStyle/>
          <a:p>
            <a:pPr algn="l" indent="0" marL="0">
              <a:lnSpc>
                <a:spcPts val="1470"/>
              </a:lnSpc>
              <a:buNone/>
            </a:pPr>
            <a:r>
              <a:rPr lang="en-US" sz="1050" dirty="0">
                <a:solidFill>
                  <a:srgbClr val="3B82F6"/>
                </a:solidFill>
                <a:latin typeface="Arial" pitchFamily="34" charset="0"/>
                <a:ea typeface="Arial" pitchFamily="34" charset="-122"/>
                <a:cs typeface="Arial" pitchFamily="34" charset="-120"/>
              </a:rPr>
              <a:t>Claude Sonnet 4 </a:t>
            </a:r>
            <a:pPr algn="l" indent="0" marL="0">
              <a:lnSpc>
                <a:spcPts val="1470"/>
              </a:lnSpc>
              <a:buNone/>
            </a:pPr>
            <a:r>
              <a:rPr lang="en-US" sz="525" b="1" dirty="0">
                <a:solidFill>
                  <a:srgbClr val="FFFFFF"/>
                </a:solidFill>
                <a:latin typeface="Arial" pitchFamily="34" charset="0"/>
                <a:ea typeface="Arial" pitchFamily="34" charset="-122"/>
                <a:cs typeface="Arial" pitchFamily="34" charset="-120"/>
              </a:rPr>
              <a:t>DEFAULT</a:t>
            </a:r>
            <a:endParaRPr lang="en-US" sz="1050" dirty="0"/>
          </a:p>
        </p:txBody>
      </p:sp>
      <p:sp>
        <p:nvSpPr>
          <p:cNvPr id="27" name="Text 25"/>
          <p:cNvSpPr/>
          <p:nvPr/>
        </p:nvSpPr>
        <p:spPr>
          <a:xfrm>
            <a:off x="4009727" y="2099370"/>
            <a:ext cx="1538389"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Balanced • Fast • Cost-effective</a:t>
            </a:r>
            <a:endParaRPr lang="en-US" sz="675" dirty="0"/>
          </a:p>
        </p:txBody>
      </p:sp>
      <p:sp>
        <p:nvSpPr>
          <p:cNvPr id="28" name="Text 26"/>
          <p:cNvSpPr/>
          <p:nvPr/>
        </p:nvSpPr>
        <p:spPr>
          <a:xfrm>
            <a:off x="8039121" y="1924199"/>
            <a:ext cx="704829" cy="106561"/>
          </a:xfrm>
          <a:prstGeom prst="rect">
            <a:avLst/>
          </a:prstGeom>
          <a:noFill/>
          <a:ln/>
        </p:spPr>
        <p:txBody>
          <a:bodyPr wrap="square" lIns="0" tIns="0" rIns="0" bIns="0" rtlCol="0" anchor="t"/>
          <a:lstStyle/>
          <a:p>
            <a:pPr algn="r" indent="0" marL="0">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29" name="Text 27"/>
          <p:cNvSpPr/>
          <p:nvPr/>
        </p:nvSpPr>
        <p:spPr>
          <a:xfrm>
            <a:off x="8039121" y="2049810"/>
            <a:ext cx="704829" cy="119955"/>
          </a:xfrm>
          <a:prstGeom prst="rect">
            <a:avLst/>
          </a:prstGeom>
          <a:noFill/>
          <a:ln/>
        </p:spPr>
        <p:txBody>
          <a:bodyPr wrap="square" lIns="0" tIns="0" rIns="0" bIns="0" rtlCol="0" anchor="t"/>
          <a:lstStyle/>
          <a:p>
            <a:pPr algn="r"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Daily coding tasks</a:t>
            </a:r>
            <a:endParaRPr lang="en-US" sz="675" dirty="0"/>
          </a:p>
        </p:txBody>
      </p:sp>
      <p:sp>
        <p:nvSpPr>
          <p:cNvPr id="30" name="Text 28"/>
          <p:cNvSpPr/>
          <p:nvPr/>
        </p:nvSpPr>
        <p:spPr>
          <a:xfrm>
            <a:off x="3838277" y="2581275"/>
            <a:ext cx="5039023" cy="573286"/>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3857327" y="2581275"/>
            <a:ext cx="0" cy="573286"/>
          </a:xfrm>
          <a:prstGeom prst="line">
            <a:avLst/>
          </a:prstGeom>
          <a:noFill/>
          <a:ln w="38100">
            <a:solidFill>
              <a:srgbClr val="10B981"/>
            </a:solidFill>
            <a:prstDash val="solid"/>
          </a:ln>
        </p:spPr>
      </p:sp>
      <p:sp>
        <p:nvSpPr>
          <p:cNvPr id="32" name="Text 30"/>
          <p:cNvSpPr/>
          <p:nvPr/>
        </p:nvSpPr>
        <p:spPr>
          <a:xfrm>
            <a:off x="4009727" y="2695575"/>
            <a:ext cx="1358804" cy="186630"/>
          </a:xfrm>
          <a:prstGeom prst="rect">
            <a:avLst/>
          </a:prstGeom>
          <a:noFill/>
          <a:ln/>
        </p:spPr>
        <p:txBody>
          <a:bodyPr wrap="square" lIns="0" tIns="0" rIns="0" bIns="0" rtlCol="0" anchor="t"/>
          <a:lstStyle/>
          <a:p>
            <a:pPr algn="l" indent="0" marL="0">
              <a:lnSpc>
                <a:spcPts val="1470"/>
              </a:lnSpc>
              <a:buNone/>
            </a:pPr>
            <a:r>
              <a:rPr lang="en-US" sz="1050" b="1" dirty="0">
                <a:solidFill>
                  <a:srgbClr val="10B981"/>
                </a:solidFill>
                <a:latin typeface="Arial" pitchFamily="34" charset="0"/>
                <a:ea typeface="Arial" pitchFamily="34" charset="-122"/>
                <a:cs typeface="Arial" pitchFamily="34" charset="-120"/>
              </a:rPr>
              <a:t>Claude Haiku 3.5</a:t>
            </a:r>
            <a:endParaRPr lang="en-US" sz="1050" dirty="0"/>
          </a:p>
        </p:txBody>
      </p:sp>
      <p:sp>
        <p:nvSpPr>
          <p:cNvPr id="33" name="Text 31"/>
          <p:cNvSpPr/>
          <p:nvPr/>
        </p:nvSpPr>
        <p:spPr>
          <a:xfrm>
            <a:off x="4009727" y="2920305"/>
            <a:ext cx="1358804"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Fastest • Lowest cost • Quick tasks</a:t>
            </a:r>
            <a:endParaRPr lang="en-US" sz="675" dirty="0"/>
          </a:p>
        </p:txBody>
      </p:sp>
      <p:sp>
        <p:nvSpPr>
          <p:cNvPr id="34" name="Text 32"/>
          <p:cNvSpPr/>
          <p:nvPr/>
        </p:nvSpPr>
        <p:spPr>
          <a:xfrm>
            <a:off x="7791224" y="2745135"/>
            <a:ext cx="952726" cy="106561"/>
          </a:xfrm>
          <a:prstGeom prst="rect">
            <a:avLst/>
          </a:prstGeom>
          <a:noFill/>
          <a:ln/>
        </p:spPr>
        <p:txBody>
          <a:bodyPr wrap="square" lIns="0" tIns="0" rIns="0" bIns="0" rtlCol="0" anchor="t"/>
          <a:lstStyle/>
          <a:p>
            <a:pPr algn="r" indent="0" marL="0">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35" name="Text 33"/>
          <p:cNvSpPr/>
          <p:nvPr/>
        </p:nvSpPr>
        <p:spPr>
          <a:xfrm>
            <a:off x="7791224" y="2870746"/>
            <a:ext cx="952726" cy="119955"/>
          </a:xfrm>
          <a:prstGeom prst="rect">
            <a:avLst/>
          </a:prstGeom>
          <a:noFill/>
          <a:ln/>
        </p:spPr>
        <p:txBody>
          <a:bodyPr wrap="square" lIns="0" tIns="0" rIns="0" bIns="0" rtlCol="0" anchor="t"/>
          <a:lstStyle/>
          <a:p>
            <a:pPr algn="r"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Simple edits, exploration</a:t>
            </a:r>
            <a:endParaRPr lang="en-US" sz="675" dirty="0"/>
          </a:p>
        </p:txBody>
      </p:sp>
      <p:sp>
        <p:nvSpPr>
          <p:cNvPr id="36" name="Text 34"/>
          <p:cNvSpPr/>
          <p:nvPr/>
        </p:nvSpPr>
        <p:spPr>
          <a:xfrm>
            <a:off x="3838277" y="3421261"/>
            <a:ext cx="5039023" cy="506611"/>
          </a:xfrm>
          <a:prstGeom prst="rect">
            <a:avLst/>
          </a:prstGeom>
          <a:solidFill>
            <a:srgbClr val="DBEAFE"/>
          </a:solidFill>
          <a:ln/>
        </p:spPr>
        <p:txBody>
          <a:bodyPr wrap="square" rtlCol="0" anchor="ctr"/>
          <a:lstStyle/>
          <a:p>
            <a:pPr indent="0" marL="0">
              <a:buNone/>
            </a:pPr>
            <a:endParaRPr lang="en-US" dirty="0"/>
          </a:p>
        </p:txBody>
      </p:sp>
      <p:sp>
        <p:nvSpPr>
          <p:cNvPr id="37" name="Shape 35"/>
          <p:cNvSpPr/>
          <p:nvPr/>
        </p:nvSpPr>
        <p:spPr>
          <a:xfrm>
            <a:off x="3852565" y="3421261"/>
            <a:ext cx="0" cy="506611"/>
          </a:xfrm>
          <a:prstGeom prst="line">
            <a:avLst/>
          </a:prstGeom>
          <a:noFill/>
          <a:ln w="28575">
            <a:solidFill>
              <a:srgbClr val="3B82F6"/>
            </a:solidFill>
            <a:prstDash val="solid"/>
          </a:ln>
        </p:spPr>
      </p:sp>
      <p:sp>
        <p:nvSpPr>
          <p:cNvPr id="38" name="Text 36"/>
          <p:cNvSpPr/>
          <p:nvPr/>
        </p:nvSpPr>
        <p:spPr>
          <a:xfrm>
            <a:off x="3981152" y="3535561"/>
            <a:ext cx="4877485"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ENTERPRISE OPTIONS</a:t>
            </a:r>
            <a:endParaRPr lang="en-US" sz="675" dirty="0"/>
          </a:p>
        </p:txBody>
      </p:sp>
      <p:sp>
        <p:nvSpPr>
          <p:cNvPr id="39" name="Text 37"/>
          <p:cNvSpPr/>
          <p:nvPr/>
        </p:nvSpPr>
        <p:spPr>
          <a:xfrm>
            <a:off x="3981152" y="3693616"/>
            <a:ext cx="4877485" cy="119955"/>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Amazon Bedrock and Google Vertex AI instances available for organizations with existing cloud relationships.</a:t>
            </a:r>
            <a:endParaRPr lang="en-US" sz="675" dirty="0"/>
          </a:p>
        </p:txBody>
      </p:sp>
      <p:sp>
        <p:nvSpPr>
          <p:cNvPr id="40" name="Text 38"/>
          <p:cNvSpPr/>
          <p:nvPr/>
        </p:nvSpPr>
        <p:spPr>
          <a:xfrm>
            <a:off x="3838277" y="4175522"/>
            <a:ext cx="5039023" cy="455116"/>
          </a:xfrm>
          <a:prstGeom prst="rect">
            <a:avLst/>
          </a:prstGeom>
          <a:solidFill>
            <a:srgbClr val="1A1F2E"/>
          </a:solidFill>
          <a:ln/>
        </p:spPr>
        <p:txBody>
          <a:bodyPr wrap="square" rtlCol="0" anchor="ctr"/>
          <a:lstStyle/>
          <a:p>
            <a:pPr indent="0" marL="0">
              <a:buNone/>
            </a:pPr>
            <a:endParaRPr lang="en-US" dirty="0"/>
          </a:p>
        </p:txBody>
      </p:sp>
      <p:sp>
        <p:nvSpPr>
          <p:cNvPr id="41" name="Text 39"/>
          <p:cNvSpPr/>
          <p:nvPr/>
        </p:nvSpPr>
        <p:spPr>
          <a:xfrm>
            <a:off x="3933527" y="4270772"/>
            <a:ext cx="49454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TIP: SUB-AGENT MODEL OVERRIDE</a:t>
            </a:r>
            <a:endParaRPr lang="en-US" sz="600" dirty="0"/>
          </a:p>
        </p:txBody>
      </p:sp>
      <p:sp>
        <p:nvSpPr>
          <p:cNvPr id="42" name="Text 40"/>
          <p:cNvSpPr/>
          <p:nvPr/>
        </p:nvSpPr>
        <p:spPr>
          <a:xfrm>
            <a:off x="3933527" y="4415433"/>
            <a:ext cx="4945493" cy="119955"/>
          </a:xfrm>
          <a:prstGeom prst="rect">
            <a:avLst/>
          </a:prstGeom>
          <a:noFill/>
          <a:ln/>
        </p:spPr>
        <p:txBody>
          <a:bodyPr wrap="square" lIns="0" tIns="0" rIns="0" bIns="0" rtlCol="0" anchor="t"/>
          <a:lstStyle/>
          <a:p>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Sub-agents can use different models — use Haiku for exploration, Opus for planning</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00410"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724108"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CORE FEATURE</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Slash</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Commands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Manual commands you invoke by typing </a:t>
            </a:r>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/command</a:t>
            </a:r>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 in the prompt.</a:t>
            </a:r>
            <a:endParaRPr lang="en-US" sz="750" dirty="0"/>
          </a:p>
        </p:txBody>
      </p:sp>
      <p:sp>
        <p:nvSpPr>
          <p:cNvPr id="11" name="Text 9"/>
          <p:cNvSpPr/>
          <p:nvPr/>
        </p:nvSpPr>
        <p:spPr>
          <a:xfrm>
            <a:off x="266700" y="2834283"/>
            <a:ext cx="2885777" cy="8303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ACCESS</a:t>
            </a:r>
            <a:endParaRPr lang="en-US" sz="750" dirty="0"/>
          </a:p>
        </p:txBody>
      </p:sp>
      <p:sp>
        <p:nvSpPr>
          <p:cNvPr id="13" name="Text 11"/>
          <p:cNvSpPr/>
          <p:nvPr/>
        </p:nvSpPr>
        <p:spPr>
          <a:xfrm>
            <a:off x="381000" y="3139083"/>
            <a:ext cx="2710321"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Type </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to see all available commands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Tab to autocomplete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Arrow keys to navigate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Foundation for customization</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688181"/>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BUILT-IN COMMANDS</a:t>
            </a:r>
            <a:endParaRPr lang="en-US" sz="900" dirty="0"/>
          </a:p>
        </p:txBody>
      </p:sp>
      <p:sp>
        <p:nvSpPr>
          <p:cNvPr id="18" name="Text 16"/>
          <p:cNvSpPr/>
          <p:nvPr/>
        </p:nvSpPr>
        <p:spPr>
          <a:xfrm>
            <a:off x="3838277" y="1114871"/>
            <a:ext cx="5039023" cy="83046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238696"/>
            <a:ext cx="2365876" cy="582811"/>
          </a:xfrm>
          <a:prstGeom prst="rect">
            <a:avLst/>
          </a:prstGeom>
          <a:noFill/>
          <a:ln/>
        </p:spPr>
        <p:txBody>
          <a:bodyPr wrap="square" lIns="0" tIns="0" rIns="0" bIns="0" rtlCol="0" anchor="t"/>
          <a:lstStyle/>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/plan</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Enter planning mode</a:t>
            </a:r>
            <a:endParaRPr lang="en-US" sz="675" dirty="0"/>
          </a:p>
          <a:p>
            <a:pPr algn="l" indent="0" marL="0">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/model</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Switch models</a:t>
            </a:r>
            <a:endParaRPr lang="en-US" sz="675" dirty="0"/>
          </a:p>
          <a:p>
            <a:pPr algn="l" indent="0" marL="0">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/compact</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Summarize context</a:t>
            </a:r>
            <a:endParaRPr lang="en-US" sz="675" dirty="0"/>
          </a:p>
          <a:p>
            <a:pPr algn="l" indent="0" marL="0">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/clear</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Reset conversation</a:t>
            </a:r>
            <a:endParaRPr lang="en-US" sz="675" dirty="0"/>
          </a:p>
        </p:txBody>
      </p:sp>
      <p:sp>
        <p:nvSpPr>
          <p:cNvPr id="20" name="Text 18"/>
          <p:cNvSpPr/>
          <p:nvPr/>
        </p:nvSpPr>
        <p:spPr>
          <a:xfrm>
            <a:off x="6433989" y="1238696"/>
            <a:ext cx="2365876" cy="582811"/>
          </a:xfrm>
          <a:prstGeom prst="rect">
            <a:avLst/>
          </a:prstGeom>
          <a:noFill/>
          <a:ln/>
        </p:spPr>
        <p:txBody>
          <a:bodyPr wrap="square" lIns="0" tIns="0" rIns="0" bIns="0" rtlCol="0" anchor="t"/>
          <a:lstStyle/>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/help</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Show all commands</a:t>
            </a:r>
            <a:endParaRPr lang="en-US" sz="675" dirty="0"/>
          </a:p>
          <a:p>
            <a:pPr algn="l" indent="0" marL="0">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/config</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Open settings</a:t>
            </a:r>
            <a:endParaRPr lang="en-US" sz="675" dirty="0"/>
          </a:p>
          <a:p>
            <a:pPr algn="l" indent="0" marL="0">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/review</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Code review mode</a:t>
            </a:r>
            <a:endParaRPr lang="en-US" sz="675" dirty="0"/>
          </a:p>
          <a:p>
            <a:pPr algn="l" indent="0" marL="0">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148"/>
              </a:lnSpc>
              <a:buNone/>
            </a:pPr>
            <a:r>
              <a:rPr lang="en-US" sz="675" b="1" dirty="0">
                <a:solidFill>
                  <a:srgbClr val="D97706"/>
                </a:solidFill>
                <a:latin typeface="Arial" pitchFamily="34" charset="0"/>
                <a:ea typeface="Arial" pitchFamily="34" charset="-122"/>
                <a:cs typeface="Arial" pitchFamily="34" charset="-120"/>
              </a:rPr>
              <a:t>/cost</a:t>
            </a:r>
            <a:pPr algn="l" indent="0" marL="0">
              <a:lnSpc>
                <a:spcPts val="1148"/>
              </a:lnSpc>
              <a:buNone/>
            </a:pPr>
            <a:r>
              <a:rPr lang="en-US" sz="675" dirty="0">
                <a:solidFill>
                  <a:srgbClr val="6B7280"/>
                </a:solidFill>
                <a:latin typeface="Arial" pitchFamily="34" charset="0"/>
                <a:ea typeface="Arial" pitchFamily="34" charset="-122"/>
                <a:cs typeface="Arial" pitchFamily="34" charset="-120"/>
              </a:rPr>
              <a:t> — Show token usage</a:t>
            </a:r>
            <a:endParaRPr lang="en-US" sz="675" dirty="0"/>
          </a:p>
        </p:txBody>
      </p:sp>
      <p:sp>
        <p:nvSpPr>
          <p:cNvPr id="21" name="Text 19"/>
          <p:cNvSpPr/>
          <p:nvPr/>
        </p:nvSpPr>
        <p:spPr>
          <a:xfrm>
            <a:off x="3838277" y="2192982"/>
            <a:ext cx="5139803"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CUSTOM COMMANDS</a:t>
            </a:r>
            <a:endParaRPr lang="en-US" sz="825" dirty="0"/>
          </a:p>
        </p:txBody>
      </p:sp>
      <p:sp>
        <p:nvSpPr>
          <p:cNvPr id="22" name="Text 20"/>
          <p:cNvSpPr/>
          <p:nvPr/>
        </p:nvSpPr>
        <p:spPr>
          <a:xfrm>
            <a:off x="3838277" y="2568178"/>
            <a:ext cx="5039023" cy="1077664"/>
          </a:xfrm>
          <a:prstGeom prst="rect">
            <a:avLst/>
          </a:prstGeom>
          <a:solidFill>
            <a:srgbClr val="1A1F2E"/>
          </a:solidFill>
          <a:ln/>
        </p:spPr>
        <p:txBody>
          <a:bodyPr wrap="square" rtlCol="0" anchor="ctr"/>
          <a:lstStyle/>
          <a:p>
            <a:pPr indent="0" marL="0">
              <a:buNone/>
            </a:pPr>
            <a:endParaRPr lang="en-US" dirty="0"/>
          </a:p>
        </p:txBody>
      </p:sp>
      <p:sp>
        <p:nvSpPr>
          <p:cNvPr id="23" name="Text 21"/>
          <p:cNvSpPr/>
          <p:nvPr/>
        </p:nvSpPr>
        <p:spPr>
          <a:xfrm>
            <a:off x="3952577" y="2682478"/>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CREATE YOUR OWN</a:t>
            </a:r>
            <a:endParaRPr lang="en-US" sz="600" dirty="0"/>
          </a:p>
        </p:txBody>
      </p:sp>
      <p:sp>
        <p:nvSpPr>
          <p:cNvPr id="24" name="Text 22"/>
          <p:cNvSpPr/>
          <p:nvPr/>
        </p:nvSpPr>
        <p:spPr>
          <a:xfrm>
            <a:off x="3952577" y="2846189"/>
            <a:ext cx="4906631" cy="685354"/>
          </a:xfrm>
          <a:prstGeom prst="rect">
            <a:avLst/>
          </a:prstGeom>
          <a:noFill/>
          <a:ln/>
        </p:spPr>
        <p:txBody>
          <a:bodyPr wrap="square" lIns="0" tIns="0" rIns="0" bIns="0" rtlCol="0" anchor="t"/>
          <a:lstStyle/>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Add markdown files to:</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.claude/commands/my-command.md</a:t>
            </a: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Then invoke with:</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/project:my-command</a:t>
            </a:r>
            <a:endParaRPr lang="en-US" sz="675" dirty="0"/>
          </a:p>
        </p:txBody>
      </p:sp>
      <p:sp>
        <p:nvSpPr>
          <p:cNvPr id="25" name="Text 23"/>
          <p:cNvSpPr/>
          <p:nvPr/>
        </p:nvSpPr>
        <p:spPr>
          <a:xfrm>
            <a:off x="3838277" y="3893493"/>
            <a:ext cx="2481411" cy="561677"/>
          </a:xfrm>
          <a:prstGeom prst="rect">
            <a:avLst/>
          </a:prstGeom>
          <a:solidFill>
            <a:srgbClr val="DCFCE7"/>
          </a:solidFill>
          <a:ln/>
        </p:spPr>
        <p:txBody>
          <a:bodyPr wrap="square" rtlCol="0" anchor="ctr"/>
          <a:lstStyle/>
          <a:p>
            <a:pPr indent="0" marL="0">
              <a:buNone/>
            </a:pPr>
            <a:endParaRPr lang="en-US" dirty="0"/>
          </a:p>
        </p:txBody>
      </p:sp>
      <p:sp>
        <p:nvSpPr>
          <p:cNvPr id="26" name="Shape 24"/>
          <p:cNvSpPr/>
          <p:nvPr/>
        </p:nvSpPr>
        <p:spPr>
          <a:xfrm>
            <a:off x="3852565" y="3893493"/>
            <a:ext cx="0" cy="561677"/>
          </a:xfrm>
          <a:prstGeom prst="line">
            <a:avLst/>
          </a:prstGeom>
          <a:noFill/>
          <a:ln w="28575">
            <a:solidFill>
              <a:srgbClr val="059669"/>
            </a:solidFill>
            <a:prstDash val="solid"/>
          </a:ln>
        </p:spPr>
      </p:sp>
      <p:sp>
        <p:nvSpPr>
          <p:cNvPr id="27" name="Text 25"/>
          <p:cNvSpPr/>
          <p:nvPr/>
        </p:nvSpPr>
        <p:spPr>
          <a:xfrm>
            <a:off x="3962102" y="3988743"/>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TEAM SHARING</a:t>
            </a:r>
            <a:endParaRPr lang="en-US" sz="675" dirty="0"/>
          </a:p>
        </p:txBody>
      </p:sp>
      <p:sp>
        <p:nvSpPr>
          <p:cNvPr id="28" name="Text 26"/>
          <p:cNvSpPr/>
          <p:nvPr/>
        </p:nvSpPr>
        <p:spPr>
          <a:xfrm>
            <a:off x="3962102" y="4146798"/>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Commit .claude/commands/ to git — everyone gets the same commands</a:t>
            </a:r>
            <a:endParaRPr lang="en-US" sz="600" dirty="0"/>
          </a:p>
        </p:txBody>
      </p:sp>
      <p:sp>
        <p:nvSpPr>
          <p:cNvPr id="29" name="Text 27"/>
          <p:cNvSpPr/>
          <p:nvPr/>
        </p:nvSpPr>
        <p:spPr>
          <a:xfrm>
            <a:off x="6395889" y="3946773"/>
            <a:ext cx="2481411" cy="455116"/>
          </a:xfrm>
          <a:prstGeom prst="rect">
            <a:avLst/>
          </a:prstGeom>
          <a:solidFill>
            <a:srgbClr val="DBEAFE"/>
          </a:solidFill>
          <a:ln/>
        </p:spPr>
        <p:txBody>
          <a:bodyPr wrap="square" rtlCol="0" anchor="ctr"/>
          <a:lstStyle/>
          <a:p>
            <a:pPr indent="0" marL="0">
              <a:buNone/>
            </a:pPr>
            <a:endParaRPr lang="en-US" dirty="0"/>
          </a:p>
        </p:txBody>
      </p:sp>
      <p:sp>
        <p:nvSpPr>
          <p:cNvPr id="30" name="Shape 28"/>
          <p:cNvSpPr/>
          <p:nvPr/>
        </p:nvSpPr>
        <p:spPr>
          <a:xfrm>
            <a:off x="6410176" y="3946773"/>
            <a:ext cx="0" cy="455116"/>
          </a:xfrm>
          <a:prstGeom prst="line">
            <a:avLst/>
          </a:prstGeom>
          <a:noFill/>
          <a:ln w="28575">
            <a:solidFill>
              <a:srgbClr val="3B82F6"/>
            </a:solidFill>
            <a:prstDash val="solid"/>
          </a:ln>
        </p:spPr>
      </p:sp>
      <p:sp>
        <p:nvSpPr>
          <p:cNvPr id="31" name="Text 29"/>
          <p:cNvSpPr/>
          <p:nvPr/>
        </p:nvSpPr>
        <p:spPr>
          <a:xfrm>
            <a:off x="6519714" y="4042023"/>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USE CASE</a:t>
            </a:r>
            <a:endParaRPr lang="en-US" sz="675" dirty="0"/>
          </a:p>
        </p:txBody>
      </p:sp>
      <p:sp>
        <p:nvSpPr>
          <p:cNvPr id="32" name="Text 30"/>
          <p:cNvSpPr/>
          <p:nvPr/>
        </p:nvSpPr>
        <p:spPr>
          <a:xfrm>
            <a:off x="6519714" y="420007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Standard prompts for PRs, commits, code review templates</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46845"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771471"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KEY WORKFLOW</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Planning</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Mode</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CONCEPT</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Think before you code. Plan mode lets you design your approach before making changes.</a:t>
            </a:r>
            <a:endParaRPr lang="en-US" sz="750" dirty="0"/>
          </a:p>
        </p:txBody>
      </p:sp>
      <p:sp>
        <p:nvSpPr>
          <p:cNvPr id="11" name="Text 9"/>
          <p:cNvSpPr/>
          <p:nvPr/>
        </p:nvSpPr>
        <p:spPr>
          <a:xfrm>
            <a:off x="266700" y="2834283"/>
            <a:ext cx="2885777" cy="8303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ENTER</a:t>
            </a:r>
            <a:endParaRPr lang="en-US" sz="750" dirty="0"/>
          </a:p>
        </p:txBody>
      </p:sp>
      <p:sp>
        <p:nvSpPr>
          <p:cNvPr id="13" name="Text 11"/>
          <p:cNvSpPr/>
          <p:nvPr/>
        </p:nvSpPr>
        <p:spPr>
          <a:xfrm>
            <a:off x="381000" y="3139083"/>
            <a:ext cx="2710321"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/plan</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command</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Shift+Tab</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twice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Start prompt with "plan"</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Always plan before PRs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487412"/>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WHY PLANNING MODE MATTERS</a:t>
            </a:r>
            <a:endParaRPr lang="en-US" sz="900" dirty="0"/>
          </a:p>
        </p:txBody>
      </p:sp>
      <p:sp>
        <p:nvSpPr>
          <p:cNvPr id="18" name="Text 16"/>
          <p:cNvSpPr/>
          <p:nvPr/>
        </p:nvSpPr>
        <p:spPr>
          <a:xfrm>
            <a:off x="3838277" y="914102"/>
            <a:ext cx="5039023" cy="102081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Shape 17"/>
          <p:cNvSpPr/>
          <p:nvPr/>
        </p:nvSpPr>
        <p:spPr>
          <a:xfrm>
            <a:off x="5462439" y="1056977"/>
            <a:ext cx="0" cy="735062"/>
          </a:xfrm>
          <a:prstGeom prst="line">
            <a:avLst/>
          </a:prstGeom>
          <a:noFill/>
          <a:ln w="9525">
            <a:solidFill>
              <a:srgbClr val="E4E7ED"/>
            </a:solidFill>
            <a:prstDash val="solid"/>
          </a:ln>
        </p:spPr>
      </p:sp>
      <p:sp>
        <p:nvSpPr>
          <p:cNvPr id="20" name="Text 18"/>
          <p:cNvSpPr/>
          <p:nvPr/>
        </p:nvSpPr>
        <p:spPr>
          <a:xfrm>
            <a:off x="4063542" y="1152227"/>
            <a:ext cx="1311744" cy="293340"/>
          </a:xfrm>
          <a:prstGeom prst="rect">
            <a:avLst/>
          </a:prstGeom>
          <a:noFill/>
          <a:ln/>
        </p:spPr>
        <p:txBody>
          <a:bodyPr wrap="square" lIns="0" tIns="0" rIns="0" bIns="0" rtlCol="0" anchor="t"/>
          <a:lstStyle/>
          <a:p>
            <a:pPr algn="ctr" indent="0" marL="0">
              <a:lnSpc>
                <a:spcPts val="2310"/>
              </a:lnSpc>
              <a:buNone/>
            </a:pPr>
            <a:r>
              <a:rPr lang="en-US" sz="1650" b="1" dirty="0">
                <a:solidFill>
                  <a:srgbClr val="D97706"/>
                </a:solidFill>
                <a:latin typeface="Arial" pitchFamily="34" charset="0"/>
                <a:ea typeface="Arial" pitchFamily="34" charset="-122"/>
                <a:cs typeface="Arial" pitchFamily="34" charset="-120"/>
              </a:rPr>
              <a:t>Read</a:t>
            </a:r>
            <a:endParaRPr lang="en-US" sz="1650" dirty="0"/>
          </a:p>
        </p:txBody>
      </p:sp>
      <p:sp>
        <p:nvSpPr>
          <p:cNvPr id="21" name="Text 19"/>
          <p:cNvSpPr/>
          <p:nvPr/>
        </p:nvSpPr>
        <p:spPr>
          <a:xfrm>
            <a:off x="4063542" y="1483668"/>
            <a:ext cx="1311744" cy="213122"/>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Explore codebase</a:t>
            </a:r>
            <a:endParaRPr lang="en-US" sz="600" dirty="0"/>
          </a:p>
          <a:p>
            <a:pPr algn="ctr" indent="0" marL="0">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without changes</a:t>
            </a:r>
            <a:endParaRPr lang="en-US" sz="600" dirty="0"/>
          </a:p>
        </p:txBody>
      </p:sp>
      <p:sp>
        <p:nvSpPr>
          <p:cNvPr id="22" name="Shape 20"/>
          <p:cNvSpPr/>
          <p:nvPr/>
        </p:nvSpPr>
        <p:spPr>
          <a:xfrm>
            <a:off x="7100888" y="1056977"/>
            <a:ext cx="0" cy="735062"/>
          </a:xfrm>
          <a:prstGeom prst="line">
            <a:avLst/>
          </a:prstGeom>
          <a:noFill/>
          <a:ln w="9525">
            <a:solidFill>
              <a:srgbClr val="E4E7ED"/>
            </a:solidFill>
            <a:prstDash val="solid"/>
          </a:ln>
        </p:spPr>
      </p:sp>
      <p:sp>
        <p:nvSpPr>
          <p:cNvPr id="23" name="Text 21"/>
          <p:cNvSpPr/>
          <p:nvPr/>
        </p:nvSpPr>
        <p:spPr>
          <a:xfrm>
            <a:off x="5701991" y="1152227"/>
            <a:ext cx="1311744" cy="293340"/>
          </a:xfrm>
          <a:prstGeom prst="rect">
            <a:avLst/>
          </a:prstGeom>
          <a:noFill/>
          <a:ln/>
        </p:spPr>
        <p:txBody>
          <a:bodyPr wrap="square" lIns="0" tIns="0" rIns="0" bIns="0" rtlCol="0" anchor="t"/>
          <a:lstStyle/>
          <a:p>
            <a:pPr algn="ctr" indent="0" marL="0">
              <a:lnSpc>
                <a:spcPts val="2310"/>
              </a:lnSpc>
              <a:buNone/>
            </a:pPr>
            <a:r>
              <a:rPr lang="en-US" sz="1650" b="1" dirty="0">
                <a:solidFill>
                  <a:srgbClr val="D97706"/>
                </a:solidFill>
                <a:latin typeface="Arial" pitchFamily="34" charset="0"/>
                <a:ea typeface="Arial" pitchFamily="34" charset="-122"/>
                <a:cs typeface="Arial" pitchFamily="34" charset="-120"/>
              </a:rPr>
              <a:t>Think</a:t>
            </a:r>
            <a:endParaRPr lang="en-US" sz="1650" dirty="0"/>
          </a:p>
        </p:txBody>
      </p:sp>
      <p:sp>
        <p:nvSpPr>
          <p:cNvPr id="24" name="Text 22"/>
          <p:cNvSpPr/>
          <p:nvPr/>
        </p:nvSpPr>
        <p:spPr>
          <a:xfrm>
            <a:off x="5701991" y="1483668"/>
            <a:ext cx="1311744" cy="213122"/>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Design approach</a:t>
            </a:r>
            <a:endParaRPr lang="en-US" sz="600" dirty="0"/>
          </a:p>
          <a:p>
            <a:pPr algn="ctr" indent="0" marL="0">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before committing</a:t>
            </a:r>
            <a:endParaRPr lang="en-US" sz="600" dirty="0"/>
          </a:p>
        </p:txBody>
      </p:sp>
      <p:sp>
        <p:nvSpPr>
          <p:cNvPr id="25" name="Text 23"/>
          <p:cNvSpPr/>
          <p:nvPr/>
        </p:nvSpPr>
        <p:spPr>
          <a:xfrm>
            <a:off x="7340440" y="1152227"/>
            <a:ext cx="1311744" cy="293340"/>
          </a:xfrm>
          <a:prstGeom prst="rect">
            <a:avLst/>
          </a:prstGeom>
          <a:noFill/>
          <a:ln/>
        </p:spPr>
        <p:txBody>
          <a:bodyPr wrap="square" lIns="0" tIns="0" rIns="0" bIns="0" rtlCol="0" anchor="t"/>
          <a:lstStyle/>
          <a:p>
            <a:pPr algn="ctr" indent="0" marL="0">
              <a:lnSpc>
                <a:spcPts val="2310"/>
              </a:lnSpc>
              <a:buNone/>
            </a:pPr>
            <a:r>
              <a:rPr lang="en-US" sz="1650" b="1" dirty="0">
                <a:solidFill>
                  <a:srgbClr val="D97706"/>
                </a:solidFill>
                <a:latin typeface="Arial" pitchFamily="34" charset="0"/>
                <a:ea typeface="Arial" pitchFamily="34" charset="-122"/>
                <a:cs typeface="Arial" pitchFamily="34" charset="-120"/>
              </a:rPr>
              <a:t>Iterate</a:t>
            </a:r>
            <a:endParaRPr lang="en-US" sz="1650" dirty="0"/>
          </a:p>
        </p:txBody>
      </p:sp>
      <p:sp>
        <p:nvSpPr>
          <p:cNvPr id="26" name="Text 24"/>
          <p:cNvSpPr/>
          <p:nvPr/>
        </p:nvSpPr>
        <p:spPr>
          <a:xfrm>
            <a:off x="7340440" y="1483668"/>
            <a:ext cx="1311744" cy="213122"/>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Refine plan with</a:t>
            </a:r>
            <a:endParaRPr lang="en-US" sz="600" dirty="0"/>
          </a:p>
          <a:p>
            <a:pPr algn="ctr" indent="0" marL="0">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feedback</a:t>
            </a:r>
            <a:endParaRPr lang="en-US" sz="600" dirty="0"/>
          </a:p>
        </p:txBody>
      </p:sp>
      <p:sp>
        <p:nvSpPr>
          <p:cNvPr id="27" name="Text 25"/>
          <p:cNvSpPr/>
          <p:nvPr/>
        </p:nvSpPr>
        <p:spPr>
          <a:xfrm>
            <a:off x="3838277" y="2201614"/>
            <a:ext cx="5039023" cy="1625947"/>
          </a:xfrm>
          <a:prstGeom prst="rect">
            <a:avLst/>
          </a:prstGeom>
          <a:solidFill>
            <a:srgbClr val="1A1F2E"/>
          </a:solidFill>
          <a:ln/>
        </p:spPr>
        <p:txBody>
          <a:bodyPr wrap="square" rtlCol="0" anchor="ctr"/>
          <a:lstStyle/>
          <a:p>
            <a:pPr indent="0" marL="0">
              <a:buNone/>
            </a:pPr>
            <a:endParaRPr lang="en-US" dirty="0"/>
          </a:p>
        </p:txBody>
      </p:sp>
      <p:sp>
        <p:nvSpPr>
          <p:cNvPr id="28" name="Text 26"/>
          <p:cNvSpPr/>
          <p:nvPr/>
        </p:nvSpPr>
        <p:spPr>
          <a:xfrm>
            <a:off x="3952577" y="2315914"/>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WORKFLOW</a:t>
            </a:r>
            <a:endParaRPr lang="en-US" sz="600" dirty="0"/>
          </a:p>
        </p:txBody>
      </p:sp>
      <p:sp>
        <p:nvSpPr>
          <p:cNvPr id="29" name="Text 27"/>
          <p:cNvSpPr/>
          <p:nvPr/>
        </p:nvSpPr>
        <p:spPr>
          <a:xfrm>
            <a:off x="3952577" y="2479625"/>
            <a:ext cx="4906631" cy="1233636"/>
          </a:xfrm>
          <a:prstGeom prst="rect">
            <a:avLst/>
          </a:prstGeom>
          <a:noFill/>
          <a:ln/>
        </p:spPr>
        <p:txBody>
          <a:bodyPr wrap="square" lIns="0" tIns="0" rIns="0" bIns="0" rtlCol="0" anchor="t"/>
          <a:lstStyle/>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Enter planning mode</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/plan</a:t>
            </a: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"I need to add user authentication.</a:t>
            </a:r>
            <a:endParaRPr lang="en-US" sz="675" dirty="0"/>
          </a:p>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Review the codebase and propose an approach."</a:t>
            </a:r>
            <a:endParaRPr lang="en-US" sz="675" dirty="0"/>
          </a:p>
          <a:p>
            <a:pPr algn="l" indent="0" marL="0">
              <a:lnSpc>
                <a:spcPts val="1080"/>
              </a:lnSpc>
              <a:buNone/>
            </a:pP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Claude explores, then presents plan</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You approve or refine</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Exit plan mode to implement</a:t>
            </a:r>
            <a:endParaRPr lang="en-US" sz="675" dirty="0"/>
          </a:p>
        </p:txBody>
      </p:sp>
      <p:sp>
        <p:nvSpPr>
          <p:cNvPr id="30" name="Text 28"/>
          <p:cNvSpPr/>
          <p:nvPr/>
        </p:nvSpPr>
        <p:spPr>
          <a:xfrm>
            <a:off x="3838277" y="4147542"/>
            <a:ext cx="2481411" cy="455116"/>
          </a:xfrm>
          <a:prstGeom prst="rect">
            <a:avLst/>
          </a:prstGeom>
          <a:solidFill>
            <a:srgbClr val="DCFCE7"/>
          </a:solidFill>
          <a:ln/>
        </p:spPr>
        <p:txBody>
          <a:bodyPr wrap="square" rtlCol="0" anchor="ctr"/>
          <a:lstStyle/>
          <a:p>
            <a:pPr indent="0" marL="0">
              <a:buNone/>
            </a:pPr>
            <a:endParaRPr lang="en-US" dirty="0"/>
          </a:p>
        </p:txBody>
      </p:sp>
      <p:sp>
        <p:nvSpPr>
          <p:cNvPr id="31" name="Shape 29"/>
          <p:cNvSpPr/>
          <p:nvPr/>
        </p:nvSpPr>
        <p:spPr>
          <a:xfrm>
            <a:off x="3852565" y="4147542"/>
            <a:ext cx="0" cy="455116"/>
          </a:xfrm>
          <a:prstGeom prst="line">
            <a:avLst/>
          </a:prstGeom>
          <a:noFill/>
          <a:ln w="28575">
            <a:solidFill>
              <a:srgbClr val="059669"/>
            </a:solidFill>
            <a:prstDash val="solid"/>
          </a:ln>
        </p:spPr>
      </p:sp>
      <p:sp>
        <p:nvSpPr>
          <p:cNvPr id="32" name="Text 30"/>
          <p:cNvSpPr/>
          <p:nvPr/>
        </p:nvSpPr>
        <p:spPr>
          <a:xfrm>
            <a:off x="3962102" y="4242792"/>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CONTEXT BENEFIT</a:t>
            </a:r>
            <a:endParaRPr lang="en-US" sz="675" dirty="0"/>
          </a:p>
        </p:txBody>
      </p:sp>
      <p:sp>
        <p:nvSpPr>
          <p:cNvPr id="33" name="Text 31"/>
          <p:cNvSpPr/>
          <p:nvPr/>
        </p:nvSpPr>
        <p:spPr>
          <a:xfrm>
            <a:off x="3962102" y="4400848"/>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Uses sub-agents for exploration — keeps main context clean</a:t>
            </a:r>
            <a:endParaRPr lang="en-US" sz="600" dirty="0"/>
          </a:p>
        </p:txBody>
      </p:sp>
      <p:sp>
        <p:nvSpPr>
          <p:cNvPr id="34" name="Text 32"/>
          <p:cNvSpPr/>
          <p:nvPr/>
        </p:nvSpPr>
        <p:spPr>
          <a:xfrm>
            <a:off x="6395889" y="4094262"/>
            <a:ext cx="2481411" cy="561677"/>
          </a:xfrm>
          <a:prstGeom prst="rect">
            <a:avLst/>
          </a:prstGeom>
          <a:solidFill>
            <a:srgbClr val="FEF3C7"/>
          </a:solidFill>
          <a:ln/>
        </p:spPr>
        <p:txBody>
          <a:bodyPr wrap="square" rtlCol="0" anchor="ctr"/>
          <a:lstStyle/>
          <a:p>
            <a:pPr indent="0" marL="0">
              <a:buNone/>
            </a:pPr>
            <a:endParaRPr lang="en-US" dirty="0"/>
          </a:p>
        </p:txBody>
      </p:sp>
      <p:sp>
        <p:nvSpPr>
          <p:cNvPr id="35" name="Shape 33"/>
          <p:cNvSpPr/>
          <p:nvPr/>
        </p:nvSpPr>
        <p:spPr>
          <a:xfrm>
            <a:off x="6410176" y="4094262"/>
            <a:ext cx="0" cy="561677"/>
          </a:xfrm>
          <a:prstGeom prst="line">
            <a:avLst/>
          </a:prstGeom>
          <a:noFill/>
          <a:ln w="28575">
            <a:solidFill>
              <a:srgbClr val="F59E0B"/>
            </a:solidFill>
            <a:prstDash val="solid"/>
          </a:ln>
        </p:spPr>
      </p:sp>
      <p:sp>
        <p:nvSpPr>
          <p:cNvPr id="36" name="Text 34"/>
          <p:cNvSpPr/>
          <p:nvPr/>
        </p:nvSpPr>
        <p:spPr>
          <a:xfrm>
            <a:off x="6519714" y="4189512"/>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BEST PRACTICE</a:t>
            </a:r>
            <a:endParaRPr lang="en-US" sz="675" dirty="0"/>
          </a:p>
        </p:txBody>
      </p:sp>
      <p:sp>
        <p:nvSpPr>
          <p:cNvPr id="37" name="Text 35"/>
          <p:cNvSpPr/>
          <p:nvPr/>
        </p:nvSpPr>
        <p:spPr>
          <a:xfrm>
            <a:off x="6519714" y="4347567"/>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For PRs, always plan first — iterate on approach before writing code</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76164"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801377"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PARALLEL WORK</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Sub-Agents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sp>
      <p:sp>
        <p:nvSpPr>
          <p:cNvPr id="9" name="Text 7"/>
          <p:cNvSpPr/>
          <p:nvPr/>
        </p:nvSpPr>
        <p:spPr>
          <a:xfrm>
            <a:off x="409575" y="1679972"/>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Specialized agents that work in parallel, each with their own context window.</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WHY USE THEM</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Keep main context clean</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Parallel task execution</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Specialized capabilities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Different models per task</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Context management is key</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79711"/>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BUILT-IN SUB-AGENTS</a:t>
            </a:r>
            <a:endParaRPr lang="en-US" sz="900" dirty="0"/>
          </a:p>
        </p:txBody>
      </p:sp>
      <p:sp>
        <p:nvSpPr>
          <p:cNvPr id="18" name="Text 16"/>
          <p:cNvSpPr/>
          <p:nvPr/>
        </p:nvSpPr>
        <p:spPr>
          <a:xfrm>
            <a:off x="3838277" y="1259681"/>
            <a:ext cx="1628924" cy="65886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383506"/>
            <a:ext cx="140889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Explore</a:t>
            </a:r>
            <a:endParaRPr lang="en-US" sz="900" dirty="0"/>
          </a:p>
        </p:txBody>
      </p:sp>
      <p:sp>
        <p:nvSpPr>
          <p:cNvPr id="20" name="Text 18"/>
          <p:cNvSpPr/>
          <p:nvPr/>
        </p:nvSpPr>
        <p:spPr>
          <a:xfrm>
            <a:off x="3962102" y="1581596"/>
            <a:ext cx="1408899"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Fast codebase scanning. Uses Haiku for speed. Returns findings to main thread.</a:t>
            </a:r>
            <a:endParaRPr lang="en-US" sz="600" dirty="0"/>
          </a:p>
        </p:txBody>
      </p:sp>
      <p:sp>
        <p:nvSpPr>
          <p:cNvPr id="21" name="Text 19"/>
          <p:cNvSpPr/>
          <p:nvPr/>
        </p:nvSpPr>
        <p:spPr>
          <a:xfrm>
            <a:off x="5543401" y="1206401"/>
            <a:ext cx="1628924" cy="765423"/>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2" name="Text 20"/>
          <p:cNvSpPr/>
          <p:nvPr/>
        </p:nvSpPr>
        <p:spPr>
          <a:xfrm>
            <a:off x="5667226" y="1330226"/>
            <a:ext cx="140889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Plan</a:t>
            </a:r>
            <a:endParaRPr lang="en-US" sz="900" dirty="0"/>
          </a:p>
        </p:txBody>
      </p:sp>
      <p:sp>
        <p:nvSpPr>
          <p:cNvPr id="23" name="Text 21"/>
          <p:cNvSpPr/>
          <p:nvPr/>
        </p:nvSpPr>
        <p:spPr>
          <a:xfrm>
            <a:off x="5667226" y="1528316"/>
            <a:ext cx="1408899"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Architecture planning. Reads full context. Designs implementation approach.</a:t>
            </a:r>
            <a:endParaRPr lang="en-US" sz="600" dirty="0"/>
          </a:p>
        </p:txBody>
      </p:sp>
      <p:sp>
        <p:nvSpPr>
          <p:cNvPr id="24" name="Text 22"/>
          <p:cNvSpPr/>
          <p:nvPr/>
        </p:nvSpPr>
        <p:spPr>
          <a:xfrm>
            <a:off x="7248525" y="1259681"/>
            <a:ext cx="1628924" cy="65886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5" name="Text 23"/>
          <p:cNvSpPr/>
          <p:nvPr/>
        </p:nvSpPr>
        <p:spPr>
          <a:xfrm>
            <a:off x="7372350" y="1383506"/>
            <a:ext cx="140889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Bash</a:t>
            </a:r>
            <a:endParaRPr lang="en-US" sz="900" dirty="0"/>
          </a:p>
        </p:txBody>
      </p:sp>
      <p:sp>
        <p:nvSpPr>
          <p:cNvPr id="26" name="Text 24"/>
          <p:cNvSpPr/>
          <p:nvPr/>
        </p:nvSpPr>
        <p:spPr>
          <a:xfrm>
            <a:off x="7372350" y="1581596"/>
            <a:ext cx="1408899"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Command execution. Runs shell commands. Reports results back.</a:t>
            </a:r>
            <a:endParaRPr lang="en-US" sz="600" dirty="0"/>
          </a:p>
        </p:txBody>
      </p:sp>
      <p:sp>
        <p:nvSpPr>
          <p:cNvPr id="27" name="Text 25"/>
          <p:cNvSpPr/>
          <p:nvPr/>
        </p:nvSpPr>
        <p:spPr>
          <a:xfrm>
            <a:off x="3838277" y="2238524"/>
            <a:ext cx="5139803"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CUSTOM SUB-AGENTS</a:t>
            </a:r>
            <a:endParaRPr lang="en-US" sz="825" dirty="0"/>
          </a:p>
        </p:txBody>
      </p:sp>
      <p:sp>
        <p:nvSpPr>
          <p:cNvPr id="28" name="Text 26"/>
          <p:cNvSpPr/>
          <p:nvPr/>
        </p:nvSpPr>
        <p:spPr>
          <a:xfrm>
            <a:off x="3838277" y="2613720"/>
            <a:ext cx="5039023" cy="940594"/>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3952577" y="2728020"/>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CREATE IN .claude/agents/</a:t>
            </a:r>
            <a:endParaRPr lang="en-US" sz="600" dirty="0"/>
          </a:p>
        </p:txBody>
      </p:sp>
      <p:sp>
        <p:nvSpPr>
          <p:cNvPr id="30" name="Text 28"/>
          <p:cNvSpPr/>
          <p:nvPr/>
        </p:nvSpPr>
        <p:spPr>
          <a:xfrm>
            <a:off x="3952577" y="2891730"/>
            <a:ext cx="4906631"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.claude/agents/my-agent.md</a:t>
            </a: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Define: name, description, model,</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available tools, and instructions</a:t>
            </a:r>
            <a:endParaRPr lang="en-US" sz="675" dirty="0"/>
          </a:p>
        </p:txBody>
      </p:sp>
      <p:sp>
        <p:nvSpPr>
          <p:cNvPr id="31" name="Text 29"/>
          <p:cNvSpPr/>
          <p:nvPr/>
        </p:nvSpPr>
        <p:spPr>
          <a:xfrm>
            <a:off x="3838277" y="3855244"/>
            <a:ext cx="2481411" cy="455116"/>
          </a:xfrm>
          <a:prstGeom prst="rect">
            <a:avLst/>
          </a:prstGeom>
          <a:solidFill>
            <a:srgbClr val="EDE9FE"/>
          </a:solidFill>
          <a:ln/>
        </p:spPr>
        <p:txBody>
          <a:bodyPr wrap="square" rtlCol="0" anchor="ctr"/>
          <a:lstStyle/>
          <a:p>
            <a:pPr indent="0" marL="0">
              <a:buNone/>
            </a:pPr>
            <a:endParaRPr lang="en-US" dirty="0"/>
          </a:p>
        </p:txBody>
      </p:sp>
      <p:sp>
        <p:nvSpPr>
          <p:cNvPr id="32" name="Shape 30"/>
          <p:cNvSpPr/>
          <p:nvPr/>
        </p:nvSpPr>
        <p:spPr>
          <a:xfrm>
            <a:off x="3852565" y="3855244"/>
            <a:ext cx="0" cy="455116"/>
          </a:xfrm>
          <a:prstGeom prst="line">
            <a:avLst/>
          </a:prstGeom>
          <a:noFill/>
          <a:ln w="28575">
            <a:solidFill>
              <a:srgbClr val="7C3AED"/>
            </a:solidFill>
            <a:prstDash val="solid"/>
          </a:ln>
        </p:spPr>
      </p:sp>
      <p:sp>
        <p:nvSpPr>
          <p:cNvPr id="33" name="Text 31"/>
          <p:cNvSpPr/>
          <p:nvPr/>
        </p:nvSpPr>
        <p:spPr>
          <a:xfrm>
            <a:off x="3962102" y="395049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MODEL STRATEGY</a:t>
            </a:r>
            <a:endParaRPr lang="en-US" sz="675" dirty="0"/>
          </a:p>
        </p:txBody>
      </p:sp>
      <p:sp>
        <p:nvSpPr>
          <p:cNvPr id="34" name="Text 32"/>
          <p:cNvSpPr/>
          <p:nvPr/>
        </p:nvSpPr>
        <p:spPr>
          <a:xfrm>
            <a:off x="3962102" y="410854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5B21B6"/>
                </a:solidFill>
                <a:latin typeface="Arial" pitchFamily="34" charset="0"/>
                <a:ea typeface="Arial" pitchFamily="34" charset="-122"/>
                <a:cs typeface="Arial" pitchFamily="34" charset="-120"/>
              </a:rPr>
              <a:t>Haiku for exploration, Sonnet for coding, Opus for architecture</a:t>
            </a:r>
            <a:endParaRPr lang="en-US" sz="600" dirty="0"/>
          </a:p>
        </p:txBody>
      </p:sp>
      <p:sp>
        <p:nvSpPr>
          <p:cNvPr id="35" name="Text 33"/>
          <p:cNvSpPr/>
          <p:nvPr/>
        </p:nvSpPr>
        <p:spPr>
          <a:xfrm>
            <a:off x="6395889" y="3801963"/>
            <a:ext cx="2481411" cy="561677"/>
          </a:xfrm>
          <a:prstGeom prst="rect">
            <a:avLst/>
          </a:prstGeom>
          <a:solidFill>
            <a:srgbClr val="DBEAFE"/>
          </a:solidFill>
          <a:ln/>
        </p:spPr>
        <p:txBody>
          <a:bodyPr wrap="square" rtlCol="0" anchor="ctr"/>
          <a:lstStyle/>
          <a:p>
            <a:pPr indent="0" marL="0">
              <a:buNone/>
            </a:pPr>
            <a:endParaRPr lang="en-US" dirty="0"/>
          </a:p>
        </p:txBody>
      </p:sp>
      <p:sp>
        <p:nvSpPr>
          <p:cNvPr id="36" name="Shape 34"/>
          <p:cNvSpPr/>
          <p:nvPr/>
        </p:nvSpPr>
        <p:spPr>
          <a:xfrm>
            <a:off x="6410176" y="3801963"/>
            <a:ext cx="0" cy="561677"/>
          </a:xfrm>
          <a:prstGeom prst="line">
            <a:avLst/>
          </a:prstGeom>
          <a:noFill/>
          <a:ln w="28575">
            <a:solidFill>
              <a:srgbClr val="3B82F6"/>
            </a:solidFill>
            <a:prstDash val="solid"/>
          </a:ln>
        </p:spPr>
      </p:sp>
      <p:sp>
        <p:nvSpPr>
          <p:cNvPr id="37" name="Text 35"/>
          <p:cNvSpPr/>
          <p:nvPr/>
        </p:nvSpPr>
        <p:spPr>
          <a:xfrm>
            <a:off x="6519714" y="3897213"/>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CONTEXT TIP</a:t>
            </a:r>
            <a:endParaRPr lang="en-US" sz="675" dirty="0"/>
          </a:p>
        </p:txBody>
      </p:sp>
      <p:sp>
        <p:nvSpPr>
          <p:cNvPr id="38" name="Text 36"/>
          <p:cNvSpPr/>
          <p:nvPr/>
        </p:nvSpPr>
        <p:spPr>
          <a:xfrm>
            <a:off x="6519714" y="4055269"/>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Offload exploration to sub-agents — save main context for actual changes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1009799"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835685"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AUTO-DISCOVERY</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Skills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sp>
      <p:sp>
        <p:nvSpPr>
          <p:cNvPr id="9" name="Text 7"/>
          <p:cNvSpPr/>
          <p:nvPr/>
        </p:nvSpPr>
        <p:spPr>
          <a:xfrm>
            <a:off x="409575" y="1679972"/>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KEY DIFFERENCE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Unlike slash commands, skills activate </a:t>
            </a:r>
            <a:pPr algn="l" indent="0" marL="0">
              <a:lnSpc>
                <a:spcPts val="1125"/>
              </a:lnSpc>
              <a:buNone/>
            </a:pPr>
            <a:r>
              <a:rPr lang="en-US" sz="750" i="1" dirty="0">
                <a:solidFill>
                  <a:srgbClr val="FFFFFF">
                    <a:alpha val="80000"/>
                  </a:srgbClr>
                </a:solidFill>
                <a:latin typeface="Arial" pitchFamily="34" charset="0"/>
                <a:ea typeface="Arial" pitchFamily="34" charset="-122"/>
                <a:cs typeface="Arial" pitchFamily="34" charset="-120"/>
              </a:rPr>
              <a:t>automatically</a:t>
            </a:r>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 when task context matches.</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THEY WORK</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1. You give a task</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2. Claude reviews skill descriptions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3. Matching skills auto-load</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4. Instructions apply automatically</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No manual invocation needed</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24346"/>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SKILLS VS SLASH COMMANDS</a:t>
            </a:r>
            <a:endParaRPr lang="en-US" sz="900" dirty="0"/>
          </a:p>
        </p:txBody>
      </p:sp>
      <p:sp>
        <p:nvSpPr>
          <p:cNvPr id="18" name="Text 16"/>
          <p:cNvSpPr/>
          <p:nvPr/>
        </p:nvSpPr>
        <p:spPr>
          <a:xfrm>
            <a:off x="3838277" y="1131987"/>
            <a:ext cx="5039023" cy="96574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Shape 17"/>
          <p:cNvSpPr/>
          <p:nvPr/>
        </p:nvSpPr>
        <p:spPr>
          <a:xfrm>
            <a:off x="6357789" y="1255812"/>
            <a:ext cx="0" cy="718096"/>
          </a:xfrm>
          <a:prstGeom prst="line">
            <a:avLst/>
          </a:prstGeom>
          <a:noFill/>
          <a:ln w="9525">
            <a:solidFill>
              <a:srgbClr val="E4E7ED"/>
            </a:solidFill>
            <a:prstDash val="solid"/>
          </a:ln>
        </p:spPr>
      </p:sp>
      <p:sp>
        <p:nvSpPr>
          <p:cNvPr id="20" name="Text 18"/>
          <p:cNvSpPr/>
          <p:nvPr/>
        </p:nvSpPr>
        <p:spPr>
          <a:xfrm>
            <a:off x="3962102" y="1255812"/>
            <a:ext cx="228329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D97706"/>
                </a:solidFill>
                <a:latin typeface="Arial" pitchFamily="34" charset="0"/>
                <a:ea typeface="Arial" pitchFamily="34" charset="-122"/>
                <a:cs typeface="Arial" pitchFamily="34" charset="-120"/>
              </a:rPr>
              <a:t>SLASH COMMANDS</a:t>
            </a:r>
            <a:endParaRPr lang="en-US" sz="825" dirty="0"/>
          </a:p>
        </p:txBody>
      </p:sp>
      <p:sp>
        <p:nvSpPr>
          <p:cNvPr id="21" name="Text 19"/>
          <p:cNvSpPr/>
          <p:nvPr/>
        </p:nvSpPr>
        <p:spPr>
          <a:xfrm>
            <a:off x="3962102" y="1459557"/>
            <a:ext cx="2283294" cy="514350"/>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Manual invocation</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You type /command</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Explicit workflow triggers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Best for: specific actions</a:t>
            </a:r>
            <a:endParaRPr lang="en-US" sz="675" dirty="0"/>
          </a:p>
        </p:txBody>
      </p:sp>
      <p:sp>
        <p:nvSpPr>
          <p:cNvPr id="22" name="Text 20"/>
          <p:cNvSpPr/>
          <p:nvPr/>
        </p:nvSpPr>
        <p:spPr>
          <a:xfrm>
            <a:off x="6514951" y="1255812"/>
            <a:ext cx="228329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D97706"/>
                </a:solidFill>
                <a:latin typeface="Arial" pitchFamily="34" charset="0"/>
                <a:ea typeface="Arial" pitchFamily="34" charset="-122"/>
                <a:cs typeface="Arial" pitchFamily="34" charset="-120"/>
              </a:rPr>
              <a:t>SKILLS</a:t>
            </a:r>
            <a:endParaRPr lang="en-US" sz="825" dirty="0"/>
          </a:p>
        </p:txBody>
      </p:sp>
      <p:sp>
        <p:nvSpPr>
          <p:cNvPr id="23" name="Text 21"/>
          <p:cNvSpPr/>
          <p:nvPr/>
        </p:nvSpPr>
        <p:spPr>
          <a:xfrm>
            <a:off x="6514951" y="1459557"/>
            <a:ext cx="2283294" cy="514350"/>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Automatic activation</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Context-based matching</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Always-on capabilities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Best for: domain expertise</a:t>
            </a:r>
            <a:endParaRPr lang="en-US" sz="675" dirty="0"/>
          </a:p>
        </p:txBody>
      </p:sp>
      <p:sp>
        <p:nvSpPr>
          <p:cNvPr id="24" name="Text 22"/>
          <p:cNvSpPr/>
          <p:nvPr/>
        </p:nvSpPr>
        <p:spPr>
          <a:xfrm>
            <a:off x="3838277" y="2364432"/>
            <a:ext cx="5039023" cy="1351806"/>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52577" y="2478732"/>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SKILL FILE STRUCTURE</a:t>
            </a:r>
            <a:endParaRPr lang="en-US" sz="600" dirty="0"/>
          </a:p>
        </p:txBody>
      </p:sp>
      <p:sp>
        <p:nvSpPr>
          <p:cNvPr id="26" name="Text 24"/>
          <p:cNvSpPr/>
          <p:nvPr/>
        </p:nvSpPr>
        <p:spPr>
          <a:xfrm>
            <a:off x="3952577" y="2642443"/>
            <a:ext cx="4906631" cy="959495"/>
          </a:xfrm>
          <a:prstGeom prst="rect">
            <a:avLst/>
          </a:prstGeom>
          <a:noFill/>
          <a:ln/>
        </p:spPr>
        <p:txBody>
          <a:bodyPr wrap="square" lIns="0" tIns="0" rIns="0" bIns="0" rtlCol="0" anchor="t"/>
          <a:lstStyle/>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.claude/skills/react-patterns.md</a:t>
            </a: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Description (for matching)</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"Use for React component development"</a:t>
            </a:r>
            <a:pPr algn="l" indent="0" marL="0">
              <a:lnSpc>
                <a:spcPts val="1080"/>
              </a:lnSpc>
              <a:buNone/>
            </a:pP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Instructions (loaded when matched)</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"Follow these patterns..."</a:t>
            </a:r>
            <a:endParaRPr lang="en-US" sz="675" dirty="0"/>
          </a:p>
        </p:txBody>
      </p:sp>
      <p:sp>
        <p:nvSpPr>
          <p:cNvPr id="27" name="Text 25"/>
          <p:cNvSpPr/>
          <p:nvPr/>
        </p:nvSpPr>
        <p:spPr>
          <a:xfrm>
            <a:off x="3838277" y="3963888"/>
            <a:ext cx="2481411" cy="455116"/>
          </a:xfrm>
          <a:prstGeom prst="rect">
            <a:avLst/>
          </a:prstGeom>
          <a:solidFill>
            <a:srgbClr val="DCFCE7"/>
          </a:solidFill>
          <a:ln/>
        </p:spPr>
        <p:txBody>
          <a:bodyPr wrap="square" rtlCol="0" anchor="ctr"/>
          <a:lstStyle/>
          <a:p>
            <a:pPr indent="0" marL="0">
              <a:buNone/>
            </a:pPr>
            <a:endParaRPr lang="en-US" dirty="0"/>
          </a:p>
        </p:txBody>
      </p:sp>
      <p:sp>
        <p:nvSpPr>
          <p:cNvPr id="28" name="Shape 26"/>
          <p:cNvSpPr/>
          <p:nvPr/>
        </p:nvSpPr>
        <p:spPr>
          <a:xfrm>
            <a:off x="3852565" y="3963888"/>
            <a:ext cx="0" cy="455116"/>
          </a:xfrm>
          <a:prstGeom prst="line">
            <a:avLst/>
          </a:prstGeom>
          <a:noFill/>
          <a:ln w="28575">
            <a:solidFill>
              <a:srgbClr val="059669"/>
            </a:solidFill>
            <a:prstDash val="solid"/>
          </a:ln>
        </p:spPr>
      </p:sp>
      <p:sp>
        <p:nvSpPr>
          <p:cNvPr id="29" name="Text 27"/>
          <p:cNvSpPr/>
          <p:nvPr/>
        </p:nvSpPr>
        <p:spPr>
          <a:xfrm>
            <a:off x="3962102" y="4059138"/>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USE CASE</a:t>
            </a:r>
            <a:endParaRPr lang="en-US" sz="675" dirty="0"/>
          </a:p>
        </p:txBody>
      </p:sp>
      <p:sp>
        <p:nvSpPr>
          <p:cNvPr id="30" name="Text 28"/>
          <p:cNvSpPr/>
          <p:nvPr/>
        </p:nvSpPr>
        <p:spPr>
          <a:xfrm>
            <a:off x="3962102" y="4217194"/>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Domain-specific patterns, coding standards, framework guidelines</a:t>
            </a:r>
            <a:endParaRPr lang="en-US" sz="600" dirty="0"/>
          </a:p>
        </p:txBody>
      </p:sp>
      <p:sp>
        <p:nvSpPr>
          <p:cNvPr id="31" name="Text 29"/>
          <p:cNvSpPr/>
          <p:nvPr/>
        </p:nvSpPr>
        <p:spPr>
          <a:xfrm>
            <a:off x="6395889" y="3963888"/>
            <a:ext cx="2481411" cy="455116"/>
          </a:xfrm>
          <a:prstGeom prst="rect">
            <a:avLst/>
          </a:prstGeom>
          <a:solidFill>
            <a:srgbClr val="DBEAFE"/>
          </a:solidFill>
          <a:ln/>
        </p:spPr>
        <p:txBody>
          <a:bodyPr wrap="square" rtlCol="0" anchor="ctr"/>
          <a:lstStyle/>
          <a:p>
            <a:pPr indent="0" marL="0">
              <a:buNone/>
            </a:pPr>
            <a:endParaRPr lang="en-US" dirty="0"/>
          </a:p>
        </p:txBody>
      </p:sp>
      <p:sp>
        <p:nvSpPr>
          <p:cNvPr id="32" name="Shape 30"/>
          <p:cNvSpPr/>
          <p:nvPr/>
        </p:nvSpPr>
        <p:spPr>
          <a:xfrm>
            <a:off x="6410176" y="3963888"/>
            <a:ext cx="0" cy="455116"/>
          </a:xfrm>
          <a:prstGeom prst="line">
            <a:avLst/>
          </a:prstGeom>
          <a:noFill/>
          <a:ln w="28575">
            <a:solidFill>
              <a:srgbClr val="3B82F6"/>
            </a:solidFill>
            <a:prstDash val="solid"/>
          </a:ln>
        </p:spPr>
      </p:sp>
      <p:sp>
        <p:nvSpPr>
          <p:cNvPr id="33" name="Text 31"/>
          <p:cNvSpPr/>
          <p:nvPr/>
        </p:nvSpPr>
        <p:spPr>
          <a:xfrm>
            <a:off x="6519714" y="4059138"/>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TEAM BENEFIT</a:t>
            </a:r>
            <a:endParaRPr lang="en-US" sz="675" dirty="0"/>
          </a:p>
        </p:txBody>
      </p:sp>
      <p:sp>
        <p:nvSpPr>
          <p:cNvPr id="34" name="Text 32"/>
          <p:cNvSpPr/>
          <p:nvPr/>
        </p:nvSpPr>
        <p:spPr>
          <a:xfrm>
            <a:off x="6519714" y="4217194"/>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Commit to git — entire team gets consistent AI behavior</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74961"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698150"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INTEGRATIONS</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MCP</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Servers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MODEL CONTEXT PROTOCOL</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Open standard for AI-tool integrations. Connect Claude to databases, APIs, and services.</a:t>
            </a:r>
            <a:endParaRPr lang="en-US" sz="750" dirty="0"/>
          </a:p>
        </p:txBody>
      </p:sp>
      <p:sp>
        <p:nvSpPr>
          <p:cNvPr id="11" name="Text 9"/>
          <p:cNvSpPr/>
          <p:nvPr/>
        </p:nvSpPr>
        <p:spPr>
          <a:xfrm>
            <a:off x="266700" y="2834283"/>
            <a:ext cx="2885777" cy="9673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WHAT MCP ENABLES</a:t>
            </a:r>
            <a:endParaRPr lang="en-US" sz="750" dirty="0"/>
          </a:p>
        </p:txBody>
      </p:sp>
      <p:sp>
        <p:nvSpPr>
          <p:cNvPr id="13" name="Text 11"/>
          <p:cNvSpPr/>
          <p:nvPr/>
        </p:nvSpPr>
        <p:spPr>
          <a:xfrm>
            <a:off x="381000" y="3139083"/>
            <a:ext cx="2710321"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Database queries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API integrations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File system access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External services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Hundreds of pre-built servers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696069"/>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CONFIGURATION SCOPES</a:t>
            </a:r>
            <a:endParaRPr lang="en-US" sz="900" dirty="0"/>
          </a:p>
        </p:txBody>
      </p:sp>
      <p:sp>
        <p:nvSpPr>
          <p:cNvPr id="18" name="Text 16"/>
          <p:cNvSpPr/>
          <p:nvPr/>
        </p:nvSpPr>
        <p:spPr>
          <a:xfrm>
            <a:off x="3838277" y="1103709"/>
            <a:ext cx="1628924" cy="641747"/>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38277" y="1117997"/>
            <a:ext cx="1628924" cy="0"/>
          </a:xfrm>
          <a:prstGeom prst="line">
            <a:avLst/>
          </a:prstGeom>
          <a:noFill/>
          <a:ln w="28575">
            <a:solidFill>
              <a:srgbClr val="059669"/>
            </a:solidFill>
            <a:prstDash val="solid"/>
          </a:ln>
        </p:spPr>
      </p:sp>
      <p:sp>
        <p:nvSpPr>
          <p:cNvPr id="20" name="Text 18"/>
          <p:cNvSpPr/>
          <p:nvPr/>
        </p:nvSpPr>
        <p:spPr>
          <a:xfrm>
            <a:off x="3933527" y="1227534"/>
            <a:ext cx="146719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LOCAL</a:t>
            </a:r>
            <a:endParaRPr lang="en-US" sz="750" dirty="0"/>
          </a:p>
        </p:txBody>
      </p:sp>
      <p:sp>
        <p:nvSpPr>
          <p:cNvPr id="21" name="Text 19"/>
          <p:cNvSpPr/>
          <p:nvPr/>
        </p:nvSpPr>
        <p:spPr>
          <a:xfrm>
            <a:off x="3933527" y="1398984"/>
            <a:ext cx="1467192"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~/.claude.json</a:t>
            </a:r>
            <a:endParaRPr lang="en-US" sz="600" dirty="0"/>
          </a:p>
        </p:txBody>
      </p:sp>
      <p:sp>
        <p:nvSpPr>
          <p:cNvPr id="22" name="Text 20"/>
          <p:cNvSpPr/>
          <p:nvPr/>
        </p:nvSpPr>
        <p:spPr>
          <a:xfrm>
            <a:off x="3933527" y="1543645"/>
            <a:ext cx="1467192"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Private to you, current project only</a:t>
            </a:r>
            <a:endParaRPr lang="en-US" sz="600" dirty="0"/>
          </a:p>
        </p:txBody>
      </p:sp>
      <p:sp>
        <p:nvSpPr>
          <p:cNvPr id="23" name="Text 21"/>
          <p:cNvSpPr/>
          <p:nvPr/>
        </p:nvSpPr>
        <p:spPr>
          <a:xfrm>
            <a:off x="5543401" y="1103709"/>
            <a:ext cx="1628924" cy="641747"/>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5543401" y="1117997"/>
            <a:ext cx="1628924" cy="0"/>
          </a:xfrm>
          <a:prstGeom prst="line">
            <a:avLst/>
          </a:prstGeom>
          <a:noFill/>
          <a:ln w="28575">
            <a:solidFill>
              <a:srgbClr val="3B82F6"/>
            </a:solidFill>
            <a:prstDash val="solid"/>
          </a:ln>
        </p:spPr>
      </p:sp>
      <p:sp>
        <p:nvSpPr>
          <p:cNvPr id="25" name="Text 23"/>
          <p:cNvSpPr/>
          <p:nvPr/>
        </p:nvSpPr>
        <p:spPr>
          <a:xfrm>
            <a:off x="5638651" y="1227534"/>
            <a:ext cx="146719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PROJECT</a:t>
            </a:r>
            <a:endParaRPr lang="en-US" sz="750" dirty="0"/>
          </a:p>
        </p:txBody>
      </p:sp>
      <p:sp>
        <p:nvSpPr>
          <p:cNvPr id="26" name="Text 24"/>
          <p:cNvSpPr/>
          <p:nvPr/>
        </p:nvSpPr>
        <p:spPr>
          <a:xfrm>
            <a:off x="5638651" y="1398984"/>
            <a:ext cx="1467192"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.claude/</a:t>
            </a:r>
            <a:endParaRPr lang="en-US" sz="600" dirty="0"/>
          </a:p>
        </p:txBody>
      </p:sp>
      <p:sp>
        <p:nvSpPr>
          <p:cNvPr id="27" name="Text 25"/>
          <p:cNvSpPr/>
          <p:nvPr/>
        </p:nvSpPr>
        <p:spPr>
          <a:xfrm>
            <a:off x="5638651" y="1543645"/>
            <a:ext cx="1467192"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Shared via git with team</a:t>
            </a:r>
            <a:endParaRPr lang="en-US" sz="600" dirty="0"/>
          </a:p>
        </p:txBody>
      </p:sp>
      <p:sp>
        <p:nvSpPr>
          <p:cNvPr id="28" name="Text 26"/>
          <p:cNvSpPr/>
          <p:nvPr/>
        </p:nvSpPr>
        <p:spPr>
          <a:xfrm>
            <a:off x="7248525" y="1103709"/>
            <a:ext cx="1628924" cy="641747"/>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7248525" y="1117997"/>
            <a:ext cx="1628924" cy="0"/>
          </a:xfrm>
          <a:prstGeom prst="line">
            <a:avLst/>
          </a:prstGeom>
          <a:noFill/>
          <a:ln w="28575">
            <a:solidFill>
              <a:srgbClr val="7C3AED"/>
            </a:solidFill>
            <a:prstDash val="solid"/>
          </a:ln>
        </p:spPr>
      </p:sp>
      <p:sp>
        <p:nvSpPr>
          <p:cNvPr id="30" name="Text 28"/>
          <p:cNvSpPr/>
          <p:nvPr/>
        </p:nvSpPr>
        <p:spPr>
          <a:xfrm>
            <a:off x="7343775" y="1227534"/>
            <a:ext cx="146719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7C3AED"/>
                </a:solidFill>
                <a:latin typeface="Arial" pitchFamily="34" charset="0"/>
                <a:ea typeface="Arial" pitchFamily="34" charset="-122"/>
                <a:cs typeface="Arial" pitchFamily="34" charset="-120"/>
              </a:rPr>
              <a:t>GLOBAL</a:t>
            </a:r>
            <a:endParaRPr lang="en-US" sz="750" dirty="0"/>
          </a:p>
        </p:txBody>
      </p:sp>
      <p:sp>
        <p:nvSpPr>
          <p:cNvPr id="31" name="Text 29"/>
          <p:cNvSpPr/>
          <p:nvPr/>
        </p:nvSpPr>
        <p:spPr>
          <a:xfrm>
            <a:off x="7343775" y="1398984"/>
            <a:ext cx="1467192"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User config</a:t>
            </a:r>
            <a:endParaRPr lang="en-US" sz="600" dirty="0"/>
          </a:p>
        </p:txBody>
      </p:sp>
      <p:sp>
        <p:nvSpPr>
          <p:cNvPr id="32" name="Text 30"/>
          <p:cNvSpPr/>
          <p:nvPr/>
        </p:nvSpPr>
        <p:spPr>
          <a:xfrm>
            <a:off x="7343775" y="1543645"/>
            <a:ext cx="1467192"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Available across all projects</a:t>
            </a:r>
            <a:endParaRPr lang="en-US" sz="600" dirty="0"/>
          </a:p>
        </p:txBody>
      </p:sp>
      <p:sp>
        <p:nvSpPr>
          <p:cNvPr id="33" name="Text 31"/>
          <p:cNvSpPr/>
          <p:nvPr/>
        </p:nvSpPr>
        <p:spPr>
          <a:xfrm>
            <a:off x="3838277" y="2012156"/>
            <a:ext cx="5039023" cy="1625947"/>
          </a:xfrm>
          <a:prstGeom prst="rect">
            <a:avLst/>
          </a:prstGeom>
          <a:solidFill>
            <a:srgbClr val="1A1F2E"/>
          </a:solidFill>
          <a:ln/>
        </p:spPr>
        <p:txBody>
          <a:bodyPr wrap="square" rtlCol="0" anchor="ctr"/>
          <a:lstStyle/>
          <a:p>
            <a:pPr indent="0" marL="0">
              <a:buNone/>
            </a:pPr>
            <a:endParaRPr lang="en-US" dirty="0"/>
          </a:p>
        </p:txBody>
      </p:sp>
      <p:sp>
        <p:nvSpPr>
          <p:cNvPr id="34" name="Text 32"/>
          <p:cNvSpPr/>
          <p:nvPr/>
        </p:nvSpPr>
        <p:spPr>
          <a:xfrm>
            <a:off x="3952577" y="2126456"/>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ADD GITHUB MCP</a:t>
            </a:r>
            <a:endParaRPr lang="en-US" sz="600" dirty="0"/>
          </a:p>
        </p:txBody>
      </p:sp>
      <p:sp>
        <p:nvSpPr>
          <p:cNvPr id="35" name="Text 33"/>
          <p:cNvSpPr/>
          <p:nvPr/>
        </p:nvSpPr>
        <p:spPr>
          <a:xfrm>
            <a:off x="3952577" y="2290167"/>
            <a:ext cx="4906631" cy="1233636"/>
          </a:xfrm>
          <a:prstGeom prst="rect">
            <a:avLst/>
          </a:prstGeom>
          <a:noFill/>
          <a:ln/>
        </p:spPr>
        <p:txBody>
          <a:bodyPr wrap="square" lIns="0" tIns="0" rIns="0" bIns="0" rtlCol="0" anchor="t"/>
          <a:lstStyle/>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 your claude config:</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"mcpServers": {</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"github": {</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"command": "npx",</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"args": ["@anthropic/mcp-github"]</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p:txBody>
      </p:sp>
      <p:sp>
        <p:nvSpPr>
          <p:cNvPr id="36" name="Text 34"/>
          <p:cNvSpPr/>
          <p:nvPr/>
        </p:nvSpPr>
        <p:spPr>
          <a:xfrm>
            <a:off x="3838277" y="3939034"/>
            <a:ext cx="2481411" cy="455116"/>
          </a:xfrm>
          <a:prstGeom prst="rect">
            <a:avLst/>
          </a:prstGeom>
          <a:solidFill>
            <a:srgbClr val="DCFCE7"/>
          </a:solidFill>
          <a:ln/>
        </p:spPr>
        <p:txBody>
          <a:bodyPr wrap="square" rtlCol="0" anchor="ctr"/>
          <a:lstStyle/>
          <a:p>
            <a:pPr indent="0" marL="0">
              <a:buNone/>
            </a:pPr>
            <a:endParaRPr lang="en-US" dirty="0"/>
          </a:p>
        </p:txBody>
      </p:sp>
      <p:sp>
        <p:nvSpPr>
          <p:cNvPr id="37" name="Shape 35"/>
          <p:cNvSpPr/>
          <p:nvPr/>
        </p:nvSpPr>
        <p:spPr>
          <a:xfrm>
            <a:off x="3852565" y="3939034"/>
            <a:ext cx="0" cy="455116"/>
          </a:xfrm>
          <a:prstGeom prst="line">
            <a:avLst/>
          </a:prstGeom>
          <a:noFill/>
          <a:ln w="28575">
            <a:solidFill>
              <a:srgbClr val="059669"/>
            </a:solidFill>
            <a:prstDash val="solid"/>
          </a:ln>
        </p:spPr>
      </p:sp>
      <p:sp>
        <p:nvSpPr>
          <p:cNvPr id="38" name="Text 36"/>
          <p:cNvSpPr/>
          <p:nvPr/>
        </p:nvSpPr>
        <p:spPr>
          <a:xfrm>
            <a:off x="3962102" y="403428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POPULAR SERVERS</a:t>
            </a:r>
            <a:endParaRPr lang="en-US" sz="675" dirty="0"/>
          </a:p>
        </p:txBody>
      </p:sp>
      <p:sp>
        <p:nvSpPr>
          <p:cNvPr id="39" name="Text 37"/>
          <p:cNvSpPr/>
          <p:nvPr/>
        </p:nvSpPr>
        <p:spPr>
          <a:xfrm>
            <a:off x="3962102" y="419233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GitHub, PostgreSQL, Slack, Notion, Google Drive, Linear</a:t>
            </a:r>
            <a:endParaRPr lang="en-US" sz="600" dirty="0"/>
          </a:p>
        </p:txBody>
      </p:sp>
      <p:sp>
        <p:nvSpPr>
          <p:cNvPr id="40" name="Text 38"/>
          <p:cNvSpPr/>
          <p:nvPr/>
        </p:nvSpPr>
        <p:spPr>
          <a:xfrm>
            <a:off x="6395889" y="3885754"/>
            <a:ext cx="2481411" cy="561677"/>
          </a:xfrm>
          <a:prstGeom prst="rect">
            <a:avLst/>
          </a:prstGeom>
          <a:solidFill>
            <a:srgbClr val="FEF3C7"/>
          </a:solidFill>
          <a:ln/>
        </p:spPr>
        <p:txBody>
          <a:bodyPr wrap="square" rtlCol="0" anchor="ctr"/>
          <a:lstStyle/>
          <a:p>
            <a:pPr indent="0" marL="0">
              <a:buNone/>
            </a:pPr>
            <a:endParaRPr lang="en-US" dirty="0"/>
          </a:p>
        </p:txBody>
      </p:sp>
      <p:sp>
        <p:nvSpPr>
          <p:cNvPr id="41" name="Shape 39"/>
          <p:cNvSpPr/>
          <p:nvPr/>
        </p:nvSpPr>
        <p:spPr>
          <a:xfrm>
            <a:off x="6410176" y="3885754"/>
            <a:ext cx="0" cy="561677"/>
          </a:xfrm>
          <a:prstGeom prst="line">
            <a:avLst/>
          </a:prstGeom>
          <a:noFill/>
          <a:ln w="28575">
            <a:solidFill>
              <a:srgbClr val="F59E0B"/>
            </a:solidFill>
            <a:prstDash val="solid"/>
          </a:ln>
        </p:spPr>
      </p:sp>
      <p:sp>
        <p:nvSpPr>
          <p:cNvPr id="42" name="Text 40"/>
          <p:cNvSpPr/>
          <p:nvPr/>
        </p:nvSpPr>
        <p:spPr>
          <a:xfrm>
            <a:off x="6519714" y="398100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SECURITY NOTE</a:t>
            </a:r>
            <a:endParaRPr lang="en-US" sz="675" dirty="0"/>
          </a:p>
        </p:txBody>
      </p:sp>
      <p:sp>
        <p:nvSpPr>
          <p:cNvPr id="43" name="Text 41"/>
          <p:cNvSpPr/>
          <p:nvPr/>
        </p:nvSpPr>
        <p:spPr>
          <a:xfrm>
            <a:off x="6519714" y="4139059"/>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MCP servers can access external data — review permissions carefully</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692944"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512493"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ADVANCED</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Hooks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sp>
      <p:sp>
        <p:nvSpPr>
          <p:cNvPr id="9" name="Text 7"/>
          <p:cNvSpPr/>
          <p:nvPr/>
        </p:nvSpPr>
        <p:spPr>
          <a:xfrm>
            <a:off x="409575" y="1679972"/>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Deterministic code that runs at specific points in Claude's execution pipeline.</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WHY USE HOOKS</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Transparency &amp; auditability</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Security enforcement</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Cost tracking</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Policy compliance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Enterprise-grade control</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28080"/>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HOOK TYPES</a:t>
            </a:r>
            <a:endParaRPr lang="en-US" sz="900" dirty="0"/>
          </a:p>
        </p:txBody>
      </p:sp>
      <p:sp>
        <p:nvSpPr>
          <p:cNvPr id="18" name="Text 16"/>
          <p:cNvSpPr/>
          <p:nvPr/>
        </p:nvSpPr>
        <p:spPr>
          <a:xfrm>
            <a:off x="3838277" y="1235720"/>
            <a:ext cx="5039023" cy="52566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359545"/>
            <a:ext cx="238530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59E0B"/>
                </a:solidFill>
                <a:latin typeface="Arial" pitchFamily="34" charset="0"/>
                <a:ea typeface="Arial" pitchFamily="34" charset="-122"/>
                <a:cs typeface="Arial" pitchFamily="34" charset="-120"/>
              </a:rPr>
              <a:t>PreToolUse</a:t>
            </a:r>
            <a:endParaRPr lang="en-US" sz="750" dirty="0"/>
          </a:p>
        </p:txBody>
      </p:sp>
      <p:sp>
        <p:nvSpPr>
          <p:cNvPr id="20" name="Text 18"/>
          <p:cNvSpPr/>
          <p:nvPr/>
        </p:nvSpPr>
        <p:spPr>
          <a:xfrm>
            <a:off x="3962102" y="1530995"/>
            <a:ext cx="2385307"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Before tool execution. Can block calls, validate permissions.</a:t>
            </a:r>
            <a:endParaRPr lang="en-US" sz="600" dirty="0"/>
          </a:p>
        </p:txBody>
      </p:sp>
      <p:sp>
        <p:nvSpPr>
          <p:cNvPr id="21" name="Text 19"/>
          <p:cNvSpPr/>
          <p:nvPr/>
        </p:nvSpPr>
        <p:spPr>
          <a:xfrm>
            <a:off x="6414939" y="1359545"/>
            <a:ext cx="238530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PostToolUse</a:t>
            </a:r>
            <a:endParaRPr lang="en-US" sz="750" dirty="0"/>
          </a:p>
        </p:txBody>
      </p:sp>
      <p:sp>
        <p:nvSpPr>
          <p:cNvPr id="22" name="Text 20"/>
          <p:cNvSpPr/>
          <p:nvPr/>
        </p:nvSpPr>
        <p:spPr>
          <a:xfrm>
            <a:off x="6414939" y="1530995"/>
            <a:ext cx="2385307"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After tool execution. Log results, inject metrics.</a:t>
            </a:r>
            <a:endParaRPr lang="en-US" sz="600" dirty="0"/>
          </a:p>
        </p:txBody>
      </p:sp>
      <p:sp>
        <p:nvSpPr>
          <p:cNvPr id="23" name="Text 21"/>
          <p:cNvSpPr/>
          <p:nvPr/>
        </p:nvSpPr>
        <p:spPr>
          <a:xfrm>
            <a:off x="3838277" y="2009031"/>
            <a:ext cx="5039023" cy="52566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962102" y="2132856"/>
            <a:ext cx="238530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PermissionRequest</a:t>
            </a:r>
            <a:endParaRPr lang="en-US" sz="750" dirty="0"/>
          </a:p>
        </p:txBody>
      </p:sp>
      <p:sp>
        <p:nvSpPr>
          <p:cNvPr id="25" name="Text 23"/>
          <p:cNvSpPr/>
          <p:nvPr/>
        </p:nvSpPr>
        <p:spPr>
          <a:xfrm>
            <a:off x="3962102" y="2304306"/>
            <a:ext cx="2385307"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When permission dialog shown. Auto-approve or deny.</a:t>
            </a:r>
            <a:endParaRPr lang="en-US" sz="600" dirty="0"/>
          </a:p>
        </p:txBody>
      </p:sp>
      <p:sp>
        <p:nvSpPr>
          <p:cNvPr id="26" name="Text 24"/>
          <p:cNvSpPr/>
          <p:nvPr/>
        </p:nvSpPr>
        <p:spPr>
          <a:xfrm>
            <a:off x="6414939" y="2132856"/>
            <a:ext cx="238530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DC2626"/>
                </a:solidFill>
                <a:latin typeface="Arial" pitchFamily="34" charset="0"/>
                <a:ea typeface="Arial" pitchFamily="34" charset="-122"/>
                <a:cs typeface="Arial" pitchFamily="34" charset="-120"/>
              </a:rPr>
              <a:t>AgentCompletion</a:t>
            </a:r>
            <a:endParaRPr lang="en-US" sz="750" dirty="0"/>
          </a:p>
        </p:txBody>
      </p:sp>
      <p:sp>
        <p:nvSpPr>
          <p:cNvPr id="27" name="Text 25"/>
          <p:cNvSpPr/>
          <p:nvPr/>
        </p:nvSpPr>
        <p:spPr>
          <a:xfrm>
            <a:off x="6414939" y="2304306"/>
            <a:ext cx="2385307"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When agent finishes. Clean up resources, validate outputs.</a:t>
            </a:r>
            <a:endParaRPr lang="en-US" sz="600" dirty="0"/>
          </a:p>
        </p:txBody>
      </p:sp>
      <p:sp>
        <p:nvSpPr>
          <p:cNvPr id="28" name="Text 26"/>
          <p:cNvSpPr/>
          <p:nvPr/>
        </p:nvSpPr>
        <p:spPr>
          <a:xfrm>
            <a:off x="3838277" y="2782342"/>
            <a:ext cx="5139803"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USE CASES</a:t>
            </a:r>
            <a:endParaRPr lang="en-US" sz="825" dirty="0"/>
          </a:p>
        </p:txBody>
      </p:sp>
      <p:sp>
        <p:nvSpPr>
          <p:cNvPr id="29" name="Text 27"/>
          <p:cNvSpPr/>
          <p:nvPr/>
        </p:nvSpPr>
        <p:spPr>
          <a:xfrm>
            <a:off x="3838277" y="3157538"/>
            <a:ext cx="2481411" cy="455116"/>
          </a:xfrm>
          <a:prstGeom prst="rect">
            <a:avLst/>
          </a:prstGeom>
          <a:solidFill>
            <a:srgbClr val="FEE2E2"/>
          </a:solidFill>
          <a:ln/>
        </p:spPr>
        <p:txBody>
          <a:bodyPr wrap="square" rtlCol="0" anchor="ctr"/>
          <a:lstStyle/>
          <a:p>
            <a:pPr indent="0" marL="0">
              <a:buNone/>
            </a:pPr>
            <a:endParaRPr lang="en-US" dirty="0"/>
          </a:p>
        </p:txBody>
      </p:sp>
      <p:sp>
        <p:nvSpPr>
          <p:cNvPr id="30" name="Shape 28"/>
          <p:cNvSpPr/>
          <p:nvPr/>
        </p:nvSpPr>
        <p:spPr>
          <a:xfrm>
            <a:off x="3852565" y="3157538"/>
            <a:ext cx="0" cy="455116"/>
          </a:xfrm>
          <a:prstGeom prst="line">
            <a:avLst/>
          </a:prstGeom>
          <a:noFill/>
          <a:ln w="28575">
            <a:solidFill>
              <a:srgbClr val="DC2626"/>
            </a:solidFill>
            <a:prstDash val="solid"/>
          </a:ln>
        </p:spPr>
      </p:sp>
      <p:sp>
        <p:nvSpPr>
          <p:cNvPr id="31" name="Text 29"/>
          <p:cNvSpPr/>
          <p:nvPr/>
        </p:nvSpPr>
        <p:spPr>
          <a:xfrm>
            <a:off x="3962102" y="3252788"/>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91B1B"/>
                </a:solidFill>
                <a:latin typeface="Arial" pitchFamily="34" charset="0"/>
                <a:ea typeface="Arial" pitchFamily="34" charset="-122"/>
                <a:cs typeface="Arial" pitchFamily="34" charset="-120"/>
              </a:rPr>
              <a:t>SECURITY</a:t>
            </a:r>
            <a:endParaRPr lang="en-US" sz="675" dirty="0"/>
          </a:p>
        </p:txBody>
      </p:sp>
      <p:sp>
        <p:nvSpPr>
          <p:cNvPr id="32" name="Text 30"/>
          <p:cNvSpPr/>
          <p:nvPr/>
        </p:nvSpPr>
        <p:spPr>
          <a:xfrm>
            <a:off x="3962102" y="3410843"/>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991B1B"/>
                </a:solidFill>
                <a:latin typeface="Arial" pitchFamily="34" charset="0"/>
                <a:ea typeface="Arial" pitchFamily="34" charset="-122"/>
                <a:cs typeface="Arial" pitchFamily="34" charset="-120"/>
              </a:rPr>
              <a:t>Block sensitive file access, enforce allowed directories</a:t>
            </a:r>
            <a:endParaRPr lang="en-US" sz="600" dirty="0"/>
          </a:p>
        </p:txBody>
      </p:sp>
      <p:sp>
        <p:nvSpPr>
          <p:cNvPr id="33" name="Text 31"/>
          <p:cNvSpPr/>
          <p:nvPr/>
        </p:nvSpPr>
        <p:spPr>
          <a:xfrm>
            <a:off x="6395889" y="3157538"/>
            <a:ext cx="2481411" cy="455116"/>
          </a:xfrm>
          <a:prstGeom prst="rect">
            <a:avLst/>
          </a:prstGeom>
          <a:solidFill>
            <a:srgbClr val="DCFCE7"/>
          </a:solidFill>
          <a:ln/>
        </p:spPr>
        <p:txBody>
          <a:bodyPr wrap="square" rtlCol="0" anchor="ctr"/>
          <a:lstStyle/>
          <a:p>
            <a:pPr indent="0" marL="0">
              <a:buNone/>
            </a:pPr>
            <a:endParaRPr lang="en-US" dirty="0"/>
          </a:p>
        </p:txBody>
      </p:sp>
      <p:sp>
        <p:nvSpPr>
          <p:cNvPr id="34" name="Shape 32"/>
          <p:cNvSpPr/>
          <p:nvPr/>
        </p:nvSpPr>
        <p:spPr>
          <a:xfrm>
            <a:off x="6410176" y="3157538"/>
            <a:ext cx="0" cy="455116"/>
          </a:xfrm>
          <a:prstGeom prst="line">
            <a:avLst/>
          </a:prstGeom>
          <a:noFill/>
          <a:ln w="28575">
            <a:solidFill>
              <a:srgbClr val="059669"/>
            </a:solidFill>
            <a:prstDash val="solid"/>
          </a:ln>
        </p:spPr>
      </p:sp>
      <p:sp>
        <p:nvSpPr>
          <p:cNvPr id="35" name="Text 33"/>
          <p:cNvSpPr/>
          <p:nvPr/>
        </p:nvSpPr>
        <p:spPr>
          <a:xfrm>
            <a:off x="6519714" y="3252788"/>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COMPLIANCE</a:t>
            </a:r>
            <a:endParaRPr lang="en-US" sz="675" dirty="0"/>
          </a:p>
        </p:txBody>
      </p:sp>
      <p:sp>
        <p:nvSpPr>
          <p:cNvPr id="36" name="Text 34"/>
          <p:cNvSpPr/>
          <p:nvPr/>
        </p:nvSpPr>
        <p:spPr>
          <a:xfrm>
            <a:off x="6519714" y="3410843"/>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Audit logging, cost tracking, usage reports</a:t>
            </a:r>
            <a:endParaRPr lang="en-US" sz="600" dirty="0"/>
          </a:p>
        </p:txBody>
      </p:sp>
      <p:sp>
        <p:nvSpPr>
          <p:cNvPr id="37" name="Text 35"/>
          <p:cNvSpPr/>
          <p:nvPr/>
        </p:nvSpPr>
        <p:spPr>
          <a:xfrm>
            <a:off x="3838277" y="3860304"/>
            <a:ext cx="5039023" cy="455116"/>
          </a:xfrm>
          <a:prstGeom prst="rect">
            <a:avLst/>
          </a:prstGeom>
          <a:solidFill>
            <a:srgbClr val="1A1F2E"/>
          </a:solidFill>
          <a:ln/>
        </p:spPr>
        <p:txBody>
          <a:bodyPr wrap="square" rtlCol="0" anchor="ctr"/>
          <a:lstStyle/>
          <a:p>
            <a:pPr indent="0" marL="0">
              <a:buNone/>
            </a:pPr>
            <a:endParaRPr lang="en-US" dirty="0"/>
          </a:p>
        </p:txBody>
      </p:sp>
      <p:sp>
        <p:nvSpPr>
          <p:cNvPr id="38" name="Text 36"/>
          <p:cNvSpPr/>
          <p:nvPr/>
        </p:nvSpPr>
        <p:spPr>
          <a:xfrm>
            <a:off x="3933527" y="3955554"/>
            <a:ext cx="49454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KEY INSIGHT</a:t>
            </a:r>
            <a:endParaRPr lang="en-US" sz="600" dirty="0"/>
          </a:p>
        </p:txBody>
      </p:sp>
      <p:sp>
        <p:nvSpPr>
          <p:cNvPr id="39" name="Text 37"/>
          <p:cNvSpPr/>
          <p:nvPr/>
        </p:nvSpPr>
        <p:spPr>
          <a:xfrm>
            <a:off x="3933527" y="4100215"/>
            <a:ext cx="4945493" cy="119955"/>
          </a:xfrm>
          <a:prstGeom prst="rect">
            <a:avLst/>
          </a:prstGeom>
          <a:noFill/>
          <a:ln/>
        </p:spPr>
        <p:txBody>
          <a:bodyPr wrap="square" lIns="0" tIns="0" rIns="0" bIns="0" rtlCol="0" anchor="t"/>
          <a:lstStyle/>
          <a:p>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Hooks transform Claude from black-box executor → transparent, auditable infrastructure</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46683"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669307"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DISTRIBUTION</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Plugins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sp>
      <p:sp>
        <p:nvSpPr>
          <p:cNvPr id="9" name="Text 7"/>
          <p:cNvSpPr/>
          <p:nvPr/>
        </p:nvSpPr>
        <p:spPr>
          <a:xfrm>
            <a:off x="409575" y="1679972"/>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BIG PICTURE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Plugins bundle everything together: commands, agents, MCP servers, hooks. One install.</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WHAT PLUGINS BUNDLE</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Slash commands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Sub-agents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MCP servers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Hooks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Share complete setups instantly</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98761"/>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HOW PLUGINS WORK</a:t>
            </a:r>
            <a:endParaRPr lang="en-US" sz="900" dirty="0"/>
          </a:p>
        </p:txBody>
      </p:sp>
      <p:sp>
        <p:nvSpPr>
          <p:cNvPr id="18" name="Text 16"/>
          <p:cNvSpPr/>
          <p:nvPr/>
        </p:nvSpPr>
        <p:spPr>
          <a:xfrm>
            <a:off x="3838277" y="1206401"/>
            <a:ext cx="5039023" cy="7103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81152" y="1349276"/>
            <a:ext cx="1381274" cy="424607"/>
          </a:xfrm>
          <a:prstGeom prst="rect">
            <a:avLst/>
          </a:prstGeom>
          <a:solidFill>
            <a:srgbClr val="F7F8FA"/>
          </a:solidFill>
          <a:ln/>
        </p:spPr>
        <p:txBody>
          <a:bodyPr wrap="square" rtlCol="0" anchor="ctr"/>
          <a:lstStyle/>
          <a:p>
            <a:pPr indent="0" marL="0">
              <a:buNone/>
            </a:pPr>
            <a:endParaRPr lang="en-US" dirty="0"/>
          </a:p>
        </p:txBody>
      </p:sp>
      <p:sp>
        <p:nvSpPr>
          <p:cNvPr id="20" name="Text 18"/>
          <p:cNvSpPr/>
          <p:nvPr/>
        </p:nvSpPr>
        <p:spPr>
          <a:xfrm>
            <a:off x="4045064" y="1425476"/>
            <a:ext cx="1253451" cy="146596"/>
          </a:xfrm>
          <a:prstGeom prst="rect">
            <a:avLst/>
          </a:prstGeom>
          <a:noFill/>
          <a:ln/>
        </p:spPr>
        <p:txBody>
          <a:bodyPr wrap="square" lIns="0" tIns="0" rIns="0" bIns="0" rtlCol="0" anchor="t"/>
          <a:lstStyle/>
          <a:p>
            <a:pPr algn="ctr" indent="0" marL="0">
              <a:lnSpc>
                <a:spcPts val="1155"/>
              </a:lnSpc>
              <a:buNone/>
            </a:pPr>
            <a:r>
              <a:rPr lang="en-US" sz="825" b="1" dirty="0">
                <a:solidFill>
                  <a:srgbClr val="D97706"/>
                </a:solidFill>
                <a:latin typeface="Arial" pitchFamily="34" charset="0"/>
                <a:ea typeface="Arial" pitchFamily="34" charset="-122"/>
                <a:cs typeface="Arial" pitchFamily="34" charset="-120"/>
              </a:rPr>
              <a:t>Install</a:t>
            </a:r>
            <a:endParaRPr lang="en-US" sz="825" dirty="0"/>
          </a:p>
        </p:txBody>
      </p:sp>
      <p:sp>
        <p:nvSpPr>
          <p:cNvPr id="21" name="Text 19"/>
          <p:cNvSpPr/>
          <p:nvPr/>
        </p:nvSpPr>
        <p:spPr>
          <a:xfrm>
            <a:off x="4045064" y="1591121"/>
            <a:ext cx="1253451" cy="106561"/>
          </a:xfrm>
          <a:prstGeom prst="rect">
            <a:avLst/>
          </a:prstGeom>
          <a:noFill/>
          <a:ln/>
        </p:spPr>
        <p:txBody>
          <a:bodyPr wrap="square" lIns="0" tIns="0" rIns="0" bIns="0" rtlCol="0" anchor="t"/>
          <a:lstStyle/>
          <a:p>
            <a:pPr algn="ctr" indent="0" marL="0">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/plugin install</a:t>
            </a:r>
            <a:endParaRPr lang="en-US" sz="600" dirty="0"/>
          </a:p>
        </p:txBody>
      </p:sp>
      <p:sp>
        <p:nvSpPr>
          <p:cNvPr id="22" name="Text 20"/>
          <p:cNvSpPr/>
          <p:nvPr/>
        </p:nvSpPr>
        <p:spPr>
          <a:xfrm>
            <a:off x="5667226" y="1349276"/>
            <a:ext cx="1381274" cy="424607"/>
          </a:xfrm>
          <a:prstGeom prst="rect">
            <a:avLst/>
          </a:prstGeom>
          <a:solidFill>
            <a:srgbClr val="F7F8FA"/>
          </a:solidFill>
          <a:ln/>
        </p:spPr>
        <p:txBody>
          <a:bodyPr wrap="square" rtlCol="0" anchor="ctr"/>
          <a:lstStyle/>
          <a:p>
            <a:pPr indent="0" marL="0">
              <a:buNone/>
            </a:pPr>
            <a:endParaRPr lang="en-US" dirty="0"/>
          </a:p>
        </p:txBody>
      </p:sp>
      <p:sp>
        <p:nvSpPr>
          <p:cNvPr id="23" name="Text 21"/>
          <p:cNvSpPr/>
          <p:nvPr/>
        </p:nvSpPr>
        <p:spPr>
          <a:xfrm>
            <a:off x="5731137" y="1425476"/>
            <a:ext cx="1253451" cy="146596"/>
          </a:xfrm>
          <a:prstGeom prst="rect">
            <a:avLst/>
          </a:prstGeom>
          <a:noFill/>
          <a:ln/>
        </p:spPr>
        <p:txBody>
          <a:bodyPr wrap="square" lIns="0" tIns="0" rIns="0" bIns="0" rtlCol="0" anchor="t"/>
          <a:lstStyle/>
          <a:p>
            <a:pPr algn="ctr" indent="0" marL="0">
              <a:lnSpc>
                <a:spcPts val="1155"/>
              </a:lnSpc>
              <a:buNone/>
            </a:pPr>
            <a:r>
              <a:rPr lang="en-US" sz="825" b="1" dirty="0">
                <a:solidFill>
                  <a:srgbClr val="D97706"/>
                </a:solidFill>
                <a:latin typeface="Arial" pitchFamily="34" charset="0"/>
                <a:ea typeface="Arial" pitchFamily="34" charset="-122"/>
                <a:cs typeface="Arial" pitchFamily="34" charset="-120"/>
              </a:rPr>
              <a:t>Enable</a:t>
            </a:r>
            <a:endParaRPr lang="en-US" sz="825" dirty="0"/>
          </a:p>
        </p:txBody>
      </p:sp>
      <p:sp>
        <p:nvSpPr>
          <p:cNvPr id="24" name="Text 22"/>
          <p:cNvSpPr/>
          <p:nvPr/>
        </p:nvSpPr>
        <p:spPr>
          <a:xfrm>
            <a:off x="5731137" y="1591121"/>
            <a:ext cx="1253451" cy="106561"/>
          </a:xfrm>
          <a:prstGeom prst="rect">
            <a:avLst/>
          </a:prstGeom>
          <a:noFill/>
          <a:ln/>
        </p:spPr>
        <p:txBody>
          <a:bodyPr wrap="square" lIns="0" tIns="0" rIns="0" bIns="0" rtlCol="0" anchor="t"/>
          <a:lstStyle/>
          <a:p>
            <a:pPr algn="ctr" indent="0" marL="0">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Auto or manual</a:t>
            </a:r>
            <a:endParaRPr lang="en-US" sz="600" dirty="0"/>
          </a:p>
        </p:txBody>
      </p:sp>
      <p:sp>
        <p:nvSpPr>
          <p:cNvPr id="25" name="Text 23"/>
          <p:cNvSpPr/>
          <p:nvPr/>
        </p:nvSpPr>
        <p:spPr>
          <a:xfrm>
            <a:off x="7353300" y="1349276"/>
            <a:ext cx="1381274" cy="424607"/>
          </a:xfrm>
          <a:prstGeom prst="rect">
            <a:avLst/>
          </a:prstGeom>
          <a:solidFill>
            <a:srgbClr val="F7F8FA"/>
          </a:solidFill>
          <a:ln/>
        </p:spPr>
        <p:txBody>
          <a:bodyPr wrap="square" rtlCol="0" anchor="ctr"/>
          <a:lstStyle/>
          <a:p>
            <a:pPr indent="0" marL="0">
              <a:buNone/>
            </a:pPr>
            <a:endParaRPr lang="en-US" dirty="0"/>
          </a:p>
        </p:txBody>
      </p:sp>
      <p:sp>
        <p:nvSpPr>
          <p:cNvPr id="26" name="Text 24"/>
          <p:cNvSpPr/>
          <p:nvPr/>
        </p:nvSpPr>
        <p:spPr>
          <a:xfrm>
            <a:off x="7417211" y="1425476"/>
            <a:ext cx="1253451" cy="146596"/>
          </a:xfrm>
          <a:prstGeom prst="rect">
            <a:avLst/>
          </a:prstGeom>
          <a:noFill/>
          <a:ln/>
        </p:spPr>
        <p:txBody>
          <a:bodyPr wrap="square" lIns="0" tIns="0" rIns="0" bIns="0" rtlCol="0" anchor="t"/>
          <a:lstStyle/>
          <a:p>
            <a:pPr algn="ctr" indent="0" marL="0">
              <a:lnSpc>
                <a:spcPts val="1155"/>
              </a:lnSpc>
              <a:buNone/>
            </a:pPr>
            <a:r>
              <a:rPr lang="en-US" sz="825" b="1" dirty="0">
                <a:solidFill>
                  <a:srgbClr val="D97706"/>
                </a:solidFill>
                <a:latin typeface="Arial" pitchFamily="34" charset="0"/>
                <a:ea typeface="Arial" pitchFamily="34" charset="-122"/>
                <a:cs typeface="Arial" pitchFamily="34" charset="-120"/>
              </a:rPr>
              <a:t>Active</a:t>
            </a:r>
            <a:endParaRPr lang="en-US" sz="825" dirty="0"/>
          </a:p>
        </p:txBody>
      </p:sp>
      <p:sp>
        <p:nvSpPr>
          <p:cNvPr id="27" name="Text 25"/>
          <p:cNvSpPr/>
          <p:nvPr/>
        </p:nvSpPr>
        <p:spPr>
          <a:xfrm>
            <a:off x="7417211" y="1591121"/>
            <a:ext cx="1253451" cy="106561"/>
          </a:xfrm>
          <a:prstGeom prst="rect">
            <a:avLst/>
          </a:prstGeom>
          <a:noFill/>
          <a:ln/>
        </p:spPr>
        <p:txBody>
          <a:bodyPr wrap="square" lIns="0" tIns="0" rIns="0" bIns="0" rtlCol="0" anchor="t"/>
          <a:lstStyle/>
          <a:p>
            <a:pPr algn="ctr" indent="0" marL="0">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MCP servers start</a:t>
            </a:r>
            <a:endParaRPr lang="en-US" sz="600" dirty="0"/>
          </a:p>
        </p:txBody>
      </p:sp>
      <p:sp>
        <p:nvSpPr>
          <p:cNvPr id="28" name="Text 26"/>
          <p:cNvSpPr/>
          <p:nvPr/>
        </p:nvSpPr>
        <p:spPr>
          <a:xfrm>
            <a:off x="3838277" y="2183457"/>
            <a:ext cx="5039023" cy="1351806"/>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3952577" y="2297757"/>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INSTALL A PLUGIN</a:t>
            </a:r>
            <a:endParaRPr lang="en-US" sz="600" dirty="0"/>
          </a:p>
        </p:txBody>
      </p:sp>
      <p:sp>
        <p:nvSpPr>
          <p:cNvPr id="30" name="Text 28"/>
          <p:cNvSpPr/>
          <p:nvPr/>
        </p:nvSpPr>
        <p:spPr>
          <a:xfrm>
            <a:off x="3952577" y="2461468"/>
            <a:ext cx="4906631" cy="959495"/>
          </a:xfrm>
          <a:prstGeom prst="rect">
            <a:avLst/>
          </a:prstGeom>
          <a:noFill/>
          <a:ln/>
        </p:spPr>
        <p:txBody>
          <a:bodyPr wrap="square" lIns="0" tIns="0" rIns="0" bIns="0" rtlCol="0" anchor="t"/>
          <a:lstStyle/>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Browse available plugins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/plugin list</a:t>
            </a: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Install specific plugin</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/plugin install @anthropic/github-plugin</a:t>
            </a:r>
            <a:endParaRPr lang="en-US" sz="675" dirty="0"/>
          </a:p>
          <a:p>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Plugin's MCP servers start automatically</a:t>
            </a:r>
            <a:endParaRPr lang="en-US" sz="675" dirty="0"/>
          </a:p>
        </p:txBody>
      </p:sp>
      <p:sp>
        <p:nvSpPr>
          <p:cNvPr id="31" name="Text 29"/>
          <p:cNvSpPr/>
          <p:nvPr/>
        </p:nvSpPr>
        <p:spPr>
          <a:xfrm>
            <a:off x="3838277" y="3782913"/>
            <a:ext cx="2481411" cy="561677"/>
          </a:xfrm>
          <a:prstGeom prst="rect">
            <a:avLst/>
          </a:prstGeom>
          <a:solidFill>
            <a:srgbClr val="DCFCE7"/>
          </a:solidFill>
          <a:ln/>
        </p:spPr>
        <p:txBody>
          <a:bodyPr wrap="square" rtlCol="0" anchor="ctr"/>
          <a:lstStyle/>
          <a:p>
            <a:pPr indent="0" marL="0">
              <a:buNone/>
            </a:pPr>
            <a:endParaRPr lang="en-US" dirty="0"/>
          </a:p>
        </p:txBody>
      </p:sp>
      <p:sp>
        <p:nvSpPr>
          <p:cNvPr id="32" name="Shape 30"/>
          <p:cNvSpPr/>
          <p:nvPr/>
        </p:nvSpPr>
        <p:spPr>
          <a:xfrm>
            <a:off x="3852565" y="3782913"/>
            <a:ext cx="0" cy="561677"/>
          </a:xfrm>
          <a:prstGeom prst="line">
            <a:avLst/>
          </a:prstGeom>
          <a:noFill/>
          <a:ln w="28575">
            <a:solidFill>
              <a:srgbClr val="059669"/>
            </a:solidFill>
            <a:prstDash val="solid"/>
          </a:ln>
        </p:spPr>
      </p:sp>
      <p:sp>
        <p:nvSpPr>
          <p:cNvPr id="33" name="Text 31"/>
          <p:cNvSpPr/>
          <p:nvPr/>
        </p:nvSpPr>
        <p:spPr>
          <a:xfrm>
            <a:off x="3962102" y="3878163"/>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ADVANTAGE</a:t>
            </a:r>
            <a:endParaRPr lang="en-US" sz="675" dirty="0"/>
          </a:p>
        </p:txBody>
      </p:sp>
      <p:sp>
        <p:nvSpPr>
          <p:cNvPr id="34" name="Text 32"/>
          <p:cNvSpPr/>
          <p:nvPr/>
        </p:nvSpPr>
        <p:spPr>
          <a:xfrm>
            <a:off x="3962102" y="4036219"/>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One command vs. manual config of commands + agents + MCP + hooks</a:t>
            </a:r>
            <a:endParaRPr lang="en-US" sz="600" dirty="0"/>
          </a:p>
        </p:txBody>
      </p:sp>
      <p:sp>
        <p:nvSpPr>
          <p:cNvPr id="35" name="Text 33"/>
          <p:cNvSpPr/>
          <p:nvPr/>
        </p:nvSpPr>
        <p:spPr>
          <a:xfrm>
            <a:off x="6395889" y="3836194"/>
            <a:ext cx="2481411" cy="455116"/>
          </a:xfrm>
          <a:prstGeom prst="rect">
            <a:avLst/>
          </a:prstGeom>
          <a:solidFill>
            <a:srgbClr val="DBEAFE"/>
          </a:solidFill>
          <a:ln/>
        </p:spPr>
        <p:txBody>
          <a:bodyPr wrap="square" rtlCol="0" anchor="ctr"/>
          <a:lstStyle/>
          <a:p>
            <a:pPr indent="0" marL="0">
              <a:buNone/>
            </a:pPr>
            <a:endParaRPr lang="en-US" dirty="0"/>
          </a:p>
        </p:txBody>
      </p:sp>
      <p:sp>
        <p:nvSpPr>
          <p:cNvPr id="36" name="Shape 34"/>
          <p:cNvSpPr/>
          <p:nvPr/>
        </p:nvSpPr>
        <p:spPr>
          <a:xfrm>
            <a:off x="6410176" y="3836194"/>
            <a:ext cx="0" cy="455116"/>
          </a:xfrm>
          <a:prstGeom prst="line">
            <a:avLst/>
          </a:prstGeom>
          <a:noFill/>
          <a:ln w="28575">
            <a:solidFill>
              <a:srgbClr val="3B82F6"/>
            </a:solidFill>
            <a:prstDash val="solid"/>
          </a:ln>
        </p:spPr>
      </p:sp>
      <p:sp>
        <p:nvSpPr>
          <p:cNvPr id="37" name="Text 35"/>
          <p:cNvSpPr/>
          <p:nvPr/>
        </p:nvSpPr>
        <p:spPr>
          <a:xfrm>
            <a:off x="6519714" y="393144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CREATE YOUR OWN</a:t>
            </a:r>
            <a:endParaRPr lang="en-US" sz="675" dirty="0"/>
          </a:p>
        </p:txBody>
      </p:sp>
      <p:sp>
        <p:nvSpPr>
          <p:cNvPr id="38" name="Text 36"/>
          <p:cNvSpPr/>
          <p:nvPr/>
        </p:nvSpPr>
        <p:spPr>
          <a:xfrm>
            <a:off x="6519714" y="408949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Package your team's setup as a plugin for instant onboarding</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773"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1070074" cy="20181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314325"/>
            <a:ext cx="897166"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QUICK REFERENCE</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Feature</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Comparison</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6373"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sp>
      <p:sp>
        <p:nvSpPr>
          <p:cNvPr id="9" name="Text 7"/>
          <p:cNvSpPr/>
          <p:nvPr/>
        </p:nvSpPr>
        <p:spPr>
          <a:xfrm>
            <a:off x="409575" y="1977033"/>
            <a:ext cx="268178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WHEN TO USE WHAT</a:t>
            </a:r>
            <a:endParaRPr lang="en-US" sz="750" dirty="0"/>
          </a:p>
        </p:txBody>
      </p:sp>
      <p:sp>
        <p:nvSpPr>
          <p:cNvPr id="10" name="Text 8"/>
          <p:cNvSpPr/>
          <p:nvPr/>
        </p:nvSpPr>
        <p:spPr>
          <a:xfrm>
            <a:off x="409575" y="2148483"/>
            <a:ext cx="2681782"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Each feature serves a different purpose. Choose based on activation style and scope.</a:t>
            </a:r>
            <a:endParaRPr lang="en-US" sz="750" dirty="0"/>
          </a:p>
        </p:txBody>
      </p:sp>
      <p:sp>
        <p:nvSpPr>
          <p:cNvPr id="11" name="Text 9"/>
          <p:cNvSpPr/>
          <p:nvPr/>
        </p:nvSpPr>
        <p:spPr>
          <a:xfrm>
            <a:off x="266700" y="4566345"/>
            <a:ext cx="2886373"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1" y="4661595"/>
            <a:ext cx="2749790"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Combine features for power</a:t>
            </a:r>
            <a:endParaRPr lang="en-US" sz="675" dirty="0"/>
          </a:p>
        </p:txBody>
      </p:sp>
      <p:sp>
        <p:nvSpPr>
          <p:cNvPr id="13" name="Text 11"/>
          <p:cNvSpPr/>
          <p:nvPr/>
        </p:nvSpPr>
        <p:spPr>
          <a:xfrm>
            <a:off x="3572173" y="0"/>
            <a:ext cx="5571827"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00773" y="1030635"/>
            <a:ext cx="5216920"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FEATURE MATRIX</a:t>
            </a:r>
            <a:endParaRPr lang="en-US" sz="900" dirty="0"/>
          </a:p>
        </p:txBody>
      </p:sp>
      <p:sp>
        <p:nvSpPr>
          <p:cNvPr id="15" name="Text 13"/>
          <p:cNvSpPr/>
          <p:nvPr/>
        </p:nvSpPr>
        <p:spPr>
          <a:xfrm>
            <a:off x="3800773" y="3486150"/>
            <a:ext cx="5114627" cy="626566"/>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3915073" y="3600450"/>
            <a:ext cx="4983748"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C9A227"/>
                </a:solidFill>
                <a:latin typeface="Arial" pitchFamily="34" charset="0"/>
                <a:ea typeface="Arial" pitchFamily="34" charset="-122"/>
                <a:cs typeface="Arial" pitchFamily="34" charset="-120"/>
              </a:rPr>
              <a:t>RECOMMENDED STARTING POINT</a:t>
            </a:r>
            <a:endParaRPr lang="en-US" sz="675" dirty="0"/>
          </a:p>
        </p:txBody>
      </p:sp>
      <p:sp>
        <p:nvSpPr>
          <p:cNvPr id="17" name="Text 15"/>
          <p:cNvSpPr/>
          <p:nvPr/>
        </p:nvSpPr>
        <p:spPr>
          <a:xfrm>
            <a:off x="3915073" y="3758505"/>
            <a:ext cx="4983748" cy="239911"/>
          </a:xfrm>
          <a:prstGeom prst="rect">
            <a:avLst/>
          </a:prstGeom>
          <a:noFill/>
          <a:ln/>
        </p:spPr>
        <p:txBody>
          <a:bodyPr wrap="square" lIns="0" tIns="0" rIns="0" bIns="0" rtlCol="0" anchor="t"/>
          <a:lstStyle/>
          <a:p>
            <a:pPr algn="l" indent="0" marL="0">
              <a:lnSpc>
                <a:spcPts val="945"/>
              </a:lnSpc>
              <a:buNone/>
            </a:pPr>
            <a:r>
              <a:rPr lang="en-US" sz="675" b="1" dirty="0">
                <a:solidFill>
                  <a:srgbClr val="FFFFFF">
                    <a:alpha val="80000"/>
                  </a:srgbClr>
                </a:solidFill>
                <a:latin typeface="Arial" pitchFamily="34" charset="0"/>
                <a:ea typeface="Arial" pitchFamily="34" charset="-122"/>
                <a:cs typeface="Arial" pitchFamily="34" charset="-120"/>
              </a:rPr>
              <a:t>1.</a:t>
            </a:r>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 Learn slash commands first (manual control) → </a:t>
            </a:r>
            <a:pPr algn="l" indent="0" marL="0">
              <a:lnSpc>
                <a:spcPts val="945"/>
              </a:lnSpc>
              <a:buNone/>
            </a:pPr>
            <a:r>
              <a:rPr lang="en-US" sz="675" b="1" dirty="0">
                <a:solidFill>
                  <a:srgbClr val="FFFFFF">
                    <a:alpha val="80000"/>
                  </a:srgbClr>
                </a:solidFill>
                <a:latin typeface="Arial" pitchFamily="34" charset="0"/>
                <a:ea typeface="Arial" pitchFamily="34" charset="-122"/>
                <a:cs typeface="Arial" pitchFamily="34" charset="-120"/>
              </a:rPr>
              <a:t>2.</a:t>
            </a:r>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 Add skills for domain knowledge → </a:t>
            </a:r>
            <a:pPr algn="l" indent="0" marL="0">
              <a:lnSpc>
                <a:spcPts val="945"/>
              </a:lnSpc>
              <a:buNone/>
            </a:pPr>
            <a:r>
              <a:rPr lang="en-US" sz="675" b="1" dirty="0">
                <a:solidFill>
                  <a:srgbClr val="FFFFFF">
                    <a:alpha val="80000"/>
                  </a:srgbClr>
                </a:solidFill>
                <a:latin typeface="Arial" pitchFamily="34" charset="0"/>
                <a:ea typeface="Arial" pitchFamily="34" charset="-122"/>
                <a:cs typeface="Arial" pitchFamily="34" charset="-120"/>
              </a:rPr>
              <a:t>3.</a:t>
            </a:r>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 Use planning mode for PRs → </a:t>
            </a:r>
            <a:pPr algn="l" indent="0" marL="0">
              <a:lnSpc>
                <a:spcPts val="945"/>
              </a:lnSpc>
              <a:buNone/>
            </a:pPr>
            <a:r>
              <a:rPr lang="en-US" sz="675" b="1" dirty="0">
                <a:solidFill>
                  <a:srgbClr val="FFFFFF">
                    <a:alpha val="80000"/>
                  </a:srgbClr>
                </a:solidFill>
                <a:latin typeface="Arial" pitchFamily="34" charset="0"/>
                <a:ea typeface="Arial" pitchFamily="34" charset="-122"/>
                <a:cs typeface="Arial" pitchFamily="34" charset="-120"/>
              </a:rPr>
              <a:t>4.</a:t>
            </a:r>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 Add MCP servers as needed</a:t>
            </a:r>
            <a:endParaRPr lang="en-US" sz="6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417612"/>
            <a:ext cx="64814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455712"/>
            <a:ext cx="46679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84802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68979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975545"/>
            <a:ext cx="2885777" cy="62865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1975545"/>
            <a:ext cx="0" cy="628650"/>
          </a:xfrm>
          <a:prstGeom prst="line">
            <a:avLst/>
          </a:prstGeom>
          <a:noFill/>
          <a:ln w="28575">
            <a:solidFill>
              <a:srgbClr val="C9A227"/>
            </a:solidFill>
            <a:prstDash val="solid"/>
          </a:ln>
        </p:spPr>
      </p:sp>
      <p:sp>
        <p:nvSpPr>
          <p:cNvPr id="9" name="Text 7"/>
          <p:cNvSpPr/>
          <p:nvPr/>
        </p:nvSpPr>
        <p:spPr>
          <a:xfrm>
            <a:off x="390525" y="2070795"/>
            <a:ext cx="272003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242245"/>
            <a:ext cx="2720036"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Claude Code is more than a coding assistant — it's customizable AI infrastructure.</a:t>
            </a:r>
            <a:endParaRPr lang="en-US" sz="750" dirty="0"/>
          </a:p>
        </p:txBody>
      </p:sp>
      <p:sp>
        <p:nvSpPr>
          <p:cNvPr id="11" name="Text 9"/>
          <p:cNvSpPr/>
          <p:nvPr/>
        </p:nvSpPr>
        <p:spPr>
          <a:xfrm>
            <a:off x="266700" y="2870895"/>
            <a:ext cx="2885777" cy="89892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96614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CORE FEATURES</a:t>
            </a:r>
            <a:endParaRPr lang="en-US" sz="750" dirty="0"/>
          </a:p>
        </p:txBody>
      </p:sp>
      <p:sp>
        <p:nvSpPr>
          <p:cNvPr id="13" name="Text 11"/>
          <p:cNvSpPr/>
          <p:nvPr/>
        </p:nvSpPr>
        <p:spPr>
          <a:xfrm>
            <a:off x="361950" y="3156645"/>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Models (Opus/Sonnet/Haiku)</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Slash Commands</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Planning Mode</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Sub-Agents</a:t>
            </a:r>
            <a:endParaRPr lang="en-US" sz="600" dirty="0"/>
          </a:p>
        </p:txBody>
      </p:sp>
      <p:sp>
        <p:nvSpPr>
          <p:cNvPr id="14" name="Text 12"/>
          <p:cNvSpPr/>
          <p:nvPr/>
        </p:nvSpPr>
        <p:spPr>
          <a:xfrm>
            <a:off x="266700" y="4017466"/>
            <a:ext cx="2885777" cy="708422"/>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61950" y="4112716"/>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Skills (auto-discovery)</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MCP Servers</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Hooks (enterprise)</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Plugins (distribution)</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905024"/>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ESSENTIAL PRACTICES</a:t>
            </a:r>
            <a:endParaRPr lang="en-US" sz="900" dirty="0"/>
          </a:p>
        </p:txBody>
      </p:sp>
      <p:sp>
        <p:nvSpPr>
          <p:cNvPr id="18" name="Text 16"/>
          <p:cNvSpPr/>
          <p:nvPr/>
        </p:nvSpPr>
        <p:spPr>
          <a:xfrm>
            <a:off x="3838277" y="1331714"/>
            <a:ext cx="2471886" cy="811411"/>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331714"/>
            <a:ext cx="0" cy="811411"/>
          </a:xfrm>
          <a:prstGeom prst="line">
            <a:avLst/>
          </a:prstGeom>
          <a:noFill/>
          <a:ln w="28575">
            <a:solidFill>
              <a:srgbClr val="C9A227"/>
            </a:solidFill>
            <a:prstDash val="solid"/>
          </a:ln>
        </p:spPr>
      </p:sp>
      <p:sp>
        <p:nvSpPr>
          <p:cNvPr id="20" name="Text 18"/>
          <p:cNvSpPr/>
          <p:nvPr/>
        </p:nvSpPr>
        <p:spPr>
          <a:xfrm>
            <a:off x="3981152" y="144601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6033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Plan Before Code</a:t>
            </a:r>
            <a:endParaRPr lang="en-US" sz="750" dirty="0"/>
          </a:p>
        </p:txBody>
      </p:sp>
      <p:sp>
        <p:nvSpPr>
          <p:cNvPr id="22" name="Text 20"/>
          <p:cNvSpPr/>
          <p:nvPr/>
        </p:nvSpPr>
        <p:spPr>
          <a:xfrm>
            <a:off x="3981152" y="192226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Use /plan for PRs. Think first, implement second.</a:t>
            </a:r>
            <a:endParaRPr lang="en-US" sz="600" dirty="0"/>
          </a:p>
        </p:txBody>
      </p:sp>
      <p:sp>
        <p:nvSpPr>
          <p:cNvPr id="23" name="Text 21"/>
          <p:cNvSpPr/>
          <p:nvPr/>
        </p:nvSpPr>
        <p:spPr>
          <a:xfrm>
            <a:off x="6405414" y="1331714"/>
            <a:ext cx="2471886" cy="811411"/>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9701" y="1331714"/>
            <a:ext cx="0" cy="811411"/>
          </a:xfrm>
          <a:prstGeom prst="line">
            <a:avLst/>
          </a:prstGeom>
          <a:noFill/>
          <a:ln w="28575">
            <a:solidFill>
              <a:srgbClr val="C9A227"/>
            </a:solidFill>
            <a:prstDash val="solid"/>
          </a:ln>
        </p:spPr>
      </p:sp>
      <p:sp>
        <p:nvSpPr>
          <p:cNvPr id="25" name="Text 23"/>
          <p:cNvSpPr/>
          <p:nvPr/>
        </p:nvSpPr>
        <p:spPr>
          <a:xfrm>
            <a:off x="6548289" y="144601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6033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Manage Context</a:t>
            </a:r>
            <a:endParaRPr lang="en-US" sz="750" dirty="0"/>
          </a:p>
        </p:txBody>
      </p:sp>
      <p:sp>
        <p:nvSpPr>
          <p:cNvPr id="27" name="Text 25"/>
          <p:cNvSpPr/>
          <p:nvPr/>
        </p:nvSpPr>
        <p:spPr>
          <a:xfrm>
            <a:off x="6548289" y="192226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Use sub-agents for exploration. Keep main thread for changes.</a:t>
            </a:r>
            <a:endParaRPr lang="en-US" sz="600" dirty="0"/>
          </a:p>
        </p:txBody>
      </p:sp>
      <p:sp>
        <p:nvSpPr>
          <p:cNvPr id="28" name="Text 26"/>
          <p:cNvSpPr/>
          <p:nvPr/>
        </p:nvSpPr>
        <p:spPr>
          <a:xfrm>
            <a:off x="3838277" y="2390775"/>
            <a:ext cx="2471886" cy="811411"/>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390775"/>
            <a:ext cx="0" cy="811411"/>
          </a:xfrm>
          <a:prstGeom prst="line">
            <a:avLst/>
          </a:prstGeom>
          <a:noFill/>
          <a:ln w="28575">
            <a:solidFill>
              <a:srgbClr val="C9A227"/>
            </a:solidFill>
            <a:prstDash val="solid"/>
          </a:ln>
        </p:spPr>
      </p:sp>
      <p:sp>
        <p:nvSpPr>
          <p:cNvPr id="30" name="Text 28"/>
          <p:cNvSpPr/>
          <p:nvPr/>
        </p:nvSpPr>
        <p:spPr>
          <a:xfrm>
            <a:off x="3981152" y="250507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81940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Customize Your Setup</a:t>
            </a:r>
            <a:endParaRPr lang="en-US" sz="750" dirty="0"/>
          </a:p>
        </p:txBody>
      </p:sp>
      <p:sp>
        <p:nvSpPr>
          <p:cNvPr id="32" name="Text 30"/>
          <p:cNvSpPr/>
          <p:nvPr/>
        </p:nvSpPr>
        <p:spPr>
          <a:xfrm>
            <a:off x="3981152" y="298132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Add skills for domain patterns. Share via .claude/ folder.</a:t>
            </a:r>
            <a:endParaRPr lang="en-US" sz="600" dirty="0"/>
          </a:p>
        </p:txBody>
      </p:sp>
      <p:sp>
        <p:nvSpPr>
          <p:cNvPr id="33" name="Text 31"/>
          <p:cNvSpPr/>
          <p:nvPr/>
        </p:nvSpPr>
        <p:spPr>
          <a:xfrm>
            <a:off x="6405414" y="2390775"/>
            <a:ext cx="2471886" cy="811411"/>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9701" y="2390775"/>
            <a:ext cx="0" cy="811411"/>
          </a:xfrm>
          <a:prstGeom prst="line">
            <a:avLst/>
          </a:prstGeom>
          <a:noFill/>
          <a:ln w="28575">
            <a:solidFill>
              <a:srgbClr val="C9A227"/>
            </a:solidFill>
            <a:prstDash val="solid"/>
          </a:ln>
        </p:spPr>
      </p:sp>
      <p:sp>
        <p:nvSpPr>
          <p:cNvPr id="35" name="Text 33"/>
          <p:cNvSpPr/>
          <p:nvPr/>
        </p:nvSpPr>
        <p:spPr>
          <a:xfrm>
            <a:off x="6548289" y="250507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1940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Match Model to Task</a:t>
            </a:r>
            <a:endParaRPr lang="en-US" sz="750" dirty="0"/>
          </a:p>
        </p:txBody>
      </p:sp>
      <p:sp>
        <p:nvSpPr>
          <p:cNvPr id="37" name="Text 35"/>
          <p:cNvSpPr/>
          <p:nvPr/>
        </p:nvSpPr>
        <p:spPr>
          <a:xfrm>
            <a:off x="6548289" y="298132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Haiku for speed, Sonnet for balance, Opus for complexity.</a:t>
            </a:r>
            <a:endParaRPr lang="en-US" sz="600" dirty="0"/>
          </a:p>
        </p:txBody>
      </p:sp>
      <p:sp>
        <p:nvSpPr>
          <p:cNvPr id="38" name="Text 36"/>
          <p:cNvSpPr/>
          <p:nvPr/>
        </p:nvSpPr>
        <p:spPr>
          <a:xfrm>
            <a:off x="3838277" y="3468886"/>
            <a:ext cx="5039023" cy="769590"/>
          </a:xfrm>
          <a:prstGeom prst="rect">
            <a:avLst/>
          </a:prstGeom>
          <a:solidFill>
            <a:srgbClr val="1A1F2E"/>
          </a:solidFill>
          <a:ln/>
        </p:spPr>
        <p:txBody>
          <a:bodyPr wrap="square" rtlCol="0" anchor="ctr"/>
          <a:lstStyle/>
          <a:p>
            <a:pPr indent="0" marL="0">
              <a:buNone/>
            </a:pPr>
            <a:endParaRPr lang="en-US" dirty="0"/>
          </a:p>
        </p:txBody>
      </p:sp>
      <p:sp>
        <p:nvSpPr>
          <p:cNvPr id="39" name="Text 37"/>
          <p:cNvSpPr/>
          <p:nvPr/>
        </p:nvSpPr>
        <p:spPr>
          <a:xfrm>
            <a:off x="3923904" y="3602236"/>
            <a:ext cx="4867769" cy="159990"/>
          </a:xfrm>
          <a:prstGeom prst="rect">
            <a:avLst/>
          </a:prstGeom>
          <a:noFill/>
          <a:ln/>
        </p:spPr>
        <p:txBody>
          <a:bodyPr wrap="square" lIns="0" tIns="0" rIns="0" bIns="0" rtlCol="0" anchor="t"/>
          <a:lstStyle/>
          <a:p>
            <a:pPr algn="ctr" indent="0" marL="0">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CLAUDE CODE</a:t>
            </a:r>
            <a:endParaRPr lang="en-US" sz="900" dirty="0"/>
          </a:p>
        </p:txBody>
      </p:sp>
      <p:sp>
        <p:nvSpPr>
          <p:cNvPr id="40" name="Text 38"/>
          <p:cNvSpPr/>
          <p:nvPr/>
        </p:nvSpPr>
        <p:spPr>
          <a:xfrm>
            <a:off x="3923904" y="3819376"/>
            <a:ext cx="4867769" cy="285750"/>
          </a:xfrm>
          <a:prstGeom prst="rect">
            <a:avLst/>
          </a:prstGeom>
          <a:noFill/>
          <a:ln/>
        </p:spPr>
        <p:txBody>
          <a:bodyPr wrap="square" lIns="0" tIns="0" rIns="0" bIns="0" rtlCol="0" anchor="t"/>
          <a:lstStyle/>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voice input → structured prompts → Claude Code execution</a:t>
            </a:r>
            <a:endParaRPr lang="en-US" sz="750" dirty="0"/>
          </a:p>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The complete voice-driven development stack.</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Setup &amp; Configuration</dc:title>
  <dc:subject>Tool Setup Guide for Voice-Driven AI Development</dc:subject>
  <dc:creator>Austin Public Health</dc:creator>
  <cp:lastModifiedBy>Austin Public Health</cp:lastModifiedBy>
  <cp:revision>1</cp:revision>
  <dcterms:created xsi:type="dcterms:W3CDTF">2026-01-15T22:17:45Z</dcterms:created>
  <dcterms:modified xsi:type="dcterms:W3CDTF">2026-01-15T22:17:45Z</dcterms:modified>
</cp:coreProperties>
</file>