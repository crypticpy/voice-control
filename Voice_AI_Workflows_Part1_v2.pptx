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Part 1 of our Voice-Driven AI Development Workflows series. Today we're covering setup, introduction, and tool overview. This 90-minute session will give you the foundation to start using voice-driven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full series. Today is Part 1 focusing on understanding the tools. Part 2 will be hands-on practice with your own projects. Part 3 culminates in building a real meeting transcriber application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here is that we think faster than we type. Voice-driven development closes that gap. The quote from our research captures it well - keyboards are a bottleneck. Voice input lets you work at the speed of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benefits to highlight. Ergonomic benefits are significant for anyone typing all day. Productivity gains come from faster iteration. Multitasking becomes possible when your hands are free. And accessibility opens development to more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training isn't just for developers. Data scientists can dictate analysis scripts. Researchers and epidemiologists can draft reports while reviewing data. Even admin staff benefit from better dictation tools. Everyone here will find something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for today. Note the time allocations - we'll spend most time on voice input tools and enterprise configuration since those are foundational. We'll end with security considerations which are critical for government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Now we're getting into the tools. The acoustic layer is your first point of contact - capturing your voice and turning it into text that AI can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SuperWhisper is our primary recommendation. The key point is 100% local processing. Your voice data never leaves your device. This makes compliance much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why local processing matters. With SuperWhisper, the entire flow stays on your machine. No cloud servers, no data egress, no compliance paperwork needed for the voice transcription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note: SuperWhisper only works on Mac. If you're on Windows, don't worry - we have alternatives coming up. For Mac users, the Medium model is the sweet spot for most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setup steps. The key government-specific step is number 5 - verifying local-only mode is enabled. Always check this before dictating any sensitive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tips for getting the most out of SuperWhisper. These come from real usage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WhisperFlow - note this is the commercial Wispr Flow product. It's our secondary recommendation, especially good for Windows users and Cursor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killer features of WhisperFlow. Context awareness means it knows when you're coding vs writing an email. Command mode lets you transform text with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setup overview for WhisperFlow. Remember to enable Privacy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matrix is your quick reference. Key takeaway: SuperWhisper wins on security, WhisperFlow wins on features and cross-platform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framework slide. Walk through the flowchart based on your situation. Most Mac users with security concerns should start with SuperWhisper.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Now we're moving from voice input to AI assistants - the reasoning layer that turns your spoken intent into actual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picture: Voice goes to transcription, then to an AI assistant, then becomes code. We're covering three categories: CLI agents, IDE extensions, and AI-native editors.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steps for Claude Code. It's a simple npm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commands in Claude Code. Slash commands for quick actions, CLAUDE.md for persistent project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with extensions is our compliance-friendly option. The key advantage is direct Azure endpoint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matrix for AI assistants. Choose based on your compliance requirements and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Claude Code is ideal for voice-driven development. The terminal interface pairs naturally with voice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Enterprise configuration. This is where we connect our tools to secure Azure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cloud options - GCC and GCC-High. Note the different domains and compliance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models with Ollama. For air-gapped environments or maximum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options summary. Choose based on your security requirements and existing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Deep dive into CLI tools, specifically Claude Code's advanced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reference. Essential ones are help, clear, compact, and 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How Claude Code connects to external systems. Review permissions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let Claude delegate specialized tasks. Useful for complex multi-step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features are built-in for a reason. Permission prompts, file access controls, command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CI/CD integration - connecting voice workflows to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Putting it all together into a complete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flow visualization. Voice to transcription to AI to code to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by role. Developers get the full stack. Everyone has a path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Security and compliance - critical for government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awareness diagram. Green is local/safe. Blue is your Azure tenant. Red has compliance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 guidance in three columns. Green tools are safe for PHI. Yellow needs BAA. Red should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NOT to do - six common mistakes. These are real issues we've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Wrapping up and preparing for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Pre-work checklist. Install a voice tool and code editor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of Part 2. You'll leave the series with working skills and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Time for questions and discussion. Resources will be shared via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rasterized-gradient-ca86276f.png">    </p:cNvPr>
          <p:cNvPicPr>
            <a:picLocks noChangeAspect="1"/>
          </p:cNvPicPr>
          <p:nvPr/>
        </p:nvPicPr>
        <p:blipFill>
          <a:blip r:embed="rId1"/>
          <a:stretch>
            <a:fillRect/>
          </a:stretch>
        </p:blipFill>
        <p:spPr>
          <a:xfrm>
            <a:off x="0" y="0"/>
            <a:ext cx="5850434" cy="5143500"/>
          </a:xfrm>
          <a:prstGeom prst="rect">
            <a:avLst/>
          </a:prstGeom>
        </p:spPr>
      </p:pic>
      <p:sp>
        <p:nvSpPr>
          <p:cNvPr id="3" name="Text 0"/>
          <p:cNvSpPr/>
          <p:nvPr/>
        </p:nvSpPr>
        <p:spPr>
          <a:xfrm>
            <a:off x="457200" y="993577"/>
            <a:ext cx="5034754" cy="146596"/>
          </a:xfrm>
          <a:prstGeom prst="rect">
            <a:avLst/>
          </a:prstGeom>
          <a:noFill/>
          <a:ln/>
        </p:spPr>
        <p:txBody>
          <a:bodyPr wrap="square" lIns="0" tIns="0" rIns="0" bIns="0" rtlCol="0" anchor="t"/>
          <a:lstStyle/>
          <a:p>
            <a:pPr algn="l" indent="0" marL="0">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483072"/>
            <a:ext cx="2836926" cy="921841"/>
          </a:xfrm>
          <a:prstGeom prst="rect">
            <a:avLst/>
          </a:prstGeom>
          <a:noFill/>
          <a:ln/>
        </p:spPr>
        <p:txBody>
          <a:bodyPr wrap="square" lIns="0" tIns="0" rIns="0" bIns="0" rtlCol="0" anchor="t"/>
          <a:lstStyle/>
          <a:p>
            <a:pPr algn="l" indent="0" marL="0">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Voice-Driven AI Development</a:t>
            </a:r>
            <a:endParaRPr lang="en-US" sz="3300" dirty="0"/>
          </a:p>
        </p:txBody>
      </p:sp>
      <p:sp>
        <p:nvSpPr>
          <p:cNvPr id="5" name="Text 2"/>
          <p:cNvSpPr/>
          <p:nvPr/>
        </p:nvSpPr>
        <p:spPr>
          <a:xfrm>
            <a:off x="457200" y="2709714"/>
            <a:ext cx="5034754" cy="319980"/>
          </a:xfrm>
          <a:prstGeom prst="rect">
            <a:avLst/>
          </a:prstGeom>
          <a:noFill/>
          <a:ln/>
        </p:spPr>
        <p:txBody>
          <a:bodyPr wrap="square" lIns="0" tIns="0" rIns="0" bIns="0" rtlCol="0" anchor="t"/>
          <a:lstStyle/>
          <a:p>
            <a:pPr algn="l" indent="0" marL="0">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Workflows</a:t>
            </a:r>
            <a:endParaRPr lang="en-US" sz="1800" dirty="0"/>
          </a:p>
        </p:txBody>
      </p:sp>
      <p:sp>
        <p:nvSpPr>
          <p:cNvPr id="6" name="Text 3"/>
          <p:cNvSpPr/>
          <p:nvPr/>
        </p:nvSpPr>
        <p:spPr>
          <a:xfrm>
            <a:off x="457200" y="3486894"/>
            <a:ext cx="762000" cy="19050"/>
          </a:xfrm>
          <a:prstGeom prst="rect">
            <a:avLst/>
          </a:prstGeom>
          <a:solidFill>
            <a:srgbClr val="C9A227"/>
          </a:solidFill>
          <a:ln/>
        </p:spPr>
        <p:txBody>
          <a:bodyPr wrap="square" rtlCol="0" anchor="ctr"/>
          <a:lstStyle/>
          <a:p>
            <a:pPr indent="0" marL="0">
              <a:buNone/>
            </a:pPr>
            <a:endParaRPr lang="en-US" dirty="0"/>
          </a:p>
        </p:txBody>
      </p:sp>
      <p:sp>
        <p:nvSpPr>
          <p:cNvPr id="7" name="Text 4"/>
          <p:cNvSpPr/>
          <p:nvPr/>
        </p:nvSpPr>
        <p:spPr>
          <a:xfrm>
            <a:off x="457200" y="3963144"/>
            <a:ext cx="5034754" cy="186630"/>
          </a:xfrm>
          <a:prstGeom prst="rect">
            <a:avLst/>
          </a:prstGeom>
          <a:noFill/>
          <a:ln/>
        </p:spPr>
        <p:txBody>
          <a:bodyPr wrap="square" lIns="0" tIns="0" rIns="0" bIns="0" rtlCol="0" anchor="t"/>
          <a:lstStyle/>
          <a:p>
            <a:pPr algn="l" indent="0" marL="0">
              <a:lnSpc>
                <a:spcPts val="1470"/>
              </a:lnSpc>
              <a:buNone/>
            </a:pPr>
            <a:r>
              <a:rPr lang="en-US" sz="1050" dirty="0">
                <a:solidFill>
                  <a:srgbClr val="FFFFFF">
                    <a:alpha val="70000"/>
                  </a:srgbClr>
                </a:solidFill>
                <a:latin typeface="Arial" pitchFamily="34" charset="0"/>
                <a:ea typeface="Arial" pitchFamily="34" charset="-122"/>
                <a:cs typeface="Arial" pitchFamily="34" charset="-120"/>
              </a:rPr>
              <a:t>Part 1 of 3: Setup, Introduction &amp; Tool Overview</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indent="0" marL="0">
              <a:buNone/>
            </a:pPr>
            <a:endParaRPr lang="en-US" dirty="0"/>
          </a:p>
        </p:txBody>
      </p:sp>
      <p:sp>
        <p:nvSpPr>
          <p:cNvPr id="9" name="Text 6"/>
          <p:cNvSpPr/>
          <p:nvPr/>
        </p:nvSpPr>
        <p:spPr>
          <a:xfrm>
            <a:off x="7223659" y="1525042"/>
            <a:ext cx="699516" cy="960090"/>
          </a:xfrm>
          <a:prstGeom prst="rect">
            <a:avLst/>
          </a:prstGeom>
          <a:noFill/>
          <a:ln/>
        </p:spPr>
        <p:txBody>
          <a:bodyPr wrap="square" lIns="0" tIns="0" rIns="0" bIns="0" rtlCol="0" anchor="t"/>
          <a:lstStyle/>
          <a:p>
            <a:pPr algn="ctr" indent="0" marL="0">
              <a:lnSpc>
                <a:spcPts val="7560"/>
              </a:lnSpc>
              <a:buNone/>
            </a:pPr>
            <a:r>
              <a:rPr lang="en-US" sz="5400" dirty="0">
                <a:solidFill>
                  <a:srgbClr val="1A1F2E"/>
                </a:solidFill>
                <a:latin typeface="Georgia" pitchFamily="34" charset="0"/>
                <a:ea typeface="Georgia" pitchFamily="34" charset="-122"/>
                <a:cs typeface="Georgia" pitchFamily="34" charset="-120"/>
              </a:rPr>
              <a:t>90</a:t>
            </a:r>
            <a:endParaRPr lang="en-US" sz="5400" dirty="0"/>
          </a:p>
        </p:txBody>
      </p:sp>
      <p:sp>
        <p:nvSpPr>
          <p:cNvPr id="10" name="Text 7"/>
          <p:cNvSpPr/>
          <p:nvPr/>
        </p:nvSpPr>
        <p:spPr>
          <a:xfrm>
            <a:off x="7199370" y="2675632"/>
            <a:ext cx="748094" cy="186630"/>
          </a:xfrm>
          <a:prstGeom prst="rect">
            <a:avLst/>
          </a:prstGeom>
          <a:noFill/>
          <a:ln/>
        </p:spPr>
        <p:txBody>
          <a:bodyPr wrap="square" lIns="0" tIns="0" rIns="0" bIns="0" rtlCol="0" anchor="t"/>
          <a:lstStyle/>
          <a:p>
            <a:pPr algn="ctr" indent="0" marL="0">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MINUTES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alpha val="60000"/>
                  </a:srgbClr>
                </a:solidFill>
                <a:latin typeface="Arial" pitchFamily="34" charset="0"/>
                <a:ea typeface="Arial" pitchFamily="34" charset="-122"/>
                <a:cs typeface="Arial" pitchFamily="34" charset="-120"/>
              </a:rPr>
              <a:t>AI Technology Training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YOUR LEARNING JOURNEY</a:t>
            </a:r>
            <a:endParaRPr lang="en-US" sz="825" dirty="0"/>
          </a:p>
        </p:txBody>
      </p:sp>
      <p:sp>
        <p:nvSpPr>
          <p:cNvPr id="3" name="Text 1"/>
          <p:cNvSpPr/>
          <p:nvPr/>
        </p:nvSpPr>
        <p:spPr>
          <a:xfrm>
            <a:off x="457200" y="527596"/>
            <a:ext cx="6266498" cy="342900"/>
          </a:xfrm>
          <a:prstGeom prst="rect">
            <a:avLst/>
          </a:prstGeom>
          <a:noFill/>
          <a:ln/>
        </p:spPr>
        <p:txBody>
          <a:bodyPr wrap="square" lIns="0" tIns="0" rIns="0" bIns="0" rtlCol="0" anchor="t"/>
          <a:lstStyle/>
          <a:p>
            <a:pPr algn="l" indent="0" marL="0">
              <a:lnSpc>
                <a:spcPts val="2700"/>
              </a:lnSpc>
              <a:buNone/>
            </a:pPr>
            <a:r>
              <a:rPr lang="en-US" sz="2700" dirty="0">
                <a:solidFill>
                  <a:srgbClr val="1A1F2E"/>
                </a:solidFill>
                <a:latin typeface="Georgia" pitchFamily="34" charset="0"/>
                <a:ea typeface="Georgia" pitchFamily="34" charset="-122"/>
                <a:cs typeface="Georgia" pitchFamily="34" charset="-120"/>
              </a:rPr>
              <a:t>Three Sessions to Transform Your Workflow</a:t>
            </a:r>
            <a:endParaRPr lang="en-US" sz="2700" dirty="0"/>
          </a:p>
        </p:txBody>
      </p:sp>
      <p:sp>
        <p:nvSpPr>
          <p:cNvPr id="4" name="Text 2"/>
          <p:cNvSpPr/>
          <p:nvPr/>
        </p:nvSpPr>
        <p:spPr>
          <a:xfrm>
            <a:off x="457200" y="1415653"/>
            <a:ext cx="2603450" cy="3182689"/>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85800" y="1320403"/>
            <a:ext cx="675382" cy="2095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38200" y="1358503"/>
            <a:ext cx="377994"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TODAY</a:t>
            </a:r>
            <a:endParaRPr lang="en-US" sz="750" dirty="0"/>
          </a:p>
        </p:txBody>
      </p:sp>
      <p:sp>
        <p:nvSpPr>
          <p:cNvPr id="7" name="Text 5"/>
          <p:cNvSpPr/>
          <p:nvPr/>
        </p:nvSpPr>
        <p:spPr>
          <a:xfrm>
            <a:off x="723900" y="1682353"/>
            <a:ext cx="2111451" cy="639961"/>
          </a:xfrm>
          <a:prstGeom prst="rect">
            <a:avLst/>
          </a:prstGeom>
          <a:noFill/>
          <a:ln/>
        </p:spPr>
        <p:txBody>
          <a:bodyPr wrap="square" lIns="0" tIns="0" rIns="0" bIns="0" rtlCol="0" anchor="t"/>
          <a:lstStyle/>
          <a:p>
            <a:pPr algn="l" indent="0" marL="0">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01</a:t>
            </a:r>
            <a:endParaRPr lang="en-US" sz="3600" dirty="0"/>
          </a:p>
        </p:txBody>
      </p:sp>
      <p:sp>
        <p:nvSpPr>
          <p:cNvPr id="8" name="Text 6"/>
          <p:cNvSpPr/>
          <p:nvPr/>
        </p:nvSpPr>
        <p:spPr>
          <a:xfrm>
            <a:off x="723900" y="2512814"/>
            <a:ext cx="2111451" cy="239911"/>
          </a:xfrm>
          <a:prstGeom prst="rect">
            <a:avLst/>
          </a:prstGeom>
          <a:noFill/>
          <a:ln/>
        </p:spPr>
        <p:txBody>
          <a:bodyPr wrap="square" lIns="0" tIns="0" rIns="0" bIns="0" rtlCol="0" anchor="t"/>
          <a:lstStyle/>
          <a:p>
            <a:pPr algn="l" indent="0" marL="0">
              <a:lnSpc>
                <a:spcPts val="1890"/>
              </a:lnSpc>
              <a:spcAft>
                <a:spcPts val="1200"/>
              </a:spcAft>
              <a:buNone/>
            </a:pPr>
            <a:r>
              <a:rPr lang="en-US" sz="1350" dirty="0">
                <a:solidFill>
                  <a:srgbClr val="FFFFFF"/>
                </a:solidFill>
                <a:latin typeface="Georgia" pitchFamily="34" charset="0"/>
                <a:ea typeface="Georgia" pitchFamily="34" charset="-122"/>
                <a:cs typeface="Georgia" pitchFamily="34" charset="-120"/>
              </a:rPr>
              <a:t>Setup &amp; Tool Overview</a:t>
            </a:r>
            <a:endParaRPr lang="en-US" sz="1350" dirty="0"/>
          </a:p>
        </p:txBody>
      </p:sp>
      <p:sp>
        <p:nvSpPr>
          <p:cNvPr id="9" name="Text 7"/>
          <p:cNvSpPr/>
          <p:nvPr/>
        </p:nvSpPr>
        <p:spPr>
          <a:xfrm>
            <a:off x="723900" y="3057525"/>
            <a:ext cx="2111451" cy="822722"/>
          </a:xfrm>
          <a:prstGeom prst="rect">
            <a:avLst/>
          </a:prstGeom>
          <a:noFill/>
          <a:ln/>
        </p:spPr>
        <p:txBody>
          <a:bodyPr wrap="square" lIns="0" tIns="0" rIns="0" bIns="0" rtlCol="0" anchor="t"/>
          <a:lstStyle/>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Voice input tools</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AI coding assistants</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Enterprise configuration</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Security fundamentals</a:t>
            </a:r>
            <a:endParaRPr lang="en-US" sz="900" dirty="0"/>
          </a:p>
        </p:txBody>
      </p:sp>
      <p:sp>
        <p:nvSpPr>
          <p:cNvPr id="10" name="Text 8"/>
          <p:cNvSpPr/>
          <p:nvPr/>
        </p:nvSpPr>
        <p:spPr>
          <a:xfrm>
            <a:off x="723900" y="4185047"/>
            <a:ext cx="21114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40000"/>
                  </a:srgbClr>
                </a:solidFill>
                <a:latin typeface="Arial" pitchFamily="34" charset="0"/>
                <a:ea typeface="Arial" pitchFamily="34" charset="-122"/>
                <a:cs typeface="Arial" pitchFamily="34" charset="-120"/>
              </a:rPr>
              <a:t>90 minutes</a:t>
            </a:r>
            <a:endParaRPr lang="en-US" sz="825" dirty="0"/>
          </a:p>
        </p:txBody>
      </p:sp>
      <p:sp>
        <p:nvSpPr>
          <p:cNvPr id="11" name="Text 9"/>
          <p:cNvSpPr/>
          <p:nvPr/>
        </p:nvSpPr>
        <p:spPr>
          <a:xfrm>
            <a:off x="3251150" y="1406128"/>
            <a:ext cx="2622500" cy="3201739"/>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3527375" y="1682353"/>
            <a:ext cx="2111451" cy="639961"/>
          </a:xfrm>
          <a:prstGeom prst="rect">
            <a:avLst/>
          </a:prstGeom>
          <a:noFill/>
          <a:ln/>
        </p:spPr>
        <p:txBody>
          <a:bodyPr wrap="square" lIns="0" tIns="0" rIns="0" bIns="0" rtlCol="0" anchor="t"/>
          <a:lstStyle/>
          <a:p>
            <a:pPr algn="l" indent="0" marL="0">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3527375" y="2512814"/>
            <a:ext cx="2111451" cy="239911"/>
          </a:xfrm>
          <a:prstGeom prst="rect">
            <a:avLst/>
          </a:prstGeom>
          <a:noFill/>
          <a:ln/>
        </p:spPr>
        <p:txBody>
          <a:bodyPr wrap="square" lIns="0" tIns="0" rIns="0" bIns="0" rtlCol="0" anchor="t"/>
          <a:lstStyle/>
          <a:p>
            <a:pPr algn="l" indent="0" marL="0">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Hands-On Practice</a:t>
            </a:r>
            <a:endParaRPr lang="en-US" sz="1350" dirty="0"/>
          </a:p>
        </p:txBody>
      </p:sp>
      <p:sp>
        <p:nvSpPr>
          <p:cNvPr id="14" name="Text 12"/>
          <p:cNvSpPr/>
          <p:nvPr/>
        </p:nvSpPr>
        <p:spPr>
          <a:xfrm>
            <a:off x="3527375" y="3057525"/>
            <a:ext cx="2111451"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Real workflow exercises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Your actual projects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Troubleshooting tips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Productivity shortcuts</a:t>
            </a:r>
            <a:endParaRPr lang="en-US" sz="900" dirty="0"/>
          </a:p>
        </p:txBody>
      </p:sp>
      <p:sp>
        <p:nvSpPr>
          <p:cNvPr id="15" name="Text 13"/>
          <p:cNvSpPr/>
          <p:nvPr/>
        </p:nvSpPr>
        <p:spPr>
          <a:xfrm>
            <a:off x="3527375" y="4185047"/>
            <a:ext cx="2111451" cy="146596"/>
          </a:xfrm>
          <a:prstGeom prst="rect">
            <a:avLst/>
          </a:prstGeom>
          <a:noFill/>
          <a:ln/>
        </p:spPr>
        <p:txBody>
          <a:bodyPr wrap="square" lIns="0" tIns="0" rIns="0" bIns="0" rtlCol="0" anchor="t"/>
          <a:lstStyle/>
          <a:p>
            <a:pPr algn="l" indent="0" marL="0">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
        <p:nvSpPr>
          <p:cNvPr id="16" name="Text 14"/>
          <p:cNvSpPr/>
          <p:nvPr/>
        </p:nvSpPr>
        <p:spPr>
          <a:xfrm>
            <a:off x="6064151" y="1406128"/>
            <a:ext cx="2622500" cy="3201739"/>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6340376" y="1682353"/>
            <a:ext cx="2111451" cy="639961"/>
          </a:xfrm>
          <a:prstGeom prst="rect">
            <a:avLst/>
          </a:prstGeom>
          <a:noFill/>
          <a:ln/>
        </p:spPr>
        <p:txBody>
          <a:bodyPr wrap="square" lIns="0" tIns="0" rIns="0" bIns="0" rtlCol="0" anchor="t"/>
          <a:lstStyle/>
          <a:p>
            <a:pPr algn="l" indent="0" marL="0">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03</a:t>
            </a:r>
            <a:endParaRPr lang="en-US" sz="3600" dirty="0"/>
          </a:p>
        </p:txBody>
      </p:sp>
      <p:sp>
        <p:nvSpPr>
          <p:cNvPr id="18" name="Text 16"/>
          <p:cNvSpPr/>
          <p:nvPr/>
        </p:nvSpPr>
        <p:spPr>
          <a:xfrm>
            <a:off x="6340376" y="2512814"/>
            <a:ext cx="2111451" cy="239911"/>
          </a:xfrm>
          <a:prstGeom prst="rect">
            <a:avLst/>
          </a:prstGeom>
          <a:noFill/>
          <a:ln/>
        </p:spPr>
        <p:txBody>
          <a:bodyPr wrap="square" lIns="0" tIns="0" rIns="0" bIns="0" rtlCol="0" anchor="t"/>
          <a:lstStyle/>
          <a:p>
            <a:pPr algn="l" indent="0" marL="0">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Build a Transcriber</a:t>
            </a:r>
            <a:endParaRPr lang="en-US" sz="1350" dirty="0"/>
          </a:p>
        </p:txBody>
      </p:sp>
      <p:sp>
        <p:nvSpPr>
          <p:cNvPr id="19" name="Text 17"/>
          <p:cNvSpPr/>
          <p:nvPr/>
        </p:nvSpPr>
        <p:spPr>
          <a:xfrm>
            <a:off x="6340376" y="3057525"/>
            <a:ext cx="2111451"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End-to-end project</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Meeting transcription app</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Voice-driven development</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Deploy and share</a:t>
            </a:r>
            <a:endParaRPr lang="en-US" sz="900" dirty="0"/>
          </a:p>
        </p:txBody>
      </p:sp>
      <p:sp>
        <p:nvSpPr>
          <p:cNvPr id="20" name="Text 18"/>
          <p:cNvSpPr/>
          <p:nvPr/>
        </p:nvSpPr>
        <p:spPr>
          <a:xfrm>
            <a:off x="6340376" y="4185047"/>
            <a:ext cx="2111451" cy="146596"/>
          </a:xfrm>
          <a:prstGeom prst="rect">
            <a:avLst/>
          </a:prstGeom>
          <a:noFill/>
          <a:ln/>
        </p:spPr>
        <p:txBody>
          <a:bodyPr wrap="square" lIns="0" tIns="0" rIns="0" bIns="0" rtlCol="0" anchor="t"/>
          <a:lstStyle/>
          <a:p>
            <a:pPr algn="l" indent="0" marL="0">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943475"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457200" y="1119188"/>
            <a:ext cx="4109657" cy="487561"/>
          </a:xfrm>
          <a:prstGeom prst="rect">
            <a:avLst/>
          </a:prstGeom>
          <a:noFill/>
          <a:ln/>
        </p:spPr>
        <p:txBody>
          <a:bodyPr wrap="square" lIns="0" tIns="0" rIns="0" bIns="0" rtlCol="0" anchor="t"/>
          <a:lstStyle/>
          <a:p>
            <a:pPr algn="l" indent="0" marL="0">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1759148"/>
            <a:ext cx="4109657" cy="628650"/>
          </a:xfrm>
          <a:prstGeom prst="rect">
            <a:avLst/>
          </a:prstGeom>
          <a:noFill/>
          <a:ln/>
        </p:spPr>
        <p:txBody>
          <a:bodyPr wrap="square" lIns="0" tIns="0" rIns="0" bIns="0" rtlCol="0" anchor="t"/>
          <a:lstStyle/>
          <a:p>
            <a:pPr algn="l" indent="0" marL="0">
              <a:lnSpc>
                <a:spcPts val="2475"/>
              </a:lnSpc>
              <a:spcAft>
                <a:spcPts val="1800"/>
              </a:spcAft>
              <a:buNone/>
            </a:pPr>
            <a:r>
              <a:rPr lang="en-US" sz="1650" i="1" dirty="0">
                <a:solidFill>
                  <a:srgbClr val="FFFFFF"/>
                </a:solidFill>
                <a:latin typeface="Georgia" pitchFamily="34" charset="0"/>
                <a:ea typeface="Georgia" pitchFamily="34" charset="-122"/>
                <a:cs typeface="Georgia" pitchFamily="34" charset="-120"/>
              </a:rPr>
              <a:t>The keyboard is a bottleneck between your thoughts and your code.</a:t>
            </a:r>
            <a:endParaRPr lang="en-US" sz="1650" dirty="0"/>
          </a:p>
        </p:txBody>
      </p:sp>
      <p:sp>
        <p:nvSpPr>
          <p:cNvPr id="5" name="Text 3"/>
          <p:cNvSpPr/>
          <p:nvPr/>
        </p:nvSpPr>
        <p:spPr>
          <a:xfrm>
            <a:off x="457200" y="2768798"/>
            <a:ext cx="4109657" cy="314325"/>
          </a:xfrm>
          <a:prstGeom prst="rect">
            <a:avLst/>
          </a:prstGeom>
          <a:noFill/>
          <a:ln/>
        </p:spPr>
        <p:txBody>
          <a:bodyPr wrap="square" lIns="0" tIns="0" rIns="0" bIns="0" rtlCol="0" anchor="t"/>
          <a:lstStyle/>
          <a:p>
            <a:pPr algn="l" indent="0" marL="0">
              <a:lnSpc>
                <a:spcPts val="2475"/>
              </a:lnSpc>
              <a:spcAft>
                <a:spcPts val="2400"/>
              </a:spcAft>
              <a:buNone/>
            </a:pPr>
            <a:r>
              <a:rPr lang="en-US" sz="1650" i="1" dirty="0">
                <a:solidFill>
                  <a:srgbClr val="FFFFFF"/>
                </a:solidFill>
                <a:latin typeface="Georgia" pitchFamily="34" charset="0"/>
                <a:ea typeface="Georgia" pitchFamily="34" charset="-122"/>
                <a:cs typeface="Georgia" pitchFamily="34" charset="-120"/>
              </a:rPr>
              <a:t>Voice removes that bottleneck.</a:t>
            </a:r>
            <a:endParaRPr lang="en-US" sz="1650" dirty="0"/>
          </a:p>
        </p:txBody>
      </p:sp>
      <p:sp>
        <p:nvSpPr>
          <p:cNvPr id="6" name="Text 4"/>
          <p:cNvSpPr/>
          <p:nvPr/>
        </p:nvSpPr>
        <p:spPr>
          <a:xfrm>
            <a:off x="457200" y="3540323"/>
            <a:ext cx="4572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457200" y="3864173"/>
            <a:ext cx="4109657"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AI Toolkit Research</a:t>
            </a:r>
            <a:endParaRPr lang="en-US" sz="900" dirty="0"/>
          </a:p>
        </p:txBody>
      </p:sp>
      <p:sp>
        <p:nvSpPr>
          <p:cNvPr id="8" name="Text 6"/>
          <p:cNvSpPr/>
          <p:nvPr/>
        </p:nvSpPr>
        <p:spPr>
          <a:xfrm>
            <a:off x="5095875" y="0"/>
            <a:ext cx="4048125" cy="5143500"/>
          </a:xfrm>
          <a:prstGeom prst="rect">
            <a:avLst/>
          </a:prstGeom>
          <a:solidFill>
            <a:srgbClr val="F7F8FA"/>
          </a:solidFill>
          <a:ln/>
        </p:spPr>
        <p:txBody>
          <a:bodyPr wrap="square" rtlCol="0" anchor="ctr"/>
          <a:lstStyle/>
          <a:p>
            <a:pPr indent="0" marL="0">
              <a:buNone/>
            </a:pPr>
            <a:endParaRPr lang="en-US" dirty="0"/>
          </a:p>
        </p:txBody>
      </p:sp>
      <p:sp>
        <p:nvSpPr>
          <p:cNvPr id="9" name="Text 7"/>
          <p:cNvSpPr/>
          <p:nvPr/>
        </p:nvSpPr>
        <p:spPr>
          <a:xfrm>
            <a:off x="5553075" y="922139"/>
            <a:ext cx="3196400" cy="685800"/>
          </a:xfrm>
          <a:prstGeom prst="rect">
            <a:avLst/>
          </a:prstGeom>
          <a:noFill/>
          <a:ln/>
        </p:spPr>
        <p:txBody>
          <a:bodyPr wrap="square" lIns="0" tIns="0" rIns="0" bIns="0" rtlCol="0" anchor="t"/>
          <a:lstStyle/>
          <a:p>
            <a:pPr algn="l" indent="0" marL="0">
              <a:lnSpc>
                <a:spcPts val="5400"/>
              </a:lnSpc>
              <a:buNone/>
            </a:pPr>
            <a:r>
              <a:rPr lang="en-US" sz="5400" dirty="0">
                <a:solidFill>
                  <a:srgbClr val="C9A227"/>
                </a:solidFill>
                <a:latin typeface="Georgia" pitchFamily="34" charset="0"/>
                <a:ea typeface="Georgia" pitchFamily="34" charset="-122"/>
                <a:cs typeface="Georgia" pitchFamily="34" charset="-120"/>
              </a:rPr>
              <a:t>150</a:t>
            </a:r>
            <a:endParaRPr lang="en-US" sz="5400" dirty="0"/>
          </a:p>
        </p:txBody>
      </p:sp>
      <p:sp>
        <p:nvSpPr>
          <p:cNvPr id="10" name="Text 8"/>
          <p:cNvSpPr/>
          <p:nvPr/>
        </p:nvSpPr>
        <p:spPr>
          <a:xfrm>
            <a:off x="5553075" y="1646039"/>
            <a:ext cx="3196400" cy="186630"/>
          </a:xfrm>
          <a:prstGeom prst="rect">
            <a:avLst/>
          </a:prstGeom>
          <a:noFill/>
          <a:ln/>
        </p:spPr>
        <p:txBody>
          <a:bodyPr wrap="square" lIns="0" tIns="0" rIns="0" bIns="0" rtlCol="0" anchor="t"/>
          <a:lstStyle/>
          <a:p>
            <a:pPr algn="l" indent="0" marL="0">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words per minute speaking</a:t>
            </a:r>
            <a:endParaRPr lang="en-US" sz="1050" dirty="0"/>
          </a:p>
        </p:txBody>
      </p:sp>
      <p:sp>
        <p:nvSpPr>
          <p:cNvPr id="11" name="Text 9"/>
          <p:cNvSpPr/>
          <p:nvPr/>
        </p:nvSpPr>
        <p:spPr>
          <a:xfrm>
            <a:off x="5553075" y="2137470"/>
            <a:ext cx="3133725" cy="9525"/>
          </a:xfrm>
          <a:prstGeom prst="rect">
            <a:avLst/>
          </a:prstGeom>
          <a:solidFill>
            <a:srgbClr val="E4E7ED"/>
          </a:solidFill>
          <a:ln/>
        </p:spPr>
        <p:txBody>
          <a:bodyPr wrap="square" rtlCol="0" anchor="ctr"/>
          <a:lstStyle/>
          <a:p>
            <a:pPr indent="0" marL="0">
              <a:buNone/>
            </a:pPr>
            <a:endParaRPr lang="en-US" dirty="0"/>
          </a:p>
        </p:txBody>
      </p:sp>
      <p:sp>
        <p:nvSpPr>
          <p:cNvPr id="12" name="Text 10"/>
          <p:cNvSpPr/>
          <p:nvPr/>
        </p:nvSpPr>
        <p:spPr>
          <a:xfrm>
            <a:off x="5553075" y="2451795"/>
            <a:ext cx="3196400" cy="685800"/>
          </a:xfrm>
          <a:prstGeom prst="rect">
            <a:avLst/>
          </a:prstGeom>
          <a:noFill/>
          <a:ln/>
        </p:spPr>
        <p:txBody>
          <a:bodyPr wrap="square" lIns="0" tIns="0" rIns="0" bIns="0" rtlCol="0" anchor="t"/>
          <a:lstStyle/>
          <a:p>
            <a:pPr algn="l" indent="0" marL="0">
              <a:lnSpc>
                <a:spcPts val="5400"/>
              </a:lnSpc>
              <a:buNone/>
            </a:pPr>
            <a:r>
              <a:rPr lang="en-US" sz="5400" dirty="0">
                <a:solidFill>
                  <a:srgbClr val="6B7280"/>
                </a:solidFill>
                <a:latin typeface="Georgia" pitchFamily="34" charset="0"/>
                <a:ea typeface="Georgia" pitchFamily="34" charset="-122"/>
                <a:cs typeface="Georgia" pitchFamily="34" charset="-120"/>
              </a:rPr>
              <a:t>40</a:t>
            </a:r>
            <a:endParaRPr lang="en-US" sz="5400" dirty="0"/>
          </a:p>
        </p:txBody>
      </p:sp>
      <p:sp>
        <p:nvSpPr>
          <p:cNvPr id="13" name="Text 11"/>
          <p:cNvSpPr/>
          <p:nvPr/>
        </p:nvSpPr>
        <p:spPr>
          <a:xfrm>
            <a:off x="5553075" y="3175695"/>
            <a:ext cx="3196400" cy="186630"/>
          </a:xfrm>
          <a:prstGeom prst="rect">
            <a:avLst/>
          </a:prstGeom>
          <a:noFill/>
          <a:ln/>
        </p:spPr>
        <p:txBody>
          <a:bodyPr wrap="square" lIns="0" tIns="0" rIns="0" bIns="0" rtlCol="0" anchor="t"/>
          <a:lstStyle/>
          <a:p>
            <a:pPr algn="l" indent="0" marL="0">
              <a:lnSpc>
                <a:spcPts val="1470"/>
              </a:lnSpc>
              <a:spcBef>
                <a:spcPts val="300"/>
              </a:spcBef>
              <a:buNone/>
            </a:pPr>
            <a:r>
              <a:rPr lang="en-US" sz="1050" dirty="0">
                <a:solidFill>
                  <a:srgbClr val="6B7280"/>
                </a:solidFill>
                <a:latin typeface="Arial" pitchFamily="34" charset="0"/>
                <a:ea typeface="Arial" pitchFamily="34" charset="-122"/>
                <a:cs typeface="Arial" pitchFamily="34" charset="-120"/>
              </a:rPr>
              <a:t>words per minute typing</a:t>
            </a:r>
            <a:endParaRPr lang="en-US" sz="1050" dirty="0"/>
          </a:p>
        </p:txBody>
      </p:sp>
      <p:sp>
        <p:nvSpPr>
          <p:cNvPr id="14" name="Text 12"/>
          <p:cNvSpPr/>
          <p:nvPr/>
        </p:nvSpPr>
        <p:spPr>
          <a:xfrm>
            <a:off x="5553075" y="3743325"/>
            <a:ext cx="3133725" cy="478036"/>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5716048" y="3895725"/>
            <a:ext cx="2807779" cy="173236"/>
          </a:xfrm>
          <a:prstGeom prst="rect">
            <a:avLst/>
          </a:prstGeom>
          <a:noFill/>
          <a:ln/>
        </p:spPr>
        <p:txBody>
          <a:bodyPr wrap="square" lIns="0" tIns="0" rIns="0" bIns="0" rtlCol="0" anchor="t"/>
          <a:lstStyle/>
          <a:p>
            <a:pPr algn="ctr" indent="0" marL="0">
              <a:lnSpc>
                <a:spcPts val="1365"/>
              </a:lnSpc>
              <a:buNone/>
            </a:pPr>
            <a:r>
              <a:rPr lang="en-US" sz="975" dirty="0">
                <a:solidFill>
                  <a:srgbClr val="FFFFFF"/>
                </a:solidFill>
                <a:latin typeface="Arial" pitchFamily="34" charset="0"/>
                <a:ea typeface="Arial" pitchFamily="34" charset="-122"/>
                <a:cs typeface="Arial" pitchFamily="34" charset="-120"/>
              </a:rPr>
              <a:t>Work at the speed of thought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WHY IT MATTERS</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algn="l" indent="0" marL="0">
              <a:lnSpc>
                <a:spcPts val="2700"/>
              </a:lnSpc>
              <a:buNone/>
            </a:pPr>
            <a:r>
              <a:rPr lang="en-US" sz="2700" dirty="0">
                <a:solidFill>
                  <a:srgbClr val="FFFFFF"/>
                </a:solidFill>
                <a:latin typeface="Georgia" pitchFamily="34" charset="0"/>
                <a:ea typeface="Georgia" pitchFamily="34" charset="-122"/>
                <a:cs typeface="Georgia" pitchFamily="34" charset="-120"/>
              </a:rPr>
              <a:t>Key Benefits</a:t>
            </a:r>
            <a:endParaRPr lang="en-US" sz="2700" dirty="0"/>
          </a:p>
        </p:txBody>
      </p:sp>
      <p:sp>
        <p:nvSpPr>
          <p:cNvPr id="4" name="Text 2"/>
          <p:cNvSpPr/>
          <p:nvPr/>
        </p:nvSpPr>
        <p:spPr>
          <a:xfrm>
            <a:off x="4572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6858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7703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01</a:t>
            </a:r>
            <a:endParaRPr lang="en-US" sz="1500" dirty="0"/>
          </a:p>
        </p:txBody>
      </p:sp>
      <p:sp>
        <p:nvSpPr>
          <p:cNvPr id="7" name="Text 5"/>
          <p:cNvSpPr/>
          <p:nvPr/>
        </p:nvSpPr>
        <p:spPr>
          <a:xfrm>
            <a:off x="6858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Ergonomic</a:t>
            </a:r>
            <a:endParaRPr lang="en-US" sz="1200" dirty="0"/>
          </a:p>
        </p:txBody>
      </p:sp>
      <p:sp>
        <p:nvSpPr>
          <p:cNvPr id="8" name="Text 6"/>
          <p:cNvSpPr/>
          <p:nvPr/>
        </p:nvSpPr>
        <p:spPr>
          <a:xfrm>
            <a:off x="6858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RSI prevention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Reduced physical strain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Accessibility support</a:t>
            </a:r>
            <a:endParaRPr lang="en-US" sz="900" dirty="0"/>
          </a:p>
        </p:txBody>
      </p:sp>
      <p:sp>
        <p:nvSpPr>
          <p:cNvPr id="9" name="Text 7"/>
          <p:cNvSpPr/>
          <p:nvPr/>
        </p:nvSpPr>
        <p:spPr>
          <a:xfrm>
            <a:off x="25527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10" name="Text 8"/>
          <p:cNvSpPr/>
          <p:nvPr/>
        </p:nvSpPr>
        <p:spPr>
          <a:xfrm>
            <a:off x="27813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28658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27813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Productivity</a:t>
            </a:r>
            <a:endParaRPr lang="en-US" sz="1200" dirty="0"/>
          </a:p>
        </p:txBody>
      </p:sp>
      <p:sp>
        <p:nvSpPr>
          <p:cNvPr id="13" name="Text 11"/>
          <p:cNvSpPr/>
          <p:nvPr/>
        </p:nvSpPr>
        <p:spPr>
          <a:xfrm>
            <a:off x="27813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Faster iteration cycles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Speak ideas as you think</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 context switching</a:t>
            </a:r>
            <a:endParaRPr lang="en-US" sz="900" dirty="0"/>
          </a:p>
        </p:txBody>
      </p:sp>
      <p:sp>
        <p:nvSpPr>
          <p:cNvPr id="14" name="Text 12"/>
          <p:cNvSpPr/>
          <p:nvPr/>
        </p:nvSpPr>
        <p:spPr>
          <a:xfrm>
            <a:off x="46482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15" name="Text 13"/>
          <p:cNvSpPr/>
          <p:nvPr/>
        </p:nvSpPr>
        <p:spPr>
          <a:xfrm>
            <a:off x="48768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49613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48768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Multitasking</a:t>
            </a:r>
            <a:endParaRPr lang="en-US" sz="1200" dirty="0"/>
          </a:p>
        </p:txBody>
      </p:sp>
      <p:sp>
        <p:nvSpPr>
          <p:cNvPr id="18" name="Text 16"/>
          <p:cNvSpPr/>
          <p:nvPr/>
        </p:nvSpPr>
        <p:spPr>
          <a:xfrm>
            <a:off x="48768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Code while reviewing docs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Hands-free operation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Think out loud naturally</a:t>
            </a:r>
            <a:endParaRPr lang="en-US" sz="900" dirty="0"/>
          </a:p>
        </p:txBody>
      </p:sp>
      <p:sp>
        <p:nvSpPr>
          <p:cNvPr id="19" name="Text 17"/>
          <p:cNvSpPr/>
          <p:nvPr/>
        </p:nvSpPr>
        <p:spPr>
          <a:xfrm>
            <a:off x="6743700" y="1942207"/>
            <a:ext cx="1943100" cy="2205633"/>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6972300" y="2170807"/>
            <a:ext cx="381000" cy="381000"/>
          </a:xfrm>
          <a:prstGeom prst="rect">
            <a:avLst/>
          </a:prstGeom>
          <a:solidFill>
            <a:srgbClr val="C9A227"/>
          </a:solidFill>
          <a:ln/>
        </p:spPr>
        <p:txBody>
          <a:bodyPr wrap="square" rtlCol="0" anchor="ctr"/>
          <a:lstStyle/>
          <a:p>
            <a:pPr indent="0" marL="0">
              <a:buNone/>
            </a:pPr>
            <a:endParaRPr lang="en-US" dirty="0"/>
          </a:p>
        </p:txBody>
      </p:sp>
      <p:sp>
        <p:nvSpPr>
          <p:cNvPr id="21" name="Text 19"/>
          <p:cNvSpPr/>
          <p:nvPr/>
        </p:nvSpPr>
        <p:spPr>
          <a:xfrm>
            <a:off x="7056834" y="2227957"/>
            <a:ext cx="21617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Arial" pitchFamily="34" charset="0"/>
                <a:ea typeface="Arial" pitchFamily="34" charset="-122"/>
                <a:cs typeface="Arial" pitchFamily="34" charset="-120"/>
              </a:rPr>
              <a:t>04</a:t>
            </a:r>
            <a:endParaRPr lang="en-US" sz="1500" dirty="0"/>
          </a:p>
        </p:txBody>
      </p:sp>
      <p:sp>
        <p:nvSpPr>
          <p:cNvPr id="22" name="Text 20"/>
          <p:cNvSpPr/>
          <p:nvPr/>
        </p:nvSpPr>
        <p:spPr>
          <a:xfrm>
            <a:off x="6972300" y="2856607"/>
            <a:ext cx="1515618"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Accessibility</a:t>
            </a:r>
            <a:endParaRPr lang="en-US" sz="1200" dirty="0"/>
          </a:p>
        </p:txBody>
      </p:sp>
      <p:sp>
        <p:nvSpPr>
          <p:cNvPr id="23" name="Text 21"/>
          <p:cNvSpPr/>
          <p:nvPr/>
        </p:nvSpPr>
        <p:spPr>
          <a:xfrm>
            <a:off x="6972300" y="3336578"/>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Mobility accommodations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Inclusive workflows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Alternative input paths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AUDIENCE</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algn="l" indent="0" marL="0">
              <a:lnSpc>
                <a:spcPts val="2700"/>
              </a:lnSpc>
              <a:buNone/>
            </a:pPr>
            <a:r>
              <a:rPr lang="en-US" sz="2700" dirty="0">
                <a:solidFill>
                  <a:srgbClr val="1A1F2E"/>
                </a:solidFill>
                <a:latin typeface="Georgia" pitchFamily="34" charset="0"/>
                <a:ea typeface="Georgia" pitchFamily="34" charset="-122"/>
                <a:cs typeface="Georgia" pitchFamily="34" charset="-120"/>
              </a:rPr>
              <a:t>Who Is This For?</a:t>
            </a:r>
            <a:endParaRPr lang="en-US" sz="2700" dirty="0"/>
          </a:p>
        </p:txBody>
      </p:sp>
      <p:sp>
        <p:nvSpPr>
          <p:cNvPr id="4" name="Text 2"/>
          <p:cNvSpPr/>
          <p:nvPr/>
        </p:nvSpPr>
        <p:spPr>
          <a:xfrm>
            <a:off x="4572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76250" y="1964085"/>
            <a:ext cx="0" cy="1175147"/>
          </a:xfrm>
          <a:prstGeom prst="line">
            <a:avLst/>
          </a:prstGeom>
          <a:noFill/>
          <a:ln w="38100">
            <a:solidFill>
              <a:srgbClr val="C9A227"/>
            </a:solidFill>
            <a:prstDash val="solid"/>
          </a:ln>
        </p:spPr>
      </p:sp>
      <p:sp>
        <p:nvSpPr>
          <p:cNvPr id="6" name="Text 4"/>
          <p:cNvSpPr/>
          <p:nvPr/>
        </p:nvSpPr>
        <p:spPr>
          <a:xfrm>
            <a:off x="6858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Developers</a:t>
            </a:r>
            <a:endParaRPr lang="en-US" sz="1125" dirty="0"/>
          </a:p>
        </p:txBody>
      </p:sp>
      <p:sp>
        <p:nvSpPr>
          <p:cNvPr id="7" name="Text 5"/>
          <p:cNvSpPr/>
          <p:nvPr/>
        </p:nvSpPr>
        <p:spPr>
          <a:xfrm>
            <a:off x="6858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Voice-driven coding, refactoring, and debugging</a:t>
            </a:r>
            <a:endParaRPr lang="en-US" sz="900" dirty="0"/>
          </a:p>
        </p:txBody>
      </p:sp>
      <p:sp>
        <p:nvSpPr>
          <p:cNvPr id="8" name="Text 6"/>
          <p:cNvSpPr/>
          <p:nvPr/>
        </p:nvSpPr>
        <p:spPr>
          <a:xfrm>
            <a:off x="25527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9" name="Shape 7"/>
          <p:cNvSpPr/>
          <p:nvPr/>
        </p:nvSpPr>
        <p:spPr>
          <a:xfrm>
            <a:off x="2571750" y="1964085"/>
            <a:ext cx="0" cy="1175147"/>
          </a:xfrm>
          <a:prstGeom prst="line">
            <a:avLst/>
          </a:prstGeom>
          <a:noFill/>
          <a:ln w="38100">
            <a:solidFill>
              <a:srgbClr val="C9A227"/>
            </a:solidFill>
            <a:prstDash val="solid"/>
          </a:ln>
        </p:spPr>
      </p:sp>
      <p:sp>
        <p:nvSpPr>
          <p:cNvPr id="10" name="Text 8"/>
          <p:cNvSpPr/>
          <p:nvPr/>
        </p:nvSpPr>
        <p:spPr>
          <a:xfrm>
            <a:off x="27813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Data Scientists</a:t>
            </a:r>
            <a:endParaRPr lang="en-US" sz="1125" dirty="0"/>
          </a:p>
        </p:txBody>
      </p:sp>
      <p:sp>
        <p:nvSpPr>
          <p:cNvPr id="11" name="Text 9"/>
          <p:cNvSpPr/>
          <p:nvPr/>
        </p:nvSpPr>
        <p:spPr>
          <a:xfrm>
            <a:off x="27813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Dictate analysis scripts and documentation</a:t>
            </a:r>
            <a:endParaRPr lang="en-US" sz="900" dirty="0"/>
          </a:p>
        </p:txBody>
      </p:sp>
      <p:sp>
        <p:nvSpPr>
          <p:cNvPr id="12" name="Text 10"/>
          <p:cNvSpPr/>
          <p:nvPr/>
        </p:nvSpPr>
        <p:spPr>
          <a:xfrm>
            <a:off x="46482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4667250" y="1964085"/>
            <a:ext cx="0" cy="1175147"/>
          </a:xfrm>
          <a:prstGeom prst="line">
            <a:avLst/>
          </a:prstGeom>
          <a:noFill/>
          <a:ln w="38100">
            <a:solidFill>
              <a:srgbClr val="C9A227"/>
            </a:solidFill>
            <a:prstDash val="solid"/>
          </a:ln>
        </p:spPr>
      </p:sp>
      <p:sp>
        <p:nvSpPr>
          <p:cNvPr id="14" name="Text 12"/>
          <p:cNvSpPr/>
          <p:nvPr/>
        </p:nvSpPr>
        <p:spPr>
          <a:xfrm>
            <a:off x="48768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Researchers</a:t>
            </a:r>
            <a:endParaRPr lang="en-US" sz="1125" dirty="0"/>
          </a:p>
        </p:txBody>
      </p:sp>
      <p:sp>
        <p:nvSpPr>
          <p:cNvPr id="15" name="Text 13"/>
          <p:cNvSpPr/>
          <p:nvPr/>
        </p:nvSpPr>
        <p:spPr>
          <a:xfrm>
            <a:off x="48768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Draft reports while reviewing data</a:t>
            </a:r>
            <a:endParaRPr lang="en-US" sz="900" dirty="0"/>
          </a:p>
        </p:txBody>
      </p:sp>
      <p:sp>
        <p:nvSpPr>
          <p:cNvPr id="16" name="Text 14"/>
          <p:cNvSpPr/>
          <p:nvPr/>
        </p:nvSpPr>
        <p:spPr>
          <a:xfrm>
            <a:off x="6743700" y="1964085"/>
            <a:ext cx="1943100" cy="1175147"/>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6762750" y="1964085"/>
            <a:ext cx="0" cy="1175147"/>
          </a:xfrm>
          <a:prstGeom prst="line">
            <a:avLst/>
          </a:prstGeom>
          <a:noFill/>
          <a:ln w="38100">
            <a:solidFill>
              <a:srgbClr val="C9A227"/>
            </a:solidFill>
            <a:prstDash val="solid"/>
          </a:ln>
        </p:spPr>
      </p:sp>
      <p:sp>
        <p:nvSpPr>
          <p:cNvPr id="18" name="Text 16"/>
          <p:cNvSpPr/>
          <p:nvPr/>
        </p:nvSpPr>
        <p:spPr>
          <a:xfrm>
            <a:off x="6972300" y="2154585"/>
            <a:ext cx="1554480" cy="200025"/>
          </a:xfrm>
          <a:prstGeom prst="rect">
            <a:avLst/>
          </a:prstGeom>
          <a:noFill/>
          <a:ln/>
        </p:spPr>
        <p:txBody>
          <a:bodyPr wrap="square" lIns="0" tIns="0" rIns="0" bIns="0" rtlCol="0" anchor="t"/>
          <a:lstStyle/>
          <a:p>
            <a:pPr algn="l" indent="0" marL="0">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Admin Staff</a:t>
            </a:r>
            <a:endParaRPr lang="en-US" sz="1125" dirty="0"/>
          </a:p>
        </p:txBody>
      </p:sp>
      <p:sp>
        <p:nvSpPr>
          <p:cNvPr id="19" name="Text 17"/>
          <p:cNvSpPr/>
          <p:nvPr/>
        </p:nvSpPr>
        <p:spPr>
          <a:xfrm>
            <a:off x="6972300" y="2583210"/>
            <a:ext cx="1554480"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Enhanced dictation and document creation</a:t>
            </a:r>
            <a:endParaRPr lang="en-US" sz="900" dirty="0"/>
          </a:p>
        </p:txBody>
      </p:sp>
      <p:sp>
        <p:nvSpPr>
          <p:cNvPr id="20" name="Text 18"/>
          <p:cNvSpPr/>
          <p:nvPr/>
        </p:nvSpPr>
        <p:spPr>
          <a:xfrm>
            <a:off x="457200" y="4271070"/>
            <a:ext cx="8229600" cy="567630"/>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608076" y="4461570"/>
            <a:ext cx="7927848" cy="186630"/>
          </a:xfrm>
          <a:prstGeom prst="rect">
            <a:avLst/>
          </a:prstGeom>
          <a:noFill/>
          <a:ln/>
        </p:spPr>
        <p:txBody>
          <a:bodyPr wrap="square" lIns="0" tIns="0" rIns="0" bIns="0" rtlCol="0" anchor="t"/>
          <a:lstStyle/>
          <a:p>
            <a:pPr algn="ctr" indent="0" marL="0">
              <a:lnSpc>
                <a:spcPts val="1470"/>
              </a:lnSpc>
              <a:buNone/>
            </a:pPr>
            <a:r>
              <a:rPr lang="en-US" sz="1050" dirty="0">
                <a:solidFill>
                  <a:srgbClr val="FFFFFF"/>
                </a:solidFill>
                <a:latin typeface="Arial" pitchFamily="34" charset="0"/>
                <a:ea typeface="Arial" pitchFamily="34" charset="-122"/>
                <a:cs typeface="Arial" pitchFamily="34" charset="-120"/>
              </a:rPr>
              <a:t>Everyone benefits from voice input — it's not just for coders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152775"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457200" y="1597372"/>
            <a:ext cx="2283142"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TODAY</a:t>
            </a:r>
            <a:endParaRPr lang="en-US" sz="825" dirty="0"/>
          </a:p>
        </p:txBody>
      </p:sp>
      <p:sp>
        <p:nvSpPr>
          <p:cNvPr id="4" name="Text 2"/>
          <p:cNvSpPr/>
          <p:nvPr/>
        </p:nvSpPr>
        <p:spPr>
          <a:xfrm>
            <a:off x="457200" y="2048768"/>
            <a:ext cx="1214438" cy="419100"/>
          </a:xfrm>
          <a:prstGeom prst="rect">
            <a:avLst/>
          </a:prstGeom>
          <a:noFill/>
          <a:ln/>
        </p:spPr>
        <p:txBody>
          <a:bodyPr wrap="square" lIns="0" tIns="0" rIns="0" bIns="0" rtlCol="0" anchor="t"/>
          <a:lstStyle/>
          <a:p>
            <a:pPr algn="l" indent="0" marL="0">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Agenda</a:t>
            </a:r>
            <a:endParaRPr lang="en-US" sz="3000" dirty="0"/>
          </a:p>
        </p:txBody>
      </p:sp>
      <p:sp>
        <p:nvSpPr>
          <p:cNvPr id="5" name="Text 3"/>
          <p:cNvSpPr/>
          <p:nvPr/>
        </p:nvSpPr>
        <p:spPr>
          <a:xfrm>
            <a:off x="457200" y="2810768"/>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457200" y="3172718"/>
            <a:ext cx="2283142" cy="373261"/>
          </a:xfrm>
          <a:prstGeom prst="rect">
            <a:avLst/>
          </a:prstGeom>
          <a:noFill/>
          <a:ln/>
        </p:spPr>
        <p:txBody>
          <a:bodyPr wrap="square" lIns="0" tIns="0" rIns="0" bIns="0" rtlCol="0" anchor="t"/>
          <a:lstStyle/>
          <a:p>
            <a:pPr algn="l" indent="0" marL="0">
              <a:lnSpc>
                <a:spcPts val="1470"/>
              </a:lnSpc>
              <a:buNone/>
            </a:pPr>
            <a:r>
              <a:rPr lang="en-US" sz="1050" dirty="0">
                <a:solidFill>
                  <a:srgbClr val="1A1F2E">
                    <a:alpha val="70000"/>
                  </a:srgbClr>
                </a:solidFill>
                <a:latin typeface="Arial" pitchFamily="34" charset="0"/>
                <a:ea typeface="Arial" pitchFamily="34" charset="-122"/>
                <a:cs typeface="Arial" pitchFamily="34" charset="-120"/>
              </a:rPr>
              <a:t>90 minutes to get you set up and ready</a:t>
            </a:r>
            <a:endParaRPr lang="en-US" sz="1050" dirty="0"/>
          </a:p>
        </p:txBody>
      </p:sp>
      <p:sp>
        <p:nvSpPr>
          <p:cNvPr id="7" name="Text 5"/>
          <p:cNvSpPr/>
          <p:nvPr/>
        </p:nvSpPr>
        <p:spPr>
          <a:xfrm>
            <a:off x="3305175" y="0"/>
            <a:ext cx="5838825"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3762375" y="973634"/>
            <a:ext cx="4924425" cy="453330"/>
          </a:xfrm>
          <a:prstGeom prst="rect">
            <a:avLst/>
          </a:prstGeom>
          <a:solidFill>
            <a:srgbClr val="1A1F2E"/>
          </a:solidFill>
          <a:ln/>
        </p:spPr>
        <p:txBody>
          <a:bodyPr wrap="square" rtlCol="0" anchor="ctr"/>
          <a:lstStyle/>
          <a:p>
            <a:pPr indent="0" marL="0">
              <a:buNone/>
            </a:pPr>
            <a:endParaRPr lang="en-US" dirty="0"/>
          </a:p>
        </p:txBody>
      </p:sp>
      <p:sp>
        <p:nvSpPr>
          <p:cNvPr id="9" name="Text 7"/>
          <p:cNvSpPr/>
          <p:nvPr/>
        </p:nvSpPr>
        <p:spPr>
          <a:xfrm>
            <a:off x="3952875" y="1120229"/>
            <a:ext cx="680085" cy="159990"/>
          </a:xfrm>
          <a:prstGeom prst="rect">
            <a:avLst/>
          </a:prstGeom>
          <a:noFill/>
          <a:ln/>
        </p:spPr>
        <p:txBody>
          <a:bodyPr wrap="square" lIns="0" tIns="0" rIns="0" bIns="0" rtlCol="0" anchor="t"/>
          <a:lstStyle/>
          <a:p>
            <a:pPr algn="l" indent="0" marL="0">
              <a:lnSpc>
                <a:spcPts val="1260"/>
              </a:lnSpc>
              <a:buNone/>
            </a:pPr>
            <a:r>
              <a:rPr lang="en-US" sz="900" b="1" dirty="0">
                <a:solidFill>
                  <a:srgbClr val="C9A227"/>
                </a:solidFill>
                <a:latin typeface="Arial" pitchFamily="34" charset="0"/>
                <a:ea typeface="Arial" pitchFamily="34" charset="-122"/>
                <a:cs typeface="Arial" pitchFamily="34" charset="-120"/>
              </a:rPr>
              <a:t>20 min</a:t>
            </a:r>
            <a:endParaRPr lang="en-US" sz="900" dirty="0"/>
          </a:p>
        </p:txBody>
      </p:sp>
      <p:sp>
        <p:nvSpPr>
          <p:cNvPr id="10" name="Text 8"/>
          <p:cNvSpPr/>
          <p:nvPr/>
        </p:nvSpPr>
        <p:spPr>
          <a:xfrm>
            <a:off x="4772025" y="1106984"/>
            <a:ext cx="1026048" cy="186630"/>
          </a:xfrm>
          <a:prstGeom prst="rect">
            <a:avLst/>
          </a:prstGeom>
          <a:noFill/>
          <a:ln/>
        </p:spPr>
        <p:txBody>
          <a:bodyPr wrap="square" lIns="0" tIns="0" rIns="0" bIns="0" rtlCol="0" anchor="t"/>
          <a:lstStyle/>
          <a:p>
            <a:pPr algn="l" indent="0" marL="0">
              <a:lnSpc>
                <a:spcPts val="1470"/>
              </a:lnSpc>
              <a:buNone/>
            </a:pPr>
            <a:r>
              <a:rPr lang="en-US" sz="1050" dirty="0">
                <a:solidFill>
                  <a:srgbClr val="FFFFFF"/>
                </a:solidFill>
                <a:latin typeface="Arial" pitchFamily="34" charset="0"/>
                <a:ea typeface="Arial" pitchFamily="34" charset="-122"/>
                <a:cs typeface="Arial" pitchFamily="34" charset="-120"/>
              </a:rPr>
              <a:t>Voice Input Tools</a:t>
            </a:r>
            <a:endParaRPr lang="en-US" sz="1050" dirty="0"/>
          </a:p>
        </p:txBody>
      </p:sp>
      <p:sp>
        <p:nvSpPr>
          <p:cNvPr id="11" name="Text 9"/>
          <p:cNvSpPr/>
          <p:nvPr/>
        </p:nvSpPr>
        <p:spPr>
          <a:xfrm>
            <a:off x="3762375" y="1503164"/>
            <a:ext cx="4924425" cy="47238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3962400" y="1659285"/>
            <a:ext cx="680085" cy="159990"/>
          </a:xfrm>
          <a:prstGeom prst="rect">
            <a:avLst/>
          </a:prstGeom>
          <a:noFill/>
          <a:ln/>
        </p:spPr>
        <p:txBody>
          <a:bodyPr wrap="square" lIns="0" tIns="0" rIns="0" bIns="0" rtlCol="0" anchor="t"/>
          <a:lstStyle/>
          <a:p>
            <a:pPr algn="l" indent="0" marL="0">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13" name="Text 11"/>
          <p:cNvSpPr/>
          <p:nvPr/>
        </p:nvSpPr>
        <p:spPr>
          <a:xfrm>
            <a:off x="4781550" y="1646039"/>
            <a:ext cx="1247531"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AI Coding Assistants</a:t>
            </a:r>
            <a:endParaRPr lang="en-US" sz="1050" dirty="0"/>
          </a:p>
        </p:txBody>
      </p:sp>
      <p:sp>
        <p:nvSpPr>
          <p:cNvPr id="14" name="Text 12"/>
          <p:cNvSpPr/>
          <p:nvPr/>
        </p:nvSpPr>
        <p:spPr>
          <a:xfrm>
            <a:off x="3762375" y="2051745"/>
            <a:ext cx="4924425" cy="47238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3962400" y="2207865"/>
            <a:ext cx="680085" cy="159990"/>
          </a:xfrm>
          <a:prstGeom prst="rect">
            <a:avLst/>
          </a:prstGeom>
          <a:noFill/>
          <a:ln/>
        </p:spPr>
        <p:txBody>
          <a:bodyPr wrap="square" lIns="0" tIns="0" rIns="0" bIns="0" rtlCol="0" anchor="t"/>
          <a:lstStyle/>
          <a:p>
            <a:pPr algn="l" indent="0" marL="0">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16" name="Text 14"/>
          <p:cNvSpPr/>
          <p:nvPr/>
        </p:nvSpPr>
        <p:spPr>
          <a:xfrm>
            <a:off x="4781550" y="2194620"/>
            <a:ext cx="1466889"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Enterprise Configuration</a:t>
            </a:r>
            <a:endParaRPr lang="en-US" sz="1050" dirty="0"/>
          </a:p>
        </p:txBody>
      </p:sp>
      <p:sp>
        <p:nvSpPr>
          <p:cNvPr id="17" name="Text 15"/>
          <p:cNvSpPr/>
          <p:nvPr/>
        </p:nvSpPr>
        <p:spPr>
          <a:xfrm>
            <a:off x="3762375" y="2600325"/>
            <a:ext cx="4924425" cy="47238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8" name="Text 16"/>
          <p:cNvSpPr/>
          <p:nvPr/>
        </p:nvSpPr>
        <p:spPr>
          <a:xfrm>
            <a:off x="3962400" y="2756446"/>
            <a:ext cx="680085" cy="159990"/>
          </a:xfrm>
          <a:prstGeom prst="rect">
            <a:avLst/>
          </a:prstGeom>
          <a:noFill/>
          <a:ln/>
        </p:spPr>
        <p:txBody>
          <a:bodyPr wrap="square" lIns="0" tIns="0" rIns="0" bIns="0" rtlCol="0" anchor="t"/>
          <a:lstStyle/>
          <a:p>
            <a:pPr algn="l" indent="0" marL="0">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19" name="Text 17"/>
          <p:cNvSpPr/>
          <p:nvPr/>
        </p:nvSpPr>
        <p:spPr>
          <a:xfrm>
            <a:off x="4781550" y="2743200"/>
            <a:ext cx="1237512"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CLI Tools Deep Dive</a:t>
            </a:r>
            <a:endParaRPr lang="en-US" sz="1050" dirty="0"/>
          </a:p>
        </p:txBody>
      </p:sp>
      <p:sp>
        <p:nvSpPr>
          <p:cNvPr id="20" name="Text 18"/>
          <p:cNvSpPr/>
          <p:nvPr/>
        </p:nvSpPr>
        <p:spPr>
          <a:xfrm>
            <a:off x="3762375" y="3148905"/>
            <a:ext cx="4924425" cy="47238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1" name="Text 19"/>
          <p:cNvSpPr/>
          <p:nvPr/>
        </p:nvSpPr>
        <p:spPr>
          <a:xfrm>
            <a:off x="3962400" y="3305026"/>
            <a:ext cx="680085" cy="159990"/>
          </a:xfrm>
          <a:prstGeom prst="rect">
            <a:avLst/>
          </a:prstGeom>
          <a:noFill/>
          <a:ln/>
        </p:spPr>
        <p:txBody>
          <a:bodyPr wrap="square" lIns="0" tIns="0" rIns="0" bIns="0" rtlCol="0" anchor="t"/>
          <a:lstStyle/>
          <a:p>
            <a:pPr algn="l" indent="0" marL="0">
              <a:lnSpc>
                <a:spcPts val="1260"/>
              </a:lnSpc>
              <a:buNone/>
            </a:pPr>
            <a:r>
              <a:rPr lang="en-US" sz="900" b="1" dirty="0">
                <a:solidFill>
                  <a:srgbClr val="C9A227"/>
                </a:solidFill>
                <a:latin typeface="Arial" pitchFamily="34" charset="0"/>
                <a:ea typeface="Arial" pitchFamily="34" charset="-122"/>
                <a:cs typeface="Arial" pitchFamily="34" charset="-120"/>
              </a:rPr>
              <a:t>10 min</a:t>
            </a:r>
            <a:endParaRPr lang="en-US" sz="900" dirty="0"/>
          </a:p>
        </p:txBody>
      </p:sp>
      <p:sp>
        <p:nvSpPr>
          <p:cNvPr id="22" name="Text 20"/>
          <p:cNvSpPr/>
          <p:nvPr/>
        </p:nvSpPr>
        <p:spPr>
          <a:xfrm>
            <a:off x="4781550" y="3291780"/>
            <a:ext cx="1050944"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CI/CD Integration</a:t>
            </a:r>
            <a:endParaRPr lang="en-US" sz="1050" dirty="0"/>
          </a:p>
        </p:txBody>
      </p:sp>
      <p:sp>
        <p:nvSpPr>
          <p:cNvPr id="23" name="Text 21"/>
          <p:cNvSpPr/>
          <p:nvPr/>
        </p:nvSpPr>
        <p:spPr>
          <a:xfrm>
            <a:off x="3762375" y="3697486"/>
            <a:ext cx="4924425" cy="47238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3962400" y="3853607"/>
            <a:ext cx="680085" cy="159990"/>
          </a:xfrm>
          <a:prstGeom prst="rect">
            <a:avLst/>
          </a:prstGeom>
          <a:noFill/>
          <a:ln/>
        </p:spPr>
        <p:txBody>
          <a:bodyPr wrap="square" lIns="0" tIns="0" rIns="0" bIns="0" rtlCol="0" anchor="t"/>
          <a:lstStyle/>
          <a:p>
            <a:pPr algn="l" indent="0" marL="0">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25" name="Text 23"/>
          <p:cNvSpPr/>
          <p:nvPr/>
        </p:nvSpPr>
        <p:spPr>
          <a:xfrm>
            <a:off x="4781550" y="3840361"/>
            <a:ext cx="1199409"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Security &amp; Wrap-Up</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2980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02</a:t>
            </a:r>
            <a:endParaRPr lang="en-US" sz="1050" dirty="0"/>
          </a:p>
        </p:txBody>
      </p:sp>
      <p:sp>
        <p:nvSpPr>
          <p:cNvPr id="3" name="Text 1"/>
          <p:cNvSpPr/>
          <p:nvPr/>
        </p:nvSpPr>
        <p:spPr>
          <a:xfrm>
            <a:off x="2788600" y="2097435"/>
            <a:ext cx="3566651"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Voice Input Tools</a:t>
            </a:r>
            <a:endParaRPr lang="en-US" sz="3900" dirty="0"/>
          </a:p>
        </p:txBody>
      </p:sp>
      <p:sp>
        <p:nvSpPr>
          <p:cNvPr id="4" name="Text 2"/>
          <p:cNvSpPr/>
          <p:nvPr/>
        </p:nvSpPr>
        <p:spPr>
          <a:xfrm>
            <a:off x="4134349" y="2897535"/>
            <a:ext cx="875154"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Foundation</a:t>
            </a:r>
            <a:endParaRPr lang="en-US" sz="1350" dirty="0"/>
          </a:p>
        </p:txBody>
      </p:sp>
      <p:sp>
        <p:nvSpPr>
          <p:cNvPr id="5" name="Text 3"/>
          <p:cNvSpPr/>
          <p:nvPr/>
        </p:nvSpPr>
        <p:spPr>
          <a:xfrm>
            <a:off x="4191000" y="359464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20 minutes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5391894"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81000" y="418505"/>
            <a:ext cx="2185077"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PRIMARY RECOMMENDATION</a:t>
            </a:r>
            <a:endParaRPr lang="en-US" sz="825" dirty="0"/>
          </a:p>
        </p:txBody>
      </p:sp>
      <p:sp>
        <p:nvSpPr>
          <p:cNvPr id="4" name="Text 2"/>
          <p:cNvSpPr/>
          <p:nvPr/>
        </p:nvSpPr>
        <p:spPr>
          <a:xfrm>
            <a:off x="381000" y="793700"/>
            <a:ext cx="2370582" cy="342900"/>
          </a:xfrm>
          <a:prstGeom prst="rect">
            <a:avLst/>
          </a:prstGeom>
          <a:noFill/>
          <a:ln/>
        </p:spPr>
        <p:txBody>
          <a:bodyPr wrap="square" lIns="0" tIns="0" rIns="0" bIns="0" rtlCol="0" anchor="t"/>
          <a:lstStyle/>
          <a:p>
            <a:pPr algn="l" indent="0" marL="0">
              <a:lnSpc>
                <a:spcPts val="2700"/>
              </a:lnSpc>
              <a:spcAft>
                <a:spcPts val="600"/>
              </a:spcAft>
              <a:buNone/>
            </a:pPr>
            <a:r>
              <a:rPr lang="en-US" sz="2700" dirty="0">
                <a:solidFill>
                  <a:srgbClr val="1A1F2E"/>
                </a:solidFill>
                <a:latin typeface="Georgia" pitchFamily="34" charset="0"/>
                <a:ea typeface="Georgia" pitchFamily="34" charset="-122"/>
                <a:cs typeface="Georgia" pitchFamily="34" charset="-120"/>
              </a:rPr>
              <a:t>SuperWhisper</a:t>
            </a:r>
            <a:endParaRPr lang="en-US" sz="2700" dirty="0"/>
          </a:p>
        </p:txBody>
      </p:sp>
      <p:sp>
        <p:nvSpPr>
          <p:cNvPr id="5" name="Text 3"/>
          <p:cNvSpPr/>
          <p:nvPr/>
        </p:nvSpPr>
        <p:spPr>
          <a:xfrm>
            <a:off x="381000" y="1365200"/>
            <a:ext cx="4722492" cy="186630"/>
          </a:xfrm>
          <a:prstGeom prst="rect">
            <a:avLst/>
          </a:prstGeom>
          <a:noFill/>
          <a:ln/>
        </p:spPr>
        <p:txBody>
          <a:bodyPr wrap="square" lIns="0" tIns="0" rIns="0" bIns="0" rtlCol="0" anchor="t"/>
          <a:lstStyle/>
          <a:p>
            <a:pPr algn="l" indent="0" marL="0">
              <a:lnSpc>
                <a:spcPts val="1470"/>
              </a:lnSpc>
              <a:spcAft>
                <a:spcPts val="1800"/>
              </a:spcAft>
              <a:buNone/>
            </a:pPr>
            <a:r>
              <a:rPr lang="en-US" sz="1050" dirty="0">
                <a:solidFill>
                  <a:srgbClr val="6B7280"/>
                </a:solidFill>
                <a:latin typeface="Arial" pitchFamily="34" charset="0"/>
                <a:ea typeface="Arial" pitchFamily="34" charset="-122"/>
                <a:cs typeface="Arial" pitchFamily="34" charset="-120"/>
              </a:rPr>
              <a:t>Local-first AI transcription for macOS</a:t>
            </a:r>
            <a:endParaRPr lang="en-US" sz="1050" dirty="0"/>
          </a:p>
        </p:txBody>
      </p:sp>
      <p:sp>
        <p:nvSpPr>
          <p:cNvPr id="6" name="Text 4"/>
          <p:cNvSpPr/>
          <p:nvPr/>
        </p:nvSpPr>
        <p:spPr>
          <a:xfrm>
            <a:off x="381000" y="1932831"/>
            <a:ext cx="4629894" cy="101500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7" name="Text 5"/>
          <p:cNvSpPr/>
          <p:nvPr/>
        </p:nvSpPr>
        <p:spPr>
          <a:xfrm>
            <a:off x="581025" y="2132856"/>
            <a:ext cx="4314441"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What It Is</a:t>
            </a:r>
            <a:endParaRPr lang="en-US" sz="975" dirty="0"/>
          </a:p>
        </p:txBody>
      </p:sp>
      <p:sp>
        <p:nvSpPr>
          <p:cNvPr id="8" name="Text 6"/>
          <p:cNvSpPr/>
          <p:nvPr/>
        </p:nvSpPr>
        <p:spPr>
          <a:xfrm>
            <a:off x="581025" y="2382292"/>
            <a:ext cx="4314441"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A macOS/iOS application that runs Whisper AI models entirely on your device. No data ever leaves your machine.</a:t>
            </a:r>
            <a:endParaRPr lang="en-US" sz="900" dirty="0"/>
          </a:p>
        </p:txBody>
      </p:sp>
      <p:sp>
        <p:nvSpPr>
          <p:cNvPr id="9" name="Text 7"/>
          <p:cNvSpPr/>
          <p:nvPr/>
        </p:nvSpPr>
        <p:spPr>
          <a:xfrm>
            <a:off x="381000" y="3252639"/>
            <a:ext cx="4629894" cy="147220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0" name="Text 8"/>
          <p:cNvSpPr/>
          <p:nvPr/>
        </p:nvSpPr>
        <p:spPr>
          <a:xfrm>
            <a:off x="581025" y="3452664"/>
            <a:ext cx="4314441"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Why We Recommend It</a:t>
            </a:r>
            <a:endParaRPr lang="en-US" sz="975" dirty="0"/>
          </a:p>
        </p:txBody>
      </p:sp>
      <p:sp>
        <p:nvSpPr>
          <p:cNvPr id="11" name="Text 9"/>
          <p:cNvSpPr/>
          <p:nvPr/>
        </p:nvSpPr>
        <p:spPr>
          <a:xfrm>
            <a:off x="581025" y="3702100"/>
            <a:ext cx="4314441"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100% local processing — no cloud</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No compliance paperwork needed</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Works offline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One-time purchase (~$30)</a:t>
            </a:r>
            <a:endParaRPr lang="en-US" sz="900" dirty="0"/>
          </a:p>
        </p:txBody>
      </p:sp>
      <p:sp>
        <p:nvSpPr>
          <p:cNvPr id="12" name="Text 10"/>
          <p:cNvSpPr/>
          <p:nvPr/>
        </p:nvSpPr>
        <p:spPr>
          <a:xfrm>
            <a:off x="5544294" y="0"/>
            <a:ext cx="3599706" cy="5143500"/>
          </a:xfrm>
          <a:prstGeom prst="rect">
            <a:avLst/>
          </a:prstGeom>
          <a:solidFill>
            <a:srgbClr val="1A1F2E"/>
          </a:solidFill>
          <a:ln/>
        </p:spPr>
        <p:txBody>
          <a:bodyPr wrap="square" rtlCol="0" anchor="ctr"/>
          <a:lstStyle/>
          <a:p>
            <a:pPr indent="0" marL="0">
              <a:buNone/>
            </a:pPr>
            <a:endParaRPr lang="en-US" dirty="0"/>
          </a:p>
        </p:txBody>
      </p:sp>
      <p:sp>
        <p:nvSpPr>
          <p:cNvPr id="13" name="Text 11"/>
          <p:cNvSpPr/>
          <p:nvPr/>
        </p:nvSpPr>
        <p:spPr>
          <a:xfrm>
            <a:off x="6963073" y="1358354"/>
            <a:ext cx="762000" cy="762000"/>
          </a:xfrm>
          <a:prstGeom prst="rect">
            <a:avLst/>
          </a:prstGeom>
          <a:solidFill>
            <a:srgbClr val="C9A227"/>
          </a:solidFill>
          <a:ln/>
        </p:spPr>
        <p:txBody>
          <a:bodyPr wrap="square" rtlCol="0" anchor="ctr"/>
          <a:lstStyle/>
          <a:p>
            <a:pPr indent="0" marL="0">
              <a:buNone/>
            </a:pPr>
            <a:endParaRPr lang="en-US" dirty="0"/>
          </a:p>
        </p:txBody>
      </p:sp>
      <p:sp>
        <p:nvSpPr>
          <p:cNvPr id="14" name="Text 12"/>
          <p:cNvSpPr/>
          <p:nvPr/>
        </p:nvSpPr>
        <p:spPr>
          <a:xfrm>
            <a:off x="6936022" y="1499295"/>
            <a:ext cx="816102" cy="479971"/>
          </a:xfrm>
          <a:prstGeom prst="rect">
            <a:avLst/>
          </a:prstGeom>
          <a:noFill/>
          <a:ln/>
        </p:spPr>
        <p:txBody>
          <a:bodyPr wrap="square" lIns="0" tIns="0" rIns="0" bIns="0" rtlCol="0" anchor="t"/>
          <a:lstStyle/>
          <a:p>
            <a:pPr algn="ctr" indent="0" marL="0">
              <a:lnSpc>
                <a:spcPts val="3780"/>
              </a:lnSpc>
              <a:buNone/>
            </a:pPr>
            <a:r>
              <a:rPr lang="en-US" sz="2700" dirty="0">
                <a:solidFill>
                  <a:srgbClr val="1A1F2E"/>
                </a:solidFill>
                <a:latin typeface="Georgia" pitchFamily="34" charset="0"/>
                <a:ea typeface="Georgia" pitchFamily="34" charset="-122"/>
                <a:cs typeface="Georgia" pitchFamily="34" charset="-120"/>
              </a:rPr>
              <a:t>100%</a:t>
            </a:r>
            <a:endParaRPr lang="en-US" sz="2700" dirty="0"/>
          </a:p>
        </p:txBody>
      </p:sp>
      <p:sp>
        <p:nvSpPr>
          <p:cNvPr id="15" name="Text 13"/>
          <p:cNvSpPr/>
          <p:nvPr/>
        </p:nvSpPr>
        <p:spPr>
          <a:xfrm>
            <a:off x="6744292" y="2501354"/>
            <a:ext cx="1199561" cy="239911"/>
          </a:xfrm>
          <a:prstGeom prst="rect">
            <a:avLst/>
          </a:prstGeom>
          <a:noFill/>
          <a:ln/>
        </p:spPr>
        <p:txBody>
          <a:bodyPr wrap="square" lIns="0" tIns="0" rIns="0" bIns="0" rtlCol="0" anchor="t"/>
          <a:lstStyle/>
          <a:p>
            <a:pPr algn="ctr" indent="0" marL="0">
              <a:lnSpc>
                <a:spcPts val="1890"/>
              </a:lnSpc>
              <a:spcAft>
                <a:spcPts val="600"/>
              </a:spcAft>
              <a:buNone/>
            </a:pPr>
            <a:r>
              <a:rPr lang="en-US" sz="1350" dirty="0">
                <a:solidFill>
                  <a:srgbClr val="FFFFFF"/>
                </a:solidFill>
                <a:latin typeface="Georgia" pitchFamily="34" charset="0"/>
                <a:ea typeface="Georgia" pitchFamily="34" charset="-122"/>
                <a:cs typeface="Georgia" pitchFamily="34" charset="-120"/>
              </a:rPr>
              <a:t>Local Processing</a:t>
            </a:r>
            <a:endParaRPr lang="en-US" sz="1350" dirty="0"/>
          </a:p>
        </p:txBody>
      </p:sp>
      <p:sp>
        <p:nvSpPr>
          <p:cNvPr id="16" name="Text 14"/>
          <p:cNvSpPr/>
          <p:nvPr/>
        </p:nvSpPr>
        <p:spPr>
          <a:xfrm>
            <a:off x="6194911" y="2969865"/>
            <a:ext cx="2298323" cy="198090"/>
          </a:xfrm>
          <a:prstGeom prst="rect">
            <a:avLst/>
          </a:prstGeom>
          <a:noFill/>
          <a:ln/>
        </p:spPr>
        <p:txBody>
          <a:bodyPr wrap="square" lIns="0" tIns="0" rIns="0" bIns="0" rtlCol="0" anchor="t"/>
          <a:lstStyle/>
          <a:p>
            <a:pPr algn="ctr" indent="0" marL="0">
              <a:lnSpc>
                <a:spcPts val="1560"/>
              </a:lnSpc>
              <a:buNone/>
            </a:pPr>
            <a:r>
              <a:rPr lang="en-US" sz="975" dirty="0">
                <a:solidFill>
                  <a:srgbClr val="FFFFFF">
                    <a:alpha val="60000"/>
                  </a:srgbClr>
                </a:solidFill>
                <a:latin typeface="Arial" pitchFamily="34" charset="0"/>
                <a:ea typeface="Arial" pitchFamily="34" charset="-122"/>
                <a:cs typeface="Arial" pitchFamily="34" charset="-120"/>
              </a:rPr>
              <a:t>Your voice data never leaves your device</a:t>
            </a:r>
            <a:endParaRPr lang="en-US" sz="975" dirty="0"/>
          </a:p>
        </p:txBody>
      </p:sp>
      <p:sp>
        <p:nvSpPr>
          <p:cNvPr id="17" name="Text 15"/>
          <p:cNvSpPr/>
          <p:nvPr/>
        </p:nvSpPr>
        <p:spPr>
          <a:xfrm>
            <a:off x="5925294" y="4297710"/>
            <a:ext cx="2837706" cy="464790"/>
          </a:xfrm>
          <a:prstGeom prst="rect">
            <a:avLst/>
          </a:prstGeom>
          <a:solidFill>
            <a:srgbClr val="059669"/>
          </a:solidFill>
          <a:ln/>
        </p:spPr>
        <p:txBody>
          <a:bodyPr wrap="square" rtlCol="0" anchor="ctr"/>
          <a:lstStyle/>
          <a:p>
            <a:pPr indent="0" marL="0">
              <a:buNone/>
            </a:pPr>
            <a:endParaRPr lang="en-US" dirty="0"/>
          </a:p>
        </p:txBody>
      </p:sp>
      <p:sp>
        <p:nvSpPr>
          <p:cNvPr id="18" name="Text 16"/>
          <p:cNvSpPr/>
          <p:nvPr/>
        </p:nvSpPr>
        <p:spPr>
          <a:xfrm>
            <a:off x="6052365" y="4450110"/>
            <a:ext cx="2583564" cy="159990"/>
          </a:xfrm>
          <a:prstGeom prst="rect">
            <a:avLst/>
          </a:prstGeom>
          <a:noFill/>
          <a:ln/>
        </p:spPr>
        <p:txBody>
          <a:bodyPr wrap="square" lIns="0" tIns="0" rIns="0" bIns="0" rtlCol="0" anchor="t"/>
          <a:lstStyle/>
          <a:p>
            <a:pPr algn="ctr" indent="0" marL="0">
              <a:lnSpc>
                <a:spcPts val="1260"/>
              </a:lnSpc>
              <a:buNone/>
            </a:pPr>
            <a:r>
              <a:rPr lang="en-US" sz="900" dirty="0">
                <a:solidFill>
                  <a:srgbClr val="FFFFFF"/>
                </a:solidFill>
                <a:latin typeface="Arial" pitchFamily="34" charset="0"/>
                <a:ea typeface="Arial" pitchFamily="34" charset="-122"/>
                <a:cs typeface="Arial" pitchFamily="34" charset="-120"/>
              </a:rPr>
              <a:t>Safe for PHI and sensitive government data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DATA FLOW</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Why Local Processing Matters</a:t>
            </a:r>
            <a:endParaRPr lang="en-US" sz="2400" dirty="0"/>
          </a:p>
        </p:txBody>
      </p:sp>
      <p:sp>
        <p:nvSpPr>
          <p:cNvPr id="4" name="Text 2"/>
          <p:cNvSpPr/>
          <p:nvPr/>
        </p:nvSpPr>
        <p:spPr>
          <a:xfrm>
            <a:off x="457200" y="1450777"/>
            <a:ext cx="1814513" cy="413296"/>
          </a:xfrm>
          <a:prstGeom prst="rect">
            <a:avLst/>
          </a:prstGeom>
          <a:solidFill>
            <a:srgbClr val="DBEAFE"/>
          </a:solidFill>
          <a:ln/>
        </p:spPr>
        <p:txBody>
          <a:bodyPr wrap="square" rtlCol="0" anchor="ctr"/>
          <a:lstStyle/>
          <a:p>
            <a:pPr indent="0" marL="0">
              <a:buNone/>
            </a:pPr>
            <a:endParaRPr lang="en-US" dirty="0"/>
          </a:p>
        </p:txBody>
      </p:sp>
      <p:sp>
        <p:nvSpPr>
          <p:cNvPr id="5" name="Text 3"/>
          <p:cNvSpPr/>
          <p:nvPr/>
        </p:nvSpPr>
        <p:spPr>
          <a:xfrm>
            <a:off x="594503" y="1584127"/>
            <a:ext cx="1539907"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solidFill>
                <a:latin typeface="Arial" pitchFamily="34" charset="0"/>
                <a:ea typeface="Arial" pitchFamily="34" charset="-122"/>
                <a:cs typeface="Arial" pitchFamily="34" charset="-120"/>
              </a:rPr>
              <a:t>Your Voice</a:t>
            </a:r>
            <a:endParaRPr lang="en-US" sz="825" dirty="0"/>
          </a:p>
        </p:txBody>
      </p:sp>
      <p:sp>
        <p:nvSpPr>
          <p:cNvPr id="6" name="Text 4"/>
          <p:cNvSpPr/>
          <p:nvPr/>
        </p:nvSpPr>
        <p:spPr>
          <a:xfrm>
            <a:off x="2347913" y="1537395"/>
            <a:ext cx="174879" cy="239911"/>
          </a:xfrm>
          <a:prstGeom prst="rect">
            <a:avLst/>
          </a:prstGeom>
          <a:noFill/>
          <a:ln/>
        </p:spPr>
        <p:txBody>
          <a:bodyPr wrap="square" lIns="0" tIns="0" rIns="0" bIns="0" rtlCol="0" anchor="t"/>
          <a:lstStyle/>
          <a:p>
            <a:pPr algn="l" indent="0" marL="0">
              <a:lnSpc>
                <a:spcPts val="1890"/>
              </a:lnSpc>
              <a:buNone/>
            </a:pPr>
            <a:r>
              <a:rPr lang="en-US" sz="1350" dirty="0">
                <a:solidFill>
                  <a:srgbClr val="6B7280"/>
                </a:solidFill>
                <a:latin typeface="Arial" pitchFamily="34" charset="0"/>
                <a:ea typeface="Arial" pitchFamily="34" charset="-122"/>
                <a:cs typeface="Arial" pitchFamily="34" charset="-120"/>
              </a:rPr>
              <a:t>→</a:t>
            </a:r>
            <a:endParaRPr lang="en-US" sz="1350" dirty="0"/>
          </a:p>
        </p:txBody>
      </p:sp>
      <p:sp>
        <p:nvSpPr>
          <p:cNvPr id="7" name="Text 5"/>
          <p:cNvSpPr/>
          <p:nvPr/>
        </p:nvSpPr>
        <p:spPr>
          <a:xfrm>
            <a:off x="2595563" y="1450777"/>
            <a:ext cx="1814513" cy="413296"/>
          </a:xfrm>
          <a:prstGeom prst="rect">
            <a:avLst/>
          </a:prstGeom>
          <a:solidFill>
            <a:srgbClr val="DCFCE7"/>
          </a:solidFill>
          <a:ln/>
        </p:spPr>
        <p:txBody>
          <a:bodyPr wrap="square" rtlCol="0" anchor="ctr"/>
          <a:lstStyle/>
          <a:p>
            <a:pPr indent="0" marL="0">
              <a:buNone/>
            </a:pPr>
            <a:endParaRPr lang="en-US" dirty="0"/>
          </a:p>
        </p:txBody>
      </p:sp>
      <p:sp>
        <p:nvSpPr>
          <p:cNvPr id="8" name="Text 6"/>
          <p:cNvSpPr/>
          <p:nvPr/>
        </p:nvSpPr>
        <p:spPr>
          <a:xfrm>
            <a:off x="2732865" y="1584127"/>
            <a:ext cx="1539907"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solidFill>
                <a:latin typeface="Arial" pitchFamily="34" charset="0"/>
                <a:ea typeface="Arial" pitchFamily="34" charset="-122"/>
                <a:cs typeface="Arial" pitchFamily="34" charset="-120"/>
              </a:rPr>
              <a:t>SuperWhisper</a:t>
            </a:r>
            <a:endParaRPr lang="en-US" sz="825" dirty="0"/>
          </a:p>
        </p:txBody>
      </p:sp>
      <p:sp>
        <p:nvSpPr>
          <p:cNvPr id="9" name="Text 7"/>
          <p:cNvSpPr/>
          <p:nvPr/>
        </p:nvSpPr>
        <p:spPr>
          <a:xfrm>
            <a:off x="4486275" y="1537395"/>
            <a:ext cx="174879" cy="239911"/>
          </a:xfrm>
          <a:prstGeom prst="rect">
            <a:avLst/>
          </a:prstGeom>
          <a:noFill/>
          <a:ln/>
        </p:spPr>
        <p:txBody>
          <a:bodyPr wrap="square" lIns="0" tIns="0" rIns="0" bIns="0" rtlCol="0" anchor="t"/>
          <a:lstStyle/>
          <a:p>
            <a:pPr algn="l" indent="0" marL="0">
              <a:lnSpc>
                <a:spcPts val="1890"/>
              </a:lnSpc>
              <a:buNone/>
            </a:pPr>
            <a:r>
              <a:rPr lang="en-US" sz="1350" dirty="0">
                <a:solidFill>
                  <a:srgbClr val="6B7280"/>
                </a:solidFill>
                <a:latin typeface="Arial" pitchFamily="34" charset="0"/>
                <a:ea typeface="Arial" pitchFamily="34" charset="-122"/>
                <a:cs typeface="Arial" pitchFamily="34" charset="-120"/>
              </a:rPr>
              <a:t>→</a:t>
            </a:r>
            <a:endParaRPr lang="en-US" sz="1350" dirty="0"/>
          </a:p>
        </p:txBody>
      </p:sp>
      <p:sp>
        <p:nvSpPr>
          <p:cNvPr id="10" name="Text 8"/>
          <p:cNvSpPr/>
          <p:nvPr/>
        </p:nvSpPr>
        <p:spPr>
          <a:xfrm>
            <a:off x="4733925" y="1450777"/>
            <a:ext cx="1814513" cy="413296"/>
          </a:xfrm>
          <a:prstGeom prst="rect">
            <a:avLst/>
          </a:prstGeom>
          <a:solidFill>
            <a:srgbClr val="DCFCE7"/>
          </a:solidFill>
          <a:ln/>
        </p:spPr>
        <p:txBody>
          <a:bodyPr wrap="square" rtlCol="0" anchor="ctr"/>
          <a:lstStyle/>
          <a:p>
            <a:pPr indent="0" marL="0">
              <a:buNone/>
            </a:pPr>
            <a:endParaRPr lang="en-US" dirty="0"/>
          </a:p>
        </p:txBody>
      </p:sp>
      <p:sp>
        <p:nvSpPr>
          <p:cNvPr id="11" name="Text 9"/>
          <p:cNvSpPr/>
          <p:nvPr/>
        </p:nvSpPr>
        <p:spPr>
          <a:xfrm>
            <a:off x="4871228" y="1584127"/>
            <a:ext cx="1539907"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solidFill>
                <a:latin typeface="Arial" pitchFamily="34" charset="0"/>
                <a:ea typeface="Arial" pitchFamily="34" charset="-122"/>
                <a:cs typeface="Arial" pitchFamily="34" charset="-120"/>
              </a:rPr>
              <a:t>Text Output</a:t>
            </a:r>
            <a:endParaRPr lang="en-US" sz="825" dirty="0"/>
          </a:p>
        </p:txBody>
      </p:sp>
      <p:sp>
        <p:nvSpPr>
          <p:cNvPr id="12" name="Text 10"/>
          <p:cNvSpPr/>
          <p:nvPr/>
        </p:nvSpPr>
        <p:spPr>
          <a:xfrm>
            <a:off x="6624638" y="1537395"/>
            <a:ext cx="174879" cy="239911"/>
          </a:xfrm>
          <a:prstGeom prst="rect">
            <a:avLst/>
          </a:prstGeom>
          <a:noFill/>
          <a:ln/>
        </p:spPr>
        <p:txBody>
          <a:bodyPr wrap="square" lIns="0" tIns="0" rIns="0" bIns="0" rtlCol="0" anchor="t"/>
          <a:lstStyle/>
          <a:p>
            <a:pPr algn="l" indent="0" marL="0">
              <a:lnSpc>
                <a:spcPts val="1890"/>
              </a:lnSpc>
              <a:buNone/>
            </a:pPr>
            <a:r>
              <a:rPr lang="en-US" sz="1350" dirty="0">
                <a:solidFill>
                  <a:srgbClr val="6B7280"/>
                </a:solidFill>
                <a:latin typeface="Arial" pitchFamily="34" charset="0"/>
                <a:ea typeface="Arial" pitchFamily="34" charset="-122"/>
                <a:cs typeface="Arial" pitchFamily="34" charset="-120"/>
              </a:rPr>
              <a:t>→</a:t>
            </a:r>
            <a:endParaRPr lang="en-US" sz="1350" dirty="0"/>
          </a:p>
        </p:txBody>
      </p:sp>
      <p:sp>
        <p:nvSpPr>
          <p:cNvPr id="13" name="Text 11"/>
          <p:cNvSpPr/>
          <p:nvPr/>
        </p:nvSpPr>
        <p:spPr>
          <a:xfrm>
            <a:off x="6872288" y="1450777"/>
            <a:ext cx="1814513" cy="413296"/>
          </a:xfrm>
          <a:prstGeom prst="rect">
            <a:avLst/>
          </a:prstGeom>
          <a:solidFill>
            <a:srgbClr val="DBEAFE"/>
          </a:solidFill>
          <a:ln/>
        </p:spPr>
        <p:txBody>
          <a:bodyPr wrap="square" rtlCol="0" anchor="ctr"/>
          <a:lstStyle/>
          <a:p>
            <a:pPr indent="0" marL="0">
              <a:buNone/>
            </a:pPr>
            <a:endParaRPr lang="en-US" dirty="0"/>
          </a:p>
        </p:txBody>
      </p:sp>
      <p:sp>
        <p:nvSpPr>
          <p:cNvPr id="14" name="Text 12"/>
          <p:cNvSpPr/>
          <p:nvPr/>
        </p:nvSpPr>
        <p:spPr>
          <a:xfrm>
            <a:off x="7009590" y="1584127"/>
            <a:ext cx="1539907"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solidFill>
                <a:latin typeface="Arial" pitchFamily="34" charset="0"/>
                <a:ea typeface="Arial" pitchFamily="34" charset="-122"/>
                <a:cs typeface="Arial" pitchFamily="34" charset="-120"/>
              </a:rPr>
              <a:t>Your App</a:t>
            </a:r>
            <a:endParaRPr lang="en-US" sz="825" dirty="0"/>
          </a:p>
        </p:txBody>
      </p:sp>
      <p:sp>
        <p:nvSpPr>
          <p:cNvPr id="15" name="Text 13"/>
          <p:cNvSpPr/>
          <p:nvPr/>
        </p:nvSpPr>
        <p:spPr>
          <a:xfrm>
            <a:off x="457200" y="2168872"/>
            <a:ext cx="8229600" cy="426690"/>
          </a:xfrm>
          <a:prstGeom prst="rect">
            <a:avLst/>
          </a:prstGeom>
          <a:solidFill>
            <a:srgbClr val="DCFCE7"/>
          </a:solidFill>
          <a:ln/>
        </p:spPr>
        <p:txBody>
          <a:bodyPr wrap="square" rtlCol="0" anchor="ctr"/>
          <a:lstStyle/>
          <a:p>
            <a:pPr indent="0" marL="0">
              <a:buNone/>
            </a:pPr>
            <a:endParaRPr lang="en-US" dirty="0"/>
          </a:p>
        </p:txBody>
      </p:sp>
      <p:sp>
        <p:nvSpPr>
          <p:cNvPr id="16" name="Text 14"/>
          <p:cNvSpPr/>
          <p:nvPr/>
        </p:nvSpPr>
        <p:spPr>
          <a:xfrm>
            <a:off x="510921" y="2302222"/>
            <a:ext cx="8122158" cy="159990"/>
          </a:xfrm>
          <a:prstGeom prst="rect">
            <a:avLst/>
          </a:prstGeom>
          <a:noFill/>
          <a:ln/>
        </p:spPr>
        <p:txBody>
          <a:bodyPr wrap="square" lIns="0" tIns="0" rIns="0" bIns="0" rtlCol="0" anchor="t"/>
          <a:lstStyle/>
          <a:p>
            <a:pPr algn="ctr" indent="0" marL="0">
              <a:lnSpc>
                <a:spcPts val="1260"/>
              </a:lnSpc>
              <a:buNone/>
            </a:pPr>
            <a:r>
              <a:rPr lang="en-US" sz="900" b="1" dirty="0">
                <a:solidFill>
                  <a:srgbClr val="166534"/>
                </a:solidFill>
                <a:latin typeface="Arial" pitchFamily="34" charset="0"/>
                <a:ea typeface="Arial" pitchFamily="34" charset="-122"/>
                <a:cs typeface="Arial" pitchFamily="34" charset="-120"/>
              </a:rPr>
              <a:t>ALL PROCESSING STAYS ON YOUR DEVICE</a:t>
            </a:r>
            <a:endParaRPr lang="en-US" sz="900" dirty="0"/>
          </a:p>
        </p:txBody>
      </p:sp>
      <p:sp>
        <p:nvSpPr>
          <p:cNvPr id="17" name="Text 15"/>
          <p:cNvSpPr/>
          <p:nvPr/>
        </p:nvSpPr>
        <p:spPr>
          <a:xfrm>
            <a:off x="457200" y="2938463"/>
            <a:ext cx="4057650" cy="1624608"/>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476250" y="2938463"/>
            <a:ext cx="0" cy="1624608"/>
          </a:xfrm>
          <a:prstGeom prst="line">
            <a:avLst/>
          </a:prstGeom>
          <a:noFill/>
          <a:ln w="38100">
            <a:solidFill>
              <a:srgbClr val="C9A227"/>
            </a:solidFill>
            <a:prstDash val="solid"/>
          </a:ln>
        </p:spPr>
      </p:sp>
      <p:sp>
        <p:nvSpPr>
          <p:cNvPr id="19" name="Text 17"/>
          <p:cNvSpPr/>
          <p:nvPr/>
        </p:nvSpPr>
        <p:spPr>
          <a:xfrm>
            <a:off x="685800" y="3128963"/>
            <a:ext cx="3711321" cy="173236"/>
          </a:xfrm>
          <a:prstGeom prst="rect">
            <a:avLst/>
          </a:prstGeom>
          <a:noFill/>
          <a:ln/>
        </p:spPr>
        <p:txBody>
          <a:bodyPr wrap="square" lIns="0" tIns="0" rIns="0" bIns="0" rtlCol="0" anchor="t"/>
          <a:lstStyle/>
          <a:p>
            <a:pPr algn="l" indent="0" marL="0">
              <a:lnSpc>
                <a:spcPts val="1365"/>
              </a:lnSpc>
              <a:spcAft>
                <a:spcPts val="750"/>
              </a:spcAft>
              <a:buNone/>
            </a:pPr>
            <a:r>
              <a:rPr lang="en-US" sz="975" b="1" dirty="0">
                <a:solidFill>
                  <a:srgbClr val="1A1F2E"/>
                </a:solidFill>
                <a:latin typeface="Arial" pitchFamily="34" charset="0"/>
                <a:ea typeface="Arial" pitchFamily="34" charset="-122"/>
                <a:cs typeface="Arial" pitchFamily="34" charset="-120"/>
              </a:rPr>
              <a:t>Government Benefits</a:t>
            </a:r>
            <a:endParaRPr lang="en-US" sz="975" dirty="0"/>
          </a:p>
        </p:txBody>
      </p:sp>
      <p:sp>
        <p:nvSpPr>
          <p:cNvPr id="20" name="Text 18"/>
          <p:cNvSpPr/>
          <p:nvPr/>
        </p:nvSpPr>
        <p:spPr>
          <a:xfrm>
            <a:off x="685800" y="3549848"/>
            <a:ext cx="3711321"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No BAA required</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No data egress concerns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Simplified compliance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IT-friendly deployment</a:t>
            </a:r>
            <a:endParaRPr lang="en-US" sz="900" dirty="0"/>
          </a:p>
        </p:txBody>
      </p:sp>
      <p:sp>
        <p:nvSpPr>
          <p:cNvPr id="21" name="Text 19"/>
          <p:cNvSpPr/>
          <p:nvPr/>
        </p:nvSpPr>
        <p:spPr>
          <a:xfrm>
            <a:off x="4667250" y="3144143"/>
            <a:ext cx="4019550" cy="1213247"/>
          </a:xfrm>
          <a:prstGeom prst="rect">
            <a:avLst/>
          </a:prstGeom>
          <a:solidFill>
            <a:srgbClr val="1A1F2E"/>
          </a:solidFill>
          <a:ln/>
        </p:spPr>
        <p:txBody>
          <a:bodyPr wrap="square" rtlCol="0" anchor="ctr"/>
          <a:lstStyle/>
          <a:p>
            <a:pPr indent="0" marL="0">
              <a:buNone/>
            </a:pPr>
            <a:endParaRPr lang="en-US" dirty="0"/>
          </a:p>
        </p:txBody>
      </p:sp>
      <p:sp>
        <p:nvSpPr>
          <p:cNvPr id="22" name="Text 20"/>
          <p:cNvSpPr/>
          <p:nvPr/>
        </p:nvSpPr>
        <p:spPr>
          <a:xfrm>
            <a:off x="4857750" y="3334643"/>
            <a:ext cx="3711321" cy="173236"/>
          </a:xfrm>
          <a:prstGeom prst="rect">
            <a:avLst/>
          </a:prstGeom>
          <a:noFill/>
          <a:ln/>
        </p:spPr>
        <p:txBody>
          <a:bodyPr wrap="square" lIns="0" tIns="0" rIns="0" bIns="0" rtlCol="0" anchor="t"/>
          <a:lstStyle/>
          <a:p>
            <a:pPr algn="l" indent="0" marL="0">
              <a:lnSpc>
                <a:spcPts val="1365"/>
              </a:lnSpc>
              <a:spcAft>
                <a:spcPts val="750"/>
              </a:spcAft>
              <a:buNone/>
            </a:pPr>
            <a:r>
              <a:rPr lang="en-US" sz="975" b="1" dirty="0">
                <a:solidFill>
                  <a:srgbClr val="C9A227"/>
                </a:solidFill>
                <a:latin typeface="Arial" pitchFamily="34" charset="0"/>
                <a:ea typeface="Arial" pitchFamily="34" charset="-122"/>
                <a:cs typeface="Arial" pitchFamily="34" charset="-120"/>
              </a:rPr>
              <a:t>Key Insight</a:t>
            </a:r>
            <a:endParaRPr lang="en-US" sz="975" dirty="0"/>
          </a:p>
        </p:txBody>
      </p:sp>
      <p:sp>
        <p:nvSpPr>
          <p:cNvPr id="23" name="Text 21"/>
          <p:cNvSpPr/>
          <p:nvPr/>
        </p:nvSpPr>
        <p:spPr>
          <a:xfrm>
            <a:off x="4857750" y="3755529"/>
            <a:ext cx="3711321" cy="411361"/>
          </a:xfrm>
          <a:prstGeom prst="rect">
            <a:avLst/>
          </a:prstGeom>
          <a:noFill/>
          <a:ln/>
        </p:spPr>
        <p:txBody>
          <a:bodyPr wrap="square" lIns="0" tIns="0" rIns="0" bIns="0" rtlCol="0" anchor="t"/>
          <a:lstStyle/>
          <a:p>
            <a:pPr algn="l" indent="0" marL="0">
              <a:lnSpc>
                <a:spcPts val="1620"/>
              </a:lnSpc>
              <a:buNone/>
            </a:pPr>
            <a:r>
              <a:rPr lang="en-US" sz="900" dirty="0">
                <a:solidFill>
                  <a:srgbClr val="FFFFFF">
                    <a:alpha val="80000"/>
                  </a:srgbClr>
                </a:solidFill>
                <a:latin typeface="Arial" pitchFamily="34" charset="0"/>
                <a:ea typeface="Arial" pitchFamily="34" charset="-122"/>
                <a:cs typeface="Arial" pitchFamily="34" charset="-120"/>
              </a:rPr>
              <a:t>Voice data is sensitive. Local processing means you control where your data goes.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REQUIREMENTS</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Platform &amp; Requirements</a:t>
            </a:r>
            <a:endParaRPr lang="en-US" sz="2400" dirty="0"/>
          </a:p>
        </p:txBody>
      </p:sp>
      <p:sp>
        <p:nvSpPr>
          <p:cNvPr id="4" name="Text 2"/>
          <p:cNvSpPr/>
          <p:nvPr/>
        </p:nvSpPr>
        <p:spPr>
          <a:xfrm>
            <a:off x="457200" y="889546"/>
            <a:ext cx="8394192" cy="186630"/>
          </a:xfrm>
          <a:prstGeom prst="rect">
            <a:avLst/>
          </a:prstGeom>
          <a:noFill/>
          <a:ln/>
        </p:spPr>
        <p:txBody>
          <a:bodyPr wrap="square" lIns="0" tIns="0" rIns="0" bIns="0" rtlCol="0" anchor="t"/>
          <a:lstStyle/>
          <a:p>
            <a:pPr algn="l" indent="0" marL="0">
              <a:lnSpc>
                <a:spcPts val="1470"/>
              </a:lnSpc>
              <a:spcBef>
                <a:spcPts val="450"/>
              </a:spcBef>
              <a:buNone/>
            </a:pPr>
            <a:r>
              <a:rPr lang="en-US" sz="1050" dirty="0">
                <a:solidFill>
                  <a:srgbClr val="6B7280"/>
                </a:solidFill>
                <a:latin typeface="Arial" pitchFamily="34" charset="0"/>
                <a:ea typeface="Arial" pitchFamily="34" charset="-122"/>
                <a:cs typeface="Arial" pitchFamily="34" charset="-120"/>
              </a:rPr>
              <a:t>What you need to run SuperWhisper</a:t>
            </a:r>
            <a:endParaRPr lang="en-US" sz="1050" dirty="0"/>
          </a:p>
        </p:txBody>
      </p:sp>
      <p:sp>
        <p:nvSpPr>
          <p:cNvPr id="5" name="Text 3"/>
          <p:cNvSpPr/>
          <p:nvPr/>
        </p:nvSpPr>
        <p:spPr>
          <a:xfrm>
            <a:off x="457200" y="1915567"/>
            <a:ext cx="2641550" cy="1643658"/>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76250" y="1915567"/>
            <a:ext cx="0" cy="1643658"/>
          </a:xfrm>
          <a:prstGeom prst="line">
            <a:avLst/>
          </a:prstGeom>
          <a:noFill/>
          <a:ln w="38100">
            <a:solidFill>
              <a:srgbClr val="C9A227"/>
            </a:solidFill>
            <a:prstDash val="solid"/>
          </a:ln>
        </p:spPr>
      </p:sp>
      <p:sp>
        <p:nvSpPr>
          <p:cNvPr id="7" name="Text 5"/>
          <p:cNvSpPr/>
          <p:nvPr/>
        </p:nvSpPr>
        <p:spPr>
          <a:xfrm>
            <a:off x="685800" y="2106067"/>
            <a:ext cx="2266899" cy="173236"/>
          </a:xfrm>
          <a:prstGeom prst="rect">
            <a:avLst/>
          </a:prstGeom>
          <a:noFill/>
          <a:ln/>
        </p:spPr>
        <p:txBody>
          <a:bodyPr wrap="square" lIns="0" tIns="0" rIns="0" bIns="0" rtlCol="0" anchor="t"/>
          <a:lstStyle/>
          <a:p>
            <a:pPr algn="l" indent="0" marL="0">
              <a:lnSpc>
                <a:spcPts val="1365"/>
              </a:lnSpc>
              <a:spcAft>
                <a:spcPts val="900"/>
              </a:spcAft>
              <a:buNone/>
            </a:pPr>
            <a:r>
              <a:rPr lang="en-US" sz="975" b="1" dirty="0">
                <a:solidFill>
                  <a:srgbClr val="1A1F2E"/>
                </a:solidFill>
                <a:latin typeface="Arial" pitchFamily="34" charset="0"/>
                <a:ea typeface="Arial" pitchFamily="34" charset="-122"/>
                <a:cs typeface="Arial" pitchFamily="34" charset="-120"/>
              </a:rPr>
              <a:t>Supported Platforms</a:t>
            </a:r>
            <a:endParaRPr lang="en-US" sz="975" dirty="0"/>
          </a:p>
        </p:txBody>
      </p:sp>
      <p:sp>
        <p:nvSpPr>
          <p:cNvPr id="8" name="Text 6"/>
          <p:cNvSpPr/>
          <p:nvPr/>
        </p:nvSpPr>
        <p:spPr>
          <a:xfrm>
            <a:off x="685800" y="2546003"/>
            <a:ext cx="2266899"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 macOS (primary)</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 iOS/iPadOS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 Windows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 Linux</a:t>
            </a:r>
            <a:endParaRPr lang="en-US" sz="900" dirty="0"/>
          </a:p>
        </p:txBody>
      </p:sp>
      <p:sp>
        <p:nvSpPr>
          <p:cNvPr id="9" name="Text 7"/>
          <p:cNvSpPr/>
          <p:nvPr/>
        </p:nvSpPr>
        <p:spPr>
          <a:xfrm>
            <a:off x="3251150" y="2018407"/>
            <a:ext cx="2641550" cy="1437977"/>
          </a:xfrm>
          <a:prstGeom prst="rect">
            <a:avLst/>
          </a:prstGeom>
          <a:solidFill>
            <a:srgbClr val="FFFFFF"/>
          </a:solidFill>
          <a:ln/>
        </p:spPr>
        <p:txBody>
          <a:bodyPr wrap="square" rtlCol="0" anchor="ctr"/>
          <a:lstStyle/>
          <a:p>
            <a:pPr indent="0" marL="0">
              <a:buNone/>
            </a:pPr>
            <a:endParaRPr lang="en-US" dirty="0"/>
          </a:p>
        </p:txBody>
      </p:sp>
      <p:sp>
        <p:nvSpPr>
          <p:cNvPr id="10" name="Shape 8"/>
          <p:cNvSpPr/>
          <p:nvPr/>
        </p:nvSpPr>
        <p:spPr>
          <a:xfrm>
            <a:off x="3270200" y="2018407"/>
            <a:ext cx="0" cy="1437977"/>
          </a:xfrm>
          <a:prstGeom prst="line">
            <a:avLst/>
          </a:prstGeom>
          <a:noFill/>
          <a:ln w="38100">
            <a:solidFill>
              <a:srgbClr val="C9A227"/>
            </a:solidFill>
            <a:prstDash val="solid"/>
          </a:ln>
        </p:spPr>
      </p:sp>
      <p:sp>
        <p:nvSpPr>
          <p:cNvPr id="11" name="Text 9"/>
          <p:cNvSpPr/>
          <p:nvPr/>
        </p:nvSpPr>
        <p:spPr>
          <a:xfrm>
            <a:off x="3479750" y="2208907"/>
            <a:ext cx="2266899" cy="173236"/>
          </a:xfrm>
          <a:prstGeom prst="rect">
            <a:avLst/>
          </a:prstGeom>
          <a:noFill/>
          <a:ln/>
        </p:spPr>
        <p:txBody>
          <a:bodyPr wrap="square" lIns="0" tIns="0" rIns="0" bIns="0" rtlCol="0" anchor="t"/>
          <a:lstStyle/>
          <a:p>
            <a:pPr algn="l" indent="0" marL="0">
              <a:lnSpc>
                <a:spcPts val="1365"/>
              </a:lnSpc>
              <a:spcAft>
                <a:spcPts val="900"/>
              </a:spcAft>
              <a:buNone/>
            </a:pPr>
            <a:r>
              <a:rPr lang="en-US" sz="975" b="1" dirty="0">
                <a:solidFill>
                  <a:srgbClr val="1A1F2E"/>
                </a:solidFill>
                <a:latin typeface="Arial" pitchFamily="34" charset="0"/>
                <a:ea typeface="Arial" pitchFamily="34" charset="-122"/>
                <a:cs typeface="Arial" pitchFamily="34" charset="-120"/>
              </a:rPr>
              <a:t>Hardware</a:t>
            </a:r>
            <a:endParaRPr lang="en-US" sz="975" dirty="0"/>
          </a:p>
        </p:txBody>
      </p:sp>
      <p:sp>
        <p:nvSpPr>
          <p:cNvPr id="12" name="Text 10"/>
          <p:cNvSpPr/>
          <p:nvPr/>
        </p:nvSpPr>
        <p:spPr>
          <a:xfrm>
            <a:off x="3479750" y="2648843"/>
            <a:ext cx="2266899" cy="61704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Apple Silicon (M1-M4)</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8GB+ RAM recommended</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~2GB storage for models</a:t>
            </a:r>
            <a:endParaRPr lang="en-US" sz="900" dirty="0"/>
          </a:p>
        </p:txBody>
      </p:sp>
      <p:sp>
        <p:nvSpPr>
          <p:cNvPr id="13" name="Text 11"/>
          <p:cNvSpPr/>
          <p:nvPr/>
        </p:nvSpPr>
        <p:spPr>
          <a:xfrm>
            <a:off x="6045101" y="2018407"/>
            <a:ext cx="2641550" cy="1437977"/>
          </a:xfrm>
          <a:prstGeom prst="rect">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6064151" y="2018407"/>
            <a:ext cx="0" cy="1437977"/>
          </a:xfrm>
          <a:prstGeom prst="line">
            <a:avLst/>
          </a:prstGeom>
          <a:noFill/>
          <a:ln w="38100">
            <a:solidFill>
              <a:srgbClr val="C9A227"/>
            </a:solidFill>
            <a:prstDash val="solid"/>
          </a:ln>
        </p:spPr>
      </p:sp>
      <p:sp>
        <p:nvSpPr>
          <p:cNvPr id="15" name="Text 13"/>
          <p:cNvSpPr/>
          <p:nvPr/>
        </p:nvSpPr>
        <p:spPr>
          <a:xfrm>
            <a:off x="6273701" y="2208907"/>
            <a:ext cx="2266899" cy="173236"/>
          </a:xfrm>
          <a:prstGeom prst="rect">
            <a:avLst/>
          </a:prstGeom>
          <a:noFill/>
          <a:ln/>
        </p:spPr>
        <p:txBody>
          <a:bodyPr wrap="square" lIns="0" tIns="0" rIns="0" bIns="0" rtlCol="0" anchor="t"/>
          <a:lstStyle/>
          <a:p>
            <a:pPr algn="l" indent="0" marL="0">
              <a:lnSpc>
                <a:spcPts val="1365"/>
              </a:lnSpc>
              <a:spcAft>
                <a:spcPts val="900"/>
              </a:spcAft>
              <a:buNone/>
            </a:pPr>
            <a:r>
              <a:rPr lang="en-US" sz="975" b="1" dirty="0">
                <a:solidFill>
                  <a:srgbClr val="1A1F2E"/>
                </a:solidFill>
                <a:latin typeface="Arial" pitchFamily="34" charset="0"/>
                <a:ea typeface="Arial" pitchFamily="34" charset="-122"/>
                <a:cs typeface="Arial" pitchFamily="34" charset="-120"/>
              </a:rPr>
              <a:t>Model Options</a:t>
            </a:r>
            <a:endParaRPr lang="en-US" sz="975" dirty="0"/>
          </a:p>
        </p:txBody>
      </p:sp>
      <p:sp>
        <p:nvSpPr>
          <p:cNvPr id="16" name="Text 14"/>
          <p:cNvSpPr/>
          <p:nvPr/>
        </p:nvSpPr>
        <p:spPr>
          <a:xfrm>
            <a:off x="6273701" y="2648843"/>
            <a:ext cx="2266899" cy="61704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Small: Fast, less accurate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Medium: Best balance ✓</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Large: Most accurate</a:t>
            </a:r>
            <a:endParaRPr lang="en-US" sz="900" dirty="0"/>
          </a:p>
        </p:txBody>
      </p:sp>
      <p:sp>
        <p:nvSpPr>
          <p:cNvPr id="17" name="Text 15"/>
          <p:cNvSpPr/>
          <p:nvPr/>
        </p:nvSpPr>
        <p:spPr>
          <a:xfrm>
            <a:off x="457200" y="4360664"/>
            <a:ext cx="8229600" cy="478036"/>
          </a:xfrm>
          <a:prstGeom prst="rect">
            <a:avLst/>
          </a:prstGeom>
          <a:solidFill>
            <a:srgbClr val="FEF3C7"/>
          </a:solidFill>
          <a:ln/>
        </p:spPr>
        <p:txBody>
          <a:bodyPr wrap="square" rtlCol="0" anchor="ctr"/>
          <a:lstStyle/>
          <a:p>
            <a:pPr indent="0" marL="0">
              <a:buNone/>
            </a:pPr>
            <a:endParaRPr lang="en-US" dirty="0"/>
          </a:p>
        </p:txBody>
      </p:sp>
      <p:sp>
        <p:nvSpPr>
          <p:cNvPr id="18" name="Shape 16"/>
          <p:cNvSpPr/>
          <p:nvPr/>
        </p:nvSpPr>
        <p:spPr>
          <a:xfrm>
            <a:off x="476250" y="4360664"/>
            <a:ext cx="0" cy="478036"/>
          </a:xfrm>
          <a:prstGeom prst="line">
            <a:avLst/>
          </a:prstGeom>
          <a:noFill/>
          <a:ln w="38100">
            <a:solidFill>
              <a:srgbClr val="F59E0B"/>
            </a:solidFill>
            <a:prstDash val="solid"/>
          </a:ln>
        </p:spPr>
      </p:sp>
      <p:sp>
        <p:nvSpPr>
          <p:cNvPr id="19" name="Text 17"/>
          <p:cNvSpPr/>
          <p:nvPr/>
        </p:nvSpPr>
        <p:spPr>
          <a:xfrm>
            <a:off x="685800" y="4513064"/>
            <a:ext cx="7966710" cy="173236"/>
          </a:xfrm>
          <a:prstGeom prst="rect">
            <a:avLst/>
          </a:prstGeom>
          <a:noFill/>
          <a:ln/>
        </p:spPr>
        <p:txBody>
          <a:bodyPr wrap="square" lIns="0" tIns="0" rIns="0" bIns="0" rtlCol="0" anchor="t"/>
          <a:lstStyle/>
          <a:p>
            <a:pPr algn="l" indent="0" marL="0">
              <a:lnSpc>
                <a:spcPts val="1365"/>
              </a:lnSpc>
              <a:buNone/>
            </a:pPr>
            <a:r>
              <a:rPr lang="en-US" sz="975" b="1" dirty="0">
                <a:solidFill>
                  <a:srgbClr val="92400E"/>
                </a:solidFill>
                <a:latin typeface="Arial" pitchFamily="34" charset="0"/>
                <a:ea typeface="Arial" pitchFamily="34" charset="-122"/>
                <a:cs typeface="Arial" pitchFamily="34" charset="-120"/>
              </a:rPr>
              <a:t>Windows Users:</a:t>
            </a:r>
            <a:pPr algn="l" indent="0" marL="0">
              <a:lnSpc>
                <a:spcPts val="1365"/>
              </a:lnSpc>
              <a:buNone/>
            </a:pPr>
            <a:r>
              <a:rPr lang="en-US" sz="975" dirty="0">
                <a:solidFill>
                  <a:srgbClr val="92400E"/>
                </a:solidFill>
                <a:latin typeface="Arial" pitchFamily="34" charset="0"/>
                <a:ea typeface="Arial" pitchFamily="34" charset="-122"/>
                <a:cs typeface="Arial" pitchFamily="34" charset="-120"/>
              </a:rPr>
              <a:t> Don't worry! WhisperFlow is your alternative.</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15158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81000" y="1980307"/>
            <a:ext cx="2437376"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SETUP</a:t>
            </a:r>
            <a:endParaRPr lang="en-US" sz="825" dirty="0"/>
          </a:p>
        </p:txBody>
      </p:sp>
      <p:sp>
        <p:nvSpPr>
          <p:cNvPr id="4" name="Text 2"/>
          <p:cNvSpPr/>
          <p:nvPr/>
        </p:nvSpPr>
        <p:spPr>
          <a:xfrm>
            <a:off x="381000" y="2431703"/>
            <a:ext cx="1787652" cy="731341"/>
          </a:xfrm>
          <a:prstGeom prst="rect">
            <a:avLst/>
          </a:prstGeom>
          <a:noFill/>
          <a:ln/>
        </p:spPr>
        <p:txBody>
          <a:bodyPr wrap="square" lIns="0" tIns="0" rIns="0" bIns="0" rtlCol="0" anchor="t"/>
          <a:lstStyle/>
          <a:p>
            <a:pPr algn="l" indent="0" marL="0">
              <a:lnSpc>
                <a:spcPts val="2880"/>
              </a:lnSpc>
              <a:buNone/>
            </a:pPr>
            <a:r>
              <a:rPr lang="en-US" sz="2400" dirty="0">
                <a:solidFill>
                  <a:srgbClr val="FFFFFF"/>
                </a:solidFill>
                <a:latin typeface="Georgia" pitchFamily="34" charset="0"/>
                <a:ea typeface="Georgia" pitchFamily="34" charset="-122"/>
                <a:cs typeface="Georgia" pitchFamily="34" charset="-120"/>
              </a:rPr>
              <a:t>SuperWhisper</a:t>
            </a:r>
            <a:endParaRPr lang="en-US" sz="2400" dirty="0"/>
          </a:p>
          <a:p>
            <a:pPr algn="l" indent="0" marL="0">
              <a:lnSpc>
                <a:spcPts val="2880"/>
              </a:lnSpc>
              <a:buNone/>
            </a:pPr>
            <a:r>
              <a:rPr lang="en-US" sz="2400" dirty="0">
                <a:solidFill>
                  <a:srgbClr val="FFFFFF"/>
                </a:solidFill>
                <a:latin typeface="Georgia" pitchFamily="34" charset="0"/>
                <a:ea typeface="Georgia" pitchFamily="34" charset="-122"/>
                <a:cs typeface="Georgia" pitchFamily="34" charset="-120"/>
              </a:rPr>
              <a:t>Installation</a:t>
            </a:r>
            <a:endParaRPr lang="en-US" sz="2400" dirty="0"/>
          </a:p>
        </p:txBody>
      </p:sp>
      <p:sp>
        <p:nvSpPr>
          <p:cNvPr id="5" name="Text 3"/>
          <p:cNvSpPr/>
          <p:nvPr/>
        </p:nvSpPr>
        <p:spPr>
          <a:xfrm>
            <a:off x="3303984" y="0"/>
            <a:ext cx="5840016" cy="5143500"/>
          </a:xfrm>
          <a:prstGeom prst="rect">
            <a:avLst/>
          </a:prstGeom>
          <a:solidFill>
            <a:srgbClr val="F7F8FA"/>
          </a:solidFill>
          <a:ln/>
        </p:spPr>
        <p:txBody>
          <a:bodyPr wrap="square" rtlCol="0" anchor="ctr"/>
          <a:lstStyle/>
          <a:p>
            <a:pPr indent="0" marL="0">
              <a:buNone/>
            </a:pPr>
            <a:endParaRPr lang="en-US" dirty="0"/>
          </a:p>
        </p:txBody>
      </p:sp>
      <p:sp>
        <p:nvSpPr>
          <p:cNvPr id="6" name="Text 4"/>
          <p:cNvSpPr/>
          <p:nvPr/>
        </p:nvSpPr>
        <p:spPr>
          <a:xfrm>
            <a:off x="3684984" y="781050"/>
            <a:ext cx="5078016" cy="6286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7" name="Text 5"/>
          <p:cNvSpPr/>
          <p:nvPr/>
        </p:nvSpPr>
        <p:spPr>
          <a:xfrm>
            <a:off x="3885009" y="942975"/>
            <a:ext cx="304800" cy="304800"/>
          </a:xfrm>
          <a:prstGeom prst="rect">
            <a:avLst/>
          </a:prstGeom>
          <a:solidFill>
            <a:srgbClr val="1A1F2E"/>
          </a:solidFill>
          <a:ln/>
        </p:spPr>
        <p:txBody>
          <a:bodyPr wrap="square" rtlCol="0" anchor="ctr"/>
          <a:lstStyle/>
          <a:p>
            <a:pPr indent="0" marL="0">
              <a:buNone/>
            </a:pPr>
            <a:endParaRPr lang="en-US" dirty="0"/>
          </a:p>
        </p:txBody>
      </p:sp>
      <p:sp>
        <p:nvSpPr>
          <p:cNvPr id="8" name="Text 6"/>
          <p:cNvSpPr/>
          <p:nvPr/>
        </p:nvSpPr>
        <p:spPr>
          <a:xfrm>
            <a:off x="4000202" y="1002060"/>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9" name="Text 7"/>
          <p:cNvSpPr/>
          <p:nvPr/>
        </p:nvSpPr>
        <p:spPr>
          <a:xfrm>
            <a:off x="4494609" y="1002060"/>
            <a:ext cx="2048756"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Download from superwhisper.com</a:t>
            </a:r>
            <a:endParaRPr lang="en-US" sz="1050" dirty="0"/>
          </a:p>
        </p:txBody>
      </p:sp>
      <p:sp>
        <p:nvSpPr>
          <p:cNvPr id="10" name="Text 8"/>
          <p:cNvSpPr/>
          <p:nvPr/>
        </p:nvSpPr>
        <p:spPr>
          <a:xfrm>
            <a:off x="3684984" y="1524000"/>
            <a:ext cx="5078016" cy="6286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1" name="Text 9"/>
          <p:cNvSpPr/>
          <p:nvPr/>
        </p:nvSpPr>
        <p:spPr>
          <a:xfrm>
            <a:off x="3885009" y="1685925"/>
            <a:ext cx="304800" cy="304800"/>
          </a:xfrm>
          <a:prstGeom prst="rect">
            <a:avLst/>
          </a:prstGeom>
          <a:solidFill>
            <a:srgbClr val="1A1F2E"/>
          </a:solidFill>
          <a:ln/>
        </p:spPr>
        <p:txBody>
          <a:bodyPr wrap="square" rtlCol="0" anchor="ctr"/>
          <a:lstStyle/>
          <a:p>
            <a:pPr indent="0" marL="0">
              <a:buNone/>
            </a:pPr>
            <a:endParaRPr lang="en-US" dirty="0"/>
          </a:p>
        </p:txBody>
      </p:sp>
      <p:sp>
        <p:nvSpPr>
          <p:cNvPr id="12" name="Text 10"/>
          <p:cNvSpPr/>
          <p:nvPr/>
        </p:nvSpPr>
        <p:spPr>
          <a:xfrm>
            <a:off x="4000202" y="1745010"/>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13" name="Text 11"/>
          <p:cNvSpPr/>
          <p:nvPr/>
        </p:nvSpPr>
        <p:spPr>
          <a:xfrm>
            <a:off x="4494609" y="1745010"/>
            <a:ext cx="1043505"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Install application</a:t>
            </a:r>
            <a:endParaRPr lang="en-US" sz="1050" dirty="0"/>
          </a:p>
        </p:txBody>
      </p:sp>
      <p:sp>
        <p:nvSpPr>
          <p:cNvPr id="14" name="Text 12"/>
          <p:cNvSpPr/>
          <p:nvPr/>
        </p:nvSpPr>
        <p:spPr>
          <a:xfrm>
            <a:off x="3684984" y="2266950"/>
            <a:ext cx="5078016" cy="6286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3885009" y="2428875"/>
            <a:ext cx="304800" cy="304800"/>
          </a:xfrm>
          <a:prstGeom prst="rect">
            <a:avLst/>
          </a:prstGeom>
          <a:solidFill>
            <a:srgbClr val="1A1F2E"/>
          </a:solidFill>
          <a:ln/>
        </p:spPr>
        <p:txBody>
          <a:bodyPr wrap="square" rtlCol="0" anchor="ctr"/>
          <a:lstStyle/>
          <a:p>
            <a:pPr indent="0" marL="0">
              <a:buNone/>
            </a:pPr>
            <a:endParaRPr lang="en-US" dirty="0"/>
          </a:p>
        </p:txBody>
      </p:sp>
      <p:sp>
        <p:nvSpPr>
          <p:cNvPr id="16" name="Text 14"/>
          <p:cNvSpPr/>
          <p:nvPr/>
        </p:nvSpPr>
        <p:spPr>
          <a:xfrm>
            <a:off x="4000202" y="2487960"/>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17" name="Text 15"/>
          <p:cNvSpPr/>
          <p:nvPr/>
        </p:nvSpPr>
        <p:spPr>
          <a:xfrm>
            <a:off x="4494609" y="2487960"/>
            <a:ext cx="2676165"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Choose model size (Medium recommended)</a:t>
            </a:r>
            <a:endParaRPr lang="en-US" sz="1050" dirty="0"/>
          </a:p>
        </p:txBody>
      </p:sp>
      <p:sp>
        <p:nvSpPr>
          <p:cNvPr id="18" name="Text 16"/>
          <p:cNvSpPr/>
          <p:nvPr/>
        </p:nvSpPr>
        <p:spPr>
          <a:xfrm>
            <a:off x="3684984" y="3009900"/>
            <a:ext cx="5078016" cy="6286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885009" y="3171825"/>
            <a:ext cx="304800" cy="30480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4000202" y="3230910"/>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4</a:t>
            </a:r>
            <a:endParaRPr lang="en-US" sz="1050" dirty="0"/>
          </a:p>
        </p:txBody>
      </p:sp>
      <p:sp>
        <p:nvSpPr>
          <p:cNvPr id="21" name="Text 19"/>
          <p:cNvSpPr/>
          <p:nvPr/>
        </p:nvSpPr>
        <p:spPr>
          <a:xfrm>
            <a:off x="4494609" y="3230910"/>
            <a:ext cx="1965567" cy="186630"/>
          </a:xfrm>
          <a:prstGeom prst="rect">
            <a:avLst/>
          </a:prstGeom>
          <a:noFill/>
          <a:ln/>
        </p:spPr>
        <p:txBody>
          <a:bodyPr wrap="square" lIns="0" tIns="0" rIns="0" bIns="0" rtlCol="0" anchor="t"/>
          <a:lstStyle/>
          <a:p>
            <a:pPr algn="l" indent="0" marL="0">
              <a:lnSpc>
                <a:spcPts val="1470"/>
              </a:lnSpc>
              <a:buNone/>
            </a:pPr>
            <a:r>
              <a:rPr lang="en-US" sz="1050" dirty="0">
                <a:solidFill>
                  <a:srgbClr val="1A1F2E"/>
                </a:solidFill>
                <a:latin typeface="Arial" pitchFamily="34" charset="0"/>
                <a:ea typeface="Arial" pitchFamily="34" charset="-122"/>
                <a:cs typeface="Arial" pitchFamily="34" charset="-120"/>
              </a:rPr>
              <a:t>Configure hotkey (e.g., Fn twice)</a:t>
            </a:r>
            <a:endParaRPr lang="en-US" sz="1050" dirty="0"/>
          </a:p>
        </p:txBody>
      </p:sp>
      <p:sp>
        <p:nvSpPr>
          <p:cNvPr id="22" name="Text 20"/>
          <p:cNvSpPr/>
          <p:nvPr/>
        </p:nvSpPr>
        <p:spPr>
          <a:xfrm>
            <a:off x="3684984" y="3752850"/>
            <a:ext cx="5078016" cy="609600"/>
          </a:xfrm>
          <a:prstGeom prst="rect">
            <a:avLst/>
          </a:prstGeom>
          <a:solidFill>
            <a:srgbClr val="C9A227"/>
          </a:solidFill>
          <a:ln/>
        </p:spPr>
        <p:txBody>
          <a:bodyPr wrap="square" rtlCol="0" anchor="ctr"/>
          <a:lstStyle/>
          <a:p>
            <a:pPr indent="0" marL="0">
              <a:buNone/>
            </a:pPr>
            <a:endParaRPr lang="en-US" dirty="0"/>
          </a:p>
        </p:txBody>
      </p:sp>
      <p:sp>
        <p:nvSpPr>
          <p:cNvPr id="23" name="Text 21"/>
          <p:cNvSpPr/>
          <p:nvPr/>
        </p:nvSpPr>
        <p:spPr>
          <a:xfrm>
            <a:off x="3875484" y="3905250"/>
            <a:ext cx="304800" cy="304800"/>
          </a:xfrm>
          <a:prstGeom prst="rect">
            <a:avLst/>
          </a:prstGeom>
          <a:solidFill>
            <a:srgbClr val="1A1F2E"/>
          </a:solidFill>
          <a:ln/>
        </p:spPr>
        <p:txBody>
          <a:bodyPr wrap="square" rtlCol="0" anchor="ctr"/>
          <a:lstStyle/>
          <a:p>
            <a:pPr indent="0" marL="0">
              <a:buNone/>
            </a:pPr>
            <a:endParaRPr lang="en-US" dirty="0"/>
          </a:p>
        </p:txBody>
      </p:sp>
      <p:sp>
        <p:nvSpPr>
          <p:cNvPr id="24" name="Text 22"/>
          <p:cNvSpPr/>
          <p:nvPr/>
        </p:nvSpPr>
        <p:spPr>
          <a:xfrm>
            <a:off x="3990677" y="3964335"/>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5</a:t>
            </a:r>
            <a:endParaRPr lang="en-US" sz="1050" dirty="0"/>
          </a:p>
        </p:txBody>
      </p:sp>
      <p:sp>
        <p:nvSpPr>
          <p:cNvPr id="25" name="Text 23"/>
          <p:cNvSpPr/>
          <p:nvPr/>
        </p:nvSpPr>
        <p:spPr>
          <a:xfrm>
            <a:off x="4485084" y="3964335"/>
            <a:ext cx="1995624" cy="186630"/>
          </a:xfrm>
          <a:prstGeom prst="rect">
            <a:avLst/>
          </a:prstGeom>
          <a:noFill/>
          <a:ln/>
        </p:spPr>
        <p:txBody>
          <a:bodyPr wrap="square" lIns="0" tIns="0" rIns="0" bIns="0" rtlCol="0" anchor="t"/>
          <a:lstStyle/>
          <a:p>
            <a:pPr algn="l" indent="0" marL="0">
              <a:lnSpc>
                <a:spcPts val="1470"/>
              </a:lnSpc>
              <a:buNone/>
            </a:pPr>
            <a:r>
              <a:rPr lang="en-US" sz="1050" b="1" dirty="0">
                <a:solidFill>
                  <a:srgbClr val="1A1F2E"/>
                </a:solidFill>
                <a:latin typeface="Arial" pitchFamily="34" charset="0"/>
                <a:ea typeface="Arial" pitchFamily="34" charset="-122"/>
                <a:cs typeface="Arial" pitchFamily="34" charset="-120"/>
              </a:rPr>
              <a:t>Verify local-only mode enabled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PRO TIPS</a:t>
            </a:r>
            <a:endParaRPr lang="en-US" sz="825" dirty="0"/>
          </a:p>
        </p:txBody>
      </p:sp>
      <p:sp>
        <p:nvSpPr>
          <p:cNvPr id="3" name="Text 1"/>
          <p:cNvSpPr/>
          <p:nvPr/>
        </p:nvSpPr>
        <p:spPr>
          <a:xfrm>
            <a:off x="457200" y="527596"/>
            <a:ext cx="4653725" cy="304800"/>
          </a:xfrm>
          <a:prstGeom prst="rect">
            <a:avLst/>
          </a:prstGeom>
          <a:noFill/>
          <a:ln/>
        </p:spPr>
        <p:txBody>
          <a:bodyPr wrap="square" lIns="0" tIns="0" rIns="0" bIns="0" rtlCol="0" anchor="t"/>
          <a:lstStyle/>
          <a:p>
            <a:pPr algn="l" indent="0" marL="0">
              <a:lnSpc>
                <a:spcPts val="2400"/>
              </a:lnSpc>
              <a:buNone/>
            </a:pPr>
            <a:r>
              <a:rPr lang="en-US" sz="2400" dirty="0">
                <a:solidFill>
                  <a:srgbClr val="FFFFFF"/>
                </a:solidFill>
                <a:latin typeface="Georgia" pitchFamily="34" charset="0"/>
                <a:ea typeface="Georgia" pitchFamily="34" charset="-122"/>
                <a:cs typeface="Georgia" pitchFamily="34" charset="-120"/>
              </a:rPr>
              <a:t>Getting the Most from SuperWhisper</a:t>
            </a:r>
            <a:endParaRPr lang="en-US" sz="2400" dirty="0"/>
          </a:p>
        </p:txBody>
      </p:sp>
      <p:sp>
        <p:nvSpPr>
          <p:cNvPr id="4" name="Text 2"/>
          <p:cNvSpPr/>
          <p:nvPr/>
        </p:nvSpPr>
        <p:spPr>
          <a:xfrm>
            <a:off x="457200" y="1794570"/>
            <a:ext cx="1943100" cy="2386608"/>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685800" y="2023170"/>
            <a:ext cx="381000" cy="38100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33438" y="2093714"/>
            <a:ext cx="87440" cy="239911"/>
          </a:xfrm>
          <a:prstGeom prst="rect">
            <a:avLst/>
          </a:prstGeom>
          <a:noFill/>
          <a:ln/>
        </p:spPr>
        <p:txBody>
          <a:bodyPr wrap="square" lIns="0" tIns="0" rIns="0" bIns="0" rtlCol="0" anchor="t"/>
          <a:lstStyle/>
          <a:p>
            <a:pPr algn="l" indent="0" marL="0">
              <a:lnSpc>
                <a:spcPts val="1890"/>
              </a:lnSpc>
              <a:buNone/>
            </a:pPr>
            <a:r>
              <a:rPr lang="en-US" sz="1350" dirty="0">
                <a:solidFill>
                  <a:srgbClr val="1A1F2E"/>
                </a:solidFill>
                <a:latin typeface="Georgia" pitchFamily="34" charset="0"/>
                <a:ea typeface="Georgia" pitchFamily="34" charset="-122"/>
                <a:cs typeface="Georgia" pitchFamily="34" charset="-120"/>
              </a:rPr>
              <a:t>1</a:t>
            </a:r>
            <a:endParaRPr lang="en-US" sz="1350" dirty="0"/>
          </a:p>
        </p:txBody>
      </p:sp>
      <p:sp>
        <p:nvSpPr>
          <p:cNvPr id="7" name="Text 5"/>
          <p:cNvSpPr/>
          <p:nvPr/>
        </p:nvSpPr>
        <p:spPr>
          <a:xfrm>
            <a:off x="685800" y="2708970"/>
            <a:ext cx="1515618" cy="200025"/>
          </a:xfrm>
          <a:prstGeom prst="rect">
            <a:avLst/>
          </a:prstGeom>
          <a:noFill/>
          <a:ln/>
        </p:spPr>
        <p:txBody>
          <a:bodyPr wrap="square" lIns="0" tIns="0" rIns="0" bIns="0" rtlCol="0" anchor="t"/>
          <a:lstStyle/>
          <a:p>
            <a:pPr algn="l" indent="0" marL="0">
              <a:lnSpc>
                <a:spcPts val="1575"/>
              </a:lnSpc>
              <a:spcAft>
                <a:spcPts val="900"/>
              </a:spcAft>
              <a:buNone/>
            </a:pPr>
            <a:r>
              <a:rPr lang="en-US" sz="1125" dirty="0">
                <a:solidFill>
                  <a:srgbClr val="FFFFFF"/>
                </a:solidFill>
                <a:latin typeface="Georgia" pitchFamily="34" charset="0"/>
                <a:ea typeface="Georgia" pitchFamily="34" charset="-122"/>
                <a:cs typeface="Georgia" pitchFamily="34" charset="-120"/>
              </a:rPr>
              <a:t>Speak Naturally</a:t>
            </a:r>
            <a:endParaRPr lang="en-US" sz="1125" dirty="0"/>
          </a:p>
        </p:txBody>
      </p:sp>
      <p:sp>
        <p:nvSpPr>
          <p:cNvPr id="8" name="Text 6"/>
          <p:cNvSpPr/>
          <p:nvPr/>
        </p:nvSpPr>
        <p:spPr>
          <a:xfrm>
            <a:off x="685800" y="3175695"/>
            <a:ext cx="1515618"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Talk at a conversational pace. Whisper AI handles natural speech patterns and pauses.</a:t>
            </a:r>
            <a:endParaRPr lang="en-US" sz="900" dirty="0"/>
          </a:p>
        </p:txBody>
      </p:sp>
      <p:sp>
        <p:nvSpPr>
          <p:cNvPr id="9" name="Text 7"/>
          <p:cNvSpPr/>
          <p:nvPr/>
        </p:nvSpPr>
        <p:spPr>
          <a:xfrm>
            <a:off x="2552700" y="1791742"/>
            <a:ext cx="1943100" cy="2392412"/>
          </a:xfrm>
          <a:prstGeom prst="rect">
            <a:avLst/>
          </a:prstGeom>
          <a:solidFill>
            <a:srgbClr val="252B3D"/>
          </a:solidFill>
          <a:ln/>
        </p:spPr>
        <p:txBody>
          <a:bodyPr wrap="square" rtlCol="0" anchor="ctr"/>
          <a:lstStyle/>
          <a:p>
            <a:pPr indent="0" marL="0">
              <a:buNone/>
            </a:pPr>
            <a:endParaRPr lang="en-US" dirty="0"/>
          </a:p>
        </p:txBody>
      </p:sp>
      <p:sp>
        <p:nvSpPr>
          <p:cNvPr id="10" name="Text 8"/>
          <p:cNvSpPr/>
          <p:nvPr/>
        </p:nvSpPr>
        <p:spPr>
          <a:xfrm>
            <a:off x="2781300" y="2020342"/>
            <a:ext cx="381000" cy="3810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2928938" y="2090886"/>
            <a:ext cx="87440" cy="239911"/>
          </a:xfrm>
          <a:prstGeom prst="rect">
            <a:avLst/>
          </a:prstGeom>
          <a:noFill/>
          <a:ln/>
        </p:spPr>
        <p:txBody>
          <a:bodyPr wrap="square" lIns="0" tIns="0" rIns="0" bIns="0" rtlCol="0" anchor="t"/>
          <a:lstStyle/>
          <a:p>
            <a:pPr algn="l" indent="0" marL="0">
              <a:lnSpc>
                <a:spcPts val="1890"/>
              </a:lnSpc>
              <a:buNone/>
            </a:pPr>
            <a:r>
              <a:rPr lang="en-US" sz="1350" dirty="0">
                <a:solidFill>
                  <a:srgbClr val="1A1F2E"/>
                </a:solidFill>
                <a:latin typeface="Georgia" pitchFamily="34" charset="0"/>
                <a:ea typeface="Georgia" pitchFamily="34" charset="-122"/>
                <a:cs typeface="Georgia" pitchFamily="34" charset="-120"/>
              </a:rPr>
              <a:t>2</a:t>
            </a:r>
            <a:endParaRPr lang="en-US" sz="1350" dirty="0"/>
          </a:p>
        </p:txBody>
      </p:sp>
      <p:sp>
        <p:nvSpPr>
          <p:cNvPr id="12" name="Text 10"/>
          <p:cNvSpPr/>
          <p:nvPr/>
        </p:nvSpPr>
        <p:spPr>
          <a:xfrm>
            <a:off x="2781300" y="2706142"/>
            <a:ext cx="1515618" cy="400050"/>
          </a:xfrm>
          <a:prstGeom prst="rect">
            <a:avLst/>
          </a:prstGeom>
          <a:noFill/>
          <a:ln/>
        </p:spPr>
        <p:txBody>
          <a:bodyPr wrap="square" lIns="0" tIns="0" rIns="0" bIns="0" rtlCol="0" anchor="t"/>
          <a:lstStyle/>
          <a:p>
            <a:pPr algn="l" indent="0" marL="0">
              <a:lnSpc>
                <a:spcPts val="1575"/>
              </a:lnSpc>
              <a:spcAft>
                <a:spcPts val="900"/>
              </a:spcAft>
              <a:buNone/>
            </a:pPr>
            <a:r>
              <a:rPr lang="en-US" sz="1125" dirty="0">
                <a:solidFill>
                  <a:srgbClr val="FFFFFF"/>
                </a:solidFill>
                <a:latin typeface="Georgia" pitchFamily="34" charset="0"/>
                <a:ea typeface="Georgia" pitchFamily="34" charset="-122"/>
                <a:cs typeface="Georgia" pitchFamily="34" charset="-120"/>
              </a:rPr>
              <a:t>Use Punctuation Commands</a:t>
            </a:r>
            <a:endParaRPr lang="en-US" sz="1125" dirty="0"/>
          </a:p>
        </p:txBody>
      </p:sp>
      <p:sp>
        <p:nvSpPr>
          <p:cNvPr id="13" name="Text 11"/>
          <p:cNvSpPr/>
          <p:nvPr/>
        </p:nvSpPr>
        <p:spPr>
          <a:xfrm>
            <a:off x="2781300" y="3372892"/>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Say "period", "comma", or "new paragraph" for precise formatting control.</a:t>
            </a:r>
            <a:endParaRPr lang="en-US" sz="900" dirty="0"/>
          </a:p>
        </p:txBody>
      </p:sp>
      <p:sp>
        <p:nvSpPr>
          <p:cNvPr id="14" name="Text 12"/>
          <p:cNvSpPr/>
          <p:nvPr/>
        </p:nvSpPr>
        <p:spPr>
          <a:xfrm>
            <a:off x="4648200" y="1891754"/>
            <a:ext cx="1943100" cy="2192387"/>
          </a:xfrm>
          <a:prstGeom prst="rect">
            <a:avLst/>
          </a:prstGeom>
          <a:solidFill>
            <a:srgbClr val="252B3D"/>
          </a:solidFill>
          <a:ln/>
        </p:spPr>
        <p:txBody>
          <a:bodyPr wrap="square" rtlCol="0" anchor="ctr"/>
          <a:lstStyle/>
          <a:p>
            <a:pPr indent="0" marL="0">
              <a:buNone/>
            </a:pPr>
            <a:endParaRPr lang="en-US" dirty="0"/>
          </a:p>
        </p:txBody>
      </p:sp>
      <p:sp>
        <p:nvSpPr>
          <p:cNvPr id="15" name="Text 13"/>
          <p:cNvSpPr/>
          <p:nvPr/>
        </p:nvSpPr>
        <p:spPr>
          <a:xfrm>
            <a:off x="4876800" y="2120354"/>
            <a:ext cx="381000" cy="38100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5024438" y="2190899"/>
            <a:ext cx="87440" cy="239911"/>
          </a:xfrm>
          <a:prstGeom prst="rect">
            <a:avLst/>
          </a:prstGeom>
          <a:noFill/>
          <a:ln/>
        </p:spPr>
        <p:txBody>
          <a:bodyPr wrap="square" lIns="0" tIns="0" rIns="0" bIns="0" rtlCol="0" anchor="t"/>
          <a:lstStyle/>
          <a:p>
            <a:pPr algn="l" indent="0" marL="0">
              <a:lnSpc>
                <a:spcPts val="1890"/>
              </a:lnSpc>
              <a:buNone/>
            </a:pPr>
            <a:r>
              <a:rPr lang="en-US" sz="1350" dirty="0">
                <a:solidFill>
                  <a:srgbClr val="1A1F2E"/>
                </a:solidFill>
                <a:latin typeface="Georgia" pitchFamily="34" charset="0"/>
                <a:ea typeface="Georgia" pitchFamily="34" charset="-122"/>
                <a:cs typeface="Georgia" pitchFamily="34" charset="-120"/>
              </a:rPr>
              <a:t>3</a:t>
            </a:r>
            <a:endParaRPr lang="en-US" sz="1350" dirty="0"/>
          </a:p>
        </p:txBody>
      </p:sp>
      <p:sp>
        <p:nvSpPr>
          <p:cNvPr id="17" name="Text 15"/>
          <p:cNvSpPr/>
          <p:nvPr/>
        </p:nvSpPr>
        <p:spPr>
          <a:xfrm>
            <a:off x="4876800" y="2806154"/>
            <a:ext cx="1515618" cy="200025"/>
          </a:xfrm>
          <a:prstGeom prst="rect">
            <a:avLst/>
          </a:prstGeom>
          <a:noFill/>
          <a:ln/>
        </p:spPr>
        <p:txBody>
          <a:bodyPr wrap="square" lIns="0" tIns="0" rIns="0" bIns="0" rtlCol="0" anchor="t"/>
          <a:lstStyle/>
          <a:p>
            <a:pPr algn="l" indent="0" marL="0">
              <a:lnSpc>
                <a:spcPts val="1575"/>
              </a:lnSpc>
              <a:spcAft>
                <a:spcPts val="900"/>
              </a:spcAft>
              <a:buNone/>
            </a:pPr>
            <a:r>
              <a:rPr lang="en-US" sz="1125" dirty="0">
                <a:solidFill>
                  <a:srgbClr val="FFFFFF"/>
                </a:solidFill>
                <a:latin typeface="Georgia" pitchFamily="34" charset="0"/>
                <a:ea typeface="Georgia" pitchFamily="34" charset="-122"/>
                <a:cs typeface="Georgia" pitchFamily="34" charset="-120"/>
              </a:rPr>
              <a:t>Create Custom Modes</a:t>
            </a:r>
            <a:endParaRPr lang="en-US" sz="1125" dirty="0"/>
          </a:p>
        </p:txBody>
      </p:sp>
      <p:sp>
        <p:nvSpPr>
          <p:cNvPr id="18" name="Text 16"/>
          <p:cNvSpPr/>
          <p:nvPr/>
        </p:nvSpPr>
        <p:spPr>
          <a:xfrm>
            <a:off x="4876800" y="3272879"/>
            <a:ext cx="1515618" cy="58266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Set up modes for coding, emails, or documentation with specific formatting rules.</a:t>
            </a:r>
            <a:endParaRPr lang="en-US" sz="900" dirty="0"/>
          </a:p>
        </p:txBody>
      </p:sp>
      <p:sp>
        <p:nvSpPr>
          <p:cNvPr id="19" name="Text 17"/>
          <p:cNvSpPr/>
          <p:nvPr/>
        </p:nvSpPr>
        <p:spPr>
          <a:xfrm>
            <a:off x="6743700" y="1794570"/>
            <a:ext cx="1943100" cy="2386608"/>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6972300" y="2023170"/>
            <a:ext cx="381000" cy="381000"/>
          </a:xfrm>
          <a:prstGeom prst="rect">
            <a:avLst/>
          </a:prstGeom>
          <a:solidFill>
            <a:srgbClr val="C9A227"/>
          </a:solidFill>
          <a:ln/>
        </p:spPr>
        <p:txBody>
          <a:bodyPr wrap="square" rtlCol="0" anchor="ctr"/>
          <a:lstStyle/>
          <a:p>
            <a:pPr indent="0" marL="0">
              <a:buNone/>
            </a:pPr>
            <a:endParaRPr lang="en-US" dirty="0"/>
          </a:p>
        </p:txBody>
      </p:sp>
      <p:sp>
        <p:nvSpPr>
          <p:cNvPr id="21" name="Text 19"/>
          <p:cNvSpPr/>
          <p:nvPr/>
        </p:nvSpPr>
        <p:spPr>
          <a:xfrm>
            <a:off x="7119938" y="2093714"/>
            <a:ext cx="87440" cy="239911"/>
          </a:xfrm>
          <a:prstGeom prst="rect">
            <a:avLst/>
          </a:prstGeom>
          <a:noFill/>
          <a:ln/>
        </p:spPr>
        <p:txBody>
          <a:bodyPr wrap="square" lIns="0" tIns="0" rIns="0" bIns="0" rtlCol="0" anchor="t"/>
          <a:lstStyle/>
          <a:p>
            <a:pPr algn="l" indent="0" marL="0">
              <a:lnSpc>
                <a:spcPts val="1890"/>
              </a:lnSpc>
              <a:buNone/>
            </a:pPr>
            <a:r>
              <a:rPr lang="en-US" sz="1350" dirty="0">
                <a:solidFill>
                  <a:srgbClr val="1A1F2E"/>
                </a:solidFill>
                <a:latin typeface="Georgia" pitchFamily="34" charset="0"/>
                <a:ea typeface="Georgia" pitchFamily="34" charset="-122"/>
                <a:cs typeface="Georgia" pitchFamily="34" charset="-120"/>
              </a:rPr>
              <a:t>4</a:t>
            </a:r>
            <a:endParaRPr lang="en-US" sz="1350" dirty="0"/>
          </a:p>
        </p:txBody>
      </p:sp>
      <p:sp>
        <p:nvSpPr>
          <p:cNvPr id="22" name="Text 20"/>
          <p:cNvSpPr/>
          <p:nvPr/>
        </p:nvSpPr>
        <p:spPr>
          <a:xfrm>
            <a:off x="6972300" y="2708970"/>
            <a:ext cx="1515618" cy="200025"/>
          </a:xfrm>
          <a:prstGeom prst="rect">
            <a:avLst/>
          </a:prstGeom>
          <a:noFill/>
          <a:ln/>
        </p:spPr>
        <p:txBody>
          <a:bodyPr wrap="square" lIns="0" tIns="0" rIns="0" bIns="0" rtlCol="0" anchor="t"/>
          <a:lstStyle/>
          <a:p>
            <a:pPr algn="l" indent="0" marL="0">
              <a:lnSpc>
                <a:spcPts val="1575"/>
              </a:lnSpc>
              <a:spcAft>
                <a:spcPts val="900"/>
              </a:spcAft>
              <a:buNone/>
            </a:pPr>
            <a:r>
              <a:rPr lang="en-US" sz="1125" dirty="0">
                <a:solidFill>
                  <a:srgbClr val="FFFFFF"/>
                </a:solidFill>
                <a:latin typeface="Georgia" pitchFamily="34" charset="0"/>
                <a:ea typeface="Georgia" pitchFamily="34" charset="-122"/>
                <a:cs typeface="Georgia" pitchFamily="34" charset="-120"/>
              </a:rPr>
              <a:t>Train Your Vocabulary</a:t>
            </a:r>
            <a:endParaRPr lang="en-US" sz="1125" dirty="0"/>
          </a:p>
        </p:txBody>
      </p:sp>
      <p:sp>
        <p:nvSpPr>
          <p:cNvPr id="23" name="Text 21"/>
          <p:cNvSpPr/>
          <p:nvPr/>
        </p:nvSpPr>
        <p:spPr>
          <a:xfrm>
            <a:off x="6972300" y="3175695"/>
            <a:ext cx="1515618"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Add technical terms, project names, and acronyms to improve recognition accuracy.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5391894" cy="5143500"/>
          </a:xfrm>
          <a:prstGeom prst="rect">
            <a:avLst/>
          </a:prstGeom>
          <a:solidFill>
            <a:srgbClr val="F7F8FA"/>
          </a:solidFill>
          <a:ln/>
        </p:spPr>
        <p:txBody>
          <a:bodyPr wrap="square" rtlCol="0" anchor="ctr"/>
          <a:lstStyle/>
          <a:p>
            <a:pPr indent="0" marL="0">
              <a:buNone/>
            </a:pPr>
            <a:endParaRPr lang="en-US" dirty="0"/>
          </a:p>
        </p:txBody>
      </p:sp>
      <p:sp>
        <p:nvSpPr>
          <p:cNvPr id="3" name="Text 1"/>
          <p:cNvSpPr/>
          <p:nvPr/>
        </p:nvSpPr>
        <p:spPr>
          <a:xfrm>
            <a:off x="381000" y="418505"/>
            <a:ext cx="2041166"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CROSS-PLATFORM OPTION</a:t>
            </a:r>
            <a:endParaRPr lang="en-US" sz="825" dirty="0"/>
          </a:p>
        </p:txBody>
      </p:sp>
      <p:sp>
        <p:nvSpPr>
          <p:cNvPr id="4" name="Text 2"/>
          <p:cNvSpPr/>
          <p:nvPr/>
        </p:nvSpPr>
        <p:spPr>
          <a:xfrm>
            <a:off x="381000" y="793700"/>
            <a:ext cx="2370582" cy="342900"/>
          </a:xfrm>
          <a:prstGeom prst="rect">
            <a:avLst/>
          </a:prstGeom>
          <a:noFill/>
          <a:ln/>
        </p:spPr>
        <p:txBody>
          <a:bodyPr wrap="square" lIns="0" tIns="0" rIns="0" bIns="0" rtlCol="0" anchor="t"/>
          <a:lstStyle/>
          <a:p>
            <a:pPr algn="l" indent="0" marL="0">
              <a:lnSpc>
                <a:spcPts val="2700"/>
              </a:lnSpc>
              <a:spcAft>
                <a:spcPts val="600"/>
              </a:spcAft>
              <a:buNone/>
            </a:pPr>
            <a:r>
              <a:rPr lang="en-US" sz="2700" dirty="0">
                <a:solidFill>
                  <a:srgbClr val="1A1F2E"/>
                </a:solidFill>
                <a:latin typeface="Georgia" pitchFamily="34" charset="0"/>
                <a:ea typeface="Georgia" pitchFamily="34" charset="-122"/>
                <a:cs typeface="Georgia" pitchFamily="34" charset="-120"/>
              </a:rPr>
              <a:t>WhisperFlow</a:t>
            </a:r>
            <a:endParaRPr lang="en-US" sz="2700" dirty="0"/>
          </a:p>
        </p:txBody>
      </p:sp>
      <p:sp>
        <p:nvSpPr>
          <p:cNvPr id="5" name="Text 3"/>
          <p:cNvSpPr/>
          <p:nvPr/>
        </p:nvSpPr>
        <p:spPr>
          <a:xfrm>
            <a:off x="381000" y="1365200"/>
            <a:ext cx="4722492" cy="186630"/>
          </a:xfrm>
          <a:prstGeom prst="rect">
            <a:avLst/>
          </a:prstGeom>
          <a:noFill/>
          <a:ln/>
        </p:spPr>
        <p:txBody>
          <a:bodyPr wrap="square" lIns="0" tIns="0" rIns="0" bIns="0" rtlCol="0" anchor="t"/>
          <a:lstStyle/>
          <a:p>
            <a:pPr algn="l" indent="0" marL="0">
              <a:lnSpc>
                <a:spcPts val="1470"/>
              </a:lnSpc>
              <a:spcAft>
                <a:spcPts val="1800"/>
              </a:spcAft>
              <a:buNone/>
            </a:pPr>
            <a:r>
              <a:rPr lang="en-US" sz="1050" dirty="0">
                <a:solidFill>
                  <a:srgbClr val="6B7280"/>
                </a:solidFill>
                <a:latin typeface="Arial" pitchFamily="34" charset="0"/>
                <a:ea typeface="Arial" pitchFamily="34" charset="-122"/>
                <a:cs typeface="Arial" pitchFamily="34" charset="-120"/>
              </a:rPr>
              <a:t>Local Whisper AI for Windows, Mac, and Linux</a:t>
            </a:r>
            <a:endParaRPr lang="en-US" sz="1050" dirty="0"/>
          </a:p>
        </p:txBody>
      </p:sp>
      <p:sp>
        <p:nvSpPr>
          <p:cNvPr id="6" name="Text 4"/>
          <p:cNvSpPr/>
          <p:nvPr/>
        </p:nvSpPr>
        <p:spPr>
          <a:xfrm>
            <a:off x="381000" y="1932831"/>
            <a:ext cx="4629894" cy="101500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7" name="Text 5"/>
          <p:cNvSpPr/>
          <p:nvPr/>
        </p:nvSpPr>
        <p:spPr>
          <a:xfrm>
            <a:off x="581025" y="2132856"/>
            <a:ext cx="4314441"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What It Is</a:t>
            </a:r>
            <a:endParaRPr lang="en-US" sz="975" dirty="0"/>
          </a:p>
        </p:txBody>
      </p:sp>
      <p:sp>
        <p:nvSpPr>
          <p:cNvPr id="8" name="Text 6"/>
          <p:cNvSpPr/>
          <p:nvPr/>
        </p:nvSpPr>
        <p:spPr>
          <a:xfrm>
            <a:off x="581025" y="2382292"/>
            <a:ext cx="4314441"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An open-source voice transcription tool that runs locally on any platform. Uses the same Whisper AI models as SuperWhisper.</a:t>
            </a:r>
            <a:endParaRPr lang="en-US" sz="900" dirty="0"/>
          </a:p>
        </p:txBody>
      </p:sp>
      <p:sp>
        <p:nvSpPr>
          <p:cNvPr id="9" name="Text 7"/>
          <p:cNvSpPr/>
          <p:nvPr/>
        </p:nvSpPr>
        <p:spPr>
          <a:xfrm>
            <a:off x="381000" y="3252639"/>
            <a:ext cx="4629894" cy="147220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0" name="Text 8"/>
          <p:cNvSpPr/>
          <p:nvPr/>
        </p:nvSpPr>
        <p:spPr>
          <a:xfrm>
            <a:off x="581025" y="3452664"/>
            <a:ext cx="4314441"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Key Advantages</a:t>
            </a:r>
            <a:endParaRPr lang="en-US" sz="975" dirty="0"/>
          </a:p>
        </p:txBody>
      </p:sp>
      <p:sp>
        <p:nvSpPr>
          <p:cNvPr id="11" name="Text 9"/>
          <p:cNvSpPr/>
          <p:nvPr/>
        </p:nvSpPr>
        <p:spPr>
          <a:xfrm>
            <a:off x="581025" y="3702100"/>
            <a:ext cx="4314441" cy="82272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Works on Windows, Mac, Linux</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100% local processing</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Open source and free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Command-line friendly</a:t>
            </a:r>
            <a:endParaRPr lang="en-US" sz="900" dirty="0"/>
          </a:p>
        </p:txBody>
      </p:sp>
      <p:sp>
        <p:nvSpPr>
          <p:cNvPr id="12" name="Text 10"/>
          <p:cNvSpPr/>
          <p:nvPr/>
        </p:nvSpPr>
        <p:spPr>
          <a:xfrm>
            <a:off x="5544294" y="0"/>
            <a:ext cx="3599706" cy="5143500"/>
          </a:xfrm>
          <a:prstGeom prst="rect">
            <a:avLst/>
          </a:prstGeom>
          <a:solidFill>
            <a:srgbClr val="1A1F2E"/>
          </a:solidFill>
          <a:ln/>
        </p:spPr>
        <p:txBody>
          <a:bodyPr wrap="square" rtlCol="0" anchor="ctr"/>
          <a:lstStyle/>
          <a:p>
            <a:pPr indent="0" marL="0">
              <a:buNone/>
            </a:pPr>
            <a:endParaRPr lang="en-US" dirty="0"/>
          </a:p>
        </p:txBody>
      </p:sp>
      <p:sp>
        <p:nvSpPr>
          <p:cNvPr id="13" name="Text 11"/>
          <p:cNvSpPr/>
          <p:nvPr/>
        </p:nvSpPr>
        <p:spPr>
          <a:xfrm>
            <a:off x="6867823" y="1263104"/>
            <a:ext cx="952500" cy="952500"/>
          </a:xfrm>
          <a:prstGeom prst="rect">
            <a:avLst/>
          </a:prstGeom>
          <a:solidFill>
            <a:srgbClr val="C9A227"/>
          </a:solidFill>
          <a:ln/>
        </p:spPr>
        <p:txBody>
          <a:bodyPr wrap="square" rtlCol="0" anchor="ctr"/>
          <a:lstStyle/>
          <a:p>
            <a:pPr indent="0" marL="0">
              <a:buNone/>
            </a:pPr>
            <a:endParaRPr lang="en-US" dirty="0"/>
          </a:p>
        </p:txBody>
      </p:sp>
      <p:sp>
        <p:nvSpPr>
          <p:cNvPr id="14" name="Text 12"/>
          <p:cNvSpPr/>
          <p:nvPr/>
        </p:nvSpPr>
        <p:spPr>
          <a:xfrm>
            <a:off x="6925852" y="1552724"/>
            <a:ext cx="836292" cy="373261"/>
          </a:xfrm>
          <a:prstGeom prst="rect">
            <a:avLst/>
          </a:prstGeom>
          <a:noFill/>
          <a:ln/>
        </p:spPr>
        <p:txBody>
          <a:bodyPr wrap="square" lIns="0" tIns="0" rIns="0" bIns="0" rtlCol="0" anchor="t"/>
          <a:lstStyle/>
          <a:p>
            <a:pPr algn="ctr" indent="0" marL="0">
              <a:lnSpc>
                <a:spcPts val="1470"/>
              </a:lnSpc>
              <a:buNone/>
            </a:pPr>
            <a:r>
              <a:rPr lang="en-US" sz="1050" dirty="0">
                <a:solidFill>
                  <a:srgbClr val="1A1F2E"/>
                </a:solidFill>
                <a:latin typeface="Arial" pitchFamily="34" charset="0"/>
                <a:ea typeface="Arial" pitchFamily="34" charset="-122"/>
                <a:cs typeface="Arial" pitchFamily="34" charset="-120"/>
              </a:rPr>
              <a:t>ALL</a:t>
            </a:r>
            <a:endParaRPr lang="en-US" sz="1050" dirty="0"/>
          </a:p>
          <a:p>
            <a:pPr algn="ctr" indent="0" marL="0">
              <a:lnSpc>
                <a:spcPts val="1470"/>
              </a:lnSpc>
              <a:buNone/>
            </a:pPr>
            <a:r>
              <a:rPr lang="en-US" sz="1050" dirty="0">
                <a:solidFill>
                  <a:srgbClr val="1A1F2E"/>
                </a:solidFill>
                <a:latin typeface="Arial" pitchFamily="34" charset="0"/>
                <a:ea typeface="Arial" pitchFamily="34" charset="-122"/>
                <a:cs typeface="Arial" pitchFamily="34" charset="-120"/>
              </a:rPr>
              <a:t>PLATFORMS</a:t>
            </a:r>
            <a:endParaRPr lang="en-US" sz="1050" dirty="0"/>
          </a:p>
        </p:txBody>
      </p:sp>
      <p:sp>
        <p:nvSpPr>
          <p:cNvPr id="15" name="Text 13"/>
          <p:cNvSpPr/>
          <p:nvPr/>
        </p:nvSpPr>
        <p:spPr>
          <a:xfrm>
            <a:off x="6739435" y="2596604"/>
            <a:ext cx="1209276" cy="239911"/>
          </a:xfrm>
          <a:prstGeom prst="rect">
            <a:avLst/>
          </a:prstGeom>
          <a:noFill/>
          <a:ln/>
        </p:spPr>
        <p:txBody>
          <a:bodyPr wrap="square" lIns="0" tIns="0" rIns="0" bIns="0" rtlCol="0" anchor="t"/>
          <a:lstStyle/>
          <a:p>
            <a:pPr algn="ctr" indent="0" marL="0">
              <a:lnSpc>
                <a:spcPts val="1890"/>
              </a:lnSpc>
              <a:spcAft>
                <a:spcPts val="600"/>
              </a:spcAft>
              <a:buNone/>
            </a:pPr>
            <a:r>
              <a:rPr lang="en-US" sz="1350" dirty="0">
                <a:solidFill>
                  <a:srgbClr val="FFFFFF"/>
                </a:solidFill>
                <a:latin typeface="Georgia" pitchFamily="34" charset="0"/>
                <a:ea typeface="Georgia" pitchFamily="34" charset="-122"/>
                <a:cs typeface="Georgia" pitchFamily="34" charset="-120"/>
              </a:rPr>
              <a:t>Universal Access</a:t>
            </a:r>
            <a:endParaRPr lang="en-US" sz="1350" dirty="0"/>
          </a:p>
        </p:txBody>
      </p:sp>
      <p:sp>
        <p:nvSpPr>
          <p:cNvPr id="16" name="Text 14"/>
          <p:cNvSpPr/>
          <p:nvPr/>
        </p:nvSpPr>
        <p:spPr>
          <a:xfrm>
            <a:off x="6141474" y="3065115"/>
            <a:ext cx="2405345" cy="198090"/>
          </a:xfrm>
          <a:prstGeom prst="rect">
            <a:avLst/>
          </a:prstGeom>
          <a:noFill/>
          <a:ln/>
        </p:spPr>
        <p:txBody>
          <a:bodyPr wrap="square" lIns="0" tIns="0" rIns="0" bIns="0" rtlCol="0" anchor="t"/>
          <a:lstStyle/>
          <a:p>
            <a:pPr algn="ctr" indent="0" marL="0">
              <a:lnSpc>
                <a:spcPts val="1560"/>
              </a:lnSpc>
              <a:buNone/>
            </a:pPr>
            <a:r>
              <a:rPr lang="en-US" sz="975" dirty="0">
                <a:solidFill>
                  <a:srgbClr val="FFFFFF">
                    <a:alpha val="60000"/>
                  </a:srgbClr>
                </a:solidFill>
                <a:latin typeface="Arial" pitchFamily="34" charset="0"/>
                <a:ea typeface="Arial" pitchFamily="34" charset="-122"/>
                <a:cs typeface="Arial" pitchFamily="34" charset="-120"/>
              </a:rPr>
              <a:t>Windows users: This is your primary option</a:t>
            </a:r>
            <a:endParaRPr lang="en-US" sz="975" dirty="0"/>
          </a:p>
        </p:txBody>
      </p:sp>
      <p:sp>
        <p:nvSpPr>
          <p:cNvPr id="17" name="Text 15"/>
          <p:cNvSpPr/>
          <p:nvPr/>
        </p:nvSpPr>
        <p:spPr>
          <a:xfrm>
            <a:off x="5925294" y="4297710"/>
            <a:ext cx="2837706" cy="464790"/>
          </a:xfrm>
          <a:prstGeom prst="rect">
            <a:avLst/>
          </a:prstGeom>
          <a:solidFill>
            <a:srgbClr val="059669"/>
          </a:solidFill>
          <a:ln/>
        </p:spPr>
        <p:txBody>
          <a:bodyPr wrap="square" rtlCol="0" anchor="ctr"/>
          <a:lstStyle/>
          <a:p>
            <a:pPr indent="0" marL="0">
              <a:buNone/>
            </a:pPr>
            <a:endParaRPr lang="en-US" dirty="0"/>
          </a:p>
        </p:txBody>
      </p:sp>
      <p:sp>
        <p:nvSpPr>
          <p:cNvPr id="18" name="Text 16"/>
          <p:cNvSpPr/>
          <p:nvPr/>
        </p:nvSpPr>
        <p:spPr>
          <a:xfrm>
            <a:off x="6052365" y="4450110"/>
            <a:ext cx="2583564" cy="159990"/>
          </a:xfrm>
          <a:prstGeom prst="rect">
            <a:avLst/>
          </a:prstGeom>
          <a:noFill/>
          <a:ln/>
        </p:spPr>
        <p:txBody>
          <a:bodyPr wrap="square" lIns="0" tIns="0" rIns="0" bIns="0" rtlCol="0" anchor="t"/>
          <a:lstStyle/>
          <a:p>
            <a:pPr algn="ctr" indent="0" marL="0">
              <a:lnSpc>
                <a:spcPts val="1260"/>
              </a:lnSpc>
              <a:buNone/>
            </a:pPr>
            <a:r>
              <a:rPr lang="en-US" sz="900" dirty="0">
                <a:solidFill>
                  <a:srgbClr val="FFFFFF"/>
                </a:solidFill>
                <a:latin typeface="Arial" pitchFamily="34" charset="0"/>
                <a:ea typeface="Arial" pitchFamily="34" charset="-122"/>
                <a:cs typeface="Arial" pitchFamily="34" charset="-120"/>
              </a:rPr>
              <a:t>Same privacy guarantees as SuperWhisper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CAPABILITIES</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WhisperFlow Features</a:t>
            </a:r>
            <a:endParaRPr lang="en-US" sz="2400" dirty="0"/>
          </a:p>
        </p:txBody>
      </p:sp>
      <p:sp>
        <p:nvSpPr>
          <p:cNvPr id="4" name="Text 2"/>
          <p:cNvSpPr/>
          <p:nvPr/>
        </p:nvSpPr>
        <p:spPr>
          <a:xfrm>
            <a:off x="457200" y="1633686"/>
            <a:ext cx="4038600" cy="826591"/>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76250" y="1633686"/>
            <a:ext cx="0" cy="826591"/>
          </a:xfrm>
          <a:prstGeom prst="line">
            <a:avLst/>
          </a:prstGeom>
          <a:noFill/>
          <a:ln w="38100">
            <a:solidFill>
              <a:srgbClr val="C9A227"/>
            </a:solidFill>
            <a:prstDash val="solid"/>
          </a:ln>
        </p:spPr>
      </p:sp>
      <p:sp>
        <p:nvSpPr>
          <p:cNvPr id="6" name="Text 4"/>
          <p:cNvSpPr/>
          <p:nvPr/>
        </p:nvSpPr>
        <p:spPr>
          <a:xfrm>
            <a:off x="685800" y="1824186"/>
            <a:ext cx="36918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Real-Time Transcription</a:t>
            </a:r>
            <a:endParaRPr lang="en-US" sz="1050" dirty="0"/>
          </a:p>
        </p:txBody>
      </p:sp>
      <p:sp>
        <p:nvSpPr>
          <p:cNvPr id="7" name="Text 5"/>
          <p:cNvSpPr/>
          <p:nvPr/>
        </p:nvSpPr>
        <p:spPr>
          <a:xfrm>
            <a:off x="685800" y="2087017"/>
            <a:ext cx="3691890" cy="182761"/>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See text appear as you speak with minimal latency</a:t>
            </a:r>
            <a:endParaRPr lang="en-US" sz="900" dirty="0"/>
          </a:p>
        </p:txBody>
      </p:sp>
      <p:sp>
        <p:nvSpPr>
          <p:cNvPr id="8" name="Text 6"/>
          <p:cNvSpPr/>
          <p:nvPr/>
        </p:nvSpPr>
        <p:spPr>
          <a:xfrm>
            <a:off x="457200" y="2574578"/>
            <a:ext cx="4038600" cy="826591"/>
          </a:xfrm>
          <a:prstGeom prst="rect">
            <a:avLst/>
          </a:prstGeom>
          <a:solidFill>
            <a:srgbClr val="FFFFFF"/>
          </a:solidFill>
          <a:ln/>
        </p:spPr>
        <p:txBody>
          <a:bodyPr wrap="square" rtlCol="0" anchor="ctr"/>
          <a:lstStyle/>
          <a:p>
            <a:pPr indent="0" marL="0">
              <a:buNone/>
            </a:pPr>
            <a:endParaRPr lang="en-US" dirty="0"/>
          </a:p>
        </p:txBody>
      </p:sp>
      <p:sp>
        <p:nvSpPr>
          <p:cNvPr id="9" name="Shape 7"/>
          <p:cNvSpPr/>
          <p:nvPr/>
        </p:nvSpPr>
        <p:spPr>
          <a:xfrm>
            <a:off x="476250" y="2574578"/>
            <a:ext cx="0" cy="826591"/>
          </a:xfrm>
          <a:prstGeom prst="line">
            <a:avLst/>
          </a:prstGeom>
          <a:noFill/>
          <a:ln w="38100">
            <a:solidFill>
              <a:srgbClr val="C9A227"/>
            </a:solidFill>
            <a:prstDash val="solid"/>
          </a:ln>
        </p:spPr>
      </p:sp>
      <p:sp>
        <p:nvSpPr>
          <p:cNvPr id="10" name="Text 8"/>
          <p:cNvSpPr/>
          <p:nvPr/>
        </p:nvSpPr>
        <p:spPr>
          <a:xfrm>
            <a:off x="685800" y="2765078"/>
            <a:ext cx="36918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Multiple Model Sizes</a:t>
            </a:r>
            <a:endParaRPr lang="en-US" sz="1050" dirty="0"/>
          </a:p>
        </p:txBody>
      </p:sp>
      <p:sp>
        <p:nvSpPr>
          <p:cNvPr id="11" name="Text 9"/>
          <p:cNvSpPr/>
          <p:nvPr/>
        </p:nvSpPr>
        <p:spPr>
          <a:xfrm>
            <a:off x="685800" y="3027908"/>
            <a:ext cx="3691890" cy="182761"/>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Choose between speed and accuracy based on your hardware</a:t>
            </a:r>
            <a:endParaRPr lang="en-US" sz="900" dirty="0"/>
          </a:p>
        </p:txBody>
      </p:sp>
      <p:sp>
        <p:nvSpPr>
          <p:cNvPr id="12" name="Text 10"/>
          <p:cNvSpPr/>
          <p:nvPr/>
        </p:nvSpPr>
        <p:spPr>
          <a:xfrm>
            <a:off x="457200" y="3515469"/>
            <a:ext cx="4038600" cy="826591"/>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476250" y="3515469"/>
            <a:ext cx="0" cy="826591"/>
          </a:xfrm>
          <a:prstGeom prst="line">
            <a:avLst/>
          </a:prstGeom>
          <a:noFill/>
          <a:ln w="38100">
            <a:solidFill>
              <a:srgbClr val="C9A227"/>
            </a:solidFill>
            <a:prstDash val="solid"/>
          </a:ln>
        </p:spPr>
      </p:sp>
      <p:sp>
        <p:nvSpPr>
          <p:cNvPr id="14" name="Text 12"/>
          <p:cNvSpPr/>
          <p:nvPr/>
        </p:nvSpPr>
        <p:spPr>
          <a:xfrm>
            <a:off x="685800" y="3705969"/>
            <a:ext cx="36918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Language Detection</a:t>
            </a:r>
            <a:endParaRPr lang="en-US" sz="1050" dirty="0"/>
          </a:p>
        </p:txBody>
      </p:sp>
      <p:sp>
        <p:nvSpPr>
          <p:cNvPr id="15" name="Text 13"/>
          <p:cNvSpPr/>
          <p:nvPr/>
        </p:nvSpPr>
        <p:spPr>
          <a:xfrm>
            <a:off x="685800" y="3968800"/>
            <a:ext cx="3691890" cy="182761"/>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Automatic detection of 99+ languages</a:t>
            </a:r>
            <a:endParaRPr lang="en-US" sz="900" dirty="0"/>
          </a:p>
        </p:txBody>
      </p:sp>
      <p:sp>
        <p:nvSpPr>
          <p:cNvPr id="16" name="Text 14"/>
          <p:cNvSpPr/>
          <p:nvPr/>
        </p:nvSpPr>
        <p:spPr>
          <a:xfrm>
            <a:off x="4648200" y="1633686"/>
            <a:ext cx="4038600" cy="826591"/>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4667250" y="1633686"/>
            <a:ext cx="0" cy="826591"/>
          </a:xfrm>
          <a:prstGeom prst="line">
            <a:avLst/>
          </a:prstGeom>
          <a:noFill/>
          <a:ln w="38100">
            <a:solidFill>
              <a:srgbClr val="C9A227"/>
            </a:solidFill>
            <a:prstDash val="solid"/>
          </a:ln>
        </p:spPr>
      </p:sp>
      <p:sp>
        <p:nvSpPr>
          <p:cNvPr id="18" name="Text 16"/>
          <p:cNvSpPr/>
          <p:nvPr/>
        </p:nvSpPr>
        <p:spPr>
          <a:xfrm>
            <a:off x="4876800" y="1824186"/>
            <a:ext cx="36918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Clipboard Integration</a:t>
            </a:r>
            <a:endParaRPr lang="en-US" sz="1050" dirty="0"/>
          </a:p>
        </p:txBody>
      </p:sp>
      <p:sp>
        <p:nvSpPr>
          <p:cNvPr id="19" name="Text 17"/>
          <p:cNvSpPr/>
          <p:nvPr/>
        </p:nvSpPr>
        <p:spPr>
          <a:xfrm>
            <a:off x="4876800" y="2087017"/>
            <a:ext cx="3691890" cy="182761"/>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Auto-copy transcribed text for immediate pasting</a:t>
            </a:r>
            <a:endParaRPr lang="en-US" sz="900" dirty="0"/>
          </a:p>
        </p:txBody>
      </p:sp>
      <p:sp>
        <p:nvSpPr>
          <p:cNvPr id="20" name="Text 18"/>
          <p:cNvSpPr/>
          <p:nvPr/>
        </p:nvSpPr>
        <p:spPr>
          <a:xfrm>
            <a:off x="4648200" y="2574578"/>
            <a:ext cx="4038600" cy="826591"/>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4667250" y="2574578"/>
            <a:ext cx="0" cy="826591"/>
          </a:xfrm>
          <a:prstGeom prst="line">
            <a:avLst/>
          </a:prstGeom>
          <a:noFill/>
          <a:ln w="38100">
            <a:solidFill>
              <a:srgbClr val="C9A227"/>
            </a:solidFill>
            <a:prstDash val="solid"/>
          </a:ln>
        </p:spPr>
      </p:sp>
      <p:sp>
        <p:nvSpPr>
          <p:cNvPr id="22" name="Text 20"/>
          <p:cNvSpPr/>
          <p:nvPr/>
        </p:nvSpPr>
        <p:spPr>
          <a:xfrm>
            <a:off x="4876800" y="2765078"/>
            <a:ext cx="3691890"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Hotkey Activation</a:t>
            </a:r>
            <a:endParaRPr lang="en-US" sz="1050" dirty="0"/>
          </a:p>
        </p:txBody>
      </p:sp>
      <p:sp>
        <p:nvSpPr>
          <p:cNvPr id="23" name="Text 21"/>
          <p:cNvSpPr/>
          <p:nvPr/>
        </p:nvSpPr>
        <p:spPr>
          <a:xfrm>
            <a:off x="4876800" y="3027908"/>
            <a:ext cx="3691890" cy="182761"/>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Customizable keyboard shortcuts for hands-free control</a:t>
            </a:r>
            <a:endParaRPr lang="en-US" sz="900" dirty="0"/>
          </a:p>
        </p:txBody>
      </p:sp>
      <p:sp>
        <p:nvSpPr>
          <p:cNvPr id="24" name="Text 22"/>
          <p:cNvSpPr/>
          <p:nvPr/>
        </p:nvSpPr>
        <p:spPr>
          <a:xfrm>
            <a:off x="4648200" y="3515469"/>
            <a:ext cx="4038600" cy="826591"/>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4838700" y="3705969"/>
            <a:ext cx="3730752"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C9A227"/>
                </a:solidFill>
                <a:latin typeface="Georgia" pitchFamily="34" charset="0"/>
                <a:ea typeface="Georgia" pitchFamily="34" charset="-122"/>
                <a:cs typeface="Georgia" pitchFamily="34" charset="-120"/>
              </a:rPr>
              <a:t>GPU Acceleration</a:t>
            </a:r>
            <a:endParaRPr lang="en-US" sz="1050" dirty="0"/>
          </a:p>
        </p:txBody>
      </p:sp>
      <p:sp>
        <p:nvSpPr>
          <p:cNvPr id="26" name="Text 24"/>
          <p:cNvSpPr/>
          <p:nvPr/>
        </p:nvSpPr>
        <p:spPr>
          <a:xfrm>
            <a:off x="4838700" y="3968800"/>
            <a:ext cx="3730752" cy="182761"/>
          </a:xfrm>
          <a:prstGeom prst="rect">
            <a:avLst/>
          </a:prstGeom>
          <a:noFill/>
          <a:ln/>
        </p:spPr>
        <p:txBody>
          <a:bodyPr wrap="square" lIns="0" tIns="0" rIns="0" bIns="0" rtlCol="0" anchor="t"/>
          <a:lstStyle/>
          <a:p>
            <a:pPr algn="l" indent="0" marL="0">
              <a:lnSpc>
                <a:spcPts val="1440"/>
              </a:lnSpc>
              <a:buNone/>
            </a:pPr>
            <a:r>
              <a:rPr lang="en-US" sz="900" dirty="0">
                <a:solidFill>
                  <a:srgbClr val="FFFFFF">
                    <a:alpha val="70000"/>
                  </a:srgbClr>
                </a:solidFill>
                <a:latin typeface="Arial" pitchFamily="34" charset="0"/>
                <a:ea typeface="Arial" pitchFamily="34" charset="-122"/>
                <a:cs typeface="Arial" pitchFamily="34" charset="-120"/>
              </a:rPr>
              <a:t>CUDA support for NVIDIA GPUs dramatically improves performance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151584"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81000" y="1541264"/>
            <a:ext cx="2437376"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INSTALLATION</a:t>
            </a:r>
            <a:endParaRPr lang="en-US" sz="825" dirty="0"/>
          </a:p>
        </p:txBody>
      </p:sp>
      <p:sp>
        <p:nvSpPr>
          <p:cNvPr id="4" name="Text 2"/>
          <p:cNvSpPr/>
          <p:nvPr/>
        </p:nvSpPr>
        <p:spPr>
          <a:xfrm>
            <a:off x="381000" y="1992660"/>
            <a:ext cx="1700213" cy="731341"/>
          </a:xfrm>
          <a:prstGeom prst="rect">
            <a:avLst/>
          </a:prstGeom>
          <a:noFill/>
          <a:ln/>
        </p:spPr>
        <p:txBody>
          <a:bodyPr wrap="square" lIns="0" tIns="0" rIns="0" bIns="0" rtlCol="0" anchor="t"/>
          <a:lstStyle/>
          <a:p>
            <a:pPr algn="l" indent="0" marL="0">
              <a:lnSpc>
                <a:spcPts val="2880"/>
              </a:lnSpc>
              <a:buNone/>
            </a:pPr>
            <a:r>
              <a:rPr lang="en-US" sz="2400" dirty="0">
                <a:solidFill>
                  <a:srgbClr val="1A1F2E"/>
                </a:solidFill>
                <a:latin typeface="Georgia" pitchFamily="34" charset="0"/>
                <a:ea typeface="Georgia" pitchFamily="34" charset="-122"/>
                <a:cs typeface="Georgia" pitchFamily="34" charset="-120"/>
              </a:rPr>
              <a:t>WhisperFlow</a:t>
            </a:r>
            <a:endParaRPr lang="en-US" sz="2400" dirty="0"/>
          </a:p>
          <a:p>
            <a:pPr algn="l" indent="0" marL="0">
              <a:lnSpc>
                <a:spcPts val="2880"/>
              </a:lnSpc>
              <a:buNone/>
            </a:pPr>
            <a:r>
              <a:rPr lang="en-US" sz="2400" dirty="0">
                <a:solidFill>
                  <a:srgbClr val="1A1F2E"/>
                </a:solidFill>
                <a:latin typeface="Georgia" pitchFamily="34" charset="0"/>
                <a:ea typeface="Georgia" pitchFamily="34" charset="-122"/>
                <a:cs typeface="Georgia" pitchFamily="34" charset="-120"/>
              </a:rPr>
              <a:t>Setup Guide</a:t>
            </a:r>
            <a:endParaRPr lang="en-US" sz="2400" dirty="0"/>
          </a:p>
        </p:txBody>
      </p:sp>
      <p:sp>
        <p:nvSpPr>
          <p:cNvPr id="5" name="Text 3"/>
          <p:cNvSpPr/>
          <p:nvPr/>
        </p:nvSpPr>
        <p:spPr>
          <a:xfrm>
            <a:off x="381000" y="3066901"/>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81000" y="3428851"/>
            <a:ext cx="2437376" cy="173236"/>
          </a:xfrm>
          <a:prstGeom prst="rect">
            <a:avLst/>
          </a:prstGeom>
          <a:noFill/>
          <a:ln/>
        </p:spPr>
        <p:txBody>
          <a:bodyPr wrap="square" lIns="0" tIns="0" rIns="0" bIns="0" rtlCol="0" anchor="t"/>
          <a:lstStyle/>
          <a:p>
            <a:pPr algn="l" indent="0" marL="0">
              <a:lnSpc>
                <a:spcPts val="1365"/>
              </a:lnSpc>
              <a:buNone/>
            </a:pPr>
            <a:r>
              <a:rPr lang="en-US" sz="975" dirty="0">
                <a:solidFill>
                  <a:srgbClr val="1A1F2E">
                    <a:alpha val="70000"/>
                  </a:srgbClr>
                </a:solidFill>
                <a:latin typeface="Arial" pitchFamily="34" charset="0"/>
                <a:ea typeface="Arial" pitchFamily="34" charset="-122"/>
                <a:cs typeface="Arial" pitchFamily="34" charset="-120"/>
              </a:rPr>
              <a:t>Cross-platform installation</a:t>
            </a:r>
            <a:endParaRPr lang="en-US" sz="975" dirty="0"/>
          </a:p>
        </p:txBody>
      </p:sp>
      <p:sp>
        <p:nvSpPr>
          <p:cNvPr id="7" name="Text 5"/>
          <p:cNvSpPr/>
          <p:nvPr/>
        </p:nvSpPr>
        <p:spPr>
          <a:xfrm>
            <a:off x="3303984" y="0"/>
            <a:ext cx="5840016"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3684984" y="701278"/>
            <a:ext cx="5078016" cy="69517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3885009" y="896392"/>
            <a:ext cx="304800" cy="304800"/>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4000202" y="955477"/>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11" name="Text 9"/>
          <p:cNvSpPr/>
          <p:nvPr/>
        </p:nvSpPr>
        <p:spPr>
          <a:xfrm>
            <a:off x="4494609" y="863203"/>
            <a:ext cx="1621729" cy="186630"/>
          </a:xfrm>
          <a:prstGeom prst="rect">
            <a:avLst/>
          </a:prstGeom>
          <a:noFill/>
          <a:ln/>
        </p:spPr>
        <p:txBody>
          <a:bodyPr wrap="square" lIns="0" tIns="0" rIns="0" bIns="0" rtlCol="0" anchor="t"/>
          <a:lstStyle/>
          <a:p>
            <a:pPr algn="l" indent="0" marL="0">
              <a:lnSpc>
                <a:spcPts val="1470"/>
              </a:lnSpc>
              <a:buNone/>
            </a:pPr>
            <a:r>
              <a:rPr lang="en-US" sz="1050" b="1" dirty="0">
                <a:solidFill>
                  <a:srgbClr val="1A1F2E"/>
                </a:solidFill>
                <a:latin typeface="Arial" pitchFamily="34" charset="0"/>
                <a:ea typeface="Arial" pitchFamily="34" charset="-122"/>
                <a:cs typeface="Arial" pitchFamily="34" charset="-120"/>
              </a:rPr>
              <a:t>Install Python 3.8+</a:t>
            </a:r>
            <a:endParaRPr lang="en-US" sz="1050" dirty="0"/>
          </a:p>
        </p:txBody>
      </p:sp>
      <p:sp>
        <p:nvSpPr>
          <p:cNvPr id="12" name="Text 10"/>
          <p:cNvSpPr/>
          <p:nvPr/>
        </p:nvSpPr>
        <p:spPr>
          <a:xfrm>
            <a:off x="4494609" y="1087934"/>
            <a:ext cx="162172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B7280"/>
                </a:solidFill>
                <a:latin typeface="Arial" pitchFamily="34" charset="0"/>
                <a:ea typeface="Arial" pitchFamily="34" charset="-122"/>
                <a:cs typeface="Arial" pitchFamily="34" charset="-120"/>
              </a:rPr>
              <a:t>Required for running WhisperFlow</a:t>
            </a:r>
            <a:endParaRPr lang="en-US" sz="825" dirty="0"/>
          </a:p>
        </p:txBody>
      </p:sp>
      <p:sp>
        <p:nvSpPr>
          <p:cNvPr id="13" name="Text 11"/>
          <p:cNvSpPr/>
          <p:nvPr/>
        </p:nvSpPr>
        <p:spPr>
          <a:xfrm>
            <a:off x="3684984" y="1510754"/>
            <a:ext cx="5078016" cy="69517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4" name="Text 12"/>
          <p:cNvSpPr/>
          <p:nvPr/>
        </p:nvSpPr>
        <p:spPr>
          <a:xfrm>
            <a:off x="3885009" y="1705868"/>
            <a:ext cx="304800" cy="30480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4000202" y="1764953"/>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16" name="Text 14"/>
          <p:cNvSpPr/>
          <p:nvPr/>
        </p:nvSpPr>
        <p:spPr>
          <a:xfrm>
            <a:off x="4494609" y="1672679"/>
            <a:ext cx="1693229" cy="186630"/>
          </a:xfrm>
          <a:prstGeom prst="rect">
            <a:avLst/>
          </a:prstGeom>
          <a:noFill/>
          <a:ln/>
        </p:spPr>
        <p:txBody>
          <a:bodyPr wrap="square" lIns="0" tIns="0" rIns="0" bIns="0" rtlCol="0" anchor="t"/>
          <a:lstStyle/>
          <a:p>
            <a:pPr algn="l" indent="0" marL="0">
              <a:lnSpc>
                <a:spcPts val="1470"/>
              </a:lnSpc>
              <a:buNone/>
            </a:pPr>
            <a:r>
              <a:rPr lang="en-US" sz="1050" b="1" dirty="0">
                <a:solidFill>
                  <a:srgbClr val="1A1F2E"/>
                </a:solidFill>
                <a:latin typeface="Arial" pitchFamily="34" charset="0"/>
                <a:ea typeface="Arial" pitchFamily="34" charset="-122"/>
                <a:cs typeface="Arial" pitchFamily="34" charset="-120"/>
              </a:rPr>
              <a:t>pip install whisperflow</a:t>
            </a:r>
            <a:endParaRPr lang="en-US" sz="1050" dirty="0"/>
          </a:p>
        </p:txBody>
      </p:sp>
      <p:sp>
        <p:nvSpPr>
          <p:cNvPr id="17" name="Text 15"/>
          <p:cNvSpPr/>
          <p:nvPr/>
        </p:nvSpPr>
        <p:spPr>
          <a:xfrm>
            <a:off x="4494609" y="1897410"/>
            <a:ext cx="169322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B7280"/>
                </a:solidFill>
                <a:latin typeface="Arial" pitchFamily="34" charset="0"/>
                <a:ea typeface="Arial" pitchFamily="34" charset="-122"/>
                <a:cs typeface="Arial" pitchFamily="34" charset="-120"/>
              </a:rPr>
              <a:t>Install via Python package manager</a:t>
            </a:r>
            <a:endParaRPr lang="en-US" sz="825" dirty="0"/>
          </a:p>
        </p:txBody>
      </p:sp>
      <p:sp>
        <p:nvSpPr>
          <p:cNvPr id="18" name="Text 16"/>
          <p:cNvSpPr/>
          <p:nvPr/>
        </p:nvSpPr>
        <p:spPr>
          <a:xfrm>
            <a:off x="3684984" y="2320230"/>
            <a:ext cx="5078016" cy="69517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885009" y="2515344"/>
            <a:ext cx="304800" cy="30480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4000202" y="2574429"/>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21" name="Text 19"/>
          <p:cNvSpPr/>
          <p:nvPr/>
        </p:nvSpPr>
        <p:spPr>
          <a:xfrm>
            <a:off x="4494609" y="2482155"/>
            <a:ext cx="2043443" cy="186630"/>
          </a:xfrm>
          <a:prstGeom prst="rect">
            <a:avLst/>
          </a:prstGeom>
          <a:noFill/>
          <a:ln/>
        </p:spPr>
        <p:txBody>
          <a:bodyPr wrap="square" lIns="0" tIns="0" rIns="0" bIns="0" rtlCol="0" anchor="t"/>
          <a:lstStyle/>
          <a:p>
            <a:pPr algn="l" indent="0" marL="0">
              <a:lnSpc>
                <a:spcPts val="1470"/>
              </a:lnSpc>
              <a:buNone/>
            </a:pPr>
            <a:r>
              <a:rPr lang="en-US" sz="1050" b="1" dirty="0">
                <a:solidFill>
                  <a:srgbClr val="1A1F2E"/>
                </a:solidFill>
                <a:latin typeface="Arial" pitchFamily="34" charset="0"/>
                <a:ea typeface="Arial" pitchFamily="34" charset="-122"/>
                <a:cs typeface="Arial" pitchFamily="34" charset="-120"/>
              </a:rPr>
              <a:t>Download Whisper model</a:t>
            </a:r>
            <a:endParaRPr lang="en-US" sz="1050" dirty="0"/>
          </a:p>
        </p:txBody>
      </p:sp>
      <p:sp>
        <p:nvSpPr>
          <p:cNvPr id="22" name="Text 20"/>
          <p:cNvSpPr/>
          <p:nvPr/>
        </p:nvSpPr>
        <p:spPr>
          <a:xfrm>
            <a:off x="4494609" y="2706886"/>
            <a:ext cx="204344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B7280"/>
                </a:solidFill>
                <a:latin typeface="Arial" pitchFamily="34" charset="0"/>
                <a:ea typeface="Arial" pitchFamily="34" charset="-122"/>
                <a:cs typeface="Arial" pitchFamily="34" charset="-120"/>
              </a:rPr>
              <a:t>First run will download your selected model</a:t>
            </a:r>
            <a:endParaRPr lang="en-US" sz="825" dirty="0"/>
          </a:p>
        </p:txBody>
      </p:sp>
      <p:sp>
        <p:nvSpPr>
          <p:cNvPr id="23" name="Text 21"/>
          <p:cNvSpPr/>
          <p:nvPr/>
        </p:nvSpPr>
        <p:spPr>
          <a:xfrm>
            <a:off x="3684984" y="3129707"/>
            <a:ext cx="5078016" cy="69517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3885009" y="3324820"/>
            <a:ext cx="304800" cy="304800"/>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4000202" y="3383905"/>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4</a:t>
            </a:r>
            <a:endParaRPr lang="en-US" sz="1050" dirty="0"/>
          </a:p>
        </p:txBody>
      </p:sp>
      <p:sp>
        <p:nvSpPr>
          <p:cNvPr id="26" name="Text 24"/>
          <p:cNvSpPr/>
          <p:nvPr/>
        </p:nvSpPr>
        <p:spPr>
          <a:xfrm>
            <a:off x="4494609" y="3291632"/>
            <a:ext cx="2207088" cy="186630"/>
          </a:xfrm>
          <a:prstGeom prst="rect">
            <a:avLst/>
          </a:prstGeom>
          <a:noFill/>
          <a:ln/>
        </p:spPr>
        <p:txBody>
          <a:bodyPr wrap="square" lIns="0" tIns="0" rIns="0" bIns="0" rtlCol="0" anchor="t"/>
          <a:lstStyle/>
          <a:p>
            <a:pPr algn="l" indent="0" marL="0">
              <a:lnSpc>
                <a:spcPts val="1470"/>
              </a:lnSpc>
              <a:buNone/>
            </a:pPr>
            <a:r>
              <a:rPr lang="en-US" sz="1050" b="1" dirty="0">
                <a:solidFill>
                  <a:srgbClr val="1A1F2E"/>
                </a:solidFill>
                <a:latin typeface="Arial" pitchFamily="34" charset="0"/>
                <a:ea typeface="Arial" pitchFamily="34" charset="-122"/>
                <a:cs typeface="Arial" pitchFamily="34" charset="-120"/>
              </a:rPr>
              <a:t>Configure hotkey and preferences</a:t>
            </a:r>
            <a:endParaRPr lang="en-US" sz="1050" dirty="0"/>
          </a:p>
        </p:txBody>
      </p:sp>
      <p:sp>
        <p:nvSpPr>
          <p:cNvPr id="27" name="Text 25"/>
          <p:cNvSpPr/>
          <p:nvPr/>
        </p:nvSpPr>
        <p:spPr>
          <a:xfrm>
            <a:off x="4494609" y="3516362"/>
            <a:ext cx="2207088"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B7280"/>
                </a:solidFill>
                <a:latin typeface="Arial" pitchFamily="34" charset="0"/>
                <a:ea typeface="Arial" pitchFamily="34" charset="-122"/>
                <a:cs typeface="Arial" pitchFamily="34" charset="-120"/>
              </a:rPr>
              <a:t>Set up your activation shortcut</a:t>
            </a:r>
            <a:endParaRPr lang="en-US" sz="825" dirty="0"/>
          </a:p>
        </p:txBody>
      </p:sp>
      <p:sp>
        <p:nvSpPr>
          <p:cNvPr id="28" name="Text 26"/>
          <p:cNvSpPr/>
          <p:nvPr/>
        </p:nvSpPr>
        <p:spPr>
          <a:xfrm>
            <a:off x="3684984" y="4015383"/>
            <a:ext cx="5078016" cy="426690"/>
          </a:xfrm>
          <a:prstGeom prst="rect">
            <a:avLst/>
          </a:prstGeom>
          <a:solidFill>
            <a:srgbClr val="FEF3C7"/>
          </a:solidFill>
          <a:ln/>
        </p:spPr>
        <p:txBody>
          <a:bodyPr wrap="square" rtlCol="0" anchor="ctr"/>
          <a:lstStyle/>
          <a:p>
            <a:pPr indent="0" marL="0">
              <a:buNone/>
            </a:pPr>
            <a:endParaRPr lang="en-US" dirty="0"/>
          </a:p>
        </p:txBody>
      </p:sp>
      <p:sp>
        <p:nvSpPr>
          <p:cNvPr id="29" name="Shape 27"/>
          <p:cNvSpPr/>
          <p:nvPr/>
        </p:nvSpPr>
        <p:spPr>
          <a:xfrm>
            <a:off x="3704034" y="4015383"/>
            <a:ext cx="0" cy="426690"/>
          </a:xfrm>
          <a:prstGeom prst="line">
            <a:avLst/>
          </a:prstGeom>
          <a:noFill/>
          <a:ln w="38100">
            <a:solidFill>
              <a:srgbClr val="F59E0B"/>
            </a:solidFill>
            <a:prstDash val="solid"/>
          </a:ln>
        </p:spPr>
      </p:sp>
      <p:sp>
        <p:nvSpPr>
          <p:cNvPr id="30" name="Text 28"/>
          <p:cNvSpPr/>
          <p:nvPr/>
        </p:nvSpPr>
        <p:spPr>
          <a:xfrm>
            <a:off x="3913584" y="4148733"/>
            <a:ext cx="4752094" cy="159990"/>
          </a:xfrm>
          <a:prstGeom prst="rect">
            <a:avLst/>
          </a:prstGeom>
          <a:noFill/>
          <a:ln/>
        </p:spPr>
        <p:txBody>
          <a:bodyPr wrap="square" lIns="0" tIns="0" rIns="0" bIns="0" rtlCol="0" anchor="t"/>
          <a:lstStyle/>
          <a:p>
            <a:pPr algn="l" indent="0" marL="0">
              <a:lnSpc>
                <a:spcPts val="1260"/>
              </a:lnSpc>
              <a:buNone/>
            </a:pPr>
            <a:r>
              <a:rPr lang="en-US" sz="900" b="1" dirty="0">
                <a:solidFill>
                  <a:srgbClr val="92400E"/>
                </a:solidFill>
                <a:latin typeface="Arial" pitchFamily="34" charset="0"/>
                <a:ea typeface="Arial" pitchFamily="34" charset="-122"/>
                <a:cs typeface="Arial" pitchFamily="34" charset="-120"/>
              </a:rPr>
              <a:t>Tip:</a:t>
            </a:r>
            <a:pPr algn="l" indent="0" marL="0">
              <a:lnSpc>
                <a:spcPts val="1260"/>
              </a:lnSpc>
              <a:buNone/>
            </a:pPr>
            <a:r>
              <a:rPr lang="en-US" sz="900" dirty="0">
                <a:solidFill>
                  <a:srgbClr val="92400E"/>
                </a:solidFill>
                <a:latin typeface="Arial" pitchFamily="34" charset="0"/>
                <a:ea typeface="Arial" pitchFamily="34" charset="-122"/>
                <a:cs typeface="Arial" pitchFamily="34" charset="-120"/>
              </a:rPr>
              <a:t> For NVIDIA GPU users, install CUDA for 5-10x faster transcription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DECISION GUIDE</a:t>
            </a:r>
            <a:endParaRPr lang="en-US" sz="825" dirty="0"/>
          </a:p>
        </p:txBody>
      </p:sp>
      <p:sp>
        <p:nvSpPr>
          <p:cNvPr id="3" name="Text 1"/>
          <p:cNvSpPr/>
          <p:nvPr/>
        </p:nvSpPr>
        <p:spPr>
          <a:xfrm>
            <a:off x="457200" y="45139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Voice Tool Comparison Matrix</a:t>
            </a:r>
            <a:endParaRPr lang="en-US" sz="2100" dirty="0"/>
          </a:p>
        </p:txBody>
      </p:sp>
      <p:sp>
        <p:nvSpPr>
          <p:cNvPr id="4" name="Text 2"/>
          <p:cNvSpPr/>
          <p:nvPr/>
        </p:nvSpPr>
        <p:spPr>
          <a:xfrm>
            <a:off x="457200" y="1042243"/>
            <a:ext cx="8229600" cy="337096"/>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09600" y="1137493"/>
            <a:ext cx="1461272"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Tool</a:t>
            </a:r>
            <a:endParaRPr lang="en-US" sz="825" dirty="0"/>
          </a:p>
        </p:txBody>
      </p:sp>
      <p:sp>
        <p:nvSpPr>
          <p:cNvPr id="6" name="Text 4"/>
          <p:cNvSpPr/>
          <p:nvPr/>
        </p:nvSpPr>
        <p:spPr>
          <a:xfrm>
            <a:off x="2183160" y="1137493"/>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Platform</a:t>
            </a:r>
            <a:endParaRPr lang="en-US" sz="825" dirty="0"/>
          </a:p>
        </p:txBody>
      </p:sp>
      <p:sp>
        <p:nvSpPr>
          <p:cNvPr id="7" name="Text 5"/>
          <p:cNvSpPr/>
          <p:nvPr/>
        </p:nvSpPr>
        <p:spPr>
          <a:xfrm>
            <a:off x="3481536" y="1137493"/>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Privacy</a:t>
            </a:r>
            <a:endParaRPr lang="en-US" sz="825" dirty="0"/>
          </a:p>
        </p:txBody>
      </p:sp>
      <p:sp>
        <p:nvSpPr>
          <p:cNvPr id="8" name="Text 6"/>
          <p:cNvSpPr/>
          <p:nvPr/>
        </p:nvSpPr>
        <p:spPr>
          <a:xfrm>
            <a:off x="4779913" y="1137493"/>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Cost</a:t>
            </a:r>
            <a:endParaRPr lang="en-US" sz="825" dirty="0"/>
          </a:p>
        </p:txBody>
      </p:sp>
      <p:sp>
        <p:nvSpPr>
          <p:cNvPr id="9" name="Text 7"/>
          <p:cNvSpPr/>
          <p:nvPr/>
        </p:nvSpPr>
        <p:spPr>
          <a:xfrm>
            <a:off x="6078289" y="1137493"/>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Setup</a:t>
            </a:r>
            <a:endParaRPr lang="en-US" sz="825" dirty="0"/>
          </a:p>
        </p:txBody>
      </p:sp>
      <p:sp>
        <p:nvSpPr>
          <p:cNvPr id="10" name="Text 8"/>
          <p:cNvSpPr/>
          <p:nvPr/>
        </p:nvSpPr>
        <p:spPr>
          <a:xfrm>
            <a:off x="7376666" y="1137493"/>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PHI Safe</a:t>
            </a:r>
            <a:endParaRPr lang="en-US" sz="825" dirty="0"/>
          </a:p>
        </p:txBody>
      </p:sp>
      <p:sp>
        <p:nvSpPr>
          <p:cNvPr id="11" name="Text 9"/>
          <p:cNvSpPr/>
          <p:nvPr/>
        </p:nvSpPr>
        <p:spPr>
          <a:xfrm>
            <a:off x="457200" y="1550789"/>
            <a:ext cx="8229600" cy="346621"/>
          </a:xfrm>
          <a:prstGeom prst="rect">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457200" y="1892647"/>
            <a:ext cx="8229600" cy="0"/>
          </a:xfrm>
          <a:prstGeom prst="line">
            <a:avLst/>
          </a:prstGeom>
          <a:noFill/>
          <a:ln w="9525">
            <a:solidFill>
              <a:srgbClr val="E4E7ED"/>
            </a:solidFill>
            <a:prstDash val="solid"/>
          </a:ln>
        </p:spPr>
      </p:sp>
      <p:sp>
        <p:nvSpPr>
          <p:cNvPr id="13" name="Text 11"/>
          <p:cNvSpPr/>
          <p:nvPr/>
        </p:nvSpPr>
        <p:spPr>
          <a:xfrm>
            <a:off x="609600" y="1646039"/>
            <a:ext cx="1461272"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SuperWhisper</a:t>
            </a:r>
            <a:endParaRPr lang="en-US" sz="825" dirty="0"/>
          </a:p>
        </p:txBody>
      </p:sp>
      <p:sp>
        <p:nvSpPr>
          <p:cNvPr id="14" name="Text 12"/>
          <p:cNvSpPr/>
          <p:nvPr/>
        </p:nvSpPr>
        <p:spPr>
          <a:xfrm>
            <a:off x="2183160" y="1646039"/>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macOS/iOS</a:t>
            </a:r>
            <a:endParaRPr lang="en-US" sz="825" dirty="0"/>
          </a:p>
        </p:txBody>
      </p:sp>
      <p:sp>
        <p:nvSpPr>
          <p:cNvPr id="15" name="Text 13"/>
          <p:cNvSpPr/>
          <p:nvPr/>
        </p:nvSpPr>
        <p:spPr>
          <a:xfrm>
            <a:off x="3481536" y="1646039"/>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100% Local</a:t>
            </a:r>
            <a:endParaRPr lang="en-US" sz="825" dirty="0"/>
          </a:p>
        </p:txBody>
      </p:sp>
      <p:sp>
        <p:nvSpPr>
          <p:cNvPr id="16" name="Text 14"/>
          <p:cNvSpPr/>
          <p:nvPr/>
        </p:nvSpPr>
        <p:spPr>
          <a:xfrm>
            <a:off x="4779913" y="1646039"/>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~$30</a:t>
            </a:r>
            <a:endParaRPr lang="en-US" sz="825" dirty="0"/>
          </a:p>
        </p:txBody>
      </p:sp>
      <p:sp>
        <p:nvSpPr>
          <p:cNvPr id="17" name="Text 15"/>
          <p:cNvSpPr/>
          <p:nvPr/>
        </p:nvSpPr>
        <p:spPr>
          <a:xfrm>
            <a:off x="6078289" y="1646039"/>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Easy</a:t>
            </a:r>
            <a:endParaRPr lang="en-US" sz="825" dirty="0"/>
          </a:p>
        </p:txBody>
      </p:sp>
      <p:sp>
        <p:nvSpPr>
          <p:cNvPr id="18" name="Text 16"/>
          <p:cNvSpPr/>
          <p:nvPr/>
        </p:nvSpPr>
        <p:spPr>
          <a:xfrm>
            <a:off x="7376666" y="1646039"/>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19" name="Text 17"/>
          <p:cNvSpPr/>
          <p:nvPr/>
        </p:nvSpPr>
        <p:spPr>
          <a:xfrm>
            <a:off x="457200" y="2049810"/>
            <a:ext cx="8229600" cy="346621"/>
          </a:xfrm>
          <a:prstGeom prst="rect">
            <a:avLst/>
          </a:prstGeom>
          <a:solidFill>
            <a:srgbClr val="F7F8FA"/>
          </a:solidFill>
          <a:ln/>
        </p:spPr>
        <p:txBody>
          <a:bodyPr wrap="square" rtlCol="0" anchor="ctr"/>
          <a:lstStyle/>
          <a:p>
            <a:pPr indent="0" marL="0">
              <a:buNone/>
            </a:pPr>
            <a:endParaRPr lang="en-US" dirty="0"/>
          </a:p>
        </p:txBody>
      </p:sp>
      <p:sp>
        <p:nvSpPr>
          <p:cNvPr id="20" name="Shape 18"/>
          <p:cNvSpPr/>
          <p:nvPr/>
        </p:nvSpPr>
        <p:spPr>
          <a:xfrm>
            <a:off x="457200" y="2391668"/>
            <a:ext cx="8229600" cy="0"/>
          </a:xfrm>
          <a:prstGeom prst="line">
            <a:avLst/>
          </a:prstGeom>
          <a:noFill/>
          <a:ln w="9525">
            <a:solidFill>
              <a:srgbClr val="E4E7ED"/>
            </a:solidFill>
            <a:prstDash val="solid"/>
          </a:ln>
        </p:spPr>
      </p:sp>
      <p:sp>
        <p:nvSpPr>
          <p:cNvPr id="21" name="Text 19"/>
          <p:cNvSpPr/>
          <p:nvPr/>
        </p:nvSpPr>
        <p:spPr>
          <a:xfrm>
            <a:off x="609600" y="2145060"/>
            <a:ext cx="1461272"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WhisperFlow</a:t>
            </a:r>
            <a:endParaRPr lang="en-US" sz="825" dirty="0"/>
          </a:p>
        </p:txBody>
      </p:sp>
      <p:sp>
        <p:nvSpPr>
          <p:cNvPr id="22" name="Text 20"/>
          <p:cNvSpPr/>
          <p:nvPr/>
        </p:nvSpPr>
        <p:spPr>
          <a:xfrm>
            <a:off x="2183160" y="214506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All</a:t>
            </a:r>
            <a:endParaRPr lang="en-US" sz="825" dirty="0"/>
          </a:p>
        </p:txBody>
      </p:sp>
      <p:sp>
        <p:nvSpPr>
          <p:cNvPr id="23" name="Text 21"/>
          <p:cNvSpPr/>
          <p:nvPr/>
        </p:nvSpPr>
        <p:spPr>
          <a:xfrm>
            <a:off x="3481536" y="214506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100% Local</a:t>
            </a:r>
            <a:endParaRPr lang="en-US" sz="825" dirty="0"/>
          </a:p>
        </p:txBody>
      </p:sp>
      <p:sp>
        <p:nvSpPr>
          <p:cNvPr id="24" name="Text 22"/>
          <p:cNvSpPr/>
          <p:nvPr/>
        </p:nvSpPr>
        <p:spPr>
          <a:xfrm>
            <a:off x="4779913" y="214506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a:t>
            </a:r>
            <a:endParaRPr lang="en-US" sz="825" dirty="0"/>
          </a:p>
        </p:txBody>
      </p:sp>
      <p:sp>
        <p:nvSpPr>
          <p:cNvPr id="25" name="Text 23"/>
          <p:cNvSpPr/>
          <p:nvPr/>
        </p:nvSpPr>
        <p:spPr>
          <a:xfrm>
            <a:off x="6078289" y="214506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Moderate</a:t>
            </a:r>
            <a:endParaRPr lang="en-US" sz="825" dirty="0"/>
          </a:p>
        </p:txBody>
      </p:sp>
      <p:sp>
        <p:nvSpPr>
          <p:cNvPr id="26" name="Text 24"/>
          <p:cNvSpPr/>
          <p:nvPr/>
        </p:nvSpPr>
        <p:spPr>
          <a:xfrm>
            <a:off x="7376666" y="214506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27" name="Text 25"/>
          <p:cNvSpPr/>
          <p:nvPr/>
        </p:nvSpPr>
        <p:spPr>
          <a:xfrm>
            <a:off x="457200" y="2548830"/>
            <a:ext cx="8229600" cy="346621"/>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457200" y="2890689"/>
            <a:ext cx="8229600" cy="0"/>
          </a:xfrm>
          <a:prstGeom prst="line">
            <a:avLst/>
          </a:prstGeom>
          <a:noFill/>
          <a:ln w="9525">
            <a:solidFill>
              <a:srgbClr val="E4E7ED"/>
            </a:solidFill>
            <a:prstDash val="solid"/>
          </a:ln>
        </p:spPr>
      </p:sp>
      <p:sp>
        <p:nvSpPr>
          <p:cNvPr id="29" name="Text 27"/>
          <p:cNvSpPr/>
          <p:nvPr/>
        </p:nvSpPr>
        <p:spPr>
          <a:xfrm>
            <a:off x="609600" y="2644080"/>
            <a:ext cx="1461272"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macOS Enhanced</a:t>
            </a:r>
            <a:endParaRPr lang="en-US" sz="825" dirty="0"/>
          </a:p>
        </p:txBody>
      </p:sp>
      <p:sp>
        <p:nvSpPr>
          <p:cNvPr id="30" name="Text 28"/>
          <p:cNvSpPr/>
          <p:nvPr/>
        </p:nvSpPr>
        <p:spPr>
          <a:xfrm>
            <a:off x="2183160" y="264408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macOS</a:t>
            </a:r>
            <a:endParaRPr lang="en-US" sz="825" dirty="0"/>
          </a:p>
        </p:txBody>
      </p:sp>
      <p:sp>
        <p:nvSpPr>
          <p:cNvPr id="31" name="Text 29"/>
          <p:cNvSpPr/>
          <p:nvPr/>
        </p:nvSpPr>
        <p:spPr>
          <a:xfrm>
            <a:off x="3481536" y="264408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Local (opt)</a:t>
            </a:r>
            <a:endParaRPr lang="en-US" sz="825" dirty="0"/>
          </a:p>
        </p:txBody>
      </p:sp>
      <p:sp>
        <p:nvSpPr>
          <p:cNvPr id="32" name="Text 30"/>
          <p:cNvSpPr/>
          <p:nvPr/>
        </p:nvSpPr>
        <p:spPr>
          <a:xfrm>
            <a:off x="4779913" y="264408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a:t>
            </a:r>
            <a:endParaRPr lang="en-US" sz="825" dirty="0"/>
          </a:p>
        </p:txBody>
      </p:sp>
      <p:sp>
        <p:nvSpPr>
          <p:cNvPr id="33" name="Text 31"/>
          <p:cNvSpPr/>
          <p:nvPr/>
        </p:nvSpPr>
        <p:spPr>
          <a:xfrm>
            <a:off x="6078289" y="2644080"/>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Easy</a:t>
            </a:r>
            <a:endParaRPr lang="en-US" sz="825" dirty="0"/>
          </a:p>
        </p:txBody>
      </p:sp>
      <p:sp>
        <p:nvSpPr>
          <p:cNvPr id="34" name="Text 32"/>
          <p:cNvSpPr/>
          <p:nvPr/>
        </p:nvSpPr>
        <p:spPr>
          <a:xfrm>
            <a:off x="7376666" y="264408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MAYBE*</a:t>
            </a:r>
            <a:endParaRPr lang="en-US" sz="825" dirty="0"/>
          </a:p>
        </p:txBody>
      </p:sp>
      <p:sp>
        <p:nvSpPr>
          <p:cNvPr id="35" name="Text 33"/>
          <p:cNvSpPr/>
          <p:nvPr/>
        </p:nvSpPr>
        <p:spPr>
          <a:xfrm>
            <a:off x="457200" y="3047851"/>
            <a:ext cx="8229600" cy="346621"/>
          </a:xfrm>
          <a:prstGeom prst="rect">
            <a:avLst/>
          </a:prstGeom>
          <a:solidFill>
            <a:srgbClr val="F7F8FA"/>
          </a:solidFill>
          <a:ln/>
        </p:spPr>
        <p:txBody>
          <a:bodyPr wrap="square" rtlCol="0" anchor="ctr"/>
          <a:lstStyle/>
          <a:p>
            <a:pPr indent="0" marL="0">
              <a:buNone/>
            </a:pPr>
            <a:endParaRPr lang="en-US" dirty="0"/>
          </a:p>
        </p:txBody>
      </p:sp>
      <p:sp>
        <p:nvSpPr>
          <p:cNvPr id="36" name="Shape 34"/>
          <p:cNvSpPr/>
          <p:nvPr/>
        </p:nvSpPr>
        <p:spPr>
          <a:xfrm>
            <a:off x="457200" y="3389709"/>
            <a:ext cx="8229600" cy="0"/>
          </a:xfrm>
          <a:prstGeom prst="line">
            <a:avLst/>
          </a:prstGeom>
          <a:noFill/>
          <a:ln w="9525">
            <a:solidFill>
              <a:srgbClr val="E4E7ED"/>
            </a:solidFill>
            <a:prstDash val="solid"/>
          </a:ln>
        </p:spPr>
      </p:sp>
      <p:sp>
        <p:nvSpPr>
          <p:cNvPr id="37" name="Text 35"/>
          <p:cNvSpPr/>
          <p:nvPr/>
        </p:nvSpPr>
        <p:spPr>
          <a:xfrm>
            <a:off x="609600" y="3143101"/>
            <a:ext cx="1461272"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Windows Voice</a:t>
            </a:r>
            <a:endParaRPr lang="en-US" sz="825" dirty="0"/>
          </a:p>
        </p:txBody>
      </p:sp>
      <p:sp>
        <p:nvSpPr>
          <p:cNvPr id="38" name="Text 36"/>
          <p:cNvSpPr/>
          <p:nvPr/>
        </p:nvSpPr>
        <p:spPr>
          <a:xfrm>
            <a:off x="2183160" y="3143101"/>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Windows</a:t>
            </a:r>
            <a:endParaRPr lang="en-US" sz="825" dirty="0"/>
          </a:p>
        </p:txBody>
      </p:sp>
      <p:sp>
        <p:nvSpPr>
          <p:cNvPr id="39" name="Text 37"/>
          <p:cNvSpPr/>
          <p:nvPr/>
        </p:nvSpPr>
        <p:spPr>
          <a:xfrm>
            <a:off x="3481536" y="3143101"/>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Cloud</a:t>
            </a:r>
            <a:endParaRPr lang="en-US" sz="825" dirty="0"/>
          </a:p>
        </p:txBody>
      </p:sp>
      <p:sp>
        <p:nvSpPr>
          <p:cNvPr id="40" name="Text 38"/>
          <p:cNvSpPr/>
          <p:nvPr/>
        </p:nvSpPr>
        <p:spPr>
          <a:xfrm>
            <a:off x="4779913" y="3143101"/>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a:t>
            </a:r>
            <a:endParaRPr lang="en-US" sz="825" dirty="0"/>
          </a:p>
        </p:txBody>
      </p:sp>
      <p:sp>
        <p:nvSpPr>
          <p:cNvPr id="41" name="Text 39"/>
          <p:cNvSpPr/>
          <p:nvPr/>
        </p:nvSpPr>
        <p:spPr>
          <a:xfrm>
            <a:off x="6078289" y="3143101"/>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Easy</a:t>
            </a:r>
            <a:endParaRPr lang="en-US" sz="825" dirty="0"/>
          </a:p>
        </p:txBody>
      </p:sp>
      <p:sp>
        <p:nvSpPr>
          <p:cNvPr id="42" name="Text 40"/>
          <p:cNvSpPr/>
          <p:nvPr/>
        </p:nvSpPr>
        <p:spPr>
          <a:xfrm>
            <a:off x="7376666" y="3143101"/>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NO</a:t>
            </a:r>
            <a:endParaRPr lang="en-US" sz="825" dirty="0"/>
          </a:p>
        </p:txBody>
      </p:sp>
      <p:sp>
        <p:nvSpPr>
          <p:cNvPr id="43" name="Text 41"/>
          <p:cNvSpPr/>
          <p:nvPr/>
        </p:nvSpPr>
        <p:spPr>
          <a:xfrm>
            <a:off x="457200" y="3546872"/>
            <a:ext cx="8229600" cy="337096"/>
          </a:xfrm>
          <a:prstGeom prst="rect">
            <a:avLst/>
          </a:prstGeom>
          <a:solidFill>
            <a:srgbClr val="FFFFFF"/>
          </a:solidFill>
          <a:ln/>
        </p:spPr>
        <p:txBody>
          <a:bodyPr wrap="square" rtlCol="0" anchor="ctr"/>
          <a:lstStyle/>
          <a:p>
            <a:pPr indent="0" marL="0">
              <a:buNone/>
            </a:pPr>
            <a:endParaRPr lang="en-US" dirty="0"/>
          </a:p>
        </p:txBody>
      </p:sp>
      <p:sp>
        <p:nvSpPr>
          <p:cNvPr id="44" name="Text 42"/>
          <p:cNvSpPr/>
          <p:nvPr/>
        </p:nvSpPr>
        <p:spPr>
          <a:xfrm>
            <a:off x="609600" y="3642122"/>
            <a:ext cx="1461272"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Standard Dictation</a:t>
            </a:r>
            <a:endParaRPr lang="en-US" sz="825" dirty="0"/>
          </a:p>
        </p:txBody>
      </p:sp>
      <p:sp>
        <p:nvSpPr>
          <p:cNvPr id="45" name="Text 43"/>
          <p:cNvSpPr/>
          <p:nvPr/>
        </p:nvSpPr>
        <p:spPr>
          <a:xfrm>
            <a:off x="2183160" y="3642122"/>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All</a:t>
            </a:r>
            <a:endParaRPr lang="en-US" sz="825" dirty="0"/>
          </a:p>
        </p:txBody>
      </p:sp>
      <p:sp>
        <p:nvSpPr>
          <p:cNvPr id="46" name="Text 44"/>
          <p:cNvSpPr/>
          <p:nvPr/>
        </p:nvSpPr>
        <p:spPr>
          <a:xfrm>
            <a:off x="3481536" y="3642122"/>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Cloud</a:t>
            </a:r>
            <a:endParaRPr lang="en-US" sz="825" dirty="0"/>
          </a:p>
        </p:txBody>
      </p:sp>
      <p:sp>
        <p:nvSpPr>
          <p:cNvPr id="47" name="Text 45"/>
          <p:cNvSpPr/>
          <p:nvPr/>
        </p:nvSpPr>
        <p:spPr>
          <a:xfrm>
            <a:off x="4779913" y="3642122"/>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a:t>
            </a:r>
            <a:endParaRPr lang="en-US" sz="825" dirty="0"/>
          </a:p>
        </p:txBody>
      </p:sp>
      <p:sp>
        <p:nvSpPr>
          <p:cNvPr id="48" name="Text 46"/>
          <p:cNvSpPr/>
          <p:nvPr/>
        </p:nvSpPr>
        <p:spPr>
          <a:xfrm>
            <a:off x="6078289" y="3642122"/>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None</a:t>
            </a:r>
            <a:endParaRPr lang="en-US" sz="825" dirty="0"/>
          </a:p>
        </p:txBody>
      </p:sp>
      <p:sp>
        <p:nvSpPr>
          <p:cNvPr id="49" name="Text 47"/>
          <p:cNvSpPr/>
          <p:nvPr/>
        </p:nvSpPr>
        <p:spPr>
          <a:xfrm>
            <a:off x="7376666" y="3642122"/>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NO</a:t>
            </a:r>
            <a:endParaRPr lang="en-US" sz="825" dirty="0"/>
          </a:p>
        </p:txBody>
      </p:sp>
      <p:sp>
        <p:nvSpPr>
          <p:cNvPr id="50" name="Text 48"/>
          <p:cNvSpPr/>
          <p:nvPr/>
        </p:nvSpPr>
        <p:spPr>
          <a:xfrm>
            <a:off x="457200" y="4188768"/>
            <a:ext cx="4019550" cy="668536"/>
          </a:xfrm>
          <a:prstGeom prst="rect">
            <a:avLst/>
          </a:prstGeom>
          <a:solidFill>
            <a:srgbClr val="1A1F2E"/>
          </a:solidFill>
          <a:ln/>
        </p:spPr>
        <p:txBody>
          <a:bodyPr wrap="square" rtlCol="0" anchor="ctr"/>
          <a:lstStyle/>
          <a:p>
            <a:pPr indent="0" marL="0">
              <a:buNone/>
            </a:pPr>
            <a:endParaRPr lang="en-US" dirty="0"/>
          </a:p>
        </p:txBody>
      </p:sp>
      <p:sp>
        <p:nvSpPr>
          <p:cNvPr id="51" name="Text 49"/>
          <p:cNvSpPr/>
          <p:nvPr/>
        </p:nvSpPr>
        <p:spPr>
          <a:xfrm>
            <a:off x="609600" y="4341168"/>
            <a:ext cx="3789045"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RECOMMENDED</a:t>
            </a:r>
            <a:endParaRPr lang="en-US" sz="825" dirty="0"/>
          </a:p>
        </p:txBody>
      </p:sp>
      <p:sp>
        <p:nvSpPr>
          <p:cNvPr id="52" name="Text 50"/>
          <p:cNvSpPr/>
          <p:nvPr/>
        </p:nvSpPr>
        <p:spPr>
          <a:xfrm>
            <a:off x="609600" y="4544913"/>
            <a:ext cx="3789045"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Mac: SuperWhisper | Windows/Linux: WhisperFlow</a:t>
            </a:r>
            <a:endParaRPr lang="en-US" sz="900" dirty="0"/>
          </a:p>
        </p:txBody>
      </p:sp>
      <p:sp>
        <p:nvSpPr>
          <p:cNvPr id="53" name="Text 51"/>
          <p:cNvSpPr/>
          <p:nvPr/>
        </p:nvSpPr>
        <p:spPr>
          <a:xfrm>
            <a:off x="4629150" y="4297263"/>
            <a:ext cx="4057650" cy="451396"/>
          </a:xfrm>
          <a:prstGeom prst="rect">
            <a:avLst/>
          </a:prstGeom>
          <a:solidFill>
            <a:srgbClr val="FEF3C7"/>
          </a:solidFill>
          <a:ln/>
        </p:spPr>
        <p:txBody>
          <a:bodyPr wrap="square" rtlCol="0" anchor="ctr"/>
          <a:lstStyle/>
          <a:p>
            <a:pPr indent="0" marL="0">
              <a:buNone/>
            </a:pPr>
            <a:endParaRPr lang="en-US" dirty="0"/>
          </a:p>
        </p:txBody>
      </p:sp>
      <p:sp>
        <p:nvSpPr>
          <p:cNvPr id="54" name="Shape 52"/>
          <p:cNvSpPr/>
          <p:nvPr/>
        </p:nvSpPr>
        <p:spPr>
          <a:xfrm>
            <a:off x="4648200" y="4297263"/>
            <a:ext cx="0" cy="451396"/>
          </a:xfrm>
          <a:prstGeom prst="line">
            <a:avLst/>
          </a:prstGeom>
          <a:noFill/>
          <a:ln w="38100">
            <a:solidFill>
              <a:srgbClr val="F59E0B"/>
            </a:solidFill>
            <a:prstDash val="solid"/>
          </a:ln>
        </p:spPr>
      </p:sp>
      <p:sp>
        <p:nvSpPr>
          <p:cNvPr id="55" name="Text 53"/>
          <p:cNvSpPr/>
          <p:nvPr/>
        </p:nvSpPr>
        <p:spPr>
          <a:xfrm>
            <a:off x="4819650" y="4449663"/>
            <a:ext cx="3789045" cy="146596"/>
          </a:xfrm>
          <a:prstGeom prst="rect">
            <a:avLst/>
          </a:prstGeom>
          <a:noFill/>
          <a:ln/>
        </p:spPr>
        <p:txBody>
          <a:bodyPr wrap="square" lIns="0" tIns="0" rIns="0" bIns="0" rtlCol="0" anchor="t"/>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*macOS Enhanced Dictation requires explicit offline mode configuration</a:t>
            </a:r>
            <a:endParaRPr lang="en-US" sz="8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QUICK GUIDE</a:t>
            </a:r>
            <a:endParaRPr lang="en-US" sz="825" dirty="0"/>
          </a:p>
        </p:txBody>
      </p:sp>
      <p:sp>
        <p:nvSpPr>
          <p:cNvPr id="3" name="Text 1"/>
          <p:cNvSpPr/>
          <p:nvPr/>
        </p:nvSpPr>
        <p:spPr>
          <a:xfrm>
            <a:off x="457200" y="527596"/>
            <a:ext cx="4469130" cy="304800"/>
          </a:xfrm>
          <a:prstGeom prst="rect">
            <a:avLst/>
          </a:prstGeom>
          <a:noFill/>
          <a:ln/>
        </p:spPr>
        <p:txBody>
          <a:bodyPr wrap="square" lIns="0" tIns="0" rIns="0" bIns="0" rtlCol="0" anchor="t"/>
          <a:lstStyle/>
          <a:p>
            <a:pPr algn="l" indent="0" marL="0">
              <a:lnSpc>
                <a:spcPts val="2400"/>
              </a:lnSpc>
              <a:buNone/>
            </a:pPr>
            <a:r>
              <a:rPr lang="en-US" sz="2400" dirty="0">
                <a:solidFill>
                  <a:srgbClr val="FFFFFF"/>
                </a:solidFill>
                <a:latin typeface="Georgia" pitchFamily="34" charset="0"/>
                <a:ea typeface="Georgia" pitchFamily="34" charset="-122"/>
                <a:cs typeface="Georgia" pitchFamily="34" charset="-120"/>
              </a:rPr>
              <a:t>Which Voice Tool Should You Use?</a:t>
            </a:r>
            <a:endParaRPr lang="en-US" sz="2400" dirty="0"/>
          </a:p>
        </p:txBody>
      </p:sp>
      <p:sp>
        <p:nvSpPr>
          <p:cNvPr id="4" name="Text 2"/>
          <p:cNvSpPr/>
          <p:nvPr/>
        </p:nvSpPr>
        <p:spPr>
          <a:xfrm>
            <a:off x="1905744" y="1513731"/>
            <a:ext cx="1447502" cy="1683693"/>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2166341" y="1912739"/>
            <a:ext cx="926160" cy="173236"/>
          </a:xfrm>
          <a:prstGeom prst="rect">
            <a:avLst/>
          </a:prstGeom>
          <a:noFill/>
          <a:ln/>
        </p:spPr>
        <p:txBody>
          <a:bodyPr wrap="square" lIns="0" tIns="0" rIns="0" bIns="0" rtlCol="0" anchor="t"/>
          <a:lstStyle/>
          <a:p>
            <a:pPr algn="ctr" indent="0" marL="0">
              <a:lnSpc>
                <a:spcPts val="1365"/>
              </a:lnSpc>
              <a:spcAft>
                <a:spcPts val="900"/>
              </a:spcAft>
              <a:buNone/>
            </a:pPr>
            <a:r>
              <a:rPr lang="en-US" sz="975" b="1" dirty="0">
                <a:solidFill>
                  <a:srgbClr val="C9A227"/>
                </a:solidFill>
                <a:latin typeface="Arial" pitchFamily="34" charset="0"/>
                <a:ea typeface="Arial" pitchFamily="34" charset="-122"/>
                <a:cs typeface="Arial" pitchFamily="34" charset="-120"/>
              </a:rPr>
              <a:t>What platform?</a:t>
            </a:r>
            <a:endParaRPr lang="en-US" sz="975" dirty="0"/>
          </a:p>
        </p:txBody>
      </p:sp>
      <p:sp>
        <p:nvSpPr>
          <p:cNvPr id="6" name="Text 4"/>
          <p:cNvSpPr/>
          <p:nvPr/>
        </p:nvSpPr>
        <p:spPr>
          <a:xfrm>
            <a:off x="2438995" y="235267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373402" y="2638425"/>
            <a:ext cx="512037" cy="159990"/>
          </a:xfrm>
          <a:prstGeom prst="rect">
            <a:avLst/>
          </a:prstGeom>
          <a:noFill/>
          <a:ln/>
        </p:spPr>
        <p:txBody>
          <a:bodyPr wrap="square" lIns="0" tIns="0" rIns="0" bIns="0" rtlCol="0" anchor="t"/>
          <a:lstStyle/>
          <a:p>
            <a:pPr algn="ctr" indent="0" marL="0">
              <a:lnSpc>
                <a:spcPts val="1260"/>
              </a:lnSpc>
              <a:buNone/>
            </a:pPr>
            <a:r>
              <a:rPr lang="en-US" sz="900" dirty="0">
                <a:solidFill>
                  <a:srgbClr val="FFFFFF">
                    <a:alpha val="70000"/>
                  </a:srgbClr>
                </a:solidFill>
                <a:latin typeface="Arial" pitchFamily="34" charset="0"/>
                <a:ea typeface="Arial" pitchFamily="34" charset="-122"/>
                <a:cs typeface="Arial" pitchFamily="34" charset="-120"/>
              </a:rPr>
              <a:t>Start here</a:t>
            </a:r>
            <a:endParaRPr lang="en-US" sz="900" dirty="0"/>
          </a:p>
        </p:txBody>
      </p:sp>
      <p:sp>
        <p:nvSpPr>
          <p:cNvPr id="8" name="Text 6"/>
          <p:cNvSpPr/>
          <p:nvPr/>
        </p:nvSpPr>
        <p:spPr>
          <a:xfrm>
            <a:off x="3579560" y="2195513"/>
            <a:ext cx="233172" cy="319980"/>
          </a:xfrm>
          <a:prstGeom prst="rect">
            <a:avLst/>
          </a:prstGeom>
          <a:noFill/>
          <a:ln/>
        </p:spPr>
        <p:txBody>
          <a:bodyPr wrap="square" lIns="0" tIns="0" rIns="0" bIns="0" rtlCol="0" anchor="t"/>
          <a:lstStyle/>
          <a:p>
            <a:pPr algn="ctr" indent="0" marL="0">
              <a:lnSpc>
                <a:spcPts val="2520"/>
              </a:lnSpc>
              <a:buNone/>
            </a:pPr>
            <a:r>
              <a:rPr lang="en-US" sz="1800" dirty="0">
                <a:solidFill>
                  <a:srgbClr val="C9A227"/>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4039046" y="1513731"/>
            <a:ext cx="1485305" cy="491430"/>
          </a:xfrm>
          <a:prstGeom prst="rect">
            <a:avLst/>
          </a:prstGeom>
          <a:solidFill>
            <a:srgbClr val="C9A227"/>
          </a:solidFill>
          <a:ln/>
        </p:spPr>
        <p:txBody>
          <a:bodyPr wrap="square" rtlCol="0" anchor="ctr"/>
          <a:lstStyle/>
          <a:p>
            <a:pPr indent="0" marL="0">
              <a:buNone/>
            </a:pPr>
            <a:endParaRPr lang="en-US" dirty="0"/>
          </a:p>
        </p:txBody>
      </p:sp>
      <p:sp>
        <p:nvSpPr>
          <p:cNvPr id="10" name="Text 8"/>
          <p:cNvSpPr/>
          <p:nvPr/>
        </p:nvSpPr>
        <p:spPr>
          <a:xfrm>
            <a:off x="4179641" y="1666131"/>
            <a:ext cx="1204115" cy="186630"/>
          </a:xfrm>
          <a:prstGeom prst="rect">
            <a:avLst/>
          </a:prstGeom>
          <a:noFill/>
          <a:ln/>
        </p:spPr>
        <p:txBody>
          <a:bodyPr wrap="square" lIns="0" tIns="0" rIns="0" bIns="0" rtlCol="0" anchor="t"/>
          <a:lstStyle/>
          <a:p>
            <a:pPr algn="ctr" indent="0" marL="0">
              <a:lnSpc>
                <a:spcPts val="1470"/>
              </a:lnSpc>
              <a:buNone/>
            </a:pPr>
            <a:r>
              <a:rPr lang="en-US" sz="1050" b="1" dirty="0">
                <a:solidFill>
                  <a:srgbClr val="1A1F2E"/>
                </a:solidFill>
                <a:latin typeface="Arial" pitchFamily="34" charset="0"/>
                <a:ea typeface="Arial" pitchFamily="34" charset="-122"/>
                <a:cs typeface="Arial" pitchFamily="34" charset="-120"/>
              </a:rPr>
              <a:t>macOS</a:t>
            </a:r>
            <a:endParaRPr lang="en-US" sz="1050" dirty="0"/>
          </a:p>
        </p:txBody>
      </p:sp>
      <p:sp>
        <p:nvSpPr>
          <p:cNvPr id="11" name="Text 9"/>
          <p:cNvSpPr/>
          <p:nvPr/>
        </p:nvSpPr>
        <p:spPr>
          <a:xfrm>
            <a:off x="4039046" y="2233761"/>
            <a:ext cx="1485305" cy="963662"/>
          </a:xfrm>
          <a:prstGeom prst="rect">
            <a:avLst/>
          </a:prstGeom>
          <a:solidFill>
            <a:srgbClr val="059669"/>
          </a:solidFill>
          <a:ln/>
        </p:spPr>
        <p:txBody>
          <a:bodyPr wrap="square" rtlCol="0" anchor="ctr"/>
          <a:lstStyle/>
          <a:p>
            <a:pPr indent="0" marL="0">
              <a:buNone/>
            </a:pPr>
            <a:endParaRPr lang="en-US" dirty="0"/>
          </a:p>
        </p:txBody>
      </p:sp>
      <p:sp>
        <p:nvSpPr>
          <p:cNvPr id="12" name="Text 10"/>
          <p:cNvSpPr/>
          <p:nvPr/>
        </p:nvSpPr>
        <p:spPr>
          <a:xfrm>
            <a:off x="4218503" y="2424261"/>
            <a:ext cx="1126391" cy="213271"/>
          </a:xfrm>
          <a:prstGeom prst="rect">
            <a:avLst/>
          </a:prstGeom>
          <a:noFill/>
          <a:ln/>
        </p:spPr>
        <p:txBody>
          <a:bodyPr wrap="square" lIns="0" tIns="0" rIns="0" bIns="0" rtlCol="0" anchor="t"/>
          <a:lstStyle/>
          <a:p>
            <a:pPr algn="ctr" indent="0" marL="0">
              <a:lnSpc>
                <a:spcPts val="1680"/>
              </a:lnSpc>
              <a:spcAft>
                <a:spcPts val="600"/>
              </a:spcAft>
              <a:buNone/>
            </a:pPr>
            <a:r>
              <a:rPr lang="en-US" sz="1200" dirty="0">
                <a:solidFill>
                  <a:srgbClr val="FFFFFF"/>
                </a:solidFill>
                <a:latin typeface="Georgia" pitchFamily="34" charset="0"/>
                <a:ea typeface="Georgia" pitchFamily="34" charset="-122"/>
                <a:cs typeface="Georgia" pitchFamily="34" charset="-120"/>
              </a:rPr>
              <a:t>SuperWhisper</a:t>
            </a:r>
            <a:endParaRPr lang="en-US" sz="1200" dirty="0"/>
          </a:p>
        </p:txBody>
      </p:sp>
      <p:sp>
        <p:nvSpPr>
          <p:cNvPr id="13" name="Text 11"/>
          <p:cNvSpPr/>
          <p:nvPr/>
        </p:nvSpPr>
        <p:spPr>
          <a:xfrm>
            <a:off x="4218503" y="2713732"/>
            <a:ext cx="1126391" cy="293191"/>
          </a:xfrm>
          <a:prstGeom prst="rect">
            <a:avLst/>
          </a:prstGeom>
          <a:noFill/>
          <a:ln/>
        </p:spPr>
        <p:txBody>
          <a:bodyPr wrap="square" lIns="0" tIns="0" rIns="0" bIns="0" rtlCol="0" anchor="t"/>
          <a:lstStyle/>
          <a:p>
            <a:pPr algn="ctr" indent="0" marL="0">
              <a:lnSpc>
                <a:spcPts val="1155"/>
              </a:lnSpc>
              <a:buNone/>
            </a:pPr>
            <a:r>
              <a:rPr lang="en-US" sz="825" dirty="0">
                <a:solidFill>
                  <a:srgbClr val="FFFFFF">
                    <a:alpha val="80000"/>
                  </a:srgbClr>
                </a:solidFill>
                <a:latin typeface="Arial" pitchFamily="34" charset="0"/>
                <a:ea typeface="Arial" pitchFamily="34" charset="-122"/>
                <a:cs typeface="Arial" pitchFamily="34" charset="-120"/>
              </a:rPr>
              <a:t>Best experience, easy setup</a:t>
            </a:r>
            <a:endParaRPr lang="en-US" sz="825" dirty="0"/>
          </a:p>
        </p:txBody>
      </p:sp>
      <p:sp>
        <p:nvSpPr>
          <p:cNvPr id="14" name="Text 12"/>
          <p:cNvSpPr/>
          <p:nvPr/>
        </p:nvSpPr>
        <p:spPr>
          <a:xfrm>
            <a:off x="5752951" y="1586954"/>
            <a:ext cx="1485305" cy="491430"/>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5893546" y="1739354"/>
            <a:ext cx="1204115" cy="186630"/>
          </a:xfrm>
          <a:prstGeom prst="rect">
            <a:avLst/>
          </a:prstGeom>
          <a:noFill/>
          <a:ln/>
        </p:spPr>
        <p:txBody>
          <a:bodyPr wrap="square" lIns="0" tIns="0" rIns="0" bIns="0" rtlCol="0" anchor="t"/>
          <a:lstStyle/>
          <a:p>
            <a:pPr algn="ctr" indent="0" marL="0">
              <a:lnSpc>
                <a:spcPts val="1470"/>
              </a:lnSpc>
              <a:buNone/>
            </a:pPr>
            <a:r>
              <a:rPr lang="en-US" sz="1050" b="1" dirty="0">
                <a:solidFill>
                  <a:srgbClr val="1A1F2E"/>
                </a:solidFill>
                <a:latin typeface="Arial" pitchFamily="34" charset="0"/>
                <a:ea typeface="Arial" pitchFamily="34" charset="-122"/>
                <a:cs typeface="Arial" pitchFamily="34" charset="-120"/>
              </a:rPr>
              <a:t>Windows / Linux</a:t>
            </a:r>
            <a:endParaRPr lang="en-US" sz="1050" dirty="0"/>
          </a:p>
        </p:txBody>
      </p:sp>
      <p:sp>
        <p:nvSpPr>
          <p:cNvPr id="16" name="Text 14"/>
          <p:cNvSpPr/>
          <p:nvPr/>
        </p:nvSpPr>
        <p:spPr>
          <a:xfrm>
            <a:off x="5752951" y="2306985"/>
            <a:ext cx="1485305" cy="817066"/>
          </a:xfrm>
          <a:prstGeom prst="rect">
            <a:avLst/>
          </a:prstGeom>
          <a:solidFill>
            <a:srgbClr val="059669"/>
          </a:solidFill>
          <a:ln/>
        </p:spPr>
        <p:txBody>
          <a:bodyPr wrap="square" rtlCol="0" anchor="ctr"/>
          <a:lstStyle/>
          <a:p>
            <a:pPr indent="0" marL="0">
              <a:buNone/>
            </a:pPr>
            <a:endParaRPr lang="en-US" dirty="0"/>
          </a:p>
        </p:txBody>
      </p:sp>
      <p:sp>
        <p:nvSpPr>
          <p:cNvPr id="17" name="Text 15"/>
          <p:cNvSpPr/>
          <p:nvPr/>
        </p:nvSpPr>
        <p:spPr>
          <a:xfrm>
            <a:off x="5932408" y="2497485"/>
            <a:ext cx="1126391" cy="213271"/>
          </a:xfrm>
          <a:prstGeom prst="rect">
            <a:avLst/>
          </a:prstGeom>
          <a:noFill/>
          <a:ln/>
        </p:spPr>
        <p:txBody>
          <a:bodyPr wrap="square" lIns="0" tIns="0" rIns="0" bIns="0" rtlCol="0" anchor="t"/>
          <a:lstStyle/>
          <a:p>
            <a:pPr algn="ctr" indent="0" marL="0">
              <a:lnSpc>
                <a:spcPts val="1680"/>
              </a:lnSpc>
              <a:spcAft>
                <a:spcPts val="600"/>
              </a:spcAft>
              <a:buNone/>
            </a:pPr>
            <a:r>
              <a:rPr lang="en-US" sz="1200" dirty="0">
                <a:solidFill>
                  <a:srgbClr val="FFFFFF"/>
                </a:solidFill>
                <a:latin typeface="Georgia" pitchFamily="34" charset="0"/>
                <a:ea typeface="Georgia" pitchFamily="34" charset="-122"/>
                <a:cs typeface="Georgia" pitchFamily="34" charset="-120"/>
              </a:rPr>
              <a:t>WhisperFlow</a:t>
            </a:r>
            <a:endParaRPr lang="en-US" sz="1200" dirty="0"/>
          </a:p>
        </p:txBody>
      </p:sp>
      <p:sp>
        <p:nvSpPr>
          <p:cNvPr id="18" name="Text 16"/>
          <p:cNvSpPr/>
          <p:nvPr/>
        </p:nvSpPr>
        <p:spPr>
          <a:xfrm>
            <a:off x="5932408" y="2786955"/>
            <a:ext cx="1126391" cy="146596"/>
          </a:xfrm>
          <a:prstGeom prst="rect">
            <a:avLst/>
          </a:prstGeom>
          <a:noFill/>
          <a:ln/>
        </p:spPr>
        <p:txBody>
          <a:bodyPr wrap="square" lIns="0" tIns="0" rIns="0" bIns="0" rtlCol="0" anchor="t"/>
          <a:lstStyle/>
          <a:p>
            <a:pPr algn="ctr" indent="0" marL="0">
              <a:lnSpc>
                <a:spcPts val="1155"/>
              </a:lnSpc>
              <a:buNone/>
            </a:pPr>
            <a:r>
              <a:rPr lang="en-US" sz="825" dirty="0">
                <a:solidFill>
                  <a:srgbClr val="FFFFFF">
                    <a:alpha val="80000"/>
                  </a:srgbClr>
                </a:solidFill>
                <a:latin typeface="Arial" pitchFamily="34" charset="0"/>
                <a:ea typeface="Arial" pitchFamily="34" charset="-122"/>
                <a:cs typeface="Arial" pitchFamily="34" charset="-120"/>
              </a:rPr>
              <a:t>Cross-platform, free</a:t>
            </a:r>
            <a:endParaRPr lang="en-US" sz="825" dirty="0"/>
          </a:p>
        </p:txBody>
      </p:sp>
      <p:sp>
        <p:nvSpPr>
          <p:cNvPr id="19" name="Text 17"/>
          <p:cNvSpPr/>
          <p:nvPr/>
        </p:nvSpPr>
        <p:spPr>
          <a:xfrm>
            <a:off x="2499420" y="3654623"/>
            <a:ext cx="4145161" cy="807541"/>
          </a:xfrm>
          <a:prstGeom prst="rect">
            <a:avLst/>
          </a:prstGeom>
          <a:solidFill>
            <a:srgbClr val="252B3D"/>
          </a:solidFill>
          <a:ln/>
        </p:spPr>
        <p:txBody>
          <a:bodyPr wrap="square" rtlCol="0" anchor="ctr"/>
          <a:lstStyle/>
          <a:p>
            <a:pPr indent="0" marL="0">
              <a:buNone/>
            </a:pPr>
            <a:endParaRPr lang="en-US" dirty="0"/>
          </a:p>
        </p:txBody>
      </p:sp>
      <p:sp>
        <p:nvSpPr>
          <p:cNvPr id="20" name="Text 18"/>
          <p:cNvSpPr/>
          <p:nvPr/>
        </p:nvSpPr>
        <p:spPr>
          <a:xfrm>
            <a:off x="2768864" y="3845123"/>
            <a:ext cx="3606272" cy="426541"/>
          </a:xfrm>
          <a:prstGeom prst="rect">
            <a:avLst/>
          </a:prstGeom>
          <a:noFill/>
          <a:ln/>
        </p:spPr>
        <p:txBody>
          <a:bodyPr wrap="square" lIns="0" tIns="0" rIns="0" bIns="0" rtlCol="0" anchor="t"/>
          <a:lstStyle/>
          <a:p>
            <a:pPr algn="ctr" indent="0" marL="0">
              <a:lnSpc>
                <a:spcPts val="1680"/>
              </a:lnSpc>
              <a:buNone/>
            </a:pPr>
            <a:r>
              <a:rPr lang="en-US" sz="1050" dirty="0">
                <a:solidFill>
                  <a:srgbClr val="FFFFFF"/>
                </a:solidFill>
                <a:latin typeface="Arial" pitchFamily="34" charset="0"/>
                <a:ea typeface="Arial" pitchFamily="34" charset="-122"/>
                <a:cs typeface="Arial" pitchFamily="34" charset="-120"/>
              </a:rPr>
              <a:t>Both options process locally and are safe for sensitive work.
</a:t>
            </a:r>
            <a:pPr algn="ctr" indent="0" marL="0">
              <a:lnSpc>
                <a:spcPts val="1680"/>
              </a:lnSpc>
              <a:buNone/>
            </a:pPr>
            <a:r>
              <a:rPr lang="en-US" sz="1050" dirty="0">
                <a:solidFill>
                  <a:srgbClr val="C9A227"/>
                </a:solidFill>
                <a:latin typeface="Arial" pitchFamily="34" charset="0"/>
                <a:ea typeface="Arial" pitchFamily="34" charset="-122"/>
                <a:cs typeface="Arial" pitchFamily="34" charset="-120"/>
              </a:rPr>
              <a:t>Choose based on your operating system.</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2980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03</a:t>
            </a:r>
            <a:endParaRPr lang="en-US" sz="1050" dirty="0"/>
          </a:p>
        </p:txBody>
      </p:sp>
      <p:sp>
        <p:nvSpPr>
          <p:cNvPr id="3" name="Text 1"/>
          <p:cNvSpPr/>
          <p:nvPr/>
        </p:nvSpPr>
        <p:spPr>
          <a:xfrm>
            <a:off x="2424571" y="2097435"/>
            <a:ext cx="4294858"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AI Coding Assistants</a:t>
            </a:r>
            <a:endParaRPr lang="en-US" sz="3900" dirty="0"/>
          </a:p>
        </p:txBody>
      </p:sp>
      <p:sp>
        <p:nvSpPr>
          <p:cNvPr id="4" name="Text 2"/>
          <p:cNvSpPr/>
          <p:nvPr/>
        </p:nvSpPr>
        <p:spPr>
          <a:xfrm>
            <a:off x="3181774" y="2897535"/>
            <a:ext cx="2780303"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Claude Code, VS Code, and Cursor</a:t>
            </a:r>
            <a:endParaRPr lang="en-US" sz="1350" dirty="0"/>
          </a:p>
        </p:txBody>
      </p:sp>
      <p:sp>
        <p:nvSpPr>
          <p:cNvPr id="5" name="Text 3"/>
          <p:cNvSpPr/>
          <p:nvPr/>
        </p:nvSpPr>
        <p:spPr>
          <a:xfrm>
            <a:off x="4191000" y="359464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OVERVIEW</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AI Coding Assistant Landscape</a:t>
            </a:r>
            <a:endParaRPr lang="en-US" sz="2400" dirty="0"/>
          </a:p>
        </p:txBody>
      </p:sp>
      <p:sp>
        <p:nvSpPr>
          <p:cNvPr id="4" name="Text 2"/>
          <p:cNvSpPr/>
          <p:nvPr/>
        </p:nvSpPr>
        <p:spPr>
          <a:xfrm>
            <a:off x="457200" y="1438424"/>
            <a:ext cx="2628900" cy="3099048"/>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85800" y="1667024"/>
            <a:ext cx="2171700" cy="2857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00100" y="1743224"/>
            <a:ext cx="1981962"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PRIMARY</a:t>
            </a:r>
            <a:endParaRPr lang="en-US" sz="750" dirty="0"/>
          </a:p>
        </p:txBody>
      </p:sp>
      <p:sp>
        <p:nvSpPr>
          <p:cNvPr id="7" name="Text 5"/>
          <p:cNvSpPr/>
          <p:nvPr/>
        </p:nvSpPr>
        <p:spPr>
          <a:xfrm>
            <a:off x="685800" y="2257574"/>
            <a:ext cx="2215134" cy="266700"/>
          </a:xfrm>
          <a:prstGeom prst="rect">
            <a:avLst/>
          </a:prstGeom>
          <a:noFill/>
          <a:ln/>
        </p:spPr>
        <p:txBody>
          <a:bodyPr wrap="square" lIns="0" tIns="0" rIns="0" bIns="0" rtlCol="0" anchor="t"/>
          <a:lstStyle/>
          <a:p>
            <a:pPr algn="l" indent="0" marL="0">
              <a:lnSpc>
                <a:spcPts val="2100"/>
              </a:lnSpc>
              <a:spcAft>
                <a:spcPts val="900"/>
              </a:spcAft>
              <a:buNone/>
            </a:pPr>
            <a:r>
              <a:rPr lang="en-US" sz="1500" dirty="0">
                <a:solidFill>
                  <a:srgbClr val="FFFFFF"/>
                </a:solidFill>
                <a:latin typeface="Georgia" pitchFamily="34" charset="0"/>
                <a:ea typeface="Georgia" pitchFamily="34" charset="-122"/>
                <a:cs typeface="Georgia" pitchFamily="34" charset="-120"/>
              </a:rPr>
              <a:t>Claude Code</a:t>
            </a:r>
            <a:endParaRPr lang="en-US" sz="1500" dirty="0"/>
          </a:p>
        </p:txBody>
      </p:sp>
      <p:sp>
        <p:nvSpPr>
          <p:cNvPr id="8" name="Text 6"/>
          <p:cNvSpPr/>
          <p:nvPr/>
        </p:nvSpPr>
        <p:spPr>
          <a:xfrm>
            <a:off x="685800" y="2790974"/>
            <a:ext cx="2215134" cy="1028402"/>
          </a:xfrm>
          <a:prstGeom prst="rect">
            <a:avLst/>
          </a:prstGeom>
          <a:noFill/>
          <a:ln/>
        </p:spPr>
        <p:txBody>
          <a:bodyPr wrap="square" lIns="0" tIns="0" rIns="0" bIns="0" rtlCol="0" anchor="t"/>
          <a:lstStyle/>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Terminal-based AI agent</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File operations</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Git integration</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Multi-file editing</a:t>
            </a:r>
            <a:endParaRPr lang="en-US" sz="900" dirty="0"/>
          </a:p>
          <a:p>
            <a:pPr algn="l" indent="0" marL="0">
              <a:lnSpc>
                <a:spcPts val="1620"/>
              </a:lnSpc>
              <a:buNone/>
            </a:pPr>
            <a:r>
              <a:rPr lang="en-US" sz="900" dirty="0">
                <a:solidFill>
                  <a:srgbClr val="FFFFFF">
                    <a:alpha val="60000"/>
                  </a:srgbClr>
                </a:solidFill>
                <a:latin typeface="Arial" pitchFamily="34" charset="0"/>
                <a:ea typeface="Arial" pitchFamily="34" charset="-122"/>
                <a:cs typeface="Arial" pitchFamily="34" charset="-120"/>
              </a:rPr>
              <a:t>Agentic workflows</a:t>
            </a:r>
            <a:endParaRPr lang="en-US" sz="900" dirty="0"/>
          </a:p>
        </p:txBody>
      </p:sp>
      <p:sp>
        <p:nvSpPr>
          <p:cNvPr id="9" name="Text 7"/>
          <p:cNvSpPr/>
          <p:nvPr/>
        </p:nvSpPr>
        <p:spPr>
          <a:xfrm>
            <a:off x="685800" y="4162276"/>
            <a:ext cx="2215134"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anthropic.com/claude-code</a:t>
            </a:r>
            <a:endParaRPr lang="en-US" sz="825" dirty="0"/>
          </a:p>
        </p:txBody>
      </p:sp>
      <p:sp>
        <p:nvSpPr>
          <p:cNvPr id="10" name="Text 8"/>
          <p:cNvSpPr/>
          <p:nvPr/>
        </p:nvSpPr>
        <p:spPr>
          <a:xfrm>
            <a:off x="3238500" y="1724174"/>
            <a:ext cx="2647950" cy="252754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1" name="Text 9"/>
          <p:cNvSpPr/>
          <p:nvPr/>
        </p:nvSpPr>
        <p:spPr>
          <a:xfrm>
            <a:off x="3476625" y="1962299"/>
            <a:ext cx="2215134" cy="266700"/>
          </a:xfrm>
          <a:prstGeom prst="rect">
            <a:avLst/>
          </a:prstGeom>
          <a:noFill/>
          <a:ln/>
        </p:spPr>
        <p:txBody>
          <a:bodyPr wrap="square" lIns="0" tIns="0" rIns="0" bIns="0" rtlCol="0" anchor="t"/>
          <a:lstStyle/>
          <a:p>
            <a:pPr algn="l" indent="0" marL="0">
              <a:lnSpc>
                <a:spcPts val="2100"/>
              </a:lnSpc>
              <a:spcAft>
                <a:spcPts val="900"/>
              </a:spcAft>
              <a:buNone/>
            </a:pPr>
            <a:r>
              <a:rPr lang="en-US" sz="1500" dirty="0">
                <a:solidFill>
                  <a:srgbClr val="1A1F2E"/>
                </a:solidFill>
                <a:latin typeface="Georgia" pitchFamily="34" charset="0"/>
                <a:ea typeface="Georgia" pitchFamily="34" charset="-122"/>
                <a:cs typeface="Georgia" pitchFamily="34" charset="-120"/>
              </a:rPr>
              <a:t>VS Code + Extensions</a:t>
            </a:r>
            <a:endParaRPr lang="en-US" sz="1500" dirty="0"/>
          </a:p>
        </p:txBody>
      </p:sp>
      <p:sp>
        <p:nvSpPr>
          <p:cNvPr id="12" name="Text 10"/>
          <p:cNvSpPr/>
          <p:nvPr/>
        </p:nvSpPr>
        <p:spPr>
          <a:xfrm>
            <a:off x="3476625" y="2495699"/>
            <a:ext cx="2215134" cy="102840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Continue.dev</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GitHub Copilot</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Cody (Sourcegraph)</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Multiple model support</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IDE integration</a:t>
            </a:r>
            <a:endParaRPr lang="en-US" sz="900" dirty="0"/>
          </a:p>
        </p:txBody>
      </p:sp>
      <p:sp>
        <p:nvSpPr>
          <p:cNvPr id="13" name="Text 11"/>
          <p:cNvSpPr/>
          <p:nvPr/>
        </p:nvSpPr>
        <p:spPr>
          <a:xfrm>
            <a:off x="3476625" y="3867001"/>
            <a:ext cx="2215134"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marketplace.visualstudio.com</a:t>
            </a:r>
            <a:endParaRPr lang="en-US" sz="825" dirty="0"/>
          </a:p>
        </p:txBody>
      </p:sp>
      <p:sp>
        <p:nvSpPr>
          <p:cNvPr id="14" name="Text 12"/>
          <p:cNvSpPr/>
          <p:nvPr/>
        </p:nvSpPr>
        <p:spPr>
          <a:xfrm>
            <a:off x="6038850" y="1724174"/>
            <a:ext cx="2647950" cy="252754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6276975" y="1962299"/>
            <a:ext cx="2215134" cy="266700"/>
          </a:xfrm>
          <a:prstGeom prst="rect">
            <a:avLst/>
          </a:prstGeom>
          <a:noFill/>
          <a:ln/>
        </p:spPr>
        <p:txBody>
          <a:bodyPr wrap="square" lIns="0" tIns="0" rIns="0" bIns="0" rtlCol="0" anchor="t"/>
          <a:lstStyle/>
          <a:p>
            <a:pPr algn="l" indent="0" marL="0">
              <a:lnSpc>
                <a:spcPts val="2100"/>
              </a:lnSpc>
              <a:spcAft>
                <a:spcPts val="900"/>
              </a:spcAft>
              <a:buNone/>
            </a:pPr>
            <a:r>
              <a:rPr lang="en-US" sz="1500" dirty="0">
                <a:solidFill>
                  <a:srgbClr val="1A1F2E"/>
                </a:solidFill>
                <a:latin typeface="Georgia" pitchFamily="34" charset="0"/>
                <a:ea typeface="Georgia" pitchFamily="34" charset="-122"/>
                <a:cs typeface="Georgia" pitchFamily="34" charset="-120"/>
              </a:rPr>
              <a:t>Cursor</a:t>
            </a:r>
            <a:endParaRPr lang="en-US" sz="1500" dirty="0"/>
          </a:p>
        </p:txBody>
      </p:sp>
      <p:sp>
        <p:nvSpPr>
          <p:cNvPr id="16" name="Text 14"/>
          <p:cNvSpPr/>
          <p:nvPr/>
        </p:nvSpPr>
        <p:spPr>
          <a:xfrm>
            <a:off x="6276975" y="2495699"/>
            <a:ext cx="2215134" cy="1028402"/>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AI-native editor</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VS Code fork</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Built-in AI chat</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Tab completions</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Composer mode</a:t>
            </a:r>
            <a:endParaRPr lang="en-US" sz="900" dirty="0"/>
          </a:p>
        </p:txBody>
      </p:sp>
      <p:sp>
        <p:nvSpPr>
          <p:cNvPr id="17" name="Text 15"/>
          <p:cNvSpPr/>
          <p:nvPr/>
        </p:nvSpPr>
        <p:spPr>
          <a:xfrm>
            <a:off x="6276975" y="3867001"/>
            <a:ext cx="2215134"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cursor.com</a:t>
            </a:r>
            <a:endParaRPr lang="en-US" sz="8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151584"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81000" y="1541264"/>
            <a:ext cx="2437376"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SETUP</a:t>
            </a:r>
            <a:endParaRPr lang="en-US" sz="825" dirty="0"/>
          </a:p>
        </p:txBody>
      </p:sp>
      <p:sp>
        <p:nvSpPr>
          <p:cNvPr id="4" name="Text 2"/>
          <p:cNvSpPr/>
          <p:nvPr/>
        </p:nvSpPr>
        <p:spPr>
          <a:xfrm>
            <a:off x="381000" y="1992660"/>
            <a:ext cx="1622489" cy="731341"/>
          </a:xfrm>
          <a:prstGeom prst="rect">
            <a:avLst/>
          </a:prstGeom>
          <a:noFill/>
          <a:ln/>
        </p:spPr>
        <p:txBody>
          <a:bodyPr wrap="square" lIns="0" tIns="0" rIns="0" bIns="0" rtlCol="0" anchor="t"/>
          <a:lstStyle/>
          <a:p>
            <a:pPr algn="l" indent="0" marL="0">
              <a:lnSpc>
                <a:spcPts val="2880"/>
              </a:lnSpc>
              <a:buNone/>
            </a:pPr>
            <a:r>
              <a:rPr lang="en-US" sz="2400" dirty="0">
                <a:solidFill>
                  <a:srgbClr val="1A1F2E"/>
                </a:solidFill>
                <a:latin typeface="Georgia" pitchFamily="34" charset="0"/>
                <a:ea typeface="Georgia" pitchFamily="34" charset="-122"/>
                <a:cs typeface="Georgia" pitchFamily="34" charset="-120"/>
              </a:rPr>
              <a:t>Claude Code</a:t>
            </a:r>
            <a:endParaRPr lang="en-US" sz="2400" dirty="0"/>
          </a:p>
          <a:p>
            <a:pPr algn="l" indent="0" marL="0">
              <a:lnSpc>
                <a:spcPts val="2880"/>
              </a:lnSpc>
              <a:buNone/>
            </a:pPr>
            <a:r>
              <a:rPr lang="en-US" sz="2400" dirty="0">
                <a:solidFill>
                  <a:srgbClr val="1A1F2E"/>
                </a:solidFill>
                <a:latin typeface="Georgia" pitchFamily="34" charset="0"/>
                <a:ea typeface="Georgia" pitchFamily="34" charset="-122"/>
                <a:cs typeface="Georgia" pitchFamily="34" charset="-120"/>
              </a:rPr>
              <a:t>Installation</a:t>
            </a:r>
            <a:endParaRPr lang="en-US" sz="2400" dirty="0"/>
          </a:p>
        </p:txBody>
      </p:sp>
      <p:sp>
        <p:nvSpPr>
          <p:cNvPr id="5" name="Text 3"/>
          <p:cNvSpPr/>
          <p:nvPr/>
        </p:nvSpPr>
        <p:spPr>
          <a:xfrm>
            <a:off x="381000" y="3066901"/>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81000" y="3428851"/>
            <a:ext cx="2437376" cy="173236"/>
          </a:xfrm>
          <a:prstGeom prst="rect">
            <a:avLst/>
          </a:prstGeom>
          <a:noFill/>
          <a:ln/>
        </p:spPr>
        <p:txBody>
          <a:bodyPr wrap="square" lIns="0" tIns="0" rIns="0" bIns="0" rtlCol="0" anchor="t"/>
          <a:lstStyle/>
          <a:p>
            <a:pPr algn="l" indent="0" marL="0">
              <a:lnSpc>
                <a:spcPts val="1365"/>
              </a:lnSpc>
              <a:buNone/>
            </a:pPr>
            <a:r>
              <a:rPr lang="en-US" sz="975" dirty="0">
                <a:solidFill>
                  <a:srgbClr val="1A1F2E">
                    <a:alpha val="70000"/>
                  </a:srgbClr>
                </a:solidFill>
                <a:latin typeface="Arial" pitchFamily="34" charset="0"/>
                <a:ea typeface="Arial" pitchFamily="34" charset="-122"/>
                <a:cs typeface="Arial" pitchFamily="34" charset="-120"/>
              </a:rPr>
              <a:t>Get started in minutes</a:t>
            </a:r>
            <a:endParaRPr lang="en-US" sz="975" dirty="0"/>
          </a:p>
        </p:txBody>
      </p:sp>
      <p:sp>
        <p:nvSpPr>
          <p:cNvPr id="7" name="Text 5"/>
          <p:cNvSpPr/>
          <p:nvPr/>
        </p:nvSpPr>
        <p:spPr>
          <a:xfrm>
            <a:off x="3303984" y="0"/>
            <a:ext cx="5840016"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3684984" y="805309"/>
            <a:ext cx="5078016"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3885009" y="988963"/>
            <a:ext cx="266700" cy="266700"/>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3986510" y="1042243"/>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456509" y="948184"/>
            <a:ext cx="1869171"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Install Node.js 18+</a:t>
            </a:r>
            <a:endParaRPr lang="en-US" sz="975" dirty="0"/>
          </a:p>
        </p:txBody>
      </p:sp>
      <p:sp>
        <p:nvSpPr>
          <p:cNvPr id="12" name="Text 10"/>
          <p:cNvSpPr/>
          <p:nvPr/>
        </p:nvSpPr>
        <p:spPr>
          <a:xfrm>
            <a:off x="4456509" y="1149995"/>
            <a:ext cx="1869171"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nodejs.org - LTS version recommended</a:t>
            </a:r>
            <a:endParaRPr lang="en-US" sz="825" dirty="0"/>
          </a:p>
        </p:txBody>
      </p:sp>
      <p:sp>
        <p:nvSpPr>
          <p:cNvPr id="13" name="Text 11"/>
          <p:cNvSpPr/>
          <p:nvPr/>
        </p:nvSpPr>
        <p:spPr>
          <a:xfrm>
            <a:off x="3684984" y="1534716"/>
            <a:ext cx="5078016"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4" name="Text 12"/>
          <p:cNvSpPr/>
          <p:nvPr/>
        </p:nvSpPr>
        <p:spPr>
          <a:xfrm>
            <a:off x="3885009" y="1718370"/>
            <a:ext cx="266700" cy="26670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3986510" y="1771650"/>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456509" y="1677591"/>
            <a:ext cx="2474113"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npm install -g @anthropic-ai/claude-code</a:t>
            </a:r>
            <a:endParaRPr lang="en-US" sz="975" dirty="0"/>
          </a:p>
        </p:txBody>
      </p:sp>
      <p:sp>
        <p:nvSpPr>
          <p:cNvPr id="17" name="Text 15"/>
          <p:cNvSpPr/>
          <p:nvPr/>
        </p:nvSpPr>
        <p:spPr>
          <a:xfrm>
            <a:off x="4456509" y="1879402"/>
            <a:ext cx="2474113"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Global installation via npm</a:t>
            </a:r>
            <a:endParaRPr lang="en-US" sz="825" dirty="0"/>
          </a:p>
        </p:txBody>
      </p:sp>
      <p:sp>
        <p:nvSpPr>
          <p:cNvPr id="18" name="Text 16"/>
          <p:cNvSpPr/>
          <p:nvPr/>
        </p:nvSpPr>
        <p:spPr>
          <a:xfrm>
            <a:off x="3684984" y="2264122"/>
            <a:ext cx="5078016"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885009" y="2447776"/>
            <a:ext cx="266700" cy="26670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3986510" y="250105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456509" y="2406997"/>
            <a:ext cx="1764426"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Run: claude</a:t>
            </a:r>
            <a:endParaRPr lang="en-US" sz="975" dirty="0"/>
          </a:p>
        </p:txBody>
      </p:sp>
      <p:sp>
        <p:nvSpPr>
          <p:cNvPr id="22" name="Text 20"/>
          <p:cNvSpPr/>
          <p:nvPr/>
        </p:nvSpPr>
        <p:spPr>
          <a:xfrm>
            <a:off x="4456509" y="2608808"/>
            <a:ext cx="1764426"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Launch Claude Code in your terminal</a:t>
            </a:r>
            <a:endParaRPr lang="en-US" sz="825" dirty="0"/>
          </a:p>
        </p:txBody>
      </p:sp>
      <p:sp>
        <p:nvSpPr>
          <p:cNvPr id="23" name="Text 21"/>
          <p:cNvSpPr/>
          <p:nvPr/>
        </p:nvSpPr>
        <p:spPr>
          <a:xfrm>
            <a:off x="3684984" y="2993529"/>
            <a:ext cx="5078016"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3885009" y="3177183"/>
            <a:ext cx="266700" cy="266700"/>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3986510" y="3230463"/>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456509" y="3136404"/>
            <a:ext cx="1679415"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Authenticate with Anthropic</a:t>
            </a:r>
            <a:endParaRPr lang="en-US" sz="975" dirty="0"/>
          </a:p>
        </p:txBody>
      </p:sp>
      <p:sp>
        <p:nvSpPr>
          <p:cNvPr id="27" name="Text 25"/>
          <p:cNvSpPr/>
          <p:nvPr/>
        </p:nvSpPr>
        <p:spPr>
          <a:xfrm>
            <a:off x="4456509" y="3338215"/>
            <a:ext cx="1679415"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Browser-based OAuth or API key</a:t>
            </a:r>
            <a:endParaRPr lang="en-US" sz="825" dirty="0"/>
          </a:p>
        </p:txBody>
      </p:sp>
      <p:sp>
        <p:nvSpPr>
          <p:cNvPr id="28" name="Text 26"/>
          <p:cNvSpPr/>
          <p:nvPr/>
        </p:nvSpPr>
        <p:spPr>
          <a:xfrm>
            <a:off x="3684984" y="3722936"/>
            <a:ext cx="5078016" cy="615107"/>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3875484" y="3897064"/>
            <a:ext cx="266700" cy="266700"/>
          </a:xfrm>
          <a:prstGeom prst="rect">
            <a:avLst/>
          </a:prstGeom>
          <a:solidFill>
            <a:srgbClr val="C9A227"/>
          </a:solidFill>
          <a:ln/>
        </p:spPr>
        <p:txBody>
          <a:bodyPr wrap="square" rtlCol="0" anchor="ctr"/>
          <a:lstStyle/>
          <a:p>
            <a:pPr indent="0" marL="0">
              <a:buNone/>
            </a:pPr>
            <a:endParaRPr lang="en-US" dirty="0"/>
          </a:p>
        </p:txBody>
      </p:sp>
      <p:sp>
        <p:nvSpPr>
          <p:cNvPr id="30" name="Text 28"/>
          <p:cNvSpPr/>
          <p:nvPr/>
        </p:nvSpPr>
        <p:spPr>
          <a:xfrm>
            <a:off x="3976985" y="3950345"/>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446984" y="3856286"/>
            <a:ext cx="2049363" cy="173236"/>
          </a:xfrm>
          <a:prstGeom prst="rect">
            <a:avLst/>
          </a:prstGeom>
          <a:noFill/>
          <a:ln/>
        </p:spPr>
        <p:txBody>
          <a:bodyPr wrap="square" lIns="0" tIns="0" rIns="0" bIns="0" rtlCol="0" anchor="t"/>
          <a:lstStyle/>
          <a:p>
            <a:pPr algn="l" indent="0" marL="0">
              <a:lnSpc>
                <a:spcPts val="1365"/>
              </a:lnSpc>
              <a:buNone/>
            </a:pPr>
            <a:r>
              <a:rPr lang="en-US" sz="975" b="1" dirty="0">
                <a:solidFill>
                  <a:srgbClr val="FFFFFF"/>
                </a:solidFill>
                <a:latin typeface="Arial" pitchFamily="34" charset="0"/>
                <a:ea typeface="Arial" pitchFamily="34" charset="-122"/>
                <a:cs typeface="Arial" pitchFamily="34" charset="-120"/>
              </a:rPr>
              <a:t>Start coding with voice!</a:t>
            </a:r>
            <a:endParaRPr lang="en-US" sz="975" dirty="0"/>
          </a:p>
        </p:txBody>
      </p:sp>
      <p:sp>
        <p:nvSpPr>
          <p:cNvPr id="32" name="Text 30"/>
          <p:cNvSpPr/>
          <p:nvPr/>
        </p:nvSpPr>
        <p:spPr>
          <a:xfrm>
            <a:off x="4446984" y="4058096"/>
            <a:ext cx="2049363"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FFFFFF">
                    <a:alpha val="60000"/>
                  </a:srgbClr>
                </a:solidFill>
                <a:latin typeface="Arial" pitchFamily="34" charset="0"/>
                <a:ea typeface="Arial" pitchFamily="34" charset="-122"/>
                <a:cs typeface="Arial" pitchFamily="34" charset="-120"/>
              </a:rPr>
              <a:t>Combine with SuperWhisper for voice input</a:t>
            </a:r>
            <a:endParaRPr lang="en-US" sz="8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REFERENCE</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FFFFFF"/>
                </a:solidFill>
                <a:latin typeface="Georgia" pitchFamily="34" charset="0"/>
                <a:ea typeface="Georgia" pitchFamily="34" charset="-122"/>
                <a:cs typeface="Georgia" pitchFamily="34" charset="-120"/>
              </a:rPr>
              <a:t>Claude Code Key Commands</a:t>
            </a:r>
            <a:endParaRPr lang="en-US" sz="2400" dirty="0"/>
          </a:p>
        </p:txBody>
      </p:sp>
      <p:sp>
        <p:nvSpPr>
          <p:cNvPr id="4" name="Text 2"/>
          <p:cNvSpPr/>
          <p:nvPr/>
        </p:nvSpPr>
        <p:spPr>
          <a:xfrm>
            <a:off x="457200" y="1468934"/>
            <a:ext cx="2641550" cy="3037880"/>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647700" y="1659434"/>
            <a:ext cx="2305761" cy="173236"/>
          </a:xfrm>
          <a:prstGeom prst="rect">
            <a:avLst/>
          </a:prstGeom>
          <a:noFill/>
          <a:ln/>
        </p:spPr>
        <p:txBody>
          <a:bodyPr wrap="square" lIns="0" tIns="0" rIns="0" bIns="0" rtlCol="0" anchor="t"/>
          <a:lstStyle/>
          <a:p>
            <a:pPr algn="l" indent="0" marL="0">
              <a:lnSpc>
                <a:spcPts val="1365"/>
              </a:lnSpc>
              <a:spcAft>
                <a:spcPts val="1200"/>
              </a:spcAft>
              <a:buNone/>
            </a:pPr>
            <a:r>
              <a:rPr lang="en-US" sz="975" b="1" dirty="0">
                <a:solidFill>
                  <a:srgbClr val="C9A227"/>
                </a:solidFill>
                <a:latin typeface="Arial" pitchFamily="34" charset="0"/>
                <a:ea typeface="Arial" pitchFamily="34" charset="-122"/>
                <a:cs typeface="Arial" pitchFamily="34" charset="-120"/>
              </a:rPr>
              <a:t>Basic Commands</a:t>
            </a:r>
            <a:endParaRPr lang="en-US" sz="975" dirty="0"/>
          </a:p>
        </p:txBody>
      </p:sp>
      <p:sp>
        <p:nvSpPr>
          <p:cNvPr id="6" name="Text 4"/>
          <p:cNvSpPr/>
          <p:nvPr/>
        </p:nvSpPr>
        <p:spPr>
          <a:xfrm>
            <a:off x="647700" y="2137470"/>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claude</a:t>
            </a:r>
            <a:endParaRPr lang="en-US" sz="900" dirty="0"/>
          </a:p>
        </p:txBody>
      </p:sp>
      <p:sp>
        <p:nvSpPr>
          <p:cNvPr id="7" name="Text 5"/>
          <p:cNvSpPr/>
          <p:nvPr/>
        </p:nvSpPr>
        <p:spPr>
          <a:xfrm>
            <a:off x="647700" y="2335560"/>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Start interactive session</a:t>
            </a:r>
            <a:endParaRPr lang="en-US" sz="825" dirty="0"/>
          </a:p>
        </p:txBody>
      </p:sp>
      <p:sp>
        <p:nvSpPr>
          <p:cNvPr id="8" name="Text 6"/>
          <p:cNvSpPr/>
          <p:nvPr/>
        </p:nvSpPr>
        <p:spPr>
          <a:xfrm>
            <a:off x="647700" y="2748855"/>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claude "prompt"</a:t>
            </a:r>
            <a:endParaRPr lang="en-US" sz="900" dirty="0"/>
          </a:p>
        </p:txBody>
      </p:sp>
      <p:sp>
        <p:nvSpPr>
          <p:cNvPr id="9" name="Text 7"/>
          <p:cNvSpPr/>
          <p:nvPr/>
        </p:nvSpPr>
        <p:spPr>
          <a:xfrm>
            <a:off x="647700" y="2946946"/>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Run with initial prompt</a:t>
            </a:r>
            <a:endParaRPr lang="en-US" sz="825" dirty="0"/>
          </a:p>
        </p:txBody>
      </p:sp>
      <p:sp>
        <p:nvSpPr>
          <p:cNvPr id="10" name="Text 8"/>
          <p:cNvSpPr/>
          <p:nvPr/>
        </p:nvSpPr>
        <p:spPr>
          <a:xfrm>
            <a:off x="647700" y="3360241"/>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claude --help</a:t>
            </a:r>
            <a:endParaRPr lang="en-US" sz="900" dirty="0"/>
          </a:p>
        </p:txBody>
      </p:sp>
      <p:sp>
        <p:nvSpPr>
          <p:cNvPr id="11" name="Text 9"/>
          <p:cNvSpPr/>
          <p:nvPr/>
        </p:nvSpPr>
        <p:spPr>
          <a:xfrm>
            <a:off x="647700" y="3558332"/>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Show all options</a:t>
            </a:r>
            <a:endParaRPr lang="en-US" sz="825" dirty="0"/>
          </a:p>
        </p:txBody>
      </p:sp>
      <p:sp>
        <p:nvSpPr>
          <p:cNvPr id="12" name="Text 10"/>
          <p:cNvSpPr/>
          <p:nvPr/>
        </p:nvSpPr>
        <p:spPr>
          <a:xfrm>
            <a:off x="647700" y="3971627"/>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claude --version</a:t>
            </a:r>
            <a:endParaRPr lang="en-US" sz="900" dirty="0"/>
          </a:p>
        </p:txBody>
      </p:sp>
      <p:sp>
        <p:nvSpPr>
          <p:cNvPr id="13" name="Text 11"/>
          <p:cNvSpPr/>
          <p:nvPr/>
        </p:nvSpPr>
        <p:spPr>
          <a:xfrm>
            <a:off x="647700" y="4169718"/>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Check installed version</a:t>
            </a:r>
            <a:endParaRPr lang="en-US" sz="825" dirty="0"/>
          </a:p>
        </p:txBody>
      </p:sp>
      <p:sp>
        <p:nvSpPr>
          <p:cNvPr id="14" name="Text 12"/>
          <p:cNvSpPr/>
          <p:nvPr/>
        </p:nvSpPr>
        <p:spPr>
          <a:xfrm>
            <a:off x="3251150" y="1468934"/>
            <a:ext cx="2641550" cy="3037880"/>
          </a:xfrm>
          <a:prstGeom prst="rect">
            <a:avLst/>
          </a:prstGeom>
          <a:solidFill>
            <a:srgbClr val="252B3D"/>
          </a:solidFill>
          <a:ln/>
        </p:spPr>
        <p:txBody>
          <a:bodyPr wrap="square" rtlCol="0" anchor="ctr"/>
          <a:lstStyle/>
          <a:p>
            <a:pPr indent="0" marL="0">
              <a:buNone/>
            </a:pPr>
            <a:endParaRPr lang="en-US" dirty="0"/>
          </a:p>
        </p:txBody>
      </p:sp>
      <p:sp>
        <p:nvSpPr>
          <p:cNvPr id="15" name="Text 13"/>
          <p:cNvSpPr/>
          <p:nvPr/>
        </p:nvSpPr>
        <p:spPr>
          <a:xfrm>
            <a:off x="3441650" y="1659434"/>
            <a:ext cx="2305761" cy="173236"/>
          </a:xfrm>
          <a:prstGeom prst="rect">
            <a:avLst/>
          </a:prstGeom>
          <a:noFill/>
          <a:ln/>
        </p:spPr>
        <p:txBody>
          <a:bodyPr wrap="square" lIns="0" tIns="0" rIns="0" bIns="0" rtlCol="0" anchor="t"/>
          <a:lstStyle/>
          <a:p>
            <a:pPr algn="l" indent="0" marL="0">
              <a:lnSpc>
                <a:spcPts val="1365"/>
              </a:lnSpc>
              <a:spcAft>
                <a:spcPts val="1200"/>
              </a:spcAft>
              <a:buNone/>
            </a:pPr>
            <a:r>
              <a:rPr lang="en-US" sz="975" b="1" dirty="0">
                <a:solidFill>
                  <a:srgbClr val="C9A227"/>
                </a:solidFill>
                <a:latin typeface="Arial" pitchFamily="34" charset="0"/>
                <a:ea typeface="Arial" pitchFamily="34" charset="-122"/>
                <a:cs typeface="Arial" pitchFamily="34" charset="-120"/>
              </a:rPr>
              <a:t>Session Controls</a:t>
            </a:r>
            <a:endParaRPr lang="en-US" sz="975" dirty="0"/>
          </a:p>
        </p:txBody>
      </p:sp>
      <p:sp>
        <p:nvSpPr>
          <p:cNvPr id="16" name="Text 14"/>
          <p:cNvSpPr/>
          <p:nvPr/>
        </p:nvSpPr>
        <p:spPr>
          <a:xfrm>
            <a:off x="3441650" y="2137470"/>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/clear</a:t>
            </a:r>
            <a:endParaRPr lang="en-US" sz="900" dirty="0"/>
          </a:p>
        </p:txBody>
      </p:sp>
      <p:sp>
        <p:nvSpPr>
          <p:cNvPr id="17" name="Text 15"/>
          <p:cNvSpPr/>
          <p:nvPr/>
        </p:nvSpPr>
        <p:spPr>
          <a:xfrm>
            <a:off x="3441650" y="2335560"/>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Clear conversation history</a:t>
            </a:r>
            <a:endParaRPr lang="en-US" sz="825" dirty="0"/>
          </a:p>
        </p:txBody>
      </p:sp>
      <p:sp>
        <p:nvSpPr>
          <p:cNvPr id="18" name="Text 16"/>
          <p:cNvSpPr/>
          <p:nvPr/>
        </p:nvSpPr>
        <p:spPr>
          <a:xfrm>
            <a:off x="3441650" y="2748855"/>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/compact</a:t>
            </a:r>
            <a:endParaRPr lang="en-US" sz="900" dirty="0"/>
          </a:p>
        </p:txBody>
      </p:sp>
      <p:sp>
        <p:nvSpPr>
          <p:cNvPr id="19" name="Text 17"/>
          <p:cNvSpPr/>
          <p:nvPr/>
        </p:nvSpPr>
        <p:spPr>
          <a:xfrm>
            <a:off x="3441650" y="2946946"/>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Summarize conversation</a:t>
            </a:r>
            <a:endParaRPr lang="en-US" sz="825" dirty="0"/>
          </a:p>
        </p:txBody>
      </p:sp>
      <p:sp>
        <p:nvSpPr>
          <p:cNvPr id="20" name="Text 18"/>
          <p:cNvSpPr/>
          <p:nvPr/>
        </p:nvSpPr>
        <p:spPr>
          <a:xfrm>
            <a:off x="3441650" y="3360241"/>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/resume</a:t>
            </a:r>
            <a:endParaRPr lang="en-US" sz="900" dirty="0"/>
          </a:p>
        </p:txBody>
      </p:sp>
      <p:sp>
        <p:nvSpPr>
          <p:cNvPr id="21" name="Text 19"/>
          <p:cNvSpPr/>
          <p:nvPr/>
        </p:nvSpPr>
        <p:spPr>
          <a:xfrm>
            <a:off x="3441650" y="3558332"/>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Resume previous session</a:t>
            </a:r>
            <a:endParaRPr lang="en-US" sz="825" dirty="0"/>
          </a:p>
        </p:txBody>
      </p:sp>
      <p:sp>
        <p:nvSpPr>
          <p:cNvPr id="22" name="Text 20"/>
          <p:cNvSpPr/>
          <p:nvPr/>
        </p:nvSpPr>
        <p:spPr>
          <a:xfrm>
            <a:off x="3441650" y="3971627"/>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Ctrl+C / /exit</a:t>
            </a:r>
            <a:endParaRPr lang="en-US" sz="900" dirty="0"/>
          </a:p>
        </p:txBody>
      </p:sp>
      <p:sp>
        <p:nvSpPr>
          <p:cNvPr id="23" name="Text 21"/>
          <p:cNvSpPr/>
          <p:nvPr/>
        </p:nvSpPr>
        <p:spPr>
          <a:xfrm>
            <a:off x="3441650" y="4169718"/>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Exit Claude Code</a:t>
            </a:r>
            <a:endParaRPr lang="en-US" sz="825" dirty="0"/>
          </a:p>
        </p:txBody>
      </p:sp>
      <p:sp>
        <p:nvSpPr>
          <p:cNvPr id="24" name="Text 22"/>
          <p:cNvSpPr/>
          <p:nvPr/>
        </p:nvSpPr>
        <p:spPr>
          <a:xfrm>
            <a:off x="6045101" y="1468934"/>
            <a:ext cx="2641550" cy="3037880"/>
          </a:xfrm>
          <a:prstGeom prst="rect">
            <a:avLst/>
          </a:prstGeom>
          <a:solidFill>
            <a:srgbClr val="252B3D"/>
          </a:solidFill>
          <a:ln/>
        </p:spPr>
        <p:txBody>
          <a:bodyPr wrap="square" rtlCol="0" anchor="ctr"/>
          <a:lstStyle/>
          <a:p>
            <a:pPr indent="0" marL="0">
              <a:buNone/>
            </a:pPr>
            <a:endParaRPr lang="en-US" dirty="0"/>
          </a:p>
        </p:txBody>
      </p:sp>
      <p:sp>
        <p:nvSpPr>
          <p:cNvPr id="25" name="Text 23"/>
          <p:cNvSpPr/>
          <p:nvPr/>
        </p:nvSpPr>
        <p:spPr>
          <a:xfrm>
            <a:off x="6235601" y="1659434"/>
            <a:ext cx="2305761" cy="173236"/>
          </a:xfrm>
          <a:prstGeom prst="rect">
            <a:avLst/>
          </a:prstGeom>
          <a:noFill/>
          <a:ln/>
        </p:spPr>
        <p:txBody>
          <a:bodyPr wrap="square" lIns="0" tIns="0" rIns="0" bIns="0" rtlCol="0" anchor="t"/>
          <a:lstStyle/>
          <a:p>
            <a:pPr algn="l" indent="0" marL="0">
              <a:lnSpc>
                <a:spcPts val="1365"/>
              </a:lnSpc>
              <a:spcAft>
                <a:spcPts val="1200"/>
              </a:spcAft>
              <a:buNone/>
            </a:pPr>
            <a:r>
              <a:rPr lang="en-US" sz="975" b="1" dirty="0">
                <a:solidFill>
                  <a:srgbClr val="C9A227"/>
                </a:solidFill>
                <a:latin typeface="Arial" pitchFamily="34" charset="0"/>
                <a:ea typeface="Arial" pitchFamily="34" charset="-122"/>
                <a:cs typeface="Arial" pitchFamily="34" charset="-120"/>
              </a:rPr>
              <a:t>Advanced Options</a:t>
            </a:r>
            <a:endParaRPr lang="en-US" sz="975" dirty="0"/>
          </a:p>
        </p:txBody>
      </p:sp>
      <p:sp>
        <p:nvSpPr>
          <p:cNvPr id="26" name="Text 24"/>
          <p:cNvSpPr/>
          <p:nvPr/>
        </p:nvSpPr>
        <p:spPr>
          <a:xfrm>
            <a:off x="6235601" y="2137470"/>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--model opus</a:t>
            </a:r>
            <a:endParaRPr lang="en-US" sz="900" dirty="0"/>
          </a:p>
        </p:txBody>
      </p:sp>
      <p:sp>
        <p:nvSpPr>
          <p:cNvPr id="27" name="Text 25"/>
          <p:cNvSpPr/>
          <p:nvPr/>
        </p:nvSpPr>
        <p:spPr>
          <a:xfrm>
            <a:off x="6235601" y="2335560"/>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Specify model variant</a:t>
            </a:r>
            <a:endParaRPr lang="en-US" sz="825" dirty="0"/>
          </a:p>
        </p:txBody>
      </p:sp>
      <p:sp>
        <p:nvSpPr>
          <p:cNvPr id="28" name="Text 26"/>
          <p:cNvSpPr/>
          <p:nvPr/>
        </p:nvSpPr>
        <p:spPr>
          <a:xfrm>
            <a:off x="6235601" y="2748855"/>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--allowedTools</a:t>
            </a:r>
            <a:endParaRPr lang="en-US" sz="900" dirty="0"/>
          </a:p>
        </p:txBody>
      </p:sp>
      <p:sp>
        <p:nvSpPr>
          <p:cNvPr id="29" name="Text 27"/>
          <p:cNvSpPr/>
          <p:nvPr/>
        </p:nvSpPr>
        <p:spPr>
          <a:xfrm>
            <a:off x="6235601" y="2946946"/>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Restrict tool access</a:t>
            </a:r>
            <a:endParaRPr lang="en-US" sz="825" dirty="0"/>
          </a:p>
        </p:txBody>
      </p:sp>
      <p:sp>
        <p:nvSpPr>
          <p:cNvPr id="30" name="Text 28"/>
          <p:cNvSpPr/>
          <p:nvPr/>
        </p:nvSpPr>
        <p:spPr>
          <a:xfrm>
            <a:off x="6235601" y="3360241"/>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--verbose</a:t>
            </a:r>
            <a:endParaRPr lang="en-US" sz="900" dirty="0"/>
          </a:p>
        </p:txBody>
      </p:sp>
      <p:sp>
        <p:nvSpPr>
          <p:cNvPr id="31" name="Text 29"/>
          <p:cNvSpPr/>
          <p:nvPr/>
        </p:nvSpPr>
        <p:spPr>
          <a:xfrm>
            <a:off x="6235601" y="3558332"/>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Enable detailed logging</a:t>
            </a:r>
            <a:endParaRPr lang="en-US" sz="825" dirty="0"/>
          </a:p>
        </p:txBody>
      </p:sp>
      <p:sp>
        <p:nvSpPr>
          <p:cNvPr id="32" name="Text 30"/>
          <p:cNvSpPr/>
          <p:nvPr/>
        </p:nvSpPr>
        <p:spPr>
          <a:xfrm>
            <a:off x="6235601" y="3971627"/>
            <a:ext cx="2305761"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monospace" pitchFamily="34" charset="0"/>
                <a:ea typeface="monospace" pitchFamily="34" charset="-122"/>
                <a:cs typeface="monospace" pitchFamily="34" charset="-120"/>
              </a:rPr>
              <a:t>--dangerously-skip</a:t>
            </a:r>
            <a:endParaRPr lang="en-US" sz="900" dirty="0"/>
          </a:p>
        </p:txBody>
      </p:sp>
      <p:sp>
        <p:nvSpPr>
          <p:cNvPr id="33" name="Text 31"/>
          <p:cNvSpPr/>
          <p:nvPr/>
        </p:nvSpPr>
        <p:spPr>
          <a:xfrm>
            <a:off x="6235601" y="4169718"/>
            <a:ext cx="230576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Skip safety prompts (caution)</a:t>
            </a:r>
            <a:endParaRPr lang="en-US" sz="8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IDE INTEGRATION</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VS Code AI Extensions</a:t>
            </a:r>
            <a:endParaRPr lang="en-US" sz="2400" dirty="0"/>
          </a:p>
        </p:txBody>
      </p:sp>
      <p:sp>
        <p:nvSpPr>
          <p:cNvPr id="4" name="Text 2"/>
          <p:cNvSpPr/>
          <p:nvPr/>
        </p:nvSpPr>
        <p:spPr>
          <a:xfrm>
            <a:off x="457200" y="1462534"/>
            <a:ext cx="2641550" cy="3050828"/>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76250" y="1462534"/>
            <a:ext cx="0" cy="3050828"/>
          </a:xfrm>
          <a:prstGeom prst="line">
            <a:avLst/>
          </a:prstGeom>
          <a:noFill/>
          <a:ln w="38100">
            <a:solidFill>
              <a:srgbClr val="C9A227"/>
            </a:solidFill>
            <a:prstDash val="solid"/>
          </a:ln>
        </p:spPr>
      </p:sp>
      <p:sp>
        <p:nvSpPr>
          <p:cNvPr id="6" name="Text 4"/>
          <p:cNvSpPr/>
          <p:nvPr/>
        </p:nvSpPr>
        <p:spPr>
          <a:xfrm>
            <a:off x="685800" y="1653034"/>
            <a:ext cx="2266899" cy="213271"/>
          </a:xfrm>
          <a:prstGeom prst="rect">
            <a:avLst/>
          </a:prstGeom>
          <a:noFill/>
          <a:ln/>
        </p:spPr>
        <p:txBody>
          <a:bodyPr wrap="square" lIns="0" tIns="0" rIns="0" bIns="0" rtlCol="0" anchor="t"/>
          <a:lstStyle/>
          <a:p>
            <a:pPr algn="l" indent="0" marL="0">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Continue.dev</a:t>
            </a:r>
            <a:endParaRPr lang="en-US" sz="1200" dirty="0"/>
          </a:p>
        </p:txBody>
      </p:sp>
      <p:sp>
        <p:nvSpPr>
          <p:cNvPr id="7" name="Text 5"/>
          <p:cNvSpPr/>
          <p:nvPr/>
        </p:nvSpPr>
        <p:spPr>
          <a:xfrm>
            <a:off x="685800" y="2094905"/>
            <a:ext cx="2266899" cy="365522"/>
          </a:xfrm>
          <a:prstGeom prst="rect">
            <a:avLst/>
          </a:prstGeom>
          <a:noFill/>
          <a:ln/>
        </p:spPr>
        <p:txBody>
          <a:bodyPr wrap="square" lIns="0" tIns="0" rIns="0" bIns="0" rtlCol="0" anchor="t"/>
          <a:lstStyle/>
          <a:p>
            <a:pPr algn="l" indent="0" marL="0">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Open-source AI assistant that works with any model provider</a:t>
            </a:r>
            <a:endParaRPr lang="en-US" sz="900" dirty="0"/>
          </a:p>
        </p:txBody>
      </p:sp>
      <p:sp>
        <p:nvSpPr>
          <p:cNvPr id="8" name="Text 6"/>
          <p:cNvSpPr/>
          <p:nvPr/>
        </p:nvSpPr>
        <p:spPr>
          <a:xfrm>
            <a:off x="685800" y="2765227"/>
            <a:ext cx="2222450" cy="1144339"/>
          </a:xfrm>
          <a:prstGeom prst="rect">
            <a:avLst/>
          </a:prstGeom>
          <a:solidFill>
            <a:srgbClr val="F7F8FA"/>
          </a:solidFill>
          <a:ln/>
        </p:spPr>
        <p:txBody>
          <a:bodyPr wrap="square" rtlCol="0" anchor="ctr"/>
          <a:lstStyle/>
          <a:p>
            <a:pPr indent="0" marL="0">
              <a:buNone/>
            </a:pPr>
            <a:endParaRPr lang="en-US" dirty="0"/>
          </a:p>
        </p:txBody>
      </p:sp>
      <p:sp>
        <p:nvSpPr>
          <p:cNvPr id="9" name="Text 7"/>
          <p:cNvSpPr/>
          <p:nvPr/>
        </p:nvSpPr>
        <p:spPr>
          <a:xfrm>
            <a:off x="800100" y="2879527"/>
            <a:ext cx="203372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10" name="Text 8"/>
          <p:cNvSpPr/>
          <p:nvPr/>
        </p:nvSpPr>
        <p:spPr>
          <a:xfrm>
            <a:off x="800100" y="3083272"/>
            <a:ext cx="2033727"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Tab autocomplete</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Inline editing</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Chat sidebar</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Custom context</a:t>
            </a:r>
            <a:endParaRPr lang="en-US" sz="825" dirty="0"/>
          </a:p>
        </p:txBody>
      </p:sp>
      <p:sp>
        <p:nvSpPr>
          <p:cNvPr id="11" name="Text 9"/>
          <p:cNvSpPr/>
          <p:nvPr/>
        </p:nvSpPr>
        <p:spPr>
          <a:xfrm>
            <a:off x="685800" y="4176266"/>
            <a:ext cx="2266899"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Supports Azure OpenAI</a:t>
            </a:r>
            <a:endParaRPr lang="en-US" sz="825" dirty="0"/>
          </a:p>
        </p:txBody>
      </p:sp>
      <p:sp>
        <p:nvSpPr>
          <p:cNvPr id="12" name="Text 10"/>
          <p:cNvSpPr/>
          <p:nvPr/>
        </p:nvSpPr>
        <p:spPr>
          <a:xfrm>
            <a:off x="3251150" y="1462534"/>
            <a:ext cx="2641550" cy="3050828"/>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3270200" y="1462534"/>
            <a:ext cx="0" cy="3050828"/>
          </a:xfrm>
          <a:prstGeom prst="line">
            <a:avLst/>
          </a:prstGeom>
          <a:noFill/>
          <a:ln w="38100">
            <a:solidFill>
              <a:srgbClr val="C9A227"/>
            </a:solidFill>
            <a:prstDash val="solid"/>
          </a:ln>
        </p:spPr>
      </p:sp>
      <p:sp>
        <p:nvSpPr>
          <p:cNvPr id="14" name="Text 12"/>
          <p:cNvSpPr/>
          <p:nvPr/>
        </p:nvSpPr>
        <p:spPr>
          <a:xfrm>
            <a:off x="3479750" y="1653034"/>
            <a:ext cx="2266899" cy="213271"/>
          </a:xfrm>
          <a:prstGeom prst="rect">
            <a:avLst/>
          </a:prstGeom>
          <a:noFill/>
          <a:ln/>
        </p:spPr>
        <p:txBody>
          <a:bodyPr wrap="square" lIns="0" tIns="0" rIns="0" bIns="0" rtlCol="0" anchor="t"/>
          <a:lstStyle/>
          <a:p>
            <a:pPr algn="l" indent="0" marL="0">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GitHub Copilot</a:t>
            </a:r>
            <a:endParaRPr lang="en-US" sz="1200" dirty="0"/>
          </a:p>
        </p:txBody>
      </p:sp>
      <p:sp>
        <p:nvSpPr>
          <p:cNvPr id="15" name="Text 13"/>
          <p:cNvSpPr/>
          <p:nvPr/>
        </p:nvSpPr>
        <p:spPr>
          <a:xfrm>
            <a:off x="3479750" y="2094905"/>
            <a:ext cx="2266899" cy="365522"/>
          </a:xfrm>
          <a:prstGeom prst="rect">
            <a:avLst/>
          </a:prstGeom>
          <a:noFill/>
          <a:ln/>
        </p:spPr>
        <p:txBody>
          <a:bodyPr wrap="square" lIns="0" tIns="0" rIns="0" bIns="0" rtlCol="0" anchor="t"/>
          <a:lstStyle/>
          <a:p>
            <a:pPr algn="l" indent="0" marL="0">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Microsoft's AI pair programmer with deep VS Code integration</a:t>
            </a:r>
            <a:endParaRPr lang="en-US" sz="900" dirty="0"/>
          </a:p>
        </p:txBody>
      </p:sp>
      <p:sp>
        <p:nvSpPr>
          <p:cNvPr id="16" name="Text 14"/>
          <p:cNvSpPr/>
          <p:nvPr/>
        </p:nvSpPr>
        <p:spPr>
          <a:xfrm>
            <a:off x="3479750" y="2765227"/>
            <a:ext cx="2222450" cy="1144339"/>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594050" y="2879527"/>
            <a:ext cx="203372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18" name="Text 16"/>
          <p:cNvSpPr/>
          <p:nvPr/>
        </p:nvSpPr>
        <p:spPr>
          <a:xfrm>
            <a:off x="3594050" y="3083272"/>
            <a:ext cx="2033727"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Ghost text suggestions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Copilot Chat</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Slash commands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Workspace Q&amp;A</a:t>
            </a:r>
            <a:endParaRPr lang="en-US" sz="825" dirty="0"/>
          </a:p>
        </p:txBody>
      </p:sp>
      <p:sp>
        <p:nvSpPr>
          <p:cNvPr id="19" name="Text 17"/>
          <p:cNvSpPr/>
          <p:nvPr/>
        </p:nvSpPr>
        <p:spPr>
          <a:xfrm>
            <a:off x="3479750" y="4176266"/>
            <a:ext cx="2266899" cy="146596"/>
          </a:xfrm>
          <a:prstGeom prst="rect">
            <a:avLst/>
          </a:prstGeom>
          <a:noFill/>
          <a:ln/>
        </p:spPr>
        <p:txBody>
          <a:bodyPr wrap="square" lIns="0" tIns="0" rIns="0" bIns="0" rtlCol="0" anchor="t"/>
          <a:lstStyle/>
          <a:p>
            <a:pPr algn="l" indent="0" marL="0">
              <a:lnSpc>
                <a:spcPts val="1155"/>
              </a:lnSpc>
              <a:buNone/>
            </a:pPr>
            <a:r>
              <a:rPr lang="en-US" sz="825" b="1" dirty="0">
                <a:solidFill>
                  <a:srgbClr val="F59E0B"/>
                </a:solidFill>
                <a:latin typeface="Arial" pitchFamily="34" charset="0"/>
                <a:ea typeface="Arial" pitchFamily="34" charset="-122"/>
                <a:cs typeface="Arial" pitchFamily="34" charset="-120"/>
              </a:rPr>
              <a:t>Requires subscription</a:t>
            </a:r>
            <a:endParaRPr lang="en-US" sz="825" dirty="0"/>
          </a:p>
        </p:txBody>
      </p:sp>
      <p:sp>
        <p:nvSpPr>
          <p:cNvPr id="20" name="Text 18"/>
          <p:cNvSpPr/>
          <p:nvPr/>
        </p:nvSpPr>
        <p:spPr>
          <a:xfrm>
            <a:off x="6045101" y="1462534"/>
            <a:ext cx="2641550" cy="3050828"/>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064151" y="1462534"/>
            <a:ext cx="0" cy="3050828"/>
          </a:xfrm>
          <a:prstGeom prst="line">
            <a:avLst/>
          </a:prstGeom>
          <a:noFill/>
          <a:ln w="38100">
            <a:solidFill>
              <a:srgbClr val="C9A227"/>
            </a:solidFill>
            <a:prstDash val="solid"/>
          </a:ln>
        </p:spPr>
      </p:sp>
      <p:sp>
        <p:nvSpPr>
          <p:cNvPr id="22" name="Text 20"/>
          <p:cNvSpPr/>
          <p:nvPr/>
        </p:nvSpPr>
        <p:spPr>
          <a:xfrm>
            <a:off x="6273701" y="1653034"/>
            <a:ext cx="2266899" cy="213271"/>
          </a:xfrm>
          <a:prstGeom prst="rect">
            <a:avLst/>
          </a:prstGeom>
          <a:noFill/>
          <a:ln/>
        </p:spPr>
        <p:txBody>
          <a:bodyPr wrap="square" lIns="0" tIns="0" rIns="0" bIns="0" rtlCol="0" anchor="t"/>
          <a:lstStyle/>
          <a:p>
            <a:pPr algn="l" indent="0" marL="0">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Cody (Sourcegraph)</a:t>
            </a:r>
            <a:endParaRPr lang="en-US" sz="1200" dirty="0"/>
          </a:p>
        </p:txBody>
      </p:sp>
      <p:sp>
        <p:nvSpPr>
          <p:cNvPr id="23" name="Text 21"/>
          <p:cNvSpPr/>
          <p:nvPr/>
        </p:nvSpPr>
        <p:spPr>
          <a:xfrm>
            <a:off x="6273701" y="2094905"/>
            <a:ext cx="2266899" cy="365522"/>
          </a:xfrm>
          <a:prstGeom prst="rect">
            <a:avLst/>
          </a:prstGeom>
          <a:noFill/>
          <a:ln/>
        </p:spPr>
        <p:txBody>
          <a:bodyPr wrap="square" lIns="0" tIns="0" rIns="0" bIns="0" rtlCol="0" anchor="t"/>
          <a:lstStyle/>
          <a:p>
            <a:pPr algn="l" indent="0" marL="0">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Enterprise-focused with advanced code search</a:t>
            </a:r>
            <a:endParaRPr lang="en-US" sz="900" dirty="0"/>
          </a:p>
        </p:txBody>
      </p:sp>
      <p:sp>
        <p:nvSpPr>
          <p:cNvPr id="24" name="Text 22"/>
          <p:cNvSpPr/>
          <p:nvPr/>
        </p:nvSpPr>
        <p:spPr>
          <a:xfrm>
            <a:off x="6273701" y="2765227"/>
            <a:ext cx="2222450" cy="1144339"/>
          </a:xfrm>
          <a:prstGeom prst="rect">
            <a:avLst/>
          </a:prstGeom>
          <a:solidFill>
            <a:srgbClr val="F7F8FA"/>
          </a:solidFill>
          <a:ln/>
        </p:spPr>
        <p:txBody>
          <a:bodyPr wrap="square" rtlCol="0" anchor="ctr"/>
          <a:lstStyle/>
          <a:p>
            <a:pPr indent="0" marL="0">
              <a:buNone/>
            </a:pPr>
            <a:endParaRPr lang="en-US" dirty="0"/>
          </a:p>
        </p:txBody>
      </p:sp>
      <p:sp>
        <p:nvSpPr>
          <p:cNvPr id="25" name="Text 23"/>
          <p:cNvSpPr/>
          <p:nvPr/>
        </p:nvSpPr>
        <p:spPr>
          <a:xfrm>
            <a:off x="6388001" y="2879527"/>
            <a:ext cx="203372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26" name="Text 24"/>
          <p:cNvSpPr/>
          <p:nvPr/>
        </p:nvSpPr>
        <p:spPr>
          <a:xfrm>
            <a:off x="6388001" y="3083272"/>
            <a:ext cx="2033727" cy="711994"/>
          </a:xfrm>
          <a:prstGeom prst="rect">
            <a:avLst/>
          </a:prstGeom>
          <a:noFill/>
          <a:ln/>
        </p:spPr>
        <p:txBody>
          <a:bodyPr wrap="square" lIns="0" tIns="0" rIns="0" bIns="0" rtlCol="0" anchor="t"/>
          <a:lstStyle/>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Codebase search</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Context awareness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Multiple models</a:t>
            </a:r>
            <a:endParaRPr lang="en-US" sz="825" dirty="0"/>
          </a:p>
          <a:p>
            <a:pPr algn="l" indent="0" marL="0">
              <a:lnSpc>
                <a:spcPts val="1402"/>
              </a:lnSpc>
              <a:buNone/>
            </a:pPr>
            <a:r>
              <a:rPr lang="en-US" sz="825" dirty="0">
                <a:solidFill>
                  <a:srgbClr val="6B7280"/>
                </a:solidFill>
                <a:latin typeface="Arial" pitchFamily="34" charset="0"/>
                <a:ea typeface="Arial" pitchFamily="34" charset="-122"/>
                <a:cs typeface="Arial" pitchFamily="34" charset="-120"/>
              </a:rPr>
              <a:t>Self-hosted option</a:t>
            </a:r>
            <a:endParaRPr lang="en-US" sz="825" dirty="0"/>
          </a:p>
        </p:txBody>
      </p:sp>
      <p:sp>
        <p:nvSpPr>
          <p:cNvPr id="27" name="Text 25"/>
          <p:cNvSpPr/>
          <p:nvPr/>
        </p:nvSpPr>
        <p:spPr>
          <a:xfrm>
            <a:off x="6273701" y="4176266"/>
            <a:ext cx="2266899"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Free tier available</a:t>
            </a:r>
            <a:endParaRPr lang="en-US" sz="8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COMPARISON</a:t>
            </a:r>
            <a:endParaRPr lang="en-US" sz="825" dirty="0"/>
          </a:p>
        </p:txBody>
      </p:sp>
      <p:sp>
        <p:nvSpPr>
          <p:cNvPr id="3" name="Text 1"/>
          <p:cNvSpPr/>
          <p:nvPr/>
        </p:nvSpPr>
        <p:spPr>
          <a:xfrm>
            <a:off x="457200" y="45139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AI Coding Assistant Comparison</a:t>
            </a:r>
            <a:endParaRPr lang="en-US" sz="2100" dirty="0"/>
          </a:p>
        </p:txBody>
      </p:sp>
      <p:sp>
        <p:nvSpPr>
          <p:cNvPr id="4" name="Text 2"/>
          <p:cNvSpPr/>
          <p:nvPr/>
        </p:nvSpPr>
        <p:spPr>
          <a:xfrm>
            <a:off x="457200" y="1387078"/>
            <a:ext cx="8229600" cy="337096"/>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09600" y="1482328"/>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Tool</a:t>
            </a:r>
            <a:endParaRPr lang="en-US" sz="825" dirty="0"/>
          </a:p>
        </p:txBody>
      </p:sp>
      <p:sp>
        <p:nvSpPr>
          <p:cNvPr id="6" name="Text 4"/>
          <p:cNvSpPr/>
          <p:nvPr/>
        </p:nvSpPr>
        <p:spPr>
          <a:xfrm>
            <a:off x="2039838"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Interface</a:t>
            </a:r>
            <a:endParaRPr lang="en-US" sz="825" dirty="0"/>
          </a:p>
        </p:txBody>
      </p:sp>
      <p:sp>
        <p:nvSpPr>
          <p:cNvPr id="7" name="Text 5"/>
          <p:cNvSpPr/>
          <p:nvPr/>
        </p:nvSpPr>
        <p:spPr>
          <a:xfrm>
            <a:off x="3336782" y="1482328"/>
            <a:ext cx="1315084"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Strengths</a:t>
            </a:r>
            <a:endParaRPr lang="en-US" sz="825" dirty="0"/>
          </a:p>
        </p:txBody>
      </p:sp>
      <p:sp>
        <p:nvSpPr>
          <p:cNvPr id="8" name="Text 6"/>
          <p:cNvSpPr/>
          <p:nvPr/>
        </p:nvSpPr>
        <p:spPr>
          <a:xfrm>
            <a:off x="4779913"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Cost</a:t>
            </a:r>
            <a:endParaRPr lang="en-US" sz="825" dirty="0"/>
          </a:p>
        </p:txBody>
      </p:sp>
      <p:sp>
        <p:nvSpPr>
          <p:cNvPr id="9" name="Text 7"/>
          <p:cNvSpPr/>
          <p:nvPr/>
        </p:nvSpPr>
        <p:spPr>
          <a:xfrm>
            <a:off x="6078289"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Enterprise</a:t>
            </a:r>
            <a:endParaRPr lang="en-US" sz="825" dirty="0"/>
          </a:p>
        </p:txBody>
      </p:sp>
      <p:sp>
        <p:nvSpPr>
          <p:cNvPr id="10" name="Text 8"/>
          <p:cNvSpPr/>
          <p:nvPr/>
        </p:nvSpPr>
        <p:spPr>
          <a:xfrm>
            <a:off x="7376666" y="148232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Voice Ready</a:t>
            </a:r>
            <a:endParaRPr lang="en-US" sz="825" dirty="0"/>
          </a:p>
        </p:txBody>
      </p:sp>
      <p:sp>
        <p:nvSpPr>
          <p:cNvPr id="11" name="Text 9"/>
          <p:cNvSpPr/>
          <p:nvPr/>
        </p:nvSpPr>
        <p:spPr>
          <a:xfrm>
            <a:off x="457200" y="1895624"/>
            <a:ext cx="8229600" cy="346621"/>
          </a:xfrm>
          <a:prstGeom prst="rect">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457200" y="2237482"/>
            <a:ext cx="8229600" cy="0"/>
          </a:xfrm>
          <a:prstGeom prst="line">
            <a:avLst/>
          </a:prstGeom>
          <a:noFill/>
          <a:ln w="9525">
            <a:solidFill>
              <a:srgbClr val="E4E7ED"/>
            </a:solidFill>
            <a:prstDash val="solid"/>
          </a:ln>
        </p:spPr>
      </p:sp>
      <p:sp>
        <p:nvSpPr>
          <p:cNvPr id="13" name="Text 11"/>
          <p:cNvSpPr/>
          <p:nvPr/>
        </p:nvSpPr>
        <p:spPr>
          <a:xfrm>
            <a:off x="609600" y="1990874"/>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Claude Code</a:t>
            </a:r>
            <a:endParaRPr lang="en-US" sz="825" dirty="0"/>
          </a:p>
        </p:txBody>
      </p:sp>
      <p:sp>
        <p:nvSpPr>
          <p:cNvPr id="14" name="Text 12"/>
          <p:cNvSpPr/>
          <p:nvPr/>
        </p:nvSpPr>
        <p:spPr>
          <a:xfrm>
            <a:off x="2039838" y="1990874"/>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Terminal</a:t>
            </a:r>
            <a:endParaRPr lang="en-US" sz="825" dirty="0"/>
          </a:p>
        </p:txBody>
      </p:sp>
      <p:sp>
        <p:nvSpPr>
          <p:cNvPr id="15" name="Text 13"/>
          <p:cNvSpPr/>
          <p:nvPr/>
        </p:nvSpPr>
        <p:spPr>
          <a:xfrm>
            <a:off x="3336782" y="1990874"/>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Agentic, multi-file</a:t>
            </a:r>
            <a:endParaRPr lang="en-US" sz="825" dirty="0"/>
          </a:p>
        </p:txBody>
      </p:sp>
      <p:sp>
        <p:nvSpPr>
          <p:cNvPr id="16" name="Text 14"/>
          <p:cNvSpPr/>
          <p:nvPr/>
        </p:nvSpPr>
        <p:spPr>
          <a:xfrm>
            <a:off x="4779913" y="1990874"/>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Usage-based</a:t>
            </a:r>
            <a:endParaRPr lang="en-US" sz="825" dirty="0"/>
          </a:p>
        </p:txBody>
      </p:sp>
      <p:sp>
        <p:nvSpPr>
          <p:cNvPr id="17" name="Text 15"/>
          <p:cNvSpPr/>
          <p:nvPr/>
        </p:nvSpPr>
        <p:spPr>
          <a:xfrm>
            <a:off x="6078289" y="1990874"/>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Yes (Azure)</a:t>
            </a:r>
            <a:endParaRPr lang="en-US" sz="825" dirty="0"/>
          </a:p>
        </p:txBody>
      </p:sp>
      <p:sp>
        <p:nvSpPr>
          <p:cNvPr id="18" name="Text 16"/>
          <p:cNvSpPr/>
          <p:nvPr/>
        </p:nvSpPr>
        <p:spPr>
          <a:xfrm>
            <a:off x="7376666" y="1990874"/>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Excellent</a:t>
            </a:r>
            <a:endParaRPr lang="en-US" sz="825" dirty="0"/>
          </a:p>
        </p:txBody>
      </p:sp>
      <p:sp>
        <p:nvSpPr>
          <p:cNvPr id="19" name="Text 17"/>
          <p:cNvSpPr/>
          <p:nvPr/>
        </p:nvSpPr>
        <p:spPr>
          <a:xfrm>
            <a:off x="457200" y="2394645"/>
            <a:ext cx="8229600" cy="346621"/>
          </a:xfrm>
          <a:prstGeom prst="rect">
            <a:avLst/>
          </a:prstGeom>
          <a:solidFill>
            <a:srgbClr val="F7F8FA"/>
          </a:solidFill>
          <a:ln/>
        </p:spPr>
        <p:txBody>
          <a:bodyPr wrap="square" rtlCol="0" anchor="ctr"/>
          <a:lstStyle/>
          <a:p>
            <a:pPr indent="0" marL="0">
              <a:buNone/>
            </a:pPr>
            <a:endParaRPr lang="en-US" dirty="0"/>
          </a:p>
        </p:txBody>
      </p:sp>
      <p:sp>
        <p:nvSpPr>
          <p:cNvPr id="20" name="Shape 18"/>
          <p:cNvSpPr/>
          <p:nvPr/>
        </p:nvSpPr>
        <p:spPr>
          <a:xfrm>
            <a:off x="457200" y="2736503"/>
            <a:ext cx="8229600" cy="0"/>
          </a:xfrm>
          <a:prstGeom prst="line">
            <a:avLst/>
          </a:prstGeom>
          <a:noFill/>
          <a:ln w="9525">
            <a:solidFill>
              <a:srgbClr val="E4E7ED"/>
            </a:solidFill>
            <a:prstDash val="solid"/>
          </a:ln>
        </p:spPr>
      </p:sp>
      <p:sp>
        <p:nvSpPr>
          <p:cNvPr id="21" name="Text 19"/>
          <p:cNvSpPr/>
          <p:nvPr/>
        </p:nvSpPr>
        <p:spPr>
          <a:xfrm>
            <a:off x="609600" y="2489895"/>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VS Code + Continue</a:t>
            </a:r>
            <a:endParaRPr lang="en-US" sz="825" dirty="0"/>
          </a:p>
        </p:txBody>
      </p:sp>
      <p:sp>
        <p:nvSpPr>
          <p:cNvPr id="22" name="Text 20"/>
          <p:cNvSpPr/>
          <p:nvPr/>
        </p:nvSpPr>
        <p:spPr>
          <a:xfrm>
            <a:off x="2039838" y="248989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23" name="Text 21"/>
          <p:cNvSpPr/>
          <p:nvPr/>
        </p:nvSpPr>
        <p:spPr>
          <a:xfrm>
            <a:off x="3336782" y="2489895"/>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Flexible, open</a:t>
            </a:r>
            <a:endParaRPr lang="en-US" sz="825" dirty="0"/>
          </a:p>
        </p:txBody>
      </p:sp>
      <p:sp>
        <p:nvSpPr>
          <p:cNvPr id="24" name="Text 22"/>
          <p:cNvSpPr/>
          <p:nvPr/>
        </p:nvSpPr>
        <p:spPr>
          <a:xfrm>
            <a:off x="4779913" y="248989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 + API</a:t>
            </a:r>
            <a:endParaRPr lang="en-US" sz="825" dirty="0"/>
          </a:p>
        </p:txBody>
      </p:sp>
      <p:sp>
        <p:nvSpPr>
          <p:cNvPr id="25" name="Text 23"/>
          <p:cNvSpPr/>
          <p:nvPr/>
        </p:nvSpPr>
        <p:spPr>
          <a:xfrm>
            <a:off x="6078289" y="248989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Yes (Azure)</a:t>
            </a:r>
            <a:endParaRPr lang="en-US" sz="825" dirty="0"/>
          </a:p>
        </p:txBody>
      </p:sp>
      <p:sp>
        <p:nvSpPr>
          <p:cNvPr id="26" name="Text 24"/>
          <p:cNvSpPr/>
          <p:nvPr/>
        </p:nvSpPr>
        <p:spPr>
          <a:xfrm>
            <a:off x="7376666" y="2489895"/>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27" name="Text 25"/>
          <p:cNvSpPr/>
          <p:nvPr/>
        </p:nvSpPr>
        <p:spPr>
          <a:xfrm>
            <a:off x="457200" y="2893665"/>
            <a:ext cx="8229600" cy="346621"/>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457200" y="3235523"/>
            <a:ext cx="8229600" cy="0"/>
          </a:xfrm>
          <a:prstGeom prst="line">
            <a:avLst/>
          </a:prstGeom>
          <a:noFill/>
          <a:ln w="9525">
            <a:solidFill>
              <a:srgbClr val="E4E7ED"/>
            </a:solidFill>
            <a:prstDash val="solid"/>
          </a:ln>
        </p:spPr>
      </p:sp>
      <p:sp>
        <p:nvSpPr>
          <p:cNvPr id="29" name="Text 27"/>
          <p:cNvSpPr/>
          <p:nvPr/>
        </p:nvSpPr>
        <p:spPr>
          <a:xfrm>
            <a:off x="609600" y="2988915"/>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GitHub Copilot</a:t>
            </a:r>
            <a:endParaRPr lang="en-US" sz="825" dirty="0"/>
          </a:p>
        </p:txBody>
      </p:sp>
      <p:sp>
        <p:nvSpPr>
          <p:cNvPr id="30" name="Text 28"/>
          <p:cNvSpPr/>
          <p:nvPr/>
        </p:nvSpPr>
        <p:spPr>
          <a:xfrm>
            <a:off x="2039838" y="298891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31" name="Text 29"/>
          <p:cNvSpPr/>
          <p:nvPr/>
        </p:nvSpPr>
        <p:spPr>
          <a:xfrm>
            <a:off x="3336782" y="2988915"/>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Completions</a:t>
            </a:r>
            <a:endParaRPr lang="en-US" sz="825" dirty="0"/>
          </a:p>
        </p:txBody>
      </p:sp>
      <p:sp>
        <p:nvSpPr>
          <p:cNvPr id="32" name="Text 30"/>
          <p:cNvSpPr/>
          <p:nvPr/>
        </p:nvSpPr>
        <p:spPr>
          <a:xfrm>
            <a:off x="4779913" y="298891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$10-19/mo</a:t>
            </a:r>
            <a:endParaRPr lang="en-US" sz="825" dirty="0"/>
          </a:p>
        </p:txBody>
      </p:sp>
      <p:sp>
        <p:nvSpPr>
          <p:cNvPr id="33" name="Text 31"/>
          <p:cNvSpPr/>
          <p:nvPr/>
        </p:nvSpPr>
        <p:spPr>
          <a:xfrm>
            <a:off x="6078289" y="2988915"/>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Yes</a:t>
            </a:r>
            <a:endParaRPr lang="en-US" sz="825" dirty="0"/>
          </a:p>
        </p:txBody>
      </p:sp>
      <p:sp>
        <p:nvSpPr>
          <p:cNvPr id="34" name="Text 32"/>
          <p:cNvSpPr/>
          <p:nvPr/>
        </p:nvSpPr>
        <p:spPr>
          <a:xfrm>
            <a:off x="7376666" y="2988915"/>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35" name="Text 33"/>
          <p:cNvSpPr/>
          <p:nvPr/>
        </p:nvSpPr>
        <p:spPr>
          <a:xfrm>
            <a:off x="457200" y="3392686"/>
            <a:ext cx="8229600" cy="337096"/>
          </a:xfrm>
          <a:prstGeom prst="rect">
            <a:avLst/>
          </a:prstGeom>
          <a:solidFill>
            <a:srgbClr val="F7F8FA"/>
          </a:solidFill>
          <a:ln/>
        </p:spPr>
        <p:txBody>
          <a:bodyPr wrap="square" rtlCol="0" anchor="ctr"/>
          <a:lstStyle/>
          <a:p>
            <a:pPr indent="0" marL="0">
              <a:buNone/>
            </a:pPr>
            <a:endParaRPr lang="en-US" dirty="0"/>
          </a:p>
        </p:txBody>
      </p:sp>
      <p:sp>
        <p:nvSpPr>
          <p:cNvPr id="36" name="Text 34"/>
          <p:cNvSpPr/>
          <p:nvPr/>
        </p:nvSpPr>
        <p:spPr>
          <a:xfrm>
            <a:off x="609600" y="3487936"/>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Cursor</a:t>
            </a:r>
            <a:endParaRPr lang="en-US" sz="825" dirty="0"/>
          </a:p>
        </p:txBody>
      </p:sp>
      <p:sp>
        <p:nvSpPr>
          <p:cNvPr id="37" name="Text 35"/>
          <p:cNvSpPr/>
          <p:nvPr/>
        </p:nvSpPr>
        <p:spPr>
          <a:xfrm>
            <a:off x="2039838" y="348793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38" name="Text 36"/>
          <p:cNvSpPr/>
          <p:nvPr/>
        </p:nvSpPr>
        <p:spPr>
          <a:xfrm>
            <a:off x="3336782" y="3487936"/>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AI-native UX</a:t>
            </a:r>
            <a:endParaRPr lang="en-US" sz="825" dirty="0"/>
          </a:p>
        </p:txBody>
      </p:sp>
      <p:sp>
        <p:nvSpPr>
          <p:cNvPr id="39" name="Text 37"/>
          <p:cNvSpPr/>
          <p:nvPr/>
        </p:nvSpPr>
        <p:spPr>
          <a:xfrm>
            <a:off x="4779913" y="348793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Free-$20/mo</a:t>
            </a:r>
            <a:endParaRPr lang="en-US" sz="825" dirty="0"/>
          </a:p>
        </p:txBody>
      </p:sp>
      <p:sp>
        <p:nvSpPr>
          <p:cNvPr id="40" name="Text 38"/>
          <p:cNvSpPr/>
          <p:nvPr/>
        </p:nvSpPr>
        <p:spPr>
          <a:xfrm>
            <a:off x="6078289" y="348793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Limited</a:t>
            </a:r>
            <a:endParaRPr lang="en-US" sz="825" dirty="0"/>
          </a:p>
        </p:txBody>
      </p:sp>
      <p:sp>
        <p:nvSpPr>
          <p:cNvPr id="41" name="Text 39"/>
          <p:cNvSpPr/>
          <p:nvPr/>
        </p:nvSpPr>
        <p:spPr>
          <a:xfrm>
            <a:off x="7376666" y="3487936"/>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42" name="Text 40"/>
          <p:cNvSpPr/>
          <p:nvPr/>
        </p:nvSpPr>
        <p:spPr>
          <a:xfrm>
            <a:off x="457200" y="4034582"/>
            <a:ext cx="8229600" cy="478036"/>
          </a:xfrm>
          <a:prstGeom prst="rect">
            <a:avLst/>
          </a:prstGeom>
          <a:solidFill>
            <a:srgbClr val="1A1F2E"/>
          </a:solidFill>
          <a:ln/>
        </p:spPr>
        <p:txBody>
          <a:bodyPr wrap="square" rtlCol="0" anchor="ctr"/>
          <a:lstStyle/>
          <a:p>
            <a:pPr indent="0" marL="0">
              <a:buNone/>
            </a:pPr>
            <a:endParaRPr lang="en-US" dirty="0"/>
          </a:p>
        </p:txBody>
      </p:sp>
      <p:sp>
        <p:nvSpPr>
          <p:cNvPr id="43" name="Text 41"/>
          <p:cNvSpPr/>
          <p:nvPr/>
        </p:nvSpPr>
        <p:spPr>
          <a:xfrm>
            <a:off x="569214" y="4186982"/>
            <a:ext cx="8005572" cy="173236"/>
          </a:xfrm>
          <a:prstGeom prst="rect">
            <a:avLst/>
          </a:prstGeom>
          <a:noFill/>
          <a:ln/>
        </p:spPr>
        <p:txBody>
          <a:bodyPr wrap="square" lIns="0" tIns="0" rIns="0" bIns="0" rtlCol="0" anchor="t"/>
          <a:lstStyle/>
          <a:p>
            <a:pPr algn="ctr" indent="0" marL="0">
              <a:lnSpc>
                <a:spcPts val="1365"/>
              </a:lnSpc>
              <a:buNone/>
            </a:pPr>
            <a:r>
              <a:rPr lang="en-US" sz="975" dirty="0">
                <a:solidFill>
                  <a:srgbClr val="C9A227"/>
                </a:solidFill>
                <a:latin typeface="Arial" pitchFamily="34" charset="0"/>
                <a:ea typeface="Arial" pitchFamily="34" charset="-122"/>
                <a:cs typeface="Arial" pitchFamily="34" charset="-120"/>
              </a:rPr>
              <a:t>Recommendation:</a:t>
            </a:r>
            <a:pPr algn="ctr" indent="0" marL="0">
              <a:lnSpc>
                <a:spcPts val="1365"/>
              </a:lnSpc>
              <a:buNone/>
            </a:pPr>
            <a:r>
              <a:rPr lang="en-US" sz="975" dirty="0">
                <a:solidFill>
                  <a:srgbClr val="FFFFFF"/>
                </a:solidFill>
                <a:latin typeface="Arial" pitchFamily="34" charset="0"/>
                <a:ea typeface="Arial" pitchFamily="34" charset="-122"/>
                <a:cs typeface="Arial" pitchFamily="34" charset="-120"/>
              </a:rPr>
              <a:t> Claude Code for voice workflows + VS Code/Cursor for visual editing</a:t>
            </a:r>
            <a:endParaRPr lang="en-US" sz="9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7288"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457200" y="1390650"/>
            <a:ext cx="3654546" cy="487561"/>
          </a:xfrm>
          <a:prstGeom prst="rect">
            <a:avLst/>
          </a:prstGeom>
          <a:noFill/>
          <a:ln/>
        </p:spPr>
        <p:txBody>
          <a:bodyPr wrap="square" lIns="0" tIns="0" rIns="0" bIns="0" rtlCol="0" anchor="t"/>
          <a:lstStyle/>
          <a:p>
            <a:pPr algn="l" indent="0" marL="0">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2030611"/>
            <a:ext cx="3654546" cy="857250"/>
          </a:xfrm>
          <a:prstGeom prst="rect">
            <a:avLst/>
          </a:prstGeom>
          <a:noFill/>
          <a:ln/>
        </p:spPr>
        <p:txBody>
          <a:bodyPr wrap="square" lIns="0" tIns="0" rIns="0" bIns="0" rtlCol="0" anchor="t"/>
          <a:lstStyle/>
          <a:p>
            <a:pPr algn="l" indent="0" marL="0">
              <a:lnSpc>
                <a:spcPts val="2250"/>
              </a:lnSpc>
              <a:spcAft>
                <a:spcPts val="1800"/>
              </a:spcAft>
              <a:buNone/>
            </a:pPr>
            <a:r>
              <a:rPr lang="en-US" sz="1500" i="1" dirty="0">
                <a:solidFill>
                  <a:srgbClr val="FFFFFF"/>
                </a:solidFill>
                <a:latin typeface="Georgia" pitchFamily="34" charset="0"/>
                <a:ea typeface="Georgia" pitchFamily="34" charset="-122"/>
                <a:cs typeface="Georgia" pitchFamily="34" charset="-120"/>
              </a:rPr>
              <a:t>Claude Code is uniquely suited for voice workflows because it operates at the task level, not the keystroke level.</a:t>
            </a:r>
            <a:endParaRPr lang="en-US" sz="1500" dirty="0"/>
          </a:p>
        </p:txBody>
      </p:sp>
      <p:sp>
        <p:nvSpPr>
          <p:cNvPr id="5" name="Text 3"/>
          <p:cNvSpPr/>
          <p:nvPr/>
        </p:nvSpPr>
        <p:spPr>
          <a:xfrm>
            <a:off x="457200" y="3268861"/>
            <a:ext cx="4572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457200" y="3592711"/>
            <a:ext cx="3654546"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Development Principle</a:t>
            </a:r>
            <a:endParaRPr lang="en-US" sz="900" dirty="0"/>
          </a:p>
        </p:txBody>
      </p:sp>
      <p:sp>
        <p:nvSpPr>
          <p:cNvPr id="7" name="Text 5"/>
          <p:cNvSpPr/>
          <p:nvPr/>
        </p:nvSpPr>
        <p:spPr>
          <a:xfrm>
            <a:off x="4649688" y="0"/>
            <a:ext cx="4494312"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5030688" y="276374"/>
            <a:ext cx="3806958"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WHY IT WORKS</a:t>
            </a:r>
            <a:endParaRPr lang="en-US" sz="825" dirty="0"/>
          </a:p>
        </p:txBody>
      </p:sp>
      <p:sp>
        <p:nvSpPr>
          <p:cNvPr id="9" name="Text 7"/>
          <p:cNvSpPr/>
          <p:nvPr/>
        </p:nvSpPr>
        <p:spPr>
          <a:xfrm>
            <a:off x="5030688" y="727770"/>
            <a:ext cx="1991677" cy="253901"/>
          </a:xfrm>
          <a:prstGeom prst="rect">
            <a:avLst/>
          </a:prstGeom>
          <a:noFill/>
          <a:ln/>
        </p:spPr>
        <p:txBody>
          <a:bodyPr wrap="square" lIns="0" tIns="0" rIns="0" bIns="0" rtlCol="0" anchor="t"/>
          <a:lstStyle/>
          <a:p>
            <a:pPr algn="l" indent="0" marL="0">
              <a:lnSpc>
                <a:spcPts val="2000"/>
              </a:lnSpc>
              <a:spcAft>
                <a:spcPts val="1800"/>
              </a:spcAft>
              <a:buNone/>
            </a:pPr>
            <a:r>
              <a:rPr lang="en-US" sz="1800" dirty="0">
                <a:solidFill>
                  <a:srgbClr val="1A1F2E"/>
                </a:solidFill>
                <a:latin typeface="Georgia" pitchFamily="34" charset="0"/>
                <a:ea typeface="Georgia" pitchFamily="34" charset="-122"/>
                <a:cs typeface="Georgia" pitchFamily="34" charset="-120"/>
              </a:rPr>
              <a:t>Voice + Claude Code</a:t>
            </a:r>
            <a:endParaRPr lang="en-US" sz="1800" dirty="0"/>
          </a:p>
        </p:txBody>
      </p:sp>
      <p:sp>
        <p:nvSpPr>
          <p:cNvPr id="10" name="Text 8"/>
          <p:cNvSpPr/>
          <p:nvPr/>
        </p:nvSpPr>
        <p:spPr>
          <a:xfrm>
            <a:off x="5030688" y="1362670"/>
            <a:ext cx="3732312" cy="676126"/>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5049738" y="1362670"/>
            <a:ext cx="0" cy="676126"/>
          </a:xfrm>
          <a:prstGeom prst="line">
            <a:avLst/>
          </a:prstGeom>
          <a:noFill/>
          <a:ln w="38100">
            <a:solidFill>
              <a:srgbClr val="C9A227"/>
            </a:solidFill>
            <a:prstDash val="solid"/>
          </a:ln>
        </p:spPr>
      </p:sp>
      <p:sp>
        <p:nvSpPr>
          <p:cNvPr id="12" name="Text 10"/>
          <p:cNvSpPr/>
          <p:nvPr/>
        </p:nvSpPr>
        <p:spPr>
          <a:xfrm>
            <a:off x="5221188" y="1515070"/>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High-Level Commands</a:t>
            </a:r>
            <a:endParaRPr lang="en-US" sz="975" dirty="0"/>
          </a:p>
        </p:txBody>
      </p:sp>
      <p:sp>
        <p:nvSpPr>
          <p:cNvPr id="13" name="Text 11"/>
          <p:cNvSpPr/>
          <p:nvPr/>
        </p:nvSpPr>
        <p:spPr>
          <a:xfrm>
            <a:off x="5221188" y="1726406"/>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"Add error handling to all API calls"</a:t>
            </a:r>
            <a:endParaRPr lang="en-US" sz="900" dirty="0"/>
          </a:p>
        </p:txBody>
      </p:sp>
      <p:sp>
        <p:nvSpPr>
          <p:cNvPr id="14" name="Text 12"/>
          <p:cNvSpPr/>
          <p:nvPr/>
        </p:nvSpPr>
        <p:spPr>
          <a:xfrm>
            <a:off x="5030688" y="2305496"/>
            <a:ext cx="3732312" cy="676126"/>
          </a:xfrm>
          <a:prstGeom prst="rect">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5049738" y="2305496"/>
            <a:ext cx="0" cy="676126"/>
          </a:xfrm>
          <a:prstGeom prst="line">
            <a:avLst/>
          </a:prstGeom>
          <a:noFill/>
          <a:ln w="38100">
            <a:solidFill>
              <a:srgbClr val="C9A227"/>
            </a:solidFill>
            <a:prstDash val="solid"/>
          </a:ln>
        </p:spPr>
      </p:sp>
      <p:sp>
        <p:nvSpPr>
          <p:cNvPr id="16" name="Text 14"/>
          <p:cNvSpPr/>
          <p:nvPr/>
        </p:nvSpPr>
        <p:spPr>
          <a:xfrm>
            <a:off x="5221188" y="2457896"/>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Context Aware</a:t>
            </a:r>
            <a:endParaRPr lang="en-US" sz="975" dirty="0"/>
          </a:p>
        </p:txBody>
      </p:sp>
      <p:sp>
        <p:nvSpPr>
          <p:cNvPr id="17" name="Text 15"/>
          <p:cNvSpPr/>
          <p:nvPr/>
        </p:nvSpPr>
        <p:spPr>
          <a:xfrm>
            <a:off x="5221188" y="2669232"/>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Understands your entire codebase structure</a:t>
            </a:r>
            <a:endParaRPr lang="en-US" sz="900" dirty="0"/>
          </a:p>
        </p:txBody>
      </p:sp>
      <p:sp>
        <p:nvSpPr>
          <p:cNvPr id="18" name="Text 16"/>
          <p:cNvSpPr/>
          <p:nvPr/>
        </p:nvSpPr>
        <p:spPr>
          <a:xfrm>
            <a:off x="5030688" y="3248323"/>
            <a:ext cx="3732312" cy="676126"/>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5049738" y="3248323"/>
            <a:ext cx="0" cy="676126"/>
          </a:xfrm>
          <a:prstGeom prst="line">
            <a:avLst/>
          </a:prstGeom>
          <a:noFill/>
          <a:ln w="38100">
            <a:solidFill>
              <a:srgbClr val="C9A227"/>
            </a:solidFill>
            <a:prstDash val="solid"/>
          </a:ln>
        </p:spPr>
      </p:sp>
      <p:sp>
        <p:nvSpPr>
          <p:cNvPr id="20" name="Text 18"/>
          <p:cNvSpPr/>
          <p:nvPr/>
        </p:nvSpPr>
        <p:spPr>
          <a:xfrm>
            <a:off x="5221188" y="3400723"/>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Autonomous Execution</a:t>
            </a:r>
            <a:endParaRPr lang="en-US" sz="975" dirty="0"/>
          </a:p>
        </p:txBody>
      </p:sp>
      <p:sp>
        <p:nvSpPr>
          <p:cNvPr id="21" name="Text 19"/>
          <p:cNvSpPr/>
          <p:nvPr/>
        </p:nvSpPr>
        <p:spPr>
          <a:xfrm>
            <a:off x="5221188" y="3612059"/>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Creates, edits, and tests without micro-management</a:t>
            </a:r>
            <a:endParaRPr lang="en-US" sz="900" dirty="0"/>
          </a:p>
        </p:txBody>
      </p:sp>
      <p:sp>
        <p:nvSpPr>
          <p:cNvPr id="22" name="Text 20"/>
          <p:cNvSpPr/>
          <p:nvPr/>
        </p:nvSpPr>
        <p:spPr>
          <a:xfrm>
            <a:off x="5030688" y="4191149"/>
            <a:ext cx="3732312" cy="676126"/>
          </a:xfrm>
          <a:prstGeom prst="rect">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5049738" y="4191149"/>
            <a:ext cx="0" cy="676126"/>
          </a:xfrm>
          <a:prstGeom prst="line">
            <a:avLst/>
          </a:prstGeom>
          <a:noFill/>
          <a:ln w="38100">
            <a:solidFill>
              <a:srgbClr val="C9A227"/>
            </a:solidFill>
            <a:prstDash val="solid"/>
          </a:ln>
        </p:spPr>
      </p:sp>
      <p:sp>
        <p:nvSpPr>
          <p:cNvPr id="24" name="Text 22"/>
          <p:cNvSpPr/>
          <p:nvPr/>
        </p:nvSpPr>
        <p:spPr>
          <a:xfrm>
            <a:off x="5221188" y="4343549"/>
            <a:ext cx="3457200"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Iterative Refinement</a:t>
            </a:r>
            <a:endParaRPr lang="en-US" sz="975" dirty="0"/>
          </a:p>
        </p:txBody>
      </p:sp>
      <p:sp>
        <p:nvSpPr>
          <p:cNvPr id="25" name="Text 23"/>
          <p:cNvSpPr/>
          <p:nvPr/>
        </p:nvSpPr>
        <p:spPr>
          <a:xfrm>
            <a:off x="5221188" y="4554885"/>
            <a:ext cx="3457200" cy="159990"/>
          </a:xfrm>
          <a:prstGeom prst="rect">
            <a:avLst/>
          </a:prstGeom>
          <a:noFill/>
          <a:ln/>
        </p:spPr>
        <p:txBody>
          <a:bodyPr wrap="square" lIns="0" tIns="0" rIns="0" bIns="0" rtlCol="0" anchor="t"/>
          <a:lstStyle/>
          <a:p>
            <a:pPr algn="l" indent="0" marL="0">
              <a:lnSpc>
                <a:spcPts val="1260"/>
              </a:lnSpc>
              <a:buNone/>
            </a:pPr>
            <a:r>
              <a:rPr lang="en-US" sz="900" dirty="0">
                <a:solidFill>
                  <a:srgbClr val="6B7280"/>
                </a:solidFill>
                <a:latin typeface="Arial" pitchFamily="34" charset="0"/>
                <a:ea typeface="Arial" pitchFamily="34" charset="-122"/>
                <a:cs typeface="Arial" pitchFamily="34" charset="-120"/>
              </a:rPr>
              <a:t>"Actually, make that a dropdown instead"</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2980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04</a:t>
            </a:r>
            <a:endParaRPr lang="en-US" sz="1050" dirty="0"/>
          </a:p>
        </p:txBody>
      </p:sp>
      <p:sp>
        <p:nvSpPr>
          <p:cNvPr id="3" name="Text 1"/>
          <p:cNvSpPr/>
          <p:nvPr/>
        </p:nvSpPr>
        <p:spPr>
          <a:xfrm>
            <a:off x="2053560" y="2097435"/>
            <a:ext cx="5036880"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Enterprise Configuration</a:t>
            </a:r>
            <a:endParaRPr lang="en-US" sz="3900" dirty="0"/>
          </a:p>
        </p:txBody>
      </p:sp>
      <p:sp>
        <p:nvSpPr>
          <p:cNvPr id="4" name="Text 2"/>
          <p:cNvSpPr/>
          <p:nvPr/>
        </p:nvSpPr>
        <p:spPr>
          <a:xfrm>
            <a:off x="2827007" y="2897535"/>
            <a:ext cx="3489838"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Azure, Government Cloud, and Local Models</a:t>
            </a:r>
            <a:endParaRPr lang="en-US" sz="1350" dirty="0"/>
          </a:p>
        </p:txBody>
      </p:sp>
      <p:sp>
        <p:nvSpPr>
          <p:cNvPr id="5" name="Text 3"/>
          <p:cNvSpPr/>
          <p:nvPr/>
        </p:nvSpPr>
        <p:spPr>
          <a:xfrm>
            <a:off x="4191000" y="359464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COMPLIANCE</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Government Cloud Options</a:t>
            </a:r>
            <a:endParaRPr lang="en-US" sz="2400" dirty="0"/>
          </a:p>
        </p:txBody>
      </p:sp>
      <p:sp>
        <p:nvSpPr>
          <p:cNvPr id="4" name="Text 2"/>
          <p:cNvSpPr/>
          <p:nvPr/>
        </p:nvSpPr>
        <p:spPr>
          <a:xfrm>
            <a:off x="457200" y="1492746"/>
            <a:ext cx="2628900" cy="2990404"/>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85800" y="1721346"/>
            <a:ext cx="2171700" cy="2857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00100" y="1797546"/>
            <a:ext cx="1981962"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RECOMMENDED</a:t>
            </a:r>
            <a:endParaRPr lang="en-US" sz="750" dirty="0"/>
          </a:p>
        </p:txBody>
      </p:sp>
      <p:sp>
        <p:nvSpPr>
          <p:cNvPr id="7" name="Text 5"/>
          <p:cNvSpPr/>
          <p:nvPr/>
        </p:nvSpPr>
        <p:spPr>
          <a:xfrm>
            <a:off x="685800" y="2311896"/>
            <a:ext cx="2215134" cy="239911"/>
          </a:xfrm>
          <a:prstGeom prst="rect">
            <a:avLst/>
          </a:prstGeom>
          <a:noFill/>
          <a:ln/>
        </p:spPr>
        <p:txBody>
          <a:bodyPr wrap="square" lIns="0" tIns="0" rIns="0" bIns="0" rtlCol="0" anchor="t"/>
          <a:lstStyle/>
          <a:p>
            <a:pPr algn="l" indent="0" marL="0">
              <a:lnSpc>
                <a:spcPts val="1890"/>
              </a:lnSpc>
              <a:spcAft>
                <a:spcPts val="900"/>
              </a:spcAft>
              <a:buNone/>
            </a:pPr>
            <a:r>
              <a:rPr lang="en-US" sz="1350" dirty="0">
                <a:solidFill>
                  <a:srgbClr val="FFFFFF"/>
                </a:solidFill>
                <a:latin typeface="Georgia" pitchFamily="34" charset="0"/>
                <a:ea typeface="Georgia" pitchFamily="34" charset="-122"/>
                <a:cs typeface="Georgia" pitchFamily="34" charset="-120"/>
              </a:rPr>
              <a:t>Azure Government</a:t>
            </a:r>
            <a:endParaRPr lang="en-US" sz="1350" dirty="0"/>
          </a:p>
        </p:txBody>
      </p:sp>
      <p:sp>
        <p:nvSpPr>
          <p:cNvPr id="8" name="Text 6"/>
          <p:cNvSpPr/>
          <p:nvPr/>
        </p:nvSpPr>
        <p:spPr>
          <a:xfrm>
            <a:off x="685800" y="2818507"/>
            <a:ext cx="2215134" cy="822722"/>
          </a:xfrm>
          <a:prstGeom prst="rect">
            <a:avLst/>
          </a:prstGeom>
          <a:noFill/>
          <a:ln/>
        </p:spPr>
        <p:txBody>
          <a:bodyPr wrap="square" lIns="0" tIns="0" rIns="0" bIns="0" rtlCol="0" anchor="t"/>
          <a:lstStyle/>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FedRAMP High</a:t>
            </a:r>
            <a:endParaRPr lang="en-US" sz="900" dirty="0"/>
          </a:p>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IL4/IL5 available</a:t>
            </a:r>
            <a:endParaRPr lang="en-US" sz="900" dirty="0"/>
          </a:p>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US-only datacenters</a:t>
            </a:r>
            <a:endParaRPr lang="en-US" sz="900" dirty="0"/>
          </a:p>
          <a:p>
            <a:pPr algn="l" indent="0" marL="0">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Screened personnel</a:t>
            </a:r>
            <a:endParaRPr lang="en-US" sz="900" dirty="0"/>
          </a:p>
        </p:txBody>
      </p:sp>
      <p:sp>
        <p:nvSpPr>
          <p:cNvPr id="9" name="Shape 7"/>
          <p:cNvSpPr/>
          <p:nvPr/>
        </p:nvSpPr>
        <p:spPr>
          <a:xfrm>
            <a:off x="685800" y="3950791"/>
            <a:ext cx="2171700" cy="0"/>
          </a:xfrm>
          <a:prstGeom prst="line">
            <a:avLst/>
          </a:prstGeom>
          <a:noFill/>
          <a:ln w="9525">
            <a:solidFill>
              <a:srgbClr val="333333"/>
            </a:solidFill>
            <a:prstDash val="solid"/>
          </a:ln>
        </p:spPr>
      </p:sp>
      <p:sp>
        <p:nvSpPr>
          <p:cNvPr id="10" name="Text 8"/>
          <p:cNvSpPr/>
          <p:nvPr/>
        </p:nvSpPr>
        <p:spPr>
          <a:xfrm>
            <a:off x="685800" y="4107954"/>
            <a:ext cx="2215134"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Best for: State/Local government</a:t>
            </a:r>
            <a:endParaRPr lang="en-US" sz="825" dirty="0"/>
          </a:p>
        </p:txBody>
      </p:sp>
      <p:sp>
        <p:nvSpPr>
          <p:cNvPr id="11" name="Text 9"/>
          <p:cNvSpPr/>
          <p:nvPr/>
        </p:nvSpPr>
        <p:spPr>
          <a:xfrm>
            <a:off x="3238500" y="1778496"/>
            <a:ext cx="2647950" cy="2418904"/>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3476625" y="2016621"/>
            <a:ext cx="2215134" cy="239911"/>
          </a:xfrm>
          <a:prstGeom prst="rect">
            <a:avLst/>
          </a:prstGeom>
          <a:noFill/>
          <a:ln/>
        </p:spPr>
        <p:txBody>
          <a:bodyPr wrap="square" lIns="0" tIns="0" rIns="0" bIns="0" rtlCol="0" anchor="t"/>
          <a:lstStyle/>
          <a:p>
            <a:pPr algn="l" indent="0" marL="0">
              <a:lnSpc>
                <a:spcPts val="1890"/>
              </a:lnSpc>
              <a:spcAft>
                <a:spcPts val="900"/>
              </a:spcAft>
              <a:buNone/>
            </a:pPr>
            <a:r>
              <a:rPr lang="en-US" sz="1350" dirty="0">
                <a:solidFill>
                  <a:srgbClr val="1A1F2E"/>
                </a:solidFill>
                <a:latin typeface="Georgia" pitchFamily="34" charset="0"/>
                <a:ea typeface="Georgia" pitchFamily="34" charset="-122"/>
                <a:cs typeface="Georgia" pitchFamily="34" charset="-120"/>
              </a:rPr>
              <a:t>AWS GovCloud</a:t>
            </a:r>
            <a:endParaRPr lang="en-US" sz="1350" dirty="0"/>
          </a:p>
        </p:txBody>
      </p:sp>
      <p:sp>
        <p:nvSpPr>
          <p:cNvPr id="13" name="Text 11"/>
          <p:cNvSpPr/>
          <p:nvPr/>
        </p:nvSpPr>
        <p:spPr>
          <a:xfrm>
            <a:off x="3476625" y="2523232"/>
            <a:ext cx="2215134" cy="822722"/>
          </a:xfrm>
          <a:prstGeom prst="rect">
            <a:avLst/>
          </a:prstGeom>
          <a:noFill/>
          <a:ln/>
        </p:spPr>
        <p:txBody>
          <a:bodyPr wrap="square" lIns="0" tIns="0" rIns="0" bIns="0" rtlCol="0" anchor="t"/>
          <a:lstStyle/>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FedRAMP High</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ITAR compliant</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Bedrock for AI</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Isolated regions</a:t>
            </a:r>
            <a:endParaRPr lang="en-US" sz="900" dirty="0"/>
          </a:p>
        </p:txBody>
      </p:sp>
      <p:sp>
        <p:nvSpPr>
          <p:cNvPr id="14" name="Shape 12"/>
          <p:cNvSpPr/>
          <p:nvPr/>
        </p:nvSpPr>
        <p:spPr>
          <a:xfrm>
            <a:off x="3476625" y="3655516"/>
            <a:ext cx="2171700" cy="0"/>
          </a:xfrm>
          <a:prstGeom prst="line">
            <a:avLst/>
          </a:prstGeom>
          <a:noFill/>
          <a:ln w="9525">
            <a:solidFill>
              <a:srgbClr val="E4E7ED"/>
            </a:solidFill>
            <a:prstDash val="solid"/>
          </a:ln>
        </p:spPr>
      </p:sp>
      <p:sp>
        <p:nvSpPr>
          <p:cNvPr id="15" name="Text 13"/>
          <p:cNvSpPr/>
          <p:nvPr/>
        </p:nvSpPr>
        <p:spPr>
          <a:xfrm>
            <a:off x="3476625" y="3812679"/>
            <a:ext cx="2215134"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Alternative for AWS shops</a:t>
            </a:r>
            <a:endParaRPr lang="en-US" sz="825" dirty="0"/>
          </a:p>
        </p:txBody>
      </p:sp>
      <p:sp>
        <p:nvSpPr>
          <p:cNvPr id="16" name="Text 14"/>
          <p:cNvSpPr/>
          <p:nvPr/>
        </p:nvSpPr>
        <p:spPr>
          <a:xfrm>
            <a:off x="6038850" y="1778496"/>
            <a:ext cx="2647950" cy="2418904"/>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6276975" y="2016621"/>
            <a:ext cx="2215134" cy="239911"/>
          </a:xfrm>
          <a:prstGeom prst="rect">
            <a:avLst/>
          </a:prstGeom>
          <a:noFill/>
          <a:ln/>
        </p:spPr>
        <p:txBody>
          <a:bodyPr wrap="square" lIns="0" tIns="0" rIns="0" bIns="0" rtlCol="0" anchor="t"/>
          <a:lstStyle/>
          <a:p>
            <a:pPr algn="l" indent="0" marL="0">
              <a:lnSpc>
                <a:spcPts val="1890"/>
              </a:lnSpc>
              <a:spcAft>
                <a:spcPts val="900"/>
              </a:spcAft>
              <a:buNone/>
            </a:pPr>
            <a:r>
              <a:rPr lang="en-US" sz="1350" dirty="0">
                <a:solidFill>
                  <a:srgbClr val="1A1F2E"/>
                </a:solidFill>
                <a:latin typeface="Georgia" pitchFamily="34" charset="0"/>
                <a:ea typeface="Georgia" pitchFamily="34" charset="-122"/>
                <a:cs typeface="Georgia" pitchFamily="34" charset="-120"/>
              </a:rPr>
              <a:t>Google Cloud</a:t>
            </a:r>
            <a:endParaRPr lang="en-US" sz="1350" dirty="0"/>
          </a:p>
        </p:txBody>
      </p:sp>
      <p:sp>
        <p:nvSpPr>
          <p:cNvPr id="18" name="Text 16"/>
          <p:cNvSpPr/>
          <p:nvPr/>
        </p:nvSpPr>
        <p:spPr>
          <a:xfrm>
            <a:off x="6276975" y="2523232"/>
            <a:ext cx="2215134" cy="822722"/>
          </a:xfrm>
          <a:prstGeom prst="rect">
            <a:avLst/>
          </a:prstGeom>
          <a:noFill/>
          <a:ln/>
        </p:spPr>
        <p:txBody>
          <a:bodyPr wrap="square" lIns="0" tIns="0" rIns="0" bIns="0" rtlCol="0" anchor="t"/>
          <a:lstStyle/>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Assured Workloads</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FedRAMP available</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Vertex AI</a:t>
            </a:r>
            <a:endParaRPr lang="en-US" sz="900" dirty="0"/>
          </a:p>
          <a:p>
            <a:pPr algn="l" indent="0" marL="0">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Regional controls</a:t>
            </a:r>
            <a:endParaRPr lang="en-US" sz="900" dirty="0"/>
          </a:p>
        </p:txBody>
      </p:sp>
      <p:sp>
        <p:nvSpPr>
          <p:cNvPr id="19" name="Shape 17"/>
          <p:cNvSpPr/>
          <p:nvPr/>
        </p:nvSpPr>
        <p:spPr>
          <a:xfrm>
            <a:off x="6276975" y="3655516"/>
            <a:ext cx="2171700" cy="0"/>
          </a:xfrm>
          <a:prstGeom prst="line">
            <a:avLst/>
          </a:prstGeom>
          <a:noFill/>
          <a:ln w="9525">
            <a:solidFill>
              <a:srgbClr val="E4E7ED"/>
            </a:solidFill>
            <a:prstDash val="solid"/>
          </a:ln>
        </p:spPr>
      </p:sp>
      <p:sp>
        <p:nvSpPr>
          <p:cNvPr id="20" name="Text 18"/>
          <p:cNvSpPr/>
          <p:nvPr/>
        </p:nvSpPr>
        <p:spPr>
          <a:xfrm>
            <a:off x="6276975" y="3812679"/>
            <a:ext cx="2215134"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Gemini model access</a:t>
            </a:r>
            <a:endParaRPr lang="en-US" sz="8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100% LOCAL</a:t>
            </a:r>
            <a:endParaRPr lang="en-US" sz="825" dirty="0"/>
          </a:p>
        </p:txBody>
      </p:sp>
      <p:sp>
        <p:nvSpPr>
          <p:cNvPr id="4" name="Text 2"/>
          <p:cNvSpPr/>
          <p:nvPr/>
        </p:nvSpPr>
        <p:spPr>
          <a:xfrm>
            <a:off x="381000" y="1835497"/>
            <a:ext cx="1933385" cy="822722"/>
          </a:xfrm>
          <a:prstGeom prst="rect">
            <a:avLst/>
          </a:prstGeom>
          <a:noFill/>
          <a:ln/>
        </p:spPr>
        <p:txBody>
          <a:bodyPr wrap="square" lIns="0" tIns="0" rIns="0" bIns="0" rtlCol="0" anchor="t"/>
          <a:lstStyle/>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Ollama &amp;</a:t>
            </a:r>
            <a:endParaRPr lang="en-US" sz="2700" dirty="0"/>
          </a:p>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Local Models</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algn="l" indent="0" marL="0">
              <a:lnSpc>
                <a:spcPts val="1560"/>
              </a:lnSpc>
              <a:buNone/>
            </a:pPr>
            <a:r>
              <a:rPr lang="en-US" sz="975" dirty="0">
                <a:solidFill>
                  <a:srgbClr val="1A1F2E">
                    <a:alpha val="70000"/>
                  </a:srgbClr>
                </a:solidFill>
                <a:latin typeface="Arial" pitchFamily="34" charset="0"/>
                <a:ea typeface="Arial" pitchFamily="34" charset="-122"/>
                <a:cs typeface="Arial" pitchFamily="34" charset="-120"/>
              </a:rPr>
              <a:t>Run LLMs entirely on your machine. Zero network traffic.</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133106" y="501402"/>
            <a:ext cx="4629894" cy="8971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4295031" y="663327"/>
            <a:ext cx="4392165"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What is Ollama?</a:t>
            </a:r>
            <a:endParaRPr lang="en-US" sz="975" dirty="0"/>
          </a:p>
        </p:txBody>
      </p:sp>
      <p:sp>
        <p:nvSpPr>
          <p:cNvPr id="10" name="Text 8"/>
          <p:cNvSpPr/>
          <p:nvPr/>
        </p:nvSpPr>
        <p:spPr>
          <a:xfrm>
            <a:off x="4295031" y="893713"/>
            <a:ext cx="4392165" cy="34290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A tool to run open-source LLMs (Llama, Mistral, CodeLlama) locally on your computer.</a:t>
            </a:r>
            <a:endParaRPr lang="en-US" sz="900" dirty="0"/>
          </a:p>
        </p:txBody>
      </p:sp>
      <p:sp>
        <p:nvSpPr>
          <p:cNvPr id="11" name="Text 9"/>
          <p:cNvSpPr/>
          <p:nvPr/>
        </p:nvSpPr>
        <p:spPr>
          <a:xfrm>
            <a:off x="4133106" y="1512838"/>
            <a:ext cx="4629894" cy="96559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4295031" y="1674763"/>
            <a:ext cx="4392165"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Quick Start</a:t>
            </a:r>
            <a:endParaRPr lang="en-US" sz="975" dirty="0"/>
          </a:p>
        </p:txBody>
      </p:sp>
      <p:sp>
        <p:nvSpPr>
          <p:cNvPr id="13" name="Text 11"/>
          <p:cNvSpPr/>
          <p:nvPr/>
        </p:nvSpPr>
        <p:spPr>
          <a:xfrm>
            <a:off x="4295031" y="1905149"/>
            <a:ext cx="4392165" cy="41136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monospace" pitchFamily="34" charset="0"/>
                <a:ea typeface="monospace" pitchFamily="34" charset="-122"/>
                <a:cs typeface="monospace" pitchFamily="34" charset="-120"/>
              </a:rPr>
              <a:t>brew install ollama</a:t>
            </a:r>
            <a:endParaRPr lang="en-US" sz="900" dirty="0"/>
          </a:p>
          <a:p>
            <a:pPr algn="l" indent="0" marL="0">
              <a:lnSpc>
                <a:spcPts val="1620"/>
              </a:lnSpc>
              <a:buNone/>
            </a:pPr>
            <a:r>
              <a:rPr lang="en-US" sz="900" dirty="0">
                <a:solidFill>
                  <a:srgbClr val="6B7280"/>
                </a:solidFill>
                <a:latin typeface="monospace" pitchFamily="34" charset="0"/>
                <a:ea typeface="monospace" pitchFamily="34" charset="-122"/>
                <a:cs typeface="monospace" pitchFamily="34" charset="-120"/>
              </a:rPr>
              <a:t>ollama run codellama</a:t>
            </a:r>
            <a:endParaRPr lang="en-US" sz="900" dirty="0"/>
          </a:p>
        </p:txBody>
      </p:sp>
      <p:sp>
        <p:nvSpPr>
          <p:cNvPr id="14" name="Text 12"/>
          <p:cNvSpPr/>
          <p:nvPr/>
        </p:nvSpPr>
        <p:spPr>
          <a:xfrm>
            <a:off x="4133106" y="2592735"/>
            <a:ext cx="4629894" cy="117127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4295031" y="2754660"/>
            <a:ext cx="4392165"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Best Models for Coding</a:t>
            </a:r>
            <a:endParaRPr lang="en-US" sz="975" dirty="0"/>
          </a:p>
        </p:txBody>
      </p:sp>
      <p:sp>
        <p:nvSpPr>
          <p:cNvPr id="16" name="Text 14"/>
          <p:cNvSpPr/>
          <p:nvPr/>
        </p:nvSpPr>
        <p:spPr>
          <a:xfrm>
            <a:off x="4295031" y="2985046"/>
            <a:ext cx="4392165" cy="61704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CodeLlama 7B/13B - General coding</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DeepSeek Coder - Strong performance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Mistral - Good all-around</a:t>
            </a:r>
            <a:endParaRPr lang="en-US" sz="900" dirty="0"/>
          </a:p>
        </p:txBody>
      </p:sp>
      <p:sp>
        <p:nvSpPr>
          <p:cNvPr id="17" name="Text 15"/>
          <p:cNvSpPr/>
          <p:nvPr/>
        </p:nvSpPr>
        <p:spPr>
          <a:xfrm>
            <a:off x="4133106" y="3878312"/>
            <a:ext cx="2257871" cy="763637"/>
          </a:xfrm>
          <a:prstGeom prst="rect">
            <a:avLst/>
          </a:prstGeom>
          <a:solidFill>
            <a:srgbClr val="059669"/>
          </a:solidFill>
          <a:ln/>
        </p:spPr>
        <p:txBody>
          <a:bodyPr wrap="square" rtlCol="0" anchor="ctr"/>
          <a:lstStyle/>
          <a:p>
            <a:pPr indent="0" marL="0">
              <a:buNone/>
            </a:pPr>
            <a:endParaRPr lang="en-US" dirty="0"/>
          </a:p>
        </p:txBody>
      </p:sp>
      <p:sp>
        <p:nvSpPr>
          <p:cNvPr id="18" name="Text 16"/>
          <p:cNvSpPr/>
          <p:nvPr/>
        </p:nvSpPr>
        <p:spPr>
          <a:xfrm>
            <a:off x="4246544" y="4011662"/>
            <a:ext cx="2030995"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PROS</a:t>
            </a:r>
            <a:endParaRPr lang="en-US" sz="825" dirty="0"/>
          </a:p>
        </p:txBody>
      </p:sp>
      <p:sp>
        <p:nvSpPr>
          <p:cNvPr id="19" name="Text 17"/>
          <p:cNvSpPr/>
          <p:nvPr/>
        </p:nvSpPr>
        <p:spPr>
          <a:xfrm>
            <a:off x="4246544" y="4215408"/>
            <a:ext cx="2030995" cy="293191"/>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Complete privacy</a:t>
            </a:r>
            <a:endParaRPr lang="en-US" sz="825" dirty="0"/>
          </a:p>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No API costs</a:t>
            </a:r>
            <a:endParaRPr lang="en-US" sz="825" dirty="0"/>
          </a:p>
        </p:txBody>
      </p:sp>
      <p:sp>
        <p:nvSpPr>
          <p:cNvPr id="20" name="Text 18"/>
          <p:cNvSpPr/>
          <p:nvPr/>
        </p:nvSpPr>
        <p:spPr>
          <a:xfrm>
            <a:off x="6505277" y="3878312"/>
            <a:ext cx="2257871" cy="763637"/>
          </a:xfrm>
          <a:prstGeom prst="rect">
            <a:avLst/>
          </a:prstGeom>
          <a:solidFill>
            <a:srgbClr val="DC2626"/>
          </a:solidFill>
          <a:ln/>
        </p:spPr>
        <p:txBody>
          <a:bodyPr wrap="square" rtlCol="0" anchor="ctr"/>
          <a:lstStyle/>
          <a:p>
            <a:pPr indent="0" marL="0">
              <a:buNone/>
            </a:pPr>
            <a:endParaRPr lang="en-US" dirty="0"/>
          </a:p>
        </p:txBody>
      </p:sp>
      <p:sp>
        <p:nvSpPr>
          <p:cNvPr id="21" name="Text 19"/>
          <p:cNvSpPr/>
          <p:nvPr/>
        </p:nvSpPr>
        <p:spPr>
          <a:xfrm>
            <a:off x="6618716" y="4011662"/>
            <a:ext cx="2030995"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CONS</a:t>
            </a:r>
            <a:endParaRPr lang="en-US" sz="825" dirty="0"/>
          </a:p>
        </p:txBody>
      </p:sp>
      <p:sp>
        <p:nvSpPr>
          <p:cNvPr id="22" name="Text 20"/>
          <p:cNvSpPr/>
          <p:nvPr/>
        </p:nvSpPr>
        <p:spPr>
          <a:xfrm>
            <a:off x="6618716" y="4215408"/>
            <a:ext cx="2030995" cy="293191"/>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Lower capability</a:t>
            </a:r>
            <a:endParaRPr lang="en-US" sz="825" dirty="0"/>
          </a:p>
          <a:p>
            <a:pPr algn="ctr" indent="0" marL="0">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Requires GPU</a:t>
            </a:r>
            <a:endParaRPr lang="en-US" sz="8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DECISION MATRIX</a:t>
            </a:r>
            <a:endParaRPr lang="en-US" sz="825" dirty="0"/>
          </a:p>
        </p:txBody>
      </p:sp>
      <p:sp>
        <p:nvSpPr>
          <p:cNvPr id="3" name="Text 1"/>
          <p:cNvSpPr/>
          <p:nvPr/>
        </p:nvSpPr>
        <p:spPr>
          <a:xfrm>
            <a:off x="457200" y="45139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Enterprise AI Options Summary</a:t>
            </a:r>
            <a:endParaRPr lang="en-US" sz="2100" dirty="0"/>
          </a:p>
        </p:txBody>
      </p:sp>
      <p:sp>
        <p:nvSpPr>
          <p:cNvPr id="4" name="Text 2"/>
          <p:cNvSpPr/>
          <p:nvPr/>
        </p:nvSpPr>
        <p:spPr>
          <a:xfrm>
            <a:off x="457200" y="1327100"/>
            <a:ext cx="8229600" cy="337096"/>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09600" y="1422350"/>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Option</a:t>
            </a:r>
            <a:endParaRPr lang="en-US" sz="825" dirty="0"/>
          </a:p>
        </p:txBody>
      </p:sp>
      <p:sp>
        <p:nvSpPr>
          <p:cNvPr id="6" name="Text 4"/>
          <p:cNvSpPr/>
          <p:nvPr/>
        </p:nvSpPr>
        <p:spPr>
          <a:xfrm>
            <a:off x="2039838"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Compliance</a:t>
            </a:r>
            <a:endParaRPr lang="en-US" sz="825" dirty="0"/>
          </a:p>
        </p:txBody>
      </p:sp>
      <p:sp>
        <p:nvSpPr>
          <p:cNvPr id="7" name="Text 5"/>
          <p:cNvSpPr/>
          <p:nvPr/>
        </p:nvSpPr>
        <p:spPr>
          <a:xfrm>
            <a:off x="3338215"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Capability</a:t>
            </a:r>
            <a:endParaRPr lang="en-US" sz="825" dirty="0"/>
          </a:p>
        </p:txBody>
      </p:sp>
      <p:sp>
        <p:nvSpPr>
          <p:cNvPr id="8" name="Text 6"/>
          <p:cNvSpPr/>
          <p:nvPr/>
        </p:nvSpPr>
        <p:spPr>
          <a:xfrm>
            <a:off x="4636591"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Cost</a:t>
            </a:r>
            <a:endParaRPr lang="en-US" sz="825" dirty="0"/>
          </a:p>
        </p:txBody>
      </p:sp>
      <p:sp>
        <p:nvSpPr>
          <p:cNvPr id="9" name="Text 7"/>
          <p:cNvSpPr/>
          <p:nvPr/>
        </p:nvSpPr>
        <p:spPr>
          <a:xfrm>
            <a:off x="5933535" y="1422350"/>
            <a:ext cx="1315084"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Best For</a:t>
            </a:r>
            <a:endParaRPr lang="en-US" sz="825" dirty="0"/>
          </a:p>
        </p:txBody>
      </p:sp>
      <p:sp>
        <p:nvSpPr>
          <p:cNvPr id="10" name="Text 8"/>
          <p:cNvSpPr/>
          <p:nvPr/>
        </p:nvSpPr>
        <p:spPr>
          <a:xfrm>
            <a:off x="7376666" y="1422350"/>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PHI Safe</a:t>
            </a:r>
            <a:endParaRPr lang="en-US" sz="825" dirty="0"/>
          </a:p>
        </p:txBody>
      </p:sp>
      <p:sp>
        <p:nvSpPr>
          <p:cNvPr id="11" name="Text 9"/>
          <p:cNvSpPr/>
          <p:nvPr/>
        </p:nvSpPr>
        <p:spPr>
          <a:xfrm>
            <a:off x="457200" y="1835646"/>
            <a:ext cx="8229600" cy="346621"/>
          </a:xfrm>
          <a:prstGeom prst="rect">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457200" y="2177504"/>
            <a:ext cx="8229600" cy="0"/>
          </a:xfrm>
          <a:prstGeom prst="line">
            <a:avLst/>
          </a:prstGeom>
          <a:noFill/>
          <a:ln w="9525">
            <a:solidFill>
              <a:srgbClr val="E4E7ED"/>
            </a:solidFill>
            <a:prstDash val="solid"/>
          </a:ln>
        </p:spPr>
      </p:sp>
      <p:sp>
        <p:nvSpPr>
          <p:cNvPr id="13" name="Text 11"/>
          <p:cNvSpPr/>
          <p:nvPr/>
        </p:nvSpPr>
        <p:spPr>
          <a:xfrm>
            <a:off x="609600" y="1930896"/>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Azure OpenAI</a:t>
            </a:r>
            <a:endParaRPr lang="en-US" sz="825" dirty="0"/>
          </a:p>
        </p:txBody>
      </p:sp>
      <p:sp>
        <p:nvSpPr>
          <p:cNvPr id="14" name="Text 12"/>
          <p:cNvSpPr/>
          <p:nvPr/>
        </p:nvSpPr>
        <p:spPr>
          <a:xfrm>
            <a:off x="2039838" y="193089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FedRAMP</a:t>
            </a:r>
            <a:endParaRPr lang="en-US" sz="825" dirty="0"/>
          </a:p>
        </p:txBody>
      </p:sp>
      <p:sp>
        <p:nvSpPr>
          <p:cNvPr id="15" name="Text 13"/>
          <p:cNvSpPr/>
          <p:nvPr/>
        </p:nvSpPr>
        <p:spPr>
          <a:xfrm>
            <a:off x="3338215" y="193089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16" name="Text 14"/>
          <p:cNvSpPr/>
          <p:nvPr/>
        </p:nvSpPr>
        <p:spPr>
          <a:xfrm>
            <a:off x="4636591" y="1930896"/>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Per-token</a:t>
            </a:r>
            <a:endParaRPr lang="en-US" sz="825" dirty="0"/>
          </a:p>
        </p:txBody>
      </p:sp>
      <p:sp>
        <p:nvSpPr>
          <p:cNvPr id="17" name="Text 15"/>
          <p:cNvSpPr/>
          <p:nvPr/>
        </p:nvSpPr>
        <p:spPr>
          <a:xfrm>
            <a:off x="5933535" y="1930896"/>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Most teams</a:t>
            </a:r>
            <a:endParaRPr lang="en-US" sz="825" dirty="0"/>
          </a:p>
        </p:txBody>
      </p:sp>
      <p:sp>
        <p:nvSpPr>
          <p:cNvPr id="18" name="Text 16"/>
          <p:cNvSpPr/>
          <p:nvPr/>
        </p:nvSpPr>
        <p:spPr>
          <a:xfrm>
            <a:off x="7376666" y="1930896"/>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19" name="Text 17"/>
          <p:cNvSpPr/>
          <p:nvPr/>
        </p:nvSpPr>
        <p:spPr>
          <a:xfrm>
            <a:off x="457200" y="2334667"/>
            <a:ext cx="8229600" cy="346621"/>
          </a:xfrm>
          <a:prstGeom prst="rect">
            <a:avLst/>
          </a:prstGeom>
          <a:solidFill>
            <a:srgbClr val="F7F8FA"/>
          </a:solidFill>
          <a:ln/>
        </p:spPr>
        <p:txBody>
          <a:bodyPr wrap="square" rtlCol="0" anchor="ctr"/>
          <a:lstStyle/>
          <a:p>
            <a:pPr indent="0" marL="0">
              <a:buNone/>
            </a:pPr>
            <a:endParaRPr lang="en-US" dirty="0"/>
          </a:p>
        </p:txBody>
      </p:sp>
      <p:sp>
        <p:nvSpPr>
          <p:cNvPr id="20" name="Shape 18"/>
          <p:cNvSpPr/>
          <p:nvPr/>
        </p:nvSpPr>
        <p:spPr>
          <a:xfrm>
            <a:off x="457200" y="2676525"/>
            <a:ext cx="8229600" cy="0"/>
          </a:xfrm>
          <a:prstGeom prst="line">
            <a:avLst/>
          </a:prstGeom>
          <a:noFill/>
          <a:ln w="9525">
            <a:solidFill>
              <a:srgbClr val="E4E7ED"/>
            </a:solidFill>
            <a:prstDash val="solid"/>
          </a:ln>
        </p:spPr>
      </p:sp>
      <p:sp>
        <p:nvSpPr>
          <p:cNvPr id="21" name="Text 19"/>
          <p:cNvSpPr/>
          <p:nvPr/>
        </p:nvSpPr>
        <p:spPr>
          <a:xfrm>
            <a:off x="609600" y="2429917"/>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Anthropic (Claude)</a:t>
            </a:r>
            <a:endParaRPr lang="en-US" sz="825" dirty="0"/>
          </a:p>
        </p:txBody>
      </p:sp>
      <p:sp>
        <p:nvSpPr>
          <p:cNvPr id="22" name="Text 20"/>
          <p:cNvSpPr/>
          <p:nvPr/>
        </p:nvSpPr>
        <p:spPr>
          <a:xfrm>
            <a:off x="2039838" y="2429917"/>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SOC2</a:t>
            </a:r>
            <a:endParaRPr lang="en-US" sz="825" dirty="0"/>
          </a:p>
        </p:txBody>
      </p:sp>
      <p:sp>
        <p:nvSpPr>
          <p:cNvPr id="23" name="Text 21"/>
          <p:cNvSpPr/>
          <p:nvPr/>
        </p:nvSpPr>
        <p:spPr>
          <a:xfrm>
            <a:off x="3338215" y="2429917"/>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24" name="Text 22"/>
          <p:cNvSpPr/>
          <p:nvPr/>
        </p:nvSpPr>
        <p:spPr>
          <a:xfrm>
            <a:off x="4636591" y="2429917"/>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Per-token</a:t>
            </a:r>
            <a:endParaRPr lang="en-US" sz="825" dirty="0"/>
          </a:p>
        </p:txBody>
      </p:sp>
      <p:sp>
        <p:nvSpPr>
          <p:cNvPr id="25" name="Text 23"/>
          <p:cNvSpPr/>
          <p:nvPr/>
        </p:nvSpPr>
        <p:spPr>
          <a:xfrm>
            <a:off x="5933535" y="2429917"/>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Non-PHI work</a:t>
            </a:r>
            <a:endParaRPr lang="en-US" sz="825" dirty="0"/>
          </a:p>
        </p:txBody>
      </p:sp>
      <p:sp>
        <p:nvSpPr>
          <p:cNvPr id="26" name="Text 24"/>
          <p:cNvSpPr/>
          <p:nvPr/>
        </p:nvSpPr>
        <p:spPr>
          <a:xfrm>
            <a:off x="7376666" y="2429917"/>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F59E0B"/>
                </a:solidFill>
                <a:latin typeface="Arial" pitchFamily="34" charset="0"/>
                <a:ea typeface="Arial" pitchFamily="34" charset="-122"/>
                <a:cs typeface="Arial" pitchFamily="34" charset="-120"/>
              </a:rPr>
              <a:t>REVIEW</a:t>
            </a:r>
            <a:endParaRPr lang="en-US" sz="825" dirty="0"/>
          </a:p>
        </p:txBody>
      </p:sp>
      <p:sp>
        <p:nvSpPr>
          <p:cNvPr id="27" name="Text 25"/>
          <p:cNvSpPr/>
          <p:nvPr/>
        </p:nvSpPr>
        <p:spPr>
          <a:xfrm>
            <a:off x="457200" y="2833688"/>
            <a:ext cx="8229600" cy="346621"/>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457200" y="3175546"/>
            <a:ext cx="8229600" cy="0"/>
          </a:xfrm>
          <a:prstGeom prst="line">
            <a:avLst/>
          </a:prstGeom>
          <a:noFill/>
          <a:ln w="9525">
            <a:solidFill>
              <a:srgbClr val="E4E7ED"/>
            </a:solidFill>
            <a:prstDash val="solid"/>
          </a:ln>
        </p:spPr>
      </p:sp>
      <p:sp>
        <p:nvSpPr>
          <p:cNvPr id="29" name="Text 27"/>
          <p:cNvSpPr/>
          <p:nvPr/>
        </p:nvSpPr>
        <p:spPr>
          <a:xfrm>
            <a:off x="609600" y="2928938"/>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Palantir Foundry</a:t>
            </a:r>
            <a:endParaRPr lang="en-US" sz="825" dirty="0"/>
          </a:p>
        </p:txBody>
      </p:sp>
      <p:sp>
        <p:nvSpPr>
          <p:cNvPr id="30" name="Text 28"/>
          <p:cNvSpPr/>
          <p:nvPr/>
        </p:nvSpPr>
        <p:spPr>
          <a:xfrm>
            <a:off x="2039838" y="292893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FedRAMP</a:t>
            </a:r>
            <a:endParaRPr lang="en-US" sz="825" dirty="0"/>
          </a:p>
        </p:txBody>
      </p:sp>
      <p:sp>
        <p:nvSpPr>
          <p:cNvPr id="31" name="Text 29"/>
          <p:cNvSpPr/>
          <p:nvPr/>
        </p:nvSpPr>
        <p:spPr>
          <a:xfrm>
            <a:off x="3338215" y="292893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Good</a:t>
            </a:r>
            <a:endParaRPr lang="en-US" sz="825" dirty="0"/>
          </a:p>
        </p:txBody>
      </p:sp>
      <p:sp>
        <p:nvSpPr>
          <p:cNvPr id="32" name="Text 30"/>
          <p:cNvSpPr/>
          <p:nvPr/>
        </p:nvSpPr>
        <p:spPr>
          <a:xfrm>
            <a:off x="4636591" y="292893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Enterprise</a:t>
            </a:r>
            <a:endParaRPr lang="en-US" sz="825" dirty="0"/>
          </a:p>
        </p:txBody>
      </p:sp>
      <p:sp>
        <p:nvSpPr>
          <p:cNvPr id="33" name="Text 31"/>
          <p:cNvSpPr/>
          <p:nvPr/>
        </p:nvSpPr>
        <p:spPr>
          <a:xfrm>
            <a:off x="5933535" y="2928938"/>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Data platforms</a:t>
            </a:r>
            <a:endParaRPr lang="en-US" sz="825" dirty="0"/>
          </a:p>
        </p:txBody>
      </p:sp>
      <p:sp>
        <p:nvSpPr>
          <p:cNvPr id="34" name="Text 32"/>
          <p:cNvSpPr/>
          <p:nvPr/>
        </p:nvSpPr>
        <p:spPr>
          <a:xfrm>
            <a:off x="7376666" y="292893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35" name="Text 33"/>
          <p:cNvSpPr/>
          <p:nvPr/>
        </p:nvSpPr>
        <p:spPr>
          <a:xfrm>
            <a:off x="457200" y="3332708"/>
            <a:ext cx="8229600" cy="337096"/>
          </a:xfrm>
          <a:prstGeom prst="rect">
            <a:avLst/>
          </a:prstGeom>
          <a:solidFill>
            <a:srgbClr val="F7F8FA"/>
          </a:solidFill>
          <a:ln/>
        </p:spPr>
        <p:txBody>
          <a:bodyPr wrap="square" rtlCol="0" anchor="ctr"/>
          <a:lstStyle/>
          <a:p>
            <a:pPr indent="0" marL="0">
              <a:buNone/>
            </a:pPr>
            <a:endParaRPr lang="en-US" dirty="0"/>
          </a:p>
        </p:txBody>
      </p:sp>
      <p:sp>
        <p:nvSpPr>
          <p:cNvPr id="36" name="Text 34"/>
          <p:cNvSpPr/>
          <p:nvPr/>
        </p:nvSpPr>
        <p:spPr>
          <a:xfrm>
            <a:off x="609600" y="3427958"/>
            <a:ext cx="1315084"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Ollama (Local)</a:t>
            </a:r>
            <a:endParaRPr lang="en-US" sz="825" dirty="0"/>
          </a:p>
        </p:txBody>
      </p:sp>
      <p:sp>
        <p:nvSpPr>
          <p:cNvPr id="37" name="Text 35"/>
          <p:cNvSpPr/>
          <p:nvPr/>
        </p:nvSpPr>
        <p:spPr>
          <a:xfrm>
            <a:off x="2039838" y="342795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N/A (Local)</a:t>
            </a:r>
            <a:endParaRPr lang="en-US" sz="825" dirty="0"/>
          </a:p>
        </p:txBody>
      </p:sp>
      <p:sp>
        <p:nvSpPr>
          <p:cNvPr id="38" name="Text 36"/>
          <p:cNvSpPr/>
          <p:nvPr/>
        </p:nvSpPr>
        <p:spPr>
          <a:xfrm>
            <a:off x="3338215" y="342795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Moderate</a:t>
            </a:r>
            <a:endParaRPr lang="en-US" sz="825" dirty="0"/>
          </a:p>
        </p:txBody>
      </p:sp>
      <p:sp>
        <p:nvSpPr>
          <p:cNvPr id="39" name="Text 37"/>
          <p:cNvSpPr/>
          <p:nvPr/>
        </p:nvSpPr>
        <p:spPr>
          <a:xfrm>
            <a:off x="4636591" y="3427958"/>
            <a:ext cx="1168896"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Free</a:t>
            </a:r>
            <a:endParaRPr lang="en-US" sz="825" dirty="0"/>
          </a:p>
        </p:txBody>
      </p:sp>
      <p:sp>
        <p:nvSpPr>
          <p:cNvPr id="40" name="Text 38"/>
          <p:cNvSpPr/>
          <p:nvPr/>
        </p:nvSpPr>
        <p:spPr>
          <a:xfrm>
            <a:off x="5933535" y="3427958"/>
            <a:ext cx="1315084" cy="146596"/>
          </a:xfrm>
          <a:prstGeom prst="rect">
            <a:avLst/>
          </a:prstGeom>
          <a:noFill/>
          <a:ln/>
        </p:spPr>
        <p:txBody>
          <a:bodyPr wrap="square" lIns="0" tIns="0" rIns="0" bIns="0" rtlCol="0" anchor="t"/>
          <a:lstStyle/>
          <a:p>
            <a:pPr algn="ctr" indent="0" marL="0">
              <a:lnSpc>
                <a:spcPts val="1155"/>
              </a:lnSpc>
              <a:buNone/>
            </a:pPr>
            <a:r>
              <a:rPr lang="en-US" sz="825" dirty="0">
                <a:solidFill>
                  <a:srgbClr val="6B7280"/>
                </a:solidFill>
                <a:latin typeface="Arial" pitchFamily="34" charset="0"/>
                <a:ea typeface="Arial" pitchFamily="34" charset="-122"/>
                <a:cs typeface="Arial" pitchFamily="34" charset="-120"/>
              </a:rPr>
              <a:t>Experimentation</a:t>
            </a:r>
            <a:endParaRPr lang="en-US" sz="825" dirty="0"/>
          </a:p>
        </p:txBody>
      </p:sp>
      <p:sp>
        <p:nvSpPr>
          <p:cNvPr id="41" name="Text 39"/>
          <p:cNvSpPr/>
          <p:nvPr/>
        </p:nvSpPr>
        <p:spPr>
          <a:xfrm>
            <a:off x="7376666" y="3427958"/>
            <a:ext cx="1168896"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42" name="Text 40"/>
          <p:cNvSpPr/>
          <p:nvPr/>
        </p:nvSpPr>
        <p:spPr>
          <a:xfrm>
            <a:off x="457200" y="3974604"/>
            <a:ext cx="4019550" cy="597991"/>
          </a:xfrm>
          <a:prstGeom prst="rect">
            <a:avLst/>
          </a:prstGeom>
          <a:solidFill>
            <a:srgbClr val="1A1F2E"/>
          </a:solidFill>
          <a:ln/>
        </p:spPr>
        <p:txBody>
          <a:bodyPr wrap="square" rtlCol="0" anchor="ctr"/>
          <a:lstStyle/>
          <a:p>
            <a:pPr indent="0" marL="0">
              <a:buNone/>
            </a:pPr>
            <a:endParaRPr lang="en-US" dirty="0"/>
          </a:p>
        </p:txBody>
      </p:sp>
      <p:sp>
        <p:nvSpPr>
          <p:cNvPr id="43" name="Text 41"/>
          <p:cNvSpPr/>
          <p:nvPr/>
        </p:nvSpPr>
        <p:spPr>
          <a:xfrm>
            <a:off x="609600" y="4107954"/>
            <a:ext cx="3789045"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RECOMMENDATION</a:t>
            </a:r>
            <a:endParaRPr lang="en-US" sz="825" dirty="0"/>
          </a:p>
        </p:txBody>
      </p:sp>
      <p:sp>
        <p:nvSpPr>
          <p:cNvPr id="44" name="Text 42"/>
          <p:cNvSpPr/>
          <p:nvPr/>
        </p:nvSpPr>
        <p:spPr>
          <a:xfrm>
            <a:off x="609600" y="4292650"/>
            <a:ext cx="3789045" cy="146596"/>
          </a:xfrm>
          <a:prstGeom prst="rect">
            <a:avLst/>
          </a:prstGeom>
          <a:noFill/>
          <a:ln/>
        </p:spPr>
        <p:txBody>
          <a:bodyPr wrap="square" lIns="0" tIns="0" rIns="0" bIns="0" rtlCol="0" anchor="t"/>
          <a:lstStyle/>
          <a:p>
            <a:pPr algn="l" indent="0" marL="0">
              <a:lnSpc>
                <a:spcPts val="1155"/>
              </a:lnSpc>
              <a:buNone/>
            </a:pPr>
            <a:r>
              <a:rPr lang="en-US" sz="825" dirty="0">
                <a:solidFill>
                  <a:srgbClr val="FFFFFF"/>
                </a:solidFill>
                <a:latin typeface="Arial" pitchFamily="34" charset="0"/>
                <a:ea typeface="Arial" pitchFamily="34" charset="-122"/>
                <a:cs typeface="Arial" pitchFamily="34" charset="-120"/>
              </a:rPr>
              <a:t>Azure OpenAI for most government work</a:t>
            </a:r>
            <a:endParaRPr lang="en-US" sz="825" dirty="0"/>
          </a:p>
        </p:txBody>
      </p:sp>
      <p:sp>
        <p:nvSpPr>
          <p:cNvPr id="45" name="Text 43"/>
          <p:cNvSpPr/>
          <p:nvPr/>
        </p:nvSpPr>
        <p:spPr>
          <a:xfrm>
            <a:off x="4629150" y="4066877"/>
            <a:ext cx="4057650" cy="413296"/>
          </a:xfrm>
          <a:prstGeom prst="rect">
            <a:avLst/>
          </a:prstGeom>
          <a:solidFill>
            <a:srgbClr val="FEF3C7"/>
          </a:solidFill>
          <a:ln/>
        </p:spPr>
        <p:txBody>
          <a:bodyPr wrap="square" rtlCol="0" anchor="ctr"/>
          <a:lstStyle/>
          <a:p>
            <a:pPr indent="0" marL="0">
              <a:buNone/>
            </a:pPr>
            <a:endParaRPr lang="en-US" dirty="0"/>
          </a:p>
        </p:txBody>
      </p:sp>
      <p:sp>
        <p:nvSpPr>
          <p:cNvPr id="46" name="Shape 44"/>
          <p:cNvSpPr/>
          <p:nvPr/>
        </p:nvSpPr>
        <p:spPr>
          <a:xfrm>
            <a:off x="4648200" y="4066877"/>
            <a:ext cx="0" cy="413296"/>
          </a:xfrm>
          <a:prstGeom prst="line">
            <a:avLst/>
          </a:prstGeom>
          <a:noFill/>
          <a:ln w="38100">
            <a:solidFill>
              <a:srgbClr val="F59E0B"/>
            </a:solidFill>
            <a:prstDash val="solid"/>
          </a:ln>
        </p:spPr>
      </p:sp>
      <p:sp>
        <p:nvSpPr>
          <p:cNvPr id="47" name="Text 45"/>
          <p:cNvSpPr/>
          <p:nvPr/>
        </p:nvSpPr>
        <p:spPr>
          <a:xfrm>
            <a:off x="4819650" y="4200227"/>
            <a:ext cx="3789045" cy="146596"/>
          </a:xfrm>
          <a:prstGeom prst="rect">
            <a:avLst/>
          </a:prstGeom>
          <a:noFill/>
          <a:ln/>
        </p:spPr>
        <p:txBody>
          <a:bodyPr wrap="square" lIns="0" tIns="0" rIns="0" bIns="0" rtlCol="0" anchor="t"/>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*With proper BAA and configuration. Always verify with your compliance team.</a:t>
            </a:r>
            <a:endParaRPr lang="en-US" sz="8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2980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05</a:t>
            </a:r>
            <a:endParaRPr lang="en-US" sz="1050" dirty="0"/>
          </a:p>
        </p:txBody>
      </p:sp>
      <p:sp>
        <p:nvSpPr>
          <p:cNvPr id="3" name="Text 1"/>
          <p:cNvSpPr/>
          <p:nvPr/>
        </p:nvSpPr>
        <p:spPr>
          <a:xfrm>
            <a:off x="2398460" y="2097435"/>
            <a:ext cx="4347079"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CLI Tools Deep Dive</a:t>
            </a:r>
            <a:endParaRPr lang="en-US" sz="3900" dirty="0"/>
          </a:p>
        </p:txBody>
      </p:sp>
      <p:sp>
        <p:nvSpPr>
          <p:cNvPr id="4" name="Text 2"/>
          <p:cNvSpPr/>
          <p:nvPr/>
        </p:nvSpPr>
        <p:spPr>
          <a:xfrm>
            <a:off x="3278929" y="2897535"/>
            <a:ext cx="2585993"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Advanced Claude Code Features</a:t>
            </a:r>
            <a:endParaRPr lang="en-US" sz="1350" dirty="0"/>
          </a:p>
        </p:txBody>
      </p:sp>
      <p:sp>
        <p:nvSpPr>
          <p:cNvPr id="5" name="Text 3"/>
          <p:cNvSpPr/>
          <p:nvPr/>
        </p:nvSpPr>
        <p:spPr>
          <a:xfrm>
            <a:off x="4191000" y="359464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QUICK ACTIONS</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FFFFFF"/>
                </a:solidFill>
                <a:latin typeface="Georgia" pitchFamily="34" charset="0"/>
                <a:ea typeface="Georgia" pitchFamily="34" charset="-122"/>
                <a:cs typeface="Georgia" pitchFamily="34" charset="-120"/>
              </a:rPr>
              <a:t>Slash Commands</a:t>
            </a:r>
            <a:endParaRPr lang="en-US" sz="2400" dirty="0"/>
          </a:p>
        </p:txBody>
      </p:sp>
      <p:sp>
        <p:nvSpPr>
          <p:cNvPr id="4" name="Text 2"/>
          <p:cNvSpPr/>
          <p:nvPr/>
        </p:nvSpPr>
        <p:spPr>
          <a:xfrm>
            <a:off x="457200" y="908596"/>
            <a:ext cx="8394192" cy="186630"/>
          </a:xfrm>
          <a:prstGeom prst="rect">
            <a:avLst/>
          </a:prstGeom>
          <a:noFill/>
          <a:ln/>
        </p:spPr>
        <p:txBody>
          <a:bodyPr wrap="square" lIns="0" tIns="0" rIns="0" bIns="0" rtlCol="0" anchor="t"/>
          <a:lstStyle/>
          <a:p>
            <a:pPr algn="l" indent="0" marL="0">
              <a:lnSpc>
                <a:spcPts val="1470"/>
              </a:lnSpc>
              <a:spcBef>
                <a:spcPts val="600"/>
              </a:spcBef>
              <a:buNone/>
            </a:pPr>
            <a:r>
              <a:rPr lang="en-US" sz="1050" dirty="0">
                <a:solidFill>
                  <a:srgbClr val="FFFFFF">
                    <a:alpha val="60000"/>
                  </a:srgbClr>
                </a:solidFill>
                <a:latin typeface="Arial" pitchFamily="34" charset="0"/>
                <a:ea typeface="Arial" pitchFamily="34" charset="-122"/>
                <a:cs typeface="Arial" pitchFamily="34" charset="-120"/>
              </a:rPr>
              <a:t>Built-in shortcuts for common operations</a:t>
            </a:r>
            <a:endParaRPr lang="en-US" sz="1050" dirty="0"/>
          </a:p>
        </p:txBody>
      </p:sp>
      <p:sp>
        <p:nvSpPr>
          <p:cNvPr id="5" name="Text 3"/>
          <p:cNvSpPr/>
          <p:nvPr/>
        </p:nvSpPr>
        <p:spPr>
          <a:xfrm>
            <a:off x="457200" y="1709738"/>
            <a:ext cx="2641550" cy="2857351"/>
          </a:xfrm>
          <a:prstGeom prst="rect">
            <a:avLst/>
          </a:prstGeom>
          <a:solidFill>
            <a:srgbClr val="252B3D"/>
          </a:solidFill>
          <a:ln/>
        </p:spPr>
        <p:txBody>
          <a:bodyPr wrap="square" rtlCol="0" anchor="ctr"/>
          <a:lstStyle/>
          <a:p>
            <a:pPr indent="0" marL="0">
              <a:buNone/>
            </a:pPr>
            <a:endParaRPr lang="en-US" dirty="0"/>
          </a:p>
        </p:txBody>
      </p:sp>
      <p:sp>
        <p:nvSpPr>
          <p:cNvPr id="6" name="Text 4"/>
          <p:cNvSpPr/>
          <p:nvPr/>
        </p:nvSpPr>
        <p:spPr>
          <a:xfrm>
            <a:off x="647700" y="1900238"/>
            <a:ext cx="2305761"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Session</a:t>
            </a:r>
            <a:endParaRPr lang="en-US" sz="900" dirty="0"/>
          </a:p>
        </p:txBody>
      </p:sp>
      <p:sp>
        <p:nvSpPr>
          <p:cNvPr id="7" name="Text 5"/>
          <p:cNvSpPr/>
          <p:nvPr/>
        </p:nvSpPr>
        <p:spPr>
          <a:xfrm>
            <a:off x="647700" y="234597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/clear</a:t>
            </a:r>
            <a:endParaRPr lang="en-US" sz="900" dirty="0"/>
          </a:p>
        </p:txBody>
      </p:sp>
      <p:sp>
        <p:nvSpPr>
          <p:cNvPr id="8" name="Text 6"/>
          <p:cNvSpPr/>
          <p:nvPr/>
        </p:nvSpPr>
        <p:spPr>
          <a:xfrm>
            <a:off x="647700" y="253454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Reset conversation</a:t>
            </a:r>
            <a:endParaRPr lang="en-US" sz="750" dirty="0"/>
          </a:p>
        </p:txBody>
      </p:sp>
      <p:sp>
        <p:nvSpPr>
          <p:cNvPr id="9" name="Text 7"/>
          <p:cNvSpPr/>
          <p:nvPr/>
        </p:nvSpPr>
        <p:spPr>
          <a:xfrm>
            <a:off x="647700" y="291554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/compact</a:t>
            </a:r>
            <a:endParaRPr lang="en-US" sz="900" dirty="0"/>
          </a:p>
        </p:txBody>
      </p:sp>
      <p:sp>
        <p:nvSpPr>
          <p:cNvPr id="10" name="Text 8"/>
          <p:cNvSpPr/>
          <p:nvPr/>
        </p:nvSpPr>
        <p:spPr>
          <a:xfrm>
            <a:off x="647700" y="3104108"/>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Summarize context</a:t>
            </a:r>
            <a:endParaRPr lang="en-US" sz="750" dirty="0"/>
          </a:p>
        </p:txBody>
      </p:sp>
      <p:sp>
        <p:nvSpPr>
          <p:cNvPr id="11" name="Text 9"/>
          <p:cNvSpPr/>
          <p:nvPr/>
        </p:nvSpPr>
        <p:spPr>
          <a:xfrm>
            <a:off x="647700" y="348510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/resume</a:t>
            </a:r>
            <a:endParaRPr lang="en-US" sz="900" dirty="0"/>
          </a:p>
        </p:txBody>
      </p:sp>
      <p:sp>
        <p:nvSpPr>
          <p:cNvPr id="12" name="Text 10"/>
          <p:cNvSpPr/>
          <p:nvPr/>
        </p:nvSpPr>
        <p:spPr>
          <a:xfrm>
            <a:off x="647700" y="367367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Continue last session</a:t>
            </a:r>
            <a:endParaRPr lang="en-US" sz="750" dirty="0"/>
          </a:p>
        </p:txBody>
      </p:sp>
      <p:sp>
        <p:nvSpPr>
          <p:cNvPr id="13" name="Text 11"/>
          <p:cNvSpPr/>
          <p:nvPr/>
        </p:nvSpPr>
        <p:spPr>
          <a:xfrm>
            <a:off x="647700" y="405467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/config</a:t>
            </a:r>
            <a:endParaRPr lang="en-US" sz="900" dirty="0"/>
          </a:p>
        </p:txBody>
      </p:sp>
      <p:sp>
        <p:nvSpPr>
          <p:cNvPr id="14" name="Text 12"/>
          <p:cNvSpPr/>
          <p:nvPr/>
        </p:nvSpPr>
        <p:spPr>
          <a:xfrm>
            <a:off x="647700" y="4243239"/>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View/edit settings</a:t>
            </a:r>
            <a:endParaRPr lang="en-US" sz="750" dirty="0"/>
          </a:p>
        </p:txBody>
      </p:sp>
      <p:sp>
        <p:nvSpPr>
          <p:cNvPr id="15" name="Text 13"/>
          <p:cNvSpPr/>
          <p:nvPr/>
        </p:nvSpPr>
        <p:spPr>
          <a:xfrm>
            <a:off x="3251150" y="1709738"/>
            <a:ext cx="2641550" cy="2857351"/>
          </a:xfrm>
          <a:prstGeom prst="rect">
            <a:avLst/>
          </a:prstGeom>
          <a:solidFill>
            <a:srgbClr val="252B3D"/>
          </a:solidFill>
          <a:ln/>
        </p:spPr>
        <p:txBody>
          <a:bodyPr wrap="square" rtlCol="0" anchor="ctr"/>
          <a:lstStyle/>
          <a:p>
            <a:pPr indent="0" marL="0">
              <a:buNone/>
            </a:pPr>
            <a:endParaRPr lang="en-US" dirty="0"/>
          </a:p>
        </p:txBody>
      </p:sp>
      <p:sp>
        <p:nvSpPr>
          <p:cNvPr id="16" name="Text 14"/>
          <p:cNvSpPr/>
          <p:nvPr/>
        </p:nvSpPr>
        <p:spPr>
          <a:xfrm>
            <a:off x="3441650" y="1900238"/>
            <a:ext cx="2305761"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Information</a:t>
            </a:r>
            <a:endParaRPr lang="en-US" sz="900" dirty="0"/>
          </a:p>
        </p:txBody>
      </p:sp>
      <p:sp>
        <p:nvSpPr>
          <p:cNvPr id="17" name="Text 15"/>
          <p:cNvSpPr/>
          <p:nvPr/>
        </p:nvSpPr>
        <p:spPr>
          <a:xfrm>
            <a:off x="3441650" y="234597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/help</a:t>
            </a:r>
            <a:endParaRPr lang="en-US" sz="900" dirty="0"/>
          </a:p>
        </p:txBody>
      </p:sp>
      <p:sp>
        <p:nvSpPr>
          <p:cNvPr id="18" name="Text 16"/>
          <p:cNvSpPr/>
          <p:nvPr/>
        </p:nvSpPr>
        <p:spPr>
          <a:xfrm>
            <a:off x="3441650" y="253454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Show all commands</a:t>
            </a:r>
            <a:endParaRPr lang="en-US" sz="750" dirty="0"/>
          </a:p>
        </p:txBody>
      </p:sp>
      <p:sp>
        <p:nvSpPr>
          <p:cNvPr id="19" name="Text 17"/>
          <p:cNvSpPr/>
          <p:nvPr/>
        </p:nvSpPr>
        <p:spPr>
          <a:xfrm>
            <a:off x="3441650" y="291554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/cost</a:t>
            </a:r>
            <a:endParaRPr lang="en-US" sz="900" dirty="0"/>
          </a:p>
        </p:txBody>
      </p:sp>
      <p:sp>
        <p:nvSpPr>
          <p:cNvPr id="20" name="Text 18"/>
          <p:cNvSpPr/>
          <p:nvPr/>
        </p:nvSpPr>
        <p:spPr>
          <a:xfrm>
            <a:off x="3441650" y="3104108"/>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Show token usage</a:t>
            </a:r>
            <a:endParaRPr lang="en-US" sz="750" dirty="0"/>
          </a:p>
        </p:txBody>
      </p:sp>
      <p:sp>
        <p:nvSpPr>
          <p:cNvPr id="21" name="Text 19"/>
          <p:cNvSpPr/>
          <p:nvPr/>
        </p:nvSpPr>
        <p:spPr>
          <a:xfrm>
            <a:off x="3441650" y="348510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/status</a:t>
            </a:r>
            <a:endParaRPr lang="en-US" sz="900" dirty="0"/>
          </a:p>
        </p:txBody>
      </p:sp>
      <p:sp>
        <p:nvSpPr>
          <p:cNvPr id="22" name="Text 20"/>
          <p:cNvSpPr/>
          <p:nvPr/>
        </p:nvSpPr>
        <p:spPr>
          <a:xfrm>
            <a:off x="3441650" y="367367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Current session info</a:t>
            </a:r>
            <a:endParaRPr lang="en-US" sz="750" dirty="0"/>
          </a:p>
        </p:txBody>
      </p:sp>
      <p:sp>
        <p:nvSpPr>
          <p:cNvPr id="23" name="Text 21"/>
          <p:cNvSpPr/>
          <p:nvPr/>
        </p:nvSpPr>
        <p:spPr>
          <a:xfrm>
            <a:off x="3441650" y="405467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/doctor</a:t>
            </a:r>
            <a:endParaRPr lang="en-US" sz="900" dirty="0"/>
          </a:p>
        </p:txBody>
      </p:sp>
      <p:sp>
        <p:nvSpPr>
          <p:cNvPr id="24" name="Text 22"/>
          <p:cNvSpPr/>
          <p:nvPr/>
        </p:nvSpPr>
        <p:spPr>
          <a:xfrm>
            <a:off x="3441650" y="4243239"/>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Diagnose issues</a:t>
            </a:r>
            <a:endParaRPr lang="en-US" sz="750" dirty="0"/>
          </a:p>
        </p:txBody>
      </p:sp>
      <p:sp>
        <p:nvSpPr>
          <p:cNvPr id="25" name="Text 23"/>
          <p:cNvSpPr/>
          <p:nvPr/>
        </p:nvSpPr>
        <p:spPr>
          <a:xfrm>
            <a:off x="6045101" y="1709738"/>
            <a:ext cx="2641550" cy="2857351"/>
          </a:xfrm>
          <a:prstGeom prst="rect">
            <a:avLst/>
          </a:prstGeom>
          <a:solidFill>
            <a:srgbClr val="252B3D"/>
          </a:solidFill>
          <a:ln/>
        </p:spPr>
        <p:txBody>
          <a:bodyPr wrap="square" rtlCol="0" anchor="ctr"/>
          <a:lstStyle/>
          <a:p>
            <a:pPr indent="0" marL="0">
              <a:buNone/>
            </a:pPr>
            <a:endParaRPr lang="en-US" dirty="0"/>
          </a:p>
        </p:txBody>
      </p:sp>
      <p:sp>
        <p:nvSpPr>
          <p:cNvPr id="26" name="Text 24"/>
          <p:cNvSpPr/>
          <p:nvPr/>
        </p:nvSpPr>
        <p:spPr>
          <a:xfrm>
            <a:off x="6235601" y="1900238"/>
            <a:ext cx="2305761"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Actions</a:t>
            </a:r>
            <a:endParaRPr lang="en-US" sz="900" dirty="0"/>
          </a:p>
        </p:txBody>
      </p:sp>
      <p:sp>
        <p:nvSpPr>
          <p:cNvPr id="27" name="Text 25"/>
          <p:cNvSpPr/>
          <p:nvPr/>
        </p:nvSpPr>
        <p:spPr>
          <a:xfrm>
            <a:off x="6235601" y="234597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/init</a:t>
            </a:r>
            <a:endParaRPr lang="en-US" sz="900" dirty="0"/>
          </a:p>
        </p:txBody>
      </p:sp>
      <p:sp>
        <p:nvSpPr>
          <p:cNvPr id="28" name="Text 26"/>
          <p:cNvSpPr/>
          <p:nvPr/>
        </p:nvSpPr>
        <p:spPr>
          <a:xfrm>
            <a:off x="6235601" y="253454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Create CLAUDE.md</a:t>
            </a:r>
            <a:endParaRPr lang="en-US" sz="750" dirty="0"/>
          </a:p>
        </p:txBody>
      </p:sp>
      <p:sp>
        <p:nvSpPr>
          <p:cNvPr id="29" name="Text 27"/>
          <p:cNvSpPr/>
          <p:nvPr/>
        </p:nvSpPr>
        <p:spPr>
          <a:xfrm>
            <a:off x="6235601" y="291554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/add-dir</a:t>
            </a:r>
            <a:endParaRPr lang="en-US" sz="900" dirty="0"/>
          </a:p>
        </p:txBody>
      </p:sp>
      <p:sp>
        <p:nvSpPr>
          <p:cNvPr id="30" name="Text 28"/>
          <p:cNvSpPr/>
          <p:nvPr/>
        </p:nvSpPr>
        <p:spPr>
          <a:xfrm>
            <a:off x="6235601" y="3104108"/>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Add folder to context</a:t>
            </a:r>
            <a:endParaRPr lang="en-US" sz="750" dirty="0"/>
          </a:p>
        </p:txBody>
      </p:sp>
      <p:sp>
        <p:nvSpPr>
          <p:cNvPr id="31" name="Text 29"/>
          <p:cNvSpPr/>
          <p:nvPr/>
        </p:nvSpPr>
        <p:spPr>
          <a:xfrm>
            <a:off x="6235601" y="3485108"/>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/bug</a:t>
            </a:r>
            <a:endParaRPr lang="en-US" sz="900" dirty="0"/>
          </a:p>
        </p:txBody>
      </p:sp>
      <p:sp>
        <p:nvSpPr>
          <p:cNvPr id="32" name="Text 30"/>
          <p:cNvSpPr/>
          <p:nvPr/>
        </p:nvSpPr>
        <p:spPr>
          <a:xfrm>
            <a:off x="6235601" y="3673673"/>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Report a bug</a:t>
            </a:r>
            <a:endParaRPr lang="en-US" sz="750" dirty="0"/>
          </a:p>
        </p:txBody>
      </p:sp>
      <p:sp>
        <p:nvSpPr>
          <p:cNvPr id="33" name="Text 31"/>
          <p:cNvSpPr/>
          <p:nvPr/>
        </p:nvSpPr>
        <p:spPr>
          <a:xfrm>
            <a:off x="6235601" y="4054673"/>
            <a:ext cx="2305761" cy="159990"/>
          </a:xfrm>
          <a:prstGeom prst="rect">
            <a:avLst/>
          </a:prstGeom>
          <a:noFill/>
          <a:ln/>
        </p:spPr>
        <p:txBody>
          <a:bodyPr wrap="square" lIns="0" tIns="0" rIns="0" bIns="0" rtlCol="0" anchor="t"/>
          <a:lstStyle/>
          <a:p>
            <a:pPr algn="l" indent="0" marL="0">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/login</a:t>
            </a:r>
            <a:endParaRPr lang="en-US" sz="900" dirty="0"/>
          </a:p>
        </p:txBody>
      </p:sp>
      <p:sp>
        <p:nvSpPr>
          <p:cNvPr id="34" name="Text 32"/>
          <p:cNvSpPr/>
          <p:nvPr/>
        </p:nvSpPr>
        <p:spPr>
          <a:xfrm>
            <a:off x="6235601" y="4243239"/>
            <a:ext cx="2305761"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Re-authenticate</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EXTENSIBILITY</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Model Context Protocol (MCP)</a:t>
            </a:r>
            <a:endParaRPr lang="en-US" sz="2400" dirty="0"/>
          </a:p>
        </p:txBody>
      </p:sp>
      <p:sp>
        <p:nvSpPr>
          <p:cNvPr id="4" name="Text 2"/>
          <p:cNvSpPr/>
          <p:nvPr/>
        </p:nvSpPr>
        <p:spPr>
          <a:xfrm>
            <a:off x="457200" y="870496"/>
            <a:ext cx="8394192" cy="186630"/>
          </a:xfrm>
          <a:prstGeom prst="rect">
            <a:avLst/>
          </a:prstGeom>
          <a:noFill/>
          <a:ln/>
        </p:spPr>
        <p:txBody>
          <a:bodyPr wrap="square" lIns="0" tIns="0" rIns="0" bIns="0" rtlCol="0" anchor="t"/>
          <a:lstStyle/>
          <a:p>
            <a:pPr algn="l" indent="0" marL="0">
              <a:lnSpc>
                <a:spcPts val="1470"/>
              </a:lnSpc>
              <a:spcBef>
                <a:spcPts val="600"/>
              </a:spcBef>
              <a:buNone/>
            </a:pPr>
            <a:r>
              <a:rPr lang="en-US" sz="1050" dirty="0">
                <a:solidFill>
                  <a:srgbClr val="6B7280"/>
                </a:solidFill>
                <a:latin typeface="Arial" pitchFamily="34" charset="0"/>
                <a:ea typeface="Arial" pitchFamily="34" charset="-122"/>
                <a:cs typeface="Arial" pitchFamily="34" charset="-120"/>
              </a:rPr>
              <a:t>Connect Claude to external tools and data sources</a:t>
            </a:r>
            <a:endParaRPr lang="en-US" sz="1050" dirty="0"/>
          </a:p>
        </p:txBody>
      </p:sp>
      <p:sp>
        <p:nvSpPr>
          <p:cNvPr id="5" name="Text 3"/>
          <p:cNvSpPr/>
          <p:nvPr/>
        </p:nvSpPr>
        <p:spPr>
          <a:xfrm>
            <a:off x="457200" y="1539329"/>
            <a:ext cx="4038600" cy="1123652"/>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76250" y="1539329"/>
            <a:ext cx="0" cy="1123652"/>
          </a:xfrm>
          <a:prstGeom prst="line">
            <a:avLst/>
          </a:prstGeom>
          <a:noFill/>
          <a:ln w="38100">
            <a:solidFill>
              <a:srgbClr val="C9A227"/>
            </a:solidFill>
            <a:prstDash val="solid"/>
          </a:ln>
        </p:spPr>
      </p:sp>
      <p:sp>
        <p:nvSpPr>
          <p:cNvPr id="7" name="Text 5"/>
          <p:cNvSpPr/>
          <p:nvPr/>
        </p:nvSpPr>
        <p:spPr>
          <a:xfrm>
            <a:off x="666750" y="1710779"/>
            <a:ext cx="3730752"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What is MCP?</a:t>
            </a:r>
            <a:endParaRPr lang="en-US" sz="1050" dirty="0"/>
          </a:p>
        </p:txBody>
      </p:sp>
      <p:sp>
        <p:nvSpPr>
          <p:cNvPr id="8" name="Text 6"/>
          <p:cNvSpPr/>
          <p:nvPr/>
        </p:nvSpPr>
        <p:spPr>
          <a:xfrm>
            <a:off x="666750" y="2126010"/>
            <a:ext cx="3730752"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A protocol that lets Claude interact with external services like databases, APIs, and custom tools.</a:t>
            </a:r>
            <a:endParaRPr lang="en-US" sz="900" dirty="0"/>
          </a:p>
        </p:txBody>
      </p:sp>
      <p:sp>
        <p:nvSpPr>
          <p:cNvPr id="9" name="Text 7"/>
          <p:cNvSpPr/>
          <p:nvPr/>
        </p:nvSpPr>
        <p:spPr>
          <a:xfrm>
            <a:off x="4648200" y="1539329"/>
            <a:ext cx="4038600" cy="1123652"/>
          </a:xfrm>
          <a:prstGeom prst="rect">
            <a:avLst/>
          </a:prstGeom>
          <a:solidFill>
            <a:srgbClr val="FFFFFF"/>
          </a:solidFill>
          <a:ln/>
        </p:spPr>
        <p:txBody>
          <a:bodyPr wrap="square" rtlCol="0" anchor="ctr"/>
          <a:lstStyle/>
          <a:p>
            <a:pPr indent="0" marL="0">
              <a:buNone/>
            </a:pPr>
            <a:endParaRPr lang="en-US" dirty="0"/>
          </a:p>
        </p:txBody>
      </p:sp>
      <p:sp>
        <p:nvSpPr>
          <p:cNvPr id="10" name="Shape 8"/>
          <p:cNvSpPr/>
          <p:nvPr/>
        </p:nvSpPr>
        <p:spPr>
          <a:xfrm>
            <a:off x="4667250" y="1539329"/>
            <a:ext cx="0" cy="1123652"/>
          </a:xfrm>
          <a:prstGeom prst="line">
            <a:avLst/>
          </a:prstGeom>
          <a:noFill/>
          <a:ln w="38100">
            <a:solidFill>
              <a:srgbClr val="C9A227"/>
            </a:solidFill>
            <a:prstDash val="solid"/>
          </a:ln>
        </p:spPr>
      </p:sp>
      <p:sp>
        <p:nvSpPr>
          <p:cNvPr id="11" name="Text 9"/>
          <p:cNvSpPr/>
          <p:nvPr/>
        </p:nvSpPr>
        <p:spPr>
          <a:xfrm>
            <a:off x="4857750" y="1710779"/>
            <a:ext cx="3730752" cy="186630"/>
          </a:xfrm>
          <a:prstGeom prst="rect">
            <a:avLst/>
          </a:prstGeom>
          <a:noFill/>
          <a:ln/>
        </p:spPr>
        <p:txBody>
          <a:bodyPr wrap="square" lIns="0" tIns="0" rIns="0" bIns="0" rtlCol="0" anchor="t"/>
          <a:lstStyle/>
          <a:p>
            <a:pPr algn="l" indent="0" marL="0">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Why It Matters</a:t>
            </a:r>
            <a:endParaRPr lang="en-US" sz="1050" dirty="0"/>
          </a:p>
        </p:txBody>
      </p:sp>
      <p:sp>
        <p:nvSpPr>
          <p:cNvPr id="12" name="Text 10"/>
          <p:cNvSpPr/>
          <p:nvPr/>
        </p:nvSpPr>
        <p:spPr>
          <a:xfrm>
            <a:off x="4857750" y="2126010"/>
            <a:ext cx="3730752" cy="365522"/>
          </a:xfrm>
          <a:prstGeom prst="rect">
            <a:avLst/>
          </a:prstGeom>
          <a:noFill/>
          <a:ln/>
        </p:spPr>
        <p:txBody>
          <a:bodyPr wrap="square" lIns="0" tIns="0" rIns="0" bIns="0" rtlCol="0" anchor="t"/>
          <a:lstStyle/>
          <a:p>
            <a:pPr algn="l" indent="0" marL="0">
              <a:lnSpc>
                <a:spcPts val="1440"/>
              </a:lnSpc>
              <a:buNone/>
            </a:pPr>
            <a:r>
              <a:rPr lang="en-US" sz="900" dirty="0">
                <a:solidFill>
                  <a:srgbClr val="6B7280"/>
                </a:solidFill>
                <a:latin typeface="Arial" pitchFamily="34" charset="0"/>
                <a:ea typeface="Arial" pitchFamily="34" charset="-122"/>
                <a:cs typeface="Arial" pitchFamily="34" charset="-120"/>
              </a:rPr>
              <a:t>Extend Claude's capabilities beyond file operations to interact with any system.</a:t>
            </a:r>
            <a:endParaRPr lang="en-US" sz="900" dirty="0"/>
          </a:p>
        </p:txBody>
      </p:sp>
      <p:sp>
        <p:nvSpPr>
          <p:cNvPr id="13" name="Text 11"/>
          <p:cNvSpPr/>
          <p:nvPr/>
        </p:nvSpPr>
        <p:spPr>
          <a:xfrm>
            <a:off x="457200" y="2967782"/>
            <a:ext cx="8229600" cy="999976"/>
          </a:xfrm>
          <a:prstGeom prst="rect">
            <a:avLst/>
          </a:prstGeom>
          <a:solidFill>
            <a:srgbClr val="1A1F2E"/>
          </a:solidFill>
          <a:ln/>
        </p:spPr>
        <p:txBody>
          <a:bodyPr wrap="square" rtlCol="0" anchor="ctr"/>
          <a:lstStyle/>
          <a:p>
            <a:pPr indent="0" marL="0">
              <a:buNone/>
            </a:pPr>
            <a:endParaRPr lang="en-US" dirty="0"/>
          </a:p>
        </p:txBody>
      </p:sp>
      <p:sp>
        <p:nvSpPr>
          <p:cNvPr id="14" name="Text 12"/>
          <p:cNvSpPr/>
          <p:nvPr/>
        </p:nvSpPr>
        <p:spPr>
          <a:xfrm>
            <a:off x="647700" y="3158282"/>
            <a:ext cx="8005572"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C9A227"/>
                </a:solidFill>
                <a:latin typeface="Arial" pitchFamily="34" charset="0"/>
                <a:ea typeface="Arial" pitchFamily="34" charset="-122"/>
                <a:cs typeface="Arial" pitchFamily="34" charset="-120"/>
              </a:rPr>
              <a:t>Available MCP Servers</a:t>
            </a:r>
            <a:endParaRPr lang="en-US" sz="900" dirty="0"/>
          </a:p>
        </p:txBody>
      </p:sp>
      <p:sp>
        <p:nvSpPr>
          <p:cNvPr id="15" name="Text 13"/>
          <p:cNvSpPr/>
          <p:nvPr/>
        </p:nvSpPr>
        <p:spPr>
          <a:xfrm>
            <a:off x="647700" y="3432572"/>
            <a:ext cx="962290"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GitHub</a:t>
            </a:r>
            <a:endParaRPr lang="en-US" sz="900" dirty="0"/>
          </a:p>
        </p:txBody>
      </p:sp>
      <p:sp>
        <p:nvSpPr>
          <p:cNvPr id="16" name="Text 14"/>
          <p:cNvSpPr/>
          <p:nvPr/>
        </p:nvSpPr>
        <p:spPr>
          <a:xfrm>
            <a:off x="647700" y="3630662"/>
            <a:ext cx="962290"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PRs, issues, actions</a:t>
            </a:r>
            <a:endParaRPr lang="en-US" sz="825" dirty="0"/>
          </a:p>
        </p:txBody>
      </p:sp>
      <p:sp>
        <p:nvSpPr>
          <p:cNvPr id="17" name="Text 15"/>
          <p:cNvSpPr/>
          <p:nvPr/>
        </p:nvSpPr>
        <p:spPr>
          <a:xfrm>
            <a:off x="1819721" y="3432572"/>
            <a:ext cx="813977"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PostgreSQL</a:t>
            </a:r>
            <a:endParaRPr lang="en-US" sz="900" dirty="0"/>
          </a:p>
        </p:txBody>
      </p:sp>
      <p:sp>
        <p:nvSpPr>
          <p:cNvPr id="18" name="Text 16"/>
          <p:cNvSpPr/>
          <p:nvPr/>
        </p:nvSpPr>
        <p:spPr>
          <a:xfrm>
            <a:off x="1819721" y="3630662"/>
            <a:ext cx="813977"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Query databases</a:t>
            </a:r>
            <a:endParaRPr lang="en-US" sz="825" dirty="0"/>
          </a:p>
        </p:txBody>
      </p:sp>
      <p:sp>
        <p:nvSpPr>
          <p:cNvPr id="19" name="Text 17"/>
          <p:cNvSpPr/>
          <p:nvPr/>
        </p:nvSpPr>
        <p:spPr>
          <a:xfrm>
            <a:off x="2846338" y="3432572"/>
            <a:ext cx="766462"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Slack</a:t>
            </a:r>
            <a:endParaRPr lang="en-US" sz="900" dirty="0"/>
          </a:p>
        </p:txBody>
      </p:sp>
      <p:sp>
        <p:nvSpPr>
          <p:cNvPr id="20" name="Text 18"/>
          <p:cNvSpPr/>
          <p:nvPr/>
        </p:nvSpPr>
        <p:spPr>
          <a:xfrm>
            <a:off x="2846338" y="3630662"/>
            <a:ext cx="766462"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Send messages</a:t>
            </a:r>
            <a:endParaRPr lang="en-US" sz="825" dirty="0"/>
          </a:p>
        </p:txBody>
      </p:sp>
      <p:sp>
        <p:nvSpPr>
          <p:cNvPr id="21" name="Text 19"/>
          <p:cNvSpPr/>
          <p:nvPr/>
        </p:nvSpPr>
        <p:spPr>
          <a:xfrm>
            <a:off x="3826371" y="3432572"/>
            <a:ext cx="776329"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Browser</a:t>
            </a:r>
            <a:endParaRPr lang="en-US" sz="900" dirty="0"/>
          </a:p>
        </p:txBody>
      </p:sp>
      <p:sp>
        <p:nvSpPr>
          <p:cNvPr id="22" name="Text 20"/>
          <p:cNvSpPr/>
          <p:nvPr/>
        </p:nvSpPr>
        <p:spPr>
          <a:xfrm>
            <a:off x="3826371" y="3630662"/>
            <a:ext cx="776329"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Web automation</a:t>
            </a:r>
            <a:endParaRPr lang="en-US" sz="825" dirty="0"/>
          </a:p>
        </p:txBody>
      </p:sp>
      <p:sp>
        <p:nvSpPr>
          <p:cNvPr id="23" name="Text 21"/>
          <p:cNvSpPr/>
          <p:nvPr/>
        </p:nvSpPr>
        <p:spPr>
          <a:xfrm>
            <a:off x="4816078" y="3432572"/>
            <a:ext cx="701034"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Custom</a:t>
            </a:r>
            <a:endParaRPr lang="en-US" sz="900" dirty="0"/>
          </a:p>
        </p:txBody>
      </p:sp>
      <p:sp>
        <p:nvSpPr>
          <p:cNvPr id="24" name="Text 22"/>
          <p:cNvSpPr/>
          <p:nvPr/>
        </p:nvSpPr>
        <p:spPr>
          <a:xfrm>
            <a:off x="4816078" y="3630662"/>
            <a:ext cx="701034"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50000"/>
                  </a:srgbClr>
                </a:solidFill>
                <a:latin typeface="Arial" pitchFamily="34" charset="0"/>
                <a:ea typeface="Arial" pitchFamily="34" charset="-122"/>
                <a:cs typeface="Arial" pitchFamily="34" charset="-120"/>
              </a:rPr>
              <a:t>Build your own</a:t>
            </a:r>
            <a:endParaRPr lang="en-US" sz="825" dirty="0"/>
          </a:p>
        </p:txBody>
      </p:sp>
      <p:sp>
        <p:nvSpPr>
          <p:cNvPr id="25" name="Text 23"/>
          <p:cNvSpPr/>
          <p:nvPr/>
        </p:nvSpPr>
        <p:spPr>
          <a:xfrm>
            <a:off x="457200" y="4272558"/>
            <a:ext cx="8229600" cy="426690"/>
          </a:xfrm>
          <a:prstGeom prst="rect">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476250" y="4272558"/>
            <a:ext cx="0" cy="426690"/>
          </a:xfrm>
          <a:prstGeom prst="line">
            <a:avLst/>
          </a:prstGeom>
          <a:noFill/>
          <a:ln w="38100">
            <a:solidFill>
              <a:srgbClr val="F59E0B"/>
            </a:solidFill>
            <a:prstDash val="solid"/>
          </a:ln>
        </p:spPr>
      </p:sp>
      <p:sp>
        <p:nvSpPr>
          <p:cNvPr id="27" name="Text 25"/>
          <p:cNvSpPr/>
          <p:nvPr/>
        </p:nvSpPr>
        <p:spPr>
          <a:xfrm>
            <a:off x="666750" y="4405908"/>
            <a:ext cx="8005572" cy="159990"/>
          </a:xfrm>
          <a:prstGeom prst="rect">
            <a:avLst/>
          </a:prstGeom>
          <a:noFill/>
          <a:ln/>
        </p:spPr>
        <p:txBody>
          <a:bodyPr wrap="square" lIns="0" tIns="0" rIns="0" bIns="0" rtlCol="0" anchor="t"/>
          <a:lstStyle/>
          <a:p>
            <a:pPr algn="l" indent="0" marL="0">
              <a:lnSpc>
                <a:spcPts val="1260"/>
              </a:lnSpc>
              <a:buNone/>
            </a:pPr>
            <a:r>
              <a:rPr lang="en-US" sz="900" b="1" dirty="0">
                <a:solidFill>
                  <a:srgbClr val="92400E"/>
                </a:solidFill>
                <a:latin typeface="Arial" pitchFamily="34" charset="0"/>
                <a:ea typeface="Arial" pitchFamily="34" charset="-122"/>
                <a:cs typeface="Arial" pitchFamily="34" charset="-120"/>
              </a:rPr>
              <a:t>Voice Workflow:</a:t>
            </a:r>
            <a:pPr algn="l" indent="0" marL="0">
              <a:lnSpc>
                <a:spcPts val="1260"/>
              </a:lnSpc>
              <a:buNone/>
            </a:pPr>
            <a:r>
              <a:rPr lang="en-US" sz="900" dirty="0">
                <a:solidFill>
                  <a:srgbClr val="92400E"/>
                </a:solidFill>
                <a:latin typeface="Arial" pitchFamily="34" charset="0"/>
                <a:ea typeface="Arial" pitchFamily="34" charset="-122"/>
                <a:cs typeface="Arial" pitchFamily="34" charset="-120"/>
              </a:rPr>
              <a:t> "Check our GitHub issues and summarize the critical bugs"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81000" y="1593652"/>
            <a:ext cx="3351392"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PARALLEL WORK</a:t>
            </a:r>
            <a:endParaRPr lang="en-US" sz="825" dirty="0"/>
          </a:p>
        </p:txBody>
      </p:sp>
      <p:sp>
        <p:nvSpPr>
          <p:cNvPr id="4" name="Text 2"/>
          <p:cNvSpPr/>
          <p:nvPr/>
        </p:nvSpPr>
        <p:spPr>
          <a:xfrm>
            <a:off x="381000" y="2045047"/>
            <a:ext cx="1680782" cy="411361"/>
          </a:xfrm>
          <a:prstGeom prst="rect">
            <a:avLst/>
          </a:prstGeom>
          <a:noFill/>
          <a:ln/>
        </p:spPr>
        <p:txBody>
          <a:bodyPr wrap="square" lIns="0" tIns="0" rIns="0" bIns="0" rtlCol="0" anchor="t"/>
          <a:lstStyle/>
          <a:p>
            <a:pPr algn="l" indent="0" marL="0">
              <a:lnSpc>
                <a:spcPts val="3240"/>
              </a:lnSpc>
              <a:spcAft>
                <a:spcPts val="1200"/>
              </a:spcAft>
              <a:buNone/>
            </a:pPr>
            <a:r>
              <a:rPr lang="en-US" sz="2700" dirty="0">
                <a:solidFill>
                  <a:srgbClr val="FFFFFF"/>
                </a:solidFill>
                <a:latin typeface="Georgia" pitchFamily="34" charset="0"/>
                <a:ea typeface="Georgia" pitchFamily="34" charset="-122"/>
                <a:cs typeface="Georgia" pitchFamily="34" charset="-120"/>
              </a:rPr>
              <a:t>Sub-Agents</a:t>
            </a:r>
            <a:endParaRPr lang="en-US" sz="2700" dirty="0"/>
          </a:p>
        </p:txBody>
      </p:sp>
      <p:sp>
        <p:nvSpPr>
          <p:cNvPr id="5" name="Text 3"/>
          <p:cNvSpPr/>
          <p:nvPr/>
        </p:nvSpPr>
        <p:spPr>
          <a:xfrm>
            <a:off x="381000" y="2761208"/>
            <a:ext cx="4572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381000" y="3123158"/>
            <a:ext cx="3351392" cy="426541"/>
          </a:xfrm>
          <a:prstGeom prst="rect">
            <a:avLst/>
          </a:prstGeom>
          <a:noFill/>
          <a:ln/>
        </p:spPr>
        <p:txBody>
          <a:bodyPr wrap="square" lIns="0" tIns="0" rIns="0" bIns="0" rtlCol="0" anchor="t"/>
          <a:lstStyle/>
          <a:p>
            <a:pPr algn="l" indent="0" marL="0">
              <a:lnSpc>
                <a:spcPts val="1680"/>
              </a:lnSpc>
              <a:buNone/>
            </a:pPr>
            <a:r>
              <a:rPr lang="en-US" sz="1050" dirty="0">
                <a:solidFill>
                  <a:srgbClr val="FFFFFF">
                    <a:alpha val="70000"/>
                  </a:srgbClr>
                </a:solidFill>
                <a:latin typeface="Arial" pitchFamily="34" charset="0"/>
                <a:ea typeface="Arial" pitchFamily="34" charset="-122"/>
                <a:cs typeface="Arial" pitchFamily="34" charset="-120"/>
              </a:rPr>
              <a:t>Claude can spawn child agents to work on subtasks in parallel, then combine results.</a:t>
            </a:r>
            <a:endParaRPr lang="en-US" sz="1050" dirty="0"/>
          </a:p>
        </p:txBody>
      </p:sp>
      <p:sp>
        <p:nvSpPr>
          <p:cNvPr id="7" name="Text 5"/>
          <p:cNvSpPr/>
          <p:nvPr/>
        </p:nvSpPr>
        <p:spPr>
          <a:xfrm>
            <a:off x="4200079" y="0"/>
            <a:ext cx="4943921"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581079" y="696516"/>
            <a:ext cx="4181921" cy="89713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4743004" y="858441"/>
            <a:ext cx="3935233" cy="173236"/>
          </a:xfrm>
          <a:prstGeom prst="rect">
            <a:avLst/>
          </a:prstGeom>
          <a:noFill/>
          <a:ln/>
        </p:spPr>
        <p:txBody>
          <a:bodyPr wrap="square" lIns="0" tIns="0" rIns="0" bIns="0" rtlCol="0" anchor="t"/>
          <a:lstStyle/>
          <a:p>
            <a:pPr algn="l" indent="0" marL="0">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How It Works</a:t>
            </a:r>
            <a:endParaRPr lang="en-US" sz="975" dirty="0"/>
          </a:p>
        </p:txBody>
      </p:sp>
      <p:sp>
        <p:nvSpPr>
          <p:cNvPr id="10" name="Text 8"/>
          <p:cNvSpPr/>
          <p:nvPr/>
        </p:nvSpPr>
        <p:spPr>
          <a:xfrm>
            <a:off x="4743004" y="1088827"/>
            <a:ext cx="3935233" cy="34290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Main agent delegates complex tasks to specialized sub-agents. Each sub-agent handles a portion, returning results to the main agent.</a:t>
            </a:r>
            <a:endParaRPr lang="en-US" sz="900" dirty="0"/>
          </a:p>
        </p:txBody>
      </p:sp>
      <p:sp>
        <p:nvSpPr>
          <p:cNvPr id="11" name="Text 9"/>
          <p:cNvSpPr/>
          <p:nvPr/>
        </p:nvSpPr>
        <p:spPr>
          <a:xfrm>
            <a:off x="4581079" y="1707952"/>
            <a:ext cx="4181921" cy="119032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2" name="Text 10"/>
          <p:cNvSpPr/>
          <p:nvPr/>
        </p:nvSpPr>
        <p:spPr>
          <a:xfrm>
            <a:off x="4743004" y="1869877"/>
            <a:ext cx="3935233"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Example Use Cases</a:t>
            </a:r>
            <a:endParaRPr lang="en-US" sz="975" dirty="0"/>
          </a:p>
        </p:txBody>
      </p:sp>
      <p:sp>
        <p:nvSpPr>
          <p:cNvPr id="13" name="Text 11"/>
          <p:cNvSpPr/>
          <p:nvPr/>
        </p:nvSpPr>
        <p:spPr>
          <a:xfrm>
            <a:off x="4743004" y="2119313"/>
            <a:ext cx="3935233" cy="617041"/>
          </a:xfrm>
          <a:prstGeom prst="rect">
            <a:avLst/>
          </a:prstGeom>
          <a:noFill/>
          <a:ln/>
        </p:spPr>
        <p:txBody>
          <a:bodyPr wrap="square" lIns="0" tIns="0" rIns="0" bIns="0" rtlCol="0" anchor="t"/>
          <a:lstStyle/>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"Refactor all API endpoints" - spawns agents per file</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"Add tests for each module" - parallel test generation</a:t>
            </a:r>
            <a:endParaRPr lang="en-US" sz="900" dirty="0"/>
          </a:p>
          <a:p>
            <a:pPr algn="l" indent="0" marL="0">
              <a:lnSpc>
                <a:spcPts val="1620"/>
              </a:lnSpc>
              <a:buNone/>
            </a:pPr>
            <a:r>
              <a:rPr lang="en-US" sz="900" dirty="0">
                <a:solidFill>
                  <a:srgbClr val="6B7280"/>
                </a:solidFill>
                <a:latin typeface="Arial" pitchFamily="34" charset="0"/>
                <a:ea typeface="Arial" pitchFamily="34" charset="-122"/>
                <a:cs typeface="Arial" pitchFamily="34" charset="-120"/>
              </a:rPr>
              <a:t>"Research and implement" - one researches, one codes</a:t>
            </a:r>
            <a:endParaRPr lang="en-US" sz="900" dirty="0"/>
          </a:p>
        </p:txBody>
      </p:sp>
      <p:sp>
        <p:nvSpPr>
          <p:cNvPr id="14" name="Text 12"/>
          <p:cNvSpPr/>
          <p:nvPr/>
        </p:nvSpPr>
        <p:spPr>
          <a:xfrm>
            <a:off x="4581079" y="3012579"/>
            <a:ext cx="4181921" cy="89326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5" name="Text 13"/>
          <p:cNvSpPr/>
          <p:nvPr/>
        </p:nvSpPr>
        <p:spPr>
          <a:xfrm>
            <a:off x="4743004" y="3174504"/>
            <a:ext cx="3935233"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Voice Command</a:t>
            </a:r>
            <a:endParaRPr lang="en-US" sz="975" dirty="0"/>
          </a:p>
        </p:txBody>
      </p:sp>
      <p:sp>
        <p:nvSpPr>
          <p:cNvPr id="16" name="Text 14"/>
          <p:cNvSpPr/>
          <p:nvPr/>
        </p:nvSpPr>
        <p:spPr>
          <a:xfrm>
            <a:off x="4743004" y="3423940"/>
            <a:ext cx="3935233" cy="319980"/>
          </a:xfrm>
          <a:prstGeom prst="rect">
            <a:avLst/>
          </a:prstGeom>
          <a:noFill/>
          <a:ln/>
        </p:spPr>
        <p:txBody>
          <a:bodyPr wrap="square" lIns="0" tIns="0" rIns="0" bIns="0" rtlCol="0" anchor="t"/>
          <a:lstStyle/>
          <a:p>
            <a:pPr algn="l" indent="0" marL="0">
              <a:lnSpc>
                <a:spcPts val="1260"/>
              </a:lnSpc>
              <a:buNone/>
            </a:pPr>
            <a:r>
              <a:rPr lang="en-US" sz="900" i="1" dirty="0">
                <a:solidFill>
                  <a:srgbClr val="6B7280"/>
                </a:solidFill>
                <a:latin typeface="Arial" pitchFamily="34" charset="0"/>
                <a:ea typeface="Arial" pitchFamily="34" charset="-122"/>
                <a:cs typeface="Arial" pitchFamily="34" charset="-120"/>
              </a:rPr>
              <a:t>"Refactor all the API handlers to use async/await and add error handling to each one"</a:t>
            </a:r>
            <a:endParaRPr lang="en-US" sz="900" dirty="0"/>
          </a:p>
        </p:txBody>
      </p:sp>
      <p:sp>
        <p:nvSpPr>
          <p:cNvPr id="17" name="Text 15"/>
          <p:cNvSpPr/>
          <p:nvPr/>
        </p:nvSpPr>
        <p:spPr>
          <a:xfrm>
            <a:off x="4581079" y="4020145"/>
            <a:ext cx="4181921" cy="426690"/>
          </a:xfrm>
          <a:prstGeom prst="rect">
            <a:avLst/>
          </a:prstGeom>
          <a:solidFill>
            <a:srgbClr val="1A1F2E"/>
          </a:solidFill>
          <a:ln/>
        </p:spPr>
        <p:txBody>
          <a:bodyPr wrap="square" rtlCol="0" anchor="ctr"/>
          <a:lstStyle/>
          <a:p>
            <a:pPr indent="0" marL="0">
              <a:buNone/>
            </a:pPr>
            <a:endParaRPr lang="en-US" dirty="0"/>
          </a:p>
        </p:txBody>
      </p:sp>
      <p:sp>
        <p:nvSpPr>
          <p:cNvPr id="18" name="Text 16"/>
          <p:cNvSpPr/>
          <p:nvPr/>
        </p:nvSpPr>
        <p:spPr>
          <a:xfrm>
            <a:off x="4694707" y="4153495"/>
            <a:ext cx="3954664" cy="159990"/>
          </a:xfrm>
          <a:prstGeom prst="rect">
            <a:avLst/>
          </a:prstGeom>
          <a:noFill/>
          <a:ln/>
        </p:spPr>
        <p:txBody>
          <a:bodyPr wrap="square" lIns="0" tIns="0" rIns="0" bIns="0" rtlCol="0" anchor="t"/>
          <a:lstStyle/>
          <a:p>
            <a:pPr algn="ctr" indent="0" marL="0">
              <a:lnSpc>
                <a:spcPts val="1260"/>
              </a:lnSpc>
              <a:buNone/>
            </a:pPr>
            <a:r>
              <a:rPr lang="en-US" sz="900" b="1" dirty="0">
                <a:solidFill>
                  <a:srgbClr val="C9A227"/>
                </a:solidFill>
                <a:latin typeface="Arial" pitchFamily="34" charset="0"/>
                <a:ea typeface="Arial" pitchFamily="34" charset="-122"/>
                <a:cs typeface="Arial" pitchFamily="34" charset="-120"/>
              </a:rPr>
              <a:t>Benefit:</a:t>
            </a:r>
            <a:pPr algn="ctr" indent="0" marL="0">
              <a:lnSpc>
                <a:spcPts val="1260"/>
              </a:lnSpc>
              <a:buNone/>
            </a:pPr>
            <a:r>
              <a:rPr lang="en-US" sz="900" dirty="0">
                <a:solidFill>
                  <a:srgbClr val="C9A227"/>
                </a:solidFill>
                <a:latin typeface="Arial" pitchFamily="34" charset="0"/>
                <a:ea typeface="Arial" pitchFamily="34" charset="-122"/>
                <a:cs typeface="Arial" pitchFamily="34" charset="-120"/>
              </a:rPr>
              <a:t> Complex tasks complete faster with parallel execution</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SAFETY</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Permission and Safety Controls</a:t>
            </a:r>
            <a:endParaRPr lang="en-US" sz="2400" dirty="0"/>
          </a:p>
        </p:txBody>
      </p:sp>
      <p:sp>
        <p:nvSpPr>
          <p:cNvPr id="4" name="Text 2"/>
          <p:cNvSpPr/>
          <p:nvPr/>
        </p:nvSpPr>
        <p:spPr>
          <a:xfrm>
            <a:off x="457200" y="1647974"/>
            <a:ext cx="2647950" cy="267994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5" name="Text 3"/>
          <p:cNvSpPr/>
          <p:nvPr/>
        </p:nvSpPr>
        <p:spPr>
          <a:xfrm>
            <a:off x="657225" y="1847999"/>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Permission Modes</a:t>
            </a:r>
            <a:endParaRPr lang="en-US" sz="900" dirty="0"/>
          </a:p>
        </p:txBody>
      </p:sp>
      <p:sp>
        <p:nvSpPr>
          <p:cNvPr id="6" name="Text 4"/>
          <p:cNvSpPr/>
          <p:nvPr/>
        </p:nvSpPr>
        <p:spPr>
          <a:xfrm>
            <a:off x="657225" y="2293739"/>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Ask Mode (Default)</a:t>
            </a:r>
            <a:endParaRPr lang="en-US" sz="975" dirty="0"/>
          </a:p>
        </p:txBody>
      </p:sp>
      <p:sp>
        <p:nvSpPr>
          <p:cNvPr id="7" name="Text 5"/>
          <p:cNvSpPr/>
          <p:nvPr/>
        </p:nvSpPr>
        <p:spPr>
          <a:xfrm>
            <a:off x="657225" y="2505075"/>
            <a:ext cx="2292858"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Claude asks permission before file writes and bash commands</a:t>
            </a:r>
            <a:endParaRPr lang="en-US" sz="825" dirty="0"/>
          </a:p>
        </p:txBody>
      </p:sp>
      <p:sp>
        <p:nvSpPr>
          <p:cNvPr id="8" name="Text 6"/>
          <p:cNvSpPr/>
          <p:nvPr/>
        </p:nvSpPr>
        <p:spPr>
          <a:xfrm>
            <a:off x="657225" y="3105150"/>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Auto-Accept Mode</a:t>
            </a:r>
            <a:endParaRPr lang="en-US" sz="975" dirty="0"/>
          </a:p>
        </p:txBody>
      </p:sp>
      <p:sp>
        <p:nvSpPr>
          <p:cNvPr id="9" name="Text 7"/>
          <p:cNvSpPr/>
          <p:nvPr/>
        </p:nvSpPr>
        <p:spPr>
          <a:xfrm>
            <a:off x="657225" y="3316486"/>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Skip confirmations (use with caution)</a:t>
            </a:r>
            <a:endParaRPr lang="en-US" sz="825" dirty="0"/>
          </a:p>
        </p:txBody>
      </p:sp>
      <p:sp>
        <p:nvSpPr>
          <p:cNvPr id="10" name="Text 8"/>
          <p:cNvSpPr/>
          <p:nvPr/>
        </p:nvSpPr>
        <p:spPr>
          <a:xfrm>
            <a:off x="657225" y="3759398"/>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Tool Restrictions</a:t>
            </a:r>
            <a:endParaRPr lang="en-US" sz="975" dirty="0"/>
          </a:p>
        </p:txBody>
      </p:sp>
      <p:sp>
        <p:nvSpPr>
          <p:cNvPr id="11" name="Text 9"/>
          <p:cNvSpPr/>
          <p:nvPr/>
        </p:nvSpPr>
        <p:spPr>
          <a:xfrm>
            <a:off x="657225" y="3970734"/>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--allowedTools to limit capabilities</a:t>
            </a:r>
            <a:endParaRPr lang="en-US" sz="825" dirty="0"/>
          </a:p>
        </p:txBody>
      </p:sp>
      <p:sp>
        <p:nvSpPr>
          <p:cNvPr id="12" name="Text 10"/>
          <p:cNvSpPr/>
          <p:nvPr/>
        </p:nvSpPr>
        <p:spPr>
          <a:xfrm>
            <a:off x="3257550" y="1647974"/>
            <a:ext cx="2647950" cy="267994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3" name="Text 11"/>
          <p:cNvSpPr/>
          <p:nvPr/>
        </p:nvSpPr>
        <p:spPr>
          <a:xfrm>
            <a:off x="3457575" y="1847999"/>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Built-in Safety</a:t>
            </a:r>
            <a:endParaRPr lang="en-US" sz="900" dirty="0"/>
          </a:p>
        </p:txBody>
      </p:sp>
      <p:sp>
        <p:nvSpPr>
          <p:cNvPr id="14" name="Text 12"/>
          <p:cNvSpPr/>
          <p:nvPr/>
        </p:nvSpPr>
        <p:spPr>
          <a:xfrm>
            <a:off x="3457575" y="2293739"/>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Sandbox Execution</a:t>
            </a:r>
            <a:endParaRPr lang="en-US" sz="975" dirty="0"/>
          </a:p>
        </p:txBody>
      </p:sp>
      <p:sp>
        <p:nvSpPr>
          <p:cNvPr id="15" name="Text 13"/>
          <p:cNvSpPr/>
          <p:nvPr/>
        </p:nvSpPr>
        <p:spPr>
          <a:xfrm>
            <a:off x="3457575" y="2505075"/>
            <a:ext cx="2292858" cy="314325"/>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Commands run in isolated environment when possible</a:t>
            </a:r>
            <a:endParaRPr lang="en-US" sz="825" dirty="0"/>
          </a:p>
        </p:txBody>
      </p:sp>
      <p:sp>
        <p:nvSpPr>
          <p:cNvPr id="16" name="Text 14"/>
          <p:cNvSpPr/>
          <p:nvPr/>
        </p:nvSpPr>
        <p:spPr>
          <a:xfrm>
            <a:off x="3457575" y="3105150"/>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Destructive Command Detection</a:t>
            </a:r>
            <a:endParaRPr lang="en-US" sz="975" dirty="0"/>
          </a:p>
        </p:txBody>
      </p:sp>
      <p:sp>
        <p:nvSpPr>
          <p:cNvPr id="17" name="Text 15"/>
          <p:cNvSpPr/>
          <p:nvPr/>
        </p:nvSpPr>
        <p:spPr>
          <a:xfrm>
            <a:off x="3457575" y="3316486"/>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Extra confirmation for rm, git push --force, etc.</a:t>
            </a:r>
            <a:endParaRPr lang="en-US" sz="825" dirty="0"/>
          </a:p>
        </p:txBody>
      </p:sp>
      <p:sp>
        <p:nvSpPr>
          <p:cNvPr id="18" name="Text 16"/>
          <p:cNvSpPr/>
          <p:nvPr/>
        </p:nvSpPr>
        <p:spPr>
          <a:xfrm>
            <a:off x="3457575" y="3759398"/>
            <a:ext cx="2292858" cy="173236"/>
          </a:xfrm>
          <a:prstGeom prst="rect">
            <a:avLst/>
          </a:prstGeom>
          <a:noFill/>
          <a:ln/>
        </p:spPr>
        <p:txBody>
          <a:bodyPr wrap="square" lIns="0" tIns="0" rIns="0" bIns="0" rtlCol="0" anchor="t"/>
          <a:lstStyle/>
          <a:p>
            <a:pPr algn="l" indent="0" marL="0">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Git Integration</a:t>
            </a:r>
            <a:endParaRPr lang="en-US" sz="975" dirty="0"/>
          </a:p>
        </p:txBody>
      </p:sp>
      <p:sp>
        <p:nvSpPr>
          <p:cNvPr id="19" name="Text 17"/>
          <p:cNvSpPr/>
          <p:nvPr/>
        </p:nvSpPr>
        <p:spPr>
          <a:xfrm>
            <a:off x="3457575" y="3970734"/>
            <a:ext cx="2292858" cy="157163"/>
          </a:xfrm>
          <a:prstGeom prst="rect">
            <a:avLst/>
          </a:prstGeom>
          <a:noFill/>
          <a:ln/>
        </p:spPr>
        <p:txBody>
          <a:bodyPr wrap="square" lIns="0" tIns="0" rIns="0" bIns="0" rtlCol="0" anchor="t"/>
          <a:lstStyle/>
          <a:p>
            <a:pPr algn="l" indent="0" marL="0">
              <a:lnSpc>
                <a:spcPts val="1238"/>
              </a:lnSpc>
              <a:buNone/>
            </a:pPr>
            <a:r>
              <a:rPr lang="en-US" sz="825" dirty="0">
                <a:solidFill>
                  <a:srgbClr val="6B7280"/>
                </a:solidFill>
                <a:latin typeface="Arial" pitchFamily="34" charset="0"/>
                <a:ea typeface="Arial" pitchFamily="34" charset="-122"/>
                <a:cs typeface="Arial" pitchFamily="34" charset="-120"/>
              </a:rPr>
              <a:t>Changes are visible in git diff for review</a:t>
            </a:r>
            <a:endParaRPr lang="en-US" sz="825" dirty="0"/>
          </a:p>
        </p:txBody>
      </p:sp>
      <p:sp>
        <p:nvSpPr>
          <p:cNvPr id="20" name="Text 18"/>
          <p:cNvSpPr/>
          <p:nvPr/>
        </p:nvSpPr>
        <p:spPr>
          <a:xfrm>
            <a:off x="6057900" y="1511647"/>
            <a:ext cx="2628900" cy="2952601"/>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6248400" y="1702147"/>
            <a:ext cx="2292858" cy="159990"/>
          </a:xfrm>
          <a:prstGeom prst="rect">
            <a:avLst/>
          </a:prstGeom>
          <a:noFill/>
          <a:ln/>
        </p:spPr>
        <p:txBody>
          <a:bodyPr wrap="square" lIns="0" tIns="0" rIns="0" bIns="0" rtlCol="0" anchor="t"/>
          <a:lstStyle/>
          <a:p>
            <a:pPr algn="l" indent="0" marL="0">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Best Practices</a:t>
            </a:r>
            <a:endParaRPr lang="en-US" sz="900" dirty="0"/>
          </a:p>
        </p:txBody>
      </p:sp>
      <p:sp>
        <p:nvSpPr>
          <p:cNvPr id="22" name="Text 20"/>
          <p:cNvSpPr/>
          <p:nvPr/>
        </p:nvSpPr>
        <p:spPr>
          <a:xfrm>
            <a:off x="6248400" y="214788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1. Start in Ask Mode</a:t>
            </a:r>
            <a:endParaRPr lang="en-US" sz="900" dirty="0"/>
          </a:p>
        </p:txBody>
      </p:sp>
      <p:sp>
        <p:nvSpPr>
          <p:cNvPr id="23" name="Text 21"/>
          <p:cNvSpPr/>
          <p:nvPr/>
        </p:nvSpPr>
        <p:spPr>
          <a:xfrm>
            <a:off x="6248400" y="234597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Learn what Claude does</a:t>
            </a:r>
            <a:endParaRPr lang="en-US" sz="750" dirty="0"/>
          </a:p>
        </p:txBody>
      </p:sp>
      <p:sp>
        <p:nvSpPr>
          <p:cNvPr id="24" name="Text 22"/>
          <p:cNvSpPr/>
          <p:nvPr/>
        </p:nvSpPr>
        <p:spPr>
          <a:xfrm>
            <a:off x="6248400" y="274602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2. Use Git Branches</a:t>
            </a:r>
            <a:endParaRPr lang="en-US" sz="900" dirty="0"/>
          </a:p>
        </p:txBody>
      </p:sp>
      <p:sp>
        <p:nvSpPr>
          <p:cNvPr id="25" name="Text 23"/>
          <p:cNvSpPr/>
          <p:nvPr/>
        </p:nvSpPr>
        <p:spPr>
          <a:xfrm>
            <a:off x="6248400" y="294411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Easy to revert changes</a:t>
            </a:r>
            <a:endParaRPr lang="en-US" sz="750" dirty="0"/>
          </a:p>
        </p:txBody>
      </p:sp>
      <p:sp>
        <p:nvSpPr>
          <p:cNvPr id="26" name="Text 24"/>
          <p:cNvSpPr/>
          <p:nvPr/>
        </p:nvSpPr>
        <p:spPr>
          <a:xfrm>
            <a:off x="6248400" y="334416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3. Review Diffs</a:t>
            </a:r>
            <a:endParaRPr lang="en-US" sz="900" dirty="0"/>
          </a:p>
        </p:txBody>
      </p:sp>
      <p:sp>
        <p:nvSpPr>
          <p:cNvPr id="27" name="Text 25"/>
          <p:cNvSpPr/>
          <p:nvPr/>
        </p:nvSpPr>
        <p:spPr>
          <a:xfrm>
            <a:off x="6248400" y="354225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Check before committing</a:t>
            </a:r>
            <a:endParaRPr lang="en-US" sz="750" dirty="0"/>
          </a:p>
        </p:txBody>
      </p:sp>
      <p:sp>
        <p:nvSpPr>
          <p:cNvPr id="28" name="Text 26"/>
          <p:cNvSpPr/>
          <p:nvPr/>
        </p:nvSpPr>
        <p:spPr>
          <a:xfrm>
            <a:off x="6248400" y="3942308"/>
            <a:ext cx="2292858"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4. Test Changes</a:t>
            </a:r>
            <a:endParaRPr lang="en-US" sz="900" dirty="0"/>
          </a:p>
        </p:txBody>
      </p:sp>
      <p:sp>
        <p:nvSpPr>
          <p:cNvPr id="29" name="Text 27"/>
          <p:cNvSpPr/>
          <p:nvPr/>
        </p:nvSpPr>
        <p:spPr>
          <a:xfrm>
            <a:off x="6248400" y="4140398"/>
            <a:ext cx="2292858"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Run tests after edits</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2980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06</a:t>
            </a:r>
            <a:endParaRPr lang="en-US" sz="1050" dirty="0"/>
          </a:p>
        </p:txBody>
      </p:sp>
      <p:sp>
        <p:nvSpPr>
          <p:cNvPr id="3" name="Text 1"/>
          <p:cNvSpPr/>
          <p:nvPr/>
        </p:nvSpPr>
        <p:spPr>
          <a:xfrm>
            <a:off x="2726816" y="2097435"/>
            <a:ext cx="3690220"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CI/CD Integration</a:t>
            </a:r>
            <a:endParaRPr lang="en-US" sz="3900" dirty="0"/>
          </a:p>
        </p:txBody>
      </p:sp>
      <p:sp>
        <p:nvSpPr>
          <p:cNvPr id="4" name="Text 2"/>
          <p:cNvSpPr/>
          <p:nvPr/>
        </p:nvSpPr>
        <p:spPr>
          <a:xfrm>
            <a:off x="3400373" y="2897535"/>
            <a:ext cx="2343105"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Automating AI in Your Pipeline</a:t>
            </a:r>
            <a:endParaRPr lang="en-US" sz="1350" dirty="0"/>
          </a:p>
        </p:txBody>
      </p:sp>
      <p:sp>
        <p:nvSpPr>
          <p:cNvPr id="5" name="Text 3"/>
          <p:cNvSpPr/>
          <p:nvPr/>
        </p:nvSpPr>
        <p:spPr>
          <a:xfrm>
            <a:off x="4191000" y="359464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10 minutes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4885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07</a:t>
            </a:r>
            <a:endParaRPr lang="en-US" sz="1050" dirty="0"/>
          </a:p>
        </p:txBody>
      </p:sp>
      <p:sp>
        <p:nvSpPr>
          <p:cNvPr id="3" name="Text 1"/>
          <p:cNvSpPr/>
          <p:nvPr/>
        </p:nvSpPr>
        <p:spPr>
          <a:xfrm>
            <a:off x="1970221" y="2116485"/>
            <a:ext cx="5203409" cy="457200"/>
          </a:xfrm>
          <a:prstGeom prst="rect">
            <a:avLst/>
          </a:prstGeom>
          <a:noFill/>
          <a:ln/>
        </p:spPr>
        <p:txBody>
          <a:bodyPr wrap="square" lIns="0" tIns="0" rIns="0" bIns="0" rtlCol="0" anchor="t"/>
          <a:lstStyle/>
          <a:p>
            <a:pPr algn="ctr" indent="0" marL="0">
              <a:lnSpc>
                <a:spcPts val="3600"/>
              </a:lnSpc>
              <a:spcAft>
                <a:spcPts val="1200"/>
              </a:spcAft>
              <a:buNone/>
            </a:pPr>
            <a:r>
              <a:rPr lang="en-US" sz="3600" dirty="0">
                <a:solidFill>
                  <a:srgbClr val="FFFFFF"/>
                </a:solidFill>
                <a:latin typeface="Georgia" pitchFamily="34" charset="0"/>
                <a:ea typeface="Georgia" pitchFamily="34" charset="-122"/>
                <a:cs typeface="Georgia" pitchFamily="34" charset="-120"/>
              </a:rPr>
              <a:t>Voice Workflow Integration</a:t>
            </a:r>
            <a:endParaRPr lang="en-US" sz="3600" dirty="0"/>
          </a:p>
        </p:txBody>
      </p:sp>
      <p:sp>
        <p:nvSpPr>
          <p:cNvPr id="4" name="Text 2"/>
          <p:cNvSpPr/>
          <p:nvPr/>
        </p:nvSpPr>
        <p:spPr>
          <a:xfrm>
            <a:off x="3747245" y="2878485"/>
            <a:ext cx="1649510"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Putting It All Together</a:t>
            </a:r>
            <a:endParaRPr lang="en-US" sz="1350" dirty="0"/>
          </a:p>
        </p:txBody>
      </p:sp>
      <p:sp>
        <p:nvSpPr>
          <p:cNvPr id="5" name="Text 3"/>
          <p:cNvSpPr/>
          <p:nvPr/>
        </p:nvSpPr>
        <p:spPr>
          <a:xfrm>
            <a:off x="4191000" y="357559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91202" y="4678710"/>
            <a:ext cx="50551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5 minutes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THE COMPLETE PICTURE</a:t>
            </a:r>
            <a:endParaRPr lang="en-US" sz="825" dirty="0"/>
          </a:p>
        </p:txBody>
      </p:sp>
      <p:sp>
        <p:nvSpPr>
          <p:cNvPr id="3" name="Text 1"/>
          <p:cNvSpPr/>
          <p:nvPr/>
        </p:nvSpPr>
        <p:spPr>
          <a:xfrm>
            <a:off x="457200" y="489496"/>
            <a:ext cx="4644009"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End-to-End Voice Development Workflow</a:t>
            </a:r>
            <a:endParaRPr lang="en-US" sz="2100" dirty="0"/>
          </a:p>
        </p:txBody>
      </p:sp>
      <p:sp>
        <p:nvSpPr>
          <p:cNvPr id="4" name="Text 2"/>
          <p:cNvSpPr/>
          <p:nvPr/>
        </p:nvSpPr>
        <p:spPr>
          <a:xfrm>
            <a:off x="457200" y="932706"/>
            <a:ext cx="1432620" cy="723751"/>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559460" y="1066056"/>
            <a:ext cx="1228100" cy="133350"/>
          </a:xfrm>
          <a:prstGeom prst="rect">
            <a:avLst/>
          </a:prstGeom>
          <a:noFill/>
          <a:ln/>
        </p:spPr>
        <p:txBody>
          <a:bodyPr wrap="square" lIns="0" tIns="0" rIns="0" bIns="0" rtlCol="0" anchor="t"/>
          <a:lstStyle/>
          <a:p>
            <a:pPr algn="ctr"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1</a:t>
            </a:r>
            <a:endParaRPr lang="en-US" sz="750" dirty="0"/>
          </a:p>
        </p:txBody>
      </p:sp>
      <p:sp>
        <p:nvSpPr>
          <p:cNvPr id="6" name="Text 4"/>
          <p:cNvSpPr/>
          <p:nvPr/>
        </p:nvSpPr>
        <p:spPr>
          <a:xfrm>
            <a:off x="559460" y="1237506"/>
            <a:ext cx="1228100" cy="146596"/>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Speak</a:t>
            </a:r>
            <a:endParaRPr lang="en-US" sz="825" dirty="0"/>
          </a:p>
        </p:txBody>
      </p:sp>
      <p:sp>
        <p:nvSpPr>
          <p:cNvPr id="7" name="Text 5"/>
          <p:cNvSpPr/>
          <p:nvPr/>
        </p:nvSpPr>
        <p:spPr>
          <a:xfrm>
            <a:off x="559460" y="1403152"/>
            <a:ext cx="1228100"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Your idea</a:t>
            </a:r>
            <a:endParaRPr lang="en-US" sz="675" dirty="0"/>
          </a:p>
        </p:txBody>
      </p:sp>
      <p:sp>
        <p:nvSpPr>
          <p:cNvPr id="8" name="Text 6"/>
          <p:cNvSpPr/>
          <p:nvPr/>
        </p:nvSpPr>
        <p:spPr>
          <a:xfrm>
            <a:off x="1946970" y="1187946"/>
            <a:ext cx="155448" cy="213271"/>
          </a:xfrm>
          <a:prstGeom prst="rect">
            <a:avLst/>
          </a:prstGeom>
          <a:noFill/>
          <a:ln/>
        </p:spPr>
        <p:txBody>
          <a:bodyPr wrap="square" lIns="0" tIns="0" rIns="0" bIns="0" rtlCol="0" anchor="t"/>
          <a:lstStyle/>
          <a:p>
            <a:pPr algn="l" indent="0" marL="0">
              <a:lnSpc>
                <a:spcPts val="1680"/>
              </a:lnSpc>
              <a:buNone/>
            </a:pPr>
            <a:r>
              <a:rPr lang="en-US" sz="1200" dirty="0">
                <a:solidFill>
                  <a:srgbClr val="C9A227"/>
                </a:solidFill>
                <a:latin typeface="Arial" pitchFamily="34" charset="0"/>
                <a:ea typeface="Arial" pitchFamily="34" charset="-122"/>
                <a:cs typeface="Arial" pitchFamily="34" charset="-120"/>
              </a:rPr>
              <a:t>→</a:t>
            </a:r>
            <a:endParaRPr lang="en-US" sz="1200" dirty="0"/>
          </a:p>
        </p:txBody>
      </p:sp>
      <p:sp>
        <p:nvSpPr>
          <p:cNvPr id="9" name="Text 7"/>
          <p:cNvSpPr/>
          <p:nvPr/>
        </p:nvSpPr>
        <p:spPr>
          <a:xfrm>
            <a:off x="2156520" y="932706"/>
            <a:ext cx="1432620" cy="723751"/>
          </a:xfrm>
          <a:prstGeom prst="rect">
            <a:avLst/>
          </a:prstGeom>
          <a:solidFill>
            <a:srgbClr val="C9A227"/>
          </a:solidFill>
          <a:ln/>
        </p:spPr>
        <p:txBody>
          <a:bodyPr wrap="square" rtlCol="0" anchor="ctr"/>
          <a:lstStyle/>
          <a:p>
            <a:pPr indent="0" marL="0">
              <a:buNone/>
            </a:pPr>
            <a:endParaRPr lang="en-US" dirty="0"/>
          </a:p>
        </p:txBody>
      </p:sp>
      <p:sp>
        <p:nvSpPr>
          <p:cNvPr id="10" name="Text 8"/>
          <p:cNvSpPr/>
          <p:nvPr/>
        </p:nvSpPr>
        <p:spPr>
          <a:xfrm>
            <a:off x="2258779" y="1066056"/>
            <a:ext cx="1228100" cy="133350"/>
          </a:xfrm>
          <a:prstGeom prst="rect">
            <a:avLst/>
          </a:prstGeom>
          <a:noFill/>
          <a:ln/>
        </p:spPr>
        <p:txBody>
          <a:bodyPr wrap="square" lIns="0" tIns="0" rIns="0" bIns="0" rtlCol="0" anchor="t"/>
          <a:lstStyle/>
          <a:p>
            <a:pPr algn="ctr"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2</a:t>
            </a:r>
            <a:endParaRPr lang="en-US" sz="750" dirty="0"/>
          </a:p>
        </p:txBody>
      </p:sp>
      <p:sp>
        <p:nvSpPr>
          <p:cNvPr id="11" name="Text 9"/>
          <p:cNvSpPr/>
          <p:nvPr/>
        </p:nvSpPr>
        <p:spPr>
          <a:xfrm>
            <a:off x="2258779" y="1237506"/>
            <a:ext cx="1228100"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solidFill>
                <a:latin typeface="Arial" pitchFamily="34" charset="0"/>
                <a:ea typeface="Arial" pitchFamily="34" charset="-122"/>
                <a:cs typeface="Arial" pitchFamily="34" charset="-120"/>
              </a:rPr>
              <a:t>SuperWhisper</a:t>
            </a:r>
            <a:endParaRPr lang="en-US" sz="825" dirty="0"/>
          </a:p>
        </p:txBody>
      </p:sp>
      <p:sp>
        <p:nvSpPr>
          <p:cNvPr id="12" name="Text 10"/>
          <p:cNvSpPr/>
          <p:nvPr/>
        </p:nvSpPr>
        <p:spPr>
          <a:xfrm>
            <a:off x="2258779" y="1403152"/>
            <a:ext cx="1228100"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1A1F2E">
                    <a:alpha val="60000"/>
                  </a:srgbClr>
                </a:solidFill>
                <a:latin typeface="Arial" pitchFamily="34" charset="0"/>
                <a:ea typeface="Arial" pitchFamily="34" charset="-122"/>
                <a:cs typeface="Arial" pitchFamily="34" charset="-120"/>
              </a:rPr>
              <a:t>Transcribes</a:t>
            </a:r>
            <a:endParaRPr lang="en-US" sz="675" dirty="0"/>
          </a:p>
        </p:txBody>
      </p:sp>
      <p:sp>
        <p:nvSpPr>
          <p:cNvPr id="13" name="Text 11"/>
          <p:cNvSpPr/>
          <p:nvPr/>
        </p:nvSpPr>
        <p:spPr>
          <a:xfrm>
            <a:off x="3646289" y="1187946"/>
            <a:ext cx="155448" cy="213271"/>
          </a:xfrm>
          <a:prstGeom prst="rect">
            <a:avLst/>
          </a:prstGeom>
          <a:noFill/>
          <a:ln/>
        </p:spPr>
        <p:txBody>
          <a:bodyPr wrap="square" lIns="0" tIns="0" rIns="0" bIns="0" rtlCol="0" anchor="t"/>
          <a:lstStyle/>
          <a:p>
            <a:pPr algn="l" indent="0" marL="0">
              <a:lnSpc>
                <a:spcPts val="1680"/>
              </a:lnSpc>
              <a:buNone/>
            </a:pPr>
            <a:r>
              <a:rPr lang="en-US" sz="1200" dirty="0">
                <a:solidFill>
                  <a:srgbClr val="C9A227"/>
                </a:solidFill>
                <a:latin typeface="Arial" pitchFamily="34" charset="0"/>
                <a:ea typeface="Arial" pitchFamily="34" charset="-122"/>
                <a:cs typeface="Arial" pitchFamily="34" charset="-120"/>
              </a:rPr>
              <a:t>→</a:t>
            </a:r>
            <a:endParaRPr lang="en-US" sz="1200" dirty="0"/>
          </a:p>
        </p:txBody>
      </p:sp>
      <p:sp>
        <p:nvSpPr>
          <p:cNvPr id="14" name="Text 12"/>
          <p:cNvSpPr/>
          <p:nvPr/>
        </p:nvSpPr>
        <p:spPr>
          <a:xfrm>
            <a:off x="3855839" y="932706"/>
            <a:ext cx="1432620" cy="723751"/>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3958099" y="1066056"/>
            <a:ext cx="1228100" cy="133350"/>
          </a:xfrm>
          <a:prstGeom prst="rect">
            <a:avLst/>
          </a:prstGeom>
          <a:noFill/>
          <a:ln/>
        </p:spPr>
        <p:txBody>
          <a:bodyPr wrap="square" lIns="0" tIns="0" rIns="0" bIns="0" rtlCol="0" anchor="t"/>
          <a:lstStyle/>
          <a:p>
            <a:pPr algn="ctr"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3</a:t>
            </a:r>
            <a:endParaRPr lang="en-US" sz="750" dirty="0"/>
          </a:p>
        </p:txBody>
      </p:sp>
      <p:sp>
        <p:nvSpPr>
          <p:cNvPr id="16" name="Text 14"/>
          <p:cNvSpPr/>
          <p:nvPr/>
        </p:nvSpPr>
        <p:spPr>
          <a:xfrm>
            <a:off x="3958099" y="1237506"/>
            <a:ext cx="1228100" cy="146596"/>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Claude Code</a:t>
            </a:r>
            <a:endParaRPr lang="en-US" sz="825" dirty="0"/>
          </a:p>
        </p:txBody>
      </p:sp>
      <p:sp>
        <p:nvSpPr>
          <p:cNvPr id="17" name="Text 15"/>
          <p:cNvSpPr/>
          <p:nvPr/>
        </p:nvSpPr>
        <p:spPr>
          <a:xfrm>
            <a:off x="3958099" y="1403152"/>
            <a:ext cx="1228100"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Executes</a:t>
            </a:r>
            <a:endParaRPr lang="en-US" sz="675" dirty="0"/>
          </a:p>
        </p:txBody>
      </p:sp>
      <p:sp>
        <p:nvSpPr>
          <p:cNvPr id="18" name="Text 16"/>
          <p:cNvSpPr/>
          <p:nvPr/>
        </p:nvSpPr>
        <p:spPr>
          <a:xfrm>
            <a:off x="5345609" y="1187946"/>
            <a:ext cx="155448" cy="213271"/>
          </a:xfrm>
          <a:prstGeom prst="rect">
            <a:avLst/>
          </a:prstGeom>
          <a:noFill/>
          <a:ln/>
        </p:spPr>
        <p:txBody>
          <a:bodyPr wrap="square" lIns="0" tIns="0" rIns="0" bIns="0" rtlCol="0" anchor="t"/>
          <a:lstStyle/>
          <a:p>
            <a:pPr algn="l" indent="0" marL="0">
              <a:lnSpc>
                <a:spcPts val="1680"/>
              </a:lnSpc>
              <a:buNone/>
            </a:pPr>
            <a:r>
              <a:rPr lang="en-US" sz="1200" dirty="0">
                <a:solidFill>
                  <a:srgbClr val="C9A227"/>
                </a:solidFill>
                <a:latin typeface="Arial" pitchFamily="34" charset="0"/>
                <a:ea typeface="Arial" pitchFamily="34" charset="-122"/>
                <a:cs typeface="Arial" pitchFamily="34" charset="-120"/>
              </a:rPr>
              <a:t>→</a:t>
            </a:r>
            <a:endParaRPr lang="en-US" sz="1200" dirty="0"/>
          </a:p>
        </p:txBody>
      </p:sp>
      <p:sp>
        <p:nvSpPr>
          <p:cNvPr id="19" name="Text 17"/>
          <p:cNvSpPr/>
          <p:nvPr/>
        </p:nvSpPr>
        <p:spPr>
          <a:xfrm>
            <a:off x="5555159" y="932706"/>
            <a:ext cx="1432620" cy="723751"/>
          </a:xfrm>
          <a:prstGeom prst="rect">
            <a:avLst/>
          </a:prstGeom>
          <a:solidFill>
            <a:srgbClr val="059669"/>
          </a:solidFill>
          <a:ln/>
        </p:spPr>
        <p:txBody>
          <a:bodyPr wrap="square" rtlCol="0" anchor="ctr"/>
          <a:lstStyle/>
          <a:p>
            <a:pPr indent="0" marL="0">
              <a:buNone/>
            </a:pPr>
            <a:endParaRPr lang="en-US" dirty="0"/>
          </a:p>
        </p:txBody>
      </p:sp>
      <p:sp>
        <p:nvSpPr>
          <p:cNvPr id="20" name="Text 18"/>
          <p:cNvSpPr/>
          <p:nvPr/>
        </p:nvSpPr>
        <p:spPr>
          <a:xfrm>
            <a:off x="5657418" y="1066056"/>
            <a:ext cx="1228100" cy="133350"/>
          </a:xfrm>
          <a:prstGeom prst="rect">
            <a:avLst/>
          </a:prstGeom>
          <a:noFill/>
          <a:ln/>
        </p:spPr>
        <p:txBody>
          <a:bodyPr wrap="square" lIns="0" tIns="0" rIns="0" bIns="0" rtlCol="0" anchor="t"/>
          <a:lstStyle/>
          <a:p>
            <a:pPr algn="ctr" indent="0" marL="0">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21" name="Text 19"/>
          <p:cNvSpPr/>
          <p:nvPr/>
        </p:nvSpPr>
        <p:spPr>
          <a:xfrm>
            <a:off x="5657418" y="1237506"/>
            <a:ext cx="1228100" cy="146596"/>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Review</a:t>
            </a:r>
            <a:endParaRPr lang="en-US" sz="825" dirty="0"/>
          </a:p>
        </p:txBody>
      </p:sp>
      <p:sp>
        <p:nvSpPr>
          <p:cNvPr id="22" name="Text 20"/>
          <p:cNvSpPr/>
          <p:nvPr/>
        </p:nvSpPr>
        <p:spPr>
          <a:xfrm>
            <a:off x="5657418" y="1403152"/>
            <a:ext cx="1228100"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Iterate</a:t>
            </a:r>
            <a:endParaRPr lang="en-US" sz="675" dirty="0"/>
          </a:p>
        </p:txBody>
      </p:sp>
      <p:sp>
        <p:nvSpPr>
          <p:cNvPr id="23" name="Text 21"/>
          <p:cNvSpPr/>
          <p:nvPr/>
        </p:nvSpPr>
        <p:spPr>
          <a:xfrm>
            <a:off x="7044928" y="1187946"/>
            <a:ext cx="155448" cy="213271"/>
          </a:xfrm>
          <a:prstGeom prst="rect">
            <a:avLst/>
          </a:prstGeom>
          <a:noFill/>
          <a:ln/>
        </p:spPr>
        <p:txBody>
          <a:bodyPr wrap="square" lIns="0" tIns="0" rIns="0" bIns="0" rtlCol="0" anchor="t"/>
          <a:lstStyle/>
          <a:p>
            <a:pPr algn="l" indent="0" marL="0">
              <a:lnSpc>
                <a:spcPts val="1680"/>
              </a:lnSpc>
              <a:buNone/>
            </a:pPr>
            <a:r>
              <a:rPr lang="en-US" sz="1200" dirty="0">
                <a:solidFill>
                  <a:srgbClr val="C9A227"/>
                </a:solidFill>
                <a:latin typeface="Arial" pitchFamily="34" charset="0"/>
                <a:ea typeface="Arial" pitchFamily="34" charset="-122"/>
                <a:cs typeface="Arial" pitchFamily="34" charset="-120"/>
              </a:rPr>
              <a:t>→</a:t>
            </a:r>
            <a:endParaRPr lang="en-US" sz="1200" dirty="0"/>
          </a:p>
        </p:txBody>
      </p:sp>
      <p:sp>
        <p:nvSpPr>
          <p:cNvPr id="24" name="Text 22"/>
          <p:cNvSpPr/>
          <p:nvPr/>
        </p:nvSpPr>
        <p:spPr>
          <a:xfrm>
            <a:off x="7254478" y="932706"/>
            <a:ext cx="1432620" cy="723751"/>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7356738" y="1066056"/>
            <a:ext cx="1228100" cy="133350"/>
          </a:xfrm>
          <a:prstGeom prst="rect">
            <a:avLst/>
          </a:prstGeom>
          <a:noFill/>
          <a:ln/>
        </p:spPr>
        <p:txBody>
          <a:bodyPr wrap="square" lIns="0" tIns="0" rIns="0" bIns="0" rtlCol="0" anchor="t"/>
          <a:lstStyle/>
          <a:p>
            <a:pPr algn="ctr"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5</a:t>
            </a:r>
            <a:endParaRPr lang="en-US" sz="750" dirty="0"/>
          </a:p>
        </p:txBody>
      </p:sp>
      <p:sp>
        <p:nvSpPr>
          <p:cNvPr id="26" name="Text 24"/>
          <p:cNvSpPr/>
          <p:nvPr/>
        </p:nvSpPr>
        <p:spPr>
          <a:xfrm>
            <a:off x="7356738" y="1237506"/>
            <a:ext cx="1228100" cy="146596"/>
          </a:xfrm>
          <a:prstGeom prst="rect">
            <a:avLst/>
          </a:prstGeom>
          <a:noFill/>
          <a:ln/>
        </p:spPr>
        <p:txBody>
          <a:bodyPr wrap="square" lIns="0" tIns="0" rIns="0" bIns="0" rtlCol="0" anchor="t"/>
          <a:lstStyle/>
          <a:p>
            <a:pPr algn="ctr" indent="0" marL="0">
              <a:lnSpc>
                <a:spcPts val="1155"/>
              </a:lnSpc>
              <a:buNone/>
            </a:pPr>
            <a:r>
              <a:rPr lang="en-US" sz="825" dirty="0">
                <a:solidFill>
                  <a:srgbClr val="FFFFFF"/>
                </a:solidFill>
                <a:latin typeface="Arial" pitchFamily="34" charset="0"/>
                <a:ea typeface="Arial" pitchFamily="34" charset="-122"/>
                <a:cs typeface="Arial" pitchFamily="34" charset="-120"/>
              </a:rPr>
              <a:t>Commit</a:t>
            </a:r>
            <a:endParaRPr lang="en-US" sz="825" dirty="0"/>
          </a:p>
        </p:txBody>
      </p:sp>
      <p:sp>
        <p:nvSpPr>
          <p:cNvPr id="27" name="Text 25"/>
          <p:cNvSpPr/>
          <p:nvPr/>
        </p:nvSpPr>
        <p:spPr>
          <a:xfrm>
            <a:off x="7356738" y="1403152"/>
            <a:ext cx="1228100"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Deploy</a:t>
            </a:r>
            <a:endParaRPr lang="en-US" sz="675" dirty="0"/>
          </a:p>
        </p:txBody>
      </p:sp>
      <p:sp>
        <p:nvSpPr>
          <p:cNvPr id="28" name="Text 26"/>
          <p:cNvSpPr/>
          <p:nvPr/>
        </p:nvSpPr>
        <p:spPr>
          <a:xfrm>
            <a:off x="457200" y="1961257"/>
            <a:ext cx="8229600" cy="2146846"/>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628650" y="2132707"/>
            <a:ext cx="8044434" cy="146596"/>
          </a:xfrm>
          <a:prstGeom prst="rect">
            <a:avLst/>
          </a:prstGeom>
          <a:noFill/>
          <a:ln/>
        </p:spPr>
        <p:txBody>
          <a:bodyPr wrap="square" lIns="0" tIns="0" rIns="0" bIns="0" rtlCol="0" anchor="t"/>
          <a:lstStyle/>
          <a:p>
            <a:pPr algn="l" indent="0" marL="0">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EXAMPLE SESSION</a:t>
            </a:r>
            <a:endParaRPr lang="en-US" sz="825" dirty="0"/>
          </a:p>
        </p:txBody>
      </p:sp>
      <p:sp>
        <p:nvSpPr>
          <p:cNvPr id="30" name="Text 28"/>
          <p:cNvSpPr/>
          <p:nvPr/>
        </p:nvSpPr>
        <p:spPr>
          <a:xfrm>
            <a:off x="628650" y="2374553"/>
            <a:ext cx="8044434" cy="533400"/>
          </a:xfrm>
          <a:prstGeom prst="rect">
            <a:avLst/>
          </a:prstGeom>
          <a:noFill/>
          <a:ln/>
        </p:spPr>
        <p:txBody>
          <a:bodyPr wrap="square" lIns="0" tIns="0" rIns="0" bIns="0" rtlCol="0" anchor="t"/>
          <a:lstStyle/>
          <a:p>
            <a:pPr algn="l" indent="0" marL="0">
              <a:lnSpc>
                <a:spcPts val="2100"/>
              </a:lnSpc>
              <a:buNone/>
            </a:pPr>
            <a:r>
              <a:rPr lang="en-US" sz="1500" dirty="0">
                <a:solidFill>
                  <a:srgbClr val="C9A227">
                    <a:alpha val="90000"/>
                  </a:srgbClr>
                </a:solidFill>
                <a:latin typeface="Arial" pitchFamily="34" charset="0"/>
                <a:ea typeface="Arial" pitchFamily="34" charset="-122"/>
                <a:cs typeface="Arial" pitchFamily="34" charset="-120"/>
              </a:rPr>
              <a:t>You:</a:t>
            </a:r>
            <a:pPr algn="l" indent="0" marL="0">
              <a:lnSpc>
                <a:spcPts val="2100"/>
              </a:lnSpc>
              <a:buNone/>
            </a:pPr>
            <a:r>
              <a:rPr lang="en-US" sz="1500" dirty="0">
                <a:solidFill>
                  <a:srgbClr val="FFFFFF">
                    <a:alpha val="90000"/>
                  </a:srgbClr>
                </a:solidFill>
                <a:latin typeface="Arial" pitchFamily="34" charset="0"/>
                <a:ea typeface="Arial" pitchFamily="34" charset="-122"/>
                <a:cs typeface="Arial" pitchFamily="34" charset="-120"/>
              </a:rPr>
              <a:t> "Add a new API endpoint for user preferences that validates the input and stores in the database"</a:t>
            </a:r>
            <a:endParaRPr lang="en-US" sz="1500" dirty="0"/>
          </a:p>
        </p:txBody>
      </p:sp>
      <p:sp>
        <p:nvSpPr>
          <p:cNvPr id="31" name="Text 29"/>
          <p:cNvSpPr/>
          <p:nvPr/>
        </p:nvSpPr>
        <p:spPr>
          <a:xfrm>
            <a:off x="628650" y="2984153"/>
            <a:ext cx="8044434" cy="266700"/>
          </a:xfrm>
          <a:prstGeom prst="rect">
            <a:avLst/>
          </a:prstGeom>
          <a:noFill/>
          <a:ln/>
        </p:spPr>
        <p:txBody>
          <a:bodyPr wrap="square" lIns="0" tIns="0" rIns="0" bIns="0" rtlCol="0" anchor="t"/>
          <a:lstStyle/>
          <a:p>
            <a:pPr algn="l" indent="0" marL="0">
              <a:lnSpc>
                <a:spcPts val="2100"/>
              </a:lnSpc>
              <a:spcBef>
                <a:spcPts val="600"/>
              </a:spcBef>
              <a:buNone/>
            </a:pPr>
            <a:r>
              <a:rPr lang="en-US" sz="1500" dirty="0">
                <a:solidFill>
                  <a:srgbClr val="059669">
                    <a:alpha val="90000"/>
                  </a:srgbClr>
                </a:solidFill>
                <a:latin typeface="Arial" pitchFamily="34" charset="0"/>
                <a:ea typeface="Arial" pitchFamily="34" charset="-122"/>
                <a:cs typeface="Arial" pitchFamily="34" charset="-120"/>
              </a:rPr>
              <a:t>Claude:</a:t>
            </a:r>
            <a:pPr algn="l" indent="0" marL="0">
              <a:lnSpc>
                <a:spcPts val="2100"/>
              </a:lnSpc>
              <a:spcBef>
                <a:spcPts val="600"/>
              </a:spcBef>
              <a:buNone/>
            </a:pPr>
            <a:r>
              <a:rPr lang="en-US" sz="1500" dirty="0">
                <a:solidFill>
                  <a:srgbClr val="FFFFFF">
                    <a:alpha val="90000"/>
                  </a:srgbClr>
                </a:solidFill>
                <a:latin typeface="Arial" pitchFamily="34" charset="0"/>
                <a:ea typeface="Arial" pitchFamily="34" charset="-122"/>
                <a:cs typeface="Arial" pitchFamily="34" charset="-120"/>
              </a:rPr>
              <a:t> Creates route handler, validation schema, database migration, and tests</a:t>
            </a:r>
            <a:endParaRPr lang="en-US" sz="1500" dirty="0"/>
          </a:p>
        </p:txBody>
      </p:sp>
      <p:sp>
        <p:nvSpPr>
          <p:cNvPr id="32" name="Text 30"/>
          <p:cNvSpPr/>
          <p:nvPr/>
        </p:nvSpPr>
        <p:spPr>
          <a:xfrm>
            <a:off x="628650" y="3327053"/>
            <a:ext cx="8044434" cy="266700"/>
          </a:xfrm>
          <a:prstGeom prst="rect">
            <a:avLst/>
          </a:prstGeom>
          <a:noFill/>
          <a:ln/>
        </p:spPr>
        <p:txBody>
          <a:bodyPr wrap="square" lIns="0" tIns="0" rIns="0" bIns="0" rtlCol="0" anchor="t"/>
          <a:lstStyle/>
          <a:p>
            <a:pPr algn="l" indent="0" marL="0">
              <a:lnSpc>
                <a:spcPts val="2100"/>
              </a:lnSpc>
              <a:spcBef>
                <a:spcPts val="600"/>
              </a:spcBef>
              <a:buNone/>
            </a:pPr>
            <a:r>
              <a:rPr lang="en-US" sz="1500" dirty="0">
                <a:solidFill>
                  <a:srgbClr val="C9A227">
                    <a:alpha val="90000"/>
                  </a:srgbClr>
                </a:solidFill>
                <a:latin typeface="Arial" pitchFamily="34" charset="0"/>
                <a:ea typeface="Arial" pitchFamily="34" charset="-122"/>
                <a:cs typeface="Arial" pitchFamily="34" charset="-120"/>
              </a:rPr>
              <a:t>You:</a:t>
            </a:r>
            <a:pPr algn="l" indent="0" marL="0">
              <a:lnSpc>
                <a:spcPts val="2100"/>
              </a:lnSpc>
              <a:spcBef>
                <a:spcPts val="600"/>
              </a:spcBef>
              <a:buNone/>
            </a:pPr>
            <a:r>
              <a:rPr lang="en-US" sz="1500" dirty="0">
                <a:solidFill>
                  <a:srgbClr val="FFFFFF">
                    <a:alpha val="90000"/>
                  </a:srgbClr>
                </a:solidFill>
                <a:latin typeface="Arial" pitchFamily="34" charset="0"/>
                <a:ea typeface="Arial" pitchFamily="34" charset="-122"/>
                <a:cs typeface="Arial" pitchFamily="34" charset="-120"/>
              </a:rPr>
              <a:t> "Run the tests and fix any failures"</a:t>
            </a:r>
            <a:endParaRPr lang="en-US" sz="1500" dirty="0"/>
          </a:p>
        </p:txBody>
      </p:sp>
      <p:sp>
        <p:nvSpPr>
          <p:cNvPr id="33" name="Text 31"/>
          <p:cNvSpPr/>
          <p:nvPr/>
        </p:nvSpPr>
        <p:spPr>
          <a:xfrm>
            <a:off x="628650" y="3669953"/>
            <a:ext cx="8044434" cy="266700"/>
          </a:xfrm>
          <a:prstGeom prst="rect">
            <a:avLst/>
          </a:prstGeom>
          <a:noFill/>
          <a:ln/>
        </p:spPr>
        <p:txBody>
          <a:bodyPr wrap="square" lIns="0" tIns="0" rIns="0" bIns="0" rtlCol="0" anchor="t"/>
          <a:lstStyle/>
          <a:p>
            <a:pPr algn="l" indent="0" marL="0">
              <a:lnSpc>
                <a:spcPts val="2100"/>
              </a:lnSpc>
              <a:spcBef>
                <a:spcPts val="600"/>
              </a:spcBef>
              <a:buNone/>
            </a:pPr>
            <a:r>
              <a:rPr lang="en-US" sz="1500" dirty="0">
                <a:solidFill>
                  <a:srgbClr val="059669">
                    <a:alpha val="90000"/>
                  </a:srgbClr>
                </a:solidFill>
                <a:latin typeface="Arial" pitchFamily="34" charset="0"/>
                <a:ea typeface="Arial" pitchFamily="34" charset="-122"/>
                <a:cs typeface="Arial" pitchFamily="34" charset="-120"/>
              </a:rPr>
              <a:t>Claude:</a:t>
            </a:r>
            <a:pPr algn="l" indent="0" marL="0">
              <a:lnSpc>
                <a:spcPts val="2100"/>
              </a:lnSpc>
              <a:spcBef>
                <a:spcPts val="600"/>
              </a:spcBef>
              <a:buNone/>
            </a:pPr>
            <a:r>
              <a:rPr lang="en-US" sz="1500" dirty="0">
                <a:solidFill>
                  <a:srgbClr val="FFFFFF">
                    <a:alpha val="90000"/>
                  </a:srgbClr>
                </a:solidFill>
                <a:latin typeface="Arial" pitchFamily="34" charset="0"/>
                <a:ea typeface="Arial" pitchFamily="34" charset="-122"/>
                <a:cs typeface="Arial" pitchFamily="34" charset="-120"/>
              </a:rPr>
              <a:t> Executes tests, identifies issues, applies fixes</a:t>
            </a:r>
            <a:endParaRPr lang="en-US" sz="1500" dirty="0"/>
          </a:p>
        </p:txBody>
      </p:sp>
      <p:sp>
        <p:nvSpPr>
          <p:cNvPr id="34" name="Text 32"/>
          <p:cNvSpPr/>
          <p:nvPr/>
        </p:nvSpPr>
        <p:spPr>
          <a:xfrm>
            <a:off x="457200" y="4393853"/>
            <a:ext cx="2641550" cy="611386"/>
          </a:xfrm>
          <a:prstGeom prst="rect">
            <a:avLst/>
          </a:prstGeom>
          <a:solidFill>
            <a:srgbClr val="FFFFFF"/>
          </a:solidFill>
          <a:ln/>
        </p:spPr>
        <p:txBody>
          <a:bodyPr wrap="square" rtlCol="0" anchor="ctr"/>
          <a:lstStyle/>
          <a:p>
            <a:pPr indent="0" marL="0">
              <a:buNone/>
            </a:pPr>
            <a:endParaRPr lang="en-US" dirty="0"/>
          </a:p>
        </p:txBody>
      </p:sp>
      <p:sp>
        <p:nvSpPr>
          <p:cNvPr id="35" name="Shape 33"/>
          <p:cNvSpPr/>
          <p:nvPr/>
        </p:nvSpPr>
        <p:spPr>
          <a:xfrm>
            <a:off x="476250" y="4393853"/>
            <a:ext cx="0" cy="611386"/>
          </a:xfrm>
          <a:prstGeom prst="line">
            <a:avLst/>
          </a:prstGeom>
          <a:noFill/>
          <a:ln w="38100">
            <a:solidFill>
              <a:srgbClr val="C9A227"/>
            </a:solidFill>
            <a:prstDash val="solid"/>
          </a:ln>
        </p:spPr>
      </p:sp>
      <p:sp>
        <p:nvSpPr>
          <p:cNvPr id="36" name="Text 34"/>
          <p:cNvSpPr/>
          <p:nvPr/>
        </p:nvSpPr>
        <p:spPr>
          <a:xfrm>
            <a:off x="628650" y="4527203"/>
            <a:ext cx="2383485"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Voice Input</a:t>
            </a:r>
            <a:endParaRPr lang="en-US" sz="900" dirty="0"/>
          </a:p>
        </p:txBody>
      </p:sp>
      <p:sp>
        <p:nvSpPr>
          <p:cNvPr id="37" name="Text 35"/>
          <p:cNvSpPr/>
          <p:nvPr/>
        </p:nvSpPr>
        <p:spPr>
          <a:xfrm>
            <a:off x="628650" y="4725293"/>
            <a:ext cx="2383485"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High-level intent, natural language</a:t>
            </a:r>
            <a:endParaRPr lang="en-US" sz="825" dirty="0"/>
          </a:p>
        </p:txBody>
      </p:sp>
      <p:sp>
        <p:nvSpPr>
          <p:cNvPr id="38" name="Text 36"/>
          <p:cNvSpPr/>
          <p:nvPr/>
        </p:nvSpPr>
        <p:spPr>
          <a:xfrm>
            <a:off x="3251150" y="4393853"/>
            <a:ext cx="2641550" cy="611386"/>
          </a:xfrm>
          <a:prstGeom prst="rect">
            <a:avLst/>
          </a:prstGeom>
          <a:solidFill>
            <a:srgbClr val="FFFFFF"/>
          </a:solidFill>
          <a:ln/>
        </p:spPr>
        <p:txBody>
          <a:bodyPr wrap="square" rtlCol="0" anchor="ctr"/>
          <a:lstStyle/>
          <a:p>
            <a:pPr indent="0" marL="0">
              <a:buNone/>
            </a:pPr>
            <a:endParaRPr lang="en-US" dirty="0"/>
          </a:p>
        </p:txBody>
      </p:sp>
      <p:sp>
        <p:nvSpPr>
          <p:cNvPr id="39" name="Shape 37"/>
          <p:cNvSpPr/>
          <p:nvPr/>
        </p:nvSpPr>
        <p:spPr>
          <a:xfrm>
            <a:off x="3270200" y="4393853"/>
            <a:ext cx="0" cy="611386"/>
          </a:xfrm>
          <a:prstGeom prst="line">
            <a:avLst/>
          </a:prstGeom>
          <a:noFill/>
          <a:ln w="38100">
            <a:solidFill>
              <a:srgbClr val="C9A227"/>
            </a:solidFill>
            <a:prstDash val="solid"/>
          </a:ln>
        </p:spPr>
      </p:sp>
      <p:sp>
        <p:nvSpPr>
          <p:cNvPr id="40" name="Text 38"/>
          <p:cNvSpPr/>
          <p:nvPr/>
        </p:nvSpPr>
        <p:spPr>
          <a:xfrm>
            <a:off x="3422600" y="4527203"/>
            <a:ext cx="2383485"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AI Execution</a:t>
            </a:r>
            <a:endParaRPr lang="en-US" sz="900" dirty="0"/>
          </a:p>
        </p:txBody>
      </p:sp>
      <p:sp>
        <p:nvSpPr>
          <p:cNvPr id="41" name="Text 39"/>
          <p:cNvSpPr/>
          <p:nvPr/>
        </p:nvSpPr>
        <p:spPr>
          <a:xfrm>
            <a:off x="3422600" y="4725293"/>
            <a:ext cx="2383485"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Handles details, follows patterns</a:t>
            </a:r>
            <a:endParaRPr lang="en-US" sz="825" dirty="0"/>
          </a:p>
        </p:txBody>
      </p:sp>
      <p:sp>
        <p:nvSpPr>
          <p:cNvPr id="42" name="Text 40"/>
          <p:cNvSpPr/>
          <p:nvPr/>
        </p:nvSpPr>
        <p:spPr>
          <a:xfrm>
            <a:off x="6045101" y="4393853"/>
            <a:ext cx="2641550" cy="611386"/>
          </a:xfrm>
          <a:prstGeom prst="rect">
            <a:avLst/>
          </a:prstGeom>
          <a:solidFill>
            <a:srgbClr val="FFFFFF"/>
          </a:solidFill>
          <a:ln/>
        </p:spPr>
        <p:txBody>
          <a:bodyPr wrap="square" rtlCol="0" anchor="ctr"/>
          <a:lstStyle/>
          <a:p>
            <a:pPr indent="0" marL="0">
              <a:buNone/>
            </a:pPr>
            <a:endParaRPr lang="en-US" dirty="0"/>
          </a:p>
        </p:txBody>
      </p:sp>
      <p:sp>
        <p:nvSpPr>
          <p:cNvPr id="43" name="Shape 41"/>
          <p:cNvSpPr/>
          <p:nvPr/>
        </p:nvSpPr>
        <p:spPr>
          <a:xfrm>
            <a:off x="6064151" y="4393853"/>
            <a:ext cx="0" cy="611386"/>
          </a:xfrm>
          <a:prstGeom prst="line">
            <a:avLst/>
          </a:prstGeom>
          <a:noFill/>
          <a:ln w="38100">
            <a:solidFill>
              <a:srgbClr val="C9A227"/>
            </a:solidFill>
            <a:prstDash val="solid"/>
          </a:ln>
        </p:spPr>
      </p:sp>
      <p:sp>
        <p:nvSpPr>
          <p:cNvPr id="44" name="Text 42"/>
          <p:cNvSpPr/>
          <p:nvPr/>
        </p:nvSpPr>
        <p:spPr>
          <a:xfrm>
            <a:off x="6216551" y="4527203"/>
            <a:ext cx="2383485"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Human Review</a:t>
            </a:r>
            <a:endParaRPr lang="en-US" sz="900" dirty="0"/>
          </a:p>
        </p:txBody>
      </p:sp>
      <p:sp>
        <p:nvSpPr>
          <p:cNvPr id="45" name="Text 43"/>
          <p:cNvSpPr/>
          <p:nvPr/>
        </p:nvSpPr>
        <p:spPr>
          <a:xfrm>
            <a:off x="6216551" y="4725293"/>
            <a:ext cx="2383485"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Verify, refine, approve</a:t>
            </a:r>
            <a:endParaRPr lang="en-US" sz="8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REFERENCE</a:t>
            </a:r>
            <a:endParaRPr lang="en-US" sz="825" dirty="0"/>
          </a:p>
        </p:txBody>
      </p:sp>
      <p:sp>
        <p:nvSpPr>
          <p:cNvPr id="3" name="Text 1"/>
          <p:cNvSpPr/>
          <p:nvPr/>
        </p:nvSpPr>
        <p:spPr>
          <a:xfrm>
            <a:off x="457200" y="489496"/>
            <a:ext cx="4206812" cy="266700"/>
          </a:xfrm>
          <a:prstGeom prst="rect">
            <a:avLst/>
          </a:prstGeom>
          <a:noFill/>
          <a:ln/>
        </p:spPr>
        <p:txBody>
          <a:bodyPr wrap="square" lIns="0" tIns="0" rIns="0" bIns="0" rtlCol="0" anchor="t"/>
          <a:lstStyle/>
          <a:p>
            <a:pPr algn="l" indent="0" marL="0">
              <a:lnSpc>
                <a:spcPts val="2100"/>
              </a:lnSpc>
              <a:buNone/>
            </a:pPr>
            <a:r>
              <a:rPr lang="en-US" sz="2100" dirty="0">
                <a:solidFill>
                  <a:srgbClr val="FFFFFF"/>
                </a:solidFill>
                <a:latin typeface="Georgia" pitchFamily="34" charset="0"/>
                <a:ea typeface="Georgia" pitchFamily="34" charset="-122"/>
                <a:cs typeface="Georgia" pitchFamily="34" charset="-120"/>
              </a:rPr>
              <a:t>Role-Based Tool Selection</a:t>
            </a:r>
            <a:endParaRPr lang="en-US" sz="2100" dirty="0"/>
          </a:p>
        </p:txBody>
      </p:sp>
      <p:sp>
        <p:nvSpPr>
          <p:cNvPr id="4" name="Text 2"/>
          <p:cNvSpPr/>
          <p:nvPr/>
        </p:nvSpPr>
        <p:spPr>
          <a:xfrm>
            <a:off x="457200" y="1241227"/>
            <a:ext cx="1971675" cy="3417094"/>
          </a:xfrm>
          <a:prstGeom prst="rect">
            <a:avLst/>
          </a:prstGeom>
          <a:solidFill>
            <a:srgbClr val="252B3D"/>
          </a:solidFill>
          <a:ln/>
        </p:spPr>
        <p:txBody>
          <a:bodyPr wrap="square" rtlCol="0" anchor="ctr"/>
          <a:lstStyle/>
          <a:p>
            <a:pPr indent="0" marL="0">
              <a:buNone/>
            </a:pPr>
            <a:endParaRPr lang="en-US" dirty="0"/>
          </a:p>
        </p:txBody>
      </p:sp>
      <p:sp>
        <p:nvSpPr>
          <p:cNvPr id="5" name="Text 3"/>
          <p:cNvSpPr/>
          <p:nvPr/>
        </p:nvSpPr>
        <p:spPr>
          <a:xfrm>
            <a:off x="628650" y="1412677"/>
            <a:ext cx="1628775" cy="2476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742950" y="1469827"/>
            <a:ext cx="142817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DEVELOPER</a:t>
            </a:r>
            <a:endParaRPr lang="en-US" sz="750" dirty="0"/>
          </a:p>
        </p:txBody>
      </p:sp>
      <p:sp>
        <p:nvSpPr>
          <p:cNvPr id="7" name="Text 5"/>
          <p:cNvSpPr/>
          <p:nvPr/>
        </p:nvSpPr>
        <p:spPr>
          <a:xfrm>
            <a:off x="628650" y="1927027"/>
            <a:ext cx="1661351" cy="173236"/>
          </a:xfrm>
          <a:prstGeom prst="rect">
            <a:avLst/>
          </a:prstGeom>
          <a:noFill/>
          <a:ln/>
        </p:spPr>
        <p:txBody>
          <a:bodyPr wrap="square" lIns="0" tIns="0" rIns="0" bIns="0" rtlCol="0" anchor="t"/>
          <a:lstStyle/>
          <a:p>
            <a:pPr algn="l" indent="0" marL="0">
              <a:lnSpc>
                <a:spcPts val="1365"/>
              </a:lnSpc>
              <a:spcAft>
                <a:spcPts val="900"/>
              </a:spcAft>
              <a:buNone/>
            </a:pPr>
            <a:r>
              <a:rPr lang="en-US" sz="975" dirty="0">
                <a:solidFill>
                  <a:srgbClr val="FFFFFF"/>
                </a:solidFill>
                <a:latin typeface="Georgia" pitchFamily="34" charset="0"/>
                <a:ea typeface="Georgia" pitchFamily="34" charset="-122"/>
                <a:cs typeface="Georgia" pitchFamily="34" charset="-120"/>
              </a:rPr>
              <a:t>Full Stack</a:t>
            </a:r>
            <a:endParaRPr lang="en-US" sz="975" dirty="0"/>
          </a:p>
        </p:txBody>
      </p:sp>
      <p:sp>
        <p:nvSpPr>
          <p:cNvPr id="8" name="Shape 6"/>
          <p:cNvSpPr/>
          <p:nvPr/>
        </p:nvSpPr>
        <p:spPr>
          <a:xfrm>
            <a:off x="628650" y="2371725"/>
            <a:ext cx="1628775" cy="0"/>
          </a:xfrm>
          <a:prstGeom prst="line">
            <a:avLst/>
          </a:prstGeom>
          <a:noFill/>
          <a:ln w="9525">
            <a:solidFill>
              <a:srgbClr val="3A4255"/>
            </a:solidFill>
            <a:prstDash val="solid"/>
          </a:ln>
        </p:spPr>
      </p:sp>
      <p:sp>
        <p:nvSpPr>
          <p:cNvPr id="9" name="Text 7"/>
          <p:cNvSpPr/>
          <p:nvPr/>
        </p:nvSpPr>
        <p:spPr>
          <a:xfrm>
            <a:off x="628650" y="2490788"/>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VOICE INPUT</a:t>
            </a:r>
            <a:endParaRPr lang="en-US" sz="750" dirty="0"/>
          </a:p>
        </p:txBody>
      </p:sp>
      <p:sp>
        <p:nvSpPr>
          <p:cNvPr id="10" name="Text 8"/>
          <p:cNvSpPr/>
          <p:nvPr/>
        </p:nvSpPr>
        <p:spPr>
          <a:xfrm>
            <a:off x="628650" y="2700338"/>
            <a:ext cx="1661351" cy="293191"/>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SuperWhisper (Mac)</a:t>
            </a:r>
            <a:endParaRPr lang="en-US" sz="825" dirty="0"/>
          </a:p>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WhisperFlow (Win)</a:t>
            </a:r>
            <a:endParaRPr lang="en-US" sz="825" dirty="0"/>
          </a:p>
        </p:txBody>
      </p:sp>
      <p:sp>
        <p:nvSpPr>
          <p:cNvPr id="11" name="Shape 9"/>
          <p:cNvSpPr/>
          <p:nvPr/>
        </p:nvSpPr>
        <p:spPr>
          <a:xfrm>
            <a:off x="628650" y="3264991"/>
            <a:ext cx="1628775" cy="0"/>
          </a:xfrm>
          <a:prstGeom prst="line">
            <a:avLst/>
          </a:prstGeom>
          <a:noFill/>
          <a:ln w="9525">
            <a:solidFill>
              <a:srgbClr val="3A4255"/>
            </a:solidFill>
            <a:prstDash val="solid"/>
          </a:ln>
        </p:spPr>
      </p:sp>
      <p:sp>
        <p:nvSpPr>
          <p:cNvPr id="12" name="Text 10"/>
          <p:cNvSpPr/>
          <p:nvPr/>
        </p:nvSpPr>
        <p:spPr>
          <a:xfrm>
            <a:off x="628650" y="3384054"/>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AI ASSISTANT</a:t>
            </a:r>
            <a:endParaRPr lang="en-US" sz="750" dirty="0"/>
          </a:p>
        </p:txBody>
      </p:sp>
      <p:sp>
        <p:nvSpPr>
          <p:cNvPr id="13" name="Text 11"/>
          <p:cNvSpPr/>
          <p:nvPr/>
        </p:nvSpPr>
        <p:spPr>
          <a:xfrm>
            <a:off x="628650" y="3593604"/>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Claude Code + Cursor</a:t>
            </a:r>
            <a:endParaRPr lang="en-US" sz="825" dirty="0"/>
          </a:p>
        </p:txBody>
      </p:sp>
      <p:sp>
        <p:nvSpPr>
          <p:cNvPr id="14" name="Shape 12"/>
          <p:cNvSpPr/>
          <p:nvPr/>
        </p:nvSpPr>
        <p:spPr>
          <a:xfrm>
            <a:off x="628650" y="4011662"/>
            <a:ext cx="1628775" cy="0"/>
          </a:xfrm>
          <a:prstGeom prst="line">
            <a:avLst/>
          </a:prstGeom>
          <a:noFill/>
          <a:ln w="9525">
            <a:solidFill>
              <a:srgbClr val="3A4255"/>
            </a:solidFill>
            <a:prstDash val="solid"/>
          </a:ln>
        </p:spPr>
      </p:sp>
      <p:sp>
        <p:nvSpPr>
          <p:cNvPr id="15" name="Text 13"/>
          <p:cNvSpPr/>
          <p:nvPr/>
        </p:nvSpPr>
        <p:spPr>
          <a:xfrm>
            <a:off x="628650" y="4130725"/>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BACKEND</a:t>
            </a:r>
            <a:endParaRPr lang="en-US" sz="750" dirty="0"/>
          </a:p>
        </p:txBody>
      </p:sp>
      <p:sp>
        <p:nvSpPr>
          <p:cNvPr id="16" name="Text 14"/>
          <p:cNvSpPr/>
          <p:nvPr/>
        </p:nvSpPr>
        <p:spPr>
          <a:xfrm>
            <a:off x="628650" y="4340275"/>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Azure OpenAI</a:t>
            </a:r>
            <a:endParaRPr lang="en-US" sz="825" dirty="0"/>
          </a:p>
        </p:txBody>
      </p:sp>
      <p:sp>
        <p:nvSpPr>
          <p:cNvPr id="17" name="Text 15"/>
          <p:cNvSpPr/>
          <p:nvPr/>
        </p:nvSpPr>
        <p:spPr>
          <a:xfrm>
            <a:off x="2543175" y="1241227"/>
            <a:ext cx="1971675" cy="3417094"/>
          </a:xfrm>
          <a:prstGeom prst="rect">
            <a:avLst/>
          </a:prstGeom>
          <a:solidFill>
            <a:srgbClr val="252B3D"/>
          </a:solidFill>
          <a:ln/>
        </p:spPr>
        <p:txBody>
          <a:bodyPr wrap="square" rtlCol="0" anchor="ctr"/>
          <a:lstStyle/>
          <a:p>
            <a:pPr indent="0" marL="0">
              <a:buNone/>
            </a:pPr>
            <a:endParaRPr lang="en-US" dirty="0"/>
          </a:p>
        </p:txBody>
      </p:sp>
      <p:sp>
        <p:nvSpPr>
          <p:cNvPr id="18" name="Text 16"/>
          <p:cNvSpPr/>
          <p:nvPr/>
        </p:nvSpPr>
        <p:spPr>
          <a:xfrm>
            <a:off x="2714625" y="1412677"/>
            <a:ext cx="1628775" cy="247650"/>
          </a:xfrm>
          <a:prstGeom prst="rect">
            <a:avLst/>
          </a:prstGeom>
          <a:solidFill>
            <a:srgbClr val="C9A227"/>
          </a:solidFill>
          <a:ln/>
        </p:spPr>
        <p:txBody>
          <a:bodyPr wrap="square" rtlCol="0" anchor="ctr"/>
          <a:lstStyle/>
          <a:p>
            <a:pPr indent="0" marL="0">
              <a:buNone/>
            </a:pPr>
            <a:endParaRPr lang="en-US" dirty="0"/>
          </a:p>
        </p:txBody>
      </p:sp>
      <p:sp>
        <p:nvSpPr>
          <p:cNvPr id="19" name="Text 17"/>
          <p:cNvSpPr/>
          <p:nvPr/>
        </p:nvSpPr>
        <p:spPr>
          <a:xfrm>
            <a:off x="2828925" y="1469827"/>
            <a:ext cx="142817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DATA SCIENTIST</a:t>
            </a:r>
            <a:endParaRPr lang="en-US" sz="750" dirty="0"/>
          </a:p>
        </p:txBody>
      </p:sp>
      <p:sp>
        <p:nvSpPr>
          <p:cNvPr id="20" name="Text 18"/>
          <p:cNvSpPr/>
          <p:nvPr/>
        </p:nvSpPr>
        <p:spPr>
          <a:xfrm>
            <a:off x="2714625" y="1927027"/>
            <a:ext cx="1661351" cy="173236"/>
          </a:xfrm>
          <a:prstGeom prst="rect">
            <a:avLst/>
          </a:prstGeom>
          <a:noFill/>
          <a:ln/>
        </p:spPr>
        <p:txBody>
          <a:bodyPr wrap="square" lIns="0" tIns="0" rIns="0" bIns="0" rtlCol="0" anchor="t"/>
          <a:lstStyle/>
          <a:p>
            <a:pPr algn="l" indent="0" marL="0">
              <a:lnSpc>
                <a:spcPts val="1365"/>
              </a:lnSpc>
              <a:spcAft>
                <a:spcPts val="900"/>
              </a:spcAft>
              <a:buNone/>
            </a:pPr>
            <a:r>
              <a:rPr lang="en-US" sz="975" dirty="0">
                <a:solidFill>
                  <a:srgbClr val="FFFFFF"/>
                </a:solidFill>
                <a:latin typeface="Georgia" pitchFamily="34" charset="0"/>
                <a:ea typeface="Georgia" pitchFamily="34" charset="-122"/>
                <a:cs typeface="Georgia" pitchFamily="34" charset="-120"/>
              </a:rPr>
              <a:t>Analysis Focus</a:t>
            </a:r>
            <a:endParaRPr lang="en-US" sz="975" dirty="0"/>
          </a:p>
        </p:txBody>
      </p:sp>
      <p:sp>
        <p:nvSpPr>
          <p:cNvPr id="21" name="Shape 19"/>
          <p:cNvSpPr/>
          <p:nvPr/>
        </p:nvSpPr>
        <p:spPr>
          <a:xfrm>
            <a:off x="2714625" y="2371725"/>
            <a:ext cx="1628775" cy="0"/>
          </a:xfrm>
          <a:prstGeom prst="line">
            <a:avLst/>
          </a:prstGeom>
          <a:noFill/>
          <a:ln w="9525">
            <a:solidFill>
              <a:srgbClr val="3A4255"/>
            </a:solidFill>
            <a:prstDash val="solid"/>
          </a:ln>
        </p:spPr>
      </p:sp>
      <p:sp>
        <p:nvSpPr>
          <p:cNvPr id="22" name="Text 20"/>
          <p:cNvSpPr/>
          <p:nvPr/>
        </p:nvSpPr>
        <p:spPr>
          <a:xfrm>
            <a:off x="2714625" y="2490788"/>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VOICE INPUT</a:t>
            </a:r>
            <a:endParaRPr lang="en-US" sz="750" dirty="0"/>
          </a:p>
        </p:txBody>
      </p:sp>
      <p:sp>
        <p:nvSpPr>
          <p:cNvPr id="23" name="Text 21"/>
          <p:cNvSpPr/>
          <p:nvPr/>
        </p:nvSpPr>
        <p:spPr>
          <a:xfrm>
            <a:off x="2714625" y="2700338"/>
            <a:ext cx="1661351" cy="293191"/>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SuperWhisper (Mac)</a:t>
            </a:r>
            <a:endParaRPr lang="en-US" sz="825" dirty="0"/>
          </a:p>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WhisperFlow (Win)</a:t>
            </a:r>
            <a:endParaRPr lang="en-US" sz="825" dirty="0"/>
          </a:p>
        </p:txBody>
      </p:sp>
      <p:sp>
        <p:nvSpPr>
          <p:cNvPr id="24" name="Shape 22"/>
          <p:cNvSpPr/>
          <p:nvPr/>
        </p:nvSpPr>
        <p:spPr>
          <a:xfrm>
            <a:off x="2714625" y="3264991"/>
            <a:ext cx="1628775" cy="0"/>
          </a:xfrm>
          <a:prstGeom prst="line">
            <a:avLst/>
          </a:prstGeom>
          <a:noFill/>
          <a:ln w="9525">
            <a:solidFill>
              <a:srgbClr val="3A4255"/>
            </a:solidFill>
            <a:prstDash val="solid"/>
          </a:ln>
        </p:spPr>
      </p:sp>
      <p:sp>
        <p:nvSpPr>
          <p:cNvPr id="25" name="Text 23"/>
          <p:cNvSpPr/>
          <p:nvPr/>
        </p:nvSpPr>
        <p:spPr>
          <a:xfrm>
            <a:off x="2714625" y="3384054"/>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AI ASSISTANT</a:t>
            </a:r>
            <a:endParaRPr lang="en-US" sz="750" dirty="0"/>
          </a:p>
        </p:txBody>
      </p:sp>
      <p:sp>
        <p:nvSpPr>
          <p:cNvPr id="26" name="Text 24"/>
          <p:cNvSpPr/>
          <p:nvPr/>
        </p:nvSpPr>
        <p:spPr>
          <a:xfrm>
            <a:off x="2714625" y="3593604"/>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Claude Code + Jupyter</a:t>
            </a:r>
            <a:endParaRPr lang="en-US" sz="825" dirty="0"/>
          </a:p>
        </p:txBody>
      </p:sp>
      <p:sp>
        <p:nvSpPr>
          <p:cNvPr id="27" name="Shape 25"/>
          <p:cNvSpPr/>
          <p:nvPr/>
        </p:nvSpPr>
        <p:spPr>
          <a:xfrm>
            <a:off x="2714625" y="4011662"/>
            <a:ext cx="1628775" cy="0"/>
          </a:xfrm>
          <a:prstGeom prst="line">
            <a:avLst/>
          </a:prstGeom>
          <a:noFill/>
          <a:ln w="9525">
            <a:solidFill>
              <a:srgbClr val="3A4255"/>
            </a:solidFill>
            <a:prstDash val="solid"/>
          </a:ln>
        </p:spPr>
      </p:sp>
      <p:sp>
        <p:nvSpPr>
          <p:cNvPr id="28" name="Text 26"/>
          <p:cNvSpPr/>
          <p:nvPr/>
        </p:nvSpPr>
        <p:spPr>
          <a:xfrm>
            <a:off x="2714625" y="4130725"/>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BACKEND</a:t>
            </a:r>
            <a:endParaRPr lang="en-US" sz="750" dirty="0"/>
          </a:p>
        </p:txBody>
      </p:sp>
      <p:sp>
        <p:nvSpPr>
          <p:cNvPr id="29" name="Text 27"/>
          <p:cNvSpPr/>
          <p:nvPr/>
        </p:nvSpPr>
        <p:spPr>
          <a:xfrm>
            <a:off x="2714625" y="4340275"/>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Azure OpenAI</a:t>
            </a:r>
            <a:endParaRPr lang="en-US" sz="825" dirty="0"/>
          </a:p>
        </p:txBody>
      </p:sp>
      <p:sp>
        <p:nvSpPr>
          <p:cNvPr id="30" name="Text 28"/>
          <p:cNvSpPr/>
          <p:nvPr/>
        </p:nvSpPr>
        <p:spPr>
          <a:xfrm>
            <a:off x="4629150" y="1241227"/>
            <a:ext cx="1971675" cy="3417094"/>
          </a:xfrm>
          <a:prstGeom prst="rect">
            <a:avLst/>
          </a:prstGeom>
          <a:solidFill>
            <a:srgbClr val="252B3D"/>
          </a:solidFill>
          <a:ln/>
        </p:spPr>
        <p:txBody>
          <a:bodyPr wrap="square" rtlCol="0" anchor="ctr"/>
          <a:lstStyle/>
          <a:p>
            <a:pPr indent="0" marL="0">
              <a:buNone/>
            </a:pPr>
            <a:endParaRPr lang="en-US" dirty="0"/>
          </a:p>
        </p:txBody>
      </p:sp>
      <p:sp>
        <p:nvSpPr>
          <p:cNvPr id="31" name="Text 29"/>
          <p:cNvSpPr/>
          <p:nvPr/>
        </p:nvSpPr>
        <p:spPr>
          <a:xfrm>
            <a:off x="4800600" y="1412677"/>
            <a:ext cx="1628775" cy="247650"/>
          </a:xfrm>
          <a:prstGeom prst="rect">
            <a:avLst/>
          </a:prstGeom>
          <a:solidFill>
            <a:srgbClr val="C9A227"/>
          </a:solidFill>
          <a:ln/>
        </p:spPr>
        <p:txBody>
          <a:bodyPr wrap="square" rtlCol="0" anchor="ctr"/>
          <a:lstStyle/>
          <a:p>
            <a:pPr indent="0" marL="0">
              <a:buNone/>
            </a:pPr>
            <a:endParaRPr lang="en-US" dirty="0"/>
          </a:p>
        </p:txBody>
      </p:sp>
      <p:sp>
        <p:nvSpPr>
          <p:cNvPr id="32" name="Text 30"/>
          <p:cNvSpPr/>
          <p:nvPr/>
        </p:nvSpPr>
        <p:spPr>
          <a:xfrm>
            <a:off x="4914900" y="1469827"/>
            <a:ext cx="142817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RESEARCHER</a:t>
            </a:r>
            <a:endParaRPr lang="en-US" sz="750" dirty="0"/>
          </a:p>
        </p:txBody>
      </p:sp>
      <p:sp>
        <p:nvSpPr>
          <p:cNvPr id="33" name="Text 31"/>
          <p:cNvSpPr/>
          <p:nvPr/>
        </p:nvSpPr>
        <p:spPr>
          <a:xfrm>
            <a:off x="4800600" y="1927027"/>
            <a:ext cx="1661351" cy="173236"/>
          </a:xfrm>
          <a:prstGeom prst="rect">
            <a:avLst/>
          </a:prstGeom>
          <a:noFill/>
          <a:ln/>
        </p:spPr>
        <p:txBody>
          <a:bodyPr wrap="square" lIns="0" tIns="0" rIns="0" bIns="0" rtlCol="0" anchor="t"/>
          <a:lstStyle/>
          <a:p>
            <a:pPr algn="l" indent="0" marL="0">
              <a:lnSpc>
                <a:spcPts val="1365"/>
              </a:lnSpc>
              <a:spcAft>
                <a:spcPts val="900"/>
              </a:spcAft>
              <a:buNone/>
            </a:pPr>
            <a:r>
              <a:rPr lang="en-US" sz="975" dirty="0">
                <a:solidFill>
                  <a:srgbClr val="FFFFFF"/>
                </a:solidFill>
                <a:latin typeface="Georgia" pitchFamily="34" charset="0"/>
                <a:ea typeface="Georgia" pitchFamily="34" charset="-122"/>
                <a:cs typeface="Georgia" pitchFamily="34" charset="-120"/>
              </a:rPr>
              <a:t>Documentation</a:t>
            </a:r>
            <a:endParaRPr lang="en-US" sz="975" dirty="0"/>
          </a:p>
        </p:txBody>
      </p:sp>
      <p:sp>
        <p:nvSpPr>
          <p:cNvPr id="34" name="Shape 32"/>
          <p:cNvSpPr/>
          <p:nvPr/>
        </p:nvSpPr>
        <p:spPr>
          <a:xfrm>
            <a:off x="4800600" y="2371725"/>
            <a:ext cx="1628775" cy="0"/>
          </a:xfrm>
          <a:prstGeom prst="line">
            <a:avLst/>
          </a:prstGeom>
          <a:noFill/>
          <a:ln w="9525">
            <a:solidFill>
              <a:srgbClr val="3A4255"/>
            </a:solidFill>
            <a:prstDash val="solid"/>
          </a:ln>
        </p:spPr>
      </p:sp>
      <p:sp>
        <p:nvSpPr>
          <p:cNvPr id="35" name="Text 33"/>
          <p:cNvSpPr/>
          <p:nvPr/>
        </p:nvSpPr>
        <p:spPr>
          <a:xfrm>
            <a:off x="4800600" y="2490788"/>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VOICE INPUT</a:t>
            </a:r>
            <a:endParaRPr lang="en-US" sz="750" dirty="0"/>
          </a:p>
        </p:txBody>
      </p:sp>
      <p:sp>
        <p:nvSpPr>
          <p:cNvPr id="36" name="Text 34"/>
          <p:cNvSpPr/>
          <p:nvPr/>
        </p:nvSpPr>
        <p:spPr>
          <a:xfrm>
            <a:off x="4800600" y="2700338"/>
            <a:ext cx="1661351" cy="293191"/>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SuperWhisper (Mac)</a:t>
            </a:r>
            <a:endParaRPr lang="en-US" sz="825" dirty="0"/>
          </a:p>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WhisperFlow (Win)</a:t>
            </a:r>
            <a:endParaRPr lang="en-US" sz="825" dirty="0"/>
          </a:p>
        </p:txBody>
      </p:sp>
      <p:sp>
        <p:nvSpPr>
          <p:cNvPr id="37" name="Shape 35"/>
          <p:cNvSpPr/>
          <p:nvPr/>
        </p:nvSpPr>
        <p:spPr>
          <a:xfrm>
            <a:off x="4800600" y="3264991"/>
            <a:ext cx="1628775" cy="0"/>
          </a:xfrm>
          <a:prstGeom prst="line">
            <a:avLst/>
          </a:prstGeom>
          <a:noFill/>
          <a:ln w="9525">
            <a:solidFill>
              <a:srgbClr val="3A4255"/>
            </a:solidFill>
            <a:prstDash val="solid"/>
          </a:ln>
        </p:spPr>
      </p:sp>
      <p:sp>
        <p:nvSpPr>
          <p:cNvPr id="38" name="Text 36"/>
          <p:cNvSpPr/>
          <p:nvPr/>
        </p:nvSpPr>
        <p:spPr>
          <a:xfrm>
            <a:off x="4800600" y="3384054"/>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AI ASSISTANT</a:t>
            </a:r>
            <a:endParaRPr lang="en-US" sz="750" dirty="0"/>
          </a:p>
        </p:txBody>
      </p:sp>
      <p:sp>
        <p:nvSpPr>
          <p:cNvPr id="39" name="Text 37"/>
          <p:cNvSpPr/>
          <p:nvPr/>
        </p:nvSpPr>
        <p:spPr>
          <a:xfrm>
            <a:off x="4800600" y="3593604"/>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Claude.ai / VS Code</a:t>
            </a:r>
            <a:endParaRPr lang="en-US" sz="825" dirty="0"/>
          </a:p>
        </p:txBody>
      </p:sp>
      <p:sp>
        <p:nvSpPr>
          <p:cNvPr id="40" name="Shape 38"/>
          <p:cNvSpPr/>
          <p:nvPr/>
        </p:nvSpPr>
        <p:spPr>
          <a:xfrm>
            <a:off x="4800600" y="4011662"/>
            <a:ext cx="1628775" cy="0"/>
          </a:xfrm>
          <a:prstGeom prst="line">
            <a:avLst/>
          </a:prstGeom>
          <a:noFill/>
          <a:ln w="9525">
            <a:solidFill>
              <a:srgbClr val="3A4255"/>
            </a:solidFill>
            <a:prstDash val="solid"/>
          </a:ln>
        </p:spPr>
      </p:sp>
      <p:sp>
        <p:nvSpPr>
          <p:cNvPr id="41" name="Text 39"/>
          <p:cNvSpPr/>
          <p:nvPr/>
        </p:nvSpPr>
        <p:spPr>
          <a:xfrm>
            <a:off x="4800600" y="4130725"/>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BACKEND</a:t>
            </a:r>
            <a:endParaRPr lang="en-US" sz="750" dirty="0"/>
          </a:p>
        </p:txBody>
      </p:sp>
      <p:sp>
        <p:nvSpPr>
          <p:cNvPr id="42" name="Text 40"/>
          <p:cNvSpPr/>
          <p:nvPr/>
        </p:nvSpPr>
        <p:spPr>
          <a:xfrm>
            <a:off x="4800600" y="4340275"/>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Azure OpenAI</a:t>
            </a:r>
            <a:endParaRPr lang="en-US" sz="825" dirty="0"/>
          </a:p>
        </p:txBody>
      </p:sp>
      <p:sp>
        <p:nvSpPr>
          <p:cNvPr id="43" name="Text 41"/>
          <p:cNvSpPr/>
          <p:nvPr/>
        </p:nvSpPr>
        <p:spPr>
          <a:xfrm>
            <a:off x="6715125" y="1241227"/>
            <a:ext cx="1971675" cy="3417094"/>
          </a:xfrm>
          <a:prstGeom prst="rect">
            <a:avLst/>
          </a:prstGeom>
          <a:solidFill>
            <a:srgbClr val="252B3D"/>
          </a:solidFill>
          <a:ln/>
        </p:spPr>
        <p:txBody>
          <a:bodyPr wrap="square" rtlCol="0" anchor="ctr"/>
          <a:lstStyle/>
          <a:p>
            <a:pPr indent="0" marL="0">
              <a:buNone/>
            </a:pPr>
            <a:endParaRPr lang="en-US" dirty="0"/>
          </a:p>
        </p:txBody>
      </p:sp>
      <p:sp>
        <p:nvSpPr>
          <p:cNvPr id="44" name="Text 42"/>
          <p:cNvSpPr/>
          <p:nvPr/>
        </p:nvSpPr>
        <p:spPr>
          <a:xfrm>
            <a:off x="6886575" y="1412677"/>
            <a:ext cx="1628775" cy="247650"/>
          </a:xfrm>
          <a:prstGeom prst="rect">
            <a:avLst/>
          </a:prstGeom>
          <a:solidFill>
            <a:srgbClr val="C9A227"/>
          </a:solidFill>
          <a:ln/>
        </p:spPr>
        <p:txBody>
          <a:bodyPr wrap="square" rtlCol="0" anchor="ctr"/>
          <a:lstStyle/>
          <a:p>
            <a:pPr indent="0" marL="0">
              <a:buNone/>
            </a:pPr>
            <a:endParaRPr lang="en-US" dirty="0"/>
          </a:p>
        </p:txBody>
      </p:sp>
      <p:sp>
        <p:nvSpPr>
          <p:cNvPr id="45" name="Text 43"/>
          <p:cNvSpPr/>
          <p:nvPr/>
        </p:nvSpPr>
        <p:spPr>
          <a:xfrm>
            <a:off x="7000875" y="1469827"/>
            <a:ext cx="142817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ADMIN STAFF</a:t>
            </a:r>
            <a:endParaRPr lang="en-US" sz="750" dirty="0"/>
          </a:p>
        </p:txBody>
      </p:sp>
      <p:sp>
        <p:nvSpPr>
          <p:cNvPr id="46" name="Text 44"/>
          <p:cNvSpPr/>
          <p:nvPr/>
        </p:nvSpPr>
        <p:spPr>
          <a:xfrm>
            <a:off x="6886575" y="1927027"/>
            <a:ext cx="1661351" cy="173236"/>
          </a:xfrm>
          <a:prstGeom prst="rect">
            <a:avLst/>
          </a:prstGeom>
          <a:noFill/>
          <a:ln/>
        </p:spPr>
        <p:txBody>
          <a:bodyPr wrap="square" lIns="0" tIns="0" rIns="0" bIns="0" rtlCol="0" anchor="t"/>
          <a:lstStyle/>
          <a:p>
            <a:pPr algn="l" indent="0" marL="0">
              <a:lnSpc>
                <a:spcPts val="1365"/>
              </a:lnSpc>
              <a:spcAft>
                <a:spcPts val="900"/>
              </a:spcAft>
              <a:buNone/>
            </a:pPr>
            <a:r>
              <a:rPr lang="en-US" sz="975" dirty="0">
                <a:solidFill>
                  <a:srgbClr val="FFFFFF"/>
                </a:solidFill>
                <a:latin typeface="Georgia" pitchFamily="34" charset="0"/>
                <a:ea typeface="Georgia" pitchFamily="34" charset="-122"/>
                <a:cs typeface="Georgia" pitchFamily="34" charset="-120"/>
              </a:rPr>
              <a:t>General Use</a:t>
            </a:r>
            <a:endParaRPr lang="en-US" sz="975" dirty="0"/>
          </a:p>
        </p:txBody>
      </p:sp>
      <p:sp>
        <p:nvSpPr>
          <p:cNvPr id="47" name="Shape 45"/>
          <p:cNvSpPr/>
          <p:nvPr/>
        </p:nvSpPr>
        <p:spPr>
          <a:xfrm>
            <a:off x="6886575" y="2371725"/>
            <a:ext cx="1628775" cy="0"/>
          </a:xfrm>
          <a:prstGeom prst="line">
            <a:avLst/>
          </a:prstGeom>
          <a:noFill/>
          <a:ln w="9525">
            <a:solidFill>
              <a:srgbClr val="3A4255"/>
            </a:solidFill>
            <a:prstDash val="solid"/>
          </a:ln>
        </p:spPr>
      </p:sp>
      <p:sp>
        <p:nvSpPr>
          <p:cNvPr id="48" name="Text 46"/>
          <p:cNvSpPr/>
          <p:nvPr/>
        </p:nvSpPr>
        <p:spPr>
          <a:xfrm>
            <a:off x="6886575" y="2490788"/>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VOICE INPUT</a:t>
            </a:r>
            <a:endParaRPr lang="en-US" sz="750" dirty="0"/>
          </a:p>
        </p:txBody>
      </p:sp>
      <p:sp>
        <p:nvSpPr>
          <p:cNvPr id="49" name="Text 47"/>
          <p:cNvSpPr/>
          <p:nvPr/>
        </p:nvSpPr>
        <p:spPr>
          <a:xfrm>
            <a:off x="6886575" y="2700338"/>
            <a:ext cx="1661351" cy="293191"/>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SuperWhisper (Mac)</a:t>
            </a:r>
            <a:endParaRPr lang="en-US" sz="825" dirty="0"/>
          </a:p>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OS Dictation (basic)</a:t>
            </a:r>
            <a:endParaRPr lang="en-US" sz="825" dirty="0"/>
          </a:p>
        </p:txBody>
      </p:sp>
      <p:sp>
        <p:nvSpPr>
          <p:cNvPr id="50" name="Shape 48"/>
          <p:cNvSpPr/>
          <p:nvPr/>
        </p:nvSpPr>
        <p:spPr>
          <a:xfrm>
            <a:off x="6886575" y="3264991"/>
            <a:ext cx="1628775" cy="0"/>
          </a:xfrm>
          <a:prstGeom prst="line">
            <a:avLst/>
          </a:prstGeom>
          <a:noFill/>
          <a:ln w="9525">
            <a:solidFill>
              <a:srgbClr val="3A4255"/>
            </a:solidFill>
            <a:prstDash val="solid"/>
          </a:ln>
        </p:spPr>
      </p:sp>
      <p:sp>
        <p:nvSpPr>
          <p:cNvPr id="51" name="Text 49"/>
          <p:cNvSpPr/>
          <p:nvPr/>
        </p:nvSpPr>
        <p:spPr>
          <a:xfrm>
            <a:off x="6886575" y="3384054"/>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AI ASSISTANT</a:t>
            </a:r>
            <a:endParaRPr lang="en-US" sz="750" dirty="0"/>
          </a:p>
        </p:txBody>
      </p:sp>
      <p:sp>
        <p:nvSpPr>
          <p:cNvPr id="52" name="Text 50"/>
          <p:cNvSpPr/>
          <p:nvPr/>
        </p:nvSpPr>
        <p:spPr>
          <a:xfrm>
            <a:off x="6886575" y="3593604"/>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Microsoft Copilot</a:t>
            </a:r>
            <a:endParaRPr lang="en-US" sz="825" dirty="0"/>
          </a:p>
        </p:txBody>
      </p:sp>
      <p:sp>
        <p:nvSpPr>
          <p:cNvPr id="53" name="Shape 51"/>
          <p:cNvSpPr/>
          <p:nvPr/>
        </p:nvSpPr>
        <p:spPr>
          <a:xfrm>
            <a:off x="6886575" y="4011662"/>
            <a:ext cx="1628775" cy="0"/>
          </a:xfrm>
          <a:prstGeom prst="line">
            <a:avLst/>
          </a:prstGeom>
          <a:noFill/>
          <a:ln w="9525">
            <a:solidFill>
              <a:srgbClr val="3A4255"/>
            </a:solidFill>
            <a:prstDash val="solid"/>
          </a:ln>
        </p:spPr>
      </p:sp>
      <p:sp>
        <p:nvSpPr>
          <p:cNvPr id="54" name="Text 52"/>
          <p:cNvSpPr/>
          <p:nvPr/>
        </p:nvSpPr>
        <p:spPr>
          <a:xfrm>
            <a:off x="6886575" y="4130725"/>
            <a:ext cx="1661351"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BACKEND</a:t>
            </a:r>
            <a:endParaRPr lang="en-US" sz="750" dirty="0"/>
          </a:p>
        </p:txBody>
      </p:sp>
      <p:sp>
        <p:nvSpPr>
          <p:cNvPr id="55" name="Text 53"/>
          <p:cNvSpPr/>
          <p:nvPr/>
        </p:nvSpPr>
        <p:spPr>
          <a:xfrm>
            <a:off x="6886575" y="4340275"/>
            <a:ext cx="1661351" cy="146596"/>
          </a:xfrm>
          <a:prstGeom prst="rect">
            <a:avLst/>
          </a:prstGeom>
          <a:noFill/>
          <a:ln/>
        </p:spPr>
        <p:txBody>
          <a:bodyPr wrap="square" lIns="0" tIns="0" rIns="0" bIns="0" rtlCol="0" anchor="t"/>
          <a:lstStyle/>
          <a:p>
            <a:pPr algn="l" indent="0" marL="0">
              <a:lnSpc>
                <a:spcPts val="1155"/>
              </a:lnSpc>
              <a:buNone/>
            </a:pPr>
            <a:r>
              <a:rPr lang="en-US" sz="825" dirty="0">
                <a:solidFill>
                  <a:srgbClr val="FFFFFF">
                    <a:alpha val="60000"/>
                  </a:srgbClr>
                </a:solidFill>
                <a:latin typeface="Arial" pitchFamily="34" charset="0"/>
                <a:ea typeface="Arial" pitchFamily="34" charset="-122"/>
                <a:cs typeface="Arial" pitchFamily="34" charset="-120"/>
              </a:rPr>
              <a:t>Microsoft 365</a:t>
            </a:r>
            <a:endParaRPr lang="en-US" sz="8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2980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08</a:t>
            </a:r>
            <a:endParaRPr lang="en-US" sz="1050" dirty="0"/>
          </a:p>
        </p:txBody>
      </p:sp>
      <p:sp>
        <p:nvSpPr>
          <p:cNvPr id="3" name="Text 1"/>
          <p:cNvSpPr/>
          <p:nvPr/>
        </p:nvSpPr>
        <p:spPr>
          <a:xfrm>
            <a:off x="2151476" y="2097435"/>
            <a:ext cx="4840900"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Security Considerations</a:t>
            </a:r>
            <a:endParaRPr lang="en-US" sz="3900" dirty="0"/>
          </a:p>
        </p:txBody>
      </p:sp>
      <p:sp>
        <p:nvSpPr>
          <p:cNvPr id="4" name="Text 2"/>
          <p:cNvSpPr/>
          <p:nvPr/>
        </p:nvSpPr>
        <p:spPr>
          <a:xfrm>
            <a:off x="3348910" y="2897535"/>
            <a:ext cx="2446181"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Protecting Data in AI Workflows</a:t>
            </a:r>
            <a:endParaRPr lang="en-US" sz="1350" dirty="0"/>
          </a:p>
        </p:txBody>
      </p:sp>
      <p:sp>
        <p:nvSpPr>
          <p:cNvPr id="5" name="Text 3"/>
          <p:cNvSpPr/>
          <p:nvPr/>
        </p:nvSpPr>
        <p:spPr>
          <a:xfrm>
            <a:off x="4191000" y="359464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27653" y="4678710"/>
            <a:ext cx="5703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CRITICAL CONCEPT</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Know Where Your Data Goes</a:t>
            </a:r>
            <a:endParaRPr lang="en-US" sz="2400" dirty="0"/>
          </a:p>
        </p:txBody>
      </p:sp>
      <p:sp>
        <p:nvSpPr>
          <p:cNvPr id="4" name="Text 2"/>
          <p:cNvSpPr/>
          <p:nvPr/>
        </p:nvSpPr>
        <p:spPr>
          <a:xfrm>
            <a:off x="457200" y="1099245"/>
            <a:ext cx="2667000" cy="1868537"/>
          </a:xfrm>
          <a:prstGeom prst="rect">
            <a:avLst/>
          </a:prstGeom>
          <a:solidFill>
            <a:srgbClr val="059669"/>
          </a:solidFill>
          <a:ln/>
        </p:spPr>
        <p:txBody>
          <a:bodyPr wrap="square" rtlCol="0" anchor="ctr"/>
          <a:lstStyle/>
          <a:p>
            <a:pPr indent="0" marL="0">
              <a:buNone/>
            </a:pPr>
            <a:endParaRPr lang="en-US" dirty="0"/>
          </a:p>
        </p:txBody>
      </p:sp>
      <p:sp>
        <p:nvSpPr>
          <p:cNvPr id="5" name="Text 3"/>
          <p:cNvSpPr/>
          <p:nvPr/>
        </p:nvSpPr>
        <p:spPr>
          <a:xfrm>
            <a:off x="609600" y="1251645"/>
            <a:ext cx="2409444"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FFFFFF"/>
                </a:solidFill>
                <a:latin typeface="Arial" pitchFamily="34" charset="0"/>
                <a:ea typeface="Arial" pitchFamily="34" charset="-122"/>
                <a:cs typeface="Arial" pitchFamily="34" charset="-120"/>
              </a:rPr>
              <a:t>LOCAL PROCESSING</a:t>
            </a:r>
            <a:endParaRPr lang="en-US" sz="900" dirty="0"/>
          </a:p>
        </p:txBody>
      </p:sp>
      <p:sp>
        <p:nvSpPr>
          <p:cNvPr id="6" name="Text 4"/>
          <p:cNvSpPr/>
          <p:nvPr/>
        </p:nvSpPr>
        <p:spPr>
          <a:xfrm>
            <a:off x="609600" y="1640235"/>
            <a:ext cx="2409444" cy="670322"/>
          </a:xfrm>
          <a:prstGeom prst="rect">
            <a:avLst/>
          </a:prstGeom>
          <a:noFill/>
          <a:ln/>
        </p:spPr>
        <p:txBody>
          <a:bodyPr wrap="square" lIns="0" tIns="0" rIns="0" bIns="0" rtlCol="0" anchor="t"/>
          <a:lstStyle/>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SuperWhisper</a:t>
            </a:r>
            <a:endParaRPr lang="en-US" sz="825" dirty="0"/>
          </a:p>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WhisperFlow</a:t>
            </a:r>
            <a:endParaRPr lang="en-US" sz="825" dirty="0"/>
          </a:p>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Ollama</a:t>
            </a:r>
            <a:endParaRPr lang="en-US" sz="825" dirty="0"/>
          </a:p>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Local file edits</a:t>
            </a:r>
            <a:endParaRPr lang="en-US" sz="825" dirty="0"/>
          </a:p>
        </p:txBody>
      </p:sp>
      <p:sp>
        <p:nvSpPr>
          <p:cNvPr id="7" name="Shape 5"/>
          <p:cNvSpPr/>
          <p:nvPr/>
        </p:nvSpPr>
        <p:spPr>
          <a:xfrm>
            <a:off x="609600" y="2582019"/>
            <a:ext cx="2362200" cy="0"/>
          </a:xfrm>
          <a:prstGeom prst="line">
            <a:avLst/>
          </a:prstGeom>
          <a:noFill/>
          <a:ln w="9525">
            <a:solidFill>
              <a:srgbClr val="FFFFFF"/>
            </a:solidFill>
            <a:prstDash val="solid"/>
          </a:ln>
        </p:spPr>
      </p:sp>
      <p:sp>
        <p:nvSpPr>
          <p:cNvPr id="8" name="Text 6"/>
          <p:cNvSpPr/>
          <p:nvPr/>
        </p:nvSpPr>
        <p:spPr>
          <a:xfrm>
            <a:off x="609600" y="2682032"/>
            <a:ext cx="2409444" cy="133350"/>
          </a:xfrm>
          <a:prstGeom prst="rect">
            <a:avLst/>
          </a:prstGeom>
          <a:noFill/>
          <a:ln/>
        </p:spPr>
        <p:txBody>
          <a:bodyPr wrap="square" lIns="0" tIns="0" rIns="0" bIns="0" rtlCol="0" anchor="t"/>
          <a:lstStyle/>
          <a:p>
            <a:pPr algn="l" indent="0" marL="0">
              <a:lnSpc>
                <a:spcPts val="1050"/>
              </a:lnSpc>
              <a:buNone/>
            </a:pPr>
            <a:r>
              <a:rPr lang="en-US" sz="750" dirty="0">
                <a:solidFill>
                  <a:srgbClr val="FFFFFF"/>
                </a:solidFill>
                <a:latin typeface="Arial" pitchFamily="34" charset="0"/>
                <a:ea typeface="Arial" pitchFamily="34" charset="-122"/>
                <a:cs typeface="Arial" pitchFamily="34" charset="-120"/>
              </a:rPr>
              <a:t>Data never leaves your machine</a:t>
            </a:r>
            <a:endParaRPr lang="en-US" sz="750" dirty="0"/>
          </a:p>
        </p:txBody>
      </p:sp>
      <p:sp>
        <p:nvSpPr>
          <p:cNvPr id="9" name="Text 7"/>
          <p:cNvSpPr/>
          <p:nvPr/>
        </p:nvSpPr>
        <p:spPr>
          <a:xfrm>
            <a:off x="3238500" y="1099245"/>
            <a:ext cx="2667000" cy="1868537"/>
          </a:xfrm>
          <a:prstGeom prst="rect">
            <a:avLst/>
          </a:prstGeom>
          <a:solidFill>
            <a:srgbClr val="C9A227"/>
          </a:solidFill>
          <a:ln/>
        </p:spPr>
        <p:txBody>
          <a:bodyPr wrap="square" rtlCol="0" anchor="ctr"/>
          <a:lstStyle/>
          <a:p>
            <a:pPr indent="0" marL="0">
              <a:buNone/>
            </a:pPr>
            <a:endParaRPr lang="en-US" dirty="0"/>
          </a:p>
        </p:txBody>
      </p:sp>
      <p:sp>
        <p:nvSpPr>
          <p:cNvPr id="10" name="Text 8"/>
          <p:cNvSpPr/>
          <p:nvPr/>
        </p:nvSpPr>
        <p:spPr>
          <a:xfrm>
            <a:off x="3390900" y="1251645"/>
            <a:ext cx="2409444"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YOUR CLOUD TENANT</a:t>
            </a:r>
            <a:endParaRPr lang="en-US" sz="900" dirty="0"/>
          </a:p>
        </p:txBody>
      </p:sp>
      <p:sp>
        <p:nvSpPr>
          <p:cNvPr id="11" name="Text 9"/>
          <p:cNvSpPr/>
          <p:nvPr/>
        </p:nvSpPr>
        <p:spPr>
          <a:xfrm>
            <a:off x="3390900" y="1640235"/>
            <a:ext cx="2409444" cy="670322"/>
          </a:xfrm>
          <a:prstGeom prst="rect">
            <a:avLst/>
          </a:prstGeom>
          <a:noFill/>
          <a:ln/>
        </p:spPr>
        <p:txBody>
          <a:bodyPr wrap="square" lIns="0" tIns="0" rIns="0" bIns="0" rtlCol="0" anchor="t"/>
          <a:lstStyle/>
          <a:p>
            <a:pPr algn="l" indent="0" marL="0">
              <a:lnSpc>
                <a:spcPts val="1320"/>
              </a:lnSpc>
              <a:buNone/>
            </a:pPr>
            <a:r>
              <a:rPr lang="en-US" sz="825" dirty="0">
                <a:solidFill>
                  <a:srgbClr val="1A1F2E">
                    <a:alpha val="80000"/>
                  </a:srgbClr>
                </a:solidFill>
                <a:latin typeface="Arial" pitchFamily="34" charset="0"/>
                <a:ea typeface="Arial" pitchFamily="34" charset="-122"/>
                <a:cs typeface="Arial" pitchFamily="34" charset="-120"/>
              </a:rPr>
              <a:t>Azure OpenAI</a:t>
            </a:r>
            <a:endParaRPr lang="en-US" sz="825" dirty="0"/>
          </a:p>
          <a:p>
            <a:pPr algn="l" indent="0" marL="0">
              <a:lnSpc>
                <a:spcPts val="1320"/>
              </a:lnSpc>
              <a:buNone/>
            </a:pPr>
            <a:r>
              <a:rPr lang="en-US" sz="825" dirty="0">
                <a:solidFill>
                  <a:srgbClr val="1A1F2E">
                    <a:alpha val="80000"/>
                  </a:srgbClr>
                </a:solidFill>
                <a:latin typeface="Arial" pitchFamily="34" charset="0"/>
                <a:ea typeface="Arial" pitchFamily="34" charset="-122"/>
                <a:cs typeface="Arial" pitchFamily="34" charset="-120"/>
              </a:rPr>
              <a:t>AWS Bedrock</a:t>
            </a:r>
            <a:endParaRPr lang="en-US" sz="825" dirty="0"/>
          </a:p>
          <a:p>
            <a:pPr algn="l" indent="0" marL="0">
              <a:lnSpc>
                <a:spcPts val="1320"/>
              </a:lnSpc>
              <a:buNone/>
            </a:pPr>
            <a:r>
              <a:rPr lang="en-US" sz="825" dirty="0">
                <a:solidFill>
                  <a:srgbClr val="1A1F2E">
                    <a:alpha val="80000"/>
                  </a:srgbClr>
                </a:solidFill>
                <a:latin typeface="Arial" pitchFamily="34" charset="0"/>
                <a:ea typeface="Arial" pitchFamily="34" charset="-122"/>
                <a:cs typeface="Arial" pitchFamily="34" charset="-120"/>
              </a:rPr>
              <a:t>Private endpoints</a:t>
            </a:r>
            <a:endParaRPr lang="en-US" sz="825" dirty="0"/>
          </a:p>
          <a:p>
            <a:pPr algn="l" indent="0" marL="0">
              <a:lnSpc>
                <a:spcPts val="1320"/>
              </a:lnSpc>
              <a:buNone/>
            </a:pPr>
            <a:r>
              <a:rPr lang="en-US" sz="825" dirty="0">
                <a:solidFill>
                  <a:srgbClr val="1A1F2E">
                    <a:alpha val="80000"/>
                  </a:srgbClr>
                </a:solidFill>
                <a:latin typeface="Arial" pitchFamily="34" charset="0"/>
                <a:ea typeface="Arial" pitchFamily="34" charset="-122"/>
                <a:cs typeface="Arial" pitchFamily="34" charset="-120"/>
              </a:rPr>
              <a:t>Your GitHub</a:t>
            </a:r>
            <a:endParaRPr lang="en-US" sz="825" dirty="0"/>
          </a:p>
        </p:txBody>
      </p:sp>
      <p:sp>
        <p:nvSpPr>
          <p:cNvPr id="12" name="Shape 10"/>
          <p:cNvSpPr/>
          <p:nvPr/>
        </p:nvSpPr>
        <p:spPr>
          <a:xfrm>
            <a:off x="3390900" y="2582019"/>
            <a:ext cx="2362200" cy="0"/>
          </a:xfrm>
          <a:prstGeom prst="line">
            <a:avLst/>
          </a:prstGeom>
          <a:noFill/>
          <a:ln w="9525">
            <a:solidFill>
              <a:srgbClr val="1A1F2E"/>
            </a:solidFill>
            <a:prstDash val="solid"/>
          </a:ln>
        </p:spPr>
      </p:sp>
      <p:sp>
        <p:nvSpPr>
          <p:cNvPr id="13" name="Text 11"/>
          <p:cNvSpPr/>
          <p:nvPr/>
        </p:nvSpPr>
        <p:spPr>
          <a:xfrm>
            <a:off x="3390900" y="2682032"/>
            <a:ext cx="2409444" cy="133350"/>
          </a:xfrm>
          <a:prstGeom prst="rect">
            <a:avLst/>
          </a:prstGeom>
          <a:noFill/>
          <a:ln/>
        </p:spPr>
        <p:txBody>
          <a:bodyPr wrap="square" lIns="0" tIns="0" rIns="0" bIns="0" rtlCol="0" anchor="t"/>
          <a:lstStyle/>
          <a:p>
            <a:pPr algn="l" indent="0" marL="0">
              <a:lnSpc>
                <a:spcPts val="1050"/>
              </a:lnSpc>
              <a:buNone/>
            </a:pPr>
            <a:r>
              <a:rPr lang="en-US" sz="750" dirty="0">
                <a:solidFill>
                  <a:srgbClr val="1A1F2E"/>
                </a:solidFill>
                <a:latin typeface="Arial" pitchFamily="34" charset="0"/>
                <a:ea typeface="Arial" pitchFamily="34" charset="-122"/>
                <a:cs typeface="Arial" pitchFamily="34" charset="-120"/>
              </a:rPr>
              <a:t>Data in your controlled environment</a:t>
            </a:r>
            <a:endParaRPr lang="en-US" sz="750" dirty="0"/>
          </a:p>
        </p:txBody>
      </p:sp>
      <p:sp>
        <p:nvSpPr>
          <p:cNvPr id="14" name="Text 12"/>
          <p:cNvSpPr/>
          <p:nvPr/>
        </p:nvSpPr>
        <p:spPr>
          <a:xfrm>
            <a:off x="6019800" y="1099245"/>
            <a:ext cx="2667000" cy="1868537"/>
          </a:xfrm>
          <a:prstGeom prst="rect">
            <a:avLst/>
          </a:prstGeom>
          <a:solidFill>
            <a:srgbClr val="DC2626"/>
          </a:solidFill>
          <a:ln/>
        </p:spPr>
        <p:txBody>
          <a:bodyPr wrap="square" rtlCol="0" anchor="ctr"/>
          <a:lstStyle/>
          <a:p>
            <a:pPr indent="0" marL="0">
              <a:buNone/>
            </a:pPr>
            <a:endParaRPr lang="en-US" dirty="0"/>
          </a:p>
        </p:txBody>
      </p:sp>
      <p:sp>
        <p:nvSpPr>
          <p:cNvPr id="15" name="Text 13"/>
          <p:cNvSpPr/>
          <p:nvPr/>
        </p:nvSpPr>
        <p:spPr>
          <a:xfrm>
            <a:off x="6172200" y="1251645"/>
            <a:ext cx="2409444" cy="159990"/>
          </a:xfrm>
          <a:prstGeom prst="rect">
            <a:avLst/>
          </a:prstGeom>
          <a:noFill/>
          <a:ln/>
        </p:spPr>
        <p:txBody>
          <a:bodyPr wrap="square" lIns="0" tIns="0" rIns="0" bIns="0" rtlCol="0" anchor="t"/>
          <a:lstStyle/>
          <a:p>
            <a:pPr algn="l" indent="0" marL="0">
              <a:lnSpc>
                <a:spcPts val="1260"/>
              </a:lnSpc>
              <a:spcAft>
                <a:spcPts val="600"/>
              </a:spcAft>
              <a:buNone/>
            </a:pPr>
            <a:r>
              <a:rPr lang="en-US" sz="900" b="1" dirty="0">
                <a:solidFill>
                  <a:srgbClr val="FFFFFF"/>
                </a:solidFill>
                <a:latin typeface="Arial" pitchFamily="34" charset="0"/>
                <a:ea typeface="Arial" pitchFamily="34" charset="-122"/>
                <a:cs typeface="Arial" pitchFamily="34" charset="-120"/>
              </a:rPr>
              <a:t>THIRD-PARTY CLOUD</a:t>
            </a:r>
            <a:endParaRPr lang="en-US" sz="900" dirty="0"/>
          </a:p>
        </p:txBody>
      </p:sp>
      <p:sp>
        <p:nvSpPr>
          <p:cNvPr id="16" name="Text 14"/>
          <p:cNvSpPr/>
          <p:nvPr/>
        </p:nvSpPr>
        <p:spPr>
          <a:xfrm>
            <a:off x="6172200" y="1640235"/>
            <a:ext cx="2409444" cy="670322"/>
          </a:xfrm>
          <a:prstGeom prst="rect">
            <a:avLst/>
          </a:prstGeom>
          <a:noFill/>
          <a:ln/>
        </p:spPr>
        <p:txBody>
          <a:bodyPr wrap="square" lIns="0" tIns="0" rIns="0" bIns="0" rtlCol="0" anchor="t"/>
          <a:lstStyle/>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OpenAI API (direct)</a:t>
            </a:r>
            <a:endParaRPr lang="en-US" sz="825" dirty="0"/>
          </a:p>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Anthropic API (direct)</a:t>
            </a:r>
            <a:endParaRPr lang="en-US" sz="825" dirty="0"/>
          </a:p>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Standard dictation</a:t>
            </a:r>
            <a:endParaRPr lang="en-US" sz="825" dirty="0"/>
          </a:p>
          <a:p>
            <a:pPr algn="l" indent="0" marL="0">
              <a:lnSpc>
                <a:spcPts val="1320"/>
              </a:lnSpc>
              <a:buNone/>
            </a:pPr>
            <a:r>
              <a:rPr lang="en-US" sz="825" dirty="0">
                <a:solidFill>
                  <a:srgbClr val="FFFFFF">
                    <a:alpha val="80000"/>
                  </a:srgbClr>
                </a:solidFill>
                <a:latin typeface="Arial" pitchFamily="34" charset="0"/>
                <a:ea typeface="Arial" pitchFamily="34" charset="-122"/>
                <a:cs typeface="Arial" pitchFamily="34" charset="-120"/>
              </a:rPr>
              <a:t>Consumer AI tools</a:t>
            </a:r>
            <a:endParaRPr lang="en-US" sz="825" dirty="0"/>
          </a:p>
        </p:txBody>
      </p:sp>
      <p:sp>
        <p:nvSpPr>
          <p:cNvPr id="17" name="Shape 15"/>
          <p:cNvSpPr/>
          <p:nvPr/>
        </p:nvSpPr>
        <p:spPr>
          <a:xfrm>
            <a:off x="6172200" y="2582019"/>
            <a:ext cx="2362200" cy="0"/>
          </a:xfrm>
          <a:prstGeom prst="line">
            <a:avLst/>
          </a:prstGeom>
          <a:noFill/>
          <a:ln w="9525">
            <a:solidFill>
              <a:srgbClr val="FFFFFF"/>
            </a:solidFill>
            <a:prstDash val="solid"/>
          </a:ln>
        </p:spPr>
      </p:sp>
      <p:sp>
        <p:nvSpPr>
          <p:cNvPr id="18" name="Text 16"/>
          <p:cNvSpPr/>
          <p:nvPr/>
        </p:nvSpPr>
        <p:spPr>
          <a:xfrm>
            <a:off x="6172200" y="2682032"/>
            <a:ext cx="2409444" cy="133350"/>
          </a:xfrm>
          <a:prstGeom prst="rect">
            <a:avLst/>
          </a:prstGeom>
          <a:noFill/>
          <a:ln/>
        </p:spPr>
        <p:txBody>
          <a:bodyPr wrap="square" lIns="0" tIns="0" rIns="0" bIns="0" rtlCol="0" anchor="t"/>
          <a:lstStyle/>
          <a:p>
            <a:pPr algn="l" indent="0" marL="0">
              <a:lnSpc>
                <a:spcPts val="1050"/>
              </a:lnSpc>
              <a:buNone/>
            </a:pPr>
            <a:r>
              <a:rPr lang="en-US" sz="750" dirty="0">
                <a:solidFill>
                  <a:srgbClr val="FFFFFF"/>
                </a:solidFill>
                <a:latin typeface="Arial" pitchFamily="34" charset="0"/>
                <a:ea typeface="Arial" pitchFamily="34" charset="-122"/>
                <a:cs typeface="Arial" pitchFamily="34" charset="-120"/>
              </a:rPr>
              <a:t>Requires compliance review</a:t>
            </a:r>
            <a:endParaRPr lang="en-US" sz="750" dirty="0"/>
          </a:p>
        </p:txBody>
      </p:sp>
      <p:sp>
        <p:nvSpPr>
          <p:cNvPr id="19" name="Text 17"/>
          <p:cNvSpPr/>
          <p:nvPr/>
        </p:nvSpPr>
        <p:spPr>
          <a:xfrm>
            <a:off x="457200" y="3272582"/>
            <a:ext cx="8229600" cy="92958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628650" y="3444032"/>
            <a:ext cx="8044434"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C9A227"/>
                </a:solidFill>
                <a:latin typeface="Arial" pitchFamily="34" charset="0"/>
                <a:ea typeface="Arial" pitchFamily="34" charset="-122"/>
                <a:cs typeface="Arial" pitchFamily="34" charset="-120"/>
              </a:rPr>
              <a:t>ASK THESE QUESTIONS</a:t>
            </a:r>
            <a:endParaRPr lang="en-US" sz="900" dirty="0"/>
          </a:p>
        </p:txBody>
      </p:sp>
      <p:sp>
        <p:nvSpPr>
          <p:cNvPr id="21" name="Text 19"/>
          <p:cNvSpPr/>
          <p:nvPr/>
        </p:nvSpPr>
        <p:spPr>
          <a:xfrm>
            <a:off x="628650" y="3699272"/>
            <a:ext cx="25260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Where is data processed?</a:t>
            </a:r>
            <a:endParaRPr lang="en-US" sz="900" dirty="0"/>
          </a:p>
        </p:txBody>
      </p:sp>
      <p:sp>
        <p:nvSpPr>
          <p:cNvPr id="22" name="Text 20"/>
          <p:cNvSpPr/>
          <p:nvPr/>
        </p:nvSpPr>
        <p:spPr>
          <a:xfrm>
            <a:off x="628650" y="3897362"/>
            <a:ext cx="2526030"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Local, your tenant, or third-party?</a:t>
            </a:r>
            <a:endParaRPr lang="en-US" sz="750" dirty="0"/>
          </a:p>
        </p:txBody>
      </p:sp>
      <p:sp>
        <p:nvSpPr>
          <p:cNvPr id="23" name="Text 21"/>
          <p:cNvSpPr/>
          <p:nvPr/>
        </p:nvSpPr>
        <p:spPr>
          <a:xfrm>
            <a:off x="3333750" y="3699272"/>
            <a:ext cx="25260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Is data retained?</a:t>
            </a:r>
            <a:endParaRPr lang="en-US" sz="900" dirty="0"/>
          </a:p>
        </p:txBody>
      </p:sp>
      <p:sp>
        <p:nvSpPr>
          <p:cNvPr id="24" name="Text 22"/>
          <p:cNvSpPr/>
          <p:nvPr/>
        </p:nvSpPr>
        <p:spPr>
          <a:xfrm>
            <a:off x="3333750" y="3897362"/>
            <a:ext cx="2526030"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Training, logging, storage?</a:t>
            </a:r>
            <a:endParaRPr lang="en-US" sz="750" dirty="0"/>
          </a:p>
        </p:txBody>
      </p:sp>
      <p:sp>
        <p:nvSpPr>
          <p:cNvPr id="25" name="Text 23"/>
          <p:cNvSpPr/>
          <p:nvPr/>
        </p:nvSpPr>
        <p:spPr>
          <a:xfrm>
            <a:off x="6038850" y="3699272"/>
            <a:ext cx="252603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What's in the prompt?</a:t>
            </a:r>
            <a:endParaRPr lang="en-US" sz="900" dirty="0"/>
          </a:p>
        </p:txBody>
      </p:sp>
      <p:sp>
        <p:nvSpPr>
          <p:cNvPr id="26" name="Text 24"/>
          <p:cNvSpPr/>
          <p:nvPr/>
        </p:nvSpPr>
        <p:spPr>
          <a:xfrm>
            <a:off x="6038850" y="3897362"/>
            <a:ext cx="2526030" cy="133350"/>
          </a:xfrm>
          <a:prstGeom prst="rect">
            <a:avLst/>
          </a:prstGeom>
          <a:noFill/>
          <a:ln/>
        </p:spPr>
        <p:txBody>
          <a:bodyPr wrap="square" lIns="0" tIns="0" rIns="0" bIns="0" rtlCol="0" anchor="t"/>
          <a:lstStyle/>
          <a:p>
            <a:pPr algn="l" indent="0" marL="0">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Code, data, identifiers?</a:t>
            </a:r>
            <a:endParaRPr lang="en-US" sz="750" dirty="0"/>
          </a:p>
        </p:txBody>
      </p:sp>
      <p:sp>
        <p:nvSpPr>
          <p:cNvPr id="27" name="Text 25"/>
          <p:cNvSpPr/>
          <p:nvPr/>
        </p:nvSpPr>
        <p:spPr>
          <a:xfrm>
            <a:off x="457200" y="4487912"/>
            <a:ext cx="8229600" cy="388590"/>
          </a:xfrm>
          <a:prstGeom prst="rect">
            <a:avLst/>
          </a:prstGeom>
          <a:solidFill>
            <a:srgbClr val="FEF3C7"/>
          </a:solidFill>
          <a:ln/>
        </p:spPr>
        <p:txBody>
          <a:bodyPr wrap="square" rtlCol="0" anchor="ctr"/>
          <a:lstStyle/>
          <a:p>
            <a:pPr indent="0" marL="0">
              <a:buNone/>
            </a:pPr>
            <a:endParaRPr lang="en-US" dirty="0"/>
          </a:p>
        </p:txBody>
      </p:sp>
      <p:sp>
        <p:nvSpPr>
          <p:cNvPr id="28" name="Shape 26"/>
          <p:cNvSpPr/>
          <p:nvPr/>
        </p:nvSpPr>
        <p:spPr>
          <a:xfrm>
            <a:off x="476250" y="4487912"/>
            <a:ext cx="0" cy="388590"/>
          </a:xfrm>
          <a:prstGeom prst="line">
            <a:avLst/>
          </a:prstGeom>
          <a:noFill/>
          <a:ln w="38100">
            <a:solidFill>
              <a:srgbClr val="F59E0B"/>
            </a:solidFill>
            <a:prstDash val="solid"/>
          </a:ln>
        </p:spPr>
      </p:sp>
      <p:sp>
        <p:nvSpPr>
          <p:cNvPr id="29" name="Text 27"/>
          <p:cNvSpPr/>
          <p:nvPr/>
        </p:nvSpPr>
        <p:spPr>
          <a:xfrm>
            <a:off x="647700" y="4602212"/>
            <a:ext cx="8044434" cy="159990"/>
          </a:xfrm>
          <a:prstGeom prst="rect">
            <a:avLst/>
          </a:prstGeom>
          <a:noFill/>
          <a:ln/>
        </p:spPr>
        <p:txBody>
          <a:bodyPr wrap="square" lIns="0" tIns="0" rIns="0" bIns="0" rtlCol="0" anchor="t"/>
          <a:lstStyle/>
          <a:p>
            <a:pPr algn="l" indent="0" marL="0">
              <a:lnSpc>
                <a:spcPts val="1260"/>
              </a:lnSpc>
              <a:buNone/>
            </a:pPr>
            <a:r>
              <a:rPr lang="en-US" sz="900" b="1" dirty="0">
                <a:solidFill>
                  <a:srgbClr val="92400E"/>
                </a:solidFill>
                <a:latin typeface="Arial" pitchFamily="34" charset="0"/>
                <a:ea typeface="Arial" pitchFamily="34" charset="-122"/>
                <a:cs typeface="Arial" pitchFamily="34" charset="-120"/>
              </a:rPr>
              <a:t>Rule of thumb:</a:t>
            </a:r>
            <a:pPr algn="l" indent="0" marL="0">
              <a:lnSpc>
                <a:spcPts val="1260"/>
              </a:lnSpc>
              <a:buNone/>
            </a:pPr>
            <a:r>
              <a:rPr lang="en-US" sz="900" dirty="0">
                <a:solidFill>
                  <a:srgbClr val="92400E"/>
                </a:solidFill>
                <a:latin typeface="Arial" pitchFamily="34" charset="0"/>
                <a:ea typeface="Arial" pitchFamily="34" charset="-122"/>
                <a:cs typeface="Arial" pitchFamily="34" charset="-120"/>
              </a:rPr>
              <a:t> When in doubt, assume cloud processing. Verify before sending sensitive data.</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DC2626"/>
          </a:solidFill>
          <a:ln/>
        </p:spPr>
        <p:txBody>
          <a:bodyPr wrap="square" rtlCol="0" anchor="ctr"/>
          <a:lstStyle/>
          <a:p>
            <a:pPr indent="0" marL="0">
              <a:buNone/>
            </a:pPr>
            <a:endParaRPr lang="en-US" dirty="0"/>
          </a:p>
        </p:txBody>
      </p:sp>
      <p:sp>
        <p:nvSpPr>
          <p:cNvPr id="3" name="Text 1"/>
          <p:cNvSpPr/>
          <p:nvPr/>
        </p:nvSpPr>
        <p:spPr>
          <a:xfrm>
            <a:off x="381000" y="1331714"/>
            <a:ext cx="762000" cy="762000"/>
          </a:xfrm>
          <a:prstGeom prst="rect">
            <a:avLst/>
          </a:prstGeom>
          <a:solidFill>
            <a:srgbClr val="FFFFFF"/>
          </a:solidFill>
          <a:ln/>
        </p:spPr>
        <p:txBody>
          <a:bodyPr wrap="square" rtlCol="0" anchor="ctr"/>
          <a:lstStyle/>
          <a:p>
            <a:pPr indent="0" marL="0">
              <a:buNone/>
            </a:pPr>
            <a:endParaRPr lang="en-US" dirty="0"/>
          </a:p>
        </p:txBody>
      </p:sp>
      <p:sp>
        <p:nvSpPr>
          <p:cNvPr id="4" name="Text 2"/>
          <p:cNvSpPr/>
          <p:nvPr/>
        </p:nvSpPr>
        <p:spPr>
          <a:xfrm>
            <a:off x="685800" y="1392734"/>
            <a:ext cx="155296" cy="639961"/>
          </a:xfrm>
          <a:prstGeom prst="rect">
            <a:avLst/>
          </a:prstGeom>
          <a:noFill/>
          <a:ln/>
        </p:spPr>
        <p:txBody>
          <a:bodyPr wrap="square" lIns="0" tIns="0" rIns="0" bIns="0" rtlCol="0" anchor="t"/>
          <a:lstStyle/>
          <a:p>
            <a:pPr algn="l" indent="0" marL="0">
              <a:lnSpc>
                <a:spcPts val="5040"/>
              </a:lnSpc>
              <a:buNone/>
            </a:pPr>
            <a:r>
              <a:rPr lang="en-US" sz="3600" b="1" dirty="0">
                <a:solidFill>
                  <a:srgbClr val="DC2626"/>
                </a:solidFill>
                <a:latin typeface="Georgia" pitchFamily="34" charset="0"/>
                <a:ea typeface="Georgia" pitchFamily="34" charset="-122"/>
                <a:cs typeface="Georgia" pitchFamily="34" charset="-120"/>
              </a:rPr>
              <a:t>!</a:t>
            </a:r>
            <a:endParaRPr lang="en-US" sz="3600" dirty="0"/>
          </a:p>
        </p:txBody>
      </p:sp>
      <p:sp>
        <p:nvSpPr>
          <p:cNvPr id="5" name="Text 3"/>
          <p:cNvSpPr/>
          <p:nvPr/>
        </p:nvSpPr>
        <p:spPr>
          <a:xfrm>
            <a:off x="381000" y="2436614"/>
            <a:ext cx="2370582" cy="319980"/>
          </a:xfrm>
          <a:prstGeom prst="rect">
            <a:avLst/>
          </a:prstGeom>
          <a:noFill/>
          <a:ln/>
        </p:spPr>
        <p:txBody>
          <a:bodyPr wrap="square" lIns="0" tIns="0" rIns="0" bIns="0" rtlCol="0" anchor="t"/>
          <a:lstStyle/>
          <a:p>
            <a:pPr algn="l" indent="0" marL="0">
              <a:lnSpc>
                <a:spcPts val="2520"/>
              </a:lnSpc>
              <a:spcAft>
                <a:spcPts val="1200"/>
              </a:spcAft>
              <a:buNone/>
            </a:pPr>
            <a:r>
              <a:rPr lang="en-US" sz="2100" dirty="0">
                <a:solidFill>
                  <a:srgbClr val="FFFFFF"/>
                </a:solidFill>
                <a:latin typeface="Georgia" pitchFamily="34" charset="0"/>
                <a:ea typeface="Georgia" pitchFamily="34" charset="-122"/>
                <a:cs typeface="Georgia" pitchFamily="34" charset="-120"/>
              </a:rPr>
              <a:t>PHI &amp; Sensitive Data</a:t>
            </a:r>
            <a:endParaRPr lang="en-US" sz="2100" dirty="0"/>
          </a:p>
        </p:txBody>
      </p:sp>
      <p:sp>
        <p:nvSpPr>
          <p:cNvPr id="6" name="Text 4"/>
          <p:cNvSpPr/>
          <p:nvPr/>
        </p:nvSpPr>
        <p:spPr>
          <a:xfrm>
            <a:off x="381000" y="3061395"/>
            <a:ext cx="457200" cy="19050"/>
          </a:xfrm>
          <a:prstGeom prst="rect">
            <a:avLst/>
          </a:prstGeom>
          <a:solidFill>
            <a:srgbClr val="FFFFFF"/>
          </a:solidFill>
          <a:ln/>
        </p:spPr>
        <p:txBody>
          <a:bodyPr wrap="square" rtlCol="0" anchor="ctr"/>
          <a:lstStyle/>
          <a:p>
            <a:pPr indent="0" marL="0">
              <a:buNone/>
            </a:pPr>
            <a:endParaRPr lang="en-US" dirty="0"/>
          </a:p>
        </p:txBody>
      </p:sp>
      <p:sp>
        <p:nvSpPr>
          <p:cNvPr id="7" name="Text 5"/>
          <p:cNvSpPr/>
          <p:nvPr/>
        </p:nvSpPr>
        <p:spPr>
          <a:xfrm>
            <a:off x="381000" y="3385245"/>
            <a:ext cx="3351392" cy="426541"/>
          </a:xfrm>
          <a:prstGeom prst="rect">
            <a:avLst/>
          </a:prstGeom>
          <a:noFill/>
          <a:ln/>
        </p:spPr>
        <p:txBody>
          <a:bodyPr wrap="square" lIns="0" tIns="0" rIns="0" bIns="0" rtlCol="0" anchor="t"/>
          <a:lstStyle/>
          <a:p>
            <a:pPr algn="l" indent="0" marL="0">
              <a:lnSpc>
                <a:spcPts val="1680"/>
              </a:lnSpc>
              <a:buNone/>
            </a:pPr>
            <a:r>
              <a:rPr lang="en-US" sz="1050" dirty="0">
                <a:solidFill>
                  <a:srgbClr val="FFFFFF">
                    <a:alpha val="90000"/>
                  </a:srgbClr>
                </a:solidFill>
                <a:latin typeface="Arial" pitchFamily="34" charset="0"/>
                <a:ea typeface="Arial" pitchFamily="34" charset="-122"/>
                <a:cs typeface="Arial" pitchFamily="34" charset="-120"/>
              </a:rPr>
              <a:t>Protected Health Information requires special handling. Know your boundaries.</a:t>
            </a:r>
            <a:endParaRPr lang="en-US" sz="1050" dirty="0"/>
          </a:p>
        </p:txBody>
      </p:sp>
      <p:sp>
        <p:nvSpPr>
          <p:cNvPr id="8" name="Text 6"/>
          <p:cNvSpPr/>
          <p:nvPr/>
        </p:nvSpPr>
        <p:spPr>
          <a:xfrm>
            <a:off x="4200079" y="0"/>
            <a:ext cx="4943921" cy="5143500"/>
          </a:xfrm>
          <a:prstGeom prst="rect">
            <a:avLst/>
          </a:prstGeom>
          <a:solidFill>
            <a:srgbClr val="F7F8FA"/>
          </a:solidFill>
          <a:ln/>
        </p:spPr>
        <p:txBody>
          <a:bodyPr wrap="square" rtlCol="0" anchor="ctr"/>
          <a:lstStyle/>
          <a:p>
            <a:pPr indent="0" marL="0">
              <a:buNone/>
            </a:pPr>
            <a:endParaRPr lang="en-US" dirty="0"/>
          </a:p>
        </p:txBody>
      </p:sp>
      <p:sp>
        <p:nvSpPr>
          <p:cNvPr id="9" name="Text 7"/>
          <p:cNvSpPr/>
          <p:nvPr/>
        </p:nvSpPr>
        <p:spPr>
          <a:xfrm>
            <a:off x="4581079" y="404366"/>
            <a:ext cx="4181921" cy="1331119"/>
          </a:xfrm>
          <a:prstGeom prst="rect">
            <a:avLst/>
          </a:prstGeom>
          <a:solidFill>
            <a:srgbClr val="059669"/>
          </a:solidFill>
          <a:ln/>
        </p:spPr>
        <p:txBody>
          <a:bodyPr wrap="square" rtlCol="0" anchor="ctr"/>
          <a:lstStyle/>
          <a:p>
            <a:pPr indent="0" marL="0">
              <a:buNone/>
            </a:pPr>
            <a:endParaRPr lang="en-US" dirty="0"/>
          </a:p>
        </p:txBody>
      </p:sp>
      <p:sp>
        <p:nvSpPr>
          <p:cNvPr id="10" name="Text 8"/>
          <p:cNvSpPr/>
          <p:nvPr/>
        </p:nvSpPr>
        <p:spPr>
          <a:xfrm>
            <a:off x="4733479" y="556766"/>
            <a:ext cx="3954664"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FFFFFF"/>
                </a:solidFill>
                <a:latin typeface="Arial" pitchFamily="34" charset="0"/>
                <a:ea typeface="Arial" pitchFamily="34" charset="-122"/>
                <a:cs typeface="Arial" pitchFamily="34" charset="-120"/>
              </a:rPr>
              <a:t>SAFE FOR PHI</a:t>
            </a:r>
            <a:endParaRPr lang="en-US" sz="975" dirty="0"/>
          </a:p>
        </p:txBody>
      </p:sp>
      <p:sp>
        <p:nvSpPr>
          <p:cNvPr id="11" name="Text 9"/>
          <p:cNvSpPr/>
          <p:nvPr/>
        </p:nvSpPr>
        <p:spPr>
          <a:xfrm>
            <a:off x="4733479" y="806202"/>
            <a:ext cx="3954664"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SuperWhisper / WhisperFlow (local processing)</a:t>
            </a:r>
            <a:endParaRPr lang="en-US" sz="900" dirty="0"/>
          </a:p>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Ollama with local models</a:t>
            </a:r>
            <a:endParaRPr lang="en-US" sz="900" dirty="0"/>
          </a:p>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Azure OpenAI with BAA in place*</a:t>
            </a:r>
            <a:endParaRPr lang="en-US" sz="900" dirty="0"/>
          </a:p>
          <a:p>
            <a:pPr algn="l" indent="0" marL="0">
              <a:lnSpc>
                <a:spcPts val="1530"/>
              </a:lnSpc>
              <a:buNone/>
            </a:pPr>
            <a:r>
              <a:rPr lang="en-US" sz="900" dirty="0">
                <a:solidFill>
                  <a:srgbClr val="FFFFFF">
                    <a:alpha val="90000"/>
                  </a:srgbClr>
                </a:solidFill>
                <a:latin typeface="Arial" pitchFamily="34" charset="0"/>
                <a:ea typeface="Arial" pitchFamily="34" charset="-122"/>
                <a:cs typeface="Arial" pitchFamily="34" charset="-120"/>
              </a:rPr>
              <a:t>Air-gapped systems</a:t>
            </a:r>
            <a:endParaRPr lang="en-US" sz="900" dirty="0"/>
          </a:p>
        </p:txBody>
      </p:sp>
      <p:sp>
        <p:nvSpPr>
          <p:cNvPr id="12" name="Text 10"/>
          <p:cNvSpPr/>
          <p:nvPr/>
        </p:nvSpPr>
        <p:spPr>
          <a:xfrm>
            <a:off x="4581079" y="1849785"/>
            <a:ext cx="4181921" cy="1331119"/>
          </a:xfrm>
          <a:prstGeom prst="rect">
            <a:avLst/>
          </a:prstGeom>
          <a:solidFill>
            <a:srgbClr val="FEF2F2"/>
          </a:solidFill>
          <a:ln/>
        </p:spPr>
        <p:txBody>
          <a:bodyPr wrap="square" rtlCol="0" anchor="ctr"/>
          <a:lstStyle/>
          <a:p>
            <a:pPr indent="0" marL="0">
              <a:buNone/>
            </a:pPr>
            <a:endParaRPr lang="en-US" dirty="0"/>
          </a:p>
        </p:txBody>
      </p:sp>
      <p:sp>
        <p:nvSpPr>
          <p:cNvPr id="13" name="Shape 11"/>
          <p:cNvSpPr/>
          <p:nvPr/>
        </p:nvSpPr>
        <p:spPr>
          <a:xfrm>
            <a:off x="4600129" y="1849785"/>
            <a:ext cx="0" cy="1331119"/>
          </a:xfrm>
          <a:prstGeom prst="line">
            <a:avLst/>
          </a:prstGeom>
          <a:noFill/>
          <a:ln w="38100">
            <a:solidFill>
              <a:srgbClr val="DC2626"/>
            </a:solidFill>
            <a:prstDash val="solid"/>
          </a:ln>
        </p:spPr>
      </p:sp>
      <p:sp>
        <p:nvSpPr>
          <p:cNvPr id="14" name="Text 12"/>
          <p:cNvSpPr/>
          <p:nvPr/>
        </p:nvSpPr>
        <p:spPr>
          <a:xfrm>
            <a:off x="4771579" y="2002185"/>
            <a:ext cx="3915802"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991B1B"/>
                </a:solidFill>
                <a:latin typeface="Arial" pitchFamily="34" charset="0"/>
                <a:ea typeface="Arial" pitchFamily="34" charset="-122"/>
                <a:cs typeface="Arial" pitchFamily="34" charset="-120"/>
              </a:rPr>
              <a:t>NOT SAFE FOR PHI (without approval)</a:t>
            </a:r>
            <a:endParaRPr lang="en-US" sz="975" dirty="0"/>
          </a:p>
        </p:txBody>
      </p:sp>
      <p:sp>
        <p:nvSpPr>
          <p:cNvPr id="15" name="Text 13"/>
          <p:cNvSpPr/>
          <p:nvPr/>
        </p:nvSpPr>
        <p:spPr>
          <a:xfrm>
            <a:off x="4771579" y="2251621"/>
            <a:ext cx="3915802" cy="776883"/>
          </a:xfrm>
          <a:prstGeom prst="rect">
            <a:avLst/>
          </a:prstGeom>
          <a:noFill/>
          <a:ln/>
        </p:spPr>
        <p:txBody>
          <a:bodyPr wrap="square" lIns="0" tIns="0" rIns="0" bIns="0" rtlCol="0" anchor="t"/>
          <a:lstStyle/>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Direct OpenAI/Anthropic API calls</a:t>
            </a:r>
            <a:endParaRPr lang="en-US" sz="900" dirty="0"/>
          </a:p>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Consumer AI tools (ChatGPT, Claude.ai free)</a:t>
            </a:r>
            <a:endParaRPr lang="en-US" sz="900" dirty="0"/>
          </a:p>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Cloud-based dictation (default OS settings)</a:t>
            </a:r>
            <a:endParaRPr lang="en-US" sz="900" dirty="0"/>
          </a:p>
          <a:p>
            <a:pPr algn="l" indent="0" marL="0">
              <a:lnSpc>
                <a:spcPts val="1530"/>
              </a:lnSpc>
              <a:buNone/>
            </a:pPr>
            <a:r>
              <a:rPr lang="en-US" sz="900" dirty="0">
                <a:solidFill>
                  <a:srgbClr val="991B1B"/>
                </a:solidFill>
                <a:latin typeface="Arial" pitchFamily="34" charset="0"/>
                <a:ea typeface="Arial" pitchFamily="34" charset="-122"/>
                <a:cs typeface="Arial" pitchFamily="34" charset="-120"/>
              </a:rPr>
              <a:t>Third-party integrations</a:t>
            </a:r>
            <a:endParaRPr lang="en-US" sz="900" dirty="0"/>
          </a:p>
        </p:txBody>
      </p:sp>
      <p:sp>
        <p:nvSpPr>
          <p:cNvPr id="16" name="Text 14"/>
          <p:cNvSpPr/>
          <p:nvPr/>
        </p:nvSpPr>
        <p:spPr>
          <a:xfrm>
            <a:off x="4581079" y="3295204"/>
            <a:ext cx="4181921" cy="916186"/>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7" name="Text 15"/>
          <p:cNvSpPr/>
          <p:nvPr/>
        </p:nvSpPr>
        <p:spPr>
          <a:xfrm>
            <a:off x="4743004" y="3457129"/>
            <a:ext cx="3935233" cy="173236"/>
          </a:xfrm>
          <a:prstGeom prst="rect">
            <a:avLst/>
          </a:prstGeom>
          <a:noFill/>
          <a:ln/>
        </p:spPr>
        <p:txBody>
          <a:bodyPr wrap="square" lIns="0" tIns="0" rIns="0" bIns="0" rtlCol="0" anchor="t"/>
          <a:lstStyle/>
          <a:p>
            <a:pPr algn="l" indent="0" marL="0">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PHI INCLUDES</a:t>
            </a:r>
            <a:endParaRPr lang="en-US" sz="975" dirty="0"/>
          </a:p>
        </p:txBody>
      </p:sp>
      <p:sp>
        <p:nvSpPr>
          <p:cNvPr id="18" name="Text 16"/>
          <p:cNvSpPr/>
          <p:nvPr/>
        </p:nvSpPr>
        <p:spPr>
          <a:xfrm>
            <a:off x="4743004" y="3706564"/>
            <a:ext cx="3935233" cy="342900"/>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Arial" pitchFamily="34" charset="0"/>
                <a:ea typeface="Arial" pitchFamily="34" charset="-122"/>
                <a:cs typeface="Arial" pitchFamily="34" charset="-120"/>
              </a:rPr>
              <a:t>Names, dates, addresses, SSN, medical record numbers, health conditions, test results, provider information, any data that could identify a patient</a:t>
            </a:r>
            <a:endParaRPr lang="en-US" sz="900" dirty="0"/>
          </a:p>
        </p:txBody>
      </p:sp>
      <p:sp>
        <p:nvSpPr>
          <p:cNvPr id="19" name="Text 17"/>
          <p:cNvSpPr/>
          <p:nvPr/>
        </p:nvSpPr>
        <p:spPr>
          <a:xfrm>
            <a:off x="4581079" y="4325689"/>
            <a:ext cx="4181921" cy="413296"/>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4675276" y="4459039"/>
            <a:ext cx="3993526" cy="146596"/>
          </a:xfrm>
          <a:prstGeom prst="rect">
            <a:avLst/>
          </a:prstGeom>
          <a:noFill/>
          <a:ln/>
        </p:spPr>
        <p:txBody>
          <a:bodyPr wrap="square" lIns="0" tIns="0" rIns="0" bIns="0" rtlCol="0" anchor="t"/>
          <a:lstStyle/>
          <a:p>
            <a:pPr algn="ctr" indent="0" marL="0">
              <a:lnSpc>
                <a:spcPts val="1155"/>
              </a:lnSpc>
              <a:buNone/>
            </a:pPr>
            <a:r>
              <a:rPr lang="en-US" sz="825" dirty="0">
                <a:solidFill>
                  <a:srgbClr val="C9A227"/>
                </a:solidFill>
                <a:latin typeface="Arial" pitchFamily="34" charset="0"/>
                <a:ea typeface="Arial" pitchFamily="34" charset="-122"/>
                <a:cs typeface="Arial" pitchFamily="34" charset="-120"/>
              </a:rPr>
              <a:t>*Always verify BAA status with your compliance team before use</a:t>
            </a:r>
            <a:endParaRPr lang="en-US" sz="8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1F2E"/>
        </a:solidFill>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DC2626"/>
                </a:solidFill>
                <a:latin typeface="Arial" pitchFamily="34" charset="0"/>
                <a:ea typeface="Arial" pitchFamily="34" charset="-122"/>
                <a:cs typeface="Arial" pitchFamily="34" charset="-120"/>
              </a:rPr>
              <a:t>WARNINGS</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algn="l" indent="0" marL="0">
              <a:lnSpc>
                <a:spcPts val="2400"/>
              </a:lnSpc>
              <a:buNone/>
            </a:pPr>
            <a:r>
              <a:rPr lang="en-US" sz="2400" dirty="0">
                <a:solidFill>
                  <a:srgbClr val="FFFFFF"/>
                </a:solidFill>
                <a:latin typeface="Georgia" pitchFamily="34" charset="0"/>
                <a:ea typeface="Georgia" pitchFamily="34" charset="-122"/>
                <a:cs typeface="Georgia" pitchFamily="34" charset="-120"/>
              </a:rPr>
              <a:t>What NOT to Do with AI Tools</a:t>
            </a:r>
            <a:endParaRPr lang="en-US" sz="2400" dirty="0"/>
          </a:p>
        </p:txBody>
      </p:sp>
      <p:sp>
        <p:nvSpPr>
          <p:cNvPr id="4" name="Text 2"/>
          <p:cNvSpPr/>
          <p:nvPr/>
        </p:nvSpPr>
        <p:spPr>
          <a:xfrm>
            <a:off x="457200" y="1134814"/>
            <a:ext cx="2803029" cy="3706416"/>
          </a:xfrm>
          <a:prstGeom prst="rect">
            <a:avLst/>
          </a:prstGeom>
          <a:solidFill>
            <a:srgbClr val="FEF2F2"/>
          </a:solidFill>
          <a:ln/>
        </p:spPr>
        <p:txBody>
          <a:bodyPr wrap="square" rtlCol="0" anchor="ctr"/>
          <a:lstStyle/>
          <a:p>
            <a:pPr indent="0" marL="0">
              <a:buNone/>
            </a:pPr>
            <a:endParaRPr lang="en-US" dirty="0"/>
          </a:p>
        </p:txBody>
      </p:sp>
      <p:sp>
        <p:nvSpPr>
          <p:cNvPr id="5" name="Text 3"/>
          <p:cNvSpPr/>
          <p:nvPr/>
        </p:nvSpPr>
        <p:spPr>
          <a:xfrm>
            <a:off x="647700" y="1325314"/>
            <a:ext cx="2470469"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DC2626"/>
                </a:solidFill>
                <a:latin typeface="Arial" pitchFamily="34" charset="0"/>
                <a:ea typeface="Arial" pitchFamily="34" charset="-122"/>
                <a:cs typeface="Arial" pitchFamily="34" charset="-120"/>
              </a:rPr>
              <a:t>NEVER DO THIS</a:t>
            </a:r>
            <a:endParaRPr lang="en-US" sz="975" dirty="0"/>
          </a:p>
        </p:txBody>
      </p:sp>
      <p:sp>
        <p:nvSpPr>
          <p:cNvPr id="6" name="Text 4"/>
          <p:cNvSpPr/>
          <p:nvPr/>
        </p:nvSpPr>
        <p:spPr>
          <a:xfrm>
            <a:off x="647700" y="1784300"/>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Paste PHI into public AI tools</a:t>
            </a:r>
            <a:endParaRPr lang="en-US" sz="900" dirty="0"/>
          </a:p>
        </p:txBody>
      </p:sp>
      <p:sp>
        <p:nvSpPr>
          <p:cNvPr id="7" name="Text 5"/>
          <p:cNvSpPr/>
          <p:nvPr/>
        </p:nvSpPr>
        <p:spPr>
          <a:xfrm>
            <a:off x="647700" y="1982391"/>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ChatGPT, Claude.ai free tier, etc.</a:t>
            </a:r>
            <a:endParaRPr lang="en-US" sz="825" dirty="0"/>
          </a:p>
        </p:txBody>
      </p:sp>
      <p:sp>
        <p:nvSpPr>
          <p:cNvPr id="8" name="Text 6"/>
          <p:cNvSpPr/>
          <p:nvPr/>
        </p:nvSpPr>
        <p:spPr>
          <a:xfrm>
            <a:off x="647700" y="2414736"/>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Include real patient data in prompts</a:t>
            </a:r>
            <a:endParaRPr lang="en-US" sz="900" dirty="0"/>
          </a:p>
        </p:txBody>
      </p:sp>
      <p:sp>
        <p:nvSpPr>
          <p:cNvPr id="9" name="Text 7"/>
          <p:cNvSpPr/>
          <p:nvPr/>
        </p:nvSpPr>
        <p:spPr>
          <a:xfrm>
            <a:off x="647700" y="2612827"/>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Even for "testing" purposes</a:t>
            </a:r>
            <a:endParaRPr lang="en-US" sz="825" dirty="0"/>
          </a:p>
        </p:txBody>
      </p:sp>
      <p:sp>
        <p:nvSpPr>
          <p:cNvPr id="10" name="Text 8"/>
          <p:cNvSpPr/>
          <p:nvPr/>
        </p:nvSpPr>
        <p:spPr>
          <a:xfrm>
            <a:off x="647700" y="3045172"/>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Use cloud dictation for PHI</a:t>
            </a:r>
            <a:endParaRPr lang="en-US" sz="900" dirty="0"/>
          </a:p>
        </p:txBody>
      </p:sp>
      <p:sp>
        <p:nvSpPr>
          <p:cNvPr id="11" name="Text 9"/>
          <p:cNvSpPr/>
          <p:nvPr/>
        </p:nvSpPr>
        <p:spPr>
          <a:xfrm>
            <a:off x="647700" y="3243263"/>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Default OS dictation sends to cloud</a:t>
            </a:r>
            <a:endParaRPr lang="en-US" sz="825" dirty="0"/>
          </a:p>
        </p:txBody>
      </p:sp>
      <p:sp>
        <p:nvSpPr>
          <p:cNvPr id="12" name="Text 10"/>
          <p:cNvSpPr/>
          <p:nvPr/>
        </p:nvSpPr>
        <p:spPr>
          <a:xfrm>
            <a:off x="647700" y="3675608"/>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Share API keys or credentials</a:t>
            </a:r>
            <a:endParaRPr lang="en-US" sz="900" dirty="0"/>
          </a:p>
        </p:txBody>
      </p:sp>
      <p:sp>
        <p:nvSpPr>
          <p:cNvPr id="13" name="Text 11"/>
          <p:cNvSpPr/>
          <p:nvPr/>
        </p:nvSpPr>
        <p:spPr>
          <a:xfrm>
            <a:off x="647700" y="3873698"/>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In code, prompts, or conversations</a:t>
            </a:r>
            <a:endParaRPr lang="en-US" sz="825" dirty="0"/>
          </a:p>
        </p:txBody>
      </p:sp>
      <p:sp>
        <p:nvSpPr>
          <p:cNvPr id="14" name="Text 12"/>
          <p:cNvSpPr/>
          <p:nvPr/>
        </p:nvSpPr>
        <p:spPr>
          <a:xfrm>
            <a:off x="647700" y="4306044"/>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Assume "private" means compliant</a:t>
            </a:r>
            <a:endParaRPr lang="en-US" sz="900" dirty="0"/>
          </a:p>
        </p:txBody>
      </p:sp>
      <p:sp>
        <p:nvSpPr>
          <p:cNvPr id="15" name="Text 13"/>
          <p:cNvSpPr/>
          <p:nvPr/>
        </p:nvSpPr>
        <p:spPr>
          <a:xfrm>
            <a:off x="647700" y="4504134"/>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Verify with IT/compliance first</a:t>
            </a:r>
            <a:endParaRPr lang="en-US" sz="825" dirty="0"/>
          </a:p>
        </p:txBody>
      </p:sp>
      <p:sp>
        <p:nvSpPr>
          <p:cNvPr id="16" name="Text 14"/>
          <p:cNvSpPr/>
          <p:nvPr/>
        </p:nvSpPr>
        <p:spPr>
          <a:xfrm>
            <a:off x="3412629" y="1134814"/>
            <a:ext cx="2803029" cy="3706416"/>
          </a:xfrm>
          <a:prstGeom prst="rect">
            <a:avLst/>
          </a:prstGeom>
          <a:solidFill>
            <a:srgbClr val="DCFCE7"/>
          </a:solidFill>
          <a:ln/>
        </p:spPr>
        <p:txBody>
          <a:bodyPr wrap="square" rtlCol="0" anchor="ctr"/>
          <a:lstStyle/>
          <a:p>
            <a:pPr indent="0" marL="0">
              <a:buNone/>
            </a:pPr>
            <a:endParaRPr lang="en-US" dirty="0"/>
          </a:p>
        </p:txBody>
      </p:sp>
      <p:sp>
        <p:nvSpPr>
          <p:cNvPr id="17" name="Text 15"/>
          <p:cNvSpPr/>
          <p:nvPr/>
        </p:nvSpPr>
        <p:spPr>
          <a:xfrm>
            <a:off x="3603129" y="1325314"/>
            <a:ext cx="2470469"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059669"/>
                </a:solidFill>
                <a:latin typeface="Arial" pitchFamily="34" charset="0"/>
                <a:ea typeface="Arial" pitchFamily="34" charset="-122"/>
                <a:cs typeface="Arial" pitchFamily="34" charset="-120"/>
              </a:rPr>
              <a:t>DO THIS INSTEAD</a:t>
            </a:r>
            <a:endParaRPr lang="en-US" sz="975" dirty="0"/>
          </a:p>
        </p:txBody>
      </p:sp>
      <p:sp>
        <p:nvSpPr>
          <p:cNvPr id="18" name="Text 16"/>
          <p:cNvSpPr/>
          <p:nvPr/>
        </p:nvSpPr>
        <p:spPr>
          <a:xfrm>
            <a:off x="3603129" y="1784300"/>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approved enterprise tools</a:t>
            </a:r>
            <a:endParaRPr lang="en-US" sz="900" dirty="0"/>
          </a:p>
        </p:txBody>
      </p:sp>
      <p:sp>
        <p:nvSpPr>
          <p:cNvPr id="19" name="Text 17"/>
          <p:cNvSpPr/>
          <p:nvPr/>
        </p:nvSpPr>
        <p:spPr>
          <a:xfrm>
            <a:off x="3603129" y="1982391"/>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Azure OpenAI, Palantir Foundry</a:t>
            </a:r>
            <a:endParaRPr lang="en-US" sz="825" dirty="0"/>
          </a:p>
        </p:txBody>
      </p:sp>
      <p:sp>
        <p:nvSpPr>
          <p:cNvPr id="20" name="Text 18"/>
          <p:cNvSpPr/>
          <p:nvPr/>
        </p:nvSpPr>
        <p:spPr>
          <a:xfrm>
            <a:off x="3603129" y="2414736"/>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synthetic or anonymized data</a:t>
            </a:r>
            <a:endParaRPr lang="en-US" sz="900" dirty="0"/>
          </a:p>
        </p:txBody>
      </p:sp>
      <p:sp>
        <p:nvSpPr>
          <p:cNvPr id="21" name="Text 19"/>
          <p:cNvSpPr/>
          <p:nvPr/>
        </p:nvSpPr>
        <p:spPr>
          <a:xfrm>
            <a:off x="3603129" y="2612827"/>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For testing and development</a:t>
            </a:r>
            <a:endParaRPr lang="en-US" sz="825" dirty="0"/>
          </a:p>
        </p:txBody>
      </p:sp>
      <p:sp>
        <p:nvSpPr>
          <p:cNvPr id="22" name="Text 20"/>
          <p:cNvSpPr/>
          <p:nvPr/>
        </p:nvSpPr>
        <p:spPr>
          <a:xfrm>
            <a:off x="3603129" y="3045172"/>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local voice transcription</a:t>
            </a:r>
            <a:endParaRPr lang="en-US" sz="900" dirty="0"/>
          </a:p>
        </p:txBody>
      </p:sp>
      <p:sp>
        <p:nvSpPr>
          <p:cNvPr id="23" name="Text 21"/>
          <p:cNvSpPr/>
          <p:nvPr/>
        </p:nvSpPr>
        <p:spPr>
          <a:xfrm>
            <a:off x="3603129" y="3243263"/>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SuperWhisper, WhisperFlow</a:t>
            </a:r>
            <a:endParaRPr lang="en-US" sz="825" dirty="0"/>
          </a:p>
        </p:txBody>
      </p:sp>
      <p:sp>
        <p:nvSpPr>
          <p:cNvPr id="24" name="Text 22"/>
          <p:cNvSpPr/>
          <p:nvPr/>
        </p:nvSpPr>
        <p:spPr>
          <a:xfrm>
            <a:off x="3603129" y="3675608"/>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environment variables</a:t>
            </a:r>
            <a:endParaRPr lang="en-US" sz="900" dirty="0"/>
          </a:p>
        </p:txBody>
      </p:sp>
      <p:sp>
        <p:nvSpPr>
          <p:cNvPr id="25" name="Text 23"/>
          <p:cNvSpPr/>
          <p:nvPr/>
        </p:nvSpPr>
        <p:spPr>
          <a:xfrm>
            <a:off x="3603129" y="3873698"/>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Never hardcode credentials</a:t>
            </a:r>
            <a:endParaRPr lang="en-US" sz="825" dirty="0"/>
          </a:p>
        </p:txBody>
      </p:sp>
      <p:sp>
        <p:nvSpPr>
          <p:cNvPr id="26" name="Text 24"/>
          <p:cNvSpPr/>
          <p:nvPr/>
        </p:nvSpPr>
        <p:spPr>
          <a:xfrm>
            <a:off x="3603129" y="4306044"/>
            <a:ext cx="2470469"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Verify compliance before use</a:t>
            </a:r>
            <a:endParaRPr lang="en-US" sz="900" dirty="0"/>
          </a:p>
        </p:txBody>
      </p:sp>
      <p:sp>
        <p:nvSpPr>
          <p:cNvPr id="27" name="Text 25"/>
          <p:cNvSpPr/>
          <p:nvPr/>
        </p:nvSpPr>
        <p:spPr>
          <a:xfrm>
            <a:off x="3603129" y="4504134"/>
            <a:ext cx="2470469" cy="146596"/>
          </a:xfrm>
          <a:prstGeom prst="rect">
            <a:avLst/>
          </a:prstGeom>
          <a:noFill/>
          <a:ln/>
        </p:spPr>
        <p:txBody>
          <a:bodyPr wrap="square" lIns="0" tIns="0" rIns="0" bIns="0" rtlCol="0" anchor="t"/>
          <a:lstStyle/>
          <a:p>
            <a:pPr algn="l" indent="0" marL="0">
              <a:lnSpc>
                <a:spcPts val="1155"/>
              </a:lnSpc>
              <a:buNone/>
            </a:pPr>
            <a:r>
              <a:rPr lang="en-US" sz="825" dirty="0">
                <a:solidFill>
                  <a:srgbClr val="6B7280"/>
                </a:solidFill>
                <a:latin typeface="Arial" pitchFamily="34" charset="0"/>
                <a:ea typeface="Arial" pitchFamily="34" charset="-122"/>
                <a:cs typeface="Arial" pitchFamily="34" charset="-120"/>
              </a:rPr>
              <a:t>Check with IT security team</a:t>
            </a:r>
            <a:endParaRPr lang="en-US" sz="825" dirty="0"/>
          </a:p>
        </p:txBody>
      </p:sp>
      <p:sp>
        <p:nvSpPr>
          <p:cNvPr id="28" name="Text 26"/>
          <p:cNvSpPr/>
          <p:nvPr/>
        </p:nvSpPr>
        <p:spPr>
          <a:xfrm>
            <a:off x="6368058" y="1476524"/>
            <a:ext cx="2318593" cy="3022848"/>
          </a:xfrm>
          <a:prstGeom prst="rect">
            <a:avLst/>
          </a:prstGeom>
          <a:solidFill>
            <a:srgbClr val="252B3D"/>
          </a:solidFill>
          <a:ln/>
        </p:spPr>
        <p:txBody>
          <a:bodyPr wrap="square" rtlCol="0" anchor="ctr"/>
          <a:lstStyle/>
          <a:p>
            <a:pPr indent="0" marL="0">
              <a:buNone/>
            </a:pPr>
            <a:endParaRPr lang="en-US" dirty="0"/>
          </a:p>
        </p:txBody>
      </p:sp>
      <p:sp>
        <p:nvSpPr>
          <p:cNvPr id="29" name="Text 27"/>
          <p:cNvSpPr/>
          <p:nvPr/>
        </p:nvSpPr>
        <p:spPr>
          <a:xfrm>
            <a:off x="6558558" y="1667024"/>
            <a:ext cx="1976345" cy="173236"/>
          </a:xfrm>
          <a:prstGeom prst="rect">
            <a:avLst/>
          </a:prstGeom>
          <a:noFill/>
          <a:ln/>
        </p:spPr>
        <p:txBody>
          <a:bodyPr wrap="square" lIns="0" tIns="0" rIns="0" bIns="0" rtlCol="0" anchor="t"/>
          <a:lstStyle/>
          <a:p>
            <a:pPr algn="l" indent="0" marL="0">
              <a:lnSpc>
                <a:spcPts val="1365"/>
              </a:lnSpc>
              <a:spcAft>
                <a:spcPts val="1200"/>
              </a:spcAft>
              <a:buNone/>
            </a:pPr>
            <a:r>
              <a:rPr lang="en-US" sz="975" b="1" dirty="0">
                <a:solidFill>
                  <a:srgbClr val="C9A227"/>
                </a:solidFill>
                <a:latin typeface="Arial" pitchFamily="34" charset="0"/>
                <a:ea typeface="Arial" pitchFamily="34" charset="-122"/>
                <a:cs typeface="Arial" pitchFamily="34" charset="-120"/>
              </a:rPr>
              <a:t>REMEMBER</a:t>
            </a:r>
            <a:endParaRPr lang="en-US" sz="975" dirty="0"/>
          </a:p>
        </p:txBody>
      </p:sp>
      <p:sp>
        <p:nvSpPr>
          <p:cNvPr id="30" name="Text 28"/>
          <p:cNvSpPr/>
          <p:nvPr/>
        </p:nvSpPr>
        <p:spPr>
          <a:xfrm>
            <a:off x="6558558" y="2145060"/>
            <a:ext cx="1937593" cy="904875"/>
          </a:xfrm>
          <a:prstGeom prst="rect">
            <a:avLst/>
          </a:prstGeom>
          <a:solidFill>
            <a:srgbClr val="1A1F2E"/>
          </a:solidFill>
          <a:ln/>
        </p:spPr>
        <p:txBody>
          <a:bodyPr wrap="square" rtlCol="0" anchor="ctr"/>
          <a:lstStyle/>
          <a:p>
            <a:pPr indent="0" marL="0">
              <a:buNone/>
            </a:pPr>
            <a:endParaRPr lang="en-US" dirty="0"/>
          </a:p>
        </p:txBody>
      </p:sp>
      <p:sp>
        <p:nvSpPr>
          <p:cNvPr id="31" name="Text 29"/>
          <p:cNvSpPr/>
          <p:nvPr/>
        </p:nvSpPr>
        <p:spPr>
          <a:xfrm>
            <a:off x="6710958" y="2297460"/>
            <a:ext cx="1665449" cy="600075"/>
          </a:xfrm>
          <a:prstGeom prst="rect">
            <a:avLst/>
          </a:prstGeom>
          <a:noFill/>
          <a:ln/>
        </p:spPr>
        <p:txBody>
          <a:bodyPr wrap="square" lIns="0" tIns="0" rIns="0" bIns="0" rtlCol="0" anchor="t"/>
          <a:lstStyle/>
          <a:p>
            <a:pPr algn="l" indent="0" marL="0">
              <a:lnSpc>
                <a:spcPts val="1575"/>
              </a:lnSpc>
              <a:buNone/>
            </a:pPr>
            <a:r>
              <a:rPr lang="en-US" sz="1050" dirty="0">
                <a:solidFill>
                  <a:srgbClr val="FFFFFF"/>
                </a:solidFill>
                <a:latin typeface="Georgia" pitchFamily="34" charset="0"/>
                <a:ea typeface="Georgia" pitchFamily="34" charset="-122"/>
                <a:cs typeface="Georgia" pitchFamily="34" charset="-120"/>
              </a:rPr>
              <a:t>"If you wouldn't print it and leave it on a public printer, don't paste it into a public AI."</a:t>
            </a:r>
            <a:endParaRPr lang="en-US" sz="1050" dirty="0"/>
          </a:p>
        </p:txBody>
      </p:sp>
      <p:sp>
        <p:nvSpPr>
          <p:cNvPr id="32" name="Text 30"/>
          <p:cNvSpPr/>
          <p:nvPr/>
        </p:nvSpPr>
        <p:spPr>
          <a:xfrm>
            <a:off x="6558558" y="3354735"/>
            <a:ext cx="1976345" cy="502741"/>
          </a:xfrm>
          <a:prstGeom prst="rect">
            <a:avLst/>
          </a:prstGeom>
          <a:noFill/>
          <a:ln/>
        </p:spPr>
        <p:txBody>
          <a:bodyPr wrap="square" lIns="0" tIns="0" rIns="0" bIns="0" rtlCol="0" anchor="t"/>
          <a:lstStyle/>
          <a:p>
            <a:pPr algn="l" indent="0" marL="0">
              <a:lnSpc>
                <a:spcPts val="1320"/>
              </a:lnSpc>
              <a:buNone/>
            </a:pPr>
            <a:r>
              <a:rPr lang="en-US" sz="825" dirty="0">
                <a:solidFill>
                  <a:srgbClr val="FFFFFF">
                    <a:alpha val="60000"/>
                  </a:srgbClr>
                </a:solidFill>
                <a:latin typeface="Arial" pitchFamily="34" charset="0"/>
                <a:ea typeface="Arial" pitchFamily="34" charset="-122"/>
                <a:cs typeface="Arial" pitchFamily="34" charset="-120"/>
              </a:rPr>
              <a:t>The convenience of AI tools doesn't change our responsibility to protect sensitive data.</a:t>
            </a:r>
            <a:endParaRPr lang="en-US" sz="825" dirty="0"/>
          </a:p>
        </p:txBody>
      </p:sp>
      <p:sp>
        <p:nvSpPr>
          <p:cNvPr id="33" name="Text 31"/>
          <p:cNvSpPr/>
          <p:nvPr/>
        </p:nvSpPr>
        <p:spPr>
          <a:xfrm>
            <a:off x="6558558" y="4162276"/>
            <a:ext cx="1976345" cy="146596"/>
          </a:xfrm>
          <a:prstGeom prst="rect">
            <a:avLst/>
          </a:prstGeom>
          <a:noFill/>
          <a:ln/>
        </p:spPr>
        <p:txBody>
          <a:bodyPr wrap="square" lIns="0" tIns="0" rIns="0" bIns="0" rtlCol="0" anchor="t"/>
          <a:lstStyle/>
          <a:p>
            <a:pPr algn="l" indent="0" marL="0">
              <a:lnSpc>
                <a:spcPts val="1155"/>
              </a:lnSpc>
              <a:buNone/>
            </a:pPr>
            <a:r>
              <a:rPr lang="en-US" sz="825" dirty="0">
                <a:solidFill>
                  <a:srgbClr val="C9A227"/>
                </a:solidFill>
                <a:latin typeface="Arial" pitchFamily="34" charset="0"/>
                <a:ea typeface="Arial" pitchFamily="34" charset="-122"/>
                <a:cs typeface="Arial" pitchFamily="34" charset="-120"/>
              </a:rPr>
              <a:t>When in doubt, ask IT Security</a:t>
            </a:r>
            <a:endParaRPr lang="en-US" sz="8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1529804"/>
            <a:ext cx="1182407" cy="186630"/>
          </a:xfrm>
          <a:prstGeom prst="rect">
            <a:avLst/>
          </a:prstGeom>
          <a:noFill/>
          <a:ln/>
        </p:spPr>
        <p:txBody>
          <a:bodyPr wrap="square" lIns="0" tIns="0" rIns="0" bIns="0" rtlCol="0" anchor="t"/>
          <a:lstStyle/>
          <a:p>
            <a:pPr algn="ctr" indent="0" marL="0">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09</a:t>
            </a:r>
            <a:endParaRPr lang="en-US" sz="1050" dirty="0"/>
          </a:p>
        </p:txBody>
      </p:sp>
      <p:sp>
        <p:nvSpPr>
          <p:cNvPr id="3" name="Text 1"/>
          <p:cNvSpPr/>
          <p:nvPr/>
        </p:nvSpPr>
        <p:spPr>
          <a:xfrm>
            <a:off x="3470355" y="2097435"/>
            <a:ext cx="2203141" cy="495300"/>
          </a:xfrm>
          <a:prstGeom prst="rect">
            <a:avLst/>
          </a:prstGeom>
          <a:noFill/>
          <a:ln/>
        </p:spPr>
        <p:txBody>
          <a:bodyPr wrap="square" lIns="0" tIns="0" rIns="0" bIns="0" rtlCol="0" anchor="t"/>
          <a:lstStyle/>
          <a:p>
            <a:pPr algn="ctr" indent="0" marL="0">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Next Steps</a:t>
            </a:r>
            <a:endParaRPr lang="en-US" sz="3900" dirty="0"/>
          </a:p>
        </p:txBody>
      </p:sp>
      <p:sp>
        <p:nvSpPr>
          <p:cNvPr id="4" name="Text 2"/>
          <p:cNvSpPr/>
          <p:nvPr/>
        </p:nvSpPr>
        <p:spPr>
          <a:xfrm>
            <a:off x="3808879" y="2897535"/>
            <a:ext cx="1526093" cy="239911"/>
          </a:xfrm>
          <a:prstGeom prst="rect">
            <a:avLst/>
          </a:prstGeom>
          <a:noFill/>
          <a:ln/>
        </p:spPr>
        <p:txBody>
          <a:bodyPr wrap="square" lIns="0" tIns="0" rIns="0" bIns="0" rtlCol="0" anchor="t"/>
          <a:lstStyle/>
          <a:p>
            <a:pPr algn="ctr" indent="0" marL="0">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Preparing for Part 2</a:t>
            </a:r>
            <a:endParaRPr lang="en-US" sz="1350" dirty="0"/>
          </a:p>
        </p:txBody>
      </p:sp>
      <p:sp>
        <p:nvSpPr>
          <p:cNvPr id="5" name="Text 3"/>
          <p:cNvSpPr/>
          <p:nvPr/>
        </p:nvSpPr>
        <p:spPr>
          <a:xfrm>
            <a:off x="4191000" y="3594646"/>
            <a:ext cx="762000" cy="1905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91202" y="4678710"/>
            <a:ext cx="505510" cy="159990"/>
          </a:xfrm>
          <a:prstGeom prst="rect">
            <a:avLst/>
          </a:prstGeom>
          <a:noFill/>
          <a:ln/>
        </p:spPr>
        <p:txBody>
          <a:bodyPr wrap="square" lIns="0" tIns="0" rIns="0" bIns="0" rtlCol="0" anchor="t"/>
          <a:lstStyle/>
          <a:p>
            <a:pPr algn="l" indent="0" marL="0">
              <a:lnSpc>
                <a:spcPts val="1260"/>
              </a:lnSpc>
              <a:buNone/>
            </a:pPr>
            <a:r>
              <a:rPr lang="en-US" sz="900" dirty="0">
                <a:solidFill>
                  <a:srgbClr val="FFFFFF">
                    <a:alpha val="30000"/>
                  </a:srgbClr>
                </a:solidFill>
                <a:latin typeface="Arial" pitchFamily="34" charset="0"/>
                <a:ea typeface="Arial" pitchFamily="34" charset="-122"/>
                <a:cs typeface="Arial" pitchFamily="34" charset="-120"/>
              </a:rPr>
              <a:t>5 minutes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indent="0" marL="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algn="l" indent="0" marL="0">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HOMEWORK</a:t>
            </a:r>
            <a:endParaRPr lang="en-US" sz="825" dirty="0"/>
          </a:p>
        </p:txBody>
      </p:sp>
      <p:sp>
        <p:nvSpPr>
          <p:cNvPr id="4" name="Text 2"/>
          <p:cNvSpPr/>
          <p:nvPr/>
        </p:nvSpPr>
        <p:spPr>
          <a:xfrm>
            <a:off x="381000" y="1835497"/>
            <a:ext cx="1457325" cy="822722"/>
          </a:xfrm>
          <a:prstGeom prst="rect">
            <a:avLst/>
          </a:prstGeom>
          <a:noFill/>
          <a:ln/>
        </p:spPr>
        <p:txBody>
          <a:bodyPr wrap="square" lIns="0" tIns="0" rIns="0" bIns="0" rtlCol="0" anchor="t"/>
          <a:lstStyle/>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Pre-Work</a:t>
            </a:r>
            <a:endParaRPr lang="en-US" sz="2700" dirty="0"/>
          </a:p>
          <a:p>
            <a:pPr algn="l" indent="0" marL="0">
              <a:lnSpc>
                <a:spcPts val="3240"/>
              </a:lnSpc>
              <a:buNone/>
            </a:pPr>
            <a:r>
              <a:rPr lang="en-US" sz="2700" dirty="0">
                <a:solidFill>
                  <a:srgbClr val="1A1F2E"/>
                </a:solidFill>
                <a:latin typeface="Georgia" pitchFamily="34" charset="0"/>
                <a:ea typeface="Georgia" pitchFamily="34" charset="-122"/>
                <a:cs typeface="Georgia" pitchFamily="34" charset="-120"/>
              </a:rPr>
              <a:t>for Part 2</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indent="0" marL="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algn="l" indent="0" marL="0">
              <a:lnSpc>
                <a:spcPts val="1560"/>
              </a:lnSpc>
              <a:buNone/>
            </a:pPr>
            <a:r>
              <a:rPr lang="en-US" sz="975" dirty="0">
                <a:solidFill>
                  <a:srgbClr val="1A1F2E">
                    <a:alpha val="70000"/>
                  </a:srgbClr>
                </a:solidFill>
                <a:latin typeface="Arial" pitchFamily="34" charset="0"/>
                <a:ea typeface="Arial" pitchFamily="34" charset="-122"/>
                <a:cs typeface="Arial" pitchFamily="34" charset="-120"/>
              </a:rPr>
              <a:t>Complete these before our next session for the best hands-on experience.</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indent="0" marL="0">
              <a:buNone/>
            </a:pPr>
            <a:endParaRPr lang="en-US" dirty="0"/>
          </a:p>
        </p:txBody>
      </p:sp>
      <p:sp>
        <p:nvSpPr>
          <p:cNvPr id="8" name="Text 6"/>
          <p:cNvSpPr/>
          <p:nvPr/>
        </p:nvSpPr>
        <p:spPr>
          <a:xfrm>
            <a:off x="4133106" y="805309"/>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9" name="Text 7"/>
          <p:cNvSpPr/>
          <p:nvPr/>
        </p:nvSpPr>
        <p:spPr>
          <a:xfrm>
            <a:off x="4314081" y="988963"/>
            <a:ext cx="266700" cy="266700"/>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4415582" y="1042243"/>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866531" y="948184"/>
            <a:ext cx="2571571"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Install your voice tool</a:t>
            </a:r>
            <a:endParaRPr lang="en-US" sz="975" dirty="0"/>
          </a:p>
        </p:txBody>
      </p:sp>
      <p:sp>
        <p:nvSpPr>
          <p:cNvPr id="12" name="Text 10"/>
          <p:cNvSpPr/>
          <p:nvPr/>
        </p:nvSpPr>
        <p:spPr>
          <a:xfrm>
            <a:off x="4866531" y="1149995"/>
            <a:ext cx="2571571"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SuperWhisper (Mac) or WhisperFlow (Windows/Linux)</a:t>
            </a:r>
            <a:endParaRPr lang="en-US" sz="825" dirty="0"/>
          </a:p>
        </p:txBody>
      </p:sp>
      <p:sp>
        <p:nvSpPr>
          <p:cNvPr id="13" name="Text 11"/>
          <p:cNvSpPr/>
          <p:nvPr/>
        </p:nvSpPr>
        <p:spPr>
          <a:xfrm>
            <a:off x="4133106" y="1534716"/>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4" name="Text 12"/>
          <p:cNvSpPr/>
          <p:nvPr/>
        </p:nvSpPr>
        <p:spPr>
          <a:xfrm>
            <a:off x="4314081" y="1718370"/>
            <a:ext cx="266700" cy="266700"/>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4415582" y="1771650"/>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866531" y="1677591"/>
            <a:ext cx="1944163"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Install Claude Code</a:t>
            </a:r>
            <a:endParaRPr lang="en-US" sz="975" dirty="0"/>
          </a:p>
        </p:txBody>
      </p:sp>
      <p:sp>
        <p:nvSpPr>
          <p:cNvPr id="17" name="Text 15"/>
          <p:cNvSpPr/>
          <p:nvPr/>
        </p:nvSpPr>
        <p:spPr>
          <a:xfrm>
            <a:off x="4866531" y="1879402"/>
            <a:ext cx="1944163"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npm install -g @anthropic-ai/claude-code</a:t>
            </a:r>
            <a:endParaRPr lang="en-US" sz="825" dirty="0"/>
          </a:p>
        </p:txBody>
      </p:sp>
      <p:sp>
        <p:nvSpPr>
          <p:cNvPr id="18" name="Text 16"/>
          <p:cNvSpPr/>
          <p:nvPr/>
        </p:nvSpPr>
        <p:spPr>
          <a:xfrm>
            <a:off x="4133106" y="2264122"/>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4314081" y="2447776"/>
            <a:ext cx="266700" cy="266700"/>
          </a:xfrm>
          <a:prstGeom prst="rect">
            <a:avLst/>
          </a:prstGeom>
          <a:solidFill>
            <a:srgbClr val="1A1F2E"/>
          </a:solidFill>
          <a:ln/>
        </p:spPr>
        <p:txBody>
          <a:bodyPr wrap="square" rtlCol="0" anchor="ctr"/>
          <a:lstStyle/>
          <a:p>
            <a:pPr indent="0" marL="0">
              <a:buNone/>
            </a:pPr>
            <a:endParaRPr lang="en-US" dirty="0"/>
          </a:p>
        </p:txBody>
      </p:sp>
      <p:sp>
        <p:nvSpPr>
          <p:cNvPr id="20" name="Text 18"/>
          <p:cNvSpPr/>
          <p:nvPr/>
        </p:nvSpPr>
        <p:spPr>
          <a:xfrm>
            <a:off x="4415582" y="2501057"/>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866531" y="2406997"/>
            <a:ext cx="2352669"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Set up authentication</a:t>
            </a:r>
            <a:endParaRPr lang="en-US" sz="975" dirty="0"/>
          </a:p>
        </p:txBody>
      </p:sp>
      <p:sp>
        <p:nvSpPr>
          <p:cNvPr id="22" name="Text 20"/>
          <p:cNvSpPr/>
          <p:nvPr/>
        </p:nvSpPr>
        <p:spPr>
          <a:xfrm>
            <a:off x="4866531" y="2608808"/>
            <a:ext cx="2352669"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Run claude and complete OAuth or API key setup</a:t>
            </a:r>
            <a:endParaRPr lang="en-US" sz="825" dirty="0"/>
          </a:p>
        </p:txBody>
      </p:sp>
      <p:sp>
        <p:nvSpPr>
          <p:cNvPr id="23" name="Text 21"/>
          <p:cNvSpPr/>
          <p:nvPr/>
        </p:nvSpPr>
        <p:spPr>
          <a:xfrm>
            <a:off x="4133106" y="2993529"/>
            <a:ext cx="4629894" cy="634157"/>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4314081" y="3177183"/>
            <a:ext cx="266700" cy="266700"/>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4415582" y="3230463"/>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866531" y="3136404"/>
            <a:ext cx="2031754" cy="173236"/>
          </a:xfrm>
          <a:prstGeom prst="rect">
            <a:avLst/>
          </a:prstGeom>
          <a:noFill/>
          <a:ln/>
        </p:spPr>
        <p:txBody>
          <a:bodyPr wrap="square" lIns="0" tIns="0" rIns="0" bIns="0" rtlCol="0" anchor="t"/>
          <a:lstStyle/>
          <a:p>
            <a:pPr algn="l" indent="0" marL="0">
              <a:lnSpc>
                <a:spcPts val="1365"/>
              </a:lnSpc>
              <a:buNone/>
            </a:pPr>
            <a:r>
              <a:rPr lang="en-US" sz="975" b="1" dirty="0">
                <a:solidFill>
                  <a:srgbClr val="1A1F2E"/>
                </a:solidFill>
                <a:latin typeface="Arial" pitchFamily="34" charset="0"/>
                <a:ea typeface="Arial" pitchFamily="34" charset="-122"/>
                <a:cs typeface="Arial" pitchFamily="34" charset="-120"/>
              </a:rPr>
              <a:t>Have a project ready</a:t>
            </a:r>
            <a:endParaRPr lang="en-US" sz="975" dirty="0"/>
          </a:p>
        </p:txBody>
      </p:sp>
      <p:sp>
        <p:nvSpPr>
          <p:cNvPr id="27" name="Text 25"/>
          <p:cNvSpPr/>
          <p:nvPr/>
        </p:nvSpPr>
        <p:spPr>
          <a:xfrm>
            <a:off x="4866531" y="3338215"/>
            <a:ext cx="2031754"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Any codebase you want to experiment with</a:t>
            </a:r>
            <a:endParaRPr lang="en-US" sz="825" dirty="0"/>
          </a:p>
        </p:txBody>
      </p:sp>
      <p:sp>
        <p:nvSpPr>
          <p:cNvPr id="28" name="Text 26"/>
          <p:cNvSpPr/>
          <p:nvPr/>
        </p:nvSpPr>
        <p:spPr>
          <a:xfrm>
            <a:off x="4133106" y="3722936"/>
            <a:ext cx="4629894" cy="615107"/>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4304556" y="3897064"/>
            <a:ext cx="266700" cy="266700"/>
          </a:xfrm>
          <a:prstGeom prst="rect">
            <a:avLst/>
          </a:prstGeom>
          <a:solidFill>
            <a:srgbClr val="C9A227"/>
          </a:solidFill>
          <a:ln/>
        </p:spPr>
        <p:txBody>
          <a:bodyPr wrap="square" rtlCol="0" anchor="ctr"/>
          <a:lstStyle/>
          <a:p>
            <a:pPr indent="0" marL="0">
              <a:buNone/>
            </a:pPr>
            <a:endParaRPr lang="en-US" dirty="0"/>
          </a:p>
        </p:txBody>
      </p:sp>
      <p:sp>
        <p:nvSpPr>
          <p:cNvPr id="30" name="Text 28"/>
          <p:cNvSpPr/>
          <p:nvPr/>
        </p:nvSpPr>
        <p:spPr>
          <a:xfrm>
            <a:off x="4406057" y="3950345"/>
            <a:ext cx="64972" cy="159990"/>
          </a:xfrm>
          <a:prstGeom prst="rect">
            <a:avLst/>
          </a:prstGeom>
          <a:noFill/>
          <a:ln/>
        </p:spPr>
        <p:txBody>
          <a:bodyPr wrap="square" lIns="0" tIns="0" rIns="0" bIns="0" rtlCol="0" anchor="t"/>
          <a:lstStyle/>
          <a:p>
            <a:pPr algn="l" indent="0" marL="0">
              <a:lnSpc>
                <a:spcPts val="1260"/>
              </a:lnSpc>
              <a:buNone/>
            </a:pPr>
            <a:r>
              <a:rPr lang="en-US" sz="900" b="1" dirty="0">
                <a:solidFill>
                  <a:srgbClr val="1A1F2E"/>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857006" y="3856286"/>
            <a:ext cx="2217563" cy="173236"/>
          </a:xfrm>
          <a:prstGeom prst="rect">
            <a:avLst/>
          </a:prstGeom>
          <a:noFill/>
          <a:ln/>
        </p:spPr>
        <p:txBody>
          <a:bodyPr wrap="square" lIns="0" tIns="0" rIns="0" bIns="0" rtlCol="0" anchor="t"/>
          <a:lstStyle/>
          <a:p>
            <a:pPr algn="l" indent="0" marL="0">
              <a:lnSpc>
                <a:spcPts val="1365"/>
              </a:lnSpc>
              <a:buNone/>
            </a:pPr>
            <a:r>
              <a:rPr lang="en-US" sz="975" b="1" dirty="0">
                <a:solidFill>
                  <a:srgbClr val="FFFFFF"/>
                </a:solidFill>
                <a:latin typeface="Arial" pitchFamily="34" charset="0"/>
                <a:ea typeface="Arial" pitchFamily="34" charset="-122"/>
                <a:cs typeface="Arial" pitchFamily="34" charset="-120"/>
              </a:rPr>
              <a:t>Practice voice input</a:t>
            </a:r>
            <a:endParaRPr lang="en-US" sz="975" dirty="0"/>
          </a:p>
        </p:txBody>
      </p:sp>
      <p:sp>
        <p:nvSpPr>
          <p:cNvPr id="32" name="Text 30"/>
          <p:cNvSpPr/>
          <p:nvPr/>
        </p:nvSpPr>
        <p:spPr>
          <a:xfrm>
            <a:off x="4857006" y="4058096"/>
            <a:ext cx="2217563" cy="146596"/>
          </a:xfrm>
          <a:prstGeom prst="rect">
            <a:avLst/>
          </a:prstGeom>
          <a:noFill/>
          <a:ln/>
        </p:spPr>
        <p:txBody>
          <a:bodyPr wrap="square" lIns="0" tIns="0" rIns="0" bIns="0" rtlCol="0" anchor="t"/>
          <a:lstStyle/>
          <a:p>
            <a:pPr algn="l" indent="0" marL="0">
              <a:lnSpc>
                <a:spcPts val="1155"/>
              </a:lnSpc>
              <a:spcBef>
                <a:spcPts val="225"/>
              </a:spcBef>
              <a:buNone/>
            </a:pPr>
            <a:r>
              <a:rPr lang="en-US" sz="825" dirty="0">
                <a:solidFill>
                  <a:srgbClr val="FFFFFF">
                    <a:alpha val="60000"/>
                  </a:srgbClr>
                </a:solidFill>
                <a:latin typeface="Arial" pitchFamily="34" charset="0"/>
                <a:ea typeface="Arial" pitchFamily="34" charset="-122"/>
                <a:cs typeface="Arial" pitchFamily="34" charset="-120"/>
              </a:rPr>
              <a:t>Try dictating emails or notes to get comfortable</a:t>
            </a:r>
            <a:endParaRPr lang="en-US" sz="8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algn="l" indent="0" marL="0">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PREVIEW</a:t>
            </a:r>
            <a:endParaRPr lang="en-US" sz="825" dirty="0"/>
          </a:p>
        </p:txBody>
      </p:sp>
      <p:sp>
        <p:nvSpPr>
          <p:cNvPr id="3" name="Text 1"/>
          <p:cNvSpPr/>
          <p:nvPr/>
        </p:nvSpPr>
        <p:spPr>
          <a:xfrm>
            <a:off x="457200" y="527596"/>
            <a:ext cx="4663440" cy="304800"/>
          </a:xfrm>
          <a:prstGeom prst="rect">
            <a:avLst/>
          </a:prstGeom>
          <a:noFill/>
          <a:ln/>
        </p:spPr>
        <p:txBody>
          <a:bodyPr wrap="square" lIns="0" tIns="0" rIns="0" bIns="0" rtlCol="0" anchor="t"/>
          <a:lstStyle/>
          <a:p>
            <a:pPr algn="l" indent="0" marL="0">
              <a:lnSpc>
                <a:spcPts val="2400"/>
              </a:lnSpc>
              <a:buNone/>
            </a:pPr>
            <a:r>
              <a:rPr lang="en-US" sz="2400" dirty="0">
                <a:solidFill>
                  <a:srgbClr val="1A1F2E"/>
                </a:solidFill>
                <a:latin typeface="Georgia" pitchFamily="34" charset="0"/>
                <a:ea typeface="Georgia" pitchFamily="34" charset="-122"/>
                <a:cs typeface="Georgia" pitchFamily="34" charset="-120"/>
              </a:rPr>
              <a:t>Coming in Part 2: Hands-On Practice</a:t>
            </a:r>
            <a:endParaRPr lang="en-US" sz="2400" dirty="0"/>
          </a:p>
        </p:txBody>
      </p:sp>
      <p:sp>
        <p:nvSpPr>
          <p:cNvPr id="4" name="Text 2"/>
          <p:cNvSpPr/>
          <p:nvPr/>
        </p:nvSpPr>
        <p:spPr>
          <a:xfrm>
            <a:off x="457200" y="1237506"/>
            <a:ext cx="2641550" cy="2476054"/>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685800" y="1466106"/>
            <a:ext cx="457200" cy="457200"/>
          </a:xfrm>
          <a:prstGeom prst="rect">
            <a:avLst/>
          </a:prstGeom>
          <a:solidFill>
            <a:srgbClr val="C9A227"/>
          </a:solidFill>
          <a:ln/>
        </p:spPr>
        <p:txBody>
          <a:bodyPr wrap="square" rtlCol="0" anchor="ctr"/>
          <a:lstStyle/>
          <a:p>
            <a:pPr indent="0" marL="0">
              <a:buNone/>
            </a:pPr>
            <a:endParaRPr lang="en-US" dirty="0"/>
          </a:p>
        </p:txBody>
      </p:sp>
      <p:sp>
        <p:nvSpPr>
          <p:cNvPr id="6" name="Text 4"/>
          <p:cNvSpPr/>
          <p:nvPr/>
        </p:nvSpPr>
        <p:spPr>
          <a:xfrm>
            <a:off x="819150" y="1561356"/>
            <a:ext cx="19431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Georgia" pitchFamily="34" charset="0"/>
                <a:ea typeface="Georgia" pitchFamily="34" charset="-122"/>
                <a:cs typeface="Georgia" pitchFamily="34" charset="-120"/>
              </a:rPr>
              <a:t>01</a:t>
            </a:r>
            <a:endParaRPr lang="en-US" sz="1500" dirty="0"/>
          </a:p>
        </p:txBody>
      </p:sp>
      <p:sp>
        <p:nvSpPr>
          <p:cNvPr id="7" name="Text 5"/>
          <p:cNvSpPr/>
          <p:nvPr/>
        </p:nvSpPr>
        <p:spPr>
          <a:xfrm>
            <a:off x="685800" y="2228106"/>
            <a:ext cx="2228037"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Real Exercises</a:t>
            </a:r>
            <a:endParaRPr lang="en-US" sz="1200" dirty="0"/>
          </a:p>
        </p:txBody>
      </p:sp>
      <p:sp>
        <p:nvSpPr>
          <p:cNvPr id="8" name="Text 6"/>
          <p:cNvSpPr/>
          <p:nvPr/>
        </p:nvSpPr>
        <p:spPr>
          <a:xfrm>
            <a:off x="685800" y="2708077"/>
            <a:ext cx="2228037"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Voice-driven refactoring</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Test generation</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Documentation updates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Bug fixing workflows</a:t>
            </a:r>
            <a:endParaRPr lang="en-US" sz="900" dirty="0"/>
          </a:p>
        </p:txBody>
      </p:sp>
      <p:sp>
        <p:nvSpPr>
          <p:cNvPr id="9" name="Text 7"/>
          <p:cNvSpPr/>
          <p:nvPr/>
        </p:nvSpPr>
        <p:spPr>
          <a:xfrm>
            <a:off x="3251150" y="1237506"/>
            <a:ext cx="2641550" cy="2476054"/>
          </a:xfrm>
          <a:prstGeom prst="rect">
            <a:avLst/>
          </a:prstGeom>
          <a:solidFill>
            <a:srgbClr val="1A1F2E"/>
          </a:solidFill>
          <a:ln/>
        </p:spPr>
        <p:txBody>
          <a:bodyPr wrap="square" rtlCol="0" anchor="ctr"/>
          <a:lstStyle/>
          <a:p>
            <a:pPr indent="0" marL="0">
              <a:buNone/>
            </a:pPr>
            <a:endParaRPr lang="en-US" dirty="0"/>
          </a:p>
        </p:txBody>
      </p:sp>
      <p:sp>
        <p:nvSpPr>
          <p:cNvPr id="10" name="Text 8"/>
          <p:cNvSpPr/>
          <p:nvPr/>
        </p:nvSpPr>
        <p:spPr>
          <a:xfrm>
            <a:off x="3479750" y="1466106"/>
            <a:ext cx="457200" cy="457200"/>
          </a:xfrm>
          <a:prstGeom prst="rect">
            <a:avLst/>
          </a:prstGeom>
          <a:solidFill>
            <a:srgbClr val="C9A227"/>
          </a:solidFill>
          <a:ln/>
        </p:spPr>
        <p:txBody>
          <a:bodyPr wrap="square" rtlCol="0" anchor="ctr"/>
          <a:lstStyle/>
          <a:p>
            <a:pPr indent="0" marL="0">
              <a:buNone/>
            </a:pPr>
            <a:endParaRPr lang="en-US" dirty="0"/>
          </a:p>
        </p:txBody>
      </p:sp>
      <p:sp>
        <p:nvSpPr>
          <p:cNvPr id="11" name="Text 9"/>
          <p:cNvSpPr/>
          <p:nvPr/>
        </p:nvSpPr>
        <p:spPr>
          <a:xfrm>
            <a:off x="3613100" y="1561356"/>
            <a:ext cx="19431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Georgia" pitchFamily="34" charset="0"/>
                <a:ea typeface="Georgia" pitchFamily="34" charset="-122"/>
                <a:cs typeface="Georgia" pitchFamily="34" charset="-120"/>
              </a:rPr>
              <a:t>02</a:t>
            </a:r>
            <a:endParaRPr lang="en-US" sz="1500" dirty="0"/>
          </a:p>
        </p:txBody>
      </p:sp>
      <p:sp>
        <p:nvSpPr>
          <p:cNvPr id="12" name="Text 10"/>
          <p:cNvSpPr/>
          <p:nvPr/>
        </p:nvSpPr>
        <p:spPr>
          <a:xfrm>
            <a:off x="3479750" y="2228106"/>
            <a:ext cx="2228037"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Your Projects</a:t>
            </a:r>
            <a:endParaRPr lang="en-US" sz="1200" dirty="0"/>
          </a:p>
        </p:txBody>
      </p:sp>
      <p:sp>
        <p:nvSpPr>
          <p:cNvPr id="13" name="Text 11"/>
          <p:cNvSpPr/>
          <p:nvPr/>
        </p:nvSpPr>
        <p:spPr>
          <a:xfrm>
            <a:off x="3479750" y="2708077"/>
            <a:ext cx="2228037"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Work on your own code</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Real-world scenarios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Team-specific patterns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Custom workflows</a:t>
            </a:r>
            <a:endParaRPr lang="en-US" sz="900" dirty="0"/>
          </a:p>
        </p:txBody>
      </p:sp>
      <p:sp>
        <p:nvSpPr>
          <p:cNvPr id="14" name="Text 12"/>
          <p:cNvSpPr/>
          <p:nvPr/>
        </p:nvSpPr>
        <p:spPr>
          <a:xfrm>
            <a:off x="6045101" y="1237506"/>
            <a:ext cx="2641550" cy="2476054"/>
          </a:xfrm>
          <a:prstGeom prst="rect">
            <a:avLst/>
          </a:prstGeom>
          <a:solidFill>
            <a:srgbClr val="1A1F2E"/>
          </a:solidFill>
          <a:ln/>
        </p:spPr>
        <p:txBody>
          <a:bodyPr wrap="square" rtlCol="0" anchor="ctr"/>
          <a:lstStyle/>
          <a:p>
            <a:pPr indent="0" marL="0">
              <a:buNone/>
            </a:pPr>
            <a:endParaRPr lang="en-US" dirty="0"/>
          </a:p>
        </p:txBody>
      </p:sp>
      <p:sp>
        <p:nvSpPr>
          <p:cNvPr id="15" name="Text 13"/>
          <p:cNvSpPr/>
          <p:nvPr/>
        </p:nvSpPr>
        <p:spPr>
          <a:xfrm>
            <a:off x="6273701" y="1466106"/>
            <a:ext cx="457200" cy="457200"/>
          </a:xfrm>
          <a:prstGeom prst="rect">
            <a:avLst/>
          </a:prstGeom>
          <a:solidFill>
            <a:srgbClr val="C9A227"/>
          </a:solidFill>
          <a:ln/>
        </p:spPr>
        <p:txBody>
          <a:bodyPr wrap="square" rtlCol="0" anchor="ctr"/>
          <a:lstStyle/>
          <a:p>
            <a:pPr indent="0" marL="0">
              <a:buNone/>
            </a:pPr>
            <a:endParaRPr lang="en-US" dirty="0"/>
          </a:p>
        </p:txBody>
      </p:sp>
      <p:sp>
        <p:nvSpPr>
          <p:cNvPr id="16" name="Text 14"/>
          <p:cNvSpPr/>
          <p:nvPr/>
        </p:nvSpPr>
        <p:spPr>
          <a:xfrm>
            <a:off x="6407051" y="1561356"/>
            <a:ext cx="194310" cy="266700"/>
          </a:xfrm>
          <a:prstGeom prst="rect">
            <a:avLst/>
          </a:prstGeom>
          <a:noFill/>
          <a:ln/>
        </p:spPr>
        <p:txBody>
          <a:bodyPr wrap="square" lIns="0" tIns="0" rIns="0" bIns="0" rtlCol="0" anchor="t"/>
          <a:lstStyle/>
          <a:p>
            <a:pPr algn="l" indent="0" marL="0">
              <a:lnSpc>
                <a:spcPts val="2100"/>
              </a:lnSpc>
              <a:buNone/>
            </a:pPr>
            <a:r>
              <a:rPr lang="en-US" sz="1500" dirty="0">
                <a:solidFill>
                  <a:srgbClr val="1A1F2E"/>
                </a:solidFill>
                <a:latin typeface="Georgia" pitchFamily="34" charset="0"/>
                <a:ea typeface="Georgia" pitchFamily="34" charset="-122"/>
                <a:cs typeface="Georgia" pitchFamily="34" charset="-120"/>
              </a:rPr>
              <a:t>03</a:t>
            </a:r>
            <a:endParaRPr lang="en-US" sz="1500" dirty="0"/>
          </a:p>
        </p:txBody>
      </p:sp>
      <p:sp>
        <p:nvSpPr>
          <p:cNvPr id="17" name="Text 15"/>
          <p:cNvSpPr/>
          <p:nvPr/>
        </p:nvSpPr>
        <p:spPr>
          <a:xfrm>
            <a:off x="6273701" y="2228106"/>
            <a:ext cx="2228037" cy="213271"/>
          </a:xfrm>
          <a:prstGeom prst="rect">
            <a:avLst/>
          </a:prstGeom>
          <a:noFill/>
          <a:ln/>
        </p:spPr>
        <p:txBody>
          <a:bodyPr wrap="square" lIns="0" tIns="0" rIns="0" bIns="0" rtlCol="0" anchor="t"/>
          <a:lstStyle/>
          <a:p>
            <a:pPr algn="l" indent="0" marL="0">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Tips &amp; Troubleshooting</a:t>
            </a:r>
            <a:endParaRPr lang="en-US" sz="1200" dirty="0"/>
          </a:p>
        </p:txBody>
      </p:sp>
      <p:sp>
        <p:nvSpPr>
          <p:cNvPr id="18" name="Text 16"/>
          <p:cNvSpPr/>
          <p:nvPr/>
        </p:nvSpPr>
        <p:spPr>
          <a:xfrm>
            <a:off x="6273701" y="2708077"/>
            <a:ext cx="2228037" cy="776883"/>
          </a:xfrm>
          <a:prstGeom prst="rect">
            <a:avLst/>
          </a:prstGeom>
          <a:noFill/>
          <a:ln/>
        </p:spPr>
        <p:txBody>
          <a:bodyPr wrap="square" lIns="0" tIns="0" rIns="0" bIns="0" rtlCol="0" anchor="t"/>
          <a:lstStyle/>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Common pitfalls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Optimization tricks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 command patterns</a:t>
            </a:r>
            <a:endParaRPr lang="en-US" sz="900" dirty="0"/>
          </a:p>
          <a:p>
            <a:pPr algn="l" indent="0" marL="0">
              <a:lnSpc>
                <a:spcPts val="1530"/>
              </a:lnSpc>
              <a:buNone/>
            </a:pPr>
            <a:r>
              <a:rPr lang="en-US" sz="900" dirty="0">
                <a:solidFill>
                  <a:srgbClr val="FFFFFF">
                    <a:alpha val="60000"/>
                  </a:srgbClr>
                </a:solidFill>
                <a:latin typeface="Arial" pitchFamily="34" charset="0"/>
                <a:ea typeface="Arial" pitchFamily="34" charset="-122"/>
                <a:cs typeface="Arial" pitchFamily="34" charset="-120"/>
              </a:rPr>
              <a:t>Debug techniques</a:t>
            </a:r>
            <a:endParaRPr lang="en-US" sz="900" dirty="0"/>
          </a:p>
        </p:txBody>
      </p:sp>
      <p:sp>
        <p:nvSpPr>
          <p:cNvPr id="19" name="Text 17"/>
          <p:cNvSpPr/>
          <p:nvPr/>
        </p:nvSpPr>
        <p:spPr>
          <a:xfrm>
            <a:off x="457200" y="4271070"/>
            <a:ext cx="8229600" cy="567630"/>
          </a:xfrm>
          <a:prstGeom prst="rect">
            <a:avLst/>
          </a:prstGeom>
          <a:solidFill>
            <a:srgbClr val="C9A227"/>
          </a:solidFill>
          <a:ln/>
        </p:spPr>
        <p:txBody>
          <a:bodyPr wrap="square" rtlCol="0" anchor="ctr"/>
          <a:lstStyle/>
          <a:p>
            <a:pPr indent="0" marL="0">
              <a:buNone/>
            </a:pPr>
            <a:endParaRPr lang="en-US" dirty="0"/>
          </a:p>
        </p:txBody>
      </p:sp>
      <p:sp>
        <p:nvSpPr>
          <p:cNvPr id="20" name="Text 18"/>
          <p:cNvSpPr/>
          <p:nvPr/>
        </p:nvSpPr>
        <p:spPr>
          <a:xfrm>
            <a:off x="608076" y="4461570"/>
            <a:ext cx="7927848" cy="186630"/>
          </a:xfrm>
          <a:prstGeom prst="rect">
            <a:avLst/>
          </a:prstGeom>
          <a:noFill/>
          <a:ln/>
        </p:spPr>
        <p:txBody>
          <a:bodyPr wrap="square" lIns="0" tIns="0" rIns="0" bIns="0" rtlCol="0" anchor="t"/>
          <a:lstStyle/>
          <a:p>
            <a:pPr algn="ctr" indent="0" marL="0">
              <a:lnSpc>
                <a:spcPts val="1470"/>
              </a:lnSpc>
              <a:buNone/>
            </a:pPr>
            <a:r>
              <a:rPr lang="en-US" sz="1050" b="1" dirty="0">
                <a:solidFill>
                  <a:srgbClr val="1A1F2E"/>
                </a:solidFill>
                <a:latin typeface="Arial" pitchFamily="34" charset="0"/>
                <a:ea typeface="Arial" pitchFamily="34" charset="-122"/>
                <a:cs typeface="Arial" pitchFamily="34" charset="-120"/>
              </a:rPr>
              <a:t>Part 2 is all hands-on — bring your laptop and a project you want to improve</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tmp/rasterized-gradient-c2e43558.png">    </p:cNvPr>
          <p:cNvPicPr>
            <a:picLocks noChangeAspect="1"/>
          </p:cNvPicPr>
          <p:nvPr/>
        </p:nvPicPr>
        <p:blipFill>
          <a:blip r:embed="rId1"/>
          <a:stretch>
            <a:fillRect/>
          </a:stretch>
        </p:blipFill>
        <p:spPr>
          <a:xfrm>
            <a:off x="0" y="0"/>
            <a:ext cx="5850434" cy="5143500"/>
          </a:xfrm>
          <a:prstGeom prst="rect">
            <a:avLst/>
          </a:prstGeom>
        </p:spPr>
      </p:pic>
      <p:sp>
        <p:nvSpPr>
          <p:cNvPr id="3" name="Text 0"/>
          <p:cNvSpPr/>
          <p:nvPr/>
        </p:nvSpPr>
        <p:spPr>
          <a:xfrm>
            <a:off x="457200" y="1023193"/>
            <a:ext cx="5034754" cy="146596"/>
          </a:xfrm>
          <a:prstGeom prst="rect">
            <a:avLst/>
          </a:prstGeom>
          <a:noFill/>
          <a:ln/>
        </p:spPr>
        <p:txBody>
          <a:bodyPr wrap="square" lIns="0" tIns="0" rIns="0" bIns="0" rtlCol="0" anchor="t"/>
          <a:lstStyle/>
          <a:p>
            <a:pPr algn="l" indent="0" marL="0">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512689"/>
            <a:ext cx="2526030" cy="460921"/>
          </a:xfrm>
          <a:prstGeom prst="rect">
            <a:avLst/>
          </a:prstGeom>
          <a:noFill/>
          <a:ln/>
        </p:spPr>
        <p:txBody>
          <a:bodyPr wrap="square" lIns="0" tIns="0" rIns="0" bIns="0" rtlCol="0" anchor="t"/>
          <a:lstStyle/>
          <a:p>
            <a:pPr algn="l" indent="0" marL="0">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Thank You</a:t>
            </a:r>
            <a:endParaRPr lang="en-US" sz="3300" dirty="0"/>
          </a:p>
        </p:txBody>
      </p:sp>
      <p:sp>
        <p:nvSpPr>
          <p:cNvPr id="5" name="Text 2"/>
          <p:cNvSpPr/>
          <p:nvPr/>
        </p:nvSpPr>
        <p:spPr>
          <a:xfrm>
            <a:off x="457200" y="2278410"/>
            <a:ext cx="5034754" cy="319980"/>
          </a:xfrm>
          <a:prstGeom prst="rect">
            <a:avLst/>
          </a:prstGeom>
          <a:noFill/>
          <a:ln/>
        </p:spPr>
        <p:txBody>
          <a:bodyPr wrap="square" lIns="0" tIns="0" rIns="0" bIns="0" rtlCol="0" anchor="t"/>
          <a:lstStyle/>
          <a:p>
            <a:pPr algn="l" indent="0" marL="0">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Part 1 Complete</a:t>
            </a:r>
            <a:endParaRPr lang="en-US" sz="1800" dirty="0"/>
          </a:p>
        </p:txBody>
      </p:sp>
      <p:sp>
        <p:nvSpPr>
          <p:cNvPr id="6" name="Text 3"/>
          <p:cNvSpPr/>
          <p:nvPr/>
        </p:nvSpPr>
        <p:spPr>
          <a:xfrm>
            <a:off x="457200" y="3055590"/>
            <a:ext cx="762000" cy="19050"/>
          </a:xfrm>
          <a:prstGeom prst="rect">
            <a:avLst/>
          </a:prstGeom>
          <a:solidFill>
            <a:srgbClr val="C9A227"/>
          </a:solidFill>
          <a:ln/>
        </p:spPr>
        <p:txBody>
          <a:bodyPr wrap="square" rtlCol="0" anchor="ctr"/>
          <a:lstStyle/>
          <a:p>
            <a:pPr indent="0" marL="0">
              <a:buNone/>
            </a:pPr>
            <a:endParaRPr lang="en-US" dirty="0"/>
          </a:p>
        </p:txBody>
      </p:sp>
      <p:sp>
        <p:nvSpPr>
          <p:cNvPr id="7" name="Text 4"/>
          <p:cNvSpPr/>
          <p:nvPr/>
        </p:nvSpPr>
        <p:spPr>
          <a:xfrm>
            <a:off x="457200" y="3531840"/>
            <a:ext cx="5034754" cy="186630"/>
          </a:xfrm>
          <a:prstGeom prst="rect">
            <a:avLst/>
          </a:prstGeom>
          <a:noFill/>
          <a:ln/>
        </p:spPr>
        <p:txBody>
          <a:bodyPr wrap="square" lIns="0" tIns="0" rIns="0" bIns="0" rtlCol="0" anchor="t"/>
          <a:lstStyle/>
          <a:p>
            <a:pPr algn="l" indent="0" marL="0">
              <a:lnSpc>
                <a:spcPts val="1470"/>
              </a:lnSpc>
              <a:spcAft>
                <a:spcPts val="600"/>
              </a:spcAft>
              <a:buNone/>
            </a:pPr>
            <a:r>
              <a:rPr lang="en-US" sz="1050" dirty="0">
                <a:solidFill>
                  <a:srgbClr val="FFFFFF">
                    <a:alpha val="70000"/>
                  </a:srgbClr>
                </a:solidFill>
                <a:latin typeface="Arial" pitchFamily="34" charset="0"/>
                <a:ea typeface="Arial" pitchFamily="34" charset="-122"/>
                <a:cs typeface="Arial" pitchFamily="34" charset="-120"/>
              </a:rPr>
              <a:t>Questions? Reach out anytime.</a:t>
            </a:r>
            <a:endParaRPr lang="en-US" sz="1050" dirty="0"/>
          </a:p>
        </p:txBody>
      </p:sp>
      <p:sp>
        <p:nvSpPr>
          <p:cNvPr id="8" name="Text 5"/>
          <p:cNvSpPr/>
          <p:nvPr/>
        </p:nvSpPr>
        <p:spPr>
          <a:xfrm>
            <a:off x="457200" y="3947071"/>
            <a:ext cx="5034754" cy="173236"/>
          </a:xfrm>
          <a:prstGeom prst="rect">
            <a:avLst/>
          </a:prstGeom>
          <a:noFill/>
          <a:ln/>
        </p:spPr>
        <p:txBody>
          <a:bodyPr wrap="square" lIns="0" tIns="0" rIns="0" bIns="0" rtlCol="0" anchor="t"/>
          <a:lstStyle/>
          <a:p>
            <a:pPr algn="l" indent="0" marL="0">
              <a:lnSpc>
                <a:spcPts val="1365"/>
              </a:lnSpc>
              <a:buNone/>
            </a:pPr>
            <a:r>
              <a:rPr lang="en-US" sz="975" dirty="0">
                <a:solidFill>
                  <a:srgbClr val="FFFFFF">
                    <a:alpha val="50000"/>
                  </a:srgbClr>
                </a:solidFill>
                <a:latin typeface="Arial" pitchFamily="34" charset="0"/>
                <a:ea typeface="Arial" pitchFamily="34" charset="-122"/>
                <a:cs typeface="Arial" pitchFamily="34" charset="-120"/>
              </a:rPr>
              <a:t>See you in Part 2: Hands-On Practice</a:t>
            </a:r>
            <a:endParaRPr lang="en-US" sz="975" dirty="0"/>
          </a:p>
        </p:txBody>
      </p:sp>
      <p:sp>
        <p:nvSpPr>
          <p:cNvPr id="9" name="Text 6"/>
          <p:cNvSpPr/>
          <p:nvPr/>
        </p:nvSpPr>
        <p:spPr>
          <a:xfrm>
            <a:off x="6002834" y="0"/>
            <a:ext cx="3141166" cy="5143500"/>
          </a:xfrm>
          <a:prstGeom prst="rect">
            <a:avLst/>
          </a:prstGeom>
          <a:solidFill>
            <a:srgbClr val="C9A227"/>
          </a:solidFill>
          <a:ln/>
        </p:spPr>
        <p:txBody>
          <a:bodyPr wrap="square" rtlCol="0" anchor="ctr"/>
          <a:lstStyle/>
          <a:p>
            <a:pPr indent="0" marL="0">
              <a:buNone/>
            </a:pPr>
            <a:endParaRPr lang="en-US" dirty="0"/>
          </a:p>
        </p:txBody>
      </p:sp>
      <p:sp>
        <p:nvSpPr>
          <p:cNvPr id="10" name="Text 7"/>
          <p:cNvSpPr/>
          <p:nvPr/>
        </p:nvSpPr>
        <p:spPr>
          <a:xfrm>
            <a:off x="7176144" y="315516"/>
            <a:ext cx="794546" cy="853380"/>
          </a:xfrm>
          <a:prstGeom prst="rect">
            <a:avLst/>
          </a:prstGeom>
          <a:noFill/>
          <a:ln/>
        </p:spPr>
        <p:txBody>
          <a:bodyPr wrap="square" lIns="0" tIns="0" rIns="0" bIns="0" rtlCol="0" anchor="t"/>
          <a:lstStyle/>
          <a:p>
            <a:pPr algn="ctr" indent="0" marL="0">
              <a:lnSpc>
                <a:spcPts val="6720"/>
              </a:lnSpc>
              <a:buNone/>
            </a:pPr>
            <a:r>
              <a:rPr lang="en-US" sz="4800" dirty="0">
                <a:solidFill>
                  <a:srgbClr val="1A1F2E"/>
                </a:solidFill>
                <a:latin typeface="Georgia" pitchFamily="34" charset="0"/>
                <a:ea typeface="Georgia" pitchFamily="34" charset="-122"/>
                <a:cs typeface="Georgia" pitchFamily="34" charset="-120"/>
              </a:rPr>
              <a:t>1/3</a:t>
            </a:r>
            <a:endParaRPr lang="en-US" sz="4800" dirty="0"/>
          </a:p>
        </p:txBody>
      </p:sp>
      <p:sp>
        <p:nvSpPr>
          <p:cNvPr id="11" name="Text 8"/>
          <p:cNvSpPr/>
          <p:nvPr/>
        </p:nvSpPr>
        <p:spPr>
          <a:xfrm>
            <a:off x="7121496" y="1397496"/>
            <a:ext cx="903693" cy="186630"/>
          </a:xfrm>
          <a:prstGeom prst="rect">
            <a:avLst/>
          </a:prstGeom>
          <a:noFill/>
          <a:ln/>
        </p:spPr>
        <p:txBody>
          <a:bodyPr wrap="square" lIns="0" tIns="0" rIns="0" bIns="0" rtlCol="0" anchor="t"/>
          <a:lstStyle/>
          <a:p>
            <a:pPr algn="ctr" indent="0" marL="0">
              <a:lnSpc>
                <a:spcPts val="1470"/>
              </a:lnSpc>
              <a:spcBef>
                <a:spcPts val="600"/>
              </a:spcBef>
              <a:buNone/>
            </a:pPr>
            <a:r>
              <a:rPr lang="en-US" sz="1050" dirty="0">
                <a:solidFill>
                  <a:srgbClr val="1A1F2E"/>
                </a:solidFill>
                <a:latin typeface="Arial" pitchFamily="34" charset="0"/>
                <a:ea typeface="Arial" pitchFamily="34" charset="-122"/>
                <a:cs typeface="Arial" pitchFamily="34" charset="-120"/>
              </a:rPr>
              <a:t>COMPLETE</a:t>
            </a:r>
            <a:endParaRPr lang="en-US" sz="1050" dirty="0"/>
          </a:p>
        </p:txBody>
      </p:sp>
      <p:sp>
        <p:nvSpPr>
          <p:cNvPr id="12" name="Text 9"/>
          <p:cNvSpPr/>
          <p:nvPr/>
        </p:nvSpPr>
        <p:spPr>
          <a:xfrm>
            <a:off x="6307634" y="2356842"/>
            <a:ext cx="2531566" cy="649486"/>
          </a:xfrm>
          <a:prstGeom prst="rect">
            <a:avLst/>
          </a:prstGeom>
          <a:solidFill>
            <a:srgbClr val="1A1F2E">
              <a:alpha val="10000"/>
            </a:srgbClr>
          </a:solidFill>
          <a:ln/>
        </p:spPr>
        <p:txBody>
          <a:bodyPr wrap="square" rtlCol="0" anchor="ctr"/>
          <a:lstStyle/>
          <a:p>
            <a:pPr indent="0" marL="0">
              <a:buNone/>
            </a:pPr>
            <a:endParaRPr lang="en-US" dirty="0"/>
          </a:p>
        </p:txBody>
      </p:sp>
      <p:sp>
        <p:nvSpPr>
          <p:cNvPr id="13" name="Text 10"/>
          <p:cNvSpPr/>
          <p:nvPr/>
        </p:nvSpPr>
        <p:spPr>
          <a:xfrm>
            <a:off x="6460034" y="2509242"/>
            <a:ext cx="2271302"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Today</a:t>
            </a:r>
            <a:endParaRPr lang="en-US" sz="900" dirty="0"/>
          </a:p>
        </p:txBody>
      </p:sp>
      <p:sp>
        <p:nvSpPr>
          <p:cNvPr id="14" name="Text 11"/>
          <p:cNvSpPr/>
          <p:nvPr/>
        </p:nvSpPr>
        <p:spPr>
          <a:xfrm>
            <a:off x="6460034" y="2707332"/>
            <a:ext cx="2271302" cy="146596"/>
          </a:xfrm>
          <a:prstGeom prst="rect">
            <a:avLst/>
          </a:prstGeom>
          <a:noFill/>
          <a:ln/>
        </p:spPr>
        <p:txBody>
          <a:bodyPr wrap="square" lIns="0" tIns="0" rIns="0" bIns="0" rtlCol="0" anchor="t"/>
          <a:lstStyle/>
          <a:p>
            <a:pPr algn="l" indent="0" marL="0">
              <a:lnSpc>
                <a:spcPts val="1155"/>
              </a:lnSpc>
              <a:buNone/>
            </a:pPr>
            <a:r>
              <a:rPr lang="en-US" sz="825" dirty="0">
                <a:solidFill>
                  <a:srgbClr val="1A1F2E">
                    <a:alpha val="70000"/>
                  </a:srgbClr>
                </a:solidFill>
                <a:latin typeface="Arial" pitchFamily="34" charset="0"/>
                <a:ea typeface="Arial" pitchFamily="34" charset="-122"/>
                <a:cs typeface="Arial" pitchFamily="34" charset="-120"/>
              </a:rPr>
              <a:t>Setup &amp; Tool Overview</a:t>
            </a:r>
            <a:endParaRPr lang="en-US" sz="825" dirty="0"/>
          </a:p>
        </p:txBody>
      </p:sp>
      <p:sp>
        <p:nvSpPr>
          <p:cNvPr id="15" name="Text 12"/>
          <p:cNvSpPr/>
          <p:nvPr/>
        </p:nvSpPr>
        <p:spPr>
          <a:xfrm>
            <a:off x="6307634" y="3273028"/>
            <a:ext cx="2531566" cy="649486"/>
          </a:xfrm>
          <a:prstGeom prst="rect">
            <a:avLst/>
          </a:prstGeom>
          <a:solidFill>
            <a:srgbClr val="1A1F2E">
              <a:alpha val="5000"/>
            </a:srgbClr>
          </a:solidFill>
          <a:ln/>
        </p:spPr>
        <p:txBody>
          <a:bodyPr wrap="square" rtlCol="0" anchor="ctr"/>
          <a:lstStyle/>
          <a:p>
            <a:pPr indent="0" marL="0">
              <a:buNone/>
            </a:pPr>
            <a:endParaRPr lang="en-US" dirty="0"/>
          </a:p>
        </p:txBody>
      </p:sp>
      <p:sp>
        <p:nvSpPr>
          <p:cNvPr id="16" name="Text 13"/>
          <p:cNvSpPr/>
          <p:nvPr/>
        </p:nvSpPr>
        <p:spPr>
          <a:xfrm>
            <a:off x="6460034" y="3425428"/>
            <a:ext cx="2271302"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Next</a:t>
            </a:r>
            <a:endParaRPr lang="en-US" sz="900" dirty="0"/>
          </a:p>
        </p:txBody>
      </p:sp>
      <p:sp>
        <p:nvSpPr>
          <p:cNvPr id="17" name="Text 14"/>
          <p:cNvSpPr/>
          <p:nvPr/>
        </p:nvSpPr>
        <p:spPr>
          <a:xfrm>
            <a:off x="6460034" y="3623518"/>
            <a:ext cx="2271302" cy="146596"/>
          </a:xfrm>
          <a:prstGeom prst="rect">
            <a:avLst/>
          </a:prstGeom>
          <a:noFill/>
          <a:ln/>
        </p:spPr>
        <p:txBody>
          <a:bodyPr wrap="square" lIns="0" tIns="0" rIns="0" bIns="0" rtlCol="0" anchor="t"/>
          <a:lstStyle/>
          <a:p>
            <a:pPr algn="l" indent="0" marL="0">
              <a:lnSpc>
                <a:spcPts val="1155"/>
              </a:lnSpc>
              <a:buNone/>
            </a:pPr>
            <a:r>
              <a:rPr lang="en-US" sz="825" dirty="0">
                <a:solidFill>
                  <a:srgbClr val="1A1F2E">
                    <a:alpha val="50000"/>
                  </a:srgbClr>
                </a:solidFill>
                <a:latin typeface="Arial" pitchFamily="34" charset="0"/>
                <a:ea typeface="Arial" pitchFamily="34" charset="-122"/>
                <a:cs typeface="Arial" pitchFamily="34" charset="-120"/>
              </a:rPr>
              <a:t>Hands-On Practice</a:t>
            </a:r>
            <a:endParaRPr lang="en-US" sz="825" dirty="0"/>
          </a:p>
        </p:txBody>
      </p:sp>
      <p:sp>
        <p:nvSpPr>
          <p:cNvPr id="18" name="Text 15"/>
          <p:cNvSpPr/>
          <p:nvPr/>
        </p:nvSpPr>
        <p:spPr>
          <a:xfrm>
            <a:off x="6307634" y="4189214"/>
            <a:ext cx="2531566" cy="649486"/>
          </a:xfrm>
          <a:prstGeom prst="rect">
            <a:avLst/>
          </a:prstGeom>
          <a:solidFill>
            <a:srgbClr val="1A1F2E">
              <a:alpha val="5000"/>
            </a:srgbClr>
          </a:solidFill>
          <a:ln/>
        </p:spPr>
        <p:txBody>
          <a:bodyPr wrap="square" rtlCol="0" anchor="ctr"/>
          <a:lstStyle/>
          <a:p>
            <a:pPr indent="0" marL="0">
              <a:buNone/>
            </a:pPr>
            <a:endParaRPr lang="en-US" dirty="0"/>
          </a:p>
        </p:txBody>
      </p:sp>
      <p:sp>
        <p:nvSpPr>
          <p:cNvPr id="19" name="Text 16"/>
          <p:cNvSpPr/>
          <p:nvPr/>
        </p:nvSpPr>
        <p:spPr>
          <a:xfrm>
            <a:off x="6460034" y="4341614"/>
            <a:ext cx="2271302" cy="159990"/>
          </a:xfrm>
          <a:prstGeom prst="rect">
            <a:avLst/>
          </a:prstGeom>
          <a:noFill/>
          <a:ln/>
        </p:spPr>
        <p:txBody>
          <a:bodyPr wrap="square" lIns="0" tIns="0" rIns="0" bIns="0" rtlCol="0" anchor="t"/>
          <a:lstStyle/>
          <a:p>
            <a:pPr algn="l" indent="0" marL="0">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Final</a:t>
            </a:r>
            <a:endParaRPr lang="en-US" sz="900" dirty="0"/>
          </a:p>
        </p:txBody>
      </p:sp>
      <p:sp>
        <p:nvSpPr>
          <p:cNvPr id="20" name="Text 17"/>
          <p:cNvSpPr/>
          <p:nvPr/>
        </p:nvSpPr>
        <p:spPr>
          <a:xfrm>
            <a:off x="6460034" y="4539704"/>
            <a:ext cx="2271302" cy="146596"/>
          </a:xfrm>
          <a:prstGeom prst="rect">
            <a:avLst/>
          </a:prstGeom>
          <a:noFill/>
          <a:ln/>
        </p:spPr>
        <p:txBody>
          <a:bodyPr wrap="square" lIns="0" tIns="0" rIns="0" bIns="0" rtlCol="0" anchor="t"/>
          <a:lstStyle/>
          <a:p>
            <a:pPr algn="l" indent="0" marL="0">
              <a:lnSpc>
                <a:spcPts val="1155"/>
              </a:lnSpc>
              <a:buNone/>
            </a:pPr>
            <a:r>
              <a:rPr lang="en-US" sz="825" dirty="0">
                <a:solidFill>
                  <a:srgbClr val="1A1F2E">
                    <a:alpha val="50000"/>
                  </a:srgbClr>
                </a:solidFill>
                <a:latin typeface="Arial" pitchFamily="34" charset="0"/>
                <a:ea typeface="Arial" pitchFamily="34" charset="-122"/>
                <a:cs typeface="Arial" pitchFamily="34" charset="-120"/>
              </a:rPr>
              <a:t>Build a Transcriber</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Voice-Driven AI Development Workflows - Part 1</dc:title>
  <dc:subject>Setup, Introduction &amp; Tool Overview</dc:subject>
  <dc:creator>Austin Public Health</dc:creator>
  <cp:lastModifiedBy>Austin Public Health</cp:lastModifiedBy>
  <cp:revision>1</cp:revision>
  <dcterms:created xsi:type="dcterms:W3CDTF">2026-01-14T08:26:54Z</dcterms:created>
  <dcterms:modified xsi:type="dcterms:W3CDTF">2026-01-14T08:26:54Z</dcterms:modified>
</cp:coreProperties>
</file>