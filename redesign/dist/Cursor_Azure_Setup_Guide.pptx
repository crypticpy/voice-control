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Cursor + Azure integration guide. Cursor is an AI-native code editor built on VS Code, and today we're configuring it to use your organization's Azure OpenAI deployments instead of the built-in models. This is part of our Tool Setup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is straightforward — download from cursor.com for your platform. If you're coming from VS Code, you can import your extensions, themes, and keybindings during first launch. Cursor feels immediately familiar because it IS VS Code under the hood, just with AI features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 has four core AI features. Cmd+K is inline edit — select code and describe changes. Cmd+I opens Composer for multi-file edits — this is the most powerful feature. Cmd+L opens Chat for questions. Tab provides autocomplete as you type. Important: Tab autocomplete uses Cursor's proprietary model and CANNOT use Azure. The other three features work with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connect Cursor to Azure, you need three values from the Azure Portal. First, navigate to your Azure OpenAI resource. Copy the Endpoint URL from Keys and Endpoint section. Copy your API key — KEY 1 works fine. Finally, go to Model Deployments and copy the exact deployment name. These three values are all Cursor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Cursor, go to Settings, then Models, then API Keys. Click Add Model or select Azure from the dropdown. Enter your Base URL — that's the endpoint including the trailing slash. Enter your deployment name exactly as it appears in Azure — it's case sensitive. Paste your API key. Click Verify — you should see a green checkmark. Then enable the Azure model for Chat, Cmd+K, and Composer.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AI Foundry, formerly Azure AI Studio, is Microsoft's unified platform for deploying foundation models. If your models are deployed via Azure OpenAI Service within Foundry, they work with the standard Azure configuration. For other Foundry models like Claude or Llama, you may need to check if the endpoint is OpenAI-compatible. Best approach: deploy models via Azure OpenAI Service for seamless Cursor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rules define how the AI behaves for your specific project. The modern approach is creating a .cursor/rules/ directory with .mdc files — each file defines rules for different parts of your codebase. Keep each file under 500 lines. You can also set global rules in Cursor Settings that apply to all projects. Commit your project rules to git so your team gets consistent AI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limitation: Tab autocomplete does NOT work with Azure or any custom API key. It requires Cursor Pro and uses their proprietary Fusion model. This is the biggest gotcha for BYOK users. The good news: Chat, Cmd+K, and Composer all work perfectly with Azure. Other gotchas: deployment name must match exactly (case sensitive), and Azure region affects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enterprise deployments: use Azure Key Vault for key management, never commit keys to git. Monitor costs in Azure Portal — set alerts. Share .cursor/rules/ via git for team consistency. Test configuration with a non-production Azure resource first. Consider GPT-4o for most tasks — good balance of capability and cost. Azure OpenAI typically costs less per token than Cursor's built-in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You need three values from Azure — Base URL, Deployment Name, and API Key. Always verify the connection after setup. Know that Tab autocomplete won't work with Azure — plan around this. Share project rules via git for team consistency. Combined with SuperWhisper for voice input, you now have an enterprise-grade voice-driven development stack using your organization's Azure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7530"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42900" y="381000"/>
            <a:ext cx="1426964" cy="247650"/>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476250" y="438150"/>
            <a:ext cx="1183469"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TOOL SETUP GUIDE</a:t>
            </a:r>
            <a:endParaRPr lang="en-US" sz="750" dirty="0"/>
          </a:p>
        </p:txBody>
      </p:sp>
      <p:sp>
        <p:nvSpPr>
          <p:cNvPr id="5" name="Text 3"/>
          <p:cNvSpPr/>
          <p:nvPr/>
        </p:nvSpPr>
        <p:spPr>
          <a:xfrm>
            <a:off x="342900" y="933450"/>
            <a:ext cx="1719644" cy="372368"/>
          </a:xfrm>
          <a:prstGeom prst="rect">
            <a:avLst/>
          </a:prstGeom>
          <a:noFill/>
          <a:ln/>
        </p:spPr>
        <p:txBody>
          <a:bodyPr wrap="square" lIns="0" tIns="0" rIns="0" bIns="0" rtlCol="0" anchor="t"/>
          <a:lstStyle/>
          <a:p>
            <a:pPr algn="l" indent="0" marL="0">
              <a:lnSpc>
                <a:spcPts val="2933"/>
              </a:lnSpc>
              <a:spcAft>
                <a:spcPts val="600"/>
              </a:spcAft>
              <a:buNone/>
            </a:pPr>
            <a:r>
              <a:rPr lang="en-US" sz="2550" dirty="0">
                <a:solidFill>
                  <a:srgbClr val="FFFFFF"/>
                </a:solidFill>
                <a:latin typeface="Georgia" pitchFamily="34" charset="0"/>
                <a:ea typeface="Georgia" pitchFamily="34" charset="-122"/>
                <a:cs typeface="Georgia" pitchFamily="34" charset="-120"/>
              </a:rPr>
              <a:t>Cursor</a:t>
            </a:r>
            <a:endParaRPr lang="en-US" sz="2550" dirty="0"/>
          </a:p>
        </p:txBody>
      </p:sp>
      <p:sp>
        <p:nvSpPr>
          <p:cNvPr id="6" name="Text 4"/>
          <p:cNvSpPr/>
          <p:nvPr/>
        </p:nvSpPr>
        <p:spPr>
          <a:xfrm>
            <a:off x="342900" y="1534418"/>
            <a:ext cx="3428964" cy="239911"/>
          </a:xfrm>
          <a:prstGeom prst="rect">
            <a:avLst/>
          </a:prstGeom>
          <a:noFill/>
          <a:ln/>
        </p:spPr>
        <p:txBody>
          <a:bodyPr wrap="square" lIns="0" tIns="0" rIns="0" bIns="0" rtlCol="0" anchor="t"/>
          <a:lstStyle/>
          <a:p>
            <a:pPr algn="l" indent="0" marL="0">
              <a:lnSpc>
                <a:spcPts val="1890"/>
              </a:lnSpc>
              <a:spcAft>
                <a:spcPts val="1200"/>
              </a:spcAft>
              <a:buNone/>
            </a:pPr>
            <a:r>
              <a:rPr lang="en-US" sz="1350" b="1" dirty="0">
                <a:solidFill>
                  <a:srgbClr val="0078D4"/>
                </a:solidFill>
                <a:latin typeface="Arial" pitchFamily="34" charset="0"/>
                <a:ea typeface="Arial" pitchFamily="34" charset="-122"/>
                <a:cs typeface="Arial" pitchFamily="34" charset="-120"/>
              </a:rPr>
              <a:t>+ Azure AI Integration</a:t>
            </a:r>
            <a:endParaRPr lang="en-US" sz="1350" dirty="0"/>
          </a:p>
        </p:txBody>
      </p:sp>
      <p:sp>
        <p:nvSpPr>
          <p:cNvPr id="7" name="Text 5"/>
          <p:cNvSpPr/>
          <p:nvPr/>
        </p:nvSpPr>
        <p:spPr>
          <a:xfrm>
            <a:off x="342900" y="2079129"/>
            <a:ext cx="476250" cy="28575"/>
          </a:xfrm>
          <a:prstGeom prst="rect">
            <a:avLst/>
          </a:prstGeom>
          <a:solidFill>
            <a:srgbClr val="C9A227"/>
          </a:solidFill>
          <a:ln/>
        </p:spPr>
        <p:txBody>
          <a:bodyPr wrap="square" rtlCol="0" anchor="ctr"/>
          <a:lstStyle/>
          <a:p>
            <a:pPr indent="0" marL="0">
              <a:buNone/>
            </a:pPr>
            <a:endParaRPr lang="en-US" dirty="0"/>
          </a:p>
        </p:txBody>
      </p:sp>
      <p:sp>
        <p:nvSpPr>
          <p:cNvPr id="8" name="Text 6"/>
          <p:cNvSpPr/>
          <p:nvPr/>
        </p:nvSpPr>
        <p:spPr>
          <a:xfrm>
            <a:off x="342900" y="2450604"/>
            <a:ext cx="3428964" cy="400050"/>
          </a:xfrm>
          <a:prstGeom prst="rect">
            <a:avLst/>
          </a:prstGeom>
          <a:noFill/>
          <a:ln/>
        </p:spPr>
        <p:txBody>
          <a:bodyPr wrap="square" lIns="0" tIns="0" rIns="0" bIns="0" rtlCol="0" anchor="t"/>
          <a:lstStyle/>
          <a:p>
            <a:pPr algn="l" indent="0" marL="0">
              <a:lnSpc>
                <a:spcPts val="1575"/>
              </a:lnSpc>
              <a:spcAft>
                <a:spcPts val="1800"/>
              </a:spcAft>
              <a:buNone/>
            </a:pPr>
            <a:r>
              <a:rPr lang="en-US" sz="1050" dirty="0">
                <a:solidFill>
                  <a:srgbClr val="FFFFFF">
                    <a:alpha val="70000"/>
                  </a:srgbClr>
                </a:solidFill>
                <a:latin typeface="Arial" pitchFamily="34" charset="0"/>
                <a:ea typeface="Arial" pitchFamily="34" charset="-122"/>
                <a:cs typeface="Arial" pitchFamily="34" charset="-120"/>
              </a:rPr>
              <a:t>Configure Cursor to use</a:t>
            </a:r>
            <a:endParaRPr lang="en-US" sz="1050" dirty="0"/>
          </a:p>
          <a:p>
            <a:pPr algn="l" indent="0" marL="0">
              <a:lnSpc>
                <a:spcPts val="1575"/>
              </a:lnSpc>
              <a:spcAft>
                <a:spcPts val="1800"/>
              </a:spcAft>
              <a:buNone/>
            </a:pPr>
            <a:r>
              <a:rPr lang="en-US" sz="1050" dirty="0">
                <a:solidFill>
                  <a:srgbClr val="FFFFFF">
                    <a:alpha val="70000"/>
                  </a:srgbClr>
                </a:solidFill>
                <a:latin typeface="Arial" pitchFamily="34" charset="0"/>
                <a:ea typeface="Arial" pitchFamily="34" charset="-122"/>
                <a:cs typeface="Arial" pitchFamily="34" charset="-120"/>
              </a:rPr>
              <a:t>Azure OpenAI &amp; AI Foundry</a:t>
            </a:r>
            <a:endParaRPr lang="en-US" sz="1050" dirty="0"/>
          </a:p>
        </p:txBody>
      </p:sp>
      <p:sp>
        <p:nvSpPr>
          <p:cNvPr id="9" name="Text 7"/>
          <p:cNvSpPr/>
          <p:nvPr/>
        </p:nvSpPr>
        <p:spPr>
          <a:xfrm>
            <a:off x="342900" y="4181475"/>
            <a:ext cx="3361730" cy="581025"/>
          </a:xfrm>
          <a:prstGeom prst="rect">
            <a:avLst/>
          </a:prstGeom>
          <a:solidFill>
            <a:srgbClr val="22C55E">
              <a:alpha val="20000"/>
            </a:srgbClr>
          </a:solidFill>
          <a:ln/>
        </p:spPr>
        <p:txBody>
          <a:bodyPr wrap="square" rtlCol="0" anchor="ctr"/>
          <a:lstStyle/>
          <a:p>
            <a:pPr indent="0" marL="0">
              <a:buNone/>
            </a:pPr>
            <a:endParaRPr lang="en-US" dirty="0"/>
          </a:p>
        </p:txBody>
      </p:sp>
      <p:sp>
        <p:nvSpPr>
          <p:cNvPr id="10" name="Shape 8"/>
          <p:cNvSpPr/>
          <p:nvPr/>
        </p:nvSpPr>
        <p:spPr>
          <a:xfrm>
            <a:off x="357188" y="4181475"/>
            <a:ext cx="0" cy="581025"/>
          </a:xfrm>
          <a:prstGeom prst="line">
            <a:avLst/>
          </a:prstGeom>
          <a:noFill/>
          <a:ln w="28575">
            <a:solidFill>
              <a:srgbClr val="22C55E"/>
            </a:solidFill>
            <a:prstDash val="solid"/>
          </a:ln>
        </p:spPr>
      </p:sp>
      <p:sp>
        <p:nvSpPr>
          <p:cNvPr id="11" name="Text 9"/>
          <p:cNvSpPr/>
          <p:nvPr/>
        </p:nvSpPr>
        <p:spPr>
          <a:xfrm>
            <a:off x="504825" y="4314825"/>
            <a:ext cx="312778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90000"/>
                  </a:srgbClr>
                </a:solidFill>
                <a:latin typeface="Arial" pitchFamily="34" charset="0"/>
                <a:ea typeface="Arial" pitchFamily="34" charset="-122"/>
                <a:cs typeface="Arial" pitchFamily="34" charset="-120"/>
              </a:rPr>
              <a:t>Enterprise-grade AI coding with your organization's Azure deployments</a:t>
            </a:r>
            <a:endParaRPr lang="en-US" sz="825" dirty="0"/>
          </a:p>
        </p:txBody>
      </p:sp>
      <p:sp>
        <p:nvSpPr>
          <p:cNvPr id="12" name="Text 10"/>
          <p:cNvSpPr/>
          <p:nvPr/>
        </p:nvSpPr>
        <p:spPr>
          <a:xfrm>
            <a:off x="4199930" y="0"/>
            <a:ext cx="4944070" cy="5143500"/>
          </a:xfrm>
          <a:prstGeom prst="rect">
            <a:avLst/>
          </a:prstGeom>
          <a:solidFill>
            <a:srgbClr val="F7F8FA"/>
          </a:solidFill>
          <a:ln/>
        </p:spPr>
        <p:txBody>
          <a:bodyPr wrap="square" rtlCol="0" anchor="ctr"/>
          <a:lstStyle/>
          <a:p>
            <a:pPr indent="0" marL="0">
              <a:buNone/>
            </a:pPr>
            <a:endParaRPr lang="en-US" dirty="0"/>
          </a:p>
        </p:txBody>
      </p:sp>
      <p:sp>
        <p:nvSpPr>
          <p:cNvPr id="13" name="Text 11"/>
          <p:cNvSpPr/>
          <p:nvPr/>
        </p:nvSpPr>
        <p:spPr>
          <a:xfrm>
            <a:off x="4542830" y="1046857"/>
            <a:ext cx="4343436" cy="159990"/>
          </a:xfrm>
          <a:prstGeom prst="rect">
            <a:avLst/>
          </a:prstGeom>
          <a:noFill/>
          <a:ln/>
        </p:spPr>
        <p:txBody>
          <a:bodyPr wrap="square" lIns="0" tIns="0" rIns="0" bIns="0" rtlCol="0" anchor="t"/>
          <a:lstStyle/>
          <a:p>
            <a:pPr algn="l" indent="0" marL="0">
              <a:lnSpc>
                <a:spcPts val="1260"/>
              </a:lnSpc>
              <a:spcAft>
                <a:spcPts val="1500"/>
              </a:spcAft>
              <a:buNone/>
            </a:pPr>
            <a:r>
              <a:rPr lang="en-US" sz="900" b="1" dirty="0">
                <a:solidFill>
                  <a:srgbClr val="1A1F2E"/>
                </a:solidFill>
                <a:latin typeface="Arial" pitchFamily="34" charset="0"/>
                <a:ea typeface="Arial" pitchFamily="34" charset="-122"/>
                <a:cs typeface="Arial" pitchFamily="34" charset="-120"/>
              </a:rPr>
              <a:t>WHAT YOU'LL LEARN</a:t>
            </a:r>
            <a:endParaRPr lang="en-US" sz="900" dirty="0"/>
          </a:p>
        </p:txBody>
      </p:sp>
      <p:sp>
        <p:nvSpPr>
          <p:cNvPr id="14" name="Text 12"/>
          <p:cNvSpPr/>
          <p:nvPr/>
        </p:nvSpPr>
        <p:spPr>
          <a:xfrm>
            <a:off x="4542830" y="1549747"/>
            <a:ext cx="266700" cy="266700"/>
          </a:xfrm>
          <a:prstGeom prst="rect">
            <a:avLst/>
          </a:prstGeom>
          <a:solidFill>
            <a:srgbClr val="22C55E"/>
          </a:solidFill>
          <a:ln/>
        </p:spPr>
        <p:txBody>
          <a:bodyPr wrap="square" rtlCol="0" anchor="ctr"/>
          <a:lstStyle/>
          <a:p>
            <a:pPr indent="0" marL="0">
              <a:buNone/>
            </a:pPr>
            <a:endParaRPr lang="en-US" dirty="0"/>
          </a:p>
        </p:txBody>
      </p:sp>
      <p:sp>
        <p:nvSpPr>
          <p:cNvPr id="15" name="Text 13"/>
          <p:cNvSpPr/>
          <p:nvPr/>
        </p:nvSpPr>
        <p:spPr>
          <a:xfrm>
            <a:off x="4923830" y="1603028"/>
            <a:ext cx="1380360"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Installation &amp; core features</a:t>
            </a:r>
            <a:endParaRPr lang="en-US" sz="900" dirty="0"/>
          </a:p>
        </p:txBody>
      </p:sp>
      <p:sp>
        <p:nvSpPr>
          <p:cNvPr id="16" name="Text 14"/>
          <p:cNvSpPr/>
          <p:nvPr/>
        </p:nvSpPr>
        <p:spPr>
          <a:xfrm>
            <a:off x="4542830" y="1911697"/>
            <a:ext cx="266700" cy="266700"/>
          </a:xfrm>
          <a:prstGeom prst="rect">
            <a:avLst/>
          </a:prstGeom>
          <a:solidFill>
            <a:srgbClr val="22C55E"/>
          </a:solidFill>
          <a:ln/>
        </p:spPr>
        <p:txBody>
          <a:bodyPr wrap="square" rtlCol="0" anchor="ctr"/>
          <a:lstStyle/>
          <a:p>
            <a:pPr indent="0" marL="0">
              <a:buNone/>
            </a:pPr>
            <a:endParaRPr lang="en-US" dirty="0"/>
          </a:p>
        </p:txBody>
      </p:sp>
      <p:sp>
        <p:nvSpPr>
          <p:cNvPr id="17" name="Text 15"/>
          <p:cNvSpPr/>
          <p:nvPr/>
        </p:nvSpPr>
        <p:spPr>
          <a:xfrm>
            <a:off x="4923830" y="1964978"/>
            <a:ext cx="1432277"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Azure OpenAI configuration</a:t>
            </a:r>
            <a:endParaRPr lang="en-US" sz="900" dirty="0"/>
          </a:p>
        </p:txBody>
      </p:sp>
      <p:sp>
        <p:nvSpPr>
          <p:cNvPr id="18" name="Text 16"/>
          <p:cNvSpPr/>
          <p:nvPr/>
        </p:nvSpPr>
        <p:spPr>
          <a:xfrm>
            <a:off x="4542830" y="2273647"/>
            <a:ext cx="266700" cy="266700"/>
          </a:xfrm>
          <a:prstGeom prst="rect">
            <a:avLst/>
          </a:prstGeom>
          <a:solidFill>
            <a:srgbClr val="22C55E"/>
          </a:solidFill>
          <a:ln/>
        </p:spPr>
        <p:txBody>
          <a:bodyPr wrap="square" rtlCol="0" anchor="ctr"/>
          <a:lstStyle/>
          <a:p>
            <a:pPr indent="0" marL="0">
              <a:buNone/>
            </a:pPr>
            <a:endParaRPr lang="en-US" dirty="0"/>
          </a:p>
        </p:txBody>
      </p:sp>
      <p:sp>
        <p:nvSpPr>
          <p:cNvPr id="19" name="Text 17"/>
          <p:cNvSpPr/>
          <p:nvPr/>
        </p:nvSpPr>
        <p:spPr>
          <a:xfrm>
            <a:off x="4923830" y="2326928"/>
            <a:ext cx="1218384"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Azure AI Foundry setup</a:t>
            </a:r>
            <a:endParaRPr lang="en-US" sz="900" dirty="0"/>
          </a:p>
        </p:txBody>
      </p:sp>
      <p:sp>
        <p:nvSpPr>
          <p:cNvPr id="20" name="Text 18"/>
          <p:cNvSpPr/>
          <p:nvPr/>
        </p:nvSpPr>
        <p:spPr>
          <a:xfrm>
            <a:off x="4542830" y="2635597"/>
            <a:ext cx="266700" cy="266700"/>
          </a:xfrm>
          <a:prstGeom prst="rect">
            <a:avLst/>
          </a:prstGeom>
          <a:solidFill>
            <a:srgbClr val="22C55E"/>
          </a:solidFill>
          <a:ln/>
        </p:spPr>
        <p:txBody>
          <a:bodyPr wrap="square" rtlCol="0" anchor="ctr"/>
          <a:lstStyle/>
          <a:p>
            <a:pPr indent="0" marL="0">
              <a:buNone/>
            </a:pPr>
            <a:endParaRPr lang="en-US" dirty="0"/>
          </a:p>
        </p:txBody>
      </p:sp>
      <p:sp>
        <p:nvSpPr>
          <p:cNvPr id="21" name="Text 19"/>
          <p:cNvSpPr/>
          <p:nvPr/>
        </p:nvSpPr>
        <p:spPr>
          <a:xfrm>
            <a:off x="4923830" y="2688878"/>
            <a:ext cx="1503322"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Project rules &amp; customization</a:t>
            </a:r>
            <a:endParaRPr lang="en-US" sz="900" dirty="0"/>
          </a:p>
        </p:txBody>
      </p:sp>
      <p:sp>
        <p:nvSpPr>
          <p:cNvPr id="22" name="Text 20"/>
          <p:cNvSpPr/>
          <p:nvPr/>
        </p:nvSpPr>
        <p:spPr>
          <a:xfrm>
            <a:off x="4542830" y="2997547"/>
            <a:ext cx="266700" cy="266700"/>
          </a:xfrm>
          <a:prstGeom prst="rect">
            <a:avLst/>
          </a:prstGeom>
          <a:solidFill>
            <a:srgbClr val="22C55E"/>
          </a:solidFill>
          <a:ln/>
        </p:spPr>
        <p:txBody>
          <a:bodyPr wrap="square" rtlCol="0" anchor="ctr"/>
          <a:lstStyle/>
          <a:p>
            <a:pPr indent="0" marL="0">
              <a:buNone/>
            </a:pPr>
            <a:endParaRPr lang="en-US" dirty="0"/>
          </a:p>
        </p:txBody>
      </p:sp>
      <p:sp>
        <p:nvSpPr>
          <p:cNvPr id="23" name="Text 21"/>
          <p:cNvSpPr/>
          <p:nvPr/>
        </p:nvSpPr>
        <p:spPr>
          <a:xfrm>
            <a:off x="4923830" y="3050828"/>
            <a:ext cx="1283053"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Enterprise best practices</a:t>
            </a:r>
            <a:endParaRPr lang="en-US" sz="900" dirty="0"/>
          </a:p>
        </p:txBody>
      </p:sp>
      <p:sp>
        <p:nvSpPr>
          <p:cNvPr id="24" name="Text 22"/>
          <p:cNvSpPr/>
          <p:nvPr/>
        </p:nvSpPr>
        <p:spPr>
          <a:xfrm>
            <a:off x="4542830" y="3683347"/>
            <a:ext cx="4258270" cy="413296"/>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4636264" y="3816697"/>
            <a:ext cx="4071402"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Part of the Voice-Driven AI Development series</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1047452" cy="201811"/>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361950" y="314325"/>
            <a:ext cx="874091"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GETTING STARTED</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Installation</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&amp; Setup</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22C55E">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22C55E"/>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6EFAC"/>
                </a:solidFill>
                <a:latin typeface="Arial" pitchFamily="34" charset="0"/>
                <a:ea typeface="Arial" pitchFamily="34" charset="-122"/>
                <a:cs typeface="Arial" pitchFamily="34" charset="-120"/>
              </a:rPr>
              <a:t>WHAT IS CURSOR</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AI-native code editor built on VS Code. Same interface, AI superpowers built in.</a:t>
            </a:r>
            <a:endParaRPr lang="en-US" sz="750" dirty="0"/>
          </a:p>
        </p:txBody>
      </p:sp>
      <p:sp>
        <p:nvSpPr>
          <p:cNvPr id="11" name="Text 9"/>
          <p:cNvSpPr/>
          <p:nvPr/>
        </p:nvSpPr>
        <p:spPr>
          <a:xfrm>
            <a:off x="266700" y="2834283"/>
            <a:ext cx="2885777" cy="933450"/>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REQUIREMENTS</a:t>
            </a:r>
            <a:endParaRPr lang="en-US" sz="750" dirty="0"/>
          </a:p>
        </p:txBody>
      </p:sp>
      <p:sp>
        <p:nvSpPr>
          <p:cNvPr id="13" name="Text 11"/>
          <p:cNvSpPr/>
          <p:nvPr/>
        </p:nvSpPr>
        <p:spPr>
          <a:xfrm>
            <a:off x="381000" y="3139083"/>
            <a:ext cx="2710321" cy="514350"/>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Windows 10+ / macOS 10.15+ / Linux</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4GB RAM minimum</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Internet connection</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Azure subscription (for BYOK)</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Downloads at cursor.com</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1115169"/>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INSTALLATION BY PLATFORM</a:t>
            </a:r>
            <a:endParaRPr lang="en-US" sz="900" dirty="0"/>
          </a:p>
        </p:txBody>
      </p:sp>
      <p:sp>
        <p:nvSpPr>
          <p:cNvPr id="18" name="Text 16"/>
          <p:cNvSpPr/>
          <p:nvPr/>
        </p:nvSpPr>
        <p:spPr>
          <a:xfrm>
            <a:off x="3838277" y="1541859"/>
            <a:ext cx="1628924" cy="83715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62102" y="1665684"/>
            <a:ext cx="1408899"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WINDOWS</a:t>
            </a:r>
            <a:endParaRPr lang="en-US" sz="825" dirty="0"/>
          </a:p>
        </p:txBody>
      </p:sp>
      <p:sp>
        <p:nvSpPr>
          <p:cNvPr id="20" name="Text 18"/>
          <p:cNvSpPr/>
          <p:nvPr/>
        </p:nvSpPr>
        <p:spPr>
          <a:xfrm>
            <a:off x="3962102" y="1869430"/>
            <a:ext cx="1408899" cy="385763"/>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Download .exe installer</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Run setup wizard</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Follow prompts</a:t>
            </a:r>
            <a:endParaRPr lang="en-US" sz="675" dirty="0"/>
          </a:p>
        </p:txBody>
      </p:sp>
      <p:sp>
        <p:nvSpPr>
          <p:cNvPr id="21" name="Text 19"/>
          <p:cNvSpPr/>
          <p:nvPr/>
        </p:nvSpPr>
        <p:spPr>
          <a:xfrm>
            <a:off x="5543401" y="1541859"/>
            <a:ext cx="1628924" cy="83715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2" name="Text 20"/>
          <p:cNvSpPr/>
          <p:nvPr/>
        </p:nvSpPr>
        <p:spPr>
          <a:xfrm>
            <a:off x="5667226" y="1665684"/>
            <a:ext cx="1408899"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MACOS</a:t>
            </a:r>
            <a:endParaRPr lang="en-US" sz="825" dirty="0"/>
          </a:p>
        </p:txBody>
      </p:sp>
      <p:sp>
        <p:nvSpPr>
          <p:cNvPr id="23" name="Text 21"/>
          <p:cNvSpPr/>
          <p:nvPr/>
        </p:nvSpPr>
        <p:spPr>
          <a:xfrm>
            <a:off x="5667226" y="1869430"/>
            <a:ext cx="1408899" cy="385763"/>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Download .dmg file</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Drag to Applications</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Allow in Security prefs</a:t>
            </a:r>
            <a:endParaRPr lang="en-US" sz="675" dirty="0"/>
          </a:p>
        </p:txBody>
      </p:sp>
      <p:sp>
        <p:nvSpPr>
          <p:cNvPr id="24" name="Text 22"/>
          <p:cNvSpPr/>
          <p:nvPr/>
        </p:nvSpPr>
        <p:spPr>
          <a:xfrm>
            <a:off x="7248525" y="1541859"/>
            <a:ext cx="1628924" cy="83715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5" name="Text 23"/>
          <p:cNvSpPr/>
          <p:nvPr/>
        </p:nvSpPr>
        <p:spPr>
          <a:xfrm>
            <a:off x="7372350" y="1665684"/>
            <a:ext cx="1408899"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LINUX</a:t>
            </a:r>
            <a:endParaRPr lang="en-US" sz="825" dirty="0"/>
          </a:p>
        </p:txBody>
      </p:sp>
      <p:sp>
        <p:nvSpPr>
          <p:cNvPr id="26" name="Text 24"/>
          <p:cNvSpPr/>
          <p:nvPr/>
        </p:nvSpPr>
        <p:spPr>
          <a:xfrm>
            <a:off x="7372350" y="1869430"/>
            <a:ext cx="1408899" cy="385763"/>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Download .AppImage</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chmod +x cursor.AppImage</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Run directly</a:t>
            </a:r>
            <a:endParaRPr lang="en-US" sz="675" dirty="0"/>
          </a:p>
        </p:txBody>
      </p:sp>
      <p:sp>
        <p:nvSpPr>
          <p:cNvPr id="27" name="Text 25"/>
          <p:cNvSpPr/>
          <p:nvPr/>
        </p:nvSpPr>
        <p:spPr>
          <a:xfrm>
            <a:off x="3838277" y="2645718"/>
            <a:ext cx="5039023" cy="679847"/>
          </a:xfrm>
          <a:prstGeom prst="rect">
            <a:avLst/>
          </a:prstGeom>
          <a:solidFill>
            <a:srgbClr val="1A1F2E"/>
          </a:solidFill>
          <a:ln/>
        </p:spPr>
        <p:txBody>
          <a:bodyPr wrap="square" rtlCol="0" anchor="ctr"/>
          <a:lstStyle/>
          <a:p>
            <a:pPr indent="0" marL="0">
              <a:buNone/>
            </a:pPr>
            <a:endParaRPr lang="en-US" dirty="0"/>
          </a:p>
        </p:txBody>
      </p:sp>
      <p:sp>
        <p:nvSpPr>
          <p:cNvPr id="28" name="Text 26"/>
          <p:cNvSpPr/>
          <p:nvPr/>
        </p:nvSpPr>
        <p:spPr>
          <a:xfrm>
            <a:off x="3952577" y="2760018"/>
            <a:ext cx="4906631"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FIRST LAUNCH OPTIONS</a:t>
            </a:r>
            <a:endParaRPr lang="en-US" sz="675" dirty="0"/>
          </a:p>
        </p:txBody>
      </p:sp>
      <p:sp>
        <p:nvSpPr>
          <p:cNvPr id="29" name="Text 27"/>
          <p:cNvSpPr/>
          <p:nvPr/>
        </p:nvSpPr>
        <p:spPr>
          <a:xfrm>
            <a:off x="3952577" y="2937123"/>
            <a:ext cx="4906631" cy="274141"/>
          </a:xfrm>
          <a:prstGeom prst="rect">
            <a:avLst/>
          </a:prstGeom>
          <a:noFill/>
          <a:ln/>
        </p:spPr>
        <p:txBody>
          <a:bodyPr wrap="square" lIns="0" tIns="0" rIns="0" bIns="0" rtlCol="0" anchor="t"/>
          <a:lstStyle/>
          <a:p>
            <a:pPr algn="l" indent="0" marL="0">
              <a:lnSpc>
                <a:spcPts val="1080"/>
              </a:lnSpc>
              <a:buNone/>
            </a:pPr>
            <a:r>
              <a:rPr lang="en-US" sz="675" dirty="0">
                <a:solidFill>
                  <a:srgbClr val="6EE7B7">
                    <a:alpha val="80000"/>
                  </a:srgbClr>
                </a:solidFill>
                <a:latin typeface="Arial" pitchFamily="34" charset="0"/>
                <a:ea typeface="Arial" pitchFamily="34" charset="-122"/>
                <a:cs typeface="Arial" pitchFamily="34" charset="-120"/>
              </a:rPr>
              <a:t>Import from VS Code?</a:t>
            </a:r>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 Extensions, themes, keybindings</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6EE7B7">
                    <a:alpha val="80000"/>
                  </a:srgbClr>
                </a:solidFill>
                <a:latin typeface="Arial" pitchFamily="34" charset="0"/>
                <a:ea typeface="Arial" pitchFamily="34" charset="-122"/>
                <a:cs typeface="Arial" pitchFamily="34" charset="-120"/>
              </a:rPr>
              <a:t>Sign in?</a:t>
            </a:r>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 Optional for free tier, required for Pro</a:t>
            </a:r>
            <a:endParaRPr lang="en-US" sz="675" dirty="0"/>
          </a:p>
        </p:txBody>
      </p:sp>
      <p:sp>
        <p:nvSpPr>
          <p:cNvPr id="30" name="Text 28"/>
          <p:cNvSpPr/>
          <p:nvPr/>
        </p:nvSpPr>
        <p:spPr>
          <a:xfrm>
            <a:off x="3838277" y="3573214"/>
            <a:ext cx="2481411" cy="455116"/>
          </a:xfrm>
          <a:prstGeom prst="rect">
            <a:avLst/>
          </a:prstGeom>
          <a:solidFill>
            <a:srgbClr val="DCFCE7"/>
          </a:solidFill>
          <a:ln/>
        </p:spPr>
        <p:txBody>
          <a:bodyPr wrap="square" rtlCol="0" anchor="ctr"/>
          <a:lstStyle/>
          <a:p>
            <a:pPr indent="0" marL="0">
              <a:buNone/>
            </a:pPr>
            <a:endParaRPr lang="en-US" dirty="0"/>
          </a:p>
        </p:txBody>
      </p:sp>
      <p:sp>
        <p:nvSpPr>
          <p:cNvPr id="31" name="Shape 29"/>
          <p:cNvSpPr/>
          <p:nvPr/>
        </p:nvSpPr>
        <p:spPr>
          <a:xfrm>
            <a:off x="3852565" y="3573214"/>
            <a:ext cx="0" cy="455116"/>
          </a:xfrm>
          <a:prstGeom prst="line">
            <a:avLst/>
          </a:prstGeom>
          <a:noFill/>
          <a:ln w="28575">
            <a:solidFill>
              <a:srgbClr val="059669"/>
            </a:solidFill>
            <a:prstDash val="solid"/>
          </a:ln>
        </p:spPr>
      </p:sp>
      <p:sp>
        <p:nvSpPr>
          <p:cNvPr id="32" name="Text 30"/>
          <p:cNvSpPr/>
          <p:nvPr/>
        </p:nvSpPr>
        <p:spPr>
          <a:xfrm>
            <a:off x="3962102" y="366846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VS CODE USERS</a:t>
            </a:r>
            <a:endParaRPr lang="en-US" sz="675" dirty="0"/>
          </a:p>
        </p:txBody>
      </p:sp>
      <p:sp>
        <p:nvSpPr>
          <p:cNvPr id="33" name="Text 31"/>
          <p:cNvSpPr/>
          <p:nvPr/>
        </p:nvSpPr>
        <p:spPr>
          <a:xfrm>
            <a:off x="3962102" y="3826520"/>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Same keybindings, same extensions. Feels immediately familiar.</a:t>
            </a:r>
            <a:endParaRPr lang="en-US" sz="600" dirty="0"/>
          </a:p>
        </p:txBody>
      </p:sp>
      <p:sp>
        <p:nvSpPr>
          <p:cNvPr id="34" name="Text 32"/>
          <p:cNvSpPr/>
          <p:nvPr/>
        </p:nvSpPr>
        <p:spPr>
          <a:xfrm>
            <a:off x="6395889" y="3573214"/>
            <a:ext cx="2481411" cy="455116"/>
          </a:xfrm>
          <a:prstGeom prst="rect">
            <a:avLst/>
          </a:prstGeom>
          <a:solidFill>
            <a:srgbClr val="DBEAFE"/>
          </a:solidFill>
          <a:ln/>
        </p:spPr>
        <p:txBody>
          <a:bodyPr wrap="square" rtlCol="0" anchor="ctr"/>
          <a:lstStyle/>
          <a:p>
            <a:pPr indent="0" marL="0">
              <a:buNone/>
            </a:pPr>
            <a:endParaRPr lang="en-US" dirty="0"/>
          </a:p>
        </p:txBody>
      </p:sp>
      <p:sp>
        <p:nvSpPr>
          <p:cNvPr id="35" name="Shape 33"/>
          <p:cNvSpPr/>
          <p:nvPr/>
        </p:nvSpPr>
        <p:spPr>
          <a:xfrm>
            <a:off x="6410176" y="3573214"/>
            <a:ext cx="0" cy="455116"/>
          </a:xfrm>
          <a:prstGeom prst="line">
            <a:avLst/>
          </a:prstGeom>
          <a:noFill/>
          <a:ln w="28575">
            <a:solidFill>
              <a:srgbClr val="3B82F6"/>
            </a:solidFill>
            <a:prstDash val="solid"/>
          </a:ln>
        </p:spPr>
      </p:sp>
      <p:sp>
        <p:nvSpPr>
          <p:cNvPr id="36" name="Text 34"/>
          <p:cNvSpPr/>
          <p:nvPr/>
        </p:nvSpPr>
        <p:spPr>
          <a:xfrm>
            <a:off x="6519714" y="366846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SETTINGS LOCATION</a:t>
            </a:r>
            <a:endParaRPr lang="en-US" sz="675" dirty="0"/>
          </a:p>
        </p:txBody>
      </p:sp>
      <p:sp>
        <p:nvSpPr>
          <p:cNvPr id="37" name="Text 35"/>
          <p:cNvSpPr/>
          <p:nvPr/>
        </p:nvSpPr>
        <p:spPr>
          <a:xfrm>
            <a:off x="6519714" y="3826520"/>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Cmd+, (macOS) / Ctrl+, (Windows) → Cursor Settings</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60686" cy="201811"/>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361950" y="314325"/>
            <a:ext cx="785589"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CORE FEATURES</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AI-Powered</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Editing</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22C55E">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22C55E"/>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6EFAC"/>
                </a:solidFill>
                <a:latin typeface="Arial" pitchFamily="34" charset="0"/>
                <a:ea typeface="Arial" pitchFamily="34" charset="-122"/>
                <a:cs typeface="Arial" pitchFamily="34" charset="-120"/>
              </a:rPr>
              <a:t>THE BIG FOUR</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Four core interactions that change how you code. All work with Azure models.</a:t>
            </a:r>
            <a:endParaRPr lang="en-US" sz="750" dirty="0"/>
          </a:p>
        </p:txBody>
      </p:sp>
      <p:sp>
        <p:nvSpPr>
          <p:cNvPr id="11" name="Text 9"/>
          <p:cNvSpPr/>
          <p:nvPr/>
        </p:nvSpPr>
        <p:spPr>
          <a:xfrm>
            <a:off x="266700" y="2834283"/>
            <a:ext cx="2885777" cy="1001911"/>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KEYBOARD SHORTCUTS</a:t>
            </a:r>
            <a:endParaRPr lang="en-US" sz="750" dirty="0"/>
          </a:p>
        </p:txBody>
      </p:sp>
      <p:sp>
        <p:nvSpPr>
          <p:cNvPr id="13" name="Text 11"/>
          <p:cNvSpPr/>
          <p:nvPr/>
        </p:nvSpPr>
        <p:spPr>
          <a:xfrm>
            <a:off x="381000" y="3139083"/>
            <a:ext cx="2710321" cy="582811"/>
          </a:xfrm>
          <a:prstGeom prst="rect">
            <a:avLst/>
          </a:prstGeom>
          <a:noFill/>
          <a:ln/>
        </p:spPr>
        <p:txBody>
          <a:bodyPr wrap="square" lIns="0" tIns="0" rIns="0" bIns="0" rtlCol="0" anchor="t"/>
          <a:lstStyle/>
          <a:p>
            <a:pPr algn="l" indent="0" marL="0">
              <a:lnSpc>
                <a:spcPts val="1148"/>
              </a:lnSpc>
              <a:buNone/>
            </a:pPr>
            <a:r>
              <a:rPr lang="en-US" sz="675" dirty="0">
                <a:solidFill>
                  <a:srgbClr val="FFFFFF">
                    <a:alpha val="60000"/>
                  </a:srgbClr>
                </a:solidFill>
                <a:latin typeface="monospace" pitchFamily="34" charset="0"/>
                <a:ea typeface="monospace" pitchFamily="34" charset="-122"/>
                <a:cs typeface="monospace" pitchFamily="34" charset="-120"/>
              </a:rPr>
              <a:t>Cmd+K → Inline edit</a:t>
            </a:r>
            <a:endParaRPr lang="en-US" sz="675" dirty="0"/>
          </a:p>
          <a:p>
            <a:pPr algn="l" indent="0" marL="0">
              <a:lnSpc>
                <a:spcPts val="1148"/>
              </a:lnSpc>
              <a:buNone/>
            </a:pPr>
            <a:r>
              <a:rPr lang="en-US" sz="675" dirty="0">
                <a:solidFill>
                  <a:srgbClr val="FFFFFF">
                    <a:alpha val="60000"/>
                  </a:srgbClr>
                </a:solidFill>
                <a:latin typeface="monospace" pitchFamily="34" charset="0"/>
                <a:ea typeface="monospace" pitchFamily="34" charset="-122"/>
                <a:cs typeface="monospace" pitchFamily="34" charset="-120"/>
              </a:rPr>
              <a:t> Cmd+I → Composer</a:t>
            </a:r>
            <a:endParaRPr lang="en-US" sz="675" dirty="0"/>
          </a:p>
          <a:p>
            <a:pPr algn="l" indent="0" marL="0">
              <a:lnSpc>
                <a:spcPts val="1148"/>
              </a:lnSpc>
              <a:buNone/>
            </a:pPr>
            <a:r>
              <a:rPr lang="en-US" sz="675" dirty="0">
                <a:solidFill>
                  <a:srgbClr val="FFFFFF">
                    <a:alpha val="60000"/>
                  </a:srgbClr>
                </a:solidFill>
                <a:latin typeface="monospace" pitchFamily="34" charset="0"/>
                <a:ea typeface="monospace" pitchFamily="34" charset="-122"/>
                <a:cs typeface="monospace" pitchFamily="34" charset="-120"/>
              </a:rPr>
              <a:t> Cmd+L → Chat</a:t>
            </a:r>
            <a:endParaRPr lang="en-US" sz="675" dirty="0"/>
          </a:p>
          <a:p>
            <a:pPr algn="l" indent="0" marL="0">
              <a:lnSpc>
                <a:spcPts val="1148"/>
              </a:lnSpc>
              <a:buNone/>
            </a:pPr>
            <a:r>
              <a:rPr lang="en-US" sz="675" dirty="0">
                <a:solidFill>
                  <a:srgbClr val="FFFFFF">
                    <a:alpha val="60000"/>
                  </a:srgbClr>
                </a:solidFill>
                <a:latin typeface="monospace" pitchFamily="34" charset="0"/>
                <a:ea typeface="monospace" pitchFamily="34" charset="-122"/>
                <a:cs typeface="monospace" pitchFamily="34" charset="-120"/>
              </a:rPr>
              <a:t> Tab → Autocomplete</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Learn these four shortcuts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1037630"/>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FEATURE BREAKDOWN</a:t>
            </a:r>
            <a:endParaRPr lang="en-US" sz="900" dirty="0"/>
          </a:p>
        </p:txBody>
      </p:sp>
      <p:sp>
        <p:nvSpPr>
          <p:cNvPr id="18" name="Text 16"/>
          <p:cNvSpPr/>
          <p:nvPr/>
        </p:nvSpPr>
        <p:spPr>
          <a:xfrm>
            <a:off x="3838277" y="1445270"/>
            <a:ext cx="2481411" cy="811262"/>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445270"/>
            <a:ext cx="0" cy="811262"/>
          </a:xfrm>
          <a:prstGeom prst="line">
            <a:avLst/>
          </a:prstGeom>
          <a:noFill/>
          <a:ln w="28575">
            <a:solidFill>
              <a:srgbClr val="22C55E"/>
            </a:solidFill>
            <a:prstDash val="solid"/>
          </a:ln>
        </p:spPr>
      </p:sp>
      <p:sp>
        <p:nvSpPr>
          <p:cNvPr id="20" name="Text 18"/>
          <p:cNvSpPr/>
          <p:nvPr/>
        </p:nvSpPr>
        <p:spPr>
          <a:xfrm>
            <a:off x="3981152" y="1559570"/>
            <a:ext cx="2268721" cy="159990"/>
          </a:xfrm>
          <a:prstGeom prst="rect">
            <a:avLst/>
          </a:prstGeom>
          <a:noFill/>
          <a:ln/>
        </p:spPr>
        <p:txBody>
          <a:bodyPr wrap="square" lIns="0" tIns="0" rIns="0" bIns="0" rtlCol="0" anchor="t"/>
          <a:lstStyle/>
          <a:p>
            <a:pPr algn="l" indent="0" marL="0">
              <a:lnSpc>
                <a:spcPts val="1260"/>
              </a:lnSpc>
              <a:buNone/>
            </a:pPr>
            <a:r>
              <a:rPr lang="en-US" sz="900" b="1" dirty="0">
                <a:solidFill>
                  <a:srgbClr val="22C55E"/>
                </a:solidFill>
                <a:latin typeface="Arial" pitchFamily="34" charset="0"/>
                <a:ea typeface="Arial" pitchFamily="34" charset="-122"/>
                <a:cs typeface="Arial" pitchFamily="34" charset="-120"/>
              </a:rPr>
              <a:t>Cmd+K</a:t>
            </a:r>
            <a:endParaRPr lang="en-US" sz="900" dirty="0"/>
          </a:p>
        </p:txBody>
      </p:sp>
      <p:sp>
        <p:nvSpPr>
          <p:cNvPr id="21" name="Text 19"/>
          <p:cNvSpPr/>
          <p:nvPr/>
        </p:nvSpPr>
        <p:spPr>
          <a:xfrm>
            <a:off x="3981152" y="1738610"/>
            <a:ext cx="2268721" cy="106561"/>
          </a:xfrm>
          <a:prstGeom prst="rect">
            <a:avLst/>
          </a:prstGeom>
          <a:noFill/>
          <a:ln/>
        </p:spPr>
        <p:txBody>
          <a:bodyPr wrap="square" lIns="0" tIns="0" rIns="0" bIns="0" rtlCol="0" anchor="t"/>
          <a:lstStyle/>
          <a:p>
            <a:pPr algn="l" indent="0" marL="0">
              <a:lnSpc>
                <a:spcPts val="840"/>
              </a:lnSpc>
              <a:spcBef>
                <a:spcPts val="150"/>
              </a:spcBef>
              <a:spcAft>
                <a:spcPts val="450"/>
              </a:spcAft>
              <a:buNone/>
            </a:pPr>
            <a:r>
              <a:rPr lang="en-US" sz="600" dirty="0">
                <a:solidFill>
                  <a:srgbClr val="9CA3AF"/>
                </a:solidFill>
                <a:latin typeface="Arial" pitchFamily="34" charset="0"/>
                <a:ea typeface="Arial" pitchFamily="34" charset="-122"/>
                <a:cs typeface="Arial" pitchFamily="34" charset="-120"/>
              </a:rPr>
              <a:t>INLINE EDIT</a:t>
            </a:r>
            <a:endParaRPr lang="en-US" sz="600" dirty="0"/>
          </a:p>
        </p:txBody>
      </p:sp>
      <p:sp>
        <p:nvSpPr>
          <p:cNvPr id="22" name="Text 20"/>
          <p:cNvSpPr/>
          <p:nvPr/>
        </p:nvSpPr>
        <p:spPr>
          <a:xfrm>
            <a:off x="3981152" y="1902321"/>
            <a:ext cx="226872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Select code, describe changes. AI modifies in place. Perfect for quick refactors.</a:t>
            </a:r>
            <a:endParaRPr lang="en-US" sz="675" dirty="0"/>
          </a:p>
        </p:txBody>
      </p:sp>
      <p:sp>
        <p:nvSpPr>
          <p:cNvPr id="23" name="Text 21"/>
          <p:cNvSpPr/>
          <p:nvPr/>
        </p:nvSpPr>
        <p:spPr>
          <a:xfrm>
            <a:off x="6395889" y="1445270"/>
            <a:ext cx="2481411" cy="811262"/>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410176" y="1445270"/>
            <a:ext cx="0" cy="811262"/>
          </a:xfrm>
          <a:prstGeom prst="line">
            <a:avLst/>
          </a:prstGeom>
          <a:noFill/>
          <a:ln w="28575">
            <a:solidFill>
              <a:srgbClr val="22C55E"/>
            </a:solidFill>
            <a:prstDash val="solid"/>
          </a:ln>
        </p:spPr>
      </p:sp>
      <p:sp>
        <p:nvSpPr>
          <p:cNvPr id="25" name="Text 23"/>
          <p:cNvSpPr/>
          <p:nvPr/>
        </p:nvSpPr>
        <p:spPr>
          <a:xfrm>
            <a:off x="6538764" y="1559570"/>
            <a:ext cx="2268721" cy="159990"/>
          </a:xfrm>
          <a:prstGeom prst="rect">
            <a:avLst/>
          </a:prstGeom>
          <a:noFill/>
          <a:ln/>
        </p:spPr>
        <p:txBody>
          <a:bodyPr wrap="square" lIns="0" tIns="0" rIns="0" bIns="0" rtlCol="0" anchor="t"/>
          <a:lstStyle/>
          <a:p>
            <a:pPr algn="l" indent="0" marL="0">
              <a:lnSpc>
                <a:spcPts val="1260"/>
              </a:lnSpc>
              <a:buNone/>
            </a:pPr>
            <a:r>
              <a:rPr lang="en-US" sz="900" b="1" dirty="0">
                <a:solidFill>
                  <a:srgbClr val="22C55E"/>
                </a:solidFill>
                <a:latin typeface="Arial" pitchFamily="34" charset="0"/>
                <a:ea typeface="Arial" pitchFamily="34" charset="-122"/>
                <a:cs typeface="Arial" pitchFamily="34" charset="-120"/>
              </a:rPr>
              <a:t>Cmd+I</a:t>
            </a:r>
            <a:endParaRPr lang="en-US" sz="900" dirty="0"/>
          </a:p>
        </p:txBody>
      </p:sp>
      <p:sp>
        <p:nvSpPr>
          <p:cNvPr id="26" name="Text 24"/>
          <p:cNvSpPr/>
          <p:nvPr/>
        </p:nvSpPr>
        <p:spPr>
          <a:xfrm>
            <a:off x="6538764" y="1738610"/>
            <a:ext cx="2268721" cy="106561"/>
          </a:xfrm>
          <a:prstGeom prst="rect">
            <a:avLst/>
          </a:prstGeom>
          <a:noFill/>
          <a:ln/>
        </p:spPr>
        <p:txBody>
          <a:bodyPr wrap="square" lIns="0" tIns="0" rIns="0" bIns="0" rtlCol="0" anchor="t"/>
          <a:lstStyle/>
          <a:p>
            <a:pPr algn="l" indent="0" marL="0">
              <a:lnSpc>
                <a:spcPts val="840"/>
              </a:lnSpc>
              <a:spcBef>
                <a:spcPts val="150"/>
              </a:spcBef>
              <a:spcAft>
                <a:spcPts val="450"/>
              </a:spcAft>
              <a:buNone/>
            </a:pPr>
            <a:r>
              <a:rPr lang="en-US" sz="600" dirty="0">
                <a:solidFill>
                  <a:srgbClr val="9CA3AF"/>
                </a:solidFill>
                <a:latin typeface="Arial" pitchFamily="34" charset="0"/>
                <a:ea typeface="Arial" pitchFamily="34" charset="-122"/>
                <a:cs typeface="Arial" pitchFamily="34" charset="-120"/>
              </a:rPr>
              <a:t>COMPOSER</a:t>
            </a:r>
            <a:endParaRPr lang="en-US" sz="600" dirty="0"/>
          </a:p>
        </p:txBody>
      </p:sp>
      <p:sp>
        <p:nvSpPr>
          <p:cNvPr id="27" name="Text 25"/>
          <p:cNvSpPr/>
          <p:nvPr/>
        </p:nvSpPr>
        <p:spPr>
          <a:xfrm>
            <a:off x="6538764" y="1902321"/>
            <a:ext cx="226872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Multi-file edits. Create entire features across codebase. Most powerful feature.</a:t>
            </a:r>
            <a:endParaRPr lang="en-US" sz="675" dirty="0"/>
          </a:p>
        </p:txBody>
      </p:sp>
      <p:sp>
        <p:nvSpPr>
          <p:cNvPr id="28" name="Text 26"/>
          <p:cNvSpPr/>
          <p:nvPr/>
        </p:nvSpPr>
        <p:spPr>
          <a:xfrm>
            <a:off x="3838277" y="2485132"/>
            <a:ext cx="2481411" cy="811262"/>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2485132"/>
            <a:ext cx="0" cy="811262"/>
          </a:xfrm>
          <a:prstGeom prst="line">
            <a:avLst/>
          </a:prstGeom>
          <a:noFill/>
          <a:ln w="28575">
            <a:solidFill>
              <a:srgbClr val="22C55E"/>
            </a:solidFill>
            <a:prstDash val="solid"/>
          </a:ln>
        </p:spPr>
      </p:sp>
      <p:sp>
        <p:nvSpPr>
          <p:cNvPr id="30" name="Text 28"/>
          <p:cNvSpPr/>
          <p:nvPr/>
        </p:nvSpPr>
        <p:spPr>
          <a:xfrm>
            <a:off x="3981152" y="2599432"/>
            <a:ext cx="2268721" cy="159990"/>
          </a:xfrm>
          <a:prstGeom prst="rect">
            <a:avLst/>
          </a:prstGeom>
          <a:noFill/>
          <a:ln/>
        </p:spPr>
        <p:txBody>
          <a:bodyPr wrap="square" lIns="0" tIns="0" rIns="0" bIns="0" rtlCol="0" anchor="t"/>
          <a:lstStyle/>
          <a:p>
            <a:pPr algn="l" indent="0" marL="0">
              <a:lnSpc>
                <a:spcPts val="1260"/>
              </a:lnSpc>
              <a:buNone/>
            </a:pPr>
            <a:r>
              <a:rPr lang="en-US" sz="900" b="1" dirty="0">
                <a:solidFill>
                  <a:srgbClr val="22C55E"/>
                </a:solidFill>
                <a:latin typeface="Arial" pitchFamily="34" charset="0"/>
                <a:ea typeface="Arial" pitchFamily="34" charset="-122"/>
                <a:cs typeface="Arial" pitchFamily="34" charset="-120"/>
              </a:rPr>
              <a:t>Cmd+L</a:t>
            </a:r>
            <a:endParaRPr lang="en-US" sz="900" dirty="0"/>
          </a:p>
        </p:txBody>
      </p:sp>
      <p:sp>
        <p:nvSpPr>
          <p:cNvPr id="31" name="Text 29"/>
          <p:cNvSpPr/>
          <p:nvPr/>
        </p:nvSpPr>
        <p:spPr>
          <a:xfrm>
            <a:off x="3981152" y="2778472"/>
            <a:ext cx="2268721" cy="106561"/>
          </a:xfrm>
          <a:prstGeom prst="rect">
            <a:avLst/>
          </a:prstGeom>
          <a:noFill/>
          <a:ln/>
        </p:spPr>
        <p:txBody>
          <a:bodyPr wrap="square" lIns="0" tIns="0" rIns="0" bIns="0" rtlCol="0" anchor="t"/>
          <a:lstStyle/>
          <a:p>
            <a:pPr algn="l" indent="0" marL="0">
              <a:lnSpc>
                <a:spcPts val="840"/>
              </a:lnSpc>
              <a:spcBef>
                <a:spcPts val="150"/>
              </a:spcBef>
              <a:spcAft>
                <a:spcPts val="450"/>
              </a:spcAft>
              <a:buNone/>
            </a:pPr>
            <a:r>
              <a:rPr lang="en-US" sz="600" dirty="0">
                <a:solidFill>
                  <a:srgbClr val="9CA3AF"/>
                </a:solidFill>
                <a:latin typeface="Arial" pitchFamily="34" charset="0"/>
                <a:ea typeface="Arial" pitchFamily="34" charset="-122"/>
                <a:cs typeface="Arial" pitchFamily="34" charset="-120"/>
              </a:rPr>
              <a:t>CHAT</a:t>
            </a:r>
            <a:endParaRPr lang="en-US" sz="600" dirty="0"/>
          </a:p>
        </p:txBody>
      </p:sp>
      <p:sp>
        <p:nvSpPr>
          <p:cNvPr id="32" name="Text 30"/>
          <p:cNvSpPr/>
          <p:nvPr/>
        </p:nvSpPr>
        <p:spPr>
          <a:xfrm>
            <a:off x="3981152" y="2942183"/>
            <a:ext cx="226872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Ask questions about your code. Get explanations, debug help, suggestions.</a:t>
            </a:r>
            <a:endParaRPr lang="en-US" sz="675" dirty="0"/>
          </a:p>
        </p:txBody>
      </p:sp>
      <p:sp>
        <p:nvSpPr>
          <p:cNvPr id="33" name="Text 31"/>
          <p:cNvSpPr/>
          <p:nvPr/>
        </p:nvSpPr>
        <p:spPr>
          <a:xfrm>
            <a:off x="6395889" y="2485132"/>
            <a:ext cx="2481411" cy="811262"/>
          </a:xfrm>
          <a:prstGeom prst="rect">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6410176" y="2485132"/>
            <a:ext cx="0" cy="811262"/>
          </a:xfrm>
          <a:prstGeom prst="line">
            <a:avLst/>
          </a:prstGeom>
          <a:noFill/>
          <a:ln w="28575">
            <a:solidFill>
              <a:srgbClr val="22C55E"/>
            </a:solidFill>
            <a:prstDash val="solid"/>
          </a:ln>
        </p:spPr>
      </p:sp>
      <p:sp>
        <p:nvSpPr>
          <p:cNvPr id="35" name="Text 33"/>
          <p:cNvSpPr/>
          <p:nvPr/>
        </p:nvSpPr>
        <p:spPr>
          <a:xfrm>
            <a:off x="6538764" y="2599432"/>
            <a:ext cx="2268721" cy="159990"/>
          </a:xfrm>
          <a:prstGeom prst="rect">
            <a:avLst/>
          </a:prstGeom>
          <a:noFill/>
          <a:ln/>
        </p:spPr>
        <p:txBody>
          <a:bodyPr wrap="square" lIns="0" tIns="0" rIns="0" bIns="0" rtlCol="0" anchor="t"/>
          <a:lstStyle/>
          <a:p>
            <a:pPr algn="l" indent="0" marL="0">
              <a:lnSpc>
                <a:spcPts val="1260"/>
              </a:lnSpc>
              <a:buNone/>
            </a:pPr>
            <a:r>
              <a:rPr lang="en-US" sz="900" b="1" dirty="0">
                <a:solidFill>
                  <a:srgbClr val="22C55E"/>
                </a:solidFill>
                <a:latin typeface="Arial" pitchFamily="34" charset="0"/>
                <a:ea typeface="Arial" pitchFamily="34" charset="-122"/>
                <a:cs typeface="Arial" pitchFamily="34" charset="-120"/>
              </a:rPr>
              <a:t>Tab</a:t>
            </a:r>
            <a:endParaRPr lang="en-US" sz="900" dirty="0"/>
          </a:p>
        </p:txBody>
      </p:sp>
      <p:sp>
        <p:nvSpPr>
          <p:cNvPr id="36" name="Text 34"/>
          <p:cNvSpPr/>
          <p:nvPr/>
        </p:nvSpPr>
        <p:spPr>
          <a:xfrm>
            <a:off x="6538764" y="2778472"/>
            <a:ext cx="2268721" cy="106561"/>
          </a:xfrm>
          <a:prstGeom prst="rect">
            <a:avLst/>
          </a:prstGeom>
          <a:noFill/>
          <a:ln/>
        </p:spPr>
        <p:txBody>
          <a:bodyPr wrap="square" lIns="0" tIns="0" rIns="0" bIns="0" rtlCol="0" anchor="t"/>
          <a:lstStyle/>
          <a:p>
            <a:pPr algn="l" indent="0" marL="0">
              <a:lnSpc>
                <a:spcPts val="840"/>
              </a:lnSpc>
              <a:spcBef>
                <a:spcPts val="150"/>
              </a:spcBef>
              <a:spcAft>
                <a:spcPts val="450"/>
              </a:spcAft>
              <a:buNone/>
            </a:pPr>
            <a:r>
              <a:rPr lang="en-US" sz="600" dirty="0">
                <a:solidFill>
                  <a:srgbClr val="9CA3AF"/>
                </a:solidFill>
                <a:latin typeface="Arial" pitchFamily="34" charset="0"/>
                <a:ea typeface="Arial" pitchFamily="34" charset="-122"/>
                <a:cs typeface="Arial" pitchFamily="34" charset="-120"/>
              </a:rPr>
              <a:t>AUTOCOMPLETE</a:t>
            </a:r>
            <a:endParaRPr lang="en-US" sz="600" dirty="0"/>
          </a:p>
        </p:txBody>
      </p:sp>
      <p:sp>
        <p:nvSpPr>
          <p:cNvPr id="37" name="Text 35"/>
          <p:cNvSpPr/>
          <p:nvPr/>
        </p:nvSpPr>
        <p:spPr>
          <a:xfrm>
            <a:off x="6538764" y="2942183"/>
            <a:ext cx="226872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Inline suggestions as you type. Context-aware completions. </a:t>
            </a:r>
            <a:pPr algn="l" indent="0" marL="0">
              <a:lnSpc>
                <a:spcPts val="945"/>
              </a:lnSpc>
              <a:buNone/>
            </a:pPr>
            <a:r>
              <a:rPr lang="en-US" sz="675" b="1" dirty="0">
                <a:solidFill>
                  <a:srgbClr val="6B7280"/>
                </a:solidFill>
                <a:latin typeface="Arial" pitchFamily="34" charset="0"/>
                <a:ea typeface="Arial" pitchFamily="34" charset="-122"/>
                <a:cs typeface="Arial" pitchFamily="34" charset="-120"/>
              </a:rPr>
              <a:t>Pro only.</a:t>
            </a:r>
            <a:endParaRPr lang="en-US" sz="675" dirty="0"/>
          </a:p>
        </p:txBody>
      </p:sp>
      <p:sp>
        <p:nvSpPr>
          <p:cNvPr id="38" name="Text 36"/>
          <p:cNvSpPr/>
          <p:nvPr/>
        </p:nvSpPr>
        <p:spPr>
          <a:xfrm>
            <a:off x="3838277" y="3597325"/>
            <a:ext cx="2481411" cy="455116"/>
          </a:xfrm>
          <a:prstGeom prst="rect">
            <a:avLst/>
          </a:prstGeom>
          <a:solidFill>
            <a:srgbClr val="DBEAFE"/>
          </a:solidFill>
          <a:ln/>
        </p:spPr>
        <p:txBody>
          <a:bodyPr wrap="square" rtlCol="0" anchor="ctr"/>
          <a:lstStyle/>
          <a:p>
            <a:pPr indent="0" marL="0">
              <a:buNone/>
            </a:pPr>
            <a:endParaRPr lang="en-US" dirty="0"/>
          </a:p>
        </p:txBody>
      </p:sp>
      <p:sp>
        <p:nvSpPr>
          <p:cNvPr id="39" name="Shape 37"/>
          <p:cNvSpPr/>
          <p:nvPr/>
        </p:nvSpPr>
        <p:spPr>
          <a:xfrm>
            <a:off x="3852565" y="3597325"/>
            <a:ext cx="0" cy="455116"/>
          </a:xfrm>
          <a:prstGeom prst="line">
            <a:avLst/>
          </a:prstGeom>
          <a:noFill/>
          <a:ln w="28575">
            <a:solidFill>
              <a:srgbClr val="3B82F6"/>
            </a:solidFill>
            <a:prstDash val="solid"/>
          </a:ln>
        </p:spPr>
      </p:sp>
      <p:sp>
        <p:nvSpPr>
          <p:cNvPr id="40" name="Text 38"/>
          <p:cNvSpPr/>
          <p:nvPr/>
        </p:nvSpPr>
        <p:spPr>
          <a:xfrm>
            <a:off x="3962102" y="3692575"/>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WORKS WITH AZURE</a:t>
            </a:r>
            <a:endParaRPr lang="en-US" sz="675" dirty="0"/>
          </a:p>
        </p:txBody>
      </p:sp>
      <p:sp>
        <p:nvSpPr>
          <p:cNvPr id="41" name="Text 39"/>
          <p:cNvSpPr/>
          <p:nvPr/>
        </p:nvSpPr>
        <p:spPr>
          <a:xfrm>
            <a:off x="3962102" y="3850630"/>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Cmd+K, Composer, and Chat all work with Azure OpenAI models</a:t>
            </a:r>
            <a:endParaRPr lang="en-US" sz="600" dirty="0"/>
          </a:p>
        </p:txBody>
      </p:sp>
      <p:sp>
        <p:nvSpPr>
          <p:cNvPr id="42" name="Text 40"/>
          <p:cNvSpPr/>
          <p:nvPr/>
        </p:nvSpPr>
        <p:spPr>
          <a:xfrm>
            <a:off x="6395889" y="3544044"/>
            <a:ext cx="2481411" cy="561677"/>
          </a:xfrm>
          <a:prstGeom prst="rect">
            <a:avLst/>
          </a:prstGeom>
          <a:solidFill>
            <a:srgbClr val="FEF3C7"/>
          </a:solidFill>
          <a:ln/>
        </p:spPr>
        <p:txBody>
          <a:bodyPr wrap="square" rtlCol="0" anchor="ctr"/>
          <a:lstStyle/>
          <a:p>
            <a:pPr indent="0" marL="0">
              <a:buNone/>
            </a:pPr>
            <a:endParaRPr lang="en-US" dirty="0"/>
          </a:p>
        </p:txBody>
      </p:sp>
      <p:sp>
        <p:nvSpPr>
          <p:cNvPr id="43" name="Shape 41"/>
          <p:cNvSpPr/>
          <p:nvPr/>
        </p:nvSpPr>
        <p:spPr>
          <a:xfrm>
            <a:off x="6410176" y="3544044"/>
            <a:ext cx="0" cy="561677"/>
          </a:xfrm>
          <a:prstGeom prst="line">
            <a:avLst/>
          </a:prstGeom>
          <a:noFill/>
          <a:ln w="28575">
            <a:solidFill>
              <a:srgbClr val="F59E0B"/>
            </a:solidFill>
            <a:prstDash val="solid"/>
          </a:ln>
        </p:spPr>
      </p:sp>
      <p:sp>
        <p:nvSpPr>
          <p:cNvPr id="44" name="Text 42"/>
          <p:cNvSpPr/>
          <p:nvPr/>
        </p:nvSpPr>
        <p:spPr>
          <a:xfrm>
            <a:off x="6519714" y="363929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TAB LIMITATION</a:t>
            </a:r>
            <a:endParaRPr lang="en-US" sz="675" dirty="0"/>
          </a:p>
        </p:txBody>
      </p:sp>
      <p:sp>
        <p:nvSpPr>
          <p:cNvPr id="45" name="Text 43"/>
          <p:cNvSpPr/>
          <p:nvPr/>
        </p:nvSpPr>
        <p:spPr>
          <a:xfrm>
            <a:off x="6519714" y="3797350"/>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Tab autocomplete uses Cursor's proprietary model — cannot use Azure</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880616" cy="201811"/>
          </a:xfrm>
          <a:prstGeom prst="rect">
            <a:avLst/>
          </a:prstGeom>
          <a:solidFill>
            <a:srgbClr val="0078D4"/>
          </a:solidFill>
          <a:ln/>
        </p:spPr>
        <p:txBody>
          <a:bodyPr wrap="square" rtlCol="0" anchor="ctr"/>
          <a:lstStyle/>
          <a:p>
            <a:pPr indent="0" marL="0">
              <a:buNone/>
            </a:pPr>
            <a:endParaRPr lang="en-US" dirty="0"/>
          </a:p>
        </p:txBody>
      </p:sp>
      <p:sp>
        <p:nvSpPr>
          <p:cNvPr id="4" name="Text 2"/>
          <p:cNvSpPr/>
          <p:nvPr/>
        </p:nvSpPr>
        <p:spPr>
          <a:xfrm>
            <a:off x="361950" y="314325"/>
            <a:ext cx="703918"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AZURE OPENAI</a:t>
            </a:r>
            <a:endParaRPr lang="en-US" sz="600" dirty="0"/>
          </a:p>
        </p:txBody>
      </p:sp>
      <p:sp>
        <p:nvSpPr>
          <p:cNvPr id="5" name="Text 3"/>
          <p:cNvSpPr/>
          <p:nvPr/>
        </p:nvSpPr>
        <p:spPr>
          <a:xfrm>
            <a:off x="266700" y="716161"/>
            <a:ext cx="1554480"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Getting Azure</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Credentials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0078D4">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0078D4"/>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60A5FA"/>
                </a:solidFill>
                <a:latin typeface="Arial" pitchFamily="34" charset="0"/>
                <a:ea typeface="Arial" pitchFamily="34" charset="-122"/>
                <a:cs typeface="Arial" pitchFamily="34" charset="-120"/>
              </a:rPr>
              <a:t>WHAT YOU NEED</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Three values from Azure Portal to connect Cursor to your organization's models.</a:t>
            </a:r>
            <a:endParaRPr lang="en-US" sz="750" dirty="0"/>
          </a:p>
        </p:txBody>
      </p:sp>
      <p:sp>
        <p:nvSpPr>
          <p:cNvPr id="11" name="Text 9"/>
          <p:cNvSpPr/>
          <p:nvPr/>
        </p:nvSpPr>
        <p:spPr>
          <a:xfrm>
            <a:off x="266700" y="2834283"/>
            <a:ext cx="2885777" cy="856208"/>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REQUIRED VALUES</a:t>
            </a:r>
            <a:endParaRPr lang="en-US" sz="750" dirty="0"/>
          </a:p>
        </p:txBody>
      </p:sp>
      <p:sp>
        <p:nvSpPr>
          <p:cNvPr id="13" name="Text 11"/>
          <p:cNvSpPr/>
          <p:nvPr/>
        </p:nvSpPr>
        <p:spPr>
          <a:xfrm>
            <a:off x="381000" y="3139083"/>
            <a:ext cx="2710321" cy="437108"/>
          </a:xfrm>
          <a:prstGeom prst="rect">
            <a:avLst/>
          </a:prstGeom>
          <a:noFill/>
          <a:ln/>
        </p:spPr>
        <p:txBody>
          <a:bodyPr wrap="square" lIns="0" tIns="0" rIns="0" bIns="0" rtlCol="0" anchor="t"/>
          <a:lstStyle/>
          <a:p>
            <a:pPr algn="l" indent="0" marL="0">
              <a:lnSpc>
                <a:spcPts val="1148"/>
              </a:lnSpc>
              <a:buNone/>
            </a:pPr>
            <a:r>
              <a:rPr lang="en-US" sz="675" dirty="0">
                <a:solidFill>
                  <a:srgbClr val="FFFFFF">
                    <a:alpha val="60000"/>
                  </a:srgbClr>
                </a:solidFill>
                <a:latin typeface="Arial" pitchFamily="34" charset="0"/>
                <a:ea typeface="Arial" pitchFamily="34" charset="-122"/>
                <a:cs typeface="Arial" pitchFamily="34" charset="-120"/>
              </a:rPr>
              <a:t>1. Base URL (endpoint)</a:t>
            </a:r>
            <a:endParaRPr lang="en-US" sz="675" dirty="0"/>
          </a:p>
          <a:p>
            <a:pPr algn="l" indent="0" marL="0">
              <a:lnSpc>
                <a:spcPts val="1148"/>
              </a:lnSpc>
              <a:buNone/>
            </a:pPr>
            <a:r>
              <a:rPr lang="en-US" sz="675" dirty="0">
                <a:solidFill>
                  <a:srgbClr val="FFFFFF">
                    <a:alpha val="60000"/>
                  </a:srgbClr>
                </a:solidFill>
                <a:latin typeface="Arial" pitchFamily="34" charset="0"/>
                <a:ea typeface="Arial" pitchFamily="34" charset="-122"/>
                <a:cs typeface="Arial" pitchFamily="34" charset="-120"/>
              </a:rPr>
              <a:t> 2. Deployment name</a:t>
            </a:r>
            <a:endParaRPr lang="en-US" sz="675" dirty="0"/>
          </a:p>
          <a:p>
            <a:pPr algn="l" indent="0" marL="0">
              <a:lnSpc>
                <a:spcPts val="1148"/>
              </a:lnSpc>
              <a:buNone/>
            </a:pPr>
            <a:r>
              <a:rPr lang="en-US" sz="675" dirty="0">
                <a:solidFill>
                  <a:srgbClr val="FFFFFF">
                    <a:alpha val="60000"/>
                  </a:srgbClr>
                </a:solidFill>
                <a:latin typeface="Arial" pitchFamily="34" charset="0"/>
                <a:ea typeface="Arial" pitchFamily="34" charset="-122"/>
                <a:cs typeface="Arial" pitchFamily="34" charset="-120"/>
              </a:rPr>
              <a:t> 3. API key</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portal.azure.com</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750391"/>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FINDING YOUR AZURE CREDENTIALS</a:t>
            </a:r>
            <a:endParaRPr lang="en-US" sz="900" dirty="0"/>
          </a:p>
        </p:txBody>
      </p:sp>
      <p:sp>
        <p:nvSpPr>
          <p:cNvPr id="18" name="Text 16"/>
          <p:cNvSpPr/>
          <p:nvPr/>
        </p:nvSpPr>
        <p:spPr>
          <a:xfrm>
            <a:off x="3838277" y="1158032"/>
            <a:ext cx="5039023" cy="59040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81152" y="1319957"/>
            <a:ext cx="228600" cy="228600"/>
          </a:xfrm>
          <a:prstGeom prst="rect">
            <a:avLst/>
          </a:prstGeom>
          <a:solidFill>
            <a:srgbClr val="0078D4"/>
          </a:solidFill>
          <a:ln/>
        </p:spPr>
        <p:txBody>
          <a:bodyPr wrap="square" rtlCol="0" anchor="ctr"/>
          <a:lstStyle/>
          <a:p>
            <a:pPr indent="0" marL="0">
              <a:buNone/>
            </a:pPr>
            <a:endParaRPr lang="en-US" dirty="0"/>
          </a:p>
        </p:txBody>
      </p:sp>
      <p:sp>
        <p:nvSpPr>
          <p:cNvPr id="20" name="Text 18"/>
          <p:cNvSpPr/>
          <p:nvPr/>
        </p:nvSpPr>
        <p:spPr>
          <a:xfrm>
            <a:off x="4324052" y="1300907"/>
            <a:ext cx="2347508"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Navigate to Azure OpenAI Resource</a:t>
            </a:r>
            <a:endParaRPr lang="en-US" sz="825" dirty="0"/>
          </a:p>
        </p:txBody>
      </p:sp>
      <p:sp>
        <p:nvSpPr>
          <p:cNvPr id="21" name="Text 19"/>
          <p:cNvSpPr/>
          <p:nvPr/>
        </p:nvSpPr>
        <p:spPr>
          <a:xfrm>
            <a:off x="4324052" y="1485602"/>
            <a:ext cx="2347508"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Azure Portal → All Resources → Your Azure OpenAI Service</a:t>
            </a:r>
            <a:endParaRPr lang="en-US" sz="675" dirty="0"/>
          </a:p>
        </p:txBody>
      </p:sp>
      <p:sp>
        <p:nvSpPr>
          <p:cNvPr id="22" name="Text 20"/>
          <p:cNvSpPr/>
          <p:nvPr/>
        </p:nvSpPr>
        <p:spPr>
          <a:xfrm>
            <a:off x="3838277" y="1996083"/>
            <a:ext cx="5039023" cy="59040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3" name="Text 21"/>
          <p:cNvSpPr/>
          <p:nvPr/>
        </p:nvSpPr>
        <p:spPr>
          <a:xfrm>
            <a:off x="3981152" y="2158008"/>
            <a:ext cx="228600" cy="228600"/>
          </a:xfrm>
          <a:prstGeom prst="rect">
            <a:avLst/>
          </a:prstGeom>
          <a:solidFill>
            <a:srgbClr val="0078D4"/>
          </a:solidFill>
          <a:ln/>
        </p:spPr>
        <p:txBody>
          <a:bodyPr wrap="square" rtlCol="0" anchor="ctr"/>
          <a:lstStyle/>
          <a:p>
            <a:pPr indent="0" marL="0">
              <a:buNone/>
            </a:pPr>
            <a:endParaRPr lang="en-US" dirty="0"/>
          </a:p>
        </p:txBody>
      </p:sp>
      <p:sp>
        <p:nvSpPr>
          <p:cNvPr id="24" name="Text 22"/>
          <p:cNvSpPr/>
          <p:nvPr/>
        </p:nvSpPr>
        <p:spPr>
          <a:xfrm>
            <a:off x="4324052" y="2138958"/>
            <a:ext cx="2083823"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Copy Endpoint &amp; Key</a:t>
            </a:r>
            <a:endParaRPr lang="en-US" sz="825" dirty="0"/>
          </a:p>
        </p:txBody>
      </p:sp>
      <p:sp>
        <p:nvSpPr>
          <p:cNvPr id="25" name="Text 23"/>
          <p:cNvSpPr/>
          <p:nvPr/>
        </p:nvSpPr>
        <p:spPr>
          <a:xfrm>
            <a:off x="4324052" y="2323654"/>
            <a:ext cx="2083823"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Keys and Endpoint → Copy KEY 1 and Endpoint URL</a:t>
            </a:r>
            <a:endParaRPr lang="en-US" sz="675" dirty="0"/>
          </a:p>
        </p:txBody>
      </p:sp>
      <p:sp>
        <p:nvSpPr>
          <p:cNvPr id="26" name="Text 24"/>
          <p:cNvSpPr/>
          <p:nvPr/>
        </p:nvSpPr>
        <p:spPr>
          <a:xfrm>
            <a:off x="3838277" y="2834134"/>
            <a:ext cx="5039023" cy="59040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7" name="Text 25"/>
          <p:cNvSpPr/>
          <p:nvPr/>
        </p:nvSpPr>
        <p:spPr>
          <a:xfrm>
            <a:off x="3981152" y="2996059"/>
            <a:ext cx="228600" cy="228600"/>
          </a:xfrm>
          <a:prstGeom prst="rect">
            <a:avLst/>
          </a:prstGeom>
          <a:solidFill>
            <a:srgbClr val="0078D4"/>
          </a:solidFill>
          <a:ln/>
        </p:spPr>
        <p:txBody>
          <a:bodyPr wrap="square" rtlCol="0" anchor="ctr"/>
          <a:lstStyle/>
          <a:p>
            <a:pPr indent="0" marL="0">
              <a:buNone/>
            </a:pPr>
            <a:endParaRPr lang="en-US" dirty="0"/>
          </a:p>
        </p:txBody>
      </p:sp>
      <p:sp>
        <p:nvSpPr>
          <p:cNvPr id="28" name="Text 26"/>
          <p:cNvSpPr/>
          <p:nvPr/>
        </p:nvSpPr>
        <p:spPr>
          <a:xfrm>
            <a:off x="4324052" y="2977009"/>
            <a:ext cx="3057195"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Get Deployment Name</a:t>
            </a:r>
            <a:endParaRPr lang="en-US" sz="825" dirty="0"/>
          </a:p>
        </p:txBody>
      </p:sp>
      <p:sp>
        <p:nvSpPr>
          <p:cNvPr id="29" name="Text 27"/>
          <p:cNvSpPr/>
          <p:nvPr/>
        </p:nvSpPr>
        <p:spPr>
          <a:xfrm>
            <a:off x="4324052" y="3161705"/>
            <a:ext cx="3057195"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Model deployments → Copy exact deployment name (e.g., gpt-4o-deployment)</a:t>
            </a:r>
            <a:endParaRPr lang="en-US" sz="675" dirty="0"/>
          </a:p>
        </p:txBody>
      </p:sp>
      <p:sp>
        <p:nvSpPr>
          <p:cNvPr id="30" name="Text 28"/>
          <p:cNvSpPr/>
          <p:nvPr/>
        </p:nvSpPr>
        <p:spPr>
          <a:xfrm>
            <a:off x="3838277" y="3672185"/>
            <a:ext cx="5039023" cy="720923"/>
          </a:xfrm>
          <a:prstGeom prst="rect">
            <a:avLst/>
          </a:prstGeom>
          <a:solidFill>
            <a:srgbClr val="1A1F2E"/>
          </a:solidFill>
          <a:ln/>
        </p:spPr>
        <p:txBody>
          <a:bodyPr wrap="square" rtlCol="0" anchor="ctr"/>
          <a:lstStyle/>
          <a:p>
            <a:pPr indent="0" marL="0">
              <a:buNone/>
            </a:pPr>
            <a:endParaRPr lang="en-US" dirty="0"/>
          </a:p>
        </p:txBody>
      </p:sp>
      <p:sp>
        <p:nvSpPr>
          <p:cNvPr id="31" name="Text 29"/>
          <p:cNvSpPr/>
          <p:nvPr/>
        </p:nvSpPr>
        <p:spPr>
          <a:xfrm>
            <a:off x="3933527" y="3767435"/>
            <a:ext cx="4945493"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EXAMPLE VALUES</a:t>
            </a:r>
            <a:endParaRPr lang="en-US" sz="600" dirty="0"/>
          </a:p>
        </p:txBody>
      </p:sp>
      <p:sp>
        <p:nvSpPr>
          <p:cNvPr id="32" name="Text 30"/>
          <p:cNvSpPr/>
          <p:nvPr/>
        </p:nvSpPr>
        <p:spPr>
          <a:xfrm>
            <a:off x="3933527" y="3912096"/>
            <a:ext cx="4945493" cy="385763"/>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Base URL: </a:t>
            </a:r>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https://myorg.openai.azure.com/</a:t>
            </a:r>
            <a:pPr algn="l" indent="0" marL="0">
              <a:lnSpc>
                <a:spcPts val="1013"/>
              </a:lnSpc>
              <a:buNone/>
            </a:pP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Deployment: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gpt-4o-deployment</a:t>
            </a:r>
            <a:pPr algn="l" indent="0" marL="0">
              <a:lnSpc>
                <a:spcPts val="1013"/>
              </a:lnSpc>
              <a:buNone/>
            </a:pP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API Key: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abc123...</a:t>
            </a:r>
            <a:endParaRPr lang="en-US" sz="6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52202" cy="201811"/>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361950" y="314325"/>
            <a:ext cx="776936"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CONFIGURATION</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Configure</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Cursor</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542925"/>
          </a:xfrm>
          <a:prstGeom prst="rect">
            <a:avLst/>
          </a:prstGeom>
          <a:solidFill>
            <a:srgbClr val="22C55E">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542925"/>
          </a:xfrm>
          <a:prstGeom prst="line">
            <a:avLst/>
          </a:prstGeom>
          <a:noFill/>
          <a:ln w="28575">
            <a:solidFill>
              <a:srgbClr val="22C55E"/>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6EFAC"/>
                </a:solidFill>
                <a:latin typeface="Arial" pitchFamily="34" charset="0"/>
                <a:ea typeface="Arial" pitchFamily="34" charset="-122"/>
                <a:cs typeface="Arial" pitchFamily="34" charset="-120"/>
              </a:rPr>
              <a:t>SETTINGS PATH</a:t>
            </a:r>
            <a:endParaRPr lang="en-US" sz="750" dirty="0"/>
          </a:p>
        </p:txBody>
      </p:sp>
      <p:sp>
        <p:nvSpPr>
          <p:cNvPr id="10" name="Text 8"/>
          <p:cNvSpPr/>
          <p:nvPr/>
        </p:nvSpPr>
        <p:spPr>
          <a:xfrm>
            <a:off x="409575" y="2148483"/>
            <a:ext cx="2681174" cy="142875"/>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Cursor Settings → Models → API Keys → Azure OpenAI</a:t>
            </a:r>
            <a:endParaRPr lang="en-US" sz="750" dirty="0"/>
          </a:p>
        </p:txBody>
      </p:sp>
      <p:sp>
        <p:nvSpPr>
          <p:cNvPr id="11" name="Text 9"/>
          <p:cNvSpPr/>
          <p:nvPr/>
        </p:nvSpPr>
        <p:spPr>
          <a:xfrm>
            <a:off x="266700" y="2691408"/>
            <a:ext cx="2885777" cy="8303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805708"/>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QUICK ACCESS</a:t>
            </a:r>
            <a:endParaRPr lang="en-US" sz="750" dirty="0"/>
          </a:p>
        </p:txBody>
      </p:sp>
      <p:sp>
        <p:nvSpPr>
          <p:cNvPr id="13" name="Text 11"/>
          <p:cNvSpPr/>
          <p:nvPr/>
        </p:nvSpPr>
        <p:spPr>
          <a:xfrm>
            <a:off x="381000" y="2996208"/>
            <a:ext cx="2710321"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Cmd+, (macOS)</a:t>
            </a:r>
            <a:endParaRPr lang="en-US" sz="675" dirty="0"/>
          </a:p>
          <a:p>
            <a:pPr algn="l" indent="0" marL="0">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 Ctrl+, (Windows)</a:t>
            </a:r>
            <a:endParaRPr lang="en-US" sz="675" dirty="0"/>
          </a:p>
          <a:p>
            <a:pPr algn="l" indent="0" marL="0">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 → Cursor Settings</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Always click "Verify" after entering</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841474"/>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STEP-BY-STEP SETUP</a:t>
            </a:r>
            <a:endParaRPr lang="en-US" sz="900" dirty="0"/>
          </a:p>
        </p:txBody>
      </p:sp>
      <p:sp>
        <p:nvSpPr>
          <p:cNvPr id="18" name="Text 16"/>
          <p:cNvSpPr/>
          <p:nvPr/>
        </p:nvSpPr>
        <p:spPr>
          <a:xfrm>
            <a:off x="3838277" y="1249114"/>
            <a:ext cx="5039023" cy="1387971"/>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3971627" y="1382464"/>
            <a:ext cx="4867769"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IN CURSOR SETTINGS → MODELS → API KEYS</a:t>
            </a:r>
            <a:endParaRPr lang="en-US" sz="675" dirty="0"/>
          </a:p>
        </p:txBody>
      </p:sp>
      <p:sp>
        <p:nvSpPr>
          <p:cNvPr id="20" name="Text 18"/>
          <p:cNvSpPr/>
          <p:nvPr/>
        </p:nvSpPr>
        <p:spPr>
          <a:xfrm>
            <a:off x="3971627" y="1578620"/>
            <a:ext cx="4867769" cy="925116"/>
          </a:xfrm>
          <a:prstGeom prst="rect">
            <a:avLst/>
          </a:prstGeom>
          <a:noFill/>
          <a:ln/>
        </p:spPr>
        <p:txBody>
          <a:bodyPr wrap="square" lIns="0" tIns="0" rIns="0" bIns="0" rtlCol="0" anchor="t"/>
          <a:lstStyle/>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1.</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Click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"Add Model"</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or select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"Azure"</a:t>
            </a:r>
            <a:pPr algn="l" indent="0" marL="0">
              <a:lnSpc>
                <a:spcPts val="1215"/>
              </a:lnSpc>
              <a:buNone/>
            </a:pP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2.</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Enter Base URL: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https://yourorg.openai.azure.com/</a:t>
            </a:r>
            <a:pPr algn="l" indent="0" marL="0">
              <a:lnSpc>
                <a:spcPts val="1215"/>
              </a:lnSpc>
              <a:buNone/>
            </a:pP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3.</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Enter Deployment Name: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gpt-4o-deployment</a:t>
            </a:r>
            <a:pPr algn="l" indent="0" marL="0">
              <a:lnSpc>
                <a:spcPts val="1215"/>
              </a:lnSpc>
              <a:buNone/>
            </a:pP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4.</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Enter API Key: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[paste your key]</a:t>
            </a:r>
            <a:pPr algn="l" indent="0" marL="0">
              <a:lnSpc>
                <a:spcPts val="1215"/>
              </a:lnSpc>
              <a:buNone/>
            </a:pP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5.</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Click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"Verify"</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to test connection</a:t>
            </a: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6.</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Enable for Chat, Cmd+K, and Composer</a:t>
            </a:r>
            <a:endParaRPr lang="en-US" sz="675" dirty="0"/>
          </a:p>
        </p:txBody>
      </p:sp>
      <p:sp>
        <p:nvSpPr>
          <p:cNvPr id="21" name="Text 19"/>
          <p:cNvSpPr/>
          <p:nvPr/>
        </p:nvSpPr>
        <p:spPr>
          <a:xfrm>
            <a:off x="3838277" y="2903786"/>
            <a:ext cx="2481411" cy="455116"/>
          </a:xfrm>
          <a:prstGeom prst="rect">
            <a:avLst/>
          </a:prstGeom>
          <a:solidFill>
            <a:srgbClr val="DCFCE7"/>
          </a:solidFill>
          <a:ln/>
        </p:spPr>
        <p:txBody>
          <a:bodyPr wrap="square" rtlCol="0" anchor="ctr"/>
          <a:lstStyle/>
          <a:p>
            <a:pPr indent="0" marL="0">
              <a:buNone/>
            </a:pPr>
            <a:endParaRPr lang="en-US" dirty="0"/>
          </a:p>
        </p:txBody>
      </p:sp>
      <p:sp>
        <p:nvSpPr>
          <p:cNvPr id="22" name="Shape 20"/>
          <p:cNvSpPr/>
          <p:nvPr/>
        </p:nvSpPr>
        <p:spPr>
          <a:xfrm>
            <a:off x="3852565" y="2903786"/>
            <a:ext cx="0" cy="455116"/>
          </a:xfrm>
          <a:prstGeom prst="line">
            <a:avLst/>
          </a:prstGeom>
          <a:noFill/>
          <a:ln w="28575">
            <a:solidFill>
              <a:srgbClr val="059669"/>
            </a:solidFill>
            <a:prstDash val="solid"/>
          </a:ln>
        </p:spPr>
      </p:sp>
      <p:sp>
        <p:nvSpPr>
          <p:cNvPr id="23" name="Text 21"/>
          <p:cNvSpPr/>
          <p:nvPr/>
        </p:nvSpPr>
        <p:spPr>
          <a:xfrm>
            <a:off x="3962102" y="2999036"/>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SUCCESS CHECK</a:t>
            </a:r>
            <a:endParaRPr lang="en-US" sz="675" dirty="0"/>
          </a:p>
        </p:txBody>
      </p:sp>
      <p:sp>
        <p:nvSpPr>
          <p:cNvPr id="24" name="Text 22"/>
          <p:cNvSpPr/>
          <p:nvPr/>
        </p:nvSpPr>
        <p:spPr>
          <a:xfrm>
            <a:off x="3962102" y="3157091"/>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Green checkmark after "Verify" means you're connected to Azure</a:t>
            </a:r>
            <a:endParaRPr lang="en-US" sz="600" dirty="0"/>
          </a:p>
        </p:txBody>
      </p:sp>
      <p:sp>
        <p:nvSpPr>
          <p:cNvPr id="25" name="Text 23"/>
          <p:cNvSpPr/>
          <p:nvPr/>
        </p:nvSpPr>
        <p:spPr>
          <a:xfrm>
            <a:off x="6395889" y="2903786"/>
            <a:ext cx="2481411" cy="455116"/>
          </a:xfrm>
          <a:prstGeom prst="rect">
            <a:avLst/>
          </a:prstGeom>
          <a:solidFill>
            <a:srgbClr val="FEF3C7"/>
          </a:solidFill>
          <a:ln/>
        </p:spPr>
        <p:txBody>
          <a:bodyPr wrap="square" rtlCol="0" anchor="ctr"/>
          <a:lstStyle/>
          <a:p>
            <a:pPr indent="0" marL="0">
              <a:buNone/>
            </a:pPr>
            <a:endParaRPr lang="en-US" dirty="0"/>
          </a:p>
        </p:txBody>
      </p:sp>
      <p:sp>
        <p:nvSpPr>
          <p:cNvPr id="26" name="Shape 24"/>
          <p:cNvSpPr/>
          <p:nvPr/>
        </p:nvSpPr>
        <p:spPr>
          <a:xfrm>
            <a:off x="6410176" y="2903786"/>
            <a:ext cx="0" cy="455116"/>
          </a:xfrm>
          <a:prstGeom prst="line">
            <a:avLst/>
          </a:prstGeom>
          <a:noFill/>
          <a:ln w="28575">
            <a:solidFill>
              <a:srgbClr val="F59E0B"/>
            </a:solidFill>
            <a:prstDash val="solid"/>
          </a:ln>
        </p:spPr>
      </p:sp>
      <p:sp>
        <p:nvSpPr>
          <p:cNvPr id="27" name="Text 25"/>
          <p:cNvSpPr/>
          <p:nvPr/>
        </p:nvSpPr>
        <p:spPr>
          <a:xfrm>
            <a:off x="6519714" y="2999036"/>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COMMON ERROR</a:t>
            </a:r>
            <a:endParaRPr lang="en-US" sz="675" dirty="0"/>
          </a:p>
        </p:txBody>
      </p:sp>
      <p:sp>
        <p:nvSpPr>
          <p:cNvPr id="28" name="Text 26"/>
          <p:cNvSpPr/>
          <p:nvPr/>
        </p:nvSpPr>
        <p:spPr>
          <a:xfrm>
            <a:off x="6519714" y="3157091"/>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Deployment name must exactly match Azure — case sensitive!</a:t>
            </a:r>
            <a:endParaRPr lang="en-US" sz="600" dirty="0"/>
          </a:p>
        </p:txBody>
      </p:sp>
      <p:sp>
        <p:nvSpPr>
          <p:cNvPr id="29" name="Text 27"/>
          <p:cNvSpPr/>
          <p:nvPr/>
        </p:nvSpPr>
        <p:spPr>
          <a:xfrm>
            <a:off x="3838277" y="3606552"/>
            <a:ext cx="5039023" cy="69532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0" name="Text 28"/>
          <p:cNvSpPr/>
          <p:nvPr/>
        </p:nvSpPr>
        <p:spPr>
          <a:xfrm>
            <a:off x="3962102" y="3730377"/>
            <a:ext cx="4887200"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ENABLE FOR FEATURES</a:t>
            </a:r>
            <a:endParaRPr lang="en-US" sz="750" dirty="0"/>
          </a:p>
        </p:txBody>
      </p:sp>
      <p:sp>
        <p:nvSpPr>
          <p:cNvPr id="31" name="Text 29"/>
          <p:cNvSpPr/>
          <p:nvPr/>
        </p:nvSpPr>
        <p:spPr>
          <a:xfrm>
            <a:off x="3962102" y="3920877"/>
            <a:ext cx="4887200"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After adding Azure, check the boxes to enable it for: </a:t>
            </a:r>
            <a:pPr algn="l" indent="0" marL="0">
              <a:lnSpc>
                <a:spcPts val="1013"/>
              </a:lnSpc>
              <a:buNone/>
            </a:pPr>
            <a:r>
              <a:rPr lang="en-US" sz="675" b="1" dirty="0">
                <a:solidFill>
                  <a:srgbClr val="6B7280"/>
                </a:solidFill>
                <a:latin typeface="Arial" pitchFamily="34" charset="0"/>
                <a:ea typeface="Arial" pitchFamily="34" charset="-122"/>
                <a:cs typeface="Arial" pitchFamily="34" charset="-120"/>
              </a:rPr>
              <a:t>Chat</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(Cmd+L), </a:t>
            </a:r>
            <a:pPr algn="l" indent="0" marL="0">
              <a:lnSpc>
                <a:spcPts val="1013"/>
              </a:lnSpc>
              <a:buNone/>
            </a:pPr>
            <a:r>
              <a:rPr lang="en-US" sz="675" b="1" dirty="0">
                <a:solidFill>
                  <a:srgbClr val="6B7280"/>
                </a:solidFill>
                <a:latin typeface="Arial" pitchFamily="34" charset="0"/>
                <a:ea typeface="Arial" pitchFamily="34" charset="-122"/>
                <a:cs typeface="Arial" pitchFamily="34" charset="-120"/>
              </a:rPr>
              <a:t>Cmd+K</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(inline), and </a:t>
            </a:r>
            <a:pPr algn="l" indent="0" marL="0">
              <a:lnSpc>
                <a:spcPts val="1013"/>
              </a:lnSpc>
              <a:buNone/>
            </a:pPr>
            <a:r>
              <a:rPr lang="en-US" sz="675" b="1" dirty="0">
                <a:solidFill>
                  <a:srgbClr val="6B7280"/>
                </a:solidFill>
                <a:latin typeface="Arial" pitchFamily="34" charset="0"/>
                <a:ea typeface="Arial" pitchFamily="34" charset="-122"/>
                <a:cs typeface="Arial" pitchFamily="34" charset="-120"/>
              </a:rPr>
              <a:t>Composer</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(Cmd+I). Each can use different models.</a:t>
            </a:r>
            <a:endParaRPr lang="en-US" sz="6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757089" cy="201811"/>
          </a:xfrm>
          <a:prstGeom prst="rect">
            <a:avLst/>
          </a:prstGeom>
          <a:solidFill>
            <a:srgbClr val="7C3AED"/>
          </a:solidFill>
          <a:ln/>
        </p:spPr>
        <p:txBody>
          <a:bodyPr wrap="square" rtlCol="0" anchor="ctr"/>
          <a:lstStyle/>
          <a:p>
            <a:pPr indent="0" marL="0">
              <a:buNone/>
            </a:pPr>
            <a:endParaRPr lang="en-US" dirty="0"/>
          </a:p>
        </p:txBody>
      </p:sp>
      <p:sp>
        <p:nvSpPr>
          <p:cNvPr id="4" name="Text 2"/>
          <p:cNvSpPr/>
          <p:nvPr/>
        </p:nvSpPr>
        <p:spPr>
          <a:xfrm>
            <a:off x="361950" y="314325"/>
            <a:ext cx="577920"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AI FOUNDRY</a:t>
            </a:r>
            <a:endParaRPr lang="en-US" sz="600" dirty="0"/>
          </a:p>
        </p:txBody>
      </p:sp>
      <p:sp>
        <p:nvSpPr>
          <p:cNvPr id="5" name="Text 3"/>
          <p:cNvSpPr/>
          <p:nvPr/>
        </p:nvSpPr>
        <p:spPr>
          <a:xfrm>
            <a:off x="266700" y="716161"/>
            <a:ext cx="1476756" cy="548580"/>
          </a:xfrm>
          <a:prstGeom prst="rect">
            <a:avLst/>
          </a:prstGeom>
          <a:noFill/>
          <a:ln/>
        </p:spPr>
        <p:txBody>
          <a:bodyPr wrap="square" lIns="0" tIns="0" rIns="0" bIns="0" rtlCol="0" anchor="t"/>
          <a:lstStyle/>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Azure AI</a:t>
            </a:r>
            <a:endParaRPr lang="en-US" sz="1800" dirty="0"/>
          </a:p>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Foundry</a:t>
            </a:r>
            <a:endParaRPr lang="en-US" sz="1800" dirty="0"/>
          </a:p>
        </p:txBody>
      </p:sp>
      <p:sp>
        <p:nvSpPr>
          <p:cNvPr id="6" name="Text 4"/>
          <p:cNvSpPr/>
          <p:nvPr/>
        </p:nvSpPr>
        <p:spPr>
          <a:xfrm>
            <a:off x="266700" y="1512391"/>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17191"/>
            <a:ext cx="2885777" cy="685800"/>
          </a:xfrm>
          <a:prstGeom prst="rect">
            <a:avLst/>
          </a:prstGeom>
          <a:solidFill>
            <a:srgbClr val="7C3AED">
              <a:alpha val="15000"/>
            </a:srgbClr>
          </a:solidFill>
          <a:ln/>
        </p:spPr>
        <p:txBody>
          <a:bodyPr wrap="square" rtlCol="0" anchor="ctr"/>
          <a:lstStyle/>
          <a:p>
            <a:pPr indent="0" marL="0">
              <a:buNone/>
            </a:pPr>
            <a:endParaRPr lang="en-US" dirty="0"/>
          </a:p>
        </p:txBody>
      </p:sp>
      <p:sp>
        <p:nvSpPr>
          <p:cNvPr id="8" name="Shape 6"/>
          <p:cNvSpPr/>
          <p:nvPr/>
        </p:nvSpPr>
        <p:spPr>
          <a:xfrm>
            <a:off x="280988" y="1817191"/>
            <a:ext cx="0" cy="685800"/>
          </a:xfrm>
          <a:prstGeom prst="line">
            <a:avLst/>
          </a:prstGeom>
          <a:noFill/>
          <a:ln w="28575">
            <a:solidFill>
              <a:srgbClr val="7C3AED"/>
            </a:solidFill>
            <a:prstDash val="solid"/>
          </a:ln>
        </p:spPr>
      </p:sp>
      <p:sp>
        <p:nvSpPr>
          <p:cNvPr id="9" name="Text 7"/>
          <p:cNvSpPr/>
          <p:nvPr/>
        </p:nvSpPr>
        <p:spPr>
          <a:xfrm>
            <a:off x="409575" y="1931491"/>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A78BFA"/>
                </a:solidFill>
                <a:latin typeface="Arial" pitchFamily="34" charset="0"/>
                <a:ea typeface="Arial" pitchFamily="34" charset="-122"/>
                <a:cs typeface="Arial" pitchFamily="34" charset="-120"/>
              </a:rPr>
              <a:t>WHAT IT IS</a:t>
            </a:r>
            <a:endParaRPr lang="en-US" sz="750" dirty="0"/>
          </a:p>
        </p:txBody>
      </p:sp>
      <p:sp>
        <p:nvSpPr>
          <p:cNvPr id="10" name="Text 8"/>
          <p:cNvSpPr/>
          <p:nvPr/>
        </p:nvSpPr>
        <p:spPr>
          <a:xfrm>
            <a:off x="409575" y="2102941"/>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Microsoft's unified platform for deploying foundation models — GPT, Claude, Llama, Mistral, and more.</a:t>
            </a:r>
            <a:endParaRPr lang="en-US" sz="750" dirty="0"/>
          </a:p>
        </p:txBody>
      </p:sp>
      <p:sp>
        <p:nvSpPr>
          <p:cNvPr id="11" name="Text 9"/>
          <p:cNvSpPr/>
          <p:nvPr/>
        </p:nvSpPr>
        <p:spPr>
          <a:xfrm>
            <a:off x="266700" y="2788741"/>
            <a:ext cx="2885777" cy="933450"/>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03041"/>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AVAILABLE MODELS</a:t>
            </a:r>
            <a:endParaRPr lang="en-US" sz="750" dirty="0"/>
          </a:p>
        </p:txBody>
      </p:sp>
      <p:sp>
        <p:nvSpPr>
          <p:cNvPr id="13" name="Text 11"/>
          <p:cNvSpPr/>
          <p:nvPr/>
        </p:nvSpPr>
        <p:spPr>
          <a:xfrm>
            <a:off x="381000" y="3093541"/>
            <a:ext cx="2710321" cy="514350"/>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OpenAI (GPT-4o, GPT-4)</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Anthropic Claude</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Meta Llama</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Mistral AI</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ai.azure.com</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560784"/>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CONNECTING FOUNDRY TO CURSOR</a:t>
            </a:r>
            <a:endParaRPr lang="en-US" sz="900" dirty="0"/>
          </a:p>
        </p:txBody>
      </p:sp>
      <p:sp>
        <p:nvSpPr>
          <p:cNvPr id="18" name="Text 16"/>
          <p:cNvSpPr/>
          <p:nvPr/>
        </p:nvSpPr>
        <p:spPr>
          <a:xfrm>
            <a:off x="3838277" y="968425"/>
            <a:ext cx="5039023" cy="76572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81152" y="1111300"/>
            <a:ext cx="4848338"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7C3AED"/>
                </a:solidFill>
                <a:latin typeface="Arial" pitchFamily="34" charset="0"/>
                <a:ea typeface="Arial" pitchFamily="34" charset="-122"/>
                <a:cs typeface="Arial" pitchFamily="34" charset="-120"/>
              </a:rPr>
              <a:t>OPENAI-COMPATIBLE MODELS</a:t>
            </a:r>
            <a:endParaRPr lang="en-US" sz="825" dirty="0"/>
          </a:p>
        </p:txBody>
      </p:sp>
      <p:sp>
        <p:nvSpPr>
          <p:cNvPr id="20" name="Text 18"/>
          <p:cNvSpPr/>
          <p:nvPr/>
        </p:nvSpPr>
        <p:spPr>
          <a:xfrm>
            <a:off x="3981152" y="1334095"/>
            <a:ext cx="4848338"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Models deployed via Azure OpenAI Service (GPT-4, GPT-4o) work with the standard Azure configuration. Use the same setup as Azure OpenAI.</a:t>
            </a:r>
            <a:endParaRPr lang="en-US" sz="675" dirty="0"/>
          </a:p>
        </p:txBody>
      </p:sp>
      <p:sp>
        <p:nvSpPr>
          <p:cNvPr id="21" name="Text 19"/>
          <p:cNvSpPr/>
          <p:nvPr/>
        </p:nvSpPr>
        <p:spPr>
          <a:xfrm>
            <a:off x="3838277" y="1981795"/>
            <a:ext cx="5039023" cy="76572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2" name="Text 20"/>
          <p:cNvSpPr/>
          <p:nvPr/>
        </p:nvSpPr>
        <p:spPr>
          <a:xfrm>
            <a:off x="3981152" y="2124670"/>
            <a:ext cx="4848338"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7C3AED"/>
                </a:solidFill>
                <a:latin typeface="Arial" pitchFamily="34" charset="0"/>
                <a:ea typeface="Arial" pitchFamily="34" charset="-122"/>
                <a:cs typeface="Arial" pitchFamily="34" charset="-120"/>
              </a:rPr>
              <a:t>OTHER FOUNDRY MODELS</a:t>
            </a:r>
            <a:endParaRPr lang="en-US" sz="825" dirty="0"/>
          </a:p>
        </p:txBody>
      </p:sp>
      <p:sp>
        <p:nvSpPr>
          <p:cNvPr id="23" name="Text 21"/>
          <p:cNvSpPr/>
          <p:nvPr/>
        </p:nvSpPr>
        <p:spPr>
          <a:xfrm>
            <a:off x="3981152" y="2347466"/>
            <a:ext cx="4848338"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Claude, Llama, and Mistral deployed via Foundry require checking the specific endpoint format. Some may need OpenAI-compatible API wrapper.</a:t>
            </a:r>
            <a:endParaRPr lang="en-US" sz="675" dirty="0"/>
          </a:p>
        </p:txBody>
      </p:sp>
      <p:sp>
        <p:nvSpPr>
          <p:cNvPr id="24" name="Text 22"/>
          <p:cNvSpPr/>
          <p:nvPr/>
        </p:nvSpPr>
        <p:spPr>
          <a:xfrm>
            <a:off x="3838277" y="2995166"/>
            <a:ext cx="5039023" cy="778073"/>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3952577" y="3109466"/>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FOUNDRY MODEL ENDPOINT FORMAT</a:t>
            </a:r>
            <a:endParaRPr lang="en-US" sz="600" dirty="0"/>
          </a:p>
        </p:txBody>
      </p:sp>
      <p:sp>
        <p:nvSpPr>
          <p:cNvPr id="26" name="Text 24"/>
          <p:cNvSpPr/>
          <p:nvPr/>
        </p:nvSpPr>
        <p:spPr>
          <a:xfrm>
            <a:off x="3952577" y="3273177"/>
            <a:ext cx="4906631" cy="385763"/>
          </a:xfrm>
          <a:prstGeom prst="rect">
            <a:avLst/>
          </a:prstGeom>
          <a:noFill/>
          <a:ln/>
        </p:spPr>
        <p:txBody>
          <a:bodyPr wrap="square" lIns="0" tIns="0" rIns="0" bIns="0" rtlCol="0" anchor="t"/>
          <a:lstStyle/>
          <a:p>
            <a:pPr algn="l" indent="0" marL="0">
              <a:lnSpc>
                <a:spcPts val="1013"/>
              </a:lnSpc>
              <a:buNone/>
            </a:pPr>
            <a:r>
              <a:rPr lang="en-US" sz="675" dirty="0">
                <a:solidFill>
                  <a:srgbClr val="9CA3AF">
                    <a:alpha val="80000"/>
                  </a:srgbClr>
                </a:solidFill>
                <a:latin typeface="Arial" pitchFamily="34" charset="0"/>
                <a:ea typeface="Arial" pitchFamily="34" charset="-122"/>
                <a:cs typeface="Arial" pitchFamily="34" charset="-120"/>
              </a:rPr>
              <a:t># Check your Foundry deployment for:</a:t>
            </a:r>
            <a:pPr algn="l" indent="0" marL="0">
              <a:lnSpc>
                <a:spcPts val="1013"/>
              </a:lnSpc>
              <a:buNone/>
            </a:pP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Endpoint URL: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https://&lt;project&gt;.&lt;region&gt;.inference.ml.azure.com/</a:t>
            </a:r>
            <a:pPr algn="l" indent="0" marL="0">
              <a:lnSpc>
                <a:spcPts val="1013"/>
              </a:lnSpc>
              <a:buNone/>
            </a:pP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API Key: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[from Foundry portal]</a:t>
            </a:r>
            <a:endParaRPr lang="en-US" sz="675" dirty="0"/>
          </a:p>
        </p:txBody>
      </p:sp>
      <p:sp>
        <p:nvSpPr>
          <p:cNvPr id="27" name="Text 25"/>
          <p:cNvSpPr/>
          <p:nvPr/>
        </p:nvSpPr>
        <p:spPr>
          <a:xfrm>
            <a:off x="3838277" y="4020889"/>
            <a:ext cx="2481411" cy="561677"/>
          </a:xfrm>
          <a:prstGeom prst="rect">
            <a:avLst/>
          </a:prstGeom>
          <a:solidFill>
            <a:srgbClr val="DCFCE7"/>
          </a:solidFill>
          <a:ln/>
        </p:spPr>
        <p:txBody>
          <a:bodyPr wrap="square" rtlCol="0" anchor="ctr"/>
          <a:lstStyle/>
          <a:p>
            <a:pPr indent="0" marL="0">
              <a:buNone/>
            </a:pPr>
            <a:endParaRPr lang="en-US" dirty="0"/>
          </a:p>
        </p:txBody>
      </p:sp>
      <p:sp>
        <p:nvSpPr>
          <p:cNvPr id="28" name="Shape 26"/>
          <p:cNvSpPr/>
          <p:nvPr/>
        </p:nvSpPr>
        <p:spPr>
          <a:xfrm>
            <a:off x="3852565" y="4020889"/>
            <a:ext cx="0" cy="561677"/>
          </a:xfrm>
          <a:prstGeom prst="line">
            <a:avLst/>
          </a:prstGeom>
          <a:noFill/>
          <a:ln w="28575">
            <a:solidFill>
              <a:srgbClr val="059669"/>
            </a:solidFill>
            <a:prstDash val="solid"/>
          </a:ln>
        </p:spPr>
      </p:sp>
      <p:sp>
        <p:nvSpPr>
          <p:cNvPr id="29" name="Text 27"/>
          <p:cNvSpPr/>
          <p:nvPr/>
        </p:nvSpPr>
        <p:spPr>
          <a:xfrm>
            <a:off x="3962102" y="4116139"/>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BEST APPROACH</a:t>
            </a:r>
            <a:endParaRPr lang="en-US" sz="675" dirty="0"/>
          </a:p>
        </p:txBody>
      </p:sp>
      <p:sp>
        <p:nvSpPr>
          <p:cNvPr id="30" name="Text 28"/>
          <p:cNvSpPr/>
          <p:nvPr/>
        </p:nvSpPr>
        <p:spPr>
          <a:xfrm>
            <a:off x="3962102" y="4274195"/>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For Cursor, deploy models via Azure OpenAI Service — seamless integration</a:t>
            </a:r>
            <a:endParaRPr lang="en-US" sz="600" dirty="0"/>
          </a:p>
        </p:txBody>
      </p:sp>
      <p:sp>
        <p:nvSpPr>
          <p:cNvPr id="31" name="Text 29"/>
          <p:cNvSpPr/>
          <p:nvPr/>
        </p:nvSpPr>
        <p:spPr>
          <a:xfrm>
            <a:off x="6395889" y="4074170"/>
            <a:ext cx="2481411" cy="455116"/>
          </a:xfrm>
          <a:prstGeom prst="rect">
            <a:avLst/>
          </a:prstGeom>
          <a:solidFill>
            <a:srgbClr val="FEF3C7"/>
          </a:solidFill>
          <a:ln/>
        </p:spPr>
        <p:txBody>
          <a:bodyPr wrap="square" rtlCol="0" anchor="ctr"/>
          <a:lstStyle/>
          <a:p>
            <a:pPr indent="0" marL="0">
              <a:buNone/>
            </a:pPr>
            <a:endParaRPr lang="en-US" dirty="0"/>
          </a:p>
        </p:txBody>
      </p:sp>
      <p:sp>
        <p:nvSpPr>
          <p:cNvPr id="32" name="Shape 30"/>
          <p:cNvSpPr/>
          <p:nvPr/>
        </p:nvSpPr>
        <p:spPr>
          <a:xfrm>
            <a:off x="6410176" y="4074170"/>
            <a:ext cx="0" cy="455116"/>
          </a:xfrm>
          <a:prstGeom prst="line">
            <a:avLst/>
          </a:prstGeom>
          <a:noFill/>
          <a:ln w="28575">
            <a:solidFill>
              <a:srgbClr val="F59E0B"/>
            </a:solidFill>
            <a:prstDash val="solid"/>
          </a:ln>
        </p:spPr>
      </p:sp>
      <p:sp>
        <p:nvSpPr>
          <p:cNvPr id="33" name="Text 31"/>
          <p:cNvSpPr/>
          <p:nvPr/>
        </p:nvSpPr>
        <p:spPr>
          <a:xfrm>
            <a:off x="6519714" y="4169420"/>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LIMITATION</a:t>
            </a:r>
            <a:endParaRPr lang="en-US" sz="675" dirty="0"/>
          </a:p>
        </p:txBody>
      </p:sp>
      <p:sp>
        <p:nvSpPr>
          <p:cNvPr id="34" name="Text 32"/>
          <p:cNvSpPr/>
          <p:nvPr/>
        </p:nvSpPr>
        <p:spPr>
          <a:xfrm>
            <a:off x="6519714" y="4327475"/>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Not all Foundry endpoints are OpenAI-compatible — test first</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42231" cy="201811"/>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361950" y="314325"/>
            <a:ext cx="766765"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CUSTOMIZATION</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Project</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Rules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22C55E">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22C55E"/>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6EFAC"/>
                </a:solidFill>
                <a:latin typeface="Arial" pitchFamily="34" charset="0"/>
                <a:ea typeface="Arial" pitchFamily="34" charset="-122"/>
                <a:cs typeface="Arial" pitchFamily="34" charset="-120"/>
              </a:rPr>
              <a:t>WHAT RULES DO</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Define how the AI behaves for your project — coding standards, patterns, constraints.</a:t>
            </a:r>
            <a:endParaRPr lang="en-US" sz="750" dirty="0"/>
          </a:p>
        </p:txBody>
      </p:sp>
      <p:sp>
        <p:nvSpPr>
          <p:cNvPr id="11" name="Text 9"/>
          <p:cNvSpPr/>
          <p:nvPr/>
        </p:nvSpPr>
        <p:spPr>
          <a:xfrm>
            <a:off x="266700" y="2834283"/>
            <a:ext cx="2885777" cy="693241"/>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TWO APPROACHES</a:t>
            </a:r>
            <a:endParaRPr lang="en-US" sz="750" dirty="0"/>
          </a:p>
        </p:txBody>
      </p:sp>
      <p:sp>
        <p:nvSpPr>
          <p:cNvPr id="13" name="Text 11"/>
          <p:cNvSpPr/>
          <p:nvPr/>
        </p:nvSpPr>
        <p:spPr>
          <a:xfrm>
            <a:off x="381000" y="3139083"/>
            <a:ext cx="2710321" cy="274141"/>
          </a:xfrm>
          <a:prstGeom prst="rect">
            <a:avLst/>
          </a:prstGeom>
          <a:noFill/>
          <a:ln/>
        </p:spPr>
        <p:txBody>
          <a:bodyPr wrap="square" lIns="0" tIns="0" rIns="0" bIns="0" rtlCol="0" anchor="t"/>
          <a:lstStyle/>
          <a:p>
            <a:pPr algn="l" indent="0" marL="0">
              <a:lnSpc>
                <a:spcPts val="1080"/>
              </a:lnSpc>
              <a:buNone/>
            </a:pPr>
            <a:r>
              <a:rPr lang="en-US" sz="675" b="1" dirty="0">
                <a:solidFill>
                  <a:srgbClr val="FFFFFF">
                    <a:alpha val="80000"/>
                  </a:srgbClr>
                </a:solidFill>
                <a:latin typeface="Arial" pitchFamily="34" charset="0"/>
                <a:ea typeface="Arial" pitchFamily="34" charset="-122"/>
                <a:cs typeface="Arial" pitchFamily="34" charset="-120"/>
              </a:rPr>
              <a:t>Legacy:</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.cursorrules file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b="1" dirty="0">
                <a:solidFill>
                  <a:srgbClr val="FFFFFF">
                    <a:alpha val="80000"/>
                  </a:srgbClr>
                </a:solidFill>
                <a:latin typeface="Arial" pitchFamily="34" charset="0"/>
                <a:ea typeface="Arial" pitchFamily="34" charset="-122"/>
                <a:cs typeface="Arial" pitchFamily="34" charset="-120"/>
              </a:rPr>
              <a:t>Modern:</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.cursor/rules/ folder</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Commit rules to git for team sharing</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916781"/>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RULES CONFIGURATION</a:t>
            </a:r>
            <a:endParaRPr lang="en-US" sz="900" dirty="0"/>
          </a:p>
        </p:txBody>
      </p:sp>
      <p:sp>
        <p:nvSpPr>
          <p:cNvPr id="18" name="Text 16"/>
          <p:cNvSpPr/>
          <p:nvPr/>
        </p:nvSpPr>
        <p:spPr>
          <a:xfrm>
            <a:off x="3838277" y="1393924"/>
            <a:ext cx="2462361" cy="71601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62102" y="1517749"/>
            <a:ext cx="2259006"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LEGACY (STILL WORKS)</a:t>
            </a:r>
            <a:endParaRPr lang="en-US" sz="600" dirty="0"/>
          </a:p>
        </p:txBody>
      </p:sp>
      <p:sp>
        <p:nvSpPr>
          <p:cNvPr id="20" name="Text 18"/>
          <p:cNvSpPr/>
          <p:nvPr/>
        </p:nvSpPr>
        <p:spPr>
          <a:xfrm>
            <a:off x="3962102" y="1662410"/>
            <a:ext cx="2259006"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.cursorrules</a:t>
            </a:r>
            <a:endParaRPr lang="en-US" sz="825" dirty="0"/>
          </a:p>
        </p:txBody>
      </p:sp>
      <p:sp>
        <p:nvSpPr>
          <p:cNvPr id="21" name="Text 19"/>
          <p:cNvSpPr/>
          <p:nvPr/>
        </p:nvSpPr>
        <p:spPr>
          <a:xfrm>
            <a:off x="3962102" y="1866156"/>
            <a:ext cx="2259006"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Single markdown file in project root. Simple but limited.</a:t>
            </a:r>
            <a:endParaRPr lang="en-US" sz="675" dirty="0"/>
          </a:p>
        </p:txBody>
      </p:sp>
      <p:sp>
        <p:nvSpPr>
          <p:cNvPr id="22" name="Text 20"/>
          <p:cNvSpPr/>
          <p:nvPr/>
        </p:nvSpPr>
        <p:spPr>
          <a:xfrm>
            <a:off x="6395889" y="1324421"/>
            <a:ext cx="2481411" cy="855018"/>
          </a:xfrm>
          <a:prstGeom prst="rect">
            <a:avLst/>
          </a:prstGeom>
          <a:solidFill>
            <a:srgbClr val="FFFFFF"/>
          </a:solidFill>
          <a:ln w="19050">
            <a:solidFill>
              <a:srgbClr val="22C55E"/>
            </a:solidFill>
          </a:ln>
        </p:spPr>
        <p:txBody>
          <a:bodyPr wrap="square" rtlCol="0" anchor="ctr"/>
          <a:lstStyle/>
          <a:p>
            <a:pPr indent="0" marL="0">
              <a:buNone/>
            </a:pPr>
            <a:endParaRPr lang="en-US" dirty="0"/>
          </a:p>
        </p:txBody>
      </p:sp>
      <p:sp>
        <p:nvSpPr>
          <p:cNvPr id="23" name="Text 21"/>
          <p:cNvSpPr/>
          <p:nvPr/>
        </p:nvSpPr>
        <p:spPr>
          <a:xfrm>
            <a:off x="6529239" y="1457771"/>
            <a:ext cx="2259006"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22C55E"/>
                </a:solidFill>
                <a:latin typeface="Arial" pitchFamily="34" charset="0"/>
                <a:ea typeface="Arial" pitchFamily="34" charset="-122"/>
                <a:cs typeface="Arial" pitchFamily="34" charset="-120"/>
              </a:rPr>
              <a:t>RECOMMENDED</a:t>
            </a:r>
            <a:endParaRPr lang="en-US" sz="600" dirty="0"/>
          </a:p>
        </p:txBody>
      </p:sp>
      <p:sp>
        <p:nvSpPr>
          <p:cNvPr id="24" name="Text 22"/>
          <p:cNvSpPr/>
          <p:nvPr/>
        </p:nvSpPr>
        <p:spPr>
          <a:xfrm>
            <a:off x="6529239" y="1602432"/>
            <a:ext cx="2259006"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.cursor/rules/</a:t>
            </a:r>
            <a:endParaRPr lang="en-US" sz="825" dirty="0"/>
          </a:p>
        </p:txBody>
      </p:sp>
      <p:sp>
        <p:nvSpPr>
          <p:cNvPr id="25" name="Text 23"/>
          <p:cNvSpPr/>
          <p:nvPr/>
        </p:nvSpPr>
        <p:spPr>
          <a:xfrm>
            <a:off x="6529239" y="1806178"/>
            <a:ext cx="2259006"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Folder with .mdc files. Granular control per component/feature.</a:t>
            </a:r>
            <a:endParaRPr lang="en-US" sz="675" dirty="0"/>
          </a:p>
        </p:txBody>
      </p:sp>
      <p:sp>
        <p:nvSpPr>
          <p:cNvPr id="26" name="Text 24"/>
          <p:cNvSpPr/>
          <p:nvPr/>
        </p:nvSpPr>
        <p:spPr>
          <a:xfrm>
            <a:off x="3838277" y="2446139"/>
            <a:ext cx="5039023" cy="1077664"/>
          </a:xfrm>
          <a:prstGeom prst="rect">
            <a:avLst/>
          </a:prstGeom>
          <a:solidFill>
            <a:srgbClr val="1A1F2E"/>
          </a:solidFill>
          <a:ln/>
        </p:spPr>
        <p:txBody>
          <a:bodyPr wrap="square" rtlCol="0" anchor="ctr"/>
          <a:lstStyle/>
          <a:p>
            <a:pPr indent="0" marL="0">
              <a:buNone/>
            </a:pPr>
            <a:endParaRPr lang="en-US" dirty="0"/>
          </a:p>
        </p:txBody>
      </p:sp>
      <p:sp>
        <p:nvSpPr>
          <p:cNvPr id="27" name="Text 25"/>
          <p:cNvSpPr/>
          <p:nvPr/>
        </p:nvSpPr>
        <p:spPr>
          <a:xfrm>
            <a:off x="3952577" y="2560439"/>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.cursor/rules/ STRUCTURE</a:t>
            </a:r>
            <a:endParaRPr lang="en-US" sz="600" dirty="0"/>
          </a:p>
        </p:txBody>
      </p:sp>
      <p:sp>
        <p:nvSpPr>
          <p:cNvPr id="28" name="Text 26"/>
          <p:cNvSpPr/>
          <p:nvPr/>
        </p:nvSpPr>
        <p:spPr>
          <a:xfrm>
            <a:off x="3952577" y="2724150"/>
            <a:ext cx="4906631" cy="685354"/>
          </a:xfrm>
          <a:prstGeom prst="rect">
            <a:avLst/>
          </a:prstGeom>
          <a:noFill/>
          <a:ln/>
        </p:spPr>
        <p:txBody>
          <a:bodyPr wrap="square" lIns="0" tIns="0" rIns="0" bIns="0" rtlCol="0" anchor="t"/>
          <a:lstStyle/>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.cursor/rules/</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general.mdc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Project-wide standards</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react.mdc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React component patterns</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api.mdc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API design rules</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security.mdc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Security constraints</a:t>
            </a:r>
            <a:endParaRPr lang="en-US" sz="675" dirty="0"/>
          </a:p>
        </p:txBody>
      </p:sp>
      <p:sp>
        <p:nvSpPr>
          <p:cNvPr id="29" name="Text 27"/>
          <p:cNvSpPr/>
          <p:nvPr/>
        </p:nvSpPr>
        <p:spPr>
          <a:xfrm>
            <a:off x="3838277" y="3771454"/>
            <a:ext cx="2481411" cy="455116"/>
          </a:xfrm>
          <a:prstGeom prst="rect">
            <a:avLst/>
          </a:prstGeom>
          <a:solidFill>
            <a:srgbClr val="DCFCE7"/>
          </a:solidFill>
          <a:ln/>
        </p:spPr>
        <p:txBody>
          <a:bodyPr wrap="square" rtlCol="0" anchor="ctr"/>
          <a:lstStyle/>
          <a:p>
            <a:pPr indent="0" marL="0">
              <a:buNone/>
            </a:pPr>
            <a:endParaRPr lang="en-US" dirty="0"/>
          </a:p>
        </p:txBody>
      </p:sp>
      <p:sp>
        <p:nvSpPr>
          <p:cNvPr id="30" name="Shape 28"/>
          <p:cNvSpPr/>
          <p:nvPr/>
        </p:nvSpPr>
        <p:spPr>
          <a:xfrm>
            <a:off x="3852565" y="3771454"/>
            <a:ext cx="0" cy="455116"/>
          </a:xfrm>
          <a:prstGeom prst="line">
            <a:avLst/>
          </a:prstGeom>
          <a:noFill/>
          <a:ln w="28575">
            <a:solidFill>
              <a:srgbClr val="059669"/>
            </a:solidFill>
            <a:prstDash val="solid"/>
          </a:ln>
        </p:spPr>
      </p:sp>
      <p:sp>
        <p:nvSpPr>
          <p:cNvPr id="31" name="Text 29"/>
          <p:cNvSpPr/>
          <p:nvPr/>
        </p:nvSpPr>
        <p:spPr>
          <a:xfrm>
            <a:off x="3962102" y="386670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GLOBAL RULES</a:t>
            </a:r>
            <a:endParaRPr lang="en-US" sz="675" dirty="0"/>
          </a:p>
        </p:txBody>
      </p:sp>
      <p:sp>
        <p:nvSpPr>
          <p:cNvPr id="32" name="Text 30"/>
          <p:cNvSpPr/>
          <p:nvPr/>
        </p:nvSpPr>
        <p:spPr>
          <a:xfrm>
            <a:off x="3962102" y="4024759"/>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Cursor Settings → General → Rules for AI — applies to all projects</a:t>
            </a:r>
            <a:endParaRPr lang="en-US" sz="600" dirty="0"/>
          </a:p>
        </p:txBody>
      </p:sp>
      <p:sp>
        <p:nvSpPr>
          <p:cNvPr id="33" name="Text 31"/>
          <p:cNvSpPr/>
          <p:nvPr/>
        </p:nvSpPr>
        <p:spPr>
          <a:xfrm>
            <a:off x="6395889" y="3771454"/>
            <a:ext cx="2481411" cy="455116"/>
          </a:xfrm>
          <a:prstGeom prst="rect">
            <a:avLst/>
          </a:prstGeom>
          <a:solidFill>
            <a:srgbClr val="DBEAFE"/>
          </a:solidFill>
          <a:ln/>
        </p:spPr>
        <p:txBody>
          <a:bodyPr wrap="square" rtlCol="0" anchor="ctr"/>
          <a:lstStyle/>
          <a:p>
            <a:pPr indent="0" marL="0">
              <a:buNone/>
            </a:pPr>
            <a:endParaRPr lang="en-US" dirty="0"/>
          </a:p>
        </p:txBody>
      </p:sp>
      <p:sp>
        <p:nvSpPr>
          <p:cNvPr id="34" name="Shape 32"/>
          <p:cNvSpPr/>
          <p:nvPr/>
        </p:nvSpPr>
        <p:spPr>
          <a:xfrm>
            <a:off x="6410176" y="3771454"/>
            <a:ext cx="0" cy="455116"/>
          </a:xfrm>
          <a:prstGeom prst="line">
            <a:avLst/>
          </a:prstGeom>
          <a:noFill/>
          <a:ln w="28575">
            <a:solidFill>
              <a:srgbClr val="3B82F6"/>
            </a:solidFill>
            <a:prstDash val="solid"/>
          </a:ln>
        </p:spPr>
      </p:sp>
      <p:sp>
        <p:nvSpPr>
          <p:cNvPr id="35" name="Text 33"/>
          <p:cNvSpPr/>
          <p:nvPr/>
        </p:nvSpPr>
        <p:spPr>
          <a:xfrm>
            <a:off x="6519714" y="386670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BEST PRACTICE</a:t>
            </a:r>
            <a:endParaRPr lang="en-US" sz="675" dirty="0"/>
          </a:p>
        </p:txBody>
      </p:sp>
      <p:sp>
        <p:nvSpPr>
          <p:cNvPr id="36" name="Text 34"/>
          <p:cNvSpPr/>
          <p:nvPr/>
        </p:nvSpPr>
        <p:spPr>
          <a:xfrm>
            <a:off x="6519714" y="4024759"/>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Keep each .mdc file under 500 lines for optimal performance</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723602" cy="201811"/>
          </a:xfrm>
          <a:prstGeom prst="rect">
            <a:avLst/>
          </a:prstGeom>
          <a:solidFill>
            <a:srgbClr val="DC2626"/>
          </a:solidFill>
          <a:ln/>
        </p:spPr>
        <p:txBody>
          <a:bodyPr wrap="square" rtlCol="0" anchor="ctr"/>
          <a:lstStyle/>
          <a:p>
            <a:pPr indent="0" marL="0">
              <a:buNone/>
            </a:pPr>
            <a:endParaRPr lang="en-US" dirty="0"/>
          </a:p>
        </p:txBody>
      </p:sp>
      <p:sp>
        <p:nvSpPr>
          <p:cNvPr id="4" name="Text 2"/>
          <p:cNvSpPr/>
          <p:nvPr/>
        </p:nvSpPr>
        <p:spPr>
          <a:xfrm>
            <a:off x="361950" y="314325"/>
            <a:ext cx="543764"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IMPORTANT</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Limitations</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&amp; Gotchas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DC2626">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DC2626"/>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CA5A5"/>
                </a:solidFill>
                <a:latin typeface="Arial" pitchFamily="34" charset="0"/>
                <a:ea typeface="Arial" pitchFamily="34" charset="-122"/>
                <a:cs typeface="Arial" pitchFamily="34" charset="-120"/>
              </a:rPr>
              <a:t>BYOK RESTRICTIONS</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Bring Your Own Key (Azure) has real limitations. Know them before committing.</a:t>
            </a:r>
            <a:endParaRPr lang="en-US" sz="750" dirty="0"/>
          </a:p>
        </p:txBody>
      </p:sp>
      <p:sp>
        <p:nvSpPr>
          <p:cNvPr id="11" name="Text 9"/>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2" name="Text 10"/>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Plan around these constraints</a:t>
            </a:r>
            <a:endParaRPr lang="en-US" sz="675" dirty="0"/>
          </a:p>
        </p:txBody>
      </p:sp>
      <p:sp>
        <p:nvSpPr>
          <p:cNvPr id="13" name="Text 11"/>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4" name="Text 12"/>
          <p:cNvSpPr/>
          <p:nvPr/>
        </p:nvSpPr>
        <p:spPr>
          <a:xfrm>
            <a:off x="3838277" y="939403"/>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KEY LIMITATIONS WITH AZURE/BYOK</a:t>
            </a:r>
            <a:endParaRPr lang="en-US" sz="900" dirty="0"/>
          </a:p>
        </p:txBody>
      </p:sp>
      <p:sp>
        <p:nvSpPr>
          <p:cNvPr id="15" name="Text 13"/>
          <p:cNvSpPr/>
          <p:nvPr/>
        </p:nvSpPr>
        <p:spPr>
          <a:xfrm>
            <a:off x="3838277" y="1347043"/>
            <a:ext cx="5039023" cy="727621"/>
          </a:xfrm>
          <a:prstGeom prst="rect">
            <a:avLst/>
          </a:prstGeom>
          <a:solidFill>
            <a:srgbClr val="FEE2E2"/>
          </a:solidFill>
          <a:ln/>
        </p:spPr>
        <p:txBody>
          <a:bodyPr wrap="square" rtlCol="0" anchor="ctr"/>
          <a:lstStyle/>
          <a:p>
            <a:pPr indent="0" marL="0">
              <a:buNone/>
            </a:pPr>
            <a:endParaRPr lang="en-US" dirty="0"/>
          </a:p>
        </p:txBody>
      </p:sp>
      <p:sp>
        <p:nvSpPr>
          <p:cNvPr id="16" name="Shape 14"/>
          <p:cNvSpPr/>
          <p:nvPr/>
        </p:nvSpPr>
        <p:spPr>
          <a:xfrm>
            <a:off x="3857327" y="1347043"/>
            <a:ext cx="0" cy="727621"/>
          </a:xfrm>
          <a:prstGeom prst="line">
            <a:avLst/>
          </a:prstGeom>
          <a:noFill/>
          <a:ln w="38100">
            <a:solidFill>
              <a:srgbClr val="DC2626"/>
            </a:solidFill>
            <a:prstDash val="solid"/>
          </a:ln>
        </p:spPr>
      </p:sp>
      <p:sp>
        <p:nvSpPr>
          <p:cNvPr id="17" name="Text 15"/>
          <p:cNvSpPr/>
          <p:nvPr/>
        </p:nvSpPr>
        <p:spPr>
          <a:xfrm>
            <a:off x="4009727" y="1480393"/>
            <a:ext cx="482890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991B1B"/>
                </a:solidFill>
                <a:latin typeface="Arial" pitchFamily="34" charset="0"/>
                <a:ea typeface="Arial" pitchFamily="34" charset="-122"/>
                <a:cs typeface="Arial" pitchFamily="34" charset="-120"/>
              </a:rPr>
              <a:t>TAB AUTOCOMPLETE DOES NOT WORK</a:t>
            </a:r>
            <a:endParaRPr lang="en-US" sz="825" dirty="0"/>
          </a:p>
        </p:txBody>
      </p:sp>
      <p:sp>
        <p:nvSpPr>
          <p:cNvPr id="18" name="Text 16"/>
          <p:cNvSpPr/>
          <p:nvPr/>
        </p:nvSpPr>
        <p:spPr>
          <a:xfrm>
            <a:off x="4009727" y="1684139"/>
            <a:ext cx="4828907" cy="257175"/>
          </a:xfrm>
          <a:prstGeom prst="rect">
            <a:avLst/>
          </a:prstGeom>
          <a:noFill/>
          <a:ln/>
        </p:spPr>
        <p:txBody>
          <a:bodyPr wrap="square" lIns="0" tIns="0" rIns="0" bIns="0" rtlCol="0" anchor="t"/>
          <a:lstStyle/>
          <a:p>
            <a:pPr algn="l" indent="0" marL="0">
              <a:lnSpc>
                <a:spcPts val="1013"/>
              </a:lnSpc>
              <a:buNone/>
            </a:pPr>
            <a:r>
              <a:rPr lang="en-US" sz="675" dirty="0">
                <a:solidFill>
                  <a:srgbClr val="991B1B"/>
                </a:solidFill>
                <a:latin typeface="Arial" pitchFamily="34" charset="0"/>
                <a:ea typeface="Arial" pitchFamily="34" charset="-122"/>
                <a:cs typeface="Arial" pitchFamily="34" charset="-120"/>
              </a:rPr>
              <a:t>Tab completion uses Cursor's proprietary "Fusion" model. Cannot be replaced with Azure or any custom API. Requires Cursor Pro subscription for this feature.</a:t>
            </a:r>
            <a:endParaRPr lang="en-US" sz="675" dirty="0"/>
          </a:p>
        </p:txBody>
      </p:sp>
      <p:sp>
        <p:nvSpPr>
          <p:cNvPr id="19" name="Text 17"/>
          <p:cNvSpPr/>
          <p:nvPr/>
        </p:nvSpPr>
        <p:spPr>
          <a:xfrm>
            <a:off x="3838277" y="2322314"/>
            <a:ext cx="5039023" cy="107245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0" name="Text 18"/>
          <p:cNvSpPr/>
          <p:nvPr/>
        </p:nvSpPr>
        <p:spPr>
          <a:xfrm>
            <a:off x="3962102" y="2446139"/>
            <a:ext cx="4887200"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1A1F2E"/>
                </a:solidFill>
                <a:latin typeface="Arial" pitchFamily="34" charset="0"/>
                <a:ea typeface="Arial" pitchFamily="34" charset="-122"/>
                <a:cs typeface="Arial" pitchFamily="34" charset="-120"/>
              </a:rPr>
              <a:t>FEATURE COMPATIBILITY</a:t>
            </a:r>
            <a:endParaRPr lang="en-US" sz="750" dirty="0"/>
          </a:p>
        </p:txBody>
      </p:sp>
      <p:sp>
        <p:nvSpPr>
          <p:cNvPr id="21" name="Text 19"/>
          <p:cNvSpPr/>
          <p:nvPr/>
        </p:nvSpPr>
        <p:spPr>
          <a:xfrm>
            <a:off x="3962102" y="2655689"/>
            <a:ext cx="2365876"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059669"/>
                </a:solidFill>
                <a:latin typeface="Arial" pitchFamily="34" charset="0"/>
                <a:ea typeface="Arial" pitchFamily="34" charset="-122"/>
                <a:cs typeface="Arial" pitchFamily="34" charset="-120"/>
              </a:rPr>
              <a:t>✓ WORKS WITH AZURE</a:t>
            </a:r>
            <a:endParaRPr lang="en-US" sz="675" dirty="0"/>
          </a:p>
        </p:txBody>
      </p:sp>
      <p:sp>
        <p:nvSpPr>
          <p:cNvPr id="22" name="Text 20"/>
          <p:cNvSpPr/>
          <p:nvPr/>
        </p:nvSpPr>
        <p:spPr>
          <a:xfrm>
            <a:off x="3962102" y="2813745"/>
            <a:ext cx="2365876" cy="457200"/>
          </a:xfrm>
          <a:prstGeom prst="rect">
            <a:avLst/>
          </a:prstGeom>
          <a:noFill/>
          <a:ln/>
        </p:spPr>
        <p:txBody>
          <a:bodyPr wrap="square" lIns="0" tIns="0" rIns="0" bIns="0" rtlCol="0" anchor="t"/>
          <a:lstStyle/>
          <a:p>
            <a:pPr algn="l" indent="0" marL="0">
              <a:lnSpc>
                <a:spcPts val="900"/>
              </a:lnSpc>
              <a:buNone/>
            </a:pPr>
            <a:r>
              <a:rPr lang="en-US" sz="600" dirty="0">
                <a:solidFill>
                  <a:srgbClr val="6B7280"/>
                </a:solidFill>
                <a:latin typeface="Arial" pitchFamily="34" charset="0"/>
                <a:ea typeface="Arial" pitchFamily="34" charset="-122"/>
                <a:cs typeface="Arial" pitchFamily="34" charset="-120"/>
              </a:rPr>
              <a:t>Chat (Cmd+L)</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Inline Edit (Cmd+K)</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Composer (Cmd+I)</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Terminal AI</a:t>
            </a:r>
            <a:endParaRPr lang="en-US" sz="600" dirty="0"/>
          </a:p>
        </p:txBody>
      </p:sp>
      <p:sp>
        <p:nvSpPr>
          <p:cNvPr id="23" name="Text 21"/>
          <p:cNvSpPr/>
          <p:nvPr/>
        </p:nvSpPr>
        <p:spPr>
          <a:xfrm>
            <a:off x="6433989" y="2712839"/>
            <a:ext cx="2365876"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DC2626"/>
                </a:solidFill>
                <a:latin typeface="Arial" pitchFamily="34" charset="0"/>
                <a:ea typeface="Arial" pitchFamily="34" charset="-122"/>
                <a:cs typeface="Arial" pitchFamily="34" charset="-120"/>
              </a:rPr>
              <a:t>✗ CURSOR ONLY</a:t>
            </a:r>
            <a:endParaRPr lang="en-US" sz="675" dirty="0"/>
          </a:p>
        </p:txBody>
      </p:sp>
      <p:sp>
        <p:nvSpPr>
          <p:cNvPr id="24" name="Text 22"/>
          <p:cNvSpPr/>
          <p:nvPr/>
        </p:nvSpPr>
        <p:spPr>
          <a:xfrm>
            <a:off x="6433989" y="2870895"/>
            <a:ext cx="2365876" cy="342900"/>
          </a:xfrm>
          <a:prstGeom prst="rect">
            <a:avLst/>
          </a:prstGeom>
          <a:noFill/>
          <a:ln/>
        </p:spPr>
        <p:txBody>
          <a:bodyPr wrap="square" lIns="0" tIns="0" rIns="0" bIns="0" rtlCol="0" anchor="t"/>
          <a:lstStyle/>
          <a:p>
            <a:pPr algn="l" indent="0" marL="0">
              <a:lnSpc>
                <a:spcPts val="900"/>
              </a:lnSpc>
              <a:buNone/>
            </a:pPr>
            <a:r>
              <a:rPr lang="en-US" sz="600" dirty="0">
                <a:solidFill>
                  <a:srgbClr val="6B7280"/>
                </a:solidFill>
                <a:latin typeface="Arial" pitchFamily="34" charset="0"/>
                <a:ea typeface="Arial" pitchFamily="34" charset="-122"/>
                <a:cs typeface="Arial" pitchFamily="34" charset="-120"/>
              </a:rPr>
              <a:t>Tab Autocomplete</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Agent Mode (partial)</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Some advanced features</a:t>
            </a:r>
            <a:endParaRPr lang="en-US" sz="600" dirty="0"/>
          </a:p>
        </p:txBody>
      </p:sp>
      <p:sp>
        <p:nvSpPr>
          <p:cNvPr id="25" name="Text 23"/>
          <p:cNvSpPr/>
          <p:nvPr/>
        </p:nvSpPr>
        <p:spPr>
          <a:xfrm>
            <a:off x="3838277" y="3642420"/>
            <a:ext cx="2481411" cy="561677"/>
          </a:xfrm>
          <a:prstGeom prst="rect">
            <a:avLst/>
          </a:prstGeom>
          <a:solidFill>
            <a:srgbClr val="FEF3C7"/>
          </a:solidFill>
          <a:ln/>
        </p:spPr>
        <p:txBody>
          <a:bodyPr wrap="square" rtlCol="0" anchor="ctr"/>
          <a:lstStyle/>
          <a:p>
            <a:pPr indent="0" marL="0">
              <a:buNone/>
            </a:pPr>
            <a:endParaRPr lang="en-US" dirty="0"/>
          </a:p>
        </p:txBody>
      </p:sp>
      <p:sp>
        <p:nvSpPr>
          <p:cNvPr id="26" name="Shape 24"/>
          <p:cNvSpPr/>
          <p:nvPr/>
        </p:nvSpPr>
        <p:spPr>
          <a:xfrm>
            <a:off x="3852565" y="3642420"/>
            <a:ext cx="0" cy="561677"/>
          </a:xfrm>
          <a:prstGeom prst="line">
            <a:avLst/>
          </a:prstGeom>
          <a:noFill/>
          <a:ln w="28575">
            <a:solidFill>
              <a:srgbClr val="F59E0B"/>
            </a:solidFill>
            <a:prstDash val="solid"/>
          </a:ln>
        </p:spPr>
      </p:sp>
      <p:sp>
        <p:nvSpPr>
          <p:cNvPr id="27" name="Text 25"/>
          <p:cNvSpPr/>
          <p:nvPr/>
        </p:nvSpPr>
        <p:spPr>
          <a:xfrm>
            <a:off x="3962102" y="3737670"/>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NAME MATCHING</a:t>
            </a:r>
            <a:endParaRPr lang="en-US" sz="675" dirty="0"/>
          </a:p>
        </p:txBody>
      </p:sp>
      <p:sp>
        <p:nvSpPr>
          <p:cNvPr id="28" name="Text 26"/>
          <p:cNvSpPr/>
          <p:nvPr/>
        </p:nvSpPr>
        <p:spPr>
          <a:xfrm>
            <a:off x="3962102" y="3895725"/>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Deployment name must exactly match Azure — case sensitive, no typos</a:t>
            </a:r>
            <a:endParaRPr lang="en-US" sz="600" dirty="0"/>
          </a:p>
        </p:txBody>
      </p:sp>
      <p:sp>
        <p:nvSpPr>
          <p:cNvPr id="29" name="Text 27"/>
          <p:cNvSpPr/>
          <p:nvPr/>
        </p:nvSpPr>
        <p:spPr>
          <a:xfrm>
            <a:off x="6395889" y="3642420"/>
            <a:ext cx="2481411" cy="561677"/>
          </a:xfrm>
          <a:prstGeom prst="rect">
            <a:avLst/>
          </a:prstGeom>
          <a:solidFill>
            <a:srgbClr val="FEF3C7"/>
          </a:solidFill>
          <a:ln/>
        </p:spPr>
        <p:txBody>
          <a:bodyPr wrap="square" rtlCol="0" anchor="ctr"/>
          <a:lstStyle/>
          <a:p>
            <a:pPr indent="0" marL="0">
              <a:buNone/>
            </a:pPr>
            <a:endParaRPr lang="en-US" dirty="0"/>
          </a:p>
        </p:txBody>
      </p:sp>
      <p:sp>
        <p:nvSpPr>
          <p:cNvPr id="30" name="Shape 28"/>
          <p:cNvSpPr/>
          <p:nvPr/>
        </p:nvSpPr>
        <p:spPr>
          <a:xfrm>
            <a:off x="6410176" y="3642420"/>
            <a:ext cx="0" cy="561677"/>
          </a:xfrm>
          <a:prstGeom prst="line">
            <a:avLst/>
          </a:prstGeom>
          <a:noFill/>
          <a:ln w="28575">
            <a:solidFill>
              <a:srgbClr val="F59E0B"/>
            </a:solidFill>
            <a:prstDash val="solid"/>
          </a:ln>
        </p:spPr>
      </p:sp>
      <p:sp>
        <p:nvSpPr>
          <p:cNvPr id="31" name="Text 29"/>
          <p:cNvSpPr/>
          <p:nvPr/>
        </p:nvSpPr>
        <p:spPr>
          <a:xfrm>
            <a:off x="6519714" y="3737670"/>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REGION LATENCY</a:t>
            </a:r>
            <a:endParaRPr lang="en-US" sz="675" dirty="0"/>
          </a:p>
        </p:txBody>
      </p:sp>
      <p:sp>
        <p:nvSpPr>
          <p:cNvPr id="32" name="Text 30"/>
          <p:cNvSpPr/>
          <p:nvPr/>
        </p:nvSpPr>
        <p:spPr>
          <a:xfrm>
            <a:off x="6519714" y="3895725"/>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Azure region affects response time — choose closest to your location</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772716" cy="201811"/>
          </a:xfrm>
          <a:prstGeom prst="rect">
            <a:avLst/>
          </a:prstGeom>
          <a:solidFill>
            <a:srgbClr val="0078D4"/>
          </a:solidFill>
          <a:ln/>
        </p:spPr>
        <p:txBody>
          <a:bodyPr wrap="square" rtlCol="0" anchor="ctr"/>
          <a:lstStyle/>
          <a:p>
            <a:pPr indent="0" marL="0">
              <a:buNone/>
            </a:pPr>
            <a:endParaRPr lang="en-US" dirty="0"/>
          </a:p>
        </p:txBody>
      </p:sp>
      <p:sp>
        <p:nvSpPr>
          <p:cNvPr id="4" name="Text 2"/>
          <p:cNvSpPr/>
          <p:nvPr/>
        </p:nvSpPr>
        <p:spPr>
          <a:xfrm>
            <a:off x="361950" y="314325"/>
            <a:ext cx="593860"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ENTERPRISE</a:t>
            </a:r>
            <a:endParaRPr lang="en-US" sz="600" dirty="0"/>
          </a:p>
        </p:txBody>
      </p:sp>
      <p:sp>
        <p:nvSpPr>
          <p:cNvPr id="5" name="Text 3"/>
          <p:cNvSpPr/>
          <p:nvPr/>
        </p:nvSpPr>
        <p:spPr>
          <a:xfrm>
            <a:off x="266700" y="716161"/>
            <a:ext cx="1476756" cy="548580"/>
          </a:xfrm>
          <a:prstGeom prst="rect">
            <a:avLst/>
          </a:prstGeom>
          <a:noFill/>
          <a:ln/>
        </p:spPr>
        <p:txBody>
          <a:bodyPr wrap="square" lIns="0" tIns="0" rIns="0" bIns="0" rtlCol="0" anchor="t"/>
          <a:lstStyle/>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Best</a:t>
            </a:r>
            <a:endParaRPr lang="en-US" sz="1800" dirty="0"/>
          </a:p>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Practices</a:t>
            </a:r>
            <a:endParaRPr lang="en-US" sz="1800" dirty="0"/>
          </a:p>
        </p:txBody>
      </p:sp>
      <p:sp>
        <p:nvSpPr>
          <p:cNvPr id="6" name="Text 4"/>
          <p:cNvSpPr/>
          <p:nvPr/>
        </p:nvSpPr>
        <p:spPr>
          <a:xfrm>
            <a:off x="266700" y="1512391"/>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17191"/>
            <a:ext cx="2885777" cy="685800"/>
          </a:xfrm>
          <a:prstGeom prst="rect">
            <a:avLst/>
          </a:prstGeom>
          <a:solidFill>
            <a:srgbClr val="0078D4">
              <a:alpha val="15000"/>
            </a:srgbClr>
          </a:solidFill>
          <a:ln/>
        </p:spPr>
        <p:txBody>
          <a:bodyPr wrap="square" rtlCol="0" anchor="ctr"/>
          <a:lstStyle/>
          <a:p>
            <a:pPr indent="0" marL="0">
              <a:buNone/>
            </a:pPr>
            <a:endParaRPr lang="en-US" dirty="0"/>
          </a:p>
        </p:txBody>
      </p:sp>
      <p:sp>
        <p:nvSpPr>
          <p:cNvPr id="8" name="Shape 6"/>
          <p:cNvSpPr/>
          <p:nvPr/>
        </p:nvSpPr>
        <p:spPr>
          <a:xfrm>
            <a:off x="280988" y="1817191"/>
            <a:ext cx="0" cy="685800"/>
          </a:xfrm>
          <a:prstGeom prst="line">
            <a:avLst/>
          </a:prstGeom>
          <a:noFill/>
          <a:ln w="28575">
            <a:solidFill>
              <a:srgbClr val="0078D4"/>
            </a:solidFill>
            <a:prstDash val="solid"/>
          </a:ln>
        </p:spPr>
      </p:sp>
      <p:sp>
        <p:nvSpPr>
          <p:cNvPr id="9" name="Text 7"/>
          <p:cNvSpPr/>
          <p:nvPr/>
        </p:nvSpPr>
        <p:spPr>
          <a:xfrm>
            <a:off x="409575" y="1931491"/>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60A5FA"/>
                </a:solidFill>
                <a:latin typeface="Arial" pitchFamily="34" charset="0"/>
                <a:ea typeface="Arial" pitchFamily="34" charset="-122"/>
                <a:cs typeface="Arial" pitchFamily="34" charset="-120"/>
              </a:rPr>
              <a:t>FOR ORGANIZATIONS</a:t>
            </a:r>
            <a:endParaRPr lang="en-US" sz="750" dirty="0"/>
          </a:p>
        </p:txBody>
      </p:sp>
      <p:sp>
        <p:nvSpPr>
          <p:cNvPr id="10" name="Text 8"/>
          <p:cNvSpPr/>
          <p:nvPr/>
        </p:nvSpPr>
        <p:spPr>
          <a:xfrm>
            <a:off x="409575" y="2102941"/>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Security, cost management, and team consistency when using Azure with Cursor.</a:t>
            </a:r>
            <a:endParaRPr lang="en-US" sz="750" dirty="0"/>
          </a:p>
        </p:txBody>
      </p:sp>
      <p:sp>
        <p:nvSpPr>
          <p:cNvPr id="11" name="Text 9"/>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2" name="Text 10"/>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Plan for scale from day one</a:t>
            </a:r>
            <a:endParaRPr lang="en-US" sz="675" dirty="0"/>
          </a:p>
        </p:txBody>
      </p:sp>
      <p:sp>
        <p:nvSpPr>
          <p:cNvPr id="13" name="Text 11"/>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4" name="Text 12"/>
          <p:cNvSpPr/>
          <p:nvPr/>
        </p:nvSpPr>
        <p:spPr>
          <a:xfrm>
            <a:off x="3838277" y="349895"/>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ENTERPRISE RECOMMENDATIONS</a:t>
            </a:r>
            <a:endParaRPr lang="en-US" sz="900" dirty="0"/>
          </a:p>
        </p:txBody>
      </p:sp>
      <p:sp>
        <p:nvSpPr>
          <p:cNvPr id="15" name="Text 13"/>
          <p:cNvSpPr/>
          <p:nvPr/>
        </p:nvSpPr>
        <p:spPr>
          <a:xfrm>
            <a:off x="3838277" y="757535"/>
            <a:ext cx="2481411" cy="613172"/>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3852565" y="757535"/>
            <a:ext cx="0" cy="613172"/>
          </a:xfrm>
          <a:prstGeom prst="line">
            <a:avLst/>
          </a:prstGeom>
          <a:noFill/>
          <a:ln w="28575">
            <a:solidFill>
              <a:srgbClr val="0078D4"/>
            </a:solidFill>
            <a:prstDash val="solid"/>
          </a:ln>
        </p:spPr>
      </p:sp>
      <p:sp>
        <p:nvSpPr>
          <p:cNvPr id="17" name="Text 15"/>
          <p:cNvSpPr/>
          <p:nvPr/>
        </p:nvSpPr>
        <p:spPr>
          <a:xfrm>
            <a:off x="3981152" y="871835"/>
            <a:ext cx="22687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KEY MANAGEMENT</a:t>
            </a:r>
            <a:endParaRPr lang="en-US" sz="750" dirty="0"/>
          </a:p>
        </p:txBody>
      </p:sp>
      <p:sp>
        <p:nvSpPr>
          <p:cNvPr id="18" name="Text 16"/>
          <p:cNvSpPr/>
          <p:nvPr/>
        </p:nvSpPr>
        <p:spPr>
          <a:xfrm>
            <a:off x="3981152" y="1043285"/>
            <a:ext cx="2268721"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Use Azure Key Vault. Distribute keys securely. Rotate regularly. Never commit to git.</a:t>
            </a:r>
            <a:endParaRPr lang="en-US" sz="600" dirty="0"/>
          </a:p>
        </p:txBody>
      </p:sp>
      <p:sp>
        <p:nvSpPr>
          <p:cNvPr id="19" name="Text 17"/>
          <p:cNvSpPr/>
          <p:nvPr/>
        </p:nvSpPr>
        <p:spPr>
          <a:xfrm>
            <a:off x="6395889" y="757535"/>
            <a:ext cx="2481411" cy="613172"/>
          </a:xfrm>
          <a:prstGeom prst="rect">
            <a:avLst/>
          </a:prstGeom>
          <a:solidFill>
            <a:srgbClr val="FFFFFF"/>
          </a:solidFill>
          <a:ln/>
        </p:spPr>
        <p:txBody>
          <a:bodyPr wrap="square" rtlCol="0" anchor="ctr"/>
          <a:lstStyle/>
          <a:p>
            <a:pPr indent="0" marL="0">
              <a:buNone/>
            </a:pPr>
            <a:endParaRPr lang="en-US" dirty="0"/>
          </a:p>
        </p:txBody>
      </p:sp>
      <p:sp>
        <p:nvSpPr>
          <p:cNvPr id="20" name="Shape 18"/>
          <p:cNvSpPr/>
          <p:nvPr/>
        </p:nvSpPr>
        <p:spPr>
          <a:xfrm>
            <a:off x="6410176" y="757535"/>
            <a:ext cx="0" cy="613172"/>
          </a:xfrm>
          <a:prstGeom prst="line">
            <a:avLst/>
          </a:prstGeom>
          <a:noFill/>
          <a:ln w="28575">
            <a:solidFill>
              <a:srgbClr val="0078D4"/>
            </a:solidFill>
            <a:prstDash val="solid"/>
          </a:ln>
        </p:spPr>
      </p:sp>
      <p:sp>
        <p:nvSpPr>
          <p:cNvPr id="21" name="Text 19"/>
          <p:cNvSpPr/>
          <p:nvPr/>
        </p:nvSpPr>
        <p:spPr>
          <a:xfrm>
            <a:off x="6538764" y="871835"/>
            <a:ext cx="22687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COST CONTROL</a:t>
            </a:r>
            <a:endParaRPr lang="en-US" sz="750" dirty="0"/>
          </a:p>
        </p:txBody>
      </p:sp>
      <p:sp>
        <p:nvSpPr>
          <p:cNvPr id="22" name="Text 20"/>
          <p:cNvSpPr/>
          <p:nvPr/>
        </p:nvSpPr>
        <p:spPr>
          <a:xfrm>
            <a:off x="6538764" y="1043285"/>
            <a:ext cx="2268721"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Monitor via Azure Portal. Set usage alerts. Consider reserved capacity for predictable usage.</a:t>
            </a:r>
            <a:endParaRPr lang="en-US" sz="600" dirty="0"/>
          </a:p>
        </p:txBody>
      </p:sp>
      <p:sp>
        <p:nvSpPr>
          <p:cNvPr id="23" name="Text 21"/>
          <p:cNvSpPr/>
          <p:nvPr/>
        </p:nvSpPr>
        <p:spPr>
          <a:xfrm>
            <a:off x="3838277" y="1599307"/>
            <a:ext cx="2481411" cy="613172"/>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3852565" y="1599307"/>
            <a:ext cx="0" cy="613172"/>
          </a:xfrm>
          <a:prstGeom prst="line">
            <a:avLst/>
          </a:prstGeom>
          <a:noFill/>
          <a:ln w="28575">
            <a:solidFill>
              <a:srgbClr val="0078D4"/>
            </a:solidFill>
            <a:prstDash val="solid"/>
          </a:ln>
        </p:spPr>
      </p:sp>
      <p:sp>
        <p:nvSpPr>
          <p:cNvPr id="25" name="Text 23"/>
          <p:cNvSpPr/>
          <p:nvPr/>
        </p:nvSpPr>
        <p:spPr>
          <a:xfrm>
            <a:off x="3981152" y="1713607"/>
            <a:ext cx="22687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TEAM CONSISTENCY</a:t>
            </a:r>
            <a:endParaRPr lang="en-US" sz="750" dirty="0"/>
          </a:p>
        </p:txBody>
      </p:sp>
      <p:sp>
        <p:nvSpPr>
          <p:cNvPr id="26" name="Text 24"/>
          <p:cNvSpPr/>
          <p:nvPr/>
        </p:nvSpPr>
        <p:spPr>
          <a:xfrm>
            <a:off x="3981152" y="1885057"/>
            <a:ext cx="2268721"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Share .cursor/rules/ via git. Standard patterns across team. Document setup process.</a:t>
            </a:r>
            <a:endParaRPr lang="en-US" sz="600" dirty="0"/>
          </a:p>
        </p:txBody>
      </p:sp>
      <p:sp>
        <p:nvSpPr>
          <p:cNvPr id="27" name="Text 25"/>
          <p:cNvSpPr/>
          <p:nvPr/>
        </p:nvSpPr>
        <p:spPr>
          <a:xfrm>
            <a:off x="6395889" y="1599307"/>
            <a:ext cx="2481411" cy="613172"/>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6410176" y="1599307"/>
            <a:ext cx="0" cy="613172"/>
          </a:xfrm>
          <a:prstGeom prst="line">
            <a:avLst/>
          </a:prstGeom>
          <a:noFill/>
          <a:ln w="28575">
            <a:solidFill>
              <a:srgbClr val="0078D4"/>
            </a:solidFill>
            <a:prstDash val="solid"/>
          </a:ln>
        </p:spPr>
      </p:sp>
      <p:sp>
        <p:nvSpPr>
          <p:cNvPr id="29" name="Text 27"/>
          <p:cNvSpPr/>
          <p:nvPr/>
        </p:nvSpPr>
        <p:spPr>
          <a:xfrm>
            <a:off x="6538764" y="1713607"/>
            <a:ext cx="22687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MODEL SELECTION</a:t>
            </a:r>
            <a:endParaRPr lang="en-US" sz="750" dirty="0"/>
          </a:p>
        </p:txBody>
      </p:sp>
      <p:sp>
        <p:nvSpPr>
          <p:cNvPr id="30" name="Text 28"/>
          <p:cNvSpPr/>
          <p:nvPr/>
        </p:nvSpPr>
        <p:spPr>
          <a:xfrm>
            <a:off x="6538764" y="1885057"/>
            <a:ext cx="2268721"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GPT-4o for most tasks. Test models for your workload. Different models per feature.</a:t>
            </a:r>
            <a:endParaRPr lang="en-US" sz="600" dirty="0"/>
          </a:p>
        </p:txBody>
      </p:sp>
      <p:sp>
        <p:nvSpPr>
          <p:cNvPr id="31" name="Text 29"/>
          <p:cNvSpPr/>
          <p:nvPr/>
        </p:nvSpPr>
        <p:spPr>
          <a:xfrm>
            <a:off x="3838277" y="2460129"/>
            <a:ext cx="5039023" cy="1630561"/>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3952577" y="2574429"/>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ONBOARDING CHECKLIST</a:t>
            </a:r>
            <a:endParaRPr lang="en-US" sz="600" dirty="0"/>
          </a:p>
        </p:txBody>
      </p:sp>
      <p:sp>
        <p:nvSpPr>
          <p:cNvPr id="33" name="Text 31"/>
          <p:cNvSpPr/>
          <p:nvPr/>
        </p:nvSpPr>
        <p:spPr>
          <a:xfrm>
            <a:off x="3952577" y="2738140"/>
            <a:ext cx="4810423" cy="1238250"/>
          </a:xfrm>
          <a:prstGeom prst="rect">
            <a:avLst/>
          </a:prstGeom>
          <a:noFill/>
          <a:ln/>
        </p:spPr>
        <p:txBody>
          <a:bodyPr wrap="square" lIns="66675" tIns="0" rIns="0" bIns="0" rtlCol="0" anchor="t"/>
          <a:lstStyle/>
          <a:p>
            <a:pPr algn="l" marL="66675" indent="-66675">
              <a:lnSpc>
                <a:spcPts val="2100"/>
              </a:lnSpc>
              <a:spcAft>
                <a:spcPts val="150"/>
              </a:spcAft>
              <a:buSzPct val="100000"/>
              <a:buChar char="•"/>
            </a:pPr>
            <a:r>
              <a:rPr lang="en-US" sz="1350" dirty="0">
                <a:solidFill>
                  <a:srgbClr val="6EE7B7"/>
                </a:solidFill>
                <a:latin typeface="Arial" pitchFamily="34" charset="0"/>
                <a:ea typeface="Arial" pitchFamily="34" charset="-122"/>
                <a:cs typeface="Arial" pitchFamily="34" charset="-120"/>
              </a:rPr>
              <a:t>1.</a:t>
            </a:r>
            <a:pPr algn="l" indent="0" marL="0">
              <a:lnSpc>
                <a:spcPts val="2100"/>
              </a:lnSpc>
              <a:spcAft>
                <a:spcPts val="150"/>
              </a:spcAft>
              <a:buNone/>
            </a:pPr>
            <a:r>
              <a:rPr lang="en-US" sz="1350" dirty="0">
                <a:solidFill>
                  <a:srgbClr val="FFFFFF"/>
                </a:solidFill>
                <a:latin typeface="Arial" pitchFamily="34" charset="0"/>
                <a:ea typeface="Arial" pitchFamily="34" charset="-122"/>
                <a:cs typeface="Arial" pitchFamily="34" charset="-120"/>
              </a:rPr>
              <a:t> Create shared Azure OpenAI resource</a:t>
            </a:r>
            <a:endParaRPr lang="en-US" sz="1350" dirty="0"/>
          </a:p>
          <a:p>
            <a:pPr algn="l" marL="66675" indent="-66675">
              <a:lnSpc>
                <a:spcPts val="2100"/>
              </a:lnSpc>
              <a:spcAft>
                <a:spcPts val="150"/>
              </a:spcAft>
              <a:buSzPct val="100000"/>
              <a:buChar char="•"/>
            </a:pPr>
            <a:r>
              <a:rPr lang="en-US" sz="1350" dirty="0">
                <a:solidFill>
                  <a:srgbClr val="6EE7B7"/>
                </a:solidFill>
                <a:latin typeface="Arial" pitchFamily="34" charset="0"/>
                <a:ea typeface="Arial" pitchFamily="34" charset="-122"/>
                <a:cs typeface="Arial" pitchFamily="34" charset="-120"/>
              </a:rPr>
              <a:t>2.</a:t>
            </a:r>
            <a:pPr algn="l" indent="0" marL="0">
              <a:lnSpc>
                <a:spcPts val="2100"/>
              </a:lnSpc>
              <a:spcAft>
                <a:spcPts val="150"/>
              </a:spcAft>
              <a:buNone/>
            </a:pPr>
            <a:r>
              <a:rPr lang="en-US" sz="1350" dirty="0">
                <a:solidFill>
                  <a:srgbClr val="FFFFFF"/>
                </a:solidFill>
                <a:latin typeface="Arial" pitchFamily="34" charset="0"/>
                <a:ea typeface="Arial" pitchFamily="34" charset="-122"/>
                <a:cs typeface="Arial" pitchFamily="34" charset="-120"/>
              </a:rPr>
              <a:t> Document endpoint/key distribution process</a:t>
            </a:r>
            <a:endParaRPr lang="en-US" sz="1350" dirty="0"/>
          </a:p>
          <a:p>
            <a:pPr algn="l" marL="66675" indent="-66675">
              <a:lnSpc>
                <a:spcPts val="2100"/>
              </a:lnSpc>
              <a:spcAft>
                <a:spcPts val="150"/>
              </a:spcAft>
              <a:buSzPct val="100000"/>
              <a:buChar char="•"/>
            </a:pPr>
            <a:r>
              <a:rPr lang="en-US" sz="1350" dirty="0">
                <a:solidFill>
                  <a:srgbClr val="6EE7B7"/>
                </a:solidFill>
                <a:latin typeface="Arial" pitchFamily="34" charset="0"/>
                <a:ea typeface="Arial" pitchFamily="34" charset="-122"/>
                <a:cs typeface="Arial" pitchFamily="34" charset="-120"/>
              </a:rPr>
              <a:t>3.</a:t>
            </a:r>
            <a:pPr algn="l" indent="0" marL="0">
              <a:lnSpc>
                <a:spcPts val="2100"/>
              </a:lnSpc>
              <a:spcAft>
                <a:spcPts val="150"/>
              </a:spcAft>
              <a:buNone/>
            </a:pPr>
            <a:r>
              <a:rPr lang="en-US" sz="1350" dirty="0">
                <a:solidFill>
                  <a:srgbClr val="FFFFFF"/>
                </a:solidFill>
                <a:latin typeface="Arial" pitchFamily="34" charset="0"/>
                <a:ea typeface="Arial" pitchFamily="34" charset="-122"/>
                <a:cs typeface="Arial" pitchFamily="34" charset="-120"/>
              </a:rPr>
              <a:t> Commit .cursor/rules/ to project repos</a:t>
            </a:r>
            <a:endParaRPr lang="en-US" sz="1350" dirty="0"/>
          </a:p>
          <a:p>
            <a:pPr algn="l" marL="66675" indent="-66675">
              <a:lnSpc>
                <a:spcPts val="2100"/>
              </a:lnSpc>
              <a:spcAft>
                <a:spcPts val="150"/>
              </a:spcAft>
              <a:buSzPct val="100000"/>
              <a:buChar char="•"/>
            </a:pPr>
            <a:r>
              <a:rPr lang="en-US" sz="1350" dirty="0">
                <a:solidFill>
                  <a:srgbClr val="6EE7B7"/>
                </a:solidFill>
                <a:latin typeface="Arial" pitchFamily="34" charset="0"/>
                <a:ea typeface="Arial" pitchFamily="34" charset="-122"/>
                <a:cs typeface="Arial" pitchFamily="34" charset="-120"/>
              </a:rPr>
              <a:t>4.</a:t>
            </a:r>
            <a:pPr algn="l" indent="0" marL="0">
              <a:lnSpc>
                <a:spcPts val="2100"/>
              </a:lnSpc>
              <a:spcAft>
                <a:spcPts val="150"/>
              </a:spcAft>
              <a:buNone/>
            </a:pPr>
            <a:r>
              <a:rPr lang="en-US" sz="1350" dirty="0">
                <a:solidFill>
                  <a:srgbClr val="FFFFFF"/>
                </a:solidFill>
                <a:latin typeface="Arial" pitchFamily="34" charset="0"/>
                <a:ea typeface="Arial" pitchFamily="34" charset="-122"/>
                <a:cs typeface="Arial" pitchFamily="34" charset="-120"/>
              </a:rPr>
              <a:t> Test configuration with non-prod resource first</a:t>
            </a:r>
            <a:endParaRPr lang="en-US" sz="1350" dirty="0"/>
          </a:p>
        </p:txBody>
      </p:sp>
      <p:sp>
        <p:nvSpPr>
          <p:cNvPr id="34" name="Text 32"/>
          <p:cNvSpPr/>
          <p:nvPr/>
        </p:nvSpPr>
        <p:spPr>
          <a:xfrm>
            <a:off x="3838277" y="4338340"/>
            <a:ext cx="5039023" cy="455116"/>
          </a:xfrm>
          <a:prstGeom prst="rect">
            <a:avLst/>
          </a:prstGeom>
          <a:solidFill>
            <a:srgbClr val="DBEAFE"/>
          </a:solidFill>
          <a:ln/>
        </p:spPr>
        <p:txBody>
          <a:bodyPr wrap="square" rtlCol="0" anchor="ctr"/>
          <a:lstStyle/>
          <a:p>
            <a:pPr indent="0" marL="0">
              <a:buNone/>
            </a:pPr>
            <a:endParaRPr lang="en-US" dirty="0"/>
          </a:p>
        </p:txBody>
      </p:sp>
      <p:sp>
        <p:nvSpPr>
          <p:cNvPr id="35" name="Shape 33"/>
          <p:cNvSpPr/>
          <p:nvPr/>
        </p:nvSpPr>
        <p:spPr>
          <a:xfrm>
            <a:off x="3852565" y="4338340"/>
            <a:ext cx="0" cy="455116"/>
          </a:xfrm>
          <a:prstGeom prst="line">
            <a:avLst/>
          </a:prstGeom>
          <a:noFill/>
          <a:ln w="28575">
            <a:solidFill>
              <a:srgbClr val="3B82F6"/>
            </a:solidFill>
            <a:prstDash val="solid"/>
          </a:ln>
        </p:spPr>
      </p:sp>
      <p:sp>
        <p:nvSpPr>
          <p:cNvPr id="36" name="Text 34"/>
          <p:cNvSpPr/>
          <p:nvPr/>
        </p:nvSpPr>
        <p:spPr>
          <a:xfrm>
            <a:off x="3962102" y="4433590"/>
            <a:ext cx="491634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COST ADVANTAGE</a:t>
            </a:r>
            <a:endParaRPr lang="en-US" sz="675" dirty="0"/>
          </a:p>
        </p:txBody>
      </p:sp>
      <p:sp>
        <p:nvSpPr>
          <p:cNvPr id="37" name="Text 35"/>
          <p:cNvSpPr/>
          <p:nvPr/>
        </p:nvSpPr>
        <p:spPr>
          <a:xfrm>
            <a:off x="3962102" y="4591645"/>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Azure OpenAI typically costs less per token than Cursor's built-in models — monitor and compare</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417612"/>
            <a:ext cx="648146" cy="182761"/>
          </a:xfrm>
          <a:prstGeom prst="rect">
            <a:avLst/>
          </a:prstGeom>
          <a:solidFill>
            <a:srgbClr val="C9A227"/>
          </a:solidFill>
          <a:ln/>
        </p:spPr>
        <p:txBody>
          <a:bodyPr wrap="square" rtlCol="0" anchor="ctr"/>
          <a:lstStyle/>
          <a:p>
            <a:pPr indent="0" marL="0">
              <a:buNone/>
            </a:pPr>
            <a:endParaRPr lang="en-US" dirty="0"/>
          </a:p>
        </p:txBody>
      </p:sp>
      <p:sp>
        <p:nvSpPr>
          <p:cNvPr id="4" name="Text 2"/>
          <p:cNvSpPr/>
          <p:nvPr/>
        </p:nvSpPr>
        <p:spPr>
          <a:xfrm>
            <a:off x="361950" y="455712"/>
            <a:ext cx="466799"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848023"/>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68979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975545"/>
            <a:ext cx="2885777" cy="628650"/>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280988" y="1975545"/>
            <a:ext cx="0" cy="628650"/>
          </a:xfrm>
          <a:prstGeom prst="line">
            <a:avLst/>
          </a:prstGeom>
          <a:noFill/>
          <a:ln w="28575">
            <a:solidFill>
              <a:srgbClr val="C9A227"/>
            </a:solidFill>
            <a:prstDash val="solid"/>
          </a:ln>
        </p:spPr>
      </p:sp>
      <p:sp>
        <p:nvSpPr>
          <p:cNvPr id="9" name="Text 7"/>
          <p:cNvSpPr/>
          <p:nvPr/>
        </p:nvSpPr>
        <p:spPr>
          <a:xfrm>
            <a:off x="390525" y="2070795"/>
            <a:ext cx="272003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242245"/>
            <a:ext cx="2720036"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80000"/>
                  </a:srgbClr>
                </a:solidFill>
                <a:latin typeface="Arial" pitchFamily="34" charset="0"/>
                <a:ea typeface="Arial" pitchFamily="34" charset="-122"/>
                <a:cs typeface="Arial" pitchFamily="34" charset="-120"/>
              </a:rPr>
              <a:t>Cursor + Azure = enterprise AI coding with your organization's infrastructure.</a:t>
            </a:r>
            <a:endParaRPr lang="en-US" sz="750" dirty="0"/>
          </a:p>
        </p:txBody>
      </p:sp>
      <p:sp>
        <p:nvSpPr>
          <p:cNvPr id="11" name="Text 9"/>
          <p:cNvSpPr/>
          <p:nvPr/>
        </p:nvSpPr>
        <p:spPr>
          <a:xfrm>
            <a:off x="266700" y="2870895"/>
            <a:ext cx="2885777" cy="89892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96614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CORE FEATURES</a:t>
            </a:r>
            <a:endParaRPr lang="en-US" sz="750" dirty="0"/>
          </a:p>
        </p:txBody>
      </p:sp>
      <p:sp>
        <p:nvSpPr>
          <p:cNvPr id="13" name="Text 11"/>
          <p:cNvSpPr/>
          <p:nvPr/>
        </p:nvSpPr>
        <p:spPr>
          <a:xfrm>
            <a:off x="361950" y="3156645"/>
            <a:ext cx="2749183" cy="51792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Cmd+K (inline edit)</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Cmd+I (Composer)</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Cmd+L (Chat)</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Tab (autocomplete*)</a:t>
            </a:r>
            <a:endParaRPr lang="en-US" sz="600" dirty="0"/>
          </a:p>
        </p:txBody>
      </p:sp>
      <p:sp>
        <p:nvSpPr>
          <p:cNvPr id="14" name="Text 12"/>
          <p:cNvSpPr/>
          <p:nvPr/>
        </p:nvSpPr>
        <p:spPr>
          <a:xfrm>
            <a:off x="266700" y="4017466"/>
            <a:ext cx="2885777" cy="708422"/>
          </a:xfrm>
          <a:prstGeom prst="rect">
            <a:avLst/>
          </a:prstGeom>
          <a:solidFill>
            <a:srgbClr val="FFFFFF">
              <a:alpha val="5000"/>
            </a:srgbClr>
          </a:solidFill>
          <a:ln/>
        </p:spPr>
        <p:txBody>
          <a:bodyPr wrap="square" rtlCol="0" anchor="ctr"/>
          <a:lstStyle/>
          <a:p>
            <a:pPr indent="0" marL="0">
              <a:buNone/>
            </a:pPr>
            <a:endParaRPr lang="en-US" dirty="0"/>
          </a:p>
        </p:txBody>
      </p:sp>
      <p:sp>
        <p:nvSpPr>
          <p:cNvPr id="15" name="Text 13"/>
          <p:cNvSpPr/>
          <p:nvPr/>
        </p:nvSpPr>
        <p:spPr>
          <a:xfrm>
            <a:off x="361950" y="4112716"/>
            <a:ext cx="2749183" cy="51792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Azure OpenAI setup</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AI Foundry integration</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Project rules (.cursor/)</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*Tab = Pro only</a:t>
            </a:r>
            <a:endParaRPr lang="en-US" sz="600"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851743"/>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ESSENTIAL PRACTICES</a:t>
            </a:r>
            <a:endParaRPr lang="en-US" sz="900" dirty="0"/>
          </a:p>
        </p:txBody>
      </p:sp>
      <p:sp>
        <p:nvSpPr>
          <p:cNvPr id="18" name="Text 16"/>
          <p:cNvSpPr/>
          <p:nvPr/>
        </p:nvSpPr>
        <p:spPr>
          <a:xfrm>
            <a:off x="3838277" y="1331714"/>
            <a:ext cx="2471886" cy="811411"/>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331714"/>
            <a:ext cx="0" cy="811411"/>
          </a:xfrm>
          <a:prstGeom prst="line">
            <a:avLst/>
          </a:prstGeom>
          <a:noFill/>
          <a:ln w="28575">
            <a:solidFill>
              <a:srgbClr val="C9A227"/>
            </a:solidFill>
            <a:prstDash val="solid"/>
          </a:ln>
        </p:spPr>
      </p:sp>
      <p:sp>
        <p:nvSpPr>
          <p:cNvPr id="20" name="Text 18"/>
          <p:cNvSpPr/>
          <p:nvPr/>
        </p:nvSpPr>
        <p:spPr>
          <a:xfrm>
            <a:off x="3981152" y="144601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1</a:t>
            </a:r>
            <a:endParaRPr lang="en-US" sz="1500" dirty="0"/>
          </a:p>
        </p:txBody>
      </p:sp>
      <p:sp>
        <p:nvSpPr>
          <p:cNvPr id="21" name="Text 19"/>
          <p:cNvSpPr/>
          <p:nvPr/>
        </p:nvSpPr>
        <p:spPr>
          <a:xfrm>
            <a:off x="3981152" y="176033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Three Values</a:t>
            </a:r>
            <a:endParaRPr lang="en-US" sz="750" dirty="0"/>
          </a:p>
        </p:txBody>
      </p:sp>
      <p:sp>
        <p:nvSpPr>
          <p:cNvPr id="22" name="Text 20"/>
          <p:cNvSpPr/>
          <p:nvPr/>
        </p:nvSpPr>
        <p:spPr>
          <a:xfrm>
            <a:off x="3981152" y="1922264"/>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Base URL + Deployment Name + API Key. Get from Azure Portal.</a:t>
            </a:r>
            <a:endParaRPr lang="en-US" sz="600" dirty="0"/>
          </a:p>
        </p:txBody>
      </p:sp>
      <p:sp>
        <p:nvSpPr>
          <p:cNvPr id="23" name="Text 21"/>
          <p:cNvSpPr/>
          <p:nvPr/>
        </p:nvSpPr>
        <p:spPr>
          <a:xfrm>
            <a:off x="6405414" y="1278434"/>
            <a:ext cx="2471886" cy="917972"/>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419701" y="1278434"/>
            <a:ext cx="0" cy="917972"/>
          </a:xfrm>
          <a:prstGeom prst="line">
            <a:avLst/>
          </a:prstGeom>
          <a:noFill/>
          <a:ln w="28575">
            <a:solidFill>
              <a:srgbClr val="C9A227"/>
            </a:solidFill>
            <a:prstDash val="solid"/>
          </a:ln>
        </p:spPr>
      </p:sp>
      <p:sp>
        <p:nvSpPr>
          <p:cNvPr id="25" name="Text 23"/>
          <p:cNvSpPr/>
          <p:nvPr/>
        </p:nvSpPr>
        <p:spPr>
          <a:xfrm>
            <a:off x="6548289" y="139273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2</a:t>
            </a:r>
            <a:endParaRPr lang="en-US" sz="1500" dirty="0"/>
          </a:p>
        </p:txBody>
      </p:sp>
      <p:sp>
        <p:nvSpPr>
          <p:cNvPr id="26" name="Text 24"/>
          <p:cNvSpPr/>
          <p:nvPr/>
        </p:nvSpPr>
        <p:spPr>
          <a:xfrm>
            <a:off x="6548289" y="170705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Verify Connection</a:t>
            </a:r>
            <a:endParaRPr lang="en-US" sz="750" dirty="0"/>
          </a:p>
        </p:txBody>
      </p:sp>
      <p:sp>
        <p:nvSpPr>
          <p:cNvPr id="27" name="Text 25"/>
          <p:cNvSpPr/>
          <p:nvPr/>
        </p:nvSpPr>
        <p:spPr>
          <a:xfrm>
            <a:off x="6548289" y="1868984"/>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Always click "Verify" after entering credentials. Green = connected.</a:t>
            </a:r>
            <a:endParaRPr lang="en-US" sz="600" dirty="0"/>
          </a:p>
        </p:txBody>
      </p:sp>
      <p:sp>
        <p:nvSpPr>
          <p:cNvPr id="28" name="Text 26"/>
          <p:cNvSpPr/>
          <p:nvPr/>
        </p:nvSpPr>
        <p:spPr>
          <a:xfrm>
            <a:off x="3838277" y="2444055"/>
            <a:ext cx="2471886" cy="811411"/>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2444055"/>
            <a:ext cx="0" cy="811411"/>
          </a:xfrm>
          <a:prstGeom prst="line">
            <a:avLst/>
          </a:prstGeom>
          <a:noFill/>
          <a:ln w="28575">
            <a:solidFill>
              <a:srgbClr val="C9A227"/>
            </a:solidFill>
            <a:prstDash val="solid"/>
          </a:ln>
        </p:spPr>
      </p:sp>
      <p:sp>
        <p:nvSpPr>
          <p:cNvPr id="30" name="Text 28"/>
          <p:cNvSpPr/>
          <p:nvPr/>
        </p:nvSpPr>
        <p:spPr>
          <a:xfrm>
            <a:off x="3981152" y="255835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3</a:t>
            </a:r>
            <a:endParaRPr lang="en-US" sz="1500" dirty="0"/>
          </a:p>
        </p:txBody>
      </p:sp>
      <p:sp>
        <p:nvSpPr>
          <p:cNvPr id="31" name="Text 29"/>
          <p:cNvSpPr/>
          <p:nvPr/>
        </p:nvSpPr>
        <p:spPr>
          <a:xfrm>
            <a:off x="3981152" y="287268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Know Limitations</a:t>
            </a:r>
            <a:endParaRPr lang="en-US" sz="750" dirty="0"/>
          </a:p>
        </p:txBody>
      </p:sp>
      <p:sp>
        <p:nvSpPr>
          <p:cNvPr id="32" name="Text 30"/>
          <p:cNvSpPr/>
          <p:nvPr/>
        </p:nvSpPr>
        <p:spPr>
          <a:xfrm>
            <a:off x="3981152" y="303460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Tab autocomplete won't work with Azure. Plan around this.</a:t>
            </a:r>
            <a:endParaRPr lang="en-US" sz="600" dirty="0"/>
          </a:p>
        </p:txBody>
      </p:sp>
      <p:sp>
        <p:nvSpPr>
          <p:cNvPr id="33" name="Text 31"/>
          <p:cNvSpPr/>
          <p:nvPr/>
        </p:nvSpPr>
        <p:spPr>
          <a:xfrm>
            <a:off x="6405414" y="2444055"/>
            <a:ext cx="2471886" cy="811411"/>
          </a:xfrm>
          <a:prstGeom prst="rect">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6419701" y="2444055"/>
            <a:ext cx="0" cy="811411"/>
          </a:xfrm>
          <a:prstGeom prst="line">
            <a:avLst/>
          </a:prstGeom>
          <a:noFill/>
          <a:ln w="28575">
            <a:solidFill>
              <a:srgbClr val="C9A227"/>
            </a:solidFill>
            <a:prstDash val="solid"/>
          </a:ln>
        </p:spPr>
      </p:sp>
      <p:sp>
        <p:nvSpPr>
          <p:cNvPr id="35" name="Text 33"/>
          <p:cNvSpPr/>
          <p:nvPr/>
        </p:nvSpPr>
        <p:spPr>
          <a:xfrm>
            <a:off x="6548289" y="255835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4</a:t>
            </a:r>
            <a:endParaRPr lang="en-US" sz="1500" dirty="0"/>
          </a:p>
        </p:txBody>
      </p:sp>
      <p:sp>
        <p:nvSpPr>
          <p:cNvPr id="36" name="Text 34"/>
          <p:cNvSpPr/>
          <p:nvPr/>
        </p:nvSpPr>
        <p:spPr>
          <a:xfrm>
            <a:off x="6548289" y="287268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Share Rules</a:t>
            </a:r>
            <a:endParaRPr lang="en-US" sz="750" dirty="0"/>
          </a:p>
        </p:txBody>
      </p:sp>
      <p:sp>
        <p:nvSpPr>
          <p:cNvPr id="37" name="Text 35"/>
          <p:cNvSpPr/>
          <p:nvPr/>
        </p:nvSpPr>
        <p:spPr>
          <a:xfrm>
            <a:off x="6548289" y="303460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Commit .cursor/rules/ to git. Team gets consistent AI behavior.</a:t>
            </a:r>
            <a:endParaRPr lang="en-US" sz="600" dirty="0"/>
          </a:p>
        </p:txBody>
      </p:sp>
      <p:sp>
        <p:nvSpPr>
          <p:cNvPr id="38" name="Text 36"/>
          <p:cNvSpPr/>
          <p:nvPr/>
        </p:nvSpPr>
        <p:spPr>
          <a:xfrm>
            <a:off x="3838277" y="3522166"/>
            <a:ext cx="5039023" cy="769590"/>
          </a:xfrm>
          <a:prstGeom prst="rect">
            <a:avLst/>
          </a:prstGeom>
          <a:solidFill>
            <a:srgbClr val="1A1F2E"/>
          </a:solidFill>
          <a:ln/>
        </p:spPr>
        <p:txBody>
          <a:bodyPr wrap="square" rtlCol="0" anchor="ctr"/>
          <a:lstStyle/>
          <a:p>
            <a:pPr indent="0" marL="0">
              <a:buNone/>
            </a:pPr>
            <a:endParaRPr lang="en-US" dirty="0"/>
          </a:p>
        </p:txBody>
      </p:sp>
      <p:sp>
        <p:nvSpPr>
          <p:cNvPr id="39" name="Text 37"/>
          <p:cNvSpPr/>
          <p:nvPr/>
        </p:nvSpPr>
        <p:spPr>
          <a:xfrm>
            <a:off x="3923904" y="3655516"/>
            <a:ext cx="4867769" cy="159990"/>
          </a:xfrm>
          <a:prstGeom prst="rect">
            <a:avLst/>
          </a:prstGeom>
          <a:noFill/>
          <a:ln/>
        </p:spPr>
        <p:txBody>
          <a:bodyPr wrap="square" lIns="0" tIns="0" rIns="0" bIns="0" rtlCol="0" anchor="t"/>
          <a:lstStyle/>
          <a:p>
            <a:pPr algn="ctr" indent="0" marL="0">
              <a:lnSpc>
                <a:spcPts val="1260"/>
              </a:lnSpc>
              <a:spcAft>
                <a:spcPts val="450"/>
              </a:spcAft>
              <a:buNone/>
            </a:pPr>
            <a:r>
              <a:rPr lang="en-US" sz="900" b="1" dirty="0">
                <a:solidFill>
                  <a:srgbClr val="C9A227"/>
                </a:solidFill>
                <a:latin typeface="Arial" pitchFamily="34" charset="0"/>
                <a:ea typeface="Arial" pitchFamily="34" charset="-122"/>
                <a:cs typeface="Arial" pitchFamily="34" charset="-120"/>
              </a:rPr>
              <a:t>VOICE + CURSOR + AZURE</a:t>
            </a:r>
            <a:endParaRPr lang="en-US" sz="900" dirty="0"/>
          </a:p>
        </p:txBody>
      </p:sp>
      <p:sp>
        <p:nvSpPr>
          <p:cNvPr id="40" name="Text 38"/>
          <p:cNvSpPr/>
          <p:nvPr/>
        </p:nvSpPr>
        <p:spPr>
          <a:xfrm>
            <a:off x="3923904" y="3872657"/>
            <a:ext cx="4867769" cy="285750"/>
          </a:xfrm>
          <a:prstGeom prst="rect">
            <a:avLst/>
          </a:prstGeom>
          <a:noFill/>
          <a:ln/>
        </p:spPr>
        <p:txBody>
          <a:bodyPr wrap="square" lIns="0" tIns="0" rIns="0" bIns="0" rtlCol="0" anchor="t"/>
          <a:lstStyle/>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SuperWhisper → Cursor → Azure OpenAI</a:t>
            </a:r>
            <a:endParaRPr lang="en-US" sz="750" dirty="0"/>
          </a:p>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Enterprise-grade voice-driven development stack.</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 Azure AI Integration</dc:title>
  <dc:subject>Tool Setup Guide for Voice-Driven AI Development</dc:subject>
  <dc:creator>Austin Public Health</dc:creator>
  <cp:lastModifiedBy>Austin Public Health</cp:lastModifiedBy>
  <cp:revision>1</cp:revision>
  <dcterms:created xsi:type="dcterms:W3CDTF">2026-01-15T17:46:00Z</dcterms:created>
  <dcterms:modified xsi:type="dcterms:W3CDTF">2026-01-15T17:46:00Z</dcterms:modified>
</cp:coreProperties>
</file>