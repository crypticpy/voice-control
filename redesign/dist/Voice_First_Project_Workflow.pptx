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978"/>
    <p:restoredTop sz="94610"/>
  </p:normalViewPr>
  <p:slideViewPr>
    <p:cSldViewPr snapToGrid="0" snapToObjects="1">
      <p:cViewPr varScale="1">
        <p:scale>
          <a:sx n="324" d="100"/>
          <a:sy n="324" d="100"/>
        </p:scale>
        <p:origin x="176" y="5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7335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this guide on structuring projects for voice-first AI development. This 10-phase workflow takes you from initial idea all the way to deployment, with your voice driving the entire process.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overview of all 10 phases. Notice how they flow from foundation through development to deployment. Each phase builds on the previous one. The key insight: structure enables autonomy. The more you invest upfront, the more your AI agent can do independently.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Always start with a GitHub repo. This isn't optional. Every conversation, every iteration gets committed. Your git history becomes your safety net. Commit early, commit often - aim for commits every few minutes during active development.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Brainstorming with your AI agent. This is divergent thinking time. No idea is too wild. Let the agent push back and challenge assumptions. Save everything to a brainstorming markdown file - this becomes input for later phases.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Deep research across three dimensions. Technical feasibility - can it be built? Market analysis - what already exists? Reference implementations - how have others solved similar problems? Your agent can search, summarize, and synthesize. Save findings to docs/research/.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4: Planning session. Now we define what we're actually building. Use the deliverables framework: What, Why, How, Success criteria, Dependencies, Priority. This isn't the full spec yet - that comes later. This is strategy, not specification.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5: MVP Prototype. Build fast, break things, learn. The goal is speed and experimentation, not perfection. Expect to throw away half of this code. That's fine - you're learning what works. Bugs are data points.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6: Documentation and standards. After prototyping, you know what patterns work. Capture them. UI/UX patterns, design language, narrative guidelines. These markdown files become context for your agent. The more thorough this phase, the better your PRD will be.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7: PRD Creation. This is where you create the definitive specification. Options include Spec Kit for complex projects, Claude's planning mode for medium projects, or manual writing with AI assistance. The PRD becomes your agent's instruction manual.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8: Agentic Iteration Mode. This is where all your setup pays off. Point your agent at the PRD and let it execute substantial work autonomously. It reads the spec, references your design system, writes code, creates tests, commits work. You provide vision, it does heavy lifting.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9: Iterative Review Cycle. Test, speak, iterate. Your verbal feedback guides the agent through multiple polish cycles. Be specific in your feedback. Reference your documentation. Know when to stop - perfect is the enemy of deployed.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10: Deployment. Push from local to cloud using CLI-accessible platforms. Vercel, Railway, Supabase, Azure - all have CLIs your agent can access. Voice-driven deployment through shell environments. Update your README with deployment instructions.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Commit early and often - git is your safety net. Document everything - markdown files are context for your agent. Voice is your interface - speak naturally, give context, be specific. Iterate relentlessly - ship early, learn fast, improve continuously. This workflow turns a voice conversation into a shipped product.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var/folders/8s/qp6qfsr90ml5q7fb2n2ptwch0000gn/T/rasterized-gradient-a0dcf650.png"/>
          <p:cNvPicPr>
            <a:picLocks noChangeAspect="1"/>
          </p:cNvPicPr>
          <p:nvPr/>
        </p:nvPicPr>
        <p:blipFill>
          <a:blip r:embed="rId3"/>
          <a:stretch>
            <a:fillRect/>
          </a:stretch>
        </p:blipFill>
        <p:spPr>
          <a:xfrm>
            <a:off x="0" y="0"/>
            <a:ext cx="5850434" cy="5143500"/>
          </a:xfrm>
          <a:prstGeom prst="rect">
            <a:avLst/>
          </a:prstGeom>
        </p:spPr>
      </p:pic>
      <p:sp>
        <p:nvSpPr>
          <p:cNvPr id="4" name="Text 1"/>
          <p:cNvSpPr/>
          <p:nvPr/>
        </p:nvSpPr>
        <p:spPr>
          <a:xfrm>
            <a:off x="457200" y="1573560"/>
            <a:ext cx="4556570" cy="832247"/>
          </a:xfrm>
          <a:prstGeom prst="rect">
            <a:avLst/>
          </a:prstGeom>
          <a:noFill/>
          <a:ln/>
        </p:spPr>
        <p:txBody>
          <a:bodyPr wrap="square" lIns="0" tIns="0" rIns="0" bIns="0" rtlCol="0" anchor="t"/>
          <a:lstStyle/>
          <a:p>
            <a:pPr marL="0" indent="0" algn="l">
              <a:lnSpc>
                <a:spcPts val="3278"/>
              </a:lnSpc>
              <a:spcAft>
                <a:spcPts val="900"/>
              </a:spcAft>
              <a:buNone/>
            </a:pPr>
            <a:r>
              <a:rPr lang="en-US" sz="2850" dirty="0">
                <a:solidFill>
                  <a:srgbClr val="FFFFFF"/>
                </a:solidFill>
                <a:latin typeface="Georgia" pitchFamily="34" charset="0"/>
                <a:ea typeface="Georgia" pitchFamily="34" charset="-122"/>
                <a:cs typeface="Georgia" pitchFamily="34" charset="-120"/>
              </a:rPr>
              <a:t>Structuring Projects for Voice-First AI Development</a:t>
            </a:r>
            <a:endParaRPr lang="en-US" sz="2850" dirty="0"/>
          </a:p>
        </p:txBody>
      </p:sp>
      <p:sp>
        <p:nvSpPr>
          <p:cNvPr id="5" name="Text 2"/>
          <p:cNvSpPr/>
          <p:nvPr/>
        </p:nvSpPr>
        <p:spPr>
          <a:xfrm>
            <a:off x="457200" y="2672507"/>
            <a:ext cx="5034754" cy="266700"/>
          </a:xfrm>
          <a:prstGeom prst="rect">
            <a:avLst/>
          </a:prstGeom>
          <a:noFill/>
          <a:ln/>
        </p:spPr>
        <p:txBody>
          <a:bodyPr wrap="square" lIns="0" tIns="0" rIns="0" bIns="0" rtlCol="0" anchor="t"/>
          <a:lstStyle/>
          <a:p>
            <a:pPr marL="0" indent="0" algn="l">
              <a:lnSpc>
                <a:spcPts val="2100"/>
              </a:lnSpc>
              <a:spcAft>
                <a:spcPts val="2400"/>
              </a:spcAft>
              <a:buNone/>
            </a:pPr>
            <a:r>
              <a:rPr lang="en-US" sz="1500" dirty="0">
                <a:solidFill>
                  <a:srgbClr val="C9A227"/>
                </a:solidFill>
                <a:latin typeface="Georgia" pitchFamily="34" charset="0"/>
                <a:ea typeface="Georgia" pitchFamily="34" charset="-122"/>
                <a:cs typeface="Georgia" pitchFamily="34" charset="-120"/>
              </a:rPr>
              <a:t>A 10-Phase Workflow</a:t>
            </a:r>
            <a:endParaRPr lang="en-US" sz="1500" dirty="0"/>
          </a:p>
        </p:txBody>
      </p:sp>
      <p:sp>
        <p:nvSpPr>
          <p:cNvPr id="6" name="Text 3"/>
          <p:cNvSpPr/>
          <p:nvPr/>
        </p:nvSpPr>
        <p:spPr>
          <a:xfrm>
            <a:off x="457200" y="3396407"/>
            <a:ext cx="762000" cy="19050"/>
          </a:xfrm>
          <a:prstGeom prst="rect">
            <a:avLst/>
          </a:prstGeom>
          <a:solidFill>
            <a:srgbClr val="C9A227"/>
          </a:solidFill>
          <a:ln/>
        </p:spPr>
        <p:txBody>
          <a:bodyPr wrap="square" rtlCol="0" anchor="ctr"/>
          <a:lstStyle/>
          <a:p>
            <a:pPr marL="0" indent="0">
              <a:buNone/>
            </a:pPr>
            <a:endParaRPr lang="en-US" dirty="0"/>
          </a:p>
        </p:txBody>
      </p:sp>
      <p:sp>
        <p:nvSpPr>
          <p:cNvPr id="7" name="Text 4"/>
          <p:cNvSpPr/>
          <p:nvPr/>
        </p:nvSpPr>
        <p:spPr>
          <a:xfrm>
            <a:off x="457200" y="3872657"/>
            <a:ext cx="5034754" cy="186630"/>
          </a:xfrm>
          <a:prstGeom prst="rect">
            <a:avLst/>
          </a:prstGeom>
          <a:noFill/>
          <a:ln/>
        </p:spPr>
        <p:txBody>
          <a:bodyPr wrap="square" lIns="0" tIns="0" rIns="0" bIns="0" rtlCol="0" anchor="t"/>
          <a:lstStyle/>
          <a:p>
            <a:pPr marL="0" indent="0" algn="l">
              <a:lnSpc>
                <a:spcPts val="1470"/>
              </a:lnSpc>
              <a:buNone/>
            </a:pPr>
            <a:r>
              <a:rPr lang="en-US" sz="1050" dirty="0">
                <a:solidFill>
                  <a:srgbClr val="FFFFFF">
                    <a:alpha val="70000"/>
                  </a:srgbClr>
                </a:solidFill>
                <a:latin typeface="Arial" pitchFamily="34" charset="0"/>
                <a:ea typeface="Arial" pitchFamily="34" charset="-122"/>
                <a:cs typeface="Arial" pitchFamily="34" charset="-120"/>
              </a:rPr>
              <a:t>From idea to deployment using voice-driven AI agents</a:t>
            </a:r>
            <a:endParaRPr lang="en-US" sz="1050" dirty="0"/>
          </a:p>
        </p:txBody>
      </p:sp>
      <p:sp>
        <p:nvSpPr>
          <p:cNvPr id="8" name="Text 5"/>
          <p:cNvSpPr/>
          <p:nvPr/>
        </p:nvSpPr>
        <p:spPr>
          <a:xfrm>
            <a:off x="6002834" y="0"/>
            <a:ext cx="3141166" cy="5143500"/>
          </a:xfrm>
          <a:prstGeom prst="rect">
            <a:avLst/>
          </a:prstGeom>
          <a:solidFill>
            <a:srgbClr val="C9A227"/>
          </a:solidFill>
          <a:ln/>
        </p:spPr>
        <p:txBody>
          <a:bodyPr wrap="square" rtlCol="0" anchor="ctr"/>
          <a:lstStyle/>
          <a:p>
            <a:pPr marL="0" indent="0">
              <a:buNone/>
            </a:pPr>
            <a:endParaRPr lang="en-US" dirty="0"/>
          </a:p>
        </p:txBody>
      </p:sp>
      <p:sp>
        <p:nvSpPr>
          <p:cNvPr id="9" name="Text 6"/>
          <p:cNvSpPr/>
          <p:nvPr/>
        </p:nvSpPr>
        <p:spPr>
          <a:xfrm>
            <a:off x="7249010" y="1578322"/>
            <a:ext cx="648813" cy="853380"/>
          </a:xfrm>
          <a:prstGeom prst="rect">
            <a:avLst/>
          </a:prstGeom>
          <a:noFill/>
          <a:ln/>
        </p:spPr>
        <p:txBody>
          <a:bodyPr wrap="square" lIns="0" tIns="0" rIns="0" bIns="0" rtlCol="0" anchor="t"/>
          <a:lstStyle/>
          <a:p>
            <a:pPr marL="0" indent="0" algn="ctr">
              <a:lnSpc>
                <a:spcPts val="6720"/>
              </a:lnSpc>
              <a:buNone/>
            </a:pPr>
            <a:r>
              <a:rPr lang="en-US" sz="4800" dirty="0">
                <a:solidFill>
                  <a:srgbClr val="1A1F2E"/>
                </a:solidFill>
                <a:latin typeface="Georgia" pitchFamily="34" charset="0"/>
                <a:ea typeface="Georgia" pitchFamily="34" charset="-122"/>
                <a:cs typeface="Georgia" pitchFamily="34" charset="-120"/>
              </a:rPr>
              <a:t>10</a:t>
            </a:r>
            <a:endParaRPr lang="en-US" sz="4800" dirty="0"/>
          </a:p>
        </p:txBody>
      </p:sp>
      <p:sp>
        <p:nvSpPr>
          <p:cNvPr id="10" name="Text 7"/>
          <p:cNvSpPr/>
          <p:nvPr/>
        </p:nvSpPr>
        <p:spPr>
          <a:xfrm>
            <a:off x="7239143" y="2622203"/>
            <a:ext cx="668548" cy="186630"/>
          </a:xfrm>
          <a:prstGeom prst="rect">
            <a:avLst/>
          </a:prstGeom>
          <a:noFill/>
          <a:ln/>
        </p:spPr>
        <p:txBody>
          <a:bodyPr wrap="square" lIns="0" tIns="0" rIns="0" bIns="0" rtlCol="0" anchor="t"/>
          <a:lstStyle/>
          <a:p>
            <a:pPr marL="0" indent="0" algn="ctr">
              <a:lnSpc>
                <a:spcPts val="1470"/>
              </a:lnSpc>
              <a:spcBef>
                <a:spcPts val="300"/>
              </a:spcBef>
              <a:buNone/>
            </a:pPr>
            <a:r>
              <a:rPr lang="en-US" sz="1050" dirty="0">
                <a:solidFill>
                  <a:srgbClr val="1A1F2E"/>
                </a:solidFill>
                <a:latin typeface="Arial" pitchFamily="34" charset="0"/>
                <a:ea typeface="Arial" pitchFamily="34" charset="-122"/>
                <a:cs typeface="Arial" pitchFamily="34" charset="-120"/>
              </a:rPr>
              <a:t>PHASES</a:t>
            </a:r>
            <a:endParaRPr lang="en-US" sz="1050" dirty="0"/>
          </a:p>
        </p:txBody>
      </p:sp>
      <p:sp>
        <p:nvSpPr>
          <p:cNvPr id="11" name="Text 8"/>
          <p:cNvSpPr/>
          <p:nvPr/>
        </p:nvSpPr>
        <p:spPr>
          <a:xfrm>
            <a:off x="6204594" y="4768304"/>
            <a:ext cx="2737646" cy="146596"/>
          </a:xfrm>
          <a:prstGeom prst="rect">
            <a:avLst/>
          </a:prstGeom>
          <a:noFill/>
          <a:ln/>
        </p:spPr>
        <p:txBody>
          <a:bodyPr wrap="square" lIns="0" tIns="0" rIns="0" bIns="0" rtlCol="0" anchor="t"/>
          <a:lstStyle/>
          <a:p>
            <a:pPr marL="0" indent="0" algn="ctr">
              <a:lnSpc>
                <a:spcPts val="1155"/>
              </a:lnSpc>
              <a:buNone/>
            </a:pPr>
            <a:r>
              <a:rPr lang="en-US" sz="825" dirty="0">
                <a:solidFill>
                  <a:srgbClr val="1A1F2E">
                    <a:alpha val="60000"/>
                  </a:srgbClr>
                </a:solidFill>
                <a:latin typeface="Arial" pitchFamily="34" charset="0"/>
                <a:ea typeface="Arial" pitchFamily="34" charset="-122"/>
                <a:cs typeface="Arial" pitchFamily="34" charset="-120"/>
              </a:rPr>
              <a:t>Session 2 Deep Dive</a:t>
            </a:r>
            <a:endParaRPr lang="en-US" sz="8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381000" y="228600"/>
            <a:ext cx="8549640" cy="133350"/>
          </a:xfrm>
          <a:prstGeom prst="rect">
            <a:avLst/>
          </a:prstGeom>
          <a:noFill/>
          <a:ln/>
        </p:spPr>
        <p:txBody>
          <a:bodyPr wrap="square" lIns="0" tIns="0" rIns="0" bIns="0" rtlCol="0" anchor="t"/>
          <a:lstStyle/>
          <a:p>
            <a:pPr marL="0" indent="0" algn="l">
              <a:lnSpc>
                <a:spcPts val="1050"/>
              </a:lnSpc>
              <a:spcAft>
                <a:spcPts val="450"/>
              </a:spcAft>
              <a:buNone/>
            </a:pPr>
            <a:r>
              <a:rPr lang="en-US" sz="750" dirty="0">
                <a:solidFill>
                  <a:srgbClr val="C9A227"/>
                </a:solidFill>
                <a:latin typeface="Arial" pitchFamily="34" charset="0"/>
                <a:ea typeface="Arial" pitchFamily="34" charset="-122"/>
                <a:cs typeface="Arial" pitchFamily="34" charset="-120"/>
              </a:rPr>
              <a:t>OVERVIEW</a:t>
            </a:r>
            <a:endParaRPr lang="en-US" sz="750" dirty="0"/>
          </a:p>
        </p:txBody>
      </p:sp>
      <p:sp>
        <p:nvSpPr>
          <p:cNvPr id="3" name="Text 1"/>
          <p:cNvSpPr/>
          <p:nvPr/>
        </p:nvSpPr>
        <p:spPr>
          <a:xfrm>
            <a:off x="381000" y="419100"/>
            <a:ext cx="4284536" cy="266700"/>
          </a:xfrm>
          <a:prstGeom prst="rect">
            <a:avLst/>
          </a:prstGeom>
          <a:noFill/>
          <a:ln/>
        </p:spPr>
        <p:txBody>
          <a:bodyPr wrap="square" lIns="0" tIns="0" rIns="0" bIns="0" rtlCol="0" anchor="t"/>
          <a:lstStyle/>
          <a:p>
            <a:pPr marL="0" indent="0" algn="l">
              <a:lnSpc>
                <a:spcPts val="2100"/>
              </a:lnSpc>
              <a:buNone/>
            </a:pPr>
            <a:r>
              <a:rPr lang="en-US" sz="2100" dirty="0">
                <a:solidFill>
                  <a:srgbClr val="1A1F2E"/>
                </a:solidFill>
                <a:latin typeface="Georgia" pitchFamily="34" charset="0"/>
                <a:ea typeface="Georgia" pitchFamily="34" charset="-122"/>
                <a:cs typeface="Georgia" pitchFamily="34" charset="-120"/>
              </a:rPr>
              <a:t>The 10-Phase Voice-First Workflow</a:t>
            </a:r>
            <a:endParaRPr lang="en-US" sz="2100" dirty="0"/>
          </a:p>
        </p:txBody>
      </p:sp>
      <p:sp>
        <p:nvSpPr>
          <p:cNvPr id="4" name="Text 2"/>
          <p:cNvSpPr/>
          <p:nvPr/>
        </p:nvSpPr>
        <p:spPr>
          <a:xfrm>
            <a:off x="381000" y="1400473"/>
            <a:ext cx="1600200" cy="727472"/>
          </a:xfrm>
          <a:prstGeom prst="rect">
            <a:avLst/>
          </a:prstGeom>
          <a:solidFill>
            <a:srgbClr val="1A1F2E"/>
          </a:solidFill>
          <a:ln/>
        </p:spPr>
        <p:txBody>
          <a:bodyPr wrap="square" rtlCol="0" anchor="ctr"/>
          <a:lstStyle/>
          <a:p>
            <a:pPr marL="0" indent="0">
              <a:buNone/>
            </a:pPr>
            <a:endParaRPr lang="en-US" dirty="0"/>
          </a:p>
        </p:txBody>
      </p:sp>
      <p:sp>
        <p:nvSpPr>
          <p:cNvPr id="5" name="Text 3"/>
          <p:cNvSpPr/>
          <p:nvPr/>
        </p:nvSpPr>
        <p:spPr>
          <a:xfrm>
            <a:off x="514350" y="1495723"/>
            <a:ext cx="1360170" cy="239911"/>
          </a:xfrm>
          <a:prstGeom prst="rect">
            <a:avLst/>
          </a:prstGeom>
          <a:noFill/>
          <a:ln/>
        </p:spPr>
        <p:txBody>
          <a:bodyPr wrap="square" lIns="0" tIns="0" rIns="0" bIns="0" rtlCol="0" anchor="t"/>
          <a:lstStyle/>
          <a:p>
            <a:pPr marL="0" indent="0" algn="l">
              <a:lnSpc>
                <a:spcPts val="1890"/>
              </a:lnSpc>
              <a:spcAft>
                <a:spcPts val="300"/>
              </a:spcAft>
              <a:buNone/>
            </a:pPr>
            <a:r>
              <a:rPr lang="en-US" sz="1350" dirty="0">
                <a:solidFill>
                  <a:srgbClr val="C9A227"/>
                </a:solidFill>
                <a:latin typeface="Georgia" pitchFamily="34" charset="0"/>
                <a:ea typeface="Georgia" pitchFamily="34" charset="-122"/>
                <a:cs typeface="Georgia" pitchFamily="34" charset="-120"/>
              </a:rPr>
              <a:t>1</a:t>
            </a:r>
            <a:endParaRPr lang="en-US" sz="1350" dirty="0"/>
          </a:p>
        </p:txBody>
      </p:sp>
      <p:sp>
        <p:nvSpPr>
          <p:cNvPr id="6" name="Text 4"/>
          <p:cNvSpPr/>
          <p:nvPr/>
        </p:nvSpPr>
        <p:spPr>
          <a:xfrm>
            <a:off x="514350" y="1773734"/>
            <a:ext cx="1360170" cy="133350"/>
          </a:xfrm>
          <a:prstGeom prst="rect">
            <a:avLst/>
          </a:prstGeom>
          <a:noFill/>
          <a:ln/>
        </p:spPr>
        <p:txBody>
          <a:bodyPr wrap="square" lIns="0" tIns="0" rIns="0" bIns="0" rtlCol="0" anchor="t"/>
          <a:lstStyle/>
          <a:p>
            <a:pPr marL="0" indent="0" algn="l">
              <a:lnSpc>
                <a:spcPts val="1050"/>
              </a:lnSpc>
              <a:buNone/>
            </a:pPr>
            <a:r>
              <a:rPr lang="en-US" sz="750" b="1" dirty="0">
                <a:solidFill>
                  <a:srgbClr val="FFFFFF"/>
                </a:solidFill>
                <a:latin typeface="Arial" pitchFamily="34" charset="0"/>
                <a:ea typeface="Arial" pitchFamily="34" charset="-122"/>
                <a:cs typeface="Arial" pitchFamily="34" charset="-120"/>
              </a:rPr>
              <a:t>GitHub Repo</a:t>
            </a:r>
            <a:endParaRPr lang="en-US" sz="750" dirty="0"/>
          </a:p>
        </p:txBody>
      </p:sp>
      <p:sp>
        <p:nvSpPr>
          <p:cNvPr id="7" name="Text 5"/>
          <p:cNvSpPr/>
          <p:nvPr/>
        </p:nvSpPr>
        <p:spPr>
          <a:xfrm>
            <a:off x="514350" y="1926134"/>
            <a:ext cx="1360170" cy="106561"/>
          </a:xfrm>
          <a:prstGeom prst="rect">
            <a:avLst/>
          </a:prstGeom>
          <a:noFill/>
          <a:ln/>
        </p:spPr>
        <p:txBody>
          <a:bodyPr wrap="square" lIns="0" tIns="0" rIns="0" bIns="0" rtlCol="0" anchor="t"/>
          <a:lstStyle/>
          <a:p>
            <a:pPr marL="0" indent="0" algn="l">
              <a:lnSpc>
                <a:spcPts val="840"/>
              </a:lnSpc>
              <a:spcBef>
                <a:spcPts val="150"/>
              </a:spcBef>
              <a:buNone/>
            </a:pPr>
            <a:r>
              <a:rPr lang="en-US" sz="600" dirty="0">
                <a:solidFill>
                  <a:srgbClr val="FFFFFF">
                    <a:alpha val="50000"/>
                  </a:srgbClr>
                </a:solidFill>
                <a:latin typeface="Arial" pitchFamily="34" charset="0"/>
                <a:ea typeface="Arial" pitchFamily="34" charset="-122"/>
                <a:cs typeface="Arial" pitchFamily="34" charset="-120"/>
              </a:rPr>
              <a:t>Foundation</a:t>
            </a:r>
            <a:endParaRPr lang="en-US" sz="600" dirty="0"/>
          </a:p>
        </p:txBody>
      </p:sp>
      <p:sp>
        <p:nvSpPr>
          <p:cNvPr id="8" name="Text 6"/>
          <p:cNvSpPr/>
          <p:nvPr/>
        </p:nvSpPr>
        <p:spPr>
          <a:xfrm>
            <a:off x="2076450" y="1400473"/>
            <a:ext cx="1600200" cy="727472"/>
          </a:xfrm>
          <a:prstGeom prst="rect">
            <a:avLst/>
          </a:prstGeom>
          <a:solidFill>
            <a:srgbClr val="1A1F2E"/>
          </a:solidFill>
          <a:ln/>
        </p:spPr>
        <p:txBody>
          <a:bodyPr wrap="square" rtlCol="0" anchor="ctr"/>
          <a:lstStyle/>
          <a:p>
            <a:pPr marL="0" indent="0">
              <a:buNone/>
            </a:pPr>
            <a:endParaRPr lang="en-US" dirty="0"/>
          </a:p>
        </p:txBody>
      </p:sp>
      <p:sp>
        <p:nvSpPr>
          <p:cNvPr id="9" name="Text 7"/>
          <p:cNvSpPr/>
          <p:nvPr/>
        </p:nvSpPr>
        <p:spPr>
          <a:xfrm>
            <a:off x="2209800" y="1495723"/>
            <a:ext cx="1360170" cy="239911"/>
          </a:xfrm>
          <a:prstGeom prst="rect">
            <a:avLst/>
          </a:prstGeom>
          <a:noFill/>
          <a:ln/>
        </p:spPr>
        <p:txBody>
          <a:bodyPr wrap="square" lIns="0" tIns="0" rIns="0" bIns="0" rtlCol="0" anchor="t"/>
          <a:lstStyle/>
          <a:p>
            <a:pPr marL="0" indent="0" algn="l">
              <a:lnSpc>
                <a:spcPts val="1890"/>
              </a:lnSpc>
              <a:spcAft>
                <a:spcPts val="300"/>
              </a:spcAft>
              <a:buNone/>
            </a:pPr>
            <a:r>
              <a:rPr lang="en-US" sz="1350" dirty="0">
                <a:solidFill>
                  <a:srgbClr val="C9A227"/>
                </a:solidFill>
                <a:latin typeface="Georgia" pitchFamily="34" charset="0"/>
                <a:ea typeface="Georgia" pitchFamily="34" charset="-122"/>
                <a:cs typeface="Georgia" pitchFamily="34" charset="-120"/>
              </a:rPr>
              <a:t>2</a:t>
            </a:r>
            <a:endParaRPr lang="en-US" sz="1350" dirty="0"/>
          </a:p>
        </p:txBody>
      </p:sp>
      <p:sp>
        <p:nvSpPr>
          <p:cNvPr id="10" name="Text 8"/>
          <p:cNvSpPr/>
          <p:nvPr/>
        </p:nvSpPr>
        <p:spPr>
          <a:xfrm>
            <a:off x="2209800" y="1773734"/>
            <a:ext cx="1360170" cy="133350"/>
          </a:xfrm>
          <a:prstGeom prst="rect">
            <a:avLst/>
          </a:prstGeom>
          <a:noFill/>
          <a:ln/>
        </p:spPr>
        <p:txBody>
          <a:bodyPr wrap="square" lIns="0" tIns="0" rIns="0" bIns="0" rtlCol="0" anchor="t"/>
          <a:lstStyle/>
          <a:p>
            <a:pPr marL="0" indent="0" algn="l">
              <a:lnSpc>
                <a:spcPts val="1050"/>
              </a:lnSpc>
              <a:buNone/>
            </a:pPr>
            <a:r>
              <a:rPr lang="en-US" sz="750" b="1" dirty="0">
                <a:solidFill>
                  <a:srgbClr val="FFFFFF"/>
                </a:solidFill>
                <a:latin typeface="Arial" pitchFamily="34" charset="0"/>
                <a:ea typeface="Arial" pitchFamily="34" charset="-122"/>
                <a:cs typeface="Arial" pitchFamily="34" charset="-120"/>
              </a:rPr>
              <a:t>Brainstorm</a:t>
            </a:r>
            <a:endParaRPr lang="en-US" sz="750" dirty="0"/>
          </a:p>
        </p:txBody>
      </p:sp>
      <p:sp>
        <p:nvSpPr>
          <p:cNvPr id="11" name="Text 9"/>
          <p:cNvSpPr/>
          <p:nvPr/>
        </p:nvSpPr>
        <p:spPr>
          <a:xfrm>
            <a:off x="2209800" y="1926134"/>
            <a:ext cx="1360170" cy="106561"/>
          </a:xfrm>
          <a:prstGeom prst="rect">
            <a:avLst/>
          </a:prstGeom>
          <a:noFill/>
          <a:ln/>
        </p:spPr>
        <p:txBody>
          <a:bodyPr wrap="square" lIns="0" tIns="0" rIns="0" bIns="0" rtlCol="0" anchor="t"/>
          <a:lstStyle/>
          <a:p>
            <a:pPr marL="0" indent="0" algn="l">
              <a:lnSpc>
                <a:spcPts val="840"/>
              </a:lnSpc>
              <a:spcBef>
                <a:spcPts val="150"/>
              </a:spcBef>
              <a:buNone/>
            </a:pPr>
            <a:r>
              <a:rPr lang="en-US" sz="600" dirty="0">
                <a:solidFill>
                  <a:srgbClr val="FFFFFF">
                    <a:alpha val="50000"/>
                  </a:srgbClr>
                </a:solidFill>
                <a:latin typeface="Arial" pitchFamily="34" charset="0"/>
                <a:ea typeface="Arial" pitchFamily="34" charset="-122"/>
                <a:cs typeface="Arial" pitchFamily="34" charset="-120"/>
              </a:rPr>
              <a:t>Ideation</a:t>
            </a:r>
            <a:endParaRPr lang="en-US" sz="600" dirty="0"/>
          </a:p>
        </p:txBody>
      </p:sp>
      <p:sp>
        <p:nvSpPr>
          <p:cNvPr id="12" name="Text 10"/>
          <p:cNvSpPr/>
          <p:nvPr/>
        </p:nvSpPr>
        <p:spPr>
          <a:xfrm>
            <a:off x="3771900" y="1400473"/>
            <a:ext cx="1600200" cy="727472"/>
          </a:xfrm>
          <a:prstGeom prst="rect">
            <a:avLst/>
          </a:prstGeom>
          <a:solidFill>
            <a:srgbClr val="1A1F2E"/>
          </a:solidFill>
          <a:ln/>
        </p:spPr>
        <p:txBody>
          <a:bodyPr wrap="square" rtlCol="0" anchor="ctr"/>
          <a:lstStyle/>
          <a:p>
            <a:pPr marL="0" indent="0">
              <a:buNone/>
            </a:pPr>
            <a:endParaRPr lang="en-US" dirty="0"/>
          </a:p>
        </p:txBody>
      </p:sp>
      <p:sp>
        <p:nvSpPr>
          <p:cNvPr id="13" name="Text 11"/>
          <p:cNvSpPr/>
          <p:nvPr/>
        </p:nvSpPr>
        <p:spPr>
          <a:xfrm>
            <a:off x="3905250" y="1495723"/>
            <a:ext cx="1360170" cy="239911"/>
          </a:xfrm>
          <a:prstGeom prst="rect">
            <a:avLst/>
          </a:prstGeom>
          <a:noFill/>
          <a:ln/>
        </p:spPr>
        <p:txBody>
          <a:bodyPr wrap="square" lIns="0" tIns="0" rIns="0" bIns="0" rtlCol="0" anchor="t"/>
          <a:lstStyle/>
          <a:p>
            <a:pPr marL="0" indent="0" algn="l">
              <a:lnSpc>
                <a:spcPts val="1890"/>
              </a:lnSpc>
              <a:spcAft>
                <a:spcPts val="300"/>
              </a:spcAft>
              <a:buNone/>
            </a:pPr>
            <a:r>
              <a:rPr lang="en-US" sz="1350" dirty="0">
                <a:solidFill>
                  <a:srgbClr val="C9A227"/>
                </a:solidFill>
                <a:latin typeface="Georgia" pitchFamily="34" charset="0"/>
                <a:ea typeface="Georgia" pitchFamily="34" charset="-122"/>
                <a:cs typeface="Georgia" pitchFamily="34" charset="-120"/>
              </a:rPr>
              <a:t>3</a:t>
            </a:r>
            <a:endParaRPr lang="en-US" sz="1350" dirty="0"/>
          </a:p>
        </p:txBody>
      </p:sp>
      <p:sp>
        <p:nvSpPr>
          <p:cNvPr id="14" name="Text 12"/>
          <p:cNvSpPr/>
          <p:nvPr/>
        </p:nvSpPr>
        <p:spPr>
          <a:xfrm>
            <a:off x="3905250" y="1773734"/>
            <a:ext cx="1360170" cy="133350"/>
          </a:xfrm>
          <a:prstGeom prst="rect">
            <a:avLst/>
          </a:prstGeom>
          <a:noFill/>
          <a:ln/>
        </p:spPr>
        <p:txBody>
          <a:bodyPr wrap="square" lIns="0" tIns="0" rIns="0" bIns="0" rtlCol="0" anchor="t"/>
          <a:lstStyle/>
          <a:p>
            <a:pPr marL="0" indent="0" algn="l">
              <a:lnSpc>
                <a:spcPts val="1050"/>
              </a:lnSpc>
              <a:buNone/>
            </a:pPr>
            <a:r>
              <a:rPr lang="en-US" sz="750" b="1" dirty="0">
                <a:solidFill>
                  <a:srgbClr val="FFFFFF"/>
                </a:solidFill>
                <a:latin typeface="Arial" pitchFamily="34" charset="0"/>
                <a:ea typeface="Arial" pitchFamily="34" charset="-122"/>
                <a:cs typeface="Arial" pitchFamily="34" charset="-120"/>
              </a:rPr>
              <a:t>Deep Research</a:t>
            </a:r>
            <a:endParaRPr lang="en-US" sz="750" dirty="0"/>
          </a:p>
        </p:txBody>
      </p:sp>
      <p:sp>
        <p:nvSpPr>
          <p:cNvPr id="15" name="Text 13"/>
          <p:cNvSpPr/>
          <p:nvPr/>
        </p:nvSpPr>
        <p:spPr>
          <a:xfrm>
            <a:off x="3905250" y="1926134"/>
            <a:ext cx="1360170" cy="106561"/>
          </a:xfrm>
          <a:prstGeom prst="rect">
            <a:avLst/>
          </a:prstGeom>
          <a:noFill/>
          <a:ln/>
        </p:spPr>
        <p:txBody>
          <a:bodyPr wrap="square" lIns="0" tIns="0" rIns="0" bIns="0" rtlCol="0" anchor="t"/>
          <a:lstStyle/>
          <a:p>
            <a:pPr marL="0" indent="0" algn="l">
              <a:lnSpc>
                <a:spcPts val="840"/>
              </a:lnSpc>
              <a:spcBef>
                <a:spcPts val="150"/>
              </a:spcBef>
              <a:buNone/>
            </a:pPr>
            <a:r>
              <a:rPr lang="en-US" sz="600" dirty="0">
                <a:solidFill>
                  <a:srgbClr val="FFFFFF">
                    <a:alpha val="50000"/>
                  </a:srgbClr>
                </a:solidFill>
                <a:latin typeface="Arial" pitchFamily="34" charset="0"/>
                <a:ea typeface="Arial" pitchFamily="34" charset="-122"/>
                <a:cs typeface="Arial" pitchFamily="34" charset="-120"/>
              </a:rPr>
              <a:t>Discovery</a:t>
            </a:r>
            <a:endParaRPr lang="en-US" sz="600" dirty="0"/>
          </a:p>
        </p:txBody>
      </p:sp>
      <p:sp>
        <p:nvSpPr>
          <p:cNvPr id="16" name="Text 14"/>
          <p:cNvSpPr/>
          <p:nvPr/>
        </p:nvSpPr>
        <p:spPr>
          <a:xfrm>
            <a:off x="5467350" y="1400473"/>
            <a:ext cx="1600200" cy="727472"/>
          </a:xfrm>
          <a:prstGeom prst="rect">
            <a:avLst/>
          </a:prstGeom>
          <a:solidFill>
            <a:srgbClr val="1A1F2E"/>
          </a:solidFill>
          <a:ln/>
        </p:spPr>
        <p:txBody>
          <a:bodyPr wrap="square" rtlCol="0" anchor="ctr"/>
          <a:lstStyle/>
          <a:p>
            <a:pPr marL="0" indent="0">
              <a:buNone/>
            </a:pPr>
            <a:endParaRPr lang="en-US" dirty="0"/>
          </a:p>
        </p:txBody>
      </p:sp>
      <p:sp>
        <p:nvSpPr>
          <p:cNvPr id="17" name="Text 15"/>
          <p:cNvSpPr/>
          <p:nvPr/>
        </p:nvSpPr>
        <p:spPr>
          <a:xfrm>
            <a:off x="5600700" y="1495723"/>
            <a:ext cx="1360170" cy="239911"/>
          </a:xfrm>
          <a:prstGeom prst="rect">
            <a:avLst/>
          </a:prstGeom>
          <a:noFill/>
          <a:ln/>
        </p:spPr>
        <p:txBody>
          <a:bodyPr wrap="square" lIns="0" tIns="0" rIns="0" bIns="0" rtlCol="0" anchor="t"/>
          <a:lstStyle/>
          <a:p>
            <a:pPr marL="0" indent="0" algn="l">
              <a:lnSpc>
                <a:spcPts val="1890"/>
              </a:lnSpc>
              <a:spcAft>
                <a:spcPts val="300"/>
              </a:spcAft>
              <a:buNone/>
            </a:pPr>
            <a:r>
              <a:rPr lang="en-US" sz="1350" dirty="0">
                <a:solidFill>
                  <a:srgbClr val="C9A227"/>
                </a:solidFill>
                <a:latin typeface="Georgia" pitchFamily="34" charset="0"/>
                <a:ea typeface="Georgia" pitchFamily="34" charset="-122"/>
                <a:cs typeface="Georgia" pitchFamily="34" charset="-120"/>
              </a:rPr>
              <a:t>4</a:t>
            </a:r>
            <a:endParaRPr lang="en-US" sz="1350" dirty="0"/>
          </a:p>
        </p:txBody>
      </p:sp>
      <p:sp>
        <p:nvSpPr>
          <p:cNvPr id="18" name="Text 16"/>
          <p:cNvSpPr/>
          <p:nvPr/>
        </p:nvSpPr>
        <p:spPr>
          <a:xfrm>
            <a:off x="5600700" y="1773734"/>
            <a:ext cx="1360170" cy="133350"/>
          </a:xfrm>
          <a:prstGeom prst="rect">
            <a:avLst/>
          </a:prstGeom>
          <a:noFill/>
          <a:ln/>
        </p:spPr>
        <p:txBody>
          <a:bodyPr wrap="square" lIns="0" tIns="0" rIns="0" bIns="0" rtlCol="0" anchor="t"/>
          <a:lstStyle/>
          <a:p>
            <a:pPr marL="0" indent="0" algn="l">
              <a:lnSpc>
                <a:spcPts val="1050"/>
              </a:lnSpc>
              <a:buNone/>
            </a:pPr>
            <a:r>
              <a:rPr lang="en-US" sz="750" b="1" dirty="0">
                <a:solidFill>
                  <a:srgbClr val="FFFFFF"/>
                </a:solidFill>
                <a:latin typeface="Arial" pitchFamily="34" charset="0"/>
                <a:ea typeface="Arial" pitchFamily="34" charset="-122"/>
                <a:cs typeface="Arial" pitchFamily="34" charset="-120"/>
              </a:rPr>
              <a:t>Planning</a:t>
            </a:r>
            <a:endParaRPr lang="en-US" sz="750" dirty="0"/>
          </a:p>
        </p:txBody>
      </p:sp>
      <p:sp>
        <p:nvSpPr>
          <p:cNvPr id="19" name="Text 17"/>
          <p:cNvSpPr/>
          <p:nvPr/>
        </p:nvSpPr>
        <p:spPr>
          <a:xfrm>
            <a:off x="5600700" y="1926134"/>
            <a:ext cx="1360170" cy="106561"/>
          </a:xfrm>
          <a:prstGeom prst="rect">
            <a:avLst/>
          </a:prstGeom>
          <a:noFill/>
          <a:ln/>
        </p:spPr>
        <p:txBody>
          <a:bodyPr wrap="square" lIns="0" tIns="0" rIns="0" bIns="0" rtlCol="0" anchor="t"/>
          <a:lstStyle/>
          <a:p>
            <a:pPr marL="0" indent="0" algn="l">
              <a:lnSpc>
                <a:spcPts val="840"/>
              </a:lnSpc>
              <a:spcBef>
                <a:spcPts val="150"/>
              </a:spcBef>
              <a:buNone/>
            </a:pPr>
            <a:r>
              <a:rPr lang="en-US" sz="600" dirty="0">
                <a:solidFill>
                  <a:srgbClr val="FFFFFF">
                    <a:alpha val="50000"/>
                  </a:srgbClr>
                </a:solidFill>
                <a:latin typeface="Arial" pitchFamily="34" charset="0"/>
                <a:ea typeface="Arial" pitchFamily="34" charset="-122"/>
                <a:cs typeface="Arial" pitchFamily="34" charset="-120"/>
              </a:rPr>
              <a:t>Strategy</a:t>
            </a:r>
            <a:endParaRPr lang="en-US" sz="600" dirty="0"/>
          </a:p>
        </p:txBody>
      </p:sp>
      <p:sp>
        <p:nvSpPr>
          <p:cNvPr id="20" name="Text 18"/>
          <p:cNvSpPr/>
          <p:nvPr/>
        </p:nvSpPr>
        <p:spPr>
          <a:xfrm>
            <a:off x="7162800" y="1400473"/>
            <a:ext cx="1600200" cy="727472"/>
          </a:xfrm>
          <a:prstGeom prst="rect">
            <a:avLst/>
          </a:prstGeom>
          <a:solidFill>
            <a:srgbClr val="1A1F2E"/>
          </a:solidFill>
          <a:ln/>
        </p:spPr>
        <p:txBody>
          <a:bodyPr wrap="square" rtlCol="0" anchor="ctr"/>
          <a:lstStyle/>
          <a:p>
            <a:pPr marL="0" indent="0">
              <a:buNone/>
            </a:pPr>
            <a:endParaRPr lang="en-US" dirty="0"/>
          </a:p>
        </p:txBody>
      </p:sp>
      <p:sp>
        <p:nvSpPr>
          <p:cNvPr id="21" name="Text 19"/>
          <p:cNvSpPr/>
          <p:nvPr/>
        </p:nvSpPr>
        <p:spPr>
          <a:xfrm>
            <a:off x="7296150" y="1495723"/>
            <a:ext cx="1360170" cy="239911"/>
          </a:xfrm>
          <a:prstGeom prst="rect">
            <a:avLst/>
          </a:prstGeom>
          <a:noFill/>
          <a:ln/>
        </p:spPr>
        <p:txBody>
          <a:bodyPr wrap="square" lIns="0" tIns="0" rIns="0" bIns="0" rtlCol="0" anchor="t"/>
          <a:lstStyle/>
          <a:p>
            <a:pPr marL="0" indent="0" algn="l">
              <a:lnSpc>
                <a:spcPts val="1890"/>
              </a:lnSpc>
              <a:spcAft>
                <a:spcPts val="300"/>
              </a:spcAft>
              <a:buNone/>
            </a:pPr>
            <a:r>
              <a:rPr lang="en-US" sz="1350" dirty="0">
                <a:solidFill>
                  <a:srgbClr val="C9A227"/>
                </a:solidFill>
                <a:latin typeface="Georgia" pitchFamily="34" charset="0"/>
                <a:ea typeface="Georgia" pitchFamily="34" charset="-122"/>
                <a:cs typeface="Georgia" pitchFamily="34" charset="-120"/>
              </a:rPr>
              <a:t>5</a:t>
            </a:r>
            <a:endParaRPr lang="en-US" sz="1350" dirty="0"/>
          </a:p>
        </p:txBody>
      </p:sp>
      <p:sp>
        <p:nvSpPr>
          <p:cNvPr id="22" name="Text 20"/>
          <p:cNvSpPr/>
          <p:nvPr/>
        </p:nvSpPr>
        <p:spPr>
          <a:xfrm>
            <a:off x="7296150" y="1773734"/>
            <a:ext cx="1360170" cy="133350"/>
          </a:xfrm>
          <a:prstGeom prst="rect">
            <a:avLst/>
          </a:prstGeom>
          <a:noFill/>
          <a:ln/>
        </p:spPr>
        <p:txBody>
          <a:bodyPr wrap="square" lIns="0" tIns="0" rIns="0" bIns="0" rtlCol="0" anchor="t"/>
          <a:lstStyle/>
          <a:p>
            <a:pPr marL="0" indent="0" algn="l">
              <a:lnSpc>
                <a:spcPts val="1050"/>
              </a:lnSpc>
              <a:buNone/>
            </a:pPr>
            <a:r>
              <a:rPr lang="en-US" sz="750" b="1" dirty="0">
                <a:solidFill>
                  <a:srgbClr val="FFFFFF"/>
                </a:solidFill>
                <a:latin typeface="Arial" pitchFamily="34" charset="0"/>
                <a:ea typeface="Arial" pitchFamily="34" charset="-122"/>
                <a:cs typeface="Arial" pitchFamily="34" charset="-120"/>
              </a:rPr>
              <a:t>MVP Prototype</a:t>
            </a:r>
            <a:endParaRPr lang="en-US" sz="750" dirty="0"/>
          </a:p>
        </p:txBody>
      </p:sp>
      <p:sp>
        <p:nvSpPr>
          <p:cNvPr id="23" name="Text 21"/>
          <p:cNvSpPr/>
          <p:nvPr/>
        </p:nvSpPr>
        <p:spPr>
          <a:xfrm>
            <a:off x="7296150" y="1926134"/>
            <a:ext cx="1360170" cy="106561"/>
          </a:xfrm>
          <a:prstGeom prst="rect">
            <a:avLst/>
          </a:prstGeom>
          <a:noFill/>
          <a:ln/>
        </p:spPr>
        <p:txBody>
          <a:bodyPr wrap="square" lIns="0" tIns="0" rIns="0" bIns="0" rtlCol="0" anchor="t"/>
          <a:lstStyle/>
          <a:p>
            <a:pPr marL="0" indent="0" algn="l">
              <a:lnSpc>
                <a:spcPts val="840"/>
              </a:lnSpc>
              <a:spcBef>
                <a:spcPts val="150"/>
              </a:spcBef>
              <a:buNone/>
            </a:pPr>
            <a:r>
              <a:rPr lang="en-US" sz="600" dirty="0">
                <a:solidFill>
                  <a:srgbClr val="FFFFFF">
                    <a:alpha val="50000"/>
                  </a:srgbClr>
                </a:solidFill>
                <a:latin typeface="Arial" pitchFamily="34" charset="0"/>
                <a:ea typeface="Arial" pitchFamily="34" charset="-122"/>
                <a:cs typeface="Arial" pitchFamily="34" charset="-120"/>
              </a:rPr>
              <a:t>Experiment</a:t>
            </a:r>
            <a:endParaRPr lang="en-US" sz="600" dirty="0"/>
          </a:p>
        </p:txBody>
      </p:sp>
      <p:sp>
        <p:nvSpPr>
          <p:cNvPr id="24" name="Text 22"/>
          <p:cNvSpPr/>
          <p:nvPr/>
        </p:nvSpPr>
        <p:spPr>
          <a:xfrm>
            <a:off x="381000" y="2223195"/>
            <a:ext cx="1600200" cy="727472"/>
          </a:xfrm>
          <a:prstGeom prst="rect">
            <a:avLst/>
          </a:prstGeom>
          <a:solidFill>
            <a:srgbClr val="252B3D"/>
          </a:solidFill>
          <a:ln/>
        </p:spPr>
        <p:txBody>
          <a:bodyPr wrap="square" rtlCol="0" anchor="ctr"/>
          <a:lstStyle/>
          <a:p>
            <a:pPr marL="0" indent="0">
              <a:buNone/>
            </a:pPr>
            <a:endParaRPr lang="en-US" dirty="0"/>
          </a:p>
        </p:txBody>
      </p:sp>
      <p:sp>
        <p:nvSpPr>
          <p:cNvPr id="25" name="Text 23"/>
          <p:cNvSpPr/>
          <p:nvPr/>
        </p:nvSpPr>
        <p:spPr>
          <a:xfrm>
            <a:off x="514350" y="2318445"/>
            <a:ext cx="1360170" cy="239911"/>
          </a:xfrm>
          <a:prstGeom prst="rect">
            <a:avLst/>
          </a:prstGeom>
          <a:noFill/>
          <a:ln/>
        </p:spPr>
        <p:txBody>
          <a:bodyPr wrap="square" lIns="0" tIns="0" rIns="0" bIns="0" rtlCol="0" anchor="t"/>
          <a:lstStyle/>
          <a:p>
            <a:pPr marL="0" indent="0" algn="l">
              <a:lnSpc>
                <a:spcPts val="1890"/>
              </a:lnSpc>
              <a:spcAft>
                <a:spcPts val="300"/>
              </a:spcAft>
              <a:buNone/>
            </a:pPr>
            <a:r>
              <a:rPr lang="en-US" sz="1350" dirty="0">
                <a:solidFill>
                  <a:srgbClr val="C9A227"/>
                </a:solidFill>
                <a:latin typeface="Georgia" pitchFamily="34" charset="0"/>
                <a:ea typeface="Georgia" pitchFamily="34" charset="-122"/>
                <a:cs typeface="Georgia" pitchFamily="34" charset="-120"/>
              </a:rPr>
              <a:t>6</a:t>
            </a:r>
            <a:endParaRPr lang="en-US" sz="1350" dirty="0"/>
          </a:p>
        </p:txBody>
      </p:sp>
      <p:sp>
        <p:nvSpPr>
          <p:cNvPr id="26" name="Text 24"/>
          <p:cNvSpPr/>
          <p:nvPr/>
        </p:nvSpPr>
        <p:spPr>
          <a:xfrm>
            <a:off x="514350" y="2596455"/>
            <a:ext cx="1360170" cy="133350"/>
          </a:xfrm>
          <a:prstGeom prst="rect">
            <a:avLst/>
          </a:prstGeom>
          <a:noFill/>
          <a:ln/>
        </p:spPr>
        <p:txBody>
          <a:bodyPr wrap="square" lIns="0" tIns="0" rIns="0" bIns="0" rtlCol="0" anchor="t"/>
          <a:lstStyle/>
          <a:p>
            <a:pPr marL="0" indent="0" algn="l">
              <a:lnSpc>
                <a:spcPts val="1050"/>
              </a:lnSpc>
              <a:buNone/>
            </a:pPr>
            <a:r>
              <a:rPr lang="en-US" sz="750" b="1" dirty="0">
                <a:solidFill>
                  <a:srgbClr val="FFFFFF"/>
                </a:solidFill>
                <a:latin typeface="Arial" pitchFamily="34" charset="0"/>
                <a:ea typeface="Arial" pitchFamily="34" charset="-122"/>
                <a:cs typeface="Arial" pitchFamily="34" charset="-120"/>
              </a:rPr>
              <a:t>Documentation</a:t>
            </a:r>
            <a:endParaRPr lang="en-US" sz="750" dirty="0"/>
          </a:p>
        </p:txBody>
      </p:sp>
      <p:sp>
        <p:nvSpPr>
          <p:cNvPr id="27" name="Text 25"/>
          <p:cNvSpPr/>
          <p:nvPr/>
        </p:nvSpPr>
        <p:spPr>
          <a:xfrm>
            <a:off x="514350" y="2748855"/>
            <a:ext cx="1360170" cy="106561"/>
          </a:xfrm>
          <a:prstGeom prst="rect">
            <a:avLst/>
          </a:prstGeom>
          <a:noFill/>
          <a:ln/>
        </p:spPr>
        <p:txBody>
          <a:bodyPr wrap="square" lIns="0" tIns="0" rIns="0" bIns="0" rtlCol="0" anchor="t"/>
          <a:lstStyle/>
          <a:p>
            <a:pPr marL="0" indent="0" algn="l">
              <a:lnSpc>
                <a:spcPts val="840"/>
              </a:lnSpc>
              <a:spcBef>
                <a:spcPts val="150"/>
              </a:spcBef>
              <a:buNone/>
            </a:pPr>
            <a:r>
              <a:rPr lang="en-US" sz="600" dirty="0">
                <a:solidFill>
                  <a:srgbClr val="FFFFFF">
                    <a:alpha val="50000"/>
                  </a:srgbClr>
                </a:solidFill>
                <a:latin typeface="Arial" pitchFamily="34" charset="0"/>
                <a:ea typeface="Arial" pitchFamily="34" charset="-122"/>
                <a:cs typeface="Arial" pitchFamily="34" charset="-120"/>
              </a:rPr>
              <a:t>Standards</a:t>
            </a:r>
            <a:endParaRPr lang="en-US" sz="600" dirty="0"/>
          </a:p>
        </p:txBody>
      </p:sp>
      <p:sp>
        <p:nvSpPr>
          <p:cNvPr id="28" name="Text 26"/>
          <p:cNvSpPr/>
          <p:nvPr/>
        </p:nvSpPr>
        <p:spPr>
          <a:xfrm>
            <a:off x="2076450" y="2223195"/>
            <a:ext cx="1600200" cy="727472"/>
          </a:xfrm>
          <a:prstGeom prst="rect">
            <a:avLst/>
          </a:prstGeom>
          <a:solidFill>
            <a:srgbClr val="252B3D"/>
          </a:solidFill>
          <a:ln/>
        </p:spPr>
        <p:txBody>
          <a:bodyPr wrap="square" rtlCol="0" anchor="ctr"/>
          <a:lstStyle/>
          <a:p>
            <a:pPr marL="0" indent="0">
              <a:buNone/>
            </a:pPr>
            <a:endParaRPr lang="en-US" dirty="0"/>
          </a:p>
        </p:txBody>
      </p:sp>
      <p:sp>
        <p:nvSpPr>
          <p:cNvPr id="29" name="Text 27"/>
          <p:cNvSpPr/>
          <p:nvPr/>
        </p:nvSpPr>
        <p:spPr>
          <a:xfrm>
            <a:off x="2209800" y="2318445"/>
            <a:ext cx="1360170" cy="239911"/>
          </a:xfrm>
          <a:prstGeom prst="rect">
            <a:avLst/>
          </a:prstGeom>
          <a:noFill/>
          <a:ln/>
        </p:spPr>
        <p:txBody>
          <a:bodyPr wrap="square" lIns="0" tIns="0" rIns="0" bIns="0" rtlCol="0" anchor="t"/>
          <a:lstStyle/>
          <a:p>
            <a:pPr marL="0" indent="0" algn="l">
              <a:lnSpc>
                <a:spcPts val="1890"/>
              </a:lnSpc>
              <a:spcAft>
                <a:spcPts val="300"/>
              </a:spcAft>
              <a:buNone/>
            </a:pPr>
            <a:r>
              <a:rPr lang="en-US" sz="1350" dirty="0">
                <a:solidFill>
                  <a:srgbClr val="C9A227"/>
                </a:solidFill>
                <a:latin typeface="Georgia" pitchFamily="34" charset="0"/>
                <a:ea typeface="Georgia" pitchFamily="34" charset="-122"/>
                <a:cs typeface="Georgia" pitchFamily="34" charset="-120"/>
              </a:rPr>
              <a:t>7</a:t>
            </a:r>
            <a:endParaRPr lang="en-US" sz="1350" dirty="0"/>
          </a:p>
        </p:txBody>
      </p:sp>
      <p:sp>
        <p:nvSpPr>
          <p:cNvPr id="30" name="Text 28"/>
          <p:cNvSpPr/>
          <p:nvPr/>
        </p:nvSpPr>
        <p:spPr>
          <a:xfrm>
            <a:off x="2209800" y="2596455"/>
            <a:ext cx="1360170" cy="133350"/>
          </a:xfrm>
          <a:prstGeom prst="rect">
            <a:avLst/>
          </a:prstGeom>
          <a:noFill/>
          <a:ln/>
        </p:spPr>
        <p:txBody>
          <a:bodyPr wrap="square" lIns="0" tIns="0" rIns="0" bIns="0" rtlCol="0" anchor="t"/>
          <a:lstStyle/>
          <a:p>
            <a:pPr marL="0" indent="0" algn="l">
              <a:lnSpc>
                <a:spcPts val="1050"/>
              </a:lnSpc>
              <a:buNone/>
            </a:pPr>
            <a:r>
              <a:rPr lang="en-US" sz="750" b="1" dirty="0">
                <a:solidFill>
                  <a:srgbClr val="FFFFFF"/>
                </a:solidFill>
                <a:latin typeface="Arial" pitchFamily="34" charset="0"/>
                <a:ea typeface="Arial" pitchFamily="34" charset="-122"/>
                <a:cs typeface="Arial" pitchFamily="34" charset="-120"/>
              </a:rPr>
              <a:t>PRD Creation</a:t>
            </a:r>
            <a:endParaRPr lang="en-US" sz="750" dirty="0"/>
          </a:p>
        </p:txBody>
      </p:sp>
      <p:sp>
        <p:nvSpPr>
          <p:cNvPr id="31" name="Text 29"/>
          <p:cNvSpPr/>
          <p:nvPr/>
        </p:nvSpPr>
        <p:spPr>
          <a:xfrm>
            <a:off x="2209800" y="2748855"/>
            <a:ext cx="1360170" cy="106561"/>
          </a:xfrm>
          <a:prstGeom prst="rect">
            <a:avLst/>
          </a:prstGeom>
          <a:noFill/>
          <a:ln/>
        </p:spPr>
        <p:txBody>
          <a:bodyPr wrap="square" lIns="0" tIns="0" rIns="0" bIns="0" rtlCol="0" anchor="t"/>
          <a:lstStyle/>
          <a:p>
            <a:pPr marL="0" indent="0" algn="l">
              <a:lnSpc>
                <a:spcPts val="840"/>
              </a:lnSpc>
              <a:spcBef>
                <a:spcPts val="150"/>
              </a:spcBef>
              <a:buNone/>
            </a:pPr>
            <a:r>
              <a:rPr lang="en-US" sz="600" dirty="0">
                <a:solidFill>
                  <a:srgbClr val="FFFFFF">
                    <a:alpha val="50000"/>
                  </a:srgbClr>
                </a:solidFill>
                <a:latin typeface="Arial" pitchFamily="34" charset="0"/>
                <a:ea typeface="Arial" pitchFamily="34" charset="-122"/>
                <a:cs typeface="Arial" pitchFamily="34" charset="-120"/>
              </a:rPr>
              <a:t>Specification</a:t>
            </a:r>
            <a:endParaRPr lang="en-US" sz="600" dirty="0"/>
          </a:p>
        </p:txBody>
      </p:sp>
      <p:sp>
        <p:nvSpPr>
          <p:cNvPr id="32" name="Text 30"/>
          <p:cNvSpPr/>
          <p:nvPr/>
        </p:nvSpPr>
        <p:spPr>
          <a:xfrm>
            <a:off x="3771900" y="2223195"/>
            <a:ext cx="1600200" cy="727472"/>
          </a:xfrm>
          <a:prstGeom prst="rect">
            <a:avLst/>
          </a:prstGeom>
          <a:solidFill>
            <a:srgbClr val="252B3D"/>
          </a:solidFill>
          <a:ln/>
        </p:spPr>
        <p:txBody>
          <a:bodyPr wrap="square" rtlCol="0" anchor="ctr"/>
          <a:lstStyle/>
          <a:p>
            <a:pPr marL="0" indent="0">
              <a:buNone/>
            </a:pPr>
            <a:endParaRPr lang="en-US" dirty="0"/>
          </a:p>
        </p:txBody>
      </p:sp>
      <p:sp>
        <p:nvSpPr>
          <p:cNvPr id="33" name="Text 31"/>
          <p:cNvSpPr/>
          <p:nvPr/>
        </p:nvSpPr>
        <p:spPr>
          <a:xfrm>
            <a:off x="3905250" y="2318445"/>
            <a:ext cx="1360170" cy="239911"/>
          </a:xfrm>
          <a:prstGeom prst="rect">
            <a:avLst/>
          </a:prstGeom>
          <a:noFill/>
          <a:ln/>
        </p:spPr>
        <p:txBody>
          <a:bodyPr wrap="square" lIns="0" tIns="0" rIns="0" bIns="0" rtlCol="0" anchor="t"/>
          <a:lstStyle/>
          <a:p>
            <a:pPr marL="0" indent="0" algn="l">
              <a:lnSpc>
                <a:spcPts val="1890"/>
              </a:lnSpc>
              <a:spcAft>
                <a:spcPts val="300"/>
              </a:spcAft>
              <a:buNone/>
            </a:pPr>
            <a:r>
              <a:rPr lang="en-US" sz="1350" dirty="0">
                <a:solidFill>
                  <a:srgbClr val="C9A227"/>
                </a:solidFill>
                <a:latin typeface="Georgia" pitchFamily="34" charset="0"/>
                <a:ea typeface="Georgia" pitchFamily="34" charset="-122"/>
                <a:cs typeface="Georgia" pitchFamily="34" charset="-120"/>
              </a:rPr>
              <a:t>8</a:t>
            </a:r>
            <a:endParaRPr lang="en-US" sz="1350" dirty="0"/>
          </a:p>
        </p:txBody>
      </p:sp>
      <p:sp>
        <p:nvSpPr>
          <p:cNvPr id="34" name="Text 32"/>
          <p:cNvSpPr/>
          <p:nvPr/>
        </p:nvSpPr>
        <p:spPr>
          <a:xfrm>
            <a:off x="3905250" y="2596455"/>
            <a:ext cx="1360170" cy="133350"/>
          </a:xfrm>
          <a:prstGeom prst="rect">
            <a:avLst/>
          </a:prstGeom>
          <a:noFill/>
          <a:ln/>
        </p:spPr>
        <p:txBody>
          <a:bodyPr wrap="square" lIns="0" tIns="0" rIns="0" bIns="0" rtlCol="0" anchor="t"/>
          <a:lstStyle/>
          <a:p>
            <a:pPr marL="0" indent="0" algn="l">
              <a:lnSpc>
                <a:spcPts val="1050"/>
              </a:lnSpc>
              <a:buNone/>
            </a:pPr>
            <a:r>
              <a:rPr lang="en-US" sz="750" b="1" dirty="0">
                <a:solidFill>
                  <a:srgbClr val="FFFFFF"/>
                </a:solidFill>
                <a:latin typeface="Arial" pitchFamily="34" charset="0"/>
                <a:ea typeface="Arial" pitchFamily="34" charset="-122"/>
                <a:cs typeface="Arial" pitchFamily="34" charset="-120"/>
              </a:rPr>
              <a:t>Agentic Mode</a:t>
            </a:r>
            <a:endParaRPr lang="en-US" sz="750" dirty="0"/>
          </a:p>
        </p:txBody>
      </p:sp>
      <p:sp>
        <p:nvSpPr>
          <p:cNvPr id="35" name="Text 33"/>
          <p:cNvSpPr/>
          <p:nvPr/>
        </p:nvSpPr>
        <p:spPr>
          <a:xfrm>
            <a:off x="3905250" y="2748855"/>
            <a:ext cx="1360170" cy="106561"/>
          </a:xfrm>
          <a:prstGeom prst="rect">
            <a:avLst/>
          </a:prstGeom>
          <a:noFill/>
          <a:ln/>
        </p:spPr>
        <p:txBody>
          <a:bodyPr wrap="square" lIns="0" tIns="0" rIns="0" bIns="0" rtlCol="0" anchor="t"/>
          <a:lstStyle/>
          <a:p>
            <a:pPr marL="0" indent="0" algn="l">
              <a:lnSpc>
                <a:spcPts val="840"/>
              </a:lnSpc>
              <a:spcBef>
                <a:spcPts val="150"/>
              </a:spcBef>
              <a:buNone/>
            </a:pPr>
            <a:r>
              <a:rPr lang="en-US" sz="600" dirty="0">
                <a:solidFill>
                  <a:srgbClr val="FFFFFF">
                    <a:alpha val="50000"/>
                  </a:srgbClr>
                </a:solidFill>
                <a:latin typeface="Arial" pitchFamily="34" charset="0"/>
                <a:ea typeface="Arial" pitchFamily="34" charset="-122"/>
                <a:cs typeface="Arial" pitchFamily="34" charset="-120"/>
              </a:rPr>
              <a:t>Execution</a:t>
            </a:r>
            <a:endParaRPr lang="en-US" sz="600" dirty="0"/>
          </a:p>
        </p:txBody>
      </p:sp>
      <p:sp>
        <p:nvSpPr>
          <p:cNvPr id="36" name="Text 34"/>
          <p:cNvSpPr/>
          <p:nvPr/>
        </p:nvSpPr>
        <p:spPr>
          <a:xfrm>
            <a:off x="5467350" y="2223195"/>
            <a:ext cx="1600200" cy="727472"/>
          </a:xfrm>
          <a:prstGeom prst="rect">
            <a:avLst/>
          </a:prstGeom>
          <a:solidFill>
            <a:srgbClr val="252B3D"/>
          </a:solidFill>
          <a:ln/>
        </p:spPr>
        <p:txBody>
          <a:bodyPr wrap="square" rtlCol="0" anchor="ctr"/>
          <a:lstStyle/>
          <a:p>
            <a:pPr marL="0" indent="0">
              <a:buNone/>
            </a:pPr>
            <a:endParaRPr lang="en-US" dirty="0"/>
          </a:p>
        </p:txBody>
      </p:sp>
      <p:sp>
        <p:nvSpPr>
          <p:cNvPr id="37" name="Text 35"/>
          <p:cNvSpPr/>
          <p:nvPr/>
        </p:nvSpPr>
        <p:spPr>
          <a:xfrm>
            <a:off x="5600700" y="2318445"/>
            <a:ext cx="1360170" cy="239911"/>
          </a:xfrm>
          <a:prstGeom prst="rect">
            <a:avLst/>
          </a:prstGeom>
          <a:noFill/>
          <a:ln/>
        </p:spPr>
        <p:txBody>
          <a:bodyPr wrap="square" lIns="0" tIns="0" rIns="0" bIns="0" rtlCol="0" anchor="t"/>
          <a:lstStyle/>
          <a:p>
            <a:pPr marL="0" indent="0" algn="l">
              <a:lnSpc>
                <a:spcPts val="1890"/>
              </a:lnSpc>
              <a:spcAft>
                <a:spcPts val="300"/>
              </a:spcAft>
              <a:buNone/>
            </a:pPr>
            <a:r>
              <a:rPr lang="en-US" sz="1350" dirty="0">
                <a:solidFill>
                  <a:srgbClr val="C9A227"/>
                </a:solidFill>
                <a:latin typeface="Georgia" pitchFamily="34" charset="0"/>
                <a:ea typeface="Georgia" pitchFamily="34" charset="-122"/>
                <a:cs typeface="Georgia" pitchFamily="34" charset="-120"/>
              </a:rPr>
              <a:t>9</a:t>
            </a:r>
            <a:endParaRPr lang="en-US" sz="1350" dirty="0"/>
          </a:p>
        </p:txBody>
      </p:sp>
      <p:sp>
        <p:nvSpPr>
          <p:cNvPr id="38" name="Text 36"/>
          <p:cNvSpPr/>
          <p:nvPr/>
        </p:nvSpPr>
        <p:spPr>
          <a:xfrm>
            <a:off x="5600700" y="2596455"/>
            <a:ext cx="1360170" cy="133350"/>
          </a:xfrm>
          <a:prstGeom prst="rect">
            <a:avLst/>
          </a:prstGeom>
          <a:noFill/>
          <a:ln/>
        </p:spPr>
        <p:txBody>
          <a:bodyPr wrap="square" lIns="0" tIns="0" rIns="0" bIns="0" rtlCol="0" anchor="t"/>
          <a:lstStyle/>
          <a:p>
            <a:pPr marL="0" indent="0" algn="l">
              <a:lnSpc>
                <a:spcPts val="1050"/>
              </a:lnSpc>
              <a:buNone/>
            </a:pPr>
            <a:r>
              <a:rPr lang="en-US" sz="750" b="1" dirty="0">
                <a:solidFill>
                  <a:srgbClr val="FFFFFF"/>
                </a:solidFill>
                <a:latin typeface="Arial" pitchFamily="34" charset="0"/>
                <a:ea typeface="Arial" pitchFamily="34" charset="-122"/>
                <a:cs typeface="Arial" pitchFamily="34" charset="-120"/>
              </a:rPr>
              <a:t>Review Cycle</a:t>
            </a:r>
            <a:endParaRPr lang="en-US" sz="750" dirty="0"/>
          </a:p>
        </p:txBody>
      </p:sp>
      <p:sp>
        <p:nvSpPr>
          <p:cNvPr id="39" name="Text 37"/>
          <p:cNvSpPr/>
          <p:nvPr/>
        </p:nvSpPr>
        <p:spPr>
          <a:xfrm>
            <a:off x="5600700" y="2748855"/>
            <a:ext cx="1360170" cy="106561"/>
          </a:xfrm>
          <a:prstGeom prst="rect">
            <a:avLst/>
          </a:prstGeom>
          <a:noFill/>
          <a:ln/>
        </p:spPr>
        <p:txBody>
          <a:bodyPr wrap="square" lIns="0" tIns="0" rIns="0" bIns="0" rtlCol="0" anchor="t"/>
          <a:lstStyle/>
          <a:p>
            <a:pPr marL="0" indent="0" algn="l">
              <a:lnSpc>
                <a:spcPts val="840"/>
              </a:lnSpc>
              <a:spcBef>
                <a:spcPts val="150"/>
              </a:spcBef>
              <a:buNone/>
            </a:pPr>
            <a:r>
              <a:rPr lang="en-US" sz="600" dirty="0">
                <a:solidFill>
                  <a:srgbClr val="FFFFFF">
                    <a:alpha val="50000"/>
                  </a:srgbClr>
                </a:solidFill>
                <a:latin typeface="Arial" pitchFamily="34" charset="0"/>
                <a:ea typeface="Arial" pitchFamily="34" charset="-122"/>
                <a:cs typeface="Arial" pitchFamily="34" charset="-120"/>
              </a:rPr>
              <a:t>Refinement</a:t>
            </a:r>
            <a:endParaRPr lang="en-US" sz="600" dirty="0"/>
          </a:p>
        </p:txBody>
      </p:sp>
      <p:sp>
        <p:nvSpPr>
          <p:cNvPr id="40" name="Text 38"/>
          <p:cNvSpPr/>
          <p:nvPr/>
        </p:nvSpPr>
        <p:spPr>
          <a:xfrm>
            <a:off x="7162800" y="2223195"/>
            <a:ext cx="1600200" cy="727472"/>
          </a:xfrm>
          <a:prstGeom prst="rect">
            <a:avLst/>
          </a:prstGeom>
          <a:solidFill>
            <a:srgbClr val="C9A227"/>
          </a:solidFill>
          <a:ln/>
        </p:spPr>
        <p:txBody>
          <a:bodyPr wrap="square" rtlCol="0" anchor="ctr"/>
          <a:lstStyle/>
          <a:p>
            <a:pPr marL="0" indent="0">
              <a:buNone/>
            </a:pPr>
            <a:endParaRPr lang="en-US" dirty="0"/>
          </a:p>
        </p:txBody>
      </p:sp>
      <p:sp>
        <p:nvSpPr>
          <p:cNvPr id="41" name="Text 39"/>
          <p:cNvSpPr/>
          <p:nvPr/>
        </p:nvSpPr>
        <p:spPr>
          <a:xfrm>
            <a:off x="7296150" y="2318445"/>
            <a:ext cx="1360170" cy="239911"/>
          </a:xfrm>
          <a:prstGeom prst="rect">
            <a:avLst/>
          </a:prstGeom>
          <a:noFill/>
          <a:ln/>
        </p:spPr>
        <p:txBody>
          <a:bodyPr wrap="square" lIns="0" tIns="0" rIns="0" bIns="0" rtlCol="0" anchor="t"/>
          <a:lstStyle/>
          <a:p>
            <a:pPr marL="0" indent="0" algn="l">
              <a:lnSpc>
                <a:spcPts val="1890"/>
              </a:lnSpc>
              <a:spcAft>
                <a:spcPts val="300"/>
              </a:spcAft>
              <a:buNone/>
            </a:pPr>
            <a:r>
              <a:rPr lang="en-US" sz="1350" dirty="0">
                <a:solidFill>
                  <a:srgbClr val="1A1F2E"/>
                </a:solidFill>
                <a:latin typeface="Georgia" pitchFamily="34" charset="0"/>
                <a:ea typeface="Georgia" pitchFamily="34" charset="-122"/>
                <a:cs typeface="Georgia" pitchFamily="34" charset="-120"/>
              </a:rPr>
              <a:t>10</a:t>
            </a:r>
            <a:endParaRPr lang="en-US" sz="1350" dirty="0"/>
          </a:p>
        </p:txBody>
      </p:sp>
      <p:sp>
        <p:nvSpPr>
          <p:cNvPr id="42" name="Text 40"/>
          <p:cNvSpPr/>
          <p:nvPr/>
        </p:nvSpPr>
        <p:spPr>
          <a:xfrm>
            <a:off x="7296150" y="2596455"/>
            <a:ext cx="1360170" cy="133350"/>
          </a:xfrm>
          <a:prstGeom prst="rect">
            <a:avLst/>
          </a:prstGeom>
          <a:noFill/>
          <a:ln/>
        </p:spPr>
        <p:txBody>
          <a:bodyPr wrap="square" lIns="0" tIns="0" rIns="0" bIns="0" rtlCol="0" anchor="t"/>
          <a:lstStyle/>
          <a:p>
            <a:pPr marL="0" indent="0" algn="l">
              <a:lnSpc>
                <a:spcPts val="1050"/>
              </a:lnSpc>
              <a:buNone/>
            </a:pPr>
            <a:r>
              <a:rPr lang="en-US" sz="750" b="1" dirty="0">
                <a:solidFill>
                  <a:srgbClr val="1A1F2E"/>
                </a:solidFill>
                <a:latin typeface="Arial" pitchFamily="34" charset="0"/>
                <a:ea typeface="Arial" pitchFamily="34" charset="-122"/>
                <a:cs typeface="Arial" pitchFamily="34" charset="-120"/>
              </a:rPr>
              <a:t>Deployment</a:t>
            </a:r>
            <a:endParaRPr lang="en-US" sz="750" dirty="0"/>
          </a:p>
        </p:txBody>
      </p:sp>
      <p:sp>
        <p:nvSpPr>
          <p:cNvPr id="43" name="Text 41"/>
          <p:cNvSpPr/>
          <p:nvPr/>
        </p:nvSpPr>
        <p:spPr>
          <a:xfrm>
            <a:off x="7296150" y="2748855"/>
            <a:ext cx="1360170" cy="106561"/>
          </a:xfrm>
          <a:prstGeom prst="rect">
            <a:avLst/>
          </a:prstGeom>
          <a:noFill/>
          <a:ln/>
        </p:spPr>
        <p:txBody>
          <a:bodyPr wrap="square" lIns="0" tIns="0" rIns="0" bIns="0" rtlCol="0" anchor="t"/>
          <a:lstStyle/>
          <a:p>
            <a:pPr marL="0" indent="0" algn="l">
              <a:lnSpc>
                <a:spcPts val="840"/>
              </a:lnSpc>
              <a:spcBef>
                <a:spcPts val="150"/>
              </a:spcBef>
              <a:buNone/>
            </a:pPr>
            <a:r>
              <a:rPr lang="en-US" sz="600" dirty="0">
                <a:solidFill>
                  <a:srgbClr val="1A1F2E">
                    <a:alpha val="60000"/>
                  </a:srgbClr>
                </a:solidFill>
                <a:latin typeface="Arial" pitchFamily="34" charset="0"/>
                <a:ea typeface="Arial" pitchFamily="34" charset="-122"/>
                <a:cs typeface="Arial" pitchFamily="34" charset="-120"/>
              </a:rPr>
              <a:t>Ship It</a:t>
            </a:r>
            <a:endParaRPr lang="en-US" sz="600" dirty="0"/>
          </a:p>
        </p:txBody>
      </p:sp>
      <p:sp>
        <p:nvSpPr>
          <p:cNvPr id="44" name="Text 42"/>
          <p:cNvSpPr/>
          <p:nvPr/>
        </p:nvSpPr>
        <p:spPr>
          <a:xfrm>
            <a:off x="381000" y="3255466"/>
            <a:ext cx="2717750" cy="639961"/>
          </a:xfrm>
          <a:prstGeom prst="rect">
            <a:avLst/>
          </a:prstGeom>
          <a:solidFill>
            <a:srgbClr val="DBEAFE"/>
          </a:solidFill>
          <a:ln/>
        </p:spPr>
        <p:txBody>
          <a:bodyPr wrap="square" rtlCol="0" anchor="ctr"/>
          <a:lstStyle/>
          <a:p>
            <a:pPr marL="0" indent="0">
              <a:buNone/>
            </a:pPr>
            <a:endParaRPr lang="en-US" dirty="0"/>
          </a:p>
        </p:txBody>
      </p:sp>
      <p:sp>
        <p:nvSpPr>
          <p:cNvPr id="45" name="Shape 43"/>
          <p:cNvSpPr/>
          <p:nvPr/>
        </p:nvSpPr>
        <p:spPr>
          <a:xfrm>
            <a:off x="395288" y="3255466"/>
            <a:ext cx="0" cy="639961"/>
          </a:xfrm>
          <a:prstGeom prst="line">
            <a:avLst/>
          </a:prstGeom>
          <a:noFill/>
          <a:ln w="28575">
            <a:solidFill>
              <a:srgbClr val="3B82F6"/>
            </a:solidFill>
            <a:prstDash val="solid"/>
          </a:ln>
        </p:spPr>
        <p:txBody>
          <a:bodyPr/>
          <a:lstStyle/>
          <a:p>
            <a:endParaRPr lang="en-US"/>
          </a:p>
        </p:txBody>
      </p:sp>
      <p:sp>
        <p:nvSpPr>
          <p:cNvPr id="46" name="Text 44"/>
          <p:cNvSpPr/>
          <p:nvPr/>
        </p:nvSpPr>
        <p:spPr>
          <a:xfrm>
            <a:off x="523875" y="3369766"/>
            <a:ext cx="2509787"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1E40AF"/>
                </a:solidFill>
                <a:latin typeface="Arial" pitchFamily="34" charset="0"/>
                <a:ea typeface="Arial" pitchFamily="34" charset="-122"/>
                <a:cs typeface="Arial" pitchFamily="34" charset="-120"/>
              </a:rPr>
              <a:t>PHASES 1-5</a:t>
            </a:r>
            <a:endParaRPr lang="en-US" sz="750" dirty="0"/>
          </a:p>
        </p:txBody>
      </p:sp>
      <p:sp>
        <p:nvSpPr>
          <p:cNvPr id="47" name="Text 45"/>
          <p:cNvSpPr/>
          <p:nvPr/>
        </p:nvSpPr>
        <p:spPr>
          <a:xfrm>
            <a:off x="523875" y="3541216"/>
            <a:ext cx="2509787" cy="239911"/>
          </a:xfrm>
          <a:prstGeom prst="rect">
            <a:avLst/>
          </a:prstGeom>
          <a:noFill/>
          <a:ln/>
        </p:spPr>
        <p:txBody>
          <a:bodyPr wrap="square" lIns="0" tIns="0" rIns="0" bIns="0" rtlCol="0" anchor="t"/>
          <a:lstStyle/>
          <a:p>
            <a:pPr marL="0" indent="0" algn="l">
              <a:lnSpc>
                <a:spcPts val="945"/>
              </a:lnSpc>
              <a:buNone/>
            </a:pPr>
            <a:r>
              <a:rPr lang="en-US" sz="675" dirty="0">
                <a:solidFill>
                  <a:srgbClr val="1E40AF"/>
                </a:solidFill>
                <a:latin typeface="Arial" pitchFamily="34" charset="0"/>
                <a:ea typeface="Arial" pitchFamily="34" charset="-122"/>
                <a:cs typeface="Arial" pitchFamily="34" charset="-120"/>
              </a:rPr>
              <a:t>Discovery and experimentation. High human involvement, lots of voice interaction with the agent.</a:t>
            </a:r>
            <a:endParaRPr lang="en-US" sz="675" dirty="0"/>
          </a:p>
        </p:txBody>
      </p:sp>
      <p:sp>
        <p:nvSpPr>
          <p:cNvPr id="48" name="Text 46"/>
          <p:cNvSpPr/>
          <p:nvPr/>
        </p:nvSpPr>
        <p:spPr>
          <a:xfrm>
            <a:off x="3213050" y="3255466"/>
            <a:ext cx="2717750" cy="639961"/>
          </a:xfrm>
          <a:prstGeom prst="rect">
            <a:avLst/>
          </a:prstGeom>
          <a:solidFill>
            <a:srgbClr val="FEF3C7"/>
          </a:solidFill>
          <a:ln/>
        </p:spPr>
        <p:txBody>
          <a:bodyPr wrap="square" rtlCol="0" anchor="ctr"/>
          <a:lstStyle/>
          <a:p>
            <a:pPr marL="0" indent="0">
              <a:buNone/>
            </a:pPr>
            <a:endParaRPr lang="en-US" dirty="0"/>
          </a:p>
        </p:txBody>
      </p:sp>
      <p:sp>
        <p:nvSpPr>
          <p:cNvPr id="49" name="Shape 47"/>
          <p:cNvSpPr/>
          <p:nvPr/>
        </p:nvSpPr>
        <p:spPr>
          <a:xfrm>
            <a:off x="3227338" y="3255466"/>
            <a:ext cx="0" cy="639961"/>
          </a:xfrm>
          <a:prstGeom prst="line">
            <a:avLst/>
          </a:prstGeom>
          <a:noFill/>
          <a:ln w="28575">
            <a:solidFill>
              <a:srgbClr val="F59E0B"/>
            </a:solidFill>
            <a:prstDash val="solid"/>
          </a:ln>
        </p:spPr>
        <p:txBody>
          <a:bodyPr/>
          <a:lstStyle/>
          <a:p>
            <a:endParaRPr lang="en-US"/>
          </a:p>
        </p:txBody>
      </p:sp>
      <p:sp>
        <p:nvSpPr>
          <p:cNvPr id="50" name="Text 48"/>
          <p:cNvSpPr/>
          <p:nvPr/>
        </p:nvSpPr>
        <p:spPr>
          <a:xfrm>
            <a:off x="3355925" y="3369766"/>
            <a:ext cx="2509787"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92400E"/>
                </a:solidFill>
                <a:latin typeface="Arial" pitchFamily="34" charset="0"/>
                <a:ea typeface="Arial" pitchFamily="34" charset="-122"/>
                <a:cs typeface="Arial" pitchFamily="34" charset="-120"/>
              </a:rPr>
              <a:t>PHASES 6-7</a:t>
            </a:r>
            <a:endParaRPr lang="en-US" sz="750" dirty="0"/>
          </a:p>
        </p:txBody>
      </p:sp>
      <p:sp>
        <p:nvSpPr>
          <p:cNvPr id="51" name="Text 49"/>
          <p:cNvSpPr/>
          <p:nvPr/>
        </p:nvSpPr>
        <p:spPr>
          <a:xfrm>
            <a:off x="3355925" y="3541216"/>
            <a:ext cx="2509787" cy="239911"/>
          </a:xfrm>
          <a:prstGeom prst="rect">
            <a:avLst/>
          </a:prstGeom>
          <a:noFill/>
          <a:ln/>
        </p:spPr>
        <p:txBody>
          <a:bodyPr wrap="square" lIns="0" tIns="0" rIns="0" bIns="0" rtlCol="0" anchor="t"/>
          <a:lstStyle/>
          <a:p>
            <a:pPr marL="0" indent="0" algn="l">
              <a:lnSpc>
                <a:spcPts val="945"/>
              </a:lnSpc>
              <a:buNone/>
            </a:pPr>
            <a:r>
              <a:rPr lang="en-US" sz="675" dirty="0">
                <a:solidFill>
                  <a:srgbClr val="92400E"/>
                </a:solidFill>
                <a:latin typeface="Arial" pitchFamily="34" charset="0"/>
                <a:ea typeface="Arial" pitchFamily="34" charset="-122"/>
                <a:cs typeface="Arial" pitchFamily="34" charset="-120"/>
              </a:rPr>
              <a:t>Formalization. Lock in standards so the agent can work autonomously later.</a:t>
            </a:r>
            <a:endParaRPr lang="en-US" sz="675" dirty="0"/>
          </a:p>
        </p:txBody>
      </p:sp>
      <p:sp>
        <p:nvSpPr>
          <p:cNvPr id="52" name="Text 50"/>
          <p:cNvSpPr/>
          <p:nvPr/>
        </p:nvSpPr>
        <p:spPr>
          <a:xfrm>
            <a:off x="6045101" y="3315444"/>
            <a:ext cx="2717750" cy="520005"/>
          </a:xfrm>
          <a:prstGeom prst="rect">
            <a:avLst/>
          </a:prstGeom>
          <a:solidFill>
            <a:srgbClr val="DCFCE7"/>
          </a:solidFill>
          <a:ln/>
        </p:spPr>
        <p:txBody>
          <a:bodyPr wrap="square" rtlCol="0" anchor="ctr"/>
          <a:lstStyle/>
          <a:p>
            <a:pPr marL="0" indent="0">
              <a:buNone/>
            </a:pPr>
            <a:endParaRPr lang="en-US" dirty="0"/>
          </a:p>
        </p:txBody>
      </p:sp>
      <p:sp>
        <p:nvSpPr>
          <p:cNvPr id="53" name="Shape 51"/>
          <p:cNvSpPr/>
          <p:nvPr/>
        </p:nvSpPr>
        <p:spPr>
          <a:xfrm>
            <a:off x="6059388" y="3315444"/>
            <a:ext cx="0" cy="520005"/>
          </a:xfrm>
          <a:prstGeom prst="line">
            <a:avLst/>
          </a:prstGeom>
          <a:noFill/>
          <a:ln w="28575">
            <a:solidFill>
              <a:srgbClr val="059669"/>
            </a:solidFill>
            <a:prstDash val="solid"/>
          </a:ln>
        </p:spPr>
        <p:txBody>
          <a:bodyPr/>
          <a:lstStyle/>
          <a:p>
            <a:endParaRPr lang="en-US"/>
          </a:p>
        </p:txBody>
      </p:sp>
      <p:sp>
        <p:nvSpPr>
          <p:cNvPr id="54" name="Text 52"/>
          <p:cNvSpPr/>
          <p:nvPr/>
        </p:nvSpPr>
        <p:spPr>
          <a:xfrm>
            <a:off x="6187976" y="3429744"/>
            <a:ext cx="2509787"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166534"/>
                </a:solidFill>
                <a:latin typeface="Arial" pitchFamily="34" charset="0"/>
                <a:ea typeface="Arial" pitchFamily="34" charset="-122"/>
                <a:cs typeface="Arial" pitchFamily="34" charset="-120"/>
              </a:rPr>
              <a:t>PHASES 8-10</a:t>
            </a:r>
            <a:endParaRPr lang="en-US" sz="750" dirty="0"/>
          </a:p>
        </p:txBody>
      </p:sp>
      <p:sp>
        <p:nvSpPr>
          <p:cNvPr id="55" name="Text 53"/>
          <p:cNvSpPr/>
          <p:nvPr/>
        </p:nvSpPr>
        <p:spPr>
          <a:xfrm>
            <a:off x="6187976" y="3601194"/>
            <a:ext cx="2509787" cy="119955"/>
          </a:xfrm>
          <a:prstGeom prst="rect">
            <a:avLst/>
          </a:prstGeom>
          <a:noFill/>
          <a:ln/>
        </p:spPr>
        <p:txBody>
          <a:bodyPr wrap="square" lIns="0" tIns="0" rIns="0" bIns="0" rtlCol="0" anchor="t"/>
          <a:lstStyle/>
          <a:p>
            <a:pPr marL="0" indent="0" algn="l">
              <a:lnSpc>
                <a:spcPts val="945"/>
              </a:lnSpc>
              <a:buNone/>
            </a:pPr>
            <a:r>
              <a:rPr lang="en-US" sz="675" dirty="0">
                <a:solidFill>
                  <a:srgbClr val="166534"/>
                </a:solidFill>
                <a:latin typeface="Arial" pitchFamily="34" charset="0"/>
                <a:ea typeface="Arial" pitchFamily="34" charset="-122"/>
                <a:cs typeface="Arial" pitchFamily="34" charset="-120"/>
              </a:rPr>
              <a:t>Execution mode. Agent does heavy lifting. You review and ship.</a:t>
            </a:r>
            <a:endParaRPr lang="en-US" sz="675" dirty="0"/>
          </a:p>
        </p:txBody>
      </p:sp>
      <p:sp>
        <p:nvSpPr>
          <p:cNvPr id="56" name="Text 54"/>
          <p:cNvSpPr/>
          <p:nvPr/>
        </p:nvSpPr>
        <p:spPr>
          <a:xfrm>
            <a:off x="381000" y="4162127"/>
            <a:ext cx="8382000" cy="342900"/>
          </a:xfrm>
          <a:prstGeom prst="rect">
            <a:avLst/>
          </a:prstGeom>
          <a:solidFill>
            <a:srgbClr val="FFFFFF"/>
          </a:solidFill>
          <a:ln w="9525">
            <a:solidFill>
              <a:srgbClr val="C9A227"/>
            </a:solidFill>
          </a:ln>
        </p:spPr>
        <p:txBody>
          <a:bodyPr wrap="square" rtlCol="0" anchor="ctr"/>
          <a:lstStyle/>
          <a:p>
            <a:pPr marL="0" indent="0">
              <a:buNone/>
            </a:pPr>
            <a:endParaRPr lang="en-US" dirty="0"/>
          </a:p>
        </p:txBody>
      </p:sp>
      <p:sp>
        <p:nvSpPr>
          <p:cNvPr id="57" name="Text 55"/>
          <p:cNvSpPr/>
          <p:nvPr/>
        </p:nvSpPr>
        <p:spPr>
          <a:xfrm>
            <a:off x="542925" y="4266902"/>
            <a:ext cx="8219313" cy="133350"/>
          </a:xfrm>
          <a:prstGeom prst="rect">
            <a:avLst/>
          </a:prstGeom>
          <a:noFill/>
          <a:ln/>
        </p:spPr>
        <p:txBody>
          <a:bodyPr wrap="square" lIns="0" tIns="0" rIns="0" bIns="0" rtlCol="0" anchor="t"/>
          <a:lstStyle/>
          <a:p>
            <a:pPr marL="0" indent="0" algn="l">
              <a:lnSpc>
                <a:spcPts val="1050"/>
              </a:lnSpc>
              <a:buNone/>
            </a:pPr>
            <a:r>
              <a:rPr lang="en-US" sz="750" b="1" dirty="0">
                <a:solidFill>
                  <a:srgbClr val="1A1F2E"/>
                </a:solidFill>
                <a:latin typeface="Arial" pitchFamily="34" charset="0"/>
                <a:ea typeface="Arial" pitchFamily="34" charset="-122"/>
                <a:cs typeface="Arial" pitchFamily="34" charset="-120"/>
              </a:rPr>
              <a:t>Key Insight:</a:t>
            </a:r>
            <a:r>
              <a:rPr lang="en-US" sz="750" dirty="0">
                <a:solidFill>
                  <a:srgbClr val="1A1F2E"/>
                </a:solidFill>
                <a:latin typeface="Arial" pitchFamily="34" charset="0"/>
                <a:ea typeface="Arial" pitchFamily="34" charset="-122"/>
                <a:cs typeface="Arial" pitchFamily="34" charset="-120"/>
              </a:rPr>
              <a:t> The first 7 phases are investment. They enable phases 8-10 where the agent becomes highly autonomous.</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41962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304800" y="282178"/>
            <a:ext cx="981373" cy="234255"/>
          </a:xfrm>
          <a:prstGeom prst="rect">
            <a:avLst/>
          </a:prstGeom>
          <a:solidFill>
            <a:srgbClr val="059669"/>
          </a:solidFill>
          <a:ln/>
        </p:spPr>
        <p:txBody>
          <a:bodyPr wrap="square" rtlCol="0" anchor="ctr"/>
          <a:lstStyle/>
          <a:p>
            <a:pPr marL="0" indent="0">
              <a:buNone/>
            </a:pPr>
            <a:endParaRPr lang="en-US" dirty="0"/>
          </a:p>
        </p:txBody>
      </p:sp>
      <p:sp>
        <p:nvSpPr>
          <p:cNvPr id="4" name="Text 2"/>
          <p:cNvSpPr/>
          <p:nvPr/>
        </p:nvSpPr>
        <p:spPr>
          <a:xfrm>
            <a:off x="419100" y="339328"/>
            <a:ext cx="767828" cy="119955"/>
          </a:xfrm>
          <a:prstGeom prst="rect">
            <a:avLst/>
          </a:prstGeom>
          <a:noFill/>
          <a:ln/>
        </p:spPr>
        <p:txBody>
          <a:bodyPr wrap="square" lIns="0" tIns="0" rIns="0" bIns="0" rtlCol="0" anchor="t"/>
          <a:lstStyle/>
          <a:p>
            <a:pPr marL="0" indent="0" algn="l">
              <a:lnSpc>
                <a:spcPts val="945"/>
              </a:lnSpc>
              <a:buNone/>
            </a:pPr>
            <a:r>
              <a:rPr lang="en-US" sz="675" b="1" dirty="0">
                <a:solidFill>
                  <a:srgbClr val="FFFFFF"/>
                </a:solidFill>
                <a:latin typeface="Arial" pitchFamily="34" charset="0"/>
                <a:ea typeface="Arial" pitchFamily="34" charset="-122"/>
                <a:cs typeface="Arial" pitchFamily="34" charset="-120"/>
              </a:rPr>
              <a:t>PHASE 1 OF 10</a:t>
            </a:r>
            <a:endParaRPr lang="en-US" sz="675" dirty="0"/>
          </a:p>
        </p:txBody>
      </p:sp>
      <p:sp>
        <p:nvSpPr>
          <p:cNvPr id="5" name="Text 3"/>
          <p:cNvSpPr/>
          <p:nvPr/>
        </p:nvSpPr>
        <p:spPr>
          <a:xfrm>
            <a:off x="304800" y="783134"/>
            <a:ext cx="1593342" cy="639961"/>
          </a:xfrm>
          <a:prstGeom prst="rect">
            <a:avLst/>
          </a:prstGeom>
          <a:noFill/>
          <a:ln/>
        </p:spPr>
        <p:txBody>
          <a:bodyPr wrap="square" lIns="0" tIns="0" rIns="0" bIns="0" rtlCol="0" anchor="t"/>
          <a:lstStyle/>
          <a:p>
            <a:pPr marL="0" indent="0" algn="l">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Create a</a:t>
            </a:r>
            <a:endParaRPr lang="en-US" sz="2100" dirty="0"/>
          </a:p>
          <a:p>
            <a:pPr marL="0" indent="0" algn="l">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GitHub Repo</a:t>
            </a:r>
            <a:endParaRPr lang="en-US" sz="2100" dirty="0"/>
          </a:p>
        </p:txBody>
      </p:sp>
      <p:sp>
        <p:nvSpPr>
          <p:cNvPr id="6" name="Text 4"/>
          <p:cNvSpPr/>
          <p:nvPr/>
        </p:nvSpPr>
        <p:spPr>
          <a:xfrm>
            <a:off x="304800" y="1994595"/>
            <a:ext cx="2810024" cy="784771"/>
          </a:xfrm>
          <a:prstGeom prst="rect">
            <a:avLst/>
          </a:prstGeom>
          <a:solidFill>
            <a:srgbClr val="C9A227">
              <a:alpha val="15000"/>
            </a:srgbClr>
          </a:solidFill>
          <a:ln/>
        </p:spPr>
        <p:txBody>
          <a:bodyPr wrap="square" rtlCol="0" anchor="ctr"/>
          <a:lstStyle/>
          <a:p>
            <a:pPr marL="0" indent="0">
              <a:buNone/>
            </a:pPr>
            <a:endParaRPr lang="en-US" dirty="0"/>
          </a:p>
        </p:txBody>
      </p:sp>
      <p:sp>
        <p:nvSpPr>
          <p:cNvPr id="7" name="Shape 5"/>
          <p:cNvSpPr/>
          <p:nvPr/>
        </p:nvSpPr>
        <p:spPr>
          <a:xfrm>
            <a:off x="319088" y="1994595"/>
            <a:ext cx="0" cy="784771"/>
          </a:xfrm>
          <a:prstGeom prst="line">
            <a:avLst/>
          </a:prstGeom>
          <a:noFill/>
          <a:ln w="28575">
            <a:solidFill>
              <a:srgbClr val="C9A227"/>
            </a:solidFill>
            <a:prstDash val="solid"/>
          </a:ln>
        </p:spPr>
        <p:txBody>
          <a:bodyPr/>
          <a:lstStyle/>
          <a:p>
            <a:endParaRPr lang="en-US"/>
          </a:p>
        </p:txBody>
      </p:sp>
      <p:sp>
        <p:nvSpPr>
          <p:cNvPr id="8" name="Text 6"/>
          <p:cNvSpPr/>
          <p:nvPr/>
        </p:nvSpPr>
        <p:spPr>
          <a:xfrm>
            <a:off x="466725" y="2127945"/>
            <a:ext cx="2565044"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C9A227"/>
                </a:solidFill>
                <a:latin typeface="Arial" pitchFamily="34" charset="0"/>
                <a:ea typeface="Arial" pitchFamily="34" charset="-122"/>
                <a:cs typeface="Arial" pitchFamily="34" charset="-120"/>
              </a:rPr>
              <a:t>THE PRINCIPLE</a:t>
            </a:r>
            <a:endParaRPr lang="en-US" sz="825" dirty="0"/>
          </a:p>
        </p:txBody>
      </p:sp>
      <p:sp>
        <p:nvSpPr>
          <p:cNvPr id="9" name="Text 7"/>
          <p:cNvSpPr/>
          <p:nvPr/>
        </p:nvSpPr>
        <p:spPr>
          <a:xfrm>
            <a:off x="466725" y="2331690"/>
            <a:ext cx="2565044" cy="314325"/>
          </a:xfrm>
          <a:prstGeom prst="rect">
            <a:avLst/>
          </a:prstGeom>
          <a:noFill/>
          <a:ln/>
        </p:spPr>
        <p:txBody>
          <a:bodyPr wrap="square" lIns="0" tIns="0" rIns="0" bIns="0" rtlCol="0" anchor="t"/>
          <a:lstStyle/>
          <a:p>
            <a:pPr marL="0" indent="0" algn="l">
              <a:lnSpc>
                <a:spcPts val="1238"/>
              </a:lnSpc>
              <a:buNone/>
            </a:pPr>
            <a:r>
              <a:rPr lang="en-US" sz="825" dirty="0">
                <a:solidFill>
                  <a:srgbClr val="FFFFFF">
                    <a:alpha val="80000"/>
                  </a:srgbClr>
                </a:solidFill>
                <a:latin typeface="Arial" pitchFamily="34" charset="0"/>
                <a:ea typeface="Arial" pitchFamily="34" charset="-122"/>
                <a:cs typeface="Arial" pitchFamily="34" charset="-120"/>
              </a:rPr>
              <a:t>Everything lives in Git. Always. This is non-negotiable for voice-first development.</a:t>
            </a:r>
            <a:endParaRPr lang="en-US" sz="825" dirty="0"/>
          </a:p>
        </p:txBody>
      </p:sp>
      <p:sp>
        <p:nvSpPr>
          <p:cNvPr id="10" name="Text 8"/>
          <p:cNvSpPr/>
          <p:nvPr/>
        </p:nvSpPr>
        <p:spPr>
          <a:xfrm>
            <a:off x="304800" y="3084165"/>
            <a:ext cx="2810024" cy="1041946"/>
          </a:xfrm>
          <a:prstGeom prst="rect">
            <a:avLst/>
          </a:prstGeom>
          <a:solidFill>
            <a:srgbClr val="FFFFFF">
              <a:alpha val="5000"/>
            </a:srgbClr>
          </a:solidFill>
          <a:ln/>
        </p:spPr>
        <p:txBody>
          <a:bodyPr wrap="square" rtlCol="0" anchor="ctr"/>
          <a:lstStyle/>
          <a:p>
            <a:pPr marL="0" indent="0">
              <a:buNone/>
            </a:pPr>
            <a:endParaRPr lang="en-US" dirty="0"/>
          </a:p>
        </p:txBody>
      </p:sp>
      <p:sp>
        <p:nvSpPr>
          <p:cNvPr id="11" name="Text 9"/>
          <p:cNvSpPr/>
          <p:nvPr/>
        </p:nvSpPr>
        <p:spPr>
          <a:xfrm>
            <a:off x="438150" y="3217515"/>
            <a:ext cx="2594190"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FFFFFF"/>
                </a:solidFill>
                <a:latin typeface="Arial" pitchFamily="34" charset="0"/>
                <a:ea typeface="Arial" pitchFamily="34" charset="-122"/>
                <a:cs typeface="Arial" pitchFamily="34" charset="-120"/>
              </a:rPr>
              <a:t>WHY FIRST?</a:t>
            </a:r>
            <a:endParaRPr lang="en-US" sz="825" dirty="0"/>
          </a:p>
        </p:txBody>
      </p:sp>
      <p:sp>
        <p:nvSpPr>
          <p:cNvPr id="12" name="Text 10"/>
          <p:cNvSpPr/>
          <p:nvPr/>
        </p:nvSpPr>
        <p:spPr>
          <a:xfrm>
            <a:off x="438150" y="3421261"/>
            <a:ext cx="2594190" cy="571500"/>
          </a:xfrm>
          <a:prstGeom prst="rect">
            <a:avLst/>
          </a:prstGeom>
          <a:noFill/>
          <a:ln/>
        </p:spPr>
        <p:txBody>
          <a:bodyPr wrap="square" lIns="0" tIns="0" rIns="0" bIns="0" rtlCol="0" anchor="t"/>
          <a:lstStyle/>
          <a:p>
            <a:pPr marL="0" indent="0" algn="l">
              <a:lnSpc>
                <a:spcPts val="1125"/>
              </a:lnSpc>
              <a:buNone/>
            </a:pPr>
            <a:r>
              <a:rPr lang="en-US" sz="750" dirty="0">
                <a:solidFill>
                  <a:srgbClr val="FFFFFF">
                    <a:alpha val="60000"/>
                  </a:srgbClr>
                </a:solidFill>
                <a:latin typeface="Arial" pitchFamily="34" charset="0"/>
                <a:ea typeface="Arial" pitchFamily="34" charset="-122"/>
                <a:cs typeface="Arial" pitchFamily="34" charset="-120"/>
              </a:rPr>
              <a:t>Agent commits frequently</a:t>
            </a:r>
            <a:endParaRPr lang="en-US" sz="750" dirty="0"/>
          </a:p>
          <a:p>
            <a:pPr marL="0" indent="0" algn="l">
              <a:lnSpc>
                <a:spcPts val="1125"/>
              </a:lnSpc>
              <a:buNone/>
            </a:pPr>
            <a:r>
              <a:rPr lang="en-US" sz="750" dirty="0">
                <a:solidFill>
                  <a:srgbClr val="FFFFFF">
                    <a:alpha val="60000"/>
                  </a:srgbClr>
                </a:solidFill>
                <a:latin typeface="Arial" pitchFamily="34" charset="0"/>
                <a:ea typeface="Arial" pitchFamily="34" charset="-122"/>
                <a:cs typeface="Arial" pitchFamily="34" charset="-120"/>
              </a:rPr>
              <a:t> Creates natural checkpoints</a:t>
            </a:r>
            <a:endParaRPr lang="en-US" sz="750" dirty="0"/>
          </a:p>
          <a:p>
            <a:pPr marL="0" indent="0" algn="l">
              <a:lnSpc>
                <a:spcPts val="1125"/>
              </a:lnSpc>
              <a:buNone/>
            </a:pPr>
            <a:r>
              <a:rPr lang="en-US" sz="750" dirty="0">
                <a:solidFill>
                  <a:srgbClr val="FFFFFF">
                    <a:alpha val="60000"/>
                  </a:srgbClr>
                </a:solidFill>
                <a:latin typeface="Arial" pitchFamily="34" charset="0"/>
                <a:ea typeface="Arial" pitchFamily="34" charset="-122"/>
                <a:cs typeface="Arial" pitchFamily="34" charset="-120"/>
              </a:rPr>
              <a:t> Enables rollback on mistakes</a:t>
            </a:r>
            <a:endParaRPr lang="en-US" sz="750" dirty="0"/>
          </a:p>
          <a:p>
            <a:pPr marL="0" indent="0" algn="l">
              <a:lnSpc>
                <a:spcPts val="1125"/>
              </a:lnSpc>
              <a:buNone/>
            </a:pPr>
            <a:r>
              <a:rPr lang="en-US" sz="750" dirty="0">
                <a:solidFill>
                  <a:srgbClr val="FFFFFF">
                    <a:alpha val="60000"/>
                  </a:srgbClr>
                </a:solidFill>
                <a:latin typeface="Arial" pitchFamily="34" charset="0"/>
                <a:ea typeface="Arial" pitchFamily="34" charset="-122"/>
                <a:cs typeface="Arial" pitchFamily="34" charset="-120"/>
              </a:rPr>
              <a:t> Documents project evolution</a:t>
            </a:r>
            <a:endParaRPr lang="en-US" sz="750" dirty="0"/>
          </a:p>
        </p:txBody>
      </p:sp>
      <p:sp>
        <p:nvSpPr>
          <p:cNvPr id="13" name="Text 11"/>
          <p:cNvSpPr/>
          <p:nvPr/>
        </p:nvSpPr>
        <p:spPr>
          <a:xfrm>
            <a:off x="304800" y="4430911"/>
            <a:ext cx="2810024" cy="430411"/>
          </a:xfrm>
          <a:prstGeom prst="rect">
            <a:avLst/>
          </a:prstGeom>
          <a:solidFill>
            <a:srgbClr val="DBEAFE"/>
          </a:solidFill>
          <a:ln/>
        </p:spPr>
        <p:txBody>
          <a:bodyPr wrap="square" rtlCol="0" anchor="ctr"/>
          <a:lstStyle/>
          <a:p>
            <a:pPr marL="0" indent="0">
              <a:buNone/>
            </a:pPr>
            <a:endParaRPr lang="en-US" dirty="0"/>
          </a:p>
        </p:txBody>
      </p:sp>
      <p:sp>
        <p:nvSpPr>
          <p:cNvPr id="14" name="Shape 12"/>
          <p:cNvSpPr/>
          <p:nvPr/>
        </p:nvSpPr>
        <p:spPr>
          <a:xfrm>
            <a:off x="319088" y="4430911"/>
            <a:ext cx="0" cy="430411"/>
          </a:xfrm>
          <a:prstGeom prst="line">
            <a:avLst/>
          </a:prstGeom>
          <a:noFill/>
          <a:ln w="28575">
            <a:solidFill>
              <a:srgbClr val="3B82F6"/>
            </a:solidFill>
            <a:prstDash val="solid"/>
          </a:ln>
        </p:spPr>
        <p:txBody>
          <a:bodyPr/>
          <a:lstStyle/>
          <a:p>
            <a:endParaRPr lang="en-US"/>
          </a:p>
        </p:txBody>
      </p:sp>
      <p:sp>
        <p:nvSpPr>
          <p:cNvPr id="15" name="Text 13"/>
          <p:cNvSpPr/>
          <p:nvPr/>
        </p:nvSpPr>
        <p:spPr>
          <a:xfrm>
            <a:off x="428625" y="4526161"/>
            <a:ext cx="2642768" cy="239911"/>
          </a:xfrm>
          <a:prstGeom prst="rect">
            <a:avLst/>
          </a:prstGeom>
          <a:noFill/>
          <a:ln/>
        </p:spPr>
        <p:txBody>
          <a:bodyPr wrap="square" lIns="0" tIns="0" rIns="0" bIns="0" rtlCol="0" anchor="t"/>
          <a:lstStyle/>
          <a:p>
            <a:pPr marL="0" indent="0" algn="l">
              <a:lnSpc>
                <a:spcPts val="945"/>
              </a:lnSpc>
              <a:buNone/>
            </a:pPr>
            <a:r>
              <a:rPr lang="en-US" sz="675" b="1" dirty="0">
                <a:solidFill>
                  <a:srgbClr val="1E40AF"/>
                </a:solidFill>
                <a:latin typeface="Arial" pitchFamily="34" charset="0"/>
                <a:ea typeface="Arial" pitchFamily="34" charset="-122"/>
                <a:cs typeface="Arial" pitchFamily="34" charset="-120"/>
              </a:rPr>
              <a:t>Session 2:</a:t>
            </a:r>
            <a:r>
              <a:rPr lang="en-US" sz="675" dirty="0">
                <a:solidFill>
                  <a:srgbClr val="1E40AF"/>
                </a:solidFill>
                <a:latin typeface="Arial" pitchFamily="34" charset="0"/>
                <a:ea typeface="Arial" pitchFamily="34" charset="-122"/>
                <a:cs typeface="Arial" pitchFamily="34" charset="-120"/>
              </a:rPr>
              <a:t> We'll cover repo setup templates and best practices in detail.</a:t>
            </a:r>
            <a:endParaRPr lang="en-US" sz="675" dirty="0"/>
          </a:p>
        </p:txBody>
      </p:sp>
      <p:sp>
        <p:nvSpPr>
          <p:cNvPr id="16" name="Text 14"/>
          <p:cNvSpPr/>
          <p:nvPr/>
        </p:nvSpPr>
        <p:spPr>
          <a:xfrm>
            <a:off x="3572024" y="0"/>
            <a:ext cx="5571976"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76824" y="287834"/>
            <a:ext cx="5061624" cy="173236"/>
          </a:xfrm>
          <a:prstGeom prst="rect">
            <a:avLst/>
          </a:prstGeom>
          <a:noFill/>
          <a:ln/>
        </p:spPr>
        <p:txBody>
          <a:bodyPr wrap="square" lIns="0" tIns="0" rIns="0" bIns="0" rtlCol="0" anchor="t"/>
          <a:lstStyle/>
          <a:p>
            <a:pPr marL="0" indent="0" algn="l">
              <a:lnSpc>
                <a:spcPts val="1365"/>
              </a:lnSpc>
              <a:spcAft>
                <a:spcPts val="1200"/>
              </a:spcAft>
              <a:buNone/>
            </a:pPr>
            <a:r>
              <a:rPr lang="en-US" sz="975" b="1" dirty="0">
                <a:solidFill>
                  <a:srgbClr val="1A1F2E"/>
                </a:solidFill>
                <a:latin typeface="Arial" pitchFamily="34" charset="0"/>
                <a:ea typeface="Arial" pitchFamily="34" charset="-122"/>
                <a:cs typeface="Arial" pitchFamily="34" charset="-120"/>
              </a:rPr>
              <a:t>VOICE COMMANDS TO START</a:t>
            </a:r>
            <a:endParaRPr lang="en-US" sz="975" dirty="0"/>
          </a:p>
        </p:txBody>
      </p:sp>
      <p:sp>
        <p:nvSpPr>
          <p:cNvPr id="18" name="Text 16"/>
          <p:cNvSpPr/>
          <p:nvPr/>
        </p:nvSpPr>
        <p:spPr>
          <a:xfrm>
            <a:off x="3876824" y="765870"/>
            <a:ext cx="4962376" cy="1051322"/>
          </a:xfrm>
          <a:prstGeom prst="rect">
            <a:avLst/>
          </a:prstGeom>
          <a:solidFill>
            <a:srgbClr val="1A1F2E"/>
          </a:solidFill>
          <a:ln/>
        </p:spPr>
        <p:txBody>
          <a:bodyPr wrap="square" rtlCol="0" anchor="ctr"/>
          <a:lstStyle/>
          <a:p>
            <a:pPr marL="0" indent="0">
              <a:buNone/>
            </a:pPr>
            <a:endParaRPr lang="en-US" dirty="0"/>
          </a:p>
        </p:txBody>
      </p:sp>
      <p:sp>
        <p:nvSpPr>
          <p:cNvPr id="19" name="Text 17"/>
          <p:cNvSpPr/>
          <p:nvPr/>
        </p:nvSpPr>
        <p:spPr>
          <a:xfrm>
            <a:off x="4029224" y="918270"/>
            <a:ext cx="4750728" cy="119955"/>
          </a:xfrm>
          <a:prstGeom prst="rect">
            <a:avLst/>
          </a:prstGeom>
          <a:noFill/>
          <a:ln/>
        </p:spPr>
        <p:txBody>
          <a:bodyPr wrap="square" lIns="0" tIns="0" rIns="0" bIns="0" rtlCol="0" anchor="t"/>
          <a:lstStyle/>
          <a:p>
            <a:pPr marL="0" indent="0" algn="l">
              <a:lnSpc>
                <a:spcPts val="945"/>
              </a:lnSpc>
              <a:spcAft>
                <a:spcPts val="600"/>
              </a:spcAft>
              <a:buNone/>
            </a:pPr>
            <a:r>
              <a:rPr lang="en-US" sz="675" dirty="0">
                <a:solidFill>
                  <a:srgbClr val="C9A227"/>
                </a:solidFill>
                <a:latin typeface="Arial" pitchFamily="34" charset="0"/>
                <a:ea typeface="Arial" pitchFamily="34" charset="-122"/>
                <a:cs typeface="Arial" pitchFamily="34" charset="-120"/>
              </a:rPr>
              <a:t>"Create a new repo for this project"</a:t>
            </a:r>
            <a:endParaRPr lang="en-US" sz="675" dirty="0"/>
          </a:p>
        </p:txBody>
      </p:sp>
      <p:sp>
        <p:nvSpPr>
          <p:cNvPr id="20" name="Text 18"/>
          <p:cNvSpPr/>
          <p:nvPr/>
        </p:nvSpPr>
        <p:spPr>
          <a:xfrm>
            <a:off x="4029224" y="1114425"/>
            <a:ext cx="4750728" cy="119955"/>
          </a:xfrm>
          <a:prstGeom prst="rect">
            <a:avLst/>
          </a:prstGeom>
          <a:noFill/>
          <a:ln/>
        </p:spPr>
        <p:txBody>
          <a:bodyPr wrap="square" lIns="114300" tIns="0" rIns="0" bIns="0" rtlCol="0" anchor="t"/>
          <a:lstStyle/>
          <a:p>
            <a:pPr marL="0" indent="0" algn="l">
              <a:lnSpc>
                <a:spcPts val="945"/>
              </a:lnSpc>
              <a:spcAft>
                <a:spcPts val="900"/>
              </a:spcAft>
              <a:buNone/>
            </a:pPr>
            <a:r>
              <a:rPr lang="en-US" sz="675" dirty="0">
                <a:solidFill>
                  <a:srgbClr val="FFFFFF">
                    <a:alpha val="70000"/>
                  </a:srgbClr>
                </a:solidFill>
                <a:latin typeface="Arial" pitchFamily="34" charset="0"/>
                <a:ea typeface="Arial" pitchFamily="34" charset="-122"/>
                <a:cs typeface="Arial" pitchFamily="34" charset="-120"/>
              </a:rPr>
              <a:t>gh repo create project-name --public --clone</a:t>
            </a:r>
            <a:endParaRPr lang="en-US" sz="675" dirty="0"/>
          </a:p>
        </p:txBody>
      </p:sp>
      <p:sp>
        <p:nvSpPr>
          <p:cNvPr id="21" name="Text 19"/>
          <p:cNvSpPr/>
          <p:nvPr/>
        </p:nvSpPr>
        <p:spPr>
          <a:xfrm>
            <a:off x="4029224" y="1348680"/>
            <a:ext cx="4750728" cy="119955"/>
          </a:xfrm>
          <a:prstGeom prst="rect">
            <a:avLst/>
          </a:prstGeom>
          <a:noFill/>
          <a:ln/>
        </p:spPr>
        <p:txBody>
          <a:bodyPr wrap="square" lIns="0" tIns="0" rIns="0" bIns="0" rtlCol="0" anchor="t"/>
          <a:lstStyle/>
          <a:p>
            <a:pPr marL="0" indent="0" algn="l">
              <a:lnSpc>
                <a:spcPts val="945"/>
              </a:lnSpc>
              <a:spcAft>
                <a:spcPts val="600"/>
              </a:spcAft>
              <a:buNone/>
            </a:pPr>
            <a:r>
              <a:rPr lang="en-US" sz="675" dirty="0">
                <a:solidFill>
                  <a:srgbClr val="C9A227"/>
                </a:solidFill>
                <a:latin typeface="Arial" pitchFamily="34" charset="0"/>
                <a:ea typeface="Arial" pitchFamily="34" charset="-122"/>
                <a:cs typeface="Arial" pitchFamily="34" charset="-120"/>
              </a:rPr>
              <a:t>"Initialize with a basic structure"</a:t>
            </a:r>
            <a:endParaRPr lang="en-US" sz="675" dirty="0"/>
          </a:p>
        </p:txBody>
      </p:sp>
      <p:sp>
        <p:nvSpPr>
          <p:cNvPr id="22" name="Text 20"/>
          <p:cNvSpPr/>
          <p:nvPr/>
        </p:nvSpPr>
        <p:spPr>
          <a:xfrm>
            <a:off x="4029224" y="1544836"/>
            <a:ext cx="4750728" cy="119955"/>
          </a:xfrm>
          <a:prstGeom prst="rect">
            <a:avLst/>
          </a:prstGeom>
          <a:noFill/>
          <a:ln/>
        </p:spPr>
        <p:txBody>
          <a:bodyPr wrap="square" lIns="114300" tIns="0" rIns="0" bIns="0" rtlCol="0" anchor="t"/>
          <a:lstStyle/>
          <a:p>
            <a:pPr marL="0" indent="0" algn="l">
              <a:lnSpc>
                <a:spcPts val="945"/>
              </a:lnSpc>
              <a:buNone/>
            </a:pPr>
            <a:r>
              <a:rPr lang="en-US" sz="675" dirty="0">
                <a:solidFill>
                  <a:srgbClr val="FFFFFF">
                    <a:alpha val="70000"/>
                  </a:srgbClr>
                </a:solidFill>
                <a:latin typeface="Arial" pitchFamily="34" charset="0"/>
                <a:ea typeface="Arial" pitchFamily="34" charset="-122"/>
                <a:cs typeface="Arial" pitchFamily="34" charset="-120"/>
              </a:rPr>
              <a:t>Creates README, .gitignore, src/, docs/</a:t>
            </a:r>
            <a:endParaRPr lang="en-US" sz="675" dirty="0"/>
          </a:p>
        </p:txBody>
      </p:sp>
      <p:sp>
        <p:nvSpPr>
          <p:cNvPr id="23" name="Text 21"/>
          <p:cNvSpPr/>
          <p:nvPr/>
        </p:nvSpPr>
        <p:spPr>
          <a:xfrm>
            <a:off x="3876824" y="2121991"/>
            <a:ext cx="2424113" cy="733425"/>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4" name="Text 22"/>
          <p:cNvSpPr/>
          <p:nvPr/>
        </p:nvSpPr>
        <p:spPr>
          <a:xfrm>
            <a:off x="4019699" y="2264866"/>
            <a:ext cx="2181130"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1A1F2E"/>
                </a:solidFill>
                <a:latin typeface="Arial" pitchFamily="34" charset="0"/>
                <a:ea typeface="Arial" pitchFamily="34" charset="-122"/>
                <a:cs typeface="Arial" pitchFamily="34" charset="-120"/>
              </a:rPr>
              <a:t>COMMIT FREQUENCY</a:t>
            </a:r>
            <a:endParaRPr lang="en-US" sz="750" dirty="0"/>
          </a:p>
        </p:txBody>
      </p:sp>
      <p:sp>
        <p:nvSpPr>
          <p:cNvPr id="25" name="Text 23"/>
          <p:cNvSpPr/>
          <p:nvPr/>
        </p:nvSpPr>
        <p:spPr>
          <a:xfrm>
            <a:off x="4019699" y="2455366"/>
            <a:ext cx="2181130" cy="257175"/>
          </a:xfrm>
          <a:prstGeom prst="rect">
            <a:avLst/>
          </a:prstGeom>
          <a:noFill/>
          <a:ln/>
        </p:spPr>
        <p:txBody>
          <a:bodyPr wrap="square" lIns="0" tIns="0" rIns="0" bIns="0" rtlCol="0" anchor="t"/>
          <a:lstStyle/>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Tell your agent: "Commit after each significant change." Small, frequent commits beat monolithic ones.</a:t>
            </a:r>
            <a:endParaRPr lang="en-US" sz="675" dirty="0"/>
          </a:p>
        </p:txBody>
      </p:sp>
      <p:sp>
        <p:nvSpPr>
          <p:cNvPr id="26" name="Text 24"/>
          <p:cNvSpPr/>
          <p:nvPr/>
        </p:nvSpPr>
        <p:spPr>
          <a:xfrm>
            <a:off x="6415236" y="2121991"/>
            <a:ext cx="2424113" cy="733425"/>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7" name="Text 25"/>
          <p:cNvSpPr/>
          <p:nvPr/>
        </p:nvSpPr>
        <p:spPr>
          <a:xfrm>
            <a:off x="6558111" y="2264866"/>
            <a:ext cx="2181130"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1A1F2E"/>
                </a:solidFill>
                <a:latin typeface="Arial" pitchFamily="34" charset="0"/>
                <a:ea typeface="Arial" pitchFamily="34" charset="-122"/>
                <a:cs typeface="Arial" pitchFamily="34" charset="-120"/>
              </a:rPr>
              <a:t>BRANCH STRATEGY</a:t>
            </a:r>
            <a:endParaRPr lang="en-US" sz="750" dirty="0"/>
          </a:p>
        </p:txBody>
      </p:sp>
      <p:sp>
        <p:nvSpPr>
          <p:cNvPr id="28" name="Text 26"/>
          <p:cNvSpPr/>
          <p:nvPr/>
        </p:nvSpPr>
        <p:spPr>
          <a:xfrm>
            <a:off x="6558111" y="2455366"/>
            <a:ext cx="2181130" cy="257175"/>
          </a:xfrm>
          <a:prstGeom prst="rect">
            <a:avLst/>
          </a:prstGeom>
          <a:noFill/>
          <a:ln/>
        </p:spPr>
        <p:txBody>
          <a:bodyPr wrap="square" lIns="0" tIns="0" rIns="0" bIns="0" rtlCol="0" anchor="t"/>
          <a:lstStyle/>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Start simple: work on main for solo projects. Add branches when collaborating or experimenting.</a:t>
            </a:r>
            <a:endParaRPr lang="en-US" sz="675" dirty="0"/>
          </a:p>
        </p:txBody>
      </p:sp>
      <p:sp>
        <p:nvSpPr>
          <p:cNvPr id="29" name="Text 27"/>
          <p:cNvSpPr/>
          <p:nvPr/>
        </p:nvSpPr>
        <p:spPr>
          <a:xfrm>
            <a:off x="3876824" y="3160216"/>
            <a:ext cx="4962376" cy="714375"/>
          </a:xfrm>
          <a:prstGeom prst="rect">
            <a:avLst/>
          </a:prstGeom>
          <a:solidFill>
            <a:srgbClr val="DCFCE7"/>
          </a:solidFill>
          <a:ln/>
        </p:spPr>
        <p:txBody>
          <a:bodyPr wrap="square" rtlCol="0" anchor="ctr"/>
          <a:lstStyle/>
          <a:p>
            <a:pPr marL="0" indent="0">
              <a:buNone/>
            </a:pPr>
            <a:endParaRPr lang="en-US" dirty="0"/>
          </a:p>
        </p:txBody>
      </p:sp>
      <p:sp>
        <p:nvSpPr>
          <p:cNvPr id="30" name="Shape 28"/>
          <p:cNvSpPr/>
          <p:nvPr/>
        </p:nvSpPr>
        <p:spPr>
          <a:xfrm>
            <a:off x="3895874" y="3160216"/>
            <a:ext cx="0" cy="714375"/>
          </a:xfrm>
          <a:prstGeom prst="line">
            <a:avLst/>
          </a:prstGeom>
          <a:noFill/>
          <a:ln w="38100">
            <a:solidFill>
              <a:srgbClr val="059669"/>
            </a:solidFill>
            <a:prstDash val="solid"/>
          </a:ln>
        </p:spPr>
        <p:txBody>
          <a:bodyPr/>
          <a:lstStyle/>
          <a:p>
            <a:endParaRPr lang="en-US"/>
          </a:p>
        </p:txBody>
      </p:sp>
      <p:sp>
        <p:nvSpPr>
          <p:cNvPr id="31" name="Text 29"/>
          <p:cNvSpPr/>
          <p:nvPr/>
        </p:nvSpPr>
        <p:spPr>
          <a:xfrm>
            <a:off x="4048274" y="3293566"/>
            <a:ext cx="4750728"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166534"/>
                </a:solidFill>
                <a:latin typeface="Arial" pitchFamily="34" charset="0"/>
                <a:ea typeface="Arial" pitchFamily="34" charset="-122"/>
                <a:cs typeface="Arial" pitchFamily="34" charset="-120"/>
              </a:rPr>
              <a:t>BEST PRACTICE</a:t>
            </a:r>
            <a:endParaRPr lang="en-US" sz="750" dirty="0"/>
          </a:p>
        </p:txBody>
      </p:sp>
      <p:sp>
        <p:nvSpPr>
          <p:cNvPr id="32" name="Text 30"/>
          <p:cNvSpPr/>
          <p:nvPr/>
        </p:nvSpPr>
        <p:spPr>
          <a:xfrm>
            <a:off x="4048274" y="3484066"/>
            <a:ext cx="4750728" cy="257175"/>
          </a:xfrm>
          <a:prstGeom prst="rect">
            <a:avLst/>
          </a:prstGeom>
          <a:noFill/>
          <a:ln/>
        </p:spPr>
        <p:txBody>
          <a:bodyPr wrap="square" lIns="0" tIns="0" rIns="0" bIns="0" rtlCol="0" anchor="t"/>
          <a:lstStyle/>
          <a:p>
            <a:pPr marL="0" indent="0" algn="l">
              <a:lnSpc>
                <a:spcPts val="1013"/>
              </a:lnSpc>
              <a:buNone/>
            </a:pPr>
            <a:r>
              <a:rPr lang="en-US" sz="675" dirty="0">
                <a:solidFill>
                  <a:srgbClr val="166534"/>
                </a:solidFill>
                <a:latin typeface="Arial" pitchFamily="34" charset="0"/>
                <a:ea typeface="Arial" pitchFamily="34" charset="-122"/>
                <a:cs typeface="Arial" pitchFamily="34" charset="-120"/>
              </a:rPr>
              <a:t>Have the agent commit after: new files created, features completed, bugs fixed, documentation added. Each commit is a restore point.</a:t>
            </a:r>
            <a:endParaRPr lang="en-US" sz="675" dirty="0"/>
          </a:p>
        </p:txBody>
      </p:sp>
      <p:sp>
        <p:nvSpPr>
          <p:cNvPr id="33" name="Text 31"/>
          <p:cNvSpPr/>
          <p:nvPr/>
        </p:nvSpPr>
        <p:spPr>
          <a:xfrm>
            <a:off x="3876824" y="4141291"/>
            <a:ext cx="4962376" cy="714375"/>
          </a:xfrm>
          <a:prstGeom prst="rect">
            <a:avLst/>
          </a:prstGeom>
          <a:solidFill>
            <a:srgbClr val="FEF3C7"/>
          </a:solidFill>
          <a:ln/>
        </p:spPr>
        <p:txBody>
          <a:bodyPr wrap="square" rtlCol="0" anchor="ctr"/>
          <a:lstStyle/>
          <a:p>
            <a:pPr marL="0" indent="0">
              <a:buNone/>
            </a:pPr>
            <a:endParaRPr lang="en-US" dirty="0"/>
          </a:p>
        </p:txBody>
      </p:sp>
      <p:sp>
        <p:nvSpPr>
          <p:cNvPr id="34" name="Shape 32"/>
          <p:cNvSpPr/>
          <p:nvPr/>
        </p:nvSpPr>
        <p:spPr>
          <a:xfrm>
            <a:off x="3895874" y="4141291"/>
            <a:ext cx="0" cy="714375"/>
          </a:xfrm>
          <a:prstGeom prst="line">
            <a:avLst/>
          </a:prstGeom>
          <a:noFill/>
          <a:ln w="38100">
            <a:solidFill>
              <a:srgbClr val="F59E0B"/>
            </a:solidFill>
            <a:prstDash val="solid"/>
          </a:ln>
        </p:spPr>
        <p:txBody>
          <a:bodyPr/>
          <a:lstStyle/>
          <a:p>
            <a:endParaRPr lang="en-US"/>
          </a:p>
        </p:txBody>
      </p:sp>
      <p:sp>
        <p:nvSpPr>
          <p:cNvPr id="35" name="Text 33"/>
          <p:cNvSpPr/>
          <p:nvPr/>
        </p:nvSpPr>
        <p:spPr>
          <a:xfrm>
            <a:off x="4048274" y="4274641"/>
            <a:ext cx="4750728"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92400E"/>
                </a:solidFill>
                <a:latin typeface="Arial" pitchFamily="34" charset="0"/>
                <a:ea typeface="Arial" pitchFamily="34" charset="-122"/>
                <a:cs typeface="Arial" pitchFamily="34" charset="-120"/>
              </a:rPr>
              <a:t>NEW TO GIT?</a:t>
            </a:r>
            <a:endParaRPr lang="en-US" sz="750" dirty="0"/>
          </a:p>
        </p:txBody>
      </p:sp>
      <p:sp>
        <p:nvSpPr>
          <p:cNvPr id="36" name="Text 34"/>
          <p:cNvSpPr/>
          <p:nvPr/>
        </p:nvSpPr>
        <p:spPr>
          <a:xfrm>
            <a:off x="4048274" y="4465141"/>
            <a:ext cx="4750728" cy="257175"/>
          </a:xfrm>
          <a:prstGeom prst="rect">
            <a:avLst/>
          </a:prstGeom>
          <a:noFill/>
          <a:ln/>
        </p:spPr>
        <p:txBody>
          <a:bodyPr wrap="square" lIns="0" tIns="0" rIns="0" bIns="0" rtlCol="0" anchor="t"/>
          <a:lstStyle/>
          <a:p>
            <a:pPr marL="0" indent="0" algn="l">
              <a:lnSpc>
                <a:spcPts val="1013"/>
              </a:lnSpc>
              <a:buNone/>
            </a:pPr>
            <a:r>
              <a:rPr lang="en-US" sz="675" dirty="0">
                <a:solidFill>
                  <a:srgbClr val="92400E"/>
                </a:solidFill>
                <a:latin typeface="Arial" pitchFamily="34" charset="0"/>
                <a:ea typeface="Arial" pitchFamily="34" charset="-122"/>
                <a:cs typeface="Arial" pitchFamily="34" charset="-120"/>
              </a:rPr>
              <a:t>Don't worry if you don't have templates set up yet. We'll cover repo structure, CLAUDE.md files, and agent-friendly project layouts in Session 2.</a:t>
            </a:r>
            <a:endParaRPr lang="en-US" sz="6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41962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304800" y="297359"/>
            <a:ext cx="981373" cy="234255"/>
          </a:xfrm>
          <a:prstGeom prst="rect">
            <a:avLst/>
          </a:prstGeom>
          <a:solidFill>
            <a:srgbClr val="3B82F6"/>
          </a:solidFill>
          <a:ln/>
        </p:spPr>
        <p:txBody>
          <a:bodyPr wrap="square" rtlCol="0" anchor="ctr"/>
          <a:lstStyle/>
          <a:p>
            <a:pPr marL="0" indent="0">
              <a:buNone/>
            </a:pPr>
            <a:endParaRPr lang="en-US" dirty="0"/>
          </a:p>
        </p:txBody>
      </p:sp>
      <p:sp>
        <p:nvSpPr>
          <p:cNvPr id="4" name="Text 2"/>
          <p:cNvSpPr/>
          <p:nvPr/>
        </p:nvSpPr>
        <p:spPr>
          <a:xfrm>
            <a:off x="419100" y="354509"/>
            <a:ext cx="767828" cy="119955"/>
          </a:xfrm>
          <a:prstGeom prst="rect">
            <a:avLst/>
          </a:prstGeom>
          <a:noFill/>
          <a:ln/>
        </p:spPr>
        <p:txBody>
          <a:bodyPr wrap="square" lIns="0" tIns="0" rIns="0" bIns="0" rtlCol="0" anchor="t"/>
          <a:lstStyle/>
          <a:p>
            <a:pPr marL="0" indent="0" algn="l">
              <a:lnSpc>
                <a:spcPts val="945"/>
              </a:lnSpc>
              <a:buNone/>
            </a:pPr>
            <a:r>
              <a:rPr lang="en-US" sz="675" b="1" dirty="0">
                <a:solidFill>
                  <a:srgbClr val="FFFFFF"/>
                </a:solidFill>
                <a:latin typeface="Arial" pitchFamily="34" charset="0"/>
                <a:ea typeface="Arial" pitchFamily="34" charset="-122"/>
                <a:cs typeface="Arial" pitchFamily="34" charset="-120"/>
              </a:rPr>
              <a:t>PHASE 2 OF 10</a:t>
            </a:r>
            <a:endParaRPr lang="en-US" sz="675" dirty="0"/>
          </a:p>
        </p:txBody>
      </p:sp>
      <p:sp>
        <p:nvSpPr>
          <p:cNvPr id="5" name="Text 3"/>
          <p:cNvSpPr/>
          <p:nvPr/>
        </p:nvSpPr>
        <p:spPr>
          <a:xfrm>
            <a:off x="304800" y="798314"/>
            <a:ext cx="1768221" cy="639961"/>
          </a:xfrm>
          <a:prstGeom prst="rect">
            <a:avLst/>
          </a:prstGeom>
          <a:noFill/>
          <a:ln/>
        </p:spPr>
        <p:txBody>
          <a:bodyPr wrap="square" lIns="0" tIns="0" rIns="0" bIns="0" rtlCol="0" anchor="t"/>
          <a:lstStyle/>
          <a:p>
            <a:pPr marL="0" indent="0" algn="l">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Brainstorming</a:t>
            </a:r>
            <a:endParaRPr lang="en-US" sz="2100" dirty="0"/>
          </a:p>
          <a:p>
            <a:pPr marL="0" indent="0" algn="l">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Session</a:t>
            </a:r>
            <a:endParaRPr lang="en-US" sz="2100" dirty="0"/>
          </a:p>
        </p:txBody>
      </p:sp>
      <p:sp>
        <p:nvSpPr>
          <p:cNvPr id="6" name="Text 4"/>
          <p:cNvSpPr/>
          <p:nvPr/>
        </p:nvSpPr>
        <p:spPr>
          <a:xfrm>
            <a:off x="304800" y="2009775"/>
            <a:ext cx="2810024" cy="784771"/>
          </a:xfrm>
          <a:prstGeom prst="rect">
            <a:avLst/>
          </a:prstGeom>
          <a:solidFill>
            <a:srgbClr val="C9A227">
              <a:alpha val="15000"/>
            </a:srgbClr>
          </a:solidFill>
          <a:ln/>
        </p:spPr>
        <p:txBody>
          <a:bodyPr wrap="square" rtlCol="0" anchor="ctr"/>
          <a:lstStyle/>
          <a:p>
            <a:pPr marL="0" indent="0">
              <a:buNone/>
            </a:pPr>
            <a:endParaRPr lang="en-US" dirty="0"/>
          </a:p>
        </p:txBody>
      </p:sp>
      <p:sp>
        <p:nvSpPr>
          <p:cNvPr id="7" name="Shape 5"/>
          <p:cNvSpPr/>
          <p:nvPr/>
        </p:nvSpPr>
        <p:spPr>
          <a:xfrm>
            <a:off x="319088" y="2009775"/>
            <a:ext cx="0" cy="784771"/>
          </a:xfrm>
          <a:prstGeom prst="line">
            <a:avLst/>
          </a:prstGeom>
          <a:noFill/>
          <a:ln w="28575">
            <a:solidFill>
              <a:srgbClr val="C9A227"/>
            </a:solidFill>
            <a:prstDash val="solid"/>
          </a:ln>
        </p:spPr>
        <p:txBody>
          <a:bodyPr/>
          <a:lstStyle/>
          <a:p>
            <a:endParaRPr lang="en-US"/>
          </a:p>
        </p:txBody>
      </p:sp>
      <p:sp>
        <p:nvSpPr>
          <p:cNvPr id="8" name="Text 6"/>
          <p:cNvSpPr/>
          <p:nvPr/>
        </p:nvSpPr>
        <p:spPr>
          <a:xfrm>
            <a:off x="466725" y="2143125"/>
            <a:ext cx="2565044"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C9A227"/>
                </a:solidFill>
                <a:latin typeface="Arial" pitchFamily="34" charset="0"/>
                <a:ea typeface="Arial" pitchFamily="34" charset="-122"/>
                <a:cs typeface="Arial" pitchFamily="34" charset="-120"/>
              </a:rPr>
              <a:t>THE GOAL</a:t>
            </a:r>
            <a:endParaRPr lang="en-US" sz="825" dirty="0"/>
          </a:p>
        </p:txBody>
      </p:sp>
      <p:sp>
        <p:nvSpPr>
          <p:cNvPr id="9" name="Text 7"/>
          <p:cNvSpPr/>
          <p:nvPr/>
        </p:nvSpPr>
        <p:spPr>
          <a:xfrm>
            <a:off x="466725" y="2346871"/>
            <a:ext cx="2565044" cy="314325"/>
          </a:xfrm>
          <a:prstGeom prst="rect">
            <a:avLst/>
          </a:prstGeom>
          <a:noFill/>
          <a:ln/>
        </p:spPr>
        <p:txBody>
          <a:bodyPr wrap="square" lIns="0" tIns="0" rIns="0" bIns="0" rtlCol="0" anchor="t"/>
          <a:lstStyle/>
          <a:p>
            <a:pPr marL="0" indent="0" algn="l">
              <a:lnSpc>
                <a:spcPts val="1238"/>
              </a:lnSpc>
              <a:buNone/>
            </a:pPr>
            <a:r>
              <a:rPr lang="en-US" sz="825" dirty="0">
                <a:solidFill>
                  <a:srgbClr val="FFFFFF">
                    <a:alpha val="80000"/>
                  </a:srgbClr>
                </a:solidFill>
                <a:latin typeface="Arial" pitchFamily="34" charset="0"/>
                <a:ea typeface="Arial" pitchFamily="34" charset="-122"/>
                <a:cs typeface="Arial" pitchFamily="34" charset="-120"/>
              </a:rPr>
              <a:t>Kick around the idea with your agent. This is collaborative ideation, not specification.</a:t>
            </a:r>
            <a:endParaRPr lang="en-US" sz="825" dirty="0"/>
          </a:p>
        </p:txBody>
      </p:sp>
      <p:sp>
        <p:nvSpPr>
          <p:cNvPr id="10" name="Text 8"/>
          <p:cNvSpPr/>
          <p:nvPr/>
        </p:nvSpPr>
        <p:spPr>
          <a:xfrm>
            <a:off x="304800" y="3099346"/>
            <a:ext cx="2810024" cy="1080046"/>
          </a:xfrm>
          <a:prstGeom prst="rect">
            <a:avLst/>
          </a:prstGeom>
          <a:solidFill>
            <a:srgbClr val="FFFFFF">
              <a:alpha val="5000"/>
            </a:srgbClr>
          </a:solidFill>
          <a:ln/>
        </p:spPr>
        <p:txBody>
          <a:bodyPr wrap="square" rtlCol="0" anchor="ctr"/>
          <a:lstStyle/>
          <a:p>
            <a:pPr marL="0" indent="0">
              <a:buNone/>
            </a:pPr>
            <a:endParaRPr lang="en-US" dirty="0"/>
          </a:p>
        </p:txBody>
      </p:sp>
      <p:sp>
        <p:nvSpPr>
          <p:cNvPr id="11" name="Text 9"/>
          <p:cNvSpPr/>
          <p:nvPr/>
        </p:nvSpPr>
        <p:spPr>
          <a:xfrm>
            <a:off x="438150" y="3232696"/>
            <a:ext cx="2594190"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FFFFFF"/>
                </a:solidFill>
                <a:latin typeface="Arial" pitchFamily="34" charset="0"/>
                <a:ea typeface="Arial" pitchFamily="34" charset="-122"/>
                <a:cs typeface="Arial" pitchFamily="34" charset="-120"/>
              </a:rPr>
              <a:t>DISCUSS</a:t>
            </a:r>
            <a:endParaRPr lang="en-US" sz="825" dirty="0"/>
          </a:p>
        </p:txBody>
      </p:sp>
      <p:sp>
        <p:nvSpPr>
          <p:cNvPr id="12" name="Text 10"/>
          <p:cNvSpPr/>
          <p:nvPr/>
        </p:nvSpPr>
        <p:spPr>
          <a:xfrm>
            <a:off x="438150" y="3436441"/>
            <a:ext cx="2594190" cy="609600"/>
          </a:xfrm>
          <a:prstGeom prst="rect">
            <a:avLst/>
          </a:prstGeom>
          <a:noFill/>
          <a:ln/>
        </p:spPr>
        <p:txBody>
          <a:bodyPr wrap="square" lIns="0" tIns="0" rIns="0" bIns="0" rtlCol="0" anchor="t"/>
          <a:lstStyle/>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What's the core intent?</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Who is the audience?</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What are the objectives?</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What would success look like?</a:t>
            </a:r>
            <a:endParaRPr lang="en-US" sz="750" dirty="0"/>
          </a:p>
        </p:txBody>
      </p:sp>
      <p:sp>
        <p:nvSpPr>
          <p:cNvPr id="13" name="Text 11"/>
          <p:cNvSpPr/>
          <p:nvPr/>
        </p:nvSpPr>
        <p:spPr>
          <a:xfrm>
            <a:off x="304800" y="4484191"/>
            <a:ext cx="2810024" cy="361950"/>
          </a:xfrm>
          <a:prstGeom prst="rect">
            <a:avLst/>
          </a:prstGeom>
          <a:solidFill>
            <a:srgbClr val="059669"/>
          </a:solidFill>
          <a:ln/>
        </p:spPr>
        <p:txBody>
          <a:bodyPr wrap="square" rtlCol="0" anchor="ctr"/>
          <a:lstStyle/>
          <a:p>
            <a:pPr marL="0" indent="0">
              <a:buNone/>
            </a:pPr>
            <a:endParaRPr lang="en-US" dirty="0"/>
          </a:p>
        </p:txBody>
      </p:sp>
      <p:sp>
        <p:nvSpPr>
          <p:cNvPr id="14" name="Text 12"/>
          <p:cNvSpPr/>
          <p:nvPr/>
        </p:nvSpPr>
        <p:spPr>
          <a:xfrm>
            <a:off x="393286" y="4598491"/>
            <a:ext cx="2633052" cy="133350"/>
          </a:xfrm>
          <a:prstGeom prst="rect">
            <a:avLst/>
          </a:prstGeom>
          <a:noFill/>
          <a:ln/>
        </p:spPr>
        <p:txBody>
          <a:bodyPr wrap="square" lIns="0" tIns="0" rIns="0" bIns="0" rtlCol="0" anchor="t"/>
          <a:lstStyle/>
          <a:p>
            <a:pPr marL="0" indent="0" algn="ctr">
              <a:lnSpc>
                <a:spcPts val="1050"/>
              </a:lnSpc>
              <a:buNone/>
            </a:pPr>
            <a:r>
              <a:rPr lang="en-US" sz="750" dirty="0">
                <a:solidFill>
                  <a:srgbClr val="FFFFFF"/>
                </a:solidFill>
                <a:latin typeface="Arial" pitchFamily="34" charset="0"/>
                <a:ea typeface="Arial" pitchFamily="34" charset="-122"/>
                <a:cs typeface="Arial" pitchFamily="34" charset="-120"/>
              </a:rPr>
              <a:t>Voice is perfect for brainstorming</a:t>
            </a:r>
            <a:endParaRPr lang="en-US" sz="750" dirty="0"/>
          </a:p>
        </p:txBody>
      </p:sp>
      <p:sp>
        <p:nvSpPr>
          <p:cNvPr id="15" name="Text 13"/>
          <p:cNvSpPr/>
          <p:nvPr/>
        </p:nvSpPr>
        <p:spPr>
          <a:xfrm>
            <a:off x="3572024" y="0"/>
            <a:ext cx="5571976" cy="5143500"/>
          </a:xfrm>
          <a:prstGeom prst="rect">
            <a:avLst/>
          </a:prstGeom>
          <a:solidFill>
            <a:srgbClr val="F7F8FA"/>
          </a:solidFill>
          <a:ln/>
        </p:spPr>
        <p:txBody>
          <a:bodyPr wrap="square" rtlCol="0" anchor="ctr"/>
          <a:lstStyle/>
          <a:p>
            <a:pPr marL="0" indent="0">
              <a:buNone/>
            </a:pPr>
            <a:endParaRPr lang="en-US" dirty="0"/>
          </a:p>
        </p:txBody>
      </p:sp>
      <p:sp>
        <p:nvSpPr>
          <p:cNvPr id="16" name="Text 14"/>
          <p:cNvSpPr/>
          <p:nvPr/>
        </p:nvSpPr>
        <p:spPr>
          <a:xfrm>
            <a:off x="3876824" y="588169"/>
            <a:ext cx="5061624" cy="173236"/>
          </a:xfrm>
          <a:prstGeom prst="rect">
            <a:avLst/>
          </a:prstGeom>
          <a:noFill/>
          <a:ln/>
        </p:spPr>
        <p:txBody>
          <a:bodyPr wrap="square" lIns="0" tIns="0" rIns="0" bIns="0" rtlCol="0" anchor="t"/>
          <a:lstStyle/>
          <a:p>
            <a:pPr marL="0" indent="0" algn="l">
              <a:lnSpc>
                <a:spcPts val="1365"/>
              </a:lnSpc>
              <a:spcAft>
                <a:spcPts val="1050"/>
              </a:spcAft>
              <a:buNone/>
            </a:pPr>
            <a:r>
              <a:rPr lang="en-US" sz="975" b="1" dirty="0">
                <a:solidFill>
                  <a:srgbClr val="1A1F2E"/>
                </a:solidFill>
                <a:latin typeface="Arial" pitchFamily="34" charset="0"/>
                <a:ea typeface="Arial" pitchFamily="34" charset="-122"/>
                <a:cs typeface="Arial" pitchFamily="34" charset="-120"/>
              </a:rPr>
              <a:t>HOW TO BRAINSTORM WITH AN AGENT</a:t>
            </a:r>
            <a:endParaRPr lang="en-US" sz="975" dirty="0"/>
          </a:p>
        </p:txBody>
      </p:sp>
      <p:sp>
        <p:nvSpPr>
          <p:cNvPr id="17" name="Text 15"/>
          <p:cNvSpPr/>
          <p:nvPr/>
        </p:nvSpPr>
        <p:spPr>
          <a:xfrm>
            <a:off x="3876824" y="1047155"/>
            <a:ext cx="2424113" cy="639961"/>
          </a:xfrm>
          <a:prstGeom prst="rect">
            <a:avLst/>
          </a:prstGeom>
          <a:solidFill>
            <a:srgbClr val="FFFFFF"/>
          </a:solidFill>
          <a:ln/>
        </p:spPr>
        <p:txBody>
          <a:bodyPr wrap="square" rtlCol="0" anchor="ctr"/>
          <a:lstStyle/>
          <a:p>
            <a:pPr marL="0" indent="0">
              <a:buNone/>
            </a:pPr>
            <a:endParaRPr lang="en-US" dirty="0"/>
          </a:p>
        </p:txBody>
      </p:sp>
      <p:sp>
        <p:nvSpPr>
          <p:cNvPr id="18" name="Shape 16"/>
          <p:cNvSpPr/>
          <p:nvPr/>
        </p:nvSpPr>
        <p:spPr>
          <a:xfrm>
            <a:off x="3895874" y="1047155"/>
            <a:ext cx="0" cy="639961"/>
          </a:xfrm>
          <a:prstGeom prst="line">
            <a:avLst/>
          </a:prstGeom>
          <a:noFill/>
          <a:ln w="38100">
            <a:solidFill>
              <a:srgbClr val="C9A227"/>
            </a:solidFill>
            <a:prstDash val="solid"/>
          </a:ln>
        </p:spPr>
        <p:txBody>
          <a:bodyPr/>
          <a:lstStyle/>
          <a:p>
            <a:endParaRPr lang="en-US"/>
          </a:p>
        </p:txBody>
      </p:sp>
      <p:sp>
        <p:nvSpPr>
          <p:cNvPr id="19" name="Text 17"/>
          <p:cNvSpPr/>
          <p:nvPr/>
        </p:nvSpPr>
        <p:spPr>
          <a:xfrm>
            <a:off x="4029224" y="1161455"/>
            <a:ext cx="2200561"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1A1F2E"/>
                </a:solidFill>
                <a:latin typeface="Arial" pitchFamily="34" charset="0"/>
                <a:ea typeface="Arial" pitchFamily="34" charset="-122"/>
                <a:cs typeface="Arial" pitchFamily="34" charset="-120"/>
              </a:rPr>
              <a:t>1. STREAM OF CONSCIOUSNESS</a:t>
            </a:r>
            <a:endParaRPr lang="en-US" sz="750" dirty="0"/>
          </a:p>
        </p:txBody>
      </p:sp>
      <p:sp>
        <p:nvSpPr>
          <p:cNvPr id="20" name="Text 18"/>
          <p:cNvSpPr/>
          <p:nvPr/>
        </p:nvSpPr>
        <p:spPr>
          <a:xfrm>
            <a:off x="4029224" y="1332905"/>
            <a:ext cx="2200561" cy="239911"/>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Just talk. Describe what you're imagining. Don't worry about structure or completeness.</a:t>
            </a:r>
            <a:endParaRPr lang="en-US" sz="675" dirty="0"/>
          </a:p>
        </p:txBody>
      </p:sp>
      <p:sp>
        <p:nvSpPr>
          <p:cNvPr id="21" name="Text 19"/>
          <p:cNvSpPr/>
          <p:nvPr/>
        </p:nvSpPr>
        <p:spPr>
          <a:xfrm>
            <a:off x="6415236" y="1047155"/>
            <a:ext cx="2424113" cy="639961"/>
          </a:xfrm>
          <a:prstGeom prst="rect">
            <a:avLst/>
          </a:prstGeom>
          <a:solidFill>
            <a:srgbClr val="FFFFFF"/>
          </a:solidFill>
          <a:ln/>
        </p:spPr>
        <p:txBody>
          <a:bodyPr wrap="square" rtlCol="0" anchor="ctr"/>
          <a:lstStyle/>
          <a:p>
            <a:pPr marL="0" indent="0">
              <a:buNone/>
            </a:pPr>
            <a:endParaRPr lang="en-US" dirty="0"/>
          </a:p>
        </p:txBody>
      </p:sp>
      <p:sp>
        <p:nvSpPr>
          <p:cNvPr id="22" name="Shape 20"/>
          <p:cNvSpPr/>
          <p:nvPr/>
        </p:nvSpPr>
        <p:spPr>
          <a:xfrm>
            <a:off x="6434286" y="1047155"/>
            <a:ext cx="0" cy="639961"/>
          </a:xfrm>
          <a:prstGeom prst="line">
            <a:avLst/>
          </a:prstGeom>
          <a:noFill/>
          <a:ln w="38100">
            <a:solidFill>
              <a:srgbClr val="C9A227"/>
            </a:solidFill>
            <a:prstDash val="solid"/>
          </a:ln>
        </p:spPr>
        <p:txBody>
          <a:bodyPr/>
          <a:lstStyle/>
          <a:p>
            <a:endParaRPr lang="en-US"/>
          </a:p>
        </p:txBody>
      </p:sp>
      <p:sp>
        <p:nvSpPr>
          <p:cNvPr id="23" name="Text 21"/>
          <p:cNvSpPr/>
          <p:nvPr/>
        </p:nvSpPr>
        <p:spPr>
          <a:xfrm>
            <a:off x="6567636" y="1161455"/>
            <a:ext cx="2200561"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1A1F2E"/>
                </a:solidFill>
                <a:latin typeface="Arial" pitchFamily="34" charset="0"/>
                <a:ea typeface="Arial" pitchFamily="34" charset="-122"/>
                <a:cs typeface="Arial" pitchFamily="34" charset="-120"/>
              </a:rPr>
              <a:t>2. ASK FOR PUSHBACK</a:t>
            </a:r>
            <a:endParaRPr lang="en-US" sz="750" dirty="0"/>
          </a:p>
        </p:txBody>
      </p:sp>
      <p:sp>
        <p:nvSpPr>
          <p:cNvPr id="24" name="Text 22"/>
          <p:cNvSpPr/>
          <p:nvPr/>
        </p:nvSpPr>
        <p:spPr>
          <a:xfrm>
            <a:off x="6567636" y="1332905"/>
            <a:ext cx="2200561" cy="239911"/>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"What am I missing?" "What problems do you see?" Let the agent challenge your assumptions.</a:t>
            </a:r>
            <a:endParaRPr lang="en-US" sz="675" dirty="0"/>
          </a:p>
        </p:txBody>
      </p:sp>
      <p:sp>
        <p:nvSpPr>
          <p:cNvPr id="25" name="Text 23"/>
          <p:cNvSpPr/>
          <p:nvPr/>
        </p:nvSpPr>
        <p:spPr>
          <a:xfrm>
            <a:off x="3876824" y="1972866"/>
            <a:ext cx="4962376" cy="1656606"/>
          </a:xfrm>
          <a:prstGeom prst="rect">
            <a:avLst/>
          </a:prstGeom>
          <a:solidFill>
            <a:srgbClr val="1A1F2E"/>
          </a:solidFill>
          <a:ln/>
        </p:spPr>
        <p:txBody>
          <a:bodyPr wrap="square" rtlCol="0" anchor="ctr"/>
          <a:lstStyle/>
          <a:p>
            <a:pPr marL="0" indent="0">
              <a:buNone/>
            </a:pPr>
            <a:endParaRPr lang="en-US" dirty="0"/>
          </a:p>
        </p:txBody>
      </p:sp>
      <p:sp>
        <p:nvSpPr>
          <p:cNvPr id="26" name="Text 24"/>
          <p:cNvSpPr/>
          <p:nvPr/>
        </p:nvSpPr>
        <p:spPr>
          <a:xfrm>
            <a:off x="3963217" y="2027503"/>
            <a:ext cx="4789590" cy="119955"/>
          </a:xfrm>
          <a:prstGeom prst="rect">
            <a:avLst/>
          </a:prstGeom>
          <a:noFill/>
          <a:ln/>
        </p:spPr>
        <p:txBody>
          <a:bodyPr wrap="square" lIns="0" tIns="0" rIns="0" bIns="0" rtlCol="0" anchor="t"/>
          <a:lstStyle/>
          <a:p>
            <a:pPr marL="0" indent="0" algn="l">
              <a:lnSpc>
                <a:spcPts val="945"/>
              </a:lnSpc>
              <a:spcAft>
                <a:spcPts val="450"/>
              </a:spcAft>
              <a:buNone/>
            </a:pPr>
            <a:r>
              <a:rPr lang="en-US" sz="675" dirty="0">
                <a:solidFill>
                  <a:srgbClr val="C9A227"/>
                </a:solidFill>
                <a:latin typeface="Arial" pitchFamily="34" charset="0"/>
                <a:ea typeface="Arial" pitchFamily="34" charset="-122"/>
                <a:cs typeface="Arial" pitchFamily="34" charset="-120"/>
              </a:rPr>
              <a:t>EXAMPLE VOICE PROMPTS</a:t>
            </a:r>
            <a:endParaRPr lang="en-US" sz="675" dirty="0"/>
          </a:p>
        </p:txBody>
      </p:sp>
      <p:sp>
        <p:nvSpPr>
          <p:cNvPr id="27" name="Text 25"/>
          <p:cNvSpPr/>
          <p:nvPr/>
        </p:nvSpPr>
        <p:spPr>
          <a:xfrm>
            <a:off x="4172841" y="2167285"/>
            <a:ext cx="4789590" cy="548283"/>
          </a:xfrm>
          <a:prstGeom prst="rect">
            <a:avLst/>
          </a:prstGeom>
          <a:noFill/>
          <a:ln/>
        </p:spPr>
        <p:txBody>
          <a:bodyPr wrap="square" lIns="0" tIns="0" rIns="0" bIns="0" rtlCol="0" anchor="t"/>
          <a:lstStyle/>
          <a:p>
            <a:pPr marL="0" indent="0" algn="l">
              <a:lnSpc>
                <a:spcPts val="1080"/>
              </a:lnSpc>
              <a:spcAft>
                <a:spcPts val="600"/>
              </a:spcAft>
              <a:buNone/>
            </a:pPr>
            <a:r>
              <a:rPr lang="en-US" sz="675" dirty="0">
                <a:solidFill>
                  <a:srgbClr val="FFFFFF">
                    <a:alpha val="80000"/>
                  </a:srgbClr>
                </a:solidFill>
                <a:latin typeface="Arial" pitchFamily="34" charset="0"/>
                <a:ea typeface="Arial" pitchFamily="34" charset="-122"/>
                <a:cs typeface="Arial" pitchFamily="34" charset="-120"/>
              </a:rPr>
              <a:t>"I'm thinking about building a tool that..."</a:t>
            </a:r>
            <a:endParaRPr lang="en-US" sz="675" dirty="0"/>
          </a:p>
          <a:p>
            <a:pPr marL="0" indent="0" algn="l">
              <a:lnSpc>
                <a:spcPts val="1080"/>
              </a:lnSpc>
              <a:spcAft>
                <a:spcPts val="600"/>
              </a:spcAft>
              <a:buNone/>
            </a:pPr>
            <a:r>
              <a:rPr lang="en-US" sz="675" dirty="0">
                <a:solidFill>
                  <a:srgbClr val="FFFFFF">
                    <a:alpha val="80000"/>
                  </a:srgbClr>
                </a:solidFill>
                <a:latin typeface="Arial" pitchFamily="34" charset="0"/>
                <a:ea typeface="Arial" pitchFamily="34" charset="-122"/>
                <a:cs typeface="Arial" pitchFamily="34" charset="-120"/>
              </a:rPr>
              <a:t> "The main problem I want to solve is..."</a:t>
            </a:r>
            <a:endParaRPr lang="en-US" sz="675" dirty="0"/>
          </a:p>
          <a:p>
            <a:pPr marL="0" indent="0" algn="l">
              <a:lnSpc>
                <a:spcPts val="1080"/>
              </a:lnSpc>
              <a:spcAft>
                <a:spcPts val="600"/>
              </a:spcAft>
              <a:buNone/>
            </a:pPr>
            <a:r>
              <a:rPr lang="en-US" sz="675" dirty="0">
                <a:solidFill>
                  <a:srgbClr val="FFFFFF">
                    <a:alpha val="80000"/>
                  </a:srgbClr>
                </a:solidFill>
                <a:latin typeface="Arial" pitchFamily="34" charset="0"/>
                <a:ea typeface="Arial" pitchFamily="34" charset="-122"/>
                <a:cs typeface="Arial" pitchFamily="34" charset="-120"/>
              </a:rPr>
              <a:t> "My users would be people who..."</a:t>
            </a:r>
            <a:endParaRPr lang="en-US" sz="675" dirty="0"/>
          </a:p>
          <a:p>
            <a:pPr marL="0" indent="0" algn="l">
              <a:lnSpc>
                <a:spcPts val="1080"/>
              </a:lnSpc>
              <a:spcAft>
                <a:spcPts val="600"/>
              </a:spcAft>
              <a:buNone/>
            </a:pPr>
            <a:r>
              <a:rPr lang="en-US" sz="675" dirty="0">
                <a:solidFill>
                  <a:srgbClr val="FFFFFF">
                    <a:alpha val="80000"/>
                  </a:srgbClr>
                </a:solidFill>
                <a:latin typeface="Arial" pitchFamily="34" charset="0"/>
                <a:ea typeface="Arial" pitchFamily="34" charset="-122"/>
                <a:cs typeface="Arial" pitchFamily="34" charset="-120"/>
              </a:rPr>
              <a:t> "What do you think about this approach?"</a:t>
            </a:r>
            <a:endParaRPr lang="en-US" sz="675" dirty="0"/>
          </a:p>
        </p:txBody>
      </p:sp>
      <p:sp>
        <p:nvSpPr>
          <p:cNvPr id="28" name="Text 26"/>
          <p:cNvSpPr/>
          <p:nvPr/>
        </p:nvSpPr>
        <p:spPr>
          <a:xfrm>
            <a:off x="3963217" y="2949749"/>
            <a:ext cx="4789590" cy="119955"/>
          </a:xfrm>
          <a:prstGeom prst="rect">
            <a:avLst/>
          </a:prstGeom>
          <a:noFill/>
          <a:ln/>
        </p:spPr>
        <p:txBody>
          <a:bodyPr wrap="square" lIns="0" tIns="0" rIns="0" bIns="0" rtlCol="0" anchor="t"/>
          <a:lstStyle/>
          <a:p>
            <a:pPr marL="0" indent="0" algn="l">
              <a:lnSpc>
                <a:spcPts val="945"/>
              </a:lnSpc>
              <a:spcAft>
                <a:spcPts val="450"/>
              </a:spcAft>
              <a:buNone/>
            </a:pPr>
            <a:r>
              <a:rPr lang="en-US" sz="675" dirty="0">
                <a:solidFill>
                  <a:srgbClr val="C9A227"/>
                </a:solidFill>
                <a:latin typeface="Arial" pitchFamily="34" charset="0"/>
                <a:ea typeface="Arial" pitchFamily="34" charset="-122"/>
                <a:cs typeface="Arial" pitchFamily="34" charset="-120"/>
              </a:rPr>
              <a:t>FOLLOW-UPS</a:t>
            </a:r>
            <a:endParaRPr lang="en-US" sz="675" dirty="0"/>
          </a:p>
        </p:txBody>
      </p:sp>
      <p:sp>
        <p:nvSpPr>
          <p:cNvPr id="29" name="Text 27"/>
          <p:cNvSpPr/>
          <p:nvPr/>
        </p:nvSpPr>
        <p:spPr>
          <a:xfrm>
            <a:off x="4010174" y="3084909"/>
            <a:ext cx="4789590" cy="411212"/>
          </a:xfrm>
          <a:prstGeom prst="rect">
            <a:avLst/>
          </a:prstGeom>
          <a:noFill/>
          <a:ln/>
        </p:spPr>
        <p:txBody>
          <a:bodyPr wrap="square" lIns="0" tIns="0" rIns="0" bIns="0" rtlCol="0" anchor="t"/>
          <a:lstStyle/>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"Can you poke holes in that idea?"</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"What similar products exist?"</a:t>
            </a:r>
            <a:endParaRPr lang="en-US" sz="675" dirty="0"/>
          </a:p>
          <a:p>
            <a:pPr marL="0" indent="0" algn="l">
              <a:lnSpc>
                <a:spcPts val="1080"/>
              </a:lnSpc>
              <a:buNone/>
            </a:pPr>
            <a:r>
              <a:rPr lang="en-US" sz="675" dirty="0">
                <a:solidFill>
                  <a:srgbClr val="FFFFFF">
                    <a:alpha val="80000"/>
                  </a:srgbClr>
                </a:solidFill>
                <a:latin typeface="Arial" pitchFamily="34" charset="0"/>
                <a:ea typeface="Arial" pitchFamily="34" charset="-122"/>
                <a:cs typeface="Arial" pitchFamily="34" charset="-120"/>
              </a:rPr>
              <a:t> "How would you scope an MVP?"</a:t>
            </a:r>
            <a:endParaRPr lang="en-US" sz="675" dirty="0"/>
          </a:p>
        </p:txBody>
      </p:sp>
      <p:sp>
        <p:nvSpPr>
          <p:cNvPr id="30" name="Text 28"/>
          <p:cNvSpPr/>
          <p:nvPr/>
        </p:nvSpPr>
        <p:spPr>
          <a:xfrm>
            <a:off x="3876824" y="3915221"/>
            <a:ext cx="2424113" cy="639961"/>
          </a:xfrm>
          <a:prstGeom prst="rect">
            <a:avLst/>
          </a:prstGeom>
          <a:solidFill>
            <a:srgbClr val="DBEAFE"/>
          </a:solidFill>
          <a:ln/>
        </p:spPr>
        <p:txBody>
          <a:bodyPr wrap="square" rtlCol="0" anchor="ctr"/>
          <a:lstStyle/>
          <a:p>
            <a:pPr marL="0" indent="0">
              <a:buNone/>
            </a:pPr>
            <a:endParaRPr lang="en-US" dirty="0"/>
          </a:p>
        </p:txBody>
      </p:sp>
      <p:sp>
        <p:nvSpPr>
          <p:cNvPr id="31" name="Shape 29"/>
          <p:cNvSpPr/>
          <p:nvPr/>
        </p:nvSpPr>
        <p:spPr>
          <a:xfrm>
            <a:off x="3891111" y="3915221"/>
            <a:ext cx="0" cy="639961"/>
          </a:xfrm>
          <a:prstGeom prst="line">
            <a:avLst/>
          </a:prstGeom>
          <a:noFill/>
          <a:ln w="28575">
            <a:solidFill>
              <a:srgbClr val="3B82F6"/>
            </a:solidFill>
            <a:prstDash val="solid"/>
          </a:ln>
        </p:spPr>
        <p:txBody>
          <a:bodyPr/>
          <a:lstStyle/>
          <a:p>
            <a:endParaRPr lang="en-US"/>
          </a:p>
        </p:txBody>
      </p:sp>
      <p:sp>
        <p:nvSpPr>
          <p:cNvPr id="32" name="Text 30"/>
          <p:cNvSpPr/>
          <p:nvPr/>
        </p:nvSpPr>
        <p:spPr>
          <a:xfrm>
            <a:off x="4019699" y="4029521"/>
            <a:ext cx="2210276"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1E40AF"/>
                </a:solidFill>
                <a:latin typeface="Arial" pitchFamily="34" charset="0"/>
                <a:ea typeface="Arial" pitchFamily="34" charset="-122"/>
                <a:cs typeface="Arial" pitchFamily="34" charset="-120"/>
              </a:rPr>
              <a:t>SAVE THE OUTPUT</a:t>
            </a:r>
            <a:endParaRPr lang="en-US" sz="750" dirty="0"/>
          </a:p>
        </p:txBody>
      </p:sp>
      <p:sp>
        <p:nvSpPr>
          <p:cNvPr id="33" name="Text 31"/>
          <p:cNvSpPr/>
          <p:nvPr/>
        </p:nvSpPr>
        <p:spPr>
          <a:xfrm>
            <a:off x="4019699" y="4200971"/>
            <a:ext cx="2210276" cy="239911"/>
          </a:xfrm>
          <a:prstGeom prst="rect">
            <a:avLst/>
          </a:prstGeom>
          <a:noFill/>
          <a:ln/>
        </p:spPr>
        <p:txBody>
          <a:bodyPr wrap="square" lIns="0" tIns="0" rIns="0" bIns="0" rtlCol="0" anchor="t"/>
          <a:lstStyle/>
          <a:p>
            <a:pPr marL="0" indent="0" algn="l">
              <a:lnSpc>
                <a:spcPts val="945"/>
              </a:lnSpc>
              <a:buNone/>
            </a:pPr>
            <a:r>
              <a:rPr lang="en-US" sz="675" dirty="0">
                <a:solidFill>
                  <a:srgbClr val="1E40AF"/>
                </a:solidFill>
                <a:latin typeface="Arial" pitchFamily="34" charset="0"/>
                <a:ea typeface="Arial" pitchFamily="34" charset="-122"/>
                <a:cs typeface="Arial" pitchFamily="34" charset="-120"/>
              </a:rPr>
              <a:t>Ask the agent to summarize the brainstorm into a markdown file. Commit it to the repo.</a:t>
            </a:r>
            <a:endParaRPr lang="en-US" sz="675" dirty="0"/>
          </a:p>
        </p:txBody>
      </p:sp>
      <p:sp>
        <p:nvSpPr>
          <p:cNvPr id="34" name="Text 32"/>
          <p:cNvSpPr/>
          <p:nvPr/>
        </p:nvSpPr>
        <p:spPr>
          <a:xfrm>
            <a:off x="6415236" y="3915221"/>
            <a:ext cx="2424113" cy="639961"/>
          </a:xfrm>
          <a:prstGeom prst="rect">
            <a:avLst/>
          </a:prstGeom>
          <a:solidFill>
            <a:srgbClr val="FEF3C7"/>
          </a:solidFill>
          <a:ln/>
        </p:spPr>
        <p:txBody>
          <a:bodyPr wrap="square" rtlCol="0" anchor="ctr"/>
          <a:lstStyle/>
          <a:p>
            <a:pPr marL="0" indent="0">
              <a:buNone/>
            </a:pPr>
            <a:endParaRPr lang="en-US" dirty="0"/>
          </a:p>
        </p:txBody>
      </p:sp>
      <p:sp>
        <p:nvSpPr>
          <p:cNvPr id="35" name="Shape 33"/>
          <p:cNvSpPr/>
          <p:nvPr/>
        </p:nvSpPr>
        <p:spPr>
          <a:xfrm>
            <a:off x="6429524" y="3915221"/>
            <a:ext cx="0" cy="639961"/>
          </a:xfrm>
          <a:prstGeom prst="line">
            <a:avLst/>
          </a:prstGeom>
          <a:noFill/>
          <a:ln w="28575">
            <a:solidFill>
              <a:srgbClr val="F59E0B"/>
            </a:solidFill>
            <a:prstDash val="solid"/>
          </a:ln>
        </p:spPr>
        <p:txBody>
          <a:bodyPr/>
          <a:lstStyle/>
          <a:p>
            <a:endParaRPr lang="en-US"/>
          </a:p>
        </p:txBody>
      </p:sp>
      <p:sp>
        <p:nvSpPr>
          <p:cNvPr id="36" name="Text 34"/>
          <p:cNvSpPr/>
          <p:nvPr/>
        </p:nvSpPr>
        <p:spPr>
          <a:xfrm>
            <a:off x="6558111" y="4029521"/>
            <a:ext cx="2210276"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92400E"/>
                </a:solidFill>
                <a:latin typeface="Arial" pitchFamily="34" charset="0"/>
                <a:ea typeface="Arial" pitchFamily="34" charset="-122"/>
                <a:cs typeface="Arial" pitchFamily="34" charset="-120"/>
              </a:rPr>
              <a:t>DON'T SKIP THIS</a:t>
            </a:r>
            <a:endParaRPr lang="en-US" sz="750" dirty="0"/>
          </a:p>
        </p:txBody>
      </p:sp>
      <p:sp>
        <p:nvSpPr>
          <p:cNvPr id="37" name="Text 35"/>
          <p:cNvSpPr/>
          <p:nvPr/>
        </p:nvSpPr>
        <p:spPr>
          <a:xfrm>
            <a:off x="6558111" y="4200971"/>
            <a:ext cx="2210276" cy="239911"/>
          </a:xfrm>
          <a:prstGeom prst="rect">
            <a:avLst/>
          </a:prstGeom>
          <a:noFill/>
          <a:ln/>
        </p:spPr>
        <p:txBody>
          <a:bodyPr wrap="square" lIns="0" tIns="0" rIns="0" bIns="0" rtlCol="0" anchor="t"/>
          <a:lstStyle/>
          <a:p>
            <a:pPr marL="0" indent="0" algn="l">
              <a:lnSpc>
                <a:spcPts val="945"/>
              </a:lnSpc>
              <a:buNone/>
            </a:pPr>
            <a:r>
              <a:rPr lang="en-US" sz="675" dirty="0">
                <a:solidFill>
                  <a:srgbClr val="92400E"/>
                </a:solidFill>
                <a:latin typeface="Arial" pitchFamily="34" charset="0"/>
                <a:ea typeface="Arial" pitchFamily="34" charset="-122"/>
                <a:cs typeface="Arial" pitchFamily="34" charset="-120"/>
              </a:rPr>
              <a:t>Rushing to code without brainstorming leads to building the wrong thing. Investment here saves time later.</a:t>
            </a:r>
            <a:endParaRPr lang="en-US" sz="6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41962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304800" y="304800"/>
            <a:ext cx="981373" cy="234255"/>
          </a:xfrm>
          <a:prstGeom prst="rect">
            <a:avLst/>
          </a:prstGeom>
          <a:solidFill>
            <a:srgbClr val="8B5CF6"/>
          </a:solidFill>
          <a:ln/>
        </p:spPr>
        <p:txBody>
          <a:bodyPr wrap="square" rtlCol="0" anchor="ctr"/>
          <a:lstStyle/>
          <a:p>
            <a:pPr marL="0" indent="0">
              <a:buNone/>
            </a:pPr>
            <a:endParaRPr lang="en-US" dirty="0"/>
          </a:p>
        </p:txBody>
      </p:sp>
      <p:sp>
        <p:nvSpPr>
          <p:cNvPr id="4" name="Text 2"/>
          <p:cNvSpPr/>
          <p:nvPr/>
        </p:nvSpPr>
        <p:spPr>
          <a:xfrm>
            <a:off x="419100" y="361950"/>
            <a:ext cx="767828" cy="119955"/>
          </a:xfrm>
          <a:prstGeom prst="rect">
            <a:avLst/>
          </a:prstGeom>
          <a:noFill/>
          <a:ln/>
        </p:spPr>
        <p:txBody>
          <a:bodyPr wrap="square" lIns="0" tIns="0" rIns="0" bIns="0" rtlCol="0" anchor="t"/>
          <a:lstStyle/>
          <a:p>
            <a:pPr marL="0" indent="0" algn="l">
              <a:lnSpc>
                <a:spcPts val="945"/>
              </a:lnSpc>
              <a:buNone/>
            </a:pPr>
            <a:r>
              <a:rPr lang="en-US" sz="675" b="1" dirty="0">
                <a:solidFill>
                  <a:srgbClr val="FFFFFF"/>
                </a:solidFill>
                <a:latin typeface="Arial" pitchFamily="34" charset="0"/>
                <a:ea typeface="Arial" pitchFamily="34" charset="-122"/>
                <a:cs typeface="Arial" pitchFamily="34" charset="-120"/>
              </a:rPr>
              <a:t>PHASE 3 OF 10</a:t>
            </a:r>
            <a:endParaRPr lang="en-US" sz="675" dirty="0"/>
          </a:p>
        </p:txBody>
      </p:sp>
      <p:sp>
        <p:nvSpPr>
          <p:cNvPr id="5" name="Text 3"/>
          <p:cNvSpPr/>
          <p:nvPr/>
        </p:nvSpPr>
        <p:spPr>
          <a:xfrm>
            <a:off x="304800" y="805755"/>
            <a:ext cx="1797368" cy="639961"/>
          </a:xfrm>
          <a:prstGeom prst="rect">
            <a:avLst/>
          </a:prstGeom>
          <a:noFill/>
          <a:ln/>
        </p:spPr>
        <p:txBody>
          <a:bodyPr wrap="square" lIns="0" tIns="0" rIns="0" bIns="0" rtlCol="0" anchor="t"/>
          <a:lstStyle/>
          <a:p>
            <a:pPr marL="0" indent="0" algn="l">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Deep Research</a:t>
            </a:r>
            <a:endParaRPr lang="en-US" sz="2100" dirty="0"/>
          </a:p>
          <a:p>
            <a:pPr marL="0" indent="0" algn="l">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Phase</a:t>
            </a:r>
            <a:endParaRPr lang="en-US" sz="2100" dirty="0"/>
          </a:p>
        </p:txBody>
      </p:sp>
      <p:sp>
        <p:nvSpPr>
          <p:cNvPr id="6" name="Text 4"/>
          <p:cNvSpPr/>
          <p:nvPr/>
        </p:nvSpPr>
        <p:spPr>
          <a:xfrm>
            <a:off x="304800" y="1712416"/>
            <a:ext cx="3810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304800" y="2036266"/>
            <a:ext cx="2810024" cy="784771"/>
          </a:xfrm>
          <a:prstGeom prst="rect">
            <a:avLst/>
          </a:prstGeom>
          <a:solidFill>
            <a:srgbClr val="C9A227">
              <a:alpha val="15000"/>
            </a:srgbClr>
          </a:solidFill>
          <a:ln/>
        </p:spPr>
        <p:txBody>
          <a:bodyPr wrap="square" rtlCol="0" anchor="ctr"/>
          <a:lstStyle/>
          <a:p>
            <a:pPr marL="0" indent="0">
              <a:buNone/>
            </a:pPr>
            <a:endParaRPr lang="en-US" dirty="0"/>
          </a:p>
        </p:txBody>
      </p:sp>
      <p:sp>
        <p:nvSpPr>
          <p:cNvPr id="8" name="Shape 6"/>
          <p:cNvSpPr/>
          <p:nvPr/>
        </p:nvSpPr>
        <p:spPr>
          <a:xfrm>
            <a:off x="319088" y="2036266"/>
            <a:ext cx="0" cy="784771"/>
          </a:xfrm>
          <a:prstGeom prst="line">
            <a:avLst/>
          </a:prstGeom>
          <a:noFill/>
          <a:ln w="28575">
            <a:solidFill>
              <a:srgbClr val="C9A227"/>
            </a:solidFill>
            <a:prstDash val="solid"/>
          </a:ln>
        </p:spPr>
        <p:txBody>
          <a:bodyPr/>
          <a:lstStyle/>
          <a:p>
            <a:endParaRPr lang="en-US"/>
          </a:p>
        </p:txBody>
      </p:sp>
      <p:sp>
        <p:nvSpPr>
          <p:cNvPr id="9" name="Text 7"/>
          <p:cNvSpPr/>
          <p:nvPr/>
        </p:nvSpPr>
        <p:spPr>
          <a:xfrm>
            <a:off x="466725" y="2169616"/>
            <a:ext cx="2565044"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C9A227"/>
                </a:solidFill>
                <a:latin typeface="Arial" pitchFamily="34" charset="0"/>
                <a:ea typeface="Arial" pitchFamily="34" charset="-122"/>
                <a:cs typeface="Arial" pitchFamily="34" charset="-120"/>
              </a:rPr>
              <a:t>THE MISSION</a:t>
            </a:r>
            <a:endParaRPr lang="en-US" sz="825" dirty="0"/>
          </a:p>
        </p:txBody>
      </p:sp>
      <p:sp>
        <p:nvSpPr>
          <p:cNvPr id="10" name="Text 8"/>
          <p:cNvSpPr/>
          <p:nvPr/>
        </p:nvSpPr>
        <p:spPr>
          <a:xfrm>
            <a:off x="466725" y="2373362"/>
            <a:ext cx="2565044" cy="314325"/>
          </a:xfrm>
          <a:prstGeom prst="rect">
            <a:avLst/>
          </a:prstGeom>
          <a:noFill/>
          <a:ln/>
        </p:spPr>
        <p:txBody>
          <a:bodyPr wrap="square" lIns="0" tIns="0" rIns="0" bIns="0" rtlCol="0" anchor="t"/>
          <a:lstStyle/>
          <a:p>
            <a:pPr marL="0" indent="0" algn="l">
              <a:lnSpc>
                <a:spcPts val="1238"/>
              </a:lnSpc>
              <a:buNone/>
            </a:pPr>
            <a:r>
              <a:rPr lang="en-US" sz="825" dirty="0">
                <a:solidFill>
                  <a:srgbClr val="FFFFFF">
                    <a:alpha val="80000"/>
                  </a:srgbClr>
                </a:solidFill>
                <a:latin typeface="Arial" pitchFamily="34" charset="0"/>
                <a:ea typeface="Arial" pitchFamily="34" charset="-122"/>
                <a:cs typeface="Arial" pitchFamily="34" charset="-120"/>
              </a:rPr>
              <a:t>Launch comprehensive research efforts. Build deep context before building anything.</a:t>
            </a:r>
            <a:endParaRPr lang="en-US" sz="825" dirty="0"/>
          </a:p>
        </p:txBody>
      </p:sp>
      <p:sp>
        <p:nvSpPr>
          <p:cNvPr id="11" name="Text 9"/>
          <p:cNvSpPr/>
          <p:nvPr/>
        </p:nvSpPr>
        <p:spPr>
          <a:xfrm>
            <a:off x="304800" y="3125837"/>
            <a:ext cx="2810024" cy="1099096"/>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438150" y="3259187"/>
            <a:ext cx="2594190"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RESEARCH TARGETS</a:t>
            </a:r>
            <a:endParaRPr lang="en-US" sz="825" dirty="0"/>
          </a:p>
        </p:txBody>
      </p:sp>
      <p:sp>
        <p:nvSpPr>
          <p:cNvPr id="13" name="Text 11"/>
          <p:cNvSpPr/>
          <p:nvPr/>
        </p:nvSpPr>
        <p:spPr>
          <a:xfrm>
            <a:off x="438150" y="3481983"/>
            <a:ext cx="2594190" cy="609600"/>
          </a:xfrm>
          <a:prstGeom prst="rect">
            <a:avLst/>
          </a:prstGeom>
          <a:noFill/>
          <a:ln/>
        </p:spPr>
        <p:txBody>
          <a:bodyPr wrap="square" lIns="0" tIns="0" rIns="0" bIns="0" rtlCol="0" anchor="t"/>
          <a:lstStyle/>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Subject matter expertise</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Current best practices</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Industry landscape</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Competitive products</a:t>
            </a:r>
            <a:endParaRPr lang="en-US" sz="750" dirty="0"/>
          </a:p>
        </p:txBody>
      </p:sp>
      <p:sp>
        <p:nvSpPr>
          <p:cNvPr id="14" name="Text 12"/>
          <p:cNvSpPr/>
          <p:nvPr/>
        </p:nvSpPr>
        <p:spPr>
          <a:xfrm>
            <a:off x="304800" y="4528245"/>
            <a:ext cx="2810024" cy="310455"/>
          </a:xfrm>
          <a:prstGeom prst="rect">
            <a:avLst/>
          </a:prstGeom>
          <a:solidFill>
            <a:srgbClr val="DCFCE7"/>
          </a:solidFill>
          <a:ln/>
        </p:spPr>
        <p:txBody>
          <a:bodyPr wrap="square" rtlCol="0" anchor="ctr"/>
          <a:lstStyle/>
          <a:p>
            <a:pPr marL="0" indent="0">
              <a:buNone/>
            </a:pPr>
            <a:endParaRPr lang="en-US" dirty="0"/>
          </a:p>
        </p:txBody>
      </p:sp>
      <p:sp>
        <p:nvSpPr>
          <p:cNvPr id="15" name="Shape 13"/>
          <p:cNvSpPr/>
          <p:nvPr/>
        </p:nvSpPr>
        <p:spPr>
          <a:xfrm>
            <a:off x="319088" y="4528245"/>
            <a:ext cx="0" cy="310455"/>
          </a:xfrm>
          <a:prstGeom prst="line">
            <a:avLst/>
          </a:prstGeom>
          <a:noFill/>
          <a:ln w="28575">
            <a:solidFill>
              <a:srgbClr val="059669"/>
            </a:solidFill>
            <a:prstDash val="solid"/>
          </a:ln>
        </p:spPr>
        <p:txBody>
          <a:bodyPr/>
          <a:lstStyle/>
          <a:p>
            <a:endParaRPr lang="en-US"/>
          </a:p>
        </p:txBody>
      </p:sp>
      <p:sp>
        <p:nvSpPr>
          <p:cNvPr id="16" name="Text 14"/>
          <p:cNvSpPr/>
          <p:nvPr/>
        </p:nvSpPr>
        <p:spPr>
          <a:xfrm>
            <a:off x="428625" y="4623495"/>
            <a:ext cx="2642768" cy="119955"/>
          </a:xfrm>
          <a:prstGeom prst="rect">
            <a:avLst/>
          </a:prstGeom>
          <a:noFill/>
          <a:ln/>
        </p:spPr>
        <p:txBody>
          <a:bodyPr wrap="square" lIns="0" tIns="0" rIns="0" bIns="0" rtlCol="0" anchor="t"/>
          <a:lstStyle/>
          <a:p>
            <a:pPr marL="0" indent="0" algn="l">
              <a:lnSpc>
                <a:spcPts val="945"/>
              </a:lnSpc>
              <a:buNone/>
            </a:pPr>
            <a:r>
              <a:rPr lang="en-US" sz="675" b="1" dirty="0">
                <a:solidFill>
                  <a:srgbClr val="166534"/>
                </a:solidFill>
                <a:latin typeface="Arial" pitchFamily="34" charset="0"/>
                <a:ea typeface="Arial" pitchFamily="34" charset="-122"/>
                <a:cs typeface="Arial" pitchFamily="34" charset="-120"/>
              </a:rPr>
              <a:t>Key:</a:t>
            </a:r>
            <a:r>
              <a:rPr lang="en-US" sz="675" dirty="0">
                <a:solidFill>
                  <a:srgbClr val="166534"/>
                </a:solidFill>
                <a:latin typeface="Arial" pitchFamily="34" charset="0"/>
                <a:ea typeface="Arial" pitchFamily="34" charset="-122"/>
                <a:cs typeface="Arial" pitchFamily="34" charset="-120"/>
              </a:rPr>
              <a:t> Save all research artifacts to the repo.</a:t>
            </a:r>
            <a:endParaRPr lang="en-US" sz="675" dirty="0"/>
          </a:p>
        </p:txBody>
      </p:sp>
      <p:sp>
        <p:nvSpPr>
          <p:cNvPr id="17" name="Text 15"/>
          <p:cNvSpPr/>
          <p:nvPr/>
        </p:nvSpPr>
        <p:spPr>
          <a:xfrm>
            <a:off x="3572024" y="0"/>
            <a:ext cx="5571976" cy="5143500"/>
          </a:xfrm>
          <a:prstGeom prst="rect">
            <a:avLst/>
          </a:prstGeom>
          <a:solidFill>
            <a:srgbClr val="F7F8FA"/>
          </a:solidFill>
          <a:ln/>
        </p:spPr>
        <p:txBody>
          <a:bodyPr wrap="square" rtlCol="0" anchor="ctr"/>
          <a:lstStyle/>
          <a:p>
            <a:pPr marL="0" indent="0">
              <a:buNone/>
            </a:pPr>
            <a:endParaRPr lang="en-US" dirty="0"/>
          </a:p>
        </p:txBody>
      </p:sp>
      <p:sp>
        <p:nvSpPr>
          <p:cNvPr id="18" name="Text 16"/>
          <p:cNvSpPr/>
          <p:nvPr/>
        </p:nvSpPr>
        <p:spPr>
          <a:xfrm>
            <a:off x="3876824" y="357336"/>
            <a:ext cx="5061624" cy="173236"/>
          </a:xfrm>
          <a:prstGeom prst="rect">
            <a:avLst/>
          </a:prstGeom>
          <a:noFill/>
          <a:ln/>
        </p:spPr>
        <p:txBody>
          <a:bodyPr wrap="square" lIns="0" tIns="0" rIns="0" bIns="0" rtlCol="0" anchor="t"/>
          <a:lstStyle/>
          <a:p>
            <a:pPr marL="0" indent="0" algn="l">
              <a:lnSpc>
                <a:spcPts val="1365"/>
              </a:lnSpc>
              <a:spcAft>
                <a:spcPts val="1050"/>
              </a:spcAft>
              <a:buNone/>
            </a:pPr>
            <a:r>
              <a:rPr lang="en-US" sz="975" b="1" dirty="0">
                <a:solidFill>
                  <a:srgbClr val="1A1F2E"/>
                </a:solidFill>
                <a:latin typeface="Arial" pitchFamily="34" charset="0"/>
                <a:ea typeface="Arial" pitchFamily="34" charset="-122"/>
                <a:cs typeface="Arial" pitchFamily="34" charset="-120"/>
              </a:rPr>
              <a:t>THREE RESEARCH DIMENSIONS</a:t>
            </a:r>
            <a:endParaRPr lang="en-US" sz="975" dirty="0"/>
          </a:p>
        </p:txBody>
      </p:sp>
      <p:sp>
        <p:nvSpPr>
          <p:cNvPr id="19" name="Text 17"/>
          <p:cNvSpPr/>
          <p:nvPr/>
        </p:nvSpPr>
        <p:spPr>
          <a:xfrm>
            <a:off x="3876824" y="816322"/>
            <a:ext cx="4962376" cy="62865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0" name="Text 18"/>
          <p:cNvSpPr/>
          <p:nvPr/>
        </p:nvSpPr>
        <p:spPr>
          <a:xfrm>
            <a:off x="4019699" y="959197"/>
            <a:ext cx="342900" cy="342900"/>
          </a:xfrm>
          <a:prstGeom prst="rect">
            <a:avLst/>
          </a:prstGeom>
          <a:solidFill>
            <a:srgbClr val="8B5CF6"/>
          </a:solidFill>
          <a:ln/>
        </p:spPr>
        <p:txBody>
          <a:bodyPr wrap="square" rtlCol="0" anchor="ctr"/>
          <a:lstStyle/>
          <a:p>
            <a:pPr marL="0" indent="0">
              <a:buNone/>
            </a:pPr>
            <a:endParaRPr lang="en-US" dirty="0"/>
          </a:p>
        </p:txBody>
      </p:sp>
      <p:sp>
        <p:nvSpPr>
          <p:cNvPr id="21" name="Text 19"/>
          <p:cNvSpPr/>
          <p:nvPr/>
        </p:nvSpPr>
        <p:spPr>
          <a:xfrm>
            <a:off x="4153942" y="1037332"/>
            <a:ext cx="75751" cy="186630"/>
          </a:xfrm>
          <a:prstGeom prst="rect">
            <a:avLst/>
          </a:prstGeom>
          <a:noFill/>
          <a:ln/>
        </p:spPr>
        <p:txBody>
          <a:bodyPr wrap="square" lIns="0" tIns="0" rIns="0" bIns="0" rtlCol="0" anchor="t"/>
          <a:lstStyle/>
          <a:p>
            <a:pPr marL="0" indent="0" algn="l">
              <a:lnSpc>
                <a:spcPts val="1470"/>
              </a:lnSpc>
              <a:buNone/>
            </a:pPr>
            <a:r>
              <a:rPr lang="en-US" sz="1050" b="1" dirty="0">
                <a:solidFill>
                  <a:srgbClr val="FFFFFF"/>
                </a:solidFill>
                <a:latin typeface="Arial" pitchFamily="34" charset="0"/>
                <a:ea typeface="Arial" pitchFamily="34" charset="-122"/>
                <a:cs typeface="Arial" pitchFamily="34" charset="-120"/>
              </a:rPr>
              <a:t>1</a:t>
            </a:r>
            <a:endParaRPr lang="en-US" sz="1050" dirty="0"/>
          </a:p>
        </p:txBody>
      </p:sp>
      <p:sp>
        <p:nvSpPr>
          <p:cNvPr id="22" name="Text 20"/>
          <p:cNvSpPr/>
          <p:nvPr/>
        </p:nvSpPr>
        <p:spPr>
          <a:xfrm>
            <a:off x="4476899" y="987772"/>
            <a:ext cx="4303815" cy="146596"/>
          </a:xfrm>
          <a:prstGeom prst="rect">
            <a:avLst/>
          </a:prstGeom>
          <a:noFill/>
          <a:ln/>
        </p:spPr>
        <p:txBody>
          <a:bodyPr wrap="square" lIns="0" tIns="0" rIns="0" bIns="0" rtlCol="0" anchor="t"/>
          <a:lstStyle/>
          <a:p>
            <a:pPr marL="0" indent="0" algn="l">
              <a:lnSpc>
                <a:spcPts val="1155"/>
              </a:lnSpc>
              <a:spcAft>
                <a:spcPts val="150"/>
              </a:spcAft>
              <a:buNone/>
            </a:pPr>
            <a:r>
              <a:rPr lang="en-US" sz="825" b="1" dirty="0">
                <a:solidFill>
                  <a:srgbClr val="1A1F2E"/>
                </a:solidFill>
                <a:latin typeface="Arial" pitchFamily="34" charset="0"/>
                <a:ea typeface="Arial" pitchFamily="34" charset="-122"/>
                <a:cs typeface="Arial" pitchFamily="34" charset="-120"/>
              </a:rPr>
              <a:t>Subject Matter Research</a:t>
            </a:r>
            <a:endParaRPr lang="en-US" sz="825" dirty="0"/>
          </a:p>
        </p:txBody>
      </p:sp>
      <p:sp>
        <p:nvSpPr>
          <p:cNvPr id="23" name="Text 21"/>
          <p:cNvSpPr/>
          <p:nvPr/>
        </p:nvSpPr>
        <p:spPr>
          <a:xfrm>
            <a:off x="4476899" y="1153418"/>
            <a:ext cx="4303815" cy="119955"/>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Deep dive into the domain. What does the agent need to know to build this well?</a:t>
            </a:r>
            <a:endParaRPr lang="en-US" sz="675" dirty="0"/>
          </a:p>
        </p:txBody>
      </p:sp>
      <p:sp>
        <p:nvSpPr>
          <p:cNvPr id="24" name="Text 22"/>
          <p:cNvSpPr/>
          <p:nvPr/>
        </p:nvSpPr>
        <p:spPr>
          <a:xfrm>
            <a:off x="3876824" y="1540222"/>
            <a:ext cx="4962376" cy="62865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5" name="Text 23"/>
          <p:cNvSpPr/>
          <p:nvPr/>
        </p:nvSpPr>
        <p:spPr>
          <a:xfrm>
            <a:off x="4019699" y="1683097"/>
            <a:ext cx="342900" cy="342900"/>
          </a:xfrm>
          <a:prstGeom prst="rect">
            <a:avLst/>
          </a:prstGeom>
          <a:solidFill>
            <a:srgbClr val="8B5CF6"/>
          </a:solidFill>
          <a:ln/>
        </p:spPr>
        <p:txBody>
          <a:bodyPr wrap="square" rtlCol="0" anchor="ctr"/>
          <a:lstStyle/>
          <a:p>
            <a:pPr marL="0" indent="0">
              <a:buNone/>
            </a:pPr>
            <a:endParaRPr lang="en-US" dirty="0"/>
          </a:p>
        </p:txBody>
      </p:sp>
      <p:sp>
        <p:nvSpPr>
          <p:cNvPr id="26" name="Text 24"/>
          <p:cNvSpPr/>
          <p:nvPr/>
        </p:nvSpPr>
        <p:spPr>
          <a:xfrm>
            <a:off x="4153942" y="1761232"/>
            <a:ext cx="75751" cy="186630"/>
          </a:xfrm>
          <a:prstGeom prst="rect">
            <a:avLst/>
          </a:prstGeom>
          <a:noFill/>
          <a:ln/>
        </p:spPr>
        <p:txBody>
          <a:bodyPr wrap="square" lIns="0" tIns="0" rIns="0" bIns="0" rtlCol="0" anchor="t"/>
          <a:lstStyle/>
          <a:p>
            <a:pPr marL="0" indent="0" algn="l">
              <a:lnSpc>
                <a:spcPts val="1470"/>
              </a:lnSpc>
              <a:buNone/>
            </a:pPr>
            <a:r>
              <a:rPr lang="en-US" sz="1050" b="1" dirty="0">
                <a:solidFill>
                  <a:srgbClr val="FFFFFF"/>
                </a:solidFill>
                <a:latin typeface="Arial" pitchFamily="34" charset="0"/>
                <a:ea typeface="Arial" pitchFamily="34" charset="-122"/>
                <a:cs typeface="Arial" pitchFamily="34" charset="-120"/>
              </a:rPr>
              <a:t>2</a:t>
            </a:r>
            <a:endParaRPr lang="en-US" sz="1050" dirty="0"/>
          </a:p>
        </p:txBody>
      </p:sp>
      <p:sp>
        <p:nvSpPr>
          <p:cNvPr id="27" name="Text 25"/>
          <p:cNvSpPr/>
          <p:nvPr/>
        </p:nvSpPr>
        <p:spPr>
          <a:xfrm>
            <a:off x="4476899" y="1711672"/>
            <a:ext cx="4303815" cy="146596"/>
          </a:xfrm>
          <a:prstGeom prst="rect">
            <a:avLst/>
          </a:prstGeom>
          <a:noFill/>
          <a:ln/>
        </p:spPr>
        <p:txBody>
          <a:bodyPr wrap="square" lIns="0" tIns="0" rIns="0" bIns="0" rtlCol="0" anchor="t"/>
          <a:lstStyle/>
          <a:p>
            <a:pPr marL="0" indent="0" algn="l">
              <a:lnSpc>
                <a:spcPts val="1155"/>
              </a:lnSpc>
              <a:spcAft>
                <a:spcPts val="150"/>
              </a:spcAft>
              <a:buNone/>
            </a:pPr>
            <a:r>
              <a:rPr lang="en-US" sz="825" b="1" dirty="0">
                <a:solidFill>
                  <a:srgbClr val="1A1F2E"/>
                </a:solidFill>
                <a:latin typeface="Arial" pitchFamily="34" charset="0"/>
                <a:ea typeface="Arial" pitchFamily="34" charset="-122"/>
                <a:cs typeface="Arial" pitchFamily="34" charset="-120"/>
              </a:rPr>
              <a:t>Best Practices &amp; Patterns</a:t>
            </a:r>
            <a:endParaRPr lang="en-US" sz="825" dirty="0"/>
          </a:p>
        </p:txBody>
      </p:sp>
      <p:sp>
        <p:nvSpPr>
          <p:cNvPr id="28" name="Text 26"/>
          <p:cNvSpPr/>
          <p:nvPr/>
        </p:nvSpPr>
        <p:spPr>
          <a:xfrm>
            <a:off x="4476899" y="1877318"/>
            <a:ext cx="4303815" cy="119955"/>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Current industry standards. How are the best teams solving similar problems?</a:t>
            </a:r>
            <a:endParaRPr lang="en-US" sz="675" dirty="0"/>
          </a:p>
        </p:txBody>
      </p:sp>
      <p:sp>
        <p:nvSpPr>
          <p:cNvPr id="29" name="Text 27"/>
          <p:cNvSpPr/>
          <p:nvPr/>
        </p:nvSpPr>
        <p:spPr>
          <a:xfrm>
            <a:off x="3876824" y="2264122"/>
            <a:ext cx="4962376" cy="62865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30" name="Text 28"/>
          <p:cNvSpPr/>
          <p:nvPr/>
        </p:nvSpPr>
        <p:spPr>
          <a:xfrm>
            <a:off x="4019699" y="2406997"/>
            <a:ext cx="342900" cy="342900"/>
          </a:xfrm>
          <a:prstGeom prst="rect">
            <a:avLst/>
          </a:prstGeom>
          <a:solidFill>
            <a:srgbClr val="8B5CF6"/>
          </a:solidFill>
          <a:ln/>
        </p:spPr>
        <p:txBody>
          <a:bodyPr wrap="square" rtlCol="0" anchor="ctr"/>
          <a:lstStyle/>
          <a:p>
            <a:pPr marL="0" indent="0">
              <a:buNone/>
            </a:pPr>
            <a:endParaRPr lang="en-US" dirty="0"/>
          </a:p>
        </p:txBody>
      </p:sp>
      <p:sp>
        <p:nvSpPr>
          <p:cNvPr id="31" name="Text 29"/>
          <p:cNvSpPr/>
          <p:nvPr/>
        </p:nvSpPr>
        <p:spPr>
          <a:xfrm>
            <a:off x="4153942" y="2485132"/>
            <a:ext cx="75751" cy="186630"/>
          </a:xfrm>
          <a:prstGeom prst="rect">
            <a:avLst/>
          </a:prstGeom>
          <a:noFill/>
          <a:ln/>
        </p:spPr>
        <p:txBody>
          <a:bodyPr wrap="square" lIns="0" tIns="0" rIns="0" bIns="0" rtlCol="0" anchor="t"/>
          <a:lstStyle/>
          <a:p>
            <a:pPr marL="0" indent="0" algn="l">
              <a:lnSpc>
                <a:spcPts val="1470"/>
              </a:lnSpc>
              <a:buNone/>
            </a:pPr>
            <a:r>
              <a:rPr lang="en-US" sz="1050" b="1" dirty="0">
                <a:solidFill>
                  <a:srgbClr val="FFFFFF"/>
                </a:solidFill>
                <a:latin typeface="Arial" pitchFamily="34" charset="0"/>
                <a:ea typeface="Arial" pitchFamily="34" charset="-122"/>
                <a:cs typeface="Arial" pitchFamily="34" charset="-120"/>
              </a:rPr>
              <a:t>3</a:t>
            </a:r>
            <a:endParaRPr lang="en-US" sz="1050" dirty="0"/>
          </a:p>
        </p:txBody>
      </p:sp>
      <p:sp>
        <p:nvSpPr>
          <p:cNvPr id="32" name="Text 30"/>
          <p:cNvSpPr/>
          <p:nvPr/>
        </p:nvSpPr>
        <p:spPr>
          <a:xfrm>
            <a:off x="4476899" y="2435572"/>
            <a:ext cx="4303815" cy="146596"/>
          </a:xfrm>
          <a:prstGeom prst="rect">
            <a:avLst/>
          </a:prstGeom>
          <a:noFill/>
          <a:ln/>
        </p:spPr>
        <p:txBody>
          <a:bodyPr wrap="square" lIns="0" tIns="0" rIns="0" bIns="0" rtlCol="0" anchor="t"/>
          <a:lstStyle/>
          <a:p>
            <a:pPr marL="0" indent="0" algn="l">
              <a:lnSpc>
                <a:spcPts val="1155"/>
              </a:lnSpc>
              <a:spcAft>
                <a:spcPts val="150"/>
              </a:spcAft>
              <a:buNone/>
            </a:pPr>
            <a:r>
              <a:rPr lang="en-US" sz="825" b="1" dirty="0">
                <a:solidFill>
                  <a:srgbClr val="1A1F2E"/>
                </a:solidFill>
                <a:latin typeface="Arial" pitchFamily="34" charset="0"/>
                <a:ea typeface="Arial" pitchFamily="34" charset="-122"/>
                <a:cs typeface="Arial" pitchFamily="34" charset="-120"/>
              </a:rPr>
              <a:t>Competitive Landscape</a:t>
            </a:r>
            <a:endParaRPr lang="en-US" sz="825" dirty="0"/>
          </a:p>
        </p:txBody>
      </p:sp>
      <p:sp>
        <p:nvSpPr>
          <p:cNvPr id="33" name="Text 31"/>
          <p:cNvSpPr/>
          <p:nvPr/>
        </p:nvSpPr>
        <p:spPr>
          <a:xfrm>
            <a:off x="4476899" y="2601218"/>
            <a:ext cx="4303815" cy="119955"/>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What products exist? What works well? What gaps can you fill?</a:t>
            </a:r>
            <a:endParaRPr lang="en-US" sz="675" dirty="0"/>
          </a:p>
        </p:txBody>
      </p:sp>
      <p:sp>
        <p:nvSpPr>
          <p:cNvPr id="34" name="Text 32"/>
          <p:cNvSpPr/>
          <p:nvPr/>
        </p:nvSpPr>
        <p:spPr>
          <a:xfrm>
            <a:off x="3876824" y="3178522"/>
            <a:ext cx="4962376" cy="700980"/>
          </a:xfrm>
          <a:prstGeom prst="rect">
            <a:avLst/>
          </a:prstGeom>
          <a:solidFill>
            <a:srgbClr val="1A1F2E"/>
          </a:solidFill>
          <a:ln/>
        </p:spPr>
        <p:txBody>
          <a:bodyPr wrap="square" rtlCol="0" anchor="ctr"/>
          <a:lstStyle/>
          <a:p>
            <a:pPr marL="0" indent="0">
              <a:buNone/>
            </a:pPr>
            <a:endParaRPr lang="en-US" dirty="0"/>
          </a:p>
        </p:txBody>
      </p:sp>
      <p:sp>
        <p:nvSpPr>
          <p:cNvPr id="35" name="Text 33"/>
          <p:cNvSpPr/>
          <p:nvPr/>
        </p:nvSpPr>
        <p:spPr>
          <a:xfrm>
            <a:off x="4010174" y="3311872"/>
            <a:ext cx="4789590" cy="119955"/>
          </a:xfrm>
          <a:prstGeom prst="rect">
            <a:avLst/>
          </a:prstGeom>
          <a:noFill/>
          <a:ln/>
        </p:spPr>
        <p:txBody>
          <a:bodyPr wrap="square" lIns="0" tIns="0" rIns="0" bIns="0" rtlCol="0" anchor="t"/>
          <a:lstStyle/>
          <a:p>
            <a:pPr marL="0" indent="0" algn="l">
              <a:lnSpc>
                <a:spcPts val="945"/>
              </a:lnSpc>
              <a:spcAft>
                <a:spcPts val="450"/>
              </a:spcAft>
              <a:buNone/>
            </a:pPr>
            <a:r>
              <a:rPr lang="en-US" sz="675" dirty="0">
                <a:solidFill>
                  <a:srgbClr val="C9A227"/>
                </a:solidFill>
                <a:latin typeface="Arial" pitchFamily="34" charset="0"/>
                <a:ea typeface="Arial" pitchFamily="34" charset="-122"/>
                <a:cs typeface="Arial" pitchFamily="34" charset="-120"/>
              </a:rPr>
              <a:t>VOICE PROMPT EXAMPLE</a:t>
            </a:r>
            <a:endParaRPr lang="en-US" sz="675" dirty="0"/>
          </a:p>
        </p:txBody>
      </p:sp>
      <p:sp>
        <p:nvSpPr>
          <p:cNvPr id="36" name="Text 34"/>
          <p:cNvSpPr/>
          <p:nvPr/>
        </p:nvSpPr>
        <p:spPr>
          <a:xfrm>
            <a:off x="4010174" y="3488978"/>
            <a:ext cx="4789590" cy="257175"/>
          </a:xfrm>
          <a:prstGeom prst="rect">
            <a:avLst/>
          </a:prstGeom>
          <a:noFill/>
          <a:ln/>
        </p:spPr>
        <p:txBody>
          <a:bodyPr wrap="square" lIns="0" tIns="0" rIns="0" bIns="0" rtlCol="0" anchor="t"/>
          <a:lstStyle/>
          <a:p>
            <a:pPr marL="0" indent="0" algn="l">
              <a:lnSpc>
                <a:spcPts val="1013"/>
              </a:lnSpc>
              <a:buNone/>
            </a:pPr>
            <a:r>
              <a:rPr lang="en-US" sz="675" dirty="0">
                <a:solidFill>
                  <a:srgbClr val="FFFFFF">
                    <a:alpha val="80000"/>
                  </a:srgbClr>
                </a:solidFill>
                <a:latin typeface="Arial" pitchFamily="34" charset="0"/>
                <a:ea typeface="Arial" pitchFamily="34" charset="-122"/>
                <a:cs typeface="Arial" pitchFamily="34" charset="-120"/>
              </a:rPr>
              <a:t>"Research the current state of [topic]. Look at what tools exist, how teams are solving this, and what the best practices are. Save your findings to docs/research/"</a:t>
            </a:r>
            <a:endParaRPr lang="en-US" sz="675" dirty="0"/>
          </a:p>
        </p:txBody>
      </p:sp>
      <p:sp>
        <p:nvSpPr>
          <p:cNvPr id="37" name="Text 35"/>
          <p:cNvSpPr/>
          <p:nvPr/>
        </p:nvSpPr>
        <p:spPr>
          <a:xfrm>
            <a:off x="3876824" y="4146203"/>
            <a:ext cx="4962376" cy="639961"/>
          </a:xfrm>
          <a:prstGeom prst="rect">
            <a:avLst/>
          </a:prstGeom>
          <a:solidFill>
            <a:srgbClr val="DBEAFE"/>
          </a:solidFill>
          <a:ln/>
        </p:spPr>
        <p:txBody>
          <a:bodyPr wrap="square" rtlCol="0" anchor="ctr"/>
          <a:lstStyle/>
          <a:p>
            <a:pPr marL="0" indent="0">
              <a:buNone/>
            </a:pPr>
            <a:endParaRPr lang="en-US" dirty="0"/>
          </a:p>
        </p:txBody>
      </p:sp>
      <p:sp>
        <p:nvSpPr>
          <p:cNvPr id="38" name="Shape 36"/>
          <p:cNvSpPr/>
          <p:nvPr/>
        </p:nvSpPr>
        <p:spPr>
          <a:xfrm>
            <a:off x="3891111" y="4146203"/>
            <a:ext cx="0" cy="639961"/>
          </a:xfrm>
          <a:prstGeom prst="line">
            <a:avLst/>
          </a:prstGeom>
          <a:noFill/>
          <a:ln w="28575">
            <a:solidFill>
              <a:srgbClr val="3B82F6"/>
            </a:solidFill>
            <a:prstDash val="solid"/>
          </a:ln>
        </p:spPr>
        <p:txBody>
          <a:bodyPr/>
          <a:lstStyle/>
          <a:p>
            <a:endParaRPr lang="en-US"/>
          </a:p>
        </p:txBody>
      </p:sp>
      <p:sp>
        <p:nvSpPr>
          <p:cNvPr id="39" name="Text 37"/>
          <p:cNvSpPr/>
          <p:nvPr/>
        </p:nvSpPr>
        <p:spPr>
          <a:xfrm>
            <a:off x="4019699" y="4260503"/>
            <a:ext cx="4799305"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1E40AF"/>
                </a:solidFill>
                <a:latin typeface="Arial" pitchFamily="34" charset="0"/>
                <a:ea typeface="Arial" pitchFamily="34" charset="-122"/>
                <a:cs typeface="Arial" pitchFamily="34" charset="-120"/>
              </a:rPr>
              <a:t>OUTPUT FORMAT</a:t>
            </a:r>
            <a:endParaRPr lang="en-US" sz="750" dirty="0"/>
          </a:p>
        </p:txBody>
      </p:sp>
      <p:sp>
        <p:nvSpPr>
          <p:cNvPr id="40" name="Text 38"/>
          <p:cNvSpPr/>
          <p:nvPr/>
        </p:nvSpPr>
        <p:spPr>
          <a:xfrm>
            <a:off x="4019699" y="4431953"/>
            <a:ext cx="4799305" cy="239911"/>
          </a:xfrm>
          <a:prstGeom prst="rect">
            <a:avLst/>
          </a:prstGeom>
          <a:noFill/>
          <a:ln/>
        </p:spPr>
        <p:txBody>
          <a:bodyPr wrap="square" lIns="0" tIns="0" rIns="0" bIns="0" rtlCol="0" anchor="t"/>
          <a:lstStyle/>
          <a:p>
            <a:pPr marL="0" indent="0" algn="l">
              <a:lnSpc>
                <a:spcPts val="945"/>
              </a:lnSpc>
              <a:buNone/>
            </a:pPr>
            <a:r>
              <a:rPr lang="en-US" sz="675" dirty="0">
                <a:solidFill>
                  <a:srgbClr val="1E40AF"/>
                </a:solidFill>
                <a:latin typeface="Arial" pitchFamily="34" charset="0"/>
                <a:ea typeface="Arial" pitchFamily="34" charset="-122"/>
                <a:cs typeface="Arial" pitchFamily="34" charset="-120"/>
              </a:rPr>
              <a:t>Markdown files in docs/research/: competitive-analysis.md, best-practices.md, domain-knowledge.md. These become context for later phases.</a:t>
            </a:r>
            <a:endParaRPr lang="en-US" sz="6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41962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304800" y="287834"/>
            <a:ext cx="981373" cy="234255"/>
          </a:xfrm>
          <a:prstGeom prst="rect">
            <a:avLst/>
          </a:prstGeom>
          <a:solidFill>
            <a:srgbClr val="F59E0B"/>
          </a:solidFill>
          <a:ln/>
        </p:spPr>
        <p:txBody>
          <a:bodyPr wrap="square" rtlCol="0" anchor="ctr"/>
          <a:lstStyle/>
          <a:p>
            <a:pPr marL="0" indent="0">
              <a:buNone/>
            </a:pPr>
            <a:endParaRPr lang="en-US" dirty="0"/>
          </a:p>
        </p:txBody>
      </p:sp>
      <p:sp>
        <p:nvSpPr>
          <p:cNvPr id="4" name="Text 2"/>
          <p:cNvSpPr/>
          <p:nvPr/>
        </p:nvSpPr>
        <p:spPr>
          <a:xfrm>
            <a:off x="419100" y="344984"/>
            <a:ext cx="767828" cy="119955"/>
          </a:xfrm>
          <a:prstGeom prst="rect">
            <a:avLst/>
          </a:prstGeom>
          <a:noFill/>
          <a:ln/>
        </p:spPr>
        <p:txBody>
          <a:bodyPr wrap="square" lIns="0" tIns="0" rIns="0" bIns="0" rtlCol="0" anchor="t"/>
          <a:lstStyle/>
          <a:p>
            <a:pPr marL="0" indent="0" algn="l">
              <a:lnSpc>
                <a:spcPts val="945"/>
              </a:lnSpc>
              <a:buNone/>
            </a:pPr>
            <a:r>
              <a:rPr lang="en-US" sz="675" b="1" dirty="0">
                <a:solidFill>
                  <a:srgbClr val="1A1F2E"/>
                </a:solidFill>
                <a:latin typeface="Arial" pitchFamily="34" charset="0"/>
                <a:ea typeface="Arial" pitchFamily="34" charset="-122"/>
                <a:cs typeface="Arial" pitchFamily="34" charset="-120"/>
              </a:rPr>
              <a:t>PHASE 4 OF 10</a:t>
            </a:r>
            <a:endParaRPr lang="en-US" sz="675" dirty="0"/>
          </a:p>
        </p:txBody>
      </p:sp>
      <p:sp>
        <p:nvSpPr>
          <p:cNvPr id="5" name="Text 3"/>
          <p:cNvSpPr/>
          <p:nvPr/>
        </p:nvSpPr>
        <p:spPr>
          <a:xfrm>
            <a:off x="304800" y="788789"/>
            <a:ext cx="1437894" cy="639961"/>
          </a:xfrm>
          <a:prstGeom prst="rect">
            <a:avLst/>
          </a:prstGeom>
          <a:noFill/>
          <a:ln/>
        </p:spPr>
        <p:txBody>
          <a:bodyPr wrap="square" lIns="0" tIns="0" rIns="0" bIns="0" rtlCol="0" anchor="t"/>
          <a:lstStyle/>
          <a:p>
            <a:pPr marL="0" indent="0" algn="l">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Planning</a:t>
            </a:r>
            <a:endParaRPr lang="en-US" sz="2100" dirty="0"/>
          </a:p>
          <a:p>
            <a:pPr marL="0" indent="0" algn="l">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Session</a:t>
            </a:r>
            <a:endParaRPr lang="en-US" sz="2100" dirty="0"/>
          </a:p>
        </p:txBody>
      </p:sp>
      <p:sp>
        <p:nvSpPr>
          <p:cNvPr id="6" name="Text 4"/>
          <p:cNvSpPr/>
          <p:nvPr/>
        </p:nvSpPr>
        <p:spPr>
          <a:xfrm>
            <a:off x="304800" y="2000250"/>
            <a:ext cx="2810024" cy="784771"/>
          </a:xfrm>
          <a:prstGeom prst="rect">
            <a:avLst/>
          </a:prstGeom>
          <a:solidFill>
            <a:srgbClr val="C9A227">
              <a:alpha val="15000"/>
            </a:srgbClr>
          </a:solidFill>
          <a:ln/>
        </p:spPr>
        <p:txBody>
          <a:bodyPr wrap="square" rtlCol="0" anchor="ctr"/>
          <a:lstStyle/>
          <a:p>
            <a:pPr marL="0" indent="0">
              <a:buNone/>
            </a:pPr>
            <a:endParaRPr lang="en-US" dirty="0"/>
          </a:p>
        </p:txBody>
      </p:sp>
      <p:sp>
        <p:nvSpPr>
          <p:cNvPr id="7" name="Shape 5"/>
          <p:cNvSpPr/>
          <p:nvPr/>
        </p:nvSpPr>
        <p:spPr>
          <a:xfrm>
            <a:off x="319088" y="2000250"/>
            <a:ext cx="0" cy="784771"/>
          </a:xfrm>
          <a:prstGeom prst="line">
            <a:avLst/>
          </a:prstGeom>
          <a:noFill/>
          <a:ln w="28575">
            <a:solidFill>
              <a:srgbClr val="C9A227"/>
            </a:solidFill>
            <a:prstDash val="solid"/>
          </a:ln>
        </p:spPr>
        <p:txBody>
          <a:bodyPr/>
          <a:lstStyle/>
          <a:p>
            <a:endParaRPr lang="en-US"/>
          </a:p>
        </p:txBody>
      </p:sp>
      <p:sp>
        <p:nvSpPr>
          <p:cNvPr id="8" name="Text 6"/>
          <p:cNvSpPr/>
          <p:nvPr/>
        </p:nvSpPr>
        <p:spPr>
          <a:xfrm>
            <a:off x="466725" y="2133600"/>
            <a:ext cx="2565044"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C9A227"/>
                </a:solidFill>
                <a:latin typeface="Arial" pitchFamily="34" charset="0"/>
                <a:ea typeface="Arial" pitchFamily="34" charset="-122"/>
                <a:cs typeface="Arial" pitchFamily="34" charset="-120"/>
              </a:rPr>
              <a:t>THE OBJECTIVE</a:t>
            </a:r>
            <a:endParaRPr lang="en-US" sz="825" dirty="0"/>
          </a:p>
        </p:txBody>
      </p:sp>
      <p:sp>
        <p:nvSpPr>
          <p:cNvPr id="9" name="Text 7"/>
          <p:cNvSpPr/>
          <p:nvPr/>
        </p:nvSpPr>
        <p:spPr>
          <a:xfrm>
            <a:off x="466725" y="2337346"/>
            <a:ext cx="2565044" cy="314325"/>
          </a:xfrm>
          <a:prstGeom prst="rect">
            <a:avLst/>
          </a:prstGeom>
          <a:noFill/>
          <a:ln/>
        </p:spPr>
        <p:txBody>
          <a:bodyPr wrap="square" lIns="0" tIns="0" rIns="0" bIns="0" rtlCol="0" anchor="t"/>
          <a:lstStyle/>
          <a:p>
            <a:pPr marL="0" indent="0" algn="l">
              <a:lnSpc>
                <a:spcPts val="1238"/>
              </a:lnSpc>
              <a:buNone/>
            </a:pPr>
            <a:r>
              <a:rPr lang="en-US" sz="825" dirty="0">
                <a:solidFill>
                  <a:srgbClr val="FFFFFF">
                    <a:alpha val="80000"/>
                  </a:srgbClr>
                </a:solidFill>
                <a:latin typeface="Arial" pitchFamily="34" charset="0"/>
                <a:ea typeface="Arial" pitchFamily="34" charset="-122"/>
                <a:cs typeface="Arial" pitchFamily="34" charset="-120"/>
              </a:rPr>
              <a:t>Define what you're building. Not the full spec yet, just clear deliverables and their purposes.</a:t>
            </a:r>
            <a:endParaRPr lang="en-US" sz="825" dirty="0"/>
          </a:p>
        </p:txBody>
      </p:sp>
      <p:sp>
        <p:nvSpPr>
          <p:cNvPr id="10" name="Text 8"/>
          <p:cNvSpPr/>
          <p:nvPr/>
        </p:nvSpPr>
        <p:spPr>
          <a:xfrm>
            <a:off x="304800" y="3089821"/>
            <a:ext cx="2810024" cy="1099096"/>
          </a:xfrm>
          <a:prstGeom prst="rect">
            <a:avLst/>
          </a:prstGeom>
          <a:solidFill>
            <a:srgbClr val="FFFFFF">
              <a:alpha val="5000"/>
            </a:srgbClr>
          </a:solidFill>
          <a:ln/>
        </p:spPr>
        <p:txBody>
          <a:bodyPr wrap="square" rtlCol="0" anchor="ctr"/>
          <a:lstStyle/>
          <a:p>
            <a:pPr marL="0" indent="0">
              <a:buNone/>
            </a:pPr>
            <a:endParaRPr lang="en-US" dirty="0"/>
          </a:p>
        </p:txBody>
      </p:sp>
      <p:sp>
        <p:nvSpPr>
          <p:cNvPr id="11" name="Text 9"/>
          <p:cNvSpPr/>
          <p:nvPr/>
        </p:nvSpPr>
        <p:spPr>
          <a:xfrm>
            <a:off x="438150" y="3223171"/>
            <a:ext cx="2594190"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PLANNING OUTPUTS</a:t>
            </a:r>
            <a:endParaRPr lang="en-US" sz="825" dirty="0"/>
          </a:p>
        </p:txBody>
      </p:sp>
      <p:sp>
        <p:nvSpPr>
          <p:cNvPr id="12" name="Text 10"/>
          <p:cNvSpPr/>
          <p:nvPr/>
        </p:nvSpPr>
        <p:spPr>
          <a:xfrm>
            <a:off x="438150" y="3445966"/>
            <a:ext cx="2594190" cy="609600"/>
          </a:xfrm>
          <a:prstGeom prst="rect">
            <a:avLst/>
          </a:prstGeom>
          <a:noFill/>
          <a:ln/>
        </p:spPr>
        <p:txBody>
          <a:bodyPr wrap="square" lIns="0" tIns="0" rIns="0" bIns="0" rtlCol="0" anchor="t"/>
          <a:lstStyle/>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List of deliverables</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Objective for each</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Success criteria</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Initial build plan</a:t>
            </a:r>
            <a:endParaRPr lang="en-US" sz="750" dirty="0"/>
          </a:p>
        </p:txBody>
      </p:sp>
      <p:sp>
        <p:nvSpPr>
          <p:cNvPr id="13" name="Text 11"/>
          <p:cNvSpPr/>
          <p:nvPr/>
        </p:nvSpPr>
        <p:spPr>
          <a:xfrm>
            <a:off x="304800" y="4493716"/>
            <a:ext cx="2810024" cy="361950"/>
          </a:xfrm>
          <a:prstGeom prst="rect">
            <a:avLst/>
          </a:prstGeom>
          <a:solidFill>
            <a:srgbClr val="C9A227"/>
          </a:solidFill>
          <a:ln/>
        </p:spPr>
        <p:txBody>
          <a:bodyPr wrap="square" rtlCol="0" anchor="ctr"/>
          <a:lstStyle/>
          <a:p>
            <a:pPr marL="0" indent="0">
              <a:buNone/>
            </a:pPr>
            <a:endParaRPr lang="en-US" dirty="0"/>
          </a:p>
        </p:txBody>
      </p:sp>
      <p:sp>
        <p:nvSpPr>
          <p:cNvPr id="14" name="Text 12"/>
          <p:cNvSpPr/>
          <p:nvPr/>
        </p:nvSpPr>
        <p:spPr>
          <a:xfrm>
            <a:off x="393286" y="4608016"/>
            <a:ext cx="2633052" cy="133350"/>
          </a:xfrm>
          <a:prstGeom prst="rect">
            <a:avLst/>
          </a:prstGeom>
          <a:noFill/>
          <a:ln/>
        </p:spPr>
        <p:txBody>
          <a:bodyPr wrap="square" lIns="0" tIns="0" rIns="0" bIns="0" rtlCol="0" anchor="t"/>
          <a:lstStyle/>
          <a:p>
            <a:pPr marL="0" indent="0" algn="ctr">
              <a:lnSpc>
                <a:spcPts val="1050"/>
              </a:lnSpc>
              <a:buNone/>
            </a:pPr>
            <a:r>
              <a:rPr lang="en-US" sz="750" b="1" dirty="0">
                <a:solidFill>
                  <a:srgbClr val="1A1F2E"/>
                </a:solidFill>
                <a:latin typeface="Arial" pitchFamily="34" charset="0"/>
                <a:ea typeface="Arial" pitchFamily="34" charset="-122"/>
                <a:cs typeface="Arial" pitchFamily="34" charset="-120"/>
              </a:rPr>
              <a:t>This is strategy, not specification</a:t>
            </a:r>
            <a:endParaRPr lang="en-US" sz="750" dirty="0"/>
          </a:p>
        </p:txBody>
      </p:sp>
      <p:sp>
        <p:nvSpPr>
          <p:cNvPr id="15" name="Text 13"/>
          <p:cNvSpPr/>
          <p:nvPr/>
        </p:nvSpPr>
        <p:spPr>
          <a:xfrm>
            <a:off x="3572024" y="0"/>
            <a:ext cx="5571976" cy="5143500"/>
          </a:xfrm>
          <a:prstGeom prst="rect">
            <a:avLst/>
          </a:prstGeom>
          <a:solidFill>
            <a:srgbClr val="F7F8FA"/>
          </a:solidFill>
          <a:ln/>
        </p:spPr>
        <p:txBody>
          <a:bodyPr wrap="square" rtlCol="0" anchor="ctr"/>
          <a:lstStyle/>
          <a:p>
            <a:pPr marL="0" indent="0">
              <a:buNone/>
            </a:pPr>
            <a:endParaRPr lang="en-US" dirty="0"/>
          </a:p>
        </p:txBody>
      </p:sp>
      <p:sp>
        <p:nvSpPr>
          <p:cNvPr id="16" name="Text 14"/>
          <p:cNvSpPr/>
          <p:nvPr/>
        </p:nvSpPr>
        <p:spPr>
          <a:xfrm>
            <a:off x="3876824" y="511969"/>
            <a:ext cx="5061624" cy="173236"/>
          </a:xfrm>
          <a:prstGeom prst="rect">
            <a:avLst/>
          </a:prstGeom>
          <a:noFill/>
          <a:ln/>
        </p:spPr>
        <p:txBody>
          <a:bodyPr wrap="square" lIns="0" tIns="0" rIns="0" bIns="0" rtlCol="0" anchor="t"/>
          <a:lstStyle/>
          <a:p>
            <a:pPr marL="0" indent="0" algn="l">
              <a:lnSpc>
                <a:spcPts val="1365"/>
              </a:lnSpc>
              <a:spcAft>
                <a:spcPts val="1050"/>
              </a:spcAft>
              <a:buNone/>
            </a:pPr>
            <a:r>
              <a:rPr lang="en-US" sz="975" b="1" dirty="0">
                <a:solidFill>
                  <a:srgbClr val="1A1F2E"/>
                </a:solidFill>
                <a:latin typeface="Arial" pitchFamily="34" charset="0"/>
                <a:ea typeface="Arial" pitchFamily="34" charset="-122"/>
                <a:cs typeface="Arial" pitchFamily="34" charset="-120"/>
              </a:rPr>
              <a:t>PLANNING WITH YOUR AGENT</a:t>
            </a:r>
            <a:endParaRPr lang="en-US" sz="975" dirty="0"/>
          </a:p>
        </p:txBody>
      </p:sp>
      <p:sp>
        <p:nvSpPr>
          <p:cNvPr id="17" name="Text 15"/>
          <p:cNvSpPr/>
          <p:nvPr/>
        </p:nvSpPr>
        <p:spPr>
          <a:xfrm>
            <a:off x="3876824" y="760660"/>
            <a:ext cx="4962376" cy="115193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8" name="Text 16"/>
          <p:cNvSpPr/>
          <p:nvPr/>
        </p:nvSpPr>
        <p:spPr>
          <a:xfrm>
            <a:off x="3956623" y="834623"/>
            <a:ext cx="4770159"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1A1F2E"/>
                </a:solidFill>
                <a:latin typeface="Arial" pitchFamily="34" charset="0"/>
                <a:ea typeface="Arial" pitchFamily="34" charset="-122"/>
                <a:cs typeface="Arial" pitchFamily="34" charset="-120"/>
              </a:rPr>
              <a:t>DELIVERABLES FRAMEWORK</a:t>
            </a:r>
            <a:endParaRPr lang="en-US" sz="825" dirty="0"/>
          </a:p>
        </p:txBody>
      </p:sp>
      <p:sp>
        <p:nvSpPr>
          <p:cNvPr id="19" name="Text 17"/>
          <p:cNvSpPr/>
          <p:nvPr/>
        </p:nvSpPr>
        <p:spPr>
          <a:xfrm>
            <a:off x="4010174" y="1104466"/>
            <a:ext cx="2307431" cy="411212"/>
          </a:xfrm>
          <a:prstGeom prst="rect">
            <a:avLst/>
          </a:prstGeom>
          <a:noFill/>
          <a:ln/>
        </p:spPr>
        <p:txBody>
          <a:bodyPr wrap="square" lIns="0" tIns="0" rIns="0" bIns="0" rtlCol="0" anchor="t"/>
          <a:lstStyle/>
          <a:p>
            <a:pPr marL="0" indent="0" algn="l">
              <a:lnSpc>
                <a:spcPts val="1080"/>
              </a:lnSpc>
              <a:buNone/>
            </a:pPr>
            <a:r>
              <a:rPr lang="en-US" sz="675" b="1" dirty="0">
                <a:solidFill>
                  <a:srgbClr val="1A1F2E"/>
                </a:solidFill>
                <a:latin typeface="Arial" pitchFamily="34" charset="0"/>
                <a:ea typeface="Arial" pitchFamily="34" charset="-122"/>
                <a:cs typeface="Arial" pitchFamily="34" charset="-120"/>
              </a:rPr>
              <a:t>What</a:t>
            </a:r>
            <a:r>
              <a:rPr lang="en-US" sz="675" dirty="0">
                <a:solidFill>
                  <a:srgbClr val="6B7280"/>
                </a:solidFill>
                <a:latin typeface="Arial" pitchFamily="34" charset="0"/>
                <a:ea typeface="Arial" pitchFamily="34" charset="-122"/>
                <a:cs typeface="Arial" pitchFamily="34" charset="-120"/>
              </a:rPr>
              <a:t> - Name the deliverable</a:t>
            </a:r>
            <a:endParaRPr lang="en-US" sz="675" dirty="0"/>
          </a:p>
          <a:p>
            <a:pPr marL="0" indent="0" algn="l">
              <a:lnSpc>
                <a:spcPts val="1080"/>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b="1" dirty="0">
                <a:solidFill>
                  <a:srgbClr val="1A1F2E"/>
                </a:solidFill>
                <a:latin typeface="Arial" pitchFamily="34" charset="0"/>
                <a:ea typeface="Arial" pitchFamily="34" charset="-122"/>
                <a:cs typeface="Arial" pitchFamily="34" charset="-120"/>
              </a:rPr>
              <a:t>Why</a:t>
            </a:r>
            <a:r>
              <a:rPr lang="en-US" sz="675" dirty="0">
                <a:solidFill>
                  <a:srgbClr val="6B7280"/>
                </a:solidFill>
                <a:latin typeface="Arial" pitchFamily="34" charset="0"/>
                <a:ea typeface="Arial" pitchFamily="34" charset="-122"/>
                <a:cs typeface="Arial" pitchFamily="34" charset="-120"/>
              </a:rPr>
              <a:t> - Its core objective</a:t>
            </a:r>
            <a:endParaRPr lang="en-US" sz="675" dirty="0"/>
          </a:p>
          <a:p>
            <a:pPr marL="0" indent="0" algn="l">
              <a:lnSpc>
                <a:spcPts val="1080"/>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b="1" dirty="0">
                <a:solidFill>
                  <a:srgbClr val="1A1F2E"/>
                </a:solidFill>
                <a:latin typeface="Arial" pitchFamily="34" charset="0"/>
                <a:ea typeface="Arial" pitchFamily="34" charset="-122"/>
                <a:cs typeface="Arial" pitchFamily="34" charset="-120"/>
              </a:rPr>
              <a:t>How</a:t>
            </a:r>
            <a:r>
              <a:rPr lang="en-US" sz="675" dirty="0">
                <a:solidFill>
                  <a:srgbClr val="6B7280"/>
                </a:solidFill>
                <a:latin typeface="Arial" pitchFamily="34" charset="0"/>
                <a:ea typeface="Arial" pitchFamily="34" charset="-122"/>
                <a:cs typeface="Arial" pitchFamily="34" charset="-120"/>
              </a:rPr>
              <a:t> - High-level approach</a:t>
            </a:r>
            <a:endParaRPr lang="en-US" sz="675" dirty="0"/>
          </a:p>
        </p:txBody>
      </p:sp>
      <p:sp>
        <p:nvSpPr>
          <p:cNvPr id="20" name="Text 18"/>
          <p:cNvSpPr/>
          <p:nvPr/>
        </p:nvSpPr>
        <p:spPr>
          <a:xfrm>
            <a:off x="6419351" y="1140160"/>
            <a:ext cx="2307431" cy="411212"/>
          </a:xfrm>
          <a:prstGeom prst="rect">
            <a:avLst/>
          </a:prstGeom>
          <a:noFill/>
          <a:ln/>
        </p:spPr>
        <p:txBody>
          <a:bodyPr wrap="square" lIns="0" tIns="0" rIns="0" bIns="0" rtlCol="0" anchor="t"/>
          <a:lstStyle/>
          <a:p>
            <a:pPr marL="0" indent="0" algn="l">
              <a:lnSpc>
                <a:spcPts val="1080"/>
              </a:lnSpc>
              <a:buNone/>
            </a:pPr>
            <a:r>
              <a:rPr lang="en-US" sz="675" b="1" dirty="0">
                <a:solidFill>
                  <a:srgbClr val="1A1F2E"/>
                </a:solidFill>
                <a:latin typeface="Arial" pitchFamily="34" charset="0"/>
                <a:ea typeface="Arial" pitchFamily="34" charset="-122"/>
                <a:cs typeface="Arial" pitchFamily="34" charset="-120"/>
              </a:rPr>
              <a:t>Success</a:t>
            </a:r>
            <a:r>
              <a:rPr lang="en-US" sz="675" dirty="0">
                <a:solidFill>
                  <a:srgbClr val="6B7280"/>
                </a:solidFill>
                <a:latin typeface="Arial" pitchFamily="34" charset="0"/>
                <a:ea typeface="Arial" pitchFamily="34" charset="-122"/>
                <a:cs typeface="Arial" pitchFamily="34" charset="-120"/>
              </a:rPr>
              <a:t> - How we'll know it works</a:t>
            </a:r>
            <a:endParaRPr lang="en-US" sz="675" dirty="0"/>
          </a:p>
          <a:p>
            <a:pPr marL="0" indent="0" algn="l">
              <a:lnSpc>
                <a:spcPts val="1080"/>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b="1" dirty="0">
                <a:solidFill>
                  <a:srgbClr val="1A1F2E"/>
                </a:solidFill>
                <a:latin typeface="Arial" pitchFamily="34" charset="0"/>
                <a:ea typeface="Arial" pitchFamily="34" charset="-122"/>
                <a:cs typeface="Arial" pitchFamily="34" charset="-120"/>
              </a:rPr>
              <a:t>Dependencies</a:t>
            </a:r>
            <a:r>
              <a:rPr lang="en-US" sz="675" dirty="0">
                <a:solidFill>
                  <a:srgbClr val="6B7280"/>
                </a:solidFill>
                <a:latin typeface="Arial" pitchFamily="34" charset="0"/>
                <a:ea typeface="Arial" pitchFamily="34" charset="-122"/>
                <a:cs typeface="Arial" pitchFamily="34" charset="-120"/>
              </a:rPr>
              <a:t> - What it needs</a:t>
            </a:r>
            <a:endParaRPr lang="en-US" sz="675" dirty="0"/>
          </a:p>
          <a:p>
            <a:pPr marL="0" indent="0" algn="l">
              <a:lnSpc>
                <a:spcPts val="1080"/>
              </a:lnSpc>
              <a:buNone/>
            </a:pPr>
            <a:r>
              <a:rPr lang="en-US" sz="675" dirty="0">
                <a:solidFill>
                  <a:srgbClr val="6B7280"/>
                </a:solidFill>
                <a:latin typeface="Arial" pitchFamily="34" charset="0"/>
                <a:ea typeface="Arial" pitchFamily="34" charset="-122"/>
                <a:cs typeface="Arial" pitchFamily="34" charset="-120"/>
              </a:rPr>
              <a:t> </a:t>
            </a:r>
            <a:endParaRPr lang="en-US" sz="675" dirty="0"/>
          </a:p>
          <a:p>
            <a:pPr marL="0" indent="0" algn="l">
              <a:lnSpc>
                <a:spcPts val="1080"/>
              </a:lnSpc>
              <a:buNone/>
            </a:pPr>
            <a:r>
              <a:rPr lang="en-US" sz="675" b="1" dirty="0">
                <a:solidFill>
                  <a:srgbClr val="1A1F2E"/>
                </a:solidFill>
                <a:latin typeface="Arial" pitchFamily="34" charset="0"/>
                <a:ea typeface="Arial" pitchFamily="34" charset="-122"/>
                <a:cs typeface="Arial" pitchFamily="34" charset="-120"/>
              </a:rPr>
              <a:t>Priority</a:t>
            </a:r>
            <a:r>
              <a:rPr lang="en-US" sz="675" dirty="0">
                <a:solidFill>
                  <a:srgbClr val="6B7280"/>
                </a:solidFill>
                <a:latin typeface="Arial" pitchFamily="34" charset="0"/>
                <a:ea typeface="Arial" pitchFamily="34" charset="-122"/>
                <a:cs typeface="Arial" pitchFamily="34" charset="-120"/>
              </a:rPr>
              <a:t> - Order of building</a:t>
            </a:r>
            <a:endParaRPr lang="en-US" sz="675" dirty="0"/>
          </a:p>
        </p:txBody>
      </p:sp>
      <p:sp>
        <p:nvSpPr>
          <p:cNvPr id="21" name="Text 19"/>
          <p:cNvSpPr/>
          <p:nvPr/>
        </p:nvSpPr>
        <p:spPr>
          <a:xfrm>
            <a:off x="3876824" y="2157413"/>
            <a:ext cx="4962376" cy="700980"/>
          </a:xfrm>
          <a:prstGeom prst="rect">
            <a:avLst/>
          </a:prstGeom>
          <a:solidFill>
            <a:srgbClr val="1A1F2E"/>
          </a:solidFill>
          <a:ln/>
        </p:spPr>
        <p:txBody>
          <a:bodyPr wrap="square" rtlCol="0" anchor="ctr"/>
          <a:lstStyle/>
          <a:p>
            <a:pPr marL="0" indent="0">
              <a:buNone/>
            </a:pPr>
            <a:endParaRPr lang="en-US" dirty="0"/>
          </a:p>
        </p:txBody>
      </p:sp>
      <p:sp>
        <p:nvSpPr>
          <p:cNvPr id="22" name="Text 20"/>
          <p:cNvSpPr/>
          <p:nvPr/>
        </p:nvSpPr>
        <p:spPr>
          <a:xfrm>
            <a:off x="4010174" y="2290763"/>
            <a:ext cx="4789590" cy="119955"/>
          </a:xfrm>
          <a:prstGeom prst="rect">
            <a:avLst/>
          </a:prstGeom>
          <a:noFill/>
          <a:ln/>
        </p:spPr>
        <p:txBody>
          <a:bodyPr wrap="square" lIns="0" tIns="0" rIns="0" bIns="0" rtlCol="0" anchor="t"/>
          <a:lstStyle/>
          <a:p>
            <a:pPr marL="0" indent="0" algn="l">
              <a:lnSpc>
                <a:spcPts val="945"/>
              </a:lnSpc>
              <a:spcAft>
                <a:spcPts val="450"/>
              </a:spcAft>
              <a:buNone/>
            </a:pPr>
            <a:r>
              <a:rPr lang="en-US" sz="675" dirty="0">
                <a:solidFill>
                  <a:srgbClr val="C9A227"/>
                </a:solidFill>
                <a:latin typeface="Arial" pitchFamily="34" charset="0"/>
                <a:ea typeface="Arial" pitchFamily="34" charset="-122"/>
                <a:cs typeface="Arial" pitchFamily="34" charset="-120"/>
              </a:rPr>
              <a:t>EXAMPLE VOICE PROMPT</a:t>
            </a:r>
            <a:endParaRPr lang="en-US" sz="675" dirty="0"/>
          </a:p>
        </p:txBody>
      </p:sp>
      <p:sp>
        <p:nvSpPr>
          <p:cNvPr id="23" name="Text 21"/>
          <p:cNvSpPr/>
          <p:nvPr/>
        </p:nvSpPr>
        <p:spPr>
          <a:xfrm>
            <a:off x="4010174" y="2467868"/>
            <a:ext cx="4789590" cy="257175"/>
          </a:xfrm>
          <a:prstGeom prst="rect">
            <a:avLst/>
          </a:prstGeom>
          <a:noFill/>
          <a:ln/>
        </p:spPr>
        <p:txBody>
          <a:bodyPr wrap="square" lIns="0" tIns="0" rIns="0" bIns="0" rtlCol="0" anchor="t"/>
          <a:lstStyle/>
          <a:p>
            <a:pPr marL="0" indent="0" algn="l">
              <a:lnSpc>
                <a:spcPts val="1013"/>
              </a:lnSpc>
              <a:buNone/>
            </a:pPr>
            <a:r>
              <a:rPr lang="en-US" sz="675" dirty="0">
                <a:solidFill>
                  <a:srgbClr val="FFFFFF">
                    <a:alpha val="80000"/>
                  </a:srgbClr>
                </a:solidFill>
                <a:latin typeface="Arial" pitchFamily="34" charset="0"/>
                <a:ea typeface="Arial" pitchFamily="34" charset="-122"/>
                <a:cs typeface="Arial" pitchFamily="34" charset="-120"/>
              </a:rPr>
              <a:t>"Based on our brainstorming and research, let's define what we're actually building. List out the key deliverables, what each one needs to accomplish, and how we should sequence building them."</a:t>
            </a:r>
            <a:endParaRPr lang="en-US" sz="675" dirty="0"/>
          </a:p>
        </p:txBody>
      </p:sp>
      <p:sp>
        <p:nvSpPr>
          <p:cNvPr id="24" name="Text 22"/>
          <p:cNvSpPr/>
          <p:nvPr/>
        </p:nvSpPr>
        <p:spPr>
          <a:xfrm>
            <a:off x="3876824" y="3125093"/>
            <a:ext cx="2433638" cy="599777"/>
          </a:xfrm>
          <a:prstGeom prst="rect">
            <a:avLst/>
          </a:prstGeom>
          <a:solidFill>
            <a:srgbClr val="DCFCE7"/>
          </a:solidFill>
          <a:ln/>
        </p:spPr>
        <p:txBody>
          <a:bodyPr wrap="square" rtlCol="0" anchor="ctr"/>
          <a:lstStyle/>
          <a:p>
            <a:pPr marL="0" indent="0">
              <a:buNone/>
            </a:pPr>
            <a:endParaRPr lang="en-US" dirty="0"/>
          </a:p>
        </p:txBody>
      </p:sp>
      <p:sp>
        <p:nvSpPr>
          <p:cNvPr id="25" name="Shape 23"/>
          <p:cNvSpPr/>
          <p:nvPr/>
        </p:nvSpPr>
        <p:spPr>
          <a:xfrm>
            <a:off x="3891111" y="3125093"/>
            <a:ext cx="0" cy="599777"/>
          </a:xfrm>
          <a:prstGeom prst="line">
            <a:avLst/>
          </a:prstGeom>
          <a:noFill/>
          <a:ln w="28575">
            <a:solidFill>
              <a:srgbClr val="059669"/>
            </a:solidFill>
            <a:prstDash val="solid"/>
          </a:ln>
        </p:spPr>
        <p:txBody>
          <a:bodyPr/>
          <a:lstStyle/>
          <a:p>
            <a:endParaRPr lang="en-US"/>
          </a:p>
        </p:txBody>
      </p:sp>
      <p:sp>
        <p:nvSpPr>
          <p:cNvPr id="26" name="Text 24"/>
          <p:cNvSpPr/>
          <p:nvPr/>
        </p:nvSpPr>
        <p:spPr>
          <a:xfrm>
            <a:off x="4019699" y="3239393"/>
            <a:ext cx="2219992"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KEEP IT LOOSE</a:t>
            </a:r>
            <a:endParaRPr lang="en-US" sz="675" dirty="0"/>
          </a:p>
        </p:txBody>
      </p:sp>
      <p:sp>
        <p:nvSpPr>
          <p:cNvPr id="27" name="Text 25"/>
          <p:cNvSpPr/>
          <p:nvPr/>
        </p:nvSpPr>
        <p:spPr>
          <a:xfrm>
            <a:off x="4019699" y="3397448"/>
            <a:ext cx="2219992" cy="213122"/>
          </a:xfrm>
          <a:prstGeom prst="rect">
            <a:avLst/>
          </a:prstGeom>
          <a:noFill/>
          <a:ln/>
        </p:spPr>
        <p:txBody>
          <a:bodyPr wrap="square" lIns="0" tIns="0" rIns="0" bIns="0" rtlCol="0" anchor="t"/>
          <a:lstStyle/>
          <a:p>
            <a:pPr marL="0" indent="0" algn="l">
              <a:lnSpc>
                <a:spcPts val="840"/>
              </a:lnSpc>
              <a:buNone/>
            </a:pPr>
            <a:r>
              <a:rPr lang="en-US" sz="600" dirty="0">
                <a:solidFill>
                  <a:srgbClr val="166534"/>
                </a:solidFill>
                <a:latin typeface="Arial" pitchFamily="34" charset="0"/>
                <a:ea typeface="Arial" pitchFamily="34" charset="-122"/>
                <a:cs typeface="Arial" pitchFamily="34" charset="-120"/>
              </a:rPr>
              <a:t>This isn't the final spec. You'll refine during prototyping. Focus on direction, not details.</a:t>
            </a:r>
            <a:endParaRPr lang="en-US" sz="600" dirty="0"/>
          </a:p>
        </p:txBody>
      </p:sp>
      <p:sp>
        <p:nvSpPr>
          <p:cNvPr id="28" name="Text 26"/>
          <p:cNvSpPr/>
          <p:nvPr/>
        </p:nvSpPr>
        <p:spPr>
          <a:xfrm>
            <a:off x="6405711" y="3125093"/>
            <a:ext cx="2433638" cy="599777"/>
          </a:xfrm>
          <a:prstGeom prst="rect">
            <a:avLst/>
          </a:prstGeom>
          <a:solidFill>
            <a:srgbClr val="DBEAFE"/>
          </a:solidFill>
          <a:ln/>
        </p:spPr>
        <p:txBody>
          <a:bodyPr wrap="square" rtlCol="0" anchor="ctr"/>
          <a:lstStyle/>
          <a:p>
            <a:pPr marL="0" indent="0">
              <a:buNone/>
            </a:pPr>
            <a:endParaRPr lang="en-US" dirty="0"/>
          </a:p>
        </p:txBody>
      </p:sp>
      <p:sp>
        <p:nvSpPr>
          <p:cNvPr id="29" name="Shape 27"/>
          <p:cNvSpPr/>
          <p:nvPr/>
        </p:nvSpPr>
        <p:spPr>
          <a:xfrm>
            <a:off x="6419999" y="3125093"/>
            <a:ext cx="0" cy="599777"/>
          </a:xfrm>
          <a:prstGeom prst="line">
            <a:avLst/>
          </a:prstGeom>
          <a:noFill/>
          <a:ln w="28575">
            <a:solidFill>
              <a:srgbClr val="3B82F6"/>
            </a:solidFill>
            <a:prstDash val="solid"/>
          </a:ln>
        </p:spPr>
        <p:txBody>
          <a:bodyPr/>
          <a:lstStyle/>
          <a:p>
            <a:endParaRPr lang="en-US"/>
          </a:p>
        </p:txBody>
      </p:sp>
      <p:sp>
        <p:nvSpPr>
          <p:cNvPr id="30" name="Text 28"/>
          <p:cNvSpPr/>
          <p:nvPr/>
        </p:nvSpPr>
        <p:spPr>
          <a:xfrm>
            <a:off x="6548586" y="3239393"/>
            <a:ext cx="2219992"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SAVE IT</a:t>
            </a:r>
            <a:endParaRPr lang="en-US" sz="675" dirty="0"/>
          </a:p>
        </p:txBody>
      </p:sp>
      <p:sp>
        <p:nvSpPr>
          <p:cNvPr id="31" name="Text 29"/>
          <p:cNvSpPr/>
          <p:nvPr/>
        </p:nvSpPr>
        <p:spPr>
          <a:xfrm>
            <a:off x="6548586" y="3397448"/>
            <a:ext cx="2219992" cy="213122"/>
          </a:xfrm>
          <a:prstGeom prst="rect">
            <a:avLst/>
          </a:prstGeom>
          <a:noFill/>
          <a:ln/>
        </p:spPr>
        <p:txBody>
          <a:bodyPr wrap="square" lIns="0" tIns="0" rIns="0" bIns="0" rtlCol="0" anchor="t"/>
          <a:lstStyle/>
          <a:p>
            <a:pPr marL="0" indent="0" algn="l">
              <a:lnSpc>
                <a:spcPts val="840"/>
              </a:lnSpc>
              <a:buNone/>
            </a:pPr>
            <a:r>
              <a:rPr lang="en-US" sz="600" dirty="0">
                <a:solidFill>
                  <a:srgbClr val="1E40AF"/>
                </a:solidFill>
                <a:latin typeface="Arial" pitchFamily="34" charset="0"/>
                <a:ea typeface="Arial" pitchFamily="34" charset="-122"/>
                <a:cs typeface="Arial" pitchFamily="34" charset="-120"/>
              </a:rPr>
              <a:t>docs/planning/deliverables.md becomes input for later phases and PRD creation.</a:t>
            </a:r>
            <a:endParaRPr lang="en-US" sz="600" dirty="0"/>
          </a:p>
        </p:txBody>
      </p:sp>
      <p:sp>
        <p:nvSpPr>
          <p:cNvPr id="32" name="Text 30"/>
          <p:cNvSpPr/>
          <p:nvPr/>
        </p:nvSpPr>
        <p:spPr>
          <a:xfrm>
            <a:off x="3876824" y="3991570"/>
            <a:ext cx="4962376" cy="639961"/>
          </a:xfrm>
          <a:prstGeom prst="rect">
            <a:avLst/>
          </a:prstGeom>
          <a:solidFill>
            <a:srgbClr val="FEF3C7"/>
          </a:solidFill>
          <a:ln/>
        </p:spPr>
        <p:txBody>
          <a:bodyPr wrap="square" rtlCol="0" anchor="ctr"/>
          <a:lstStyle/>
          <a:p>
            <a:pPr marL="0" indent="0">
              <a:buNone/>
            </a:pPr>
            <a:endParaRPr lang="en-US" dirty="0"/>
          </a:p>
        </p:txBody>
      </p:sp>
      <p:sp>
        <p:nvSpPr>
          <p:cNvPr id="33" name="Shape 31"/>
          <p:cNvSpPr/>
          <p:nvPr/>
        </p:nvSpPr>
        <p:spPr>
          <a:xfrm>
            <a:off x="3891111" y="3991570"/>
            <a:ext cx="0" cy="639961"/>
          </a:xfrm>
          <a:prstGeom prst="line">
            <a:avLst/>
          </a:prstGeom>
          <a:noFill/>
          <a:ln w="28575">
            <a:solidFill>
              <a:srgbClr val="F59E0B"/>
            </a:solidFill>
            <a:prstDash val="solid"/>
          </a:ln>
        </p:spPr>
        <p:txBody>
          <a:bodyPr/>
          <a:lstStyle/>
          <a:p>
            <a:endParaRPr lang="en-US"/>
          </a:p>
        </p:txBody>
      </p:sp>
      <p:sp>
        <p:nvSpPr>
          <p:cNvPr id="34" name="Text 32"/>
          <p:cNvSpPr/>
          <p:nvPr/>
        </p:nvSpPr>
        <p:spPr>
          <a:xfrm>
            <a:off x="4019699" y="4105870"/>
            <a:ext cx="4799305"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92400E"/>
                </a:solidFill>
                <a:latin typeface="Arial" pitchFamily="34" charset="0"/>
                <a:ea typeface="Arial" pitchFamily="34" charset="-122"/>
                <a:cs typeface="Arial" pitchFamily="34" charset="-120"/>
              </a:rPr>
              <a:t>AVOID OVER-PLANNING</a:t>
            </a:r>
            <a:endParaRPr lang="en-US" sz="750" dirty="0"/>
          </a:p>
        </p:txBody>
      </p:sp>
      <p:sp>
        <p:nvSpPr>
          <p:cNvPr id="35" name="Text 33"/>
          <p:cNvSpPr/>
          <p:nvPr/>
        </p:nvSpPr>
        <p:spPr>
          <a:xfrm>
            <a:off x="4019699" y="4277320"/>
            <a:ext cx="4799305" cy="239911"/>
          </a:xfrm>
          <a:prstGeom prst="rect">
            <a:avLst/>
          </a:prstGeom>
          <a:noFill/>
          <a:ln/>
        </p:spPr>
        <p:txBody>
          <a:bodyPr wrap="square" lIns="0" tIns="0" rIns="0" bIns="0" rtlCol="0" anchor="t"/>
          <a:lstStyle/>
          <a:p>
            <a:pPr marL="0" indent="0" algn="l">
              <a:lnSpc>
                <a:spcPts val="945"/>
              </a:lnSpc>
              <a:buNone/>
            </a:pPr>
            <a:r>
              <a:rPr lang="en-US" sz="675" dirty="0">
                <a:solidFill>
                  <a:srgbClr val="92400E"/>
                </a:solidFill>
                <a:latin typeface="Arial" pitchFamily="34" charset="0"/>
                <a:ea typeface="Arial" pitchFamily="34" charset="-122"/>
                <a:cs typeface="Arial" pitchFamily="34" charset="-120"/>
              </a:rPr>
              <a:t>Don't try to spec everything now. The next phase (MVP Prototype) is specifically for experimenting and learning. Planning is a compass, not a map.</a:t>
            </a:r>
            <a:endParaRPr lang="en-US" sz="6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41962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304800" y="287834"/>
            <a:ext cx="981373" cy="234255"/>
          </a:xfrm>
          <a:prstGeom prst="rect">
            <a:avLst/>
          </a:prstGeom>
          <a:solidFill>
            <a:srgbClr val="7C3AED"/>
          </a:solidFill>
          <a:ln/>
        </p:spPr>
        <p:txBody>
          <a:bodyPr wrap="square" rtlCol="0" anchor="ctr"/>
          <a:lstStyle/>
          <a:p>
            <a:pPr marL="0" indent="0">
              <a:buNone/>
            </a:pPr>
            <a:endParaRPr lang="en-US" dirty="0"/>
          </a:p>
        </p:txBody>
      </p:sp>
      <p:sp>
        <p:nvSpPr>
          <p:cNvPr id="4" name="Text 2"/>
          <p:cNvSpPr/>
          <p:nvPr/>
        </p:nvSpPr>
        <p:spPr>
          <a:xfrm>
            <a:off x="419100" y="344984"/>
            <a:ext cx="767828" cy="119955"/>
          </a:xfrm>
          <a:prstGeom prst="rect">
            <a:avLst/>
          </a:prstGeom>
          <a:noFill/>
          <a:ln/>
        </p:spPr>
        <p:txBody>
          <a:bodyPr wrap="square" lIns="0" tIns="0" rIns="0" bIns="0" rtlCol="0" anchor="t"/>
          <a:lstStyle/>
          <a:p>
            <a:pPr marL="0" indent="0" algn="l">
              <a:lnSpc>
                <a:spcPts val="945"/>
              </a:lnSpc>
              <a:buNone/>
            </a:pPr>
            <a:r>
              <a:rPr lang="en-US" sz="675" b="1" dirty="0">
                <a:solidFill>
                  <a:srgbClr val="FFFFFF"/>
                </a:solidFill>
                <a:latin typeface="Arial" pitchFamily="34" charset="0"/>
                <a:ea typeface="Arial" pitchFamily="34" charset="-122"/>
                <a:cs typeface="Arial" pitchFamily="34" charset="-120"/>
              </a:rPr>
              <a:t>PHASE 5 OF 10</a:t>
            </a:r>
            <a:endParaRPr lang="en-US" sz="675" dirty="0"/>
          </a:p>
        </p:txBody>
      </p:sp>
      <p:sp>
        <p:nvSpPr>
          <p:cNvPr id="5" name="Text 3"/>
          <p:cNvSpPr/>
          <p:nvPr/>
        </p:nvSpPr>
        <p:spPr>
          <a:xfrm>
            <a:off x="304800" y="788789"/>
            <a:ext cx="1845945" cy="639961"/>
          </a:xfrm>
          <a:prstGeom prst="rect">
            <a:avLst/>
          </a:prstGeom>
          <a:noFill/>
          <a:ln/>
        </p:spPr>
        <p:txBody>
          <a:bodyPr wrap="square" lIns="0" tIns="0" rIns="0" bIns="0" rtlCol="0" anchor="t"/>
          <a:lstStyle/>
          <a:p>
            <a:pPr marL="0" indent="0" algn="l">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MVP Prototype</a:t>
            </a:r>
            <a:endParaRPr lang="en-US" sz="2100" dirty="0"/>
          </a:p>
          <a:p>
            <a:pPr marL="0" indent="0" algn="l">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Round</a:t>
            </a:r>
            <a:endParaRPr lang="en-US" sz="2100" dirty="0"/>
          </a:p>
        </p:txBody>
      </p:sp>
      <p:sp>
        <p:nvSpPr>
          <p:cNvPr id="6" name="Text 4"/>
          <p:cNvSpPr/>
          <p:nvPr/>
        </p:nvSpPr>
        <p:spPr>
          <a:xfrm>
            <a:off x="304800" y="2000250"/>
            <a:ext cx="2810024" cy="784771"/>
          </a:xfrm>
          <a:prstGeom prst="rect">
            <a:avLst/>
          </a:prstGeom>
          <a:solidFill>
            <a:srgbClr val="7C3AED">
              <a:alpha val="15000"/>
            </a:srgbClr>
          </a:solidFill>
          <a:ln/>
        </p:spPr>
        <p:txBody>
          <a:bodyPr wrap="square" rtlCol="0" anchor="ctr"/>
          <a:lstStyle/>
          <a:p>
            <a:pPr marL="0" indent="0">
              <a:buNone/>
            </a:pPr>
            <a:endParaRPr lang="en-US" dirty="0"/>
          </a:p>
        </p:txBody>
      </p:sp>
      <p:sp>
        <p:nvSpPr>
          <p:cNvPr id="7" name="Shape 5"/>
          <p:cNvSpPr/>
          <p:nvPr/>
        </p:nvSpPr>
        <p:spPr>
          <a:xfrm>
            <a:off x="319088" y="2000250"/>
            <a:ext cx="0" cy="784771"/>
          </a:xfrm>
          <a:prstGeom prst="line">
            <a:avLst/>
          </a:prstGeom>
          <a:noFill/>
          <a:ln w="28575">
            <a:solidFill>
              <a:srgbClr val="7C3AED"/>
            </a:solidFill>
            <a:prstDash val="solid"/>
          </a:ln>
        </p:spPr>
        <p:txBody>
          <a:bodyPr/>
          <a:lstStyle/>
          <a:p>
            <a:endParaRPr lang="en-US"/>
          </a:p>
        </p:txBody>
      </p:sp>
      <p:sp>
        <p:nvSpPr>
          <p:cNvPr id="8" name="Text 6"/>
          <p:cNvSpPr/>
          <p:nvPr/>
        </p:nvSpPr>
        <p:spPr>
          <a:xfrm>
            <a:off x="466725" y="2133600"/>
            <a:ext cx="2565044"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A78BFA"/>
                </a:solidFill>
                <a:latin typeface="Arial" pitchFamily="34" charset="0"/>
                <a:ea typeface="Arial" pitchFamily="34" charset="-122"/>
                <a:cs typeface="Arial" pitchFamily="34" charset="-120"/>
              </a:rPr>
              <a:t>THE OBJECTIVE</a:t>
            </a:r>
            <a:endParaRPr lang="en-US" sz="825" dirty="0"/>
          </a:p>
        </p:txBody>
      </p:sp>
      <p:sp>
        <p:nvSpPr>
          <p:cNvPr id="9" name="Text 7"/>
          <p:cNvSpPr/>
          <p:nvPr/>
        </p:nvSpPr>
        <p:spPr>
          <a:xfrm>
            <a:off x="466725" y="2337346"/>
            <a:ext cx="2565044" cy="314325"/>
          </a:xfrm>
          <a:prstGeom prst="rect">
            <a:avLst/>
          </a:prstGeom>
          <a:noFill/>
          <a:ln/>
        </p:spPr>
        <p:txBody>
          <a:bodyPr wrap="square" lIns="0" tIns="0" rIns="0" bIns="0" rtlCol="0" anchor="t"/>
          <a:lstStyle/>
          <a:p>
            <a:pPr marL="0" indent="0" algn="l">
              <a:lnSpc>
                <a:spcPts val="1238"/>
              </a:lnSpc>
              <a:buNone/>
            </a:pPr>
            <a:r>
              <a:rPr lang="en-US" sz="825" dirty="0">
                <a:solidFill>
                  <a:srgbClr val="FFFFFF">
                    <a:alpha val="80000"/>
                  </a:srgbClr>
                </a:solidFill>
                <a:latin typeface="Arial" pitchFamily="34" charset="0"/>
                <a:ea typeface="Arial" pitchFamily="34" charset="-122"/>
                <a:cs typeface="Arial" pitchFamily="34" charset="-120"/>
              </a:rPr>
              <a:t>Build fast, break things, learn. First creation cycle focuses on experimentation, not perfection.</a:t>
            </a:r>
            <a:endParaRPr lang="en-US" sz="825" dirty="0"/>
          </a:p>
        </p:txBody>
      </p:sp>
      <p:sp>
        <p:nvSpPr>
          <p:cNvPr id="10" name="Text 8"/>
          <p:cNvSpPr/>
          <p:nvPr/>
        </p:nvSpPr>
        <p:spPr>
          <a:xfrm>
            <a:off x="304800" y="3089821"/>
            <a:ext cx="2810024" cy="1099096"/>
          </a:xfrm>
          <a:prstGeom prst="rect">
            <a:avLst/>
          </a:prstGeom>
          <a:solidFill>
            <a:srgbClr val="FFFFFF">
              <a:alpha val="5000"/>
            </a:srgbClr>
          </a:solidFill>
          <a:ln/>
        </p:spPr>
        <p:txBody>
          <a:bodyPr wrap="square" rtlCol="0" anchor="ctr"/>
          <a:lstStyle/>
          <a:p>
            <a:pPr marL="0" indent="0">
              <a:buNone/>
            </a:pPr>
            <a:endParaRPr lang="en-US" dirty="0"/>
          </a:p>
        </p:txBody>
      </p:sp>
      <p:sp>
        <p:nvSpPr>
          <p:cNvPr id="11" name="Text 9"/>
          <p:cNvSpPr/>
          <p:nvPr/>
        </p:nvSpPr>
        <p:spPr>
          <a:xfrm>
            <a:off x="438150" y="3223171"/>
            <a:ext cx="2594190"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MVP FOCUS AREAS</a:t>
            </a:r>
            <a:endParaRPr lang="en-US" sz="825" dirty="0"/>
          </a:p>
        </p:txBody>
      </p:sp>
      <p:sp>
        <p:nvSpPr>
          <p:cNvPr id="12" name="Text 10"/>
          <p:cNvSpPr/>
          <p:nvPr/>
        </p:nvSpPr>
        <p:spPr>
          <a:xfrm>
            <a:off x="438150" y="3445966"/>
            <a:ext cx="2594190" cy="609600"/>
          </a:xfrm>
          <a:prstGeom prst="rect">
            <a:avLst/>
          </a:prstGeom>
          <a:noFill/>
          <a:ln/>
        </p:spPr>
        <p:txBody>
          <a:bodyPr wrap="square" lIns="0" tIns="0" rIns="0" bIns="0" rtlCol="0" anchor="t"/>
          <a:lstStyle/>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Core functionality first</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UI/UX experimentation</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Bug discovery &amp; fixes</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Design iteration</a:t>
            </a:r>
            <a:endParaRPr lang="en-US" sz="750" dirty="0"/>
          </a:p>
        </p:txBody>
      </p:sp>
      <p:sp>
        <p:nvSpPr>
          <p:cNvPr id="13" name="Text 11"/>
          <p:cNvSpPr/>
          <p:nvPr/>
        </p:nvSpPr>
        <p:spPr>
          <a:xfrm>
            <a:off x="304800" y="4493716"/>
            <a:ext cx="2810024" cy="361950"/>
          </a:xfrm>
          <a:prstGeom prst="rect">
            <a:avLst/>
          </a:prstGeom>
          <a:solidFill>
            <a:srgbClr val="C9A227"/>
          </a:solidFill>
          <a:ln/>
        </p:spPr>
        <p:txBody>
          <a:bodyPr wrap="square" rtlCol="0" anchor="ctr"/>
          <a:lstStyle/>
          <a:p>
            <a:pPr marL="0" indent="0">
              <a:buNone/>
            </a:pPr>
            <a:endParaRPr lang="en-US" dirty="0"/>
          </a:p>
        </p:txBody>
      </p:sp>
      <p:sp>
        <p:nvSpPr>
          <p:cNvPr id="14" name="Text 12"/>
          <p:cNvSpPr/>
          <p:nvPr/>
        </p:nvSpPr>
        <p:spPr>
          <a:xfrm>
            <a:off x="393286" y="4608016"/>
            <a:ext cx="2633052" cy="133350"/>
          </a:xfrm>
          <a:prstGeom prst="rect">
            <a:avLst/>
          </a:prstGeom>
          <a:noFill/>
          <a:ln/>
        </p:spPr>
        <p:txBody>
          <a:bodyPr wrap="square" lIns="0" tIns="0" rIns="0" bIns="0" rtlCol="0" anchor="t"/>
          <a:lstStyle/>
          <a:p>
            <a:pPr marL="0" indent="0" algn="ctr">
              <a:lnSpc>
                <a:spcPts val="1050"/>
              </a:lnSpc>
              <a:buNone/>
            </a:pPr>
            <a:r>
              <a:rPr lang="en-US" sz="750" b="1" dirty="0">
                <a:solidFill>
                  <a:srgbClr val="1A1F2E"/>
                </a:solidFill>
                <a:latin typeface="Arial" pitchFamily="34" charset="0"/>
                <a:ea typeface="Arial" pitchFamily="34" charset="-122"/>
                <a:cs typeface="Arial" pitchFamily="34" charset="-120"/>
              </a:rPr>
              <a:t>Expect to throw away 50% of this code</a:t>
            </a:r>
            <a:endParaRPr lang="en-US" sz="750" dirty="0"/>
          </a:p>
        </p:txBody>
      </p:sp>
      <p:sp>
        <p:nvSpPr>
          <p:cNvPr id="15" name="Text 13"/>
          <p:cNvSpPr/>
          <p:nvPr/>
        </p:nvSpPr>
        <p:spPr>
          <a:xfrm>
            <a:off x="3572024" y="0"/>
            <a:ext cx="5571976" cy="5143500"/>
          </a:xfrm>
          <a:prstGeom prst="rect">
            <a:avLst/>
          </a:prstGeom>
          <a:solidFill>
            <a:srgbClr val="F7F8FA"/>
          </a:solidFill>
          <a:ln/>
        </p:spPr>
        <p:txBody>
          <a:bodyPr wrap="square" rtlCol="0" anchor="ctr"/>
          <a:lstStyle/>
          <a:p>
            <a:pPr marL="0" indent="0">
              <a:buNone/>
            </a:pPr>
            <a:endParaRPr lang="en-US" dirty="0"/>
          </a:p>
        </p:txBody>
      </p:sp>
      <p:sp>
        <p:nvSpPr>
          <p:cNvPr id="16" name="Text 14"/>
          <p:cNvSpPr/>
          <p:nvPr/>
        </p:nvSpPr>
        <p:spPr>
          <a:xfrm>
            <a:off x="3876824" y="649039"/>
            <a:ext cx="5061624" cy="173236"/>
          </a:xfrm>
          <a:prstGeom prst="rect">
            <a:avLst/>
          </a:prstGeom>
          <a:noFill/>
          <a:ln/>
        </p:spPr>
        <p:txBody>
          <a:bodyPr wrap="square" lIns="0" tIns="0" rIns="0" bIns="0" rtlCol="0" anchor="t"/>
          <a:lstStyle/>
          <a:p>
            <a:pPr marL="0" indent="0" algn="l">
              <a:lnSpc>
                <a:spcPts val="1365"/>
              </a:lnSpc>
              <a:spcAft>
                <a:spcPts val="1050"/>
              </a:spcAft>
              <a:buNone/>
            </a:pPr>
            <a:r>
              <a:rPr lang="en-US" sz="975" b="1" dirty="0">
                <a:solidFill>
                  <a:srgbClr val="1A1F2E"/>
                </a:solidFill>
                <a:latin typeface="Arial" pitchFamily="34" charset="0"/>
                <a:ea typeface="Arial" pitchFamily="34" charset="-122"/>
                <a:cs typeface="Arial" pitchFamily="34" charset="-120"/>
              </a:rPr>
              <a:t>THE PROTOTYPING MINDSET</a:t>
            </a:r>
            <a:endParaRPr lang="en-US" sz="975" dirty="0"/>
          </a:p>
        </p:txBody>
      </p:sp>
      <p:sp>
        <p:nvSpPr>
          <p:cNvPr id="17" name="Text 15"/>
          <p:cNvSpPr/>
          <p:nvPr/>
        </p:nvSpPr>
        <p:spPr>
          <a:xfrm>
            <a:off x="3876824" y="1108025"/>
            <a:ext cx="1590675" cy="765572"/>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8" name="Text 16"/>
          <p:cNvSpPr/>
          <p:nvPr/>
        </p:nvSpPr>
        <p:spPr>
          <a:xfrm>
            <a:off x="4000649" y="1231850"/>
            <a:ext cx="1369886" cy="239911"/>
          </a:xfrm>
          <a:prstGeom prst="rect">
            <a:avLst/>
          </a:prstGeom>
          <a:noFill/>
          <a:ln/>
        </p:spPr>
        <p:txBody>
          <a:bodyPr wrap="square" lIns="0" tIns="0" rIns="0" bIns="0" rtlCol="0" anchor="t"/>
          <a:lstStyle/>
          <a:p>
            <a:pPr marL="0" indent="0" algn="l">
              <a:lnSpc>
                <a:spcPts val="1890"/>
              </a:lnSpc>
              <a:spcAft>
                <a:spcPts val="300"/>
              </a:spcAft>
              <a:buNone/>
            </a:pPr>
            <a:r>
              <a:rPr lang="en-US" sz="1350" b="1" dirty="0">
                <a:solidFill>
                  <a:srgbClr val="7C3AED"/>
                </a:solidFill>
                <a:latin typeface="Arial" pitchFamily="34" charset="0"/>
                <a:ea typeface="Arial" pitchFamily="34" charset="-122"/>
                <a:cs typeface="Arial" pitchFamily="34" charset="-120"/>
              </a:rPr>
              <a:t>Speed</a:t>
            </a:r>
            <a:endParaRPr lang="en-US" sz="1350" dirty="0"/>
          </a:p>
        </p:txBody>
      </p:sp>
      <p:sp>
        <p:nvSpPr>
          <p:cNvPr id="19" name="Text 17"/>
          <p:cNvSpPr/>
          <p:nvPr/>
        </p:nvSpPr>
        <p:spPr>
          <a:xfrm>
            <a:off x="4000649" y="1509861"/>
            <a:ext cx="1369886" cy="239911"/>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Build quickly. Don't over-engineer. The goal is to see what works.</a:t>
            </a:r>
            <a:endParaRPr lang="en-US" sz="675" dirty="0"/>
          </a:p>
        </p:txBody>
      </p:sp>
      <p:sp>
        <p:nvSpPr>
          <p:cNvPr id="20" name="Text 18"/>
          <p:cNvSpPr/>
          <p:nvPr/>
        </p:nvSpPr>
        <p:spPr>
          <a:xfrm>
            <a:off x="5562749" y="1108025"/>
            <a:ext cx="1590675" cy="765572"/>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1" name="Text 19"/>
          <p:cNvSpPr/>
          <p:nvPr/>
        </p:nvSpPr>
        <p:spPr>
          <a:xfrm>
            <a:off x="5686574" y="1231850"/>
            <a:ext cx="1369886" cy="239911"/>
          </a:xfrm>
          <a:prstGeom prst="rect">
            <a:avLst/>
          </a:prstGeom>
          <a:noFill/>
          <a:ln/>
        </p:spPr>
        <p:txBody>
          <a:bodyPr wrap="square" lIns="0" tIns="0" rIns="0" bIns="0" rtlCol="0" anchor="t"/>
          <a:lstStyle/>
          <a:p>
            <a:pPr marL="0" indent="0" algn="l">
              <a:lnSpc>
                <a:spcPts val="1890"/>
              </a:lnSpc>
              <a:spcAft>
                <a:spcPts val="300"/>
              </a:spcAft>
              <a:buNone/>
            </a:pPr>
            <a:r>
              <a:rPr lang="en-US" sz="1350" b="1" dirty="0">
                <a:solidFill>
                  <a:srgbClr val="7C3AED"/>
                </a:solidFill>
                <a:latin typeface="Arial" pitchFamily="34" charset="0"/>
                <a:ea typeface="Arial" pitchFamily="34" charset="-122"/>
                <a:cs typeface="Arial" pitchFamily="34" charset="-120"/>
              </a:rPr>
              <a:t>Learn</a:t>
            </a:r>
            <a:endParaRPr lang="en-US" sz="1350" dirty="0"/>
          </a:p>
        </p:txBody>
      </p:sp>
      <p:sp>
        <p:nvSpPr>
          <p:cNvPr id="22" name="Text 20"/>
          <p:cNvSpPr/>
          <p:nvPr/>
        </p:nvSpPr>
        <p:spPr>
          <a:xfrm>
            <a:off x="5686574" y="1509861"/>
            <a:ext cx="1369886" cy="239911"/>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Each iteration teaches you something. Bugs are data points.</a:t>
            </a:r>
            <a:endParaRPr lang="en-US" sz="675" dirty="0"/>
          </a:p>
        </p:txBody>
      </p:sp>
      <p:sp>
        <p:nvSpPr>
          <p:cNvPr id="23" name="Text 21"/>
          <p:cNvSpPr/>
          <p:nvPr/>
        </p:nvSpPr>
        <p:spPr>
          <a:xfrm>
            <a:off x="7248674" y="1108025"/>
            <a:ext cx="1590675" cy="765572"/>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4" name="Text 22"/>
          <p:cNvSpPr/>
          <p:nvPr/>
        </p:nvSpPr>
        <p:spPr>
          <a:xfrm>
            <a:off x="7372499" y="1231850"/>
            <a:ext cx="1369886" cy="239911"/>
          </a:xfrm>
          <a:prstGeom prst="rect">
            <a:avLst/>
          </a:prstGeom>
          <a:noFill/>
          <a:ln/>
        </p:spPr>
        <p:txBody>
          <a:bodyPr wrap="square" lIns="0" tIns="0" rIns="0" bIns="0" rtlCol="0" anchor="t"/>
          <a:lstStyle/>
          <a:p>
            <a:pPr marL="0" indent="0" algn="l">
              <a:lnSpc>
                <a:spcPts val="1890"/>
              </a:lnSpc>
              <a:spcAft>
                <a:spcPts val="300"/>
              </a:spcAft>
              <a:buNone/>
            </a:pPr>
            <a:r>
              <a:rPr lang="en-US" sz="1350" b="1" dirty="0">
                <a:solidFill>
                  <a:srgbClr val="7C3AED"/>
                </a:solidFill>
                <a:latin typeface="Arial" pitchFamily="34" charset="0"/>
                <a:ea typeface="Arial" pitchFamily="34" charset="-122"/>
                <a:cs typeface="Arial" pitchFamily="34" charset="-120"/>
              </a:rPr>
              <a:t>Iterate</a:t>
            </a:r>
            <a:endParaRPr lang="en-US" sz="1350" dirty="0"/>
          </a:p>
        </p:txBody>
      </p:sp>
      <p:sp>
        <p:nvSpPr>
          <p:cNvPr id="25" name="Text 23"/>
          <p:cNvSpPr/>
          <p:nvPr/>
        </p:nvSpPr>
        <p:spPr>
          <a:xfrm>
            <a:off x="7372499" y="1509861"/>
            <a:ext cx="1369886" cy="239911"/>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Refine through cycles. Each version gets closer to the vision.</a:t>
            </a:r>
            <a:endParaRPr lang="en-US" sz="675" dirty="0"/>
          </a:p>
        </p:txBody>
      </p:sp>
      <p:sp>
        <p:nvSpPr>
          <p:cNvPr id="26" name="Text 24"/>
          <p:cNvSpPr/>
          <p:nvPr/>
        </p:nvSpPr>
        <p:spPr>
          <a:xfrm>
            <a:off x="3876824" y="2140297"/>
            <a:ext cx="4962376" cy="700980"/>
          </a:xfrm>
          <a:prstGeom prst="rect">
            <a:avLst/>
          </a:prstGeom>
          <a:solidFill>
            <a:srgbClr val="1A1F2E"/>
          </a:solidFill>
          <a:ln/>
        </p:spPr>
        <p:txBody>
          <a:bodyPr wrap="square" rtlCol="0" anchor="ctr"/>
          <a:lstStyle/>
          <a:p>
            <a:pPr marL="0" indent="0">
              <a:buNone/>
            </a:pPr>
            <a:endParaRPr lang="en-US" dirty="0"/>
          </a:p>
        </p:txBody>
      </p:sp>
      <p:sp>
        <p:nvSpPr>
          <p:cNvPr id="27" name="Text 25"/>
          <p:cNvSpPr/>
          <p:nvPr/>
        </p:nvSpPr>
        <p:spPr>
          <a:xfrm>
            <a:off x="4010174" y="2273647"/>
            <a:ext cx="4789590" cy="119955"/>
          </a:xfrm>
          <a:prstGeom prst="rect">
            <a:avLst/>
          </a:prstGeom>
          <a:noFill/>
          <a:ln/>
        </p:spPr>
        <p:txBody>
          <a:bodyPr wrap="square" lIns="0" tIns="0" rIns="0" bIns="0" rtlCol="0" anchor="t"/>
          <a:lstStyle/>
          <a:p>
            <a:pPr marL="0" indent="0" algn="l">
              <a:lnSpc>
                <a:spcPts val="945"/>
              </a:lnSpc>
              <a:spcAft>
                <a:spcPts val="450"/>
              </a:spcAft>
              <a:buNone/>
            </a:pPr>
            <a:r>
              <a:rPr lang="en-US" sz="675" dirty="0">
                <a:solidFill>
                  <a:srgbClr val="C9A227"/>
                </a:solidFill>
                <a:latin typeface="Arial" pitchFamily="34" charset="0"/>
                <a:ea typeface="Arial" pitchFamily="34" charset="-122"/>
                <a:cs typeface="Arial" pitchFamily="34" charset="-120"/>
              </a:rPr>
              <a:t>EXAMPLE VOICE PROMPT</a:t>
            </a:r>
            <a:endParaRPr lang="en-US" sz="675" dirty="0"/>
          </a:p>
        </p:txBody>
      </p:sp>
      <p:sp>
        <p:nvSpPr>
          <p:cNvPr id="28" name="Text 26"/>
          <p:cNvSpPr/>
          <p:nvPr/>
        </p:nvSpPr>
        <p:spPr>
          <a:xfrm>
            <a:off x="4010174" y="2450753"/>
            <a:ext cx="4789590" cy="257175"/>
          </a:xfrm>
          <a:prstGeom prst="rect">
            <a:avLst/>
          </a:prstGeom>
          <a:noFill/>
          <a:ln/>
        </p:spPr>
        <p:txBody>
          <a:bodyPr wrap="square" lIns="0" tIns="0" rIns="0" bIns="0" rtlCol="0" anchor="t"/>
          <a:lstStyle/>
          <a:p>
            <a:pPr marL="0" indent="0" algn="l">
              <a:lnSpc>
                <a:spcPts val="1013"/>
              </a:lnSpc>
              <a:buNone/>
            </a:pPr>
            <a:r>
              <a:rPr lang="en-US" sz="675" dirty="0">
                <a:solidFill>
                  <a:srgbClr val="FFFFFF">
                    <a:alpha val="80000"/>
                  </a:srgbClr>
                </a:solidFill>
                <a:latin typeface="Arial" pitchFamily="34" charset="0"/>
                <a:ea typeface="Arial" pitchFamily="34" charset="-122"/>
                <a:cs typeface="Arial" pitchFamily="34" charset="-120"/>
              </a:rPr>
              <a:t>"Let's start building the MVP. Focus on the core user flow first — I want something I can actually click through and test. Don't worry about edge cases yet, just get the happy path working."</a:t>
            </a:r>
            <a:endParaRPr lang="en-US" sz="675" dirty="0"/>
          </a:p>
        </p:txBody>
      </p:sp>
      <p:sp>
        <p:nvSpPr>
          <p:cNvPr id="29" name="Text 27"/>
          <p:cNvSpPr/>
          <p:nvPr/>
        </p:nvSpPr>
        <p:spPr>
          <a:xfrm>
            <a:off x="3876824" y="3107978"/>
            <a:ext cx="2433638" cy="599777"/>
          </a:xfrm>
          <a:prstGeom prst="rect">
            <a:avLst/>
          </a:prstGeom>
          <a:solidFill>
            <a:srgbClr val="DCFCE7"/>
          </a:solidFill>
          <a:ln/>
        </p:spPr>
        <p:txBody>
          <a:bodyPr wrap="square" rtlCol="0" anchor="ctr"/>
          <a:lstStyle/>
          <a:p>
            <a:pPr marL="0" indent="0">
              <a:buNone/>
            </a:pPr>
            <a:endParaRPr lang="en-US" dirty="0"/>
          </a:p>
        </p:txBody>
      </p:sp>
      <p:sp>
        <p:nvSpPr>
          <p:cNvPr id="30" name="Shape 28"/>
          <p:cNvSpPr/>
          <p:nvPr/>
        </p:nvSpPr>
        <p:spPr>
          <a:xfrm>
            <a:off x="3891111" y="3107978"/>
            <a:ext cx="0" cy="599777"/>
          </a:xfrm>
          <a:prstGeom prst="line">
            <a:avLst/>
          </a:prstGeom>
          <a:noFill/>
          <a:ln w="28575">
            <a:solidFill>
              <a:srgbClr val="059669"/>
            </a:solidFill>
            <a:prstDash val="solid"/>
          </a:ln>
        </p:spPr>
        <p:txBody>
          <a:bodyPr/>
          <a:lstStyle/>
          <a:p>
            <a:endParaRPr lang="en-US"/>
          </a:p>
        </p:txBody>
      </p:sp>
      <p:sp>
        <p:nvSpPr>
          <p:cNvPr id="31" name="Text 29"/>
          <p:cNvSpPr/>
          <p:nvPr/>
        </p:nvSpPr>
        <p:spPr>
          <a:xfrm>
            <a:off x="4019699" y="3222278"/>
            <a:ext cx="2219992"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DO</a:t>
            </a:r>
            <a:endParaRPr lang="en-US" sz="675" dirty="0"/>
          </a:p>
        </p:txBody>
      </p:sp>
      <p:sp>
        <p:nvSpPr>
          <p:cNvPr id="32" name="Text 30"/>
          <p:cNvSpPr/>
          <p:nvPr/>
        </p:nvSpPr>
        <p:spPr>
          <a:xfrm>
            <a:off x="4019699" y="3380333"/>
            <a:ext cx="2219992" cy="213122"/>
          </a:xfrm>
          <a:prstGeom prst="rect">
            <a:avLst/>
          </a:prstGeom>
          <a:noFill/>
          <a:ln/>
        </p:spPr>
        <p:txBody>
          <a:bodyPr wrap="square" lIns="0" tIns="0" rIns="0" bIns="0" rtlCol="0" anchor="t"/>
          <a:lstStyle/>
          <a:p>
            <a:pPr marL="0" indent="0" algn="l">
              <a:lnSpc>
                <a:spcPts val="840"/>
              </a:lnSpc>
              <a:buNone/>
            </a:pPr>
            <a:r>
              <a:rPr lang="en-US" sz="600" dirty="0">
                <a:solidFill>
                  <a:srgbClr val="166534"/>
                </a:solidFill>
                <a:latin typeface="Arial" pitchFamily="34" charset="0"/>
                <a:ea typeface="Arial" pitchFamily="34" charset="-122"/>
                <a:cs typeface="Arial" pitchFamily="34" charset="-120"/>
              </a:rPr>
              <a:t>Build fast, test often, embrace failure as learning, commit frequently</a:t>
            </a:r>
            <a:endParaRPr lang="en-US" sz="600" dirty="0"/>
          </a:p>
        </p:txBody>
      </p:sp>
      <p:sp>
        <p:nvSpPr>
          <p:cNvPr id="33" name="Text 31"/>
          <p:cNvSpPr/>
          <p:nvPr/>
        </p:nvSpPr>
        <p:spPr>
          <a:xfrm>
            <a:off x="6405711" y="3107978"/>
            <a:ext cx="2433638" cy="599777"/>
          </a:xfrm>
          <a:prstGeom prst="rect">
            <a:avLst/>
          </a:prstGeom>
          <a:solidFill>
            <a:srgbClr val="FEE2E2"/>
          </a:solidFill>
          <a:ln/>
        </p:spPr>
        <p:txBody>
          <a:bodyPr wrap="square" rtlCol="0" anchor="ctr"/>
          <a:lstStyle/>
          <a:p>
            <a:pPr marL="0" indent="0">
              <a:buNone/>
            </a:pPr>
            <a:endParaRPr lang="en-US" dirty="0"/>
          </a:p>
        </p:txBody>
      </p:sp>
      <p:sp>
        <p:nvSpPr>
          <p:cNvPr id="34" name="Shape 32"/>
          <p:cNvSpPr/>
          <p:nvPr/>
        </p:nvSpPr>
        <p:spPr>
          <a:xfrm>
            <a:off x="6419999" y="3107978"/>
            <a:ext cx="0" cy="599777"/>
          </a:xfrm>
          <a:prstGeom prst="line">
            <a:avLst/>
          </a:prstGeom>
          <a:noFill/>
          <a:ln w="28575">
            <a:solidFill>
              <a:srgbClr val="DC2626"/>
            </a:solidFill>
            <a:prstDash val="solid"/>
          </a:ln>
        </p:spPr>
        <p:txBody>
          <a:bodyPr/>
          <a:lstStyle/>
          <a:p>
            <a:endParaRPr lang="en-US"/>
          </a:p>
        </p:txBody>
      </p:sp>
      <p:sp>
        <p:nvSpPr>
          <p:cNvPr id="35" name="Text 33"/>
          <p:cNvSpPr/>
          <p:nvPr/>
        </p:nvSpPr>
        <p:spPr>
          <a:xfrm>
            <a:off x="6548586" y="3222278"/>
            <a:ext cx="2219992"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991B1B"/>
                </a:solidFill>
                <a:latin typeface="Arial" pitchFamily="34" charset="0"/>
                <a:ea typeface="Arial" pitchFamily="34" charset="-122"/>
                <a:cs typeface="Arial" pitchFamily="34" charset="-120"/>
              </a:rPr>
              <a:t>DON'T</a:t>
            </a:r>
            <a:endParaRPr lang="en-US" sz="675" dirty="0"/>
          </a:p>
        </p:txBody>
      </p:sp>
      <p:sp>
        <p:nvSpPr>
          <p:cNvPr id="36" name="Text 34"/>
          <p:cNvSpPr/>
          <p:nvPr/>
        </p:nvSpPr>
        <p:spPr>
          <a:xfrm>
            <a:off x="6548586" y="3380333"/>
            <a:ext cx="2219992" cy="213122"/>
          </a:xfrm>
          <a:prstGeom prst="rect">
            <a:avLst/>
          </a:prstGeom>
          <a:noFill/>
          <a:ln/>
        </p:spPr>
        <p:txBody>
          <a:bodyPr wrap="square" lIns="0" tIns="0" rIns="0" bIns="0" rtlCol="0" anchor="t"/>
          <a:lstStyle/>
          <a:p>
            <a:pPr marL="0" indent="0" algn="l">
              <a:lnSpc>
                <a:spcPts val="840"/>
              </a:lnSpc>
              <a:buNone/>
            </a:pPr>
            <a:r>
              <a:rPr lang="en-US" sz="600" dirty="0">
                <a:solidFill>
                  <a:srgbClr val="991B1B"/>
                </a:solidFill>
                <a:latin typeface="Arial" pitchFamily="34" charset="0"/>
                <a:ea typeface="Arial" pitchFamily="34" charset="-122"/>
                <a:cs typeface="Arial" pitchFamily="34" charset="-120"/>
              </a:rPr>
              <a:t>Perfect code style, handle all edge cases, write comprehensive tests yet</a:t>
            </a:r>
            <a:endParaRPr lang="en-US" sz="600" dirty="0"/>
          </a:p>
        </p:txBody>
      </p:sp>
      <p:sp>
        <p:nvSpPr>
          <p:cNvPr id="37" name="Text 35"/>
          <p:cNvSpPr/>
          <p:nvPr/>
        </p:nvSpPr>
        <p:spPr>
          <a:xfrm>
            <a:off x="3876824" y="3974455"/>
            <a:ext cx="4962376" cy="520005"/>
          </a:xfrm>
          <a:prstGeom prst="rect">
            <a:avLst/>
          </a:prstGeom>
          <a:solidFill>
            <a:srgbClr val="DBEAFE"/>
          </a:solidFill>
          <a:ln/>
        </p:spPr>
        <p:txBody>
          <a:bodyPr wrap="square" rtlCol="0" anchor="ctr"/>
          <a:lstStyle/>
          <a:p>
            <a:pPr marL="0" indent="0">
              <a:buNone/>
            </a:pPr>
            <a:endParaRPr lang="en-US" dirty="0"/>
          </a:p>
        </p:txBody>
      </p:sp>
      <p:sp>
        <p:nvSpPr>
          <p:cNvPr id="38" name="Shape 36"/>
          <p:cNvSpPr/>
          <p:nvPr/>
        </p:nvSpPr>
        <p:spPr>
          <a:xfrm>
            <a:off x="3891111" y="3974455"/>
            <a:ext cx="0" cy="520005"/>
          </a:xfrm>
          <a:prstGeom prst="line">
            <a:avLst/>
          </a:prstGeom>
          <a:noFill/>
          <a:ln w="28575">
            <a:solidFill>
              <a:srgbClr val="3B82F6"/>
            </a:solidFill>
            <a:prstDash val="solid"/>
          </a:ln>
        </p:spPr>
        <p:txBody>
          <a:bodyPr/>
          <a:lstStyle/>
          <a:p>
            <a:endParaRPr lang="en-US"/>
          </a:p>
        </p:txBody>
      </p:sp>
      <p:sp>
        <p:nvSpPr>
          <p:cNvPr id="39" name="Text 37"/>
          <p:cNvSpPr/>
          <p:nvPr/>
        </p:nvSpPr>
        <p:spPr>
          <a:xfrm>
            <a:off x="4019699" y="4088755"/>
            <a:ext cx="4799305"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1E40AF"/>
                </a:solidFill>
                <a:latin typeface="Arial" pitchFamily="34" charset="0"/>
                <a:ea typeface="Arial" pitchFamily="34" charset="-122"/>
                <a:cs typeface="Arial" pitchFamily="34" charset="-120"/>
              </a:rPr>
              <a:t>PROTOTYPE OUTPUT</a:t>
            </a:r>
            <a:endParaRPr lang="en-US" sz="750" dirty="0"/>
          </a:p>
        </p:txBody>
      </p:sp>
      <p:sp>
        <p:nvSpPr>
          <p:cNvPr id="40" name="Text 38"/>
          <p:cNvSpPr/>
          <p:nvPr/>
        </p:nvSpPr>
        <p:spPr>
          <a:xfrm>
            <a:off x="4019699" y="4260205"/>
            <a:ext cx="4799305" cy="119955"/>
          </a:xfrm>
          <a:prstGeom prst="rect">
            <a:avLst/>
          </a:prstGeom>
          <a:noFill/>
          <a:ln/>
        </p:spPr>
        <p:txBody>
          <a:bodyPr wrap="square" lIns="0" tIns="0" rIns="0" bIns="0" rtlCol="0" anchor="t"/>
          <a:lstStyle/>
          <a:p>
            <a:pPr marL="0" indent="0" algn="l">
              <a:lnSpc>
                <a:spcPts val="945"/>
              </a:lnSpc>
              <a:buNone/>
            </a:pPr>
            <a:r>
              <a:rPr lang="en-US" sz="675" dirty="0">
                <a:solidFill>
                  <a:srgbClr val="1E40AF"/>
                </a:solidFill>
                <a:latin typeface="Arial" pitchFamily="34" charset="0"/>
                <a:ea typeface="Arial" pitchFamily="34" charset="-122"/>
                <a:cs typeface="Arial" pitchFamily="34" charset="-120"/>
              </a:rPr>
              <a:t>A working (rough) version you can interact with. This becomes the foundation for documentation standards in Phase 6.</a:t>
            </a:r>
            <a:endParaRPr lang="en-US" sz="6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41962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304800" y="304800"/>
            <a:ext cx="981373" cy="234255"/>
          </a:xfrm>
          <a:prstGeom prst="rect">
            <a:avLst/>
          </a:prstGeom>
          <a:solidFill>
            <a:srgbClr val="0D9488"/>
          </a:solidFill>
          <a:ln/>
        </p:spPr>
        <p:txBody>
          <a:bodyPr wrap="square" rtlCol="0" anchor="ctr"/>
          <a:lstStyle/>
          <a:p>
            <a:pPr marL="0" indent="0">
              <a:buNone/>
            </a:pPr>
            <a:endParaRPr lang="en-US" dirty="0"/>
          </a:p>
        </p:txBody>
      </p:sp>
      <p:sp>
        <p:nvSpPr>
          <p:cNvPr id="4" name="Text 2"/>
          <p:cNvSpPr/>
          <p:nvPr/>
        </p:nvSpPr>
        <p:spPr>
          <a:xfrm>
            <a:off x="419100" y="361950"/>
            <a:ext cx="767828" cy="119955"/>
          </a:xfrm>
          <a:prstGeom prst="rect">
            <a:avLst/>
          </a:prstGeom>
          <a:noFill/>
          <a:ln/>
        </p:spPr>
        <p:txBody>
          <a:bodyPr wrap="square" lIns="0" tIns="0" rIns="0" bIns="0" rtlCol="0" anchor="t"/>
          <a:lstStyle/>
          <a:p>
            <a:pPr marL="0" indent="0" algn="l">
              <a:lnSpc>
                <a:spcPts val="945"/>
              </a:lnSpc>
              <a:buNone/>
            </a:pPr>
            <a:r>
              <a:rPr lang="en-US" sz="675" b="1" dirty="0">
                <a:solidFill>
                  <a:srgbClr val="FFFFFF"/>
                </a:solidFill>
                <a:latin typeface="Arial" pitchFamily="34" charset="0"/>
                <a:ea typeface="Arial" pitchFamily="34" charset="-122"/>
                <a:cs typeface="Arial" pitchFamily="34" charset="-120"/>
              </a:rPr>
              <a:t>PHASE 6 OF 10</a:t>
            </a:r>
            <a:endParaRPr lang="en-US" sz="675" dirty="0"/>
          </a:p>
        </p:txBody>
      </p:sp>
      <p:sp>
        <p:nvSpPr>
          <p:cNvPr id="5" name="Text 3"/>
          <p:cNvSpPr/>
          <p:nvPr/>
        </p:nvSpPr>
        <p:spPr>
          <a:xfrm>
            <a:off x="304800" y="805755"/>
            <a:ext cx="1748790" cy="594122"/>
          </a:xfrm>
          <a:prstGeom prst="rect">
            <a:avLst/>
          </a:prstGeom>
          <a:noFill/>
          <a:ln/>
        </p:spPr>
        <p:txBody>
          <a:bodyPr wrap="square" lIns="0" tIns="0" rIns="0" bIns="0" rtlCol="0" anchor="t"/>
          <a:lstStyle/>
          <a:p>
            <a:pPr marL="0" indent="0" algn="l">
              <a:lnSpc>
                <a:spcPts val="2340"/>
              </a:lnSpc>
              <a:spcAft>
                <a:spcPts val="900"/>
              </a:spcAft>
              <a:buNone/>
            </a:pPr>
            <a:r>
              <a:rPr lang="en-US" sz="1950" dirty="0">
                <a:solidFill>
                  <a:srgbClr val="FFFFFF"/>
                </a:solidFill>
                <a:latin typeface="Georgia" pitchFamily="34" charset="0"/>
                <a:ea typeface="Georgia" pitchFamily="34" charset="-122"/>
                <a:cs typeface="Georgia" pitchFamily="34" charset="-120"/>
              </a:rPr>
              <a:t>Documentation</a:t>
            </a:r>
            <a:endParaRPr lang="en-US" sz="1950" dirty="0"/>
          </a:p>
          <a:p>
            <a:pPr marL="0" indent="0" algn="l">
              <a:lnSpc>
                <a:spcPts val="2340"/>
              </a:lnSpc>
              <a:spcAft>
                <a:spcPts val="900"/>
              </a:spcAft>
              <a:buNone/>
            </a:pPr>
            <a:r>
              <a:rPr lang="en-US" sz="1950" dirty="0">
                <a:solidFill>
                  <a:srgbClr val="FFFFFF"/>
                </a:solidFill>
                <a:latin typeface="Georgia" pitchFamily="34" charset="0"/>
                <a:ea typeface="Georgia" pitchFamily="34" charset="-122"/>
                <a:cs typeface="Georgia" pitchFamily="34" charset="-120"/>
              </a:rPr>
              <a:t>&amp; Standards</a:t>
            </a:r>
            <a:endParaRPr lang="en-US" sz="1950" dirty="0"/>
          </a:p>
        </p:txBody>
      </p:sp>
      <p:sp>
        <p:nvSpPr>
          <p:cNvPr id="6" name="Text 4"/>
          <p:cNvSpPr/>
          <p:nvPr/>
        </p:nvSpPr>
        <p:spPr>
          <a:xfrm>
            <a:off x="304800" y="1666577"/>
            <a:ext cx="381000" cy="11906"/>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304800" y="1983284"/>
            <a:ext cx="2810024" cy="784771"/>
          </a:xfrm>
          <a:prstGeom prst="rect">
            <a:avLst/>
          </a:prstGeom>
          <a:solidFill>
            <a:srgbClr val="0D9488">
              <a:alpha val="15000"/>
            </a:srgbClr>
          </a:solidFill>
          <a:ln/>
        </p:spPr>
        <p:txBody>
          <a:bodyPr wrap="square" rtlCol="0" anchor="ctr"/>
          <a:lstStyle/>
          <a:p>
            <a:pPr marL="0" indent="0">
              <a:buNone/>
            </a:pPr>
            <a:endParaRPr lang="en-US" dirty="0"/>
          </a:p>
        </p:txBody>
      </p:sp>
      <p:sp>
        <p:nvSpPr>
          <p:cNvPr id="8" name="Shape 6"/>
          <p:cNvSpPr/>
          <p:nvPr/>
        </p:nvSpPr>
        <p:spPr>
          <a:xfrm>
            <a:off x="319088" y="1983284"/>
            <a:ext cx="0" cy="784771"/>
          </a:xfrm>
          <a:prstGeom prst="line">
            <a:avLst/>
          </a:prstGeom>
          <a:noFill/>
          <a:ln w="28575">
            <a:solidFill>
              <a:srgbClr val="0D9488"/>
            </a:solidFill>
            <a:prstDash val="solid"/>
          </a:ln>
        </p:spPr>
        <p:txBody>
          <a:bodyPr/>
          <a:lstStyle/>
          <a:p>
            <a:endParaRPr lang="en-US"/>
          </a:p>
        </p:txBody>
      </p:sp>
      <p:sp>
        <p:nvSpPr>
          <p:cNvPr id="9" name="Text 7"/>
          <p:cNvSpPr/>
          <p:nvPr/>
        </p:nvSpPr>
        <p:spPr>
          <a:xfrm>
            <a:off x="466725" y="2116634"/>
            <a:ext cx="2565044"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5EEAD4"/>
                </a:solidFill>
                <a:latin typeface="Arial" pitchFamily="34" charset="0"/>
                <a:ea typeface="Arial" pitchFamily="34" charset="-122"/>
                <a:cs typeface="Arial" pitchFamily="34" charset="-120"/>
              </a:rPr>
              <a:t>THE OBJECTIVE</a:t>
            </a:r>
            <a:endParaRPr lang="en-US" sz="825" dirty="0"/>
          </a:p>
        </p:txBody>
      </p:sp>
      <p:sp>
        <p:nvSpPr>
          <p:cNvPr id="10" name="Text 8"/>
          <p:cNvSpPr/>
          <p:nvPr/>
        </p:nvSpPr>
        <p:spPr>
          <a:xfrm>
            <a:off x="466725" y="2320379"/>
            <a:ext cx="2565044" cy="314325"/>
          </a:xfrm>
          <a:prstGeom prst="rect">
            <a:avLst/>
          </a:prstGeom>
          <a:noFill/>
          <a:ln/>
        </p:spPr>
        <p:txBody>
          <a:bodyPr wrap="square" lIns="0" tIns="0" rIns="0" bIns="0" rtlCol="0" anchor="t"/>
          <a:lstStyle/>
          <a:p>
            <a:pPr marL="0" indent="0" algn="l">
              <a:lnSpc>
                <a:spcPts val="1238"/>
              </a:lnSpc>
              <a:buNone/>
            </a:pPr>
            <a:r>
              <a:rPr lang="en-US" sz="825" dirty="0">
                <a:solidFill>
                  <a:srgbClr val="FFFFFF">
                    <a:alpha val="80000"/>
                  </a:srgbClr>
                </a:solidFill>
                <a:latin typeface="Arial" pitchFamily="34" charset="0"/>
                <a:ea typeface="Arial" pitchFamily="34" charset="-122"/>
                <a:cs typeface="Arial" pitchFamily="34" charset="-120"/>
              </a:rPr>
              <a:t>Capture what you learned from prototyping. Define the rules that will guide all future development.</a:t>
            </a:r>
            <a:endParaRPr lang="en-US" sz="825" dirty="0"/>
          </a:p>
        </p:txBody>
      </p:sp>
      <p:sp>
        <p:nvSpPr>
          <p:cNvPr id="11" name="Text 9"/>
          <p:cNvSpPr/>
          <p:nvPr/>
        </p:nvSpPr>
        <p:spPr>
          <a:xfrm>
            <a:off x="304800" y="3072854"/>
            <a:ext cx="2810024" cy="1099096"/>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438150" y="3206204"/>
            <a:ext cx="2594190"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WHY THIS MATTERS</a:t>
            </a:r>
            <a:endParaRPr lang="en-US" sz="825" dirty="0"/>
          </a:p>
        </p:txBody>
      </p:sp>
      <p:sp>
        <p:nvSpPr>
          <p:cNvPr id="13" name="Text 11"/>
          <p:cNvSpPr/>
          <p:nvPr/>
        </p:nvSpPr>
        <p:spPr>
          <a:xfrm>
            <a:off x="438150" y="3429000"/>
            <a:ext cx="2594190" cy="609600"/>
          </a:xfrm>
          <a:prstGeom prst="rect">
            <a:avLst/>
          </a:prstGeom>
          <a:noFill/>
          <a:ln/>
        </p:spPr>
        <p:txBody>
          <a:bodyPr wrap="square" lIns="0" tIns="0" rIns="0" bIns="0" rtlCol="0" anchor="t"/>
          <a:lstStyle/>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AI agents need context</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Consistency across iterations</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Prevents design drift</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Speeds future decisions</a:t>
            </a:r>
            <a:endParaRPr lang="en-US" sz="750" dirty="0"/>
          </a:p>
        </p:txBody>
      </p:sp>
      <p:sp>
        <p:nvSpPr>
          <p:cNvPr id="14" name="Text 12"/>
          <p:cNvSpPr/>
          <p:nvPr/>
        </p:nvSpPr>
        <p:spPr>
          <a:xfrm>
            <a:off x="304800" y="4476750"/>
            <a:ext cx="2810024" cy="361950"/>
          </a:xfrm>
          <a:prstGeom prst="rect">
            <a:avLst/>
          </a:prstGeom>
          <a:solidFill>
            <a:srgbClr val="C9A227"/>
          </a:solidFill>
          <a:ln/>
        </p:spPr>
        <p:txBody>
          <a:bodyPr wrap="square" rtlCol="0" anchor="ctr"/>
          <a:lstStyle/>
          <a:p>
            <a:pPr marL="0" indent="0">
              <a:buNone/>
            </a:pPr>
            <a:endParaRPr lang="en-US" dirty="0"/>
          </a:p>
        </p:txBody>
      </p:sp>
      <p:sp>
        <p:nvSpPr>
          <p:cNvPr id="15" name="Text 13"/>
          <p:cNvSpPr/>
          <p:nvPr/>
        </p:nvSpPr>
        <p:spPr>
          <a:xfrm>
            <a:off x="393286" y="4591050"/>
            <a:ext cx="2633052" cy="133350"/>
          </a:xfrm>
          <a:prstGeom prst="rect">
            <a:avLst/>
          </a:prstGeom>
          <a:noFill/>
          <a:ln/>
        </p:spPr>
        <p:txBody>
          <a:bodyPr wrap="square" lIns="0" tIns="0" rIns="0" bIns="0" rtlCol="0" anchor="t"/>
          <a:lstStyle/>
          <a:p>
            <a:pPr marL="0" indent="0" algn="ctr">
              <a:lnSpc>
                <a:spcPts val="1050"/>
              </a:lnSpc>
              <a:buNone/>
            </a:pPr>
            <a:r>
              <a:rPr lang="en-US" sz="750" b="1" dirty="0">
                <a:solidFill>
                  <a:srgbClr val="1A1F2E"/>
                </a:solidFill>
                <a:latin typeface="Arial" pitchFamily="34" charset="0"/>
                <a:ea typeface="Arial" pitchFamily="34" charset="-122"/>
                <a:cs typeface="Arial" pitchFamily="34" charset="-120"/>
              </a:rPr>
              <a:t>Document everything in markdown</a:t>
            </a:r>
            <a:endParaRPr lang="en-US" sz="750" dirty="0"/>
          </a:p>
        </p:txBody>
      </p:sp>
      <p:sp>
        <p:nvSpPr>
          <p:cNvPr id="16" name="Text 14"/>
          <p:cNvSpPr/>
          <p:nvPr/>
        </p:nvSpPr>
        <p:spPr>
          <a:xfrm>
            <a:off x="3572024" y="0"/>
            <a:ext cx="5571976"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76824" y="354509"/>
            <a:ext cx="5061624" cy="173236"/>
          </a:xfrm>
          <a:prstGeom prst="rect">
            <a:avLst/>
          </a:prstGeom>
          <a:noFill/>
          <a:ln/>
        </p:spPr>
        <p:txBody>
          <a:bodyPr wrap="square" lIns="0" tIns="0" rIns="0" bIns="0" rtlCol="0" anchor="t"/>
          <a:lstStyle/>
          <a:p>
            <a:pPr marL="0" indent="0" algn="l">
              <a:lnSpc>
                <a:spcPts val="1365"/>
              </a:lnSpc>
              <a:spcAft>
                <a:spcPts val="1050"/>
              </a:spcAft>
              <a:buNone/>
            </a:pPr>
            <a:r>
              <a:rPr lang="en-US" sz="975" b="1" dirty="0">
                <a:solidFill>
                  <a:srgbClr val="1A1F2E"/>
                </a:solidFill>
                <a:latin typeface="Arial" pitchFamily="34" charset="0"/>
                <a:ea typeface="Arial" pitchFamily="34" charset="-122"/>
                <a:cs typeface="Arial" pitchFamily="34" charset="-120"/>
              </a:rPr>
              <a:t>DOCUMENTATION ARTIFACTS</a:t>
            </a:r>
            <a:endParaRPr lang="en-US" sz="975" dirty="0"/>
          </a:p>
        </p:txBody>
      </p:sp>
      <p:sp>
        <p:nvSpPr>
          <p:cNvPr id="18" name="Text 16"/>
          <p:cNvSpPr/>
          <p:nvPr/>
        </p:nvSpPr>
        <p:spPr>
          <a:xfrm>
            <a:off x="3876824" y="813495"/>
            <a:ext cx="4962376" cy="99060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9" name="Text 17"/>
          <p:cNvSpPr/>
          <p:nvPr/>
        </p:nvSpPr>
        <p:spPr>
          <a:xfrm>
            <a:off x="4019699" y="956370"/>
            <a:ext cx="1486472"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0D9488"/>
                </a:solidFill>
                <a:latin typeface="Arial" pitchFamily="34" charset="0"/>
                <a:ea typeface="Arial" pitchFamily="34" charset="-122"/>
                <a:cs typeface="Arial" pitchFamily="34" charset="-120"/>
              </a:rPr>
              <a:t>UI/UX PATTERNS</a:t>
            </a:r>
            <a:endParaRPr lang="en-US" sz="750" dirty="0"/>
          </a:p>
        </p:txBody>
      </p:sp>
      <p:sp>
        <p:nvSpPr>
          <p:cNvPr id="20" name="Text 18"/>
          <p:cNvSpPr/>
          <p:nvPr/>
        </p:nvSpPr>
        <p:spPr>
          <a:xfrm>
            <a:off x="4019699" y="1146870"/>
            <a:ext cx="1486472" cy="514350"/>
          </a:xfrm>
          <a:prstGeom prst="rect">
            <a:avLst/>
          </a:prstGeom>
          <a:noFill/>
          <a:ln/>
        </p:spPr>
        <p:txBody>
          <a:bodyPr wrap="square" lIns="0" tIns="0" rIns="0" bIns="0" rtlCol="0" anchor="t"/>
          <a:lstStyle/>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Component naming conventions</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Layout grid decisions</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Color palette rationale</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Typography scale</a:t>
            </a:r>
            <a:endParaRPr lang="en-US" sz="675" dirty="0"/>
          </a:p>
        </p:txBody>
      </p:sp>
      <p:sp>
        <p:nvSpPr>
          <p:cNvPr id="21" name="Text 19"/>
          <p:cNvSpPr/>
          <p:nvPr/>
        </p:nvSpPr>
        <p:spPr>
          <a:xfrm>
            <a:off x="5629424" y="956370"/>
            <a:ext cx="1486472"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0D9488"/>
                </a:solidFill>
                <a:latin typeface="Arial" pitchFamily="34" charset="0"/>
                <a:ea typeface="Arial" pitchFamily="34" charset="-122"/>
                <a:cs typeface="Arial" pitchFamily="34" charset="-120"/>
              </a:rPr>
              <a:t>DESIGN LANGUAGE</a:t>
            </a:r>
            <a:endParaRPr lang="en-US" sz="750" dirty="0"/>
          </a:p>
        </p:txBody>
      </p:sp>
      <p:sp>
        <p:nvSpPr>
          <p:cNvPr id="22" name="Text 20"/>
          <p:cNvSpPr/>
          <p:nvPr/>
        </p:nvSpPr>
        <p:spPr>
          <a:xfrm>
            <a:off x="5629424" y="1146870"/>
            <a:ext cx="1486472" cy="514350"/>
          </a:xfrm>
          <a:prstGeom prst="rect">
            <a:avLst/>
          </a:prstGeom>
          <a:noFill/>
          <a:ln/>
        </p:spPr>
        <p:txBody>
          <a:bodyPr wrap="square" lIns="0" tIns="0" rIns="0" bIns="0" rtlCol="0" anchor="t"/>
          <a:lstStyle/>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Voice and tone guide</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Interaction patterns</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Error messaging style</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Iconography rules</a:t>
            </a:r>
            <a:endParaRPr lang="en-US" sz="675" dirty="0"/>
          </a:p>
        </p:txBody>
      </p:sp>
      <p:sp>
        <p:nvSpPr>
          <p:cNvPr id="23" name="Text 21"/>
          <p:cNvSpPr/>
          <p:nvPr/>
        </p:nvSpPr>
        <p:spPr>
          <a:xfrm>
            <a:off x="7239149" y="956370"/>
            <a:ext cx="1486472"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0D9488"/>
                </a:solidFill>
                <a:latin typeface="Arial" pitchFamily="34" charset="0"/>
                <a:ea typeface="Arial" pitchFamily="34" charset="-122"/>
                <a:cs typeface="Arial" pitchFamily="34" charset="-120"/>
              </a:rPr>
              <a:t>NARRATIVE GUIDELINES</a:t>
            </a:r>
            <a:endParaRPr lang="en-US" sz="750" dirty="0"/>
          </a:p>
        </p:txBody>
      </p:sp>
      <p:sp>
        <p:nvSpPr>
          <p:cNvPr id="24" name="Text 22"/>
          <p:cNvSpPr/>
          <p:nvPr/>
        </p:nvSpPr>
        <p:spPr>
          <a:xfrm>
            <a:off x="7239149" y="1146870"/>
            <a:ext cx="1486472" cy="514350"/>
          </a:xfrm>
          <a:prstGeom prst="rect">
            <a:avLst/>
          </a:prstGeom>
          <a:noFill/>
          <a:ln/>
        </p:spPr>
        <p:txBody>
          <a:bodyPr wrap="square" lIns="0" tIns="0" rIns="0" bIns="0" rtlCol="0" anchor="t"/>
          <a:lstStyle/>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User journey story</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Feature priorities</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What we're NOT building</a:t>
            </a:r>
            <a:endParaRPr lang="en-US" sz="675" dirty="0"/>
          </a:p>
          <a:p>
            <a:pPr marL="0" indent="0" algn="l">
              <a:lnSpc>
                <a:spcPts val="1013"/>
              </a:lnSpc>
              <a:buNone/>
            </a:pPr>
            <a:r>
              <a:rPr lang="en-US" sz="675" dirty="0">
                <a:solidFill>
                  <a:srgbClr val="6B7280"/>
                </a:solidFill>
                <a:latin typeface="Arial" pitchFamily="34" charset="0"/>
                <a:ea typeface="Arial" pitchFamily="34" charset="-122"/>
                <a:cs typeface="Arial" pitchFamily="34" charset="-120"/>
              </a:rPr>
              <a:t> Success metrics</a:t>
            </a:r>
            <a:endParaRPr lang="en-US" sz="675" dirty="0"/>
          </a:p>
        </p:txBody>
      </p:sp>
      <p:sp>
        <p:nvSpPr>
          <p:cNvPr id="25" name="Text 23"/>
          <p:cNvSpPr/>
          <p:nvPr/>
        </p:nvSpPr>
        <p:spPr>
          <a:xfrm>
            <a:off x="3876824" y="2070795"/>
            <a:ext cx="4962376" cy="700980"/>
          </a:xfrm>
          <a:prstGeom prst="rect">
            <a:avLst/>
          </a:prstGeom>
          <a:solidFill>
            <a:srgbClr val="1A1F2E"/>
          </a:solidFill>
          <a:ln/>
        </p:spPr>
        <p:txBody>
          <a:bodyPr wrap="square" rtlCol="0" anchor="ctr"/>
          <a:lstStyle/>
          <a:p>
            <a:pPr marL="0" indent="0">
              <a:buNone/>
            </a:pPr>
            <a:endParaRPr lang="en-US" dirty="0"/>
          </a:p>
        </p:txBody>
      </p:sp>
      <p:sp>
        <p:nvSpPr>
          <p:cNvPr id="26" name="Text 24"/>
          <p:cNvSpPr/>
          <p:nvPr/>
        </p:nvSpPr>
        <p:spPr>
          <a:xfrm>
            <a:off x="4010174" y="2204145"/>
            <a:ext cx="4789590" cy="119955"/>
          </a:xfrm>
          <a:prstGeom prst="rect">
            <a:avLst/>
          </a:prstGeom>
          <a:noFill/>
          <a:ln/>
        </p:spPr>
        <p:txBody>
          <a:bodyPr wrap="square" lIns="0" tIns="0" rIns="0" bIns="0" rtlCol="0" anchor="t"/>
          <a:lstStyle/>
          <a:p>
            <a:pPr marL="0" indent="0" algn="l">
              <a:lnSpc>
                <a:spcPts val="945"/>
              </a:lnSpc>
              <a:spcAft>
                <a:spcPts val="450"/>
              </a:spcAft>
              <a:buNone/>
            </a:pPr>
            <a:r>
              <a:rPr lang="en-US" sz="675" dirty="0">
                <a:solidFill>
                  <a:srgbClr val="C9A227"/>
                </a:solidFill>
                <a:latin typeface="Arial" pitchFamily="34" charset="0"/>
                <a:ea typeface="Arial" pitchFamily="34" charset="-122"/>
                <a:cs typeface="Arial" pitchFamily="34" charset="-120"/>
              </a:rPr>
              <a:t>EXAMPLE VOICE PROMPT</a:t>
            </a:r>
            <a:endParaRPr lang="en-US" sz="675" dirty="0"/>
          </a:p>
        </p:txBody>
      </p:sp>
      <p:sp>
        <p:nvSpPr>
          <p:cNvPr id="27" name="Text 25"/>
          <p:cNvSpPr/>
          <p:nvPr/>
        </p:nvSpPr>
        <p:spPr>
          <a:xfrm>
            <a:off x="4010174" y="2381250"/>
            <a:ext cx="4789590" cy="257175"/>
          </a:xfrm>
          <a:prstGeom prst="rect">
            <a:avLst/>
          </a:prstGeom>
          <a:noFill/>
          <a:ln/>
        </p:spPr>
        <p:txBody>
          <a:bodyPr wrap="square" lIns="0" tIns="0" rIns="0" bIns="0" rtlCol="0" anchor="t"/>
          <a:lstStyle/>
          <a:p>
            <a:pPr marL="0" indent="0" algn="l">
              <a:lnSpc>
                <a:spcPts val="1013"/>
              </a:lnSpc>
              <a:buNone/>
            </a:pPr>
            <a:r>
              <a:rPr lang="en-US" sz="675" dirty="0">
                <a:solidFill>
                  <a:srgbClr val="FFFFFF">
                    <a:alpha val="80000"/>
                  </a:srgbClr>
                </a:solidFill>
                <a:latin typeface="Arial" pitchFamily="34" charset="0"/>
                <a:ea typeface="Arial" pitchFamily="34" charset="-122"/>
                <a:cs typeface="Arial" pitchFamily="34" charset="-120"/>
              </a:rPr>
              <a:t>"Based on what we built in the prototype, let's document our design standards. Create a design-system.md that captures the UI patterns, component styles, and interaction behaviors we want to maintain going forward."</a:t>
            </a:r>
            <a:endParaRPr lang="en-US" sz="675" dirty="0"/>
          </a:p>
        </p:txBody>
      </p:sp>
      <p:sp>
        <p:nvSpPr>
          <p:cNvPr id="28" name="Text 26"/>
          <p:cNvSpPr/>
          <p:nvPr/>
        </p:nvSpPr>
        <p:spPr>
          <a:xfrm>
            <a:off x="3876824" y="3038475"/>
            <a:ext cx="2433638" cy="843855"/>
          </a:xfrm>
          <a:prstGeom prst="rect">
            <a:avLst/>
          </a:prstGeom>
          <a:solidFill>
            <a:srgbClr val="CCFBF1"/>
          </a:solidFill>
          <a:ln/>
        </p:spPr>
        <p:txBody>
          <a:bodyPr wrap="square" rtlCol="0" anchor="ctr"/>
          <a:lstStyle/>
          <a:p>
            <a:pPr marL="0" indent="0">
              <a:buNone/>
            </a:pPr>
            <a:endParaRPr lang="en-US" dirty="0"/>
          </a:p>
        </p:txBody>
      </p:sp>
      <p:sp>
        <p:nvSpPr>
          <p:cNvPr id="29" name="Shape 27"/>
          <p:cNvSpPr/>
          <p:nvPr/>
        </p:nvSpPr>
        <p:spPr>
          <a:xfrm>
            <a:off x="3891111" y="3038475"/>
            <a:ext cx="0" cy="843855"/>
          </a:xfrm>
          <a:prstGeom prst="line">
            <a:avLst/>
          </a:prstGeom>
          <a:noFill/>
          <a:ln w="28575">
            <a:solidFill>
              <a:srgbClr val="0D9488"/>
            </a:solidFill>
            <a:prstDash val="solid"/>
          </a:ln>
        </p:spPr>
        <p:txBody>
          <a:bodyPr/>
          <a:lstStyle/>
          <a:p>
            <a:endParaRPr lang="en-US"/>
          </a:p>
        </p:txBody>
      </p:sp>
      <p:sp>
        <p:nvSpPr>
          <p:cNvPr id="30" name="Text 28"/>
          <p:cNvSpPr/>
          <p:nvPr/>
        </p:nvSpPr>
        <p:spPr>
          <a:xfrm>
            <a:off x="4019699" y="3152775"/>
            <a:ext cx="2219992"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15E59"/>
                </a:solidFill>
                <a:latin typeface="Arial" pitchFamily="34" charset="0"/>
                <a:ea typeface="Arial" pitchFamily="34" charset="-122"/>
                <a:cs typeface="Arial" pitchFamily="34" charset="-120"/>
              </a:rPr>
              <a:t>DOCS FOLDER STRUCTURE</a:t>
            </a:r>
            <a:endParaRPr lang="en-US" sz="675" dirty="0"/>
          </a:p>
        </p:txBody>
      </p:sp>
      <p:sp>
        <p:nvSpPr>
          <p:cNvPr id="31" name="Text 29"/>
          <p:cNvSpPr/>
          <p:nvPr/>
        </p:nvSpPr>
        <p:spPr>
          <a:xfrm>
            <a:off x="4019699" y="3310830"/>
            <a:ext cx="2219992" cy="457200"/>
          </a:xfrm>
          <a:prstGeom prst="rect">
            <a:avLst/>
          </a:prstGeom>
          <a:noFill/>
          <a:ln/>
        </p:spPr>
        <p:txBody>
          <a:bodyPr wrap="square" lIns="0" tIns="0" rIns="0" bIns="0" rtlCol="0" anchor="t"/>
          <a:lstStyle/>
          <a:p>
            <a:pPr marL="0" indent="0" algn="l">
              <a:lnSpc>
                <a:spcPts val="900"/>
              </a:lnSpc>
              <a:buNone/>
            </a:pPr>
            <a:r>
              <a:rPr lang="en-US" sz="600" dirty="0">
                <a:solidFill>
                  <a:srgbClr val="115E59"/>
                </a:solidFill>
                <a:latin typeface="monospace" pitchFamily="34" charset="0"/>
                <a:ea typeface="monospace" pitchFamily="34" charset="-122"/>
                <a:cs typeface="monospace" pitchFamily="34" charset="-120"/>
              </a:rPr>
              <a:t>docs/</a:t>
            </a:r>
            <a:endParaRPr lang="en-US" sz="600" dirty="0"/>
          </a:p>
          <a:p>
            <a:pPr marL="0" indent="0" algn="l">
              <a:lnSpc>
                <a:spcPts val="900"/>
              </a:lnSpc>
              <a:buNone/>
            </a:pPr>
            <a:r>
              <a:rPr lang="en-US" sz="600" dirty="0">
                <a:solidFill>
                  <a:srgbClr val="115E59"/>
                </a:solidFill>
                <a:latin typeface="monospace" pitchFamily="34" charset="0"/>
                <a:ea typeface="monospace" pitchFamily="34" charset="-122"/>
                <a:cs typeface="monospace" pitchFamily="34" charset="-120"/>
              </a:rPr>
              <a:t> design-system.md</a:t>
            </a:r>
            <a:endParaRPr lang="en-US" sz="600" dirty="0"/>
          </a:p>
          <a:p>
            <a:pPr marL="0" indent="0" algn="l">
              <a:lnSpc>
                <a:spcPts val="900"/>
              </a:lnSpc>
              <a:buNone/>
            </a:pPr>
            <a:r>
              <a:rPr lang="en-US" sz="600" dirty="0">
                <a:solidFill>
                  <a:srgbClr val="115E59"/>
                </a:solidFill>
                <a:latin typeface="monospace" pitchFamily="34" charset="0"/>
                <a:ea typeface="monospace" pitchFamily="34" charset="-122"/>
                <a:cs typeface="monospace" pitchFamily="34" charset="-120"/>
              </a:rPr>
              <a:t> architecture.md</a:t>
            </a:r>
            <a:endParaRPr lang="en-US" sz="600" dirty="0"/>
          </a:p>
          <a:p>
            <a:pPr marL="0" indent="0" algn="l">
              <a:lnSpc>
                <a:spcPts val="900"/>
              </a:lnSpc>
              <a:buNone/>
            </a:pPr>
            <a:r>
              <a:rPr lang="en-US" sz="600" dirty="0">
                <a:solidFill>
                  <a:srgbClr val="115E59"/>
                </a:solidFill>
                <a:latin typeface="monospace" pitchFamily="34" charset="0"/>
                <a:ea typeface="monospace" pitchFamily="34" charset="-122"/>
                <a:cs typeface="monospace" pitchFamily="34" charset="-120"/>
              </a:rPr>
              <a:t> narrative.md</a:t>
            </a:r>
            <a:endParaRPr lang="en-US" sz="600" dirty="0"/>
          </a:p>
        </p:txBody>
      </p:sp>
      <p:sp>
        <p:nvSpPr>
          <p:cNvPr id="32" name="Text 30"/>
          <p:cNvSpPr/>
          <p:nvPr/>
        </p:nvSpPr>
        <p:spPr>
          <a:xfrm>
            <a:off x="6405711" y="3160514"/>
            <a:ext cx="2433638" cy="599777"/>
          </a:xfrm>
          <a:prstGeom prst="rect">
            <a:avLst/>
          </a:prstGeom>
          <a:solidFill>
            <a:srgbClr val="FEF3C7"/>
          </a:solidFill>
          <a:ln/>
        </p:spPr>
        <p:txBody>
          <a:bodyPr wrap="square" rtlCol="0" anchor="ctr"/>
          <a:lstStyle/>
          <a:p>
            <a:pPr marL="0" indent="0">
              <a:buNone/>
            </a:pPr>
            <a:endParaRPr lang="en-US" dirty="0"/>
          </a:p>
        </p:txBody>
      </p:sp>
      <p:sp>
        <p:nvSpPr>
          <p:cNvPr id="33" name="Shape 31"/>
          <p:cNvSpPr/>
          <p:nvPr/>
        </p:nvSpPr>
        <p:spPr>
          <a:xfrm>
            <a:off x="6419999" y="3160514"/>
            <a:ext cx="0" cy="599777"/>
          </a:xfrm>
          <a:prstGeom prst="line">
            <a:avLst/>
          </a:prstGeom>
          <a:noFill/>
          <a:ln w="28575">
            <a:solidFill>
              <a:srgbClr val="F59E0B"/>
            </a:solidFill>
            <a:prstDash val="solid"/>
          </a:ln>
        </p:spPr>
        <p:txBody>
          <a:bodyPr/>
          <a:lstStyle/>
          <a:p>
            <a:endParaRPr lang="en-US"/>
          </a:p>
        </p:txBody>
      </p:sp>
      <p:sp>
        <p:nvSpPr>
          <p:cNvPr id="34" name="Text 32"/>
          <p:cNvSpPr/>
          <p:nvPr/>
        </p:nvSpPr>
        <p:spPr>
          <a:xfrm>
            <a:off x="6548586" y="3274814"/>
            <a:ext cx="2219992"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KEEP IT LIVING</a:t>
            </a:r>
            <a:endParaRPr lang="en-US" sz="675" dirty="0"/>
          </a:p>
        </p:txBody>
      </p:sp>
      <p:sp>
        <p:nvSpPr>
          <p:cNvPr id="35" name="Text 33"/>
          <p:cNvSpPr/>
          <p:nvPr/>
        </p:nvSpPr>
        <p:spPr>
          <a:xfrm>
            <a:off x="6548586" y="3432870"/>
            <a:ext cx="2219992" cy="213122"/>
          </a:xfrm>
          <a:prstGeom prst="rect">
            <a:avLst/>
          </a:prstGeom>
          <a:noFill/>
          <a:ln/>
        </p:spPr>
        <p:txBody>
          <a:bodyPr wrap="square" lIns="0" tIns="0" rIns="0" bIns="0" rtlCol="0" anchor="t"/>
          <a:lstStyle/>
          <a:p>
            <a:pPr marL="0" indent="0" algn="l">
              <a:lnSpc>
                <a:spcPts val="840"/>
              </a:lnSpc>
              <a:buNone/>
            </a:pPr>
            <a:r>
              <a:rPr lang="en-US" sz="600" dirty="0">
                <a:solidFill>
                  <a:srgbClr val="92400E"/>
                </a:solidFill>
                <a:latin typeface="Arial" pitchFamily="34" charset="0"/>
                <a:ea typeface="Arial" pitchFamily="34" charset="-122"/>
                <a:cs typeface="Arial" pitchFamily="34" charset="-120"/>
              </a:rPr>
              <a:t>These docs evolve. Update them as you learn. Stale documentation is worse than none.</a:t>
            </a:r>
            <a:endParaRPr lang="en-US" sz="600" dirty="0"/>
          </a:p>
        </p:txBody>
      </p:sp>
      <p:sp>
        <p:nvSpPr>
          <p:cNvPr id="36" name="Text 34"/>
          <p:cNvSpPr/>
          <p:nvPr/>
        </p:nvSpPr>
        <p:spPr>
          <a:xfrm>
            <a:off x="3876824" y="4149030"/>
            <a:ext cx="4962376" cy="639961"/>
          </a:xfrm>
          <a:prstGeom prst="rect">
            <a:avLst/>
          </a:prstGeom>
          <a:solidFill>
            <a:srgbClr val="DBEAFE"/>
          </a:solidFill>
          <a:ln/>
        </p:spPr>
        <p:txBody>
          <a:bodyPr wrap="square" rtlCol="0" anchor="ctr"/>
          <a:lstStyle/>
          <a:p>
            <a:pPr marL="0" indent="0">
              <a:buNone/>
            </a:pPr>
            <a:endParaRPr lang="en-US" dirty="0"/>
          </a:p>
        </p:txBody>
      </p:sp>
      <p:sp>
        <p:nvSpPr>
          <p:cNvPr id="37" name="Shape 35"/>
          <p:cNvSpPr/>
          <p:nvPr/>
        </p:nvSpPr>
        <p:spPr>
          <a:xfrm>
            <a:off x="3891111" y="4149030"/>
            <a:ext cx="0" cy="639961"/>
          </a:xfrm>
          <a:prstGeom prst="line">
            <a:avLst/>
          </a:prstGeom>
          <a:noFill/>
          <a:ln w="28575">
            <a:solidFill>
              <a:srgbClr val="3B82F6"/>
            </a:solidFill>
            <a:prstDash val="solid"/>
          </a:ln>
        </p:spPr>
        <p:txBody>
          <a:bodyPr/>
          <a:lstStyle/>
          <a:p>
            <a:endParaRPr lang="en-US"/>
          </a:p>
        </p:txBody>
      </p:sp>
      <p:sp>
        <p:nvSpPr>
          <p:cNvPr id="38" name="Text 36"/>
          <p:cNvSpPr/>
          <p:nvPr/>
        </p:nvSpPr>
        <p:spPr>
          <a:xfrm>
            <a:off x="4019699" y="4263330"/>
            <a:ext cx="4799305"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1E40AF"/>
                </a:solidFill>
                <a:latin typeface="Arial" pitchFamily="34" charset="0"/>
                <a:ea typeface="Arial" pitchFamily="34" charset="-122"/>
                <a:cs typeface="Arial" pitchFamily="34" charset="-120"/>
              </a:rPr>
              <a:t>FEEDS INTO NEXT PHASE</a:t>
            </a:r>
            <a:endParaRPr lang="en-US" sz="750" dirty="0"/>
          </a:p>
        </p:txBody>
      </p:sp>
      <p:sp>
        <p:nvSpPr>
          <p:cNvPr id="39" name="Text 37"/>
          <p:cNvSpPr/>
          <p:nvPr/>
        </p:nvSpPr>
        <p:spPr>
          <a:xfrm>
            <a:off x="4019699" y="4434780"/>
            <a:ext cx="4799305" cy="239911"/>
          </a:xfrm>
          <a:prstGeom prst="rect">
            <a:avLst/>
          </a:prstGeom>
          <a:noFill/>
          <a:ln/>
        </p:spPr>
        <p:txBody>
          <a:bodyPr wrap="square" lIns="0" tIns="0" rIns="0" bIns="0" rtlCol="0" anchor="t"/>
          <a:lstStyle/>
          <a:p>
            <a:pPr marL="0" indent="0" algn="l">
              <a:lnSpc>
                <a:spcPts val="945"/>
              </a:lnSpc>
              <a:buNone/>
            </a:pPr>
            <a:r>
              <a:rPr lang="en-US" sz="675" dirty="0">
                <a:solidFill>
                  <a:srgbClr val="1E40AF"/>
                </a:solidFill>
                <a:latin typeface="Arial" pitchFamily="34" charset="0"/>
                <a:ea typeface="Arial" pitchFamily="34" charset="-122"/>
                <a:cs typeface="Arial" pitchFamily="34" charset="-120"/>
              </a:rPr>
              <a:t>Your documentation becomes the foundation for the PRD. The more thorough this phase, the better your specification will be.</a:t>
            </a:r>
            <a:endParaRPr lang="en-US" sz="6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41962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304800" y="304800"/>
            <a:ext cx="981373" cy="234255"/>
          </a:xfrm>
          <a:prstGeom prst="rect">
            <a:avLst/>
          </a:prstGeom>
          <a:solidFill>
            <a:srgbClr val="E11D48"/>
          </a:solidFill>
          <a:ln/>
        </p:spPr>
        <p:txBody>
          <a:bodyPr wrap="square" rtlCol="0" anchor="ctr"/>
          <a:lstStyle/>
          <a:p>
            <a:pPr marL="0" indent="0">
              <a:buNone/>
            </a:pPr>
            <a:endParaRPr lang="en-US" dirty="0"/>
          </a:p>
        </p:txBody>
      </p:sp>
      <p:sp>
        <p:nvSpPr>
          <p:cNvPr id="4" name="Text 2"/>
          <p:cNvSpPr/>
          <p:nvPr/>
        </p:nvSpPr>
        <p:spPr>
          <a:xfrm>
            <a:off x="419100" y="361950"/>
            <a:ext cx="767828" cy="119955"/>
          </a:xfrm>
          <a:prstGeom prst="rect">
            <a:avLst/>
          </a:prstGeom>
          <a:noFill/>
          <a:ln/>
        </p:spPr>
        <p:txBody>
          <a:bodyPr wrap="square" lIns="0" tIns="0" rIns="0" bIns="0" rtlCol="0" anchor="t"/>
          <a:lstStyle/>
          <a:p>
            <a:pPr marL="0" indent="0" algn="l">
              <a:lnSpc>
                <a:spcPts val="945"/>
              </a:lnSpc>
              <a:buNone/>
            </a:pPr>
            <a:r>
              <a:rPr lang="en-US" sz="675" b="1" dirty="0">
                <a:solidFill>
                  <a:srgbClr val="FFFFFF"/>
                </a:solidFill>
                <a:latin typeface="Arial" pitchFamily="34" charset="0"/>
                <a:ea typeface="Arial" pitchFamily="34" charset="-122"/>
                <a:cs typeface="Arial" pitchFamily="34" charset="-120"/>
              </a:rPr>
              <a:t>PHASE 7 OF 10</a:t>
            </a:r>
            <a:endParaRPr lang="en-US" sz="675" dirty="0"/>
          </a:p>
        </p:txBody>
      </p:sp>
      <p:sp>
        <p:nvSpPr>
          <p:cNvPr id="5" name="Text 3"/>
          <p:cNvSpPr/>
          <p:nvPr/>
        </p:nvSpPr>
        <p:spPr>
          <a:xfrm>
            <a:off x="304800" y="805755"/>
            <a:ext cx="1437894" cy="594122"/>
          </a:xfrm>
          <a:prstGeom prst="rect">
            <a:avLst/>
          </a:prstGeom>
          <a:noFill/>
          <a:ln/>
        </p:spPr>
        <p:txBody>
          <a:bodyPr wrap="square" lIns="0" tIns="0" rIns="0" bIns="0" rtlCol="0" anchor="t"/>
          <a:lstStyle/>
          <a:p>
            <a:pPr marL="0" indent="0" algn="l">
              <a:lnSpc>
                <a:spcPts val="2340"/>
              </a:lnSpc>
              <a:spcAft>
                <a:spcPts val="900"/>
              </a:spcAft>
              <a:buNone/>
            </a:pPr>
            <a:r>
              <a:rPr lang="en-US" sz="1950" dirty="0">
                <a:solidFill>
                  <a:srgbClr val="FFFFFF"/>
                </a:solidFill>
                <a:latin typeface="Georgia" pitchFamily="34" charset="0"/>
                <a:ea typeface="Georgia" pitchFamily="34" charset="-122"/>
                <a:cs typeface="Georgia" pitchFamily="34" charset="-120"/>
              </a:rPr>
              <a:t>PRD</a:t>
            </a:r>
            <a:endParaRPr lang="en-US" sz="1950" dirty="0"/>
          </a:p>
          <a:p>
            <a:pPr marL="0" indent="0" algn="l">
              <a:lnSpc>
                <a:spcPts val="2340"/>
              </a:lnSpc>
              <a:spcAft>
                <a:spcPts val="900"/>
              </a:spcAft>
              <a:buNone/>
            </a:pPr>
            <a:r>
              <a:rPr lang="en-US" sz="1950" dirty="0">
                <a:solidFill>
                  <a:srgbClr val="FFFFFF"/>
                </a:solidFill>
                <a:latin typeface="Georgia" pitchFamily="34" charset="0"/>
                <a:ea typeface="Georgia" pitchFamily="34" charset="-122"/>
                <a:cs typeface="Georgia" pitchFamily="34" charset="-120"/>
              </a:rPr>
              <a:t>Creation</a:t>
            </a:r>
            <a:endParaRPr lang="en-US" sz="1950" dirty="0"/>
          </a:p>
        </p:txBody>
      </p:sp>
      <p:sp>
        <p:nvSpPr>
          <p:cNvPr id="6" name="Text 4"/>
          <p:cNvSpPr/>
          <p:nvPr/>
        </p:nvSpPr>
        <p:spPr>
          <a:xfrm>
            <a:off x="304800" y="1666577"/>
            <a:ext cx="381000" cy="11906"/>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304800" y="1983284"/>
            <a:ext cx="2810024" cy="784771"/>
          </a:xfrm>
          <a:prstGeom prst="rect">
            <a:avLst/>
          </a:prstGeom>
          <a:solidFill>
            <a:srgbClr val="E11D48">
              <a:alpha val="15000"/>
            </a:srgbClr>
          </a:solidFill>
          <a:ln/>
        </p:spPr>
        <p:txBody>
          <a:bodyPr wrap="square" rtlCol="0" anchor="ctr"/>
          <a:lstStyle/>
          <a:p>
            <a:pPr marL="0" indent="0">
              <a:buNone/>
            </a:pPr>
            <a:endParaRPr lang="en-US" dirty="0"/>
          </a:p>
        </p:txBody>
      </p:sp>
      <p:sp>
        <p:nvSpPr>
          <p:cNvPr id="8" name="Shape 6"/>
          <p:cNvSpPr/>
          <p:nvPr/>
        </p:nvSpPr>
        <p:spPr>
          <a:xfrm>
            <a:off x="319088" y="1983284"/>
            <a:ext cx="0" cy="784771"/>
          </a:xfrm>
          <a:prstGeom prst="line">
            <a:avLst/>
          </a:prstGeom>
          <a:noFill/>
          <a:ln w="28575">
            <a:solidFill>
              <a:srgbClr val="E11D48"/>
            </a:solidFill>
            <a:prstDash val="solid"/>
          </a:ln>
        </p:spPr>
        <p:txBody>
          <a:bodyPr/>
          <a:lstStyle/>
          <a:p>
            <a:endParaRPr lang="en-US"/>
          </a:p>
        </p:txBody>
      </p:sp>
      <p:sp>
        <p:nvSpPr>
          <p:cNvPr id="9" name="Text 7"/>
          <p:cNvSpPr/>
          <p:nvPr/>
        </p:nvSpPr>
        <p:spPr>
          <a:xfrm>
            <a:off x="466725" y="2116634"/>
            <a:ext cx="2565044"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FDA4AF"/>
                </a:solidFill>
                <a:latin typeface="Arial" pitchFamily="34" charset="0"/>
                <a:ea typeface="Arial" pitchFamily="34" charset="-122"/>
                <a:cs typeface="Arial" pitchFamily="34" charset="-120"/>
              </a:rPr>
              <a:t>THE OBJECTIVE</a:t>
            </a:r>
            <a:endParaRPr lang="en-US" sz="825" dirty="0"/>
          </a:p>
        </p:txBody>
      </p:sp>
      <p:sp>
        <p:nvSpPr>
          <p:cNvPr id="10" name="Text 8"/>
          <p:cNvSpPr/>
          <p:nvPr/>
        </p:nvSpPr>
        <p:spPr>
          <a:xfrm>
            <a:off x="466725" y="2320379"/>
            <a:ext cx="2565044" cy="314325"/>
          </a:xfrm>
          <a:prstGeom prst="rect">
            <a:avLst/>
          </a:prstGeom>
          <a:noFill/>
          <a:ln/>
        </p:spPr>
        <p:txBody>
          <a:bodyPr wrap="square" lIns="0" tIns="0" rIns="0" bIns="0" rtlCol="0" anchor="t"/>
          <a:lstStyle/>
          <a:p>
            <a:pPr marL="0" indent="0" algn="l">
              <a:lnSpc>
                <a:spcPts val="1238"/>
              </a:lnSpc>
              <a:buNone/>
            </a:pPr>
            <a:r>
              <a:rPr lang="en-US" sz="825" dirty="0">
                <a:solidFill>
                  <a:srgbClr val="FFFFFF">
                    <a:alpha val="80000"/>
                  </a:srgbClr>
                </a:solidFill>
                <a:latin typeface="Arial" pitchFamily="34" charset="0"/>
                <a:ea typeface="Arial" pitchFamily="34" charset="-122"/>
                <a:cs typeface="Arial" pitchFamily="34" charset="-120"/>
              </a:rPr>
              <a:t>Create the definitive specification document that guides all future agentic work.</a:t>
            </a:r>
            <a:endParaRPr lang="en-US" sz="825" dirty="0"/>
          </a:p>
        </p:txBody>
      </p:sp>
      <p:sp>
        <p:nvSpPr>
          <p:cNvPr id="11" name="Text 9"/>
          <p:cNvSpPr/>
          <p:nvPr/>
        </p:nvSpPr>
        <p:spPr>
          <a:xfrm>
            <a:off x="304800" y="3072854"/>
            <a:ext cx="2810024" cy="1099096"/>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438150" y="3206204"/>
            <a:ext cx="2594190"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PRD COMPONENTS</a:t>
            </a:r>
            <a:endParaRPr lang="en-US" sz="825" dirty="0"/>
          </a:p>
        </p:txBody>
      </p:sp>
      <p:sp>
        <p:nvSpPr>
          <p:cNvPr id="13" name="Text 11"/>
          <p:cNvSpPr/>
          <p:nvPr/>
        </p:nvSpPr>
        <p:spPr>
          <a:xfrm>
            <a:off x="438150" y="3429000"/>
            <a:ext cx="2594190" cy="609600"/>
          </a:xfrm>
          <a:prstGeom prst="rect">
            <a:avLst/>
          </a:prstGeom>
          <a:noFill/>
          <a:ln/>
        </p:spPr>
        <p:txBody>
          <a:bodyPr wrap="square" lIns="0" tIns="0" rIns="0" bIns="0" rtlCol="0" anchor="t"/>
          <a:lstStyle/>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Feature specifications</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Technical requirements</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User stories &amp; flows</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Acceptance criteria</a:t>
            </a:r>
            <a:endParaRPr lang="en-US" sz="750" dirty="0"/>
          </a:p>
        </p:txBody>
      </p:sp>
      <p:sp>
        <p:nvSpPr>
          <p:cNvPr id="14" name="Text 12"/>
          <p:cNvSpPr/>
          <p:nvPr/>
        </p:nvSpPr>
        <p:spPr>
          <a:xfrm>
            <a:off x="304800" y="4476750"/>
            <a:ext cx="2810024" cy="361950"/>
          </a:xfrm>
          <a:prstGeom prst="rect">
            <a:avLst/>
          </a:prstGeom>
          <a:solidFill>
            <a:srgbClr val="C9A227"/>
          </a:solidFill>
          <a:ln/>
        </p:spPr>
        <p:txBody>
          <a:bodyPr wrap="square" rtlCol="0" anchor="ctr"/>
          <a:lstStyle/>
          <a:p>
            <a:pPr marL="0" indent="0">
              <a:buNone/>
            </a:pPr>
            <a:endParaRPr lang="en-US" dirty="0"/>
          </a:p>
        </p:txBody>
      </p:sp>
      <p:sp>
        <p:nvSpPr>
          <p:cNvPr id="15" name="Text 13"/>
          <p:cNvSpPr/>
          <p:nvPr/>
        </p:nvSpPr>
        <p:spPr>
          <a:xfrm>
            <a:off x="393286" y="4591050"/>
            <a:ext cx="2633052" cy="133350"/>
          </a:xfrm>
          <a:prstGeom prst="rect">
            <a:avLst/>
          </a:prstGeom>
          <a:noFill/>
          <a:ln/>
        </p:spPr>
        <p:txBody>
          <a:bodyPr wrap="square" lIns="0" tIns="0" rIns="0" bIns="0" rtlCol="0" anchor="t"/>
          <a:lstStyle/>
          <a:p>
            <a:pPr marL="0" indent="0" algn="ctr">
              <a:lnSpc>
                <a:spcPts val="1050"/>
              </a:lnSpc>
              <a:buNone/>
            </a:pPr>
            <a:r>
              <a:rPr lang="en-US" sz="750" b="1" dirty="0">
                <a:solidFill>
                  <a:srgbClr val="1A1F2E"/>
                </a:solidFill>
                <a:latin typeface="Arial" pitchFamily="34" charset="0"/>
                <a:ea typeface="Arial" pitchFamily="34" charset="-122"/>
                <a:cs typeface="Arial" pitchFamily="34" charset="-120"/>
              </a:rPr>
              <a:t>The PRD is your agent's instruction manual</a:t>
            </a:r>
            <a:endParaRPr lang="en-US" sz="750" dirty="0"/>
          </a:p>
        </p:txBody>
      </p:sp>
      <p:sp>
        <p:nvSpPr>
          <p:cNvPr id="16" name="Text 14"/>
          <p:cNvSpPr/>
          <p:nvPr/>
        </p:nvSpPr>
        <p:spPr>
          <a:xfrm>
            <a:off x="3572024" y="0"/>
            <a:ext cx="5571976"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76824" y="918567"/>
            <a:ext cx="5061624" cy="173236"/>
          </a:xfrm>
          <a:prstGeom prst="rect">
            <a:avLst/>
          </a:prstGeom>
          <a:noFill/>
          <a:ln/>
        </p:spPr>
        <p:txBody>
          <a:bodyPr wrap="square" lIns="0" tIns="0" rIns="0" bIns="0" rtlCol="0" anchor="t"/>
          <a:lstStyle/>
          <a:p>
            <a:pPr marL="0" indent="0" algn="l">
              <a:lnSpc>
                <a:spcPts val="1365"/>
              </a:lnSpc>
              <a:spcAft>
                <a:spcPts val="1050"/>
              </a:spcAft>
              <a:buNone/>
            </a:pPr>
            <a:r>
              <a:rPr lang="en-US" sz="975" b="1" dirty="0">
                <a:solidFill>
                  <a:srgbClr val="1A1F2E"/>
                </a:solidFill>
                <a:latin typeface="Arial" pitchFamily="34" charset="0"/>
                <a:ea typeface="Arial" pitchFamily="34" charset="-122"/>
                <a:cs typeface="Arial" pitchFamily="34" charset="-120"/>
              </a:rPr>
              <a:t>PRD CREATION OPTIONS</a:t>
            </a:r>
            <a:endParaRPr lang="en-US" sz="975" dirty="0"/>
          </a:p>
        </p:txBody>
      </p:sp>
      <p:sp>
        <p:nvSpPr>
          <p:cNvPr id="18" name="Text 16"/>
          <p:cNvSpPr/>
          <p:nvPr/>
        </p:nvSpPr>
        <p:spPr>
          <a:xfrm>
            <a:off x="3876824" y="1377553"/>
            <a:ext cx="1603325" cy="1013073"/>
          </a:xfrm>
          <a:prstGeom prst="rect">
            <a:avLst/>
          </a:prstGeom>
          <a:solidFill>
            <a:srgbClr val="FFFFFF"/>
          </a:solidFill>
          <a:ln w="19050">
            <a:solidFill>
              <a:srgbClr val="E11D48"/>
            </a:solidFill>
          </a:ln>
        </p:spPr>
        <p:txBody>
          <a:bodyPr wrap="square" rtlCol="0" anchor="ctr"/>
          <a:lstStyle/>
          <a:p>
            <a:pPr marL="0" indent="0">
              <a:buNone/>
            </a:pPr>
            <a:endParaRPr lang="en-US" dirty="0"/>
          </a:p>
        </p:txBody>
      </p:sp>
      <p:sp>
        <p:nvSpPr>
          <p:cNvPr id="19" name="Text 17"/>
          <p:cNvSpPr/>
          <p:nvPr/>
        </p:nvSpPr>
        <p:spPr>
          <a:xfrm>
            <a:off x="4010174" y="1510903"/>
            <a:ext cx="1363358"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E11D48"/>
                </a:solidFill>
                <a:latin typeface="Arial" pitchFamily="34" charset="0"/>
                <a:ea typeface="Arial" pitchFamily="34" charset="-122"/>
                <a:cs typeface="Arial" pitchFamily="34" charset="-120"/>
              </a:rPr>
              <a:t>SPEC KIT</a:t>
            </a:r>
            <a:endParaRPr lang="en-US" sz="825" dirty="0"/>
          </a:p>
        </p:txBody>
      </p:sp>
      <p:sp>
        <p:nvSpPr>
          <p:cNvPr id="20" name="Text 18"/>
          <p:cNvSpPr/>
          <p:nvPr/>
        </p:nvSpPr>
        <p:spPr>
          <a:xfrm>
            <a:off x="4010174" y="1714649"/>
            <a:ext cx="1363358" cy="359866"/>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AI-native PRD generator. Feed it your docs, get structured spec output. Built for this workflow.</a:t>
            </a:r>
            <a:endParaRPr lang="en-US" sz="675" dirty="0"/>
          </a:p>
        </p:txBody>
      </p:sp>
      <p:sp>
        <p:nvSpPr>
          <p:cNvPr id="21" name="Text 19"/>
          <p:cNvSpPr/>
          <p:nvPr/>
        </p:nvSpPr>
        <p:spPr>
          <a:xfrm>
            <a:off x="4010174" y="2150715"/>
            <a:ext cx="1363358" cy="106561"/>
          </a:xfrm>
          <a:prstGeom prst="rect">
            <a:avLst/>
          </a:prstGeom>
          <a:noFill/>
          <a:ln/>
        </p:spPr>
        <p:txBody>
          <a:bodyPr wrap="square" lIns="0" tIns="0" rIns="0" bIns="0" rtlCol="0" anchor="t"/>
          <a:lstStyle/>
          <a:p>
            <a:pPr marL="0" indent="0" algn="l">
              <a:lnSpc>
                <a:spcPts val="840"/>
              </a:lnSpc>
              <a:spcBef>
                <a:spcPts val="600"/>
              </a:spcBef>
              <a:buNone/>
            </a:pPr>
            <a:r>
              <a:rPr lang="en-US" sz="600" i="1" dirty="0">
                <a:solidFill>
                  <a:srgbClr val="9CA3AF"/>
                </a:solidFill>
                <a:latin typeface="Arial" pitchFamily="34" charset="0"/>
                <a:ea typeface="Arial" pitchFamily="34" charset="-122"/>
                <a:cs typeface="Arial" pitchFamily="34" charset="-120"/>
              </a:rPr>
              <a:t>Best for: Complex projects</a:t>
            </a:r>
            <a:endParaRPr lang="en-US" sz="600" dirty="0"/>
          </a:p>
        </p:txBody>
      </p:sp>
      <p:sp>
        <p:nvSpPr>
          <p:cNvPr id="22" name="Text 20"/>
          <p:cNvSpPr/>
          <p:nvPr/>
        </p:nvSpPr>
        <p:spPr>
          <a:xfrm>
            <a:off x="5575399" y="1387078"/>
            <a:ext cx="1584275" cy="994023"/>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3" name="Text 21"/>
          <p:cNvSpPr/>
          <p:nvPr/>
        </p:nvSpPr>
        <p:spPr>
          <a:xfrm>
            <a:off x="5699224" y="1510903"/>
            <a:ext cx="1363358"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1A1F2E"/>
                </a:solidFill>
                <a:latin typeface="Arial" pitchFamily="34" charset="0"/>
                <a:ea typeface="Arial" pitchFamily="34" charset="-122"/>
                <a:cs typeface="Arial" pitchFamily="34" charset="-120"/>
              </a:rPr>
              <a:t>PLANNING MODE</a:t>
            </a:r>
            <a:endParaRPr lang="en-US" sz="825" dirty="0"/>
          </a:p>
        </p:txBody>
      </p:sp>
      <p:sp>
        <p:nvSpPr>
          <p:cNvPr id="24" name="Text 22"/>
          <p:cNvSpPr/>
          <p:nvPr/>
        </p:nvSpPr>
        <p:spPr>
          <a:xfrm>
            <a:off x="5699224" y="1714649"/>
            <a:ext cx="1363358" cy="359866"/>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Use Claude's planning mode to iteratively build the PRD through conversation.</a:t>
            </a:r>
            <a:endParaRPr lang="en-US" sz="675" dirty="0"/>
          </a:p>
        </p:txBody>
      </p:sp>
      <p:sp>
        <p:nvSpPr>
          <p:cNvPr id="25" name="Text 23"/>
          <p:cNvSpPr/>
          <p:nvPr/>
        </p:nvSpPr>
        <p:spPr>
          <a:xfrm>
            <a:off x="5699224" y="2150715"/>
            <a:ext cx="1363358" cy="106561"/>
          </a:xfrm>
          <a:prstGeom prst="rect">
            <a:avLst/>
          </a:prstGeom>
          <a:noFill/>
          <a:ln/>
        </p:spPr>
        <p:txBody>
          <a:bodyPr wrap="square" lIns="0" tIns="0" rIns="0" bIns="0" rtlCol="0" anchor="t"/>
          <a:lstStyle/>
          <a:p>
            <a:pPr marL="0" indent="0" algn="l">
              <a:lnSpc>
                <a:spcPts val="840"/>
              </a:lnSpc>
              <a:spcBef>
                <a:spcPts val="600"/>
              </a:spcBef>
              <a:buNone/>
            </a:pPr>
            <a:r>
              <a:rPr lang="en-US" sz="600" i="1" dirty="0">
                <a:solidFill>
                  <a:srgbClr val="9CA3AF"/>
                </a:solidFill>
                <a:latin typeface="Arial" pitchFamily="34" charset="0"/>
                <a:ea typeface="Arial" pitchFamily="34" charset="-122"/>
                <a:cs typeface="Arial" pitchFamily="34" charset="-120"/>
              </a:rPr>
              <a:t>Best for: Medium projects</a:t>
            </a:r>
            <a:endParaRPr lang="en-US" sz="600" dirty="0"/>
          </a:p>
        </p:txBody>
      </p:sp>
      <p:sp>
        <p:nvSpPr>
          <p:cNvPr id="26" name="Text 24"/>
          <p:cNvSpPr/>
          <p:nvPr/>
        </p:nvSpPr>
        <p:spPr>
          <a:xfrm>
            <a:off x="7254925" y="1447056"/>
            <a:ext cx="1584275" cy="874068"/>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7" name="Text 25"/>
          <p:cNvSpPr/>
          <p:nvPr/>
        </p:nvSpPr>
        <p:spPr>
          <a:xfrm>
            <a:off x="7378750" y="1570881"/>
            <a:ext cx="1363358"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1A1F2E"/>
                </a:solidFill>
                <a:latin typeface="Arial" pitchFamily="34" charset="0"/>
                <a:ea typeface="Arial" pitchFamily="34" charset="-122"/>
                <a:cs typeface="Arial" pitchFamily="34" charset="-120"/>
              </a:rPr>
              <a:t>MANUAL + AI</a:t>
            </a:r>
            <a:endParaRPr lang="en-US" sz="825" dirty="0"/>
          </a:p>
        </p:txBody>
      </p:sp>
      <p:sp>
        <p:nvSpPr>
          <p:cNvPr id="28" name="Text 26"/>
          <p:cNvSpPr/>
          <p:nvPr/>
        </p:nvSpPr>
        <p:spPr>
          <a:xfrm>
            <a:off x="7378750" y="1774627"/>
            <a:ext cx="1363358" cy="239911"/>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Write structure yourself, use AI to fill sections and refine language.</a:t>
            </a:r>
            <a:endParaRPr lang="en-US" sz="675" dirty="0"/>
          </a:p>
        </p:txBody>
      </p:sp>
      <p:sp>
        <p:nvSpPr>
          <p:cNvPr id="29" name="Text 27"/>
          <p:cNvSpPr/>
          <p:nvPr/>
        </p:nvSpPr>
        <p:spPr>
          <a:xfrm>
            <a:off x="7378750" y="2090738"/>
            <a:ext cx="1363358" cy="106561"/>
          </a:xfrm>
          <a:prstGeom prst="rect">
            <a:avLst/>
          </a:prstGeom>
          <a:noFill/>
          <a:ln/>
        </p:spPr>
        <p:txBody>
          <a:bodyPr wrap="square" lIns="0" tIns="0" rIns="0" bIns="0" rtlCol="0" anchor="t"/>
          <a:lstStyle/>
          <a:p>
            <a:pPr marL="0" indent="0" algn="l">
              <a:lnSpc>
                <a:spcPts val="840"/>
              </a:lnSpc>
              <a:spcBef>
                <a:spcPts val="600"/>
              </a:spcBef>
              <a:buNone/>
            </a:pPr>
            <a:r>
              <a:rPr lang="en-US" sz="600" i="1" dirty="0">
                <a:solidFill>
                  <a:srgbClr val="9CA3AF"/>
                </a:solidFill>
                <a:latin typeface="Arial" pitchFamily="34" charset="0"/>
                <a:ea typeface="Arial" pitchFamily="34" charset="-122"/>
                <a:cs typeface="Arial" pitchFamily="34" charset="-120"/>
              </a:rPr>
              <a:t>Best for: Simple projects</a:t>
            </a:r>
            <a:endParaRPr lang="en-US" sz="600" dirty="0"/>
          </a:p>
        </p:txBody>
      </p:sp>
      <p:sp>
        <p:nvSpPr>
          <p:cNvPr id="30" name="Text 28"/>
          <p:cNvSpPr/>
          <p:nvPr/>
        </p:nvSpPr>
        <p:spPr>
          <a:xfrm>
            <a:off x="3876824" y="2657326"/>
            <a:ext cx="4962376" cy="700980"/>
          </a:xfrm>
          <a:prstGeom prst="rect">
            <a:avLst/>
          </a:prstGeom>
          <a:solidFill>
            <a:srgbClr val="1A1F2E"/>
          </a:solidFill>
          <a:ln/>
        </p:spPr>
        <p:txBody>
          <a:bodyPr wrap="square" rtlCol="0" anchor="ctr"/>
          <a:lstStyle/>
          <a:p>
            <a:pPr marL="0" indent="0">
              <a:buNone/>
            </a:pPr>
            <a:endParaRPr lang="en-US" dirty="0"/>
          </a:p>
        </p:txBody>
      </p:sp>
      <p:sp>
        <p:nvSpPr>
          <p:cNvPr id="31" name="Text 29"/>
          <p:cNvSpPr/>
          <p:nvPr/>
        </p:nvSpPr>
        <p:spPr>
          <a:xfrm>
            <a:off x="4010174" y="2790676"/>
            <a:ext cx="4789590" cy="119955"/>
          </a:xfrm>
          <a:prstGeom prst="rect">
            <a:avLst/>
          </a:prstGeom>
          <a:noFill/>
          <a:ln/>
        </p:spPr>
        <p:txBody>
          <a:bodyPr wrap="square" lIns="0" tIns="0" rIns="0" bIns="0" rtlCol="0" anchor="t"/>
          <a:lstStyle/>
          <a:p>
            <a:pPr marL="0" indent="0" algn="l">
              <a:lnSpc>
                <a:spcPts val="945"/>
              </a:lnSpc>
              <a:spcAft>
                <a:spcPts val="450"/>
              </a:spcAft>
              <a:buNone/>
            </a:pPr>
            <a:r>
              <a:rPr lang="en-US" sz="675" dirty="0">
                <a:solidFill>
                  <a:srgbClr val="C9A227"/>
                </a:solidFill>
                <a:latin typeface="Arial" pitchFamily="34" charset="0"/>
                <a:ea typeface="Arial" pitchFamily="34" charset="-122"/>
                <a:cs typeface="Arial" pitchFamily="34" charset="-120"/>
              </a:rPr>
              <a:t>EXAMPLE VOICE PROMPT</a:t>
            </a:r>
            <a:endParaRPr lang="en-US" sz="675" dirty="0"/>
          </a:p>
        </p:txBody>
      </p:sp>
      <p:sp>
        <p:nvSpPr>
          <p:cNvPr id="32" name="Text 30"/>
          <p:cNvSpPr/>
          <p:nvPr/>
        </p:nvSpPr>
        <p:spPr>
          <a:xfrm>
            <a:off x="4010174" y="2967782"/>
            <a:ext cx="4789590" cy="257175"/>
          </a:xfrm>
          <a:prstGeom prst="rect">
            <a:avLst/>
          </a:prstGeom>
          <a:noFill/>
          <a:ln/>
        </p:spPr>
        <p:txBody>
          <a:bodyPr wrap="square" lIns="0" tIns="0" rIns="0" bIns="0" rtlCol="0" anchor="t"/>
          <a:lstStyle/>
          <a:p>
            <a:pPr marL="0" indent="0" algn="l">
              <a:lnSpc>
                <a:spcPts val="1013"/>
              </a:lnSpc>
              <a:buNone/>
            </a:pPr>
            <a:r>
              <a:rPr lang="en-US" sz="675" dirty="0">
                <a:solidFill>
                  <a:srgbClr val="FFFFFF">
                    <a:alpha val="80000"/>
                  </a:srgbClr>
                </a:solidFill>
                <a:latin typeface="Arial" pitchFamily="34" charset="0"/>
                <a:ea typeface="Arial" pitchFamily="34" charset="-122"/>
                <a:cs typeface="Arial" pitchFamily="34" charset="-120"/>
              </a:rPr>
              <a:t>"Using everything in our docs folder — the design system, architecture notes, and narrative guidelines — create a comprehensive PRD. Include user stories, technical specs, and clear acceptance criteria for each feature."</a:t>
            </a:r>
            <a:endParaRPr lang="en-US" sz="675" dirty="0"/>
          </a:p>
        </p:txBody>
      </p:sp>
      <p:sp>
        <p:nvSpPr>
          <p:cNvPr id="33" name="Text 31"/>
          <p:cNvSpPr/>
          <p:nvPr/>
        </p:nvSpPr>
        <p:spPr>
          <a:xfrm>
            <a:off x="3876824" y="3625007"/>
            <a:ext cx="2433638" cy="599777"/>
          </a:xfrm>
          <a:prstGeom prst="rect">
            <a:avLst/>
          </a:prstGeom>
          <a:solidFill>
            <a:srgbClr val="DCFCE7"/>
          </a:solidFill>
          <a:ln/>
        </p:spPr>
        <p:txBody>
          <a:bodyPr wrap="square" rtlCol="0" anchor="ctr"/>
          <a:lstStyle/>
          <a:p>
            <a:pPr marL="0" indent="0">
              <a:buNone/>
            </a:pPr>
            <a:endParaRPr lang="en-US" dirty="0"/>
          </a:p>
        </p:txBody>
      </p:sp>
      <p:sp>
        <p:nvSpPr>
          <p:cNvPr id="34" name="Shape 32"/>
          <p:cNvSpPr/>
          <p:nvPr/>
        </p:nvSpPr>
        <p:spPr>
          <a:xfrm>
            <a:off x="3891111" y="3625007"/>
            <a:ext cx="0" cy="599777"/>
          </a:xfrm>
          <a:prstGeom prst="line">
            <a:avLst/>
          </a:prstGeom>
          <a:noFill/>
          <a:ln w="28575">
            <a:solidFill>
              <a:srgbClr val="059669"/>
            </a:solidFill>
            <a:prstDash val="solid"/>
          </a:ln>
        </p:spPr>
        <p:txBody>
          <a:bodyPr/>
          <a:lstStyle/>
          <a:p>
            <a:endParaRPr lang="en-US"/>
          </a:p>
        </p:txBody>
      </p:sp>
      <p:sp>
        <p:nvSpPr>
          <p:cNvPr id="35" name="Text 33"/>
          <p:cNvSpPr/>
          <p:nvPr/>
        </p:nvSpPr>
        <p:spPr>
          <a:xfrm>
            <a:off x="4019699" y="3739307"/>
            <a:ext cx="2219992"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QUALITY INDICATORS</a:t>
            </a:r>
            <a:endParaRPr lang="en-US" sz="675" dirty="0"/>
          </a:p>
        </p:txBody>
      </p:sp>
      <p:sp>
        <p:nvSpPr>
          <p:cNvPr id="36" name="Text 34"/>
          <p:cNvSpPr/>
          <p:nvPr/>
        </p:nvSpPr>
        <p:spPr>
          <a:xfrm>
            <a:off x="4019699" y="3897362"/>
            <a:ext cx="2219992" cy="213122"/>
          </a:xfrm>
          <a:prstGeom prst="rect">
            <a:avLst/>
          </a:prstGeom>
          <a:noFill/>
          <a:ln/>
        </p:spPr>
        <p:txBody>
          <a:bodyPr wrap="square" lIns="0" tIns="0" rIns="0" bIns="0" rtlCol="0" anchor="t"/>
          <a:lstStyle/>
          <a:p>
            <a:pPr marL="0" indent="0" algn="l">
              <a:lnSpc>
                <a:spcPts val="840"/>
              </a:lnSpc>
              <a:buNone/>
            </a:pPr>
            <a:r>
              <a:rPr lang="en-US" sz="600" dirty="0">
                <a:solidFill>
                  <a:srgbClr val="166534"/>
                </a:solidFill>
                <a:latin typeface="Arial" pitchFamily="34" charset="0"/>
                <a:ea typeface="Arial" pitchFamily="34" charset="-122"/>
                <a:cs typeface="Arial" pitchFamily="34" charset="-120"/>
              </a:rPr>
              <a:t>Testable acceptance criteria, clear scope boundaries, no ambiguous requirements</a:t>
            </a:r>
            <a:endParaRPr lang="en-US" sz="600" dirty="0"/>
          </a:p>
        </p:txBody>
      </p:sp>
      <p:sp>
        <p:nvSpPr>
          <p:cNvPr id="37" name="Text 35"/>
          <p:cNvSpPr/>
          <p:nvPr/>
        </p:nvSpPr>
        <p:spPr>
          <a:xfrm>
            <a:off x="6405711" y="3625007"/>
            <a:ext cx="2433638" cy="599777"/>
          </a:xfrm>
          <a:prstGeom prst="rect">
            <a:avLst/>
          </a:prstGeom>
          <a:solidFill>
            <a:srgbClr val="FEF3C7"/>
          </a:solidFill>
          <a:ln/>
        </p:spPr>
        <p:txBody>
          <a:bodyPr wrap="square" rtlCol="0" anchor="ctr"/>
          <a:lstStyle/>
          <a:p>
            <a:pPr marL="0" indent="0">
              <a:buNone/>
            </a:pPr>
            <a:endParaRPr lang="en-US" dirty="0"/>
          </a:p>
        </p:txBody>
      </p:sp>
      <p:sp>
        <p:nvSpPr>
          <p:cNvPr id="38" name="Shape 36"/>
          <p:cNvSpPr/>
          <p:nvPr/>
        </p:nvSpPr>
        <p:spPr>
          <a:xfrm>
            <a:off x="6419999" y="3625007"/>
            <a:ext cx="0" cy="599777"/>
          </a:xfrm>
          <a:prstGeom prst="line">
            <a:avLst/>
          </a:prstGeom>
          <a:noFill/>
          <a:ln w="28575">
            <a:solidFill>
              <a:srgbClr val="F59E0B"/>
            </a:solidFill>
            <a:prstDash val="solid"/>
          </a:ln>
        </p:spPr>
        <p:txBody>
          <a:bodyPr/>
          <a:lstStyle/>
          <a:p>
            <a:endParaRPr lang="en-US"/>
          </a:p>
        </p:txBody>
      </p:sp>
      <p:sp>
        <p:nvSpPr>
          <p:cNvPr id="39" name="Text 37"/>
          <p:cNvSpPr/>
          <p:nvPr/>
        </p:nvSpPr>
        <p:spPr>
          <a:xfrm>
            <a:off x="6548586" y="3739307"/>
            <a:ext cx="2219992"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OUTPUT</a:t>
            </a:r>
            <a:endParaRPr lang="en-US" sz="675" dirty="0"/>
          </a:p>
        </p:txBody>
      </p:sp>
      <p:sp>
        <p:nvSpPr>
          <p:cNvPr id="40" name="Text 38"/>
          <p:cNvSpPr/>
          <p:nvPr/>
        </p:nvSpPr>
        <p:spPr>
          <a:xfrm>
            <a:off x="6548586" y="3897362"/>
            <a:ext cx="2219992" cy="213122"/>
          </a:xfrm>
          <a:prstGeom prst="rect">
            <a:avLst/>
          </a:prstGeom>
          <a:noFill/>
          <a:ln/>
        </p:spPr>
        <p:txBody>
          <a:bodyPr wrap="square" lIns="0" tIns="0" rIns="0" bIns="0" rtlCol="0" anchor="t"/>
          <a:lstStyle/>
          <a:p>
            <a:pPr marL="0" indent="0" algn="l">
              <a:lnSpc>
                <a:spcPts val="840"/>
              </a:lnSpc>
              <a:buNone/>
            </a:pPr>
            <a:r>
              <a:rPr lang="en-US" sz="600" dirty="0">
                <a:solidFill>
                  <a:srgbClr val="92400E"/>
                </a:solidFill>
                <a:latin typeface="Arial" pitchFamily="34" charset="0"/>
                <a:ea typeface="Arial" pitchFamily="34" charset="-122"/>
                <a:cs typeface="Arial" pitchFamily="34" charset="-120"/>
              </a:rPr>
              <a:t>docs/PRD.md — this file becomes the primary reference for agentic iteration</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41962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304800" y="304800"/>
            <a:ext cx="981373" cy="234255"/>
          </a:xfrm>
          <a:prstGeom prst="rect">
            <a:avLst/>
          </a:prstGeom>
          <a:solidFill>
            <a:srgbClr val="D97706"/>
          </a:solidFill>
          <a:ln/>
        </p:spPr>
        <p:txBody>
          <a:bodyPr wrap="square" rtlCol="0" anchor="ctr"/>
          <a:lstStyle/>
          <a:p>
            <a:pPr marL="0" indent="0">
              <a:buNone/>
            </a:pPr>
            <a:endParaRPr lang="en-US" dirty="0"/>
          </a:p>
        </p:txBody>
      </p:sp>
      <p:sp>
        <p:nvSpPr>
          <p:cNvPr id="4" name="Text 2"/>
          <p:cNvSpPr/>
          <p:nvPr/>
        </p:nvSpPr>
        <p:spPr>
          <a:xfrm>
            <a:off x="419100" y="361950"/>
            <a:ext cx="767828" cy="119955"/>
          </a:xfrm>
          <a:prstGeom prst="rect">
            <a:avLst/>
          </a:prstGeom>
          <a:noFill/>
          <a:ln/>
        </p:spPr>
        <p:txBody>
          <a:bodyPr wrap="square" lIns="0" tIns="0" rIns="0" bIns="0" rtlCol="0" anchor="t"/>
          <a:lstStyle/>
          <a:p>
            <a:pPr marL="0" indent="0" algn="l">
              <a:lnSpc>
                <a:spcPts val="945"/>
              </a:lnSpc>
              <a:buNone/>
            </a:pPr>
            <a:r>
              <a:rPr lang="en-US" sz="675" b="1" dirty="0">
                <a:solidFill>
                  <a:srgbClr val="1A1F2E"/>
                </a:solidFill>
                <a:latin typeface="Arial" pitchFamily="34" charset="0"/>
                <a:ea typeface="Arial" pitchFamily="34" charset="-122"/>
                <a:cs typeface="Arial" pitchFamily="34" charset="-120"/>
              </a:rPr>
              <a:t>PHASE 8 OF 10</a:t>
            </a:r>
            <a:endParaRPr lang="en-US" sz="675" dirty="0"/>
          </a:p>
        </p:txBody>
      </p:sp>
      <p:sp>
        <p:nvSpPr>
          <p:cNvPr id="5" name="Text 3"/>
          <p:cNvSpPr/>
          <p:nvPr/>
        </p:nvSpPr>
        <p:spPr>
          <a:xfrm>
            <a:off x="304800" y="805755"/>
            <a:ext cx="1690497" cy="594122"/>
          </a:xfrm>
          <a:prstGeom prst="rect">
            <a:avLst/>
          </a:prstGeom>
          <a:noFill/>
          <a:ln/>
        </p:spPr>
        <p:txBody>
          <a:bodyPr wrap="square" lIns="0" tIns="0" rIns="0" bIns="0" rtlCol="0" anchor="t"/>
          <a:lstStyle/>
          <a:p>
            <a:pPr marL="0" indent="0" algn="l">
              <a:lnSpc>
                <a:spcPts val="2340"/>
              </a:lnSpc>
              <a:spcAft>
                <a:spcPts val="900"/>
              </a:spcAft>
              <a:buNone/>
            </a:pPr>
            <a:r>
              <a:rPr lang="en-US" sz="1950" dirty="0">
                <a:solidFill>
                  <a:srgbClr val="FFFFFF"/>
                </a:solidFill>
                <a:latin typeface="Georgia" pitchFamily="34" charset="0"/>
                <a:ea typeface="Georgia" pitchFamily="34" charset="-122"/>
                <a:cs typeface="Georgia" pitchFamily="34" charset="-120"/>
              </a:rPr>
              <a:t>Agentic</a:t>
            </a:r>
            <a:endParaRPr lang="en-US" sz="1950" dirty="0"/>
          </a:p>
          <a:p>
            <a:pPr marL="0" indent="0" algn="l">
              <a:lnSpc>
                <a:spcPts val="2340"/>
              </a:lnSpc>
              <a:spcAft>
                <a:spcPts val="900"/>
              </a:spcAft>
              <a:buNone/>
            </a:pPr>
            <a:r>
              <a:rPr lang="en-US" sz="1950" dirty="0">
                <a:solidFill>
                  <a:srgbClr val="FFFFFF"/>
                </a:solidFill>
                <a:latin typeface="Georgia" pitchFamily="34" charset="0"/>
                <a:ea typeface="Georgia" pitchFamily="34" charset="-122"/>
                <a:cs typeface="Georgia" pitchFamily="34" charset="-120"/>
              </a:rPr>
              <a:t>Iteration Mode</a:t>
            </a:r>
            <a:endParaRPr lang="en-US" sz="1950" dirty="0"/>
          </a:p>
        </p:txBody>
      </p:sp>
      <p:sp>
        <p:nvSpPr>
          <p:cNvPr id="6" name="Text 4"/>
          <p:cNvSpPr/>
          <p:nvPr/>
        </p:nvSpPr>
        <p:spPr>
          <a:xfrm>
            <a:off x="304800" y="1666577"/>
            <a:ext cx="381000" cy="11906"/>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304800" y="1983284"/>
            <a:ext cx="2810024" cy="784771"/>
          </a:xfrm>
          <a:prstGeom prst="rect">
            <a:avLst/>
          </a:prstGeom>
          <a:solidFill>
            <a:srgbClr val="D97706">
              <a:alpha val="15000"/>
            </a:srgbClr>
          </a:solidFill>
          <a:ln/>
        </p:spPr>
        <p:txBody>
          <a:bodyPr wrap="square" rtlCol="0" anchor="ctr"/>
          <a:lstStyle/>
          <a:p>
            <a:pPr marL="0" indent="0">
              <a:buNone/>
            </a:pPr>
            <a:endParaRPr lang="en-US" dirty="0"/>
          </a:p>
        </p:txBody>
      </p:sp>
      <p:sp>
        <p:nvSpPr>
          <p:cNvPr id="8" name="Shape 6"/>
          <p:cNvSpPr/>
          <p:nvPr/>
        </p:nvSpPr>
        <p:spPr>
          <a:xfrm>
            <a:off x="319088" y="1983284"/>
            <a:ext cx="0" cy="784771"/>
          </a:xfrm>
          <a:prstGeom prst="line">
            <a:avLst/>
          </a:prstGeom>
          <a:noFill/>
          <a:ln w="28575">
            <a:solidFill>
              <a:srgbClr val="D97706"/>
            </a:solidFill>
            <a:prstDash val="solid"/>
          </a:ln>
        </p:spPr>
        <p:txBody>
          <a:bodyPr/>
          <a:lstStyle/>
          <a:p>
            <a:endParaRPr lang="en-US"/>
          </a:p>
        </p:txBody>
      </p:sp>
      <p:sp>
        <p:nvSpPr>
          <p:cNvPr id="9" name="Text 7"/>
          <p:cNvSpPr/>
          <p:nvPr/>
        </p:nvSpPr>
        <p:spPr>
          <a:xfrm>
            <a:off x="466725" y="2116634"/>
            <a:ext cx="2565044"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FBBF24"/>
                </a:solidFill>
                <a:latin typeface="Arial" pitchFamily="34" charset="0"/>
                <a:ea typeface="Arial" pitchFamily="34" charset="-122"/>
                <a:cs typeface="Arial" pitchFamily="34" charset="-120"/>
              </a:rPr>
              <a:t>THE OBJECTIVE</a:t>
            </a:r>
            <a:endParaRPr lang="en-US" sz="825" dirty="0"/>
          </a:p>
        </p:txBody>
      </p:sp>
      <p:sp>
        <p:nvSpPr>
          <p:cNvPr id="10" name="Text 8"/>
          <p:cNvSpPr/>
          <p:nvPr/>
        </p:nvSpPr>
        <p:spPr>
          <a:xfrm>
            <a:off x="466725" y="2320379"/>
            <a:ext cx="2565044" cy="314325"/>
          </a:xfrm>
          <a:prstGeom prst="rect">
            <a:avLst/>
          </a:prstGeom>
          <a:noFill/>
          <a:ln/>
        </p:spPr>
        <p:txBody>
          <a:bodyPr wrap="square" lIns="0" tIns="0" rIns="0" bIns="0" rtlCol="0" anchor="t"/>
          <a:lstStyle/>
          <a:p>
            <a:pPr marL="0" indent="0" algn="l">
              <a:lnSpc>
                <a:spcPts val="1238"/>
              </a:lnSpc>
              <a:buNone/>
            </a:pPr>
            <a:r>
              <a:rPr lang="en-US" sz="825" dirty="0">
                <a:solidFill>
                  <a:srgbClr val="FFFFFF">
                    <a:alpha val="80000"/>
                  </a:srgbClr>
                </a:solidFill>
                <a:latin typeface="Arial" pitchFamily="34" charset="0"/>
                <a:ea typeface="Arial" pitchFamily="34" charset="-122"/>
                <a:cs typeface="Arial" pitchFamily="34" charset="-120"/>
              </a:rPr>
              <a:t>Let the agent execute substantial work autonomously. All setup pays off here.</a:t>
            </a:r>
            <a:endParaRPr lang="en-US" sz="825" dirty="0"/>
          </a:p>
        </p:txBody>
      </p:sp>
      <p:sp>
        <p:nvSpPr>
          <p:cNvPr id="11" name="Text 9"/>
          <p:cNvSpPr/>
          <p:nvPr/>
        </p:nvSpPr>
        <p:spPr>
          <a:xfrm>
            <a:off x="304800" y="3072854"/>
            <a:ext cx="2810024" cy="1099096"/>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438150" y="3206204"/>
            <a:ext cx="2594190"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WHAT ENABLES THIS</a:t>
            </a:r>
            <a:endParaRPr lang="en-US" sz="825" dirty="0"/>
          </a:p>
        </p:txBody>
      </p:sp>
      <p:sp>
        <p:nvSpPr>
          <p:cNvPr id="13" name="Text 11"/>
          <p:cNvSpPr/>
          <p:nvPr/>
        </p:nvSpPr>
        <p:spPr>
          <a:xfrm>
            <a:off x="438150" y="3429000"/>
            <a:ext cx="2594190" cy="609600"/>
          </a:xfrm>
          <a:prstGeom prst="rect">
            <a:avLst/>
          </a:prstGeom>
          <a:noFill/>
          <a:ln/>
        </p:spPr>
        <p:txBody>
          <a:bodyPr wrap="square" lIns="0" tIns="0" rIns="0" bIns="0" rtlCol="0" anchor="t"/>
          <a:lstStyle/>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Clear PRD specification</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Design system context</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Well-structured codebase</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Established patterns</a:t>
            </a:r>
            <a:endParaRPr lang="en-US" sz="750" dirty="0"/>
          </a:p>
        </p:txBody>
      </p:sp>
      <p:sp>
        <p:nvSpPr>
          <p:cNvPr id="14" name="Text 12"/>
          <p:cNvSpPr/>
          <p:nvPr/>
        </p:nvSpPr>
        <p:spPr>
          <a:xfrm>
            <a:off x="304800" y="4476750"/>
            <a:ext cx="2810024" cy="361950"/>
          </a:xfrm>
          <a:prstGeom prst="rect">
            <a:avLst/>
          </a:prstGeom>
          <a:solidFill>
            <a:srgbClr val="C9A227"/>
          </a:solidFill>
          <a:ln/>
        </p:spPr>
        <p:txBody>
          <a:bodyPr wrap="square" rtlCol="0" anchor="ctr"/>
          <a:lstStyle/>
          <a:p>
            <a:pPr marL="0" indent="0">
              <a:buNone/>
            </a:pPr>
            <a:endParaRPr lang="en-US" dirty="0"/>
          </a:p>
        </p:txBody>
      </p:sp>
      <p:sp>
        <p:nvSpPr>
          <p:cNvPr id="15" name="Text 13"/>
          <p:cNvSpPr/>
          <p:nvPr/>
        </p:nvSpPr>
        <p:spPr>
          <a:xfrm>
            <a:off x="393286" y="4591050"/>
            <a:ext cx="2633052" cy="133350"/>
          </a:xfrm>
          <a:prstGeom prst="rect">
            <a:avLst/>
          </a:prstGeom>
          <a:noFill/>
          <a:ln/>
        </p:spPr>
        <p:txBody>
          <a:bodyPr wrap="square" lIns="0" tIns="0" rIns="0" bIns="0" rtlCol="0" anchor="t"/>
          <a:lstStyle/>
          <a:p>
            <a:pPr marL="0" indent="0" algn="ctr">
              <a:lnSpc>
                <a:spcPts val="1050"/>
              </a:lnSpc>
              <a:buNone/>
            </a:pPr>
            <a:r>
              <a:rPr lang="en-US" sz="750" b="1" dirty="0">
                <a:solidFill>
                  <a:srgbClr val="1A1F2E"/>
                </a:solidFill>
                <a:latin typeface="Arial" pitchFamily="34" charset="0"/>
                <a:ea typeface="Arial" pitchFamily="34" charset="-122"/>
                <a:cs typeface="Arial" pitchFamily="34" charset="-120"/>
              </a:rPr>
              <a:t>This is where the magic happens</a:t>
            </a:r>
            <a:endParaRPr lang="en-US" sz="750" dirty="0"/>
          </a:p>
        </p:txBody>
      </p:sp>
      <p:sp>
        <p:nvSpPr>
          <p:cNvPr id="16" name="Text 14"/>
          <p:cNvSpPr/>
          <p:nvPr/>
        </p:nvSpPr>
        <p:spPr>
          <a:xfrm>
            <a:off x="3572024" y="0"/>
            <a:ext cx="5571976"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76824" y="642193"/>
            <a:ext cx="5061624" cy="173236"/>
          </a:xfrm>
          <a:prstGeom prst="rect">
            <a:avLst/>
          </a:prstGeom>
          <a:noFill/>
          <a:ln/>
        </p:spPr>
        <p:txBody>
          <a:bodyPr wrap="square" lIns="0" tIns="0" rIns="0" bIns="0" rtlCol="0" anchor="t"/>
          <a:lstStyle/>
          <a:p>
            <a:pPr marL="0" indent="0" algn="l">
              <a:lnSpc>
                <a:spcPts val="1365"/>
              </a:lnSpc>
              <a:spcAft>
                <a:spcPts val="1050"/>
              </a:spcAft>
              <a:buNone/>
            </a:pPr>
            <a:r>
              <a:rPr lang="en-US" sz="975" b="1" dirty="0">
                <a:solidFill>
                  <a:srgbClr val="1A1F2E"/>
                </a:solidFill>
                <a:latin typeface="Arial" pitchFamily="34" charset="0"/>
                <a:ea typeface="Arial" pitchFamily="34" charset="-122"/>
                <a:cs typeface="Arial" pitchFamily="34" charset="-120"/>
              </a:rPr>
              <a:t>THE AGENTIC WORKFLOW</a:t>
            </a:r>
            <a:endParaRPr lang="en-US" sz="975" dirty="0"/>
          </a:p>
        </p:txBody>
      </p:sp>
      <p:sp>
        <p:nvSpPr>
          <p:cNvPr id="18" name="Text 16"/>
          <p:cNvSpPr/>
          <p:nvPr/>
        </p:nvSpPr>
        <p:spPr>
          <a:xfrm>
            <a:off x="3876824" y="1101179"/>
            <a:ext cx="4962376" cy="66675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9" name="Text 17"/>
          <p:cNvSpPr/>
          <p:nvPr/>
        </p:nvSpPr>
        <p:spPr>
          <a:xfrm>
            <a:off x="4019699" y="1244054"/>
            <a:ext cx="381000" cy="381000"/>
          </a:xfrm>
          <a:prstGeom prst="rect">
            <a:avLst/>
          </a:prstGeom>
          <a:solidFill>
            <a:srgbClr val="D97706"/>
          </a:solidFill>
          <a:ln/>
        </p:spPr>
        <p:txBody>
          <a:bodyPr wrap="square" rtlCol="0" anchor="ctr"/>
          <a:lstStyle/>
          <a:p>
            <a:pPr marL="0" indent="0">
              <a:buNone/>
            </a:pPr>
            <a:endParaRPr lang="en-US" dirty="0"/>
          </a:p>
        </p:txBody>
      </p:sp>
      <p:sp>
        <p:nvSpPr>
          <p:cNvPr id="20" name="Text 18"/>
          <p:cNvSpPr/>
          <p:nvPr/>
        </p:nvSpPr>
        <p:spPr>
          <a:xfrm>
            <a:off x="4514999" y="1282154"/>
            <a:ext cx="4264953"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Point at PRD</a:t>
            </a:r>
            <a:endParaRPr lang="en-US" sz="825" dirty="0"/>
          </a:p>
        </p:txBody>
      </p:sp>
      <p:sp>
        <p:nvSpPr>
          <p:cNvPr id="21" name="Text 19"/>
          <p:cNvSpPr/>
          <p:nvPr/>
        </p:nvSpPr>
        <p:spPr>
          <a:xfrm>
            <a:off x="4514999" y="1466850"/>
            <a:ext cx="4264953" cy="119955"/>
          </a:xfrm>
          <a:prstGeom prst="rect">
            <a:avLst/>
          </a:prstGeom>
          <a:noFill/>
          <a:ln/>
        </p:spPr>
        <p:txBody>
          <a:bodyPr wrap="square" lIns="0" tIns="0" rIns="0" bIns="0" rtlCol="0" anchor="t"/>
          <a:lstStyle/>
          <a:p>
            <a:pPr marL="0" indent="0" algn="l">
              <a:lnSpc>
                <a:spcPts val="945"/>
              </a:lnSpc>
              <a:spcBef>
                <a:spcPts val="300"/>
              </a:spcBef>
              <a:buNone/>
            </a:pPr>
            <a:r>
              <a:rPr lang="en-US" sz="675" dirty="0">
                <a:solidFill>
                  <a:srgbClr val="6B7280"/>
                </a:solidFill>
                <a:latin typeface="Arial" pitchFamily="34" charset="0"/>
                <a:ea typeface="Arial" pitchFamily="34" charset="-122"/>
                <a:cs typeface="Arial" pitchFamily="34" charset="-120"/>
              </a:rPr>
              <a:t>"Read the PRD and implement the user authentication feature according to spec"</a:t>
            </a:r>
            <a:endParaRPr lang="en-US" sz="675" dirty="0"/>
          </a:p>
        </p:txBody>
      </p:sp>
      <p:sp>
        <p:nvSpPr>
          <p:cNvPr id="22" name="Text 20"/>
          <p:cNvSpPr/>
          <p:nvPr/>
        </p:nvSpPr>
        <p:spPr>
          <a:xfrm>
            <a:off x="3876824" y="2034629"/>
            <a:ext cx="4962376" cy="66675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3" name="Text 21"/>
          <p:cNvSpPr/>
          <p:nvPr/>
        </p:nvSpPr>
        <p:spPr>
          <a:xfrm>
            <a:off x="4019699" y="2177504"/>
            <a:ext cx="381000" cy="381000"/>
          </a:xfrm>
          <a:prstGeom prst="rect">
            <a:avLst/>
          </a:prstGeom>
          <a:solidFill>
            <a:srgbClr val="D97706"/>
          </a:solidFill>
          <a:ln/>
        </p:spPr>
        <p:txBody>
          <a:bodyPr wrap="square" rtlCol="0" anchor="ctr"/>
          <a:lstStyle/>
          <a:p>
            <a:pPr marL="0" indent="0">
              <a:buNone/>
            </a:pPr>
            <a:endParaRPr lang="en-US" dirty="0"/>
          </a:p>
        </p:txBody>
      </p:sp>
      <p:sp>
        <p:nvSpPr>
          <p:cNvPr id="24" name="Text 22"/>
          <p:cNvSpPr/>
          <p:nvPr/>
        </p:nvSpPr>
        <p:spPr>
          <a:xfrm>
            <a:off x="4514999" y="2215604"/>
            <a:ext cx="4264953"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Agent Executes</a:t>
            </a:r>
            <a:endParaRPr lang="en-US" sz="825" dirty="0"/>
          </a:p>
        </p:txBody>
      </p:sp>
      <p:sp>
        <p:nvSpPr>
          <p:cNvPr id="25" name="Text 23"/>
          <p:cNvSpPr/>
          <p:nvPr/>
        </p:nvSpPr>
        <p:spPr>
          <a:xfrm>
            <a:off x="4514999" y="2400300"/>
            <a:ext cx="4264953" cy="119955"/>
          </a:xfrm>
          <a:prstGeom prst="rect">
            <a:avLst/>
          </a:prstGeom>
          <a:noFill/>
          <a:ln/>
        </p:spPr>
        <p:txBody>
          <a:bodyPr wrap="square" lIns="0" tIns="0" rIns="0" bIns="0" rtlCol="0" anchor="t"/>
          <a:lstStyle/>
          <a:p>
            <a:pPr marL="0" indent="0" algn="l">
              <a:lnSpc>
                <a:spcPts val="945"/>
              </a:lnSpc>
              <a:spcBef>
                <a:spcPts val="300"/>
              </a:spcBef>
              <a:buNone/>
            </a:pPr>
            <a:r>
              <a:rPr lang="en-US" sz="675" dirty="0">
                <a:solidFill>
                  <a:srgbClr val="6B7280"/>
                </a:solidFill>
                <a:latin typeface="Arial" pitchFamily="34" charset="0"/>
                <a:ea typeface="Arial" pitchFamily="34" charset="-122"/>
                <a:cs typeface="Arial" pitchFamily="34" charset="-120"/>
              </a:rPr>
              <a:t>Reads spec, references design system, writes code, creates tests, commits work</a:t>
            </a:r>
            <a:endParaRPr lang="en-US" sz="675" dirty="0"/>
          </a:p>
        </p:txBody>
      </p:sp>
      <p:sp>
        <p:nvSpPr>
          <p:cNvPr id="26" name="Text 24"/>
          <p:cNvSpPr/>
          <p:nvPr/>
        </p:nvSpPr>
        <p:spPr>
          <a:xfrm>
            <a:off x="3876824" y="2968079"/>
            <a:ext cx="4962376" cy="666750"/>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7" name="Text 25"/>
          <p:cNvSpPr/>
          <p:nvPr/>
        </p:nvSpPr>
        <p:spPr>
          <a:xfrm>
            <a:off x="4019699" y="3110954"/>
            <a:ext cx="381000" cy="381000"/>
          </a:xfrm>
          <a:prstGeom prst="rect">
            <a:avLst/>
          </a:prstGeom>
          <a:solidFill>
            <a:srgbClr val="D97706"/>
          </a:solidFill>
          <a:ln/>
        </p:spPr>
        <p:txBody>
          <a:bodyPr wrap="square" rtlCol="0" anchor="ctr"/>
          <a:lstStyle/>
          <a:p>
            <a:pPr marL="0" indent="0">
              <a:buNone/>
            </a:pPr>
            <a:endParaRPr lang="en-US" dirty="0"/>
          </a:p>
        </p:txBody>
      </p:sp>
      <p:sp>
        <p:nvSpPr>
          <p:cNvPr id="28" name="Text 26"/>
          <p:cNvSpPr/>
          <p:nvPr/>
        </p:nvSpPr>
        <p:spPr>
          <a:xfrm>
            <a:off x="4514999" y="3149054"/>
            <a:ext cx="4264953" cy="146596"/>
          </a:xfrm>
          <a:prstGeom prst="rect">
            <a:avLst/>
          </a:prstGeom>
          <a:noFill/>
          <a:ln/>
        </p:spPr>
        <p:txBody>
          <a:bodyPr wrap="square" lIns="0" tIns="0" rIns="0" bIns="0" rtlCol="0" anchor="t"/>
          <a:lstStyle/>
          <a:p>
            <a:pPr marL="0" indent="0" algn="l">
              <a:lnSpc>
                <a:spcPts val="1155"/>
              </a:lnSpc>
              <a:buNone/>
            </a:pPr>
            <a:r>
              <a:rPr lang="en-US" sz="825" b="1" dirty="0">
                <a:solidFill>
                  <a:srgbClr val="1A1F2E"/>
                </a:solidFill>
                <a:latin typeface="Arial" pitchFamily="34" charset="0"/>
                <a:ea typeface="Arial" pitchFamily="34" charset="-122"/>
                <a:cs typeface="Arial" pitchFamily="34" charset="-120"/>
              </a:rPr>
              <a:t>You Review</a:t>
            </a:r>
            <a:endParaRPr lang="en-US" sz="825" dirty="0"/>
          </a:p>
        </p:txBody>
      </p:sp>
      <p:sp>
        <p:nvSpPr>
          <p:cNvPr id="29" name="Text 27"/>
          <p:cNvSpPr/>
          <p:nvPr/>
        </p:nvSpPr>
        <p:spPr>
          <a:xfrm>
            <a:off x="4514999" y="3333750"/>
            <a:ext cx="4264953" cy="119955"/>
          </a:xfrm>
          <a:prstGeom prst="rect">
            <a:avLst/>
          </a:prstGeom>
          <a:noFill/>
          <a:ln/>
        </p:spPr>
        <p:txBody>
          <a:bodyPr wrap="square" lIns="0" tIns="0" rIns="0" bIns="0" rtlCol="0" anchor="t"/>
          <a:lstStyle/>
          <a:p>
            <a:pPr marL="0" indent="0" algn="l">
              <a:lnSpc>
                <a:spcPts val="945"/>
              </a:lnSpc>
              <a:spcBef>
                <a:spcPts val="300"/>
              </a:spcBef>
              <a:buNone/>
            </a:pPr>
            <a:r>
              <a:rPr lang="en-US" sz="675" dirty="0">
                <a:solidFill>
                  <a:srgbClr val="6B7280"/>
                </a:solidFill>
                <a:latin typeface="Arial" pitchFamily="34" charset="0"/>
                <a:ea typeface="Arial" pitchFamily="34" charset="-122"/>
                <a:cs typeface="Arial" pitchFamily="34" charset="-120"/>
              </a:rPr>
              <a:t>Check the output, provide feedback, request refinements — all via voice</a:t>
            </a:r>
            <a:endParaRPr lang="en-US" sz="675" dirty="0"/>
          </a:p>
        </p:txBody>
      </p:sp>
      <p:sp>
        <p:nvSpPr>
          <p:cNvPr id="30" name="Text 28"/>
          <p:cNvSpPr/>
          <p:nvPr/>
        </p:nvSpPr>
        <p:spPr>
          <a:xfrm>
            <a:off x="3876824" y="3901529"/>
            <a:ext cx="2433638" cy="599777"/>
          </a:xfrm>
          <a:prstGeom prst="rect">
            <a:avLst/>
          </a:prstGeom>
          <a:solidFill>
            <a:srgbClr val="DCFCE7"/>
          </a:solidFill>
          <a:ln/>
        </p:spPr>
        <p:txBody>
          <a:bodyPr wrap="square" rtlCol="0" anchor="ctr"/>
          <a:lstStyle/>
          <a:p>
            <a:pPr marL="0" indent="0">
              <a:buNone/>
            </a:pPr>
            <a:endParaRPr lang="en-US" dirty="0"/>
          </a:p>
        </p:txBody>
      </p:sp>
      <p:sp>
        <p:nvSpPr>
          <p:cNvPr id="31" name="Shape 29"/>
          <p:cNvSpPr/>
          <p:nvPr/>
        </p:nvSpPr>
        <p:spPr>
          <a:xfrm>
            <a:off x="3891111" y="3901529"/>
            <a:ext cx="0" cy="599777"/>
          </a:xfrm>
          <a:prstGeom prst="line">
            <a:avLst/>
          </a:prstGeom>
          <a:noFill/>
          <a:ln w="28575">
            <a:solidFill>
              <a:srgbClr val="059669"/>
            </a:solidFill>
            <a:prstDash val="solid"/>
          </a:ln>
        </p:spPr>
        <p:txBody>
          <a:bodyPr/>
          <a:lstStyle/>
          <a:p>
            <a:endParaRPr lang="en-US"/>
          </a:p>
        </p:txBody>
      </p:sp>
      <p:sp>
        <p:nvSpPr>
          <p:cNvPr id="32" name="Text 30"/>
          <p:cNvSpPr/>
          <p:nvPr/>
        </p:nvSpPr>
        <p:spPr>
          <a:xfrm>
            <a:off x="4019699" y="4015829"/>
            <a:ext cx="2219992"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AUTONOMY UNLOCKED</a:t>
            </a:r>
            <a:endParaRPr lang="en-US" sz="675" dirty="0"/>
          </a:p>
        </p:txBody>
      </p:sp>
      <p:sp>
        <p:nvSpPr>
          <p:cNvPr id="33" name="Text 31"/>
          <p:cNvSpPr/>
          <p:nvPr/>
        </p:nvSpPr>
        <p:spPr>
          <a:xfrm>
            <a:off x="4019699" y="4173885"/>
            <a:ext cx="2219992" cy="213122"/>
          </a:xfrm>
          <a:prstGeom prst="rect">
            <a:avLst/>
          </a:prstGeom>
          <a:noFill/>
          <a:ln/>
        </p:spPr>
        <p:txBody>
          <a:bodyPr wrap="square" lIns="0" tIns="0" rIns="0" bIns="0" rtlCol="0" anchor="t"/>
          <a:lstStyle/>
          <a:p>
            <a:pPr marL="0" indent="0" algn="l">
              <a:lnSpc>
                <a:spcPts val="840"/>
              </a:lnSpc>
              <a:buNone/>
            </a:pPr>
            <a:r>
              <a:rPr lang="en-US" sz="600" dirty="0">
                <a:solidFill>
                  <a:srgbClr val="166534"/>
                </a:solidFill>
                <a:latin typeface="Arial" pitchFamily="34" charset="0"/>
                <a:ea typeface="Arial" pitchFamily="34" charset="-122"/>
                <a:cs typeface="Arial" pitchFamily="34" charset="-120"/>
              </a:rPr>
              <a:t>Agent can work for extended periods without constant guidance. Your setup enables this.</a:t>
            </a:r>
            <a:endParaRPr lang="en-US" sz="600" dirty="0"/>
          </a:p>
        </p:txBody>
      </p:sp>
      <p:sp>
        <p:nvSpPr>
          <p:cNvPr id="34" name="Text 32"/>
          <p:cNvSpPr/>
          <p:nvPr/>
        </p:nvSpPr>
        <p:spPr>
          <a:xfrm>
            <a:off x="6405711" y="3901529"/>
            <a:ext cx="2433638" cy="599777"/>
          </a:xfrm>
          <a:prstGeom prst="rect">
            <a:avLst/>
          </a:prstGeom>
          <a:solidFill>
            <a:srgbClr val="DBEAFE"/>
          </a:solidFill>
          <a:ln/>
        </p:spPr>
        <p:txBody>
          <a:bodyPr wrap="square" rtlCol="0" anchor="ctr"/>
          <a:lstStyle/>
          <a:p>
            <a:pPr marL="0" indent="0">
              <a:buNone/>
            </a:pPr>
            <a:endParaRPr lang="en-US" dirty="0"/>
          </a:p>
        </p:txBody>
      </p:sp>
      <p:sp>
        <p:nvSpPr>
          <p:cNvPr id="35" name="Shape 33"/>
          <p:cNvSpPr/>
          <p:nvPr/>
        </p:nvSpPr>
        <p:spPr>
          <a:xfrm>
            <a:off x="6419999" y="3901529"/>
            <a:ext cx="0" cy="599777"/>
          </a:xfrm>
          <a:prstGeom prst="line">
            <a:avLst/>
          </a:prstGeom>
          <a:noFill/>
          <a:ln w="28575">
            <a:solidFill>
              <a:srgbClr val="3B82F6"/>
            </a:solidFill>
            <a:prstDash val="solid"/>
          </a:ln>
        </p:spPr>
        <p:txBody>
          <a:bodyPr/>
          <a:lstStyle/>
          <a:p>
            <a:endParaRPr lang="en-US"/>
          </a:p>
        </p:txBody>
      </p:sp>
      <p:sp>
        <p:nvSpPr>
          <p:cNvPr id="36" name="Text 34"/>
          <p:cNvSpPr/>
          <p:nvPr/>
        </p:nvSpPr>
        <p:spPr>
          <a:xfrm>
            <a:off x="6548586" y="4015829"/>
            <a:ext cx="2219992"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COMMIT OFTEN</a:t>
            </a:r>
            <a:endParaRPr lang="en-US" sz="675" dirty="0"/>
          </a:p>
        </p:txBody>
      </p:sp>
      <p:sp>
        <p:nvSpPr>
          <p:cNvPr id="37" name="Text 35"/>
          <p:cNvSpPr/>
          <p:nvPr/>
        </p:nvSpPr>
        <p:spPr>
          <a:xfrm>
            <a:off x="6548586" y="4173885"/>
            <a:ext cx="2219992" cy="213122"/>
          </a:xfrm>
          <a:prstGeom prst="rect">
            <a:avLst/>
          </a:prstGeom>
          <a:noFill/>
          <a:ln/>
        </p:spPr>
        <p:txBody>
          <a:bodyPr wrap="square" lIns="0" tIns="0" rIns="0" bIns="0" rtlCol="0" anchor="t"/>
          <a:lstStyle/>
          <a:p>
            <a:pPr marL="0" indent="0" algn="l">
              <a:lnSpc>
                <a:spcPts val="840"/>
              </a:lnSpc>
              <a:buNone/>
            </a:pPr>
            <a:r>
              <a:rPr lang="en-US" sz="600" dirty="0">
                <a:solidFill>
                  <a:srgbClr val="1E40AF"/>
                </a:solidFill>
                <a:latin typeface="Arial" pitchFamily="34" charset="0"/>
                <a:ea typeface="Arial" pitchFamily="34" charset="-122"/>
                <a:cs typeface="Arial" pitchFamily="34" charset="-120"/>
              </a:rPr>
              <a:t>Request commits after each feature. Small, frequent commits make review easier.</a:t>
            </a:r>
            <a:endParaRPr lang="en-US" sz="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41962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304800" y="304800"/>
            <a:ext cx="981373" cy="234255"/>
          </a:xfrm>
          <a:prstGeom prst="rect">
            <a:avLst/>
          </a:prstGeom>
          <a:solidFill>
            <a:srgbClr val="0891B2"/>
          </a:solidFill>
          <a:ln/>
        </p:spPr>
        <p:txBody>
          <a:bodyPr wrap="square" rtlCol="0" anchor="ctr"/>
          <a:lstStyle/>
          <a:p>
            <a:pPr marL="0" indent="0">
              <a:buNone/>
            </a:pPr>
            <a:endParaRPr lang="en-US" dirty="0"/>
          </a:p>
        </p:txBody>
      </p:sp>
      <p:sp>
        <p:nvSpPr>
          <p:cNvPr id="4" name="Text 2"/>
          <p:cNvSpPr/>
          <p:nvPr/>
        </p:nvSpPr>
        <p:spPr>
          <a:xfrm>
            <a:off x="419100" y="361950"/>
            <a:ext cx="767828" cy="119955"/>
          </a:xfrm>
          <a:prstGeom prst="rect">
            <a:avLst/>
          </a:prstGeom>
          <a:noFill/>
          <a:ln/>
        </p:spPr>
        <p:txBody>
          <a:bodyPr wrap="square" lIns="0" tIns="0" rIns="0" bIns="0" rtlCol="0" anchor="t"/>
          <a:lstStyle/>
          <a:p>
            <a:pPr marL="0" indent="0" algn="l">
              <a:lnSpc>
                <a:spcPts val="945"/>
              </a:lnSpc>
              <a:buNone/>
            </a:pPr>
            <a:r>
              <a:rPr lang="en-US" sz="675" b="1" dirty="0">
                <a:solidFill>
                  <a:srgbClr val="FFFFFF"/>
                </a:solidFill>
                <a:latin typeface="Arial" pitchFamily="34" charset="0"/>
                <a:ea typeface="Arial" pitchFamily="34" charset="-122"/>
                <a:cs typeface="Arial" pitchFamily="34" charset="-120"/>
              </a:rPr>
              <a:t>PHASE 9 OF 10</a:t>
            </a:r>
            <a:endParaRPr lang="en-US" sz="675" dirty="0"/>
          </a:p>
        </p:txBody>
      </p:sp>
      <p:sp>
        <p:nvSpPr>
          <p:cNvPr id="5" name="Text 3"/>
          <p:cNvSpPr/>
          <p:nvPr/>
        </p:nvSpPr>
        <p:spPr>
          <a:xfrm>
            <a:off x="304800" y="805755"/>
            <a:ext cx="1467041" cy="594122"/>
          </a:xfrm>
          <a:prstGeom prst="rect">
            <a:avLst/>
          </a:prstGeom>
          <a:noFill/>
          <a:ln/>
        </p:spPr>
        <p:txBody>
          <a:bodyPr wrap="square" lIns="0" tIns="0" rIns="0" bIns="0" rtlCol="0" anchor="t"/>
          <a:lstStyle/>
          <a:p>
            <a:pPr marL="0" indent="0" algn="l">
              <a:lnSpc>
                <a:spcPts val="2340"/>
              </a:lnSpc>
              <a:spcAft>
                <a:spcPts val="900"/>
              </a:spcAft>
              <a:buNone/>
            </a:pPr>
            <a:r>
              <a:rPr lang="en-US" sz="1950" dirty="0">
                <a:solidFill>
                  <a:srgbClr val="FFFFFF"/>
                </a:solidFill>
                <a:latin typeface="Georgia" pitchFamily="34" charset="0"/>
                <a:ea typeface="Georgia" pitchFamily="34" charset="-122"/>
                <a:cs typeface="Georgia" pitchFamily="34" charset="-120"/>
              </a:rPr>
              <a:t>Iterative</a:t>
            </a:r>
            <a:endParaRPr lang="en-US" sz="1950" dirty="0"/>
          </a:p>
          <a:p>
            <a:pPr marL="0" indent="0" algn="l">
              <a:lnSpc>
                <a:spcPts val="2340"/>
              </a:lnSpc>
              <a:spcAft>
                <a:spcPts val="900"/>
              </a:spcAft>
              <a:buNone/>
            </a:pPr>
            <a:r>
              <a:rPr lang="en-US" sz="1950" dirty="0">
                <a:solidFill>
                  <a:srgbClr val="FFFFFF"/>
                </a:solidFill>
                <a:latin typeface="Georgia" pitchFamily="34" charset="0"/>
                <a:ea typeface="Georgia" pitchFamily="34" charset="-122"/>
                <a:cs typeface="Georgia" pitchFamily="34" charset="-120"/>
              </a:rPr>
              <a:t>Review Cycle</a:t>
            </a:r>
            <a:endParaRPr lang="en-US" sz="1950" dirty="0"/>
          </a:p>
        </p:txBody>
      </p:sp>
      <p:sp>
        <p:nvSpPr>
          <p:cNvPr id="6" name="Text 4"/>
          <p:cNvSpPr/>
          <p:nvPr/>
        </p:nvSpPr>
        <p:spPr>
          <a:xfrm>
            <a:off x="304800" y="1666577"/>
            <a:ext cx="381000" cy="11906"/>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304800" y="1983284"/>
            <a:ext cx="2810024" cy="784771"/>
          </a:xfrm>
          <a:prstGeom prst="rect">
            <a:avLst/>
          </a:prstGeom>
          <a:solidFill>
            <a:srgbClr val="0891B2">
              <a:alpha val="15000"/>
            </a:srgbClr>
          </a:solidFill>
          <a:ln/>
        </p:spPr>
        <p:txBody>
          <a:bodyPr wrap="square" rtlCol="0" anchor="ctr"/>
          <a:lstStyle/>
          <a:p>
            <a:pPr marL="0" indent="0">
              <a:buNone/>
            </a:pPr>
            <a:endParaRPr lang="en-US" dirty="0"/>
          </a:p>
        </p:txBody>
      </p:sp>
      <p:sp>
        <p:nvSpPr>
          <p:cNvPr id="8" name="Shape 6"/>
          <p:cNvSpPr/>
          <p:nvPr/>
        </p:nvSpPr>
        <p:spPr>
          <a:xfrm>
            <a:off x="319088" y="1983284"/>
            <a:ext cx="0" cy="784771"/>
          </a:xfrm>
          <a:prstGeom prst="line">
            <a:avLst/>
          </a:prstGeom>
          <a:noFill/>
          <a:ln w="28575">
            <a:solidFill>
              <a:srgbClr val="0891B2"/>
            </a:solidFill>
            <a:prstDash val="solid"/>
          </a:ln>
        </p:spPr>
        <p:txBody>
          <a:bodyPr/>
          <a:lstStyle/>
          <a:p>
            <a:endParaRPr lang="en-US"/>
          </a:p>
        </p:txBody>
      </p:sp>
      <p:sp>
        <p:nvSpPr>
          <p:cNvPr id="9" name="Text 7"/>
          <p:cNvSpPr/>
          <p:nvPr/>
        </p:nvSpPr>
        <p:spPr>
          <a:xfrm>
            <a:off x="466725" y="2116634"/>
            <a:ext cx="2565044"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67E8F9"/>
                </a:solidFill>
                <a:latin typeface="Arial" pitchFamily="34" charset="0"/>
                <a:ea typeface="Arial" pitchFamily="34" charset="-122"/>
                <a:cs typeface="Arial" pitchFamily="34" charset="-120"/>
              </a:rPr>
              <a:t>THE OBJECTIVE</a:t>
            </a:r>
            <a:endParaRPr lang="en-US" sz="825" dirty="0"/>
          </a:p>
        </p:txBody>
      </p:sp>
      <p:sp>
        <p:nvSpPr>
          <p:cNvPr id="10" name="Text 8"/>
          <p:cNvSpPr/>
          <p:nvPr/>
        </p:nvSpPr>
        <p:spPr>
          <a:xfrm>
            <a:off x="466725" y="2320379"/>
            <a:ext cx="2565044" cy="314325"/>
          </a:xfrm>
          <a:prstGeom prst="rect">
            <a:avLst/>
          </a:prstGeom>
          <a:noFill/>
          <a:ln/>
        </p:spPr>
        <p:txBody>
          <a:bodyPr wrap="square" lIns="0" tIns="0" rIns="0" bIns="0" rtlCol="0" anchor="t"/>
          <a:lstStyle/>
          <a:p>
            <a:pPr marL="0" indent="0" algn="l">
              <a:lnSpc>
                <a:spcPts val="1238"/>
              </a:lnSpc>
              <a:buNone/>
            </a:pPr>
            <a:r>
              <a:rPr lang="en-US" sz="825" dirty="0">
                <a:solidFill>
                  <a:srgbClr val="FFFFFF">
                    <a:alpha val="80000"/>
                  </a:srgbClr>
                </a:solidFill>
                <a:latin typeface="Arial" pitchFamily="34" charset="0"/>
                <a:ea typeface="Arial" pitchFamily="34" charset="-122"/>
                <a:cs typeface="Arial" pitchFamily="34" charset="-120"/>
              </a:rPr>
              <a:t>Review, refine, repeat. Verbal feedback guides the agent through multiple polish cycles.</a:t>
            </a:r>
            <a:endParaRPr lang="en-US" sz="825" dirty="0"/>
          </a:p>
        </p:txBody>
      </p:sp>
      <p:sp>
        <p:nvSpPr>
          <p:cNvPr id="11" name="Text 9"/>
          <p:cNvSpPr/>
          <p:nvPr/>
        </p:nvSpPr>
        <p:spPr>
          <a:xfrm>
            <a:off x="304800" y="3072854"/>
            <a:ext cx="2810024" cy="1099096"/>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438150" y="3206204"/>
            <a:ext cx="2594190"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REVIEW PRIORITY</a:t>
            </a:r>
            <a:endParaRPr lang="en-US" sz="825" dirty="0"/>
          </a:p>
        </p:txBody>
      </p:sp>
      <p:sp>
        <p:nvSpPr>
          <p:cNvPr id="13" name="Text 11"/>
          <p:cNvSpPr/>
          <p:nvPr/>
        </p:nvSpPr>
        <p:spPr>
          <a:xfrm>
            <a:off x="438150" y="3429000"/>
            <a:ext cx="2594190" cy="609600"/>
          </a:xfrm>
          <a:prstGeom prst="rect">
            <a:avLst/>
          </a:prstGeom>
          <a:noFill/>
          <a:ln/>
        </p:spPr>
        <p:txBody>
          <a:bodyPr wrap="square" lIns="0" tIns="0" rIns="0" bIns="0" rtlCol="0" anchor="t"/>
          <a:lstStyle/>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1. Functionality first</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2. User experience</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3. Visual polish</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4. Edge cases</a:t>
            </a:r>
            <a:endParaRPr lang="en-US" sz="750" dirty="0"/>
          </a:p>
        </p:txBody>
      </p:sp>
      <p:sp>
        <p:nvSpPr>
          <p:cNvPr id="14" name="Text 12"/>
          <p:cNvSpPr/>
          <p:nvPr/>
        </p:nvSpPr>
        <p:spPr>
          <a:xfrm>
            <a:off x="304800" y="4476750"/>
            <a:ext cx="2810024" cy="361950"/>
          </a:xfrm>
          <a:prstGeom prst="rect">
            <a:avLst/>
          </a:prstGeom>
          <a:solidFill>
            <a:srgbClr val="C9A227"/>
          </a:solidFill>
          <a:ln/>
        </p:spPr>
        <p:txBody>
          <a:bodyPr wrap="square" rtlCol="0" anchor="ctr"/>
          <a:lstStyle/>
          <a:p>
            <a:pPr marL="0" indent="0">
              <a:buNone/>
            </a:pPr>
            <a:endParaRPr lang="en-US" dirty="0"/>
          </a:p>
        </p:txBody>
      </p:sp>
      <p:sp>
        <p:nvSpPr>
          <p:cNvPr id="15" name="Text 13"/>
          <p:cNvSpPr/>
          <p:nvPr/>
        </p:nvSpPr>
        <p:spPr>
          <a:xfrm>
            <a:off x="393286" y="4591050"/>
            <a:ext cx="2633052" cy="133350"/>
          </a:xfrm>
          <a:prstGeom prst="rect">
            <a:avLst/>
          </a:prstGeom>
          <a:noFill/>
          <a:ln/>
        </p:spPr>
        <p:txBody>
          <a:bodyPr wrap="square" lIns="0" tIns="0" rIns="0" bIns="0" rtlCol="0" anchor="t"/>
          <a:lstStyle/>
          <a:p>
            <a:pPr marL="0" indent="0" algn="ctr">
              <a:lnSpc>
                <a:spcPts val="1050"/>
              </a:lnSpc>
              <a:buNone/>
            </a:pPr>
            <a:r>
              <a:rPr lang="en-US" sz="750" b="1" dirty="0">
                <a:solidFill>
                  <a:srgbClr val="1A1F2E"/>
                </a:solidFill>
                <a:latin typeface="Arial" pitchFamily="34" charset="0"/>
                <a:ea typeface="Arial" pitchFamily="34" charset="-122"/>
                <a:cs typeface="Arial" pitchFamily="34" charset="-120"/>
              </a:rPr>
              <a:t>Multiple iterations are normal</a:t>
            </a:r>
            <a:endParaRPr lang="en-US" sz="750" dirty="0"/>
          </a:p>
        </p:txBody>
      </p:sp>
      <p:sp>
        <p:nvSpPr>
          <p:cNvPr id="16" name="Text 14"/>
          <p:cNvSpPr/>
          <p:nvPr/>
        </p:nvSpPr>
        <p:spPr>
          <a:xfrm>
            <a:off x="3572024" y="0"/>
            <a:ext cx="5571976"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76824" y="561380"/>
            <a:ext cx="5061624" cy="173236"/>
          </a:xfrm>
          <a:prstGeom prst="rect">
            <a:avLst/>
          </a:prstGeom>
          <a:noFill/>
          <a:ln/>
        </p:spPr>
        <p:txBody>
          <a:bodyPr wrap="square" lIns="0" tIns="0" rIns="0" bIns="0" rtlCol="0" anchor="t"/>
          <a:lstStyle/>
          <a:p>
            <a:pPr marL="0" indent="0" algn="l">
              <a:lnSpc>
                <a:spcPts val="1365"/>
              </a:lnSpc>
              <a:spcAft>
                <a:spcPts val="1050"/>
              </a:spcAft>
              <a:buNone/>
            </a:pPr>
            <a:r>
              <a:rPr lang="en-US" sz="975" b="1" dirty="0">
                <a:solidFill>
                  <a:srgbClr val="1A1F2E"/>
                </a:solidFill>
                <a:latin typeface="Arial" pitchFamily="34" charset="0"/>
                <a:ea typeface="Arial" pitchFamily="34" charset="-122"/>
                <a:cs typeface="Arial" pitchFamily="34" charset="-120"/>
              </a:rPr>
              <a:t>THE REVIEW LOOP</a:t>
            </a:r>
            <a:endParaRPr lang="en-US" sz="975" dirty="0"/>
          </a:p>
        </p:txBody>
      </p:sp>
      <p:sp>
        <p:nvSpPr>
          <p:cNvPr id="18" name="Text 16"/>
          <p:cNvSpPr/>
          <p:nvPr/>
        </p:nvSpPr>
        <p:spPr>
          <a:xfrm>
            <a:off x="3876824" y="1020366"/>
            <a:ext cx="4962376" cy="940743"/>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9" name="Text 17"/>
          <p:cNvSpPr/>
          <p:nvPr/>
        </p:nvSpPr>
        <p:spPr>
          <a:xfrm>
            <a:off x="4019699" y="1163241"/>
            <a:ext cx="1355675" cy="654993"/>
          </a:xfrm>
          <a:prstGeom prst="rect">
            <a:avLst/>
          </a:prstGeom>
          <a:solidFill>
            <a:srgbClr val="CFFAFE"/>
          </a:solidFill>
          <a:ln/>
        </p:spPr>
        <p:txBody>
          <a:bodyPr wrap="square" rtlCol="0" anchor="ctr"/>
          <a:lstStyle/>
          <a:p>
            <a:pPr marL="0" indent="0">
              <a:buNone/>
            </a:pPr>
            <a:endParaRPr lang="en-US" dirty="0"/>
          </a:p>
        </p:txBody>
      </p:sp>
      <p:sp>
        <p:nvSpPr>
          <p:cNvPr id="20" name="Text 18"/>
          <p:cNvSpPr/>
          <p:nvPr/>
        </p:nvSpPr>
        <p:spPr>
          <a:xfrm>
            <a:off x="4103297" y="1258491"/>
            <a:ext cx="1188479" cy="213271"/>
          </a:xfrm>
          <a:prstGeom prst="rect">
            <a:avLst/>
          </a:prstGeom>
          <a:noFill/>
          <a:ln/>
        </p:spPr>
        <p:txBody>
          <a:bodyPr wrap="square" lIns="0" tIns="0" rIns="0" bIns="0" rtlCol="0" anchor="t"/>
          <a:lstStyle/>
          <a:p>
            <a:pPr marL="0" indent="0" algn="ctr">
              <a:lnSpc>
                <a:spcPts val="1680"/>
              </a:lnSpc>
              <a:buNone/>
            </a:pPr>
            <a:r>
              <a:rPr lang="en-US" sz="1200" b="1" dirty="0">
                <a:solidFill>
                  <a:srgbClr val="0891B2"/>
                </a:solidFill>
                <a:latin typeface="Arial" pitchFamily="34" charset="0"/>
                <a:ea typeface="Arial" pitchFamily="34" charset="-122"/>
                <a:cs typeface="Arial" pitchFamily="34" charset="-120"/>
              </a:rPr>
              <a:t>Test</a:t>
            </a:r>
            <a:endParaRPr lang="en-US" sz="1200" dirty="0"/>
          </a:p>
        </p:txBody>
      </p:sp>
      <p:sp>
        <p:nvSpPr>
          <p:cNvPr id="21" name="Text 19"/>
          <p:cNvSpPr/>
          <p:nvPr/>
        </p:nvSpPr>
        <p:spPr>
          <a:xfrm>
            <a:off x="4103297" y="1509861"/>
            <a:ext cx="1188479" cy="106561"/>
          </a:xfrm>
          <a:prstGeom prst="rect">
            <a:avLst/>
          </a:prstGeom>
          <a:noFill/>
          <a:ln/>
        </p:spPr>
        <p:txBody>
          <a:bodyPr wrap="square" lIns="0" tIns="0" rIns="0" bIns="0" rtlCol="0" anchor="t"/>
          <a:lstStyle/>
          <a:p>
            <a:pPr marL="0" indent="0" algn="ctr">
              <a:lnSpc>
                <a:spcPts val="840"/>
              </a:lnSpc>
              <a:spcBef>
                <a:spcPts val="300"/>
              </a:spcBef>
              <a:buNone/>
            </a:pPr>
            <a:r>
              <a:rPr lang="en-US" sz="600" dirty="0">
                <a:solidFill>
                  <a:srgbClr val="155E75"/>
                </a:solidFill>
                <a:latin typeface="Arial" pitchFamily="34" charset="0"/>
                <a:ea typeface="Arial" pitchFamily="34" charset="-122"/>
                <a:cs typeface="Arial" pitchFamily="34" charset="-120"/>
              </a:rPr>
              <a:t>Run it, click through it, break it</a:t>
            </a:r>
            <a:endParaRPr lang="en-US" sz="600" dirty="0"/>
          </a:p>
        </p:txBody>
      </p:sp>
      <p:sp>
        <p:nvSpPr>
          <p:cNvPr id="22" name="Text 20"/>
          <p:cNvSpPr/>
          <p:nvPr/>
        </p:nvSpPr>
        <p:spPr>
          <a:xfrm>
            <a:off x="5680174" y="1163241"/>
            <a:ext cx="1355675" cy="654993"/>
          </a:xfrm>
          <a:prstGeom prst="rect">
            <a:avLst/>
          </a:prstGeom>
          <a:solidFill>
            <a:srgbClr val="FEF3C7"/>
          </a:solidFill>
          <a:ln/>
        </p:spPr>
        <p:txBody>
          <a:bodyPr wrap="square" rtlCol="0" anchor="ctr"/>
          <a:lstStyle/>
          <a:p>
            <a:pPr marL="0" indent="0">
              <a:buNone/>
            </a:pPr>
            <a:endParaRPr lang="en-US" dirty="0"/>
          </a:p>
        </p:txBody>
      </p:sp>
      <p:sp>
        <p:nvSpPr>
          <p:cNvPr id="23" name="Text 21"/>
          <p:cNvSpPr/>
          <p:nvPr/>
        </p:nvSpPr>
        <p:spPr>
          <a:xfrm>
            <a:off x="5763772" y="1258491"/>
            <a:ext cx="1188479" cy="213271"/>
          </a:xfrm>
          <a:prstGeom prst="rect">
            <a:avLst/>
          </a:prstGeom>
          <a:noFill/>
          <a:ln/>
        </p:spPr>
        <p:txBody>
          <a:bodyPr wrap="square" lIns="0" tIns="0" rIns="0" bIns="0" rtlCol="0" anchor="t"/>
          <a:lstStyle/>
          <a:p>
            <a:pPr marL="0" indent="0" algn="ctr">
              <a:lnSpc>
                <a:spcPts val="1680"/>
              </a:lnSpc>
              <a:buNone/>
            </a:pPr>
            <a:r>
              <a:rPr lang="en-US" sz="1200" b="1" dirty="0">
                <a:solidFill>
                  <a:srgbClr val="F59E0B"/>
                </a:solidFill>
                <a:latin typeface="Arial" pitchFamily="34" charset="0"/>
                <a:ea typeface="Arial" pitchFamily="34" charset="-122"/>
                <a:cs typeface="Arial" pitchFamily="34" charset="-120"/>
              </a:rPr>
              <a:t>Speak</a:t>
            </a:r>
            <a:endParaRPr lang="en-US" sz="1200" dirty="0"/>
          </a:p>
        </p:txBody>
      </p:sp>
      <p:sp>
        <p:nvSpPr>
          <p:cNvPr id="24" name="Text 22"/>
          <p:cNvSpPr/>
          <p:nvPr/>
        </p:nvSpPr>
        <p:spPr>
          <a:xfrm>
            <a:off x="5763772" y="1509861"/>
            <a:ext cx="1188479" cy="213122"/>
          </a:xfrm>
          <a:prstGeom prst="rect">
            <a:avLst/>
          </a:prstGeom>
          <a:noFill/>
          <a:ln/>
        </p:spPr>
        <p:txBody>
          <a:bodyPr wrap="square" lIns="0" tIns="0" rIns="0" bIns="0" rtlCol="0" anchor="t"/>
          <a:lstStyle/>
          <a:p>
            <a:pPr marL="0" indent="0" algn="ctr">
              <a:lnSpc>
                <a:spcPts val="840"/>
              </a:lnSpc>
              <a:spcBef>
                <a:spcPts val="300"/>
              </a:spcBef>
              <a:buNone/>
            </a:pPr>
            <a:r>
              <a:rPr lang="en-US" sz="600" dirty="0">
                <a:solidFill>
                  <a:srgbClr val="92400E"/>
                </a:solidFill>
                <a:latin typeface="Arial" pitchFamily="34" charset="0"/>
                <a:ea typeface="Arial" pitchFamily="34" charset="-122"/>
                <a:cs typeface="Arial" pitchFamily="34" charset="-120"/>
              </a:rPr>
              <a:t>Verbal feedback on what needs fixing</a:t>
            </a:r>
            <a:endParaRPr lang="en-US" sz="600" dirty="0"/>
          </a:p>
        </p:txBody>
      </p:sp>
      <p:sp>
        <p:nvSpPr>
          <p:cNvPr id="25" name="Text 23"/>
          <p:cNvSpPr/>
          <p:nvPr/>
        </p:nvSpPr>
        <p:spPr>
          <a:xfrm>
            <a:off x="7340650" y="1163241"/>
            <a:ext cx="1355675" cy="654993"/>
          </a:xfrm>
          <a:prstGeom prst="rect">
            <a:avLst/>
          </a:prstGeom>
          <a:solidFill>
            <a:srgbClr val="DCFCE7"/>
          </a:solidFill>
          <a:ln/>
        </p:spPr>
        <p:txBody>
          <a:bodyPr wrap="square" rtlCol="0" anchor="ctr"/>
          <a:lstStyle/>
          <a:p>
            <a:pPr marL="0" indent="0">
              <a:buNone/>
            </a:pPr>
            <a:endParaRPr lang="en-US" dirty="0"/>
          </a:p>
        </p:txBody>
      </p:sp>
      <p:sp>
        <p:nvSpPr>
          <p:cNvPr id="26" name="Text 24"/>
          <p:cNvSpPr/>
          <p:nvPr/>
        </p:nvSpPr>
        <p:spPr>
          <a:xfrm>
            <a:off x="7424248" y="1258491"/>
            <a:ext cx="1188479" cy="213271"/>
          </a:xfrm>
          <a:prstGeom prst="rect">
            <a:avLst/>
          </a:prstGeom>
          <a:noFill/>
          <a:ln/>
        </p:spPr>
        <p:txBody>
          <a:bodyPr wrap="square" lIns="0" tIns="0" rIns="0" bIns="0" rtlCol="0" anchor="t"/>
          <a:lstStyle/>
          <a:p>
            <a:pPr marL="0" indent="0" algn="ctr">
              <a:lnSpc>
                <a:spcPts val="1680"/>
              </a:lnSpc>
              <a:buNone/>
            </a:pPr>
            <a:r>
              <a:rPr lang="en-US" sz="1200" b="1" dirty="0">
                <a:solidFill>
                  <a:srgbClr val="059669"/>
                </a:solidFill>
                <a:latin typeface="Arial" pitchFamily="34" charset="0"/>
                <a:ea typeface="Arial" pitchFamily="34" charset="-122"/>
                <a:cs typeface="Arial" pitchFamily="34" charset="-120"/>
              </a:rPr>
              <a:t>Iterate</a:t>
            </a:r>
            <a:endParaRPr lang="en-US" sz="1200" dirty="0"/>
          </a:p>
        </p:txBody>
      </p:sp>
      <p:sp>
        <p:nvSpPr>
          <p:cNvPr id="27" name="Text 25"/>
          <p:cNvSpPr/>
          <p:nvPr/>
        </p:nvSpPr>
        <p:spPr>
          <a:xfrm>
            <a:off x="7424248" y="1509861"/>
            <a:ext cx="1188479" cy="106561"/>
          </a:xfrm>
          <a:prstGeom prst="rect">
            <a:avLst/>
          </a:prstGeom>
          <a:noFill/>
          <a:ln/>
        </p:spPr>
        <p:txBody>
          <a:bodyPr wrap="square" lIns="0" tIns="0" rIns="0" bIns="0" rtlCol="0" anchor="t"/>
          <a:lstStyle/>
          <a:p>
            <a:pPr marL="0" indent="0" algn="ctr">
              <a:lnSpc>
                <a:spcPts val="840"/>
              </a:lnSpc>
              <a:spcBef>
                <a:spcPts val="300"/>
              </a:spcBef>
              <a:buNone/>
            </a:pPr>
            <a:r>
              <a:rPr lang="en-US" sz="600" dirty="0">
                <a:solidFill>
                  <a:srgbClr val="166534"/>
                </a:solidFill>
                <a:latin typeface="Arial" pitchFamily="34" charset="0"/>
                <a:ea typeface="Arial" pitchFamily="34" charset="-122"/>
                <a:cs typeface="Arial" pitchFamily="34" charset="-120"/>
              </a:rPr>
              <a:t>Agent implements, you test again</a:t>
            </a:r>
            <a:endParaRPr lang="en-US" sz="600" dirty="0"/>
          </a:p>
        </p:txBody>
      </p:sp>
      <p:sp>
        <p:nvSpPr>
          <p:cNvPr id="28" name="Text 26"/>
          <p:cNvSpPr/>
          <p:nvPr/>
        </p:nvSpPr>
        <p:spPr>
          <a:xfrm>
            <a:off x="3876824" y="2227808"/>
            <a:ext cx="4962376" cy="700980"/>
          </a:xfrm>
          <a:prstGeom prst="rect">
            <a:avLst/>
          </a:prstGeom>
          <a:solidFill>
            <a:srgbClr val="1A1F2E"/>
          </a:solidFill>
          <a:ln/>
        </p:spPr>
        <p:txBody>
          <a:bodyPr wrap="square" rtlCol="0" anchor="ctr"/>
          <a:lstStyle/>
          <a:p>
            <a:pPr marL="0" indent="0">
              <a:buNone/>
            </a:pPr>
            <a:endParaRPr lang="en-US" dirty="0"/>
          </a:p>
        </p:txBody>
      </p:sp>
      <p:sp>
        <p:nvSpPr>
          <p:cNvPr id="29" name="Text 27"/>
          <p:cNvSpPr/>
          <p:nvPr/>
        </p:nvSpPr>
        <p:spPr>
          <a:xfrm>
            <a:off x="4010174" y="2361158"/>
            <a:ext cx="4789590" cy="119955"/>
          </a:xfrm>
          <a:prstGeom prst="rect">
            <a:avLst/>
          </a:prstGeom>
          <a:noFill/>
          <a:ln/>
        </p:spPr>
        <p:txBody>
          <a:bodyPr wrap="square" lIns="0" tIns="0" rIns="0" bIns="0" rtlCol="0" anchor="t"/>
          <a:lstStyle/>
          <a:p>
            <a:pPr marL="0" indent="0" algn="l">
              <a:lnSpc>
                <a:spcPts val="945"/>
              </a:lnSpc>
              <a:spcAft>
                <a:spcPts val="450"/>
              </a:spcAft>
              <a:buNone/>
            </a:pPr>
            <a:r>
              <a:rPr lang="en-US" sz="675" dirty="0">
                <a:solidFill>
                  <a:srgbClr val="C9A227"/>
                </a:solidFill>
                <a:latin typeface="Arial" pitchFamily="34" charset="0"/>
                <a:ea typeface="Arial" pitchFamily="34" charset="-122"/>
                <a:cs typeface="Arial" pitchFamily="34" charset="-120"/>
              </a:rPr>
              <a:t>EXAMPLE VOICE FEEDBACK</a:t>
            </a:r>
            <a:endParaRPr lang="en-US" sz="675" dirty="0"/>
          </a:p>
        </p:txBody>
      </p:sp>
      <p:sp>
        <p:nvSpPr>
          <p:cNvPr id="30" name="Text 28"/>
          <p:cNvSpPr/>
          <p:nvPr/>
        </p:nvSpPr>
        <p:spPr>
          <a:xfrm>
            <a:off x="4010174" y="2538264"/>
            <a:ext cx="4789590" cy="257175"/>
          </a:xfrm>
          <a:prstGeom prst="rect">
            <a:avLst/>
          </a:prstGeom>
          <a:noFill/>
          <a:ln/>
        </p:spPr>
        <p:txBody>
          <a:bodyPr wrap="square" lIns="0" tIns="0" rIns="0" bIns="0" rtlCol="0" anchor="t"/>
          <a:lstStyle/>
          <a:p>
            <a:pPr marL="0" indent="0" algn="l">
              <a:lnSpc>
                <a:spcPts val="1013"/>
              </a:lnSpc>
              <a:buNone/>
            </a:pPr>
            <a:r>
              <a:rPr lang="en-US" sz="675" dirty="0">
                <a:solidFill>
                  <a:srgbClr val="FFFFFF">
                    <a:alpha val="80000"/>
                  </a:srgbClr>
                </a:solidFill>
                <a:latin typeface="Arial" pitchFamily="34" charset="0"/>
                <a:ea typeface="Arial" pitchFamily="34" charset="-122"/>
                <a:cs typeface="Arial" pitchFamily="34" charset="-120"/>
              </a:rPr>
              <a:t>"The login form works but the error messages are too harsh. Soften the language to match our narrative guidelines. Also, the submit button needs more padding — it feels cramped."</a:t>
            </a:r>
            <a:endParaRPr lang="en-US" sz="675" dirty="0"/>
          </a:p>
        </p:txBody>
      </p:sp>
      <p:sp>
        <p:nvSpPr>
          <p:cNvPr id="31" name="Text 29"/>
          <p:cNvSpPr/>
          <p:nvPr/>
        </p:nvSpPr>
        <p:spPr>
          <a:xfrm>
            <a:off x="3876824" y="3195489"/>
            <a:ext cx="2433638" cy="599777"/>
          </a:xfrm>
          <a:prstGeom prst="rect">
            <a:avLst/>
          </a:prstGeom>
          <a:solidFill>
            <a:srgbClr val="DBEAFE"/>
          </a:solidFill>
          <a:ln/>
        </p:spPr>
        <p:txBody>
          <a:bodyPr wrap="square" rtlCol="0" anchor="ctr"/>
          <a:lstStyle/>
          <a:p>
            <a:pPr marL="0" indent="0">
              <a:buNone/>
            </a:pPr>
            <a:endParaRPr lang="en-US" dirty="0"/>
          </a:p>
        </p:txBody>
      </p:sp>
      <p:sp>
        <p:nvSpPr>
          <p:cNvPr id="32" name="Shape 30"/>
          <p:cNvSpPr/>
          <p:nvPr/>
        </p:nvSpPr>
        <p:spPr>
          <a:xfrm>
            <a:off x="3891111" y="3195489"/>
            <a:ext cx="0" cy="599777"/>
          </a:xfrm>
          <a:prstGeom prst="line">
            <a:avLst/>
          </a:prstGeom>
          <a:noFill/>
          <a:ln w="28575">
            <a:solidFill>
              <a:srgbClr val="3B82F6"/>
            </a:solidFill>
            <a:prstDash val="solid"/>
          </a:ln>
        </p:spPr>
        <p:txBody>
          <a:bodyPr/>
          <a:lstStyle/>
          <a:p>
            <a:endParaRPr lang="en-US"/>
          </a:p>
        </p:txBody>
      </p:sp>
      <p:sp>
        <p:nvSpPr>
          <p:cNvPr id="33" name="Text 31"/>
          <p:cNvSpPr/>
          <p:nvPr/>
        </p:nvSpPr>
        <p:spPr>
          <a:xfrm>
            <a:off x="4019699" y="3309789"/>
            <a:ext cx="2219992"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BE SPECIFIC</a:t>
            </a:r>
            <a:endParaRPr lang="en-US" sz="675" dirty="0"/>
          </a:p>
        </p:txBody>
      </p:sp>
      <p:sp>
        <p:nvSpPr>
          <p:cNvPr id="34" name="Text 32"/>
          <p:cNvSpPr/>
          <p:nvPr/>
        </p:nvSpPr>
        <p:spPr>
          <a:xfrm>
            <a:off x="4019699" y="3467844"/>
            <a:ext cx="2219992" cy="213122"/>
          </a:xfrm>
          <a:prstGeom prst="rect">
            <a:avLst/>
          </a:prstGeom>
          <a:noFill/>
          <a:ln/>
        </p:spPr>
        <p:txBody>
          <a:bodyPr wrap="square" lIns="0" tIns="0" rIns="0" bIns="0" rtlCol="0" anchor="t"/>
          <a:lstStyle/>
          <a:p>
            <a:pPr marL="0" indent="0" algn="l">
              <a:lnSpc>
                <a:spcPts val="840"/>
              </a:lnSpc>
              <a:buNone/>
            </a:pPr>
            <a:r>
              <a:rPr lang="en-US" sz="600" dirty="0">
                <a:solidFill>
                  <a:srgbClr val="1E40AF"/>
                </a:solidFill>
                <a:latin typeface="Arial" pitchFamily="34" charset="0"/>
                <a:ea typeface="Arial" pitchFamily="34" charset="-122"/>
                <a:cs typeface="Arial" pitchFamily="34" charset="-120"/>
              </a:rPr>
              <a:t>"The button is too small" → "Add 8px padding to the submit button"</a:t>
            </a:r>
            <a:endParaRPr lang="en-US" sz="600" dirty="0"/>
          </a:p>
        </p:txBody>
      </p:sp>
      <p:sp>
        <p:nvSpPr>
          <p:cNvPr id="35" name="Text 33"/>
          <p:cNvSpPr/>
          <p:nvPr/>
        </p:nvSpPr>
        <p:spPr>
          <a:xfrm>
            <a:off x="6405711" y="3248769"/>
            <a:ext cx="2433638" cy="493216"/>
          </a:xfrm>
          <a:prstGeom prst="rect">
            <a:avLst/>
          </a:prstGeom>
          <a:solidFill>
            <a:srgbClr val="FEF3C7"/>
          </a:solidFill>
          <a:ln/>
        </p:spPr>
        <p:txBody>
          <a:bodyPr wrap="square" rtlCol="0" anchor="ctr"/>
          <a:lstStyle/>
          <a:p>
            <a:pPr marL="0" indent="0">
              <a:buNone/>
            </a:pPr>
            <a:endParaRPr lang="en-US" dirty="0"/>
          </a:p>
        </p:txBody>
      </p:sp>
      <p:sp>
        <p:nvSpPr>
          <p:cNvPr id="36" name="Shape 34"/>
          <p:cNvSpPr/>
          <p:nvPr/>
        </p:nvSpPr>
        <p:spPr>
          <a:xfrm>
            <a:off x="6419999" y="3248769"/>
            <a:ext cx="0" cy="493216"/>
          </a:xfrm>
          <a:prstGeom prst="line">
            <a:avLst/>
          </a:prstGeom>
          <a:noFill/>
          <a:ln w="28575">
            <a:solidFill>
              <a:srgbClr val="F59E0B"/>
            </a:solidFill>
            <a:prstDash val="solid"/>
          </a:ln>
        </p:spPr>
        <p:txBody>
          <a:bodyPr/>
          <a:lstStyle/>
          <a:p>
            <a:endParaRPr lang="en-US"/>
          </a:p>
        </p:txBody>
      </p:sp>
      <p:sp>
        <p:nvSpPr>
          <p:cNvPr id="37" name="Text 35"/>
          <p:cNvSpPr/>
          <p:nvPr/>
        </p:nvSpPr>
        <p:spPr>
          <a:xfrm>
            <a:off x="6548586" y="3363069"/>
            <a:ext cx="2219992"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92400E"/>
                </a:solidFill>
                <a:latin typeface="Arial" pitchFamily="34" charset="0"/>
                <a:ea typeface="Arial" pitchFamily="34" charset="-122"/>
                <a:cs typeface="Arial" pitchFamily="34" charset="-120"/>
              </a:rPr>
              <a:t>REFERENCE DOCS</a:t>
            </a:r>
            <a:endParaRPr lang="en-US" sz="675" dirty="0"/>
          </a:p>
        </p:txBody>
      </p:sp>
      <p:sp>
        <p:nvSpPr>
          <p:cNvPr id="38" name="Text 36"/>
          <p:cNvSpPr/>
          <p:nvPr/>
        </p:nvSpPr>
        <p:spPr>
          <a:xfrm>
            <a:off x="6548586" y="3521125"/>
            <a:ext cx="2219992" cy="106561"/>
          </a:xfrm>
          <a:prstGeom prst="rect">
            <a:avLst/>
          </a:prstGeom>
          <a:noFill/>
          <a:ln/>
        </p:spPr>
        <p:txBody>
          <a:bodyPr wrap="square" lIns="0" tIns="0" rIns="0" bIns="0" rtlCol="0" anchor="t"/>
          <a:lstStyle/>
          <a:p>
            <a:pPr marL="0" indent="0" algn="l">
              <a:lnSpc>
                <a:spcPts val="840"/>
              </a:lnSpc>
              <a:buNone/>
            </a:pPr>
            <a:r>
              <a:rPr lang="en-US" sz="600" dirty="0">
                <a:solidFill>
                  <a:srgbClr val="92400E"/>
                </a:solidFill>
                <a:latin typeface="Arial" pitchFamily="34" charset="0"/>
                <a:ea typeface="Arial" pitchFamily="34" charset="-122"/>
                <a:cs typeface="Arial" pitchFamily="34" charset="-120"/>
              </a:rPr>
              <a:t>"Match the design system" → Agent checks design-system.md</a:t>
            </a:r>
            <a:endParaRPr lang="en-US" sz="600" dirty="0"/>
          </a:p>
        </p:txBody>
      </p:sp>
      <p:sp>
        <p:nvSpPr>
          <p:cNvPr id="39" name="Text 37"/>
          <p:cNvSpPr/>
          <p:nvPr/>
        </p:nvSpPr>
        <p:spPr>
          <a:xfrm>
            <a:off x="3876824" y="4061966"/>
            <a:ext cx="4962376" cy="520005"/>
          </a:xfrm>
          <a:prstGeom prst="rect">
            <a:avLst/>
          </a:prstGeom>
          <a:solidFill>
            <a:srgbClr val="FEE2E2"/>
          </a:solidFill>
          <a:ln/>
        </p:spPr>
        <p:txBody>
          <a:bodyPr wrap="square" rtlCol="0" anchor="ctr"/>
          <a:lstStyle/>
          <a:p>
            <a:pPr marL="0" indent="0">
              <a:buNone/>
            </a:pPr>
            <a:endParaRPr lang="en-US" dirty="0"/>
          </a:p>
        </p:txBody>
      </p:sp>
      <p:sp>
        <p:nvSpPr>
          <p:cNvPr id="40" name="Shape 38"/>
          <p:cNvSpPr/>
          <p:nvPr/>
        </p:nvSpPr>
        <p:spPr>
          <a:xfrm>
            <a:off x="3891111" y="4061966"/>
            <a:ext cx="0" cy="520005"/>
          </a:xfrm>
          <a:prstGeom prst="line">
            <a:avLst/>
          </a:prstGeom>
          <a:noFill/>
          <a:ln w="28575">
            <a:solidFill>
              <a:srgbClr val="DC2626"/>
            </a:solidFill>
            <a:prstDash val="solid"/>
          </a:ln>
        </p:spPr>
        <p:txBody>
          <a:bodyPr/>
          <a:lstStyle/>
          <a:p>
            <a:endParaRPr lang="en-US"/>
          </a:p>
        </p:txBody>
      </p:sp>
      <p:sp>
        <p:nvSpPr>
          <p:cNvPr id="41" name="Text 39"/>
          <p:cNvSpPr/>
          <p:nvPr/>
        </p:nvSpPr>
        <p:spPr>
          <a:xfrm>
            <a:off x="4019699" y="4176266"/>
            <a:ext cx="4799305"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991B1B"/>
                </a:solidFill>
                <a:latin typeface="Arial" pitchFamily="34" charset="0"/>
                <a:ea typeface="Arial" pitchFamily="34" charset="-122"/>
                <a:cs typeface="Arial" pitchFamily="34" charset="-120"/>
              </a:rPr>
              <a:t>KNOW WHEN TO STOP</a:t>
            </a:r>
            <a:endParaRPr lang="en-US" sz="750" dirty="0"/>
          </a:p>
        </p:txBody>
      </p:sp>
      <p:sp>
        <p:nvSpPr>
          <p:cNvPr id="42" name="Text 40"/>
          <p:cNvSpPr/>
          <p:nvPr/>
        </p:nvSpPr>
        <p:spPr>
          <a:xfrm>
            <a:off x="4019699" y="4347716"/>
            <a:ext cx="4799305" cy="119955"/>
          </a:xfrm>
          <a:prstGeom prst="rect">
            <a:avLst/>
          </a:prstGeom>
          <a:noFill/>
          <a:ln/>
        </p:spPr>
        <p:txBody>
          <a:bodyPr wrap="square" lIns="0" tIns="0" rIns="0" bIns="0" rtlCol="0" anchor="t"/>
          <a:lstStyle/>
          <a:p>
            <a:pPr marL="0" indent="0" algn="l">
              <a:lnSpc>
                <a:spcPts val="945"/>
              </a:lnSpc>
              <a:buNone/>
            </a:pPr>
            <a:r>
              <a:rPr lang="en-US" sz="675" dirty="0">
                <a:solidFill>
                  <a:srgbClr val="991B1B"/>
                </a:solidFill>
                <a:latin typeface="Arial" pitchFamily="34" charset="0"/>
                <a:ea typeface="Arial" pitchFamily="34" charset="-122"/>
                <a:cs typeface="Arial" pitchFamily="34" charset="-120"/>
              </a:rPr>
              <a:t>Diminishing returns are real. Ship when it's good enough. Perfect is the enemy of deployed.</a:t>
            </a:r>
            <a:endParaRPr lang="en-US" sz="6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419624"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304800" y="304800"/>
            <a:ext cx="1038523" cy="234255"/>
          </a:xfrm>
          <a:prstGeom prst="rect">
            <a:avLst/>
          </a:prstGeom>
          <a:solidFill>
            <a:srgbClr val="059669"/>
          </a:solidFill>
          <a:ln/>
        </p:spPr>
        <p:txBody>
          <a:bodyPr wrap="square" rtlCol="0" anchor="ctr"/>
          <a:lstStyle/>
          <a:p>
            <a:pPr marL="0" indent="0">
              <a:buNone/>
            </a:pPr>
            <a:endParaRPr lang="en-US" dirty="0"/>
          </a:p>
        </p:txBody>
      </p:sp>
      <p:sp>
        <p:nvSpPr>
          <p:cNvPr id="4" name="Text 2"/>
          <p:cNvSpPr/>
          <p:nvPr/>
        </p:nvSpPr>
        <p:spPr>
          <a:xfrm>
            <a:off x="419100" y="361950"/>
            <a:ext cx="826121" cy="119955"/>
          </a:xfrm>
          <a:prstGeom prst="rect">
            <a:avLst/>
          </a:prstGeom>
          <a:noFill/>
          <a:ln/>
        </p:spPr>
        <p:txBody>
          <a:bodyPr wrap="square" lIns="0" tIns="0" rIns="0" bIns="0" rtlCol="0" anchor="t"/>
          <a:lstStyle/>
          <a:p>
            <a:pPr marL="0" indent="0" algn="l">
              <a:lnSpc>
                <a:spcPts val="945"/>
              </a:lnSpc>
              <a:buNone/>
            </a:pPr>
            <a:r>
              <a:rPr lang="en-US" sz="675" b="1" dirty="0">
                <a:solidFill>
                  <a:srgbClr val="FFFFFF"/>
                </a:solidFill>
                <a:latin typeface="Arial" pitchFamily="34" charset="0"/>
                <a:ea typeface="Arial" pitchFamily="34" charset="-122"/>
                <a:cs typeface="Arial" pitchFamily="34" charset="-120"/>
              </a:rPr>
              <a:t>PHASE 10 OF 10</a:t>
            </a:r>
            <a:endParaRPr lang="en-US" sz="675" dirty="0"/>
          </a:p>
        </p:txBody>
      </p:sp>
      <p:sp>
        <p:nvSpPr>
          <p:cNvPr id="5" name="Text 3"/>
          <p:cNvSpPr/>
          <p:nvPr/>
        </p:nvSpPr>
        <p:spPr>
          <a:xfrm>
            <a:off x="304800" y="805755"/>
            <a:ext cx="1486472" cy="319980"/>
          </a:xfrm>
          <a:prstGeom prst="rect">
            <a:avLst/>
          </a:prstGeom>
          <a:noFill/>
          <a:ln/>
        </p:spPr>
        <p:txBody>
          <a:bodyPr wrap="square" lIns="0" tIns="0" rIns="0" bIns="0" rtlCol="0" anchor="t"/>
          <a:lstStyle/>
          <a:p>
            <a:pPr marL="0" indent="0" algn="l">
              <a:lnSpc>
                <a:spcPts val="2520"/>
              </a:lnSpc>
              <a:spcAft>
                <a:spcPts val="900"/>
              </a:spcAft>
              <a:buNone/>
            </a:pPr>
            <a:r>
              <a:rPr lang="en-US" sz="2100" dirty="0">
                <a:solidFill>
                  <a:srgbClr val="FFFFFF"/>
                </a:solidFill>
                <a:latin typeface="Georgia" pitchFamily="34" charset="0"/>
                <a:ea typeface="Georgia" pitchFamily="34" charset="-122"/>
                <a:cs typeface="Georgia" pitchFamily="34" charset="-120"/>
              </a:rPr>
              <a:t>Deployment</a:t>
            </a:r>
            <a:endParaRPr lang="en-US" sz="2100" dirty="0"/>
          </a:p>
        </p:txBody>
      </p:sp>
      <p:sp>
        <p:nvSpPr>
          <p:cNvPr id="6" name="Text 4"/>
          <p:cNvSpPr/>
          <p:nvPr/>
        </p:nvSpPr>
        <p:spPr>
          <a:xfrm>
            <a:off x="304800" y="1392436"/>
            <a:ext cx="3810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304800" y="1716286"/>
            <a:ext cx="2810024" cy="784771"/>
          </a:xfrm>
          <a:prstGeom prst="rect">
            <a:avLst/>
          </a:prstGeom>
          <a:solidFill>
            <a:srgbClr val="059669">
              <a:alpha val="15000"/>
            </a:srgbClr>
          </a:solidFill>
          <a:ln/>
        </p:spPr>
        <p:txBody>
          <a:bodyPr wrap="square" rtlCol="0" anchor="ctr"/>
          <a:lstStyle/>
          <a:p>
            <a:pPr marL="0" indent="0">
              <a:buNone/>
            </a:pPr>
            <a:endParaRPr lang="en-US" dirty="0"/>
          </a:p>
        </p:txBody>
      </p:sp>
      <p:sp>
        <p:nvSpPr>
          <p:cNvPr id="8" name="Shape 6"/>
          <p:cNvSpPr/>
          <p:nvPr/>
        </p:nvSpPr>
        <p:spPr>
          <a:xfrm>
            <a:off x="319088" y="1716286"/>
            <a:ext cx="0" cy="784771"/>
          </a:xfrm>
          <a:prstGeom prst="line">
            <a:avLst/>
          </a:prstGeom>
          <a:noFill/>
          <a:ln w="28575">
            <a:solidFill>
              <a:srgbClr val="059669"/>
            </a:solidFill>
            <a:prstDash val="solid"/>
          </a:ln>
        </p:spPr>
        <p:txBody>
          <a:bodyPr/>
          <a:lstStyle/>
          <a:p>
            <a:endParaRPr lang="en-US"/>
          </a:p>
        </p:txBody>
      </p:sp>
      <p:sp>
        <p:nvSpPr>
          <p:cNvPr id="9" name="Text 7"/>
          <p:cNvSpPr/>
          <p:nvPr/>
        </p:nvSpPr>
        <p:spPr>
          <a:xfrm>
            <a:off x="466725" y="1849636"/>
            <a:ext cx="2565044" cy="146596"/>
          </a:xfrm>
          <a:prstGeom prst="rect">
            <a:avLst/>
          </a:prstGeom>
          <a:noFill/>
          <a:ln/>
        </p:spPr>
        <p:txBody>
          <a:bodyPr wrap="square" lIns="0" tIns="0" rIns="0" bIns="0" rtlCol="0" anchor="t"/>
          <a:lstStyle/>
          <a:p>
            <a:pPr marL="0" indent="0" algn="l">
              <a:lnSpc>
                <a:spcPts val="1155"/>
              </a:lnSpc>
              <a:spcAft>
                <a:spcPts val="450"/>
              </a:spcAft>
              <a:buNone/>
            </a:pPr>
            <a:r>
              <a:rPr lang="en-US" sz="825" b="1" dirty="0">
                <a:solidFill>
                  <a:srgbClr val="6EE7B7"/>
                </a:solidFill>
                <a:latin typeface="Arial" pitchFamily="34" charset="0"/>
                <a:ea typeface="Arial" pitchFamily="34" charset="-122"/>
                <a:cs typeface="Arial" pitchFamily="34" charset="-120"/>
              </a:rPr>
              <a:t>THE OBJECTIVE</a:t>
            </a:r>
            <a:endParaRPr lang="en-US" sz="825" dirty="0"/>
          </a:p>
        </p:txBody>
      </p:sp>
      <p:sp>
        <p:nvSpPr>
          <p:cNvPr id="10" name="Text 8"/>
          <p:cNvSpPr/>
          <p:nvPr/>
        </p:nvSpPr>
        <p:spPr>
          <a:xfrm>
            <a:off x="466725" y="2053382"/>
            <a:ext cx="2565044" cy="314325"/>
          </a:xfrm>
          <a:prstGeom prst="rect">
            <a:avLst/>
          </a:prstGeom>
          <a:noFill/>
          <a:ln/>
        </p:spPr>
        <p:txBody>
          <a:bodyPr wrap="square" lIns="0" tIns="0" rIns="0" bIns="0" rtlCol="0" anchor="t"/>
          <a:lstStyle/>
          <a:p>
            <a:pPr marL="0" indent="0" algn="l">
              <a:lnSpc>
                <a:spcPts val="1238"/>
              </a:lnSpc>
              <a:buNone/>
            </a:pPr>
            <a:r>
              <a:rPr lang="en-US" sz="825" dirty="0">
                <a:solidFill>
                  <a:srgbClr val="FFFFFF">
                    <a:alpha val="80000"/>
                  </a:srgbClr>
                </a:solidFill>
                <a:latin typeface="Arial" pitchFamily="34" charset="0"/>
                <a:ea typeface="Arial" pitchFamily="34" charset="-122"/>
                <a:cs typeface="Arial" pitchFamily="34" charset="-120"/>
              </a:rPr>
              <a:t>Push from local to cloud. Voice-driven deployment through CLI-accessible platforms.</a:t>
            </a:r>
            <a:endParaRPr lang="en-US" sz="825" dirty="0"/>
          </a:p>
        </p:txBody>
      </p:sp>
      <p:sp>
        <p:nvSpPr>
          <p:cNvPr id="11" name="Text 9"/>
          <p:cNvSpPr/>
          <p:nvPr/>
        </p:nvSpPr>
        <p:spPr>
          <a:xfrm>
            <a:off x="304800" y="2805857"/>
            <a:ext cx="2810024" cy="1099096"/>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438150" y="2939207"/>
            <a:ext cx="2594190" cy="146596"/>
          </a:xfrm>
          <a:prstGeom prst="rect">
            <a:avLst/>
          </a:prstGeom>
          <a:noFill/>
          <a:ln/>
        </p:spPr>
        <p:txBody>
          <a:bodyPr wrap="square" lIns="0" tIns="0" rIns="0" bIns="0" rtlCol="0" anchor="t"/>
          <a:lstStyle/>
          <a:p>
            <a:pPr marL="0" indent="0" algn="l">
              <a:lnSpc>
                <a:spcPts val="1155"/>
              </a:lnSpc>
              <a:spcAft>
                <a:spcPts val="600"/>
              </a:spcAft>
              <a:buNone/>
            </a:pPr>
            <a:r>
              <a:rPr lang="en-US" sz="825" b="1" dirty="0">
                <a:solidFill>
                  <a:srgbClr val="FFFFFF"/>
                </a:solidFill>
                <a:latin typeface="Arial" pitchFamily="34" charset="0"/>
                <a:ea typeface="Arial" pitchFamily="34" charset="-122"/>
                <a:cs typeface="Arial" pitchFamily="34" charset="-120"/>
              </a:rPr>
              <a:t>DEPLOYMENT CHECKLIST</a:t>
            </a:r>
            <a:endParaRPr lang="en-US" sz="825" dirty="0"/>
          </a:p>
        </p:txBody>
      </p:sp>
      <p:sp>
        <p:nvSpPr>
          <p:cNvPr id="13" name="Text 11"/>
          <p:cNvSpPr/>
          <p:nvPr/>
        </p:nvSpPr>
        <p:spPr>
          <a:xfrm>
            <a:off x="438150" y="3162002"/>
            <a:ext cx="2594190" cy="609600"/>
          </a:xfrm>
          <a:prstGeom prst="rect">
            <a:avLst/>
          </a:prstGeom>
          <a:noFill/>
          <a:ln/>
        </p:spPr>
        <p:txBody>
          <a:bodyPr wrap="square" lIns="0" tIns="0" rIns="0" bIns="0" rtlCol="0" anchor="t"/>
          <a:lstStyle/>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Environment variables set</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Build passes locally</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Tests green</a:t>
            </a:r>
            <a:endParaRPr lang="en-US" sz="750" dirty="0"/>
          </a:p>
          <a:p>
            <a:pPr marL="0" indent="0" algn="l">
              <a:lnSpc>
                <a:spcPts val="1200"/>
              </a:lnSpc>
              <a:buNone/>
            </a:pPr>
            <a:r>
              <a:rPr lang="en-US" sz="750" dirty="0">
                <a:solidFill>
                  <a:srgbClr val="FFFFFF">
                    <a:alpha val="60000"/>
                  </a:srgbClr>
                </a:solidFill>
                <a:latin typeface="Arial" pitchFamily="34" charset="0"/>
                <a:ea typeface="Arial" pitchFamily="34" charset="-122"/>
                <a:cs typeface="Arial" pitchFamily="34" charset="-120"/>
              </a:rPr>
              <a:t> README updated</a:t>
            </a:r>
            <a:endParaRPr lang="en-US" sz="750" dirty="0"/>
          </a:p>
        </p:txBody>
      </p:sp>
      <p:sp>
        <p:nvSpPr>
          <p:cNvPr id="14" name="Text 12"/>
          <p:cNvSpPr/>
          <p:nvPr/>
        </p:nvSpPr>
        <p:spPr>
          <a:xfrm>
            <a:off x="304800" y="4476750"/>
            <a:ext cx="2810024" cy="361950"/>
          </a:xfrm>
          <a:prstGeom prst="rect">
            <a:avLst/>
          </a:prstGeom>
          <a:solidFill>
            <a:srgbClr val="C9A227"/>
          </a:solidFill>
          <a:ln/>
        </p:spPr>
        <p:txBody>
          <a:bodyPr wrap="square" rtlCol="0" anchor="ctr"/>
          <a:lstStyle/>
          <a:p>
            <a:pPr marL="0" indent="0">
              <a:buNone/>
            </a:pPr>
            <a:endParaRPr lang="en-US" dirty="0"/>
          </a:p>
        </p:txBody>
      </p:sp>
      <p:sp>
        <p:nvSpPr>
          <p:cNvPr id="15" name="Text 13"/>
          <p:cNvSpPr/>
          <p:nvPr/>
        </p:nvSpPr>
        <p:spPr>
          <a:xfrm>
            <a:off x="393286" y="4591050"/>
            <a:ext cx="2633052" cy="133350"/>
          </a:xfrm>
          <a:prstGeom prst="rect">
            <a:avLst/>
          </a:prstGeom>
          <a:noFill/>
          <a:ln/>
        </p:spPr>
        <p:txBody>
          <a:bodyPr wrap="square" lIns="0" tIns="0" rIns="0" bIns="0" rtlCol="0" anchor="t"/>
          <a:lstStyle/>
          <a:p>
            <a:pPr marL="0" indent="0" algn="ctr">
              <a:lnSpc>
                <a:spcPts val="1050"/>
              </a:lnSpc>
              <a:buNone/>
            </a:pPr>
            <a:r>
              <a:rPr lang="en-US" sz="750" b="1" dirty="0">
                <a:solidFill>
                  <a:srgbClr val="1A1F2E"/>
                </a:solidFill>
                <a:latin typeface="Arial" pitchFamily="34" charset="0"/>
                <a:ea typeface="Arial" pitchFamily="34" charset="-122"/>
                <a:cs typeface="Arial" pitchFamily="34" charset="-120"/>
              </a:rPr>
              <a:t>Ship it!</a:t>
            </a:r>
            <a:endParaRPr lang="en-US" sz="750" dirty="0"/>
          </a:p>
        </p:txBody>
      </p:sp>
      <p:sp>
        <p:nvSpPr>
          <p:cNvPr id="16" name="Text 14"/>
          <p:cNvSpPr/>
          <p:nvPr/>
        </p:nvSpPr>
        <p:spPr>
          <a:xfrm>
            <a:off x="3572024" y="0"/>
            <a:ext cx="5571976"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76824" y="670024"/>
            <a:ext cx="5061624" cy="173236"/>
          </a:xfrm>
          <a:prstGeom prst="rect">
            <a:avLst/>
          </a:prstGeom>
          <a:noFill/>
          <a:ln/>
        </p:spPr>
        <p:txBody>
          <a:bodyPr wrap="square" lIns="0" tIns="0" rIns="0" bIns="0" rtlCol="0" anchor="t"/>
          <a:lstStyle/>
          <a:p>
            <a:pPr marL="0" indent="0" algn="l">
              <a:lnSpc>
                <a:spcPts val="1365"/>
              </a:lnSpc>
              <a:spcAft>
                <a:spcPts val="1050"/>
              </a:spcAft>
              <a:buNone/>
            </a:pPr>
            <a:r>
              <a:rPr lang="en-US" sz="975" b="1" dirty="0">
                <a:solidFill>
                  <a:srgbClr val="1A1F2E"/>
                </a:solidFill>
                <a:latin typeface="Arial" pitchFamily="34" charset="0"/>
                <a:ea typeface="Arial" pitchFamily="34" charset="-122"/>
                <a:cs typeface="Arial" pitchFamily="34" charset="-120"/>
              </a:rPr>
              <a:t>CLI-ACCESSIBLE DEPLOYMENT PLATFORMS</a:t>
            </a:r>
            <a:endParaRPr lang="en-US" sz="975" dirty="0"/>
          </a:p>
        </p:txBody>
      </p:sp>
      <p:sp>
        <p:nvSpPr>
          <p:cNvPr id="18" name="Text 16"/>
          <p:cNvSpPr/>
          <p:nvPr/>
        </p:nvSpPr>
        <p:spPr>
          <a:xfrm>
            <a:off x="3876824" y="1129010"/>
            <a:ext cx="1183481" cy="723602"/>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19" name="Text 17"/>
          <p:cNvSpPr/>
          <p:nvPr/>
        </p:nvSpPr>
        <p:spPr>
          <a:xfrm>
            <a:off x="3991291" y="1252835"/>
            <a:ext cx="954548" cy="173236"/>
          </a:xfrm>
          <a:prstGeom prst="rect">
            <a:avLst/>
          </a:prstGeom>
          <a:noFill/>
          <a:ln/>
        </p:spPr>
        <p:txBody>
          <a:bodyPr wrap="square" lIns="0" tIns="0" rIns="0" bIns="0" rtlCol="0" anchor="t"/>
          <a:lstStyle/>
          <a:p>
            <a:pPr marL="0" indent="0" algn="ctr">
              <a:lnSpc>
                <a:spcPts val="1365"/>
              </a:lnSpc>
              <a:buNone/>
            </a:pPr>
            <a:r>
              <a:rPr lang="en-US" sz="975" b="1" dirty="0">
                <a:solidFill>
                  <a:srgbClr val="1A1F2E"/>
                </a:solidFill>
                <a:latin typeface="Arial" pitchFamily="34" charset="0"/>
                <a:ea typeface="Arial" pitchFamily="34" charset="-122"/>
                <a:cs typeface="Arial" pitchFamily="34" charset="-120"/>
              </a:rPr>
              <a:t>Vercel</a:t>
            </a:r>
            <a:endParaRPr lang="en-US" sz="975" dirty="0"/>
          </a:p>
        </p:txBody>
      </p:sp>
      <p:sp>
        <p:nvSpPr>
          <p:cNvPr id="20" name="Text 18"/>
          <p:cNvSpPr/>
          <p:nvPr/>
        </p:nvSpPr>
        <p:spPr>
          <a:xfrm>
            <a:off x="3991291" y="1464171"/>
            <a:ext cx="954548" cy="119955"/>
          </a:xfrm>
          <a:prstGeom prst="rect">
            <a:avLst/>
          </a:prstGeom>
          <a:noFill/>
          <a:ln/>
        </p:spPr>
        <p:txBody>
          <a:bodyPr wrap="square" lIns="0" tIns="0" rIns="0" bIns="0" rtlCol="0" anchor="t"/>
          <a:lstStyle/>
          <a:p>
            <a:pPr marL="0" indent="0" algn="ctr">
              <a:lnSpc>
                <a:spcPts val="945"/>
              </a:lnSpc>
              <a:spcBef>
                <a:spcPts val="300"/>
              </a:spcBef>
              <a:buNone/>
            </a:pPr>
            <a:r>
              <a:rPr lang="en-US" sz="675" dirty="0">
                <a:solidFill>
                  <a:srgbClr val="6B7280"/>
                </a:solidFill>
                <a:latin typeface="Arial" pitchFamily="34" charset="0"/>
                <a:ea typeface="Arial" pitchFamily="34" charset="-122"/>
                <a:cs typeface="Arial" pitchFamily="34" charset="-120"/>
              </a:rPr>
              <a:t>Frontend &amp; Edge</a:t>
            </a:r>
            <a:endParaRPr lang="en-US" sz="675" dirty="0"/>
          </a:p>
        </p:txBody>
      </p:sp>
      <p:sp>
        <p:nvSpPr>
          <p:cNvPr id="21" name="Text 19"/>
          <p:cNvSpPr/>
          <p:nvPr/>
        </p:nvSpPr>
        <p:spPr>
          <a:xfrm>
            <a:off x="3991291" y="1622227"/>
            <a:ext cx="954548" cy="106561"/>
          </a:xfrm>
          <a:prstGeom prst="rect">
            <a:avLst/>
          </a:prstGeom>
          <a:noFill/>
          <a:ln/>
        </p:spPr>
        <p:txBody>
          <a:bodyPr wrap="square" lIns="0" tIns="0" rIns="0" bIns="0" rtlCol="0" anchor="t"/>
          <a:lstStyle/>
          <a:p>
            <a:pPr marL="0" indent="0" algn="ctr">
              <a:lnSpc>
                <a:spcPts val="840"/>
              </a:lnSpc>
              <a:spcBef>
                <a:spcPts val="300"/>
              </a:spcBef>
              <a:buNone/>
            </a:pPr>
            <a:r>
              <a:rPr lang="en-US" sz="600" dirty="0">
                <a:solidFill>
                  <a:srgbClr val="9CA3AF"/>
                </a:solidFill>
                <a:latin typeface="monospace" pitchFamily="34" charset="0"/>
                <a:ea typeface="monospace" pitchFamily="34" charset="-122"/>
                <a:cs typeface="monospace" pitchFamily="34" charset="-120"/>
              </a:rPr>
              <a:t>vercel deploy</a:t>
            </a:r>
            <a:endParaRPr lang="en-US" sz="600" dirty="0"/>
          </a:p>
        </p:txBody>
      </p:sp>
      <p:sp>
        <p:nvSpPr>
          <p:cNvPr id="22" name="Text 20"/>
          <p:cNvSpPr/>
          <p:nvPr/>
        </p:nvSpPr>
        <p:spPr>
          <a:xfrm>
            <a:off x="5136505" y="1129010"/>
            <a:ext cx="1183481" cy="723602"/>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3" name="Text 21"/>
          <p:cNvSpPr/>
          <p:nvPr/>
        </p:nvSpPr>
        <p:spPr>
          <a:xfrm>
            <a:off x="5250972" y="1252835"/>
            <a:ext cx="954548" cy="173236"/>
          </a:xfrm>
          <a:prstGeom prst="rect">
            <a:avLst/>
          </a:prstGeom>
          <a:noFill/>
          <a:ln/>
        </p:spPr>
        <p:txBody>
          <a:bodyPr wrap="square" lIns="0" tIns="0" rIns="0" bIns="0" rtlCol="0" anchor="t"/>
          <a:lstStyle/>
          <a:p>
            <a:pPr marL="0" indent="0" algn="ctr">
              <a:lnSpc>
                <a:spcPts val="1365"/>
              </a:lnSpc>
              <a:buNone/>
            </a:pPr>
            <a:r>
              <a:rPr lang="en-US" sz="975" b="1" dirty="0">
                <a:solidFill>
                  <a:srgbClr val="1A1F2E"/>
                </a:solidFill>
                <a:latin typeface="Arial" pitchFamily="34" charset="0"/>
                <a:ea typeface="Arial" pitchFamily="34" charset="-122"/>
                <a:cs typeface="Arial" pitchFamily="34" charset="-120"/>
              </a:rPr>
              <a:t>Railway</a:t>
            </a:r>
            <a:endParaRPr lang="en-US" sz="975" dirty="0"/>
          </a:p>
        </p:txBody>
      </p:sp>
      <p:sp>
        <p:nvSpPr>
          <p:cNvPr id="24" name="Text 22"/>
          <p:cNvSpPr/>
          <p:nvPr/>
        </p:nvSpPr>
        <p:spPr>
          <a:xfrm>
            <a:off x="5250972" y="1464171"/>
            <a:ext cx="954548" cy="119955"/>
          </a:xfrm>
          <a:prstGeom prst="rect">
            <a:avLst/>
          </a:prstGeom>
          <a:noFill/>
          <a:ln/>
        </p:spPr>
        <p:txBody>
          <a:bodyPr wrap="square" lIns="0" tIns="0" rIns="0" bIns="0" rtlCol="0" anchor="t"/>
          <a:lstStyle/>
          <a:p>
            <a:pPr marL="0" indent="0" algn="ctr">
              <a:lnSpc>
                <a:spcPts val="945"/>
              </a:lnSpc>
              <a:spcBef>
                <a:spcPts val="300"/>
              </a:spcBef>
              <a:buNone/>
            </a:pPr>
            <a:r>
              <a:rPr lang="en-US" sz="675" dirty="0">
                <a:solidFill>
                  <a:srgbClr val="6B7280"/>
                </a:solidFill>
                <a:latin typeface="Arial" pitchFamily="34" charset="0"/>
                <a:ea typeface="Arial" pitchFamily="34" charset="-122"/>
                <a:cs typeface="Arial" pitchFamily="34" charset="-120"/>
              </a:rPr>
              <a:t>Full-Stack Apps</a:t>
            </a:r>
            <a:endParaRPr lang="en-US" sz="675" dirty="0"/>
          </a:p>
        </p:txBody>
      </p:sp>
      <p:sp>
        <p:nvSpPr>
          <p:cNvPr id="25" name="Text 23"/>
          <p:cNvSpPr/>
          <p:nvPr/>
        </p:nvSpPr>
        <p:spPr>
          <a:xfrm>
            <a:off x="5250972" y="1622227"/>
            <a:ext cx="954548" cy="106561"/>
          </a:xfrm>
          <a:prstGeom prst="rect">
            <a:avLst/>
          </a:prstGeom>
          <a:noFill/>
          <a:ln/>
        </p:spPr>
        <p:txBody>
          <a:bodyPr wrap="square" lIns="0" tIns="0" rIns="0" bIns="0" rtlCol="0" anchor="t"/>
          <a:lstStyle/>
          <a:p>
            <a:pPr marL="0" indent="0" algn="ctr">
              <a:lnSpc>
                <a:spcPts val="840"/>
              </a:lnSpc>
              <a:spcBef>
                <a:spcPts val="300"/>
              </a:spcBef>
              <a:buNone/>
            </a:pPr>
            <a:r>
              <a:rPr lang="en-US" sz="600" dirty="0">
                <a:solidFill>
                  <a:srgbClr val="9CA3AF"/>
                </a:solidFill>
                <a:latin typeface="monospace" pitchFamily="34" charset="0"/>
                <a:ea typeface="monospace" pitchFamily="34" charset="-122"/>
                <a:cs typeface="monospace" pitchFamily="34" charset="-120"/>
              </a:rPr>
              <a:t>railway up</a:t>
            </a:r>
            <a:endParaRPr lang="en-US" sz="600" dirty="0"/>
          </a:p>
        </p:txBody>
      </p:sp>
      <p:sp>
        <p:nvSpPr>
          <p:cNvPr id="26" name="Text 24"/>
          <p:cNvSpPr/>
          <p:nvPr/>
        </p:nvSpPr>
        <p:spPr>
          <a:xfrm>
            <a:off x="6396186" y="1129010"/>
            <a:ext cx="1183481" cy="723602"/>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27" name="Text 25"/>
          <p:cNvSpPr/>
          <p:nvPr/>
        </p:nvSpPr>
        <p:spPr>
          <a:xfrm>
            <a:off x="6510653" y="1252835"/>
            <a:ext cx="954548" cy="173236"/>
          </a:xfrm>
          <a:prstGeom prst="rect">
            <a:avLst/>
          </a:prstGeom>
          <a:noFill/>
          <a:ln/>
        </p:spPr>
        <p:txBody>
          <a:bodyPr wrap="square" lIns="0" tIns="0" rIns="0" bIns="0" rtlCol="0" anchor="t"/>
          <a:lstStyle/>
          <a:p>
            <a:pPr marL="0" indent="0" algn="ctr">
              <a:lnSpc>
                <a:spcPts val="1365"/>
              </a:lnSpc>
              <a:buNone/>
            </a:pPr>
            <a:r>
              <a:rPr lang="en-US" sz="975" b="1" dirty="0">
                <a:solidFill>
                  <a:srgbClr val="1A1F2E"/>
                </a:solidFill>
                <a:latin typeface="Arial" pitchFamily="34" charset="0"/>
                <a:ea typeface="Arial" pitchFamily="34" charset="-122"/>
                <a:cs typeface="Arial" pitchFamily="34" charset="-120"/>
              </a:rPr>
              <a:t>Supabase</a:t>
            </a:r>
            <a:endParaRPr lang="en-US" sz="975" dirty="0"/>
          </a:p>
        </p:txBody>
      </p:sp>
      <p:sp>
        <p:nvSpPr>
          <p:cNvPr id="28" name="Text 26"/>
          <p:cNvSpPr/>
          <p:nvPr/>
        </p:nvSpPr>
        <p:spPr>
          <a:xfrm>
            <a:off x="6510653" y="1464171"/>
            <a:ext cx="954548" cy="119955"/>
          </a:xfrm>
          <a:prstGeom prst="rect">
            <a:avLst/>
          </a:prstGeom>
          <a:noFill/>
          <a:ln/>
        </p:spPr>
        <p:txBody>
          <a:bodyPr wrap="square" lIns="0" tIns="0" rIns="0" bIns="0" rtlCol="0" anchor="t"/>
          <a:lstStyle/>
          <a:p>
            <a:pPr marL="0" indent="0" algn="ctr">
              <a:lnSpc>
                <a:spcPts val="945"/>
              </a:lnSpc>
              <a:spcBef>
                <a:spcPts val="300"/>
              </a:spcBef>
              <a:buNone/>
            </a:pPr>
            <a:r>
              <a:rPr lang="en-US" sz="675" dirty="0">
                <a:solidFill>
                  <a:srgbClr val="6B7280"/>
                </a:solidFill>
                <a:latin typeface="Arial" pitchFamily="34" charset="0"/>
                <a:ea typeface="Arial" pitchFamily="34" charset="-122"/>
                <a:cs typeface="Arial" pitchFamily="34" charset="-120"/>
              </a:rPr>
              <a:t>Database &amp; Auth</a:t>
            </a:r>
            <a:endParaRPr lang="en-US" sz="675" dirty="0"/>
          </a:p>
        </p:txBody>
      </p:sp>
      <p:sp>
        <p:nvSpPr>
          <p:cNvPr id="29" name="Text 27"/>
          <p:cNvSpPr/>
          <p:nvPr/>
        </p:nvSpPr>
        <p:spPr>
          <a:xfrm>
            <a:off x="6510653" y="1622227"/>
            <a:ext cx="954548" cy="106561"/>
          </a:xfrm>
          <a:prstGeom prst="rect">
            <a:avLst/>
          </a:prstGeom>
          <a:noFill/>
          <a:ln/>
        </p:spPr>
        <p:txBody>
          <a:bodyPr wrap="square" lIns="0" tIns="0" rIns="0" bIns="0" rtlCol="0" anchor="t"/>
          <a:lstStyle/>
          <a:p>
            <a:pPr marL="0" indent="0" algn="ctr">
              <a:lnSpc>
                <a:spcPts val="840"/>
              </a:lnSpc>
              <a:spcBef>
                <a:spcPts val="300"/>
              </a:spcBef>
              <a:buNone/>
            </a:pPr>
            <a:r>
              <a:rPr lang="en-US" sz="600" dirty="0">
                <a:solidFill>
                  <a:srgbClr val="9CA3AF"/>
                </a:solidFill>
                <a:latin typeface="monospace" pitchFamily="34" charset="0"/>
                <a:ea typeface="monospace" pitchFamily="34" charset="-122"/>
                <a:cs typeface="monospace" pitchFamily="34" charset="-120"/>
              </a:rPr>
              <a:t>supabase db push</a:t>
            </a:r>
            <a:endParaRPr lang="en-US" sz="600" dirty="0"/>
          </a:p>
        </p:txBody>
      </p:sp>
      <p:sp>
        <p:nvSpPr>
          <p:cNvPr id="30" name="Text 28"/>
          <p:cNvSpPr/>
          <p:nvPr/>
        </p:nvSpPr>
        <p:spPr>
          <a:xfrm>
            <a:off x="7655868" y="1129010"/>
            <a:ext cx="1183481" cy="723602"/>
          </a:xfrm>
          <a:prstGeom prst="rect">
            <a:avLst/>
          </a:prstGeom>
          <a:solidFill>
            <a:srgbClr val="FFFFFF"/>
          </a:solidFill>
          <a:ln w="9525">
            <a:solidFill>
              <a:srgbClr val="E4E7ED"/>
            </a:solidFill>
          </a:ln>
        </p:spPr>
        <p:txBody>
          <a:bodyPr wrap="square" rtlCol="0" anchor="ctr"/>
          <a:lstStyle/>
          <a:p>
            <a:pPr marL="0" indent="0">
              <a:buNone/>
            </a:pPr>
            <a:endParaRPr lang="en-US" dirty="0"/>
          </a:p>
        </p:txBody>
      </p:sp>
      <p:sp>
        <p:nvSpPr>
          <p:cNvPr id="31" name="Text 29"/>
          <p:cNvSpPr/>
          <p:nvPr/>
        </p:nvSpPr>
        <p:spPr>
          <a:xfrm>
            <a:off x="7770334" y="1252835"/>
            <a:ext cx="954548" cy="173236"/>
          </a:xfrm>
          <a:prstGeom prst="rect">
            <a:avLst/>
          </a:prstGeom>
          <a:noFill/>
          <a:ln/>
        </p:spPr>
        <p:txBody>
          <a:bodyPr wrap="square" lIns="0" tIns="0" rIns="0" bIns="0" rtlCol="0" anchor="t"/>
          <a:lstStyle/>
          <a:p>
            <a:pPr marL="0" indent="0" algn="ctr">
              <a:lnSpc>
                <a:spcPts val="1365"/>
              </a:lnSpc>
              <a:buNone/>
            </a:pPr>
            <a:r>
              <a:rPr lang="en-US" sz="975" b="1" dirty="0">
                <a:solidFill>
                  <a:srgbClr val="1A1F2E"/>
                </a:solidFill>
                <a:latin typeface="Arial" pitchFamily="34" charset="0"/>
                <a:ea typeface="Arial" pitchFamily="34" charset="-122"/>
                <a:cs typeface="Arial" pitchFamily="34" charset="-120"/>
              </a:rPr>
              <a:t>Azure</a:t>
            </a:r>
            <a:endParaRPr lang="en-US" sz="975" dirty="0"/>
          </a:p>
        </p:txBody>
      </p:sp>
      <p:sp>
        <p:nvSpPr>
          <p:cNvPr id="32" name="Text 30"/>
          <p:cNvSpPr/>
          <p:nvPr/>
        </p:nvSpPr>
        <p:spPr>
          <a:xfrm>
            <a:off x="7770334" y="1464171"/>
            <a:ext cx="954548" cy="119955"/>
          </a:xfrm>
          <a:prstGeom prst="rect">
            <a:avLst/>
          </a:prstGeom>
          <a:noFill/>
          <a:ln/>
        </p:spPr>
        <p:txBody>
          <a:bodyPr wrap="square" lIns="0" tIns="0" rIns="0" bIns="0" rtlCol="0" anchor="t"/>
          <a:lstStyle/>
          <a:p>
            <a:pPr marL="0" indent="0" algn="ctr">
              <a:lnSpc>
                <a:spcPts val="945"/>
              </a:lnSpc>
              <a:spcBef>
                <a:spcPts val="300"/>
              </a:spcBef>
              <a:buNone/>
            </a:pPr>
            <a:r>
              <a:rPr lang="en-US" sz="675" dirty="0">
                <a:solidFill>
                  <a:srgbClr val="6B7280"/>
                </a:solidFill>
                <a:latin typeface="Arial" pitchFamily="34" charset="0"/>
                <a:ea typeface="Arial" pitchFamily="34" charset="-122"/>
                <a:cs typeface="Arial" pitchFamily="34" charset="-120"/>
              </a:rPr>
              <a:t>Enterprise</a:t>
            </a:r>
            <a:endParaRPr lang="en-US" sz="675" dirty="0"/>
          </a:p>
        </p:txBody>
      </p:sp>
      <p:sp>
        <p:nvSpPr>
          <p:cNvPr id="33" name="Text 31"/>
          <p:cNvSpPr/>
          <p:nvPr/>
        </p:nvSpPr>
        <p:spPr>
          <a:xfrm>
            <a:off x="7770334" y="1622227"/>
            <a:ext cx="954548" cy="106561"/>
          </a:xfrm>
          <a:prstGeom prst="rect">
            <a:avLst/>
          </a:prstGeom>
          <a:noFill/>
          <a:ln/>
        </p:spPr>
        <p:txBody>
          <a:bodyPr wrap="square" lIns="0" tIns="0" rIns="0" bIns="0" rtlCol="0" anchor="t"/>
          <a:lstStyle/>
          <a:p>
            <a:pPr marL="0" indent="0" algn="ctr">
              <a:lnSpc>
                <a:spcPts val="840"/>
              </a:lnSpc>
              <a:spcBef>
                <a:spcPts val="300"/>
              </a:spcBef>
              <a:buNone/>
            </a:pPr>
            <a:r>
              <a:rPr lang="en-US" sz="600" dirty="0">
                <a:solidFill>
                  <a:srgbClr val="9CA3AF"/>
                </a:solidFill>
                <a:latin typeface="monospace" pitchFamily="34" charset="0"/>
                <a:ea typeface="monospace" pitchFamily="34" charset="-122"/>
                <a:cs typeface="monospace" pitchFamily="34" charset="-120"/>
              </a:rPr>
              <a:t>az webapp up</a:t>
            </a:r>
            <a:endParaRPr lang="en-US" sz="600" dirty="0"/>
          </a:p>
        </p:txBody>
      </p:sp>
      <p:sp>
        <p:nvSpPr>
          <p:cNvPr id="34" name="Text 32"/>
          <p:cNvSpPr/>
          <p:nvPr/>
        </p:nvSpPr>
        <p:spPr>
          <a:xfrm>
            <a:off x="3876824" y="2119313"/>
            <a:ext cx="4962376" cy="700980"/>
          </a:xfrm>
          <a:prstGeom prst="rect">
            <a:avLst/>
          </a:prstGeom>
          <a:solidFill>
            <a:srgbClr val="1A1F2E"/>
          </a:solidFill>
          <a:ln/>
        </p:spPr>
        <p:txBody>
          <a:bodyPr wrap="square" rtlCol="0" anchor="ctr"/>
          <a:lstStyle/>
          <a:p>
            <a:pPr marL="0" indent="0">
              <a:buNone/>
            </a:pPr>
            <a:endParaRPr lang="en-US" dirty="0"/>
          </a:p>
        </p:txBody>
      </p:sp>
      <p:sp>
        <p:nvSpPr>
          <p:cNvPr id="35" name="Text 33"/>
          <p:cNvSpPr/>
          <p:nvPr/>
        </p:nvSpPr>
        <p:spPr>
          <a:xfrm>
            <a:off x="4010174" y="2252663"/>
            <a:ext cx="4789590" cy="119955"/>
          </a:xfrm>
          <a:prstGeom prst="rect">
            <a:avLst/>
          </a:prstGeom>
          <a:noFill/>
          <a:ln/>
        </p:spPr>
        <p:txBody>
          <a:bodyPr wrap="square" lIns="0" tIns="0" rIns="0" bIns="0" rtlCol="0" anchor="t"/>
          <a:lstStyle/>
          <a:p>
            <a:pPr marL="0" indent="0" algn="l">
              <a:lnSpc>
                <a:spcPts val="945"/>
              </a:lnSpc>
              <a:spcAft>
                <a:spcPts val="450"/>
              </a:spcAft>
              <a:buNone/>
            </a:pPr>
            <a:r>
              <a:rPr lang="en-US" sz="675" dirty="0">
                <a:solidFill>
                  <a:srgbClr val="C9A227"/>
                </a:solidFill>
                <a:latin typeface="Arial" pitchFamily="34" charset="0"/>
                <a:ea typeface="Arial" pitchFamily="34" charset="-122"/>
                <a:cs typeface="Arial" pitchFamily="34" charset="-120"/>
              </a:rPr>
              <a:t>EXAMPLE VOICE PROMPT</a:t>
            </a:r>
            <a:endParaRPr lang="en-US" sz="675" dirty="0"/>
          </a:p>
        </p:txBody>
      </p:sp>
      <p:sp>
        <p:nvSpPr>
          <p:cNvPr id="36" name="Text 34"/>
          <p:cNvSpPr/>
          <p:nvPr/>
        </p:nvSpPr>
        <p:spPr>
          <a:xfrm>
            <a:off x="4010174" y="2429768"/>
            <a:ext cx="4789590" cy="257175"/>
          </a:xfrm>
          <a:prstGeom prst="rect">
            <a:avLst/>
          </a:prstGeom>
          <a:noFill/>
          <a:ln/>
        </p:spPr>
        <p:txBody>
          <a:bodyPr wrap="square" lIns="0" tIns="0" rIns="0" bIns="0" rtlCol="0" anchor="t"/>
          <a:lstStyle/>
          <a:p>
            <a:pPr marL="0" indent="0" algn="l">
              <a:lnSpc>
                <a:spcPts val="1013"/>
              </a:lnSpc>
              <a:buNone/>
            </a:pPr>
            <a:r>
              <a:rPr lang="en-US" sz="675" dirty="0">
                <a:solidFill>
                  <a:srgbClr val="FFFFFF">
                    <a:alpha val="80000"/>
                  </a:srgbClr>
                </a:solidFill>
                <a:latin typeface="Arial" pitchFamily="34" charset="0"/>
                <a:ea typeface="Arial" pitchFamily="34" charset="-122"/>
                <a:cs typeface="Arial" pitchFamily="34" charset="-120"/>
              </a:rPr>
              <a:t>"Deploy this to Vercel. Set the environment variables from our .env.example, run the build, and give me the deployment URL when it's live."</a:t>
            </a:r>
            <a:endParaRPr lang="en-US" sz="675" dirty="0"/>
          </a:p>
        </p:txBody>
      </p:sp>
      <p:sp>
        <p:nvSpPr>
          <p:cNvPr id="37" name="Text 35"/>
          <p:cNvSpPr/>
          <p:nvPr/>
        </p:nvSpPr>
        <p:spPr>
          <a:xfrm>
            <a:off x="3876824" y="3086993"/>
            <a:ext cx="2433638" cy="599777"/>
          </a:xfrm>
          <a:prstGeom prst="rect">
            <a:avLst/>
          </a:prstGeom>
          <a:solidFill>
            <a:srgbClr val="DCFCE7"/>
          </a:solidFill>
          <a:ln/>
        </p:spPr>
        <p:txBody>
          <a:bodyPr wrap="square" rtlCol="0" anchor="ctr"/>
          <a:lstStyle/>
          <a:p>
            <a:pPr marL="0" indent="0">
              <a:buNone/>
            </a:pPr>
            <a:endParaRPr lang="en-US" dirty="0"/>
          </a:p>
        </p:txBody>
      </p:sp>
      <p:sp>
        <p:nvSpPr>
          <p:cNvPr id="38" name="Shape 36"/>
          <p:cNvSpPr/>
          <p:nvPr/>
        </p:nvSpPr>
        <p:spPr>
          <a:xfrm>
            <a:off x="3891111" y="3086993"/>
            <a:ext cx="0" cy="599777"/>
          </a:xfrm>
          <a:prstGeom prst="line">
            <a:avLst/>
          </a:prstGeom>
          <a:noFill/>
          <a:ln w="28575">
            <a:solidFill>
              <a:srgbClr val="059669"/>
            </a:solidFill>
            <a:prstDash val="solid"/>
          </a:ln>
        </p:spPr>
        <p:txBody>
          <a:bodyPr/>
          <a:lstStyle/>
          <a:p>
            <a:endParaRPr lang="en-US"/>
          </a:p>
        </p:txBody>
      </p:sp>
      <p:sp>
        <p:nvSpPr>
          <p:cNvPr id="39" name="Text 37"/>
          <p:cNvSpPr/>
          <p:nvPr/>
        </p:nvSpPr>
        <p:spPr>
          <a:xfrm>
            <a:off x="4019699" y="3201293"/>
            <a:ext cx="2219992"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66534"/>
                </a:solidFill>
                <a:latin typeface="Arial" pitchFamily="34" charset="0"/>
                <a:ea typeface="Arial" pitchFamily="34" charset="-122"/>
                <a:cs typeface="Arial" pitchFamily="34" charset="-120"/>
              </a:rPr>
              <a:t>WHY CLI MATTERS</a:t>
            </a:r>
            <a:endParaRPr lang="en-US" sz="675" dirty="0"/>
          </a:p>
        </p:txBody>
      </p:sp>
      <p:sp>
        <p:nvSpPr>
          <p:cNvPr id="40" name="Text 38"/>
          <p:cNvSpPr/>
          <p:nvPr/>
        </p:nvSpPr>
        <p:spPr>
          <a:xfrm>
            <a:off x="4019699" y="3359348"/>
            <a:ext cx="2219992" cy="213122"/>
          </a:xfrm>
          <a:prstGeom prst="rect">
            <a:avLst/>
          </a:prstGeom>
          <a:noFill/>
          <a:ln/>
        </p:spPr>
        <p:txBody>
          <a:bodyPr wrap="square" lIns="0" tIns="0" rIns="0" bIns="0" rtlCol="0" anchor="t"/>
          <a:lstStyle/>
          <a:p>
            <a:pPr marL="0" indent="0" algn="l">
              <a:lnSpc>
                <a:spcPts val="840"/>
              </a:lnSpc>
              <a:buNone/>
            </a:pPr>
            <a:r>
              <a:rPr lang="en-US" sz="600" dirty="0">
                <a:solidFill>
                  <a:srgbClr val="166534"/>
                </a:solidFill>
                <a:latin typeface="Arial" pitchFamily="34" charset="0"/>
                <a:ea typeface="Arial" pitchFamily="34" charset="-122"/>
                <a:cs typeface="Arial" pitchFamily="34" charset="-120"/>
              </a:rPr>
              <a:t>All these platforms have CLIs your agent can access through shell environments. No clicking required.</a:t>
            </a:r>
            <a:endParaRPr lang="en-US" sz="600" dirty="0"/>
          </a:p>
        </p:txBody>
      </p:sp>
      <p:sp>
        <p:nvSpPr>
          <p:cNvPr id="41" name="Text 39"/>
          <p:cNvSpPr/>
          <p:nvPr/>
        </p:nvSpPr>
        <p:spPr>
          <a:xfrm>
            <a:off x="6405711" y="3086993"/>
            <a:ext cx="2433638" cy="599777"/>
          </a:xfrm>
          <a:prstGeom prst="rect">
            <a:avLst/>
          </a:prstGeom>
          <a:solidFill>
            <a:srgbClr val="DBEAFE"/>
          </a:solidFill>
          <a:ln/>
        </p:spPr>
        <p:txBody>
          <a:bodyPr wrap="square" rtlCol="0" anchor="ctr"/>
          <a:lstStyle/>
          <a:p>
            <a:pPr marL="0" indent="0">
              <a:buNone/>
            </a:pPr>
            <a:endParaRPr lang="en-US" dirty="0"/>
          </a:p>
        </p:txBody>
      </p:sp>
      <p:sp>
        <p:nvSpPr>
          <p:cNvPr id="42" name="Shape 40"/>
          <p:cNvSpPr/>
          <p:nvPr/>
        </p:nvSpPr>
        <p:spPr>
          <a:xfrm>
            <a:off x="6419999" y="3086993"/>
            <a:ext cx="0" cy="599777"/>
          </a:xfrm>
          <a:prstGeom prst="line">
            <a:avLst/>
          </a:prstGeom>
          <a:noFill/>
          <a:ln w="28575">
            <a:solidFill>
              <a:srgbClr val="3B82F6"/>
            </a:solidFill>
            <a:prstDash val="solid"/>
          </a:ln>
        </p:spPr>
        <p:txBody>
          <a:bodyPr/>
          <a:lstStyle/>
          <a:p>
            <a:endParaRPr lang="en-US"/>
          </a:p>
        </p:txBody>
      </p:sp>
      <p:sp>
        <p:nvSpPr>
          <p:cNvPr id="43" name="Text 41"/>
          <p:cNvSpPr/>
          <p:nvPr/>
        </p:nvSpPr>
        <p:spPr>
          <a:xfrm>
            <a:off x="6548586" y="3201293"/>
            <a:ext cx="2219992" cy="119955"/>
          </a:xfrm>
          <a:prstGeom prst="rect">
            <a:avLst/>
          </a:prstGeom>
          <a:noFill/>
          <a:ln/>
        </p:spPr>
        <p:txBody>
          <a:bodyPr wrap="square" lIns="0" tIns="0" rIns="0" bIns="0" rtlCol="0" anchor="t"/>
          <a:lstStyle/>
          <a:p>
            <a:pPr marL="0" indent="0" algn="l">
              <a:lnSpc>
                <a:spcPts val="945"/>
              </a:lnSpc>
              <a:spcAft>
                <a:spcPts val="300"/>
              </a:spcAft>
              <a:buNone/>
            </a:pPr>
            <a:r>
              <a:rPr lang="en-US" sz="675" b="1" dirty="0">
                <a:solidFill>
                  <a:srgbClr val="1E40AF"/>
                </a:solidFill>
                <a:latin typeface="Arial" pitchFamily="34" charset="0"/>
                <a:ea typeface="Arial" pitchFamily="34" charset="-122"/>
                <a:cs typeface="Arial" pitchFamily="34" charset="-120"/>
              </a:rPr>
              <a:t>POST-DEPLOY</a:t>
            </a:r>
            <a:endParaRPr lang="en-US" sz="675" dirty="0"/>
          </a:p>
        </p:txBody>
      </p:sp>
      <p:sp>
        <p:nvSpPr>
          <p:cNvPr id="44" name="Text 42"/>
          <p:cNvSpPr/>
          <p:nvPr/>
        </p:nvSpPr>
        <p:spPr>
          <a:xfrm>
            <a:off x="6548586" y="3359348"/>
            <a:ext cx="2219992" cy="213122"/>
          </a:xfrm>
          <a:prstGeom prst="rect">
            <a:avLst/>
          </a:prstGeom>
          <a:noFill/>
          <a:ln/>
        </p:spPr>
        <p:txBody>
          <a:bodyPr wrap="square" lIns="0" tIns="0" rIns="0" bIns="0" rtlCol="0" anchor="t"/>
          <a:lstStyle/>
          <a:p>
            <a:pPr marL="0" indent="0" algn="l">
              <a:lnSpc>
                <a:spcPts val="840"/>
              </a:lnSpc>
              <a:buNone/>
            </a:pPr>
            <a:r>
              <a:rPr lang="en-US" sz="600" dirty="0">
                <a:solidFill>
                  <a:srgbClr val="1E40AF"/>
                </a:solidFill>
                <a:latin typeface="Arial" pitchFamily="34" charset="0"/>
                <a:ea typeface="Arial" pitchFamily="34" charset="-122"/>
                <a:cs typeface="Arial" pitchFamily="34" charset="-120"/>
              </a:rPr>
              <a:t>Test the live URL, verify functionality, then celebrate. You built something real.</a:t>
            </a:r>
            <a:endParaRPr lang="en-US" sz="600" dirty="0"/>
          </a:p>
        </p:txBody>
      </p:sp>
      <p:sp>
        <p:nvSpPr>
          <p:cNvPr id="45" name="Text 43"/>
          <p:cNvSpPr/>
          <p:nvPr/>
        </p:nvSpPr>
        <p:spPr>
          <a:xfrm>
            <a:off x="3876824" y="3953470"/>
            <a:ext cx="4962376" cy="520005"/>
          </a:xfrm>
          <a:prstGeom prst="rect">
            <a:avLst/>
          </a:prstGeom>
          <a:solidFill>
            <a:srgbClr val="FEF3C7"/>
          </a:solidFill>
          <a:ln/>
        </p:spPr>
        <p:txBody>
          <a:bodyPr wrap="square" rtlCol="0" anchor="ctr"/>
          <a:lstStyle/>
          <a:p>
            <a:pPr marL="0" indent="0">
              <a:buNone/>
            </a:pPr>
            <a:endParaRPr lang="en-US" dirty="0"/>
          </a:p>
        </p:txBody>
      </p:sp>
      <p:sp>
        <p:nvSpPr>
          <p:cNvPr id="46" name="Shape 44"/>
          <p:cNvSpPr/>
          <p:nvPr/>
        </p:nvSpPr>
        <p:spPr>
          <a:xfrm>
            <a:off x="3891111" y="3953470"/>
            <a:ext cx="0" cy="520005"/>
          </a:xfrm>
          <a:prstGeom prst="line">
            <a:avLst/>
          </a:prstGeom>
          <a:noFill/>
          <a:ln w="28575">
            <a:solidFill>
              <a:srgbClr val="F59E0B"/>
            </a:solidFill>
            <a:prstDash val="solid"/>
          </a:ln>
        </p:spPr>
        <p:txBody>
          <a:bodyPr/>
          <a:lstStyle/>
          <a:p>
            <a:endParaRPr lang="en-US"/>
          </a:p>
        </p:txBody>
      </p:sp>
      <p:sp>
        <p:nvSpPr>
          <p:cNvPr id="47" name="Text 45"/>
          <p:cNvSpPr/>
          <p:nvPr/>
        </p:nvSpPr>
        <p:spPr>
          <a:xfrm>
            <a:off x="4019699" y="4067770"/>
            <a:ext cx="4799305"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92400E"/>
                </a:solidFill>
                <a:latin typeface="Arial" pitchFamily="34" charset="0"/>
                <a:ea typeface="Arial" pitchFamily="34" charset="-122"/>
                <a:cs typeface="Arial" pitchFamily="34" charset="-120"/>
              </a:rPr>
              <a:t>DON'T FORGET</a:t>
            </a:r>
            <a:endParaRPr lang="en-US" sz="750" dirty="0"/>
          </a:p>
        </p:txBody>
      </p:sp>
      <p:sp>
        <p:nvSpPr>
          <p:cNvPr id="48" name="Text 46"/>
          <p:cNvSpPr/>
          <p:nvPr/>
        </p:nvSpPr>
        <p:spPr>
          <a:xfrm>
            <a:off x="4019699" y="4239220"/>
            <a:ext cx="4799305" cy="119955"/>
          </a:xfrm>
          <a:prstGeom prst="rect">
            <a:avLst/>
          </a:prstGeom>
          <a:noFill/>
          <a:ln/>
        </p:spPr>
        <p:txBody>
          <a:bodyPr wrap="square" lIns="0" tIns="0" rIns="0" bIns="0" rtlCol="0" anchor="t"/>
          <a:lstStyle/>
          <a:p>
            <a:pPr marL="0" indent="0" algn="l">
              <a:lnSpc>
                <a:spcPts val="945"/>
              </a:lnSpc>
              <a:buNone/>
            </a:pPr>
            <a:r>
              <a:rPr lang="en-US" sz="675" dirty="0">
                <a:solidFill>
                  <a:srgbClr val="92400E"/>
                </a:solidFill>
                <a:latin typeface="Arial" pitchFamily="34" charset="0"/>
                <a:ea typeface="Arial" pitchFamily="34" charset="-122"/>
                <a:cs typeface="Arial" pitchFamily="34" charset="-120"/>
              </a:rPr>
              <a:t>Update README with deployment instructions. Future you (and collaborators) will thank present you.</a:t>
            </a:r>
            <a:endParaRPr lang="en-US" sz="6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3418731" cy="5143500"/>
          </a:xfrm>
          <a:prstGeom prst="rect">
            <a:avLst/>
          </a:prstGeom>
          <a:solidFill>
            <a:srgbClr val="1A1F2E"/>
          </a:solidFill>
          <a:ln/>
        </p:spPr>
        <p:txBody>
          <a:bodyPr wrap="square" rtlCol="0" anchor="ctr"/>
          <a:lstStyle/>
          <a:p>
            <a:pPr marL="0" indent="0">
              <a:buNone/>
            </a:pPr>
            <a:endParaRPr lang="en-US" dirty="0"/>
          </a:p>
        </p:txBody>
      </p:sp>
      <p:sp>
        <p:nvSpPr>
          <p:cNvPr id="3" name="Text 1"/>
          <p:cNvSpPr/>
          <p:nvPr/>
        </p:nvSpPr>
        <p:spPr>
          <a:xfrm>
            <a:off x="266700" y="288131"/>
            <a:ext cx="648146" cy="182761"/>
          </a:xfrm>
          <a:prstGeom prst="rect">
            <a:avLst/>
          </a:prstGeom>
          <a:solidFill>
            <a:srgbClr val="C9A227"/>
          </a:solidFill>
          <a:ln/>
        </p:spPr>
        <p:txBody>
          <a:bodyPr wrap="square" rtlCol="0" anchor="ctr"/>
          <a:lstStyle/>
          <a:p>
            <a:pPr marL="0" indent="0">
              <a:buNone/>
            </a:pPr>
            <a:endParaRPr lang="en-US" dirty="0"/>
          </a:p>
        </p:txBody>
      </p:sp>
      <p:sp>
        <p:nvSpPr>
          <p:cNvPr id="4" name="Text 2"/>
          <p:cNvSpPr/>
          <p:nvPr/>
        </p:nvSpPr>
        <p:spPr>
          <a:xfrm>
            <a:off x="361950" y="326231"/>
            <a:ext cx="466799" cy="106561"/>
          </a:xfrm>
          <a:prstGeom prst="rect">
            <a:avLst/>
          </a:prstGeom>
          <a:noFill/>
          <a:ln/>
        </p:spPr>
        <p:txBody>
          <a:bodyPr wrap="square" lIns="0" tIns="0" rIns="0" bIns="0" rtlCol="0" anchor="t"/>
          <a:lstStyle/>
          <a:p>
            <a:pPr marL="0" indent="0" algn="l">
              <a:lnSpc>
                <a:spcPts val="840"/>
              </a:lnSpc>
              <a:buNone/>
            </a:pPr>
            <a:r>
              <a:rPr lang="en-US" sz="600" b="1" dirty="0">
                <a:solidFill>
                  <a:srgbClr val="1A1F2E"/>
                </a:solidFill>
                <a:latin typeface="Arial" pitchFamily="34" charset="0"/>
                <a:ea typeface="Arial" pitchFamily="34" charset="-122"/>
                <a:cs typeface="Arial" pitchFamily="34" charset="-120"/>
              </a:rPr>
              <a:t>SUMMARY</a:t>
            </a:r>
            <a:endParaRPr lang="en-US" sz="600" dirty="0"/>
          </a:p>
        </p:txBody>
      </p:sp>
      <p:sp>
        <p:nvSpPr>
          <p:cNvPr id="5" name="Text 3"/>
          <p:cNvSpPr/>
          <p:nvPr/>
        </p:nvSpPr>
        <p:spPr>
          <a:xfrm>
            <a:off x="266700" y="718542"/>
            <a:ext cx="1476756" cy="594122"/>
          </a:xfrm>
          <a:prstGeom prst="rect">
            <a:avLst/>
          </a:prstGeom>
          <a:noFill/>
          <a:ln/>
        </p:spPr>
        <p:txBody>
          <a:bodyPr wrap="square" lIns="0" tIns="0" rIns="0" bIns="0" rtlCol="0" anchor="t"/>
          <a:lstStyle/>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Key</a:t>
            </a:r>
            <a:endParaRPr lang="en-US" sz="1950" dirty="0"/>
          </a:p>
          <a:p>
            <a:pPr marL="0" indent="0" algn="l">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Takeaways</a:t>
            </a:r>
            <a:endParaRPr lang="en-US" sz="1950" dirty="0"/>
          </a:p>
        </p:txBody>
      </p:sp>
      <p:sp>
        <p:nvSpPr>
          <p:cNvPr id="6" name="Text 4"/>
          <p:cNvSpPr/>
          <p:nvPr/>
        </p:nvSpPr>
        <p:spPr>
          <a:xfrm>
            <a:off x="266700" y="1560314"/>
            <a:ext cx="381000" cy="19050"/>
          </a:xfrm>
          <a:prstGeom prst="rect">
            <a:avLst/>
          </a:prstGeom>
          <a:solidFill>
            <a:srgbClr val="C9A227"/>
          </a:solidFill>
          <a:ln/>
        </p:spPr>
        <p:txBody>
          <a:bodyPr wrap="square" rtlCol="0" anchor="ctr"/>
          <a:lstStyle/>
          <a:p>
            <a:pPr marL="0" indent="0">
              <a:buNone/>
            </a:pPr>
            <a:endParaRPr lang="en-US" dirty="0"/>
          </a:p>
        </p:txBody>
      </p:sp>
      <p:sp>
        <p:nvSpPr>
          <p:cNvPr id="7" name="Text 5"/>
          <p:cNvSpPr/>
          <p:nvPr/>
        </p:nvSpPr>
        <p:spPr>
          <a:xfrm>
            <a:off x="266700" y="1846064"/>
            <a:ext cx="2885331" cy="628650"/>
          </a:xfrm>
          <a:prstGeom prst="rect">
            <a:avLst/>
          </a:prstGeom>
          <a:solidFill>
            <a:srgbClr val="C9A227">
              <a:alpha val="15000"/>
            </a:srgbClr>
          </a:solidFill>
          <a:ln/>
        </p:spPr>
        <p:txBody>
          <a:bodyPr wrap="square" rtlCol="0" anchor="ctr"/>
          <a:lstStyle/>
          <a:p>
            <a:pPr marL="0" indent="0">
              <a:buNone/>
            </a:pPr>
            <a:endParaRPr lang="en-US" dirty="0"/>
          </a:p>
        </p:txBody>
      </p:sp>
      <p:sp>
        <p:nvSpPr>
          <p:cNvPr id="8" name="Shape 6"/>
          <p:cNvSpPr/>
          <p:nvPr/>
        </p:nvSpPr>
        <p:spPr>
          <a:xfrm>
            <a:off x="280988" y="1846064"/>
            <a:ext cx="0" cy="628650"/>
          </a:xfrm>
          <a:prstGeom prst="line">
            <a:avLst/>
          </a:prstGeom>
          <a:noFill/>
          <a:ln w="28575">
            <a:solidFill>
              <a:srgbClr val="C9A227"/>
            </a:solidFill>
            <a:prstDash val="solid"/>
          </a:ln>
        </p:spPr>
        <p:txBody>
          <a:bodyPr/>
          <a:lstStyle/>
          <a:p>
            <a:endParaRPr lang="en-US"/>
          </a:p>
        </p:txBody>
      </p:sp>
      <p:sp>
        <p:nvSpPr>
          <p:cNvPr id="9" name="Text 7"/>
          <p:cNvSpPr/>
          <p:nvPr/>
        </p:nvSpPr>
        <p:spPr>
          <a:xfrm>
            <a:off x="390525" y="1941314"/>
            <a:ext cx="2719581" cy="133350"/>
          </a:xfrm>
          <a:prstGeom prst="rect">
            <a:avLst/>
          </a:prstGeom>
          <a:noFill/>
          <a:ln/>
        </p:spPr>
        <p:txBody>
          <a:bodyPr wrap="square" lIns="0" tIns="0" rIns="0" bIns="0" rtlCol="0" anchor="t"/>
          <a:lstStyle/>
          <a:p>
            <a:pPr marL="0" indent="0" algn="l">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THE BIG IDEA</a:t>
            </a:r>
            <a:endParaRPr lang="en-US" sz="750" dirty="0"/>
          </a:p>
        </p:txBody>
      </p:sp>
      <p:sp>
        <p:nvSpPr>
          <p:cNvPr id="10" name="Text 8"/>
          <p:cNvSpPr/>
          <p:nvPr/>
        </p:nvSpPr>
        <p:spPr>
          <a:xfrm>
            <a:off x="390525" y="2112764"/>
            <a:ext cx="2719581" cy="266700"/>
          </a:xfrm>
          <a:prstGeom prst="rect">
            <a:avLst/>
          </a:prstGeom>
          <a:noFill/>
          <a:ln/>
        </p:spPr>
        <p:txBody>
          <a:bodyPr wrap="square" lIns="0" tIns="0" rIns="0" bIns="0" rtlCol="0" anchor="t"/>
          <a:lstStyle/>
          <a:p>
            <a:pPr marL="0" indent="0" algn="l">
              <a:lnSpc>
                <a:spcPts val="1050"/>
              </a:lnSpc>
              <a:buNone/>
            </a:pPr>
            <a:r>
              <a:rPr lang="en-US" sz="750" dirty="0">
                <a:solidFill>
                  <a:srgbClr val="FFFFFF">
                    <a:alpha val="80000"/>
                  </a:srgbClr>
                </a:solidFill>
                <a:latin typeface="Arial" pitchFamily="34" charset="0"/>
                <a:ea typeface="Arial" pitchFamily="34" charset="-122"/>
                <a:cs typeface="Arial" pitchFamily="34" charset="-120"/>
              </a:rPr>
              <a:t>Structure enables autonomy. The more you invest upfront, the more your agent can do independently.</a:t>
            </a:r>
            <a:endParaRPr lang="en-US" sz="750" dirty="0"/>
          </a:p>
        </p:txBody>
      </p:sp>
      <p:sp>
        <p:nvSpPr>
          <p:cNvPr id="11" name="Text 9"/>
          <p:cNvSpPr/>
          <p:nvPr/>
        </p:nvSpPr>
        <p:spPr>
          <a:xfrm>
            <a:off x="266700" y="2741414"/>
            <a:ext cx="2885331" cy="1028402"/>
          </a:xfrm>
          <a:prstGeom prst="rect">
            <a:avLst/>
          </a:prstGeom>
          <a:solidFill>
            <a:srgbClr val="FFFFFF">
              <a:alpha val="5000"/>
            </a:srgbClr>
          </a:solidFill>
          <a:ln/>
        </p:spPr>
        <p:txBody>
          <a:bodyPr wrap="square" rtlCol="0" anchor="ctr"/>
          <a:lstStyle/>
          <a:p>
            <a:pPr marL="0" indent="0">
              <a:buNone/>
            </a:pPr>
            <a:endParaRPr lang="en-US" dirty="0"/>
          </a:p>
        </p:txBody>
      </p:sp>
      <p:sp>
        <p:nvSpPr>
          <p:cNvPr id="12" name="Text 10"/>
          <p:cNvSpPr/>
          <p:nvPr/>
        </p:nvSpPr>
        <p:spPr>
          <a:xfrm>
            <a:off x="361950" y="2836664"/>
            <a:ext cx="2748727" cy="133350"/>
          </a:xfrm>
          <a:prstGeom prst="rect">
            <a:avLst/>
          </a:prstGeom>
          <a:noFill/>
          <a:ln/>
        </p:spPr>
        <p:txBody>
          <a:bodyPr wrap="square" lIns="0" tIns="0" rIns="0" bIns="0" rtlCol="0" anchor="t"/>
          <a:lstStyle/>
          <a:p>
            <a:pPr marL="0" indent="0" algn="l">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THE 10 PHASES</a:t>
            </a:r>
            <a:endParaRPr lang="en-US" sz="750" dirty="0"/>
          </a:p>
        </p:txBody>
      </p:sp>
      <p:sp>
        <p:nvSpPr>
          <p:cNvPr id="13" name="Text 11"/>
          <p:cNvSpPr/>
          <p:nvPr/>
        </p:nvSpPr>
        <p:spPr>
          <a:xfrm>
            <a:off x="361950" y="3027164"/>
            <a:ext cx="2748727" cy="647402"/>
          </a:xfrm>
          <a:prstGeom prst="rect">
            <a:avLst/>
          </a:prstGeom>
          <a:noFill/>
          <a:ln/>
        </p:spPr>
        <p:txBody>
          <a:bodyPr wrap="square" lIns="0" tIns="0" rIns="0" bIns="0" rtlCol="0" anchor="t"/>
          <a:lstStyle/>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1. GitHub Repo</a:t>
            </a:r>
            <a:endParaRPr lang="en-US" sz="600" dirty="0"/>
          </a:p>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 2. Brainstorming</a:t>
            </a:r>
            <a:endParaRPr lang="en-US" sz="600" dirty="0"/>
          </a:p>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 3. Deep Research</a:t>
            </a:r>
            <a:endParaRPr lang="en-US" sz="600" dirty="0"/>
          </a:p>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 4. Planning Session</a:t>
            </a:r>
            <a:endParaRPr lang="en-US" sz="600" dirty="0"/>
          </a:p>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 5. MVP Prototype</a:t>
            </a:r>
            <a:endParaRPr lang="en-US" sz="600" dirty="0"/>
          </a:p>
        </p:txBody>
      </p:sp>
      <p:sp>
        <p:nvSpPr>
          <p:cNvPr id="14" name="Text 12"/>
          <p:cNvSpPr/>
          <p:nvPr/>
        </p:nvSpPr>
        <p:spPr>
          <a:xfrm>
            <a:off x="266700" y="4017466"/>
            <a:ext cx="2885331" cy="837902"/>
          </a:xfrm>
          <a:prstGeom prst="rect">
            <a:avLst/>
          </a:prstGeom>
          <a:solidFill>
            <a:srgbClr val="FFFFFF">
              <a:alpha val="5000"/>
            </a:srgbClr>
          </a:solidFill>
          <a:ln/>
        </p:spPr>
        <p:txBody>
          <a:bodyPr wrap="square" rtlCol="0" anchor="ctr"/>
          <a:lstStyle/>
          <a:p>
            <a:pPr marL="0" indent="0">
              <a:buNone/>
            </a:pPr>
            <a:endParaRPr lang="en-US" dirty="0"/>
          </a:p>
        </p:txBody>
      </p:sp>
      <p:sp>
        <p:nvSpPr>
          <p:cNvPr id="15" name="Text 13"/>
          <p:cNvSpPr/>
          <p:nvPr/>
        </p:nvSpPr>
        <p:spPr>
          <a:xfrm>
            <a:off x="361950" y="4112716"/>
            <a:ext cx="2748727" cy="647402"/>
          </a:xfrm>
          <a:prstGeom prst="rect">
            <a:avLst/>
          </a:prstGeom>
          <a:noFill/>
          <a:ln/>
        </p:spPr>
        <p:txBody>
          <a:bodyPr wrap="square" lIns="0" tIns="0" rIns="0" bIns="0" rtlCol="0" anchor="t"/>
          <a:lstStyle/>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6. Documentation</a:t>
            </a:r>
            <a:endParaRPr lang="en-US" sz="600" dirty="0"/>
          </a:p>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 7. PRD Creation</a:t>
            </a:r>
            <a:endParaRPr lang="en-US" sz="600" dirty="0"/>
          </a:p>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 8. Agentic Iteration</a:t>
            </a:r>
            <a:endParaRPr lang="en-US" sz="600" dirty="0"/>
          </a:p>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 9. Review Cycle</a:t>
            </a:r>
            <a:endParaRPr lang="en-US" sz="600" dirty="0"/>
          </a:p>
          <a:p>
            <a:pPr marL="0" indent="0" algn="l">
              <a:lnSpc>
                <a:spcPts val="1020"/>
              </a:lnSpc>
              <a:buNone/>
            </a:pPr>
            <a:r>
              <a:rPr lang="en-US" sz="600" dirty="0">
                <a:solidFill>
                  <a:srgbClr val="FFFFFF">
                    <a:alpha val="50000"/>
                  </a:srgbClr>
                </a:solidFill>
                <a:latin typeface="Arial" pitchFamily="34" charset="0"/>
                <a:ea typeface="Arial" pitchFamily="34" charset="-122"/>
                <a:cs typeface="Arial" pitchFamily="34" charset="-120"/>
              </a:rPr>
              <a:t> 10. Deployment</a:t>
            </a:r>
            <a:endParaRPr lang="en-US" sz="600" dirty="0"/>
          </a:p>
        </p:txBody>
      </p:sp>
      <p:sp>
        <p:nvSpPr>
          <p:cNvPr id="16" name="Text 14"/>
          <p:cNvSpPr/>
          <p:nvPr/>
        </p:nvSpPr>
        <p:spPr>
          <a:xfrm>
            <a:off x="3571131" y="0"/>
            <a:ext cx="5572869" cy="5143500"/>
          </a:xfrm>
          <a:prstGeom prst="rect">
            <a:avLst/>
          </a:prstGeom>
          <a:solidFill>
            <a:srgbClr val="F7F8FA"/>
          </a:solidFill>
          <a:ln/>
        </p:spPr>
        <p:txBody>
          <a:bodyPr wrap="square" rtlCol="0" anchor="ctr"/>
          <a:lstStyle/>
          <a:p>
            <a:pPr marL="0" indent="0">
              <a:buNone/>
            </a:pPr>
            <a:endParaRPr lang="en-US" dirty="0"/>
          </a:p>
        </p:txBody>
      </p:sp>
      <p:sp>
        <p:nvSpPr>
          <p:cNvPr id="17" name="Text 15"/>
          <p:cNvSpPr/>
          <p:nvPr/>
        </p:nvSpPr>
        <p:spPr>
          <a:xfrm>
            <a:off x="3875931" y="566142"/>
            <a:ext cx="5062535" cy="173236"/>
          </a:xfrm>
          <a:prstGeom prst="rect">
            <a:avLst/>
          </a:prstGeom>
          <a:noFill/>
          <a:ln/>
        </p:spPr>
        <p:txBody>
          <a:bodyPr wrap="square" lIns="0" tIns="0" rIns="0" bIns="0" rtlCol="0" anchor="t"/>
          <a:lstStyle/>
          <a:p>
            <a:pPr marL="0" indent="0" algn="l">
              <a:lnSpc>
                <a:spcPts val="1365"/>
              </a:lnSpc>
              <a:spcAft>
                <a:spcPts val="1050"/>
              </a:spcAft>
              <a:buNone/>
            </a:pPr>
            <a:r>
              <a:rPr lang="en-US" sz="975" b="1" dirty="0">
                <a:solidFill>
                  <a:srgbClr val="1A1F2E"/>
                </a:solidFill>
                <a:latin typeface="Arial" pitchFamily="34" charset="0"/>
                <a:ea typeface="Arial" pitchFamily="34" charset="-122"/>
                <a:cs typeface="Arial" pitchFamily="34" charset="-120"/>
              </a:rPr>
              <a:t>WHAT MAKES THIS WORK</a:t>
            </a:r>
            <a:endParaRPr lang="en-US" sz="975" dirty="0"/>
          </a:p>
        </p:txBody>
      </p:sp>
      <p:sp>
        <p:nvSpPr>
          <p:cNvPr id="18" name="Text 16"/>
          <p:cNvSpPr/>
          <p:nvPr/>
        </p:nvSpPr>
        <p:spPr>
          <a:xfrm>
            <a:off x="3875931" y="1025128"/>
            <a:ext cx="2434084" cy="1068437"/>
          </a:xfrm>
          <a:prstGeom prst="rect">
            <a:avLst/>
          </a:prstGeom>
          <a:solidFill>
            <a:srgbClr val="FFFFFF"/>
          </a:solidFill>
          <a:ln/>
        </p:spPr>
        <p:txBody>
          <a:bodyPr wrap="square" rtlCol="0" anchor="ctr"/>
          <a:lstStyle/>
          <a:p>
            <a:pPr marL="0" indent="0">
              <a:buNone/>
            </a:pPr>
            <a:endParaRPr lang="en-US" dirty="0"/>
          </a:p>
        </p:txBody>
      </p:sp>
      <p:sp>
        <p:nvSpPr>
          <p:cNvPr id="19" name="Shape 17"/>
          <p:cNvSpPr/>
          <p:nvPr/>
        </p:nvSpPr>
        <p:spPr>
          <a:xfrm>
            <a:off x="3890218" y="1025128"/>
            <a:ext cx="0" cy="1068437"/>
          </a:xfrm>
          <a:prstGeom prst="line">
            <a:avLst/>
          </a:prstGeom>
          <a:noFill/>
          <a:ln w="28575">
            <a:solidFill>
              <a:srgbClr val="C9A227"/>
            </a:solidFill>
            <a:prstDash val="solid"/>
          </a:ln>
        </p:spPr>
        <p:txBody>
          <a:bodyPr/>
          <a:lstStyle/>
          <a:p>
            <a:endParaRPr lang="en-US"/>
          </a:p>
        </p:txBody>
      </p:sp>
      <p:sp>
        <p:nvSpPr>
          <p:cNvPr id="20" name="Text 18"/>
          <p:cNvSpPr/>
          <p:nvPr/>
        </p:nvSpPr>
        <p:spPr>
          <a:xfrm>
            <a:off x="4037856" y="1158478"/>
            <a:ext cx="2181585" cy="319980"/>
          </a:xfrm>
          <a:prstGeom prst="rect">
            <a:avLst/>
          </a:prstGeom>
          <a:noFill/>
          <a:ln/>
        </p:spPr>
        <p:txBody>
          <a:bodyPr wrap="square" lIns="0" tIns="0" rIns="0" bIns="0" rtlCol="0" anchor="t"/>
          <a:lstStyle/>
          <a:p>
            <a:pPr marL="0" indent="0" algn="l">
              <a:lnSpc>
                <a:spcPts val="2520"/>
              </a:lnSpc>
              <a:buNone/>
            </a:pPr>
            <a:r>
              <a:rPr lang="en-US" sz="1800" b="1" dirty="0">
                <a:solidFill>
                  <a:srgbClr val="C9A227"/>
                </a:solidFill>
                <a:latin typeface="Arial" pitchFamily="34" charset="0"/>
                <a:ea typeface="Arial" pitchFamily="34" charset="-122"/>
                <a:cs typeface="Arial" pitchFamily="34" charset="-120"/>
              </a:rPr>
              <a:t>1</a:t>
            </a:r>
            <a:endParaRPr lang="en-US" sz="1800" dirty="0"/>
          </a:p>
        </p:txBody>
      </p:sp>
      <p:sp>
        <p:nvSpPr>
          <p:cNvPr id="21" name="Text 19"/>
          <p:cNvSpPr/>
          <p:nvPr/>
        </p:nvSpPr>
        <p:spPr>
          <a:xfrm>
            <a:off x="4037856" y="1535609"/>
            <a:ext cx="2181585" cy="146596"/>
          </a:xfrm>
          <a:prstGeom prst="rect">
            <a:avLst/>
          </a:prstGeom>
          <a:noFill/>
          <a:ln/>
        </p:spPr>
        <p:txBody>
          <a:bodyPr wrap="square" lIns="0" tIns="0" rIns="0" bIns="0" rtlCol="0" anchor="t"/>
          <a:lstStyle/>
          <a:p>
            <a:pPr marL="0" indent="0" algn="l">
              <a:lnSpc>
                <a:spcPts val="1155"/>
              </a:lnSpc>
              <a:spcBef>
                <a:spcPts val="450"/>
              </a:spcBef>
              <a:spcAft>
                <a:spcPts val="300"/>
              </a:spcAft>
              <a:buNone/>
            </a:pPr>
            <a:r>
              <a:rPr lang="en-US" sz="825" b="1" dirty="0">
                <a:solidFill>
                  <a:srgbClr val="1A1F2E"/>
                </a:solidFill>
                <a:latin typeface="Arial" pitchFamily="34" charset="0"/>
                <a:ea typeface="Arial" pitchFamily="34" charset="-122"/>
                <a:cs typeface="Arial" pitchFamily="34" charset="-120"/>
              </a:rPr>
              <a:t>Commit Early &amp; Often</a:t>
            </a:r>
            <a:endParaRPr lang="en-US" sz="825" dirty="0"/>
          </a:p>
        </p:txBody>
      </p:sp>
      <p:sp>
        <p:nvSpPr>
          <p:cNvPr id="22" name="Text 20"/>
          <p:cNvSpPr/>
          <p:nvPr/>
        </p:nvSpPr>
        <p:spPr>
          <a:xfrm>
            <a:off x="4037856" y="1720304"/>
            <a:ext cx="2181585" cy="239911"/>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Git history is your safety net. Small, frequent commits make everything reversible.</a:t>
            </a:r>
            <a:endParaRPr lang="en-US" sz="675" dirty="0"/>
          </a:p>
        </p:txBody>
      </p:sp>
      <p:sp>
        <p:nvSpPr>
          <p:cNvPr id="23" name="Text 21"/>
          <p:cNvSpPr/>
          <p:nvPr/>
        </p:nvSpPr>
        <p:spPr>
          <a:xfrm>
            <a:off x="6405265" y="1025128"/>
            <a:ext cx="2434084" cy="1068437"/>
          </a:xfrm>
          <a:prstGeom prst="rect">
            <a:avLst/>
          </a:prstGeom>
          <a:solidFill>
            <a:srgbClr val="FFFFFF"/>
          </a:solidFill>
          <a:ln/>
        </p:spPr>
        <p:txBody>
          <a:bodyPr wrap="square" rtlCol="0" anchor="ctr"/>
          <a:lstStyle/>
          <a:p>
            <a:pPr marL="0" indent="0">
              <a:buNone/>
            </a:pPr>
            <a:endParaRPr lang="en-US" dirty="0"/>
          </a:p>
        </p:txBody>
      </p:sp>
      <p:sp>
        <p:nvSpPr>
          <p:cNvPr id="24" name="Shape 22"/>
          <p:cNvSpPr/>
          <p:nvPr/>
        </p:nvSpPr>
        <p:spPr>
          <a:xfrm>
            <a:off x="6419552" y="1025128"/>
            <a:ext cx="0" cy="1068437"/>
          </a:xfrm>
          <a:prstGeom prst="line">
            <a:avLst/>
          </a:prstGeom>
          <a:noFill/>
          <a:ln w="28575">
            <a:solidFill>
              <a:srgbClr val="C9A227"/>
            </a:solidFill>
            <a:prstDash val="solid"/>
          </a:ln>
        </p:spPr>
        <p:txBody>
          <a:bodyPr/>
          <a:lstStyle/>
          <a:p>
            <a:endParaRPr lang="en-US"/>
          </a:p>
        </p:txBody>
      </p:sp>
      <p:sp>
        <p:nvSpPr>
          <p:cNvPr id="25" name="Text 23"/>
          <p:cNvSpPr/>
          <p:nvPr/>
        </p:nvSpPr>
        <p:spPr>
          <a:xfrm>
            <a:off x="6567190" y="1158478"/>
            <a:ext cx="2181585" cy="319980"/>
          </a:xfrm>
          <a:prstGeom prst="rect">
            <a:avLst/>
          </a:prstGeom>
          <a:noFill/>
          <a:ln/>
        </p:spPr>
        <p:txBody>
          <a:bodyPr wrap="square" lIns="0" tIns="0" rIns="0" bIns="0" rtlCol="0" anchor="t"/>
          <a:lstStyle/>
          <a:p>
            <a:pPr marL="0" indent="0" algn="l">
              <a:lnSpc>
                <a:spcPts val="2520"/>
              </a:lnSpc>
              <a:buNone/>
            </a:pPr>
            <a:r>
              <a:rPr lang="en-US" sz="1800" b="1" dirty="0">
                <a:solidFill>
                  <a:srgbClr val="C9A227"/>
                </a:solidFill>
                <a:latin typeface="Arial" pitchFamily="34" charset="0"/>
                <a:ea typeface="Arial" pitchFamily="34" charset="-122"/>
                <a:cs typeface="Arial" pitchFamily="34" charset="-120"/>
              </a:rPr>
              <a:t>2</a:t>
            </a:r>
            <a:endParaRPr lang="en-US" sz="1800" dirty="0"/>
          </a:p>
        </p:txBody>
      </p:sp>
      <p:sp>
        <p:nvSpPr>
          <p:cNvPr id="26" name="Text 24"/>
          <p:cNvSpPr/>
          <p:nvPr/>
        </p:nvSpPr>
        <p:spPr>
          <a:xfrm>
            <a:off x="6567190" y="1535609"/>
            <a:ext cx="2181585" cy="146596"/>
          </a:xfrm>
          <a:prstGeom prst="rect">
            <a:avLst/>
          </a:prstGeom>
          <a:noFill/>
          <a:ln/>
        </p:spPr>
        <p:txBody>
          <a:bodyPr wrap="square" lIns="0" tIns="0" rIns="0" bIns="0" rtlCol="0" anchor="t"/>
          <a:lstStyle/>
          <a:p>
            <a:pPr marL="0" indent="0" algn="l">
              <a:lnSpc>
                <a:spcPts val="1155"/>
              </a:lnSpc>
              <a:spcBef>
                <a:spcPts val="450"/>
              </a:spcBef>
              <a:spcAft>
                <a:spcPts val="300"/>
              </a:spcAft>
              <a:buNone/>
            </a:pPr>
            <a:r>
              <a:rPr lang="en-US" sz="825" b="1" dirty="0">
                <a:solidFill>
                  <a:srgbClr val="1A1F2E"/>
                </a:solidFill>
                <a:latin typeface="Arial" pitchFamily="34" charset="0"/>
                <a:ea typeface="Arial" pitchFamily="34" charset="-122"/>
                <a:cs typeface="Arial" pitchFamily="34" charset="-120"/>
              </a:rPr>
              <a:t>Document Everything</a:t>
            </a:r>
            <a:endParaRPr lang="en-US" sz="825" dirty="0"/>
          </a:p>
        </p:txBody>
      </p:sp>
      <p:sp>
        <p:nvSpPr>
          <p:cNvPr id="27" name="Text 25"/>
          <p:cNvSpPr/>
          <p:nvPr/>
        </p:nvSpPr>
        <p:spPr>
          <a:xfrm>
            <a:off x="6567190" y="1720304"/>
            <a:ext cx="2181585" cy="239911"/>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Markdown files are context for your agent. The more you document, the smarter it gets.</a:t>
            </a:r>
            <a:endParaRPr lang="en-US" sz="675" dirty="0"/>
          </a:p>
        </p:txBody>
      </p:sp>
      <p:sp>
        <p:nvSpPr>
          <p:cNvPr id="28" name="Text 26"/>
          <p:cNvSpPr/>
          <p:nvPr/>
        </p:nvSpPr>
        <p:spPr>
          <a:xfrm>
            <a:off x="3875931" y="2360265"/>
            <a:ext cx="2434084" cy="1068437"/>
          </a:xfrm>
          <a:prstGeom prst="rect">
            <a:avLst/>
          </a:prstGeom>
          <a:solidFill>
            <a:srgbClr val="FFFFFF"/>
          </a:solidFill>
          <a:ln/>
        </p:spPr>
        <p:txBody>
          <a:bodyPr wrap="square" rtlCol="0" anchor="ctr"/>
          <a:lstStyle/>
          <a:p>
            <a:pPr marL="0" indent="0">
              <a:buNone/>
            </a:pPr>
            <a:endParaRPr lang="en-US" dirty="0"/>
          </a:p>
        </p:txBody>
      </p:sp>
      <p:sp>
        <p:nvSpPr>
          <p:cNvPr id="29" name="Shape 27"/>
          <p:cNvSpPr/>
          <p:nvPr/>
        </p:nvSpPr>
        <p:spPr>
          <a:xfrm>
            <a:off x="3890218" y="2360265"/>
            <a:ext cx="0" cy="1068437"/>
          </a:xfrm>
          <a:prstGeom prst="line">
            <a:avLst/>
          </a:prstGeom>
          <a:noFill/>
          <a:ln w="28575">
            <a:solidFill>
              <a:srgbClr val="C9A227"/>
            </a:solidFill>
            <a:prstDash val="solid"/>
          </a:ln>
        </p:spPr>
        <p:txBody>
          <a:bodyPr/>
          <a:lstStyle/>
          <a:p>
            <a:endParaRPr lang="en-US"/>
          </a:p>
        </p:txBody>
      </p:sp>
      <p:sp>
        <p:nvSpPr>
          <p:cNvPr id="30" name="Text 28"/>
          <p:cNvSpPr/>
          <p:nvPr/>
        </p:nvSpPr>
        <p:spPr>
          <a:xfrm>
            <a:off x="4037856" y="2493615"/>
            <a:ext cx="2181585" cy="319980"/>
          </a:xfrm>
          <a:prstGeom prst="rect">
            <a:avLst/>
          </a:prstGeom>
          <a:noFill/>
          <a:ln/>
        </p:spPr>
        <p:txBody>
          <a:bodyPr wrap="square" lIns="0" tIns="0" rIns="0" bIns="0" rtlCol="0" anchor="t"/>
          <a:lstStyle/>
          <a:p>
            <a:pPr marL="0" indent="0" algn="l">
              <a:lnSpc>
                <a:spcPts val="2520"/>
              </a:lnSpc>
              <a:buNone/>
            </a:pPr>
            <a:r>
              <a:rPr lang="en-US" sz="1800" b="1" dirty="0">
                <a:solidFill>
                  <a:srgbClr val="C9A227"/>
                </a:solidFill>
                <a:latin typeface="Arial" pitchFamily="34" charset="0"/>
                <a:ea typeface="Arial" pitchFamily="34" charset="-122"/>
                <a:cs typeface="Arial" pitchFamily="34" charset="-120"/>
              </a:rPr>
              <a:t>3</a:t>
            </a:r>
            <a:endParaRPr lang="en-US" sz="1800" dirty="0"/>
          </a:p>
        </p:txBody>
      </p:sp>
      <p:sp>
        <p:nvSpPr>
          <p:cNvPr id="31" name="Text 29"/>
          <p:cNvSpPr/>
          <p:nvPr/>
        </p:nvSpPr>
        <p:spPr>
          <a:xfrm>
            <a:off x="4037856" y="2870746"/>
            <a:ext cx="2181585" cy="146596"/>
          </a:xfrm>
          <a:prstGeom prst="rect">
            <a:avLst/>
          </a:prstGeom>
          <a:noFill/>
          <a:ln/>
        </p:spPr>
        <p:txBody>
          <a:bodyPr wrap="square" lIns="0" tIns="0" rIns="0" bIns="0" rtlCol="0" anchor="t"/>
          <a:lstStyle/>
          <a:p>
            <a:pPr marL="0" indent="0" algn="l">
              <a:lnSpc>
                <a:spcPts val="1155"/>
              </a:lnSpc>
              <a:spcBef>
                <a:spcPts val="450"/>
              </a:spcBef>
              <a:spcAft>
                <a:spcPts val="300"/>
              </a:spcAft>
              <a:buNone/>
            </a:pPr>
            <a:r>
              <a:rPr lang="en-US" sz="825" b="1" dirty="0">
                <a:solidFill>
                  <a:srgbClr val="1A1F2E"/>
                </a:solidFill>
                <a:latin typeface="Arial" pitchFamily="34" charset="0"/>
                <a:ea typeface="Arial" pitchFamily="34" charset="-122"/>
                <a:cs typeface="Arial" pitchFamily="34" charset="-120"/>
              </a:rPr>
              <a:t>Voice is Your Interface</a:t>
            </a:r>
            <a:endParaRPr lang="en-US" sz="825" dirty="0"/>
          </a:p>
        </p:txBody>
      </p:sp>
      <p:sp>
        <p:nvSpPr>
          <p:cNvPr id="32" name="Text 30"/>
          <p:cNvSpPr/>
          <p:nvPr/>
        </p:nvSpPr>
        <p:spPr>
          <a:xfrm>
            <a:off x="4037856" y="3055441"/>
            <a:ext cx="2181585" cy="239911"/>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Speak naturally, give context, be specific. Your voice drives the entire workflow.</a:t>
            </a:r>
            <a:endParaRPr lang="en-US" sz="675" dirty="0"/>
          </a:p>
        </p:txBody>
      </p:sp>
      <p:sp>
        <p:nvSpPr>
          <p:cNvPr id="33" name="Text 31"/>
          <p:cNvSpPr/>
          <p:nvPr/>
        </p:nvSpPr>
        <p:spPr>
          <a:xfrm>
            <a:off x="6405265" y="2360265"/>
            <a:ext cx="2434084" cy="1068437"/>
          </a:xfrm>
          <a:prstGeom prst="rect">
            <a:avLst/>
          </a:prstGeom>
          <a:solidFill>
            <a:srgbClr val="FFFFFF"/>
          </a:solidFill>
          <a:ln/>
        </p:spPr>
        <p:txBody>
          <a:bodyPr wrap="square" rtlCol="0" anchor="ctr"/>
          <a:lstStyle/>
          <a:p>
            <a:pPr marL="0" indent="0">
              <a:buNone/>
            </a:pPr>
            <a:endParaRPr lang="en-US" dirty="0"/>
          </a:p>
        </p:txBody>
      </p:sp>
      <p:sp>
        <p:nvSpPr>
          <p:cNvPr id="34" name="Shape 32"/>
          <p:cNvSpPr/>
          <p:nvPr/>
        </p:nvSpPr>
        <p:spPr>
          <a:xfrm>
            <a:off x="6419552" y="2360265"/>
            <a:ext cx="0" cy="1068437"/>
          </a:xfrm>
          <a:prstGeom prst="line">
            <a:avLst/>
          </a:prstGeom>
          <a:noFill/>
          <a:ln w="28575">
            <a:solidFill>
              <a:srgbClr val="C9A227"/>
            </a:solidFill>
            <a:prstDash val="solid"/>
          </a:ln>
        </p:spPr>
        <p:txBody>
          <a:bodyPr/>
          <a:lstStyle/>
          <a:p>
            <a:endParaRPr lang="en-US"/>
          </a:p>
        </p:txBody>
      </p:sp>
      <p:sp>
        <p:nvSpPr>
          <p:cNvPr id="35" name="Text 33"/>
          <p:cNvSpPr/>
          <p:nvPr/>
        </p:nvSpPr>
        <p:spPr>
          <a:xfrm>
            <a:off x="6567190" y="2493615"/>
            <a:ext cx="2181585" cy="319980"/>
          </a:xfrm>
          <a:prstGeom prst="rect">
            <a:avLst/>
          </a:prstGeom>
          <a:noFill/>
          <a:ln/>
        </p:spPr>
        <p:txBody>
          <a:bodyPr wrap="square" lIns="0" tIns="0" rIns="0" bIns="0" rtlCol="0" anchor="t"/>
          <a:lstStyle/>
          <a:p>
            <a:pPr marL="0" indent="0" algn="l">
              <a:lnSpc>
                <a:spcPts val="2520"/>
              </a:lnSpc>
              <a:buNone/>
            </a:pPr>
            <a:r>
              <a:rPr lang="en-US" sz="1800" b="1" dirty="0">
                <a:solidFill>
                  <a:srgbClr val="C9A227"/>
                </a:solidFill>
                <a:latin typeface="Arial" pitchFamily="34" charset="0"/>
                <a:ea typeface="Arial" pitchFamily="34" charset="-122"/>
                <a:cs typeface="Arial" pitchFamily="34" charset="-120"/>
              </a:rPr>
              <a:t>4</a:t>
            </a:r>
            <a:endParaRPr lang="en-US" sz="1800" dirty="0"/>
          </a:p>
        </p:txBody>
      </p:sp>
      <p:sp>
        <p:nvSpPr>
          <p:cNvPr id="36" name="Text 34"/>
          <p:cNvSpPr/>
          <p:nvPr/>
        </p:nvSpPr>
        <p:spPr>
          <a:xfrm>
            <a:off x="6567190" y="2870746"/>
            <a:ext cx="2181585" cy="146596"/>
          </a:xfrm>
          <a:prstGeom prst="rect">
            <a:avLst/>
          </a:prstGeom>
          <a:noFill/>
          <a:ln/>
        </p:spPr>
        <p:txBody>
          <a:bodyPr wrap="square" lIns="0" tIns="0" rIns="0" bIns="0" rtlCol="0" anchor="t"/>
          <a:lstStyle/>
          <a:p>
            <a:pPr marL="0" indent="0" algn="l">
              <a:lnSpc>
                <a:spcPts val="1155"/>
              </a:lnSpc>
              <a:spcBef>
                <a:spcPts val="450"/>
              </a:spcBef>
              <a:spcAft>
                <a:spcPts val="300"/>
              </a:spcAft>
              <a:buNone/>
            </a:pPr>
            <a:r>
              <a:rPr lang="en-US" sz="825" b="1" dirty="0">
                <a:solidFill>
                  <a:srgbClr val="1A1F2E"/>
                </a:solidFill>
                <a:latin typeface="Arial" pitchFamily="34" charset="0"/>
                <a:ea typeface="Arial" pitchFamily="34" charset="-122"/>
                <a:cs typeface="Arial" pitchFamily="34" charset="-120"/>
              </a:rPr>
              <a:t>Iterate Relentlessly</a:t>
            </a:r>
            <a:endParaRPr lang="en-US" sz="825" dirty="0"/>
          </a:p>
        </p:txBody>
      </p:sp>
      <p:sp>
        <p:nvSpPr>
          <p:cNvPr id="37" name="Text 35"/>
          <p:cNvSpPr/>
          <p:nvPr/>
        </p:nvSpPr>
        <p:spPr>
          <a:xfrm>
            <a:off x="6567190" y="3055441"/>
            <a:ext cx="2181585" cy="239911"/>
          </a:xfrm>
          <a:prstGeom prst="rect">
            <a:avLst/>
          </a:prstGeom>
          <a:noFill/>
          <a:ln/>
        </p:spPr>
        <p:txBody>
          <a:bodyPr wrap="square" lIns="0" tIns="0" rIns="0" bIns="0" rtlCol="0" anchor="t"/>
          <a:lstStyle/>
          <a:p>
            <a:pPr marL="0" indent="0" algn="l">
              <a:lnSpc>
                <a:spcPts val="945"/>
              </a:lnSpc>
              <a:buNone/>
            </a:pPr>
            <a:r>
              <a:rPr lang="en-US" sz="675" dirty="0">
                <a:solidFill>
                  <a:srgbClr val="6B7280"/>
                </a:solidFill>
                <a:latin typeface="Arial" pitchFamily="34" charset="0"/>
                <a:ea typeface="Arial" pitchFamily="34" charset="-122"/>
                <a:cs typeface="Arial" pitchFamily="34" charset="-120"/>
              </a:rPr>
              <a:t>Perfect doesn't exist. Ship early, learn fast, improve continuously.</a:t>
            </a:r>
            <a:endParaRPr lang="en-US" sz="675" dirty="0"/>
          </a:p>
        </p:txBody>
      </p:sp>
      <p:sp>
        <p:nvSpPr>
          <p:cNvPr id="38" name="Text 36"/>
          <p:cNvSpPr/>
          <p:nvPr/>
        </p:nvSpPr>
        <p:spPr>
          <a:xfrm>
            <a:off x="3875931" y="3695402"/>
            <a:ext cx="4963269" cy="881955"/>
          </a:xfrm>
          <a:prstGeom prst="rect">
            <a:avLst/>
          </a:prstGeom>
          <a:solidFill>
            <a:srgbClr val="1A1F2E"/>
          </a:solidFill>
          <a:ln/>
        </p:spPr>
        <p:txBody>
          <a:bodyPr wrap="square" rtlCol="0" anchor="ctr"/>
          <a:lstStyle/>
          <a:p>
            <a:pPr marL="0" indent="0">
              <a:buNone/>
            </a:pPr>
            <a:endParaRPr lang="en-US" dirty="0"/>
          </a:p>
        </p:txBody>
      </p:sp>
      <p:sp>
        <p:nvSpPr>
          <p:cNvPr id="39" name="Text 37"/>
          <p:cNvSpPr/>
          <p:nvPr/>
        </p:nvSpPr>
        <p:spPr>
          <a:xfrm>
            <a:off x="3981746" y="3847802"/>
            <a:ext cx="4751639" cy="186630"/>
          </a:xfrm>
          <a:prstGeom prst="rect">
            <a:avLst/>
          </a:prstGeom>
          <a:noFill/>
          <a:ln/>
        </p:spPr>
        <p:txBody>
          <a:bodyPr wrap="square" lIns="0" tIns="0" rIns="0" bIns="0" rtlCol="0" anchor="t"/>
          <a:lstStyle/>
          <a:p>
            <a:pPr marL="0" indent="0" algn="ctr">
              <a:lnSpc>
                <a:spcPts val="1470"/>
              </a:lnSpc>
              <a:spcAft>
                <a:spcPts val="600"/>
              </a:spcAft>
              <a:buNone/>
            </a:pPr>
            <a:r>
              <a:rPr lang="en-US" sz="1050" b="1" dirty="0">
                <a:solidFill>
                  <a:srgbClr val="C9A227"/>
                </a:solidFill>
                <a:latin typeface="Arial" pitchFamily="34" charset="0"/>
                <a:ea typeface="Arial" pitchFamily="34" charset="-122"/>
                <a:cs typeface="Arial" pitchFamily="34" charset="-120"/>
              </a:rPr>
              <a:t>FROM IDEA TO DEPLOYMENT</a:t>
            </a:r>
            <a:endParaRPr lang="en-US" sz="1050" dirty="0"/>
          </a:p>
        </p:txBody>
      </p:sp>
      <p:sp>
        <p:nvSpPr>
          <p:cNvPr id="40" name="Text 38"/>
          <p:cNvSpPr/>
          <p:nvPr/>
        </p:nvSpPr>
        <p:spPr>
          <a:xfrm>
            <a:off x="3981746" y="4110633"/>
            <a:ext cx="4751639" cy="314325"/>
          </a:xfrm>
          <a:prstGeom prst="rect">
            <a:avLst/>
          </a:prstGeom>
          <a:noFill/>
          <a:ln/>
        </p:spPr>
        <p:txBody>
          <a:bodyPr wrap="square" lIns="0" tIns="0" rIns="0" bIns="0" rtlCol="0" anchor="t"/>
          <a:lstStyle/>
          <a:p>
            <a:pPr marL="0" indent="0" algn="ctr">
              <a:lnSpc>
                <a:spcPts val="1238"/>
              </a:lnSpc>
              <a:buNone/>
            </a:pPr>
            <a:r>
              <a:rPr lang="en-US" sz="825" dirty="0">
                <a:solidFill>
                  <a:srgbClr val="FFFFFF">
                    <a:alpha val="80000"/>
                  </a:srgbClr>
                </a:solidFill>
                <a:latin typeface="Arial" pitchFamily="34" charset="0"/>
                <a:ea typeface="Arial" pitchFamily="34" charset="-122"/>
                <a:cs typeface="Arial" pitchFamily="34" charset="-120"/>
              </a:rPr>
              <a:t>This workflow turns a voice conversation into a shipped product.</a:t>
            </a:r>
            <a:endParaRPr lang="en-US" sz="825" dirty="0"/>
          </a:p>
          <a:p>
            <a:pPr marL="0" indent="0" algn="ctr">
              <a:lnSpc>
                <a:spcPts val="1238"/>
              </a:lnSpc>
              <a:buNone/>
            </a:pPr>
            <a:r>
              <a:rPr lang="en-US" sz="825" dirty="0">
                <a:solidFill>
                  <a:srgbClr val="FFFFFF">
                    <a:alpha val="80000"/>
                  </a:srgbClr>
                </a:solidFill>
                <a:latin typeface="Arial" pitchFamily="34" charset="0"/>
                <a:ea typeface="Arial" pitchFamily="34" charset="-122"/>
                <a:cs typeface="Arial" pitchFamily="34" charset="-120"/>
              </a:rPr>
              <a:t>Your agent does the heavy lifting. You provide the vision.</a:t>
            </a:r>
            <a:endParaRPr lang="en-US" sz="8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495</TotalTime>
  <Words>2774</Words>
  <Application>Microsoft Macintosh PowerPoint</Application>
  <PresentationFormat>On-screen Show (16:9)</PresentationFormat>
  <Paragraphs>382</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Georgia</vt:lpstr>
      <vt:lpstr>monospace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Structuring Projects for Voice-First AI Development</dc:title>
  <dc:subject>A 10-Phase Workflow from Idea to Deployment</dc:subject>
  <dc:creator>Austin Public Health</dc:creator>
  <cp:lastModifiedBy>c c</cp:lastModifiedBy>
  <cp:revision>3</cp:revision>
  <dcterms:created xsi:type="dcterms:W3CDTF">2026-01-15T09:30:26Z</dcterms:created>
  <dcterms:modified xsi:type="dcterms:W3CDTF">2026-01-15T19:03:15Z</dcterms:modified>
</cp:coreProperties>
</file>