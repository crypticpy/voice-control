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VS Code AI ecosystem guide. VS Code has evolved from a simple editor to a powerful AI development platform. Today we'll cover GitHub Copilot with Azure integration, Microsoft's local inference options, and the rich ecosystem of third-party extensions that support bring-your-own-key and local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VS Code AI landscape is diverse. On the native side, you have GitHub Copilot, Microsoft's AI Toolkit, and Foundry Local for on-device inference. Third-party options include Continue, Cline, and Cody. Enterprise-focused tools like Tabnine and Amazon Q offer specific compliance features. And for local inference, Ollama and LM Studio are popular choices. The key considerations are: does it support BYOK, can it run locally, and which cloud providers does it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Copilot Enterprise can route through Azure OpenAI for organizations that need data residency and compliance controls. This requires GitHub Enterprise Cloud plus an Azure OpenAI resource. You'll configure the connection in GitHub Enterprise settings using your Azure tenant and subscription IDs. The key benefit is that your code context never leaves your Azure tenant. Authentication uses managed identity, so no API keys are stored in GitHub. It's $39 per user per month plus Azure usage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Foundry Local is Microsoft's answer to running small language models locally. It's free, works offline, and supports models like Phi-4, Phi-3.5, Mistral, and Llama 3.2. Install via winget or download from the Microsoft site. It exposes an OpenAI-compatible endpoint at localhost:5272, which means it works with any extension that supports custom endpoints. Hardware requirements are 16GB RAM minimum, 32GB recommended, with 8GB VRAM for decent performance. Perfect for air-gapped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Toolkit extension is Microsoft's model experimentation platform within VS Code. It's not a code completion tool like Copilot — instead, it lets you browse a model catalog, download models locally, test them in a playground, and even fine-tune them using LoRA or QLoRA. It supports NVIDIA CUDA, AMD ROCm, Intel NPU, and Apple Silicon. Think of it as your local AI model laboratory integrated into VS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Continue.dev is the most flexible open-source option. It's Apache 2.0 licensed and supports over 50 model providers including Azure OpenAI, AWS Bedrock, Google Vertex AI, and local options like Ollama. Configuration is via a JSON file in your home directory. You get chat with Cmd+L, inline edits with Cmd+I, tab completion, and agent features with @codebase for semantic search. If you want maximum control over your AI stack, Continue is the top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Cline, formerly known as Claude Dev, is an agentic AI assistant. Unlike chat-based tools, Cline can actually take actions: create and edit files, run terminal commands, and even browse the web. It supports Azure OpenAI, AWS Bedrock, Google Vertex AI, and local models via OpenAI-compatible endpoints. The safety model gives you human-in-the-loop approval for each action, or you can enable auto-approve for trusted operations. Best for complex multi-step tasks where you want the AI to execute, not just suggest.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Cody from Sourcegraph and Tabnine are both enterprise-focused. Cody's strength is code graph understanding — it excels at navigating large codebases because it integrates with Sourcegraph's code intelligence. It supports BYOK for Azure, AWS, and Vertex. Tabnine takes a different approach: it can be trained on your codebase for team-specific completions and offers true self-hosted deployment including air-gapped installations. Tabnine doesn't support cloud BYOK in the traditional sense — instead it runs its own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options worth knowing: Amazon Q Developer is deeply integrated with AWS services, making it ideal if you're building on AWS. It's not traditional BYOK but can leverage Bedrock models. CodeGPT is a budget-friendly option with a good free tier that supports Azure OpenAI and local models via Ollama. It also has an AI Agents marketplace for specialized workflows. Choose Amazon Q if you're AWS-heavy, CodeGPT if you want to experiment without cost commitment.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matrix shows provider support at a glance. Continue and Cline offer the broadest support — both work with Azure, AWS, Vertex, and local models. Cody supports all major clouds but not local inference. Tabnine is unique in focusing entirely on self-hosted and local deployment. CodeGPT supports Azure and local but not AWS or Vertex. Copilot Enterprise only supports Azure and Foundry Local. Our recommendation: Continue for flexibility, Cline for agentic tasks, Copilot Enterprise if you're already invested in the GitHub and Azure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local model setup, Ollama is the most popular choice. Install it with a single curl command on Mac and Linux, or download for Windows. Pull a coding model — codellama:13b is a good balance of capability and speed, deepseek-coder:6.7b is faster, qwen2.5-coder:14b is more capable. Then configure your extension to point to localhost:11434. Hardware requirements scale with model size: 7B models need 8GB VRAM, 13B needs 16GB, and 33B+ needs 24GB or more. Start small and scale up based on your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First, if you need Azure plus compliance, go with Copilot Enterprise or Continue.dev with Azure keys. Second, for multi-cloud BYOK flexibility, Continue.dev or Cline are your best options. Third, for air-gapped or local-only deployment, look at Foundry Local, Ollama, or Tabnine's self-hosted option. Fourth, if you want agentic automation where AI takes actions, Cline is the tool. Combined with SuperWhisper for voice input, you now have complete flexibility in how you integrate AI into VS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4495800"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381000" y="381000"/>
            <a:ext cx="1426964" cy="247650"/>
          </a:xfrm>
          <a:prstGeom prst="rect">
            <a:avLst/>
          </a:prstGeom>
          <a:solidFill>
            <a:srgbClr val="007ACC"/>
          </a:solidFill>
          <a:ln/>
        </p:spPr>
        <p:txBody>
          <a:bodyPr wrap="square" rtlCol="0" anchor="ctr"/>
          <a:lstStyle/>
          <a:p>
            <a:pPr indent="0" marL="0">
              <a:buNone/>
            </a:pPr>
            <a:endParaRPr lang="en-US" dirty="0"/>
          </a:p>
        </p:txBody>
      </p:sp>
      <p:sp>
        <p:nvSpPr>
          <p:cNvPr id="4" name="Text 2"/>
          <p:cNvSpPr/>
          <p:nvPr/>
        </p:nvSpPr>
        <p:spPr>
          <a:xfrm>
            <a:off x="514350" y="438150"/>
            <a:ext cx="1183469" cy="133350"/>
          </a:xfrm>
          <a:prstGeom prst="rect">
            <a:avLst/>
          </a:prstGeom>
          <a:noFill/>
          <a:ln/>
        </p:spPr>
        <p:txBody>
          <a:bodyPr wrap="square" lIns="0" tIns="0" rIns="0" bIns="0" rtlCol="0" anchor="t"/>
          <a:lstStyle/>
          <a:p>
            <a:pPr algn="l" indent="0" marL="0">
              <a:lnSpc>
                <a:spcPts val="1050"/>
              </a:lnSpc>
              <a:buNone/>
            </a:pPr>
            <a:r>
              <a:rPr lang="en-US" sz="750" b="1" dirty="0">
                <a:solidFill>
                  <a:srgbClr val="FFFFFF"/>
                </a:solidFill>
                <a:latin typeface="Arial" pitchFamily="34" charset="0"/>
                <a:ea typeface="Arial" pitchFamily="34" charset="-122"/>
                <a:cs typeface="Arial" pitchFamily="34" charset="-120"/>
              </a:rPr>
              <a:t>TOOL SETUP GUIDE</a:t>
            </a:r>
            <a:endParaRPr lang="en-US" sz="750" dirty="0"/>
          </a:p>
        </p:txBody>
      </p:sp>
      <p:sp>
        <p:nvSpPr>
          <p:cNvPr id="5" name="Text 3"/>
          <p:cNvSpPr/>
          <p:nvPr/>
        </p:nvSpPr>
        <p:spPr>
          <a:xfrm>
            <a:off x="381000" y="933450"/>
            <a:ext cx="2108264" cy="788491"/>
          </a:xfrm>
          <a:prstGeom prst="rect">
            <a:avLst/>
          </a:prstGeom>
          <a:noFill/>
          <a:ln/>
        </p:spPr>
        <p:txBody>
          <a:bodyPr wrap="square" lIns="0" tIns="0" rIns="0" bIns="0" rtlCol="0" anchor="t"/>
          <a:lstStyle/>
          <a:p>
            <a:pPr algn="l" indent="0" marL="0">
              <a:lnSpc>
                <a:spcPts val="3105"/>
              </a:lnSpc>
              <a:spcAft>
                <a:spcPts val="1200"/>
              </a:spcAft>
              <a:buNone/>
            </a:pPr>
            <a:r>
              <a:rPr lang="en-US" sz="2700" dirty="0">
                <a:solidFill>
                  <a:srgbClr val="FFFFFF"/>
                </a:solidFill>
                <a:latin typeface="Georgia" pitchFamily="34" charset="0"/>
                <a:ea typeface="Georgia" pitchFamily="34" charset="-122"/>
                <a:cs typeface="Georgia" pitchFamily="34" charset="-120"/>
              </a:rPr>
              <a:t>VS Code</a:t>
            </a:r>
            <a:endParaRPr lang="en-US" sz="2700" dirty="0"/>
          </a:p>
          <a:p>
            <a:pPr algn="l" indent="0" marL="0">
              <a:lnSpc>
                <a:spcPts val="3105"/>
              </a:lnSpc>
              <a:spcAft>
                <a:spcPts val="1200"/>
              </a:spcAft>
              <a:buNone/>
            </a:pPr>
            <a:r>
              <a:rPr lang="en-US" sz="2700" dirty="0">
                <a:solidFill>
                  <a:srgbClr val="FFFFFF"/>
                </a:solidFill>
                <a:latin typeface="Georgia" pitchFamily="34" charset="0"/>
                <a:ea typeface="Georgia" pitchFamily="34" charset="-122"/>
                <a:cs typeface="Georgia" pitchFamily="34" charset="-120"/>
              </a:rPr>
              <a:t>AI Ecosystem</a:t>
            </a:r>
            <a:endParaRPr lang="en-US" sz="2700" dirty="0"/>
          </a:p>
        </p:txBody>
      </p:sp>
      <p:sp>
        <p:nvSpPr>
          <p:cNvPr id="6" name="Text 4"/>
          <p:cNvSpPr/>
          <p:nvPr/>
        </p:nvSpPr>
        <p:spPr>
          <a:xfrm>
            <a:off x="381000" y="2026741"/>
            <a:ext cx="476250" cy="28575"/>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381000" y="2398216"/>
            <a:ext cx="3808476" cy="426541"/>
          </a:xfrm>
          <a:prstGeom prst="rect">
            <a:avLst/>
          </a:prstGeom>
          <a:noFill/>
          <a:ln/>
        </p:spPr>
        <p:txBody>
          <a:bodyPr wrap="square" lIns="0" tIns="0" rIns="0" bIns="0" rtlCol="0" anchor="t"/>
          <a:lstStyle/>
          <a:p>
            <a:pPr algn="l" indent="0" marL="0">
              <a:lnSpc>
                <a:spcPts val="1680"/>
              </a:lnSpc>
              <a:spcAft>
                <a:spcPts val="2250"/>
              </a:spcAft>
              <a:buNone/>
            </a:pPr>
            <a:r>
              <a:rPr lang="en-US" sz="1050" dirty="0">
                <a:solidFill>
                  <a:srgbClr val="FFFFFF">
                    <a:alpha val="70000"/>
                  </a:srgbClr>
                </a:solidFill>
                <a:latin typeface="Arial" pitchFamily="34" charset="0"/>
                <a:ea typeface="Arial" pitchFamily="34" charset="-122"/>
                <a:cs typeface="Arial" pitchFamily="34" charset="-120"/>
              </a:rPr>
              <a:t>Copilot, Extensions &amp; Local Models for Enterprise Development</a:t>
            </a:r>
            <a:endParaRPr lang="en-US" sz="1050" dirty="0"/>
          </a:p>
        </p:txBody>
      </p:sp>
      <p:sp>
        <p:nvSpPr>
          <p:cNvPr id="8" name="Text 6"/>
          <p:cNvSpPr/>
          <p:nvPr/>
        </p:nvSpPr>
        <p:spPr>
          <a:xfrm>
            <a:off x="381000" y="4444454"/>
            <a:ext cx="3808476"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C9A227"/>
                </a:solidFill>
                <a:latin typeface="Arial" pitchFamily="34" charset="0"/>
                <a:ea typeface="Arial" pitchFamily="34" charset="-122"/>
                <a:cs typeface="Arial" pitchFamily="34" charset="-120"/>
              </a:rPr>
              <a:t>VOICE-DRIVEN AI DEVELOPMENT</a:t>
            </a:r>
            <a:endParaRPr lang="en-US" sz="825" dirty="0"/>
          </a:p>
        </p:txBody>
      </p:sp>
      <p:sp>
        <p:nvSpPr>
          <p:cNvPr id="9" name="Text 7"/>
          <p:cNvSpPr/>
          <p:nvPr/>
        </p:nvSpPr>
        <p:spPr>
          <a:xfrm>
            <a:off x="381000" y="4629150"/>
            <a:ext cx="3808476" cy="13335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50000"/>
                  </a:srgbClr>
                </a:solidFill>
                <a:latin typeface="Arial" pitchFamily="34" charset="0"/>
                <a:ea typeface="Arial" pitchFamily="34" charset="-122"/>
                <a:cs typeface="Arial" pitchFamily="34" charset="-120"/>
              </a:rPr>
              <a:t>Austin Public Health • January 2026</a:t>
            </a:r>
            <a:endParaRPr lang="en-US" sz="750" dirty="0"/>
          </a:p>
        </p:txBody>
      </p:sp>
      <p:sp>
        <p:nvSpPr>
          <p:cNvPr id="10" name="Text 8"/>
          <p:cNvSpPr/>
          <p:nvPr/>
        </p:nvSpPr>
        <p:spPr>
          <a:xfrm>
            <a:off x="4648200" y="0"/>
            <a:ext cx="4495800" cy="5143500"/>
          </a:xfrm>
          <a:prstGeom prst="rect">
            <a:avLst/>
          </a:prstGeom>
          <a:solidFill>
            <a:srgbClr val="F7F8FA"/>
          </a:solidFill>
          <a:ln/>
        </p:spPr>
        <p:txBody>
          <a:bodyPr wrap="square" rtlCol="0" anchor="ctr"/>
          <a:lstStyle/>
          <a:p>
            <a:pPr indent="0" marL="0">
              <a:buNone/>
            </a:pPr>
            <a:endParaRPr lang="en-US" dirty="0"/>
          </a:p>
        </p:txBody>
      </p:sp>
      <p:sp>
        <p:nvSpPr>
          <p:cNvPr id="11" name="Text 9"/>
          <p:cNvSpPr/>
          <p:nvPr/>
        </p:nvSpPr>
        <p:spPr>
          <a:xfrm>
            <a:off x="5029200" y="783134"/>
            <a:ext cx="3808476" cy="133350"/>
          </a:xfrm>
          <a:prstGeom prst="rect">
            <a:avLst/>
          </a:prstGeom>
          <a:noFill/>
          <a:ln/>
        </p:spPr>
        <p:txBody>
          <a:bodyPr wrap="square" lIns="0" tIns="0" rIns="0" bIns="0" rtlCol="0" anchor="t"/>
          <a:lstStyle/>
          <a:p>
            <a:pPr algn="l" indent="0" marL="0">
              <a:lnSpc>
                <a:spcPts val="1050"/>
              </a:lnSpc>
              <a:spcAft>
                <a:spcPts val="1200"/>
              </a:spcAft>
              <a:buNone/>
            </a:pPr>
            <a:r>
              <a:rPr lang="en-US" sz="750" b="1" dirty="0">
                <a:solidFill>
                  <a:srgbClr val="6B7280"/>
                </a:solidFill>
                <a:latin typeface="Arial" pitchFamily="34" charset="0"/>
                <a:ea typeface="Arial" pitchFamily="34" charset="-122"/>
                <a:cs typeface="Arial" pitchFamily="34" charset="-120"/>
              </a:rPr>
              <a:t>IN THIS PRESENTATION</a:t>
            </a:r>
            <a:endParaRPr lang="en-US" sz="750" dirty="0"/>
          </a:p>
        </p:txBody>
      </p:sp>
      <p:sp>
        <p:nvSpPr>
          <p:cNvPr id="12" name="Text 10"/>
          <p:cNvSpPr/>
          <p:nvPr/>
        </p:nvSpPr>
        <p:spPr>
          <a:xfrm>
            <a:off x="5029200" y="1221284"/>
            <a:ext cx="3733800" cy="584746"/>
          </a:xfrm>
          <a:prstGeom prst="rect">
            <a:avLst/>
          </a:prstGeom>
          <a:solidFill>
            <a:srgbClr val="FFFFFF"/>
          </a:solidFill>
          <a:ln/>
        </p:spPr>
        <p:txBody>
          <a:bodyPr wrap="square" rtlCol="0" anchor="ctr"/>
          <a:lstStyle/>
          <a:p>
            <a:pPr indent="0" marL="0">
              <a:buNone/>
            </a:pPr>
            <a:endParaRPr lang="en-US" dirty="0"/>
          </a:p>
        </p:txBody>
      </p:sp>
      <p:sp>
        <p:nvSpPr>
          <p:cNvPr id="13" name="Shape 11"/>
          <p:cNvSpPr/>
          <p:nvPr/>
        </p:nvSpPr>
        <p:spPr>
          <a:xfrm>
            <a:off x="5043488" y="1221284"/>
            <a:ext cx="0" cy="584746"/>
          </a:xfrm>
          <a:prstGeom prst="line">
            <a:avLst/>
          </a:prstGeom>
          <a:noFill/>
          <a:ln w="28575">
            <a:solidFill>
              <a:srgbClr val="007ACC"/>
            </a:solidFill>
            <a:prstDash val="solid"/>
          </a:ln>
        </p:spPr>
      </p:sp>
      <p:sp>
        <p:nvSpPr>
          <p:cNvPr id="14" name="Text 12"/>
          <p:cNvSpPr/>
          <p:nvPr/>
        </p:nvSpPr>
        <p:spPr>
          <a:xfrm>
            <a:off x="5210175" y="1354634"/>
            <a:ext cx="3468434"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007ACC"/>
                </a:solidFill>
                <a:latin typeface="Arial" pitchFamily="34" charset="0"/>
                <a:ea typeface="Arial" pitchFamily="34" charset="-122"/>
                <a:cs typeface="Arial" pitchFamily="34" charset="-120"/>
              </a:rPr>
              <a:t>GITHUB COPILOT + AZURE</a:t>
            </a:r>
            <a:endParaRPr lang="en-US" sz="825" dirty="0"/>
          </a:p>
        </p:txBody>
      </p:sp>
      <p:sp>
        <p:nvSpPr>
          <p:cNvPr id="15" name="Text 13"/>
          <p:cNvSpPr/>
          <p:nvPr/>
        </p:nvSpPr>
        <p:spPr>
          <a:xfrm>
            <a:off x="5210175" y="1539329"/>
            <a:ext cx="3468434" cy="133350"/>
          </a:xfrm>
          <a:prstGeom prst="rect">
            <a:avLst/>
          </a:prstGeom>
          <a:noFill/>
          <a:ln/>
        </p:spPr>
        <p:txBody>
          <a:bodyPr wrap="square" lIns="0" tIns="0" rIns="0" bIns="0" rtlCol="0" anchor="t"/>
          <a:lstStyle/>
          <a:p>
            <a:pPr algn="l" indent="0" marL="0">
              <a:lnSpc>
                <a:spcPts val="1050"/>
              </a:lnSpc>
              <a:buNone/>
            </a:pPr>
            <a:r>
              <a:rPr lang="en-US" sz="750" dirty="0">
                <a:solidFill>
                  <a:srgbClr val="6B7280"/>
                </a:solidFill>
                <a:latin typeface="Arial" pitchFamily="34" charset="0"/>
                <a:ea typeface="Arial" pitchFamily="34" charset="-122"/>
                <a:cs typeface="Arial" pitchFamily="34" charset="-120"/>
              </a:rPr>
              <a:t>Enterprise models via Azure OpenAI</a:t>
            </a:r>
            <a:endParaRPr lang="en-US" sz="750" dirty="0"/>
          </a:p>
        </p:txBody>
      </p:sp>
      <p:sp>
        <p:nvSpPr>
          <p:cNvPr id="16" name="Text 14"/>
          <p:cNvSpPr/>
          <p:nvPr/>
        </p:nvSpPr>
        <p:spPr>
          <a:xfrm>
            <a:off x="5029200" y="2072729"/>
            <a:ext cx="3733800" cy="584746"/>
          </a:xfrm>
          <a:prstGeom prst="rect">
            <a:avLst/>
          </a:prstGeom>
          <a:solidFill>
            <a:srgbClr val="FFFFFF"/>
          </a:solidFill>
          <a:ln/>
        </p:spPr>
        <p:txBody>
          <a:bodyPr wrap="square" rtlCol="0" anchor="ctr"/>
          <a:lstStyle/>
          <a:p>
            <a:pPr indent="0" marL="0">
              <a:buNone/>
            </a:pPr>
            <a:endParaRPr lang="en-US" dirty="0"/>
          </a:p>
        </p:txBody>
      </p:sp>
      <p:sp>
        <p:nvSpPr>
          <p:cNvPr id="17" name="Shape 15"/>
          <p:cNvSpPr/>
          <p:nvPr/>
        </p:nvSpPr>
        <p:spPr>
          <a:xfrm>
            <a:off x="5043488" y="2072729"/>
            <a:ext cx="0" cy="584746"/>
          </a:xfrm>
          <a:prstGeom prst="line">
            <a:avLst/>
          </a:prstGeom>
          <a:noFill/>
          <a:ln w="28575">
            <a:solidFill>
              <a:srgbClr val="0078D4"/>
            </a:solidFill>
            <a:prstDash val="solid"/>
          </a:ln>
        </p:spPr>
      </p:sp>
      <p:sp>
        <p:nvSpPr>
          <p:cNvPr id="18" name="Text 16"/>
          <p:cNvSpPr/>
          <p:nvPr/>
        </p:nvSpPr>
        <p:spPr>
          <a:xfrm>
            <a:off x="5210175" y="2206079"/>
            <a:ext cx="3468434"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0078D4"/>
                </a:solidFill>
                <a:latin typeface="Arial" pitchFamily="34" charset="0"/>
                <a:ea typeface="Arial" pitchFamily="34" charset="-122"/>
                <a:cs typeface="Arial" pitchFamily="34" charset="-120"/>
              </a:rPr>
              <a:t>LOCAL INFERENCE</a:t>
            </a:r>
            <a:endParaRPr lang="en-US" sz="825" dirty="0"/>
          </a:p>
        </p:txBody>
      </p:sp>
      <p:sp>
        <p:nvSpPr>
          <p:cNvPr id="19" name="Text 17"/>
          <p:cNvSpPr/>
          <p:nvPr/>
        </p:nvSpPr>
        <p:spPr>
          <a:xfrm>
            <a:off x="5210175" y="2390775"/>
            <a:ext cx="3468434" cy="133350"/>
          </a:xfrm>
          <a:prstGeom prst="rect">
            <a:avLst/>
          </a:prstGeom>
          <a:noFill/>
          <a:ln/>
        </p:spPr>
        <p:txBody>
          <a:bodyPr wrap="square" lIns="0" tIns="0" rIns="0" bIns="0" rtlCol="0" anchor="t"/>
          <a:lstStyle/>
          <a:p>
            <a:pPr algn="l" indent="0" marL="0">
              <a:lnSpc>
                <a:spcPts val="1050"/>
              </a:lnSpc>
              <a:buNone/>
            </a:pPr>
            <a:r>
              <a:rPr lang="en-US" sz="750" dirty="0">
                <a:solidFill>
                  <a:srgbClr val="6B7280"/>
                </a:solidFill>
                <a:latin typeface="Arial" pitchFamily="34" charset="0"/>
                <a:ea typeface="Arial" pitchFamily="34" charset="-122"/>
                <a:cs typeface="Arial" pitchFamily="34" charset="-120"/>
              </a:rPr>
              <a:t>Foundry Local, Ollama, LM Studio</a:t>
            </a:r>
            <a:endParaRPr lang="en-US" sz="750" dirty="0"/>
          </a:p>
        </p:txBody>
      </p:sp>
      <p:sp>
        <p:nvSpPr>
          <p:cNvPr id="20" name="Text 18"/>
          <p:cNvSpPr/>
          <p:nvPr/>
        </p:nvSpPr>
        <p:spPr>
          <a:xfrm>
            <a:off x="5029200" y="2924175"/>
            <a:ext cx="3733800" cy="584746"/>
          </a:xfrm>
          <a:prstGeom prst="rect">
            <a:avLst/>
          </a:prstGeom>
          <a:solidFill>
            <a:srgbClr val="FFFFFF"/>
          </a:solidFill>
          <a:ln/>
        </p:spPr>
        <p:txBody>
          <a:bodyPr wrap="square" rtlCol="0" anchor="ctr"/>
          <a:lstStyle/>
          <a:p>
            <a:pPr indent="0" marL="0">
              <a:buNone/>
            </a:pPr>
            <a:endParaRPr lang="en-US" dirty="0"/>
          </a:p>
        </p:txBody>
      </p:sp>
      <p:sp>
        <p:nvSpPr>
          <p:cNvPr id="21" name="Shape 19"/>
          <p:cNvSpPr/>
          <p:nvPr/>
        </p:nvSpPr>
        <p:spPr>
          <a:xfrm>
            <a:off x="5043488" y="2924175"/>
            <a:ext cx="0" cy="584746"/>
          </a:xfrm>
          <a:prstGeom prst="line">
            <a:avLst/>
          </a:prstGeom>
          <a:noFill/>
          <a:ln w="28575">
            <a:solidFill>
              <a:srgbClr val="C9A227"/>
            </a:solidFill>
            <a:prstDash val="solid"/>
          </a:ln>
        </p:spPr>
      </p:sp>
      <p:sp>
        <p:nvSpPr>
          <p:cNvPr id="22" name="Text 20"/>
          <p:cNvSpPr/>
          <p:nvPr/>
        </p:nvSpPr>
        <p:spPr>
          <a:xfrm>
            <a:off x="5210175" y="3057525"/>
            <a:ext cx="3468434"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C9A227"/>
                </a:solidFill>
                <a:latin typeface="Arial" pitchFamily="34" charset="0"/>
                <a:ea typeface="Arial" pitchFamily="34" charset="-122"/>
                <a:cs typeface="Arial" pitchFamily="34" charset="-120"/>
              </a:rPr>
              <a:t>THIRD-PARTY EXTENSIONS</a:t>
            </a:r>
            <a:endParaRPr lang="en-US" sz="825" dirty="0"/>
          </a:p>
        </p:txBody>
      </p:sp>
      <p:sp>
        <p:nvSpPr>
          <p:cNvPr id="23" name="Text 21"/>
          <p:cNvSpPr/>
          <p:nvPr/>
        </p:nvSpPr>
        <p:spPr>
          <a:xfrm>
            <a:off x="5210175" y="3242221"/>
            <a:ext cx="3468434" cy="133350"/>
          </a:xfrm>
          <a:prstGeom prst="rect">
            <a:avLst/>
          </a:prstGeom>
          <a:noFill/>
          <a:ln/>
        </p:spPr>
        <p:txBody>
          <a:bodyPr wrap="square" lIns="0" tIns="0" rIns="0" bIns="0" rtlCol="0" anchor="t"/>
          <a:lstStyle/>
          <a:p>
            <a:pPr algn="l" indent="0" marL="0">
              <a:lnSpc>
                <a:spcPts val="1050"/>
              </a:lnSpc>
              <a:buNone/>
            </a:pPr>
            <a:r>
              <a:rPr lang="en-US" sz="750" dirty="0">
                <a:solidFill>
                  <a:srgbClr val="6B7280"/>
                </a:solidFill>
                <a:latin typeface="Arial" pitchFamily="34" charset="0"/>
                <a:ea typeface="Arial" pitchFamily="34" charset="-122"/>
                <a:cs typeface="Arial" pitchFamily="34" charset="-120"/>
              </a:rPr>
              <a:t>Continue, Cline, Cody, Tabnine &amp; more</a:t>
            </a:r>
            <a:endParaRPr lang="en-US" sz="750" dirty="0"/>
          </a:p>
        </p:txBody>
      </p:sp>
      <p:sp>
        <p:nvSpPr>
          <p:cNvPr id="24" name="Text 22"/>
          <p:cNvSpPr/>
          <p:nvPr/>
        </p:nvSpPr>
        <p:spPr>
          <a:xfrm>
            <a:off x="5029200" y="3775621"/>
            <a:ext cx="3733800" cy="584746"/>
          </a:xfrm>
          <a:prstGeom prst="rect">
            <a:avLst/>
          </a:prstGeom>
          <a:solidFill>
            <a:srgbClr val="FFFFFF"/>
          </a:solidFill>
          <a:ln/>
        </p:spPr>
        <p:txBody>
          <a:bodyPr wrap="square" rtlCol="0" anchor="ctr"/>
          <a:lstStyle/>
          <a:p>
            <a:pPr indent="0" marL="0">
              <a:buNone/>
            </a:pPr>
            <a:endParaRPr lang="en-US" dirty="0"/>
          </a:p>
        </p:txBody>
      </p:sp>
      <p:sp>
        <p:nvSpPr>
          <p:cNvPr id="25" name="Shape 23"/>
          <p:cNvSpPr/>
          <p:nvPr/>
        </p:nvSpPr>
        <p:spPr>
          <a:xfrm>
            <a:off x="5043488" y="3775621"/>
            <a:ext cx="0" cy="584746"/>
          </a:xfrm>
          <a:prstGeom prst="line">
            <a:avLst/>
          </a:prstGeom>
          <a:noFill/>
          <a:ln w="28575">
            <a:solidFill>
              <a:srgbClr val="059669"/>
            </a:solidFill>
            <a:prstDash val="solid"/>
          </a:ln>
        </p:spPr>
      </p:sp>
      <p:sp>
        <p:nvSpPr>
          <p:cNvPr id="26" name="Text 24"/>
          <p:cNvSpPr/>
          <p:nvPr/>
        </p:nvSpPr>
        <p:spPr>
          <a:xfrm>
            <a:off x="5210175" y="3908971"/>
            <a:ext cx="3468434" cy="146596"/>
          </a:xfrm>
          <a:prstGeom prst="rect">
            <a:avLst/>
          </a:prstGeom>
          <a:noFill/>
          <a:ln/>
        </p:spPr>
        <p:txBody>
          <a:bodyPr wrap="square" lIns="0" tIns="0" rIns="0" bIns="0" rtlCol="0" anchor="t"/>
          <a:lstStyle/>
          <a:p>
            <a:pPr algn="l" indent="0" marL="0">
              <a:lnSpc>
                <a:spcPts val="1155"/>
              </a:lnSpc>
              <a:spcAft>
                <a:spcPts val="300"/>
              </a:spcAft>
              <a:buNone/>
            </a:pPr>
            <a:r>
              <a:rPr lang="en-US" sz="825" b="1" dirty="0">
                <a:solidFill>
                  <a:srgbClr val="059669"/>
                </a:solidFill>
                <a:latin typeface="Arial" pitchFamily="34" charset="0"/>
                <a:ea typeface="Arial" pitchFamily="34" charset="-122"/>
                <a:cs typeface="Arial" pitchFamily="34" charset="-120"/>
              </a:rPr>
              <a:t>BYOK SUPPORT</a:t>
            </a:r>
            <a:endParaRPr lang="en-US" sz="825" dirty="0"/>
          </a:p>
        </p:txBody>
      </p:sp>
      <p:sp>
        <p:nvSpPr>
          <p:cNvPr id="27" name="Text 25"/>
          <p:cNvSpPr/>
          <p:nvPr/>
        </p:nvSpPr>
        <p:spPr>
          <a:xfrm>
            <a:off x="5210175" y="4093666"/>
            <a:ext cx="3468434" cy="133350"/>
          </a:xfrm>
          <a:prstGeom prst="rect">
            <a:avLst/>
          </a:prstGeom>
          <a:noFill/>
          <a:ln/>
        </p:spPr>
        <p:txBody>
          <a:bodyPr wrap="square" lIns="0" tIns="0" rIns="0" bIns="0" rtlCol="0" anchor="t"/>
          <a:lstStyle/>
          <a:p>
            <a:pPr algn="l" indent="0" marL="0">
              <a:lnSpc>
                <a:spcPts val="1050"/>
              </a:lnSpc>
              <a:buNone/>
            </a:pPr>
            <a:r>
              <a:rPr lang="en-US" sz="750" dirty="0">
                <a:solidFill>
                  <a:srgbClr val="6B7280"/>
                </a:solidFill>
                <a:latin typeface="Arial" pitchFamily="34" charset="0"/>
                <a:ea typeface="Arial" pitchFamily="34" charset="-122"/>
                <a:cs typeface="Arial" pitchFamily="34" charset="-120"/>
              </a:rPr>
              <a:t>Azure, AWS, Vertex, local models</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676126" cy="182761"/>
          </a:xfrm>
          <a:prstGeom prst="rect">
            <a:avLst/>
          </a:prstGeom>
          <a:solidFill>
            <a:srgbClr val="007ACC"/>
          </a:solidFill>
          <a:ln/>
        </p:spPr>
        <p:txBody>
          <a:bodyPr wrap="square" rtlCol="0" anchor="ctr"/>
          <a:lstStyle/>
          <a:p>
            <a:pPr indent="0" marL="0">
              <a:buNone/>
            </a:pPr>
            <a:endParaRPr lang="en-US" dirty="0"/>
          </a:p>
        </p:txBody>
      </p:sp>
      <p:sp>
        <p:nvSpPr>
          <p:cNvPr id="4" name="Text 2"/>
          <p:cNvSpPr/>
          <p:nvPr/>
        </p:nvSpPr>
        <p:spPr>
          <a:xfrm>
            <a:off x="361950" y="304800"/>
            <a:ext cx="495339" cy="106561"/>
          </a:xfrm>
          <a:prstGeom prst="rect">
            <a:avLst/>
          </a:prstGeom>
          <a:noFill/>
          <a:ln/>
        </p:spPr>
        <p:txBody>
          <a:bodyPr wrap="square" lIns="0" tIns="0" rIns="0" bIns="0" rtlCol="0" anchor="t"/>
          <a:lstStyle/>
          <a:p>
            <a:pPr algn="l" indent="0" marL="0">
              <a:lnSpc>
                <a:spcPts val="840"/>
              </a:lnSpc>
              <a:buNone/>
            </a:pPr>
            <a:r>
              <a:rPr lang="en-US" sz="600" b="1" dirty="0">
                <a:solidFill>
                  <a:srgbClr val="FFFFFF"/>
                </a:solidFill>
                <a:latin typeface="Arial" pitchFamily="34" charset="0"/>
                <a:ea typeface="Arial" pitchFamily="34" charset="-122"/>
                <a:cs typeface="Arial" pitchFamily="34" charset="-120"/>
              </a:rPr>
              <a:t>OVERVIEW</a:t>
            </a:r>
            <a:endParaRPr lang="en-US" sz="600" dirty="0"/>
          </a:p>
        </p:txBody>
      </p:sp>
      <p:sp>
        <p:nvSpPr>
          <p:cNvPr id="5" name="Text 3"/>
          <p:cNvSpPr/>
          <p:nvPr/>
        </p:nvSpPr>
        <p:spPr>
          <a:xfrm>
            <a:off x="266700" y="697111"/>
            <a:ext cx="1943100" cy="594122"/>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The AI Extension</a:t>
            </a:r>
            <a:endParaRPr lang="en-US" sz="1950" dirty="0"/>
          </a:p>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Landscape</a:t>
            </a:r>
            <a:endParaRPr lang="en-US" sz="1950" dirty="0"/>
          </a:p>
        </p:txBody>
      </p:sp>
      <p:sp>
        <p:nvSpPr>
          <p:cNvPr id="6" name="Text 4"/>
          <p:cNvSpPr/>
          <p:nvPr/>
        </p:nvSpPr>
        <p:spPr>
          <a:xfrm>
            <a:off x="266700" y="1538883"/>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843683"/>
            <a:ext cx="2885777" cy="685800"/>
          </a:xfrm>
          <a:prstGeom prst="rect">
            <a:avLst/>
          </a:prstGeom>
          <a:solidFill>
            <a:srgbClr val="007ACC">
              <a:alpha val="15000"/>
            </a:srgbClr>
          </a:solidFill>
          <a:ln/>
        </p:spPr>
        <p:txBody>
          <a:bodyPr wrap="square" rtlCol="0" anchor="ctr"/>
          <a:lstStyle/>
          <a:p>
            <a:pPr indent="0" marL="0">
              <a:buNone/>
            </a:pPr>
            <a:endParaRPr lang="en-US" dirty="0"/>
          </a:p>
        </p:txBody>
      </p:sp>
      <p:sp>
        <p:nvSpPr>
          <p:cNvPr id="8" name="Shape 6"/>
          <p:cNvSpPr/>
          <p:nvPr/>
        </p:nvSpPr>
        <p:spPr>
          <a:xfrm>
            <a:off x="280988" y="1843683"/>
            <a:ext cx="0" cy="685800"/>
          </a:xfrm>
          <a:prstGeom prst="line">
            <a:avLst/>
          </a:prstGeom>
          <a:noFill/>
          <a:ln w="28575">
            <a:solidFill>
              <a:srgbClr val="007ACC"/>
            </a:solidFill>
            <a:prstDash val="solid"/>
          </a:ln>
        </p:spPr>
      </p:sp>
      <p:sp>
        <p:nvSpPr>
          <p:cNvPr id="9" name="Text 7"/>
          <p:cNvSpPr/>
          <p:nvPr/>
        </p:nvSpPr>
        <p:spPr>
          <a:xfrm>
            <a:off x="409575" y="1957983"/>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60A5FA"/>
                </a:solidFill>
                <a:latin typeface="Arial" pitchFamily="34" charset="0"/>
                <a:ea typeface="Arial" pitchFamily="34" charset="-122"/>
                <a:cs typeface="Arial" pitchFamily="34" charset="-120"/>
              </a:rPr>
              <a:t>VS CODE TODAY</a:t>
            </a:r>
            <a:endParaRPr lang="en-US" sz="750" dirty="0"/>
          </a:p>
        </p:txBody>
      </p:sp>
      <p:sp>
        <p:nvSpPr>
          <p:cNvPr id="10" name="Text 8"/>
          <p:cNvSpPr/>
          <p:nvPr/>
        </p:nvSpPr>
        <p:spPr>
          <a:xfrm>
            <a:off x="409575" y="2129433"/>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Multiple AI options beyond just Copilot — from proprietary to open source.</a:t>
            </a:r>
            <a:endParaRPr lang="en-US" sz="750" dirty="0"/>
          </a:p>
        </p:txBody>
      </p:sp>
      <p:sp>
        <p:nvSpPr>
          <p:cNvPr id="11" name="Text 9"/>
          <p:cNvSpPr/>
          <p:nvPr/>
        </p:nvSpPr>
        <p:spPr>
          <a:xfrm>
            <a:off x="266700" y="4566345"/>
            <a:ext cx="2885777" cy="310455"/>
          </a:xfrm>
          <a:prstGeom prst="rect">
            <a:avLst/>
          </a:prstGeom>
          <a:solidFill>
            <a:srgbClr val="C9A227"/>
          </a:solidFill>
          <a:ln/>
        </p:spPr>
        <p:txBody>
          <a:bodyPr wrap="square" rtlCol="0" anchor="ctr"/>
          <a:lstStyle/>
          <a:p>
            <a:pPr indent="0" marL="0">
              <a:buNone/>
            </a:pPr>
            <a:endParaRPr lang="en-US" dirty="0"/>
          </a:p>
        </p:txBody>
      </p:sp>
      <p:sp>
        <p:nvSpPr>
          <p:cNvPr id="12" name="Text 10"/>
          <p:cNvSpPr/>
          <p:nvPr/>
        </p:nvSpPr>
        <p:spPr>
          <a:xfrm>
            <a:off x="334997" y="4661595"/>
            <a:ext cx="2749183" cy="119955"/>
          </a:xfrm>
          <a:prstGeom prst="rect">
            <a:avLst/>
          </a:prstGeom>
          <a:noFill/>
          <a:ln/>
        </p:spPr>
        <p:txBody>
          <a:bodyPr wrap="square" lIns="0" tIns="0" rIns="0" bIns="0" rtlCol="0" anchor="t"/>
          <a:lstStyle/>
          <a:p>
            <a:pPr algn="ctr" indent="0" marL="0">
              <a:lnSpc>
                <a:spcPts val="945"/>
              </a:lnSpc>
              <a:buNone/>
            </a:pPr>
            <a:r>
              <a:rPr lang="en-US" sz="675" b="1" dirty="0">
                <a:solidFill>
                  <a:srgbClr val="1A1F2E"/>
                </a:solidFill>
                <a:latin typeface="Arial" pitchFamily="34" charset="0"/>
                <a:ea typeface="Arial" pitchFamily="34" charset="-122"/>
                <a:cs typeface="Arial" pitchFamily="34" charset="-120"/>
              </a:rPr>
              <a:t>Choose the right tool for your needs</a:t>
            </a:r>
            <a:endParaRPr lang="en-US" sz="675" dirty="0"/>
          </a:p>
        </p:txBody>
      </p:sp>
      <p:sp>
        <p:nvSpPr>
          <p:cNvPr id="13" name="Text 11"/>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4" name="Text 12"/>
          <p:cNvSpPr/>
          <p:nvPr/>
        </p:nvSpPr>
        <p:spPr>
          <a:xfrm>
            <a:off x="3838277" y="440085"/>
            <a:ext cx="5139803" cy="159990"/>
          </a:xfrm>
          <a:prstGeom prst="rect">
            <a:avLst/>
          </a:prstGeom>
          <a:noFill/>
          <a:ln/>
        </p:spPr>
        <p:txBody>
          <a:bodyPr wrap="square" lIns="0" tIns="0" rIns="0" bIns="0" rtlCol="0" anchor="t"/>
          <a:lstStyle/>
          <a:p>
            <a:pPr algn="l" indent="0" marL="0">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AI CODING ASSISTANTS FOR VS CODE</a:t>
            </a:r>
            <a:endParaRPr lang="en-US" sz="900" dirty="0"/>
          </a:p>
        </p:txBody>
      </p:sp>
      <p:sp>
        <p:nvSpPr>
          <p:cNvPr id="15" name="Text 13"/>
          <p:cNvSpPr/>
          <p:nvPr/>
        </p:nvSpPr>
        <p:spPr>
          <a:xfrm>
            <a:off x="3838277" y="866775"/>
            <a:ext cx="2471886" cy="1295400"/>
          </a:xfrm>
          <a:prstGeom prst="rect">
            <a:avLst/>
          </a:prstGeom>
          <a:solidFill>
            <a:srgbClr val="FFFFFF"/>
          </a:solidFill>
          <a:ln/>
        </p:spPr>
        <p:txBody>
          <a:bodyPr wrap="square" rtlCol="0" anchor="ctr"/>
          <a:lstStyle/>
          <a:p>
            <a:pPr indent="0" marL="0">
              <a:buNone/>
            </a:pPr>
            <a:endParaRPr lang="en-US" dirty="0"/>
          </a:p>
        </p:txBody>
      </p:sp>
      <p:sp>
        <p:nvSpPr>
          <p:cNvPr id="16" name="Shape 14"/>
          <p:cNvSpPr/>
          <p:nvPr/>
        </p:nvSpPr>
        <p:spPr>
          <a:xfrm>
            <a:off x="3852565" y="866775"/>
            <a:ext cx="0" cy="1295400"/>
          </a:xfrm>
          <a:prstGeom prst="line">
            <a:avLst/>
          </a:prstGeom>
          <a:noFill/>
          <a:ln w="28575">
            <a:solidFill>
              <a:srgbClr val="007ACC"/>
            </a:solidFill>
            <a:prstDash val="solid"/>
          </a:ln>
        </p:spPr>
      </p:sp>
      <p:sp>
        <p:nvSpPr>
          <p:cNvPr id="17" name="Text 15"/>
          <p:cNvSpPr/>
          <p:nvPr/>
        </p:nvSpPr>
        <p:spPr>
          <a:xfrm>
            <a:off x="3981152" y="981075"/>
            <a:ext cx="2259006"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007ACC"/>
                </a:solidFill>
                <a:latin typeface="Arial" pitchFamily="34" charset="0"/>
                <a:ea typeface="Arial" pitchFamily="34" charset="-122"/>
                <a:cs typeface="Arial" pitchFamily="34" charset="-120"/>
              </a:rPr>
              <a:t>NATIVE / MICROSOFT</a:t>
            </a:r>
            <a:endParaRPr lang="en-US" sz="750" dirty="0"/>
          </a:p>
        </p:txBody>
      </p:sp>
      <p:sp>
        <p:nvSpPr>
          <p:cNvPr id="18" name="Text 16"/>
          <p:cNvSpPr/>
          <p:nvPr/>
        </p:nvSpPr>
        <p:spPr>
          <a:xfrm>
            <a:off x="3981152" y="1171575"/>
            <a:ext cx="2214711" cy="876300"/>
          </a:xfrm>
          <a:prstGeom prst="rect">
            <a:avLst/>
          </a:prstGeom>
          <a:noFill/>
          <a:ln/>
        </p:spPr>
        <p:txBody>
          <a:bodyPr wrap="square" lIns="66675" tIns="0" rIns="0" bIns="0" rtlCol="0" anchor="t"/>
          <a:lstStyle/>
          <a:p>
            <a:pPr algn="l" marL="66675" indent="-66675">
              <a:lnSpc>
                <a:spcPts val="2100"/>
              </a:lnSpc>
              <a:buSzPct val="100000"/>
              <a:buChar char="•"/>
            </a:pPr>
            <a:r>
              <a:rPr lang="en-US" sz="1350" dirty="0">
                <a:solidFill>
                  <a:srgbClr val="6B7280"/>
                </a:solidFill>
                <a:latin typeface="Arial" pitchFamily="34" charset="0"/>
                <a:ea typeface="Arial" pitchFamily="34" charset="-122"/>
                <a:cs typeface="Arial" pitchFamily="34" charset="-120"/>
              </a:rPr>
              <a:t>GitHub Copilot</a:t>
            </a:r>
            <a:endParaRPr lang="en-US" sz="1350" dirty="0"/>
          </a:p>
          <a:p>
            <a:pPr algn="l" marL="66675" indent="-66675">
              <a:lnSpc>
                <a:spcPts val="2100"/>
              </a:lnSpc>
              <a:buSzPct val="100000"/>
              <a:buChar char="•"/>
            </a:pPr>
            <a:r>
              <a:rPr lang="en-US" sz="1350" dirty="0">
                <a:solidFill>
                  <a:srgbClr val="6B7280"/>
                </a:solidFill>
                <a:latin typeface="Arial" pitchFamily="34" charset="0"/>
                <a:ea typeface="Arial" pitchFamily="34" charset="-122"/>
                <a:cs typeface="Arial" pitchFamily="34" charset="-120"/>
              </a:rPr>
              <a:t>AI Toolkit</a:t>
            </a:r>
            <a:endParaRPr lang="en-US" sz="1350" dirty="0"/>
          </a:p>
          <a:p>
            <a:pPr algn="l" marL="66675" indent="-66675">
              <a:lnSpc>
                <a:spcPts val="2100"/>
              </a:lnSpc>
              <a:buSzPct val="100000"/>
              <a:buChar char="•"/>
            </a:pPr>
            <a:r>
              <a:rPr lang="en-US" sz="1350" dirty="0">
                <a:solidFill>
                  <a:srgbClr val="6B7280"/>
                </a:solidFill>
                <a:latin typeface="Arial" pitchFamily="34" charset="0"/>
                <a:ea typeface="Arial" pitchFamily="34" charset="-122"/>
                <a:cs typeface="Arial" pitchFamily="34" charset="-120"/>
              </a:rPr>
              <a:t>Foundry Local</a:t>
            </a:r>
            <a:endParaRPr lang="en-US" sz="1350" dirty="0"/>
          </a:p>
        </p:txBody>
      </p:sp>
      <p:sp>
        <p:nvSpPr>
          <p:cNvPr id="19" name="Text 17"/>
          <p:cNvSpPr/>
          <p:nvPr/>
        </p:nvSpPr>
        <p:spPr>
          <a:xfrm>
            <a:off x="6405414" y="866775"/>
            <a:ext cx="2471886" cy="1295400"/>
          </a:xfrm>
          <a:prstGeom prst="rect">
            <a:avLst/>
          </a:prstGeom>
          <a:solidFill>
            <a:srgbClr val="FFFFFF"/>
          </a:solidFill>
          <a:ln/>
        </p:spPr>
        <p:txBody>
          <a:bodyPr wrap="square" rtlCol="0" anchor="ctr"/>
          <a:lstStyle/>
          <a:p>
            <a:pPr indent="0" marL="0">
              <a:buNone/>
            </a:pPr>
            <a:endParaRPr lang="en-US" dirty="0"/>
          </a:p>
        </p:txBody>
      </p:sp>
      <p:sp>
        <p:nvSpPr>
          <p:cNvPr id="20" name="Shape 18"/>
          <p:cNvSpPr/>
          <p:nvPr/>
        </p:nvSpPr>
        <p:spPr>
          <a:xfrm>
            <a:off x="6419701" y="866775"/>
            <a:ext cx="0" cy="1295400"/>
          </a:xfrm>
          <a:prstGeom prst="line">
            <a:avLst/>
          </a:prstGeom>
          <a:noFill/>
          <a:ln w="28575">
            <a:solidFill>
              <a:srgbClr val="C9A227"/>
            </a:solidFill>
            <a:prstDash val="solid"/>
          </a:ln>
        </p:spPr>
      </p:sp>
      <p:sp>
        <p:nvSpPr>
          <p:cNvPr id="21" name="Text 19"/>
          <p:cNvSpPr/>
          <p:nvPr/>
        </p:nvSpPr>
        <p:spPr>
          <a:xfrm>
            <a:off x="6548289" y="981075"/>
            <a:ext cx="2259006"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C9A227"/>
                </a:solidFill>
                <a:latin typeface="Arial" pitchFamily="34" charset="0"/>
                <a:ea typeface="Arial" pitchFamily="34" charset="-122"/>
                <a:cs typeface="Arial" pitchFamily="34" charset="-120"/>
              </a:rPr>
              <a:t>THIRD-PARTY</a:t>
            </a:r>
            <a:endParaRPr lang="en-US" sz="750" dirty="0"/>
          </a:p>
        </p:txBody>
      </p:sp>
      <p:sp>
        <p:nvSpPr>
          <p:cNvPr id="22" name="Text 20"/>
          <p:cNvSpPr/>
          <p:nvPr/>
        </p:nvSpPr>
        <p:spPr>
          <a:xfrm>
            <a:off x="6548289" y="1171575"/>
            <a:ext cx="2214711" cy="876300"/>
          </a:xfrm>
          <a:prstGeom prst="rect">
            <a:avLst/>
          </a:prstGeom>
          <a:noFill/>
          <a:ln/>
        </p:spPr>
        <p:txBody>
          <a:bodyPr wrap="square" lIns="66675" tIns="0" rIns="0" bIns="0" rtlCol="0" anchor="t"/>
          <a:lstStyle/>
          <a:p>
            <a:pPr algn="l" marL="66675" indent="-66675">
              <a:lnSpc>
                <a:spcPts val="2100"/>
              </a:lnSpc>
              <a:buSzPct val="100000"/>
              <a:buChar char="•"/>
            </a:pPr>
            <a:r>
              <a:rPr lang="en-US" sz="1350" dirty="0">
                <a:solidFill>
                  <a:srgbClr val="6B7280"/>
                </a:solidFill>
                <a:latin typeface="Arial" pitchFamily="34" charset="0"/>
                <a:ea typeface="Arial" pitchFamily="34" charset="-122"/>
                <a:cs typeface="Arial" pitchFamily="34" charset="-120"/>
              </a:rPr>
              <a:t>Continue.dev</a:t>
            </a:r>
            <a:endParaRPr lang="en-US" sz="1350" dirty="0"/>
          </a:p>
          <a:p>
            <a:pPr algn="l" marL="66675" indent="-66675">
              <a:lnSpc>
                <a:spcPts val="2100"/>
              </a:lnSpc>
              <a:buSzPct val="100000"/>
              <a:buChar char="•"/>
            </a:pPr>
            <a:r>
              <a:rPr lang="en-US" sz="1350" dirty="0">
                <a:solidFill>
                  <a:srgbClr val="6B7280"/>
                </a:solidFill>
                <a:latin typeface="Arial" pitchFamily="34" charset="0"/>
                <a:ea typeface="Arial" pitchFamily="34" charset="-122"/>
                <a:cs typeface="Arial" pitchFamily="34" charset="-120"/>
              </a:rPr>
              <a:t>Cline (Claude Dev)</a:t>
            </a:r>
            <a:endParaRPr lang="en-US" sz="1350" dirty="0"/>
          </a:p>
          <a:p>
            <a:pPr algn="l" marL="66675" indent="-66675">
              <a:lnSpc>
                <a:spcPts val="2100"/>
              </a:lnSpc>
              <a:buSzPct val="100000"/>
              <a:buChar char="•"/>
            </a:pPr>
            <a:r>
              <a:rPr lang="en-US" sz="1350" dirty="0">
                <a:solidFill>
                  <a:srgbClr val="6B7280"/>
                </a:solidFill>
                <a:latin typeface="Arial" pitchFamily="34" charset="0"/>
                <a:ea typeface="Arial" pitchFamily="34" charset="-122"/>
                <a:cs typeface="Arial" pitchFamily="34" charset="-120"/>
              </a:rPr>
              <a:t>Cody (Sourcegraph)</a:t>
            </a:r>
            <a:endParaRPr lang="en-US" sz="1350" dirty="0"/>
          </a:p>
        </p:txBody>
      </p:sp>
      <p:sp>
        <p:nvSpPr>
          <p:cNvPr id="23" name="Text 21"/>
          <p:cNvSpPr/>
          <p:nvPr/>
        </p:nvSpPr>
        <p:spPr>
          <a:xfrm>
            <a:off x="3838277" y="2409825"/>
            <a:ext cx="2471886" cy="1295400"/>
          </a:xfrm>
          <a:prstGeom prst="rect">
            <a:avLst/>
          </a:prstGeom>
          <a:solidFill>
            <a:srgbClr val="FFFFFF"/>
          </a:solidFill>
          <a:ln/>
        </p:spPr>
        <p:txBody>
          <a:bodyPr wrap="square" rtlCol="0" anchor="ctr"/>
          <a:lstStyle/>
          <a:p>
            <a:pPr indent="0" marL="0">
              <a:buNone/>
            </a:pPr>
            <a:endParaRPr lang="en-US" dirty="0"/>
          </a:p>
        </p:txBody>
      </p:sp>
      <p:sp>
        <p:nvSpPr>
          <p:cNvPr id="24" name="Shape 22"/>
          <p:cNvSpPr/>
          <p:nvPr/>
        </p:nvSpPr>
        <p:spPr>
          <a:xfrm>
            <a:off x="3852565" y="2409825"/>
            <a:ext cx="0" cy="1295400"/>
          </a:xfrm>
          <a:prstGeom prst="line">
            <a:avLst/>
          </a:prstGeom>
          <a:noFill/>
          <a:ln w="28575">
            <a:solidFill>
              <a:srgbClr val="059669"/>
            </a:solidFill>
            <a:prstDash val="solid"/>
          </a:ln>
        </p:spPr>
      </p:sp>
      <p:sp>
        <p:nvSpPr>
          <p:cNvPr id="25" name="Text 23"/>
          <p:cNvSpPr/>
          <p:nvPr/>
        </p:nvSpPr>
        <p:spPr>
          <a:xfrm>
            <a:off x="3981152" y="2524125"/>
            <a:ext cx="2259006"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059669"/>
                </a:solidFill>
                <a:latin typeface="Arial" pitchFamily="34" charset="0"/>
                <a:ea typeface="Arial" pitchFamily="34" charset="-122"/>
                <a:cs typeface="Arial" pitchFamily="34" charset="-120"/>
              </a:rPr>
              <a:t>ENTERPRISE</a:t>
            </a:r>
            <a:endParaRPr lang="en-US" sz="750" dirty="0"/>
          </a:p>
        </p:txBody>
      </p:sp>
      <p:sp>
        <p:nvSpPr>
          <p:cNvPr id="26" name="Text 24"/>
          <p:cNvSpPr/>
          <p:nvPr/>
        </p:nvSpPr>
        <p:spPr>
          <a:xfrm>
            <a:off x="3981152" y="2714625"/>
            <a:ext cx="2214711" cy="876300"/>
          </a:xfrm>
          <a:prstGeom prst="rect">
            <a:avLst/>
          </a:prstGeom>
          <a:noFill/>
          <a:ln/>
        </p:spPr>
        <p:txBody>
          <a:bodyPr wrap="square" lIns="66675" tIns="0" rIns="0" bIns="0" rtlCol="0" anchor="t"/>
          <a:lstStyle/>
          <a:p>
            <a:pPr algn="l" marL="66675" indent="-66675">
              <a:lnSpc>
                <a:spcPts val="2100"/>
              </a:lnSpc>
              <a:buSzPct val="100000"/>
              <a:buChar char="•"/>
            </a:pPr>
            <a:r>
              <a:rPr lang="en-US" sz="1350" dirty="0">
                <a:solidFill>
                  <a:srgbClr val="6B7280"/>
                </a:solidFill>
                <a:latin typeface="Arial" pitchFamily="34" charset="0"/>
                <a:ea typeface="Arial" pitchFamily="34" charset="-122"/>
                <a:cs typeface="Arial" pitchFamily="34" charset="-120"/>
              </a:rPr>
              <a:t>Tabnine</a:t>
            </a:r>
            <a:endParaRPr lang="en-US" sz="1350" dirty="0"/>
          </a:p>
          <a:p>
            <a:pPr algn="l" marL="66675" indent="-66675">
              <a:lnSpc>
                <a:spcPts val="2100"/>
              </a:lnSpc>
              <a:buSzPct val="100000"/>
              <a:buChar char="•"/>
            </a:pPr>
            <a:r>
              <a:rPr lang="en-US" sz="1350" dirty="0">
                <a:solidFill>
                  <a:srgbClr val="6B7280"/>
                </a:solidFill>
                <a:latin typeface="Arial" pitchFamily="34" charset="0"/>
                <a:ea typeface="Arial" pitchFamily="34" charset="-122"/>
                <a:cs typeface="Arial" pitchFamily="34" charset="-120"/>
              </a:rPr>
              <a:t>Amazon Q Developer</a:t>
            </a:r>
            <a:endParaRPr lang="en-US" sz="1350" dirty="0"/>
          </a:p>
          <a:p>
            <a:pPr algn="l" marL="66675" indent="-66675">
              <a:lnSpc>
                <a:spcPts val="2100"/>
              </a:lnSpc>
              <a:buSzPct val="100000"/>
              <a:buChar char="•"/>
            </a:pPr>
            <a:r>
              <a:rPr lang="en-US" sz="1350" dirty="0">
                <a:solidFill>
                  <a:srgbClr val="6B7280"/>
                </a:solidFill>
                <a:latin typeface="Arial" pitchFamily="34" charset="0"/>
                <a:ea typeface="Arial" pitchFamily="34" charset="-122"/>
                <a:cs typeface="Arial" pitchFamily="34" charset="-120"/>
              </a:rPr>
              <a:t>CodeGPT</a:t>
            </a:r>
            <a:endParaRPr lang="en-US" sz="1350" dirty="0"/>
          </a:p>
        </p:txBody>
      </p:sp>
      <p:sp>
        <p:nvSpPr>
          <p:cNvPr id="27" name="Text 25"/>
          <p:cNvSpPr/>
          <p:nvPr/>
        </p:nvSpPr>
        <p:spPr>
          <a:xfrm>
            <a:off x="6405414" y="2409825"/>
            <a:ext cx="2471886" cy="1295400"/>
          </a:xfrm>
          <a:prstGeom prst="rect">
            <a:avLst/>
          </a:prstGeom>
          <a:solidFill>
            <a:srgbClr val="FFFFFF"/>
          </a:solidFill>
          <a:ln/>
        </p:spPr>
        <p:txBody>
          <a:bodyPr wrap="square" rtlCol="0" anchor="ctr"/>
          <a:lstStyle/>
          <a:p>
            <a:pPr indent="0" marL="0">
              <a:buNone/>
            </a:pPr>
            <a:endParaRPr lang="en-US" dirty="0"/>
          </a:p>
        </p:txBody>
      </p:sp>
      <p:sp>
        <p:nvSpPr>
          <p:cNvPr id="28" name="Shape 26"/>
          <p:cNvSpPr/>
          <p:nvPr/>
        </p:nvSpPr>
        <p:spPr>
          <a:xfrm>
            <a:off x="6419701" y="2409825"/>
            <a:ext cx="0" cy="1295400"/>
          </a:xfrm>
          <a:prstGeom prst="line">
            <a:avLst/>
          </a:prstGeom>
          <a:noFill/>
          <a:ln w="28575">
            <a:solidFill>
              <a:srgbClr val="8B5CF6"/>
            </a:solidFill>
            <a:prstDash val="solid"/>
          </a:ln>
        </p:spPr>
      </p:sp>
      <p:sp>
        <p:nvSpPr>
          <p:cNvPr id="29" name="Text 27"/>
          <p:cNvSpPr/>
          <p:nvPr/>
        </p:nvSpPr>
        <p:spPr>
          <a:xfrm>
            <a:off x="6548289" y="2524125"/>
            <a:ext cx="2259006"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8B5CF6"/>
                </a:solidFill>
                <a:latin typeface="Arial" pitchFamily="34" charset="0"/>
                <a:ea typeface="Arial" pitchFamily="34" charset="-122"/>
                <a:cs typeface="Arial" pitchFamily="34" charset="-120"/>
              </a:rPr>
              <a:t>LOCAL INFERENCE</a:t>
            </a:r>
            <a:endParaRPr lang="en-US" sz="750" dirty="0"/>
          </a:p>
        </p:txBody>
      </p:sp>
      <p:sp>
        <p:nvSpPr>
          <p:cNvPr id="30" name="Text 28"/>
          <p:cNvSpPr/>
          <p:nvPr/>
        </p:nvSpPr>
        <p:spPr>
          <a:xfrm>
            <a:off x="6548289" y="2714625"/>
            <a:ext cx="2214711" cy="876300"/>
          </a:xfrm>
          <a:prstGeom prst="rect">
            <a:avLst/>
          </a:prstGeom>
          <a:noFill/>
          <a:ln/>
        </p:spPr>
        <p:txBody>
          <a:bodyPr wrap="square" lIns="66675" tIns="0" rIns="0" bIns="0" rtlCol="0" anchor="t"/>
          <a:lstStyle/>
          <a:p>
            <a:pPr algn="l" marL="66675" indent="-66675">
              <a:lnSpc>
                <a:spcPts val="2100"/>
              </a:lnSpc>
              <a:buSzPct val="100000"/>
              <a:buChar char="•"/>
            </a:pPr>
            <a:r>
              <a:rPr lang="en-US" sz="1350" dirty="0">
                <a:solidFill>
                  <a:srgbClr val="6B7280"/>
                </a:solidFill>
                <a:latin typeface="Arial" pitchFamily="34" charset="0"/>
                <a:ea typeface="Arial" pitchFamily="34" charset="-122"/>
                <a:cs typeface="Arial" pitchFamily="34" charset="-120"/>
              </a:rPr>
              <a:t>Ollama</a:t>
            </a:r>
            <a:endParaRPr lang="en-US" sz="1350" dirty="0"/>
          </a:p>
          <a:p>
            <a:pPr algn="l" marL="66675" indent="-66675">
              <a:lnSpc>
                <a:spcPts val="2100"/>
              </a:lnSpc>
              <a:buSzPct val="100000"/>
              <a:buChar char="•"/>
            </a:pPr>
            <a:r>
              <a:rPr lang="en-US" sz="1350" dirty="0">
                <a:solidFill>
                  <a:srgbClr val="6B7280"/>
                </a:solidFill>
                <a:latin typeface="Arial" pitchFamily="34" charset="0"/>
                <a:ea typeface="Arial" pitchFamily="34" charset="-122"/>
                <a:cs typeface="Arial" pitchFamily="34" charset="-120"/>
              </a:rPr>
              <a:t>LM Studio</a:t>
            </a:r>
            <a:endParaRPr lang="en-US" sz="1350" dirty="0"/>
          </a:p>
          <a:p>
            <a:pPr algn="l" marL="66675" indent="-66675">
              <a:lnSpc>
                <a:spcPts val="2100"/>
              </a:lnSpc>
              <a:buSzPct val="100000"/>
              <a:buChar char="•"/>
            </a:pPr>
            <a:r>
              <a:rPr lang="en-US" sz="1350" dirty="0">
                <a:solidFill>
                  <a:srgbClr val="6B7280"/>
                </a:solidFill>
                <a:latin typeface="Arial" pitchFamily="34" charset="0"/>
                <a:ea typeface="Arial" pitchFamily="34" charset="-122"/>
                <a:cs typeface="Arial" pitchFamily="34" charset="-120"/>
              </a:rPr>
              <a:t>GPT4All</a:t>
            </a:r>
            <a:endParaRPr lang="en-US" sz="1350" dirty="0"/>
          </a:p>
        </p:txBody>
      </p:sp>
      <p:sp>
        <p:nvSpPr>
          <p:cNvPr id="31" name="Text 29"/>
          <p:cNvSpPr/>
          <p:nvPr/>
        </p:nvSpPr>
        <p:spPr>
          <a:xfrm>
            <a:off x="3838277" y="3971925"/>
            <a:ext cx="5039023" cy="731341"/>
          </a:xfrm>
          <a:prstGeom prst="rect">
            <a:avLst/>
          </a:prstGeom>
          <a:solidFill>
            <a:srgbClr val="1A1F2E"/>
          </a:solidFill>
          <a:ln/>
        </p:spPr>
        <p:txBody>
          <a:bodyPr wrap="square" rtlCol="0" anchor="ctr"/>
          <a:lstStyle/>
          <a:p>
            <a:pPr indent="0" marL="0">
              <a:buNone/>
            </a:pPr>
            <a:endParaRPr lang="en-US" dirty="0"/>
          </a:p>
        </p:txBody>
      </p:sp>
      <p:sp>
        <p:nvSpPr>
          <p:cNvPr id="32" name="Text 30"/>
          <p:cNvSpPr/>
          <p:nvPr/>
        </p:nvSpPr>
        <p:spPr>
          <a:xfrm>
            <a:off x="3971627" y="4105275"/>
            <a:ext cx="4867769" cy="133350"/>
          </a:xfrm>
          <a:prstGeom prst="rect">
            <a:avLst/>
          </a:prstGeom>
          <a:noFill/>
          <a:ln/>
        </p:spPr>
        <p:txBody>
          <a:bodyPr wrap="square" lIns="0" tIns="0" rIns="0" bIns="0" rtlCol="0" anchor="t"/>
          <a:lstStyle/>
          <a:p>
            <a:pPr algn="l" indent="0" marL="0">
              <a:lnSpc>
                <a:spcPts val="1050"/>
              </a:lnSpc>
              <a:spcAft>
                <a:spcPts val="600"/>
              </a:spcAft>
              <a:buNone/>
            </a:pPr>
            <a:r>
              <a:rPr lang="en-US" sz="750" b="1" dirty="0">
                <a:solidFill>
                  <a:srgbClr val="C9A227"/>
                </a:solidFill>
                <a:latin typeface="Arial" pitchFamily="34" charset="0"/>
                <a:ea typeface="Arial" pitchFamily="34" charset="-122"/>
                <a:cs typeface="Arial" pitchFamily="34" charset="-120"/>
              </a:rPr>
              <a:t>KEY CONSIDERATIONS</a:t>
            </a:r>
            <a:endParaRPr lang="en-US" sz="750" dirty="0"/>
          </a:p>
        </p:txBody>
      </p:sp>
      <p:sp>
        <p:nvSpPr>
          <p:cNvPr id="33" name="Text 31"/>
          <p:cNvSpPr/>
          <p:nvPr/>
        </p:nvSpPr>
        <p:spPr>
          <a:xfrm>
            <a:off x="3971627" y="4314825"/>
            <a:ext cx="1518958" cy="106561"/>
          </a:xfrm>
          <a:prstGeom prst="rect">
            <a:avLst/>
          </a:prstGeom>
          <a:noFill/>
          <a:ln/>
        </p:spPr>
        <p:txBody>
          <a:bodyPr wrap="square" lIns="0" tIns="0" rIns="0" bIns="0" rtlCol="0" anchor="t"/>
          <a:lstStyle/>
          <a:p>
            <a:pPr algn="l" indent="0" marL="0">
              <a:lnSpc>
                <a:spcPts val="840"/>
              </a:lnSpc>
              <a:spcAft>
                <a:spcPts val="225"/>
              </a:spcAft>
              <a:buNone/>
            </a:pPr>
            <a:r>
              <a:rPr lang="en-US" sz="600" dirty="0">
                <a:solidFill>
                  <a:srgbClr val="FFFFFF">
                    <a:alpha val="60000"/>
                  </a:srgbClr>
                </a:solidFill>
                <a:latin typeface="Arial" pitchFamily="34" charset="0"/>
                <a:ea typeface="Arial" pitchFamily="34" charset="-122"/>
                <a:cs typeface="Arial" pitchFamily="34" charset="-120"/>
              </a:rPr>
              <a:t>BYOK Support</a:t>
            </a:r>
            <a:endParaRPr lang="en-US" sz="600" dirty="0"/>
          </a:p>
        </p:txBody>
      </p:sp>
      <p:sp>
        <p:nvSpPr>
          <p:cNvPr id="34" name="Text 32"/>
          <p:cNvSpPr/>
          <p:nvPr/>
        </p:nvSpPr>
        <p:spPr>
          <a:xfrm>
            <a:off x="3971627" y="4449961"/>
            <a:ext cx="1518958" cy="119955"/>
          </a:xfrm>
          <a:prstGeom prst="rect">
            <a:avLst/>
          </a:prstGeom>
          <a:noFill/>
          <a:ln/>
        </p:spPr>
        <p:txBody>
          <a:bodyPr wrap="square" lIns="0" tIns="0" rIns="0" bIns="0" rtlCol="0" anchor="t"/>
          <a:lstStyle/>
          <a:p>
            <a:pPr algn="l" indent="0" marL="0">
              <a:lnSpc>
                <a:spcPts val="945"/>
              </a:lnSpc>
              <a:buNone/>
            </a:pPr>
            <a:r>
              <a:rPr lang="en-US" sz="675" dirty="0">
                <a:solidFill>
                  <a:srgbClr val="FFFFFF"/>
                </a:solidFill>
                <a:latin typeface="Arial" pitchFamily="34" charset="0"/>
                <a:ea typeface="Arial" pitchFamily="34" charset="-122"/>
                <a:cs typeface="Arial" pitchFamily="34" charset="-120"/>
              </a:rPr>
              <a:t>Use your own API keys</a:t>
            </a:r>
            <a:endParaRPr lang="en-US" sz="675" dirty="0"/>
          </a:p>
        </p:txBody>
      </p:sp>
      <p:sp>
        <p:nvSpPr>
          <p:cNvPr id="35" name="Text 33"/>
          <p:cNvSpPr/>
          <p:nvPr/>
        </p:nvSpPr>
        <p:spPr>
          <a:xfrm>
            <a:off x="5613202" y="4314825"/>
            <a:ext cx="1518958" cy="106561"/>
          </a:xfrm>
          <a:prstGeom prst="rect">
            <a:avLst/>
          </a:prstGeom>
          <a:noFill/>
          <a:ln/>
        </p:spPr>
        <p:txBody>
          <a:bodyPr wrap="square" lIns="0" tIns="0" rIns="0" bIns="0" rtlCol="0" anchor="t"/>
          <a:lstStyle/>
          <a:p>
            <a:pPr algn="l" indent="0" marL="0">
              <a:lnSpc>
                <a:spcPts val="840"/>
              </a:lnSpc>
              <a:spcAft>
                <a:spcPts val="225"/>
              </a:spcAft>
              <a:buNone/>
            </a:pPr>
            <a:r>
              <a:rPr lang="en-US" sz="600" dirty="0">
                <a:solidFill>
                  <a:srgbClr val="FFFFFF">
                    <a:alpha val="60000"/>
                  </a:srgbClr>
                </a:solidFill>
                <a:latin typeface="Arial" pitchFamily="34" charset="0"/>
                <a:ea typeface="Arial" pitchFamily="34" charset="-122"/>
                <a:cs typeface="Arial" pitchFamily="34" charset="-120"/>
              </a:rPr>
              <a:t>Local Models</a:t>
            </a:r>
            <a:endParaRPr lang="en-US" sz="600" dirty="0"/>
          </a:p>
        </p:txBody>
      </p:sp>
      <p:sp>
        <p:nvSpPr>
          <p:cNvPr id="36" name="Text 34"/>
          <p:cNvSpPr/>
          <p:nvPr/>
        </p:nvSpPr>
        <p:spPr>
          <a:xfrm>
            <a:off x="5613202" y="4449961"/>
            <a:ext cx="1518958" cy="119955"/>
          </a:xfrm>
          <a:prstGeom prst="rect">
            <a:avLst/>
          </a:prstGeom>
          <a:noFill/>
          <a:ln/>
        </p:spPr>
        <p:txBody>
          <a:bodyPr wrap="square" lIns="0" tIns="0" rIns="0" bIns="0" rtlCol="0" anchor="t"/>
          <a:lstStyle/>
          <a:p>
            <a:pPr algn="l" indent="0" marL="0">
              <a:lnSpc>
                <a:spcPts val="945"/>
              </a:lnSpc>
              <a:buNone/>
            </a:pPr>
            <a:r>
              <a:rPr lang="en-US" sz="675" dirty="0">
                <a:solidFill>
                  <a:srgbClr val="FFFFFF"/>
                </a:solidFill>
                <a:latin typeface="Arial" pitchFamily="34" charset="0"/>
                <a:ea typeface="Arial" pitchFamily="34" charset="-122"/>
                <a:cs typeface="Arial" pitchFamily="34" charset="-120"/>
              </a:rPr>
              <a:t>Air-gapped / on-prem</a:t>
            </a:r>
            <a:endParaRPr lang="en-US" sz="675" dirty="0"/>
          </a:p>
        </p:txBody>
      </p:sp>
      <p:sp>
        <p:nvSpPr>
          <p:cNvPr id="37" name="Text 35"/>
          <p:cNvSpPr/>
          <p:nvPr/>
        </p:nvSpPr>
        <p:spPr>
          <a:xfrm>
            <a:off x="7254776" y="4314825"/>
            <a:ext cx="1518958" cy="106561"/>
          </a:xfrm>
          <a:prstGeom prst="rect">
            <a:avLst/>
          </a:prstGeom>
          <a:noFill/>
          <a:ln/>
        </p:spPr>
        <p:txBody>
          <a:bodyPr wrap="square" lIns="0" tIns="0" rIns="0" bIns="0" rtlCol="0" anchor="t"/>
          <a:lstStyle/>
          <a:p>
            <a:pPr algn="l" indent="0" marL="0">
              <a:lnSpc>
                <a:spcPts val="840"/>
              </a:lnSpc>
              <a:spcAft>
                <a:spcPts val="225"/>
              </a:spcAft>
              <a:buNone/>
            </a:pPr>
            <a:r>
              <a:rPr lang="en-US" sz="600" dirty="0">
                <a:solidFill>
                  <a:srgbClr val="FFFFFF">
                    <a:alpha val="60000"/>
                  </a:srgbClr>
                </a:solidFill>
                <a:latin typeface="Arial" pitchFamily="34" charset="0"/>
                <a:ea typeface="Arial" pitchFamily="34" charset="-122"/>
                <a:cs typeface="Arial" pitchFamily="34" charset="-120"/>
              </a:rPr>
              <a:t>Cloud Providers</a:t>
            </a:r>
            <a:endParaRPr lang="en-US" sz="600" dirty="0"/>
          </a:p>
        </p:txBody>
      </p:sp>
      <p:sp>
        <p:nvSpPr>
          <p:cNvPr id="38" name="Text 36"/>
          <p:cNvSpPr/>
          <p:nvPr/>
        </p:nvSpPr>
        <p:spPr>
          <a:xfrm>
            <a:off x="7254776" y="4449961"/>
            <a:ext cx="1518958" cy="119955"/>
          </a:xfrm>
          <a:prstGeom prst="rect">
            <a:avLst/>
          </a:prstGeom>
          <a:noFill/>
          <a:ln/>
        </p:spPr>
        <p:txBody>
          <a:bodyPr wrap="square" lIns="0" tIns="0" rIns="0" bIns="0" rtlCol="0" anchor="t"/>
          <a:lstStyle/>
          <a:p>
            <a:pPr algn="l" indent="0" marL="0">
              <a:lnSpc>
                <a:spcPts val="945"/>
              </a:lnSpc>
              <a:buNone/>
            </a:pPr>
            <a:r>
              <a:rPr lang="en-US" sz="675" dirty="0">
                <a:solidFill>
                  <a:srgbClr val="FFFFFF"/>
                </a:solidFill>
                <a:latin typeface="Arial" pitchFamily="34" charset="0"/>
                <a:ea typeface="Arial" pitchFamily="34" charset="-122"/>
                <a:cs typeface="Arial" pitchFamily="34" charset="-120"/>
              </a:rPr>
              <a:t>Azure, AWS, GCP</a:t>
            </a:r>
            <a:endParaRPr lang="en-US" sz="6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521494" cy="182761"/>
          </a:xfrm>
          <a:prstGeom prst="rect">
            <a:avLst/>
          </a:prstGeom>
          <a:solidFill>
            <a:srgbClr val="6E40C9"/>
          </a:solidFill>
          <a:ln/>
        </p:spPr>
        <p:txBody>
          <a:bodyPr wrap="square" rtlCol="0" anchor="ctr"/>
          <a:lstStyle/>
          <a:p>
            <a:pPr indent="0" marL="0">
              <a:buNone/>
            </a:pPr>
            <a:endParaRPr lang="en-US" dirty="0"/>
          </a:p>
        </p:txBody>
      </p:sp>
      <p:sp>
        <p:nvSpPr>
          <p:cNvPr id="4" name="Text 2"/>
          <p:cNvSpPr/>
          <p:nvPr/>
        </p:nvSpPr>
        <p:spPr>
          <a:xfrm>
            <a:off x="361950" y="304800"/>
            <a:ext cx="337614" cy="106561"/>
          </a:xfrm>
          <a:prstGeom prst="rect">
            <a:avLst/>
          </a:prstGeom>
          <a:noFill/>
          <a:ln/>
        </p:spPr>
        <p:txBody>
          <a:bodyPr wrap="square" lIns="0" tIns="0" rIns="0" bIns="0" rtlCol="0" anchor="t"/>
          <a:lstStyle/>
          <a:p>
            <a:pPr algn="l" indent="0" marL="0">
              <a:lnSpc>
                <a:spcPts val="840"/>
              </a:lnSpc>
              <a:buNone/>
            </a:pPr>
            <a:r>
              <a:rPr lang="en-US" sz="600" b="1" dirty="0">
                <a:solidFill>
                  <a:srgbClr val="FFFFFF"/>
                </a:solidFill>
                <a:latin typeface="Arial" pitchFamily="34" charset="0"/>
                <a:ea typeface="Arial" pitchFamily="34" charset="-122"/>
                <a:cs typeface="Arial" pitchFamily="34" charset="-120"/>
              </a:rPr>
              <a:t>NATIVE</a:t>
            </a:r>
            <a:endParaRPr lang="en-US" sz="600" dirty="0"/>
          </a:p>
        </p:txBody>
      </p:sp>
      <p:sp>
        <p:nvSpPr>
          <p:cNvPr id="5" name="Text 3"/>
          <p:cNvSpPr/>
          <p:nvPr/>
        </p:nvSpPr>
        <p:spPr>
          <a:xfrm>
            <a:off x="266700" y="697111"/>
            <a:ext cx="1583627" cy="548580"/>
          </a:xfrm>
          <a:prstGeom prst="rect">
            <a:avLst/>
          </a:prstGeom>
          <a:noFill/>
          <a:ln/>
        </p:spPr>
        <p:txBody>
          <a:bodyPr wrap="square" lIns="0" tIns="0" rIns="0" bIns="0" rtlCol="0" anchor="t"/>
          <a:lstStyle/>
          <a:p>
            <a:pPr algn="l" indent="0" marL="0">
              <a:lnSpc>
                <a:spcPts val="2160"/>
              </a:lnSpc>
              <a:spcAft>
                <a:spcPts val="750"/>
              </a:spcAft>
              <a:buNone/>
            </a:pPr>
            <a:r>
              <a:rPr lang="en-US" sz="1800" dirty="0">
                <a:solidFill>
                  <a:srgbClr val="FFFFFF"/>
                </a:solidFill>
                <a:latin typeface="Georgia" pitchFamily="34" charset="0"/>
                <a:ea typeface="Georgia" pitchFamily="34" charset="-122"/>
                <a:cs typeface="Georgia" pitchFamily="34" charset="-120"/>
              </a:rPr>
              <a:t>GitHub Copilot</a:t>
            </a:r>
            <a:endParaRPr lang="en-US" sz="1800" dirty="0"/>
          </a:p>
          <a:p>
            <a:pPr algn="l" indent="0" marL="0">
              <a:lnSpc>
                <a:spcPts val="2160"/>
              </a:lnSpc>
              <a:spcAft>
                <a:spcPts val="750"/>
              </a:spcAft>
              <a:buNone/>
            </a:pPr>
            <a:r>
              <a:rPr lang="en-US" sz="1800" dirty="0">
                <a:solidFill>
                  <a:srgbClr val="FFFFFF"/>
                </a:solidFill>
                <a:latin typeface="Georgia" pitchFamily="34" charset="0"/>
                <a:ea typeface="Georgia" pitchFamily="34" charset="-122"/>
                <a:cs typeface="Georgia" pitchFamily="34" charset="-120"/>
              </a:rPr>
              <a:t>+ Azure</a:t>
            </a:r>
            <a:endParaRPr lang="en-US" sz="1800" dirty="0"/>
          </a:p>
        </p:txBody>
      </p:sp>
      <p:sp>
        <p:nvSpPr>
          <p:cNvPr id="6" name="Text 4"/>
          <p:cNvSpPr/>
          <p:nvPr/>
        </p:nvSpPr>
        <p:spPr>
          <a:xfrm>
            <a:off x="266700" y="1493341"/>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798141"/>
            <a:ext cx="2885777" cy="685800"/>
          </a:xfrm>
          <a:prstGeom prst="rect">
            <a:avLst/>
          </a:prstGeom>
          <a:solidFill>
            <a:srgbClr val="6E40C9">
              <a:alpha val="20000"/>
            </a:srgbClr>
          </a:solidFill>
          <a:ln/>
        </p:spPr>
        <p:txBody>
          <a:bodyPr wrap="square" rtlCol="0" anchor="ctr"/>
          <a:lstStyle/>
          <a:p>
            <a:pPr indent="0" marL="0">
              <a:buNone/>
            </a:pPr>
            <a:endParaRPr lang="en-US" dirty="0"/>
          </a:p>
        </p:txBody>
      </p:sp>
      <p:sp>
        <p:nvSpPr>
          <p:cNvPr id="8" name="Shape 6"/>
          <p:cNvSpPr/>
          <p:nvPr/>
        </p:nvSpPr>
        <p:spPr>
          <a:xfrm>
            <a:off x="280988" y="1798141"/>
            <a:ext cx="0" cy="685800"/>
          </a:xfrm>
          <a:prstGeom prst="line">
            <a:avLst/>
          </a:prstGeom>
          <a:noFill/>
          <a:ln w="28575">
            <a:solidFill>
              <a:srgbClr val="6E40C9"/>
            </a:solidFill>
            <a:prstDash val="solid"/>
          </a:ln>
        </p:spPr>
      </p:sp>
      <p:sp>
        <p:nvSpPr>
          <p:cNvPr id="9" name="Text 7"/>
          <p:cNvSpPr/>
          <p:nvPr/>
        </p:nvSpPr>
        <p:spPr>
          <a:xfrm>
            <a:off x="409575" y="1912441"/>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A78BFA"/>
                </a:solidFill>
                <a:latin typeface="Arial" pitchFamily="34" charset="0"/>
                <a:ea typeface="Arial" pitchFamily="34" charset="-122"/>
                <a:cs typeface="Arial" pitchFamily="34" charset="-120"/>
              </a:rPr>
              <a:t>ENTERPRISE TIER</a:t>
            </a:r>
            <a:endParaRPr lang="en-US" sz="750" dirty="0"/>
          </a:p>
        </p:txBody>
      </p:sp>
      <p:sp>
        <p:nvSpPr>
          <p:cNvPr id="10" name="Text 8"/>
          <p:cNvSpPr/>
          <p:nvPr/>
        </p:nvSpPr>
        <p:spPr>
          <a:xfrm>
            <a:off x="409575" y="2083891"/>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Route Copilot through Azure OpenAI for compliance &amp; data residency.</a:t>
            </a:r>
            <a:endParaRPr lang="en-US" sz="750" dirty="0"/>
          </a:p>
        </p:txBody>
      </p:sp>
      <p:sp>
        <p:nvSpPr>
          <p:cNvPr id="11" name="Text 9"/>
          <p:cNvSpPr/>
          <p:nvPr/>
        </p:nvSpPr>
        <p:spPr>
          <a:xfrm>
            <a:off x="266700" y="2769691"/>
            <a:ext cx="2885777" cy="792212"/>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61950" y="2864941"/>
            <a:ext cx="2749183"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REQUIREMENTS</a:t>
            </a:r>
            <a:endParaRPr lang="en-US" sz="750" dirty="0"/>
          </a:p>
        </p:txBody>
      </p:sp>
      <p:sp>
        <p:nvSpPr>
          <p:cNvPr id="13" name="Text 11"/>
          <p:cNvSpPr/>
          <p:nvPr/>
        </p:nvSpPr>
        <p:spPr>
          <a:xfrm>
            <a:off x="361950" y="3055441"/>
            <a:ext cx="2749183" cy="411212"/>
          </a:xfrm>
          <a:prstGeom prst="rect">
            <a:avLst/>
          </a:prstGeom>
          <a:noFill/>
          <a:ln/>
        </p:spPr>
        <p:txBody>
          <a:bodyPr wrap="square" lIns="0" tIns="0" rIns="0" bIns="0" rtlCol="0" anchor="t"/>
          <a:lstStyle/>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Copilot Enterprise</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Azure OpenAI resource</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GitHub Enterprise Cloud</a:t>
            </a:r>
            <a:endParaRPr lang="en-US" sz="675" dirty="0"/>
          </a:p>
        </p:txBody>
      </p:sp>
      <p:sp>
        <p:nvSpPr>
          <p:cNvPr id="14" name="Text 12"/>
          <p:cNvSpPr/>
          <p:nvPr/>
        </p:nvSpPr>
        <p:spPr>
          <a:xfrm>
            <a:off x="266700" y="4566345"/>
            <a:ext cx="2885777" cy="310455"/>
          </a:xfrm>
          <a:prstGeom prst="rect">
            <a:avLst/>
          </a:prstGeom>
          <a:solidFill>
            <a:srgbClr val="0078D4"/>
          </a:solidFill>
          <a:ln/>
        </p:spPr>
        <p:txBody>
          <a:bodyPr wrap="square" rtlCol="0" anchor="ctr"/>
          <a:lstStyle/>
          <a:p>
            <a:pPr indent="0" marL="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algn="ctr" indent="0" marL="0">
              <a:lnSpc>
                <a:spcPts val="945"/>
              </a:lnSpc>
              <a:buNone/>
            </a:pPr>
            <a:r>
              <a:rPr lang="en-US" sz="675" b="1" dirty="0">
                <a:solidFill>
                  <a:srgbClr val="FFFFFF"/>
                </a:solidFill>
                <a:latin typeface="Arial" pitchFamily="34" charset="0"/>
                <a:ea typeface="Arial" pitchFamily="34" charset="-122"/>
                <a:cs typeface="Arial" pitchFamily="34" charset="-120"/>
              </a:rPr>
              <a:t>$39/user/month + Azure usage</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38277" y="671959"/>
            <a:ext cx="5139803" cy="159990"/>
          </a:xfrm>
          <a:prstGeom prst="rect">
            <a:avLst/>
          </a:prstGeom>
          <a:noFill/>
          <a:ln/>
        </p:spPr>
        <p:txBody>
          <a:bodyPr wrap="square" lIns="0" tIns="0" rIns="0" bIns="0" rtlCol="0" anchor="t"/>
          <a:lstStyle/>
          <a:p>
            <a:pPr algn="l" indent="0" marL="0">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AZURE INTEGRATION SETUP</a:t>
            </a:r>
            <a:endParaRPr lang="en-US" sz="900" dirty="0"/>
          </a:p>
        </p:txBody>
      </p:sp>
      <p:sp>
        <p:nvSpPr>
          <p:cNvPr id="18" name="Text 16"/>
          <p:cNvSpPr/>
          <p:nvPr/>
        </p:nvSpPr>
        <p:spPr>
          <a:xfrm>
            <a:off x="3838277" y="1098649"/>
            <a:ext cx="5039023" cy="714375"/>
          </a:xfrm>
          <a:prstGeom prst="rect">
            <a:avLst/>
          </a:prstGeom>
          <a:solidFill>
            <a:srgbClr val="FFFFFF"/>
          </a:solidFill>
          <a:ln/>
        </p:spPr>
        <p:txBody>
          <a:bodyPr wrap="square" rtlCol="0" anchor="ctr"/>
          <a:lstStyle/>
          <a:p>
            <a:pPr indent="0" marL="0">
              <a:buNone/>
            </a:pPr>
            <a:endParaRPr lang="en-US" dirty="0"/>
          </a:p>
        </p:txBody>
      </p:sp>
      <p:sp>
        <p:nvSpPr>
          <p:cNvPr id="19" name="Shape 17"/>
          <p:cNvSpPr/>
          <p:nvPr/>
        </p:nvSpPr>
        <p:spPr>
          <a:xfrm>
            <a:off x="3852565" y="1098649"/>
            <a:ext cx="0" cy="714375"/>
          </a:xfrm>
          <a:prstGeom prst="line">
            <a:avLst/>
          </a:prstGeom>
          <a:noFill/>
          <a:ln w="28575">
            <a:solidFill>
              <a:srgbClr val="0078D4"/>
            </a:solidFill>
            <a:prstDash val="solid"/>
          </a:ln>
        </p:spPr>
      </p:sp>
      <p:sp>
        <p:nvSpPr>
          <p:cNvPr id="20" name="Text 18"/>
          <p:cNvSpPr/>
          <p:nvPr/>
        </p:nvSpPr>
        <p:spPr>
          <a:xfrm>
            <a:off x="4000202" y="1231999"/>
            <a:ext cx="4838623"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0078D4"/>
                </a:solidFill>
                <a:latin typeface="Arial" pitchFamily="34" charset="0"/>
                <a:ea typeface="Arial" pitchFamily="34" charset="-122"/>
                <a:cs typeface="Arial" pitchFamily="34" charset="-120"/>
              </a:rPr>
              <a:t>STEP 1: AZURE OPENAI RESOURCE</a:t>
            </a:r>
            <a:endParaRPr lang="en-US" sz="750" dirty="0"/>
          </a:p>
        </p:txBody>
      </p:sp>
      <p:sp>
        <p:nvSpPr>
          <p:cNvPr id="21" name="Text 19"/>
          <p:cNvSpPr/>
          <p:nvPr/>
        </p:nvSpPr>
        <p:spPr>
          <a:xfrm>
            <a:off x="4000202" y="1422499"/>
            <a:ext cx="4838623" cy="257175"/>
          </a:xfrm>
          <a:prstGeom prst="rect">
            <a:avLst/>
          </a:prstGeom>
          <a:noFill/>
          <a:ln/>
        </p:spPr>
        <p:txBody>
          <a:bodyPr wrap="square" lIns="0" tIns="0" rIns="0" bIns="0" rtlCol="0" anchor="t"/>
          <a:lstStyle/>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Create Azure OpenAI resource in compliant region. Deploy GPT-4o or GPT-4 Turbo model. Note endpoint URL and deployment name.</a:t>
            </a:r>
            <a:endParaRPr lang="en-US" sz="675" dirty="0"/>
          </a:p>
        </p:txBody>
      </p:sp>
      <p:sp>
        <p:nvSpPr>
          <p:cNvPr id="22" name="Text 20"/>
          <p:cNvSpPr/>
          <p:nvPr/>
        </p:nvSpPr>
        <p:spPr>
          <a:xfrm>
            <a:off x="3838277" y="2060674"/>
            <a:ext cx="5039023" cy="714375"/>
          </a:xfrm>
          <a:prstGeom prst="rect">
            <a:avLst/>
          </a:prstGeom>
          <a:solidFill>
            <a:srgbClr val="FFFFFF"/>
          </a:solidFill>
          <a:ln/>
        </p:spPr>
        <p:txBody>
          <a:bodyPr wrap="square" rtlCol="0" anchor="ctr"/>
          <a:lstStyle/>
          <a:p>
            <a:pPr indent="0" marL="0">
              <a:buNone/>
            </a:pPr>
            <a:endParaRPr lang="en-US" dirty="0"/>
          </a:p>
        </p:txBody>
      </p:sp>
      <p:sp>
        <p:nvSpPr>
          <p:cNvPr id="23" name="Shape 21"/>
          <p:cNvSpPr/>
          <p:nvPr/>
        </p:nvSpPr>
        <p:spPr>
          <a:xfrm>
            <a:off x="3852565" y="2060674"/>
            <a:ext cx="0" cy="714375"/>
          </a:xfrm>
          <a:prstGeom prst="line">
            <a:avLst/>
          </a:prstGeom>
          <a:noFill/>
          <a:ln w="28575">
            <a:solidFill>
              <a:srgbClr val="0078D4"/>
            </a:solidFill>
            <a:prstDash val="solid"/>
          </a:ln>
        </p:spPr>
      </p:sp>
      <p:sp>
        <p:nvSpPr>
          <p:cNvPr id="24" name="Text 22"/>
          <p:cNvSpPr/>
          <p:nvPr/>
        </p:nvSpPr>
        <p:spPr>
          <a:xfrm>
            <a:off x="4000202" y="2194024"/>
            <a:ext cx="4838623"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0078D4"/>
                </a:solidFill>
                <a:latin typeface="Arial" pitchFamily="34" charset="0"/>
                <a:ea typeface="Arial" pitchFamily="34" charset="-122"/>
                <a:cs typeface="Arial" pitchFamily="34" charset="-120"/>
              </a:rPr>
              <a:t>STEP 2: GITHUB ENTERPRISE SETTINGS</a:t>
            </a:r>
            <a:endParaRPr lang="en-US" sz="750" dirty="0"/>
          </a:p>
        </p:txBody>
      </p:sp>
      <p:sp>
        <p:nvSpPr>
          <p:cNvPr id="25" name="Text 23"/>
          <p:cNvSpPr/>
          <p:nvPr/>
        </p:nvSpPr>
        <p:spPr>
          <a:xfrm>
            <a:off x="4000202" y="2384524"/>
            <a:ext cx="4838623" cy="257175"/>
          </a:xfrm>
          <a:prstGeom prst="rect">
            <a:avLst/>
          </a:prstGeom>
          <a:noFill/>
          <a:ln/>
        </p:spPr>
        <p:txBody>
          <a:bodyPr wrap="square" lIns="0" tIns="0" rIns="0" bIns="0" rtlCol="0" anchor="t"/>
          <a:lstStyle/>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In GitHub Enterprise → Settings → Copilot → Azure connection. Enter Azure tenant ID, subscription ID, resource group, and deployment.</a:t>
            </a:r>
            <a:endParaRPr lang="en-US" sz="675" dirty="0"/>
          </a:p>
        </p:txBody>
      </p:sp>
      <p:sp>
        <p:nvSpPr>
          <p:cNvPr id="26" name="Text 24"/>
          <p:cNvSpPr/>
          <p:nvPr/>
        </p:nvSpPr>
        <p:spPr>
          <a:xfrm>
            <a:off x="3838277" y="3022699"/>
            <a:ext cx="5039023" cy="585788"/>
          </a:xfrm>
          <a:prstGeom prst="rect">
            <a:avLst/>
          </a:prstGeom>
          <a:solidFill>
            <a:srgbClr val="FFFFFF"/>
          </a:solidFill>
          <a:ln/>
        </p:spPr>
        <p:txBody>
          <a:bodyPr wrap="square" rtlCol="0" anchor="ctr"/>
          <a:lstStyle/>
          <a:p>
            <a:pPr indent="0" marL="0">
              <a:buNone/>
            </a:pPr>
            <a:endParaRPr lang="en-US" dirty="0"/>
          </a:p>
        </p:txBody>
      </p:sp>
      <p:sp>
        <p:nvSpPr>
          <p:cNvPr id="27" name="Shape 25"/>
          <p:cNvSpPr/>
          <p:nvPr/>
        </p:nvSpPr>
        <p:spPr>
          <a:xfrm>
            <a:off x="3852565" y="3022699"/>
            <a:ext cx="0" cy="585788"/>
          </a:xfrm>
          <a:prstGeom prst="line">
            <a:avLst/>
          </a:prstGeom>
          <a:noFill/>
          <a:ln w="28575">
            <a:solidFill>
              <a:srgbClr val="0078D4"/>
            </a:solidFill>
            <a:prstDash val="solid"/>
          </a:ln>
        </p:spPr>
      </p:sp>
      <p:sp>
        <p:nvSpPr>
          <p:cNvPr id="28" name="Text 26"/>
          <p:cNvSpPr/>
          <p:nvPr/>
        </p:nvSpPr>
        <p:spPr>
          <a:xfrm>
            <a:off x="4000202" y="3156049"/>
            <a:ext cx="4838623"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0078D4"/>
                </a:solidFill>
                <a:latin typeface="Arial" pitchFamily="34" charset="0"/>
                <a:ea typeface="Arial" pitchFamily="34" charset="-122"/>
                <a:cs typeface="Arial" pitchFamily="34" charset="-120"/>
              </a:rPr>
              <a:t>STEP 3: MANAGED IDENTITY</a:t>
            </a:r>
            <a:endParaRPr lang="en-US" sz="750" dirty="0"/>
          </a:p>
        </p:txBody>
      </p:sp>
      <p:sp>
        <p:nvSpPr>
          <p:cNvPr id="29" name="Text 27"/>
          <p:cNvSpPr/>
          <p:nvPr/>
        </p:nvSpPr>
        <p:spPr>
          <a:xfrm>
            <a:off x="4000202" y="3346549"/>
            <a:ext cx="4838623" cy="128588"/>
          </a:xfrm>
          <a:prstGeom prst="rect">
            <a:avLst/>
          </a:prstGeom>
          <a:noFill/>
          <a:ln/>
        </p:spPr>
        <p:txBody>
          <a:bodyPr wrap="square" lIns="0" tIns="0" rIns="0" bIns="0" rtlCol="0" anchor="t"/>
          <a:lstStyle/>
          <a:p>
            <a:pPr algn="l" indent="0" marL="0">
              <a:lnSpc>
                <a:spcPts val="1013"/>
              </a:lnSpc>
              <a:buNone/>
            </a:pPr>
            <a:r>
              <a:rPr lang="en-US" sz="675" dirty="0">
                <a:solidFill>
                  <a:srgbClr val="6B7280"/>
                </a:solidFill>
                <a:latin typeface="Arial" pitchFamily="34" charset="0"/>
                <a:ea typeface="Arial" pitchFamily="34" charset="-122"/>
                <a:cs typeface="Arial" pitchFamily="34" charset="-120"/>
              </a:rPr>
              <a:t>Configure Azure AD app registration. Grant "Cognitive Services OpenAI User" role. No API keys stored in GitHub.</a:t>
            </a:r>
            <a:endParaRPr lang="en-US" sz="675" dirty="0"/>
          </a:p>
        </p:txBody>
      </p:sp>
      <p:sp>
        <p:nvSpPr>
          <p:cNvPr id="30" name="Text 28"/>
          <p:cNvSpPr/>
          <p:nvPr/>
        </p:nvSpPr>
        <p:spPr>
          <a:xfrm>
            <a:off x="3838277" y="3875187"/>
            <a:ext cx="5039023" cy="596205"/>
          </a:xfrm>
          <a:prstGeom prst="rect">
            <a:avLst/>
          </a:prstGeom>
          <a:solidFill>
            <a:srgbClr val="1A1F2E"/>
          </a:solidFill>
          <a:ln/>
        </p:spPr>
        <p:txBody>
          <a:bodyPr wrap="square" rtlCol="0" anchor="ctr"/>
          <a:lstStyle/>
          <a:p>
            <a:pPr indent="0" marL="0">
              <a:buNone/>
            </a:pPr>
            <a:endParaRPr lang="en-US" dirty="0"/>
          </a:p>
        </p:txBody>
      </p:sp>
      <p:sp>
        <p:nvSpPr>
          <p:cNvPr id="31" name="Text 29"/>
          <p:cNvSpPr/>
          <p:nvPr/>
        </p:nvSpPr>
        <p:spPr>
          <a:xfrm>
            <a:off x="3971627" y="4008537"/>
            <a:ext cx="4867769" cy="133350"/>
          </a:xfrm>
          <a:prstGeom prst="rect">
            <a:avLst/>
          </a:prstGeom>
          <a:noFill/>
          <a:ln/>
        </p:spPr>
        <p:txBody>
          <a:bodyPr wrap="square" lIns="0" tIns="0" rIns="0" bIns="0" rtlCol="0" anchor="t"/>
          <a:lstStyle/>
          <a:p>
            <a:pPr algn="l" indent="0" marL="0">
              <a:lnSpc>
                <a:spcPts val="1050"/>
              </a:lnSpc>
              <a:spcAft>
                <a:spcPts val="600"/>
              </a:spcAft>
              <a:buNone/>
            </a:pPr>
            <a:r>
              <a:rPr lang="en-US" sz="750" b="1" dirty="0">
                <a:solidFill>
                  <a:srgbClr val="C9A227"/>
                </a:solidFill>
                <a:latin typeface="Arial" pitchFamily="34" charset="0"/>
                <a:ea typeface="Arial" pitchFamily="34" charset="-122"/>
                <a:cs typeface="Arial" pitchFamily="34" charset="-120"/>
              </a:rPr>
              <a:t>ENTERPRISE BENEFITS</a:t>
            </a:r>
            <a:endParaRPr lang="en-US" sz="750" dirty="0"/>
          </a:p>
        </p:txBody>
      </p:sp>
      <p:sp>
        <p:nvSpPr>
          <p:cNvPr id="32" name="Text 30"/>
          <p:cNvSpPr/>
          <p:nvPr/>
        </p:nvSpPr>
        <p:spPr>
          <a:xfrm>
            <a:off x="3971627" y="4218087"/>
            <a:ext cx="1544916" cy="119955"/>
          </a:xfrm>
          <a:prstGeom prst="rect">
            <a:avLst/>
          </a:prstGeom>
          <a:noFill/>
          <a:ln/>
        </p:spPr>
        <p:txBody>
          <a:bodyPr wrap="square" lIns="0" tIns="0" rIns="0" bIns="0" rtlCol="0" anchor="t"/>
          <a:lstStyle/>
          <a:p>
            <a:pPr algn="l" indent="0" marL="0">
              <a:lnSpc>
                <a:spcPts val="945"/>
              </a:lnSpc>
              <a:buNone/>
            </a:pPr>
            <a:r>
              <a:rPr lang="en-US" sz="675" dirty="0">
                <a:solidFill>
                  <a:srgbClr val="6EE7B7"/>
                </a:solidFill>
                <a:latin typeface="Arial" pitchFamily="34" charset="0"/>
                <a:ea typeface="Arial" pitchFamily="34" charset="-122"/>
                <a:cs typeface="Arial" pitchFamily="34" charset="-120"/>
              </a:rPr>
              <a:t>✓ Data stays in your tenant</a:t>
            </a:r>
            <a:endParaRPr lang="en-US" sz="675" dirty="0"/>
          </a:p>
        </p:txBody>
      </p:sp>
      <p:sp>
        <p:nvSpPr>
          <p:cNvPr id="33" name="Text 31"/>
          <p:cNvSpPr/>
          <p:nvPr/>
        </p:nvSpPr>
        <p:spPr>
          <a:xfrm>
            <a:off x="5600551" y="4218087"/>
            <a:ext cx="1544916" cy="119955"/>
          </a:xfrm>
          <a:prstGeom prst="rect">
            <a:avLst/>
          </a:prstGeom>
          <a:noFill/>
          <a:ln/>
        </p:spPr>
        <p:txBody>
          <a:bodyPr wrap="square" lIns="0" tIns="0" rIns="0" bIns="0" rtlCol="0" anchor="t"/>
          <a:lstStyle/>
          <a:p>
            <a:pPr algn="l" indent="0" marL="0">
              <a:lnSpc>
                <a:spcPts val="945"/>
              </a:lnSpc>
              <a:buNone/>
            </a:pPr>
            <a:r>
              <a:rPr lang="en-US" sz="675" dirty="0">
                <a:solidFill>
                  <a:srgbClr val="6EE7B7"/>
                </a:solidFill>
                <a:latin typeface="Arial" pitchFamily="34" charset="0"/>
                <a:ea typeface="Arial" pitchFamily="34" charset="-122"/>
                <a:cs typeface="Arial" pitchFamily="34" charset="-120"/>
              </a:rPr>
              <a:t>✓ Compliance controls</a:t>
            </a:r>
            <a:endParaRPr lang="en-US" sz="675" dirty="0"/>
          </a:p>
        </p:txBody>
      </p:sp>
      <p:sp>
        <p:nvSpPr>
          <p:cNvPr id="34" name="Text 32"/>
          <p:cNvSpPr/>
          <p:nvPr/>
        </p:nvSpPr>
        <p:spPr>
          <a:xfrm>
            <a:off x="7229475" y="4218087"/>
            <a:ext cx="1544916" cy="119955"/>
          </a:xfrm>
          <a:prstGeom prst="rect">
            <a:avLst/>
          </a:prstGeom>
          <a:noFill/>
          <a:ln/>
        </p:spPr>
        <p:txBody>
          <a:bodyPr wrap="square" lIns="0" tIns="0" rIns="0" bIns="0" rtlCol="0" anchor="t"/>
          <a:lstStyle/>
          <a:p>
            <a:pPr algn="l" indent="0" marL="0">
              <a:lnSpc>
                <a:spcPts val="945"/>
              </a:lnSpc>
              <a:buNone/>
            </a:pPr>
            <a:r>
              <a:rPr lang="en-US" sz="675" dirty="0">
                <a:solidFill>
                  <a:srgbClr val="6EE7B7"/>
                </a:solidFill>
                <a:latin typeface="Arial" pitchFamily="34" charset="0"/>
                <a:ea typeface="Arial" pitchFamily="34" charset="-122"/>
                <a:cs typeface="Arial" pitchFamily="34" charset="-120"/>
              </a:rPr>
              <a:t>✓ Usage monitoring</a:t>
            </a:r>
            <a:endParaRPr lang="en-US" sz="6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733425" cy="182761"/>
          </a:xfrm>
          <a:prstGeom prst="rect">
            <a:avLst/>
          </a:prstGeom>
          <a:solidFill>
            <a:srgbClr val="00A4EF"/>
          </a:solidFill>
          <a:ln/>
        </p:spPr>
        <p:txBody>
          <a:bodyPr wrap="square" rtlCol="0" anchor="ctr"/>
          <a:lstStyle/>
          <a:p>
            <a:pPr indent="0" marL="0">
              <a:buNone/>
            </a:pPr>
            <a:endParaRPr lang="en-US" dirty="0"/>
          </a:p>
        </p:txBody>
      </p:sp>
      <p:sp>
        <p:nvSpPr>
          <p:cNvPr id="4" name="Text 2"/>
          <p:cNvSpPr/>
          <p:nvPr/>
        </p:nvSpPr>
        <p:spPr>
          <a:xfrm>
            <a:off x="361950" y="304800"/>
            <a:ext cx="553784" cy="106561"/>
          </a:xfrm>
          <a:prstGeom prst="rect">
            <a:avLst/>
          </a:prstGeom>
          <a:noFill/>
          <a:ln/>
        </p:spPr>
        <p:txBody>
          <a:bodyPr wrap="square" lIns="0" tIns="0" rIns="0" bIns="0" rtlCol="0" anchor="t"/>
          <a:lstStyle/>
          <a:p>
            <a:pPr algn="l" indent="0" marL="0">
              <a:lnSpc>
                <a:spcPts val="840"/>
              </a:lnSpc>
              <a:buNone/>
            </a:pPr>
            <a:r>
              <a:rPr lang="en-US" sz="600" b="1" dirty="0">
                <a:solidFill>
                  <a:srgbClr val="FFFFFF"/>
                </a:solidFill>
                <a:latin typeface="Arial" pitchFamily="34" charset="0"/>
                <a:ea typeface="Arial" pitchFamily="34" charset="-122"/>
                <a:cs typeface="Arial" pitchFamily="34" charset="-120"/>
              </a:rPr>
              <a:t>MICROSOFT</a:t>
            </a:r>
            <a:endParaRPr lang="en-US" sz="600" dirty="0"/>
          </a:p>
        </p:txBody>
      </p:sp>
      <p:sp>
        <p:nvSpPr>
          <p:cNvPr id="5" name="Text 3"/>
          <p:cNvSpPr/>
          <p:nvPr/>
        </p:nvSpPr>
        <p:spPr>
          <a:xfrm>
            <a:off x="266700" y="697111"/>
            <a:ext cx="1476756" cy="594122"/>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Foundry</a:t>
            </a:r>
            <a:endParaRPr lang="en-US" sz="1950" dirty="0"/>
          </a:p>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Local</a:t>
            </a:r>
            <a:endParaRPr lang="en-US" sz="1950" dirty="0"/>
          </a:p>
        </p:txBody>
      </p:sp>
      <p:sp>
        <p:nvSpPr>
          <p:cNvPr id="6" name="Text 4"/>
          <p:cNvSpPr/>
          <p:nvPr/>
        </p:nvSpPr>
        <p:spPr>
          <a:xfrm>
            <a:off x="266700" y="1538883"/>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843683"/>
            <a:ext cx="2885777" cy="685800"/>
          </a:xfrm>
          <a:prstGeom prst="rect">
            <a:avLst/>
          </a:prstGeom>
          <a:solidFill>
            <a:srgbClr val="00A4EF">
              <a:alpha val="15000"/>
            </a:srgbClr>
          </a:solidFill>
          <a:ln/>
        </p:spPr>
        <p:txBody>
          <a:bodyPr wrap="square" rtlCol="0" anchor="ctr"/>
          <a:lstStyle/>
          <a:p>
            <a:pPr indent="0" marL="0">
              <a:buNone/>
            </a:pPr>
            <a:endParaRPr lang="en-US" dirty="0"/>
          </a:p>
        </p:txBody>
      </p:sp>
      <p:sp>
        <p:nvSpPr>
          <p:cNvPr id="8" name="Shape 6"/>
          <p:cNvSpPr/>
          <p:nvPr/>
        </p:nvSpPr>
        <p:spPr>
          <a:xfrm>
            <a:off x="280988" y="1843683"/>
            <a:ext cx="0" cy="685800"/>
          </a:xfrm>
          <a:prstGeom prst="line">
            <a:avLst/>
          </a:prstGeom>
          <a:noFill/>
          <a:ln w="28575">
            <a:solidFill>
              <a:srgbClr val="00A4EF"/>
            </a:solidFill>
            <a:prstDash val="solid"/>
          </a:ln>
        </p:spPr>
      </p:sp>
      <p:sp>
        <p:nvSpPr>
          <p:cNvPr id="9" name="Text 7"/>
          <p:cNvSpPr/>
          <p:nvPr/>
        </p:nvSpPr>
        <p:spPr>
          <a:xfrm>
            <a:off x="409575" y="1957983"/>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7DD3FC"/>
                </a:solidFill>
                <a:latin typeface="Arial" pitchFamily="34" charset="0"/>
                <a:ea typeface="Arial" pitchFamily="34" charset="-122"/>
                <a:cs typeface="Arial" pitchFamily="34" charset="-120"/>
              </a:rPr>
              <a:t>RUNS LOCALLY</a:t>
            </a:r>
            <a:endParaRPr lang="en-US" sz="750" dirty="0"/>
          </a:p>
        </p:txBody>
      </p:sp>
      <p:sp>
        <p:nvSpPr>
          <p:cNvPr id="10" name="Text 8"/>
          <p:cNvSpPr/>
          <p:nvPr/>
        </p:nvSpPr>
        <p:spPr>
          <a:xfrm>
            <a:off x="409575" y="2129433"/>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Microsoft's solution for running SLMs on your machine. No cloud required.</a:t>
            </a:r>
            <a:endParaRPr lang="en-US" sz="750" dirty="0"/>
          </a:p>
        </p:txBody>
      </p:sp>
      <p:sp>
        <p:nvSpPr>
          <p:cNvPr id="11" name="Text 9"/>
          <p:cNvSpPr/>
          <p:nvPr/>
        </p:nvSpPr>
        <p:spPr>
          <a:xfrm>
            <a:off x="266700" y="2815233"/>
            <a:ext cx="2885777" cy="792212"/>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61950" y="2910483"/>
            <a:ext cx="2749183"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INCLUDED MODELS</a:t>
            </a:r>
            <a:endParaRPr lang="en-US" sz="750" dirty="0"/>
          </a:p>
        </p:txBody>
      </p:sp>
      <p:sp>
        <p:nvSpPr>
          <p:cNvPr id="13" name="Text 11"/>
          <p:cNvSpPr/>
          <p:nvPr/>
        </p:nvSpPr>
        <p:spPr>
          <a:xfrm>
            <a:off x="361950" y="3100983"/>
            <a:ext cx="2749183" cy="411212"/>
          </a:xfrm>
          <a:prstGeom prst="rect">
            <a:avLst/>
          </a:prstGeom>
          <a:noFill/>
          <a:ln/>
        </p:spPr>
        <p:txBody>
          <a:bodyPr wrap="square" lIns="0" tIns="0" rIns="0" bIns="0" rtlCol="0" anchor="t"/>
          <a:lstStyle/>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Phi-4 (14B params)</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Phi-3.5 variants</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Mistral, Llama 3.2</a:t>
            </a:r>
            <a:endParaRPr lang="en-US" sz="675" dirty="0"/>
          </a:p>
        </p:txBody>
      </p:sp>
      <p:sp>
        <p:nvSpPr>
          <p:cNvPr id="14" name="Text 12"/>
          <p:cNvSpPr/>
          <p:nvPr/>
        </p:nvSpPr>
        <p:spPr>
          <a:xfrm>
            <a:off x="266700" y="4566345"/>
            <a:ext cx="2885777" cy="310455"/>
          </a:xfrm>
          <a:prstGeom prst="rect">
            <a:avLst/>
          </a:prstGeom>
          <a:solidFill>
            <a:srgbClr val="059669"/>
          </a:solidFill>
          <a:ln/>
        </p:spPr>
        <p:txBody>
          <a:bodyPr wrap="square" rtlCol="0" anchor="ctr"/>
          <a:lstStyle/>
          <a:p>
            <a:pPr indent="0" marL="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algn="ctr" indent="0" marL="0">
              <a:lnSpc>
                <a:spcPts val="945"/>
              </a:lnSpc>
              <a:buNone/>
            </a:pPr>
            <a:r>
              <a:rPr lang="en-US" sz="675" b="1" dirty="0">
                <a:solidFill>
                  <a:srgbClr val="FFFFFF"/>
                </a:solidFill>
                <a:latin typeface="Arial" pitchFamily="34" charset="0"/>
                <a:ea typeface="Arial" pitchFamily="34" charset="-122"/>
                <a:cs typeface="Arial" pitchFamily="34" charset="-120"/>
              </a:rPr>
              <a:t>Free • Air-gapped capable</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38277" y="726132"/>
            <a:ext cx="5139803" cy="159990"/>
          </a:xfrm>
          <a:prstGeom prst="rect">
            <a:avLst/>
          </a:prstGeom>
          <a:noFill/>
          <a:ln/>
        </p:spPr>
        <p:txBody>
          <a:bodyPr wrap="square" lIns="0" tIns="0" rIns="0" bIns="0" rtlCol="0" anchor="t"/>
          <a:lstStyle/>
          <a:p>
            <a:pPr algn="l" indent="0" marL="0">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SETUP &amp; CONFIGURATION</a:t>
            </a:r>
            <a:endParaRPr lang="en-US" sz="900" dirty="0"/>
          </a:p>
        </p:txBody>
      </p:sp>
      <p:sp>
        <p:nvSpPr>
          <p:cNvPr id="18" name="Text 16"/>
          <p:cNvSpPr/>
          <p:nvPr/>
        </p:nvSpPr>
        <p:spPr>
          <a:xfrm>
            <a:off x="3838277" y="1152823"/>
            <a:ext cx="5039023" cy="740866"/>
          </a:xfrm>
          <a:prstGeom prst="rect">
            <a:avLst/>
          </a:prstGeom>
          <a:solidFill>
            <a:srgbClr val="1A1F2E"/>
          </a:solidFill>
          <a:ln/>
        </p:spPr>
        <p:txBody>
          <a:bodyPr wrap="square" rtlCol="0" anchor="ctr"/>
          <a:lstStyle/>
          <a:p>
            <a:pPr indent="0" marL="0">
              <a:buNone/>
            </a:pPr>
            <a:endParaRPr lang="en-US" dirty="0"/>
          </a:p>
        </p:txBody>
      </p:sp>
      <p:sp>
        <p:nvSpPr>
          <p:cNvPr id="19" name="Text 17"/>
          <p:cNvSpPr/>
          <p:nvPr/>
        </p:nvSpPr>
        <p:spPr>
          <a:xfrm>
            <a:off x="3971627" y="1286173"/>
            <a:ext cx="4867769" cy="106561"/>
          </a:xfrm>
          <a:prstGeom prst="rect">
            <a:avLst/>
          </a:prstGeom>
          <a:noFill/>
          <a:ln/>
        </p:spPr>
        <p:txBody>
          <a:bodyPr wrap="square" lIns="0" tIns="0" rIns="0" bIns="0" rtlCol="0" anchor="t"/>
          <a:lstStyle/>
          <a:p>
            <a:pPr algn="l" indent="0" marL="0">
              <a:lnSpc>
                <a:spcPts val="840"/>
              </a:lnSpc>
              <a:spcAft>
                <a:spcPts val="600"/>
              </a:spcAft>
              <a:buNone/>
            </a:pPr>
            <a:r>
              <a:rPr lang="en-US" sz="600" dirty="0">
                <a:solidFill>
                  <a:srgbClr val="C9A227"/>
                </a:solidFill>
                <a:latin typeface="Arial" pitchFamily="34" charset="0"/>
                <a:ea typeface="Arial" pitchFamily="34" charset="-122"/>
                <a:cs typeface="Arial" pitchFamily="34" charset="-120"/>
              </a:rPr>
              <a:t>INSTALLATION</a:t>
            </a:r>
            <a:endParaRPr lang="en-US" sz="600" dirty="0"/>
          </a:p>
        </p:txBody>
      </p:sp>
      <p:sp>
        <p:nvSpPr>
          <p:cNvPr id="20" name="Text 18"/>
          <p:cNvSpPr/>
          <p:nvPr/>
        </p:nvSpPr>
        <p:spPr>
          <a:xfrm>
            <a:off x="3971627" y="1468934"/>
            <a:ext cx="4867769" cy="133350"/>
          </a:xfrm>
          <a:prstGeom prst="rect">
            <a:avLst/>
          </a:prstGeom>
          <a:noFill/>
          <a:ln/>
        </p:spPr>
        <p:txBody>
          <a:bodyPr wrap="square" lIns="0" tIns="0" rIns="0" bIns="0" rtlCol="0" anchor="t"/>
          <a:lstStyle/>
          <a:p>
            <a:pPr algn="l" indent="0" marL="0">
              <a:lnSpc>
                <a:spcPts val="1050"/>
              </a:lnSpc>
              <a:spcAft>
                <a:spcPts val="300"/>
              </a:spcAft>
              <a:buNone/>
            </a:pPr>
            <a:r>
              <a:rPr lang="en-US" sz="750" dirty="0">
                <a:solidFill>
                  <a:srgbClr val="6EE7B7"/>
                </a:solidFill>
                <a:latin typeface="Arial" pitchFamily="34" charset="0"/>
                <a:ea typeface="Arial" pitchFamily="34" charset="-122"/>
                <a:cs typeface="Arial" pitchFamily="34" charset="-120"/>
              </a:rPr>
              <a:t>$ winget install Microsoft.AI.Foundry</a:t>
            </a:r>
            <a:endParaRPr lang="en-US" sz="750" dirty="0"/>
          </a:p>
        </p:txBody>
      </p:sp>
      <p:sp>
        <p:nvSpPr>
          <p:cNvPr id="21" name="Text 19"/>
          <p:cNvSpPr/>
          <p:nvPr/>
        </p:nvSpPr>
        <p:spPr>
          <a:xfrm>
            <a:off x="3971627" y="1640384"/>
            <a:ext cx="4867769" cy="119955"/>
          </a:xfrm>
          <a:prstGeom prst="rect">
            <a:avLst/>
          </a:prstGeom>
          <a:noFill/>
          <a:ln/>
        </p:spPr>
        <p:txBody>
          <a:bodyPr wrap="square" lIns="0" tIns="0" rIns="0" bIns="0" rtlCol="0" anchor="t"/>
          <a:lstStyle/>
          <a:p>
            <a:pPr algn="l" indent="0" marL="0">
              <a:lnSpc>
                <a:spcPts val="945"/>
              </a:lnSpc>
              <a:buNone/>
            </a:pPr>
            <a:r>
              <a:rPr lang="en-US" sz="675" dirty="0">
                <a:solidFill>
                  <a:srgbClr val="FFFFFF">
                    <a:alpha val="50000"/>
                  </a:srgbClr>
                </a:solidFill>
                <a:latin typeface="Arial" pitchFamily="34" charset="0"/>
                <a:ea typeface="Arial" pitchFamily="34" charset="-122"/>
                <a:cs typeface="Arial" pitchFamily="34" charset="-120"/>
              </a:rPr>
              <a:t>or download from aka.ms/foundry-local</a:t>
            </a:r>
            <a:endParaRPr lang="en-US" sz="675" dirty="0"/>
          </a:p>
        </p:txBody>
      </p:sp>
      <p:sp>
        <p:nvSpPr>
          <p:cNvPr id="22" name="Text 20"/>
          <p:cNvSpPr/>
          <p:nvPr/>
        </p:nvSpPr>
        <p:spPr>
          <a:xfrm>
            <a:off x="3838277" y="2141339"/>
            <a:ext cx="2471886" cy="613172"/>
          </a:xfrm>
          <a:prstGeom prst="rect">
            <a:avLst/>
          </a:prstGeom>
          <a:solidFill>
            <a:srgbClr val="FFFFFF"/>
          </a:solidFill>
          <a:ln/>
        </p:spPr>
        <p:txBody>
          <a:bodyPr wrap="square" rtlCol="0" anchor="ctr"/>
          <a:lstStyle/>
          <a:p>
            <a:pPr indent="0" marL="0">
              <a:buNone/>
            </a:pPr>
            <a:endParaRPr lang="en-US" dirty="0"/>
          </a:p>
        </p:txBody>
      </p:sp>
      <p:sp>
        <p:nvSpPr>
          <p:cNvPr id="23" name="Shape 21"/>
          <p:cNvSpPr/>
          <p:nvPr/>
        </p:nvSpPr>
        <p:spPr>
          <a:xfrm>
            <a:off x="3852565" y="2141339"/>
            <a:ext cx="0" cy="613172"/>
          </a:xfrm>
          <a:prstGeom prst="line">
            <a:avLst/>
          </a:prstGeom>
          <a:noFill/>
          <a:ln w="28575">
            <a:solidFill>
              <a:srgbClr val="00A4EF"/>
            </a:solidFill>
            <a:prstDash val="solid"/>
          </a:ln>
        </p:spPr>
      </p:sp>
      <p:sp>
        <p:nvSpPr>
          <p:cNvPr id="24" name="Text 22"/>
          <p:cNvSpPr/>
          <p:nvPr/>
        </p:nvSpPr>
        <p:spPr>
          <a:xfrm>
            <a:off x="3981152" y="2255639"/>
            <a:ext cx="225900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00A4EF"/>
                </a:solidFill>
                <a:latin typeface="Arial" pitchFamily="34" charset="0"/>
                <a:ea typeface="Arial" pitchFamily="34" charset="-122"/>
                <a:cs typeface="Arial" pitchFamily="34" charset="-120"/>
              </a:rPr>
              <a:t>VS CODE INTEGRATION</a:t>
            </a:r>
            <a:endParaRPr lang="en-US" sz="750" dirty="0"/>
          </a:p>
        </p:txBody>
      </p:sp>
      <p:sp>
        <p:nvSpPr>
          <p:cNvPr id="25" name="Text 23"/>
          <p:cNvSpPr/>
          <p:nvPr/>
        </p:nvSpPr>
        <p:spPr>
          <a:xfrm>
            <a:off x="3981152" y="2427089"/>
            <a:ext cx="2259006"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Works with Copilot Chat and AI Toolkit. Select "Local Model" in model picker.</a:t>
            </a:r>
            <a:endParaRPr lang="en-US" sz="600" dirty="0"/>
          </a:p>
        </p:txBody>
      </p:sp>
      <p:sp>
        <p:nvSpPr>
          <p:cNvPr id="26" name="Text 24"/>
          <p:cNvSpPr/>
          <p:nvPr/>
        </p:nvSpPr>
        <p:spPr>
          <a:xfrm>
            <a:off x="6405414" y="2141339"/>
            <a:ext cx="2471886" cy="613172"/>
          </a:xfrm>
          <a:prstGeom prst="rect">
            <a:avLst/>
          </a:prstGeom>
          <a:solidFill>
            <a:srgbClr val="FFFFFF"/>
          </a:solidFill>
          <a:ln/>
        </p:spPr>
        <p:txBody>
          <a:bodyPr wrap="square" rtlCol="0" anchor="ctr"/>
          <a:lstStyle/>
          <a:p>
            <a:pPr indent="0" marL="0">
              <a:buNone/>
            </a:pPr>
            <a:endParaRPr lang="en-US" dirty="0"/>
          </a:p>
        </p:txBody>
      </p:sp>
      <p:sp>
        <p:nvSpPr>
          <p:cNvPr id="27" name="Shape 25"/>
          <p:cNvSpPr/>
          <p:nvPr/>
        </p:nvSpPr>
        <p:spPr>
          <a:xfrm>
            <a:off x="6419701" y="2141339"/>
            <a:ext cx="0" cy="613172"/>
          </a:xfrm>
          <a:prstGeom prst="line">
            <a:avLst/>
          </a:prstGeom>
          <a:noFill/>
          <a:ln w="28575">
            <a:solidFill>
              <a:srgbClr val="00A4EF"/>
            </a:solidFill>
            <a:prstDash val="solid"/>
          </a:ln>
        </p:spPr>
      </p:sp>
      <p:sp>
        <p:nvSpPr>
          <p:cNvPr id="28" name="Text 26"/>
          <p:cNvSpPr/>
          <p:nvPr/>
        </p:nvSpPr>
        <p:spPr>
          <a:xfrm>
            <a:off x="6548289" y="2255639"/>
            <a:ext cx="225900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00A4EF"/>
                </a:solidFill>
                <a:latin typeface="Arial" pitchFamily="34" charset="0"/>
                <a:ea typeface="Arial" pitchFamily="34" charset="-122"/>
                <a:cs typeface="Arial" pitchFamily="34" charset="-120"/>
              </a:rPr>
              <a:t>OPENAI-COMPATIBLE</a:t>
            </a:r>
            <a:endParaRPr lang="en-US" sz="750" dirty="0"/>
          </a:p>
        </p:txBody>
      </p:sp>
      <p:sp>
        <p:nvSpPr>
          <p:cNvPr id="29" name="Text 27"/>
          <p:cNvSpPr/>
          <p:nvPr/>
        </p:nvSpPr>
        <p:spPr>
          <a:xfrm>
            <a:off x="6548289" y="2427089"/>
            <a:ext cx="2259006"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Exposes localhost:5272 endpoint. Works with any OpenAI-compatible extension.</a:t>
            </a:r>
            <a:endParaRPr lang="en-US" sz="600" dirty="0"/>
          </a:p>
        </p:txBody>
      </p:sp>
      <p:sp>
        <p:nvSpPr>
          <p:cNvPr id="30" name="Text 28"/>
          <p:cNvSpPr/>
          <p:nvPr/>
        </p:nvSpPr>
        <p:spPr>
          <a:xfrm>
            <a:off x="3838277" y="3002161"/>
            <a:ext cx="5039023" cy="702766"/>
          </a:xfrm>
          <a:prstGeom prst="rect">
            <a:avLst/>
          </a:prstGeom>
          <a:solidFill>
            <a:srgbClr val="FFFFFF"/>
          </a:solidFill>
          <a:ln/>
        </p:spPr>
        <p:txBody>
          <a:bodyPr wrap="square" rtlCol="0" anchor="ctr"/>
          <a:lstStyle/>
          <a:p>
            <a:pPr indent="0" marL="0">
              <a:buNone/>
            </a:pPr>
            <a:endParaRPr lang="en-US" dirty="0"/>
          </a:p>
        </p:txBody>
      </p:sp>
      <p:sp>
        <p:nvSpPr>
          <p:cNvPr id="31" name="Shape 29"/>
          <p:cNvSpPr/>
          <p:nvPr/>
        </p:nvSpPr>
        <p:spPr>
          <a:xfrm>
            <a:off x="3852565" y="3002161"/>
            <a:ext cx="0" cy="702766"/>
          </a:xfrm>
          <a:prstGeom prst="line">
            <a:avLst/>
          </a:prstGeom>
          <a:noFill/>
          <a:ln w="28575">
            <a:solidFill>
              <a:srgbClr val="C9A227"/>
            </a:solidFill>
            <a:prstDash val="solid"/>
          </a:ln>
        </p:spPr>
      </p:sp>
      <p:sp>
        <p:nvSpPr>
          <p:cNvPr id="32" name="Text 30"/>
          <p:cNvSpPr/>
          <p:nvPr/>
        </p:nvSpPr>
        <p:spPr>
          <a:xfrm>
            <a:off x="4000202" y="3135511"/>
            <a:ext cx="4838623"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C9A227"/>
                </a:solidFill>
                <a:latin typeface="Arial" pitchFamily="34" charset="0"/>
                <a:ea typeface="Arial" pitchFamily="34" charset="-122"/>
                <a:cs typeface="Arial" pitchFamily="34" charset="-120"/>
              </a:rPr>
              <a:t>HARDWARE REQUIREMENTS</a:t>
            </a:r>
            <a:endParaRPr lang="en-US" sz="750" dirty="0"/>
          </a:p>
        </p:txBody>
      </p:sp>
      <p:sp>
        <p:nvSpPr>
          <p:cNvPr id="33" name="Text 31"/>
          <p:cNvSpPr/>
          <p:nvPr/>
        </p:nvSpPr>
        <p:spPr>
          <a:xfrm>
            <a:off x="4000202" y="3326011"/>
            <a:ext cx="1509242" cy="106561"/>
          </a:xfrm>
          <a:prstGeom prst="rect">
            <a:avLst/>
          </a:prstGeom>
          <a:noFill/>
          <a:ln/>
        </p:spPr>
        <p:txBody>
          <a:bodyPr wrap="square" lIns="0" tIns="0" rIns="0" bIns="0" rtlCol="0" anchor="t"/>
          <a:lstStyle/>
          <a:p>
            <a:pPr algn="l" indent="0" marL="0">
              <a:lnSpc>
                <a:spcPts val="840"/>
              </a:lnSpc>
              <a:buNone/>
            </a:pPr>
            <a:r>
              <a:rPr lang="en-US" sz="600" dirty="0">
                <a:solidFill>
                  <a:srgbClr val="9CA3AF"/>
                </a:solidFill>
                <a:latin typeface="Arial" pitchFamily="34" charset="0"/>
                <a:ea typeface="Arial" pitchFamily="34" charset="-122"/>
                <a:cs typeface="Arial" pitchFamily="34" charset="-120"/>
              </a:rPr>
              <a:t>MINIMUM</a:t>
            </a:r>
            <a:endParaRPr lang="en-US" sz="600" dirty="0"/>
          </a:p>
        </p:txBody>
      </p:sp>
      <p:sp>
        <p:nvSpPr>
          <p:cNvPr id="34" name="Text 32"/>
          <p:cNvSpPr/>
          <p:nvPr/>
        </p:nvSpPr>
        <p:spPr>
          <a:xfrm>
            <a:off x="4000202" y="3451622"/>
            <a:ext cx="1509242" cy="119955"/>
          </a:xfrm>
          <a:prstGeom prst="rect">
            <a:avLst/>
          </a:prstGeom>
          <a:noFill/>
          <a:ln/>
        </p:spPr>
        <p:txBody>
          <a:bodyPr wrap="square" lIns="0" tIns="0" rIns="0" bIns="0" rtlCol="0" anchor="t"/>
          <a:lstStyle/>
          <a:p>
            <a:pPr algn="l" indent="0" marL="0">
              <a:lnSpc>
                <a:spcPts val="945"/>
              </a:lnSpc>
              <a:spcBef>
                <a:spcPts val="150"/>
              </a:spcBef>
              <a:buNone/>
            </a:pPr>
            <a:r>
              <a:rPr lang="en-US" sz="675" dirty="0">
                <a:solidFill>
                  <a:srgbClr val="1A1F2E"/>
                </a:solidFill>
                <a:latin typeface="Arial" pitchFamily="34" charset="0"/>
                <a:ea typeface="Arial" pitchFamily="34" charset="-122"/>
                <a:cs typeface="Arial" pitchFamily="34" charset="-120"/>
              </a:rPr>
              <a:t>16GB RAM, 8GB VRAM</a:t>
            </a:r>
            <a:endParaRPr lang="en-US" sz="675" dirty="0"/>
          </a:p>
        </p:txBody>
      </p:sp>
      <p:sp>
        <p:nvSpPr>
          <p:cNvPr id="35" name="Text 33"/>
          <p:cNvSpPr/>
          <p:nvPr/>
        </p:nvSpPr>
        <p:spPr>
          <a:xfrm>
            <a:off x="5632252" y="3326011"/>
            <a:ext cx="1509242" cy="106561"/>
          </a:xfrm>
          <a:prstGeom prst="rect">
            <a:avLst/>
          </a:prstGeom>
          <a:noFill/>
          <a:ln/>
        </p:spPr>
        <p:txBody>
          <a:bodyPr wrap="square" lIns="0" tIns="0" rIns="0" bIns="0" rtlCol="0" anchor="t"/>
          <a:lstStyle/>
          <a:p>
            <a:pPr algn="l" indent="0" marL="0">
              <a:lnSpc>
                <a:spcPts val="840"/>
              </a:lnSpc>
              <a:buNone/>
            </a:pPr>
            <a:r>
              <a:rPr lang="en-US" sz="600" dirty="0">
                <a:solidFill>
                  <a:srgbClr val="9CA3AF"/>
                </a:solidFill>
                <a:latin typeface="Arial" pitchFamily="34" charset="0"/>
                <a:ea typeface="Arial" pitchFamily="34" charset="-122"/>
                <a:cs typeface="Arial" pitchFamily="34" charset="-120"/>
              </a:rPr>
              <a:t>RECOMMENDED</a:t>
            </a:r>
            <a:endParaRPr lang="en-US" sz="600" dirty="0"/>
          </a:p>
        </p:txBody>
      </p:sp>
      <p:sp>
        <p:nvSpPr>
          <p:cNvPr id="36" name="Text 34"/>
          <p:cNvSpPr/>
          <p:nvPr/>
        </p:nvSpPr>
        <p:spPr>
          <a:xfrm>
            <a:off x="5632252" y="3451622"/>
            <a:ext cx="1509242" cy="119955"/>
          </a:xfrm>
          <a:prstGeom prst="rect">
            <a:avLst/>
          </a:prstGeom>
          <a:noFill/>
          <a:ln/>
        </p:spPr>
        <p:txBody>
          <a:bodyPr wrap="square" lIns="0" tIns="0" rIns="0" bIns="0" rtlCol="0" anchor="t"/>
          <a:lstStyle/>
          <a:p>
            <a:pPr algn="l" indent="0" marL="0">
              <a:lnSpc>
                <a:spcPts val="945"/>
              </a:lnSpc>
              <a:spcBef>
                <a:spcPts val="150"/>
              </a:spcBef>
              <a:buNone/>
            </a:pPr>
            <a:r>
              <a:rPr lang="en-US" sz="675" dirty="0">
                <a:solidFill>
                  <a:srgbClr val="1A1F2E"/>
                </a:solidFill>
                <a:latin typeface="Arial" pitchFamily="34" charset="0"/>
                <a:ea typeface="Arial" pitchFamily="34" charset="-122"/>
                <a:cs typeface="Arial" pitchFamily="34" charset="-120"/>
              </a:rPr>
              <a:t>32GB RAM, RTX 3070+</a:t>
            </a:r>
            <a:endParaRPr lang="en-US" sz="675" dirty="0"/>
          </a:p>
        </p:txBody>
      </p:sp>
      <p:sp>
        <p:nvSpPr>
          <p:cNvPr id="37" name="Text 35"/>
          <p:cNvSpPr/>
          <p:nvPr/>
        </p:nvSpPr>
        <p:spPr>
          <a:xfrm>
            <a:off x="7264301" y="3326011"/>
            <a:ext cx="1509242" cy="106561"/>
          </a:xfrm>
          <a:prstGeom prst="rect">
            <a:avLst/>
          </a:prstGeom>
          <a:noFill/>
          <a:ln/>
        </p:spPr>
        <p:txBody>
          <a:bodyPr wrap="square" lIns="0" tIns="0" rIns="0" bIns="0" rtlCol="0" anchor="t"/>
          <a:lstStyle/>
          <a:p>
            <a:pPr algn="l" indent="0" marL="0">
              <a:lnSpc>
                <a:spcPts val="840"/>
              </a:lnSpc>
              <a:buNone/>
            </a:pPr>
            <a:r>
              <a:rPr lang="en-US" sz="600" dirty="0">
                <a:solidFill>
                  <a:srgbClr val="9CA3AF"/>
                </a:solidFill>
                <a:latin typeface="Arial" pitchFamily="34" charset="0"/>
                <a:ea typeface="Arial" pitchFamily="34" charset="-122"/>
                <a:cs typeface="Arial" pitchFamily="34" charset="-120"/>
              </a:rPr>
              <a:t>PLATFORMS</a:t>
            </a:r>
            <a:endParaRPr lang="en-US" sz="600" dirty="0"/>
          </a:p>
        </p:txBody>
      </p:sp>
      <p:sp>
        <p:nvSpPr>
          <p:cNvPr id="38" name="Text 36"/>
          <p:cNvSpPr/>
          <p:nvPr/>
        </p:nvSpPr>
        <p:spPr>
          <a:xfrm>
            <a:off x="7264301" y="3451622"/>
            <a:ext cx="1509242" cy="119955"/>
          </a:xfrm>
          <a:prstGeom prst="rect">
            <a:avLst/>
          </a:prstGeom>
          <a:noFill/>
          <a:ln/>
        </p:spPr>
        <p:txBody>
          <a:bodyPr wrap="square" lIns="0" tIns="0" rIns="0" bIns="0" rtlCol="0" anchor="t"/>
          <a:lstStyle/>
          <a:p>
            <a:pPr algn="l" indent="0" marL="0">
              <a:lnSpc>
                <a:spcPts val="945"/>
              </a:lnSpc>
              <a:spcBef>
                <a:spcPts val="150"/>
              </a:spcBef>
              <a:buNone/>
            </a:pPr>
            <a:r>
              <a:rPr lang="en-US" sz="675" dirty="0">
                <a:solidFill>
                  <a:srgbClr val="1A1F2E"/>
                </a:solidFill>
                <a:latin typeface="Arial" pitchFamily="34" charset="0"/>
                <a:ea typeface="Arial" pitchFamily="34" charset="-122"/>
                <a:cs typeface="Arial" pitchFamily="34" charset="-120"/>
              </a:rPr>
              <a:t>Windows, macOS, Linux</a:t>
            </a:r>
            <a:endParaRPr lang="en-US" sz="675" dirty="0"/>
          </a:p>
        </p:txBody>
      </p:sp>
      <p:sp>
        <p:nvSpPr>
          <p:cNvPr id="39" name="Text 37"/>
          <p:cNvSpPr/>
          <p:nvPr/>
        </p:nvSpPr>
        <p:spPr>
          <a:xfrm>
            <a:off x="3838277" y="3971627"/>
            <a:ext cx="5039023" cy="445591"/>
          </a:xfrm>
          <a:prstGeom prst="rect">
            <a:avLst/>
          </a:prstGeom>
          <a:solidFill>
            <a:srgbClr val="DBEAFE"/>
          </a:solidFill>
          <a:ln/>
        </p:spPr>
        <p:txBody>
          <a:bodyPr wrap="square" rtlCol="0" anchor="ctr"/>
          <a:lstStyle/>
          <a:p>
            <a:pPr indent="0" marL="0">
              <a:buNone/>
            </a:pPr>
            <a:endParaRPr lang="en-US" dirty="0"/>
          </a:p>
        </p:txBody>
      </p:sp>
      <p:sp>
        <p:nvSpPr>
          <p:cNvPr id="40" name="Shape 38"/>
          <p:cNvSpPr/>
          <p:nvPr/>
        </p:nvSpPr>
        <p:spPr>
          <a:xfrm>
            <a:off x="3852565" y="3971627"/>
            <a:ext cx="0" cy="445591"/>
          </a:xfrm>
          <a:prstGeom prst="line">
            <a:avLst/>
          </a:prstGeom>
          <a:noFill/>
          <a:ln w="28575">
            <a:solidFill>
              <a:srgbClr val="3B82F6"/>
            </a:solidFill>
            <a:prstDash val="solid"/>
          </a:ln>
        </p:spPr>
      </p:sp>
      <p:sp>
        <p:nvSpPr>
          <p:cNvPr id="41" name="Text 39"/>
          <p:cNvSpPr/>
          <p:nvPr/>
        </p:nvSpPr>
        <p:spPr>
          <a:xfrm>
            <a:off x="3962102" y="4066877"/>
            <a:ext cx="4916347" cy="119955"/>
          </a:xfrm>
          <a:prstGeom prst="rect">
            <a:avLst/>
          </a:prstGeom>
          <a:noFill/>
          <a:ln/>
        </p:spPr>
        <p:txBody>
          <a:bodyPr wrap="square" lIns="0" tIns="0" rIns="0" bIns="0" rtlCol="0" anchor="t"/>
          <a:lstStyle/>
          <a:p>
            <a:pPr algn="l" indent="0" marL="0">
              <a:lnSpc>
                <a:spcPts val="945"/>
              </a:lnSpc>
              <a:spcAft>
                <a:spcPts val="225"/>
              </a:spcAft>
              <a:buNone/>
            </a:pPr>
            <a:r>
              <a:rPr lang="en-US" sz="675" b="1" dirty="0">
                <a:solidFill>
                  <a:srgbClr val="1E40AF"/>
                </a:solidFill>
                <a:latin typeface="Arial" pitchFamily="34" charset="0"/>
                <a:ea typeface="Arial" pitchFamily="34" charset="-122"/>
                <a:cs typeface="Arial" pitchFamily="34" charset="-120"/>
              </a:rPr>
              <a:t>USE CASE</a:t>
            </a:r>
            <a:endParaRPr lang="en-US" sz="675" dirty="0"/>
          </a:p>
        </p:txBody>
      </p:sp>
      <p:sp>
        <p:nvSpPr>
          <p:cNvPr id="42" name="Text 40"/>
          <p:cNvSpPr/>
          <p:nvPr/>
        </p:nvSpPr>
        <p:spPr>
          <a:xfrm>
            <a:off x="3962102" y="4215408"/>
            <a:ext cx="4916347" cy="106561"/>
          </a:xfrm>
          <a:prstGeom prst="rect">
            <a:avLst/>
          </a:prstGeom>
          <a:noFill/>
          <a:ln/>
        </p:spPr>
        <p:txBody>
          <a:bodyPr wrap="square" lIns="0" tIns="0" rIns="0" bIns="0" rtlCol="0" anchor="t"/>
          <a:lstStyle/>
          <a:p>
            <a:pPr algn="l" indent="0" marL="0">
              <a:lnSpc>
                <a:spcPts val="840"/>
              </a:lnSpc>
              <a:buNone/>
            </a:pPr>
            <a:r>
              <a:rPr lang="en-US" sz="600" dirty="0">
                <a:solidFill>
                  <a:srgbClr val="1E40AF"/>
                </a:solidFill>
                <a:latin typeface="Arial" pitchFamily="34" charset="0"/>
                <a:ea typeface="Arial" pitchFamily="34" charset="-122"/>
                <a:cs typeface="Arial" pitchFamily="34" charset="-120"/>
              </a:rPr>
              <a:t>Ideal for air-gapped environments, offline development, or when data cannot leave the device.</a:t>
            </a:r>
            <a:endParaRPr lang="en-US" sz="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832842"/>
            <a:ext cx="716607" cy="182761"/>
          </a:xfrm>
          <a:prstGeom prst="rect">
            <a:avLst/>
          </a:prstGeom>
          <a:solidFill>
            <a:srgbClr val="FF6F00"/>
          </a:solidFill>
          <a:ln/>
        </p:spPr>
        <p:txBody>
          <a:bodyPr wrap="square" rtlCol="0" anchor="ctr"/>
          <a:lstStyle/>
          <a:p>
            <a:pPr indent="0" marL="0">
              <a:buNone/>
            </a:pPr>
            <a:endParaRPr lang="en-US" dirty="0"/>
          </a:p>
        </p:txBody>
      </p:sp>
      <p:sp>
        <p:nvSpPr>
          <p:cNvPr id="4" name="Text 2"/>
          <p:cNvSpPr/>
          <p:nvPr/>
        </p:nvSpPr>
        <p:spPr>
          <a:xfrm>
            <a:off x="361950" y="870942"/>
            <a:ext cx="536630" cy="106561"/>
          </a:xfrm>
          <a:prstGeom prst="rect">
            <a:avLst/>
          </a:prstGeom>
          <a:noFill/>
          <a:ln/>
        </p:spPr>
        <p:txBody>
          <a:bodyPr wrap="square" lIns="0" tIns="0" rIns="0" bIns="0" rtlCol="0" anchor="t"/>
          <a:lstStyle/>
          <a:p>
            <a:pPr algn="l" indent="0" marL="0">
              <a:lnSpc>
                <a:spcPts val="840"/>
              </a:lnSpc>
              <a:buNone/>
            </a:pPr>
            <a:r>
              <a:rPr lang="en-US" sz="600" b="1" dirty="0">
                <a:solidFill>
                  <a:srgbClr val="FFFFFF"/>
                </a:solidFill>
                <a:latin typeface="Arial" pitchFamily="34" charset="0"/>
                <a:ea typeface="Arial" pitchFamily="34" charset="-122"/>
                <a:cs typeface="Arial" pitchFamily="34" charset="-120"/>
              </a:rPr>
              <a:t>EXTENSION</a:t>
            </a:r>
            <a:endParaRPr lang="en-US" sz="600" dirty="0"/>
          </a:p>
        </p:txBody>
      </p:sp>
      <p:sp>
        <p:nvSpPr>
          <p:cNvPr id="5" name="Text 3"/>
          <p:cNvSpPr/>
          <p:nvPr/>
        </p:nvSpPr>
        <p:spPr>
          <a:xfrm>
            <a:off x="266700" y="1263253"/>
            <a:ext cx="1476756" cy="594122"/>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AI Toolkit</a:t>
            </a:r>
            <a:endParaRPr lang="en-US" sz="1950" dirty="0"/>
          </a:p>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for VS Code</a:t>
            </a:r>
            <a:endParaRPr lang="en-US" sz="1950" dirty="0"/>
          </a:p>
        </p:txBody>
      </p:sp>
      <p:sp>
        <p:nvSpPr>
          <p:cNvPr id="6" name="Text 4"/>
          <p:cNvSpPr/>
          <p:nvPr/>
        </p:nvSpPr>
        <p:spPr>
          <a:xfrm>
            <a:off x="266700" y="2105025"/>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2409825"/>
            <a:ext cx="2885777" cy="685800"/>
          </a:xfrm>
          <a:prstGeom prst="rect">
            <a:avLst/>
          </a:prstGeom>
          <a:solidFill>
            <a:srgbClr val="FF6F00">
              <a:alpha val="15000"/>
            </a:srgbClr>
          </a:solidFill>
          <a:ln/>
        </p:spPr>
        <p:txBody>
          <a:bodyPr wrap="square" rtlCol="0" anchor="ctr"/>
          <a:lstStyle/>
          <a:p>
            <a:pPr indent="0" marL="0">
              <a:buNone/>
            </a:pPr>
            <a:endParaRPr lang="en-US" dirty="0"/>
          </a:p>
        </p:txBody>
      </p:sp>
      <p:sp>
        <p:nvSpPr>
          <p:cNvPr id="8" name="Shape 6"/>
          <p:cNvSpPr/>
          <p:nvPr/>
        </p:nvSpPr>
        <p:spPr>
          <a:xfrm>
            <a:off x="280988" y="2409825"/>
            <a:ext cx="0" cy="685800"/>
          </a:xfrm>
          <a:prstGeom prst="line">
            <a:avLst/>
          </a:prstGeom>
          <a:noFill/>
          <a:ln w="28575">
            <a:solidFill>
              <a:srgbClr val="FF6F00"/>
            </a:solidFill>
            <a:prstDash val="solid"/>
          </a:ln>
        </p:spPr>
      </p:sp>
      <p:sp>
        <p:nvSpPr>
          <p:cNvPr id="9" name="Text 7"/>
          <p:cNvSpPr/>
          <p:nvPr/>
        </p:nvSpPr>
        <p:spPr>
          <a:xfrm>
            <a:off x="409575" y="2524125"/>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DBA74"/>
                </a:solidFill>
                <a:latin typeface="Arial" pitchFamily="34" charset="0"/>
                <a:ea typeface="Arial" pitchFamily="34" charset="-122"/>
                <a:cs typeface="Arial" pitchFamily="34" charset="-120"/>
              </a:rPr>
              <a:t>MODEL PLAYGROUND</a:t>
            </a:r>
            <a:endParaRPr lang="en-US" sz="750" dirty="0"/>
          </a:p>
        </p:txBody>
      </p:sp>
      <p:sp>
        <p:nvSpPr>
          <p:cNvPr id="10" name="Text 8"/>
          <p:cNvSpPr/>
          <p:nvPr/>
        </p:nvSpPr>
        <p:spPr>
          <a:xfrm>
            <a:off x="409575" y="2695575"/>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Browse, download, test and fine-tune models directly in VS Code.</a:t>
            </a:r>
            <a:endParaRPr lang="en-US" sz="750" dirty="0"/>
          </a:p>
        </p:txBody>
      </p:sp>
      <p:sp>
        <p:nvSpPr>
          <p:cNvPr id="11" name="Text 9"/>
          <p:cNvSpPr/>
          <p:nvPr/>
        </p:nvSpPr>
        <p:spPr>
          <a:xfrm>
            <a:off x="266700" y="3381375"/>
            <a:ext cx="2885777" cy="929283"/>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61950" y="3476625"/>
            <a:ext cx="2749183"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FEATURES</a:t>
            </a:r>
            <a:endParaRPr lang="en-US" sz="750" dirty="0"/>
          </a:p>
        </p:txBody>
      </p:sp>
      <p:sp>
        <p:nvSpPr>
          <p:cNvPr id="13" name="Text 11"/>
          <p:cNvSpPr/>
          <p:nvPr/>
        </p:nvSpPr>
        <p:spPr>
          <a:xfrm>
            <a:off x="361950" y="3667125"/>
            <a:ext cx="2749183" cy="548283"/>
          </a:xfrm>
          <a:prstGeom prst="rect">
            <a:avLst/>
          </a:prstGeom>
          <a:noFill/>
          <a:ln/>
        </p:spPr>
        <p:txBody>
          <a:bodyPr wrap="square" lIns="0" tIns="0" rIns="0" bIns="0" rtlCol="0" anchor="t"/>
          <a:lstStyle/>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Model catalog browser</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Local inference runner</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Fine-tuning workflows</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GPU/NPU acceleration</a:t>
            </a:r>
            <a:endParaRPr lang="en-US" sz="675" dirty="0"/>
          </a:p>
        </p:txBody>
      </p:sp>
      <p:sp>
        <p:nvSpPr>
          <p:cNvPr id="14" name="Text 12"/>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5" name="Text 13"/>
          <p:cNvSpPr/>
          <p:nvPr/>
        </p:nvSpPr>
        <p:spPr>
          <a:xfrm>
            <a:off x="3838277" y="652016"/>
            <a:ext cx="5139803" cy="159990"/>
          </a:xfrm>
          <a:prstGeom prst="rect">
            <a:avLst/>
          </a:prstGeom>
          <a:noFill/>
          <a:ln/>
        </p:spPr>
        <p:txBody>
          <a:bodyPr wrap="square" lIns="0" tIns="0" rIns="0" bIns="0" rtlCol="0" anchor="t"/>
          <a:lstStyle/>
          <a:p>
            <a:pPr algn="l" indent="0" marL="0">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AI TOOLKIT CAPABILITIES</a:t>
            </a:r>
            <a:endParaRPr lang="en-US" sz="900" dirty="0"/>
          </a:p>
        </p:txBody>
      </p:sp>
      <p:sp>
        <p:nvSpPr>
          <p:cNvPr id="16" name="Text 14"/>
          <p:cNvSpPr/>
          <p:nvPr/>
        </p:nvSpPr>
        <p:spPr>
          <a:xfrm>
            <a:off x="3838277" y="1078706"/>
            <a:ext cx="2471886" cy="613172"/>
          </a:xfrm>
          <a:prstGeom prst="rect">
            <a:avLst/>
          </a:prstGeom>
          <a:solidFill>
            <a:srgbClr val="FFFFFF"/>
          </a:solidFill>
          <a:ln/>
        </p:spPr>
        <p:txBody>
          <a:bodyPr wrap="square" rtlCol="0" anchor="ctr"/>
          <a:lstStyle/>
          <a:p>
            <a:pPr indent="0" marL="0">
              <a:buNone/>
            </a:pPr>
            <a:endParaRPr lang="en-US" dirty="0"/>
          </a:p>
        </p:txBody>
      </p:sp>
      <p:sp>
        <p:nvSpPr>
          <p:cNvPr id="17" name="Shape 15"/>
          <p:cNvSpPr/>
          <p:nvPr/>
        </p:nvSpPr>
        <p:spPr>
          <a:xfrm>
            <a:off x="3852565" y="1078706"/>
            <a:ext cx="0" cy="613172"/>
          </a:xfrm>
          <a:prstGeom prst="line">
            <a:avLst/>
          </a:prstGeom>
          <a:noFill/>
          <a:ln w="28575">
            <a:solidFill>
              <a:srgbClr val="FF6F00"/>
            </a:solidFill>
            <a:prstDash val="solid"/>
          </a:ln>
        </p:spPr>
      </p:sp>
      <p:sp>
        <p:nvSpPr>
          <p:cNvPr id="18" name="Text 16"/>
          <p:cNvSpPr/>
          <p:nvPr/>
        </p:nvSpPr>
        <p:spPr>
          <a:xfrm>
            <a:off x="3981152" y="1193006"/>
            <a:ext cx="225900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F6F00"/>
                </a:solidFill>
                <a:latin typeface="Arial" pitchFamily="34" charset="0"/>
                <a:ea typeface="Arial" pitchFamily="34" charset="-122"/>
                <a:cs typeface="Arial" pitchFamily="34" charset="-120"/>
              </a:rPr>
              <a:t>MODEL CATALOG</a:t>
            </a:r>
            <a:endParaRPr lang="en-US" sz="750" dirty="0"/>
          </a:p>
        </p:txBody>
      </p:sp>
      <p:sp>
        <p:nvSpPr>
          <p:cNvPr id="19" name="Text 17"/>
          <p:cNvSpPr/>
          <p:nvPr/>
        </p:nvSpPr>
        <p:spPr>
          <a:xfrm>
            <a:off x="3981152" y="1364456"/>
            <a:ext cx="2259006"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Browse Hugging Face models optimized for local inference. One-click download.</a:t>
            </a:r>
            <a:endParaRPr lang="en-US" sz="600" dirty="0"/>
          </a:p>
        </p:txBody>
      </p:sp>
      <p:sp>
        <p:nvSpPr>
          <p:cNvPr id="20" name="Text 18"/>
          <p:cNvSpPr/>
          <p:nvPr/>
        </p:nvSpPr>
        <p:spPr>
          <a:xfrm>
            <a:off x="6405414" y="1078706"/>
            <a:ext cx="2471886" cy="613172"/>
          </a:xfrm>
          <a:prstGeom prst="rect">
            <a:avLst/>
          </a:prstGeom>
          <a:solidFill>
            <a:srgbClr val="FFFFFF"/>
          </a:solidFill>
          <a:ln/>
        </p:spPr>
        <p:txBody>
          <a:bodyPr wrap="square" rtlCol="0" anchor="ctr"/>
          <a:lstStyle/>
          <a:p>
            <a:pPr indent="0" marL="0">
              <a:buNone/>
            </a:pPr>
            <a:endParaRPr lang="en-US" dirty="0"/>
          </a:p>
        </p:txBody>
      </p:sp>
      <p:sp>
        <p:nvSpPr>
          <p:cNvPr id="21" name="Shape 19"/>
          <p:cNvSpPr/>
          <p:nvPr/>
        </p:nvSpPr>
        <p:spPr>
          <a:xfrm>
            <a:off x="6419701" y="1078706"/>
            <a:ext cx="0" cy="613172"/>
          </a:xfrm>
          <a:prstGeom prst="line">
            <a:avLst/>
          </a:prstGeom>
          <a:noFill/>
          <a:ln w="28575">
            <a:solidFill>
              <a:srgbClr val="FF6F00"/>
            </a:solidFill>
            <a:prstDash val="solid"/>
          </a:ln>
        </p:spPr>
      </p:sp>
      <p:sp>
        <p:nvSpPr>
          <p:cNvPr id="22" name="Text 20"/>
          <p:cNvSpPr/>
          <p:nvPr/>
        </p:nvSpPr>
        <p:spPr>
          <a:xfrm>
            <a:off x="6548289" y="1193006"/>
            <a:ext cx="225900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F6F00"/>
                </a:solidFill>
                <a:latin typeface="Arial" pitchFamily="34" charset="0"/>
                <a:ea typeface="Arial" pitchFamily="34" charset="-122"/>
                <a:cs typeface="Arial" pitchFamily="34" charset="-120"/>
              </a:rPr>
              <a:t>PLAYGROUND</a:t>
            </a:r>
            <a:endParaRPr lang="en-US" sz="750" dirty="0"/>
          </a:p>
        </p:txBody>
      </p:sp>
      <p:sp>
        <p:nvSpPr>
          <p:cNvPr id="23" name="Text 21"/>
          <p:cNvSpPr/>
          <p:nvPr/>
        </p:nvSpPr>
        <p:spPr>
          <a:xfrm>
            <a:off x="6548289" y="1364456"/>
            <a:ext cx="2259006"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Test models interactively. Compare outputs. Tune parameters before integration.</a:t>
            </a:r>
            <a:endParaRPr lang="en-US" sz="600" dirty="0"/>
          </a:p>
        </p:txBody>
      </p:sp>
      <p:sp>
        <p:nvSpPr>
          <p:cNvPr id="24" name="Text 22"/>
          <p:cNvSpPr/>
          <p:nvPr/>
        </p:nvSpPr>
        <p:spPr>
          <a:xfrm>
            <a:off x="3838277" y="1939528"/>
            <a:ext cx="2471886" cy="613172"/>
          </a:xfrm>
          <a:prstGeom prst="rect">
            <a:avLst/>
          </a:prstGeom>
          <a:solidFill>
            <a:srgbClr val="FFFFFF"/>
          </a:solidFill>
          <a:ln/>
        </p:spPr>
        <p:txBody>
          <a:bodyPr wrap="square" rtlCol="0" anchor="ctr"/>
          <a:lstStyle/>
          <a:p>
            <a:pPr indent="0" marL="0">
              <a:buNone/>
            </a:pPr>
            <a:endParaRPr lang="en-US" dirty="0"/>
          </a:p>
        </p:txBody>
      </p:sp>
      <p:sp>
        <p:nvSpPr>
          <p:cNvPr id="25" name="Shape 23"/>
          <p:cNvSpPr/>
          <p:nvPr/>
        </p:nvSpPr>
        <p:spPr>
          <a:xfrm>
            <a:off x="3852565" y="1939528"/>
            <a:ext cx="0" cy="613172"/>
          </a:xfrm>
          <a:prstGeom prst="line">
            <a:avLst/>
          </a:prstGeom>
          <a:noFill/>
          <a:ln w="28575">
            <a:solidFill>
              <a:srgbClr val="FF6F00"/>
            </a:solidFill>
            <a:prstDash val="solid"/>
          </a:ln>
        </p:spPr>
      </p:sp>
      <p:sp>
        <p:nvSpPr>
          <p:cNvPr id="26" name="Text 24"/>
          <p:cNvSpPr/>
          <p:nvPr/>
        </p:nvSpPr>
        <p:spPr>
          <a:xfrm>
            <a:off x="3981152" y="2053828"/>
            <a:ext cx="225900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F6F00"/>
                </a:solidFill>
                <a:latin typeface="Arial" pitchFamily="34" charset="0"/>
                <a:ea typeface="Arial" pitchFamily="34" charset="-122"/>
                <a:cs typeface="Arial" pitchFamily="34" charset="-120"/>
              </a:rPr>
              <a:t>FINE-TUNING</a:t>
            </a:r>
            <a:endParaRPr lang="en-US" sz="750" dirty="0"/>
          </a:p>
        </p:txBody>
      </p:sp>
      <p:sp>
        <p:nvSpPr>
          <p:cNvPr id="27" name="Text 25"/>
          <p:cNvSpPr/>
          <p:nvPr/>
        </p:nvSpPr>
        <p:spPr>
          <a:xfrm>
            <a:off x="3981152" y="2225278"/>
            <a:ext cx="2259006"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LoRA/QLoRA workflows for customizing models on your data. Export ONNX.</a:t>
            </a:r>
            <a:endParaRPr lang="en-US" sz="600" dirty="0"/>
          </a:p>
        </p:txBody>
      </p:sp>
      <p:sp>
        <p:nvSpPr>
          <p:cNvPr id="28" name="Text 26"/>
          <p:cNvSpPr/>
          <p:nvPr/>
        </p:nvSpPr>
        <p:spPr>
          <a:xfrm>
            <a:off x="6405414" y="1939528"/>
            <a:ext cx="2471886" cy="613172"/>
          </a:xfrm>
          <a:prstGeom prst="rect">
            <a:avLst/>
          </a:prstGeom>
          <a:solidFill>
            <a:srgbClr val="FFFFFF"/>
          </a:solidFill>
          <a:ln/>
        </p:spPr>
        <p:txBody>
          <a:bodyPr wrap="square" rtlCol="0" anchor="ctr"/>
          <a:lstStyle/>
          <a:p>
            <a:pPr indent="0" marL="0">
              <a:buNone/>
            </a:pPr>
            <a:endParaRPr lang="en-US" dirty="0"/>
          </a:p>
        </p:txBody>
      </p:sp>
      <p:sp>
        <p:nvSpPr>
          <p:cNvPr id="29" name="Shape 27"/>
          <p:cNvSpPr/>
          <p:nvPr/>
        </p:nvSpPr>
        <p:spPr>
          <a:xfrm>
            <a:off x="6419701" y="1939528"/>
            <a:ext cx="0" cy="613172"/>
          </a:xfrm>
          <a:prstGeom prst="line">
            <a:avLst/>
          </a:prstGeom>
          <a:noFill/>
          <a:ln w="28575">
            <a:solidFill>
              <a:srgbClr val="FF6F00"/>
            </a:solidFill>
            <a:prstDash val="solid"/>
          </a:ln>
        </p:spPr>
      </p:sp>
      <p:sp>
        <p:nvSpPr>
          <p:cNvPr id="30" name="Text 28"/>
          <p:cNvSpPr/>
          <p:nvPr/>
        </p:nvSpPr>
        <p:spPr>
          <a:xfrm>
            <a:off x="6548289" y="2053828"/>
            <a:ext cx="225900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F6F00"/>
                </a:solidFill>
                <a:latin typeface="Arial" pitchFamily="34" charset="0"/>
                <a:ea typeface="Arial" pitchFamily="34" charset="-122"/>
                <a:cs typeface="Arial" pitchFamily="34" charset="-120"/>
              </a:rPr>
              <a:t>HARDWARE SUPPORT</a:t>
            </a:r>
            <a:endParaRPr lang="en-US" sz="750" dirty="0"/>
          </a:p>
        </p:txBody>
      </p:sp>
      <p:sp>
        <p:nvSpPr>
          <p:cNvPr id="31" name="Text 29"/>
          <p:cNvSpPr/>
          <p:nvPr/>
        </p:nvSpPr>
        <p:spPr>
          <a:xfrm>
            <a:off x="6548289" y="2225278"/>
            <a:ext cx="2259006"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NVIDIA CUDA, AMD ROCm, Intel NPU, Apple Silicon acceleration.</a:t>
            </a:r>
            <a:endParaRPr lang="en-US" sz="600" dirty="0"/>
          </a:p>
        </p:txBody>
      </p:sp>
      <p:sp>
        <p:nvSpPr>
          <p:cNvPr id="32" name="Text 30"/>
          <p:cNvSpPr/>
          <p:nvPr/>
        </p:nvSpPr>
        <p:spPr>
          <a:xfrm>
            <a:off x="3838277" y="2819400"/>
            <a:ext cx="5039023" cy="978694"/>
          </a:xfrm>
          <a:prstGeom prst="rect">
            <a:avLst/>
          </a:prstGeom>
          <a:solidFill>
            <a:srgbClr val="1A1F2E"/>
          </a:solidFill>
          <a:ln/>
        </p:spPr>
        <p:txBody>
          <a:bodyPr wrap="square" rtlCol="0" anchor="ctr"/>
          <a:lstStyle/>
          <a:p>
            <a:pPr indent="0" marL="0">
              <a:buNone/>
            </a:pPr>
            <a:endParaRPr lang="en-US" dirty="0"/>
          </a:p>
        </p:txBody>
      </p:sp>
      <p:sp>
        <p:nvSpPr>
          <p:cNvPr id="33" name="Text 31"/>
          <p:cNvSpPr/>
          <p:nvPr/>
        </p:nvSpPr>
        <p:spPr>
          <a:xfrm>
            <a:off x="3971627" y="2952750"/>
            <a:ext cx="4867769"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QUICK START</a:t>
            </a:r>
            <a:endParaRPr lang="en-US" sz="600" dirty="0"/>
          </a:p>
        </p:txBody>
      </p:sp>
      <p:sp>
        <p:nvSpPr>
          <p:cNvPr id="34" name="Text 32"/>
          <p:cNvSpPr/>
          <p:nvPr/>
        </p:nvSpPr>
        <p:spPr>
          <a:xfrm>
            <a:off x="3971627" y="3116461"/>
            <a:ext cx="4867769" cy="548283"/>
          </a:xfrm>
          <a:prstGeom prst="rect">
            <a:avLst/>
          </a:prstGeom>
          <a:noFill/>
          <a:ln/>
        </p:spPr>
        <p:txBody>
          <a:bodyPr wrap="square" lIns="0" tIns="0" rIns="0" bIns="0" rtlCol="0" anchor="t"/>
          <a:lstStyle/>
          <a:p>
            <a:pPr algn="l" indent="0" marL="0">
              <a:lnSpc>
                <a:spcPts val="1080"/>
              </a:lnSpc>
              <a:buNone/>
            </a:pPr>
            <a:r>
              <a:rPr lang="en-US" sz="675" dirty="0">
                <a:solidFill>
                  <a:srgbClr val="FFFFFF">
                    <a:alpha val="70000"/>
                  </a:srgbClr>
                </a:solidFill>
                <a:latin typeface="Arial" pitchFamily="34" charset="0"/>
                <a:ea typeface="Arial" pitchFamily="34" charset="-122"/>
                <a:cs typeface="Arial" pitchFamily="34" charset="-120"/>
              </a:rPr>
              <a:t>1. Install "AI Toolkit" from VS Code marketplace</a:t>
            </a:r>
            <a:endParaRPr lang="en-US" sz="675" dirty="0"/>
          </a:p>
          <a:p>
            <a:pPr algn="l" indent="0" marL="0">
              <a:lnSpc>
                <a:spcPts val="1080"/>
              </a:lnSpc>
              <a:buNone/>
            </a:pPr>
            <a:r>
              <a:rPr lang="en-US" sz="675" dirty="0">
                <a:solidFill>
                  <a:srgbClr val="FFFFFF">
                    <a:alpha val="70000"/>
                  </a:srgbClr>
                </a:solidFill>
                <a:latin typeface="Arial" pitchFamily="34" charset="0"/>
                <a:ea typeface="Arial" pitchFamily="34" charset="-122"/>
                <a:cs typeface="Arial" pitchFamily="34" charset="-120"/>
              </a:rPr>
              <a:t> 2. Open AI Toolkit sidebar → Model Catalog</a:t>
            </a:r>
            <a:endParaRPr lang="en-US" sz="675" dirty="0"/>
          </a:p>
          <a:p>
            <a:pPr algn="l" indent="0" marL="0">
              <a:lnSpc>
                <a:spcPts val="1080"/>
              </a:lnSpc>
              <a:buNone/>
            </a:pPr>
            <a:r>
              <a:rPr lang="en-US" sz="675" dirty="0">
                <a:solidFill>
                  <a:srgbClr val="FFFFFF">
                    <a:alpha val="70000"/>
                  </a:srgbClr>
                </a:solidFill>
                <a:latin typeface="Arial" pitchFamily="34" charset="0"/>
                <a:ea typeface="Arial" pitchFamily="34" charset="-122"/>
                <a:cs typeface="Arial" pitchFamily="34" charset="-120"/>
              </a:rPr>
              <a:t> 3. Download a model (e.g., Phi-3-mini)</a:t>
            </a:r>
            <a:endParaRPr lang="en-US" sz="675" dirty="0"/>
          </a:p>
          <a:p>
            <a:pPr algn="l" indent="0" marL="0">
              <a:lnSpc>
                <a:spcPts val="1080"/>
              </a:lnSpc>
              <a:buNone/>
            </a:pPr>
            <a:r>
              <a:rPr lang="en-US" sz="675" dirty="0">
                <a:solidFill>
                  <a:srgbClr val="FFFFFF">
                    <a:alpha val="70000"/>
                  </a:srgbClr>
                </a:solidFill>
                <a:latin typeface="Arial" pitchFamily="34" charset="0"/>
                <a:ea typeface="Arial" pitchFamily="34" charset="-122"/>
                <a:cs typeface="Arial" pitchFamily="34" charset="-120"/>
              </a:rPr>
              <a:t> 4. Open Playground → Test inference</a:t>
            </a:r>
            <a:endParaRPr lang="en-US" sz="675" dirty="0"/>
          </a:p>
        </p:txBody>
      </p:sp>
      <p:sp>
        <p:nvSpPr>
          <p:cNvPr id="35" name="Text 33"/>
          <p:cNvSpPr/>
          <p:nvPr/>
        </p:nvSpPr>
        <p:spPr>
          <a:xfrm>
            <a:off x="3838277" y="4045744"/>
            <a:ext cx="5039023" cy="445591"/>
          </a:xfrm>
          <a:prstGeom prst="rect">
            <a:avLst/>
          </a:prstGeom>
          <a:solidFill>
            <a:srgbClr val="FEF3C7"/>
          </a:solidFill>
          <a:ln/>
        </p:spPr>
        <p:txBody>
          <a:bodyPr wrap="square" rtlCol="0" anchor="ctr"/>
          <a:lstStyle/>
          <a:p>
            <a:pPr indent="0" marL="0">
              <a:buNone/>
            </a:pPr>
            <a:endParaRPr lang="en-US" dirty="0"/>
          </a:p>
        </p:txBody>
      </p:sp>
      <p:sp>
        <p:nvSpPr>
          <p:cNvPr id="36" name="Shape 34"/>
          <p:cNvSpPr/>
          <p:nvPr/>
        </p:nvSpPr>
        <p:spPr>
          <a:xfrm>
            <a:off x="3852565" y="4045744"/>
            <a:ext cx="0" cy="445591"/>
          </a:xfrm>
          <a:prstGeom prst="line">
            <a:avLst/>
          </a:prstGeom>
          <a:noFill/>
          <a:ln w="28575">
            <a:solidFill>
              <a:srgbClr val="F59E0B"/>
            </a:solidFill>
            <a:prstDash val="solid"/>
          </a:ln>
        </p:spPr>
      </p:sp>
      <p:sp>
        <p:nvSpPr>
          <p:cNvPr id="37" name="Text 35"/>
          <p:cNvSpPr/>
          <p:nvPr/>
        </p:nvSpPr>
        <p:spPr>
          <a:xfrm>
            <a:off x="3962102" y="4140994"/>
            <a:ext cx="4916347" cy="119955"/>
          </a:xfrm>
          <a:prstGeom prst="rect">
            <a:avLst/>
          </a:prstGeom>
          <a:noFill/>
          <a:ln/>
        </p:spPr>
        <p:txBody>
          <a:bodyPr wrap="square" lIns="0" tIns="0" rIns="0" bIns="0" rtlCol="0" anchor="t"/>
          <a:lstStyle/>
          <a:p>
            <a:pPr algn="l" indent="0" marL="0">
              <a:lnSpc>
                <a:spcPts val="945"/>
              </a:lnSpc>
              <a:spcAft>
                <a:spcPts val="225"/>
              </a:spcAft>
              <a:buNone/>
            </a:pPr>
            <a:r>
              <a:rPr lang="en-US" sz="675" b="1" dirty="0">
                <a:solidFill>
                  <a:srgbClr val="92400E"/>
                </a:solidFill>
                <a:latin typeface="Arial" pitchFamily="34" charset="0"/>
                <a:ea typeface="Arial" pitchFamily="34" charset="-122"/>
                <a:cs typeface="Arial" pitchFamily="34" charset="-120"/>
              </a:rPr>
              <a:t>NOTE</a:t>
            </a:r>
            <a:endParaRPr lang="en-US" sz="675" dirty="0"/>
          </a:p>
        </p:txBody>
      </p:sp>
      <p:sp>
        <p:nvSpPr>
          <p:cNvPr id="38" name="Text 36"/>
          <p:cNvSpPr/>
          <p:nvPr/>
        </p:nvSpPr>
        <p:spPr>
          <a:xfrm>
            <a:off x="3962102" y="4289524"/>
            <a:ext cx="4916347" cy="106561"/>
          </a:xfrm>
          <a:prstGeom prst="rect">
            <a:avLst/>
          </a:prstGeom>
          <a:noFill/>
          <a:ln/>
        </p:spPr>
        <p:txBody>
          <a:bodyPr wrap="square" lIns="0" tIns="0" rIns="0" bIns="0" rtlCol="0" anchor="t"/>
          <a:lstStyle/>
          <a:p>
            <a:pPr algn="l" indent="0" marL="0">
              <a:lnSpc>
                <a:spcPts val="840"/>
              </a:lnSpc>
              <a:buNone/>
            </a:pPr>
            <a:r>
              <a:rPr lang="en-US" sz="600" dirty="0">
                <a:solidFill>
                  <a:srgbClr val="92400E"/>
                </a:solidFill>
                <a:latin typeface="Arial" pitchFamily="34" charset="0"/>
                <a:ea typeface="Arial" pitchFamily="34" charset="-122"/>
                <a:cs typeface="Arial" pitchFamily="34" charset="-120"/>
              </a:rPr>
              <a:t>AI Toolkit is for model experimentation and fine-tuning — not inline code completion like Copilot.</a:t>
            </a:r>
            <a:endParaRPr lang="en-US" sz="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266700"/>
            <a:ext cx="858441" cy="182761"/>
          </a:xfrm>
          <a:prstGeom prst="rect">
            <a:avLst/>
          </a:prstGeom>
          <a:solidFill>
            <a:srgbClr val="FF4785"/>
          </a:solidFill>
          <a:ln/>
        </p:spPr>
        <p:txBody>
          <a:bodyPr wrap="square" rtlCol="0" anchor="ctr"/>
          <a:lstStyle/>
          <a:p>
            <a:pPr indent="0" marL="0">
              <a:buNone/>
            </a:pPr>
            <a:endParaRPr lang="en-US" dirty="0"/>
          </a:p>
        </p:txBody>
      </p:sp>
      <p:sp>
        <p:nvSpPr>
          <p:cNvPr id="4" name="Text 2"/>
          <p:cNvSpPr/>
          <p:nvPr/>
        </p:nvSpPr>
        <p:spPr>
          <a:xfrm>
            <a:off x="361950" y="304800"/>
            <a:ext cx="681299" cy="106561"/>
          </a:xfrm>
          <a:prstGeom prst="rect">
            <a:avLst/>
          </a:prstGeom>
          <a:noFill/>
          <a:ln/>
        </p:spPr>
        <p:txBody>
          <a:bodyPr wrap="square" lIns="0" tIns="0" rIns="0" bIns="0" rtlCol="0" anchor="t"/>
          <a:lstStyle/>
          <a:p>
            <a:pPr algn="l" indent="0" marL="0">
              <a:lnSpc>
                <a:spcPts val="840"/>
              </a:lnSpc>
              <a:buNone/>
            </a:pPr>
            <a:r>
              <a:rPr lang="en-US" sz="600" b="1" dirty="0">
                <a:solidFill>
                  <a:srgbClr val="FFFFFF"/>
                </a:solidFill>
                <a:latin typeface="Arial" pitchFamily="34" charset="0"/>
                <a:ea typeface="Arial" pitchFamily="34" charset="-122"/>
                <a:cs typeface="Arial" pitchFamily="34" charset="-120"/>
              </a:rPr>
              <a:t>OPEN SOURCE</a:t>
            </a:r>
            <a:endParaRPr lang="en-US" sz="600" dirty="0"/>
          </a:p>
        </p:txBody>
      </p:sp>
      <p:sp>
        <p:nvSpPr>
          <p:cNvPr id="5" name="Text 3"/>
          <p:cNvSpPr/>
          <p:nvPr/>
        </p:nvSpPr>
        <p:spPr>
          <a:xfrm>
            <a:off x="266700" y="697111"/>
            <a:ext cx="1612773" cy="319980"/>
          </a:xfrm>
          <a:prstGeom prst="rect">
            <a:avLst/>
          </a:prstGeom>
          <a:noFill/>
          <a:ln/>
        </p:spPr>
        <p:txBody>
          <a:bodyPr wrap="square" lIns="0" tIns="0" rIns="0" bIns="0" rtlCol="0" anchor="t"/>
          <a:lstStyle/>
          <a:p>
            <a:pPr algn="l" indent="0" marL="0">
              <a:lnSpc>
                <a:spcPts val="2520"/>
              </a:lnSpc>
              <a:spcAft>
                <a:spcPts val="750"/>
              </a:spcAft>
              <a:buNone/>
            </a:pPr>
            <a:r>
              <a:rPr lang="en-US" sz="2100" dirty="0">
                <a:solidFill>
                  <a:srgbClr val="FFFFFF"/>
                </a:solidFill>
                <a:latin typeface="Georgia" pitchFamily="34" charset="0"/>
                <a:ea typeface="Georgia" pitchFamily="34" charset="-122"/>
                <a:cs typeface="Georgia" pitchFamily="34" charset="-120"/>
              </a:rPr>
              <a:t>Continue.dev</a:t>
            </a:r>
            <a:endParaRPr lang="en-US" sz="2100" dirty="0"/>
          </a:p>
        </p:txBody>
      </p:sp>
      <p:sp>
        <p:nvSpPr>
          <p:cNvPr id="6" name="Text 4"/>
          <p:cNvSpPr/>
          <p:nvPr/>
        </p:nvSpPr>
        <p:spPr>
          <a:xfrm>
            <a:off x="266700" y="1264741"/>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1569541"/>
            <a:ext cx="2885777" cy="685800"/>
          </a:xfrm>
          <a:prstGeom prst="rect">
            <a:avLst/>
          </a:prstGeom>
          <a:solidFill>
            <a:srgbClr val="FF4785">
              <a:alpha val="15000"/>
            </a:srgbClr>
          </a:solidFill>
          <a:ln/>
        </p:spPr>
        <p:txBody>
          <a:bodyPr wrap="square" rtlCol="0" anchor="ctr"/>
          <a:lstStyle/>
          <a:p>
            <a:pPr indent="0" marL="0">
              <a:buNone/>
            </a:pPr>
            <a:endParaRPr lang="en-US" dirty="0"/>
          </a:p>
        </p:txBody>
      </p:sp>
      <p:sp>
        <p:nvSpPr>
          <p:cNvPr id="8" name="Shape 6"/>
          <p:cNvSpPr/>
          <p:nvPr/>
        </p:nvSpPr>
        <p:spPr>
          <a:xfrm>
            <a:off x="280988" y="1569541"/>
            <a:ext cx="0" cy="685800"/>
          </a:xfrm>
          <a:prstGeom prst="line">
            <a:avLst/>
          </a:prstGeom>
          <a:noFill/>
          <a:ln w="28575">
            <a:solidFill>
              <a:srgbClr val="FF4785"/>
            </a:solidFill>
            <a:prstDash val="solid"/>
          </a:ln>
        </p:spPr>
      </p:sp>
      <p:sp>
        <p:nvSpPr>
          <p:cNvPr id="9" name="Text 7"/>
          <p:cNvSpPr/>
          <p:nvPr/>
        </p:nvSpPr>
        <p:spPr>
          <a:xfrm>
            <a:off x="409575" y="1683841"/>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9A8D4"/>
                </a:solidFill>
                <a:latin typeface="Arial" pitchFamily="34" charset="0"/>
                <a:ea typeface="Arial" pitchFamily="34" charset="-122"/>
                <a:cs typeface="Arial" pitchFamily="34" charset="-120"/>
              </a:rPr>
              <a:t>MOST FLEXIBLE</a:t>
            </a:r>
            <a:endParaRPr lang="en-US" sz="750" dirty="0"/>
          </a:p>
        </p:txBody>
      </p:sp>
      <p:sp>
        <p:nvSpPr>
          <p:cNvPr id="10" name="Text 8"/>
          <p:cNvSpPr/>
          <p:nvPr/>
        </p:nvSpPr>
        <p:spPr>
          <a:xfrm>
            <a:off x="409575" y="1855291"/>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Open-source Copilot alternative with the broadest provider support.</a:t>
            </a:r>
            <a:endParaRPr lang="en-US" sz="750" dirty="0"/>
          </a:p>
        </p:txBody>
      </p:sp>
      <p:sp>
        <p:nvSpPr>
          <p:cNvPr id="11" name="Text 9"/>
          <p:cNvSpPr/>
          <p:nvPr/>
        </p:nvSpPr>
        <p:spPr>
          <a:xfrm>
            <a:off x="266700" y="2541091"/>
            <a:ext cx="2885777" cy="929283"/>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61950" y="2636341"/>
            <a:ext cx="2749183"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SUPPORTED PROVIDERS</a:t>
            </a:r>
            <a:endParaRPr lang="en-US" sz="750" dirty="0"/>
          </a:p>
        </p:txBody>
      </p:sp>
      <p:sp>
        <p:nvSpPr>
          <p:cNvPr id="13" name="Text 11"/>
          <p:cNvSpPr/>
          <p:nvPr/>
        </p:nvSpPr>
        <p:spPr>
          <a:xfrm>
            <a:off x="361950" y="2826841"/>
            <a:ext cx="2749183" cy="548283"/>
          </a:xfrm>
          <a:prstGeom prst="rect">
            <a:avLst/>
          </a:prstGeom>
          <a:noFill/>
          <a:ln/>
        </p:spPr>
        <p:txBody>
          <a:bodyPr wrap="square" lIns="0" tIns="0" rIns="0" bIns="0" rtlCol="0" anchor="t"/>
          <a:lstStyle/>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Azure OpenAI ✓</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AWS Bedrock ✓</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Google Vertex AI ✓</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Ollama / LM Studio ✓</a:t>
            </a:r>
            <a:endParaRPr lang="en-US" sz="675" dirty="0"/>
          </a:p>
        </p:txBody>
      </p:sp>
      <p:sp>
        <p:nvSpPr>
          <p:cNvPr id="14" name="Text 12"/>
          <p:cNvSpPr/>
          <p:nvPr/>
        </p:nvSpPr>
        <p:spPr>
          <a:xfrm>
            <a:off x="266700" y="4566345"/>
            <a:ext cx="2885777" cy="310455"/>
          </a:xfrm>
          <a:prstGeom prst="rect">
            <a:avLst/>
          </a:prstGeom>
          <a:solidFill>
            <a:srgbClr val="059669"/>
          </a:solidFill>
          <a:ln/>
        </p:spPr>
        <p:txBody>
          <a:bodyPr wrap="square" rtlCol="0" anchor="ctr"/>
          <a:lstStyle/>
          <a:p>
            <a:pPr indent="0" marL="0">
              <a:buNone/>
            </a:pPr>
            <a:endParaRPr lang="en-US" dirty="0"/>
          </a:p>
        </p:txBody>
      </p:sp>
      <p:sp>
        <p:nvSpPr>
          <p:cNvPr id="15" name="Text 13"/>
          <p:cNvSpPr/>
          <p:nvPr/>
        </p:nvSpPr>
        <p:spPr>
          <a:xfrm>
            <a:off x="334997" y="4661595"/>
            <a:ext cx="2749183" cy="119955"/>
          </a:xfrm>
          <a:prstGeom prst="rect">
            <a:avLst/>
          </a:prstGeom>
          <a:noFill/>
          <a:ln/>
        </p:spPr>
        <p:txBody>
          <a:bodyPr wrap="square" lIns="0" tIns="0" rIns="0" bIns="0" rtlCol="0" anchor="t"/>
          <a:lstStyle/>
          <a:p>
            <a:pPr algn="ctr" indent="0" marL="0">
              <a:lnSpc>
                <a:spcPts val="945"/>
              </a:lnSpc>
              <a:buNone/>
            </a:pPr>
            <a:r>
              <a:rPr lang="en-US" sz="675" b="1" dirty="0">
                <a:solidFill>
                  <a:srgbClr val="FFFFFF"/>
                </a:solidFill>
                <a:latin typeface="Arial" pitchFamily="34" charset="0"/>
                <a:ea typeface="Arial" pitchFamily="34" charset="-122"/>
                <a:cs typeface="Arial" pitchFamily="34" charset="-120"/>
              </a:rPr>
              <a:t>Apache 2.0 • 100% Free</a:t>
            </a:r>
            <a:endParaRPr lang="en-US" sz="675"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38277" y="400794"/>
            <a:ext cx="5139803" cy="159990"/>
          </a:xfrm>
          <a:prstGeom prst="rect">
            <a:avLst/>
          </a:prstGeom>
          <a:noFill/>
          <a:ln/>
        </p:spPr>
        <p:txBody>
          <a:bodyPr wrap="square" lIns="0" tIns="0" rIns="0" bIns="0" rtlCol="0" anchor="t"/>
          <a:lstStyle/>
          <a:p>
            <a:pPr algn="l" indent="0" marL="0">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CONFIGURATION EXAMPLE</a:t>
            </a:r>
            <a:endParaRPr lang="en-US" sz="900" dirty="0"/>
          </a:p>
        </p:txBody>
      </p:sp>
      <p:sp>
        <p:nvSpPr>
          <p:cNvPr id="18" name="Text 16"/>
          <p:cNvSpPr/>
          <p:nvPr/>
        </p:nvSpPr>
        <p:spPr>
          <a:xfrm>
            <a:off x="3838277" y="827484"/>
            <a:ext cx="5039023" cy="1587698"/>
          </a:xfrm>
          <a:prstGeom prst="rect">
            <a:avLst/>
          </a:prstGeom>
          <a:solidFill>
            <a:srgbClr val="1A1F2E"/>
          </a:solidFill>
          <a:ln/>
        </p:spPr>
        <p:txBody>
          <a:bodyPr wrap="square" rtlCol="0" anchor="ctr"/>
          <a:lstStyle/>
          <a:p>
            <a:pPr indent="0" marL="0">
              <a:buNone/>
            </a:pPr>
            <a:endParaRPr lang="en-US" dirty="0"/>
          </a:p>
        </p:txBody>
      </p:sp>
      <p:sp>
        <p:nvSpPr>
          <p:cNvPr id="19" name="Text 17"/>
          <p:cNvSpPr/>
          <p:nvPr/>
        </p:nvSpPr>
        <p:spPr>
          <a:xfrm>
            <a:off x="3971627" y="960834"/>
            <a:ext cx="4867769" cy="106561"/>
          </a:xfrm>
          <a:prstGeom prst="rect">
            <a:avLst/>
          </a:prstGeom>
          <a:noFill/>
          <a:ln/>
        </p:spPr>
        <p:txBody>
          <a:bodyPr wrap="square" lIns="0" tIns="0" rIns="0" bIns="0" rtlCol="0" anchor="t"/>
          <a:lstStyle/>
          <a:p>
            <a:pPr algn="l" indent="0" marL="0">
              <a:lnSpc>
                <a:spcPts val="840"/>
              </a:lnSpc>
              <a:spcAft>
                <a:spcPts val="450"/>
              </a:spcAft>
              <a:buNone/>
            </a:pPr>
            <a:r>
              <a:rPr lang="en-US" sz="600" dirty="0">
                <a:solidFill>
                  <a:srgbClr val="C9A227"/>
                </a:solidFill>
                <a:latin typeface="Arial" pitchFamily="34" charset="0"/>
                <a:ea typeface="Arial" pitchFamily="34" charset="-122"/>
                <a:cs typeface="Arial" pitchFamily="34" charset="-120"/>
              </a:rPr>
              <a:t>~/.continue/config.json (Azure)</a:t>
            </a:r>
            <a:endParaRPr lang="en-US" sz="600" dirty="0"/>
          </a:p>
        </p:txBody>
      </p:sp>
      <p:sp>
        <p:nvSpPr>
          <p:cNvPr id="20" name="Text 18"/>
          <p:cNvSpPr/>
          <p:nvPr/>
        </p:nvSpPr>
        <p:spPr>
          <a:xfrm>
            <a:off x="3838277" y="2662833"/>
            <a:ext cx="2471886" cy="613172"/>
          </a:xfrm>
          <a:prstGeom prst="rect">
            <a:avLst/>
          </a:prstGeom>
          <a:solidFill>
            <a:srgbClr val="FFFFFF"/>
          </a:solidFill>
          <a:ln/>
        </p:spPr>
        <p:txBody>
          <a:bodyPr wrap="square" rtlCol="0" anchor="ctr"/>
          <a:lstStyle/>
          <a:p>
            <a:pPr indent="0" marL="0">
              <a:buNone/>
            </a:pPr>
            <a:endParaRPr lang="en-US" dirty="0"/>
          </a:p>
        </p:txBody>
      </p:sp>
      <p:sp>
        <p:nvSpPr>
          <p:cNvPr id="21" name="Shape 19"/>
          <p:cNvSpPr/>
          <p:nvPr/>
        </p:nvSpPr>
        <p:spPr>
          <a:xfrm>
            <a:off x="3852565" y="2662833"/>
            <a:ext cx="0" cy="613172"/>
          </a:xfrm>
          <a:prstGeom prst="line">
            <a:avLst/>
          </a:prstGeom>
          <a:noFill/>
          <a:ln w="28575">
            <a:solidFill>
              <a:srgbClr val="FF4785"/>
            </a:solidFill>
            <a:prstDash val="solid"/>
          </a:ln>
        </p:spPr>
      </p:sp>
      <p:sp>
        <p:nvSpPr>
          <p:cNvPr id="22" name="Text 20"/>
          <p:cNvSpPr/>
          <p:nvPr/>
        </p:nvSpPr>
        <p:spPr>
          <a:xfrm>
            <a:off x="3981152" y="2777133"/>
            <a:ext cx="225900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F4785"/>
                </a:solidFill>
                <a:latin typeface="Arial" pitchFamily="34" charset="0"/>
                <a:ea typeface="Arial" pitchFamily="34" charset="-122"/>
                <a:cs typeface="Arial" pitchFamily="34" charset="-120"/>
              </a:rPr>
              <a:t>CHAT</a:t>
            </a:r>
            <a:endParaRPr lang="en-US" sz="750" dirty="0"/>
          </a:p>
        </p:txBody>
      </p:sp>
      <p:sp>
        <p:nvSpPr>
          <p:cNvPr id="23" name="Text 21"/>
          <p:cNvSpPr/>
          <p:nvPr/>
        </p:nvSpPr>
        <p:spPr>
          <a:xfrm>
            <a:off x="3981152" y="2948583"/>
            <a:ext cx="2259006"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Cmd+L for chat sidebar. Reference files with @file. Full codebase context.</a:t>
            </a:r>
            <a:endParaRPr lang="en-US" sz="600" dirty="0"/>
          </a:p>
        </p:txBody>
      </p:sp>
      <p:sp>
        <p:nvSpPr>
          <p:cNvPr id="24" name="Text 22"/>
          <p:cNvSpPr/>
          <p:nvPr/>
        </p:nvSpPr>
        <p:spPr>
          <a:xfrm>
            <a:off x="6405414" y="2662833"/>
            <a:ext cx="2471886" cy="613172"/>
          </a:xfrm>
          <a:prstGeom prst="rect">
            <a:avLst/>
          </a:prstGeom>
          <a:solidFill>
            <a:srgbClr val="FFFFFF"/>
          </a:solidFill>
          <a:ln/>
        </p:spPr>
        <p:txBody>
          <a:bodyPr wrap="square" rtlCol="0" anchor="ctr"/>
          <a:lstStyle/>
          <a:p>
            <a:pPr indent="0" marL="0">
              <a:buNone/>
            </a:pPr>
            <a:endParaRPr lang="en-US" dirty="0"/>
          </a:p>
        </p:txBody>
      </p:sp>
      <p:sp>
        <p:nvSpPr>
          <p:cNvPr id="25" name="Shape 23"/>
          <p:cNvSpPr/>
          <p:nvPr/>
        </p:nvSpPr>
        <p:spPr>
          <a:xfrm>
            <a:off x="6419701" y="2662833"/>
            <a:ext cx="0" cy="613172"/>
          </a:xfrm>
          <a:prstGeom prst="line">
            <a:avLst/>
          </a:prstGeom>
          <a:noFill/>
          <a:ln w="28575">
            <a:solidFill>
              <a:srgbClr val="FF4785"/>
            </a:solidFill>
            <a:prstDash val="solid"/>
          </a:ln>
        </p:spPr>
      </p:sp>
      <p:sp>
        <p:nvSpPr>
          <p:cNvPr id="26" name="Text 24"/>
          <p:cNvSpPr/>
          <p:nvPr/>
        </p:nvSpPr>
        <p:spPr>
          <a:xfrm>
            <a:off x="6548289" y="2777133"/>
            <a:ext cx="225900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F4785"/>
                </a:solidFill>
                <a:latin typeface="Arial" pitchFamily="34" charset="0"/>
                <a:ea typeface="Arial" pitchFamily="34" charset="-122"/>
                <a:cs typeface="Arial" pitchFamily="34" charset="-120"/>
              </a:rPr>
              <a:t>AUTOCOMPLETE</a:t>
            </a:r>
            <a:endParaRPr lang="en-US" sz="750" dirty="0"/>
          </a:p>
        </p:txBody>
      </p:sp>
      <p:sp>
        <p:nvSpPr>
          <p:cNvPr id="27" name="Text 25"/>
          <p:cNvSpPr/>
          <p:nvPr/>
        </p:nvSpPr>
        <p:spPr>
          <a:xfrm>
            <a:off x="6548289" y="2948583"/>
            <a:ext cx="2259006"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Tab completion using any model. Configure separate fast model for speed.</a:t>
            </a:r>
            <a:endParaRPr lang="en-US" sz="600" dirty="0"/>
          </a:p>
        </p:txBody>
      </p:sp>
      <p:sp>
        <p:nvSpPr>
          <p:cNvPr id="28" name="Text 26"/>
          <p:cNvSpPr/>
          <p:nvPr/>
        </p:nvSpPr>
        <p:spPr>
          <a:xfrm>
            <a:off x="3838277" y="3523655"/>
            <a:ext cx="2471886" cy="506611"/>
          </a:xfrm>
          <a:prstGeom prst="rect">
            <a:avLst/>
          </a:prstGeom>
          <a:solidFill>
            <a:srgbClr val="FFFFFF"/>
          </a:solidFill>
          <a:ln/>
        </p:spPr>
        <p:txBody>
          <a:bodyPr wrap="square" rtlCol="0" anchor="ctr"/>
          <a:lstStyle/>
          <a:p>
            <a:pPr indent="0" marL="0">
              <a:buNone/>
            </a:pPr>
            <a:endParaRPr lang="en-US" dirty="0"/>
          </a:p>
        </p:txBody>
      </p:sp>
      <p:sp>
        <p:nvSpPr>
          <p:cNvPr id="29" name="Shape 27"/>
          <p:cNvSpPr/>
          <p:nvPr/>
        </p:nvSpPr>
        <p:spPr>
          <a:xfrm>
            <a:off x="3852565" y="3523655"/>
            <a:ext cx="0" cy="506611"/>
          </a:xfrm>
          <a:prstGeom prst="line">
            <a:avLst/>
          </a:prstGeom>
          <a:noFill/>
          <a:ln w="28575">
            <a:solidFill>
              <a:srgbClr val="FF4785"/>
            </a:solidFill>
            <a:prstDash val="solid"/>
          </a:ln>
        </p:spPr>
      </p:sp>
      <p:sp>
        <p:nvSpPr>
          <p:cNvPr id="30" name="Text 28"/>
          <p:cNvSpPr/>
          <p:nvPr/>
        </p:nvSpPr>
        <p:spPr>
          <a:xfrm>
            <a:off x="3981152" y="3637955"/>
            <a:ext cx="225900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F4785"/>
                </a:solidFill>
                <a:latin typeface="Arial" pitchFamily="34" charset="0"/>
                <a:ea typeface="Arial" pitchFamily="34" charset="-122"/>
                <a:cs typeface="Arial" pitchFamily="34" charset="-120"/>
              </a:rPr>
              <a:t>EDIT</a:t>
            </a:r>
            <a:endParaRPr lang="en-US" sz="750" dirty="0"/>
          </a:p>
        </p:txBody>
      </p:sp>
      <p:sp>
        <p:nvSpPr>
          <p:cNvPr id="31" name="Text 29"/>
          <p:cNvSpPr/>
          <p:nvPr/>
        </p:nvSpPr>
        <p:spPr>
          <a:xfrm>
            <a:off x="3981152" y="3809405"/>
            <a:ext cx="2259006"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Cmd+I for inline edits. Highlight code, describe changes.</a:t>
            </a:r>
            <a:endParaRPr lang="en-US" sz="600" dirty="0"/>
          </a:p>
        </p:txBody>
      </p:sp>
      <p:sp>
        <p:nvSpPr>
          <p:cNvPr id="32" name="Text 30"/>
          <p:cNvSpPr/>
          <p:nvPr/>
        </p:nvSpPr>
        <p:spPr>
          <a:xfrm>
            <a:off x="6405414" y="3523655"/>
            <a:ext cx="2471886" cy="506611"/>
          </a:xfrm>
          <a:prstGeom prst="rect">
            <a:avLst/>
          </a:prstGeom>
          <a:solidFill>
            <a:srgbClr val="FFFFFF"/>
          </a:solidFill>
          <a:ln/>
        </p:spPr>
        <p:txBody>
          <a:bodyPr wrap="square" rtlCol="0" anchor="ctr"/>
          <a:lstStyle/>
          <a:p>
            <a:pPr indent="0" marL="0">
              <a:buNone/>
            </a:pPr>
            <a:endParaRPr lang="en-US" dirty="0"/>
          </a:p>
        </p:txBody>
      </p:sp>
      <p:sp>
        <p:nvSpPr>
          <p:cNvPr id="33" name="Shape 31"/>
          <p:cNvSpPr/>
          <p:nvPr/>
        </p:nvSpPr>
        <p:spPr>
          <a:xfrm>
            <a:off x="6419701" y="3523655"/>
            <a:ext cx="0" cy="506611"/>
          </a:xfrm>
          <a:prstGeom prst="line">
            <a:avLst/>
          </a:prstGeom>
          <a:noFill/>
          <a:ln w="28575">
            <a:solidFill>
              <a:srgbClr val="FF4785"/>
            </a:solidFill>
            <a:prstDash val="solid"/>
          </a:ln>
        </p:spPr>
      </p:sp>
      <p:sp>
        <p:nvSpPr>
          <p:cNvPr id="34" name="Text 32"/>
          <p:cNvSpPr/>
          <p:nvPr/>
        </p:nvSpPr>
        <p:spPr>
          <a:xfrm>
            <a:off x="6548289" y="3637955"/>
            <a:ext cx="225900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F4785"/>
                </a:solidFill>
                <a:latin typeface="Arial" pitchFamily="34" charset="0"/>
                <a:ea typeface="Arial" pitchFamily="34" charset="-122"/>
                <a:cs typeface="Arial" pitchFamily="34" charset="-120"/>
              </a:rPr>
              <a:t>AGENTS</a:t>
            </a:r>
            <a:endParaRPr lang="en-US" sz="750" dirty="0"/>
          </a:p>
        </p:txBody>
      </p:sp>
      <p:sp>
        <p:nvSpPr>
          <p:cNvPr id="35" name="Text 33"/>
          <p:cNvSpPr/>
          <p:nvPr/>
        </p:nvSpPr>
        <p:spPr>
          <a:xfrm>
            <a:off x="6548289" y="3809405"/>
            <a:ext cx="2259006"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@codebase for semantic search. Slash commands for workflows.</a:t>
            </a:r>
            <a:endParaRPr lang="en-US" sz="600" dirty="0"/>
          </a:p>
        </p:txBody>
      </p:sp>
      <p:sp>
        <p:nvSpPr>
          <p:cNvPr id="36" name="Text 34"/>
          <p:cNvSpPr/>
          <p:nvPr/>
        </p:nvSpPr>
        <p:spPr>
          <a:xfrm>
            <a:off x="3838277" y="4296966"/>
            <a:ext cx="5039023" cy="445591"/>
          </a:xfrm>
          <a:prstGeom prst="rect">
            <a:avLst/>
          </a:prstGeom>
          <a:solidFill>
            <a:srgbClr val="DCFCE7"/>
          </a:solidFill>
          <a:ln/>
        </p:spPr>
        <p:txBody>
          <a:bodyPr wrap="square" rtlCol="0" anchor="ctr"/>
          <a:lstStyle/>
          <a:p>
            <a:pPr indent="0" marL="0">
              <a:buNone/>
            </a:pPr>
            <a:endParaRPr lang="en-US" dirty="0"/>
          </a:p>
        </p:txBody>
      </p:sp>
      <p:sp>
        <p:nvSpPr>
          <p:cNvPr id="37" name="Shape 35"/>
          <p:cNvSpPr/>
          <p:nvPr/>
        </p:nvSpPr>
        <p:spPr>
          <a:xfrm>
            <a:off x="3852565" y="4296966"/>
            <a:ext cx="0" cy="445591"/>
          </a:xfrm>
          <a:prstGeom prst="line">
            <a:avLst/>
          </a:prstGeom>
          <a:noFill/>
          <a:ln w="28575">
            <a:solidFill>
              <a:srgbClr val="059669"/>
            </a:solidFill>
            <a:prstDash val="solid"/>
          </a:ln>
        </p:spPr>
      </p:sp>
      <p:sp>
        <p:nvSpPr>
          <p:cNvPr id="38" name="Text 36"/>
          <p:cNvSpPr/>
          <p:nvPr/>
        </p:nvSpPr>
        <p:spPr>
          <a:xfrm>
            <a:off x="3962102" y="4392216"/>
            <a:ext cx="4916347" cy="119955"/>
          </a:xfrm>
          <a:prstGeom prst="rect">
            <a:avLst/>
          </a:prstGeom>
          <a:noFill/>
          <a:ln/>
        </p:spPr>
        <p:txBody>
          <a:bodyPr wrap="square" lIns="0" tIns="0" rIns="0" bIns="0" rtlCol="0" anchor="t"/>
          <a:lstStyle/>
          <a:p>
            <a:pPr algn="l" indent="0" marL="0">
              <a:lnSpc>
                <a:spcPts val="945"/>
              </a:lnSpc>
              <a:spcAft>
                <a:spcPts val="225"/>
              </a:spcAft>
              <a:buNone/>
            </a:pPr>
            <a:r>
              <a:rPr lang="en-US" sz="675" b="1" dirty="0">
                <a:solidFill>
                  <a:srgbClr val="166534"/>
                </a:solidFill>
                <a:latin typeface="Arial" pitchFamily="34" charset="0"/>
                <a:ea typeface="Arial" pitchFamily="34" charset="-122"/>
                <a:cs typeface="Arial" pitchFamily="34" charset="-120"/>
              </a:rPr>
              <a:t>WHY CONTINUE</a:t>
            </a:r>
            <a:endParaRPr lang="en-US" sz="675" dirty="0"/>
          </a:p>
        </p:txBody>
      </p:sp>
      <p:sp>
        <p:nvSpPr>
          <p:cNvPr id="39" name="Text 37"/>
          <p:cNvSpPr/>
          <p:nvPr/>
        </p:nvSpPr>
        <p:spPr>
          <a:xfrm>
            <a:off x="3962102" y="4540746"/>
            <a:ext cx="4916347" cy="106561"/>
          </a:xfrm>
          <a:prstGeom prst="rect">
            <a:avLst/>
          </a:prstGeom>
          <a:noFill/>
          <a:ln/>
        </p:spPr>
        <p:txBody>
          <a:bodyPr wrap="square" lIns="0" tIns="0" rIns="0" bIns="0" rtlCol="0" anchor="t"/>
          <a:lstStyle/>
          <a:p>
            <a:pPr algn="l" indent="0" marL="0">
              <a:lnSpc>
                <a:spcPts val="840"/>
              </a:lnSpc>
              <a:buNone/>
            </a:pPr>
            <a:r>
              <a:rPr lang="en-US" sz="600" dirty="0">
                <a:solidFill>
                  <a:srgbClr val="166534"/>
                </a:solidFill>
                <a:latin typeface="Arial" pitchFamily="34" charset="0"/>
                <a:ea typeface="Arial" pitchFamily="34" charset="-122"/>
                <a:cs typeface="Arial" pitchFamily="34" charset="-120"/>
              </a:rPr>
              <a:t>Best for teams who want full control over their AI stack. Supports 50+ model providers including all major clouds.</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772716"/>
            <a:ext cx="600075" cy="182761"/>
          </a:xfrm>
          <a:prstGeom prst="rect">
            <a:avLst/>
          </a:prstGeom>
          <a:solidFill>
            <a:srgbClr val="D97706"/>
          </a:solidFill>
          <a:ln/>
        </p:spPr>
        <p:txBody>
          <a:bodyPr wrap="square" rtlCol="0" anchor="ctr"/>
          <a:lstStyle/>
          <a:p>
            <a:pPr indent="0" marL="0">
              <a:buNone/>
            </a:pPr>
            <a:endParaRPr lang="en-US" dirty="0"/>
          </a:p>
        </p:txBody>
      </p:sp>
      <p:sp>
        <p:nvSpPr>
          <p:cNvPr id="4" name="Text 2"/>
          <p:cNvSpPr/>
          <p:nvPr/>
        </p:nvSpPr>
        <p:spPr>
          <a:xfrm>
            <a:off x="361950" y="810816"/>
            <a:ext cx="417767" cy="106561"/>
          </a:xfrm>
          <a:prstGeom prst="rect">
            <a:avLst/>
          </a:prstGeom>
          <a:noFill/>
          <a:ln/>
        </p:spPr>
        <p:txBody>
          <a:bodyPr wrap="square" lIns="0" tIns="0" rIns="0" bIns="0" rtlCol="0" anchor="t"/>
          <a:lstStyle/>
          <a:p>
            <a:pPr algn="l" indent="0" marL="0">
              <a:lnSpc>
                <a:spcPts val="840"/>
              </a:lnSpc>
              <a:buNone/>
            </a:pPr>
            <a:r>
              <a:rPr lang="en-US" sz="600" b="1" dirty="0">
                <a:solidFill>
                  <a:srgbClr val="FFFFFF"/>
                </a:solidFill>
                <a:latin typeface="Arial" pitchFamily="34" charset="0"/>
                <a:ea typeface="Arial" pitchFamily="34" charset="-122"/>
                <a:cs typeface="Arial" pitchFamily="34" charset="-120"/>
              </a:rPr>
              <a:t>AGENTIC</a:t>
            </a:r>
            <a:endParaRPr lang="en-US" sz="600" dirty="0"/>
          </a:p>
        </p:txBody>
      </p:sp>
      <p:sp>
        <p:nvSpPr>
          <p:cNvPr id="5" name="Text 3"/>
          <p:cNvSpPr/>
          <p:nvPr/>
        </p:nvSpPr>
        <p:spPr>
          <a:xfrm>
            <a:off x="266700" y="1203127"/>
            <a:ext cx="1476756" cy="319980"/>
          </a:xfrm>
          <a:prstGeom prst="rect">
            <a:avLst/>
          </a:prstGeom>
          <a:noFill/>
          <a:ln/>
        </p:spPr>
        <p:txBody>
          <a:bodyPr wrap="square" lIns="0" tIns="0" rIns="0" bIns="0" rtlCol="0" anchor="t"/>
          <a:lstStyle/>
          <a:p>
            <a:pPr algn="l" indent="0" marL="0">
              <a:lnSpc>
                <a:spcPts val="2520"/>
              </a:lnSpc>
              <a:spcAft>
                <a:spcPts val="750"/>
              </a:spcAft>
              <a:buNone/>
            </a:pPr>
            <a:r>
              <a:rPr lang="en-US" sz="2100" dirty="0">
                <a:solidFill>
                  <a:srgbClr val="FFFFFF"/>
                </a:solidFill>
                <a:latin typeface="Georgia" pitchFamily="34" charset="0"/>
                <a:ea typeface="Georgia" pitchFamily="34" charset="-122"/>
                <a:cs typeface="Georgia" pitchFamily="34" charset="-120"/>
              </a:rPr>
              <a:t>Cline</a:t>
            </a:r>
            <a:endParaRPr lang="en-US" sz="2100" dirty="0"/>
          </a:p>
        </p:txBody>
      </p:sp>
      <p:sp>
        <p:nvSpPr>
          <p:cNvPr id="6" name="Text 4"/>
          <p:cNvSpPr/>
          <p:nvPr/>
        </p:nvSpPr>
        <p:spPr>
          <a:xfrm>
            <a:off x="266700" y="1770757"/>
            <a:ext cx="2943493" cy="146596"/>
          </a:xfrm>
          <a:prstGeom prst="rect">
            <a:avLst/>
          </a:prstGeom>
          <a:noFill/>
          <a:ln/>
        </p:spPr>
        <p:txBody>
          <a:bodyPr wrap="square" lIns="0" tIns="0" rIns="0" bIns="0" rtlCol="0" anchor="t"/>
          <a:lstStyle/>
          <a:p>
            <a:pPr algn="l" indent="0" marL="0">
              <a:lnSpc>
                <a:spcPts val="1155"/>
              </a:lnSpc>
              <a:spcAft>
                <a:spcPts val="750"/>
              </a:spcAft>
              <a:buNone/>
            </a:pPr>
            <a:r>
              <a:rPr lang="en-US" sz="825" dirty="0">
                <a:solidFill>
                  <a:srgbClr val="FFFFFF">
                    <a:alpha val="50000"/>
                  </a:srgbClr>
                </a:solidFill>
                <a:latin typeface="Arial" pitchFamily="34" charset="0"/>
                <a:ea typeface="Arial" pitchFamily="34" charset="-122"/>
                <a:cs typeface="Arial" pitchFamily="34" charset="-120"/>
              </a:rPr>
              <a:t>Formerly Claude Dev</a:t>
            </a:r>
            <a:endParaRPr lang="en-US" sz="825" dirty="0"/>
          </a:p>
        </p:txBody>
      </p:sp>
      <p:sp>
        <p:nvSpPr>
          <p:cNvPr id="7" name="Text 5"/>
          <p:cNvSpPr/>
          <p:nvPr/>
        </p:nvSpPr>
        <p:spPr>
          <a:xfrm>
            <a:off x="266700" y="2165003"/>
            <a:ext cx="381000" cy="19050"/>
          </a:xfrm>
          <a:prstGeom prst="rect">
            <a:avLst/>
          </a:prstGeom>
          <a:solidFill>
            <a:srgbClr val="C9A227"/>
          </a:solidFill>
          <a:ln/>
        </p:spPr>
        <p:txBody>
          <a:bodyPr wrap="square" rtlCol="0" anchor="ctr"/>
          <a:lstStyle/>
          <a:p>
            <a:pPr indent="0" marL="0">
              <a:buNone/>
            </a:pPr>
            <a:endParaRPr lang="en-US" dirty="0"/>
          </a:p>
        </p:txBody>
      </p:sp>
      <p:sp>
        <p:nvSpPr>
          <p:cNvPr id="8" name="Text 6"/>
          <p:cNvSpPr/>
          <p:nvPr/>
        </p:nvSpPr>
        <p:spPr>
          <a:xfrm>
            <a:off x="266700" y="2469803"/>
            <a:ext cx="2885777" cy="685800"/>
          </a:xfrm>
          <a:prstGeom prst="rect">
            <a:avLst/>
          </a:prstGeom>
          <a:solidFill>
            <a:srgbClr val="D97706">
              <a:alpha val="15000"/>
            </a:srgbClr>
          </a:solidFill>
          <a:ln/>
        </p:spPr>
        <p:txBody>
          <a:bodyPr wrap="square" rtlCol="0" anchor="ctr"/>
          <a:lstStyle/>
          <a:p>
            <a:pPr indent="0" marL="0">
              <a:buNone/>
            </a:pPr>
            <a:endParaRPr lang="en-US" dirty="0"/>
          </a:p>
        </p:txBody>
      </p:sp>
      <p:sp>
        <p:nvSpPr>
          <p:cNvPr id="9" name="Shape 7"/>
          <p:cNvSpPr/>
          <p:nvPr/>
        </p:nvSpPr>
        <p:spPr>
          <a:xfrm>
            <a:off x="280988" y="2469803"/>
            <a:ext cx="0" cy="685800"/>
          </a:xfrm>
          <a:prstGeom prst="line">
            <a:avLst/>
          </a:prstGeom>
          <a:noFill/>
          <a:ln w="28575">
            <a:solidFill>
              <a:srgbClr val="D97706"/>
            </a:solidFill>
            <a:prstDash val="solid"/>
          </a:ln>
        </p:spPr>
      </p:sp>
      <p:sp>
        <p:nvSpPr>
          <p:cNvPr id="10" name="Text 8"/>
          <p:cNvSpPr/>
          <p:nvPr/>
        </p:nvSpPr>
        <p:spPr>
          <a:xfrm>
            <a:off x="409575" y="2584103"/>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BBF24"/>
                </a:solidFill>
                <a:latin typeface="Arial" pitchFamily="34" charset="0"/>
                <a:ea typeface="Arial" pitchFamily="34" charset="-122"/>
                <a:cs typeface="Arial" pitchFamily="34" charset="-120"/>
              </a:rPr>
              <a:t>AUTONOMOUS AGENT</a:t>
            </a:r>
            <a:endParaRPr lang="en-US" sz="750" dirty="0"/>
          </a:p>
        </p:txBody>
      </p:sp>
      <p:sp>
        <p:nvSpPr>
          <p:cNvPr id="11" name="Text 9"/>
          <p:cNvSpPr/>
          <p:nvPr/>
        </p:nvSpPr>
        <p:spPr>
          <a:xfrm>
            <a:off x="409575" y="2755553"/>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AI that can create files, run commands, and browse the web — with approval.</a:t>
            </a:r>
            <a:endParaRPr lang="en-US" sz="750" dirty="0"/>
          </a:p>
        </p:txBody>
      </p:sp>
      <p:sp>
        <p:nvSpPr>
          <p:cNvPr id="12" name="Text 10"/>
          <p:cNvSpPr/>
          <p:nvPr/>
        </p:nvSpPr>
        <p:spPr>
          <a:xfrm>
            <a:off x="266700" y="3441353"/>
            <a:ext cx="2885777" cy="929283"/>
          </a:xfrm>
          <a:prstGeom prst="rect">
            <a:avLst/>
          </a:prstGeom>
          <a:solidFill>
            <a:srgbClr val="FFFFFF">
              <a:alpha val="5000"/>
            </a:srgbClr>
          </a:solidFill>
          <a:ln/>
        </p:spPr>
        <p:txBody>
          <a:bodyPr wrap="square" rtlCol="0" anchor="ctr"/>
          <a:lstStyle/>
          <a:p>
            <a:pPr indent="0" marL="0">
              <a:buNone/>
            </a:pPr>
            <a:endParaRPr lang="en-US" dirty="0"/>
          </a:p>
        </p:txBody>
      </p:sp>
      <p:sp>
        <p:nvSpPr>
          <p:cNvPr id="13" name="Text 11"/>
          <p:cNvSpPr/>
          <p:nvPr/>
        </p:nvSpPr>
        <p:spPr>
          <a:xfrm>
            <a:off x="361950" y="3536603"/>
            <a:ext cx="2749183"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CAPABILITIES</a:t>
            </a:r>
            <a:endParaRPr lang="en-US" sz="750" dirty="0"/>
          </a:p>
        </p:txBody>
      </p:sp>
      <p:sp>
        <p:nvSpPr>
          <p:cNvPr id="14" name="Text 12"/>
          <p:cNvSpPr/>
          <p:nvPr/>
        </p:nvSpPr>
        <p:spPr>
          <a:xfrm>
            <a:off x="361950" y="3727103"/>
            <a:ext cx="2749183" cy="548283"/>
          </a:xfrm>
          <a:prstGeom prst="rect">
            <a:avLst/>
          </a:prstGeom>
          <a:noFill/>
          <a:ln/>
        </p:spPr>
        <p:txBody>
          <a:bodyPr wrap="square" lIns="0" tIns="0" rIns="0" bIns="0" rtlCol="0" anchor="t"/>
          <a:lstStyle/>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File creation/editing</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Terminal commands</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Browser automation</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Multi-step tasks</a:t>
            </a:r>
            <a:endParaRPr lang="en-US" sz="675" dirty="0"/>
          </a:p>
        </p:txBody>
      </p:sp>
      <p:sp>
        <p:nvSpPr>
          <p:cNvPr id="15" name="Text 13"/>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6" name="Text 14"/>
          <p:cNvSpPr/>
          <p:nvPr/>
        </p:nvSpPr>
        <p:spPr>
          <a:xfrm>
            <a:off x="3838277" y="775692"/>
            <a:ext cx="5139803" cy="159990"/>
          </a:xfrm>
          <a:prstGeom prst="rect">
            <a:avLst/>
          </a:prstGeom>
          <a:noFill/>
          <a:ln/>
        </p:spPr>
        <p:txBody>
          <a:bodyPr wrap="square" lIns="0" tIns="0" rIns="0" bIns="0" rtlCol="0" anchor="t"/>
          <a:lstStyle/>
          <a:p>
            <a:pPr algn="l" indent="0" marL="0">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PROVIDER SUPPORT</a:t>
            </a:r>
            <a:endParaRPr lang="en-US" sz="900" dirty="0"/>
          </a:p>
        </p:txBody>
      </p:sp>
      <p:sp>
        <p:nvSpPr>
          <p:cNvPr id="17" name="Text 15"/>
          <p:cNvSpPr/>
          <p:nvPr/>
        </p:nvSpPr>
        <p:spPr>
          <a:xfrm>
            <a:off x="3838277" y="1202382"/>
            <a:ext cx="2471886" cy="613172"/>
          </a:xfrm>
          <a:prstGeom prst="rect">
            <a:avLst/>
          </a:prstGeom>
          <a:solidFill>
            <a:srgbClr val="FFFFFF"/>
          </a:solidFill>
          <a:ln/>
        </p:spPr>
        <p:txBody>
          <a:bodyPr wrap="square" rtlCol="0" anchor="ctr"/>
          <a:lstStyle/>
          <a:p>
            <a:pPr indent="0" marL="0">
              <a:buNone/>
            </a:pPr>
            <a:endParaRPr lang="en-US" dirty="0"/>
          </a:p>
        </p:txBody>
      </p:sp>
      <p:sp>
        <p:nvSpPr>
          <p:cNvPr id="18" name="Shape 16"/>
          <p:cNvSpPr/>
          <p:nvPr/>
        </p:nvSpPr>
        <p:spPr>
          <a:xfrm>
            <a:off x="3852565" y="1202382"/>
            <a:ext cx="0" cy="613172"/>
          </a:xfrm>
          <a:prstGeom prst="line">
            <a:avLst/>
          </a:prstGeom>
          <a:noFill/>
          <a:ln w="28575">
            <a:solidFill>
              <a:srgbClr val="0078D4"/>
            </a:solidFill>
            <a:prstDash val="solid"/>
          </a:ln>
        </p:spPr>
      </p:sp>
      <p:sp>
        <p:nvSpPr>
          <p:cNvPr id="19" name="Text 17"/>
          <p:cNvSpPr/>
          <p:nvPr/>
        </p:nvSpPr>
        <p:spPr>
          <a:xfrm>
            <a:off x="3981152" y="1316682"/>
            <a:ext cx="225900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0078D4"/>
                </a:solidFill>
                <a:latin typeface="Arial" pitchFamily="34" charset="0"/>
                <a:ea typeface="Arial" pitchFamily="34" charset="-122"/>
                <a:cs typeface="Arial" pitchFamily="34" charset="-120"/>
              </a:rPr>
              <a:t>AZURE OPENAI</a:t>
            </a:r>
            <a:endParaRPr lang="en-US" sz="750" dirty="0"/>
          </a:p>
        </p:txBody>
      </p:sp>
      <p:sp>
        <p:nvSpPr>
          <p:cNvPr id="20" name="Text 18"/>
          <p:cNvSpPr/>
          <p:nvPr/>
        </p:nvSpPr>
        <p:spPr>
          <a:xfrm>
            <a:off x="3981152" y="1488132"/>
            <a:ext cx="2259006"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Full support via API key. Enter endpoint, deployment name, API version.</a:t>
            </a:r>
            <a:endParaRPr lang="en-US" sz="600" dirty="0"/>
          </a:p>
        </p:txBody>
      </p:sp>
      <p:sp>
        <p:nvSpPr>
          <p:cNvPr id="21" name="Text 19"/>
          <p:cNvSpPr/>
          <p:nvPr/>
        </p:nvSpPr>
        <p:spPr>
          <a:xfrm>
            <a:off x="6405414" y="1202382"/>
            <a:ext cx="2471886" cy="613172"/>
          </a:xfrm>
          <a:prstGeom prst="rect">
            <a:avLst/>
          </a:prstGeom>
          <a:solidFill>
            <a:srgbClr val="FFFFFF"/>
          </a:solidFill>
          <a:ln/>
        </p:spPr>
        <p:txBody>
          <a:bodyPr wrap="square" rtlCol="0" anchor="ctr"/>
          <a:lstStyle/>
          <a:p>
            <a:pPr indent="0" marL="0">
              <a:buNone/>
            </a:pPr>
            <a:endParaRPr lang="en-US" dirty="0"/>
          </a:p>
        </p:txBody>
      </p:sp>
      <p:sp>
        <p:nvSpPr>
          <p:cNvPr id="22" name="Shape 20"/>
          <p:cNvSpPr/>
          <p:nvPr/>
        </p:nvSpPr>
        <p:spPr>
          <a:xfrm>
            <a:off x="6419701" y="1202382"/>
            <a:ext cx="0" cy="613172"/>
          </a:xfrm>
          <a:prstGeom prst="line">
            <a:avLst/>
          </a:prstGeom>
          <a:noFill/>
          <a:ln w="28575">
            <a:solidFill>
              <a:srgbClr val="FF9900"/>
            </a:solidFill>
            <a:prstDash val="solid"/>
          </a:ln>
        </p:spPr>
      </p:sp>
      <p:sp>
        <p:nvSpPr>
          <p:cNvPr id="23" name="Text 21"/>
          <p:cNvSpPr/>
          <p:nvPr/>
        </p:nvSpPr>
        <p:spPr>
          <a:xfrm>
            <a:off x="6548289" y="1316682"/>
            <a:ext cx="225900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F9900"/>
                </a:solidFill>
                <a:latin typeface="Arial" pitchFamily="34" charset="0"/>
                <a:ea typeface="Arial" pitchFamily="34" charset="-122"/>
                <a:cs typeface="Arial" pitchFamily="34" charset="-120"/>
              </a:rPr>
              <a:t>AWS BEDROCK</a:t>
            </a:r>
            <a:endParaRPr lang="en-US" sz="750" dirty="0"/>
          </a:p>
        </p:txBody>
      </p:sp>
      <p:sp>
        <p:nvSpPr>
          <p:cNvPr id="24" name="Text 22"/>
          <p:cNvSpPr/>
          <p:nvPr/>
        </p:nvSpPr>
        <p:spPr>
          <a:xfrm>
            <a:off x="6548289" y="1488132"/>
            <a:ext cx="2259006"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Supports Claude models via Bedrock. Configure with AWS credentials.</a:t>
            </a:r>
            <a:endParaRPr lang="en-US" sz="600" dirty="0"/>
          </a:p>
        </p:txBody>
      </p:sp>
      <p:sp>
        <p:nvSpPr>
          <p:cNvPr id="25" name="Text 23"/>
          <p:cNvSpPr/>
          <p:nvPr/>
        </p:nvSpPr>
        <p:spPr>
          <a:xfrm>
            <a:off x="3838277" y="2063204"/>
            <a:ext cx="2471886" cy="613172"/>
          </a:xfrm>
          <a:prstGeom prst="rect">
            <a:avLst/>
          </a:prstGeom>
          <a:solidFill>
            <a:srgbClr val="FFFFFF"/>
          </a:solidFill>
          <a:ln/>
        </p:spPr>
        <p:txBody>
          <a:bodyPr wrap="square" rtlCol="0" anchor="ctr"/>
          <a:lstStyle/>
          <a:p>
            <a:pPr indent="0" marL="0">
              <a:buNone/>
            </a:pPr>
            <a:endParaRPr lang="en-US" dirty="0"/>
          </a:p>
        </p:txBody>
      </p:sp>
      <p:sp>
        <p:nvSpPr>
          <p:cNvPr id="26" name="Shape 24"/>
          <p:cNvSpPr/>
          <p:nvPr/>
        </p:nvSpPr>
        <p:spPr>
          <a:xfrm>
            <a:off x="3852565" y="2063204"/>
            <a:ext cx="0" cy="613172"/>
          </a:xfrm>
          <a:prstGeom prst="line">
            <a:avLst/>
          </a:prstGeom>
          <a:noFill/>
          <a:ln w="28575">
            <a:solidFill>
              <a:srgbClr val="4285F4"/>
            </a:solidFill>
            <a:prstDash val="solid"/>
          </a:ln>
        </p:spPr>
      </p:sp>
      <p:sp>
        <p:nvSpPr>
          <p:cNvPr id="27" name="Text 25"/>
          <p:cNvSpPr/>
          <p:nvPr/>
        </p:nvSpPr>
        <p:spPr>
          <a:xfrm>
            <a:off x="3981152" y="2177504"/>
            <a:ext cx="225900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4285F4"/>
                </a:solidFill>
                <a:latin typeface="Arial" pitchFamily="34" charset="0"/>
                <a:ea typeface="Arial" pitchFamily="34" charset="-122"/>
                <a:cs typeface="Arial" pitchFamily="34" charset="-120"/>
              </a:rPr>
              <a:t>VERTEX AI</a:t>
            </a:r>
            <a:endParaRPr lang="en-US" sz="750" dirty="0"/>
          </a:p>
        </p:txBody>
      </p:sp>
      <p:sp>
        <p:nvSpPr>
          <p:cNvPr id="28" name="Text 26"/>
          <p:cNvSpPr/>
          <p:nvPr/>
        </p:nvSpPr>
        <p:spPr>
          <a:xfrm>
            <a:off x="3981152" y="2348954"/>
            <a:ext cx="2259006"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Google Cloud integration. Use Claude or Gemini models via Vertex.</a:t>
            </a:r>
            <a:endParaRPr lang="en-US" sz="600" dirty="0"/>
          </a:p>
        </p:txBody>
      </p:sp>
      <p:sp>
        <p:nvSpPr>
          <p:cNvPr id="29" name="Text 27"/>
          <p:cNvSpPr/>
          <p:nvPr/>
        </p:nvSpPr>
        <p:spPr>
          <a:xfrm>
            <a:off x="6405414" y="2116485"/>
            <a:ext cx="2471886" cy="506611"/>
          </a:xfrm>
          <a:prstGeom prst="rect">
            <a:avLst/>
          </a:prstGeom>
          <a:solidFill>
            <a:srgbClr val="FFFFFF"/>
          </a:solidFill>
          <a:ln/>
        </p:spPr>
        <p:txBody>
          <a:bodyPr wrap="square" rtlCol="0" anchor="ctr"/>
          <a:lstStyle/>
          <a:p>
            <a:pPr indent="0" marL="0">
              <a:buNone/>
            </a:pPr>
            <a:endParaRPr lang="en-US" dirty="0"/>
          </a:p>
        </p:txBody>
      </p:sp>
      <p:sp>
        <p:nvSpPr>
          <p:cNvPr id="30" name="Shape 28"/>
          <p:cNvSpPr/>
          <p:nvPr/>
        </p:nvSpPr>
        <p:spPr>
          <a:xfrm>
            <a:off x="6419701" y="2116485"/>
            <a:ext cx="0" cy="506611"/>
          </a:xfrm>
          <a:prstGeom prst="line">
            <a:avLst/>
          </a:prstGeom>
          <a:noFill/>
          <a:ln w="28575">
            <a:solidFill>
              <a:srgbClr val="8B5CF6"/>
            </a:solidFill>
            <a:prstDash val="solid"/>
          </a:ln>
        </p:spPr>
      </p:sp>
      <p:sp>
        <p:nvSpPr>
          <p:cNvPr id="31" name="Text 29"/>
          <p:cNvSpPr/>
          <p:nvPr/>
        </p:nvSpPr>
        <p:spPr>
          <a:xfrm>
            <a:off x="6548289" y="2230785"/>
            <a:ext cx="225900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8B5CF6"/>
                </a:solidFill>
                <a:latin typeface="Arial" pitchFamily="34" charset="0"/>
                <a:ea typeface="Arial" pitchFamily="34" charset="-122"/>
                <a:cs typeface="Arial" pitchFamily="34" charset="-120"/>
              </a:rPr>
              <a:t>LOCAL / OLLAMA</a:t>
            </a:r>
            <a:endParaRPr lang="en-US" sz="750" dirty="0"/>
          </a:p>
        </p:txBody>
      </p:sp>
      <p:sp>
        <p:nvSpPr>
          <p:cNvPr id="32" name="Text 30"/>
          <p:cNvSpPr/>
          <p:nvPr/>
        </p:nvSpPr>
        <p:spPr>
          <a:xfrm>
            <a:off x="6548289" y="2402235"/>
            <a:ext cx="2259006"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OpenAI-compatible endpoint. Point to localhost:11434 for Ollama.</a:t>
            </a:r>
            <a:endParaRPr lang="en-US" sz="600" dirty="0"/>
          </a:p>
        </p:txBody>
      </p:sp>
      <p:sp>
        <p:nvSpPr>
          <p:cNvPr id="33" name="Text 31"/>
          <p:cNvSpPr/>
          <p:nvPr/>
        </p:nvSpPr>
        <p:spPr>
          <a:xfrm>
            <a:off x="3838277" y="2943076"/>
            <a:ext cx="5039023" cy="731341"/>
          </a:xfrm>
          <a:prstGeom prst="rect">
            <a:avLst/>
          </a:prstGeom>
          <a:solidFill>
            <a:srgbClr val="1A1F2E"/>
          </a:solidFill>
          <a:ln/>
        </p:spPr>
        <p:txBody>
          <a:bodyPr wrap="square" rtlCol="0" anchor="ctr"/>
          <a:lstStyle/>
          <a:p>
            <a:pPr indent="0" marL="0">
              <a:buNone/>
            </a:pPr>
            <a:endParaRPr lang="en-US" dirty="0"/>
          </a:p>
        </p:txBody>
      </p:sp>
      <p:sp>
        <p:nvSpPr>
          <p:cNvPr id="34" name="Text 32"/>
          <p:cNvSpPr/>
          <p:nvPr/>
        </p:nvSpPr>
        <p:spPr>
          <a:xfrm>
            <a:off x="3971627" y="3076426"/>
            <a:ext cx="4867769" cy="133350"/>
          </a:xfrm>
          <a:prstGeom prst="rect">
            <a:avLst/>
          </a:prstGeom>
          <a:noFill/>
          <a:ln/>
        </p:spPr>
        <p:txBody>
          <a:bodyPr wrap="square" lIns="0" tIns="0" rIns="0" bIns="0" rtlCol="0" anchor="t"/>
          <a:lstStyle/>
          <a:p>
            <a:pPr algn="l" indent="0" marL="0">
              <a:lnSpc>
                <a:spcPts val="1050"/>
              </a:lnSpc>
              <a:spcAft>
                <a:spcPts val="600"/>
              </a:spcAft>
              <a:buNone/>
            </a:pPr>
            <a:r>
              <a:rPr lang="en-US" sz="750" b="1" dirty="0">
                <a:solidFill>
                  <a:srgbClr val="C9A227"/>
                </a:solidFill>
                <a:latin typeface="Arial" pitchFamily="34" charset="0"/>
                <a:ea typeface="Arial" pitchFamily="34" charset="-122"/>
                <a:cs typeface="Arial" pitchFamily="34" charset="-120"/>
              </a:rPr>
              <a:t>SAFETY MODEL</a:t>
            </a:r>
            <a:endParaRPr lang="en-US" sz="750" dirty="0"/>
          </a:p>
        </p:txBody>
      </p:sp>
      <p:sp>
        <p:nvSpPr>
          <p:cNvPr id="35" name="Text 33"/>
          <p:cNvSpPr/>
          <p:nvPr/>
        </p:nvSpPr>
        <p:spPr>
          <a:xfrm>
            <a:off x="3971627" y="3285976"/>
            <a:ext cx="1544916" cy="106561"/>
          </a:xfrm>
          <a:prstGeom prst="rect">
            <a:avLst/>
          </a:prstGeom>
          <a:noFill/>
          <a:ln/>
        </p:spPr>
        <p:txBody>
          <a:bodyPr wrap="square" lIns="0" tIns="0" rIns="0" bIns="0" rtlCol="0" anchor="t"/>
          <a:lstStyle/>
          <a:p>
            <a:pPr algn="l" indent="0" marL="0">
              <a:lnSpc>
                <a:spcPts val="840"/>
              </a:lnSpc>
              <a:spcAft>
                <a:spcPts val="225"/>
              </a:spcAft>
              <a:buNone/>
            </a:pPr>
            <a:r>
              <a:rPr lang="en-US" sz="600" dirty="0">
                <a:solidFill>
                  <a:srgbClr val="FFFFFF">
                    <a:alpha val="60000"/>
                  </a:srgbClr>
                </a:solidFill>
                <a:latin typeface="Arial" pitchFamily="34" charset="0"/>
                <a:ea typeface="Arial" pitchFamily="34" charset="-122"/>
                <a:cs typeface="Arial" pitchFamily="34" charset="-120"/>
              </a:rPr>
              <a:t>Human-in-Loop</a:t>
            </a:r>
            <a:endParaRPr lang="en-US" sz="600" dirty="0"/>
          </a:p>
        </p:txBody>
      </p:sp>
      <p:sp>
        <p:nvSpPr>
          <p:cNvPr id="36" name="Text 34"/>
          <p:cNvSpPr/>
          <p:nvPr/>
        </p:nvSpPr>
        <p:spPr>
          <a:xfrm>
            <a:off x="3971627" y="3421112"/>
            <a:ext cx="1544916" cy="119955"/>
          </a:xfrm>
          <a:prstGeom prst="rect">
            <a:avLst/>
          </a:prstGeom>
          <a:noFill/>
          <a:ln/>
        </p:spPr>
        <p:txBody>
          <a:bodyPr wrap="square" lIns="0" tIns="0" rIns="0" bIns="0" rtlCol="0" anchor="t"/>
          <a:lstStyle/>
          <a:p>
            <a:pPr algn="l" indent="0" marL="0">
              <a:lnSpc>
                <a:spcPts val="945"/>
              </a:lnSpc>
              <a:buNone/>
            </a:pPr>
            <a:r>
              <a:rPr lang="en-US" sz="675" dirty="0">
                <a:solidFill>
                  <a:srgbClr val="FFFFFF"/>
                </a:solidFill>
                <a:latin typeface="Arial" pitchFamily="34" charset="0"/>
                <a:ea typeface="Arial" pitchFamily="34" charset="-122"/>
                <a:cs typeface="Arial" pitchFamily="34" charset="-120"/>
              </a:rPr>
              <a:t>Approve each action</a:t>
            </a:r>
            <a:endParaRPr lang="en-US" sz="675" dirty="0"/>
          </a:p>
        </p:txBody>
      </p:sp>
      <p:sp>
        <p:nvSpPr>
          <p:cNvPr id="37" name="Text 35"/>
          <p:cNvSpPr/>
          <p:nvPr/>
        </p:nvSpPr>
        <p:spPr>
          <a:xfrm>
            <a:off x="5600551" y="3285976"/>
            <a:ext cx="1544916" cy="106561"/>
          </a:xfrm>
          <a:prstGeom prst="rect">
            <a:avLst/>
          </a:prstGeom>
          <a:noFill/>
          <a:ln/>
        </p:spPr>
        <p:txBody>
          <a:bodyPr wrap="square" lIns="0" tIns="0" rIns="0" bIns="0" rtlCol="0" anchor="t"/>
          <a:lstStyle/>
          <a:p>
            <a:pPr algn="l" indent="0" marL="0">
              <a:lnSpc>
                <a:spcPts val="840"/>
              </a:lnSpc>
              <a:spcAft>
                <a:spcPts val="225"/>
              </a:spcAft>
              <a:buNone/>
            </a:pPr>
            <a:r>
              <a:rPr lang="en-US" sz="600" dirty="0">
                <a:solidFill>
                  <a:srgbClr val="FFFFFF">
                    <a:alpha val="60000"/>
                  </a:srgbClr>
                </a:solidFill>
                <a:latin typeface="Arial" pitchFamily="34" charset="0"/>
                <a:ea typeface="Arial" pitchFamily="34" charset="-122"/>
                <a:cs typeface="Arial" pitchFamily="34" charset="-120"/>
              </a:rPr>
              <a:t>Auto-Approve</a:t>
            </a:r>
            <a:endParaRPr lang="en-US" sz="600" dirty="0"/>
          </a:p>
        </p:txBody>
      </p:sp>
      <p:sp>
        <p:nvSpPr>
          <p:cNvPr id="38" name="Text 36"/>
          <p:cNvSpPr/>
          <p:nvPr/>
        </p:nvSpPr>
        <p:spPr>
          <a:xfrm>
            <a:off x="5600551" y="3421112"/>
            <a:ext cx="1544916" cy="119955"/>
          </a:xfrm>
          <a:prstGeom prst="rect">
            <a:avLst/>
          </a:prstGeom>
          <a:noFill/>
          <a:ln/>
        </p:spPr>
        <p:txBody>
          <a:bodyPr wrap="square" lIns="0" tIns="0" rIns="0" bIns="0" rtlCol="0" anchor="t"/>
          <a:lstStyle/>
          <a:p>
            <a:pPr algn="l" indent="0" marL="0">
              <a:lnSpc>
                <a:spcPts val="945"/>
              </a:lnSpc>
              <a:buNone/>
            </a:pPr>
            <a:r>
              <a:rPr lang="en-US" sz="675" dirty="0">
                <a:solidFill>
                  <a:srgbClr val="FFFFFF"/>
                </a:solidFill>
                <a:latin typeface="Arial" pitchFamily="34" charset="0"/>
                <a:ea typeface="Arial" pitchFamily="34" charset="-122"/>
                <a:cs typeface="Arial" pitchFamily="34" charset="-120"/>
              </a:rPr>
              <a:t>For trusted operations</a:t>
            </a:r>
            <a:endParaRPr lang="en-US" sz="675" dirty="0"/>
          </a:p>
        </p:txBody>
      </p:sp>
      <p:sp>
        <p:nvSpPr>
          <p:cNvPr id="39" name="Text 37"/>
          <p:cNvSpPr/>
          <p:nvPr/>
        </p:nvSpPr>
        <p:spPr>
          <a:xfrm>
            <a:off x="7229475" y="3285976"/>
            <a:ext cx="1544916" cy="106561"/>
          </a:xfrm>
          <a:prstGeom prst="rect">
            <a:avLst/>
          </a:prstGeom>
          <a:noFill/>
          <a:ln/>
        </p:spPr>
        <p:txBody>
          <a:bodyPr wrap="square" lIns="0" tIns="0" rIns="0" bIns="0" rtlCol="0" anchor="t"/>
          <a:lstStyle/>
          <a:p>
            <a:pPr algn="l" indent="0" marL="0">
              <a:lnSpc>
                <a:spcPts val="840"/>
              </a:lnSpc>
              <a:spcAft>
                <a:spcPts val="225"/>
              </a:spcAft>
              <a:buNone/>
            </a:pPr>
            <a:r>
              <a:rPr lang="en-US" sz="600" dirty="0">
                <a:solidFill>
                  <a:srgbClr val="FFFFFF">
                    <a:alpha val="60000"/>
                  </a:srgbClr>
                </a:solidFill>
                <a:latin typeface="Arial" pitchFamily="34" charset="0"/>
                <a:ea typeface="Arial" pitchFamily="34" charset="-122"/>
                <a:cs typeface="Arial" pitchFamily="34" charset="-120"/>
              </a:rPr>
              <a:t>Cost Tracking</a:t>
            </a:r>
            <a:endParaRPr lang="en-US" sz="600" dirty="0"/>
          </a:p>
        </p:txBody>
      </p:sp>
      <p:sp>
        <p:nvSpPr>
          <p:cNvPr id="40" name="Text 38"/>
          <p:cNvSpPr/>
          <p:nvPr/>
        </p:nvSpPr>
        <p:spPr>
          <a:xfrm>
            <a:off x="7229475" y="3421112"/>
            <a:ext cx="1544916" cy="119955"/>
          </a:xfrm>
          <a:prstGeom prst="rect">
            <a:avLst/>
          </a:prstGeom>
          <a:noFill/>
          <a:ln/>
        </p:spPr>
        <p:txBody>
          <a:bodyPr wrap="square" lIns="0" tIns="0" rIns="0" bIns="0" rtlCol="0" anchor="t"/>
          <a:lstStyle/>
          <a:p>
            <a:pPr algn="l" indent="0" marL="0">
              <a:lnSpc>
                <a:spcPts val="945"/>
              </a:lnSpc>
              <a:buNone/>
            </a:pPr>
            <a:r>
              <a:rPr lang="en-US" sz="675" dirty="0">
                <a:solidFill>
                  <a:srgbClr val="FFFFFF"/>
                </a:solidFill>
                <a:latin typeface="Arial" pitchFamily="34" charset="0"/>
                <a:ea typeface="Arial" pitchFamily="34" charset="-122"/>
                <a:cs typeface="Arial" pitchFamily="34" charset="-120"/>
              </a:rPr>
              <a:t>Real-time token usage</a:t>
            </a:r>
            <a:endParaRPr lang="en-US" sz="675" dirty="0"/>
          </a:p>
        </p:txBody>
      </p:sp>
      <p:sp>
        <p:nvSpPr>
          <p:cNvPr id="41" name="Text 39"/>
          <p:cNvSpPr/>
          <p:nvPr/>
        </p:nvSpPr>
        <p:spPr>
          <a:xfrm>
            <a:off x="3838277" y="3922068"/>
            <a:ext cx="5039023" cy="445591"/>
          </a:xfrm>
          <a:prstGeom prst="rect">
            <a:avLst/>
          </a:prstGeom>
          <a:solidFill>
            <a:srgbClr val="FEF3C7"/>
          </a:solidFill>
          <a:ln/>
        </p:spPr>
        <p:txBody>
          <a:bodyPr wrap="square" rtlCol="0" anchor="ctr"/>
          <a:lstStyle/>
          <a:p>
            <a:pPr indent="0" marL="0">
              <a:buNone/>
            </a:pPr>
            <a:endParaRPr lang="en-US" dirty="0"/>
          </a:p>
        </p:txBody>
      </p:sp>
      <p:sp>
        <p:nvSpPr>
          <p:cNvPr id="42" name="Shape 40"/>
          <p:cNvSpPr/>
          <p:nvPr/>
        </p:nvSpPr>
        <p:spPr>
          <a:xfrm>
            <a:off x="3852565" y="3922068"/>
            <a:ext cx="0" cy="445591"/>
          </a:xfrm>
          <a:prstGeom prst="line">
            <a:avLst/>
          </a:prstGeom>
          <a:noFill/>
          <a:ln w="28575">
            <a:solidFill>
              <a:srgbClr val="F59E0B"/>
            </a:solidFill>
            <a:prstDash val="solid"/>
          </a:ln>
        </p:spPr>
      </p:sp>
      <p:sp>
        <p:nvSpPr>
          <p:cNvPr id="43" name="Text 41"/>
          <p:cNvSpPr/>
          <p:nvPr/>
        </p:nvSpPr>
        <p:spPr>
          <a:xfrm>
            <a:off x="3962102" y="4017318"/>
            <a:ext cx="4916347" cy="119955"/>
          </a:xfrm>
          <a:prstGeom prst="rect">
            <a:avLst/>
          </a:prstGeom>
          <a:noFill/>
          <a:ln/>
        </p:spPr>
        <p:txBody>
          <a:bodyPr wrap="square" lIns="0" tIns="0" rIns="0" bIns="0" rtlCol="0" anchor="t"/>
          <a:lstStyle/>
          <a:p>
            <a:pPr algn="l" indent="0" marL="0">
              <a:lnSpc>
                <a:spcPts val="945"/>
              </a:lnSpc>
              <a:spcAft>
                <a:spcPts val="225"/>
              </a:spcAft>
              <a:buNone/>
            </a:pPr>
            <a:r>
              <a:rPr lang="en-US" sz="675" b="1" dirty="0">
                <a:solidFill>
                  <a:srgbClr val="92400E"/>
                </a:solidFill>
                <a:latin typeface="Arial" pitchFamily="34" charset="0"/>
                <a:ea typeface="Arial" pitchFamily="34" charset="-122"/>
                <a:cs typeface="Arial" pitchFamily="34" charset="-120"/>
              </a:rPr>
              <a:t>BEST FOR</a:t>
            </a:r>
            <a:endParaRPr lang="en-US" sz="675" dirty="0"/>
          </a:p>
        </p:txBody>
      </p:sp>
      <p:sp>
        <p:nvSpPr>
          <p:cNvPr id="44" name="Text 42"/>
          <p:cNvSpPr/>
          <p:nvPr/>
        </p:nvSpPr>
        <p:spPr>
          <a:xfrm>
            <a:off x="3962102" y="4165848"/>
            <a:ext cx="4916347" cy="106561"/>
          </a:xfrm>
          <a:prstGeom prst="rect">
            <a:avLst/>
          </a:prstGeom>
          <a:noFill/>
          <a:ln/>
        </p:spPr>
        <p:txBody>
          <a:bodyPr wrap="square" lIns="0" tIns="0" rIns="0" bIns="0" rtlCol="0" anchor="t"/>
          <a:lstStyle/>
          <a:p>
            <a:pPr algn="l" indent="0" marL="0">
              <a:lnSpc>
                <a:spcPts val="840"/>
              </a:lnSpc>
              <a:buNone/>
            </a:pPr>
            <a:r>
              <a:rPr lang="en-US" sz="600" dirty="0">
                <a:solidFill>
                  <a:srgbClr val="92400E"/>
                </a:solidFill>
                <a:latin typeface="Arial" pitchFamily="34" charset="0"/>
                <a:ea typeface="Arial" pitchFamily="34" charset="-122"/>
                <a:cs typeface="Arial" pitchFamily="34" charset="-120"/>
              </a:rPr>
              <a:t>Complex multi-step tasks where you want AI to take actions. Higher cost but more capable than chat-only tools.</a:t>
            </a:r>
            <a:endParaRPr lang="en-US" sz="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969913"/>
            <a:ext cx="772716" cy="182761"/>
          </a:xfrm>
          <a:prstGeom prst="rect">
            <a:avLst/>
          </a:prstGeom>
          <a:solidFill>
            <a:srgbClr val="C9A227"/>
          </a:solidFill>
          <a:ln/>
        </p:spPr>
        <p:txBody>
          <a:bodyPr wrap="square" rtlCol="0" anchor="ctr"/>
          <a:lstStyle/>
          <a:p>
            <a:pPr indent="0" marL="0">
              <a:buNone/>
            </a:pPr>
            <a:endParaRPr lang="en-US" dirty="0"/>
          </a:p>
        </p:txBody>
      </p:sp>
      <p:sp>
        <p:nvSpPr>
          <p:cNvPr id="4" name="Text 2"/>
          <p:cNvSpPr/>
          <p:nvPr/>
        </p:nvSpPr>
        <p:spPr>
          <a:xfrm>
            <a:off x="361950" y="1008013"/>
            <a:ext cx="593860" cy="106561"/>
          </a:xfrm>
          <a:prstGeom prst="rect">
            <a:avLst/>
          </a:prstGeom>
          <a:noFill/>
          <a:ln/>
        </p:spPr>
        <p:txBody>
          <a:bodyPr wrap="square" lIns="0" tIns="0" rIns="0" bIns="0" rtlCol="0" anchor="t"/>
          <a:lstStyle/>
          <a:p>
            <a:pPr algn="l" indent="0" marL="0">
              <a:lnSpc>
                <a:spcPts val="840"/>
              </a:lnSpc>
              <a:buNone/>
            </a:pPr>
            <a:r>
              <a:rPr lang="en-US" sz="600" b="1" dirty="0">
                <a:solidFill>
                  <a:srgbClr val="1A1F2E"/>
                </a:solidFill>
                <a:latin typeface="Arial" pitchFamily="34" charset="0"/>
                <a:ea typeface="Arial" pitchFamily="34" charset="-122"/>
                <a:cs typeface="Arial" pitchFamily="34" charset="-120"/>
              </a:rPr>
              <a:t>ENTERPRISE</a:t>
            </a:r>
            <a:endParaRPr lang="en-US" sz="600" dirty="0"/>
          </a:p>
        </p:txBody>
      </p:sp>
      <p:sp>
        <p:nvSpPr>
          <p:cNvPr id="5" name="Text 3"/>
          <p:cNvSpPr/>
          <p:nvPr/>
        </p:nvSpPr>
        <p:spPr>
          <a:xfrm>
            <a:off x="266700" y="1400324"/>
            <a:ext cx="1476756" cy="594122"/>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Cody &amp;</a:t>
            </a:r>
            <a:endParaRPr lang="en-US" sz="1950" dirty="0"/>
          </a:p>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Tabnine</a:t>
            </a:r>
            <a:endParaRPr lang="en-US" sz="1950" dirty="0"/>
          </a:p>
        </p:txBody>
      </p:sp>
      <p:sp>
        <p:nvSpPr>
          <p:cNvPr id="6" name="Text 4"/>
          <p:cNvSpPr/>
          <p:nvPr/>
        </p:nvSpPr>
        <p:spPr>
          <a:xfrm>
            <a:off x="266700" y="2242096"/>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2546896"/>
            <a:ext cx="2885777" cy="685800"/>
          </a:xfrm>
          <a:prstGeom prst="rect">
            <a:avLst/>
          </a:prstGeom>
          <a:solidFill>
            <a:srgbClr val="C9A227">
              <a:alpha val="15000"/>
            </a:srgbClr>
          </a:solidFill>
          <a:ln/>
        </p:spPr>
        <p:txBody>
          <a:bodyPr wrap="square" rtlCol="0" anchor="ctr"/>
          <a:lstStyle/>
          <a:p>
            <a:pPr indent="0" marL="0">
              <a:buNone/>
            </a:pPr>
            <a:endParaRPr lang="en-US" dirty="0"/>
          </a:p>
        </p:txBody>
      </p:sp>
      <p:sp>
        <p:nvSpPr>
          <p:cNvPr id="8" name="Shape 6"/>
          <p:cNvSpPr/>
          <p:nvPr/>
        </p:nvSpPr>
        <p:spPr>
          <a:xfrm>
            <a:off x="280988" y="2546896"/>
            <a:ext cx="0" cy="685800"/>
          </a:xfrm>
          <a:prstGeom prst="line">
            <a:avLst/>
          </a:prstGeom>
          <a:noFill/>
          <a:ln w="28575">
            <a:solidFill>
              <a:srgbClr val="C9A227"/>
            </a:solidFill>
            <a:prstDash val="solid"/>
          </a:ln>
        </p:spPr>
      </p:sp>
      <p:sp>
        <p:nvSpPr>
          <p:cNvPr id="9" name="Text 7"/>
          <p:cNvSpPr/>
          <p:nvPr/>
        </p:nvSpPr>
        <p:spPr>
          <a:xfrm>
            <a:off x="409575" y="2661196"/>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ENTERPRISE-FOCUSED</a:t>
            </a:r>
            <a:endParaRPr lang="en-US" sz="750" dirty="0"/>
          </a:p>
        </p:txBody>
      </p:sp>
      <p:sp>
        <p:nvSpPr>
          <p:cNvPr id="10" name="Text 8"/>
          <p:cNvSpPr/>
          <p:nvPr/>
        </p:nvSpPr>
        <p:spPr>
          <a:xfrm>
            <a:off x="409575" y="2832646"/>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Both offer enterprise tiers with BYOK and self-hosted deployment options.</a:t>
            </a:r>
            <a:endParaRPr lang="en-US" sz="750" dirty="0"/>
          </a:p>
        </p:txBody>
      </p:sp>
      <p:sp>
        <p:nvSpPr>
          <p:cNvPr id="11" name="Text 9"/>
          <p:cNvSpPr/>
          <p:nvPr/>
        </p:nvSpPr>
        <p:spPr>
          <a:xfrm>
            <a:off x="266700" y="3518446"/>
            <a:ext cx="2885777" cy="655141"/>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61950" y="3613696"/>
            <a:ext cx="2749183"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KEY DIFFERENCE</a:t>
            </a:r>
            <a:endParaRPr lang="en-US" sz="750" dirty="0"/>
          </a:p>
        </p:txBody>
      </p:sp>
      <p:sp>
        <p:nvSpPr>
          <p:cNvPr id="13" name="Text 11"/>
          <p:cNvSpPr/>
          <p:nvPr/>
        </p:nvSpPr>
        <p:spPr>
          <a:xfrm>
            <a:off x="361950" y="3804196"/>
            <a:ext cx="2749183" cy="274141"/>
          </a:xfrm>
          <a:prstGeom prst="rect">
            <a:avLst/>
          </a:prstGeom>
          <a:noFill/>
          <a:ln/>
        </p:spPr>
        <p:txBody>
          <a:bodyPr wrap="square" lIns="0" tIns="0" rIns="0" bIns="0" rtlCol="0" anchor="t"/>
          <a:lstStyle/>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Cody: Sourcegraph integration</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Tabnine: Training on your code</a:t>
            </a:r>
            <a:endParaRPr lang="en-US" sz="675" dirty="0"/>
          </a:p>
        </p:txBody>
      </p:sp>
      <p:sp>
        <p:nvSpPr>
          <p:cNvPr id="14" name="Text 12"/>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5" name="Text 13"/>
          <p:cNvSpPr/>
          <p:nvPr/>
        </p:nvSpPr>
        <p:spPr>
          <a:xfrm>
            <a:off x="3838277" y="967085"/>
            <a:ext cx="2462361" cy="298996"/>
          </a:xfrm>
          <a:prstGeom prst="rect">
            <a:avLst/>
          </a:prstGeom>
          <a:solidFill>
            <a:srgbClr val="FF5543"/>
          </a:solidFill>
          <a:ln/>
        </p:spPr>
        <p:txBody>
          <a:bodyPr wrap="square" rtlCol="0" anchor="ctr"/>
          <a:lstStyle/>
          <a:p>
            <a:pPr indent="0" marL="0">
              <a:buNone/>
            </a:pPr>
            <a:endParaRPr lang="en-US" dirty="0"/>
          </a:p>
        </p:txBody>
      </p:sp>
      <p:sp>
        <p:nvSpPr>
          <p:cNvPr id="16" name="Text 14"/>
          <p:cNvSpPr/>
          <p:nvPr/>
        </p:nvSpPr>
        <p:spPr>
          <a:xfrm>
            <a:off x="3952577" y="1043285"/>
            <a:ext cx="2278437" cy="146596"/>
          </a:xfrm>
          <a:prstGeom prst="rect">
            <a:avLst/>
          </a:prstGeom>
          <a:noFill/>
          <a:ln/>
        </p:spPr>
        <p:txBody>
          <a:bodyPr wrap="square" lIns="0" tIns="0" rIns="0" bIns="0" rtlCol="0" anchor="t"/>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CODY (SOURCEGRAPH)</a:t>
            </a:r>
            <a:endParaRPr lang="en-US" sz="825" dirty="0"/>
          </a:p>
        </p:txBody>
      </p:sp>
      <p:sp>
        <p:nvSpPr>
          <p:cNvPr id="17" name="Text 15"/>
          <p:cNvSpPr/>
          <p:nvPr/>
        </p:nvSpPr>
        <p:spPr>
          <a:xfrm>
            <a:off x="3838277" y="1342281"/>
            <a:ext cx="2462361" cy="1835944"/>
          </a:xfrm>
          <a:prstGeom prst="rect">
            <a:avLst/>
          </a:prstGeom>
          <a:solidFill>
            <a:srgbClr val="FFFFFF"/>
          </a:solidFill>
          <a:ln/>
        </p:spPr>
        <p:txBody>
          <a:bodyPr wrap="square" rtlCol="0" anchor="ctr"/>
          <a:lstStyle/>
          <a:p>
            <a:pPr indent="0" marL="0">
              <a:buNone/>
            </a:pPr>
            <a:endParaRPr lang="en-US" dirty="0"/>
          </a:p>
        </p:txBody>
      </p:sp>
      <p:sp>
        <p:nvSpPr>
          <p:cNvPr id="18" name="Shape 16"/>
          <p:cNvSpPr/>
          <p:nvPr/>
        </p:nvSpPr>
        <p:spPr>
          <a:xfrm>
            <a:off x="3852565" y="1342281"/>
            <a:ext cx="0" cy="1835944"/>
          </a:xfrm>
          <a:prstGeom prst="line">
            <a:avLst/>
          </a:prstGeom>
          <a:noFill/>
          <a:ln w="28575">
            <a:solidFill>
              <a:srgbClr val="FF5543"/>
            </a:solidFill>
            <a:prstDash val="solid"/>
          </a:ln>
        </p:spPr>
      </p:sp>
      <p:sp>
        <p:nvSpPr>
          <p:cNvPr id="19" name="Text 17"/>
          <p:cNvSpPr/>
          <p:nvPr/>
        </p:nvSpPr>
        <p:spPr>
          <a:xfrm>
            <a:off x="3981152" y="1456581"/>
            <a:ext cx="2249290" cy="119955"/>
          </a:xfrm>
          <a:prstGeom prst="rect">
            <a:avLst/>
          </a:prstGeom>
          <a:noFill/>
          <a:ln/>
        </p:spPr>
        <p:txBody>
          <a:bodyPr wrap="square" lIns="0" tIns="0" rIns="0" bIns="0" rtlCol="0" anchor="t"/>
          <a:lstStyle/>
          <a:p>
            <a:pPr algn="l" indent="0" marL="0">
              <a:lnSpc>
                <a:spcPts val="945"/>
              </a:lnSpc>
              <a:spcAft>
                <a:spcPts val="450"/>
              </a:spcAft>
              <a:buNone/>
            </a:pPr>
            <a:r>
              <a:rPr lang="en-US" sz="675" b="1" dirty="0">
                <a:solidFill>
                  <a:srgbClr val="1A1F2E"/>
                </a:solidFill>
                <a:latin typeface="Arial" pitchFamily="34" charset="0"/>
                <a:ea typeface="Arial" pitchFamily="34" charset="-122"/>
                <a:cs typeface="Arial" pitchFamily="34" charset="-120"/>
              </a:rPr>
              <a:t>BYOK PROVIDERS</a:t>
            </a:r>
            <a:endParaRPr lang="en-US" sz="675" dirty="0"/>
          </a:p>
        </p:txBody>
      </p:sp>
      <p:sp>
        <p:nvSpPr>
          <p:cNvPr id="20" name="Text 18"/>
          <p:cNvSpPr/>
          <p:nvPr/>
        </p:nvSpPr>
        <p:spPr>
          <a:xfrm>
            <a:off x="3981152" y="1633686"/>
            <a:ext cx="2205186" cy="876300"/>
          </a:xfrm>
          <a:prstGeom prst="rect">
            <a:avLst/>
          </a:prstGeom>
          <a:noFill/>
          <a:ln/>
        </p:spPr>
        <p:txBody>
          <a:bodyPr wrap="square" lIns="57150" tIns="0" rIns="0" bIns="0" rtlCol="0" anchor="t"/>
          <a:lstStyle/>
          <a:p>
            <a:pPr algn="l" marL="57150" indent="-57150">
              <a:lnSpc>
                <a:spcPts val="2100"/>
              </a:lnSpc>
              <a:buSzPct val="100000"/>
              <a:buChar char="•"/>
            </a:pPr>
            <a:r>
              <a:rPr lang="en-US" sz="1350" dirty="0">
                <a:solidFill>
                  <a:srgbClr val="6B7280"/>
                </a:solidFill>
                <a:latin typeface="Arial" pitchFamily="34" charset="0"/>
                <a:ea typeface="Arial" pitchFamily="34" charset="-122"/>
                <a:cs typeface="Arial" pitchFamily="34" charset="-120"/>
              </a:rPr>
              <a:t>Azure OpenAI</a:t>
            </a:r>
            <a:endParaRPr lang="en-US" sz="1350" dirty="0"/>
          </a:p>
          <a:p>
            <a:pPr algn="l" marL="57150" indent="-57150">
              <a:lnSpc>
                <a:spcPts val="2100"/>
              </a:lnSpc>
              <a:buSzPct val="100000"/>
              <a:buChar char="•"/>
            </a:pPr>
            <a:r>
              <a:rPr lang="en-US" sz="1350" dirty="0">
                <a:solidFill>
                  <a:srgbClr val="6B7280"/>
                </a:solidFill>
                <a:latin typeface="Arial" pitchFamily="34" charset="0"/>
                <a:ea typeface="Arial" pitchFamily="34" charset="-122"/>
                <a:cs typeface="Arial" pitchFamily="34" charset="-120"/>
              </a:rPr>
              <a:t>AWS Bedrock</a:t>
            </a:r>
            <a:endParaRPr lang="en-US" sz="1350" dirty="0"/>
          </a:p>
          <a:p>
            <a:pPr algn="l" marL="57150" indent="-57150">
              <a:lnSpc>
                <a:spcPts val="2100"/>
              </a:lnSpc>
              <a:buSzPct val="100000"/>
              <a:buChar char="•"/>
            </a:pPr>
            <a:r>
              <a:rPr lang="en-US" sz="1350" dirty="0">
                <a:solidFill>
                  <a:srgbClr val="6B7280"/>
                </a:solidFill>
                <a:latin typeface="Arial" pitchFamily="34" charset="0"/>
                <a:ea typeface="Arial" pitchFamily="34" charset="-122"/>
                <a:cs typeface="Arial" pitchFamily="34" charset="-120"/>
              </a:rPr>
              <a:t>Google Vertex</a:t>
            </a:r>
            <a:endParaRPr lang="en-US" sz="1350" dirty="0"/>
          </a:p>
        </p:txBody>
      </p:sp>
      <p:sp>
        <p:nvSpPr>
          <p:cNvPr id="21" name="Text 19"/>
          <p:cNvSpPr/>
          <p:nvPr/>
        </p:nvSpPr>
        <p:spPr>
          <a:xfrm>
            <a:off x="3981152" y="2586186"/>
            <a:ext cx="2249290"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A1F2E"/>
                </a:solidFill>
                <a:latin typeface="Arial" pitchFamily="34" charset="0"/>
                <a:ea typeface="Arial" pitchFamily="34" charset="-122"/>
                <a:cs typeface="Arial" pitchFamily="34" charset="-120"/>
              </a:rPr>
              <a:t>STRENGTHS</a:t>
            </a:r>
            <a:endParaRPr lang="en-US" sz="675" dirty="0"/>
          </a:p>
        </p:txBody>
      </p:sp>
      <p:sp>
        <p:nvSpPr>
          <p:cNvPr id="22" name="Text 20"/>
          <p:cNvSpPr/>
          <p:nvPr/>
        </p:nvSpPr>
        <p:spPr>
          <a:xfrm>
            <a:off x="3981152" y="2744242"/>
            <a:ext cx="2249290" cy="319683"/>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Code graph understanding</a:t>
            </a:r>
            <a:endParaRPr lang="en-US" sz="600" dirty="0"/>
          </a:p>
          <a:p>
            <a:pPr algn="l" indent="0" marL="0">
              <a:lnSpc>
                <a:spcPts val="840"/>
              </a:lnSpc>
              <a:buNone/>
            </a:pPr>
            <a:r>
              <a:rPr lang="en-US" sz="600" dirty="0">
                <a:solidFill>
                  <a:srgbClr val="6B7280"/>
                </a:solidFill>
                <a:latin typeface="Arial" pitchFamily="34" charset="0"/>
                <a:ea typeface="Arial" pitchFamily="34" charset="-122"/>
                <a:cs typeface="Arial" pitchFamily="34" charset="-120"/>
              </a:rPr>
              <a:t> Enterprise codebase search</a:t>
            </a:r>
            <a:endParaRPr lang="en-US" sz="600" dirty="0"/>
          </a:p>
          <a:p>
            <a:pPr algn="l" indent="0" marL="0">
              <a:lnSpc>
                <a:spcPts val="840"/>
              </a:lnSpc>
              <a:buNone/>
            </a:pPr>
            <a:r>
              <a:rPr lang="en-US" sz="600" dirty="0">
                <a:solidFill>
                  <a:srgbClr val="6B7280"/>
                </a:solidFill>
                <a:latin typeface="Arial" pitchFamily="34" charset="0"/>
                <a:ea typeface="Arial" pitchFamily="34" charset="-122"/>
                <a:cs typeface="Arial" pitchFamily="34" charset="-120"/>
              </a:rPr>
              <a:t> Self-hosted Sourcegraph</a:t>
            </a:r>
            <a:endParaRPr lang="en-US" sz="600" dirty="0"/>
          </a:p>
        </p:txBody>
      </p:sp>
      <p:sp>
        <p:nvSpPr>
          <p:cNvPr id="23" name="Text 21"/>
          <p:cNvSpPr/>
          <p:nvPr/>
        </p:nvSpPr>
        <p:spPr>
          <a:xfrm>
            <a:off x="6414939" y="967085"/>
            <a:ext cx="2462361" cy="298996"/>
          </a:xfrm>
          <a:prstGeom prst="rect">
            <a:avLst/>
          </a:prstGeom>
          <a:solidFill>
            <a:srgbClr val="6B5CE7"/>
          </a:solidFill>
          <a:ln/>
        </p:spPr>
        <p:txBody>
          <a:bodyPr wrap="square" rtlCol="0" anchor="ctr"/>
          <a:lstStyle/>
          <a:p>
            <a:pPr indent="0" marL="0">
              <a:buNone/>
            </a:pPr>
            <a:endParaRPr lang="en-US" dirty="0"/>
          </a:p>
        </p:txBody>
      </p:sp>
      <p:sp>
        <p:nvSpPr>
          <p:cNvPr id="24" name="Text 22"/>
          <p:cNvSpPr/>
          <p:nvPr/>
        </p:nvSpPr>
        <p:spPr>
          <a:xfrm>
            <a:off x="6529239" y="1043285"/>
            <a:ext cx="2278437" cy="146596"/>
          </a:xfrm>
          <a:prstGeom prst="rect">
            <a:avLst/>
          </a:prstGeom>
          <a:noFill/>
          <a:ln/>
        </p:spPr>
        <p:txBody>
          <a:bodyPr wrap="square" lIns="0" tIns="0" rIns="0" bIns="0" rtlCol="0" anchor="t"/>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TABNINE</a:t>
            </a:r>
            <a:endParaRPr lang="en-US" sz="825" dirty="0"/>
          </a:p>
        </p:txBody>
      </p:sp>
      <p:sp>
        <p:nvSpPr>
          <p:cNvPr id="25" name="Text 23"/>
          <p:cNvSpPr/>
          <p:nvPr/>
        </p:nvSpPr>
        <p:spPr>
          <a:xfrm>
            <a:off x="6414939" y="1342281"/>
            <a:ext cx="2462361" cy="1835944"/>
          </a:xfrm>
          <a:prstGeom prst="rect">
            <a:avLst/>
          </a:prstGeom>
          <a:solidFill>
            <a:srgbClr val="FFFFFF"/>
          </a:solidFill>
          <a:ln/>
        </p:spPr>
        <p:txBody>
          <a:bodyPr wrap="square" rtlCol="0" anchor="ctr"/>
          <a:lstStyle/>
          <a:p>
            <a:pPr indent="0" marL="0">
              <a:buNone/>
            </a:pPr>
            <a:endParaRPr lang="en-US" dirty="0"/>
          </a:p>
        </p:txBody>
      </p:sp>
      <p:sp>
        <p:nvSpPr>
          <p:cNvPr id="26" name="Shape 24"/>
          <p:cNvSpPr/>
          <p:nvPr/>
        </p:nvSpPr>
        <p:spPr>
          <a:xfrm>
            <a:off x="6429226" y="1342281"/>
            <a:ext cx="0" cy="1835944"/>
          </a:xfrm>
          <a:prstGeom prst="line">
            <a:avLst/>
          </a:prstGeom>
          <a:noFill/>
          <a:ln w="28575">
            <a:solidFill>
              <a:srgbClr val="6B5CE7"/>
            </a:solidFill>
            <a:prstDash val="solid"/>
          </a:ln>
        </p:spPr>
      </p:sp>
      <p:sp>
        <p:nvSpPr>
          <p:cNvPr id="27" name="Text 25"/>
          <p:cNvSpPr/>
          <p:nvPr/>
        </p:nvSpPr>
        <p:spPr>
          <a:xfrm>
            <a:off x="6557814" y="1456581"/>
            <a:ext cx="2249290" cy="119955"/>
          </a:xfrm>
          <a:prstGeom prst="rect">
            <a:avLst/>
          </a:prstGeom>
          <a:noFill/>
          <a:ln/>
        </p:spPr>
        <p:txBody>
          <a:bodyPr wrap="square" lIns="0" tIns="0" rIns="0" bIns="0" rtlCol="0" anchor="t"/>
          <a:lstStyle/>
          <a:p>
            <a:pPr algn="l" indent="0" marL="0">
              <a:lnSpc>
                <a:spcPts val="945"/>
              </a:lnSpc>
              <a:spcAft>
                <a:spcPts val="450"/>
              </a:spcAft>
              <a:buNone/>
            </a:pPr>
            <a:r>
              <a:rPr lang="en-US" sz="675" b="1" dirty="0">
                <a:solidFill>
                  <a:srgbClr val="1A1F2E"/>
                </a:solidFill>
                <a:latin typeface="Arial" pitchFamily="34" charset="0"/>
                <a:ea typeface="Arial" pitchFamily="34" charset="-122"/>
                <a:cs typeface="Arial" pitchFamily="34" charset="-120"/>
              </a:rPr>
              <a:t>DEPLOYMENT OPTIONS</a:t>
            </a:r>
            <a:endParaRPr lang="en-US" sz="675" dirty="0"/>
          </a:p>
        </p:txBody>
      </p:sp>
      <p:sp>
        <p:nvSpPr>
          <p:cNvPr id="28" name="Text 26"/>
          <p:cNvSpPr/>
          <p:nvPr/>
        </p:nvSpPr>
        <p:spPr>
          <a:xfrm>
            <a:off x="6557814" y="1633686"/>
            <a:ext cx="2205186" cy="876300"/>
          </a:xfrm>
          <a:prstGeom prst="rect">
            <a:avLst/>
          </a:prstGeom>
          <a:noFill/>
          <a:ln/>
        </p:spPr>
        <p:txBody>
          <a:bodyPr wrap="square" lIns="57150" tIns="0" rIns="0" bIns="0" rtlCol="0" anchor="t"/>
          <a:lstStyle/>
          <a:p>
            <a:pPr algn="l" marL="57150" indent="-57150">
              <a:lnSpc>
                <a:spcPts val="2100"/>
              </a:lnSpc>
              <a:buSzPct val="100000"/>
              <a:buChar char="•"/>
            </a:pPr>
            <a:r>
              <a:rPr lang="en-US" sz="1350" dirty="0">
                <a:solidFill>
                  <a:srgbClr val="6B7280"/>
                </a:solidFill>
                <a:latin typeface="Arial" pitchFamily="34" charset="0"/>
                <a:ea typeface="Arial" pitchFamily="34" charset="-122"/>
                <a:cs typeface="Arial" pitchFamily="34" charset="-120"/>
              </a:rPr>
              <a:t>SaaS (cloud)</a:t>
            </a:r>
            <a:endParaRPr lang="en-US" sz="1350" dirty="0"/>
          </a:p>
          <a:p>
            <a:pPr algn="l" marL="57150" indent="-57150">
              <a:lnSpc>
                <a:spcPts val="2100"/>
              </a:lnSpc>
              <a:buSzPct val="100000"/>
              <a:buChar char="•"/>
            </a:pPr>
            <a:r>
              <a:rPr lang="en-US" sz="1350" dirty="0">
                <a:solidFill>
                  <a:srgbClr val="6B7280"/>
                </a:solidFill>
                <a:latin typeface="Arial" pitchFamily="34" charset="0"/>
                <a:ea typeface="Arial" pitchFamily="34" charset="-122"/>
                <a:cs typeface="Arial" pitchFamily="34" charset="-120"/>
              </a:rPr>
              <a:t>Self-hosted (VPC)</a:t>
            </a:r>
            <a:endParaRPr lang="en-US" sz="1350" dirty="0"/>
          </a:p>
          <a:p>
            <a:pPr algn="l" marL="57150" indent="-57150">
              <a:lnSpc>
                <a:spcPts val="2100"/>
              </a:lnSpc>
              <a:buSzPct val="100000"/>
              <a:buChar char="•"/>
            </a:pPr>
            <a:r>
              <a:rPr lang="en-US" sz="1350" dirty="0">
                <a:solidFill>
                  <a:srgbClr val="6B7280"/>
                </a:solidFill>
                <a:latin typeface="Arial" pitchFamily="34" charset="0"/>
                <a:ea typeface="Arial" pitchFamily="34" charset="-122"/>
                <a:cs typeface="Arial" pitchFamily="34" charset="-120"/>
              </a:rPr>
              <a:t>Air-gapped (on-prem)</a:t>
            </a:r>
            <a:endParaRPr lang="en-US" sz="1350" dirty="0"/>
          </a:p>
        </p:txBody>
      </p:sp>
      <p:sp>
        <p:nvSpPr>
          <p:cNvPr id="29" name="Text 27"/>
          <p:cNvSpPr/>
          <p:nvPr/>
        </p:nvSpPr>
        <p:spPr>
          <a:xfrm>
            <a:off x="6557814" y="2586186"/>
            <a:ext cx="2249290"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A1F2E"/>
                </a:solidFill>
                <a:latin typeface="Arial" pitchFamily="34" charset="0"/>
                <a:ea typeface="Arial" pitchFamily="34" charset="-122"/>
                <a:cs typeface="Arial" pitchFamily="34" charset="-120"/>
              </a:rPr>
              <a:t>STRENGTHS</a:t>
            </a:r>
            <a:endParaRPr lang="en-US" sz="675" dirty="0"/>
          </a:p>
        </p:txBody>
      </p:sp>
      <p:sp>
        <p:nvSpPr>
          <p:cNvPr id="30" name="Text 28"/>
          <p:cNvSpPr/>
          <p:nvPr/>
        </p:nvSpPr>
        <p:spPr>
          <a:xfrm>
            <a:off x="6557814" y="2744242"/>
            <a:ext cx="2249290" cy="319683"/>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Train on your codebase</a:t>
            </a:r>
            <a:endParaRPr lang="en-US" sz="600" dirty="0"/>
          </a:p>
          <a:p>
            <a:pPr algn="l" indent="0" marL="0">
              <a:lnSpc>
                <a:spcPts val="840"/>
              </a:lnSpc>
              <a:buNone/>
            </a:pPr>
            <a:r>
              <a:rPr lang="en-US" sz="600" dirty="0">
                <a:solidFill>
                  <a:srgbClr val="6B7280"/>
                </a:solidFill>
                <a:latin typeface="Arial" pitchFamily="34" charset="0"/>
                <a:ea typeface="Arial" pitchFamily="34" charset="-122"/>
                <a:cs typeface="Arial" pitchFamily="34" charset="-120"/>
              </a:rPr>
              <a:t> Privacy-first approach</a:t>
            </a:r>
            <a:endParaRPr lang="en-US" sz="600" dirty="0"/>
          </a:p>
          <a:p>
            <a:pPr algn="l" indent="0" marL="0">
              <a:lnSpc>
                <a:spcPts val="840"/>
              </a:lnSpc>
              <a:buNone/>
            </a:pPr>
            <a:r>
              <a:rPr lang="en-US" sz="600" dirty="0">
                <a:solidFill>
                  <a:srgbClr val="6B7280"/>
                </a:solidFill>
                <a:latin typeface="Arial" pitchFamily="34" charset="0"/>
                <a:ea typeface="Arial" pitchFamily="34" charset="-122"/>
                <a:cs typeface="Arial" pitchFamily="34" charset="-120"/>
              </a:rPr>
              <a:t> Team personalization</a:t>
            </a:r>
            <a:endParaRPr lang="en-US" sz="600" dirty="0"/>
          </a:p>
        </p:txBody>
      </p:sp>
      <p:sp>
        <p:nvSpPr>
          <p:cNvPr id="31" name="Text 29"/>
          <p:cNvSpPr/>
          <p:nvPr/>
        </p:nvSpPr>
        <p:spPr>
          <a:xfrm>
            <a:off x="3838277" y="3444925"/>
            <a:ext cx="5039023" cy="731341"/>
          </a:xfrm>
          <a:prstGeom prst="rect">
            <a:avLst/>
          </a:prstGeom>
          <a:solidFill>
            <a:srgbClr val="1A1F2E"/>
          </a:solidFill>
          <a:ln/>
        </p:spPr>
        <p:txBody>
          <a:bodyPr wrap="square" rtlCol="0" anchor="ctr"/>
          <a:lstStyle/>
          <a:p>
            <a:pPr indent="0" marL="0">
              <a:buNone/>
            </a:pPr>
            <a:endParaRPr lang="en-US" dirty="0"/>
          </a:p>
        </p:txBody>
      </p:sp>
      <p:sp>
        <p:nvSpPr>
          <p:cNvPr id="32" name="Text 30"/>
          <p:cNvSpPr/>
          <p:nvPr/>
        </p:nvSpPr>
        <p:spPr>
          <a:xfrm>
            <a:off x="3971627" y="3578275"/>
            <a:ext cx="4867769" cy="133350"/>
          </a:xfrm>
          <a:prstGeom prst="rect">
            <a:avLst/>
          </a:prstGeom>
          <a:noFill/>
          <a:ln/>
        </p:spPr>
        <p:txBody>
          <a:bodyPr wrap="square" lIns="0" tIns="0" rIns="0" bIns="0" rtlCol="0" anchor="t"/>
          <a:lstStyle/>
          <a:p>
            <a:pPr algn="l" indent="0" marL="0">
              <a:lnSpc>
                <a:spcPts val="1050"/>
              </a:lnSpc>
              <a:spcAft>
                <a:spcPts val="600"/>
              </a:spcAft>
              <a:buNone/>
            </a:pPr>
            <a:r>
              <a:rPr lang="en-US" sz="750" b="1" dirty="0">
                <a:solidFill>
                  <a:srgbClr val="C9A227"/>
                </a:solidFill>
                <a:latin typeface="Arial" pitchFamily="34" charset="0"/>
                <a:ea typeface="Arial" pitchFamily="34" charset="-122"/>
                <a:cs typeface="Arial" pitchFamily="34" charset="-120"/>
              </a:rPr>
              <a:t>PRICING COMPARISON</a:t>
            </a:r>
            <a:endParaRPr lang="en-US" sz="750" dirty="0"/>
          </a:p>
        </p:txBody>
      </p:sp>
      <p:sp>
        <p:nvSpPr>
          <p:cNvPr id="33" name="Text 31"/>
          <p:cNvSpPr/>
          <p:nvPr/>
        </p:nvSpPr>
        <p:spPr>
          <a:xfrm>
            <a:off x="3971627" y="3787825"/>
            <a:ext cx="2356161" cy="106561"/>
          </a:xfrm>
          <a:prstGeom prst="rect">
            <a:avLst/>
          </a:prstGeom>
          <a:noFill/>
          <a:ln/>
        </p:spPr>
        <p:txBody>
          <a:bodyPr wrap="square" lIns="0" tIns="0" rIns="0" bIns="0" rtlCol="0" anchor="t"/>
          <a:lstStyle/>
          <a:p>
            <a:pPr algn="l" indent="0" marL="0">
              <a:lnSpc>
                <a:spcPts val="840"/>
              </a:lnSpc>
              <a:spcAft>
                <a:spcPts val="225"/>
              </a:spcAft>
              <a:buNone/>
            </a:pPr>
            <a:r>
              <a:rPr lang="en-US" sz="600" dirty="0">
                <a:solidFill>
                  <a:srgbClr val="FFFFFF">
                    <a:alpha val="60000"/>
                  </a:srgbClr>
                </a:solidFill>
                <a:latin typeface="Arial" pitchFamily="34" charset="0"/>
                <a:ea typeface="Arial" pitchFamily="34" charset="-122"/>
                <a:cs typeface="Arial" pitchFamily="34" charset="-120"/>
              </a:rPr>
              <a:t>CODY ENTERPRISE</a:t>
            </a:r>
            <a:endParaRPr lang="en-US" sz="600" dirty="0"/>
          </a:p>
        </p:txBody>
      </p:sp>
      <p:sp>
        <p:nvSpPr>
          <p:cNvPr id="34" name="Text 32"/>
          <p:cNvSpPr/>
          <p:nvPr/>
        </p:nvSpPr>
        <p:spPr>
          <a:xfrm>
            <a:off x="3971627" y="3922961"/>
            <a:ext cx="2356161" cy="119955"/>
          </a:xfrm>
          <a:prstGeom prst="rect">
            <a:avLst/>
          </a:prstGeom>
          <a:noFill/>
          <a:ln/>
        </p:spPr>
        <p:txBody>
          <a:bodyPr wrap="square" lIns="0" tIns="0" rIns="0" bIns="0" rtlCol="0" anchor="t"/>
          <a:lstStyle/>
          <a:p>
            <a:pPr algn="l" indent="0" marL="0">
              <a:lnSpc>
                <a:spcPts val="945"/>
              </a:lnSpc>
              <a:buNone/>
            </a:pPr>
            <a:r>
              <a:rPr lang="en-US" sz="675" dirty="0">
                <a:solidFill>
                  <a:srgbClr val="FFFFFF"/>
                </a:solidFill>
                <a:latin typeface="Arial" pitchFamily="34" charset="0"/>
                <a:ea typeface="Arial" pitchFamily="34" charset="-122"/>
                <a:cs typeface="Arial" pitchFamily="34" charset="-120"/>
              </a:rPr>
              <a:t>$19/user/month + BYOK costs</a:t>
            </a:r>
            <a:endParaRPr lang="en-US" sz="675" dirty="0"/>
          </a:p>
        </p:txBody>
      </p:sp>
      <p:sp>
        <p:nvSpPr>
          <p:cNvPr id="35" name="Text 33"/>
          <p:cNvSpPr/>
          <p:nvPr/>
        </p:nvSpPr>
        <p:spPr>
          <a:xfrm>
            <a:off x="6433989" y="3787825"/>
            <a:ext cx="2356161" cy="106561"/>
          </a:xfrm>
          <a:prstGeom prst="rect">
            <a:avLst/>
          </a:prstGeom>
          <a:noFill/>
          <a:ln/>
        </p:spPr>
        <p:txBody>
          <a:bodyPr wrap="square" lIns="0" tIns="0" rIns="0" bIns="0" rtlCol="0" anchor="t"/>
          <a:lstStyle/>
          <a:p>
            <a:pPr algn="l" indent="0" marL="0">
              <a:lnSpc>
                <a:spcPts val="840"/>
              </a:lnSpc>
              <a:spcAft>
                <a:spcPts val="225"/>
              </a:spcAft>
              <a:buNone/>
            </a:pPr>
            <a:r>
              <a:rPr lang="en-US" sz="600" dirty="0">
                <a:solidFill>
                  <a:srgbClr val="FFFFFF">
                    <a:alpha val="60000"/>
                  </a:srgbClr>
                </a:solidFill>
                <a:latin typeface="Arial" pitchFamily="34" charset="0"/>
                <a:ea typeface="Arial" pitchFamily="34" charset="-122"/>
                <a:cs typeface="Arial" pitchFamily="34" charset="-120"/>
              </a:rPr>
              <a:t>TABNINE ENTERPRISE</a:t>
            </a:r>
            <a:endParaRPr lang="en-US" sz="600" dirty="0"/>
          </a:p>
        </p:txBody>
      </p:sp>
      <p:sp>
        <p:nvSpPr>
          <p:cNvPr id="36" name="Text 34"/>
          <p:cNvSpPr/>
          <p:nvPr/>
        </p:nvSpPr>
        <p:spPr>
          <a:xfrm>
            <a:off x="6433989" y="3922961"/>
            <a:ext cx="2356161" cy="119955"/>
          </a:xfrm>
          <a:prstGeom prst="rect">
            <a:avLst/>
          </a:prstGeom>
          <a:noFill/>
          <a:ln/>
        </p:spPr>
        <p:txBody>
          <a:bodyPr wrap="square" lIns="0" tIns="0" rIns="0" bIns="0" rtlCol="0" anchor="t"/>
          <a:lstStyle/>
          <a:p>
            <a:pPr algn="l" indent="0" marL="0">
              <a:lnSpc>
                <a:spcPts val="945"/>
              </a:lnSpc>
              <a:buNone/>
            </a:pPr>
            <a:r>
              <a:rPr lang="en-US" sz="675" dirty="0">
                <a:solidFill>
                  <a:srgbClr val="FFFFFF"/>
                </a:solidFill>
                <a:latin typeface="Arial" pitchFamily="34" charset="0"/>
                <a:ea typeface="Arial" pitchFamily="34" charset="-122"/>
                <a:cs typeface="Arial" pitchFamily="34" charset="-120"/>
              </a:rPr>
              <a:t>$39/user/month (all-inclusive)</a:t>
            </a:r>
            <a:endParaRPr lang="en-US" sz="6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924074"/>
            <a:ext cx="755600" cy="182761"/>
          </a:xfrm>
          <a:prstGeom prst="rect">
            <a:avLst/>
          </a:prstGeom>
          <a:solidFill>
            <a:srgbClr val="FF9900"/>
          </a:solidFill>
          <a:ln/>
        </p:spPr>
        <p:txBody>
          <a:bodyPr wrap="square" rtlCol="0" anchor="ctr"/>
          <a:lstStyle/>
          <a:p>
            <a:pPr indent="0" marL="0">
              <a:buNone/>
            </a:pPr>
            <a:endParaRPr lang="en-US" dirty="0"/>
          </a:p>
        </p:txBody>
      </p:sp>
      <p:sp>
        <p:nvSpPr>
          <p:cNvPr id="4" name="Text 2"/>
          <p:cNvSpPr/>
          <p:nvPr/>
        </p:nvSpPr>
        <p:spPr>
          <a:xfrm>
            <a:off x="361950" y="962174"/>
            <a:ext cx="576402" cy="106561"/>
          </a:xfrm>
          <a:prstGeom prst="rect">
            <a:avLst/>
          </a:prstGeom>
          <a:noFill/>
          <a:ln/>
        </p:spPr>
        <p:txBody>
          <a:bodyPr wrap="square" lIns="0" tIns="0" rIns="0" bIns="0" rtlCol="0" anchor="t"/>
          <a:lstStyle/>
          <a:p>
            <a:pPr algn="l" indent="0" marL="0">
              <a:lnSpc>
                <a:spcPts val="840"/>
              </a:lnSpc>
              <a:buNone/>
            </a:pPr>
            <a:r>
              <a:rPr lang="en-US" sz="600" b="1" dirty="0">
                <a:solidFill>
                  <a:srgbClr val="1A1F2E"/>
                </a:solidFill>
                <a:latin typeface="Arial" pitchFamily="34" charset="0"/>
                <a:ea typeface="Arial" pitchFamily="34" charset="-122"/>
                <a:cs typeface="Arial" pitchFamily="34" charset="-120"/>
              </a:rPr>
              <a:t>ADDITIONAL</a:t>
            </a:r>
            <a:endParaRPr lang="en-US" sz="600" dirty="0"/>
          </a:p>
        </p:txBody>
      </p:sp>
      <p:sp>
        <p:nvSpPr>
          <p:cNvPr id="5" name="Text 3"/>
          <p:cNvSpPr/>
          <p:nvPr/>
        </p:nvSpPr>
        <p:spPr>
          <a:xfrm>
            <a:off x="266700" y="1354485"/>
            <a:ext cx="1476756" cy="548580"/>
          </a:xfrm>
          <a:prstGeom prst="rect">
            <a:avLst/>
          </a:prstGeom>
          <a:noFill/>
          <a:ln/>
        </p:spPr>
        <p:txBody>
          <a:bodyPr wrap="square" lIns="0" tIns="0" rIns="0" bIns="0" rtlCol="0" anchor="t"/>
          <a:lstStyle/>
          <a:p>
            <a:pPr algn="l" indent="0" marL="0">
              <a:lnSpc>
                <a:spcPts val="2160"/>
              </a:lnSpc>
              <a:spcAft>
                <a:spcPts val="750"/>
              </a:spcAft>
              <a:buNone/>
            </a:pPr>
            <a:r>
              <a:rPr lang="en-US" sz="1800" dirty="0">
                <a:solidFill>
                  <a:srgbClr val="FFFFFF"/>
                </a:solidFill>
                <a:latin typeface="Georgia" pitchFamily="34" charset="0"/>
                <a:ea typeface="Georgia" pitchFamily="34" charset="-122"/>
                <a:cs typeface="Georgia" pitchFamily="34" charset="-120"/>
              </a:rPr>
              <a:t>Amazon Q &amp;</a:t>
            </a:r>
            <a:endParaRPr lang="en-US" sz="1800" dirty="0"/>
          </a:p>
          <a:p>
            <a:pPr algn="l" indent="0" marL="0">
              <a:lnSpc>
                <a:spcPts val="2160"/>
              </a:lnSpc>
              <a:spcAft>
                <a:spcPts val="750"/>
              </a:spcAft>
              <a:buNone/>
            </a:pPr>
            <a:r>
              <a:rPr lang="en-US" sz="1800" dirty="0">
                <a:solidFill>
                  <a:srgbClr val="FFFFFF"/>
                </a:solidFill>
                <a:latin typeface="Georgia" pitchFamily="34" charset="0"/>
                <a:ea typeface="Georgia" pitchFamily="34" charset="-122"/>
                <a:cs typeface="Georgia" pitchFamily="34" charset="-120"/>
              </a:rPr>
              <a:t>CodeGPT</a:t>
            </a:r>
            <a:endParaRPr lang="en-US" sz="1800" dirty="0"/>
          </a:p>
        </p:txBody>
      </p:sp>
      <p:sp>
        <p:nvSpPr>
          <p:cNvPr id="6" name="Text 4"/>
          <p:cNvSpPr/>
          <p:nvPr/>
        </p:nvSpPr>
        <p:spPr>
          <a:xfrm>
            <a:off x="266700" y="2150715"/>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2455515"/>
            <a:ext cx="2885777" cy="685800"/>
          </a:xfrm>
          <a:prstGeom prst="rect">
            <a:avLst/>
          </a:prstGeom>
          <a:solidFill>
            <a:srgbClr val="FF9900">
              <a:alpha val="15000"/>
            </a:srgbClr>
          </a:solidFill>
          <a:ln/>
        </p:spPr>
        <p:txBody>
          <a:bodyPr wrap="square" rtlCol="0" anchor="ctr"/>
          <a:lstStyle/>
          <a:p>
            <a:pPr indent="0" marL="0">
              <a:buNone/>
            </a:pPr>
            <a:endParaRPr lang="en-US" dirty="0"/>
          </a:p>
        </p:txBody>
      </p:sp>
      <p:sp>
        <p:nvSpPr>
          <p:cNvPr id="8" name="Shape 6"/>
          <p:cNvSpPr/>
          <p:nvPr/>
        </p:nvSpPr>
        <p:spPr>
          <a:xfrm>
            <a:off x="280988" y="2455515"/>
            <a:ext cx="0" cy="685800"/>
          </a:xfrm>
          <a:prstGeom prst="line">
            <a:avLst/>
          </a:prstGeom>
          <a:noFill/>
          <a:ln w="28575">
            <a:solidFill>
              <a:srgbClr val="FF9900"/>
            </a:solidFill>
            <a:prstDash val="solid"/>
          </a:ln>
        </p:spPr>
      </p:sp>
      <p:sp>
        <p:nvSpPr>
          <p:cNvPr id="9" name="Text 7"/>
          <p:cNvSpPr/>
          <p:nvPr/>
        </p:nvSpPr>
        <p:spPr>
          <a:xfrm>
            <a:off x="409575" y="2569815"/>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FBBF24"/>
                </a:solidFill>
                <a:latin typeface="Arial" pitchFamily="34" charset="0"/>
                <a:ea typeface="Arial" pitchFamily="34" charset="-122"/>
                <a:cs typeface="Arial" pitchFamily="34" charset="-120"/>
              </a:rPr>
              <a:t>MORE OPTIONS</a:t>
            </a:r>
            <a:endParaRPr lang="en-US" sz="750" dirty="0"/>
          </a:p>
        </p:txBody>
      </p:sp>
      <p:sp>
        <p:nvSpPr>
          <p:cNvPr id="10" name="Text 8"/>
          <p:cNvSpPr/>
          <p:nvPr/>
        </p:nvSpPr>
        <p:spPr>
          <a:xfrm>
            <a:off x="409575" y="2741265"/>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Additional BYOK options for specific cloud ecosystems or use cases.</a:t>
            </a:r>
            <a:endParaRPr lang="en-US" sz="750" dirty="0"/>
          </a:p>
        </p:txBody>
      </p:sp>
      <p:sp>
        <p:nvSpPr>
          <p:cNvPr id="11" name="Text 9"/>
          <p:cNvSpPr/>
          <p:nvPr/>
        </p:nvSpPr>
        <p:spPr>
          <a:xfrm>
            <a:off x="266700" y="3427065"/>
            <a:ext cx="2885777" cy="792212"/>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61950" y="3522315"/>
            <a:ext cx="2749183"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CONSIDER IF</a:t>
            </a:r>
            <a:endParaRPr lang="en-US" sz="750" dirty="0"/>
          </a:p>
        </p:txBody>
      </p:sp>
      <p:sp>
        <p:nvSpPr>
          <p:cNvPr id="13" name="Text 11"/>
          <p:cNvSpPr/>
          <p:nvPr/>
        </p:nvSpPr>
        <p:spPr>
          <a:xfrm>
            <a:off x="361950" y="3712815"/>
            <a:ext cx="2749183" cy="411212"/>
          </a:xfrm>
          <a:prstGeom prst="rect">
            <a:avLst/>
          </a:prstGeom>
          <a:noFill/>
          <a:ln/>
        </p:spPr>
        <p:txBody>
          <a:bodyPr wrap="square" lIns="0" tIns="0" rIns="0" bIns="0" rtlCol="0" anchor="t"/>
          <a:lstStyle/>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AWS-heavy shop</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Want model flexibility</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Budget constraints</a:t>
            </a:r>
            <a:endParaRPr lang="en-US" sz="675" dirty="0"/>
          </a:p>
        </p:txBody>
      </p:sp>
      <p:sp>
        <p:nvSpPr>
          <p:cNvPr id="14" name="Text 12"/>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5" name="Text 13"/>
          <p:cNvSpPr/>
          <p:nvPr/>
        </p:nvSpPr>
        <p:spPr>
          <a:xfrm>
            <a:off x="3838277" y="967085"/>
            <a:ext cx="2462361" cy="298996"/>
          </a:xfrm>
          <a:prstGeom prst="rect">
            <a:avLst/>
          </a:prstGeom>
          <a:solidFill>
            <a:srgbClr val="FF9900"/>
          </a:solidFill>
          <a:ln/>
        </p:spPr>
        <p:txBody>
          <a:bodyPr wrap="square" rtlCol="0" anchor="ctr"/>
          <a:lstStyle/>
          <a:p>
            <a:pPr indent="0" marL="0">
              <a:buNone/>
            </a:pPr>
            <a:endParaRPr lang="en-US" dirty="0"/>
          </a:p>
        </p:txBody>
      </p:sp>
      <p:sp>
        <p:nvSpPr>
          <p:cNvPr id="16" name="Text 14"/>
          <p:cNvSpPr/>
          <p:nvPr/>
        </p:nvSpPr>
        <p:spPr>
          <a:xfrm>
            <a:off x="3952577" y="1043285"/>
            <a:ext cx="2278437" cy="146596"/>
          </a:xfrm>
          <a:prstGeom prst="rect">
            <a:avLst/>
          </a:prstGeom>
          <a:noFill/>
          <a:ln/>
        </p:spPr>
        <p:txBody>
          <a:bodyPr wrap="square" lIns="0" tIns="0" rIns="0" bIns="0" rtlCol="0" anchor="t"/>
          <a:lstStyle/>
          <a:p>
            <a:pPr algn="l" indent="0" marL="0">
              <a:lnSpc>
                <a:spcPts val="1155"/>
              </a:lnSpc>
              <a:buNone/>
            </a:pPr>
            <a:r>
              <a:rPr lang="en-US" sz="825" b="1" dirty="0">
                <a:solidFill>
                  <a:srgbClr val="1A1F2E"/>
                </a:solidFill>
                <a:latin typeface="Arial" pitchFamily="34" charset="0"/>
                <a:ea typeface="Arial" pitchFamily="34" charset="-122"/>
                <a:cs typeface="Arial" pitchFamily="34" charset="-120"/>
              </a:rPr>
              <a:t>AMAZON Q DEVELOPER</a:t>
            </a:r>
            <a:endParaRPr lang="en-US" sz="825" dirty="0"/>
          </a:p>
        </p:txBody>
      </p:sp>
      <p:sp>
        <p:nvSpPr>
          <p:cNvPr id="17" name="Text 15"/>
          <p:cNvSpPr/>
          <p:nvPr/>
        </p:nvSpPr>
        <p:spPr>
          <a:xfrm>
            <a:off x="3838277" y="1342281"/>
            <a:ext cx="2462361" cy="1835944"/>
          </a:xfrm>
          <a:prstGeom prst="rect">
            <a:avLst/>
          </a:prstGeom>
          <a:solidFill>
            <a:srgbClr val="FFFFFF"/>
          </a:solidFill>
          <a:ln/>
        </p:spPr>
        <p:txBody>
          <a:bodyPr wrap="square" rtlCol="0" anchor="ctr"/>
          <a:lstStyle/>
          <a:p>
            <a:pPr indent="0" marL="0">
              <a:buNone/>
            </a:pPr>
            <a:endParaRPr lang="en-US" dirty="0"/>
          </a:p>
        </p:txBody>
      </p:sp>
      <p:sp>
        <p:nvSpPr>
          <p:cNvPr id="18" name="Shape 16"/>
          <p:cNvSpPr/>
          <p:nvPr/>
        </p:nvSpPr>
        <p:spPr>
          <a:xfrm>
            <a:off x="3852565" y="1342281"/>
            <a:ext cx="0" cy="1835944"/>
          </a:xfrm>
          <a:prstGeom prst="line">
            <a:avLst/>
          </a:prstGeom>
          <a:noFill/>
          <a:ln w="28575">
            <a:solidFill>
              <a:srgbClr val="FF9900"/>
            </a:solidFill>
            <a:prstDash val="solid"/>
          </a:ln>
        </p:spPr>
      </p:sp>
      <p:sp>
        <p:nvSpPr>
          <p:cNvPr id="19" name="Text 17"/>
          <p:cNvSpPr/>
          <p:nvPr/>
        </p:nvSpPr>
        <p:spPr>
          <a:xfrm>
            <a:off x="3981152" y="1456581"/>
            <a:ext cx="2249290" cy="119955"/>
          </a:xfrm>
          <a:prstGeom prst="rect">
            <a:avLst/>
          </a:prstGeom>
          <a:noFill/>
          <a:ln/>
        </p:spPr>
        <p:txBody>
          <a:bodyPr wrap="square" lIns="0" tIns="0" rIns="0" bIns="0" rtlCol="0" anchor="t"/>
          <a:lstStyle/>
          <a:p>
            <a:pPr algn="l" indent="0" marL="0">
              <a:lnSpc>
                <a:spcPts val="945"/>
              </a:lnSpc>
              <a:spcAft>
                <a:spcPts val="450"/>
              </a:spcAft>
              <a:buNone/>
            </a:pPr>
            <a:r>
              <a:rPr lang="en-US" sz="675" b="1" dirty="0">
                <a:solidFill>
                  <a:srgbClr val="1A1F2E"/>
                </a:solidFill>
                <a:latin typeface="Arial" pitchFamily="34" charset="0"/>
                <a:ea typeface="Arial" pitchFamily="34" charset="-122"/>
                <a:cs typeface="Arial" pitchFamily="34" charset="-120"/>
              </a:rPr>
              <a:t>AWS NATIVE</a:t>
            </a:r>
            <a:endParaRPr lang="en-US" sz="675" dirty="0"/>
          </a:p>
        </p:txBody>
      </p:sp>
      <p:sp>
        <p:nvSpPr>
          <p:cNvPr id="20" name="Text 18"/>
          <p:cNvSpPr/>
          <p:nvPr/>
        </p:nvSpPr>
        <p:spPr>
          <a:xfrm>
            <a:off x="3981152" y="1633686"/>
            <a:ext cx="2205186" cy="876300"/>
          </a:xfrm>
          <a:prstGeom prst="rect">
            <a:avLst/>
          </a:prstGeom>
          <a:noFill/>
          <a:ln/>
        </p:spPr>
        <p:txBody>
          <a:bodyPr wrap="square" lIns="57150" tIns="0" rIns="0" bIns="0" rtlCol="0" anchor="t"/>
          <a:lstStyle/>
          <a:p>
            <a:pPr algn="l" marL="57150" indent="-57150">
              <a:lnSpc>
                <a:spcPts val="2100"/>
              </a:lnSpc>
              <a:buSzPct val="100000"/>
              <a:buChar char="•"/>
            </a:pPr>
            <a:r>
              <a:rPr lang="en-US" sz="1350" dirty="0">
                <a:solidFill>
                  <a:srgbClr val="6B7280"/>
                </a:solidFill>
                <a:latin typeface="Arial" pitchFamily="34" charset="0"/>
                <a:ea typeface="Arial" pitchFamily="34" charset="-122"/>
                <a:cs typeface="Arial" pitchFamily="34" charset="-120"/>
              </a:rPr>
              <a:t>Built for AWS services</a:t>
            </a:r>
            <a:endParaRPr lang="en-US" sz="1350" dirty="0"/>
          </a:p>
          <a:p>
            <a:pPr algn="l" marL="57150" indent="-57150">
              <a:lnSpc>
                <a:spcPts val="2100"/>
              </a:lnSpc>
              <a:buSzPct val="100000"/>
              <a:buChar char="•"/>
            </a:pPr>
            <a:r>
              <a:rPr lang="en-US" sz="1350" dirty="0">
                <a:solidFill>
                  <a:srgbClr val="6B7280"/>
                </a:solidFill>
                <a:latin typeface="Arial" pitchFamily="34" charset="0"/>
                <a:ea typeface="Arial" pitchFamily="34" charset="-122"/>
                <a:cs typeface="Arial" pitchFamily="34" charset="-120"/>
              </a:rPr>
              <a:t>IAM integration</a:t>
            </a:r>
            <a:endParaRPr lang="en-US" sz="1350" dirty="0"/>
          </a:p>
          <a:p>
            <a:pPr algn="l" marL="57150" indent="-57150">
              <a:lnSpc>
                <a:spcPts val="2100"/>
              </a:lnSpc>
              <a:buSzPct val="100000"/>
              <a:buChar char="•"/>
            </a:pPr>
            <a:r>
              <a:rPr lang="en-US" sz="1350" dirty="0">
                <a:solidFill>
                  <a:srgbClr val="6B7280"/>
                </a:solidFill>
                <a:latin typeface="Arial" pitchFamily="34" charset="0"/>
                <a:ea typeface="Arial" pitchFamily="34" charset="-122"/>
                <a:cs typeface="Arial" pitchFamily="34" charset="-120"/>
              </a:rPr>
              <a:t>CloudFormation, CDK help</a:t>
            </a:r>
            <a:endParaRPr lang="en-US" sz="1350" dirty="0"/>
          </a:p>
        </p:txBody>
      </p:sp>
      <p:sp>
        <p:nvSpPr>
          <p:cNvPr id="21" name="Text 19"/>
          <p:cNvSpPr/>
          <p:nvPr/>
        </p:nvSpPr>
        <p:spPr>
          <a:xfrm>
            <a:off x="3981152" y="2586186"/>
            <a:ext cx="2249290"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A1F2E"/>
                </a:solidFill>
                <a:latin typeface="Arial" pitchFamily="34" charset="0"/>
                <a:ea typeface="Arial" pitchFamily="34" charset="-122"/>
                <a:cs typeface="Arial" pitchFamily="34" charset="-120"/>
              </a:rPr>
              <a:t>BYOK STATUS</a:t>
            </a:r>
            <a:endParaRPr lang="en-US" sz="675" dirty="0"/>
          </a:p>
        </p:txBody>
      </p:sp>
      <p:sp>
        <p:nvSpPr>
          <p:cNvPr id="22" name="Text 20"/>
          <p:cNvSpPr/>
          <p:nvPr/>
        </p:nvSpPr>
        <p:spPr>
          <a:xfrm>
            <a:off x="3981152" y="2744242"/>
            <a:ext cx="2249290" cy="319683"/>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Uses Amazon's models</a:t>
            </a:r>
            <a:endParaRPr lang="en-US" sz="600" dirty="0"/>
          </a:p>
          <a:p>
            <a:pPr algn="l" indent="0" marL="0">
              <a:lnSpc>
                <a:spcPts val="840"/>
              </a:lnSpc>
              <a:buNone/>
            </a:pPr>
            <a:r>
              <a:rPr lang="en-US" sz="600" dirty="0">
                <a:solidFill>
                  <a:srgbClr val="6B7280"/>
                </a:solidFill>
                <a:latin typeface="Arial" pitchFamily="34" charset="0"/>
                <a:ea typeface="Arial" pitchFamily="34" charset="-122"/>
                <a:cs typeface="Arial" pitchFamily="34" charset="-120"/>
              </a:rPr>
              <a:t> Can reference Bedrock</a:t>
            </a:r>
            <a:endParaRPr lang="en-US" sz="600" dirty="0"/>
          </a:p>
          <a:p>
            <a:pPr algn="l" indent="0" marL="0">
              <a:lnSpc>
                <a:spcPts val="840"/>
              </a:lnSpc>
              <a:buNone/>
            </a:pPr>
            <a:r>
              <a:rPr lang="en-US" sz="600" dirty="0">
                <a:solidFill>
                  <a:srgbClr val="6B7280"/>
                </a:solidFill>
                <a:latin typeface="Arial" pitchFamily="34" charset="0"/>
                <a:ea typeface="Arial" pitchFamily="34" charset="-122"/>
                <a:cs typeface="Arial" pitchFamily="34" charset="-120"/>
              </a:rPr>
              <a:t> Not traditional BYOK</a:t>
            </a:r>
            <a:endParaRPr lang="en-US" sz="600" dirty="0"/>
          </a:p>
        </p:txBody>
      </p:sp>
      <p:sp>
        <p:nvSpPr>
          <p:cNvPr id="23" name="Text 21"/>
          <p:cNvSpPr/>
          <p:nvPr/>
        </p:nvSpPr>
        <p:spPr>
          <a:xfrm>
            <a:off x="6414939" y="967085"/>
            <a:ext cx="2462361" cy="298996"/>
          </a:xfrm>
          <a:prstGeom prst="rect">
            <a:avLst/>
          </a:prstGeom>
          <a:solidFill>
            <a:srgbClr val="10A37F"/>
          </a:solidFill>
          <a:ln/>
        </p:spPr>
        <p:txBody>
          <a:bodyPr wrap="square" rtlCol="0" anchor="ctr"/>
          <a:lstStyle/>
          <a:p>
            <a:pPr indent="0" marL="0">
              <a:buNone/>
            </a:pPr>
            <a:endParaRPr lang="en-US" dirty="0"/>
          </a:p>
        </p:txBody>
      </p:sp>
      <p:sp>
        <p:nvSpPr>
          <p:cNvPr id="24" name="Text 22"/>
          <p:cNvSpPr/>
          <p:nvPr/>
        </p:nvSpPr>
        <p:spPr>
          <a:xfrm>
            <a:off x="6529239" y="1043285"/>
            <a:ext cx="2278437" cy="146596"/>
          </a:xfrm>
          <a:prstGeom prst="rect">
            <a:avLst/>
          </a:prstGeom>
          <a:noFill/>
          <a:ln/>
        </p:spPr>
        <p:txBody>
          <a:bodyPr wrap="square" lIns="0" tIns="0" rIns="0" bIns="0" rtlCol="0" anchor="t"/>
          <a:lstStyle/>
          <a:p>
            <a:pPr algn="l" indent="0" marL="0">
              <a:lnSpc>
                <a:spcPts val="1155"/>
              </a:lnSpc>
              <a:buNone/>
            </a:pPr>
            <a:r>
              <a:rPr lang="en-US" sz="825" b="1" dirty="0">
                <a:solidFill>
                  <a:srgbClr val="FFFFFF"/>
                </a:solidFill>
                <a:latin typeface="Arial" pitchFamily="34" charset="0"/>
                <a:ea typeface="Arial" pitchFamily="34" charset="-122"/>
                <a:cs typeface="Arial" pitchFamily="34" charset="-120"/>
              </a:rPr>
              <a:t>CODEGPT</a:t>
            </a:r>
            <a:endParaRPr lang="en-US" sz="825" dirty="0"/>
          </a:p>
        </p:txBody>
      </p:sp>
      <p:sp>
        <p:nvSpPr>
          <p:cNvPr id="25" name="Text 23"/>
          <p:cNvSpPr/>
          <p:nvPr/>
        </p:nvSpPr>
        <p:spPr>
          <a:xfrm>
            <a:off x="6414939" y="1342281"/>
            <a:ext cx="2462361" cy="1835944"/>
          </a:xfrm>
          <a:prstGeom prst="rect">
            <a:avLst/>
          </a:prstGeom>
          <a:solidFill>
            <a:srgbClr val="FFFFFF"/>
          </a:solidFill>
          <a:ln/>
        </p:spPr>
        <p:txBody>
          <a:bodyPr wrap="square" rtlCol="0" anchor="ctr"/>
          <a:lstStyle/>
          <a:p>
            <a:pPr indent="0" marL="0">
              <a:buNone/>
            </a:pPr>
            <a:endParaRPr lang="en-US" dirty="0"/>
          </a:p>
        </p:txBody>
      </p:sp>
      <p:sp>
        <p:nvSpPr>
          <p:cNvPr id="26" name="Shape 24"/>
          <p:cNvSpPr/>
          <p:nvPr/>
        </p:nvSpPr>
        <p:spPr>
          <a:xfrm>
            <a:off x="6429226" y="1342281"/>
            <a:ext cx="0" cy="1835944"/>
          </a:xfrm>
          <a:prstGeom prst="line">
            <a:avLst/>
          </a:prstGeom>
          <a:noFill/>
          <a:ln w="28575">
            <a:solidFill>
              <a:srgbClr val="10A37F"/>
            </a:solidFill>
            <a:prstDash val="solid"/>
          </a:ln>
        </p:spPr>
      </p:sp>
      <p:sp>
        <p:nvSpPr>
          <p:cNvPr id="27" name="Text 25"/>
          <p:cNvSpPr/>
          <p:nvPr/>
        </p:nvSpPr>
        <p:spPr>
          <a:xfrm>
            <a:off x="6557814" y="1456581"/>
            <a:ext cx="2249290" cy="119955"/>
          </a:xfrm>
          <a:prstGeom prst="rect">
            <a:avLst/>
          </a:prstGeom>
          <a:noFill/>
          <a:ln/>
        </p:spPr>
        <p:txBody>
          <a:bodyPr wrap="square" lIns="0" tIns="0" rIns="0" bIns="0" rtlCol="0" anchor="t"/>
          <a:lstStyle/>
          <a:p>
            <a:pPr algn="l" indent="0" marL="0">
              <a:lnSpc>
                <a:spcPts val="945"/>
              </a:lnSpc>
              <a:spcAft>
                <a:spcPts val="450"/>
              </a:spcAft>
              <a:buNone/>
            </a:pPr>
            <a:r>
              <a:rPr lang="en-US" sz="675" b="1" dirty="0">
                <a:solidFill>
                  <a:srgbClr val="1A1F2E"/>
                </a:solidFill>
                <a:latin typeface="Arial" pitchFamily="34" charset="0"/>
                <a:ea typeface="Arial" pitchFamily="34" charset="-122"/>
                <a:cs typeface="Arial" pitchFamily="34" charset="-120"/>
              </a:rPr>
              <a:t>MULTI-PROVIDER</a:t>
            </a:r>
            <a:endParaRPr lang="en-US" sz="675" dirty="0"/>
          </a:p>
        </p:txBody>
      </p:sp>
      <p:sp>
        <p:nvSpPr>
          <p:cNvPr id="28" name="Text 26"/>
          <p:cNvSpPr/>
          <p:nvPr/>
        </p:nvSpPr>
        <p:spPr>
          <a:xfrm>
            <a:off x="6557814" y="1633686"/>
            <a:ext cx="2205186" cy="876300"/>
          </a:xfrm>
          <a:prstGeom prst="rect">
            <a:avLst/>
          </a:prstGeom>
          <a:noFill/>
          <a:ln/>
        </p:spPr>
        <p:txBody>
          <a:bodyPr wrap="square" lIns="57150" tIns="0" rIns="0" bIns="0" rtlCol="0" anchor="t"/>
          <a:lstStyle/>
          <a:p>
            <a:pPr algn="l" marL="57150" indent="-57150">
              <a:lnSpc>
                <a:spcPts val="2100"/>
              </a:lnSpc>
              <a:buSzPct val="100000"/>
              <a:buChar char="•"/>
            </a:pPr>
            <a:r>
              <a:rPr lang="en-US" sz="1350" dirty="0">
                <a:solidFill>
                  <a:srgbClr val="6B7280"/>
                </a:solidFill>
                <a:latin typeface="Arial" pitchFamily="34" charset="0"/>
                <a:ea typeface="Arial" pitchFamily="34" charset="-122"/>
                <a:cs typeface="Arial" pitchFamily="34" charset="-120"/>
              </a:rPr>
              <a:t>Azure OpenAI</a:t>
            </a:r>
            <a:endParaRPr lang="en-US" sz="1350" dirty="0"/>
          </a:p>
          <a:p>
            <a:pPr algn="l" marL="57150" indent="-57150">
              <a:lnSpc>
                <a:spcPts val="2100"/>
              </a:lnSpc>
              <a:buSzPct val="100000"/>
              <a:buChar char="•"/>
            </a:pPr>
            <a:r>
              <a:rPr lang="en-US" sz="1350" dirty="0">
                <a:solidFill>
                  <a:srgbClr val="6B7280"/>
                </a:solidFill>
                <a:latin typeface="Arial" pitchFamily="34" charset="0"/>
                <a:ea typeface="Arial" pitchFamily="34" charset="-122"/>
                <a:cs typeface="Arial" pitchFamily="34" charset="-120"/>
              </a:rPr>
              <a:t>Ollama/Local</a:t>
            </a:r>
            <a:endParaRPr lang="en-US" sz="1350" dirty="0"/>
          </a:p>
          <a:p>
            <a:pPr algn="l" marL="57150" indent="-57150">
              <a:lnSpc>
                <a:spcPts val="2100"/>
              </a:lnSpc>
              <a:buSzPct val="100000"/>
              <a:buChar char="•"/>
            </a:pPr>
            <a:r>
              <a:rPr lang="en-US" sz="1350" dirty="0">
                <a:solidFill>
                  <a:srgbClr val="6B7280"/>
                </a:solidFill>
                <a:latin typeface="Arial" pitchFamily="34" charset="0"/>
                <a:ea typeface="Arial" pitchFamily="34" charset="-122"/>
                <a:cs typeface="Arial" pitchFamily="34" charset="-120"/>
              </a:rPr>
              <a:t>OpenAI, Anthropic</a:t>
            </a:r>
            <a:endParaRPr lang="en-US" sz="1350" dirty="0"/>
          </a:p>
        </p:txBody>
      </p:sp>
      <p:sp>
        <p:nvSpPr>
          <p:cNvPr id="29" name="Text 27"/>
          <p:cNvSpPr/>
          <p:nvPr/>
        </p:nvSpPr>
        <p:spPr>
          <a:xfrm>
            <a:off x="6557814" y="2586186"/>
            <a:ext cx="2249290"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1A1F2E"/>
                </a:solidFill>
                <a:latin typeface="Arial" pitchFamily="34" charset="0"/>
                <a:ea typeface="Arial" pitchFamily="34" charset="-122"/>
                <a:cs typeface="Arial" pitchFamily="34" charset="-120"/>
              </a:rPr>
              <a:t>UNIQUE FEATURES</a:t>
            </a:r>
            <a:endParaRPr lang="en-US" sz="675" dirty="0"/>
          </a:p>
        </p:txBody>
      </p:sp>
      <p:sp>
        <p:nvSpPr>
          <p:cNvPr id="30" name="Text 28"/>
          <p:cNvSpPr/>
          <p:nvPr/>
        </p:nvSpPr>
        <p:spPr>
          <a:xfrm>
            <a:off x="6557814" y="2744242"/>
            <a:ext cx="2249290" cy="319683"/>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AI Agents marketplace</a:t>
            </a:r>
            <a:endParaRPr lang="en-US" sz="600" dirty="0"/>
          </a:p>
          <a:p>
            <a:pPr algn="l" indent="0" marL="0">
              <a:lnSpc>
                <a:spcPts val="840"/>
              </a:lnSpc>
              <a:buNone/>
            </a:pPr>
            <a:r>
              <a:rPr lang="en-US" sz="600" dirty="0">
                <a:solidFill>
                  <a:srgbClr val="6B7280"/>
                </a:solidFill>
                <a:latin typeface="Arial" pitchFamily="34" charset="0"/>
                <a:ea typeface="Arial" pitchFamily="34" charset="-122"/>
                <a:cs typeface="Arial" pitchFamily="34" charset="-120"/>
              </a:rPr>
              <a:t> CodeGPT Plus tier</a:t>
            </a:r>
            <a:endParaRPr lang="en-US" sz="600" dirty="0"/>
          </a:p>
          <a:p>
            <a:pPr algn="l" indent="0" marL="0">
              <a:lnSpc>
                <a:spcPts val="840"/>
              </a:lnSpc>
              <a:buNone/>
            </a:pPr>
            <a:r>
              <a:rPr lang="en-US" sz="600" dirty="0">
                <a:solidFill>
                  <a:srgbClr val="6B7280"/>
                </a:solidFill>
                <a:latin typeface="Arial" pitchFamily="34" charset="0"/>
                <a:ea typeface="Arial" pitchFamily="34" charset="-122"/>
                <a:cs typeface="Arial" pitchFamily="34" charset="-120"/>
              </a:rPr>
              <a:t> Good free tier</a:t>
            </a:r>
            <a:endParaRPr lang="en-US" sz="600" dirty="0"/>
          </a:p>
        </p:txBody>
      </p:sp>
      <p:sp>
        <p:nvSpPr>
          <p:cNvPr id="31" name="Text 29"/>
          <p:cNvSpPr/>
          <p:nvPr/>
        </p:nvSpPr>
        <p:spPr>
          <a:xfrm>
            <a:off x="3838277" y="3444925"/>
            <a:ext cx="5039023" cy="731341"/>
          </a:xfrm>
          <a:prstGeom prst="rect">
            <a:avLst/>
          </a:prstGeom>
          <a:solidFill>
            <a:srgbClr val="1A1F2E"/>
          </a:solidFill>
          <a:ln/>
        </p:spPr>
        <p:txBody>
          <a:bodyPr wrap="square" rtlCol="0" anchor="ctr"/>
          <a:lstStyle/>
          <a:p>
            <a:pPr indent="0" marL="0">
              <a:buNone/>
            </a:pPr>
            <a:endParaRPr lang="en-US" dirty="0"/>
          </a:p>
        </p:txBody>
      </p:sp>
      <p:sp>
        <p:nvSpPr>
          <p:cNvPr id="32" name="Text 30"/>
          <p:cNvSpPr/>
          <p:nvPr/>
        </p:nvSpPr>
        <p:spPr>
          <a:xfrm>
            <a:off x="3971627" y="3578275"/>
            <a:ext cx="4867769" cy="133350"/>
          </a:xfrm>
          <a:prstGeom prst="rect">
            <a:avLst/>
          </a:prstGeom>
          <a:noFill/>
          <a:ln/>
        </p:spPr>
        <p:txBody>
          <a:bodyPr wrap="square" lIns="0" tIns="0" rIns="0" bIns="0" rtlCol="0" anchor="t"/>
          <a:lstStyle/>
          <a:p>
            <a:pPr algn="l" indent="0" marL="0">
              <a:lnSpc>
                <a:spcPts val="1050"/>
              </a:lnSpc>
              <a:spcAft>
                <a:spcPts val="600"/>
              </a:spcAft>
              <a:buNone/>
            </a:pPr>
            <a:r>
              <a:rPr lang="en-US" sz="750" b="1" dirty="0">
                <a:solidFill>
                  <a:srgbClr val="C9A227"/>
                </a:solidFill>
                <a:latin typeface="Arial" pitchFamily="34" charset="0"/>
                <a:ea typeface="Arial" pitchFamily="34" charset="-122"/>
                <a:cs typeface="Arial" pitchFamily="34" charset="-120"/>
              </a:rPr>
              <a:t>WHEN TO CHOOSE</a:t>
            </a:r>
            <a:endParaRPr lang="en-US" sz="750" dirty="0"/>
          </a:p>
        </p:txBody>
      </p:sp>
      <p:sp>
        <p:nvSpPr>
          <p:cNvPr id="33" name="Text 31"/>
          <p:cNvSpPr/>
          <p:nvPr/>
        </p:nvSpPr>
        <p:spPr>
          <a:xfrm>
            <a:off x="3971627" y="3787825"/>
            <a:ext cx="2356161" cy="106561"/>
          </a:xfrm>
          <a:prstGeom prst="rect">
            <a:avLst/>
          </a:prstGeom>
          <a:noFill/>
          <a:ln/>
        </p:spPr>
        <p:txBody>
          <a:bodyPr wrap="square" lIns="0" tIns="0" rIns="0" bIns="0" rtlCol="0" anchor="t"/>
          <a:lstStyle/>
          <a:p>
            <a:pPr algn="l" indent="0" marL="0">
              <a:lnSpc>
                <a:spcPts val="840"/>
              </a:lnSpc>
              <a:spcAft>
                <a:spcPts val="225"/>
              </a:spcAft>
              <a:buNone/>
            </a:pPr>
            <a:r>
              <a:rPr lang="en-US" sz="600" dirty="0">
                <a:solidFill>
                  <a:srgbClr val="FFFFFF">
                    <a:alpha val="60000"/>
                  </a:srgbClr>
                </a:solidFill>
                <a:latin typeface="Arial" pitchFamily="34" charset="0"/>
                <a:ea typeface="Arial" pitchFamily="34" charset="-122"/>
                <a:cs typeface="Arial" pitchFamily="34" charset="-120"/>
              </a:rPr>
              <a:t>AMAZON Q</a:t>
            </a:r>
            <a:endParaRPr lang="en-US" sz="600" dirty="0"/>
          </a:p>
        </p:txBody>
      </p:sp>
      <p:sp>
        <p:nvSpPr>
          <p:cNvPr id="34" name="Text 32"/>
          <p:cNvSpPr/>
          <p:nvPr/>
        </p:nvSpPr>
        <p:spPr>
          <a:xfrm>
            <a:off x="3971627" y="3922961"/>
            <a:ext cx="2356161" cy="119955"/>
          </a:xfrm>
          <a:prstGeom prst="rect">
            <a:avLst/>
          </a:prstGeom>
          <a:noFill/>
          <a:ln/>
        </p:spPr>
        <p:txBody>
          <a:bodyPr wrap="square" lIns="0" tIns="0" rIns="0" bIns="0" rtlCol="0" anchor="t"/>
          <a:lstStyle/>
          <a:p>
            <a:pPr algn="l" indent="0" marL="0">
              <a:lnSpc>
                <a:spcPts val="945"/>
              </a:lnSpc>
              <a:buNone/>
            </a:pPr>
            <a:r>
              <a:rPr lang="en-US" sz="675" dirty="0">
                <a:solidFill>
                  <a:srgbClr val="FFFFFF"/>
                </a:solidFill>
                <a:latin typeface="Arial" pitchFamily="34" charset="0"/>
                <a:ea typeface="Arial" pitchFamily="34" charset="-122"/>
                <a:cs typeface="Arial" pitchFamily="34" charset="-120"/>
              </a:rPr>
              <a:t>AWS-centric development, need AWS service assistance</a:t>
            </a:r>
            <a:endParaRPr lang="en-US" sz="675" dirty="0"/>
          </a:p>
        </p:txBody>
      </p:sp>
      <p:sp>
        <p:nvSpPr>
          <p:cNvPr id="35" name="Text 33"/>
          <p:cNvSpPr/>
          <p:nvPr/>
        </p:nvSpPr>
        <p:spPr>
          <a:xfrm>
            <a:off x="6433989" y="3787825"/>
            <a:ext cx="2356161" cy="106561"/>
          </a:xfrm>
          <a:prstGeom prst="rect">
            <a:avLst/>
          </a:prstGeom>
          <a:noFill/>
          <a:ln/>
        </p:spPr>
        <p:txBody>
          <a:bodyPr wrap="square" lIns="0" tIns="0" rIns="0" bIns="0" rtlCol="0" anchor="t"/>
          <a:lstStyle/>
          <a:p>
            <a:pPr algn="l" indent="0" marL="0">
              <a:lnSpc>
                <a:spcPts val="840"/>
              </a:lnSpc>
              <a:spcAft>
                <a:spcPts val="225"/>
              </a:spcAft>
              <a:buNone/>
            </a:pPr>
            <a:r>
              <a:rPr lang="en-US" sz="600" dirty="0">
                <a:solidFill>
                  <a:srgbClr val="FFFFFF">
                    <a:alpha val="60000"/>
                  </a:srgbClr>
                </a:solidFill>
                <a:latin typeface="Arial" pitchFamily="34" charset="0"/>
                <a:ea typeface="Arial" pitchFamily="34" charset="-122"/>
                <a:cs typeface="Arial" pitchFamily="34" charset="-120"/>
              </a:rPr>
              <a:t>CODEGPT</a:t>
            </a:r>
            <a:endParaRPr lang="en-US" sz="600" dirty="0"/>
          </a:p>
        </p:txBody>
      </p:sp>
      <p:sp>
        <p:nvSpPr>
          <p:cNvPr id="36" name="Text 34"/>
          <p:cNvSpPr/>
          <p:nvPr/>
        </p:nvSpPr>
        <p:spPr>
          <a:xfrm>
            <a:off x="6433989" y="3922961"/>
            <a:ext cx="2356161" cy="119955"/>
          </a:xfrm>
          <a:prstGeom prst="rect">
            <a:avLst/>
          </a:prstGeom>
          <a:noFill/>
          <a:ln/>
        </p:spPr>
        <p:txBody>
          <a:bodyPr wrap="square" lIns="0" tIns="0" rIns="0" bIns="0" rtlCol="0" anchor="t"/>
          <a:lstStyle/>
          <a:p>
            <a:pPr algn="l" indent="0" marL="0">
              <a:lnSpc>
                <a:spcPts val="945"/>
              </a:lnSpc>
              <a:buNone/>
            </a:pPr>
            <a:r>
              <a:rPr lang="en-US" sz="675" dirty="0">
                <a:solidFill>
                  <a:srgbClr val="FFFFFF"/>
                </a:solidFill>
                <a:latin typeface="Arial" pitchFamily="34" charset="0"/>
                <a:ea typeface="Arial" pitchFamily="34" charset="-122"/>
                <a:cs typeface="Arial" pitchFamily="34" charset="-120"/>
              </a:rPr>
              <a:t>Budget-friendly BYOK, want to try multiple providers</a:t>
            </a:r>
            <a:endParaRPr lang="en-US" sz="6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p:bgPr>
    </p:bg>
    <p:spTree>
      <p:nvGrpSpPr>
        <p:cNvPr id="1" name=""/>
        <p:cNvGrpSpPr/>
        <p:nvPr/>
      </p:nvGrpSpPr>
      <p:grpSpPr>
        <a:xfrm>
          <a:off x="0" y="0"/>
          <a:ext cx="0" cy="0"/>
          <a:chOff x="0" y="0"/>
          <a:chExt cx="0" cy="0"/>
        </a:xfrm>
      </p:grpSpPr>
      <p:sp>
        <p:nvSpPr>
          <p:cNvPr id="2" name="Text 0"/>
          <p:cNvSpPr/>
          <p:nvPr/>
        </p:nvSpPr>
        <p:spPr>
          <a:xfrm>
            <a:off x="304800" y="926009"/>
            <a:ext cx="805160" cy="182761"/>
          </a:xfrm>
          <a:prstGeom prst="rect">
            <a:avLst/>
          </a:prstGeom>
          <a:solidFill>
            <a:srgbClr val="007ACC"/>
          </a:solidFill>
          <a:ln/>
        </p:spPr>
        <p:txBody>
          <a:bodyPr wrap="square" rtlCol="0" anchor="ctr"/>
          <a:lstStyle/>
          <a:p>
            <a:pPr indent="0" marL="0">
              <a:buNone/>
            </a:pPr>
            <a:endParaRPr lang="en-US" dirty="0"/>
          </a:p>
        </p:txBody>
      </p:sp>
      <p:sp>
        <p:nvSpPr>
          <p:cNvPr id="3" name="Text 1"/>
          <p:cNvSpPr/>
          <p:nvPr/>
        </p:nvSpPr>
        <p:spPr>
          <a:xfrm>
            <a:off x="400050" y="964109"/>
            <a:ext cx="626953" cy="106561"/>
          </a:xfrm>
          <a:prstGeom prst="rect">
            <a:avLst/>
          </a:prstGeom>
          <a:noFill/>
          <a:ln/>
        </p:spPr>
        <p:txBody>
          <a:bodyPr wrap="square" lIns="0" tIns="0" rIns="0" bIns="0" rtlCol="0" anchor="t"/>
          <a:lstStyle/>
          <a:p>
            <a:pPr algn="l" indent="0" marL="0">
              <a:lnSpc>
                <a:spcPts val="840"/>
              </a:lnSpc>
              <a:buNone/>
            </a:pPr>
            <a:r>
              <a:rPr lang="en-US" sz="600" b="1" dirty="0">
                <a:solidFill>
                  <a:srgbClr val="FFFFFF"/>
                </a:solidFill>
                <a:latin typeface="Arial" pitchFamily="34" charset="0"/>
                <a:ea typeface="Arial" pitchFamily="34" charset="-122"/>
                <a:cs typeface="Arial" pitchFamily="34" charset="-120"/>
              </a:rPr>
              <a:t>COMPARISON</a:t>
            </a:r>
            <a:endParaRPr lang="en-US" sz="600" dirty="0"/>
          </a:p>
        </p:txBody>
      </p:sp>
      <p:sp>
        <p:nvSpPr>
          <p:cNvPr id="4" name="Text 2"/>
          <p:cNvSpPr/>
          <p:nvPr/>
        </p:nvSpPr>
        <p:spPr>
          <a:xfrm>
            <a:off x="1376660" y="912614"/>
            <a:ext cx="2842998" cy="209550"/>
          </a:xfrm>
          <a:prstGeom prst="rect">
            <a:avLst/>
          </a:prstGeom>
          <a:noFill/>
          <a:ln/>
        </p:spPr>
        <p:txBody>
          <a:bodyPr wrap="square" lIns="0" tIns="0" rIns="0" bIns="0" rtlCol="0" anchor="t"/>
          <a:lstStyle/>
          <a:p>
            <a:pPr algn="l" indent="0" marL="0">
              <a:lnSpc>
                <a:spcPts val="1650"/>
              </a:lnSpc>
              <a:buNone/>
            </a:pPr>
            <a:r>
              <a:rPr lang="en-US" sz="1650" dirty="0">
                <a:solidFill>
                  <a:srgbClr val="1A1F2E"/>
                </a:solidFill>
                <a:latin typeface="Georgia" pitchFamily="34" charset="0"/>
                <a:ea typeface="Georgia" pitchFamily="34" charset="-122"/>
                <a:cs typeface="Georgia" pitchFamily="34" charset="-120"/>
              </a:rPr>
              <a:t>Extension Comparison Matrix</a:t>
            </a:r>
            <a:endParaRPr lang="en-US" sz="1650" dirty="0"/>
          </a:p>
        </p:txBody>
      </p:sp>
      <p:sp>
        <p:nvSpPr>
          <p:cNvPr id="5" name="Text 3"/>
          <p:cNvSpPr/>
          <p:nvPr/>
        </p:nvSpPr>
        <p:spPr>
          <a:xfrm>
            <a:off x="304800" y="1426964"/>
            <a:ext cx="8534400" cy="2091630"/>
          </a:xfrm>
          <a:prstGeom prst="rect">
            <a:avLst/>
          </a:prstGeom>
          <a:solidFill>
            <a:srgbClr val="FFFFFF"/>
          </a:solidFill>
          <a:ln w="9525">
            <a:solidFill>
              <a:srgbClr val="E4E7ED"/>
            </a:solidFill>
          </a:ln>
        </p:spPr>
        <p:txBody>
          <a:bodyPr wrap="square" rtlCol="0" anchor="ctr"/>
          <a:lstStyle/>
          <a:p>
            <a:pPr indent="0" marL="0">
              <a:buNone/>
            </a:pPr>
            <a:endParaRPr lang="en-US" dirty="0"/>
          </a:p>
        </p:txBody>
      </p:sp>
      <p:sp>
        <p:nvSpPr>
          <p:cNvPr id="6" name="Text 4"/>
          <p:cNvSpPr/>
          <p:nvPr/>
        </p:nvSpPr>
        <p:spPr>
          <a:xfrm>
            <a:off x="314325" y="1436489"/>
            <a:ext cx="8515350" cy="310455"/>
          </a:xfrm>
          <a:prstGeom prst="rect">
            <a:avLst/>
          </a:prstGeom>
          <a:solidFill>
            <a:srgbClr val="1A1F2E"/>
          </a:solidFill>
          <a:ln/>
        </p:spPr>
        <p:txBody>
          <a:bodyPr wrap="square" rtlCol="0" anchor="ctr"/>
          <a:lstStyle/>
          <a:p>
            <a:pPr indent="0" marL="0">
              <a:buNone/>
            </a:pPr>
            <a:endParaRPr lang="en-US" dirty="0"/>
          </a:p>
        </p:txBody>
      </p:sp>
      <p:sp>
        <p:nvSpPr>
          <p:cNvPr id="7" name="Shape 5"/>
          <p:cNvSpPr/>
          <p:nvPr/>
        </p:nvSpPr>
        <p:spPr>
          <a:xfrm>
            <a:off x="1262063" y="1436489"/>
            <a:ext cx="0" cy="310455"/>
          </a:xfrm>
          <a:prstGeom prst="line">
            <a:avLst/>
          </a:prstGeom>
          <a:noFill/>
          <a:ln w="9525">
            <a:solidFill>
              <a:srgbClr val="FFFFFF"/>
            </a:solidFill>
            <a:prstDash val="solid"/>
          </a:ln>
        </p:spPr>
      </p:sp>
      <p:sp>
        <p:nvSpPr>
          <p:cNvPr id="8" name="Text 6"/>
          <p:cNvSpPr/>
          <p:nvPr/>
        </p:nvSpPr>
        <p:spPr>
          <a:xfrm>
            <a:off x="428625" y="1531739"/>
            <a:ext cx="728663" cy="119955"/>
          </a:xfrm>
          <a:prstGeom prst="rect">
            <a:avLst/>
          </a:prstGeom>
          <a:noFill/>
          <a:ln/>
        </p:spPr>
        <p:txBody>
          <a:bodyPr wrap="square" lIns="0" tIns="0" rIns="0" bIns="0" rtlCol="0" anchor="t"/>
          <a:lstStyle/>
          <a:p>
            <a:pPr algn="l" indent="0" marL="0">
              <a:lnSpc>
                <a:spcPts val="945"/>
              </a:lnSpc>
              <a:buNone/>
            </a:pPr>
            <a:r>
              <a:rPr lang="en-US" sz="675" b="1" dirty="0">
                <a:solidFill>
                  <a:srgbClr val="C9A227"/>
                </a:solidFill>
                <a:latin typeface="Arial" pitchFamily="34" charset="0"/>
                <a:ea typeface="Arial" pitchFamily="34" charset="-122"/>
                <a:cs typeface="Arial" pitchFamily="34" charset="-120"/>
              </a:rPr>
              <a:t>EXTENSION</a:t>
            </a:r>
            <a:endParaRPr lang="en-US" sz="675" dirty="0"/>
          </a:p>
        </p:txBody>
      </p:sp>
      <p:sp>
        <p:nvSpPr>
          <p:cNvPr id="9" name="Shape 7"/>
          <p:cNvSpPr/>
          <p:nvPr/>
        </p:nvSpPr>
        <p:spPr>
          <a:xfrm>
            <a:off x="2081212" y="1443186"/>
            <a:ext cx="0" cy="297061"/>
          </a:xfrm>
          <a:prstGeom prst="line">
            <a:avLst/>
          </a:prstGeom>
          <a:noFill/>
          <a:ln w="9525">
            <a:solidFill>
              <a:srgbClr val="FFFFFF"/>
            </a:solidFill>
            <a:prstDash val="solid"/>
          </a:ln>
        </p:spPr>
      </p:sp>
      <p:sp>
        <p:nvSpPr>
          <p:cNvPr id="10" name="Text 8"/>
          <p:cNvSpPr/>
          <p:nvPr/>
        </p:nvSpPr>
        <p:spPr>
          <a:xfrm>
            <a:off x="1490377" y="1538436"/>
            <a:ext cx="514922" cy="106561"/>
          </a:xfrm>
          <a:prstGeom prst="rect">
            <a:avLst/>
          </a:prstGeom>
          <a:noFill/>
          <a:ln/>
        </p:spPr>
        <p:txBody>
          <a:bodyPr wrap="square" lIns="0" tIns="0" rIns="0" bIns="0" rtlCol="0" anchor="t"/>
          <a:lstStyle/>
          <a:p>
            <a:pPr algn="ctr" indent="0" marL="0">
              <a:lnSpc>
                <a:spcPts val="840"/>
              </a:lnSpc>
              <a:buNone/>
            </a:pPr>
            <a:r>
              <a:rPr lang="en-US" sz="600" b="1" dirty="0">
                <a:solidFill>
                  <a:srgbClr val="FFFFFF"/>
                </a:solidFill>
                <a:latin typeface="Arial" pitchFamily="34" charset="0"/>
                <a:ea typeface="Arial" pitchFamily="34" charset="-122"/>
                <a:cs typeface="Arial" pitchFamily="34" charset="-120"/>
              </a:rPr>
              <a:t>AZURE</a:t>
            </a:r>
            <a:endParaRPr lang="en-US" sz="600" dirty="0"/>
          </a:p>
        </p:txBody>
      </p:sp>
      <p:sp>
        <p:nvSpPr>
          <p:cNvPr id="11" name="Shape 9"/>
          <p:cNvSpPr/>
          <p:nvPr/>
        </p:nvSpPr>
        <p:spPr>
          <a:xfrm>
            <a:off x="2900362" y="1443186"/>
            <a:ext cx="0" cy="297061"/>
          </a:xfrm>
          <a:prstGeom prst="line">
            <a:avLst/>
          </a:prstGeom>
          <a:noFill/>
          <a:ln w="9525">
            <a:solidFill>
              <a:srgbClr val="FFFFFF"/>
            </a:solidFill>
            <a:prstDash val="solid"/>
          </a:ln>
        </p:spPr>
      </p:sp>
      <p:sp>
        <p:nvSpPr>
          <p:cNvPr id="12" name="Text 10"/>
          <p:cNvSpPr/>
          <p:nvPr/>
        </p:nvSpPr>
        <p:spPr>
          <a:xfrm>
            <a:off x="2309527" y="1538436"/>
            <a:ext cx="514922" cy="106561"/>
          </a:xfrm>
          <a:prstGeom prst="rect">
            <a:avLst/>
          </a:prstGeom>
          <a:noFill/>
          <a:ln/>
        </p:spPr>
        <p:txBody>
          <a:bodyPr wrap="square" lIns="0" tIns="0" rIns="0" bIns="0" rtlCol="0" anchor="t"/>
          <a:lstStyle/>
          <a:p>
            <a:pPr algn="ctr" indent="0" marL="0">
              <a:lnSpc>
                <a:spcPts val="840"/>
              </a:lnSpc>
              <a:buNone/>
            </a:pPr>
            <a:r>
              <a:rPr lang="en-US" sz="600" b="1" dirty="0">
                <a:solidFill>
                  <a:srgbClr val="FFFFFF"/>
                </a:solidFill>
                <a:latin typeface="Arial" pitchFamily="34" charset="0"/>
                <a:ea typeface="Arial" pitchFamily="34" charset="-122"/>
                <a:cs typeface="Arial" pitchFamily="34" charset="-120"/>
              </a:rPr>
              <a:t>AWS</a:t>
            </a:r>
            <a:endParaRPr lang="en-US" sz="600" dirty="0"/>
          </a:p>
        </p:txBody>
      </p:sp>
      <p:sp>
        <p:nvSpPr>
          <p:cNvPr id="13" name="Shape 11"/>
          <p:cNvSpPr/>
          <p:nvPr/>
        </p:nvSpPr>
        <p:spPr>
          <a:xfrm>
            <a:off x="3719513" y="1443186"/>
            <a:ext cx="0" cy="297061"/>
          </a:xfrm>
          <a:prstGeom prst="line">
            <a:avLst/>
          </a:prstGeom>
          <a:noFill/>
          <a:ln w="9525">
            <a:solidFill>
              <a:srgbClr val="FFFFFF"/>
            </a:solidFill>
            <a:prstDash val="solid"/>
          </a:ln>
        </p:spPr>
      </p:sp>
      <p:sp>
        <p:nvSpPr>
          <p:cNvPr id="14" name="Text 12"/>
          <p:cNvSpPr/>
          <p:nvPr/>
        </p:nvSpPr>
        <p:spPr>
          <a:xfrm>
            <a:off x="3128677" y="1538436"/>
            <a:ext cx="514922" cy="106561"/>
          </a:xfrm>
          <a:prstGeom prst="rect">
            <a:avLst/>
          </a:prstGeom>
          <a:noFill/>
          <a:ln/>
        </p:spPr>
        <p:txBody>
          <a:bodyPr wrap="square" lIns="0" tIns="0" rIns="0" bIns="0" rtlCol="0" anchor="t"/>
          <a:lstStyle/>
          <a:p>
            <a:pPr algn="ctr" indent="0" marL="0">
              <a:lnSpc>
                <a:spcPts val="840"/>
              </a:lnSpc>
              <a:buNone/>
            </a:pPr>
            <a:r>
              <a:rPr lang="en-US" sz="600" b="1" dirty="0">
                <a:solidFill>
                  <a:srgbClr val="FFFFFF"/>
                </a:solidFill>
                <a:latin typeface="Arial" pitchFamily="34" charset="0"/>
                <a:ea typeface="Arial" pitchFamily="34" charset="-122"/>
                <a:cs typeface="Arial" pitchFamily="34" charset="-120"/>
              </a:rPr>
              <a:t>VERTEX</a:t>
            </a:r>
            <a:endParaRPr lang="en-US" sz="600" dirty="0"/>
          </a:p>
        </p:txBody>
      </p:sp>
      <p:sp>
        <p:nvSpPr>
          <p:cNvPr id="15" name="Shape 13"/>
          <p:cNvSpPr/>
          <p:nvPr/>
        </p:nvSpPr>
        <p:spPr>
          <a:xfrm>
            <a:off x="4538663" y="1443186"/>
            <a:ext cx="0" cy="297061"/>
          </a:xfrm>
          <a:prstGeom prst="line">
            <a:avLst/>
          </a:prstGeom>
          <a:noFill/>
          <a:ln w="9525">
            <a:solidFill>
              <a:srgbClr val="FFFFFF"/>
            </a:solidFill>
            <a:prstDash val="solid"/>
          </a:ln>
        </p:spPr>
      </p:sp>
      <p:sp>
        <p:nvSpPr>
          <p:cNvPr id="16" name="Text 14"/>
          <p:cNvSpPr/>
          <p:nvPr/>
        </p:nvSpPr>
        <p:spPr>
          <a:xfrm>
            <a:off x="3947827" y="1538436"/>
            <a:ext cx="514922" cy="106561"/>
          </a:xfrm>
          <a:prstGeom prst="rect">
            <a:avLst/>
          </a:prstGeom>
          <a:noFill/>
          <a:ln/>
        </p:spPr>
        <p:txBody>
          <a:bodyPr wrap="square" lIns="0" tIns="0" rIns="0" bIns="0" rtlCol="0" anchor="t"/>
          <a:lstStyle/>
          <a:p>
            <a:pPr algn="ctr" indent="0" marL="0">
              <a:lnSpc>
                <a:spcPts val="840"/>
              </a:lnSpc>
              <a:buNone/>
            </a:pPr>
            <a:r>
              <a:rPr lang="en-US" sz="600" b="1" dirty="0">
                <a:solidFill>
                  <a:srgbClr val="FFFFFF"/>
                </a:solidFill>
                <a:latin typeface="Arial" pitchFamily="34" charset="0"/>
                <a:ea typeface="Arial" pitchFamily="34" charset="-122"/>
                <a:cs typeface="Arial" pitchFamily="34" charset="-120"/>
              </a:rPr>
              <a:t>LOCAL</a:t>
            </a:r>
            <a:endParaRPr lang="en-US" sz="600" dirty="0"/>
          </a:p>
        </p:txBody>
      </p:sp>
      <p:sp>
        <p:nvSpPr>
          <p:cNvPr id="17" name="Shape 15"/>
          <p:cNvSpPr/>
          <p:nvPr/>
        </p:nvSpPr>
        <p:spPr>
          <a:xfrm>
            <a:off x="5453063" y="1443186"/>
            <a:ext cx="0" cy="297061"/>
          </a:xfrm>
          <a:prstGeom prst="line">
            <a:avLst/>
          </a:prstGeom>
          <a:noFill/>
          <a:ln w="9525">
            <a:solidFill>
              <a:srgbClr val="FFFFFF"/>
            </a:solidFill>
            <a:prstDash val="solid"/>
          </a:ln>
        </p:spPr>
      </p:sp>
      <p:sp>
        <p:nvSpPr>
          <p:cNvPr id="18" name="Text 16"/>
          <p:cNvSpPr/>
          <p:nvPr/>
        </p:nvSpPr>
        <p:spPr>
          <a:xfrm>
            <a:off x="4766024" y="1538436"/>
            <a:ext cx="612077" cy="106561"/>
          </a:xfrm>
          <a:prstGeom prst="rect">
            <a:avLst/>
          </a:prstGeom>
          <a:noFill/>
          <a:ln/>
        </p:spPr>
        <p:txBody>
          <a:bodyPr wrap="square" lIns="0" tIns="0" rIns="0" bIns="0" rtlCol="0" anchor="t"/>
          <a:lstStyle/>
          <a:p>
            <a:pPr algn="ctr" indent="0" marL="0">
              <a:lnSpc>
                <a:spcPts val="840"/>
              </a:lnSpc>
              <a:buNone/>
            </a:pPr>
            <a:r>
              <a:rPr lang="en-US" sz="600" b="1" dirty="0">
                <a:solidFill>
                  <a:srgbClr val="FFFFFF"/>
                </a:solidFill>
                <a:latin typeface="Arial" pitchFamily="34" charset="0"/>
                <a:ea typeface="Arial" pitchFamily="34" charset="-122"/>
                <a:cs typeface="Arial" pitchFamily="34" charset="-120"/>
              </a:rPr>
              <a:t>LICENSE</a:t>
            </a:r>
            <a:endParaRPr lang="en-US" sz="600" dirty="0"/>
          </a:p>
        </p:txBody>
      </p:sp>
      <p:sp>
        <p:nvSpPr>
          <p:cNvPr id="19" name="Text 17"/>
          <p:cNvSpPr/>
          <p:nvPr/>
        </p:nvSpPr>
        <p:spPr>
          <a:xfrm>
            <a:off x="5655755" y="1538436"/>
            <a:ext cx="3128391" cy="106561"/>
          </a:xfrm>
          <a:prstGeom prst="rect">
            <a:avLst/>
          </a:prstGeom>
          <a:noFill/>
          <a:ln/>
        </p:spPr>
        <p:txBody>
          <a:bodyPr wrap="square" lIns="0" tIns="0" rIns="0" bIns="0" rtlCol="0" anchor="t"/>
          <a:lstStyle/>
          <a:p>
            <a:pPr algn="ctr" indent="0" marL="0">
              <a:lnSpc>
                <a:spcPts val="840"/>
              </a:lnSpc>
              <a:buNone/>
            </a:pPr>
            <a:r>
              <a:rPr lang="en-US" sz="600" b="1" dirty="0">
                <a:solidFill>
                  <a:srgbClr val="FFFFFF"/>
                </a:solidFill>
                <a:latin typeface="Arial" pitchFamily="34" charset="0"/>
                <a:ea typeface="Arial" pitchFamily="34" charset="-122"/>
                <a:cs typeface="Arial" pitchFamily="34" charset="-120"/>
              </a:rPr>
              <a:t>BEST FOR</a:t>
            </a:r>
            <a:endParaRPr lang="en-US" sz="600" dirty="0"/>
          </a:p>
        </p:txBody>
      </p:sp>
      <p:sp>
        <p:nvSpPr>
          <p:cNvPr id="20" name="Shape 18"/>
          <p:cNvSpPr/>
          <p:nvPr/>
        </p:nvSpPr>
        <p:spPr>
          <a:xfrm>
            <a:off x="314325" y="2037457"/>
            <a:ext cx="8515350" cy="0"/>
          </a:xfrm>
          <a:prstGeom prst="line">
            <a:avLst/>
          </a:prstGeom>
          <a:noFill/>
          <a:ln w="9525">
            <a:solidFill>
              <a:srgbClr val="E4E7ED"/>
            </a:solidFill>
            <a:prstDash val="solid"/>
          </a:ln>
        </p:spPr>
      </p:sp>
      <p:sp>
        <p:nvSpPr>
          <p:cNvPr id="21" name="Shape 19"/>
          <p:cNvSpPr/>
          <p:nvPr/>
        </p:nvSpPr>
        <p:spPr>
          <a:xfrm>
            <a:off x="1262063" y="1753642"/>
            <a:ext cx="0" cy="272355"/>
          </a:xfrm>
          <a:prstGeom prst="line">
            <a:avLst/>
          </a:prstGeom>
          <a:noFill/>
          <a:ln w="9525">
            <a:solidFill>
              <a:srgbClr val="E4E7ED"/>
            </a:solidFill>
            <a:prstDash val="solid"/>
          </a:ln>
        </p:spPr>
      </p:sp>
      <p:sp>
        <p:nvSpPr>
          <p:cNvPr id="22" name="Text 20"/>
          <p:cNvSpPr/>
          <p:nvPr/>
        </p:nvSpPr>
        <p:spPr>
          <a:xfrm>
            <a:off x="428625" y="1829842"/>
            <a:ext cx="728663" cy="119955"/>
          </a:xfrm>
          <a:prstGeom prst="rect">
            <a:avLst/>
          </a:prstGeom>
          <a:noFill/>
          <a:ln/>
        </p:spPr>
        <p:txBody>
          <a:bodyPr wrap="square" lIns="0" tIns="0" rIns="0" bIns="0" rtlCol="0" anchor="t"/>
          <a:lstStyle/>
          <a:p>
            <a:pPr algn="l" indent="0" marL="0">
              <a:lnSpc>
                <a:spcPts val="945"/>
              </a:lnSpc>
              <a:buNone/>
            </a:pPr>
            <a:r>
              <a:rPr lang="en-US" sz="675" b="1" dirty="0">
                <a:solidFill>
                  <a:srgbClr val="1A1F2E"/>
                </a:solidFill>
                <a:latin typeface="Arial" pitchFamily="34" charset="0"/>
                <a:ea typeface="Arial" pitchFamily="34" charset="-122"/>
                <a:cs typeface="Arial" pitchFamily="34" charset="-120"/>
              </a:rPr>
              <a:t>Continue</a:t>
            </a:r>
            <a:endParaRPr lang="en-US" sz="675" dirty="0"/>
          </a:p>
        </p:txBody>
      </p:sp>
      <p:sp>
        <p:nvSpPr>
          <p:cNvPr id="23" name="Shape 21"/>
          <p:cNvSpPr/>
          <p:nvPr/>
        </p:nvSpPr>
        <p:spPr>
          <a:xfrm>
            <a:off x="2081212" y="1746945"/>
            <a:ext cx="0" cy="285750"/>
          </a:xfrm>
          <a:prstGeom prst="line">
            <a:avLst/>
          </a:prstGeom>
          <a:noFill/>
          <a:ln w="9525">
            <a:solidFill>
              <a:srgbClr val="E4E7ED"/>
            </a:solidFill>
            <a:prstDash val="solid"/>
          </a:ln>
        </p:spPr>
      </p:sp>
      <p:sp>
        <p:nvSpPr>
          <p:cNvPr id="24" name="Text 22"/>
          <p:cNvSpPr/>
          <p:nvPr/>
        </p:nvSpPr>
        <p:spPr>
          <a:xfrm>
            <a:off x="1490377" y="1823145"/>
            <a:ext cx="514922" cy="133350"/>
          </a:xfrm>
          <a:prstGeom prst="rect">
            <a:avLst/>
          </a:prstGeom>
          <a:noFill/>
          <a:ln/>
        </p:spPr>
        <p:txBody>
          <a:bodyPr wrap="square" lIns="0" tIns="0" rIns="0" bIns="0" rtlCol="0" anchor="t"/>
          <a:lstStyle/>
          <a:p>
            <a:pPr algn="ctr" indent="0" marL="0">
              <a:lnSpc>
                <a:spcPts val="1050"/>
              </a:lnSpc>
              <a:buNone/>
            </a:pPr>
            <a:r>
              <a:rPr lang="en-US" sz="750" dirty="0">
                <a:solidFill>
                  <a:srgbClr val="059669"/>
                </a:solidFill>
                <a:latin typeface="Arial" pitchFamily="34" charset="0"/>
                <a:ea typeface="Arial" pitchFamily="34" charset="-122"/>
                <a:cs typeface="Arial" pitchFamily="34" charset="-120"/>
              </a:rPr>
              <a:t>✓</a:t>
            </a:r>
            <a:endParaRPr lang="en-US" sz="750" dirty="0"/>
          </a:p>
        </p:txBody>
      </p:sp>
      <p:sp>
        <p:nvSpPr>
          <p:cNvPr id="25" name="Shape 23"/>
          <p:cNvSpPr/>
          <p:nvPr/>
        </p:nvSpPr>
        <p:spPr>
          <a:xfrm>
            <a:off x="2900362" y="1746945"/>
            <a:ext cx="0" cy="285750"/>
          </a:xfrm>
          <a:prstGeom prst="line">
            <a:avLst/>
          </a:prstGeom>
          <a:noFill/>
          <a:ln w="9525">
            <a:solidFill>
              <a:srgbClr val="E4E7ED"/>
            </a:solidFill>
            <a:prstDash val="solid"/>
          </a:ln>
        </p:spPr>
      </p:sp>
      <p:sp>
        <p:nvSpPr>
          <p:cNvPr id="26" name="Text 24"/>
          <p:cNvSpPr/>
          <p:nvPr/>
        </p:nvSpPr>
        <p:spPr>
          <a:xfrm>
            <a:off x="2309527" y="1823145"/>
            <a:ext cx="514922" cy="133350"/>
          </a:xfrm>
          <a:prstGeom prst="rect">
            <a:avLst/>
          </a:prstGeom>
          <a:noFill/>
          <a:ln/>
        </p:spPr>
        <p:txBody>
          <a:bodyPr wrap="square" lIns="0" tIns="0" rIns="0" bIns="0" rtlCol="0" anchor="t"/>
          <a:lstStyle/>
          <a:p>
            <a:pPr algn="ctr" indent="0" marL="0">
              <a:lnSpc>
                <a:spcPts val="1050"/>
              </a:lnSpc>
              <a:buNone/>
            </a:pPr>
            <a:r>
              <a:rPr lang="en-US" sz="750" dirty="0">
                <a:solidFill>
                  <a:srgbClr val="059669"/>
                </a:solidFill>
                <a:latin typeface="Arial" pitchFamily="34" charset="0"/>
                <a:ea typeface="Arial" pitchFamily="34" charset="-122"/>
                <a:cs typeface="Arial" pitchFamily="34" charset="-120"/>
              </a:rPr>
              <a:t>✓</a:t>
            </a:r>
            <a:endParaRPr lang="en-US" sz="750" dirty="0"/>
          </a:p>
        </p:txBody>
      </p:sp>
      <p:sp>
        <p:nvSpPr>
          <p:cNvPr id="27" name="Shape 25"/>
          <p:cNvSpPr/>
          <p:nvPr/>
        </p:nvSpPr>
        <p:spPr>
          <a:xfrm>
            <a:off x="3719513" y="1746945"/>
            <a:ext cx="0" cy="285750"/>
          </a:xfrm>
          <a:prstGeom prst="line">
            <a:avLst/>
          </a:prstGeom>
          <a:noFill/>
          <a:ln w="9525">
            <a:solidFill>
              <a:srgbClr val="E4E7ED"/>
            </a:solidFill>
            <a:prstDash val="solid"/>
          </a:ln>
        </p:spPr>
      </p:sp>
      <p:sp>
        <p:nvSpPr>
          <p:cNvPr id="28" name="Text 26"/>
          <p:cNvSpPr/>
          <p:nvPr/>
        </p:nvSpPr>
        <p:spPr>
          <a:xfrm>
            <a:off x="3128677" y="1823145"/>
            <a:ext cx="514922" cy="133350"/>
          </a:xfrm>
          <a:prstGeom prst="rect">
            <a:avLst/>
          </a:prstGeom>
          <a:noFill/>
          <a:ln/>
        </p:spPr>
        <p:txBody>
          <a:bodyPr wrap="square" lIns="0" tIns="0" rIns="0" bIns="0" rtlCol="0" anchor="t"/>
          <a:lstStyle/>
          <a:p>
            <a:pPr algn="ctr" indent="0" marL="0">
              <a:lnSpc>
                <a:spcPts val="1050"/>
              </a:lnSpc>
              <a:buNone/>
            </a:pPr>
            <a:r>
              <a:rPr lang="en-US" sz="750" dirty="0">
                <a:solidFill>
                  <a:srgbClr val="059669"/>
                </a:solidFill>
                <a:latin typeface="Arial" pitchFamily="34" charset="0"/>
                <a:ea typeface="Arial" pitchFamily="34" charset="-122"/>
                <a:cs typeface="Arial" pitchFamily="34" charset="-120"/>
              </a:rPr>
              <a:t>✓</a:t>
            </a:r>
            <a:endParaRPr lang="en-US" sz="750" dirty="0"/>
          </a:p>
        </p:txBody>
      </p:sp>
      <p:sp>
        <p:nvSpPr>
          <p:cNvPr id="29" name="Shape 27"/>
          <p:cNvSpPr/>
          <p:nvPr/>
        </p:nvSpPr>
        <p:spPr>
          <a:xfrm>
            <a:off x="4538663" y="1746945"/>
            <a:ext cx="0" cy="285750"/>
          </a:xfrm>
          <a:prstGeom prst="line">
            <a:avLst/>
          </a:prstGeom>
          <a:noFill/>
          <a:ln w="9525">
            <a:solidFill>
              <a:srgbClr val="E4E7ED"/>
            </a:solidFill>
            <a:prstDash val="solid"/>
          </a:ln>
        </p:spPr>
      </p:sp>
      <p:sp>
        <p:nvSpPr>
          <p:cNvPr id="30" name="Text 28"/>
          <p:cNvSpPr/>
          <p:nvPr/>
        </p:nvSpPr>
        <p:spPr>
          <a:xfrm>
            <a:off x="3947827" y="1823145"/>
            <a:ext cx="514922" cy="133350"/>
          </a:xfrm>
          <a:prstGeom prst="rect">
            <a:avLst/>
          </a:prstGeom>
          <a:noFill/>
          <a:ln/>
        </p:spPr>
        <p:txBody>
          <a:bodyPr wrap="square" lIns="0" tIns="0" rIns="0" bIns="0" rtlCol="0" anchor="t"/>
          <a:lstStyle/>
          <a:p>
            <a:pPr algn="ctr" indent="0" marL="0">
              <a:lnSpc>
                <a:spcPts val="1050"/>
              </a:lnSpc>
              <a:buNone/>
            </a:pPr>
            <a:r>
              <a:rPr lang="en-US" sz="750" dirty="0">
                <a:solidFill>
                  <a:srgbClr val="059669"/>
                </a:solidFill>
                <a:latin typeface="Arial" pitchFamily="34" charset="0"/>
                <a:ea typeface="Arial" pitchFamily="34" charset="-122"/>
                <a:cs typeface="Arial" pitchFamily="34" charset="-120"/>
              </a:rPr>
              <a:t>✓</a:t>
            </a:r>
            <a:endParaRPr lang="en-US" sz="750" dirty="0"/>
          </a:p>
        </p:txBody>
      </p:sp>
      <p:sp>
        <p:nvSpPr>
          <p:cNvPr id="31" name="Shape 29"/>
          <p:cNvSpPr/>
          <p:nvPr/>
        </p:nvSpPr>
        <p:spPr>
          <a:xfrm>
            <a:off x="5453063" y="1760339"/>
            <a:ext cx="0" cy="258961"/>
          </a:xfrm>
          <a:prstGeom prst="line">
            <a:avLst/>
          </a:prstGeom>
          <a:noFill/>
          <a:ln w="9525">
            <a:solidFill>
              <a:srgbClr val="E4E7ED"/>
            </a:solidFill>
            <a:prstDash val="solid"/>
          </a:ln>
        </p:spPr>
      </p:sp>
      <p:sp>
        <p:nvSpPr>
          <p:cNvPr id="32" name="Text 30"/>
          <p:cNvSpPr/>
          <p:nvPr/>
        </p:nvSpPr>
        <p:spPr>
          <a:xfrm>
            <a:off x="4766024" y="1836539"/>
            <a:ext cx="612077" cy="106561"/>
          </a:xfrm>
          <a:prstGeom prst="rect">
            <a:avLst/>
          </a:prstGeom>
          <a:noFill/>
          <a:ln/>
        </p:spPr>
        <p:txBody>
          <a:bodyPr wrap="square" lIns="0" tIns="0" rIns="0" bIns="0" rtlCol="0" anchor="t"/>
          <a:lstStyle/>
          <a:p>
            <a:pPr algn="ctr" indent="0" marL="0">
              <a:lnSpc>
                <a:spcPts val="840"/>
              </a:lnSpc>
              <a:buNone/>
            </a:pPr>
            <a:r>
              <a:rPr lang="en-US" sz="600" dirty="0">
                <a:solidFill>
                  <a:srgbClr val="6B7280"/>
                </a:solidFill>
                <a:latin typeface="Arial" pitchFamily="34" charset="0"/>
                <a:ea typeface="Arial" pitchFamily="34" charset="-122"/>
                <a:cs typeface="Arial" pitchFamily="34" charset="-120"/>
              </a:rPr>
              <a:t>Apache 2.0</a:t>
            </a:r>
            <a:endParaRPr lang="en-US" sz="600" dirty="0"/>
          </a:p>
        </p:txBody>
      </p:sp>
      <p:sp>
        <p:nvSpPr>
          <p:cNvPr id="33" name="Text 31"/>
          <p:cNvSpPr/>
          <p:nvPr/>
        </p:nvSpPr>
        <p:spPr>
          <a:xfrm>
            <a:off x="5655755" y="1836539"/>
            <a:ext cx="3128391" cy="106561"/>
          </a:xfrm>
          <a:prstGeom prst="rect">
            <a:avLst/>
          </a:prstGeom>
          <a:noFill/>
          <a:ln/>
        </p:spPr>
        <p:txBody>
          <a:bodyPr wrap="square" lIns="0" tIns="0" rIns="0" bIns="0" rtlCol="0" anchor="t"/>
          <a:lstStyle/>
          <a:p>
            <a:pPr algn="ctr" indent="0" marL="0">
              <a:lnSpc>
                <a:spcPts val="840"/>
              </a:lnSpc>
              <a:buNone/>
            </a:pPr>
            <a:r>
              <a:rPr lang="en-US" sz="600" dirty="0">
                <a:solidFill>
                  <a:srgbClr val="6B7280"/>
                </a:solidFill>
                <a:latin typeface="Arial" pitchFamily="34" charset="0"/>
                <a:ea typeface="Arial" pitchFamily="34" charset="-122"/>
                <a:cs typeface="Arial" pitchFamily="34" charset="-120"/>
              </a:rPr>
              <a:t>Full control, any provider</a:t>
            </a:r>
            <a:endParaRPr lang="en-US" sz="600" dirty="0"/>
          </a:p>
        </p:txBody>
      </p:sp>
      <p:sp>
        <p:nvSpPr>
          <p:cNvPr id="34" name="Text 32"/>
          <p:cNvSpPr/>
          <p:nvPr/>
        </p:nvSpPr>
        <p:spPr>
          <a:xfrm>
            <a:off x="314325" y="2042220"/>
            <a:ext cx="8515350" cy="295275"/>
          </a:xfrm>
          <a:prstGeom prst="rect">
            <a:avLst/>
          </a:prstGeom>
          <a:solidFill>
            <a:srgbClr val="000000">
              <a:alpha val="2000"/>
            </a:srgbClr>
          </a:solidFill>
          <a:ln/>
        </p:spPr>
        <p:txBody>
          <a:bodyPr wrap="square" rtlCol="0" anchor="ctr"/>
          <a:lstStyle/>
          <a:p>
            <a:pPr indent="0" marL="0">
              <a:buNone/>
            </a:pPr>
            <a:endParaRPr lang="en-US" dirty="0"/>
          </a:p>
        </p:txBody>
      </p:sp>
      <p:sp>
        <p:nvSpPr>
          <p:cNvPr id="35" name="Shape 33"/>
          <p:cNvSpPr/>
          <p:nvPr/>
        </p:nvSpPr>
        <p:spPr>
          <a:xfrm>
            <a:off x="314325" y="2332732"/>
            <a:ext cx="8515350" cy="0"/>
          </a:xfrm>
          <a:prstGeom prst="line">
            <a:avLst/>
          </a:prstGeom>
          <a:noFill/>
          <a:ln w="9525">
            <a:solidFill>
              <a:srgbClr val="E4E7ED"/>
            </a:solidFill>
            <a:prstDash val="solid"/>
          </a:ln>
        </p:spPr>
      </p:sp>
      <p:sp>
        <p:nvSpPr>
          <p:cNvPr id="36" name="Shape 34"/>
          <p:cNvSpPr/>
          <p:nvPr/>
        </p:nvSpPr>
        <p:spPr>
          <a:xfrm>
            <a:off x="1262063" y="2048917"/>
            <a:ext cx="0" cy="272355"/>
          </a:xfrm>
          <a:prstGeom prst="line">
            <a:avLst/>
          </a:prstGeom>
          <a:noFill/>
          <a:ln w="9525">
            <a:solidFill>
              <a:srgbClr val="E4E7ED"/>
            </a:solidFill>
            <a:prstDash val="solid"/>
          </a:ln>
        </p:spPr>
      </p:sp>
      <p:sp>
        <p:nvSpPr>
          <p:cNvPr id="37" name="Text 35"/>
          <p:cNvSpPr/>
          <p:nvPr/>
        </p:nvSpPr>
        <p:spPr>
          <a:xfrm>
            <a:off x="428625" y="2125117"/>
            <a:ext cx="728663" cy="119955"/>
          </a:xfrm>
          <a:prstGeom prst="rect">
            <a:avLst/>
          </a:prstGeom>
          <a:noFill/>
          <a:ln/>
        </p:spPr>
        <p:txBody>
          <a:bodyPr wrap="square" lIns="0" tIns="0" rIns="0" bIns="0" rtlCol="0" anchor="t"/>
          <a:lstStyle/>
          <a:p>
            <a:pPr algn="l" indent="0" marL="0">
              <a:lnSpc>
                <a:spcPts val="945"/>
              </a:lnSpc>
              <a:buNone/>
            </a:pPr>
            <a:r>
              <a:rPr lang="en-US" sz="675" b="1" dirty="0">
                <a:solidFill>
                  <a:srgbClr val="1A1F2E"/>
                </a:solidFill>
                <a:latin typeface="Arial" pitchFamily="34" charset="0"/>
                <a:ea typeface="Arial" pitchFamily="34" charset="-122"/>
                <a:cs typeface="Arial" pitchFamily="34" charset="-120"/>
              </a:rPr>
              <a:t>Cline</a:t>
            </a:r>
            <a:endParaRPr lang="en-US" sz="675" dirty="0"/>
          </a:p>
        </p:txBody>
      </p:sp>
      <p:sp>
        <p:nvSpPr>
          <p:cNvPr id="38" name="Shape 36"/>
          <p:cNvSpPr/>
          <p:nvPr/>
        </p:nvSpPr>
        <p:spPr>
          <a:xfrm>
            <a:off x="2081212" y="2042220"/>
            <a:ext cx="0" cy="285750"/>
          </a:xfrm>
          <a:prstGeom prst="line">
            <a:avLst/>
          </a:prstGeom>
          <a:noFill/>
          <a:ln w="9525">
            <a:solidFill>
              <a:srgbClr val="E4E7ED"/>
            </a:solidFill>
            <a:prstDash val="solid"/>
          </a:ln>
        </p:spPr>
      </p:sp>
      <p:sp>
        <p:nvSpPr>
          <p:cNvPr id="39" name="Text 37"/>
          <p:cNvSpPr/>
          <p:nvPr/>
        </p:nvSpPr>
        <p:spPr>
          <a:xfrm>
            <a:off x="1490377" y="2118420"/>
            <a:ext cx="514922" cy="133350"/>
          </a:xfrm>
          <a:prstGeom prst="rect">
            <a:avLst/>
          </a:prstGeom>
          <a:noFill/>
          <a:ln/>
        </p:spPr>
        <p:txBody>
          <a:bodyPr wrap="square" lIns="0" tIns="0" rIns="0" bIns="0" rtlCol="0" anchor="t"/>
          <a:lstStyle/>
          <a:p>
            <a:pPr algn="ctr" indent="0" marL="0">
              <a:lnSpc>
                <a:spcPts val="1050"/>
              </a:lnSpc>
              <a:buNone/>
            </a:pPr>
            <a:r>
              <a:rPr lang="en-US" sz="750" dirty="0">
                <a:solidFill>
                  <a:srgbClr val="059669"/>
                </a:solidFill>
                <a:latin typeface="Arial" pitchFamily="34" charset="0"/>
                <a:ea typeface="Arial" pitchFamily="34" charset="-122"/>
                <a:cs typeface="Arial" pitchFamily="34" charset="-120"/>
              </a:rPr>
              <a:t>✓</a:t>
            </a:r>
            <a:endParaRPr lang="en-US" sz="750" dirty="0"/>
          </a:p>
        </p:txBody>
      </p:sp>
      <p:sp>
        <p:nvSpPr>
          <p:cNvPr id="40" name="Shape 38"/>
          <p:cNvSpPr/>
          <p:nvPr/>
        </p:nvSpPr>
        <p:spPr>
          <a:xfrm>
            <a:off x="2900362" y="2042220"/>
            <a:ext cx="0" cy="285750"/>
          </a:xfrm>
          <a:prstGeom prst="line">
            <a:avLst/>
          </a:prstGeom>
          <a:noFill/>
          <a:ln w="9525">
            <a:solidFill>
              <a:srgbClr val="E4E7ED"/>
            </a:solidFill>
            <a:prstDash val="solid"/>
          </a:ln>
        </p:spPr>
      </p:sp>
      <p:sp>
        <p:nvSpPr>
          <p:cNvPr id="41" name="Text 39"/>
          <p:cNvSpPr/>
          <p:nvPr/>
        </p:nvSpPr>
        <p:spPr>
          <a:xfrm>
            <a:off x="2309527" y="2118420"/>
            <a:ext cx="514922" cy="133350"/>
          </a:xfrm>
          <a:prstGeom prst="rect">
            <a:avLst/>
          </a:prstGeom>
          <a:noFill/>
          <a:ln/>
        </p:spPr>
        <p:txBody>
          <a:bodyPr wrap="square" lIns="0" tIns="0" rIns="0" bIns="0" rtlCol="0" anchor="t"/>
          <a:lstStyle/>
          <a:p>
            <a:pPr algn="ctr" indent="0" marL="0">
              <a:lnSpc>
                <a:spcPts val="1050"/>
              </a:lnSpc>
              <a:buNone/>
            </a:pPr>
            <a:r>
              <a:rPr lang="en-US" sz="750" dirty="0">
                <a:solidFill>
                  <a:srgbClr val="059669"/>
                </a:solidFill>
                <a:latin typeface="Arial" pitchFamily="34" charset="0"/>
                <a:ea typeface="Arial" pitchFamily="34" charset="-122"/>
                <a:cs typeface="Arial" pitchFamily="34" charset="-120"/>
              </a:rPr>
              <a:t>✓</a:t>
            </a:r>
            <a:endParaRPr lang="en-US" sz="750" dirty="0"/>
          </a:p>
        </p:txBody>
      </p:sp>
      <p:sp>
        <p:nvSpPr>
          <p:cNvPr id="42" name="Shape 40"/>
          <p:cNvSpPr/>
          <p:nvPr/>
        </p:nvSpPr>
        <p:spPr>
          <a:xfrm>
            <a:off x="3719513" y="2042220"/>
            <a:ext cx="0" cy="285750"/>
          </a:xfrm>
          <a:prstGeom prst="line">
            <a:avLst/>
          </a:prstGeom>
          <a:noFill/>
          <a:ln w="9525">
            <a:solidFill>
              <a:srgbClr val="E4E7ED"/>
            </a:solidFill>
            <a:prstDash val="solid"/>
          </a:ln>
        </p:spPr>
      </p:sp>
      <p:sp>
        <p:nvSpPr>
          <p:cNvPr id="43" name="Text 41"/>
          <p:cNvSpPr/>
          <p:nvPr/>
        </p:nvSpPr>
        <p:spPr>
          <a:xfrm>
            <a:off x="3128677" y="2118420"/>
            <a:ext cx="514922" cy="133350"/>
          </a:xfrm>
          <a:prstGeom prst="rect">
            <a:avLst/>
          </a:prstGeom>
          <a:noFill/>
          <a:ln/>
        </p:spPr>
        <p:txBody>
          <a:bodyPr wrap="square" lIns="0" tIns="0" rIns="0" bIns="0" rtlCol="0" anchor="t"/>
          <a:lstStyle/>
          <a:p>
            <a:pPr algn="ctr" indent="0" marL="0">
              <a:lnSpc>
                <a:spcPts val="1050"/>
              </a:lnSpc>
              <a:buNone/>
            </a:pPr>
            <a:r>
              <a:rPr lang="en-US" sz="750" dirty="0">
                <a:solidFill>
                  <a:srgbClr val="059669"/>
                </a:solidFill>
                <a:latin typeface="Arial" pitchFamily="34" charset="0"/>
                <a:ea typeface="Arial" pitchFamily="34" charset="-122"/>
                <a:cs typeface="Arial" pitchFamily="34" charset="-120"/>
              </a:rPr>
              <a:t>✓</a:t>
            </a:r>
            <a:endParaRPr lang="en-US" sz="750" dirty="0"/>
          </a:p>
        </p:txBody>
      </p:sp>
      <p:sp>
        <p:nvSpPr>
          <p:cNvPr id="44" name="Shape 42"/>
          <p:cNvSpPr/>
          <p:nvPr/>
        </p:nvSpPr>
        <p:spPr>
          <a:xfrm>
            <a:off x="4538663" y="2042220"/>
            <a:ext cx="0" cy="285750"/>
          </a:xfrm>
          <a:prstGeom prst="line">
            <a:avLst/>
          </a:prstGeom>
          <a:noFill/>
          <a:ln w="9525">
            <a:solidFill>
              <a:srgbClr val="E4E7ED"/>
            </a:solidFill>
            <a:prstDash val="solid"/>
          </a:ln>
        </p:spPr>
      </p:sp>
      <p:sp>
        <p:nvSpPr>
          <p:cNvPr id="45" name="Text 43"/>
          <p:cNvSpPr/>
          <p:nvPr/>
        </p:nvSpPr>
        <p:spPr>
          <a:xfrm>
            <a:off x="3947827" y="2118420"/>
            <a:ext cx="514922" cy="133350"/>
          </a:xfrm>
          <a:prstGeom prst="rect">
            <a:avLst/>
          </a:prstGeom>
          <a:noFill/>
          <a:ln/>
        </p:spPr>
        <p:txBody>
          <a:bodyPr wrap="square" lIns="0" tIns="0" rIns="0" bIns="0" rtlCol="0" anchor="t"/>
          <a:lstStyle/>
          <a:p>
            <a:pPr algn="ctr" indent="0" marL="0">
              <a:lnSpc>
                <a:spcPts val="1050"/>
              </a:lnSpc>
              <a:buNone/>
            </a:pPr>
            <a:r>
              <a:rPr lang="en-US" sz="750" dirty="0">
                <a:solidFill>
                  <a:srgbClr val="059669"/>
                </a:solidFill>
                <a:latin typeface="Arial" pitchFamily="34" charset="0"/>
                <a:ea typeface="Arial" pitchFamily="34" charset="-122"/>
                <a:cs typeface="Arial" pitchFamily="34" charset="-120"/>
              </a:rPr>
              <a:t>✓</a:t>
            </a:r>
            <a:endParaRPr lang="en-US" sz="750" dirty="0"/>
          </a:p>
        </p:txBody>
      </p:sp>
      <p:sp>
        <p:nvSpPr>
          <p:cNvPr id="46" name="Shape 44"/>
          <p:cNvSpPr/>
          <p:nvPr/>
        </p:nvSpPr>
        <p:spPr>
          <a:xfrm>
            <a:off x="5453063" y="2055614"/>
            <a:ext cx="0" cy="258961"/>
          </a:xfrm>
          <a:prstGeom prst="line">
            <a:avLst/>
          </a:prstGeom>
          <a:noFill/>
          <a:ln w="9525">
            <a:solidFill>
              <a:srgbClr val="E4E7ED"/>
            </a:solidFill>
            <a:prstDash val="solid"/>
          </a:ln>
        </p:spPr>
      </p:sp>
      <p:sp>
        <p:nvSpPr>
          <p:cNvPr id="47" name="Text 45"/>
          <p:cNvSpPr/>
          <p:nvPr/>
        </p:nvSpPr>
        <p:spPr>
          <a:xfrm>
            <a:off x="4766024" y="2131814"/>
            <a:ext cx="612077" cy="106561"/>
          </a:xfrm>
          <a:prstGeom prst="rect">
            <a:avLst/>
          </a:prstGeom>
          <a:noFill/>
          <a:ln/>
        </p:spPr>
        <p:txBody>
          <a:bodyPr wrap="square" lIns="0" tIns="0" rIns="0" bIns="0" rtlCol="0" anchor="t"/>
          <a:lstStyle/>
          <a:p>
            <a:pPr algn="ctr" indent="0" marL="0">
              <a:lnSpc>
                <a:spcPts val="840"/>
              </a:lnSpc>
              <a:buNone/>
            </a:pPr>
            <a:r>
              <a:rPr lang="en-US" sz="600" dirty="0">
                <a:solidFill>
                  <a:srgbClr val="6B7280"/>
                </a:solidFill>
                <a:latin typeface="Arial" pitchFamily="34" charset="0"/>
                <a:ea typeface="Arial" pitchFamily="34" charset="-122"/>
                <a:cs typeface="Arial" pitchFamily="34" charset="-120"/>
              </a:rPr>
              <a:t>Apache 2.0</a:t>
            </a:r>
            <a:endParaRPr lang="en-US" sz="600" dirty="0"/>
          </a:p>
        </p:txBody>
      </p:sp>
      <p:sp>
        <p:nvSpPr>
          <p:cNvPr id="48" name="Text 46"/>
          <p:cNvSpPr/>
          <p:nvPr/>
        </p:nvSpPr>
        <p:spPr>
          <a:xfrm>
            <a:off x="5655755" y="2131814"/>
            <a:ext cx="3128391" cy="106561"/>
          </a:xfrm>
          <a:prstGeom prst="rect">
            <a:avLst/>
          </a:prstGeom>
          <a:noFill/>
          <a:ln/>
        </p:spPr>
        <p:txBody>
          <a:bodyPr wrap="square" lIns="0" tIns="0" rIns="0" bIns="0" rtlCol="0" anchor="t"/>
          <a:lstStyle/>
          <a:p>
            <a:pPr algn="ctr" indent="0" marL="0">
              <a:lnSpc>
                <a:spcPts val="840"/>
              </a:lnSpc>
              <a:buNone/>
            </a:pPr>
            <a:r>
              <a:rPr lang="en-US" sz="600" dirty="0">
                <a:solidFill>
                  <a:srgbClr val="6B7280"/>
                </a:solidFill>
                <a:latin typeface="Arial" pitchFamily="34" charset="0"/>
                <a:ea typeface="Arial" pitchFamily="34" charset="-122"/>
                <a:cs typeface="Arial" pitchFamily="34" charset="-120"/>
              </a:rPr>
              <a:t>Agentic automation</a:t>
            </a:r>
            <a:endParaRPr lang="en-US" sz="600" dirty="0"/>
          </a:p>
        </p:txBody>
      </p:sp>
      <p:sp>
        <p:nvSpPr>
          <p:cNvPr id="49" name="Shape 47"/>
          <p:cNvSpPr/>
          <p:nvPr/>
        </p:nvSpPr>
        <p:spPr>
          <a:xfrm>
            <a:off x="314325" y="2628007"/>
            <a:ext cx="8515350" cy="0"/>
          </a:xfrm>
          <a:prstGeom prst="line">
            <a:avLst/>
          </a:prstGeom>
          <a:noFill/>
          <a:ln w="9525">
            <a:solidFill>
              <a:srgbClr val="E4E7ED"/>
            </a:solidFill>
            <a:prstDash val="solid"/>
          </a:ln>
        </p:spPr>
      </p:sp>
      <p:sp>
        <p:nvSpPr>
          <p:cNvPr id="50" name="Shape 48"/>
          <p:cNvSpPr/>
          <p:nvPr/>
        </p:nvSpPr>
        <p:spPr>
          <a:xfrm>
            <a:off x="1262063" y="2344192"/>
            <a:ext cx="0" cy="272355"/>
          </a:xfrm>
          <a:prstGeom prst="line">
            <a:avLst/>
          </a:prstGeom>
          <a:noFill/>
          <a:ln w="9525">
            <a:solidFill>
              <a:srgbClr val="E4E7ED"/>
            </a:solidFill>
            <a:prstDash val="solid"/>
          </a:ln>
        </p:spPr>
      </p:sp>
      <p:sp>
        <p:nvSpPr>
          <p:cNvPr id="51" name="Text 49"/>
          <p:cNvSpPr/>
          <p:nvPr/>
        </p:nvSpPr>
        <p:spPr>
          <a:xfrm>
            <a:off x="428625" y="2420392"/>
            <a:ext cx="728663" cy="119955"/>
          </a:xfrm>
          <a:prstGeom prst="rect">
            <a:avLst/>
          </a:prstGeom>
          <a:noFill/>
          <a:ln/>
        </p:spPr>
        <p:txBody>
          <a:bodyPr wrap="square" lIns="0" tIns="0" rIns="0" bIns="0" rtlCol="0" anchor="t"/>
          <a:lstStyle/>
          <a:p>
            <a:pPr algn="l" indent="0" marL="0">
              <a:lnSpc>
                <a:spcPts val="945"/>
              </a:lnSpc>
              <a:buNone/>
            </a:pPr>
            <a:r>
              <a:rPr lang="en-US" sz="675" b="1" dirty="0">
                <a:solidFill>
                  <a:srgbClr val="1A1F2E"/>
                </a:solidFill>
                <a:latin typeface="Arial" pitchFamily="34" charset="0"/>
                <a:ea typeface="Arial" pitchFamily="34" charset="-122"/>
                <a:cs typeface="Arial" pitchFamily="34" charset="-120"/>
              </a:rPr>
              <a:t>Cody</a:t>
            </a:r>
            <a:endParaRPr lang="en-US" sz="675" dirty="0"/>
          </a:p>
        </p:txBody>
      </p:sp>
      <p:sp>
        <p:nvSpPr>
          <p:cNvPr id="52" name="Shape 50"/>
          <p:cNvSpPr/>
          <p:nvPr/>
        </p:nvSpPr>
        <p:spPr>
          <a:xfrm>
            <a:off x="2081212" y="2337495"/>
            <a:ext cx="0" cy="285750"/>
          </a:xfrm>
          <a:prstGeom prst="line">
            <a:avLst/>
          </a:prstGeom>
          <a:noFill/>
          <a:ln w="9525">
            <a:solidFill>
              <a:srgbClr val="E4E7ED"/>
            </a:solidFill>
            <a:prstDash val="solid"/>
          </a:ln>
        </p:spPr>
      </p:sp>
      <p:sp>
        <p:nvSpPr>
          <p:cNvPr id="53" name="Text 51"/>
          <p:cNvSpPr/>
          <p:nvPr/>
        </p:nvSpPr>
        <p:spPr>
          <a:xfrm>
            <a:off x="1490377" y="2413695"/>
            <a:ext cx="514922" cy="133350"/>
          </a:xfrm>
          <a:prstGeom prst="rect">
            <a:avLst/>
          </a:prstGeom>
          <a:noFill/>
          <a:ln/>
        </p:spPr>
        <p:txBody>
          <a:bodyPr wrap="square" lIns="0" tIns="0" rIns="0" bIns="0" rtlCol="0" anchor="t"/>
          <a:lstStyle/>
          <a:p>
            <a:pPr algn="ctr" indent="0" marL="0">
              <a:lnSpc>
                <a:spcPts val="1050"/>
              </a:lnSpc>
              <a:buNone/>
            </a:pPr>
            <a:r>
              <a:rPr lang="en-US" sz="750" dirty="0">
                <a:solidFill>
                  <a:srgbClr val="059669"/>
                </a:solidFill>
                <a:latin typeface="Arial" pitchFamily="34" charset="0"/>
                <a:ea typeface="Arial" pitchFamily="34" charset="-122"/>
                <a:cs typeface="Arial" pitchFamily="34" charset="-120"/>
              </a:rPr>
              <a:t>✓</a:t>
            </a:r>
            <a:endParaRPr lang="en-US" sz="750" dirty="0"/>
          </a:p>
        </p:txBody>
      </p:sp>
      <p:sp>
        <p:nvSpPr>
          <p:cNvPr id="54" name="Shape 52"/>
          <p:cNvSpPr/>
          <p:nvPr/>
        </p:nvSpPr>
        <p:spPr>
          <a:xfrm>
            <a:off x="2900362" y="2337495"/>
            <a:ext cx="0" cy="285750"/>
          </a:xfrm>
          <a:prstGeom prst="line">
            <a:avLst/>
          </a:prstGeom>
          <a:noFill/>
          <a:ln w="9525">
            <a:solidFill>
              <a:srgbClr val="E4E7ED"/>
            </a:solidFill>
            <a:prstDash val="solid"/>
          </a:ln>
        </p:spPr>
      </p:sp>
      <p:sp>
        <p:nvSpPr>
          <p:cNvPr id="55" name="Text 53"/>
          <p:cNvSpPr/>
          <p:nvPr/>
        </p:nvSpPr>
        <p:spPr>
          <a:xfrm>
            <a:off x="2309527" y="2413695"/>
            <a:ext cx="514922" cy="133350"/>
          </a:xfrm>
          <a:prstGeom prst="rect">
            <a:avLst/>
          </a:prstGeom>
          <a:noFill/>
          <a:ln/>
        </p:spPr>
        <p:txBody>
          <a:bodyPr wrap="square" lIns="0" tIns="0" rIns="0" bIns="0" rtlCol="0" anchor="t"/>
          <a:lstStyle/>
          <a:p>
            <a:pPr algn="ctr" indent="0" marL="0">
              <a:lnSpc>
                <a:spcPts val="1050"/>
              </a:lnSpc>
              <a:buNone/>
            </a:pPr>
            <a:r>
              <a:rPr lang="en-US" sz="750" dirty="0">
                <a:solidFill>
                  <a:srgbClr val="059669"/>
                </a:solidFill>
                <a:latin typeface="Arial" pitchFamily="34" charset="0"/>
                <a:ea typeface="Arial" pitchFamily="34" charset="-122"/>
                <a:cs typeface="Arial" pitchFamily="34" charset="-120"/>
              </a:rPr>
              <a:t>✓</a:t>
            </a:r>
            <a:endParaRPr lang="en-US" sz="750" dirty="0"/>
          </a:p>
        </p:txBody>
      </p:sp>
      <p:sp>
        <p:nvSpPr>
          <p:cNvPr id="56" name="Shape 54"/>
          <p:cNvSpPr/>
          <p:nvPr/>
        </p:nvSpPr>
        <p:spPr>
          <a:xfrm>
            <a:off x="3719513" y="2337495"/>
            <a:ext cx="0" cy="285750"/>
          </a:xfrm>
          <a:prstGeom prst="line">
            <a:avLst/>
          </a:prstGeom>
          <a:noFill/>
          <a:ln w="9525">
            <a:solidFill>
              <a:srgbClr val="E4E7ED"/>
            </a:solidFill>
            <a:prstDash val="solid"/>
          </a:ln>
        </p:spPr>
      </p:sp>
      <p:sp>
        <p:nvSpPr>
          <p:cNvPr id="57" name="Text 55"/>
          <p:cNvSpPr/>
          <p:nvPr/>
        </p:nvSpPr>
        <p:spPr>
          <a:xfrm>
            <a:off x="3128677" y="2413695"/>
            <a:ext cx="514922" cy="133350"/>
          </a:xfrm>
          <a:prstGeom prst="rect">
            <a:avLst/>
          </a:prstGeom>
          <a:noFill/>
          <a:ln/>
        </p:spPr>
        <p:txBody>
          <a:bodyPr wrap="square" lIns="0" tIns="0" rIns="0" bIns="0" rtlCol="0" anchor="t"/>
          <a:lstStyle/>
          <a:p>
            <a:pPr algn="ctr" indent="0" marL="0">
              <a:lnSpc>
                <a:spcPts val="1050"/>
              </a:lnSpc>
              <a:buNone/>
            </a:pPr>
            <a:r>
              <a:rPr lang="en-US" sz="750" dirty="0">
                <a:solidFill>
                  <a:srgbClr val="059669"/>
                </a:solidFill>
                <a:latin typeface="Arial" pitchFamily="34" charset="0"/>
                <a:ea typeface="Arial" pitchFamily="34" charset="-122"/>
                <a:cs typeface="Arial" pitchFamily="34" charset="-120"/>
              </a:rPr>
              <a:t>✓</a:t>
            </a:r>
            <a:endParaRPr lang="en-US" sz="750" dirty="0"/>
          </a:p>
        </p:txBody>
      </p:sp>
      <p:sp>
        <p:nvSpPr>
          <p:cNvPr id="58" name="Shape 56"/>
          <p:cNvSpPr/>
          <p:nvPr/>
        </p:nvSpPr>
        <p:spPr>
          <a:xfrm>
            <a:off x="4538663" y="2337495"/>
            <a:ext cx="0" cy="285750"/>
          </a:xfrm>
          <a:prstGeom prst="line">
            <a:avLst/>
          </a:prstGeom>
          <a:noFill/>
          <a:ln w="9525">
            <a:solidFill>
              <a:srgbClr val="E4E7ED"/>
            </a:solidFill>
            <a:prstDash val="solid"/>
          </a:ln>
        </p:spPr>
      </p:sp>
      <p:sp>
        <p:nvSpPr>
          <p:cNvPr id="59" name="Text 57"/>
          <p:cNvSpPr/>
          <p:nvPr/>
        </p:nvSpPr>
        <p:spPr>
          <a:xfrm>
            <a:off x="3947827" y="2413695"/>
            <a:ext cx="514922" cy="133350"/>
          </a:xfrm>
          <a:prstGeom prst="rect">
            <a:avLst/>
          </a:prstGeom>
          <a:noFill/>
          <a:ln/>
        </p:spPr>
        <p:txBody>
          <a:bodyPr wrap="square" lIns="0" tIns="0" rIns="0" bIns="0" rtlCol="0" anchor="t"/>
          <a:lstStyle/>
          <a:p>
            <a:pPr algn="ctr" indent="0" marL="0">
              <a:lnSpc>
                <a:spcPts val="1050"/>
              </a:lnSpc>
              <a:buNone/>
            </a:pPr>
            <a:r>
              <a:rPr lang="en-US" sz="750" dirty="0">
                <a:solidFill>
                  <a:srgbClr val="9CA3AF"/>
                </a:solidFill>
                <a:latin typeface="Arial" pitchFamily="34" charset="0"/>
                <a:ea typeface="Arial" pitchFamily="34" charset="-122"/>
                <a:cs typeface="Arial" pitchFamily="34" charset="-120"/>
              </a:rPr>
              <a:t>—</a:t>
            </a:r>
            <a:endParaRPr lang="en-US" sz="750" dirty="0"/>
          </a:p>
        </p:txBody>
      </p:sp>
      <p:sp>
        <p:nvSpPr>
          <p:cNvPr id="60" name="Shape 58"/>
          <p:cNvSpPr/>
          <p:nvPr/>
        </p:nvSpPr>
        <p:spPr>
          <a:xfrm>
            <a:off x="5453063" y="2350889"/>
            <a:ext cx="0" cy="258961"/>
          </a:xfrm>
          <a:prstGeom prst="line">
            <a:avLst/>
          </a:prstGeom>
          <a:noFill/>
          <a:ln w="9525">
            <a:solidFill>
              <a:srgbClr val="E4E7ED"/>
            </a:solidFill>
            <a:prstDash val="solid"/>
          </a:ln>
        </p:spPr>
      </p:sp>
      <p:sp>
        <p:nvSpPr>
          <p:cNvPr id="61" name="Text 59"/>
          <p:cNvSpPr/>
          <p:nvPr/>
        </p:nvSpPr>
        <p:spPr>
          <a:xfrm>
            <a:off x="4766024" y="2427089"/>
            <a:ext cx="612077" cy="106561"/>
          </a:xfrm>
          <a:prstGeom prst="rect">
            <a:avLst/>
          </a:prstGeom>
          <a:noFill/>
          <a:ln/>
        </p:spPr>
        <p:txBody>
          <a:bodyPr wrap="square" lIns="0" tIns="0" rIns="0" bIns="0" rtlCol="0" anchor="t"/>
          <a:lstStyle/>
          <a:p>
            <a:pPr algn="ctr" indent="0" marL="0">
              <a:lnSpc>
                <a:spcPts val="840"/>
              </a:lnSpc>
              <a:buNone/>
            </a:pPr>
            <a:r>
              <a:rPr lang="en-US" sz="600" dirty="0">
                <a:solidFill>
                  <a:srgbClr val="6B7280"/>
                </a:solidFill>
                <a:latin typeface="Arial" pitchFamily="34" charset="0"/>
                <a:ea typeface="Arial" pitchFamily="34" charset="-122"/>
                <a:cs typeface="Arial" pitchFamily="34" charset="-120"/>
              </a:rPr>
              <a:t>Proprietary</a:t>
            </a:r>
            <a:endParaRPr lang="en-US" sz="600" dirty="0"/>
          </a:p>
        </p:txBody>
      </p:sp>
      <p:sp>
        <p:nvSpPr>
          <p:cNvPr id="62" name="Text 60"/>
          <p:cNvSpPr/>
          <p:nvPr/>
        </p:nvSpPr>
        <p:spPr>
          <a:xfrm>
            <a:off x="5655755" y="2427089"/>
            <a:ext cx="3128391" cy="106561"/>
          </a:xfrm>
          <a:prstGeom prst="rect">
            <a:avLst/>
          </a:prstGeom>
          <a:noFill/>
          <a:ln/>
        </p:spPr>
        <p:txBody>
          <a:bodyPr wrap="square" lIns="0" tIns="0" rIns="0" bIns="0" rtlCol="0" anchor="t"/>
          <a:lstStyle/>
          <a:p>
            <a:pPr algn="ctr" indent="0" marL="0">
              <a:lnSpc>
                <a:spcPts val="840"/>
              </a:lnSpc>
              <a:buNone/>
            </a:pPr>
            <a:r>
              <a:rPr lang="en-US" sz="600" dirty="0">
                <a:solidFill>
                  <a:srgbClr val="6B7280"/>
                </a:solidFill>
                <a:latin typeface="Arial" pitchFamily="34" charset="0"/>
                <a:ea typeface="Arial" pitchFamily="34" charset="-122"/>
                <a:cs typeface="Arial" pitchFamily="34" charset="-120"/>
              </a:rPr>
              <a:t>Large codebases</a:t>
            </a:r>
            <a:endParaRPr lang="en-US" sz="600" dirty="0"/>
          </a:p>
        </p:txBody>
      </p:sp>
      <p:sp>
        <p:nvSpPr>
          <p:cNvPr id="63" name="Text 61"/>
          <p:cNvSpPr/>
          <p:nvPr/>
        </p:nvSpPr>
        <p:spPr>
          <a:xfrm>
            <a:off x="314325" y="2632770"/>
            <a:ext cx="8515350" cy="295275"/>
          </a:xfrm>
          <a:prstGeom prst="rect">
            <a:avLst/>
          </a:prstGeom>
          <a:solidFill>
            <a:srgbClr val="000000">
              <a:alpha val="2000"/>
            </a:srgbClr>
          </a:solidFill>
          <a:ln/>
        </p:spPr>
        <p:txBody>
          <a:bodyPr wrap="square" rtlCol="0" anchor="ctr"/>
          <a:lstStyle/>
          <a:p>
            <a:pPr indent="0" marL="0">
              <a:buNone/>
            </a:pPr>
            <a:endParaRPr lang="en-US" dirty="0"/>
          </a:p>
        </p:txBody>
      </p:sp>
      <p:sp>
        <p:nvSpPr>
          <p:cNvPr id="64" name="Shape 62"/>
          <p:cNvSpPr/>
          <p:nvPr/>
        </p:nvSpPr>
        <p:spPr>
          <a:xfrm>
            <a:off x="314325" y="2923282"/>
            <a:ext cx="8515350" cy="0"/>
          </a:xfrm>
          <a:prstGeom prst="line">
            <a:avLst/>
          </a:prstGeom>
          <a:noFill/>
          <a:ln w="9525">
            <a:solidFill>
              <a:srgbClr val="E4E7ED"/>
            </a:solidFill>
            <a:prstDash val="solid"/>
          </a:ln>
        </p:spPr>
      </p:sp>
      <p:sp>
        <p:nvSpPr>
          <p:cNvPr id="65" name="Shape 63"/>
          <p:cNvSpPr/>
          <p:nvPr/>
        </p:nvSpPr>
        <p:spPr>
          <a:xfrm>
            <a:off x="1262063" y="2639467"/>
            <a:ext cx="0" cy="272355"/>
          </a:xfrm>
          <a:prstGeom prst="line">
            <a:avLst/>
          </a:prstGeom>
          <a:noFill/>
          <a:ln w="9525">
            <a:solidFill>
              <a:srgbClr val="E4E7ED"/>
            </a:solidFill>
            <a:prstDash val="solid"/>
          </a:ln>
        </p:spPr>
      </p:sp>
      <p:sp>
        <p:nvSpPr>
          <p:cNvPr id="66" name="Text 64"/>
          <p:cNvSpPr/>
          <p:nvPr/>
        </p:nvSpPr>
        <p:spPr>
          <a:xfrm>
            <a:off x="428625" y="2715667"/>
            <a:ext cx="728663" cy="119955"/>
          </a:xfrm>
          <a:prstGeom prst="rect">
            <a:avLst/>
          </a:prstGeom>
          <a:noFill/>
          <a:ln/>
        </p:spPr>
        <p:txBody>
          <a:bodyPr wrap="square" lIns="0" tIns="0" rIns="0" bIns="0" rtlCol="0" anchor="t"/>
          <a:lstStyle/>
          <a:p>
            <a:pPr algn="l" indent="0" marL="0">
              <a:lnSpc>
                <a:spcPts val="945"/>
              </a:lnSpc>
              <a:buNone/>
            </a:pPr>
            <a:r>
              <a:rPr lang="en-US" sz="675" b="1" dirty="0">
                <a:solidFill>
                  <a:srgbClr val="1A1F2E"/>
                </a:solidFill>
                <a:latin typeface="Arial" pitchFamily="34" charset="0"/>
                <a:ea typeface="Arial" pitchFamily="34" charset="-122"/>
                <a:cs typeface="Arial" pitchFamily="34" charset="-120"/>
              </a:rPr>
              <a:t>Tabnine</a:t>
            </a:r>
            <a:endParaRPr lang="en-US" sz="675" dirty="0"/>
          </a:p>
        </p:txBody>
      </p:sp>
      <p:sp>
        <p:nvSpPr>
          <p:cNvPr id="67" name="Shape 65"/>
          <p:cNvSpPr/>
          <p:nvPr/>
        </p:nvSpPr>
        <p:spPr>
          <a:xfrm>
            <a:off x="2081212" y="2632770"/>
            <a:ext cx="0" cy="285750"/>
          </a:xfrm>
          <a:prstGeom prst="line">
            <a:avLst/>
          </a:prstGeom>
          <a:noFill/>
          <a:ln w="9525">
            <a:solidFill>
              <a:srgbClr val="E4E7ED"/>
            </a:solidFill>
            <a:prstDash val="solid"/>
          </a:ln>
        </p:spPr>
      </p:sp>
      <p:sp>
        <p:nvSpPr>
          <p:cNvPr id="68" name="Text 66"/>
          <p:cNvSpPr/>
          <p:nvPr/>
        </p:nvSpPr>
        <p:spPr>
          <a:xfrm>
            <a:off x="1490377" y="2708970"/>
            <a:ext cx="514922" cy="133350"/>
          </a:xfrm>
          <a:prstGeom prst="rect">
            <a:avLst/>
          </a:prstGeom>
          <a:noFill/>
          <a:ln/>
        </p:spPr>
        <p:txBody>
          <a:bodyPr wrap="square" lIns="0" tIns="0" rIns="0" bIns="0" rtlCol="0" anchor="t"/>
          <a:lstStyle/>
          <a:p>
            <a:pPr algn="ctr" indent="0" marL="0">
              <a:lnSpc>
                <a:spcPts val="1050"/>
              </a:lnSpc>
              <a:buNone/>
            </a:pPr>
            <a:r>
              <a:rPr lang="en-US" sz="750" dirty="0">
                <a:solidFill>
                  <a:srgbClr val="9CA3AF"/>
                </a:solidFill>
                <a:latin typeface="Arial" pitchFamily="34" charset="0"/>
                <a:ea typeface="Arial" pitchFamily="34" charset="-122"/>
                <a:cs typeface="Arial" pitchFamily="34" charset="-120"/>
              </a:rPr>
              <a:t>—</a:t>
            </a:r>
            <a:endParaRPr lang="en-US" sz="750" dirty="0"/>
          </a:p>
        </p:txBody>
      </p:sp>
      <p:sp>
        <p:nvSpPr>
          <p:cNvPr id="69" name="Shape 67"/>
          <p:cNvSpPr/>
          <p:nvPr/>
        </p:nvSpPr>
        <p:spPr>
          <a:xfrm>
            <a:off x="2900362" y="2632770"/>
            <a:ext cx="0" cy="285750"/>
          </a:xfrm>
          <a:prstGeom prst="line">
            <a:avLst/>
          </a:prstGeom>
          <a:noFill/>
          <a:ln w="9525">
            <a:solidFill>
              <a:srgbClr val="E4E7ED"/>
            </a:solidFill>
            <a:prstDash val="solid"/>
          </a:ln>
        </p:spPr>
      </p:sp>
      <p:sp>
        <p:nvSpPr>
          <p:cNvPr id="70" name="Text 68"/>
          <p:cNvSpPr/>
          <p:nvPr/>
        </p:nvSpPr>
        <p:spPr>
          <a:xfrm>
            <a:off x="2309527" y="2708970"/>
            <a:ext cx="514922" cy="133350"/>
          </a:xfrm>
          <a:prstGeom prst="rect">
            <a:avLst/>
          </a:prstGeom>
          <a:noFill/>
          <a:ln/>
        </p:spPr>
        <p:txBody>
          <a:bodyPr wrap="square" lIns="0" tIns="0" rIns="0" bIns="0" rtlCol="0" anchor="t"/>
          <a:lstStyle/>
          <a:p>
            <a:pPr algn="ctr" indent="0" marL="0">
              <a:lnSpc>
                <a:spcPts val="1050"/>
              </a:lnSpc>
              <a:buNone/>
            </a:pPr>
            <a:r>
              <a:rPr lang="en-US" sz="750" dirty="0">
                <a:solidFill>
                  <a:srgbClr val="9CA3AF"/>
                </a:solidFill>
                <a:latin typeface="Arial" pitchFamily="34" charset="0"/>
                <a:ea typeface="Arial" pitchFamily="34" charset="-122"/>
                <a:cs typeface="Arial" pitchFamily="34" charset="-120"/>
              </a:rPr>
              <a:t>—</a:t>
            </a:r>
            <a:endParaRPr lang="en-US" sz="750" dirty="0"/>
          </a:p>
        </p:txBody>
      </p:sp>
      <p:sp>
        <p:nvSpPr>
          <p:cNvPr id="71" name="Shape 69"/>
          <p:cNvSpPr/>
          <p:nvPr/>
        </p:nvSpPr>
        <p:spPr>
          <a:xfrm>
            <a:off x="3719513" y="2632770"/>
            <a:ext cx="0" cy="285750"/>
          </a:xfrm>
          <a:prstGeom prst="line">
            <a:avLst/>
          </a:prstGeom>
          <a:noFill/>
          <a:ln w="9525">
            <a:solidFill>
              <a:srgbClr val="E4E7ED"/>
            </a:solidFill>
            <a:prstDash val="solid"/>
          </a:ln>
        </p:spPr>
      </p:sp>
      <p:sp>
        <p:nvSpPr>
          <p:cNvPr id="72" name="Text 70"/>
          <p:cNvSpPr/>
          <p:nvPr/>
        </p:nvSpPr>
        <p:spPr>
          <a:xfrm>
            <a:off x="3128677" y="2708970"/>
            <a:ext cx="514922" cy="133350"/>
          </a:xfrm>
          <a:prstGeom prst="rect">
            <a:avLst/>
          </a:prstGeom>
          <a:noFill/>
          <a:ln/>
        </p:spPr>
        <p:txBody>
          <a:bodyPr wrap="square" lIns="0" tIns="0" rIns="0" bIns="0" rtlCol="0" anchor="t"/>
          <a:lstStyle/>
          <a:p>
            <a:pPr algn="ctr" indent="0" marL="0">
              <a:lnSpc>
                <a:spcPts val="1050"/>
              </a:lnSpc>
              <a:buNone/>
            </a:pPr>
            <a:r>
              <a:rPr lang="en-US" sz="750" dirty="0">
                <a:solidFill>
                  <a:srgbClr val="9CA3AF"/>
                </a:solidFill>
                <a:latin typeface="Arial" pitchFamily="34" charset="0"/>
                <a:ea typeface="Arial" pitchFamily="34" charset="-122"/>
                <a:cs typeface="Arial" pitchFamily="34" charset="-120"/>
              </a:rPr>
              <a:t>—</a:t>
            </a:r>
            <a:endParaRPr lang="en-US" sz="750" dirty="0"/>
          </a:p>
        </p:txBody>
      </p:sp>
      <p:sp>
        <p:nvSpPr>
          <p:cNvPr id="73" name="Shape 71"/>
          <p:cNvSpPr/>
          <p:nvPr/>
        </p:nvSpPr>
        <p:spPr>
          <a:xfrm>
            <a:off x="4538663" y="2632770"/>
            <a:ext cx="0" cy="285750"/>
          </a:xfrm>
          <a:prstGeom prst="line">
            <a:avLst/>
          </a:prstGeom>
          <a:noFill/>
          <a:ln w="9525">
            <a:solidFill>
              <a:srgbClr val="E4E7ED"/>
            </a:solidFill>
            <a:prstDash val="solid"/>
          </a:ln>
        </p:spPr>
      </p:sp>
      <p:sp>
        <p:nvSpPr>
          <p:cNvPr id="74" name="Text 72"/>
          <p:cNvSpPr/>
          <p:nvPr/>
        </p:nvSpPr>
        <p:spPr>
          <a:xfrm>
            <a:off x="3947827" y="2708970"/>
            <a:ext cx="514922" cy="133350"/>
          </a:xfrm>
          <a:prstGeom prst="rect">
            <a:avLst/>
          </a:prstGeom>
          <a:noFill/>
          <a:ln/>
        </p:spPr>
        <p:txBody>
          <a:bodyPr wrap="square" lIns="0" tIns="0" rIns="0" bIns="0" rtlCol="0" anchor="t"/>
          <a:lstStyle/>
          <a:p>
            <a:pPr algn="ctr" indent="0" marL="0">
              <a:lnSpc>
                <a:spcPts val="1050"/>
              </a:lnSpc>
              <a:buNone/>
            </a:pPr>
            <a:r>
              <a:rPr lang="en-US" sz="750" dirty="0">
                <a:solidFill>
                  <a:srgbClr val="059669"/>
                </a:solidFill>
                <a:latin typeface="Arial" pitchFamily="34" charset="0"/>
                <a:ea typeface="Arial" pitchFamily="34" charset="-122"/>
                <a:cs typeface="Arial" pitchFamily="34" charset="-120"/>
              </a:rPr>
              <a:t>✓</a:t>
            </a:r>
            <a:endParaRPr lang="en-US" sz="750" dirty="0"/>
          </a:p>
        </p:txBody>
      </p:sp>
      <p:sp>
        <p:nvSpPr>
          <p:cNvPr id="75" name="Shape 73"/>
          <p:cNvSpPr/>
          <p:nvPr/>
        </p:nvSpPr>
        <p:spPr>
          <a:xfrm>
            <a:off x="5453063" y="2646164"/>
            <a:ext cx="0" cy="258961"/>
          </a:xfrm>
          <a:prstGeom prst="line">
            <a:avLst/>
          </a:prstGeom>
          <a:noFill/>
          <a:ln w="9525">
            <a:solidFill>
              <a:srgbClr val="E4E7ED"/>
            </a:solidFill>
            <a:prstDash val="solid"/>
          </a:ln>
        </p:spPr>
      </p:sp>
      <p:sp>
        <p:nvSpPr>
          <p:cNvPr id="76" name="Text 74"/>
          <p:cNvSpPr/>
          <p:nvPr/>
        </p:nvSpPr>
        <p:spPr>
          <a:xfrm>
            <a:off x="4766024" y="2722364"/>
            <a:ext cx="612077" cy="106561"/>
          </a:xfrm>
          <a:prstGeom prst="rect">
            <a:avLst/>
          </a:prstGeom>
          <a:noFill/>
          <a:ln/>
        </p:spPr>
        <p:txBody>
          <a:bodyPr wrap="square" lIns="0" tIns="0" rIns="0" bIns="0" rtlCol="0" anchor="t"/>
          <a:lstStyle/>
          <a:p>
            <a:pPr algn="ctr" indent="0" marL="0">
              <a:lnSpc>
                <a:spcPts val="840"/>
              </a:lnSpc>
              <a:buNone/>
            </a:pPr>
            <a:r>
              <a:rPr lang="en-US" sz="600" dirty="0">
                <a:solidFill>
                  <a:srgbClr val="6B7280"/>
                </a:solidFill>
                <a:latin typeface="Arial" pitchFamily="34" charset="0"/>
                <a:ea typeface="Arial" pitchFamily="34" charset="-122"/>
                <a:cs typeface="Arial" pitchFamily="34" charset="-120"/>
              </a:rPr>
              <a:t>Proprietary</a:t>
            </a:r>
            <a:endParaRPr lang="en-US" sz="600" dirty="0"/>
          </a:p>
        </p:txBody>
      </p:sp>
      <p:sp>
        <p:nvSpPr>
          <p:cNvPr id="77" name="Text 75"/>
          <p:cNvSpPr/>
          <p:nvPr/>
        </p:nvSpPr>
        <p:spPr>
          <a:xfrm>
            <a:off x="5655755" y="2722364"/>
            <a:ext cx="3128391" cy="106561"/>
          </a:xfrm>
          <a:prstGeom prst="rect">
            <a:avLst/>
          </a:prstGeom>
          <a:noFill/>
          <a:ln/>
        </p:spPr>
        <p:txBody>
          <a:bodyPr wrap="square" lIns="0" tIns="0" rIns="0" bIns="0" rtlCol="0" anchor="t"/>
          <a:lstStyle/>
          <a:p>
            <a:pPr algn="ctr" indent="0" marL="0">
              <a:lnSpc>
                <a:spcPts val="840"/>
              </a:lnSpc>
              <a:buNone/>
            </a:pPr>
            <a:r>
              <a:rPr lang="en-US" sz="600" dirty="0">
                <a:solidFill>
                  <a:srgbClr val="6B7280"/>
                </a:solidFill>
                <a:latin typeface="Arial" pitchFamily="34" charset="0"/>
                <a:ea typeface="Arial" pitchFamily="34" charset="-122"/>
                <a:cs typeface="Arial" pitchFamily="34" charset="-120"/>
              </a:rPr>
              <a:t>Privacy-first, self-hosted</a:t>
            </a:r>
            <a:endParaRPr lang="en-US" sz="600" dirty="0"/>
          </a:p>
        </p:txBody>
      </p:sp>
      <p:sp>
        <p:nvSpPr>
          <p:cNvPr id="78" name="Shape 76"/>
          <p:cNvSpPr/>
          <p:nvPr/>
        </p:nvSpPr>
        <p:spPr>
          <a:xfrm>
            <a:off x="314325" y="3218557"/>
            <a:ext cx="8515350" cy="0"/>
          </a:xfrm>
          <a:prstGeom prst="line">
            <a:avLst/>
          </a:prstGeom>
          <a:noFill/>
          <a:ln w="9525">
            <a:solidFill>
              <a:srgbClr val="E4E7ED"/>
            </a:solidFill>
            <a:prstDash val="solid"/>
          </a:ln>
        </p:spPr>
      </p:sp>
      <p:sp>
        <p:nvSpPr>
          <p:cNvPr id="79" name="Shape 77"/>
          <p:cNvSpPr/>
          <p:nvPr/>
        </p:nvSpPr>
        <p:spPr>
          <a:xfrm>
            <a:off x="1262063" y="2934742"/>
            <a:ext cx="0" cy="272355"/>
          </a:xfrm>
          <a:prstGeom prst="line">
            <a:avLst/>
          </a:prstGeom>
          <a:noFill/>
          <a:ln w="9525">
            <a:solidFill>
              <a:srgbClr val="E4E7ED"/>
            </a:solidFill>
            <a:prstDash val="solid"/>
          </a:ln>
        </p:spPr>
      </p:sp>
      <p:sp>
        <p:nvSpPr>
          <p:cNvPr id="80" name="Text 78"/>
          <p:cNvSpPr/>
          <p:nvPr/>
        </p:nvSpPr>
        <p:spPr>
          <a:xfrm>
            <a:off x="428625" y="3010942"/>
            <a:ext cx="728663" cy="119955"/>
          </a:xfrm>
          <a:prstGeom prst="rect">
            <a:avLst/>
          </a:prstGeom>
          <a:noFill/>
          <a:ln/>
        </p:spPr>
        <p:txBody>
          <a:bodyPr wrap="square" lIns="0" tIns="0" rIns="0" bIns="0" rtlCol="0" anchor="t"/>
          <a:lstStyle/>
          <a:p>
            <a:pPr algn="l" indent="0" marL="0">
              <a:lnSpc>
                <a:spcPts val="945"/>
              </a:lnSpc>
              <a:buNone/>
            </a:pPr>
            <a:r>
              <a:rPr lang="en-US" sz="675" b="1" dirty="0">
                <a:solidFill>
                  <a:srgbClr val="1A1F2E"/>
                </a:solidFill>
                <a:latin typeface="Arial" pitchFamily="34" charset="0"/>
                <a:ea typeface="Arial" pitchFamily="34" charset="-122"/>
                <a:cs typeface="Arial" pitchFamily="34" charset="-120"/>
              </a:rPr>
              <a:t>CodeGPT</a:t>
            </a:r>
            <a:endParaRPr lang="en-US" sz="675" dirty="0"/>
          </a:p>
        </p:txBody>
      </p:sp>
      <p:sp>
        <p:nvSpPr>
          <p:cNvPr id="81" name="Shape 79"/>
          <p:cNvSpPr/>
          <p:nvPr/>
        </p:nvSpPr>
        <p:spPr>
          <a:xfrm>
            <a:off x="2081212" y="2928045"/>
            <a:ext cx="0" cy="285750"/>
          </a:xfrm>
          <a:prstGeom prst="line">
            <a:avLst/>
          </a:prstGeom>
          <a:noFill/>
          <a:ln w="9525">
            <a:solidFill>
              <a:srgbClr val="E4E7ED"/>
            </a:solidFill>
            <a:prstDash val="solid"/>
          </a:ln>
        </p:spPr>
      </p:sp>
      <p:sp>
        <p:nvSpPr>
          <p:cNvPr id="82" name="Text 80"/>
          <p:cNvSpPr/>
          <p:nvPr/>
        </p:nvSpPr>
        <p:spPr>
          <a:xfrm>
            <a:off x="1490377" y="3004245"/>
            <a:ext cx="514922" cy="133350"/>
          </a:xfrm>
          <a:prstGeom prst="rect">
            <a:avLst/>
          </a:prstGeom>
          <a:noFill/>
          <a:ln/>
        </p:spPr>
        <p:txBody>
          <a:bodyPr wrap="square" lIns="0" tIns="0" rIns="0" bIns="0" rtlCol="0" anchor="t"/>
          <a:lstStyle/>
          <a:p>
            <a:pPr algn="ctr" indent="0" marL="0">
              <a:lnSpc>
                <a:spcPts val="1050"/>
              </a:lnSpc>
              <a:buNone/>
            </a:pPr>
            <a:r>
              <a:rPr lang="en-US" sz="750" dirty="0">
                <a:solidFill>
                  <a:srgbClr val="059669"/>
                </a:solidFill>
                <a:latin typeface="Arial" pitchFamily="34" charset="0"/>
                <a:ea typeface="Arial" pitchFamily="34" charset="-122"/>
                <a:cs typeface="Arial" pitchFamily="34" charset="-120"/>
              </a:rPr>
              <a:t>✓</a:t>
            </a:r>
            <a:endParaRPr lang="en-US" sz="750" dirty="0"/>
          </a:p>
        </p:txBody>
      </p:sp>
      <p:sp>
        <p:nvSpPr>
          <p:cNvPr id="83" name="Shape 81"/>
          <p:cNvSpPr/>
          <p:nvPr/>
        </p:nvSpPr>
        <p:spPr>
          <a:xfrm>
            <a:off x="2900362" y="2928045"/>
            <a:ext cx="0" cy="285750"/>
          </a:xfrm>
          <a:prstGeom prst="line">
            <a:avLst/>
          </a:prstGeom>
          <a:noFill/>
          <a:ln w="9525">
            <a:solidFill>
              <a:srgbClr val="E4E7ED"/>
            </a:solidFill>
            <a:prstDash val="solid"/>
          </a:ln>
        </p:spPr>
      </p:sp>
      <p:sp>
        <p:nvSpPr>
          <p:cNvPr id="84" name="Text 82"/>
          <p:cNvSpPr/>
          <p:nvPr/>
        </p:nvSpPr>
        <p:spPr>
          <a:xfrm>
            <a:off x="2309527" y="3004245"/>
            <a:ext cx="514922" cy="133350"/>
          </a:xfrm>
          <a:prstGeom prst="rect">
            <a:avLst/>
          </a:prstGeom>
          <a:noFill/>
          <a:ln/>
        </p:spPr>
        <p:txBody>
          <a:bodyPr wrap="square" lIns="0" tIns="0" rIns="0" bIns="0" rtlCol="0" anchor="t"/>
          <a:lstStyle/>
          <a:p>
            <a:pPr algn="ctr" indent="0" marL="0">
              <a:lnSpc>
                <a:spcPts val="1050"/>
              </a:lnSpc>
              <a:buNone/>
            </a:pPr>
            <a:r>
              <a:rPr lang="en-US" sz="750" dirty="0">
                <a:solidFill>
                  <a:srgbClr val="9CA3AF"/>
                </a:solidFill>
                <a:latin typeface="Arial" pitchFamily="34" charset="0"/>
                <a:ea typeface="Arial" pitchFamily="34" charset="-122"/>
                <a:cs typeface="Arial" pitchFamily="34" charset="-120"/>
              </a:rPr>
              <a:t>—</a:t>
            </a:r>
            <a:endParaRPr lang="en-US" sz="750" dirty="0"/>
          </a:p>
        </p:txBody>
      </p:sp>
      <p:sp>
        <p:nvSpPr>
          <p:cNvPr id="85" name="Shape 83"/>
          <p:cNvSpPr/>
          <p:nvPr/>
        </p:nvSpPr>
        <p:spPr>
          <a:xfrm>
            <a:off x="3719513" y="2928045"/>
            <a:ext cx="0" cy="285750"/>
          </a:xfrm>
          <a:prstGeom prst="line">
            <a:avLst/>
          </a:prstGeom>
          <a:noFill/>
          <a:ln w="9525">
            <a:solidFill>
              <a:srgbClr val="E4E7ED"/>
            </a:solidFill>
            <a:prstDash val="solid"/>
          </a:ln>
        </p:spPr>
      </p:sp>
      <p:sp>
        <p:nvSpPr>
          <p:cNvPr id="86" name="Text 84"/>
          <p:cNvSpPr/>
          <p:nvPr/>
        </p:nvSpPr>
        <p:spPr>
          <a:xfrm>
            <a:off x="3128677" y="3004245"/>
            <a:ext cx="514922" cy="133350"/>
          </a:xfrm>
          <a:prstGeom prst="rect">
            <a:avLst/>
          </a:prstGeom>
          <a:noFill/>
          <a:ln/>
        </p:spPr>
        <p:txBody>
          <a:bodyPr wrap="square" lIns="0" tIns="0" rIns="0" bIns="0" rtlCol="0" anchor="t"/>
          <a:lstStyle/>
          <a:p>
            <a:pPr algn="ctr" indent="0" marL="0">
              <a:lnSpc>
                <a:spcPts val="1050"/>
              </a:lnSpc>
              <a:buNone/>
            </a:pPr>
            <a:r>
              <a:rPr lang="en-US" sz="750" dirty="0">
                <a:solidFill>
                  <a:srgbClr val="9CA3AF"/>
                </a:solidFill>
                <a:latin typeface="Arial" pitchFamily="34" charset="0"/>
                <a:ea typeface="Arial" pitchFamily="34" charset="-122"/>
                <a:cs typeface="Arial" pitchFamily="34" charset="-120"/>
              </a:rPr>
              <a:t>—</a:t>
            </a:r>
            <a:endParaRPr lang="en-US" sz="750" dirty="0"/>
          </a:p>
        </p:txBody>
      </p:sp>
      <p:sp>
        <p:nvSpPr>
          <p:cNvPr id="87" name="Shape 85"/>
          <p:cNvSpPr/>
          <p:nvPr/>
        </p:nvSpPr>
        <p:spPr>
          <a:xfrm>
            <a:off x="4538663" y="2928045"/>
            <a:ext cx="0" cy="285750"/>
          </a:xfrm>
          <a:prstGeom prst="line">
            <a:avLst/>
          </a:prstGeom>
          <a:noFill/>
          <a:ln w="9525">
            <a:solidFill>
              <a:srgbClr val="E4E7ED"/>
            </a:solidFill>
            <a:prstDash val="solid"/>
          </a:ln>
        </p:spPr>
      </p:sp>
      <p:sp>
        <p:nvSpPr>
          <p:cNvPr id="88" name="Text 86"/>
          <p:cNvSpPr/>
          <p:nvPr/>
        </p:nvSpPr>
        <p:spPr>
          <a:xfrm>
            <a:off x="3947827" y="3004245"/>
            <a:ext cx="514922" cy="133350"/>
          </a:xfrm>
          <a:prstGeom prst="rect">
            <a:avLst/>
          </a:prstGeom>
          <a:noFill/>
          <a:ln/>
        </p:spPr>
        <p:txBody>
          <a:bodyPr wrap="square" lIns="0" tIns="0" rIns="0" bIns="0" rtlCol="0" anchor="t"/>
          <a:lstStyle/>
          <a:p>
            <a:pPr algn="ctr" indent="0" marL="0">
              <a:lnSpc>
                <a:spcPts val="1050"/>
              </a:lnSpc>
              <a:buNone/>
            </a:pPr>
            <a:r>
              <a:rPr lang="en-US" sz="750" dirty="0">
                <a:solidFill>
                  <a:srgbClr val="059669"/>
                </a:solidFill>
                <a:latin typeface="Arial" pitchFamily="34" charset="0"/>
                <a:ea typeface="Arial" pitchFamily="34" charset="-122"/>
                <a:cs typeface="Arial" pitchFamily="34" charset="-120"/>
              </a:rPr>
              <a:t>✓</a:t>
            </a:r>
            <a:endParaRPr lang="en-US" sz="750" dirty="0"/>
          </a:p>
        </p:txBody>
      </p:sp>
      <p:sp>
        <p:nvSpPr>
          <p:cNvPr id="89" name="Shape 87"/>
          <p:cNvSpPr/>
          <p:nvPr/>
        </p:nvSpPr>
        <p:spPr>
          <a:xfrm>
            <a:off x="5453063" y="2941439"/>
            <a:ext cx="0" cy="258961"/>
          </a:xfrm>
          <a:prstGeom prst="line">
            <a:avLst/>
          </a:prstGeom>
          <a:noFill/>
          <a:ln w="9525">
            <a:solidFill>
              <a:srgbClr val="E4E7ED"/>
            </a:solidFill>
            <a:prstDash val="solid"/>
          </a:ln>
        </p:spPr>
      </p:sp>
      <p:sp>
        <p:nvSpPr>
          <p:cNvPr id="90" name="Text 88"/>
          <p:cNvSpPr/>
          <p:nvPr/>
        </p:nvSpPr>
        <p:spPr>
          <a:xfrm>
            <a:off x="4766024" y="3017639"/>
            <a:ext cx="612077" cy="106561"/>
          </a:xfrm>
          <a:prstGeom prst="rect">
            <a:avLst/>
          </a:prstGeom>
          <a:noFill/>
          <a:ln/>
        </p:spPr>
        <p:txBody>
          <a:bodyPr wrap="square" lIns="0" tIns="0" rIns="0" bIns="0" rtlCol="0" anchor="t"/>
          <a:lstStyle/>
          <a:p>
            <a:pPr algn="ctr" indent="0" marL="0">
              <a:lnSpc>
                <a:spcPts val="840"/>
              </a:lnSpc>
              <a:buNone/>
            </a:pPr>
            <a:r>
              <a:rPr lang="en-US" sz="600" dirty="0">
                <a:solidFill>
                  <a:srgbClr val="6B7280"/>
                </a:solidFill>
                <a:latin typeface="Arial" pitchFamily="34" charset="0"/>
                <a:ea typeface="Arial" pitchFamily="34" charset="-122"/>
                <a:cs typeface="Arial" pitchFamily="34" charset="-120"/>
              </a:rPr>
              <a:t>Freemium</a:t>
            </a:r>
            <a:endParaRPr lang="en-US" sz="600" dirty="0"/>
          </a:p>
        </p:txBody>
      </p:sp>
      <p:sp>
        <p:nvSpPr>
          <p:cNvPr id="91" name="Text 89"/>
          <p:cNvSpPr/>
          <p:nvPr/>
        </p:nvSpPr>
        <p:spPr>
          <a:xfrm>
            <a:off x="5655755" y="3017639"/>
            <a:ext cx="3128391" cy="106561"/>
          </a:xfrm>
          <a:prstGeom prst="rect">
            <a:avLst/>
          </a:prstGeom>
          <a:noFill/>
          <a:ln/>
        </p:spPr>
        <p:txBody>
          <a:bodyPr wrap="square" lIns="0" tIns="0" rIns="0" bIns="0" rtlCol="0" anchor="t"/>
          <a:lstStyle/>
          <a:p>
            <a:pPr algn="ctr" indent="0" marL="0">
              <a:lnSpc>
                <a:spcPts val="840"/>
              </a:lnSpc>
              <a:buNone/>
            </a:pPr>
            <a:r>
              <a:rPr lang="en-US" sz="600" dirty="0">
                <a:solidFill>
                  <a:srgbClr val="6B7280"/>
                </a:solidFill>
                <a:latin typeface="Arial" pitchFamily="34" charset="0"/>
                <a:ea typeface="Arial" pitchFamily="34" charset="-122"/>
                <a:cs typeface="Arial" pitchFamily="34" charset="-120"/>
              </a:rPr>
              <a:t>Budget-friendly start</a:t>
            </a:r>
            <a:endParaRPr lang="en-US" sz="600" dirty="0"/>
          </a:p>
        </p:txBody>
      </p:sp>
      <p:sp>
        <p:nvSpPr>
          <p:cNvPr id="92" name="Text 90"/>
          <p:cNvSpPr/>
          <p:nvPr/>
        </p:nvSpPr>
        <p:spPr>
          <a:xfrm>
            <a:off x="314325" y="3223320"/>
            <a:ext cx="8515350" cy="285750"/>
          </a:xfrm>
          <a:prstGeom prst="rect">
            <a:avLst/>
          </a:prstGeom>
          <a:solidFill>
            <a:srgbClr val="000000">
              <a:alpha val="2000"/>
            </a:srgbClr>
          </a:solidFill>
          <a:ln/>
        </p:spPr>
        <p:txBody>
          <a:bodyPr wrap="square" rtlCol="0" anchor="ctr"/>
          <a:lstStyle/>
          <a:p>
            <a:pPr indent="0" marL="0">
              <a:buNone/>
            </a:pPr>
            <a:endParaRPr lang="en-US" dirty="0"/>
          </a:p>
        </p:txBody>
      </p:sp>
      <p:sp>
        <p:nvSpPr>
          <p:cNvPr id="93" name="Shape 91"/>
          <p:cNvSpPr/>
          <p:nvPr/>
        </p:nvSpPr>
        <p:spPr>
          <a:xfrm>
            <a:off x="1262063" y="3230017"/>
            <a:ext cx="0" cy="272355"/>
          </a:xfrm>
          <a:prstGeom prst="line">
            <a:avLst/>
          </a:prstGeom>
          <a:noFill/>
          <a:ln w="9525">
            <a:solidFill>
              <a:srgbClr val="E4E7ED"/>
            </a:solidFill>
            <a:prstDash val="solid"/>
          </a:ln>
        </p:spPr>
      </p:sp>
      <p:sp>
        <p:nvSpPr>
          <p:cNvPr id="94" name="Text 92"/>
          <p:cNvSpPr/>
          <p:nvPr/>
        </p:nvSpPr>
        <p:spPr>
          <a:xfrm>
            <a:off x="428625" y="3306217"/>
            <a:ext cx="728663" cy="119955"/>
          </a:xfrm>
          <a:prstGeom prst="rect">
            <a:avLst/>
          </a:prstGeom>
          <a:noFill/>
          <a:ln/>
        </p:spPr>
        <p:txBody>
          <a:bodyPr wrap="square" lIns="0" tIns="0" rIns="0" bIns="0" rtlCol="0" anchor="t"/>
          <a:lstStyle/>
          <a:p>
            <a:pPr algn="l" indent="0" marL="0">
              <a:lnSpc>
                <a:spcPts val="945"/>
              </a:lnSpc>
              <a:buNone/>
            </a:pPr>
            <a:r>
              <a:rPr lang="en-US" sz="675" b="1" dirty="0">
                <a:solidFill>
                  <a:srgbClr val="1A1F2E"/>
                </a:solidFill>
                <a:latin typeface="Arial" pitchFamily="34" charset="0"/>
                <a:ea typeface="Arial" pitchFamily="34" charset="-122"/>
                <a:cs typeface="Arial" pitchFamily="34" charset="-120"/>
              </a:rPr>
              <a:t>Copilot Ent.</a:t>
            </a:r>
            <a:endParaRPr lang="en-US" sz="675" dirty="0"/>
          </a:p>
        </p:txBody>
      </p:sp>
      <p:sp>
        <p:nvSpPr>
          <p:cNvPr id="95" name="Shape 93"/>
          <p:cNvSpPr/>
          <p:nvPr/>
        </p:nvSpPr>
        <p:spPr>
          <a:xfrm>
            <a:off x="2081212" y="3223320"/>
            <a:ext cx="0" cy="285750"/>
          </a:xfrm>
          <a:prstGeom prst="line">
            <a:avLst/>
          </a:prstGeom>
          <a:noFill/>
          <a:ln w="9525">
            <a:solidFill>
              <a:srgbClr val="E4E7ED"/>
            </a:solidFill>
            <a:prstDash val="solid"/>
          </a:ln>
        </p:spPr>
      </p:sp>
      <p:sp>
        <p:nvSpPr>
          <p:cNvPr id="96" name="Text 94"/>
          <p:cNvSpPr/>
          <p:nvPr/>
        </p:nvSpPr>
        <p:spPr>
          <a:xfrm>
            <a:off x="1490377" y="3299520"/>
            <a:ext cx="514922" cy="133350"/>
          </a:xfrm>
          <a:prstGeom prst="rect">
            <a:avLst/>
          </a:prstGeom>
          <a:noFill/>
          <a:ln/>
        </p:spPr>
        <p:txBody>
          <a:bodyPr wrap="square" lIns="0" tIns="0" rIns="0" bIns="0" rtlCol="0" anchor="t"/>
          <a:lstStyle/>
          <a:p>
            <a:pPr algn="ctr" indent="0" marL="0">
              <a:lnSpc>
                <a:spcPts val="1050"/>
              </a:lnSpc>
              <a:buNone/>
            </a:pPr>
            <a:r>
              <a:rPr lang="en-US" sz="750" dirty="0">
                <a:solidFill>
                  <a:srgbClr val="059669"/>
                </a:solidFill>
                <a:latin typeface="Arial" pitchFamily="34" charset="0"/>
                <a:ea typeface="Arial" pitchFamily="34" charset="-122"/>
                <a:cs typeface="Arial" pitchFamily="34" charset="-120"/>
              </a:rPr>
              <a:t>✓</a:t>
            </a:r>
            <a:endParaRPr lang="en-US" sz="750" dirty="0"/>
          </a:p>
        </p:txBody>
      </p:sp>
      <p:sp>
        <p:nvSpPr>
          <p:cNvPr id="97" name="Shape 95"/>
          <p:cNvSpPr/>
          <p:nvPr/>
        </p:nvSpPr>
        <p:spPr>
          <a:xfrm>
            <a:off x="2900362" y="3223320"/>
            <a:ext cx="0" cy="285750"/>
          </a:xfrm>
          <a:prstGeom prst="line">
            <a:avLst/>
          </a:prstGeom>
          <a:noFill/>
          <a:ln w="9525">
            <a:solidFill>
              <a:srgbClr val="E4E7ED"/>
            </a:solidFill>
            <a:prstDash val="solid"/>
          </a:ln>
        </p:spPr>
      </p:sp>
      <p:sp>
        <p:nvSpPr>
          <p:cNvPr id="98" name="Text 96"/>
          <p:cNvSpPr/>
          <p:nvPr/>
        </p:nvSpPr>
        <p:spPr>
          <a:xfrm>
            <a:off x="2309527" y="3299520"/>
            <a:ext cx="514922" cy="133350"/>
          </a:xfrm>
          <a:prstGeom prst="rect">
            <a:avLst/>
          </a:prstGeom>
          <a:noFill/>
          <a:ln/>
        </p:spPr>
        <p:txBody>
          <a:bodyPr wrap="square" lIns="0" tIns="0" rIns="0" bIns="0" rtlCol="0" anchor="t"/>
          <a:lstStyle/>
          <a:p>
            <a:pPr algn="ctr" indent="0" marL="0">
              <a:lnSpc>
                <a:spcPts val="1050"/>
              </a:lnSpc>
              <a:buNone/>
            </a:pPr>
            <a:r>
              <a:rPr lang="en-US" sz="750" dirty="0">
                <a:solidFill>
                  <a:srgbClr val="9CA3AF"/>
                </a:solidFill>
                <a:latin typeface="Arial" pitchFamily="34" charset="0"/>
                <a:ea typeface="Arial" pitchFamily="34" charset="-122"/>
                <a:cs typeface="Arial" pitchFamily="34" charset="-120"/>
              </a:rPr>
              <a:t>—</a:t>
            </a:r>
            <a:endParaRPr lang="en-US" sz="750" dirty="0"/>
          </a:p>
        </p:txBody>
      </p:sp>
      <p:sp>
        <p:nvSpPr>
          <p:cNvPr id="99" name="Shape 97"/>
          <p:cNvSpPr/>
          <p:nvPr/>
        </p:nvSpPr>
        <p:spPr>
          <a:xfrm>
            <a:off x="3719513" y="3223320"/>
            <a:ext cx="0" cy="285750"/>
          </a:xfrm>
          <a:prstGeom prst="line">
            <a:avLst/>
          </a:prstGeom>
          <a:noFill/>
          <a:ln w="9525">
            <a:solidFill>
              <a:srgbClr val="E4E7ED"/>
            </a:solidFill>
            <a:prstDash val="solid"/>
          </a:ln>
        </p:spPr>
      </p:sp>
      <p:sp>
        <p:nvSpPr>
          <p:cNvPr id="100" name="Text 98"/>
          <p:cNvSpPr/>
          <p:nvPr/>
        </p:nvSpPr>
        <p:spPr>
          <a:xfrm>
            <a:off x="3128677" y="3299520"/>
            <a:ext cx="514922" cy="133350"/>
          </a:xfrm>
          <a:prstGeom prst="rect">
            <a:avLst/>
          </a:prstGeom>
          <a:noFill/>
          <a:ln/>
        </p:spPr>
        <p:txBody>
          <a:bodyPr wrap="square" lIns="0" tIns="0" rIns="0" bIns="0" rtlCol="0" anchor="t"/>
          <a:lstStyle/>
          <a:p>
            <a:pPr algn="ctr" indent="0" marL="0">
              <a:lnSpc>
                <a:spcPts val="1050"/>
              </a:lnSpc>
              <a:buNone/>
            </a:pPr>
            <a:r>
              <a:rPr lang="en-US" sz="750" dirty="0">
                <a:solidFill>
                  <a:srgbClr val="9CA3AF"/>
                </a:solidFill>
                <a:latin typeface="Arial" pitchFamily="34" charset="0"/>
                <a:ea typeface="Arial" pitchFamily="34" charset="-122"/>
                <a:cs typeface="Arial" pitchFamily="34" charset="-120"/>
              </a:rPr>
              <a:t>—</a:t>
            </a:r>
            <a:endParaRPr lang="en-US" sz="750" dirty="0"/>
          </a:p>
        </p:txBody>
      </p:sp>
      <p:sp>
        <p:nvSpPr>
          <p:cNvPr id="101" name="Shape 99"/>
          <p:cNvSpPr/>
          <p:nvPr/>
        </p:nvSpPr>
        <p:spPr>
          <a:xfrm>
            <a:off x="4538663" y="3223320"/>
            <a:ext cx="0" cy="285750"/>
          </a:xfrm>
          <a:prstGeom prst="line">
            <a:avLst/>
          </a:prstGeom>
          <a:noFill/>
          <a:ln w="9525">
            <a:solidFill>
              <a:srgbClr val="E4E7ED"/>
            </a:solidFill>
            <a:prstDash val="solid"/>
          </a:ln>
        </p:spPr>
      </p:sp>
      <p:sp>
        <p:nvSpPr>
          <p:cNvPr id="102" name="Text 100"/>
          <p:cNvSpPr/>
          <p:nvPr/>
        </p:nvSpPr>
        <p:spPr>
          <a:xfrm>
            <a:off x="3947827" y="3299520"/>
            <a:ext cx="514922" cy="133350"/>
          </a:xfrm>
          <a:prstGeom prst="rect">
            <a:avLst/>
          </a:prstGeom>
          <a:noFill/>
          <a:ln/>
        </p:spPr>
        <p:txBody>
          <a:bodyPr wrap="square" lIns="0" tIns="0" rIns="0" bIns="0" rtlCol="0" anchor="t"/>
          <a:lstStyle/>
          <a:p>
            <a:pPr algn="ctr" indent="0" marL="0">
              <a:lnSpc>
                <a:spcPts val="1050"/>
              </a:lnSpc>
              <a:buNone/>
            </a:pPr>
            <a:r>
              <a:rPr lang="en-US" sz="750" dirty="0">
                <a:solidFill>
                  <a:srgbClr val="059669"/>
                </a:solidFill>
                <a:latin typeface="Arial" pitchFamily="34" charset="0"/>
                <a:ea typeface="Arial" pitchFamily="34" charset="-122"/>
                <a:cs typeface="Arial" pitchFamily="34" charset="-120"/>
              </a:rPr>
              <a:t>✓</a:t>
            </a:r>
            <a:endParaRPr lang="en-US" sz="750" dirty="0"/>
          </a:p>
        </p:txBody>
      </p:sp>
      <p:sp>
        <p:nvSpPr>
          <p:cNvPr id="103" name="Shape 101"/>
          <p:cNvSpPr/>
          <p:nvPr/>
        </p:nvSpPr>
        <p:spPr>
          <a:xfrm>
            <a:off x="5453063" y="3236714"/>
            <a:ext cx="0" cy="258961"/>
          </a:xfrm>
          <a:prstGeom prst="line">
            <a:avLst/>
          </a:prstGeom>
          <a:noFill/>
          <a:ln w="9525">
            <a:solidFill>
              <a:srgbClr val="E4E7ED"/>
            </a:solidFill>
            <a:prstDash val="solid"/>
          </a:ln>
        </p:spPr>
      </p:sp>
      <p:sp>
        <p:nvSpPr>
          <p:cNvPr id="104" name="Text 102"/>
          <p:cNvSpPr/>
          <p:nvPr/>
        </p:nvSpPr>
        <p:spPr>
          <a:xfrm>
            <a:off x="4766024" y="3312914"/>
            <a:ext cx="612077" cy="106561"/>
          </a:xfrm>
          <a:prstGeom prst="rect">
            <a:avLst/>
          </a:prstGeom>
          <a:noFill/>
          <a:ln/>
        </p:spPr>
        <p:txBody>
          <a:bodyPr wrap="square" lIns="0" tIns="0" rIns="0" bIns="0" rtlCol="0" anchor="t"/>
          <a:lstStyle/>
          <a:p>
            <a:pPr algn="ctr" indent="0" marL="0">
              <a:lnSpc>
                <a:spcPts val="840"/>
              </a:lnSpc>
              <a:buNone/>
            </a:pPr>
            <a:r>
              <a:rPr lang="en-US" sz="600" dirty="0">
                <a:solidFill>
                  <a:srgbClr val="6B7280"/>
                </a:solidFill>
                <a:latin typeface="Arial" pitchFamily="34" charset="0"/>
                <a:ea typeface="Arial" pitchFamily="34" charset="-122"/>
                <a:cs typeface="Arial" pitchFamily="34" charset="-120"/>
              </a:rPr>
              <a:t>Proprietary</a:t>
            </a:r>
            <a:endParaRPr lang="en-US" sz="600" dirty="0"/>
          </a:p>
        </p:txBody>
      </p:sp>
      <p:sp>
        <p:nvSpPr>
          <p:cNvPr id="105" name="Text 103"/>
          <p:cNvSpPr/>
          <p:nvPr/>
        </p:nvSpPr>
        <p:spPr>
          <a:xfrm>
            <a:off x="5655755" y="3312914"/>
            <a:ext cx="3128391" cy="106561"/>
          </a:xfrm>
          <a:prstGeom prst="rect">
            <a:avLst/>
          </a:prstGeom>
          <a:noFill/>
          <a:ln/>
        </p:spPr>
        <p:txBody>
          <a:bodyPr wrap="square" lIns="0" tIns="0" rIns="0" bIns="0" rtlCol="0" anchor="t"/>
          <a:lstStyle/>
          <a:p>
            <a:pPr algn="ctr" indent="0" marL="0">
              <a:lnSpc>
                <a:spcPts val="840"/>
              </a:lnSpc>
              <a:buNone/>
            </a:pPr>
            <a:r>
              <a:rPr lang="en-US" sz="600" dirty="0">
                <a:solidFill>
                  <a:srgbClr val="6B7280"/>
                </a:solidFill>
                <a:latin typeface="Arial" pitchFamily="34" charset="0"/>
                <a:ea typeface="Arial" pitchFamily="34" charset="-122"/>
                <a:cs typeface="Arial" pitchFamily="34" charset="-120"/>
              </a:rPr>
              <a:t>GitHub ecosystem</a:t>
            </a:r>
            <a:endParaRPr lang="en-US" sz="600" dirty="0"/>
          </a:p>
        </p:txBody>
      </p:sp>
      <p:sp>
        <p:nvSpPr>
          <p:cNvPr id="106" name="Text 104"/>
          <p:cNvSpPr/>
          <p:nvPr/>
        </p:nvSpPr>
        <p:spPr>
          <a:xfrm>
            <a:off x="304800" y="3785295"/>
            <a:ext cx="8534400" cy="445591"/>
          </a:xfrm>
          <a:prstGeom prst="rect">
            <a:avLst/>
          </a:prstGeom>
          <a:solidFill>
            <a:srgbClr val="FFFFFF"/>
          </a:solidFill>
          <a:ln/>
        </p:spPr>
        <p:txBody>
          <a:bodyPr wrap="square" rtlCol="0" anchor="ctr"/>
          <a:lstStyle/>
          <a:p>
            <a:pPr indent="0" marL="0">
              <a:buNone/>
            </a:pPr>
            <a:endParaRPr lang="en-US" dirty="0"/>
          </a:p>
        </p:txBody>
      </p:sp>
      <p:sp>
        <p:nvSpPr>
          <p:cNvPr id="107" name="Shape 105"/>
          <p:cNvSpPr/>
          <p:nvPr/>
        </p:nvSpPr>
        <p:spPr>
          <a:xfrm>
            <a:off x="319088" y="3785295"/>
            <a:ext cx="0" cy="445591"/>
          </a:xfrm>
          <a:prstGeom prst="line">
            <a:avLst/>
          </a:prstGeom>
          <a:noFill/>
          <a:ln w="28575">
            <a:solidFill>
              <a:srgbClr val="059669"/>
            </a:solidFill>
            <a:prstDash val="solid"/>
          </a:ln>
        </p:spPr>
      </p:sp>
      <p:sp>
        <p:nvSpPr>
          <p:cNvPr id="108" name="Text 106"/>
          <p:cNvSpPr/>
          <p:nvPr/>
        </p:nvSpPr>
        <p:spPr>
          <a:xfrm>
            <a:off x="428625" y="3880545"/>
            <a:ext cx="8481632" cy="119955"/>
          </a:xfrm>
          <a:prstGeom prst="rect">
            <a:avLst/>
          </a:prstGeom>
          <a:noFill/>
          <a:ln/>
        </p:spPr>
        <p:txBody>
          <a:bodyPr wrap="square" lIns="0" tIns="0" rIns="0" bIns="0" rtlCol="0" anchor="t"/>
          <a:lstStyle/>
          <a:p>
            <a:pPr algn="l" indent="0" marL="0">
              <a:lnSpc>
                <a:spcPts val="945"/>
              </a:lnSpc>
              <a:spcAft>
                <a:spcPts val="225"/>
              </a:spcAft>
              <a:buNone/>
            </a:pPr>
            <a:r>
              <a:rPr lang="en-US" sz="675" b="1" dirty="0">
                <a:solidFill>
                  <a:srgbClr val="059669"/>
                </a:solidFill>
                <a:latin typeface="Arial" pitchFamily="34" charset="0"/>
                <a:ea typeface="Arial" pitchFamily="34" charset="-122"/>
                <a:cs typeface="Arial" pitchFamily="34" charset="-120"/>
              </a:rPr>
              <a:t>RECOMMENDATION</a:t>
            </a:r>
            <a:endParaRPr lang="en-US" sz="675" dirty="0"/>
          </a:p>
        </p:txBody>
      </p:sp>
      <p:sp>
        <p:nvSpPr>
          <p:cNvPr id="109" name="Text 107"/>
          <p:cNvSpPr/>
          <p:nvPr/>
        </p:nvSpPr>
        <p:spPr>
          <a:xfrm>
            <a:off x="428625" y="4029075"/>
            <a:ext cx="8481632"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Continue.dev for maximum flexibility • Cline for agentic tasks • Copilot Enterprise for Azure-first orgs</a:t>
            </a:r>
            <a:endParaRPr lang="en-US" sz="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832842"/>
            <a:ext cx="500658" cy="182761"/>
          </a:xfrm>
          <a:prstGeom prst="rect">
            <a:avLst/>
          </a:prstGeom>
          <a:solidFill>
            <a:srgbClr val="8B5CF6"/>
          </a:solidFill>
          <a:ln/>
        </p:spPr>
        <p:txBody>
          <a:bodyPr wrap="square" rtlCol="0" anchor="ctr"/>
          <a:lstStyle/>
          <a:p>
            <a:pPr indent="0" marL="0">
              <a:buNone/>
            </a:pPr>
            <a:endParaRPr lang="en-US" dirty="0"/>
          </a:p>
        </p:txBody>
      </p:sp>
      <p:sp>
        <p:nvSpPr>
          <p:cNvPr id="4" name="Text 2"/>
          <p:cNvSpPr/>
          <p:nvPr/>
        </p:nvSpPr>
        <p:spPr>
          <a:xfrm>
            <a:off x="361950" y="870942"/>
            <a:ext cx="316361" cy="106561"/>
          </a:xfrm>
          <a:prstGeom prst="rect">
            <a:avLst/>
          </a:prstGeom>
          <a:noFill/>
          <a:ln/>
        </p:spPr>
        <p:txBody>
          <a:bodyPr wrap="square" lIns="0" tIns="0" rIns="0" bIns="0" rtlCol="0" anchor="t"/>
          <a:lstStyle/>
          <a:p>
            <a:pPr algn="l" indent="0" marL="0">
              <a:lnSpc>
                <a:spcPts val="840"/>
              </a:lnSpc>
              <a:buNone/>
            </a:pPr>
            <a:r>
              <a:rPr lang="en-US" sz="600" b="1" dirty="0">
                <a:solidFill>
                  <a:srgbClr val="FFFFFF"/>
                </a:solidFill>
                <a:latin typeface="Arial" pitchFamily="34" charset="0"/>
                <a:ea typeface="Arial" pitchFamily="34" charset="-122"/>
                <a:cs typeface="Arial" pitchFamily="34" charset="-120"/>
              </a:rPr>
              <a:t>LOCAL</a:t>
            </a:r>
            <a:endParaRPr lang="en-US" sz="600" dirty="0"/>
          </a:p>
        </p:txBody>
      </p:sp>
      <p:sp>
        <p:nvSpPr>
          <p:cNvPr id="5" name="Text 3"/>
          <p:cNvSpPr/>
          <p:nvPr/>
        </p:nvSpPr>
        <p:spPr>
          <a:xfrm>
            <a:off x="266700" y="1263253"/>
            <a:ext cx="1476756" cy="594122"/>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Local Model</a:t>
            </a:r>
            <a:endParaRPr lang="en-US" sz="1950" dirty="0"/>
          </a:p>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Setup</a:t>
            </a:r>
            <a:endParaRPr lang="en-US" sz="1950" dirty="0"/>
          </a:p>
        </p:txBody>
      </p:sp>
      <p:sp>
        <p:nvSpPr>
          <p:cNvPr id="6" name="Text 4"/>
          <p:cNvSpPr/>
          <p:nvPr/>
        </p:nvSpPr>
        <p:spPr>
          <a:xfrm>
            <a:off x="266700" y="2105025"/>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2409825"/>
            <a:ext cx="2885777" cy="685800"/>
          </a:xfrm>
          <a:prstGeom prst="rect">
            <a:avLst/>
          </a:prstGeom>
          <a:solidFill>
            <a:srgbClr val="8B5CF6">
              <a:alpha val="15000"/>
            </a:srgbClr>
          </a:solidFill>
          <a:ln/>
        </p:spPr>
        <p:txBody>
          <a:bodyPr wrap="square" rtlCol="0" anchor="ctr"/>
          <a:lstStyle/>
          <a:p>
            <a:pPr indent="0" marL="0">
              <a:buNone/>
            </a:pPr>
            <a:endParaRPr lang="en-US" dirty="0"/>
          </a:p>
        </p:txBody>
      </p:sp>
      <p:sp>
        <p:nvSpPr>
          <p:cNvPr id="8" name="Shape 6"/>
          <p:cNvSpPr/>
          <p:nvPr/>
        </p:nvSpPr>
        <p:spPr>
          <a:xfrm>
            <a:off x="280988" y="2409825"/>
            <a:ext cx="0" cy="685800"/>
          </a:xfrm>
          <a:prstGeom prst="line">
            <a:avLst/>
          </a:prstGeom>
          <a:noFill/>
          <a:ln w="28575">
            <a:solidFill>
              <a:srgbClr val="8B5CF6"/>
            </a:solidFill>
            <a:prstDash val="solid"/>
          </a:ln>
        </p:spPr>
      </p:sp>
      <p:sp>
        <p:nvSpPr>
          <p:cNvPr id="9" name="Text 7"/>
          <p:cNvSpPr/>
          <p:nvPr/>
        </p:nvSpPr>
        <p:spPr>
          <a:xfrm>
            <a:off x="409575" y="2524125"/>
            <a:ext cx="2681174"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C4B5FD"/>
                </a:solidFill>
                <a:latin typeface="Arial" pitchFamily="34" charset="0"/>
                <a:ea typeface="Arial" pitchFamily="34" charset="-122"/>
                <a:cs typeface="Arial" pitchFamily="34" charset="-120"/>
              </a:rPr>
              <a:t>AIR-GAPPED READY</a:t>
            </a:r>
            <a:endParaRPr lang="en-US" sz="750" dirty="0"/>
          </a:p>
        </p:txBody>
      </p:sp>
      <p:sp>
        <p:nvSpPr>
          <p:cNvPr id="10" name="Text 8"/>
          <p:cNvSpPr/>
          <p:nvPr/>
        </p:nvSpPr>
        <p:spPr>
          <a:xfrm>
            <a:off x="409575" y="2695575"/>
            <a:ext cx="2681174" cy="285750"/>
          </a:xfrm>
          <a:prstGeom prst="rect">
            <a:avLst/>
          </a:prstGeom>
          <a:noFill/>
          <a:ln/>
        </p:spPr>
        <p:txBody>
          <a:bodyPr wrap="square" lIns="0" tIns="0" rIns="0" bIns="0" rtlCol="0" anchor="t"/>
          <a:lstStyle/>
          <a:p>
            <a:pPr algn="l"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Run models locally for maximum privacy. No data leaves your machine.</a:t>
            </a:r>
            <a:endParaRPr lang="en-US" sz="750" dirty="0"/>
          </a:p>
        </p:txBody>
      </p:sp>
      <p:sp>
        <p:nvSpPr>
          <p:cNvPr id="11" name="Text 9"/>
          <p:cNvSpPr/>
          <p:nvPr/>
        </p:nvSpPr>
        <p:spPr>
          <a:xfrm>
            <a:off x="266700" y="3381375"/>
            <a:ext cx="2885777" cy="929283"/>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61950" y="3476625"/>
            <a:ext cx="2749183"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OPTIONS</a:t>
            </a:r>
            <a:endParaRPr lang="en-US" sz="750" dirty="0"/>
          </a:p>
        </p:txBody>
      </p:sp>
      <p:sp>
        <p:nvSpPr>
          <p:cNvPr id="13" name="Text 11"/>
          <p:cNvSpPr/>
          <p:nvPr/>
        </p:nvSpPr>
        <p:spPr>
          <a:xfrm>
            <a:off x="361950" y="3667125"/>
            <a:ext cx="2749183" cy="548283"/>
          </a:xfrm>
          <a:prstGeom prst="rect">
            <a:avLst/>
          </a:prstGeom>
          <a:noFill/>
          <a:ln/>
        </p:spPr>
        <p:txBody>
          <a:bodyPr wrap="square" lIns="0" tIns="0" rIns="0" bIns="0" rtlCol="0" anchor="t"/>
          <a:lstStyle/>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Ollama (CLI-first)</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LM Studio (GUI)</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GPT4All (Simple)</a:t>
            </a:r>
            <a:endParaRPr lang="en-US" sz="675" dirty="0"/>
          </a:p>
          <a:p>
            <a:pPr algn="l" indent="0" marL="0">
              <a:lnSpc>
                <a:spcPts val="1080"/>
              </a:lnSpc>
              <a:buNone/>
            </a:pPr>
            <a:r>
              <a:rPr lang="en-US" sz="675" dirty="0">
                <a:solidFill>
                  <a:srgbClr val="FFFFFF">
                    <a:alpha val="60000"/>
                  </a:srgbClr>
                </a:solidFill>
                <a:latin typeface="Arial" pitchFamily="34" charset="0"/>
                <a:ea typeface="Arial" pitchFamily="34" charset="-122"/>
                <a:cs typeface="Arial" pitchFamily="34" charset="-120"/>
              </a:rPr>
              <a:t> Foundry Local (MS)</a:t>
            </a:r>
            <a:endParaRPr lang="en-US" sz="675" dirty="0"/>
          </a:p>
        </p:txBody>
      </p:sp>
      <p:sp>
        <p:nvSpPr>
          <p:cNvPr id="14" name="Text 12"/>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5" name="Text 13"/>
          <p:cNvSpPr/>
          <p:nvPr/>
        </p:nvSpPr>
        <p:spPr>
          <a:xfrm>
            <a:off x="3838277" y="422225"/>
            <a:ext cx="5139803" cy="159990"/>
          </a:xfrm>
          <a:prstGeom prst="rect">
            <a:avLst/>
          </a:prstGeom>
          <a:noFill/>
          <a:ln/>
        </p:spPr>
        <p:txBody>
          <a:bodyPr wrap="square" lIns="0" tIns="0" rIns="0" bIns="0" rtlCol="0" anchor="t"/>
          <a:lstStyle/>
          <a:p>
            <a:pPr algn="l" indent="0" marL="0">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OLLAMA + VS CODE SETUP</a:t>
            </a:r>
            <a:endParaRPr lang="en-US" sz="900" dirty="0"/>
          </a:p>
        </p:txBody>
      </p:sp>
      <p:sp>
        <p:nvSpPr>
          <p:cNvPr id="16" name="Text 14"/>
          <p:cNvSpPr/>
          <p:nvPr/>
        </p:nvSpPr>
        <p:spPr>
          <a:xfrm>
            <a:off x="3838277" y="848916"/>
            <a:ext cx="5039023" cy="727472"/>
          </a:xfrm>
          <a:prstGeom prst="rect">
            <a:avLst/>
          </a:prstGeom>
          <a:solidFill>
            <a:srgbClr val="1A1F2E"/>
          </a:solidFill>
          <a:ln/>
        </p:spPr>
        <p:txBody>
          <a:bodyPr wrap="square" rtlCol="0" anchor="ctr"/>
          <a:lstStyle/>
          <a:p>
            <a:pPr indent="0" marL="0">
              <a:buNone/>
            </a:pPr>
            <a:endParaRPr lang="en-US" dirty="0"/>
          </a:p>
        </p:txBody>
      </p:sp>
      <p:sp>
        <p:nvSpPr>
          <p:cNvPr id="17" name="Text 15"/>
          <p:cNvSpPr/>
          <p:nvPr/>
        </p:nvSpPr>
        <p:spPr>
          <a:xfrm>
            <a:off x="3971627" y="982266"/>
            <a:ext cx="4867769" cy="106561"/>
          </a:xfrm>
          <a:prstGeom prst="rect">
            <a:avLst/>
          </a:prstGeom>
          <a:noFill/>
          <a:ln/>
        </p:spPr>
        <p:txBody>
          <a:bodyPr wrap="square" lIns="0" tIns="0" rIns="0" bIns="0" rtlCol="0" anchor="t"/>
          <a:lstStyle/>
          <a:p>
            <a:pPr algn="l" indent="0" marL="0">
              <a:lnSpc>
                <a:spcPts val="840"/>
              </a:lnSpc>
              <a:spcAft>
                <a:spcPts val="600"/>
              </a:spcAft>
              <a:buNone/>
            </a:pPr>
            <a:r>
              <a:rPr lang="en-US" sz="600" dirty="0">
                <a:solidFill>
                  <a:srgbClr val="C9A227"/>
                </a:solidFill>
                <a:latin typeface="Arial" pitchFamily="34" charset="0"/>
                <a:ea typeface="Arial" pitchFamily="34" charset="-122"/>
                <a:cs typeface="Arial" pitchFamily="34" charset="-120"/>
              </a:rPr>
              <a:t>1. INSTALL OLLAMA</a:t>
            </a:r>
            <a:endParaRPr lang="en-US" sz="600" dirty="0"/>
          </a:p>
        </p:txBody>
      </p:sp>
      <p:sp>
        <p:nvSpPr>
          <p:cNvPr id="18" name="Text 16"/>
          <p:cNvSpPr/>
          <p:nvPr/>
        </p:nvSpPr>
        <p:spPr>
          <a:xfrm>
            <a:off x="3971627" y="1165027"/>
            <a:ext cx="4867769" cy="133350"/>
          </a:xfrm>
          <a:prstGeom prst="rect">
            <a:avLst/>
          </a:prstGeom>
          <a:noFill/>
          <a:ln/>
        </p:spPr>
        <p:txBody>
          <a:bodyPr wrap="square" lIns="0" tIns="0" rIns="0" bIns="0" rtlCol="0" anchor="t"/>
          <a:lstStyle/>
          <a:p>
            <a:pPr algn="l" indent="0" marL="0">
              <a:lnSpc>
                <a:spcPts val="1050"/>
              </a:lnSpc>
              <a:spcAft>
                <a:spcPts val="300"/>
              </a:spcAft>
              <a:buNone/>
            </a:pPr>
            <a:r>
              <a:rPr lang="en-US" sz="750" dirty="0">
                <a:solidFill>
                  <a:srgbClr val="6EE7B7"/>
                </a:solidFill>
                <a:latin typeface="Arial" pitchFamily="34" charset="0"/>
                <a:ea typeface="Arial" pitchFamily="34" charset="-122"/>
                <a:cs typeface="Arial" pitchFamily="34" charset="-120"/>
              </a:rPr>
              <a:t>$ curl -fsSL https://ollama.com/install.sh | sh</a:t>
            </a:r>
            <a:endParaRPr lang="en-US" sz="750" dirty="0"/>
          </a:p>
        </p:txBody>
      </p:sp>
      <p:sp>
        <p:nvSpPr>
          <p:cNvPr id="19" name="Text 17"/>
          <p:cNvSpPr/>
          <p:nvPr/>
        </p:nvSpPr>
        <p:spPr>
          <a:xfrm>
            <a:off x="3971627" y="1336477"/>
            <a:ext cx="4867769" cy="106561"/>
          </a:xfrm>
          <a:prstGeom prst="rect">
            <a:avLst/>
          </a:prstGeom>
          <a:noFill/>
          <a:ln/>
        </p:spPr>
        <p:txBody>
          <a:bodyPr wrap="square" lIns="0" tIns="0" rIns="0" bIns="0" rtlCol="0" anchor="t"/>
          <a:lstStyle/>
          <a:p>
            <a:pPr algn="l" indent="0" marL="0">
              <a:lnSpc>
                <a:spcPts val="840"/>
              </a:lnSpc>
              <a:buNone/>
            </a:pPr>
            <a:r>
              <a:rPr lang="en-US" sz="600" dirty="0">
                <a:solidFill>
                  <a:srgbClr val="FFFFFF">
                    <a:alpha val="50000"/>
                  </a:srgbClr>
                </a:solidFill>
                <a:latin typeface="Arial" pitchFamily="34" charset="0"/>
                <a:ea typeface="Arial" pitchFamily="34" charset="-122"/>
                <a:cs typeface="Arial" pitchFamily="34" charset="-120"/>
              </a:rPr>
              <a:t>or download from ollama.com</a:t>
            </a:r>
            <a:endParaRPr lang="en-US" sz="600" dirty="0"/>
          </a:p>
        </p:txBody>
      </p:sp>
      <p:sp>
        <p:nvSpPr>
          <p:cNvPr id="20" name="Text 18"/>
          <p:cNvSpPr/>
          <p:nvPr/>
        </p:nvSpPr>
        <p:spPr>
          <a:xfrm>
            <a:off x="3838277" y="1824038"/>
            <a:ext cx="5039023" cy="727472"/>
          </a:xfrm>
          <a:prstGeom prst="rect">
            <a:avLst/>
          </a:prstGeom>
          <a:solidFill>
            <a:srgbClr val="1A1F2E"/>
          </a:solidFill>
          <a:ln/>
        </p:spPr>
        <p:txBody>
          <a:bodyPr wrap="square" rtlCol="0" anchor="ctr"/>
          <a:lstStyle/>
          <a:p>
            <a:pPr indent="0" marL="0">
              <a:buNone/>
            </a:pPr>
            <a:endParaRPr lang="en-US" dirty="0"/>
          </a:p>
        </p:txBody>
      </p:sp>
      <p:sp>
        <p:nvSpPr>
          <p:cNvPr id="21" name="Text 19"/>
          <p:cNvSpPr/>
          <p:nvPr/>
        </p:nvSpPr>
        <p:spPr>
          <a:xfrm>
            <a:off x="3971627" y="1957388"/>
            <a:ext cx="4867769" cy="106561"/>
          </a:xfrm>
          <a:prstGeom prst="rect">
            <a:avLst/>
          </a:prstGeom>
          <a:noFill/>
          <a:ln/>
        </p:spPr>
        <p:txBody>
          <a:bodyPr wrap="square" lIns="0" tIns="0" rIns="0" bIns="0" rtlCol="0" anchor="t"/>
          <a:lstStyle/>
          <a:p>
            <a:pPr algn="l" indent="0" marL="0">
              <a:lnSpc>
                <a:spcPts val="840"/>
              </a:lnSpc>
              <a:spcAft>
                <a:spcPts val="600"/>
              </a:spcAft>
              <a:buNone/>
            </a:pPr>
            <a:r>
              <a:rPr lang="en-US" sz="600" dirty="0">
                <a:solidFill>
                  <a:srgbClr val="C9A227"/>
                </a:solidFill>
                <a:latin typeface="Arial" pitchFamily="34" charset="0"/>
                <a:ea typeface="Arial" pitchFamily="34" charset="-122"/>
                <a:cs typeface="Arial" pitchFamily="34" charset="-120"/>
              </a:rPr>
              <a:t>2. PULL A MODEL</a:t>
            </a:r>
            <a:endParaRPr lang="en-US" sz="600" dirty="0"/>
          </a:p>
        </p:txBody>
      </p:sp>
      <p:sp>
        <p:nvSpPr>
          <p:cNvPr id="22" name="Text 20"/>
          <p:cNvSpPr/>
          <p:nvPr/>
        </p:nvSpPr>
        <p:spPr>
          <a:xfrm>
            <a:off x="3971627" y="2140148"/>
            <a:ext cx="4867769" cy="133350"/>
          </a:xfrm>
          <a:prstGeom prst="rect">
            <a:avLst/>
          </a:prstGeom>
          <a:noFill/>
          <a:ln/>
        </p:spPr>
        <p:txBody>
          <a:bodyPr wrap="square" lIns="0" tIns="0" rIns="0" bIns="0" rtlCol="0" anchor="t"/>
          <a:lstStyle/>
          <a:p>
            <a:pPr algn="l" indent="0" marL="0">
              <a:lnSpc>
                <a:spcPts val="1050"/>
              </a:lnSpc>
              <a:spcAft>
                <a:spcPts val="300"/>
              </a:spcAft>
              <a:buNone/>
            </a:pPr>
            <a:r>
              <a:rPr lang="en-US" sz="750" dirty="0">
                <a:solidFill>
                  <a:srgbClr val="6EE7B7"/>
                </a:solidFill>
                <a:latin typeface="Arial" pitchFamily="34" charset="0"/>
                <a:ea typeface="Arial" pitchFamily="34" charset="-122"/>
                <a:cs typeface="Arial" pitchFamily="34" charset="-120"/>
              </a:rPr>
              <a:t>$ ollama pull codellama:13b</a:t>
            </a:r>
            <a:endParaRPr lang="en-US" sz="750" dirty="0"/>
          </a:p>
        </p:txBody>
      </p:sp>
      <p:sp>
        <p:nvSpPr>
          <p:cNvPr id="23" name="Text 21"/>
          <p:cNvSpPr/>
          <p:nvPr/>
        </p:nvSpPr>
        <p:spPr>
          <a:xfrm>
            <a:off x="3971627" y="2311598"/>
            <a:ext cx="4867769" cy="106561"/>
          </a:xfrm>
          <a:prstGeom prst="rect">
            <a:avLst/>
          </a:prstGeom>
          <a:noFill/>
          <a:ln/>
        </p:spPr>
        <p:txBody>
          <a:bodyPr wrap="square" lIns="0" tIns="0" rIns="0" bIns="0" rtlCol="0" anchor="t"/>
          <a:lstStyle/>
          <a:p>
            <a:pPr algn="l" indent="0" marL="0">
              <a:lnSpc>
                <a:spcPts val="840"/>
              </a:lnSpc>
              <a:buNone/>
            </a:pPr>
            <a:r>
              <a:rPr lang="en-US" sz="600" dirty="0">
                <a:solidFill>
                  <a:srgbClr val="FFFFFF">
                    <a:alpha val="50000"/>
                  </a:srgbClr>
                </a:solidFill>
                <a:latin typeface="Arial" pitchFamily="34" charset="0"/>
                <a:ea typeface="Arial" pitchFamily="34" charset="-122"/>
                <a:cs typeface="Arial" pitchFamily="34" charset="-120"/>
              </a:rPr>
              <a:t>or: deepseek-coder, qwen2.5-coder, starcoder2</a:t>
            </a:r>
            <a:endParaRPr lang="en-US" sz="600" dirty="0"/>
          </a:p>
        </p:txBody>
      </p:sp>
      <p:sp>
        <p:nvSpPr>
          <p:cNvPr id="24" name="Text 22"/>
          <p:cNvSpPr/>
          <p:nvPr/>
        </p:nvSpPr>
        <p:spPr>
          <a:xfrm>
            <a:off x="3838277" y="2799159"/>
            <a:ext cx="5039023" cy="963811"/>
          </a:xfrm>
          <a:prstGeom prst="rect">
            <a:avLst/>
          </a:prstGeom>
          <a:solidFill>
            <a:srgbClr val="1A1F2E"/>
          </a:solidFill>
          <a:ln/>
        </p:spPr>
        <p:txBody>
          <a:bodyPr wrap="square" rtlCol="0" anchor="ctr"/>
          <a:lstStyle/>
          <a:p>
            <a:pPr indent="0" marL="0">
              <a:buNone/>
            </a:pPr>
            <a:endParaRPr lang="en-US" dirty="0"/>
          </a:p>
        </p:txBody>
      </p:sp>
      <p:sp>
        <p:nvSpPr>
          <p:cNvPr id="25" name="Text 23"/>
          <p:cNvSpPr/>
          <p:nvPr/>
        </p:nvSpPr>
        <p:spPr>
          <a:xfrm>
            <a:off x="3971627" y="2932509"/>
            <a:ext cx="4867769" cy="106561"/>
          </a:xfrm>
          <a:prstGeom prst="rect">
            <a:avLst/>
          </a:prstGeom>
          <a:noFill/>
          <a:ln/>
        </p:spPr>
        <p:txBody>
          <a:bodyPr wrap="square" lIns="0" tIns="0" rIns="0" bIns="0" rtlCol="0" anchor="t"/>
          <a:lstStyle/>
          <a:p>
            <a:pPr algn="l" indent="0" marL="0">
              <a:lnSpc>
                <a:spcPts val="840"/>
              </a:lnSpc>
              <a:spcAft>
                <a:spcPts val="600"/>
              </a:spcAft>
              <a:buNone/>
            </a:pPr>
            <a:r>
              <a:rPr lang="en-US" sz="600" dirty="0">
                <a:solidFill>
                  <a:srgbClr val="C9A227"/>
                </a:solidFill>
                <a:latin typeface="Arial" pitchFamily="34" charset="0"/>
                <a:ea typeface="Arial" pitchFamily="34" charset="-122"/>
                <a:cs typeface="Arial" pitchFamily="34" charset="-120"/>
              </a:rPr>
              <a:t>3. CONFIGURE EXTENSION</a:t>
            </a:r>
            <a:endParaRPr lang="en-US" sz="600" dirty="0"/>
          </a:p>
        </p:txBody>
      </p:sp>
      <p:sp>
        <p:nvSpPr>
          <p:cNvPr id="26" name="Text 24"/>
          <p:cNvSpPr/>
          <p:nvPr/>
        </p:nvSpPr>
        <p:spPr>
          <a:xfrm>
            <a:off x="3971627" y="3115270"/>
            <a:ext cx="4867769" cy="514350"/>
          </a:xfrm>
          <a:prstGeom prst="rect">
            <a:avLst/>
          </a:prstGeom>
          <a:noFill/>
          <a:ln/>
        </p:spPr>
        <p:txBody>
          <a:bodyPr wrap="square" lIns="0" tIns="0" rIns="0" bIns="0" rtlCol="0" anchor="t"/>
          <a:lstStyle/>
          <a:p>
            <a:pPr algn="l" indent="0" marL="0">
              <a:lnSpc>
                <a:spcPts val="1013"/>
              </a:lnSpc>
              <a:buNone/>
            </a:pPr>
            <a:r>
              <a:rPr lang="en-US" sz="675" dirty="0">
                <a:solidFill>
                  <a:srgbClr val="FFFFFF">
                    <a:alpha val="70000"/>
                  </a:srgbClr>
                </a:solidFill>
                <a:latin typeface="Arial" pitchFamily="34" charset="0"/>
                <a:ea typeface="Arial" pitchFamily="34" charset="-122"/>
                <a:cs typeface="Arial" pitchFamily="34" charset="-120"/>
              </a:rPr>
              <a:t>In Continue/Cline/CodeGPT settings:</a:t>
            </a:r>
            <a:endParaRPr lang="en-US" sz="675" dirty="0"/>
          </a:p>
          <a:p>
            <a:pPr algn="l" indent="0" marL="0">
              <a:lnSpc>
                <a:spcPts val="1013"/>
              </a:lnSpc>
              <a:buNone/>
            </a:pPr>
            <a:r>
              <a:rPr lang="en-US" sz="675" dirty="0">
                <a:solidFill>
                  <a:srgbClr val="FFFFFF">
                    <a:alpha val="70000"/>
                  </a:srgbClr>
                </a:solidFill>
                <a:latin typeface="Arial" pitchFamily="34" charset="0"/>
                <a:ea typeface="Arial" pitchFamily="34" charset="-122"/>
                <a:cs typeface="Arial" pitchFamily="34" charset="-120"/>
              </a:rPr>
              <a:t> </a:t>
            </a:r>
            <a:endParaRPr lang="en-US" sz="675" dirty="0"/>
          </a:p>
          <a:p>
            <a:pPr algn="l" indent="0" marL="0">
              <a:lnSpc>
                <a:spcPts val="1013"/>
              </a:lnSpc>
              <a:buNone/>
            </a:pPr>
            <a:r>
              <a:rPr lang="en-US" sz="675" dirty="0">
                <a:solidFill>
                  <a:srgbClr val="6EE7B7">
                    <a:alpha val="70000"/>
                  </a:srgbClr>
                </a:solidFill>
                <a:latin typeface="Arial" pitchFamily="34" charset="0"/>
                <a:ea typeface="Arial" pitchFamily="34" charset="-122"/>
                <a:cs typeface="Arial" pitchFamily="34" charset="-120"/>
              </a:rPr>
              <a:t>Provider:</a:t>
            </a:r>
            <a:pPr algn="l" indent="0" marL="0">
              <a:lnSpc>
                <a:spcPts val="1013"/>
              </a:lnSpc>
              <a:buNone/>
            </a:pPr>
            <a:r>
              <a:rPr lang="en-US" sz="675" dirty="0">
                <a:solidFill>
                  <a:srgbClr val="FFFFFF">
                    <a:alpha val="70000"/>
                  </a:srgbClr>
                </a:solidFill>
                <a:latin typeface="Arial" pitchFamily="34" charset="0"/>
                <a:ea typeface="Arial" pitchFamily="34" charset="-122"/>
                <a:cs typeface="Arial" pitchFamily="34" charset="-120"/>
              </a:rPr>
              <a:t> Ollama</a:t>
            </a:r>
            <a:endParaRPr lang="en-US" sz="675" dirty="0"/>
          </a:p>
          <a:p>
            <a:pPr algn="l" indent="0" marL="0">
              <a:lnSpc>
                <a:spcPts val="1013"/>
              </a:lnSpc>
              <a:buNone/>
            </a:pPr>
            <a:r>
              <a:rPr lang="en-US" sz="675" dirty="0">
                <a:solidFill>
                  <a:srgbClr val="FFFFFF">
                    <a:alpha val="70000"/>
                  </a:srgbClr>
                </a:solidFill>
                <a:latin typeface="Arial" pitchFamily="34" charset="0"/>
                <a:ea typeface="Arial" pitchFamily="34" charset="-122"/>
                <a:cs typeface="Arial" pitchFamily="34" charset="-120"/>
              </a:rPr>
              <a:t> </a:t>
            </a:r>
            <a:endParaRPr lang="en-US" sz="675" dirty="0"/>
          </a:p>
          <a:p>
            <a:pPr algn="l" indent="0" marL="0">
              <a:lnSpc>
                <a:spcPts val="1013"/>
              </a:lnSpc>
              <a:buNone/>
            </a:pPr>
            <a:r>
              <a:rPr lang="en-US" sz="675" dirty="0">
                <a:solidFill>
                  <a:srgbClr val="6EE7B7">
                    <a:alpha val="70000"/>
                  </a:srgbClr>
                </a:solidFill>
                <a:latin typeface="Arial" pitchFamily="34" charset="0"/>
                <a:ea typeface="Arial" pitchFamily="34" charset="-122"/>
                <a:cs typeface="Arial" pitchFamily="34" charset="-120"/>
              </a:rPr>
              <a:t>Base URL:</a:t>
            </a:r>
            <a:pPr algn="l" indent="0" marL="0">
              <a:lnSpc>
                <a:spcPts val="1013"/>
              </a:lnSpc>
              <a:buNone/>
            </a:pPr>
            <a:r>
              <a:rPr lang="en-US" sz="675" dirty="0">
                <a:solidFill>
                  <a:srgbClr val="FFFFFF">
                    <a:alpha val="70000"/>
                  </a:srgbClr>
                </a:solidFill>
                <a:latin typeface="Arial" pitchFamily="34" charset="0"/>
                <a:ea typeface="Arial" pitchFamily="34" charset="-122"/>
                <a:cs typeface="Arial" pitchFamily="34" charset="-120"/>
              </a:rPr>
              <a:t> http://localhost:11434</a:t>
            </a:r>
            <a:endParaRPr lang="en-US" sz="675" dirty="0"/>
          </a:p>
          <a:p>
            <a:pPr algn="l" indent="0" marL="0">
              <a:lnSpc>
                <a:spcPts val="1013"/>
              </a:lnSpc>
              <a:buNone/>
            </a:pPr>
            <a:r>
              <a:rPr lang="en-US" sz="675" dirty="0">
                <a:solidFill>
                  <a:srgbClr val="FFFFFF">
                    <a:alpha val="70000"/>
                  </a:srgbClr>
                </a:solidFill>
                <a:latin typeface="Arial" pitchFamily="34" charset="0"/>
                <a:ea typeface="Arial" pitchFamily="34" charset="-122"/>
                <a:cs typeface="Arial" pitchFamily="34" charset="-120"/>
              </a:rPr>
              <a:t> </a:t>
            </a:r>
            <a:endParaRPr lang="en-US" sz="675" dirty="0"/>
          </a:p>
          <a:p>
            <a:pPr algn="l" indent="0" marL="0">
              <a:lnSpc>
                <a:spcPts val="1013"/>
              </a:lnSpc>
              <a:buNone/>
            </a:pPr>
            <a:r>
              <a:rPr lang="en-US" sz="675" dirty="0">
                <a:solidFill>
                  <a:srgbClr val="6EE7B7">
                    <a:alpha val="70000"/>
                  </a:srgbClr>
                </a:solidFill>
                <a:latin typeface="Arial" pitchFamily="34" charset="0"/>
                <a:ea typeface="Arial" pitchFamily="34" charset="-122"/>
                <a:cs typeface="Arial" pitchFamily="34" charset="-120"/>
              </a:rPr>
              <a:t>Model:</a:t>
            </a:r>
            <a:pPr algn="l" indent="0" marL="0">
              <a:lnSpc>
                <a:spcPts val="1013"/>
              </a:lnSpc>
              <a:buNone/>
            </a:pPr>
            <a:r>
              <a:rPr lang="en-US" sz="675" dirty="0">
                <a:solidFill>
                  <a:srgbClr val="FFFFFF">
                    <a:alpha val="70000"/>
                  </a:srgbClr>
                </a:solidFill>
                <a:latin typeface="Arial" pitchFamily="34" charset="0"/>
                <a:ea typeface="Arial" pitchFamily="34" charset="-122"/>
                <a:cs typeface="Arial" pitchFamily="34" charset="-120"/>
              </a:rPr>
              <a:t> codellama:13b</a:t>
            </a:r>
            <a:endParaRPr lang="en-US" sz="675" dirty="0"/>
          </a:p>
        </p:txBody>
      </p:sp>
      <p:sp>
        <p:nvSpPr>
          <p:cNvPr id="27" name="Text 25"/>
          <p:cNvSpPr/>
          <p:nvPr/>
        </p:nvSpPr>
        <p:spPr>
          <a:xfrm>
            <a:off x="3838277" y="4029670"/>
            <a:ext cx="2471886" cy="691455"/>
          </a:xfrm>
          <a:prstGeom prst="rect">
            <a:avLst/>
          </a:prstGeom>
          <a:solidFill>
            <a:srgbClr val="FFFFFF"/>
          </a:solidFill>
          <a:ln/>
        </p:spPr>
        <p:txBody>
          <a:bodyPr wrap="square" rtlCol="0" anchor="ctr"/>
          <a:lstStyle/>
          <a:p>
            <a:pPr indent="0" marL="0">
              <a:buNone/>
            </a:pPr>
            <a:endParaRPr lang="en-US" dirty="0"/>
          </a:p>
        </p:txBody>
      </p:sp>
      <p:sp>
        <p:nvSpPr>
          <p:cNvPr id="28" name="Shape 26"/>
          <p:cNvSpPr/>
          <p:nvPr/>
        </p:nvSpPr>
        <p:spPr>
          <a:xfrm>
            <a:off x="3852565" y="4029670"/>
            <a:ext cx="0" cy="691455"/>
          </a:xfrm>
          <a:prstGeom prst="line">
            <a:avLst/>
          </a:prstGeom>
          <a:noFill/>
          <a:ln w="28575">
            <a:solidFill>
              <a:srgbClr val="C9A227"/>
            </a:solidFill>
            <a:prstDash val="solid"/>
          </a:ln>
        </p:spPr>
      </p:sp>
      <p:sp>
        <p:nvSpPr>
          <p:cNvPr id="29" name="Text 27"/>
          <p:cNvSpPr/>
          <p:nvPr/>
        </p:nvSpPr>
        <p:spPr>
          <a:xfrm>
            <a:off x="3962102" y="4124920"/>
            <a:ext cx="2297868"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C9A227"/>
                </a:solidFill>
                <a:latin typeface="Arial" pitchFamily="34" charset="0"/>
                <a:ea typeface="Arial" pitchFamily="34" charset="-122"/>
                <a:cs typeface="Arial" pitchFamily="34" charset="-120"/>
              </a:rPr>
              <a:t>RECOMMENDED MODELS</a:t>
            </a:r>
            <a:endParaRPr lang="en-US" sz="675" dirty="0"/>
          </a:p>
        </p:txBody>
      </p:sp>
      <p:sp>
        <p:nvSpPr>
          <p:cNvPr id="30" name="Text 28"/>
          <p:cNvSpPr/>
          <p:nvPr/>
        </p:nvSpPr>
        <p:spPr>
          <a:xfrm>
            <a:off x="3962102" y="4282976"/>
            <a:ext cx="2297868" cy="342900"/>
          </a:xfrm>
          <a:prstGeom prst="rect">
            <a:avLst/>
          </a:prstGeom>
          <a:noFill/>
          <a:ln/>
        </p:spPr>
        <p:txBody>
          <a:bodyPr wrap="square" lIns="0" tIns="0" rIns="0" bIns="0" rtlCol="0" anchor="t"/>
          <a:lstStyle/>
          <a:p>
            <a:pPr algn="l" indent="0" marL="0">
              <a:lnSpc>
                <a:spcPts val="900"/>
              </a:lnSpc>
              <a:buNone/>
            </a:pPr>
            <a:r>
              <a:rPr lang="en-US" sz="600" dirty="0">
                <a:solidFill>
                  <a:srgbClr val="6B7280"/>
                </a:solidFill>
                <a:latin typeface="Arial" pitchFamily="34" charset="0"/>
                <a:ea typeface="Arial" pitchFamily="34" charset="-122"/>
                <a:cs typeface="Arial" pitchFamily="34" charset="-120"/>
              </a:rPr>
              <a:t>codellama:13b (balanced)</a:t>
            </a:r>
            <a:endParaRPr lang="en-US" sz="600" dirty="0"/>
          </a:p>
          <a:p>
            <a:pPr algn="l" indent="0" marL="0">
              <a:lnSpc>
                <a:spcPts val="900"/>
              </a:lnSpc>
              <a:buNone/>
            </a:pPr>
            <a:r>
              <a:rPr lang="en-US" sz="600" dirty="0">
                <a:solidFill>
                  <a:srgbClr val="6B7280"/>
                </a:solidFill>
                <a:latin typeface="Arial" pitchFamily="34" charset="0"/>
                <a:ea typeface="Arial" pitchFamily="34" charset="-122"/>
                <a:cs typeface="Arial" pitchFamily="34" charset="-120"/>
              </a:rPr>
              <a:t> deepseek-coder:6.7b (fast)</a:t>
            </a:r>
            <a:endParaRPr lang="en-US" sz="600" dirty="0"/>
          </a:p>
          <a:p>
            <a:pPr algn="l" indent="0" marL="0">
              <a:lnSpc>
                <a:spcPts val="900"/>
              </a:lnSpc>
              <a:buNone/>
            </a:pPr>
            <a:r>
              <a:rPr lang="en-US" sz="600" dirty="0">
                <a:solidFill>
                  <a:srgbClr val="6B7280"/>
                </a:solidFill>
                <a:latin typeface="Arial" pitchFamily="34" charset="0"/>
                <a:ea typeface="Arial" pitchFamily="34" charset="-122"/>
                <a:cs typeface="Arial" pitchFamily="34" charset="-120"/>
              </a:rPr>
              <a:t> qwen2.5-coder:14b (capable)</a:t>
            </a:r>
            <a:endParaRPr lang="en-US" sz="600" dirty="0"/>
          </a:p>
        </p:txBody>
      </p:sp>
      <p:sp>
        <p:nvSpPr>
          <p:cNvPr id="31" name="Text 29"/>
          <p:cNvSpPr/>
          <p:nvPr/>
        </p:nvSpPr>
        <p:spPr>
          <a:xfrm>
            <a:off x="6405414" y="4029670"/>
            <a:ext cx="2471886" cy="691455"/>
          </a:xfrm>
          <a:prstGeom prst="rect">
            <a:avLst/>
          </a:prstGeom>
          <a:solidFill>
            <a:srgbClr val="FFFFFF"/>
          </a:solidFill>
          <a:ln/>
        </p:spPr>
        <p:txBody>
          <a:bodyPr wrap="square" rtlCol="0" anchor="ctr"/>
          <a:lstStyle/>
          <a:p>
            <a:pPr indent="0" marL="0">
              <a:buNone/>
            </a:pPr>
            <a:endParaRPr lang="en-US" dirty="0"/>
          </a:p>
        </p:txBody>
      </p:sp>
      <p:sp>
        <p:nvSpPr>
          <p:cNvPr id="32" name="Shape 30"/>
          <p:cNvSpPr/>
          <p:nvPr/>
        </p:nvSpPr>
        <p:spPr>
          <a:xfrm>
            <a:off x="6419701" y="4029670"/>
            <a:ext cx="0" cy="691455"/>
          </a:xfrm>
          <a:prstGeom prst="line">
            <a:avLst/>
          </a:prstGeom>
          <a:noFill/>
          <a:ln w="28575">
            <a:solidFill>
              <a:srgbClr val="8B5CF6"/>
            </a:solidFill>
            <a:prstDash val="solid"/>
          </a:ln>
        </p:spPr>
      </p:sp>
      <p:sp>
        <p:nvSpPr>
          <p:cNvPr id="33" name="Text 31"/>
          <p:cNvSpPr/>
          <p:nvPr/>
        </p:nvSpPr>
        <p:spPr>
          <a:xfrm>
            <a:off x="6529239" y="4124920"/>
            <a:ext cx="2297868" cy="119955"/>
          </a:xfrm>
          <a:prstGeom prst="rect">
            <a:avLst/>
          </a:prstGeom>
          <a:noFill/>
          <a:ln/>
        </p:spPr>
        <p:txBody>
          <a:bodyPr wrap="square" lIns="0" tIns="0" rIns="0" bIns="0" rtlCol="0" anchor="t"/>
          <a:lstStyle/>
          <a:p>
            <a:pPr algn="l" indent="0" marL="0">
              <a:lnSpc>
                <a:spcPts val="945"/>
              </a:lnSpc>
              <a:spcAft>
                <a:spcPts val="300"/>
              </a:spcAft>
              <a:buNone/>
            </a:pPr>
            <a:r>
              <a:rPr lang="en-US" sz="675" b="1" dirty="0">
                <a:solidFill>
                  <a:srgbClr val="8B5CF6"/>
                </a:solidFill>
                <a:latin typeface="Arial" pitchFamily="34" charset="0"/>
                <a:ea typeface="Arial" pitchFamily="34" charset="-122"/>
                <a:cs typeface="Arial" pitchFamily="34" charset="-120"/>
              </a:rPr>
              <a:t>HARDWARE NEEDS</a:t>
            </a:r>
            <a:endParaRPr lang="en-US" sz="675" dirty="0"/>
          </a:p>
        </p:txBody>
      </p:sp>
      <p:sp>
        <p:nvSpPr>
          <p:cNvPr id="34" name="Text 32"/>
          <p:cNvSpPr/>
          <p:nvPr/>
        </p:nvSpPr>
        <p:spPr>
          <a:xfrm>
            <a:off x="6529239" y="4282976"/>
            <a:ext cx="2297868" cy="342900"/>
          </a:xfrm>
          <a:prstGeom prst="rect">
            <a:avLst/>
          </a:prstGeom>
          <a:noFill/>
          <a:ln/>
        </p:spPr>
        <p:txBody>
          <a:bodyPr wrap="square" lIns="0" tIns="0" rIns="0" bIns="0" rtlCol="0" anchor="t"/>
          <a:lstStyle/>
          <a:p>
            <a:pPr algn="l" indent="0" marL="0">
              <a:lnSpc>
                <a:spcPts val="900"/>
              </a:lnSpc>
              <a:buNone/>
            </a:pPr>
            <a:r>
              <a:rPr lang="en-US" sz="600" dirty="0">
                <a:solidFill>
                  <a:srgbClr val="6B7280"/>
                </a:solidFill>
                <a:latin typeface="Arial" pitchFamily="34" charset="0"/>
                <a:ea typeface="Arial" pitchFamily="34" charset="-122"/>
                <a:cs typeface="Arial" pitchFamily="34" charset="-120"/>
              </a:rPr>
              <a:t>7B: 8GB VRAM</a:t>
            </a:r>
            <a:endParaRPr lang="en-US" sz="600" dirty="0"/>
          </a:p>
          <a:p>
            <a:pPr algn="l" indent="0" marL="0">
              <a:lnSpc>
                <a:spcPts val="900"/>
              </a:lnSpc>
              <a:buNone/>
            </a:pPr>
            <a:r>
              <a:rPr lang="en-US" sz="600" dirty="0">
                <a:solidFill>
                  <a:srgbClr val="6B7280"/>
                </a:solidFill>
                <a:latin typeface="Arial" pitchFamily="34" charset="0"/>
                <a:ea typeface="Arial" pitchFamily="34" charset="-122"/>
                <a:cs typeface="Arial" pitchFamily="34" charset="-120"/>
              </a:rPr>
              <a:t> 13B: 16GB VRAM</a:t>
            </a:r>
            <a:endParaRPr lang="en-US" sz="600" dirty="0"/>
          </a:p>
          <a:p>
            <a:pPr algn="l" indent="0" marL="0">
              <a:lnSpc>
                <a:spcPts val="900"/>
              </a:lnSpc>
              <a:buNone/>
            </a:pPr>
            <a:r>
              <a:rPr lang="en-US" sz="600" dirty="0">
                <a:solidFill>
                  <a:srgbClr val="6B7280"/>
                </a:solidFill>
                <a:latin typeface="Arial" pitchFamily="34" charset="0"/>
                <a:ea typeface="Arial" pitchFamily="34" charset="-122"/>
                <a:cs typeface="Arial" pitchFamily="34" charset="-120"/>
              </a:rPr>
              <a:t> 33B+: 24GB+ VRAM</a:t>
            </a:r>
            <a:endParaRPr lang="en-US" sz="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3419177" cy="5143500"/>
          </a:xfrm>
          <a:prstGeom prst="rect">
            <a:avLst/>
          </a:prstGeom>
          <a:solidFill>
            <a:srgbClr val="1A1F2E"/>
          </a:solidFill>
          <a:ln/>
        </p:spPr>
        <p:txBody>
          <a:bodyPr wrap="square" rtlCol="0" anchor="ctr"/>
          <a:lstStyle/>
          <a:p>
            <a:pPr indent="0" marL="0">
              <a:buNone/>
            </a:pPr>
            <a:endParaRPr lang="en-US" dirty="0"/>
          </a:p>
        </p:txBody>
      </p:sp>
      <p:sp>
        <p:nvSpPr>
          <p:cNvPr id="3" name="Text 1"/>
          <p:cNvSpPr/>
          <p:nvPr/>
        </p:nvSpPr>
        <p:spPr>
          <a:xfrm>
            <a:off x="266700" y="482352"/>
            <a:ext cx="648146" cy="182761"/>
          </a:xfrm>
          <a:prstGeom prst="rect">
            <a:avLst/>
          </a:prstGeom>
          <a:solidFill>
            <a:srgbClr val="C9A227"/>
          </a:solidFill>
          <a:ln/>
        </p:spPr>
        <p:txBody>
          <a:bodyPr wrap="square" rtlCol="0" anchor="ctr"/>
          <a:lstStyle/>
          <a:p>
            <a:pPr indent="0" marL="0">
              <a:buNone/>
            </a:pPr>
            <a:endParaRPr lang="en-US" dirty="0"/>
          </a:p>
        </p:txBody>
      </p:sp>
      <p:sp>
        <p:nvSpPr>
          <p:cNvPr id="4" name="Text 2"/>
          <p:cNvSpPr/>
          <p:nvPr/>
        </p:nvSpPr>
        <p:spPr>
          <a:xfrm>
            <a:off x="361950" y="520452"/>
            <a:ext cx="466799" cy="106561"/>
          </a:xfrm>
          <a:prstGeom prst="rect">
            <a:avLst/>
          </a:prstGeom>
          <a:noFill/>
          <a:ln/>
        </p:spPr>
        <p:txBody>
          <a:bodyPr wrap="square" lIns="0" tIns="0" rIns="0" bIns="0" rtlCol="0" anchor="t"/>
          <a:lstStyle/>
          <a:p>
            <a:pPr algn="l" indent="0" marL="0">
              <a:lnSpc>
                <a:spcPts val="840"/>
              </a:lnSpc>
              <a:buNone/>
            </a:pPr>
            <a:r>
              <a:rPr lang="en-US" sz="600" b="1" dirty="0">
                <a:solidFill>
                  <a:srgbClr val="1A1F2E"/>
                </a:solidFill>
                <a:latin typeface="Arial" pitchFamily="34" charset="0"/>
                <a:ea typeface="Arial" pitchFamily="34" charset="-122"/>
                <a:cs typeface="Arial" pitchFamily="34" charset="-120"/>
              </a:rPr>
              <a:t>SUMMARY</a:t>
            </a:r>
            <a:endParaRPr lang="en-US" sz="600" dirty="0"/>
          </a:p>
        </p:txBody>
      </p:sp>
      <p:sp>
        <p:nvSpPr>
          <p:cNvPr id="5" name="Text 3"/>
          <p:cNvSpPr/>
          <p:nvPr/>
        </p:nvSpPr>
        <p:spPr>
          <a:xfrm>
            <a:off x="266700" y="912763"/>
            <a:ext cx="1476756" cy="594122"/>
          </a:xfrm>
          <a:prstGeom prst="rect">
            <a:avLst/>
          </a:prstGeom>
          <a:noFill/>
          <a:ln/>
        </p:spPr>
        <p:txBody>
          <a:bodyPr wrap="square" lIns="0" tIns="0" rIns="0" bIns="0" rtlCol="0" anchor="t"/>
          <a:lstStyle/>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Key</a:t>
            </a:r>
            <a:endParaRPr lang="en-US" sz="1950" dirty="0"/>
          </a:p>
          <a:p>
            <a:pPr algn="l" indent="0" marL="0">
              <a:lnSpc>
                <a:spcPts val="2340"/>
              </a:lnSpc>
              <a:spcAft>
                <a:spcPts val="750"/>
              </a:spcAft>
              <a:buNone/>
            </a:pPr>
            <a:r>
              <a:rPr lang="en-US" sz="1950" dirty="0">
                <a:solidFill>
                  <a:srgbClr val="FFFFFF"/>
                </a:solidFill>
                <a:latin typeface="Georgia" pitchFamily="34" charset="0"/>
                <a:ea typeface="Georgia" pitchFamily="34" charset="-122"/>
                <a:cs typeface="Georgia" pitchFamily="34" charset="-120"/>
              </a:rPr>
              <a:t>Takeaways</a:t>
            </a:r>
            <a:endParaRPr lang="en-US" sz="1950" dirty="0"/>
          </a:p>
        </p:txBody>
      </p:sp>
      <p:sp>
        <p:nvSpPr>
          <p:cNvPr id="6" name="Text 4"/>
          <p:cNvSpPr/>
          <p:nvPr/>
        </p:nvSpPr>
        <p:spPr>
          <a:xfrm>
            <a:off x="266700" y="1754535"/>
            <a:ext cx="381000" cy="19050"/>
          </a:xfrm>
          <a:prstGeom prst="rect">
            <a:avLst/>
          </a:prstGeom>
          <a:solidFill>
            <a:srgbClr val="C9A227"/>
          </a:solidFill>
          <a:ln/>
        </p:spPr>
        <p:txBody>
          <a:bodyPr wrap="square" rtlCol="0" anchor="ctr"/>
          <a:lstStyle/>
          <a:p>
            <a:pPr indent="0" marL="0">
              <a:buNone/>
            </a:pPr>
            <a:endParaRPr lang="en-US" dirty="0"/>
          </a:p>
        </p:txBody>
      </p:sp>
      <p:sp>
        <p:nvSpPr>
          <p:cNvPr id="7" name="Text 5"/>
          <p:cNvSpPr/>
          <p:nvPr/>
        </p:nvSpPr>
        <p:spPr>
          <a:xfrm>
            <a:off x="266700" y="2040285"/>
            <a:ext cx="2885777" cy="628650"/>
          </a:xfrm>
          <a:prstGeom prst="rect">
            <a:avLst/>
          </a:prstGeom>
          <a:solidFill>
            <a:srgbClr val="C9A227">
              <a:alpha val="15000"/>
            </a:srgbClr>
          </a:solidFill>
          <a:ln/>
        </p:spPr>
        <p:txBody>
          <a:bodyPr wrap="square" rtlCol="0" anchor="ctr"/>
          <a:lstStyle/>
          <a:p>
            <a:pPr indent="0" marL="0">
              <a:buNone/>
            </a:pPr>
            <a:endParaRPr lang="en-US" dirty="0"/>
          </a:p>
        </p:txBody>
      </p:sp>
      <p:sp>
        <p:nvSpPr>
          <p:cNvPr id="8" name="Shape 6"/>
          <p:cNvSpPr/>
          <p:nvPr/>
        </p:nvSpPr>
        <p:spPr>
          <a:xfrm>
            <a:off x="280988" y="2040285"/>
            <a:ext cx="0" cy="628650"/>
          </a:xfrm>
          <a:prstGeom prst="line">
            <a:avLst/>
          </a:prstGeom>
          <a:noFill/>
          <a:ln w="28575">
            <a:solidFill>
              <a:srgbClr val="C9A227"/>
            </a:solidFill>
            <a:prstDash val="solid"/>
          </a:ln>
        </p:spPr>
      </p:sp>
      <p:sp>
        <p:nvSpPr>
          <p:cNvPr id="9" name="Text 7"/>
          <p:cNvSpPr/>
          <p:nvPr/>
        </p:nvSpPr>
        <p:spPr>
          <a:xfrm>
            <a:off x="390525" y="2135535"/>
            <a:ext cx="2720036" cy="133350"/>
          </a:xfrm>
          <a:prstGeom prst="rect">
            <a:avLst/>
          </a:prstGeom>
          <a:noFill/>
          <a:ln/>
        </p:spPr>
        <p:txBody>
          <a:bodyPr wrap="square" lIns="0" tIns="0" rIns="0" bIns="0" rtlCol="0" anchor="t"/>
          <a:lstStyle/>
          <a:p>
            <a:pPr algn="l" indent="0" marL="0">
              <a:lnSpc>
                <a:spcPts val="1050"/>
              </a:lnSpc>
              <a:spcAft>
                <a:spcPts val="300"/>
              </a:spcAft>
              <a:buNone/>
            </a:pPr>
            <a:r>
              <a:rPr lang="en-US" sz="750" b="1" dirty="0">
                <a:solidFill>
                  <a:srgbClr val="C9A227"/>
                </a:solidFill>
                <a:latin typeface="Arial" pitchFamily="34" charset="0"/>
                <a:ea typeface="Arial" pitchFamily="34" charset="-122"/>
                <a:cs typeface="Arial" pitchFamily="34" charset="-120"/>
              </a:rPr>
              <a:t>THE BIG IDEA</a:t>
            </a:r>
            <a:endParaRPr lang="en-US" sz="750" dirty="0"/>
          </a:p>
        </p:txBody>
      </p:sp>
      <p:sp>
        <p:nvSpPr>
          <p:cNvPr id="10" name="Text 8"/>
          <p:cNvSpPr/>
          <p:nvPr/>
        </p:nvSpPr>
        <p:spPr>
          <a:xfrm>
            <a:off x="390525" y="2306985"/>
            <a:ext cx="2720036" cy="266700"/>
          </a:xfrm>
          <a:prstGeom prst="rect">
            <a:avLst/>
          </a:prstGeom>
          <a:noFill/>
          <a:ln/>
        </p:spPr>
        <p:txBody>
          <a:bodyPr wrap="square" lIns="0" tIns="0" rIns="0" bIns="0" rtlCol="0" anchor="t"/>
          <a:lstStyle/>
          <a:p>
            <a:pPr algn="l" indent="0" marL="0">
              <a:lnSpc>
                <a:spcPts val="1050"/>
              </a:lnSpc>
              <a:buNone/>
            </a:pPr>
            <a:r>
              <a:rPr lang="en-US" sz="750" dirty="0">
                <a:solidFill>
                  <a:srgbClr val="FFFFFF">
                    <a:alpha val="80000"/>
                  </a:srgbClr>
                </a:solidFill>
                <a:latin typeface="Arial" pitchFamily="34" charset="0"/>
                <a:ea typeface="Arial" pitchFamily="34" charset="-122"/>
                <a:cs typeface="Arial" pitchFamily="34" charset="-120"/>
              </a:rPr>
              <a:t>VS Code's AI ecosystem offers something for every requirement — from Copilot to local inference.</a:t>
            </a:r>
            <a:endParaRPr lang="en-US" sz="750" dirty="0"/>
          </a:p>
        </p:txBody>
      </p:sp>
      <p:sp>
        <p:nvSpPr>
          <p:cNvPr id="11" name="Text 9"/>
          <p:cNvSpPr/>
          <p:nvPr/>
        </p:nvSpPr>
        <p:spPr>
          <a:xfrm>
            <a:off x="266700" y="2935635"/>
            <a:ext cx="2885777" cy="898922"/>
          </a:xfrm>
          <a:prstGeom prst="rect">
            <a:avLst/>
          </a:prstGeom>
          <a:solidFill>
            <a:srgbClr val="FFFFFF">
              <a:alpha val="5000"/>
            </a:srgbClr>
          </a:solidFill>
          <a:ln/>
        </p:spPr>
        <p:txBody>
          <a:bodyPr wrap="square" rtlCol="0" anchor="ctr"/>
          <a:lstStyle/>
          <a:p>
            <a:pPr indent="0" marL="0">
              <a:buNone/>
            </a:pPr>
            <a:endParaRPr lang="en-US" dirty="0"/>
          </a:p>
        </p:txBody>
      </p:sp>
      <p:sp>
        <p:nvSpPr>
          <p:cNvPr id="12" name="Text 10"/>
          <p:cNvSpPr/>
          <p:nvPr/>
        </p:nvSpPr>
        <p:spPr>
          <a:xfrm>
            <a:off x="361950" y="3030885"/>
            <a:ext cx="2749183" cy="133350"/>
          </a:xfrm>
          <a:prstGeom prst="rect">
            <a:avLst/>
          </a:prstGeom>
          <a:noFill/>
          <a:ln/>
        </p:spPr>
        <p:txBody>
          <a:bodyPr wrap="square" lIns="0" tIns="0" rIns="0" bIns="0" rtlCol="0" anchor="t"/>
          <a:lstStyle/>
          <a:p>
            <a:pPr algn="l" indent="0" marL="0">
              <a:lnSpc>
                <a:spcPts val="1050"/>
              </a:lnSpc>
              <a:spcAft>
                <a:spcPts val="450"/>
              </a:spcAft>
              <a:buNone/>
            </a:pPr>
            <a:r>
              <a:rPr lang="en-US" sz="750" b="1" dirty="0">
                <a:solidFill>
                  <a:srgbClr val="FFFFFF"/>
                </a:solidFill>
                <a:latin typeface="Arial" pitchFamily="34" charset="0"/>
                <a:ea typeface="Arial" pitchFamily="34" charset="-122"/>
                <a:cs typeface="Arial" pitchFamily="34" charset="-120"/>
              </a:rPr>
              <a:t>EXTENSIONS COVERED</a:t>
            </a:r>
            <a:endParaRPr lang="en-US" sz="750" dirty="0"/>
          </a:p>
        </p:txBody>
      </p:sp>
      <p:sp>
        <p:nvSpPr>
          <p:cNvPr id="13" name="Text 11"/>
          <p:cNvSpPr/>
          <p:nvPr/>
        </p:nvSpPr>
        <p:spPr>
          <a:xfrm>
            <a:off x="361950" y="3221385"/>
            <a:ext cx="2749183" cy="517922"/>
          </a:xfrm>
          <a:prstGeom prst="rect">
            <a:avLst/>
          </a:prstGeom>
          <a:noFill/>
          <a:ln/>
        </p:spPr>
        <p:txBody>
          <a:bodyPr wrap="square" lIns="0" tIns="0" rIns="0" bIns="0" rtlCol="0" anchor="t"/>
          <a:lstStyle/>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GitHub Copilot</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Continue.dev</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Cline, Cody, Tabnine</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Amazon Q, CodeGPT</a:t>
            </a:r>
            <a:endParaRPr lang="en-US" sz="600" dirty="0"/>
          </a:p>
        </p:txBody>
      </p:sp>
      <p:sp>
        <p:nvSpPr>
          <p:cNvPr id="14" name="Text 12"/>
          <p:cNvSpPr/>
          <p:nvPr/>
        </p:nvSpPr>
        <p:spPr>
          <a:xfrm>
            <a:off x="266700" y="4082207"/>
            <a:ext cx="2885777" cy="578941"/>
          </a:xfrm>
          <a:prstGeom prst="rect">
            <a:avLst/>
          </a:prstGeom>
          <a:solidFill>
            <a:srgbClr val="FFFFFF">
              <a:alpha val="5000"/>
            </a:srgbClr>
          </a:solidFill>
          <a:ln/>
        </p:spPr>
        <p:txBody>
          <a:bodyPr wrap="square" rtlCol="0" anchor="ctr"/>
          <a:lstStyle/>
          <a:p>
            <a:pPr indent="0" marL="0">
              <a:buNone/>
            </a:pPr>
            <a:endParaRPr lang="en-US" dirty="0"/>
          </a:p>
        </p:txBody>
      </p:sp>
      <p:sp>
        <p:nvSpPr>
          <p:cNvPr id="15" name="Text 13"/>
          <p:cNvSpPr/>
          <p:nvPr/>
        </p:nvSpPr>
        <p:spPr>
          <a:xfrm>
            <a:off x="361950" y="4177457"/>
            <a:ext cx="2749183" cy="388441"/>
          </a:xfrm>
          <a:prstGeom prst="rect">
            <a:avLst/>
          </a:prstGeom>
          <a:noFill/>
          <a:ln/>
        </p:spPr>
        <p:txBody>
          <a:bodyPr wrap="square" lIns="0" tIns="0" rIns="0" bIns="0" rtlCol="0" anchor="t"/>
          <a:lstStyle/>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Foundry Local</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AI Toolkit</a:t>
            </a:r>
            <a:endParaRPr lang="en-US" sz="600" dirty="0"/>
          </a:p>
          <a:p>
            <a:pPr algn="l" indent="0" marL="0">
              <a:lnSpc>
                <a:spcPts val="1020"/>
              </a:lnSpc>
              <a:buNone/>
            </a:pPr>
            <a:r>
              <a:rPr lang="en-US" sz="600" dirty="0">
                <a:solidFill>
                  <a:srgbClr val="FFFFFF">
                    <a:alpha val="50000"/>
                  </a:srgbClr>
                </a:solidFill>
                <a:latin typeface="Arial" pitchFamily="34" charset="0"/>
                <a:ea typeface="Arial" pitchFamily="34" charset="-122"/>
                <a:cs typeface="Arial" pitchFamily="34" charset="-120"/>
              </a:rPr>
              <a:t> Ollama / LM Studio</a:t>
            </a:r>
            <a:endParaRPr lang="en-US" sz="600" dirty="0"/>
          </a:p>
        </p:txBody>
      </p:sp>
      <p:sp>
        <p:nvSpPr>
          <p:cNvPr id="16" name="Text 14"/>
          <p:cNvSpPr/>
          <p:nvPr/>
        </p:nvSpPr>
        <p:spPr>
          <a:xfrm>
            <a:off x="3571577" y="0"/>
            <a:ext cx="5572423" cy="5143500"/>
          </a:xfrm>
          <a:prstGeom prst="rect">
            <a:avLst/>
          </a:prstGeom>
          <a:solidFill>
            <a:srgbClr val="F7F8FA"/>
          </a:solidFill>
          <a:ln/>
        </p:spPr>
        <p:txBody>
          <a:bodyPr wrap="square" rtlCol="0" anchor="ctr"/>
          <a:lstStyle/>
          <a:p>
            <a:pPr indent="0" marL="0">
              <a:buNone/>
            </a:pPr>
            <a:endParaRPr lang="en-US" dirty="0"/>
          </a:p>
        </p:txBody>
      </p:sp>
      <p:sp>
        <p:nvSpPr>
          <p:cNvPr id="17" name="Text 15"/>
          <p:cNvSpPr/>
          <p:nvPr/>
        </p:nvSpPr>
        <p:spPr>
          <a:xfrm>
            <a:off x="3838277" y="851743"/>
            <a:ext cx="5139803" cy="159990"/>
          </a:xfrm>
          <a:prstGeom prst="rect">
            <a:avLst/>
          </a:prstGeom>
          <a:noFill/>
          <a:ln/>
        </p:spPr>
        <p:txBody>
          <a:bodyPr wrap="square" lIns="0" tIns="0" rIns="0" bIns="0" rtlCol="0" anchor="t"/>
          <a:lstStyle/>
          <a:p>
            <a:pPr algn="l" indent="0" marL="0">
              <a:lnSpc>
                <a:spcPts val="1260"/>
              </a:lnSpc>
              <a:spcAft>
                <a:spcPts val="900"/>
              </a:spcAft>
              <a:buNone/>
            </a:pPr>
            <a:r>
              <a:rPr lang="en-US" sz="900" b="1" dirty="0">
                <a:solidFill>
                  <a:srgbClr val="1A1F2E"/>
                </a:solidFill>
                <a:latin typeface="Arial" pitchFamily="34" charset="0"/>
                <a:ea typeface="Arial" pitchFamily="34" charset="-122"/>
                <a:cs typeface="Arial" pitchFamily="34" charset="-120"/>
              </a:rPr>
              <a:t>DECISION GUIDE</a:t>
            </a:r>
            <a:endParaRPr lang="en-US" sz="900" dirty="0"/>
          </a:p>
        </p:txBody>
      </p:sp>
      <p:sp>
        <p:nvSpPr>
          <p:cNvPr id="18" name="Text 16"/>
          <p:cNvSpPr/>
          <p:nvPr/>
        </p:nvSpPr>
        <p:spPr>
          <a:xfrm>
            <a:off x="3838277" y="1278434"/>
            <a:ext cx="2471886" cy="811411"/>
          </a:xfrm>
          <a:prstGeom prst="rect">
            <a:avLst/>
          </a:prstGeom>
          <a:solidFill>
            <a:srgbClr val="FFFFFF"/>
          </a:solidFill>
          <a:ln/>
        </p:spPr>
        <p:txBody>
          <a:bodyPr wrap="square" rtlCol="0" anchor="ctr"/>
          <a:lstStyle/>
          <a:p>
            <a:pPr indent="0" marL="0">
              <a:buNone/>
            </a:pPr>
            <a:endParaRPr lang="en-US" dirty="0"/>
          </a:p>
        </p:txBody>
      </p:sp>
      <p:sp>
        <p:nvSpPr>
          <p:cNvPr id="19" name="Shape 17"/>
          <p:cNvSpPr/>
          <p:nvPr/>
        </p:nvSpPr>
        <p:spPr>
          <a:xfrm>
            <a:off x="3852565" y="1278434"/>
            <a:ext cx="0" cy="811411"/>
          </a:xfrm>
          <a:prstGeom prst="line">
            <a:avLst/>
          </a:prstGeom>
          <a:noFill/>
          <a:ln w="28575">
            <a:solidFill>
              <a:srgbClr val="C9A227"/>
            </a:solidFill>
            <a:prstDash val="solid"/>
          </a:ln>
        </p:spPr>
      </p:sp>
      <p:sp>
        <p:nvSpPr>
          <p:cNvPr id="20" name="Text 18"/>
          <p:cNvSpPr/>
          <p:nvPr/>
        </p:nvSpPr>
        <p:spPr>
          <a:xfrm>
            <a:off x="3981152" y="1392734"/>
            <a:ext cx="2259006" cy="266700"/>
          </a:xfrm>
          <a:prstGeom prst="rect">
            <a:avLst/>
          </a:prstGeom>
          <a:noFill/>
          <a:ln/>
        </p:spPr>
        <p:txBody>
          <a:bodyPr wrap="square" lIns="0" tIns="0" rIns="0" bIns="0" rtlCol="0" anchor="t"/>
          <a:lstStyle/>
          <a:p>
            <a:pPr algn="l" indent="0" marL="0">
              <a:lnSpc>
                <a:spcPts val="2100"/>
              </a:lnSpc>
              <a:buNone/>
            </a:pPr>
            <a:r>
              <a:rPr lang="en-US" sz="1500" b="1" dirty="0">
                <a:solidFill>
                  <a:srgbClr val="C9A227"/>
                </a:solidFill>
                <a:latin typeface="Arial" pitchFamily="34" charset="0"/>
                <a:ea typeface="Arial" pitchFamily="34" charset="-122"/>
                <a:cs typeface="Arial" pitchFamily="34" charset="-120"/>
              </a:rPr>
              <a:t>1</a:t>
            </a:r>
            <a:endParaRPr lang="en-US" sz="1500" dirty="0"/>
          </a:p>
        </p:txBody>
      </p:sp>
      <p:sp>
        <p:nvSpPr>
          <p:cNvPr id="21" name="Text 19"/>
          <p:cNvSpPr/>
          <p:nvPr/>
        </p:nvSpPr>
        <p:spPr>
          <a:xfrm>
            <a:off x="3981152" y="1707059"/>
            <a:ext cx="2259006" cy="133350"/>
          </a:xfrm>
          <a:prstGeom prst="rect">
            <a:avLst/>
          </a:prstGeom>
          <a:noFill/>
          <a:ln/>
        </p:spPr>
        <p:txBody>
          <a:bodyPr wrap="square" lIns="0" tIns="0" rIns="0" bIns="0" rtlCol="0" anchor="t"/>
          <a:lstStyle/>
          <a:p>
            <a:pPr algn="l" indent="0" marL="0">
              <a:lnSpc>
                <a:spcPts val="1050"/>
              </a:lnSpc>
              <a:spcBef>
                <a:spcPts val="375"/>
              </a:spcBef>
              <a:spcAft>
                <a:spcPts val="225"/>
              </a:spcAft>
              <a:buNone/>
            </a:pPr>
            <a:r>
              <a:rPr lang="en-US" sz="750" b="1" dirty="0">
                <a:solidFill>
                  <a:srgbClr val="1A1F2E"/>
                </a:solidFill>
                <a:latin typeface="Arial" pitchFamily="34" charset="0"/>
                <a:ea typeface="Arial" pitchFamily="34" charset="-122"/>
                <a:cs typeface="Arial" pitchFamily="34" charset="-120"/>
              </a:rPr>
              <a:t>Azure + Compliance</a:t>
            </a:r>
            <a:endParaRPr lang="en-US" sz="750" dirty="0"/>
          </a:p>
        </p:txBody>
      </p:sp>
      <p:sp>
        <p:nvSpPr>
          <p:cNvPr id="22" name="Text 20"/>
          <p:cNvSpPr/>
          <p:nvPr/>
        </p:nvSpPr>
        <p:spPr>
          <a:xfrm>
            <a:off x="3981152" y="1868984"/>
            <a:ext cx="2259006"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Copilot Enterprise or Continue.dev with Azure OpenAI keys.</a:t>
            </a:r>
            <a:endParaRPr lang="en-US" sz="600" dirty="0"/>
          </a:p>
        </p:txBody>
      </p:sp>
      <p:sp>
        <p:nvSpPr>
          <p:cNvPr id="23" name="Text 21"/>
          <p:cNvSpPr/>
          <p:nvPr/>
        </p:nvSpPr>
        <p:spPr>
          <a:xfrm>
            <a:off x="6405414" y="1278434"/>
            <a:ext cx="2471886" cy="811411"/>
          </a:xfrm>
          <a:prstGeom prst="rect">
            <a:avLst/>
          </a:prstGeom>
          <a:solidFill>
            <a:srgbClr val="FFFFFF"/>
          </a:solidFill>
          <a:ln/>
        </p:spPr>
        <p:txBody>
          <a:bodyPr wrap="square" rtlCol="0" anchor="ctr"/>
          <a:lstStyle/>
          <a:p>
            <a:pPr indent="0" marL="0">
              <a:buNone/>
            </a:pPr>
            <a:endParaRPr lang="en-US" dirty="0"/>
          </a:p>
        </p:txBody>
      </p:sp>
      <p:sp>
        <p:nvSpPr>
          <p:cNvPr id="24" name="Shape 22"/>
          <p:cNvSpPr/>
          <p:nvPr/>
        </p:nvSpPr>
        <p:spPr>
          <a:xfrm>
            <a:off x="6419701" y="1278434"/>
            <a:ext cx="0" cy="811411"/>
          </a:xfrm>
          <a:prstGeom prst="line">
            <a:avLst/>
          </a:prstGeom>
          <a:noFill/>
          <a:ln w="28575">
            <a:solidFill>
              <a:srgbClr val="C9A227"/>
            </a:solidFill>
            <a:prstDash val="solid"/>
          </a:ln>
        </p:spPr>
      </p:sp>
      <p:sp>
        <p:nvSpPr>
          <p:cNvPr id="25" name="Text 23"/>
          <p:cNvSpPr/>
          <p:nvPr/>
        </p:nvSpPr>
        <p:spPr>
          <a:xfrm>
            <a:off x="6548289" y="1392734"/>
            <a:ext cx="2259006" cy="266700"/>
          </a:xfrm>
          <a:prstGeom prst="rect">
            <a:avLst/>
          </a:prstGeom>
          <a:noFill/>
          <a:ln/>
        </p:spPr>
        <p:txBody>
          <a:bodyPr wrap="square" lIns="0" tIns="0" rIns="0" bIns="0" rtlCol="0" anchor="t"/>
          <a:lstStyle/>
          <a:p>
            <a:pPr algn="l" indent="0" marL="0">
              <a:lnSpc>
                <a:spcPts val="2100"/>
              </a:lnSpc>
              <a:buNone/>
            </a:pPr>
            <a:r>
              <a:rPr lang="en-US" sz="1500" b="1" dirty="0">
                <a:solidFill>
                  <a:srgbClr val="C9A227"/>
                </a:solidFill>
                <a:latin typeface="Arial" pitchFamily="34" charset="0"/>
                <a:ea typeface="Arial" pitchFamily="34" charset="-122"/>
                <a:cs typeface="Arial" pitchFamily="34" charset="-120"/>
              </a:rPr>
              <a:t>2</a:t>
            </a:r>
            <a:endParaRPr lang="en-US" sz="1500" dirty="0"/>
          </a:p>
        </p:txBody>
      </p:sp>
      <p:sp>
        <p:nvSpPr>
          <p:cNvPr id="26" name="Text 24"/>
          <p:cNvSpPr/>
          <p:nvPr/>
        </p:nvSpPr>
        <p:spPr>
          <a:xfrm>
            <a:off x="6548289" y="1707059"/>
            <a:ext cx="2259006" cy="133350"/>
          </a:xfrm>
          <a:prstGeom prst="rect">
            <a:avLst/>
          </a:prstGeom>
          <a:noFill/>
          <a:ln/>
        </p:spPr>
        <p:txBody>
          <a:bodyPr wrap="square" lIns="0" tIns="0" rIns="0" bIns="0" rtlCol="0" anchor="t"/>
          <a:lstStyle/>
          <a:p>
            <a:pPr algn="l" indent="0" marL="0">
              <a:lnSpc>
                <a:spcPts val="1050"/>
              </a:lnSpc>
              <a:spcBef>
                <a:spcPts val="375"/>
              </a:spcBef>
              <a:spcAft>
                <a:spcPts val="225"/>
              </a:spcAft>
              <a:buNone/>
            </a:pPr>
            <a:r>
              <a:rPr lang="en-US" sz="750" b="1" dirty="0">
                <a:solidFill>
                  <a:srgbClr val="1A1F2E"/>
                </a:solidFill>
                <a:latin typeface="Arial" pitchFamily="34" charset="0"/>
                <a:ea typeface="Arial" pitchFamily="34" charset="-122"/>
                <a:cs typeface="Arial" pitchFamily="34" charset="-120"/>
              </a:rPr>
              <a:t>Multi-Cloud BYOK</a:t>
            </a:r>
            <a:endParaRPr lang="en-US" sz="750" dirty="0"/>
          </a:p>
        </p:txBody>
      </p:sp>
      <p:sp>
        <p:nvSpPr>
          <p:cNvPr id="27" name="Text 25"/>
          <p:cNvSpPr/>
          <p:nvPr/>
        </p:nvSpPr>
        <p:spPr>
          <a:xfrm>
            <a:off x="6548289" y="1868984"/>
            <a:ext cx="2259006"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Continue.dev or Cline — support Azure, AWS, Vertex, and local.</a:t>
            </a:r>
            <a:endParaRPr lang="en-US" sz="600" dirty="0"/>
          </a:p>
        </p:txBody>
      </p:sp>
      <p:sp>
        <p:nvSpPr>
          <p:cNvPr id="28" name="Text 26"/>
          <p:cNvSpPr/>
          <p:nvPr/>
        </p:nvSpPr>
        <p:spPr>
          <a:xfrm>
            <a:off x="3838277" y="2337495"/>
            <a:ext cx="2471886" cy="917972"/>
          </a:xfrm>
          <a:prstGeom prst="rect">
            <a:avLst/>
          </a:prstGeom>
          <a:solidFill>
            <a:srgbClr val="FFFFFF"/>
          </a:solidFill>
          <a:ln/>
        </p:spPr>
        <p:txBody>
          <a:bodyPr wrap="square" rtlCol="0" anchor="ctr"/>
          <a:lstStyle/>
          <a:p>
            <a:pPr indent="0" marL="0">
              <a:buNone/>
            </a:pPr>
            <a:endParaRPr lang="en-US" dirty="0"/>
          </a:p>
        </p:txBody>
      </p:sp>
      <p:sp>
        <p:nvSpPr>
          <p:cNvPr id="29" name="Shape 27"/>
          <p:cNvSpPr/>
          <p:nvPr/>
        </p:nvSpPr>
        <p:spPr>
          <a:xfrm>
            <a:off x="3852565" y="2337495"/>
            <a:ext cx="0" cy="917972"/>
          </a:xfrm>
          <a:prstGeom prst="line">
            <a:avLst/>
          </a:prstGeom>
          <a:noFill/>
          <a:ln w="28575">
            <a:solidFill>
              <a:srgbClr val="C9A227"/>
            </a:solidFill>
            <a:prstDash val="solid"/>
          </a:ln>
        </p:spPr>
      </p:sp>
      <p:sp>
        <p:nvSpPr>
          <p:cNvPr id="30" name="Text 28"/>
          <p:cNvSpPr/>
          <p:nvPr/>
        </p:nvSpPr>
        <p:spPr>
          <a:xfrm>
            <a:off x="3981152" y="2451795"/>
            <a:ext cx="2259006" cy="266700"/>
          </a:xfrm>
          <a:prstGeom prst="rect">
            <a:avLst/>
          </a:prstGeom>
          <a:noFill/>
          <a:ln/>
        </p:spPr>
        <p:txBody>
          <a:bodyPr wrap="square" lIns="0" tIns="0" rIns="0" bIns="0" rtlCol="0" anchor="t"/>
          <a:lstStyle/>
          <a:p>
            <a:pPr algn="l" indent="0" marL="0">
              <a:lnSpc>
                <a:spcPts val="2100"/>
              </a:lnSpc>
              <a:buNone/>
            </a:pPr>
            <a:r>
              <a:rPr lang="en-US" sz="1500" b="1" dirty="0">
                <a:solidFill>
                  <a:srgbClr val="C9A227"/>
                </a:solidFill>
                <a:latin typeface="Arial" pitchFamily="34" charset="0"/>
                <a:ea typeface="Arial" pitchFamily="34" charset="-122"/>
                <a:cs typeface="Arial" pitchFamily="34" charset="-120"/>
              </a:rPr>
              <a:t>3</a:t>
            </a:r>
            <a:endParaRPr lang="en-US" sz="1500" dirty="0"/>
          </a:p>
        </p:txBody>
      </p:sp>
      <p:sp>
        <p:nvSpPr>
          <p:cNvPr id="31" name="Text 29"/>
          <p:cNvSpPr/>
          <p:nvPr/>
        </p:nvSpPr>
        <p:spPr>
          <a:xfrm>
            <a:off x="3981152" y="2766120"/>
            <a:ext cx="2259006" cy="133350"/>
          </a:xfrm>
          <a:prstGeom prst="rect">
            <a:avLst/>
          </a:prstGeom>
          <a:noFill/>
          <a:ln/>
        </p:spPr>
        <p:txBody>
          <a:bodyPr wrap="square" lIns="0" tIns="0" rIns="0" bIns="0" rtlCol="0" anchor="t"/>
          <a:lstStyle/>
          <a:p>
            <a:pPr algn="l" indent="0" marL="0">
              <a:lnSpc>
                <a:spcPts val="1050"/>
              </a:lnSpc>
              <a:spcBef>
                <a:spcPts val="375"/>
              </a:spcBef>
              <a:spcAft>
                <a:spcPts val="225"/>
              </a:spcAft>
              <a:buNone/>
            </a:pPr>
            <a:r>
              <a:rPr lang="en-US" sz="750" b="1" dirty="0">
                <a:solidFill>
                  <a:srgbClr val="1A1F2E"/>
                </a:solidFill>
                <a:latin typeface="Arial" pitchFamily="34" charset="0"/>
                <a:ea typeface="Arial" pitchFamily="34" charset="-122"/>
                <a:cs typeface="Arial" pitchFamily="34" charset="-120"/>
              </a:rPr>
              <a:t>Air-Gapped / Local</a:t>
            </a:r>
            <a:endParaRPr lang="en-US" sz="750" dirty="0"/>
          </a:p>
        </p:txBody>
      </p:sp>
      <p:sp>
        <p:nvSpPr>
          <p:cNvPr id="32" name="Text 30"/>
          <p:cNvSpPr/>
          <p:nvPr/>
        </p:nvSpPr>
        <p:spPr>
          <a:xfrm>
            <a:off x="3981152" y="2928045"/>
            <a:ext cx="2259006" cy="213122"/>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Foundry Local, Ollama, or Tabnine self-hosted. No cloud required.</a:t>
            </a:r>
            <a:endParaRPr lang="en-US" sz="600" dirty="0"/>
          </a:p>
        </p:txBody>
      </p:sp>
      <p:sp>
        <p:nvSpPr>
          <p:cNvPr id="33" name="Text 31"/>
          <p:cNvSpPr/>
          <p:nvPr/>
        </p:nvSpPr>
        <p:spPr>
          <a:xfrm>
            <a:off x="6405414" y="2390775"/>
            <a:ext cx="2471886" cy="811411"/>
          </a:xfrm>
          <a:prstGeom prst="rect">
            <a:avLst/>
          </a:prstGeom>
          <a:solidFill>
            <a:srgbClr val="FFFFFF"/>
          </a:solidFill>
          <a:ln/>
        </p:spPr>
        <p:txBody>
          <a:bodyPr wrap="square" rtlCol="0" anchor="ctr"/>
          <a:lstStyle/>
          <a:p>
            <a:pPr indent="0" marL="0">
              <a:buNone/>
            </a:pPr>
            <a:endParaRPr lang="en-US" dirty="0"/>
          </a:p>
        </p:txBody>
      </p:sp>
      <p:sp>
        <p:nvSpPr>
          <p:cNvPr id="34" name="Shape 32"/>
          <p:cNvSpPr/>
          <p:nvPr/>
        </p:nvSpPr>
        <p:spPr>
          <a:xfrm>
            <a:off x="6419701" y="2390775"/>
            <a:ext cx="0" cy="811411"/>
          </a:xfrm>
          <a:prstGeom prst="line">
            <a:avLst/>
          </a:prstGeom>
          <a:noFill/>
          <a:ln w="28575">
            <a:solidFill>
              <a:srgbClr val="C9A227"/>
            </a:solidFill>
            <a:prstDash val="solid"/>
          </a:ln>
        </p:spPr>
      </p:sp>
      <p:sp>
        <p:nvSpPr>
          <p:cNvPr id="35" name="Text 33"/>
          <p:cNvSpPr/>
          <p:nvPr/>
        </p:nvSpPr>
        <p:spPr>
          <a:xfrm>
            <a:off x="6548289" y="2505075"/>
            <a:ext cx="2259006" cy="266700"/>
          </a:xfrm>
          <a:prstGeom prst="rect">
            <a:avLst/>
          </a:prstGeom>
          <a:noFill/>
          <a:ln/>
        </p:spPr>
        <p:txBody>
          <a:bodyPr wrap="square" lIns="0" tIns="0" rIns="0" bIns="0" rtlCol="0" anchor="t"/>
          <a:lstStyle/>
          <a:p>
            <a:pPr algn="l" indent="0" marL="0">
              <a:lnSpc>
                <a:spcPts val="2100"/>
              </a:lnSpc>
              <a:buNone/>
            </a:pPr>
            <a:r>
              <a:rPr lang="en-US" sz="1500" b="1" dirty="0">
                <a:solidFill>
                  <a:srgbClr val="C9A227"/>
                </a:solidFill>
                <a:latin typeface="Arial" pitchFamily="34" charset="0"/>
                <a:ea typeface="Arial" pitchFamily="34" charset="-122"/>
                <a:cs typeface="Arial" pitchFamily="34" charset="-120"/>
              </a:rPr>
              <a:t>4</a:t>
            </a:r>
            <a:endParaRPr lang="en-US" sz="1500" dirty="0"/>
          </a:p>
        </p:txBody>
      </p:sp>
      <p:sp>
        <p:nvSpPr>
          <p:cNvPr id="36" name="Text 34"/>
          <p:cNvSpPr/>
          <p:nvPr/>
        </p:nvSpPr>
        <p:spPr>
          <a:xfrm>
            <a:off x="6548289" y="2819400"/>
            <a:ext cx="2259006" cy="133350"/>
          </a:xfrm>
          <a:prstGeom prst="rect">
            <a:avLst/>
          </a:prstGeom>
          <a:noFill/>
          <a:ln/>
        </p:spPr>
        <p:txBody>
          <a:bodyPr wrap="square" lIns="0" tIns="0" rIns="0" bIns="0" rtlCol="0" anchor="t"/>
          <a:lstStyle/>
          <a:p>
            <a:pPr algn="l" indent="0" marL="0">
              <a:lnSpc>
                <a:spcPts val="1050"/>
              </a:lnSpc>
              <a:spcBef>
                <a:spcPts val="375"/>
              </a:spcBef>
              <a:spcAft>
                <a:spcPts val="225"/>
              </a:spcAft>
              <a:buNone/>
            </a:pPr>
            <a:r>
              <a:rPr lang="en-US" sz="750" b="1" dirty="0">
                <a:solidFill>
                  <a:srgbClr val="1A1F2E"/>
                </a:solidFill>
                <a:latin typeface="Arial" pitchFamily="34" charset="0"/>
                <a:ea typeface="Arial" pitchFamily="34" charset="-122"/>
                <a:cs typeface="Arial" pitchFamily="34" charset="-120"/>
              </a:rPr>
              <a:t>Agentic Automation</a:t>
            </a:r>
            <a:endParaRPr lang="en-US" sz="750" dirty="0"/>
          </a:p>
        </p:txBody>
      </p:sp>
      <p:sp>
        <p:nvSpPr>
          <p:cNvPr id="37" name="Text 35"/>
          <p:cNvSpPr/>
          <p:nvPr/>
        </p:nvSpPr>
        <p:spPr>
          <a:xfrm>
            <a:off x="6548289" y="2981325"/>
            <a:ext cx="2259006" cy="106561"/>
          </a:xfrm>
          <a:prstGeom prst="rect">
            <a:avLst/>
          </a:prstGeom>
          <a:noFill/>
          <a:ln/>
        </p:spPr>
        <p:txBody>
          <a:bodyPr wrap="square" lIns="0" tIns="0" rIns="0" bIns="0" rtlCol="0" anchor="t"/>
          <a:lstStyle/>
          <a:p>
            <a:pPr algn="l" indent="0" marL="0">
              <a:lnSpc>
                <a:spcPts val="840"/>
              </a:lnSpc>
              <a:buNone/>
            </a:pPr>
            <a:r>
              <a:rPr lang="en-US" sz="600" dirty="0">
                <a:solidFill>
                  <a:srgbClr val="6B7280"/>
                </a:solidFill>
                <a:latin typeface="Arial" pitchFamily="34" charset="0"/>
                <a:ea typeface="Arial" pitchFamily="34" charset="-122"/>
                <a:cs typeface="Arial" pitchFamily="34" charset="-120"/>
              </a:rPr>
              <a:t>Cline for multi-step tasks with file/terminal access. Higher cost.</a:t>
            </a:r>
            <a:endParaRPr lang="en-US" sz="600" dirty="0"/>
          </a:p>
        </p:txBody>
      </p:sp>
      <p:sp>
        <p:nvSpPr>
          <p:cNvPr id="38" name="Text 36"/>
          <p:cNvSpPr/>
          <p:nvPr/>
        </p:nvSpPr>
        <p:spPr>
          <a:xfrm>
            <a:off x="3838277" y="3522166"/>
            <a:ext cx="5039023" cy="769590"/>
          </a:xfrm>
          <a:prstGeom prst="rect">
            <a:avLst/>
          </a:prstGeom>
          <a:solidFill>
            <a:srgbClr val="1A1F2E"/>
          </a:solidFill>
          <a:ln/>
        </p:spPr>
        <p:txBody>
          <a:bodyPr wrap="square" rtlCol="0" anchor="ctr"/>
          <a:lstStyle/>
          <a:p>
            <a:pPr indent="0" marL="0">
              <a:buNone/>
            </a:pPr>
            <a:endParaRPr lang="en-US" dirty="0"/>
          </a:p>
        </p:txBody>
      </p:sp>
      <p:sp>
        <p:nvSpPr>
          <p:cNvPr id="39" name="Text 37"/>
          <p:cNvSpPr/>
          <p:nvPr/>
        </p:nvSpPr>
        <p:spPr>
          <a:xfrm>
            <a:off x="3923904" y="3655516"/>
            <a:ext cx="4867769" cy="159990"/>
          </a:xfrm>
          <a:prstGeom prst="rect">
            <a:avLst/>
          </a:prstGeom>
          <a:noFill/>
          <a:ln/>
        </p:spPr>
        <p:txBody>
          <a:bodyPr wrap="square" lIns="0" tIns="0" rIns="0" bIns="0" rtlCol="0" anchor="t"/>
          <a:lstStyle/>
          <a:p>
            <a:pPr algn="ctr" indent="0" marL="0">
              <a:lnSpc>
                <a:spcPts val="1260"/>
              </a:lnSpc>
              <a:spcAft>
                <a:spcPts val="450"/>
              </a:spcAft>
              <a:buNone/>
            </a:pPr>
            <a:r>
              <a:rPr lang="en-US" sz="900" b="1" dirty="0">
                <a:solidFill>
                  <a:srgbClr val="C9A227"/>
                </a:solidFill>
                <a:latin typeface="Arial" pitchFamily="34" charset="0"/>
                <a:ea typeface="Arial" pitchFamily="34" charset="-122"/>
                <a:cs typeface="Arial" pitchFamily="34" charset="-120"/>
              </a:rPr>
              <a:t>VOICE + VS CODE + YOUR MODELS</a:t>
            </a:r>
            <a:endParaRPr lang="en-US" sz="900" dirty="0"/>
          </a:p>
        </p:txBody>
      </p:sp>
      <p:sp>
        <p:nvSpPr>
          <p:cNvPr id="40" name="Text 38"/>
          <p:cNvSpPr/>
          <p:nvPr/>
        </p:nvSpPr>
        <p:spPr>
          <a:xfrm>
            <a:off x="3923904" y="3872657"/>
            <a:ext cx="4867769" cy="285750"/>
          </a:xfrm>
          <a:prstGeom prst="rect">
            <a:avLst/>
          </a:prstGeom>
          <a:noFill/>
          <a:ln/>
        </p:spPr>
        <p:txBody>
          <a:bodyPr wrap="square" lIns="0" tIns="0" rIns="0" bIns="0" rtlCol="0" anchor="t"/>
          <a:lstStyle/>
          <a:p>
            <a:pPr algn="ctr"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SuperWhisper → VS Code → Azure/Local Models</a:t>
            </a:r>
            <a:endParaRPr lang="en-US" sz="750" dirty="0"/>
          </a:p>
          <a:p>
            <a:pPr algn="ctr" indent="0" marL="0">
              <a:lnSpc>
                <a:spcPts val="1125"/>
              </a:lnSpc>
              <a:buNone/>
            </a:pPr>
            <a:r>
              <a:rPr lang="en-US" sz="750" dirty="0">
                <a:solidFill>
                  <a:srgbClr val="FFFFFF">
                    <a:alpha val="80000"/>
                  </a:srgbClr>
                </a:solidFill>
                <a:latin typeface="Arial" pitchFamily="34" charset="0"/>
                <a:ea typeface="Arial" pitchFamily="34" charset="-122"/>
                <a:cs typeface="Arial" pitchFamily="34" charset="-120"/>
              </a:rPr>
              <a:t>Enterprise-grade voice-driven development with model flexibility.</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VS Code AI Ecosystem</dc:title>
  <dc:subject>Copilot, Extensions &amp; Local Models for Enterprise Development</dc:subject>
  <dc:creator>Austin Public Health</dc:creator>
  <cp:lastModifiedBy>Austin Public Health</cp:lastModifiedBy>
  <cp:revision>1</cp:revision>
  <dcterms:created xsi:type="dcterms:W3CDTF">2026-01-15T17:45:40Z</dcterms:created>
  <dcterms:modified xsi:type="dcterms:W3CDTF">2026-01-15T17:45:40Z</dcterms:modified>
</cp:coreProperties>
</file>