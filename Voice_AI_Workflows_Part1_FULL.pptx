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Lst>
  <p:notesMasterIdLst>
    <p:notesMasterId r:id="rId8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notesMaster" Target="notesMasters/notesMaster1.xml"/><Relationship Id="rId81" Type="http://schemas.openxmlformats.org/officeDocument/2006/relationships/presProps" Target="presProps.xml"/><Relationship Id="rId82" Type="http://schemas.openxmlformats.org/officeDocument/2006/relationships/viewProps" Target="viewProps.xml"/><Relationship Id="rId83" Type="http://schemas.openxmlformats.org/officeDocument/2006/relationships/theme" Target="theme/theme1.xml"/><Relationship Id="rId8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 Part 1 of our Voice-Driven AI Development Workflows series. Today we're covering setup, introduction, and tool overview. This 90-minute session will give you the foundation to start using voice-driven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our roadmap for the full series. Today is Part 1 focusing on understanding the tools. Part 2 will be hands-on practice with your own projects. Part 3 culminates in building a real meeting transcriber application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insight here is that we think faster than we type. Voice-driven development closes that gap. The quote from our research captures it well - keyboards are a bottleneck. Voice input lets you work at the speed of thought.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key benefits to highlight. Ergonomic benefits are significant for anyone typing all day. Productivity gains come from faster iteration. Multitasking becomes possible when your hands are free. And accessibility opens development to more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training isn't just for developers. Data scientists can dictate analysis scripts. Researchers and epidemiologists can draft reports while reviewing data. Even admin staff benefit from better dictation tools. Everyone here will find something useful.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our agenda for today. Note the time allocations - we'll spend most time on voice input tools since those are foundational. We'll end with security considerations which are critical for government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Now we're getting into the tools. The acoustic layer is your first point of contact - capturing your voice and turning it into text that AI can understand.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SuperWhisper is our primary recommendation. It now works on Mac, Windows, and iOS. Important distinction: it offers BOTH local AND cloud processing options. The free tier includes local models like Nano, Fast, and Standard - completely privacy-safe for PHI. Pro unlocks more powerful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why local processing matters. With SuperWhisper's local models, the entire flow stays on your machine. Compare this to cloud processing where your voice goes to external servers. For PHI and sensitive data, use local models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Mac installation is straightforward. You can use the App Store for automatic updates, or download directly from superwhisper.com. Note the system requirements: macOS 13+ with Apple Silicon M1-M4 for best local model performance. Intel Macs can use cloud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Windows installation launched December 2025. Download the installer from superwhisper.com, run through the setup wizard, and configure your default audio device. GPU acceleration is supported if you have an NVIDIA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tour the interface. On Mac, look for the menu bar icon. On Windows, it's in the system tray. The colored indicator shows recording status - gray for idle, red for recording, gold for processing. Click to access settings and mode selection.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SuperWhisper has four mode types. Voice Mode is pure transcription. Super Mode intelligently adapts output based on which app you're in. Note Mode structures your speech into organized lists. Custom Modes let you create your own prompts - 3 free, unlimited with Pro.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slide for understanding what you get FREE vs PRO. The free tier includes three local models that never send data off your device - perfect for PHI. Pro adds more powerful local models plus cloud options. For government work, the free local models may be all you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 tips for getting the most out of SuperWhisper. Speak naturally - don't robot-speak. Use natural pauses instead of saying punctuation. The hold-to-record hotkey gives you precise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Wispr Flow is our cross-platform alternative. It works on Mac, Windows, and iOS. There's a free tier with 2000 words per week. The key differentiator is context awareness - it auto-detects which app you're using and adjusts output formatting. Important: Wispr Flow is CLOUD-ONLY - there is no local processing option.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Installing Wispr Flow is simple. Download from wisprflow.ai, run the installer, and sign in. Free tier is 2000 words per week, Pro is $15/month for unlimited. Note: all platforms are cloud-based.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IMPORTANT limitation for government users. Unlike SuperWhisper, Wispr Flow does NOT offer local processing. Privacy Mode provides ZERO DATA RETENTION - your audio is not stored or used for training - but audio IS still sent to cloud servers. For true local processing, use SuperWhisper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Wispr Flow's killer features include context awareness, command mode for text transformation, and flow state optimization. It learns your patterns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Wispr Flow integrates deeply with Cursor and VS Code. It can detect what language you're coding in and adjust formatting accordingly.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Advanced settings let you customize hotkeys, auto-punctuation behavior, and language preferences. Take time to configure these for your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Side-by-side comparison of SuperWhisper vs Wispr Flow. KEY DIFFERENCE: SuperWhisper offers true local processing - audio never leaves your device. Wispr Flow is cloud-only - even with Privacy Mode, audio goes to servers. SuperWhisper is recommended for PHI. Wispr Flow excels at context-aware formatting for non-sensitive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comparison matrix includes native OS dictation options too. Key takeaway: for PHI safety, SuperWhisper with local models is the only voice tool that keeps audio fully on-device. Wispr Flow's Privacy Mode means zero retention, but audio still goes to cloud.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flowchart to help you choose. If you handle PHI or sensitive data, SuperWhisper with local models is the clear choice. Wispr Flow is excellent for non-sensitive work where you want the best context-aware formatting.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Now we move from voice input to AI assistants - the reasoning layer that turns your spoken intent into actual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 picture: Voice goes to transcription, then to an AI assistant, then becomes code. We're covering three categories: CLI agents, IDE extensions, and AI-native editors.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 Code is a terminal-based AI coding agent. It's different from chatting with Claude in a browser - this is an autonomous agent that can read your files, write code, and run commands.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Installing Claude Code requires Node.js 18+. Run npm install globally, then set your API key. First run will prompt for permissions.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commands to know: /help shows all commands, /clear resets context, /compact summarizes for long sessions, /init creates a CLAUDE.md file, /cost shows token usage.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CLAUDE.md is your project context file. Put it in your project root. Include architecture decisions, coding standards, file structure, and any constraints. Claude reads this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 Claude Code workflow is powerful. Dictate your intent with SuperWhisper, paste into terminal, Claude executes. The terminal interface pairs naturally with voice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VS Code extensions provide in-editor AI assistance. Continue.dev is open-source and configurable. GitHub Copilot is the industry standard. Cody focuses on codebase understanding.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enterprise compliance, configure VS Code to use Azure OpenAI endpoints. This keeps your code within your Azure tenant. Continue.dev supports custom endpoints natively.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Cursor is an AI-native code editor built on VS Code. Composer mode lets you describe changes across multiple files. Inline editing with Cmd+K is fast for quick fixes.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Comparison matrix for AI assistants. Claude Code excels at autonomous multi-file operations. VS Code is best for enterprise compliance. Cursor is fastest for inline editing.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recommendation: Claude Code for voice-driven development. The terminal interface is a natural fit for voice input. You dictate, paste, and Claude executes.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 Enterprise configuration. This is where we connect our tools to secure Azure endpoints.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Azure OpenAI is Microsoft's hosted version of OpenAI models. Key difference from direct OpenAI: your data stays in your Azure tenant. You need an Azure subscription and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Government cloud options: GCC for general government work, GCC-High for DoD and controlled unclassified information. Note the different domain: .azure.us instead of .azure.com.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Configuration involves setting environment variables for your endpoint URL and API key. Authentication can use API key or Azure AD depending on your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Azure AI Foundry, formerly Azure AI Studio, is Microsoft's unified AI development platform. It provides a single portal to access GPT-4, Claude, Llama, and other models through Azure's compliant infrastructure.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Ollama runs models locally on your machine. This is the ultimate in privacy - completely air-gapped. Good for experimenting but requires significant hardware.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Enterprise options summary. Azure OpenAI is recommended for most government use. Ollama for air-gapped requirements. Direct APIs only for non-sensitive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 Deep dive into CLI tools, specifically Claude Code's advanced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Slash commands are organized by function: session management, information queries, and actions. The most useful are /help, /clear, /compact, and /init.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Hooks let you run scripts automatically. PreToolUse runs before Claude takes an action. PostToolUse runs after. Notification hooks alert you to events.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MCP - Model Context Protocol - connects Claude to external systems. Examples include database access, API integrations, and file system extensions. Review permissions carefully.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Sub-agents let Claude delegate specialized tasks. For complex operations, Claude can spawn focused agents for research, testing, or specific file operations.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Safety features are built-in for good reason. Permission prompts for file access, command execution safeguards, and sensitive data detection. Don't bypass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Best practices summary: Use CLAUDE.md for context, leverage slash commands, set up hooks for your workflow, be thoughtful about MCP permissions.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6: CI/CD integration - connecting voice workflows to version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GitHub Actions can trigger Claude Code for automated tasks. Use cases include PR reviews, documentation generation, and code refactoring. The YAML workflow shows the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GitHub Copilot Enterprise adds custom models trained on your codebase, knowledge bases from your docs, and policy controls. Check with IT for availability.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7: Putting it all together into a complete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end-to-end flow: Speak your intent, transcribe with SuperWhisper or Wispr Flow, paste into Claude Code or your IDE, process and iterate, execute and deploy.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reference by role. Developers get the full stack. Data analysts focus on voice + notebooks. IT/DevOps use CI/CD integration. Everyone starts with voice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8: Security and compliance - critical for government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flow awareness diagram. Green is local and safe - SuperWhisper's free local models, local Ollama. Blue is your Azure tenant - verify BAA status. Red/Yellow is public cloud - Wispr Flow is cloud-based even with Privacy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PHI guidance: SAFE tools include SuperWhisper with local models (free tier works!) and Azure with BAA. CAUTION with Wispr Flow - Privacy Mode means zero retention but audio still goes to cloud. Not safe: direct OpenAI APIs, ChatGPT free tier, default cloud dictation.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mistakes to avoid. Don't paste PHI into public AI tools. Don't use cloud dictation for sensitive conversations. Don't skip privacy mode configuration.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checklist. Before starting: verify tool configuration, check privacy mode, confirm endpoint routing. Before each use: consider data sensitivity, choose appropriate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9: Wrapping up and preparing for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Pre-work for Part 2: Install SuperWhisper or Wispr Flow, install Claude Code, set up your API keys, identify a project to work on, bring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preview: Real hands-on exercises with your own projects. We'll troubleshoot issues together and share tips. You'll leave with working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Part 1 of 3 complete. Questions? Reach out anytime. See you in Part 2 for hands-on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Now we're getting into the hands-on portion. This is where we'll actually configure SuperWhisper for your specific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Initial setup walkthrough. These five steps get you from installation to your first successful dictation. The key is selecting a local model first for privacy, then testing to confirm it works. Watch for the status indicator colors.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effective AI instructions is crucial. The XML structure helps organize your prompt: role defines who the AI is, instructions specify what to do, requirements list constraints. Adding 2-3 examples dramatically improves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awareness lets your modes adapt to what you're doing. Application context detects which app is active, selected text passes highlighted content, clipboard provides reference material. Auto-activation means the right mode engages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and replacements fine-tune recognition. Vocabulary helps the AI recognize custom terms during transcription. Replacements correct errors after transcription - they're programmatic and 100% reliable. Keep vocabulary lists short.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4: Workshop time. We'll build five practical custom modes together. Each one is designed for a specific application context. You'll leave with ready-to-use configurations.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Enrichment Mode - our first mode. This is the KEY insight: SuperWhisper is an INPUT METHOD, not a code generator. This mode transforms your rambling speech into clear, structured prompts ready to paste into ANY AI tool - Claude, ChatGPT, Cursor, whatever you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Microsoft Teams Chat Mode - perfect for workplace messaging. Teams has no native dictation, so SuperWhisper fills this gap. The prompt is designed for short, professional messages - not formal emails. Watch how 'at Sarah' converts to '@Sarah' mentions.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Professional Email Mode - transforms rambling dictation into structured emails. When you select text before dictating, it treats that as the email you're replying to. Great for busy schedules when you need to respond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 Code Terminal Mode - optimized for giving detailed prompts to Claude. Voice is perfect for complex instructions that would be tedious to type. Copy an error to clipboard, dictate 'fix this error', paste to Claude.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switching demo - the magic of auto-activation. Watch the menu bar indicator as I switch from VS Code to Teams to Outlook to Terminal. Same hotkey, same natural speech, but output adapts to each context. Notice how quickly local models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why we chose SuperWhisper for this workshop. The free local models give us PHI-safe processing out of the box. Cross-platform support means everyone can participate regardless of their device. And the custom modes feature lets us build practical tools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Agentic Handoff Mode - the advanced pattern. This takes prompt enrichment further, specifically for AI coding agents. Instead of just cleaning up your speech, it structures your task with objective, scope, constraints, and success criteria. AI agents like Claude Code perform significantly better when given this structured format versus rambling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Slide-37-image-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Slide-44-image-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Slide-51-image-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Slide-54-image-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Slide-57-image-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Slide-62-image-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Slide-66-image-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Slide-71-image-1.pn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var/folders/8s/qp6qfsr90ml5q7fb2n2ptwch0000gn/T/rasterized-gradient-7834b0cc.png">    </p:cNvPr>
          <p:cNvPicPr>
            <a:picLocks noChangeAspect="1"/>
          </p:cNvPicPr>
          <p:nvPr/>
        </p:nvPicPr>
        <p:blipFill>
          <a:blip r:embed="rId1"/>
          <a:stretch>
            <a:fillRect/>
          </a:stretch>
        </p:blipFill>
        <p:spPr>
          <a:xfrm>
            <a:off x="0" y="0"/>
            <a:ext cx="5850434" cy="5143500"/>
          </a:xfrm>
          <a:prstGeom prst="rect">
            <a:avLst/>
          </a:prstGeom>
        </p:spPr>
      </p:pic>
      <p:sp>
        <p:nvSpPr>
          <p:cNvPr id="3" name="Text 0"/>
          <p:cNvSpPr/>
          <p:nvPr/>
        </p:nvSpPr>
        <p:spPr>
          <a:xfrm>
            <a:off x="457200" y="993577"/>
            <a:ext cx="5034754" cy="146596"/>
          </a:xfrm>
          <a:prstGeom prst="rect">
            <a:avLst/>
          </a:prstGeom>
          <a:noFill/>
          <a:ln/>
        </p:spPr>
        <p:txBody>
          <a:bodyPr wrap="square" lIns="0" tIns="0" rIns="0" bIns="0" rtlCol="0" anchor="t"/>
          <a:lstStyle/>
          <a:p>
            <a:pPr algn="l" indent="0" marL="0">
              <a:lnSpc>
                <a:spcPts val="1155"/>
              </a:lnSpc>
              <a:spcAft>
                <a:spcPts val="1500"/>
              </a:spcAft>
              <a:buNone/>
            </a:pPr>
            <a:r>
              <a:rPr lang="en-US" sz="825" dirty="0">
                <a:solidFill>
                  <a:srgbClr val="C9A227"/>
                </a:solidFill>
                <a:latin typeface="Arial" pitchFamily="34" charset="0"/>
                <a:ea typeface="Arial" pitchFamily="34" charset="-122"/>
                <a:cs typeface="Arial" pitchFamily="34" charset="-120"/>
              </a:rPr>
              <a:t>AUSTIN PUBLIC HEALTH</a:t>
            </a:r>
            <a:endParaRPr lang="en-US" sz="825" dirty="0"/>
          </a:p>
        </p:txBody>
      </p:sp>
      <p:sp>
        <p:nvSpPr>
          <p:cNvPr id="4" name="Text 1"/>
          <p:cNvSpPr/>
          <p:nvPr/>
        </p:nvSpPr>
        <p:spPr>
          <a:xfrm>
            <a:off x="457200" y="1483072"/>
            <a:ext cx="3050667" cy="921841"/>
          </a:xfrm>
          <a:prstGeom prst="rect">
            <a:avLst/>
          </a:prstGeom>
          <a:noFill/>
          <a:ln/>
        </p:spPr>
        <p:txBody>
          <a:bodyPr wrap="square" lIns="0" tIns="0" rIns="0" bIns="0" rtlCol="0" anchor="t"/>
          <a:lstStyle/>
          <a:p>
            <a:pPr algn="l" indent="0" marL="0">
              <a:lnSpc>
                <a:spcPts val="3630"/>
              </a:lnSpc>
              <a:spcAft>
                <a:spcPts val="1200"/>
              </a:spcAft>
              <a:buNone/>
            </a:pPr>
            <a:r>
              <a:rPr lang="en-US" sz="3300" dirty="0">
                <a:solidFill>
                  <a:srgbClr val="FFFFFF"/>
                </a:solidFill>
                <a:latin typeface="Georgia" pitchFamily="34" charset="0"/>
                <a:ea typeface="Georgia" pitchFamily="34" charset="-122"/>
                <a:cs typeface="Georgia" pitchFamily="34" charset="-120"/>
              </a:rPr>
              <a:t>Voice-Driven AI Development</a:t>
            </a:r>
            <a:endParaRPr lang="en-US" sz="3300" dirty="0"/>
          </a:p>
        </p:txBody>
      </p:sp>
      <p:sp>
        <p:nvSpPr>
          <p:cNvPr id="5" name="Text 2"/>
          <p:cNvSpPr/>
          <p:nvPr/>
        </p:nvSpPr>
        <p:spPr>
          <a:xfrm>
            <a:off x="457200" y="2709714"/>
            <a:ext cx="5034754" cy="319980"/>
          </a:xfrm>
          <a:prstGeom prst="rect">
            <a:avLst/>
          </a:prstGeom>
          <a:noFill/>
          <a:ln/>
        </p:spPr>
        <p:txBody>
          <a:bodyPr wrap="square" lIns="0" tIns="0" rIns="0" bIns="0" rtlCol="0" anchor="t"/>
          <a:lstStyle/>
          <a:p>
            <a:pPr algn="l" indent="0" marL="0">
              <a:lnSpc>
                <a:spcPts val="2520"/>
              </a:lnSpc>
              <a:spcAft>
                <a:spcPts val="2400"/>
              </a:spcAft>
              <a:buNone/>
            </a:pPr>
            <a:r>
              <a:rPr lang="en-US" sz="1800" dirty="0">
                <a:solidFill>
                  <a:srgbClr val="C9A227"/>
                </a:solidFill>
                <a:latin typeface="Georgia" pitchFamily="34" charset="0"/>
                <a:ea typeface="Georgia" pitchFamily="34" charset="-122"/>
                <a:cs typeface="Georgia" pitchFamily="34" charset="-120"/>
              </a:rPr>
              <a:t>Workflows</a:t>
            </a:r>
            <a:endParaRPr lang="en-US" sz="1800" dirty="0"/>
          </a:p>
        </p:txBody>
      </p:sp>
      <p:sp>
        <p:nvSpPr>
          <p:cNvPr id="6" name="Text 3"/>
          <p:cNvSpPr/>
          <p:nvPr/>
        </p:nvSpPr>
        <p:spPr>
          <a:xfrm>
            <a:off x="457200" y="3486894"/>
            <a:ext cx="762000" cy="19050"/>
          </a:xfrm>
          <a:prstGeom prst="rect">
            <a:avLst/>
          </a:prstGeom>
          <a:solidFill>
            <a:srgbClr val="C9A227"/>
          </a:solidFill>
          <a:ln/>
        </p:spPr>
        <p:txBody>
          <a:bodyPr wrap="square" rtlCol="0" anchor="ctr"/>
          <a:lstStyle/>
          <a:p>
            <a:pPr indent="0" marL="0">
              <a:buNone/>
            </a:pPr>
            <a:endParaRPr lang="en-US" dirty="0"/>
          </a:p>
        </p:txBody>
      </p:sp>
      <p:sp>
        <p:nvSpPr>
          <p:cNvPr id="7" name="Text 4"/>
          <p:cNvSpPr/>
          <p:nvPr/>
        </p:nvSpPr>
        <p:spPr>
          <a:xfrm>
            <a:off x="457200" y="3963144"/>
            <a:ext cx="5034754" cy="186630"/>
          </a:xfrm>
          <a:prstGeom prst="rect">
            <a:avLst/>
          </a:prstGeom>
          <a:noFill/>
          <a:ln/>
        </p:spPr>
        <p:txBody>
          <a:bodyPr wrap="square" lIns="0" tIns="0" rIns="0" bIns="0" rtlCol="0" anchor="t"/>
          <a:lstStyle/>
          <a:p>
            <a:pPr algn="l" indent="0" marL="0">
              <a:lnSpc>
                <a:spcPts val="1470"/>
              </a:lnSpc>
              <a:buNone/>
            </a:pPr>
            <a:r>
              <a:rPr lang="en-US" sz="1050" dirty="0">
                <a:solidFill>
                  <a:srgbClr val="FFFFFF">
                    <a:alpha val="70000"/>
                  </a:srgbClr>
                </a:solidFill>
                <a:latin typeface="Arial" pitchFamily="34" charset="0"/>
                <a:ea typeface="Arial" pitchFamily="34" charset="-122"/>
                <a:cs typeface="Arial" pitchFamily="34" charset="-120"/>
              </a:rPr>
              <a:t>Part 1 of 3: Setup, Introduction &amp; Tool Overview</a:t>
            </a:r>
            <a:endParaRPr lang="en-US" sz="1050" dirty="0"/>
          </a:p>
        </p:txBody>
      </p:sp>
      <p:sp>
        <p:nvSpPr>
          <p:cNvPr id="8" name="Text 5"/>
          <p:cNvSpPr/>
          <p:nvPr/>
        </p:nvSpPr>
        <p:spPr>
          <a:xfrm>
            <a:off x="6002834" y="0"/>
            <a:ext cx="3141166" cy="5143500"/>
          </a:xfrm>
          <a:prstGeom prst="rect">
            <a:avLst/>
          </a:prstGeom>
          <a:solidFill>
            <a:srgbClr val="C9A227"/>
          </a:solidFill>
          <a:ln/>
        </p:spPr>
        <p:txBody>
          <a:bodyPr wrap="square" rtlCol="0" anchor="ctr"/>
          <a:lstStyle/>
          <a:p>
            <a:pPr indent="0" marL="0">
              <a:buNone/>
            </a:pPr>
            <a:endParaRPr lang="en-US" dirty="0"/>
          </a:p>
        </p:txBody>
      </p:sp>
      <p:sp>
        <p:nvSpPr>
          <p:cNvPr id="9" name="Text 6"/>
          <p:cNvSpPr/>
          <p:nvPr/>
        </p:nvSpPr>
        <p:spPr>
          <a:xfrm>
            <a:off x="7160812" y="1525042"/>
            <a:ext cx="825210" cy="960090"/>
          </a:xfrm>
          <a:prstGeom prst="rect">
            <a:avLst/>
          </a:prstGeom>
          <a:noFill/>
          <a:ln/>
        </p:spPr>
        <p:txBody>
          <a:bodyPr wrap="square" lIns="0" tIns="0" rIns="0" bIns="0" rtlCol="0" anchor="t"/>
          <a:lstStyle/>
          <a:p>
            <a:pPr algn="ctr" indent="0" marL="0">
              <a:lnSpc>
                <a:spcPts val="7560"/>
              </a:lnSpc>
              <a:buNone/>
            </a:pPr>
            <a:r>
              <a:rPr lang="en-US" sz="5400" dirty="0">
                <a:solidFill>
                  <a:srgbClr val="1A1F2E"/>
                </a:solidFill>
                <a:latin typeface="Georgia" pitchFamily="34" charset="0"/>
                <a:ea typeface="Georgia" pitchFamily="34" charset="-122"/>
                <a:cs typeface="Georgia" pitchFamily="34" charset="-120"/>
              </a:rPr>
              <a:t>90</a:t>
            </a:r>
            <a:endParaRPr lang="en-US" sz="5400" dirty="0"/>
          </a:p>
        </p:txBody>
      </p:sp>
      <p:sp>
        <p:nvSpPr>
          <p:cNvPr id="10" name="Text 7"/>
          <p:cNvSpPr/>
          <p:nvPr/>
        </p:nvSpPr>
        <p:spPr>
          <a:xfrm>
            <a:off x="7199370" y="2675632"/>
            <a:ext cx="748094" cy="186630"/>
          </a:xfrm>
          <a:prstGeom prst="rect">
            <a:avLst/>
          </a:prstGeom>
          <a:noFill/>
          <a:ln/>
        </p:spPr>
        <p:txBody>
          <a:bodyPr wrap="square" lIns="0" tIns="0" rIns="0" bIns="0" rtlCol="0" anchor="t"/>
          <a:lstStyle/>
          <a:p>
            <a:pPr algn="ctr" indent="0" marL="0">
              <a:lnSpc>
                <a:spcPts val="1470"/>
              </a:lnSpc>
              <a:spcBef>
                <a:spcPts val="300"/>
              </a:spcBef>
              <a:buNone/>
            </a:pPr>
            <a:r>
              <a:rPr lang="en-US" sz="1050" dirty="0">
                <a:solidFill>
                  <a:srgbClr val="1A1F2E"/>
                </a:solidFill>
                <a:latin typeface="Arial" pitchFamily="34" charset="0"/>
                <a:ea typeface="Arial" pitchFamily="34" charset="-122"/>
                <a:cs typeface="Arial" pitchFamily="34" charset="-120"/>
              </a:rPr>
              <a:t>MINUTES</a:t>
            </a:r>
            <a:endParaRPr lang="en-US" sz="1050" dirty="0"/>
          </a:p>
        </p:txBody>
      </p:sp>
      <p:sp>
        <p:nvSpPr>
          <p:cNvPr id="11" name="Text 8"/>
          <p:cNvSpPr/>
          <p:nvPr/>
        </p:nvSpPr>
        <p:spPr>
          <a:xfrm>
            <a:off x="6204594" y="4768304"/>
            <a:ext cx="2737646" cy="146596"/>
          </a:xfrm>
          <a:prstGeom prst="rect">
            <a:avLst/>
          </a:prstGeom>
          <a:noFill/>
          <a:ln/>
        </p:spPr>
        <p:txBody>
          <a:bodyPr wrap="square" lIns="0" tIns="0" rIns="0" bIns="0" rtlCol="0" anchor="t"/>
          <a:lstStyle/>
          <a:p>
            <a:pPr algn="ctr" indent="0" marL="0">
              <a:lnSpc>
                <a:spcPts val="1155"/>
              </a:lnSpc>
              <a:buNone/>
            </a:pPr>
            <a:r>
              <a:rPr lang="en-US" sz="825" dirty="0">
                <a:solidFill>
                  <a:srgbClr val="1A1F2E">
                    <a:alpha val="60000"/>
                  </a:srgbClr>
                </a:solidFill>
                <a:latin typeface="Arial" pitchFamily="34" charset="0"/>
                <a:ea typeface="Arial" pitchFamily="34" charset="-122"/>
                <a:cs typeface="Arial" pitchFamily="34" charset="-120"/>
              </a:rPr>
              <a:t>AI Technology Training Series</a:t>
            </a:r>
            <a:endParaRPr lang="en-US" sz="82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457200" y="304800"/>
            <a:ext cx="8394192" cy="146596"/>
          </a:xfrm>
          <a:prstGeom prst="rect">
            <a:avLst/>
          </a:prstGeom>
          <a:noFill/>
          <a:ln/>
        </p:spPr>
        <p:txBody>
          <a:bodyPr wrap="square" lIns="0" tIns="0" rIns="0" bIns="0" rtlCol="0" anchor="t"/>
          <a:lstStyle/>
          <a:p>
            <a:pPr algn="l" indent="0" marL="0">
              <a:lnSpc>
                <a:spcPts val="1155"/>
              </a:lnSpc>
              <a:spcAft>
                <a:spcPts val="600"/>
              </a:spcAft>
              <a:buNone/>
            </a:pPr>
            <a:r>
              <a:rPr lang="en-US" sz="825" dirty="0">
                <a:solidFill>
                  <a:srgbClr val="C9A227"/>
                </a:solidFill>
                <a:latin typeface="Arial" pitchFamily="34" charset="0"/>
                <a:ea typeface="Arial" pitchFamily="34" charset="-122"/>
                <a:cs typeface="Arial" pitchFamily="34" charset="-120"/>
              </a:rPr>
              <a:t>YOUR LEARNING JOURNEY</a:t>
            </a:r>
            <a:endParaRPr lang="en-US" sz="825" dirty="0"/>
          </a:p>
        </p:txBody>
      </p:sp>
      <p:sp>
        <p:nvSpPr>
          <p:cNvPr id="3" name="Text 1"/>
          <p:cNvSpPr/>
          <p:nvPr/>
        </p:nvSpPr>
        <p:spPr>
          <a:xfrm>
            <a:off x="457200" y="527596"/>
            <a:ext cx="6868859" cy="342900"/>
          </a:xfrm>
          <a:prstGeom prst="rect">
            <a:avLst/>
          </a:prstGeom>
          <a:noFill/>
          <a:ln/>
        </p:spPr>
        <p:txBody>
          <a:bodyPr wrap="square" lIns="0" tIns="0" rIns="0" bIns="0" rtlCol="0" anchor="t"/>
          <a:lstStyle/>
          <a:p>
            <a:pPr algn="l" indent="0" marL="0">
              <a:lnSpc>
                <a:spcPts val="2700"/>
              </a:lnSpc>
              <a:buNone/>
            </a:pPr>
            <a:r>
              <a:rPr lang="en-US" sz="2700" dirty="0">
                <a:solidFill>
                  <a:srgbClr val="1A1F2E"/>
                </a:solidFill>
                <a:latin typeface="Georgia" pitchFamily="34" charset="0"/>
                <a:ea typeface="Georgia" pitchFamily="34" charset="-122"/>
                <a:cs typeface="Georgia" pitchFamily="34" charset="-120"/>
              </a:rPr>
              <a:t>Three Sessions to Transform Your Workflow</a:t>
            </a:r>
            <a:endParaRPr lang="en-US" sz="2700" dirty="0"/>
          </a:p>
        </p:txBody>
      </p:sp>
      <p:sp>
        <p:nvSpPr>
          <p:cNvPr id="4" name="Text 2"/>
          <p:cNvSpPr/>
          <p:nvPr/>
        </p:nvSpPr>
        <p:spPr>
          <a:xfrm>
            <a:off x="457200" y="1415653"/>
            <a:ext cx="2603450" cy="3182689"/>
          </a:xfrm>
          <a:prstGeom prst="rect">
            <a:avLst/>
          </a:prstGeom>
          <a:solidFill>
            <a:srgbClr val="1A1F2E"/>
          </a:solidFill>
          <a:ln/>
        </p:spPr>
        <p:txBody>
          <a:bodyPr wrap="square" rtlCol="0" anchor="ctr"/>
          <a:lstStyle/>
          <a:p>
            <a:pPr indent="0" marL="0">
              <a:buNone/>
            </a:pPr>
            <a:endParaRPr lang="en-US" dirty="0"/>
          </a:p>
        </p:txBody>
      </p:sp>
      <p:sp>
        <p:nvSpPr>
          <p:cNvPr id="5" name="Text 3"/>
          <p:cNvSpPr/>
          <p:nvPr/>
        </p:nvSpPr>
        <p:spPr>
          <a:xfrm>
            <a:off x="685800" y="1320403"/>
            <a:ext cx="675382" cy="209550"/>
          </a:xfrm>
          <a:prstGeom prst="rect">
            <a:avLst/>
          </a:prstGeom>
          <a:solidFill>
            <a:srgbClr val="C9A227"/>
          </a:solidFill>
          <a:ln/>
        </p:spPr>
        <p:txBody>
          <a:bodyPr wrap="square" rtlCol="0" anchor="ctr"/>
          <a:lstStyle/>
          <a:p>
            <a:pPr indent="0" marL="0">
              <a:buNone/>
            </a:pPr>
            <a:endParaRPr lang="en-US" dirty="0"/>
          </a:p>
        </p:txBody>
      </p:sp>
      <p:sp>
        <p:nvSpPr>
          <p:cNvPr id="6" name="Text 4"/>
          <p:cNvSpPr/>
          <p:nvPr/>
        </p:nvSpPr>
        <p:spPr>
          <a:xfrm>
            <a:off x="838200" y="1358503"/>
            <a:ext cx="377994" cy="133350"/>
          </a:xfrm>
          <a:prstGeom prst="rect">
            <a:avLst/>
          </a:prstGeom>
          <a:noFill/>
          <a:ln/>
        </p:spPr>
        <p:txBody>
          <a:bodyPr wrap="square" lIns="0" tIns="0" rIns="0" bIns="0" rtlCol="0" anchor="t"/>
          <a:lstStyle/>
          <a:p>
            <a:pPr algn="l" indent="0" marL="0">
              <a:lnSpc>
                <a:spcPts val="1050"/>
              </a:lnSpc>
              <a:buNone/>
            </a:pPr>
            <a:r>
              <a:rPr lang="en-US" sz="750" b="1" dirty="0">
                <a:solidFill>
                  <a:srgbClr val="1A1F2E"/>
                </a:solidFill>
                <a:latin typeface="Arial" pitchFamily="34" charset="0"/>
                <a:ea typeface="Arial" pitchFamily="34" charset="-122"/>
                <a:cs typeface="Arial" pitchFamily="34" charset="-120"/>
              </a:rPr>
              <a:t>TODAY</a:t>
            </a:r>
            <a:endParaRPr lang="en-US" sz="750" dirty="0"/>
          </a:p>
        </p:txBody>
      </p:sp>
      <p:sp>
        <p:nvSpPr>
          <p:cNvPr id="7" name="Text 5"/>
          <p:cNvSpPr/>
          <p:nvPr/>
        </p:nvSpPr>
        <p:spPr>
          <a:xfrm>
            <a:off x="723900" y="1682353"/>
            <a:ext cx="2111451" cy="639961"/>
          </a:xfrm>
          <a:prstGeom prst="rect">
            <a:avLst/>
          </a:prstGeom>
          <a:noFill/>
          <a:ln/>
        </p:spPr>
        <p:txBody>
          <a:bodyPr wrap="square" lIns="0" tIns="0" rIns="0" bIns="0" rtlCol="0" anchor="t"/>
          <a:lstStyle/>
          <a:p>
            <a:pPr algn="l" indent="0" marL="0">
              <a:lnSpc>
                <a:spcPts val="5040"/>
              </a:lnSpc>
              <a:spcAft>
                <a:spcPts val="300"/>
              </a:spcAft>
              <a:buNone/>
            </a:pPr>
            <a:r>
              <a:rPr lang="en-US" sz="3600" dirty="0">
                <a:solidFill>
                  <a:srgbClr val="C9A227"/>
                </a:solidFill>
                <a:latin typeface="Georgia" pitchFamily="34" charset="0"/>
                <a:ea typeface="Georgia" pitchFamily="34" charset="-122"/>
                <a:cs typeface="Georgia" pitchFamily="34" charset="-120"/>
              </a:rPr>
              <a:t>01</a:t>
            </a:r>
            <a:endParaRPr lang="en-US" sz="3600" dirty="0"/>
          </a:p>
        </p:txBody>
      </p:sp>
      <p:sp>
        <p:nvSpPr>
          <p:cNvPr id="8" name="Text 6"/>
          <p:cNvSpPr/>
          <p:nvPr/>
        </p:nvSpPr>
        <p:spPr>
          <a:xfrm>
            <a:off x="723900" y="2512814"/>
            <a:ext cx="2111451" cy="239911"/>
          </a:xfrm>
          <a:prstGeom prst="rect">
            <a:avLst/>
          </a:prstGeom>
          <a:noFill/>
          <a:ln/>
        </p:spPr>
        <p:txBody>
          <a:bodyPr wrap="square" lIns="0" tIns="0" rIns="0" bIns="0" rtlCol="0" anchor="t"/>
          <a:lstStyle/>
          <a:p>
            <a:pPr algn="l" indent="0" marL="0">
              <a:lnSpc>
                <a:spcPts val="1890"/>
              </a:lnSpc>
              <a:spcAft>
                <a:spcPts val="1200"/>
              </a:spcAft>
              <a:buNone/>
            </a:pPr>
            <a:r>
              <a:rPr lang="en-US" sz="1350" dirty="0">
                <a:solidFill>
                  <a:srgbClr val="FFFFFF"/>
                </a:solidFill>
                <a:latin typeface="Georgia" pitchFamily="34" charset="0"/>
                <a:ea typeface="Georgia" pitchFamily="34" charset="-122"/>
                <a:cs typeface="Georgia" pitchFamily="34" charset="-120"/>
              </a:rPr>
              <a:t>Setup &amp; Tool Overview</a:t>
            </a:r>
            <a:endParaRPr lang="en-US" sz="1350" dirty="0"/>
          </a:p>
        </p:txBody>
      </p:sp>
      <p:sp>
        <p:nvSpPr>
          <p:cNvPr id="9" name="Text 7"/>
          <p:cNvSpPr/>
          <p:nvPr/>
        </p:nvSpPr>
        <p:spPr>
          <a:xfrm>
            <a:off x="723900" y="3057525"/>
            <a:ext cx="2111451" cy="822722"/>
          </a:xfrm>
          <a:prstGeom prst="rect">
            <a:avLst/>
          </a:prstGeom>
          <a:noFill/>
          <a:ln/>
        </p:spPr>
        <p:txBody>
          <a:bodyPr wrap="square" lIns="0" tIns="0" rIns="0" bIns="0" rtlCol="0" anchor="t"/>
          <a:lstStyle/>
          <a:p>
            <a:pPr algn="l" indent="0" marL="0">
              <a:lnSpc>
                <a:spcPts val="1620"/>
              </a:lnSpc>
              <a:buNone/>
            </a:pPr>
            <a:r>
              <a:rPr lang="en-US" sz="900" dirty="0">
                <a:solidFill>
                  <a:srgbClr val="FFFFFF">
                    <a:alpha val="60000"/>
                  </a:srgbClr>
                </a:solidFill>
                <a:latin typeface="Arial" pitchFamily="34" charset="0"/>
                <a:ea typeface="Arial" pitchFamily="34" charset="-122"/>
                <a:cs typeface="Arial" pitchFamily="34" charset="-120"/>
              </a:rPr>
              <a:t>Voice input tools</a:t>
            </a:r>
            <a:endParaRPr lang="en-US" sz="900" dirty="0"/>
          </a:p>
          <a:p>
            <a:pPr algn="l" indent="0" marL="0">
              <a:lnSpc>
                <a:spcPts val="1620"/>
              </a:lnSpc>
              <a:buNone/>
            </a:pPr>
            <a:r>
              <a:rPr lang="en-US" sz="900" dirty="0">
                <a:solidFill>
                  <a:srgbClr val="FFFFFF">
                    <a:alpha val="60000"/>
                  </a:srgbClr>
                </a:solidFill>
                <a:latin typeface="Arial" pitchFamily="34" charset="0"/>
                <a:ea typeface="Arial" pitchFamily="34" charset="-122"/>
                <a:cs typeface="Arial" pitchFamily="34" charset="-120"/>
              </a:rPr>
              <a:t>AI coding assistants</a:t>
            </a:r>
            <a:endParaRPr lang="en-US" sz="900" dirty="0"/>
          </a:p>
          <a:p>
            <a:pPr algn="l" indent="0" marL="0">
              <a:lnSpc>
                <a:spcPts val="1620"/>
              </a:lnSpc>
              <a:buNone/>
            </a:pPr>
            <a:r>
              <a:rPr lang="en-US" sz="900" dirty="0">
                <a:solidFill>
                  <a:srgbClr val="FFFFFF">
                    <a:alpha val="60000"/>
                  </a:srgbClr>
                </a:solidFill>
                <a:latin typeface="Arial" pitchFamily="34" charset="0"/>
                <a:ea typeface="Arial" pitchFamily="34" charset="-122"/>
                <a:cs typeface="Arial" pitchFamily="34" charset="-120"/>
              </a:rPr>
              <a:t>Enterprise configuration</a:t>
            </a:r>
            <a:endParaRPr lang="en-US" sz="900" dirty="0"/>
          </a:p>
          <a:p>
            <a:pPr algn="l" indent="0" marL="0">
              <a:lnSpc>
                <a:spcPts val="1620"/>
              </a:lnSpc>
              <a:buNone/>
            </a:pPr>
            <a:r>
              <a:rPr lang="en-US" sz="900" dirty="0">
                <a:solidFill>
                  <a:srgbClr val="FFFFFF">
                    <a:alpha val="60000"/>
                  </a:srgbClr>
                </a:solidFill>
                <a:latin typeface="Arial" pitchFamily="34" charset="0"/>
                <a:ea typeface="Arial" pitchFamily="34" charset="-122"/>
                <a:cs typeface="Arial" pitchFamily="34" charset="-120"/>
              </a:rPr>
              <a:t>Security fundamentals</a:t>
            </a:r>
            <a:endParaRPr lang="en-US" sz="900" dirty="0"/>
          </a:p>
        </p:txBody>
      </p:sp>
      <p:sp>
        <p:nvSpPr>
          <p:cNvPr id="10" name="Text 8"/>
          <p:cNvSpPr/>
          <p:nvPr/>
        </p:nvSpPr>
        <p:spPr>
          <a:xfrm>
            <a:off x="723900" y="4185047"/>
            <a:ext cx="2111451" cy="146596"/>
          </a:xfrm>
          <a:prstGeom prst="rect">
            <a:avLst/>
          </a:prstGeom>
          <a:noFill/>
          <a:ln/>
        </p:spPr>
        <p:txBody>
          <a:bodyPr wrap="square" lIns="0" tIns="0" rIns="0" bIns="0" rtlCol="0" anchor="t"/>
          <a:lstStyle/>
          <a:p>
            <a:pPr algn="l" indent="0" marL="0">
              <a:lnSpc>
                <a:spcPts val="1155"/>
              </a:lnSpc>
              <a:buNone/>
            </a:pPr>
            <a:r>
              <a:rPr lang="en-US" sz="825" dirty="0">
                <a:solidFill>
                  <a:srgbClr val="FFFFFF">
                    <a:alpha val="40000"/>
                  </a:srgbClr>
                </a:solidFill>
                <a:latin typeface="Arial" pitchFamily="34" charset="0"/>
                <a:ea typeface="Arial" pitchFamily="34" charset="-122"/>
                <a:cs typeface="Arial" pitchFamily="34" charset="-120"/>
              </a:rPr>
              <a:t>90 minutes</a:t>
            </a:r>
            <a:endParaRPr lang="en-US" sz="825" dirty="0"/>
          </a:p>
        </p:txBody>
      </p:sp>
      <p:sp>
        <p:nvSpPr>
          <p:cNvPr id="11" name="Text 9"/>
          <p:cNvSpPr/>
          <p:nvPr/>
        </p:nvSpPr>
        <p:spPr>
          <a:xfrm>
            <a:off x="3251150" y="1406128"/>
            <a:ext cx="2622500" cy="3201739"/>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2" name="Text 10"/>
          <p:cNvSpPr/>
          <p:nvPr/>
        </p:nvSpPr>
        <p:spPr>
          <a:xfrm>
            <a:off x="3527375" y="1682353"/>
            <a:ext cx="2111451" cy="639961"/>
          </a:xfrm>
          <a:prstGeom prst="rect">
            <a:avLst/>
          </a:prstGeom>
          <a:noFill/>
          <a:ln/>
        </p:spPr>
        <p:txBody>
          <a:bodyPr wrap="square" lIns="0" tIns="0" rIns="0" bIns="0" rtlCol="0" anchor="t"/>
          <a:lstStyle/>
          <a:p>
            <a:pPr algn="l" indent="0" marL="0">
              <a:lnSpc>
                <a:spcPts val="5040"/>
              </a:lnSpc>
              <a:spcAft>
                <a:spcPts val="300"/>
              </a:spcAft>
              <a:buNone/>
            </a:pPr>
            <a:r>
              <a:rPr lang="en-US" sz="3600" dirty="0">
                <a:solidFill>
                  <a:srgbClr val="C9A227"/>
                </a:solidFill>
                <a:latin typeface="Georgia" pitchFamily="34" charset="0"/>
                <a:ea typeface="Georgia" pitchFamily="34" charset="-122"/>
                <a:cs typeface="Georgia" pitchFamily="34" charset="-120"/>
              </a:rPr>
              <a:t>02</a:t>
            </a:r>
            <a:endParaRPr lang="en-US" sz="3600" dirty="0"/>
          </a:p>
        </p:txBody>
      </p:sp>
      <p:sp>
        <p:nvSpPr>
          <p:cNvPr id="13" name="Text 11"/>
          <p:cNvSpPr/>
          <p:nvPr/>
        </p:nvSpPr>
        <p:spPr>
          <a:xfrm>
            <a:off x="3527375" y="2512814"/>
            <a:ext cx="2111451" cy="239911"/>
          </a:xfrm>
          <a:prstGeom prst="rect">
            <a:avLst/>
          </a:prstGeom>
          <a:noFill/>
          <a:ln/>
        </p:spPr>
        <p:txBody>
          <a:bodyPr wrap="square" lIns="0" tIns="0" rIns="0" bIns="0" rtlCol="0" anchor="t"/>
          <a:lstStyle/>
          <a:p>
            <a:pPr algn="l" indent="0" marL="0">
              <a:lnSpc>
                <a:spcPts val="1890"/>
              </a:lnSpc>
              <a:spcAft>
                <a:spcPts val="1200"/>
              </a:spcAft>
              <a:buNone/>
            </a:pPr>
            <a:r>
              <a:rPr lang="en-US" sz="1350" dirty="0">
                <a:solidFill>
                  <a:srgbClr val="1A1F2E"/>
                </a:solidFill>
                <a:latin typeface="Georgia" pitchFamily="34" charset="0"/>
                <a:ea typeface="Georgia" pitchFamily="34" charset="-122"/>
                <a:cs typeface="Georgia" pitchFamily="34" charset="-120"/>
              </a:rPr>
              <a:t>Hands-On Practice</a:t>
            </a:r>
            <a:endParaRPr lang="en-US" sz="1350" dirty="0"/>
          </a:p>
        </p:txBody>
      </p:sp>
      <p:sp>
        <p:nvSpPr>
          <p:cNvPr id="14" name="Text 12"/>
          <p:cNvSpPr/>
          <p:nvPr/>
        </p:nvSpPr>
        <p:spPr>
          <a:xfrm>
            <a:off x="3527375" y="3057525"/>
            <a:ext cx="2111451" cy="822722"/>
          </a:xfrm>
          <a:prstGeom prst="rect">
            <a:avLst/>
          </a:prstGeom>
          <a:noFill/>
          <a:ln/>
        </p:spPr>
        <p:txBody>
          <a:bodyPr wrap="square" lIns="0" tIns="0" rIns="0" bIns="0" rtlCol="0" anchor="t"/>
          <a:lstStyle/>
          <a:p>
            <a:pPr algn="l" indent="0" marL="0">
              <a:lnSpc>
                <a:spcPts val="1620"/>
              </a:lnSpc>
              <a:buNone/>
            </a:pPr>
            <a:r>
              <a:rPr lang="en-US" sz="900" dirty="0">
                <a:solidFill>
                  <a:srgbClr val="6B7280"/>
                </a:solidFill>
                <a:latin typeface="Arial" pitchFamily="34" charset="0"/>
                <a:ea typeface="Arial" pitchFamily="34" charset="-122"/>
                <a:cs typeface="Arial" pitchFamily="34" charset="-120"/>
              </a:rPr>
              <a:t>Real workflow exercises</a:t>
            </a:r>
            <a:endParaRPr lang="en-US" sz="900" dirty="0"/>
          </a:p>
          <a:p>
            <a:pPr algn="l" indent="0" marL="0">
              <a:lnSpc>
                <a:spcPts val="1620"/>
              </a:lnSpc>
              <a:buNone/>
            </a:pPr>
            <a:r>
              <a:rPr lang="en-US" sz="900" dirty="0">
                <a:solidFill>
                  <a:srgbClr val="6B7280"/>
                </a:solidFill>
                <a:latin typeface="Arial" pitchFamily="34" charset="0"/>
                <a:ea typeface="Arial" pitchFamily="34" charset="-122"/>
                <a:cs typeface="Arial" pitchFamily="34" charset="-120"/>
              </a:rPr>
              <a:t>Your actual projects</a:t>
            </a:r>
            <a:endParaRPr lang="en-US" sz="900" dirty="0"/>
          </a:p>
          <a:p>
            <a:pPr algn="l" indent="0" marL="0">
              <a:lnSpc>
                <a:spcPts val="1620"/>
              </a:lnSpc>
              <a:buNone/>
            </a:pPr>
            <a:r>
              <a:rPr lang="en-US" sz="900" dirty="0">
                <a:solidFill>
                  <a:srgbClr val="6B7280"/>
                </a:solidFill>
                <a:latin typeface="Arial" pitchFamily="34" charset="0"/>
                <a:ea typeface="Arial" pitchFamily="34" charset="-122"/>
                <a:cs typeface="Arial" pitchFamily="34" charset="-120"/>
              </a:rPr>
              <a:t>Troubleshooting tips</a:t>
            </a:r>
            <a:endParaRPr lang="en-US" sz="900" dirty="0"/>
          </a:p>
          <a:p>
            <a:pPr algn="l" indent="0" marL="0">
              <a:lnSpc>
                <a:spcPts val="1620"/>
              </a:lnSpc>
              <a:buNone/>
            </a:pPr>
            <a:r>
              <a:rPr lang="en-US" sz="900" dirty="0">
                <a:solidFill>
                  <a:srgbClr val="6B7280"/>
                </a:solidFill>
                <a:latin typeface="Arial" pitchFamily="34" charset="0"/>
                <a:ea typeface="Arial" pitchFamily="34" charset="-122"/>
                <a:cs typeface="Arial" pitchFamily="34" charset="-120"/>
              </a:rPr>
              <a:t>Productivity shortcuts</a:t>
            </a:r>
            <a:endParaRPr lang="en-US" sz="900" dirty="0"/>
          </a:p>
        </p:txBody>
      </p:sp>
      <p:sp>
        <p:nvSpPr>
          <p:cNvPr id="15" name="Text 13"/>
          <p:cNvSpPr/>
          <p:nvPr/>
        </p:nvSpPr>
        <p:spPr>
          <a:xfrm>
            <a:off x="3527375" y="4185047"/>
            <a:ext cx="2111451" cy="146596"/>
          </a:xfrm>
          <a:prstGeom prst="rect">
            <a:avLst/>
          </a:prstGeom>
          <a:noFill/>
          <a:ln/>
        </p:spPr>
        <p:txBody>
          <a:bodyPr wrap="square" lIns="0" tIns="0" rIns="0" bIns="0" rtlCol="0" anchor="t"/>
          <a:lstStyle/>
          <a:p>
            <a:pPr algn="l" indent="0" marL="0">
              <a:lnSpc>
                <a:spcPts val="1155"/>
              </a:lnSpc>
              <a:buNone/>
            </a:pPr>
            <a:r>
              <a:rPr lang="en-US" sz="825" dirty="0">
                <a:solidFill>
                  <a:srgbClr val="9CA3AF"/>
                </a:solidFill>
                <a:latin typeface="Arial" pitchFamily="34" charset="0"/>
                <a:ea typeface="Arial" pitchFamily="34" charset="-122"/>
                <a:cs typeface="Arial" pitchFamily="34" charset="-120"/>
              </a:rPr>
              <a:t>90 minutes</a:t>
            </a:r>
            <a:endParaRPr lang="en-US" sz="825" dirty="0"/>
          </a:p>
        </p:txBody>
      </p:sp>
      <p:sp>
        <p:nvSpPr>
          <p:cNvPr id="16" name="Text 14"/>
          <p:cNvSpPr/>
          <p:nvPr/>
        </p:nvSpPr>
        <p:spPr>
          <a:xfrm>
            <a:off x="6064151" y="1406128"/>
            <a:ext cx="2622500" cy="3201739"/>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7" name="Text 15"/>
          <p:cNvSpPr/>
          <p:nvPr/>
        </p:nvSpPr>
        <p:spPr>
          <a:xfrm>
            <a:off x="6340376" y="1682353"/>
            <a:ext cx="2111451" cy="639961"/>
          </a:xfrm>
          <a:prstGeom prst="rect">
            <a:avLst/>
          </a:prstGeom>
          <a:noFill/>
          <a:ln/>
        </p:spPr>
        <p:txBody>
          <a:bodyPr wrap="square" lIns="0" tIns="0" rIns="0" bIns="0" rtlCol="0" anchor="t"/>
          <a:lstStyle/>
          <a:p>
            <a:pPr algn="l" indent="0" marL="0">
              <a:lnSpc>
                <a:spcPts val="5040"/>
              </a:lnSpc>
              <a:spcAft>
                <a:spcPts val="300"/>
              </a:spcAft>
              <a:buNone/>
            </a:pPr>
            <a:r>
              <a:rPr lang="en-US" sz="3600" dirty="0">
                <a:solidFill>
                  <a:srgbClr val="C9A227"/>
                </a:solidFill>
                <a:latin typeface="Georgia" pitchFamily="34" charset="0"/>
                <a:ea typeface="Georgia" pitchFamily="34" charset="-122"/>
                <a:cs typeface="Georgia" pitchFamily="34" charset="-120"/>
              </a:rPr>
              <a:t>03</a:t>
            </a:r>
            <a:endParaRPr lang="en-US" sz="3600" dirty="0"/>
          </a:p>
        </p:txBody>
      </p:sp>
      <p:sp>
        <p:nvSpPr>
          <p:cNvPr id="18" name="Text 16"/>
          <p:cNvSpPr/>
          <p:nvPr/>
        </p:nvSpPr>
        <p:spPr>
          <a:xfrm>
            <a:off x="6340376" y="2512814"/>
            <a:ext cx="2111451" cy="239911"/>
          </a:xfrm>
          <a:prstGeom prst="rect">
            <a:avLst/>
          </a:prstGeom>
          <a:noFill/>
          <a:ln/>
        </p:spPr>
        <p:txBody>
          <a:bodyPr wrap="square" lIns="0" tIns="0" rIns="0" bIns="0" rtlCol="0" anchor="t"/>
          <a:lstStyle/>
          <a:p>
            <a:pPr algn="l" indent="0" marL="0">
              <a:lnSpc>
                <a:spcPts val="1890"/>
              </a:lnSpc>
              <a:spcAft>
                <a:spcPts val="1200"/>
              </a:spcAft>
              <a:buNone/>
            </a:pPr>
            <a:r>
              <a:rPr lang="en-US" sz="1350" dirty="0">
                <a:solidFill>
                  <a:srgbClr val="1A1F2E"/>
                </a:solidFill>
                <a:latin typeface="Georgia" pitchFamily="34" charset="0"/>
                <a:ea typeface="Georgia" pitchFamily="34" charset="-122"/>
                <a:cs typeface="Georgia" pitchFamily="34" charset="-120"/>
              </a:rPr>
              <a:t>Build a Transcriber</a:t>
            </a:r>
            <a:endParaRPr lang="en-US" sz="1350" dirty="0"/>
          </a:p>
        </p:txBody>
      </p:sp>
      <p:sp>
        <p:nvSpPr>
          <p:cNvPr id="19" name="Text 17"/>
          <p:cNvSpPr/>
          <p:nvPr/>
        </p:nvSpPr>
        <p:spPr>
          <a:xfrm>
            <a:off x="6340376" y="3057525"/>
            <a:ext cx="2111451" cy="822722"/>
          </a:xfrm>
          <a:prstGeom prst="rect">
            <a:avLst/>
          </a:prstGeom>
          <a:noFill/>
          <a:ln/>
        </p:spPr>
        <p:txBody>
          <a:bodyPr wrap="square" lIns="0" tIns="0" rIns="0" bIns="0" rtlCol="0" anchor="t"/>
          <a:lstStyle/>
          <a:p>
            <a:pPr algn="l" indent="0" marL="0">
              <a:lnSpc>
                <a:spcPts val="1620"/>
              </a:lnSpc>
              <a:buNone/>
            </a:pPr>
            <a:r>
              <a:rPr lang="en-US" sz="900" dirty="0">
                <a:solidFill>
                  <a:srgbClr val="6B7280"/>
                </a:solidFill>
                <a:latin typeface="Arial" pitchFamily="34" charset="0"/>
                <a:ea typeface="Arial" pitchFamily="34" charset="-122"/>
                <a:cs typeface="Arial" pitchFamily="34" charset="-120"/>
              </a:rPr>
              <a:t>End-to-end project</a:t>
            </a:r>
            <a:endParaRPr lang="en-US" sz="900" dirty="0"/>
          </a:p>
          <a:p>
            <a:pPr algn="l" indent="0" marL="0">
              <a:lnSpc>
                <a:spcPts val="1620"/>
              </a:lnSpc>
              <a:buNone/>
            </a:pPr>
            <a:r>
              <a:rPr lang="en-US" sz="900" dirty="0">
                <a:solidFill>
                  <a:srgbClr val="6B7280"/>
                </a:solidFill>
                <a:latin typeface="Arial" pitchFamily="34" charset="0"/>
                <a:ea typeface="Arial" pitchFamily="34" charset="-122"/>
                <a:cs typeface="Arial" pitchFamily="34" charset="-120"/>
              </a:rPr>
              <a:t>Meeting transcription app</a:t>
            </a:r>
            <a:endParaRPr lang="en-US" sz="900" dirty="0"/>
          </a:p>
          <a:p>
            <a:pPr algn="l" indent="0" marL="0">
              <a:lnSpc>
                <a:spcPts val="1620"/>
              </a:lnSpc>
              <a:buNone/>
            </a:pPr>
            <a:r>
              <a:rPr lang="en-US" sz="900" dirty="0">
                <a:solidFill>
                  <a:srgbClr val="6B7280"/>
                </a:solidFill>
                <a:latin typeface="Arial" pitchFamily="34" charset="0"/>
                <a:ea typeface="Arial" pitchFamily="34" charset="-122"/>
                <a:cs typeface="Arial" pitchFamily="34" charset="-120"/>
              </a:rPr>
              <a:t>Voice-driven development</a:t>
            </a:r>
            <a:endParaRPr lang="en-US" sz="900" dirty="0"/>
          </a:p>
          <a:p>
            <a:pPr algn="l" indent="0" marL="0">
              <a:lnSpc>
                <a:spcPts val="1620"/>
              </a:lnSpc>
              <a:buNone/>
            </a:pPr>
            <a:r>
              <a:rPr lang="en-US" sz="900" dirty="0">
                <a:solidFill>
                  <a:srgbClr val="6B7280"/>
                </a:solidFill>
                <a:latin typeface="Arial" pitchFamily="34" charset="0"/>
                <a:ea typeface="Arial" pitchFamily="34" charset="-122"/>
                <a:cs typeface="Arial" pitchFamily="34" charset="-120"/>
              </a:rPr>
              <a:t>Deploy and share</a:t>
            </a:r>
            <a:endParaRPr lang="en-US" sz="900" dirty="0"/>
          </a:p>
        </p:txBody>
      </p:sp>
      <p:sp>
        <p:nvSpPr>
          <p:cNvPr id="20" name="Text 18"/>
          <p:cNvSpPr/>
          <p:nvPr/>
        </p:nvSpPr>
        <p:spPr>
          <a:xfrm>
            <a:off x="6340376" y="4185047"/>
            <a:ext cx="2111451" cy="146596"/>
          </a:xfrm>
          <a:prstGeom prst="rect">
            <a:avLst/>
          </a:prstGeom>
          <a:noFill/>
          <a:ln/>
        </p:spPr>
        <p:txBody>
          <a:bodyPr wrap="square" lIns="0" tIns="0" rIns="0" bIns="0" rtlCol="0" anchor="t"/>
          <a:lstStyle/>
          <a:p>
            <a:pPr algn="l" indent="0" marL="0">
              <a:lnSpc>
                <a:spcPts val="1155"/>
              </a:lnSpc>
              <a:buNone/>
            </a:pPr>
            <a:r>
              <a:rPr lang="en-US" sz="825" dirty="0">
                <a:solidFill>
                  <a:srgbClr val="9CA3AF"/>
                </a:solidFill>
                <a:latin typeface="Arial" pitchFamily="34" charset="0"/>
                <a:ea typeface="Arial" pitchFamily="34" charset="-122"/>
                <a:cs typeface="Arial" pitchFamily="34" charset="-120"/>
              </a:rPr>
              <a:t>90 minutes</a:t>
            </a:r>
            <a:endParaRPr lang="en-US" sz="8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4943475" cy="5143500"/>
          </a:xfrm>
          <a:prstGeom prst="rect">
            <a:avLst/>
          </a:prstGeom>
          <a:solidFill>
            <a:srgbClr val="1A1F2E"/>
          </a:solidFill>
          <a:ln/>
        </p:spPr>
        <p:txBody>
          <a:bodyPr wrap="square" rtlCol="0" anchor="ctr"/>
          <a:lstStyle/>
          <a:p>
            <a:pPr indent="0" marL="0">
              <a:buNone/>
            </a:pPr>
            <a:endParaRPr lang="en-US" dirty="0"/>
          </a:p>
        </p:txBody>
      </p:sp>
      <p:sp>
        <p:nvSpPr>
          <p:cNvPr id="3" name="Text 1"/>
          <p:cNvSpPr/>
          <p:nvPr/>
        </p:nvSpPr>
        <p:spPr>
          <a:xfrm>
            <a:off x="457200" y="1119188"/>
            <a:ext cx="4109657" cy="487561"/>
          </a:xfrm>
          <a:prstGeom prst="rect">
            <a:avLst/>
          </a:prstGeom>
          <a:noFill/>
          <a:ln/>
        </p:spPr>
        <p:txBody>
          <a:bodyPr wrap="square" lIns="0" tIns="0" rIns="0" bIns="0" rtlCol="0" anchor="t"/>
          <a:lstStyle/>
          <a:p>
            <a:pPr algn="l" indent="0" marL="0">
              <a:lnSpc>
                <a:spcPts val="3840"/>
              </a:lnSpc>
              <a:buNone/>
            </a:pPr>
            <a:r>
              <a:rPr lang="en-US" sz="4800" dirty="0">
                <a:solidFill>
                  <a:srgbClr val="C9A227"/>
                </a:solidFill>
                <a:latin typeface="Georgia" pitchFamily="34" charset="0"/>
                <a:ea typeface="Georgia" pitchFamily="34" charset="-122"/>
                <a:cs typeface="Georgia" pitchFamily="34" charset="-120"/>
              </a:rPr>
              <a:t>"</a:t>
            </a:r>
            <a:endParaRPr lang="en-US" sz="4800" dirty="0"/>
          </a:p>
        </p:txBody>
      </p:sp>
      <p:sp>
        <p:nvSpPr>
          <p:cNvPr id="4" name="Text 2"/>
          <p:cNvSpPr/>
          <p:nvPr/>
        </p:nvSpPr>
        <p:spPr>
          <a:xfrm>
            <a:off x="457200" y="1759148"/>
            <a:ext cx="4109657" cy="628650"/>
          </a:xfrm>
          <a:prstGeom prst="rect">
            <a:avLst/>
          </a:prstGeom>
          <a:noFill/>
          <a:ln/>
        </p:spPr>
        <p:txBody>
          <a:bodyPr wrap="square" lIns="0" tIns="0" rIns="0" bIns="0" rtlCol="0" anchor="t"/>
          <a:lstStyle/>
          <a:p>
            <a:pPr algn="l" indent="0" marL="0">
              <a:lnSpc>
                <a:spcPts val="2475"/>
              </a:lnSpc>
              <a:spcAft>
                <a:spcPts val="1800"/>
              </a:spcAft>
              <a:buNone/>
            </a:pPr>
            <a:r>
              <a:rPr lang="en-US" sz="1650" i="1" dirty="0">
                <a:solidFill>
                  <a:srgbClr val="FFFFFF"/>
                </a:solidFill>
                <a:latin typeface="Georgia" pitchFamily="34" charset="0"/>
                <a:ea typeface="Georgia" pitchFamily="34" charset="-122"/>
                <a:cs typeface="Georgia" pitchFamily="34" charset="-120"/>
              </a:rPr>
              <a:t>The keyboard is a bottleneck between your thoughts and your code.</a:t>
            </a:r>
            <a:endParaRPr lang="en-US" sz="1650" dirty="0"/>
          </a:p>
        </p:txBody>
      </p:sp>
      <p:sp>
        <p:nvSpPr>
          <p:cNvPr id="5" name="Text 3"/>
          <p:cNvSpPr/>
          <p:nvPr/>
        </p:nvSpPr>
        <p:spPr>
          <a:xfrm>
            <a:off x="457200" y="2768798"/>
            <a:ext cx="4109657" cy="314325"/>
          </a:xfrm>
          <a:prstGeom prst="rect">
            <a:avLst/>
          </a:prstGeom>
          <a:noFill/>
          <a:ln/>
        </p:spPr>
        <p:txBody>
          <a:bodyPr wrap="square" lIns="0" tIns="0" rIns="0" bIns="0" rtlCol="0" anchor="t"/>
          <a:lstStyle/>
          <a:p>
            <a:pPr algn="l" indent="0" marL="0">
              <a:lnSpc>
                <a:spcPts val="2475"/>
              </a:lnSpc>
              <a:spcAft>
                <a:spcPts val="2400"/>
              </a:spcAft>
              <a:buNone/>
            </a:pPr>
            <a:r>
              <a:rPr lang="en-US" sz="1650" i="1" dirty="0">
                <a:solidFill>
                  <a:srgbClr val="FFFFFF"/>
                </a:solidFill>
                <a:latin typeface="Georgia" pitchFamily="34" charset="0"/>
                <a:ea typeface="Georgia" pitchFamily="34" charset="-122"/>
                <a:cs typeface="Georgia" pitchFamily="34" charset="-120"/>
              </a:rPr>
              <a:t>Voice removes that bottleneck.</a:t>
            </a:r>
            <a:endParaRPr lang="en-US" sz="1650" dirty="0"/>
          </a:p>
        </p:txBody>
      </p:sp>
      <p:sp>
        <p:nvSpPr>
          <p:cNvPr id="6" name="Text 4"/>
          <p:cNvSpPr/>
          <p:nvPr/>
        </p:nvSpPr>
        <p:spPr>
          <a:xfrm>
            <a:off x="457200" y="3540323"/>
            <a:ext cx="457200" cy="19050"/>
          </a:xfrm>
          <a:prstGeom prst="rect">
            <a:avLst/>
          </a:prstGeom>
          <a:solidFill>
            <a:srgbClr val="C9A227"/>
          </a:solidFill>
          <a:ln/>
        </p:spPr>
        <p:txBody>
          <a:bodyPr wrap="square" rtlCol="0" anchor="ctr"/>
          <a:lstStyle/>
          <a:p>
            <a:pPr indent="0" marL="0">
              <a:buNone/>
            </a:pPr>
            <a:endParaRPr lang="en-US" dirty="0"/>
          </a:p>
        </p:txBody>
      </p:sp>
      <p:sp>
        <p:nvSpPr>
          <p:cNvPr id="7" name="Text 5"/>
          <p:cNvSpPr/>
          <p:nvPr/>
        </p:nvSpPr>
        <p:spPr>
          <a:xfrm>
            <a:off x="457200" y="3864173"/>
            <a:ext cx="4109657" cy="159990"/>
          </a:xfrm>
          <a:prstGeom prst="rect">
            <a:avLst/>
          </a:prstGeom>
          <a:noFill/>
          <a:ln/>
        </p:spPr>
        <p:txBody>
          <a:bodyPr wrap="square" lIns="0" tIns="0" rIns="0" bIns="0" rtlCol="0" anchor="t"/>
          <a:lstStyle/>
          <a:p>
            <a:pPr algn="l" indent="0" marL="0">
              <a:lnSpc>
                <a:spcPts val="1260"/>
              </a:lnSpc>
              <a:buNone/>
            </a:pPr>
            <a:r>
              <a:rPr lang="en-US" sz="900" dirty="0">
                <a:solidFill>
                  <a:srgbClr val="FFFFFF">
                    <a:alpha val="50000"/>
                  </a:srgbClr>
                </a:solidFill>
                <a:latin typeface="Arial" pitchFamily="34" charset="0"/>
                <a:ea typeface="Arial" pitchFamily="34" charset="-122"/>
                <a:cs typeface="Arial" pitchFamily="34" charset="-120"/>
              </a:rPr>
              <a:t>Voice-Driven AI Toolkit Research</a:t>
            </a:r>
            <a:endParaRPr lang="en-US" sz="900" dirty="0"/>
          </a:p>
        </p:txBody>
      </p:sp>
      <p:sp>
        <p:nvSpPr>
          <p:cNvPr id="8" name="Text 6"/>
          <p:cNvSpPr/>
          <p:nvPr/>
        </p:nvSpPr>
        <p:spPr>
          <a:xfrm>
            <a:off x="5095875" y="0"/>
            <a:ext cx="4048125" cy="5143500"/>
          </a:xfrm>
          <a:prstGeom prst="rect">
            <a:avLst/>
          </a:prstGeom>
          <a:solidFill>
            <a:srgbClr val="F7F8FA"/>
          </a:solidFill>
          <a:ln/>
        </p:spPr>
        <p:txBody>
          <a:bodyPr wrap="square" rtlCol="0" anchor="ctr"/>
          <a:lstStyle/>
          <a:p>
            <a:pPr indent="0" marL="0">
              <a:buNone/>
            </a:pPr>
            <a:endParaRPr lang="en-US" dirty="0"/>
          </a:p>
        </p:txBody>
      </p:sp>
      <p:sp>
        <p:nvSpPr>
          <p:cNvPr id="9" name="Text 7"/>
          <p:cNvSpPr/>
          <p:nvPr/>
        </p:nvSpPr>
        <p:spPr>
          <a:xfrm>
            <a:off x="5553075" y="922139"/>
            <a:ext cx="3196400" cy="685800"/>
          </a:xfrm>
          <a:prstGeom prst="rect">
            <a:avLst/>
          </a:prstGeom>
          <a:noFill/>
          <a:ln/>
        </p:spPr>
        <p:txBody>
          <a:bodyPr wrap="square" lIns="0" tIns="0" rIns="0" bIns="0" rtlCol="0" anchor="t"/>
          <a:lstStyle/>
          <a:p>
            <a:pPr algn="l" indent="0" marL="0">
              <a:lnSpc>
                <a:spcPts val="5400"/>
              </a:lnSpc>
              <a:buNone/>
            </a:pPr>
            <a:r>
              <a:rPr lang="en-US" sz="5400" dirty="0">
                <a:solidFill>
                  <a:srgbClr val="C9A227"/>
                </a:solidFill>
                <a:latin typeface="Georgia" pitchFamily="34" charset="0"/>
                <a:ea typeface="Georgia" pitchFamily="34" charset="-122"/>
                <a:cs typeface="Georgia" pitchFamily="34" charset="-120"/>
              </a:rPr>
              <a:t>150</a:t>
            </a:r>
            <a:endParaRPr lang="en-US" sz="5400" dirty="0"/>
          </a:p>
        </p:txBody>
      </p:sp>
      <p:sp>
        <p:nvSpPr>
          <p:cNvPr id="10" name="Text 8"/>
          <p:cNvSpPr/>
          <p:nvPr/>
        </p:nvSpPr>
        <p:spPr>
          <a:xfrm>
            <a:off x="5553075" y="1646039"/>
            <a:ext cx="3196400" cy="186630"/>
          </a:xfrm>
          <a:prstGeom prst="rect">
            <a:avLst/>
          </a:prstGeom>
          <a:noFill/>
          <a:ln/>
        </p:spPr>
        <p:txBody>
          <a:bodyPr wrap="square" lIns="0" tIns="0" rIns="0" bIns="0" rtlCol="0" anchor="t"/>
          <a:lstStyle/>
          <a:p>
            <a:pPr algn="l" indent="0" marL="0">
              <a:lnSpc>
                <a:spcPts val="1470"/>
              </a:lnSpc>
              <a:spcBef>
                <a:spcPts val="300"/>
              </a:spcBef>
              <a:buNone/>
            </a:pPr>
            <a:r>
              <a:rPr lang="en-US" sz="1050" dirty="0">
                <a:solidFill>
                  <a:srgbClr val="1A1F2E"/>
                </a:solidFill>
                <a:latin typeface="Arial" pitchFamily="34" charset="0"/>
                <a:ea typeface="Arial" pitchFamily="34" charset="-122"/>
                <a:cs typeface="Arial" pitchFamily="34" charset="-120"/>
              </a:rPr>
              <a:t>words per minute speaking</a:t>
            </a:r>
            <a:endParaRPr lang="en-US" sz="1050" dirty="0"/>
          </a:p>
        </p:txBody>
      </p:sp>
      <p:sp>
        <p:nvSpPr>
          <p:cNvPr id="11" name="Text 9"/>
          <p:cNvSpPr/>
          <p:nvPr/>
        </p:nvSpPr>
        <p:spPr>
          <a:xfrm>
            <a:off x="5553075" y="2137470"/>
            <a:ext cx="3133725" cy="9525"/>
          </a:xfrm>
          <a:prstGeom prst="rect">
            <a:avLst/>
          </a:prstGeom>
          <a:solidFill>
            <a:srgbClr val="E4E7ED"/>
          </a:solidFill>
          <a:ln/>
        </p:spPr>
        <p:txBody>
          <a:bodyPr wrap="square" rtlCol="0" anchor="ctr"/>
          <a:lstStyle/>
          <a:p>
            <a:pPr indent="0" marL="0">
              <a:buNone/>
            </a:pPr>
            <a:endParaRPr lang="en-US" dirty="0"/>
          </a:p>
        </p:txBody>
      </p:sp>
      <p:sp>
        <p:nvSpPr>
          <p:cNvPr id="12" name="Text 10"/>
          <p:cNvSpPr/>
          <p:nvPr/>
        </p:nvSpPr>
        <p:spPr>
          <a:xfrm>
            <a:off x="5553075" y="2451795"/>
            <a:ext cx="3196400" cy="685800"/>
          </a:xfrm>
          <a:prstGeom prst="rect">
            <a:avLst/>
          </a:prstGeom>
          <a:noFill/>
          <a:ln/>
        </p:spPr>
        <p:txBody>
          <a:bodyPr wrap="square" lIns="0" tIns="0" rIns="0" bIns="0" rtlCol="0" anchor="t"/>
          <a:lstStyle/>
          <a:p>
            <a:pPr algn="l" indent="0" marL="0">
              <a:lnSpc>
                <a:spcPts val="5400"/>
              </a:lnSpc>
              <a:buNone/>
            </a:pPr>
            <a:r>
              <a:rPr lang="en-US" sz="5400" dirty="0">
                <a:solidFill>
                  <a:srgbClr val="6B7280"/>
                </a:solidFill>
                <a:latin typeface="Georgia" pitchFamily="34" charset="0"/>
                <a:ea typeface="Georgia" pitchFamily="34" charset="-122"/>
                <a:cs typeface="Georgia" pitchFamily="34" charset="-120"/>
              </a:rPr>
              <a:t>40</a:t>
            </a:r>
            <a:endParaRPr lang="en-US" sz="5400" dirty="0"/>
          </a:p>
        </p:txBody>
      </p:sp>
      <p:sp>
        <p:nvSpPr>
          <p:cNvPr id="13" name="Text 11"/>
          <p:cNvSpPr/>
          <p:nvPr/>
        </p:nvSpPr>
        <p:spPr>
          <a:xfrm>
            <a:off x="5553075" y="3175695"/>
            <a:ext cx="3196400" cy="186630"/>
          </a:xfrm>
          <a:prstGeom prst="rect">
            <a:avLst/>
          </a:prstGeom>
          <a:noFill/>
          <a:ln/>
        </p:spPr>
        <p:txBody>
          <a:bodyPr wrap="square" lIns="0" tIns="0" rIns="0" bIns="0" rtlCol="0" anchor="t"/>
          <a:lstStyle/>
          <a:p>
            <a:pPr algn="l" indent="0" marL="0">
              <a:lnSpc>
                <a:spcPts val="1470"/>
              </a:lnSpc>
              <a:spcBef>
                <a:spcPts val="300"/>
              </a:spcBef>
              <a:buNone/>
            </a:pPr>
            <a:r>
              <a:rPr lang="en-US" sz="1050" dirty="0">
                <a:solidFill>
                  <a:srgbClr val="6B7280"/>
                </a:solidFill>
                <a:latin typeface="Arial" pitchFamily="34" charset="0"/>
                <a:ea typeface="Arial" pitchFamily="34" charset="-122"/>
                <a:cs typeface="Arial" pitchFamily="34" charset="-120"/>
              </a:rPr>
              <a:t>words per minute typing</a:t>
            </a:r>
            <a:endParaRPr lang="en-US" sz="1050" dirty="0"/>
          </a:p>
        </p:txBody>
      </p:sp>
      <p:sp>
        <p:nvSpPr>
          <p:cNvPr id="14" name="Text 12"/>
          <p:cNvSpPr/>
          <p:nvPr/>
        </p:nvSpPr>
        <p:spPr>
          <a:xfrm>
            <a:off x="5553075" y="3743325"/>
            <a:ext cx="3133725" cy="478036"/>
          </a:xfrm>
          <a:prstGeom prst="rect">
            <a:avLst/>
          </a:prstGeom>
          <a:solidFill>
            <a:srgbClr val="1A1F2E"/>
          </a:solidFill>
          <a:ln/>
        </p:spPr>
        <p:txBody>
          <a:bodyPr wrap="square" rtlCol="0" anchor="ctr"/>
          <a:lstStyle/>
          <a:p>
            <a:pPr indent="0" marL="0">
              <a:buNone/>
            </a:pPr>
            <a:endParaRPr lang="en-US" dirty="0"/>
          </a:p>
        </p:txBody>
      </p:sp>
      <p:sp>
        <p:nvSpPr>
          <p:cNvPr id="15" name="Text 13"/>
          <p:cNvSpPr/>
          <p:nvPr/>
        </p:nvSpPr>
        <p:spPr>
          <a:xfrm>
            <a:off x="5716048" y="3895725"/>
            <a:ext cx="2807779" cy="173236"/>
          </a:xfrm>
          <a:prstGeom prst="rect">
            <a:avLst/>
          </a:prstGeom>
          <a:noFill/>
          <a:ln/>
        </p:spPr>
        <p:txBody>
          <a:bodyPr wrap="square" lIns="0" tIns="0" rIns="0" bIns="0" rtlCol="0" anchor="t"/>
          <a:lstStyle/>
          <a:p>
            <a:pPr algn="ctr" indent="0" marL="0">
              <a:lnSpc>
                <a:spcPts val="1365"/>
              </a:lnSpc>
              <a:buNone/>
            </a:pPr>
            <a:r>
              <a:rPr lang="en-US" sz="975" dirty="0">
                <a:solidFill>
                  <a:srgbClr val="FFFFFF"/>
                </a:solidFill>
                <a:latin typeface="Arial" pitchFamily="34" charset="0"/>
                <a:ea typeface="Arial" pitchFamily="34" charset="-122"/>
                <a:cs typeface="Arial" pitchFamily="34" charset="-120"/>
              </a:rPr>
              <a:t>Work at the speed of thought</a:t>
            </a:r>
            <a:endParaRPr lang="en-US" sz="97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F2E"/>
        </a:solidFill>
      </p:bgPr>
    </p:bg>
    <p:spTree>
      <p:nvGrpSpPr>
        <p:cNvPr id="1" name=""/>
        <p:cNvGrpSpPr/>
        <p:nvPr/>
      </p:nvGrpSpPr>
      <p:grpSpPr>
        <a:xfrm>
          <a:off x="0" y="0"/>
          <a:ext cx="0" cy="0"/>
          <a:chOff x="0" y="0"/>
          <a:chExt cx="0" cy="0"/>
        </a:xfrm>
      </p:grpSpPr>
      <p:sp>
        <p:nvSpPr>
          <p:cNvPr id="2" name="Text 0"/>
          <p:cNvSpPr/>
          <p:nvPr/>
        </p:nvSpPr>
        <p:spPr>
          <a:xfrm>
            <a:off x="457200" y="342900"/>
            <a:ext cx="8394192" cy="146596"/>
          </a:xfrm>
          <a:prstGeom prst="rect">
            <a:avLst/>
          </a:prstGeom>
          <a:noFill/>
          <a:ln/>
        </p:spPr>
        <p:txBody>
          <a:bodyPr wrap="square" lIns="0" tIns="0" rIns="0" bIns="0" rtlCol="0" anchor="t"/>
          <a:lstStyle/>
          <a:p>
            <a:pPr algn="l" indent="0" marL="0">
              <a:lnSpc>
                <a:spcPts val="1155"/>
              </a:lnSpc>
              <a:spcAft>
                <a:spcPts val="600"/>
              </a:spcAft>
              <a:buNone/>
            </a:pPr>
            <a:r>
              <a:rPr lang="en-US" sz="825" dirty="0">
                <a:solidFill>
                  <a:srgbClr val="C9A227"/>
                </a:solidFill>
                <a:latin typeface="Arial" pitchFamily="34" charset="0"/>
                <a:ea typeface="Arial" pitchFamily="34" charset="-122"/>
                <a:cs typeface="Arial" pitchFamily="34" charset="-120"/>
              </a:rPr>
              <a:t>WHY IT MATTERS</a:t>
            </a:r>
            <a:endParaRPr lang="en-US" sz="825" dirty="0"/>
          </a:p>
        </p:txBody>
      </p:sp>
      <p:sp>
        <p:nvSpPr>
          <p:cNvPr id="3" name="Text 1"/>
          <p:cNvSpPr/>
          <p:nvPr/>
        </p:nvSpPr>
        <p:spPr>
          <a:xfrm>
            <a:off x="457200" y="565696"/>
            <a:ext cx="4206812" cy="342900"/>
          </a:xfrm>
          <a:prstGeom prst="rect">
            <a:avLst/>
          </a:prstGeom>
          <a:noFill/>
          <a:ln/>
        </p:spPr>
        <p:txBody>
          <a:bodyPr wrap="square" lIns="0" tIns="0" rIns="0" bIns="0" rtlCol="0" anchor="t"/>
          <a:lstStyle/>
          <a:p>
            <a:pPr algn="l" indent="0" marL="0">
              <a:lnSpc>
                <a:spcPts val="2700"/>
              </a:lnSpc>
              <a:buNone/>
            </a:pPr>
            <a:r>
              <a:rPr lang="en-US" sz="2700" dirty="0">
                <a:solidFill>
                  <a:srgbClr val="FFFFFF"/>
                </a:solidFill>
                <a:latin typeface="Georgia" pitchFamily="34" charset="0"/>
                <a:ea typeface="Georgia" pitchFamily="34" charset="-122"/>
                <a:cs typeface="Georgia" pitchFamily="34" charset="-120"/>
              </a:rPr>
              <a:t>Key Benefits</a:t>
            </a:r>
            <a:endParaRPr lang="en-US" sz="2700" dirty="0"/>
          </a:p>
        </p:txBody>
      </p:sp>
      <p:sp>
        <p:nvSpPr>
          <p:cNvPr id="4" name="Text 2"/>
          <p:cNvSpPr/>
          <p:nvPr/>
        </p:nvSpPr>
        <p:spPr>
          <a:xfrm>
            <a:off x="457200" y="1942207"/>
            <a:ext cx="1943100" cy="2205633"/>
          </a:xfrm>
          <a:prstGeom prst="rect">
            <a:avLst/>
          </a:prstGeom>
          <a:solidFill>
            <a:srgbClr val="252B3D"/>
          </a:solidFill>
          <a:ln/>
        </p:spPr>
        <p:txBody>
          <a:bodyPr wrap="square" rtlCol="0" anchor="ctr"/>
          <a:lstStyle/>
          <a:p>
            <a:pPr indent="0" marL="0">
              <a:buNone/>
            </a:pPr>
            <a:endParaRPr lang="en-US" dirty="0"/>
          </a:p>
        </p:txBody>
      </p:sp>
      <p:sp>
        <p:nvSpPr>
          <p:cNvPr id="5" name="Text 3"/>
          <p:cNvSpPr/>
          <p:nvPr/>
        </p:nvSpPr>
        <p:spPr>
          <a:xfrm>
            <a:off x="685800" y="2170807"/>
            <a:ext cx="381000" cy="381000"/>
          </a:xfrm>
          <a:prstGeom prst="rect">
            <a:avLst/>
          </a:prstGeom>
          <a:solidFill>
            <a:srgbClr val="C9A227"/>
          </a:solidFill>
          <a:ln/>
        </p:spPr>
        <p:txBody>
          <a:bodyPr wrap="square" rtlCol="0" anchor="ctr"/>
          <a:lstStyle/>
          <a:p>
            <a:pPr indent="0" marL="0">
              <a:buNone/>
            </a:pPr>
            <a:endParaRPr lang="en-US" dirty="0"/>
          </a:p>
        </p:txBody>
      </p:sp>
      <p:sp>
        <p:nvSpPr>
          <p:cNvPr id="6" name="Text 4"/>
          <p:cNvSpPr/>
          <p:nvPr/>
        </p:nvSpPr>
        <p:spPr>
          <a:xfrm>
            <a:off x="770334" y="2227957"/>
            <a:ext cx="216170" cy="266700"/>
          </a:xfrm>
          <a:prstGeom prst="rect">
            <a:avLst/>
          </a:prstGeom>
          <a:noFill/>
          <a:ln/>
        </p:spPr>
        <p:txBody>
          <a:bodyPr wrap="square" lIns="0" tIns="0" rIns="0" bIns="0" rtlCol="0" anchor="t"/>
          <a:lstStyle/>
          <a:p>
            <a:pPr algn="l" indent="0" marL="0">
              <a:lnSpc>
                <a:spcPts val="2100"/>
              </a:lnSpc>
              <a:buNone/>
            </a:pPr>
            <a:r>
              <a:rPr lang="en-US" sz="1500" dirty="0">
                <a:solidFill>
                  <a:srgbClr val="1A1F2E"/>
                </a:solidFill>
                <a:latin typeface="Arial" pitchFamily="34" charset="0"/>
                <a:ea typeface="Arial" pitchFamily="34" charset="-122"/>
                <a:cs typeface="Arial" pitchFamily="34" charset="-120"/>
              </a:rPr>
              <a:t>01</a:t>
            </a:r>
            <a:endParaRPr lang="en-US" sz="1500" dirty="0"/>
          </a:p>
        </p:txBody>
      </p:sp>
      <p:sp>
        <p:nvSpPr>
          <p:cNvPr id="7" name="Text 5"/>
          <p:cNvSpPr/>
          <p:nvPr/>
        </p:nvSpPr>
        <p:spPr>
          <a:xfrm>
            <a:off x="685800" y="2856607"/>
            <a:ext cx="1515618" cy="213271"/>
          </a:xfrm>
          <a:prstGeom prst="rect">
            <a:avLst/>
          </a:prstGeom>
          <a:noFill/>
          <a:ln/>
        </p:spPr>
        <p:txBody>
          <a:bodyPr wrap="square" lIns="0" tIns="0" rIns="0" bIns="0" rtlCol="0" anchor="t"/>
          <a:lstStyle/>
          <a:p>
            <a:pPr algn="l" indent="0" marL="0">
              <a:lnSpc>
                <a:spcPts val="1680"/>
              </a:lnSpc>
              <a:spcAft>
                <a:spcPts val="900"/>
              </a:spcAft>
              <a:buNone/>
            </a:pPr>
            <a:r>
              <a:rPr lang="en-US" sz="1200" dirty="0">
                <a:solidFill>
                  <a:srgbClr val="FFFFFF"/>
                </a:solidFill>
                <a:latin typeface="Georgia" pitchFamily="34" charset="0"/>
                <a:ea typeface="Georgia" pitchFamily="34" charset="-122"/>
                <a:cs typeface="Georgia" pitchFamily="34" charset="-120"/>
              </a:rPr>
              <a:t>Ergonomic</a:t>
            </a:r>
            <a:endParaRPr lang="en-US" sz="1200" dirty="0"/>
          </a:p>
        </p:txBody>
      </p:sp>
      <p:sp>
        <p:nvSpPr>
          <p:cNvPr id="8" name="Text 6"/>
          <p:cNvSpPr/>
          <p:nvPr/>
        </p:nvSpPr>
        <p:spPr>
          <a:xfrm>
            <a:off x="685800" y="3336578"/>
            <a:ext cx="1515618" cy="582662"/>
          </a:xfrm>
          <a:prstGeom prst="rect">
            <a:avLst/>
          </a:prstGeom>
          <a:noFill/>
          <a:ln/>
        </p:spPr>
        <p:txBody>
          <a:bodyPr wrap="square" lIns="0" tIns="0" rIns="0" bIns="0" rtlCol="0" anchor="t"/>
          <a:lstStyle/>
          <a:p>
            <a:pPr algn="l" indent="0" marL="0">
              <a:lnSpc>
                <a:spcPts val="1530"/>
              </a:lnSpc>
              <a:buNone/>
            </a:pPr>
            <a:r>
              <a:rPr lang="en-US" sz="900" dirty="0">
                <a:solidFill>
                  <a:srgbClr val="FFFFFF">
                    <a:alpha val="60000"/>
                  </a:srgbClr>
                </a:solidFill>
                <a:latin typeface="Arial" pitchFamily="34" charset="0"/>
                <a:ea typeface="Arial" pitchFamily="34" charset="-122"/>
                <a:cs typeface="Arial" pitchFamily="34" charset="-120"/>
              </a:rPr>
              <a:t>RSI prevention</a:t>
            </a:r>
            <a:endParaRPr lang="en-US" sz="900" dirty="0"/>
          </a:p>
          <a:p>
            <a:pPr algn="l" indent="0" marL="0">
              <a:lnSpc>
                <a:spcPts val="1530"/>
              </a:lnSpc>
              <a:buNone/>
            </a:pPr>
            <a:r>
              <a:rPr lang="en-US" sz="900" dirty="0">
                <a:solidFill>
                  <a:srgbClr val="FFFFFF">
                    <a:alpha val="60000"/>
                  </a:srgbClr>
                </a:solidFill>
                <a:latin typeface="Arial" pitchFamily="34" charset="0"/>
                <a:ea typeface="Arial" pitchFamily="34" charset="-122"/>
                <a:cs typeface="Arial" pitchFamily="34" charset="-120"/>
              </a:rPr>
              <a:t>Reduced physical strain</a:t>
            </a:r>
            <a:endParaRPr lang="en-US" sz="900" dirty="0"/>
          </a:p>
          <a:p>
            <a:pPr algn="l" indent="0" marL="0">
              <a:lnSpc>
                <a:spcPts val="1530"/>
              </a:lnSpc>
              <a:buNone/>
            </a:pPr>
            <a:r>
              <a:rPr lang="en-US" sz="900" dirty="0">
                <a:solidFill>
                  <a:srgbClr val="FFFFFF">
                    <a:alpha val="60000"/>
                  </a:srgbClr>
                </a:solidFill>
                <a:latin typeface="Arial" pitchFamily="34" charset="0"/>
                <a:ea typeface="Arial" pitchFamily="34" charset="-122"/>
                <a:cs typeface="Arial" pitchFamily="34" charset="-120"/>
              </a:rPr>
              <a:t>Accessibility support</a:t>
            </a:r>
            <a:endParaRPr lang="en-US" sz="900" dirty="0"/>
          </a:p>
        </p:txBody>
      </p:sp>
      <p:sp>
        <p:nvSpPr>
          <p:cNvPr id="9" name="Text 7"/>
          <p:cNvSpPr/>
          <p:nvPr/>
        </p:nvSpPr>
        <p:spPr>
          <a:xfrm>
            <a:off x="2552700" y="1942207"/>
            <a:ext cx="1943100" cy="2205633"/>
          </a:xfrm>
          <a:prstGeom prst="rect">
            <a:avLst/>
          </a:prstGeom>
          <a:solidFill>
            <a:srgbClr val="252B3D"/>
          </a:solidFill>
          <a:ln/>
        </p:spPr>
        <p:txBody>
          <a:bodyPr wrap="square" rtlCol="0" anchor="ctr"/>
          <a:lstStyle/>
          <a:p>
            <a:pPr indent="0" marL="0">
              <a:buNone/>
            </a:pPr>
            <a:endParaRPr lang="en-US" dirty="0"/>
          </a:p>
        </p:txBody>
      </p:sp>
      <p:sp>
        <p:nvSpPr>
          <p:cNvPr id="10" name="Text 8"/>
          <p:cNvSpPr/>
          <p:nvPr/>
        </p:nvSpPr>
        <p:spPr>
          <a:xfrm>
            <a:off x="2781300" y="2170807"/>
            <a:ext cx="381000" cy="381000"/>
          </a:xfrm>
          <a:prstGeom prst="rect">
            <a:avLst/>
          </a:prstGeom>
          <a:solidFill>
            <a:srgbClr val="C9A227"/>
          </a:solidFill>
          <a:ln/>
        </p:spPr>
        <p:txBody>
          <a:bodyPr wrap="square" rtlCol="0" anchor="ctr"/>
          <a:lstStyle/>
          <a:p>
            <a:pPr indent="0" marL="0">
              <a:buNone/>
            </a:pPr>
            <a:endParaRPr lang="en-US" dirty="0"/>
          </a:p>
        </p:txBody>
      </p:sp>
      <p:sp>
        <p:nvSpPr>
          <p:cNvPr id="11" name="Text 9"/>
          <p:cNvSpPr/>
          <p:nvPr/>
        </p:nvSpPr>
        <p:spPr>
          <a:xfrm>
            <a:off x="2865834" y="2227957"/>
            <a:ext cx="216170" cy="266700"/>
          </a:xfrm>
          <a:prstGeom prst="rect">
            <a:avLst/>
          </a:prstGeom>
          <a:noFill/>
          <a:ln/>
        </p:spPr>
        <p:txBody>
          <a:bodyPr wrap="square" lIns="0" tIns="0" rIns="0" bIns="0" rtlCol="0" anchor="t"/>
          <a:lstStyle/>
          <a:p>
            <a:pPr algn="l" indent="0" marL="0">
              <a:lnSpc>
                <a:spcPts val="2100"/>
              </a:lnSpc>
              <a:buNone/>
            </a:pPr>
            <a:r>
              <a:rPr lang="en-US" sz="1500" dirty="0">
                <a:solidFill>
                  <a:srgbClr val="1A1F2E"/>
                </a:solidFill>
                <a:latin typeface="Arial" pitchFamily="34" charset="0"/>
                <a:ea typeface="Arial" pitchFamily="34" charset="-122"/>
                <a:cs typeface="Arial" pitchFamily="34" charset="-120"/>
              </a:rPr>
              <a:t>02</a:t>
            </a:r>
            <a:endParaRPr lang="en-US" sz="1500" dirty="0"/>
          </a:p>
        </p:txBody>
      </p:sp>
      <p:sp>
        <p:nvSpPr>
          <p:cNvPr id="12" name="Text 10"/>
          <p:cNvSpPr/>
          <p:nvPr/>
        </p:nvSpPr>
        <p:spPr>
          <a:xfrm>
            <a:off x="2781300" y="2856607"/>
            <a:ext cx="1515618" cy="213271"/>
          </a:xfrm>
          <a:prstGeom prst="rect">
            <a:avLst/>
          </a:prstGeom>
          <a:noFill/>
          <a:ln/>
        </p:spPr>
        <p:txBody>
          <a:bodyPr wrap="square" lIns="0" tIns="0" rIns="0" bIns="0" rtlCol="0" anchor="t"/>
          <a:lstStyle/>
          <a:p>
            <a:pPr algn="l" indent="0" marL="0">
              <a:lnSpc>
                <a:spcPts val="1680"/>
              </a:lnSpc>
              <a:spcAft>
                <a:spcPts val="900"/>
              </a:spcAft>
              <a:buNone/>
            </a:pPr>
            <a:r>
              <a:rPr lang="en-US" sz="1200" dirty="0">
                <a:solidFill>
                  <a:srgbClr val="FFFFFF"/>
                </a:solidFill>
                <a:latin typeface="Georgia" pitchFamily="34" charset="0"/>
                <a:ea typeface="Georgia" pitchFamily="34" charset="-122"/>
                <a:cs typeface="Georgia" pitchFamily="34" charset="-120"/>
              </a:rPr>
              <a:t>Productivity</a:t>
            </a:r>
            <a:endParaRPr lang="en-US" sz="1200" dirty="0"/>
          </a:p>
        </p:txBody>
      </p:sp>
      <p:sp>
        <p:nvSpPr>
          <p:cNvPr id="13" name="Text 11"/>
          <p:cNvSpPr/>
          <p:nvPr/>
        </p:nvSpPr>
        <p:spPr>
          <a:xfrm>
            <a:off x="2781300" y="3336578"/>
            <a:ext cx="1515618" cy="582662"/>
          </a:xfrm>
          <a:prstGeom prst="rect">
            <a:avLst/>
          </a:prstGeom>
          <a:noFill/>
          <a:ln/>
        </p:spPr>
        <p:txBody>
          <a:bodyPr wrap="square" lIns="0" tIns="0" rIns="0" bIns="0" rtlCol="0" anchor="t"/>
          <a:lstStyle/>
          <a:p>
            <a:pPr algn="l" indent="0" marL="0">
              <a:lnSpc>
                <a:spcPts val="1530"/>
              </a:lnSpc>
              <a:buNone/>
            </a:pPr>
            <a:r>
              <a:rPr lang="en-US" sz="900" dirty="0">
                <a:solidFill>
                  <a:srgbClr val="FFFFFF">
                    <a:alpha val="60000"/>
                  </a:srgbClr>
                </a:solidFill>
                <a:latin typeface="Arial" pitchFamily="34" charset="0"/>
                <a:ea typeface="Arial" pitchFamily="34" charset="-122"/>
                <a:cs typeface="Arial" pitchFamily="34" charset="-120"/>
              </a:rPr>
              <a:t>Faster iteration cycles</a:t>
            </a:r>
            <a:endParaRPr lang="en-US" sz="900" dirty="0"/>
          </a:p>
          <a:p>
            <a:pPr algn="l" indent="0" marL="0">
              <a:lnSpc>
                <a:spcPts val="1530"/>
              </a:lnSpc>
              <a:buNone/>
            </a:pPr>
            <a:r>
              <a:rPr lang="en-US" sz="900" dirty="0">
                <a:solidFill>
                  <a:srgbClr val="FFFFFF">
                    <a:alpha val="60000"/>
                  </a:srgbClr>
                </a:solidFill>
                <a:latin typeface="Arial" pitchFamily="34" charset="0"/>
                <a:ea typeface="Arial" pitchFamily="34" charset="-122"/>
                <a:cs typeface="Arial" pitchFamily="34" charset="-120"/>
              </a:rPr>
              <a:t>Speak ideas as you think</a:t>
            </a:r>
            <a:endParaRPr lang="en-US" sz="900" dirty="0"/>
          </a:p>
          <a:p>
            <a:pPr algn="l" indent="0" marL="0">
              <a:lnSpc>
                <a:spcPts val="1530"/>
              </a:lnSpc>
              <a:buNone/>
            </a:pPr>
            <a:r>
              <a:rPr lang="en-US" sz="900" dirty="0">
                <a:solidFill>
                  <a:srgbClr val="FFFFFF">
                    <a:alpha val="60000"/>
                  </a:srgbClr>
                </a:solidFill>
                <a:latin typeface="Arial" pitchFamily="34" charset="0"/>
                <a:ea typeface="Arial" pitchFamily="34" charset="-122"/>
                <a:cs typeface="Arial" pitchFamily="34" charset="-120"/>
              </a:rPr>
              <a:t>Reduce context switching</a:t>
            </a:r>
            <a:endParaRPr lang="en-US" sz="900" dirty="0"/>
          </a:p>
        </p:txBody>
      </p:sp>
      <p:sp>
        <p:nvSpPr>
          <p:cNvPr id="14" name="Text 12"/>
          <p:cNvSpPr/>
          <p:nvPr/>
        </p:nvSpPr>
        <p:spPr>
          <a:xfrm>
            <a:off x="4648200" y="1942207"/>
            <a:ext cx="1943100" cy="2205633"/>
          </a:xfrm>
          <a:prstGeom prst="rect">
            <a:avLst/>
          </a:prstGeom>
          <a:solidFill>
            <a:srgbClr val="252B3D"/>
          </a:solidFill>
          <a:ln/>
        </p:spPr>
        <p:txBody>
          <a:bodyPr wrap="square" rtlCol="0" anchor="ctr"/>
          <a:lstStyle/>
          <a:p>
            <a:pPr indent="0" marL="0">
              <a:buNone/>
            </a:pPr>
            <a:endParaRPr lang="en-US" dirty="0"/>
          </a:p>
        </p:txBody>
      </p:sp>
      <p:sp>
        <p:nvSpPr>
          <p:cNvPr id="15" name="Text 13"/>
          <p:cNvSpPr/>
          <p:nvPr/>
        </p:nvSpPr>
        <p:spPr>
          <a:xfrm>
            <a:off x="4876800" y="2170807"/>
            <a:ext cx="381000" cy="381000"/>
          </a:xfrm>
          <a:prstGeom prst="rect">
            <a:avLst/>
          </a:prstGeom>
          <a:solidFill>
            <a:srgbClr val="C9A227"/>
          </a:solidFill>
          <a:ln/>
        </p:spPr>
        <p:txBody>
          <a:bodyPr wrap="square" rtlCol="0" anchor="ctr"/>
          <a:lstStyle/>
          <a:p>
            <a:pPr indent="0" marL="0">
              <a:buNone/>
            </a:pPr>
            <a:endParaRPr lang="en-US" dirty="0"/>
          </a:p>
        </p:txBody>
      </p:sp>
      <p:sp>
        <p:nvSpPr>
          <p:cNvPr id="16" name="Text 14"/>
          <p:cNvSpPr/>
          <p:nvPr/>
        </p:nvSpPr>
        <p:spPr>
          <a:xfrm>
            <a:off x="4961334" y="2227957"/>
            <a:ext cx="216170" cy="266700"/>
          </a:xfrm>
          <a:prstGeom prst="rect">
            <a:avLst/>
          </a:prstGeom>
          <a:noFill/>
          <a:ln/>
        </p:spPr>
        <p:txBody>
          <a:bodyPr wrap="square" lIns="0" tIns="0" rIns="0" bIns="0" rtlCol="0" anchor="t"/>
          <a:lstStyle/>
          <a:p>
            <a:pPr algn="l" indent="0" marL="0">
              <a:lnSpc>
                <a:spcPts val="2100"/>
              </a:lnSpc>
              <a:buNone/>
            </a:pPr>
            <a:r>
              <a:rPr lang="en-US" sz="1500" dirty="0">
                <a:solidFill>
                  <a:srgbClr val="1A1F2E"/>
                </a:solidFill>
                <a:latin typeface="Arial" pitchFamily="34" charset="0"/>
                <a:ea typeface="Arial" pitchFamily="34" charset="-122"/>
                <a:cs typeface="Arial" pitchFamily="34" charset="-120"/>
              </a:rPr>
              <a:t>03</a:t>
            </a:r>
            <a:endParaRPr lang="en-US" sz="1500" dirty="0"/>
          </a:p>
        </p:txBody>
      </p:sp>
      <p:sp>
        <p:nvSpPr>
          <p:cNvPr id="17" name="Text 15"/>
          <p:cNvSpPr/>
          <p:nvPr/>
        </p:nvSpPr>
        <p:spPr>
          <a:xfrm>
            <a:off x="4876800" y="2856607"/>
            <a:ext cx="1515618" cy="213271"/>
          </a:xfrm>
          <a:prstGeom prst="rect">
            <a:avLst/>
          </a:prstGeom>
          <a:noFill/>
          <a:ln/>
        </p:spPr>
        <p:txBody>
          <a:bodyPr wrap="square" lIns="0" tIns="0" rIns="0" bIns="0" rtlCol="0" anchor="t"/>
          <a:lstStyle/>
          <a:p>
            <a:pPr algn="l" indent="0" marL="0">
              <a:lnSpc>
                <a:spcPts val="1680"/>
              </a:lnSpc>
              <a:spcAft>
                <a:spcPts val="900"/>
              </a:spcAft>
              <a:buNone/>
            </a:pPr>
            <a:r>
              <a:rPr lang="en-US" sz="1200" dirty="0">
                <a:solidFill>
                  <a:srgbClr val="FFFFFF"/>
                </a:solidFill>
                <a:latin typeface="Georgia" pitchFamily="34" charset="0"/>
                <a:ea typeface="Georgia" pitchFamily="34" charset="-122"/>
                <a:cs typeface="Georgia" pitchFamily="34" charset="-120"/>
              </a:rPr>
              <a:t>Multitasking</a:t>
            </a:r>
            <a:endParaRPr lang="en-US" sz="1200" dirty="0"/>
          </a:p>
        </p:txBody>
      </p:sp>
      <p:sp>
        <p:nvSpPr>
          <p:cNvPr id="18" name="Text 16"/>
          <p:cNvSpPr/>
          <p:nvPr/>
        </p:nvSpPr>
        <p:spPr>
          <a:xfrm>
            <a:off x="4876800" y="3336578"/>
            <a:ext cx="1515618" cy="582662"/>
          </a:xfrm>
          <a:prstGeom prst="rect">
            <a:avLst/>
          </a:prstGeom>
          <a:noFill/>
          <a:ln/>
        </p:spPr>
        <p:txBody>
          <a:bodyPr wrap="square" lIns="0" tIns="0" rIns="0" bIns="0" rtlCol="0" anchor="t"/>
          <a:lstStyle/>
          <a:p>
            <a:pPr algn="l" indent="0" marL="0">
              <a:lnSpc>
                <a:spcPts val="1530"/>
              </a:lnSpc>
              <a:buNone/>
            </a:pPr>
            <a:r>
              <a:rPr lang="en-US" sz="900" dirty="0">
                <a:solidFill>
                  <a:srgbClr val="FFFFFF">
                    <a:alpha val="60000"/>
                  </a:srgbClr>
                </a:solidFill>
                <a:latin typeface="Arial" pitchFamily="34" charset="0"/>
                <a:ea typeface="Arial" pitchFamily="34" charset="-122"/>
                <a:cs typeface="Arial" pitchFamily="34" charset="-120"/>
              </a:rPr>
              <a:t>Code while reviewing docs</a:t>
            </a:r>
            <a:endParaRPr lang="en-US" sz="900" dirty="0"/>
          </a:p>
          <a:p>
            <a:pPr algn="l" indent="0" marL="0">
              <a:lnSpc>
                <a:spcPts val="1530"/>
              </a:lnSpc>
              <a:buNone/>
            </a:pPr>
            <a:r>
              <a:rPr lang="en-US" sz="900" dirty="0">
                <a:solidFill>
                  <a:srgbClr val="FFFFFF">
                    <a:alpha val="60000"/>
                  </a:srgbClr>
                </a:solidFill>
                <a:latin typeface="Arial" pitchFamily="34" charset="0"/>
                <a:ea typeface="Arial" pitchFamily="34" charset="-122"/>
                <a:cs typeface="Arial" pitchFamily="34" charset="-120"/>
              </a:rPr>
              <a:t>Hands-free operation</a:t>
            </a:r>
            <a:endParaRPr lang="en-US" sz="900" dirty="0"/>
          </a:p>
          <a:p>
            <a:pPr algn="l" indent="0" marL="0">
              <a:lnSpc>
                <a:spcPts val="1530"/>
              </a:lnSpc>
              <a:buNone/>
            </a:pPr>
            <a:r>
              <a:rPr lang="en-US" sz="900" dirty="0">
                <a:solidFill>
                  <a:srgbClr val="FFFFFF">
                    <a:alpha val="60000"/>
                  </a:srgbClr>
                </a:solidFill>
                <a:latin typeface="Arial" pitchFamily="34" charset="0"/>
                <a:ea typeface="Arial" pitchFamily="34" charset="-122"/>
                <a:cs typeface="Arial" pitchFamily="34" charset="-120"/>
              </a:rPr>
              <a:t>Think out loud naturally</a:t>
            </a:r>
            <a:endParaRPr lang="en-US" sz="900" dirty="0"/>
          </a:p>
        </p:txBody>
      </p:sp>
      <p:sp>
        <p:nvSpPr>
          <p:cNvPr id="19" name="Text 17"/>
          <p:cNvSpPr/>
          <p:nvPr/>
        </p:nvSpPr>
        <p:spPr>
          <a:xfrm>
            <a:off x="6743700" y="1942207"/>
            <a:ext cx="1943100" cy="2205633"/>
          </a:xfrm>
          <a:prstGeom prst="rect">
            <a:avLst/>
          </a:prstGeom>
          <a:solidFill>
            <a:srgbClr val="252B3D"/>
          </a:solidFill>
          <a:ln/>
        </p:spPr>
        <p:txBody>
          <a:bodyPr wrap="square" rtlCol="0" anchor="ctr"/>
          <a:lstStyle/>
          <a:p>
            <a:pPr indent="0" marL="0">
              <a:buNone/>
            </a:pPr>
            <a:endParaRPr lang="en-US" dirty="0"/>
          </a:p>
        </p:txBody>
      </p:sp>
      <p:sp>
        <p:nvSpPr>
          <p:cNvPr id="20" name="Text 18"/>
          <p:cNvSpPr/>
          <p:nvPr/>
        </p:nvSpPr>
        <p:spPr>
          <a:xfrm>
            <a:off x="6972300" y="2170807"/>
            <a:ext cx="381000" cy="381000"/>
          </a:xfrm>
          <a:prstGeom prst="rect">
            <a:avLst/>
          </a:prstGeom>
          <a:solidFill>
            <a:srgbClr val="C9A227"/>
          </a:solidFill>
          <a:ln/>
        </p:spPr>
        <p:txBody>
          <a:bodyPr wrap="square" rtlCol="0" anchor="ctr"/>
          <a:lstStyle/>
          <a:p>
            <a:pPr indent="0" marL="0">
              <a:buNone/>
            </a:pPr>
            <a:endParaRPr lang="en-US" dirty="0"/>
          </a:p>
        </p:txBody>
      </p:sp>
      <p:sp>
        <p:nvSpPr>
          <p:cNvPr id="21" name="Text 19"/>
          <p:cNvSpPr/>
          <p:nvPr/>
        </p:nvSpPr>
        <p:spPr>
          <a:xfrm>
            <a:off x="7056834" y="2227957"/>
            <a:ext cx="216170" cy="266700"/>
          </a:xfrm>
          <a:prstGeom prst="rect">
            <a:avLst/>
          </a:prstGeom>
          <a:noFill/>
          <a:ln/>
        </p:spPr>
        <p:txBody>
          <a:bodyPr wrap="square" lIns="0" tIns="0" rIns="0" bIns="0" rtlCol="0" anchor="t"/>
          <a:lstStyle/>
          <a:p>
            <a:pPr algn="l" indent="0" marL="0">
              <a:lnSpc>
                <a:spcPts val="2100"/>
              </a:lnSpc>
              <a:buNone/>
            </a:pPr>
            <a:r>
              <a:rPr lang="en-US" sz="1500" dirty="0">
                <a:solidFill>
                  <a:srgbClr val="1A1F2E"/>
                </a:solidFill>
                <a:latin typeface="Arial" pitchFamily="34" charset="0"/>
                <a:ea typeface="Arial" pitchFamily="34" charset="-122"/>
                <a:cs typeface="Arial" pitchFamily="34" charset="-120"/>
              </a:rPr>
              <a:t>04</a:t>
            </a:r>
            <a:endParaRPr lang="en-US" sz="1500" dirty="0"/>
          </a:p>
        </p:txBody>
      </p:sp>
      <p:sp>
        <p:nvSpPr>
          <p:cNvPr id="22" name="Text 20"/>
          <p:cNvSpPr/>
          <p:nvPr/>
        </p:nvSpPr>
        <p:spPr>
          <a:xfrm>
            <a:off x="6972300" y="2856607"/>
            <a:ext cx="1515618" cy="213271"/>
          </a:xfrm>
          <a:prstGeom prst="rect">
            <a:avLst/>
          </a:prstGeom>
          <a:noFill/>
          <a:ln/>
        </p:spPr>
        <p:txBody>
          <a:bodyPr wrap="square" lIns="0" tIns="0" rIns="0" bIns="0" rtlCol="0" anchor="t"/>
          <a:lstStyle/>
          <a:p>
            <a:pPr algn="l" indent="0" marL="0">
              <a:lnSpc>
                <a:spcPts val="1680"/>
              </a:lnSpc>
              <a:spcAft>
                <a:spcPts val="900"/>
              </a:spcAft>
              <a:buNone/>
            </a:pPr>
            <a:r>
              <a:rPr lang="en-US" sz="1200" dirty="0">
                <a:solidFill>
                  <a:srgbClr val="FFFFFF"/>
                </a:solidFill>
                <a:latin typeface="Georgia" pitchFamily="34" charset="0"/>
                <a:ea typeface="Georgia" pitchFamily="34" charset="-122"/>
                <a:cs typeface="Georgia" pitchFamily="34" charset="-120"/>
              </a:rPr>
              <a:t>Accessibility</a:t>
            </a:r>
            <a:endParaRPr lang="en-US" sz="1200" dirty="0"/>
          </a:p>
        </p:txBody>
      </p:sp>
      <p:sp>
        <p:nvSpPr>
          <p:cNvPr id="23" name="Text 21"/>
          <p:cNvSpPr/>
          <p:nvPr/>
        </p:nvSpPr>
        <p:spPr>
          <a:xfrm>
            <a:off x="6972300" y="3336578"/>
            <a:ext cx="1515618" cy="582662"/>
          </a:xfrm>
          <a:prstGeom prst="rect">
            <a:avLst/>
          </a:prstGeom>
          <a:noFill/>
          <a:ln/>
        </p:spPr>
        <p:txBody>
          <a:bodyPr wrap="square" lIns="0" tIns="0" rIns="0" bIns="0" rtlCol="0" anchor="t"/>
          <a:lstStyle/>
          <a:p>
            <a:pPr algn="l" indent="0" marL="0">
              <a:lnSpc>
                <a:spcPts val="1530"/>
              </a:lnSpc>
              <a:buNone/>
            </a:pPr>
            <a:r>
              <a:rPr lang="en-US" sz="900" dirty="0">
                <a:solidFill>
                  <a:srgbClr val="FFFFFF">
                    <a:alpha val="60000"/>
                  </a:srgbClr>
                </a:solidFill>
                <a:latin typeface="Arial" pitchFamily="34" charset="0"/>
                <a:ea typeface="Arial" pitchFamily="34" charset="-122"/>
                <a:cs typeface="Arial" pitchFamily="34" charset="-120"/>
              </a:rPr>
              <a:t>Mobility accommodations</a:t>
            </a:r>
            <a:endParaRPr lang="en-US" sz="900" dirty="0"/>
          </a:p>
          <a:p>
            <a:pPr algn="l" indent="0" marL="0">
              <a:lnSpc>
                <a:spcPts val="1530"/>
              </a:lnSpc>
              <a:buNone/>
            </a:pPr>
            <a:r>
              <a:rPr lang="en-US" sz="900" dirty="0">
                <a:solidFill>
                  <a:srgbClr val="FFFFFF">
                    <a:alpha val="60000"/>
                  </a:srgbClr>
                </a:solidFill>
                <a:latin typeface="Arial" pitchFamily="34" charset="0"/>
                <a:ea typeface="Arial" pitchFamily="34" charset="-122"/>
                <a:cs typeface="Arial" pitchFamily="34" charset="-120"/>
              </a:rPr>
              <a:t>Inclusive workflows</a:t>
            </a:r>
            <a:endParaRPr lang="en-US" sz="900" dirty="0"/>
          </a:p>
          <a:p>
            <a:pPr algn="l" indent="0" marL="0">
              <a:lnSpc>
                <a:spcPts val="1530"/>
              </a:lnSpc>
              <a:buNone/>
            </a:pPr>
            <a:r>
              <a:rPr lang="en-US" sz="900" dirty="0">
                <a:solidFill>
                  <a:srgbClr val="FFFFFF">
                    <a:alpha val="60000"/>
                  </a:srgbClr>
                </a:solidFill>
                <a:latin typeface="Arial" pitchFamily="34" charset="0"/>
                <a:ea typeface="Arial" pitchFamily="34" charset="-122"/>
                <a:cs typeface="Arial" pitchFamily="34" charset="-120"/>
              </a:rPr>
              <a:t>Alternative input paths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457200" y="342900"/>
            <a:ext cx="8394192" cy="146596"/>
          </a:xfrm>
          <a:prstGeom prst="rect">
            <a:avLst/>
          </a:prstGeom>
          <a:noFill/>
          <a:ln/>
        </p:spPr>
        <p:txBody>
          <a:bodyPr wrap="square" lIns="0" tIns="0" rIns="0" bIns="0" rtlCol="0" anchor="t"/>
          <a:lstStyle/>
          <a:p>
            <a:pPr algn="l" indent="0" marL="0">
              <a:lnSpc>
                <a:spcPts val="1155"/>
              </a:lnSpc>
              <a:spcAft>
                <a:spcPts val="600"/>
              </a:spcAft>
              <a:buNone/>
            </a:pPr>
            <a:r>
              <a:rPr lang="en-US" sz="825" dirty="0">
                <a:solidFill>
                  <a:srgbClr val="C9A227"/>
                </a:solidFill>
                <a:latin typeface="Arial" pitchFamily="34" charset="0"/>
                <a:ea typeface="Arial" pitchFamily="34" charset="-122"/>
                <a:cs typeface="Arial" pitchFamily="34" charset="-120"/>
              </a:rPr>
              <a:t>AUDIENCE</a:t>
            </a:r>
            <a:endParaRPr lang="en-US" sz="825" dirty="0"/>
          </a:p>
        </p:txBody>
      </p:sp>
      <p:sp>
        <p:nvSpPr>
          <p:cNvPr id="3" name="Text 1"/>
          <p:cNvSpPr/>
          <p:nvPr/>
        </p:nvSpPr>
        <p:spPr>
          <a:xfrm>
            <a:off x="457200" y="565696"/>
            <a:ext cx="4206812" cy="342900"/>
          </a:xfrm>
          <a:prstGeom prst="rect">
            <a:avLst/>
          </a:prstGeom>
          <a:noFill/>
          <a:ln/>
        </p:spPr>
        <p:txBody>
          <a:bodyPr wrap="square" lIns="0" tIns="0" rIns="0" bIns="0" rtlCol="0" anchor="t"/>
          <a:lstStyle/>
          <a:p>
            <a:pPr algn="l" indent="0" marL="0">
              <a:lnSpc>
                <a:spcPts val="2700"/>
              </a:lnSpc>
              <a:buNone/>
            </a:pPr>
            <a:r>
              <a:rPr lang="en-US" sz="2700" dirty="0">
                <a:solidFill>
                  <a:srgbClr val="1A1F2E"/>
                </a:solidFill>
                <a:latin typeface="Georgia" pitchFamily="34" charset="0"/>
                <a:ea typeface="Georgia" pitchFamily="34" charset="-122"/>
                <a:cs typeface="Georgia" pitchFamily="34" charset="-120"/>
              </a:rPr>
              <a:t>Who Is This For?</a:t>
            </a:r>
            <a:endParaRPr lang="en-US" sz="2700" dirty="0"/>
          </a:p>
        </p:txBody>
      </p:sp>
      <p:sp>
        <p:nvSpPr>
          <p:cNvPr id="4" name="Text 2"/>
          <p:cNvSpPr/>
          <p:nvPr/>
        </p:nvSpPr>
        <p:spPr>
          <a:xfrm>
            <a:off x="457200" y="1964085"/>
            <a:ext cx="1943100" cy="1175147"/>
          </a:xfrm>
          <a:prstGeom prst="rect">
            <a:avLst/>
          </a:prstGeom>
          <a:solidFill>
            <a:srgbClr val="FFFFFF"/>
          </a:solidFill>
          <a:ln/>
        </p:spPr>
        <p:txBody>
          <a:bodyPr wrap="square" rtlCol="0" anchor="ctr"/>
          <a:lstStyle/>
          <a:p>
            <a:pPr indent="0" marL="0">
              <a:buNone/>
            </a:pPr>
            <a:endParaRPr lang="en-US" dirty="0"/>
          </a:p>
        </p:txBody>
      </p:sp>
      <p:sp>
        <p:nvSpPr>
          <p:cNvPr id="5" name="Shape 3"/>
          <p:cNvSpPr/>
          <p:nvPr/>
        </p:nvSpPr>
        <p:spPr>
          <a:xfrm>
            <a:off x="476250" y="1964085"/>
            <a:ext cx="0" cy="1175147"/>
          </a:xfrm>
          <a:prstGeom prst="line">
            <a:avLst/>
          </a:prstGeom>
          <a:noFill/>
          <a:ln w="38100">
            <a:solidFill>
              <a:srgbClr val="C9A227"/>
            </a:solidFill>
            <a:prstDash val="solid"/>
          </a:ln>
        </p:spPr>
      </p:sp>
      <p:sp>
        <p:nvSpPr>
          <p:cNvPr id="6" name="Text 4"/>
          <p:cNvSpPr/>
          <p:nvPr/>
        </p:nvSpPr>
        <p:spPr>
          <a:xfrm>
            <a:off x="685800" y="2154585"/>
            <a:ext cx="1554480" cy="200025"/>
          </a:xfrm>
          <a:prstGeom prst="rect">
            <a:avLst/>
          </a:prstGeom>
          <a:noFill/>
          <a:ln/>
        </p:spPr>
        <p:txBody>
          <a:bodyPr wrap="square" lIns="0" tIns="0" rIns="0" bIns="0" rtlCol="0" anchor="t"/>
          <a:lstStyle/>
          <a:p>
            <a:pPr algn="l" indent="0" marL="0">
              <a:lnSpc>
                <a:spcPts val="1575"/>
              </a:lnSpc>
              <a:spcAft>
                <a:spcPts val="600"/>
              </a:spcAft>
              <a:buNone/>
            </a:pPr>
            <a:r>
              <a:rPr lang="en-US" sz="1125" b="1" dirty="0">
                <a:solidFill>
                  <a:srgbClr val="1A1F2E"/>
                </a:solidFill>
                <a:latin typeface="Georgia" pitchFamily="34" charset="0"/>
                <a:ea typeface="Georgia" pitchFamily="34" charset="-122"/>
                <a:cs typeface="Georgia" pitchFamily="34" charset="-120"/>
              </a:rPr>
              <a:t>Developers</a:t>
            </a:r>
            <a:endParaRPr lang="en-US" sz="1125" dirty="0"/>
          </a:p>
        </p:txBody>
      </p:sp>
      <p:sp>
        <p:nvSpPr>
          <p:cNvPr id="7" name="Text 5"/>
          <p:cNvSpPr/>
          <p:nvPr/>
        </p:nvSpPr>
        <p:spPr>
          <a:xfrm>
            <a:off x="685800" y="2583210"/>
            <a:ext cx="1554480" cy="365522"/>
          </a:xfrm>
          <a:prstGeom prst="rect">
            <a:avLst/>
          </a:prstGeom>
          <a:noFill/>
          <a:ln/>
        </p:spPr>
        <p:txBody>
          <a:bodyPr wrap="square" lIns="0" tIns="0" rIns="0" bIns="0" rtlCol="0" anchor="t"/>
          <a:lstStyle/>
          <a:p>
            <a:pPr algn="l" indent="0" marL="0">
              <a:lnSpc>
                <a:spcPts val="1440"/>
              </a:lnSpc>
              <a:buNone/>
            </a:pPr>
            <a:r>
              <a:rPr lang="en-US" sz="900" dirty="0">
                <a:solidFill>
                  <a:srgbClr val="6B7280"/>
                </a:solidFill>
                <a:latin typeface="Arial" pitchFamily="34" charset="0"/>
                <a:ea typeface="Arial" pitchFamily="34" charset="-122"/>
                <a:cs typeface="Arial" pitchFamily="34" charset="-120"/>
              </a:rPr>
              <a:t>Voice-driven coding, refactoring, and debugging</a:t>
            </a:r>
            <a:endParaRPr lang="en-US" sz="900" dirty="0"/>
          </a:p>
        </p:txBody>
      </p:sp>
      <p:sp>
        <p:nvSpPr>
          <p:cNvPr id="8" name="Text 6"/>
          <p:cNvSpPr/>
          <p:nvPr/>
        </p:nvSpPr>
        <p:spPr>
          <a:xfrm>
            <a:off x="2552700" y="1964085"/>
            <a:ext cx="1943100" cy="1175147"/>
          </a:xfrm>
          <a:prstGeom prst="rect">
            <a:avLst/>
          </a:prstGeom>
          <a:solidFill>
            <a:srgbClr val="FFFFFF"/>
          </a:solidFill>
          <a:ln/>
        </p:spPr>
        <p:txBody>
          <a:bodyPr wrap="square" rtlCol="0" anchor="ctr"/>
          <a:lstStyle/>
          <a:p>
            <a:pPr indent="0" marL="0">
              <a:buNone/>
            </a:pPr>
            <a:endParaRPr lang="en-US" dirty="0"/>
          </a:p>
        </p:txBody>
      </p:sp>
      <p:sp>
        <p:nvSpPr>
          <p:cNvPr id="9" name="Shape 7"/>
          <p:cNvSpPr/>
          <p:nvPr/>
        </p:nvSpPr>
        <p:spPr>
          <a:xfrm>
            <a:off x="2571750" y="1964085"/>
            <a:ext cx="0" cy="1175147"/>
          </a:xfrm>
          <a:prstGeom prst="line">
            <a:avLst/>
          </a:prstGeom>
          <a:noFill/>
          <a:ln w="38100">
            <a:solidFill>
              <a:srgbClr val="C9A227"/>
            </a:solidFill>
            <a:prstDash val="solid"/>
          </a:ln>
        </p:spPr>
      </p:sp>
      <p:sp>
        <p:nvSpPr>
          <p:cNvPr id="10" name="Text 8"/>
          <p:cNvSpPr/>
          <p:nvPr/>
        </p:nvSpPr>
        <p:spPr>
          <a:xfrm>
            <a:off x="2781300" y="2154585"/>
            <a:ext cx="1554480" cy="200025"/>
          </a:xfrm>
          <a:prstGeom prst="rect">
            <a:avLst/>
          </a:prstGeom>
          <a:noFill/>
          <a:ln/>
        </p:spPr>
        <p:txBody>
          <a:bodyPr wrap="square" lIns="0" tIns="0" rIns="0" bIns="0" rtlCol="0" anchor="t"/>
          <a:lstStyle/>
          <a:p>
            <a:pPr algn="l" indent="0" marL="0">
              <a:lnSpc>
                <a:spcPts val="1575"/>
              </a:lnSpc>
              <a:spcAft>
                <a:spcPts val="600"/>
              </a:spcAft>
              <a:buNone/>
            </a:pPr>
            <a:r>
              <a:rPr lang="en-US" sz="1125" b="1" dirty="0">
                <a:solidFill>
                  <a:srgbClr val="1A1F2E"/>
                </a:solidFill>
                <a:latin typeface="Georgia" pitchFamily="34" charset="0"/>
                <a:ea typeface="Georgia" pitchFamily="34" charset="-122"/>
                <a:cs typeface="Georgia" pitchFamily="34" charset="-120"/>
              </a:rPr>
              <a:t>Data Scientists</a:t>
            </a:r>
            <a:endParaRPr lang="en-US" sz="1125" dirty="0"/>
          </a:p>
        </p:txBody>
      </p:sp>
      <p:sp>
        <p:nvSpPr>
          <p:cNvPr id="11" name="Text 9"/>
          <p:cNvSpPr/>
          <p:nvPr/>
        </p:nvSpPr>
        <p:spPr>
          <a:xfrm>
            <a:off x="2781300" y="2583210"/>
            <a:ext cx="1554480" cy="365522"/>
          </a:xfrm>
          <a:prstGeom prst="rect">
            <a:avLst/>
          </a:prstGeom>
          <a:noFill/>
          <a:ln/>
        </p:spPr>
        <p:txBody>
          <a:bodyPr wrap="square" lIns="0" tIns="0" rIns="0" bIns="0" rtlCol="0" anchor="t"/>
          <a:lstStyle/>
          <a:p>
            <a:pPr algn="l" indent="0" marL="0">
              <a:lnSpc>
                <a:spcPts val="1440"/>
              </a:lnSpc>
              <a:buNone/>
            </a:pPr>
            <a:r>
              <a:rPr lang="en-US" sz="900" dirty="0">
                <a:solidFill>
                  <a:srgbClr val="6B7280"/>
                </a:solidFill>
                <a:latin typeface="Arial" pitchFamily="34" charset="0"/>
                <a:ea typeface="Arial" pitchFamily="34" charset="-122"/>
                <a:cs typeface="Arial" pitchFamily="34" charset="-120"/>
              </a:rPr>
              <a:t>Dictate analysis scripts and documentation</a:t>
            </a:r>
            <a:endParaRPr lang="en-US" sz="900" dirty="0"/>
          </a:p>
        </p:txBody>
      </p:sp>
      <p:sp>
        <p:nvSpPr>
          <p:cNvPr id="12" name="Text 10"/>
          <p:cNvSpPr/>
          <p:nvPr/>
        </p:nvSpPr>
        <p:spPr>
          <a:xfrm>
            <a:off x="4648200" y="1964085"/>
            <a:ext cx="1943100" cy="1175147"/>
          </a:xfrm>
          <a:prstGeom prst="rect">
            <a:avLst/>
          </a:prstGeom>
          <a:solidFill>
            <a:srgbClr val="FFFFFF"/>
          </a:solidFill>
          <a:ln/>
        </p:spPr>
        <p:txBody>
          <a:bodyPr wrap="square" rtlCol="0" anchor="ctr"/>
          <a:lstStyle/>
          <a:p>
            <a:pPr indent="0" marL="0">
              <a:buNone/>
            </a:pPr>
            <a:endParaRPr lang="en-US" dirty="0"/>
          </a:p>
        </p:txBody>
      </p:sp>
      <p:sp>
        <p:nvSpPr>
          <p:cNvPr id="13" name="Shape 11"/>
          <p:cNvSpPr/>
          <p:nvPr/>
        </p:nvSpPr>
        <p:spPr>
          <a:xfrm>
            <a:off x="4667250" y="1964085"/>
            <a:ext cx="0" cy="1175147"/>
          </a:xfrm>
          <a:prstGeom prst="line">
            <a:avLst/>
          </a:prstGeom>
          <a:noFill/>
          <a:ln w="38100">
            <a:solidFill>
              <a:srgbClr val="C9A227"/>
            </a:solidFill>
            <a:prstDash val="solid"/>
          </a:ln>
        </p:spPr>
      </p:sp>
      <p:sp>
        <p:nvSpPr>
          <p:cNvPr id="14" name="Text 12"/>
          <p:cNvSpPr/>
          <p:nvPr/>
        </p:nvSpPr>
        <p:spPr>
          <a:xfrm>
            <a:off x="4876800" y="2154585"/>
            <a:ext cx="1554480" cy="200025"/>
          </a:xfrm>
          <a:prstGeom prst="rect">
            <a:avLst/>
          </a:prstGeom>
          <a:noFill/>
          <a:ln/>
        </p:spPr>
        <p:txBody>
          <a:bodyPr wrap="square" lIns="0" tIns="0" rIns="0" bIns="0" rtlCol="0" anchor="t"/>
          <a:lstStyle/>
          <a:p>
            <a:pPr algn="l" indent="0" marL="0">
              <a:lnSpc>
                <a:spcPts val="1575"/>
              </a:lnSpc>
              <a:spcAft>
                <a:spcPts val="600"/>
              </a:spcAft>
              <a:buNone/>
            </a:pPr>
            <a:r>
              <a:rPr lang="en-US" sz="1125" b="1" dirty="0">
                <a:solidFill>
                  <a:srgbClr val="1A1F2E"/>
                </a:solidFill>
                <a:latin typeface="Georgia" pitchFamily="34" charset="0"/>
                <a:ea typeface="Georgia" pitchFamily="34" charset="-122"/>
                <a:cs typeface="Georgia" pitchFamily="34" charset="-120"/>
              </a:rPr>
              <a:t>Researchers</a:t>
            </a:r>
            <a:endParaRPr lang="en-US" sz="1125" dirty="0"/>
          </a:p>
        </p:txBody>
      </p:sp>
      <p:sp>
        <p:nvSpPr>
          <p:cNvPr id="15" name="Text 13"/>
          <p:cNvSpPr/>
          <p:nvPr/>
        </p:nvSpPr>
        <p:spPr>
          <a:xfrm>
            <a:off x="4876800" y="2583210"/>
            <a:ext cx="1554480" cy="365522"/>
          </a:xfrm>
          <a:prstGeom prst="rect">
            <a:avLst/>
          </a:prstGeom>
          <a:noFill/>
          <a:ln/>
        </p:spPr>
        <p:txBody>
          <a:bodyPr wrap="square" lIns="0" tIns="0" rIns="0" bIns="0" rtlCol="0" anchor="t"/>
          <a:lstStyle/>
          <a:p>
            <a:pPr algn="l" indent="0" marL="0">
              <a:lnSpc>
                <a:spcPts val="1440"/>
              </a:lnSpc>
              <a:buNone/>
            </a:pPr>
            <a:r>
              <a:rPr lang="en-US" sz="900" dirty="0">
                <a:solidFill>
                  <a:srgbClr val="6B7280"/>
                </a:solidFill>
                <a:latin typeface="Arial" pitchFamily="34" charset="0"/>
                <a:ea typeface="Arial" pitchFamily="34" charset="-122"/>
                <a:cs typeface="Arial" pitchFamily="34" charset="-120"/>
              </a:rPr>
              <a:t>Draft reports while reviewing data</a:t>
            </a:r>
            <a:endParaRPr lang="en-US" sz="900" dirty="0"/>
          </a:p>
        </p:txBody>
      </p:sp>
      <p:sp>
        <p:nvSpPr>
          <p:cNvPr id="16" name="Text 14"/>
          <p:cNvSpPr/>
          <p:nvPr/>
        </p:nvSpPr>
        <p:spPr>
          <a:xfrm>
            <a:off x="6743700" y="1964085"/>
            <a:ext cx="1943100" cy="1175147"/>
          </a:xfrm>
          <a:prstGeom prst="rect">
            <a:avLst/>
          </a:prstGeom>
          <a:solidFill>
            <a:srgbClr val="FFFFFF"/>
          </a:solidFill>
          <a:ln/>
        </p:spPr>
        <p:txBody>
          <a:bodyPr wrap="square" rtlCol="0" anchor="ctr"/>
          <a:lstStyle/>
          <a:p>
            <a:pPr indent="0" marL="0">
              <a:buNone/>
            </a:pPr>
            <a:endParaRPr lang="en-US" dirty="0"/>
          </a:p>
        </p:txBody>
      </p:sp>
      <p:sp>
        <p:nvSpPr>
          <p:cNvPr id="17" name="Shape 15"/>
          <p:cNvSpPr/>
          <p:nvPr/>
        </p:nvSpPr>
        <p:spPr>
          <a:xfrm>
            <a:off x="6762750" y="1964085"/>
            <a:ext cx="0" cy="1175147"/>
          </a:xfrm>
          <a:prstGeom prst="line">
            <a:avLst/>
          </a:prstGeom>
          <a:noFill/>
          <a:ln w="38100">
            <a:solidFill>
              <a:srgbClr val="C9A227"/>
            </a:solidFill>
            <a:prstDash val="solid"/>
          </a:ln>
        </p:spPr>
      </p:sp>
      <p:sp>
        <p:nvSpPr>
          <p:cNvPr id="18" name="Text 16"/>
          <p:cNvSpPr/>
          <p:nvPr/>
        </p:nvSpPr>
        <p:spPr>
          <a:xfrm>
            <a:off x="6972300" y="2154585"/>
            <a:ext cx="1554480" cy="200025"/>
          </a:xfrm>
          <a:prstGeom prst="rect">
            <a:avLst/>
          </a:prstGeom>
          <a:noFill/>
          <a:ln/>
        </p:spPr>
        <p:txBody>
          <a:bodyPr wrap="square" lIns="0" tIns="0" rIns="0" bIns="0" rtlCol="0" anchor="t"/>
          <a:lstStyle/>
          <a:p>
            <a:pPr algn="l" indent="0" marL="0">
              <a:lnSpc>
                <a:spcPts val="1575"/>
              </a:lnSpc>
              <a:spcAft>
                <a:spcPts val="600"/>
              </a:spcAft>
              <a:buNone/>
            </a:pPr>
            <a:r>
              <a:rPr lang="en-US" sz="1125" b="1" dirty="0">
                <a:solidFill>
                  <a:srgbClr val="1A1F2E"/>
                </a:solidFill>
                <a:latin typeface="Georgia" pitchFamily="34" charset="0"/>
                <a:ea typeface="Georgia" pitchFamily="34" charset="-122"/>
                <a:cs typeface="Georgia" pitchFamily="34" charset="-120"/>
              </a:rPr>
              <a:t>Admin Staff</a:t>
            </a:r>
            <a:endParaRPr lang="en-US" sz="1125" dirty="0"/>
          </a:p>
        </p:txBody>
      </p:sp>
      <p:sp>
        <p:nvSpPr>
          <p:cNvPr id="19" name="Text 17"/>
          <p:cNvSpPr/>
          <p:nvPr/>
        </p:nvSpPr>
        <p:spPr>
          <a:xfrm>
            <a:off x="6972300" y="2583210"/>
            <a:ext cx="1554480" cy="365522"/>
          </a:xfrm>
          <a:prstGeom prst="rect">
            <a:avLst/>
          </a:prstGeom>
          <a:noFill/>
          <a:ln/>
        </p:spPr>
        <p:txBody>
          <a:bodyPr wrap="square" lIns="0" tIns="0" rIns="0" bIns="0" rtlCol="0" anchor="t"/>
          <a:lstStyle/>
          <a:p>
            <a:pPr algn="l" indent="0" marL="0">
              <a:lnSpc>
                <a:spcPts val="1440"/>
              </a:lnSpc>
              <a:buNone/>
            </a:pPr>
            <a:r>
              <a:rPr lang="en-US" sz="900" dirty="0">
                <a:solidFill>
                  <a:srgbClr val="6B7280"/>
                </a:solidFill>
                <a:latin typeface="Arial" pitchFamily="34" charset="0"/>
                <a:ea typeface="Arial" pitchFamily="34" charset="-122"/>
                <a:cs typeface="Arial" pitchFamily="34" charset="-120"/>
              </a:rPr>
              <a:t>Enhanced dictation and document creation</a:t>
            </a:r>
            <a:endParaRPr lang="en-US" sz="900" dirty="0"/>
          </a:p>
        </p:txBody>
      </p:sp>
      <p:sp>
        <p:nvSpPr>
          <p:cNvPr id="20" name="Text 18"/>
          <p:cNvSpPr/>
          <p:nvPr/>
        </p:nvSpPr>
        <p:spPr>
          <a:xfrm>
            <a:off x="457200" y="4271070"/>
            <a:ext cx="8229600" cy="567630"/>
          </a:xfrm>
          <a:prstGeom prst="rect">
            <a:avLst/>
          </a:prstGeom>
          <a:solidFill>
            <a:srgbClr val="1A1F2E"/>
          </a:solidFill>
          <a:ln/>
        </p:spPr>
        <p:txBody>
          <a:bodyPr wrap="square" rtlCol="0" anchor="ctr"/>
          <a:lstStyle/>
          <a:p>
            <a:pPr indent="0" marL="0">
              <a:buNone/>
            </a:pPr>
            <a:endParaRPr lang="en-US" dirty="0"/>
          </a:p>
        </p:txBody>
      </p:sp>
      <p:sp>
        <p:nvSpPr>
          <p:cNvPr id="21" name="Text 19"/>
          <p:cNvSpPr/>
          <p:nvPr/>
        </p:nvSpPr>
        <p:spPr>
          <a:xfrm>
            <a:off x="608076" y="4461570"/>
            <a:ext cx="7927848" cy="186630"/>
          </a:xfrm>
          <a:prstGeom prst="rect">
            <a:avLst/>
          </a:prstGeom>
          <a:noFill/>
          <a:ln/>
        </p:spPr>
        <p:txBody>
          <a:bodyPr wrap="square" lIns="0" tIns="0" rIns="0" bIns="0" rtlCol="0" anchor="t"/>
          <a:lstStyle/>
          <a:p>
            <a:pPr algn="ctr" indent="0" marL="0">
              <a:lnSpc>
                <a:spcPts val="1470"/>
              </a:lnSpc>
              <a:buNone/>
            </a:pPr>
            <a:r>
              <a:rPr lang="en-US" sz="1050" dirty="0">
                <a:solidFill>
                  <a:srgbClr val="FFFFFF"/>
                </a:solidFill>
                <a:latin typeface="Arial" pitchFamily="34" charset="0"/>
                <a:ea typeface="Arial" pitchFamily="34" charset="-122"/>
                <a:cs typeface="Arial" pitchFamily="34" charset="-120"/>
              </a:rPr>
              <a:t>Everyone benefits from voice input — it's not just for coders</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3153817" cy="5143500"/>
          </a:xfrm>
          <a:prstGeom prst="rect">
            <a:avLst/>
          </a:prstGeom>
          <a:solidFill>
            <a:srgbClr val="C9A227"/>
          </a:solidFill>
          <a:ln/>
        </p:spPr>
        <p:txBody>
          <a:bodyPr wrap="square" rtlCol="0" anchor="ctr"/>
          <a:lstStyle/>
          <a:p>
            <a:pPr indent="0" marL="0">
              <a:buNone/>
            </a:pPr>
            <a:endParaRPr lang="en-US" dirty="0"/>
          </a:p>
        </p:txBody>
      </p:sp>
      <p:sp>
        <p:nvSpPr>
          <p:cNvPr id="3" name="Text 1"/>
          <p:cNvSpPr/>
          <p:nvPr/>
        </p:nvSpPr>
        <p:spPr>
          <a:xfrm>
            <a:off x="457200" y="1387822"/>
            <a:ext cx="2284205" cy="146596"/>
          </a:xfrm>
          <a:prstGeom prst="rect">
            <a:avLst/>
          </a:prstGeom>
          <a:noFill/>
          <a:ln/>
        </p:spPr>
        <p:txBody>
          <a:bodyPr wrap="square" lIns="0" tIns="0" rIns="0" bIns="0" rtlCol="0" anchor="t"/>
          <a:lstStyle/>
          <a:p>
            <a:pPr algn="l" indent="0" marL="0">
              <a:lnSpc>
                <a:spcPts val="1155"/>
              </a:lnSpc>
              <a:spcAft>
                <a:spcPts val="1200"/>
              </a:spcAft>
              <a:buNone/>
            </a:pPr>
            <a:r>
              <a:rPr lang="en-US" sz="825" dirty="0">
                <a:solidFill>
                  <a:srgbClr val="1A1F2E"/>
                </a:solidFill>
                <a:latin typeface="Arial" pitchFamily="34" charset="0"/>
                <a:ea typeface="Arial" pitchFamily="34" charset="-122"/>
                <a:cs typeface="Arial" pitchFamily="34" charset="-120"/>
              </a:rPr>
              <a:t>PART 1 OF 3</a:t>
            </a:r>
            <a:endParaRPr lang="en-US" sz="825" dirty="0"/>
          </a:p>
        </p:txBody>
      </p:sp>
      <p:sp>
        <p:nvSpPr>
          <p:cNvPr id="4" name="Text 2"/>
          <p:cNvSpPr/>
          <p:nvPr/>
        </p:nvSpPr>
        <p:spPr>
          <a:xfrm>
            <a:off x="457200" y="1839218"/>
            <a:ext cx="1321308" cy="838200"/>
          </a:xfrm>
          <a:prstGeom prst="rect">
            <a:avLst/>
          </a:prstGeom>
          <a:noFill/>
          <a:ln/>
        </p:spPr>
        <p:txBody>
          <a:bodyPr wrap="square" lIns="0" tIns="0" rIns="0" bIns="0" rtlCol="0" anchor="t"/>
          <a:lstStyle/>
          <a:p>
            <a:pPr algn="l" indent="0" marL="0">
              <a:lnSpc>
                <a:spcPts val="3300"/>
              </a:lnSpc>
              <a:spcAft>
                <a:spcPts val="1500"/>
              </a:spcAft>
              <a:buNone/>
            </a:pPr>
            <a:r>
              <a:rPr lang="en-US" sz="3000" dirty="0">
                <a:solidFill>
                  <a:srgbClr val="1A1F2E"/>
                </a:solidFill>
                <a:latin typeface="Georgia" pitchFamily="34" charset="0"/>
                <a:ea typeface="Georgia" pitchFamily="34" charset="-122"/>
                <a:cs typeface="Georgia" pitchFamily="34" charset="-120"/>
              </a:rPr>
              <a:t>Today's</a:t>
            </a:r>
            <a:endParaRPr lang="en-US" sz="3000" dirty="0"/>
          </a:p>
          <a:p>
            <a:pPr algn="l" indent="0" marL="0">
              <a:lnSpc>
                <a:spcPts val="3300"/>
              </a:lnSpc>
              <a:spcAft>
                <a:spcPts val="1500"/>
              </a:spcAft>
              <a:buNone/>
            </a:pPr>
            <a:r>
              <a:rPr lang="en-US" sz="3000" dirty="0">
                <a:solidFill>
                  <a:srgbClr val="1A1F2E"/>
                </a:solidFill>
                <a:latin typeface="Georgia" pitchFamily="34" charset="0"/>
                <a:ea typeface="Georgia" pitchFamily="34" charset="-122"/>
                <a:cs typeface="Georgia" pitchFamily="34" charset="-120"/>
              </a:rPr>
              <a:t>Agenda</a:t>
            </a:r>
            <a:endParaRPr lang="en-US" sz="3000" dirty="0"/>
          </a:p>
        </p:txBody>
      </p:sp>
      <p:sp>
        <p:nvSpPr>
          <p:cNvPr id="5" name="Text 3"/>
          <p:cNvSpPr/>
          <p:nvPr/>
        </p:nvSpPr>
        <p:spPr>
          <a:xfrm>
            <a:off x="457200" y="3020318"/>
            <a:ext cx="457200" cy="19050"/>
          </a:xfrm>
          <a:prstGeom prst="rect">
            <a:avLst/>
          </a:prstGeom>
          <a:solidFill>
            <a:srgbClr val="1A1F2E"/>
          </a:solidFill>
          <a:ln/>
        </p:spPr>
        <p:txBody>
          <a:bodyPr wrap="square" rtlCol="0" anchor="ctr"/>
          <a:lstStyle/>
          <a:p>
            <a:pPr indent="0" marL="0">
              <a:buNone/>
            </a:pPr>
            <a:endParaRPr lang="en-US" dirty="0"/>
          </a:p>
        </p:txBody>
      </p:sp>
      <p:sp>
        <p:nvSpPr>
          <p:cNvPr id="6" name="Text 4"/>
          <p:cNvSpPr/>
          <p:nvPr/>
        </p:nvSpPr>
        <p:spPr>
          <a:xfrm>
            <a:off x="457200" y="3382268"/>
            <a:ext cx="2284205" cy="373261"/>
          </a:xfrm>
          <a:prstGeom prst="rect">
            <a:avLst/>
          </a:prstGeom>
          <a:noFill/>
          <a:ln/>
        </p:spPr>
        <p:txBody>
          <a:bodyPr wrap="square" lIns="0" tIns="0" rIns="0" bIns="0" rtlCol="0" anchor="t"/>
          <a:lstStyle/>
          <a:p>
            <a:pPr algn="l" indent="0" marL="0">
              <a:lnSpc>
                <a:spcPts val="1470"/>
              </a:lnSpc>
              <a:buNone/>
            </a:pPr>
            <a:r>
              <a:rPr lang="en-US" sz="1050" dirty="0">
                <a:solidFill>
                  <a:srgbClr val="1A1F2E">
                    <a:alpha val="80000"/>
                  </a:srgbClr>
                </a:solidFill>
                <a:latin typeface="Arial" pitchFamily="34" charset="0"/>
                <a:ea typeface="Arial" pitchFamily="34" charset="-122"/>
                <a:cs typeface="Arial" pitchFamily="34" charset="-120"/>
              </a:rPr>
              <a:t>90 minutes to understand, choose, and configure your voice tools</a:t>
            </a:r>
            <a:endParaRPr lang="en-US" sz="1050" dirty="0"/>
          </a:p>
        </p:txBody>
      </p:sp>
      <p:sp>
        <p:nvSpPr>
          <p:cNvPr id="7" name="Text 5"/>
          <p:cNvSpPr/>
          <p:nvPr/>
        </p:nvSpPr>
        <p:spPr>
          <a:xfrm>
            <a:off x="3306217" y="0"/>
            <a:ext cx="5837783" cy="5143500"/>
          </a:xfrm>
          <a:prstGeom prst="rect">
            <a:avLst/>
          </a:prstGeom>
          <a:solidFill>
            <a:srgbClr val="F7F8FA"/>
          </a:solidFill>
          <a:ln/>
        </p:spPr>
        <p:txBody>
          <a:bodyPr wrap="square" rtlCol="0" anchor="ctr"/>
          <a:lstStyle/>
          <a:p>
            <a:pPr indent="0" marL="0">
              <a:buNone/>
            </a:pPr>
            <a:endParaRPr lang="en-US" dirty="0"/>
          </a:p>
        </p:txBody>
      </p:sp>
      <p:sp>
        <p:nvSpPr>
          <p:cNvPr id="8" name="Text 6"/>
          <p:cNvSpPr/>
          <p:nvPr/>
        </p:nvSpPr>
        <p:spPr>
          <a:xfrm>
            <a:off x="3687217" y="701427"/>
            <a:ext cx="5075783" cy="401836"/>
          </a:xfrm>
          <a:prstGeom prst="rect">
            <a:avLst/>
          </a:prstGeom>
          <a:solidFill>
            <a:srgbClr val="1A1F2E"/>
          </a:solidFill>
          <a:ln/>
        </p:spPr>
        <p:txBody>
          <a:bodyPr wrap="square" rtlCol="0" anchor="ctr"/>
          <a:lstStyle/>
          <a:p>
            <a:pPr indent="0" marL="0">
              <a:buNone/>
            </a:pPr>
            <a:endParaRPr lang="en-US" dirty="0"/>
          </a:p>
        </p:txBody>
      </p:sp>
      <p:sp>
        <p:nvSpPr>
          <p:cNvPr id="9" name="Text 7"/>
          <p:cNvSpPr/>
          <p:nvPr/>
        </p:nvSpPr>
        <p:spPr>
          <a:xfrm>
            <a:off x="3858667" y="828973"/>
            <a:ext cx="582930" cy="146596"/>
          </a:xfrm>
          <a:prstGeom prst="rect">
            <a:avLst/>
          </a:prstGeom>
          <a:noFill/>
          <a:ln/>
        </p:spPr>
        <p:txBody>
          <a:bodyPr wrap="square" lIns="0" tIns="0" rIns="0" bIns="0" rtlCol="0" anchor="t"/>
          <a:lstStyle/>
          <a:p>
            <a:pPr algn="l" indent="0" marL="0">
              <a:lnSpc>
                <a:spcPts val="1155"/>
              </a:lnSpc>
              <a:buNone/>
            </a:pPr>
            <a:r>
              <a:rPr lang="en-US" sz="825" b="1" dirty="0">
                <a:solidFill>
                  <a:srgbClr val="C9A227"/>
                </a:solidFill>
                <a:latin typeface="Arial" pitchFamily="34" charset="0"/>
                <a:ea typeface="Arial" pitchFamily="34" charset="-122"/>
                <a:cs typeface="Arial" pitchFamily="34" charset="-120"/>
              </a:rPr>
              <a:t>10 min</a:t>
            </a:r>
            <a:endParaRPr lang="en-US" sz="825" dirty="0"/>
          </a:p>
        </p:txBody>
      </p:sp>
      <p:sp>
        <p:nvSpPr>
          <p:cNvPr id="10" name="Text 8"/>
          <p:cNvSpPr/>
          <p:nvPr/>
        </p:nvSpPr>
        <p:spPr>
          <a:xfrm>
            <a:off x="4582567" y="815727"/>
            <a:ext cx="1783098" cy="173236"/>
          </a:xfrm>
          <a:prstGeom prst="rect">
            <a:avLst/>
          </a:prstGeom>
          <a:noFill/>
          <a:ln/>
        </p:spPr>
        <p:txBody>
          <a:bodyPr wrap="square" lIns="0" tIns="0" rIns="0" bIns="0" rtlCol="0" anchor="t"/>
          <a:lstStyle/>
          <a:p>
            <a:pPr algn="l" indent="0" marL="0">
              <a:lnSpc>
                <a:spcPts val="1365"/>
              </a:lnSpc>
              <a:buNone/>
            </a:pPr>
            <a:r>
              <a:rPr lang="en-US" sz="975" dirty="0">
                <a:solidFill>
                  <a:srgbClr val="FFFFFF"/>
                </a:solidFill>
                <a:latin typeface="Arial" pitchFamily="34" charset="0"/>
                <a:ea typeface="Arial" pitchFamily="34" charset="-122"/>
                <a:cs typeface="Arial" pitchFamily="34" charset="-120"/>
              </a:rPr>
              <a:t>Why Voice-Driven Development</a:t>
            </a:r>
            <a:endParaRPr lang="en-US" sz="975" dirty="0"/>
          </a:p>
        </p:txBody>
      </p:sp>
      <p:sp>
        <p:nvSpPr>
          <p:cNvPr id="11" name="Text 9"/>
          <p:cNvSpPr/>
          <p:nvPr/>
        </p:nvSpPr>
        <p:spPr>
          <a:xfrm>
            <a:off x="3687217" y="1160413"/>
            <a:ext cx="5075783" cy="420886"/>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2" name="Text 10"/>
          <p:cNvSpPr/>
          <p:nvPr/>
        </p:nvSpPr>
        <p:spPr>
          <a:xfrm>
            <a:off x="3868192" y="1297484"/>
            <a:ext cx="582930" cy="146596"/>
          </a:xfrm>
          <a:prstGeom prst="rect">
            <a:avLst/>
          </a:prstGeom>
          <a:noFill/>
          <a:ln/>
        </p:spPr>
        <p:txBody>
          <a:bodyPr wrap="square" lIns="0" tIns="0" rIns="0" bIns="0" rtlCol="0" anchor="t"/>
          <a:lstStyle/>
          <a:p>
            <a:pPr algn="l" indent="0" marL="0">
              <a:lnSpc>
                <a:spcPts val="1155"/>
              </a:lnSpc>
              <a:buNone/>
            </a:pPr>
            <a:r>
              <a:rPr lang="en-US" sz="825" b="1" dirty="0">
                <a:solidFill>
                  <a:srgbClr val="C9A227"/>
                </a:solidFill>
                <a:latin typeface="Arial" pitchFamily="34" charset="0"/>
                <a:ea typeface="Arial" pitchFamily="34" charset="-122"/>
                <a:cs typeface="Arial" pitchFamily="34" charset="-120"/>
              </a:rPr>
              <a:t>10 min</a:t>
            </a:r>
            <a:endParaRPr lang="en-US" sz="825" dirty="0"/>
          </a:p>
        </p:txBody>
      </p:sp>
      <p:sp>
        <p:nvSpPr>
          <p:cNvPr id="13" name="Text 11"/>
          <p:cNvSpPr/>
          <p:nvPr/>
        </p:nvSpPr>
        <p:spPr>
          <a:xfrm>
            <a:off x="4592092" y="1284238"/>
            <a:ext cx="1289733" cy="173236"/>
          </a:xfrm>
          <a:prstGeom prst="rect">
            <a:avLst/>
          </a:prstGeom>
          <a:noFill/>
          <a:ln/>
        </p:spPr>
        <p:txBody>
          <a:bodyPr wrap="square" lIns="0" tIns="0" rIns="0" bIns="0" rtlCol="0" anchor="t"/>
          <a:lstStyle/>
          <a:p>
            <a:pPr algn="l" indent="0" marL="0">
              <a:lnSpc>
                <a:spcPts val="1365"/>
              </a:lnSpc>
              <a:buNone/>
            </a:pPr>
            <a:r>
              <a:rPr lang="en-US" sz="975" dirty="0">
                <a:solidFill>
                  <a:srgbClr val="1A1F2E"/>
                </a:solidFill>
                <a:latin typeface="Arial" pitchFamily="34" charset="0"/>
                <a:ea typeface="Arial" pitchFamily="34" charset="-122"/>
                <a:cs typeface="Arial" pitchFamily="34" charset="-120"/>
              </a:rPr>
              <a:t>Voice Tools Landscape</a:t>
            </a:r>
            <a:endParaRPr lang="en-US" sz="975" dirty="0"/>
          </a:p>
        </p:txBody>
      </p:sp>
      <p:sp>
        <p:nvSpPr>
          <p:cNvPr id="14" name="Text 12"/>
          <p:cNvSpPr/>
          <p:nvPr/>
        </p:nvSpPr>
        <p:spPr>
          <a:xfrm>
            <a:off x="3687217" y="1638449"/>
            <a:ext cx="5075783" cy="420886"/>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5" name="Text 13"/>
          <p:cNvSpPr/>
          <p:nvPr/>
        </p:nvSpPr>
        <p:spPr>
          <a:xfrm>
            <a:off x="3868192" y="1775520"/>
            <a:ext cx="582930" cy="146596"/>
          </a:xfrm>
          <a:prstGeom prst="rect">
            <a:avLst/>
          </a:prstGeom>
          <a:noFill/>
          <a:ln/>
        </p:spPr>
        <p:txBody>
          <a:bodyPr wrap="square" lIns="0" tIns="0" rIns="0" bIns="0" rtlCol="0" anchor="t"/>
          <a:lstStyle/>
          <a:p>
            <a:pPr algn="l" indent="0" marL="0">
              <a:lnSpc>
                <a:spcPts val="1155"/>
              </a:lnSpc>
              <a:buNone/>
            </a:pPr>
            <a:r>
              <a:rPr lang="en-US" sz="825" b="1" dirty="0">
                <a:solidFill>
                  <a:srgbClr val="C9A227"/>
                </a:solidFill>
                <a:latin typeface="Arial" pitchFamily="34" charset="0"/>
                <a:ea typeface="Arial" pitchFamily="34" charset="-122"/>
                <a:cs typeface="Arial" pitchFamily="34" charset="-120"/>
              </a:rPr>
              <a:t>10 min</a:t>
            </a:r>
            <a:endParaRPr lang="en-US" sz="825" dirty="0"/>
          </a:p>
        </p:txBody>
      </p:sp>
      <p:sp>
        <p:nvSpPr>
          <p:cNvPr id="16" name="Text 14"/>
          <p:cNvSpPr/>
          <p:nvPr/>
        </p:nvSpPr>
        <p:spPr>
          <a:xfrm>
            <a:off x="4592092" y="1762274"/>
            <a:ext cx="1698846" cy="173236"/>
          </a:xfrm>
          <a:prstGeom prst="rect">
            <a:avLst/>
          </a:prstGeom>
          <a:noFill/>
          <a:ln/>
        </p:spPr>
        <p:txBody>
          <a:bodyPr wrap="square" lIns="0" tIns="0" rIns="0" bIns="0" rtlCol="0" anchor="t"/>
          <a:lstStyle/>
          <a:p>
            <a:pPr algn="l" indent="0" marL="0">
              <a:lnSpc>
                <a:spcPts val="1365"/>
              </a:lnSpc>
              <a:buNone/>
            </a:pPr>
            <a:r>
              <a:rPr lang="en-US" sz="975" dirty="0">
                <a:solidFill>
                  <a:srgbClr val="1A1F2E"/>
                </a:solidFill>
                <a:latin typeface="Arial" pitchFamily="34" charset="0"/>
                <a:ea typeface="Arial" pitchFamily="34" charset="-122"/>
                <a:cs typeface="Arial" pitchFamily="34" charset="-120"/>
              </a:rPr>
              <a:t>Security &amp; PHI Considerations</a:t>
            </a:r>
            <a:endParaRPr lang="en-US" sz="975" dirty="0"/>
          </a:p>
        </p:txBody>
      </p:sp>
      <p:sp>
        <p:nvSpPr>
          <p:cNvPr id="17" name="Text 15"/>
          <p:cNvSpPr/>
          <p:nvPr/>
        </p:nvSpPr>
        <p:spPr>
          <a:xfrm>
            <a:off x="3687217" y="2116485"/>
            <a:ext cx="5075783" cy="420886"/>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8" name="Text 16"/>
          <p:cNvSpPr/>
          <p:nvPr/>
        </p:nvSpPr>
        <p:spPr>
          <a:xfrm>
            <a:off x="3868192" y="2253555"/>
            <a:ext cx="582930" cy="146596"/>
          </a:xfrm>
          <a:prstGeom prst="rect">
            <a:avLst/>
          </a:prstGeom>
          <a:noFill/>
          <a:ln/>
        </p:spPr>
        <p:txBody>
          <a:bodyPr wrap="square" lIns="0" tIns="0" rIns="0" bIns="0" rtlCol="0" anchor="t"/>
          <a:lstStyle/>
          <a:p>
            <a:pPr algn="l" indent="0" marL="0">
              <a:lnSpc>
                <a:spcPts val="1155"/>
              </a:lnSpc>
              <a:buNone/>
            </a:pPr>
            <a:r>
              <a:rPr lang="en-US" sz="825" b="1" dirty="0">
                <a:solidFill>
                  <a:srgbClr val="C9A227"/>
                </a:solidFill>
                <a:latin typeface="Arial" pitchFamily="34" charset="0"/>
                <a:ea typeface="Arial" pitchFamily="34" charset="-122"/>
                <a:cs typeface="Arial" pitchFamily="34" charset="-120"/>
              </a:rPr>
              <a:t>15 min</a:t>
            </a:r>
            <a:endParaRPr lang="en-US" sz="825" dirty="0"/>
          </a:p>
        </p:txBody>
      </p:sp>
      <p:sp>
        <p:nvSpPr>
          <p:cNvPr id="19" name="Text 17"/>
          <p:cNvSpPr/>
          <p:nvPr/>
        </p:nvSpPr>
        <p:spPr>
          <a:xfrm>
            <a:off x="4592092" y="2240310"/>
            <a:ext cx="2071223" cy="173236"/>
          </a:xfrm>
          <a:prstGeom prst="rect">
            <a:avLst/>
          </a:prstGeom>
          <a:noFill/>
          <a:ln/>
        </p:spPr>
        <p:txBody>
          <a:bodyPr wrap="square" lIns="0" tIns="0" rIns="0" bIns="0" rtlCol="0" anchor="t"/>
          <a:lstStyle/>
          <a:p>
            <a:pPr algn="l" indent="0" marL="0">
              <a:lnSpc>
                <a:spcPts val="1365"/>
              </a:lnSpc>
              <a:buNone/>
            </a:pPr>
            <a:r>
              <a:rPr lang="en-US" sz="975" dirty="0">
                <a:solidFill>
                  <a:srgbClr val="1A1F2E"/>
                </a:solidFill>
                <a:latin typeface="Arial" pitchFamily="34" charset="0"/>
                <a:ea typeface="Arial" pitchFamily="34" charset="-122"/>
                <a:cs typeface="Arial" pitchFamily="34" charset="-120"/>
              </a:rPr>
              <a:t>SuperWhisper Setup &amp; Configuration</a:t>
            </a:r>
            <a:endParaRPr lang="en-US" sz="975" dirty="0"/>
          </a:p>
        </p:txBody>
      </p:sp>
      <p:sp>
        <p:nvSpPr>
          <p:cNvPr id="20" name="Text 18"/>
          <p:cNvSpPr/>
          <p:nvPr/>
        </p:nvSpPr>
        <p:spPr>
          <a:xfrm>
            <a:off x="3687217" y="2594521"/>
            <a:ext cx="5075783" cy="420886"/>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21" name="Text 19"/>
          <p:cNvSpPr/>
          <p:nvPr/>
        </p:nvSpPr>
        <p:spPr>
          <a:xfrm>
            <a:off x="3868192" y="2731591"/>
            <a:ext cx="582930" cy="146596"/>
          </a:xfrm>
          <a:prstGeom prst="rect">
            <a:avLst/>
          </a:prstGeom>
          <a:noFill/>
          <a:ln/>
        </p:spPr>
        <p:txBody>
          <a:bodyPr wrap="square" lIns="0" tIns="0" rIns="0" bIns="0" rtlCol="0" anchor="t"/>
          <a:lstStyle/>
          <a:p>
            <a:pPr algn="l" indent="0" marL="0">
              <a:lnSpc>
                <a:spcPts val="1155"/>
              </a:lnSpc>
              <a:buNone/>
            </a:pPr>
            <a:r>
              <a:rPr lang="en-US" sz="825" b="1" dirty="0">
                <a:solidFill>
                  <a:srgbClr val="C9A227"/>
                </a:solidFill>
                <a:latin typeface="Arial" pitchFamily="34" charset="0"/>
                <a:ea typeface="Arial" pitchFamily="34" charset="-122"/>
                <a:cs typeface="Arial" pitchFamily="34" charset="-120"/>
              </a:rPr>
              <a:t>20 min</a:t>
            </a:r>
            <a:endParaRPr lang="en-US" sz="825" dirty="0"/>
          </a:p>
        </p:txBody>
      </p:sp>
      <p:sp>
        <p:nvSpPr>
          <p:cNvPr id="22" name="Text 20"/>
          <p:cNvSpPr/>
          <p:nvPr/>
        </p:nvSpPr>
        <p:spPr>
          <a:xfrm>
            <a:off x="4592092" y="2718346"/>
            <a:ext cx="1387647" cy="173236"/>
          </a:xfrm>
          <a:prstGeom prst="rect">
            <a:avLst/>
          </a:prstGeom>
          <a:noFill/>
          <a:ln/>
        </p:spPr>
        <p:txBody>
          <a:bodyPr wrap="square" lIns="0" tIns="0" rIns="0" bIns="0" rtlCol="0" anchor="t"/>
          <a:lstStyle/>
          <a:p>
            <a:pPr algn="l" indent="0" marL="0">
              <a:lnSpc>
                <a:spcPts val="1365"/>
              </a:lnSpc>
              <a:buNone/>
            </a:pPr>
            <a:r>
              <a:rPr lang="en-US" sz="975" dirty="0">
                <a:solidFill>
                  <a:srgbClr val="1A1F2E"/>
                </a:solidFill>
                <a:latin typeface="Arial" pitchFamily="34" charset="0"/>
                <a:ea typeface="Arial" pitchFamily="34" charset="-122"/>
                <a:cs typeface="Arial" pitchFamily="34" charset="-120"/>
              </a:rPr>
              <a:t>Custom Mode Workshop</a:t>
            </a:r>
            <a:endParaRPr lang="en-US" sz="975" dirty="0"/>
          </a:p>
        </p:txBody>
      </p:sp>
      <p:sp>
        <p:nvSpPr>
          <p:cNvPr id="23" name="Text 21"/>
          <p:cNvSpPr/>
          <p:nvPr/>
        </p:nvSpPr>
        <p:spPr>
          <a:xfrm>
            <a:off x="3687217" y="3072557"/>
            <a:ext cx="5075783" cy="420886"/>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24" name="Text 22"/>
          <p:cNvSpPr/>
          <p:nvPr/>
        </p:nvSpPr>
        <p:spPr>
          <a:xfrm>
            <a:off x="3868192" y="3209627"/>
            <a:ext cx="582930" cy="146596"/>
          </a:xfrm>
          <a:prstGeom prst="rect">
            <a:avLst/>
          </a:prstGeom>
          <a:noFill/>
          <a:ln/>
        </p:spPr>
        <p:txBody>
          <a:bodyPr wrap="square" lIns="0" tIns="0" rIns="0" bIns="0" rtlCol="0" anchor="t"/>
          <a:lstStyle/>
          <a:p>
            <a:pPr algn="l" indent="0" marL="0">
              <a:lnSpc>
                <a:spcPts val="1155"/>
              </a:lnSpc>
              <a:buNone/>
            </a:pPr>
            <a:r>
              <a:rPr lang="en-US" sz="825" b="1" dirty="0">
                <a:solidFill>
                  <a:srgbClr val="C9A227"/>
                </a:solidFill>
                <a:latin typeface="Arial" pitchFamily="34" charset="0"/>
                <a:ea typeface="Arial" pitchFamily="34" charset="-122"/>
                <a:cs typeface="Arial" pitchFamily="34" charset="-120"/>
              </a:rPr>
              <a:t>10 min</a:t>
            </a:r>
            <a:endParaRPr lang="en-US" sz="825" dirty="0"/>
          </a:p>
        </p:txBody>
      </p:sp>
      <p:sp>
        <p:nvSpPr>
          <p:cNvPr id="25" name="Text 23"/>
          <p:cNvSpPr/>
          <p:nvPr/>
        </p:nvSpPr>
        <p:spPr>
          <a:xfrm>
            <a:off x="4592092" y="3196382"/>
            <a:ext cx="1088136" cy="173236"/>
          </a:xfrm>
          <a:prstGeom prst="rect">
            <a:avLst/>
          </a:prstGeom>
          <a:noFill/>
          <a:ln/>
        </p:spPr>
        <p:txBody>
          <a:bodyPr wrap="square" lIns="0" tIns="0" rIns="0" bIns="0" rtlCol="0" anchor="t"/>
          <a:lstStyle/>
          <a:p>
            <a:pPr algn="l" indent="0" marL="0">
              <a:lnSpc>
                <a:spcPts val="1365"/>
              </a:lnSpc>
              <a:buNone/>
            </a:pPr>
            <a:r>
              <a:rPr lang="en-US" sz="975" dirty="0">
                <a:solidFill>
                  <a:srgbClr val="1A1F2E"/>
                </a:solidFill>
                <a:latin typeface="Arial" pitchFamily="34" charset="0"/>
                <a:ea typeface="Arial" pitchFamily="34" charset="-122"/>
                <a:cs typeface="Arial" pitchFamily="34" charset="-120"/>
              </a:rPr>
              <a:t>Live Demonstration</a:t>
            </a:r>
            <a:endParaRPr lang="en-US" sz="975" dirty="0"/>
          </a:p>
        </p:txBody>
      </p:sp>
      <p:sp>
        <p:nvSpPr>
          <p:cNvPr id="26" name="Text 24"/>
          <p:cNvSpPr/>
          <p:nvPr/>
        </p:nvSpPr>
        <p:spPr>
          <a:xfrm>
            <a:off x="3687217" y="3550593"/>
            <a:ext cx="5075783" cy="420886"/>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27" name="Text 25"/>
          <p:cNvSpPr/>
          <p:nvPr/>
        </p:nvSpPr>
        <p:spPr>
          <a:xfrm>
            <a:off x="3868192" y="3687663"/>
            <a:ext cx="582930" cy="146596"/>
          </a:xfrm>
          <a:prstGeom prst="rect">
            <a:avLst/>
          </a:prstGeom>
          <a:noFill/>
          <a:ln/>
        </p:spPr>
        <p:txBody>
          <a:bodyPr wrap="square" lIns="0" tIns="0" rIns="0" bIns="0" rtlCol="0" anchor="t"/>
          <a:lstStyle/>
          <a:p>
            <a:pPr algn="l" indent="0" marL="0">
              <a:lnSpc>
                <a:spcPts val="1155"/>
              </a:lnSpc>
              <a:buNone/>
            </a:pPr>
            <a:r>
              <a:rPr lang="en-US" sz="825" b="1" dirty="0">
                <a:solidFill>
                  <a:srgbClr val="C9A227"/>
                </a:solidFill>
                <a:latin typeface="Arial" pitchFamily="34" charset="0"/>
                <a:ea typeface="Arial" pitchFamily="34" charset="-122"/>
                <a:cs typeface="Arial" pitchFamily="34" charset="-120"/>
              </a:rPr>
              <a:t>15 min</a:t>
            </a:r>
            <a:endParaRPr lang="en-US" sz="825" dirty="0"/>
          </a:p>
        </p:txBody>
      </p:sp>
      <p:sp>
        <p:nvSpPr>
          <p:cNvPr id="28" name="Text 26"/>
          <p:cNvSpPr/>
          <p:nvPr/>
        </p:nvSpPr>
        <p:spPr>
          <a:xfrm>
            <a:off x="4592092" y="3674418"/>
            <a:ext cx="1038951" cy="173236"/>
          </a:xfrm>
          <a:prstGeom prst="rect">
            <a:avLst/>
          </a:prstGeom>
          <a:noFill/>
          <a:ln/>
        </p:spPr>
        <p:txBody>
          <a:bodyPr wrap="square" lIns="0" tIns="0" rIns="0" bIns="0" rtlCol="0" anchor="t"/>
          <a:lstStyle/>
          <a:p>
            <a:pPr algn="l" indent="0" marL="0">
              <a:lnSpc>
                <a:spcPts val="1365"/>
              </a:lnSpc>
              <a:buNone/>
            </a:pPr>
            <a:r>
              <a:rPr lang="en-US" sz="975" dirty="0">
                <a:solidFill>
                  <a:srgbClr val="1A1F2E"/>
                </a:solidFill>
                <a:latin typeface="Arial" pitchFamily="34" charset="0"/>
                <a:ea typeface="Arial" pitchFamily="34" charset="-122"/>
                <a:cs typeface="Arial" pitchFamily="34" charset="-120"/>
              </a:rPr>
              <a:t>Next Steps &amp; Q&amp;A</a:t>
            </a:r>
            <a:endParaRPr lang="en-US" sz="975" dirty="0"/>
          </a:p>
        </p:txBody>
      </p:sp>
      <p:sp>
        <p:nvSpPr>
          <p:cNvPr id="29" name="Text 27"/>
          <p:cNvSpPr/>
          <p:nvPr/>
        </p:nvSpPr>
        <p:spPr>
          <a:xfrm>
            <a:off x="3687217" y="4104829"/>
            <a:ext cx="5075783" cy="337096"/>
          </a:xfrm>
          <a:prstGeom prst="rect">
            <a:avLst/>
          </a:prstGeom>
          <a:solidFill>
            <a:srgbClr val="DCFCE7"/>
          </a:solidFill>
          <a:ln/>
        </p:spPr>
        <p:txBody>
          <a:bodyPr wrap="square" rtlCol="0" anchor="ctr"/>
          <a:lstStyle/>
          <a:p>
            <a:pPr indent="0" marL="0">
              <a:buNone/>
            </a:pPr>
            <a:endParaRPr lang="en-US" dirty="0"/>
          </a:p>
        </p:txBody>
      </p:sp>
      <p:sp>
        <p:nvSpPr>
          <p:cNvPr id="30" name="Shape 28"/>
          <p:cNvSpPr/>
          <p:nvPr/>
        </p:nvSpPr>
        <p:spPr>
          <a:xfrm>
            <a:off x="3701504" y="4104829"/>
            <a:ext cx="0" cy="337096"/>
          </a:xfrm>
          <a:prstGeom prst="line">
            <a:avLst/>
          </a:prstGeom>
          <a:noFill/>
          <a:ln w="28575">
            <a:solidFill>
              <a:srgbClr val="059669"/>
            </a:solidFill>
            <a:prstDash val="solid"/>
          </a:ln>
        </p:spPr>
      </p:sp>
      <p:sp>
        <p:nvSpPr>
          <p:cNvPr id="31" name="Text 29"/>
          <p:cNvSpPr/>
          <p:nvPr/>
        </p:nvSpPr>
        <p:spPr>
          <a:xfrm>
            <a:off x="3849142" y="4200079"/>
            <a:ext cx="4876118" cy="146596"/>
          </a:xfrm>
          <a:prstGeom prst="rect">
            <a:avLst/>
          </a:prstGeom>
          <a:noFill/>
          <a:ln/>
        </p:spPr>
        <p:txBody>
          <a:bodyPr wrap="square" lIns="0" tIns="0" rIns="0" bIns="0" rtlCol="0" anchor="t"/>
          <a:lstStyle/>
          <a:p>
            <a:pPr algn="l" indent="0" marL="0">
              <a:lnSpc>
                <a:spcPts val="1155"/>
              </a:lnSpc>
              <a:buNone/>
            </a:pPr>
            <a:r>
              <a:rPr lang="en-US" sz="825" dirty="0">
                <a:solidFill>
                  <a:srgbClr val="166534"/>
                </a:solidFill>
                <a:latin typeface="Arial" pitchFamily="34" charset="0"/>
                <a:ea typeface="Arial" pitchFamily="34" charset="-122"/>
                <a:cs typeface="Arial" pitchFamily="34" charset="-120"/>
              </a:rPr>
              <a:t>Workshop materials &amp; exercises available for independent practice</a:t>
            </a:r>
            <a:endParaRPr lang="en-US" sz="82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980722" y="957411"/>
            <a:ext cx="1182407" cy="186630"/>
          </a:xfrm>
          <a:prstGeom prst="rect">
            <a:avLst/>
          </a:prstGeom>
          <a:noFill/>
          <a:ln/>
        </p:spPr>
        <p:txBody>
          <a:bodyPr wrap="square" lIns="0" tIns="0" rIns="0" bIns="0" rtlCol="0" anchor="t"/>
          <a:lstStyle/>
          <a:p>
            <a:pPr algn="ctr" indent="0" marL="0">
              <a:lnSpc>
                <a:spcPts val="1470"/>
              </a:lnSpc>
              <a:spcAft>
                <a:spcPts val="1800"/>
              </a:spcAft>
              <a:buNone/>
            </a:pPr>
            <a:r>
              <a:rPr lang="en-US" sz="1050" dirty="0">
                <a:solidFill>
                  <a:srgbClr val="C9A227"/>
                </a:solidFill>
                <a:latin typeface="Arial" pitchFamily="34" charset="0"/>
                <a:ea typeface="Arial" pitchFamily="34" charset="-122"/>
                <a:cs typeface="Arial" pitchFamily="34" charset="-120"/>
              </a:rPr>
              <a:t>SECTION 02</a:t>
            </a:r>
            <a:endParaRPr lang="en-US" sz="1050" dirty="0"/>
          </a:p>
        </p:txBody>
      </p:sp>
      <p:sp>
        <p:nvSpPr>
          <p:cNvPr id="3" name="Text 1"/>
          <p:cNvSpPr/>
          <p:nvPr/>
        </p:nvSpPr>
        <p:spPr>
          <a:xfrm>
            <a:off x="2751863" y="1525042"/>
            <a:ext cx="3640125" cy="457200"/>
          </a:xfrm>
          <a:prstGeom prst="rect">
            <a:avLst/>
          </a:prstGeom>
          <a:noFill/>
          <a:ln/>
        </p:spPr>
        <p:txBody>
          <a:bodyPr wrap="square" lIns="0" tIns="0" rIns="0" bIns="0" rtlCol="0" anchor="t"/>
          <a:lstStyle/>
          <a:p>
            <a:pPr algn="ctr" indent="0" marL="0">
              <a:lnSpc>
                <a:spcPts val="3600"/>
              </a:lnSpc>
              <a:spcAft>
                <a:spcPts val="900"/>
              </a:spcAft>
              <a:buNone/>
            </a:pPr>
            <a:r>
              <a:rPr lang="en-US" sz="3600" dirty="0">
                <a:solidFill>
                  <a:srgbClr val="FFFFFF"/>
                </a:solidFill>
                <a:latin typeface="Georgia" pitchFamily="34" charset="0"/>
                <a:ea typeface="Georgia" pitchFamily="34" charset="-122"/>
                <a:cs typeface="Georgia" pitchFamily="34" charset="-120"/>
              </a:rPr>
              <a:t>Voice Input Tools</a:t>
            </a:r>
            <a:endParaRPr lang="en-US" sz="3600" dirty="0"/>
          </a:p>
        </p:txBody>
      </p:sp>
      <p:sp>
        <p:nvSpPr>
          <p:cNvPr id="4" name="Text 2"/>
          <p:cNvSpPr/>
          <p:nvPr/>
        </p:nvSpPr>
        <p:spPr>
          <a:xfrm>
            <a:off x="3656012" y="2248942"/>
            <a:ext cx="1831827" cy="293340"/>
          </a:xfrm>
          <a:prstGeom prst="rect">
            <a:avLst/>
          </a:prstGeom>
          <a:noFill/>
          <a:ln/>
        </p:spPr>
        <p:txBody>
          <a:bodyPr wrap="square" lIns="0" tIns="0" rIns="0" bIns="0" rtlCol="0" anchor="t"/>
          <a:lstStyle/>
          <a:p>
            <a:pPr algn="ctr" indent="0" marL="0">
              <a:lnSpc>
                <a:spcPts val="2310"/>
              </a:lnSpc>
              <a:spcAft>
                <a:spcPts val="2400"/>
              </a:spcAft>
              <a:buNone/>
            </a:pPr>
            <a:r>
              <a:rPr lang="en-US" sz="1650" i="1" dirty="0">
                <a:solidFill>
                  <a:srgbClr val="FFFFFF">
                    <a:alpha val="80000"/>
                  </a:srgbClr>
                </a:solidFill>
                <a:latin typeface="Georgia" pitchFamily="34" charset="0"/>
                <a:ea typeface="Georgia" pitchFamily="34" charset="-122"/>
                <a:cs typeface="Georgia" pitchFamily="34" charset="-120"/>
              </a:rPr>
              <a:t>The Acoustic Layer</a:t>
            </a:r>
            <a:endParaRPr lang="en-US" sz="1650" dirty="0"/>
          </a:p>
        </p:txBody>
      </p:sp>
      <p:sp>
        <p:nvSpPr>
          <p:cNvPr id="5" name="Text 3"/>
          <p:cNvSpPr/>
          <p:nvPr/>
        </p:nvSpPr>
        <p:spPr>
          <a:xfrm>
            <a:off x="4191000" y="2999482"/>
            <a:ext cx="762000" cy="19050"/>
          </a:xfrm>
          <a:prstGeom prst="rect">
            <a:avLst/>
          </a:prstGeom>
          <a:solidFill>
            <a:srgbClr val="C9A227"/>
          </a:solidFill>
          <a:ln/>
        </p:spPr>
        <p:txBody>
          <a:bodyPr wrap="square" rtlCol="0" anchor="ctr"/>
          <a:lstStyle/>
          <a:p>
            <a:pPr indent="0" marL="0">
              <a:buNone/>
            </a:pPr>
            <a:endParaRPr lang="en-US" dirty="0"/>
          </a:p>
        </p:txBody>
      </p:sp>
      <p:sp>
        <p:nvSpPr>
          <p:cNvPr id="6" name="Text 4"/>
          <p:cNvSpPr/>
          <p:nvPr/>
        </p:nvSpPr>
        <p:spPr>
          <a:xfrm>
            <a:off x="3568349" y="3475732"/>
            <a:ext cx="162279" cy="373261"/>
          </a:xfrm>
          <a:prstGeom prst="rect">
            <a:avLst/>
          </a:prstGeom>
          <a:noFill/>
          <a:ln/>
        </p:spPr>
        <p:txBody>
          <a:bodyPr wrap="square" lIns="0" tIns="0" rIns="0" bIns="0" rtlCol="0" anchor="t"/>
          <a:lstStyle/>
          <a:p>
            <a:pPr algn="ctr" indent="0" marL="0">
              <a:lnSpc>
                <a:spcPts val="2940"/>
              </a:lnSpc>
              <a:buNone/>
            </a:pPr>
            <a:r>
              <a:rPr lang="en-US" sz="2100" dirty="0">
                <a:solidFill>
                  <a:srgbClr val="C9A227"/>
                </a:solidFill>
                <a:latin typeface="Georgia" pitchFamily="34" charset="0"/>
                <a:ea typeface="Georgia" pitchFamily="34" charset="-122"/>
                <a:cs typeface="Georgia" pitchFamily="34" charset="-120"/>
              </a:rPr>
              <a:t>8</a:t>
            </a:r>
            <a:endParaRPr lang="en-US" sz="2100" dirty="0"/>
          </a:p>
        </p:txBody>
      </p:sp>
      <p:sp>
        <p:nvSpPr>
          <p:cNvPr id="7" name="Text 5"/>
          <p:cNvSpPr/>
          <p:nvPr/>
        </p:nvSpPr>
        <p:spPr>
          <a:xfrm>
            <a:off x="3310889" y="4039493"/>
            <a:ext cx="677201" cy="146596"/>
          </a:xfrm>
          <a:prstGeom prst="rect">
            <a:avLst/>
          </a:prstGeom>
          <a:noFill/>
          <a:ln/>
        </p:spPr>
        <p:txBody>
          <a:bodyPr wrap="square" lIns="0" tIns="0" rIns="0" bIns="0" rtlCol="0" anchor="t"/>
          <a:lstStyle/>
          <a:p>
            <a:pPr algn="ctr" indent="0" marL="0">
              <a:lnSpc>
                <a:spcPts val="1155"/>
              </a:lnSpc>
              <a:spcBef>
                <a:spcPts val="300"/>
              </a:spcBef>
              <a:buNone/>
            </a:pPr>
            <a:r>
              <a:rPr lang="en-US" sz="825" dirty="0">
                <a:solidFill>
                  <a:srgbClr val="FFFFFF">
                    <a:alpha val="50000"/>
                  </a:srgbClr>
                </a:solidFill>
                <a:latin typeface="Arial" pitchFamily="34" charset="0"/>
                <a:ea typeface="Arial" pitchFamily="34" charset="-122"/>
                <a:cs typeface="Arial" pitchFamily="34" charset="-120"/>
              </a:rPr>
              <a:t>SuperWhisper</a:t>
            </a:r>
            <a:endParaRPr lang="en-US" sz="825" dirty="0"/>
          </a:p>
        </p:txBody>
      </p:sp>
      <p:sp>
        <p:nvSpPr>
          <p:cNvPr id="8" name="Text 6"/>
          <p:cNvSpPr/>
          <p:nvPr/>
        </p:nvSpPr>
        <p:spPr>
          <a:xfrm>
            <a:off x="4544444" y="3475732"/>
            <a:ext cx="154082" cy="373261"/>
          </a:xfrm>
          <a:prstGeom prst="rect">
            <a:avLst/>
          </a:prstGeom>
          <a:noFill/>
          <a:ln/>
        </p:spPr>
        <p:txBody>
          <a:bodyPr wrap="square" lIns="0" tIns="0" rIns="0" bIns="0" rtlCol="0" anchor="t"/>
          <a:lstStyle/>
          <a:p>
            <a:pPr algn="ctr" indent="0" marL="0">
              <a:lnSpc>
                <a:spcPts val="2940"/>
              </a:lnSpc>
              <a:buNone/>
            </a:pPr>
            <a:r>
              <a:rPr lang="en-US" sz="2100" dirty="0">
                <a:solidFill>
                  <a:srgbClr val="C9A227"/>
                </a:solidFill>
                <a:latin typeface="Georgia" pitchFamily="34" charset="0"/>
                <a:ea typeface="Georgia" pitchFamily="34" charset="-122"/>
                <a:cs typeface="Georgia" pitchFamily="34" charset="-120"/>
              </a:rPr>
              <a:t>6</a:t>
            </a:r>
            <a:endParaRPr lang="en-US" sz="2100" dirty="0"/>
          </a:p>
        </p:txBody>
      </p:sp>
      <p:sp>
        <p:nvSpPr>
          <p:cNvPr id="9" name="Text 7"/>
          <p:cNvSpPr/>
          <p:nvPr/>
        </p:nvSpPr>
        <p:spPr>
          <a:xfrm>
            <a:off x="4357269" y="4039493"/>
            <a:ext cx="528432" cy="146596"/>
          </a:xfrm>
          <a:prstGeom prst="rect">
            <a:avLst/>
          </a:prstGeom>
          <a:noFill/>
          <a:ln/>
        </p:spPr>
        <p:txBody>
          <a:bodyPr wrap="square" lIns="0" tIns="0" rIns="0" bIns="0" rtlCol="0" anchor="t"/>
          <a:lstStyle/>
          <a:p>
            <a:pPr algn="ctr" indent="0" marL="0">
              <a:lnSpc>
                <a:spcPts val="1155"/>
              </a:lnSpc>
              <a:spcBef>
                <a:spcPts val="300"/>
              </a:spcBef>
              <a:buNone/>
            </a:pPr>
            <a:r>
              <a:rPr lang="en-US" sz="825" dirty="0">
                <a:solidFill>
                  <a:srgbClr val="FFFFFF">
                    <a:alpha val="50000"/>
                  </a:srgbClr>
                </a:solidFill>
                <a:latin typeface="Arial" pitchFamily="34" charset="0"/>
                <a:ea typeface="Arial" pitchFamily="34" charset="-122"/>
                <a:cs typeface="Arial" pitchFamily="34" charset="-120"/>
              </a:rPr>
              <a:t>Wispr Flow</a:t>
            </a:r>
            <a:endParaRPr lang="en-US" sz="825" dirty="0"/>
          </a:p>
        </p:txBody>
      </p:sp>
      <p:sp>
        <p:nvSpPr>
          <p:cNvPr id="10" name="Text 8"/>
          <p:cNvSpPr/>
          <p:nvPr/>
        </p:nvSpPr>
        <p:spPr>
          <a:xfrm>
            <a:off x="5468855" y="3475732"/>
            <a:ext cx="150135" cy="373261"/>
          </a:xfrm>
          <a:prstGeom prst="rect">
            <a:avLst/>
          </a:prstGeom>
          <a:noFill/>
          <a:ln/>
        </p:spPr>
        <p:txBody>
          <a:bodyPr wrap="square" lIns="0" tIns="0" rIns="0" bIns="0" rtlCol="0" anchor="t"/>
          <a:lstStyle/>
          <a:p>
            <a:pPr algn="ctr" indent="0" marL="0">
              <a:lnSpc>
                <a:spcPts val="2940"/>
              </a:lnSpc>
              <a:buNone/>
            </a:pPr>
            <a:r>
              <a:rPr lang="en-US" sz="2100" dirty="0">
                <a:solidFill>
                  <a:srgbClr val="C9A227"/>
                </a:solidFill>
                <a:latin typeface="Georgia" pitchFamily="34" charset="0"/>
                <a:ea typeface="Georgia" pitchFamily="34" charset="-122"/>
                <a:cs typeface="Georgia" pitchFamily="34" charset="-120"/>
              </a:rPr>
              <a:t>3</a:t>
            </a:r>
            <a:endParaRPr lang="en-US" sz="2100" dirty="0"/>
          </a:p>
        </p:txBody>
      </p:sp>
      <p:sp>
        <p:nvSpPr>
          <p:cNvPr id="11" name="Text 9"/>
          <p:cNvSpPr/>
          <p:nvPr/>
        </p:nvSpPr>
        <p:spPr>
          <a:xfrm>
            <a:off x="5255871" y="4039493"/>
            <a:ext cx="576251" cy="146596"/>
          </a:xfrm>
          <a:prstGeom prst="rect">
            <a:avLst/>
          </a:prstGeom>
          <a:noFill/>
          <a:ln/>
        </p:spPr>
        <p:txBody>
          <a:bodyPr wrap="square" lIns="0" tIns="0" rIns="0" bIns="0" rtlCol="0" anchor="t"/>
          <a:lstStyle/>
          <a:p>
            <a:pPr algn="ctr" indent="0" marL="0">
              <a:lnSpc>
                <a:spcPts val="1155"/>
              </a:lnSpc>
              <a:spcBef>
                <a:spcPts val="300"/>
              </a:spcBef>
              <a:buNone/>
            </a:pPr>
            <a:r>
              <a:rPr lang="en-US" sz="825" dirty="0">
                <a:solidFill>
                  <a:srgbClr val="FFFFFF">
                    <a:alpha val="50000"/>
                  </a:srgbClr>
                </a:solidFill>
                <a:latin typeface="Arial" pitchFamily="34" charset="0"/>
                <a:ea typeface="Arial" pitchFamily="34" charset="-122"/>
                <a:cs typeface="Arial" pitchFamily="34" charset="-120"/>
              </a:rPr>
              <a:t>Comparison</a:t>
            </a:r>
            <a:endParaRPr lang="en-US" sz="825" dirty="0"/>
          </a:p>
        </p:txBody>
      </p:sp>
      <p:sp>
        <p:nvSpPr>
          <p:cNvPr id="12" name="Text 10"/>
          <p:cNvSpPr/>
          <p:nvPr/>
        </p:nvSpPr>
        <p:spPr>
          <a:xfrm>
            <a:off x="8127653" y="4678710"/>
            <a:ext cx="570330" cy="159990"/>
          </a:xfrm>
          <a:prstGeom prst="rect">
            <a:avLst/>
          </a:prstGeom>
          <a:noFill/>
          <a:ln/>
        </p:spPr>
        <p:txBody>
          <a:bodyPr wrap="square" lIns="0" tIns="0" rIns="0" bIns="0" rtlCol="0" anchor="t"/>
          <a:lstStyle/>
          <a:p>
            <a:pPr algn="l" indent="0" marL="0">
              <a:lnSpc>
                <a:spcPts val="1260"/>
              </a:lnSpc>
              <a:buNone/>
            </a:pPr>
            <a:r>
              <a:rPr lang="en-US" sz="900" dirty="0">
                <a:solidFill>
                  <a:srgbClr val="FFFFFF">
                    <a:alpha val="30000"/>
                  </a:srgbClr>
                </a:solidFill>
                <a:latin typeface="Arial" pitchFamily="34" charset="0"/>
                <a:ea typeface="Arial" pitchFamily="34" charset="-122"/>
                <a:cs typeface="Arial" pitchFamily="34" charset="-120"/>
              </a:rPr>
              <a:t>20 minutes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5214789" cy="5143500"/>
          </a:xfrm>
          <a:prstGeom prst="rect">
            <a:avLst/>
          </a:prstGeom>
          <a:solidFill>
            <a:srgbClr val="F7F8FA"/>
          </a:solidFill>
          <a:ln/>
        </p:spPr>
        <p:txBody>
          <a:bodyPr wrap="square" rtlCol="0" anchor="ctr"/>
          <a:lstStyle/>
          <a:p>
            <a:pPr indent="0" marL="0">
              <a:buNone/>
            </a:pPr>
            <a:endParaRPr lang="en-US" dirty="0"/>
          </a:p>
        </p:txBody>
      </p:sp>
      <p:sp>
        <p:nvSpPr>
          <p:cNvPr id="3" name="Text 1"/>
          <p:cNvSpPr/>
          <p:nvPr/>
        </p:nvSpPr>
        <p:spPr>
          <a:xfrm>
            <a:off x="342900" y="775543"/>
            <a:ext cx="2185077" cy="146596"/>
          </a:xfrm>
          <a:prstGeom prst="rect">
            <a:avLst/>
          </a:prstGeom>
          <a:noFill/>
          <a:ln/>
        </p:spPr>
        <p:txBody>
          <a:bodyPr wrap="square" lIns="0" tIns="0" rIns="0" bIns="0" rtlCol="0" anchor="t"/>
          <a:lstStyle/>
          <a:p>
            <a:pPr algn="l" indent="0" marL="0">
              <a:lnSpc>
                <a:spcPts val="1155"/>
              </a:lnSpc>
              <a:buNone/>
            </a:pPr>
            <a:r>
              <a:rPr lang="en-US" sz="825" dirty="0">
                <a:solidFill>
                  <a:srgbClr val="C9A227"/>
                </a:solidFill>
                <a:latin typeface="Arial" pitchFamily="34" charset="0"/>
                <a:ea typeface="Arial" pitchFamily="34" charset="-122"/>
                <a:cs typeface="Arial" pitchFamily="34" charset="-120"/>
              </a:rPr>
              <a:t>PRIMARY RECOMMENDATION</a:t>
            </a:r>
            <a:endParaRPr lang="en-US" sz="825" dirty="0"/>
          </a:p>
        </p:txBody>
      </p:sp>
      <p:sp>
        <p:nvSpPr>
          <p:cNvPr id="4" name="Text 2"/>
          <p:cNvSpPr/>
          <p:nvPr/>
        </p:nvSpPr>
        <p:spPr>
          <a:xfrm>
            <a:off x="342900" y="1131689"/>
            <a:ext cx="2312289" cy="323850"/>
          </a:xfrm>
          <a:prstGeom prst="rect">
            <a:avLst/>
          </a:prstGeom>
          <a:noFill/>
          <a:ln/>
        </p:spPr>
        <p:txBody>
          <a:bodyPr wrap="square" lIns="0" tIns="0" rIns="0" bIns="0" rtlCol="0" anchor="t"/>
          <a:lstStyle/>
          <a:p>
            <a:pPr algn="l" indent="0" marL="0">
              <a:lnSpc>
                <a:spcPts val="2550"/>
              </a:lnSpc>
              <a:spcAft>
                <a:spcPts val="450"/>
              </a:spcAft>
              <a:buNone/>
            </a:pPr>
            <a:r>
              <a:rPr lang="en-US" sz="2550" dirty="0">
                <a:solidFill>
                  <a:srgbClr val="1A1F2E"/>
                </a:solidFill>
                <a:latin typeface="Georgia" pitchFamily="34" charset="0"/>
                <a:ea typeface="Georgia" pitchFamily="34" charset="-122"/>
                <a:cs typeface="Georgia" pitchFamily="34" charset="-120"/>
              </a:rPr>
              <a:t>SuperWhisper</a:t>
            </a:r>
            <a:endParaRPr lang="en-US" sz="2550" dirty="0"/>
          </a:p>
        </p:txBody>
      </p:sp>
      <p:sp>
        <p:nvSpPr>
          <p:cNvPr id="5" name="Text 3"/>
          <p:cNvSpPr/>
          <p:nvPr/>
        </p:nvSpPr>
        <p:spPr>
          <a:xfrm>
            <a:off x="342900" y="1665089"/>
            <a:ext cx="4619568" cy="173236"/>
          </a:xfrm>
          <a:prstGeom prst="rect">
            <a:avLst/>
          </a:prstGeom>
          <a:noFill/>
          <a:ln/>
        </p:spPr>
        <p:txBody>
          <a:bodyPr wrap="square" lIns="0" tIns="0" rIns="0" bIns="0" rtlCol="0" anchor="t"/>
          <a:lstStyle/>
          <a:p>
            <a:pPr algn="l" indent="0" marL="0">
              <a:lnSpc>
                <a:spcPts val="1365"/>
              </a:lnSpc>
              <a:spcAft>
                <a:spcPts val="1050"/>
              </a:spcAft>
              <a:buNone/>
            </a:pPr>
            <a:r>
              <a:rPr lang="en-US" sz="975" dirty="0">
                <a:solidFill>
                  <a:srgbClr val="6B7280"/>
                </a:solidFill>
                <a:latin typeface="Arial" pitchFamily="34" charset="0"/>
                <a:ea typeface="Arial" pitchFamily="34" charset="-122"/>
                <a:cs typeface="Arial" pitchFamily="34" charset="-120"/>
              </a:rPr>
              <a:t>AI-powered voice to text with local processing option</a:t>
            </a:r>
            <a:endParaRPr lang="en-US" sz="975" dirty="0"/>
          </a:p>
        </p:txBody>
      </p:sp>
      <p:sp>
        <p:nvSpPr>
          <p:cNvPr id="6" name="Text 4"/>
          <p:cNvSpPr/>
          <p:nvPr/>
        </p:nvSpPr>
        <p:spPr>
          <a:xfrm>
            <a:off x="342900" y="2124075"/>
            <a:ext cx="4528989" cy="741015"/>
          </a:xfrm>
          <a:prstGeom prst="rect">
            <a:avLst/>
          </a:prstGeom>
          <a:solidFill>
            <a:srgbClr val="FFFFFF"/>
          </a:solidFill>
          <a:ln/>
        </p:spPr>
        <p:txBody>
          <a:bodyPr wrap="square" rtlCol="0" anchor="ctr"/>
          <a:lstStyle/>
          <a:p>
            <a:pPr indent="0" marL="0">
              <a:buNone/>
            </a:pPr>
            <a:endParaRPr lang="en-US" dirty="0"/>
          </a:p>
        </p:txBody>
      </p:sp>
      <p:sp>
        <p:nvSpPr>
          <p:cNvPr id="7" name="Shape 5"/>
          <p:cNvSpPr/>
          <p:nvPr/>
        </p:nvSpPr>
        <p:spPr>
          <a:xfrm>
            <a:off x="361950" y="2124075"/>
            <a:ext cx="0" cy="741015"/>
          </a:xfrm>
          <a:prstGeom prst="line">
            <a:avLst/>
          </a:prstGeom>
          <a:noFill/>
          <a:ln w="38100">
            <a:solidFill>
              <a:srgbClr val="C9A227"/>
            </a:solidFill>
            <a:prstDash val="solid"/>
          </a:ln>
        </p:spPr>
      </p:sp>
      <p:sp>
        <p:nvSpPr>
          <p:cNvPr id="8" name="Text 6"/>
          <p:cNvSpPr/>
          <p:nvPr/>
        </p:nvSpPr>
        <p:spPr>
          <a:xfrm>
            <a:off x="533400" y="2238375"/>
            <a:ext cx="4269810" cy="159990"/>
          </a:xfrm>
          <a:prstGeom prst="rect">
            <a:avLst/>
          </a:prstGeom>
          <a:noFill/>
          <a:ln/>
        </p:spPr>
        <p:txBody>
          <a:bodyPr wrap="square" lIns="0" tIns="0" rIns="0" bIns="0" rtlCol="0" anchor="t"/>
          <a:lstStyle/>
          <a:p>
            <a:pPr algn="l" indent="0" marL="0">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What It Is</a:t>
            </a:r>
            <a:endParaRPr lang="en-US" sz="900" dirty="0"/>
          </a:p>
        </p:txBody>
      </p:sp>
      <p:sp>
        <p:nvSpPr>
          <p:cNvPr id="9" name="Text 7"/>
          <p:cNvSpPr/>
          <p:nvPr/>
        </p:nvSpPr>
        <p:spPr>
          <a:xfrm>
            <a:off x="533400" y="2436465"/>
            <a:ext cx="4269810" cy="314325"/>
          </a:xfrm>
          <a:prstGeom prst="rect">
            <a:avLst/>
          </a:prstGeom>
          <a:noFill/>
          <a:ln/>
        </p:spPr>
        <p:txBody>
          <a:bodyPr wrap="square" lIns="0" tIns="0" rIns="0" bIns="0" rtlCol="0" anchor="t"/>
          <a:lstStyle/>
          <a:p>
            <a:pPr algn="l" indent="0" marL="0">
              <a:lnSpc>
                <a:spcPts val="1238"/>
              </a:lnSpc>
              <a:buNone/>
            </a:pPr>
            <a:r>
              <a:rPr lang="en-US" sz="825" dirty="0">
                <a:solidFill>
                  <a:srgbClr val="6B7280"/>
                </a:solidFill>
                <a:latin typeface="Arial" pitchFamily="34" charset="0"/>
                <a:ea typeface="Arial" pitchFamily="34" charset="-122"/>
                <a:cs typeface="Arial" pitchFamily="34" charset="-120"/>
              </a:rPr>
              <a:t>Desktop app using OpenAI's Whisper models. Offers both local (on-device) and cloud processing options. 100+ languages supported.</a:t>
            </a:r>
            <a:endParaRPr lang="en-US" sz="825" dirty="0"/>
          </a:p>
        </p:txBody>
      </p:sp>
      <p:sp>
        <p:nvSpPr>
          <p:cNvPr id="10" name="Text 8"/>
          <p:cNvSpPr/>
          <p:nvPr/>
        </p:nvSpPr>
        <p:spPr>
          <a:xfrm>
            <a:off x="342900" y="3112740"/>
            <a:ext cx="1446163" cy="561826"/>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1" name="Text 9"/>
          <p:cNvSpPr/>
          <p:nvPr/>
        </p:nvSpPr>
        <p:spPr>
          <a:xfrm>
            <a:off x="447675" y="3217515"/>
            <a:ext cx="1261345" cy="213271"/>
          </a:xfrm>
          <a:prstGeom prst="rect">
            <a:avLst/>
          </a:prstGeom>
          <a:noFill/>
          <a:ln/>
        </p:spPr>
        <p:txBody>
          <a:bodyPr wrap="square" lIns="0" tIns="0" rIns="0" bIns="0" rtlCol="0" anchor="t"/>
          <a:lstStyle/>
          <a:p>
            <a:pPr algn="l" indent="0" marL="0">
              <a:lnSpc>
                <a:spcPts val="1680"/>
              </a:lnSpc>
              <a:spcAft>
                <a:spcPts val="150"/>
              </a:spcAft>
              <a:buNone/>
            </a:pPr>
            <a:r>
              <a:rPr lang="en-US" sz="1200" dirty="0">
                <a:solidFill>
                  <a:srgbClr val="059669"/>
                </a:solidFill>
                <a:latin typeface="Georgia" pitchFamily="34" charset="0"/>
                <a:ea typeface="Georgia" pitchFamily="34" charset="-122"/>
                <a:cs typeface="Georgia" pitchFamily="34" charset="-120"/>
              </a:rPr>
              <a:t>Free</a:t>
            </a:r>
            <a:endParaRPr lang="en-US" sz="1200" dirty="0"/>
          </a:p>
        </p:txBody>
      </p:sp>
      <p:sp>
        <p:nvSpPr>
          <p:cNvPr id="12" name="Text 10"/>
          <p:cNvSpPr/>
          <p:nvPr/>
        </p:nvSpPr>
        <p:spPr>
          <a:xfrm>
            <a:off x="447675" y="3449836"/>
            <a:ext cx="1261345" cy="119955"/>
          </a:xfrm>
          <a:prstGeom prst="rect">
            <a:avLst/>
          </a:prstGeom>
          <a:noFill/>
          <a:ln/>
        </p:spPr>
        <p:txBody>
          <a:bodyPr wrap="square" lIns="0" tIns="0" rIns="0" bIns="0" rtlCol="0" anchor="t"/>
          <a:lstStyle/>
          <a:p>
            <a:pPr algn="l" indent="0" marL="0">
              <a:lnSpc>
                <a:spcPts val="945"/>
              </a:lnSpc>
              <a:buNone/>
            </a:pPr>
            <a:r>
              <a:rPr lang="en-US" sz="675" dirty="0">
                <a:solidFill>
                  <a:srgbClr val="6B7280"/>
                </a:solidFill>
                <a:latin typeface="Arial" pitchFamily="34" charset="0"/>
                <a:ea typeface="Arial" pitchFamily="34" charset="-122"/>
                <a:cs typeface="Arial" pitchFamily="34" charset="-120"/>
              </a:rPr>
              <a:t>Basic models included</a:t>
            </a:r>
            <a:endParaRPr lang="en-US" sz="675" dirty="0"/>
          </a:p>
        </p:txBody>
      </p:sp>
      <p:sp>
        <p:nvSpPr>
          <p:cNvPr id="13" name="Text 11"/>
          <p:cNvSpPr/>
          <p:nvPr/>
        </p:nvSpPr>
        <p:spPr>
          <a:xfrm>
            <a:off x="1884313" y="3112740"/>
            <a:ext cx="1446163" cy="561826"/>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4" name="Text 12"/>
          <p:cNvSpPr/>
          <p:nvPr/>
        </p:nvSpPr>
        <p:spPr>
          <a:xfrm>
            <a:off x="1989088" y="3217515"/>
            <a:ext cx="1261345" cy="213271"/>
          </a:xfrm>
          <a:prstGeom prst="rect">
            <a:avLst/>
          </a:prstGeom>
          <a:noFill/>
          <a:ln/>
        </p:spPr>
        <p:txBody>
          <a:bodyPr wrap="square" lIns="0" tIns="0" rIns="0" bIns="0" rtlCol="0" anchor="t"/>
          <a:lstStyle/>
          <a:p>
            <a:pPr algn="l" indent="0" marL="0">
              <a:lnSpc>
                <a:spcPts val="1680"/>
              </a:lnSpc>
              <a:spcAft>
                <a:spcPts val="150"/>
              </a:spcAft>
              <a:buNone/>
            </a:pPr>
            <a:r>
              <a:rPr lang="en-US" sz="1200" dirty="0">
                <a:solidFill>
                  <a:srgbClr val="1A1F2E"/>
                </a:solidFill>
                <a:latin typeface="Georgia" pitchFamily="34" charset="0"/>
                <a:ea typeface="Georgia" pitchFamily="34" charset="-122"/>
                <a:cs typeface="Georgia" pitchFamily="34" charset="-120"/>
              </a:rPr>
              <a:t>$8.49/mo</a:t>
            </a:r>
            <a:endParaRPr lang="en-US" sz="1200" dirty="0"/>
          </a:p>
        </p:txBody>
      </p:sp>
      <p:sp>
        <p:nvSpPr>
          <p:cNvPr id="15" name="Text 13"/>
          <p:cNvSpPr/>
          <p:nvPr/>
        </p:nvSpPr>
        <p:spPr>
          <a:xfrm>
            <a:off x="1989088" y="3449836"/>
            <a:ext cx="1261345" cy="119955"/>
          </a:xfrm>
          <a:prstGeom prst="rect">
            <a:avLst/>
          </a:prstGeom>
          <a:noFill/>
          <a:ln/>
        </p:spPr>
        <p:txBody>
          <a:bodyPr wrap="square" lIns="0" tIns="0" rIns="0" bIns="0" rtlCol="0" anchor="t"/>
          <a:lstStyle/>
          <a:p>
            <a:pPr algn="l" indent="0" marL="0">
              <a:lnSpc>
                <a:spcPts val="945"/>
              </a:lnSpc>
              <a:buNone/>
            </a:pPr>
            <a:r>
              <a:rPr lang="en-US" sz="675" dirty="0">
                <a:solidFill>
                  <a:srgbClr val="6B7280"/>
                </a:solidFill>
                <a:latin typeface="Arial" pitchFamily="34" charset="0"/>
                <a:ea typeface="Arial" pitchFamily="34" charset="-122"/>
                <a:cs typeface="Arial" pitchFamily="34" charset="-120"/>
              </a:rPr>
              <a:t>Pro subscription</a:t>
            </a:r>
            <a:endParaRPr lang="en-US" sz="675" dirty="0"/>
          </a:p>
        </p:txBody>
      </p:sp>
      <p:sp>
        <p:nvSpPr>
          <p:cNvPr id="16" name="Text 14"/>
          <p:cNvSpPr/>
          <p:nvPr/>
        </p:nvSpPr>
        <p:spPr>
          <a:xfrm>
            <a:off x="3425726" y="3112740"/>
            <a:ext cx="1446163" cy="561826"/>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7" name="Text 15"/>
          <p:cNvSpPr/>
          <p:nvPr/>
        </p:nvSpPr>
        <p:spPr>
          <a:xfrm>
            <a:off x="3530501" y="3217515"/>
            <a:ext cx="1261345" cy="213271"/>
          </a:xfrm>
          <a:prstGeom prst="rect">
            <a:avLst/>
          </a:prstGeom>
          <a:noFill/>
          <a:ln/>
        </p:spPr>
        <p:txBody>
          <a:bodyPr wrap="square" lIns="0" tIns="0" rIns="0" bIns="0" rtlCol="0" anchor="t"/>
          <a:lstStyle/>
          <a:p>
            <a:pPr algn="l" indent="0" marL="0">
              <a:lnSpc>
                <a:spcPts val="1680"/>
              </a:lnSpc>
              <a:spcAft>
                <a:spcPts val="150"/>
              </a:spcAft>
              <a:buNone/>
            </a:pPr>
            <a:r>
              <a:rPr lang="en-US" sz="1200" dirty="0">
                <a:solidFill>
                  <a:srgbClr val="1A1F2E"/>
                </a:solidFill>
                <a:latin typeface="Georgia" pitchFamily="34" charset="0"/>
                <a:ea typeface="Georgia" pitchFamily="34" charset="-122"/>
                <a:cs typeface="Georgia" pitchFamily="34" charset="-120"/>
              </a:rPr>
              <a:t>$249</a:t>
            </a:r>
            <a:endParaRPr lang="en-US" sz="1200" dirty="0"/>
          </a:p>
        </p:txBody>
      </p:sp>
      <p:sp>
        <p:nvSpPr>
          <p:cNvPr id="18" name="Text 16"/>
          <p:cNvSpPr/>
          <p:nvPr/>
        </p:nvSpPr>
        <p:spPr>
          <a:xfrm>
            <a:off x="3530501" y="3449836"/>
            <a:ext cx="1261345" cy="119955"/>
          </a:xfrm>
          <a:prstGeom prst="rect">
            <a:avLst/>
          </a:prstGeom>
          <a:noFill/>
          <a:ln/>
        </p:spPr>
        <p:txBody>
          <a:bodyPr wrap="square" lIns="0" tIns="0" rIns="0" bIns="0" rtlCol="0" anchor="t"/>
          <a:lstStyle/>
          <a:p>
            <a:pPr algn="l" indent="0" marL="0">
              <a:lnSpc>
                <a:spcPts val="945"/>
              </a:lnSpc>
              <a:buNone/>
            </a:pPr>
            <a:r>
              <a:rPr lang="en-US" sz="675" dirty="0">
                <a:solidFill>
                  <a:srgbClr val="6B7280"/>
                </a:solidFill>
                <a:latin typeface="Arial" pitchFamily="34" charset="0"/>
                <a:ea typeface="Arial" pitchFamily="34" charset="-122"/>
                <a:cs typeface="Arial" pitchFamily="34" charset="-120"/>
              </a:rPr>
              <a:t>Lifetime option</a:t>
            </a:r>
            <a:endParaRPr lang="en-US" sz="675" dirty="0"/>
          </a:p>
        </p:txBody>
      </p:sp>
      <p:sp>
        <p:nvSpPr>
          <p:cNvPr id="19" name="Text 17"/>
          <p:cNvSpPr/>
          <p:nvPr/>
        </p:nvSpPr>
        <p:spPr>
          <a:xfrm>
            <a:off x="342900" y="3922216"/>
            <a:ext cx="4528989" cy="483691"/>
          </a:xfrm>
          <a:prstGeom prst="rect">
            <a:avLst/>
          </a:prstGeom>
          <a:solidFill>
            <a:srgbClr val="DCFCE7"/>
          </a:solidFill>
          <a:ln/>
        </p:spPr>
        <p:txBody>
          <a:bodyPr wrap="square" rtlCol="0" anchor="ctr"/>
          <a:lstStyle/>
          <a:p>
            <a:pPr indent="0" marL="0">
              <a:buNone/>
            </a:pPr>
            <a:endParaRPr lang="en-US" dirty="0"/>
          </a:p>
        </p:txBody>
      </p:sp>
      <p:sp>
        <p:nvSpPr>
          <p:cNvPr id="20" name="Shape 18"/>
          <p:cNvSpPr/>
          <p:nvPr/>
        </p:nvSpPr>
        <p:spPr>
          <a:xfrm>
            <a:off x="361950" y="3922216"/>
            <a:ext cx="0" cy="483691"/>
          </a:xfrm>
          <a:prstGeom prst="line">
            <a:avLst/>
          </a:prstGeom>
          <a:noFill/>
          <a:ln w="38100">
            <a:solidFill>
              <a:srgbClr val="059669"/>
            </a:solidFill>
            <a:prstDash val="solid"/>
          </a:ln>
        </p:spPr>
      </p:sp>
      <p:sp>
        <p:nvSpPr>
          <p:cNvPr id="21" name="Text 19"/>
          <p:cNvSpPr/>
          <p:nvPr/>
        </p:nvSpPr>
        <p:spPr>
          <a:xfrm>
            <a:off x="514350" y="4017466"/>
            <a:ext cx="4308672" cy="293191"/>
          </a:xfrm>
          <a:prstGeom prst="rect">
            <a:avLst/>
          </a:prstGeom>
          <a:noFill/>
          <a:ln/>
        </p:spPr>
        <p:txBody>
          <a:bodyPr wrap="square" lIns="0" tIns="0" rIns="0" bIns="0" rtlCol="0" anchor="t"/>
          <a:lstStyle/>
          <a:p>
            <a:pPr algn="l" indent="0" marL="0">
              <a:lnSpc>
                <a:spcPts val="1155"/>
              </a:lnSpc>
              <a:buNone/>
            </a:pPr>
            <a:r>
              <a:rPr lang="en-US" sz="825" b="1" dirty="0">
                <a:solidFill>
                  <a:srgbClr val="166534"/>
                </a:solidFill>
                <a:latin typeface="Arial" pitchFamily="34" charset="0"/>
                <a:ea typeface="Arial" pitchFamily="34" charset="-122"/>
                <a:cs typeface="Arial" pitchFamily="34" charset="-120"/>
              </a:rPr>
              <a:t>Local Processing Available:</a:t>
            </a:r>
            <a:pPr algn="l" indent="0" marL="0">
              <a:lnSpc>
                <a:spcPts val="1155"/>
              </a:lnSpc>
              <a:buNone/>
            </a:pPr>
            <a:r>
              <a:rPr lang="en-US" sz="825" dirty="0">
                <a:solidFill>
                  <a:srgbClr val="166534"/>
                </a:solidFill>
                <a:latin typeface="Arial" pitchFamily="34" charset="0"/>
                <a:ea typeface="Arial" pitchFamily="34" charset="-122"/>
                <a:cs typeface="Arial" pitchFamily="34" charset="-120"/>
              </a:rPr>
              <a:t> Use on-device models for complete privacy. Voice data never leaves your machine when using local models.</a:t>
            </a:r>
            <a:endParaRPr lang="en-US" sz="825" dirty="0"/>
          </a:p>
        </p:txBody>
      </p:sp>
      <p:sp>
        <p:nvSpPr>
          <p:cNvPr id="22" name="Text 20"/>
          <p:cNvSpPr/>
          <p:nvPr/>
        </p:nvSpPr>
        <p:spPr>
          <a:xfrm>
            <a:off x="5367189" y="0"/>
            <a:ext cx="3776811" cy="5143500"/>
          </a:xfrm>
          <a:prstGeom prst="rect">
            <a:avLst/>
          </a:prstGeom>
          <a:solidFill>
            <a:srgbClr val="1A1F2E"/>
          </a:solidFill>
          <a:ln/>
        </p:spPr>
        <p:txBody>
          <a:bodyPr wrap="square" rtlCol="0" anchor="ctr"/>
          <a:lstStyle/>
          <a:p>
            <a:pPr indent="0" marL="0">
              <a:buNone/>
            </a:pPr>
            <a:endParaRPr lang="en-US" dirty="0"/>
          </a:p>
        </p:txBody>
      </p:sp>
      <p:sp>
        <p:nvSpPr>
          <p:cNvPr id="23" name="Text 21"/>
          <p:cNvSpPr/>
          <p:nvPr/>
        </p:nvSpPr>
        <p:spPr>
          <a:xfrm>
            <a:off x="5633889" y="342900"/>
            <a:ext cx="3308280" cy="146596"/>
          </a:xfrm>
          <a:prstGeom prst="rect">
            <a:avLst/>
          </a:prstGeom>
          <a:noFill/>
          <a:ln/>
        </p:spPr>
        <p:txBody>
          <a:bodyPr wrap="square" lIns="0" tIns="0" rIns="0" bIns="0" rtlCol="0" anchor="t"/>
          <a:lstStyle/>
          <a:p>
            <a:pPr algn="l" indent="0" marL="0">
              <a:lnSpc>
                <a:spcPts val="1155"/>
              </a:lnSpc>
              <a:spcAft>
                <a:spcPts val="1050"/>
              </a:spcAft>
              <a:buNone/>
            </a:pPr>
            <a:r>
              <a:rPr lang="en-US" sz="825" dirty="0">
                <a:solidFill>
                  <a:srgbClr val="C9A227"/>
                </a:solidFill>
                <a:latin typeface="Arial" pitchFamily="34" charset="0"/>
                <a:ea typeface="Arial" pitchFamily="34" charset="-122"/>
                <a:cs typeface="Arial" pitchFamily="34" charset="-120"/>
              </a:rPr>
              <a:t>PLATFORM SUPPORT</a:t>
            </a:r>
            <a:endParaRPr lang="en-US" sz="825" dirty="0"/>
          </a:p>
        </p:txBody>
      </p:sp>
      <p:sp>
        <p:nvSpPr>
          <p:cNvPr id="24" name="Text 22"/>
          <p:cNvSpPr/>
          <p:nvPr/>
        </p:nvSpPr>
        <p:spPr>
          <a:xfrm>
            <a:off x="5633889" y="775246"/>
            <a:ext cx="3243411" cy="546646"/>
          </a:xfrm>
          <a:prstGeom prst="rect">
            <a:avLst/>
          </a:prstGeom>
          <a:solidFill>
            <a:srgbClr val="C9A227">
              <a:alpha val="15000"/>
            </a:srgbClr>
          </a:solidFill>
          <a:ln w="9525">
            <a:solidFill>
              <a:srgbClr val="C9A227"/>
            </a:solidFill>
          </a:ln>
        </p:spPr>
        <p:txBody>
          <a:bodyPr wrap="square" rtlCol="0" anchor="ctr"/>
          <a:lstStyle/>
          <a:p>
            <a:pPr indent="0" marL="0">
              <a:buNone/>
            </a:pPr>
            <a:endParaRPr lang="en-US" dirty="0"/>
          </a:p>
        </p:txBody>
      </p:sp>
      <p:sp>
        <p:nvSpPr>
          <p:cNvPr id="25" name="Text 23"/>
          <p:cNvSpPr/>
          <p:nvPr/>
        </p:nvSpPr>
        <p:spPr>
          <a:xfrm>
            <a:off x="5757714" y="915144"/>
            <a:ext cx="266700" cy="266700"/>
          </a:xfrm>
          <a:prstGeom prst="rect">
            <a:avLst/>
          </a:prstGeom>
          <a:solidFill>
            <a:srgbClr val="C9A227"/>
          </a:solidFill>
          <a:ln/>
        </p:spPr>
        <p:txBody>
          <a:bodyPr wrap="square" rtlCol="0" anchor="ctr"/>
          <a:lstStyle/>
          <a:p>
            <a:pPr indent="0" marL="0">
              <a:buNone/>
            </a:pPr>
            <a:endParaRPr lang="en-US" dirty="0"/>
          </a:p>
        </p:txBody>
      </p:sp>
      <p:sp>
        <p:nvSpPr>
          <p:cNvPr id="26" name="Text 24"/>
          <p:cNvSpPr/>
          <p:nvPr/>
        </p:nvSpPr>
        <p:spPr>
          <a:xfrm>
            <a:off x="5837039" y="968425"/>
            <a:ext cx="110058" cy="159990"/>
          </a:xfrm>
          <a:prstGeom prst="rect">
            <a:avLst/>
          </a:prstGeom>
          <a:noFill/>
          <a:ln/>
        </p:spPr>
        <p:txBody>
          <a:bodyPr wrap="square" lIns="0" tIns="0" rIns="0" bIns="0" rtlCol="0" anchor="t"/>
          <a:lstStyle/>
          <a:p>
            <a:pPr algn="l" indent="0" marL="0">
              <a:lnSpc>
                <a:spcPts val="1260"/>
              </a:lnSpc>
              <a:buNone/>
            </a:pPr>
            <a:r>
              <a:rPr lang="en-US" sz="900" dirty="0">
                <a:solidFill>
                  <a:srgbClr val="1A1F2E"/>
                </a:solidFill>
                <a:latin typeface="Arial" pitchFamily="34" charset="0"/>
                <a:ea typeface="Arial" pitchFamily="34" charset="-122"/>
                <a:cs typeface="Arial" pitchFamily="34" charset="-120"/>
              </a:rPr>
              <a:t>W</a:t>
            </a:r>
            <a:endParaRPr lang="en-US" sz="900" dirty="0"/>
          </a:p>
        </p:txBody>
      </p:sp>
      <p:sp>
        <p:nvSpPr>
          <p:cNvPr id="27" name="Text 25"/>
          <p:cNvSpPr/>
          <p:nvPr/>
        </p:nvSpPr>
        <p:spPr>
          <a:xfrm>
            <a:off x="6119664" y="899071"/>
            <a:ext cx="788474" cy="159990"/>
          </a:xfrm>
          <a:prstGeom prst="rect">
            <a:avLst/>
          </a:prstGeom>
          <a:noFill/>
          <a:ln/>
        </p:spPr>
        <p:txBody>
          <a:bodyPr wrap="square" lIns="0" tIns="0" rIns="0" bIns="0" rtlCol="0" anchor="t"/>
          <a:lstStyle/>
          <a:p>
            <a:pPr algn="l" indent="0" marL="0">
              <a:lnSpc>
                <a:spcPts val="1260"/>
              </a:lnSpc>
              <a:buNone/>
            </a:pPr>
            <a:r>
              <a:rPr lang="en-US" sz="900" dirty="0">
                <a:solidFill>
                  <a:srgbClr val="FFFFFF"/>
                </a:solidFill>
                <a:latin typeface="Arial" pitchFamily="34" charset="0"/>
                <a:ea typeface="Arial" pitchFamily="34" charset="-122"/>
                <a:cs typeface="Arial" pitchFamily="34" charset="-120"/>
              </a:rPr>
              <a:t>Windows 10/11</a:t>
            </a:r>
            <a:endParaRPr lang="en-US" sz="900" dirty="0"/>
          </a:p>
        </p:txBody>
      </p:sp>
      <p:sp>
        <p:nvSpPr>
          <p:cNvPr id="28" name="Text 26"/>
          <p:cNvSpPr/>
          <p:nvPr/>
        </p:nvSpPr>
        <p:spPr>
          <a:xfrm>
            <a:off x="6119664" y="1078111"/>
            <a:ext cx="788474" cy="119955"/>
          </a:xfrm>
          <a:prstGeom prst="rect">
            <a:avLst/>
          </a:prstGeom>
          <a:noFill/>
          <a:ln/>
        </p:spPr>
        <p:txBody>
          <a:bodyPr wrap="square" lIns="0" tIns="0" rIns="0" bIns="0" rtlCol="0" anchor="t"/>
          <a:lstStyle/>
          <a:p>
            <a:pPr algn="l" indent="0" marL="0">
              <a:lnSpc>
                <a:spcPts val="945"/>
              </a:lnSpc>
              <a:spcBef>
                <a:spcPts val="150"/>
              </a:spcBef>
              <a:buNone/>
            </a:pPr>
            <a:r>
              <a:rPr lang="en-US" sz="675" dirty="0">
                <a:solidFill>
                  <a:srgbClr val="FFFFFF">
                    <a:alpha val="50000"/>
                  </a:srgbClr>
                </a:solidFill>
                <a:latin typeface="Arial" pitchFamily="34" charset="0"/>
                <a:ea typeface="Arial" pitchFamily="34" charset="-122"/>
                <a:cs typeface="Arial" pitchFamily="34" charset="-120"/>
              </a:rPr>
              <a:t>Launched Dec 2025</a:t>
            </a:r>
            <a:endParaRPr lang="en-US" sz="675" dirty="0"/>
          </a:p>
        </p:txBody>
      </p:sp>
      <p:sp>
        <p:nvSpPr>
          <p:cNvPr id="29" name="Text 27"/>
          <p:cNvSpPr/>
          <p:nvPr/>
        </p:nvSpPr>
        <p:spPr>
          <a:xfrm>
            <a:off x="5633889" y="1569541"/>
            <a:ext cx="3243411" cy="546646"/>
          </a:xfrm>
          <a:prstGeom prst="rect">
            <a:avLst/>
          </a:prstGeom>
          <a:solidFill>
            <a:srgbClr val="C9A227">
              <a:alpha val="15000"/>
            </a:srgbClr>
          </a:solidFill>
          <a:ln w="9525">
            <a:solidFill>
              <a:srgbClr val="C9A227"/>
            </a:solidFill>
          </a:ln>
        </p:spPr>
        <p:txBody>
          <a:bodyPr wrap="square" rtlCol="0" anchor="ctr"/>
          <a:lstStyle/>
          <a:p>
            <a:pPr indent="0" marL="0">
              <a:buNone/>
            </a:pPr>
            <a:endParaRPr lang="en-US" dirty="0"/>
          </a:p>
        </p:txBody>
      </p:sp>
      <p:sp>
        <p:nvSpPr>
          <p:cNvPr id="30" name="Text 28"/>
          <p:cNvSpPr/>
          <p:nvPr/>
        </p:nvSpPr>
        <p:spPr>
          <a:xfrm>
            <a:off x="5757714" y="1709440"/>
            <a:ext cx="266700" cy="266700"/>
          </a:xfrm>
          <a:prstGeom prst="rect">
            <a:avLst/>
          </a:prstGeom>
          <a:solidFill>
            <a:srgbClr val="C9A227"/>
          </a:solidFill>
          <a:ln/>
        </p:spPr>
        <p:txBody>
          <a:bodyPr wrap="square" rtlCol="0" anchor="ctr"/>
          <a:lstStyle/>
          <a:p>
            <a:pPr indent="0" marL="0">
              <a:buNone/>
            </a:pPr>
            <a:endParaRPr lang="en-US" dirty="0"/>
          </a:p>
        </p:txBody>
      </p:sp>
      <p:sp>
        <p:nvSpPr>
          <p:cNvPr id="31" name="Text 29"/>
          <p:cNvSpPr/>
          <p:nvPr/>
        </p:nvSpPr>
        <p:spPr>
          <a:xfrm>
            <a:off x="5843439" y="1762720"/>
            <a:ext cx="97155" cy="159990"/>
          </a:xfrm>
          <a:prstGeom prst="rect">
            <a:avLst/>
          </a:prstGeom>
          <a:noFill/>
          <a:ln/>
        </p:spPr>
        <p:txBody>
          <a:bodyPr wrap="square" lIns="0" tIns="0" rIns="0" bIns="0" rtlCol="0" anchor="t"/>
          <a:lstStyle/>
          <a:p>
            <a:pPr algn="l" indent="0" marL="0">
              <a:lnSpc>
                <a:spcPts val="1260"/>
              </a:lnSpc>
              <a:buNone/>
            </a:pPr>
            <a:r>
              <a:rPr lang="en-US" sz="900" dirty="0">
                <a:solidFill>
                  <a:srgbClr val="1A1F2E"/>
                </a:solidFill>
                <a:latin typeface="Arial" pitchFamily="34" charset="0"/>
                <a:ea typeface="Arial" pitchFamily="34" charset="-122"/>
                <a:cs typeface="Arial" pitchFamily="34" charset="-120"/>
              </a:rPr>
              <a:t>M</a:t>
            </a:r>
            <a:endParaRPr lang="en-US" sz="900" dirty="0"/>
          </a:p>
        </p:txBody>
      </p:sp>
      <p:sp>
        <p:nvSpPr>
          <p:cNvPr id="32" name="Text 30"/>
          <p:cNvSpPr/>
          <p:nvPr/>
        </p:nvSpPr>
        <p:spPr>
          <a:xfrm>
            <a:off x="6119664" y="1693366"/>
            <a:ext cx="811700" cy="159990"/>
          </a:xfrm>
          <a:prstGeom prst="rect">
            <a:avLst/>
          </a:prstGeom>
          <a:noFill/>
          <a:ln/>
        </p:spPr>
        <p:txBody>
          <a:bodyPr wrap="square" lIns="0" tIns="0" rIns="0" bIns="0" rtlCol="0" anchor="t"/>
          <a:lstStyle/>
          <a:p>
            <a:pPr algn="l" indent="0" marL="0">
              <a:lnSpc>
                <a:spcPts val="1260"/>
              </a:lnSpc>
              <a:buNone/>
            </a:pPr>
            <a:r>
              <a:rPr lang="en-US" sz="900" dirty="0">
                <a:solidFill>
                  <a:srgbClr val="FFFFFF"/>
                </a:solidFill>
                <a:latin typeface="Arial" pitchFamily="34" charset="0"/>
                <a:ea typeface="Arial" pitchFamily="34" charset="-122"/>
                <a:cs typeface="Arial" pitchFamily="34" charset="-120"/>
              </a:rPr>
              <a:t>macOS 13+</a:t>
            </a:r>
            <a:endParaRPr lang="en-US" sz="900" dirty="0"/>
          </a:p>
        </p:txBody>
      </p:sp>
      <p:sp>
        <p:nvSpPr>
          <p:cNvPr id="33" name="Text 31"/>
          <p:cNvSpPr/>
          <p:nvPr/>
        </p:nvSpPr>
        <p:spPr>
          <a:xfrm>
            <a:off x="6119664" y="1872407"/>
            <a:ext cx="811700" cy="119955"/>
          </a:xfrm>
          <a:prstGeom prst="rect">
            <a:avLst/>
          </a:prstGeom>
          <a:noFill/>
          <a:ln/>
        </p:spPr>
        <p:txBody>
          <a:bodyPr wrap="square" lIns="0" tIns="0" rIns="0" bIns="0" rtlCol="0" anchor="t"/>
          <a:lstStyle/>
          <a:p>
            <a:pPr algn="l" indent="0" marL="0">
              <a:lnSpc>
                <a:spcPts val="945"/>
              </a:lnSpc>
              <a:spcBef>
                <a:spcPts val="150"/>
              </a:spcBef>
              <a:buNone/>
            </a:pPr>
            <a:r>
              <a:rPr lang="en-US" sz="675" dirty="0">
                <a:solidFill>
                  <a:srgbClr val="FFFFFF">
                    <a:alpha val="50000"/>
                  </a:srgbClr>
                </a:solidFill>
                <a:latin typeface="Arial" pitchFamily="34" charset="0"/>
                <a:ea typeface="Arial" pitchFamily="34" charset="-122"/>
                <a:cs typeface="Arial" pitchFamily="34" charset="-120"/>
              </a:rPr>
              <a:t>Apple Silicon optimal</a:t>
            </a:r>
            <a:endParaRPr lang="en-US" sz="675" dirty="0"/>
          </a:p>
        </p:txBody>
      </p:sp>
      <p:sp>
        <p:nvSpPr>
          <p:cNvPr id="34" name="Text 32"/>
          <p:cNvSpPr/>
          <p:nvPr/>
        </p:nvSpPr>
        <p:spPr>
          <a:xfrm>
            <a:off x="5633889" y="2363837"/>
            <a:ext cx="3243411" cy="546646"/>
          </a:xfrm>
          <a:prstGeom prst="rect">
            <a:avLst/>
          </a:prstGeom>
          <a:solidFill>
            <a:srgbClr val="C9A227">
              <a:alpha val="15000"/>
            </a:srgbClr>
          </a:solidFill>
          <a:ln w="9525">
            <a:solidFill>
              <a:srgbClr val="C9A227"/>
            </a:solidFill>
          </a:ln>
        </p:spPr>
        <p:txBody>
          <a:bodyPr wrap="square" rtlCol="0" anchor="ctr"/>
          <a:lstStyle/>
          <a:p>
            <a:pPr indent="0" marL="0">
              <a:buNone/>
            </a:pPr>
            <a:endParaRPr lang="en-US" dirty="0"/>
          </a:p>
        </p:txBody>
      </p:sp>
      <p:sp>
        <p:nvSpPr>
          <p:cNvPr id="35" name="Text 33"/>
          <p:cNvSpPr/>
          <p:nvPr/>
        </p:nvSpPr>
        <p:spPr>
          <a:xfrm>
            <a:off x="5757714" y="2503736"/>
            <a:ext cx="266700" cy="266700"/>
          </a:xfrm>
          <a:prstGeom prst="rect">
            <a:avLst/>
          </a:prstGeom>
          <a:solidFill>
            <a:srgbClr val="C9A227"/>
          </a:solidFill>
          <a:ln/>
        </p:spPr>
        <p:txBody>
          <a:bodyPr wrap="square" rtlCol="0" anchor="ctr"/>
          <a:lstStyle/>
          <a:p>
            <a:pPr indent="0" marL="0">
              <a:buNone/>
            </a:pPr>
            <a:endParaRPr lang="en-US" dirty="0"/>
          </a:p>
        </p:txBody>
      </p:sp>
      <p:sp>
        <p:nvSpPr>
          <p:cNvPr id="36" name="Text 34"/>
          <p:cNvSpPr/>
          <p:nvPr/>
        </p:nvSpPr>
        <p:spPr>
          <a:xfrm>
            <a:off x="5878264" y="2557016"/>
            <a:ext cx="25959" cy="159990"/>
          </a:xfrm>
          <a:prstGeom prst="rect">
            <a:avLst/>
          </a:prstGeom>
          <a:noFill/>
          <a:ln/>
        </p:spPr>
        <p:txBody>
          <a:bodyPr wrap="square" lIns="0" tIns="0" rIns="0" bIns="0" rtlCol="0" anchor="t"/>
          <a:lstStyle/>
          <a:p>
            <a:pPr algn="l" indent="0" marL="0">
              <a:lnSpc>
                <a:spcPts val="1260"/>
              </a:lnSpc>
              <a:buNone/>
            </a:pPr>
            <a:r>
              <a:rPr lang="en-US" sz="900" dirty="0">
                <a:solidFill>
                  <a:srgbClr val="1A1F2E"/>
                </a:solidFill>
                <a:latin typeface="Arial" pitchFamily="34" charset="0"/>
                <a:ea typeface="Arial" pitchFamily="34" charset="-122"/>
                <a:cs typeface="Arial" pitchFamily="34" charset="-120"/>
              </a:rPr>
              <a:t>i</a:t>
            </a:r>
            <a:endParaRPr lang="en-US" sz="900" dirty="0"/>
          </a:p>
        </p:txBody>
      </p:sp>
      <p:sp>
        <p:nvSpPr>
          <p:cNvPr id="37" name="Text 35"/>
          <p:cNvSpPr/>
          <p:nvPr/>
        </p:nvSpPr>
        <p:spPr>
          <a:xfrm>
            <a:off x="6119664" y="2487662"/>
            <a:ext cx="1088743" cy="159990"/>
          </a:xfrm>
          <a:prstGeom prst="rect">
            <a:avLst/>
          </a:prstGeom>
          <a:noFill/>
          <a:ln/>
        </p:spPr>
        <p:txBody>
          <a:bodyPr wrap="square" lIns="0" tIns="0" rIns="0" bIns="0" rtlCol="0" anchor="t"/>
          <a:lstStyle/>
          <a:p>
            <a:pPr algn="l" indent="0" marL="0">
              <a:lnSpc>
                <a:spcPts val="1260"/>
              </a:lnSpc>
              <a:buNone/>
            </a:pPr>
            <a:r>
              <a:rPr lang="en-US" sz="900" dirty="0">
                <a:solidFill>
                  <a:srgbClr val="FFFFFF"/>
                </a:solidFill>
                <a:latin typeface="Arial" pitchFamily="34" charset="0"/>
                <a:ea typeface="Arial" pitchFamily="34" charset="-122"/>
                <a:cs typeface="Arial" pitchFamily="34" charset="-120"/>
              </a:rPr>
              <a:t>iOS / iPadOS</a:t>
            </a:r>
            <a:endParaRPr lang="en-US" sz="900" dirty="0"/>
          </a:p>
        </p:txBody>
      </p:sp>
      <p:sp>
        <p:nvSpPr>
          <p:cNvPr id="38" name="Text 36"/>
          <p:cNvSpPr/>
          <p:nvPr/>
        </p:nvSpPr>
        <p:spPr>
          <a:xfrm>
            <a:off x="6119664" y="2666702"/>
            <a:ext cx="1088743" cy="119955"/>
          </a:xfrm>
          <a:prstGeom prst="rect">
            <a:avLst/>
          </a:prstGeom>
          <a:noFill/>
          <a:ln/>
        </p:spPr>
        <p:txBody>
          <a:bodyPr wrap="square" lIns="0" tIns="0" rIns="0" bIns="0" rtlCol="0" anchor="t"/>
          <a:lstStyle/>
          <a:p>
            <a:pPr algn="l" indent="0" marL="0">
              <a:lnSpc>
                <a:spcPts val="945"/>
              </a:lnSpc>
              <a:spcBef>
                <a:spcPts val="150"/>
              </a:spcBef>
              <a:buNone/>
            </a:pPr>
            <a:r>
              <a:rPr lang="en-US" sz="675" dirty="0">
                <a:solidFill>
                  <a:srgbClr val="FFFFFF">
                    <a:alpha val="50000"/>
                  </a:srgbClr>
                </a:solidFill>
                <a:latin typeface="Arial" pitchFamily="34" charset="0"/>
                <a:ea typeface="Arial" pitchFamily="34" charset="-122"/>
                <a:cs typeface="Arial" pitchFamily="34" charset="-120"/>
              </a:rPr>
              <a:t>Same license covers mobile</a:t>
            </a:r>
            <a:endParaRPr lang="en-US" sz="675" dirty="0"/>
          </a:p>
        </p:txBody>
      </p:sp>
      <p:sp>
        <p:nvSpPr>
          <p:cNvPr id="39" name="Text 37"/>
          <p:cNvSpPr/>
          <p:nvPr/>
        </p:nvSpPr>
        <p:spPr>
          <a:xfrm>
            <a:off x="5633889" y="4476750"/>
            <a:ext cx="3243411" cy="361950"/>
          </a:xfrm>
          <a:prstGeom prst="rect">
            <a:avLst/>
          </a:prstGeom>
          <a:solidFill>
            <a:srgbClr val="059669"/>
          </a:solidFill>
          <a:ln/>
        </p:spPr>
        <p:txBody>
          <a:bodyPr wrap="square" rtlCol="0" anchor="ctr"/>
          <a:lstStyle/>
          <a:p>
            <a:pPr indent="0" marL="0">
              <a:buNone/>
            </a:pPr>
            <a:endParaRPr lang="en-US" dirty="0"/>
          </a:p>
        </p:txBody>
      </p:sp>
      <p:sp>
        <p:nvSpPr>
          <p:cNvPr id="40" name="Text 38"/>
          <p:cNvSpPr/>
          <p:nvPr/>
        </p:nvSpPr>
        <p:spPr>
          <a:xfrm>
            <a:off x="5718041" y="4591050"/>
            <a:ext cx="3075108" cy="133350"/>
          </a:xfrm>
          <a:prstGeom prst="rect">
            <a:avLst/>
          </a:prstGeom>
          <a:noFill/>
          <a:ln/>
        </p:spPr>
        <p:txBody>
          <a:bodyPr wrap="square" lIns="0" tIns="0" rIns="0" bIns="0" rtlCol="0" anchor="t"/>
          <a:lstStyle/>
          <a:p>
            <a:pPr algn="ctr" indent="0" marL="0">
              <a:lnSpc>
                <a:spcPts val="1050"/>
              </a:lnSpc>
              <a:buNone/>
            </a:pPr>
            <a:r>
              <a:rPr lang="en-US" sz="750" dirty="0">
                <a:solidFill>
                  <a:srgbClr val="FFFFFF"/>
                </a:solidFill>
                <a:latin typeface="Arial" pitchFamily="34" charset="0"/>
                <a:ea typeface="Arial" pitchFamily="34" charset="-122"/>
                <a:cs typeface="Arial" pitchFamily="34" charset="-120"/>
              </a:rPr>
              <a:t>Local models = Safe for PHI and sensitive data</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457200" y="266700"/>
            <a:ext cx="8394192" cy="146596"/>
          </a:xfrm>
          <a:prstGeom prst="rect">
            <a:avLst/>
          </a:prstGeom>
          <a:noFill/>
          <a:ln/>
        </p:spPr>
        <p:txBody>
          <a:bodyPr wrap="square" lIns="0" tIns="0" rIns="0" bIns="0" rtlCol="0" anchor="t"/>
          <a:lstStyle/>
          <a:p>
            <a:pPr algn="l" indent="0" marL="0">
              <a:lnSpc>
                <a:spcPts val="1155"/>
              </a:lnSpc>
              <a:spcAft>
                <a:spcPts val="450"/>
              </a:spcAft>
              <a:buNone/>
            </a:pPr>
            <a:r>
              <a:rPr lang="en-US" sz="825" dirty="0">
                <a:solidFill>
                  <a:srgbClr val="C9A227"/>
                </a:solidFill>
                <a:latin typeface="Arial" pitchFamily="34" charset="0"/>
                <a:ea typeface="Arial" pitchFamily="34" charset="-122"/>
                <a:cs typeface="Arial" pitchFamily="34" charset="-120"/>
              </a:rPr>
              <a:t>DATA FLOW ARCHITECTURE</a:t>
            </a:r>
            <a:endParaRPr lang="en-US" sz="825" dirty="0"/>
          </a:p>
        </p:txBody>
      </p:sp>
      <p:sp>
        <p:nvSpPr>
          <p:cNvPr id="3" name="Text 1"/>
          <p:cNvSpPr/>
          <p:nvPr/>
        </p:nvSpPr>
        <p:spPr>
          <a:xfrm>
            <a:off x="457200" y="470446"/>
            <a:ext cx="4206812" cy="285750"/>
          </a:xfrm>
          <a:prstGeom prst="rect">
            <a:avLst/>
          </a:prstGeom>
          <a:noFill/>
          <a:ln/>
        </p:spPr>
        <p:txBody>
          <a:bodyPr wrap="square" lIns="0" tIns="0" rIns="0" bIns="0" rtlCol="0" anchor="t"/>
          <a:lstStyle/>
          <a:p>
            <a:pPr algn="l" indent="0" marL="0">
              <a:lnSpc>
                <a:spcPts val="2250"/>
              </a:lnSpc>
              <a:buNone/>
            </a:pPr>
            <a:r>
              <a:rPr lang="en-US" sz="2250" dirty="0">
                <a:solidFill>
                  <a:srgbClr val="1A1F2E"/>
                </a:solidFill>
                <a:latin typeface="Georgia" pitchFamily="34" charset="0"/>
                <a:ea typeface="Georgia" pitchFamily="34" charset="-122"/>
                <a:cs typeface="Georgia" pitchFamily="34" charset="-120"/>
              </a:rPr>
              <a:t>Why Local Processing Matters</a:t>
            </a:r>
            <a:endParaRPr lang="en-US" sz="2250" dirty="0"/>
          </a:p>
        </p:txBody>
      </p:sp>
      <p:sp>
        <p:nvSpPr>
          <p:cNvPr id="4" name="Text 2"/>
          <p:cNvSpPr/>
          <p:nvPr/>
        </p:nvSpPr>
        <p:spPr>
          <a:xfrm>
            <a:off x="457200" y="1060996"/>
            <a:ext cx="8394192" cy="146596"/>
          </a:xfrm>
          <a:prstGeom prst="rect">
            <a:avLst/>
          </a:prstGeom>
          <a:noFill/>
          <a:ln/>
        </p:spPr>
        <p:txBody>
          <a:bodyPr wrap="square" lIns="0" tIns="0" rIns="0" bIns="0" rtlCol="0" anchor="t"/>
          <a:lstStyle/>
          <a:p>
            <a:pPr algn="l" indent="0" marL="0">
              <a:lnSpc>
                <a:spcPts val="1155"/>
              </a:lnSpc>
              <a:spcAft>
                <a:spcPts val="600"/>
              </a:spcAft>
              <a:buNone/>
            </a:pPr>
            <a:r>
              <a:rPr lang="en-US" sz="825" b="1" dirty="0">
                <a:solidFill>
                  <a:srgbClr val="059669"/>
                </a:solidFill>
                <a:latin typeface="Arial" pitchFamily="34" charset="0"/>
                <a:ea typeface="Arial" pitchFamily="34" charset="-122"/>
                <a:cs typeface="Arial" pitchFamily="34" charset="-120"/>
              </a:rPr>
              <a:t>LOCAL PROCESSING (SuperWhisper)</a:t>
            </a:r>
            <a:endParaRPr lang="en-US" sz="825" dirty="0"/>
          </a:p>
        </p:txBody>
      </p:sp>
      <p:sp>
        <p:nvSpPr>
          <p:cNvPr id="5" name="Text 3"/>
          <p:cNvSpPr/>
          <p:nvPr/>
        </p:nvSpPr>
        <p:spPr>
          <a:xfrm>
            <a:off x="457200" y="1524744"/>
            <a:ext cx="1047750" cy="323850"/>
          </a:xfrm>
          <a:prstGeom prst="rect">
            <a:avLst/>
          </a:prstGeom>
          <a:solidFill>
            <a:srgbClr val="DBEAFE"/>
          </a:solidFill>
          <a:ln/>
        </p:spPr>
        <p:txBody>
          <a:bodyPr wrap="square" rtlCol="0" anchor="ctr"/>
          <a:lstStyle/>
          <a:p>
            <a:pPr indent="0" marL="0">
              <a:buNone/>
            </a:pPr>
            <a:endParaRPr lang="en-US" dirty="0"/>
          </a:p>
        </p:txBody>
      </p:sp>
      <p:sp>
        <p:nvSpPr>
          <p:cNvPr id="6" name="Text 4"/>
          <p:cNvSpPr/>
          <p:nvPr/>
        </p:nvSpPr>
        <p:spPr>
          <a:xfrm>
            <a:off x="582740" y="1619994"/>
            <a:ext cx="796671" cy="133350"/>
          </a:xfrm>
          <a:prstGeom prst="rect">
            <a:avLst/>
          </a:prstGeom>
          <a:noFill/>
          <a:ln/>
        </p:spPr>
        <p:txBody>
          <a:bodyPr wrap="square" lIns="0" tIns="0" rIns="0" bIns="0" rtlCol="0" anchor="t"/>
          <a:lstStyle/>
          <a:p>
            <a:pPr algn="ctr" indent="0" marL="0">
              <a:lnSpc>
                <a:spcPts val="1050"/>
              </a:lnSpc>
              <a:buNone/>
            </a:pPr>
            <a:r>
              <a:rPr lang="en-US" sz="750" dirty="0">
                <a:solidFill>
                  <a:srgbClr val="1A1F2E"/>
                </a:solidFill>
                <a:latin typeface="Arial" pitchFamily="34" charset="0"/>
                <a:ea typeface="Arial" pitchFamily="34" charset="-122"/>
                <a:cs typeface="Arial" pitchFamily="34" charset="-120"/>
              </a:rPr>
              <a:t>Your Voice</a:t>
            </a:r>
            <a:endParaRPr lang="en-US" sz="750" dirty="0"/>
          </a:p>
        </p:txBody>
      </p:sp>
      <p:sp>
        <p:nvSpPr>
          <p:cNvPr id="7" name="Text 5"/>
          <p:cNvSpPr/>
          <p:nvPr/>
        </p:nvSpPr>
        <p:spPr>
          <a:xfrm>
            <a:off x="1562100" y="1579959"/>
            <a:ext cx="142545" cy="213271"/>
          </a:xfrm>
          <a:prstGeom prst="rect">
            <a:avLst/>
          </a:prstGeom>
          <a:noFill/>
          <a:ln/>
        </p:spPr>
        <p:txBody>
          <a:bodyPr wrap="square" lIns="0" tIns="0" rIns="0" bIns="0" rtlCol="0" anchor="t"/>
          <a:lstStyle/>
          <a:p>
            <a:pPr algn="l" indent="0" marL="0">
              <a:lnSpc>
                <a:spcPts val="1680"/>
              </a:lnSpc>
              <a:buNone/>
            </a:pPr>
            <a:r>
              <a:rPr lang="en-US" sz="1200" dirty="0">
                <a:solidFill>
                  <a:srgbClr val="059669"/>
                </a:solidFill>
                <a:latin typeface="Arial" pitchFamily="34" charset="0"/>
                <a:ea typeface="Arial" pitchFamily="34" charset="-122"/>
                <a:cs typeface="Arial" pitchFamily="34" charset="-120"/>
              </a:rPr>
              <a:t>-&gt;</a:t>
            </a:r>
            <a:endParaRPr lang="en-US" sz="1200" dirty="0"/>
          </a:p>
        </p:txBody>
      </p:sp>
      <p:sp>
        <p:nvSpPr>
          <p:cNvPr id="8" name="Text 6"/>
          <p:cNvSpPr/>
          <p:nvPr/>
        </p:nvSpPr>
        <p:spPr>
          <a:xfrm>
            <a:off x="1759000" y="1436191"/>
            <a:ext cx="1238250" cy="500955"/>
          </a:xfrm>
          <a:prstGeom prst="rect">
            <a:avLst/>
          </a:prstGeom>
          <a:solidFill>
            <a:srgbClr val="DCFCE7"/>
          </a:solidFill>
          <a:ln w="19050">
            <a:solidFill>
              <a:srgbClr val="059669"/>
            </a:solidFill>
          </a:ln>
        </p:spPr>
        <p:txBody>
          <a:bodyPr wrap="square" rtlCol="0" anchor="ctr"/>
          <a:lstStyle/>
          <a:p>
            <a:pPr indent="0" marL="0">
              <a:buNone/>
            </a:pPr>
            <a:endParaRPr lang="en-US" dirty="0"/>
          </a:p>
        </p:txBody>
      </p:sp>
      <p:sp>
        <p:nvSpPr>
          <p:cNvPr id="9" name="Text 7"/>
          <p:cNvSpPr/>
          <p:nvPr/>
        </p:nvSpPr>
        <p:spPr>
          <a:xfrm>
            <a:off x="1902065" y="1550491"/>
            <a:ext cx="952119" cy="133350"/>
          </a:xfrm>
          <a:prstGeom prst="rect">
            <a:avLst/>
          </a:prstGeom>
          <a:noFill/>
          <a:ln/>
        </p:spPr>
        <p:txBody>
          <a:bodyPr wrap="square" lIns="0" tIns="0" rIns="0" bIns="0" rtlCol="0" anchor="t"/>
          <a:lstStyle/>
          <a:p>
            <a:pPr algn="ctr" indent="0" marL="0">
              <a:lnSpc>
                <a:spcPts val="1050"/>
              </a:lnSpc>
              <a:buNone/>
            </a:pPr>
            <a:r>
              <a:rPr lang="en-US" sz="750" b="1" dirty="0">
                <a:solidFill>
                  <a:srgbClr val="166534"/>
                </a:solidFill>
                <a:latin typeface="Arial" pitchFamily="34" charset="0"/>
                <a:ea typeface="Arial" pitchFamily="34" charset="-122"/>
                <a:cs typeface="Arial" pitchFamily="34" charset="-120"/>
              </a:rPr>
              <a:t>SuperWhisper</a:t>
            </a:r>
            <a:endParaRPr lang="en-US" sz="750" dirty="0"/>
          </a:p>
        </p:txBody>
      </p:sp>
      <p:sp>
        <p:nvSpPr>
          <p:cNvPr id="10" name="Text 8"/>
          <p:cNvSpPr/>
          <p:nvPr/>
        </p:nvSpPr>
        <p:spPr>
          <a:xfrm>
            <a:off x="1902065" y="1702891"/>
            <a:ext cx="952119" cy="119955"/>
          </a:xfrm>
          <a:prstGeom prst="rect">
            <a:avLst/>
          </a:prstGeom>
          <a:noFill/>
          <a:ln/>
        </p:spPr>
        <p:txBody>
          <a:bodyPr wrap="square" lIns="0" tIns="0" rIns="0" bIns="0" rtlCol="0" anchor="t"/>
          <a:lstStyle/>
          <a:p>
            <a:pPr algn="ctr" indent="0" marL="0">
              <a:lnSpc>
                <a:spcPts val="945"/>
              </a:lnSpc>
              <a:spcBef>
                <a:spcPts val="150"/>
              </a:spcBef>
              <a:buNone/>
            </a:pPr>
            <a:r>
              <a:rPr lang="en-US" sz="675" dirty="0">
                <a:solidFill>
                  <a:srgbClr val="166534"/>
                </a:solidFill>
                <a:latin typeface="Arial" pitchFamily="34" charset="0"/>
                <a:ea typeface="Arial" pitchFamily="34" charset="-122"/>
                <a:cs typeface="Arial" pitchFamily="34" charset="-120"/>
              </a:rPr>
              <a:t>(On Your Device)</a:t>
            </a:r>
            <a:endParaRPr lang="en-US" sz="675" dirty="0"/>
          </a:p>
        </p:txBody>
      </p:sp>
      <p:sp>
        <p:nvSpPr>
          <p:cNvPr id="11" name="Text 9"/>
          <p:cNvSpPr/>
          <p:nvPr/>
        </p:nvSpPr>
        <p:spPr>
          <a:xfrm>
            <a:off x="3054400" y="1579959"/>
            <a:ext cx="142545" cy="213271"/>
          </a:xfrm>
          <a:prstGeom prst="rect">
            <a:avLst/>
          </a:prstGeom>
          <a:noFill/>
          <a:ln/>
        </p:spPr>
        <p:txBody>
          <a:bodyPr wrap="square" lIns="0" tIns="0" rIns="0" bIns="0" rtlCol="0" anchor="t"/>
          <a:lstStyle/>
          <a:p>
            <a:pPr algn="l" indent="0" marL="0">
              <a:lnSpc>
                <a:spcPts val="1680"/>
              </a:lnSpc>
              <a:buNone/>
            </a:pPr>
            <a:r>
              <a:rPr lang="en-US" sz="1200" dirty="0">
                <a:solidFill>
                  <a:srgbClr val="059669"/>
                </a:solidFill>
                <a:latin typeface="Arial" pitchFamily="34" charset="0"/>
                <a:ea typeface="Arial" pitchFamily="34" charset="-122"/>
                <a:cs typeface="Arial" pitchFamily="34" charset="-120"/>
              </a:rPr>
              <a:t>-&gt;</a:t>
            </a:r>
            <a:endParaRPr lang="en-US" sz="1200" dirty="0"/>
          </a:p>
        </p:txBody>
      </p:sp>
      <p:sp>
        <p:nvSpPr>
          <p:cNvPr id="12" name="Text 10"/>
          <p:cNvSpPr/>
          <p:nvPr/>
        </p:nvSpPr>
        <p:spPr>
          <a:xfrm>
            <a:off x="3251299" y="1524744"/>
            <a:ext cx="1047750" cy="323850"/>
          </a:xfrm>
          <a:prstGeom prst="rect">
            <a:avLst/>
          </a:prstGeom>
          <a:solidFill>
            <a:srgbClr val="DCFCE7"/>
          </a:solidFill>
          <a:ln/>
        </p:spPr>
        <p:txBody>
          <a:bodyPr wrap="square" rtlCol="0" anchor="ctr"/>
          <a:lstStyle/>
          <a:p>
            <a:pPr indent="0" marL="0">
              <a:buNone/>
            </a:pPr>
            <a:endParaRPr lang="en-US" dirty="0"/>
          </a:p>
        </p:txBody>
      </p:sp>
      <p:sp>
        <p:nvSpPr>
          <p:cNvPr id="13" name="Text 11"/>
          <p:cNvSpPr/>
          <p:nvPr/>
        </p:nvSpPr>
        <p:spPr>
          <a:xfrm>
            <a:off x="3376839" y="1619994"/>
            <a:ext cx="796671" cy="133350"/>
          </a:xfrm>
          <a:prstGeom prst="rect">
            <a:avLst/>
          </a:prstGeom>
          <a:noFill/>
          <a:ln/>
        </p:spPr>
        <p:txBody>
          <a:bodyPr wrap="square" lIns="0" tIns="0" rIns="0" bIns="0" rtlCol="0" anchor="t"/>
          <a:lstStyle/>
          <a:p>
            <a:pPr algn="ctr" indent="0" marL="0">
              <a:lnSpc>
                <a:spcPts val="1050"/>
              </a:lnSpc>
              <a:buNone/>
            </a:pPr>
            <a:r>
              <a:rPr lang="en-US" sz="750" dirty="0">
                <a:solidFill>
                  <a:srgbClr val="166534"/>
                </a:solidFill>
                <a:latin typeface="Arial" pitchFamily="34" charset="0"/>
                <a:ea typeface="Arial" pitchFamily="34" charset="-122"/>
                <a:cs typeface="Arial" pitchFamily="34" charset="-120"/>
              </a:rPr>
              <a:t>Text Output</a:t>
            </a:r>
            <a:endParaRPr lang="en-US" sz="750" dirty="0"/>
          </a:p>
        </p:txBody>
      </p:sp>
      <p:sp>
        <p:nvSpPr>
          <p:cNvPr id="14" name="Text 12"/>
          <p:cNvSpPr/>
          <p:nvPr/>
        </p:nvSpPr>
        <p:spPr>
          <a:xfrm>
            <a:off x="4356199" y="1579959"/>
            <a:ext cx="142545" cy="213271"/>
          </a:xfrm>
          <a:prstGeom prst="rect">
            <a:avLst/>
          </a:prstGeom>
          <a:noFill/>
          <a:ln/>
        </p:spPr>
        <p:txBody>
          <a:bodyPr wrap="square" lIns="0" tIns="0" rIns="0" bIns="0" rtlCol="0" anchor="t"/>
          <a:lstStyle/>
          <a:p>
            <a:pPr algn="l" indent="0" marL="0">
              <a:lnSpc>
                <a:spcPts val="1680"/>
              </a:lnSpc>
              <a:buNone/>
            </a:pPr>
            <a:r>
              <a:rPr lang="en-US" sz="1200" dirty="0">
                <a:solidFill>
                  <a:srgbClr val="059669"/>
                </a:solidFill>
                <a:latin typeface="Arial" pitchFamily="34" charset="0"/>
                <a:ea typeface="Arial" pitchFamily="34" charset="-122"/>
                <a:cs typeface="Arial" pitchFamily="34" charset="-120"/>
              </a:rPr>
              <a:t>-&gt;</a:t>
            </a:r>
            <a:endParaRPr lang="en-US" sz="1200" dirty="0"/>
          </a:p>
        </p:txBody>
      </p:sp>
      <p:sp>
        <p:nvSpPr>
          <p:cNvPr id="15" name="Text 13"/>
          <p:cNvSpPr/>
          <p:nvPr/>
        </p:nvSpPr>
        <p:spPr>
          <a:xfrm>
            <a:off x="4553099" y="1524744"/>
            <a:ext cx="1047750" cy="323850"/>
          </a:xfrm>
          <a:prstGeom prst="rect">
            <a:avLst/>
          </a:prstGeom>
          <a:solidFill>
            <a:srgbClr val="DBEAFE"/>
          </a:solidFill>
          <a:ln/>
        </p:spPr>
        <p:txBody>
          <a:bodyPr wrap="square" rtlCol="0" anchor="ctr"/>
          <a:lstStyle/>
          <a:p>
            <a:pPr indent="0" marL="0">
              <a:buNone/>
            </a:pPr>
            <a:endParaRPr lang="en-US" dirty="0"/>
          </a:p>
        </p:txBody>
      </p:sp>
      <p:sp>
        <p:nvSpPr>
          <p:cNvPr id="16" name="Text 14"/>
          <p:cNvSpPr/>
          <p:nvPr/>
        </p:nvSpPr>
        <p:spPr>
          <a:xfrm>
            <a:off x="4678638" y="1619994"/>
            <a:ext cx="796671" cy="133350"/>
          </a:xfrm>
          <a:prstGeom prst="rect">
            <a:avLst/>
          </a:prstGeom>
          <a:noFill/>
          <a:ln/>
        </p:spPr>
        <p:txBody>
          <a:bodyPr wrap="square" lIns="0" tIns="0" rIns="0" bIns="0" rtlCol="0" anchor="t"/>
          <a:lstStyle/>
          <a:p>
            <a:pPr algn="ctr" indent="0" marL="0">
              <a:lnSpc>
                <a:spcPts val="1050"/>
              </a:lnSpc>
              <a:buNone/>
            </a:pPr>
            <a:r>
              <a:rPr lang="en-US" sz="750" dirty="0">
                <a:solidFill>
                  <a:srgbClr val="1A1F2E"/>
                </a:solidFill>
                <a:latin typeface="Arial" pitchFamily="34" charset="0"/>
                <a:ea typeface="Arial" pitchFamily="34" charset="-122"/>
                <a:cs typeface="Arial" pitchFamily="34" charset="-120"/>
              </a:rPr>
              <a:t>Your App</a:t>
            </a:r>
            <a:endParaRPr lang="en-US" sz="750" dirty="0"/>
          </a:p>
        </p:txBody>
      </p:sp>
      <p:sp>
        <p:nvSpPr>
          <p:cNvPr id="17" name="Text 15"/>
          <p:cNvSpPr/>
          <p:nvPr/>
        </p:nvSpPr>
        <p:spPr>
          <a:xfrm>
            <a:off x="5772299" y="1550491"/>
            <a:ext cx="685800" cy="272355"/>
          </a:xfrm>
          <a:prstGeom prst="rect">
            <a:avLst/>
          </a:prstGeom>
          <a:solidFill>
            <a:srgbClr val="DCFCE7"/>
          </a:solidFill>
          <a:ln/>
        </p:spPr>
        <p:txBody>
          <a:bodyPr wrap="square" rtlCol="0" anchor="ctr"/>
          <a:lstStyle/>
          <a:p>
            <a:pPr indent="0" marL="0">
              <a:buNone/>
            </a:pPr>
            <a:endParaRPr lang="en-US" dirty="0"/>
          </a:p>
        </p:txBody>
      </p:sp>
      <p:sp>
        <p:nvSpPr>
          <p:cNvPr id="18" name="Text 16"/>
          <p:cNvSpPr/>
          <p:nvPr/>
        </p:nvSpPr>
        <p:spPr>
          <a:xfrm>
            <a:off x="5886599" y="1626691"/>
            <a:ext cx="466344" cy="119955"/>
          </a:xfrm>
          <a:prstGeom prst="rect">
            <a:avLst/>
          </a:prstGeom>
          <a:noFill/>
          <a:ln/>
        </p:spPr>
        <p:txBody>
          <a:bodyPr wrap="square" lIns="0" tIns="0" rIns="0" bIns="0" rtlCol="0" anchor="t"/>
          <a:lstStyle/>
          <a:p>
            <a:pPr algn="l" indent="0" marL="0">
              <a:lnSpc>
                <a:spcPts val="945"/>
              </a:lnSpc>
              <a:buNone/>
            </a:pPr>
            <a:r>
              <a:rPr lang="en-US" sz="675" b="1" dirty="0">
                <a:solidFill>
                  <a:srgbClr val="166534"/>
                </a:solidFill>
                <a:latin typeface="Arial" pitchFamily="34" charset="0"/>
                <a:ea typeface="Arial" pitchFamily="34" charset="-122"/>
                <a:cs typeface="Arial" pitchFamily="34" charset="-120"/>
              </a:rPr>
              <a:t>NO CLOUD</a:t>
            </a:r>
            <a:endParaRPr lang="en-US" sz="675" dirty="0"/>
          </a:p>
        </p:txBody>
      </p:sp>
      <p:sp>
        <p:nvSpPr>
          <p:cNvPr id="19" name="Text 17"/>
          <p:cNvSpPr/>
          <p:nvPr/>
        </p:nvSpPr>
        <p:spPr>
          <a:xfrm>
            <a:off x="457200" y="2203847"/>
            <a:ext cx="8394192" cy="146596"/>
          </a:xfrm>
          <a:prstGeom prst="rect">
            <a:avLst/>
          </a:prstGeom>
          <a:noFill/>
          <a:ln/>
        </p:spPr>
        <p:txBody>
          <a:bodyPr wrap="square" lIns="0" tIns="0" rIns="0" bIns="0" rtlCol="0" anchor="t"/>
          <a:lstStyle/>
          <a:p>
            <a:pPr algn="l" indent="0" marL="0">
              <a:lnSpc>
                <a:spcPts val="1155"/>
              </a:lnSpc>
              <a:spcAft>
                <a:spcPts val="600"/>
              </a:spcAft>
              <a:buNone/>
            </a:pPr>
            <a:r>
              <a:rPr lang="en-US" sz="825" b="1" dirty="0">
                <a:solidFill>
                  <a:srgbClr val="DC2626"/>
                </a:solidFill>
                <a:latin typeface="Arial" pitchFamily="34" charset="0"/>
                <a:ea typeface="Arial" pitchFamily="34" charset="-122"/>
                <a:cs typeface="Arial" pitchFamily="34" charset="-120"/>
              </a:rPr>
              <a:t>CLOUD PROCESSING (Traditional)</a:t>
            </a:r>
            <a:endParaRPr lang="en-US" sz="825" dirty="0"/>
          </a:p>
        </p:txBody>
      </p:sp>
      <p:sp>
        <p:nvSpPr>
          <p:cNvPr id="20" name="Text 18"/>
          <p:cNvSpPr/>
          <p:nvPr/>
        </p:nvSpPr>
        <p:spPr>
          <a:xfrm>
            <a:off x="457200" y="2667595"/>
            <a:ext cx="1047750" cy="323850"/>
          </a:xfrm>
          <a:prstGeom prst="rect">
            <a:avLst/>
          </a:prstGeom>
          <a:solidFill>
            <a:srgbClr val="DBEAFE"/>
          </a:solidFill>
          <a:ln/>
        </p:spPr>
        <p:txBody>
          <a:bodyPr wrap="square" rtlCol="0" anchor="ctr"/>
          <a:lstStyle/>
          <a:p>
            <a:pPr indent="0" marL="0">
              <a:buNone/>
            </a:pPr>
            <a:endParaRPr lang="en-US" dirty="0"/>
          </a:p>
        </p:txBody>
      </p:sp>
      <p:sp>
        <p:nvSpPr>
          <p:cNvPr id="21" name="Text 19"/>
          <p:cNvSpPr/>
          <p:nvPr/>
        </p:nvSpPr>
        <p:spPr>
          <a:xfrm>
            <a:off x="582740" y="2762845"/>
            <a:ext cx="796671" cy="133350"/>
          </a:xfrm>
          <a:prstGeom prst="rect">
            <a:avLst/>
          </a:prstGeom>
          <a:noFill/>
          <a:ln/>
        </p:spPr>
        <p:txBody>
          <a:bodyPr wrap="square" lIns="0" tIns="0" rIns="0" bIns="0" rtlCol="0" anchor="t"/>
          <a:lstStyle/>
          <a:p>
            <a:pPr algn="ctr" indent="0" marL="0">
              <a:lnSpc>
                <a:spcPts val="1050"/>
              </a:lnSpc>
              <a:buNone/>
            </a:pPr>
            <a:r>
              <a:rPr lang="en-US" sz="750" dirty="0">
                <a:solidFill>
                  <a:srgbClr val="1A1F2E"/>
                </a:solidFill>
                <a:latin typeface="Arial" pitchFamily="34" charset="0"/>
                <a:ea typeface="Arial" pitchFamily="34" charset="-122"/>
                <a:cs typeface="Arial" pitchFamily="34" charset="-120"/>
              </a:rPr>
              <a:t>Your Voice</a:t>
            </a:r>
            <a:endParaRPr lang="en-US" sz="750" dirty="0"/>
          </a:p>
        </p:txBody>
      </p:sp>
      <p:sp>
        <p:nvSpPr>
          <p:cNvPr id="22" name="Text 20"/>
          <p:cNvSpPr/>
          <p:nvPr/>
        </p:nvSpPr>
        <p:spPr>
          <a:xfrm>
            <a:off x="1562100" y="2722811"/>
            <a:ext cx="142545" cy="213271"/>
          </a:xfrm>
          <a:prstGeom prst="rect">
            <a:avLst/>
          </a:prstGeom>
          <a:noFill/>
          <a:ln/>
        </p:spPr>
        <p:txBody>
          <a:bodyPr wrap="square" lIns="0" tIns="0" rIns="0" bIns="0" rtlCol="0" anchor="t"/>
          <a:lstStyle/>
          <a:p>
            <a:pPr algn="l" indent="0" marL="0">
              <a:lnSpc>
                <a:spcPts val="1680"/>
              </a:lnSpc>
              <a:buNone/>
            </a:pPr>
            <a:r>
              <a:rPr lang="en-US" sz="1200" dirty="0">
                <a:solidFill>
                  <a:srgbClr val="DC2626"/>
                </a:solidFill>
                <a:latin typeface="Arial" pitchFamily="34" charset="0"/>
                <a:ea typeface="Arial" pitchFamily="34" charset="-122"/>
                <a:cs typeface="Arial" pitchFamily="34" charset="-120"/>
              </a:rPr>
              <a:t>-&gt;</a:t>
            </a:r>
            <a:endParaRPr lang="en-US" sz="1200" dirty="0"/>
          </a:p>
        </p:txBody>
      </p:sp>
      <p:sp>
        <p:nvSpPr>
          <p:cNvPr id="23" name="Text 21"/>
          <p:cNvSpPr/>
          <p:nvPr/>
        </p:nvSpPr>
        <p:spPr>
          <a:xfrm>
            <a:off x="1759000" y="2579043"/>
            <a:ext cx="1238250" cy="500955"/>
          </a:xfrm>
          <a:prstGeom prst="rect">
            <a:avLst/>
          </a:prstGeom>
          <a:solidFill>
            <a:srgbClr val="FEE2E2"/>
          </a:solidFill>
          <a:ln w="19050">
            <a:solidFill>
              <a:srgbClr val="DC2626"/>
            </a:solidFill>
          </a:ln>
        </p:spPr>
        <p:txBody>
          <a:bodyPr wrap="square" rtlCol="0" anchor="ctr"/>
          <a:lstStyle/>
          <a:p>
            <a:pPr indent="0" marL="0">
              <a:buNone/>
            </a:pPr>
            <a:endParaRPr lang="en-US" dirty="0"/>
          </a:p>
        </p:txBody>
      </p:sp>
      <p:sp>
        <p:nvSpPr>
          <p:cNvPr id="24" name="Text 22"/>
          <p:cNvSpPr/>
          <p:nvPr/>
        </p:nvSpPr>
        <p:spPr>
          <a:xfrm>
            <a:off x="1902065" y="2693343"/>
            <a:ext cx="952119" cy="133350"/>
          </a:xfrm>
          <a:prstGeom prst="rect">
            <a:avLst/>
          </a:prstGeom>
          <a:noFill/>
          <a:ln/>
        </p:spPr>
        <p:txBody>
          <a:bodyPr wrap="square" lIns="0" tIns="0" rIns="0" bIns="0" rtlCol="0" anchor="t"/>
          <a:lstStyle/>
          <a:p>
            <a:pPr algn="ctr" indent="0" marL="0">
              <a:lnSpc>
                <a:spcPts val="1050"/>
              </a:lnSpc>
              <a:buNone/>
            </a:pPr>
            <a:r>
              <a:rPr lang="en-US" sz="750" b="1" dirty="0">
                <a:solidFill>
                  <a:srgbClr val="DC2626"/>
                </a:solidFill>
                <a:latin typeface="Arial" pitchFamily="34" charset="0"/>
                <a:ea typeface="Arial" pitchFamily="34" charset="-122"/>
                <a:cs typeface="Arial" pitchFamily="34" charset="-120"/>
              </a:rPr>
              <a:t>Cloud Server</a:t>
            </a:r>
            <a:endParaRPr lang="en-US" sz="750" dirty="0"/>
          </a:p>
        </p:txBody>
      </p:sp>
      <p:sp>
        <p:nvSpPr>
          <p:cNvPr id="25" name="Text 23"/>
          <p:cNvSpPr/>
          <p:nvPr/>
        </p:nvSpPr>
        <p:spPr>
          <a:xfrm>
            <a:off x="1902065" y="2845743"/>
            <a:ext cx="952119" cy="119955"/>
          </a:xfrm>
          <a:prstGeom prst="rect">
            <a:avLst/>
          </a:prstGeom>
          <a:noFill/>
          <a:ln/>
        </p:spPr>
        <p:txBody>
          <a:bodyPr wrap="square" lIns="0" tIns="0" rIns="0" bIns="0" rtlCol="0" anchor="t"/>
          <a:lstStyle/>
          <a:p>
            <a:pPr algn="ctr" indent="0" marL="0">
              <a:lnSpc>
                <a:spcPts val="945"/>
              </a:lnSpc>
              <a:spcBef>
                <a:spcPts val="150"/>
              </a:spcBef>
              <a:buNone/>
            </a:pPr>
            <a:r>
              <a:rPr lang="en-US" sz="675" dirty="0">
                <a:solidFill>
                  <a:srgbClr val="DC2626"/>
                </a:solidFill>
                <a:latin typeface="Arial" pitchFamily="34" charset="0"/>
                <a:ea typeface="Arial" pitchFamily="34" charset="-122"/>
                <a:cs typeface="Arial" pitchFamily="34" charset="-120"/>
              </a:rPr>
              <a:t>(3rd Party)</a:t>
            </a:r>
            <a:endParaRPr lang="en-US" sz="675" dirty="0"/>
          </a:p>
        </p:txBody>
      </p:sp>
      <p:sp>
        <p:nvSpPr>
          <p:cNvPr id="26" name="Text 24"/>
          <p:cNvSpPr/>
          <p:nvPr/>
        </p:nvSpPr>
        <p:spPr>
          <a:xfrm>
            <a:off x="3054400" y="2722811"/>
            <a:ext cx="142545" cy="213271"/>
          </a:xfrm>
          <a:prstGeom prst="rect">
            <a:avLst/>
          </a:prstGeom>
          <a:noFill/>
          <a:ln/>
        </p:spPr>
        <p:txBody>
          <a:bodyPr wrap="square" lIns="0" tIns="0" rIns="0" bIns="0" rtlCol="0" anchor="t"/>
          <a:lstStyle/>
          <a:p>
            <a:pPr algn="l" indent="0" marL="0">
              <a:lnSpc>
                <a:spcPts val="1680"/>
              </a:lnSpc>
              <a:buNone/>
            </a:pPr>
            <a:r>
              <a:rPr lang="en-US" sz="1200" dirty="0">
                <a:solidFill>
                  <a:srgbClr val="DC2626"/>
                </a:solidFill>
                <a:latin typeface="Arial" pitchFamily="34" charset="0"/>
                <a:ea typeface="Arial" pitchFamily="34" charset="-122"/>
                <a:cs typeface="Arial" pitchFamily="34" charset="-120"/>
              </a:rPr>
              <a:t>-&gt;</a:t>
            </a:r>
            <a:endParaRPr lang="en-US" sz="1200" dirty="0"/>
          </a:p>
        </p:txBody>
      </p:sp>
      <p:sp>
        <p:nvSpPr>
          <p:cNvPr id="27" name="Text 25"/>
          <p:cNvSpPr/>
          <p:nvPr/>
        </p:nvSpPr>
        <p:spPr>
          <a:xfrm>
            <a:off x="3251299" y="2667595"/>
            <a:ext cx="1047750" cy="323850"/>
          </a:xfrm>
          <a:prstGeom prst="rect">
            <a:avLst/>
          </a:prstGeom>
          <a:solidFill>
            <a:srgbClr val="FEE2E2"/>
          </a:solidFill>
          <a:ln/>
        </p:spPr>
        <p:txBody>
          <a:bodyPr wrap="square" rtlCol="0" anchor="ctr"/>
          <a:lstStyle/>
          <a:p>
            <a:pPr indent="0" marL="0">
              <a:buNone/>
            </a:pPr>
            <a:endParaRPr lang="en-US" dirty="0"/>
          </a:p>
        </p:txBody>
      </p:sp>
      <p:sp>
        <p:nvSpPr>
          <p:cNvPr id="28" name="Text 26"/>
          <p:cNvSpPr/>
          <p:nvPr/>
        </p:nvSpPr>
        <p:spPr>
          <a:xfrm>
            <a:off x="3376839" y="2762845"/>
            <a:ext cx="796671" cy="133350"/>
          </a:xfrm>
          <a:prstGeom prst="rect">
            <a:avLst/>
          </a:prstGeom>
          <a:noFill/>
          <a:ln/>
        </p:spPr>
        <p:txBody>
          <a:bodyPr wrap="square" lIns="0" tIns="0" rIns="0" bIns="0" rtlCol="0" anchor="t"/>
          <a:lstStyle/>
          <a:p>
            <a:pPr algn="ctr" indent="0" marL="0">
              <a:lnSpc>
                <a:spcPts val="1050"/>
              </a:lnSpc>
              <a:buNone/>
            </a:pPr>
            <a:r>
              <a:rPr lang="en-US" sz="750" dirty="0">
                <a:solidFill>
                  <a:srgbClr val="DC2626"/>
                </a:solidFill>
                <a:latin typeface="Arial" pitchFamily="34" charset="0"/>
                <a:ea typeface="Arial" pitchFamily="34" charset="-122"/>
                <a:cs typeface="Arial" pitchFamily="34" charset="-120"/>
              </a:rPr>
              <a:t>Text Output</a:t>
            </a:r>
            <a:endParaRPr lang="en-US" sz="750" dirty="0"/>
          </a:p>
        </p:txBody>
      </p:sp>
      <p:sp>
        <p:nvSpPr>
          <p:cNvPr id="29" name="Text 27"/>
          <p:cNvSpPr/>
          <p:nvPr/>
        </p:nvSpPr>
        <p:spPr>
          <a:xfrm>
            <a:off x="4356199" y="2722811"/>
            <a:ext cx="142545" cy="213271"/>
          </a:xfrm>
          <a:prstGeom prst="rect">
            <a:avLst/>
          </a:prstGeom>
          <a:noFill/>
          <a:ln/>
        </p:spPr>
        <p:txBody>
          <a:bodyPr wrap="square" lIns="0" tIns="0" rIns="0" bIns="0" rtlCol="0" anchor="t"/>
          <a:lstStyle/>
          <a:p>
            <a:pPr algn="l" indent="0" marL="0">
              <a:lnSpc>
                <a:spcPts val="1680"/>
              </a:lnSpc>
              <a:buNone/>
            </a:pPr>
            <a:r>
              <a:rPr lang="en-US" sz="1200" dirty="0">
                <a:solidFill>
                  <a:srgbClr val="DC2626"/>
                </a:solidFill>
                <a:latin typeface="Arial" pitchFamily="34" charset="0"/>
                <a:ea typeface="Arial" pitchFamily="34" charset="-122"/>
                <a:cs typeface="Arial" pitchFamily="34" charset="-120"/>
              </a:rPr>
              <a:t>-&gt;</a:t>
            </a:r>
            <a:endParaRPr lang="en-US" sz="1200" dirty="0"/>
          </a:p>
        </p:txBody>
      </p:sp>
      <p:sp>
        <p:nvSpPr>
          <p:cNvPr id="30" name="Text 28"/>
          <p:cNvSpPr/>
          <p:nvPr/>
        </p:nvSpPr>
        <p:spPr>
          <a:xfrm>
            <a:off x="4553099" y="2667595"/>
            <a:ext cx="1047750" cy="323850"/>
          </a:xfrm>
          <a:prstGeom prst="rect">
            <a:avLst/>
          </a:prstGeom>
          <a:solidFill>
            <a:srgbClr val="DBEAFE"/>
          </a:solidFill>
          <a:ln/>
        </p:spPr>
        <p:txBody>
          <a:bodyPr wrap="square" rtlCol="0" anchor="ctr"/>
          <a:lstStyle/>
          <a:p>
            <a:pPr indent="0" marL="0">
              <a:buNone/>
            </a:pPr>
            <a:endParaRPr lang="en-US" dirty="0"/>
          </a:p>
        </p:txBody>
      </p:sp>
      <p:sp>
        <p:nvSpPr>
          <p:cNvPr id="31" name="Text 29"/>
          <p:cNvSpPr/>
          <p:nvPr/>
        </p:nvSpPr>
        <p:spPr>
          <a:xfrm>
            <a:off x="4678638" y="2762845"/>
            <a:ext cx="796671" cy="133350"/>
          </a:xfrm>
          <a:prstGeom prst="rect">
            <a:avLst/>
          </a:prstGeom>
          <a:noFill/>
          <a:ln/>
        </p:spPr>
        <p:txBody>
          <a:bodyPr wrap="square" lIns="0" tIns="0" rIns="0" bIns="0" rtlCol="0" anchor="t"/>
          <a:lstStyle/>
          <a:p>
            <a:pPr algn="ctr" indent="0" marL="0">
              <a:lnSpc>
                <a:spcPts val="1050"/>
              </a:lnSpc>
              <a:buNone/>
            </a:pPr>
            <a:r>
              <a:rPr lang="en-US" sz="750" dirty="0">
                <a:solidFill>
                  <a:srgbClr val="1A1F2E"/>
                </a:solidFill>
                <a:latin typeface="Arial" pitchFamily="34" charset="0"/>
                <a:ea typeface="Arial" pitchFamily="34" charset="-122"/>
                <a:cs typeface="Arial" pitchFamily="34" charset="-120"/>
              </a:rPr>
              <a:t>Your App</a:t>
            </a:r>
            <a:endParaRPr lang="en-US" sz="750" dirty="0"/>
          </a:p>
        </p:txBody>
      </p:sp>
      <p:sp>
        <p:nvSpPr>
          <p:cNvPr id="32" name="Text 30"/>
          <p:cNvSpPr/>
          <p:nvPr/>
        </p:nvSpPr>
        <p:spPr>
          <a:xfrm>
            <a:off x="5772299" y="2693343"/>
            <a:ext cx="811262" cy="272355"/>
          </a:xfrm>
          <a:prstGeom prst="rect">
            <a:avLst/>
          </a:prstGeom>
          <a:solidFill>
            <a:srgbClr val="FEE2E2"/>
          </a:solidFill>
          <a:ln/>
        </p:spPr>
        <p:txBody>
          <a:bodyPr wrap="square" rtlCol="0" anchor="ctr"/>
          <a:lstStyle/>
          <a:p>
            <a:pPr indent="0" marL="0">
              <a:buNone/>
            </a:pPr>
            <a:endParaRPr lang="en-US" dirty="0"/>
          </a:p>
        </p:txBody>
      </p:sp>
      <p:sp>
        <p:nvSpPr>
          <p:cNvPr id="33" name="Text 31"/>
          <p:cNvSpPr/>
          <p:nvPr/>
        </p:nvSpPr>
        <p:spPr>
          <a:xfrm>
            <a:off x="5886599" y="2769543"/>
            <a:ext cx="594315" cy="119955"/>
          </a:xfrm>
          <a:prstGeom prst="rect">
            <a:avLst/>
          </a:prstGeom>
          <a:noFill/>
          <a:ln/>
        </p:spPr>
        <p:txBody>
          <a:bodyPr wrap="square" lIns="0" tIns="0" rIns="0" bIns="0" rtlCol="0" anchor="t"/>
          <a:lstStyle/>
          <a:p>
            <a:pPr algn="l" indent="0" marL="0">
              <a:lnSpc>
                <a:spcPts val="945"/>
              </a:lnSpc>
              <a:buNone/>
            </a:pPr>
            <a:r>
              <a:rPr lang="en-US" sz="675" b="1" dirty="0">
                <a:solidFill>
                  <a:srgbClr val="DC2626"/>
                </a:solidFill>
                <a:latin typeface="Arial" pitchFamily="34" charset="0"/>
                <a:ea typeface="Arial" pitchFamily="34" charset="-122"/>
                <a:cs typeface="Arial" pitchFamily="34" charset="-120"/>
              </a:rPr>
              <a:t>DATA LEAVES</a:t>
            </a:r>
            <a:endParaRPr lang="en-US" sz="675" dirty="0"/>
          </a:p>
        </p:txBody>
      </p:sp>
      <p:sp>
        <p:nvSpPr>
          <p:cNvPr id="34" name="Text 32"/>
          <p:cNvSpPr/>
          <p:nvPr/>
        </p:nvSpPr>
        <p:spPr>
          <a:xfrm>
            <a:off x="457200" y="3447157"/>
            <a:ext cx="2667000" cy="1367284"/>
          </a:xfrm>
          <a:prstGeom prst="rect">
            <a:avLst/>
          </a:prstGeom>
          <a:solidFill>
            <a:srgbClr val="FFFFFF"/>
          </a:solidFill>
          <a:ln/>
        </p:spPr>
        <p:txBody>
          <a:bodyPr wrap="square" rtlCol="0" anchor="ctr"/>
          <a:lstStyle/>
          <a:p>
            <a:pPr indent="0" marL="0">
              <a:buNone/>
            </a:pPr>
            <a:endParaRPr lang="en-US" dirty="0"/>
          </a:p>
        </p:txBody>
      </p:sp>
      <p:sp>
        <p:nvSpPr>
          <p:cNvPr id="35" name="Shape 33"/>
          <p:cNvSpPr/>
          <p:nvPr/>
        </p:nvSpPr>
        <p:spPr>
          <a:xfrm>
            <a:off x="476250" y="3447157"/>
            <a:ext cx="0" cy="1367284"/>
          </a:xfrm>
          <a:prstGeom prst="line">
            <a:avLst/>
          </a:prstGeom>
          <a:noFill/>
          <a:ln w="38100">
            <a:solidFill>
              <a:srgbClr val="C9A227"/>
            </a:solidFill>
            <a:prstDash val="solid"/>
          </a:ln>
        </p:spPr>
      </p:sp>
      <p:sp>
        <p:nvSpPr>
          <p:cNvPr id="36" name="Text 34"/>
          <p:cNvSpPr/>
          <p:nvPr/>
        </p:nvSpPr>
        <p:spPr>
          <a:xfrm>
            <a:off x="628650" y="3580507"/>
            <a:ext cx="2409444" cy="159990"/>
          </a:xfrm>
          <a:prstGeom prst="rect">
            <a:avLst/>
          </a:prstGeom>
          <a:noFill/>
          <a:ln/>
        </p:spPr>
        <p:txBody>
          <a:bodyPr wrap="square" lIns="0" tIns="0" rIns="0" bIns="0" rtlCol="0" anchor="t"/>
          <a:lstStyle/>
          <a:p>
            <a:pPr algn="l" indent="0" marL="0">
              <a:lnSpc>
                <a:spcPts val="1260"/>
              </a:lnSpc>
              <a:spcAft>
                <a:spcPts val="600"/>
              </a:spcAft>
              <a:buNone/>
            </a:pPr>
            <a:r>
              <a:rPr lang="en-US" sz="900" b="1" dirty="0">
                <a:solidFill>
                  <a:srgbClr val="1A1F2E"/>
                </a:solidFill>
                <a:latin typeface="Arial" pitchFamily="34" charset="0"/>
                <a:ea typeface="Arial" pitchFamily="34" charset="-122"/>
                <a:cs typeface="Arial" pitchFamily="34" charset="-120"/>
              </a:rPr>
              <a:t>Government Benefits</a:t>
            </a:r>
            <a:endParaRPr lang="en-US" sz="900" dirty="0"/>
          </a:p>
        </p:txBody>
      </p:sp>
      <p:sp>
        <p:nvSpPr>
          <p:cNvPr id="37" name="Text 35"/>
          <p:cNvSpPr/>
          <p:nvPr/>
        </p:nvSpPr>
        <p:spPr>
          <a:xfrm>
            <a:off x="628650" y="3969097"/>
            <a:ext cx="2409444" cy="711994"/>
          </a:xfrm>
          <a:prstGeom prst="rect">
            <a:avLst/>
          </a:prstGeom>
          <a:noFill/>
          <a:ln/>
        </p:spPr>
        <p:txBody>
          <a:bodyPr wrap="square" lIns="0" tIns="0" rIns="0" bIns="0" rtlCol="0" anchor="t"/>
          <a:lstStyle/>
          <a:p>
            <a:pPr algn="l" indent="0" marL="0">
              <a:lnSpc>
                <a:spcPts val="1402"/>
              </a:lnSpc>
              <a:buNone/>
            </a:pPr>
            <a:r>
              <a:rPr lang="en-US" sz="825" dirty="0">
                <a:solidFill>
                  <a:srgbClr val="6B7280"/>
                </a:solidFill>
                <a:latin typeface="Arial" pitchFamily="34" charset="0"/>
                <a:ea typeface="Arial" pitchFamily="34" charset="-122"/>
                <a:cs typeface="Arial" pitchFamily="34" charset="-120"/>
              </a:rPr>
              <a:t>No BAA required for voice data</a:t>
            </a:r>
            <a:endParaRPr lang="en-US" sz="825" dirty="0"/>
          </a:p>
          <a:p>
            <a:pPr algn="l" indent="0" marL="0">
              <a:lnSpc>
                <a:spcPts val="1402"/>
              </a:lnSpc>
              <a:buNone/>
            </a:pPr>
            <a:r>
              <a:rPr lang="en-US" sz="825" dirty="0">
                <a:solidFill>
                  <a:srgbClr val="6B7280"/>
                </a:solidFill>
                <a:latin typeface="Arial" pitchFamily="34" charset="0"/>
                <a:ea typeface="Arial" pitchFamily="34" charset="-122"/>
                <a:cs typeface="Arial" pitchFamily="34" charset="-120"/>
              </a:rPr>
              <a:t>No data egress concerns</a:t>
            </a:r>
            <a:endParaRPr lang="en-US" sz="825" dirty="0"/>
          </a:p>
          <a:p>
            <a:pPr algn="l" indent="0" marL="0">
              <a:lnSpc>
                <a:spcPts val="1402"/>
              </a:lnSpc>
              <a:buNone/>
            </a:pPr>
            <a:r>
              <a:rPr lang="en-US" sz="825" dirty="0">
                <a:solidFill>
                  <a:srgbClr val="6B7280"/>
                </a:solidFill>
                <a:latin typeface="Arial" pitchFamily="34" charset="0"/>
                <a:ea typeface="Arial" pitchFamily="34" charset="-122"/>
                <a:cs typeface="Arial" pitchFamily="34" charset="-120"/>
              </a:rPr>
              <a:t>Simplified compliance posture</a:t>
            </a:r>
            <a:endParaRPr lang="en-US" sz="825" dirty="0"/>
          </a:p>
          <a:p>
            <a:pPr algn="l" indent="0" marL="0">
              <a:lnSpc>
                <a:spcPts val="1402"/>
              </a:lnSpc>
              <a:buNone/>
            </a:pPr>
            <a:r>
              <a:rPr lang="en-US" sz="825" dirty="0">
                <a:solidFill>
                  <a:srgbClr val="6B7280"/>
                </a:solidFill>
                <a:latin typeface="Arial" pitchFamily="34" charset="0"/>
                <a:ea typeface="Arial" pitchFamily="34" charset="-122"/>
                <a:cs typeface="Arial" pitchFamily="34" charset="-120"/>
              </a:rPr>
              <a:t>IT-friendly deployment</a:t>
            </a:r>
            <a:endParaRPr lang="en-US" sz="825" dirty="0"/>
          </a:p>
        </p:txBody>
      </p:sp>
      <p:sp>
        <p:nvSpPr>
          <p:cNvPr id="38" name="Text 36"/>
          <p:cNvSpPr/>
          <p:nvPr/>
        </p:nvSpPr>
        <p:spPr>
          <a:xfrm>
            <a:off x="3257550" y="3447157"/>
            <a:ext cx="2667000" cy="1367284"/>
          </a:xfrm>
          <a:prstGeom prst="rect">
            <a:avLst/>
          </a:prstGeom>
          <a:solidFill>
            <a:srgbClr val="FFFFFF"/>
          </a:solidFill>
          <a:ln/>
        </p:spPr>
        <p:txBody>
          <a:bodyPr wrap="square" rtlCol="0" anchor="ctr"/>
          <a:lstStyle/>
          <a:p>
            <a:pPr indent="0" marL="0">
              <a:buNone/>
            </a:pPr>
            <a:endParaRPr lang="en-US" dirty="0"/>
          </a:p>
        </p:txBody>
      </p:sp>
      <p:sp>
        <p:nvSpPr>
          <p:cNvPr id="39" name="Shape 37"/>
          <p:cNvSpPr/>
          <p:nvPr/>
        </p:nvSpPr>
        <p:spPr>
          <a:xfrm>
            <a:off x="3276600" y="3447157"/>
            <a:ext cx="0" cy="1367284"/>
          </a:xfrm>
          <a:prstGeom prst="line">
            <a:avLst/>
          </a:prstGeom>
          <a:noFill/>
          <a:ln w="38100">
            <a:solidFill>
              <a:srgbClr val="C9A227"/>
            </a:solidFill>
            <a:prstDash val="solid"/>
          </a:ln>
        </p:spPr>
      </p:sp>
      <p:sp>
        <p:nvSpPr>
          <p:cNvPr id="40" name="Text 38"/>
          <p:cNvSpPr/>
          <p:nvPr/>
        </p:nvSpPr>
        <p:spPr>
          <a:xfrm>
            <a:off x="3429000" y="3580507"/>
            <a:ext cx="2409444" cy="159990"/>
          </a:xfrm>
          <a:prstGeom prst="rect">
            <a:avLst/>
          </a:prstGeom>
          <a:noFill/>
          <a:ln/>
        </p:spPr>
        <p:txBody>
          <a:bodyPr wrap="square" lIns="0" tIns="0" rIns="0" bIns="0" rtlCol="0" anchor="t"/>
          <a:lstStyle/>
          <a:p>
            <a:pPr algn="l" indent="0" marL="0">
              <a:lnSpc>
                <a:spcPts val="1260"/>
              </a:lnSpc>
              <a:spcAft>
                <a:spcPts val="600"/>
              </a:spcAft>
              <a:buNone/>
            </a:pPr>
            <a:r>
              <a:rPr lang="en-US" sz="900" b="1" dirty="0">
                <a:solidFill>
                  <a:srgbClr val="1A1F2E"/>
                </a:solidFill>
                <a:latin typeface="Arial" pitchFamily="34" charset="0"/>
                <a:ea typeface="Arial" pitchFamily="34" charset="-122"/>
                <a:cs typeface="Arial" pitchFamily="34" charset="-120"/>
              </a:rPr>
              <a:t>Security Benefits</a:t>
            </a:r>
            <a:endParaRPr lang="en-US" sz="900" dirty="0"/>
          </a:p>
        </p:txBody>
      </p:sp>
      <p:sp>
        <p:nvSpPr>
          <p:cNvPr id="41" name="Text 39"/>
          <p:cNvSpPr/>
          <p:nvPr/>
        </p:nvSpPr>
        <p:spPr>
          <a:xfrm>
            <a:off x="3429000" y="3969097"/>
            <a:ext cx="2409444" cy="711994"/>
          </a:xfrm>
          <a:prstGeom prst="rect">
            <a:avLst/>
          </a:prstGeom>
          <a:noFill/>
          <a:ln/>
        </p:spPr>
        <p:txBody>
          <a:bodyPr wrap="square" lIns="0" tIns="0" rIns="0" bIns="0" rtlCol="0" anchor="t"/>
          <a:lstStyle/>
          <a:p>
            <a:pPr algn="l" indent="0" marL="0">
              <a:lnSpc>
                <a:spcPts val="1402"/>
              </a:lnSpc>
              <a:buNone/>
            </a:pPr>
            <a:r>
              <a:rPr lang="en-US" sz="825" dirty="0">
                <a:solidFill>
                  <a:srgbClr val="6B7280"/>
                </a:solidFill>
                <a:latin typeface="Arial" pitchFamily="34" charset="0"/>
                <a:ea typeface="Arial" pitchFamily="34" charset="-122"/>
                <a:cs typeface="Arial" pitchFamily="34" charset="-120"/>
              </a:rPr>
              <a:t>Voice never leaves device</a:t>
            </a:r>
            <a:endParaRPr lang="en-US" sz="825" dirty="0"/>
          </a:p>
          <a:p>
            <a:pPr algn="l" indent="0" marL="0">
              <a:lnSpc>
                <a:spcPts val="1402"/>
              </a:lnSpc>
              <a:buNone/>
            </a:pPr>
            <a:r>
              <a:rPr lang="en-US" sz="825" dirty="0">
                <a:solidFill>
                  <a:srgbClr val="6B7280"/>
                </a:solidFill>
                <a:latin typeface="Arial" pitchFamily="34" charset="0"/>
                <a:ea typeface="Arial" pitchFamily="34" charset="-122"/>
                <a:cs typeface="Arial" pitchFamily="34" charset="-120"/>
              </a:rPr>
              <a:t>Works offline / air-gapped</a:t>
            </a:r>
            <a:endParaRPr lang="en-US" sz="825" dirty="0"/>
          </a:p>
          <a:p>
            <a:pPr algn="l" indent="0" marL="0">
              <a:lnSpc>
                <a:spcPts val="1402"/>
              </a:lnSpc>
              <a:buNone/>
            </a:pPr>
            <a:r>
              <a:rPr lang="en-US" sz="825" dirty="0">
                <a:solidFill>
                  <a:srgbClr val="6B7280"/>
                </a:solidFill>
                <a:latin typeface="Arial" pitchFamily="34" charset="0"/>
                <a:ea typeface="Arial" pitchFamily="34" charset="-122"/>
                <a:cs typeface="Arial" pitchFamily="34" charset="-120"/>
              </a:rPr>
              <a:t>No vendor data retention</a:t>
            </a:r>
            <a:endParaRPr lang="en-US" sz="825" dirty="0"/>
          </a:p>
          <a:p>
            <a:pPr algn="l" indent="0" marL="0">
              <a:lnSpc>
                <a:spcPts val="1402"/>
              </a:lnSpc>
              <a:buNone/>
            </a:pPr>
            <a:r>
              <a:rPr lang="en-US" sz="825" dirty="0">
                <a:solidFill>
                  <a:srgbClr val="6B7280"/>
                </a:solidFill>
                <a:latin typeface="Arial" pitchFamily="34" charset="0"/>
                <a:ea typeface="Arial" pitchFamily="34" charset="-122"/>
                <a:cs typeface="Arial" pitchFamily="34" charset="-120"/>
              </a:rPr>
              <a:t>Full audit control</a:t>
            </a:r>
            <a:endParaRPr lang="en-US" sz="825" dirty="0"/>
          </a:p>
        </p:txBody>
      </p:sp>
      <p:sp>
        <p:nvSpPr>
          <p:cNvPr id="42" name="Text 40"/>
          <p:cNvSpPr/>
          <p:nvPr/>
        </p:nvSpPr>
        <p:spPr>
          <a:xfrm>
            <a:off x="6057900" y="3536156"/>
            <a:ext cx="2628900" cy="1189286"/>
          </a:xfrm>
          <a:prstGeom prst="rect">
            <a:avLst/>
          </a:prstGeom>
          <a:solidFill>
            <a:srgbClr val="1A1F2E"/>
          </a:solidFill>
          <a:ln/>
        </p:spPr>
        <p:txBody>
          <a:bodyPr wrap="square" rtlCol="0" anchor="ctr"/>
          <a:lstStyle/>
          <a:p>
            <a:pPr indent="0" marL="0">
              <a:buNone/>
            </a:pPr>
            <a:endParaRPr lang="en-US" dirty="0"/>
          </a:p>
        </p:txBody>
      </p:sp>
      <p:sp>
        <p:nvSpPr>
          <p:cNvPr id="43" name="Text 41"/>
          <p:cNvSpPr/>
          <p:nvPr/>
        </p:nvSpPr>
        <p:spPr>
          <a:xfrm>
            <a:off x="6191250" y="3669506"/>
            <a:ext cx="2409444" cy="159990"/>
          </a:xfrm>
          <a:prstGeom prst="rect">
            <a:avLst/>
          </a:prstGeom>
          <a:noFill/>
          <a:ln/>
        </p:spPr>
        <p:txBody>
          <a:bodyPr wrap="square" lIns="0" tIns="0" rIns="0" bIns="0" rtlCol="0" anchor="t"/>
          <a:lstStyle/>
          <a:p>
            <a:pPr algn="l" indent="0" marL="0">
              <a:lnSpc>
                <a:spcPts val="1260"/>
              </a:lnSpc>
              <a:spcAft>
                <a:spcPts val="600"/>
              </a:spcAft>
              <a:buNone/>
            </a:pPr>
            <a:r>
              <a:rPr lang="en-US" sz="900" b="1" dirty="0">
                <a:solidFill>
                  <a:srgbClr val="C9A227"/>
                </a:solidFill>
                <a:latin typeface="Arial" pitchFamily="34" charset="0"/>
                <a:ea typeface="Arial" pitchFamily="34" charset="-122"/>
                <a:cs typeface="Arial" pitchFamily="34" charset="-120"/>
              </a:rPr>
              <a:t>Key Insight</a:t>
            </a:r>
            <a:endParaRPr lang="en-US" sz="900" dirty="0"/>
          </a:p>
        </p:txBody>
      </p:sp>
      <p:sp>
        <p:nvSpPr>
          <p:cNvPr id="44" name="Text 42"/>
          <p:cNvSpPr/>
          <p:nvPr/>
        </p:nvSpPr>
        <p:spPr>
          <a:xfrm>
            <a:off x="6191250" y="4058096"/>
            <a:ext cx="2409444" cy="533995"/>
          </a:xfrm>
          <a:prstGeom prst="rect">
            <a:avLst/>
          </a:prstGeom>
          <a:noFill/>
          <a:ln/>
        </p:spPr>
        <p:txBody>
          <a:bodyPr wrap="square" lIns="0" tIns="0" rIns="0" bIns="0" rtlCol="0" anchor="t"/>
          <a:lstStyle/>
          <a:p>
            <a:pPr algn="l" indent="0" marL="0">
              <a:lnSpc>
                <a:spcPts val="1402"/>
              </a:lnSpc>
              <a:buNone/>
            </a:pPr>
            <a:r>
              <a:rPr lang="en-US" sz="825" dirty="0">
                <a:solidFill>
                  <a:srgbClr val="FFFFFF">
                    <a:alpha val="80000"/>
                  </a:srgbClr>
                </a:solidFill>
                <a:latin typeface="Arial" pitchFamily="34" charset="0"/>
                <a:ea typeface="Arial" pitchFamily="34" charset="-122"/>
                <a:cs typeface="Arial" pitchFamily="34" charset="-120"/>
              </a:rPr>
              <a:t>Voice data is biometric and sensitive. Local processing means you maintain complete control over where your data goes.</a:t>
            </a:r>
            <a:endParaRPr lang="en-US" sz="82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4944963" cy="5143500"/>
          </a:xfrm>
          <a:prstGeom prst="rect">
            <a:avLst/>
          </a:prstGeom>
          <a:solidFill>
            <a:srgbClr val="F7F8FA"/>
          </a:solidFill>
          <a:ln/>
        </p:spPr>
        <p:txBody>
          <a:bodyPr wrap="square" rtlCol="0" anchor="ctr"/>
          <a:lstStyle/>
          <a:p>
            <a:pPr indent="0" marL="0">
              <a:buNone/>
            </a:pPr>
            <a:endParaRPr lang="en-US" dirty="0"/>
          </a:p>
        </p:txBody>
      </p:sp>
      <p:sp>
        <p:nvSpPr>
          <p:cNvPr id="3" name="Text 1"/>
          <p:cNvSpPr/>
          <p:nvPr/>
        </p:nvSpPr>
        <p:spPr>
          <a:xfrm>
            <a:off x="304800" y="672554"/>
            <a:ext cx="4422071" cy="146596"/>
          </a:xfrm>
          <a:prstGeom prst="rect">
            <a:avLst/>
          </a:prstGeom>
          <a:noFill/>
          <a:ln/>
        </p:spPr>
        <p:txBody>
          <a:bodyPr wrap="square" lIns="0" tIns="0" rIns="0" bIns="0" rtlCol="0" anchor="t"/>
          <a:lstStyle/>
          <a:p>
            <a:pPr algn="l" indent="0" marL="0">
              <a:lnSpc>
                <a:spcPts val="1155"/>
              </a:lnSpc>
              <a:spcAft>
                <a:spcPts val="300"/>
              </a:spcAft>
              <a:buNone/>
            </a:pPr>
            <a:r>
              <a:rPr lang="en-US" sz="825" dirty="0">
                <a:solidFill>
                  <a:srgbClr val="C9A227"/>
                </a:solidFill>
                <a:latin typeface="Arial" pitchFamily="34" charset="0"/>
                <a:ea typeface="Arial" pitchFamily="34" charset="-122"/>
                <a:cs typeface="Arial" pitchFamily="34" charset="-120"/>
              </a:rPr>
              <a:t>INSTALLATION GUIDE</a:t>
            </a:r>
            <a:endParaRPr lang="en-US" sz="825" dirty="0"/>
          </a:p>
        </p:txBody>
      </p:sp>
      <p:sp>
        <p:nvSpPr>
          <p:cNvPr id="4" name="Text 2"/>
          <p:cNvSpPr/>
          <p:nvPr/>
        </p:nvSpPr>
        <p:spPr>
          <a:xfrm>
            <a:off x="304800" y="1009650"/>
            <a:ext cx="2526030" cy="247650"/>
          </a:xfrm>
          <a:prstGeom prst="rect">
            <a:avLst/>
          </a:prstGeom>
          <a:noFill/>
          <a:ln/>
        </p:spPr>
        <p:txBody>
          <a:bodyPr wrap="square" lIns="0" tIns="0" rIns="0" bIns="0" rtlCol="0" anchor="t"/>
          <a:lstStyle/>
          <a:p>
            <a:pPr algn="l" indent="0" marL="0">
              <a:lnSpc>
                <a:spcPts val="1950"/>
              </a:lnSpc>
              <a:spcAft>
                <a:spcPts val="300"/>
              </a:spcAft>
              <a:buNone/>
            </a:pPr>
            <a:r>
              <a:rPr lang="en-US" sz="1950" dirty="0">
                <a:solidFill>
                  <a:srgbClr val="1A1F2E"/>
                </a:solidFill>
                <a:latin typeface="Georgia" pitchFamily="34" charset="0"/>
                <a:ea typeface="Georgia" pitchFamily="34" charset="-122"/>
                <a:cs typeface="Georgia" pitchFamily="34" charset="-120"/>
              </a:rPr>
              <a:t>SuperWhisper for Mac</a:t>
            </a:r>
            <a:endParaRPr lang="en-US" sz="1950" dirty="0"/>
          </a:p>
        </p:txBody>
      </p:sp>
      <p:sp>
        <p:nvSpPr>
          <p:cNvPr id="5" name="Text 3"/>
          <p:cNvSpPr/>
          <p:nvPr/>
        </p:nvSpPr>
        <p:spPr>
          <a:xfrm>
            <a:off x="304800" y="1447800"/>
            <a:ext cx="4422071" cy="146596"/>
          </a:xfrm>
          <a:prstGeom prst="rect">
            <a:avLst/>
          </a:prstGeom>
          <a:noFill/>
          <a:ln/>
        </p:spPr>
        <p:txBody>
          <a:bodyPr wrap="square" lIns="0" tIns="0" rIns="0" bIns="0" rtlCol="0" anchor="t"/>
          <a:lstStyle/>
          <a:p>
            <a:pPr algn="l" indent="0" marL="0">
              <a:lnSpc>
                <a:spcPts val="1155"/>
              </a:lnSpc>
              <a:spcAft>
                <a:spcPts val="1050"/>
              </a:spcAft>
              <a:buNone/>
            </a:pPr>
            <a:r>
              <a:rPr lang="en-US" sz="825" dirty="0">
                <a:solidFill>
                  <a:srgbClr val="6B7280"/>
                </a:solidFill>
                <a:latin typeface="Arial" pitchFamily="34" charset="0"/>
                <a:ea typeface="Arial" pitchFamily="34" charset="-122"/>
                <a:cs typeface="Arial" pitchFamily="34" charset="-120"/>
              </a:rPr>
              <a:t>Step-by-step installation</a:t>
            </a:r>
            <a:endParaRPr lang="en-US" sz="825" dirty="0"/>
          </a:p>
        </p:txBody>
      </p:sp>
      <p:sp>
        <p:nvSpPr>
          <p:cNvPr id="6" name="Text 4"/>
          <p:cNvSpPr/>
          <p:nvPr/>
        </p:nvSpPr>
        <p:spPr>
          <a:xfrm>
            <a:off x="304800" y="1921966"/>
            <a:ext cx="228600" cy="228600"/>
          </a:xfrm>
          <a:prstGeom prst="rect">
            <a:avLst/>
          </a:prstGeom>
          <a:solidFill>
            <a:srgbClr val="C9A227"/>
          </a:solidFill>
          <a:ln/>
        </p:spPr>
        <p:txBody>
          <a:bodyPr wrap="square" rtlCol="0" anchor="ctr"/>
          <a:lstStyle/>
          <a:p>
            <a:pPr indent="0" marL="0">
              <a:buNone/>
            </a:pPr>
            <a:endParaRPr lang="en-US" dirty="0"/>
          </a:p>
        </p:txBody>
      </p:sp>
      <p:sp>
        <p:nvSpPr>
          <p:cNvPr id="7" name="Text 5"/>
          <p:cNvSpPr/>
          <p:nvPr/>
        </p:nvSpPr>
        <p:spPr>
          <a:xfrm>
            <a:off x="387251" y="1956197"/>
            <a:ext cx="64972" cy="159990"/>
          </a:xfrm>
          <a:prstGeom prst="rect">
            <a:avLst/>
          </a:prstGeom>
          <a:noFill/>
          <a:ln/>
        </p:spPr>
        <p:txBody>
          <a:bodyPr wrap="square" lIns="0" tIns="0" rIns="0" bIns="0" rtlCol="0" anchor="t"/>
          <a:lstStyle/>
          <a:p>
            <a:pPr algn="l" indent="0" marL="0">
              <a:lnSpc>
                <a:spcPts val="1260"/>
              </a:lnSpc>
              <a:buNone/>
            </a:pPr>
            <a:r>
              <a:rPr lang="en-US" sz="900" b="1" dirty="0">
                <a:solidFill>
                  <a:srgbClr val="1A1F2E"/>
                </a:solidFill>
                <a:latin typeface="Arial" pitchFamily="34" charset="0"/>
                <a:ea typeface="Arial" pitchFamily="34" charset="-122"/>
                <a:cs typeface="Arial" pitchFamily="34" charset="-120"/>
              </a:rPr>
              <a:t>1</a:t>
            </a:r>
            <a:endParaRPr lang="en-US" sz="900" dirty="0"/>
          </a:p>
        </p:txBody>
      </p:sp>
      <p:sp>
        <p:nvSpPr>
          <p:cNvPr id="8" name="Text 6"/>
          <p:cNvSpPr/>
          <p:nvPr/>
        </p:nvSpPr>
        <p:spPr>
          <a:xfrm>
            <a:off x="781050" y="1880146"/>
            <a:ext cx="3936296" cy="159990"/>
          </a:xfrm>
          <a:prstGeom prst="rect">
            <a:avLst/>
          </a:prstGeom>
          <a:noFill/>
          <a:ln/>
        </p:spPr>
        <p:txBody>
          <a:bodyPr wrap="square" lIns="0" tIns="0" rIns="0" bIns="0" rtlCol="0" anchor="t"/>
          <a:lstStyle/>
          <a:p>
            <a:pPr algn="l" indent="0" marL="0">
              <a:lnSpc>
                <a:spcPts val="1260"/>
              </a:lnSpc>
              <a:spcAft>
                <a:spcPts val="150"/>
              </a:spcAft>
              <a:buNone/>
            </a:pPr>
            <a:r>
              <a:rPr lang="en-US" sz="900" b="1" dirty="0">
                <a:solidFill>
                  <a:srgbClr val="1A1F2E"/>
                </a:solidFill>
                <a:latin typeface="Arial" pitchFamily="34" charset="0"/>
                <a:ea typeface="Arial" pitchFamily="34" charset="-122"/>
                <a:cs typeface="Arial" pitchFamily="34" charset="-120"/>
              </a:rPr>
              <a:t>Download SuperWhisper</a:t>
            </a:r>
            <a:endParaRPr lang="en-US" sz="900" dirty="0"/>
          </a:p>
        </p:txBody>
      </p:sp>
      <p:sp>
        <p:nvSpPr>
          <p:cNvPr id="9" name="Text 7"/>
          <p:cNvSpPr/>
          <p:nvPr/>
        </p:nvSpPr>
        <p:spPr>
          <a:xfrm>
            <a:off x="781050" y="2059186"/>
            <a:ext cx="3936296" cy="133350"/>
          </a:xfrm>
          <a:prstGeom prst="rect">
            <a:avLst/>
          </a:prstGeom>
          <a:noFill/>
          <a:ln/>
        </p:spPr>
        <p:txBody>
          <a:bodyPr wrap="square" lIns="0" tIns="0" rIns="0" bIns="0" rtlCol="0" anchor="t"/>
          <a:lstStyle/>
          <a:p>
            <a:pPr algn="l" indent="0" marL="0">
              <a:lnSpc>
                <a:spcPts val="1050"/>
              </a:lnSpc>
              <a:buNone/>
            </a:pPr>
            <a:r>
              <a:rPr lang="en-US" sz="750" dirty="0">
                <a:solidFill>
                  <a:srgbClr val="6B7280"/>
                </a:solidFill>
                <a:latin typeface="Arial" pitchFamily="34" charset="0"/>
                <a:ea typeface="Arial" pitchFamily="34" charset="-122"/>
                <a:cs typeface="Arial" pitchFamily="34" charset="-120"/>
              </a:rPr>
              <a:t>Mac App Store or superwhisper.com direct download</a:t>
            </a:r>
            <a:endParaRPr lang="en-US" sz="750" dirty="0"/>
          </a:p>
        </p:txBody>
      </p:sp>
      <p:sp>
        <p:nvSpPr>
          <p:cNvPr id="10" name="Text 8"/>
          <p:cNvSpPr/>
          <p:nvPr/>
        </p:nvSpPr>
        <p:spPr>
          <a:xfrm>
            <a:off x="304800" y="2482007"/>
            <a:ext cx="228600" cy="228600"/>
          </a:xfrm>
          <a:prstGeom prst="rect">
            <a:avLst/>
          </a:prstGeom>
          <a:solidFill>
            <a:srgbClr val="C9A227"/>
          </a:solidFill>
          <a:ln/>
        </p:spPr>
        <p:txBody>
          <a:bodyPr wrap="square" rtlCol="0" anchor="ctr"/>
          <a:lstStyle/>
          <a:p>
            <a:pPr indent="0" marL="0">
              <a:buNone/>
            </a:pPr>
            <a:endParaRPr lang="en-US" dirty="0"/>
          </a:p>
        </p:txBody>
      </p:sp>
      <p:sp>
        <p:nvSpPr>
          <p:cNvPr id="11" name="Text 9"/>
          <p:cNvSpPr/>
          <p:nvPr/>
        </p:nvSpPr>
        <p:spPr>
          <a:xfrm>
            <a:off x="387251" y="2516237"/>
            <a:ext cx="64972" cy="159990"/>
          </a:xfrm>
          <a:prstGeom prst="rect">
            <a:avLst/>
          </a:prstGeom>
          <a:noFill/>
          <a:ln/>
        </p:spPr>
        <p:txBody>
          <a:bodyPr wrap="square" lIns="0" tIns="0" rIns="0" bIns="0" rtlCol="0" anchor="t"/>
          <a:lstStyle/>
          <a:p>
            <a:pPr algn="l" indent="0" marL="0">
              <a:lnSpc>
                <a:spcPts val="1260"/>
              </a:lnSpc>
              <a:buNone/>
            </a:pPr>
            <a:r>
              <a:rPr lang="en-US" sz="900" b="1" dirty="0">
                <a:solidFill>
                  <a:srgbClr val="1A1F2E"/>
                </a:solidFill>
                <a:latin typeface="Arial" pitchFamily="34" charset="0"/>
                <a:ea typeface="Arial" pitchFamily="34" charset="-122"/>
                <a:cs typeface="Arial" pitchFamily="34" charset="-120"/>
              </a:rPr>
              <a:t>2</a:t>
            </a:r>
            <a:endParaRPr lang="en-US" sz="900" dirty="0"/>
          </a:p>
        </p:txBody>
      </p:sp>
      <p:sp>
        <p:nvSpPr>
          <p:cNvPr id="12" name="Text 10"/>
          <p:cNvSpPr/>
          <p:nvPr/>
        </p:nvSpPr>
        <p:spPr>
          <a:xfrm>
            <a:off x="781050" y="2440186"/>
            <a:ext cx="3936296" cy="159990"/>
          </a:xfrm>
          <a:prstGeom prst="rect">
            <a:avLst/>
          </a:prstGeom>
          <a:noFill/>
          <a:ln/>
        </p:spPr>
        <p:txBody>
          <a:bodyPr wrap="square" lIns="0" tIns="0" rIns="0" bIns="0" rtlCol="0" anchor="t"/>
          <a:lstStyle/>
          <a:p>
            <a:pPr algn="l" indent="0" marL="0">
              <a:lnSpc>
                <a:spcPts val="1260"/>
              </a:lnSpc>
              <a:spcAft>
                <a:spcPts val="150"/>
              </a:spcAft>
              <a:buNone/>
            </a:pPr>
            <a:r>
              <a:rPr lang="en-US" sz="900" b="1" dirty="0">
                <a:solidFill>
                  <a:srgbClr val="1A1F2E"/>
                </a:solidFill>
                <a:latin typeface="Arial" pitchFamily="34" charset="0"/>
                <a:ea typeface="Arial" pitchFamily="34" charset="-122"/>
                <a:cs typeface="Arial" pitchFamily="34" charset="-120"/>
              </a:rPr>
              <a:t>Install the Application</a:t>
            </a:r>
            <a:endParaRPr lang="en-US" sz="900" dirty="0"/>
          </a:p>
        </p:txBody>
      </p:sp>
      <p:sp>
        <p:nvSpPr>
          <p:cNvPr id="13" name="Text 11"/>
          <p:cNvSpPr/>
          <p:nvPr/>
        </p:nvSpPr>
        <p:spPr>
          <a:xfrm>
            <a:off x="781050" y="2619226"/>
            <a:ext cx="3936296" cy="133350"/>
          </a:xfrm>
          <a:prstGeom prst="rect">
            <a:avLst/>
          </a:prstGeom>
          <a:noFill/>
          <a:ln/>
        </p:spPr>
        <p:txBody>
          <a:bodyPr wrap="square" lIns="0" tIns="0" rIns="0" bIns="0" rtlCol="0" anchor="t"/>
          <a:lstStyle/>
          <a:p>
            <a:pPr algn="l" indent="0" marL="0">
              <a:lnSpc>
                <a:spcPts val="1050"/>
              </a:lnSpc>
              <a:buNone/>
            </a:pPr>
            <a:r>
              <a:rPr lang="en-US" sz="750" dirty="0">
                <a:solidFill>
                  <a:srgbClr val="6B7280"/>
                </a:solidFill>
                <a:latin typeface="Arial" pitchFamily="34" charset="0"/>
                <a:ea typeface="Arial" pitchFamily="34" charset="-122"/>
                <a:cs typeface="Arial" pitchFamily="34" charset="-120"/>
              </a:rPr>
              <a:t>Drag to Applications folder or click Install in App Store</a:t>
            </a:r>
            <a:endParaRPr lang="en-US" sz="750" dirty="0"/>
          </a:p>
        </p:txBody>
      </p:sp>
      <p:sp>
        <p:nvSpPr>
          <p:cNvPr id="14" name="Text 12"/>
          <p:cNvSpPr/>
          <p:nvPr/>
        </p:nvSpPr>
        <p:spPr>
          <a:xfrm>
            <a:off x="304800" y="3042047"/>
            <a:ext cx="228600" cy="228600"/>
          </a:xfrm>
          <a:prstGeom prst="rect">
            <a:avLst/>
          </a:prstGeom>
          <a:solidFill>
            <a:srgbClr val="C9A227"/>
          </a:solidFill>
          <a:ln/>
        </p:spPr>
        <p:txBody>
          <a:bodyPr wrap="square" rtlCol="0" anchor="ctr"/>
          <a:lstStyle/>
          <a:p>
            <a:pPr indent="0" marL="0">
              <a:buNone/>
            </a:pPr>
            <a:endParaRPr lang="en-US" dirty="0"/>
          </a:p>
        </p:txBody>
      </p:sp>
      <p:sp>
        <p:nvSpPr>
          <p:cNvPr id="15" name="Text 13"/>
          <p:cNvSpPr/>
          <p:nvPr/>
        </p:nvSpPr>
        <p:spPr>
          <a:xfrm>
            <a:off x="387251" y="3076277"/>
            <a:ext cx="64972" cy="159990"/>
          </a:xfrm>
          <a:prstGeom prst="rect">
            <a:avLst/>
          </a:prstGeom>
          <a:noFill/>
          <a:ln/>
        </p:spPr>
        <p:txBody>
          <a:bodyPr wrap="square" lIns="0" tIns="0" rIns="0" bIns="0" rtlCol="0" anchor="t"/>
          <a:lstStyle/>
          <a:p>
            <a:pPr algn="l" indent="0" marL="0">
              <a:lnSpc>
                <a:spcPts val="1260"/>
              </a:lnSpc>
              <a:buNone/>
            </a:pPr>
            <a:r>
              <a:rPr lang="en-US" sz="900" b="1" dirty="0">
                <a:solidFill>
                  <a:srgbClr val="1A1F2E"/>
                </a:solidFill>
                <a:latin typeface="Arial" pitchFamily="34" charset="0"/>
                <a:ea typeface="Arial" pitchFamily="34" charset="-122"/>
                <a:cs typeface="Arial" pitchFamily="34" charset="-120"/>
              </a:rPr>
              <a:t>3</a:t>
            </a:r>
            <a:endParaRPr lang="en-US" sz="900" dirty="0"/>
          </a:p>
        </p:txBody>
      </p:sp>
      <p:sp>
        <p:nvSpPr>
          <p:cNvPr id="16" name="Text 14"/>
          <p:cNvSpPr/>
          <p:nvPr/>
        </p:nvSpPr>
        <p:spPr>
          <a:xfrm>
            <a:off x="781050" y="3000226"/>
            <a:ext cx="3936296" cy="159990"/>
          </a:xfrm>
          <a:prstGeom prst="rect">
            <a:avLst/>
          </a:prstGeom>
          <a:noFill/>
          <a:ln/>
        </p:spPr>
        <p:txBody>
          <a:bodyPr wrap="square" lIns="0" tIns="0" rIns="0" bIns="0" rtlCol="0" anchor="t"/>
          <a:lstStyle/>
          <a:p>
            <a:pPr algn="l" indent="0" marL="0">
              <a:lnSpc>
                <a:spcPts val="1260"/>
              </a:lnSpc>
              <a:spcAft>
                <a:spcPts val="150"/>
              </a:spcAft>
              <a:buNone/>
            </a:pPr>
            <a:r>
              <a:rPr lang="en-US" sz="900" b="1" dirty="0">
                <a:solidFill>
                  <a:srgbClr val="1A1F2E"/>
                </a:solidFill>
                <a:latin typeface="Arial" pitchFamily="34" charset="0"/>
                <a:ea typeface="Arial" pitchFamily="34" charset="-122"/>
                <a:cs typeface="Arial" pitchFamily="34" charset="-120"/>
              </a:rPr>
              <a:t>Grant Microphone Access</a:t>
            </a:r>
            <a:endParaRPr lang="en-US" sz="900" dirty="0"/>
          </a:p>
        </p:txBody>
      </p:sp>
      <p:sp>
        <p:nvSpPr>
          <p:cNvPr id="17" name="Text 15"/>
          <p:cNvSpPr/>
          <p:nvPr/>
        </p:nvSpPr>
        <p:spPr>
          <a:xfrm>
            <a:off x="781050" y="3179266"/>
            <a:ext cx="3936296" cy="133350"/>
          </a:xfrm>
          <a:prstGeom prst="rect">
            <a:avLst/>
          </a:prstGeom>
          <a:noFill/>
          <a:ln/>
        </p:spPr>
        <p:txBody>
          <a:bodyPr wrap="square" lIns="0" tIns="0" rIns="0" bIns="0" rtlCol="0" anchor="t"/>
          <a:lstStyle/>
          <a:p>
            <a:pPr algn="l" indent="0" marL="0">
              <a:lnSpc>
                <a:spcPts val="1050"/>
              </a:lnSpc>
              <a:buNone/>
            </a:pPr>
            <a:r>
              <a:rPr lang="en-US" sz="750" dirty="0">
                <a:solidFill>
                  <a:srgbClr val="6B7280"/>
                </a:solidFill>
                <a:latin typeface="Arial" pitchFamily="34" charset="0"/>
                <a:ea typeface="Arial" pitchFamily="34" charset="-122"/>
                <a:cs typeface="Arial" pitchFamily="34" charset="-120"/>
              </a:rPr>
              <a:t>System Settings &gt; Privacy &gt; Microphone &gt; Enable SuperWhisper</a:t>
            </a:r>
            <a:endParaRPr lang="en-US" sz="750" dirty="0"/>
          </a:p>
        </p:txBody>
      </p:sp>
      <p:sp>
        <p:nvSpPr>
          <p:cNvPr id="18" name="Text 16"/>
          <p:cNvSpPr/>
          <p:nvPr/>
        </p:nvSpPr>
        <p:spPr>
          <a:xfrm>
            <a:off x="304800" y="3602087"/>
            <a:ext cx="228600" cy="228600"/>
          </a:xfrm>
          <a:prstGeom prst="rect">
            <a:avLst/>
          </a:prstGeom>
          <a:solidFill>
            <a:srgbClr val="C9A227"/>
          </a:solidFill>
          <a:ln/>
        </p:spPr>
        <p:txBody>
          <a:bodyPr wrap="square" rtlCol="0" anchor="ctr"/>
          <a:lstStyle/>
          <a:p>
            <a:pPr indent="0" marL="0">
              <a:buNone/>
            </a:pPr>
            <a:endParaRPr lang="en-US" dirty="0"/>
          </a:p>
        </p:txBody>
      </p:sp>
      <p:sp>
        <p:nvSpPr>
          <p:cNvPr id="19" name="Text 17"/>
          <p:cNvSpPr/>
          <p:nvPr/>
        </p:nvSpPr>
        <p:spPr>
          <a:xfrm>
            <a:off x="387251" y="3636318"/>
            <a:ext cx="64972" cy="159990"/>
          </a:xfrm>
          <a:prstGeom prst="rect">
            <a:avLst/>
          </a:prstGeom>
          <a:noFill/>
          <a:ln/>
        </p:spPr>
        <p:txBody>
          <a:bodyPr wrap="square" lIns="0" tIns="0" rIns="0" bIns="0" rtlCol="0" anchor="t"/>
          <a:lstStyle/>
          <a:p>
            <a:pPr algn="l" indent="0" marL="0">
              <a:lnSpc>
                <a:spcPts val="1260"/>
              </a:lnSpc>
              <a:buNone/>
            </a:pPr>
            <a:r>
              <a:rPr lang="en-US" sz="900" b="1" dirty="0">
                <a:solidFill>
                  <a:srgbClr val="1A1F2E"/>
                </a:solidFill>
                <a:latin typeface="Arial" pitchFamily="34" charset="0"/>
                <a:ea typeface="Arial" pitchFamily="34" charset="-122"/>
                <a:cs typeface="Arial" pitchFamily="34" charset="-120"/>
              </a:rPr>
              <a:t>4</a:t>
            </a:r>
            <a:endParaRPr lang="en-US" sz="900" dirty="0"/>
          </a:p>
        </p:txBody>
      </p:sp>
      <p:sp>
        <p:nvSpPr>
          <p:cNvPr id="20" name="Text 18"/>
          <p:cNvSpPr/>
          <p:nvPr/>
        </p:nvSpPr>
        <p:spPr>
          <a:xfrm>
            <a:off x="781050" y="3560266"/>
            <a:ext cx="3936296" cy="159990"/>
          </a:xfrm>
          <a:prstGeom prst="rect">
            <a:avLst/>
          </a:prstGeom>
          <a:noFill/>
          <a:ln/>
        </p:spPr>
        <p:txBody>
          <a:bodyPr wrap="square" lIns="0" tIns="0" rIns="0" bIns="0" rtlCol="0" anchor="t"/>
          <a:lstStyle/>
          <a:p>
            <a:pPr algn="l" indent="0" marL="0">
              <a:lnSpc>
                <a:spcPts val="1260"/>
              </a:lnSpc>
              <a:spcAft>
                <a:spcPts val="150"/>
              </a:spcAft>
              <a:buNone/>
            </a:pPr>
            <a:r>
              <a:rPr lang="en-US" sz="900" b="1" dirty="0">
                <a:solidFill>
                  <a:srgbClr val="1A1F2E"/>
                </a:solidFill>
                <a:latin typeface="Arial" pitchFamily="34" charset="0"/>
                <a:ea typeface="Arial" pitchFamily="34" charset="-122"/>
                <a:cs typeface="Arial" pitchFamily="34" charset="-120"/>
              </a:rPr>
              <a:t>Complete Onboarding</a:t>
            </a:r>
            <a:endParaRPr lang="en-US" sz="900" dirty="0"/>
          </a:p>
        </p:txBody>
      </p:sp>
      <p:sp>
        <p:nvSpPr>
          <p:cNvPr id="21" name="Text 19"/>
          <p:cNvSpPr/>
          <p:nvPr/>
        </p:nvSpPr>
        <p:spPr>
          <a:xfrm>
            <a:off x="781050" y="3739307"/>
            <a:ext cx="3936296" cy="133350"/>
          </a:xfrm>
          <a:prstGeom prst="rect">
            <a:avLst/>
          </a:prstGeom>
          <a:noFill/>
          <a:ln/>
        </p:spPr>
        <p:txBody>
          <a:bodyPr wrap="square" lIns="0" tIns="0" rIns="0" bIns="0" rtlCol="0" anchor="t"/>
          <a:lstStyle/>
          <a:p>
            <a:pPr algn="l" indent="0" marL="0">
              <a:lnSpc>
                <a:spcPts val="1050"/>
              </a:lnSpc>
              <a:buNone/>
            </a:pPr>
            <a:r>
              <a:rPr lang="en-US" sz="750" dirty="0">
                <a:solidFill>
                  <a:srgbClr val="6B7280"/>
                </a:solidFill>
                <a:latin typeface="Arial" pitchFamily="34" charset="0"/>
                <a:ea typeface="Arial" pitchFamily="34" charset="-122"/>
                <a:cs typeface="Arial" pitchFamily="34" charset="-120"/>
              </a:rPr>
              <a:t>Follow guided setup to test microphone and select voice model</a:t>
            </a:r>
            <a:endParaRPr lang="en-US" sz="750" dirty="0"/>
          </a:p>
        </p:txBody>
      </p:sp>
      <p:sp>
        <p:nvSpPr>
          <p:cNvPr id="22" name="Text 20"/>
          <p:cNvSpPr/>
          <p:nvPr/>
        </p:nvSpPr>
        <p:spPr>
          <a:xfrm>
            <a:off x="304800" y="4162127"/>
            <a:ext cx="228600" cy="228600"/>
          </a:xfrm>
          <a:prstGeom prst="rect">
            <a:avLst/>
          </a:prstGeom>
          <a:solidFill>
            <a:srgbClr val="059669"/>
          </a:solidFill>
          <a:ln/>
        </p:spPr>
        <p:txBody>
          <a:bodyPr wrap="square" rtlCol="0" anchor="ctr"/>
          <a:lstStyle/>
          <a:p>
            <a:pPr indent="0" marL="0">
              <a:buNone/>
            </a:pPr>
            <a:endParaRPr lang="en-US" dirty="0"/>
          </a:p>
        </p:txBody>
      </p:sp>
      <p:sp>
        <p:nvSpPr>
          <p:cNvPr id="23" name="Text 21"/>
          <p:cNvSpPr/>
          <p:nvPr/>
        </p:nvSpPr>
        <p:spPr>
          <a:xfrm>
            <a:off x="387251" y="4196358"/>
            <a:ext cx="64972" cy="159990"/>
          </a:xfrm>
          <a:prstGeom prst="rect">
            <a:avLst/>
          </a:prstGeom>
          <a:noFill/>
          <a:ln/>
        </p:spPr>
        <p:txBody>
          <a:bodyPr wrap="square" lIns="0" tIns="0" rIns="0" bIns="0" rtlCol="0" anchor="t"/>
          <a:lstStyle/>
          <a:p>
            <a:pPr algn="l" indent="0" marL="0">
              <a:lnSpc>
                <a:spcPts val="1260"/>
              </a:lnSpc>
              <a:buNone/>
            </a:pPr>
            <a:r>
              <a:rPr lang="en-US" sz="900" b="1" dirty="0">
                <a:solidFill>
                  <a:srgbClr val="FFFFFF"/>
                </a:solidFill>
                <a:latin typeface="Arial" pitchFamily="34" charset="0"/>
                <a:ea typeface="Arial" pitchFamily="34" charset="-122"/>
                <a:cs typeface="Arial" pitchFamily="34" charset="-120"/>
              </a:rPr>
              <a:t>5</a:t>
            </a:r>
            <a:endParaRPr lang="en-US" sz="900" dirty="0"/>
          </a:p>
        </p:txBody>
      </p:sp>
      <p:sp>
        <p:nvSpPr>
          <p:cNvPr id="24" name="Text 22"/>
          <p:cNvSpPr/>
          <p:nvPr/>
        </p:nvSpPr>
        <p:spPr>
          <a:xfrm>
            <a:off x="781050" y="4120307"/>
            <a:ext cx="3936296" cy="159990"/>
          </a:xfrm>
          <a:prstGeom prst="rect">
            <a:avLst/>
          </a:prstGeom>
          <a:noFill/>
          <a:ln/>
        </p:spPr>
        <p:txBody>
          <a:bodyPr wrap="square" lIns="0" tIns="0" rIns="0" bIns="0" rtlCol="0" anchor="t"/>
          <a:lstStyle/>
          <a:p>
            <a:pPr algn="l" indent="0" marL="0">
              <a:lnSpc>
                <a:spcPts val="1260"/>
              </a:lnSpc>
              <a:spcAft>
                <a:spcPts val="150"/>
              </a:spcAft>
              <a:buNone/>
            </a:pPr>
            <a:r>
              <a:rPr lang="en-US" sz="900" b="1" dirty="0">
                <a:solidFill>
                  <a:srgbClr val="1A1F2E"/>
                </a:solidFill>
                <a:latin typeface="Arial" pitchFamily="34" charset="0"/>
                <a:ea typeface="Arial" pitchFamily="34" charset="-122"/>
                <a:cs typeface="Arial" pitchFamily="34" charset="-120"/>
              </a:rPr>
              <a:t>Test Recording</a:t>
            </a:r>
            <a:endParaRPr lang="en-US" sz="900" dirty="0"/>
          </a:p>
        </p:txBody>
      </p:sp>
      <p:sp>
        <p:nvSpPr>
          <p:cNvPr id="25" name="Text 23"/>
          <p:cNvSpPr/>
          <p:nvPr/>
        </p:nvSpPr>
        <p:spPr>
          <a:xfrm>
            <a:off x="781050" y="4299347"/>
            <a:ext cx="3936296" cy="133350"/>
          </a:xfrm>
          <a:prstGeom prst="rect">
            <a:avLst/>
          </a:prstGeom>
          <a:noFill/>
          <a:ln/>
        </p:spPr>
        <p:txBody>
          <a:bodyPr wrap="square" lIns="0" tIns="0" rIns="0" bIns="0" rtlCol="0" anchor="t"/>
          <a:lstStyle/>
          <a:p>
            <a:pPr algn="l" indent="0" marL="0">
              <a:lnSpc>
                <a:spcPts val="1050"/>
              </a:lnSpc>
              <a:buNone/>
            </a:pPr>
            <a:r>
              <a:rPr lang="en-US" sz="750" dirty="0">
                <a:solidFill>
                  <a:srgbClr val="6B7280"/>
                </a:solidFill>
                <a:latin typeface="Arial" pitchFamily="34" charset="0"/>
                <a:ea typeface="Arial" pitchFamily="34" charset="-122"/>
                <a:cs typeface="Arial" pitchFamily="34" charset="-120"/>
              </a:rPr>
              <a:t>Use hotkey to record, release to transcribe. Text appears at cursor.</a:t>
            </a:r>
            <a:endParaRPr lang="en-US" sz="750" dirty="0"/>
          </a:p>
        </p:txBody>
      </p:sp>
      <p:sp>
        <p:nvSpPr>
          <p:cNvPr id="26" name="Text 24"/>
          <p:cNvSpPr/>
          <p:nvPr/>
        </p:nvSpPr>
        <p:spPr>
          <a:xfrm>
            <a:off x="5097363" y="0"/>
            <a:ext cx="4046637" cy="5143500"/>
          </a:xfrm>
          <a:prstGeom prst="rect">
            <a:avLst/>
          </a:prstGeom>
          <a:solidFill>
            <a:srgbClr val="1A1F2E"/>
          </a:solidFill>
          <a:ln/>
        </p:spPr>
        <p:txBody>
          <a:bodyPr wrap="square" rtlCol="0" anchor="ctr"/>
          <a:lstStyle/>
          <a:p>
            <a:pPr indent="0" marL="0">
              <a:buNone/>
            </a:pPr>
            <a:endParaRPr lang="en-US" dirty="0"/>
          </a:p>
        </p:txBody>
      </p:sp>
      <p:sp>
        <p:nvSpPr>
          <p:cNvPr id="27" name="Text 25"/>
          <p:cNvSpPr/>
          <p:nvPr/>
        </p:nvSpPr>
        <p:spPr>
          <a:xfrm>
            <a:off x="5364063" y="304800"/>
            <a:ext cx="3583501" cy="146596"/>
          </a:xfrm>
          <a:prstGeom prst="rect">
            <a:avLst/>
          </a:prstGeom>
          <a:noFill/>
          <a:ln/>
        </p:spPr>
        <p:txBody>
          <a:bodyPr wrap="square" lIns="0" tIns="0" rIns="0" bIns="0" rtlCol="0" anchor="t"/>
          <a:lstStyle/>
          <a:p>
            <a:pPr algn="l" indent="0" marL="0">
              <a:lnSpc>
                <a:spcPts val="1155"/>
              </a:lnSpc>
              <a:spcAft>
                <a:spcPts val="900"/>
              </a:spcAft>
              <a:buNone/>
            </a:pPr>
            <a:r>
              <a:rPr lang="en-US" sz="825" dirty="0">
                <a:solidFill>
                  <a:srgbClr val="C9A227"/>
                </a:solidFill>
                <a:latin typeface="Arial" pitchFamily="34" charset="0"/>
                <a:ea typeface="Arial" pitchFamily="34" charset="-122"/>
                <a:cs typeface="Arial" pitchFamily="34" charset="-120"/>
              </a:rPr>
              <a:t>DOWNLOAD OPTIONS</a:t>
            </a:r>
            <a:endParaRPr lang="en-US" sz="825" dirty="0"/>
          </a:p>
        </p:txBody>
      </p:sp>
      <p:sp>
        <p:nvSpPr>
          <p:cNvPr id="28" name="Text 26"/>
          <p:cNvSpPr/>
          <p:nvPr/>
        </p:nvSpPr>
        <p:spPr>
          <a:xfrm>
            <a:off x="5364063" y="718096"/>
            <a:ext cx="3513237" cy="841921"/>
          </a:xfrm>
          <a:prstGeom prst="rect">
            <a:avLst/>
          </a:prstGeom>
          <a:solidFill>
            <a:srgbClr val="FFFFFF">
              <a:alpha val="5000"/>
            </a:srgbClr>
          </a:solidFill>
          <a:ln w="9525">
            <a:solidFill>
              <a:srgbClr val="FFFFFF"/>
            </a:solidFill>
          </a:ln>
        </p:spPr>
        <p:txBody>
          <a:bodyPr wrap="square" rtlCol="0" anchor="ctr"/>
          <a:lstStyle/>
          <a:p>
            <a:pPr indent="0" marL="0">
              <a:buNone/>
            </a:pPr>
            <a:endParaRPr lang="en-US" dirty="0"/>
          </a:p>
        </p:txBody>
      </p:sp>
      <p:sp>
        <p:nvSpPr>
          <p:cNvPr id="29" name="Text 27"/>
          <p:cNvSpPr/>
          <p:nvPr/>
        </p:nvSpPr>
        <p:spPr>
          <a:xfrm>
            <a:off x="5487888" y="841921"/>
            <a:ext cx="3330898" cy="159990"/>
          </a:xfrm>
          <a:prstGeom prst="rect">
            <a:avLst/>
          </a:prstGeom>
          <a:noFill/>
          <a:ln/>
        </p:spPr>
        <p:txBody>
          <a:bodyPr wrap="square" lIns="0" tIns="0" rIns="0" bIns="0" rtlCol="0" anchor="t"/>
          <a:lstStyle/>
          <a:p>
            <a:pPr algn="l" indent="0" marL="0">
              <a:lnSpc>
                <a:spcPts val="1260"/>
              </a:lnSpc>
              <a:spcAft>
                <a:spcPts val="300"/>
              </a:spcAft>
              <a:buNone/>
            </a:pPr>
            <a:r>
              <a:rPr lang="en-US" sz="900" b="1" dirty="0">
                <a:solidFill>
                  <a:srgbClr val="FFFFFF"/>
                </a:solidFill>
                <a:latin typeface="Arial" pitchFamily="34" charset="0"/>
                <a:ea typeface="Arial" pitchFamily="34" charset="-122"/>
                <a:cs typeface="Arial" pitchFamily="34" charset="-120"/>
              </a:rPr>
              <a:t>Option A: Mac App Store</a:t>
            </a:r>
            <a:endParaRPr lang="en-US" sz="900" dirty="0"/>
          </a:p>
        </p:txBody>
      </p:sp>
      <p:sp>
        <p:nvSpPr>
          <p:cNvPr id="30" name="Text 28"/>
          <p:cNvSpPr/>
          <p:nvPr/>
        </p:nvSpPr>
        <p:spPr>
          <a:xfrm>
            <a:off x="5487888" y="1040011"/>
            <a:ext cx="3330898" cy="133350"/>
          </a:xfrm>
          <a:prstGeom prst="rect">
            <a:avLst/>
          </a:prstGeom>
          <a:noFill/>
          <a:ln/>
        </p:spPr>
        <p:txBody>
          <a:bodyPr wrap="square" lIns="0" tIns="0" rIns="0" bIns="0" rtlCol="0" anchor="t"/>
          <a:lstStyle/>
          <a:p>
            <a:pPr algn="l" indent="0" marL="0">
              <a:lnSpc>
                <a:spcPts val="1050"/>
              </a:lnSpc>
              <a:spcAft>
                <a:spcPts val="450"/>
              </a:spcAft>
              <a:buNone/>
            </a:pPr>
            <a:r>
              <a:rPr lang="en-US" sz="750" dirty="0">
                <a:solidFill>
                  <a:srgbClr val="FFFFFF">
                    <a:alpha val="60000"/>
                  </a:srgbClr>
                </a:solidFill>
                <a:latin typeface="Arial" pitchFamily="34" charset="0"/>
                <a:ea typeface="Arial" pitchFamily="34" charset="-122"/>
                <a:cs typeface="Arial" pitchFamily="34" charset="-120"/>
              </a:rPr>
              <a:t>Easiest option, auto-updates, sandboxed</a:t>
            </a:r>
            <a:endParaRPr lang="en-US" sz="750" dirty="0"/>
          </a:p>
        </p:txBody>
      </p:sp>
      <p:sp>
        <p:nvSpPr>
          <p:cNvPr id="31" name="Text 29"/>
          <p:cNvSpPr/>
          <p:nvPr/>
        </p:nvSpPr>
        <p:spPr>
          <a:xfrm>
            <a:off x="5487888" y="1240036"/>
            <a:ext cx="843111" cy="196155"/>
          </a:xfrm>
          <a:prstGeom prst="rect">
            <a:avLst/>
          </a:prstGeom>
          <a:solidFill>
            <a:srgbClr val="0EA5E9"/>
          </a:solidFill>
          <a:ln/>
        </p:spPr>
        <p:txBody>
          <a:bodyPr wrap="square" rtlCol="0" anchor="ctr"/>
          <a:lstStyle/>
          <a:p>
            <a:pPr indent="0" marL="0">
              <a:buNone/>
            </a:pPr>
            <a:endParaRPr lang="en-US" dirty="0"/>
          </a:p>
        </p:txBody>
      </p:sp>
      <p:sp>
        <p:nvSpPr>
          <p:cNvPr id="32" name="Text 30"/>
          <p:cNvSpPr/>
          <p:nvPr/>
        </p:nvSpPr>
        <p:spPr>
          <a:xfrm>
            <a:off x="5564088" y="1278136"/>
            <a:ext cx="704526" cy="119955"/>
          </a:xfrm>
          <a:prstGeom prst="rect">
            <a:avLst/>
          </a:prstGeom>
          <a:noFill/>
          <a:ln/>
        </p:spPr>
        <p:txBody>
          <a:bodyPr wrap="square" lIns="0" tIns="0" rIns="0" bIns="0" rtlCol="0" anchor="t"/>
          <a:lstStyle/>
          <a:p>
            <a:pPr algn="l" indent="0" marL="0">
              <a:lnSpc>
                <a:spcPts val="945"/>
              </a:lnSpc>
              <a:buNone/>
            </a:pPr>
            <a:r>
              <a:rPr lang="en-US" sz="675" dirty="0">
                <a:solidFill>
                  <a:srgbClr val="FFFFFF"/>
                </a:solidFill>
                <a:latin typeface="Arial" pitchFamily="34" charset="0"/>
                <a:ea typeface="Arial" pitchFamily="34" charset="-122"/>
                <a:cs typeface="Arial" pitchFamily="34" charset="-120"/>
              </a:rPr>
              <a:t>RECOMMENDED</a:t>
            </a:r>
            <a:endParaRPr lang="en-US" sz="675" dirty="0"/>
          </a:p>
        </p:txBody>
      </p:sp>
      <p:sp>
        <p:nvSpPr>
          <p:cNvPr id="33" name="Text 31"/>
          <p:cNvSpPr/>
          <p:nvPr/>
        </p:nvSpPr>
        <p:spPr>
          <a:xfrm>
            <a:off x="5364063" y="1807666"/>
            <a:ext cx="3513237" cy="579090"/>
          </a:xfrm>
          <a:prstGeom prst="rect">
            <a:avLst/>
          </a:prstGeom>
          <a:solidFill>
            <a:srgbClr val="FFFFFF">
              <a:alpha val="5000"/>
            </a:srgbClr>
          </a:solidFill>
          <a:ln w="9525">
            <a:solidFill>
              <a:srgbClr val="FFFFFF"/>
            </a:solidFill>
          </a:ln>
        </p:spPr>
        <p:txBody>
          <a:bodyPr wrap="square" rtlCol="0" anchor="ctr"/>
          <a:lstStyle/>
          <a:p>
            <a:pPr indent="0" marL="0">
              <a:buNone/>
            </a:pPr>
            <a:endParaRPr lang="en-US" dirty="0"/>
          </a:p>
        </p:txBody>
      </p:sp>
      <p:sp>
        <p:nvSpPr>
          <p:cNvPr id="34" name="Text 32"/>
          <p:cNvSpPr/>
          <p:nvPr/>
        </p:nvSpPr>
        <p:spPr>
          <a:xfrm>
            <a:off x="5487888" y="1931491"/>
            <a:ext cx="3330898" cy="159990"/>
          </a:xfrm>
          <a:prstGeom prst="rect">
            <a:avLst/>
          </a:prstGeom>
          <a:noFill/>
          <a:ln/>
        </p:spPr>
        <p:txBody>
          <a:bodyPr wrap="square" lIns="0" tIns="0" rIns="0" bIns="0" rtlCol="0" anchor="t"/>
          <a:lstStyle/>
          <a:p>
            <a:pPr algn="l" indent="0" marL="0">
              <a:lnSpc>
                <a:spcPts val="1260"/>
              </a:lnSpc>
              <a:spcAft>
                <a:spcPts val="300"/>
              </a:spcAft>
              <a:buNone/>
            </a:pPr>
            <a:r>
              <a:rPr lang="en-US" sz="900" b="1" dirty="0">
                <a:solidFill>
                  <a:srgbClr val="FFFFFF"/>
                </a:solidFill>
                <a:latin typeface="Arial" pitchFamily="34" charset="0"/>
                <a:ea typeface="Arial" pitchFamily="34" charset="-122"/>
                <a:cs typeface="Arial" pitchFamily="34" charset="-120"/>
              </a:rPr>
              <a:t>Option B: Direct Download</a:t>
            </a:r>
            <a:endParaRPr lang="en-US" sz="900" dirty="0"/>
          </a:p>
        </p:txBody>
      </p:sp>
      <p:sp>
        <p:nvSpPr>
          <p:cNvPr id="35" name="Text 33"/>
          <p:cNvSpPr/>
          <p:nvPr/>
        </p:nvSpPr>
        <p:spPr>
          <a:xfrm>
            <a:off x="5487888" y="2129582"/>
            <a:ext cx="3330898" cy="133350"/>
          </a:xfrm>
          <a:prstGeom prst="rect">
            <a:avLst/>
          </a:prstGeom>
          <a:noFill/>
          <a:ln/>
        </p:spPr>
        <p:txBody>
          <a:bodyPr wrap="square" lIns="0" tIns="0" rIns="0" bIns="0" rtlCol="0" anchor="t"/>
          <a:lstStyle/>
          <a:p>
            <a:pPr algn="l" indent="0" marL="0">
              <a:lnSpc>
                <a:spcPts val="1050"/>
              </a:lnSpc>
              <a:buNone/>
            </a:pPr>
            <a:r>
              <a:rPr lang="en-US" sz="750" dirty="0">
                <a:solidFill>
                  <a:srgbClr val="FFFFFF">
                    <a:alpha val="60000"/>
                  </a:srgbClr>
                </a:solidFill>
                <a:latin typeface="Arial" pitchFamily="34" charset="0"/>
                <a:ea typeface="Arial" pitchFamily="34" charset="-122"/>
                <a:cs typeface="Arial" pitchFamily="34" charset="-120"/>
              </a:rPr>
              <a:t>superwhisper.com - may have newer features</a:t>
            </a:r>
            <a:endParaRPr lang="en-US" sz="750" dirty="0"/>
          </a:p>
        </p:txBody>
      </p:sp>
      <p:sp>
        <p:nvSpPr>
          <p:cNvPr id="36" name="Text 34"/>
          <p:cNvSpPr/>
          <p:nvPr/>
        </p:nvSpPr>
        <p:spPr>
          <a:xfrm>
            <a:off x="5364063" y="2653457"/>
            <a:ext cx="3513237" cy="990600"/>
          </a:xfrm>
          <a:prstGeom prst="rect">
            <a:avLst/>
          </a:prstGeom>
          <a:solidFill>
            <a:srgbClr val="C9A227">
              <a:alpha val="15000"/>
            </a:srgbClr>
          </a:solidFill>
          <a:ln w="9525">
            <a:solidFill>
              <a:srgbClr val="C9A227"/>
            </a:solidFill>
          </a:ln>
        </p:spPr>
        <p:txBody>
          <a:bodyPr wrap="square" rtlCol="0" anchor="ctr"/>
          <a:lstStyle/>
          <a:p>
            <a:pPr indent="0" marL="0">
              <a:buNone/>
            </a:pPr>
            <a:endParaRPr lang="en-US" dirty="0"/>
          </a:p>
        </p:txBody>
      </p:sp>
      <p:sp>
        <p:nvSpPr>
          <p:cNvPr id="37" name="Text 35"/>
          <p:cNvSpPr/>
          <p:nvPr/>
        </p:nvSpPr>
        <p:spPr>
          <a:xfrm>
            <a:off x="5487888" y="2777282"/>
            <a:ext cx="3330898"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C9A227"/>
                </a:solidFill>
                <a:latin typeface="Arial" pitchFamily="34" charset="0"/>
                <a:ea typeface="Arial" pitchFamily="34" charset="-122"/>
                <a:cs typeface="Arial" pitchFamily="34" charset="-120"/>
              </a:rPr>
              <a:t>SYSTEM REQUIREMENTS</a:t>
            </a:r>
            <a:endParaRPr lang="en-US" sz="750" dirty="0"/>
          </a:p>
        </p:txBody>
      </p:sp>
      <p:sp>
        <p:nvSpPr>
          <p:cNvPr id="38" name="Text 36"/>
          <p:cNvSpPr/>
          <p:nvPr/>
        </p:nvSpPr>
        <p:spPr>
          <a:xfrm>
            <a:off x="5487888" y="2948732"/>
            <a:ext cx="3330898" cy="571500"/>
          </a:xfrm>
          <a:prstGeom prst="rect">
            <a:avLst/>
          </a:prstGeom>
          <a:noFill/>
          <a:ln/>
        </p:spPr>
        <p:txBody>
          <a:bodyPr wrap="square" lIns="0" tIns="0" rIns="0" bIns="0" rtlCol="0" anchor="t"/>
          <a:lstStyle/>
          <a:p>
            <a:pPr algn="l" indent="0" marL="0">
              <a:lnSpc>
                <a:spcPts val="1125"/>
              </a:lnSpc>
              <a:buNone/>
            </a:pPr>
            <a:r>
              <a:rPr lang="en-US" sz="750" dirty="0">
                <a:solidFill>
                  <a:srgbClr val="FFFFFF">
                    <a:alpha val="70000"/>
                  </a:srgbClr>
                </a:solidFill>
                <a:latin typeface="Arial" pitchFamily="34" charset="0"/>
                <a:ea typeface="Arial" pitchFamily="34" charset="-122"/>
                <a:cs typeface="Arial" pitchFamily="34" charset="-120"/>
              </a:rPr>
              <a:t>macOS 13 Ventura or later</a:t>
            </a:r>
            <a:endParaRPr lang="en-US" sz="750" dirty="0"/>
          </a:p>
          <a:p>
            <a:pPr algn="l" indent="0" marL="0">
              <a:lnSpc>
                <a:spcPts val="1125"/>
              </a:lnSpc>
              <a:buNone/>
            </a:pPr>
            <a:r>
              <a:rPr lang="en-US" sz="750" dirty="0">
                <a:solidFill>
                  <a:srgbClr val="FFFFFF">
                    <a:alpha val="70000"/>
                  </a:srgbClr>
                </a:solidFill>
                <a:latin typeface="Arial" pitchFamily="34" charset="0"/>
                <a:ea typeface="Arial" pitchFamily="34" charset="-122"/>
                <a:cs typeface="Arial" pitchFamily="34" charset="-120"/>
              </a:rPr>
              <a:t>Apple Silicon (M1-M4) for local models</a:t>
            </a:r>
            <a:endParaRPr lang="en-US" sz="750" dirty="0"/>
          </a:p>
          <a:p>
            <a:pPr algn="l" indent="0" marL="0">
              <a:lnSpc>
                <a:spcPts val="1125"/>
              </a:lnSpc>
              <a:buNone/>
            </a:pPr>
            <a:r>
              <a:rPr lang="en-US" sz="750" dirty="0">
                <a:solidFill>
                  <a:srgbClr val="FFFFFF">
                    <a:alpha val="70000"/>
                  </a:srgbClr>
                </a:solidFill>
                <a:latin typeface="Arial" pitchFamily="34" charset="0"/>
                <a:ea typeface="Arial" pitchFamily="34" charset="-122"/>
                <a:cs typeface="Arial" pitchFamily="34" charset="-120"/>
              </a:rPr>
              <a:t>8GB RAM minimum</a:t>
            </a:r>
            <a:endParaRPr lang="en-US" sz="750" dirty="0"/>
          </a:p>
          <a:p>
            <a:pPr algn="l" indent="0" marL="0">
              <a:lnSpc>
                <a:spcPts val="1125"/>
              </a:lnSpc>
              <a:buNone/>
            </a:pPr>
            <a:r>
              <a:rPr lang="en-US" sz="750" dirty="0">
                <a:solidFill>
                  <a:srgbClr val="FFFFFF">
                    <a:alpha val="70000"/>
                  </a:srgbClr>
                </a:solidFill>
                <a:latin typeface="Arial" pitchFamily="34" charset="0"/>
                <a:ea typeface="Arial" pitchFamily="34" charset="-122"/>
                <a:cs typeface="Arial" pitchFamily="34" charset="-120"/>
              </a:rPr>
              <a:t>Intel Macs: use cloud models</a:t>
            </a:r>
            <a:endParaRPr lang="en-US" sz="750" dirty="0"/>
          </a:p>
        </p:txBody>
      </p:sp>
      <p:sp>
        <p:nvSpPr>
          <p:cNvPr id="39" name="Text 37"/>
          <p:cNvSpPr/>
          <p:nvPr/>
        </p:nvSpPr>
        <p:spPr>
          <a:xfrm>
            <a:off x="5364063" y="4680645"/>
            <a:ext cx="3583501" cy="119955"/>
          </a:xfrm>
          <a:prstGeom prst="rect">
            <a:avLst/>
          </a:prstGeom>
          <a:noFill/>
          <a:ln/>
        </p:spPr>
        <p:txBody>
          <a:bodyPr wrap="square" lIns="0" tIns="0" rIns="0" bIns="0" rtlCol="0" anchor="t"/>
          <a:lstStyle/>
          <a:p>
            <a:pPr algn="l" indent="0" marL="0">
              <a:lnSpc>
                <a:spcPts val="945"/>
              </a:lnSpc>
              <a:buNone/>
            </a:pPr>
            <a:r>
              <a:rPr lang="en-US" sz="675" dirty="0">
                <a:solidFill>
                  <a:srgbClr val="FFFFFF">
                    <a:alpha val="40000"/>
                  </a:srgbClr>
                </a:solidFill>
                <a:latin typeface="Arial" pitchFamily="34" charset="0"/>
                <a:ea typeface="Arial" pitchFamily="34" charset="-122"/>
                <a:cs typeface="Arial" pitchFamily="34" charset="-120"/>
              </a:rPr>
              <a:t>15-minute free trial of Pro features included</a:t>
            </a:r>
            <a:endParaRPr lang="en-US" sz="67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4944219" cy="5143500"/>
          </a:xfrm>
          <a:prstGeom prst="rect">
            <a:avLst/>
          </a:prstGeom>
          <a:solidFill>
            <a:srgbClr val="F7F8FA"/>
          </a:solidFill>
          <a:ln/>
        </p:spPr>
        <p:txBody>
          <a:bodyPr wrap="square" rtlCol="0" anchor="ctr"/>
          <a:lstStyle/>
          <a:p>
            <a:pPr indent="0" marL="0">
              <a:buNone/>
            </a:pPr>
            <a:endParaRPr lang="en-US" dirty="0"/>
          </a:p>
        </p:txBody>
      </p:sp>
      <p:sp>
        <p:nvSpPr>
          <p:cNvPr id="3" name="Text 1"/>
          <p:cNvSpPr/>
          <p:nvPr/>
        </p:nvSpPr>
        <p:spPr>
          <a:xfrm>
            <a:off x="304800" y="520303"/>
            <a:ext cx="1637214" cy="146596"/>
          </a:xfrm>
          <a:prstGeom prst="rect">
            <a:avLst/>
          </a:prstGeom>
          <a:noFill/>
          <a:ln/>
        </p:spPr>
        <p:txBody>
          <a:bodyPr wrap="square" lIns="0" tIns="0" rIns="0" bIns="0" rtlCol="0" anchor="t"/>
          <a:lstStyle/>
          <a:p>
            <a:pPr algn="l" indent="0" marL="0">
              <a:lnSpc>
                <a:spcPts val="1155"/>
              </a:lnSpc>
              <a:buNone/>
            </a:pPr>
            <a:r>
              <a:rPr lang="en-US" sz="825" dirty="0">
                <a:solidFill>
                  <a:srgbClr val="C9A227"/>
                </a:solidFill>
                <a:latin typeface="Arial" pitchFamily="34" charset="0"/>
                <a:ea typeface="Arial" pitchFamily="34" charset="-122"/>
                <a:cs typeface="Arial" pitchFamily="34" charset="-120"/>
              </a:rPr>
              <a:t>INSTALLATION GUIDE</a:t>
            </a:r>
            <a:endParaRPr lang="en-US" sz="825" dirty="0"/>
          </a:p>
        </p:txBody>
      </p:sp>
      <p:sp>
        <p:nvSpPr>
          <p:cNvPr id="4" name="Text 2"/>
          <p:cNvSpPr/>
          <p:nvPr/>
        </p:nvSpPr>
        <p:spPr>
          <a:xfrm>
            <a:off x="1986111" y="521196"/>
            <a:ext cx="292150" cy="144661"/>
          </a:xfrm>
          <a:prstGeom prst="rect">
            <a:avLst/>
          </a:prstGeom>
          <a:solidFill>
            <a:srgbClr val="DCFCE7"/>
          </a:solidFill>
          <a:ln/>
        </p:spPr>
        <p:txBody>
          <a:bodyPr wrap="square" rtlCol="0" anchor="ctr"/>
          <a:lstStyle/>
          <a:p>
            <a:pPr indent="0" marL="0">
              <a:buNone/>
            </a:pPr>
            <a:endParaRPr lang="en-US" dirty="0"/>
          </a:p>
        </p:txBody>
      </p:sp>
      <p:sp>
        <p:nvSpPr>
          <p:cNvPr id="5" name="Text 3"/>
          <p:cNvSpPr/>
          <p:nvPr/>
        </p:nvSpPr>
        <p:spPr>
          <a:xfrm>
            <a:off x="2043261" y="540246"/>
            <a:ext cx="181407" cy="106561"/>
          </a:xfrm>
          <a:prstGeom prst="rect">
            <a:avLst/>
          </a:prstGeom>
          <a:noFill/>
          <a:ln/>
        </p:spPr>
        <p:txBody>
          <a:bodyPr wrap="square" lIns="0" tIns="0" rIns="0" bIns="0" rtlCol="0" anchor="t"/>
          <a:lstStyle/>
          <a:p>
            <a:pPr algn="l" indent="0" marL="0">
              <a:lnSpc>
                <a:spcPts val="840"/>
              </a:lnSpc>
              <a:buNone/>
            </a:pPr>
            <a:r>
              <a:rPr lang="en-US" sz="600" b="1" dirty="0">
                <a:solidFill>
                  <a:srgbClr val="166534"/>
                </a:solidFill>
                <a:latin typeface="Arial" pitchFamily="34" charset="0"/>
                <a:ea typeface="Arial" pitchFamily="34" charset="-122"/>
                <a:cs typeface="Arial" pitchFamily="34" charset="-120"/>
              </a:rPr>
              <a:t>NEW</a:t>
            </a:r>
            <a:endParaRPr lang="en-US" sz="600" dirty="0"/>
          </a:p>
        </p:txBody>
      </p:sp>
      <p:sp>
        <p:nvSpPr>
          <p:cNvPr id="6" name="Text 4"/>
          <p:cNvSpPr/>
          <p:nvPr/>
        </p:nvSpPr>
        <p:spPr>
          <a:xfrm>
            <a:off x="304800" y="857399"/>
            <a:ext cx="3099245" cy="247650"/>
          </a:xfrm>
          <a:prstGeom prst="rect">
            <a:avLst/>
          </a:prstGeom>
          <a:noFill/>
          <a:ln/>
        </p:spPr>
        <p:txBody>
          <a:bodyPr wrap="square" lIns="0" tIns="0" rIns="0" bIns="0" rtlCol="0" anchor="t"/>
          <a:lstStyle/>
          <a:p>
            <a:pPr algn="l" indent="0" marL="0">
              <a:lnSpc>
                <a:spcPts val="1950"/>
              </a:lnSpc>
              <a:spcAft>
                <a:spcPts val="300"/>
              </a:spcAft>
              <a:buNone/>
            </a:pPr>
            <a:r>
              <a:rPr lang="en-US" sz="1950" dirty="0">
                <a:solidFill>
                  <a:srgbClr val="1A1F2E"/>
                </a:solidFill>
                <a:latin typeface="Georgia" pitchFamily="34" charset="0"/>
                <a:ea typeface="Georgia" pitchFamily="34" charset="-122"/>
                <a:cs typeface="Georgia" pitchFamily="34" charset="-120"/>
              </a:rPr>
              <a:t>SuperWhisper for Windows</a:t>
            </a:r>
            <a:endParaRPr lang="en-US" sz="1950" dirty="0"/>
          </a:p>
        </p:txBody>
      </p:sp>
      <p:sp>
        <p:nvSpPr>
          <p:cNvPr id="7" name="Text 5"/>
          <p:cNvSpPr/>
          <p:nvPr/>
        </p:nvSpPr>
        <p:spPr>
          <a:xfrm>
            <a:off x="304800" y="1295549"/>
            <a:ext cx="4421312" cy="146596"/>
          </a:xfrm>
          <a:prstGeom prst="rect">
            <a:avLst/>
          </a:prstGeom>
          <a:noFill/>
          <a:ln/>
        </p:spPr>
        <p:txBody>
          <a:bodyPr wrap="square" lIns="0" tIns="0" rIns="0" bIns="0" rtlCol="0" anchor="t"/>
          <a:lstStyle/>
          <a:p>
            <a:pPr algn="l" indent="0" marL="0">
              <a:lnSpc>
                <a:spcPts val="1155"/>
              </a:lnSpc>
              <a:spcAft>
                <a:spcPts val="900"/>
              </a:spcAft>
              <a:buNone/>
            </a:pPr>
            <a:r>
              <a:rPr lang="en-US" sz="825" dirty="0">
                <a:solidFill>
                  <a:srgbClr val="6B7280"/>
                </a:solidFill>
                <a:latin typeface="Arial" pitchFamily="34" charset="0"/>
                <a:ea typeface="Arial" pitchFamily="34" charset="-122"/>
                <a:cs typeface="Arial" pitchFamily="34" charset="-120"/>
              </a:rPr>
              <a:t>Step-by-step installation</a:t>
            </a:r>
            <a:endParaRPr lang="en-US" sz="825" dirty="0"/>
          </a:p>
        </p:txBody>
      </p:sp>
      <p:sp>
        <p:nvSpPr>
          <p:cNvPr id="8" name="Text 6"/>
          <p:cNvSpPr/>
          <p:nvPr/>
        </p:nvSpPr>
        <p:spPr>
          <a:xfrm>
            <a:off x="304800" y="1748730"/>
            <a:ext cx="209550" cy="209550"/>
          </a:xfrm>
          <a:prstGeom prst="rect">
            <a:avLst/>
          </a:prstGeom>
          <a:solidFill>
            <a:srgbClr val="C9A227"/>
          </a:solidFill>
          <a:ln/>
        </p:spPr>
        <p:txBody>
          <a:bodyPr wrap="square" rtlCol="0" anchor="ctr"/>
          <a:lstStyle/>
          <a:p>
            <a:pPr indent="0" marL="0">
              <a:buNone/>
            </a:pPr>
            <a:endParaRPr lang="en-US" dirty="0"/>
          </a:p>
        </p:txBody>
      </p:sp>
      <p:sp>
        <p:nvSpPr>
          <p:cNvPr id="9" name="Text 7"/>
          <p:cNvSpPr/>
          <p:nvPr/>
        </p:nvSpPr>
        <p:spPr>
          <a:xfrm>
            <a:off x="380405" y="1780133"/>
            <a:ext cx="59507" cy="146596"/>
          </a:xfrm>
          <a:prstGeom prst="rect">
            <a:avLst/>
          </a:prstGeom>
          <a:noFill/>
          <a:ln/>
        </p:spPr>
        <p:txBody>
          <a:bodyPr wrap="square" lIns="0" tIns="0" rIns="0" bIns="0" rtlCol="0" anchor="t"/>
          <a:lstStyle/>
          <a:p>
            <a:pPr algn="l" indent="0" marL="0">
              <a:lnSpc>
                <a:spcPts val="1155"/>
              </a:lnSpc>
              <a:buNone/>
            </a:pPr>
            <a:r>
              <a:rPr lang="en-US" sz="825" b="1" dirty="0">
                <a:solidFill>
                  <a:srgbClr val="1A1F2E"/>
                </a:solidFill>
                <a:latin typeface="Arial" pitchFamily="34" charset="0"/>
                <a:ea typeface="Arial" pitchFamily="34" charset="-122"/>
                <a:cs typeface="Arial" pitchFamily="34" charset="-120"/>
              </a:rPr>
              <a:t>1</a:t>
            </a:r>
            <a:endParaRPr lang="en-US" sz="825" dirty="0"/>
          </a:p>
        </p:txBody>
      </p:sp>
      <p:sp>
        <p:nvSpPr>
          <p:cNvPr id="10" name="Text 8"/>
          <p:cNvSpPr/>
          <p:nvPr/>
        </p:nvSpPr>
        <p:spPr>
          <a:xfrm>
            <a:off x="762000" y="1708845"/>
            <a:ext cx="3954968" cy="146596"/>
          </a:xfrm>
          <a:prstGeom prst="rect">
            <a:avLst/>
          </a:prstGeom>
          <a:noFill/>
          <a:ln/>
        </p:spPr>
        <p:txBody>
          <a:bodyPr wrap="square" lIns="0" tIns="0" rIns="0" bIns="0" rtlCol="0" anchor="t"/>
          <a:lstStyle/>
          <a:p>
            <a:pPr algn="l" indent="0" marL="0">
              <a:lnSpc>
                <a:spcPts val="1155"/>
              </a:lnSpc>
              <a:spcAft>
                <a:spcPts val="150"/>
              </a:spcAft>
              <a:buNone/>
            </a:pPr>
            <a:r>
              <a:rPr lang="en-US" sz="825" b="1" dirty="0">
                <a:solidFill>
                  <a:srgbClr val="1A1F2E"/>
                </a:solidFill>
                <a:latin typeface="Arial" pitchFamily="34" charset="0"/>
                <a:ea typeface="Arial" pitchFamily="34" charset="-122"/>
                <a:cs typeface="Arial" pitchFamily="34" charset="-120"/>
              </a:rPr>
              <a:t>Download Installer</a:t>
            </a:r>
            <a:endParaRPr lang="en-US" sz="825" dirty="0"/>
          </a:p>
        </p:txBody>
      </p:sp>
      <p:sp>
        <p:nvSpPr>
          <p:cNvPr id="11" name="Text 9"/>
          <p:cNvSpPr/>
          <p:nvPr/>
        </p:nvSpPr>
        <p:spPr>
          <a:xfrm>
            <a:off x="762000" y="1874490"/>
            <a:ext cx="3954968" cy="123825"/>
          </a:xfrm>
          <a:prstGeom prst="rect">
            <a:avLst/>
          </a:prstGeom>
          <a:noFill/>
          <a:ln/>
        </p:spPr>
        <p:txBody>
          <a:bodyPr wrap="square" lIns="0" tIns="0" rIns="0" bIns="0" rtlCol="0" anchor="t"/>
          <a:lstStyle/>
          <a:p>
            <a:pPr algn="l" indent="0" marL="0">
              <a:lnSpc>
                <a:spcPts val="975"/>
              </a:lnSpc>
              <a:buNone/>
            </a:pPr>
            <a:r>
              <a:rPr lang="en-US" sz="750" dirty="0">
                <a:solidFill>
                  <a:srgbClr val="6B7280"/>
                </a:solidFill>
                <a:latin typeface="Arial" pitchFamily="34" charset="0"/>
                <a:ea typeface="Arial" pitchFamily="34" charset="-122"/>
                <a:cs typeface="Arial" pitchFamily="34" charset="-120"/>
              </a:rPr>
              <a:t>Visit superwhisper.com/windows and download the .exe installer</a:t>
            </a:r>
            <a:endParaRPr lang="en-US" sz="750" dirty="0"/>
          </a:p>
        </p:txBody>
      </p:sp>
      <p:sp>
        <p:nvSpPr>
          <p:cNvPr id="12" name="Text 10"/>
          <p:cNvSpPr/>
          <p:nvPr/>
        </p:nvSpPr>
        <p:spPr>
          <a:xfrm>
            <a:off x="304800" y="2266801"/>
            <a:ext cx="209550" cy="209550"/>
          </a:xfrm>
          <a:prstGeom prst="rect">
            <a:avLst/>
          </a:prstGeom>
          <a:solidFill>
            <a:srgbClr val="C9A227"/>
          </a:solidFill>
          <a:ln/>
        </p:spPr>
        <p:txBody>
          <a:bodyPr wrap="square" rtlCol="0" anchor="ctr"/>
          <a:lstStyle/>
          <a:p>
            <a:pPr indent="0" marL="0">
              <a:buNone/>
            </a:pPr>
            <a:endParaRPr lang="en-US" dirty="0"/>
          </a:p>
        </p:txBody>
      </p:sp>
      <p:sp>
        <p:nvSpPr>
          <p:cNvPr id="13" name="Text 11"/>
          <p:cNvSpPr/>
          <p:nvPr/>
        </p:nvSpPr>
        <p:spPr>
          <a:xfrm>
            <a:off x="380405" y="2298204"/>
            <a:ext cx="59507" cy="146596"/>
          </a:xfrm>
          <a:prstGeom prst="rect">
            <a:avLst/>
          </a:prstGeom>
          <a:noFill/>
          <a:ln/>
        </p:spPr>
        <p:txBody>
          <a:bodyPr wrap="square" lIns="0" tIns="0" rIns="0" bIns="0" rtlCol="0" anchor="t"/>
          <a:lstStyle/>
          <a:p>
            <a:pPr algn="l" indent="0" marL="0">
              <a:lnSpc>
                <a:spcPts val="1155"/>
              </a:lnSpc>
              <a:buNone/>
            </a:pPr>
            <a:r>
              <a:rPr lang="en-US" sz="825" b="1" dirty="0">
                <a:solidFill>
                  <a:srgbClr val="1A1F2E"/>
                </a:solidFill>
                <a:latin typeface="Arial" pitchFamily="34" charset="0"/>
                <a:ea typeface="Arial" pitchFamily="34" charset="-122"/>
                <a:cs typeface="Arial" pitchFamily="34" charset="-120"/>
              </a:rPr>
              <a:t>2</a:t>
            </a:r>
            <a:endParaRPr lang="en-US" sz="825" dirty="0"/>
          </a:p>
        </p:txBody>
      </p:sp>
      <p:sp>
        <p:nvSpPr>
          <p:cNvPr id="14" name="Text 12"/>
          <p:cNvSpPr/>
          <p:nvPr/>
        </p:nvSpPr>
        <p:spPr>
          <a:xfrm>
            <a:off x="762000" y="2226915"/>
            <a:ext cx="3954968" cy="146596"/>
          </a:xfrm>
          <a:prstGeom prst="rect">
            <a:avLst/>
          </a:prstGeom>
          <a:noFill/>
          <a:ln/>
        </p:spPr>
        <p:txBody>
          <a:bodyPr wrap="square" lIns="0" tIns="0" rIns="0" bIns="0" rtlCol="0" anchor="t"/>
          <a:lstStyle/>
          <a:p>
            <a:pPr algn="l" indent="0" marL="0">
              <a:lnSpc>
                <a:spcPts val="1155"/>
              </a:lnSpc>
              <a:spcAft>
                <a:spcPts val="150"/>
              </a:spcAft>
              <a:buNone/>
            </a:pPr>
            <a:r>
              <a:rPr lang="en-US" sz="825" b="1" dirty="0">
                <a:solidFill>
                  <a:srgbClr val="1A1F2E"/>
                </a:solidFill>
                <a:latin typeface="Arial" pitchFamily="34" charset="0"/>
                <a:ea typeface="Arial" pitchFamily="34" charset="-122"/>
                <a:cs typeface="Arial" pitchFamily="34" charset="-120"/>
              </a:rPr>
              <a:t>Run Installer</a:t>
            </a:r>
            <a:endParaRPr lang="en-US" sz="825" dirty="0"/>
          </a:p>
        </p:txBody>
      </p:sp>
      <p:sp>
        <p:nvSpPr>
          <p:cNvPr id="15" name="Text 13"/>
          <p:cNvSpPr/>
          <p:nvPr/>
        </p:nvSpPr>
        <p:spPr>
          <a:xfrm>
            <a:off x="762000" y="2392561"/>
            <a:ext cx="3954968" cy="123825"/>
          </a:xfrm>
          <a:prstGeom prst="rect">
            <a:avLst/>
          </a:prstGeom>
          <a:noFill/>
          <a:ln/>
        </p:spPr>
        <p:txBody>
          <a:bodyPr wrap="square" lIns="0" tIns="0" rIns="0" bIns="0" rtlCol="0" anchor="t"/>
          <a:lstStyle/>
          <a:p>
            <a:pPr algn="l" indent="0" marL="0">
              <a:lnSpc>
                <a:spcPts val="975"/>
              </a:lnSpc>
              <a:buNone/>
            </a:pPr>
            <a:r>
              <a:rPr lang="en-US" sz="750" dirty="0">
                <a:solidFill>
                  <a:srgbClr val="6B7280"/>
                </a:solidFill>
                <a:latin typeface="Arial" pitchFamily="34" charset="0"/>
                <a:ea typeface="Arial" pitchFamily="34" charset="-122"/>
                <a:cs typeface="Arial" pitchFamily="34" charset="-120"/>
              </a:rPr>
              <a:t>Double-click installer, accept UAC prompt, follow wizard</a:t>
            </a:r>
            <a:endParaRPr lang="en-US" sz="750" dirty="0"/>
          </a:p>
        </p:txBody>
      </p:sp>
      <p:sp>
        <p:nvSpPr>
          <p:cNvPr id="16" name="Text 14"/>
          <p:cNvSpPr/>
          <p:nvPr/>
        </p:nvSpPr>
        <p:spPr>
          <a:xfrm>
            <a:off x="304800" y="2784872"/>
            <a:ext cx="209550" cy="209550"/>
          </a:xfrm>
          <a:prstGeom prst="rect">
            <a:avLst/>
          </a:prstGeom>
          <a:solidFill>
            <a:srgbClr val="C9A227"/>
          </a:solidFill>
          <a:ln/>
        </p:spPr>
        <p:txBody>
          <a:bodyPr wrap="square" rtlCol="0" anchor="ctr"/>
          <a:lstStyle/>
          <a:p>
            <a:pPr indent="0" marL="0">
              <a:buNone/>
            </a:pPr>
            <a:endParaRPr lang="en-US" dirty="0"/>
          </a:p>
        </p:txBody>
      </p:sp>
      <p:sp>
        <p:nvSpPr>
          <p:cNvPr id="17" name="Text 15"/>
          <p:cNvSpPr/>
          <p:nvPr/>
        </p:nvSpPr>
        <p:spPr>
          <a:xfrm>
            <a:off x="380405" y="2816275"/>
            <a:ext cx="59507" cy="146596"/>
          </a:xfrm>
          <a:prstGeom prst="rect">
            <a:avLst/>
          </a:prstGeom>
          <a:noFill/>
          <a:ln/>
        </p:spPr>
        <p:txBody>
          <a:bodyPr wrap="square" lIns="0" tIns="0" rIns="0" bIns="0" rtlCol="0" anchor="t"/>
          <a:lstStyle/>
          <a:p>
            <a:pPr algn="l" indent="0" marL="0">
              <a:lnSpc>
                <a:spcPts val="1155"/>
              </a:lnSpc>
              <a:buNone/>
            </a:pPr>
            <a:r>
              <a:rPr lang="en-US" sz="825" b="1" dirty="0">
                <a:solidFill>
                  <a:srgbClr val="1A1F2E"/>
                </a:solidFill>
                <a:latin typeface="Arial" pitchFamily="34" charset="0"/>
                <a:ea typeface="Arial" pitchFamily="34" charset="-122"/>
                <a:cs typeface="Arial" pitchFamily="34" charset="-120"/>
              </a:rPr>
              <a:t>3</a:t>
            </a:r>
            <a:endParaRPr lang="en-US" sz="825" dirty="0"/>
          </a:p>
        </p:txBody>
      </p:sp>
      <p:sp>
        <p:nvSpPr>
          <p:cNvPr id="18" name="Text 16"/>
          <p:cNvSpPr/>
          <p:nvPr/>
        </p:nvSpPr>
        <p:spPr>
          <a:xfrm>
            <a:off x="762000" y="2744986"/>
            <a:ext cx="3954968" cy="146596"/>
          </a:xfrm>
          <a:prstGeom prst="rect">
            <a:avLst/>
          </a:prstGeom>
          <a:noFill/>
          <a:ln/>
        </p:spPr>
        <p:txBody>
          <a:bodyPr wrap="square" lIns="0" tIns="0" rIns="0" bIns="0" rtlCol="0" anchor="t"/>
          <a:lstStyle/>
          <a:p>
            <a:pPr algn="l" indent="0" marL="0">
              <a:lnSpc>
                <a:spcPts val="1155"/>
              </a:lnSpc>
              <a:spcAft>
                <a:spcPts val="150"/>
              </a:spcAft>
              <a:buNone/>
            </a:pPr>
            <a:r>
              <a:rPr lang="en-US" sz="825" b="1" dirty="0">
                <a:solidFill>
                  <a:srgbClr val="1A1F2E"/>
                </a:solidFill>
                <a:latin typeface="Arial" pitchFamily="34" charset="0"/>
                <a:ea typeface="Arial" pitchFamily="34" charset="-122"/>
                <a:cs typeface="Arial" pitchFamily="34" charset="-120"/>
              </a:rPr>
              <a:t>Configure Microphone Access</a:t>
            </a:r>
            <a:endParaRPr lang="en-US" sz="825" dirty="0"/>
          </a:p>
        </p:txBody>
      </p:sp>
      <p:sp>
        <p:nvSpPr>
          <p:cNvPr id="19" name="Text 17"/>
          <p:cNvSpPr/>
          <p:nvPr/>
        </p:nvSpPr>
        <p:spPr>
          <a:xfrm>
            <a:off x="762000" y="2910632"/>
            <a:ext cx="3954968" cy="123825"/>
          </a:xfrm>
          <a:prstGeom prst="rect">
            <a:avLst/>
          </a:prstGeom>
          <a:noFill/>
          <a:ln/>
        </p:spPr>
        <p:txBody>
          <a:bodyPr wrap="square" lIns="0" tIns="0" rIns="0" bIns="0" rtlCol="0" anchor="t"/>
          <a:lstStyle/>
          <a:p>
            <a:pPr algn="l" indent="0" marL="0">
              <a:lnSpc>
                <a:spcPts val="975"/>
              </a:lnSpc>
              <a:buNone/>
            </a:pPr>
            <a:r>
              <a:rPr lang="en-US" sz="750" dirty="0">
                <a:solidFill>
                  <a:srgbClr val="6B7280"/>
                </a:solidFill>
                <a:latin typeface="Arial" pitchFamily="34" charset="0"/>
                <a:ea typeface="Arial" pitchFamily="34" charset="-122"/>
                <a:cs typeface="Arial" pitchFamily="34" charset="-120"/>
              </a:rPr>
              <a:t>Settings &gt; Privacy &gt; Microphone &gt; Allow SuperWhisper</a:t>
            </a:r>
            <a:endParaRPr lang="en-US" sz="750" dirty="0"/>
          </a:p>
        </p:txBody>
      </p:sp>
      <p:sp>
        <p:nvSpPr>
          <p:cNvPr id="20" name="Text 18"/>
          <p:cNvSpPr/>
          <p:nvPr/>
        </p:nvSpPr>
        <p:spPr>
          <a:xfrm>
            <a:off x="304800" y="3302943"/>
            <a:ext cx="209550" cy="209550"/>
          </a:xfrm>
          <a:prstGeom prst="rect">
            <a:avLst/>
          </a:prstGeom>
          <a:solidFill>
            <a:srgbClr val="C9A227"/>
          </a:solidFill>
          <a:ln/>
        </p:spPr>
        <p:txBody>
          <a:bodyPr wrap="square" rtlCol="0" anchor="ctr"/>
          <a:lstStyle/>
          <a:p>
            <a:pPr indent="0" marL="0">
              <a:buNone/>
            </a:pPr>
            <a:endParaRPr lang="en-US" dirty="0"/>
          </a:p>
        </p:txBody>
      </p:sp>
      <p:sp>
        <p:nvSpPr>
          <p:cNvPr id="21" name="Text 19"/>
          <p:cNvSpPr/>
          <p:nvPr/>
        </p:nvSpPr>
        <p:spPr>
          <a:xfrm>
            <a:off x="380405" y="3334345"/>
            <a:ext cx="59507" cy="146596"/>
          </a:xfrm>
          <a:prstGeom prst="rect">
            <a:avLst/>
          </a:prstGeom>
          <a:noFill/>
          <a:ln/>
        </p:spPr>
        <p:txBody>
          <a:bodyPr wrap="square" lIns="0" tIns="0" rIns="0" bIns="0" rtlCol="0" anchor="t"/>
          <a:lstStyle/>
          <a:p>
            <a:pPr algn="l" indent="0" marL="0">
              <a:lnSpc>
                <a:spcPts val="1155"/>
              </a:lnSpc>
              <a:buNone/>
            </a:pPr>
            <a:r>
              <a:rPr lang="en-US" sz="825" b="1" dirty="0">
                <a:solidFill>
                  <a:srgbClr val="1A1F2E"/>
                </a:solidFill>
                <a:latin typeface="Arial" pitchFamily="34" charset="0"/>
                <a:ea typeface="Arial" pitchFamily="34" charset="-122"/>
                <a:cs typeface="Arial" pitchFamily="34" charset="-120"/>
              </a:rPr>
              <a:t>4</a:t>
            </a:r>
            <a:endParaRPr lang="en-US" sz="825" dirty="0"/>
          </a:p>
        </p:txBody>
      </p:sp>
      <p:sp>
        <p:nvSpPr>
          <p:cNvPr id="22" name="Text 20"/>
          <p:cNvSpPr/>
          <p:nvPr/>
        </p:nvSpPr>
        <p:spPr>
          <a:xfrm>
            <a:off x="762000" y="3263057"/>
            <a:ext cx="3954968" cy="146596"/>
          </a:xfrm>
          <a:prstGeom prst="rect">
            <a:avLst/>
          </a:prstGeom>
          <a:noFill/>
          <a:ln/>
        </p:spPr>
        <p:txBody>
          <a:bodyPr wrap="square" lIns="0" tIns="0" rIns="0" bIns="0" rtlCol="0" anchor="t"/>
          <a:lstStyle/>
          <a:p>
            <a:pPr algn="l" indent="0" marL="0">
              <a:lnSpc>
                <a:spcPts val="1155"/>
              </a:lnSpc>
              <a:spcAft>
                <a:spcPts val="150"/>
              </a:spcAft>
              <a:buNone/>
            </a:pPr>
            <a:r>
              <a:rPr lang="en-US" sz="825" b="1" dirty="0">
                <a:solidFill>
                  <a:srgbClr val="1A1F2E"/>
                </a:solidFill>
                <a:latin typeface="Arial" pitchFamily="34" charset="0"/>
                <a:ea typeface="Arial" pitchFamily="34" charset="-122"/>
                <a:cs typeface="Arial" pitchFamily="34" charset="-120"/>
              </a:rPr>
              <a:t>Download AI Model</a:t>
            </a:r>
            <a:endParaRPr lang="en-US" sz="825" dirty="0"/>
          </a:p>
        </p:txBody>
      </p:sp>
      <p:sp>
        <p:nvSpPr>
          <p:cNvPr id="23" name="Text 21"/>
          <p:cNvSpPr/>
          <p:nvPr/>
        </p:nvSpPr>
        <p:spPr>
          <a:xfrm>
            <a:off x="762000" y="3428702"/>
            <a:ext cx="3954968" cy="123825"/>
          </a:xfrm>
          <a:prstGeom prst="rect">
            <a:avLst/>
          </a:prstGeom>
          <a:noFill/>
          <a:ln/>
        </p:spPr>
        <p:txBody>
          <a:bodyPr wrap="square" lIns="0" tIns="0" rIns="0" bIns="0" rtlCol="0" anchor="t"/>
          <a:lstStyle/>
          <a:p>
            <a:pPr algn="l" indent="0" marL="0">
              <a:lnSpc>
                <a:spcPts val="975"/>
              </a:lnSpc>
              <a:buNone/>
            </a:pPr>
            <a:r>
              <a:rPr lang="en-US" sz="750" dirty="0">
                <a:solidFill>
                  <a:srgbClr val="6B7280"/>
                </a:solidFill>
                <a:latin typeface="Arial" pitchFamily="34" charset="0"/>
                <a:ea typeface="Arial" pitchFamily="34" charset="-122"/>
                <a:cs typeface="Arial" pitchFamily="34" charset="-120"/>
              </a:rPr>
              <a:t>Select model on first launch (Medium recommended). ~1-2GB download.</a:t>
            </a:r>
            <a:endParaRPr lang="en-US" sz="750" dirty="0"/>
          </a:p>
        </p:txBody>
      </p:sp>
      <p:sp>
        <p:nvSpPr>
          <p:cNvPr id="24" name="Text 22"/>
          <p:cNvSpPr/>
          <p:nvPr/>
        </p:nvSpPr>
        <p:spPr>
          <a:xfrm>
            <a:off x="304800" y="3821013"/>
            <a:ext cx="209550" cy="209550"/>
          </a:xfrm>
          <a:prstGeom prst="rect">
            <a:avLst/>
          </a:prstGeom>
          <a:solidFill>
            <a:srgbClr val="059669"/>
          </a:solidFill>
          <a:ln/>
        </p:spPr>
        <p:txBody>
          <a:bodyPr wrap="square" rtlCol="0" anchor="ctr"/>
          <a:lstStyle/>
          <a:p>
            <a:pPr indent="0" marL="0">
              <a:buNone/>
            </a:pPr>
            <a:endParaRPr lang="en-US" dirty="0"/>
          </a:p>
        </p:txBody>
      </p:sp>
      <p:sp>
        <p:nvSpPr>
          <p:cNvPr id="25" name="Text 23"/>
          <p:cNvSpPr/>
          <p:nvPr/>
        </p:nvSpPr>
        <p:spPr>
          <a:xfrm>
            <a:off x="380405" y="3852416"/>
            <a:ext cx="59507" cy="146596"/>
          </a:xfrm>
          <a:prstGeom prst="rect">
            <a:avLst/>
          </a:prstGeom>
          <a:noFill/>
          <a:ln/>
        </p:spPr>
        <p:txBody>
          <a:bodyPr wrap="square" lIns="0" tIns="0" rIns="0" bIns="0" rtlCol="0" anchor="t"/>
          <a:lstStyle/>
          <a:p>
            <a:pPr algn="l" indent="0" marL="0">
              <a:lnSpc>
                <a:spcPts val="1155"/>
              </a:lnSpc>
              <a:buNone/>
            </a:pPr>
            <a:r>
              <a:rPr lang="en-US" sz="825" b="1" dirty="0">
                <a:solidFill>
                  <a:srgbClr val="FFFFFF"/>
                </a:solidFill>
                <a:latin typeface="Arial" pitchFamily="34" charset="0"/>
                <a:ea typeface="Arial" pitchFamily="34" charset="-122"/>
                <a:cs typeface="Arial" pitchFamily="34" charset="-120"/>
              </a:rPr>
              <a:t>5</a:t>
            </a:r>
            <a:endParaRPr lang="en-US" sz="825" dirty="0"/>
          </a:p>
        </p:txBody>
      </p:sp>
      <p:sp>
        <p:nvSpPr>
          <p:cNvPr id="26" name="Text 24"/>
          <p:cNvSpPr/>
          <p:nvPr/>
        </p:nvSpPr>
        <p:spPr>
          <a:xfrm>
            <a:off x="762000" y="3781127"/>
            <a:ext cx="3954968" cy="146596"/>
          </a:xfrm>
          <a:prstGeom prst="rect">
            <a:avLst/>
          </a:prstGeom>
          <a:noFill/>
          <a:ln/>
        </p:spPr>
        <p:txBody>
          <a:bodyPr wrap="square" lIns="0" tIns="0" rIns="0" bIns="0" rtlCol="0" anchor="t"/>
          <a:lstStyle/>
          <a:p>
            <a:pPr algn="l" indent="0" marL="0">
              <a:lnSpc>
                <a:spcPts val="1155"/>
              </a:lnSpc>
              <a:spcAft>
                <a:spcPts val="150"/>
              </a:spcAft>
              <a:buNone/>
            </a:pPr>
            <a:r>
              <a:rPr lang="en-US" sz="825" b="1" dirty="0">
                <a:solidFill>
                  <a:srgbClr val="1A1F2E"/>
                </a:solidFill>
                <a:latin typeface="Arial" pitchFamily="34" charset="0"/>
                <a:ea typeface="Arial" pitchFamily="34" charset="-122"/>
                <a:cs typeface="Arial" pitchFamily="34" charset="-120"/>
              </a:rPr>
              <a:t>Test with Hotkey</a:t>
            </a:r>
            <a:endParaRPr lang="en-US" sz="825" dirty="0"/>
          </a:p>
        </p:txBody>
      </p:sp>
      <p:sp>
        <p:nvSpPr>
          <p:cNvPr id="27" name="Text 25"/>
          <p:cNvSpPr/>
          <p:nvPr/>
        </p:nvSpPr>
        <p:spPr>
          <a:xfrm>
            <a:off x="762000" y="3946773"/>
            <a:ext cx="3954968" cy="123825"/>
          </a:xfrm>
          <a:prstGeom prst="rect">
            <a:avLst/>
          </a:prstGeom>
          <a:noFill/>
          <a:ln/>
        </p:spPr>
        <p:txBody>
          <a:bodyPr wrap="square" lIns="0" tIns="0" rIns="0" bIns="0" rtlCol="0" anchor="t"/>
          <a:lstStyle/>
          <a:p>
            <a:pPr algn="l" indent="0" marL="0">
              <a:lnSpc>
                <a:spcPts val="975"/>
              </a:lnSpc>
              <a:buNone/>
            </a:pPr>
            <a:r>
              <a:rPr lang="en-US" sz="750" dirty="0">
                <a:solidFill>
                  <a:srgbClr val="6B7280"/>
                </a:solidFill>
                <a:latin typeface="Arial" pitchFamily="34" charset="0"/>
                <a:ea typeface="Arial" pitchFamily="34" charset="-122"/>
                <a:cs typeface="Arial" pitchFamily="34" charset="-120"/>
              </a:rPr>
              <a:t>Press Ctrl+Shift+Space (default) to start recording. Press again to transcribe.</a:t>
            </a:r>
            <a:endParaRPr lang="en-US" sz="750" dirty="0"/>
          </a:p>
        </p:txBody>
      </p:sp>
      <p:sp>
        <p:nvSpPr>
          <p:cNvPr id="28" name="Text 26"/>
          <p:cNvSpPr/>
          <p:nvPr/>
        </p:nvSpPr>
        <p:spPr>
          <a:xfrm>
            <a:off x="304800" y="4337298"/>
            <a:ext cx="4334619" cy="285750"/>
          </a:xfrm>
          <a:prstGeom prst="rect">
            <a:avLst/>
          </a:prstGeom>
          <a:solidFill>
            <a:srgbClr val="FEF3C7"/>
          </a:solidFill>
          <a:ln/>
        </p:spPr>
        <p:txBody>
          <a:bodyPr wrap="square" rtlCol="0" anchor="ctr"/>
          <a:lstStyle/>
          <a:p>
            <a:pPr indent="0" marL="0">
              <a:buNone/>
            </a:pPr>
            <a:endParaRPr lang="en-US" dirty="0"/>
          </a:p>
        </p:txBody>
      </p:sp>
      <p:sp>
        <p:nvSpPr>
          <p:cNvPr id="29" name="Shape 27"/>
          <p:cNvSpPr/>
          <p:nvPr/>
        </p:nvSpPr>
        <p:spPr>
          <a:xfrm>
            <a:off x="323850" y="4337298"/>
            <a:ext cx="0" cy="285750"/>
          </a:xfrm>
          <a:prstGeom prst="line">
            <a:avLst/>
          </a:prstGeom>
          <a:noFill/>
          <a:ln w="38100">
            <a:solidFill>
              <a:srgbClr val="F59E0B"/>
            </a:solidFill>
            <a:prstDash val="solid"/>
          </a:ln>
        </p:spPr>
      </p:sp>
      <p:sp>
        <p:nvSpPr>
          <p:cNvPr id="30" name="Text 28"/>
          <p:cNvSpPr/>
          <p:nvPr/>
        </p:nvSpPr>
        <p:spPr>
          <a:xfrm>
            <a:off x="457200" y="4413498"/>
            <a:ext cx="4149278" cy="133350"/>
          </a:xfrm>
          <a:prstGeom prst="rect">
            <a:avLst/>
          </a:prstGeom>
          <a:noFill/>
          <a:ln/>
        </p:spPr>
        <p:txBody>
          <a:bodyPr wrap="square" lIns="0" tIns="0" rIns="0" bIns="0" rtlCol="0" anchor="t"/>
          <a:lstStyle/>
          <a:p>
            <a:pPr algn="l" indent="0" marL="0">
              <a:lnSpc>
                <a:spcPts val="1050"/>
              </a:lnSpc>
              <a:buNone/>
            </a:pPr>
            <a:r>
              <a:rPr lang="en-US" sz="750" b="1" dirty="0">
                <a:solidFill>
                  <a:srgbClr val="92400E"/>
                </a:solidFill>
                <a:latin typeface="Arial" pitchFamily="34" charset="0"/>
                <a:ea typeface="Arial" pitchFamily="34" charset="-122"/>
                <a:cs typeface="Arial" pitchFamily="34" charset="-120"/>
              </a:rPr>
              <a:t>GPU Recommended:</a:t>
            </a:r>
            <a:pPr algn="l" indent="0" marL="0">
              <a:lnSpc>
                <a:spcPts val="1050"/>
              </a:lnSpc>
              <a:buNone/>
            </a:pPr>
            <a:r>
              <a:rPr lang="en-US" sz="750" dirty="0">
                <a:solidFill>
                  <a:srgbClr val="92400E"/>
                </a:solidFill>
                <a:latin typeface="Arial" pitchFamily="34" charset="0"/>
                <a:ea typeface="Arial" pitchFamily="34" charset="-122"/>
                <a:cs typeface="Arial" pitchFamily="34" charset="-120"/>
              </a:rPr>
              <a:t> NVIDIA GPU with CUDA significantly improves speed.</a:t>
            </a:r>
            <a:endParaRPr lang="en-US" sz="750" dirty="0"/>
          </a:p>
        </p:txBody>
      </p:sp>
      <p:sp>
        <p:nvSpPr>
          <p:cNvPr id="31" name="Text 29"/>
          <p:cNvSpPr/>
          <p:nvPr/>
        </p:nvSpPr>
        <p:spPr>
          <a:xfrm>
            <a:off x="5096619" y="0"/>
            <a:ext cx="4047381" cy="5143500"/>
          </a:xfrm>
          <a:prstGeom prst="rect">
            <a:avLst/>
          </a:prstGeom>
          <a:solidFill>
            <a:srgbClr val="1A1F2E"/>
          </a:solidFill>
          <a:ln/>
        </p:spPr>
        <p:txBody>
          <a:bodyPr wrap="square" rtlCol="0" anchor="ctr"/>
          <a:lstStyle/>
          <a:p>
            <a:pPr indent="0" marL="0">
              <a:buNone/>
            </a:pPr>
            <a:endParaRPr lang="en-US" dirty="0"/>
          </a:p>
        </p:txBody>
      </p:sp>
      <p:sp>
        <p:nvSpPr>
          <p:cNvPr id="32" name="Text 30"/>
          <p:cNvSpPr/>
          <p:nvPr/>
        </p:nvSpPr>
        <p:spPr>
          <a:xfrm>
            <a:off x="5401419" y="266700"/>
            <a:ext cx="3506536" cy="146596"/>
          </a:xfrm>
          <a:prstGeom prst="rect">
            <a:avLst/>
          </a:prstGeom>
          <a:noFill/>
          <a:ln/>
        </p:spPr>
        <p:txBody>
          <a:bodyPr wrap="square" lIns="0" tIns="0" rIns="0" bIns="0" rtlCol="0" anchor="t"/>
          <a:lstStyle/>
          <a:p>
            <a:pPr algn="l" indent="0" marL="0">
              <a:lnSpc>
                <a:spcPts val="1155"/>
              </a:lnSpc>
              <a:spcAft>
                <a:spcPts val="900"/>
              </a:spcAft>
              <a:buNone/>
            </a:pPr>
            <a:r>
              <a:rPr lang="en-US" sz="825" dirty="0">
                <a:solidFill>
                  <a:srgbClr val="C9A227"/>
                </a:solidFill>
                <a:latin typeface="Arial" pitchFamily="34" charset="0"/>
                <a:ea typeface="Arial" pitchFamily="34" charset="-122"/>
                <a:cs typeface="Arial" pitchFamily="34" charset="-120"/>
              </a:rPr>
              <a:t>WINDOWS REQUIREMENTS</a:t>
            </a:r>
            <a:endParaRPr lang="en-US" sz="825" dirty="0"/>
          </a:p>
        </p:txBody>
      </p:sp>
      <p:sp>
        <p:nvSpPr>
          <p:cNvPr id="33" name="Text 31"/>
          <p:cNvSpPr/>
          <p:nvPr/>
        </p:nvSpPr>
        <p:spPr>
          <a:xfrm>
            <a:off x="5401419" y="679996"/>
            <a:ext cx="3437781" cy="1022896"/>
          </a:xfrm>
          <a:prstGeom prst="rect">
            <a:avLst/>
          </a:prstGeom>
          <a:solidFill>
            <a:srgbClr val="FFFFFF">
              <a:alpha val="5000"/>
            </a:srgbClr>
          </a:solidFill>
          <a:ln w="9525">
            <a:solidFill>
              <a:srgbClr val="FFFFFF"/>
            </a:solidFill>
          </a:ln>
        </p:spPr>
        <p:txBody>
          <a:bodyPr wrap="square" rtlCol="0" anchor="ctr"/>
          <a:lstStyle/>
          <a:p>
            <a:pPr indent="0" marL="0">
              <a:buNone/>
            </a:pPr>
            <a:endParaRPr lang="en-US" dirty="0"/>
          </a:p>
        </p:txBody>
      </p:sp>
      <p:sp>
        <p:nvSpPr>
          <p:cNvPr id="34" name="Text 32"/>
          <p:cNvSpPr/>
          <p:nvPr/>
        </p:nvSpPr>
        <p:spPr>
          <a:xfrm>
            <a:off x="5525244" y="803821"/>
            <a:ext cx="3253933" cy="146596"/>
          </a:xfrm>
          <a:prstGeom prst="rect">
            <a:avLst/>
          </a:prstGeom>
          <a:noFill/>
          <a:ln/>
        </p:spPr>
        <p:txBody>
          <a:bodyPr wrap="square" lIns="0" tIns="0" rIns="0" bIns="0" rtlCol="0" anchor="t"/>
          <a:lstStyle/>
          <a:p>
            <a:pPr algn="l" indent="0" marL="0">
              <a:lnSpc>
                <a:spcPts val="1155"/>
              </a:lnSpc>
              <a:spcAft>
                <a:spcPts val="450"/>
              </a:spcAft>
              <a:buNone/>
            </a:pPr>
            <a:r>
              <a:rPr lang="en-US" sz="825" b="1" dirty="0">
                <a:solidFill>
                  <a:srgbClr val="FFFFFF"/>
                </a:solidFill>
                <a:latin typeface="Arial" pitchFamily="34" charset="0"/>
                <a:ea typeface="Arial" pitchFamily="34" charset="-122"/>
                <a:cs typeface="Arial" pitchFamily="34" charset="-120"/>
              </a:rPr>
              <a:t>Minimum Specs</a:t>
            </a:r>
            <a:endParaRPr lang="en-US" sz="825" dirty="0"/>
          </a:p>
        </p:txBody>
      </p:sp>
      <p:sp>
        <p:nvSpPr>
          <p:cNvPr id="35" name="Text 33"/>
          <p:cNvSpPr/>
          <p:nvPr/>
        </p:nvSpPr>
        <p:spPr>
          <a:xfrm>
            <a:off x="5525244" y="1007566"/>
            <a:ext cx="3253933" cy="571500"/>
          </a:xfrm>
          <a:prstGeom prst="rect">
            <a:avLst/>
          </a:prstGeom>
          <a:noFill/>
          <a:ln/>
        </p:spPr>
        <p:txBody>
          <a:bodyPr wrap="square" lIns="0" tIns="0" rIns="0" bIns="0" rtlCol="0" anchor="t"/>
          <a:lstStyle/>
          <a:p>
            <a:pPr algn="l" indent="0" marL="0">
              <a:lnSpc>
                <a:spcPts val="1125"/>
              </a:lnSpc>
              <a:buNone/>
            </a:pPr>
            <a:r>
              <a:rPr lang="en-US" sz="750" dirty="0">
                <a:solidFill>
                  <a:srgbClr val="FFFFFF">
                    <a:alpha val="60000"/>
                  </a:srgbClr>
                </a:solidFill>
                <a:latin typeface="Arial" pitchFamily="34" charset="0"/>
                <a:ea typeface="Arial" pitchFamily="34" charset="-122"/>
                <a:cs typeface="Arial" pitchFamily="34" charset="-120"/>
              </a:rPr>
              <a:t>Windows 10 (64-bit) or Windows 11</a:t>
            </a:r>
            <a:endParaRPr lang="en-US" sz="750" dirty="0"/>
          </a:p>
          <a:p>
            <a:pPr algn="l" indent="0" marL="0">
              <a:lnSpc>
                <a:spcPts val="1125"/>
              </a:lnSpc>
              <a:buNone/>
            </a:pPr>
            <a:r>
              <a:rPr lang="en-US" sz="750" dirty="0">
                <a:solidFill>
                  <a:srgbClr val="FFFFFF">
                    <a:alpha val="60000"/>
                  </a:srgbClr>
                </a:solidFill>
                <a:latin typeface="Arial" pitchFamily="34" charset="0"/>
                <a:ea typeface="Arial" pitchFamily="34" charset="-122"/>
                <a:cs typeface="Arial" pitchFamily="34" charset="-120"/>
              </a:rPr>
              <a:t>8GB RAM</a:t>
            </a:r>
            <a:endParaRPr lang="en-US" sz="750" dirty="0"/>
          </a:p>
          <a:p>
            <a:pPr algn="l" indent="0" marL="0">
              <a:lnSpc>
                <a:spcPts val="1125"/>
              </a:lnSpc>
              <a:buNone/>
            </a:pPr>
            <a:r>
              <a:rPr lang="en-US" sz="750" dirty="0">
                <a:solidFill>
                  <a:srgbClr val="FFFFFF">
                    <a:alpha val="60000"/>
                  </a:srgbClr>
                </a:solidFill>
                <a:latin typeface="Arial" pitchFamily="34" charset="0"/>
                <a:ea typeface="Arial" pitchFamily="34" charset="-122"/>
                <a:cs typeface="Arial" pitchFamily="34" charset="-120"/>
              </a:rPr>
              <a:t>4GB free storage</a:t>
            </a:r>
            <a:endParaRPr lang="en-US" sz="750" dirty="0"/>
          </a:p>
          <a:p>
            <a:pPr algn="l" indent="0" marL="0">
              <a:lnSpc>
                <a:spcPts val="1125"/>
              </a:lnSpc>
              <a:buNone/>
            </a:pPr>
            <a:r>
              <a:rPr lang="en-US" sz="750" dirty="0">
                <a:solidFill>
                  <a:srgbClr val="FFFFFF">
                    <a:alpha val="60000"/>
                  </a:srgbClr>
                </a:solidFill>
                <a:latin typeface="Arial" pitchFamily="34" charset="0"/>
                <a:ea typeface="Arial" pitchFamily="34" charset="-122"/>
                <a:cs typeface="Arial" pitchFamily="34" charset="-120"/>
              </a:rPr>
              <a:t>Any modern CPU</a:t>
            </a:r>
            <a:endParaRPr lang="en-US" sz="750" dirty="0"/>
          </a:p>
        </p:txBody>
      </p:sp>
      <p:sp>
        <p:nvSpPr>
          <p:cNvPr id="36" name="Text 34"/>
          <p:cNvSpPr/>
          <p:nvPr/>
        </p:nvSpPr>
        <p:spPr>
          <a:xfrm>
            <a:off x="5401419" y="1950541"/>
            <a:ext cx="3437781" cy="1022896"/>
          </a:xfrm>
          <a:prstGeom prst="rect">
            <a:avLst/>
          </a:prstGeom>
          <a:solidFill>
            <a:srgbClr val="059669">
              <a:alpha val="15000"/>
            </a:srgbClr>
          </a:solidFill>
          <a:ln w="9525">
            <a:solidFill>
              <a:srgbClr val="059669"/>
            </a:solidFill>
          </a:ln>
        </p:spPr>
        <p:txBody>
          <a:bodyPr wrap="square" rtlCol="0" anchor="ctr"/>
          <a:lstStyle/>
          <a:p>
            <a:pPr indent="0" marL="0">
              <a:buNone/>
            </a:pPr>
            <a:endParaRPr lang="en-US" dirty="0"/>
          </a:p>
        </p:txBody>
      </p:sp>
      <p:sp>
        <p:nvSpPr>
          <p:cNvPr id="37" name="Text 35"/>
          <p:cNvSpPr/>
          <p:nvPr/>
        </p:nvSpPr>
        <p:spPr>
          <a:xfrm>
            <a:off x="5525244" y="2074366"/>
            <a:ext cx="3253933" cy="146596"/>
          </a:xfrm>
          <a:prstGeom prst="rect">
            <a:avLst/>
          </a:prstGeom>
          <a:noFill/>
          <a:ln/>
        </p:spPr>
        <p:txBody>
          <a:bodyPr wrap="square" lIns="0" tIns="0" rIns="0" bIns="0" rtlCol="0" anchor="t"/>
          <a:lstStyle/>
          <a:p>
            <a:pPr algn="l" indent="0" marL="0">
              <a:lnSpc>
                <a:spcPts val="1155"/>
              </a:lnSpc>
              <a:spcAft>
                <a:spcPts val="450"/>
              </a:spcAft>
              <a:buNone/>
            </a:pPr>
            <a:r>
              <a:rPr lang="en-US" sz="825" b="1" dirty="0">
                <a:solidFill>
                  <a:srgbClr val="34D399"/>
                </a:solidFill>
                <a:latin typeface="Arial" pitchFamily="34" charset="0"/>
                <a:ea typeface="Arial" pitchFamily="34" charset="-122"/>
                <a:cs typeface="Arial" pitchFamily="34" charset="-120"/>
              </a:rPr>
              <a:t>Recommended Specs</a:t>
            </a:r>
            <a:endParaRPr lang="en-US" sz="825" dirty="0"/>
          </a:p>
        </p:txBody>
      </p:sp>
      <p:sp>
        <p:nvSpPr>
          <p:cNvPr id="38" name="Text 36"/>
          <p:cNvSpPr/>
          <p:nvPr/>
        </p:nvSpPr>
        <p:spPr>
          <a:xfrm>
            <a:off x="5525244" y="2278112"/>
            <a:ext cx="3253933" cy="571500"/>
          </a:xfrm>
          <a:prstGeom prst="rect">
            <a:avLst/>
          </a:prstGeom>
          <a:noFill/>
          <a:ln/>
        </p:spPr>
        <p:txBody>
          <a:bodyPr wrap="square" lIns="0" tIns="0" rIns="0" bIns="0" rtlCol="0" anchor="t"/>
          <a:lstStyle/>
          <a:p>
            <a:pPr algn="l" indent="0" marL="0">
              <a:lnSpc>
                <a:spcPts val="1125"/>
              </a:lnSpc>
              <a:buNone/>
            </a:pPr>
            <a:r>
              <a:rPr lang="en-US" sz="750" dirty="0">
                <a:solidFill>
                  <a:srgbClr val="FFFFFF">
                    <a:alpha val="70000"/>
                  </a:srgbClr>
                </a:solidFill>
                <a:latin typeface="Arial" pitchFamily="34" charset="0"/>
                <a:ea typeface="Arial" pitchFamily="34" charset="-122"/>
                <a:cs typeface="Arial" pitchFamily="34" charset="-120"/>
              </a:rPr>
              <a:t>NVIDIA RTX 2060 or better</a:t>
            </a:r>
            <a:endParaRPr lang="en-US" sz="750" dirty="0"/>
          </a:p>
          <a:p>
            <a:pPr algn="l" indent="0" marL="0">
              <a:lnSpc>
                <a:spcPts val="1125"/>
              </a:lnSpc>
              <a:buNone/>
            </a:pPr>
            <a:r>
              <a:rPr lang="en-US" sz="750" dirty="0">
                <a:solidFill>
                  <a:srgbClr val="FFFFFF">
                    <a:alpha val="70000"/>
                  </a:srgbClr>
                </a:solidFill>
                <a:latin typeface="Arial" pitchFamily="34" charset="0"/>
                <a:ea typeface="Arial" pitchFamily="34" charset="-122"/>
                <a:cs typeface="Arial" pitchFamily="34" charset="-120"/>
              </a:rPr>
              <a:t>16GB RAM</a:t>
            </a:r>
            <a:endParaRPr lang="en-US" sz="750" dirty="0"/>
          </a:p>
          <a:p>
            <a:pPr algn="l" indent="0" marL="0">
              <a:lnSpc>
                <a:spcPts val="1125"/>
              </a:lnSpc>
              <a:buNone/>
            </a:pPr>
            <a:r>
              <a:rPr lang="en-US" sz="750" dirty="0">
                <a:solidFill>
                  <a:srgbClr val="FFFFFF">
                    <a:alpha val="70000"/>
                  </a:srgbClr>
                </a:solidFill>
                <a:latin typeface="Arial" pitchFamily="34" charset="0"/>
                <a:ea typeface="Arial" pitchFamily="34" charset="-122"/>
                <a:cs typeface="Arial" pitchFamily="34" charset="-120"/>
              </a:rPr>
              <a:t>CUDA 11.0+ drivers installed</a:t>
            </a:r>
            <a:endParaRPr lang="en-US" sz="750" dirty="0"/>
          </a:p>
          <a:p>
            <a:pPr algn="l" indent="0" marL="0">
              <a:lnSpc>
                <a:spcPts val="1125"/>
              </a:lnSpc>
              <a:buNone/>
            </a:pPr>
            <a:r>
              <a:rPr lang="en-US" sz="750" dirty="0">
                <a:solidFill>
                  <a:srgbClr val="FFFFFF">
                    <a:alpha val="70000"/>
                  </a:srgbClr>
                </a:solidFill>
                <a:latin typeface="Arial" pitchFamily="34" charset="0"/>
                <a:ea typeface="Arial" pitchFamily="34" charset="-122"/>
                <a:cs typeface="Arial" pitchFamily="34" charset="-120"/>
              </a:rPr>
              <a:t>SSD storage</a:t>
            </a:r>
            <a:endParaRPr lang="en-US" sz="750" dirty="0"/>
          </a:p>
        </p:txBody>
      </p:sp>
      <p:sp>
        <p:nvSpPr>
          <p:cNvPr id="39" name="Text 37"/>
          <p:cNvSpPr/>
          <p:nvPr/>
        </p:nvSpPr>
        <p:spPr>
          <a:xfrm>
            <a:off x="5401419" y="3221087"/>
            <a:ext cx="3437781" cy="990600"/>
          </a:xfrm>
          <a:prstGeom prst="rect">
            <a:avLst/>
          </a:prstGeom>
          <a:solidFill>
            <a:srgbClr val="C9A227">
              <a:alpha val="15000"/>
            </a:srgbClr>
          </a:solidFill>
          <a:ln w="9525">
            <a:solidFill>
              <a:srgbClr val="C9A227"/>
            </a:solidFill>
          </a:ln>
        </p:spPr>
        <p:txBody>
          <a:bodyPr wrap="square" rtlCol="0" anchor="ctr"/>
          <a:lstStyle/>
          <a:p>
            <a:pPr indent="0" marL="0">
              <a:buNone/>
            </a:pPr>
            <a:endParaRPr lang="en-US" dirty="0"/>
          </a:p>
        </p:txBody>
      </p:sp>
      <p:sp>
        <p:nvSpPr>
          <p:cNvPr id="40" name="Text 38"/>
          <p:cNvSpPr/>
          <p:nvPr/>
        </p:nvSpPr>
        <p:spPr>
          <a:xfrm>
            <a:off x="5525244" y="3344912"/>
            <a:ext cx="3253933"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C9A227"/>
                </a:solidFill>
                <a:latin typeface="Arial" pitchFamily="34" charset="0"/>
                <a:ea typeface="Arial" pitchFamily="34" charset="-122"/>
                <a:cs typeface="Arial" pitchFamily="34" charset="-120"/>
              </a:rPr>
              <a:t>FIRST RUN CHECKLIST</a:t>
            </a:r>
            <a:endParaRPr lang="en-US" sz="750" dirty="0"/>
          </a:p>
        </p:txBody>
      </p:sp>
      <p:sp>
        <p:nvSpPr>
          <p:cNvPr id="41" name="Text 39"/>
          <p:cNvSpPr/>
          <p:nvPr/>
        </p:nvSpPr>
        <p:spPr>
          <a:xfrm>
            <a:off x="5525244" y="3516362"/>
            <a:ext cx="3253933" cy="571500"/>
          </a:xfrm>
          <a:prstGeom prst="rect">
            <a:avLst/>
          </a:prstGeom>
          <a:noFill/>
          <a:ln/>
        </p:spPr>
        <p:txBody>
          <a:bodyPr wrap="square" lIns="0" tIns="0" rIns="0" bIns="0" rtlCol="0" anchor="t"/>
          <a:lstStyle/>
          <a:p>
            <a:pPr algn="l" indent="0" marL="0">
              <a:lnSpc>
                <a:spcPts val="1125"/>
              </a:lnSpc>
              <a:buNone/>
            </a:pPr>
            <a:r>
              <a:rPr lang="en-US" sz="750" dirty="0">
                <a:solidFill>
                  <a:srgbClr val="FFFFFF">
                    <a:alpha val="70000"/>
                  </a:srgbClr>
                </a:solidFill>
                <a:latin typeface="Arial" pitchFamily="34" charset="0"/>
                <a:ea typeface="Arial" pitchFamily="34" charset="-122"/>
                <a:cs typeface="Arial" pitchFamily="34" charset="-120"/>
              </a:rPr>
              <a:t>1. Allow through Windows Firewall</a:t>
            </a:r>
            <a:endParaRPr lang="en-US" sz="750" dirty="0"/>
          </a:p>
          <a:p>
            <a:pPr algn="l" indent="0" marL="0">
              <a:lnSpc>
                <a:spcPts val="1125"/>
              </a:lnSpc>
              <a:buNone/>
            </a:pPr>
            <a:r>
              <a:rPr lang="en-US" sz="750" dirty="0">
                <a:solidFill>
                  <a:srgbClr val="FFFFFF">
                    <a:alpha val="70000"/>
                  </a:srgbClr>
                </a:solidFill>
                <a:latin typeface="Arial" pitchFamily="34" charset="0"/>
                <a:ea typeface="Arial" pitchFamily="34" charset="-122"/>
                <a:cs typeface="Arial" pitchFamily="34" charset="-120"/>
              </a:rPr>
              <a:t>2. Set to run at startup (optional)</a:t>
            </a:r>
            <a:endParaRPr lang="en-US" sz="750" dirty="0"/>
          </a:p>
          <a:p>
            <a:pPr algn="l" indent="0" marL="0">
              <a:lnSpc>
                <a:spcPts val="1125"/>
              </a:lnSpc>
              <a:buNone/>
            </a:pPr>
            <a:r>
              <a:rPr lang="en-US" sz="750" dirty="0">
                <a:solidFill>
                  <a:srgbClr val="FFFFFF">
                    <a:alpha val="70000"/>
                  </a:srgbClr>
                </a:solidFill>
                <a:latin typeface="Arial" pitchFamily="34" charset="0"/>
                <a:ea typeface="Arial" pitchFamily="34" charset="-122"/>
                <a:cs typeface="Arial" pitchFamily="34" charset="-120"/>
              </a:rPr>
              <a:t>3. Configure system tray icon</a:t>
            </a:r>
            <a:endParaRPr lang="en-US" sz="750" dirty="0"/>
          </a:p>
          <a:p>
            <a:pPr algn="l" indent="0" marL="0">
              <a:lnSpc>
                <a:spcPts val="1125"/>
              </a:lnSpc>
              <a:buNone/>
            </a:pPr>
            <a:r>
              <a:rPr lang="en-US" sz="750" dirty="0">
                <a:solidFill>
                  <a:srgbClr val="FFFFFF">
                    <a:alpha val="70000"/>
                  </a:srgbClr>
                </a:solidFill>
                <a:latin typeface="Arial" pitchFamily="34" charset="0"/>
                <a:ea typeface="Arial" pitchFamily="34" charset="-122"/>
                <a:cs typeface="Arial" pitchFamily="34" charset="-120"/>
              </a:rPr>
              <a:t>4. Test microphone levels</a:t>
            </a:r>
            <a:endParaRPr lang="en-US" sz="750" dirty="0"/>
          </a:p>
        </p:txBody>
      </p:sp>
      <p:sp>
        <p:nvSpPr>
          <p:cNvPr id="42" name="Text 40"/>
          <p:cNvSpPr/>
          <p:nvPr/>
        </p:nvSpPr>
        <p:spPr>
          <a:xfrm>
            <a:off x="5401419" y="4552950"/>
            <a:ext cx="3437781" cy="323850"/>
          </a:xfrm>
          <a:prstGeom prst="rect">
            <a:avLst/>
          </a:prstGeom>
          <a:solidFill>
            <a:srgbClr val="0EA5E9"/>
          </a:solidFill>
          <a:ln/>
        </p:spPr>
        <p:txBody>
          <a:bodyPr wrap="square" rtlCol="0" anchor="ctr"/>
          <a:lstStyle/>
          <a:p>
            <a:pPr indent="0" marL="0">
              <a:buNone/>
            </a:pPr>
            <a:endParaRPr lang="en-US" dirty="0"/>
          </a:p>
        </p:txBody>
      </p:sp>
      <p:sp>
        <p:nvSpPr>
          <p:cNvPr id="43" name="Text 41"/>
          <p:cNvSpPr/>
          <p:nvPr/>
        </p:nvSpPr>
        <p:spPr>
          <a:xfrm>
            <a:off x="5464196" y="4648200"/>
            <a:ext cx="3312226" cy="133350"/>
          </a:xfrm>
          <a:prstGeom prst="rect">
            <a:avLst/>
          </a:prstGeom>
          <a:noFill/>
          <a:ln/>
        </p:spPr>
        <p:txBody>
          <a:bodyPr wrap="square" lIns="0" tIns="0" rIns="0" bIns="0" rtlCol="0" anchor="t"/>
          <a:lstStyle/>
          <a:p>
            <a:pPr algn="ctr" indent="0" marL="0">
              <a:lnSpc>
                <a:spcPts val="1050"/>
              </a:lnSpc>
              <a:buNone/>
            </a:pPr>
            <a:r>
              <a:rPr lang="en-US" sz="750" b="1" dirty="0">
                <a:solidFill>
                  <a:srgbClr val="FFFFFF"/>
                </a:solidFill>
                <a:latin typeface="Arial" pitchFamily="34" charset="0"/>
                <a:ea typeface="Arial" pitchFamily="34" charset="-122"/>
                <a:cs typeface="Arial" pitchFamily="34" charset="-120"/>
              </a:rPr>
              <a:t>Tip:</a:t>
            </a:r>
            <a:pPr algn="ctr" indent="0" marL="0">
              <a:lnSpc>
                <a:spcPts val="1050"/>
              </a:lnSpc>
              <a:buNone/>
            </a:pPr>
            <a:r>
              <a:rPr lang="en-US" sz="750" dirty="0">
                <a:solidFill>
                  <a:srgbClr val="FFFFFF"/>
                </a:solidFill>
                <a:latin typeface="Arial" pitchFamily="34" charset="0"/>
                <a:ea typeface="Arial" pitchFamily="34" charset="-122"/>
                <a:cs typeface="Arial" pitchFamily="34" charset="-120"/>
              </a:rPr>
              <a:t> Pin SuperWhisper to taskbar for quick access</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457200" y="266700"/>
            <a:ext cx="8394192" cy="146596"/>
          </a:xfrm>
          <a:prstGeom prst="rect">
            <a:avLst/>
          </a:prstGeom>
          <a:noFill/>
          <a:ln/>
        </p:spPr>
        <p:txBody>
          <a:bodyPr wrap="square" lIns="0" tIns="0" rIns="0" bIns="0" rtlCol="0" anchor="t"/>
          <a:lstStyle/>
          <a:p>
            <a:pPr algn="l" indent="0" marL="0">
              <a:lnSpc>
                <a:spcPts val="1155"/>
              </a:lnSpc>
              <a:spcAft>
                <a:spcPts val="450"/>
              </a:spcAft>
              <a:buNone/>
            </a:pPr>
            <a:r>
              <a:rPr lang="en-US" sz="825" dirty="0">
                <a:solidFill>
                  <a:srgbClr val="C9A227"/>
                </a:solidFill>
                <a:latin typeface="Arial" pitchFamily="34" charset="0"/>
                <a:ea typeface="Arial" pitchFamily="34" charset="-122"/>
                <a:cs typeface="Arial" pitchFamily="34" charset="-120"/>
              </a:rPr>
              <a:t>USER INTERFACE</a:t>
            </a:r>
            <a:endParaRPr lang="en-US" sz="825" dirty="0"/>
          </a:p>
        </p:txBody>
      </p:sp>
      <p:sp>
        <p:nvSpPr>
          <p:cNvPr id="3" name="Text 1"/>
          <p:cNvSpPr/>
          <p:nvPr/>
        </p:nvSpPr>
        <p:spPr>
          <a:xfrm>
            <a:off x="457200" y="470446"/>
            <a:ext cx="4206812" cy="285750"/>
          </a:xfrm>
          <a:prstGeom prst="rect">
            <a:avLst/>
          </a:prstGeom>
          <a:noFill/>
          <a:ln/>
        </p:spPr>
        <p:txBody>
          <a:bodyPr wrap="square" lIns="0" tIns="0" rIns="0" bIns="0" rtlCol="0" anchor="t"/>
          <a:lstStyle/>
          <a:p>
            <a:pPr algn="l" indent="0" marL="0">
              <a:lnSpc>
                <a:spcPts val="2250"/>
              </a:lnSpc>
              <a:buNone/>
            </a:pPr>
            <a:r>
              <a:rPr lang="en-US" sz="2250" dirty="0">
                <a:solidFill>
                  <a:srgbClr val="1A1F2E"/>
                </a:solidFill>
                <a:latin typeface="Georgia" pitchFamily="34" charset="0"/>
                <a:ea typeface="Georgia" pitchFamily="34" charset="-122"/>
                <a:cs typeface="Georgia" pitchFamily="34" charset="-120"/>
              </a:rPr>
              <a:t>SuperWhisper Interface Tour</a:t>
            </a:r>
            <a:endParaRPr lang="en-US" sz="2250" dirty="0"/>
          </a:p>
        </p:txBody>
      </p:sp>
      <p:sp>
        <p:nvSpPr>
          <p:cNvPr id="4" name="Text 2"/>
          <p:cNvSpPr/>
          <p:nvPr/>
        </p:nvSpPr>
        <p:spPr>
          <a:xfrm>
            <a:off x="457200" y="1586061"/>
            <a:ext cx="2616250" cy="1461046"/>
          </a:xfrm>
          <a:prstGeom prst="rect">
            <a:avLst/>
          </a:prstGeom>
          <a:solidFill>
            <a:srgbClr val="1A1F2E"/>
          </a:solidFill>
          <a:ln/>
        </p:spPr>
        <p:txBody>
          <a:bodyPr wrap="square" rtlCol="0" anchor="ctr"/>
          <a:lstStyle/>
          <a:p>
            <a:pPr indent="0" marL="0">
              <a:buNone/>
            </a:pPr>
            <a:endParaRPr lang="en-US" dirty="0"/>
          </a:p>
        </p:txBody>
      </p:sp>
      <p:sp>
        <p:nvSpPr>
          <p:cNvPr id="5" name="Text 3"/>
          <p:cNvSpPr/>
          <p:nvPr/>
        </p:nvSpPr>
        <p:spPr>
          <a:xfrm>
            <a:off x="609600" y="1738461"/>
            <a:ext cx="2357679" cy="146596"/>
          </a:xfrm>
          <a:prstGeom prst="rect">
            <a:avLst/>
          </a:prstGeom>
          <a:noFill/>
          <a:ln/>
        </p:spPr>
        <p:txBody>
          <a:bodyPr wrap="square" lIns="0" tIns="0" rIns="0" bIns="0" rtlCol="0" anchor="t"/>
          <a:lstStyle/>
          <a:p>
            <a:pPr algn="l" indent="0" marL="0">
              <a:lnSpc>
                <a:spcPts val="1155"/>
              </a:lnSpc>
              <a:spcAft>
                <a:spcPts val="750"/>
              </a:spcAft>
              <a:buNone/>
            </a:pPr>
            <a:r>
              <a:rPr lang="en-US" sz="825" b="1" dirty="0">
                <a:solidFill>
                  <a:srgbClr val="C9A227"/>
                </a:solidFill>
                <a:latin typeface="Arial" pitchFamily="34" charset="0"/>
                <a:ea typeface="Arial" pitchFamily="34" charset="-122"/>
                <a:cs typeface="Arial" pitchFamily="34" charset="-120"/>
              </a:rPr>
              <a:t>MENU BAR / SYSTEM TRAY</a:t>
            </a:r>
            <a:endParaRPr lang="en-US" sz="825" dirty="0"/>
          </a:p>
        </p:txBody>
      </p:sp>
      <p:sp>
        <p:nvSpPr>
          <p:cNvPr id="6" name="Text 4"/>
          <p:cNvSpPr/>
          <p:nvPr/>
        </p:nvSpPr>
        <p:spPr>
          <a:xfrm>
            <a:off x="609600" y="1980307"/>
            <a:ext cx="2311450" cy="361950"/>
          </a:xfrm>
          <a:prstGeom prst="rect">
            <a:avLst/>
          </a:prstGeom>
          <a:solidFill>
            <a:srgbClr val="3B4252"/>
          </a:solidFill>
          <a:ln/>
        </p:spPr>
        <p:txBody>
          <a:bodyPr wrap="square" rtlCol="0" anchor="ctr"/>
          <a:lstStyle/>
          <a:p>
            <a:pPr indent="0" marL="0">
              <a:buNone/>
            </a:pPr>
            <a:endParaRPr lang="en-US" dirty="0"/>
          </a:p>
        </p:txBody>
      </p:sp>
      <p:sp>
        <p:nvSpPr>
          <p:cNvPr id="7" name="Text 5"/>
          <p:cNvSpPr/>
          <p:nvPr/>
        </p:nvSpPr>
        <p:spPr>
          <a:xfrm>
            <a:off x="742950" y="2075557"/>
            <a:ext cx="171450" cy="171450"/>
          </a:xfrm>
          <a:prstGeom prst="roundRect">
            <a:avLst>
              <a:gd name="adj" fmla="val 533333"/>
            </a:avLst>
          </a:prstGeom>
          <a:solidFill>
            <a:srgbClr val="C9A227"/>
          </a:solidFill>
          <a:ln/>
        </p:spPr>
        <p:txBody>
          <a:bodyPr wrap="square" rtlCol="0" anchor="ctr"/>
          <a:lstStyle/>
          <a:p>
            <a:pPr indent="0" marL="0">
              <a:buNone/>
            </a:pPr>
            <a:endParaRPr lang="en-US" dirty="0"/>
          </a:p>
        </p:txBody>
      </p:sp>
      <p:sp>
        <p:nvSpPr>
          <p:cNvPr id="8" name="Text 6"/>
          <p:cNvSpPr/>
          <p:nvPr/>
        </p:nvSpPr>
        <p:spPr>
          <a:xfrm>
            <a:off x="990600" y="2087910"/>
            <a:ext cx="908855" cy="146596"/>
          </a:xfrm>
          <a:prstGeom prst="rect">
            <a:avLst/>
          </a:prstGeom>
          <a:noFill/>
          <a:ln/>
        </p:spPr>
        <p:txBody>
          <a:bodyPr wrap="square" lIns="0" tIns="0" rIns="0" bIns="0" rtlCol="0" anchor="t"/>
          <a:lstStyle/>
          <a:p>
            <a:pPr algn="l" indent="0" marL="0">
              <a:lnSpc>
                <a:spcPts val="1155"/>
              </a:lnSpc>
              <a:buNone/>
            </a:pPr>
            <a:r>
              <a:rPr lang="en-US" sz="825" dirty="0">
                <a:solidFill>
                  <a:srgbClr val="FFFFFF">
                    <a:alpha val="80000"/>
                  </a:srgbClr>
                </a:solidFill>
                <a:latin typeface="Arial" pitchFamily="34" charset="0"/>
                <a:ea typeface="Arial" pitchFamily="34" charset="-122"/>
                <a:cs typeface="Arial" pitchFamily="34" charset="-120"/>
              </a:rPr>
              <a:t>SuperWhisper Icon</a:t>
            </a:r>
            <a:endParaRPr lang="en-US" sz="825" dirty="0"/>
          </a:p>
        </p:txBody>
      </p:sp>
      <p:sp>
        <p:nvSpPr>
          <p:cNvPr id="9" name="Text 7"/>
          <p:cNvSpPr/>
          <p:nvPr/>
        </p:nvSpPr>
        <p:spPr>
          <a:xfrm>
            <a:off x="609600" y="2437507"/>
            <a:ext cx="2357679" cy="457200"/>
          </a:xfrm>
          <a:prstGeom prst="rect">
            <a:avLst/>
          </a:prstGeom>
          <a:noFill/>
          <a:ln/>
        </p:spPr>
        <p:txBody>
          <a:bodyPr wrap="square" lIns="0" tIns="0" rIns="0" bIns="0" rtlCol="0" anchor="t"/>
          <a:lstStyle/>
          <a:p>
            <a:pPr algn="l" indent="0" marL="0">
              <a:lnSpc>
                <a:spcPts val="1200"/>
              </a:lnSpc>
              <a:buNone/>
            </a:pPr>
            <a:r>
              <a:rPr lang="en-US" sz="750" dirty="0">
                <a:solidFill>
                  <a:srgbClr val="FFFFFF">
                    <a:alpha val="60000"/>
                  </a:srgbClr>
                </a:solidFill>
                <a:latin typeface="Arial" pitchFamily="34" charset="0"/>
                <a:ea typeface="Arial" pitchFamily="34" charset="-122"/>
                <a:cs typeface="Arial" pitchFamily="34" charset="-120"/>
              </a:rPr>
              <a:t>Mac: Lives in menu bar (top right)</a:t>
            </a:r>
            <a:endParaRPr lang="en-US" sz="750" dirty="0"/>
          </a:p>
          <a:p>
            <a:pPr algn="l" indent="0" marL="0">
              <a:lnSpc>
                <a:spcPts val="1200"/>
              </a:lnSpc>
              <a:buNone/>
            </a:pPr>
            <a:r>
              <a:rPr lang="en-US" sz="750" dirty="0">
                <a:solidFill>
                  <a:srgbClr val="FFFFFF">
                    <a:alpha val="60000"/>
                  </a:srgbClr>
                </a:solidFill>
                <a:latin typeface="Arial" pitchFamily="34" charset="0"/>
                <a:ea typeface="Arial" pitchFamily="34" charset="-122"/>
                <a:cs typeface="Arial" pitchFamily="34" charset="-120"/>
              </a:rPr>
              <a:t>Windows: Lives in system tray (bottom right)</a:t>
            </a:r>
            <a:endParaRPr lang="en-US" sz="750" dirty="0"/>
          </a:p>
          <a:p>
            <a:pPr algn="l" indent="0" marL="0">
              <a:lnSpc>
                <a:spcPts val="1200"/>
              </a:lnSpc>
              <a:buNone/>
            </a:pPr>
            <a:r>
              <a:rPr lang="en-US" sz="750" dirty="0">
                <a:solidFill>
                  <a:srgbClr val="FFFFFF">
                    <a:alpha val="60000"/>
                  </a:srgbClr>
                </a:solidFill>
                <a:latin typeface="Arial" pitchFamily="34" charset="0"/>
                <a:ea typeface="Arial" pitchFamily="34" charset="-122"/>
                <a:cs typeface="Arial" pitchFamily="34" charset="-120"/>
              </a:rPr>
              <a:t>Click to open menu, right-click for options</a:t>
            </a:r>
            <a:endParaRPr lang="en-US" sz="750" dirty="0"/>
          </a:p>
        </p:txBody>
      </p:sp>
      <p:sp>
        <p:nvSpPr>
          <p:cNvPr id="10" name="Text 8"/>
          <p:cNvSpPr/>
          <p:nvPr/>
        </p:nvSpPr>
        <p:spPr>
          <a:xfrm>
            <a:off x="457200" y="3332857"/>
            <a:ext cx="2616250" cy="1056977"/>
          </a:xfrm>
          <a:prstGeom prst="rect">
            <a:avLst/>
          </a:prstGeom>
          <a:solidFill>
            <a:srgbClr val="FFFFFF"/>
          </a:solidFill>
          <a:ln/>
        </p:spPr>
        <p:txBody>
          <a:bodyPr wrap="square" rtlCol="0" anchor="ctr"/>
          <a:lstStyle/>
          <a:p>
            <a:pPr indent="0" marL="0">
              <a:buNone/>
            </a:pPr>
            <a:endParaRPr lang="en-US" dirty="0"/>
          </a:p>
        </p:txBody>
      </p:sp>
      <p:sp>
        <p:nvSpPr>
          <p:cNvPr id="11" name="Shape 9"/>
          <p:cNvSpPr/>
          <p:nvPr/>
        </p:nvSpPr>
        <p:spPr>
          <a:xfrm>
            <a:off x="476250" y="3332857"/>
            <a:ext cx="0" cy="1056977"/>
          </a:xfrm>
          <a:prstGeom prst="line">
            <a:avLst/>
          </a:prstGeom>
          <a:noFill/>
          <a:ln w="38100">
            <a:solidFill>
              <a:srgbClr val="C9A227"/>
            </a:solidFill>
            <a:prstDash val="solid"/>
          </a:ln>
        </p:spPr>
      </p:sp>
      <p:sp>
        <p:nvSpPr>
          <p:cNvPr id="12" name="Text 10"/>
          <p:cNvSpPr/>
          <p:nvPr/>
        </p:nvSpPr>
        <p:spPr>
          <a:xfrm>
            <a:off x="628650" y="3466207"/>
            <a:ext cx="2357679" cy="159990"/>
          </a:xfrm>
          <a:prstGeom prst="rect">
            <a:avLst/>
          </a:prstGeom>
          <a:noFill/>
          <a:ln/>
        </p:spPr>
        <p:txBody>
          <a:bodyPr wrap="square" lIns="0" tIns="0" rIns="0" bIns="0" rtlCol="0" anchor="t"/>
          <a:lstStyle/>
          <a:p>
            <a:pPr algn="l" indent="0" marL="0">
              <a:lnSpc>
                <a:spcPts val="1260"/>
              </a:lnSpc>
              <a:spcAft>
                <a:spcPts val="600"/>
              </a:spcAft>
              <a:buNone/>
            </a:pPr>
            <a:r>
              <a:rPr lang="en-US" sz="900" b="1" dirty="0">
                <a:solidFill>
                  <a:srgbClr val="1A1F2E"/>
                </a:solidFill>
                <a:latin typeface="Arial" pitchFamily="34" charset="0"/>
                <a:ea typeface="Arial" pitchFamily="34" charset="-122"/>
                <a:cs typeface="Arial" pitchFamily="34" charset="-120"/>
              </a:rPr>
              <a:t>Icon States</a:t>
            </a:r>
            <a:endParaRPr lang="en-US" sz="900" dirty="0"/>
          </a:p>
        </p:txBody>
      </p:sp>
      <p:sp>
        <p:nvSpPr>
          <p:cNvPr id="13" name="Text 11"/>
          <p:cNvSpPr/>
          <p:nvPr/>
        </p:nvSpPr>
        <p:spPr>
          <a:xfrm>
            <a:off x="628650" y="3708946"/>
            <a:ext cx="133350" cy="133350"/>
          </a:xfrm>
          <a:prstGeom prst="roundRect">
            <a:avLst>
              <a:gd name="adj" fmla="val 685714"/>
            </a:avLst>
          </a:prstGeom>
          <a:solidFill>
            <a:srgbClr val="6B7280"/>
          </a:solidFill>
          <a:ln/>
        </p:spPr>
        <p:txBody>
          <a:bodyPr wrap="square" rtlCol="0" anchor="ctr"/>
          <a:lstStyle/>
          <a:p>
            <a:pPr indent="0" marL="0">
              <a:buNone/>
            </a:pPr>
            <a:endParaRPr lang="en-US" dirty="0"/>
          </a:p>
        </p:txBody>
      </p:sp>
      <p:sp>
        <p:nvSpPr>
          <p:cNvPr id="14" name="Text 12"/>
          <p:cNvSpPr/>
          <p:nvPr/>
        </p:nvSpPr>
        <p:spPr>
          <a:xfrm>
            <a:off x="838200" y="3702397"/>
            <a:ext cx="1303850" cy="146596"/>
          </a:xfrm>
          <a:prstGeom prst="rect">
            <a:avLst/>
          </a:prstGeom>
          <a:noFill/>
          <a:ln/>
        </p:spPr>
        <p:txBody>
          <a:bodyPr wrap="square" lIns="0" tIns="0" rIns="0" bIns="0" rtlCol="0" anchor="t"/>
          <a:lstStyle/>
          <a:p>
            <a:pPr algn="l" indent="0" marL="0">
              <a:lnSpc>
                <a:spcPts val="1155"/>
              </a:lnSpc>
              <a:buNone/>
            </a:pPr>
            <a:r>
              <a:rPr lang="en-US" sz="825" dirty="0">
                <a:solidFill>
                  <a:srgbClr val="6B7280"/>
                </a:solidFill>
                <a:latin typeface="Arial" pitchFamily="34" charset="0"/>
                <a:ea typeface="Arial" pitchFamily="34" charset="-122"/>
                <a:cs typeface="Arial" pitchFamily="34" charset="-120"/>
              </a:rPr>
              <a:t>Gray = Idle, ready to record</a:t>
            </a:r>
            <a:endParaRPr lang="en-US" sz="825" dirty="0"/>
          </a:p>
        </p:txBody>
      </p:sp>
      <p:sp>
        <p:nvSpPr>
          <p:cNvPr id="15" name="Text 13"/>
          <p:cNvSpPr/>
          <p:nvPr/>
        </p:nvSpPr>
        <p:spPr>
          <a:xfrm>
            <a:off x="628650" y="3912691"/>
            <a:ext cx="133350" cy="133350"/>
          </a:xfrm>
          <a:prstGeom prst="roundRect">
            <a:avLst>
              <a:gd name="adj" fmla="val 685714"/>
            </a:avLst>
          </a:prstGeom>
          <a:solidFill>
            <a:srgbClr val="DC2626"/>
          </a:solidFill>
          <a:ln/>
        </p:spPr>
        <p:txBody>
          <a:bodyPr wrap="square" rtlCol="0" anchor="ctr"/>
          <a:lstStyle/>
          <a:p>
            <a:pPr indent="0" marL="0">
              <a:buNone/>
            </a:pPr>
            <a:endParaRPr lang="en-US" dirty="0"/>
          </a:p>
        </p:txBody>
      </p:sp>
      <p:sp>
        <p:nvSpPr>
          <p:cNvPr id="16" name="Text 14"/>
          <p:cNvSpPr/>
          <p:nvPr/>
        </p:nvSpPr>
        <p:spPr>
          <a:xfrm>
            <a:off x="838200" y="3906143"/>
            <a:ext cx="1363358" cy="146596"/>
          </a:xfrm>
          <a:prstGeom prst="rect">
            <a:avLst/>
          </a:prstGeom>
          <a:noFill/>
          <a:ln/>
        </p:spPr>
        <p:txBody>
          <a:bodyPr wrap="square" lIns="0" tIns="0" rIns="0" bIns="0" rtlCol="0" anchor="t"/>
          <a:lstStyle/>
          <a:p>
            <a:pPr algn="l" indent="0" marL="0">
              <a:lnSpc>
                <a:spcPts val="1155"/>
              </a:lnSpc>
              <a:buNone/>
            </a:pPr>
            <a:r>
              <a:rPr lang="en-US" sz="825" dirty="0">
                <a:solidFill>
                  <a:srgbClr val="6B7280"/>
                </a:solidFill>
                <a:latin typeface="Arial" pitchFamily="34" charset="0"/>
                <a:ea typeface="Arial" pitchFamily="34" charset="-122"/>
                <a:cs typeface="Arial" pitchFamily="34" charset="-120"/>
              </a:rPr>
              <a:t>Red = Recording in progress</a:t>
            </a:r>
            <a:endParaRPr lang="en-US" sz="825" dirty="0"/>
          </a:p>
        </p:txBody>
      </p:sp>
      <p:sp>
        <p:nvSpPr>
          <p:cNvPr id="17" name="Text 15"/>
          <p:cNvSpPr/>
          <p:nvPr/>
        </p:nvSpPr>
        <p:spPr>
          <a:xfrm>
            <a:off x="628650" y="4116437"/>
            <a:ext cx="133350" cy="133350"/>
          </a:xfrm>
          <a:prstGeom prst="roundRect">
            <a:avLst>
              <a:gd name="adj" fmla="val 685714"/>
            </a:avLst>
          </a:prstGeom>
          <a:solidFill>
            <a:srgbClr val="C9A227"/>
          </a:solidFill>
          <a:ln/>
        </p:spPr>
        <p:txBody>
          <a:bodyPr wrap="square" rtlCol="0" anchor="ctr"/>
          <a:lstStyle/>
          <a:p>
            <a:pPr indent="0" marL="0">
              <a:buNone/>
            </a:pPr>
            <a:endParaRPr lang="en-US" dirty="0"/>
          </a:p>
        </p:txBody>
      </p:sp>
      <p:sp>
        <p:nvSpPr>
          <p:cNvPr id="18" name="Text 16"/>
          <p:cNvSpPr/>
          <p:nvPr/>
        </p:nvSpPr>
        <p:spPr>
          <a:xfrm>
            <a:off x="838200" y="4109889"/>
            <a:ext cx="1488141" cy="146596"/>
          </a:xfrm>
          <a:prstGeom prst="rect">
            <a:avLst/>
          </a:prstGeom>
          <a:noFill/>
          <a:ln/>
        </p:spPr>
        <p:txBody>
          <a:bodyPr wrap="square" lIns="0" tIns="0" rIns="0" bIns="0" rtlCol="0" anchor="t"/>
          <a:lstStyle/>
          <a:p>
            <a:pPr algn="l" indent="0" marL="0">
              <a:lnSpc>
                <a:spcPts val="1155"/>
              </a:lnSpc>
              <a:buNone/>
            </a:pPr>
            <a:r>
              <a:rPr lang="en-US" sz="825" dirty="0">
                <a:solidFill>
                  <a:srgbClr val="6B7280"/>
                </a:solidFill>
                <a:latin typeface="Arial" pitchFamily="34" charset="0"/>
                <a:ea typeface="Arial" pitchFamily="34" charset="-122"/>
                <a:cs typeface="Arial" pitchFamily="34" charset="-120"/>
              </a:rPr>
              <a:t>Gold = Processing transcription</a:t>
            </a:r>
            <a:endParaRPr lang="en-US" sz="825" dirty="0"/>
          </a:p>
        </p:txBody>
      </p:sp>
      <p:sp>
        <p:nvSpPr>
          <p:cNvPr id="19" name="Text 17"/>
          <p:cNvSpPr/>
          <p:nvPr/>
        </p:nvSpPr>
        <p:spPr>
          <a:xfrm>
            <a:off x="3263950" y="1739354"/>
            <a:ext cx="2616250" cy="1373386"/>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20" name="Text 18"/>
          <p:cNvSpPr/>
          <p:nvPr/>
        </p:nvSpPr>
        <p:spPr>
          <a:xfrm>
            <a:off x="3425875" y="1901279"/>
            <a:ext cx="2338248" cy="159990"/>
          </a:xfrm>
          <a:prstGeom prst="rect">
            <a:avLst/>
          </a:prstGeom>
          <a:noFill/>
          <a:ln/>
        </p:spPr>
        <p:txBody>
          <a:bodyPr wrap="square" lIns="0" tIns="0" rIns="0" bIns="0" rtlCol="0" anchor="t"/>
          <a:lstStyle/>
          <a:p>
            <a:pPr algn="l" indent="0" marL="0">
              <a:lnSpc>
                <a:spcPts val="1260"/>
              </a:lnSpc>
              <a:spcAft>
                <a:spcPts val="750"/>
              </a:spcAft>
              <a:buNone/>
            </a:pPr>
            <a:r>
              <a:rPr lang="en-US" sz="900" b="1" dirty="0">
                <a:solidFill>
                  <a:srgbClr val="1A1F2E"/>
                </a:solidFill>
                <a:latin typeface="Arial" pitchFamily="34" charset="0"/>
                <a:ea typeface="Arial" pitchFamily="34" charset="-122"/>
                <a:cs typeface="Arial" pitchFamily="34" charset="-120"/>
              </a:rPr>
              <a:t>Recording Overlay</a:t>
            </a:r>
            <a:endParaRPr lang="en-US" sz="900" dirty="0"/>
          </a:p>
        </p:txBody>
      </p:sp>
      <p:sp>
        <p:nvSpPr>
          <p:cNvPr id="21" name="Text 19"/>
          <p:cNvSpPr/>
          <p:nvPr/>
        </p:nvSpPr>
        <p:spPr>
          <a:xfrm>
            <a:off x="3425875" y="2156520"/>
            <a:ext cx="2292400" cy="413296"/>
          </a:xfrm>
          <a:prstGeom prst="rect">
            <a:avLst/>
          </a:prstGeom>
          <a:solidFill>
            <a:srgbClr val="FEE2E2"/>
          </a:solidFill>
          <a:ln w="19050">
            <a:solidFill>
              <a:srgbClr val="DC2626"/>
            </a:solidFill>
          </a:ln>
        </p:spPr>
        <p:txBody>
          <a:bodyPr wrap="square" rtlCol="0" anchor="ctr"/>
          <a:lstStyle/>
          <a:p>
            <a:pPr indent="0" marL="0">
              <a:buNone/>
            </a:pPr>
            <a:endParaRPr lang="en-US" dirty="0"/>
          </a:p>
        </p:txBody>
      </p:sp>
      <p:sp>
        <p:nvSpPr>
          <p:cNvPr id="22" name="Text 20"/>
          <p:cNvSpPr/>
          <p:nvPr/>
        </p:nvSpPr>
        <p:spPr>
          <a:xfrm>
            <a:off x="4166146" y="2315468"/>
            <a:ext cx="95250" cy="95250"/>
          </a:xfrm>
          <a:prstGeom prst="roundRect">
            <a:avLst>
              <a:gd name="adj" fmla="val 960000"/>
            </a:avLst>
          </a:prstGeom>
          <a:solidFill>
            <a:srgbClr val="DC2626"/>
          </a:solidFill>
          <a:ln/>
        </p:spPr>
        <p:txBody>
          <a:bodyPr wrap="square" rtlCol="0" anchor="ctr"/>
          <a:lstStyle/>
          <a:p>
            <a:pPr indent="0" marL="0">
              <a:buNone/>
            </a:pPr>
            <a:endParaRPr lang="en-US" dirty="0"/>
          </a:p>
        </p:txBody>
      </p:sp>
      <p:sp>
        <p:nvSpPr>
          <p:cNvPr id="23" name="Text 21"/>
          <p:cNvSpPr/>
          <p:nvPr/>
        </p:nvSpPr>
        <p:spPr>
          <a:xfrm>
            <a:off x="4331192" y="2289870"/>
            <a:ext cx="653216" cy="146596"/>
          </a:xfrm>
          <a:prstGeom prst="rect">
            <a:avLst/>
          </a:prstGeom>
          <a:noFill/>
          <a:ln/>
        </p:spPr>
        <p:txBody>
          <a:bodyPr wrap="square" lIns="0" tIns="0" rIns="0" bIns="0" rtlCol="0" anchor="t"/>
          <a:lstStyle/>
          <a:p>
            <a:pPr algn="ctr" indent="0" marL="0">
              <a:lnSpc>
                <a:spcPts val="1155"/>
              </a:lnSpc>
              <a:buNone/>
            </a:pPr>
            <a:r>
              <a:rPr lang="en-US" sz="825" b="1" dirty="0">
                <a:solidFill>
                  <a:srgbClr val="DC2626"/>
                </a:solidFill>
                <a:latin typeface="Arial" pitchFamily="34" charset="0"/>
                <a:ea typeface="Arial" pitchFamily="34" charset="-122"/>
                <a:cs typeface="Arial" pitchFamily="34" charset="-120"/>
              </a:rPr>
              <a:t>RECORDING</a:t>
            </a:r>
            <a:endParaRPr lang="en-US" sz="825" dirty="0"/>
          </a:p>
        </p:txBody>
      </p:sp>
      <p:sp>
        <p:nvSpPr>
          <p:cNvPr id="24" name="Text 22"/>
          <p:cNvSpPr/>
          <p:nvPr/>
        </p:nvSpPr>
        <p:spPr>
          <a:xfrm>
            <a:off x="3425875" y="2665065"/>
            <a:ext cx="2338248" cy="285750"/>
          </a:xfrm>
          <a:prstGeom prst="rect">
            <a:avLst/>
          </a:prstGeom>
          <a:noFill/>
          <a:ln/>
        </p:spPr>
        <p:txBody>
          <a:bodyPr wrap="square" lIns="0" tIns="0" rIns="0" bIns="0" rtlCol="0" anchor="t"/>
          <a:lstStyle/>
          <a:p>
            <a:pPr algn="l" indent="0" marL="0">
              <a:lnSpc>
                <a:spcPts val="1125"/>
              </a:lnSpc>
              <a:buNone/>
            </a:pPr>
            <a:r>
              <a:rPr lang="en-US" sz="750" dirty="0">
                <a:solidFill>
                  <a:srgbClr val="6B7280"/>
                </a:solidFill>
                <a:latin typeface="Arial" pitchFamily="34" charset="0"/>
                <a:ea typeface="Arial" pitchFamily="34" charset="-122"/>
                <a:cs typeface="Arial" pitchFamily="34" charset="-120"/>
              </a:rPr>
              <a:t>Visual indicator appears when recording. Can be positioned or hidden in settings.</a:t>
            </a:r>
            <a:endParaRPr lang="en-US" sz="750" dirty="0"/>
          </a:p>
        </p:txBody>
      </p:sp>
      <p:sp>
        <p:nvSpPr>
          <p:cNvPr id="25" name="Text 23"/>
          <p:cNvSpPr/>
          <p:nvPr/>
        </p:nvSpPr>
        <p:spPr>
          <a:xfrm>
            <a:off x="3263950" y="3398490"/>
            <a:ext cx="2616250" cy="838051"/>
          </a:xfrm>
          <a:prstGeom prst="rect">
            <a:avLst/>
          </a:prstGeom>
          <a:solidFill>
            <a:srgbClr val="FFFFFF"/>
          </a:solidFill>
          <a:ln/>
        </p:spPr>
        <p:txBody>
          <a:bodyPr wrap="square" rtlCol="0" anchor="ctr"/>
          <a:lstStyle/>
          <a:p>
            <a:pPr indent="0" marL="0">
              <a:buNone/>
            </a:pPr>
            <a:endParaRPr lang="en-US" dirty="0"/>
          </a:p>
        </p:txBody>
      </p:sp>
      <p:sp>
        <p:nvSpPr>
          <p:cNvPr id="26" name="Shape 24"/>
          <p:cNvSpPr/>
          <p:nvPr/>
        </p:nvSpPr>
        <p:spPr>
          <a:xfrm>
            <a:off x="3283000" y="3398490"/>
            <a:ext cx="0" cy="838051"/>
          </a:xfrm>
          <a:prstGeom prst="line">
            <a:avLst/>
          </a:prstGeom>
          <a:noFill/>
          <a:ln w="38100">
            <a:solidFill>
              <a:srgbClr val="C9A227"/>
            </a:solidFill>
            <a:prstDash val="solid"/>
          </a:ln>
        </p:spPr>
      </p:sp>
      <p:sp>
        <p:nvSpPr>
          <p:cNvPr id="27" name="Text 25"/>
          <p:cNvSpPr/>
          <p:nvPr/>
        </p:nvSpPr>
        <p:spPr>
          <a:xfrm>
            <a:off x="3435400" y="3531840"/>
            <a:ext cx="2357679" cy="159990"/>
          </a:xfrm>
          <a:prstGeom prst="rect">
            <a:avLst/>
          </a:prstGeom>
          <a:noFill/>
          <a:ln/>
        </p:spPr>
        <p:txBody>
          <a:bodyPr wrap="square" lIns="0" tIns="0" rIns="0" bIns="0" rtlCol="0" anchor="t"/>
          <a:lstStyle/>
          <a:p>
            <a:pPr algn="l" indent="0" marL="0">
              <a:lnSpc>
                <a:spcPts val="1260"/>
              </a:lnSpc>
              <a:spcAft>
                <a:spcPts val="600"/>
              </a:spcAft>
              <a:buNone/>
            </a:pPr>
            <a:r>
              <a:rPr lang="en-US" sz="900" b="1" dirty="0">
                <a:solidFill>
                  <a:srgbClr val="1A1F2E"/>
                </a:solidFill>
                <a:latin typeface="Arial" pitchFamily="34" charset="0"/>
                <a:ea typeface="Arial" pitchFamily="34" charset="-122"/>
                <a:cs typeface="Arial" pitchFamily="34" charset="-120"/>
              </a:rPr>
              <a:t>Output Behavior</a:t>
            </a:r>
            <a:endParaRPr lang="en-US" sz="900" dirty="0"/>
          </a:p>
        </p:txBody>
      </p:sp>
      <p:sp>
        <p:nvSpPr>
          <p:cNvPr id="28" name="Text 26"/>
          <p:cNvSpPr/>
          <p:nvPr/>
        </p:nvSpPr>
        <p:spPr>
          <a:xfrm>
            <a:off x="3435400" y="3768030"/>
            <a:ext cx="2357679" cy="335161"/>
          </a:xfrm>
          <a:prstGeom prst="rect">
            <a:avLst/>
          </a:prstGeom>
          <a:noFill/>
          <a:ln/>
        </p:spPr>
        <p:txBody>
          <a:bodyPr wrap="square" lIns="0" tIns="0" rIns="0" bIns="0" rtlCol="0" anchor="t"/>
          <a:lstStyle/>
          <a:p>
            <a:pPr algn="l" indent="0" marL="0">
              <a:lnSpc>
                <a:spcPts val="1320"/>
              </a:lnSpc>
              <a:buNone/>
            </a:pPr>
            <a:r>
              <a:rPr lang="en-US" sz="825" dirty="0">
                <a:solidFill>
                  <a:srgbClr val="6B7280"/>
                </a:solidFill>
                <a:latin typeface="Arial" pitchFamily="34" charset="0"/>
                <a:ea typeface="Arial" pitchFamily="34" charset="-122"/>
                <a:cs typeface="Arial" pitchFamily="34" charset="-120"/>
              </a:rPr>
              <a:t>Text is typed directly into the active application at cursor position. Works in any text field.</a:t>
            </a:r>
            <a:endParaRPr lang="en-US" sz="825" dirty="0"/>
          </a:p>
        </p:txBody>
      </p:sp>
      <p:sp>
        <p:nvSpPr>
          <p:cNvPr id="29" name="Text 27"/>
          <p:cNvSpPr/>
          <p:nvPr/>
        </p:nvSpPr>
        <p:spPr>
          <a:xfrm>
            <a:off x="6070699" y="1604070"/>
            <a:ext cx="2616250" cy="2767608"/>
          </a:xfrm>
          <a:prstGeom prst="rect">
            <a:avLst/>
          </a:prstGeom>
          <a:solidFill>
            <a:srgbClr val="1A1F2E"/>
          </a:solidFill>
          <a:ln/>
        </p:spPr>
        <p:txBody>
          <a:bodyPr wrap="square" rtlCol="0" anchor="ctr"/>
          <a:lstStyle/>
          <a:p>
            <a:pPr indent="0" marL="0">
              <a:buNone/>
            </a:pPr>
            <a:endParaRPr lang="en-US" dirty="0"/>
          </a:p>
        </p:txBody>
      </p:sp>
      <p:sp>
        <p:nvSpPr>
          <p:cNvPr id="30" name="Text 28"/>
          <p:cNvSpPr/>
          <p:nvPr/>
        </p:nvSpPr>
        <p:spPr>
          <a:xfrm>
            <a:off x="6223099" y="1756470"/>
            <a:ext cx="2357679" cy="146596"/>
          </a:xfrm>
          <a:prstGeom prst="rect">
            <a:avLst/>
          </a:prstGeom>
          <a:noFill/>
          <a:ln/>
        </p:spPr>
        <p:txBody>
          <a:bodyPr wrap="square" lIns="0" tIns="0" rIns="0" bIns="0" rtlCol="0" anchor="t"/>
          <a:lstStyle/>
          <a:p>
            <a:pPr algn="l" indent="0" marL="0">
              <a:lnSpc>
                <a:spcPts val="1155"/>
              </a:lnSpc>
              <a:spcAft>
                <a:spcPts val="900"/>
              </a:spcAft>
              <a:buNone/>
            </a:pPr>
            <a:r>
              <a:rPr lang="en-US" sz="825" b="1" dirty="0">
                <a:solidFill>
                  <a:srgbClr val="C9A227"/>
                </a:solidFill>
                <a:latin typeface="Arial" pitchFamily="34" charset="0"/>
                <a:ea typeface="Arial" pitchFamily="34" charset="-122"/>
                <a:cs typeface="Arial" pitchFamily="34" charset="-120"/>
              </a:rPr>
              <a:t>SETTINGS ACCESS</a:t>
            </a:r>
            <a:endParaRPr lang="en-US" sz="825" dirty="0"/>
          </a:p>
        </p:txBody>
      </p:sp>
      <p:sp>
        <p:nvSpPr>
          <p:cNvPr id="31" name="Text 29"/>
          <p:cNvSpPr/>
          <p:nvPr/>
        </p:nvSpPr>
        <p:spPr>
          <a:xfrm>
            <a:off x="6223099" y="2017365"/>
            <a:ext cx="2311450" cy="508546"/>
          </a:xfrm>
          <a:prstGeom prst="rect">
            <a:avLst/>
          </a:prstGeom>
          <a:solidFill>
            <a:srgbClr val="FFFFFF">
              <a:alpha val="5000"/>
            </a:srgbClr>
          </a:solidFill>
          <a:ln/>
        </p:spPr>
        <p:txBody>
          <a:bodyPr wrap="square" rtlCol="0" anchor="ctr"/>
          <a:lstStyle/>
          <a:p>
            <a:pPr indent="0" marL="0">
              <a:buNone/>
            </a:pPr>
            <a:endParaRPr lang="en-US" dirty="0"/>
          </a:p>
        </p:txBody>
      </p:sp>
      <p:sp>
        <p:nvSpPr>
          <p:cNvPr id="32" name="Text 30"/>
          <p:cNvSpPr/>
          <p:nvPr/>
        </p:nvSpPr>
        <p:spPr>
          <a:xfrm>
            <a:off x="6318349" y="2112615"/>
            <a:ext cx="2163369" cy="146596"/>
          </a:xfrm>
          <a:prstGeom prst="rect">
            <a:avLst/>
          </a:prstGeom>
          <a:noFill/>
          <a:ln/>
        </p:spPr>
        <p:txBody>
          <a:bodyPr wrap="square" lIns="0" tIns="0" rIns="0" bIns="0" rtlCol="0" anchor="t"/>
          <a:lstStyle/>
          <a:p>
            <a:pPr algn="l" indent="0" marL="0">
              <a:lnSpc>
                <a:spcPts val="1155"/>
              </a:lnSpc>
              <a:spcAft>
                <a:spcPts val="300"/>
              </a:spcAft>
              <a:buNone/>
            </a:pPr>
            <a:r>
              <a:rPr lang="en-US" sz="825" b="1" dirty="0">
                <a:solidFill>
                  <a:srgbClr val="FFFFFF"/>
                </a:solidFill>
                <a:latin typeface="Arial" pitchFamily="34" charset="0"/>
                <a:ea typeface="Arial" pitchFamily="34" charset="-122"/>
                <a:cs typeface="Arial" pitchFamily="34" charset="-120"/>
              </a:rPr>
              <a:t>Quick Access</a:t>
            </a:r>
            <a:endParaRPr lang="en-US" sz="825" dirty="0"/>
          </a:p>
        </p:txBody>
      </p:sp>
      <p:sp>
        <p:nvSpPr>
          <p:cNvPr id="33" name="Text 31"/>
          <p:cNvSpPr/>
          <p:nvPr/>
        </p:nvSpPr>
        <p:spPr>
          <a:xfrm>
            <a:off x="6318349" y="2297311"/>
            <a:ext cx="2163369" cy="133350"/>
          </a:xfrm>
          <a:prstGeom prst="rect">
            <a:avLst/>
          </a:prstGeom>
          <a:noFill/>
          <a:ln/>
        </p:spPr>
        <p:txBody>
          <a:bodyPr wrap="square" lIns="0" tIns="0" rIns="0" bIns="0" rtlCol="0" anchor="t"/>
          <a:lstStyle/>
          <a:p>
            <a:pPr algn="l" indent="0" marL="0">
              <a:lnSpc>
                <a:spcPts val="1050"/>
              </a:lnSpc>
              <a:buNone/>
            </a:pPr>
            <a:r>
              <a:rPr lang="en-US" sz="750" dirty="0">
                <a:solidFill>
                  <a:srgbClr val="FFFFFF">
                    <a:alpha val="60000"/>
                  </a:srgbClr>
                </a:solidFill>
                <a:latin typeface="Arial" pitchFamily="34" charset="0"/>
                <a:ea typeface="Arial" pitchFamily="34" charset="-122"/>
                <a:cs typeface="Arial" pitchFamily="34" charset="-120"/>
              </a:rPr>
              <a:t>Click icon &gt; Preferences</a:t>
            </a:r>
            <a:endParaRPr lang="en-US" sz="750" dirty="0"/>
          </a:p>
        </p:txBody>
      </p:sp>
      <p:sp>
        <p:nvSpPr>
          <p:cNvPr id="34" name="Text 32"/>
          <p:cNvSpPr/>
          <p:nvPr/>
        </p:nvSpPr>
        <p:spPr>
          <a:xfrm>
            <a:off x="6223099" y="2621161"/>
            <a:ext cx="2311450" cy="984796"/>
          </a:xfrm>
          <a:prstGeom prst="rect">
            <a:avLst/>
          </a:prstGeom>
          <a:solidFill>
            <a:srgbClr val="FFFFFF">
              <a:alpha val="5000"/>
            </a:srgbClr>
          </a:solidFill>
          <a:ln/>
        </p:spPr>
        <p:txBody>
          <a:bodyPr wrap="square" rtlCol="0" anchor="ctr"/>
          <a:lstStyle/>
          <a:p>
            <a:pPr indent="0" marL="0">
              <a:buNone/>
            </a:pPr>
            <a:endParaRPr lang="en-US" dirty="0"/>
          </a:p>
        </p:txBody>
      </p:sp>
      <p:sp>
        <p:nvSpPr>
          <p:cNvPr id="35" name="Text 33"/>
          <p:cNvSpPr/>
          <p:nvPr/>
        </p:nvSpPr>
        <p:spPr>
          <a:xfrm>
            <a:off x="6318349" y="2716411"/>
            <a:ext cx="2163369" cy="146596"/>
          </a:xfrm>
          <a:prstGeom prst="rect">
            <a:avLst/>
          </a:prstGeom>
          <a:noFill/>
          <a:ln/>
        </p:spPr>
        <p:txBody>
          <a:bodyPr wrap="square" lIns="0" tIns="0" rIns="0" bIns="0" rtlCol="0" anchor="t"/>
          <a:lstStyle/>
          <a:p>
            <a:pPr algn="l" indent="0" marL="0">
              <a:lnSpc>
                <a:spcPts val="1155"/>
              </a:lnSpc>
              <a:spcAft>
                <a:spcPts val="300"/>
              </a:spcAft>
              <a:buNone/>
            </a:pPr>
            <a:r>
              <a:rPr lang="en-US" sz="825" b="1" dirty="0">
                <a:solidFill>
                  <a:srgbClr val="FFFFFF"/>
                </a:solidFill>
                <a:latin typeface="Arial" pitchFamily="34" charset="0"/>
                <a:ea typeface="Arial" pitchFamily="34" charset="-122"/>
                <a:cs typeface="Arial" pitchFamily="34" charset="-120"/>
              </a:rPr>
              <a:t>Key Settings</a:t>
            </a:r>
            <a:endParaRPr lang="en-US" sz="825" dirty="0"/>
          </a:p>
        </p:txBody>
      </p:sp>
      <p:sp>
        <p:nvSpPr>
          <p:cNvPr id="36" name="Text 34"/>
          <p:cNvSpPr/>
          <p:nvPr/>
        </p:nvSpPr>
        <p:spPr>
          <a:xfrm>
            <a:off x="6318349" y="2901107"/>
            <a:ext cx="2163369" cy="609600"/>
          </a:xfrm>
          <a:prstGeom prst="rect">
            <a:avLst/>
          </a:prstGeom>
          <a:noFill/>
          <a:ln/>
        </p:spPr>
        <p:txBody>
          <a:bodyPr wrap="square" lIns="0" tIns="0" rIns="0" bIns="0" rtlCol="0" anchor="t"/>
          <a:lstStyle/>
          <a:p>
            <a:pPr algn="l" indent="0" marL="0">
              <a:lnSpc>
                <a:spcPts val="1200"/>
              </a:lnSpc>
              <a:buNone/>
            </a:pPr>
            <a:r>
              <a:rPr lang="en-US" sz="750" dirty="0">
                <a:solidFill>
                  <a:srgbClr val="FFFFFF">
                    <a:alpha val="60000"/>
                  </a:srgbClr>
                </a:solidFill>
                <a:latin typeface="Arial" pitchFamily="34" charset="0"/>
                <a:ea typeface="Arial" pitchFamily="34" charset="-122"/>
                <a:cs typeface="Arial" pitchFamily="34" charset="-120"/>
              </a:rPr>
              <a:t>Hotkey configuration</a:t>
            </a:r>
            <a:endParaRPr lang="en-US" sz="750" dirty="0"/>
          </a:p>
          <a:p>
            <a:pPr algn="l" indent="0" marL="0">
              <a:lnSpc>
                <a:spcPts val="1200"/>
              </a:lnSpc>
              <a:buNone/>
            </a:pPr>
            <a:r>
              <a:rPr lang="en-US" sz="750" dirty="0">
                <a:solidFill>
                  <a:srgbClr val="FFFFFF">
                    <a:alpha val="60000"/>
                  </a:srgbClr>
                </a:solidFill>
                <a:latin typeface="Arial" pitchFamily="34" charset="0"/>
                <a:ea typeface="Arial" pitchFamily="34" charset="-122"/>
                <a:cs typeface="Arial" pitchFamily="34" charset="-120"/>
              </a:rPr>
              <a:t>Model selection</a:t>
            </a:r>
            <a:endParaRPr lang="en-US" sz="750" dirty="0"/>
          </a:p>
          <a:p>
            <a:pPr algn="l" indent="0" marL="0">
              <a:lnSpc>
                <a:spcPts val="1200"/>
              </a:lnSpc>
              <a:buNone/>
            </a:pPr>
            <a:r>
              <a:rPr lang="en-US" sz="750" dirty="0">
                <a:solidFill>
                  <a:srgbClr val="FFFFFF">
                    <a:alpha val="60000"/>
                  </a:srgbClr>
                </a:solidFill>
                <a:latin typeface="Arial" pitchFamily="34" charset="0"/>
                <a:ea typeface="Arial" pitchFamily="34" charset="-122"/>
                <a:cs typeface="Arial" pitchFamily="34" charset="-120"/>
              </a:rPr>
              <a:t>Language settings</a:t>
            </a:r>
            <a:endParaRPr lang="en-US" sz="750" dirty="0"/>
          </a:p>
          <a:p>
            <a:pPr algn="l" indent="0" marL="0">
              <a:lnSpc>
                <a:spcPts val="1200"/>
              </a:lnSpc>
              <a:buNone/>
            </a:pPr>
            <a:r>
              <a:rPr lang="en-US" sz="750" dirty="0">
                <a:solidFill>
                  <a:srgbClr val="FFFFFF">
                    <a:alpha val="60000"/>
                  </a:srgbClr>
                </a:solidFill>
                <a:latin typeface="Arial" pitchFamily="34" charset="0"/>
                <a:ea typeface="Arial" pitchFamily="34" charset="-122"/>
                <a:cs typeface="Arial" pitchFamily="34" charset="-120"/>
              </a:rPr>
              <a:t>Output formatting</a:t>
            </a:r>
            <a:endParaRPr lang="en-US" sz="750" dirty="0"/>
          </a:p>
        </p:txBody>
      </p:sp>
      <p:sp>
        <p:nvSpPr>
          <p:cNvPr id="37" name="Text 35"/>
          <p:cNvSpPr/>
          <p:nvPr/>
        </p:nvSpPr>
        <p:spPr>
          <a:xfrm>
            <a:off x="6223099" y="3701207"/>
            <a:ext cx="2311450" cy="518071"/>
          </a:xfrm>
          <a:prstGeom prst="rect">
            <a:avLst/>
          </a:prstGeom>
          <a:solidFill>
            <a:srgbClr val="C9A227">
              <a:alpha val="20000"/>
            </a:srgbClr>
          </a:solidFill>
          <a:ln/>
        </p:spPr>
        <p:txBody>
          <a:bodyPr wrap="square" rtlCol="0" anchor="ctr"/>
          <a:lstStyle/>
          <a:p>
            <a:pPr indent="0" marL="0">
              <a:buNone/>
            </a:pPr>
            <a:endParaRPr lang="en-US" dirty="0"/>
          </a:p>
        </p:txBody>
      </p:sp>
      <p:sp>
        <p:nvSpPr>
          <p:cNvPr id="38" name="Text 36"/>
          <p:cNvSpPr/>
          <p:nvPr/>
        </p:nvSpPr>
        <p:spPr>
          <a:xfrm>
            <a:off x="6318349" y="3796457"/>
            <a:ext cx="2163369" cy="146596"/>
          </a:xfrm>
          <a:prstGeom prst="rect">
            <a:avLst/>
          </a:prstGeom>
          <a:noFill/>
          <a:ln/>
        </p:spPr>
        <p:txBody>
          <a:bodyPr wrap="square" lIns="0" tIns="0" rIns="0" bIns="0" rtlCol="0" anchor="t"/>
          <a:lstStyle/>
          <a:p>
            <a:pPr algn="l" indent="0" marL="0">
              <a:lnSpc>
                <a:spcPts val="1155"/>
              </a:lnSpc>
              <a:spcAft>
                <a:spcPts val="300"/>
              </a:spcAft>
              <a:buNone/>
            </a:pPr>
            <a:r>
              <a:rPr lang="en-US" sz="825" b="1" dirty="0">
                <a:solidFill>
                  <a:srgbClr val="C9A227"/>
                </a:solidFill>
                <a:latin typeface="Arial" pitchFamily="34" charset="0"/>
                <a:ea typeface="Arial" pitchFamily="34" charset="-122"/>
                <a:cs typeface="Arial" pitchFamily="34" charset="-120"/>
              </a:rPr>
              <a:t>History Panel</a:t>
            </a:r>
            <a:endParaRPr lang="en-US" sz="825" dirty="0"/>
          </a:p>
        </p:txBody>
      </p:sp>
      <p:sp>
        <p:nvSpPr>
          <p:cNvPr id="39" name="Text 37"/>
          <p:cNvSpPr/>
          <p:nvPr/>
        </p:nvSpPr>
        <p:spPr>
          <a:xfrm>
            <a:off x="6318349" y="3981152"/>
            <a:ext cx="2163369" cy="142875"/>
          </a:xfrm>
          <a:prstGeom prst="rect">
            <a:avLst/>
          </a:prstGeom>
          <a:noFill/>
          <a:ln/>
        </p:spPr>
        <p:txBody>
          <a:bodyPr wrap="square" lIns="0" tIns="0" rIns="0" bIns="0" rtlCol="0" anchor="t"/>
          <a:lstStyle/>
          <a:p>
            <a:pPr algn="l" indent="0" marL="0">
              <a:lnSpc>
                <a:spcPts val="1125"/>
              </a:lnSpc>
              <a:buNone/>
            </a:pPr>
            <a:r>
              <a:rPr lang="en-US" sz="750" dirty="0">
                <a:solidFill>
                  <a:srgbClr val="FFFFFF">
                    <a:alpha val="60000"/>
                  </a:srgbClr>
                </a:solidFill>
                <a:latin typeface="Arial" pitchFamily="34" charset="0"/>
                <a:ea typeface="Arial" pitchFamily="34" charset="-122"/>
                <a:cs typeface="Arial" pitchFamily="34" charset="-120"/>
              </a:rPr>
              <a:t>View recent transcriptions, copy text, replay audio</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457200" y="304800"/>
            <a:ext cx="8394192" cy="146596"/>
          </a:xfrm>
          <a:prstGeom prst="rect">
            <a:avLst/>
          </a:prstGeom>
          <a:noFill/>
          <a:ln/>
        </p:spPr>
        <p:txBody>
          <a:bodyPr wrap="square" lIns="0" tIns="0" rIns="0" bIns="0" rtlCol="0" anchor="t"/>
          <a:lstStyle/>
          <a:p>
            <a:pPr algn="l" indent="0" marL="0">
              <a:lnSpc>
                <a:spcPts val="1155"/>
              </a:lnSpc>
              <a:spcAft>
                <a:spcPts val="450"/>
              </a:spcAft>
              <a:buNone/>
            </a:pPr>
            <a:r>
              <a:rPr lang="en-US" sz="825" dirty="0">
                <a:solidFill>
                  <a:srgbClr val="C9A227"/>
                </a:solidFill>
                <a:latin typeface="Arial" pitchFamily="34" charset="0"/>
                <a:ea typeface="Arial" pitchFamily="34" charset="-122"/>
                <a:cs typeface="Arial" pitchFamily="34" charset="-120"/>
              </a:rPr>
              <a:t>OPERATING MODES</a:t>
            </a:r>
            <a:endParaRPr lang="en-US" sz="825" dirty="0"/>
          </a:p>
        </p:txBody>
      </p:sp>
      <p:sp>
        <p:nvSpPr>
          <p:cNvPr id="3" name="Text 1"/>
          <p:cNvSpPr/>
          <p:nvPr/>
        </p:nvSpPr>
        <p:spPr>
          <a:xfrm>
            <a:off x="457200" y="508546"/>
            <a:ext cx="4206812" cy="266700"/>
          </a:xfrm>
          <a:prstGeom prst="rect">
            <a:avLst/>
          </a:prstGeom>
          <a:noFill/>
          <a:ln/>
        </p:spPr>
        <p:txBody>
          <a:bodyPr wrap="square" lIns="0" tIns="0" rIns="0" bIns="0" rtlCol="0" anchor="t"/>
          <a:lstStyle/>
          <a:p>
            <a:pPr algn="l" indent="0" marL="0">
              <a:lnSpc>
                <a:spcPts val="2100"/>
              </a:lnSpc>
              <a:buNone/>
            </a:pPr>
            <a:r>
              <a:rPr lang="en-US" sz="2100" dirty="0">
                <a:solidFill>
                  <a:srgbClr val="1A1F2E"/>
                </a:solidFill>
                <a:latin typeface="Georgia" pitchFamily="34" charset="0"/>
                <a:ea typeface="Georgia" pitchFamily="34" charset="-122"/>
                <a:cs typeface="Georgia" pitchFamily="34" charset="-120"/>
              </a:rPr>
              <a:t>SuperWhisper Modes</a:t>
            </a:r>
            <a:endParaRPr lang="en-US" sz="2100" dirty="0"/>
          </a:p>
        </p:txBody>
      </p:sp>
      <p:sp>
        <p:nvSpPr>
          <p:cNvPr id="4" name="Text 2"/>
          <p:cNvSpPr/>
          <p:nvPr/>
        </p:nvSpPr>
        <p:spPr>
          <a:xfrm>
            <a:off x="457200" y="832396"/>
            <a:ext cx="8394192" cy="159990"/>
          </a:xfrm>
          <a:prstGeom prst="rect">
            <a:avLst/>
          </a:prstGeom>
          <a:noFill/>
          <a:ln/>
        </p:spPr>
        <p:txBody>
          <a:bodyPr wrap="square" lIns="0" tIns="0" rIns="0" bIns="0" rtlCol="0" anchor="t"/>
          <a:lstStyle/>
          <a:p>
            <a:pPr algn="l" indent="0" marL="0">
              <a:lnSpc>
                <a:spcPts val="1260"/>
              </a:lnSpc>
              <a:spcBef>
                <a:spcPts val="450"/>
              </a:spcBef>
              <a:buNone/>
            </a:pPr>
            <a:r>
              <a:rPr lang="en-US" sz="900" dirty="0">
                <a:solidFill>
                  <a:srgbClr val="6B7280"/>
                </a:solidFill>
                <a:latin typeface="Arial" pitchFamily="34" charset="0"/>
                <a:ea typeface="Arial" pitchFamily="34" charset="-122"/>
                <a:cs typeface="Arial" pitchFamily="34" charset="-120"/>
              </a:rPr>
              <a:t>Choose how your speech is processed and formatted</a:t>
            </a:r>
            <a:endParaRPr lang="en-US" sz="900" dirty="0"/>
          </a:p>
        </p:txBody>
      </p:sp>
      <p:sp>
        <p:nvSpPr>
          <p:cNvPr id="5" name="Text 3"/>
          <p:cNvSpPr/>
          <p:nvPr/>
        </p:nvSpPr>
        <p:spPr>
          <a:xfrm>
            <a:off x="457200" y="1320254"/>
            <a:ext cx="2775901" cy="159990"/>
          </a:xfrm>
          <a:prstGeom prst="rect">
            <a:avLst/>
          </a:prstGeom>
          <a:noFill/>
          <a:ln/>
        </p:spPr>
        <p:txBody>
          <a:bodyPr wrap="square" lIns="0" tIns="0" rIns="0" bIns="0" rtlCol="0" anchor="t"/>
          <a:lstStyle/>
          <a:p>
            <a:pPr algn="l" indent="0" marL="0">
              <a:lnSpc>
                <a:spcPts val="1260"/>
              </a:lnSpc>
              <a:spcAft>
                <a:spcPts val="750"/>
              </a:spcAft>
              <a:buNone/>
            </a:pPr>
            <a:r>
              <a:rPr lang="en-US" sz="900" b="1" dirty="0">
                <a:solidFill>
                  <a:srgbClr val="1A1F2E"/>
                </a:solidFill>
                <a:latin typeface="Arial" pitchFamily="34" charset="0"/>
                <a:ea typeface="Arial" pitchFamily="34" charset="-122"/>
                <a:cs typeface="Arial" pitchFamily="34" charset="-120"/>
              </a:rPr>
              <a:t>BUILT-IN MODES</a:t>
            </a:r>
            <a:endParaRPr lang="en-US" sz="900" dirty="0"/>
          </a:p>
        </p:txBody>
      </p:sp>
      <p:sp>
        <p:nvSpPr>
          <p:cNvPr id="6" name="Text 4"/>
          <p:cNvSpPr/>
          <p:nvPr/>
        </p:nvSpPr>
        <p:spPr>
          <a:xfrm>
            <a:off x="457200" y="1727895"/>
            <a:ext cx="2721471" cy="679996"/>
          </a:xfrm>
          <a:prstGeom prst="rect">
            <a:avLst/>
          </a:prstGeom>
          <a:solidFill>
            <a:srgbClr val="FFFFFF"/>
          </a:solidFill>
          <a:ln/>
        </p:spPr>
        <p:txBody>
          <a:bodyPr wrap="square" rtlCol="0" anchor="ctr"/>
          <a:lstStyle/>
          <a:p>
            <a:pPr indent="0" marL="0">
              <a:buNone/>
            </a:pPr>
            <a:endParaRPr lang="en-US" dirty="0"/>
          </a:p>
        </p:txBody>
      </p:sp>
      <p:sp>
        <p:nvSpPr>
          <p:cNvPr id="7" name="Shape 5"/>
          <p:cNvSpPr/>
          <p:nvPr/>
        </p:nvSpPr>
        <p:spPr>
          <a:xfrm>
            <a:off x="476250" y="1727895"/>
            <a:ext cx="0" cy="679996"/>
          </a:xfrm>
          <a:prstGeom prst="line">
            <a:avLst/>
          </a:prstGeom>
          <a:noFill/>
          <a:ln w="38100">
            <a:solidFill>
              <a:srgbClr val="C9A227"/>
            </a:solidFill>
            <a:prstDash val="solid"/>
          </a:ln>
        </p:spPr>
      </p:sp>
      <p:sp>
        <p:nvSpPr>
          <p:cNvPr id="8" name="Text 6"/>
          <p:cNvSpPr/>
          <p:nvPr/>
        </p:nvSpPr>
        <p:spPr>
          <a:xfrm>
            <a:off x="609600" y="1842195"/>
            <a:ext cx="2503867" cy="146596"/>
          </a:xfrm>
          <a:prstGeom prst="rect">
            <a:avLst/>
          </a:prstGeom>
          <a:noFill/>
          <a:ln/>
        </p:spPr>
        <p:txBody>
          <a:bodyPr wrap="square" lIns="0" tIns="0" rIns="0" bIns="0" rtlCol="0" anchor="t"/>
          <a:lstStyle/>
          <a:p>
            <a:pPr algn="l" indent="0" marL="0">
              <a:lnSpc>
                <a:spcPts val="1155"/>
              </a:lnSpc>
              <a:spcAft>
                <a:spcPts val="300"/>
              </a:spcAft>
              <a:buNone/>
            </a:pPr>
            <a:r>
              <a:rPr lang="en-US" sz="825" b="1" dirty="0">
                <a:solidFill>
                  <a:srgbClr val="1A1F2E"/>
                </a:solidFill>
                <a:latin typeface="Arial" pitchFamily="34" charset="0"/>
                <a:ea typeface="Arial" pitchFamily="34" charset="-122"/>
                <a:cs typeface="Arial" pitchFamily="34" charset="-120"/>
              </a:rPr>
              <a:t>Voice Mode</a:t>
            </a:r>
            <a:endParaRPr lang="en-US" sz="825" dirty="0"/>
          </a:p>
        </p:txBody>
      </p:sp>
      <p:sp>
        <p:nvSpPr>
          <p:cNvPr id="9" name="Text 7"/>
          <p:cNvSpPr/>
          <p:nvPr/>
        </p:nvSpPr>
        <p:spPr>
          <a:xfrm>
            <a:off x="609600" y="2026890"/>
            <a:ext cx="2503867" cy="266700"/>
          </a:xfrm>
          <a:prstGeom prst="rect">
            <a:avLst/>
          </a:prstGeom>
          <a:noFill/>
          <a:ln/>
        </p:spPr>
        <p:txBody>
          <a:bodyPr wrap="square" lIns="0" tIns="0" rIns="0" bIns="0" rtlCol="0" anchor="t"/>
          <a:lstStyle/>
          <a:p>
            <a:pPr algn="l" indent="0" marL="0">
              <a:lnSpc>
                <a:spcPts val="1050"/>
              </a:lnSpc>
              <a:buNone/>
            </a:pPr>
            <a:r>
              <a:rPr lang="en-US" sz="750" dirty="0">
                <a:solidFill>
                  <a:srgbClr val="6B7280"/>
                </a:solidFill>
                <a:latin typeface="Arial" pitchFamily="34" charset="0"/>
                <a:ea typeface="Arial" pitchFamily="34" charset="-122"/>
                <a:cs typeface="Arial" pitchFamily="34" charset="-120"/>
              </a:rPr>
              <a:t>Pure transcription - what you say becomes text. No AI processing.</a:t>
            </a:r>
            <a:endParaRPr lang="en-US" sz="750" dirty="0"/>
          </a:p>
        </p:txBody>
      </p:sp>
      <p:sp>
        <p:nvSpPr>
          <p:cNvPr id="10" name="Text 8"/>
          <p:cNvSpPr/>
          <p:nvPr/>
        </p:nvSpPr>
        <p:spPr>
          <a:xfrm>
            <a:off x="457200" y="2636490"/>
            <a:ext cx="2721471" cy="679996"/>
          </a:xfrm>
          <a:prstGeom prst="rect">
            <a:avLst/>
          </a:prstGeom>
          <a:solidFill>
            <a:srgbClr val="FFFFFF"/>
          </a:solidFill>
          <a:ln/>
        </p:spPr>
        <p:txBody>
          <a:bodyPr wrap="square" rtlCol="0" anchor="ctr"/>
          <a:lstStyle/>
          <a:p>
            <a:pPr indent="0" marL="0">
              <a:buNone/>
            </a:pPr>
            <a:endParaRPr lang="en-US" dirty="0"/>
          </a:p>
        </p:txBody>
      </p:sp>
      <p:sp>
        <p:nvSpPr>
          <p:cNvPr id="11" name="Shape 9"/>
          <p:cNvSpPr/>
          <p:nvPr/>
        </p:nvSpPr>
        <p:spPr>
          <a:xfrm>
            <a:off x="476250" y="2636490"/>
            <a:ext cx="0" cy="679996"/>
          </a:xfrm>
          <a:prstGeom prst="line">
            <a:avLst/>
          </a:prstGeom>
          <a:noFill/>
          <a:ln w="38100">
            <a:solidFill>
              <a:srgbClr val="C9A227"/>
            </a:solidFill>
            <a:prstDash val="solid"/>
          </a:ln>
        </p:spPr>
      </p:sp>
      <p:sp>
        <p:nvSpPr>
          <p:cNvPr id="12" name="Text 10"/>
          <p:cNvSpPr/>
          <p:nvPr/>
        </p:nvSpPr>
        <p:spPr>
          <a:xfrm>
            <a:off x="609600" y="2750790"/>
            <a:ext cx="2503867" cy="146596"/>
          </a:xfrm>
          <a:prstGeom prst="rect">
            <a:avLst/>
          </a:prstGeom>
          <a:noFill/>
          <a:ln/>
        </p:spPr>
        <p:txBody>
          <a:bodyPr wrap="square" lIns="0" tIns="0" rIns="0" bIns="0" rtlCol="0" anchor="t"/>
          <a:lstStyle/>
          <a:p>
            <a:pPr algn="l" indent="0" marL="0">
              <a:lnSpc>
                <a:spcPts val="1155"/>
              </a:lnSpc>
              <a:spcAft>
                <a:spcPts val="300"/>
              </a:spcAft>
              <a:buNone/>
            </a:pPr>
            <a:r>
              <a:rPr lang="en-US" sz="825" b="1" dirty="0">
                <a:solidFill>
                  <a:srgbClr val="1A1F2E"/>
                </a:solidFill>
                <a:latin typeface="Arial" pitchFamily="34" charset="0"/>
                <a:ea typeface="Arial" pitchFamily="34" charset="-122"/>
                <a:cs typeface="Arial" pitchFamily="34" charset="-120"/>
              </a:rPr>
              <a:t>Super Mode</a:t>
            </a:r>
            <a:endParaRPr lang="en-US" sz="825" dirty="0"/>
          </a:p>
        </p:txBody>
      </p:sp>
      <p:sp>
        <p:nvSpPr>
          <p:cNvPr id="13" name="Text 11"/>
          <p:cNvSpPr/>
          <p:nvPr/>
        </p:nvSpPr>
        <p:spPr>
          <a:xfrm>
            <a:off x="609600" y="2935486"/>
            <a:ext cx="2503867" cy="266700"/>
          </a:xfrm>
          <a:prstGeom prst="rect">
            <a:avLst/>
          </a:prstGeom>
          <a:noFill/>
          <a:ln/>
        </p:spPr>
        <p:txBody>
          <a:bodyPr wrap="square" lIns="0" tIns="0" rIns="0" bIns="0" rtlCol="0" anchor="t"/>
          <a:lstStyle/>
          <a:p>
            <a:pPr algn="l" indent="0" marL="0">
              <a:lnSpc>
                <a:spcPts val="1050"/>
              </a:lnSpc>
              <a:buNone/>
            </a:pPr>
            <a:r>
              <a:rPr lang="en-US" sz="750" dirty="0">
                <a:solidFill>
                  <a:srgbClr val="6B7280"/>
                </a:solidFill>
                <a:latin typeface="Arial" pitchFamily="34" charset="0"/>
                <a:ea typeface="Arial" pitchFamily="34" charset="-122"/>
                <a:cs typeface="Arial" pitchFamily="34" charset="-120"/>
              </a:rPr>
              <a:t>Adapts output based on active app. Different formatting for code editors vs email.</a:t>
            </a:r>
            <a:endParaRPr lang="en-US" sz="750" dirty="0"/>
          </a:p>
        </p:txBody>
      </p:sp>
      <p:sp>
        <p:nvSpPr>
          <p:cNvPr id="14" name="Text 12"/>
          <p:cNvSpPr/>
          <p:nvPr/>
        </p:nvSpPr>
        <p:spPr>
          <a:xfrm>
            <a:off x="457200" y="3545086"/>
            <a:ext cx="2721471" cy="679996"/>
          </a:xfrm>
          <a:prstGeom prst="rect">
            <a:avLst/>
          </a:prstGeom>
          <a:solidFill>
            <a:srgbClr val="FFFFFF"/>
          </a:solidFill>
          <a:ln/>
        </p:spPr>
        <p:txBody>
          <a:bodyPr wrap="square" rtlCol="0" anchor="ctr"/>
          <a:lstStyle/>
          <a:p>
            <a:pPr indent="0" marL="0">
              <a:buNone/>
            </a:pPr>
            <a:endParaRPr lang="en-US" dirty="0"/>
          </a:p>
        </p:txBody>
      </p:sp>
      <p:sp>
        <p:nvSpPr>
          <p:cNvPr id="15" name="Shape 13"/>
          <p:cNvSpPr/>
          <p:nvPr/>
        </p:nvSpPr>
        <p:spPr>
          <a:xfrm>
            <a:off x="476250" y="3545086"/>
            <a:ext cx="0" cy="679996"/>
          </a:xfrm>
          <a:prstGeom prst="line">
            <a:avLst/>
          </a:prstGeom>
          <a:noFill/>
          <a:ln w="38100">
            <a:solidFill>
              <a:srgbClr val="C9A227"/>
            </a:solidFill>
            <a:prstDash val="solid"/>
          </a:ln>
        </p:spPr>
      </p:sp>
      <p:sp>
        <p:nvSpPr>
          <p:cNvPr id="16" name="Text 14"/>
          <p:cNvSpPr/>
          <p:nvPr/>
        </p:nvSpPr>
        <p:spPr>
          <a:xfrm>
            <a:off x="609600" y="3659386"/>
            <a:ext cx="2503867" cy="146596"/>
          </a:xfrm>
          <a:prstGeom prst="rect">
            <a:avLst/>
          </a:prstGeom>
          <a:noFill/>
          <a:ln/>
        </p:spPr>
        <p:txBody>
          <a:bodyPr wrap="square" lIns="0" tIns="0" rIns="0" bIns="0" rtlCol="0" anchor="t"/>
          <a:lstStyle/>
          <a:p>
            <a:pPr algn="l" indent="0" marL="0">
              <a:lnSpc>
                <a:spcPts val="1155"/>
              </a:lnSpc>
              <a:spcAft>
                <a:spcPts val="300"/>
              </a:spcAft>
              <a:buNone/>
            </a:pPr>
            <a:r>
              <a:rPr lang="en-US" sz="825" b="1" dirty="0">
                <a:solidFill>
                  <a:srgbClr val="1A1F2E"/>
                </a:solidFill>
                <a:latin typeface="Arial" pitchFamily="34" charset="0"/>
                <a:ea typeface="Arial" pitchFamily="34" charset="-122"/>
                <a:cs typeface="Arial" pitchFamily="34" charset="-120"/>
              </a:rPr>
              <a:t>Note Mode</a:t>
            </a:r>
            <a:endParaRPr lang="en-US" sz="825" dirty="0"/>
          </a:p>
        </p:txBody>
      </p:sp>
      <p:sp>
        <p:nvSpPr>
          <p:cNvPr id="17" name="Text 15"/>
          <p:cNvSpPr/>
          <p:nvPr/>
        </p:nvSpPr>
        <p:spPr>
          <a:xfrm>
            <a:off x="609600" y="3844082"/>
            <a:ext cx="2503867" cy="266700"/>
          </a:xfrm>
          <a:prstGeom prst="rect">
            <a:avLst/>
          </a:prstGeom>
          <a:noFill/>
          <a:ln/>
        </p:spPr>
        <p:txBody>
          <a:bodyPr wrap="square" lIns="0" tIns="0" rIns="0" bIns="0" rtlCol="0" anchor="t"/>
          <a:lstStyle/>
          <a:p>
            <a:pPr algn="l" indent="0" marL="0">
              <a:lnSpc>
                <a:spcPts val="1050"/>
              </a:lnSpc>
              <a:buNone/>
            </a:pPr>
            <a:r>
              <a:rPr lang="en-US" sz="750" dirty="0">
                <a:solidFill>
                  <a:srgbClr val="6B7280"/>
                </a:solidFill>
                <a:latin typeface="Arial" pitchFamily="34" charset="0"/>
                <a:ea typeface="Arial" pitchFamily="34" charset="-122"/>
                <a:cs typeface="Arial" pitchFamily="34" charset="-120"/>
              </a:rPr>
              <a:t>Structures speech into lists and key points. Great for brainstorming and meeting notes.</a:t>
            </a:r>
            <a:endParaRPr lang="en-US" sz="750" dirty="0"/>
          </a:p>
        </p:txBody>
      </p:sp>
      <p:sp>
        <p:nvSpPr>
          <p:cNvPr id="18" name="Text 16"/>
          <p:cNvSpPr/>
          <p:nvPr/>
        </p:nvSpPr>
        <p:spPr>
          <a:xfrm>
            <a:off x="457200" y="4453682"/>
            <a:ext cx="2721471" cy="323850"/>
          </a:xfrm>
          <a:prstGeom prst="rect">
            <a:avLst/>
          </a:prstGeom>
          <a:solidFill>
            <a:srgbClr val="DCFCE7"/>
          </a:solidFill>
          <a:ln/>
        </p:spPr>
        <p:txBody>
          <a:bodyPr wrap="square" rtlCol="0" anchor="ctr"/>
          <a:lstStyle/>
          <a:p>
            <a:pPr indent="0" marL="0">
              <a:buNone/>
            </a:pPr>
            <a:endParaRPr lang="en-US" dirty="0"/>
          </a:p>
        </p:txBody>
      </p:sp>
      <p:sp>
        <p:nvSpPr>
          <p:cNvPr id="19" name="Shape 17"/>
          <p:cNvSpPr/>
          <p:nvPr/>
        </p:nvSpPr>
        <p:spPr>
          <a:xfrm>
            <a:off x="476250" y="4453682"/>
            <a:ext cx="0" cy="323850"/>
          </a:xfrm>
          <a:prstGeom prst="line">
            <a:avLst/>
          </a:prstGeom>
          <a:noFill/>
          <a:ln w="38100">
            <a:solidFill>
              <a:srgbClr val="059669"/>
            </a:solidFill>
            <a:prstDash val="solid"/>
          </a:ln>
        </p:spPr>
      </p:sp>
      <p:sp>
        <p:nvSpPr>
          <p:cNvPr id="20" name="Text 18"/>
          <p:cNvSpPr/>
          <p:nvPr/>
        </p:nvSpPr>
        <p:spPr>
          <a:xfrm>
            <a:off x="590550" y="4548932"/>
            <a:ext cx="2542729" cy="133350"/>
          </a:xfrm>
          <a:prstGeom prst="rect">
            <a:avLst/>
          </a:prstGeom>
          <a:noFill/>
          <a:ln/>
        </p:spPr>
        <p:txBody>
          <a:bodyPr wrap="square" lIns="0" tIns="0" rIns="0" bIns="0" rtlCol="0" anchor="t"/>
          <a:lstStyle/>
          <a:p>
            <a:pPr algn="l" indent="0" marL="0">
              <a:lnSpc>
                <a:spcPts val="1050"/>
              </a:lnSpc>
              <a:buNone/>
            </a:pPr>
            <a:r>
              <a:rPr lang="en-US" sz="750" b="1" dirty="0">
                <a:solidFill>
                  <a:srgbClr val="166534"/>
                </a:solidFill>
                <a:latin typeface="Arial" pitchFamily="34" charset="0"/>
                <a:ea typeface="Arial" pitchFamily="34" charset="-122"/>
                <a:cs typeface="Arial" pitchFamily="34" charset="-120"/>
              </a:rPr>
              <a:t>Voice Mode + Local Model</a:t>
            </a:r>
            <a:pPr algn="l" indent="0" marL="0">
              <a:lnSpc>
                <a:spcPts val="1050"/>
              </a:lnSpc>
              <a:buNone/>
            </a:pPr>
            <a:r>
              <a:rPr lang="en-US" sz="750" dirty="0">
                <a:solidFill>
                  <a:srgbClr val="166534"/>
                </a:solidFill>
                <a:latin typeface="Arial" pitchFamily="34" charset="0"/>
                <a:ea typeface="Arial" pitchFamily="34" charset="-122"/>
                <a:cs typeface="Arial" pitchFamily="34" charset="-120"/>
              </a:rPr>
              <a:t> = Complete on-device privacy</a:t>
            </a:r>
            <a:endParaRPr lang="en-US" sz="750" dirty="0"/>
          </a:p>
        </p:txBody>
      </p:sp>
      <p:sp>
        <p:nvSpPr>
          <p:cNvPr id="21" name="Text 19"/>
          <p:cNvSpPr/>
          <p:nvPr/>
        </p:nvSpPr>
        <p:spPr>
          <a:xfrm>
            <a:off x="3331071" y="1306711"/>
            <a:ext cx="3026271" cy="3484215"/>
          </a:xfrm>
          <a:prstGeom prst="rect">
            <a:avLst/>
          </a:prstGeom>
          <a:solidFill>
            <a:srgbClr val="1A1F2E"/>
          </a:solidFill>
          <a:ln/>
        </p:spPr>
        <p:txBody>
          <a:bodyPr wrap="square" rtlCol="0" anchor="ctr"/>
          <a:lstStyle/>
          <a:p>
            <a:pPr indent="0" marL="0">
              <a:buNone/>
            </a:pPr>
            <a:endParaRPr lang="en-US" dirty="0"/>
          </a:p>
        </p:txBody>
      </p:sp>
      <p:sp>
        <p:nvSpPr>
          <p:cNvPr id="22" name="Text 20"/>
          <p:cNvSpPr/>
          <p:nvPr/>
        </p:nvSpPr>
        <p:spPr>
          <a:xfrm>
            <a:off x="3483471" y="1459111"/>
            <a:ext cx="2775901" cy="159990"/>
          </a:xfrm>
          <a:prstGeom prst="rect">
            <a:avLst/>
          </a:prstGeom>
          <a:noFill/>
          <a:ln/>
        </p:spPr>
        <p:txBody>
          <a:bodyPr wrap="square" lIns="0" tIns="0" rIns="0" bIns="0" rtlCol="0" anchor="t"/>
          <a:lstStyle/>
          <a:p>
            <a:pPr algn="l" indent="0" marL="0">
              <a:lnSpc>
                <a:spcPts val="1260"/>
              </a:lnSpc>
              <a:spcAft>
                <a:spcPts val="750"/>
              </a:spcAft>
              <a:buNone/>
            </a:pPr>
            <a:r>
              <a:rPr lang="en-US" sz="900" b="1" dirty="0">
                <a:solidFill>
                  <a:srgbClr val="C9A227"/>
                </a:solidFill>
                <a:latin typeface="Arial" pitchFamily="34" charset="0"/>
                <a:ea typeface="Arial" pitchFamily="34" charset="-122"/>
                <a:cs typeface="Arial" pitchFamily="34" charset="-120"/>
              </a:rPr>
              <a:t>CUSTOM MODES</a:t>
            </a:r>
            <a:endParaRPr lang="en-US" sz="900" dirty="0"/>
          </a:p>
        </p:txBody>
      </p:sp>
      <p:sp>
        <p:nvSpPr>
          <p:cNvPr id="23" name="Text 21"/>
          <p:cNvSpPr/>
          <p:nvPr/>
        </p:nvSpPr>
        <p:spPr>
          <a:xfrm>
            <a:off x="3483471" y="1866751"/>
            <a:ext cx="2775901" cy="314325"/>
          </a:xfrm>
          <a:prstGeom prst="rect">
            <a:avLst/>
          </a:prstGeom>
          <a:noFill/>
          <a:ln/>
        </p:spPr>
        <p:txBody>
          <a:bodyPr wrap="square" lIns="0" tIns="0" rIns="0" bIns="0" rtlCol="0" anchor="t"/>
          <a:lstStyle/>
          <a:p>
            <a:pPr algn="l" indent="0" marL="0">
              <a:lnSpc>
                <a:spcPts val="1238"/>
              </a:lnSpc>
              <a:spcAft>
                <a:spcPts val="900"/>
              </a:spcAft>
              <a:buNone/>
            </a:pPr>
            <a:r>
              <a:rPr lang="en-US" sz="825" dirty="0">
                <a:solidFill>
                  <a:srgbClr val="FFFFFF">
                    <a:alpha val="70000"/>
                  </a:srgbClr>
                </a:solidFill>
                <a:latin typeface="Arial" pitchFamily="34" charset="0"/>
                <a:ea typeface="Arial" pitchFamily="34" charset="-122"/>
                <a:cs typeface="Arial" pitchFamily="34" charset="-120"/>
              </a:rPr>
              <a:t>Create your own modes with natural language prompts. Define exactly how text should be processed.</a:t>
            </a:r>
            <a:endParaRPr lang="en-US" sz="825" dirty="0"/>
          </a:p>
        </p:txBody>
      </p:sp>
      <p:sp>
        <p:nvSpPr>
          <p:cNvPr id="24" name="Text 22"/>
          <p:cNvSpPr/>
          <p:nvPr/>
        </p:nvSpPr>
        <p:spPr>
          <a:xfrm>
            <a:off x="3483471" y="2447776"/>
            <a:ext cx="2721471" cy="685800"/>
          </a:xfrm>
          <a:prstGeom prst="rect">
            <a:avLst/>
          </a:prstGeom>
          <a:solidFill>
            <a:srgbClr val="252B3D"/>
          </a:solidFill>
          <a:ln/>
        </p:spPr>
        <p:txBody>
          <a:bodyPr wrap="square" rtlCol="0" anchor="ctr"/>
          <a:lstStyle/>
          <a:p>
            <a:pPr indent="0" marL="0">
              <a:buNone/>
            </a:pPr>
            <a:endParaRPr lang="en-US" dirty="0"/>
          </a:p>
        </p:txBody>
      </p:sp>
      <p:sp>
        <p:nvSpPr>
          <p:cNvPr id="25" name="Text 23"/>
          <p:cNvSpPr/>
          <p:nvPr/>
        </p:nvSpPr>
        <p:spPr>
          <a:xfrm>
            <a:off x="3597771" y="2562076"/>
            <a:ext cx="2542729"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C9A227"/>
                </a:solidFill>
                <a:latin typeface="Arial" pitchFamily="34" charset="0"/>
                <a:ea typeface="Arial" pitchFamily="34" charset="-122"/>
                <a:cs typeface="Arial" pitchFamily="34" charset="-120"/>
              </a:rPr>
              <a:t>EXAMPLE: Email Mode</a:t>
            </a:r>
            <a:endParaRPr lang="en-US" sz="750" dirty="0"/>
          </a:p>
        </p:txBody>
      </p:sp>
      <p:sp>
        <p:nvSpPr>
          <p:cNvPr id="26" name="Text 24"/>
          <p:cNvSpPr/>
          <p:nvPr/>
        </p:nvSpPr>
        <p:spPr>
          <a:xfrm>
            <a:off x="3597771" y="2752576"/>
            <a:ext cx="2542729" cy="266700"/>
          </a:xfrm>
          <a:prstGeom prst="rect">
            <a:avLst/>
          </a:prstGeom>
          <a:noFill/>
          <a:ln/>
        </p:spPr>
        <p:txBody>
          <a:bodyPr wrap="square" lIns="0" tIns="0" rIns="0" bIns="0" rtlCol="0" anchor="t"/>
          <a:lstStyle/>
          <a:p>
            <a:pPr algn="l" indent="0" marL="0">
              <a:lnSpc>
                <a:spcPts val="1050"/>
              </a:lnSpc>
              <a:buNone/>
            </a:pPr>
            <a:r>
              <a:rPr lang="en-US" sz="750" i="1" dirty="0">
                <a:solidFill>
                  <a:srgbClr val="FFFFFF">
                    <a:alpha val="60000"/>
                  </a:srgbClr>
                </a:solidFill>
                <a:latin typeface="Arial" pitchFamily="34" charset="0"/>
                <a:ea typeface="Arial" pitchFamily="34" charset="-122"/>
                <a:cs typeface="Arial" pitchFamily="34" charset="-120"/>
              </a:rPr>
              <a:t>"Format my dictation as a professional email. Add greeting and sign-off."</a:t>
            </a:r>
            <a:endParaRPr lang="en-US" sz="750" dirty="0"/>
          </a:p>
        </p:txBody>
      </p:sp>
      <p:sp>
        <p:nvSpPr>
          <p:cNvPr id="27" name="Text 25"/>
          <p:cNvSpPr/>
          <p:nvPr/>
        </p:nvSpPr>
        <p:spPr>
          <a:xfrm>
            <a:off x="3483471" y="3381226"/>
            <a:ext cx="2721471" cy="685800"/>
          </a:xfrm>
          <a:prstGeom prst="rect">
            <a:avLst/>
          </a:prstGeom>
          <a:solidFill>
            <a:srgbClr val="252B3D"/>
          </a:solidFill>
          <a:ln/>
        </p:spPr>
        <p:txBody>
          <a:bodyPr wrap="square" rtlCol="0" anchor="ctr"/>
          <a:lstStyle/>
          <a:p>
            <a:pPr indent="0" marL="0">
              <a:buNone/>
            </a:pPr>
            <a:endParaRPr lang="en-US" dirty="0"/>
          </a:p>
        </p:txBody>
      </p:sp>
      <p:sp>
        <p:nvSpPr>
          <p:cNvPr id="28" name="Text 26"/>
          <p:cNvSpPr/>
          <p:nvPr/>
        </p:nvSpPr>
        <p:spPr>
          <a:xfrm>
            <a:off x="3597771" y="3495526"/>
            <a:ext cx="2542729"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C9A227"/>
                </a:solidFill>
                <a:latin typeface="Arial" pitchFamily="34" charset="0"/>
                <a:ea typeface="Arial" pitchFamily="34" charset="-122"/>
                <a:cs typeface="Arial" pitchFamily="34" charset="-120"/>
              </a:rPr>
              <a:t>EXAMPLE: Code Mode</a:t>
            </a:r>
            <a:endParaRPr lang="en-US" sz="750" dirty="0"/>
          </a:p>
        </p:txBody>
      </p:sp>
      <p:sp>
        <p:nvSpPr>
          <p:cNvPr id="29" name="Text 27"/>
          <p:cNvSpPr/>
          <p:nvPr/>
        </p:nvSpPr>
        <p:spPr>
          <a:xfrm>
            <a:off x="3597771" y="3686026"/>
            <a:ext cx="2542729" cy="266700"/>
          </a:xfrm>
          <a:prstGeom prst="rect">
            <a:avLst/>
          </a:prstGeom>
          <a:noFill/>
          <a:ln/>
        </p:spPr>
        <p:txBody>
          <a:bodyPr wrap="square" lIns="0" tIns="0" rIns="0" bIns="0" rtlCol="0" anchor="t"/>
          <a:lstStyle/>
          <a:p>
            <a:pPr algn="l" indent="0" marL="0">
              <a:lnSpc>
                <a:spcPts val="1050"/>
              </a:lnSpc>
              <a:buNone/>
            </a:pPr>
            <a:r>
              <a:rPr lang="en-US" sz="750" i="1" dirty="0">
                <a:solidFill>
                  <a:srgbClr val="FFFFFF">
                    <a:alpha val="60000"/>
                  </a:srgbClr>
                </a:solidFill>
                <a:latin typeface="Arial" pitchFamily="34" charset="0"/>
                <a:ea typeface="Arial" pitchFamily="34" charset="-122"/>
                <a:cs typeface="Arial" pitchFamily="34" charset="-120"/>
              </a:rPr>
              <a:t>"Convert my description into a Python function with docstring."</a:t>
            </a:r>
            <a:endParaRPr lang="en-US" sz="750" dirty="0"/>
          </a:p>
        </p:txBody>
      </p:sp>
      <p:sp>
        <p:nvSpPr>
          <p:cNvPr id="30" name="Text 28"/>
          <p:cNvSpPr/>
          <p:nvPr/>
        </p:nvSpPr>
        <p:spPr>
          <a:xfrm>
            <a:off x="3483471" y="4314676"/>
            <a:ext cx="2721471" cy="323850"/>
          </a:xfrm>
          <a:prstGeom prst="rect">
            <a:avLst/>
          </a:prstGeom>
          <a:solidFill>
            <a:srgbClr val="C9A227">
              <a:alpha val="20000"/>
            </a:srgbClr>
          </a:solidFill>
          <a:ln/>
        </p:spPr>
        <p:txBody>
          <a:bodyPr wrap="square" rtlCol="0" anchor="ctr"/>
          <a:lstStyle/>
          <a:p>
            <a:pPr indent="0" marL="0">
              <a:buNone/>
            </a:pPr>
            <a:endParaRPr lang="en-US" dirty="0"/>
          </a:p>
        </p:txBody>
      </p:sp>
      <p:sp>
        <p:nvSpPr>
          <p:cNvPr id="31" name="Text 29"/>
          <p:cNvSpPr/>
          <p:nvPr/>
        </p:nvSpPr>
        <p:spPr>
          <a:xfrm>
            <a:off x="3578721" y="4409926"/>
            <a:ext cx="2581591" cy="133350"/>
          </a:xfrm>
          <a:prstGeom prst="rect">
            <a:avLst/>
          </a:prstGeom>
          <a:noFill/>
          <a:ln/>
        </p:spPr>
        <p:txBody>
          <a:bodyPr wrap="square" lIns="0" tIns="0" rIns="0" bIns="0" rtlCol="0" anchor="t"/>
          <a:lstStyle/>
          <a:p>
            <a:pPr algn="l" indent="0" marL="0">
              <a:lnSpc>
                <a:spcPts val="1050"/>
              </a:lnSpc>
              <a:buNone/>
            </a:pPr>
            <a:r>
              <a:rPr lang="en-US" sz="750" b="1" dirty="0">
                <a:solidFill>
                  <a:srgbClr val="C9A227"/>
                </a:solidFill>
                <a:latin typeface="Arial" pitchFamily="34" charset="0"/>
                <a:ea typeface="Arial" pitchFamily="34" charset="-122"/>
                <a:cs typeface="Arial" pitchFamily="34" charset="-120"/>
              </a:rPr>
              <a:t>Free:</a:t>
            </a:r>
            <a:pPr algn="l" indent="0" marL="0">
              <a:lnSpc>
                <a:spcPts val="1050"/>
              </a:lnSpc>
              <a:buNone/>
            </a:pPr>
            <a:r>
              <a:rPr lang="en-US" sz="750" dirty="0">
                <a:solidFill>
                  <a:srgbClr val="C9A227"/>
                </a:solidFill>
                <a:latin typeface="Arial" pitchFamily="34" charset="0"/>
                <a:ea typeface="Arial" pitchFamily="34" charset="-122"/>
                <a:cs typeface="Arial" pitchFamily="34" charset="-120"/>
              </a:rPr>
              <a:t> 3 custom modes | </a:t>
            </a:r>
            <a:pPr algn="l" indent="0" marL="0">
              <a:lnSpc>
                <a:spcPts val="1050"/>
              </a:lnSpc>
              <a:buNone/>
            </a:pPr>
            <a:r>
              <a:rPr lang="en-US" sz="750" b="1" dirty="0">
                <a:solidFill>
                  <a:srgbClr val="C9A227"/>
                </a:solidFill>
                <a:latin typeface="Arial" pitchFamily="34" charset="0"/>
                <a:ea typeface="Arial" pitchFamily="34" charset="-122"/>
                <a:cs typeface="Arial" pitchFamily="34" charset="-120"/>
              </a:rPr>
              <a:t>Pro:</a:t>
            </a:r>
            <a:pPr algn="l" indent="0" marL="0">
              <a:lnSpc>
                <a:spcPts val="1050"/>
              </a:lnSpc>
              <a:buNone/>
            </a:pPr>
            <a:r>
              <a:rPr lang="en-US" sz="750" dirty="0">
                <a:solidFill>
                  <a:srgbClr val="C9A227"/>
                </a:solidFill>
                <a:latin typeface="Arial" pitchFamily="34" charset="0"/>
                <a:ea typeface="Arial" pitchFamily="34" charset="-122"/>
                <a:cs typeface="Arial" pitchFamily="34" charset="-120"/>
              </a:rPr>
              <a:t> Unlimited modes</a:t>
            </a:r>
            <a:endParaRPr lang="en-US" sz="750" dirty="0"/>
          </a:p>
        </p:txBody>
      </p:sp>
      <p:sp>
        <p:nvSpPr>
          <p:cNvPr id="32" name="Text 30"/>
          <p:cNvSpPr/>
          <p:nvPr/>
        </p:nvSpPr>
        <p:spPr>
          <a:xfrm>
            <a:off x="6509742" y="1862138"/>
            <a:ext cx="2220751" cy="159990"/>
          </a:xfrm>
          <a:prstGeom prst="rect">
            <a:avLst/>
          </a:prstGeom>
          <a:noFill/>
          <a:ln/>
        </p:spPr>
        <p:txBody>
          <a:bodyPr wrap="square" lIns="0" tIns="0" rIns="0" bIns="0" rtlCol="0" anchor="t"/>
          <a:lstStyle/>
          <a:p>
            <a:pPr algn="l" indent="0" marL="0">
              <a:lnSpc>
                <a:spcPts val="1260"/>
              </a:lnSpc>
              <a:spcAft>
                <a:spcPts val="750"/>
              </a:spcAft>
              <a:buNone/>
            </a:pPr>
            <a:r>
              <a:rPr lang="en-US" sz="900" b="1" dirty="0">
                <a:solidFill>
                  <a:srgbClr val="1A1F2E"/>
                </a:solidFill>
                <a:latin typeface="Arial" pitchFamily="34" charset="0"/>
                <a:ea typeface="Arial" pitchFamily="34" charset="-122"/>
                <a:cs typeface="Arial" pitchFamily="34" charset="-120"/>
              </a:rPr>
              <a:t>SWITCHING MODES</a:t>
            </a:r>
            <a:endParaRPr lang="en-US" sz="900" dirty="0"/>
          </a:p>
        </p:txBody>
      </p:sp>
      <p:sp>
        <p:nvSpPr>
          <p:cNvPr id="33" name="Text 31"/>
          <p:cNvSpPr/>
          <p:nvPr/>
        </p:nvSpPr>
        <p:spPr>
          <a:xfrm>
            <a:off x="6509742" y="2269778"/>
            <a:ext cx="2177207" cy="539055"/>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34" name="Text 32"/>
          <p:cNvSpPr/>
          <p:nvPr/>
        </p:nvSpPr>
        <p:spPr>
          <a:xfrm>
            <a:off x="6633567" y="2393603"/>
            <a:ext cx="1968148"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1A1F2E"/>
                </a:solidFill>
                <a:latin typeface="Arial" pitchFamily="34" charset="0"/>
                <a:ea typeface="Arial" pitchFamily="34" charset="-122"/>
                <a:cs typeface="Arial" pitchFamily="34" charset="-120"/>
              </a:rPr>
              <a:t>Menu Bar</a:t>
            </a:r>
            <a:endParaRPr lang="en-US" sz="750" dirty="0"/>
          </a:p>
        </p:txBody>
      </p:sp>
      <p:sp>
        <p:nvSpPr>
          <p:cNvPr id="35" name="Text 33"/>
          <p:cNvSpPr/>
          <p:nvPr/>
        </p:nvSpPr>
        <p:spPr>
          <a:xfrm>
            <a:off x="6633567" y="2565053"/>
            <a:ext cx="1968148" cy="119955"/>
          </a:xfrm>
          <a:prstGeom prst="rect">
            <a:avLst/>
          </a:prstGeom>
          <a:noFill/>
          <a:ln/>
        </p:spPr>
        <p:txBody>
          <a:bodyPr wrap="square" lIns="0" tIns="0" rIns="0" bIns="0" rtlCol="0" anchor="t"/>
          <a:lstStyle/>
          <a:p>
            <a:pPr algn="l" indent="0" marL="0">
              <a:lnSpc>
                <a:spcPts val="945"/>
              </a:lnSpc>
              <a:buNone/>
            </a:pPr>
            <a:r>
              <a:rPr lang="en-US" sz="675" dirty="0">
                <a:solidFill>
                  <a:srgbClr val="6B7280"/>
                </a:solidFill>
                <a:latin typeface="Arial" pitchFamily="34" charset="0"/>
                <a:ea typeface="Arial" pitchFamily="34" charset="-122"/>
                <a:cs typeface="Arial" pitchFamily="34" charset="-120"/>
              </a:rPr>
              <a:t>Click icon &gt; Select mode</a:t>
            </a:r>
            <a:endParaRPr lang="en-US" sz="675" dirty="0"/>
          </a:p>
        </p:txBody>
      </p:sp>
      <p:sp>
        <p:nvSpPr>
          <p:cNvPr id="36" name="Text 34"/>
          <p:cNvSpPr/>
          <p:nvPr/>
        </p:nvSpPr>
        <p:spPr>
          <a:xfrm>
            <a:off x="6509742" y="3037433"/>
            <a:ext cx="2177207" cy="539055"/>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37" name="Text 35"/>
          <p:cNvSpPr/>
          <p:nvPr/>
        </p:nvSpPr>
        <p:spPr>
          <a:xfrm>
            <a:off x="6633567" y="3161258"/>
            <a:ext cx="1968148"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1A1F2E"/>
                </a:solidFill>
                <a:latin typeface="Arial" pitchFamily="34" charset="0"/>
                <a:ea typeface="Arial" pitchFamily="34" charset="-122"/>
                <a:cs typeface="Arial" pitchFamily="34" charset="-120"/>
              </a:rPr>
              <a:t>Keyboard</a:t>
            </a:r>
            <a:endParaRPr lang="en-US" sz="750" dirty="0"/>
          </a:p>
        </p:txBody>
      </p:sp>
      <p:sp>
        <p:nvSpPr>
          <p:cNvPr id="38" name="Text 36"/>
          <p:cNvSpPr/>
          <p:nvPr/>
        </p:nvSpPr>
        <p:spPr>
          <a:xfrm>
            <a:off x="6633567" y="3332708"/>
            <a:ext cx="1968148" cy="119955"/>
          </a:xfrm>
          <a:prstGeom prst="rect">
            <a:avLst/>
          </a:prstGeom>
          <a:noFill/>
          <a:ln/>
        </p:spPr>
        <p:txBody>
          <a:bodyPr wrap="square" lIns="0" tIns="0" rIns="0" bIns="0" rtlCol="0" anchor="t"/>
          <a:lstStyle/>
          <a:p>
            <a:pPr algn="l" indent="0" marL="0">
              <a:lnSpc>
                <a:spcPts val="945"/>
              </a:lnSpc>
              <a:buNone/>
            </a:pPr>
            <a:r>
              <a:rPr lang="en-US" sz="675" dirty="0">
                <a:solidFill>
                  <a:srgbClr val="6B7280"/>
                </a:solidFill>
                <a:latin typeface="Arial" pitchFamily="34" charset="0"/>
                <a:ea typeface="Arial" pitchFamily="34" charset="-122"/>
                <a:cs typeface="Arial" pitchFamily="34" charset="-120"/>
              </a:rPr>
              <a:t>Switch modes directly via shortcuts</a:t>
            </a:r>
            <a:endParaRPr lang="en-US" sz="675" dirty="0"/>
          </a:p>
        </p:txBody>
      </p:sp>
      <p:sp>
        <p:nvSpPr>
          <p:cNvPr id="39" name="Text 37"/>
          <p:cNvSpPr/>
          <p:nvPr/>
        </p:nvSpPr>
        <p:spPr>
          <a:xfrm>
            <a:off x="6509742" y="3805089"/>
            <a:ext cx="2177207" cy="430411"/>
          </a:xfrm>
          <a:prstGeom prst="rect">
            <a:avLst/>
          </a:prstGeom>
          <a:solidFill>
            <a:srgbClr val="FEF3C7"/>
          </a:solidFill>
          <a:ln/>
        </p:spPr>
        <p:txBody>
          <a:bodyPr wrap="square" rtlCol="0" anchor="ctr"/>
          <a:lstStyle/>
          <a:p>
            <a:pPr indent="0" marL="0">
              <a:buNone/>
            </a:pPr>
            <a:endParaRPr lang="en-US" dirty="0"/>
          </a:p>
        </p:txBody>
      </p:sp>
      <p:sp>
        <p:nvSpPr>
          <p:cNvPr id="40" name="Shape 38"/>
          <p:cNvSpPr/>
          <p:nvPr/>
        </p:nvSpPr>
        <p:spPr>
          <a:xfrm>
            <a:off x="6528792" y="3805089"/>
            <a:ext cx="0" cy="430411"/>
          </a:xfrm>
          <a:prstGeom prst="line">
            <a:avLst/>
          </a:prstGeom>
          <a:noFill/>
          <a:ln w="38100">
            <a:solidFill>
              <a:srgbClr val="F59E0B"/>
            </a:solidFill>
            <a:prstDash val="solid"/>
          </a:ln>
        </p:spPr>
      </p:sp>
      <p:sp>
        <p:nvSpPr>
          <p:cNvPr id="41" name="Text 39"/>
          <p:cNvSpPr/>
          <p:nvPr/>
        </p:nvSpPr>
        <p:spPr>
          <a:xfrm>
            <a:off x="6643092" y="3900339"/>
            <a:ext cx="1987579" cy="239911"/>
          </a:xfrm>
          <a:prstGeom prst="rect">
            <a:avLst/>
          </a:prstGeom>
          <a:noFill/>
          <a:ln/>
        </p:spPr>
        <p:txBody>
          <a:bodyPr wrap="square" lIns="0" tIns="0" rIns="0" bIns="0" rtlCol="0" anchor="t"/>
          <a:lstStyle/>
          <a:p>
            <a:pPr algn="l" indent="0" marL="0">
              <a:lnSpc>
                <a:spcPts val="945"/>
              </a:lnSpc>
              <a:buNone/>
            </a:pPr>
            <a:r>
              <a:rPr lang="en-US" sz="675" b="1" dirty="0">
                <a:solidFill>
                  <a:srgbClr val="92400E"/>
                </a:solidFill>
                <a:latin typeface="Arial" pitchFamily="34" charset="0"/>
                <a:ea typeface="Arial" pitchFamily="34" charset="-122"/>
                <a:cs typeface="Arial" pitchFamily="34" charset="-120"/>
              </a:rPr>
              <a:t>Note:</a:t>
            </a:r>
            <a:pPr algn="l" indent="0" marL="0">
              <a:lnSpc>
                <a:spcPts val="945"/>
              </a:lnSpc>
              <a:buNone/>
            </a:pPr>
            <a:r>
              <a:rPr lang="en-US" sz="675" dirty="0">
                <a:solidFill>
                  <a:srgbClr val="92400E"/>
                </a:solidFill>
                <a:latin typeface="Arial" pitchFamily="34" charset="0"/>
                <a:ea typeface="Arial" pitchFamily="34" charset="-122"/>
                <a:cs typeface="Arial" pitchFamily="34" charset="-120"/>
              </a:rPr>
              <a:t> Custom/AI modes may use cloud processing. Check settings for local-only options.</a:t>
            </a:r>
            <a:endParaRPr lang="en-US" sz="67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4495800" cy="5143500"/>
          </a:xfrm>
          <a:prstGeom prst="rect">
            <a:avLst/>
          </a:prstGeom>
          <a:solidFill>
            <a:srgbClr val="F7F8FA"/>
          </a:solidFill>
          <a:ln/>
        </p:spPr>
        <p:txBody>
          <a:bodyPr wrap="square" rtlCol="0" anchor="ctr"/>
          <a:lstStyle/>
          <a:p>
            <a:pPr indent="0" marL="0">
              <a:buNone/>
            </a:pPr>
            <a:endParaRPr lang="en-US" dirty="0"/>
          </a:p>
        </p:txBody>
      </p:sp>
      <p:sp>
        <p:nvSpPr>
          <p:cNvPr id="3" name="Text 1"/>
          <p:cNvSpPr/>
          <p:nvPr/>
        </p:nvSpPr>
        <p:spPr>
          <a:xfrm>
            <a:off x="304800" y="342900"/>
            <a:ext cx="584299" cy="300930"/>
          </a:xfrm>
          <a:prstGeom prst="rect">
            <a:avLst/>
          </a:prstGeom>
          <a:solidFill>
            <a:srgbClr val="059669"/>
          </a:solidFill>
          <a:ln/>
        </p:spPr>
        <p:txBody>
          <a:bodyPr wrap="square" rtlCol="0" anchor="ctr"/>
          <a:lstStyle/>
          <a:p>
            <a:pPr indent="0" marL="0">
              <a:buNone/>
            </a:pPr>
            <a:endParaRPr lang="en-US" dirty="0"/>
          </a:p>
        </p:txBody>
      </p:sp>
      <p:sp>
        <p:nvSpPr>
          <p:cNvPr id="4" name="Text 2"/>
          <p:cNvSpPr/>
          <p:nvPr/>
        </p:nvSpPr>
        <p:spPr>
          <a:xfrm>
            <a:off x="419100" y="400050"/>
            <a:ext cx="362813" cy="186630"/>
          </a:xfrm>
          <a:prstGeom prst="rect">
            <a:avLst/>
          </a:prstGeom>
          <a:noFill/>
          <a:ln/>
        </p:spPr>
        <p:txBody>
          <a:bodyPr wrap="square" lIns="0" tIns="0" rIns="0" bIns="0" rtlCol="0" anchor="t"/>
          <a:lstStyle/>
          <a:p>
            <a:pPr algn="l" indent="0" marL="0">
              <a:lnSpc>
                <a:spcPts val="1470"/>
              </a:lnSpc>
              <a:buNone/>
            </a:pPr>
            <a:r>
              <a:rPr lang="en-US" sz="1050" b="1" dirty="0">
                <a:solidFill>
                  <a:srgbClr val="FFFFFF"/>
                </a:solidFill>
                <a:latin typeface="Arial" pitchFamily="34" charset="0"/>
                <a:ea typeface="Arial" pitchFamily="34" charset="-122"/>
                <a:cs typeface="Arial" pitchFamily="34" charset="-120"/>
              </a:rPr>
              <a:t>FREE</a:t>
            </a:r>
            <a:endParaRPr lang="en-US" sz="1050" dirty="0"/>
          </a:p>
        </p:txBody>
      </p:sp>
      <p:sp>
        <p:nvSpPr>
          <p:cNvPr id="5" name="Text 3"/>
          <p:cNvSpPr/>
          <p:nvPr/>
        </p:nvSpPr>
        <p:spPr>
          <a:xfrm>
            <a:off x="984349" y="419993"/>
            <a:ext cx="1087073" cy="146596"/>
          </a:xfrm>
          <a:prstGeom prst="rect">
            <a:avLst/>
          </a:prstGeom>
          <a:noFill/>
          <a:ln/>
        </p:spPr>
        <p:txBody>
          <a:bodyPr wrap="square" lIns="0" tIns="0" rIns="0" bIns="0" rtlCol="0" anchor="t"/>
          <a:lstStyle/>
          <a:p>
            <a:pPr algn="l" indent="0" marL="0">
              <a:lnSpc>
                <a:spcPts val="1155"/>
              </a:lnSpc>
              <a:buNone/>
            </a:pPr>
            <a:r>
              <a:rPr lang="en-US" sz="825" dirty="0">
                <a:solidFill>
                  <a:srgbClr val="6B7280"/>
                </a:solidFill>
                <a:latin typeface="Arial" pitchFamily="34" charset="0"/>
                <a:ea typeface="Arial" pitchFamily="34" charset="-122"/>
                <a:cs typeface="Arial" pitchFamily="34" charset="-120"/>
              </a:rPr>
              <a:t>No credit card required</a:t>
            </a:r>
            <a:endParaRPr lang="en-US" sz="825" dirty="0"/>
          </a:p>
        </p:txBody>
      </p:sp>
      <p:sp>
        <p:nvSpPr>
          <p:cNvPr id="6" name="Text 4"/>
          <p:cNvSpPr/>
          <p:nvPr/>
        </p:nvSpPr>
        <p:spPr>
          <a:xfrm>
            <a:off x="304800" y="948630"/>
            <a:ext cx="3886200" cy="899071"/>
          </a:xfrm>
          <a:prstGeom prst="rect">
            <a:avLst/>
          </a:prstGeom>
          <a:solidFill>
            <a:srgbClr val="FFFFFF"/>
          </a:solidFill>
          <a:ln/>
        </p:spPr>
        <p:txBody>
          <a:bodyPr wrap="square" rtlCol="0" anchor="ctr"/>
          <a:lstStyle/>
          <a:p>
            <a:pPr indent="0" marL="0">
              <a:buNone/>
            </a:pPr>
            <a:endParaRPr lang="en-US" dirty="0"/>
          </a:p>
        </p:txBody>
      </p:sp>
      <p:sp>
        <p:nvSpPr>
          <p:cNvPr id="7" name="Shape 5"/>
          <p:cNvSpPr/>
          <p:nvPr/>
        </p:nvSpPr>
        <p:spPr>
          <a:xfrm>
            <a:off x="323850" y="948630"/>
            <a:ext cx="0" cy="899071"/>
          </a:xfrm>
          <a:prstGeom prst="line">
            <a:avLst/>
          </a:prstGeom>
          <a:noFill/>
          <a:ln w="38100">
            <a:solidFill>
              <a:srgbClr val="059669"/>
            </a:solidFill>
            <a:prstDash val="solid"/>
          </a:ln>
        </p:spPr>
      </p:sp>
      <p:sp>
        <p:nvSpPr>
          <p:cNvPr id="8" name="Text 6"/>
          <p:cNvSpPr/>
          <p:nvPr/>
        </p:nvSpPr>
        <p:spPr>
          <a:xfrm>
            <a:off x="476250" y="1081980"/>
            <a:ext cx="3653028" cy="146596"/>
          </a:xfrm>
          <a:prstGeom prst="rect">
            <a:avLst/>
          </a:prstGeom>
          <a:noFill/>
          <a:ln/>
        </p:spPr>
        <p:txBody>
          <a:bodyPr wrap="square" lIns="0" tIns="0" rIns="0" bIns="0" rtlCol="0" anchor="t"/>
          <a:lstStyle/>
          <a:p>
            <a:pPr algn="l" indent="0" marL="0">
              <a:lnSpc>
                <a:spcPts val="1155"/>
              </a:lnSpc>
              <a:spcAft>
                <a:spcPts val="450"/>
              </a:spcAft>
              <a:buNone/>
            </a:pPr>
            <a:r>
              <a:rPr lang="en-US" sz="825" b="1" dirty="0">
                <a:solidFill>
                  <a:srgbClr val="1A1F2E"/>
                </a:solidFill>
                <a:latin typeface="Arial" pitchFamily="34" charset="0"/>
                <a:ea typeface="Arial" pitchFamily="34" charset="-122"/>
                <a:cs typeface="Arial" pitchFamily="34" charset="-120"/>
              </a:rPr>
              <a:t>Voice Models Included</a:t>
            </a:r>
            <a:endParaRPr lang="en-US" sz="825" dirty="0"/>
          </a:p>
        </p:txBody>
      </p:sp>
      <p:sp>
        <p:nvSpPr>
          <p:cNvPr id="9" name="Text 7"/>
          <p:cNvSpPr/>
          <p:nvPr/>
        </p:nvSpPr>
        <p:spPr>
          <a:xfrm>
            <a:off x="476250" y="1285726"/>
            <a:ext cx="3653028" cy="428625"/>
          </a:xfrm>
          <a:prstGeom prst="rect">
            <a:avLst/>
          </a:prstGeom>
          <a:noFill/>
          <a:ln/>
        </p:spPr>
        <p:txBody>
          <a:bodyPr wrap="square" lIns="0" tIns="0" rIns="0" bIns="0" rtlCol="0" anchor="t"/>
          <a:lstStyle/>
          <a:p>
            <a:pPr algn="l" indent="0" marL="0">
              <a:lnSpc>
                <a:spcPts val="1125"/>
              </a:lnSpc>
              <a:buNone/>
            </a:pPr>
            <a:r>
              <a:rPr lang="en-US" sz="750" dirty="0">
                <a:solidFill>
                  <a:srgbClr val="6B7280"/>
                </a:solidFill>
                <a:latin typeface="Arial" pitchFamily="34" charset="0"/>
                <a:ea typeface="Arial" pitchFamily="34" charset="-122"/>
                <a:cs typeface="Arial" pitchFamily="34" charset="-120"/>
              </a:rPr>
              <a:t>Nano, Fast, Standard</a:t>
            </a:r>
            <a:endParaRPr lang="en-US" sz="750" dirty="0"/>
          </a:p>
          <a:p>
            <a:pPr algn="l" indent="0" marL="0">
              <a:lnSpc>
                <a:spcPts val="1125"/>
              </a:lnSpc>
              <a:buNone/>
            </a:pPr>
            <a:r>
              <a:rPr lang="en-US" sz="750" dirty="0">
                <a:solidFill>
                  <a:srgbClr val="6B7280"/>
                </a:solidFill>
                <a:latin typeface="Arial" pitchFamily="34" charset="0"/>
                <a:ea typeface="Arial" pitchFamily="34" charset="-122"/>
                <a:cs typeface="Arial" pitchFamily="34" charset="-120"/>
              </a:rPr>
              <a:t>All local - data stays on device</a:t>
            </a:r>
            <a:endParaRPr lang="en-US" sz="750" dirty="0"/>
          </a:p>
          <a:p>
            <a:pPr algn="l" indent="0" marL="0">
              <a:lnSpc>
                <a:spcPts val="1125"/>
              </a:lnSpc>
              <a:buNone/>
            </a:pPr>
            <a:r>
              <a:rPr lang="en-US" sz="750" dirty="0">
                <a:solidFill>
                  <a:srgbClr val="6B7280"/>
                </a:solidFill>
                <a:latin typeface="Arial" pitchFamily="34" charset="0"/>
                <a:ea typeface="Arial" pitchFamily="34" charset="-122"/>
                <a:cs typeface="Arial" pitchFamily="34" charset="-120"/>
              </a:rPr>
              <a:t>Unlimited use of these models</a:t>
            </a:r>
            <a:endParaRPr lang="en-US" sz="750" dirty="0"/>
          </a:p>
        </p:txBody>
      </p:sp>
      <p:sp>
        <p:nvSpPr>
          <p:cNvPr id="10" name="Text 8"/>
          <p:cNvSpPr/>
          <p:nvPr/>
        </p:nvSpPr>
        <p:spPr>
          <a:xfrm>
            <a:off x="304800" y="2095351"/>
            <a:ext cx="3886200" cy="1041946"/>
          </a:xfrm>
          <a:prstGeom prst="rect">
            <a:avLst/>
          </a:prstGeom>
          <a:solidFill>
            <a:srgbClr val="FFFFFF"/>
          </a:solidFill>
          <a:ln/>
        </p:spPr>
        <p:txBody>
          <a:bodyPr wrap="square" rtlCol="0" anchor="ctr"/>
          <a:lstStyle/>
          <a:p>
            <a:pPr indent="0" marL="0">
              <a:buNone/>
            </a:pPr>
            <a:endParaRPr lang="en-US" dirty="0"/>
          </a:p>
        </p:txBody>
      </p:sp>
      <p:sp>
        <p:nvSpPr>
          <p:cNvPr id="11" name="Shape 9"/>
          <p:cNvSpPr/>
          <p:nvPr/>
        </p:nvSpPr>
        <p:spPr>
          <a:xfrm>
            <a:off x="323850" y="2095351"/>
            <a:ext cx="0" cy="1041946"/>
          </a:xfrm>
          <a:prstGeom prst="line">
            <a:avLst/>
          </a:prstGeom>
          <a:noFill/>
          <a:ln w="38100">
            <a:solidFill>
              <a:srgbClr val="059669"/>
            </a:solidFill>
            <a:prstDash val="solid"/>
          </a:ln>
        </p:spPr>
      </p:sp>
      <p:sp>
        <p:nvSpPr>
          <p:cNvPr id="12" name="Text 10"/>
          <p:cNvSpPr/>
          <p:nvPr/>
        </p:nvSpPr>
        <p:spPr>
          <a:xfrm>
            <a:off x="476250" y="2228701"/>
            <a:ext cx="3653028" cy="146596"/>
          </a:xfrm>
          <a:prstGeom prst="rect">
            <a:avLst/>
          </a:prstGeom>
          <a:noFill/>
          <a:ln/>
        </p:spPr>
        <p:txBody>
          <a:bodyPr wrap="square" lIns="0" tIns="0" rIns="0" bIns="0" rtlCol="0" anchor="t"/>
          <a:lstStyle/>
          <a:p>
            <a:pPr algn="l" indent="0" marL="0">
              <a:lnSpc>
                <a:spcPts val="1155"/>
              </a:lnSpc>
              <a:spcAft>
                <a:spcPts val="450"/>
              </a:spcAft>
              <a:buNone/>
            </a:pPr>
            <a:r>
              <a:rPr lang="en-US" sz="825" b="1" dirty="0">
                <a:solidFill>
                  <a:srgbClr val="1A1F2E"/>
                </a:solidFill>
                <a:latin typeface="Arial" pitchFamily="34" charset="0"/>
                <a:ea typeface="Arial" pitchFamily="34" charset="-122"/>
                <a:cs typeface="Arial" pitchFamily="34" charset="-120"/>
              </a:rPr>
              <a:t>Features</a:t>
            </a:r>
            <a:endParaRPr lang="en-US" sz="825" dirty="0"/>
          </a:p>
        </p:txBody>
      </p:sp>
      <p:sp>
        <p:nvSpPr>
          <p:cNvPr id="13" name="Text 11"/>
          <p:cNvSpPr/>
          <p:nvPr/>
        </p:nvSpPr>
        <p:spPr>
          <a:xfrm>
            <a:off x="476250" y="2432447"/>
            <a:ext cx="3653028" cy="571500"/>
          </a:xfrm>
          <a:prstGeom prst="rect">
            <a:avLst/>
          </a:prstGeom>
          <a:noFill/>
          <a:ln/>
        </p:spPr>
        <p:txBody>
          <a:bodyPr wrap="square" lIns="0" tIns="0" rIns="0" bIns="0" rtlCol="0" anchor="t"/>
          <a:lstStyle/>
          <a:p>
            <a:pPr algn="l" indent="0" marL="0">
              <a:lnSpc>
                <a:spcPts val="1125"/>
              </a:lnSpc>
              <a:buNone/>
            </a:pPr>
            <a:r>
              <a:rPr lang="en-US" sz="750" dirty="0">
                <a:solidFill>
                  <a:srgbClr val="6B7280"/>
                </a:solidFill>
                <a:latin typeface="Arial" pitchFamily="34" charset="0"/>
                <a:ea typeface="Arial" pitchFamily="34" charset="-122"/>
                <a:cs typeface="Arial" pitchFamily="34" charset="-120"/>
              </a:rPr>
              <a:t>100+ language support</a:t>
            </a:r>
            <a:endParaRPr lang="en-US" sz="750" dirty="0"/>
          </a:p>
          <a:p>
            <a:pPr algn="l" indent="0" marL="0">
              <a:lnSpc>
                <a:spcPts val="1125"/>
              </a:lnSpc>
              <a:buNone/>
            </a:pPr>
            <a:r>
              <a:rPr lang="en-US" sz="750" dirty="0">
                <a:solidFill>
                  <a:srgbClr val="6B7280"/>
                </a:solidFill>
                <a:latin typeface="Arial" pitchFamily="34" charset="0"/>
                <a:ea typeface="Arial" pitchFamily="34" charset="-122"/>
                <a:cs typeface="Arial" pitchFamily="34" charset="-120"/>
              </a:rPr>
              <a:t>Built-in modes (Voice, Super, Note)</a:t>
            </a:r>
            <a:endParaRPr lang="en-US" sz="750" dirty="0"/>
          </a:p>
          <a:p>
            <a:pPr algn="l" indent="0" marL="0">
              <a:lnSpc>
                <a:spcPts val="1125"/>
              </a:lnSpc>
              <a:buNone/>
            </a:pPr>
            <a:r>
              <a:rPr lang="en-US" sz="750" dirty="0">
                <a:solidFill>
                  <a:srgbClr val="6B7280"/>
                </a:solidFill>
                <a:latin typeface="Arial" pitchFamily="34" charset="0"/>
                <a:ea typeface="Arial" pitchFamily="34" charset="-122"/>
                <a:cs typeface="Arial" pitchFamily="34" charset="-120"/>
              </a:rPr>
              <a:t>Up to 3 custom modes</a:t>
            </a:r>
            <a:endParaRPr lang="en-US" sz="750" dirty="0"/>
          </a:p>
          <a:p>
            <a:pPr algn="l" indent="0" marL="0">
              <a:lnSpc>
                <a:spcPts val="1125"/>
              </a:lnSpc>
              <a:buNone/>
            </a:pPr>
            <a:r>
              <a:rPr lang="en-US" sz="750" dirty="0">
                <a:solidFill>
                  <a:srgbClr val="6B7280"/>
                </a:solidFill>
                <a:latin typeface="Arial" pitchFamily="34" charset="0"/>
                <a:ea typeface="Arial" pitchFamily="34" charset="-122"/>
                <a:cs typeface="Arial" pitchFamily="34" charset="-120"/>
              </a:rPr>
              <a:t>Basic hotkey configuration</a:t>
            </a:r>
            <a:endParaRPr lang="en-US" sz="750" dirty="0"/>
          </a:p>
        </p:txBody>
      </p:sp>
      <p:sp>
        <p:nvSpPr>
          <p:cNvPr id="14" name="Text 12"/>
          <p:cNvSpPr/>
          <p:nvPr/>
        </p:nvSpPr>
        <p:spPr>
          <a:xfrm>
            <a:off x="304800" y="3384947"/>
            <a:ext cx="3886200" cy="756196"/>
          </a:xfrm>
          <a:prstGeom prst="rect">
            <a:avLst/>
          </a:prstGeom>
          <a:solidFill>
            <a:srgbClr val="FFFFFF"/>
          </a:solidFill>
          <a:ln/>
        </p:spPr>
        <p:txBody>
          <a:bodyPr wrap="square" rtlCol="0" anchor="ctr"/>
          <a:lstStyle/>
          <a:p>
            <a:pPr indent="0" marL="0">
              <a:buNone/>
            </a:pPr>
            <a:endParaRPr lang="en-US" dirty="0"/>
          </a:p>
        </p:txBody>
      </p:sp>
      <p:sp>
        <p:nvSpPr>
          <p:cNvPr id="15" name="Shape 13"/>
          <p:cNvSpPr/>
          <p:nvPr/>
        </p:nvSpPr>
        <p:spPr>
          <a:xfrm>
            <a:off x="323850" y="3384947"/>
            <a:ext cx="0" cy="756196"/>
          </a:xfrm>
          <a:prstGeom prst="line">
            <a:avLst/>
          </a:prstGeom>
          <a:noFill/>
          <a:ln w="38100">
            <a:solidFill>
              <a:srgbClr val="059669"/>
            </a:solidFill>
            <a:prstDash val="solid"/>
          </a:ln>
        </p:spPr>
      </p:sp>
      <p:sp>
        <p:nvSpPr>
          <p:cNvPr id="16" name="Text 14"/>
          <p:cNvSpPr/>
          <p:nvPr/>
        </p:nvSpPr>
        <p:spPr>
          <a:xfrm>
            <a:off x="476250" y="3518297"/>
            <a:ext cx="3653028" cy="146596"/>
          </a:xfrm>
          <a:prstGeom prst="rect">
            <a:avLst/>
          </a:prstGeom>
          <a:noFill/>
          <a:ln/>
        </p:spPr>
        <p:txBody>
          <a:bodyPr wrap="square" lIns="0" tIns="0" rIns="0" bIns="0" rtlCol="0" anchor="t"/>
          <a:lstStyle/>
          <a:p>
            <a:pPr algn="l" indent="0" marL="0">
              <a:lnSpc>
                <a:spcPts val="1155"/>
              </a:lnSpc>
              <a:spcAft>
                <a:spcPts val="450"/>
              </a:spcAft>
              <a:buNone/>
            </a:pPr>
            <a:r>
              <a:rPr lang="en-US" sz="825" b="1" dirty="0">
                <a:solidFill>
                  <a:srgbClr val="1A1F2E"/>
                </a:solidFill>
                <a:latin typeface="Arial" pitchFamily="34" charset="0"/>
                <a:ea typeface="Arial" pitchFamily="34" charset="-122"/>
                <a:cs typeface="Arial" pitchFamily="34" charset="-120"/>
              </a:rPr>
              <a:t>Trial Included</a:t>
            </a:r>
            <a:endParaRPr lang="en-US" sz="825" dirty="0"/>
          </a:p>
        </p:txBody>
      </p:sp>
      <p:sp>
        <p:nvSpPr>
          <p:cNvPr id="17" name="Text 15"/>
          <p:cNvSpPr/>
          <p:nvPr/>
        </p:nvSpPr>
        <p:spPr>
          <a:xfrm>
            <a:off x="476250" y="3722043"/>
            <a:ext cx="3653028" cy="285750"/>
          </a:xfrm>
          <a:prstGeom prst="rect">
            <a:avLst/>
          </a:prstGeom>
          <a:noFill/>
          <a:ln/>
        </p:spPr>
        <p:txBody>
          <a:bodyPr wrap="square" lIns="0" tIns="0" rIns="0" bIns="0" rtlCol="0" anchor="t"/>
          <a:lstStyle/>
          <a:p>
            <a:pPr algn="l" indent="0" marL="0">
              <a:lnSpc>
                <a:spcPts val="1125"/>
              </a:lnSpc>
              <a:buNone/>
            </a:pPr>
            <a:r>
              <a:rPr lang="en-US" sz="750" dirty="0">
                <a:solidFill>
                  <a:srgbClr val="6B7280"/>
                </a:solidFill>
                <a:latin typeface="Arial" pitchFamily="34" charset="0"/>
                <a:ea typeface="Arial" pitchFamily="34" charset="-122"/>
                <a:cs typeface="Arial" pitchFamily="34" charset="-120"/>
              </a:rPr>
              <a:t>15 minutes of Pro features</a:t>
            </a:r>
            <a:endParaRPr lang="en-US" sz="750" dirty="0"/>
          </a:p>
          <a:p>
            <a:pPr algn="l" indent="0" marL="0">
              <a:lnSpc>
                <a:spcPts val="1125"/>
              </a:lnSpc>
              <a:buNone/>
            </a:pPr>
            <a:r>
              <a:rPr lang="en-US" sz="750" dirty="0">
                <a:solidFill>
                  <a:srgbClr val="6B7280"/>
                </a:solidFill>
                <a:latin typeface="Arial" pitchFamily="34" charset="0"/>
                <a:ea typeface="Arial" pitchFamily="34" charset="-122"/>
                <a:cs typeface="Arial" pitchFamily="34" charset="-120"/>
              </a:rPr>
              <a:t>Test all models before upgrading</a:t>
            </a:r>
            <a:endParaRPr lang="en-US" sz="750" dirty="0"/>
          </a:p>
        </p:txBody>
      </p:sp>
      <p:sp>
        <p:nvSpPr>
          <p:cNvPr id="18" name="Text 16"/>
          <p:cNvSpPr/>
          <p:nvPr/>
        </p:nvSpPr>
        <p:spPr>
          <a:xfrm>
            <a:off x="304800" y="4438650"/>
            <a:ext cx="3886200" cy="361950"/>
          </a:xfrm>
          <a:prstGeom prst="rect">
            <a:avLst/>
          </a:prstGeom>
          <a:solidFill>
            <a:srgbClr val="DCFCE7"/>
          </a:solidFill>
          <a:ln/>
        </p:spPr>
        <p:txBody>
          <a:bodyPr wrap="square" rtlCol="0" anchor="ctr"/>
          <a:lstStyle/>
          <a:p>
            <a:pPr indent="0" marL="0">
              <a:buNone/>
            </a:pPr>
            <a:endParaRPr lang="en-US" dirty="0"/>
          </a:p>
        </p:txBody>
      </p:sp>
      <p:sp>
        <p:nvSpPr>
          <p:cNvPr id="19" name="Text 17"/>
          <p:cNvSpPr/>
          <p:nvPr/>
        </p:nvSpPr>
        <p:spPr>
          <a:xfrm>
            <a:off x="382524" y="4552950"/>
            <a:ext cx="3730752" cy="133350"/>
          </a:xfrm>
          <a:prstGeom prst="rect">
            <a:avLst/>
          </a:prstGeom>
          <a:noFill/>
          <a:ln/>
        </p:spPr>
        <p:txBody>
          <a:bodyPr wrap="square" lIns="0" tIns="0" rIns="0" bIns="0" rtlCol="0" anchor="t"/>
          <a:lstStyle/>
          <a:p>
            <a:pPr algn="ctr" indent="0" marL="0">
              <a:lnSpc>
                <a:spcPts val="1050"/>
              </a:lnSpc>
              <a:buNone/>
            </a:pPr>
            <a:r>
              <a:rPr lang="en-US" sz="750" b="1" dirty="0">
                <a:solidFill>
                  <a:srgbClr val="166534"/>
                </a:solidFill>
                <a:latin typeface="Arial" pitchFamily="34" charset="0"/>
                <a:ea typeface="Arial" pitchFamily="34" charset="-122"/>
                <a:cs typeface="Arial" pitchFamily="34" charset="-120"/>
              </a:rPr>
              <a:t>Government Friendly:</a:t>
            </a:r>
            <a:pPr algn="ctr" indent="0" marL="0">
              <a:lnSpc>
                <a:spcPts val="1050"/>
              </a:lnSpc>
              <a:buNone/>
            </a:pPr>
            <a:r>
              <a:rPr lang="en-US" sz="750" dirty="0">
                <a:solidFill>
                  <a:srgbClr val="166534"/>
                </a:solidFill>
                <a:latin typeface="Arial" pitchFamily="34" charset="0"/>
                <a:ea typeface="Arial" pitchFamily="34" charset="-122"/>
                <a:cs typeface="Arial" pitchFamily="34" charset="-120"/>
              </a:rPr>
              <a:t> Free local models = PHI safe</a:t>
            </a:r>
            <a:endParaRPr lang="en-US" sz="750" dirty="0"/>
          </a:p>
        </p:txBody>
      </p:sp>
      <p:sp>
        <p:nvSpPr>
          <p:cNvPr id="20" name="Text 18"/>
          <p:cNvSpPr/>
          <p:nvPr/>
        </p:nvSpPr>
        <p:spPr>
          <a:xfrm>
            <a:off x="4648200" y="0"/>
            <a:ext cx="4495800" cy="5143500"/>
          </a:xfrm>
          <a:prstGeom prst="rect">
            <a:avLst/>
          </a:prstGeom>
          <a:solidFill>
            <a:srgbClr val="1A1F2E"/>
          </a:solidFill>
          <a:ln/>
        </p:spPr>
        <p:txBody>
          <a:bodyPr wrap="square" rtlCol="0" anchor="ctr"/>
          <a:lstStyle/>
          <a:p>
            <a:pPr indent="0" marL="0">
              <a:buNone/>
            </a:pPr>
            <a:endParaRPr lang="en-US" dirty="0"/>
          </a:p>
        </p:txBody>
      </p:sp>
      <p:sp>
        <p:nvSpPr>
          <p:cNvPr id="21" name="Text 19"/>
          <p:cNvSpPr/>
          <p:nvPr/>
        </p:nvSpPr>
        <p:spPr>
          <a:xfrm>
            <a:off x="4953000" y="225028"/>
            <a:ext cx="517624" cy="300930"/>
          </a:xfrm>
          <a:prstGeom prst="rect">
            <a:avLst/>
          </a:prstGeom>
          <a:solidFill>
            <a:srgbClr val="C9A227"/>
          </a:solidFill>
          <a:ln/>
        </p:spPr>
        <p:txBody>
          <a:bodyPr wrap="square" rtlCol="0" anchor="ctr"/>
          <a:lstStyle/>
          <a:p>
            <a:pPr indent="0" marL="0">
              <a:buNone/>
            </a:pPr>
            <a:endParaRPr lang="en-US" dirty="0"/>
          </a:p>
        </p:txBody>
      </p:sp>
      <p:sp>
        <p:nvSpPr>
          <p:cNvPr id="22" name="Text 20"/>
          <p:cNvSpPr/>
          <p:nvPr/>
        </p:nvSpPr>
        <p:spPr>
          <a:xfrm>
            <a:off x="5067300" y="282178"/>
            <a:ext cx="294805" cy="186630"/>
          </a:xfrm>
          <a:prstGeom prst="rect">
            <a:avLst/>
          </a:prstGeom>
          <a:noFill/>
          <a:ln/>
        </p:spPr>
        <p:txBody>
          <a:bodyPr wrap="square" lIns="0" tIns="0" rIns="0" bIns="0" rtlCol="0" anchor="t"/>
          <a:lstStyle/>
          <a:p>
            <a:pPr algn="l" indent="0" marL="0">
              <a:lnSpc>
                <a:spcPts val="1470"/>
              </a:lnSpc>
              <a:buNone/>
            </a:pPr>
            <a:r>
              <a:rPr lang="en-US" sz="1050" b="1" dirty="0">
                <a:solidFill>
                  <a:srgbClr val="1A1F2E"/>
                </a:solidFill>
                <a:latin typeface="Arial" pitchFamily="34" charset="0"/>
                <a:ea typeface="Arial" pitchFamily="34" charset="-122"/>
                <a:cs typeface="Arial" pitchFamily="34" charset="-120"/>
              </a:rPr>
              <a:t>PRO</a:t>
            </a:r>
            <a:endParaRPr lang="en-US" sz="1050" dirty="0"/>
          </a:p>
        </p:txBody>
      </p:sp>
      <p:sp>
        <p:nvSpPr>
          <p:cNvPr id="23" name="Text 21"/>
          <p:cNvSpPr/>
          <p:nvPr/>
        </p:nvSpPr>
        <p:spPr>
          <a:xfrm>
            <a:off x="5565874" y="302121"/>
            <a:ext cx="1206088" cy="146596"/>
          </a:xfrm>
          <a:prstGeom prst="rect">
            <a:avLst/>
          </a:prstGeom>
          <a:noFill/>
          <a:ln/>
        </p:spPr>
        <p:txBody>
          <a:bodyPr wrap="square" lIns="0" tIns="0" rIns="0" bIns="0" rtlCol="0" anchor="t"/>
          <a:lstStyle/>
          <a:p>
            <a:pPr algn="l" indent="0" marL="0">
              <a:lnSpc>
                <a:spcPts val="1155"/>
              </a:lnSpc>
              <a:buNone/>
            </a:pPr>
            <a:r>
              <a:rPr lang="en-US" sz="825" dirty="0">
                <a:solidFill>
                  <a:srgbClr val="FFFFFF">
                    <a:alpha val="60000"/>
                  </a:srgbClr>
                </a:solidFill>
                <a:latin typeface="Arial" pitchFamily="34" charset="0"/>
                <a:ea typeface="Arial" pitchFamily="34" charset="-122"/>
                <a:cs typeface="Arial" pitchFamily="34" charset="-120"/>
              </a:rPr>
              <a:t>$8.49/mo or $249 lifetime</a:t>
            </a:r>
            <a:endParaRPr lang="en-US" sz="825" dirty="0"/>
          </a:p>
        </p:txBody>
      </p:sp>
      <p:sp>
        <p:nvSpPr>
          <p:cNvPr id="24" name="Text 22"/>
          <p:cNvSpPr/>
          <p:nvPr/>
        </p:nvSpPr>
        <p:spPr>
          <a:xfrm>
            <a:off x="4953000" y="830759"/>
            <a:ext cx="3886200" cy="1041946"/>
          </a:xfrm>
          <a:prstGeom prst="rect">
            <a:avLst/>
          </a:prstGeom>
          <a:solidFill>
            <a:srgbClr val="C9A227">
              <a:alpha val="15000"/>
            </a:srgbClr>
          </a:solidFill>
          <a:ln/>
        </p:spPr>
        <p:txBody>
          <a:bodyPr wrap="square" rtlCol="0" anchor="ctr"/>
          <a:lstStyle/>
          <a:p>
            <a:pPr indent="0" marL="0">
              <a:buNone/>
            </a:pPr>
            <a:endParaRPr lang="en-US" dirty="0"/>
          </a:p>
        </p:txBody>
      </p:sp>
      <p:sp>
        <p:nvSpPr>
          <p:cNvPr id="25" name="Shape 23"/>
          <p:cNvSpPr/>
          <p:nvPr/>
        </p:nvSpPr>
        <p:spPr>
          <a:xfrm>
            <a:off x="4972050" y="830759"/>
            <a:ext cx="0" cy="1041946"/>
          </a:xfrm>
          <a:prstGeom prst="line">
            <a:avLst/>
          </a:prstGeom>
          <a:noFill/>
          <a:ln w="38100">
            <a:solidFill>
              <a:srgbClr val="C9A227"/>
            </a:solidFill>
            <a:prstDash val="solid"/>
          </a:ln>
        </p:spPr>
      </p:sp>
      <p:sp>
        <p:nvSpPr>
          <p:cNvPr id="26" name="Text 24"/>
          <p:cNvSpPr/>
          <p:nvPr/>
        </p:nvSpPr>
        <p:spPr>
          <a:xfrm>
            <a:off x="5124450" y="964109"/>
            <a:ext cx="3653028" cy="146596"/>
          </a:xfrm>
          <a:prstGeom prst="rect">
            <a:avLst/>
          </a:prstGeom>
          <a:noFill/>
          <a:ln/>
        </p:spPr>
        <p:txBody>
          <a:bodyPr wrap="square" lIns="0" tIns="0" rIns="0" bIns="0" rtlCol="0" anchor="t"/>
          <a:lstStyle/>
          <a:p>
            <a:pPr algn="l" indent="0" marL="0">
              <a:lnSpc>
                <a:spcPts val="1155"/>
              </a:lnSpc>
              <a:spcAft>
                <a:spcPts val="450"/>
              </a:spcAft>
              <a:buNone/>
            </a:pPr>
            <a:r>
              <a:rPr lang="en-US" sz="825" b="1" dirty="0">
                <a:solidFill>
                  <a:srgbClr val="C9A227"/>
                </a:solidFill>
                <a:latin typeface="Arial" pitchFamily="34" charset="0"/>
                <a:ea typeface="Arial" pitchFamily="34" charset="-122"/>
                <a:cs typeface="Arial" pitchFamily="34" charset="-120"/>
              </a:rPr>
              <a:t>All Voice Models</a:t>
            </a:r>
            <a:endParaRPr lang="en-US" sz="825" dirty="0"/>
          </a:p>
        </p:txBody>
      </p:sp>
      <p:sp>
        <p:nvSpPr>
          <p:cNvPr id="27" name="Text 25"/>
          <p:cNvSpPr/>
          <p:nvPr/>
        </p:nvSpPr>
        <p:spPr>
          <a:xfrm>
            <a:off x="5124450" y="1167854"/>
            <a:ext cx="3653028" cy="571500"/>
          </a:xfrm>
          <a:prstGeom prst="rect">
            <a:avLst/>
          </a:prstGeom>
          <a:noFill/>
          <a:ln/>
        </p:spPr>
        <p:txBody>
          <a:bodyPr wrap="square" lIns="0" tIns="0" rIns="0" bIns="0" rtlCol="0" anchor="t"/>
          <a:lstStyle/>
          <a:p>
            <a:pPr algn="l" indent="0" marL="0">
              <a:lnSpc>
                <a:spcPts val="1125"/>
              </a:lnSpc>
              <a:buNone/>
            </a:pPr>
            <a:r>
              <a:rPr lang="en-US" sz="750" dirty="0">
                <a:solidFill>
                  <a:srgbClr val="FFFFFF">
                    <a:alpha val="70000"/>
                  </a:srgbClr>
                </a:solidFill>
                <a:latin typeface="Arial" pitchFamily="34" charset="0"/>
                <a:ea typeface="Arial" pitchFamily="34" charset="-122"/>
                <a:cs typeface="Arial" pitchFamily="34" charset="-120"/>
              </a:rPr>
              <a:t>Everything in Free, plus:</a:t>
            </a:r>
            <a:endParaRPr lang="en-US" sz="750" dirty="0"/>
          </a:p>
          <a:p>
            <a:pPr algn="l" indent="0" marL="0">
              <a:lnSpc>
                <a:spcPts val="1125"/>
              </a:lnSpc>
              <a:buNone/>
            </a:pPr>
            <a:r>
              <a:rPr lang="en-US" sz="750" dirty="0">
                <a:solidFill>
                  <a:srgbClr val="FFFFFF">
                    <a:alpha val="70000"/>
                  </a:srgbClr>
                </a:solidFill>
                <a:latin typeface="Arial" pitchFamily="34" charset="0"/>
                <a:ea typeface="Arial" pitchFamily="34" charset="-122"/>
                <a:cs typeface="Arial" pitchFamily="34" charset="-120"/>
              </a:rPr>
              <a:t>Pro, Ultra Turbo V3 (local)</a:t>
            </a:r>
            <a:endParaRPr lang="en-US" sz="750" dirty="0"/>
          </a:p>
          <a:p>
            <a:pPr algn="l" indent="0" marL="0">
              <a:lnSpc>
                <a:spcPts val="1125"/>
              </a:lnSpc>
              <a:buNone/>
            </a:pPr>
            <a:r>
              <a:rPr lang="en-US" sz="750" dirty="0">
                <a:solidFill>
                  <a:srgbClr val="FFFFFF">
                    <a:alpha val="70000"/>
                  </a:srgbClr>
                </a:solidFill>
                <a:latin typeface="Arial" pitchFamily="34" charset="0"/>
                <a:ea typeface="Arial" pitchFamily="34" charset="-122"/>
                <a:cs typeface="Arial" pitchFamily="34" charset="-120"/>
              </a:rPr>
              <a:t>Ultra, Nova (cloud)</a:t>
            </a:r>
            <a:endParaRPr lang="en-US" sz="750" dirty="0"/>
          </a:p>
          <a:p>
            <a:pPr algn="l" indent="0" marL="0">
              <a:lnSpc>
                <a:spcPts val="1125"/>
              </a:lnSpc>
              <a:buNone/>
            </a:pPr>
            <a:r>
              <a:rPr lang="en-US" sz="750" dirty="0">
                <a:solidFill>
                  <a:srgbClr val="FFFFFF">
                    <a:alpha val="70000"/>
                  </a:srgbClr>
                </a:solidFill>
                <a:latin typeface="Arial" pitchFamily="34" charset="0"/>
                <a:ea typeface="Arial" pitchFamily="34" charset="-122"/>
                <a:cs typeface="Arial" pitchFamily="34" charset="-120"/>
              </a:rPr>
              <a:t>Best accuracy and speed options</a:t>
            </a:r>
            <a:endParaRPr lang="en-US" sz="750" dirty="0"/>
          </a:p>
        </p:txBody>
      </p:sp>
      <p:sp>
        <p:nvSpPr>
          <p:cNvPr id="28" name="Text 26"/>
          <p:cNvSpPr/>
          <p:nvPr/>
        </p:nvSpPr>
        <p:spPr>
          <a:xfrm>
            <a:off x="4953000" y="2120354"/>
            <a:ext cx="3886200" cy="1041946"/>
          </a:xfrm>
          <a:prstGeom prst="rect">
            <a:avLst/>
          </a:prstGeom>
          <a:solidFill>
            <a:srgbClr val="C9A227">
              <a:alpha val="15000"/>
            </a:srgbClr>
          </a:solidFill>
          <a:ln/>
        </p:spPr>
        <p:txBody>
          <a:bodyPr wrap="square" rtlCol="0" anchor="ctr"/>
          <a:lstStyle/>
          <a:p>
            <a:pPr indent="0" marL="0">
              <a:buNone/>
            </a:pPr>
            <a:endParaRPr lang="en-US" dirty="0"/>
          </a:p>
        </p:txBody>
      </p:sp>
      <p:sp>
        <p:nvSpPr>
          <p:cNvPr id="29" name="Shape 27"/>
          <p:cNvSpPr/>
          <p:nvPr/>
        </p:nvSpPr>
        <p:spPr>
          <a:xfrm>
            <a:off x="4972050" y="2120354"/>
            <a:ext cx="0" cy="1041946"/>
          </a:xfrm>
          <a:prstGeom prst="line">
            <a:avLst/>
          </a:prstGeom>
          <a:noFill/>
          <a:ln w="38100">
            <a:solidFill>
              <a:srgbClr val="C9A227"/>
            </a:solidFill>
            <a:prstDash val="solid"/>
          </a:ln>
        </p:spPr>
      </p:sp>
      <p:sp>
        <p:nvSpPr>
          <p:cNvPr id="30" name="Text 28"/>
          <p:cNvSpPr/>
          <p:nvPr/>
        </p:nvSpPr>
        <p:spPr>
          <a:xfrm>
            <a:off x="5124450" y="2253704"/>
            <a:ext cx="3653028" cy="146596"/>
          </a:xfrm>
          <a:prstGeom prst="rect">
            <a:avLst/>
          </a:prstGeom>
          <a:noFill/>
          <a:ln/>
        </p:spPr>
        <p:txBody>
          <a:bodyPr wrap="square" lIns="0" tIns="0" rIns="0" bIns="0" rtlCol="0" anchor="t"/>
          <a:lstStyle/>
          <a:p>
            <a:pPr algn="l" indent="0" marL="0">
              <a:lnSpc>
                <a:spcPts val="1155"/>
              </a:lnSpc>
              <a:spcAft>
                <a:spcPts val="450"/>
              </a:spcAft>
              <a:buNone/>
            </a:pPr>
            <a:r>
              <a:rPr lang="en-US" sz="825" b="1" dirty="0">
                <a:solidFill>
                  <a:srgbClr val="C9A227"/>
                </a:solidFill>
                <a:latin typeface="Arial" pitchFamily="34" charset="0"/>
                <a:ea typeface="Arial" pitchFamily="34" charset="-122"/>
                <a:cs typeface="Arial" pitchFamily="34" charset="-120"/>
              </a:rPr>
              <a:t>Additional Features</a:t>
            </a:r>
            <a:endParaRPr lang="en-US" sz="825" dirty="0"/>
          </a:p>
        </p:txBody>
      </p:sp>
      <p:sp>
        <p:nvSpPr>
          <p:cNvPr id="31" name="Text 29"/>
          <p:cNvSpPr/>
          <p:nvPr/>
        </p:nvSpPr>
        <p:spPr>
          <a:xfrm>
            <a:off x="5124450" y="2457450"/>
            <a:ext cx="3653028" cy="571500"/>
          </a:xfrm>
          <a:prstGeom prst="rect">
            <a:avLst/>
          </a:prstGeom>
          <a:noFill/>
          <a:ln/>
        </p:spPr>
        <p:txBody>
          <a:bodyPr wrap="square" lIns="0" tIns="0" rIns="0" bIns="0" rtlCol="0" anchor="t"/>
          <a:lstStyle/>
          <a:p>
            <a:pPr algn="l" indent="0" marL="0">
              <a:lnSpc>
                <a:spcPts val="1125"/>
              </a:lnSpc>
              <a:buNone/>
            </a:pPr>
            <a:r>
              <a:rPr lang="en-US" sz="750" dirty="0">
                <a:solidFill>
                  <a:srgbClr val="FFFFFF">
                    <a:alpha val="70000"/>
                  </a:srgbClr>
                </a:solidFill>
                <a:latin typeface="Arial" pitchFamily="34" charset="0"/>
                <a:ea typeface="Arial" pitchFamily="34" charset="-122"/>
                <a:cs typeface="Arial" pitchFamily="34" charset="-120"/>
              </a:rPr>
              <a:t>Unlimited custom modes</a:t>
            </a:r>
            <a:endParaRPr lang="en-US" sz="750" dirty="0"/>
          </a:p>
          <a:p>
            <a:pPr algn="l" indent="0" marL="0">
              <a:lnSpc>
                <a:spcPts val="1125"/>
              </a:lnSpc>
              <a:buNone/>
            </a:pPr>
            <a:r>
              <a:rPr lang="en-US" sz="750" dirty="0">
                <a:solidFill>
                  <a:srgbClr val="FFFFFF">
                    <a:alpha val="70000"/>
                  </a:srgbClr>
                </a:solidFill>
                <a:latin typeface="Arial" pitchFamily="34" charset="0"/>
                <a:ea typeface="Arial" pitchFamily="34" charset="-122"/>
                <a:cs typeface="Arial" pitchFamily="34" charset="-120"/>
              </a:rPr>
              <a:t>Audio/video file transcription</a:t>
            </a:r>
            <a:endParaRPr lang="en-US" sz="750" dirty="0"/>
          </a:p>
          <a:p>
            <a:pPr algn="l" indent="0" marL="0">
              <a:lnSpc>
                <a:spcPts val="1125"/>
              </a:lnSpc>
              <a:buNone/>
            </a:pPr>
            <a:r>
              <a:rPr lang="en-US" sz="750" dirty="0">
                <a:solidFill>
                  <a:srgbClr val="FFFFFF">
                    <a:alpha val="70000"/>
                  </a:srgbClr>
                </a:solidFill>
                <a:latin typeface="Arial" pitchFamily="34" charset="0"/>
                <a:ea typeface="Arial" pitchFamily="34" charset="-122"/>
                <a:cs typeface="Arial" pitchFamily="34" charset="-120"/>
              </a:rPr>
              <a:t>Translation to English</a:t>
            </a:r>
            <a:endParaRPr lang="en-US" sz="750" dirty="0"/>
          </a:p>
          <a:p>
            <a:pPr algn="l" indent="0" marL="0">
              <a:lnSpc>
                <a:spcPts val="1125"/>
              </a:lnSpc>
              <a:buNone/>
            </a:pPr>
            <a:r>
              <a:rPr lang="en-US" sz="750" dirty="0">
                <a:solidFill>
                  <a:srgbClr val="FFFFFF">
                    <a:alpha val="70000"/>
                  </a:srgbClr>
                </a:solidFill>
                <a:latin typeface="Arial" pitchFamily="34" charset="0"/>
                <a:ea typeface="Arial" pitchFamily="34" charset="-122"/>
                <a:cs typeface="Arial" pitchFamily="34" charset="-120"/>
              </a:rPr>
              <a:t>Priority support</a:t>
            </a:r>
            <a:endParaRPr lang="en-US" sz="750" dirty="0"/>
          </a:p>
        </p:txBody>
      </p:sp>
      <p:sp>
        <p:nvSpPr>
          <p:cNvPr id="32" name="Text 30"/>
          <p:cNvSpPr/>
          <p:nvPr/>
        </p:nvSpPr>
        <p:spPr>
          <a:xfrm>
            <a:off x="4953000" y="3409950"/>
            <a:ext cx="3886200" cy="899071"/>
          </a:xfrm>
          <a:prstGeom prst="rect">
            <a:avLst/>
          </a:prstGeom>
          <a:solidFill>
            <a:srgbClr val="C9A227">
              <a:alpha val="15000"/>
            </a:srgbClr>
          </a:solidFill>
          <a:ln/>
        </p:spPr>
        <p:txBody>
          <a:bodyPr wrap="square" rtlCol="0" anchor="ctr"/>
          <a:lstStyle/>
          <a:p>
            <a:pPr indent="0" marL="0">
              <a:buNone/>
            </a:pPr>
            <a:endParaRPr lang="en-US" dirty="0"/>
          </a:p>
        </p:txBody>
      </p:sp>
      <p:sp>
        <p:nvSpPr>
          <p:cNvPr id="33" name="Shape 31"/>
          <p:cNvSpPr/>
          <p:nvPr/>
        </p:nvSpPr>
        <p:spPr>
          <a:xfrm>
            <a:off x="4972050" y="3409950"/>
            <a:ext cx="0" cy="899071"/>
          </a:xfrm>
          <a:prstGeom prst="line">
            <a:avLst/>
          </a:prstGeom>
          <a:noFill/>
          <a:ln w="38100">
            <a:solidFill>
              <a:srgbClr val="C9A227"/>
            </a:solidFill>
            <a:prstDash val="solid"/>
          </a:ln>
        </p:spPr>
      </p:sp>
      <p:sp>
        <p:nvSpPr>
          <p:cNvPr id="34" name="Text 32"/>
          <p:cNvSpPr/>
          <p:nvPr/>
        </p:nvSpPr>
        <p:spPr>
          <a:xfrm>
            <a:off x="5124450" y="3543300"/>
            <a:ext cx="3653028" cy="146596"/>
          </a:xfrm>
          <a:prstGeom prst="rect">
            <a:avLst/>
          </a:prstGeom>
          <a:noFill/>
          <a:ln/>
        </p:spPr>
        <p:txBody>
          <a:bodyPr wrap="square" lIns="0" tIns="0" rIns="0" bIns="0" rtlCol="0" anchor="t"/>
          <a:lstStyle/>
          <a:p>
            <a:pPr algn="l" indent="0" marL="0">
              <a:lnSpc>
                <a:spcPts val="1155"/>
              </a:lnSpc>
              <a:spcAft>
                <a:spcPts val="450"/>
              </a:spcAft>
              <a:buNone/>
            </a:pPr>
            <a:r>
              <a:rPr lang="en-US" sz="825" b="1" dirty="0">
                <a:solidFill>
                  <a:srgbClr val="C9A227"/>
                </a:solidFill>
                <a:latin typeface="Arial" pitchFamily="34" charset="0"/>
                <a:ea typeface="Arial" pitchFamily="34" charset="-122"/>
                <a:cs typeface="Arial" pitchFamily="34" charset="-120"/>
              </a:rPr>
              <a:t>Platform Coverage</a:t>
            </a:r>
            <a:endParaRPr lang="en-US" sz="825" dirty="0"/>
          </a:p>
        </p:txBody>
      </p:sp>
      <p:sp>
        <p:nvSpPr>
          <p:cNvPr id="35" name="Text 33"/>
          <p:cNvSpPr/>
          <p:nvPr/>
        </p:nvSpPr>
        <p:spPr>
          <a:xfrm>
            <a:off x="5124450" y="3747046"/>
            <a:ext cx="3653028" cy="428625"/>
          </a:xfrm>
          <a:prstGeom prst="rect">
            <a:avLst/>
          </a:prstGeom>
          <a:noFill/>
          <a:ln/>
        </p:spPr>
        <p:txBody>
          <a:bodyPr wrap="square" lIns="0" tIns="0" rIns="0" bIns="0" rtlCol="0" anchor="t"/>
          <a:lstStyle/>
          <a:p>
            <a:pPr algn="l" indent="0" marL="0">
              <a:lnSpc>
                <a:spcPts val="1125"/>
              </a:lnSpc>
              <a:buNone/>
            </a:pPr>
            <a:r>
              <a:rPr lang="en-US" sz="750" dirty="0">
                <a:solidFill>
                  <a:srgbClr val="FFFFFF">
                    <a:alpha val="70000"/>
                  </a:srgbClr>
                </a:solidFill>
                <a:latin typeface="Arial" pitchFamily="34" charset="0"/>
                <a:ea typeface="Arial" pitchFamily="34" charset="-122"/>
                <a:cs typeface="Arial" pitchFamily="34" charset="-120"/>
              </a:rPr>
              <a:t>One license covers:</a:t>
            </a:r>
            <a:endParaRPr lang="en-US" sz="750" dirty="0"/>
          </a:p>
          <a:p>
            <a:pPr algn="l" indent="0" marL="0">
              <a:lnSpc>
                <a:spcPts val="1125"/>
              </a:lnSpc>
              <a:buNone/>
            </a:pPr>
            <a:r>
              <a:rPr lang="en-US" sz="750" dirty="0">
                <a:solidFill>
                  <a:srgbClr val="FFFFFF">
                    <a:alpha val="70000"/>
                  </a:srgbClr>
                </a:solidFill>
                <a:latin typeface="Arial" pitchFamily="34" charset="0"/>
                <a:ea typeface="Arial" pitchFamily="34" charset="-122"/>
                <a:cs typeface="Arial" pitchFamily="34" charset="-120"/>
              </a:rPr>
              <a:t>Mac + Windows + iOS</a:t>
            </a:r>
            <a:endParaRPr lang="en-US" sz="750" dirty="0"/>
          </a:p>
          <a:p>
            <a:pPr algn="l" indent="0" marL="0">
              <a:lnSpc>
                <a:spcPts val="1125"/>
              </a:lnSpc>
              <a:buNone/>
            </a:pPr>
            <a:r>
              <a:rPr lang="en-US" sz="750" dirty="0">
                <a:solidFill>
                  <a:srgbClr val="FFFFFF">
                    <a:alpha val="70000"/>
                  </a:srgbClr>
                </a:solidFill>
                <a:latin typeface="Arial" pitchFamily="34" charset="0"/>
                <a:ea typeface="Arial" pitchFamily="34" charset="-122"/>
                <a:cs typeface="Arial" pitchFamily="34" charset="-120"/>
              </a:rPr>
              <a:t>Sync across all devices</a:t>
            </a:r>
            <a:endParaRPr lang="en-US" sz="750" dirty="0"/>
          </a:p>
        </p:txBody>
      </p:sp>
      <p:sp>
        <p:nvSpPr>
          <p:cNvPr id="36" name="Text 34"/>
          <p:cNvSpPr/>
          <p:nvPr/>
        </p:nvSpPr>
        <p:spPr>
          <a:xfrm>
            <a:off x="4953000" y="4556671"/>
            <a:ext cx="3886200" cy="361950"/>
          </a:xfrm>
          <a:prstGeom prst="rect">
            <a:avLst/>
          </a:prstGeom>
          <a:solidFill>
            <a:srgbClr val="C9A227"/>
          </a:solidFill>
          <a:ln/>
        </p:spPr>
        <p:txBody>
          <a:bodyPr wrap="square" rtlCol="0" anchor="ctr"/>
          <a:lstStyle/>
          <a:p>
            <a:pPr indent="0" marL="0">
              <a:buNone/>
            </a:pPr>
            <a:endParaRPr lang="en-US" dirty="0"/>
          </a:p>
        </p:txBody>
      </p:sp>
      <p:sp>
        <p:nvSpPr>
          <p:cNvPr id="37" name="Text 35"/>
          <p:cNvSpPr/>
          <p:nvPr/>
        </p:nvSpPr>
        <p:spPr>
          <a:xfrm>
            <a:off x="5030724" y="4670971"/>
            <a:ext cx="3730752" cy="133350"/>
          </a:xfrm>
          <a:prstGeom prst="rect">
            <a:avLst/>
          </a:prstGeom>
          <a:noFill/>
          <a:ln/>
        </p:spPr>
        <p:txBody>
          <a:bodyPr wrap="square" lIns="0" tIns="0" rIns="0" bIns="0" rtlCol="0" anchor="t"/>
          <a:lstStyle/>
          <a:p>
            <a:pPr algn="ctr" indent="0" marL="0">
              <a:lnSpc>
                <a:spcPts val="1050"/>
              </a:lnSpc>
              <a:buNone/>
            </a:pPr>
            <a:r>
              <a:rPr lang="en-US" sz="750" b="1" dirty="0">
                <a:solidFill>
                  <a:srgbClr val="1A1F2E"/>
                </a:solidFill>
                <a:latin typeface="Arial" pitchFamily="34" charset="0"/>
                <a:ea typeface="Arial" pitchFamily="34" charset="-122"/>
                <a:cs typeface="Arial" pitchFamily="34" charset="-120"/>
              </a:rPr>
              <a:t>Best Value:</a:t>
            </a:r>
            <a:pPr algn="ctr" indent="0" marL="0">
              <a:lnSpc>
                <a:spcPts val="1050"/>
              </a:lnSpc>
              <a:buNone/>
            </a:pPr>
            <a:r>
              <a:rPr lang="en-US" sz="750" dirty="0">
                <a:solidFill>
                  <a:srgbClr val="1A1F2E"/>
                </a:solidFill>
                <a:latin typeface="Arial" pitchFamily="34" charset="0"/>
                <a:ea typeface="Arial" pitchFamily="34" charset="-122"/>
                <a:cs typeface="Arial" pitchFamily="34" charset="-120"/>
              </a:rPr>
              <a:t> Lifetime = ~2.5 years of monthly</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A1F2E"/>
        </a:solidFill>
      </p:bgPr>
    </p:bg>
    <p:spTree>
      <p:nvGrpSpPr>
        <p:cNvPr id="1" name=""/>
        <p:cNvGrpSpPr/>
        <p:nvPr/>
      </p:nvGrpSpPr>
      <p:grpSpPr>
        <a:xfrm>
          <a:off x="0" y="0"/>
          <a:ext cx="0" cy="0"/>
          <a:chOff x="0" y="0"/>
          <a:chExt cx="0" cy="0"/>
        </a:xfrm>
      </p:grpSpPr>
      <p:sp>
        <p:nvSpPr>
          <p:cNvPr id="2" name="Text 0"/>
          <p:cNvSpPr/>
          <p:nvPr/>
        </p:nvSpPr>
        <p:spPr>
          <a:xfrm>
            <a:off x="457200" y="266700"/>
            <a:ext cx="8394192" cy="146596"/>
          </a:xfrm>
          <a:prstGeom prst="rect">
            <a:avLst/>
          </a:prstGeom>
          <a:noFill/>
          <a:ln/>
        </p:spPr>
        <p:txBody>
          <a:bodyPr wrap="square" lIns="0" tIns="0" rIns="0" bIns="0" rtlCol="0" anchor="t"/>
          <a:lstStyle/>
          <a:p>
            <a:pPr algn="l" indent="0" marL="0">
              <a:lnSpc>
                <a:spcPts val="1155"/>
              </a:lnSpc>
              <a:spcAft>
                <a:spcPts val="450"/>
              </a:spcAft>
              <a:buNone/>
            </a:pPr>
            <a:r>
              <a:rPr lang="en-US" sz="825" dirty="0">
                <a:solidFill>
                  <a:srgbClr val="C9A227"/>
                </a:solidFill>
                <a:latin typeface="Arial" pitchFamily="34" charset="0"/>
                <a:ea typeface="Arial" pitchFamily="34" charset="-122"/>
                <a:cs typeface="Arial" pitchFamily="34" charset="-120"/>
              </a:rPr>
              <a:t>PRO TIPS</a:t>
            </a:r>
            <a:endParaRPr lang="en-US" sz="825" dirty="0"/>
          </a:p>
        </p:txBody>
      </p:sp>
      <p:sp>
        <p:nvSpPr>
          <p:cNvPr id="3" name="Text 1"/>
          <p:cNvSpPr/>
          <p:nvPr/>
        </p:nvSpPr>
        <p:spPr>
          <a:xfrm>
            <a:off x="457200" y="470446"/>
            <a:ext cx="4469130" cy="266700"/>
          </a:xfrm>
          <a:prstGeom prst="rect">
            <a:avLst/>
          </a:prstGeom>
          <a:noFill/>
          <a:ln/>
        </p:spPr>
        <p:txBody>
          <a:bodyPr wrap="square" lIns="0" tIns="0" rIns="0" bIns="0" rtlCol="0" anchor="t"/>
          <a:lstStyle/>
          <a:p>
            <a:pPr algn="l" indent="0" marL="0">
              <a:lnSpc>
                <a:spcPts val="2100"/>
              </a:lnSpc>
              <a:buNone/>
            </a:pPr>
            <a:r>
              <a:rPr lang="en-US" sz="2100" dirty="0">
                <a:solidFill>
                  <a:srgbClr val="FFFFFF"/>
                </a:solidFill>
                <a:latin typeface="Georgia" pitchFamily="34" charset="0"/>
                <a:ea typeface="Georgia" pitchFamily="34" charset="-122"/>
                <a:cs typeface="Georgia" pitchFamily="34" charset="-120"/>
              </a:rPr>
              <a:t>Getting the Most from SuperWhisper</a:t>
            </a:r>
            <a:endParaRPr lang="en-US" sz="2100" dirty="0"/>
          </a:p>
        </p:txBody>
      </p:sp>
      <p:sp>
        <p:nvSpPr>
          <p:cNvPr id="4" name="Text 2"/>
          <p:cNvSpPr/>
          <p:nvPr/>
        </p:nvSpPr>
        <p:spPr>
          <a:xfrm>
            <a:off x="457200" y="1295102"/>
            <a:ext cx="1957388" cy="1986558"/>
          </a:xfrm>
          <a:prstGeom prst="rect">
            <a:avLst/>
          </a:prstGeom>
          <a:solidFill>
            <a:srgbClr val="252B3D"/>
          </a:solidFill>
          <a:ln/>
        </p:spPr>
        <p:txBody>
          <a:bodyPr wrap="square" rtlCol="0" anchor="ctr"/>
          <a:lstStyle/>
          <a:p>
            <a:pPr indent="0" marL="0">
              <a:buNone/>
            </a:pPr>
            <a:endParaRPr lang="en-US" dirty="0"/>
          </a:p>
        </p:txBody>
      </p:sp>
      <p:sp>
        <p:nvSpPr>
          <p:cNvPr id="5" name="Text 3"/>
          <p:cNvSpPr/>
          <p:nvPr/>
        </p:nvSpPr>
        <p:spPr>
          <a:xfrm>
            <a:off x="628650" y="1466552"/>
            <a:ext cx="304800" cy="304800"/>
          </a:xfrm>
          <a:prstGeom prst="rect">
            <a:avLst/>
          </a:prstGeom>
          <a:solidFill>
            <a:srgbClr val="C9A227"/>
          </a:solidFill>
          <a:ln/>
        </p:spPr>
        <p:txBody>
          <a:bodyPr wrap="square" rtlCol="0" anchor="ctr"/>
          <a:lstStyle/>
          <a:p>
            <a:pPr indent="0" marL="0">
              <a:buNone/>
            </a:pPr>
            <a:endParaRPr lang="en-US" dirty="0"/>
          </a:p>
        </p:txBody>
      </p:sp>
      <p:sp>
        <p:nvSpPr>
          <p:cNvPr id="6" name="Text 4"/>
          <p:cNvSpPr/>
          <p:nvPr/>
        </p:nvSpPr>
        <p:spPr>
          <a:xfrm>
            <a:off x="752326" y="1525637"/>
            <a:ext cx="58445" cy="186630"/>
          </a:xfrm>
          <a:prstGeom prst="rect">
            <a:avLst/>
          </a:prstGeom>
          <a:noFill/>
          <a:ln/>
        </p:spPr>
        <p:txBody>
          <a:bodyPr wrap="square" lIns="0" tIns="0" rIns="0" bIns="0" rtlCol="0" anchor="t"/>
          <a:lstStyle/>
          <a:p>
            <a:pPr algn="l" indent="0" marL="0">
              <a:lnSpc>
                <a:spcPts val="1470"/>
              </a:lnSpc>
              <a:buNone/>
            </a:pPr>
            <a:r>
              <a:rPr lang="en-US" sz="1050" dirty="0">
                <a:solidFill>
                  <a:srgbClr val="1A1F2E"/>
                </a:solidFill>
                <a:latin typeface="Georgia" pitchFamily="34" charset="0"/>
                <a:ea typeface="Georgia" pitchFamily="34" charset="-122"/>
                <a:cs typeface="Georgia" pitchFamily="34" charset="-120"/>
              </a:rPr>
              <a:t>1</a:t>
            </a:r>
            <a:endParaRPr lang="en-US" sz="1050" dirty="0"/>
          </a:p>
        </p:txBody>
      </p:sp>
      <p:sp>
        <p:nvSpPr>
          <p:cNvPr id="7" name="Text 5"/>
          <p:cNvSpPr/>
          <p:nvPr/>
        </p:nvSpPr>
        <p:spPr>
          <a:xfrm>
            <a:off x="628650" y="2038052"/>
            <a:ext cx="1646777" cy="173236"/>
          </a:xfrm>
          <a:prstGeom prst="rect">
            <a:avLst/>
          </a:prstGeom>
          <a:noFill/>
          <a:ln/>
        </p:spPr>
        <p:txBody>
          <a:bodyPr wrap="square" lIns="0" tIns="0" rIns="0" bIns="0" rtlCol="0" anchor="t"/>
          <a:lstStyle/>
          <a:p>
            <a:pPr algn="l" indent="0" marL="0">
              <a:lnSpc>
                <a:spcPts val="1365"/>
              </a:lnSpc>
              <a:spcAft>
                <a:spcPts val="600"/>
              </a:spcAft>
              <a:buNone/>
            </a:pPr>
            <a:r>
              <a:rPr lang="en-US" sz="975" dirty="0">
                <a:solidFill>
                  <a:srgbClr val="FFFFFF"/>
                </a:solidFill>
                <a:latin typeface="Georgia" pitchFamily="34" charset="0"/>
                <a:ea typeface="Georgia" pitchFamily="34" charset="-122"/>
                <a:cs typeface="Georgia" pitchFamily="34" charset="-120"/>
              </a:rPr>
              <a:t>Speak Naturally</a:t>
            </a:r>
            <a:endParaRPr lang="en-US" sz="975" dirty="0"/>
          </a:p>
        </p:txBody>
      </p:sp>
      <p:sp>
        <p:nvSpPr>
          <p:cNvPr id="8" name="Text 6"/>
          <p:cNvSpPr/>
          <p:nvPr/>
        </p:nvSpPr>
        <p:spPr>
          <a:xfrm>
            <a:off x="628650" y="2439888"/>
            <a:ext cx="1646777" cy="670322"/>
          </a:xfrm>
          <a:prstGeom prst="rect">
            <a:avLst/>
          </a:prstGeom>
          <a:noFill/>
          <a:ln/>
        </p:spPr>
        <p:txBody>
          <a:bodyPr wrap="square" lIns="0" tIns="0" rIns="0" bIns="0" rtlCol="0" anchor="t"/>
          <a:lstStyle/>
          <a:p>
            <a:pPr algn="l" indent="0" marL="0">
              <a:lnSpc>
                <a:spcPts val="1320"/>
              </a:lnSpc>
              <a:buNone/>
            </a:pPr>
            <a:r>
              <a:rPr lang="en-US" sz="825" dirty="0">
                <a:solidFill>
                  <a:srgbClr val="FFFFFF">
                    <a:alpha val="60000"/>
                  </a:srgbClr>
                </a:solidFill>
                <a:latin typeface="Arial" pitchFamily="34" charset="0"/>
                <a:ea typeface="Arial" pitchFamily="34" charset="-122"/>
                <a:cs typeface="Arial" pitchFamily="34" charset="-120"/>
              </a:rPr>
              <a:t>Talk at a conversational pace. Whisper handles natural speech patterns, pauses, and filler words gracefully.</a:t>
            </a:r>
            <a:endParaRPr lang="en-US" sz="825" dirty="0"/>
          </a:p>
        </p:txBody>
      </p:sp>
      <p:sp>
        <p:nvSpPr>
          <p:cNvPr id="9" name="Text 7"/>
          <p:cNvSpPr/>
          <p:nvPr/>
        </p:nvSpPr>
        <p:spPr>
          <a:xfrm>
            <a:off x="2547938" y="1295102"/>
            <a:ext cx="1957388" cy="1986558"/>
          </a:xfrm>
          <a:prstGeom prst="rect">
            <a:avLst/>
          </a:prstGeom>
          <a:solidFill>
            <a:srgbClr val="252B3D"/>
          </a:solidFill>
          <a:ln/>
        </p:spPr>
        <p:txBody>
          <a:bodyPr wrap="square" rtlCol="0" anchor="ctr"/>
          <a:lstStyle/>
          <a:p>
            <a:pPr indent="0" marL="0">
              <a:buNone/>
            </a:pPr>
            <a:endParaRPr lang="en-US" dirty="0"/>
          </a:p>
        </p:txBody>
      </p:sp>
      <p:sp>
        <p:nvSpPr>
          <p:cNvPr id="10" name="Text 8"/>
          <p:cNvSpPr/>
          <p:nvPr/>
        </p:nvSpPr>
        <p:spPr>
          <a:xfrm>
            <a:off x="2719388" y="1466552"/>
            <a:ext cx="304800" cy="304800"/>
          </a:xfrm>
          <a:prstGeom prst="rect">
            <a:avLst/>
          </a:prstGeom>
          <a:solidFill>
            <a:srgbClr val="C9A227"/>
          </a:solidFill>
          <a:ln/>
        </p:spPr>
        <p:txBody>
          <a:bodyPr wrap="square" rtlCol="0" anchor="ctr"/>
          <a:lstStyle/>
          <a:p>
            <a:pPr indent="0" marL="0">
              <a:buNone/>
            </a:pPr>
            <a:endParaRPr lang="en-US" dirty="0"/>
          </a:p>
        </p:txBody>
      </p:sp>
      <p:sp>
        <p:nvSpPr>
          <p:cNvPr id="11" name="Text 9"/>
          <p:cNvSpPr/>
          <p:nvPr/>
        </p:nvSpPr>
        <p:spPr>
          <a:xfrm>
            <a:off x="2834432" y="1525637"/>
            <a:ext cx="76054" cy="186630"/>
          </a:xfrm>
          <a:prstGeom prst="rect">
            <a:avLst/>
          </a:prstGeom>
          <a:noFill/>
          <a:ln/>
        </p:spPr>
        <p:txBody>
          <a:bodyPr wrap="square" lIns="0" tIns="0" rIns="0" bIns="0" rtlCol="0" anchor="t"/>
          <a:lstStyle/>
          <a:p>
            <a:pPr algn="l" indent="0" marL="0">
              <a:lnSpc>
                <a:spcPts val="1470"/>
              </a:lnSpc>
              <a:buNone/>
            </a:pPr>
            <a:r>
              <a:rPr lang="en-US" sz="1050" dirty="0">
                <a:solidFill>
                  <a:srgbClr val="1A1F2E"/>
                </a:solidFill>
                <a:latin typeface="Georgia" pitchFamily="34" charset="0"/>
                <a:ea typeface="Georgia" pitchFamily="34" charset="-122"/>
                <a:cs typeface="Georgia" pitchFamily="34" charset="-120"/>
              </a:rPr>
              <a:t>2</a:t>
            </a:r>
            <a:endParaRPr lang="en-US" sz="1050" dirty="0"/>
          </a:p>
        </p:txBody>
      </p:sp>
      <p:sp>
        <p:nvSpPr>
          <p:cNvPr id="12" name="Text 10"/>
          <p:cNvSpPr/>
          <p:nvPr/>
        </p:nvSpPr>
        <p:spPr>
          <a:xfrm>
            <a:off x="2719388" y="2038052"/>
            <a:ext cx="1646777" cy="173236"/>
          </a:xfrm>
          <a:prstGeom prst="rect">
            <a:avLst/>
          </a:prstGeom>
          <a:noFill/>
          <a:ln/>
        </p:spPr>
        <p:txBody>
          <a:bodyPr wrap="square" lIns="0" tIns="0" rIns="0" bIns="0" rtlCol="0" anchor="t"/>
          <a:lstStyle/>
          <a:p>
            <a:pPr algn="l" indent="0" marL="0">
              <a:lnSpc>
                <a:spcPts val="1365"/>
              </a:lnSpc>
              <a:spcAft>
                <a:spcPts val="600"/>
              </a:spcAft>
              <a:buNone/>
            </a:pPr>
            <a:r>
              <a:rPr lang="en-US" sz="975" dirty="0">
                <a:solidFill>
                  <a:srgbClr val="FFFFFF"/>
                </a:solidFill>
                <a:latin typeface="Georgia" pitchFamily="34" charset="0"/>
                <a:ea typeface="Georgia" pitchFamily="34" charset="-122"/>
                <a:cs typeface="Georgia" pitchFamily="34" charset="-120"/>
              </a:rPr>
              <a:t>Use Pauses Strategically</a:t>
            </a:r>
            <a:endParaRPr lang="en-US" sz="975" dirty="0"/>
          </a:p>
        </p:txBody>
      </p:sp>
      <p:sp>
        <p:nvSpPr>
          <p:cNvPr id="13" name="Text 11"/>
          <p:cNvSpPr/>
          <p:nvPr/>
        </p:nvSpPr>
        <p:spPr>
          <a:xfrm>
            <a:off x="2719388" y="2439888"/>
            <a:ext cx="1646777" cy="670322"/>
          </a:xfrm>
          <a:prstGeom prst="rect">
            <a:avLst/>
          </a:prstGeom>
          <a:noFill/>
          <a:ln/>
        </p:spPr>
        <p:txBody>
          <a:bodyPr wrap="square" lIns="0" tIns="0" rIns="0" bIns="0" rtlCol="0" anchor="t"/>
          <a:lstStyle/>
          <a:p>
            <a:pPr algn="l" indent="0" marL="0">
              <a:lnSpc>
                <a:spcPts val="1320"/>
              </a:lnSpc>
              <a:buNone/>
            </a:pPr>
            <a:r>
              <a:rPr lang="en-US" sz="825" dirty="0">
                <a:solidFill>
                  <a:srgbClr val="FFFFFF">
                    <a:alpha val="60000"/>
                  </a:srgbClr>
                </a:solidFill>
                <a:latin typeface="Arial" pitchFamily="34" charset="0"/>
                <a:ea typeface="Arial" pitchFamily="34" charset="-122"/>
                <a:cs typeface="Arial" pitchFamily="34" charset="-120"/>
              </a:rPr>
              <a:t>Brief pauses help with punctuation. Longer pauses (2-3 sec) often trigger paragraph breaks automatically.</a:t>
            </a:r>
            <a:endParaRPr lang="en-US" sz="825" dirty="0"/>
          </a:p>
        </p:txBody>
      </p:sp>
      <p:sp>
        <p:nvSpPr>
          <p:cNvPr id="14" name="Text 12"/>
          <p:cNvSpPr/>
          <p:nvPr/>
        </p:nvSpPr>
        <p:spPr>
          <a:xfrm>
            <a:off x="4638675" y="1295102"/>
            <a:ext cx="1957388" cy="1986558"/>
          </a:xfrm>
          <a:prstGeom prst="rect">
            <a:avLst/>
          </a:prstGeom>
          <a:solidFill>
            <a:srgbClr val="252B3D"/>
          </a:solidFill>
          <a:ln/>
        </p:spPr>
        <p:txBody>
          <a:bodyPr wrap="square" rtlCol="0" anchor="ctr"/>
          <a:lstStyle/>
          <a:p>
            <a:pPr indent="0" marL="0">
              <a:buNone/>
            </a:pPr>
            <a:endParaRPr lang="en-US" dirty="0"/>
          </a:p>
        </p:txBody>
      </p:sp>
      <p:sp>
        <p:nvSpPr>
          <p:cNvPr id="15" name="Text 13"/>
          <p:cNvSpPr/>
          <p:nvPr/>
        </p:nvSpPr>
        <p:spPr>
          <a:xfrm>
            <a:off x="4810125" y="1466552"/>
            <a:ext cx="304800" cy="304800"/>
          </a:xfrm>
          <a:prstGeom prst="rect">
            <a:avLst/>
          </a:prstGeom>
          <a:solidFill>
            <a:srgbClr val="C9A227"/>
          </a:solidFill>
          <a:ln/>
        </p:spPr>
        <p:txBody>
          <a:bodyPr wrap="square" rtlCol="0" anchor="ctr"/>
          <a:lstStyle/>
          <a:p>
            <a:pPr indent="0" marL="0">
              <a:buNone/>
            </a:pPr>
            <a:endParaRPr lang="en-US" dirty="0"/>
          </a:p>
        </p:txBody>
      </p:sp>
      <p:sp>
        <p:nvSpPr>
          <p:cNvPr id="16" name="Text 14"/>
          <p:cNvSpPr/>
          <p:nvPr/>
        </p:nvSpPr>
        <p:spPr>
          <a:xfrm>
            <a:off x="4925616" y="1525637"/>
            <a:ext cx="75143" cy="186630"/>
          </a:xfrm>
          <a:prstGeom prst="rect">
            <a:avLst/>
          </a:prstGeom>
          <a:noFill/>
          <a:ln/>
        </p:spPr>
        <p:txBody>
          <a:bodyPr wrap="square" lIns="0" tIns="0" rIns="0" bIns="0" rtlCol="0" anchor="t"/>
          <a:lstStyle/>
          <a:p>
            <a:pPr algn="l" indent="0" marL="0">
              <a:lnSpc>
                <a:spcPts val="1470"/>
              </a:lnSpc>
              <a:buNone/>
            </a:pPr>
            <a:r>
              <a:rPr lang="en-US" sz="1050" dirty="0">
                <a:solidFill>
                  <a:srgbClr val="1A1F2E"/>
                </a:solidFill>
                <a:latin typeface="Georgia" pitchFamily="34" charset="0"/>
                <a:ea typeface="Georgia" pitchFamily="34" charset="-122"/>
                <a:cs typeface="Georgia" pitchFamily="34" charset="-120"/>
              </a:rPr>
              <a:t>3</a:t>
            </a:r>
            <a:endParaRPr lang="en-US" sz="1050" dirty="0"/>
          </a:p>
        </p:txBody>
      </p:sp>
      <p:sp>
        <p:nvSpPr>
          <p:cNvPr id="17" name="Text 15"/>
          <p:cNvSpPr/>
          <p:nvPr/>
        </p:nvSpPr>
        <p:spPr>
          <a:xfrm>
            <a:off x="4810125" y="2038052"/>
            <a:ext cx="1646777" cy="173236"/>
          </a:xfrm>
          <a:prstGeom prst="rect">
            <a:avLst/>
          </a:prstGeom>
          <a:noFill/>
          <a:ln/>
        </p:spPr>
        <p:txBody>
          <a:bodyPr wrap="square" lIns="0" tIns="0" rIns="0" bIns="0" rtlCol="0" anchor="t"/>
          <a:lstStyle/>
          <a:p>
            <a:pPr algn="l" indent="0" marL="0">
              <a:lnSpc>
                <a:spcPts val="1365"/>
              </a:lnSpc>
              <a:spcAft>
                <a:spcPts val="600"/>
              </a:spcAft>
              <a:buNone/>
            </a:pPr>
            <a:r>
              <a:rPr lang="en-US" sz="975" dirty="0">
                <a:solidFill>
                  <a:srgbClr val="FFFFFF"/>
                </a:solidFill>
                <a:latin typeface="Georgia" pitchFamily="34" charset="0"/>
                <a:ea typeface="Georgia" pitchFamily="34" charset="-122"/>
                <a:cs typeface="Georgia" pitchFamily="34" charset="-120"/>
              </a:rPr>
              <a:t>Custom Vocabulary</a:t>
            </a:r>
            <a:endParaRPr lang="en-US" sz="975" dirty="0"/>
          </a:p>
        </p:txBody>
      </p:sp>
      <p:sp>
        <p:nvSpPr>
          <p:cNvPr id="18" name="Text 16"/>
          <p:cNvSpPr/>
          <p:nvPr/>
        </p:nvSpPr>
        <p:spPr>
          <a:xfrm>
            <a:off x="4810125" y="2439888"/>
            <a:ext cx="1646777" cy="670322"/>
          </a:xfrm>
          <a:prstGeom prst="rect">
            <a:avLst/>
          </a:prstGeom>
          <a:noFill/>
          <a:ln/>
        </p:spPr>
        <p:txBody>
          <a:bodyPr wrap="square" lIns="0" tIns="0" rIns="0" bIns="0" rtlCol="0" anchor="t"/>
          <a:lstStyle/>
          <a:p>
            <a:pPr algn="l" indent="0" marL="0">
              <a:lnSpc>
                <a:spcPts val="1320"/>
              </a:lnSpc>
              <a:buNone/>
            </a:pPr>
            <a:r>
              <a:rPr lang="en-US" sz="825" dirty="0">
                <a:solidFill>
                  <a:srgbClr val="FFFFFF">
                    <a:alpha val="60000"/>
                  </a:srgbClr>
                </a:solidFill>
                <a:latin typeface="Arial" pitchFamily="34" charset="0"/>
                <a:ea typeface="Arial" pitchFamily="34" charset="-122"/>
                <a:cs typeface="Arial" pitchFamily="34" charset="-120"/>
              </a:rPr>
              <a:t>Add technical terms, project names, and acronyms to improve recognition of domain-specific language.</a:t>
            </a:r>
            <a:endParaRPr lang="en-US" sz="825" dirty="0"/>
          </a:p>
        </p:txBody>
      </p:sp>
      <p:sp>
        <p:nvSpPr>
          <p:cNvPr id="19" name="Text 17"/>
          <p:cNvSpPr/>
          <p:nvPr/>
        </p:nvSpPr>
        <p:spPr>
          <a:xfrm>
            <a:off x="6729413" y="1295102"/>
            <a:ext cx="1957388" cy="1986558"/>
          </a:xfrm>
          <a:prstGeom prst="rect">
            <a:avLst/>
          </a:prstGeom>
          <a:solidFill>
            <a:srgbClr val="252B3D"/>
          </a:solidFill>
          <a:ln/>
        </p:spPr>
        <p:txBody>
          <a:bodyPr wrap="square" rtlCol="0" anchor="ctr"/>
          <a:lstStyle/>
          <a:p>
            <a:pPr indent="0" marL="0">
              <a:buNone/>
            </a:pPr>
            <a:endParaRPr lang="en-US" dirty="0"/>
          </a:p>
        </p:txBody>
      </p:sp>
      <p:sp>
        <p:nvSpPr>
          <p:cNvPr id="20" name="Text 18"/>
          <p:cNvSpPr/>
          <p:nvPr/>
        </p:nvSpPr>
        <p:spPr>
          <a:xfrm>
            <a:off x="6900863" y="1466552"/>
            <a:ext cx="304800" cy="304800"/>
          </a:xfrm>
          <a:prstGeom prst="rect">
            <a:avLst/>
          </a:prstGeom>
          <a:solidFill>
            <a:srgbClr val="C9A227"/>
          </a:solidFill>
          <a:ln/>
        </p:spPr>
        <p:txBody>
          <a:bodyPr wrap="square" rtlCol="0" anchor="ctr"/>
          <a:lstStyle/>
          <a:p>
            <a:pPr indent="0" marL="0">
              <a:buNone/>
            </a:pPr>
            <a:endParaRPr lang="en-US" dirty="0"/>
          </a:p>
        </p:txBody>
      </p:sp>
      <p:sp>
        <p:nvSpPr>
          <p:cNvPr id="21" name="Text 19"/>
          <p:cNvSpPr/>
          <p:nvPr/>
        </p:nvSpPr>
        <p:spPr>
          <a:xfrm>
            <a:off x="7015460" y="1525637"/>
            <a:ext cx="76965" cy="186630"/>
          </a:xfrm>
          <a:prstGeom prst="rect">
            <a:avLst/>
          </a:prstGeom>
          <a:noFill/>
          <a:ln/>
        </p:spPr>
        <p:txBody>
          <a:bodyPr wrap="square" lIns="0" tIns="0" rIns="0" bIns="0" rtlCol="0" anchor="t"/>
          <a:lstStyle/>
          <a:p>
            <a:pPr algn="l" indent="0" marL="0">
              <a:lnSpc>
                <a:spcPts val="1470"/>
              </a:lnSpc>
              <a:buNone/>
            </a:pPr>
            <a:r>
              <a:rPr lang="en-US" sz="1050" dirty="0">
                <a:solidFill>
                  <a:srgbClr val="1A1F2E"/>
                </a:solidFill>
                <a:latin typeface="Georgia" pitchFamily="34" charset="0"/>
                <a:ea typeface="Georgia" pitchFamily="34" charset="-122"/>
                <a:cs typeface="Georgia" pitchFamily="34" charset="-120"/>
              </a:rPr>
              <a:t>4</a:t>
            </a:r>
            <a:endParaRPr lang="en-US" sz="1050" dirty="0"/>
          </a:p>
        </p:txBody>
      </p:sp>
      <p:sp>
        <p:nvSpPr>
          <p:cNvPr id="22" name="Text 20"/>
          <p:cNvSpPr/>
          <p:nvPr/>
        </p:nvSpPr>
        <p:spPr>
          <a:xfrm>
            <a:off x="6900863" y="2038052"/>
            <a:ext cx="1646777" cy="173236"/>
          </a:xfrm>
          <a:prstGeom prst="rect">
            <a:avLst/>
          </a:prstGeom>
          <a:noFill/>
          <a:ln/>
        </p:spPr>
        <p:txBody>
          <a:bodyPr wrap="square" lIns="0" tIns="0" rIns="0" bIns="0" rtlCol="0" anchor="t"/>
          <a:lstStyle/>
          <a:p>
            <a:pPr algn="l" indent="0" marL="0">
              <a:lnSpc>
                <a:spcPts val="1365"/>
              </a:lnSpc>
              <a:spcAft>
                <a:spcPts val="600"/>
              </a:spcAft>
              <a:buNone/>
            </a:pPr>
            <a:r>
              <a:rPr lang="en-US" sz="975" dirty="0">
                <a:solidFill>
                  <a:srgbClr val="FFFFFF"/>
                </a:solidFill>
                <a:latin typeface="Georgia" pitchFamily="34" charset="0"/>
                <a:ea typeface="Georgia" pitchFamily="34" charset="-122"/>
                <a:cs typeface="Georgia" pitchFamily="34" charset="-120"/>
              </a:rPr>
              <a:t>Master the Hotkey</a:t>
            </a:r>
            <a:endParaRPr lang="en-US" sz="975" dirty="0"/>
          </a:p>
        </p:txBody>
      </p:sp>
      <p:sp>
        <p:nvSpPr>
          <p:cNvPr id="23" name="Text 21"/>
          <p:cNvSpPr/>
          <p:nvPr/>
        </p:nvSpPr>
        <p:spPr>
          <a:xfrm>
            <a:off x="6900863" y="2439888"/>
            <a:ext cx="1646777" cy="670322"/>
          </a:xfrm>
          <a:prstGeom prst="rect">
            <a:avLst/>
          </a:prstGeom>
          <a:noFill/>
          <a:ln/>
        </p:spPr>
        <p:txBody>
          <a:bodyPr wrap="square" lIns="0" tIns="0" rIns="0" bIns="0" rtlCol="0" anchor="t"/>
          <a:lstStyle/>
          <a:p>
            <a:pPr algn="l" indent="0" marL="0">
              <a:lnSpc>
                <a:spcPts val="1320"/>
              </a:lnSpc>
              <a:buNone/>
            </a:pPr>
            <a:r>
              <a:rPr lang="en-US" sz="825" dirty="0">
                <a:solidFill>
                  <a:srgbClr val="FFFFFF">
                    <a:alpha val="60000"/>
                  </a:srgbClr>
                </a:solidFill>
                <a:latin typeface="Arial" pitchFamily="34" charset="0"/>
                <a:ea typeface="Arial" pitchFamily="34" charset="-122"/>
                <a:cs typeface="Arial" pitchFamily="34" charset="-120"/>
              </a:rPr>
              <a:t>Mac: Hold Fn key to record</a:t>
            </a:r>
            <a:endParaRPr lang="en-US" sz="825" dirty="0"/>
          </a:p>
          <a:p>
            <a:pPr algn="l" indent="0" marL="0">
              <a:lnSpc>
                <a:spcPts val="1320"/>
              </a:lnSpc>
              <a:buNone/>
            </a:pPr>
            <a:r>
              <a:rPr lang="en-US" sz="825" dirty="0">
                <a:solidFill>
                  <a:srgbClr val="FFFFFF">
                    <a:alpha val="60000"/>
                  </a:srgbClr>
                </a:solidFill>
                <a:latin typeface="Arial" pitchFamily="34" charset="0"/>
                <a:ea typeface="Arial" pitchFamily="34" charset="-122"/>
                <a:cs typeface="Arial" pitchFamily="34" charset="-120"/>
              </a:rPr>
              <a:t>Windows: Ctrl+Shift+Space</a:t>
            </a:r>
            <a:endParaRPr lang="en-US" sz="825" dirty="0"/>
          </a:p>
          <a:p>
            <a:pPr algn="l" indent="0" marL="0">
              <a:lnSpc>
                <a:spcPts val="1320"/>
              </a:lnSpc>
              <a:buNone/>
            </a:pPr>
            <a:r>
              <a:rPr lang="en-US" sz="825" dirty="0">
                <a:solidFill>
                  <a:srgbClr val="FFFFFF">
                    <a:alpha val="60000"/>
                  </a:srgbClr>
                </a:solidFill>
                <a:latin typeface="Arial" pitchFamily="34" charset="0"/>
                <a:ea typeface="Arial" pitchFamily="34" charset="-122"/>
                <a:cs typeface="Arial" pitchFamily="34" charset="-120"/>
              </a:rPr>
              <a:t>Customize in preferences for comfort.</a:t>
            </a:r>
            <a:endParaRPr lang="en-US" sz="825" dirty="0"/>
          </a:p>
        </p:txBody>
      </p:sp>
      <p:sp>
        <p:nvSpPr>
          <p:cNvPr id="24" name="Text 22"/>
          <p:cNvSpPr/>
          <p:nvPr/>
        </p:nvSpPr>
        <p:spPr>
          <a:xfrm>
            <a:off x="457200" y="3915817"/>
            <a:ext cx="2660600" cy="960983"/>
          </a:xfrm>
          <a:prstGeom prst="rect">
            <a:avLst/>
          </a:prstGeom>
          <a:solidFill>
            <a:srgbClr val="C9A227">
              <a:alpha val="15000"/>
            </a:srgbClr>
          </a:solidFill>
          <a:ln w="9525">
            <a:solidFill>
              <a:srgbClr val="C9A227"/>
            </a:solidFill>
          </a:ln>
        </p:spPr>
        <p:txBody>
          <a:bodyPr wrap="square" rtlCol="0" anchor="ctr"/>
          <a:lstStyle/>
          <a:p>
            <a:pPr indent="0" marL="0">
              <a:buNone/>
            </a:pPr>
            <a:endParaRPr lang="en-US" dirty="0"/>
          </a:p>
        </p:txBody>
      </p:sp>
      <p:sp>
        <p:nvSpPr>
          <p:cNvPr id="25" name="Text 23"/>
          <p:cNvSpPr/>
          <p:nvPr/>
        </p:nvSpPr>
        <p:spPr>
          <a:xfrm>
            <a:off x="600075" y="4058692"/>
            <a:ext cx="2422347" cy="146596"/>
          </a:xfrm>
          <a:prstGeom prst="rect">
            <a:avLst/>
          </a:prstGeom>
          <a:noFill/>
          <a:ln/>
        </p:spPr>
        <p:txBody>
          <a:bodyPr wrap="square" lIns="0" tIns="0" rIns="0" bIns="0" rtlCol="0" anchor="t"/>
          <a:lstStyle/>
          <a:p>
            <a:pPr algn="l" indent="0" marL="0">
              <a:lnSpc>
                <a:spcPts val="1155"/>
              </a:lnSpc>
              <a:spcAft>
                <a:spcPts val="450"/>
              </a:spcAft>
              <a:buNone/>
            </a:pPr>
            <a:r>
              <a:rPr lang="en-US" sz="825" b="1" dirty="0">
                <a:solidFill>
                  <a:srgbClr val="C9A227"/>
                </a:solidFill>
                <a:latin typeface="Arial" pitchFamily="34" charset="0"/>
                <a:ea typeface="Arial" pitchFamily="34" charset="-122"/>
                <a:cs typeface="Arial" pitchFamily="34" charset="-120"/>
              </a:rPr>
              <a:t>QUICK TIP: PUNCTUATION</a:t>
            </a:r>
            <a:endParaRPr lang="en-US" sz="825" dirty="0"/>
          </a:p>
        </p:txBody>
      </p:sp>
      <p:sp>
        <p:nvSpPr>
          <p:cNvPr id="26" name="Text 24"/>
          <p:cNvSpPr/>
          <p:nvPr/>
        </p:nvSpPr>
        <p:spPr>
          <a:xfrm>
            <a:off x="600075" y="4262438"/>
            <a:ext cx="2422347" cy="471488"/>
          </a:xfrm>
          <a:prstGeom prst="rect">
            <a:avLst/>
          </a:prstGeom>
          <a:noFill/>
          <a:ln/>
        </p:spPr>
        <p:txBody>
          <a:bodyPr wrap="square" lIns="0" tIns="0" rIns="0" bIns="0" rtlCol="0" anchor="t"/>
          <a:lstStyle/>
          <a:p>
            <a:pPr algn="l" indent="0" marL="0">
              <a:lnSpc>
                <a:spcPts val="1238"/>
              </a:lnSpc>
              <a:buNone/>
            </a:pPr>
            <a:r>
              <a:rPr lang="en-US" sz="825" dirty="0">
                <a:solidFill>
                  <a:srgbClr val="FFFFFF">
                    <a:alpha val="70000"/>
                  </a:srgbClr>
                </a:solidFill>
                <a:latin typeface="Arial" pitchFamily="34" charset="0"/>
                <a:ea typeface="Arial" pitchFamily="34" charset="-122"/>
                <a:cs typeface="Arial" pitchFamily="34" charset="-120"/>
              </a:rPr>
              <a:t>Say "period", "comma", "question mark" for explicit punctuation. Or let Whisper auto-punctuate based on context.</a:t>
            </a:r>
            <a:endParaRPr lang="en-US" sz="825" dirty="0"/>
          </a:p>
        </p:txBody>
      </p:sp>
      <p:sp>
        <p:nvSpPr>
          <p:cNvPr id="27" name="Text 25"/>
          <p:cNvSpPr/>
          <p:nvPr/>
        </p:nvSpPr>
        <p:spPr>
          <a:xfrm>
            <a:off x="3251150" y="3915817"/>
            <a:ext cx="2660600" cy="960983"/>
          </a:xfrm>
          <a:prstGeom prst="rect">
            <a:avLst/>
          </a:prstGeom>
          <a:solidFill>
            <a:srgbClr val="C9A227">
              <a:alpha val="15000"/>
            </a:srgbClr>
          </a:solidFill>
          <a:ln w="9525">
            <a:solidFill>
              <a:srgbClr val="C9A227"/>
            </a:solidFill>
          </a:ln>
        </p:spPr>
        <p:txBody>
          <a:bodyPr wrap="square" rtlCol="0" anchor="ctr"/>
          <a:lstStyle/>
          <a:p>
            <a:pPr indent="0" marL="0">
              <a:buNone/>
            </a:pPr>
            <a:endParaRPr lang="en-US" dirty="0"/>
          </a:p>
        </p:txBody>
      </p:sp>
      <p:sp>
        <p:nvSpPr>
          <p:cNvPr id="28" name="Text 26"/>
          <p:cNvSpPr/>
          <p:nvPr/>
        </p:nvSpPr>
        <p:spPr>
          <a:xfrm>
            <a:off x="3394025" y="4058692"/>
            <a:ext cx="2422347" cy="146596"/>
          </a:xfrm>
          <a:prstGeom prst="rect">
            <a:avLst/>
          </a:prstGeom>
          <a:noFill/>
          <a:ln/>
        </p:spPr>
        <p:txBody>
          <a:bodyPr wrap="square" lIns="0" tIns="0" rIns="0" bIns="0" rtlCol="0" anchor="t"/>
          <a:lstStyle/>
          <a:p>
            <a:pPr algn="l" indent="0" marL="0">
              <a:lnSpc>
                <a:spcPts val="1155"/>
              </a:lnSpc>
              <a:spcAft>
                <a:spcPts val="450"/>
              </a:spcAft>
              <a:buNone/>
            </a:pPr>
            <a:r>
              <a:rPr lang="en-US" sz="825" b="1" dirty="0">
                <a:solidFill>
                  <a:srgbClr val="C9A227"/>
                </a:solidFill>
                <a:latin typeface="Arial" pitchFamily="34" charset="0"/>
                <a:ea typeface="Arial" pitchFamily="34" charset="-122"/>
                <a:cs typeface="Arial" pitchFamily="34" charset="-120"/>
              </a:rPr>
              <a:t>QUICK TIP: ENVIRONMENT</a:t>
            </a:r>
            <a:endParaRPr lang="en-US" sz="825" dirty="0"/>
          </a:p>
        </p:txBody>
      </p:sp>
      <p:sp>
        <p:nvSpPr>
          <p:cNvPr id="29" name="Text 27"/>
          <p:cNvSpPr/>
          <p:nvPr/>
        </p:nvSpPr>
        <p:spPr>
          <a:xfrm>
            <a:off x="3394025" y="4262438"/>
            <a:ext cx="2422347" cy="471488"/>
          </a:xfrm>
          <a:prstGeom prst="rect">
            <a:avLst/>
          </a:prstGeom>
          <a:noFill/>
          <a:ln/>
        </p:spPr>
        <p:txBody>
          <a:bodyPr wrap="square" lIns="0" tIns="0" rIns="0" bIns="0" rtlCol="0" anchor="t"/>
          <a:lstStyle/>
          <a:p>
            <a:pPr algn="l" indent="0" marL="0">
              <a:lnSpc>
                <a:spcPts val="1238"/>
              </a:lnSpc>
              <a:buNone/>
            </a:pPr>
            <a:r>
              <a:rPr lang="en-US" sz="825" dirty="0">
                <a:solidFill>
                  <a:srgbClr val="FFFFFF">
                    <a:alpha val="70000"/>
                  </a:srgbClr>
                </a:solidFill>
                <a:latin typeface="Arial" pitchFamily="34" charset="0"/>
                <a:ea typeface="Arial" pitchFamily="34" charset="-122"/>
                <a:cs typeface="Arial" pitchFamily="34" charset="-120"/>
              </a:rPr>
              <a:t>Quiet environment helps accuracy. A good microphone matters more than model size for clarity.</a:t>
            </a:r>
            <a:endParaRPr lang="en-US" sz="825" dirty="0"/>
          </a:p>
        </p:txBody>
      </p:sp>
      <p:sp>
        <p:nvSpPr>
          <p:cNvPr id="30" name="Text 28"/>
          <p:cNvSpPr/>
          <p:nvPr/>
        </p:nvSpPr>
        <p:spPr>
          <a:xfrm>
            <a:off x="6045101" y="4003923"/>
            <a:ext cx="2641550" cy="784771"/>
          </a:xfrm>
          <a:prstGeom prst="rect">
            <a:avLst/>
          </a:prstGeom>
          <a:solidFill>
            <a:srgbClr val="059669"/>
          </a:solidFill>
          <a:ln/>
        </p:spPr>
        <p:txBody>
          <a:bodyPr wrap="square" rtlCol="0" anchor="ctr"/>
          <a:lstStyle/>
          <a:p>
            <a:pPr indent="0" marL="0">
              <a:buNone/>
            </a:pPr>
            <a:endParaRPr lang="en-US" dirty="0"/>
          </a:p>
        </p:txBody>
      </p:sp>
      <p:sp>
        <p:nvSpPr>
          <p:cNvPr id="31" name="Text 29"/>
          <p:cNvSpPr/>
          <p:nvPr/>
        </p:nvSpPr>
        <p:spPr>
          <a:xfrm>
            <a:off x="6178451" y="4137273"/>
            <a:ext cx="2422347" cy="146596"/>
          </a:xfrm>
          <a:prstGeom prst="rect">
            <a:avLst/>
          </a:prstGeom>
          <a:noFill/>
          <a:ln/>
        </p:spPr>
        <p:txBody>
          <a:bodyPr wrap="square" lIns="0" tIns="0" rIns="0" bIns="0" rtlCol="0" anchor="t"/>
          <a:lstStyle/>
          <a:p>
            <a:pPr algn="l" indent="0" marL="0">
              <a:lnSpc>
                <a:spcPts val="1155"/>
              </a:lnSpc>
              <a:spcAft>
                <a:spcPts val="450"/>
              </a:spcAft>
              <a:buNone/>
            </a:pPr>
            <a:r>
              <a:rPr lang="en-US" sz="825" b="1" dirty="0">
                <a:solidFill>
                  <a:srgbClr val="FFFFFF"/>
                </a:solidFill>
                <a:latin typeface="Arial" pitchFamily="34" charset="0"/>
                <a:ea typeface="Arial" pitchFamily="34" charset="-122"/>
                <a:cs typeface="Arial" pitchFamily="34" charset="-120"/>
              </a:rPr>
              <a:t>KEYBOARD SHORTCUTS</a:t>
            </a:r>
            <a:endParaRPr lang="en-US" sz="825" dirty="0"/>
          </a:p>
        </p:txBody>
      </p:sp>
      <p:sp>
        <p:nvSpPr>
          <p:cNvPr id="32" name="Text 30"/>
          <p:cNvSpPr/>
          <p:nvPr/>
        </p:nvSpPr>
        <p:spPr>
          <a:xfrm>
            <a:off x="6178451" y="4341019"/>
            <a:ext cx="2422347" cy="314325"/>
          </a:xfrm>
          <a:prstGeom prst="rect">
            <a:avLst/>
          </a:prstGeom>
          <a:noFill/>
          <a:ln/>
        </p:spPr>
        <p:txBody>
          <a:bodyPr wrap="square" lIns="0" tIns="0" rIns="0" bIns="0" rtlCol="0" anchor="t"/>
          <a:lstStyle/>
          <a:p>
            <a:pPr algn="l" indent="0" marL="0">
              <a:lnSpc>
                <a:spcPts val="1238"/>
              </a:lnSpc>
              <a:buNone/>
            </a:pPr>
            <a:r>
              <a:rPr lang="en-US" sz="825" dirty="0">
                <a:solidFill>
                  <a:srgbClr val="FFFFFF">
                    <a:alpha val="90000"/>
                  </a:srgbClr>
                </a:solidFill>
                <a:latin typeface="Arial" pitchFamily="34" charset="0"/>
                <a:ea typeface="Arial" pitchFamily="34" charset="-122"/>
                <a:cs typeface="Arial" pitchFamily="34" charset="-120"/>
              </a:rPr>
              <a:t>Escape = Cancel recording</a:t>
            </a:r>
            <a:endParaRPr lang="en-US" sz="825" dirty="0"/>
          </a:p>
          <a:p>
            <a:pPr algn="l" indent="0" marL="0">
              <a:lnSpc>
                <a:spcPts val="1238"/>
              </a:lnSpc>
              <a:buNone/>
            </a:pPr>
            <a:r>
              <a:rPr lang="en-US" sz="825" dirty="0">
                <a:solidFill>
                  <a:srgbClr val="FFFFFF">
                    <a:alpha val="90000"/>
                  </a:srgbClr>
                </a:solidFill>
                <a:latin typeface="Arial" pitchFamily="34" charset="0"/>
                <a:ea typeface="Arial" pitchFamily="34" charset="-122"/>
                <a:cs typeface="Arial" pitchFamily="34" charset="-120"/>
              </a:rPr>
              <a:t>Check Preferences for full shortcut list</a:t>
            </a:r>
            <a:endParaRPr lang="en-US" sz="82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5213896" cy="5143500"/>
          </a:xfrm>
          <a:prstGeom prst="rect">
            <a:avLst/>
          </a:prstGeom>
          <a:solidFill>
            <a:srgbClr val="F7F8FA"/>
          </a:solidFill>
          <a:ln/>
        </p:spPr>
        <p:txBody>
          <a:bodyPr wrap="square" rtlCol="0" anchor="ctr"/>
          <a:lstStyle/>
          <a:p>
            <a:pPr indent="0" marL="0">
              <a:buNone/>
            </a:pPr>
            <a:endParaRPr lang="en-US" dirty="0"/>
          </a:p>
        </p:txBody>
      </p:sp>
      <p:sp>
        <p:nvSpPr>
          <p:cNvPr id="3" name="Text 1"/>
          <p:cNvSpPr/>
          <p:nvPr/>
        </p:nvSpPr>
        <p:spPr>
          <a:xfrm>
            <a:off x="342900" y="532507"/>
            <a:ext cx="2041166" cy="146596"/>
          </a:xfrm>
          <a:prstGeom prst="rect">
            <a:avLst/>
          </a:prstGeom>
          <a:noFill/>
          <a:ln/>
        </p:spPr>
        <p:txBody>
          <a:bodyPr wrap="square" lIns="0" tIns="0" rIns="0" bIns="0" rtlCol="0" anchor="t"/>
          <a:lstStyle/>
          <a:p>
            <a:pPr algn="l" indent="0" marL="0">
              <a:lnSpc>
                <a:spcPts val="1155"/>
              </a:lnSpc>
              <a:buNone/>
            </a:pPr>
            <a:r>
              <a:rPr lang="en-US" sz="825" dirty="0">
                <a:solidFill>
                  <a:srgbClr val="C9A227"/>
                </a:solidFill>
                <a:latin typeface="Arial" pitchFamily="34" charset="0"/>
                <a:ea typeface="Arial" pitchFamily="34" charset="-122"/>
                <a:cs typeface="Arial" pitchFamily="34" charset="-120"/>
              </a:rPr>
              <a:t>CROSS-PLATFORM OPTION</a:t>
            </a:r>
            <a:endParaRPr lang="en-US" sz="825" dirty="0"/>
          </a:p>
        </p:txBody>
      </p:sp>
      <p:sp>
        <p:nvSpPr>
          <p:cNvPr id="4" name="Text 2"/>
          <p:cNvSpPr/>
          <p:nvPr/>
        </p:nvSpPr>
        <p:spPr>
          <a:xfrm>
            <a:off x="2420243" y="517327"/>
            <a:ext cx="971550" cy="177105"/>
          </a:xfrm>
          <a:prstGeom prst="rect">
            <a:avLst/>
          </a:prstGeom>
          <a:solidFill>
            <a:srgbClr val="DCFCE7"/>
          </a:solidFill>
          <a:ln/>
        </p:spPr>
        <p:txBody>
          <a:bodyPr wrap="square" rtlCol="0" anchor="ctr"/>
          <a:lstStyle/>
          <a:p>
            <a:pPr indent="0" marL="0">
              <a:buNone/>
            </a:pPr>
            <a:endParaRPr lang="en-US" dirty="0"/>
          </a:p>
        </p:txBody>
      </p:sp>
      <p:sp>
        <p:nvSpPr>
          <p:cNvPr id="5" name="Text 3"/>
          <p:cNvSpPr/>
          <p:nvPr/>
        </p:nvSpPr>
        <p:spPr>
          <a:xfrm>
            <a:off x="2496443" y="545902"/>
            <a:ext cx="835533" cy="119955"/>
          </a:xfrm>
          <a:prstGeom prst="rect">
            <a:avLst/>
          </a:prstGeom>
          <a:noFill/>
          <a:ln/>
        </p:spPr>
        <p:txBody>
          <a:bodyPr wrap="square" lIns="0" tIns="0" rIns="0" bIns="0" rtlCol="0" anchor="t"/>
          <a:lstStyle/>
          <a:p>
            <a:pPr algn="l" indent="0" marL="0">
              <a:lnSpc>
                <a:spcPts val="945"/>
              </a:lnSpc>
              <a:buNone/>
            </a:pPr>
            <a:r>
              <a:rPr lang="en-US" sz="675" b="1" dirty="0">
                <a:solidFill>
                  <a:srgbClr val="166534"/>
                </a:solidFill>
                <a:latin typeface="Arial" pitchFamily="34" charset="0"/>
                <a:ea typeface="Arial" pitchFamily="34" charset="-122"/>
                <a:cs typeface="Arial" pitchFamily="34" charset="-120"/>
              </a:rPr>
              <a:t>NOW ON WINDOWS</a:t>
            </a:r>
            <a:endParaRPr lang="en-US" sz="675" dirty="0"/>
          </a:p>
        </p:txBody>
      </p:sp>
      <p:sp>
        <p:nvSpPr>
          <p:cNvPr id="6" name="Text 4"/>
          <p:cNvSpPr/>
          <p:nvPr/>
        </p:nvSpPr>
        <p:spPr>
          <a:xfrm>
            <a:off x="342900" y="903982"/>
            <a:ext cx="2312289" cy="304800"/>
          </a:xfrm>
          <a:prstGeom prst="rect">
            <a:avLst/>
          </a:prstGeom>
          <a:noFill/>
          <a:ln/>
        </p:spPr>
        <p:txBody>
          <a:bodyPr wrap="square" lIns="0" tIns="0" rIns="0" bIns="0" rtlCol="0" anchor="t"/>
          <a:lstStyle/>
          <a:p>
            <a:pPr algn="l" indent="0" marL="0">
              <a:lnSpc>
                <a:spcPts val="2400"/>
              </a:lnSpc>
              <a:spcAft>
                <a:spcPts val="450"/>
              </a:spcAft>
              <a:buNone/>
            </a:pPr>
            <a:r>
              <a:rPr lang="en-US" sz="2400" dirty="0">
                <a:solidFill>
                  <a:srgbClr val="1A1F2E"/>
                </a:solidFill>
                <a:latin typeface="Georgia" pitchFamily="34" charset="0"/>
                <a:ea typeface="Georgia" pitchFamily="34" charset="-122"/>
                <a:cs typeface="Georgia" pitchFamily="34" charset="-120"/>
              </a:rPr>
              <a:t>Wispr Flow</a:t>
            </a:r>
            <a:endParaRPr lang="en-US" sz="2400" dirty="0"/>
          </a:p>
        </p:txBody>
      </p:sp>
      <p:sp>
        <p:nvSpPr>
          <p:cNvPr id="7" name="Text 5"/>
          <p:cNvSpPr/>
          <p:nvPr/>
        </p:nvSpPr>
        <p:spPr>
          <a:xfrm>
            <a:off x="342900" y="1418332"/>
            <a:ext cx="4618658" cy="173236"/>
          </a:xfrm>
          <a:prstGeom prst="rect">
            <a:avLst/>
          </a:prstGeom>
          <a:noFill/>
          <a:ln/>
        </p:spPr>
        <p:txBody>
          <a:bodyPr wrap="square" lIns="0" tIns="0" rIns="0" bIns="0" rtlCol="0" anchor="t"/>
          <a:lstStyle/>
          <a:p>
            <a:pPr algn="l" indent="0" marL="0">
              <a:lnSpc>
                <a:spcPts val="1365"/>
              </a:lnSpc>
              <a:spcAft>
                <a:spcPts val="1200"/>
              </a:spcAft>
              <a:buNone/>
            </a:pPr>
            <a:r>
              <a:rPr lang="en-US" sz="975" dirty="0">
                <a:solidFill>
                  <a:srgbClr val="6B7280"/>
                </a:solidFill>
                <a:latin typeface="Arial" pitchFamily="34" charset="0"/>
                <a:ea typeface="Arial" pitchFamily="34" charset="-122"/>
                <a:cs typeface="Arial" pitchFamily="34" charset="-120"/>
              </a:rPr>
              <a:t>Context-aware voice input for Mac, Windows, and iOS</a:t>
            </a:r>
            <a:endParaRPr lang="en-US" sz="975" dirty="0"/>
          </a:p>
        </p:txBody>
      </p:sp>
      <p:sp>
        <p:nvSpPr>
          <p:cNvPr id="8" name="Text 6"/>
          <p:cNvSpPr/>
          <p:nvPr/>
        </p:nvSpPr>
        <p:spPr>
          <a:xfrm>
            <a:off x="342900" y="1896368"/>
            <a:ext cx="4528096" cy="798165"/>
          </a:xfrm>
          <a:prstGeom prst="rect">
            <a:avLst/>
          </a:prstGeom>
          <a:solidFill>
            <a:srgbClr val="FFFFFF"/>
          </a:solidFill>
          <a:ln/>
        </p:spPr>
        <p:txBody>
          <a:bodyPr wrap="square" rtlCol="0" anchor="ctr"/>
          <a:lstStyle/>
          <a:p>
            <a:pPr indent="0" marL="0">
              <a:buNone/>
            </a:pPr>
            <a:endParaRPr lang="en-US" dirty="0"/>
          </a:p>
        </p:txBody>
      </p:sp>
      <p:sp>
        <p:nvSpPr>
          <p:cNvPr id="9" name="Shape 7"/>
          <p:cNvSpPr/>
          <p:nvPr/>
        </p:nvSpPr>
        <p:spPr>
          <a:xfrm>
            <a:off x="361950" y="1896368"/>
            <a:ext cx="0" cy="798165"/>
          </a:xfrm>
          <a:prstGeom prst="line">
            <a:avLst/>
          </a:prstGeom>
          <a:noFill/>
          <a:ln w="38100">
            <a:solidFill>
              <a:srgbClr val="C9A227"/>
            </a:solidFill>
            <a:prstDash val="solid"/>
          </a:ln>
        </p:spPr>
      </p:sp>
      <p:sp>
        <p:nvSpPr>
          <p:cNvPr id="10" name="Text 8"/>
          <p:cNvSpPr/>
          <p:nvPr/>
        </p:nvSpPr>
        <p:spPr>
          <a:xfrm>
            <a:off x="533400" y="2029718"/>
            <a:ext cx="4268900" cy="159990"/>
          </a:xfrm>
          <a:prstGeom prst="rect">
            <a:avLst/>
          </a:prstGeom>
          <a:noFill/>
          <a:ln/>
        </p:spPr>
        <p:txBody>
          <a:bodyPr wrap="square" lIns="0" tIns="0" rIns="0" bIns="0" rtlCol="0" anchor="t"/>
          <a:lstStyle/>
          <a:p>
            <a:pPr algn="l" indent="0" marL="0">
              <a:lnSpc>
                <a:spcPts val="1260"/>
              </a:lnSpc>
              <a:spcAft>
                <a:spcPts val="450"/>
              </a:spcAft>
              <a:buNone/>
            </a:pPr>
            <a:r>
              <a:rPr lang="en-US" sz="900" b="1" dirty="0">
                <a:solidFill>
                  <a:srgbClr val="1A1F2E"/>
                </a:solidFill>
                <a:latin typeface="Arial" pitchFamily="34" charset="0"/>
                <a:ea typeface="Arial" pitchFamily="34" charset="-122"/>
                <a:cs typeface="Arial" pitchFamily="34" charset="-120"/>
              </a:rPr>
              <a:t>What It Is</a:t>
            </a:r>
            <a:endParaRPr lang="en-US" sz="900" dirty="0"/>
          </a:p>
        </p:txBody>
      </p:sp>
      <p:sp>
        <p:nvSpPr>
          <p:cNvPr id="11" name="Text 9"/>
          <p:cNvSpPr/>
          <p:nvPr/>
        </p:nvSpPr>
        <p:spPr>
          <a:xfrm>
            <a:off x="533400" y="2246858"/>
            <a:ext cx="4268900" cy="314325"/>
          </a:xfrm>
          <a:prstGeom prst="rect">
            <a:avLst/>
          </a:prstGeom>
          <a:noFill/>
          <a:ln/>
        </p:spPr>
        <p:txBody>
          <a:bodyPr wrap="square" lIns="0" tIns="0" rIns="0" bIns="0" rtlCol="0" anchor="t"/>
          <a:lstStyle/>
          <a:p>
            <a:pPr algn="l" indent="0" marL="0">
              <a:lnSpc>
                <a:spcPts val="1238"/>
              </a:lnSpc>
              <a:buNone/>
            </a:pPr>
            <a:r>
              <a:rPr lang="en-US" sz="825" dirty="0">
                <a:solidFill>
                  <a:srgbClr val="6B7280"/>
                </a:solidFill>
                <a:latin typeface="Arial" pitchFamily="34" charset="0"/>
                <a:ea typeface="Arial" pitchFamily="34" charset="-122"/>
                <a:cs typeface="Arial" pitchFamily="34" charset="-120"/>
              </a:rPr>
              <a:t>An intelligent voice-to-text tool that understands context. It knows if you're coding, writing email, or chatting - and formats output accordingly.</a:t>
            </a:r>
            <a:endParaRPr lang="en-US" sz="825" dirty="0"/>
          </a:p>
        </p:txBody>
      </p:sp>
      <p:sp>
        <p:nvSpPr>
          <p:cNvPr id="12" name="Text 10"/>
          <p:cNvSpPr/>
          <p:nvPr/>
        </p:nvSpPr>
        <p:spPr>
          <a:xfrm>
            <a:off x="342900" y="2961233"/>
            <a:ext cx="1433215" cy="632371"/>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3" name="Text 11"/>
          <p:cNvSpPr/>
          <p:nvPr/>
        </p:nvSpPr>
        <p:spPr>
          <a:xfrm>
            <a:off x="466725" y="3085058"/>
            <a:ext cx="1209276" cy="213271"/>
          </a:xfrm>
          <a:prstGeom prst="rect">
            <a:avLst/>
          </a:prstGeom>
          <a:noFill/>
          <a:ln/>
        </p:spPr>
        <p:txBody>
          <a:bodyPr wrap="square" lIns="0" tIns="0" rIns="0" bIns="0" rtlCol="0" anchor="t"/>
          <a:lstStyle/>
          <a:p>
            <a:pPr algn="l" indent="0" marL="0">
              <a:lnSpc>
                <a:spcPts val="1680"/>
              </a:lnSpc>
              <a:spcAft>
                <a:spcPts val="300"/>
              </a:spcAft>
              <a:buNone/>
            </a:pPr>
            <a:r>
              <a:rPr lang="en-US" sz="1200" dirty="0">
                <a:solidFill>
                  <a:srgbClr val="1A1F2E"/>
                </a:solidFill>
                <a:latin typeface="Georgia" pitchFamily="34" charset="0"/>
                <a:ea typeface="Georgia" pitchFamily="34" charset="-122"/>
                <a:cs typeface="Georgia" pitchFamily="34" charset="-120"/>
              </a:rPr>
              <a:t>Free Tier</a:t>
            </a:r>
            <a:endParaRPr lang="en-US" sz="1200" dirty="0"/>
          </a:p>
        </p:txBody>
      </p:sp>
      <p:sp>
        <p:nvSpPr>
          <p:cNvPr id="14" name="Text 12"/>
          <p:cNvSpPr/>
          <p:nvPr/>
        </p:nvSpPr>
        <p:spPr>
          <a:xfrm>
            <a:off x="466725" y="3336429"/>
            <a:ext cx="1209276" cy="133350"/>
          </a:xfrm>
          <a:prstGeom prst="rect">
            <a:avLst/>
          </a:prstGeom>
          <a:noFill/>
          <a:ln/>
        </p:spPr>
        <p:txBody>
          <a:bodyPr wrap="square" lIns="0" tIns="0" rIns="0" bIns="0" rtlCol="0" anchor="t"/>
          <a:lstStyle/>
          <a:p>
            <a:pPr algn="l" indent="0" marL="0">
              <a:lnSpc>
                <a:spcPts val="1050"/>
              </a:lnSpc>
              <a:buNone/>
            </a:pPr>
            <a:r>
              <a:rPr lang="en-US" sz="750" dirty="0">
                <a:solidFill>
                  <a:srgbClr val="6B7280"/>
                </a:solidFill>
                <a:latin typeface="Arial" pitchFamily="34" charset="0"/>
                <a:ea typeface="Arial" pitchFamily="34" charset="-122"/>
                <a:cs typeface="Arial" pitchFamily="34" charset="-120"/>
              </a:rPr>
              <a:t>2,000 words/week</a:t>
            </a:r>
            <a:endParaRPr lang="en-US" sz="750" dirty="0"/>
          </a:p>
        </p:txBody>
      </p:sp>
      <p:sp>
        <p:nvSpPr>
          <p:cNvPr id="15" name="Text 13"/>
          <p:cNvSpPr/>
          <p:nvPr/>
        </p:nvSpPr>
        <p:spPr>
          <a:xfrm>
            <a:off x="1890415" y="2961233"/>
            <a:ext cx="1433215" cy="632371"/>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6" name="Text 14"/>
          <p:cNvSpPr/>
          <p:nvPr/>
        </p:nvSpPr>
        <p:spPr>
          <a:xfrm>
            <a:off x="2014240" y="3085058"/>
            <a:ext cx="1209276" cy="213271"/>
          </a:xfrm>
          <a:prstGeom prst="rect">
            <a:avLst/>
          </a:prstGeom>
          <a:noFill/>
          <a:ln/>
        </p:spPr>
        <p:txBody>
          <a:bodyPr wrap="square" lIns="0" tIns="0" rIns="0" bIns="0" rtlCol="0" anchor="t"/>
          <a:lstStyle/>
          <a:p>
            <a:pPr algn="l" indent="0" marL="0">
              <a:lnSpc>
                <a:spcPts val="1680"/>
              </a:lnSpc>
              <a:spcAft>
                <a:spcPts val="300"/>
              </a:spcAft>
              <a:buNone/>
            </a:pPr>
            <a:r>
              <a:rPr lang="en-US" sz="1200" dirty="0">
                <a:solidFill>
                  <a:srgbClr val="1A1F2E"/>
                </a:solidFill>
                <a:latin typeface="Georgia" pitchFamily="34" charset="0"/>
                <a:ea typeface="Georgia" pitchFamily="34" charset="-122"/>
                <a:cs typeface="Georgia" pitchFamily="34" charset="-120"/>
              </a:rPr>
              <a:t>$15/mo Pro</a:t>
            </a:r>
            <a:endParaRPr lang="en-US" sz="1200" dirty="0"/>
          </a:p>
        </p:txBody>
      </p:sp>
      <p:sp>
        <p:nvSpPr>
          <p:cNvPr id="17" name="Text 15"/>
          <p:cNvSpPr/>
          <p:nvPr/>
        </p:nvSpPr>
        <p:spPr>
          <a:xfrm>
            <a:off x="2014240" y="3336429"/>
            <a:ext cx="1209276" cy="133350"/>
          </a:xfrm>
          <a:prstGeom prst="rect">
            <a:avLst/>
          </a:prstGeom>
          <a:noFill/>
          <a:ln/>
        </p:spPr>
        <p:txBody>
          <a:bodyPr wrap="square" lIns="0" tIns="0" rIns="0" bIns="0" rtlCol="0" anchor="t"/>
          <a:lstStyle/>
          <a:p>
            <a:pPr algn="l" indent="0" marL="0">
              <a:lnSpc>
                <a:spcPts val="1050"/>
              </a:lnSpc>
              <a:buNone/>
            </a:pPr>
            <a:r>
              <a:rPr lang="en-US" sz="750" dirty="0">
                <a:solidFill>
                  <a:srgbClr val="6B7280"/>
                </a:solidFill>
                <a:latin typeface="Arial" pitchFamily="34" charset="0"/>
                <a:ea typeface="Arial" pitchFamily="34" charset="-122"/>
                <a:cs typeface="Arial" pitchFamily="34" charset="-120"/>
              </a:rPr>
              <a:t>Unlimited dictation</a:t>
            </a:r>
            <a:endParaRPr lang="en-US" sz="750" dirty="0"/>
          </a:p>
        </p:txBody>
      </p:sp>
      <p:sp>
        <p:nvSpPr>
          <p:cNvPr id="18" name="Text 16"/>
          <p:cNvSpPr/>
          <p:nvPr/>
        </p:nvSpPr>
        <p:spPr>
          <a:xfrm>
            <a:off x="3437930" y="2961233"/>
            <a:ext cx="1433215" cy="632371"/>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9" name="Text 17"/>
          <p:cNvSpPr/>
          <p:nvPr/>
        </p:nvSpPr>
        <p:spPr>
          <a:xfrm>
            <a:off x="3561755" y="3085058"/>
            <a:ext cx="1209276" cy="213271"/>
          </a:xfrm>
          <a:prstGeom prst="rect">
            <a:avLst/>
          </a:prstGeom>
          <a:noFill/>
          <a:ln/>
        </p:spPr>
        <p:txBody>
          <a:bodyPr wrap="square" lIns="0" tIns="0" rIns="0" bIns="0" rtlCol="0" anchor="t"/>
          <a:lstStyle/>
          <a:p>
            <a:pPr algn="l" indent="0" marL="0">
              <a:lnSpc>
                <a:spcPts val="1680"/>
              </a:lnSpc>
              <a:spcAft>
                <a:spcPts val="300"/>
              </a:spcAft>
              <a:buNone/>
            </a:pPr>
            <a:r>
              <a:rPr lang="en-US" sz="1200" dirty="0">
                <a:solidFill>
                  <a:srgbClr val="1A1F2E"/>
                </a:solidFill>
                <a:latin typeface="Georgia" pitchFamily="34" charset="0"/>
                <a:ea typeface="Georgia" pitchFamily="34" charset="-122"/>
                <a:cs typeface="Georgia" pitchFamily="34" charset="-120"/>
              </a:rPr>
              <a:t>Cloud Only</a:t>
            </a:r>
            <a:endParaRPr lang="en-US" sz="1200" dirty="0"/>
          </a:p>
        </p:txBody>
      </p:sp>
      <p:sp>
        <p:nvSpPr>
          <p:cNvPr id="20" name="Text 18"/>
          <p:cNvSpPr/>
          <p:nvPr/>
        </p:nvSpPr>
        <p:spPr>
          <a:xfrm>
            <a:off x="3561755" y="3336429"/>
            <a:ext cx="1209276" cy="133350"/>
          </a:xfrm>
          <a:prstGeom prst="rect">
            <a:avLst/>
          </a:prstGeom>
          <a:noFill/>
          <a:ln/>
        </p:spPr>
        <p:txBody>
          <a:bodyPr wrap="square" lIns="0" tIns="0" rIns="0" bIns="0" rtlCol="0" anchor="t"/>
          <a:lstStyle/>
          <a:p>
            <a:pPr algn="l" indent="0" marL="0">
              <a:lnSpc>
                <a:spcPts val="1050"/>
              </a:lnSpc>
              <a:buNone/>
            </a:pPr>
            <a:r>
              <a:rPr lang="en-US" sz="750" dirty="0">
                <a:solidFill>
                  <a:srgbClr val="6B7280"/>
                </a:solidFill>
                <a:latin typeface="Arial" pitchFamily="34" charset="0"/>
                <a:ea typeface="Arial" pitchFamily="34" charset="-122"/>
                <a:cs typeface="Arial" pitchFamily="34" charset="-120"/>
              </a:rPr>
              <a:t>Requires internet</a:t>
            </a:r>
            <a:endParaRPr lang="en-US" sz="750" dirty="0"/>
          </a:p>
        </p:txBody>
      </p:sp>
      <p:sp>
        <p:nvSpPr>
          <p:cNvPr id="21" name="Text 19"/>
          <p:cNvSpPr/>
          <p:nvPr/>
        </p:nvSpPr>
        <p:spPr>
          <a:xfrm>
            <a:off x="342900" y="3860304"/>
            <a:ext cx="4528096" cy="765721"/>
          </a:xfrm>
          <a:prstGeom prst="rect">
            <a:avLst/>
          </a:prstGeom>
          <a:solidFill>
            <a:srgbClr val="1A1F2E"/>
          </a:solidFill>
          <a:ln/>
        </p:spPr>
        <p:txBody>
          <a:bodyPr wrap="square" rtlCol="0" anchor="ctr"/>
          <a:lstStyle/>
          <a:p>
            <a:pPr indent="0" marL="0">
              <a:buNone/>
            </a:pPr>
            <a:endParaRPr lang="en-US" dirty="0"/>
          </a:p>
        </p:txBody>
      </p:sp>
      <p:sp>
        <p:nvSpPr>
          <p:cNvPr id="22" name="Text 20"/>
          <p:cNvSpPr/>
          <p:nvPr/>
        </p:nvSpPr>
        <p:spPr>
          <a:xfrm>
            <a:off x="495300" y="3993654"/>
            <a:ext cx="4307762" cy="146596"/>
          </a:xfrm>
          <a:prstGeom prst="rect">
            <a:avLst/>
          </a:prstGeom>
          <a:noFill/>
          <a:ln/>
        </p:spPr>
        <p:txBody>
          <a:bodyPr wrap="square" lIns="0" tIns="0" rIns="0" bIns="0" rtlCol="0" anchor="t"/>
          <a:lstStyle/>
          <a:p>
            <a:pPr algn="l" indent="0" marL="0">
              <a:lnSpc>
                <a:spcPts val="1155"/>
              </a:lnSpc>
              <a:spcAft>
                <a:spcPts val="300"/>
              </a:spcAft>
              <a:buNone/>
            </a:pPr>
            <a:r>
              <a:rPr lang="en-US" sz="825" b="1" dirty="0">
                <a:solidFill>
                  <a:srgbClr val="C9A227"/>
                </a:solidFill>
                <a:latin typeface="Arial" pitchFamily="34" charset="0"/>
                <a:ea typeface="Arial" pitchFamily="34" charset="-122"/>
                <a:cs typeface="Arial" pitchFamily="34" charset="-120"/>
              </a:rPr>
              <a:t>KEY DIFFERENTIATOR</a:t>
            </a:r>
            <a:endParaRPr lang="en-US" sz="825" dirty="0"/>
          </a:p>
        </p:txBody>
      </p:sp>
      <p:sp>
        <p:nvSpPr>
          <p:cNvPr id="23" name="Text 21"/>
          <p:cNvSpPr/>
          <p:nvPr/>
        </p:nvSpPr>
        <p:spPr>
          <a:xfrm>
            <a:off x="495300" y="4178350"/>
            <a:ext cx="4307762" cy="314325"/>
          </a:xfrm>
          <a:prstGeom prst="rect">
            <a:avLst/>
          </a:prstGeom>
          <a:noFill/>
          <a:ln/>
        </p:spPr>
        <p:txBody>
          <a:bodyPr wrap="square" lIns="0" tIns="0" rIns="0" bIns="0" rtlCol="0" anchor="t"/>
          <a:lstStyle/>
          <a:p>
            <a:pPr algn="l" indent="0" marL="0">
              <a:lnSpc>
                <a:spcPts val="1238"/>
              </a:lnSpc>
              <a:buNone/>
            </a:pPr>
            <a:r>
              <a:rPr lang="en-US" sz="825" dirty="0">
                <a:solidFill>
                  <a:srgbClr val="FFFFFF">
                    <a:alpha val="80000"/>
                  </a:srgbClr>
                </a:solidFill>
                <a:latin typeface="Arial" pitchFamily="34" charset="0"/>
                <a:ea typeface="Arial" pitchFamily="34" charset="-122"/>
                <a:cs typeface="Arial" pitchFamily="34" charset="-120"/>
              </a:rPr>
              <a:t>Context awareness - Wispr Flow detects your current app and adjusts formatting. Code in VS Code, prose in Word.</a:t>
            </a:r>
            <a:endParaRPr lang="en-US" sz="825" dirty="0"/>
          </a:p>
        </p:txBody>
      </p:sp>
      <p:sp>
        <p:nvSpPr>
          <p:cNvPr id="24" name="Text 22"/>
          <p:cNvSpPr/>
          <p:nvPr/>
        </p:nvSpPr>
        <p:spPr>
          <a:xfrm>
            <a:off x="5366296" y="0"/>
            <a:ext cx="3777704" cy="5143500"/>
          </a:xfrm>
          <a:prstGeom prst="rect">
            <a:avLst/>
          </a:prstGeom>
          <a:solidFill>
            <a:srgbClr val="1A1F2E"/>
          </a:solidFill>
          <a:ln/>
        </p:spPr>
        <p:txBody>
          <a:bodyPr wrap="square" rtlCol="0" anchor="ctr"/>
          <a:lstStyle/>
          <a:p>
            <a:pPr indent="0" marL="0">
              <a:buNone/>
            </a:pPr>
            <a:endParaRPr lang="en-US" dirty="0"/>
          </a:p>
        </p:txBody>
      </p:sp>
      <p:sp>
        <p:nvSpPr>
          <p:cNvPr id="25" name="Text 23"/>
          <p:cNvSpPr/>
          <p:nvPr/>
        </p:nvSpPr>
        <p:spPr>
          <a:xfrm>
            <a:off x="5671096" y="304800"/>
            <a:ext cx="3231466" cy="146596"/>
          </a:xfrm>
          <a:prstGeom prst="rect">
            <a:avLst/>
          </a:prstGeom>
          <a:noFill/>
          <a:ln/>
        </p:spPr>
        <p:txBody>
          <a:bodyPr wrap="square" lIns="0" tIns="0" rIns="0" bIns="0" rtlCol="0" anchor="t"/>
          <a:lstStyle/>
          <a:p>
            <a:pPr algn="l" indent="0" marL="0">
              <a:lnSpc>
                <a:spcPts val="1155"/>
              </a:lnSpc>
              <a:spcAft>
                <a:spcPts val="1200"/>
              </a:spcAft>
              <a:buNone/>
            </a:pPr>
            <a:r>
              <a:rPr lang="en-US" sz="825" dirty="0">
                <a:solidFill>
                  <a:srgbClr val="C9A227"/>
                </a:solidFill>
                <a:latin typeface="Arial" pitchFamily="34" charset="0"/>
                <a:ea typeface="Arial" pitchFamily="34" charset="-122"/>
                <a:cs typeface="Arial" pitchFamily="34" charset="-120"/>
              </a:rPr>
              <a:t>PLATFORM SUPPORT</a:t>
            </a:r>
            <a:endParaRPr lang="en-US" sz="825" dirty="0"/>
          </a:p>
        </p:txBody>
      </p:sp>
      <p:sp>
        <p:nvSpPr>
          <p:cNvPr id="26" name="Text 24"/>
          <p:cNvSpPr/>
          <p:nvPr/>
        </p:nvSpPr>
        <p:spPr>
          <a:xfrm>
            <a:off x="5671096" y="756196"/>
            <a:ext cx="3168104" cy="611386"/>
          </a:xfrm>
          <a:prstGeom prst="rect">
            <a:avLst/>
          </a:prstGeom>
          <a:solidFill>
            <a:srgbClr val="C9A227">
              <a:alpha val="10000"/>
            </a:srgbClr>
          </a:solidFill>
          <a:ln w="9525">
            <a:solidFill>
              <a:srgbClr val="C9A227"/>
            </a:solidFill>
          </a:ln>
        </p:spPr>
        <p:txBody>
          <a:bodyPr wrap="square" rtlCol="0" anchor="ctr"/>
          <a:lstStyle/>
          <a:p>
            <a:pPr indent="0" marL="0">
              <a:buNone/>
            </a:pPr>
            <a:endParaRPr lang="en-US" dirty="0"/>
          </a:p>
        </p:txBody>
      </p:sp>
      <p:sp>
        <p:nvSpPr>
          <p:cNvPr id="27" name="Text 25"/>
          <p:cNvSpPr/>
          <p:nvPr/>
        </p:nvSpPr>
        <p:spPr>
          <a:xfrm>
            <a:off x="5813971" y="909489"/>
            <a:ext cx="304800" cy="304800"/>
          </a:xfrm>
          <a:prstGeom prst="rect">
            <a:avLst/>
          </a:prstGeom>
          <a:solidFill>
            <a:srgbClr val="C9A227"/>
          </a:solidFill>
          <a:ln/>
        </p:spPr>
        <p:txBody>
          <a:bodyPr wrap="square" rtlCol="0" anchor="ctr"/>
          <a:lstStyle/>
          <a:p>
            <a:pPr indent="0" marL="0">
              <a:buNone/>
            </a:pPr>
            <a:endParaRPr lang="en-US" dirty="0"/>
          </a:p>
        </p:txBody>
      </p:sp>
      <p:sp>
        <p:nvSpPr>
          <p:cNvPr id="28" name="Text 26"/>
          <p:cNvSpPr/>
          <p:nvPr/>
        </p:nvSpPr>
        <p:spPr>
          <a:xfrm>
            <a:off x="5910709" y="968573"/>
            <a:ext cx="113398" cy="186630"/>
          </a:xfrm>
          <a:prstGeom prst="rect">
            <a:avLst/>
          </a:prstGeom>
          <a:noFill/>
          <a:ln/>
        </p:spPr>
        <p:txBody>
          <a:bodyPr wrap="square" lIns="0" tIns="0" rIns="0" bIns="0" rtlCol="0" anchor="t"/>
          <a:lstStyle/>
          <a:p>
            <a:pPr algn="l" indent="0" marL="0">
              <a:lnSpc>
                <a:spcPts val="1470"/>
              </a:lnSpc>
              <a:buNone/>
            </a:pPr>
            <a:r>
              <a:rPr lang="en-US" sz="1050" dirty="0">
                <a:solidFill>
                  <a:srgbClr val="1A1F2E"/>
                </a:solidFill>
                <a:latin typeface="Arial" pitchFamily="34" charset="0"/>
                <a:ea typeface="Arial" pitchFamily="34" charset="-122"/>
                <a:cs typeface="Arial" pitchFamily="34" charset="-120"/>
              </a:rPr>
              <a:t>M</a:t>
            </a:r>
            <a:endParaRPr lang="en-US" sz="1050" dirty="0"/>
          </a:p>
        </p:txBody>
      </p:sp>
      <p:sp>
        <p:nvSpPr>
          <p:cNvPr id="29" name="Text 27"/>
          <p:cNvSpPr/>
          <p:nvPr/>
        </p:nvSpPr>
        <p:spPr>
          <a:xfrm>
            <a:off x="6214021" y="899071"/>
            <a:ext cx="875002" cy="173236"/>
          </a:xfrm>
          <a:prstGeom prst="rect">
            <a:avLst/>
          </a:prstGeom>
          <a:noFill/>
          <a:ln/>
        </p:spPr>
        <p:txBody>
          <a:bodyPr wrap="square" lIns="0" tIns="0" rIns="0" bIns="0" rtlCol="0" anchor="t"/>
          <a:lstStyle/>
          <a:p>
            <a:pPr algn="l" indent="0" marL="0">
              <a:lnSpc>
                <a:spcPts val="1365"/>
              </a:lnSpc>
              <a:buNone/>
            </a:pPr>
            <a:r>
              <a:rPr lang="en-US" sz="975" dirty="0">
                <a:solidFill>
                  <a:srgbClr val="FFFFFF"/>
                </a:solidFill>
                <a:latin typeface="Arial" pitchFamily="34" charset="0"/>
                <a:ea typeface="Arial" pitchFamily="34" charset="-122"/>
                <a:cs typeface="Arial" pitchFamily="34" charset="-120"/>
              </a:rPr>
              <a:t>macOS</a:t>
            </a:r>
            <a:endParaRPr lang="en-US" sz="975" dirty="0"/>
          </a:p>
        </p:txBody>
      </p:sp>
      <p:sp>
        <p:nvSpPr>
          <p:cNvPr id="30" name="Text 28"/>
          <p:cNvSpPr/>
          <p:nvPr/>
        </p:nvSpPr>
        <p:spPr>
          <a:xfrm>
            <a:off x="6214021" y="1091357"/>
            <a:ext cx="875002" cy="133350"/>
          </a:xfrm>
          <a:prstGeom prst="rect">
            <a:avLst/>
          </a:prstGeom>
          <a:noFill/>
          <a:ln/>
        </p:spPr>
        <p:txBody>
          <a:bodyPr wrap="square" lIns="0" tIns="0" rIns="0" bIns="0" rtlCol="0" anchor="t"/>
          <a:lstStyle/>
          <a:p>
            <a:pPr algn="l" indent="0" marL="0">
              <a:lnSpc>
                <a:spcPts val="1050"/>
              </a:lnSpc>
              <a:spcBef>
                <a:spcPts val="150"/>
              </a:spcBef>
              <a:buNone/>
            </a:pPr>
            <a:r>
              <a:rPr lang="en-US" sz="750" dirty="0">
                <a:solidFill>
                  <a:srgbClr val="FFFFFF">
                    <a:alpha val="50000"/>
                  </a:srgbClr>
                </a:solidFill>
                <a:latin typeface="Arial" pitchFamily="34" charset="0"/>
                <a:ea typeface="Arial" pitchFamily="34" charset="-122"/>
                <a:cs typeface="Arial" pitchFamily="34" charset="-120"/>
              </a:rPr>
              <a:t>Native app available</a:t>
            </a:r>
            <a:endParaRPr lang="en-US" sz="750" dirty="0"/>
          </a:p>
        </p:txBody>
      </p:sp>
      <p:sp>
        <p:nvSpPr>
          <p:cNvPr id="31" name="Text 29"/>
          <p:cNvSpPr/>
          <p:nvPr/>
        </p:nvSpPr>
        <p:spPr>
          <a:xfrm>
            <a:off x="5671096" y="1615232"/>
            <a:ext cx="3168104" cy="611386"/>
          </a:xfrm>
          <a:prstGeom prst="rect">
            <a:avLst/>
          </a:prstGeom>
          <a:solidFill>
            <a:srgbClr val="C9A227">
              <a:alpha val="10000"/>
            </a:srgbClr>
          </a:solidFill>
          <a:ln w="9525">
            <a:solidFill>
              <a:srgbClr val="C9A227"/>
            </a:solidFill>
          </a:ln>
        </p:spPr>
        <p:txBody>
          <a:bodyPr wrap="square" rtlCol="0" anchor="ctr"/>
          <a:lstStyle/>
          <a:p>
            <a:pPr indent="0" marL="0">
              <a:buNone/>
            </a:pPr>
            <a:endParaRPr lang="en-US" dirty="0"/>
          </a:p>
        </p:txBody>
      </p:sp>
      <p:sp>
        <p:nvSpPr>
          <p:cNvPr id="32" name="Text 30"/>
          <p:cNvSpPr/>
          <p:nvPr/>
        </p:nvSpPr>
        <p:spPr>
          <a:xfrm>
            <a:off x="5813971" y="1768525"/>
            <a:ext cx="304800" cy="304800"/>
          </a:xfrm>
          <a:prstGeom prst="rect">
            <a:avLst/>
          </a:prstGeom>
          <a:solidFill>
            <a:srgbClr val="C9A227"/>
          </a:solidFill>
          <a:ln/>
        </p:spPr>
        <p:txBody>
          <a:bodyPr wrap="square" rtlCol="0" anchor="ctr"/>
          <a:lstStyle/>
          <a:p>
            <a:pPr indent="0" marL="0">
              <a:buNone/>
            </a:pPr>
            <a:endParaRPr lang="en-US" dirty="0"/>
          </a:p>
        </p:txBody>
      </p:sp>
      <p:sp>
        <p:nvSpPr>
          <p:cNvPr id="33" name="Text 31"/>
          <p:cNvSpPr/>
          <p:nvPr/>
        </p:nvSpPr>
        <p:spPr>
          <a:xfrm>
            <a:off x="5903416" y="1827609"/>
            <a:ext cx="128427" cy="186630"/>
          </a:xfrm>
          <a:prstGeom prst="rect">
            <a:avLst/>
          </a:prstGeom>
          <a:noFill/>
          <a:ln/>
        </p:spPr>
        <p:txBody>
          <a:bodyPr wrap="square" lIns="0" tIns="0" rIns="0" bIns="0" rtlCol="0" anchor="t"/>
          <a:lstStyle/>
          <a:p>
            <a:pPr algn="l" indent="0" marL="0">
              <a:lnSpc>
                <a:spcPts val="1470"/>
              </a:lnSpc>
              <a:buNone/>
            </a:pPr>
            <a:r>
              <a:rPr lang="en-US" sz="1050" dirty="0">
                <a:solidFill>
                  <a:srgbClr val="1A1F2E"/>
                </a:solidFill>
                <a:latin typeface="Arial" pitchFamily="34" charset="0"/>
                <a:ea typeface="Arial" pitchFamily="34" charset="-122"/>
                <a:cs typeface="Arial" pitchFamily="34" charset="-120"/>
              </a:rPr>
              <a:t>W</a:t>
            </a:r>
            <a:endParaRPr lang="en-US" sz="1050" dirty="0"/>
          </a:p>
        </p:txBody>
      </p:sp>
      <p:sp>
        <p:nvSpPr>
          <p:cNvPr id="34" name="Text 32"/>
          <p:cNvSpPr/>
          <p:nvPr/>
        </p:nvSpPr>
        <p:spPr>
          <a:xfrm>
            <a:off x="6214021" y="1758107"/>
            <a:ext cx="854205" cy="173236"/>
          </a:xfrm>
          <a:prstGeom prst="rect">
            <a:avLst/>
          </a:prstGeom>
          <a:noFill/>
          <a:ln/>
        </p:spPr>
        <p:txBody>
          <a:bodyPr wrap="square" lIns="0" tIns="0" rIns="0" bIns="0" rtlCol="0" anchor="t"/>
          <a:lstStyle/>
          <a:p>
            <a:pPr algn="l" indent="0" marL="0">
              <a:lnSpc>
                <a:spcPts val="1365"/>
              </a:lnSpc>
              <a:buNone/>
            </a:pPr>
            <a:r>
              <a:rPr lang="en-US" sz="975" dirty="0">
                <a:solidFill>
                  <a:srgbClr val="FFFFFF"/>
                </a:solidFill>
                <a:latin typeface="Arial" pitchFamily="34" charset="0"/>
                <a:ea typeface="Arial" pitchFamily="34" charset="-122"/>
                <a:cs typeface="Arial" pitchFamily="34" charset="-120"/>
              </a:rPr>
              <a:t>Windows 10/11</a:t>
            </a:r>
            <a:endParaRPr lang="en-US" sz="975" dirty="0"/>
          </a:p>
        </p:txBody>
      </p:sp>
      <p:sp>
        <p:nvSpPr>
          <p:cNvPr id="35" name="Text 33"/>
          <p:cNvSpPr/>
          <p:nvPr/>
        </p:nvSpPr>
        <p:spPr>
          <a:xfrm>
            <a:off x="6214021" y="1950393"/>
            <a:ext cx="854205" cy="133350"/>
          </a:xfrm>
          <a:prstGeom prst="rect">
            <a:avLst/>
          </a:prstGeom>
          <a:noFill/>
          <a:ln/>
        </p:spPr>
        <p:txBody>
          <a:bodyPr wrap="square" lIns="0" tIns="0" rIns="0" bIns="0" rtlCol="0" anchor="t"/>
          <a:lstStyle/>
          <a:p>
            <a:pPr algn="l" indent="0" marL="0">
              <a:lnSpc>
                <a:spcPts val="1050"/>
              </a:lnSpc>
              <a:spcBef>
                <a:spcPts val="150"/>
              </a:spcBef>
              <a:buNone/>
            </a:pPr>
            <a:r>
              <a:rPr lang="en-US" sz="750" dirty="0">
                <a:solidFill>
                  <a:srgbClr val="FFFFFF">
                    <a:alpha val="50000"/>
                  </a:srgbClr>
                </a:solidFill>
                <a:latin typeface="Arial" pitchFamily="34" charset="0"/>
                <a:ea typeface="Arial" pitchFamily="34" charset="-122"/>
                <a:cs typeface="Arial" pitchFamily="34" charset="-120"/>
              </a:rPr>
              <a:t>Full feature support</a:t>
            </a:r>
            <a:endParaRPr lang="en-US" sz="750" dirty="0"/>
          </a:p>
        </p:txBody>
      </p:sp>
      <p:sp>
        <p:nvSpPr>
          <p:cNvPr id="36" name="Text 34"/>
          <p:cNvSpPr/>
          <p:nvPr/>
        </p:nvSpPr>
        <p:spPr>
          <a:xfrm>
            <a:off x="5671096" y="2474268"/>
            <a:ext cx="3168104" cy="611386"/>
          </a:xfrm>
          <a:prstGeom prst="rect">
            <a:avLst/>
          </a:prstGeom>
          <a:solidFill>
            <a:srgbClr val="C9A227">
              <a:alpha val="10000"/>
            </a:srgbClr>
          </a:solidFill>
          <a:ln w="9525">
            <a:solidFill>
              <a:srgbClr val="C9A227"/>
            </a:solidFill>
          </a:ln>
        </p:spPr>
        <p:txBody>
          <a:bodyPr wrap="square" rtlCol="0" anchor="ctr"/>
          <a:lstStyle/>
          <a:p>
            <a:pPr indent="0" marL="0">
              <a:buNone/>
            </a:pPr>
            <a:endParaRPr lang="en-US" dirty="0"/>
          </a:p>
        </p:txBody>
      </p:sp>
      <p:sp>
        <p:nvSpPr>
          <p:cNvPr id="37" name="Text 35"/>
          <p:cNvSpPr/>
          <p:nvPr/>
        </p:nvSpPr>
        <p:spPr>
          <a:xfrm>
            <a:off x="5813971" y="2627561"/>
            <a:ext cx="304800" cy="304800"/>
          </a:xfrm>
          <a:prstGeom prst="rect">
            <a:avLst/>
          </a:prstGeom>
          <a:solidFill>
            <a:srgbClr val="C9A227"/>
          </a:solidFill>
          <a:ln/>
        </p:spPr>
        <p:txBody>
          <a:bodyPr wrap="square" rtlCol="0" anchor="ctr"/>
          <a:lstStyle/>
          <a:p>
            <a:pPr indent="0" marL="0">
              <a:buNone/>
            </a:pPr>
            <a:endParaRPr lang="en-US" dirty="0"/>
          </a:p>
        </p:txBody>
      </p:sp>
      <p:sp>
        <p:nvSpPr>
          <p:cNvPr id="38" name="Text 36"/>
          <p:cNvSpPr/>
          <p:nvPr/>
        </p:nvSpPr>
        <p:spPr>
          <a:xfrm>
            <a:off x="5951488" y="2686645"/>
            <a:ext cx="30361" cy="186630"/>
          </a:xfrm>
          <a:prstGeom prst="rect">
            <a:avLst/>
          </a:prstGeom>
          <a:noFill/>
          <a:ln/>
        </p:spPr>
        <p:txBody>
          <a:bodyPr wrap="square" lIns="0" tIns="0" rIns="0" bIns="0" rtlCol="0" anchor="t"/>
          <a:lstStyle/>
          <a:p>
            <a:pPr algn="l" indent="0" marL="0">
              <a:lnSpc>
                <a:spcPts val="1470"/>
              </a:lnSpc>
              <a:buNone/>
            </a:pPr>
            <a:r>
              <a:rPr lang="en-US" sz="1050" dirty="0">
                <a:solidFill>
                  <a:srgbClr val="1A1F2E"/>
                </a:solidFill>
                <a:latin typeface="Arial" pitchFamily="34" charset="0"/>
                <a:ea typeface="Arial" pitchFamily="34" charset="-122"/>
                <a:cs typeface="Arial" pitchFamily="34" charset="-120"/>
              </a:rPr>
              <a:t>i</a:t>
            </a:r>
            <a:endParaRPr lang="en-US" sz="1050" dirty="0"/>
          </a:p>
        </p:txBody>
      </p:sp>
      <p:sp>
        <p:nvSpPr>
          <p:cNvPr id="39" name="Text 37"/>
          <p:cNvSpPr/>
          <p:nvPr/>
        </p:nvSpPr>
        <p:spPr>
          <a:xfrm>
            <a:off x="6214021" y="2617143"/>
            <a:ext cx="1071893" cy="173236"/>
          </a:xfrm>
          <a:prstGeom prst="rect">
            <a:avLst/>
          </a:prstGeom>
          <a:noFill/>
          <a:ln/>
        </p:spPr>
        <p:txBody>
          <a:bodyPr wrap="square" lIns="0" tIns="0" rIns="0" bIns="0" rtlCol="0" anchor="t"/>
          <a:lstStyle/>
          <a:p>
            <a:pPr algn="l" indent="0" marL="0">
              <a:lnSpc>
                <a:spcPts val="1365"/>
              </a:lnSpc>
              <a:buNone/>
            </a:pPr>
            <a:r>
              <a:rPr lang="en-US" sz="975" dirty="0">
                <a:solidFill>
                  <a:srgbClr val="FFFFFF"/>
                </a:solidFill>
                <a:latin typeface="Arial" pitchFamily="34" charset="0"/>
                <a:ea typeface="Arial" pitchFamily="34" charset="-122"/>
                <a:cs typeface="Arial" pitchFamily="34" charset="-120"/>
              </a:rPr>
              <a:t>iOS / Web</a:t>
            </a:r>
            <a:endParaRPr lang="en-US" sz="975" dirty="0"/>
          </a:p>
        </p:txBody>
      </p:sp>
      <p:sp>
        <p:nvSpPr>
          <p:cNvPr id="40" name="Text 38"/>
          <p:cNvSpPr/>
          <p:nvPr/>
        </p:nvSpPr>
        <p:spPr>
          <a:xfrm>
            <a:off x="6214021" y="2809429"/>
            <a:ext cx="1071893" cy="133350"/>
          </a:xfrm>
          <a:prstGeom prst="rect">
            <a:avLst/>
          </a:prstGeom>
          <a:noFill/>
          <a:ln/>
        </p:spPr>
        <p:txBody>
          <a:bodyPr wrap="square" lIns="0" tIns="0" rIns="0" bIns="0" rtlCol="0" anchor="t"/>
          <a:lstStyle/>
          <a:p>
            <a:pPr algn="l" indent="0" marL="0">
              <a:lnSpc>
                <a:spcPts val="1050"/>
              </a:lnSpc>
              <a:spcBef>
                <a:spcPts val="150"/>
              </a:spcBef>
              <a:buNone/>
            </a:pPr>
            <a:r>
              <a:rPr lang="en-US" sz="750" dirty="0">
                <a:solidFill>
                  <a:srgbClr val="FFFFFF">
                    <a:alpha val="50000"/>
                  </a:srgbClr>
                </a:solidFill>
                <a:latin typeface="Arial" pitchFamily="34" charset="0"/>
                <a:ea typeface="Arial" pitchFamily="34" charset="-122"/>
                <a:cs typeface="Arial" pitchFamily="34" charset="-120"/>
              </a:rPr>
              <a:t>Mobile + browser access</a:t>
            </a:r>
            <a:endParaRPr lang="en-US" sz="750" dirty="0"/>
          </a:p>
        </p:txBody>
      </p:sp>
      <p:sp>
        <p:nvSpPr>
          <p:cNvPr id="41" name="Text 39"/>
          <p:cNvSpPr/>
          <p:nvPr/>
        </p:nvSpPr>
        <p:spPr>
          <a:xfrm>
            <a:off x="5671096" y="4316909"/>
            <a:ext cx="3168104" cy="521791"/>
          </a:xfrm>
          <a:prstGeom prst="rect">
            <a:avLst/>
          </a:prstGeom>
          <a:solidFill>
            <a:srgbClr val="FEF3C7"/>
          </a:solidFill>
          <a:ln/>
        </p:spPr>
        <p:txBody>
          <a:bodyPr wrap="square" rtlCol="0" anchor="ctr"/>
          <a:lstStyle/>
          <a:p>
            <a:pPr indent="0" marL="0">
              <a:buNone/>
            </a:pPr>
            <a:endParaRPr lang="en-US" dirty="0"/>
          </a:p>
        </p:txBody>
      </p:sp>
      <p:sp>
        <p:nvSpPr>
          <p:cNvPr id="42" name="Shape 40"/>
          <p:cNvSpPr/>
          <p:nvPr/>
        </p:nvSpPr>
        <p:spPr>
          <a:xfrm>
            <a:off x="5690146" y="4316909"/>
            <a:ext cx="0" cy="521791"/>
          </a:xfrm>
          <a:prstGeom prst="line">
            <a:avLst/>
          </a:prstGeom>
          <a:noFill/>
          <a:ln w="38100">
            <a:solidFill>
              <a:srgbClr val="F59E0B"/>
            </a:solidFill>
            <a:prstDash val="solid"/>
          </a:ln>
        </p:spPr>
      </p:sp>
      <p:sp>
        <p:nvSpPr>
          <p:cNvPr id="43" name="Text 41"/>
          <p:cNvSpPr/>
          <p:nvPr/>
        </p:nvSpPr>
        <p:spPr>
          <a:xfrm>
            <a:off x="5823496" y="4431209"/>
            <a:ext cx="2959432" cy="293191"/>
          </a:xfrm>
          <a:prstGeom prst="rect">
            <a:avLst/>
          </a:prstGeom>
          <a:noFill/>
          <a:ln/>
        </p:spPr>
        <p:txBody>
          <a:bodyPr wrap="square" lIns="0" tIns="0" rIns="0" bIns="0" rtlCol="0" anchor="t"/>
          <a:lstStyle/>
          <a:p>
            <a:pPr algn="l" indent="0" marL="0">
              <a:lnSpc>
                <a:spcPts val="1155"/>
              </a:lnSpc>
              <a:buNone/>
            </a:pPr>
            <a:r>
              <a:rPr lang="en-US" sz="825" b="1" dirty="0">
                <a:solidFill>
                  <a:srgbClr val="92400E"/>
                </a:solidFill>
                <a:latin typeface="Arial" pitchFamily="34" charset="0"/>
                <a:ea typeface="Arial" pitchFamily="34" charset="-122"/>
                <a:cs typeface="Arial" pitchFamily="34" charset="-120"/>
              </a:rPr>
              <a:t>Note:</a:t>
            </a:r>
            <a:pPr algn="l" indent="0" marL="0">
              <a:lnSpc>
                <a:spcPts val="1155"/>
              </a:lnSpc>
              <a:buNone/>
            </a:pPr>
            <a:r>
              <a:rPr lang="en-US" sz="825" dirty="0">
                <a:solidFill>
                  <a:srgbClr val="92400E"/>
                </a:solidFill>
                <a:latin typeface="Arial" pitchFamily="34" charset="0"/>
                <a:ea typeface="Arial" pitchFamily="34" charset="-122"/>
                <a:cs typeface="Arial" pitchFamily="34" charset="-120"/>
              </a:rPr>
              <a:t> All processing is cloud-based. Privacy Mode = zero data retention (see next slides)</a:t>
            </a:r>
            <a:endParaRPr lang="en-US" sz="82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3151138" cy="5143500"/>
          </a:xfrm>
          <a:prstGeom prst="rect">
            <a:avLst/>
          </a:prstGeom>
          <a:solidFill>
            <a:srgbClr val="C9A227"/>
          </a:solidFill>
          <a:ln/>
        </p:spPr>
        <p:txBody>
          <a:bodyPr wrap="square" rtlCol="0" anchor="ctr"/>
          <a:lstStyle/>
          <a:p>
            <a:pPr indent="0" marL="0">
              <a:buNone/>
            </a:pPr>
            <a:endParaRPr lang="en-US" dirty="0"/>
          </a:p>
        </p:txBody>
      </p:sp>
      <p:sp>
        <p:nvSpPr>
          <p:cNvPr id="3" name="Text 1"/>
          <p:cNvSpPr/>
          <p:nvPr/>
        </p:nvSpPr>
        <p:spPr>
          <a:xfrm>
            <a:off x="342900" y="1570732"/>
            <a:ext cx="2514645" cy="146596"/>
          </a:xfrm>
          <a:prstGeom prst="rect">
            <a:avLst/>
          </a:prstGeom>
          <a:noFill/>
          <a:ln/>
        </p:spPr>
        <p:txBody>
          <a:bodyPr wrap="square" lIns="0" tIns="0" rIns="0" bIns="0" rtlCol="0" anchor="t"/>
          <a:lstStyle/>
          <a:p>
            <a:pPr algn="l" indent="0" marL="0">
              <a:lnSpc>
                <a:spcPts val="1155"/>
              </a:lnSpc>
              <a:spcAft>
                <a:spcPts val="1200"/>
              </a:spcAft>
              <a:buNone/>
            </a:pPr>
            <a:r>
              <a:rPr lang="en-US" sz="825" dirty="0">
                <a:solidFill>
                  <a:srgbClr val="1A1F2E"/>
                </a:solidFill>
                <a:latin typeface="Arial" pitchFamily="34" charset="0"/>
                <a:ea typeface="Arial" pitchFamily="34" charset="-122"/>
                <a:cs typeface="Arial" pitchFamily="34" charset="-120"/>
              </a:rPr>
              <a:t>INSTALLATION</a:t>
            </a:r>
            <a:endParaRPr lang="en-US" sz="825" dirty="0"/>
          </a:p>
        </p:txBody>
      </p:sp>
      <p:sp>
        <p:nvSpPr>
          <p:cNvPr id="4" name="Text 2"/>
          <p:cNvSpPr/>
          <p:nvPr/>
        </p:nvSpPr>
        <p:spPr>
          <a:xfrm>
            <a:off x="342900" y="2022128"/>
            <a:ext cx="1583627" cy="685800"/>
          </a:xfrm>
          <a:prstGeom prst="rect">
            <a:avLst/>
          </a:prstGeom>
          <a:noFill/>
          <a:ln/>
        </p:spPr>
        <p:txBody>
          <a:bodyPr wrap="square" lIns="0" tIns="0" rIns="0" bIns="0" rtlCol="0" anchor="t"/>
          <a:lstStyle/>
          <a:p>
            <a:pPr algn="l" indent="0" marL="0">
              <a:lnSpc>
                <a:spcPts val="2700"/>
              </a:lnSpc>
              <a:buNone/>
            </a:pPr>
            <a:r>
              <a:rPr lang="en-US" sz="2250" dirty="0">
                <a:solidFill>
                  <a:srgbClr val="1A1F2E"/>
                </a:solidFill>
                <a:latin typeface="Georgia" pitchFamily="34" charset="0"/>
                <a:ea typeface="Georgia" pitchFamily="34" charset="-122"/>
                <a:cs typeface="Georgia" pitchFamily="34" charset="-120"/>
              </a:rPr>
              <a:t>Wispr Flow</a:t>
            </a:r>
            <a:endParaRPr lang="en-US" sz="2250" dirty="0"/>
          </a:p>
          <a:p>
            <a:pPr algn="l" indent="0" marL="0">
              <a:lnSpc>
                <a:spcPts val="2700"/>
              </a:lnSpc>
              <a:buNone/>
            </a:pPr>
            <a:r>
              <a:rPr lang="en-US" sz="2250" dirty="0">
                <a:solidFill>
                  <a:srgbClr val="1A1F2E"/>
                </a:solidFill>
                <a:latin typeface="Georgia" pitchFamily="34" charset="0"/>
                <a:ea typeface="Georgia" pitchFamily="34" charset="-122"/>
                <a:cs typeface="Georgia" pitchFamily="34" charset="-120"/>
              </a:rPr>
              <a:t>Setup Guide</a:t>
            </a:r>
            <a:endParaRPr lang="en-US" sz="2250" dirty="0"/>
          </a:p>
        </p:txBody>
      </p:sp>
      <p:sp>
        <p:nvSpPr>
          <p:cNvPr id="5" name="Text 3"/>
          <p:cNvSpPr/>
          <p:nvPr/>
        </p:nvSpPr>
        <p:spPr>
          <a:xfrm>
            <a:off x="342900" y="3050828"/>
            <a:ext cx="457200" cy="19050"/>
          </a:xfrm>
          <a:prstGeom prst="rect">
            <a:avLst/>
          </a:prstGeom>
          <a:solidFill>
            <a:srgbClr val="1A1F2E"/>
          </a:solidFill>
          <a:ln/>
        </p:spPr>
        <p:txBody>
          <a:bodyPr wrap="square" rtlCol="0" anchor="ctr"/>
          <a:lstStyle/>
          <a:p>
            <a:pPr indent="0" marL="0">
              <a:buNone/>
            </a:pPr>
            <a:endParaRPr lang="en-US" dirty="0"/>
          </a:p>
        </p:txBody>
      </p:sp>
      <p:sp>
        <p:nvSpPr>
          <p:cNvPr id="6" name="Text 4"/>
          <p:cNvSpPr/>
          <p:nvPr/>
        </p:nvSpPr>
        <p:spPr>
          <a:xfrm>
            <a:off x="342900" y="3412778"/>
            <a:ext cx="2514645" cy="159990"/>
          </a:xfrm>
          <a:prstGeom prst="rect">
            <a:avLst/>
          </a:prstGeom>
          <a:noFill/>
          <a:ln/>
        </p:spPr>
        <p:txBody>
          <a:bodyPr wrap="square" lIns="0" tIns="0" rIns="0" bIns="0" rtlCol="0" anchor="t"/>
          <a:lstStyle/>
          <a:p>
            <a:pPr algn="l" indent="0" marL="0">
              <a:lnSpc>
                <a:spcPts val="1260"/>
              </a:lnSpc>
              <a:buNone/>
            </a:pPr>
            <a:r>
              <a:rPr lang="en-US" sz="900" dirty="0">
                <a:solidFill>
                  <a:srgbClr val="1A1F2E">
                    <a:alpha val="70000"/>
                  </a:srgbClr>
                </a:solidFill>
                <a:latin typeface="Arial" pitchFamily="34" charset="0"/>
                <a:ea typeface="Arial" pitchFamily="34" charset="-122"/>
                <a:cs typeface="Arial" pitchFamily="34" charset="-120"/>
              </a:rPr>
              <a:t>Quick setup on any platform</a:t>
            </a:r>
            <a:endParaRPr lang="en-US" sz="900" dirty="0"/>
          </a:p>
        </p:txBody>
      </p:sp>
      <p:sp>
        <p:nvSpPr>
          <p:cNvPr id="7" name="Text 5"/>
          <p:cNvSpPr/>
          <p:nvPr/>
        </p:nvSpPr>
        <p:spPr>
          <a:xfrm>
            <a:off x="3303538" y="0"/>
            <a:ext cx="5840462" cy="5143500"/>
          </a:xfrm>
          <a:prstGeom prst="rect">
            <a:avLst/>
          </a:prstGeom>
          <a:solidFill>
            <a:srgbClr val="F7F8FA"/>
          </a:solidFill>
          <a:ln/>
        </p:spPr>
        <p:txBody>
          <a:bodyPr wrap="square" rtlCol="0" anchor="ctr"/>
          <a:lstStyle/>
          <a:p>
            <a:pPr indent="0" marL="0">
              <a:buNone/>
            </a:pPr>
            <a:endParaRPr lang="en-US" dirty="0"/>
          </a:p>
        </p:txBody>
      </p:sp>
      <p:sp>
        <p:nvSpPr>
          <p:cNvPr id="8" name="Text 6"/>
          <p:cNvSpPr/>
          <p:nvPr/>
        </p:nvSpPr>
        <p:spPr>
          <a:xfrm>
            <a:off x="3646438" y="541586"/>
            <a:ext cx="5154662" cy="634157"/>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9" name="Text 7"/>
          <p:cNvSpPr/>
          <p:nvPr/>
        </p:nvSpPr>
        <p:spPr>
          <a:xfrm>
            <a:off x="3827413" y="725239"/>
            <a:ext cx="266700" cy="266700"/>
          </a:xfrm>
          <a:prstGeom prst="rect">
            <a:avLst/>
          </a:prstGeom>
          <a:solidFill>
            <a:srgbClr val="1A1F2E"/>
          </a:solidFill>
          <a:ln/>
        </p:spPr>
        <p:txBody>
          <a:bodyPr wrap="square" rtlCol="0" anchor="ctr"/>
          <a:lstStyle/>
          <a:p>
            <a:pPr indent="0" marL="0">
              <a:buNone/>
            </a:pPr>
            <a:endParaRPr lang="en-US" dirty="0"/>
          </a:p>
        </p:txBody>
      </p:sp>
      <p:sp>
        <p:nvSpPr>
          <p:cNvPr id="10" name="Text 8"/>
          <p:cNvSpPr/>
          <p:nvPr/>
        </p:nvSpPr>
        <p:spPr>
          <a:xfrm>
            <a:off x="3928914" y="778520"/>
            <a:ext cx="64972" cy="159990"/>
          </a:xfrm>
          <a:prstGeom prst="rect">
            <a:avLst/>
          </a:prstGeom>
          <a:noFill/>
          <a:ln/>
        </p:spPr>
        <p:txBody>
          <a:bodyPr wrap="square" lIns="0" tIns="0" rIns="0" bIns="0" rtlCol="0" anchor="t"/>
          <a:lstStyle/>
          <a:p>
            <a:pPr algn="l" indent="0" marL="0">
              <a:lnSpc>
                <a:spcPts val="1260"/>
              </a:lnSpc>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11" name="Text 9"/>
          <p:cNvSpPr/>
          <p:nvPr/>
        </p:nvSpPr>
        <p:spPr>
          <a:xfrm>
            <a:off x="4379863" y="684461"/>
            <a:ext cx="2256880" cy="173236"/>
          </a:xfrm>
          <a:prstGeom prst="rect">
            <a:avLst/>
          </a:prstGeom>
          <a:noFill/>
          <a:ln/>
        </p:spPr>
        <p:txBody>
          <a:bodyPr wrap="square" lIns="0" tIns="0" rIns="0" bIns="0" rtlCol="0" anchor="t"/>
          <a:lstStyle/>
          <a:p>
            <a:pPr algn="l" indent="0" marL="0">
              <a:lnSpc>
                <a:spcPts val="1365"/>
              </a:lnSpc>
              <a:buNone/>
            </a:pPr>
            <a:r>
              <a:rPr lang="en-US" sz="975" b="1" dirty="0">
                <a:solidFill>
                  <a:srgbClr val="1A1F2E"/>
                </a:solidFill>
                <a:latin typeface="Arial" pitchFamily="34" charset="0"/>
                <a:ea typeface="Arial" pitchFamily="34" charset="-122"/>
                <a:cs typeface="Arial" pitchFamily="34" charset="-120"/>
              </a:rPr>
              <a:t>Visit wisprflow.ai</a:t>
            </a:r>
            <a:endParaRPr lang="en-US" sz="975" dirty="0"/>
          </a:p>
        </p:txBody>
      </p:sp>
      <p:sp>
        <p:nvSpPr>
          <p:cNvPr id="12" name="Text 10"/>
          <p:cNvSpPr/>
          <p:nvPr/>
        </p:nvSpPr>
        <p:spPr>
          <a:xfrm>
            <a:off x="4379863" y="886271"/>
            <a:ext cx="2256880" cy="146596"/>
          </a:xfrm>
          <a:prstGeom prst="rect">
            <a:avLst/>
          </a:prstGeom>
          <a:noFill/>
          <a:ln/>
        </p:spPr>
        <p:txBody>
          <a:bodyPr wrap="square" lIns="0" tIns="0" rIns="0" bIns="0" rtlCol="0" anchor="t"/>
          <a:lstStyle/>
          <a:p>
            <a:pPr algn="l" indent="0" marL="0">
              <a:lnSpc>
                <a:spcPts val="1155"/>
              </a:lnSpc>
              <a:spcBef>
                <a:spcPts val="225"/>
              </a:spcBef>
              <a:buNone/>
            </a:pPr>
            <a:r>
              <a:rPr lang="en-US" sz="825" dirty="0">
                <a:solidFill>
                  <a:srgbClr val="6B7280"/>
                </a:solidFill>
                <a:latin typeface="Arial" pitchFamily="34" charset="0"/>
                <a:ea typeface="Arial" pitchFamily="34" charset="-122"/>
                <a:cs typeface="Arial" pitchFamily="34" charset="-120"/>
              </a:rPr>
              <a:t>Download for your platform (Mac/Windows/iOS)</a:t>
            </a:r>
            <a:endParaRPr lang="en-US" sz="825" dirty="0"/>
          </a:p>
        </p:txBody>
      </p:sp>
      <p:sp>
        <p:nvSpPr>
          <p:cNvPr id="13" name="Text 11"/>
          <p:cNvSpPr/>
          <p:nvPr/>
        </p:nvSpPr>
        <p:spPr>
          <a:xfrm>
            <a:off x="3646438" y="1270992"/>
            <a:ext cx="5154662" cy="634157"/>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4" name="Text 12"/>
          <p:cNvSpPr/>
          <p:nvPr/>
        </p:nvSpPr>
        <p:spPr>
          <a:xfrm>
            <a:off x="3827413" y="1454646"/>
            <a:ext cx="266700" cy="266700"/>
          </a:xfrm>
          <a:prstGeom prst="rect">
            <a:avLst/>
          </a:prstGeom>
          <a:solidFill>
            <a:srgbClr val="1A1F2E"/>
          </a:solidFill>
          <a:ln/>
        </p:spPr>
        <p:txBody>
          <a:bodyPr wrap="square" rtlCol="0" anchor="ctr"/>
          <a:lstStyle/>
          <a:p>
            <a:pPr indent="0" marL="0">
              <a:buNone/>
            </a:pPr>
            <a:endParaRPr lang="en-US" dirty="0"/>
          </a:p>
        </p:txBody>
      </p:sp>
      <p:sp>
        <p:nvSpPr>
          <p:cNvPr id="15" name="Text 13"/>
          <p:cNvSpPr/>
          <p:nvPr/>
        </p:nvSpPr>
        <p:spPr>
          <a:xfrm>
            <a:off x="3928914" y="1507927"/>
            <a:ext cx="64972" cy="159990"/>
          </a:xfrm>
          <a:prstGeom prst="rect">
            <a:avLst/>
          </a:prstGeom>
          <a:noFill/>
          <a:ln/>
        </p:spPr>
        <p:txBody>
          <a:bodyPr wrap="square" lIns="0" tIns="0" rIns="0" bIns="0" rtlCol="0" anchor="t"/>
          <a:lstStyle/>
          <a:p>
            <a:pPr algn="l" indent="0" marL="0">
              <a:lnSpc>
                <a:spcPts val="1260"/>
              </a:lnSpc>
              <a:buNone/>
            </a:pPr>
            <a:r>
              <a:rPr lang="en-US" sz="900" b="1" dirty="0">
                <a:solidFill>
                  <a:srgbClr val="FFFFFF"/>
                </a:solidFill>
                <a:latin typeface="Arial" pitchFamily="34" charset="0"/>
                <a:ea typeface="Arial" pitchFamily="34" charset="-122"/>
                <a:cs typeface="Arial" pitchFamily="34" charset="-120"/>
              </a:rPr>
              <a:t>2</a:t>
            </a:r>
            <a:endParaRPr lang="en-US" sz="900" dirty="0"/>
          </a:p>
        </p:txBody>
      </p:sp>
      <p:sp>
        <p:nvSpPr>
          <p:cNvPr id="16" name="Text 14"/>
          <p:cNvSpPr/>
          <p:nvPr/>
        </p:nvSpPr>
        <p:spPr>
          <a:xfrm>
            <a:off x="4379863" y="1413867"/>
            <a:ext cx="2326559" cy="173236"/>
          </a:xfrm>
          <a:prstGeom prst="rect">
            <a:avLst/>
          </a:prstGeom>
          <a:noFill/>
          <a:ln/>
        </p:spPr>
        <p:txBody>
          <a:bodyPr wrap="square" lIns="0" tIns="0" rIns="0" bIns="0" rtlCol="0" anchor="t"/>
          <a:lstStyle/>
          <a:p>
            <a:pPr algn="l" indent="0" marL="0">
              <a:lnSpc>
                <a:spcPts val="1365"/>
              </a:lnSpc>
              <a:buNone/>
            </a:pPr>
            <a:r>
              <a:rPr lang="en-US" sz="975" b="1" dirty="0">
                <a:solidFill>
                  <a:srgbClr val="1A1F2E"/>
                </a:solidFill>
                <a:latin typeface="Arial" pitchFamily="34" charset="0"/>
                <a:ea typeface="Arial" pitchFamily="34" charset="-122"/>
                <a:cs typeface="Arial" pitchFamily="34" charset="-120"/>
              </a:rPr>
              <a:t>Install the Application</a:t>
            </a:r>
            <a:endParaRPr lang="en-US" sz="975" dirty="0"/>
          </a:p>
        </p:txBody>
      </p:sp>
      <p:sp>
        <p:nvSpPr>
          <p:cNvPr id="17" name="Text 15"/>
          <p:cNvSpPr/>
          <p:nvPr/>
        </p:nvSpPr>
        <p:spPr>
          <a:xfrm>
            <a:off x="4379863" y="1615678"/>
            <a:ext cx="2326559" cy="146596"/>
          </a:xfrm>
          <a:prstGeom prst="rect">
            <a:avLst/>
          </a:prstGeom>
          <a:noFill/>
          <a:ln/>
        </p:spPr>
        <p:txBody>
          <a:bodyPr wrap="square" lIns="0" tIns="0" rIns="0" bIns="0" rtlCol="0" anchor="t"/>
          <a:lstStyle/>
          <a:p>
            <a:pPr algn="l" indent="0" marL="0">
              <a:lnSpc>
                <a:spcPts val="1155"/>
              </a:lnSpc>
              <a:spcBef>
                <a:spcPts val="225"/>
              </a:spcBef>
              <a:buNone/>
            </a:pPr>
            <a:r>
              <a:rPr lang="en-US" sz="825" dirty="0">
                <a:solidFill>
                  <a:srgbClr val="6B7280"/>
                </a:solidFill>
                <a:latin typeface="Arial" pitchFamily="34" charset="0"/>
                <a:ea typeface="Arial" pitchFamily="34" charset="-122"/>
                <a:cs typeface="Arial" pitchFamily="34" charset="-120"/>
              </a:rPr>
              <a:t>Mac: drag to Applications | Windows: run installer</a:t>
            </a:r>
            <a:endParaRPr lang="en-US" sz="825" dirty="0"/>
          </a:p>
        </p:txBody>
      </p:sp>
      <p:sp>
        <p:nvSpPr>
          <p:cNvPr id="18" name="Text 16"/>
          <p:cNvSpPr/>
          <p:nvPr/>
        </p:nvSpPr>
        <p:spPr>
          <a:xfrm>
            <a:off x="3646438" y="2000399"/>
            <a:ext cx="5154662" cy="634157"/>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9" name="Text 17"/>
          <p:cNvSpPr/>
          <p:nvPr/>
        </p:nvSpPr>
        <p:spPr>
          <a:xfrm>
            <a:off x="3827413" y="2184053"/>
            <a:ext cx="266700" cy="266700"/>
          </a:xfrm>
          <a:prstGeom prst="rect">
            <a:avLst/>
          </a:prstGeom>
          <a:solidFill>
            <a:srgbClr val="1A1F2E"/>
          </a:solidFill>
          <a:ln/>
        </p:spPr>
        <p:txBody>
          <a:bodyPr wrap="square" rtlCol="0" anchor="ctr"/>
          <a:lstStyle/>
          <a:p>
            <a:pPr indent="0" marL="0">
              <a:buNone/>
            </a:pPr>
            <a:endParaRPr lang="en-US" dirty="0"/>
          </a:p>
        </p:txBody>
      </p:sp>
      <p:sp>
        <p:nvSpPr>
          <p:cNvPr id="20" name="Text 18"/>
          <p:cNvSpPr/>
          <p:nvPr/>
        </p:nvSpPr>
        <p:spPr>
          <a:xfrm>
            <a:off x="3928914" y="2237333"/>
            <a:ext cx="64972" cy="159990"/>
          </a:xfrm>
          <a:prstGeom prst="rect">
            <a:avLst/>
          </a:prstGeom>
          <a:noFill/>
          <a:ln/>
        </p:spPr>
        <p:txBody>
          <a:bodyPr wrap="square" lIns="0" tIns="0" rIns="0" bIns="0" rtlCol="0" anchor="t"/>
          <a:lstStyle/>
          <a:p>
            <a:pPr algn="l" indent="0" marL="0">
              <a:lnSpc>
                <a:spcPts val="1260"/>
              </a:lnSpc>
              <a:buNone/>
            </a:pPr>
            <a:r>
              <a:rPr lang="en-US" sz="900" b="1" dirty="0">
                <a:solidFill>
                  <a:srgbClr val="FFFFFF"/>
                </a:solidFill>
                <a:latin typeface="Arial" pitchFamily="34" charset="0"/>
                <a:ea typeface="Arial" pitchFamily="34" charset="-122"/>
                <a:cs typeface="Arial" pitchFamily="34" charset="-120"/>
              </a:rPr>
              <a:t>3</a:t>
            </a:r>
            <a:endParaRPr lang="en-US" sz="900" dirty="0"/>
          </a:p>
        </p:txBody>
      </p:sp>
      <p:sp>
        <p:nvSpPr>
          <p:cNvPr id="21" name="Text 19"/>
          <p:cNvSpPr/>
          <p:nvPr/>
        </p:nvSpPr>
        <p:spPr>
          <a:xfrm>
            <a:off x="4379863" y="2143274"/>
            <a:ext cx="2203900" cy="173236"/>
          </a:xfrm>
          <a:prstGeom prst="rect">
            <a:avLst/>
          </a:prstGeom>
          <a:noFill/>
          <a:ln/>
        </p:spPr>
        <p:txBody>
          <a:bodyPr wrap="square" lIns="0" tIns="0" rIns="0" bIns="0" rtlCol="0" anchor="t"/>
          <a:lstStyle/>
          <a:p>
            <a:pPr algn="l" indent="0" marL="0">
              <a:lnSpc>
                <a:spcPts val="1365"/>
              </a:lnSpc>
              <a:buNone/>
            </a:pPr>
            <a:r>
              <a:rPr lang="en-US" sz="975" b="1" dirty="0">
                <a:solidFill>
                  <a:srgbClr val="1A1F2E"/>
                </a:solidFill>
                <a:latin typeface="Arial" pitchFamily="34" charset="0"/>
                <a:ea typeface="Arial" pitchFamily="34" charset="-122"/>
                <a:cs typeface="Arial" pitchFamily="34" charset="-120"/>
              </a:rPr>
              <a:t>Create Account or Sign In</a:t>
            </a:r>
            <a:endParaRPr lang="en-US" sz="975" dirty="0"/>
          </a:p>
        </p:txBody>
      </p:sp>
      <p:sp>
        <p:nvSpPr>
          <p:cNvPr id="22" name="Text 20"/>
          <p:cNvSpPr/>
          <p:nvPr/>
        </p:nvSpPr>
        <p:spPr>
          <a:xfrm>
            <a:off x="4379863" y="2345085"/>
            <a:ext cx="2203900" cy="146596"/>
          </a:xfrm>
          <a:prstGeom prst="rect">
            <a:avLst/>
          </a:prstGeom>
          <a:noFill/>
          <a:ln/>
        </p:spPr>
        <p:txBody>
          <a:bodyPr wrap="square" lIns="0" tIns="0" rIns="0" bIns="0" rtlCol="0" anchor="t"/>
          <a:lstStyle/>
          <a:p>
            <a:pPr algn="l" indent="0" marL="0">
              <a:lnSpc>
                <a:spcPts val="1155"/>
              </a:lnSpc>
              <a:spcBef>
                <a:spcPts val="225"/>
              </a:spcBef>
              <a:buNone/>
            </a:pPr>
            <a:r>
              <a:rPr lang="en-US" sz="825" dirty="0">
                <a:solidFill>
                  <a:srgbClr val="6B7280"/>
                </a:solidFill>
                <a:latin typeface="Arial" pitchFamily="34" charset="0"/>
                <a:ea typeface="Arial" pitchFamily="34" charset="-122"/>
                <a:cs typeface="Arial" pitchFamily="34" charset="-120"/>
              </a:rPr>
              <a:t>Free tier available, or connect existing account</a:t>
            </a:r>
            <a:endParaRPr lang="en-US" sz="825" dirty="0"/>
          </a:p>
        </p:txBody>
      </p:sp>
      <p:sp>
        <p:nvSpPr>
          <p:cNvPr id="23" name="Text 21"/>
          <p:cNvSpPr/>
          <p:nvPr/>
        </p:nvSpPr>
        <p:spPr>
          <a:xfrm>
            <a:off x="3646438" y="2729805"/>
            <a:ext cx="5154662" cy="634157"/>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24" name="Text 22"/>
          <p:cNvSpPr/>
          <p:nvPr/>
        </p:nvSpPr>
        <p:spPr>
          <a:xfrm>
            <a:off x="3827413" y="2913459"/>
            <a:ext cx="266700" cy="266700"/>
          </a:xfrm>
          <a:prstGeom prst="rect">
            <a:avLst/>
          </a:prstGeom>
          <a:solidFill>
            <a:srgbClr val="1A1F2E"/>
          </a:solidFill>
          <a:ln/>
        </p:spPr>
        <p:txBody>
          <a:bodyPr wrap="square" rtlCol="0" anchor="ctr"/>
          <a:lstStyle/>
          <a:p>
            <a:pPr indent="0" marL="0">
              <a:buNone/>
            </a:pPr>
            <a:endParaRPr lang="en-US" dirty="0"/>
          </a:p>
        </p:txBody>
      </p:sp>
      <p:sp>
        <p:nvSpPr>
          <p:cNvPr id="25" name="Text 23"/>
          <p:cNvSpPr/>
          <p:nvPr/>
        </p:nvSpPr>
        <p:spPr>
          <a:xfrm>
            <a:off x="3928914" y="2966740"/>
            <a:ext cx="64972" cy="159990"/>
          </a:xfrm>
          <a:prstGeom prst="rect">
            <a:avLst/>
          </a:prstGeom>
          <a:noFill/>
          <a:ln/>
        </p:spPr>
        <p:txBody>
          <a:bodyPr wrap="square" lIns="0" tIns="0" rIns="0" bIns="0" rtlCol="0" anchor="t"/>
          <a:lstStyle/>
          <a:p>
            <a:pPr algn="l" indent="0" marL="0">
              <a:lnSpc>
                <a:spcPts val="1260"/>
              </a:lnSpc>
              <a:buNone/>
            </a:pPr>
            <a:r>
              <a:rPr lang="en-US" sz="900" b="1" dirty="0">
                <a:solidFill>
                  <a:srgbClr val="FFFFFF"/>
                </a:solidFill>
                <a:latin typeface="Arial" pitchFamily="34" charset="0"/>
                <a:ea typeface="Arial" pitchFamily="34" charset="-122"/>
                <a:cs typeface="Arial" pitchFamily="34" charset="-120"/>
              </a:rPr>
              <a:t>4</a:t>
            </a:r>
            <a:endParaRPr lang="en-US" sz="900" dirty="0"/>
          </a:p>
        </p:txBody>
      </p:sp>
      <p:sp>
        <p:nvSpPr>
          <p:cNvPr id="26" name="Text 24"/>
          <p:cNvSpPr/>
          <p:nvPr/>
        </p:nvSpPr>
        <p:spPr>
          <a:xfrm>
            <a:off x="4379863" y="2872680"/>
            <a:ext cx="1803743" cy="173236"/>
          </a:xfrm>
          <a:prstGeom prst="rect">
            <a:avLst/>
          </a:prstGeom>
          <a:noFill/>
          <a:ln/>
        </p:spPr>
        <p:txBody>
          <a:bodyPr wrap="square" lIns="0" tIns="0" rIns="0" bIns="0" rtlCol="0" anchor="t"/>
          <a:lstStyle/>
          <a:p>
            <a:pPr algn="l" indent="0" marL="0">
              <a:lnSpc>
                <a:spcPts val="1365"/>
              </a:lnSpc>
              <a:buNone/>
            </a:pPr>
            <a:r>
              <a:rPr lang="en-US" sz="975" b="1" dirty="0">
                <a:solidFill>
                  <a:srgbClr val="1A1F2E"/>
                </a:solidFill>
                <a:latin typeface="Arial" pitchFamily="34" charset="0"/>
                <a:ea typeface="Arial" pitchFamily="34" charset="-122"/>
                <a:cs typeface="Arial" pitchFamily="34" charset="-120"/>
              </a:rPr>
              <a:t>Grant Microphone Permission</a:t>
            </a:r>
            <a:endParaRPr lang="en-US" sz="975" dirty="0"/>
          </a:p>
        </p:txBody>
      </p:sp>
      <p:sp>
        <p:nvSpPr>
          <p:cNvPr id="27" name="Text 25"/>
          <p:cNvSpPr/>
          <p:nvPr/>
        </p:nvSpPr>
        <p:spPr>
          <a:xfrm>
            <a:off x="4379863" y="3074491"/>
            <a:ext cx="1803743" cy="146596"/>
          </a:xfrm>
          <a:prstGeom prst="rect">
            <a:avLst/>
          </a:prstGeom>
          <a:noFill/>
          <a:ln/>
        </p:spPr>
        <p:txBody>
          <a:bodyPr wrap="square" lIns="0" tIns="0" rIns="0" bIns="0" rtlCol="0" anchor="t"/>
          <a:lstStyle/>
          <a:p>
            <a:pPr algn="l" indent="0" marL="0">
              <a:lnSpc>
                <a:spcPts val="1155"/>
              </a:lnSpc>
              <a:spcBef>
                <a:spcPts val="225"/>
              </a:spcBef>
              <a:buNone/>
            </a:pPr>
            <a:r>
              <a:rPr lang="en-US" sz="825" dirty="0">
                <a:solidFill>
                  <a:srgbClr val="6B7280"/>
                </a:solidFill>
                <a:latin typeface="Arial" pitchFamily="34" charset="0"/>
                <a:ea typeface="Arial" pitchFamily="34" charset="-122"/>
                <a:cs typeface="Arial" pitchFamily="34" charset="-120"/>
              </a:rPr>
              <a:t>Required for voice input functionality</a:t>
            </a:r>
            <a:endParaRPr lang="en-US" sz="825" dirty="0"/>
          </a:p>
        </p:txBody>
      </p:sp>
      <p:sp>
        <p:nvSpPr>
          <p:cNvPr id="28" name="Text 26"/>
          <p:cNvSpPr/>
          <p:nvPr/>
        </p:nvSpPr>
        <p:spPr>
          <a:xfrm>
            <a:off x="3646438" y="3459212"/>
            <a:ext cx="5154662" cy="615107"/>
          </a:xfrm>
          <a:prstGeom prst="rect">
            <a:avLst/>
          </a:prstGeom>
          <a:solidFill>
            <a:srgbClr val="C9A227"/>
          </a:solidFill>
          <a:ln/>
        </p:spPr>
        <p:txBody>
          <a:bodyPr wrap="square" rtlCol="0" anchor="ctr"/>
          <a:lstStyle/>
          <a:p>
            <a:pPr indent="0" marL="0">
              <a:buNone/>
            </a:pPr>
            <a:endParaRPr lang="en-US" dirty="0"/>
          </a:p>
        </p:txBody>
      </p:sp>
      <p:sp>
        <p:nvSpPr>
          <p:cNvPr id="29" name="Text 27"/>
          <p:cNvSpPr/>
          <p:nvPr/>
        </p:nvSpPr>
        <p:spPr>
          <a:xfrm>
            <a:off x="3817888" y="3633341"/>
            <a:ext cx="266700" cy="266700"/>
          </a:xfrm>
          <a:prstGeom prst="rect">
            <a:avLst/>
          </a:prstGeom>
          <a:solidFill>
            <a:srgbClr val="1A1F2E"/>
          </a:solidFill>
          <a:ln/>
        </p:spPr>
        <p:txBody>
          <a:bodyPr wrap="square" rtlCol="0" anchor="ctr"/>
          <a:lstStyle/>
          <a:p>
            <a:pPr indent="0" marL="0">
              <a:buNone/>
            </a:pPr>
            <a:endParaRPr lang="en-US" dirty="0"/>
          </a:p>
        </p:txBody>
      </p:sp>
      <p:sp>
        <p:nvSpPr>
          <p:cNvPr id="30" name="Text 28"/>
          <p:cNvSpPr/>
          <p:nvPr/>
        </p:nvSpPr>
        <p:spPr>
          <a:xfrm>
            <a:off x="3919389" y="3686621"/>
            <a:ext cx="64972" cy="159990"/>
          </a:xfrm>
          <a:prstGeom prst="rect">
            <a:avLst/>
          </a:prstGeom>
          <a:noFill/>
          <a:ln/>
        </p:spPr>
        <p:txBody>
          <a:bodyPr wrap="square" lIns="0" tIns="0" rIns="0" bIns="0" rtlCol="0" anchor="t"/>
          <a:lstStyle/>
          <a:p>
            <a:pPr algn="l" indent="0" marL="0">
              <a:lnSpc>
                <a:spcPts val="1260"/>
              </a:lnSpc>
              <a:buNone/>
            </a:pPr>
            <a:r>
              <a:rPr lang="en-US" sz="900" b="1" dirty="0">
                <a:solidFill>
                  <a:srgbClr val="FFFFFF"/>
                </a:solidFill>
                <a:latin typeface="Arial" pitchFamily="34" charset="0"/>
                <a:ea typeface="Arial" pitchFamily="34" charset="-122"/>
                <a:cs typeface="Arial" pitchFamily="34" charset="-120"/>
              </a:rPr>
              <a:t>5</a:t>
            </a:r>
            <a:endParaRPr lang="en-US" sz="900" dirty="0"/>
          </a:p>
        </p:txBody>
      </p:sp>
      <p:sp>
        <p:nvSpPr>
          <p:cNvPr id="31" name="Text 29"/>
          <p:cNvSpPr/>
          <p:nvPr/>
        </p:nvSpPr>
        <p:spPr>
          <a:xfrm>
            <a:off x="4370338" y="3592562"/>
            <a:ext cx="2453467" cy="173236"/>
          </a:xfrm>
          <a:prstGeom prst="rect">
            <a:avLst/>
          </a:prstGeom>
          <a:noFill/>
          <a:ln/>
        </p:spPr>
        <p:txBody>
          <a:bodyPr wrap="square" lIns="0" tIns="0" rIns="0" bIns="0" rtlCol="0" anchor="t"/>
          <a:lstStyle/>
          <a:p>
            <a:pPr algn="l" indent="0" marL="0">
              <a:lnSpc>
                <a:spcPts val="1365"/>
              </a:lnSpc>
              <a:buNone/>
            </a:pPr>
            <a:r>
              <a:rPr lang="en-US" sz="975" b="1" dirty="0">
                <a:solidFill>
                  <a:srgbClr val="1A1F2E"/>
                </a:solidFill>
                <a:latin typeface="Arial" pitchFamily="34" charset="0"/>
                <a:ea typeface="Arial" pitchFamily="34" charset="-122"/>
                <a:cs typeface="Arial" pitchFamily="34" charset="-120"/>
              </a:rPr>
              <a:t>Enable Privacy Mode (IMPORTANT)</a:t>
            </a:r>
            <a:endParaRPr lang="en-US" sz="975" dirty="0"/>
          </a:p>
        </p:txBody>
      </p:sp>
      <p:sp>
        <p:nvSpPr>
          <p:cNvPr id="32" name="Text 30"/>
          <p:cNvSpPr/>
          <p:nvPr/>
        </p:nvSpPr>
        <p:spPr>
          <a:xfrm>
            <a:off x="4370338" y="3794373"/>
            <a:ext cx="2453467" cy="146596"/>
          </a:xfrm>
          <a:prstGeom prst="rect">
            <a:avLst/>
          </a:prstGeom>
          <a:noFill/>
          <a:ln/>
        </p:spPr>
        <p:txBody>
          <a:bodyPr wrap="square" lIns="0" tIns="0" rIns="0" bIns="0" rtlCol="0" anchor="t"/>
          <a:lstStyle/>
          <a:p>
            <a:pPr algn="l" indent="0" marL="0">
              <a:lnSpc>
                <a:spcPts val="1155"/>
              </a:lnSpc>
              <a:spcBef>
                <a:spcPts val="225"/>
              </a:spcBef>
              <a:buNone/>
            </a:pPr>
            <a:r>
              <a:rPr lang="en-US" sz="825" dirty="0">
                <a:solidFill>
                  <a:srgbClr val="1A1F2E">
                    <a:alpha val="70000"/>
                  </a:srgbClr>
                </a:solidFill>
                <a:latin typeface="Arial" pitchFamily="34" charset="0"/>
                <a:ea typeface="Arial" pitchFamily="34" charset="-122"/>
                <a:cs typeface="Arial" pitchFamily="34" charset="-120"/>
              </a:rPr>
              <a:t>Settings &gt; Data and Privacy &gt; Enable Privacy Mode</a:t>
            </a:r>
            <a:endParaRPr lang="en-US" sz="825" dirty="0"/>
          </a:p>
        </p:txBody>
      </p:sp>
      <p:sp>
        <p:nvSpPr>
          <p:cNvPr id="33" name="Text 31"/>
          <p:cNvSpPr/>
          <p:nvPr/>
        </p:nvSpPr>
        <p:spPr>
          <a:xfrm>
            <a:off x="3646438" y="4226719"/>
            <a:ext cx="5154662" cy="375196"/>
          </a:xfrm>
          <a:prstGeom prst="rect">
            <a:avLst/>
          </a:prstGeom>
          <a:solidFill>
            <a:srgbClr val="FEF3C7"/>
          </a:solidFill>
          <a:ln/>
        </p:spPr>
        <p:txBody>
          <a:bodyPr wrap="square" rtlCol="0" anchor="ctr"/>
          <a:lstStyle/>
          <a:p>
            <a:pPr indent="0" marL="0">
              <a:buNone/>
            </a:pPr>
            <a:endParaRPr lang="en-US" dirty="0"/>
          </a:p>
        </p:txBody>
      </p:sp>
      <p:sp>
        <p:nvSpPr>
          <p:cNvPr id="34" name="Shape 32"/>
          <p:cNvSpPr/>
          <p:nvPr/>
        </p:nvSpPr>
        <p:spPr>
          <a:xfrm>
            <a:off x="3665488" y="4226719"/>
            <a:ext cx="0" cy="375196"/>
          </a:xfrm>
          <a:prstGeom prst="line">
            <a:avLst/>
          </a:prstGeom>
          <a:noFill/>
          <a:ln w="38100">
            <a:solidFill>
              <a:srgbClr val="F59E0B"/>
            </a:solidFill>
            <a:prstDash val="solid"/>
          </a:ln>
        </p:spPr>
      </p:sp>
      <p:sp>
        <p:nvSpPr>
          <p:cNvPr id="35" name="Text 33"/>
          <p:cNvSpPr/>
          <p:nvPr/>
        </p:nvSpPr>
        <p:spPr>
          <a:xfrm>
            <a:off x="3836938" y="4341019"/>
            <a:ext cx="4907997" cy="146596"/>
          </a:xfrm>
          <a:prstGeom prst="rect">
            <a:avLst/>
          </a:prstGeom>
          <a:noFill/>
          <a:ln/>
        </p:spPr>
        <p:txBody>
          <a:bodyPr wrap="square" lIns="0" tIns="0" rIns="0" bIns="0" rtlCol="0" anchor="t"/>
          <a:lstStyle/>
          <a:p>
            <a:pPr algn="l" indent="0" marL="0">
              <a:lnSpc>
                <a:spcPts val="1155"/>
              </a:lnSpc>
              <a:buNone/>
            </a:pPr>
            <a:r>
              <a:rPr lang="en-US" sz="825" b="1" dirty="0">
                <a:solidFill>
                  <a:srgbClr val="92400E"/>
                </a:solidFill>
                <a:latin typeface="Arial" pitchFamily="34" charset="0"/>
                <a:ea typeface="Arial" pitchFamily="34" charset="-122"/>
                <a:cs typeface="Arial" pitchFamily="34" charset="-120"/>
              </a:rPr>
              <a:t>Note:</a:t>
            </a:r>
            <a:pPr algn="l" indent="0" marL="0">
              <a:lnSpc>
                <a:spcPts val="1155"/>
              </a:lnSpc>
              <a:buNone/>
            </a:pPr>
            <a:r>
              <a:rPr lang="en-US" sz="825" dirty="0">
                <a:solidFill>
                  <a:srgbClr val="92400E"/>
                </a:solidFill>
                <a:latin typeface="Arial" pitchFamily="34" charset="0"/>
                <a:ea typeface="Arial" pitchFamily="34" charset="-122"/>
                <a:cs typeface="Arial" pitchFamily="34" charset="-120"/>
              </a:rPr>
              <a:t> Privacy Mode = zero data retention (audio not stored). Audio still processed in cloud.</a:t>
            </a:r>
            <a:endParaRPr lang="en-US" sz="82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4047381" cy="5143500"/>
          </a:xfrm>
          <a:prstGeom prst="rect">
            <a:avLst/>
          </a:prstGeom>
          <a:solidFill>
            <a:srgbClr val="F59E0B"/>
          </a:solidFill>
          <a:ln/>
        </p:spPr>
        <p:txBody>
          <a:bodyPr wrap="square" rtlCol="0" anchor="ctr"/>
          <a:lstStyle/>
          <a:p>
            <a:pPr indent="0" marL="0">
              <a:buNone/>
            </a:pPr>
            <a:endParaRPr lang="en-US" dirty="0"/>
          </a:p>
        </p:txBody>
      </p:sp>
      <p:sp>
        <p:nvSpPr>
          <p:cNvPr id="3" name="Text 1"/>
          <p:cNvSpPr/>
          <p:nvPr/>
        </p:nvSpPr>
        <p:spPr>
          <a:xfrm>
            <a:off x="304800" y="266700"/>
            <a:ext cx="476250" cy="476250"/>
          </a:xfrm>
          <a:prstGeom prst="rect">
            <a:avLst/>
          </a:prstGeom>
          <a:solidFill>
            <a:srgbClr val="FFFFFF"/>
          </a:solidFill>
          <a:ln/>
        </p:spPr>
        <p:txBody>
          <a:bodyPr wrap="square" rtlCol="0" anchor="ctr"/>
          <a:lstStyle/>
          <a:p>
            <a:pPr indent="0" marL="0">
              <a:buNone/>
            </a:pPr>
            <a:endParaRPr lang="en-US" dirty="0"/>
          </a:p>
        </p:txBody>
      </p:sp>
      <p:sp>
        <p:nvSpPr>
          <p:cNvPr id="4" name="Text 2"/>
          <p:cNvSpPr/>
          <p:nvPr/>
        </p:nvSpPr>
        <p:spPr>
          <a:xfrm>
            <a:off x="489049" y="304800"/>
            <a:ext cx="109755" cy="400050"/>
          </a:xfrm>
          <a:prstGeom prst="rect">
            <a:avLst/>
          </a:prstGeom>
          <a:noFill/>
          <a:ln/>
        </p:spPr>
        <p:txBody>
          <a:bodyPr wrap="square" lIns="0" tIns="0" rIns="0" bIns="0" rtlCol="0" anchor="t"/>
          <a:lstStyle/>
          <a:p>
            <a:pPr algn="l" indent="0" marL="0">
              <a:lnSpc>
                <a:spcPts val="3150"/>
              </a:lnSpc>
              <a:buNone/>
            </a:pPr>
            <a:r>
              <a:rPr lang="en-US" sz="2250" b="1" dirty="0">
                <a:solidFill>
                  <a:srgbClr val="F59E0B"/>
                </a:solidFill>
                <a:latin typeface="Georgia" pitchFamily="34" charset="0"/>
                <a:ea typeface="Georgia" pitchFamily="34" charset="-122"/>
                <a:cs typeface="Georgia" pitchFamily="34" charset="-120"/>
              </a:rPr>
              <a:t>!</a:t>
            </a:r>
            <a:endParaRPr lang="en-US" sz="2250" dirty="0"/>
          </a:p>
        </p:txBody>
      </p:sp>
      <p:sp>
        <p:nvSpPr>
          <p:cNvPr id="5" name="Text 3"/>
          <p:cNvSpPr/>
          <p:nvPr/>
        </p:nvSpPr>
        <p:spPr>
          <a:xfrm>
            <a:off x="304800" y="1047750"/>
            <a:ext cx="3506536" cy="133350"/>
          </a:xfrm>
          <a:prstGeom prst="rect">
            <a:avLst/>
          </a:prstGeom>
          <a:noFill/>
          <a:ln/>
        </p:spPr>
        <p:txBody>
          <a:bodyPr wrap="square" lIns="0" tIns="0" rIns="0" bIns="0" rtlCol="0" anchor="t"/>
          <a:lstStyle/>
          <a:p>
            <a:pPr algn="l" indent="0" marL="0">
              <a:lnSpc>
                <a:spcPts val="1050"/>
              </a:lnSpc>
              <a:spcAft>
                <a:spcPts val="750"/>
              </a:spcAft>
              <a:buNone/>
            </a:pPr>
            <a:r>
              <a:rPr lang="en-US" sz="750" dirty="0">
                <a:solidFill>
                  <a:srgbClr val="1A1F2E"/>
                </a:solidFill>
                <a:latin typeface="Arial" pitchFamily="34" charset="0"/>
                <a:ea typeface="Arial" pitchFamily="34" charset="-122"/>
                <a:cs typeface="Arial" pitchFamily="34" charset="-120"/>
              </a:rPr>
              <a:t>IMPORTANT LIMITATION</a:t>
            </a:r>
            <a:endParaRPr lang="en-US" sz="750" dirty="0"/>
          </a:p>
        </p:txBody>
      </p:sp>
      <p:sp>
        <p:nvSpPr>
          <p:cNvPr id="6" name="Text 4"/>
          <p:cNvSpPr/>
          <p:nvPr/>
        </p:nvSpPr>
        <p:spPr>
          <a:xfrm>
            <a:off x="304800" y="1428750"/>
            <a:ext cx="2662047" cy="274290"/>
          </a:xfrm>
          <a:prstGeom prst="rect">
            <a:avLst/>
          </a:prstGeom>
          <a:noFill/>
          <a:ln/>
        </p:spPr>
        <p:txBody>
          <a:bodyPr wrap="square" lIns="0" tIns="0" rIns="0" bIns="0" rtlCol="0" anchor="t"/>
          <a:lstStyle/>
          <a:p>
            <a:pPr algn="l" indent="0" marL="0">
              <a:lnSpc>
                <a:spcPts val="2160"/>
              </a:lnSpc>
              <a:spcAft>
                <a:spcPts val="900"/>
              </a:spcAft>
              <a:buNone/>
            </a:pPr>
            <a:r>
              <a:rPr lang="en-US" sz="1800" dirty="0">
                <a:solidFill>
                  <a:srgbClr val="1A1F2E"/>
                </a:solidFill>
                <a:latin typeface="Georgia" pitchFamily="34" charset="0"/>
                <a:ea typeface="Georgia" pitchFamily="34" charset="-122"/>
                <a:cs typeface="Georgia" pitchFamily="34" charset="-120"/>
              </a:rPr>
              <a:t>Wispr Flow is Cloud-Only</a:t>
            </a:r>
            <a:endParaRPr lang="en-US" sz="1800" dirty="0"/>
          </a:p>
        </p:txBody>
      </p:sp>
      <p:sp>
        <p:nvSpPr>
          <p:cNvPr id="7" name="Text 5"/>
          <p:cNvSpPr/>
          <p:nvPr/>
        </p:nvSpPr>
        <p:spPr>
          <a:xfrm>
            <a:off x="304800" y="1969740"/>
            <a:ext cx="3506536" cy="342900"/>
          </a:xfrm>
          <a:prstGeom prst="rect">
            <a:avLst/>
          </a:prstGeom>
          <a:noFill/>
          <a:ln/>
        </p:spPr>
        <p:txBody>
          <a:bodyPr wrap="square" lIns="0" tIns="0" rIns="0" bIns="0" rtlCol="0" anchor="t"/>
          <a:lstStyle/>
          <a:p>
            <a:pPr algn="l" indent="0" marL="0">
              <a:lnSpc>
                <a:spcPts val="1350"/>
              </a:lnSpc>
              <a:spcAft>
                <a:spcPts val="1200"/>
              </a:spcAft>
              <a:buNone/>
            </a:pPr>
            <a:r>
              <a:rPr lang="en-US" sz="900" dirty="0">
                <a:solidFill>
                  <a:srgbClr val="1A1F2E">
                    <a:alpha val="90000"/>
                  </a:srgbClr>
                </a:solidFill>
                <a:latin typeface="Arial" pitchFamily="34" charset="0"/>
                <a:ea typeface="Arial" pitchFamily="34" charset="-122"/>
                <a:cs typeface="Arial" pitchFamily="34" charset="-120"/>
              </a:rPr>
              <a:t>Unlike SuperWhisper, Wispr Flow does NOT offer local/on-device processing. All audio is sent to cloud servers.</a:t>
            </a:r>
            <a:endParaRPr lang="en-US" sz="900" dirty="0"/>
          </a:p>
        </p:txBody>
      </p:sp>
      <p:sp>
        <p:nvSpPr>
          <p:cNvPr id="8" name="Text 6"/>
          <p:cNvSpPr/>
          <p:nvPr/>
        </p:nvSpPr>
        <p:spPr>
          <a:xfrm>
            <a:off x="304800" y="4034879"/>
            <a:ext cx="3437781" cy="841921"/>
          </a:xfrm>
          <a:prstGeom prst="rect">
            <a:avLst/>
          </a:prstGeom>
          <a:solidFill>
            <a:srgbClr val="FFFFFF">
              <a:alpha val="30000"/>
            </a:srgbClr>
          </a:solidFill>
          <a:ln/>
        </p:spPr>
        <p:txBody>
          <a:bodyPr wrap="square" rtlCol="0" anchor="ctr"/>
          <a:lstStyle/>
          <a:p>
            <a:pPr indent="0" marL="0">
              <a:buNone/>
            </a:pPr>
            <a:endParaRPr lang="en-US" dirty="0"/>
          </a:p>
        </p:txBody>
      </p:sp>
      <p:sp>
        <p:nvSpPr>
          <p:cNvPr id="9" name="Text 7"/>
          <p:cNvSpPr/>
          <p:nvPr/>
        </p:nvSpPr>
        <p:spPr>
          <a:xfrm>
            <a:off x="419100" y="4149179"/>
            <a:ext cx="3273364" cy="146596"/>
          </a:xfrm>
          <a:prstGeom prst="rect">
            <a:avLst/>
          </a:prstGeom>
          <a:noFill/>
          <a:ln/>
        </p:spPr>
        <p:txBody>
          <a:bodyPr wrap="square" lIns="0" tIns="0" rIns="0" bIns="0" rtlCol="0" anchor="t"/>
          <a:lstStyle/>
          <a:p>
            <a:pPr algn="l" indent="0" marL="0">
              <a:lnSpc>
                <a:spcPts val="1155"/>
              </a:lnSpc>
              <a:spcAft>
                <a:spcPts val="300"/>
              </a:spcAft>
              <a:buNone/>
            </a:pPr>
            <a:r>
              <a:rPr lang="en-US" sz="825" b="1" dirty="0">
                <a:solidFill>
                  <a:srgbClr val="1A1F2E"/>
                </a:solidFill>
                <a:latin typeface="Arial" pitchFamily="34" charset="0"/>
                <a:ea typeface="Arial" pitchFamily="34" charset="-122"/>
                <a:cs typeface="Arial" pitchFamily="34" charset="-120"/>
              </a:rPr>
              <a:t>What This Means:</a:t>
            </a:r>
            <a:endParaRPr lang="en-US" sz="825" dirty="0"/>
          </a:p>
        </p:txBody>
      </p:sp>
      <p:sp>
        <p:nvSpPr>
          <p:cNvPr id="10" name="Text 8"/>
          <p:cNvSpPr/>
          <p:nvPr/>
        </p:nvSpPr>
        <p:spPr>
          <a:xfrm>
            <a:off x="419100" y="4333875"/>
            <a:ext cx="3273364" cy="428625"/>
          </a:xfrm>
          <a:prstGeom prst="rect">
            <a:avLst/>
          </a:prstGeom>
          <a:noFill/>
          <a:ln/>
        </p:spPr>
        <p:txBody>
          <a:bodyPr wrap="square" lIns="0" tIns="0" rIns="0" bIns="0" rtlCol="0" anchor="t"/>
          <a:lstStyle/>
          <a:p>
            <a:pPr algn="l" indent="0" marL="0">
              <a:lnSpc>
                <a:spcPts val="1125"/>
              </a:lnSpc>
              <a:buNone/>
            </a:pPr>
            <a:r>
              <a:rPr lang="en-US" sz="750" dirty="0">
                <a:solidFill>
                  <a:srgbClr val="1A1F2E">
                    <a:alpha val="90000"/>
                  </a:srgbClr>
                </a:solidFill>
                <a:latin typeface="Arial" pitchFamily="34" charset="0"/>
                <a:ea typeface="Arial" pitchFamily="34" charset="-122"/>
                <a:cs typeface="Arial" pitchFamily="34" charset="-120"/>
              </a:rPr>
              <a:t>Audio always leaves your device</a:t>
            </a:r>
            <a:endParaRPr lang="en-US" sz="750" dirty="0"/>
          </a:p>
          <a:p>
            <a:pPr algn="l" indent="0" marL="0">
              <a:lnSpc>
                <a:spcPts val="1125"/>
              </a:lnSpc>
              <a:buNone/>
            </a:pPr>
            <a:r>
              <a:rPr lang="en-US" sz="750" dirty="0">
                <a:solidFill>
                  <a:srgbClr val="1A1F2E">
                    <a:alpha val="90000"/>
                  </a:srgbClr>
                </a:solidFill>
                <a:latin typeface="Arial" pitchFamily="34" charset="0"/>
                <a:ea typeface="Arial" pitchFamily="34" charset="-122"/>
                <a:cs typeface="Arial" pitchFamily="34" charset="-120"/>
              </a:rPr>
              <a:t>Requires internet connection</a:t>
            </a:r>
            <a:endParaRPr lang="en-US" sz="750" dirty="0"/>
          </a:p>
          <a:p>
            <a:pPr algn="l" indent="0" marL="0">
              <a:lnSpc>
                <a:spcPts val="1125"/>
              </a:lnSpc>
              <a:buNone/>
            </a:pPr>
            <a:r>
              <a:rPr lang="en-US" sz="750" dirty="0">
                <a:solidFill>
                  <a:srgbClr val="1A1F2E">
                    <a:alpha val="90000"/>
                  </a:srgbClr>
                </a:solidFill>
                <a:latin typeface="Arial" pitchFamily="34" charset="0"/>
                <a:ea typeface="Arial" pitchFamily="34" charset="-122"/>
                <a:cs typeface="Arial" pitchFamily="34" charset="-120"/>
              </a:rPr>
              <a:t>Not suitable for air-gapped environments</a:t>
            </a:r>
            <a:endParaRPr lang="en-US" sz="750" dirty="0"/>
          </a:p>
        </p:txBody>
      </p:sp>
      <p:sp>
        <p:nvSpPr>
          <p:cNvPr id="11" name="Text 9"/>
          <p:cNvSpPr/>
          <p:nvPr/>
        </p:nvSpPr>
        <p:spPr>
          <a:xfrm>
            <a:off x="4199781" y="0"/>
            <a:ext cx="4944219" cy="5143500"/>
          </a:xfrm>
          <a:prstGeom prst="rect">
            <a:avLst/>
          </a:prstGeom>
          <a:solidFill>
            <a:srgbClr val="F7F8FA"/>
          </a:solidFill>
          <a:ln/>
        </p:spPr>
        <p:txBody>
          <a:bodyPr wrap="square" rtlCol="0" anchor="ctr"/>
          <a:lstStyle/>
          <a:p>
            <a:pPr indent="0" marL="0">
              <a:buNone/>
            </a:pPr>
            <a:endParaRPr lang="en-US" dirty="0"/>
          </a:p>
        </p:txBody>
      </p:sp>
      <p:sp>
        <p:nvSpPr>
          <p:cNvPr id="12" name="Text 10"/>
          <p:cNvSpPr/>
          <p:nvPr/>
        </p:nvSpPr>
        <p:spPr>
          <a:xfrm>
            <a:off x="4504581" y="260152"/>
            <a:ext cx="4421312" cy="133350"/>
          </a:xfrm>
          <a:prstGeom prst="rect">
            <a:avLst/>
          </a:prstGeom>
          <a:noFill/>
          <a:ln/>
        </p:spPr>
        <p:txBody>
          <a:bodyPr wrap="square" lIns="0" tIns="0" rIns="0" bIns="0" rtlCol="0" anchor="t"/>
          <a:lstStyle/>
          <a:p>
            <a:pPr algn="l" indent="0" marL="0">
              <a:lnSpc>
                <a:spcPts val="1050"/>
              </a:lnSpc>
              <a:spcAft>
                <a:spcPts val="450"/>
              </a:spcAft>
              <a:buNone/>
            </a:pPr>
            <a:r>
              <a:rPr lang="en-US" sz="750" dirty="0">
                <a:solidFill>
                  <a:srgbClr val="C9A227"/>
                </a:solidFill>
                <a:latin typeface="Arial" pitchFamily="34" charset="0"/>
                <a:ea typeface="Arial" pitchFamily="34" charset="-122"/>
                <a:cs typeface="Arial" pitchFamily="34" charset="-120"/>
              </a:rPr>
              <a:t>WHAT PRIVACY MODE ACTUALLY DOES</a:t>
            </a:r>
            <a:endParaRPr lang="en-US" sz="750" dirty="0"/>
          </a:p>
        </p:txBody>
      </p:sp>
      <p:sp>
        <p:nvSpPr>
          <p:cNvPr id="13" name="Text 11"/>
          <p:cNvSpPr/>
          <p:nvPr/>
        </p:nvSpPr>
        <p:spPr>
          <a:xfrm>
            <a:off x="4504581" y="603052"/>
            <a:ext cx="2215134" cy="211634"/>
          </a:xfrm>
          <a:prstGeom prst="rect">
            <a:avLst/>
          </a:prstGeom>
          <a:noFill/>
          <a:ln/>
        </p:spPr>
        <p:txBody>
          <a:bodyPr wrap="square" lIns="0" tIns="0" rIns="0" bIns="0" rtlCol="0" anchor="t"/>
          <a:lstStyle/>
          <a:p>
            <a:pPr algn="l" indent="0" marL="0">
              <a:lnSpc>
                <a:spcPts val="1667"/>
              </a:lnSpc>
              <a:spcAft>
                <a:spcPts val="1050"/>
              </a:spcAft>
              <a:buNone/>
            </a:pPr>
            <a:r>
              <a:rPr lang="en-US" sz="1500" dirty="0">
                <a:solidFill>
                  <a:srgbClr val="1A1F2E"/>
                </a:solidFill>
                <a:latin typeface="Georgia" pitchFamily="34" charset="0"/>
                <a:ea typeface="Georgia" pitchFamily="34" charset="-122"/>
                <a:cs typeface="Georgia" pitchFamily="34" charset="-120"/>
              </a:rPr>
              <a:t>Zero Data Retention</a:t>
            </a:r>
            <a:endParaRPr lang="en-US" sz="1500" dirty="0"/>
          </a:p>
        </p:txBody>
      </p:sp>
      <p:sp>
        <p:nvSpPr>
          <p:cNvPr id="14" name="Text 12"/>
          <p:cNvSpPr/>
          <p:nvPr/>
        </p:nvSpPr>
        <p:spPr>
          <a:xfrm>
            <a:off x="4504581" y="1100435"/>
            <a:ext cx="4334619" cy="870496"/>
          </a:xfrm>
          <a:prstGeom prst="rect">
            <a:avLst/>
          </a:prstGeom>
          <a:solidFill>
            <a:srgbClr val="DCFCE7"/>
          </a:solidFill>
          <a:ln/>
        </p:spPr>
        <p:txBody>
          <a:bodyPr wrap="square" rtlCol="0" anchor="ctr"/>
          <a:lstStyle/>
          <a:p>
            <a:pPr indent="0" marL="0">
              <a:buNone/>
            </a:pPr>
            <a:endParaRPr lang="en-US" dirty="0"/>
          </a:p>
        </p:txBody>
      </p:sp>
      <p:sp>
        <p:nvSpPr>
          <p:cNvPr id="15" name="Shape 13"/>
          <p:cNvSpPr/>
          <p:nvPr/>
        </p:nvSpPr>
        <p:spPr>
          <a:xfrm>
            <a:off x="4523631" y="1100435"/>
            <a:ext cx="0" cy="870496"/>
          </a:xfrm>
          <a:prstGeom prst="line">
            <a:avLst/>
          </a:prstGeom>
          <a:noFill/>
          <a:ln w="38100">
            <a:solidFill>
              <a:srgbClr val="059669"/>
            </a:solidFill>
            <a:prstDash val="solid"/>
          </a:ln>
        </p:spPr>
      </p:sp>
      <p:sp>
        <p:nvSpPr>
          <p:cNvPr id="16" name="Text 14"/>
          <p:cNvSpPr/>
          <p:nvPr/>
        </p:nvSpPr>
        <p:spPr>
          <a:xfrm>
            <a:off x="4656981" y="1214735"/>
            <a:ext cx="4149278" cy="146596"/>
          </a:xfrm>
          <a:prstGeom prst="rect">
            <a:avLst/>
          </a:prstGeom>
          <a:noFill/>
          <a:ln/>
        </p:spPr>
        <p:txBody>
          <a:bodyPr wrap="square" lIns="0" tIns="0" rIns="0" bIns="0" rtlCol="0" anchor="t"/>
          <a:lstStyle/>
          <a:p>
            <a:pPr algn="l" indent="0" marL="0">
              <a:lnSpc>
                <a:spcPts val="1155"/>
              </a:lnSpc>
              <a:spcAft>
                <a:spcPts val="300"/>
              </a:spcAft>
              <a:buNone/>
            </a:pPr>
            <a:r>
              <a:rPr lang="en-US" sz="825" b="1" dirty="0">
                <a:solidFill>
                  <a:srgbClr val="166534"/>
                </a:solidFill>
                <a:latin typeface="Arial" pitchFamily="34" charset="0"/>
                <a:ea typeface="Arial" pitchFamily="34" charset="-122"/>
                <a:cs typeface="Arial" pitchFamily="34" charset="-120"/>
              </a:rPr>
              <a:t>With Privacy Mode ON:</a:t>
            </a:r>
            <a:endParaRPr lang="en-US" sz="825" dirty="0"/>
          </a:p>
        </p:txBody>
      </p:sp>
      <p:sp>
        <p:nvSpPr>
          <p:cNvPr id="17" name="Text 15"/>
          <p:cNvSpPr/>
          <p:nvPr/>
        </p:nvSpPr>
        <p:spPr>
          <a:xfrm>
            <a:off x="4656981" y="1399431"/>
            <a:ext cx="4149278" cy="457200"/>
          </a:xfrm>
          <a:prstGeom prst="rect">
            <a:avLst/>
          </a:prstGeom>
          <a:noFill/>
          <a:ln/>
        </p:spPr>
        <p:txBody>
          <a:bodyPr wrap="square" lIns="0" tIns="0" rIns="0" bIns="0" rtlCol="0" anchor="t"/>
          <a:lstStyle/>
          <a:p>
            <a:pPr algn="l" indent="0" marL="0">
              <a:lnSpc>
                <a:spcPts val="1200"/>
              </a:lnSpc>
              <a:buNone/>
            </a:pPr>
            <a:r>
              <a:rPr lang="en-US" sz="750" dirty="0">
                <a:solidFill>
                  <a:srgbClr val="166534"/>
                </a:solidFill>
                <a:latin typeface="Arial" pitchFamily="34" charset="0"/>
                <a:ea typeface="Arial" pitchFamily="34" charset="-122"/>
                <a:cs typeface="Arial" pitchFamily="34" charset="-120"/>
              </a:rPr>
              <a:t>Audio/transcripts NOT stored on servers</a:t>
            </a:r>
            <a:endParaRPr lang="en-US" sz="750" dirty="0"/>
          </a:p>
          <a:p>
            <a:pPr algn="l" indent="0" marL="0">
              <a:lnSpc>
                <a:spcPts val="1200"/>
              </a:lnSpc>
              <a:buNone/>
            </a:pPr>
            <a:r>
              <a:rPr lang="en-US" sz="750" dirty="0">
                <a:solidFill>
                  <a:srgbClr val="166534"/>
                </a:solidFill>
                <a:latin typeface="Arial" pitchFamily="34" charset="0"/>
                <a:ea typeface="Arial" pitchFamily="34" charset="-122"/>
                <a:cs typeface="Arial" pitchFamily="34" charset="-120"/>
              </a:rPr>
              <a:t>Data NOT used for model training</a:t>
            </a:r>
            <a:endParaRPr lang="en-US" sz="750" dirty="0"/>
          </a:p>
          <a:p>
            <a:pPr algn="l" indent="0" marL="0">
              <a:lnSpc>
                <a:spcPts val="1200"/>
              </a:lnSpc>
              <a:buNone/>
            </a:pPr>
            <a:r>
              <a:rPr lang="en-US" sz="750" dirty="0">
                <a:solidFill>
                  <a:srgbClr val="166534"/>
                </a:solidFill>
                <a:latin typeface="Arial" pitchFamily="34" charset="0"/>
                <a:ea typeface="Arial" pitchFamily="34" charset="-122"/>
                <a:cs typeface="Arial" pitchFamily="34" charset="-120"/>
              </a:rPr>
              <a:t>Processed then immediately deleted</a:t>
            </a:r>
            <a:endParaRPr lang="en-US" sz="750" dirty="0"/>
          </a:p>
        </p:txBody>
      </p:sp>
      <p:sp>
        <p:nvSpPr>
          <p:cNvPr id="18" name="Text 16"/>
          <p:cNvSpPr/>
          <p:nvPr/>
        </p:nvSpPr>
        <p:spPr>
          <a:xfrm>
            <a:off x="4504581" y="2237631"/>
            <a:ext cx="4334619" cy="870496"/>
          </a:xfrm>
          <a:prstGeom prst="rect">
            <a:avLst/>
          </a:prstGeom>
          <a:solidFill>
            <a:srgbClr val="FEE2E2"/>
          </a:solidFill>
          <a:ln/>
        </p:spPr>
        <p:txBody>
          <a:bodyPr wrap="square" rtlCol="0" anchor="ctr"/>
          <a:lstStyle/>
          <a:p>
            <a:pPr indent="0" marL="0">
              <a:buNone/>
            </a:pPr>
            <a:endParaRPr lang="en-US" dirty="0"/>
          </a:p>
        </p:txBody>
      </p:sp>
      <p:sp>
        <p:nvSpPr>
          <p:cNvPr id="19" name="Shape 17"/>
          <p:cNvSpPr/>
          <p:nvPr/>
        </p:nvSpPr>
        <p:spPr>
          <a:xfrm>
            <a:off x="4523631" y="2237631"/>
            <a:ext cx="0" cy="870496"/>
          </a:xfrm>
          <a:prstGeom prst="line">
            <a:avLst/>
          </a:prstGeom>
          <a:noFill/>
          <a:ln w="38100">
            <a:solidFill>
              <a:srgbClr val="DC2626"/>
            </a:solidFill>
            <a:prstDash val="solid"/>
          </a:ln>
        </p:spPr>
      </p:sp>
      <p:sp>
        <p:nvSpPr>
          <p:cNvPr id="20" name="Text 18"/>
          <p:cNvSpPr/>
          <p:nvPr/>
        </p:nvSpPr>
        <p:spPr>
          <a:xfrm>
            <a:off x="4656981" y="2351931"/>
            <a:ext cx="4149278" cy="146596"/>
          </a:xfrm>
          <a:prstGeom prst="rect">
            <a:avLst/>
          </a:prstGeom>
          <a:noFill/>
          <a:ln/>
        </p:spPr>
        <p:txBody>
          <a:bodyPr wrap="square" lIns="0" tIns="0" rIns="0" bIns="0" rtlCol="0" anchor="t"/>
          <a:lstStyle/>
          <a:p>
            <a:pPr algn="l" indent="0" marL="0">
              <a:lnSpc>
                <a:spcPts val="1155"/>
              </a:lnSpc>
              <a:spcAft>
                <a:spcPts val="300"/>
              </a:spcAft>
              <a:buNone/>
            </a:pPr>
            <a:r>
              <a:rPr lang="en-US" sz="825" b="1" dirty="0">
                <a:solidFill>
                  <a:srgbClr val="991B1B"/>
                </a:solidFill>
                <a:latin typeface="Arial" pitchFamily="34" charset="0"/>
                <a:ea typeface="Arial" pitchFamily="34" charset="-122"/>
                <a:cs typeface="Arial" pitchFamily="34" charset="-120"/>
              </a:rPr>
              <a:t>With Privacy Mode OFF (default):</a:t>
            </a:r>
            <a:endParaRPr lang="en-US" sz="825" dirty="0"/>
          </a:p>
        </p:txBody>
      </p:sp>
      <p:sp>
        <p:nvSpPr>
          <p:cNvPr id="21" name="Text 19"/>
          <p:cNvSpPr/>
          <p:nvPr/>
        </p:nvSpPr>
        <p:spPr>
          <a:xfrm>
            <a:off x="4656981" y="2536627"/>
            <a:ext cx="4149278" cy="457200"/>
          </a:xfrm>
          <a:prstGeom prst="rect">
            <a:avLst/>
          </a:prstGeom>
          <a:noFill/>
          <a:ln/>
        </p:spPr>
        <p:txBody>
          <a:bodyPr wrap="square" lIns="0" tIns="0" rIns="0" bIns="0" rtlCol="0" anchor="t"/>
          <a:lstStyle/>
          <a:p>
            <a:pPr algn="l" indent="0" marL="0">
              <a:lnSpc>
                <a:spcPts val="1200"/>
              </a:lnSpc>
              <a:buNone/>
            </a:pPr>
            <a:r>
              <a:rPr lang="en-US" sz="750" dirty="0">
                <a:solidFill>
                  <a:srgbClr val="991B1B"/>
                </a:solidFill>
                <a:latin typeface="Arial" pitchFamily="34" charset="0"/>
                <a:ea typeface="Arial" pitchFamily="34" charset="-122"/>
                <a:cs typeface="Arial" pitchFamily="34" charset="-120"/>
              </a:rPr>
              <a:t>Audio/transcripts may be stored</a:t>
            </a:r>
            <a:endParaRPr lang="en-US" sz="750" dirty="0"/>
          </a:p>
          <a:p>
            <a:pPr algn="l" indent="0" marL="0">
              <a:lnSpc>
                <a:spcPts val="1200"/>
              </a:lnSpc>
              <a:buNone/>
            </a:pPr>
            <a:r>
              <a:rPr lang="en-US" sz="750" dirty="0">
                <a:solidFill>
                  <a:srgbClr val="991B1B"/>
                </a:solidFill>
                <a:latin typeface="Arial" pitchFamily="34" charset="0"/>
                <a:ea typeface="Arial" pitchFamily="34" charset="-122"/>
                <a:cs typeface="Arial" pitchFamily="34" charset="-120"/>
              </a:rPr>
              <a:t>Data may be used for AI training</a:t>
            </a:r>
            <a:endParaRPr lang="en-US" sz="750" dirty="0"/>
          </a:p>
          <a:p>
            <a:pPr algn="l" indent="0" marL="0">
              <a:lnSpc>
                <a:spcPts val="1200"/>
              </a:lnSpc>
              <a:buNone/>
            </a:pPr>
            <a:r>
              <a:rPr lang="en-US" sz="750" dirty="0">
                <a:solidFill>
                  <a:srgbClr val="991B1B"/>
                </a:solidFill>
                <a:latin typeface="Arial" pitchFamily="34" charset="0"/>
                <a:ea typeface="Arial" pitchFamily="34" charset="-122"/>
                <a:cs typeface="Arial" pitchFamily="34" charset="-120"/>
              </a:rPr>
              <a:t>History accessible in your account</a:t>
            </a:r>
            <a:endParaRPr lang="en-US" sz="750" dirty="0"/>
          </a:p>
        </p:txBody>
      </p:sp>
      <p:sp>
        <p:nvSpPr>
          <p:cNvPr id="22" name="Text 20"/>
          <p:cNvSpPr/>
          <p:nvPr/>
        </p:nvSpPr>
        <p:spPr>
          <a:xfrm>
            <a:off x="4504581" y="3374827"/>
            <a:ext cx="4334619" cy="899071"/>
          </a:xfrm>
          <a:prstGeom prst="rect">
            <a:avLst/>
          </a:prstGeom>
          <a:solidFill>
            <a:srgbClr val="1A1F2E"/>
          </a:solidFill>
          <a:ln/>
        </p:spPr>
        <p:txBody>
          <a:bodyPr wrap="square" rtlCol="0" anchor="ctr"/>
          <a:lstStyle/>
          <a:p>
            <a:pPr indent="0" marL="0">
              <a:buNone/>
            </a:pPr>
            <a:endParaRPr lang="en-US" dirty="0"/>
          </a:p>
        </p:txBody>
      </p:sp>
      <p:sp>
        <p:nvSpPr>
          <p:cNvPr id="23" name="Text 21"/>
          <p:cNvSpPr/>
          <p:nvPr/>
        </p:nvSpPr>
        <p:spPr>
          <a:xfrm>
            <a:off x="4637931" y="3508177"/>
            <a:ext cx="4149278" cy="146596"/>
          </a:xfrm>
          <a:prstGeom prst="rect">
            <a:avLst/>
          </a:prstGeom>
          <a:noFill/>
          <a:ln/>
        </p:spPr>
        <p:txBody>
          <a:bodyPr wrap="square" lIns="0" tIns="0" rIns="0" bIns="0" rtlCol="0" anchor="t"/>
          <a:lstStyle/>
          <a:p>
            <a:pPr algn="l" indent="0" marL="0">
              <a:lnSpc>
                <a:spcPts val="1155"/>
              </a:lnSpc>
              <a:spcAft>
                <a:spcPts val="450"/>
              </a:spcAft>
              <a:buNone/>
            </a:pPr>
            <a:r>
              <a:rPr lang="en-US" sz="825" b="1" dirty="0">
                <a:solidFill>
                  <a:srgbClr val="C9A227"/>
                </a:solidFill>
                <a:latin typeface="Arial" pitchFamily="34" charset="0"/>
                <a:ea typeface="Arial" pitchFamily="34" charset="-122"/>
                <a:cs typeface="Arial" pitchFamily="34" charset="-120"/>
              </a:rPr>
              <a:t>FOR GOVERNMENT/PHI USE:</a:t>
            </a:r>
            <a:endParaRPr lang="en-US" sz="825" dirty="0"/>
          </a:p>
        </p:txBody>
      </p:sp>
      <p:sp>
        <p:nvSpPr>
          <p:cNvPr id="24" name="Text 22"/>
          <p:cNvSpPr/>
          <p:nvPr/>
        </p:nvSpPr>
        <p:spPr>
          <a:xfrm>
            <a:off x="4637931" y="3711922"/>
            <a:ext cx="4149278" cy="428625"/>
          </a:xfrm>
          <a:prstGeom prst="rect">
            <a:avLst/>
          </a:prstGeom>
          <a:noFill/>
          <a:ln/>
        </p:spPr>
        <p:txBody>
          <a:bodyPr wrap="square" lIns="0" tIns="0" rIns="0" bIns="0" rtlCol="0" anchor="t"/>
          <a:lstStyle/>
          <a:p>
            <a:pPr algn="l" indent="0" marL="0">
              <a:lnSpc>
                <a:spcPts val="1125"/>
              </a:lnSpc>
              <a:buNone/>
            </a:pPr>
            <a:r>
              <a:rPr lang="en-US" sz="750" dirty="0">
                <a:solidFill>
                  <a:srgbClr val="FFFFFF">
                    <a:alpha val="80000"/>
                  </a:srgbClr>
                </a:solidFill>
                <a:latin typeface="Arial" pitchFamily="34" charset="0"/>
                <a:ea typeface="Arial" pitchFamily="34" charset="-122"/>
                <a:cs typeface="Arial" pitchFamily="34" charset="-120"/>
              </a:rPr>
              <a:t>Wispr Flow's Privacy Mode provides zero retention but audio still goes to cloud. For true local processing where audio never leaves your device, use </a:t>
            </a:r>
            <a:pPr algn="l" indent="0" marL="0">
              <a:lnSpc>
                <a:spcPts val="1125"/>
              </a:lnSpc>
              <a:buNone/>
            </a:pPr>
            <a:r>
              <a:rPr lang="en-US" sz="750" b="1" dirty="0">
                <a:solidFill>
                  <a:srgbClr val="C9A227">
                    <a:alpha val="80000"/>
                  </a:srgbClr>
                </a:solidFill>
                <a:latin typeface="Arial" pitchFamily="34" charset="0"/>
                <a:ea typeface="Arial" pitchFamily="34" charset="-122"/>
                <a:cs typeface="Arial" pitchFamily="34" charset="-120"/>
              </a:rPr>
              <a:t>SuperWhisper with local models</a:t>
            </a:r>
            <a:pPr algn="l" indent="0" marL="0">
              <a:lnSpc>
                <a:spcPts val="1125"/>
              </a:lnSpc>
              <a:buNone/>
            </a:pPr>
            <a:r>
              <a:rPr lang="en-US" sz="750" dirty="0">
                <a:solidFill>
                  <a:srgbClr val="FFFFFF">
                    <a:alpha val="80000"/>
                  </a:srgbClr>
                </a:solidFill>
                <a:latin typeface="Arial" pitchFamily="34" charset="0"/>
                <a:ea typeface="Arial" pitchFamily="34" charset="-122"/>
                <a:cs typeface="Arial" pitchFamily="34" charset="-120"/>
              </a:rPr>
              <a:t> instead.</a:t>
            </a:r>
            <a:endParaRPr lang="en-US" sz="750" dirty="0"/>
          </a:p>
        </p:txBody>
      </p:sp>
      <p:sp>
        <p:nvSpPr>
          <p:cNvPr id="25" name="Text 23"/>
          <p:cNvSpPr/>
          <p:nvPr/>
        </p:nvSpPr>
        <p:spPr>
          <a:xfrm>
            <a:off x="4504581" y="4540597"/>
            <a:ext cx="4334619" cy="342900"/>
          </a:xfrm>
          <a:prstGeom prst="rect">
            <a:avLst/>
          </a:prstGeom>
          <a:solidFill>
            <a:srgbClr val="DBEAFE"/>
          </a:solidFill>
          <a:ln w="9525">
            <a:solidFill>
              <a:srgbClr val="3B82F6"/>
            </a:solidFill>
          </a:ln>
        </p:spPr>
        <p:txBody>
          <a:bodyPr wrap="square" rtlCol="0" anchor="ctr"/>
          <a:lstStyle/>
          <a:p>
            <a:pPr indent="0" marL="0">
              <a:buNone/>
            </a:pPr>
            <a:endParaRPr lang="en-US" dirty="0"/>
          </a:p>
        </p:txBody>
      </p:sp>
      <p:sp>
        <p:nvSpPr>
          <p:cNvPr id="26" name="Text 24"/>
          <p:cNvSpPr/>
          <p:nvPr/>
        </p:nvSpPr>
        <p:spPr>
          <a:xfrm>
            <a:off x="4609356" y="4645372"/>
            <a:ext cx="4207571" cy="133350"/>
          </a:xfrm>
          <a:prstGeom prst="rect">
            <a:avLst/>
          </a:prstGeom>
          <a:noFill/>
          <a:ln/>
        </p:spPr>
        <p:txBody>
          <a:bodyPr wrap="square" lIns="0" tIns="0" rIns="0" bIns="0" rtlCol="0" anchor="t"/>
          <a:lstStyle/>
          <a:p>
            <a:pPr algn="l" indent="0" marL="0">
              <a:lnSpc>
                <a:spcPts val="1050"/>
              </a:lnSpc>
              <a:buNone/>
            </a:pPr>
            <a:r>
              <a:rPr lang="en-US" sz="750" b="1" dirty="0">
                <a:solidFill>
                  <a:srgbClr val="1E40AF"/>
                </a:solidFill>
                <a:latin typeface="Arial" pitchFamily="34" charset="0"/>
                <a:ea typeface="Arial" pitchFamily="34" charset="-122"/>
                <a:cs typeface="Arial" pitchFamily="34" charset="-120"/>
              </a:rPr>
              <a:t>Wispr Compliance:</a:t>
            </a:r>
            <a:pPr algn="l" indent="0" marL="0">
              <a:lnSpc>
                <a:spcPts val="1050"/>
              </a:lnSpc>
              <a:buNone/>
            </a:pPr>
            <a:r>
              <a:rPr lang="en-US" sz="750" dirty="0">
                <a:solidFill>
                  <a:srgbClr val="1E40AF"/>
                </a:solidFill>
                <a:latin typeface="Arial" pitchFamily="34" charset="0"/>
                <a:ea typeface="Arial" pitchFamily="34" charset="-122"/>
                <a:cs typeface="Arial" pitchFamily="34" charset="-120"/>
              </a:rPr>
              <a:t> SOC 2 Type II, HIPAA-ready, ISO 27001 certified</a:t>
            </a:r>
            <a:endParaRPr lang="en-US" sz="7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457200" y="266700"/>
            <a:ext cx="8394192" cy="146596"/>
          </a:xfrm>
          <a:prstGeom prst="rect">
            <a:avLst/>
          </a:prstGeom>
          <a:noFill/>
          <a:ln/>
        </p:spPr>
        <p:txBody>
          <a:bodyPr wrap="square" lIns="0" tIns="0" rIns="0" bIns="0" rtlCol="0" anchor="t"/>
          <a:lstStyle/>
          <a:p>
            <a:pPr algn="l" indent="0" marL="0">
              <a:lnSpc>
                <a:spcPts val="1155"/>
              </a:lnSpc>
              <a:spcAft>
                <a:spcPts val="450"/>
              </a:spcAft>
              <a:buNone/>
            </a:pPr>
            <a:r>
              <a:rPr lang="en-US" sz="825" dirty="0">
                <a:solidFill>
                  <a:srgbClr val="C9A227"/>
                </a:solidFill>
                <a:latin typeface="Arial" pitchFamily="34" charset="0"/>
                <a:ea typeface="Arial" pitchFamily="34" charset="-122"/>
                <a:cs typeface="Arial" pitchFamily="34" charset="-120"/>
              </a:rPr>
              <a:t>KEY CAPABILITIES</a:t>
            </a:r>
            <a:endParaRPr lang="en-US" sz="825" dirty="0"/>
          </a:p>
        </p:txBody>
      </p:sp>
      <p:sp>
        <p:nvSpPr>
          <p:cNvPr id="3" name="Text 1"/>
          <p:cNvSpPr/>
          <p:nvPr/>
        </p:nvSpPr>
        <p:spPr>
          <a:xfrm>
            <a:off x="457200" y="470446"/>
            <a:ext cx="4206812" cy="266700"/>
          </a:xfrm>
          <a:prstGeom prst="rect">
            <a:avLst/>
          </a:prstGeom>
          <a:noFill/>
          <a:ln/>
        </p:spPr>
        <p:txBody>
          <a:bodyPr wrap="square" lIns="0" tIns="0" rIns="0" bIns="0" rtlCol="0" anchor="t"/>
          <a:lstStyle/>
          <a:p>
            <a:pPr algn="l" indent="0" marL="0">
              <a:lnSpc>
                <a:spcPts val="2100"/>
              </a:lnSpc>
              <a:buNone/>
            </a:pPr>
            <a:r>
              <a:rPr lang="en-US" sz="2100" dirty="0">
                <a:solidFill>
                  <a:srgbClr val="1A1F2E"/>
                </a:solidFill>
                <a:latin typeface="Georgia" pitchFamily="34" charset="0"/>
                <a:ea typeface="Georgia" pitchFamily="34" charset="-122"/>
                <a:cs typeface="Georgia" pitchFamily="34" charset="-120"/>
              </a:rPr>
              <a:t>Wispr Flow Features</a:t>
            </a:r>
            <a:endParaRPr lang="en-US" sz="2100" dirty="0"/>
          </a:p>
        </p:txBody>
      </p:sp>
      <p:sp>
        <p:nvSpPr>
          <p:cNvPr id="4" name="Text 2"/>
          <p:cNvSpPr/>
          <p:nvPr/>
        </p:nvSpPr>
        <p:spPr>
          <a:xfrm>
            <a:off x="457200" y="983159"/>
            <a:ext cx="4038600" cy="849511"/>
          </a:xfrm>
          <a:prstGeom prst="rect">
            <a:avLst/>
          </a:prstGeom>
          <a:solidFill>
            <a:srgbClr val="FFFFFF"/>
          </a:solidFill>
          <a:ln/>
        </p:spPr>
        <p:txBody>
          <a:bodyPr wrap="square" rtlCol="0" anchor="ctr"/>
          <a:lstStyle/>
          <a:p>
            <a:pPr indent="0" marL="0">
              <a:buNone/>
            </a:pPr>
            <a:endParaRPr lang="en-US" dirty="0"/>
          </a:p>
        </p:txBody>
      </p:sp>
      <p:sp>
        <p:nvSpPr>
          <p:cNvPr id="5" name="Shape 3"/>
          <p:cNvSpPr/>
          <p:nvPr/>
        </p:nvSpPr>
        <p:spPr>
          <a:xfrm>
            <a:off x="476250" y="983159"/>
            <a:ext cx="0" cy="849511"/>
          </a:xfrm>
          <a:prstGeom prst="line">
            <a:avLst/>
          </a:prstGeom>
          <a:noFill/>
          <a:ln w="38100">
            <a:solidFill>
              <a:srgbClr val="C9A227"/>
            </a:solidFill>
            <a:prstDash val="solid"/>
          </a:ln>
        </p:spPr>
      </p:sp>
      <p:sp>
        <p:nvSpPr>
          <p:cNvPr id="6" name="Text 4"/>
          <p:cNvSpPr/>
          <p:nvPr/>
        </p:nvSpPr>
        <p:spPr>
          <a:xfrm>
            <a:off x="647700" y="1135559"/>
            <a:ext cx="3769614" cy="173236"/>
          </a:xfrm>
          <a:prstGeom prst="rect">
            <a:avLst/>
          </a:prstGeom>
          <a:noFill/>
          <a:ln/>
        </p:spPr>
        <p:txBody>
          <a:bodyPr wrap="square" lIns="0" tIns="0" rIns="0" bIns="0" rtlCol="0" anchor="t"/>
          <a:lstStyle/>
          <a:p>
            <a:pPr algn="l" indent="0" marL="0">
              <a:lnSpc>
                <a:spcPts val="1365"/>
              </a:lnSpc>
              <a:spcAft>
                <a:spcPts val="450"/>
              </a:spcAft>
              <a:buNone/>
            </a:pPr>
            <a:r>
              <a:rPr lang="en-US" sz="975" b="1" dirty="0">
                <a:solidFill>
                  <a:srgbClr val="1A1F2E"/>
                </a:solidFill>
                <a:latin typeface="Georgia" pitchFamily="34" charset="0"/>
                <a:ea typeface="Georgia" pitchFamily="34" charset="-122"/>
                <a:cs typeface="Georgia" pitchFamily="34" charset="-120"/>
              </a:rPr>
              <a:t>Context Awareness</a:t>
            </a:r>
            <a:endParaRPr lang="en-US" sz="975" dirty="0"/>
          </a:p>
        </p:txBody>
      </p:sp>
      <p:sp>
        <p:nvSpPr>
          <p:cNvPr id="7" name="Text 5"/>
          <p:cNvSpPr/>
          <p:nvPr/>
        </p:nvSpPr>
        <p:spPr>
          <a:xfrm>
            <a:off x="647700" y="1365945"/>
            <a:ext cx="3769614" cy="314325"/>
          </a:xfrm>
          <a:prstGeom prst="rect">
            <a:avLst/>
          </a:prstGeom>
          <a:noFill/>
          <a:ln/>
        </p:spPr>
        <p:txBody>
          <a:bodyPr wrap="square" lIns="0" tIns="0" rIns="0" bIns="0" rtlCol="0" anchor="t"/>
          <a:lstStyle/>
          <a:p>
            <a:pPr algn="l" indent="0" marL="0">
              <a:lnSpc>
                <a:spcPts val="1238"/>
              </a:lnSpc>
              <a:buNone/>
            </a:pPr>
            <a:r>
              <a:rPr lang="en-US" sz="825" dirty="0">
                <a:solidFill>
                  <a:srgbClr val="6B7280"/>
                </a:solidFill>
                <a:latin typeface="Arial" pitchFamily="34" charset="0"/>
                <a:ea typeface="Arial" pitchFamily="34" charset="-122"/>
                <a:cs typeface="Arial" pitchFamily="34" charset="-120"/>
              </a:rPr>
              <a:t>Automatically detects what app you're using. Formats output for code in VS Code, prose in Word, casual in Slack.</a:t>
            </a:r>
            <a:endParaRPr lang="en-US" sz="825" dirty="0"/>
          </a:p>
        </p:txBody>
      </p:sp>
      <p:sp>
        <p:nvSpPr>
          <p:cNvPr id="8" name="Text 6"/>
          <p:cNvSpPr/>
          <p:nvPr/>
        </p:nvSpPr>
        <p:spPr>
          <a:xfrm>
            <a:off x="457200" y="1946970"/>
            <a:ext cx="4038600" cy="849511"/>
          </a:xfrm>
          <a:prstGeom prst="rect">
            <a:avLst/>
          </a:prstGeom>
          <a:solidFill>
            <a:srgbClr val="FFFFFF"/>
          </a:solidFill>
          <a:ln/>
        </p:spPr>
        <p:txBody>
          <a:bodyPr wrap="square" rtlCol="0" anchor="ctr"/>
          <a:lstStyle/>
          <a:p>
            <a:pPr indent="0" marL="0">
              <a:buNone/>
            </a:pPr>
            <a:endParaRPr lang="en-US" dirty="0"/>
          </a:p>
        </p:txBody>
      </p:sp>
      <p:sp>
        <p:nvSpPr>
          <p:cNvPr id="9" name="Shape 7"/>
          <p:cNvSpPr/>
          <p:nvPr/>
        </p:nvSpPr>
        <p:spPr>
          <a:xfrm>
            <a:off x="476250" y="1946970"/>
            <a:ext cx="0" cy="849511"/>
          </a:xfrm>
          <a:prstGeom prst="line">
            <a:avLst/>
          </a:prstGeom>
          <a:noFill/>
          <a:ln w="38100">
            <a:solidFill>
              <a:srgbClr val="C9A227"/>
            </a:solidFill>
            <a:prstDash val="solid"/>
          </a:ln>
        </p:spPr>
      </p:sp>
      <p:sp>
        <p:nvSpPr>
          <p:cNvPr id="10" name="Text 8"/>
          <p:cNvSpPr/>
          <p:nvPr/>
        </p:nvSpPr>
        <p:spPr>
          <a:xfrm>
            <a:off x="647700" y="2099370"/>
            <a:ext cx="3769614" cy="173236"/>
          </a:xfrm>
          <a:prstGeom prst="rect">
            <a:avLst/>
          </a:prstGeom>
          <a:noFill/>
          <a:ln/>
        </p:spPr>
        <p:txBody>
          <a:bodyPr wrap="square" lIns="0" tIns="0" rIns="0" bIns="0" rtlCol="0" anchor="t"/>
          <a:lstStyle/>
          <a:p>
            <a:pPr algn="l" indent="0" marL="0">
              <a:lnSpc>
                <a:spcPts val="1365"/>
              </a:lnSpc>
              <a:spcAft>
                <a:spcPts val="450"/>
              </a:spcAft>
              <a:buNone/>
            </a:pPr>
            <a:r>
              <a:rPr lang="en-US" sz="975" b="1" dirty="0">
                <a:solidFill>
                  <a:srgbClr val="1A1F2E"/>
                </a:solidFill>
                <a:latin typeface="Georgia" pitchFamily="34" charset="0"/>
                <a:ea typeface="Georgia" pitchFamily="34" charset="-122"/>
                <a:cs typeface="Georgia" pitchFamily="34" charset="-120"/>
              </a:rPr>
              <a:t>Command Mode</a:t>
            </a:r>
            <a:endParaRPr lang="en-US" sz="975" dirty="0"/>
          </a:p>
        </p:txBody>
      </p:sp>
      <p:sp>
        <p:nvSpPr>
          <p:cNvPr id="11" name="Text 9"/>
          <p:cNvSpPr/>
          <p:nvPr/>
        </p:nvSpPr>
        <p:spPr>
          <a:xfrm>
            <a:off x="647700" y="2329755"/>
            <a:ext cx="3769614" cy="314325"/>
          </a:xfrm>
          <a:prstGeom prst="rect">
            <a:avLst/>
          </a:prstGeom>
          <a:noFill/>
          <a:ln/>
        </p:spPr>
        <p:txBody>
          <a:bodyPr wrap="square" lIns="0" tIns="0" rIns="0" bIns="0" rtlCol="0" anchor="t"/>
          <a:lstStyle/>
          <a:p>
            <a:pPr algn="l" indent="0" marL="0">
              <a:lnSpc>
                <a:spcPts val="1238"/>
              </a:lnSpc>
              <a:buNone/>
            </a:pPr>
            <a:r>
              <a:rPr lang="en-US" sz="825" dirty="0">
                <a:solidFill>
                  <a:srgbClr val="6B7280"/>
                </a:solidFill>
                <a:latin typeface="Arial" pitchFamily="34" charset="0"/>
                <a:ea typeface="Arial" pitchFamily="34" charset="-122"/>
                <a:cs typeface="Arial" pitchFamily="34" charset="-120"/>
              </a:rPr>
              <a:t>Say "Hey Wispr" to trigger commands. Edit, format, translate, or perform actions on selected text.</a:t>
            </a:r>
            <a:endParaRPr lang="en-US" sz="825" dirty="0"/>
          </a:p>
        </p:txBody>
      </p:sp>
      <p:sp>
        <p:nvSpPr>
          <p:cNvPr id="12" name="Text 10"/>
          <p:cNvSpPr/>
          <p:nvPr/>
        </p:nvSpPr>
        <p:spPr>
          <a:xfrm>
            <a:off x="457200" y="2910780"/>
            <a:ext cx="4038600" cy="849511"/>
          </a:xfrm>
          <a:prstGeom prst="rect">
            <a:avLst/>
          </a:prstGeom>
          <a:solidFill>
            <a:srgbClr val="FFFFFF"/>
          </a:solidFill>
          <a:ln/>
        </p:spPr>
        <p:txBody>
          <a:bodyPr wrap="square" rtlCol="0" anchor="ctr"/>
          <a:lstStyle/>
          <a:p>
            <a:pPr indent="0" marL="0">
              <a:buNone/>
            </a:pPr>
            <a:endParaRPr lang="en-US" dirty="0"/>
          </a:p>
        </p:txBody>
      </p:sp>
      <p:sp>
        <p:nvSpPr>
          <p:cNvPr id="13" name="Shape 11"/>
          <p:cNvSpPr/>
          <p:nvPr/>
        </p:nvSpPr>
        <p:spPr>
          <a:xfrm>
            <a:off x="476250" y="2910780"/>
            <a:ext cx="0" cy="849511"/>
          </a:xfrm>
          <a:prstGeom prst="line">
            <a:avLst/>
          </a:prstGeom>
          <a:noFill/>
          <a:ln w="38100">
            <a:solidFill>
              <a:srgbClr val="C9A227"/>
            </a:solidFill>
            <a:prstDash val="solid"/>
          </a:ln>
        </p:spPr>
      </p:sp>
      <p:sp>
        <p:nvSpPr>
          <p:cNvPr id="14" name="Text 12"/>
          <p:cNvSpPr/>
          <p:nvPr/>
        </p:nvSpPr>
        <p:spPr>
          <a:xfrm>
            <a:off x="647700" y="3063180"/>
            <a:ext cx="3769614" cy="173236"/>
          </a:xfrm>
          <a:prstGeom prst="rect">
            <a:avLst/>
          </a:prstGeom>
          <a:noFill/>
          <a:ln/>
        </p:spPr>
        <p:txBody>
          <a:bodyPr wrap="square" lIns="0" tIns="0" rIns="0" bIns="0" rtlCol="0" anchor="t"/>
          <a:lstStyle/>
          <a:p>
            <a:pPr algn="l" indent="0" marL="0">
              <a:lnSpc>
                <a:spcPts val="1365"/>
              </a:lnSpc>
              <a:spcAft>
                <a:spcPts val="450"/>
              </a:spcAft>
              <a:buNone/>
            </a:pPr>
            <a:r>
              <a:rPr lang="en-US" sz="975" b="1" dirty="0">
                <a:solidFill>
                  <a:srgbClr val="1A1F2E"/>
                </a:solidFill>
                <a:latin typeface="Georgia" pitchFamily="34" charset="0"/>
                <a:ea typeface="Georgia" pitchFamily="34" charset="-122"/>
                <a:cs typeface="Georgia" pitchFamily="34" charset="-120"/>
              </a:rPr>
              <a:t>Flow State Mode</a:t>
            </a:r>
            <a:endParaRPr lang="en-US" sz="975" dirty="0"/>
          </a:p>
        </p:txBody>
      </p:sp>
      <p:sp>
        <p:nvSpPr>
          <p:cNvPr id="15" name="Text 13"/>
          <p:cNvSpPr/>
          <p:nvPr/>
        </p:nvSpPr>
        <p:spPr>
          <a:xfrm>
            <a:off x="647700" y="3293566"/>
            <a:ext cx="3769614" cy="314325"/>
          </a:xfrm>
          <a:prstGeom prst="rect">
            <a:avLst/>
          </a:prstGeom>
          <a:noFill/>
          <a:ln/>
        </p:spPr>
        <p:txBody>
          <a:bodyPr wrap="square" lIns="0" tIns="0" rIns="0" bIns="0" rtlCol="0" anchor="t"/>
          <a:lstStyle/>
          <a:p>
            <a:pPr algn="l" indent="0" marL="0">
              <a:lnSpc>
                <a:spcPts val="1238"/>
              </a:lnSpc>
              <a:buNone/>
            </a:pPr>
            <a:r>
              <a:rPr lang="en-US" sz="825" dirty="0">
                <a:solidFill>
                  <a:srgbClr val="6B7280"/>
                </a:solidFill>
                <a:latin typeface="Arial" pitchFamily="34" charset="0"/>
                <a:ea typeface="Arial" pitchFamily="34" charset="-122"/>
                <a:cs typeface="Arial" pitchFamily="34" charset="-120"/>
              </a:rPr>
              <a:t>Continuous dictation without holding keys. Start speaking when ready, pause naturally between sentences.</a:t>
            </a:r>
            <a:endParaRPr lang="en-US" sz="825" dirty="0"/>
          </a:p>
        </p:txBody>
      </p:sp>
      <p:sp>
        <p:nvSpPr>
          <p:cNvPr id="16" name="Text 14"/>
          <p:cNvSpPr/>
          <p:nvPr/>
        </p:nvSpPr>
        <p:spPr>
          <a:xfrm>
            <a:off x="4648200" y="983159"/>
            <a:ext cx="4038600" cy="849511"/>
          </a:xfrm>
          <a:prstGeom prst="rect">
            <a:avLst/>
          </a:prstGeom>
          <a:solidFill>
            <a:srgbClr val="FFFFFF"/>
          </a:solidFill>
          <a:ln/>
        </p:spPr>
        <p:txBody>
          <a:bodyPr wrap="square" rtlCol="0" anchor="ctr"/>
          <a:lstStyle/>
          <a:p>
            <a:pPr indent="0" marL="0">
              <a:buNone/>
            </a:pPr>
            <a:endParaRPr lang="en-US" dirty="0"/>
          </a:p>
        </p:txBody>
      </p:sp>
      <p:sp>
        <p:nvSpPr>
          <p:cNvPr id="17" name="Shape 15"/>
          <p:cNvSpPr/>
          <p:nvPr/>
        </p:nvSpPr>
        <p:spPr>
          <a:xfrm>
            <a:off x="4667250" y="983159"/>
            <a:ext cx="0" cy="849511"/>
          </a:xfrm>
          <a:prstGeom prst="line">
            <a:avLst/>
          </a:prstGeom>
          <a:noFill/>
          <a:ln w="38100">
            <a:solidFill>
              <a:srgbClr val="C9A227"/>
            </a:solidFill>
            <a:prstDash val="solid"/>
          </a:ln>
        </p:spPr>
      </p:sp>
      <p:sp>
        <p:nvSpPr>
          <p:cNvPr id="18" name="Text 16"/>
          <p:cNvSpPr/>
          <p:nvPr/>
        </p:nvSpPr>
        <p:spPr>
          <a:xfrm>
            <a:off x="4838700" y="1135559"/>
            <a:ext cx="3769614" cy="173236"/>
          </a:xfrm>
          <a:prstGeom prst="rect">
            <a:avLst/>
          </a:prstGeom>
          <a:noFill/>
          <a:ln/>
        </p:spPr>
        <p:txBody>
          <a:bodyPr wrap="square" lIns="0" tIns="0" rIns="0" bIns="0" rtlCol="0" anchor="t"/>
          <a:lstStyle/>
          <a:p>
            <a:pPr algn="l" indent="0" marL="0">
              <a:lnSpc>
                <a:spcPts val="1365"/>
              </a:lnSpc>
              <a:spcAft>
                <a:spcPts val="450"/>
              </a:spcAft>
              <a:buNone/>
            </a:pPr>
            <a:r>
              <a:rPr lang="en-US" sz="975" b="1" dirty="0">
                <a:solidFill>
                  <a:srgbClr val="1A1F2E"/>
                </a:solidFill>
                <a:latin typeface="Georgia" pitchFamily="34" charset="0"/>
                <a:ea typeface="Georgia" pitchFamily="34" charset="-122"/>
                <a:cs typeface="Georgia" pitchFamily="34" charset="-120"/>
              </a:rPr>
              <a:t>Smart Formatting</a:t>
            </a:r>
            <a:endParaRPr lang="en-US" sz="975" dirty="0"/>
          </a:p>
        </p:txBody>
      </p:sp>
      <p:sp>
        <p:nvSpPr>
          <p:cNvPr id="19" name="Text 17"/>
          <p:cNvSpPr/>
          <p:nvPr/>
        </p:nvSpPr>
        <p:spPr>
          <a:xfrm>
            <a:off x="4838700" y="1365945"/>
            <a:ext cx="3769614" cy="314325"/>
          </a:xfrm>
          <a:prstGeom prst="rect">
            <a:avLst/>
          </a:prstGeom>
          <a:noFill/>
          <a:ln/>
        </p:spPr>
        <p:txBody>
          <a:bodyPr wrap="square" lIns="0" tIns="0" rIns="0" bIns="0" rtlCol="0" anchor="t"/>
          <a:lstStyle/>
          <a:p>
            <a:pPr algn="l" indent="0" marL="0">
              <a:lnSpc>
                <a:spcPts val="1238"/>
              </a:lnSpc>
              <a:buNone/>
            </a:pPr>
            <a:r>
              <a:rPr lang="en-US" sz="825" dirty="0">
                <a:solidFill>
                  <a:srgbClr val="6B7280"/>
                </a:solidFill>
                <a:latin typeface="Arial" pitchFamily="34" charset="0"/>
                <a:ea typeface="Arial" pitchFamily="34" charset="-122"/>
                <a:cs typeface="Arial" pitchFamily="34" charset="-120"/>
              </a:rPr>
              <a:t>Auto-capitalizes sentences, adds punctuation intelligently, formats code blocks, and handles special characters.</a:t>
            </a:r>
            <a:endParaRPr lang="en-US" sz="825" dirty="0"/>
          </a:p>
        </p:txBody>
      </p:sp>
      <p:sp>
        <p:nvSpPr>
          <p:cNvPr id="20" name="Text 18"/>
          <p:cNvSpPr/>
          <p:nvPr/>
        </p:nvSpPr>
        <p:spPr>
          <a:xfrm>
            <a:off x="4648200" y="1946970"/>
            <a:ext cx="4038600" cy="849511"/>
          </a:xfrm>
          <a:prstGeom prst="rect">
            <a:avLst/>
          </a:prstGeom>
          <a:solidFill>
            <a:srgbClr val="FFFFFF"/>
          </a:solidFill>
          <a:ln/>
        </p:spPr>
        <p:txBody>
          <a:bodyPr wrap="square" rtlCol="0" anchor="ctr"/>
          <a:lstStyle/>
          <a:p>
            <a:pPr indent="0" marL="0">
              <a:buNone/>
            </a:pPr>
            <a:endParaRPr lang="en-US" dirty="0"/>
          </a:p>
        </p:txBody>
      </p:sp>
      <p:sp>
        <p:nvSpPr>
          <p:cNvPr id="21" name="Shape 19"/>
          <p:cNvSpPr/>
          <p:nvPr/>
        </p:nvSpPr>
        <p:spPr>
          <a:xfrm>
            <a:off x="4667250" y="1946970"/>
            <a:ext cx="0" cy="849511"/>
          </a:xfrm>
          <a:prstGeom prst="line">
            <a:avLst/>
          </a:prstGeom>
          <a:noFill/>
          <a:ln w="38100">
            <a:solidFill>
              <a:srgbClr val="C9A227"/>
            </a:solidFill>
            <a:prstDash val="solid"/>
          </a:ln>
        </p:spPr>
      </p:sp>
      <p:sp>
        <p:nvSpPr>
          <p:cNvPr id="22" name="Text 20"/>
          <p:cNvSpPr/>
          <p:nvPr/>
        </p:nvSpPr>
        <p:spPr>
          <a:xfrm>
            <a:off x="4838700" y="2099370"/>
            <a:ext cx="3769614" cy="173236"/>
          </a:xfrm>
          <a:prstGeom prst="rect">
            <a:avLst/>
          </a:prstGeom>
          <a:noFill/>
          <a:ln/>
        </p:spPr>
        <p:txBody>
          <a:bodyPr wrap="square" lIns="0" tIns="0" rIns="0" bIns="0" rtlCol="0" anchor="t"/>
          <a:lstStyle/>
          <a:p>
            <a:pPr algn="l" indent="0" marL="0">
              <a:lnSpc>
                <a:spcPts val="1365"/>
              </a:lnSpc>
              <a:spcAft>
                <a:spcPts val="450"/>
              </a:spcAft>
              <a:buNone/>
            </a:pPr>
            <a:r>
              <a:rPr lang="en-US" sz="975" b="1" dirty="0">
                <a:solidFill>
                  <a:srgbClr val="1A1F2E"/>
                </a:solidFill>
                <a:latin typeface="Georgia" pitchFamily="34" charset="0"/>
                <a:ea typeface="Georgia" pitchFamily="34" charset="-122"/>
                <a:cs typeface="Georgia" pitchFamily="34" charset="-120"/>
              </a:rPr>
              <a:t>Multi-Language Support</a:t>
            </a:r>
            <a:endParaRPr lang="en-US" sz="975" dirty="0"/>
          </a:p>
        </p:txBody>
      </p:sp>
      <p:sp>
        <p:nvSpPr>
          <p:cNvPr id="23" name="Text 21"/>
          <p:cNvSpPr/>
          <p:nvPr/>
        </p:nvSpPr>
        <p:spPr>
          <a:xfrm>
            <a:off x="4838700" y="2329755"/>
            <a:ext cx="3769614" cy="314325"/>
          </a:xfrm>
          <a:prstGeom prst="rect">
            <a:avLst/>
          </a:prstGeom>
          <a:noFill/>
          <a:ln/>
        </p:spPr>
        <p:txBody>
          <a:bodyPr wrap="square" lIns="0" tIns="0" rIns="0" bIns="0" rtlCol="0" anchor="t"/>
          <a:lstStyle/>
          <a:p>
            <a:pPr algn="l" indent="0" marL="0">
              <a:lnSpc>
                <a:spcPts val="1238"/>
              </a:lnSpc>
              <a:buNone/>
            </a:pPr>
            <a:r>
              <a:rPr lang="en-US" sz="825" dirty="0">
                <a:solidFill>
                  <a:srgbClr val="6B7280"/>
                </a:solidFill>
                <a:latin typeface="Arial" pitchFamily="34" charset="0"/>
                <a:ea typeface="Arial" pitchFamily="34" charset="-122"/>
                <a:cs typeface="Arial" pitchFamily="34" charset="-120"/>
              </a:rPr>
              <a:t>Supports 30+ languages with automatic detection. Switch languages mid-dictation seamlessly.</a:t>
            </a:r>
            <a:endParaRPr lang="en-US" sz="825" dirty="0"/>
          </a:p>
        </p:txBody>
      </p:sp>
      <p:sp>
        <p:nvSpPr>
          <p:cNvPr id="24" name="Text 22"/>
          <p:cNvSpPr/>
          <p:nvPr/>
        </p:nvSpPr>
        <p:spPr>
          <a:xfrm>
            <a:off x="4648200" y="2910780"/>
            <a:ext cx="4038600" cy="849511"/>
          </a:xfrm>
          <a:prstGeom prst="rect">
            <a:avLst/>
          </a:prstGeom>
          <a:solidFill>
            <a:srgbClr val="1A1F2E"/>
          </a:solidFill>
          <a:ln/>
        </p:spPr>
        <p:txBody>
          <a:bodyPr wrap="square" rtlCol="0" anchor="ctr"/>
          <a:lstStyle/>
          <a:p>
            <a:pPr indent="0" marL="0">
              <a:buNone/>
            </a:pPr>
            <a:endParaRPr lang="en-US" dirty="0"/>
          </a:p>
        </p:txBody>
      </p:sp>
      <p:sp>
        <p:nvSpPr>
          <p:cNvPr id="25" name="Text 23"/>
          <p:cNvSpPr/>
          <p:nvPr/>
        </p:nvSpPr>
        <p:spPr>
          <a:xfrm>
            <a:off x="4800600" y="3063180"/>
            <a:ext cx="3808476" cy="173236"/>
          </a:xfrm>
          <a:prstGeom prst="rect">
            <a:avLst/>
          </a:prstGeom>
          <a:noFill/>
          <a:ln/>
        </p:spPr>
        <p:txBody>
          <a:bodyPr wrap="square" lIns="0" tIns="0" rIns="0" bIns="0" rtlCol="0" anchor="t"/>
          <a:lstStyle/>
          <a:p>
            <a:pPr algn="l" indent="0" marL="0">
              <a:lnSpc>
                <a:spcPts val="1365"/>
              </a:lnSpc>
              <a:spcAft>
                <a:spcPts val="450"/>
              </a:spcAft>
              <a:buNone/>
            </a:pPr>
            <a:r>
              <a:rPr lang="en-US" sz="975" b="1" dirty="0">
                <a:solidFill>
                  <a:srgbClr val="C9A227"/>
                </a:solidFill>
                <a:latin typeface="Georgia" pitchFamily="34" charset="0"/>
                <a:ea typeface="Georgia" pitchFamily="34" charset="-122"/>
                <a:cs typeface="Georgia" pitchFamily="34" charset="-120"/>
              </a:rPr>
              <a:t>Correction Mode</a:t>
            </a:r>
            <a:endParaRPr lang="en-US" sz="975" dirty="0"/>
          </a:p>
        </p:txBody>
      </p:sp>
      <p:sp>
        <p:nvSpPr>
          <p:cNvPr id="26" name="Text 24"/>
          <p:cNvSpPr/>
          <p:nvPr/>
        </p:nvSpPr>
        <p:spPr>
          <a:xfrm>
            <a:off x="4800600" y="3293566"/>
            <a:ext cx="3808476" cy="314325"/>
          </a:xfrm>
          <a:prstGeom prst="rect">
            <a:avLst/>
          </a:prstGeom>
          <a:noFill/>
          <a:ln/>
        </p:spPr>
        <p:txBody>
          <a:bodyPr wrap="square" lIns="0" tIns="0" rIns="0" bIns="0" rtlCol="0" anchor="t"/>
          <a:lstStyle/>
          <a:p>
            <a:pPr algn="l" indent="0" marL="0">
              <a:lnSpc>
                <a:spcPts val="1238"/>
              </a:lnSpc>
              <a:buNone/>
            </a:pPr>
            <a:r>
              <a:rPr lang="en-US" sz="825" dirty="0">
                <a:solidFill>
                  <a:srgbClr val="FFFFFF">
                    <a:alpha val="70000"/>
                  </a:srgbClr>
                </a:solidFill>
                <a:latin typeface="Arial" pitchFamily="34" charset="0"/>
                <a:ea typeface="Arial" pitchFamily="34" charset="-122"/>
                <a:cs typeface="Arial" pitchFamily="34" charset="-120"/>
              </a:rPr>
              <a:t>Say "correct that" or "change X to Y" to make inline edits without switching to keyboard.</a:t>
            </a:r>
            <a:endParaRPr lang="en-US" sz="825" dirty="0"/>
          </a:p>
        </p:txBody>
      </p:sp>
      <p:sp>
        <p:nvSpPr>
          <p:cNvPr id="27" name="Text 25"/>
          <p:cNvSpPr/>
          <p:nvPr/>
        </p:nvSpPr>
        <p:spPr>
          <a:xfrm>
            <a:off x="457200" y="4082504"/>
            <a:ext cx="4038600" cy="794296"/>
          </a:xfrm>
          <a:prstGeom prst="rect">
            <a:avLst/>
          </a:prstGeom>
          <a:solidFill>
            <a:srgbClr val="C9A227">
              <a:alpha val="10000"/>
            </a:srgbClr>
          </a:solidFill>
          <a:ln w="9525">
            <a:solidFill>
              <a:srgbClr val="C9A227"/>
            </a:solidFill>
          </a:ln>
        </p:spPr>
        <p:txBody>
          <a:bodyPr wrap="square" rtlCol="0" anchor="ctr"/>
          <a:lstStyle/>
          <a:p>
            <a:pPr indent="0" marL="0">
              <a:buNone/>
            </a:pPr>
            <a:endParaRPr lang="en-US" dirty="0"/>
          </a:p>
        </p:txBody>
      </p:sp>
      <p:sp>
        <p:nvSpPr>
          <p:cNvPr id="28" name="Text 26"/>
          <p:cNvSpPr/>
          <p:nvPr/>
        </p:nvSpPr>
        <p:spPr>
          <a:xfrm>
            <a:off x="600075" y="4225379"/>
            <a:ext cx="3827907" cy="146596"/>
          </a:xfrm>
          <a:prstGeom prst="rect">
            <a:avLst/>
          </a:prstGeom>
          <a:noFill/>
          <a:ln/>
        </p:spPr>
        <p:txBody>
          <a:bodyPr wrap="square" lIns="0" tIns="0" rIns="0" bIns="0" rtlCol="0" anchor="t"/>
          <a:lstStyle/>
          <a:p>
            <a:pPr algn="l" indent="0" marL="0">
              <a:lnSpc>
                <a:spcPts val="1155"/>
              </a:lnSpc>
              <a:spcAft>
                <a:spcPts val="300"/>
              </a:spcAft>
              <a:buNone/>
            </a:pPr>
            <a:r>
              <a:rPr lang="en-US" sz="825" b="1" dirty="0">
                <a:solidFill>
                  <a:srgbClr val="1A1F2E"/>
                </a:solidFill>
                <a:latin typeface="Arial" pitchFamily="34" charset="0"/>
                <a:ea typeface="Arial" pitchFamily="34" charset="-122"/>
                <a:cs typeface="Arial" pitchFamily="34" charset="-120"/>
              </a:rPr>
              <a:t>CODING CONTEXT EXAMPLE</a:t>
            </a:r>
            <a:endParaRPr lang="en-US" sz="825" dirty="0"/>
          </a:p>
        </p:txBody>
      </p:sp>
      <p:sp>
        <p:nvSpPr>
          <p:cNvPr id="29" name="Text 27"/>
          <p:cNvSpPr/>
          <p:nvPr/>
        </p:nvSpPr>
        <p:spPr>
          <a:xfrm>
            <a:off x="600075" y="4410075"/>
            <a:ext cx="3827907" cy="323850"/>
          </a:xfrm>
          <a:prstGeom prst="rect">
            <a:avLst/>
          </a:prstGeom>
          <a:noFill/>
          <a:ln/>
        </p:spPr>
        <p:txBody>
          <a:bodyPr wrap="square" lIns="0" tIns="0" rIns="0" bIns="0" rtlCol="0" anchor="t"/>
          <a:lstStyle/>
          <a:p>
            <a:pPr algn="l" indent="0" marL="0">
              <a:lnSpc>
                <a:spcPts val="1238"/>
              </a:lnSpc>
              <a:buNone/>
            </a:pPr>
            <a:r>
              <a:rPr lang="en-US" sz="825" dirty="0">
                <a:solidFill>
                  <a:srgbClr val="6B7280"/>
                </a:solidFill>
                <a:latin typeface="Arial" pitchFamily="34" charset="0"/>
                <a:ea typeface="Arial" pitchFamily="34" charset="-122"/>
                <a:cs typeface="Arial" pitchFamily="34" charset="-120"/>
              </a:rPr>
              <a:t>Say: "create a function called calculate total that takes price and quantity"</a:t>
            </a:r>
            <a:endParaRPr lang="en-US" sz="825" dirty="0"/>
          </a:p>
          <a:p>
            <a:pPr algn="l" indent="0" marL="0">
              <a:lnSpc>
                <a:spcPts val="1238"/>
              </a:lnSpc>
              <a:buNone/>
            </a:pPr>
            <a:r>
              <a:rPr lang="en-US" sz="825" dirty="0">
                <a:solidFill>
                  <a:srgbClr val="6B7280"/>
                </a:solidFill>
                <a:latin typeface="Arial" pitchFamily="34" charset="0"/>
                <a:ea typeface="Arial" pitchFamily="34" charset="-122"/>
                <a:cs typeface="Arial" pitchFamily="34" charset="-120"/>
              </a:rPr>
              <a:t>Output: </a:t>
            </a:r>
            <a:endParaRPr lang="en-US" sz="825" dirty="0"/>
          </a:p>
          <a:p>
            <a:pPr algn="l" indent="0" marL="0">
              <a:lnSpc>
                <a:spcPts val="1238"/>
              </a:lnSpc>
              <a:buNone/>
            </a:pPr>
            <a:r>
              <a:rPr lang="en-US" sz="825" dirty="0">
                <a:solidFill>
                  <a:srgbClr val="6B7280"/>
                </a:solidFill>
                <a:latin typeface="Arial" pitchFamily="34" charset="0"/>
                <a:ea typeface="Arial" pitchFamily="34" charset="-122"/>
                <a:cs typeface="Arial" pitchFamily="34" charset="-120"/>
              </a:rPr>
              <a:t>function calculateTotal(price, quantity)</a:t>
            </a:r>
            <a:endParaRPr lang="en-US" sz="825" dirty="0"/>
          </a:p>
        </p:txBody>
      </p:sp>
      <p:sp>
        <p:nvSpPr>
          <p:cNvPr id="30" name="Text 28"/>
          <p:cNvSpPr/>
          <p:nvPr/>
        </p:nvSpPr>
        <p:spPr>
          <a:xfrm>
            <a:off x="4648200" y="4087267"/>
            <a:ext cx="4038600" cy="784771"/>
          </a:xfrm>
          <a:prstGeom prst="rect">
            <a:avLst/>
          </a:prstGeom>
          <a:solidFill>
            <a:srgbClr val="C9A227">
              <a:alpha val="10000"/>
            </a:srgbClr>
          </a:solidFill>
          <a:ln w="9525">
            <a:solidFill>
              <a:srgbClr val="C9A227"/>
            </a:solidFill>
          </a:ln>
        </p:spPr>
        <p:txBody>
          <a:bodyPr wrap="square" rtlCol="0" anchor="ctr"/>
          <a:lstStyle/>
          <a:p>
            <a:pPr indent="0" marL="0">
              <a:buNone/>
            </a:pPr>
            <a:endParaRPr lang="en-US" dirty="0"/>
          </a:p>
        </p:txBody>
      </p:sp>
      <p:sp>
        <p:nvSpPr>
          <p:cNvPr id="31" name="Text 29"/>
          <p:cNvSpPr/>
          <p:nvPr/>
        </p:nvSpPr>
        <p:spPr>
          <a:xfrm>
            <a:off x="4791075" y="4230142"/>
            <a:ext cx="3827907" cy="146596"/>
          </a:xfrm>
          <a:prstGeom prst="rect">
            <a:avLst/>
          </a:prstGeom>
          <a:noFill/>
          <a:ln/>
        </p:spPr>
        <p:txBody>
          <a:bodyPr wrap="square" lIns="0" tIns="0" rIns="0" bIns="0" rtlCol="0" anchor="t"/>
          <a:lstStyle/>
          <a:p>
            <a:pPr algn="l" indent="0" marL="0">
              <a:lnSpc>
                <a:spcPts val="1155"/>
              </a:lnSpc>
              <a:spcAft>
                <a:spcPts val="300"/>
              </a:spcAft>
              <a:buNone/>
            </a:pPr>
            <a:r>
              <a:rPr lang="en-US" sz="825" b="1" dirty="0">
                <a:solidFill>
                  <a:srgbClr val="1A1F2E"/>
                </a:solidFill>
                <a:latin typeface="Arial" pitchFamily="34" charset="0"/>
                <a:ea typeface="Arial" pitchFamily="34" charset="-122"/>
                <a:cs typeface="Arial" pitchFamily="34" charset="-120"/>
              </a:rPr>
              <a:t>EMAIL CONTEXT EXAMPLE</a:t>
            </a:r>
            <a:endParaRPr lang="en-US" sz="825" dirty="0"/>
          </a:p>
        </p:txBody>
      </p:sp>
      <p:sp>
        <p:nvSpPr>
          <p:cNvPr id="32" name="Text 30"/>
          <p:cNvSpPr/>
          <p:nvPr/>
        </p:nvSpPr>
        <p:spPr>
          <a:xfrm>
            <a:off x="4791075" y="4414838"/>
            <a:ext cx="3827907" cy="314325"/>
          </a:xfrm>
          <a:prstGeom prst="rect">
            <a:avLst/>
          </a:prstGeom>
          <a:noFill/>
          <a:ln/>
        </p:spPr>
        <p:txBody>
          <a:bodyPr wrap="square" lIns="0" tIns="0" rIns="0" bIns="0" rtlCol="0" anchor="t"/>
          <a:lstStyle/>
          <a:p>
            <a:pPr algn="l" indent="0" marL="0">
              <a:lnSpc>
                <a:spcPts val="1238"/>
              </a:lnSpc>
              <a:buNone/>
            </a:pPr>
            <a:r>
              <a:rPr lang="en-US" sz="825" dirty="0">
                <a:solidFill>
                  <a:srgbClr val="6B7280"/>
                </a:solidFill>
                <a:latin typeface="Arial" pitchFamily="34" charset="0"/>
                <a:ea typeface="Arial" pitchFamily="34" charset="-122"/>
                <a:cs typeface="Arial" pitchFamily="34" charset="-120"/>
              </a:rPr>
              <a:t>Say: "hi john comma thanks for the meeting period looking forward to next steps"</a:t>
            </a:r>
            <a:endParaRPr lang="en-US" sz="825" dirty="0"/>
          </a:p>
          <a:p>
            <a:pPr algn="l" indent="0" marL="0">
              <a:lnSpc>
                <a:spcPts val="1238"/>
              </a:lnSpc>
              <a:buNone/>
            </a:pPr>
            <a:r>
              <a:rPr lang="en-US" sz="825" dirty="0">
                <a:solidFill>
                  <a:srgbClr val="6B7280"/>
                </a:solidFill>
                <a:latin typeface="Arial" pitchFamily="34" charset="0"/>
                <a:ea typeface="Arial" pitchFamily="34" charset="-122"/>
                <a:cs typeface="Arial" pitchFamily="34" charset="-120"/>
              </a:rPr>
              <a:t>Output: Hi John, Thanks for the meeting. Looking forward to next steps.</a:t>
            </a:r>
            <a:endParaRPr lang="en-US" sz="825"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4944219" cy="5143500"/>
          </a:xfrm>
          <a:prstGeom prst="rect">
            <a:avLst/>
          </a:prstGeom>
          <a:solidFill>
            <a:srgbClr val="F7F8FA"/>
          </a:solidFill>
          <a:ln/>
        </p:spPr>
        <p:txBody>
          <a:bodyPr wrap="square" rtlCol="0" anchor="ctr"/>
          <a:lstStyle/>
          <a:p>
            <a:pPr indent="0" marL="0">
              <a:buNone/>
            </a:pPr>
            <a:endParaRPr lang="en-US" dirty="0"/>
          </a:p>
        </p:txBody>
      </p:sp>
      <p:sp>
        <p:nvSpPr>
          <p:cNvPr id="3" name="Text 1"/>
          <p:cNvSpPr/>
          <p:nvPr/>
        </p:nvSpPr>
        <p:spPr>
          <a:xfrm>
            <a:off x="304800" y="340221"/>
            <a:ext cx="4421312" cy="133350"/>
          </a:xfrm>
          <a:prstGeom prst="rect">
            <a:avLst/>
          </a:prstGeom>
          <a:noFill/>
          <a:ln/>
        </p:spPr>
        <p:txBody>
          <a:bodyPr wrap="square" lIns="0" tIns="0" rIns="0" bIns="0" rtlCol="0" anchor="t"/>
          <a:lstStyle/>
          <a:p>
            <a:pPr algn="l" indent="0" marL="0">
              <a:lnSpc>
                <a:spcPts val="1050"/>
              </a:lnSpc>
              <a:spcAft>
                <a:spcPts val="300"/>
              </a:spcAft>
              <a:buNone/>
            </a:pPr>
            <a:r>
              <a:rPr lang="en-US" sz="750" dirty="0">
                <a:solidFill>
                  <a:srgbClr val="C9A227"/>
                </a:solidFill>
                <a:latin typeface="Arial" pitchFamily="34" charset="0"/>
                <a:ea typeface="Arial" pitchFamily="34" charset="-122"/>
                <a:cs typeface="Arial" pitchFamily="34" charset="-120"/>
              </a:rPr>
              <a:t>IDE INTEGRATION</a:t>
            </a:r>
            <a:endParaRPr lang="en-US" sz="750" dirty="0"/>
          </a:p>
        </p:txBody>
      </p:sp>
      <p:sp>
        <p:nvSpPr>
          <p:cNvPr id="4" name="Text 2"/>
          <p:cNvSpPr/>
          <p:nvPr/>
        </p:nvSpPr>
        <p:spPr>
          <a:xfrm>
            <a:off x="304800" y="664071"/>
            <a:ext cx="2788349" cy="228600"/>
          </a:xfrm>
          <a:prstGeom prst="rect">
            <a:avLst/>
          </a:prstGeom>
          <a:noFill/>
          <a:ln/>
        </p:spPr>
        <p:txBody>
          <a:bodyPr wrap="square" lIns="0" tIns="0" rIns="0" bIns="0" rtlCol="0" anchor="t"/>
          <a:lstStyle/>
          <a:p>
            <a:pPr algn="l" indent="0" marL="0">
              <a:lnSpc>
                <a:spcPts val="1800"/>
              </a:lnSpc>
              <a:spcAft>
                <a:spcPts val="300"/>
              </a:spcAft>
              <a:buNone/>
            </a:pPr>
            <a:r>
              <a:rPr lang="en-US" sz="1800" dirty="0">
                <a:solidFill>
                  <a:srgbClr val="1A1F2E"/>
                </a:solidFill>
                <a:latin typeface="Georgia" pitchFamily="34" charset="0"/>
                <a:ea typeface="Georgia" pitchFamily="34" charset="-122"/>
                <a:cs typeface="Georgia" pitchFamily="34" charset="-120"/>
              </a:rPr>
              <a:t>Wispr Flow + Code Editors</a:t>
            </a:r>
            <a:endParaRPr lang="en-US" sz="1800" dirty="0"/>
          </a:p>
        </p:txBody>
      </p:sp>
      <p:sp>
        <p:nvSpPr>
          <p:cNvPr id="5" name="Text 3"/>
          <p:cNvSpPr/>
          <p:nvPr/>
        </p:nvSpPr>
        <p:spPr>
          <a:xfrm>
            <a:off x="304800" y="1083171"/>
            <a:ext cx="4421312" cy="146596"/>
          </a:xfrm>
          <a:prstGeom prst="rect">
            <a:avLst/>
          </a:prstGeom>
          <a:noFill/>
          <a:ln/>
        </p:spPr>
        <p:txBody>
          <a:bodyPr wrap="square" lIns="0" tIns="0" rIns="0" bIns="0" rtlCol="0" anchor="t"/>
          <a:lstStyle/>
          <a:p>
            <a:pPr algn="l" indent="0" marL="0">
              <a:lnSpc>
                <a:spcPts val="1155"/>
              </a:lnSpc>
              <a:spcAft>
                <a:spcPts val="1050"/>
              </a:spcAft>
              <a:buNone/>
            </a:pPr>
            <a:r>
              <a:rPr lang="en-US" sz="825" dirty="0">
                <a:solidFill>
                  <a:srgbClr val="6B7280"/>
                </a:solidFill>
                <a:latin typeface="Arial" pitchFamily="34" charset="0"/>
                <a:ea typeface="Arial" pitchFamily="34" charset="-122"/>
                <a:cs typeface="Arial" pitchFamily="34" charset="-120"/>
              </a:rPr>
              <a:t>Special features for VS Code, Cursor, and other IDEs</a:t>
            </a:r>
            <a:endParaRPr lang="en-US" sz="825" dirty="0"/>
          </a:p>
        </p:txBody>
      </p:sp>
      <p:sp>
        <p:nvSpPr>
          <p:cNvPr id="6" name="Text 4"/>
          <p:cNvSpPr/>
          <p:nvPr/>
        </p:nvSpPr>
        <p:spPr>
          <a:xfrm>
            <a:off x="304800" y="1515517"/>
            <a:ext cx="4334619" cy="641896"/>
          </a:xfrm>
          <a:prstGeom prst="rect">
            <a:avLst/>
          </a:prstGeom>
          <a:solidFill>
            <a:srgbClr val="FFFFFF"/>
          </a:solidFill>
          <a:ln/>
        </p:spPr>
        <p:txBody>
          <a:bodyPr wrap="square" rtlCol="0" anchor="ctr"/>
          <a:lstStyle/>
          <a:p>
            <a:pPr indent="0" marL="0">
              <a:buNone/>
            </a:pPr>
            <a:endParaRPr lang="en-US" dirty="0"/>
          </a:p>
        </p:txBody>
      </p:sp>
      <p:sp>
        <p:nvSpPr>
          <p:cNvPr id="7" name="Shape 5"/>
          <p:cNvSpPr/>
          <p:nvPr/>
        </p:nvSpPr>
        <p:spPr>
          <a:xfrm>
            <a:off x="323850" y="1515517"/>
            <a:ext cx="0" cy="641896"/>
          </a:xfrm>
          <a:prstGeom prst="line">
            <a:avLst/>
          </a:prstGeom>
          <a:noFill/>
          <a:ln w="38100">
            <a:solidFill>
              <a:srgbClr val="C9A227"/>
            </a:solidFill>
            <a:prstDash val="solid"/>
          </a:ln>
        </p:spPr>
      </p:sp>
      <p:sp>
        <p:nvSpPr>
          <p:cNvPr id="8" name="Text 6"/>
          <p:cNvSpPr/>
          <p:nvPr/>
        </p:nvSpPr>
        <p:spPr>
          <a:xfrm>
            <a:off x="457200" y="1610767"/>
            <a:ext cx="4149278" cy="146596"/>
          </a:xfrm>
          <a:prstGeom prst="rect">
            <a:avLst/>
          </a:prstGeom>
          <a:noFill/>
          <a:ln/>
        </p:spPr>
        <p:txBody>
          <a:bodyPr wrap="square" lIns="0" tIns="0" rIns="0" bIns="0" rtlCol="0" anchor="t"/>
          <a:lstStyle/>
          <a:p>
            <a:pPr algn="l" indent="0" marL="0">
              <a:lnSpc>
                <a:spcPts val="1155"/>
              </a:lnSpc>
              <a:spcAft>
                <a:spcPts val="300"/>
              </a:spcAft>
              <a:buNone/>
            </a:pPr>
            <a:r>
              <a:rPr lang="en-US" sz="825" b="1" dirty="0">
                <a:solidFill>
                  <a:srgbClr val="1A1F2E"/>
                </a:solidFill>
                <a:latin typeface="Arial" pitchFamily="34" charset="0"/>
                <a:ea typeface="Arial" pitchFamily="34" charset="-122"/>
                <a:cs typeface="Arial" pitchFamily="34" charset="-120"/>
              </a:rPr>
              <a:t>Automatic Code Formatting</a:t>
            </a:r>
            <a:endParaRPr lang="en-US" sz="825" dirty="0"/>
          </a:p>
        </p:txBody>
      </p:sp>
      <p:sp>
        <p:nvSpPr>
          <p:cNvPr id="9" name="Text 7"/>
          <p:cNvSpPr/>
          <p:nvPr/>
        </p:nvSpPr>
        <p:spPr>
          <a:xfrm>
            <a:off x="457200" y="1795463"/>
            <a:ext cx="4149278" cy="266700"/>
          </a:xfrm>
          <a:prstGeom prst="rect">
            <a:avLst/>
          </a:prstGeom>
          <a:noFill/>
          <a:ln/>
        </p:spPr>
        <p:txBody>
          <a:bodyPr wrap="square" lIns="0" tIns="0" rIns="0" bIns="0" rtlCol="0" anchor="t"/>
          <a:lstStyle/>
          <a:p>
            <a:pPr algn="l" indent="0" marL="0">
              <a:lnSpc>
                <a:spcPts val="1050"/>
              </a:lnSpc>
              <a:buNone/>
            </a:pPr>
            <a:r>
              <a:rPr lang="en-US" sz="750" dirty="0">
                <a:solidFill>
                  <a:srgbClr val="6B7280"/>
                </a:solidFill>
                <a:latin typeface="Arial" pitchFamily="34" charset="0"/>
                <a:ea typeface="Arial" pitchFamily="34" charset="-122"/>
                <a:cs typeface="Arial" pitchFamily="34" charset="-120"/>
              </a:rPr>
              <a:t>Wispr detects when you're in a code file and automatically formats variable names as camelCase, adds proper syntax, and handles special characters.</a:t>
            </a:r>
            <a:endParaRPr lang="en-US" sz="750" dirty="0"/>
          </a:p>
        </p:txBody>
      </p:sp>
      <p:sp>
        <p:nvSpPr>
          <p:cNvPr id="10" name="Text 8"/>
          <p:cNvSpPr/>
          <p:nvPr/>
        </p:nvSpPr>
        <p:spPr>
          <a:xfrm>
            <a:off x="304800" y="2405063"/>
            <a:ext cx="4334619" cy="641896"/>
          </a:xfrm>
          <a:prstGeom prst="rect">
            <a:avLst/>
          </a:prstGeom>
          <a:solidFill>
            <a:srgbClr val="FFFFFF"/>
          </a:solidFill>
          <a:ln/>
        </p:spPr>
        <p:txBody>
          <a:bodyPr wrap="square" rtlCol="0" anchor="ctr"/>
          <a:lstStyle/>
          <a:p>
            <a:pPr indent="0" marL="0">
              <a:buNone/>
            </a:pPr>
            <a:endParaRPr lang="en-US" dirty="0"/>
          </a:p>
        </p:txBody>
      </p:sp>
      <p:sp>
        <p:nvSpPr>
          <p:cNvPr id="11" name="Shape 9"/>
          <p:cNvSpPr/>
          <p:nvPr/>
        </p:nvSpPr>
        <p:spPr>
          <a:xfrm>
            <a:off x="323850" y="2405063"/>
            <a:ext cx="0" cy="641896"/>
          </a:xfrm>
          <a:prstGeom prst="line">
            <a:avLst/>
          </a:prstGeom>
          <a:noFill/>
          <a:ln w="38100">
            <a:solidFill>
              <a:srgbClr val="C9A227"/>
            </a:solidFill>
            <a:prstDash val="solid"/>
          </a:ln>
        </p:spPr>
      </p:sp>
      <p:sp>
        <p:nvSpPr>
          <p:cNvPr id="12" name="Text 10"/>
          <p:cNvSpPr/>
          <p:nvPr/>
        </p:nvSpPr>
        <p:spPr>
          <a:xfrm>
            <a:off x="457200" y="2500313"/>
            <a:ext cx="4149278" cy="146596"/>
          </a:xfrm>
          <a:prstGeom prst="rect">
            <a:avLst/>
          </a:prstGeom>
          <a:noFill/>
          <a:ln/>
        </p:spPr>
        <p:txBody>
          <a:bodyPr wrap="square" lIns="0" tIns="0" rIns="0" bIns="0" rtlCol="0" anchor="t"/>
          <a:lstStyle/>
          <a:p>
            <a:pPr algn="l" indent="0" marL="0">
              <a:lnSpc>
                <a:spcPts val="1155"/>
              </a:lnSpc>
              <a:spcAft>
                <a:spcPts val="300"/>
              </a:spcAft>
              <a:buNone/>
            </a:pPr>
            <a:r>
              <a:rPr lang="en-US" sz="825" b="1" dirty="0">
                <a:solidFill>
                  <a:srgbClr val="1A1F2E"/>
                </a:solidFill>
                <a:latin typeface="Arial" pitchFamily="34" charset="0"/>
                <a:ea typeface="Arial" pitchFamily="34" charset="-122"/>
                <a:cs typeface="Arial" pitchFamily="34" charset="-120"/>
              </a:rPr>
              <a:t>Language-Aware Dictation</a:t>
            </a:r>
            <a:endParaRPr lang="en-US" sz="825" dirty="0"/>
          </a:p>
        </p:txBody>
      </p:sp>
      <p:sp>
        <p:nvSpPr>
          <p:cNvPr id="13" name="Text 11"/>
          <p:cNvSpPr/>
          <p:nvPr/>
        </p:nvSpPr>
        <p:spPr>
          <a:xfrm>
            <a:off x="457200" y="2685008"/>
            <a:ext cx="4149278" cy="266700"/>
          </a:xfrm>
          <a:prstGeom prst="rect">
            <a:avLst/>
          </a:prstGeom>
          <a:noFill/>
          <a:ln/>
        </p:spPr>
        <p:txBody>
          <a:bodyPr wrap="square" lIns="0" tIns="0" rIns="0" bIns="0" rtlCol="0" anchor="t"/>
          <a:lstStyle/>
          <a:p>
            <a:pPr algn="l" indent="0" marL="0">
              <a:lnSpc>
                <a:spcPts val="1050"/>
              </a:lnSpc>
              <a:buNone/>
            </a:pPr>
            <a:r>
              <a:rPr lang="en-US" sz="750" dirty="0">
                <a:solidFill>
                  <a:srgbClr val="6B7280"/>
                </a:solidFill>
                <a:latin typeface="Arial" pitchFamily="34" charset="0"/>
                <a:ea typeface="Arial" pitchFamily="34" charset="-122"/>
                <a:cs typeface="Arial" pitchFamily="34" charset="-120"/>
              </a:rPr>
              <a:t>Recognizes file type (.py, .js, .tsx) and adjusts output. Say "string" in Python, get quotes; in TypeScript, get proper typing.</a:t>
            </a:r>
            <a:endParaRPr lang="en-US" sz="750" dirty="0"/>
          </a:p>
        </p:txBody>
      </p:sp>
      <p:sp>
        <p:nvSpPr>
          <p:cNvPr id="14" name="Text 12"/>
          <p:cNvSpPr/>
          <p:nvPr/>
        </p:nvSpPr>
        <p:spPr>
          <a:xfrm>
            <a:off x="304800" y="3294608"/>
            <a:ext cx="4334619" cy="641896"/>
          </a:xfrm>
          <a:prstGeom prst="rect">
            <a:avLst/>
          </a:prstGeom>
          <a:solidFill>
            <a:srgbClr val="FFFFFF"/>
          </a:solidFill>
          <a:ln/>
        </p:spPr>
        <p:txBody>
          <a:bodyPr wrap="square" rtlCol="0" anchor="ctr"/>
          <a:lstStyle/>
          <a:p>
            <a:pPr indent="0" marL="0">
              <a:buNone/>
            </a:pPr>
            <a:endParaRPr lang="en-US" dirty="0"/>
          </a:p>
        </p:txBody>
      </p:sp>
      <p:sp>
        <p:nvSpPr>
          <p:cNvPr id="15" name="Shape 13"/>
          <p:cNvSpPr/>
          <p:nvPr/>
        </p:nvSpPr>
        <p:spPr>
          <a:xfrm>
            <a:off x="323850" y="3294608"/>
            <a:ext cx="0" cy="641896"/>
          </a:xfrm>
          <a:prstGeom prst="line">
            <a:avLst/>
          </a:prstGeom>
          <a:noFill/>
          <a:ln w="38100">
            <a:solidFill>
              <a:srgbClr val="C9A227"/>
            </a:solidFill>
            <a:prstDash val="solid"/>
          </a:ln>
        </p:spPr>
      </p:sp>
      <p:sp>
        <p:nvSpPr>
          <p:cNvPr id="16" name="Text 14"/>
          <p:cNvSpPr/>
          <p:nvPr/>
        </p:nvSpPr>
        <p:spPr>
          <a:xfrm>
            <a:off x="457200" y="3389858"/>
            <a:ext cx="4149278" cy="146596"/>
          </a:xfrm>
          <a:prstGeom prst="rect">
            <a:avLst/>
          </a:prstGeom>
          <a:noFill/>
          <a:ln/>
        </p:spPr>
        <p:txBody>
          <a:bodyPr wrap="square" lIns="0" tIns="0" rIns="0" bIns="0" rtlCol="0" anchor="t"/>
          <a:lstStyle/>
          <a:p>
            <a:pPr algn="l" indent="0" marL="0">
              <a:lnSpc>
                <a:spcPts val="1155"/>
              </a:lnSpc>
              <a:spcAft>
                <a:spcPts val="300"/>
              </a:spcAft>
              <a:buNone/>
            </a:pPr>
            <a:r>
              <a:rPr lang="en-US" sz="825" b="1" dirty="0">
                <a:solidFill>
                  <a:srgbClr val="1A1F2E"/>
                </a:solidFill>
                <a:latin typeface="Arial" pitchFamily="34" charset="0"/>
                <a:ea typeface="Arial" pitchFamily="34" charset="-122"/>
                <a:cs typeface="Arial" pitchFamily="34" charset="-120"/>
              </a:rPr>
              <a:t>Comment Dictation</a:t>
            </a:r>
            <a:endParaRPr lang="en-US" sz="825" dirty="0"/>
          </a:p>
        </p:txBody>
      </p:sp>
      <p:sp>
        <p:nvSpPr>
          <p:cNvPr id="17" name="Text 15"/>
          <p:cNvSpPr/>
          <p:nvPr/>
        </p:nvSpPr>
        <p:spPr>
          <a:xfrm>
            <a:off x="457200" y="3574554"/>
            <a:ext cx="4149278" cy="266700"/>
          </a:xfrm>
          <a:prstGeom prst="rect">
            <a:avLst/>
          </a:prstGeom>
          <a:noFill/>
          <a:ln/>
        </p:spPr>
        <p:txBody>
          <a:bodyPr wrap="square" lIns="0" tIns="0" rIns="0" bIns="0" rtlCol="0" anchor="t"/>
          <a:lstStyle/>
          <a:p>
            <a:pPr algn="l" indent="0" marL="0">
              <a:lnSpc>
                <a:spcPts val="1050"/>
              </a:lnSpc>
              <a:buNone/>
            </a:pPr>
            <a:r>
              <a:rPr lang="en-US" sz="750" dirty="0">
                <a:solidFill>
                  <a:srgbClr val="6B7280"/>
                </a:solidFill>
                <a:latin typeface="Arial" pitchFamily="34" charset="0"/>
                <a:ea typeface="Arial" pitchFamily="34" charset="-122"/>
                <a:cs typeface="Arial" pitchFamily="34" charset="-120"/>
              </a:rPr>
              <a:t>Say "comment" before dictating and Wispr adds appropriate comment syntax (// for JS, # for Python, etc.)</a:t>
            </a:r>
            <a:endParaRPr lang="en-US" sz="750" dirty="0"/>
          </a:p>
        </p:txBody>
      </p:sp>
      <p:sp>
        <p:nvSpPr>
          <p:cNvPr id="18" name="Text 16"/>
          <p:cNvSpPr/>
          <p:nvPr/>
        </p:nvSpPr>
        <p:spPr>
          <a:xfrm>
            <a:off x="304800" y="4184154"/>
            <a:ext cx="4334619" cy="619125"/>
          </a:xfrm>
          <a:prstGeom prst="rect">
            <a:avLst/>
          </a:prstGeom>
          <a:solidFill>
            <a:srgbClr val="1A1F2E"/>
          </a:solidFill>
          <a:ln/>
        </p:spPr>
        <p:txBody>
          <a:bodyPr wrap="square" rtlCol="0" anchor="ctr"/>
          <a:lstStyle/>
          <a:p>
            <a:pPr indent="0" marL="0">
              <a:buNone/>
            </a:pPr>
            <a:endParaRPr lang="en-US" dirty="0"/>
          </a:p>
        </p:txBody>
      </p:sp>
      <p:sp>
        <p:nvSpPr>
          <p:cNvPr id="19" name="Text 17"/>
          <p:cNvSpPr/>
          <p:nvPr/>
        </p:nvSpPr>
        <p:spPr>
          <a:xfrm>
            <a:off x="419100" y="4279404"/>
            <a:ext cx="4188140" cy="133350"/>
          </a:xfrm>
          <a:prstGeom prst="rect">
            <a:avLst/>
          </a:prstGeom>
          <a:noFill/>
          <a:ln/>
        </p:spPr>
        <p:txBody>
          <a:bodyPr wrap="square" lIns="0" tIns="0" rIns="0" bIns="0" rtlCol="0" anchor="t"/>
          <a:lstStyle/>
          <a:p>
            <a:pPr algn="l" indent="0" marL="0">
              <a:lnSpc>
                <a:spcPts val="1050"/>
              </a:lnSpc>
              <a:spcAft>
                <a:spcPts val="225"/>
              </a:spcAft>
              <a:buNone/>
            </a:pPr>
            <a:r>
              <a:rPr lang="en-US" sz="750" b="1" dirty="0">
                <a:solidFill>
                  <a:srgbClr val="C9A227"/>
                </a:solidFill>
                <a:latin typeface="Arial" pitchFamily="34" charset="0"/>
                <a:ea typeface="Arial" pitchFamily="34" charset="-122"/>
                <a:cs typeface="Arial" pitchFamily="34" charset="-120"/>
              </a:rPr>
              <a:t>CURSOR + WISPR FLOW</a:t>
            </a:r>
            <a:endParaRPr lang="en-US" sz="750" dirty="0"/>
          </a:p>
        </p:txBody>
      </p:sp>
      <p:sp>
        <p:nvSpPr>
          <p:cNvPr id="20" name="Text 18"/>
          <p:cNvSpPr/>
          <p:nvPr/>
        </p:nvSpPr>
        <p:spPr>
          <a:xfrm>
            <a:off x="419100" y="4441329"/>
            <a:ext cx="4188140" cy="266700"/>
          </a:xfrm>
          <a:prstGeom prst="rect">
            <a:avLst/>
          </a:prstGeom>
          <a:noFill/>
          <a:ln/>
        </p:spPr>
        <p:txBody>
          <a:bodyPr wrap="square" lIns="0" tIns="0" rIns="0" bIns="0" rtlCol="0" anchor="t"/>
          <a:lstStyle/>
          <a:p>
            <a:pPr algn="l" indent="0" marL="0">
              <a:lnSpc>
                <a:spcPts val="1050"/>
              </a:lnSpc>
              <a:buNone/>
            </a:pPr>
            <a:r>
              <a:rPr lang="en-US" sz="750" dirty="0">
                <a:solidFill>
                  <a:srgbClr val="FFFFFF">
                    <a:alpha val="80000"/>
                  </a:srgbClr>
                </a:solidFill>
                <a:latin typeface="Arial" pitchFamily="34" charset="0"/>
                <a:ea typeface="Arial" pitchFamily="34" charset="-122"/>
                <a:cs typeface="Arial" pitchFamily="34" charset="-120"/>
              </a:rPr>
              <a:t>Combine voice dictation with Cursor's AI. Dictate prompts to Cursor's composer with your voice for hands-free AI coding.</a:t>
            </a:r>
            <a:endParaRPr lang="en-US" sz="750" dirty="0"/>
          </a:p>
        </p:txBody>
      </p:sp>
      <p:sp>
        <p:nvSpPr>
          <p:cNvPr id="21" name="Text 19"/>
          <p:cNvSpPr/>
          <p:nvPr/>
        </p:nvSpPr>
        <p:spPr>
          <a:xfrm>
            <a:off x="5096619" y="0"/>
            <a:ext cx="4047381" cy="5143500"/>
          </a:xfrm>
          <a:prstGeom prst="rect">
            <a:avLst/>
          </a:prstGeom>
          <a:solidFill>
            <a:srgbClr val="1A1F2E"/>
          </a:solidFill>
          <a:ln/>
        </p:spPr>
        <p:txBody>
          <a:bodyPr wrap="square" rtlCol="0" anchor="ctr"/>
          <a:lstStyle/>
          <a:p>
            <a:pPr indent="0" marL="0">
              <a:buNone/>
            </a:pPr>
            <a:endParaRPr lang="en-US" dirty="0"/>
          </a:p>
        </p:txBody>
      </p:sp>
      <p:sp>
        <p:nvSpPr>
          <p:cNvPr id="22" name="Text 20"/>
          <p:cNvSpPr/>
          <p:nvPr/>
        </p:nvSpPr>
        <p:spPr>
          <a:xfrm>
            <a:off x="5401419" y="266700"/>
            <a:ext cx="3506536" cy="133350"/>
          </a:xfrm>
          <a:prstGeom prst="rect">
            <a:avLst/>
          </a:prstGeom>
          <a:noFill/>
          <a:ln/>
        </p:spPr>
        <p:txBody>
          <a:bodyPr wrap="square" lIns="0" tIns="0" rIns="0" bIns="0" rtlCol="0" anchor="t"/>
          <a:lstStyle/>
          <a:p>
            <a:pPr algn="l" indent="0" marL="0">
              <a:lnSpc>
                <a:spcPts val="1050"/>
              </a:lnSpc>
              <a:spcAft>
                <a:spcPts val="900"/>
              </a:spcAft>
              <a:buNone/>
            </a:pPr>
            <a:r>
              <a:rPr lang="en-US" sz="750" dirty="0">
                <a:solidFill>
                  <a:srgbClr val="C9A227"/>
                </a:solidFill>
                <a:latin typeface="Arial" pitchFamily="34" charset="0"/>
                <a:ea typeface="Arial" pitchFamily="34" charset="-122"/>
                <a:cs typeface="Arial" pitchFamily="34" charset="-120"/>
              </a:rPr>
              <a:t>CONFIGURATION TIPS</a:t>
            </a:r>
            <a:endParaRPr lang="en-US" sz="750" dirty="0"/>
          </a:p>
        </p:txBody>
      </p:sp>
      <p:sp>
        <p:nvSpPr>
          <p:cNvPr id="23" name="Text 21"/>
          <p:cNvSpPr/>
          <p:nvPr/>
        </p:nvSpPr>
        <p:spPr>
          <a:xfrm>
            <a:off x="5401419" y="666750"/>
            <a:ext cx="3437781" cy="699046"/>
          </a:xfrm>
          <a:prstGeom prst="rect">
            <a:avLst/>
          </a:prstGeom>
          <a:solidFill>
            <a:srgbClr val="FFFFFF">
              <a:alpha val="5000"/>
            </a:srgbClr>
          </a:solidFill>
          <a:ln w="9525">
            <a:solidFill>
              <a:srgbClr val="FFFFFF"/>
            </a:solidFill>
          </a:ln>
        </p:spPr>
        <p:txBody>
          <a:bodyPr wrap="square" rtlCol="0" anchor="ctr"/>
          <a:lstStyle/>
          <a:p>
            <a:pPr indent="0" marL="0">
              <a:buNone/>
            </a:pPr>
            <a:endParaRPr lang="en-US" dirty="0"/>
          </a:p>
        </p:txBody>
      </p:sp>
      <p:sp>
        <p:nvSpPr>
          <p:cNvPr id="24" name="Text 22"/>
          <p:cNvSpPr/>
          <p:nvPr/>
        </p:nvSpPr>
        <p:spPr>
          <a:xfrm>
            <a:off x="5525244" y="790575"/>
            <a:ext cx="3253933" cy="146596"/>
          </a:xfrm>
          <a:prstGeom prst="rect">
            <a:avLst/>
          </a:prstGeom>
          <a:noFill/>
          <a:ln/>
        </p:spPr>
        <p:txBody>
          <a:bodyPr wrap="square" lIns="0" tIns="0" rIns="0" bIns="0" rtlCol="0" anchor="t"/>
          <a:lstStyle/>
          <a:p>
            <a:pPr algn="l" indent="0" marL="0">
              <a:lnSpc>
                <a:spcPts val="1155"/>
              </a:lnSpc>
              <a:spcAft>
                <a:spcPts val="300"/>
              </a:spcAft>
              <a:buNone/>
            </a:pPr>
            <a:r>
              <a:rPr lang="en-US" sz="825" b="1" dirty="0">
                <a:solidFill>
                  <a:srgbClr val="FFFFFF"/>
                </a:solidFill>
                <a:latin typeface="Arial" pitchFamily="34" charset="0"/>
                <a:ea typeface="Arial" pitchFamily="34" charset="-122"/>
                <a:cs typeface="Arial" pitchFamily="34" charset="-120"/>
              </a:rPr>
              <a:t>Hotkey Setup</a:t>
            </a:r>
            <a:endParaRPr lang="en-US" sz="825" dirty="0"/>
          </a:p>
        </p:txBody>
      </p:sp>
      <p:sp>
        <p:nvSpPr>
          <p:cNvPr id="25" name="Text 23"/>
          <p:cNvSpPr/>
          <p:nvPr/>
        </p:nvSpPr>
        <p:spPr>
          <a:xfrm>
            <a:off x="5525244" y="975271"/>
            <a:ext cx="3253933" cy="266700"/>
          </a:xfrm>
          <a:prstGeom prst="rect">
            <a:avLst/>
          </a:prstGeom>
          <a:noFill/>
          <a:ln/>
        </p:spPr>
        <p:txBody>
          <a:bodyPr wrap="square" lIns="0" tIns="0" rIns="0" bIns="0" rtlCol="0" anchor="t"/>
          <a:lstStyle/>
          <a:p>
            <a:pPr algn="l" indent="0" marL="0">
              <a:lnSpc>
                <a:spcPts val="1050"/>
              </a:lnSpc>
              <a:buNone/>
            </a:pPr>
            <a:r>
              <a:rPr lang="en-US" sz="750" dirty="0">
                <a:solidFill>
                  <a:srgbClr val="FFFFFF">
                    <a:alpha val="60000"/>
                  </a:srgbClr>
                </a:solidFill>
                <a:latin typeface="Arial" pitchFamily="34" charset="0"/>
                <a:ea typeface="Arial" pitchFamily="34" charset="-122"/>
                <a:cs typeface="Arial" pitchFamily="34" charset="-120"/>
              </a:rPr>
              <a:t>Avoid conflicts with IDE shortcuts. Use Cmd/Ctrl+Shift+D or a dedicated key like Caps Lock.</a:t>
            </a:r>
            <a:endParaRPr lang="en-US" sz="750" dirty="0"/>
          </a:p>
        </p:txBody>
      </p:sp>
      <p:sp>
        <p:nvSpPr>
          <p:cNvPr id="26" name="Text 24"/>
          <p:cNvSpPr/>
          <p:nvPr/>
        </p:nvSpPr>
        <p:spPr>
          <a:xfrm>
            <a:off x="5401419" y="1613446"/>
            <a:ext cx="3437781" cy="699046"/>
          </a:xfrm>
          <a:prstGeom prst="rect">
            <a:avLst/>
          </a:prstGeom>
          <a:solidFill>
            <a:srgbClr val="FFFFFF">
              <a:alpha val="5000"/>
            </a:srgbClr>
          </a:solidFill>
          <a:ln w="9525">
            <a:solidFill>
              <a:srgbClr val="FFFFFF"/>
            </a:solidFill>
          </a:ln>
        </p:spPr>
        <p:txBody>
          <a:bodyPr wrap="square" rtlCol="0" anchor="ctr"/>
          <a:lstStyle/>
          <a:p>
            <a:pPr indent="0" marL="0">
              <a:buNone/>
            </a:pPr>
            <a:endParaRPr lang="en-US" dirty="0"/>
          </a:p>
        </p:txBody>
      </p:sp>
      <p:sp>
        <p:nvSpPr>
          <p:cNvPr id="27" name="Text 25"/>
          <p:cNvSpPr/>
          <p:nvPr/>
        </p:nvSpPr>
        <p:spPr>
          <a:xfrm>
            <a:off x="5525244" y="1737271"/>
            <a:ext cx="3253933" cy="146596"/>
          </a:xfrm>
          <a:prstGeom prst="rect">
            <a:avLst/>
          </a:prstGeom>
          <a:noFill/>
          <a:ln/>
        </p:spPr>
        <p:txBody>
          <a:bodyPr wrap="square" lIns="0" tIns="0" rIns="0" bIns="0" rtlCol="0" anchor="t"/>
          <a:lstStyle/>
          <a:p>
            <a:pPr algn="l" indent="0" marL="0">
              <a:lnSpc>
                <a:spcPts val="1155"/>
              </a:lnSpc>
              <a:spcAft>
                <a:spcPts val="300"/>
              </a:spcAft>
              <a:buNone/>
            </a:pPr>
            <a:r>
              <a:rPr lang="en-US" sz="825" b="1" dirty="0">
                <a:solidFill>
                  <a:srgbClr val="FFFFFF"/>
                </a:solidFill>
                <a:latin typeface="Arial" pitchFamily="34" charset="0"/>
                <a:ea typeface="Arial" pitchFamily="34" charset="-122"/>
                <a:cs typeface="Arial" pitchFamily="34" charset="-120"/>
              </a:rPr>
              <a:t>Enable IDE Mode</a:t>
            </a:r>
            <a:endParaRPr lang="en-US" sz="825" dirty="0"/>
          </a:p>
        </p:txBody>
      </p:sp>
      <p:sp>
        <p:nvSpPr>
          <p:cNvPr id="28" name="Text 26"/>
          <p:cNvSpPr/>
          <p:nvPr/>
        </p:nvSpPr>
        <p:spPr>
          <a:xfrm>
            <a:off x="5525244" y="1921966"/>
            <a:ext cx="3253933" cy="266700"/>
          </a:xfrm>
          <a:prstGeom prst="rect">
            <a:avLst/>
          </a:prstGeom>
          <a:noFill/>
          <a:ln/>
        </p:spPr>
        <p:txBody>
          <a:bodyPr wrap="square" lIns="0" tIns="0" rIns="0" bIns="0" rtlCol="0" anchor="t"/>
          <a:lstStyle/>
          <a:p>
            <a:pPr algn="l" indent="0" marL="0">
              <a:lnSpc>
                <a:spcPts val="1050"/>
              </a:lnSpc>
              <a:buNone/>
            </a:pPr>
            <a:r>
              <a:rPr lang="en-US" sz="750" dirty="0">
                <a:solidFill>
                  <a:srgbClr val="FFFFFF">
                    <a:alpha val="60000"/>
                  </a:srgbClr>
                </a:solidFill>
                <a:latin typeface="Arial" pitchFamily="34" charset="0"/>
                <a:ea typeface="Arial" pitchFamily="34" charset="-122"/>
                <a:cs typeface="Arial" pitchFamily="34" charset="-120"/>
              </a:rPr>
              <a:t>Settings &gt; Applications &gt; Enable "Developer Mode" for enhanced code formatting.</a:t>
            </a:r>
            <a:endParaRPr lang="en-US" sz="750" dirty="0"/>
          </a:p>
        </p:txBody>
      </p:sp>
      <p:sp>
        <p:nvSpPr>
          <p:cNvPr id="29" name="Text 27"/>
          <p:cNvSpPr/>
          <p:nvPr/>
        </p:nvSpPr>
        <p:spPr>
          <a:xfrm>
            <a:off x="5401419" y="2560141"/>
            <a:ext cx="3437781" cy="699046"/>
          </a:xfrm>
          <a:prstGeom prst="rect">
            <a:avLst/>
          </a:prstGeom>
          <a:solidFill>
            <a:srgbClr val="FFFFFF">
              <a:alpha val="5000"/>
            </a:srgbClr>
          </a:solidFill>
          <a:ln w="9525">
            <a:solidFill>
              <a:srgbClr val="FFFFFF"/>
            </a:solidFill>
          </a:ln>
        </p:spPr>
        <p:txBody>
          <a:bodyPr wrap="square" rtlCol="0" anchor="ctr"/>
          <a:lstStyle/>
          <a:p>
            <a:pPr indent="0" marL="0">
              <a:buNone/>
            </a:pPr>
            <a:endParaRPr lang="en-US" dirty="0"/>
          </a:p>
        </p:txBody>
      </p:sp>
      <p:sp>
        <p:nvSpPr>
          <p:cNvPr id="30" name="Text 28"/>
          <p:cNvSpPr/>
          <p:nvPr/>
        </p:nvSpPr>
        <p:spPr>
          <a:xfrm>
            <a:off x="5525244" y="2683966"/>
            <a:ext cx="3253933" cy="146596"/>
          </a:xfrm>
          <a:prstGeom prst="rect">
            <a:avLst/>
          </a:prstGeom>
          <a:noFill/>
          <a:ln/>
        </p:spPr>
        <p:txBody>
          <a:bodyPr wrap="square" lIns="0" tIns="0" rIns="0" bIns="0" rtlCol="0" anchor="t"/>
          <a:lstStyle/>
          <a:p>
            <a:pPr algn="l" indent="0" marL="0">
              <a:lnSpc>
                <a:spcPts val="1155"/>
              </a:lnSpc>
              <a:spcAft>
                <a:spcPts val="300"/>
              </a:spcAft>
              <a:buNone/>
            </a:pPr>
            <a:r>
              <a:rPr lang="en-US" sz="825" b="1" dirty="0">
                <a:solidFill>
                  <a:srgbClr val="FFFFFF"/>
                </a:solidFill>
                <a:latin typeface="Arial" pitchFamily="34" charset="0"/>
                <a:ea typeface="Arial" pitchFamily="34" charset="-122"/>
                <a:cs typeface="Arial" pitchFamily="34" charset="-120"/>
              </a:rPr>
              <a:t>Custom Vocabulary</a:t>
            </a:r>
            <a:endParaRPr lang="en-US" sz="825" dirty="0"/>
          </a:p>
        </p:txBody>
      </p:sp>
      <p:sp>
        <p:nvSpPr>
          <p:cNvPr id="31" name="Text 29"/>
          <p:cNvSpPr/>
          <p:nvPr/>
        </p:nvSpPr>
        <p:spPr>
          <a:xfrm>
            <a:off x="5525244" y="2868662"/>
            <a:ext cx="3253933" cy="266700"/>
          </a:xfrm>
          <a:prstGeom prst="rect">
            <a:avLst/>
          </a:prstGeom>
          <a:noFill/>
          <a:ln/>
        </p:spPr>
        <p:txBody>
          <a:bodyPr wrap="square" lIns="0" tIns="0" rIns="0" bIns="0" rtlCol="0" anchor="t"/>
          <a:lstStyle/>
          <a:p>
            <a:pPr algn="l" indent="0" marL="0">
              <a:lnSpc>
                <a:spcPts val="1050"/>
              </a:lnSpc>
              <a:buNone/>
            </a:pPr>
            <a:r>
              <a:rPr lang="en-US" sz="750" dirty="0">
                <a:solidFill>
                  <a:srgbClr val="FFFFFF">
                    <a:alpha val="60000"/>
                  </a:srgbClr>
                </a:solidFill>
                <a:latin typeface="Arial" pitchFamily="34" charset="0"/>
                <a:ea typeface="Arial" pitchFamily="34" charset="-122"/>
                <a:cs typeface="Arial" pitchFamily="34" charset="-120"/>
              </a:rPr>
              <a:t>Add your project's function names, variables, and technical terms for better recognition.</a:t>
            </a:r>
            <a:endParaRPr lang="en-US" sz="750" dirty="0"/>
          </a:p>
        </p:txBody>
      </p:sp>
      <p:sp>
        <p:nvSpPr>
          <p:cNvPr id="32" name="Text 30"/>
          <p:cNvSpPr/>
          <p:nvPr/>
        </p:nvSpPr>
        <p:spPr>
          <a:xfrm>
            <a:off x="5401419" y="3506837"/>
            <a:ext cx="3437781" cy="990600"/>
          </a:xfrm>
          <a:prstGeom prst="rect">
            <a:avLst/>
          </a:prstGeom>
          <a:solidFill>
            <a:srgbClr val="C9A227">
              <a:alpha val="20000"/>
            </a:srgbClr>
          </a:solidFill>
          <a:ln w="9525">
            <a:solidFill>
              <a:srgbClr val="C9A227"/>
            </a:solidFill>
          </a:ln>
        </p:spPr>
        <p:txBody>
          <a:bodyPr wrap="square" rtlCol="0" anchor="ctr"/>
          <a:lstStyle/>
          <a:p>
            <a:pPr indent="0" marL="0">
              <a:buNone/>
            </a:pPr>
            <a:endParaRPr lang="en-US" dirty="0"/>
          </a:p>
        </p:txBody>
      </p:sp>
      <p:sp>
        <p:nvSpPr>
          <p:cNvPr id="33" name="Text 31"/>
          <p:cNvSpPr/>
          <p:nvPr/>
        </p:nvSpPr>
        <p:spPr>
          <a:xfrm>
            <a:off x="5525244" y="3630662"/>
            <a:ext cx="3253933"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C9A227"/>
                </a:solidFill>
                <a:latin typeface="Arial" pitchFamily="34" charset="0"/>
                <a:ea typeface="Arial" pitchFamily="34" charset="-122"/>
                <a:cs typeface="Arial" pitchFamily="34" charset="-120"/>
              </a:rPr>
              <a:t>WORKFLOW EXAMPLE</a:t>
            </a:r>
            <a:endParaRPr lang="en-US" sz="750" dirty="0"/>
          </a:p>
        </p:txBody>
      </p:sp>
      <p:sp>
        <p:nvSpPr>
          <p:cNvPr id="34" name="Text 32"/>
          <p:cNvSpPr/>
          <p:nvPr/>
        </p:nvSpPr>
        <p:spPr>
          <a:xfrm>
            <a:off x="5525244" y="3802112"/>
            <a:ext cx="3253933" cy="571500"/>
          </a:xfrm>
          <a:prstGeom prst="rect">
            <a:avLst/>
          </a:prstGeom>
          <a:noFill/>
          <a:ln/>
        </p:spPr>
        <p:txBody>
          <a:bodyPr wrap="square" lIns="0" tIns="0" rIns="0" bIns="0" rtlCol="0" anchor="t"/>
          <a:lstStyle/>
          <a:p>
            <a:pPr algn="l" indent="0" marL="0">
              <a:lnSpc>
                <a:spcPts val="1125"/>
              </a:lnSpc>
              <a:buNone/>
            </a:pPr>
            <a:r>
              <a:rPr lang="en-US" sz="750" dirty="0">
                <a:solidFill>
                  <a:srgbClr val="FFFFFF">
                    <a:alpha val="70000"/>
                  </a:srgbClr>
                </a:solidFill>
                <a:latin typeface="Arial" pitchFamily="34" charset="0"/>
                <a:ea typeface="Arial" pitchFamily="34" charset="-122"/>
                <a:cs typeface="Arial" pitchFamily="34" charset="-120"/>
              </a:rPr>
              <a:t>1. Open Cursor/VS Code</a:t>
            </a:r>
            <a:endParaRPr lang="en-US" sz="750" dirty="0"/>
          </a:p>
          <a:p>
            <a:pPr algn="l" indent="0" marL="0">
              <a:lnSpc>
                <a:spcPts val="1125"/>
              </a:lnSpc>
              <a:buNone/>
            </a:pPr>
            <a:r>
              <a:rPr lang="en-US" sz="750" dirty="0">
                <a:solidFill>
                  <a:srgbClr val="FFFFFF">
                    <a:alpha val="70000"/>
                  </a:srgbClr>
                </a:solidFill>
                <a:latin typeface="Arial" pitchFamily="34" charset="0"/>
                <a:ea typeface="Arial" pitchFamily="34" charset="-122"/>
                <a:cs typeface="Arial" pitchFamily="34" charset="-120"/>
              </a:rPr>
              <a:t>2. Position cursor where you want code</a:t>
            </a:r>
            <a:endParaRPr lang="en-US" sz="750" dirty="0"/>
          </a:p>
          <a:p>
            <a:pPr algn="l" indent="0" marL="0">
              <a:lnSpc>
                <a:spcPts val="1125"/>
              </a:lnSpc>
              <a:buNone/>
            </a:pPr>
            <a:r>
              <a:rPr lang="en-US" sz="750" dirty="0">
                <a:solidFill>
                  <a:srgbClr val="FFFFFF">
                    <a:alpha val="70000"/>
                  </a:srgbClr>
                </a:solidFill>
                <a:latin typeface="Arial" pitchFamily="34" charset="0"/>
                <a:ea typeface="Arial" pitchFamily="34" charset="-122"/>
                <a:cs typeface="Arial" pitchFamily="34" charset="-120"/>
              </a:rPr>
              <a:t>3. Hold hotkey and describe function</a:t>
            </a:r>
            <a:endParaRPr lang="en-US" sz="750" dirty="0"/>
          </a:p>
          <a:p>
            <a:pPr algn="l" indent="0" marL="0">
              <a:lnSpc>
                <a:spcPts val="1125"/>
              </a:lnSpc>
              <a:buNone/>
            </a:pPr>
            <a:r>
              <a:rPr lang="en-US" sz="750" dirty="0">
                <a:solidFill>
                  <a:srgbClr val="FFFFFF">
                    <a:alpha val="70000"/>
                  </a:srgbClr>
                </a:solidFill>
                <a:latin typeface="Arial" pitchFamily="34" charset="0"/>
                <a:ea typeface="Arial" pitchFamily="34" charset="-122"/>
                <a:cs typeface="Arial" pitchFamily="34" charset="-120"/>
              </a:rPr>
              <a:t>4. Release to insert formatted code</a:t>
            </a:r>
            <a:endParaRPr lang="en-US" sz="750" dirty="0"/>
          </a:p>
        </p:txBody>
      </p:sp>
      <p:sp>
        <p:nvSpPr>
          <p:cNvPr id="35" name="Text 33"/>
          <p:cNvSpPr/>
          <p:nvPr/>
        </p:nvSpPr>
        <p:spPr>
          <a:xfrm>
            <a:off x="5401419" y="4756845"/>
            <a:ext cx="3506536" cy="119955"/>
          </a:xfrm>
          <a:prstGeom prst="rect">
            <a:avLst/>
          </a:prstGeom>
          <a:noFill/>
          <a:ln/>
        </p:spPr>
        <p:txBody>
          <a:bodyPr wrap="square" lIns="0" tIns="0" rIns="0" bIns="0" rtlCol="0" anchor="t"/>
          <a:lstStyle/>
          <a:p>
            <a:pPr algn="l" indent="0" marL="0">
              <a:lnSpc>
                <a:spcPts val="945"/>
              </a:lnSpc>
              <a:buNone/>
            </a:pPr>
            <a:r>
              <a:rPr lang="en-US" sz="675" dirty="0">
                <a:solidFill>
                  <a:srgbClr val="FFFFFF">
                    <a:alpha val="40000"/>
                  </a:srgbClr>
                </a:solidFill>
                <a:latin typeface="Arial" pitchFamily="34" charset="0"/>
                <a:ea typeface="Arial" pitchFamily="34" charset="-122"/>
                <a:cs typeface="Arial" pitchFamily="34" charset="-120"/>
              </a:rPr>
              <a:t>Works with any text-based IDE: JetBrains, Vim, Emacs, etc.</a:t>
            </a:r>
            <a:endParaRPr lang="en-US" sz="675"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457200" y="266700"/>
            <a:ext cx="8394192" cy="146596"/>
          </a:xfrm>
          <a:prstGeom prst="rect">
            <a:avLst/>
          </a:prstGeom>
          <a:noFill/>
          <a:ln/>
        </p:spPr>
        <p:txBody>
          <a:bodyPr wrap="square" lIns="0" tIns="0" rIns="0" bIns="0" rtlCol="0" anchor="t"/>
          <a:lstStyle/>
          <a:p>
            <a:pPr algn="l" indent="0" marL="0">
              <a:lnSpc>
                <a:spcPts val="1155"/>
              </a:lnSpc>
              <a:spcAft>
                <a:spcPts val="450"/>
              </a:spcAft>
              <a:buNone/>
            </a:pPr>
            <a:r>
              <a:rPr lang="en-US" sz="825" dirty="0">
                <a:solidFill>
                  <a:srgbClr val="C9A227"/>
                </a:solidFill>
                <a:latin typeface="Arial" pitchFamily="34" charset="0"/>
                <a:ea typeface="Arial" pitchFamily="34" charset="-122"/>
                <a:cs typeface="Arial" pitchFamily="34" charset="-120"/>
              </a:rPr>
              <a:t>CONFIGURATION</a:t>
            </a:r>
            <a:endParaRPr lang="en-US" sz="825" dirty="0"/>
          </a:p>
        </p:txBody>
      </p:sp>
      <p:sp>
        <p:nvSpPr>
          <p:cNvPr id="3" name="Text 1"/>
          <p:cNvSpPr/>
          <p:nvPr/>
        </p:nvSpPr>
        <p:spPr>
          <a:xfrm>
            <a:off x="457200" y="470446"/>
            <a:ext cx="4206812" cy="266700"/>
          </a:xfrm>
          <a:prstGeom prst="rect">
            <a:avLst/>
          </a:prstGeom>
          <a:noFill/>
          <a:ln/>
        </p:spPr>
        <p:txBody>
          <a:bodyPr wrap="square" lIns="0" tIns="0" rIns="0" bIns="0" rtlCol="0" anchor="t"/>
          <a:lstStyle/>
          <a:p>
            <a:pPr algn="l" indent="0" marL="0">
              <a:lnSpc>
                <a:spcPts val="2100"/>
              </a:lnSpc>
              <a:buNone/>
            </a:pPr>
            <a:r>
              <a:rPr lang="en-US" sz="2100" dirty="0">
                <a:solidFill>
                  <a:srgbClr val="1A1F2E"/>
                </a:solidFill>
                <a:latin typeface="Georgia" pitchFamily="34" charset="0"/>
                <a:ea typeface="Georgia" pitchFamily="34" charset="-122"/>
                <a:cs typeface="Georgia" pitchFamily="34" charset="-120"/>
              </a:rPr>
              <a:t>Wispr Flow Advanced Settings</a:t>
            </a:r>
            <a:endParaRPr lang="en-US" sz="2100" dirty="0"/>
          </a:p>
        </p:txBody>
      </p:sp>
      <p:sp>
        <p:nvSpPr>
          <p:cNvPr id="4" name="Text 2"/>
          <p:cNvSpPr/>
          <p:nvPr/>
        </p:nvSpPr>
        <p:spPr>
          <a:xfrm>
            <a:off x="457200" y="1435596"/>
            <a:ext cx="2616250" cy="1662708"/>
          </a:xfrm>
          <a:prstGeom prst="rect">
            <a:avLst/>
          </a:prstGeom>
          <a:solidFill>
            <a:srgbClr val="1A1F2E"/>
          </a:solidFill>
          <a:ln/>
        </p:spPr>
        <p:txBody>
          <a:bodyPr wrap="square" rtlCol="0" anchor="ctr"/>
          <a:lstStyle/>
          <a:p>
            <a:pPr indent="0" marL="0">
              <a:buNone/>
            </a:pPr>
            <a:endParaRPr lang="en-US" dirty="0"/>
          </a:p>
        </p:txBody>
      </p:sp>
      <p:sp>
        <p:nvSpPr>
          <p:cNvPr id="5" name="Text 3"/>
          <p:cNvSpPr/>
          <p:nvPr/>
        </p:nvSpPr>
        <p:spPr>
          <a:xfrm>
            <a:off x="609600" y="1587996"/>
            <a:ext cx="2357679" cy="146596"/>
          </a:xfrm>
          <a:prstGeom prst="rect">
            <a:avLst/>
          </a:prstGeom>
          <a:noFill/>
          <a:ln/>
        </p:spPr>
        <p:txBody>
          <a:bodyPr wrap="square" lIns="0" tIns="0" rIns="0" bIns="0" rtlCol="0" anchor="t"/>
          <a:lstStyle/>
          <a:p>
            <a:pPr algn="l" indent="0" marL="0">
              <a:lnSpc>
                <a:spcPts val="1155"/>
              </a:lnSpc>
              <a:spcAft>
                <a:spcPts val="750"/>
              </a:spcAft>
              <a:buNone/>
            </a:pPr>
            <a:r>
              <a:rPr lang="en-US" sz="825" b="1" dirty="0">
                <a:solidFill>
                  <a:srgbClr val="C9A227"/>
                </a:solidFill>
                <a:latin typeface="Arial" pitchFamily="34" charset="0"/>
                <a:ea typeface="Arial" pitchFamily="34" charset="-122"/>
                <a:cs typeface="Arial" pitchFamily="34" charset="-120"/>
              </a:rPr>
              <a:t>HOTKEY OPTIONS</a:t>
            </a:r>
            <a:endParaRPr lang="en-US" sz="825" dirty="0"/>
          </a:p>
        </p:txBody>
      </p:sp>
      <p:sp>
        <p:nvSpPr>
          <p:cNvPr id="6" name="Text 4"/>
          <p:cNvSpPr/>
          <p:nvPr/>
        </p:nvSpPr>
        <p:spPr>
          <a:xfrm>
            <a:off x="609600" y="1829842"/>
            <a:ext cx="2357679" cy="146596"/>
          </a:xfrm>
          <a:prstGeom prst="rect">
            <a:avLst/>
          </a:prstGeom>
          <a:noFill/>
          <a:ln/>
        </p:spPr>
        <p:txBody>
          <a:bodyPr wrap="square" lIns="0" tIns="0" rIns="0" bIns="0" rtlCol="0" anchor="t"/>
          <a:lstStyle/>
          <a:p>
            <a:pPr algn="l" indent="0" marL="0">
              <a:lnSpc>
                <a:spcPts val="1155"/>
              </a:lnSpc>
              <a:spcAft>
                <a:spcPts val="225"/>
              </a:spcAft>
              <a:buNone/>
            </a:pPr>
            <a:r>
              <a:rPr lang="en-US" sz="825" b="1" dirty="0">
                <a:solidFill>
                  <a:srgbClr val="FFFFFF"/>
                </a:solidFill>
                <a:latin typeface="Arial" pitchFamily="34" charset="0"/>
                <a:ea typeface="Arial" pitchFamily="34" charset="-122"/>
                <a:cs typeface="Arial" pitchFamily="34" charset="-120"/>
              </a:rPr>
              <a:t>Push-to-Talk</a:t>
            </a:r>
            <a:endParaRPr lang="en-US" sz="825" dirty="0"/>
          </a:p>
        </p:txBody>
      </p:sp>
      <p:sp>
        <p:nvSpPr>
          <p:cNvPr id="7" name="Text 5"/>
          <p:cNvSpPr/>
          <p:nvPr/>
        </p:nvSpPr>
        <p:spPr>
          <a:xfrm>
            <a:off x="609600" y="2005013"/>
            <a:ext cx="2357679" cy="133350"/>
          </a:xfrm>
          <a:prstGeom prst="rect">
            <a:avLst/>
          </a:prstGeom>
          <a:noFill/>
          <a:ln/>
        </p:spPr>
        <p:txBody>
          <a:bodyPr wrap="square" lIns="0" tIns="0" rIns="0" bIns="0" rtlCol="0" anchor="t"/>
          <a:lstStyle/>
          <a:p>
            <a:pPr algn="l" indent="0" marL="0">
              <a:lnSpc>
                <a:spcPts val="1050"/>
              </a:lnSpc>
              <a:buNone/>
            </a:pPr>
            <a:r>
              <a:rPr lang="en-US" sz="750" dirty="0">
                <a:solidFill>
                  <a:srgbClr val="FFFFFF">
                    <a:alpha val="60000"/>
                  </a:srgbClr>
                </a:solidFill>
                <a:latin typeface="Arial" pitchFamily="34" charset="0"/>
                <a:ea typeface="Arial" pitchFamily="34" charset="-122"/>
                <a:cs typeface="Arial" pitchFamily="34" charset="-120"/>
              </a:rPr>
              <a:t>Hold key to record, release to transcribe</a:t>
            </a:r>
            <a:endParaRPr lang="en-US" sz="750" dirty="0"/>
          </a:p>
        </p:txBody>
      </p:sp>
      <p:sp>
        <p:nvSpPr>
          <p:cNvPr id="8" name="Text 6"/>
          <p:cNvSpPr/>
          <p:nvPr/>
        </p:nvSpPr>
        <p:spPr>
          <a:xfrm>
            <a:off x="609600" y="2233613"/>
            <a:ext cx="2357679" cy="146596"/>
          </a:xfrm>
          <a:prstGeom prst="rect">
            <a:avLst/>
          </a:prstGeom>
          <a:noFill/>
          <a:ln/>
        </p:spPr>
        <p:txBody>
          <a:bodyPr wrap="square" lIns="0" tIns="0" rIns="0" bIns="0" rtlCol="0" anchor="t"/>
          <a:lstStyle/>
          <a:p>
            <a:pPr algn="l" indent="0" marL="0">
              <a:lnSpc>
                <a:spcPts val="1155"/>
              </a:lnSpc>
              <a:spcAft>
                <a:spcPts val="225"/>
              </a:spcAft>
              <a:buNone/>
            </a:pPr>
            <a:r>
              <a:rPr lang="en-US" sz="825" b="1" dirty="0">
                <a:solidFill>
                  <a:srgbClr val="FFFFFF"/>
                </a:solidFill>
                <a:latin typeface="Arial" pitchFamily="34" charset="0"/>
                <a:ea typeface="Arial" pitchFamily="34" charset="-122"/>
                <a:cs typeface="Arial" pitchFamily="34" charset="-120"/>
              </a:rPr>
              <a:t>Toggle Mode</a:t>
            </a:r>
            <a:endParaRPr lang="en-US" sz="825" dirty="0"/>
          </a:p>
        </p:txBody>
      </p:sp>
      <p:sp>
        <p:nvSpPr>
          <p:cNvPr id="9" name="Text 7"/>
          <p:cNvSpPr/>
          <p:nvPr/>
        </p:nvSpPr>
        <p:spPr>
          <a:xfrm>
            <a:off x="609600" y="2408783"/>
            <a:ext cx="2357679" cy="133350"/>
          </a:xfrm>
          <a:prstGeom prst="rect">
            <a:avLst/>
          </a:prstGeom>
          <a:noFill/>
          <a:ln/>
        </p:spPr>
        <p:txBody>
          <a:bodyPr wrap="square" lIns="0" tIns="0" rIns="0" bIns="0" rtlCol="0" anchor="t"/>
          <a:lstStyle/>
          <a:p>
            <a:pPr algn="l" indent="0" marL="0">
              <a:lnSpc>
                <a:spcPts val="1050"/>
              </a:lnSpc>
              <a:buNone/>
            </a:pPr>
            <a:r>
              <a:rPr lang="en-US" sz="750" dirty="0">
                <a:solidFill>
                  <a:srgbClr val="FFFFFF">
                    <a:alpha val="60000"/>
                  </a:srgbClr>
                </a:solidFill>
                <a:latin typeface="Arial" pitchFamily="34" charset="0"/>
                <a:ea typeface="Arial" pitchFamily="34" charset="-122"/>
                <a:cs typeface="Arial" pitchFamily="34" charset="-120"/>
              </a:rPr>
              <a:t>Press once to start, again to stop</a:t>
            </a:r>
            <a:endParaRPr lang="en-US" sz="750" dirty="0"/>
          </a:p>
        </p:txBody>
      </p:sp>
      <p:sp>
        <p:nvSpPr>
          <p:cNvPr id="10" name="Text 8"/>
          <p:cNvSpPr/>
          <p:nvPr/>
        </p:nvSpPr>
        <p:spPr>
          <a:xfrm>
            <a:off x="609600" y="2637383"/>
            <a:ext cx="2357679" cy="146596"/>
          </a:xfrm>
          <a:prstGeom prst="rect">
            <a:avLst/>
          </a:prstGeom>
          <a:noFill/>
          <a:ln/>
        </p:spPr>
        <p:txBody>
          <a:bodyPr wrap="square" lIns="0" tIns="0" rIns="0" bIns="0" rtlCol="0" anchor="t"/>
          <a:lstStyle/>
          <a:p>
            <a:pPr algn="l" indent="0" marL="0">
              <a:lnSpc>
                <a:spcPts val="1155"/>
              </a:lnSpc>
              <a:spcAft>
                <a:spcPts val="225"/>
              </a:spcAft>
              <a:buNone/>
            </a:pPr>
            <a:r>
              <a:rPr lang="en-US" sz="825" b="1" dirty="0">
                <a:solidFill>
                  <a:srgbClr val="FFFFFF"/>
                </a:solidFill>
                <a:latin typeface="Arial" pitchFamily="34" charset="0"/>
                <a:ea typeface="Arial" pitchFamily="34" charset="-122"/>
                <a:cs typeface="Arial" pitchFamily="34" charset="-120"/>
              </a:rPr>
              <a:t>Voice Activation</a:t>
            </a:r>
            <a:endParaRPr lang="en-US" sz="825" dirty="0"/>
          </a:p>
        </p:txBody>
      </p:sp>
      <p:sp>
        <p:nvSpPr>
          <p:cNvPr id="11" name="Text 9"/>
          <p:cNvSpPr/>
          <p:nvPr/>
        </p:nvSpPr>
        <p:spPr>
          <a:xfrm>
            <a:off x="609600" y="2812554"/>
            <a:ext cx="2357679" cy="133350"/>
          </a:xfrm>
          <a:prstGeom prst="rect">
            <a:avLst/>
          </a:prstGeom>
          <a:noFill/>
          <a:ln/>
        </p:spPr>
        <p:txBody>
          <a:bodyPr wrap="square" lIns="0" tIns="0" rIns="0" bIns="0" rtlCol="0" anchor="t"/>
          <a:lstStyle/>
          <a:p>
            <a:pPr algn="l" indent="0" marL="0">
              <a:lnSpc>
                <a:spcPts val="1050"/>
              </a:lnSpc>
              <a:buNone/>
            </a:pPr>
            <a:r>
              <a:rPr lang="en-US" sz="750" dirty="0">
                <a:solidFill>
                  <a:srgbClr val="FFFFFF">
                    <a:alpha val="60000"/>
                  </a:srgbClr>
                </a:solidFill>
                <a:latin typeface="Arial" pitchFamily="34" charset="0"/>
                <a:ea typeface="Arial" pitchFamily="34" charset="-122"/>
                <a:cs typeface="Arial" pitchFamily="34" charset="-120"/>
              </a:rPr>
              <a:t>"Hey Wispr" wake word (requires cloud)</a:t>
            </a:r>
            <a:endParaRPr lang="en-US" sz="750" dirty="0"/>
          </a:p>
        </p:txBody>
      </p:sp>
      <p:sp>
        <p:nvSpPr>
          <p:cNvPr id="12" name="Text 10"/>
          <p:cNvSpPr/>
          <p:nvPr/>
        </p:nvSpPr>
        <p:spPr>
          <a:xfrm>
            <a:off x="457200" y="3384054"/>
            <a:ext cx="2616250" cy="1137196"/>
          </a:xfrm>
          <a:prstGeom prst="rect">
            <a:avLst/>
          </a:prstGeom>
          <a:solidFill>
            <a:srgbClr val="FFFFFF"/>
          </a:solidFill>
          <a:ln/>
        </p:spPr>
        <p:txBody>
          <a:bodyPr wrap="square" rtlCol="0" anchor="ctr"/>
          <a:lstStyle/>
          <a:p>
            <a:pPr indent="0" marL="0">
              <a:buNone/>
            </a:pPr>
            <a:endParaRPr lang="en-US" dirty="0"/>
          </a:p>
        </p:txBody>
      </p:sp>
      <p:sp>
        <p:nvSpPr>
          <p:cNvPr id="13" name="Shape 11"/>
          <p:cNvSpPr/>
          <p:nvPr/>
        </p:nvSpPr>
        <p:spPr>
          <a:xfrm>
            <a:off x="476250" y="3384054"/>
            <a:ext cx="0" cy="1137196"/>
          </a:xfrm>
          <a:prstGeom prst="line">
            <a:avLst/>
          </a:prstGeom>
          <a:noFill/>
          <a:ln w="38100">
            <a:solidFill>
              <a:srgbClr val="C9A227"/>
            </a:solidFill>
            <a:prstDash val="solid"/>
          </a:ln>
        </p:spPr>
      </p:sp>
      <p:sp>
        <p:nvSpPr>
          <p:cNvPr id="14" name="Text 12"/>
          <p:cNvSpPr/>
          <p:nvPr/>
        </p:nvSpPr>
        <p:spPr>
          <a:xfrm>
            <a:off x="628650" y="3517404"/>
            <a:ext cx="2357679" cy="146596"/>
          </a:xfrm>
          <a:prstGeom prst="rect">
            <a:avLst/>
          </a:prstGeom>
          <a:noFill/>
          <a:ln/>
        </p:spPr>
        <p:txBody>
          <a:bodyPr wrap="square" lIns="0" tIns="0" rIns="0" bIns="0" rtlCol="0" anchor="t"/>
          <a:lstStyle/>
          <a:p>
            <a:pPr algn="l" indent="0" marL="0">
              <a:lnSpc>
                <a:spcPts val="1155"/>
              </a:lnSpc>
              <a:spcAft>
                <a:spcPts val="600"/>
              </a:spcAft>
              <a:buNone/>
            </a:pPr>
            <a:r>
              <a:rPr lang="en-US" sz="825" b="1" dirty="0">
                <a:solidFill>
                  <a:srgbClr val="1A1F2E"/>
                </a:solidFill>
                <a:latin typeface="Arial" pitchFamily="34" charset="0"/>
                <a:ea typeface="Arial" pitchFamily="34" charset="-122"/>
                <a:cs typeface="Arial" pitchFamily="34" charset="-120"/>
              </a:rPr>
              <a:t>Recommended Shortcuts</a:t>
            </a:r>
            <a:endParaRPr lang="en-US" sz="825" dirty="0"/>
          </a:p>
        </p:txBody>
      </p:sp>
      <p:sp>
        <p:nvSpPr>
          <p:cNvPr id="15" name="Text 13"/>
          <p:cNvSpPr/>
          <p:nvPr/>
        </p:nvSpPr>
        <p:spPr>
          <a:xfrm>
            <a:off x="628650" y="3740200"/>
            <a:ext cx="2357679" cy="647700"/>
          </a:xfrm>
          <a:prstGeom prst="rect">
            <a:avLst/>
          </a:prstGeom>
          <a:noFill/>
          <a:ln/>
        </p:spPr>
        <p:txBody>
          <a:bodyPr wrap="square" lIns="0" tIns="0" rIns="0" bIns="0" rtlCol="0" anchor="t"/>
          <a:lstStyle/>
          <a:p>
            <a:pPr algn="l" indent="0" marL="0">
              <a:lnSpc>
                <a:spcPts val="1275"/>
              </a:lnSpc>
              <a:buNone/>
            </a:pPr>
            <a:r>
              <a:rPr lang="en-US" sz="750" dirty="0">
                <a:solidFill>
                  <a:srgbClr val="6B7280"/>
                </a:solidFill>
                <a:latin typeface="Arial" pitchFamily="34" charset="0"/>
                <a:ea typeface="Arial" pitchFamily="34" charset="-122"/>
                <a:cs typeface="Arial" pitchFamily="34" charset="-120"/>
              </a:rPr>
              <a:t>Mac: Fn (hold) or Cmd+Shift+Space</a:t>
            </a:r>
            <a:endParaRPr lang="en-US" sz="750" dirty="0"/>
          </a:p>
          <a:p>
            <a:pPr algn="l" indent="0" marL="0">
              <a:lnSpc>
                <a:spcPts val="1275"/>
              </a:lnSpc>
              <a:buNone/>
            </a:pPr>
            <a:r>
              <a:rPr lang="en-US" sz="750" dirty="0">
                <a:solidFill>
                  <a:srgbClr val="6B7280"/>
                </a:solidFill>
                <a:latin typeface="Arial" pitchFamily="34" charset="0"/>
                <a:ea typeface="Arial" pitchFamily="34" charset="-122"/>
                <a:cs typeface="Arial" pitchFamily="34" charset="-120"/>
              </a:rPr>
              <a:t>Windows: Ctrl+Shift+Space</a:t>
            </a:r>
            <a:endParaRPr lang="en-US" sz="750" dirty="0"/>
          </a:p>
          <a:p>
            <a:pPr algn="l" indent="0" marL="0">
              <a:lnSpc>
                <a:spcPts val="1275"/>
              </a:lnSpc>
              <a:buNone/>
            </a:pPr>
            <a:r>
              <a:rPr lang="en-US" sz="750" dirty="0">
                <a:solidFill>
                  <a:srgbClr val="6B7280"/>
                </a:solidFill>
                <a:latin typeface="Arial" pitchFamily="34" charset="0"/>
                <a:ea typeface="Arial" pitchFamily="34" charset="-122"/>
                <a:cs typeface="Arial" pitchFamily="34" charset="-120"/>
              </a:rPr>
              <a:t>Caps Lock (can remap)</a:t>
            </a:r>
            <a:endParaRPr lang="en-US" sz="750" dirty="0"/>
          </a:p>
          <a:p>
            <a:pPr algn="l" indent="0" marL="0">
              <a:lnSpc>
                <a:spcPts val="1275"/>
              </a:lnSpc>
              <a:buNone/>
            </a:pPr>
            <a:r>
              <a:rPr lang="en-US" sz="750" dirty="0">
                <a:solidFill>
                  <a:srgbClr val="6B7280"/>
                </a:solidFill>
                <a:latin typeface="Arial" pitchFamily="34" charset="0"/>
                <a:ea typeface="Arial" pitchFamily="34" charset="-122"/>
                <a:cs typeface="Arial" pitchFamily="34" charset="-120"/>
              </a:rPr>
              <a:t>Dedicated macro key</a:t>
            </a:r>
            <a:endParaRPr lang="en-US" sz="750" dirty="0"/>
          </a:p>
        </p:txBody>
      </p:sp>
      <p:sp>
        <p:nvSpPr>
          <p:cNvPr id="16" name="Text 14"/>
          <p:cNvSpPr/>
          <p:nvPr/>
        </p:nvSpPr>
        <p:spPr>
          <a:xfrm>
            <a:off x="3263950" y="1717328"/>
            <a:ext cx="2616250" cy="1118146"/>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7" name="Text 15"/>
          <p:cNvSpPr/>
          <p:nvPr/>
        </p:nvSpPr>
        <p:spPr>
          <a:xfrm>
            <a:off x="3425875" y="1879253"/>
            <a:ext cx="2338248" cy="146596"/>
          </a:xfrm>
          <a:prstGeom prst="rect">
            <a:avLst/>
          </a:prstGeom>
          <a:noFill/>
          <a:ln/>
        </p:spPr>
        <p:txBody>
          <a:bodyPr wrap="square" lIns="0" tIns="0" rIns="0" bIns="0" rtlCol="0" anchor="t"/>
          <a:lstStyle/>
          <a:p>
            <a:pPr algn="l" indent="0" marL="0">
              <a:lnSpc>
                <a:spcPts val="1155"/>
              </a:lnSpc>
              <a:spcAft>
                <a:spcPts val="750"/>
              </a:spcAft>
              <a:buNone/>
            </a:pPr>
            <a:r>
              <a:rPr lang="en-US" sz="825" b="1" dirty="0">
                <a:solidFill>
                  <a:srgbClr val="1A1F2E"/>
                </a:solidFill>
                <a:latin typeface="Arial" pitchFamily="34" charset="0"/>
                <a:ea typeface="Arial" pitchFamily="34" charset="-122"/>
                <a:cs typeface="Arial" pitchFamily="34" charset="-120"/>
              </a:rPr>
              <a:t>AUTO-PUNCTUATION</a:t>
            </a:r>
            <a:endParaRPr lang="en-US" sz="825" dirty="0"/>
          </a:p>
        </p:txBody>
      </p:sp>
      <p:sp>
        <p:nvSpPr>
          <p:cNvPr id="18" name="Text 16"/>
          <p:cNvSpPr/>
          <p:nvPr/>
        </p:nvSpPr>
        <p:spPr>
          <a:xfrm>
            <a:off x="3425875" y="2130623"/>
            <a:ext cx="114300" cy="114300"/>
          </a:xfrm>
          <a:prstGeom prst="roundRect">
            <a:avLst>
              <a:gd name="adj" fmla="val 800000"/>
            </a:avLst>
          </a:prstGeom>
          <a:solidFill>
            <a:srgbClr val="059669"/>
          </a:solidFill>
          <a:ln/>
        </p:spPr>
        <p:txBody>
          <a:bodyPr wrap="square" rtlCol="0" anchor="ctr"/>
          <a:lstStyle/>
          <a:p>
            <a:pPr indent="0" marL="0">
              <a:buNone/>
            </a:pPr>
            <a:endParaRPr lang="en-US" dirty="0"/>
          </a:p>
        </p:txBody>
      </p:sp>
      <p:sp>
        <p:nvSpPr>
          <p:cNvPr id="19" name="Text 17"/>
          <p:cNvSpPr/>
          <p:nvPr/>
        </p:nvSpPr>
        <p:spPr>
          <a:xfrm>
            <a:off x="3616375" y="2121098"/>
            <a:ext cx="1225975" cy="133350"/>
          </a:xfrm>
          <a:prstGeom prst="rect">
            <a:avLst/>
          </a:prstGeom>
          <a:noFill/>
          <a:ln/>
        </p:spPr>
        <p:txBody>
          <a:bodyPr wrap="square" lIns="0" tIns="0" rIns="0" bIns="0" rtlCol="0" anchor="t"/>
          <a:lstStyle/>
          <a:p>
            <a:pPr algn="l" indent="0" marL="0">
              <a:lnSpc>
                <a:spcPts val="1050"/>
              </a:lnSpc>
              <a:buNone/>
            </a:pPr>
            <a:r>
              <a:rPr lang="en-US" sz="750" dirty="0">
                <a:solidFill>
                  <a:srgbClr val="6B7280"/>
                </a:solidFill>
                <a:latin typeface="Arial" pitchFamily="34" charset="0"/>
                <a:ea typeface="Arial" pitchFamily="34" charset="-122"/>
                <a:cs typeface="Arial" pitchFamily="34" charset="-120"/>
              </a:rPr>
              <a:t>Automatic periods at pauses</a:t>
            </a:r>
            <a:endParaRPr lang="en-US" sz="750" dirty="0"/>
          </a:p>
        </p:txBody>
      </p:sp>
      <p:sp>
        <p:nvSpPr>
          <p:cNvPr id="20" name="Text 18"/>
          <p:cNvSpPr/>
          <p:nvPr/>
        </p:nvSpPr>
        <p:spPr>
          <a:xfrm>
            <a:off x="3425875" y="2340173"/>
            <a:ext cx="114300" cy="114300"/>
          </a:xfrm>
          <a:prstGeom prst="roundRect">
            <a:avLst>
              <a:gd name="adj" fmla="val 800000"/>
            </a:avLst>
          </a:prstGeom>
          <a:solidFill>
            <a:srgbClr val="059669"/>
          </a:solidFill>
          <a:ln/>
        </p:spPr>
        <p:txBody>
          <a:bodyPr wrap="square" rtlCol="0" anchor="ctr"/>
          <a:lstStyle/>
          <a:p>
            <a:pPr indent="0" marL="0">
              <a:buNone/>
            </a:pPr>
            <a:endParaRPr lang="en-US" dirty="0"/>
          </a:p>
        </p:txBody>
      </p:sp>
      <p:sp>
        <p:nvSpPr>
          <p:cNvPr id="21" name="Text 19"/>
          <p:cNvSpPr/>
          <p:nvPr/>
        </p:nvSpPr>
        <p:spPr>
          <a:xfrm>
            <a:off x="3616375" y="2330648"/>
            <a:ext cx="1349999" cy="133350"/>
          </a:xfrm>
          <a:prstGeom prst="rect">
            <a:avLst/>
          </a:prstGeom>
          <a:noFill/>
          <a:ln/>
        </p:spPr>
        <p:txBody>
          <a:bodyPr wrap="square" lIns="0" tIns="0" rIns="0" bIns="0" rtlCol="0" anchor="t"/>
          <a:lstStyle/>
          <a:p>
            <a:pPr algn="l" indent="0" marL="0">
              <a:lnSpc>
                <a:spcPts val="1050"/>
              </a:lnSpc>
              <a:buNone/>
            </a:pPr>
            <a:r>
              <a:rPr lang="en-US" sz="750" dirty="0">
                <a:solidFill>
                  <a:srgbClr val="6B7280"/>
                </a:solidFill>
                <a:latin typeface="Arial" pitchFamily="34" charset="0"/>
                <a:ea typeface="Arial" pitchFamily="34" charset="-122"/>
                <a:cs typeface="Arial" pitchFamily="34" charset="-120"/>
              </a:rPr>
              <a:t>Question marks from intonation</a:t>
            </a:r>
            <a:endParaRPr lang="en-US" sz="750" dirty="0"/>
          </a:p>
        </p:txBody>
      </p:sp>
      <p:sp>
        <p:nvSpPr>
          <p:cNvPr id="22" name="Text 20"/>
          <p:cNvSpPr/>
          <p:nvPr/>
        </p:nvSpPr>
        <p:spPr>
          <a:xfrm>
            <a:off x="3425875" y="2549723"/>
            <a:ext cx="114300" cy="114300"/>
          </a:xfrm>
          <a:prstGeom prst="roundRect">
            <a:avLst>
              <a:gd name="adj" fmla="val 800000"/>
            </a:avLst>
          </a:prstGeom>
          <a:solidFill>
            <a:srgbClr val="059669"/>
          </a:solidFill>
          <a:ln/>
        </p:spPr>
        <p:txBody>
          <a:bodyPr wrap="square" rtlCol="0" anchor="ctr"/>
          <a:lstStyle/>
          <a:p>
            <a:pPr indent="0" marL="0">
              <a:buNone/>
            </a:pPr>
            <a:endParaRPr lang="en-US" dirty="0"/>
          </a:p>
        </p:txBody>
      </p:sp>
      <p:sp>
        <p:nvSpPr>
          <p:cNvPr id="23" name="Text 21"/>
          <p:cNvSpPr/>
          <p:nvPr/>
        </p:nvSpPr>
        <p:spPr>
          <a:xfrm>
            <a:off x="3616375" y="2540198"/>
            <a:ext cx="1355464" cy="133350"/>
          </a:xfrm>
          <a:prstGeom prst="rect">
            <a:avLst/>
          </a:prstGeom>
          <a:noFill/>
          <a:ln/>
        </p:spPr>
        <p:txBody>
          <a:bodyPr wrap="square" lIns="0" tIns="0" rIns="0" bIns="0" rtlCol="0" anchor="t"/>
          <a:lstStyle/>
          <a:p>
            <a:pPr algn="l" indent="0" marL="0">
              <a:lnSpc>
                <a:spcPts val="1050"/>
              </a:lnSpc>
              <a:buNone/>
            </a:pPr>
            <a:r>
              <a:rPr lang="en-US" sz="750" dirty="0">
                <a:solidFill>
                  <a:srgbClr val="6B7280"/>
                </a:solidFill>
                <a:latin typeface="Arial" pitchFamily="34" charset="0"/>
                <a:ea typeface="Arial" pitchFamily="34" charset="-122"/>
                <a:cs typeface="Arial" pitchFamily="34" charset="-120"/>
              </a:rPr>
              <a:t>Comma insertion (configurable)</a:t>
            </a:r>
            <a:endParaRPr lang="en-US" sz="750" dirty="0"/>
          </a:p>
        </p:txBody>
      </p:sp>
      <p:sp>
        <p:nvSpPr>
          <p:cNvPr id="24" name="Text 22"/>
          <p:cNvSpPr/>
          <p:nvPr/>
        </p:nvSpPr>
        <p:spPr>
          <a:xfrm>
            <a:off x="3263950" y="3121223"/>
            <a:ext cx="2616250" cy="1118146"/>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25" name="Text 23"/>
          <p:cNvSpPr/>
          <p:nvPr/>
        </p:nvSpPr>
        <p:spPr>
          <a:xfrm>
            <a:off x="3425875" y="3283148"/>
            <a:ext cx="2338248" cy="146596"/>
          </a:xfrm>
          <a:prstGeom prst="rect">
            <a:avLst/>
          </a:prstGeom>
          <a:noFill/>
          <a:ln/>
        </p:spPr>
        <p:txBody>
          <a:bodyPr wrap="square" lIns="0" tIns="0" rIns="0" bIns="0" rtlCol="0" anchor="t"/>
          <a:lstStyle/>
          <a:p>
            <a:pPr algn="l" indent="0" marL="0">
              <a:lnSpc>
                <a:spcPts val="1155"/>
              </a:lnSpc>
              <a:spcAft>
                <a:spcPts val="750"/>
              </a:spcAft>
              <a:buNone/>
            </a:pPr>
            <a:r>
              <a:rPr lang="en-US" sz="825" b="1" dirty="0">
                <a:solidFill>
                  <a:srgbClr val="1A1F2E"/>
                </a:solidFill>
                <a:latin typeface="Arial" pitchFamily="34" charset="0"/>
                <a:ea typeface="Arial" pitchFamily="34" charset="-122"/>
                <a:cs typeface="Arial" pitchFamily="34" charset="-120"/>
              </a:rPr>
              <a:t>AUTO-CAPITALIZATION</a:t>
            </a:r>
            <a:endParaRPr lang="en-US" sz="825" dirty="0"/>
          </a:p>
        </p:txBody>
      </p:sp>
      <p:sp>
        <p:nvSpPr>
          <p:cNvPr id="26" name="Text 24"/>
          <p:cNvSpPr/>
          <p:nvPr/>
        </p:nvSpPr>
        <p:spPr>
          <a:xfrm>
            <a:off x="3425875" y="3534519"/>
            <a:ext cx="114300" cy="114300"/>
          </a:xfrm>
          <a:prstGeom prst="roundRect">
            <a:avLst>
              <a:gd name="adj" fmla="val 800000"/>
            </a:avLst>
          </a:prstGeom>
          <a:solidFill>
            <a:srgbClr val="059669"/>
          </a:solidFill>
          <a:ln/>
        </p:spPr>
        <p:txBody>
          <a:bodyPr wrap="square" rtlCol="0" anchor="ctr"/>
          <a:lstStyle/>
          <a:p>
            <a:pPr indent="0" marL="0">
              <a:buNone/>
            </a:pPr>
            <a:endParaRPr lang="en-US" dirty="0"/>
          </a:p>
        </p:txBody>
      </p:sp>
      <p:sp>
        <p:nvSpPr>
          <p:cNvPr id="27" name="Text 25"/>
          <p:cNvSpPr/>
          <p:nvPr/>
        </p:nvSpPr>
        <p:spPr>
          <a:xfrm>
            <a:off x="3616375" y="3524994"/>
            <a:ext cx="675075" cy="133350"/>
          </a:xfrm>
          <a:prstGeom prst="rect">
            <a:avLst/>
          </a:prstGeom>
          <a:noFill/>
          <a:ln/>
        </p:spPr>
        <p:txBody>
          <a:bodyPr wrap="square" lIns="0" tIns="0" rIns="0" bIns="0" rtlCol="0" anchor="t"/>
          <a:lstStyle/>
          <a:p>
            <a:pPr algn="l" indent="0" marL="0">
              <a:lnSpc>
                <a:spcPts val="1050"/>
              </a:lnSpc>
              <a:buNone/>
            </a:pPr>
            <a:r>
              <a:rPr lang="en-US" sz="750" dirty="0">
                <a:solidFill>
                  <a:srgbClr val="6B7280"/>
                </a:solidFill>
                <a:latin typeface="Arial" pitchFamily="34" charset="0"/>
                <a:ea typeface="Arial" pitchFamily="34" charset="-122"/>
                <a:cs typeface="Arial" pitchFamily="34" charset="-120"/>
              </a:rPr>
              <a:t>Sentence starts</a:t>
            </a:r>
            <a:endParaRPr lang="en-US" sz="750" dirty="0"/>
          </a:p>
        </p:txBody>
      </p:sp>
      <p:sp>
        <p:nvSpPr>
          <p:cNvPr id="28" name="Text 26"/>
          <p:cNvSpPr/>
          <p:nvPr/>
        </p:nvSpPr>
        <p:spPr>
          <a:xfrm>
            <a:off x="3425875" y="3744069"/>
            <a:ext cx="114300" cy="114300"/>
          </a:xfrm>
          <a:prstGeom prst="roundRect">
            <a:avLst>
              <a:gd name="adj" fmla="val 800000"/>
            </a:avLst>
          </a:prstGeom>
          <a:solidFill>
            <a:srgbClr val="059669"/>
          </a:solidFill>
          <a:ln/>
        </p:spPr>
        <p:txBody>
          <a:bodyPr wrap="square" rtlCol="0" anchor="ctr"/>
          <a:lstStyle/>
          <a:p>
            <a:pPr indent="0" marL="0">
              <a:buNone/>
            </a:pPr>
            <a:endParaRPr lang="en-US" dirty="0"/>
          </a:p>
        </p:txBody>
      </p:sp>
      <p:sp>
        <p:nvSpPr>
          <p:cNvPr id="29" name="Text 27"/>
          <p:cNvSpPr/>
          <p:nvPr/>
        </p:nvSpPr>
        <p:spPr>
          <a:xfrm>
            <a:off x="3616375" y="3734544"/>
            <a:ext cx="583385" cy="133350"/>
          </a:xfrm>
          <a:prstGeom prst="rect">
            <a:avLst/>
          </a:prstGeom>
          <a:noFill/>
          <a:ln/>
        </p:spPr>
        <p:txBody>
          <a:bodyPr wrap="square" lIns="0" tIns="0" rIns="0" bIns="0" rtlCol="0" anchor="t"/>
          <a:lstStyle/>
          <a:p>
            <a:pPr algn="l" indent="0" marL="0">
              <a:lnSpc>
                <a:spcPts val="1050"/>
              </a:lnSpc>
              <a:buNone/>
            </a:pPr>
            <a:r>
              <a:rPr lang="en-US" sz="750" dirty="0">
                <a:solidFill>
                  <a:srgbClr val="6B7280"/>
                </a:solidFill>
                <a:latin typeface="Arial" pitchFamily="34" charset="0"/>
                <a:ea typeface="Arial" pitchFamily="34" charset="-122"/>
                <a:cs typeface="Arial" pitchFamily="34" charset="-120"/>
              </a:rPr>
              <a:t>Proper nouns</a:t>
            </a:r>
            <a:endParaRPr lang="en-US" sz="750" dirty="0"/>
          </a:p>
        </p:txBody>
      </p:sp>
      <p:sp>
        <p:nvSpPr>
          <p:cNvPr id="30" name="Text 28"/>
          <p:cNvSpPr/>
          <p:nvPr/>
        </p:nvSpPr>
        <p:spPr>
          <a:xfrm>
            <a:off x="3425875" y="3953619"/>
            <a:ext cx="114300" cy="114300"/>
          </a:xfrm>
          <a:prstGeom prst="roundRect">
            <a:avLst>
              <a:gd name="adj" fmla="val 800000"/>
            </a:avLst>
          </a:prstGeom>
          <a:solidFill>
            <a:srgbClr val="059669"/>
          </a:solidFill>
          <a:ln/>
        </p:spPr>
        <p:txBody>
          <a:bodyPr wrap="square" rtlCol="0" anchor="ctr"/>
          <a:lstStyle/>
          <a:p>
            <a:pPr indent="0" marL="0">
              <a:buNone/>
            </a:pPr>
            <a:endParaRPr lang="en-US" dirty="0"/>
          </a:p>
        </p:txBody>
      </p:sp>
      <p:sp>
        <p:nvSpPr>
          <p:cNvPr id="31" name="Text 29"/>
          <p:cNvSpPr/>
          <p:nvPr/>
        </p:nvSpPr>
        <p:spPr>
          <a:xfrm>
            <a:off x="3616375" y="3944094"/>
            <a:ext cx="1052917" cy="133350"/>
          </a:xfrm>
          <a:prstGeom prst="rect">
            <a:avLst/>
          </a:prstGeom>
          <a:noFill/>
          <a:ln/>
        </p:spPr>
        <p:txBody>
          <a:bodyPr wrap="square" lIns="0" tIns="0" rIns="0" bIns="0" rtlCol="0" anchor="t"/>
          <a:lstStyle/>
          <a:p>
            <a:pPr algn="l" indent="0" marL="0">
              <a:lnSpc>
                <a:spcPts val="1050"/>
              </a:lnSpc>
              <a:buNone/>
            </a:pPr>
            <a:r>
              <a:rPr lang="en-US" sz="750" dirty="0">
                <a:solidFill>
                  <a:srgbClr val="6B7280"/>
                </a:solidFill>
                <a:latin typeface="Arial" pitchFamily="34" charset="0"/>
                <a:ea typeface="Arial" pitchFamily="34" charset="-122"/>
                <a:cs typeface="Arial" pitchFamily="34" charset="-120"/>
              </a:rPr>
              <a:t>Acronyms (configurable)</a:t>
            </a:r>
            <a:endParaRPr lang="en-US" sz="750" dirty="0"/>
          </a:p>
        </p:txBody>
      </p:sp>
      <p:sp>
        <p:nvSpPr>
          <p:cNvPr id="32" name="Text 30"/>
          <p:cNvSpPr/>
          <p:nvPr/>
        </p:nvSpPr>
        <p:spPr>
          <a:xfrm>
            <a:off x="6070699" y="1626096"/>
            <a:ext cx="2616250" cy="1662708"/>
          </a:xfrm>
          <a:prstGeom prst="rect">
            <a:avLst/>
          </a:prstGeom>
          <a:solidFill>
            <a:srgbClr val="1A1F2E"/>
          </a:solidFill>
          <a:ln/>
        </p:spPr>
        <p:txBody>
          <a:bodyPr wrap="square" rtlCol="0" anchor="ctr"/>
          <a:lstStyle/>
          <a:p>
            <a:pPr indent="0" marL="0">
              <a:buNone/>
            </a:pPr>
            <a:endParaRPr lang="en-US" dirty="0"/>
          </a:p>
        </p:txBody>
      </p:sp>
      <p:sp>
        <p:nvSpPr>
          <p:cNvPr id="33" name="Text 31"/>
          <p:cNvSpPr/>
          <p:nvPr/>
        </p:nvSpPr>
        <p:spPr>
          <a:xfrm>
            <a:off x="6223099" y="1778496"/>
            <a:ext cx="2357679" cy="146596"/>
          </a:xfrm>
          <a:prstGeom prst="rect">
            <a:avLst/>
          </a:prstGeom>
          <a:noFill/>
          <a:ln/>
        </p:spPr>
        <p:txBody>
          <a:bodyPr wrap="square" lIns="0" tIns="0" rIns="0" bIns="0" rtlCol="0" anchor="t"/>
          <a:lstStyle/>
          <a:p>
            <a:pPr algn="l" indent="0" marL="0">
              <a:lnSpc>
                <a:spcPts val="1155"/>
              </a:lnSpc>
              <a:spcAft>
                <a:spcPts val="750"/>
              </a:spcAft>
              <a:buNone/>
            </a:pPr>
            <a:r>
              <a:rPr lang="en-US" sz="825" b="1" dirty="0">
                <a:solidFill>
                  <a:srgbClr val="C9A227"/>
                </a:solidFill>
                <a:latin typeface="Arial" pitchFamily="34" charset="0"/>
                <a:ea typeface="Arial" pitchFamily="34" charset="-122"/>
                <a:cs typeface="Arial" pitchFamily="34" charset="-120"/>
              </a:rPr>
              <a:t>LANGUAGE SETTINGS</a:t>
            </a:r>
            <a:endParaRPr lang="en-US" sz="825" dirty="0"/>
          </a:p>
        </p:txBody>
      </p:sp>
      <p:sp>
        <p:nvSpPr>
          <p:cNvPr id="34" name="Text 32"/>
          <p:cNvSpPr/>
          <p:nvPr/>
        </p:nvSpPr>
        <p:spPr>
          <a:xfrm>
            <a:off x="6223099" y="2020342"/>
            <a:ext cx="2357679" cy="146596"/>
          </a:xfrm>
          <a:prstGeom prst="rect">
            <a:avLst/>
          </a:prstGeom>
          <a:noFill/>
          <a:ln/>
        </p:spPr>
        <p:txBody>
          <a:bodyPr wrap="square" lIns="0" tIns="0" rIns="0" bIns="0" rtlCol="0" anchor="t"/>
          <a:lstStyle/>
          <a:p>
            <a:pPr algn="l" indent="0" marL="0">
              <a:lnSpc>
                <a:spcPts val="1155"/>
              </a:lnSpc>
              <a:spcAft>
                <a:spcPts val="225"/>
              </a:spcAft>
              <a:buNone/>
            </a:pPr>
            <a:r>
              <a:rPr lang="en-US" sz="825" b="1" dirty="0">
                <a:solidFill>
                  <a:srgbClr val="FFFFFF"/>
                </a:solidFill>
                <a:latin typeface="Arial" pitchFamily="34" charset="0"/>
                <a:ea typeface="Arial" pitchFamily="34" charset="-122"/>
                <a:cs typeface="Arial" pitchFamily="34" charset="-120"/>
              </a:rPr>
              <a:t>Primary Language</a:t>
            </a:r>
            <a:endParaRPr lang="en-US" sz="825" dirty="0"/>
          </a:p>
        </p:txBody>
      </p:sp>
      <p:sp>
        <p:nvSpPr>
          <p:cNvPr id="35" name="Text 33"/>
          <p:cNvSpPr/>
          <p:nvPr/>
        </p:nvSpPr>
        <p:spPr>
          <a:xfrm>
            <a:off x="6223099" y="2195513"/>
            <a:ext cx="2357679" cy="133350"/>
          </a:xfrm>
          <a:prstGeom prst="rect">
            <a:avLst/>
          </a:prstGeom>
          <a:noFill/>
          <a:ln/>
        </p:spPr>
        <p:txBody>
          <a:bodyPr wrap="square" lIns="0" tIns="0" rIns="0" bIns="0" rtlCol="0" anchor="t"/>
          <a:lstStyle/>
          <a:p>
            <a:pPr algn="l" indent="0" marL="0">
              <a:lnSpc>
                <a:spcPts val="1050"/>
              </a:lnSpc>
              <a:buNone/>
            </a:pPr>
            <a:r>
              <a:rPr lang="en-US" sz="750" dirty="0">
                <a:solidFill>
                  <a:srgbClr val="FFFFFF">
                    <a:alpha val="60000"/>
                  </a:srgbClr>
                </a:solidFill>
                <a:latin typeface="Arial" pitchFamily="34" charset="0"/>
                <a:ea typeface="Arial" pitchFamily="34" charset="-122"/>
                <a:cs typeface="Arial" pitchFamily="34" charset="-120"/>
              </a:rPr>
              <a:t>Set your main language for best accuracy</a:t>
            </a:r>
            <a:endParaRPr lang="en-US" sz="750" dirty="0"/>
          </a:p>
        </p:txBody>
      </p:sp>
      <p:sp>
        <p:nvSpPr>
          <p:cNvPr id="36" name="Text 34"/>
          <p:cNvSpPr/>
          <p:nvPr/>
        </p:nvSpPr>
        <p:spPr>
          <a:xfrm>
            <a:off x="6223099" y="2424113"/>
            <a:ext cx="2357679" cy="146596"/>
          </a:xfrm>
          <a:prstGeom prst="rect">
            <a:avLst/>
          </a:prstGeom>
          <a:noFill/>
          <a:ln/>
        </p:spPr>
        <p:txBody>
          <a:bodyPr wrap="square" lIns="0" tIns="0" rIns="0" bIns="0" rtlCol="0" anchor="t"/>
          <a:lstStyle/>
          <a:p>
            <a:pPr algn="l" indent="0" marL="0">
              <a:lnSpc>
                <a:spcPts val="1155"/>
              </a:lnSpc>
              <a:spcAft>
                <a:spcPts val="225"/>
              </a:spcAft>
              <a:buNone/>
            </a:pPr>
            <a:r>
              <a:rPr lang="en-US" sz="825" b="1" dirty="0">
                <a:solidFill>
                  <a:srgbClr val="FFFFFF"/>
                </a:solidFill>
                <a:latin typeface="Arial" pitchFamily="34" charset="0"/>
                <a:ea typeface="Arial" pitchFamily="34" charset="-122"/>
                <a:cs typeface="Arial" pitchFamily="34" charset="-120"/>
              </a:rPr>
              <a:t>Auto-Detect</a:t>
            </a:r>
            <a:endParaRPr lang="en-US" sz="825" dirty="0"/>
          </a:p>
        </p:txBody>
      </p:sp>
      <p:sp>
        <p:nvSpPr>
          <p:cNvPr id="37" name="Text 35"/>
          <p:cNvSpPr/>
          <p:nvPr/>
        </p:nvSpPr>
        <p:spPr>
          <a:xfrm>
            <a:off x="6223099" y="2599283"/>
            <a:ext cx="2357679" cy="133350"/>
          </a:xfrm>
          <a:prstGeom prst="rect">
            <a:avLst/>
          </a:prstGeom>
          <a:noFill/>
          <a:ln/>
        </p:spPr>
        <p:txBody>
          <a:bodyPr wrap="square" lIns="0" tIns="0" rIns="0" bIns="0" rtlCol="0" anchor="t"/>
          <a:lstStyle/>
          <a:p>
            <a:pPr algn="l" indent="0" marL="0">
              <a:lnSpc>
                <a:spcPts val="1050"/>
              </a:lnSpc>
              <a:buNone/>
            </a:pPr>
            <a:r>
              <a:rPr lang="en-US" sz="750" dirty="0">
                <a:solidFill>
                  <a:srgbClr val="FFFFFF">
                    <a:alpha val="60000"/>
                  </a:srgbClr>
                </a:solidFill>
                <a:latin typeface="Arial" pitchFamily="34" charset="0"/>
                <a:ea typeface="Arial" pitchFamily="34" charset="-122"/>
                <a:cs typeface="Arial" pitchFamily="34" charset="-120"/>
              </a:rPr>
              <a:t>Enable for multilingual dictation</a:t>
            </a:r>
            <a:endParaRPr lang="en-US" sz="750" dirty="0"/>
          </a:p>
        </p:txBody>
      </p:sp>
      <p:sp>
        <p:nvSpPr>
          <p:cNvPr id="38" name="Text 36"/>
          <p:cNvSpPr/>
          <p:nvPr/>
        </p:nvSpPr>
        <p:spPr>
          <a:xfrm>
            <a:off x="6223099" y="2827883"/>
            <a:ext cx="2357679" cy="146596"/>
          </a:xfrm>
          <a:prstGeom prst="rect">
            <a:avLst/>
          </a:prstGeom>
          <a:noFill/>
          <a:ln/>
        </p:spPr>
        <p:txBody>
          <a:bodyPr wrap="square" lIns="0" tIns="0" rIns="0" bIns="0" rtlCol="0" anchor="t"/>
          <a:lstStyle/>
          <a:p>
            <a:pPr algn="l" indent="0" marL="0">
              <a:lnSpc>
                <a:spcPts val="1155"/>
              </a:lnSpc>
              <a:spcAft>
                <a:spcPts val="225"/>
              </a:spcAft>
              <a:buNone/>
            </a:pPr>
            <a:r>
              <a:rPr lang="en-US" sz="825" b="1" dirty="0">
                <a:solidFill>
                  <a:srgbClr val="FFFFFF"/>
                </a:solidFill>
                <a:latin typeface="Arial" pitchFamily="34" charset="0"/>
                <a:ea typeface="Arial" pitchFamily="34" charset="-122"/>
                <a:cs typeface="Arial" pitchFamily="34" charset="-120"/>
              </a:rPr>
              <a:t>Technical Vocabulary</a:t>
            </a:r>
            <a:endParaRPr lang="en-US" sz="825" dirty="0"/>
          </a:p>
        </p:txBody>
      </p:sp>
      <p:sp>
        <p:nvSpPr>
          <p:cNvPr id="39" name="Text 37"/>
          <p:cNvSpPr/>
          <p:nvPr/>
        </p:nvSpPr>
        <p:spPr>
          <a:xfrm>
            <a:off x="6223099" y="3003054"/>
            <a:ext cx="2357679" cy="133350"/>
          </a:xfrm>
          <a:prstGeom prst="rect">
            <a:avLst/>
          </a:prstGeom>
          <a:noFill/>
          <a:ln/>
        </p:spPr>
        <p:txBody>
          <a:bodyPr wrap="square" lIns="0" tIns="0" rIns="0" bIns="0" rtlCol="0" anchor="t"/>
          <a:lstStyle/>
          <a:p>
            <a:pPr algn="l" indent="0" marL="0">
              <a:lnSpc>
                <a:spcPts val="1050"/>
              </a:lnSpc>
              <a:buNone/>
            </a:pPr>
            <a:r>
              <a:rPr lang="en-US" sz="750" dirty="0">
                <a:solidFill>
                  <a:srgbClr val="FFFFFF">
                    <a:alpha val="60000"/>
                  </a:srgbClr>
                </a:solidFill>
                <a:latin typeface="Arial" pitchFamily="34" charset="0"/>
                <a:ea typeface="Arial" pitchFamily="34" charset="-122"/>
                <a:cs typeface="Arial" pitchFamily="34" charset="-120"/>
              </a:rPr>
              <a:t>Add domain-specific terms</a:t>
            </a:r>
            <a:endParaRPr lang="en-US" sz="750" dirty="0"/>
          </a:p>
        </p:txBody>
      </p:sp>
      <p:sp>
        <p:nvSpPr>
          <p:cNvPr id="40" name="Text 38"/>
          <p:cNvSpPr/>
          <p:nvPr/>
        </p:nvSpPr>
        <p:spPr>
          <a:xfrm>
            <a:off x="6070699" y="3574554"/>
            <a:ext cx="2616250" cy="756196"/>
          </a:xfrm>
          <a:prstGeom prst="rect">
            <a:avLst/>
          </a:prstGeom>
          <a:solidFill>
            <a:srgbClr val="FEF3C7"/>
          </a:solidFill>
          <a:ln/>
        </p:spPr>
        <p:txBody>
          <a:bodyPr wrap="square" rtlCol="0" anchor="ctr"/>
          <a:lstStyle/>
          <a:p>
            <a:pPr indent="0" marL="0">
              <a:buNone/>
            </a:pPr>
            <a:endParaRPr lang="en-US" dirty="0"/>
          </a:p>
        </p:txBody>
      </p:sp>
      <p:sp>
        <p:nvSpPr>
          <p:cNvPr id="41" name="Shape 39"/>
          <p:cNvSpPr/>
          <p:nvPr/>
        </p:nvSpPr>
        <p:spPr>
          <a:xfrm>
            <a:off x="6089749" y="3574554"/>
            <a:ext cx="0" cy="756196"/>
          </a:xfrm>
          <a:prstGeom prst="line">
            <a:avLst/>
          </a:prstGeom>
          <a:noFill/>
          <a:ln w="38100">
            <a:solidFill>
              <a:srgbClr val="F59E0B"/>
            </a:solidFill>
            <a:prstDash val="solid"/>
          </a:ln>
        </p:spPr>
      </p:sp>
      <p:sp>
        <p:nvSpPr>
          <p:cNvPr id="42" name="Text 40"/>
          <p:cNvSpPr/>
          <p:nvPr/>
        </p:nvSpPr>
        <p:spPr>
          <a:xfrm>
            <a:off x="6242149" y="3707904"/>
            <a:ext cx="2357679" cy="146596"/>
          </a:xfrm>
          <a:prstGeom prst="rect">
            <a:avLst/>
          </a:prstGeom>
          <a:noFill/>
          <a:ln/>
        </p:spPr>
        <p:txBody>
          <a:bodyPr wrap="square" lIns="0" tIns="0" rIns="0" bIns="0" rtlCol="0" anchor="t"/>
          <a:lstStyle/>
          <a:p>
            <a:pPr algn="l" indent="0" marL="0">
              <a:lnSpc>
                <a:spcPts val="1155"/>
              </a:lnSpc>
              <a:spcAft>
                <a:spcPts val="450"/>
              </a:spcAft>
              <a:buNone/>
            </a:pPr>
            <a:r>
              <a:rPr lang="en-US" sz="825" b="1" dirty="0">
                <a:solidFill>
                  <a:srgbClr val="92400E"/>
                </a:solidFill>
                <a:latin typeface="Arial" pitchFamily="34" charset="0"/>
                <a:ea typeface="Arial" pitchFamily="34" charset="-122"/>
                <a:cs typeface="Arial" pitchFamily="34" charset="-120"/>
              </a:rPr>
              <a:t>PRIVACY REMINDER</a:t>
            </a:r>
            <a:endParaRPr lang="en-US" sz="825" dirty="0"/>
          </a:p>
        </p:txBody>
      </p:sp>
      <p:sp>
        <p:nvSpPr>
          <p:cNvPr id="43" name="Text 41"/>
          <p:cNvSpPr/>
          <p:nvPr/>
        </p:nvSpPr>
        <p:spPr>
          <a:xfrm>
            <a:off x="6242149" y="3911650"/>
            <a:ext cx="2357679" cy="285750"/>
          </a:xfrm>
          <a:prstGeom prst="rect">
            <a:avLst/>
          </a:prstGeom>
          <a:noFill/>
          <a:ln/>
        </p:spPr>
        <p:txBody>
          <a:bodyPr wrap="square" lIns="0" tIns="0" rIns="0" bIns="0" rtlCol="0" anchor="t"/>
          <a:lstStyle/>
          <a:p>
            <a:pPr algn="l" indent="0" marL="0">
              <a:lnSpc>
                <a:spcPts val="1125"/>
              </a:lnSpc>
              <a:buNone/>
            </a:pPr>
            <a:r>
              <a:rPr lang="en-US" sz="750" dirty="0">
                <a:solidFill>
                  <a:srgbClr val="92400E"/>
                </a:solidFill>
                <a:latin typeface="Arial" pitchFamily="34" charset="0"/>
                <a:ea typeface="Arial" pitchFamily="34" charset="-122"/>
                <a:cs typeface="Arial" pitchFamily="34" charset="-120"/>
              </a:rPr>
              <a:t>Voice activation and some auto features require cloud. Keep disabled for local-only use.</a:t>
            </a:r>
            <a:endParaRPr lang="en-US" sz="7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381000" y="304800"/>
            <a:ext cx="8549640" cy="133350"/>
          </a:xfrm>
          <a:prstGeom prst="rect">
            <a:avLst/>
          </a:prstGeom>
          <a:noFill/>
          <a:ln/>
        </p:spPr>
        <p:txBody>
          <a:bodyPr wrap="square" lIns="0" tIns="0" rIns="0" bIns="0" rtlCol="0" anchor="t"/>
          <a:lstStyle/>
          <a:p>
            <a:pPr algn="l" indent="0" marL="0">
              <a:lnSpc>
                <a:spcPts val="1050"/>
              </a:lnSpc>
              <a:spcAft>
                <a:spcPts val="300"/>
              </a:spcAft>
              <a:buNone/>
            </a:pPr>
            <a:r>
              <a:rPr lang="en-US" sz="750" dirty="0">
                <a:solidFill>
                  <a:srgbClr val="C9A227"/>
                </a:solidFill>
                <a:latin typeface="Arial" pitchFamily="34" charset="0"/>
                <a:ea typeface="Arial" pitchFamily="34" charset="-122"/>
                <a:cs typeface="Arial" pitchFamily="34" charset="-120"/>
              </a:rPr>
              <a:t>HEAD-TO-HEAD COMPARISON</a:t>
            </a:r>
            <a:endParaRPr lang="en-US" sz="750" dirty="0"/>
          </a:p>
        </p:txBody>
      </p:sp>
      <p:sp>
        <p:nvSpPr>
          <p:cNvPr id="3" name="Text 1"/>
          <p:cNvSpPr/>
          <p:nvPr/>
        </p:nvSpPr>
        <p:spPr>
          <a:xfrm>
            <a:off x="381000" y="476250"/>
            <a:ext cx="4284536" cy="228600"/>
          </a:xfrm>
          <a:prstGeom prst="rect">
            <a:avLst/>
          </a:prstGeom>
          <a:noFill/>
          <a:ln/>
        </p:spPr>
        <p:txBody>
          <a:bodyPr wrap="square" lIns="0" tIns="0" rIns="0" bIns="0" rtlCol="0" anchor="t"/>
          <a:lstStyle/>
          <a:p>
            <a:pPr algn="l" indent="0" marL="0">
              <a:lnSpc>
                <a:spcPts val="1800"/>
              </a:lnSpc>
              <a:buNone/>
            </a:pPr>
            <a:r>
              <a:rPr lang="en-US" sz="1800" dirty="0">
                <a:solidFill>
                  <a:srgbClr val="1A1F2E"/>
                </a:solidFill>
                <a:latin typeface="Georgia" pitchFamily="34" charset="0"/>
                <a:ea typeface="Georgia" pitchFamily="34" charset="-122"/>
                <a:cs typeface="Georgia" pitchFamily="34" charset="-120"/>
              </a:rPr>
              <a:t>SuperWhisper vs Wispr Flow</a:t>
            </a:r>
            <a:endParaRPr lang="en-US" sz="1800" dirty="0"/>
          </a:p>
        </p:txBody>
      </p:sp>
      <p:sp>
        <p:nvSpPr>
          <p:cNvPr id="4" name="Text 2"/>
          <p:cNvSpPr/>
          <p:nvPr/>
        </p:nvSpPr>
        <p:spPr>
          <a:xfrm>
            <a:off x="381000" y="900113"/>
            <a:ext cx="8382000" cy="285750"/>
          </a:xfrm>
          <a:prstGeom prst="rect">
            <a:avLst/>
          </a:prstGeom>
          <a:solidFill>
            <a:srgbClr val="1A1F2E"/>
          </a:solidFill>
          <a:ln/>
        </p:spPr>
        <p:txBody>
          <a:bodyPr wrap="square" rtlCol="0" anchor="ctr"/>
          <a:lstStyle/>
          <a:p>
            <a:pPr indent="0" marL="0">
              <a:buNone/>
            </a:pPr>
            <a:endParaRPr lang="en-US" dirty="0"/>
          </a:p>
        </p:txBody>
      </p:sp>
      <p:sp>
        <p:nvSpPr>
          <p:cNvPr id="5" name="Text 3"/>
          <p:cNvSpPr/>
          <p:nvPr/>
        </p:nvSpPr>
        <p:spPr>
          <a:xfrm>
            <a:off x="514350" y="976312"/>
            <a:ext cx="1752737" cy="133350"/>
          </a:xfrm>
          <a:prstGeom prst="rect">
            <a:avLst/>
          </a:prstGeom>
          <a:noFill/>
          <a:ln/>
        </p:spPr>
        <p:txBody>
          <a:bodyPr wrap="square" lIns="0" tIns="0" rIns="0" bIns="0" rtlCol="0" anchor="t"/>
          <a:lstStyle/>
          <a:p>
            <a:pPr algn="l" indent="0" marL="0">
              <a:lnSpc>
                <a:spcPts val="1050"/>
              </a:lnSpc>
              <a:buNone/>
            </a:pPr>
            <a:r>
              <a:rPr lang="en-US" sz="750" b="1" dirty="0">
                <a:solidFill>
                  <a:srgbClr val="FFFFFF"/>
                </a:solidFill>
                <a:latin typeface="Arial" pitchFamily="34" charset="0"/>
                <a:ea typeface="Arial" pitchFamily="34" charset="-122"/>
                <a:cs typeface="Arial" pitchFamily="34" charset="-120"/>
              </a:rPr>
              <a:t>Feature</a:t>
            </a:r>
            <a:endParaRPr lang="en-US" sz="750" dirty="0"/>
          </a:p>
        </p:txBody>
      </p:sp>
      <p:sp>
        <p:nvSpPr>
          <p:cNvPr id="6" name="Text 4"/>
          <p:cNvSpPr/>
          <p:nvPr/>
        </p:nvSpPr>
        <p:spPr>
          <a:xfrm>
            <a:off x="2354659" y="976312"/>
            <a:ext cx="3106987" cy="133350"/>
          </a:xfrm>
          <a:prstGeom prst="rect">
            <a:avLst/>
          </a:prstGeom>
          <a:noFill/>
          <a:ln/>
        </p:spPr>
        <p:txBody>
          <a:bodyPr wrap="square" lIns="0" tIns="0" rIns="0" bIns="0" rtlCol="0" anchor="t"/>
          <a:lstStyle/>
          <a:p>
            <a:pPr algn="ctr" indent="0" marL="0">
              <a:lnSpc>
                <a:spcPts val="1050"/>
              </a:lnSpc>
              <a:buNone/>
            </a:pPr>
            <a:r>
              <a:rPr lang="en-US" sz="750" b="1" dirty="0">
                <a:solidFill>
                  <a:srgbClr val="C9A227"/>
                </a:solidFill>
                <a:latin typeface="Arial" pitchFamily="34" charset="0"/>
                <a:ea typeface="Arial" pitchFamily="34" charset="-122"/>
                <a:cs typeface="Arial" pitchFamily="34" charset="-120"/>
              </a:rPr>
              <a:t>SuperWhisper</a:t>
            </a:r>
            <a:endParaRPr lang="en-US" sz="750" dirty="0"/>
          </a:p>
        </p:txBody>
      </p:sp>
      <p:sp>
        <p:nvSpPr>
          <p:cNvPr id="7" name="Text 5"/>
          <p:cNvSpPr/>
          <p:nvPr/>
        </p:nvSpPr>
        <p:spPr>
          <a:xfrm>
            <a:off x="5553124" y="976312"/>
            <a:ext cx="3106987" cy="133350"/>
          </a:xfrm>
          <a:prstGeom prst="rect">
            <a:avLst/>
          </a:prstGeom>
          <a:noFill/>
          <a:ln/>
        </p:spPr>
        <p:txBody>
          <a:bodyPr wrap="square" lIns="0" tIns="0" rIns="0" bIns="0" rtlCol="0" anchor="t"/>
          <a:lstStyle/>
          <a:p>
            <a:pPr algn="ctr" indent="0" marL="0">
              <a:lnSpc>
                <a:spcPts val="1050"/>
              </a:lnSpc>
              <a:buNone/>
            </a:pPr>
            <a:r>
              <a:rPr lang="en-US" sz="750" b="1" dirty="0">
                <a:solidFill>
                  <a:srgbClr val="C9A227"/>
                </a:solidFill>
                <a:latin typeface="Arial" pitchFamily="34" charset="0"/>
                <a:ea typeface="Arial" pitchFamily="34" charset="-122"/>
                <a:cs typeface="Arial" pitchFamily="34" charset="-120"/>
              </a:rPr>
              <a:t>Wispr Flow</a:t>
            </a:r>
            <a:endParaRPr lang="en-US" sz="750" dirty="0"/>
          </a:p>
        </p:txBody>
      </p:sp>
      <p:sp>
        <p:nvSpPr>
          <p:cNvPr id="8" name="Text 6"/>
          <p:cNvSpPr/>
          <p:nvPr/>
        </p:nvSpPr>
        <p:spPr>
          <a:xfrm>
            <a:off x="381000" y="1357313"/>
            <a:ext cx="8382000" cy="257175"/>
          </a:xfrm>
          <a:prstGeom prst="rect">
            <a:avLst/>
          </a:prstGeom>
          <a:solidFill>
            <a:srgbClr val="FFFFFF"/>
          </a:solidFill>
          <a:ln/>
        </p:spPr>
        <p:txBody>
          <a:bodyPr wrap="square" rtlCol="0" anchor="ctr"/>
          <a:lstStyle/>
          <a:p>
            <a:pPr indent="0" marL="0">
              <a:buNone/>
            </a:pPr>
            <a:endParaRPr lang="en-US" dirty="0"/>
          </a:p>
        </p:txBody>
      </p:sp>
      <p:sp>
        <p:nvSpPr>
          <p:cNvPr id="9" name="Shape 7"/>
          <p:cNvSpPr/>
          <p:nvPr/>
        </p:nvSpPr>
        <p:spPr>
          <a:xfrm>
            <a:off x="381000" y="1609725"/>
            <a:ext cx="8382000" cy="0"/>
          </a:xfrm>
          <a:prstGeom prst="line">
            <a:avLst/>
          </a:prstGeom>
          <a:noFill/>
          <a:ln w="9525">
            <a:solidFill>
              <a:srgbClr val="E4E7ED"/>
            </a:solidFill>
            <a:prstDash val="solid"/>
          </a:ln>
        </p:spPr>
      </p:sp>
      <p:sp>
        <p:nvSpPr>
          <p:cNvPr id="10" name="Text 8"/>
          <p:cNvSpPr/>
          <p:nvPr/>
        </p:nvSpPr>
        <p:spPr>
          <a:xfrm>
            <a:off x="514350" y="1414463"/>
            <a:ext cx="1752737" cy="133350"/>
          </a:xfrm>
          <a:prstGeom prst="rect">
            <a:avLst/>
          </a:prstGeom>
          <a:noFill/>
          <a:ln/>
        </p:spPr>
        <p:txBody>
          <a:bodyPr wrap="square" lIns="0" tIns="0" rIns="0" bIns="0" rtlCol="0" anchor="t"/>
          <a:lstStyle/>
          <a:p>
            <a:pPr algn="l" indent="0" marL="0">
              <a:lnSpc>
                <a:spcPts val="1050"/>
              </a:lnSpc>
              <a:buNone/>
            </a:pPr>
            <a:r>
              <a:rPr lang="en-US" sz="750" dirty="0">
                <a:solidFill>
                  <a:srgbClr val="1A1F2E"/>
                </a:solidFill>
                <a:latin typeface="Arial" pitchFamily="34" charset="0"/>
                <a:ea typeface="Arial" pitchFamily="34" charset="-122"/>
                <a:cs typeface="Arial" pitchFamily="34" charset="-120"/>
              </a:rPr>
              <a:t>Platforms</a:t>
            </a:r>
            <a:endParaRPr lang="en-US" sz="750" dirty="0"/>
          </a:p>
        </p:txBody>
      </p:sp>
      <p:sp>
        <p:nvSpPr>
          <p:cNvPr id="11" name="Text 9"/>
          <p:cNvSpPr/>
          <p:nvPr/>
        </p:nvSpPr>
        <p:spPr>
          <a:xfrm>
            <a:off x="2354659" y="1414463"/>
            <a:ext cx="3106987" cy="133350"/>
          </a:xfrm>
          <a:prstGeom prst="rect">
            <a:avLst/>
          </a:prstGeom>
          <a:noFill/>
          <a:ln/>
        </p:spPr>
        <p:txBody>
          <a:bodyPr wrap="square" lIns="0" tIns="0" rIns="0" bIns="0" rtlCol="0" anchor="t"/>
          <a:lstStyle/>
          <a:p>
            <a:pPr algn="ctr" indent="0" marL="0">
              <a:lnSpc>
                <a:spcPts val="1050"/>
              </a:lnSpc>
              <a:buNone/>
            </a:pPr>
            <a:r>
              <a:rPr lang="en-US" sz="750" dirty="0">
                <a:solidFill>
                  <a:srgbClr val="059669"/>
                </a:solidFill>
                <a:latin typeface="Arial" pitchFamily="34" charset="0"/>
                <a:ea typeface="Arial" pitchFamily="34" charset="-122"/>
                <a:cs typeface="Arial" pitchFamily="34" charset="-120"/>
              </a:rPr>
              <a:t>Mac, Windows, iOS</a:t>
            </a:r>
            <a:endParaRPr lang="en-US" sz="750" dirty="0"/>
          </a:p>
        </p:txBody>
      </p:sp>
      <p:sp>
        <p:nvSpPr>
          <p:cNvPr id="12" name="Text 10"/>
          <p:cNvSpPr/>
          <p:nvPr/>
        </p:nvSpPr>
        <p:spPr>
          <a:xfrm>
            <a:off x="5553124" y="1414463"/>
            <a:ext cx="3106987" cy="133350"/>
          </a:xfrm>
          <a:prstGeom prst="rect">
            <a:avLst/>
          </a:prstGeom>
          <a:noFill/>
          <a:ln/>
        </p:spPr>
        <p:txBody>
          <a:bodyPr wrap="square" lIns="0" tIns="0" rIns="0" bIns="0" rtlCol="0" anchor="t"/>
          <a:lstStyle/>
          <a:p>
            <a:pPr algn="ctr" indent="0" marL="0">
              <a:lnSpc>
                <a:spcPts val="1050"/>
              </a:lnSpc>
              <a:buNone/>
            </a:pPr>
            <a:r>
              <a:rPr lang="en-US" sz="750" dirty="0">
                <a:solidFill>
                  <a:srgbClr val="059669"/>
                </a:solidFill>
                <a:latin typeface="Arial" pitchFamily="34" charset="0"/>
                <a:ea typeface="Arial" pitchFamily="34" charset="-122"/>
                <a:cs typeface="Arial" pitchFamily="34" charset="-120"/>
              </a:rPr>
              <a:t>Mac, Windows, iOS, Web</a:t>
            </a:r>
            <a:endParaRPr lang="en-US" sz="750" dirty="0"/>
          </a:p>
        </p:txBody>
      </p:sp>
      <p:sp>
        <p:nvSpPr>
          <p:cNvPr id="13" name="Text 11"/>
          <p:cNvSpPr/>
          <p:nvPr/>
        </p:nvSpPr>
        <p:spPr>
          <a:xfrm>
            <a:off x="381000" y="1766888"/>
            <a:ext cx="8382000" cy="257175"/>
          </a:xfrm>
          <a:prstGeom prst="rect">
            <a:avLst/>
          </a:prstGeom>
          <a:solidFill>
            <a:srgbClr val="FEF3C7"/>
          </a:solidFill>
          <a:ln/>
        </p:spPr>
        <p:txBody>
          <a:bodyPr wrap="square" rtlCol="0" anchor="ctr"/>
          <a:lstStyle/>
          <a:p>
            <a:pPr indent="0" marL="0">
              <a:buNone/>
            </a:pPr>
            <a:endParaRPr lang="en-US" dirty="0"/>
          </a:p>
        </p:txBody>
      </p:sp>
      <p:sp>
        <p:nvSpPr>
          <p:cNvPr id="14" name="Shape 12"/>
          <p:cNvSpPr/>
          <p:nvPr/>
        </p:nvSpPr>
        <p:spPr>
          <a:xfrm>
            <a:off x="381000" y="2019300"/>
            <a:ext cx="8382000" cy="0"/>
          </a:xfrm>
          <a:prstGeom prst="line">
            <a:avLst/>
          </a:prstGeom>
          <a:noFill/>
          <a:ln w="9525">
            <a:solidFill>
              <a:srgbClr val="E4E7ED"/>
            </a:solidFill>
            <a:prstDash val="solid"/>
          </a:ln>
        </p:spPr>
      </p:sp>
      <p:sp>
        <p:nvSpPr>
          <p:cNvPr id="15" name="Text 13"/>
          <p:cNvSpPr/>
          <p:nvPr/>
        </p:nvSpPr>
        <p:spPr>
          <a:xfrm>
            <a:off x="514350" y="1824038"/>
            <a:ext cx="1752737" cy="133350"/>
          </a:xfrm>
          <a:prstGeom prst="rect">
            <a:avLst/>
          </a:prstGeom>
          <a:noFill/>
          <a:ln/>
        </p:spPr>
        <p:txBody>
          <a:bodyPr wrap="square" lIns="0" tIns="0" rIns="0" bIns="0" rtlCol="0" anchor="t"/>
          <a:lstStyle/>
          <a:p>
            <a:pPr algn="l" indent="0" marL="0">
              <a:lnSpc>
                <a:spcPts val="1050"/>
              </a:lnSpc>
              <a:buNone/>
            </a:pPr>
            <a:r>
              <a:rPr lang="en-US" sz="750" b="1" dirty="0">
                <a:solidFill>
                  <a:srgbClr val="1A1F2E"/>
                </a:solidFill>
                <a:latin typeface="Arial" pitchFamily="34" charset="0"/>
                <a:ea typeface="Arial" pitchFamily="34" charset="-122"/>
                <a:cs typeface="Arial" pitchFamily="34" charset="-120"/>
              </a:rPr>
              <a:t>Processing</a:t>
            </a:r>
            <a:endParaRPr lang="en-US" sz="750" dirty="0"/>
          </a:p>
        </p:txBody>
      </p:sp>
      <p:sp>
        <p:nvSpPr>
          <p:cNvPr id="16" name="Text 14"/>
          <p:cNvSpPr/>
          <p:nvPr/>
        </p:nvSpPr>
        <p:spPr>
          <a:xfrm>
            <a:off x="2354659" y="1824038"/>
            <a:ext cx="3106987" cy="133350"/>
          </a:xfrm>
          <a:prstGeom prst="rect">
            <a:avLst/>
          </a:prstGeom>
          <a:noFill/>
          <a:ln/>
        </p:spPr>
        <p:txBody>
          <a:bodyPr wrap="square" lIns="0" tIns="0" rIns="0" bIns="0" rtlCol="0" anchor="t"/>
          <a:lstStyle/>
          <a:p>
            <a:pPr algn="ctr" indent="0" marL="0">
              <a:lnSpc>
                <a:spcPts val="1050"/>
              </a:lnSpc>
              <a:buNone/>
            </a:pPr>
            <a:r>
              <a:rPr lang="en-US" sz="750" b="1" dirty="0">
                <a:solidFill>
                  <a:srgbClr val="059669"/>
                </a:solidFill>
                <a:latin typeface="Arial" pitchFamily="34" charset="0"/>
                <a:ea typeface="Arial" pitchFamily="34" charset="-122"/>
                <a:cs typeface="Arial" pitchFamily="34" charset="-120"/>
              </a:rPr>
              <a:t>Local OR Cloud (you choose)</a:t>
            </a:r>
            <a:endParaRPr lang="en-US" sz="750" dirty="0"/>
          </a:p>
        </p:txBody>
      </p:sp>
      <p:sp>
        <p:nvSpPr>
          <p:cNvPr id="17" name="Text 15"/>
          <p:cNvSpPr/>
          <p:nvPr/>
        </p:nvSpPr>
        <p:spPr>
          <a:xfrm>
            <a:off x="5553124" y="1824038"/>
            <a:ext cx="3106987" cy="133350"/>
          </a:xfrm>
          <a:prstGeom prst="rect">
            <a:avLst/>
          </a:prstGeom>
          <a:noFill/>
          <a:ln/>
        </p:spPr>
        <p:txBody>
          <a:bodyPr wrap="square" lIns="0" tIns="0" rIns="0" bIns="0" rtlCol="0" anchor="t"/>
          <a:lstStyle/>
          <a:p>
            <a:pPr algn="ctr" indent="0" marL="0">
              <a:lnSpc>
                <a:spcPts val="1050"/>
              </a:lnSpc>
              <a:buNone/>
            </a:pPr>
            <a:r>
              <a:rPr lang="en-US" sz="750" b="1" dirty="0">
                <a:solidFill>
                  <a:srgbClr val="DC2626"/>
                </a:solidFill>
                <a:latin typeface="Arial" pitchFamily="34" charset="0"/>
                <a:ea typeface="Arial" pitchFamily="34" charset="-122"/>
                <a:cs typeface="Arial" pitchFamily="34" charset="-120"/>
              </a:rPr>
              <a:t>Cloud Only (no local option)</a:t>
            </a:r>
            <a:endParaRPr lang="en-US" sz="750" dirty="0"/>
          </a:p>
        </p:txBody>
      </p:sp>
      <p:sp>
        <p:nvSpPr>
          <p:cNvPr id="18" name="Text 16"/>
          <p:cNvSpPr/>
          <p:nvPr/>
        </p:nvSpPr>
        <p:spPr>
          <a:xfrm>
            <a:off x="381000" y="2176463"/>
            <a:ext cx="8382000" cy="257175"/>
          </a:xfrm>
          <a:prstGeom prst="rect">
            <a:avLst/>
          </a:prstGeom>
          <a:solidFill>
            <a:srgbClr val="FFFFFF"/>
          </a:solidFill>
          <a:ln/>
        </p:spPr>
        <p:txBody>
          <a:bodyPr wrap="square" rtlCol="0" anchor="ctr"/>
          <a:lstStyle/>
          <a:p>
            <a:pPr indent="0" marL="0">
              <a:buNone/>
            </a:pPr>
            <a:endParaRPr lang="en-US" dirty="0"/>
          </a:p>
        </p:txBody>
      </p:sp>
      <p:sp>
        <p:nvSpPr>
          <p:cNvPr id="19" name="Shape 17"/>
          <p:cNvSpPr/>
          <p:nvPr/>
        </p:nvSpPr>
        <p:spPr>
          <a:xfrm>
            <a:off x="381000" y="2428875"/>
            <a:ext cx="8382000" cy="0"/>
          </a:xfrm>
          <a:prstGeom prst="line">
            <a:avLst/>
          </a:prstGeom>
          <a:noFill/>
          <a:ln w="9525">
            <a:solidFill>
              <a:srgbClr val="E4E7ED"/>
            </a:solidFill>
            <a:prstDash val="solid"/>
          </a:ln>
        </p:spPr>
      </p:sp>
      <p:sp>
        <p:nvSpPr>
          <p:cNvPr id="20" name="Text 18"/>
          <p:cNvSpPr/>
          <p:nvPr/>
        </p:nvSpPr>
        <p:spPr>
          <a:xfrm>
            <a:off x="514350" y="2233613"/>
            <a:ext cx="1752737" cy="133350"/>
          </a:xfrm>
          <a:prstGeom prst="rect">
            <a:avLst/>
          </a:prstGeom>
          <a:noFill/>
          <a:ln/>
        </p:spPr>
        <p:txBody>
          <a:bodyPr wrap="square" lIns="0" tIns="0" rIns="0" bIns="0" rtlCol="0" anchor="t"/>
          <a:lstStyle/>
          <a:p>
            <a:pPr algn="l" indent="0" marL="0">
              <a:lnSpc>
                <a:spcPts val="1050"/>
              </a:lnSpc>
              <a:buNone/>
            </a:pPr>
            <a:r>
              <a:rPr lang="en-US" sz="750" dirty="0">
                <a:solidFill>
                  <a:srgbClr val="1A1F2E"/>
                </a:solidFill>
                <a:latin typeface="Arial" pitchFamily="34" charset="0"/>
                <a:ea typeface="Arial" pitchFamily="34" charset="-122"/>
                <a:cs typeface="Arial" pitchFamily="34" charset="-120"/>
              </a:rPr>
              <a:t>Privacy Mode</a:t>
            </a:r>
            <a:endParaRPr lang="en-US" sz="750" dirty="0"/>
          </a:p>
        </p:txBody>
      </p:sp>
      <p:sp>
        <p:nvSpPr>
          <p:cNvPr id="21" name="Text 19"/>
          <p:cNvSpPr/>
          <p:nvPr/>
        </p:nvSpPr>
        <p:spPr>
          <a:xfrm>
            <a:off x="2354659" y="2233613"/>
            <a:ext cx="3106987" cy="133350"/>
          </a:xfrm>
          <a:prstGeom prst="rect">
            <a:avLst/>
          </a:prstGeom>
          <a:noFill/>
          <a:ln/>
        </p:spPr>
        <p:txBody>
          <a:bodyPr wrap="square" lIns="0" tIns="0" rIns="0" bIns="0" rtlCol="0" anchor="t"/>
          <a:lstStyle/>
          <a:p>
            <a:pPr algn="ctr" indent="0" marL="0">
              <a:lnSpc>
                <a:spcPts val="1050"/>
              </a:lnSpc>
              <a:buNone/>
            </a:pPr>
            <a:r>
              <a:rPr lang="en-US" sz="750" dirty="0">
                <a:solidFill>
                  <a:srgbClr val="059669"/>
                </a:solidFill>
                <a:latin typeface="Arial" pitchFamily="34" charset="0"/>
                <a:ea typeface="Arial" pitchFamily="34" charset="-122"/>
                <a:cs typeface="Arial" pitchFamily="34" charset="-120"/>
              </a:rPr>
              <a:t>Audio stays on device (local)</a:t>
            </a:r>
            <a:endParaRPr lang="en-US" sz="750" dirty="0"/>
          </a:p>
        </p:txBody>
      </p:sp>
      <p:sp>
        <p:nvSpPr>
          <p:cNvPr id="22" name="Text 20"/>
          <p:cNvSpPr/>
          <p:nvPr/>
        </p:nvSpPr>
        <p:spPr>
          <a:xfrm>
            <a:off x="5553124" y="2233613"/>
            <a:ext cx="3106987" cy="133350"/>
          </a:xfrm>
          <a:prstGeom prst="rect">
            <a:avLst/>
          </a:prstGeom>
          <a:noFill/>
          <a:ln/>
        </p:spPr>
        <p:txBody>
          <a:bodyPr wrap="square" lIns="0" tIns="0" rIns="0" bIns="0" rtlCol="0" anchor="t"/>
          <a:lstStyle/>
          <a:p>
            <a:pPr algn="ctr" indent="0" marL="0">
              <a:lnSpc>
                <a:spcPts val="1050"/>
              </a:lnSpc>
              <a:buNone/>
            </a:pPr>
            <a:r>
              <a:rPr lang="en-US" sz="750" dirty="0">
                <a:solidFill>
                  <a:srgbClr val="F59E0B"/>
                </a:solidFill>
                <a:latin typeface="Arial" pitchFamily="34" charset="0"/>
                <a:ea typeface="Arial" pitchFamily="34" charset="-122"/>
                <a:cs typeface="Arial" pitchFamily="34" charset="-120"/>
              </a:rPr>
              <a:t>Zero retention (still cloud)</a:t>
            </a:r>
            <a:endParaRPr lang="en-US" sz="750" dirty="0"/>
          </a:p>
        </p:txBody>
      </p:sp>
      <p:sp>
        <p:nvSpPr>
          <p:cNvPr id="23" name="Text 21"/>
          <p:cNvSpPr/>
          <p:nvPr/>
        </p:nvSpPr>
        <p:spPr>
          <a:xfrm>
            <a:off x="381000" y="2586038"/>
            <a:ext cx="8382000" cy="257175"/>
          </a:xfrm>
          <a:prstGeom prst="rect">
            <a:avLst/>
          </a:prstGeom>
          <a:solidFill>
            <a:srgbClr val="F7F8FA"/>
          </a:solidFill>
          <a:ln/>
        </p:spPr>
        <p:txBody>
          <a:bodyPr wrap="square" rtlCol="0" anchor="ctr"/>
          <a:lstStyle/>
          <a:p>
            <a:pPr indent="0" marL="0">
              <a:buNone/>
            </a:pPr>
            <a:endParaRPr lang="en-US" dirty="0"/>
          </a:p>
        </p:txBody>
      </p:sp>
      <p:sp>
        <p:nvSpPr>
          <p:cNvPr id="24" name="Shape 22"/>
          <p:cNvSpPr/>
          <p:nvPr/>
        </p:nvSpPr>
        <p:spPr>
          <a:xfrm>
            <a:off x="381000" y="2838450"/>
            <a:ext cx="8382000" cy="0"/>
          </a:xfrm>
          <a:prstGeom prst="line">
            <a:avLst/>
          </a:prstGeom>
          <a:noFill/>
          <a:ln w="9525">
            <a:solidFill>
              <a:srgbClr val="E4E7ED"/>
            </a:solidFill>
            <a:prstDash val="solid"/>
          </a:ln>
        </p:spPr>
      </p:sp>
      <p:sp>
        <p:nvSpPr>
          <p:cNvPr id="25" name="Text 23"/>
          <p:cNvSpPr/>
          <p:nvPr/>
        </p:nvSpPr>
        <p:spPr>
          <a:xfrm>
            <a:off x="514350" y="2643188"/>
            <a:ext cx="1752737" cy="133350"/>
          </a:xfrm>
          <a:prstGeom prst="rect">
            <a:avLst/>
          </a:prstGeom>
          <a:noFill/>
          <a:ln/>
        </p:spPr>
        <p:txBody>
          <a:bodyPr wrap="square" lIns="0" tIns="0" rIns="0" bIns="0" rtlCol="0" anchor="t"/>
          <a:lstStyle/>
          <a:p>
            <a:pPr algn="l" indent="0" marL="0">
              <a:lnSpc>
                <a:spcPts val="1050"/>
              </a:lnSpc>
              <a:buNone/>
            </a:pPr>
            <a:r>
              <a:rPr lang="en-US" sz="750" dirty="0">
                <a:solidFill>
                  <a:srgbClr val="1A1F2E"/>
                </a:solidFill>
                <a:latin typeface="Arial" pitchFamily="34" charset="0"/>
                <a:ea typeface="Arial" pitchFamily="34" charset="-122"/>
                <a:cs typeface="Arial" pitchFamily="34" charset="-120"/>
              </a:rPr>
              <a:t>Cost</a:t>
            </a:r>
            <a:endParaRPr lang="en-US" sz="750" dirty="0"/>
          </a:p>
        </p:txBody>
      </p:sp>
      <p:sp>
        <p:nvSpPr>
          <p:cNvPr id="26" name="Text 24"/>
          <p:cNvSpPr/>
          <p:nvPr/>
        </p:nvSpPr>
        <p:spPr>
          <a:xfrm>
            <a:off x="2354659" y="2643188"/>
            <a:ext cx="3106987" cy="133350"/>
          </a:xfrm>
          <a:prstGeom prst="rect">
            <a:avLst/>
          </a:prstGeom>
          <a:noFill/>
          <a:ln/>
        </p:spPr>
        <p:txBody>
          <a:bodyPr wrap="square" lIns="0" tIns="0" rIns="0" bIns="0" rtlCol="0" anchor="t"/>
          <a:lstStyle/>
          <a:p>
            <a:pPr algn="ctr" indent="0" marL="0">
              <a:lnSpc>
                <a:spcPts val="1050"/>
              </a:lnSpc>
              <a:buNone/>
            </a:pPr>
            <a:r>
              <a:rPr lang="en-US" sz="750" dirty="0">
                <a:solidFill>
                  <a:srgbClr val="6B7280"/>
                </a:solidFill>
                <a:latin typeface="Arial" pitchFamily="34" charset="0"/>
                <a:ea typeface="Arial" pitchFamily="34" charset="-122"/>
                <a:cs typeface="Arial" pitchFamily="34" charset="-120"/>
              </a:rPr>
              <a:t>Free / $8.49/mo / $249 lifetime</a:t>
            </a:r>
            <a:endParaRPr lang="en-US" sz="750" dirty="0"/>
          </a:p>
        </p:txBody>
      </p:sp>
      <p:sp>
        <p:nvSpPr>
          <p:cNvPr id="27" name="Text 25"/>
          <p:cNvSpPr/>
          <p:nvPr/>
        </p:nvSpPr>
        <p:spPr>
          <a:xfrm>
            <a:off x="5553124" y="2643188"/>
            <a:ext cx="3106987" cy="133350"/>
          </a:xfrm>
          <a:prstGeom prst="rect">
            <a:avLst/>
          </a:prstGeom>
          <a:noFill/>
          <a:ln/>
        </p:spPr>
        <p:txBody>
          <a:bodyPr wrap="square" lIns="0" tIns="0" rIns="0" bIns="0" rtlCol="0" anchor="t"/>
          <a:lstStyle/>
          <a:p>
            <a:pPr algn="ctr" indent="0" marL="0">
              <a:lnSpc>
                <a:spcPts val="1050"/>
              </a:lnSpc>
              <a:buNone/>
            </a:pPr>
            <a:r>
              <a:rPr lang="en-US" sz="750" dirty="0">
                <a:solidFill>
                  <a:srgbClr val="6B7280"/>
                </a:solidFill>
                <a:latin typeface="Arial" pitchFamily="34" charset="0"/>
                <a:ea typeface="Arial" pitchFamily="34" charset="-122"/>
                <a:cs typeface="Arial" pitchFamily="34" charset="-120"/>
              </a:rPr>
              <a:t>Free (2K words/wk) / $15/mo Pro</a:t>
            </a:r>
            <a:endParaRPr lang="en-US" sz="750" dirty="0"/>
          </a:p>
        </p:txBody>
      </p:sp>
      <p:sp>
        <p:nvSpPr>
          <p:cNvPr id="28" name="Text 26"/>
          <p:cNvSpPr/>
          <p:nvPr/>
        </p:nvSpPr>
        <p:spPr>
          <a:xfrm>
            <a:off x="381000" y="2995613"/>
            <a:ext cx="8382000" cy="257175"/>
          </a:xfrm>
          <a:prstGeom prst="rect">
            <a:avLst/>
          </a:prstGeom>
          <a:solidFill>
            <a:srgbClr val="FFFFFF"/>
          </a:solidFill>
          <a:ln/>
        </p:spPr>
        <p:txBody>
          <a:bodyPr wrap="square" rtlCol="0" anchor="ctr"/>
          <a:lstStyle/>
          <a:p>
            <a:pPr indent="0" marL="0">
              <a:buNone/>
            </a:pPr>
            <a:endParaRPr lang="en-US" dirty="0"/>
          </a:p>
        </p:txBody>
      </p:sp>
      <p:sp>
        <p:nvSpPr>
          <p:cNvPr id="29" name="Shape 27"/>
          <p:cNvSpPr/>
          <p:nvPr/>
        </p:nvSpPr>
        <p:spPr>
          <a:xfrm>
            <a:off x="381000" y="3248025"/>
            <a:ext cx="8382000" cy="0"/>
          </a:xfrm>
          <a:prstGeom prst="line">
            <a:avLst/>
          </a:prstGeom>
          <a:noFill/>
          <a:ln w="9525">
            <a:solidFill>
              <a:srgbClr val="E4E7ED"/>
            </a:solidFill>
            <a:prstDash val="solid"/>
          </a:ln>
        </p:spPr>
      </p:sp>
      <p:sp>
        <p:nvSpPr>
          <p:cNvPr id="30" name="Text 28"/>
          <p:cNvSpPr/>
          <p:nvPr/>
        </p:nvSpPr>
        <p:spPr>
          <a:xfrm>
            <a:off x="514350" y="3052763"/>
            <a:ext cx="1752737" cy="133350"/>
          </a:xfrm>
          <a:prstGeom prst="rect">
            <a:avLst/>
          </a:prstGeom>
          <a:noFill/>
          <a:ln/>
        </p:spPr>
        <p:txBody>
          <a:bodyPr wrap="square" lIns="0" tIns="0" rIns="0" bIns="0" rtlCol="0" anchor="t"/>
          <a:lstStyle/>
          <a:p>
            <a:pPr algn="l" indent="0" marL="0">
              <a:lnSpc>
                <a:spcPts val="1050"/>
              </a:lnSpc>
              <a:buNone/>
            </a:pPr>
            <a:r>
              <a:rPr lang="en-US" sz="750" dirty="0">
                <a:solidFill>
                  <a:srgbClr val="1A1F2E"/>
                </a:solidFill>
                <a:latin typeface="Arial" pitchFamily="34" charset="0"/>
                <a:ea typeface="Arial" pitchFamily="34" charset="-122"/>
                <a:cs typeface="Arial" pitchFamily="34" charset="-120"/>
              </a:rPr>
              <a:t>Context Awareness</a:t>
            </a:r>
            <a:endParaRPr lang="en-US" sz="750" dirty="0"/>
          </a:p>
        </p:txBody>
      </p:sp>
      <p:sp>
        <p:nvSpPr>
          <p:cNvPr id="31" name="Text 29"/>
          <p:cNvSpPr/>
          <p:nvPr/>
        </p:nvSpPr>
        <p:spPr>
          <a:xfrm>
            <a:off x="2354659" y="3052763"/>
            <a:ext cx="3106987" cy="133350"/>
          </a:xfrm>
          <a:prstGeom prst="rect">
            <a:avLst/>
          </a:prstGeom>
          <a:noFill/>
          <a:ln/>
        </p:spPr>
        <p:txBody>
          <a:bodyPr wrap="square" lIns="0" tIns="0" rIns="0" bIns="0" rtlCol="0" anchor="t"/>
          <a:lstStyle/>
          <a:p>
            <a:pPr algn="ctr" indent="0" marL="0">
              <a:lnSpc>
                <a:spcPts val="1050"/>
              </a:lnSpc>
              <a:buNone/>
            </a:pPr>
            <a:r>
              <a:rPr lang="en-US" sz="750" dirty="0">
                <a:solidFill>
                  <a:srgbClr val="6B7280"/>
                </a:solidFill>
                <a:latin typeface="Arial" pitchFamily="34" charset="0"/>
                <a:ea typeface="Arial" pitchFamily="34" charset="-122"/>
                <a:cs typeface="Arial" pitchFamily="34" charset="-120"/>
              </a:rPr>
              <a:t>Super Mode (adapts to app)</a:t>
            </a:r>
            <a:endParaRPr lang="en-US" sz="750" dirty="0"/>
          </a:p>
        </p:txBody>
      </p:sp>
      <p:sp>
        <p:nvSpPr>
          <p:cNvPr id="32" name="Text 30"/>
          <p:cNvSpPr/>
          <p:nvPr/>
        </p:nvSpPr>
        <p:spPr>
          <a:xfrm>
            <a:off x="5553124" y="3052763"/>
            <a:ext cx="3106987" cy="133350"/>
          </a:xfrm>
          <a:prstGeom prst="rect">
            <a:avLst/>
          </a:prstGeom>
          <a:noFill/>
          <a:ln/>
        </p:spPr>
        <p:txBody>
          <a:bodyPr wrap="square" lIns="0" tIns="0" rIns="0" bIns="0" rtlCol="0" anchor="t"/>
          <a:lstStyle/>
          <a:p>
            <a:pPr algn="ctr" indent="0" marL="0">
              <a:lnSpc>
                <a:spcPts val="1050"/>
              </a:lnSpc>
              <a:buNone/>
            </a:pPr>
            <a:r>
              <a:rPr lang="en-US" sz="750" b="1" dirty="0">
                <a:solidFill>
                  <a:srgbClr val="059669"/>
                </a:solidFill>
                <a:latin typeface="Arial" pitchFamily="34" charset="0"/>
                <a:ea typeface="Arial" pitchFamily="34" charset="-122"/>
                <a:cs typeface="Arial" pitchFamily="34" charset="-120"/>
              </a:rPr>
              <a:t>Advanced (auto-detects app)</a:t>
            </a:r>
            <a:endParaRPr lang="en-US" sz="750" dirty="0"/>
          </a:p>
        </p:txBody>
      </p:sp>
      <p:sp>
        <p:nvSpPr>
          <p:cNvPr id="33" name="Text 31"/>
          <p:cNvSpPr/>
          <p:nvPr/>
        </p:nvSpPr>
        <p:spPr>
          <a:xfrm>
            <a:off x="381000" y="3405188"/>
            <a:ext cx="8382000" cy="257175"/>
          </a:xfrm>
          <a:prstGeom prst="rect">
            <a:avLst/>
          </a:prstGeom>
          <a:solidFill>
            <a:srgbClr val="F7F8FA"/>
          </a:solidFill>
          <a:ln/>
        </p:spPr>
        <p:txBody>
          <a:bodyPr wrap="square" rtlCol="0" anchor="ctr"/>
          <a:lstStyle/>
          <a:p>
            <a:pPr indent="0" marL="0">
              <a:buNone/>
            </a:pPr>
            <a:endParaRPr lang="en-US" dirty="0"/>
          </a:p>
        </p:txBody>
      </p:sp>
      <p:sp>
        <p:nvSpPr>
          <p:cNvPr id="34" name="Shape 32"/>
          <p:cNvSpPr/>
          <p:nvPr/>
        </p:nvSpPr>
        <p:spPr>
          <a:xfrm>
            <a:off x="381000" y="3657600"/>
            <a:ext cx="8382000" cy="0"/>
          </a:xfrm>
          <a:prstGeom prst="line">
            <a:avLst/>
          </a:prstGeom>
          <a:noFill/>
          <a:ln w="9525">
            <a:solidFill>
              <a:srgbClr val="E4E7ED"/>
            </a:solidFill>
            <a:prstDash val="solid"/>
          </a:ln>
        </p:spPr>
      </p:sp>
      <p:sp>
        <p:nvSpPr>
          <p:cNvPr id="35" name="Text 33"/>
          <p:cNvSpPr/>
          <p:nvPr/>
        </p:nvSpPr>
        <p:spPr>
          <a:xfrm>
            <a:off x="514350" y="3462338"/>
            <a:ext cx="1752737" cy="133350"/>
          </a:xfrm>
          <a:prstGeom prst="rect">
            <a:avLst/>
          </a:prstGeom>
          <a:noFill/>
          <a:ln/>
        </p:spPr>
        <p:txBody>
          <a:bodyPr wrap="square" lIns="0" tIns="0" rIns="0" bIns="0" rtlCol="0" anchor="t"/>
          <a:lstStyle/>
          <a:p>
            <a:pPr algn="l" indent="0" marL="0">
              <a:lnSpc>
                <a:spcPts val="1050"/>
              </a:lnSpc>
              <a:buNone/>
            </a:pPr>
            <a:r>
              <a:rPr lang="en-US" sz="750" dirty="0">
                <a:solidFill>
                  <a:srgbClr val="1A1F2E"/>
                </a:solidFill>
                <a:latin typeface="Arial" pitchFamily="34" charset="0"/>
                <a:ea typeface="Arial" pitchFamily="34" charset="-122"/>
                <a:cs typeface="Arial" pitchFamily="34" charset="-120"/>
              </a:rPr>
              <a:t>Works Offline?</a:t>
            </a:r>
            <a:endParaRPr lang="en-US" sz="750" dirty="0"/>
          </a:p>
        </p:txBody>
      </p:sp>
      <p:sp>
        <p:nvSpPr>
          <p:cNvPr id="36" name="Text 34"/>
          <p:cNvSpPr/>
          <p:nvPr/>
        </p:nvSpPr>
        <p:spPr>
          <a:xfrm>
            <a:off x="2354659" y="3462338"/>
            <a:ext cx="3106987" cy="133350"/>
          </a:xfrm>
          <a:prstGeom prst="rect">
            <a:avLst/>
          </a:prstGeom>
          <a:noFill/>
          <a:ln/>
        </p:spPr>
        <p:txBody>
          <a:bodyPr wrap="square" lIns="0" tIns="0" rIns="0" bIns="0" rtlCol="0" anchor="t"/>
          <a:lstStyle/>
          <a:p>
            <a:pPr algn="ctr" indent="0" marL="0">
              <a:lnSpc>
                <a:spcPts val="1050"/>
              </a:lnSpc>
              <a:buNone/>
            </a:pPr>
            <a:r>
              <a:rPr lang="en-US" sz="750" b="1" dirty="0">
                <a:solidFill>
                  <a:srgbClr val="059669"/>
                </a:solidFill>
                <a:latin typeface="Arial" pitchFamily="34" charset="0"/>
                <a:ea typeface="Arial" pitchFamily="34" charset="-122"/>
                <a:cs typeface="Arial" pitchFamily="34" charset="-120"/>
              </a:rPr>
              <a:t>Yes (with local models)</a:t>
            </a:r>
            <a:endParaRPr lang="en-US" sz="750" dirty="0"/>
          </a:p>
        </p:txBody>
      </p:sp>
      <p:sp>
        <p:nvSpPr>
          <p:cNvPr id="37" name="Text 35"/>
          <p:cNvSpPr/>
          <p:nvPr/>
        </p:nvSpPr>
        <p:spPr>
          <a:xfrm>
            <a:off x="5553124" y="3462338"/>
            <a:ext cx="3106987" cy="133350"/>
          </a:xfrm>
          <a:prstGeom prst="rect">
            <a:avLst/>
          </a:prstGeom>
          <a:noFill/>
          <a:ln/>
        </p:spPr>
        <p:txBody>
          <a:bodyPr wrap="square" lIns="0" tIns="0" rIns="0" bIns="0" rtlCol="0" anchor="t"/>
          <a:lstStyle/>
          <a:p>
            <a:pPr algn="ctr" indent="0" marL="0">
              <a:lnSpc>
                <a:spcPts val="1050"/>
              </a:lnSpc>
              <a:buNone/>
            </a:pPr>
            <a:r>
              <a:rPr lang="en-US" sz="750" b="1" dirty="0">
                <a:solidFill>
                  <a:srgbClr val="DC2626"/>
                </a:solidFill>
                <a:latin typeface="Arial" pitchFamily="34" charset="0"/>
                <a:ea typeface="Arial" pitchFamily="34" charset="-122"/>
                <a:cs typeface="Arial" pitchFamily="34" charset="-120"/>
              </a:rPr>
              <a:t>No (requires internet)</a:t>
            </a:r>
            <a:endParaRPr lang="en-US" sz="750" dirty="0"/>
          </a:p>
        </p:txBody>
      </p:sp>
      <p:sp>
        <p:nvSpPr>
          <p:cNvPr id="38" name="Text 36"/>
          <p:cNvSpPr/>
          <p:nvPr/>
        </p:nvSpPr>
        <p:spPr>
          <a:xfrm>
            <a:off x="381000" y="3814763"/>
            <a:ext cx="8382000" cy="247650"/>
          </a:xfrm>
          <a:prstGeom prst="rect">
            <a:avLst/>
          </a:prstGeom>
          <a:solidFill>
            <a:srgbClr val="FFFFFF"/>
          </a:solidFill>
          <a:ln/>
        </p:spPr>
        <p:txBody>
          <a:bodyPr wrap="square" rtlCol="0" anchor="ctr"/>
          <a:lstStyle/>
          <a:p>
            <a:pPr indent="0" marL="0">
              <a:buNone/>
            </a:pPr>
            <a:endParaRPr lang="en-US" dirty="0"/>
          </a:p>
        </p:txBody>
      </p:sp>
      <p:sp>
        <p:nvSpPr>
          <p:cNvPr id="39" name="Text 37"/>
          <p:cNvSpPr/>
          <p:nvPr/>
        </p:nvSpPr>
        <p:spPr>
          <a:xfrm>
            <a:off x="514350" y="3871913"/>
            <a:ext cx="1752737" cy="133350"/>
          </a:xfrm>
          <a:prstGeom prst="rect">
            <a:avLst/>
          </a:prstGeom>
          <a:noFill/>
          <a:ln/>
        </p:spPr>
        <p:txBody>
          <a:bodyPr wrap="square" lIns="0" tIns="0" rIns="0" bIns="0" rtlCol="0" anchor="t"/>
          <a:lstStyle/>
          <a:p>
            <a:pPr algn="l" indent="0" marL="0">
              <a:lnSpc>
                <a:spcPts val="1050"/>
              </a:lnSpc>
              <a:buNone/>
            </a:pPr>
            <a:r>
              <a:rPr lang="en-US" sz="750" dirty="0">
                <a:solidFill>
                  <a:srgbClr val="1A1F2E"/>
                </a:solidFill>
                <a:latin typeface="Arial" pitchFamily="34" charset="0"/>
                <a:ea typeface="Arial" pitchFamily="34" charset="-122"/>
                <a:cs typeface="Arial" pitchFamily="34" charset="-120"/>
              </a:rPr>
              <a:t>Best For</a:t>
            </a:r>
            <a:endParaRPr lang="en-US" sz="750" dirty="0"/>
          </a:p>
        </p:txBody>
      </p:sp>
      <p:sp>
        <p:nvSpPr>
          <p:cNvPr id="40" name="Text 38"/>
          <p:cNvSpPr/>
          <p:nvPr/>
        </p:nvSpPr>
        <p:spPr>
          <a:xfrm>
            <a:off x="2354659" y="3871913"/>
            <a:ext cx="3106987" cy="133350"/>
          </a:xfrm>
          <a:prstGeom prst="rect">
            <a:avLst/>
          </a:prstGeom>
          <a:noFill/>
          <a:ln/>
        </p:spPr>
        <p:txBody>
          <a:bodyPr wrap="square" lIns="0" tIns="0" rIns="0" bIns="0" rtlCol="0" anchor="t"/>
          <a:lstStyle/>
          <a:p>
            <a:pPr algn="ctr" indent="0" marL="0">
              <a:lnSpc>
                <a:spcPts val="1050"/>
              </a:lnSpc>
              <a:buNone/>
            </a:pPr>
            <a:r>
              <a:rPr lang="en-US" sz="750" b="1" dirty="0">
                <a:solidFill>
                  <a:srgbClr val="1A1F2E"/>
                </a:solidFill>
                <a:latin typeface="Arial" pitchFamily="34" charset="0"/>
                <a:ea typeface="Arial" pitchFamily="34" charset="-122"/>
                <a:cs typeface="Arial" pitchFamily="34" charset="-120"/>
              </a:rPr>
              <a:t>PHI/govt, offline, privacy-first</a:t>
            </a:r>
            <a:endParaRPr lang="en-US" sz="750" dirty="0"/>
          </a:p>
        </p:txBody>
      </p:sp>
      <p:sp>
        <p:nvSpPr>
          <p:cNvPr id="41" name="Text 39"/>
          <p:cNvSpPr/>
          <p:nvPr/>
        </p:nvSpPr>
        <p:spPr>
          <a:xfrm>
            <a:off x="5553124" y="3871913"/>
            <a:ext cx="3106987" cy="133350"/>
          </a:xfrm>
          <a:prstGeom prst="rect">
            <a:avLst/>
          </a:prstGeom>
          <a:noFill/>
          <a:ln/>
        </p:spPr>
        <p:txBody>
          <a:bodyPr wrap="square" lIns="0" tIns="0" rIns="0" bIns="0" rtlCol="0" anchor="t"/>
          <a:lstStyle/>
          <a:p>
            <a:pPr algn="ctr" indent="0" marL="0">
              <a:lnSpc>
                <a:spcPts val="1050"/>
              </a:lnSpc>
              <a:buNone/>
            </a:pPr>
            <a:r>
              <a:rPr lang="en-US" sz="750" b="1" dirty="0">
                <a:solidFill>
                  <a:srgbClr val="1A1F2E"/>
                </a:solidFill>
                <a:latin typeface="Arial" pitchFamily="34" charset="0"/>
                <a:ea typeface="Arial" pitchFamily="34" charset="-122"/>
                <a:cs typeface="Arial" pitchFamily="34" charset="-120"/>
              </a:rPr>
              <a:t>Power users, context-switching</a:t>
            </a:r>
            <a:endParaRPr lang="en-US" sz="750" dirty="0"/>
          </a:p>
        </p:txBody>
      </p:sp>
      <p:sp>
        <p:nvSpPr>
          <p:cNvPr id="42" name="Text 40"/>
          <p:cNvSpPr/>
          <p:nvPr/>
        </p:nvSpPr>
        <p:spPr>
          <a:xfrm>
            <a:off x="381000" y="4329113"/>
            <a:ext cx="4133850" cy="657225"/>
          </a:xfrm>
          <a:prstGeom prst="rect">
            <a:avLst/>
          </a:prstGeom>
          <a:solidFill>
            <a:srgbClr val="059669"/>
          </a:solidFill>
          <a:ln/>
        </p:spPr>
        <p:txBody>
          <a:bodyPr wrap="square" rtlCol="0" anchor="ctr"/>
          <a:lstStyle/>
          <a:p>
            <a:pPr indent="0" marL="0">
              <a:buNone/>
            </a:pPr>
            <a:endParaRPr lang="en-US" dirty="0"/>
          </a:p>
        </p:txBody>
      </p:sp>
      <p:sp>
        <p:nvSpPr>
          <p:cNvPr id="43" name="Text 41"/>
          <p:cNvSpPr/>
          <p:nvPr/>
        </p:nvSpPr>
        <p:spPr>
          <a:xfrm>
            <a:off x="495300" y="4443413"/>
            <a:ext cx="3983355"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FFFFFF"/>
                </a:solidFill>
                <a:latin typeface="Arial" pitchFamily="34" charset="0"/>
                <a:ea typeface="Arial" pitchFamily="34" charset="-122"/>
                <a:cs typeface="Arial" pitchFamily="34" charset="-120"/>
              </a:rPr>
              <a:t>CHOOSE SUPERWHISPER IF:</a:t>
            </a:r>
            <a:endParaRPr lang="en-US" sz="750" dirty="0"/>
          </a:p>
        </p:txBody>
      </p:sp>
      <p:sp>
        <p:nvSpPr>
          <p:cNvPr id="44" name="Text 42"/>
          <p:cNvSpPr/>
          <p:nvPr/>
        </p:nvSpPr>
        <p:spPr>
          <a:xfrm>
            <a:off x="495300" y="4614863"/>
            <a:ext cx="3983355" cy="257175"/>
          </a:xfrm>
          <a:prstGeom prst="rect">
            <a:avLst/>
          </a:prstGeom>
          <a:noFill/>
          <a:ln/>
        </p:spPr>
        <p:txBody>
          <a:bodyPr wrap="square" lIns="0" tIns="0" rIns="0" bIns="0" rtlCol="0" anchor="t"/>
          <a:lstStyle/>
          <a:p>
            <a:pPr algn="l" indent="0" marL="0">
              <a:lnSpc>
                <a:spcPts val="1013"/>
              </a:lnSpc>
              <a:buNone/>
            </a:pPr>
            <a:r>
              <a:rPr lang="en-US" sz="675" dirty="0">
                <a:solidFill>
                  <a:srgbClr val="FFFFFF">
                    <a:alpha val="90000"/>
                  </a:srgbClr>
                </a:solidFill>
                <a:latin typeface="Arial" pitchFamily="34" charset="0"/>
                <a:ea typeface="Arial" pitchFamily="34" charset="-122"/>
                <a:cs typeface="Arial" pitchFamily="34" charset="-120"/>
              </a:rPr>
              <a:t>You handle PHI or sensitive data, need true local processing, want offline capability, or prefer lifetime pricing.</a:t>
            </a:r>
            <a:endParaRPr lang="en-US" sz="675" dirty="0"/>
          </a:p>
        </p:txBody>
      </p:sp>
      <p:sp>
        <p:nvSpPr>
          <p:cNvPr id="45" name="Text 43"/>
          <p:cNvSpPr/>
          <p:nvPr/>
        </p:nvSpPr>
        <p:spPr>
          <a:xfrm>
            <a:off x="4629150" y="4329113"/>
            <a:ext cx="4133850" cy="657225"/>
          </a:xfrm>
          <a:prstGeom prst="rect">
            <a:avLst/>
          </a:prstGeom>
          <a:solidFill>
            <a:srgbClr val="1A1F2E"/>
          </a:solidFill>
          <a:ln/>
        </p:spPr>
        <p:txBody>
          <a:bodyPr wrap="square" rtlCol="0" anchor="ctr"/>
          <a:lstStyle/>
          <a:p>
            <a:pPr indent="0" marL="0">
              <a:buNone/>
            </a:pPr>
            <a:endParaRPr lang="en-US" dirty="0"/>
          </a:p>
        </p:txBody>
      </p:sp>
      <p:sp>
        <p:nvSpPr>
          <p:cNvPr id="46" name="Text 44"/>
          <p:cNvSpPr/>
          <p:nvPr/>
        </p:nvSpPr>
        <p:spPr>
          <a:xfrm>
            <a:off x="4743450" y="4443413"/>
            <a:ext cx="3983355"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C9A227"/>
                </a:solidFill>
                <a:latin typeface="Arial" pitchFamily="34" charset="0"/>
                <a:ea typeface="Arial" pitchFamily="34" charset="-122"/>
                <a:cs typeface="Arial" pitchFamily="34" charset="-120"/>
              </a:rPr>
              <a:t>CHOOSE WISPR FLOW IF:</a:t>
            </a:r>
            <a:endParaRPr lang="en-US" sz="750" dirty="0"/>
          </a:p>
        </p:txBody>
      </p:sp>
      <p:sp>
        <p:nvSpPr>
          <p:cNvPr id="47" name="Text 45"/>
          <p:cNvSpPr/>
          <p:nvPr/>
        </p:nvSpPr>
        <p:spPr>
          <a:xfrm>
            <a:off x="4743450" y="4614863"/>
            <a:ext cx="3983355" cy="257175"/>
          </a:xfrm>
          <a:prstGeom prst="rect">
            <a:avLst/>
          </a:prstGeom>
          <a:noFill/>
          <a:ln/>
        </p:spPr>
        <p:txBody>
          <a:bodyPr wrap="square" lIns="0" tIns="0" rIns="0" bIns="0" rtlCol="0" anchor="t"/>
          <a:lstStyle/>
          <a:p>
            <a:pPr algn="l" indent="0" marL="0">
              <a:lnSpc>
                <a:spcPts val="1013"/>
              </a:lnSpc>
              <a:buNone/>
            </a:pPr>
            <a:r>
              <a:rPr lang="en-US" sz="675" dirty="0">
                <a:solidFill>
                  <a:srgbClr val="FFFFFF">
                    <a:alpha val="80000"/>
                  </a:srgbClr>
                </a:solidFill>
                <a:latin typeface="Arial" pitchFamily="34" charset="0"/>
                <a:ea typeface="Arial" pitchFamily="34" charset="-122"/>
                <a:cs typeface="Arial" pitchFamily="34" charset="-120"/>
              </a:rPr>
              <a:t>You want best-in-class context formatting, always have internet, and can accept cloud processing with zero retention.</a:t>
            </a:r>
            <a:endParaRPr lang="en-US" sz="675"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457200" y="228600"/>
            <a:ext cx="8394192" cy="146596"/>
          </a:xfrm>
          <a:prstGeom prst="rect">
            <a:avLst/>
          </a:prstGeom>
          <a:noFill/>
          <a:ln/>
        </p:spPr>
        <p:txBody>
          <a:bodyPr wrap="square" lIns="0" tIns="0" rIns="0" bIns="0" rtlCol="0" anchor="t"/>
          <a:lstStyle/>
          <a:p>
            <a:pPr algn="l" indent="0" marL="0">
              <a:lnSpc>
                <a:spcPts val="1155"/>
              </a:lnSpc>
              <a:spcAft>
                <a:spcPts val="450"/>
              </a:spcAft>
              <a:buNone/>
            </a:pPr>
            <a:r>
              <a:rPr lang="en-US" sz="825" dirty="0">
                <a:solidFill>
                  <a:srgbClr val="C9A227"/>
                </a:solidFill>
                <a:latin typeface="Arial" pitchFamily="34" charset="0"/>
                <a:ea typeface="Arial" pitchFamily="34" charset="-122"/>
                <a:cs typeface="Arial" pitchFamily="34" charset="-120"/>
              </a:rPr>
              <a:t>COMPLETE COMPARISON</a:t>
            </a:r>
            <a:endParaRPr lang="en-US" sz="825" dirty="0"/>
          </a:p>
        </p:txBody>
      </p:sp>
      <p:sp>
        <p:nvSpPr>
          <p:cNvPr id="3" name="Text 1"/>
          <p:cNvSpPr/>
          <p:nvPr/>
        </p:nvSpPr>
        <p:spPr>
          <a:xfrm>
            <a:off x="457200" y="432346"/>
            <a:ext cx="4206812" cy="247650"/>
          </a:xfrm>
          <a:prstGeom prst="rect">
            <a:avLst/>
          </a:prstGeom>
          <a:noFill/>
          <a:ln/>
        </p:spPr>
        <p:txBody>
          <a:bodyPr wrap="square" lIns="0" tIns="0" rIns="0" bIns="0" rtlCol="0" anchor="t"/>
          <a:lstStyle/>
          <a:p>
            <a:pPr algn="l" indent="0" marL="0">
              <a:lnSpc>
                <a:spcPts val="1950"/>
              </a:lnSpc>
              <a:buNone/>
            </a:pPr>
            <a:r>
              <a:rPr lang="en-US" sz="1950" dirty="0">
                <a:solidFill>
                  <a:srgbClr val="1A1F2E"/>
                </a:solidFill>
                <a:latin typeface="Georgia" pitchFamily="34" charset="0"/>
                <a:ea typeface="Georgia" pitchFamily="34" charset="-122"/>
                <a:cs typeface="Georgia" pitchFamily="34" charset="-120"/>
              </a:rPr>
              <a:t>Voice Tool Comparison Matrix</a:t>
            </a:r>
            <a:endParaRPr lang="en-US" sz="1950" dirty="0"/>
          </a:p>
        </p:txBody>
      </p:sp>
      <p:sp>
        <p:nvSpPr>
          <p:cNvPr id="4" name="Text 2"/>
          <p:cNvSpPr/>
          <p:nvPr/>
        </p:nvSpPr>
        <p:spPr>
          <a:xfrm>
            <a:off x="457200" y="718096"/>
            <a:ext cx="8394192" cy="146596"/>
          </a:xfrm>
          <a:prstGeom prst="rect">
            <a:avLst/>
          </a:prstGeom>
          <a:noFill/>
          <a:ln/>
        </p:spPr>
        <p:txBody>
          <a:bodyPr wrap="square" lIns="0" tIns="0" rIns="0" bIns="0" rtlCol="0" anchor="t"/>
          <a:lstStyle/>
          <a:p>
            <a:pPr algn="l" indent="0" marL="0">
              <a:lnSpc>
                <a:spcPts val="1155"/>
              </a:lnSpc>
              <a:spcBef>
                <a:spcPts val="300"/>
              </a:spcBef>
              <a:buNone/>
            </a:pPr>
            <a:r>
              <a:rPr lang="en-US" sz="825" dirty="0">
                <a:solidFill>
                  <a:srgbClr val="6B7280"/>
                </a:solidFill>
                <a:latin typeface="Arial" pitchFamily="34" charset="0"/>
                <a:ea typeface="Arial" pitchFamily="34" charset="-122"/>
                <a:cs typeface="Arial" pitchFamily="34" charset="-120"/>
              </a:rPr>
              <a:t>Including native OS dictation options</a:t>
            </a:r>
            <a:endParaRPr lang="en-US" sz="825" dirty="0"/>
          </a:p>
        </p:txBody>
      </p:sp>
      <p:sp>
        <p:nvSpPr>
          <p:cNvPr id="5" name="Text 3"/>
          <p:cNvSpPr/>
          <p:nvPr/>
        </p:nvSpPr>
        <p:spPr>
          <a:xfrm>
            <a:off x="457200" y="1323975"/>
            <a:ext cx="8229600" cy="285750"/>
          </a:xfrm>
          <a:prstGeom prst="rect">
            <a:avLst/>
          </a:prstGeom>
          <a:solidFill>
            <a:srgbClr val="1A1F2E"/>
          </a:solidFill>
          <a:ln/>
        </p:spPr>
        <p:txBody>
          <a:bodyPr wrap="square" rtlCol="0" anchor="ctr"/>
          <a:lstStyle/>
          <a:p>
            <a:pPr indent="0" marL="0">
              <a:buNone/>
            </a:pPr>
            <a:endParaRPr lang="en-US" dirty="0"/>
          </a:p>
        </p:txBody>
      </p:sp>
      <p:sp>
        <p:nvSpPr>
          <p:cNvPr id="6" name="Text 4"/>
          <p:cNvSpPr/>
          <p:nvPr/>
        </p:nvSpPr>
        <p:spPr>
          <a:xfrm>
            <a:off x="571500" y="1400175"/>
            <a:ext cx="1301118" cy="133350"/>
          </a:xfrm>
          <a:prstGeom prst="rect">
            <a:avLst/>
          </a:prstGeom>
          <a:noFill/>
          <a:ln/>
        </p:spPr>
        <p:txBody>
          <a:bodyPr wrap="square" lIns="0" tIns="0" rIns="0" bIns="0" rtlCol="0" anchor="t"/>
          <a:lstStyle/>
          <a:p>
            <a:pPr algn="l" indent="0" marL="0">
              <a:lnSpc>
                <a:spcPts val="1050"/>
              </a:lnSpc>
              <a:buNone/>
            </a:pPr>
            <a:r>
              <a:rPr lang="en-US" sz="750" b="1" dirty="0">
                <a:solidFill>
                  <a:srgbClr val="FFFFFF"/>
                </a:solidFill>
                <a:latin typeface="Arial" pitchFamily="34" charset="0"/>
                <a:ea typeface="Arial" pitchFamily="34" charset="-122"/>
                <a:cs typeface="Arial" pitchFamily="34" charset="-120"/>
              </a:rPr>
              <a:t>Tool</a:t>
            </a:r>
            <a:endParaRPr lang="en-US" sz="750" dirty="0"/>
          </a:p>
        </p:txBody>
      </p:sp>
      <p:sp>
        <p:nvSpPr>
          <p:cNvPr id="7" name="Text 5"/>
          <p:cNvSpPr/>
          <p:nvPr/>
        </p:nvSpPr>
        <p:spPr>
          <a:xfrm>
            <a:off x="1989585" y="1400175"/>
            <a:ext cx="1011930" cy="133350"/>
          </a:xfrm>
          <a:prstGeom prst="rect">
            <a:avLst/>
          </a:prstGeom>
          <a:noFill/>
          <a:ln/>
        </p:spPr>
        <p:txBody>
          <a:bodyPr wrap="square" lIns="0" tIns="0" rIns="0" bIns="0" rtlCol="0" anchor="t"/>
          <a:lstStyle/>
          <a:p>
            <a:pPr algn="ctr" indent="0" marL="0">
              <a:lnSpc>
                <a:spcPts val="1050"/>
              </a:lnSpc>
              <a:buNone/>
            </a:pPr>
            <a:r>
              <a:rPr lang="en-US" sz="750" b="1" dirty="0">
                <a:solidFill>
                  <a:srgbClr val="C9A227"/>
                </a:solidFill>
                <a:latin typeface="Arial" pitchFamily="34" charset="0"/>
                <a:ea typeface="Arial" pitchFamily="34" charset="-122"/>
                <a:cs typeface="Arial" pitchFamily="34" charset="-120"/>
              </a:rPr>
              <a:t>Platform</a:t>
            </a:r>
            <a:endParaRPr lang="en-US" sz="750" dirty="0"/>
          </a:p>
        </p:txBody>
      </p:sp>
      <p:sp>
        <p:nvSpPr>
          <p:cNvPr id="8" name="Text 6"/>
          <p:cNvSpPr/>
          <p:nvPr/>
        </p:nvSpPr>
        <p:spPr>
          <a:xfrm>
            <a:off x="3134073" y="1400175"/>
            <a:ext cx="1011930" cy="133350"/>
          </a:xfrm>
          <a:prstGeom prst="rect">
            <a:avLst/>
          </a:prstGeom>
          <a:noFill/>
          <a:ln/>
        </p:spPr>
        <p:txBody>
          <a:bodyPr wrap="square" lIns="0" tIns="0" rIns="0" bIns="0" rtlCol="0" anchor="t"/>
          <a:lstStyle/>
          <a:p>
            <a:pPr algn="ctr" indent="0" marL="0">
              <a:lnSpc>
                <a:spcPts val="1050"/>
              </a:lnSpc>
              <a:buNone/>
            </a:pPr>
            <a:r>
              <a:rPr lang="en-US" sz="750" b="1" dirty="0">
                <a:solidFill>
                  <a:srgbClr val="C9A227"/>
                </a:solidFill>
                <a:latin typeface="Arial" pitchFamily="34" charset="0"/>
                <a:ea typeface="Arial" pitchFamily="34" charset="-122"/>
                <a:cs typeface="Arial" pitchFamily="34" charset="-120"/>
              </a:rPr>
              <a:t>Processing</a:t>
            </a:r>
            <a:endParaRPr lang="en-US" sz="750" dirty="0"/>
          </a:p>
        </p:txBody>
      </p:sp>
      <p:sp>
        <p:nvSpPr>
          <p:cNvPr id="9" name="Text 7"/>
          <p:cNvSpPr/>
          <p:nvPr/>
        </p:nvSpPr>
        <p:spPr>
          <a:xfrm>
            <a:off x="4279978" y="1400175"/>
            <a:ext cx="867412" cy="133350"/>
          </a:xfrm>
          <a:prstGeom prst="rect">
            <a:avLst/>
          </a:prstGeom>
          <a:noFill/>
          <a:ln/>
        </p:spPr>
        <p:txBody>
          <a:bodyPr wrap="square" lIns="0" tIns="0" rIns="0" bIns="0" rtlCol="0" anchor="t"/>
          <a:lstStyle/>
          <a:p>
            <a:pPr algn="ctr" indent="0" marL="0">
              <a:lnSpc>
                <a:spcPts val="1050"/>
              </a:lnSpc>
              <a:buNone/>
            </a:pPr>
            <a:r>
              <a:rPr lang="en-US" sz="750" b="1" dirty="0">
                <a:solidFill>
                  <a:srgbClr val="C9A227"/>
                </a:solidFill>
                <a:latin typeface="Arial" pitchFamily="34" charset="0"/>
                <a:ea typeface="Arial" pitchFamily="34" charset="-122"/>
                <a:cs typeface="Arial" pitchFamily="34" charset="-120"/>
              </a:rPr>
              <a:t>Cost</a:t>
            </a:r>
            <a:endParaRPr lang="en-US" sz="750" dirty="0"/>
          </a:p>
        </p:txBody>
      </p:sp>
      <p:sp>
        <p:nvSpPr>
          <p:cNvPr id="10" name="Text 8"/>
          <p:cNvSpPr/>
          <p:nvPr/>
        </p:nvSpPr>
        <p:spPr>
          <a:xfrm>
            <a:off x="5281365" y="1400175"/>
            <a:ext cx="1011930" cy="133350"/>
          </a:xfrm>
          <a:prstGeom prst="rect">
            <a:avLst/>
          </a:prstGeom>
          <a:noFill/>
          <a:ln/>
        </p:spPr>
        <p:txBody>
          <a:bodyPr wrap="square" lIns="0" tIns="0" rIns="0" bIns="0" rtlCol="0" anchor="t"/>
          <a:lstStyle/>
          <a:p>
            <a:pPr algn="ctr" indent="0" marL="0">
              <a:lnSpc>
                <a:spcPts val="1050"/>
              </a:lnSpc>
              <a:buNone/>
            </a:pPr>
            <a:r>
              <a:rPr lang="en-US" sz="750" b="1" dirty="0">
                <a:solidFill>
                  <a:srgbClr val="C9A227"/>
                </a:solidFill>
                <a:latin typeface="Arial" pitchFamily="34" charset="0"/>
                <a:ea typeface="Arial" pitchFamily="34" charset="-122"/>
                <a:cs typeface="Arial" pitchFamily="34" charset="-120"/>
              </a:rPr>
              <a:t>Accuracy</a:t>
            </a:r>
            <a:endParaRPr lang="en-US" sz="750" dirty="0"/>
          </a:p>
        </p:txBody>
      </p:sp>
      <p:sp>
        <p:nvSpPr>
          <p:cNvPr id="11" name="Text 9"/>
          <p:cNvSpPr/>
          <p:nvPr/>
        </p:nvSpPr>
        <p:spPr>
          <a:xfrm>
            <a:off x="6425854" y="1400175"/>
            <a:ext cx="1011930" cy="133350"/>
          </a:xfrm>
          <a:prstGeom prst="rect">
            <a:avLst/>
          </a:prstGeom>
          <a:noFill/>
          <a:ln/>
        </p:spPr>
        <p:txBody>
          <a:bodyPr wrap="square" lIns="0" tIns="0" rIns="0" bIns="0" rtlCol="0" anchor="t"/>
          <a:lstStyle/>
          <a:p>
            <a:pPr algn="ctr" indent="0" marL="0">
              <a:lnSpc>
                <a:spcPts val="1050"/>
              </a:lnSpc>
              <a:buNone/>
            </a:pPr>
            <a:r>
              <a:rPr lang="en-US" sz="750" b="1" dirty="0">
                <a:solidFill>
                  <a:srgbClr val="C9A227"/>
                </a:solidFill>
                <a:latin typeface="Arial" pitchFamily="34" charset="0"/>
                <a:ea typeface="Arial" pitchFamily="34" charset="-122"/>
                <a:cs typeface="Arial" pitchFamily="34" charset="-120"/>
              </a:rPr>
              <a:t>Features</a:t>
            </a:r>
            <a:endParaRPr lang="en-US" sz="750" dirty="0"/>
          </a:p>
        </p:txBody>
      </p:sp>
      <p:sp>
        <p:nvSpPr>
          <p:cNvPr id="12" name="Text 10"/>
          <p:cNvSpPr/>
          <p:nvPr/>
        </p:nvSpPr>
        <p:spPr>
          <a:xfrm>
            <a:off x="7570342" y="1400175"/>
            <a:ext cx="1011930" cy="133350"/>
          </a:xfrm>
          <a:prstGeom prst="rect">
            <a:avLst/>
          </a:prstGeom>
          <a:noFill/>
          <a:ln/>
        </p:spPr>
        <p:txBody>
          <a:bodyPr wrap="square" lIns="0" tIns="0" rIns="0" bIns="0" rtlCol="0" anchor="t"/>
          <a:lstStyle/>
          <a:p>
            <a:pPr algn="ctr" indent="0" marL="0">
              <a:lnSpc>
                <a:spcPts val="1050"/>
              </a:lnSpc>
              <a:buNone/>
            </a:pPr>
            <a:r>
              <a:rPr lang="en-US" sz="750" b="1" dirty="0">
                <a:solidFill>
                  <a:srgbClr val="C9A227"/>
                </a:solidFill>
                <a:latin typeface="Arial" pitchFamily="34" charset="0"/>
                <a:ea typeface="Arial" pitchFamily="34" charset="-122"/>
                <a:cs typeface="Arial" pitchFamily="34" charset="-120"/>
              </a:rPr>
              <a:t>PHI Safe</a:t>
            </a:r>
            <a:endParaRPr lang="en-US" sz="750" dirty="0"/>
          </a:p>
        </p:txBody>
      </p:sp>
      <p:sp>
        <p:nvSpPr>
          <p:cNvPr id="13" name="Text 11"/>
          <p:cNvSpPr/>
          <p:nvPr/>
        </p:nvSpPr>
        <p:spPr>
          <a:xfrm>
            <a:off x="457200" y="1781175"/>
            <a:ext cx="8229600" cy="323850"/>
          </a:xfrm>
          <a:prstGeom prst="rect">
            <a:avLst/>
          </a:prstGeom>
          <a:solidFill>
            <a:srgbClr val="DCFCE7"/>
          </a:solidFill>
          <a:ln w="19050">
            <a:solidFill>
              <a:srgbClr val="059669"/>
            </a:solidFill>
          </a:ln>
        </p:spPr>
        <p:txBody>
          <a:bodyPr wrap="square" rtlCol="0" anchor="ctr"/>
          <a:lstStyle/>
          <a:p>
            <a:pPr indent="0" marL="0">
              <a:buNone/>
            </a:pPr>
            <a:endParaRPr lang="en-US" dirty="0"/>
          </a:p>
        </p:txBody>
      </p:sp>
      <p:sp>
        <p:nvSpPr>
          <p:cNvPr id="14" name="Text 12"/>
          <p:cNvSpPr/>
          <p:nvPr/>
        </p:nvSpPr>
        <p:spPr>
          <a:xfrm>
            <a:off x="590550" y="1876425"/>
            <a:ext cx="1294135" cy="133350"/>
          </a:xfrm>
          <a:prstGeom prst="rect">
            <a:avLst/>
          </a:prstGeom>
          <a:noFill/>
          <a:ln/>
        </p:spPr>
        <p:txBody>
          <a:bodyPr wrap="square" lIns="0" tIns="0" rIns="0" bIns="0" rtlCol="0" anchor="t"/>
          <a:lstStyle/>
          <a:p>
            <a:pPr algn="l" indent="0" marL="0">
              <a:lnSpc>
                <a:spcPts val="1050"/>
              </a:lnSpc>
              <a:buNone/>
            </a:pPr>
            <a:r>
              <a:rPr lang="en-US" sz="750" b="1" dirty="0">
                <a:solidFill>
                  <a:srgbClr val="1A1F2E"/>
                </a:solidFill>
                <a:latin typeface="Arial" pitchFamily="34" charset="0"/>
                <a:ea typeface="Arial" pitchFamily="34" charset="-122"/>
                <a:cs typeface="Arial" pitchFamily="34" charset="-120"/>
              </a:rPr>
              <a:t>SuperWhisper</a:t>
            </a:r>
            <a:endParaRPr lang="en-US" sz="750" dirty="0"/>
          </a:p>
        </p:txBody>
      </p:sp>
      <p:sp>
        <p:nvSpPr>
          <p:cNvPr id="15" name="Text 13"/>
          <p:cNvSpPr/>
          <p:nvPr/>
        </p:nvSpPr>
        <p:spPr>
          <a:xfrm>
            <a:off x="2001842" y="1876425"/>
            <a:ext cx="1006465" cy="133350"/>
          </a:xfrm>
          <a:prstGeom prst="rect">
            <a:avLst/>
          </a:prstGeom>
          <a:noFill/>
          <a:ln/>
        </p:spPr>
        <p:txBody>
          <a:bodyPr wrap="square" lIns="0" tIns="0" rIns="0" bIns="0" rtlCol="0" anchor="t"/>
          <a:lstStyle/>
          <a:p>
            <a:pPr algn="ctr" indent="0" marL="0">
              <a:lnSpc>
                <a:spcPts val="1050"/>
              </a:lnSpc>
              <a:buNone/>
            </a:pPr>
            <a:r>
              <a:rPr lang="en-US" sz="750" dirty="0">
                <a:solidFill>
                  <a:srgbClr val="6B7280"/>
                </a:solidFill>
                <a:latin typeface="Arial" pitchFamily="34" charset="0"/>
                <a:ea typeface="Arial" pitchFamily="34" charset="-122"/>
                <a:cs typeface="Arial" pitchFamily="34" charset="-120"/>
              </a:rPr>
              <a:t>Mac/Win/iOS</a:t>
            </a:r>
            <a:endParaRPr lang="en-US" sz="750" dirty="0"/>
          </a:p>
        </p:txBody>
      </p:sp>
      <p:sp>
        <p:nvSpPr>
          <p:cNvPr id="16" name="Text 14"/>
          <p:cNvSpPr/>
          <p:nvPr/>
        </p:nvSpPr>
        <p:spPr>
          <a:xfrm>
            <a:off x="3140973" y="1876425"/>
            <a:ext cx="1006465" cy="133350"/>
          </a:xfrm>
          <a:prstGeom prst="rect">
            <a:avLst/>
          </a:prstGeom>
          <a:noFill/>
          <a:ln/>
        </p:spPr>
        <p:txBody>
          <a:bodyPr wrap="square" lIns="0" tIns="0" rIns="0" bIns="0" rtlCol="0" anchor="t"/>
          <a:lstStyle/>
          <a:p>
            <a:pPr algn="ctr" indent="0" marL="0">
              <a:lnSpc>
                <a:spcPts val="1050"/>
              </a:lnSpc>
              <a:buNone/>
            </a:pPr>
            <a:r>
              <a:rPr lang="en-US" sz="750" b="1" dirty="0">
                <a:solidFill>
                  <a:srgbClr val="059669"/>
                </a:solidFill>
                <a:latin typeface="Arial" pitchFamily="34" charset="0"/>
                <a:ea typeface="Arial" pitchFamily="34" charset="-122"/>
                <a:cs typeface="Arial" pitchFamily="34" charset="-120"/>
              </a:rPr>
              <a:t>Local option</a:t>
            </a:r>
            <a:endParaRPr lang="en-US" sz="750" dirty="0"/>
          </a:p>
        </p:txBody>
      </p:sp>
      <p:sp>
        <p:nvSpPr>
          <p:cNvPr id="17" name="Text 15"/>
          <p:cNvSpPr/>
          <p:nvPr/>
        </p:nvSpPr>
        <p:spPr>
          <a:xfrm>
            <a:off x="4281513" y="1876425"/>
            <a:ext cx="862706" cy="133350"/>
          </a:xfrm>
          <a:prstGeom prst="rect">
            <a:avLst/>
          </a:prstGeom>
          <a:noFill/>
          <a:ln/>
        </p:spPr>
        <p:txBody>
          <a:bodyPr wrap="square" lIns="0" tIns="0" rIns="0" bIns="0" rtlCol="0" anchor="t"/>
          <a:lstStyle/>
          <a:p>
            <a:pPr algn="ctr" indent="0" marL="0">
              <a:lnSpc>
                <a:spcPts val="1050"/>
              </a:lnSpc>
              <a:buNone/>
            </a:pPr>
            <a:r>
              <a:rPr lang="en-US" sz="750" dirty="0">
                <a:solidFill>
                  <a:srgbClr val="6B7280"/>
                </a:solidFill>
                <a:latin typeface="Arial" pitchFamily="34" charset="0"/>
                <a:ea typeface="Arial" pitchFamily="34" charset="-122"/>
                <a:cs typeface="Arial" pitchFamily="34" charset="-120"/>
              </a:rPr>
              <a:t>Free+</a:t>
            </a:r>
            <a:endParaRPr lang="en-US" sz="750" dirty="0"/>
          </a:p>
        </p:txBody>
      </p:sp>
      <p:sp>
        <p:nvSpPr>
          <p:cNvPr id="18" name="Text 16"/>
          <p:cNvSpPr/>
          <p:nvPr/>
        </p:nvSpPr>
        <p:spPr>
          <a:xfrm>
            <a:off x="5278294" y="1876425"/>
            <a:ext cx="1006465" cy="133350"/>
          </a:xfrm>
          <a:prstGeom prst="rect">
            <a:avLst/>
          </a:prstGeom>
          <a:noFill/>
          <a:ln/>
        </p:spPr>
        <p:txBody>
          <a:bodyPr wrap="square" lIns="0" tIns="0" rIns="0" bIns="0" rtlCol="0" anchor="t"/>
          <a:lstStyle/>
          <a:p>
            <a:pPr algn="ctr" indent="0" marL="0">
              <a:lnSpc>
                <a:spcPts val="1050"/>
              </a:lnSpc>
              <a:buNone/>
            </a:pPr>
            <a:r>
              <a:rPr lang="en-US" sz="750" dirty="0">
                <a:solidFill>
                  <a:srgbClr val="059669"/>
                </a:solidFill>
                <a:latin typeface="Arial" pitchFamily="34" charset="0"/>
                <a:ea typeface="Arial" pitchFamily="34" charset="-122"/>
                <a:cs typeface="Arial" pitchFamily="34" charset="-120"/>
              </a:rPr>
              <a:t>Excellent</a:t>
            </a:r>
            <a:endParaRPr lang="en-US" sz="750" dirty="0"/>
          </a:p>
        </p:txBody>
      </p:sp>
      <p:sp>
        <p:nvSpPr>
          <p:cNvPr id="19" name="Text 17"/>
          <p:cNvSpPr/>
          <p:nvPr/>
        </p:nvSpPr>
        <p:spPr>
          <a:xfrm>
            <a:off x="6417424" y="1876425"/>
            <a:ext cx="1006465" cy="133350"/>
          </a:xfrm>
          <a:prstGeom prst="rect">
            <a:avLst/>
          </a:prstGeom>
          <a:noFill/>
          <a:ln/>
        </p:spPr>
        <p:txBody>
          <a:bodyPr wrap="square" lIns="0" tIns="0" rIns="0" bIns="0" rtlCol="0" anchor="t"/>
          <a:lstStyle/>
          <a:p>
            <a:pPr algn="ctr" indent="0" marL="0">
              <a:lnSpc>
                <a:spcPts val="1050"/>
              </a:lnSpc>
              <a:buNone/>
            </a:pPr>
            <a:r>
              <a:rPr lang="en-US" sz="750" dirty="0">
                <a:solidFill>
                  <a:srgbClr val="6B7280"/>
                </a:solidFill>
                <a:latin typeface="Arial" pitchFamily="34" charset="0"/>
                <a:ea typeface="Arial" pitchFamily="34" charset="-122"/>
                <a:cs typeface="Arial" pitchFamily="34" charset="-120"/>
              </a:rPr>
              <a:t>Good</a:t>
            </a:r>
            <a:endParaRPr lang="en-US" sz="750" dirty="0"/>
          </a:p>
        </p:txBody>
      </p:sp>
      <p:sp>
        <p:nvSpPr>
          <p:cNvPr id="20" name="Text 18"/>
          <p:cNvSpPr/>
          <p:nvPr/>
        </p:nvSpPr>
        <p:spPr>
          <a:xfrm>
            <a:off x="7556555" y="1876425"/>
            <a:ext cx="1006465" cy="133350"/>
          </a:xfrm>
          <a:prstGeom prst="rect">
            <a:avLst/>
          </a:prstGeom>
          <a:noFill/>
          <a:ln/>
        </p:spPr>
        <p:txBody>
          <a:bodyPr wrap="square" lIns="0" tIns="0" rIns="0" bIns="0" rtlCol="0" anchor="t"/>
          <a:lstStyle/>
          <a:p>
            <a:pPr algn="ctr" indent="0" marL="0">
              <a:lnSpc>
                <a:spcPts val="1050"/>
              </a:lnSpc>
              <a:buNone/>
            </a:pPr>
            <a:r>
              <a:rPr lang="en-US" sz="750" b="1" dirty="0">
                <a:solidFill>
                  <a:srgbClr val="059669"/>
                </a:solidFill>
                <a:latin typeface="Arial" pitchFamily="34" charset="0"/>
                <a:ea typeface="Arial" pitchFamily="34" charset="-122"/>
                <a:cs typeface="Arial" pitchFamily="34" charset="-120"/>
              </a:rPr>
              <a:t>YES</a:t>
            </a:r>
            <a:endParaRPr lang="en-US" sz="750" dirty="0"/>
          </a:p>
        </p:txBody>
      </p:sp>
      <p:sp>
        <p:nvSpPr>
          <p:cNvPr id="21" name="Text 19"/>
          <p:cNvSpPr/>
          <p:nvPr/>
        </p:nvSpPr>
        <p:spPr>
          <a:xfrm>
            <a:off x="457200" y="2257425"/>
            <a:ext cx="8229600" cy="295275"/>
          </a:xfrm>
          <a:prstGeom prst="rect">
            <a:avLst/>
          </a:prstGeom>
          <a:solidFill>
            <a:srgbClr val="FEF3C7"/>
          </a:solidFill>
          <a:ln/>
        </p:spPr>
        <p:txBody>
          <a:bodyPr wrap="square" rtlCol="0" anchor="ctr"/>
          <a:lstStyle/>
          <a:p>
            <a:pPr indent="0" marL="0">
              <a:buNone/>
            </a:pPr>
            <a:endParaRPr lang="en-US" dirty="0"/>
          </a:p>
        </p:txBody>
      </p:sp>
      <p:sp>
        <p:nvSpPr>
          <p:cNvPr id="22" name="Shape 20"/>
          <p:cNvSpPr/>
          <p:nvPr/>
        </p:nvSpPr>
        <p:spPr>
          <a:xfrm>
            <a:off x="457200" y="2547937"/>
            <a:ext cx="8229600" cy="0"/>
          </a:xfrm>
          <a:prstGeom prst="line">
            <a:avLst/>
          </a:prstGeom>
          <a:noFill/>
          <a:ln w="9525">
            <a:solidFill>
              <a:srgbClr val="E4E7ED"/>
            </a:solidFill>
            <a:prstDash val="solid"/>
          </a:ln>
        </p:spPr>
      </p:sp>
      <p:sp>
        <p:nvSpPr>
          <p:cNvPr id="23" name="Text 21"/>
          <p:cNvSpPr/>
          <p:nvPr/>
        </p:nvSpPr>
        <p:spPr>
          <a:xfrm>
            <a:off x="571500" y="2333625"/>
            <a:ext cx="1301118" cy="133350"/>
          </a:xfrm>
          <a:prstGeom prst="rect">
            <a:avLst/>
          </a:prstGeom>
          <a:noFill/>
          <a:ln/>
        </p:spPr>
        <p:txBody>
          <a:bodyPr wrap="square" lIns="0" tIns="0" rIns="0" bIns="0" rtlCol="0" anchor="t"/>
          <a:lstStyle/>
          <a:p>
            <a:pPr algn="l" indent="0" marL="0">
              <a:lnSpc>
                <a:spcPts val="1050"/>
              </a:lnSpc>
              <a:buNone/>
            </a:pPr>
            <a:r>
              <a:rPr lang="en-US" sz="750" b="1" dirty="0">
                <a:solidFill>
                  <a:srgbClr val="1A1F2E"/>
                </a:solidFill>
                <a:latin typeface="Arial" pitchFamily="34" charset="0"/>
                <a:ea typeface="Arial" pitchFamily="34" charset="-122"/>
                <a:cs typeface="Arial" pitchFamily="34" charset="-120"/>
              </a:rPr>
              <a:t>Wispr Flow</a:t>
            </a:r>
            <a:endParaRPr lang="en-US" sz="750" dirty="0"/>
          </a:p>
        </p:txBody>
      </p:sp>
      <p:sp>
        <p:nvSpPr>
          <p:cNvPr id="24" name="Text 22"/>
          <p:cNvSpPr/>
          <p:nvPr/>
        </p:nvSpPr>
        <p:spPr>
          <a:xfrm>
            <a:off x="1989585" y="2333625"/>
            <a:ext cx="1011930" cy="133350"/>
          </a:xfrm>
          <a:prstGeom prst="rect">
            <a:avLst/>
          </a:prstGeom>
          <a:noFill/>
          <a:ln/>
        </p:spPr>
        <p:txBody>
          <a:bodyPr wrap="square" lIns="0" tIns="0" rIns="0" bIns="0" rtlCol="0" anchor="t"/>
          <a:lstStyle/>
          <a:p>
            <a:pPr algn="ctr" indent="0" marL="0">
              <a:lnSpc>
                <a:spcPts val="1050"/>
              </a:lnSpc>
              <a:buNone/>
            </a:pPr>
            <a:r>
              <a:rPr lang="en-US" sz="750" dirty="0">
                <a:solidFill>
                  <a:srgbClr val="6B7280"/>
                </a:solidFill>
                <a:latin typeface="Arial" pitchFamily="34" charset="0"/>
                <a:ea typeface="Arial" pitchFamily="34" charset="-122"/>
                <a:cs typeface="Arial" pitchFamily="34" charset="-120"/>
              </a:rPr>
              <a:t>Mac/Win/iOS</a:t>
            </a:r>
            <a:endParaRPr lang="en-US" sz="750" dirty="0"/>
          </a:p>
        </p:txBody>
      </p:sp>
      <p:sp>
        <p:nvSpPr>
          <p:cNvPr id="25" name="Text 23"/>
          <p:cNvSpPr/>
          <p:nvPr/>
        </p:nvSpPr>
        <p:spPr>
          <a:xfrm>
            <a:off x="3134073" y="2333625"/>
            <a:ext cx="1011930" cy="133350"/>
          </a:xfrm>
          <a:prstGeom prst="rect">
            <a:avLst/>
          </a:prstGeom>
          <a:noFill/>
          <a:ln/>
        </p:spPr>
        <p:txBody>
          <a:bodyPr wrap="square" lIns="0" tIns="0" rIns="0" bIns="0" rtlCol="0" anchor="t"/>
          <a:lstStyle/>
          <a:p>
            <a:pPr algn="ctr" indent="0" marL="0">
              <a:lnSpc>
                <a:spcPts val="1050"/>
              </a:lnSpc>
              <a:buNone/>
            </a:pPr>
            <a:r>
              <a:rPr lang="en-US" sz="750" b="1" dirty="0">
                <a:solidFill>
                  <a:srgbClr val="DC2626"/>
                </a:solidFill>
                <a:latin typeface="Arial" pitchFamily="34" charset="0"/>
                <a:ea typeface="Arial" pitchFamily="34" charset="-122"/>
                <a:cs typeface="Arial" pitchFamily="34" charset="-120"/>
              </a:rPr>
              <a:t>Cloud only</a:t>
            </a:r>
            <a:endParaRPr lang="en-US" sz="750" dirty="0"/>
          </a:p>
        </p:txBody>
      </p:sp>
      <p:sp>
        <p:nvSpPr>
          <p:cNvPr id="26" name="Text 24"/>
          <p:cNvSpPr/>
          <p:nvPr/>
        </p:nvSpPr>
        <p:spPr>
          <a:xfrm>
            <a:off x="4279978" y="2333625"/>
            <a:ext cx="867412" cy="133350"/>
          </a:xfrm>
          <a:prstGeom prst="rect">
            <a:avLst/>
          </a:prstGeom>
          <a:noFill/>
          <a:ln/>
        </p:spPr>
        <p:txBody>
          <a:bodyPr wrap="square" lIns="0" tIns="0" rIns="0" bIns="0" rtlCol="0" anchor="t"/>
          <a:lstStyle/>
          <a:p>
            <a:pPr algn="ctr" indent="0" marL="0">
              <a:lnSpc>
                <a:spcPts val="1050"/>
              </a:lnSpc>
              <a:buNone/>
            </a:pPr>
            <a:r>
              <a:rPr lang="en-US" sz="750" dirty="0">
                <a:solidFill>
                  <a:srgbClr val="6B7280"/>
                </a:solidFill>
                <a:latin typeface="Arial" pitchFamily="34" charset="0"/>
                <a:ea typeface="Arial" pitchFamily="34" charset="-122"/>
                <a:cs typeface="Arial" pitchFamily="34" charset="-120"/>
              </a:rPr>
              <a:t>Free/$15</a:t>
            </a:r>
            <a:endParaRPr lang="en-US" sz="750" dirty="0"/>
          </a:p>
        </p:txBody>
      </p:sp>
      <p:sp>
        <p:nvSpPr>
          <p:cNvPr id="27" name="Text 25"/>
          <p:cNvSpPr/>
          <p:nvPr/>
        </p:nvSpPr>
        <p:spPr>
          <a:xfrm>
            <a:off x="5281365" y="2333625"/>
            <a:ext cx="1011930" cy="133350"/>
          </a:xfrm>
          <a:prstGeom prst="rect">
            <a:avLst/>
          </a:prstGeom>
          <a:noFill/>
          <a:ln/>
        </p:spPr>
        <p:txBody>
          <a:bodyPr wrap="square" lIns="0" tIns="0" rIns="0" bIns="0" rtlCol="0" anchor="t"/>
          <a:lstStyle/>
          <a:p>
            <a:pPr algn="ctr" indent="0" marL="0">
              <a:lnSpc>
                <a:spcPts val="1050"/>
              </a:lnSpc>
              <a:buNone/>
            </a:pPr>
            <a:r>
              <a:rPr lang="en-US" sz="750" dirty="0">
                <a:solidFill>
                  <a:srgbClr val="059669"/>
                </a:solidFill>
                <a:latin typeface="Arial" pitchFamily="34" charset="0"/>
                <a:ea typeface="Arial" pitchFamily="34" charset="-122"/>
                <a:cs typeface="Arial" pitchFamily="34" charset="-120"/>
              </a:rPr>
              <a:t>Excellent</a:t>
            </a:r>
            <a:endParaRPr lang="en-US" sz="750" dirty="0"/>
          </a:p>
        </p:txBody>
      </p:sp>
      <p:sp>
        <p:nvSpPr>
          <p:cNvPr id="28" name="Text 26"/>
          <p:cNvSpPr/>
          <p:nvPr/>
        </p:nvSpPr>
        <p:spPr>
          <a:xfrm>
            <a:off x="6425854" y="2333625"/>
            <a:ext cx="1011930" cy="133350"/>
          </a:xfrm>
          <a:prstGeom prst="rect">
            <a:avLst/>
          </a:prstGeom>
          <a:noFill/>
          <a:ln/>
        </p:spPr>
        <p:txBody>
          <a:bodyPr wrap="square" lIns="0" tIns="0" rIns="0" bIns="0" rtlCol="0" anchor="t"/>
          <a:lstStyle/>
          <a:p>
            <a:pPr algn="ctr" indent="0" marL="0">
              <a:lnSpc>
                <a:spcPts val="1050"/>
              </a:lnSpc>
              <a:buNone/>
            </a:pPr>
            <a:r>
              <a:rPr lang="en-US" sz="750" b="1" dirty="0">
                <a:solidFill>
                  <a:srgbClr val="059669"/>
                </a:solidFill>
                <a:latin typeface="Arial" pitchFamily="34" charset="0"/>
                <a:ea typeface="Arial" pitchFamily="34" charset="-122"/>
                <a:cs typeface="Arial" pitchFamily="34" charset="-120"/>
              </a:rPr>
              <a:t>Advanced</a:t>
            </a:r>
            <a:endParaRPr lang="en-US" sz="750" dirty="0"/>
          </a:p>
        </p:txBody>
      </p:sp>
      <p:sp>
        <p:nvSpPr>
          <p:cNvPr id="29" name="Text 27"/>
          <p:cNvSpPr/>
          <p:nvPr/>
        </p:nvSpPr>
        <p:spPr>
          <a:xfrm>
            <a:off x="7570342" y="2333625"/>
            <a:ext cx="1011930" cy="133350"/>
          </a:xfrm>
          <a:prstGeom prst="rect">
            <a:avLst/>
          </a:prstGeom>
          <a:noFill/>
          <a:ln/>
        </p:spPr>
        <p:txBody>
          <a:bodyPr wrap="square" lIns="0" tIns="0" rIns="0" bIns="0" rtlCol="0" anchor="t"/>
          <a:lstStyle/>
          <a:p>
            <a:pPr algn="ctr" indent="0" marL="0">
              <a:lnSpc>
                <a:spcPts val="1050"/>
              </a:lnSpc>
              <a:buNone/>
            </a:pPr>
            <a:r>
              <a:rPr lang="en-US" sz="750" b="1" dirty="0">
                <a:solidFill>
                  <a:srgbClr val="F59E0B"/>
                </a:solidFill>
                <a:latin typeface="Arial" pitchFamily="34" charset="0"/>
                <a:ea typeface="Arial" pitchFamily="34" charset="-122"/>
                <a:cs typeface="Arial" pitchFamily="34" charset="-120"/>
              </a:rPr>
              <a:t>CAUTION*</a:t>
            </a:r>
            <a:endParaRPr lang="en-US" sz="750" dirty="0"/>
          </a:p>
        </p:txBody>
      </p:sp>
      <p:sp>
        <p:nvSpPr>
          <p:cNvPr id="30" name="Text 28"/>
          <p:cNvSpPr/>
          <p:nvPr/>
        </p:nvSpPr>
        <p:spPr>
          <a:xfrm>
            <a:off x="457200" y="2705100"/>
            <a:ext cx="8229600" cy="295275"/>
          </a:xfrm>
          <a:prstGeom prst="rect">
            <a:avLst/>
          </a:prstGeom>
          <a:solidFill>
            <a:srgbClr val="FFFFFF"/>
          </a:solidFill>
          <a:ln/>
        </p:spPr>
        <p:txBody>
          <a:bodyPr wrap="square" rtlCol="0" anchor="ctr"/>
          <a:lstStyle/>
          <a:p>
            <a:pPr indent="0" marL="0">
              <a:buNone/>
            </a:pPr>
            <a:endParaRPr lang="en-US" dirty="0"/>
          </a:p>
        </p:txBody>
      </p:sp>
      <p:sp>
        <p:nvSpPr>
          <p:cNvPr id="31" name="Shape 29"/>
          <p:cNvSpPr/>
          <p:nvPr/>
        </p:nvSpPr>
        <p:spPr>
          <a:xfrm>
            <a:off x="457200" y="2995613"/>
            <a:ext cx="8229600" cy="0"/>
          </a:xfrm>
          <a:prstGeom prst="line">
            <a:avLst/>
          </a:prstGeom>
          <a:noFill/>
          <a:ln w="9525">
            <a:solidFill>
              <a:srgbClr val="E4E7ED"/>
            </a:solidFill>
            <a:prstDash val="solid"/>
          </a:ln>
        </p:spPr>
      </p:sp>
      <p:sp>
        <p:nvSpPr>
          <p:cNvPr id="32" name="Text 30"/>
          <p:cNvSpPr/>
          <p:nvPr/>
        </p:nvSpPr>
        <p:spPr>
          <a:xfrm>
            <a:off x="571500" y="2781300"/>
            <a:ext cx="1301118" cy="133350"/>
          </a:xfrm>
          <a:prstGeom prst="rect">
            <a:avLst/>
          </a:prstGeom>
          <a:noFill/>
          <a:ln/>
        </p:spPr>
        <p:txBody>
          <a:bodyPr wrap="square" lIns="0" tIns="0" rIns="0" bIns="0" rtlCol="0" anchor="t"/>
          <a:lstStyle/>
          <a:p>
            <a:pPr algn="l" indent="0" marL="0">
              <a:lnSpc>
                <a:spcPts val="1050"/>
              </a:lnSpc>
              <a:buNone/>
            </a:pPr>
            <a:r>
              <a:rPr lang="en-US" sz="750" b="1" dirty="0">
                <a:solidFill>
                  <a:srgbClr val="1A1F2E"/>
                </a:solidFill>
                <a:latin typeface="Arial" pitchFamily="34" charset="0"/>
                <a:ea typeface="Arial" pitchFamily="34" charset="-122"/>
                <a:cs typeface="Arial" pitchFamily="34" charset="-120"/>
              </a:rPr>
              <a:t>macOS Dictation</a:t>
            </a:r>
            <a:endParaRPr lang="en-US" sz="750" dirty="0"/>
          </a:p>
        </p:txBody>
      </p:sp>
      <p:sp>
        <p:nvSpPr>
          <p:cNvPr id="33" name="Text 31"/>
          <p:cNvSpPr/>
          <p:nvPr/>
        </p:nvSpPr>
        <p:spPr>
          <a:xfrm>
            <a:off x="1989585" y="2781300"/>
            <a:ext cx="1011930" cy="133350"/>
          </a:xfrm>
          <a:prstGeom prst="rect">
            <a:avLst/>
          </a:prstGeom>
          <a:noFill/>
          <a:ln/>
        </p:spPr>
        <p:txBody>
          <a:bodyPr wrap="square" lIns="0" tIns="0" rIns="0" bIns="0" rtlCol="0" anchor="t"/>
          <a:lstStyle/>
          <a:p>
            <a:pPr algn="ctr" indent="0" marL="0">
              <a:lnSpc>
                <a:spcPts val="1050"/>
              </a:lnSpc>
              <a:buNone/>
            </a:pPr>
            <a:r>
              <a:rPr lang="en-US" sz="750" dirty="0">
                <a:solidFill>
                  <a:srgbClr val="6B7280"/>
                </a:solidFill>
                <a:latin typeface="Arial" pitchFamily="34" charset="0"/>
                <a:ea typeface="Arial" pitchFamily="34" charset="-122"/>
                <a:cs typeface="Arial" pitchFamily="34" charset="-120"/>
              </a:rPr>
              <a:t>Mac only</a:t>
            </a:r>
            <a:endParaRPr lang="en-US" sz="750" dirty="0"/>
          </a:p>
        </p:txBody>
      </p:sp>
      <p:sp>
        <p:nvSpPr>
          <p:cNvPr id="34" name="Text 32"/>
          <p:cNvSpPr/>
          <p:nvPr/>
        </p:nvSpPr>
        <p:spPr>
          <a:xfrm>
            <a:off x="3134073" y="2781300"/>
            <a:ext cx="1011930" cy="133350"/>
          </a:xfrm>
          <a:prstGeom prst="rect">
            <a:avLst/>
          </a:prstGeom>
          <a:noFill/>
          <a:ln/>
        </p:spPr>
        <p:txBody>
          <a:bodyPr wrap="square" lIns="0" tIns="0" rIns="0" bIns="0" rtlCol="0" anchor="t"/>
          <a:lstStyle/>
          <a:p>
            <a:pPr algn="ctr" indent="0" marL="0">
              <a:lnSpc>
                <a:spcPts val="1050"/>
              </a:lnSpc>
              <a:buNone/>
            </a:pPr>
            <a:r>
              <a:rPr lang="en-US" sz="750" dirty="0">
                <a:solidFill>
                  <a:srgbClr val="F59E0B"/>
                </a:solidFill>
                <a:latin typeface="Arial" pitchFamily="34" charset="0"/>
                <a:ea typeface="Arial" pitchFamily="34" charset="-122"/>
                <a:cs typeface="Arial" pitchFamily="34" charset="-120"/>
              </a:rPr>
              <a:t>Local opt**</a:t>
            </a:r>
            <a:endParaRPr lang="en-US" sz="750" dirty="0"/>
          </a:p>
        </p:txBody>
      </p:sp>
      <p:sp>
        <p:nvSpPr>
          <p:cNvPr id="35" name="Text 33"/>
          <p:cNvSpPr/>
          <p:nvPr/>
        </p:nvSpPr>
        <p:spPr>
          <a:xfrm>
            <a:off x="4279978" y="2781300"/>
            <a:ext cx="867412" cy="133350"/>
          </a:xfrm>
          <a:prstGeom prst="rect">
            <a:avLst/>
          </a:prstGeom>
          <a:noFill/>
          <a:ln/>
        </p:spPr>
        <p:txBody>
          <a:bodyPr wrap="square" lIns="0" tIns="0" rIns="0" bIns="0" rtlCol="0" anchor="t"/>
          <a:lstStyle/>
          <a:p>
            <a:pPr algn="ctr" indent="0" marL="0">
              <a:lnSpc>
                <a:spcPts val="1050"/>
              </a:lnSpc>
              <a:buNone/>
            </a:pPr>
            <a:r>
              <a:rPr lang="en-US" sz="750" dirty="0">
                <a:solidFill>
                  <a:srgbClr val="6B7280"/>
                </a:solidFill>
                <a:latin typeface="Arial" pitchFamily="34" charset="0"/>
                <a:ea typeface="Arial" pitchFamily="34" charset="-122"/>
                <a:cs typeface="Arial" pitchFamily="34" charset="-120"/>
              </a:rPr>
              <a:t>Free</a:t>
            </a:r>
            <a:endParaRPr lang="en-US" sz="750" dirty="0"/>
          </a:p>
        </p:txBody>
      </p:sp>
      <p:sp>
        <p:nvSpPr>
          <p:cNvPr id="36" name="Text 34"/>
          <p:cNvSpPr/>
          <p:nvPr/>
        </p:nvSpPr>
        <p:spPr>
          <a:xfrm>
            <a:off x="5281365" y="2781300"/>
            <a:ext cx="1011930" cy="133350"/>
          </a:xfrm>
          <a:prstGeom prst="rect">
            <a:avLst/>
          </a:prstGeom>
          <a:noFill/>
          <a:ln/>
        </p:spPr>
        <p:txBody>
          <a:bodyPr wrap="square" lIns="0" tIns="0" rIns="0" bIns="0" rtlCol="0" anchor="t"/>
          <a:lstStyle/>
          <a:p>
            <a:pPr algn="ctr" indent="0" marL="0">
              <a:lnSpc>
                <a:spcPts val="1050"/>
              </a:lnSpc>
              <a:buNone/>
            </a:pPr>
            <a:r>
              <a:rPr lang="en-US" sz="750" dirty="0">
                <a:solidFill>
                  <a:srgbClr val="6B7280"/>
                </a:solidFill>
                <a:latin typeface="Arial" pitchFamily="34" charset="0"/>
                <a:ea typeface="Arial" pitchFamily="34" charset="-122"/>
                <a:cs typeface="Arial" pitchFamily="34" charset="-120"/>
              </a:rPr>
              <a:t>Good</a:t>
            </a:r>
            <a:endParaRPr lang="en-US" sz="750" dirty="0"/>
          </a:p>
        </p:txBody>
      </p:sp>
      <p:sp>
        <p:nvSpPr>
          <p:cNvPr id="37" name="Text 35"/>
          <p:cNvSpPr/>
          <p:nvPr/>
        </p:nvSpPr>
        <p:spPr>
          <a:xfrm>
            <a:off x="6425854" y="2781300"/>
            <a:ext cx="1011930" cy="133350"/>
          </a:xfrm>
          <a:prstGeom prst="rect">
            <a:avLst/>
          </a:prstGeom>
          <a:noFill/>
          <a:ln/>
        </p:spPr>
        <p:txBody>
          <a:bodyPr wrap="square" lIns="0" tIns="0" rIns="0" bIns="0" rtlCol="0" anchor="t"/>
          <a:lstStyle/>
          <a:p>
            <a:pPr algn="ctr" indent="0" marL="0">
              <a:lnSpc>
                <a:spcPts val="1050"/>
              </a:lnSpc>
              <a:buNone/>
            </a:pPr>
            <a:r>
              <a:rPr lang="en-US" sz="750" dirty="0">
                <a:solidFill>
                  <a:srgbClr val="6B7280"/>
                </a:solidFill>
                <a:latin typeface="Arial" pitchFamily="34" charset="0"/>
                <a:ea typeface="Arial" pitchFamily="34" charset="-122"/>
                <a:cs typeface="Arial" pitchFamily="34" charset="-120"/>
              </a:rPr>
              <a:t>Basic</a:t>
            </a:r>
            <a:endParaRPr lang="en-US" sz="750" dirty="0"/>
          </a:p>
        </p:txBody>
      </p:sp>
      <p:sp>
        <p:nvSpPr>
          <p:cNvPr id="38" name="Text 36"/>
          <p:cNvSpPr/>
          <p:nvPr/>
        </p:nvSpPr>
        <p:spPr>
          <a:xfrm>
            <a:off x="7570342" y="2781300"/>
            <a:ext cx="1011930" cy="133350"/>
          </a:xfrm>
          <a:prstGeom prst="rect">
            <a:avLst/>
          </a:prstGeom>
          <a:noFill/>
          <a:ln/>
        </p:spPr>
        <p:txBody>
          <a:bodyPr wrap="square" lIns="0" tIns="0" rIns="0" bIns="0" rtlCol="0" anchor="t"/>
          <a:lstStyle/>
          <a:p>
            <a:pPr algn="ctr" indent="0" marL="0">
              <a:lnSpc>
                <a:spcPts val="1050"/>
              </a:lnSpc>
              <a:buNone/>
            </a:pPr>
            <a:r>
              <a:rPr lang="en-US" sz="750" b="1" dirty="0">
                <a:solidFill>
                  <a:srgbClr val="F59E0B"/>
                </a:solidFill>
                <a:latin typeface="Arial" pitchFamily="34" charset="0"/>
                <a:ea typeface="Arial" pitchFamily="34" charset="-122"/>
                <a:cs typeface="Arial" pitchFamily="34" charset="-120"/>
              </a:rPr>
              <a:t>IF LOCAL</a:t>
            </a:r>
            <a:endParaRPr lang="en-US" sz="750" dirty="0"/>
          </a:p>
        </p:txBody>
      </p:sp>
      <p:sp>
        <p:nvSpPr>
          <p:cNvPr id="39" name="Text 37"/>
          <p:cNvSpPr/>
          <p:nvPr/>
        </p:nvSpPr>
        <p:spPr>
          <a:xfrm>
            <a:off x="457200" y="3152775"/>
            <a:ext cx="8229600" cy="295275"/>
          </a:xfrm>
          <a:prstGeom prst="rect">
            <a:avLst/>
          </a:prstGeom>
          <a:solidFill>
            <a:srgbClr val="F7F8FA"/>
          </a:solidFill>
          <a:ln/>
        </p:spPr>
        <p:txBody>
          <a:bodyPr wrap="square" rtlCol="0" anchor="ctr"/>
          <a:lstStyle/>
          <a:p>
            <a:pPr indent="0" marL="0">
              <a:buNone/>
            </a:pPr>
            <a:endParaRPr lang="en-US" dirty="0"/>
          </a:p>
        </p:txBody>
      </p:sp>
      <p:sp>
        <p:nvSpPr>
          <p:cNvPr id="40" name="Shape 38"/>
          <p:cNvSpPr/>
          <p:nvPr/>
        </p:nvSpPr>
        <p:spPr>
          <a:xfrm>
            <a:off x="457200" y="3443287"/>
            <a:ext cx="8229600" cy="0"/>
          </a:xfrm>
          <a:prstGeom prst="line">
            <a:avLst/>
          </a:prstGeom>
          <a:noFill/>
          <a:ln w="9525">
            <a:solidFill>
              <a:srgbClr val="E4E7ED"/>
            </a:solidFill>
            <a:prstDash val="solid"/>
          </a:ln>
        </p:spPr>
      </p:sp>
      <p:sp>
        <p:nvSpPr>
          <p:cNvPr id="41" name="Text 39"/>
          <p:cNvSpPr/>
          <p:nvPr/>
        </p:nvSpPr>
        <p:spPr>
          <a:xfrm>
            <a:off x="571500" y="3228975"/>
            <a:ext cx="1301118" cy="133350"/>
          </a:xfrm>
          <a:prstGeom prst="rect">
            <a:avLst/>
          </a:prstGeom>
          <a:noFill/>
          <a:ln/>
        </p:spPr>
        <p:txBody>
          <a:bodyPr wrap="square" lIns="0" tIns="0" rIns="0" bIns="0" rtlCol="0" anchor="t"/>
          <a:lstStyle/>
          <a:p>
            <a:pPr algn="l" indent="0" marL="0">
              <a:lnSpc>
                <a:spcPts val="1050"/>
              </a:lnSpc>
              <a:buNone/>
            </a:pPr>
            <a:r>
              <a:rPr lang="en-US" sz="750" b="1" dirty="0">
                <a:solidFill>
                  <a:srgbClr val="1A1F2E"/>
                </a:solidFill>
                <a:latin typeface="Arial" pitchFamily="34" charset="0"/>
                <a:ea typeface="Arial" pitchFamily="34" charset="-122"/>
                <a:cs typeface="Arial" pitchFamily="34" charset="-120"/>
              </a:rPr>
              <a:t>Windows Voice</a:t>
            </a:r>
            <a:endParaRPr lang="en-US" sz="750" dirty="0"/>
          </a:p>
        </p:txBody>
      </p:sp>
      <p:sp>
        <p:nvSpPr>
          <p:cNvPr id="42" name="Text 40"/>
          <p:cNvSpPr/>
          <p:nvPr/>
        </p:nvSpPr>
        <p:spPr>
          <a:xfrm>
            <a:off x="1989585" y="3228975"/>
            <a:ext cx="1011930" cy="133350"/>
          </a:xfrm>
          <a:prstGeom prst="rect">
            <a:avLst/>
          </a:prstGeom>
          <a:noFill/>
          <a:ln/>
        </p:spPr>
        <p:txBody>
          <a:bodyPr wrap="square" lIns="0" tIns="0" rIns="0" bIns="0" rtlCol="0" anchor="t"/>
          <a:lstStyle/>
          <a:p>
            <a:pPr algn="ctr" indent="0" marL="0">
              <a:lnSpc>
                <a:spcPts val="1050"/>
              </a:lnSpc>
              <a:buNone/>
            </a:pPr>
            <a:r>
              <a:rPr lang="en-US" sz="750" dirty="0">
                <a:solidFill>
                  <a:srgbClr val="6B7280"/>
                </a:solidFill>
                <a:latin typeface="Arial" pitchFamily="34" charset="0"/>
                <a:ea typeface="Arial" pitchFamily="34" charset="-122"/>
                <a:cs typeface="Arial" pitchFamily="34" charset="-120"/>
              </a:rPr>
              <a:t>Win only</a:t>
            </a:r>
            <a:endParaRPr lang="en-US" sz="750" dirty="0"/>
          </a:p>
        </p:txBody>
      </p:sp>
      <p:sp>
        <p:nvSpPr>
          <p:cNvPr id="43" name="Text 41"/>
          <p:cNvSpPr/>
          <p:nvPr/>
        </p:nvSpPr>
        <p:spPr>
          <a:xfrm>
            <a:off x="3134073" y="3228975"/>
            <a:ext cx="1011930" cy="133350"/>
          </a:xfrm>
          <a:prstGeom prst="rect">
            <a:avLst/>
          </a:prstGeom>
          <a:noFill/>
          <a:ln/>
        </p:spPr>
        <p:txBody>
          <a:bodyPr wrap="square" lIns="0" tIns="0" rIns="0" bIns="0" rtlCol="0" anchor="t"/>
          <a:lstStyle/>
          <a:p>
            <a:pPr algn="ctr" indent="0" marL="0">
              <a:lnSpc>
                <a:spcPts val="1050"/>
              </a:lnSpc>
              <a:buNone/>
            </a:pPr>
            <a:r>
              <a:rPr lang="en-US" sz="750" dirty="0">
                <a:solidFill>
                  <a:srgbClr val="DC2626"/>
                </a:solidFill>
                <a:latin typeface="Arial" pitchFamily="34" charset="0"/>
                <a:ea typeface="Arial" pitchFamily="34" charset="-122"/>
                <a:cs typeface="Arial" pitchFamily="34" charset="-120"/>
              </a:rPr>
              <a:t>Cloud</a:t>
            </a:r>
            <a:endParaRPr lang="en-US" sz="750" dirty="0"/>
          </a:p>
        </p:txBody>
      </p:sp>
      <p:sp>
        <p:nvSpPr>
          <p:cNvPr id="44" name="Text 42"/>
          <p:cNvSpPr/>
          <p:nvPr/>
        </p:nvSpPr>
        <p:spPr>
          <a:xfrm>
            <a:off x="4279978" y="3228975"/>
            <a:ext cx="867412" cy="133350"/>
          </a:xfrm>
          <a:prstGeom prst="rect">
            <a:avLst/>
          </a:prstGeom>
          <a:noFill/>
          <a:ln/>
        </p:spPr>
        <p:txBody>
          <a:bodyPr wrap="square" lIns="0" tIns="0" rIns="0" bIns="0" rtlCol="0" anchor="t"/>
          <a:lstStyle/>
          <a:p>
            <a:pPr algn="ctr" indent="0" marL="0">
              <a:lnSpc>
                <a:spcPts val="1050"/>
              </a:lnSpc>
              <a:buNone/>
            </a:pPr>
            <a:r>
              <a:rPr lang="en-US" sz="750" dirty="0">
                <a:solidFill>
                  <a:srgbClr val="6B7280"/>
                </a:solidFill>
                <a:latin typeface="Arial" pitchFamily="34" charset="0"/>
                <a:ea typeface="Arial" pitchFamily="34" charset="-122"/>
                <a:cs typeface="Arial" pitchFamily="34" charset="-120"/>
              </a:rPr>
              <a:t>Free</a:t>
            </a:r>
            <a:endParaRPr lang="en-US" sz="750" dirty="0"/>
          </a:p>
        </p:txBody>
      </p:sp>
      <p:sp>
        <p:nvSpPr>
          <p:cNvPr id="45" name="Text 43"/>
          <p:cNvSpPr/>
          <p:nvPr/>
        </p:nvSpPr>
        <p:spPr>
          <a:xfrm>
            <a:off x="5281365" y="3228975"/>
            <a:ext cx="1011930" cy="133350"/>
          </a:xfrm>
          <a:prstGeom prst="rect">
            <a:avLst/>
          </a:prstGeom>
          <a:noFill/>
          <a:ln/>
        </p:spPr>
        <p:txBody>
          <a:bodyPr wrap="square" lIns="0" tIns="0" rIns="0" bIns="0" rtlCol="0" anchor="t"/>
          <a:lstStyle/>
          <a:p>
            <a:pPr algn="ctr" indent="0" marL="0">
              <a:lnSpc>
                <a:spcPts val="1050"/>
              </a:lnSpc>
              <a:buNone/>
            </a:pPr>
            <a:r>
              <a:rPr lang="en-US" sz="750" dirty="0">
                <a:solidFill>
                  <a:srgbClr val="6B7280"/>
                </a:solidFill>
                <a:latin typeface="Arial" pitchFamily="34" charset="0"/>
                <a:ea typeface="Arial" pitchFamily="34" charset="-122"/>
                <a:cs typeface="Arial" pitchFamily="34" charset="-120"/>
              </a:rPr>
              <a:t>Good</a:t>
            </a:r>
            <a:endParaRPr lang="en-US" sz="750" dirty="0"/>
          </a:p>
        </p:txBody>
      </p:sp>
      <p:sp>
        <p:nvSpPr>
          <p:cNvPr id="46" name="Text 44"/>
          <p:cNvSpPr/>
          <p:nvPr/>
        </p:nvSpPr>
        <p:spPr>
          <a:xfrm>
            <a:off x="6425854" y="3228975"/>
            <a:ext cx="1011930" cy="133350"/>
          </a:xfrm>
          <a:prstGeom prst="rect">
            <a:avLst/>
          </a:prstGeom>
          <a:noFill/>
          <a:ln/>
        </p:spPr>
        <p:txBody>
          <a:bodyPr wrap="square" lIns="0" tIns="0" rIns="0" bIns="0" rtlCol="0" anchor="t"/>
          <a:lstStyle/>
          <a:p>
            <a:pPr algn="ctr" indent="0" marL="0">
              <a:lnSpc>
                <a:spcPts val="1050"/>
              </a:lnSpc>
              <a:buNone/>
            </a:pPr>
            <a:r>
              <a:rPr lang="en-US" sz="750" dirty="0">
                <a:solidFill>
                  <a:srgbClr val="6B7280"/>
                </a:solidFill>
                <a:latin typeface="Arial" pitchFamily="34" charset="0"/>
                <a:ea typeface="Arial" pitchFamily="34" charset="-122"/>
                <a:cs typeface="Arial" pitchFamily="34" charset="-120"/>
              </a:rPr>
              <a:t>Basic</a:t>
            </a:r>
            <a:endParaRPr lang="en-US" sz="750" dirty="0"/>
          </a:p>
        </p:txBody>
      </p:sp>
      <p:sp>
        <p:nvSpPr>
          <p:cNvPr id="47" name="Text 45"/>
          <p:cNvSpPr/>
          <p:nvPr/>
        </p:nvSpPr>
        <p:spPr>
          <a:xfrm>
            <a:off x="7570342" y="3228975"/>
            <a:ext cx="1011930" cy="133350"/>
          </a:xfrm>
          <a:prstGeom prst="rect">
            <a:avLst/>
          </a:prstGeom>
          <a:noFill/>
          <a:ln/>
        </p:spPr>
        <p:txBody>
          <a:bodyPr wrap="square" lIns="0" tIns="0" rIns="0" bIns="0" rtlCol="0" anchor="t"/>
          <a:lstStyle/>
          <a:p>
            <a:pPr algn="ctr" indent="0" marL="0">
              <a:lnSpc>
                <a:spcPts val="1050"/>
              </a:lnSpc>
              <a:buNone/>
            </a:pPr>
            <a:r>
              <a:rPr lang="en-US" sz="750" b="1" dirty="0">
                <a:solidFill>
                  <a:srgbClr val="DC2626"/>
                </a:solidFill>
                <a:latin typeface="Arial" pitchFamily="34" charset="0"/>
                <a:ea typeface="Arial" pitchFamily="34" charset="-122"/>
                <a:cs typeface="Arial" pitchFamily="34" charset="-120"/>
              </a:rPr>
              <a:t>NO</a:t>
            </a:r>
            <a:endParaRPr lang="en-US" sz="750" dirty="0"/>
          </a:p>
        </p:txBody>
      </p:sp>
      <p:sp>
        <p:nvSpPr>
          <p:cNvPr id="48" name="Text 46"/>
          <p:cNvSpPr/>
          <p:nvPr/>
        </p:nvSpPr>
        <p:spPr>
          <a:xfrm>
            <a:off x="457200" y="3600450"/>
            <a:ext cx="8229600" cy="285750"/>
          </a:xfrm>
          <a:prstGeom prst="rect">
            <a:avLst/>
          </a:prstGeom>
          <a:solidFill>
            <a:srgbClr val="FFFFFF"/>
          </a:solidFill>
          <a:ln/>
        </p:spPr>
        <p:txBody>
          <a:bodyPr wrap="square" rtlCol="0" anchor="ctr"/>
          <a:lstStyle/>
          <a:p>
            <a:pPr indent="0" marL="0">
              <a:buNone/>
            </a:pPr>
            <a:endParaRPr lang="en-US" dirty="0"/>
          </a:p>
        </p:txBody>
      </p:sp>
      <p:sp>
        <p:nvSpPr>
          <p:cNvPr id="49" name="Text 47"/>
          <p:cNvSpPr/>
          <p:nvPr/>
        </p:nvSpPr>
        <p:spPr>
          <a:xfrm>
            <a:off x="571500" y="3676650"/>
            <a:ext cx="1301118" cy="133350"/>
          </a:xfrm>
          <a:prstGeom prst="rect">
            <a:avLst/>
          </a:prstGeom>
          <a:noFill/>
          <a:ln/>
        </p:spPr>
        <p:txBody>
          <a:bodyPr wrap="square" lIns="0" tIns="0" rIns="0" bIns="0" rtlCol="0" anchor="t"/>
          <a:lstStyle/>
          <a:p>
            <a:pPr algn="l" indent="0" marL="0">
              <a:lnSpc>
                <a:spcPts val="1050"/>
              </a:lnSpc>
              <a:buNone/>
            </a:pPr>
            <a:r>
              <a:rPr lang="en-US" sz="750" b="1" dirty="0">
                <a:solidFill>
                  <a:srgbClr val="1A1F2E"/>
                </a:solidFill>
                <a:latin typeface="Arial" pitchFamily="34" charset="0"/>
                <a:ea typeface="Arial" pitchFamily="34" charset="-122"/>
                <a:cs typeface="Arial" pitchFamily="34" charset="-120"/>
              </a:rPr>
              <a:t>Google Voice</a:t>
            </a:r>
            <a:endParaRPr lang="en-US" sz="750" dirty="0"/>
          </a:p>
        </p:txBody>
      </p:sp>
      <p:sp>
        <p:nvSpPr>
          <p:cNvPr id="50" name="Text 48"/>
          <p:cNvSpPr/>
          <p:nvPr/>
        </p:nvSpPr>
        <p:spPr>
          <a:xfrm>
            <a:off x="1989585" y="3676650"/>
            <a:ext cx="1011930" cy="133350"/>
          </a:xfrm>
          <a:prstGeom prst="rect">
            <a:avLst/>
          </a:prstGeom>
          <a:noFill/>
          <a:ln/>
        </p:spPr>
        <p:txBody>
          <a:bodyPr wrap="square" lIns="0" tIns="0" rIns="0" bIns="0" rtlCol="0" anchor="t"/>
          <a:lstStyle/>
          <a:p>
            <a:pPr algn="ctr" indent="0" marL="0">
              <a:lnSpc>
                <a:spcPts val="1050"/>
              </a:lnSpc>
              <a:buNone/>
            </a:pPr>
            <a:r>
              <a:rPr lang="en-US" sz="750" dirty="0">
                <a:solidFill>
                  <a:srgbClr val="6B7280"/>
                </a:solidFill>
                <a:latin typeface="Arial" pitchFamily="34" charset="0"/>
                <a:ea typeface="Arial" pitchFamily="34" charset="-122"/>
                <a:cs typeface="Arial" pitchFamily="34" charset="-120"/>
              </a:rPr>
              <a:t>Chrome</a:t>
            </a:r>
            <a:endParaRPr lang="en-US" sz="750" dirty="0"/>
          </a:p>
        </p:txBody>
      </p:sp>
      <p:sp>
        <p:nvSpPr>
          <p:cNvPr id="51" name="Text 49"/>
          <p:cNvSpPr/>
          <p:nvPr/>
        </p:nvSpPr>
        <p:spPr>
          <a:xfrm>
            <a:off x="3134073" y="3676650"/>
            <a:ext cx="1011930" cy="133350"/>
          </a:xfrm>
          <a:prstGeom prst="rect">
            <a:avLst/>
          </a:prstGeom>
          <a:noFill/>
          <a:ln/>
        </p:spPr>
        <p:txBody>
          <a:bodyPr wrap="square" lIns="0" tIns="0" rIns="0" bIns="0" rtlCol="0" anchor="t"/>
          <a:lstStyle/>
          <a:p>
            <a:pPr algn="ctr" indent="0" marL="0">
              <a:lnSpc>
                <a:spcPts val="1050"/>
              </a:lnSpc>
              <a:buNone/>
            </a:pPr>
            <a:r>
              <a:rPr lang="en-US" sz="750" dirty="0">
                <a:solidFill>
                  <a:srgbClr val="DC2626"/>
                </a:solidFill>
                <a:latin typeface="Arial" pitchFamily="34" charset="0"/>
                <a:ea typeface="Arial" pitchFamily="34" charset="-122"/>
                <a:cs typeface="Arial" pitchFamily="34" charset="-120"/>
              </a:rPr>
              <a:t>Cloud</a:t>
            </a:r>
            <a:endParaRPr lang="en-US" sz="750" dirty="0"/>
          </a:p>
        </p:txBody>
      </p:sp>
      <p:sp>
        <p:nvSpPr>
          <p:cNvPr id="52" name="Text 50"/>
          <p:cNvSpPr/>
          <p:nvPr/>
        </p:nvSpPr>
        <p:spPr>
          <a:xfrm>
            <a:off x="4279978" y="3676650"/>
            <a:ext cx="867412" cy="133350"/>
          </a:xfrm>
          <a:prstGeom prst="rect">
            <a:avLst/>
          </a:prstGeom>
          <a:noFill/>
          <a:ln/>
        </p:spPr>
        <p:txBody>
          <a:bodyPr wrap="square" lIns="0" tIns="0" rIns="0" bIns="0" rtlCol="0" anchor="t"/>
          <a:lstStyle/>
          <a:p>
            <a:pPr algn="ctr" indent="0" marL="0">
              <a:lnSpc>
                <a:spcPts val="1050"/>
              </a:lnSpc>
              <a:buNone/>
            </a:pPr>
            <a:r>
              <a:rPr lang="en-US" sz="750" dirty="0">
                <a:solidFill>
                  <a:srgbClr val="6B7280"/>
                </a:solidFill>
                <a:latin typeface="Arial" pitchFamily="34" charset="0"/>
                <a:ea typeface="Arial" pitchFamily="34" charset="-122"/>
                <a:cs typeface="Arial" pitchFamily="34" charset="-120"/>
              </a:rPr>
              <a:t>Free</a:t>
            </a:r>
            <a:endParaRPr lang="en-US" sz="750" dirty="0"/>
          </a:p>
        </p:txBody>
      </p:sp>
      <p:sp>
        <p:nvSpPr>
          <p:cNvPr id="53" name="Text 51"/>
          <p:cNvSpPr/>
          <p:nvPr/>
        </p:nvSpPr>
        <p:spPr>
          <a:xfrm>
            <a:off x="5281365" y="3676650"/>
            <a:ext cx="1011930" cy="133350"/>
          </a:xfrm>
          <a:prstGeom prst="rect">
            <a:avLst/>
          </a:prstGeom>
          <a:noFill/>
          <a:ln/>
        </p:spPr>
        <p:txBody>
          <a:bodyPr wrap="square" lIns="0" tIns="0" rIns="0" bIns="0" rtlCol="0" anchor="t"/>
          <a:lstStyle/>
          <a:p>
            <a:pPr algn="ctr" indent="0" marL="0">
              <a:lnSpc>
                <a:spcPts val="1050"/>
              </a:lnSpc>
              <a:buNone/>
            </a:pPr>
            <a:r>
              <a:rPr lang="en-US" sz="750" dirty="0">
                <a:solidFill>
                  <a:srgbClr val="059669"/>
                </a:solidFill>
                <a:latin typeface="Arial" pitchFamily="34" charset="0"/>
                <a:ea typeface="Arial" pitchFamily="34" charset="-122"/>
                <a:cs typeface="Arial" pitchFamily="34" charset="-120"/>
              </a:rPr>
              <a:t>Very Good</a:t>
            </a:r>
            <a:endParaRPr lang="en-US" sz="750" dirty="0"/>
          </a:p>
        </p:txBody>
      </p:sp>
      <p:sp>
        <p:nvSpPr>
          <p:cNvPr id="54" name="Text 52"/>
          <p:cNvSpPr/>
          <p:nvPr/>
        </p:nvSpPr>
        <p:spPr>
          <a:xfrm>
            <a:off x="6425854" y="3676650"/>
            <a:ext cx="1011930" cy="133350"/>
          </a:xfrm>
          <a:prstGeom prst="rect">
            <a:avLst/>
          </a:prstGeom>
          <a:noFill/>
          <a:ln/>
        </p:spPr>
        <p:txBody>
          <a:bodyPr wrap="square" lIns="0" tIns="0" rIns="0" bIns="0" rtlCol="0" anchor="t"/>
          <a:lstStyle/>
          <a:p>
            <a:pPr algn="ctr" indent="0" marL="0">
              <a:lnSpc>
                <a:spcPts val="1050"/>
              </a:lnSpc>
              <a:buNone/>
            </a:pPr>
            <a:r>
              <a:rPr lang="en-US" sz="750" dirty="0">
                <a:solidFill>
                  <a:srgbClr val="6B7280"/>
                </a:solidFill>
                <a:latin typeface="Arial" pitchFamily="34" charset="0"/>
                <a:ea typeface="Arial" pitchFamily="34" charset="-122"/>
                <a:cs typeface="Arial" pitchFamily="34" charset="-120"/>
              </a:rPr>
              <a:t>Basic</a:t>
            </a:r>
            <a:endParaRPr lang="en-US" sz="750" dirty="0"/>
          </a:p>
        </p:txBody>
      </p:sp>
      <p:sp>
        <p:nvSpPr>
          <p:cNvPr id="55" name="Text 53"/>
          <p:cNvSpPr/>
          <p:nvPr/>
        </p:nvSpPr>
        <p:spPr>
          <a:xfrm>
            <a:off x="7570342" y="3676650"/>
            <a:ext cx="1011930" cy="133350"/>
          </a:xfrm>
          <a:prstGeom prst="rect">
            <a:avLst/>
          </a:prstGeom>
          <a:noFill/>
          <a:ln/>
        </p:spPr>
        <p:txBody>
          <a:bodyPr wrap="square" lIns="0" tIns="0" rIns="0" bIns="0" rtlCol="0" anchor="t"/>
          <a:lstStyle/>
          <a:p>
            <a:pPr algn="ctr" indent="0" marL="0">
              <a:lnSpc>
                <a:spcPts val="1050"/>
              </a:lnSpc>
              <a:buNone/>
            </a:pPr>
            <a:r>
              <a:rPr lang="en-US" sz="750" b="1" dirty="0">
                <a:solidFill>
                  <a:srgbClr val="DC2626"/>
                </a:solidFill>
                <a:latin typeface="Arial" pitchFamily="34" charset="0"/>
                <a:ea typeface="Arial" pitchFamily="34" charset="-122"/>
                <a:cs typeface="Arial" pitchFamily="34" charset="-120"/>
              </a:rPr>
              <a:t>NO</a:t>
            </a:r>
            <a:endParaRPr lang="en-US" sz="750" dirty="0"/>
          </a:p>
        </p:txBody>
      </p:sp>
      <p:sp>
        <p:nvSpPr>
          <p:cNvPr id="56" name="Text 54"/>
          <p:cNvSpPr/>
          <p:nvPr/>
        </p:nvSpPr>
        <p:spPr>
          <a:xfrm>
            <a:off x="457200" y="4180433"/>
            <a:ext cx="5308550" cy="533400"/>
          </a:xfrm>
          <a:prstGeom prst="rect">
            <a:avLst/>
          </a:prstGeom>
          <a:solidFill>
            <a:srgbClr val="059669"/>
          </a:solidFill>
          <a:ln/>
        </p:spPr>
        <p:txBody>
          <a:bodyPr wrap="square" rtlCol="0" anchor="ctr"/>
          <a:lstStyle/>
          <a:p>
            <a:pPr indent="0" marL="0">
              <a:buNone/>
            </a:pPr>
            <a:endParaRPr lang="en-US" dirty="0"/>
          </a:p>
        </p:txBody>
      </p:sp>
      <p:sp>
        <p:nvSpPr>
          <p:cNvPr id="57" name="Text 55"/>
          <p:cNvSpPr/>
          <p:nvPr/>
        </p:nvSpPr>
        <p:spPr>
          <a:xfrm>
            <a:off x="571500" y="4294733"/>
            <a:ext cx="5181549"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FFFFFF"/>
                </a:solidFill>
                <a:latin typeface="Arial" pitchFamily="34" charset="0"/>
                <a:ea typeface="Arial" pitchFamily="34" charset="-122"/>
                <a:cs typeface="Arial" pitchFamily="34" charset="-120"/>
              </a:rPr>
              <a:t>RECOMMENDATION FOR PHI/GOVERNMENT</a:t>
            </a:r>
            <a:endParaRPr lang="en-US" sz="750" dirty="0"/>
          </a:p>
        </p:txBody>
      </p:sp>
      <p:sp>
        <p:nvSpPr>
          <p:cNvPr id="58" name="Text 56"/>
          <p:cNvSpPr/>
          <p:nvPr/>
        </p:nvSpPr>
        <p:spPr>
          <a:xfrm>
            <a:off x="571500" y="4466183"/>
            <a:ext cx="5181549" cy="133350"/>
          </a:xfrm>
          <a:prstGeom prst="rect">
            <a:avLst/>
          </a:prstGeom>
          <a:noFill/>
          <a:ln/>
        </p:spPr>
        <p:txBody>
          <a:bodyPr wrap="square" lIns="0" tIns="0" rIns="0" bIns="0" rtlCol="0" anchor="t"/>
          <a:lstStyle/>
          <a:p>
            <a:pPr algn="l" indent="0" marL="0">
              <a:lnSpc>
                <a:spcPts val="1050"/>
              </a:lnSpc>
              <a:buNone/>
            </a:pPr>
            <a:r>
              <a:rPr lang="en-US" sz="750" dirty="0">
                <a:solidFill>
                  <a:srgbClr val="FFFFFF"/>
                </a:solidFill>
                <a:latin typeface="Arial" pitchFamily="34" charset="0"/>
                <a:ea typeface="Arial" pitchFamily="34" charset="-122"/>
                <a:cs typeface="Arial" pitchFamily="34" charset="-120"/>
              </a:rPr>
              <a:t>SuperWhisper with local models (FREE tier works!)</a:t>
            </a:r>
            <a:endParaRPr lang="en-US" sz="750" dirty="0"/>
          </a:p>
        </p:txBody>
      </p:sp>
      <p:sp>
        <p:nvSpPr>
          <p:cNvPr id="59" name="Text 57"/>
          <p:cNvSpPr/>
          <p:nvPr/>
        </p:nvSpPr>
        <p:spPr>
          <a:xfrm>
            <a:off x="5880050" y="4152900"/>
            <a:ext cx="2806750" cy="588466"/>
          </a:xfrm>
          <a:prstGeom prst="rect">
            <a:avLst/>
          </a:prstGeom>
          <a:solidFill>
            <a:srgbClr val="FEF3C7"/>
          </a:solidFill>
          <a:ln/>
        </p:spPr>
        <p:txBody>
          <a:bodyPr wrap="square" rtlCol="0" anchor="ctr"/>
          <a:lstStyle/>
          <a:p>
            <a:pPr indent="0" marL="0">
              <a:buNone/>
            </a:pPr>
            <a:endParaRPr lang="en-US" dirty="0"/>
          </a:p>
        </p:txBody>
      </p:sp>
      <p:sp>
        <p:nvSpPr>
          <p:cNvPr id="60" name="Shape 58"/>
          <p:cNvSpPr/>
          <p:nvPr/>
        </p:nvSpPr>
        <p:spPr>
          <a:xfrm>
            <a:off x="5899100" y="4152900"/>
            <a:ext cx="0" cy="588466"/>
          </a:xfrm>
          <a:prstGeom prst="line">
            <a:avLst/>
          </a:prstGeom>
          <a:noFill/>
          <a:ln w="38100">
            <a:solidFill>
              <a:srgbClr val="F59E0B"/>
            </a:solidFill>
            <a:prstDash val="solid"/>
          </a:ln>
        </p:spPr>
      </p:sp>
      <p:sp>
        <p:nvSpPr>
          <p:cNvPr id="61" name="Text 59"/>
          <p:cNvSpPr/>
          <p:nvPr/>
        </p:nvSpPr>
        <p:spPr>
          <a:xfrm>
            <a:off x="6032450" y="4267200"/>
            <a:ext cx="2590851" cy="359866"/>
          </a:xfrm>
          <a:prstGeom prst="rect">
            <a:avLst/>
          </a:prstGeom>
          <a:noFill/>
          <a:ln/>
        </p:spPr>
        <p:txBody>
          <a:bodyPr wrap="square" lIns="0" tIns="0" rIns="0" bIns="0" rtlCol="0" anchor="t"/>
          <a:lstStyle/>
          <a:p>
            <a:pPr algn="l" indent="0" marL="0">
              <a:lnSpc>
                <a:spcPts val="945"/>
              </a:lnSpc>
              <a:buNone/>
            </a:pPr>
            <a:r>
              <a:rPr lang="en-US" sz="675" dirty="0">
                <a:solidFill>
                  <a:srgbClr val="92400E"/>
                </a:solidFill>
                <a:latin typeface="Arial" pitchFamily="34" charset="0"/>
                <a:ea typeface="Arial" pitchFamily="34" charset="-122"/>
                <a:cs typeface="Arial" pitchFamily="34" charset="-120"/>
              </a:rPr>
              <a:t>*Wispr Flow: Privacy Mode = zero retention, but audio still sent to cloud</a:t>
            </a:r>
            <a:endParaRPr lang="en-US" sz="675" dirty="0"/>
          </a:p>
          <a:p>
            <a:pPr algn="l" indent="0" marL="0">
              <a:lnSpc>
                <a:spcPts val="945"/>
              </a:lnSpc>
              <a:buNone/>
            </a:pPr>
            <a:r>
              <a:rPr lang="en-US" sz="675" dirty="0">
                <a:solidFill>
                  <a:srgbClr val="92400E"/>
                </a:solidFill>
                <a:latin typeface="Arial" pitchFamily="34" charset="0"/>
                <a:ea typeface="Arial" pitchFamily="34" charset="-122"/>
                <a:cs typeface="Arial" pitchFamily="34" charset="-120"/>
              </a:rPr>
              <a:t>**macOS: Enable "On-device only" in settings</a:t>
            </a:r>
            <a:endParaRPr lang="en-US" sz="675"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A1F2E"/>
        </a:solidFill>
      </p:bgPr>
    </p:bg>
    <p:spTree>
      <p:nvGrpSpPr>
        <p:cNvPr id="1" name=""/>
        <p:cNvGrpSpPr/>
        <p:nvPr/>
      </p:nvGrpSpPr>
      <p:grpSpPr>
        <a:xfrm>
          <a:off x="0" y="0"/>
          <a:ext cx="0" cy="0"/>
          <a:chOff x="0" y="0"/>
          <a:chExt cx="0" cy="0"/>
        </a:xfrm>
      </p:grpSpPr>
      <p:sp>
        <p:nvSpPr>
          <p:cNvPr id="2" name="Text 0"/>
          <p:cNvSpPr/>
          <p:nvPr/>
        </p:nvSpPr>
        <p:spPr>
          <a:xfrm>
            <a:off x="381000" y="228600"/>
            <a:ext cx="8549640" cy="133350"/>
          </a:xfrm>
          <a:prstGeom prst="rect">
            <a:avLst/>
          </a:prstGeom>
          <a:noFill/>
          <a:ln/>
        </p:spPr>
        <p:txBody>
          <a:bodyPr wrap="square" lIns="0" tIns="0" rIns="0" bIns="0" rtlCol="0" anchor="t"/>
          <a:lstStyle/>
          <a:p>
            <a:pPr algn="l" indent="0" marL="0">
              <a:lnSpc>
                <a:spcPts val="1050"/>
              </a:lnSpc>
              <a:spcAft>
                <a:spcPts val="300"/>
              </a:spcAft>
              <a:buNone/>
            </a:pPr>
            <a:r>
              <a:rPr lang="en-US" sz="750" dirty="0">
                <a:solidFill>
                  <a:srgbClr val="C9A227"/>
                </a:solidFill>
                <a:latin typeface="Arial" pitchFamily="34" charset="0"/>
                <a:ea typeface="Arial" pitchFamily="34" charset="-122"/>
                <a:cs typeface="Arial" pitchFamily="34" charset="-120"/>
              </a:rPr>
              <a:t>DECISION GUIDE</a:t>
            </a:r>
            <a:endParaRPr lang="en-US" sz="750" dirty="0"/>
          </a:p>
        </p:txBody>
      </p:sp>
      <p:sp>
        <p:nvSpPr>
          <p:cNvPr id="3" name="Text 1"/>
          <p:cNvSpPr/>
          <p:nvPr/>
        </p:nvSpPr>
        <p:spPr>
          <a:xfrm>
            <a:off x="381000" y="400050"/>
            <a:ext cx="4284536" cy="247650"/>
          </a:xfrm>
          <a:prstGeom prst="rect">
            <a:avLst/>
          </a:prstGeom>
          <a:noFill/>
          <a:ln/>
        </p:spPr>
        <p:txBody>
          <a:bodyPr wrap="square" lIns="0" tIns="0" rIns="0" bIns="0" rtlCol="0" anchor="t"/>
          <a:lstStyle/>
          <a:p>
            <a:pPr algn="l" indent="0" marL="0">
              <a:lnSpc>
                <a:spcPts val="1950"/>
              </a:lnSpc>
              <a:buNone/>
            </a:pPr>
            <a:r>
              <a:rPr lang="en-US" sz="1950" dirty="0">
                <a:solidFill>
                  <a:srgbClr val="FFFFFF"/>
                </a:solidFill>
                <a:latin typeface="Georgia" pitchFamily="34" charset="0"/>
                <a:ea typeface="Georgia" pitchFamily="34" charset="-122"/>
                <a:cs typeface="Georgia" pitchFamily="34" charset="-120"/>
              </a:rPr>
              <a:t>Which Voice Tool Should I Use?</a:t>
            </a:r>
            <a:endParaRPr lang="en-US" sz="1950" dirty="0"/>
          </a:p>
        </p:txBody>
      </p:sp>
      <p:sp>
        <p:nvSpPr>
          <p:cNvPr id="4" name="Text 2"/>
          <p:cNvSpPr/>
          <p:nvPr/>
        </p:nvSpPr>
        <p:spPr>
          <a:xfrm>
            <a:off x="2817019" y="1098500"/>
            <a:ext cx="3509963" cy="350490"/>
          </a:xfrm>
          <a:prstGeom prst="rect">
            <a:avLst/>
          </a:prstGeom>
          <a:solidFill>
            <a:srgbClr val="C9A227"/>
          </a:solidFill>
          <a:ln/>
        </p:spPr>
        <p:txBody>
          <a:bodyPr wrap="square" rtlCol="0" anchor="ctr"/>
          <a:lstStyle/>
          <a:p>
            <a:pPr indent="0" marL="0">
              <a:buNone/>
            </a:pPr>
            <a:endParaRPr lang="en-US" dirty="0"/>
          </a:p>
        </p:txBody>
      </p:sp>
      <p:sp>
        <p:nvSpPr>
          <p:cNvPr id="5" name="Text 3"/>
          <p:cNvSpPr/>
          <p:nvPr/>
        </p:nvSpPr>
        <p:spPr>
          <a:xfrm>
            <a:off x="3007519" y="1193750"/>
            <a:ext cx="3191542" cy="159990"/>
          </a:xfrm>
          <a:prstGeom prst="rect">
            <a:avLst/>
          </a:prstGeom>
          <a:noFill/>
          <a:ln/>
        </p:spPr>
        <p:txBody>
          <a:bodyPr wrap="square" lIns="0" tIns="0" rIns="0" bIns="0" rtlCol="0" anchor="t"/>
          <a:lstStyle/>
          <a:p>
            <a:pPr algn="l" indent="0" marL="0">
              <a:lnSpc>
                <a:spcPts val="1260"/>
              </a:lnSpc>
              <a:buNone/>
            </a:pPr>
            <a:r>
              <a:rPr lang="en-US" sz="900" b="1" dirty="0">
                <a:solidFill>
                  <a:srgbClr val="1A1F2E"/>
                </a:solidFill>
                <a:latin typeface="Arial" pitchFamily="34" charset="0"/>
                <a:ea typeface="Arial" pitchFamily="34" charset="-122"/>
                <a:cs typeface="Arial" pitchFamily="34" charset="-120"/>
              </a:rPr>
              <a:t>START: Do you handle PHI or sensitive government data?</a:t>
            </a:r>
            <a:endParaRPr lang="en-US" sz="900" dirty="0"/>
          </a:p>
        </p:txBody>
      </p:sp>
      <p:sp>
        <p:nvSpPr>
          <p:cNvPr id="6" name="Text 4"/>
          <p:cNvSpPr/>
          <p:nvPr/>
        </p:nvSpPr>
        <p:spPr>
          <a:xfrm>
            <a:off x="381000" y="1715691"/>
            <a:ext cx="4095750" cy="298996"/>
          </a:xfrm>
          <a:prstGeom prst="rect">
            <a:avLst/>
          </a:prstGeom>
          <a:solidFill>
            <a:srgbClr val="059669"/>
          </a:solidFill>
          <a:ln/>
        </p:spPr>
        <p:txBody>
          <a:bodyPr wrap="square" rtlCol="0" anchor="ctr"/>
          <a:lstStyle/>
          <a:p>
            <a:pPr indent="0" marL="0">
              <a:buNone/>
            </a:pPr>
            <a:endParaRPr lang="en-US" dirty="0"/>
          </a:p>
        </p:txBody>
      </p:sp>
      <p:sp>
        <p:nvSpPr>
          <p:cNvPr id="7" name="Text 5"/>
          <p:cNvSpPr/>
          <p:nvPr/>
        </p:nvSpPr>
        <p:spPr>
          <a:xfrm>
            <a:off x="417767" y="1791891"/>
            <a:ext cx="4022217" cy="146596"/>
          </a:xfrm>
          <a:prstGeom prst="rect">
            <a:avLst/>
          </a:prstGeom>
          <a:noFill/>
          <a:ln/>
        </p:spPr>
        <p:txBody>
          <a:bodyPr wrap="square" lIns="0" tIns="0" rIns="0" bIns="0" rtlCol="0" anchor="t"/>
          <a:lstStyle/>
          <a:p>
            <a:pPr algn="ctr" indent="0" marL="0">
              <a:lnSpc>
                <a:spcPts val="1155"/>
              </a:lnSpc>
              <a:buNone/>
            </a:pPr>
            <a:r>
              <a:rPr lang="en-US" sz="825" b="1" dirty="0">
                <a:solidFill>
                  <a:srgbClr val="FFFFFF"/>
                </a:solidFill>
                <a:latin typeface="Arial" pitchFamily="34" charset="0"/>
                <a:ea typeface="Arial" pitchFamily="34" charset="-122"/>
                <a:cs typeface="Arial" pitchFamily="34" charset="-120"/>
              </a:rPr>
              <a:t>YES - Need Local Processing</a:t>
            </a:r>
            <a:endParaRPr lang="en-US" sz="825" dirty="0"/>
          </a:p>
        </p:txBody>
      </p:sp>
      <p:sp>
        <p:nvSpPr>
          <p:cNvPr id="8" name="Text 6"/>
          <p:cNvSpPr/>
          <p:nvPr/>
        </p:nvSpPr>
        <p:spPr>
          <a:xfrm>
            <a:off x="381000" y="2262336"/>
            <a:ext cx="4095750" cy="615255"/>
          </a:xfrm>
          <a:prstGeom prst="rect">
            <a:avLst/>
          </a:prstGeom>
          <a:solidFill>
            <a:srgbClr val="252B3D"/>
          </a:solidFill>
          <a:ln/>
        </p:spPr>
        <p:txBody>
          <a:bodyPr wrap="square" rtlCol="0" anchor="ctr"/>
          <a:lstStyle/>
          <a:p>
            <a:pPr indent="0" marL="0">
              <a:buNone/>
            </a:pPr>
            <a:endParaRPr lang="en-US" dirty="0"/>
          </a:p>
        </p:txBody>
      </p:sp>
      <p:sp>
        <p:nvSpPr>
          <p:cNvPr id="9" name="Text 7"/>
          <p:cNvSpPr/>
          <p:nvPr/>
        </p:nvSpPr>
        <p:spPr>
          <a:xfrm>
            <a:off x="476250" y="2357586"/>
            <a:ext cx="3983355" cy="133350"/>
          </a:xfrm>
          <a:prstGeom prst="rect">
            <a:avLst/>
          </a:prstGeom>
          <a:noFill/>
          <a:ln/>
        </p:spPr>
        <p:txBody>
          <a:bodyPr wrap="square" lIns="0" tIns="0" rIns="0" bIns="0" rtlCol="0" anchor="t"/>
          <a:lstStyle/>
          <a:p>
            <a:pPr algn="l" indent="0" marL="0">
              <a:lnSpc>
                <a:spcPts val="1050"/>
              </a:lnSpc>
              <a:spcAft>
                <a:spcPts val="450"/>
              </a:spcAft>
              <a:buNone/>
            </a:pPr>
            <a:r>
              <a:rPr lang="en-US" sz="750" dirty="0">
                <a:solidFill>
                  <a:srgbClr val="C9A227"/>
                </a:solidFill>
                <a:latin typeface="Arial" pitchFamily="34" charset="0"/>
                <a:ea typeface="Arial" pitchFamily="34" charset="-122"/>
                <a:cs typeface="Arial" pitchFamily="34" charset="-120"/>
              </a:rPr>
              <a:t>What's your platform?</a:t>
            </a:r>
            <a:endParaRPr lang="en-US" sz="750" dirty="0"/>
          </a:p>
        </p:txBody>
      </p:sp>
      <p:sp>
        <p:nvSpPr>
          <p:cNvPr id="10" name="Text 8"/>
          <p:cNvSpPr/>
          <p:nvPr/>
        </p:nvSpPr>
        <p:spPr>
          <a:xfrm>
            <a:off x="476250" y="2548086"/>
            <a:ext cx="1263700" cy="234255"/>
          </a:xfrm>
          <a:prstGeom prst="rect">
            <a:avLst/>
          </a:prstGeom>
          <a:solidFill>
            <a:srgbClr val="C9A227">
              <a:alpha val="10000"/>
            </a:srgbClr>
          </a:solidFill>
          <a:ln/>
        </p:spPr>
        <p:txBody>
          <a:bodyPr wrap="square" rtlCol="0" anchor="ctr"/>
          <a:lstStyle/>
          <a:p>
            <a:pPr indent="0" marL="0">
              <a:buNone/>
            </a:pPr>
            <a:endParaRPr lang="en-US" dirty="0"/>
          </a:p>
        </p:txBody>
      </p:sp>
      <p:sp>
        <p:nvSpPr>
          <p:cNvPr id="11" name="Text 9"/>
          <p:cNvSpPr/>
          <p:nvPr/>
        </p:nvSpPr>
        <p:spPr>
          <a:xfrm>
            <a:off x="521906" y="2605236"/>
            <a:ext cx="1172388" cy="119955"/>
          </a:xfrm>
          <a:prstGeom prst="rect">
            <a:avLst/>
          </a:prstGeom>
          <a:noFill/>
          <a:ln/>
        </p:spPr>
        <p:txBody>
          <a:bodyPr wrap="square" lIns="0" tIns="0" rIns="0" bIns="0" rtlCol="0" anchor="t"/>
          <a:lstStyle/>
          <a:p>
            <a:pPr algn="ctr" indent="0" marL="0">
              <a:lnSpc>
                <a:spcPts val="945"/>
              </a:lnSpc>
              <a:buNone/>
            </a:pPr>
            <a:r>
              <a:rPr lang="en-US" sz="675" dirty="0">
                <a:solidFill>
                  <a:srgbClr val="FFFFFF"/>
                </a:solidFill>
                <a:latin typeface="Arial" pitchFamily="34" charset="0"/>
                <a:ea typeface="Arial" pitchFamily="34" charset="-122"/>
                <a:cs typeface="Arial" pitchFamily="34" charset="-120"/>
              </a:rPr>
              <a:t>Mac</a:t>
            </a:r>
            <a:endParaRPr lang="en-US" sz="675" dirty="0"/>
          </a:p>
        </p:txBody>
      </p:sp>
      <p:sp>
        <p:nvSpPr>
          <p:cNvPr id="12" name="Text 10"/>
          <p:cNvSpPr/>
          <p:nvPr/>
        </p:nvSpPr>
        <p:spPr>
          <a:xfrm>
            <a:off x="1797100" y="2548086"/>
            <a:ext cx="1263700" cy="234255"/>
          </a:xfrm>
          <a:prstGeom prst="rect">
            <a:avLst/>
          </a:prstGeom>
          <a:solidFill>
            <a:srgbClr val="C9A227">
              <a:alpha val="10000"/>
            </a:srgbClr>
          </a:solidFill>
          <a:ln/>
        </p:spPr>
        <p:txBody>
          <a:bodyPr wrap="square" rtlCol="0" anchor="ctr"/>
          <a:lstStyle/>
          <a:p>
            <a:pPr indent="0" marL="0">
              <a:buNone/>
            </a:pPr>
            <a:endParaRPr lang="en-US" dirty="0"/>
          </a:p>
        </p:txBody>
      </p:sp>
      <p:sp>
        <p:nvSpPr>
          <p:cNvPr id="13" name="Text 11"/>
          <p:cNvSpPr/>
          <p:nvPr/>
        </p:nvSpPr>
        <p:spPr>
          <a:xfrm>
            <a:off x="1842756" y="2605236"/>
            <a:ext cx="1172388" cy="119955"/>
          </a:xfrm>
          <a:prstGeom prst="rect">
            <a:avLst/>
          </a:prstGeom>
          <a:noFill/>
          <a:ln/>
        </p:spPr>
        <p:txBody>
          <a:bodyPr wrap="square" lIns="0" tIns="0" rIns="0" bIns="0" rtlCol="0" anchor="t"/>
          <a:lstStyle/>
          <a:p>
            <a:pPr algn="ctr" indent="0" marL="0">
              <a:lnSpc>
                <a:spcPts val="945"/>
              </a:lnSpc>
              <a:buNone/>
            </a:pPr>
            <a:r>
              <a:rPr lang="en-US" sz="675" dirty="0">
                <a:solidFill>
                  <a:srgbClr val="FFFFFF"/>
                </a:solidFill>
                <a:latin typeface="Arial" pitchFamily="34" charset="0"/>
                <a:ea typeface="Arial" pitchFamily="34" charset="-122"/>
                <a:cs typeface="Arial" pitchFamily="34" charset="-120"/>
              </a:rPr>
              <a:t>Windows</a:t>
            </a:r>
            <a:endParaRPr lang="en-US" sz="675" dirty="0"/>
          </a:p>
        </p:txBody>
      </p:sp>
      <p:sp>
        <p:nvSpPr>
          <p:cNvPr id="14" name="Text 12"/>
          <p:cNvSpPr/>
          <p:nvPr/>
        </p:nvSpPr>
        <p:spPr>
          <a:xfrm>
            <a:off x="3117949" y="2548086"/>
            <a:ext cx="1263700" cy="234255"/>
          </a:xfrm>
          <a:prstGeom prst="rect">
            <a:avLst/>
          </a:prstGeom>
          <a:solidFill>
            <a:srgbClr val="C9A227">
              <a:alpha val="10000"/>
            </a:srgbClr>
          </a:solidFill>
          <a:ln/>
        </p:spPr>
        <p:txBody>
          <a:bodyPr wrap="square" rtlCol="0" anchor="ctr"/>
          <a:lstStyle/>
          <a:p>
            <a:pPr indent="0" marL="0">
              <a:buNone/>
            </a:pPr>
            <a:endParaRPr lang="en-US" dirty="0"/>
          </a:p>
        </p:txBody>
      </p:sp>
      <p:sp>
        <p:nvSpPr>
          <p:cNvPr id="15" name="Text 13"/>
          <p:cNvSpPr/>
          <p:nvPr/>
        </p:nvSpPr>
        <p:spPr>
          <a:xfrm>
            <a:off x="3163605" y="2605236"/>
            <a:ext cx="1172388" cy="119955"/>
          </a:xfrm>
          <a:prstGeom prst="rect">
            <a:avLst/>
          </a:prstGeom>
          <a:noFill/>
          <a:ln/>
        </p:spPr>
        <p:txBody>
          <a:bodyPr wrap="square" lIns="0" tIns="0" rIns="0" bIns="0" rtlCol="0" anchor="t"/>
          <a:lstStyle/>
          <a:p>
            <a:pPr algn="ctr" indent="0" marL="0">
              <a:lnSpc>
                <a:spcPts val="945"/>
              </a:lnSpc>
              <a:buNone/>
            </a:pPr>
            <a:r>
              <a:rPr lang="en-US" sz="675" dirty="0">
                <a:solidFill>
                  <a:srgbClr val="FFFFFF"/>
                </a:solidFill>
                <a:latin typeface="Arial" pitchFamily="34" charset="0"/>
                <a:ea typeface="Arial" pitchFamily="34" charset="-122"/>
                <a:cs typeface="Arial" pitchFamily="34" charset="-120"/>
              </a:rPr>
              <a:t>Linux</a:t>
            </a:r>
            <a:endParaRPr lang="en-US" sz="675" dirty="0"/>
          </a:p>
        </p:txBody>
      </p:sp>
      <p:sp>
        <p:nvSpPr>
          <p:cNvPr id="16" name="Text 14"/>
          <p:cNvSpPr/>
          <p:nvPr/>
        </p:nvSpPr>
        <p:spPr>
          <a:xfrm>
            <a:off x="381000" y="3125242"/>
            <a:ext cx="2019300" cy="462707"/>
          </a:xfrm>
          <a:prstGeom prst="rect">
            <a:avLst/>
          </a:prstGeom>
          <a:solidFill>
            <a:srgbClr val="059669"/>
          </a:solidFill>
          <a:ln/>
        </p:spPr>
        <p:txBody>
          <a:bodyPr wrap="square" rtlCol="0" anchor="ctr"/>
          <a:lstStyle/>
          <a:p>
            <a:pPr indent="0" marL="0">
              <a:buNone/>
            </a:pPr>
            <a:endParaRPr lang="en-US" dirty="0"/>
          </a:p>
        </p:txBody>
      </p:sp>
      <p:sp>
        <p:nvSpPr>
          <p:cNvPr id="17" name="Text 15"/>
          <p:cNvSpPr/>
          <p:nvPr/>
        </p:nvSpPr>
        <p:spPr>
          <a:xfrm>
            <a:off x="457962" y="3220492"/>
            <a:ext cx="1865376" cy="146596"/>
          </a:xfrm>
          <a:prstGeom prst="rect">
            <a:avLst/>
          </a:prstGeom>
          <a:noFill/>
          <a:ln/>
        </p:spPr>
        <p:txBody>
          <a:bodyPr wrap="square" lIns="0" tIns="0" rIns="0" bIns="0" rtlCol="0" anchor="t"/>
          <a:lstStyle/>
          <a:p>
            <a:pPr algn="ctr" indent="0" marL="0">
              <a:lnSpc>
                <a:spcPts val="1155"/>
              </a:lnSpc>
              <a:spcAft>
                <a:spcPts val="150"/>
              </a:spcAft>
              <a:buNone/>
            </a:pPr>
            <a:r>
              <a:rPr lang="en-US" sz="825" b="1" dirty="0">
                <a:solidFill>
                  <a:srgbClr val="FFFFFF"/>
                </a:solidFill>
                <a:latin typeface="Arial" pitchFamily="34" charset="0"/>
                <a:ea typeface="Arial" pitchFamily="34" charset="-122"/>
                <a:cs typeface="Arial" pitchFamily="34" charset="-120"/>
              </a:rPr>
              <a:t>SuperWhisper</a:t>
            </a:r>
            <a:endParaRPr lang="en-US" sz="825" dirty="0"/>
          </a:p>
        </p:txBody>
      </p:sp>
      <p:sp>
        <p:nvSpPr>
          <p:cNvPr id="18" name="Text 16"/>
          <p:cNvSpPr/>
          <p:nvPr/>
        </p:nvSpPr>
        <p:spPr>
          <a:xfrm>
            <a:off x="457962" y="3386138"/>
            <a:ext cx="1865376" cy="106561"/>
          </a:xfrm>
          <a:prstGeom prst="rect">
            <a:avLst/>
          </a:prstGeom>
          <a:noFill/>
          <a:ln/>
        </p:spPr>
        <p:txBody>
          <a:bodyPr wrap="square" lIns="0" tIns="0" rIns="0" bIns="0" rtlCol="0" anchor="t"/>
          <a:lstStyle/>
          <a:p>
            <a:pPr algn="ctr" indent="0" marL="0">
              <a:lnSpc>
                <a:spcPts val="840"/>
              </a:lnSpc>
              <a:buNone/>
            </a:pPr>
            <a:r>
              <a:rPr lang="en-US" sz="600" dirty="0">
                <a:solidFill>
                  <a:srgbClr val="FFFFFF">
                    <a:alpha val="80000"/>
                  </a:srgbClr>
                </a:solidFill>
                <a:latin typeface="Arial" pitchFamily="34" charset="0"/>
                <a:ea typeface="Arial" pitchFamily="34" charset="-122"/>
                <a:cs typeface="Arial" pitchFamily="34" charset="-120"/>
              </a:rPr>
              <a:t>Mac/Windows</a:t>
            </a:r>
            <a:endParaRPr lang="en-US" sz="600" dirty="0"/>
          </a:p>
        </p:txBody>
      </p:sp>
      <p:sp>
        <p:nvSpPr>
          <p:cNvPr id="19" name="Text 17"/>
          <p:cNvSpPr/>
          <p:nvPr/>
        </p:nvSpPr>
        <p:spPr>
          <a:xfrm>
            <a:off x="2457450" y="3125242"/>
            <a:ext cx="2019300" cy="462707"/>
          </a:xfrm>
          <a:prstGeom prst="rect">
            <a:avLst/>
          </a:prstGeom>
          <a:solidFill>
            <a:srgbClr val="059669"/>
          </a:solidFill>
          <a:ln/>
        </p:spPr>
        <p:txBody>
          <a:bodyPr wrap="square" rtlCol="0" anchor="ctr"/>
          <a:lstStyle/>
          <a:p>
            <a:pPr indent="0" marL="0">
              <a:buNone/>
            </a:pPr>
            <a:endParaRPr lang="en-US" dirty="0"/>
          </a:p>
        </p:txBody>
      </p:sp>
      <p:sp>
        <p:nvSpPr>
          <p:cNvPr id="20" name="Text 18"/>
          <p:cNvSpPr/>
          <p:nvPr/>
        </p:nvSpPr>
        <p:spPr>
          <a:xfrm>
            <a:off x="2534412" y="3220492"/>
            <a:ext cx="1865376" cy="146596"/>
          </a:xfrm>
          <a:prstGeom prst="rect">
            <a:avLst/>
          </a:prstGeom>
          <a:noFill/>
          <a:ln/>
        </p:spPr>
        <p:txBody>
          <a:bodyPr wrap="square" lIns="0" tIns="0" rIns="0" bIns="0" rtlCol="0" anchor="t"/>
          <a:lstStyle/>
          <a:p>
            <a:pPr algn="ctr" indent="0" marL="0">
              <a:lnSpc>
                <a:spcPts val="1155"/>
              </a:lnSpc>
              <a:spcAft>
                <a:spcPts val="150"/>
              </a:spcAft>
              <a:buNone/>
            </a:pPr>
            <a:r>
              <a:rPr lang="en-US" sz="825" b="1" dirty="0">
                <a:solidFill>
                  <a:srgbClr val="FFFFFF"/>
                </a:solidFill>
                <a:latin typeface="Arial" pitchFamily="34" charset="0"/>
                <a:ea typeface="Arial" pitchFamily="34" charset="-122"/>
                <a:cs typeface="Arial" pitchFamily="34" charset="-120"/>
              </a:rPr>
              <a:t>Wispr Flow</a:t>
            </a:r>
            <a:endParaRPr lang="en-US" sz="825" dirty="0"/>
          </a:p>
        </p:txBody>
      </p:sp>
      <p:sp>
        <p:nvSpPr>
          <p:cNvPr id="21" name="Text 19"/>
          <p:cNvSpPr/>
          <p:nvPr/>
        </p:nvSpPr>
        <p:spPr>
          <a:xfrm>
            <a:off x="2534412" y="3386138"/>
            <a:ext cx="1865376" cy="106561"/>
          </a:xfrm>
          <a:prstGeom prst="rect">
            <a:avLst/>
          </a:prstGeom>
          <a:noFill/>
          <a:ln/>
        </p:spPr>
        <p:txBody>
          <a:bodyPr wrap="square" lIns="0" tIns="0" rIns="0" bIns="0" rtlCol="0" anchor="t"/>
          <a:lstStyle/>
          <a:p>
            <a:pPr algn="ctr" indent="0" marL="0">
              <a:lnSpc>
                <a:spcPts val="840"/>
              </a:lnSpc>
              <a:buNone/>
            </a:pPr>
            <a:r>
              <a:rPr lang="en-US" sz="600" dirty="0">
                <a:solidFill>
                  <a:srgbClr val="FFFFFF">
                    <a:alpha val="80000"/>
                  </a:srgbClr>
                </a:solidFill>
                <a:latin typeface="Arial" pitchFamily="34" charset="0"/>
                <a:ea typeface="Arial" pitchFamily="34" charset="-122"/>
                <a:cs typeface="Arial" pitchFamily="34" charset="-120"/>
              </a:rPr>
              <a:t>Privacy Mode ON</a:t>
            </a:r>
            <a:endParaRPr lang="en-US" sz="600" dirty="0"/>
          </a:p>
        </p:txBody>
      </p:sp>
      <p:sp>
        <p:nvSpPr>
          <p:cNvPr id="22" name="Text 20"/>
          <p:cNvSpPr/>
          <p:nvPr/>
        </p:nvSpPr>
        <p:spPr>
          <a:xfrm>
            <a:off x="381000" y="3835598"/>
            <a:ext cx="4095750" cy="272355"/>
          </a:xfrm>
          <a:prstGeom prst="rect">
            <a:avLst/>
          </a:prstGeom>
          <a:solidFill>
            <a:srgbClr val="FEF3C7"/>
          </a:solidFill>
          <a:ln/>
        </p:spPr>
        <p:txBody>
          <a:bodyPr wrap="square" rtlCol="0" anchor="ctr"/>
          <a:lstStyle/>
          <a:p>
            <a:pPr indent="0" marL="0">
              <a:buNone/>
            </a:pPr>
            <a:endParaRPr lang="en-US" dirty="0"/>
          </a:p>
        </p:txBody>
      </p:sp>
      <p:sp>
        <p:nvSpPr>
          <p:cNvPr id="23" name="Text 21"/>
          <p:cNvSpPr/>
          <p:nvPr/>
        </p:nvSpPr>
        <p:spPr>
          <a:xfrm>
            <a:off x="417767" y="3911798"/>
            <a:ext cx="4022217" cy="119955"/>
          </a:xfrm>
          <a:prstGeom prst="rect">
            <a:avLst/>
          </a:prstGeom>
          <a:noFill/>
          <a:ln/>
        </p:spPr>
        <p:txBody>
          <a:bodyPr wrap="square" lIns="0" tIns="0" rIns="0" bIns="0" rtlCol="0" anchor="t"/>
          <a:lstStyle/>
          <a:p>
            <a:pPr algn="ctr" indent="0" marL="0">
              <a:lnSpc>
                <a:spcPts val="945"/>
              </a:lnSpc>
              <a:buNone/>
            </a:pPr>
            <a:r>
              <a:rPr lang="en-US" sz="675" b="1" dirty="0">
                <a:solidFill>
                  <a:srgbClr val="92400E"/>
                </a:solidFill>
                <a:latin typeface="Arial" pitchFamily="34" charset="0"/>
                <a:ea typeface="Arial" pitchFamily="34" charset="-122"/>
                <a:cs typeface="Arial" pitchFamily="34" charset="-120"/>
              </a:rPr>
              <a:t>Linux only:</a:t>
            </a:r>
            <a:pPr algn="ctr" indent="0" marL="0">
              <a:lnSpc>
                <a:spcPts val="945"/>
              </a:lnSpc>
              <a:buNone/>
            </a:pPr>
            <a:r>
              <a:rPr lang="en-US" sz="675" dirty="0">
                <a:solidFill>
                  <a:srgbClr val="92400E"/>
                </a:solidFill>
                <a:latin typeface="Arial" pitchFamily="34" charset="0"/>
                <a:ea typeface="Arial" pitchFamily="34" charset="-122"/>
                <a:cs typeface="Arial" pitchFamily="34" charset="-120"/>
              </a:rPr>
              <a:t> Use Wispr Flow with Privacy Mode</a:t>
            </a:r>
            <a:endParaRPr lang="en-US" sz="675" dirty="0"/>
          </a:p>
        </p:txBody>
      </p:sp>
      <p:sp>
        <p:nvSpPr>
          <p:cNvPr id="24" name="Text 22"/>
          <p:cNvSpPr/>
          <p:nvPr/>
        </p:nvSpPr>
        <p:spPr>
          <a:xfrm>
            <a:off x="4667250" y="1715691"/>
            <a:ext cx="4095750" cy="298996"/>
          </a:xfrm>
          <a:prstGeom prst="rect">
            <a:avLst/>
          </a:prstGeom>
          <a:solidFill>
            <a:srgbClr val="6B7280"/>
          </a:solidFill>
          <a:ln/>
        </p:spPr>
        <p:txBody>
          <a:bodyPr wrap="square" rtlCol="0" anchor="ctr"/>
          <a:lstStyle/>
          <a:p>
            <a:pPr indent="0" marL="0">
              <a:buNone/>
            </a:pPr>
            <a:endParaRPr lang="en-US" dirty="0"/>
          </a:p>
        </p:txBody>
      </p:sp>
      <p:sp>
        <p:nvSpPr>
          <p:cNvPr id="25" name="Text 23"/>
          <p:cNvSpPr/>
          <p:nvPr/>
        </p:nvSpPr>
        <p:spPr>
          <a:xfrm>
            <a:off x="4704017" y="1791891"/>
            <a:ext cx="4022217" cy="146596"/>
          </a:xfrm>
          <a:prstGeom prst="rect">
            <a:avLst/>
          </a:prstGeom>
          <a:noFill/>
          <a:ln/>
        </p:spPr>
        <p:txBody>
          <a:bodyPr wrap="square" lIns="0" tIns="0" rIns="0" bIns="0" rtlCol="0" anchor="t"/>
          <a:lstStyle/>
          <a:p>
            <a:pPr algn="ctr" indent="0" marL="0">
              <a:lnSpc>
                <a:spcPts val="1155"/>
              </a:lnSpc>
              <a:buNone/>
            </a:pPr>
            <a:r>
              <a:rPr lang="en-US" sz="825" b="1" dirty="0">
                <a:solidFill>
                  <a:srgbClr val="FFFFFF"/>
                </a:solidFill>
                <a:latin typeface="Arial" pitchFamily="34" charset="0"/>
                <a:ea typeface="Arial" pitchFamily="34" charset="-122"/>
                <a:cs typeface="Arial" pitchFamily="34" charset="-120"/>
              </a:rPr>
              <a:t>NO - Cloud OK</a:t>
            </a:r>
            <a:endParaRPr lang="en-US" sz="825" dirty="0"/>
          </a:p>
        </p:txBody>
      </p:sp>
      <p:sp>
        <p:nvSpPr>
          <p:cNvPr id="26" name="Text 24"/>
          <p:cNvSpPr/>
          <p:nvPr/>
        </p:nvSpPr>
        <p:spPr>
          <a:xfrm>
            <a:off x="4667250" y="2262336"/>
            <a:ext cx="4095750" cy="615255"/>
          </a:xfrm>
          <a:prstGeom prst="rect">
            <a:avLst/>
          </a:prstGeom>
          <a:solidFill>
            <a:srgbClr val="252B3D"/>
          </a:solidFill>
          <a:ln/>
        </p:spPr>
        <p:txBody>
          <a:bodyPr wrap="square" rtlCol="0" anchor="ctr"/>
          <a:lstStyle/>
          <a:p>
            <a:pPr indent="0" marL="0">
              <a:buNone/>
            </a:pPr>
            <a:endParaRPr lang="en-US" dirty="0"/>
          </a:p>
        </p:txBody>
      </p:sp>
      <p:sp>
        <p:nvSpPr>
          <p:cNvPr id="27" name="Text 25"/>
          <p:cNvSpPr/>
          <p:nvPr/>
        </p:nvSpPr>
        <p:spPr>
          <a:xfrm>
            <a:off x="4762500" y="2357586"/>
            <a:ext cx="3983355" cy="133350"/>
          </a:xfrm>
          <a:prstGeom prst="rect">
            <a:avLst/>
          </a:prstGeom>
          <a:noFill/>
          <a:ln/>
        </p:spPr>
        <p:txBody>
          <a:bodyPr wrap="square" lIns="0" tIns="0" rIns="0" bIns="0" rtlCol="0" anchor="t"/>
          <a:lstStyle/>
          <a:p>
            <a:pPr algn="l" indent="0" marL="0">
              <a:lnSpc>
                <a:spcPts val="1050"/>
              </a:lnSpc>
              <a:spcAft>
                <a:spcPts val="450"/>
              </a:spcAft>
              <a:buNone/>
            </a:pPr>
            <a:r>
              <a:rPr lang="en-US" sz="750" dirty="0">
                <a:solidFill>
                  <a:srgbClr val="C9A227"/>
                </a:solidFill>
                <a:latin typeface="Arial" pitchFamily="34" charset="0"/>
                <a:ea typeface="Arial" pitchFamily="34" charset="-122"/>
                <a:cs typeface="Arial" pitchFamily="34" charset="-120"/>
              </a:rPr>
              <a:t>What features do you need?</a:t>
            </a:r>
            <a:endParaRPr lang="en-US" sz="750" dirty="0"/>
          </a:p>
        </p:txBody>
      </p:sp>
      <p:sp>
        <p:nvSpPr>
          <p:cNvPr id="28" name="Text 26"/>
          <p:cNvSpPr/>
          <p:nvPr/>
        </p:nvSpPr>
        <p:spPr>
          <a:xfrm>
            <a:off x="4762500" y="2548086"/>
            <a:ext cx="1263700" cy="234255"/>
          </a:xfrm>
          <a:prstGeom prst="rect">
            <a:avLst/>
          </a:prstGeom>
          <a:solidFill>
            <a:srgbClr val="C9A227">
              <a:alpha val="10000"/>
            </a:srgbClr>
          </a:solidFill>
          <a:ln/>
        </p:spPr>
        <p:txBody>
          <a:bodyPr wrap="square" rtlCol="0" anchor="ctr"/>
          <a:lstStyle/>
          <a:p>
            <a:pPr indent="0" marL="0">
              <a:buNone/>
            </a:pPr>
            <a:endParaRPr lang="en-US" dirty="0"/>
          </a:p>
        </p:txBody>
      </p:sp>
      <p:sp>
        <p:nvSpPr>
          <p:cNvPr id="29" name="Text 27"/>
          <p:cNvSpPr/>
          <p:nvPr/>
        </p:nvSpPr>
        <p:spPr>
          <a:xfrm>
            <a:off x="4808156" y="2605236"/>
            <a:ext cx="1172388" cy="119955"/>
          </a:xfrm>
          <a:prstGeom prst="rect">
            <a:avLst/>
          </a:prstGeom>
          <a:noFill/>
          <a:ln/>
        </p:spPr>
        <p:txBody>
          <a:bodyPr wrap="square" lIns="0" tIns="0" rIns="0" bIns="0" rtlCol="0" anchor="t"/>
          <a:lstStyle/>
          <a:p>
            <a:pPr algn="ctr" indent="0" marL="0">
              <a:lnSpc>
                <a:spcPts val="945"/>
              </a:lnSpc>
              <a:buNone/>
            </a:pPr>
            <a:r>
              <a:rPr lang="en-US" sz="675" dirty="0">
                <a:solidFill>
                  <a:srgbClr val="FFFFFF"/>
                </a:solidFill>
                <a:latin typeface="Arial" pitchFamily="34" charset="0"/>
                <a:ea typeface="Arial" pitchFamily="34" charset="-122"/>
                <a:cs typeface="Arial" pitchFamily="34" charset="-120"/>
              </a:rPr>
              <a:t>Basic</a:t>
            </a:r>
            <a:endParaRPr lang="en-US" sz="675" dirty="0"/>
          </a:p>
        </p:txBody>
      </p:sp>
      <p:sp>
        <p:nvSpPr>
          <p:cNvPr id="30" name="Text 28"/>
          <p:cNvSpPr/>
          <p:nvPr/>
        </p:nvSpPr>
        <p:spPr>
          <a:xfrm>
            <a:off x="6083350" y="2548086"/>
            <a:ext cx="1263700" cy="234255"/>
          </a:xfrm>
          <a:prstGeom prst="rect">
            <a:avLst/>
          </a:prstGeom>
          <a:solidFill>
            <a:srgbClr val="C9A227">
              <a:alpha val="10000"/>
            </a:srgbClr>
          </a:solidFill>
          <a:ln/>
        </p:spPr>
        <p:txBody>
          <a:bodyPr wrap="square" rtlCol="0" anchor="ctr"/>
          <a:lstStyle/>
          <a:p>
            <a:pPr indent="0" marL="0">
              <a:buNone/>
            </a:pPr>
            <a:endParaRPr lang="en-US" dirty="0"/>
          </a:p>
        </p:txBody>
      </p:sp>
      <p:sp>
        <p:nvSpPr>
          <p:cNvPr id="31" name="Text 29"/>
          <p:cNvSpPr/>
          <p:nvPr/>
        </p:nvSpPr>
        <p:spPr>
          <a:xfrm>
            <a:off x="6129006" y="2605236"/>
            <a:ext cx="1172388" cy="119955"/>
          </a:xfrm>
          <a:prstGeom prst="rect">
            <a:avLst/>
          </a:prstGeom>
          <a:noFill/>
          <a:ln/>
        </p:spPr>
        <p:txBody>
          <a:bodyPr wrap="square" lIns="0" tIns="0" rIns="0" bIns="0" rtlCol="0" anchor="t"/>
          <a:lstStyle/>
          <a:p>
            <a:pPr algn="ctr" indent="0" marL="0">
              <a:lnSpc>
                <a:spcPts val="945"/>
              </a:lnSpc>
              <a:buNone/>
            </a:pPr>
            <a:r>
              <a:rPr lang="en-US" sz="675" dirty="0">
                <a:solidFill>
                  <a:srgbClr val="FFFFFF"/>
                </a:solidFill>
                <a:latin typeface="Arial" pitchFamily="34" charset="0"/>
                <a:ea typeface="Arial" pitchFamily="34" charset="-122"/>
                <a:cs typeface="Arial" pitchFamily="34" charset="-120"/>
              </a:rPr>
              <a:t>Context</a:t>
            </a:r>
            <a:endParaRPr lang="en-US" sz="675" dirty="0"/>
          </a:p>
        </p:txBody>
      </p:sp>
      <p:sp>
        <p:nvSpPr>
          <p:cNvPr id="32" name="Text 30"/>
          <p:cNvSpPr/>
          <p:nvPr/>
        </p:nvSpPr>
        <p:spPr>
          <a:xfrm>
            <a:off x="7404199" y="2548086"/>
            <a:ext cx="1263700" cy="234255"/>
          </a:xfrm>
          <a:prstGeom prst="rect">
            <a:avLst/>
          </a:prstGeom>
          <a:solidFill>
            <a:srgbClr val="C9A227">
              <a:alpha val="10000"/>
            </a:srgbClr>
          </a:solidFill>
          <a:ln/>
        </p:spPr>
        <p:txBody>
          <a:bodyPr wrap="square" rtlCol="0" anchor="ctr"/>
          <a:lstStyle/>
          <a:p>
            <a:pPr indent="0" marL="0">
              <a:buNone/>
            </a:pPr>
            <a:endParaRPr lang="en-US" dirty="0"/>
          </a:p>
        </p:txBody>
      </p:sp>
      <p:sp>
        <p:nvSpPr>
          <p:cNvPr id="33" name="Text 31"/>
          <p:cNvSpPr/>
          <p:nvPr/>
        </p:nvSpPr>
        <p:spPr>
          <a:xfrm>
            <a:off x="7449855" y="2605236"/>
            <a:ext cx="1172388" cy="119955"/>
          </a:xfrm>
          <a:prstGeom prst="rect">
            <a:avLst/>
          </a:prstGeom>
          <a:noFill/>
          <a:ln/>
        </p:spPr>
        <p:txBody>
          <a:bodyPr wrap="square" lIns="0" tIns="0" rIns="0" bIns="0" rtlCol="0" anchor="t"/>
          <a:lstStyle/>
          <a:p>
            <a:pPr algn="ctr" indent="0" marL="0">
              <a:lnSpc>
                <a:spcPts val="945"/>
              </a:lnSpc>
              <a:buNone/>
            </a:pPr>
            <a:r>
              <a:rPr lang="en-US" sz="675" dirty="0">
                <a:solidFill>
                  <a:srgbClr val="FFFFFF"/>
                </a:solidFill>
                <a:latin typeface="Arial" pitchFamily="34" charset="0"/>
                <a:ea typeface="Arial" pitchFamily="34" charset="-122"/>
                <a:cs typeface="Arial" pitchFamily="34" charset="-120"/>
              </a:rPr>
              <a:t>Free</a:t>
            </a:r>
            <a:endParaRPr lang="en-US" sz="675" dirty="0"/>
          </a:p>
        </p:txBody>
      </p:sp>
      <p:sp>
        <p:nvSpPr>
          <p:cNvPr id="34" name="Text 32"/>
          <p:cNvSpPr/>
          <p:nvPr/>
        </p:nvSpPr>
        <p:spPr>
          <a:xfrm>
            <a:off x="4667250" y="3125242"/>
            <a:ext cx="2019300" cy="462707"/>
          </a:xfrm>
          <a:prstGeom prst="rect">
            <a:avLst/>
          </a:prstGeom>
          <a:solidFill>
            <a:srgbClr val="3B82F6"/>
          </a:solidFill>
          <a:ln/>
        </p:spPr>
        <p:txBody>
          <a:bodyPr wrap="square" rtlCol="0" anchor="ctr"/>
          <a:lstStyle/>
          <a:p>
            <a:pPr indent="0" marL="0">
              <a:buNone/>
            </a:pPr>
            <a:endParaRPr lang="en-US" dirty="0"/>
          </a:p>
        </p:txBody>
      </p:sp>
      <p:sp>
        <p:nvSpPr>
          <p:cNvPr id="35" name="Text 33"/>
          <p:cNvSpPr/>
          <p:nvPr/>
        </p:nvSpPr>
        <p:spPr>
          <a:xfrm>
            <a:off x="4744212" y="3220492"/>
            <a:ext cx="1865376" cy="146596"/>
          </a:xfrm>
          <a:prstGeom prst="rect">
            <a:avLst/>
          </a:prstGeom>
          <a:noFill/>
          <a:ln/>
        </p:spPr>
        <p:txBody>
          <a:bodyPr wrap="square" lIns="0" tIns="0" rIns="0" bIns="0" rtlCol="0" anchor="t"/>
          <a:lstStyle/>
          <a:p>
            <a:pPr algn="ctr" indent="0" marL="0">
              <a:lnSpc>
                <a:spcPts val="1155"/>
              </a:lnSpc>
              <a:spcAft>
                <a:spcPts val="150"/>
              </a:spcAft>
              <a:buNone/>
            </a:pPr>
            <a:r>
              <a:rPr lang="en-US" sz="825" b="1" dirty="0">
                <a:solidFill>
                  <a:srgbClr val="FFFFFF"/>
                </a:solidFill>
                <a:latin typeface="Arial" pitchFamily="34" charset="0"/>
                <a:ea typeface="Arial" pitchFamily="34" charset="-122"/>
                <a:cs typeface="Arial" pitchFamily="34" charset="-120"/>
              </a:rPr>
              <a:t>SuperWhisper</a:t>
            </a:r>
            <a:endParaRPr lang="en-US" sz="825" dirty="0"/>
          </a:p>
        </p:txBody>
      </p:sp>
      <p:sp>
        <p:nvSpPr>
          <p:cNvPr id="36" name="Text 34"/>
          <p:cNvSpPr/>
          <p:nvPr/>
        </p:nvSpPr>
        <p:spPr>
          <a:xfrm>
            <a:off x="4744212" y="3386138"/>
            <a:ext cx="1865376" cy="106561"/>
          </a:xfrm>
          <a:prstGeom prst="rect">
            <a:avLst/>
          </a:prstGeom>
          <a:noFill/>
          <a:ln/>
        </p:spPr>
        <p:txBody>
          <a:bodyPr wrap="square" lIns="0" tIns="0" rIns="0" bIns="0" rtlCol="0" anchor="t"/>
          <a:lstStyle/>
          <a:p>
            <a:pPr algn="ctr" indent="0" marL="0">
              <a:lnSpc>
                <a:spcPts val="840"/>
              </a:lnSpc>
              <a:buNone/>
            </a:pPr>
            <a:r>
              <a:rPr lang="en-US" sz="600" dirty="0">
                <a:solidFill>
                  <a:srgbClr val="FFFFFF">
                    <a:alpha val="80000"/>
                  </a:srgbClr>
                </a:solidFill>
                <a:latin typeface="Arial" pitchFamily="34" charset="0"/>
                <a:ea typeface="Arial" pitchFamily="34" charset="-122"/>
                <a:cs typeface="Arial" pitchFamily="34" charset="-120"/>
              </a:rPr>
              <a:t>Simple + Local</a:t>
            </a:r>
            <a:endParaRPr lang="en-US" sz="600" dirty="0"/>
          </a:p>
        </p:txBody>
      </p:sp>
      <p:sp>
        <p:nvSpPr>
          <p:cNvPr id="37" name="Text 35"/>
          <p:cNvSpPr/>
          <p:nvPr/>
        </p:nvSpPr>
        <p:spPr>
          <a:xfrm>
            <a:off x="6743700" y="3125242"/>
            <a:ext cx="2019300" cy="462707"/>
          </a:xfrm>
          <a:prstGeom prst="rect">
            <a:avLst/>
          </a:prstGeom>
          <a:solidFill>
            <a:srgbClr val="3B82F6"/>
          </a:solidFill>
          <a:ln/>
        </p:spPr>
        <p:txBody>
          <a:bodyPr wrap="square" rtlCol="0" anchor="ctr"/>
          <a:lstStyle/>
          <a:p>
            <a:pPr indent="0" marL="0">
              <a:buNone/>
            </a:pPr>
            <a:endParaRPr lang="en-US" dirty="0"/>
          </a:p>
        </p:txBody>
      </p:sp>
      <p:sp>
        <p:nvSpPr>
          <p:cNvPr id="38" name="Text 36"/>
          <p:cNvSpPr/>
          <p:nvPr/>
        </p:nvSpPr>
        <p:spPr>
          <a:xfrm>
            <a:off x="6820662" y="3220492"/>
            <a:ext cx="1865376" cy="146596"/>
          </a:xfrm>
          <a:prstGeom prst="rect">
            <a:avLst/>
          </a:prstGeom>
          <a:noFill/>
          <a:ln/>
        </p:spPr>
        <p:txBody>
          <a:bodyPr wrap="square" lIns="0" tIns="0" rIns="0" bIns="0" rtlCol="0" anchor="t"/>
          <a:lstStyle/>
          <a:p>
            <a:pPr algn="ctr" indent="0" marL="0">
              <a:lnSpc>
                <a:spcPts val="1155"/>
              </a:lnSpc>
              <a:spcAft>
                <a:spcPts val="150"/>
              </a:spcAft>
              <a:buNone/>
            </a:pPr>
            <a:r>
              <a:rPr lang="en-US" sz="825" b="1" dirty="0">
                <a:solidFill>
                  <a:srgbClr val="FFFFFF"/>
                </a:solidFill>
                <a:latin typeface="Arial" pitchFamily="34" charset="0"/>
                <a:ea typeface="Arial" pitchFamily="34" charset="-122"/>
                <a:cs typeface="Arial" pitchFamily="34" charset="-120"/>
              </a:rPr>
              <a:t>Wispr Flow</a:t>
            </a:r>
            <a:endParaRPr lang="en-US" sz="825" dirty="0"/>
          </a:p>
        </p:txBody>
      </p:sp>
      <p:sp>
        <p:nvSpPr>
          <p:cNvPr id="39" name="Text 37"/>
          <p:cNvSpPr/>
          <p:nvPr/>
        </p:nvSpPr>
        <p:spPr>
          <a:xfrm>
            <a:off x="6820662" y="3386138"/>
            <a:ext cx="1865376" cy="106561"/>
          </a:xfrm>
          <a:prstGeom prst="rect">
            <a:avLst/>
          </a:prstGeom>
          <a:noFill/>
          <a:ln/>
        </p:spPr>
        <p:txBody>
          <a:bodyPr wrap="square" lIns="0" tIns="0" rIns="0" bIns="0" rtlCol="0" anchor="t"/>
          <a:lstStyle/>
          <a:p>
            <a:pPr algn="ctr" indent="0" marL="0">
              <a:lnSpc>
                <a:spcPts val="840"/>
              </a:lnSpc>
              <a:buNone/>
            </a:pPr>
            <a:r>
              <a:rPr lang="en-US" sz="600" dirty="0">
                <a:solidFill>
                  <a:srgbClr val="FFFFFF">
                    <a:alpha val="80000"/>
                  </a:srgbClr>
                </a:solidFill>
                <a:latin typeface="Arial" pitchFamily="34" charset="0"/>
                <a:ea typeface="Arial" pitchFamily="34" charset="-122"/>
                <a:cs typeface="Arial" pitchFamily="34" charset="-120"/>
              </a:rPr>
              <a:t>Smart Features</a:t>
            </a:r>
            <a:endParaRPr lang="en-US" sz="600" dirty="0"/>
          </a:p>
        </p:txBody>
      </p:sp>
      <p:sp>
        <p:nvSpPr>
          <p:cNvPr id="40" name="Text 38"/>
          <p:cNvSpPr/>
          <p:nvPr/>
        </p:nvSpPr>
        <p:spPr>
          <a:xfrm>
            <a:off x="4667250" y="3835598"/>
            <a:ext cx="4095750" cy="272355"/>
          </a:xfrm>
          <a:prstGeom prst="rect">
            <a:avLst/>
          </a:prstGeom>
          <a:solidFill>
            <a:srgbClr val="252B3D"/>
          </a:solidFill>
          <a:ln/>
        </p:spPr>
        <p:txBody>
          <a:bodyPr wrap="square" rtlCol="0" anchor="ctr"/>
          <a:lstStyle/>
          <a:p>
            <a:pPr indent="0" marL="0">
              <a:buNone/>
            </a:pPr>
            <a:endParaRPr lang="en-US" dirty="0"/>
          </a:p>
        </p:txBody>
      </p:sp>
      <p:sp>
        <p:nvSpPr>
          <p:cNvPr id="41" name="Text 39"/>
          <p:cNvSpPr/>
          <p:nvPr/>
        </p:nvSpPr>
        <p:spPr>
          <a:xfrm>
            <a:off x="4704017" y="3911798"/>
            <a:ext cx="4022217" cy="119955"/>
          </a:xfrm>
          <a:prstGeom prst="rect">
            <a:avLst/>
          </a:prstGeom>
          <a:noFill/>
          <a:ln/>
        </p:spPr>
        <p:txBody>
          <a:bodyPr wrap="square" lIns="0" tIns="0" rIns="0" bIns="0" rtlCol="0" anchor="t"/>
          <a:lstStyle/>
          <a:p>
            <a:pPr algn="ctr" indent="0" marL="0">
              <a:lnSpc>
                <a:spcPts val="945"/>
              </a:lnSpc>
              <a:buNone/>
            </a:pPr>
            <a:r>
              <a:rPr lang="en-US" sz="675" b="1" dirty="0">
                <a:solidFill>
                  <a:srgbClr val="FFFFFF">
                    <a:alpha val="60000"/>
                  </a:srgbClr>
                </a:solidFill>
                <a:latin typeface="Arial" pitchFamily="34" charset="0"/>
                <a:ea typeface="Arial" pitchFamily="34" charset="-122"/>
                <a:cs typeface="Arial" pitchFamily="34" charset="-120"/>
              </a:rPr>
              <a:t>Budget:</a:t>
            </a:r>
            <a:pPr algn="ctr" indent="0" marL="0">
              <a:lnSpc>
                <a:spcPts val="945"/>
              </a:lnSpc>
              <a:buNone/>
            </a:pPr>
            <a:r>
              <a:rPr lang="en-US" sz="675" dirty="0">
                <a:solidFill>
                  <a:srgbClr val="FFFFFF">
                    <a:alpha val="60000"/>
                  </a:srgbClr>
                </a:solidFill>
                <a:latin typeface="Arial" pitchFamily="34" charset="0"/>
                <a:ea typeface="Arial" pitchFamily="34" charset="-122"/>
                <a:cs typeface="Arial" pitchFamily="34" charset="-120"/>
              </a:rPr>
              <a:t> Native OS dictation works for casual use</a:t>
            </a:r>
            <a:endParaRPr lang="en-US" sz="675" dirty="0"/>
          </a:p>
        </p:txBody>
      </p:sp>
      <p:sp>
        <p:nvSpPr>
          <p:cNvPr id="42" name="Text 40"/>
          <p:cNvSpPr/>
          <p:nvPr/>
        </p:nvSpPr>
        <p:spPr>
          <a:xfrm>
            <a:off x="381000" y="4374654"/>
            <a:ext cx="8382000" cy="375196"/>
          </a:xfrm>
          <a:prstGeom prst="rect">
            <a:avLst/>
          </a:prstGeom>
          <a:solidFill>
            <a:srgbClr val="C9A227"/>
          </a:solidFill>
          <a:ln/>
        </p:spPr>
        <p:txBody>
          <a:bodyPr wrap="square" rtlCol="0" anchor="ctr"/>
          <a:lstStyle/>
          <a:p>
            <a:pPr indent="0" marL="0">
              <a:buNone/>
            </a:pPr>
            <a:endParaRPr lang="en-US" dirty="0"/>
          </a:p>
        </p:txBody>
      </p:sp>
      <p:sp>
        <p:nvSpPr>
          <p:cNvPr id="43" name="Text 41"/>
          <p:cNvSpPr/>
          <p:nvPr/>
        </p:nvSpPr>
        <p:spPr>
          <a:xfrm>
            <a:off x="413766" y="4488954"/>
            <a:ext cx="8316468" cy="146596"/>
          </a:xfrm>
          <a:prstGeom prst="rect">
            <a:avLst/>
          </a:prstGeom>
          <a:noFill/>
          <a:ln/>
        </p:spPr>
        <p:txBody>
          <a:bodyPr wrap="square" lIns="0" tIns="0" rIns="0" bIns="0" rtlCol="0" anchor="t"/>
          <a:lstStyle/>
          <a:p>
            <a:pPr algn="ctr" indent="0" marL="0">
              <a:lnSpc>
                <a:spcPts val="1155"/>
              </a:lnSpc>
              <a:buNone/>
            </a:pPr>
            <a:r>
              <a:rPr lang="en-US" sz="825" b="1" dirty="0">
                <a:solidFill>
                  <a:srgbClr val="1A1F2E"/>
                </a:solidFill>
                <a:latin typeface="Arial" pitchFamily="34" charset="0"/>
                <a:ea typeface="Arial" pitchFamily="34" charset="-122"/>
                <a:cs typeface="Arial" pitchFamily="34" charset="-120"/>
              </a:rPr>
              <a:t>QUICK PICK:</a:t>
            </a:r>
            <a:pPr algn="ctr" indent="0" marL="0">
              <a:lnSpc>
                <a:spcPts val="1155"/>
              </a:lnSpc>
              <a:buNone/>
            </a:pPr>
            <a:r>
              <a:rPr lang="en-US" sz="825" dirty="0">
                <a:solidFill>
                  <a:srgbClr val="1A1F2E"/>
                </a:solidFill>
                <a:latin typeface="Arial" pitchFamily="34" charset="0"/>
                <a:ea typeface="Arial" pitchFamily="34" charset="-122"/>
                <a:cs typeface="Arial" pitchFamily="34" charset="-120"/>
              </a:rPr>
              <a:t> Government/PHI = SuperWhisper | Power User = Wispr Flow (Privacy Mode) | Linux = Wispr Flow</a:t>
            </a:r>
            <a:endParaRPr lang="en-US" sz="825"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980722" y="957411"/>
            <a:ext cx="1182407" cy="186630"/>
          </a:xfrm>
          <a:prstGeom prst="rect">
            <a:avLst/>
          </a:prstGeom>
          <a:noFill/>
          <a:ln/>
        </p:spPr>
        <p:txBody>
          <a:bodyPr wrap="square" lIns="0" tIns="0" rIns="0" bIns="0" rtlCol="0" anchor="t"/>
          <a:lstStyle/>
          <a:p>
            <a:pPr algn="ctr" indent="0" marL="0">
              <a:lnSpc>
                <a:spcPts val="1470"/>
              </a:lnSpc>
              <a:spcAft>
                <a:spcPts val="1800"/>
              </a:spcAft>
              <a:buNone/>
            </a:pPr>
            <a:r>
              <a:rPr lang="en-US" sz="1050" dirty="0">
                <a:solidFill>
                  <a:srgbClr val="C9A227"/>
                </a:solidFill>
                <a:latin typeface="Arial" pitchFamily="34" charset="0"/>
                <a:ea typeface="Arial" pitchFamily="34" charset="-122"/>
                <a:cs typeface="Arial" pitchFamily="34" charset="-120"/>
              </a:rPr>
              <a:t>SECTION 03</a:t>
            </a:r>
            <a:endParaRPr lang="en-US" sz="1050" dirty="0"/>
          </a:p>
        </p:txBody>
      </p:sp>
      <p:sp>
        <p:nvSpPr>
          <p:cNvPr id="3" name="Text 1"/>
          <p:cNvSpPr/>
          <p:nvPr/>
        </p:nvSpPr>
        <p:spPr>
          <a:xfrm>
            <a:off x="2433984" y="1525042"/>
            <a:ext cx="4275883" cy="457200"/>
          </a:xfrm>
          <a:prstGeom prst="rect">
            <a:avLst/>
          </a:prstGeom>
          <a:noFill/>
          <a:ln/>
        </p:spPr>
        <p:txBody>
          <a:bodyPr wrap="square" lIns="0" tIns="0" rIns="0" bIns="0" rtlCol="0" anchor="t"/>
          <a:lstStyle/>
          <a:p>
            <a:pPr algn="ctr" indent="0" marL="0">
              <a:lnSpc>
                <a:spcPts val="3600"/>
              </a:lnSpc>
              <a:spcAft>
                <a:spcPts val="900"/>
              </a:spcAft>
              <a:buNone/>
            </a:pPr>
            <a:r>
              <a:rPr lang="en-US" sz="3600" dirty="0">
                <a:solidFill>
                  <a:srgbClr val="FFFFFF"/>
                </a:solidFill>
                <a:latin typeface="Georgia" pitchFamily="34" charset="0"/>
                <a:ea typeface="Georgia" pitchFamily="34" charset="-122"/>
                <a:cs typeface="Georgia" pitchFamily="34" charset="-120"/>
              </a:rPr>
              <a:t>AI Coding Assistants</a:t>
            </a:r>
            <a:endParaRPr lang="en-US" sz="3600" dirty="0"/>
          </a:p>
        </p:txBody>
      </p:sp>
      <p:sp>
        <p:nvSpPr>
          <p:cNvPr id="4" name="Text 2"/>
          <p:cNvSpPr/>
          <p:nvPr/>
        </p:nvSpPr>
        <p:spPr>
          <a:xfrm>
            <a:off x="3549293" y="2248942"/>
            <a:ext cx="2045265" cy="293340"/>
          </a:xfrm>
          <a:prstGeom prst="rect">
            <a:avLst/>
          </a:prstGeom>
          <a:noFill/>
          <a:ln/>
        </p:spPr>
        <p:txBody>
          <a:bodyPr wrap="square" lIns="0" tIns="0" rIns="0" bIns="0" rtlCol="0" anchor="t"/>
          <a:lstStyle/>
          <a:p>
            <a:pPr algn="ctr" indent="0" marL="0">
              <a:lnSpc>
                <a:spcPts val="2310"/>
              </a:lnSpc>
              <a:spcAft>
                <a:spcPts val="2400"/>
              </a:spcAft>
              <a:buNone/>
            </a:pPr>
            <a:r>
              <a:rPr lang="en-US" sz="1650" i="1" dirty="0">
                <a:solidFill>
                  <a:srgbClr val="FFFFFF">
                    <a:alpha val="80000"/>
                  </a:srgbClr>
                </a:solidFill>
                <a:latin typeface="Georgia" pitchFamily="34" charset="0"/>
                <a:ea typeface="Georgia" pitchFamily="34" charset="-122"/>
                <a:cs typeface="Georgia" pitchFamily="34" charset="-120"/>
              </a:rPr>
              <a:t>The Reasoning Layer</a:t>
            </a:r>
            <a:endParaRPr lang="en-US" sz="1650" dirty="0"/>
          </a:p>
        </p:txBody>
      </p:sp>
      <p:sp>
        <p:nvSpPr>
          <p:cNvPr id="5" name="Text 3"/>
          <p:cNvSpPr/>
          <p:nvPr/>
        </p:nvSpPr>
        <p:spPr>
          <a:xfrm>
            <a:off x="4191000" y="2999482"/>
            <a:ext cx="762000" cy="19050"/>
          </a:xfrm>
          <a:prstGeom prst="rect">
            <a:avLst/>
          </a:prstGeom>
          <a:solidFill>
            <a:srgbClr val="C9A227"/>
          </a:solidFill>
          <a:ln/>
        </p:spPr>
        <p:txBody>
          <a:bodyPr wrap="square" rtlCol="0" anchor="ctr"/>
          <a:lstStyle/>
          <a:p>
            <a:pPr indent="0" marL="0">
              <a:buNone/>
            </a:pPr>
            <a:endParaRPr lang="en-US" dirty="0"/>
          </a:p>
        </p:txBody>
      </p:sp>
      <p:sp>
        <p:nvSpPr>
          <p:cNvPr id="6" name="Text 4"/>
          <p:cNvSpPr/>
          <p:nvPr/>
        </p:nvSpPr>
        <p:spPr>
          <a:xfrm>
            <a:off x="3550907" y="3475732"/>
            <a:ext cx="150135" cy="373261"/>
          </a:xfrm>
          <a:prstGeom prst="rect">
            <a:avLst/>
          </a:prstGeom>
          <a:noFill/>
          <a:ln/>
        </p:spPr>
        <p:txBody>
          <a:bodyPr wrap="square" lIns="0" tIns="0" rIns="0" bIns="0" rtlCol="0" anchor="t"/>
          <a:lstStyle/>
          <a:p>
            <a:pPr algn="ctr" indent="0" marL="0">
              <a:lnSpc>
                <a:spcPts val="2940"/>
              </a:lnSpc>
              <a:buNone/>
            </a:pPr>
            <a:r>
              <a:rPr lang="en-US" sz="2100" dirty="0">
                <a:solidFill>
                  <a:srgbClr val="C9A227"/>
                </a:solidFill>
                <a:latin typeface="Georgia" pitchFamily="34" charset="0"/>
                <a:ea typeface="Georgia" pitchFamily="34" charset="-122"/>
                <a:cs typeface="Georgia" pitchFamily="34" charset="-120"/>
              </a:rPr>
              <a:t>3</a:t>
            </a:r>
            <a:endParaRPr lang="en-US" sz="2100" dirty="0"/>
          </a:p>
        </p:txBody>
      </p:sp>
      <p:sp>
        <p:nvSpPr>
          <p:cNvPr id="7" name="Text 5"/>
          <p:cNvSpPr/>
          <p:nvPr/>
        </p:nvSpPr>
        <p:spPr>
          <a:xfrm>
            <a:off x="3314090" y="4039493"/>
            <a:ext cx="623917" cy="146596"/>
          </a:xfrm>
          <a:prstGeom prst="rect">
            <a:avLst/>
          </a:prstGeom>
          <a:noFill/>
          <a:ln/>
        </p:spPr>
        <p:txBody>
          <a:bodyPr wrap="square" lIns="0" tIns="0" rIns="0" bIns="0" rtlCol="0" anchor="t"/>
          <a:lstStyle/>
          <a:p>
            <a:pPr algn="ctr" indent="0" marL="0">
              <a:lnSpc>
                <a:spcPts val="1155"/>
              </a:lnSpc>
              <a:spcBef>
                <a:spcPts val="300"/>
              </a:spcBef>
              <a:buNone/>
            </a:pPr>
            <a:r>
              <a:rPr lang="en-US" sz="825" dirty="0">
                <a:solidFill>
                  <a:srgbClr val="FFFFFF">
                    <a:alpha val="50000"/>
                  </a:srgbClr>
                </a:solidFill>
                <a:latin typeface="Arial" pitchFamily="34" charset="0"/>
                <a:ea typeface="Arial" pitchFamily="34" charset="-122"/>
                <a:cs typeface="Arial" pitchFamily="34" charset="-120"/>
              </a:rPr>
              <a:t>Claude Code</a:t>
            </a:r>
            <a:endParaRPr lang="en-US" sz="825" dirty="0"/>
          </a:p>
        </p:txBody>
      </p:sp>
      <p:sp>
        <p:nvSpPr>
          <p:cNvPr id="8" name="Text 6"/>
          <p:cNvSpPr/>
          <p:nvPr/>
        </p:nvSpPr>
        <p:spPr>
          <a:xfrm>
            <a:off x="4518403" y="3475732"/>
            <a:ext cx="153778" cy="373261"/>
          </a:xfrm>
          <a:prstGeom prst="rect">
            <a:avLst/>
          </a:prstGeom>
          <a:noFill/>
          <a:ln/>
        </p:spPr>
        <p:txBody>
          <a:bodyPr wrap="square" lIns="0" tIns="0" rIns="0" bIns="0" rtlCol="0" anchor="t"/>
          <a:lstStyle/>
          <a:p>
            <a:pPr algn="ctr" indent="0" marL="0">
              <a:lnSpc>
                <a:spcPts val="2940"/>
              </a:lnSpc>
              <a:buNone/>
            </a:pPr>
            <a:r>
              <a:rPr lang="en-US" sz="2100" dirty="0">
                <a:solidFill>
                  <a:srgbClr val="C9A227"/>
                </a:solidFill>
                <a:latin typeface="Georgia" pitchFamily="34" charset="0"/>
                <a:ea typeface="Georgia" pitchFamily="34" charset="-122"/>
                <a:cs typeface="Georgia" pitchFamily="34" charset="-120"/>
              </a:rPr>
              <a:t>4</a:t>
            </a:r>
            <a:endParaRPr lang="en-US" sz="2100" dirty="0"/>
          </a:p>
        </p:txBody>
      </p:sp>
      <p:sp>
        <p:nvSpPr>
          <p:cNvPr id="9" name="Text 7"/>
          <p:cNvSpPr/>
          <p:nvPr/>
        </p:nvSpPr>
        <p:spPr>
          <a:xfrm>
            <a:off x="4307241" y="4039493"/>
            <a:ext cx="576251" cy="146596"/>
          </a:xfrm>
          <a:prstGeom prst="rect">
            <a:avLst/>
          </a:prstGeom>
          <a:noFill/>
          <a:ln/>
        </p:spPr>
        <p:txBody>
          <a:bodyPr wrap="square" lIns="0" tIns="0" rIns="0" bIns="0" rtlCol="0" anchor="t"/>
          <a:lstStyle/>
          <a:p>
            <a:pPr algn="ctr" indent="0" marL="0">
              <a:lnSpc>
                <a:spcPts val="1155"/>
              </a:lnSpc>
              <a:spcBef>
                <a:spcPts val="300"/>
              </a:spcBef>
              <a:buNone/>
            </a:pPr>
            <a:r>
              <a:rPr lang="en-US" sz="825" dirty="0">
                <a:solidFill>
                  <a:srgbClr val="FFFFFF">
                    <a:alpha val="50000"/>
                  </a:srgbClr>
                </a:solidFill>
                <a:latin typeface="Arial" pitchFamily="34" charset="0"/>
                <a:ea typeface="Arial" pitchFamily="34" charset="-122"/>
                <a:cs typeface="Arial" pitchFamily="34" charset="-120"/>
              </a:rPr>
              <a:t>IDE Options</a:t>
            </a:r>
            <a:endParaRPr lang="en-US" sz="825" dirty="0"/>
          </a:p>
        </p:txBody>
      </p:sp>
      <p:sp>
        <p:nvSpPr>
          <p:cNvPr id="10" name="Text 8"/>
          <p:cNvSpPr/>
          <p:nvPr/>
        </p:nvSpPr>
        <p:spPr>
          <a:xfrm>
            <a:off x="5482873" y="3475732"/>
            <a:ext cx="116890" cy="373261"/>
          </a:xfrm>
          <a:prstGeom prst="rect">
            <a:avLst/>
          </a:prstGeom>
          <a:noFill/>
          <a:ln/>
        </p:spPr>
        <p:txBody>
          <a:bodyPr wrap="square" lIns="0" tIns="0" rIns="0" bIns="0" rtlCol="0" anchor="t"/>
          <a:lstStyle/>
          <a:p>
            <a:pPr algn="ctr" indent="0" marL="0">
              <a:lnSpc>
                <a:spcPts val="2940"/>
              </a:lnSpc>
              <a:buNone/>
            </a:pPr>
            <a:r>
              <a:rPr lang="en-US" sz="2100" dirty="0">
                <a:solidFill>
                  <a:srgbClr val="C9A227"/>
                </a:solidFill>
                <a:latin typeface="Georgia" pitchFamily="34" charset="0"/>
                <a:ea typeface="Georgia" pitchFamily="34" charset="-122"/>
                <a:cs typeface="Georgia" pitchFamily="34" charset="-120"/>
              </a:rPr>
              <a:t>1</a:t>
            </a:r>
            <a:endParaRPr lang="en-US" sz="2100" dirty="0"/>
          </a:p>
        </p:txBody>
      </p:sp>
      <p:sp>
        <p:nvSpPr>
          <p:cNvPr id="11" name="Text 9"/>
          <p:cNvSpPr/>
          <p:nvPr/>
        </p:nvSpPr>
        <p:spPr>
          <a:xfrm>
            <a:off x="5253192" y="4039493"/>
            <a:ext cx="576251" cy="146596"/>
          </a:xfrm>
          <a:prstGeom prst="rect">
            <a:avLst/>
          </a:prstGeom>
          <a:noFill/>
          <a:ln/>
        </p:spPr>
        <p:txBody>
          <a:bodyPr wrap="square" lIns="0" tIns="0" rIns="0" bIns="0" rtlCol="0" anchor="t"/>
          <a:lstStyle/>
          <a:p>
            <a:pPr algn="ctr" indent="0" marL="0">
              <a:lnSpc>
                <a:spcPts val="1155"/>
              </a:lnSpc>
              <a:spcBef>
                <a:spcPts val="300"/>
              </a:spcBef>
              <a:buNone/>
            </a:pPr>
            <a:r>
              <a:rPr lang="en-US" sz="825" dirty="0">
                <a:solidFill>
                  <a:srgbClr val="FFFFFF">
                    <a:alpha val="50000"/>
                  </a:srgbClr>
                </a:solidFill>
                <a:latin typeface="Arial" pitchFamily="34" charset="0"/>
                <a:ea typeface="Arial" pitchFamily="34" charset="-122"/>
                <a:cs typeface="Arial" pitchFamily="34" charset="-120"/>
              </a:rPr>
              <a:t>Comparison</a:t>
            </a:r>
            <a:endParaRPr lang="en-US" sz="825" dirty="0"/>
          </a:p>
        </p:txBody>
      </p:sp>
      <p:sp>
        <p:nvSpPr>
          <p:cNvPr id="12" name="Text 10"/>
          <p:cNvSpPr/>
          <p:nvPr/>
        </p:nvSpPr>
        <p:spPr>
          <a:xfrm>
            <a:off x="8127653" y="4678710"/>
            <a:ext cx="570330" cy="159990"/>
          </a:xfrm>
          <a:prstGeom prst="rect">
            <a:avLst/>
          </a:prstGeom>
          <a:noFill/>
          <a:ln/>
        </p:spPr>
        <p:txBody>
          <a:bodyPr wrap="square" lIns="0" tIns="0" rIns="0" bIns="0" rtlCol="0" anchor="t"/>
          <a:lstStyle/>
          <a:p>
            <a:pPr algn="l" indent="0" marL="0">
              <a:lnSpc>
                <a:spcPts val="1260"/>
              </a:lnSpc>
              <a:buNone/>
            </a:pPr>
            <a:r>
              <a:rPr lang="en-US" sz="900" dirty="0">
                <a:solidFill>
                  <a:srgbClr val="FFFFFF">
                    <a:alpha val="30000"/>
                  </a:srgbClr>
                </a:solidFill>
                <a:latin typeface="Arial" pitchFamily="34" charset="0"/>
                <a:ea typeface="Arial" pitchFamily="34" charset="-122"/>
                <a:cs typeface="Arial" pitchFamily="34" charset="-120"/>
              </a:rPr>
              <a:t>15 minutes</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457200" y="304800"/>
            <a:ext cx="8394192" cy="146596"/>
          </a:xfrm>
          <a:prstGeom prst="rect">
            <a:avLst/>
          </a:prstGeom>
          <a:noFill/>
          <a:ln/>
        </p:spPr>
        <p:txBody>
          <a:bodyPr wrap="square" lIns="0" tIns="0" rIns="0" bIns="0" rtlCol="0" anchor="t"/>
          <a:lstStyle/>
          <a:p>
            <a:pPr algn="l" indent="0" marL="0">
              <a:lnSpc>
                <a:spcPts val="1155"/>
              </a:lnSpc>
              <a:spcAft>
                <a:spcPts val="600"/>
              </a:spcAft>
              <a:buNone/>
            </a:pPr>
            <a:r>
              <a:rPr lang="en-US" sz="825" dirty="0">
                <a:solidFill>
                  <a:srgbClr val="C9A227"/>
                </a:solidFill>
                <a:latin typeface="Arial" pitchFamily="34" charset="0"/>
                <a:ea typeface="Arial" pitchFamily="34" charset="-122"/>
                <a:cs typeface="Arial" pitchFamily="34" charset="-120"/>
              </a:rPr>
              <a:t>ARCHITECTURE</a:t>
            </a:r>
            <a:endParaRPr lang="en-US" sz="825" dirty="0"/>
          </a:p>
        </p:txBody>
      </p:sp>
      <p:sp>
        <p:nvSpPr>
          <p:cNvPr id="3" name="Text 1"/>
          <p:cNvSpPr/>
          <p:nvPr/>
        </p:nvSpPr>
        <p:spPr>
          <a:xfrm>
            <a:off x="457200" y="527596"/>
            <a:ext cx="4206812" cy="304800"/>
          </a:xfrm>
          <a:prstGeom prst="rect">
            <a:avLst/>
          </a:prstGeom>
          <a:noFill/>
          <a:ln/>
        </p:spPr>
        <p:txBody>
          <a:bodyPr wrap="square" lIns="0" tIns="0" rIns="0" bIns="0" rtlCol="0" anchor="t"/>
          <a:lstStyle/>
          <a:p>
            <a:pPr algn="l" indent="0" marL="0">
              <a:lnSpc>
                <a:spcPts val="2400"/>
              </a:lnSpc>
              <a:buNone/>
            </a:pPr>
            <a:r>
              <a:rPr lang="en-US" sz="2400" dirty="0">
                <a:solidFill>
                  <a:srgbClr val="1A1F2E"/>
                </a:solidFill>
                <a:latin typeface="Georgia" pitchFamily="34" charset="0"/>
                <a:ea typeface="Georgia" pitchFamily="34" charset="-122"/>
                <a:cs typeface="Georgia" pitchFamily="34" charset="-120"/>
              </a:rPr>
              <a:t>The AI Development Stack</a:t>
            </a:r>
            <a:endParaRPr lang="en-US" sz="2400" dirty="0"/>
          </a:p>
        </p:txBody>
      </p:sp>
      <p:sp>
        <p:nvSpPr>
          <p:cNvPr id="4" name="Text 2"/>
          <p:cNvSpPr/>
          <p:nvPr/>
        </p:nvSpPr>
        <p:spPr>
          <a:xfrm>
            <a:off x="1238250" y="1602135"/>
            <a:ext cx="952500" cy="952500"/>
          </a:xfrm>
          <a:prstGeom prst="rect">
            <a:avLst/>
          </a:prstGeom>
          <a:solidFill>
            <a:srgbClr val="1A1F2E"/>
          </a:solidFill>
          <a:ln/>
        </p:spPr>
        <p:txBody>
          <a:bodyPr wrap="square" rtlCol="0" anchor="ctr"/>
          <a:lstStyle/>
          <a:p>
            <a:pPr indent="0" marL="0">
              <a:buNone/>
            </a:pPr>
            <a:endParaRPr lang="en-US" dirty="0"/>
          </a:p>
        </p:txBody>
      </p:sp>
      <p:sp>
        <p:nvSpPr>
          <p:cNvPr id="5" name="Text 3"/>
          <p:cNvSpPr/>
          <p:nvPr/>
        </p:nvSpPr>
        <p:spPr>
          <a:xfrm>
            <a:off x="1649529" y="1825972"/>
            <a:ext cx="129793" cy="319980"/>
          </a:xfrm>
          <a:prstGeom prst="rect">
            <a:avLst/>
          </a:prstGeom>
          <a:noFill/>
          <a:ln/>
        </p:spPr>
        <p:txBody>
          <a:bodyPr wrap="square" lIns="0" tIns="0" rIns="0" bIns="0" rtlCol="0" anchor="t"/>
          <a:lstStyle/>
          <a:p>
            <a:pPr algn="ctr" indent="0" marL="0">
              <a:lnSpc>
                <a:spcPts val="2520"/>
              </a:lnSpc>
              <a:buNone/>
            </a:pPr>
            <a:r>
              <a:rPr lang="en-US" sz="1800" dirty="0">
                <a:solidFill>
                  <a:srgbClr val="C9A227"/>
                </a:solidFill>
                <a:latin typeface="Arial" pitchFamily="34" charset="0"/>
                <a:ea typeface="Arial" pitchFamily="34" charset="-122"/>
                <a:cs typeface="Arial" pitchFamily="34" charset="-120"/>
              </a:rPr>
              <a:t>1</a:t>
            </a:r>
            <a:endParaRPr lang="en-US" sz="1800" dirty="0"/>
          </a:p>
        </p:txBody>
      </p:sp>
      <p:sp>
        <p:nvSpPr>
          <p:cNvPr id="6" name="Text 4"/>
          <p:cNvSpPr/>
          <p:nvPr/>
        </p:nvSpPr>
        <p:spPr>
          <a:xfrm>
            <a:off x="1548124" y="2184053"/>
            <a:ext cx="332604" cy="146596"/>
          </a:xfrm>
          <a:prstGeom prst="rect">
            <a:avLst/>
          </a:prstGeom>
          <a:noFill/>
          <a:ln/>
        </p:spPr>
        <p:txBody>
          <a:bodyPr wrap="square" lIns="0" tIns="0" rIns="0" bIns="0" rtlCol="0" anchor="t"/>
          <a:lstStyle/>
          <a:p>
            <a:pPr algn="ctr" indent="0" marL="0">
              <a:lnSpc>
                <a:spcPts val="1155"/>
              </a:lnSpc>
              <a:spcBef>
                <a:spcPts val="300"/>
              </a:spcBef>
              <a:buNone/>
            </a:pPr>
            <a:r>
              <a:rPr lang="en-US" sz="825" dirty="0">
                <a:solidFill>
                  <a:srgbClr val="FFFFFF"/>
                </a:solidFill>
                <a:latin typeface="Arial" pitchFamily="34" charset="0"/>
                <a:ea typeface="Arial" pitchFamily="34" charset="-122"/>
                <a:cs typeface="Arial" pitchFamily="34" charset="-120"/>
              </a:rPr>
              <a:t>VOICE</a:t>
            </a:r>
            <a:endParaRPr lang="en-US" sz="825" dirty="0"/>
          </a:p>
        </p:txBody>
      </p:sp>
      <p:sp>
        <p:nvSpPr>
          <p:cNvPr id="7" name="Text 5"/>
          <p:cNvSpPr/>
          <p:nvPr/>
        </p:nvSpPr>
        <p:spPr>
          <a:xfrm>
            <a:off x="1375825" y="2802285"/>
            <a:ext cx="677201" cy="293191"/>
          </a:xfrm>
          <a:prstGeom prst="rect">
            <a:avLst/>
          </a:prstGeom>
          <a:noFill/>
          <a:ln/>
        </p:spPr>
        <p:txBody>
          <a:bodyPr wrap="square" lIns="0" tIns="0" rIns="0" bIns="0" rtlCol="0" anchor="t"/>
          <a:lstStyle/>
          <a:p>
            <a:pPr algn="ctr" indent="0" marL="0">
              <a:lnSpc>
                <a:spcPts val="1155"/>
              </a:lnSpc>
              <a:spcBef>
                <a:spcPts val="750"/>
              </a:spcBef>
              <a:buNone/>
            </a:pPr>
            <a:r>
              <a:rPr lang="en-US" sz="825" dirty="0">
                <a:solidFill>
                  <a:srgbClr val="6B7280"/>
                </a:solidFill>
                <a:latin typeface="Arial" pitchFamily="34" charset="0"/>
                <a:ea typeface="Arial" pitchFamily="34" charset="-122"/>
                <a:cs typeface="Arial" pitchFamily="34" charset="-120"/>
              </a:rPr>
              <a:t>SuperWhisper</a:t>
            </a:r>
            <a:endParaRPr lang="en-US" sz="825" dirty="0"/>
          </a:p>
          <a:p>
            <a:pPr algn="ctr" indent="0" marL="0">
              <a:lnSpc>
                <a:spcPts val="1155"/>
              </a:lnSpc>
              <a:spcBef>
                <a:spcPts val="750"/>
              </a:spcBef>
              <a:buNone/>
            </a:pPr>
            <a:r>
              <a:rPr lang="en-US" sz="825" dirty="0">
                <a:solidFill>
                  <a:srgbClr val="6B7280"/>
                </a:solidFill>
                <a:latin typeface="Arial" pitchFamily="34" charset="0"/>
                <a:ea typeface="Arial" pitchFamily="34" charset="-122"/>
                <a:cs typeface="Arial" pitchFamily="34" charset="-120"/>
              </a:rPr>
              <a:t>Wispr Flow</a:t>
            </a:r>
            <a:endParaRPr lang="en-US" sz="825" dirty="0"/>
          </a:p>
        </p:txBody>
      </p:sp>
      <p:sp>
        <p:nvSpPr>
          <p:cNvPr id="8" name="Text 6"/>
          <p:cNvSpPr/>
          <p:nvPr/>
        </p:nvSpPr>
        <p:spPr>
          <a:xfrm>
            <a:off x="2476500" y="2339280"/>
            <a:ext cx="381000" cy="19050"/>
          </a:xfrm>
          <a:prstGeom prst="rect">
            <a:avLst/>
          </a:prstGeom>
          <a:solidFill>
            <a:srgbClr val="C9A227"/>
          </a:solidFill>
          <a:ln/>
        </p:spPr>
        <p:txBody>
          <a:bodyPr wrap="square" rtlCol="0" anchor="ctr"/>
          <a:lstStyle/>
          <a:p>
            <a:pPr indent="0" marL="0">
              <a:buNone/>
            </a:pPr>
            <a:endParaRPr lang="en-US" dirty="0"/>
          </a:p>
        </p:txBody>
      </p:sp>
      <p:sp>
        <p:nvSpPr>
          <p:cNvPr id="9" name="Shape 7"/>
          <p:cNvSpPr/>
          <p:nvPr/>
        </p:nvSpPr>
        <p:spPr>
          <a:xfrm>
            <a:off x="2819400" y="2324993"/>
            <a:ext cx="95250" cy="0"/>
          </a:xfrm>
          <a:prstGeom prst="line">
            <a:avLst/>
          </a:prstGeom>
          <a:noFill/>
          <a:ln w="47625">
            <a:solidFill>
              <a:srgbClr val="FFFFFF"/>
            </a:solidFill>
            <a:prstDash val="solid"/>
          </a:ln>
        </p:spPr>
      </p:sp>
      <p:sp>
        <p:nvSpPr>
          <p:cNvPr id="10" name="Shape 8"/>
          <p:cNvSpPr/>
          <p:nvPr/>
        </p:nvSpPr>
        <p:spPr>
          <a:xfrm>
            <a:off x="2819400" y="2372618"/>
            <a:ext cx="95250" cy="0"/>
          </a:xfrm>
          <a:prstGeom prst="line">
            <a:avLst/>
          </a:prstGeom>
          <a:noFill/>
          <a:ln w="47625">
            <a:solidFill>
              <a:srgbClr val="FFFFFF"/>
            </a:solidFill>
            <a:prstDash val="solid"/>
          </a:ln>
        </p:spPr>
      </p:sp>
      <p:sp>
        <p:nvSpPr>
          <p:cNvPr id="11" name="Shape 9"/>
          <p:cNvSpPr/>
          <p:nvPr/>
        </p:nvSpPr>
        <p:spPr>
          <a:xfrm>
            <a:off x="2867025" y="2301180"/>
            <a:ext cx="0" cy="95250"/>
          </a:xfrm>
          <a:prstGeom prst="line">
            <a:avLst/>
          </a:prstGeom>
          <a:noFill/>
          <a:ln w="95250">
            <a:solidFill>
              <a:srgbClr val="C9A227"/>
            </a:solidFill>
            <a:prstDash val="solid"/>
          </a:ln>
        </p:spPr>
      </p:sp>
      <p:sp>
        <p:nvSpPr>
          <p:cNvPr id="12" name="Text 10"/>
          <p:cNvSpPr/>
          <p:nvPr/>
        </p:nvSpPr>
        <p:spPr>
          <a:xfrm>
            <a:off x="3143250" y="1602135"/>
            <a:ext cx="952500" cy="952500"/>
          </a:xfrm>
          <a:prstGeom prst="rect">
            <a:avLst/>
          </a:prstGeom>
          <a:solidFill>
            <a:srgbClr val="252B3D"/>
          </a:solidFill>
          <a:ln/>
        </p:spPr>
        <p:txBody>
          <a:bodyPr wrap="square" rtlCol="0" anchor="ctr"/>
          <a:lstStyle/>
          <a:p>
            <a:pPr indent="0" marL="0">
              <a:buNone/>
            </a:pPr>
            <a:endParaRPr lang="en-US" dirty="0"/>
          </a:p>
        </p:txBody>
      </p:sp>
      <p:sp>
        <p:nvSpPr>
          <p:cNvPr id="13" name="Text 11"/>
          <p:cNvSpPr/>
          <p:nvPr/>
        </p:nvSpPr>
        <p:spPr>
          <a:xfrm>
            <a:off x="3554529" y="1825972"/>
            <a:ext cx="129793" cy="319980"/>
          </a:xfrm>
          <a:prstGeom prst="rect">
            <a:avLst/>
          </a:prstGeom>
          <a:noFill/>
          <a:ln/>
        </p:spPr>
        <p:txBody>
          <a:bodyPr wrap="square" lIns="0" tIns="0" rIns="0" bIns="0" rtlCol="0" anchor="t"/>
          <a:lstStyle/>
          <a:p>
            <a:pPr algn="ctr" indent="0" marL="0">
              <a:lnSpc>
                <a:spcPts val="2520"/>
              </a:lnSpc>
              <a:buNone/>
            </a:pPr>
            <a:r>
              <a:rPr lang="en-US" sz="1800" dirty="0">
                <a:solidFill>
                  <a:srgbClr val="C9A227"/>
                </a:solidFill>
                <a:latin typeface="Arial" pitchFamily="34" charset="0"/>
                <a:ea typeface="Arial" pitchFamily="34" charset="-122"/>
                <a:cs typeface="Arial" pitchFamily="34" charset="-120"/>
              </a:rPr>
              <a:t>2</a:t>
            </a:r>
            <a:endParaRPr lang="en-US" sz="1800" dirty="0"/>
          </a:p>
        </p:txBody>
      </p:sp>
      <p:sp>
        <p:nvSpPr>
          <p:cNvPr id="14" name="Text 12"/>
          <p:cNvSpPr/>
          <p:nvPr/>
        </p:nvSpPr>
        <p:spPr>
          <a:xfrm>
            <a:off x="3275055" y="2184053"/>
            <a:ext cx="688890" cy="146596"/>
          </a:xfrm>
          <a:prstGeom prst="rect">
            <a:avLst/>
          </a:prstGeom>
          <a:noFill/>
          <a:ln/>
        </p:spPr>
        <p:txBody>
          <a:bodyPr wrap="square" lIns="0" tIns="0" rIns="0" bIns="0" rtlCol="0" anchor="t"/>
          <a:lstStyle/>
          <a:p>
            <a:pPr algn="ctr" indent="0" marL="0">
              <a:lnSpc>
                <a:spcPts val="1155"/>
              </a:lnSpc>
              <a:spcBef>
                <a:spcPts val="300"/>
              </a:spcBef>
              <a:buNone/>
            </a:pPr>
            <a:r>
              <a:rPr lang="en-US" sz="825" dirty="0">
                <a:solidFill>
                  <a:srgbClr val="FFFFFF"/>
                </a:solidFill>
                <a:latin typeface="Arial" pitchFamily="34" charset="0"/>
                <a:ea typeface="Arial" pitchFamily="34" charset="-122"/>
                <a:cs typeface="Arial" pitchFamily="34" charset="-120"/>
              </a:rPr>
              <a:t>TRANSCRIBE</a:t>
            </a:r>
            <a:endParaRPr lang="en-US" sz="825" dirty="0"/>
          </a:p>
        </p:txBody>
      </p:sp>
      <p:sp>
        <p:nvSpPr>
          <p:cNvPr id="15" name="Text 13"/>
          <p:cNvSpPr/>
          <p:nvPr/>
        </p:nvSpPr>
        <p:spPr>
          <a:xfrm>
            <a:off x="3239231" y="2802285"/>
            <a:ext cx="760390" cy="293191"/>
          </a:xfrm>
          <a:prstGeom prst="rect">
            <a:avLst/>
          </a:prstGeom>
          <a:noFill/>
          <a:ln/>
        </p:spPr>
        <p:txBody>
          <a:bodyPr wrap="square" lIns="0" tIns="0" rIns="0" bIns="0" rtlCol="0" anchor="t"/>
          <a:lstStyle/>
          <a:p>
            <a:pPr algn="ctr" indent="0" marL="0">
              <a:lnSpc>
                <a:spcPts val="1155"/>
              </a:lnSpc>
              <a:spcBef>
                <a:spcPts val="750"/>
              </a:spcBef>
              <a:buNone/>
            </a:pPr>
            <a:r>
              <a:rPr lang="en-US" sz="825" dirty="0">
                <a:solidFill>
                  <a:srgbClr val="6B7280"/>
                </a:solidFill>
                <a:latin typeface="Arial" pitchFamily="34" charset="0"/>
                <a:ea typeface="Arial" pitchFamily="34" charset="-122"/>
                <a:cs typeface="Arial" pitchFamily="34" charset="-120"/>
              </a:rPr>
              <a:t>Whisper Model</a:t>
            </a:r>
            <a:endParaRPr lang="en-US" sz="825" dirty="0"/>
          </a:p>
          <a:p>
            <a:pPr algn="ctr" indent="0" marL="0">
              <a:lnSpc>
                <a:spcPts val="1155"/>
              </a:lnSpc>
              <a:spcBef>
                <a:spcPts val="750"/>
              </a:spcBef>
              <a:buNone/>
            </a:pPr>
            <a:r>
              <a:rPr lang="en-US" sz="825" dirty="0">
                <a:solidFill>
                  <a:srgbClr val="6B7280"/>
                </a:solidFill>
                <a:latin typeface="Arial" pitchFamily="34" charset="0"/>
                <a:ea typeface="Arial" pitchFamily="34" charset="-122"/>
                <a:cs typeface="Arial" pitchFamily="34" charset="-120"/>
              </a:rPr>
              <a:t>(Local or Cloud)</a:t>
            </a:r>
            <a:endParaRPr lang="en-US" sz="825" dirty="0"/>
          </a:p>
        </p:txBody>
      </p:sp>
      <p:sp>
        <p:nvSpPr>
          <p:cNvPr id="16" name="Text 14"/>
          <p:cNvSpPr/>
          <p:nvPr/>
        </p:nvSpPr>
        <p:spPr>
          <a:xfrm>
            <a:off x="4381500" y="2339280"/>
            <a:ext cx="381000" cy="19050"/>
          </a:xfrm>
          <a:prstGeom prst="rect">
            <a:avLst/>
          </a:prstGeom>
          <a:solidFill>
            <a:srgbClr val="C9A227"/>
          </a:solidFill>
          <a:ln/>
        </p:spPr>
        <p:txBody>
          <a:bodyPr wrap="square" rtlCol="0" anchor="ctr"/>
          <a:lstStyle/>
          <a:p>
            <a:pPr indent="0" marL="0">
              <a:buNone/>
            </a:pPr>
            <a:endParaRPr lang="en-US" dirty="0"/>
          </a:p>
        </p:txBody>
      </p:sp>
      <p:sp>
        <p:nvSpPr>
          <p:cNvPr id="17" name="Shape 15"/>
          <p:cNvSpPr/>
          <p:nvPr/>
        </p:nvSpPr>
        <p:spPr>
          <a:xfrm>
            <a:off x="4724400" y="2324993"/>
            <a:ext cx="95250" cy="0"/>
          </a:xfrm>
          <a:prstGeom prst="line">
            <a:avLst/>
          </a:prstGeom>
          <a:noFill/>
          <a:ln w="47625">
            <a:solidFill>
              <a:srgbClr val="FFFFFF"/>
            </a:solidFill>
            <a:prstDash val="solid"/>
          </a:ln>
        </p:spPr>
      </p:sp>
      <p:sp>
        <p:nvSpPr>
          <p:cNvPr id="18" name="Shape 16"/>
          <p:cNvSpPr/>
          <p:nvPr/>
        </p:nvSpPr>
        <p:spPr>
          <a:xfrm>
            <a:off x="4724400" y="2372618"/>
            <a:ext cx="95250" cy="0"/>
          </a:xfrm>
          <a:prstGeom prst="line">
            <a:avLst/>
          </a:prstGeom>
          <a:noFill/>
          <a:ln w="47625">
            <a:solidFill>
              <a:srgbClr val="FFFFFF"/>
            </a:solidFill>
            <a:prstDash val="solid"/>
          </a:ln>
        </p:spPr>
      </p:sp>
      <p:sp>
        <p:nvSpPr>
          <p:cNvPr id="19" name="Shape 17"/>
          <p:cNvSpPr/>
          <p:nvPr/>
        </p:nvSpPr>
        <p:spPr>
          <a:xfrm>
            <a:off x="4772025" y="2301180"/>
            <a:ext cx="0" cy="95250"/>
          </a:xfrm>
          <a:prstGeom prst="line">
            <a:avLst/>
          </a:prstGeom>
          <a:noFill/>
          <a:ln w="95250">
            <a:solidFill>
              <a:srgbClr val="C9A227"/>
            </a:solidFill>
            <a:prstDash val="solid"/>
          </a:ln>
        </p:spPr>
      </p:sp>
      <p:sp>
        <p:nvSpPr>
          <p:cNvPr id="20" name="Text 18"/>
          <p:cNvSpPr/>
          <p:nvPr/>
        </p:nvSpPr>
        <p:spPr>
          <a:xfrm>
            <a:off x="5048250" y="1602135"/>
            <a:ext cx="952500" cy="952500"/>
          </a:xfrm>
          <a:prstGeom prst="rect">
            <a:avLst/>
          </a:prstGeom>
          <a:solidFill>
            <a:srgbClr val="C9A227"/>
          </a:solidFill>
          <a:ln/>
        </p:spPr>
        <p:txBody>
          <a:bodyPr wrap="square" rtlCol="0" anchor="ctr"/>
          <a:lstStyle/>
          <a:p>
            <a:pPr indent="0" marL="0">
              <a:buNone/>
            </a:pPr>
            <a:endParaRPr lang="en-US" dirty="0"/>
          </a:p>
        </p:txBody>
      </p:sp>
      <p:sp>
        <p:nvSpPr>
          <p:cNvPr id="21" name="Text 19"/>
          <p:cNvSpPr/>
          <p:nvPr/>
        </p:nvSpPr>
        <p:spPr>
          <a:xfrm>
            <a:off x="5459529" y="1825972"/>
            <a:ext cx="129793" cy="319980"/>
          </a:xfrm>
          <a:prstGeom prst="rect">
            <a:avLst/>
          </a:prstGeom>
          <a:noFill/>
          <a:ln/>
        </p:spPr>
        <p:txBody>
          <a:bodyPr wrap="square" lIns="0" tIns="0" rIns="0" bIns="0" rtlCol="0" anchor="t"/>
          <a:lstStyle/>
          <a:p>
            <a:pPr algn="ctr" indent="0" marL="0">
              <a:lnSpc>
                <a:spcPts val="2520"/>
              </a:lnSpc>
              <a:buNone/>
            </a:pPr>
            <a:r>
              <a:rPr lang="en-US" sz="1800" b="1" dirty="0">
                <a:solidFill>
                  <a:srgbClr val="1A1F2E"/>
                </a:solidFill>
                <a:latin typeface="Arial" pitchFamily="34" charset="0"/>
                <a:ea typeface="Arial" pitchFamily="34" charset="-122"/>
                <a:cs typeface="Arial" pitchFamily="34" charset="-120"/>
              </a:rPr>
              <a:t>3</a:t>
            </a:r>
            <a:endParaRPr lang="en-US" sz="1800" dirty="0"/>
          </a:p>
        </p:txBody>
      </p:sp>
      <p:sp>
        <p:nvSpPr>
          <p:cNvPr id="22" name="Text 20"/>
          <p:cNvSpPr/>
          <p:nvPr/>
        </p:nvSpPr>
        <p:spPr>
          <a:xfrm>
            <a:off x="5295882" y="2184053"/>
            <a:ext cx="457236" cy="146596"/>
          </a:xfrm>
          <a:prstGeom prst="rect">
            <a:avLst/>
          </a:prstGeom>
          <a:noFill/>
          <a:ln/>
        </p:spPr>
        <p:txBody>
          <a:bodyPr wrap="square" lIns="0" tIns="0" rIns="0" bIns="0" rtlCol="0" anchor="t"/>
          <a:lstStyle/>
          <a:p>
            <a:pPr algn="ctr" indent="0" marL="0">
              <a:lnSpc>
                <a:spcPts val="1155"/>
              </a:lnSpc>
              <a:spcBef>
                <a:spcPts val="300"/>
              </a:spcBef>
              <a:buNone/>
            </a:pPr>
            <a:r>
              <a:rPr lang="en-US" sz="825" b="1" dirty="0">
                <a:solidFill>
                  <a:srgbClr val="1A1F2E"/>
                </a:solidFill>
                <a:latin typeface="Arial" pitchFamily="34" charset="0"/>
                <a:ea typeface="Arial" pitchFamily="34" charset="-122"/>
                <a:cs typeface="Arial" pitchFamily="34" charset="-120"/>
              </a:rPr>
              <a:t>REASON</a:t>
            </a:r>
            <a:endParaRPr lang="en-US" sz="825" dirty="0"/>
          </a:p>
        </p:txBody>
      </p:sp>
      <p:sp>
        <p:nvSpPr>
          <p:cNvPr id="23" name="Text 21"/>
          <p:cNvSpPr/>
          <p:nvPr/>
        </p:nvSpPr>
        <p:spPr>
          <a:xfrm>
            <a:off x="5197818" y="2802285"/>
            <a:ext cx="653216" cy="293191"/>
          </a:xfrm>
          <a:prstGeom prst="rect">
            <a:avLst/>
          </a:prstGeom>
          <a:noFill/>
          <a:ln/>
        </p:spPr>
        <p:txBody>
          <a:bodyPr wrap="square" lIns="0" tIns="0" rIns="0" bIns="0" rtlCol="0" anchor="t"/>
          <a:lstStyle/>
          <a:p>
            <a:pPr algn="ctr" indent="0" marL="0">
              <a:lnSpc>
                <a:spcPts val="1155"/>
              </a:lnSpc>
              <a:spcBef>
                <a:spcPts val="750"/>
              </a:spcBef>
              <a:buNone/>
            </a:pPr>
            <a:r>
              <a:rPr lang="en-US" sz="825" dirty="0">
                <a:solidFill>
                  <a:srgbClr val="1A1F2E"/>
                </a:solidFill>
                <a:latin typeface="Arial" pitchFamily="34" charset="0"/>
                <a:ea typeface="Arial" pitchFamily="34" charset="-122"/>
                <a:cs typeface="Arial" pitchFamily="34" charset="-120"/>
              </a:rPr>
              <a:t>Claude Code</a:t>
            </a:r>
            <a:endParaRPr lang="en-US" sz="825" dirty="0"/>
          </a:p>
          <a:p>
            <a:pPr algn="ctr" indent="0" marL="0">
              <a:lnSpc>
                <a:spcPts val="1155"/>
              </a:lnSpc>
              <a:spcBef>
                <a:spcPts val="750"/>
              </a:spcBef>
              <a:buNone/>
            </a:pPr>
            <a:r>
              <a:rPr lang="en-US" sz="825" dirty="0">
                <a:solidFill>
                  <a:srgbClr val="1A1F2E"/>
                </a:solidFill>
                <a:latin typeface="Arial" pitchFamily="34" charset="0"/>
                <a:ea typeface="Arial" pitchFamily="34" charset="-122"/>
                <a:cs typeface="Arial" pitchFamily="34" charset="-120"/>
              </a:rPr>
              <a:t>AI Assistant</a:t>
            </a:r>
            <a:endParaRPr lang="en-US" sz="825" dirty="0"/>
          </a:p>
        </p:txBody>
      </p:sp>
      <p:sp>
        <p:nvSpPr>
          <p:cNvPr id="24" name="Text 22"/>
          <p:cNvSpPr/>
          <p:nvPr/>
        </p:nvSpPr>
        <p:spPr>
          <a:xfrm>
            <a:off x="6286500" y="2339280"/>
            <a:ext cx="381000" cy="19050"/>
          </a:xfrm>
          <a:prstGeom prst="rect">
            <a:avLst/>
          </a:prstGeom>
          <a:solidFill>
            <a:srgbClr val="C9A227"/>
          </a:solidFill>
          <a:ln/>
        </p:spPr>
        <p:txBody>
          <a:bodyPr wrap="square" rtlCol="0" anchor="ctr"/>
          <a:lstStyle/>
          <a:p>
            <a:pPr indent="0" marL="0">
              <a:buNone/>
            </a:pPr>
            <a:endParaRPr lang="en-US" dirty="0"/>
          </a:p>
        </p:txBody>
      </p:sp>
      <p:sp>
        <p:nvSpPr>
          <p:cNvPr id="25" name="Shape 23"/>
          <p:cNvSpPr/>
          <p:nvPr/>
        </p:nvSpPr>
        <p:spPr>
          <a:xfrm>
            <a:off x="6629400" y="2324993"/>
            <a:ext cx="95250" cy="0"/>
          </a:xfrm>
          <a:prstGeom prst="line">
            <a:avLst/>
          </a:prstGeom>
          <a:noFill/>
          <a:ln w="47625">
            <a:solidFill>
              <a:srgbClr val="FFFFFF"/>
            </a:solidFill>
            <a:prstDash val="solid"/>
          </a:ln>
        </p:spPr>
      </p:sp>
      <p:sp>
        <p:nvSpPr>
          <p:cNvPr id="26" name="Shape 24"/>
          <p:cNvSpPr/>
          <p:nvPr/>
        </p:nvSpPr>
        <p:spPr>
          <a:xfrm>
            <a:off x="6629400" y="2372618"/>
            <a:ext cx="95250" cy="0"/>
          </a:xfrm>
          <a:prstGeom prst="line">
            <a:avLst/>
          </a:prstGeom>
          <a:noFill/>
          <a:ln w="47625">
            <a:solidFill>
              <a:srgbClr val="FFFFFF"/>
            </a:solidFill>
            <a:prstDash val="solid"/>
          </a:ln>
        </p:spPr>
      </p:sp>
      <p:sp>
        <p:nvSpPr>
          <p:cNvPr id="27" name="Shape 25"/>
          <p:cNvSpPr/>
          <p:nvPr/>
        </p:nvSpPr>
        <p:spPr>
          <a:xfrm>
            <a:off x="6677025" y="2301180"/>
            <a:ext cx="0" cy="95250"/>
          </a:xfrm>
          <a:prstGeom prst="line">
            <a:avLst/>
          </a:prstGeom>
          <a:noFill/>
          <a:ln w="95250">
            <a:solidFill>
              <a:srgbClr val="C9A227"/>
            </a:solidFill>
            <a:prstDash val="solid"/>
          </a:ln>
        </p:spPr>
      </p:sp>
      <p:sp>
        <p:nvSpPr>
          <p:cNvPr id="28" name="Text 26"/>
          <p:cNvSpPr/>
          <p:nvPr/>
        </p:nvSpPr>
        <p:spPr>
          <a:xfrm>
            <a:off x="6953250" y="1602135"/>
            <a:ext cx="952500" cy="952500"/>
          </a:xfrm>
          <a:prstGeom prst="rect">
            <a:avLst/>
          </a:prstGeom>
          <a:solidFill>
            <a:srgbClr val="059669"/>
          </a:solidFill>
          <a:ln/>
        </p:spPr>
        <p:txBody>
          <a:bodyPr wrap="square" rtlCol="0" anchor="ctr"/>
          <a:lstStyle/>
          <a:p>
            <a:pPr indent="0" marL="0">
              <a:buNone/>
            </a:pPr>
            <a:endParaRPr lang="en-US" dirty="0"/>
          </a:p>
        </p:txBody>
      </p:sp>
      <p:sp>
        <p:nvSpPr>
          <p:cNvPr id="29" name="Text 27"/>
          <p:cNvSpPr/>
          <p:nvPr/>
        </p:nvSpPr>
        <p:spPr>
          <a:xfrm>
            <a:off x="7364529" y="1825972"/>
            <a:ext cx="129793" cy="319980"/>
          </a:xfrm>
          <a:prstGeom prst="rect">
            <a:avLst/>
          </a:prstGeom>
          <a:noFill/>
          <a:ln/>
        </p:spPr>
        <p:txBody>
          <a:bodyPr wrap="square" lIns="0" tIns="0" rIns="0" bIns="0" rtlCol="0" anchor="t"/>
          <a:lstStyle/>
          <a:p>
            <a:pPr algn="ctr" indent="0" marL="0">
              <a:lnSpc>
                <a:spcPts val="2520"/>
              </a:lnSpc>
              <a:buNone/>
            </a:pPr>
            <a:r>
              <a:rPr lang="en-US" sz="1800" dirty="0">
                <a:solidFill>
                  <a:srgbClr val="FFFFFF"/>
                </a:solidFill>
                <a:latin typeface="Arial" pitchFamily="34" charset="0"/>
                <a:ea typeface="Arial" pitchFamily="34" charset="-122"/>
                <a:cs typeface="Arial" pitchFamily="34" charset="-120"/>
              </a:rPr>
              <a:t>4</a:t>
            </a:r>
            <a:endParaRPr lang="en-US" sz="1800" dirty="0"/>
          </a:p>
        </p:txBody>
      </p:sp>
      <p:sp>
        <p:nvSpPr>
          <p:cNvPr id="30" name="Text 28"/>
          <p:cNvSpPr/>
          <p:nvPr/>
        </p:nvSpPr>
        <p:spPr>
          <a:xfrm>
            <a:off x="7275115" y="2184053"/>
            <a:ext cx="308771" cy="146596"/>
          </a:xfrm>
          <a:prstGeom prst="rect">
            <a:avLst/>
          </a:prstGeom>
          <a:noFill/>
          <a:ln/>
        </p:spPr>
        <p:txBody>
          <a:bodyPr wrap="square" lIns="0" tIns="0" rIns="0" bIns="0" rtlCol="0" anchor="t"/>
          <a:lstStyle/>
          <a:p>
            <a:pPr algn="ctr" indent="0" marL="0">
              <a:lnSpc>
                <a:spcPts val="1155"/>
              </a:lnSpc>
              <a:spcBef>
                <a:spcPts val="300"/>
              </a:spcBef>
              <a:buNone/>
            </a:pPr>
            <a:r>
              <a:rPr lang="en-US" sz="825" dirty="0">
                <a:solidFill>
                  <a:srgbClr val="FFFFFF"/>
                </a:solidFill>
                <a:latin typeface="Arial" pitchFamily="34" charset="0"/>
                <a:ea typeface="Arial" pitchFamily="34" charset="-122"/>
                <a:cs typeface="Arial" pitchFamily="34" charset="-120"/>
              </a:rPr>
              <a:t>CODE</a:t>
            </a:r>
            <a:endParaRPr lang="en-US" sz="825" dirty="0"/>
          </a:p>
        </p:txBody>
      </p:sp>
      <p:sp>
        <p:nvSpPr>
          <p:cNvPr id="31" name="Text 29"/>
          <p:cNvSpPr/>
          <p:nvPr/>
        </p:nvSpPr>
        <p:spPr>
          <a:xfrm>
            <a:off x="7111622" y="2802285"/>
            <a:ext cx="635606" cy="293191"/>
          </a:xfrm>
          <a:prstGeom prst="rect">
            <a:avLst/>
          </a:prstGeom>
          <a:noFill/>
          <a:ln/>
        </p:spPr>
        <p:txBody>
          <a:bodyPr wrap="square" lIns="0" tIns="0" rIns="0" bIns="0" rtlCol="0" anchor="t"/>
          <a:lstStyle/>
          <a:p>
            <a:pPr algn="ctr" indent="0" marL="0">
              <a:lnSpc>
                <a:spcPts val="1155"/>
              </a:lnSpc>
              <a:spcBef>
                <a:spcPts val="750"/>
              </a:spcBef>
              <a:buNone/>
            </a:pPr>
            <a:r>
              <a:rPr lang="en-US" sz="825" dirty="0">
                <a:solidFill>
                  <a:srgbClr val="6B7280"/>
                </a:solidFill>
                <a:latin typeface="Arial" pitchFamily="34" charset="0"/>
                <a:ea typeface="Arial" pitchFamily="34" charset="-122"/>
                <a:cs typeface="Arial" pitchFamily="34" charset="-120"/>
              </a:rPr>
              <a:t>Files Created</a:t>
            </a:r>
            <a:endParaRPr lang="en-US" sz="825" dirty="0"/>
          </a:p>
          <a:p>
            <a:pPr algn="ctr" indent="0" marL="0">
              <a:lnSpc>
                <a:spcPts val="1155"/>
              </a:lnSpc>
              <a:spcBef>
                <a:spcPts val="750"/>
              </a:spcBef>
              <a:buNone/>
            </a:pPr>
            <a:r>
              <a:rPr lang="en-US" sz="825" dirty="0">
                <a:solidFill>
                  <a:srgbClr val="6B7280"/>
                </a:solidFill>
                <a:latin typeface="Arial" pitchFamily="34" charset="0"/>
                <a:ea typeface="Arial" pitchFamily="34" charset="-122"/>
                <a:cs typeface="Arial" pitchFamily="34" charset="-120"/>
              </a:rPr>
              <a:t>&amp; Modified</a:t>
            </a:r>
            <a:endParaRPr lang="en-US" sz="825" dirty="0"/>
          </a:p>
        </p:txBody>
      </p:sp>
      <p:sp>
        <p:nvSpPr>
          <p:cNvPr id="32" name="Text 30"/>
          <p:cNvSpPr/>
          <p:nvPr/>
        </p:nvSpPr>
        <p:spPr>
          <a:xfrm>
            <a:off x="1238250" y="3552676"/>
            <a:ext cx="6667500" cy="820936"/>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33" name="Text 31"/>
          <p:cNvSpPr/>
          <p:nvPr/>
        </p:nvSpPr>
        <p:spPr>
          <a:xfrm>
            <a:off x="1492187" y="3752701"/>
            <a:ext cx="6159627" cy="420886"/>
          </a:xfrm>
          <a:prstGeom prst="rect">
            <a:avLst/>
          </a:prstGeom>
          <a:noFill/>
          <a:ln/>
        </p:spPr>
        <p:txBody>
          <a:bodyPr wrap="square" lIns="0" tIns="0" rIns="0" bIns="0" rtlCol="0" anchor="t"/>
          <a:lstStyle/>
          <a:p>
            <a:pPr algn="ctr" indent="0" marL="0">
              <a:lnSpc>
                <a:spcPts val="1658"/>
              </a:lnSpc>
              <a:buNone/>
            </a:pPr>
            <a:r>
              <a:rPr lang="en-US" sz="975" dirty="0">
                <a:solidFill>
                  <a:srgbClr val="1A1F2E"/>
                </a:solidFill>
                <a:latin typeface="Arial" pitchFamily="34" charset="0"/>
                <a:ea typeface="Arial" pitchFamily="34" charset="-122"/>
                <a:cs typeface="Arial" pitchFamily="34" charset="-120"/>
              </a:rPr>
              <a:t>Voice becomes text, text becomes intent, intent becomes code. </a:t>
            </a:r>
            <a:pPr algn="ctr" indent="0" marL="0">
              <a:lnSpc>
                <a:spcPts val="1658"/>
              </a:lnSpc>
              <a:buNone/>
            </a:pPr>
            <a:r>
              <a:rPr lang="en-US" sz="975" b="1" dirty="0">
                <a:solidFill>
                  <a:srgbClr val="C9A227"/>
                </a:solidFill>
                <a:latin typeface="Arial" pitchFamily="34" charset="0"/>
                <a:ea typeface="Arial" pitchFamily="34" charset="-122"/>
                <a:cs typeface="Arial" pitchFamily="34" charset="-120"/>
              </a:rPr>
              <a:t>The AI assistant is the reasoning engine</a:t>
            </a:r>
            <a:pPr algn="ctr" indent="0" marL="0">
              <a:lnSpc>
                <a:spcPts val="1658"/>
              </a:lnSpc>
              <a:buNone/>
            </a:pPr>
            <a:r>
              <a:rPr lang="en-US" sz="975" dirty="0">
                <a:solidFill>
                  <a:srgbClr val="1A1F2E"/>
                </a:solidFill>
                <a:latin typeface="Arial" pitchFamily="34" charset="0"/>
                <a:ea typeface="Arial" pitchFamily="34" charset="-122"/>
                <a:cs typeface="Arial" pitchFamily="34" charset="-120"/>
              </a:rPr>
              <a:t> that transforms your spoken instructions into working software.</a:t>
            </a:r>
            <a:endParaRPr lang="en-US" sz="975"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457200" y="381000"/>
            <a:ext cx="8394192" cy="133350"/>
          </a:xfrm>
          <a:prstGeom prst="rect">
            <a:avLst/>
          </a:prstGeom>
          <a:noFill/>
          <a:ln/>
        </p:spPr>
        <p:txBody>
          <a:bodyPr wrap="square" lIns="0" tIns="0" rIns="0" bIns="0" rtlCol="0" anchor="t"/>
          <a:lstStyle/>
          <a:p>
            <a:pPr algn="l" indent="0" marL="0">
              <a:lnSpc>
                <a:spcPts val="1050"/>
              </a:lnSpc>
              <a:spcAft>
                <a:spcPts val="600"/>
              </a:spcAft>
              <a:buNone/>
            </a:pPr>
            <a:r>
              <a:rPr lang="en-US" sz="750" dirty="0">
                <a:solidFill>
                  <a:srgbClr val="C9A227"/>
                </a:solidFill>
                <a:latin typeface="Arial" pitchFamily="34" charset="0"/>
                <a:ea typeface="Arial" pitchFamily="34" charset="-122"/>
                <a:cs typeface="Arial" pitchFamily="34" charset="-120"/>
              </a:rPr>
              <a:t>AI CODING ASSISTANT</a:t>
            </a:r>
            <a:endParaRPr lang="en-US" sz="750" dirty="0"/>
          </a:p>
        </p:txBody>
      </p:sp>
      <p:sp>
        <p:nvSpPr>
          <p:cNvPr id="3" name="Text 1"/>
          <p:cNvSpPr/>
          <p:nvPr/>
        </p:nvSpPr>
        <p:spPr>
          <a:xfrm>
            <a:off x="457200" y="590550"/>
            <a:ext cx="4206812" cy="304800"/>
          </a:xfrm>
          <a:prstGeom prst="rect">
            <a:avLst/>
          </a:prstGeom>
          <a:noFill/>
          <a:ln/>
        </p:spPr>
        <p:txBody>
          <a:bodyPr wrap="square" lIns="0" tIns="0" rIns="0" bIns="0" rtlCol="0" anchor="t"/>
          <a:lstStyle/>
          <a:p>
            <a:pPr algn="l" indent="0" marL="0">
              <a:lnSpc>
                <a:spcPts val="2400"/>
              </a:lnSpc>
              <a:buNone/>
            </a:pPr>
            <a:r>
              <a:rPr lang="en-US" sz="2400" dirty="0">
                <a:solidFill>
                  <a:srgbClr val="1A1F2E"/>
                </a:solidFill>
                <a:latin typeface="Georgia" pitchFamily="34" charset="0"/>
                <a:ea typeface="Georgia" pitchFamily="34" charset="-122"/>
                <a:cs typeface="Georgia" pitchFamily="34" charset="-120"/>
              </a:rPr>
              <a:t>Claude Code</a:t>
            </a:r>
            <a:endParaRPr lang="en-US" sz="2400" dirty="0"/>
          </a:p>
        </p:txBody>
      </p:sp>
      <p:sp>
        <p:nvSpPr>
          <p:cNvPr id="4" name="Text 2"/>
          <p:cNvSpPr/>
          <p:nvPr/>
        </p:nvSpPr>
        <p:spPr>
          <a:xfrm>
            <a:off x="457200" y="971550"/>
            <a:ext cx="8394192" cy="173236"/>
          </a:xfrm>
          <a:prstGeom prst="rect">
            <a:avLst/>
          </a:prstGeom>
          <a:noFill/>
          <a:ln/>
        </p:spPr>
        <p:txBody>
          <a:bodyPr wrap="square" lIns="0" tIns="0" rIns="0" bIns="0" rtlCol="0" anchor="t"/>
          <a:lstStyle/>
          <a:p>
            <a:pPr algn="l" indent="0" marL="0">
              <a:lnSpc>
                <a:spcPts val="1365"/>
              </a:lnSpc>
              <a:spcBef>
                <a:spcPts val="600"/>
              </a:spcBef>
              <a:buNone/>
            </a:pPr>
            <a:r>
              <a:rPr lang="en-US" sz="975" dirty="0">
                <a:solidFill>
                  <a:srgbClr val="6B7280"/>
                </a:solidFill>
                <a:latin typeface="Arial" pitchFamily="34" charset="0"/>
                <a:ea typeface="Arial" pitchFamily="34" charset="-122"/>
                <a:cs typeface="Arial" pitchFamily="34" charset="-120"/>
              </a:rPr>
              <a:t>Anthropic's agentic terminal-based coding assistant</a:t>
            </a:r>
            <a:endParaRPr lang="en-US" sz="975" dirty="0"/>
          </a:p>
        </p:txBody>
      </p:sp>
      <p:sp>
        <p:nvSpPr>
          <p:cNvPr id="5" name="Text 3"/>
          <p:cNvSpPr/>
          <p:nvPr/>
        </p:nvSpPr>
        <p:spPr>
          <a:xfrm>
            <a:off x="457200" y="1998464"/>
            <a:ext cx="4212134" cy="649486"/>
          </a:xfrm>
          <a:prstGeom prst="rect">
            <a:avLst/>
          </a:prstGeom>
          <a:solidFill>
            <a:srgbClr val="FFFFFF"/>
          </a:solidFill>
          <a:ln/>
        </p:spPr>
        <p:txBody>
          <a:bodyPr wrap="square" rtlCol="0" anchor="ctr"/>
          <a:lstStyle/>
          <a:p>
            <a:pPr indent="0" marL="0">
              <a:buNone/>
            </a:pPr>
            <a:endParaRPr lang="en-US" dirty="0"/>
          </a:p>
        </p:txBody>
      </p:sp>
      <p:sp>
        <p:nvSpPr>
          <p:cNvPr id="6" name="Shape 4"/>
          <p:cNvSpPr/>
          <p:nvPr/>
        </p:nvSpPr>
        <p:spPr>
          <a:xfrm>
            <a:off x="476250" y="1998464"/>
            <a:ext cx="0" cy="649486"/>
          </a:xfrm>
          <a:prstGeom prst="line">
            <a:avLst/>
          </a:prstGeom>
          <a:noFill/>
          <a:ln w="38100">
            <a:solidFill>
              <a:srgbClr val="C9A227"/>
            </a:solidFill>
            <a:prstDash val="solid"/>
          </a:ln>
        </p:spPr>
      </p:sp>
      <p:sp>
        <p:nvSpPr>
          <p:cNvPr id="7" name="Text 5"/>
          <p:cNvSpPr/>
          <p:nvPr/>
        </p:nvSpPr>
        <p:spPr>
          <a:xfrm>
            <a:off x="647700" y="2150864"/>
            <a:ext cx="3946618" cy="159990"/>
          </a:xfrm>
          <a:prstGeom prst="rect">
            <a:avLst/>
          </a:prstGeom>
          <a:noFill/>
          <a:ln/>
        </p:spPr>
        <p:txBody>
          <a:bodyPr wrap="square" lIns="0" tIns="0" rIns="0" bIns="0" rtlCol="0" anchor="t"/>
          <a:lstStyle/>
          <a:p>
            <a:pPr algn="l" indent="0" marL="0">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Terminal-Based</a:t>
            </a:r>
            <a:endParaRPr lang="en-US" sz="900" dirty="0"/>
          </a:p>
        </p:txBody>
      </p:sp>
      <p:sp>
        <p:nvSpPr>
          <p:cNvPr id="8" name="Text 6"/>
          <p:cNvSpPr/>
          <p:nvPr/>
        </p:nvSpPr>
        <p:spPr>
          <a:xfrm>
            <a:off x="647700" y="2348954"/>
            <a:ext cx="3946618" cy="146596"/>
          </a:xfrm>
          <a:prstGeom prst="rect">
            <a:avLst/>
          </a:prstGeom>
          <a:noFill/>
          <a:ln/>
        </p:spPr>
        <p:txBody>
          <a:bodyPr wrap="square" lIns="0" tIns="0" rIns="0" bIns="0" rtlCol="0" anchor="t"/>
          <a:lstStyle/>
          <a:p>
            <a:pPr algn="l" indent="0" marL="0">
              <a:lnSpc>
                <a:spcPts val="1155"/>
              </a:lnSpc>
              <a:buNone/>
            </a:pPr>
            <a:r>
              <a:rPr lang="en-US" sz="825" dirty="0">
                <a:solidFill>
                  <a:srgbClr val="6B7280"/>
                </a:solidFill>
                <a:latin typeface="Arial" pitchFamily="34" charset="0"/>
                <a:ea typeface="Arial" pitchFamily="34" charset="-122"/>
                <a:cs typeface="Arial" pitchFamily="34" charset="-120"/>
              </a:rPr>
              <a:t>Works in your existing terminal. Perfect for voice input.</a:t>
            </a:r>
            <a:endParaRPr lang="en-US" sz="825" dirty="0"/>
          </a:p>
        </p:txBody>
      </p:sp>
      <p:sp>
        <p:nvSpPr>
          <p:cNvPr id="9" name="Text 7"/>
          <p:cNvSpPr/>
          <p:nvPr/>
        </p:nvSpPr>
        <p:spPr>
          <a:xfrm>
            <a:off x="457200" y="2762250"/>
            <a:ext cx="4212134" cy="649486"/>
          </a:xfrm>
          <a:prstGeom prst="rect">
            <a:avLst/>
          </a:prstGeom>
          <a:solidFill>
            <a:srgbClr val="FFFFFF"/>
          </a:solidFill>
          <a:ln/>
        </p:spPr>
        <p:txBody>
          <a:bodyPr wrap="square" rtlCol="0" anchor="ctr"/>
          <a:lstStyle/>
          <a:p>
            <a:pPr indent="0" marL="0">
              <a:buNone/>
            </a:pPr>
            <a:endParaRPr lang="en-US" dirty="0"/>
          </a:p>
        </p:txBody>
      </p:sp>
      <p:sp>
        <p:nvSpPr>
          <p:cNvPr id="10" name="Shape 8"/>
          <p:cNvSpPr/>
          <p:nvPr/>
        </p:nvSpPr>
        <p:spPr>
          <a:xfrm>
            <a:off x="476250" y="2762250"/>
            <a:ext cx="0" cy="649486"/>
          </a:xfrm>
          <a:prstGeom prst="line">
            <a:avLst/>
          </a:prstGeom>
          <a:noFill/>
          <a:ln w="38100">
            <a:solidFill>
              <a:srgbClr val="C9A227"/>
            </a:solidFill>
            <a:prstDash val="solid"/>
          </a:ln>
        </p:spPr>
      </p:sp>
      <p:sp>
        <p:nvSpPr>
          <p:cNvPr id="11" name="Text 9"/>
          <p:cNvSpPr/>
          <p:nvPr/>
        </p:nvSpPr>
        <p:spPr>
          <a:xfrm>
            <a:off x="647700" y="2914650"/>
            <a:ext cx="3946618" cy="159990"/>
          </a:xfrm>
          <a:prstGeom prst="rect">
            <a:avLst/>
          </a:prstGeom>
          <a:noFill/>
          <a:ln/>
        </p:spPr>
        <p:txBody>
          <a:bodyPr wrap="square" lIns="0" tIns="0" rIns="0" bIns="0" rtlCol="0" anchor="t"/>
          <a:lstStyle/>
          <a:p>
            <a:pPr algn="l" indent="0" marL="0">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Autonomous Agent</a:t>
            </a:r>
            <a:endParaRPr lang="en-US" sz="900" dirty="0"/>
          </a:p>
        </p:txBody>
      </p:sp>
      <p:sp>
        <p:nvSpPr>
          <p:cNvPr id="12" name="Text 10"/>
          <p:cNvSpPr/>
          <p:nvPr/>
        </p:nvSpPr>
        <p:spPr>
          <a:xfrm>
            <a:off x="647700" y="3112740"/>
            <a:ext cx="3946618" cy="146596"/>
          </a:xfrm>
          <a:prstGeom prst="rect">
            <a:avLst/>
          </a:prstGeom>
          <a:noFill/>
          <a:ln/>
        </p:spPr>
        <p:txBody>
          <a:bodyPr wrap="square" lIns="0" tIns="0" rIns="0" bIns="0" rtlCol="0" anchor="t"/>
          <a:lstStyle/>
          <a:p>
            <a:pPr algn="l" indent="0" marL="0">
              <a:lnSpc>
                <a:spcPts val="1155"/>
              </a:lnSpc>
              <a:buNone/>
            </a:pPr>
            <a:r>
              <a:rPr lang="en-US" sz="825" dirty="0">
                <a:solidFill>
                  <a:srgbClr val="6B7280"/>
                </a:solidFill>
                <a:latin typeface="Arial" pitchFamily="34" charset="0"/>
                <a:ea typeface="Arial" pitchFamily="34" charset="-122"/>
                <a:cs typeface="Arial" pitchFamily="34" charset="-120"/>
              </a:rPr>
              <a:t>Reads files, writes code, runs commands autonomously.</a:t>
            </a:r>
            <a:endParaRPr lang="en-US" sz="825" dirty="0"/>
          </a:p>
        </p:txBody>
      </p:sp>
      <p:sp>
        <p:nvSpPr>
          <p:cNvPr id="13" name="Text 11"/>
          <p:cNvSpPr/>
          <p:nvPr/>
        </p:nvSpPr>
        <p:spPr>
          <a:xfrm>
            <a:off x="457200" y="3526036"/>
            <a:ext cx="4212134" cy="649486"/>
          </a:xfrm>
          <a:prstGeom prst="rect">
            <a:avLst/>
          </a:prstGeom>
          <a:solidFill>
            <a:srgbClr val="FFFFFF"/>
          </a:solidFill>
          <a:ln/>
        </p:spPr>
        <p:txBody>
          <a:bodyPr wrap="square" rtlCol="0" anchor="ctr"/>
          <a:lstStyle/>
          <a:p>
            <a:pPr indent="0" marL="0">
              <a:buNone/>
            </a:pPr>
            <a:endParaRPr lang="en-US" dirty="0"/>
          </a:p>
        </p:txBody>
      </p:sp>
      <p:sp>
        <p:nvSpPr>
          <p:cNvPr id="14" name="Shape 12"/>
          <p:cNvSpPr/>
          <p:nvPr/>
        </p:nvSpPr>
        <p:spPr>
          <a:xfrm>
            <a:off x="476250" y="3526036"/>
            <a:ext cx="0" cy="649486"/>
          </a:xfrm>
          <a:prstGeom prst="line">
            <a:avLst/>
          </a:prstGeom>
          <a:noFill/>
          <a:ln w="38100">
            <a:solidFill>
              <a:srgbClr val="C9A227"/>
            </a:solidFill>
            <a:prstDash val="solid"/>
          </a:ln>
        </p:spPr>
      </p:sp>
      <p:sp>
        <p:nvSpPr>
          <p:cNvPr id="15" name="Text 13"/>
          <p:cNvSpPr/>
          <p:nvPr/>
        </p:nvSpPr>
        <p:spPr>
          <a:xfrm>
            <a:off x="647700" y="3678436"/>
            <a:ext cx="3946618" cy="159990"/>
          </a:xfrm>
          <a:prstGeom prst="rect">
            <a:avLst/>
          </a:prstGeom>
          <a:noFill/>
          <a:ln/>
        </p:spPr>
        <p:txBody>
          <a:bodyPr wrap="square" lIns="0" tIns="0" rIns="0" bIns="0" rtlCol="0" anchor="t"/>
          <a:lstStyle/>
          <a:p>
            <a:pPr algn="l" indent="0" marL="0">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Context-Aware</a:t>
            </a:r>
            <a:endParaRPr lang="en-US" sz="900" dirty="0"/>
          </a:p>
        </p:txBody>
      </p:sp>
      <p:sp>
        <p:nvSpPr>
          <p:cNvPr id="16" name="Text 14"/>
          <p:cNvSpPr/>
          <p:nvPr/>
        </p:nvSpPr>
        <p:spPr>
          <a:xfrm>
            <a:off x="647700" y="3876526"/>
            <a:ext cx="3946618" cy="146596"/>
          </a:xfrm>
          <a:prstGeom prst="rect">
            <a:avLst/>
          </a:prstGeom>
          <a:noFill/>
          <a:ln/>
        </p:spPr>
        <p:txBody>
          <a:bodyPr wrap="square" lIns="0" tIns="0" rIns="0" bIns="0" rtlCol="0" anchor="t"/>
          <a:lstStyle/>
          <a:p>
            <a:pPr algn="l" indent="0" marL="0">
              <a:lnSpc>
                <a:spcPts val="1155"/>
              </a:lnSpc>
              <a:buNone/>
            </a:pPr>
            <a:r>
              <a:rPr lang="en-US" sz="825" dirty="0">
                <a:solidFill>
                  <a:srgbClr val="6B7280"/>
                </a:solidFill>
                <a:latin typeface="Arial" pitchFamily="34" charset="0"/>
                <a:ea typeface="Arial" pitchFamily="34" charset="-122"/>
                <a:cs typeface="Arial" pitchFamily="34" charset="-120"/>
              </a:rPr>
              <a:t>Understands your entire codebase, not just one file.</a:t>
            </a:r>
            <a:endParaRPr lang="en-US" sz="825" dirty="0"/>
          </a:p>
        </p:txBody>
      </p:sp>
      <p:sp>
        <p:nvSpPr>
          <p:cNvPr id="17" name="Text 15"/>
          <p:cNvSpPr/>
          <p:nvPr/>
        </p:nvSpPr>
        <p:spPr>
          <a:xfrm>
            <a:off x="4859834" y="2139255"/>
            <a:ext cx="3826966" cy="1895326"/>
          </a:xfrm>
          <a:prstGeom prst="rect">
            <a:avLst/>
          </a:prstGeom>
          <a:solidFill>
            <a:srgbClr val="1A1F2E"/>
          </a:solidFill>
          <a:ln/>
        </p:spPr>
        <p:txBody>
          <a:bodyPr wrap="square" rtlCol="0" anchor="ctr"/>
          <a:lstStyle/>
          <a:p>
            <a:pPr indent="0" marL="0">
              <a:buNone/>
            </a:pPr>
            <a:endParaRPr lang="en-US" dirty="0"/>
          </a:p>
        </p:txBody>
      </p:sp>
      <p:sp>
        <p:nvSpPr>
          <p:cNvPr id="18" name="Text 16"/>
          <p:cNvSpPr/>
          <p:nvPr/>
        </p:nvSpPr>
        <p:spPr>
          <a:xfrm>
            <a:off x="6487567" y="2367855"/>
            <a:ext cx="571500" cy="571500"/>
          </a:xfrm>
          <a:prstGeom prst="rect">
            <a:avLst/>
          </a:prstGeom>
          <a:solidFill>
            <a:srgbClr val="C9A227"/>
          </a:solidFill>
          <a:ln/>
        </p:spPr>
        <p:txBody>
          <a:bodyPr wrap="square" rtlCol="0" anchor="ctr"/>
          <a:lstStyle/>
          <a:p>
            <a:pPr indent="0" marL="0">
              <a:buNone/>
            </a:pPr>
            <a:endParaRPr lang="en-US" dirty="0"/>
          </a:p>
        </p:txBody>
      </p:sp>
      <p:sp>
        <p:nvSpPr>
          <p:cNvPr id="19" name="Text 17"/>
          <p:cNvSpPr/>
          <p:nvPr/>
        </p:nvSpPr>
        <p:spPr>
          <a:xfrm>
            <a:off x="6703335" y="2493615"/>
            <a:ext cx="139964" cy="319980"/>
          </a:xfrm>
          <a:prstGeom prst="rect">
            <a:avLst/>
          </a:prstGeom>
          <a:noFill/>
          <a:ln/>
        </p:spPr>
        <p:txBody>
          <a:bodyPr wrap="square" lIns="0" tIns="0" rIns="0" bIns="0" rtlCol="0" anchor="t"/>
          <a:lstStyle/>
          <a:p>
            <a:pPr algn="ctr" indent="0" marL="0">
              <a:lnSpc>
                <a:spcPts val="2520"/>
              </a:lnSpc>
              <a:buNone/>
            </a:pPr>
            <a:r>
              <a:rPr lang="en-US" sz="1800" b="1" dirty="0">
                <a:solidFill>
                  <a:srgbClr val="1A1F2E"/>
                </a:solidFill>
                <a:latin typeface="monospace" pitchFamily="34" charset="0"/>
                <a:ea typeface="monospace" pitchFamily="34" charset="-122"/>
                <a:cs typeface="monospace" pitchFamily="34" charset="-120"/>
              </a:rPr>
              <a:t>&gt;</a:t>
            </a:r>
            <a:endParaRPr lang="en-US" sz="1800" dirty="0"/>
          </a:p>
        </p:txBody>
      </p:sp>
      <p:sp>
        <p:nvSpPr>
          <p:cNvPr id="20" name="Text 18"/>
          <p:cNvSpPr/>
          <p:nvPr/>
        </p:nvSpPr>
        <p:spPr>
          <a:xfrm>
            <a:off x="6418549" y="3244155"/>
            <a:ext cx="709535" cy="186630"/>
          </a:xfrm>
          <a:prstGeom prst="rect">
            <a:avLst/>
          </a:prstGeom>
          <a:noFill/>
          <a:ln/>
        </p:spPr>
        <p:txBody>
          <a:bodyPr wrap="square" lIns="0" tIns="0" rIns="0" bIns="0" rtlCol="0" anchor="t"/>
          <a:lstStyle/>
          <a:p>
            <a:pPr algn="ctr" indent="0" marL="0">
              <a:lnSpc>
                <a:spcPts val="1470"/>
              </a:lnSpc>
              <a:spcAft>
                <a:spcPts val="600"/>
              </a:spcAft>
              <a:buNone/>
            </a:pPr>
            <a:r>
              <a:rPr lang="en-US" sz="1050" dirty="0">
                <a:solidFill>
                  <a:srgbClr val="FFFFFF"/>
                </a:solidFill>
                <a:latin typeface="Georgia" pitchFamily="34" charset="0"/>
                <a:ea typeface="Georgia" pitchFamily="34" charset="-122"/>
                <a:cs typeface="Georgia" pitchFamily="34" charset="-120"/>
              </a:rPr>
              <a:t>Think + Act</a:t>
            </a:r>
            <a:endParaRPr lang="en-US" sz="1050" dirty="0"/>
          </a:p>
        </p:txBody>
      </p:sp>
      <p:sp>
        <p:nvSpPr>
          <p:cNvPr id="21" name="Text 19"/>
          <p:cNvSpPr/>
          <p:nvPr/>
        </p:nvSpPr>
        <p:spPr>
          <a:xfrm>
            <a:off x="5444268" y="3659386"/>
            <a:ext cx="2657948" cy="146596"/>
          </a:xfrm>
          <a:prstGeom prst="rect">
            <a:avLst/>
          </a:prstGeom>
          <a:noFill/>
          <a:ln/>
        </p:spPr>
        <p:txBody>
          <a:bodyPr wrap="square" lIns="0" tIns="0" rIns="0" bIns="0" rtlCol="0" anchor="t"/>
          <a:lstStyle/>
          <a:p>
            <a:pPr algn="ctr" indent="0" marL="0">
              <a:lnSpc>
                <a:spcPts val="1155"/>
              </a:lnSpc>
              <a:buNone/>
            </a:pPr>
            <a:r>
              <a:rPr lang="en-US" sz="825" dirty="0">
                <a:solidFill>
                  <a:srgbClr val="FFFFFF">
                    <a:alpha val="60000"/>
                  </a:srgbClr>
                </a:solidFill>
                <a:latin typeface="Arial" pitchFamily="34" charset="0"/>
                <a:ea typeface="Arial" pitchFamily="34" charset="-122"/>
                <a:cs typeface="Arial" pitchFamily="34" charset="-120"/>
              </a:rPr>
              <a:t>Claude doesn't just suggest - it executes complete tasks</a:t>
            </a:r>
            <a:endParaRPr lang="en-US" sz="825"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A1F2E"/>
        </a:solidFill>
      </p:bgPr>
    </p:bg>
    <p:spTree>
      <p:nvGrpSpPr>
        <p:cNvPr id="1" name=""/>
        <p:cNvGrpSpPr/>
        <p:nvPr/>
      </p:nvGrpSpPr>
      <p:grpSpPr>
        <a:xfrm>
          <a:off x="0" y="0"/>
          <a:ext cx="0" cy="0"/>
          <a:chOff x="0" y="0"/>
          <a:chExt cx="0" cy="0"/>
        </a:xfrm>
      </p:grpSpPr>
      <p:sp>
        <p:nvSpPr>
          <p:cNvPr id="2" name="Text 0"/>
          <p:cNvSpPr/>
          <p:nvPr/>
        </p:nvSpPr>
        <p:spPr>
          <a:xfrm>
            <a:off x="381000" y="266700"/>
            <a:ext cx="8549640" cy="133350"/>
          </a:xfrm>
          <a:prstGeom prst="rect">
            <a:avLst/>
          </a:prstGeom>
          <a:noFill/>
          <a:ln/>
        </p:spPr>
        <p:txBody>
          <a:bodyPr wrap="square" lIns="0" tIns="0" rIns="0" bIns="0" rtlCol="0" anchor="t"/>
          <a:lstStyle/>
          <a:p>
            <a:pPr algn="l" indent="0" marL="0">
              <a:lnSpc>
                <a:spcPts val="1050"/>
              </a:lnSpc>
              <a:spcAft>
                <a:spcPts val="450"/>
              </a:spcAft>
              <a:buNone/>
            </a:pPr>
            <a:r>
              <a:rPr lang="en-US" sz="750" dirty="0">
                <a:solidFill>
                  <a:srgbClr val="C9A227"/>
                </a:solidFill>
                <a:latin typeface="Arial" pitchFamily="34" charset="0"/>
                <a:ea typeface="Arial" pitchFamily="34" charset="-122"/>
                <a:cs typeface="Arial" pitchFamily="34" charset="-120"/>
              </a:rPr>
              <a:t>SETUP</a:t>
            </a:r>
            <a:endParaRPr lang="en-US" sz="750" dirty="0"/>
          </a:p>
        </p:txBody>
      </p:sp>
      <p:sp>
        <p:nvSpPr>
          <p:cNvPr id="3" name="Text 1"/>
          <p:cNvSpPr/>
          <p:nvPr/>
        </p:nvSpPr>
        <p:spPr>
          <a:xfrm>
            <a:off x="381000" y="457200"/>
            <a:ext cx="4284536" cy="266700"/>
          </a:xfrm>
          <a:prstGeom prst="rect">
            <a:avLst/>
          </a:prstGeom>
          <a:noFill/>
          <a:ln/>
        </p:spPr>
        <p:txBody>
          <a:bodyPr wrap="square" lIns="0" tIns="0" rIns="0" bIns="0" rtlCol="0" anchor="t"/>
          <a:lstStyle/>
          <a:p>
            <a:pPr algn="l" indent="0" marL="0">
              <a:lnSpc>
                <a:spcPts val="2100"/>
              </a:lnSpc>
              <a:buNone/>
            </a:pPr>
            <a:r>
              <a:rPr lang="en-US" sz="2100" dirty="0">
                <a:solidFill>
                  <a:srgbClr val="FFFFFF"/>
                </a:solidFill>
                <a:latin typeface="Georgia" pitchFamily="34" charset="0"/>
                <a:ea typeface="Georgia" pitchFamily="34" charset="-122"/>
                <a:cs typeface="Georgia" pitchFamily="34" charset="-120"/>
              </a:rPr>
              <a:t>Claude Code Installation</a:t>
            </a:r>
            <a:endParaRPr lang="en-US" sz="2100" dirty="0"/>
          </a:p>
        </p:txBody>
      </p:sp>
      <p:sp>
        <p:nvSpPr>
          <p:cNvPr id="4" name="Text 2"/>
          <p:cNvSpPr/>
          <p:nvPr/>
        </p:nvSpPr>
        <p:spPr>
          <a:xfrm>
            <a:off x="381000" y="2164110"/>
            <a:ext cx="2667000" cy="350490"/>
          </a:xfrm>
          <a:prstGeom prst="rect">
            <a:avLst/>
          </a:prstGeom>
          <a:solidFill>
            <a:srgbClr val="C9A227"/>
          </a:solidFill>
          <a:ln/>
        </p:spPr>
        <p:txBody>
          <a:bodyPr wrap="square" rtlCol="0" anchor="ctr"/>
          <a:lstStyle/>
          <a:p>
            <a:pPr indent="0" marL="0">
              <a:buNone/>
            </a:pPr>
            <a:endParaRPr lang="en-US" dirty="0"/>
          </a:p>
        </p:txBody>
      </p:sp>
      <p:sp>
        <p:nvSpPr>
          <p:cNvPr id="5" name="Text 3"/>
          <p:cNvSpPr/>
          <p:nvPr/>
        </p:nvSpPr>
        <p:spPr>
          <a:xfrm>
            <a:off x="514350" y="2259360"/>
            <a:ext cx="2448306" cy="159990"/>
          </a:xfrm>
          <a:prstGeom prst="rect">
            <a:avLst/>
          </a:prstGeom>
          <a:noFill/>
          <a:ln/>
        </p:spPr>
        <p:txBody>
          <a:bodyPr wrap="square" lIns="0" tIns="0" rIns="0" bIns="0" rtlCol="0" anchor="t"/>
          <a:lstStyle/>
          <a:p>
            <a:pPr algn="l" indent="0" marL="0">
              <a:lnSpc>
                <a:spcPts val="1260"/>
              </a:lnSpc>
              <a:buNone/>
            </a:pPr>
            <a:r>
              <a:rPr lang="en-US" sz="900" b="1" dirty="0">
                <a:solidFill>
                  <a:srgbClr val="1A1F2E"/>
                </a:solidFill>
                <a:latin typeface="Arial" pitchFamily="34" charset="0"/>
                <a:ea typeface="Arial" pitchFamily="34" charset="-122"/>
                <a:cs typeface="Arial" pitchFamily="34" charset="-120"/>
              </a:rPr>
              <a:t>Step 1: Install via npm</a:t>
            </a:r>
            <a:endParaRPr lang="en-US" sz="900" dirty="0"/>
          </a:p>
        </p:txBody>
      </p:sp>
      <p:sp>
        <p:nvSpPr>
          <p:cNvPr id="6" name="Text 4"/>
          <p:cNvSpPr/>
          <p:nvPr/>
        </p:nvSpPr>
        <p:spPr>
          <a:xfrm>
            <a:off x="381000" y="2762250"/>
            <a:ext cx="2667000" cy="597991"/>
          </a:xfrm>
          <a:prstGeom prst="rect">
            <a:avLst/>
          </a:prstGeom>
          <a:solidFill>
            <a:srgbClr val="252B3D"/>
          </a:solidFill>
          <a:ln/>
        </p:spPr>
        <p:txBody>
          <a:bodyPr wrap="square" rtlCol="0" anchor="ctr"/>
          <a:lstStyle/>
          <a:p>
            <a:pPr indent="0" marL="0">
              <a:buNone/>
            </a:pPr>
            <a:endParaRPr lang="en-US" dirty="0"/>
          </a:p>
        </p:txBody>
      </p:sp>
      <p:sp>
        <p:nvSpPr>
          <p:cNvPr id="7" name="Text 5"/>
          <p:cNvSpPr/>
          <p:nvPr/>
        </p:nvSpPr>
        <p:spPr>
          <a:xfrm>
            <a:off x="533400" y="2914650"/>
            <a:ext cx="2409444" cy="293191"/>
          </a:xfrm>
          <a:prstGeom prst="rect">
            <a:avLst/>
          </a:prstGeom>
          <a:noFill/>
          <a:ln/>
        </p:spPr>
        <p:txBody>
          <a:bodyPr wrap="square" lIns="0" tIns="0" rIns="0" bIns="0" rtlCol="0" anchor="t"/>
          <a:lstStyle/>
          <a:p>
            <a:pPr algn="l" indent="0" marL="0">
              <a:lnSpc>
                <a:spcPts val="1155"/>
              </a:lnSpc>
              <a:buNone/>
            </a:pPr>
            <a:r>
              <a:rPr lang="en-US" sz="825" dirty="0">
                <a:solidFill>
                  <a:srgbClr val="C9A227"/>
                </a:solidFill>
                <a:latin typeface="monospace" pitchFamily="34" charset="0"/>
                <a:ea typeface="monospace" pitchFamily="34" charset="-122"/>
                <a:cs typeface="monospace" pitchFamily="34" charset="-120"/>
              </a:rPr>
              <a:t>npm install -g @anthropic-ai/claude-code</a:t>
            </a:r>
            <a:endParaRPr lang="en-US" sz="825" dirty="0"/>
          </a:p>
        </p:txBody>
      </p:sp>
      <p:sp>
        <p:nvSpPr>
          <p:cNvPr id="8" name="Text 6"/>
          <p:cNvSpPr/>
          <p:nvPr/>
        </p:nvSpPr>
        <p:spPr>
          <a:xfrm>
            <a:off x="381000" y="3607891"/>
            <a:ext cx="2720340" cy="133350"/>
          </a:xfrm>
          <a:prstGeom prst="rect">
            <a:avLst/>
          </a:prstGeom>
          <a:noFill/>
          <a:ln/>
        </p:spPr>
        <p:txBody>
          <a:bodyPr wrap="square" lIns="0" tIns="0" rIns="0" bIns="0" rtlCol="0" anchor="t"/>
          <a:lstStyle/>
          <a:p>
            <a:pPr algn="l" indent="0" marL="0">
              <a:lnSpc>
                <a:spcPts val="1050"/>
              </a:lnSpc>
              <a:buNone/>
            </a:pPr>
            <a:r>
              <a:rPr lang="en-US" sz="750" dirty="0">
                <a:solidFill>
                  <a:srgbClr val="FFFFFF">
                    <a:alpha val="50000"/>
                  </a:srgbClr>
                </a:solidFill>
                <a:latin typeface="Arial" pitchFamily="34" charset="0"/>
                <a:ea typeface="Arial" pitchFamily="34" charset="-122"/>
                <a:cs typeface="Arial" pitchFamily="34" charset="-120"/>
              </a:rPr>
              <a:t>Requires Node.js 18+ installed</a:t>
            </a:r>
            <a:endParaRPr lang="en-US" sz="750" dirty="0"/>
          </a:p>
        </p:txBody>
      </p:sp>
      <p:sp>
        <p:nvSpPr>
          <p:cNvPr id="9" name="Text 7"/>
          <p:cNvSpPr/>
          <p:nvPr/>
        </p:nvSpPr>
        <p:spPr>
          <a:xfrm>
            <a:off x="3238500" y="1925985"/>
            <a:ext cx="2667000" cy="350490"/>
          </a:xfrm>
          <a:prstGeom prst="rect">
            <a:avLst/>
          </a:prstGeom>
          <a:solidFill>
            <a:srgbClr val="C9A227"/>
          </a:solidFill>
          <a:ln/>
        </p:spPr>
        <p:txBody>
          <a:bodyPr wrap="square" rtlCol="0" anchor="ctr"/>
          <a:lstStyle/>
          <a:p>
            <a:pPr indent="0" marL="0">
              <a:buNone/>
            </a:pPr>
            <a:endParaRPr lang="en-US" dirty="0"/>
          </a:p>
        </p:txBody>
      </p:sp>
      <p:sp>
        <p:nvSpPr>
          <p:cNvPr id="10" name="Text 8"/>
          <p:cNvSpPr/>
          <p:nvPr/>
        </p:nvSpPr>
        <p:spPr>
          <a:xfrm>
            <a:off x="3371850" y="2021235"/>
            <a:ext cx="2448306" cy="159990"/>
          </a:xfrm>
          <a:prstGeom prst="rect">
            <a:avLst/>
          </a:prstGeom>
          <a:noFill/>
          <a:ln/>
        </p:spPr>
        <p:txBody>
          <a:bodyPr wrap="square" lIns="0" tIns="0" rIns="0" bIns="0" rtlCol="0" anchor="t"/>
          <a:lstStyle/>
          <a:p>
            <a:pPr algn="l" indent="0" marL="0">
              <a:lnSpc>
                <a:spcPts val="1260"/>
              </a:lnSpc>
              <a:buNone/>
            </a:pPr>
            <a:r>
              <a:rPr lang="en-US" sz="900" b="1" dirty="0">
                <a:solidFill>
                  <a:srgbClr val="1A1F2E"/>
                </a:solidFill>
                <a:latin typeface="Arial" pitchFamily="34" charset="0"/>
                <a:ea typeface="Arial" pitchFamily="34" charset="-122"/>
                <a:cs typeface="Arial" pitchFamily="34" charset="-120"/>
              </a:rPr>
              <a:t>Step 2: Authenticate</a:t>
            </a:r>
            <a:endParaRPr lang="en-US" sz="900" dirty="0"/>
          </a:p>
        </p:txBody>
      </p:sp>
      <p:sp>
        <p:nvSpPr>
          <p:cNvPr id="11" name="Text 9"/>
          <p:cNvSpPr/>
          <p:nvPr/>
        </p:nvSpPr>
        <p:spPr>
          <a:xfrm>
            <a:off x="3238500" y="2524125"/>
            <a:ext cx="2667000" cy="1074241"/>
          </a:xfrm>
          <a:prstGeom prst="rect">
            <a:avLst/>
          </a:prstGeom>
          <a:solidFill>
            <a:srgbClr val="252B3D"/>
          </a:solidFill>
          <a:ln/>
        </p:spPr>
        <p:txBody>
          <a:bodyPr wrap="square" rtlCol="0" anchor="ctr"/>
          <a:lstStyle/>
          <a:p>
            <a:pPr indent="0" marL="0">
              <a:buNone/>
            </a:pPr>
            <a:endParaRPr lang="en-US" dirty="0"/>
          </a:p>
        </p:txBody>
      </p:sp>
      <p:sp>
        <p:nvSpPr>
          <p:cNvPr id="12" name="Text 10"/>
          <p:cNvSpPr/>
          <p:nvPr/>
        </p:nvSpPr>
        <p:spPr>
          <a:xfrm>
            <a:off x="3390900" y="2676525"/>
            <a:ext cx="2409444" cy="133350"/>
          </a:xfrm>
          <a:prstGeom prst="rect">
            <a:avLst/>
          </a:prstGeom>
          <a:noFill/>
          <a:ln/>
        </p:spPr>
        <p:txBody>
          <a:bodyPr wrap="square" lIns="0" tIns="0" rIns="0" bIns="0" rtlCol="0" anchor="t"/>
          <a:lstStyle/>
          <a:p>
            <a:pPr algn="l" indent="0" marL="0">
              <a:lnSpc>
                <a:spcPts val="1050"/>
              </a:lnSpc>
              <a:spcAft>
                <a:spcPts val="450"/>
              </a:spcAft>
              <a:buNone/>
            </a:pPr>
            <a:r>
              <a:rPr lang="en-US" sz="750" dirty="0">
                <a:solidFill>
                  <a:srgbClr val="FFFFFF">
                    <a:alpha val="70000"/>
                  </a:srgbClr>
                </a:solidFill>
                <a:latin typeface="monospace" pitchFamily="34" charset="0"/>
                <a:ea typeface="monospace" pitchFamily="34" charset="-122"/>
                <a:cs typeface="monospace" pitchFamily="34" charset="-120"/>
              </a:rPr>
              <a:t># Option A: OAuth (recommended)</a:t>
            </a:r>
            <a:endParaRPr lang="en-US" sz="750" dirty="0"/>
          </a:p>
        </p:txBody>
      </p:sp>
      <p:sp>
        <p:nvSpPr>
          <p:cNvPr id="13" name="Text 11"/>
          <p:cNvSpPr/>
          <p:nvPr/>
        </p:nvSpPr>
        <p:spPr>
          <a:xfrm>
            <a:off x="3390900" y="2867025"/>
            <a:ext cx="2409444" cy="146596"/>
          </a:xfrm>
          <a:prstGeom prst="rect">
            <a:avLst/>
          </a:prstGeom>
          <a:noFill/>
          <a:ln/>
        </p:spPr>
        <p:txBody>
          <a:bodyPr wrap="square" lIns="0" tIns="0" rIns="0" bIns="0" rtlCol="0" anchor="t"/>
          <a:lstStyle/>
          <a:p>
            <a:pPr algn="l" indent="0" marL="0">
              <a:lnSpc>
                <a:spcPts val="1155"/>
              </a:lnSpc>
              <a:spcAft>
                <a:spcPts val="750"/>
              </a:spcAft>
              <a:buNone/>
            </a:pPr>
            <a:r>
              <a:rPr lang="en-US" sz="825" dirty="0">
                <a:solidFill>
                  <a:srgbClr val="C9A227"/>
                </a:solidFill>
                <a:latin typeface="monospace" pitchFamily="34" charset="0"/>
                <a:ea typeface="monospace" pitchFamily="34" charset="-122"/>
                <a:cs typeface="monospace" pitchFamily="34" charset="-120"/>
              </a:rPr>
              <a:t>claude</a:t>
            </a:r>
            <a:endParaRPr lang="en-US" sz="825" dirty="0"/>
          </a:p>
        </p:txBody>
      </p:sp>
      <p:sp>
        <p:nvSpPr>
          <p:cNvPr id="14" name="Text 12"/>
          <p:cNvSpPr/>
          <p:nvPr/>
        </p:nvSpPr>
        <p:spPr>
          <a:xfrm>
            <a:off x="3390900" y="3108871"/>
            <a:ext cx="2409444" cy="133350"/>
          </a:xfrm>
          <a:prstGeom prst="rect">
            <a:avLst/>
          </a:prstGeom>
          <a:noFill/>
          <a:ln/>
        </p:spPr>
        <p:txBody>
          <a:bodyPr wrap="square" lIns="0" tIns="0" rIns="0" bIns="0" rtlCol="0" anchor="t"/>
          <a:lstStyle/>
          <a:p>
            <a:pPr algn="l" indent="0" marL="0">
              <a:lnSpc>
                <a:spcPts val="1050"/>
              </a:lnSpc>
              <a:spcAft>
                <a:spcPts val="450"/>
              </a:spcAft>
              <a:buNone/>
            </a:pPr>
            <a:r>
              <a:rPr lang="en-US" sz="750" dirty="0">
                <a:solidFill>
                  <a:srgbClr val="FFFFFF">
                    <a:alpha val="70000"/>
                  </a:srgbClr>
                </a:solidFill>
                <a:latin typeface="monospace" pitchFamily="34" charset="0"/>
                <a:ea typeface="monospace" pitchFamily="34" charset="-122"/>
                <a:cs typeface="monospace" pitchFamily="34" charset="-120"/>
              </a:rPr>
              <a:t># Option B: API Key</a:t>
            </a:r>
            <a:endParaRPr lang="en-US" sz="750" dirty="0"/>
          </a:p>
        </p:txBody>
      </p:sp>
      <p:sp>
        <p:nvSpPr>
          <p:cNvPr id="15" name="Text 13"/>
          <p:cNvSpPr/>
          <p:nvPr/>
        </p:nvSpPr>
        <p:spPr>
          <a:xfrm>
            <a:off x="3390900" y="3299371"/>
            <a:ext cx="2409444" cy="146596"/>
          </a:xfrm>
          <a:prstGeom prst="rect">
            <a:avLst/>
          </a:prstGeom>
          <a:noFill/>
          <a:ln/>
        </p:spPr>
        <p:txBody>
          <a:bodyPr wrap="square" lIns="0" tIns="0" rIns="0" bIns="0" rtlCol="0" anchor="t"/>
          <a:lstStyle/>
          <a:p>
            <a:pPr algn="l" indent="0" marL="0">
              <a:lnSpc>
                <a:spcPts val="1155"/>
              </a:lnSpc>
              <a:buNone/>
            </a:pPr>
            <a:r>
              <a:rPr lang="en-US" sz="825" dirty="0">
                <a:solidFill>
                  <a:srgbClr val="C9A227"/>
                </a:solidFill>
                <a:latin typeface="monospace" pitchFamily="34" charset="0"/>
                <a:ea typeface="monospace" pitchFamily="34" charset="-122"/>
                <a:cs typeface="monospace" pitchFamily="34" charset="-120"/>
              </a:rPr>
              <a:t>export ANTHROPIC_API_KEY=sk-...</a:t>
            </a:r>
            <a:endParaRPr lang="en-US" sz="825" dirty="0"/>
          </a:p>
        </p:txBody>
      </p:sp>
      <p:sp>
        <p:nvSpPr>
          <p:cNvPr id="16" name="Text 14"/>
          <p:cNvSpPr/>
          <p:nvPr/>
        </p:nvSpPr>
        <p:spPr>
          <a:xfrm>
            <a:off x="3238500" y="3846016"/>
            <a:ext cx="2720340" cy="133350"/>
          </a:xfrm>
          <a:prstGeom prst="rect">
            <a:avLst/>
          </a:prstGeom>
          <a:noFill/>
          <a:ln/>
        </p:spPr>
        <p:txBody>
          <a:bodyPr wrap="square" lIns="0" tIns="0" rIns="0" bIns="0" rtlCol="0" anchor="t"/>
          <a:lstStyle/>
          <a:p>
            <a:pPr algn="l" indent="0" marL="0">
              <a:lnSpc>
                <a:spcPts val="1050"/>
              </a:lnSpc>
              <a:buNone/>
            </a:pPr>
            <a:r>
              <a:rPr lang="en-US" sz="750" dirty="0">
                <a:solidFill>
                  <a:srgbClr val="FFFFFF">
                    <a:alpha val="50000"/>
                  </a:srgbClr>
                </a:solidFill>
                <a:latin typeface="Arial" pitchFamily="34" charset="0"/>
                <a:ea typeface="Arial" pitchFamily="34" charset="-122"/>
                <a:cs typeface="Arial" pitchFamily="34" charset="-120"/>
              </a:rPr>
              <a:t>OAuth opens browser for login</a:t>
            </a:r>
            <a:endParaRPr lang="en-US" sz="750" dirty="0"/>
          </a:p>
        </p:txBody>
      </p:sp>
      <p:sp>
        <p:nvSpPr>
          <p:cNvPr id="17" name="Text 15"/>
          <p:cNvSpPr/>
          <p:nvPr/>
        </p:nvSpPr>
        <p:spPr>
          <a:xfrm>
            <a:off x="6096000" y="1925985"/>
            <a:ext cx="2667000" cy="350490"/>
          </a:xfrm>
          <a:prstGeom prst="rect">
            <a:avLst/>
          </a:prstGeom>
          <a:solidFill>
            <a:srgbClr val="C9A227"/>
          </a:solidFill>
          <a:ln/>
        </p:spPr>
        <p:txBody>
          <a:bodyPr wrap="square" rtlCol="0" anchor="ctr"/>
          <a:lstStyle/>
          <a:p>
            <a:pPr indent="0" marL="0">
              <a:buNone/>
            </a:pPr>
            <a:endParaRPr lang="en-US" dirty="0"/>
          </a:p>
        </p:txBody>
      </p:sp>
      <p:sp>
        <p:nvSpPr>
          <p:cNvPr id="18" name="Text 16"/>
          <p:cNvSpPr/>
          <p:nvPr/>
        </p:nvSpPr>
        <p:spPr>
          <a:xfrm>
            <a:off x="6229350" y="2021235"/>
            <a:ext cx="2448306" cy="159990"/>
          </a:xfrm>
          <a:prstGeom prst="rect">
            <a:avLst/>
          </a:prstGeom>
          <a:noFill/>
          <a:ln/>
        </p:spPr>
        <p:txBody>
          <a:bodyPr wrap="square" lIns="0" tIns="0" rIns="0" bIns="0" rtlCol="0" anchor="t"/>
          <a:lstStyle/>
          <a:p>
            <a:pPr algn="l" indent="0" marL="0">
              <a:lnSpc>
                <a:spcPts val="1260"/>
              </a:lnSpc>
              <a:buNone/>
            </a:pPr>
            <a:r>
              <a:rPr lang="en-US" sz="900" b="1" dirty="0">
                <a:solidFill>
                  <a:srgbClr val="1A1F2E"/>
                </a:solidFill>
                <a:latin typeface="Arial" pitchFamily="34" charset="0"/>
                <a:ea typeface="Arial" pitchFamily="34" charset="-122"/>
                <a:cs typeface="Arial" pitchFamily="34" charset="-120"/>
              </a:rPr>
              <a:t>Step 3: Start Using</a:t>
            </a:r>
            <a:endParaRPr lang="en-US" sz="900" dirty="0"/>
          </a:p>
        </p:txBody>
      </p:sp>
      <p:sp>
        <p:nvSpPr>
          <p:cNvPr id="19" name="Text 17"/>
          <p:cNvSpPr/>
          <p:nvPr/>
        </p:nvSpPr>
        <p:spPr>
          <a:xfrm>
            <a:off x="6096000" y="2524125"/>
            <a:ext cx="2667000" cy="1074241"/>
          </a:xfrm>
          <a:prstGeom prst="rect">
            <a:avLst/>
          </a:prstGeom>
          <a:solidFill>
            <a:srgbClr val="252B3D"/>
          </a:solidFill>
          <a:ln/>
        </p:spPr>
        <p:txBody>
          <a:bodyPr wrap="square" rtlCol="0" anchor="ctr"/>
          <a:lstStyle/>
          <a:p>
            <a:pPr indent="0" marL="0">
              <a:buNone/>
            </a:pPr>
            <a:endParaRPr lang="en-US" dirty="0"/>
          </a:p>
        </p:txBody>
      </p:sp>
      <p:sp>
        <p:nvSpPr>
          <p:cNvPr id="20" name="Text 18"/>
          <p:cNvSpPr/>
          <p:nvPr/>
        </p:nvSpPr>
        <p:spPr>
          <a:xfrm>
            <a:off x="6248400" y="2676525"/>
            <a:ext cx="2409444" cy="133350"/>
          </a:xfrm>
          <a:prstGeom prst="rect">
            <a:avLst/>
          </a:prstGeom>
          <a:noFill/>
          <a:ln/>
        </p:spPr>
        <p:txBody>
          <a:bodyPr wrap="square" lIns="0" tIns="0" rIns="0" bIns="0" rtlCol="0" anchor="t"/>
          <a:lstStyle/>
          <a:p>
            <a:pPr algn="l" indent="0" marL="0">
              <a:lnSpc>
                <a:spcPts val="1050"/>
              </a:lnSpc>
              <a:spcAft>
                <a:spcPts val="450"/>
              </a:spcAft>
              <a:buNone/>
            </a:pPr>
            <a:r>
              <a:rPr lang="en-US" sz="750" dirty="0">
                <a:solidFill>
                  <a:srgbClr val="FFFFFF">
                    <a:alpha val="70000"/>
                  </a:srgbClr>
                </a:solidFill>
                <a:latin typeface="monospace" pitchFamily="34" charset="0"/>
                <a:ea typeface="monospace" pitchFamily="34" charset="-122"/>
                <a:cs typeface="monospace" pitchFamily="34" charset="-120"/>
              </a:rPr>
              <a:t># Navigate to your project</a:t>
            </a:r>
            <a:endParaRPr lang="en-US" sz="750" dirty="0"/>
          </a:p>
        </p:txBody>
      </p:sp>
      <p:sp>
        <p:nvSpPr>
          <p:cNvPr id="21" name="Text 19"/>
          <p:cNvSpPr/>
          <p:nvPr/>
        </p:nvSpPr>
        <p:spPr>
          <a:xfrm>
            <a:off x="6248400" y="2867025"/>
            <a:ext cx="2409444" cy="146596"/>
          </a:xfrm>
          <a:prstGeom prst="rect">
            <a:avLst/>
          </a:prstGeom>
          <a:noFill/>
          <a:ln/>
        </p:spPr>
        <p:txBody>
          <a:bodyPr wrap="square" lIns="0" tIns="0" rIns="0" bIns="0" rtlCol="0" anchor="t"/>
          <a:lstStyle/>
          <a:p>
            <a:pPr algn="l" indent="0" marL="0">
              <a:lnSpc>
                <a:spcPts val="1155"/>
              </a:lnSpc>
              <a:spcAft>
                <a:spcPts val="750"/>
              </a:spcAft>
              <a:buNone/>
            </a:pPr>
            <a:r>
              <a:rPr lang="en-US" sz="825" dirty="0">
                <a:solidFill>
                  <a:srgbClr val="C9A227"/>
                </a:solidFill>
                <a:latin typeface="monospace" pitchFamily="34" charset="0"/>
                <a:ea typeface="monospace" pitchFamily="34" charset="-122"/>
                <a:cs typeface="monospace" pitchFamily="34" charset="-120"/>
              </a:rPr>
              <a:t>cd ~/my-project</a:t>
            </a:r>
            <a:endParaRPr lang="en-US" sz="825" dirty="0"/>
          </a:p>
        </p:txBody>
      </p:sp>
      <p:sp>
        <p:nvSpPr>
          <p:cNvPr id="22" name="Text 20"/>
          <p:cNvSpPr/>
          <p:nvPr/>
        </p:nvSpPr>
        <p:spPr>
          <a:xfrm>
            <a:off x="6248400" y="3108871"/>
            <a:ext cx="2409444" cy="133350"/>
          </a:xfrm>
          <a:prstGeom prst="rect">
            <a:avLst/>
          </a:prstGeom>
          <a:noFill/>
          <a:ln/>
        </p:spPr>
        <p:txBody>
          <a:bodyPr wrap="square" lIns="0" tIns="0" rIns="0" bIns="0" rtlCol="0" anchor="t"/>
          <a:lstStyle/>
          <a:p>
            <a:pPr algn="l" indent="0" marL="0">
              <a:lnSpc>
                <a:spcPts val="1050"/>
              </a:lnSpc>
              <a:spcAft>
                <a:spcPts val="450"/>
              </a:spcAft>
              <a:buNone/>
            </a:pPr>
            <a:r>
              <a:rPr lang="en-US" sz="750" dirty="0">
                <a:solidFill>
                  <a:srgbClr val="FFFFFF">
                    <a:alpha val="70000"/>
                  </a:srgbClr>
                </a:solidFill>
                <a:latin typeface="monospace" pitchFamily="34" charset="0"/>
                <a:ea typeface="monospace" pitchFamily="34" charset="-122"/>
                <a:cs typeface="monospace" pitchFamily="34" charset="-120"/>
              </a:rPr>
              <a:t># Launch Claude Code</a:t>
            </a:r>
            <a:endParaRPr lang="en-US" sz="750" dirty="0"/>
          </a:p>
        </p:txBody>
      </p:sp>
      <p:sp>
        <p:nvSpPr>
          <p:cNvPr id="23" name="Text 21"/>
          <p:cNvSpPr/>
          <p:nvPr/>
        </p:nvSpPr>
        <p:spPr>
          <a:xfrm>
            <a:off x="6248400" y="3299371"/>
            <a:ext cx="2409444" cy="146596"/>
          </a:xfrm>
          <a:prstGeom prst="rect">
            <a:avLst/>
          </a:prstGeom>
          <a:noFill/>
          <a:ln/>
        </p:spPr>
        <p:txBody>
          <a:bodyPr wrap="square" lIns="0" tIns="0" rIns="0" bIns="0" rtlCol="0" anchor="t"/>
          <a:lstStyle/>
          <a:p>
            <a:pPr algn="l" indent="0" marL="0">
              <a:lnSpc>
                <a:spcPts val="1155"/>
              </a:lnSpc>
              <a:buNone/>
            </a:pPr>
            <a:r>
              <a:rPr lang="en-US" sz="825" dirty="0">
                <a:solidFill>
                  <a:srgbClr val="C9A227"/>
                </a:solidFill>
                <a:latin typeface="monospace" pitchFamily="34" charset="0"/>
                <a:ea typeface="monospace" pitchFamily="34" charset="-122"/>
                <a:cs typeface="monospace" pitchFamily="34" charset="-120"/>
              </a:rPr>
              <a:t>claude</a:t>
            </a:r>
            <a:endParaRPr lang="en-US" sz="825" dirty="0"/>
          </a:p>
        </p:txBody>
      </p:sp>
      <p:sp>
        <p:nvSpPr>
          <p:cNvPr id="24" name="Text 22"/>
          <p:cNvSpPr/>
          <p:nvPr/>
        </p:nvSpPr>
        <p:spPr>
          <a:xfrm>
            <a:off x="6096000" y="3846016"/>
            <a:ext cx="2720340" cy="133350"/>
          </a:xfrm>
          <a:prstGeom prst="rect">
            <a:avLst/>
          </a:prstGeom>
          <a:noFill/>
          <a:ln/>
        </p:spPr>
        <p:txBody>
          <a:bodyPr wrap="square" lIns="0" tIns="0" rIns="0" bIns="0" rtlCol="0" anchor="t"/>
          <a:lstStyle/>
          <a:p>
            <a:pPr algn="l" indent="0" marL="0">
              <a:lnSpc>
                <a:spcPts val="1050"/>
              </a:lnSpc>
              <a:buNone/>
            </a:pPr>
            <a:r>
              <a:rPr lang="en-US" sz="750" dirty="0">
                <a:solidFill>
                  <a:srgbClr val="FFFFFF">
                    <a:alpha val="50000"/>
                  </a:srgbClr>
                </a:solidFill>
                <a:latin typeface="Arial" pitchFamily="34" charset="0"/>
                <a:ea typeface="Arial" pitchFamily="34" charset="-122"/>
                <a:cs typeface="Arial" pitchFamily="34" charset="-120"/>
              </a:rPr>
              <a:t>Claude indexes your codebase</a:t>
            </a:r>
            <a:endParaRPr lang="en-US" sz="7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457200" y="266700"/>
            <a:ext cx="8394192" cy="146596"/>
          </a:xfrm>
          <a:prstGeom prst="rect">
            <a:avLst/>
          </a:prstGeom>
          <a:noFill/>
          <a:ln/>
        </p:spPr>
        <p:txBody>
          <a:bodyPr wrap="square" lIns="0" tIns="0" rIns="0" bIns="0" rtlCol="0" anchor="t"/>
          <a:lstStyle/>
          <a:p>
            <a:pPr algn="l" indent="0" marL="0">
              <a:lnSpc>
                <a:spcPts val="1155"/>
              </a:lnSpc>
              <a:spcAft>
                <a:spcPts val="600"/>
              </a:spcAft>
              <a:buNone/>
            </a:pPr>
            <a:r>
              <a:rPr lang="en-US" sz="825" dirty="0">
                <a:solidFill>
                  <a:srgbClr val="C9A227"/>
                </a:solidFill>
                <a:latin typeface="Arial" pitchFamily="34" charset="0"/>
                <a:ea typeface="Arial" pitchFamily="34" charset="-122"/>
                <a:cs typeface="Arial" pitchFamily="34" charset="-120"/>
              </a:rPr>
              <a:t>ESSENTIAL COMMANDS</a:t>
            </a:r>
            <a:endParaRPr lang="en-US" sz="825" dirty="0"/>
          </a:p>
        </p:txBody>
      </p:sp>
      <p:sp>
        <p:nvSpPr>
          <p:cNvPr id="3" name="Text 1"/>
          <p:cNvSpPr/>
          <p:nvPr/>
        </p:nvSpPr>
        <p:spPr>
          <a:xfrm>
            <a:off x="457200" y="489496"/>
            <a:ext cx="4206812" cy="304800"/>
          </a:xfrm>
          <a:prstGeom prst="rect">
            <a:avLst/>
          </a:prstGeom>
          <a:noFill/>
          <a:ln/>
        </p:spPr>
        <p:txBody>
          <a:bodyPr wrap="square" lIns="0" tIns="0" rIns="0" bIns="0" rtlCol="0" anchor="t"/>
          <a:lstStyle/>
          <a:p>
            <a:pPr algn="l" indent="0" marL="0">
              <a:lnSpc>
                <a:spcPts val="2400"/>
              </a:lnSpc>
              <a:buNone/>
            </a:pPr>
            <a:r>
              <a:rPr lang="en-US" sz="2400" dirty="0">
                <a:solidFill>
                  <a:srgbClr val="1A1F2E"/>
                </a:solidFill>
                <a:latin typeface="Georgia" pitchFamily="34" charset="0"/>
                <a:ea typeface="Georgia" pitchFamily="34" charset="-122"/>
                <a:cs typeface="Georgia" pitchFamily="34" charset="-120"/>
              </a:rPr>
              <a:t>Claude Code Key Commands</a:t>
            </a:r>
            <a:endParaRPr lang="en-US" sz="2400" dirty="0"/>
          </a:p>
        </p:txBody>
      </p:sp>
      <p:sp>
        <p:nvSpPr>
          <p:cNvPr id="4" name="Text 2"/>
          <p:cNvSpPr/>
          <p:nvPr/>
        </p:nvSpPr>
        <p:spPr>
          <a:xfrm>
            <a:off x="457200" y="1562398"/>
            <a:ext cx="2641550" cy="2851100"/>
          </a:xfrm>
          <a:prstGeom prst="rect">
            <a:avLst/>
          </a:prstGeom>
          <a:solidFill>
            <a:srgbClr val="FFFFFF"/>
          </a:solidFill>
          <a:ln/>
        </p:spPr>
        <p:txBody>
          <a:bodyPr wrap="square" rtlCol="0" anchor="ctr"/>
          <a:lstStyle/>
          <a:p>
            <a:pPr indent="0" marL="0">
              <a:buNone/>
            </a:pPr>
            <a:endParaRPr lang="en-US" dirty="0"/>
          </a:p>
        </p:txBody>
      </p:sp>
      <p:sp>
        <p:nvSpPr>
          <p:cNvPr id="5" name="Shape 3"/>
          <p:cNvSpPr/>
          <p:nvPr/>
        </p:nvSpPr>
        <p:spPr>
          <a:xfrm>
            <a:off x="476250" y="1562398"/>
            <a:ext cx="0" cy="2851100"/>
          </a:xfrm>
          <a:prstGeom prst="line">
            <a:avLst/>
          </a:prstGeom>
          <a:noFill/>
          <a:ln w="38100">
            <a:solidFill>
              <a:srgbClr val="C9A227"/>
            </a:solidFill>
            <a:prstDash val="solid"/>
          </a:ln>
        </p:spPr>
      </p:sp>
      <p:sp>
        <p:nvSpPr>
          <p:cNvPr id="6" name="Text 4"/>
          <p:cNvSpPr/>
          <p:nvPr/>
        </p:nvSpPr>
        <p:spPr>
          <a:xfrm>
            <a:off x="685800" y="1752898"/>
            <a:ext cx="2266899" cy="186630"/>
          </a:xfrm>
          <a:prstGeom prst="rect">
            <a:avLst/>
          </a:prstGeom>
          <a:noFill/>
          <a:ln/>
        </p:spPr>
        <p:txBody>
          <a:bodyPr wrap="square" lIns="0" tIns="0" rIns="0" bIns="0" rtlCol="0" anchor="t"/>
          <a:lstStyle/>
          <a:p>
            <a:pPr algn="l" indent="0" marL="0">
              <a:lnSpc>
                <a:spcPts val="1470"/>
              </a:lnSpc>
              <a:spcAft>
                <a:spcPts val="1200"/>
              </a:spcAft>
              <a:buNone/>
            </a:pPr>
            <a:r>
              <a:rPr lang="en-US" sz="1050" b="1" dirty="0">
                <a:solidFill>
                  <a:srgbClr val="1A1F2E"/>
                </a:solidFill>
                <a:latin typeface="Georgia" pitchFamily="34" charset="0"/>
                <a:ea typeface="Georgia" pitchFamily="34" charset="-122"/>
                <a:cs typeface="Georgia" pitchFamily="34" charset="-120"/>
              </a:rPr>
              <a:t>Session Management</a:t>
            </a:r>
            <a:endParaRPr lang="en-US" sz="1050" dirty="0"/>
          </a:p>
        </p:txBody>
      </p:sp>
      <p:sp>
        <p:nvSpPr>
          <p:cNvPr id="7" name="Text 5"/>
          <p:cNvSpPr/>
          <p:nvPr/>
        </p:nvSpPr>
        <p:spPr>
          <a:xfrm>
            <a:off x="685800" y="2244328"/>
            <a:ext cx="2266899" cy="186630"/>
          </a:xfrm>
          <a:prstGeom prst="rect">
            <a:avLst/>
          </a:prstGeom>
          <a:noFill/>
          <a:ln/>
        </p:spPr>
        <p:txBody>
          <a:bodyPr wrap="square" lIns="0" tIns="0" rIns="0" bIns="0" rtlCol="0" anchor="t"/>
          <a:lstStyle/>
          <a:p>
            <a:pPr algn="l" indent="0" marL="0">
              <a:lnSpc>
                <a:spcPts val="1470"/>
              </a:lnSpc>
              <a:spcAft>
                <a:spcPts val="300"/>
              </a:spcAft>
              <a:buNone/>
            </a:pPr>
            <a:r>
              <a:rPr lang="en-US" sz="1050" b="1" dirty="0">
                <a:solidFill>
                  <a:srgbClr val="C9A227"/>
                </a:solidFill>
                <a:latin typeface="monospace" pitchFamily="34" charset="0"/>
                <a:ea typeface="monospace" pitchFamily="34" charset="-122"/>
                <a:cs typeface="monospace" pitchFamily="34" charset="-120"/>
              </a:rPr>
              <a:t>/clear</a:t>
            </a:r>
            <a:endParaRPr lang="en-US" sz="1050" dirty="0"/>
          </a:p>
        </p:txBody>
      </p:sp>
      <p:sp>
        <p:nvSpPr>
          <p:cNvPr id="8" name="Text 6"/>
          <p:cNvSpPr/>
          <p:nvPr/>
        </p:nvSpPr>
        <p:spPr>
          <a:xfrm>
            <a:off x="685800" y="2469059"/>
            <a:ext cx="2266899" cy="293191"/>
          </a:xfrm>
          <a:prstGeom prst="rect">
            <a:avLst/>
          </a:prstGeom>
          <a:noFill/>
          <a:ln/>
        </p:spPr>
        <p:txBody>
          <a:bodyPr wrap="square" lIns="0" tIns="0" rIns="0" bIns="0" rtlCol="0" anchor="t"/>
          <a:lstStyle/>
          <a:p>
            <a:pPr algn="l" indent="0" marL="0">
              <a:lnSpc>
                <a:spcPts val="1155"/>
              </a:lnSpc>
              <a:buNone/>
            </a:pPr>
            <a:r>
              <a:rPr lang="en-US" sz="825" dirty="0">
                <a:solidFill>
                  <a:srgbClr val="6B7280"/>
                </a:solidFill>
                <a:latin typeface="Arial" pitchFamily="34" charset="0"/>
                <a:ea typeface="Arial" pitchFamily="34" charset="-122"/>
                <a:cs typeface="Arial" pitchFamily="34" charset="-120"/>
              </a:rPr>
              <a:t>Reset conversation history. Start fresh without restarting Claude.</a:t>
            </a:r>
            <a:endParaRPr lang="en-US" sz="825" dirty="0"/>
          </a:p>
        </p:txBody>
      </p:sp>
      <p:sp>
        <p:nvSpPr>
          <p:cNvPr id="9" name="Text 7"/>
          <p:cNvSpPr/>
          <p:nvPr/>
        </p:nvSpPr>
        <p:spPr>
          <a:xfrm>
            <a:off x="685800" y="3048000"/>
            <a:ext cx="2266899" cy="186630"/>
          </a:xfrm>
          <a:prstGeom prst="rect">
            <a:avLst/>
          </a:prstGeom>
          <a:noFill/>
          <a:ln/>
        </p:spPr>
        <p:txBody>
          <a:bodyPr wrap="square" lIns="0" tIns="0" rIns="0" bIns="0" rtlCol="0" anchor="t"/>
          <a:lstStyle/>
          <a:p>
            <a:pPr algn="l" indent="0" marL="0">
              <a:lnSpc>
                <a:spcPts val="1470"/>
              </a:lnSpc>
              <a:spcAft>
                <a:spcPts val="300"/>
              </a:spcAft>
              <a:buNone/>
            </a:pPr>
            <a:r>
              <a:rPr lang="en-US" sz="1050" b="1" dirty="0">
                <a:solidFill>
                  <a:srgbClr val="C9A227"/>
                </a:solidFill>
                <a:latin typeface="monospace" pitchFamily="34" charset="0"/>
                <a:ea typeface="monospace" pitchFamily="34" charset="-122"/>
                <a:cs typeface="monospace" pitchFamily="34" charset="-120"/>
              </a:rPr>
              <a:t>/compact</a:t>
            </a:r>
            <a:endParaRPr lang="en-US" sz="1050" dirty="0"/>
          </a:p>
        </p:txBody>
      </p:sp>
      <p:sp>
        <p:nvSpPr>
          <p:cNvPr id="10" name="Text 8"/>
          <p:cNvSpPr/>
          <p:nvPr/>
        </p:nvSpPr>
        <p:spPr>
          <a:xfrm>
            <a:off x="685800" y="3272730"/>
            <a:ext cx="2266899" cy="293191"/>
          </a:xfrm>
          <a:prstGeom prst="rect">
            <a:avLst/>
          </a:prstGeom>
          <a:noFill/>
          <a:ln/>
        </p:spPr>
        <p:txBody>
          <a:bodyPr wrap="square" lIns="0" tIns="0" rIns="0" bIns="0" rtlCol="0" anchor="t"/>
          <a:lstStyle/>
          <a:p>
            <a:pPr algn="l" indent="0" marL="0">
              <a:lnSpc>
                <a:spcPts val="1155"/>
              </a:lnSpc>
              <a:buNone/>
            </a:pPr>
            <a:r>
              <a:rPr lang="en-US" sz="825" dirty="0">
                <a:solidFill>
                  <a:srgbClr val="6B7280"/>
                </a:solidFill>
                <a:latin typeface="Arial" pitchFamily="34" charset="0"/>
                <a:ea typeface="Arial" pitchFamily="34" charset="-122"/>
                <a:cs typeface="Arial" pitchFamily="34" charset="-120"/>
              </a:rPr>
              <a:t>Summarize context to reduce token usage while preserving key info.</a:t>
            </a:r>
            <a:endParaRPr lang="en-US" sz="825" dirty="0"/>
          </a:p>
        </p:txBody>
      </p:sp>
      <p:sp>
        <p:nvSpPr>
          <p:cNvPr id="11" name="Text 9"/>
          <p:cNvSpPr/>
          <p:nvPr/>
        </p:nvSpPr>
        <p:spPr>
          <a:xfrm>
            <a:off x="685800" y="3851672"/>
            <a:ext cx="2266899" cy="186630"/>
          </a:xfrm>
          <a:prstGeom prst="rect">
            <a:avLst/>
          </a:prstGeom>
          <a:noFill/>
          <a:ln/>
        </p:spPr>
        <p:txBody>
          <a:bodyPr wrap="square" lIns="0" tIns="0" rIns="0" bIns="0" rtlCol="0" anchor="t"/>
          <a:lstStyle/>
          <a:p>
            <a:pPr algn="l" indent="0" marL="0">
              <a:lnSpc>
                <a:spcPts val="1470"/>
              </a:lnSpc>
              <a:spcAft>
                <a:spcPts val="300"/>
              </a:spcAft>
              <a:buNone/>
            </a:pPr>
            <a:r>
              <a:rPr lang="en-US" sz="1050" b="1" dirty="0">
                <a:solidFill>
                  <a:srgbClr val="C9A227"/>
                </a:solidFill>
                <a:latin typeface="monospace" pitchFamily="34" charset="0"/>
                <a:ea typeface="monospace" pitchFamily="34" charset="-122"/>
                <a:cs typeface="monospace" pitchFamily="34" charset="-120"/>
              </a:rPr>
              <a:t>/resume</a:t>
            </a:r>
            <a:endParaRPr lang="en-US" sz="1050" dirty="0"/>
          </a:p>
        </p:txBody>
      </p:sp>
      <p:sp>
        <p:nvSpPr>
          <p:cNvPr id="12" name="Text 10"/>
          <p:cNvSpPr/>
          <p:nvPr/>
        </p:nvSpPr>
        <p:spPr>
          <a:xfrm>
            <a:off x="685800" y="4076402"/>
            <a:ext cx="2266899" cy="146596"/>
          </a:xfrm>
          <a:prstGeom prst="rect">
            <a:avLst/>
          </a:prstGeom>
          <a:noFill/>
          <a:ln/>
        </p:spPr>
        <p:txBody>
          <a:bodyPr wrap="square" lIns="0" tIns="0" rIns="0" bIns="0" rtlCol="0" anchor="t"/>
          <a:lstStyle/>
          <a:p>
            <a:pPr algn="l" indent="0" marL="0">
              <a:lnSpc>
                <a:spcPts val="1155"/>
              </a:lnSpc>
              <a:buNone/>
            </a:pPr>
            <a:r>
              <a:rPr lang="en-US" sz="825" dirty="0">
                <a:solidFill>
                  <a:srgbClr val="6B7280"/>
                </a:solidFill>
                <a:latin typeface="Arial" pitchFamily="34" charset="0"/>
                <a:ea typeface="Arial" pitchFamily="34" charset="-122"/>
                <a:cs typeface="Arial" pitchFamily="34" charset="-120"/>
              </a:rPr>
              <a:t>Continue a previous session where you left off.</a:t>
            </a:r>
            <a:endParaRPr lang="en-US" sz="825" dirty="0"/>
          </a:p>
        </p:txBody>
      </p:sp>
      <p:sp>
        <p:nvSpPr>
          <p:cNvPr id="13" name="Text 11"/>
          <p:cNvSpPr/>
          <p:nvPr/>
        </p:nvSpPr>
        <p:spPr>
          <a:xfrm>
            <a:off x="3251150" y="1489025"/>
            <a:ext cx="2641550" cy="2997696"/>
          </a:xfrm>
          <a:prstGeom prst="rect">
            <a:avLst/>
          </a:prstGeom>
          <a:solidFill>
            <a:srgbClr val="FFFFFF"/>
          </a:solidFill>
          <a:ln/>
        </p:spPr>
        <p:txBody>
          <a:bodyPr wrap="square" rtlCol="0" anchor="ctr"/>
          <a:lstStyle/>
          <a:p>
            <a:pPr indent="0" marL="0">
              <a:buNone/>
            </a:pPr>
            <a:endParaRPr lang="en-US" dirty="0"/>
          </a:p>
        </p:txBody>
      </p:sp>
      <p:sp>
        <p:nvSpPr>
          <p:cNvPr id="14" name="Shape 12"/>
          <p:cNvSpPr/>
          <p:nvPr/>
        </p:nvSpPr>
        <p:spPr>
          <a:xfrm>
            <a:off x="3270200" y="1489025"/>
            <a:ext cx="0" cy="2997696"/>
          </a:xfrm>
          <a:prstGeom prst="line">
            <a:avLst/>
          </a:prstGeom>
          <a:noFill/>
          <a:ln w="38100">
            <a:solidFill>
              <a:srgbClr val="C9A227"/>
            </a:solidFill>
            <a:prstDash val="solid"/>
          </a:ln>
        </p:spPr>
      </p:sp>
      <p:sp>
        <p:nvSpPr>
          <p:cNvPr id="15" name="Text 13"/>
          <p:cNvSpPr/>
          <p:nvPr/>
        </p:nvSpPr>
        <p:spPr>
          <a:xfrm>
            <a:off x="3479750" y="1679525"/>
            <a:ext cx="2266899" cy="186630"/>
          </a:xfrm>
          <a:prstGeom prst="rect">
            <a:avLst/>
          </a:prstGeom>
          <a:noFill/>
          <a:ln/>
        </p:spPr>
        <p:txBody>
          <a:bodyPr wrap="square" lIns="0" tIns="0" rIns="0" bIns="0" rtlCol="0" anchor="t"/>
          <a:lstStyle/>
          <a:p>
            <a:pPr algn="l" indent="0" marL="0">
              <a:lnSpc>
                <a:spcPts val="1470"/>
              </a:lnSpc>
              <a:spcAft>
                <a:spcPts val="1200"/>
              </a:spcAft>
              <a:buNone/>
            </a:pPr>
            <a:r>
              <a:rPr lang="en-US" sz="1050" b="1" dirty="0">
                <a:solidFill>
                  <a:srgbClr val="1A1F2E"/>
                </a:solidFill>
                <a:latin typeface="Georgia" pitchFamily="34" charset="0"/>
                <a:ea typeface="Georgia" pitchFamily="34" charset="-122"/>
                <a:cs typeface="Georgia" pitchFamily="34" charset="-120"/>
              </a:rPr>
              <a:t>Information</a:t>
            </a:r>
            <a:endParaRPr lang="en-US" sz="1050" dirty="0"/>
          </a:p>
        </p:txBody>
      </p:sp>
      <p:sp>
        <p:nvSpPr>
          <p:cNvPr id="16" name="Text 14"/>
          <p:cNvSpPr/>
          <p:nvPr/>
        </p:nvSpPr>
        <p:spPr>
          <a:xfrm>
            <a:off x="3479750" y="2170956"/>
            <a:ext cx="2266899" cy="186630"/>
          </a:xfrm>
          <a:prstGeom prst="rect">
            <a:avLst/>
          </a:prstGeom>
          <a:noFill/>
          <a:ln/>
        </p:spPr>
        <p:txBody>
          <a:bodyPr wrap="square" lIns="0" tIns="0" rIns="0" bIns="0" rtlCol="0" anchor="t"/>
          <a:lstStyle/>
          <a:p>
            <a:pPr algn="l" indent="0" marL="0">
              <a:lnSpc>
                <a:spcPts val="1470"/>
              </a:lnSpc>
              <a:spcAft>
                <a:spcPts val="300"/>
              </a:spcAft>
              <a:buNone/>
            </a:pPr>
            <a:r>
              <a:rPr lang="en-US" sz="1050" b="1" dirty="0">
                <a:solidFill>
                  <a:srgbClr val="C9A227"/>
                </a:solidFill>
                <a:latin typeface="monospace" pitchFamily="34" charset="0"/>
                <a:ea typeface="monospace" pitchFamily="34" charset="-122"/>
                <a:cs typeface="monospace" pitchFamily="34" charset="-120"/>
              </a:rPr>
              <a:t>/help</a:t>
            </a:r>
            <a:endParaRPr lang="en-US" sz="1050" dirty="0"/>
          </a:p>
        </p:txBody>
      </p:sp>
      <p:sp>
        <p:nvSpPr>
          <p:cNvPr id="17" name="Text 15"/>
          <p:cNvSpPr/>
          <p:nvPr/>
        </p:nvSpPr>
        <p:spPr>
          <a:xfrm>
            <a:off x="3479750" y="2395686"/>
            <a:ext cx="2266899" cy="293191"/>
          </a:xfrm>
          <a:prstGeom prst="rect">
            <a:avLst/>
          </a:prstGeom>
          <a:noFill/>
          <a:ln/>
        </p:spPr>
        <p:txBody>
          <a:bodyPr wrap="square" lIns="0" tIns="0" rIns="0" bIns="0" rtlCol="0" anchor="t"/>
          <a:lstStyle/>
          <a:p>
            <a:pPr algn="l" indent="0" marL="0">
              <a:lnSpc>
                <a:spcPts val="1155"/>
              </a:lnSpc>
              <a:buNone/>
            </a:pPr>
            <a:r>
              <a:rPr lang="en-US" sz="825" dirty="0">
                <a:solidFill>
                  <a:srgbClr val="6B7280"/>
                </a:solidFill>
                <a:latin typeface="Arial" pitchFamily="34" charset="0"/>
                <a:ea typeface="Arial" pitchFamily="34" charset="-122"/>
                <a:cs typeface="Arial" pitchFamily="34" charset="-120"/>
              </a:rPr>
              <a:t>Display all available commands and their descriptions.</a:t>
            </a:r>
            <a:endParaRPr lang="en-US" sz="825" dirty="0"/>
          </a:p>
        </p:txBody>
      </p:sp>
      <p:sp>
        <p:nvSpPr>
          <p:cNvPr id="18" name="Text 16"/>
          <p:cNvSpPr/>
          <p:nvPr/>
        </p:nvSpPr>
        <p:spPr>
          <a:xfrm>
            <a:off x="3479750" y="2974628"/>
            <a:ext cx="2266899" cy="186630"/>
          </a:xfrm>
          <a:prstGeom prst="rect">
            <a:avLst/>
          </a:prstGeom>
          <a:noFill/>
          <a:ln/>
        </p:spPr>
        <p:txBody>
          <a:bodyPr wrap="square" lIns="0" tIns="0" rIns="0" bIns="0" rtlCol="0" anchor="t"/>
          <a:lstStyle/>
          <a:p>
            <a:pPr algn="l" indent="0" marL="0">
              <a:lnSpc>
                <a:spcPts val="1470"/>
              </a:lnSpc>
              <a:spcAft>
                <a:spcPts val="300"/>
              </a:spcAft>
              <a:buNone/>
            </a:pPr>
            <a:r>
              <a:rPr lang="en-US" sz="1050" b="1" dirty="0">
                <a:solidFill>
                  <a:srgbClr val="C9A227"/>
                </a:solidFill>
                <a:latin typeface="monospace" pitchFamily="34" charset="0"/>
                <a:ea typeface="monospace" pitchFamily="34" charset="-122"/>
                <a:cs typeface="monospace" pitchFamily="34" charset="-120"/>
              </a:rPr>
              <a:t>/cost</a:t>
            </a:r>
            <a:endParaRPr lang="en-US" sz="1050" dirty="0"/>
          </a:p>
        </p:txBody>
      </p:sp>
      <p:sp>
        <p:nvSpPr>
          <p:cNvPr id="19" name="Text 17"/>
          <p:cNvSpPr/>
          <p:nvPr/>
        </p:nvSpPr>
        <p:spPr>
          <a:xfrm>
            <a:off x="3479750" y="3199358"/>
            <a:ext cx="2266899" cy="293191"/>
          </a:xfrm>
          <a:prstGeom prst="rect">
            <a:avLst/>
          </a:prstGeom>
          <a:noFill/>
          <a:ln/>
        </p:spPr>
        <p:txBody>
          <a:bodyPr wrap="square" lIns="0" tIns="0" rIns="0" bIns="0" rtlCol="0" anchor="t"/>
          <a:lstStyle/>
          <a:p>
            <a:pPr algn="l" indent="0" marL="0">
              <a:lnSpc>
                <a:spcPts val="1155"/>
              </a:lnSpc>
              <a:buNone/>
            </a:pPr>
            <a:r>
              <a:rPr lang="en-US" sz="825" dirty="0">
                <a:solidFill>
                  <a:srgbClr val="6B7280"/>
                </a:solidFill>
                <a:latin typeface="Arial" pitchFamily="34" charset="0"/>
                <a:ea typeface="Arial" pitchFamily="34" charset="-122"/>
                <a:cs typeface="Arial" pitchFamily="34" charset="-120"/>
              </a:rPr>
              <a:t>Show token usage and estimated cost for current session.</a:t>
            </a:r>
            <a:endParaRPr lang="en-US" sz="825" dirty="0"/>
          </a:p>
        </p:txBody>
      </p:sp>
      <p:sp>
        <p:nvSpPr>
          <p:cNvPr id="20" name="Text 18"/>
          <p:cNvSpPr/>
          <p:nvPr/>
        </p:nvSpPr>
        <p:spPr>
          <a:xfrm>
            <a:off x="3479750" y="3778300"/>
            <a:ext cx="2266899" cy="186630"/>
          </a:xfrm>
          <a:prstGeom prst="rect">
            <a:avLst/>
          </a:prstGeom>
          <a:noFill/>
          <a:ln/>
        </p:spPr>
        <p:txBody>
          <a:bodyPr wrap="square" lIns="0" tIns="0" rIns="0" bIns="0" rtlCol="0" anchor="t"/>
          <a:lstStyle/>
          <a:p>
            <a:pPr algn="l" indent="0" marL="0">
              <a:lnSpc>
                <a:spcPts val="1470"/>
              </a:lnSpc>
              <a:spcAft>
                <a:spcPts val="300"/>
              </a:spcAft>
              <a:buNone/>
            </a:pPr>
            <a:r>
              <a:rPr lang="en-US" sz="1050" b="1" dirty="0">
                <a:solidFill>
                  <a:srgbClr val="C9A227"/>
                </a:solidFill>
                <a:latin typeface="monospace" pitchFamily="34" charset="0"/>
                <a:ea typeface="monospace" pitchFamily="34" charset="-122"/>
                <a:cs typeface="monospace" pitchFamily="34" charset="-120"/>
              </a:rPr>
              <a:t>/status</a:t>
            </a:r>
            <a:endParaRPr lang="en-US" sz="1050" dirty="0"/>
          </a:p>
        </p:txBody>
      </p:sp>
      <p:sp>
        <p:nvSpPr>
          <p:cNvPr id="21" name="Text 19"/>
          <p:cNvSpPr/>
          <p:nvPr/>
        </p:nvSpPr>
        <p:spPr>
          <a:xfrm>
            <a:off x="3479750" y="4003030"/>
            <a:ext cx="2266899" cy="293191"/>
          </a:xfrm>
          <a:prstGeom prst="rect">
            <a:avLst/>
          </a:prstGeom>
          <a:noFill/>
          <a:ln/>
        </p:spPr>
        <p:txBody>
          <a:bodyPr wrap="square" lIns="0" tIns="0" rIns="0" bIns="0" rtlCol="0" anchor="t"/>
          <a:lstStyle/>
          <a:p>
            <a:pPr algn="l" indent="0" marL="0">
              <a:lnSpc>
                <a:spcPts val="1155"/>
              </a:lnSpc>
              <a:buNone/>
            </a:pPr>
            <a:r>
              <a:rPr lang="en-US" sz="825" dirty="0">
                <a:solidFill>
                  <a:srgbClr val="6B7280"/>
                </a:solidFill>
                <a:latin typeface="Arial" pitchFamily="34" charset="0"/>
                <a:ea typeface="Arial" pitchFamily="34" charset="-122"/>
                <a:cs typeface="Arial" pitchFamily="34" charset="-120"/>
              </a:rPr>
              <a:t>View current session info, model, and context window usage.</a:t>
            </a:r>
            <a:endParaRPr lang="en-US" sz="825" dirty="0"/>
          </a:p>
        </p:txBody>
      </p:sp>
      <p:sp>
        <p:nvSpPr>
          <p:cNvPr id="22" name="Text 20"/>
          <p:cNvSpPr/>
          <p:nvPr/>
        </p:nvSpPr>
        <p:spPr>
          <a:xfrm>
            <a:off x="6045101" y="1562398"/>
            <a:ext cx="2641550" cy="2851100"/>
          </a:xfrm>
          <a:prstGeom prst="rect">
            <a:avLst/>
          </a:prstGeom>
          <a:solidFill>
            <a:srgbClr val="FFFFFF"/>
          </a:solidFill>
          <a:ln/>
        </p:spPr>
        <p:txBody>
          <a:bodyPr wrap="square" rtlCol="0" anchor="ctr"/>
          <a:lstStyle/>
          <a:p>
            <a:pPr indent="0" marL="0">
              <a:buNone/>
            </a:pPr>
            <a:endParaRPr lang="en-US" dirty="0"/>
          </a:p>
        </p:txBody>
      </p:sp>
      <p:sp>
        <p:nvSpPr>
          <p:cNvPr id="23" name="Shape 21"/>
          <p:cNvSpPr/>
          <p:nvPr/>
        </p:nvSpPr>
        <p:spPr>
          <a:xfrm>
            <a:off x="6064151" y="1562398"/>
            <a:ext cx="0" cy="2851100"/>
          </a:xfrm>
          <a:prstGeom prst="line">
            <a:avLst/>
          </a:prstGeom>
          <a:noFill/>
          <a:ln w="38100">
            <a:solidFill>
              <a:srgbClr val="C9A227"/>
            </a:solidFill>
            <a:prstDash val="solid"/>
          </a:ln>
        </p:spPr>
      </p:sp>
      <p:sp>
        <p:nvSpPr>
          <p:cNvPr id="24" name="Text 22"/>
          <p:cNvSpPr/>
          <p:nvPr/>
        </p:nvSpPr>
        <p:spPr>
          <a:xfrm>
            <a:off x="6273701" y="1752898"/>
            <a:ext cx="2266899" cy="186630"/>
          </a:xfrm>
          <a:prstGeom prst="rect">
            <a:avLst/>
          </a:prstGeom>
          <a:noFill/>
          <a:ln/>
        </p:spPr>
        <p:txBody>
          <a:bodyPr wrap="square" lIns="0" tIns="0" rIns="0" bIns="0" rtlCol="0" anchor="t"/>
          <a:lstStyle/>
          <a:p>
            <a:pPr algn="l" indent="0" marL="0">
              <a:lnSpc>
                <a:spcPts val="1470"/>
              </a:lnSpc>
              <a:spcAft>
                <a:spcPts val="1200"/>
              </a:spcAft>
              <a:buNone/>
            </a:pPr>
            <a:r>
              <a:rPr lang="en-US" sz="1050" b="1" dirty="0">
                <a:solidFill>
                  <a:srgbClr val="1A1F2E"/>
                </a:solidFill>
                <a:latin typeface="Georgia" pitchFamily="34" charset="0"/>
                <a:ea typeface="Georgia" pitchFamily="34" charset="-122"/>
                <a:cs typeface="Georgia" pitchFamily="34" charset="-120"/>
              </a:rPr>
              <a:t>Project Setup</a:t>
            </a:r>
            <a:endParaRPr lang="en-US" sz="1050" dirty="0"/>
          </a:p>
        </p:txBody>
      </p:sp>
      <p:sp>
        <p:nvSpPr>
          <p:cNvPr id="25" name="Text 23"/>
          <p:cNvSpPr/>
          <p:nvPr/>
        </p:nvSpPr>
        <p:spPr>
          <a:xfrm>
            <a:off x="6273701" y="2244328"/>
            <a:ext cx="2266899" cy="186630"/>
          </a:xfrm>
          <a:prstGeom prst="rect">
            <a:avLst/>
          </a:prstGeom>
          <a:noFill/>
          <a:ln/>
        </p:spPr>
        <p:txBody>
          <a:bodyPr wrap="square" lIns="0" tIns="0" rIns="0" bIns="0" rtlCol="0" anchor="t"/>
          <a:lstStyle/>
          <a:p>
            <a:pPr algn="l" indent="0" marL="0">
              <a:lnSpc>
                <a:spcPts val="1470"/>
              </a:lnSpc>
              <a:spcAft>
                <a:spcPts val="300"/>
              </a:spcAft>
              <a:buNone/>
            </a:pPr>
            <a:r>
              <a:rPr lang="en-US" sz="1050" b="1" dirty="0">
                <a:solidFill>
                  <a:srgbClr val="C9A227"/>
                </a:solidFill>
                <a:latin typeface="monospace" pitchFamily="34" charset="0"/>
                <a:ea typeface="monospace" pitchFamily="34" charset="-122"/>
                <a:cs typeface="monospace" pitchFamily="34" charset="-120"/>
              </a:rPr>
              <a:t>/init</a:t>
            </a:r>
            <a:endParaRPr lang="en-US" sz="1050" dirty="0"/>
          </a:p>
        </p:txBody>
      </p:sp>
      <p:sp>
        <p:nvSpPr>
          <p:cNvPr id="26" name="Text 24"/>
          <p:cNvSpPr/>
          <p:nvPr/>
        </p:nvSpPr>
        <p:spPr>
          <a:xfrm>
            <a:off x="6273701" y="2469059"/>
            <a:ext cx="2266899" cy="293191"/>
          </a:xfrm>
          <a:prstGeom prst="rect">
            <a:avLst/>
          </a:prstGeom>
          <a:noFill/>
          <a:ln/>
        </p:spPr>
        <p:txBody>
          <a:bodyPr wrap="square" lIns="0" tIns="0" rIns="0" bIns="0" rtlCol="0" anchor="t"/>
          <a:lstStyle/>
          <a:p>
            <a:pPr algn="l" indent="0" marL="0">
              <a:lnSpc>
                <a:spcPts val="1155"/>
              </a:lnSpc>
              <a:buNone/>
            </a:pPr>
            <a:r>
              <a:rPr lang="en-US" sz="825" dirty="0">
                <a:solidFill>
                  <a:srgbClr val="6B7280"/>
                </a:solidFill>
                <a:latin typeface="Arial" pitchFamily="34" charset="0"/>
                <a:ea typeface="Arial" pitchFamily="34" charset="-122"/>
                <a:cs typeface="Arial" pitchFamily="34" charset="-120"/>
              </a:rPr>
              <a:t>Create a CLAUDE.md file with project context and conventions.</a:t>
            </a:r>
            <a:endParaRPr lang="en-US" sz="825" dirty="0"/>
          </a:p>
        </p:txBody>
      </p:sp>
      <p:sp>
        <p:nvSpPr>
          <p:cNvPr id="27" name="Text 25"/>
          <p:cNvSpPr/>
          <p:nvPr/>
        </p:nvSpPr>
        <p:spPr>
          <a:xfrm>
            <a:off x="6273701" y="3048000"/>
            <a:ext cx="2266899" cy="186630"/>
          </a:xfrm>
          <a:prstGeom prst="rect">
            <a:avLst/>
          </a:prstGeom>
          <a:noFill/>
          <a:ln/>
        </p:spPr>
        <p:txBody>
          <a:bodyPr wrap="square" lIns="0" tIns="0" rIns="0" bIns="0" rtlCol="0" anchor="t"/>
          <a:lstStyle/>
          <a:p>
            <a:pPr algn="l" indent="0" marL="0">
              <a:lnSpc>
                <a:spcPts val="1470"/>
              </a:lnSpc>
              <a:spcAft>
                <a:spcPts val="300"/>
              </a:spcAft>
              <a:buNone/>
            </a:pPr>
            <a:r>
              <a:rPr lang="en-US" sz="1050" b="1" dirty="0">
                <a:solidFill>
                  <a:srgbClr val="C9A227"/>
                </a:solidFill>
                <a:latin typeface="monospace" pitchFamily="34" charset="0"/>
                <a:ea typeface="monospace" pitchFamily="34" charset="-122"/>
                <a:cs typeface="monospace" pitchFamily="34" charset="-120"/>
              </a:rPr>
              <a:t>/config</a:t>
            </a:r>
            <a:endParaRPr lang="en-US" sz="1050" dirty="0"/>
          </a:p>
        </p:txBody>
      </p:sp>
      <p:sp>
        <p:nvSpPr>
          <p:cNvPr id="28" name="Text 26"/>
          <p:cNvSpPr/>
          <p:nvPr/>
        </p:nvSpPr>
        <p:spPr>
          <a:xfrm>
            <a:off x="6273701" y="3272730"/>
            <a:ext cx="2266899" cy="293191"/>
          </a:xfrm>
          <a:prstGeom prst="rect">
            <a:avLst/>
          </a:prstGeom>
          <a:noFill/>
          <a:ln/>
        </p:spPr>
        <p:txBody>
          <a:bodyPr wrap="square" lIns="0" tIns="0" rIns="0" bIns="0" rtlCol="0" anchor="t"/>
          <a:lstStyle/>
          <a:p>
            <a:pPr algn="l" indent="0" marL="0">
              <a:lnSpc>
                <a:spcPts val="1155"/>
              </a:lnSpc>
              <a:buNone/>
            </a:pPr>
            <a:r>
              <a:rPr lang="en-US" sz="825" dirty="0">
                <a:solidFill>
                  <a:srgbClr val="6B7280"/>
                </a:solidFill>
                <a:latin typeface="Arial" pitchFamily="34" charset="0"/>
                <a:ea typeface="Arial" pitchFamily="34" charset="-122"/>
                <a:cs typeface="Arial" pitchFamily="34" charset="-120"/>
              </a:rPr>
              <a:t>View or modify Claude Code settings and preferences.</a:t>
            </a:r>
            <a:endParaRPr lang="en-US" sz="825" dirty="0"/>
          </a:p>
        </p:txBody>
      </p:sp>
      <p:sp>
        <p:nvSpPr>
          <p:cNvPr id="29" name="Text 27"/>
          <p:cNvSpPr/>
          <p:nvPr/>
        </p:nvSpPr>
        <p:spPr>
          <a:xfrm>
            <a:off x="6273701" y="3851672"/>
            <a:ext cx="2266899" cy="186630"/>
          </a:xfrm>
          <a:prstGeom prst="rect">
            <a:avLst/>
          </a:prstGeom>
          <a:noFill/>
          <a:ln/>
        </p:spPr>
        <p:txBody>
          <a:bodyPr wrap="square" lIns="0" tIns="0" rIns="0" bIns="0" rtlCol="0" anchor="t"/>
          <a:lstStyle/>
          <a:p>
            <a:pPr algn="l" indent="0" marL="0">
              <a:lnSpc>
                <a:spcPts val="1470"/>
              </a:lnSpc>
              <a:spcAft>
                <a:spcPts val="300"/>
              </a:spcAft>
              <a:buNone/>
            </a:pPr>
            <a:r>
              <a:rPr lang="en-US" sz="1050" b="1" dirty="0">
                <a:solidFill>
                  <a:srgbClr val="C9A227"/>
                </a:solidFill>
                <a:latin typeface="monospace" pitchFamily="34" charset="0"/>
                <a:ea typeface="monospace" pitchFamily="34" charset="-122"/>
                <a:cs typeface="monospace" pitchFamily="34" charset="-120"/>
              </a:rPr>
              <a:t>/add-dir</a:t>
            </a:r>
            <a:endParaRPr lang="en-US" sz="1050" dirty="0"/>
          </a:p>
        </p:txBody>
      </p:sp>
      <p:sp>
        <p:nvSpPr>
          <p:cNvPr id="30" name="Text 28"/>
          <p:cNvSpPr/>
          <p:nvPr/>
        </p:nvSpPr>
        <p:spPr>
          <a:xfrm>
            <a:off x="6273701" y="4076402"/>
            <a:ext cx="2266899" cy="146596"/>
          </a:xfrm>
          <a:prstGeom prst="rect">
            <a:avLst/>
          </a:prstGeom>
          <a:noFill/>
          <a:ln/>
        </p:spPr>
        <p:txBody>
          <a:bodyPr wrap="square" lIns="0" tIns="0" rIns="0" bIns="0" rtlCol="0" anchor="t"/>
          <a:lstStyle/>
          <a:p>
            <a:pPr algn="l" indent="0" marL="0">
              <a:lnSpc>
                <a:spcPts val="1155"/>
              </a:lnSpc>
              <a:buNone/>
            </a:pPr>
            <a:r>
              <a:rPr lang="en-US" sz="825" dirty="0">
                <a:solidFill>
                  <a:srgbClr val="6B7280"/>
                </a:solidFill>
                <a:latin typeface="Arial" pitchFamily="34" charset="0"/>
                <a:ea typeface="Arial" pitchFamily="34" charset="-122"/>
                <a:cs typeface="Arial" pitchFamily="34" charset="-120"/>
              </a:rPr>
              <a:t>Add additional directories to the current context.</a:t>
            </a:r>
            <a:endParaRPr lang="en-US" sz="825"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4046637" cy="5143500"/>
          </a:xfrm>
          <a:prstGeom prst="rect">
            <a:avLst/>
          </a:prstGeom>
          <a:solidFill>
            <a:srgbClr val="F7F8FA"/>
          </a:solidFill>
          <a:ln/>
        </p:spPr>
        <p:txBody>
          <a:bodyPr wrap="square" rtlCol="0" anchor="ctr"/>
          <a:lstStyle/>
          <a:p>
            <a:pPr indent="0" marL="0">
              <a:buNone/>
            </a:pPr>
            <a:endParaRPr lang="en-US" dirty="0"/>
          </a:p>
        </p:txBody>
      </p:sp>
      <p:sp>
        <p:nvSpPr>
          <p:cNvPr id="3" name="Text 1"/>
          <p:cNvSpPr/>
          <p:nvPr/>
        </p:nvSpPr>
        <p:spPr>
          <a:xfrm>
            <a:off x="266700" y="358229"/>
            <a:ext cx="3583501" cy="133350"/>
          </a:xfrm>
          <a:prstGeom prst="rect">
            <a:avLst/>
          </a:prstGeom>
          <a:noFill/>
          <a:ln/>
        </p:spPr>
        <p:txBody>
          <a:bodyPr wrap="square" lIns="0" tIns="0" rIns="0" bIns="0" rtlCol="0" anchor="t"/>
          <a:lstStyle/>
          <a:p>
            <a:pPr algn="l" indent="0" marL="0">
              <a:lnSpc>
                <a:spcPts val="1050"/>
              </a:lnSpc>
              <a:spcAft>
                <a:spcPts val="450"/>
              </a:spcAft>
              <a:buNone/>
            </a:pPr>
            <a:r>
              <a:rPr lang="en-US" sz="750" dirty="0">
                <a:solidFill>
                  <a:srgbClr val="C9A227"/>
                </a:solidFill>
                <a:latin typeface="Arial" pitchFamily="34" charset="0"/>
                <a:ea typeface="Arial" pitchFamily="34" charset="-122"/>
                <a:cs typeface="Arial" pitchFamily="34" charset="-120"/>
              </a:rPr>
              <a:t>PROJECT CONTEXT</a:t>
            </a:r>
            <a:endParaRPr lang="en-US" sz="750" dirty="0"/>
          </a:p>
        </p:txBody>
      </p:sp>
      <p:sp>
        <p:nvSpPr>
          <p:cNvPr id="4" name="Text 2"/>
          <p:cNvSpPr/>
          <p:nvPr/>
        </p:nvSpPr>
        <p:spPr>
          <a:xfrm>
            <a:off x="266700" y="701129"/>
            <a:ext cx="1797368" cy="266700"/>
          </a:xfrm>
          <a:prstGeom prst="rect">
            <a:avLst/>
          </a:prstGeom>
          <a:noFill/>
          <a:ln/>
        </p:spPr>
        <p:txBody>
          <a:bodyPr wrap="square" lIns="0" tIns="0" rIns="0" bIns="0" rtlCol="0" anchor="t"/>
          <a:lstStyle/>
          <a:p>
            <a:pPr algn="l" indent="0" marL="0">
              <a:lnSpc>
                <a:spcPts val="2100"/>
              </a:lnSpc>
              <a:spcAft>
                <a:spcPts val="900"/>
              </a:spcAft>
              <a:buNone/>
            </a:pPr>
            <a:r>
              <a:rPr lang="en-US" sz="2100" dirty="0">
                <a:solidFill>
                  <a:srgbClr val="1A1F2E"/>
                </a:solidFill>
                <a:latin typeface="Georgia" pitchFamily="34" charset="0"/>
                <a:ea typeface="Georgia" pitchFamily="34" charset="-122"/>
                <a:cs typeface="Georgia" pitchFamily="34" charset="-120"/>
              </a:rPr>
              <a:t>CLAUDE.md</a:t>
            </a:r>
            <a:endParaRPr lang="en-US" sz="2100" dirty="0"/>
          </a:p>
        </p:txBody>
      </p:sp>
      <p:sp>
        <p:nvSpPr>
          <p:cNvPr id="5" name="Text 3"/>
          <p:cNvSpPr/>
          <p:nvPr/>
        </p:nvSpPr>
        <p:spPr>
          <a:xfrm>
            <a:off x="266700" y="1234529"/>
            <a:ext cx="3583501" cy="342900"/>
          </a:xfrm>
          <a:prstGeom prst="rect">
            <a:avLst/>
          </a:prstGeom>
          <a:noFill/>
          <a:ln/>
        </p:spPr>
        <p:txBody>
          <a:bodyPr wrap="square" lIns="0" tIns="0" rIns="0" bIns="0" rtlCol="0" anchor="t"/>
          <a:lstStyle/>
          <a:p>
            <a:pPr algn="l" indent="0" marL="0">
              <a:lnSpc>
                <a:spcPts val="1350"/>
              </a:lnSpc>
              <a:spcAft>
                <a:spcPts val="1500"/>
              </a:spcAft>
              <a:buNone/>
            </a:pPr>
            <a:r>
              <a:rPr lang="en-US" sz="900" dirty="0">
                <a:solidFill>
                  <a:srgbClr val="6B7280"/>
                </a:solidFill>
                <a:latin typeface="Arial" pitchFamily="34" charset="0"/>
                <a:ea typeface="Arial" pitchFamily="34" charset="-122"/>
                <a:cs typeface="Arial" pitchFamily="34" charset="-120"/>
              </a:rPr>
              <a:t>A markdown file at your project root that gives Claude persistent context about your codebase.</a:t>
            </a:r>
            <a:endParaRPr lang="en-US" sz="900" dirty="0"/>
          </a:p>
        </p:txBody>
      </p:sp>
      <p:sp>
        <p:nvSpPr>
          <p:cNvPr id="6" name="Text 4"/>
          <p:cNvSpPr/>
          <p:nvPr/>
        </p:nvSpPr>
        <p:spPr>
          <a:xfrm>
            <a:off x="266700" y="1920329"/>
            <a:ext cx="3513237" cy="1175296"/>
          </a:xfrm>
          <a:prstGeom prst="rect">
            <a:avLst/>
          </a:prstGeom>
          <a:solidFill>
            <a:srgbClr val="FFFFFF"/>
          </a:solidFill>
          <a:ln/>
        </p:spPr>
        <p:txBody>
          <a:bodyPr wrap="square" rtlCol="0" anchor="ctr"/>
          <a:lstStyle/>
          <a:p>
            <a:pPr indent="0" marL="0">
              <a:buNone/>
            </a:pPr>
            <a:endParaRPr lang="en-US" dirty="0"/>
          </a:p>
        </p:txBody>
      </p:sp>
      <p:sp>
        <p:nvSpPr>
          <p:cNvPr id="7" name="Shape 5"/>
          <p:cNvSpPr/>
          <p:nvPr/>
        </p:nvSpPr>
        <p:spPr>
          <a:xfrm>
            <a:off x="285750" y="1920329"/>
            <a:ext cx="0" cy="1175296"/>
          </a:xfrm>
          <a:prstGeom prst="line">
            <a:avLst/>
          </a:prstGeom>
          <a:noFill/>
          <a:ln w="38100">
            <a:solidFill>
              <a:srgbClr val="C9A227"/>
            </a:solidFill>
            <a:prstDash val="solid"/>
          </a:ln>
        </p:spPr>
      </p:sp>
      <p:sp>
        <p:nvSpPr>
          <p:cNvPr id="8" name="Text 6"/>
          <p:cNvSpPr/>
          <p:nvPr/>
        </p:nvSpPr>
        <p:spPr>
          <a:xfrm>
            <a:off x="419100" y="2034629"/>
            <a:ext cx="3311467" cy="146596"/>
          </a:xfrm>
          <a:prstGeom prst="rect">
            <a:avLst/>
          </a:prstGeom>
          <a:noFill/>
          <a:ln/>
        </p:spPr>
        <p:txBody>
          <a:bodyPr wrap="square" lIns="0" tIns="0" rIns="0" bIns="0" rtlCol="0" anchor="t"/>
          <a:lstStyle/>
          <a:p>
            <a:pPr algn="l" indent="0" marL="0">
              <a:lnSpc>
                <a:spcPts val="1155"/>
              </a:lnSpc>
              <a:spcAft>
                <a:spcPts val="300"/>
              </a:spcAft>
              <a:buNone/>
            </a:pPr>
            <a:r>
              <a:rPr lang="en-US" sz="825" b="1" dirty="0">
                <a:solidFill>
                  <a:srgbClr val="1A1F2E"/>
                </a:solidFill>
                <a:latin typeface="Arial" pitchFamily="34" charset="0"/>
                <a:ea typeface="Arial" pitchFamily="34" charset="-122"/>
                <a:cs typeface="Arial" pitchFamily="34" charset="-120"/>
              </a:rPr>
              <a:t>What to Include</a:t>
            </a:r>
            <a:endParaRPr lang="en-US" sz="825" dirty="0"/>
          </a:p>
        </p:txBody>
      </p:sp>
      <p:sp>
        <p:nvSpPr>
          <p:cNvPr id="9" name="Text 7"/>
          <p:cNvSpPr/>
          <p:nvPr/>
        </p:nvSpPr>
        <p:spPr>
          <a:xfrm>
            <a:off x="419100" y="2219325"/>
            <a:ext cx="3311467" cy="762000"/>
          </a:xfrm>
          <a:prstGeom prst="rect">
            <a:avLst/>
          </a:prstGeom>
          <a:noFill/>
          <a:ln/>
        </p:spPr>
        <p:txBody>
          <a:bodyPr wrap="square" lIns="0" tIns="0" rIns="0" bIns="0" rtlCol="0" anchor="t"/>
          <a:lstStyle/>
          <a:p>
            <a:pPr algn="l" indent="0" marL="0">
              <a:lnSpc>
                <a:spcPts val="1200"/>
              </a:lnSpc>
              <a:buNone/>
            </a:pPr>
            <a:r>
              <a:rPr lang="en-US" sz="750" dirty="0">
                <a:solidFill>
                  <a:srgbClr val="6B7280"/>
                </a:solidFill>
                <a:latin typeface="Arial" pitchFamily="34" charset="0"/>
                <a:ea typeface="Arial" pitchFamily="34" charset="-122"/>
                <a:cs typeface="Arial" pitchFamily="34" charset="-120"/>
              </a:rPr>
              <a:t>Project overview and purpose</a:t>
            </a:r>
            <a:endParaRPr lang="en-US" sz="750" dirty="0"/>
          </a:p>
          <a:p>
            <a:pPr algn="l" indent="0" marL="0">
              <a:lnSpc>
                <a:spcPts val="1200"/>
              </a:lnSpc>
              <a:buNone/>
            </a:pPr>
            <a:r>
              <a:rPr lang="en-US" sz="750" dirty="0">
                <a:solidFill>
                  <a:srgbClr val="6B7280"/>
                </a:solidFill>
                <a:latin typeface="Arial" pitchFamily="34" charset="0"/>
                <a:ea typeface="Arial" pitchFamily="34" charset="-122"/>
                <a:cs typeface="Arial" pitchFamily="34" charset="-120"/>
              </a:rPr>
              <a:t>Tech stack and dependencies</a:t>
            </a:r>
            <a:endParaRPr lang="en-US" sz="750" dirty="0"/>
          </a:p>
          <a:p>
            <a:pPr algn="l" indent="0" marL="0">
              <a:lnSpc>
                <a:spcPts val="1200"/>
              </a:lnSpc>
              <a:buNone/>
            </a:pPr>
            <a:r>
              <a:rPr lang="en-US" sz="750" dirty="0">
                <a:solidFill>
                  <a:srgbClr val="6B7280"/>
                </a:solidFill>
                <a:latin typeface="Arial" pitchFamily="34" charset="0"/>
                <a:ea typeface="Arial" pitchFamily="34" charset="-122"/>
                <a:cs typeface="Arial" pitchFamily="34" charset="-120"/>
              </a:rPr>
              <a:t>Code conventions and patterns</a:t>
            </a:r>
            <a:endParaRPr lang="en-US" sz="750" dirty="0"/>
          </a:p>
          <a:p>
            <a:pPr algn="l" indent="0" marL="0">
              <a:lnSpc>
                <a:spcPts val="1200"/>
              </a:lnSpc>
              <a:buNone/>
            </a:pPr>
            <a:r>
              <a:rPr lang="en-US" sz="750" dirty="0">
                <a:solidFill>
                  <a:srgbClr val="6B7280"/>
                </a:solidFill>
                <a:latin typeface="Arial" pitchFamily="34" charset="0"/>
                <a:ea typeface="Arial" pitchFamily="34" charset="-122"/>
                <a:cs typeface="Arial" pitchFamily="34" charset="-120"/>
              </a:rPr>
              <a:t>File structure explanations</a:t>
            </a:r>
            <a:endParaRPr lang="en-US" sz="750" dirty="0"/>
          </a:p>
          <a:p>
            <a:pPr algn="l" indent="0" marL="0">
              <a:lnSpc>
                <a:spcPts val="1200"/>
              </a:lnSpc>
              <a:buNone/>
            </a:pPr>
            <a:r>
              <a:rPr lang="en-US" sz="750" dirty="0">
                <a:solidFill>
                  <a:srgbClr val="6B7280"/>
                </a:solidFill>
                <a:latin typeface="Arial" pitchFamily="34" charset="0"/>
                <a:ea typeface="Arial" pitchFamily="34" charset="-122"/>
                <a:cs typeface="Arial" pitchFamily="34" charset="-120"/>
              </a:rPr>
              <a:t>Common tasks and workflows</a:t>
            </a:r>
            <a:endParaRPr lang="en-US" sz="750" dirty="0"/>
          </a:p>
        </p:txBody>
      </p:sp>
      <p:sp>
        <p:nvSpPr>
          <p:cNvPr id="10" name="Text 8"/>
          <p:cNvSpPr/>
          <p:nvPr/>
        </p:nvSpPr>
        <p:spPr>
          <a:xfrm>
            <a:off x="266700" y="3343275"/>
            <a:ext cx="3513237" cy="870496"/>
          </a:xfrm>
          <a:prstGeom prst="rect">
            <a:avLst/>
          </a:prstGeom>
          <a:solidFill>
            <a:srgbClr val="FFFFFF"/>
          </a:solidFill>
          <a:ln/>
        </p:spPr>
        <p:txBody>
          <a:bodyPr wrap="square" rtlCol="0" anchor="ctr"/>
          <a:lstStyle/>
          <a:p>
            <a:pPr indent="0" marL="0">
              <a:buNone/>
            </a:pPr>
            <a:endParaRPr lang="en-US" dirty="0"/>
          </a:p>
        </p:txBody>
      </p:sp>
      <p:sp>
        <p:nvSpPr>
          <p:cNvPr id="11" name="Shape 9"/>
          <p:cNvSpPr/>
          <p:nvPr/>
        </p:nvSpPr>
        <p:spPr>
          <a:xfrm>
            <a:off x="285750" y="3343275"/>
            <a:ext cx="0" cy="870496"/>
          </a:xfrm>
          <a:prstGeom prst="line">
            <a:avLst/>
          </a:prstGeom>
          <a:noFill/>
          <a:ln w="38100">
            <a:solidFill>
              <a:srgbClr val="059669"/>
            </a:solidFill>
            <a:prstDash val="solid"/>
          </a:ln>
        </p:spPr>
      </p:sp>
      <p:sp>
        <p:nvSpPr>
          <p:cNvPr id="12" name="Text 10"/>
          <p:cNvSpPr/>
          <p:nvPr/>
        </p:nvSpPr>
        <p:spPr>
          <a:xfrm>
            <a:off x="419100" y="3457575"/>
            <a:ext cx="3311467" cy="146596"/>
          </a:xfrm>
          <a:prstGeom prst="rect">
            <a:avLst/>
          </a:prstGeom>
          <a:noFill/>
          <a:ln/>
        </p:spPr>
        <p:txBody>
          <a:bodyPr wrap="square" lIns="0" tIns="0" rIns="0" bIns="0" rtlCol="0" anchor="t"/>
          <a:lstStyle/>
          <a:p>
            <a:pPr algn="l" indent="0" marL="0">
              <a:lnSpc>
                <a:spcPts val="1155"/>
              </a:lnSpc>
              <a:spcAft>
                <a:spcPts val="300"/>
              </a:spcAft>
              <a:buNone/>
            </a:pPr>
            <a:r>
              <a:rPr lang="en-US" sz="825" b="1" dirty="0">
                <a:solidFill>
                  <a:srgbClr val="1A1F2E"/>
                </a:solidFill>
                <a:latin typeface="Arial" pitchFamily="34" charset="0"/>
                <a:ea typeface="Arial" pitchFamily="34" charset="-122"/>
                <a:cs typeface="Arial" pitchFamily="34" charset="-120"/>
              </a:rPr>
              <a:t>Benefits</a:t>
            </a:r>
            <a:endParaRPr lang="en-US" sz="825" dirty="0"/>
          </a:p>
        </p:txBody>
      </p:sp>
      <p:sp>
        <p:nvSpPr>
          <p:cNvPr id="13" name="Text 11"/>
          <p:cNvSpPr/>
          <p:nvPr/>
        </p:nvSpPr>
        <p:spPr>
          <a:xfrm>
            <a:off x="419100" y="3642271"/>
            <a:ext cx="3311467" cy="457200"/>
          </a:xfrm>
          <a:prstGeom prst="rect">
            <a:avLst/>
          </a:prstGeom>
          <a:noFill/>
          <a:ln/>
        </p:spPr>
        <p:txBody>
          <a:bodyPr wrap="square" lIns="0" tIns="0" rIns="0" bIns="0" rtlCol="0" anchor="t"/>
          <a:lstStyle/>
          <a:p>
            <a:pPr algn="l" indent="0" marL="0">
              <a:lnSpc>
                <a:spcPts val="1200"/>
              </a:lnSpc>
              <a:buNone/>
            </a:pPr>
            <a:r>
              <a:rPr lang="en-US" sz="750" dirty="0">
                <a:solidFill>
                  <a:srgbClr val="6B7280"/>
                </a:solidFill>
                <a:latin typeface="Arial" pitchFamily="34" charset="0"/>
                <a:ea typeface="Arial" pitchFamily="34" charset="-122"/>
                <a:cs typeface="Arial" pitchFamily="34" charset="-120"/>
              </a:rPr>
              <a:t>Claude remembers across sessions</a:t>
            </a:r>
            <a:endParaRPr lang="en-US" sz="750" dirty="0"/>
          </a:p>
          <a:p>
            <a:pPr algn="l" indent="0" marL="0">
              <a:lnSpc>
                <a:spcPts val="1200"/>
              </a:lnSpc>
              <a:buNone/>
            </a:pPr>
            <a:r>
              <a:rPr lang="en-US" sz="750" dirty="0">
                <a:solidFill>
                  <a:srgbClr val="6B7280"/>
                </a:solidFill>
                <a:latin typeface="Arial" pitchFamily="34" charset="0"/>
                <a:ea typeface="Arial" pitchFamily="34" charset="-122"/>
                <a:cs typeface="Arial" pitchFamily="34" charset="-120"/>
              </a:rPr>
              <a:t>Consistent code style</a:t>
            </a:r>
            <a:endParaRPr lang="en-US" sz="750" dirty="0"/>
          </a:p>
          <a:p>
            <a:pPr algn="l" indent="0" marL="0">
              <a:lnSpc>
                <a:spcPts val="1200"/>
              </a:lnSpc>
              <a:buNone/>
            </a:pPr>
            <a:r>
              <a:rPr lang="en-US" sz="750" dirty="0">
                <a:solidFill>
                  <a:srgbClr val="6B7280"/>
                </a:solidFill>
                <a:latin typeface="Arial" pitchFamily="34" charset="0"/>
                <a:ea typeface="Arial" pitchFamily="34" charset="-122"/>
                <a:cs typeface="Arial" pitchFamily="34" charset="-120"/>
              </a:rPr>
              <a:t>Faster onboarding for new tasks</a:t>
            </a:r>
            <a:endParaRPr lang="en-US" sz="750" dirty="0"/>
          </a:p>
        </p:txBody>
      </p:sp>
      <p:sp>
        <p:nvSpPr>
          <p:cNvPr id="14" name="Text 12"/>
          <p:cNvSpPr/>
          <p:nvPr/>
        </p:nvSpPr>
        <p:spPr>
          <a:xfrm>
            <a:off x="266700" y="4461421"/>
            <a:ext cx="3513237" cy="323850"/>
          </a:xfrm>
          <a:prstGeom prst="rect">
            <a:avLst/>
          </a:prstGeom>
          <a:solidFill>
            <a:srgbClr val="1A1F2E"/>
          </a:solidFill>
          <a:ln/>
        </p:spPr>
        <p:txBody>
          <a:bodyPr wrap="square" rtlCol="0" anchor="ctr"/>
          <a:lstStyle/>
          <a:p>
            <a:pPr indent="0" marL="0">
              <a:buNone/>
            </a:pPr>
            <a:endParaRPr lang="en-US" dirty="0"/>
          </a:p>
        </p:txBody>
      </p:sp>
      <p:sp>
        <p:nvSpPr>
          <p:cNvPr id="15" name="Text 13"/>
          <p:cNvSpPr/>
          <p:nvPr/>
        </p:nvSpPr>
        <p:spPr>
          <a:xfrm>
            <a:off x="381000" y="4556671"/>
            <a:ext cx="3350329" cy="133350"/>
          </a:xfrm>
          <a:prstGeom prst="rect">
            <a:avLst/>
          </a:prstGeom>
          <a:noFill/>
          <a:ln/>
        </p:spPr>
        <p:txBody>
          <a:bodyPr wrap="square" lIns="0" tIns="0" rIns="0" bIns="0" rtlCol="0" anchor="t"/>
          <a:lstStyle/>
          <a:p>
            <a:pPr algn="l" indent="0" marL="0">
              <a:lnSpc>
                <a:spcPts val="1050"/>
              </a:lnSpc>
              <a:buNone/>
            </a:pPr>
            <a:r>
              <a:rPr lang="en-US" sz="750" b="1" dirty="0">
                <a:solidFill>
                  <a:srgbClr val="C9A227"/>
                </a:solidFill>
                <a:latin typeface="Arial" pitchFamily="34" charset="0"/>
                <a:ea typeface="Arial" pitchFamily="34" charset="-122"/>
                <a:cs typeface="Arial" pitchFamily="34" charset="-120"/>
              </a:rPr>
              <a:t>Tip:</a:t>
            </a:r>
            <a:pPr algn="l" indent="0" marL="0">
              <a:lnSpc>
                <a:spcPts val="1050"/>
              </a:lnSpc>
              <a:buNone/>
            </a:pPr>
            <a:r>
              <a:rPr lang="en-US" sz="750" dirty="0">
                <a:solidFill>
                  <a:srgbClr val="C9A227"/>
                </a:solidFill>
                <a:latin typeface="Arial" pitchFamily="34" charset="0"/>
                <a:ea typeface="Arial" pitchFamily="34" charset="-122"/>
                <a:cs typeface="Arial" pitchFamily="34" charset="-120"/>
              </a:rPr>
              <a:t> Run /init to auto-generate</a:t>
            </a:r>
            <a:endParaRPr lang="en-US" sz="750" dirty="0"/>
          </a:p>
        </p:txBody>
      </p:sp>
      <p:sp>
        <p:nvSpPr>
          <p:cNvPr id="16" name="Text 14"/>
          <p:cNvSpPr/>
          <p:nvPr/>
        </p:nvSpPr>
        <p:spPr>
          <a:xfrm>
            <a:off x="4199037" y="0"/>
            <a:ext cx="4944963" cy="5143500"/>
          </a:xfrm>
          <a:prstGeom prst="rect">
            <a:avLst/>
          </a:prstGeom>
          <a:solidFill>
            <a:srgbClr val="1A1F2E"/>
          </a:solidFill>
          <a:ln/>
        </p:spPr>
        <p:txBody>
          <a:bodyPr wrap="square" rtlCol="0" anchor="ctr"/>
          <a:lstStyle/>
          <a:p>
            <a:pPr indent="0" marL="0">
              <a:buNone/>
            </a:pPr>
            <a:endParaRPr lang="en-US" dirty="0"/>
          </a:p>
        </p:txBody>
      </p:sp>
      <p:sp>
        <p:nvSpPr>
          <p:cNvPr id="17" name="Text 15"/>
          <p:cNvSpPr/>
          <p:nvPr/>
        </p:nvSpPr>
        <p:spPr>
          <a:xfrm>
            <a:off x="4503837" y="606772"/>
            <a:ext cx="4422071" cy="133350"/>
          </a:xfrm>
          <a:prstGeom prst="rect">
            <a:avLst/>
          </a:prstGeom>
          <a:noFill/>
          <a:ln/>
        </p:spPr>
        <p:txBody>
          <a:bodyPr wrap="square" lIns="0" tIns="0" rIns="0" bIns="0" rtlCol="0" anchor="t"/>
          <a:lstStyle/>
          <a:p>
            <a:pPr algn="l" indent="0" marL="0">
              <a:lnSpc>
                <a:spcPts val="1050"/>
              </a:lnSpc>
              <a:spcAft>
                <a:spcPts val="750"/>
              </a:spcAft>
              <a:buNone/>
            </a:pPr>
            <a:r>
              <a:rPr lang="en-US" sz="750" dirty="0">
                <a:solidFill>
                  <a:srgbClr val="C9A227"/>
                </a:solidFill>
                <a:latin typeface="Arial" pitchFamily="34" charset="0"/>
                <a:ea typeface="Arial" pitchFamily="34" charset="-122"/>
                <a:cs typeface="Arial" pitchFamily="34" charset="-120"/>
              </a:rPr>
              <a:t>EXAMPLE</a:t>
            </a:r>
            <a:endParaRPr lang="en-US" sz="750" dirty="0"/>
          </a:p>
        </p:txBody>
      </p:sp>
      <p:sp>
        <p:nvSpPr>
          <p:cNvPr id="18" name="Text 16"/>
          <p:cNvSpPr/>
          <p:nvPr/>
        </p:nvSpPr>
        <p:spPr>
          <a:xfrm>
            <a:off x="4503837" y="987772"/>
            <a:ext cx="4335363" cy="3124200"/>
          </a:xfrm>
          <a:prstGeom prst="rect">
            <a:avLst/>
          </a:prstGeom>
          <a:solidFill>
            <a:srgbClr val="252B3D"/>
          </a:solidFill>
          <a:ln/>
        </p:spPr>
        <p:txBody>
          <a:bodyPr wrap="square" rtlCol="0" anchor="ctr"/>
          <a:lstStyle/>
          <a:p>
            <a:pPr indent="0" marL="0">
              <a:buNone/>
            </a:pPr>
            <a:endParaRPr lang="en-US" dirty="0"/>
          </a:p>
        </p:txBody>
      </p:sp>
      <p:sp>
        <p:nvSpPr>
          <p:cNvPr id="19" name="Text 17"/>
          <p:cNvSpPr/>
          <p:nvPr/>
        </p:nvSpPr>
        <p:spPr>
          <a:xfrm>
            <a:off x="4637187" y="1121122"/>
            <a:ext cx="4150037" cy="266700"/>
          </a:xfrm>
          <a:prstGeom prst="rect">
            <a:avLst/>
          </a:prstGeom>
          <a:noFill/>
          <a:ln/>
        </p:spPr>
        <p:txBody>
          <a:bodyPr wrap="square" lIns="0" tIns="0" rIns="0" bIns="0" rtlCol="0" anchor="t"/>
          <a:lstStyle/>
          <a:p>
            <a:pPr algn="l" indent="0" marL="0">
              <a:lnSpc>
                <a:spcPts val="2100"/>
              </a:lnSpc>
              <a:buNone/>
            </a:pPr>
            <a:r>
              <a:rPr lang="en-US" sz="1500" dirty="0">
                <a:solidFill>
                  <a:srgbClr val="C9A227"/>
                </a:solidFill>
                <a:latin typeface="Arial" pitchFamily="34" charset="0"/>
                <a:ea typeface="Arial" pitchFamily="34" charset="-122"/>
                <a:cs typeface="Arial" pitchFamily="34" charset="-120"/>
              </a:rPr>
              <a:t># CLAUDE.md</a:t>
            </a:r>
            <a:endParaRPr lang="en-US" sz="1500" dirty="0"/>
          </a:p>
        </p:txBody>
      </p:sp>
      <p:sp>
        <p:nvSpPr>
          <p:cNvPr id="20" name="Text 18"/>
          <p:cNvSpPr/>
          <p:nvPr/>
        </p:nvSpPr>
        <p:spPr>
          <a:xfrm>
            <a:off x="4637187" y="1425922"/>
            <a:ext cx="4150037" cy="266700"/>
          </a:xfrm>
          <a:prstGeom prst="rect">
            <a:avLst/>
          </a:prstGeom>
          <a:noFill/>
          <a:ln/>
        </p:spPr>
        <p:txBody>
          <a:bodyPr wrap="square" lIns="0" tIns="0" rIns="0" bIns="0" rtlCol="0" anchor="t"/>
          <a:lstStyle/>
          <a:p>
            <a:pPr algn="l" indent="0" marL="0">
              <a:lnSpc>
                <a:spcPts val="2100"/>
              </a:lnSpc>
              <a:spcBef>
                <a:spcPts val="300"/>
              </a:spcBef>
              <a:buNone/>
            </a:pPr>
            <a:r>
              <a:rPr lang="en-US" sz="1500" dirty="0">
                <a:solidFill>
                  <a:srgbClr val="FFFFFF">
                    <a:alpha val="50000"/>
                  </a:srgbClr>
                </a:solidFill>
                <a:latin typeface="Arial" pitchFamily="34" charset="0"/>
                <a:ea typeface="Arial" pitchFamily="34" charset="-122"/>
                <a:cs typeface="Arial" pitchFamily="34" charset="-120"/>
              </a:rPr>
              <a:t>## Project Overview</a:t>
            </a:r>
            <a:endParaRPr lang="en-US" sz="1500" dirty="0"/>
          </a:p>
        </p:txBody>
      </p:sp>
      <p:sp>
        <p:nvSpPr>
          <p:cNvPr id="21" name="Text 19"/>
          <p:cNvSpPr/>
          <p:nvPr/>
        </p:nvSpPr>
        <p:spPr>
          <a:xfrm>
            <a:off x="4637187" y="1692622"/>
            <a:ext cx="4150037" cy="266700"/>
          </a:xfrm>
          <a:prstGeom prst="rect">
            <a:avLst/>
          </a:prstGeom>
          <a:noFill/>
          <a:ln/>
        </p:spPr>
        <p:txBody>
          <a:bodyPr wrap="square" lIns="0" tIns="0" rIns="0" bIns="0" rtlCol="0" anchor="t"/>
          <a:lstStyle/>
          <a:p>
            <a:pPr algn="l" indent="0" marL="0">
              <a:lnSpc>
                <a:spcPts val="2100"/>
              </a:lnSpc>
              <a:buNone/>
            </a:pPr>
            <a:r>
              <a:rPr lang="en-US" sz="1500" dirty="0">
                <a:solidFill>
                  <a:srgbClr val="FFFFFF">
                    <a:alpha val="80000"/>
                  </a:srgbClr>
                </a:solidFill>
                <a:latin typeface="Arial" pitchFamily="34" charset="0"/>
                <a:ea typeface="Arial" pitchFamily="34" charset="-122"/>
                <a:cs typeface="Arial" pitchFamily="34" charset="-120"/>
              </a:rPr>
              <a:t>Austin Public Health patient portal</a:t>
            </a:r>
            <a:endParaRPr lang="en-US" sz="1500" dirty="0"/>
          </a:p>
        </p:txBody>
      </p:sp>
      <p:sp>
        <p:nvSpPr>
          <p:cNvPr id="22" name="Text 20"/>
          <p:cNvSpPr/>
          <p:nvPr/>
        </p:nvSpPr>
        <p:spPr>
          <a:xfrm>
            <a:off x="4637187" y="1959322"/>
            <a:ext cx="4150037" cy="266700"/>
          </a:xfrm>
          <a:prstGeom prst="rect">
            <a:avLst/>
          </a:prstGeom>
          <a:noFill/>
          <a:ln/>
        </p:spPr>
        <p:txBody>
          <a:bodyPr wrap="square" lIns="0" tIns="0" rIns="0" bIns="0" rtlCol="0" anchor="t"/>
          <a:lstStyle/>
          <a:p>
            <a:pPr algn="l" indent="0" marL="0">
              <a:lnSpc>
                <a:spcPts val="2100"/>
              </a:lnSpc>
              <a:buNone/>
            </a:pPr>
            <a:r>
              <a:rPr lang="en-US" sz="1500" dirty="0">
                <a:solidFill>
                  <a:srgbClr val="FFFFFF">
                    <a:alpha val="80000"/>
                  </a:srgbClr>
                </a:solidFill>
                <a:latin typeface="Arial" pitchFamily="34" charset="0"/>
                <a:ea typeface="Arial" pitchFamily="34" charset="-122"/>
                <a:cs typeface="Arial" pitchFamily="34" charset="-120"/>
              </a:rPr>
              <a:t>React frontend + FastAPI backend</a:t>
            </a:r>
            <a:endParaRPr lang="en-US" sz="1500" dirty="0"/>
          </a:p>
        </p:txBody>
      </p:sp>
      <p:sp>
        <p:nvSpPr>
          <p:cNvPr id="23" name="Text 21"/>
          <p:cNvSpPr/>
          <p:nvPr/>
        </p:nvSpPr>
        <p:spPr>
          <a:xfrm>
            <a:off x="4637187" y="2302222"/>
            <a:ext cx="4150037" cy="266700"/>
          </a:xfrm>
          <a:prstGeom prst="rect">
            <a:avLst/>
          </a:prstGeom>
          <a:noFill/>
          <a:ln/>
        </p:spPr>
        <p:txBody>
          <a:bodyPr wrap="square" lIns="0" tIns="0" rIns="0" bIns="0" rtlCol="0" anchor="t"/>
          <a:lstStyle/>
          <a:p>
            <a:pPr algn="l" indent="0" marL="0">
              <a:lnSpc>
                <a:spcPts val="2100"/>
              </a:lnSpc>
              <a:spcBef>
                <a:spcPts val="600"/>
              </a:spcBef>
              <a:buNone/>
            </a:pPr>
            <a:r>
              <a:rPr lang="en-US" sz="1500" dirty="0">
                <a:solidFill>
                  <a:srgbClr val="FFFFFF">
                    <a:alpha val="50000"/>
                  </a:srgbClr>
                </a:solidFill>
                <a:latin typeface="Arial" pitchFamily="34" charset="0"/>
                <a:ea typeface="Arial" pitchFamily="34" charset="-122"/>
                <a:cs typeface="Arial" pitchFamily="34" charset="-120"/>
              </a:rPr>
              <a:t>## Conventions</a:t>
            </a:r>
            <a:endParaRPr lang="en-US" sz="1500" dirty="0"/>
          </a:p>
        </p:txBody>
      </p:sp>
      <p:sp>
        <p:nvSpPr>
          <p:cNvPr id="24" name="Text 22"/>
          <p:cNvSpPr/>
          <p:nvPr/>
        </p:nvSpPr>
        <p:spPr>
          <a:xfrm>
            <a:off x="4637187" y="2568922"/>
            <a:ext cx="4150037" cy="266700"/>
          </a:xfrm>
          <a:prstGeom prst="rect">
            <a:avLst/>
          </a:prstGeom>
          <a:noFill/>
          <a:ln/>
        </p:spPr>
        <p:txBody>
          <a:bodyPr wrap="square" lIns="0" tIns="0" rIns="0" bIns="0" rtlCol="0" anchor="t"/>
          <a:lstStyle/>
          <a:p>
            <a:pPr algn="l" indent="0" marL="0">
              <a:lnSpc>
                <a:spcPts val="2100"/>
              </a:lnSpc>
              <a:buNone/>
            </a:pPr>
            <a:r>
              <a:rPr lang="en-US" sz="1500" dirty="0">
                <a:solidFill>
                  <a:srgbClr val="FFFFFF">
                    <a:alpha val="80000"/>
                  </a:srgbClr>
                </a:solidFill>
                <a:latin typeface="Arial" pitchFamily="34" charset="0"/>
                <a:ea typeface="Arial" pitchFamily="34" charset="-122"/>
                <a:cs typeface="Arial" pitchFamily="34" charset="-120"/>
              </a:rPr>
              <a:t>TypeScript strict mode</a:t>
            </a:r>
            <a:endParaRPr lang="en-US" sz="1500" dirty="0"/>
          </a:p>
        </p:txBody>
      </p:sp>
      <p:sp>
        <p:nvSpPr>
          <p:cNvPr id="25" name="Text 23"/>
          <p:cNvSpPr/>
          <p:nvPr/>
        </p:nvSpPr>
        <p:spPr>
          <a:xfrm>
            <a:off x="4637187" y="2835622"/>
            <a:ext cx="4150037" cy="266700"/>
          </a:xfrm>
          <a:prstGeom prst="rect">
            <a:avLst/>
          </a:prstGeom>
          <a:noFill/>
          <a:ln/>
        </p:spPr>
        <p:txBody>
          <a:bodyPr wrap="square" lIns="0" tIns="0" rIns="0" bIns="0" rtlCol="0" anchor="t"/>
          <a:lstStyle/>
          <a:p>
            <a:pPr algn="l" indent="0" marL="0">
              <a:lnSpc>
                <a:spcPts val="2100"/>
              </a:lnSpc>
              <a:buNone/>
            </a:pPr>
            <a:r>
              <a:rPr lang="en-US" sz="1500" dirty="0">
                <a:solidFill>
                  <a:srgbClr val="FFFFFF">
                    <a:alpha val="80000"/>
                  </a:srgbClr>
                </a:solidFill>
                <a:latin typeface="Arial" pitchFamily="34" charset="0"/>
                <a:ea typeface="Arial" pitchFamily="34" charset="-122"/>
                <a:cs typeface="Arial" pitchFamily="34" charset="-120"/>
              </a:rPr>
              <a:t>Components in PascalCase</a:t>
            </a:r>
            <a:endParaRPr lang="en-US" sz="1500" dirty="0"/>
          </a:p>
        </p:txBody>
      </p:sp>
      <p:sp>
        <p:nvSpPr>
          <p:cNvPr id="26" name="Text 24"/>
          <p:cNvSpPr/>
          <p:nvPr/>
        </p:nvSpPr>
        <p:spPr>
          <a:xfrm>
            <a:off x="4637187" y="3178522"/>
            <a:ext cx="4150037" cy="266700"/>
          </a:xfrm>
          <a:prstGeom prst="rect">
            <a:avLst/>
          </a:prstGeom>
          <a:noFill/>
          <a:ln/>
        </p:spPr>
        <p:txBody>
          <a:bodyPr wrap="square" lIns="0" tIns="0" rIns="0" bIns="0" rtlCol="0" anchor="t"/>
          <a:lstStyle/>
          <a:p>
            <a:pPr algn="l" indent="0" marL="0">
              <a:lnSpc>
                <a:spcPts val="2100"/>
              </a:lnSpc>
              <a:spcBef>
                <a:spcPts val="600"/>
              </a:spcBef>
              <a:buNone/>
            </a:pPr>
            <a:r>
              <a:rPr lang="en-US" sz="1500" dirty="0">
                <a:solidFill>
                  <a:srgbClr val="FFFFFF">
                    <a:alpha val="50000"/>
                  </a:srgbClr>
                </a:solidFill>
                <a:latin typeface="Arial" pitchFamily="34" charset="0"/>
                <a:ea typeface="Arial" pitchFamily="34" charset="-122"/>
                <a:cs typeface="Arial" pitchFamily="34" charset="-120"/>
              </a:rPr>
              <a:t>## Security Notes</a:t>
            </a:r>
            <a:endParaRPr lang="en-US" sz="1500" dirty="0"/>
          </a:p>
        </p:txBody>
      </p:sp>
      <p:sp>
        <p:nvSpPr>
          <p:cNvPr id="27" name="Text 25"/>
          <p:cNvSpPr/>
          <p:nvPr/>
        </p:nvSpPr>
        <p:spPr>
          <a:xfrm>
            <a:off x="4637187" y="3445222"/>
            <a:ext cx="4150037" cy="266700"/>
          </a:xfrm>
          <a:prstGeom prst="rect">
            <a:avLst/>
          </a:prstGeom>
          <a:noFill/>
          <a:ln/>
        </p:spPr>
        <p:txBody>
          <a:bodyPr wrap="square" lIns="0" tIns="0" rIns="0" bIns="0" rtlCol="0" anchor="t"/>
          <a:lstStyle/>
          <a:p>
            <a:pPr algn="l" indent="0" marL="0">
              <a:lnSpc>
                <a:spcPts val="2100"/>
              </a:lnSpc>
              <a:buNone/>
            </a:pPr>
            <a:r>
              <a:rPr lang="en-US" sz="1500" dirty="0">
                <a:solidFill>
                  <a:srgbClr val="DC2626"/>
                </a:solidFill>
                <a:latin typeface="Arial" pitchFamily="34" charset="0"/>
                <a:ea typeface="Arial" pitchFamily="34" charset="-122"/>
                <a:cs typeface="Arial" pitchFamily="34" charset="-120"/>
              </a:rPr>
              <a:t>Never log PHI to console</a:t>
            </a:r>
            <a:endParaRPr lang="en-US" sz="1500" dirty="0"/>
          </a:p>
        </p:txBody>
      </p:sp>
      <p:sp>
        <p:nvSpPr>
          <p:cNvPr id="28" name="Text 26"/>
          <p:cNvSpPr/>
          <p:nvPr/>
        </p:nvSpPr>
        <p:spPr>
          <a:xfrm>
            <a:off x="4637187" y="3711922"/>
            <a:ext cx="4150037" cy="266700"/>
          </a:xfrm>
          <a:prstGeom prst="rect">
            <a:avLst/>
          </a:prstGeom>
          <a:noFill/>
          <a:ln/>
        </p:spPr>
        <p:txBody>
          <a:bodyPr wrap="square" lIns="0" tIns="0" rIns="0" bIns="0" rtlCol="0" anchor="t"/>
          <a:lstStyle/>
          <a:p>
            <a:pPr algn="l" indent="0" marL="0">
              <a:lnSpc>
                <a:spcPts val="2100"/>
              </a:lnSpc>
              <a:buNone/>
            </a:pPr>
            <a:r>
              <a:rPr lang="en-US" sz="1500" dirty="0">
                <a:solidFill>
                  <a:srgbClr val="DC2626"/>
                </a:solidFill>
                <a:latin typeface="Arial" pitchFamily="34" charset="0"/>
                <a:ea typeface="Arial" pitchFamily="34" charset="-122"/>
                <a:cs typeface="Arial" pitchFamily="34" charset="-120"/>
              </a:rPr>
              <a:t>All endpoints require auth</a:t>
            </a:r>
            <a:endParaRPr lang="en-US" sz="1500" dirty="0"/>
          </a:p>
        </p:txBody>
      </p:sp>
      <p:sp>
        <p:nvSpPr>
          <p:cNvPr id="29" name="Text 27"/>
          <p:cNvSpPr/>
          <p:nvPr/>
        </p:nvSpPr>
        <p:spPr>
          <a:xfrm>
            <a:off x="4503837" y="4340572"/>
            <a:ext cx="4422071" cy="119955"/>
          </a:xfrm>
          <a:prstGeom prst="rect">
            <a:avLst/>
          </a:prstGeom>
          <a:noFill/>
          <a:ln/>
        </p:spPr>
        <p:txBody>
          <a:bodyPr wrap="square" lIns="0" tIns="0" rIns="0" bIns="0" rtlCol="0" anchor="t"/>
          <a:lstStyle/>
          <a:p>
            <a:pPr algn="l" indent="0" marL="0">
              <a:lnSpc>
                <a:spcPts val="945"/>
              </a:lnSpc>
              <a:spcBef>
                <a:spcPts val="600"/>
              </a:spcBef>
              <a:buNone/>
            </a:pPr>
            <a:r>
              <a:rPr lang="en-US" sz="675" dirty="0">
                <a:solidFill>
                  <a:srgbClr val="FFFFFF">
                    <a:alpha val="40000"/>
                  </a:srgbClr>
                </a:solidFill>
                <a:latin typeface="Arial" pitchFamily="34" charset="0"/>
                <a:ea typeface="Arial" pitchFamily="34" charset="-122"/>
                <a:cs typeface="Arial" pitchFamily="34" charset="-120"/>
              </a:rPr>
              <a:t>Claude reads this file automatically when you start a session</a:t>
            </a:r>
            <a:endParaRPr lang="en-US" sz="675"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4497288" cy="5143500"/>
          </a:xfrm>
          <a:prstGeom prst="rect">
            <a:avLst/>
          </a:prstGeom>
          <a:solidFill>
            <a:srgbClr val="1A1F2E"/>
          </a:solidFill>
          <a:ln/>
        </p:spPr>
        <p:txBody>
          <a:bodyPr wrap="square" rtlCol="0" anchor="ctr"/>
          <a:lstStyle/>
          <a:p>
            <a:pPr indent="0" marL="0">
              <a:buNone/>
            </a:pPr>
            <a:endParaRPr lang="en-US" dirty="0"/>
          </a:p>
        </p:txBody>
      </p:sp>
      <p:sp>
        <p:nvSpPr>
          <p:cNvPr id="3" name="Text 1"/>
          <p:cNvSpPr/>
          <p:nvPr/>
        </p:nvSpPr>
        <p:spPr>
          <a:xfrm>
            <a:off x="457200" y="1390650"/>
            <a:ext cx="3654546" cy="487561"/>
          </a:xfrm>
          <a:prstGeom prst="rect">
            <a:avLst/>
          </a:prstGeom>
          <a:noFill/>
          <a:ln/>
        </p:spPr>
        <p:txBody>
          <a:bodyPr wrap="square" lIns="0" tIns="0" rIns="0" bIns="0" rtlCol="0" anchor="t"/>
          <a:lstStyle/>
          <a:p>
            <a:pPr algn="l" indent="0" marL="0">
              <a:lnSpc>
                <a:spcPts val="3840"/>
              </a:lnSpc>
              <a:buNone/>
            </a:pPr>
            <a:r>
              <a:rPr lang="en-US" sz="4800" dirty="0">
                <a:solidFill>
                  <a:srgbClr val="C9A227"/>
                </a:solidFill>
                <a:latin typeface="Georgia" pitchFamily="34" charset="0"/>
                <a:ea typeface="Georgia" pitchFamily="34" charset="-122"/>
                <a:cs typeface="Georgia" pitchFamily="34" charset="-120"/>
              </a:rPr>
              <a:t>"</a:t>
            </a:r>
            <a:endParaRPr lang="en-US" sz="4800" dirty="0"/>
          </a:p>
        </p:txBody>
      </p:sp>
      <p:sp>
        <p:nvSpPr>
          <p:cNvPr id="4" name="Text 2"/>
          <p:cNvSpPr/>
          <p:nvPr/>
        </p:nvSpPr>
        <p:spPr>
          <a:xfrm>
            <a:off x="457200" y="2030611"/>
            <a:ext cx="3654546" cy="857250"/>
          </a:xfrm>
          <a:prstGeom prst="rect">
            <a:avLst/>
          </a:prstGeom>
          <a:noFill/>
          <a:ln/>
        </p:spPr>
        <p:txBody>
          <a:bodyPr wrap="square" lIns="0" tIns="0" rIns="0" bIns="0" rtlCol="0" anchor="t"/>
          <a:lstStyle/>
          <a:p>
            <a:pPr algn="l" indent="0" marL="0">
              <a:lnSpc>
                <a:spcPts val="2250"/>
              </a:lnSpc>
              <a:spcAft>
                <a:spcPts val="1800"/>
              </a:spcAft>
              <a:buNone/>
            </a:pPr>
            <a:r>
              <a:rPr lang="en-US" sz="1500" i="1" dirty="0">
                <a:solidFill>
                  <a:srgbClr val="FFFFFF"/>
                </a:solidFill>
                <a:latin typeface="Georgia" pitchFamily="34" charset="0"/>
                <a:ea typeface="Georgia" pitchFamily="34" charset="-122"/>
                <a:cs typeface="Georgia" pitchFamily="34" charset="-120"/>
              </a:rPr>
              <a:t>Claude Code is uniquely suited for voice workflows because it operates at the task level, not the keystroke level.</a:t>
            </a:r>
            <a:endParaRPr lang="en-US" sz="1500" dirty="0"/>
          </a:p>
        </p:txBody>
      </p:sp>
      <p:sp>
        <p:nvSpPr>
          <p:cNvPr id="5" name="Text 3"/>
          <p:cNvSpPr/>
          <p:nvPr/>
        </p:nvSpPr>
        <p:spPr>
          <a:xfrm>
            <a:off x="457200" y="3268861"/>
            <a:ext cx="457200" cy="19050"/>
          </a:xfrm>
          <a:prstGeom prst="rect">
            <a:avLst/>
          </a:prstGeom>
          <a:solidFill>
            <a:srgbClr val="C9A227"/>
          </a:solidFill>
          <a:ln/>
        </p:spPr>
        <p:txBody>
          <a:bodyPr wrap="square" rtlCol="0" anchor="ctr"/>
          <a:lstStyle/>
          <a:p>
            <a:pPr indent="0" marL="0">
              <a:buNone/>
            </a:pPr>
            <a:endParaRPr lang="en-US" dirty="0"/>
          </a:p>
        </p:txBody>
      </p:sp>
      <p:sp>
        <p:nvSpPr>
          <p:cNvPr id="6" name="Text 4"/>
          <p:cNvSpPr/>
          <p:nvPr/>
        </p:nvSpPr>
        <p:spPr>
          <a:xfrm>
            <a:off x="457200" y="3592711"/>
            <a:ext cx="3654546" cy="159990"/>
          </a:xfrm>
          <a:prstGeom prst="rect">
            <a:avLst/>
          </a:prstGeom>
          <a:noFill/>
          <a:ln/>
        </p:spPr>
        <p:txBody>
          <a:bodyPr wrap="square" lIns="0" tIns="0" rIns="0" bIns="0" rtlCol="0" anchor="t"/>
          <a:lstStyle/>
          <a:p>
            <a:pPr algn="l" indent="0" marL="0">
              <a:lnSpc>
                <a:spcPts val="1260"/>
              </a:lnSpc>
              <a:buNone/>
            </a:pPr>
            <a:r>
              <a:rPr lang="en-US" sz="900" dirty="0">
                <a:solidFill>
                  <a:srgbClr val="FFFFFF">
                    <a:alpha val="50000"/>
                  </a:srgbClr>
                </a:solidFill>
                <a:latin typeface="Arial" pitchFamily="34" charset="0"/>
                <a:ea typeface="Arial" pitchFamily="34" charset="-122"/>
                <a:cs typeface="Arial" pitchFamily="34" charset="-120"/>
              </a:rPr>
              <a:t>Voice-Driven Development Principle</a:t>
            </a:r>
            <a:endParaRPr lang="en-US" sz="900" dirty="0"/>
          </a:p>
        </p:txBody>
      </p:sp>
      <p:sp>
        <p:nvSpPr>
          <p:cNvPr id="7" name="Text 5"/>
          <p:cNvSpPr/>
          <p:nvPr/>
        </p:nvSpPr>
        <p:spPr>
          <a:xfrm>
            <a:off x="4649688" y="0"/>
            <a:ext cx="4494312" cy="5143500"/>
          </a:xfrm>
          <a:prstGeom prst="rect">
            <a:avLst/>
          </a:prstGeom>
          <a:solidFill>
            <a:srgbClr val="F7F8FA"/>
          </a:solidFill>
          <a:ln/>
        </p:spPr>
        <p:txBody>
          <a:bodyPr wrap="square" rtlCol="0" anchor="ctr"/>
          <a:lstStyle/>
          <a:p>
            <a:pPr indent="0" marL="0">
              <a:buNone/>
            </a:pPr>
            <a:endParaRPr lang="en-US" dirty="0"/>
          </a:p>
        </p:txBody>
      </p:sp>
      <p:sp>
        <p:nvSpPr>
          <p:cNvPr id="8" name="Text 6"/>
          <p:cNvSpPr/>
          <p:nvPr/>
        </p:nvSpPr>
        <p:spPr>
          <a:xfrm>
            <a:off x="5030688" y="276374"/>
            <a:ext cx="3806958" cy="146596"/>
          </a:xfrm>
          <a:prstGeom prst="rect">
            <a:avLst/>
          </a:prstGeom>
          <a:noFill/>
          <a:ln/>
        </p:spPr>
        <p:txBody>
          <a:bodyPr wrap="square" lIns="0" tIns="0" rIns="0" bIns="0" rtlCol="0" anchor="t"/>
          <a:lstStyle/>
          <a:p>
            <a:pPr algn="l" indent="0" marL="0">
              <a:lnSpc>
                <a:spcPts val="1155"/>
              </a:lnSpc>
              <a:spcAft>
                <a:spcPts val="1200"/>
              </a:spcAft>
              <a:buNone/>
            </a:pPr>
            <a:r>
              <a:rPr lang="en-US" sz="825" dirty="0">
                <a:solidFill>
                  <a:srgbClr val="C9A227"/>
                </a:solidFill>
                <a:latin typeface="Arial" pitchFamily="34" charset="0"/>
                <a:ea typeface="Arial" pitchFamily="34" charset="-122"/>
                <a:cs typeface="Arial" pitchFamily="34" charset="-120"/>
              </a:rPr>
              <a:t>WHY IT WORKS</a:t>
            </a:r>
            <a:endParaRPr lang="en-US" sz="825" dirty="0"/>
          </a:p>
        </p:txBody>
      </p:sp>
      <p:sp>
        <p:nvSpPr>
          <p:cNvPr id="9" name="Text 7"/>
          <p:cNvSpPr/>
          <p:nvPr/>
        </p:nvSpPr>
        <p:spPr>
          <a:xfrm>
            <a:off x="5030688" y="727770"/>
            <a:ext cx="2127695" cy="253901"/>
          </a:xfrm>
          <a:prstGeom prst="rect">
            <a:avLst/>
          </a:prstGeom>
          <a:noFill/>
          <a:ln/>
        </p:spPr>
        <p:txBody>
          <a:bodyPr wrap="square" lIns="0" tIns="0" rIns="0" bIns="0" rtlCol="0" anchor="t"/>
          <a:lstStyle/>
          <a:p>
            <a:pPr algn="l" indent="0" marL="0">
              <a:lnSpc>
                <a:spcPts val="2000"/>
              </a:lnSpc>
              <a:spcAft>
                <a:spcPts val="1800"/>
              </a:spcAft>
              <a:buNone/>
            </a:pPr>
            <a:r>
              <a:rPr lang="en-US" sz="1800" dirty="0">
                <a:solidFill>
                  <a:srgbClr val="1A1F2E"/>
                </a:solidFill>
                <a:latin typeface="Georgia" pitchFamily="34" charset="0"/>
                <a:ea typeface="Georgia" pitchFamily="34" charset="-122"/>
                <a:cs typeface="Georgia" pitchFamily="34" charset="-120"/>
              </a:rPr>
              <a:t>Voice + Claude Code</a:t>
            </a:r>
            <a:endParaRPr lang="en-US" sz="1800" dirty="0"/>
          </a:p>
        </p:txBody>
      </p:sp>
      <p:sp>
        <p:nvSpPr>
          <p:cNvPr id="10" name="Text 8"/>
          <p:cNvSpPr/>
          <p:nvPr/>
        </p:nvSpPr>
        <p:spPr>
          <a:xfrm>
            <a:off x="5030688" y="1362670"/>
            <a:ext cx="3732312" cy="676126"/>
          </a:xfrm>
          <a:prstGeom prst="rect">
            <a:avLst/>
          </a:prstGeom>
          <a:solidFill>
            <a:srgbClr val="FFFFFF"/>
          </a:solidFill>
          <a:ln/>
        </p:spPr>
        <p:txBody>
          <a:bodyPr wrap="square" rtlCol="0" anchor="ctr"/>
          <a:lstStyle/>
          <a:p>
            <a:pPr indent="0" marL="0">
              <a:buNone/>
            </a:pPr>
            <a:endParaRPr lang="en-US" dirty="0"/>
          </a:p>
        </p:txBody>
      </p:sp>
      <p:sp>
        <p:nvSpPr>
          <p:cNvPr id="11" name="Shape 9"/>
          <p:cNvSpPr/>
          <p:nvPr/>
        </p:nvSpPr>
        <p:spPr>
          <a:xfrm>
            <a:off x="5049738" y="1362670"/>
            <a:ext cx="0" cy="676126"/>
          </a:xfrm>
          <a:prstGeom prst="line">
            <a:avLst/>
          </a:prstGeom>
          <a:noFill/>
          <a:ln w="38100">
            <a:solidFill>
              <a:srgbClr val="C9A227"/>
            </a:solidFill>
            <a:prstDash val="solid"/>
          </a:ln>
        </p:spPr>
      </p:sp>
      <p:sp>
        <p:nvSpPr>
          <p:cNvPr id="12" name="Text 10"/>
          <p:cNvSpPr/>
          <p:nvPr/>
        </p:nvSpPr>
        <p:spPr>
          <a:xfrm>
            <a:off x="5221188" y="1515070"/>
            <a:ext cx="3457200" cy="173236"/>
          </a:xfrm>
          <a:prstGeom prst="rect">
            <a:avLst/>
          </a:prstGeom>
          <a:noFill/>
          <a:ln/>
        </p:spPr>
        <p:txBody>
          <a:bodyPr wrap="square" lIns="0" tIns="0" rIns="0" bIns="0" rtlCol="0" anchor="t"/>
          <a:lstStyle/>
          <a:p>
            <a:pPr algn="l" indent="0" marL="0">
              <a:lnSpc>
                <a:spcPts val="1365"/>
              </a:lnSpc>
              <a:spcAft>
                <a:spcPts val="300"/>
              </a:spcAft>
              <a:buNone/>
            </a:pPr>
            <a:r>
              <a:rPr lang="en-US" sz="975" b="1" dirty="0">
                <a:solidFill>
                  <a:srgbClr val="1A1F2E"/>
                </a:solidFill>
                <a:latin typeface="Arial" pitchFamily="34" charset="0"/>
                <a:ea typeface="Arial" pitchFamily="34" charset="-122"/>
                <a:cs typeface="Arial" pitchFamily="34" charset="-120"/>
              </a:rPr>
              <a:t>High-Level Commands</a:t>
            </a:r>
            <a:endParaRPr lang="en-US" sz="975" dirty="0"/>
          </a:p>
        </p:txBody>
      </p:sp>
      <p:sp>
        <p:nvSpPr>
          <p:cNvPr id="13" name="Text 11"/>
          <p:cNvSpPr/>
          <p:nvPr/>
        </p:nvSpPr>
        <p:spPr>
          <a:xfrm>
            <a:off x="5221188" y="1726406"/>
            <a:ext cx="3457200" cy="159990"/>
          </a:xfrm>
          <a:prstGeom prst="rect">
            <a:avLst/>
          </a:prstGeom>
          <a:noFill/>
          <a:ln/>
        </p:spPr>
        <p:txBody>
          <a:bodyPr wrap="square" lIns="0" tIns="0" rIns="0" bIns="0" rtlCol="0" anchor="t"/>
          <a:lstStyle/>
          <a:p>
            <a:pPr algn="l" indent="0" marL="0">
              <a:lnSpc>
                <a:spcPts val="1260"/>
              </a:lnSpc>
              <a:buNone/>
            </a:pPr>
            <a:r>
              <a:rPr lang="en-US" sz="900" dirty="0">
                <a:solidFill>
                  <a:srgbClr val="6B7280"/>
                </a:solidFill>
                <a:latin typeface="Arial" pitchFamily="34" charset="0"/>
                <a:ea typeface="Arial" pitchFamily="34" charset="-122"/>
                <a:cs typeface="Arial" pitchFamily="34" charset="-120"/>
              </a:rPr>
              <a:t>"Add error handling to all API calls"</a:t>
            </a:r>
            <a:endParaRPr lang="en-US" sz="900" dirty="0"/>
          </a:p>
        </p:txBody>
      </p:sp>
      <p:sp>
        <p:nvSpPr>
          <p:cNvPr id="14" name="Text 12"/>
          <p:cNvSpPr/>
          <p:nvPr/>
        </p:nvSpPr>
        <p:spPr>
          <a:xfrm>
            <a:off x="5030688" y="2305496"/>
            <a:ext cx="3732312" cy="676126"/>
          </a:xfrm>
          <a:prstGeom prst="rect">
            <a:avLst/>
          </a:prstGeom>
          <a:solidFill>
            <a:srgbClr val="FFFFFF"/>
          </a:solidFill>
          <a:ln/>
        </p:spPr>
        <p:txBody>
          <a:bodyPr wrap="square" rtlCol="0" anchor="ctr"/>
          <a:lstStyle/>
          <a:p>
            <a:pPr indent="0" marL="0">
              <a:buNone/>
            </a:pPr>
            <a:endParaRPr lang="en-US" dirty="0"/>
          </a:p>
        </p:txBody>
      </p:sp>
      <p:sp>
        <p:nvSpPr>
          <p:cNvPr id="15" name="Shape 13"/>
          <p:cNvSpPr/>
          <p:nvPr/>
        </p:nvSpPr>
        <p:spPr>
          <a:xfrm>
            <a:off x="5049738" y="2305496"/>
            <a:ext cx="0" cy="676126"/>
          </a:xfrm>
          <a:prstGeom prst="line">
            <a:avLst/>
          </a:prstGeom>
          <a:noFill/>
          <a:ln w="38100">
            <a:solidFill>
              <a:srgbClr val="C9A227"/>
            </a:solidFill>
            <a:prstDash val="solid"/>
          </a:ln>
        </p:spPr>
      </p:sp>
      <p:sp>
        <p:nvSpPr>
          <p:cNvPr id="16" name="Text 14"/>
          <p:cNvSpPr/>
          <p:nvPr/>
        </p:nvSpPr>
        <p:spPr>
          <a:xfrm>
            <a:off x="5221188" y="2457896"/>
            <a:ext cx="3457200" cy="173236"/>
          </a:xfrm>
          <a:prstGeom prst="rect">
            <a:avLst/>
          </a:prstGeom>
          <a:noFill/>
          <a:ln/>
        </p:spPr>
        <p:txBody>
          <a:bodyPr wrap="square" lIns="0" tIns="0" rIns="0" bIns="0" rtlCol="0" anchor="t"/>
          <a:lstStyle/>
          <a:p>
            <a:pPr algn="l" indent="0" marL="0">
              <a:lnSpc>
                <a:spcPts val="1365"/>
              </a:lnSpc>
              <a:spcAft>
                <a:spcPts val="300"/>
              </a:spcAft>
              <a:buNone/>
            </a:pPr>
            <a:r>
              <a:rPr lang="en-US" sz="975" b="1" dirty="0">
                <a:solidFill>
                  <a:srgbClr val="1A1F2E"/>
                </a:solidFill>
                <a:latin typeface="Arial" pitchFamily="34" charset="0"/>
                <a:ea typeface="Arial" pitchFamily="34" charset="-122"/>
                <a:cs typeface="Arial" pitchFamily="34" charset="-120"/>
              </a:rPr>
              <a:t>Context Aware</a:t>
            </a:r>
            <a:endParaRPr lang="en-US" sz="975" dirty="0"/>
          </a:p>
        </p:txBody>
      </p:sp>
      <p:sp>
        <p:nvSpPr>
          <p:cNvPr id="17" name="Text 15"/>
          <p:cNvSpPr/>
          <p:nvPr/>
        </p:nvSpPr>
        <p:spPr>
          <a:xfrm>
            <a:off x="5221188" y="2669232"/>
            <a:ext cx="3457200" cy="159990"/>
          </a:xfrm>
          <a:prstGeom prst="rect">
            <a:avLst/>
          </a:prstGeom>
          <a:noFill/>
          <a:ln/>
        </p:spPr>
        <p:txBody>
          <a:bodyPr wrap="square" lIns="0" tIns="0" rIns="0" bIns="0" rtlCol="0" anchor="t"/>
          <a:lstStyle/>
          <a:p>
            <a:pPr algn="l" indent="0" marL="0">
              <a:lnSpc>
                <a:spcPts val="1260"/>
              </a:lnSpc>
              <a:buNone/>
            </a:pPr>
            <a:r>
              <a:rPr lang="en-US" sz="900" dirty="0">
                <a:solidFill>
                  <a:srgbClr val="6B7280"/>
                </a:solidFill>
                <a:latin typeface="Arial" pitchFamily="34" charset="0"/>
                <a:ea typeface="Arial" pitchFamily="34" charset="-122"/>
                <a:cs typeface="Arial" pitchFamily="34" charset="-120"/>
              </a:rPr>
              <a:t>Understands your entire codebase structure</a:t>
            </a:r>
            <a:endParaRPr lang="en-US" sz="900" dirty="0"/>
          </a:p>
        </p:txBody>
      </p:sp>
      <p:sp>
        <p:nvSpPr>
          <p:cNvPr id="18" name="Text 16"/>
          <p:cNvSpPr/>
          <p:nvPr/>
        </p:nvSpPr>
        <p:spPr>
          <a:xfrm>
            <a:off x="5030688" y="3248323"/>
            <a:ext cx="3732312" cy="676126"/>
          </a:xfrm>
          <a:prstGeom prst="rect">
            <a:avLst/>
          </a:prstGeom>
          <a:solidFill>
            <a:srgbClr val="FFFFFF"/>
          </a:solidFill>
          <a:ln/>
        </p:spPr>
        <p:txBody>
          <a:bodyPr wrap="square" rtlCol="0" anchor="ctr"/>
          <a:lstStyle/>
          <a:p>
            <a:pPr indent="0" marL="0">
              <a:buNone/>
            </a:pPr>
            <a:endParaRPr lang="en-US" dirty="0"/>
          </a:p>
        </p:txBody>
      </p:sp>
      <p:sp>
        <p:nvSpPr>
          <p:cNvPr id="19" name="Shape 17"/>
          <p:cNvSpPr/>
          <p:nvPr/>
        </p:nvSpPr>
        <p:spPr>
          <a:xfrm>
            <a:off x="5049738" y="3248323"/>
            <a:ext cx="0" cy="676126"/>
          </a:xfrm>
          <a:prstGeom prst="line">
            <a:avLst/>
          </a:prstGeom>
          <a:noFill/>
          <a:ln w="38100">
            <a:solidFill>
              <a:srgbClr val="C9A227"/>
            </a:solidFill>
            <a:prstDash val="solid"/>
          </a:ln>
        </p:spPr>
      </p:sp>
      <p:sp>
        <p:nvSpPr>
          <p:cNvPr id="20" name="Text 18"/>
          <p:cNvSpPr/>
          <p:nvPr/>
        </p:nvSpPr>
        <p:spPr>
          <a:xfrm>
            <a:off x="5221188" y="3400723"/>
            <a:ext cx="3457200" cy="173236"/>
          </a:xfrm>
          <a:prstGeom prst="rect">
            <a:avLst/>
          </a:prstGeom>
          <a:noFill/>
          <a:ln/>
        </p:spPr>
        <p:txBody>
          <a:bodyPr wrap="square" lIns="0" tIns="0" rIns="0" bIns="0" rtlCol="0" anchor="t"/>
          <a:lstStyle/>
          <a:p>
            <a:pPr algn="l" indent="0" marL="0">
              <a:lnSpc>
                <a:spcPts val="1365"/>
              </a:lnSpc>
              <a:spcAft>
                <a:spcPts val="300"/>
              </a:spcAft>
              <a:buNone/>
            </a:pPr>
            <a:r>
              <a:rPr lang="en-US" sz="975" b="1" dirty="0">
                <a:solidFill>
                  <a:srgbClr val="1A1F2E"/>
                </a:solidFill>
                <a:latin typeface="Arial" pitchFamily="34" charset="0"/>
                <a:ea typeface="Arial" pitchFamily="34" charset="-122"/>
                <a:cs typeface="Arial" pitchFamily="34" charset="-120"/>
              </a:rPr>
              <a:t>Autonomous Execution</a:t>
            </a:r>
            <a:endParaRPr lang="en-US" sz="975" dirty="0"/>
          </a:p>
        </p:txBody>
      </p:sp>
      <p:sp>
        <p:nvSpPr>
          <p:cNvPr id="21" name="Text 19"/>
          <p:cNvSpPr/>
          <p:nvPr/>
        </p:nvSpPr>
        <p:spPr>
          <a:xfrm>
            <a:off x="5221188" y="3612059"/>
            <a:ext cx="3457200" cy="159990"/>
          </a:xfrm>
          <a:prstGeom prst="rect">
            <a:avLst/>
          </a:prstGeom>
          <a:noFill/>
          <a:ln/>
        </p:spPr>
        <p:txBody>
          <a:bodyPr wrap="square" lIns="0" tIns="0" rIns="0" bIns="0" rtlCol="0" anchor="t"/>
          <a:lstStyle/>
          <a:p>
            <a:pPr algn="l" indent="0" marL="0">
              <a:lnSpc>
                <a:spcPts val="1260"/>
              </a:lnSpc>
              <a:buNone/>
            </a:pPr>
            <a:r>
              <a:rPr lang="en-US" sz="900" dirty="0">
                <a:solidFill>
                  <a:srgbClr val="6B7280"/>
                </a:solidFill>
                <a:latin typeface="Arial" pitchFamily="34" charset="0"/>
                <a:ea typeface="Arial" pitchFamily="34" charset="-122"/>
                <a:cs typeface="Arial" pitchFamily="34" charset="-120"/>
              </a:rPr>
              <a:t>Creates, edits, and tests without micro-management</a:t>
            </a:r>
            <a:endParaRPr lang="en-US" sz="900" dirty="0"/>
          </a:p>
        </p:txBody>
      </p:sp>
      <p:sp>
        <p:nvSpPr>
          <p:cNvPr id="22" name="Text 20"/>
          <p:cNvSpPr/>
          <p:nvPr/>
        </p:nvSpPr>
        <p:spPr>
          <a:xfrm>
            <a:off x="5030688" y="4191149"/>
            <a:ext cx="3732312" cy="676126"/>
          </a:xfrm>
          <a:prstGeom prst="rect">
            <a:avLst/>
          </a:prstGeom>
          <a:solidFill>
            <a:srgbClr val="FFFFFF"/>
          </a:solidFill>
          <a:ln/>
        </p:spPr>
        <p:txBody>
          <a:bodyPr wrap="square" rtlCol="0" anchor="ctr"/>
          <a:lstStyle/>
          <a:p>
            <a:pPr indent="0" marL="0">
              <a:buNone/>
            </a:pPr>
            <a:endParaRPr lang="en-US" dirty="0"/>
          </a:p>
        </p:txBody>
      </p:sp>
      <p:sp>
        <p:nvSpPr>
          <p:cNvPr id="23" name="Shape 21"/>
          <p:cNvSpPr/>
          <p:nvPr/>
        </p:nvSpPr>
        <p:spPr>
          <a:xfrm>
            <a:off x="5049738" y="4191149"/>
            <a:ext cx="0" cy="676126"/>
          </a:xfrm>
          <a:prstGeom prst="line">
            <a:avLst/>
          </a:prstGeom>
          <a:noFill/>
          <a:ln w="38100">
            <a:solidFill>
              <a:srgbClr val="C9A227"/>
            </a:solidFill>
            <a:prstDash val="solid"/>
          </a:ln>
        </p:spPr>
      </p:sp>
      <p:sp>
        <p:nvSpPr>
          <p:cNvPr id="24" name="Text 22"/>
          <p:cNvSpPr/>
          <p:nvPr/>
        </p:nvSpPr>
        <p:spPr>
          <a:xfrm>
            <a:off x="5221188" y="4343549"/>
            <a:ext cx="3457200" cy="173236"/>
          </a:xfrm>
          <a:prstGeom prst="rect">
            <a:avLst/>
          </a:prstGeom>
          <a:noFill/>
          <a:ln/>
        </p:spPr>
        <p:txBody>
          <a:bodyPr wrap="square" lIns="0" tIns="0" rIns="0" bIns="0" rtlCol="0" anchor="t"/>
          <a:lstStyle/>
          <a:p>
            <a:pPr algn="l" indent="0" marL="0">
              <a:lnSpc>
                <a:spcPts val="1365"/>
              </a:lnSpc>
              <a:spcAft>
                <a:spcPts val="300"/>
              </a:spcAft>
              <a:buNone/>
            </a:pPr>
            <a:r>
              <a:rPr lang="en-US" sz="975" b="1" dirty="0">
                <a:solidFill>
                  <a:srgbClr val="1A1F2E"/>
                </a:solidFill>
                <a:latin typeface="Arial" pitchFamily="34" charset="0"/>
                <a:ea typeface="Arial" pitchFamily="34" charset="-122"/>
                <a:cs typeface="Arial" pitchFamily="34" charset="-120"/>
              </a:rPr>
              <a:t>Iterative Refinement</a:t>
            </a:r>
            <a:endParaRPr lang="en-US" sz="975" dirty="0"/>
          </a:p>
        </p:txBody>
      </p:sp>
      <p:sp>
        <p:nvSpPr>
          <p:cNvPr id="25" name="Text 23"/>
          <p:cNvSpPr/>
          <p:nvPr/>
        </p:nvSpPr>
        <p:spPr>
          <a:xfrm>
            <a:off x="5221188" y="4554885"/>
            <a:ext cx="3457200" cy="159990"/>
          </a:xfrm>
          <a:prstGeom prst="rect">
            <a:avLst/>
          </a:prstGeom>
          <a:noFill/>
          <a:ln/>
        </p:spPr>
        <p:txBody>
          <a:bodyPr wrap="square" lIns="0" tIns="0" rIns="0" bIns="0" rtlCol="0" anchor="t"/>
          <a:lstStyle/>
          <a:p>
            <a:pPr algn="l" indent="0" marL="0">
              <a:lnSpc>
                <a:spcPts val="1260"/>
              </a:lnSpc>
              <a:buNone/>
            </a:pPr>
            <a:r>
              <a:rPr lang="en-US" sz="900" dirty="0">
                <a:solidFill>
                  <a:srgbClr val="6B7280"/>
                </a:solidFill>
                <a:latin typeface="Arial" pitchFamily="34" charset="0"/>
                <a:ea typeface="Arial" pitchFamily="34" charset="-122"/>
                <a:cs typeface="Arial" pitchFamily="34" charset="-120"/>
              </a:rPr>
              <a:t>"Actually, make that a dropdown instead"</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457200" y="304800"/>
            <a:ext cx="8394192" cy="146596"/>
          </a:xfrm>
          <a:prstGeom prst="rect">
            <a:avLst/>
          </a:prstGeom>
          <a:noFill/>
          <a:ln/>
        </p:spPr>
        <p:txBody>
          <a:bodyPr wrap="square" lIns="0" tIns="0" rIns="0" bIns="0" rtlCol="0" anchor="t"/>
          <a:lstStyle/>
          <a:p>
            <a:pPr algn="l" indent="0" marL="0">
              <a:lnSpc>
                <a:spcPts val="1155"/>
              </a:lnSpc>
              <a:spcAft>
                <a:spcPts val="600"/>
              </a:spcAft>
              <a:buNone/>
            </a:pPr>
            <a:r>
              <a:rPr lang="en-US" sz="825" dirty="0">
                <a:solidFill>
                  <a:srgbClr val="C9A227"/>
                </a:solidFill>
                <a:latin typeface="Arial" pitchFamily="34" charset="0"/>
                <a:ea typeface="Arial" pitchFamily="34" charset="-122"/>
                <a:cs typeface="Arial" pitchFamily="34" charset="-120"/>
              </a:rPr>
              <a:t>IDE INTEGRATION</a:t>
            </a:r>
            <a:endParaRPr lang="en-US" sz="825" dirty="0"/>
          </a:p>
        </p:txBody>
      </p:sp>
      <p:sp>
        <p:nvSpPr>
          <p:cNvPr id="3" name="Text 1"/>
          <p:cNvSpPr/>
          <p:nvPr/>
        </p:nvSpPr>
        <p:spPr>
          <a:xfrm>
            <a:off x="457200" y="527596"/>
            <a:ext cx="4206812" cy="304800"/>
          </a:xfrm>
          <a:prstGeom prst="rect">
            <a:avLst/>
          </a:prstGeom>
          <a:noFill/>
          <a:ln/>
        </p:spPr>
        <p:txBody>
          <a:bodyPr wrap="square" lIns="0" tIns="0" rIns="0" bIns="0" rtlCol="0" anchor="t"/>
          <a:lstStyle/>
          <a:p>
            <a:pPr algn="l" indent="0" marL="0">
              <a:lnSpc>
                <a:spcPts val="2400"/>
              </a:lnSpc>
              <a:buNone/>
            </a:pPr>
            <a:r>
              <a:rPr lang="en-US" sz="2400" dirty="0">
                <a:solidFill>
                  <a:srgbClr val="1A1F2E"/>
                </a:solidFill>
                <a:latin typeface="Georgia" pitchFamily="34" charset="0"/>
                <a:ea typeface="Georgia" pitchFamily="34" charset="-122"/>
                <a:cs typeface="Georgia" pitchFamily="34" charset="-120"/>
              </a:rPr>
              <a:t>VS Code AI Extensions</a:t>
            </a:r>
            <a:endParaRPr lang="en-US" sz="2400" dirty="0"/>
          </a:p>
        </p:txBody>
      </p:sp>
      <p:sp>
        <p:nvSpPr>
          <p:cNvPr id="4" name="Text 2"/>
          <p:cNvSpPr/>
          <p:nvPr/>
        </p:nvSpPr>
        <p:spPr>
          <a:xfrm>
            <a:off x="457200" y="1462534"/>
            <a:ext cx="2641550" cy="3050828"/>
          </a:xfrm>
          <a:prstGeom prst="rect">
            <a:avLst/>
          </a:prstGeom>
          <a:solidFill>
            <a:srgbClr val="FFFFFF"/>
          </a:solidFill>
          <a:ln/>
        </p:spPr>
        <p:txBody>
          <a:bodyPr wrap="square" rtlCol="0" anchor="ctr"/>
          <a:lstStyle/>
          <a:p>
            <a:pPr indent="0" marL="0">
              <a:buNone/>
            </a:pPr>
            <a:endParaRPr lang="en-US" dirty="0"/>
          </a:p>
        </p:txBody>
      </p:sp>
      <p:sp>
        <p:nvSpPr>
          <p:cNvPr id="5" name="Shape 3"/>
          <p:cNvSpPr/>
          <p:nvPr/>
        </p:nvSpPr>
        <p:spPr>
          <a:xfrm>
            <a:off x="476250" y="1462534"/>
            <a:ext cx="0" cy="3050828"/>
          </a:xfrm>
          <a:prstGeom prst="line">
            <a:avLst/>
          </a:prstGeom>
          <a:noFill/>
          <a:ln w="38100">
            <a:solidFill>
              <a:srgbClr val="C9A227"/>
            </a:solidFill>
            <a:prstDash val="solid"/>
          </a:ln>
        </p:spPr>
      </p:sp>
      <p:sp>
        <p:nvSpPr>
          <p:cNvPr id="6" name="Text 4"/>
          <p:cNvSpPr/>
          <p:nvPr/>
        </p:nvSpPr>
        <p:spPr>
          <a:xfrm>
            <a:off x="685800" y="1653034"/>
            <a:ext cx="2266899" cy="213271"/>
          </a:xfrm>
          <a:prstGeom prst="rect">
            <a:avLst/>
          </a:prstGeom>
          <a:noFill/>
          <a:ln/>
        </p:spPr>
        <p:txBody>
          <a:bodyPr wrap="square" lIns="0" tIns="0" rIns="0" bIns="0" rtlCol="0" anchor="t"/>
          <a:lstStyle/>
          <a:p>
            <a:pPr algn="l" indent="0" marL="0">
              <a:lnSpc>
                <a:spcPts val="1680"/>
              </a:lnSpc>
              <a:spcAft>
                <a:spcPts val="600"/>
              </a:spcAft>
              <a:buNone/>
            </a:pPr>
            <a:r>
              <a:rPr lang="en-US" sz="1200" b="1" dirty="0">
                <a:solidFill>
                  <a:srgbClr val="1A1F2E"/>
                </a:solidFill>
                <a:latin typeface="Georgia" pitchFamily="34" charset="0"/>
                <a:ea typeface="Georgia" pitchFamily="34" charset="-122"/>
                <a:cs typeface="Georgia" pitchFamily="34" charset="-120"/>
              </a:rPr>
              <a:t>Continue.dev</a:t>
            </a:r>
            <a:endParaRPr lang="en-US" sz="1200" dirty="0"/>
          </a:p>
        </p:txBody>
      </p:sp>
      <p:sp>
        <p:nvSpPr>
          <p:cNvPr id="7" name="Text 5"/>
          <p:cNvSpPr/>
          <p:nvPr/>
        </p:nvSpPr>
        <p:spPr>
          <a:xfrm>
            <a:off x="685800" y="2094905"/>
            <a:ext cx="2266899" cy="365522"/>
          </a:xfrm>
          <a:prstGeom prst="rect">
            <a:avLst/>
          </a:prstGeom>
          <a:noFill/>
          <a:ln/>
        </p:spPr>
        <p:txBody>
          <a:bodyPr wrap="square" lIns="0" tIns="0" rIns="0" bIns="0" rtlCol="0" anchor="t"/>
          <a:lstStyle/>
          <a:p>
            <a:pPr algn="l" indent="0" marL="0">
              <a:lnSpc>
                <a:spcPts val="1440"/>
              </a:lnSpc>
              <a:spcAft>
                <a:spcPts val="1200"/>
              </a:spcAft>
              <a:buNone/>
            </a:pPr>
            <a:r>
              <a:rPr lang="en-US" sz="900" dirty="0">
                <a:solidFill>
                  <a:srgbClr val="6B7280"/>
                </a:solidFill>
                <a:latin typeface="Arial" pitchFamily="34" charset="0"/>
                <a:ea typeface="Arial" pitchFamily="34" charset="-122"/>
                <a:cs typeface="Arial" pitchFamily="34" charset="-120"/>
              </a:rPr>
              <a:t>Open-source AI assistant that works with any model provider</a:t>
            </a:r>
            <a:endParaRPr lang="en-US" sz="900" dirty="0"/>
          </a:p>
        </p:txBody>
      </p:sp>
      <p:sp>
        <p:nvSpPr>
          <p:cNvPr id="8" name="Text 6"/>
          <p:cNvSpPr/>
          <p:nvPr/>
        </p:nvSpPr>
        <p:spPr>
          <a:xfrm>
            <a:off x="685800" y="2765227"/>
            <a:ext cx="2222450" cy="1144339"/>
          </a:xfrm>
          <a:prstGeom prst="rect">
            <a:avLst/>
          </a:prstGeom>
          <a:solidFill>
            <a:srgbClr val="F7F8FA"/>
          </a:solidFill>
          <a:ln/>
        </p:spPr>
        <p:txBody>
          <a:bodyPr wrap="square" rtlCol="0" anchor="ctr"/>
          <a:lstStyle/>
          <a:p>
            <a:pPr indent="0" marL="0">
              <a:buNone/>
            </a:pPr>
            <a:endParaRPr lang="en-US" dirty="0"/>
          </a:p>
        </p:txBody>
      </p:sp>
      <p:sp>
        <p:nvSpPr>
          <p:cNvPr id="9" name="Text 7"/>
          <p:cNvSpPr/>
          <p:nvPr/>
        </p:nvSpPr>
        <p:spPr>
          <a:xfrm>
            <a:off x="800100" y="2879527"/>
            <a:ext cx="2033727" cy="146596"/>
          </a:xfrm>
          <a:prstGeom prst="rect">
            <a:avLst/>
          </a:prstGeom>
          <a:noFill/>
          <a:ln/>
        </p:spPr>
        <p:txBody>
          <a:bodyPr wrap="square" lIns="0" tIns="0" rIns="0" bIns="0" rtlCol="0" anchor="t"/>
          <a:lstStyle/>
          <a:p>
            <a:pPr algn="l" indent="0" marL="0">
              <a:lnSpc>
                <a:spcPts val="1155"/>
              </a:lnSpc>
              <a:spcAft>
                <a:spcPts val="450"/>
              </a:spcAft>
              <a:buNone/>
            </a:pPr>
            <a:r>
              <a:rPr lang="en-US" sz="825" b="1" dirty="0">
                <a:solidFill>
                  <a:srgbClr val="1A1F2E"/>
                </a:solidFill>
                <a:latin typeface="Arial" pitchFamily="34" charset="0"/>
                <a:ea typeface="Arial" pitchFamily="34" charset="-122"/>
                <a:cs typeface="Arial" pitchFamily="34" charset="-120"/>
              </a:rPr>
              <a:t>Features</a:t>
            </a:r>
            <a:endParaRPr lang="en-US" sz="825" dirty="0"/>
          </a:p>
        </p:txBody>
      </p:sp>
      <p:sp>
        <p:nvSpPr>
          <p:cNvPr id="10" name="Text 8"/>
          <p:cNvSpPr/>
          <p:nvPr/>
        </p:nvSpPr>
        <p:spPr>
          <a:xfrm>
            <a:off x="800100" y="3083272"/>
            <a:ext cx="2033727" cy="711994"/>
          </a:xfrm>
          <a:prstGeom prst="rect">
            <a:avLst/>
          </a:prstGeom>
          <a:noFill/>
          <a:ln/>
        </p:spPr>
        <p:txBody>
          <a:bodyPr wrap="square" lIns="0" tIns="0" rIns="0" bIns="0" rtlCol="0" anchor="t"/>
          <a:lstStyle/>
          <a:p>
            <a:pPr algn="l" indent="0" marL="0">
              <a:lnSpc>
                <a:spcPts val="1402"/>
              </a:lnSpc>
              <a:buNone/>
            </a:pPr>
            <a:r>
              <a:rPr lang="en-US" sz="825" dirty="0">
                <a:solidFill>
                  <a:srgbClr val="6B7280"/>
                </a:solidFill>
                <a:latin typeface="Arial" pitchFamily="34" charset="0"/>
                <a:ea typeface="Arial" pitchFamily="34" charset="-122"/>
                <a:cs typeface="Arial" pitchFamily="34" charset="-120"/>
              </a:rPr>
              <a:t>Tab autocomplete</a:t>
            </a:r>
            <a:endParaRPr lang="en-US" sz="825" dirty="0"/>
          </a:p>
          <a:p>
            <a:pPr algn="l" indent="0" marL="0">
              <a:lnSpc>
                <a:spcPts val="1402"/>
              </a:lnSpc>
              <a:buNone/>
            </a:pPr>
            <a:r>
              <a:rPr lang="en-US" sz="825" dirty="0">
                <a:solidFill>
                  <a:srgbClr val="6B7280"/>
                </a:solidFill>
                <a:latin typeface="Arial" pitchFamily="34" charset="0"/>
                <a:ea typeface="Arial" pitchFamily="34" charset="-122"/>
                <a:cs typeface="Arial" pitchFamily="34" charset="-120"/>
              </a:rPr>
              <a:t>Inline editing</a:t>
            </a:r>
            <a:endParaRPr lang="en-US" sz="825" dirty="0"/>
          </a:p>
          <a:p>
            <a:pPr algn="l" indent="0" marL="0">
              <a:lnSpc>
                <a:spcPts val="1402"/>
              </a:lnSpc>
              <a:buNone/>
            </a:pPr>
            <a:r>
              <a:rPr lang="en-US" sz="825" dirty="0">
                <a:solidFill>
                  <a:srgbClr val="6B7280"/>
                </a:solidFill>
                <a:latin typeface="Arial" pitchFamily="34" charset="0"/>
                <a:ea typeface="Arial" pitchFamily="34" charset="-122"/>
                <a:cs typeface="Arial" pitchFamily="34" charset="-120"/>
              </a:rPr>
              <a:t>Chat sidebar</a:t>
            </a:r>
            <a:endParaRPr lang="en-US" sz="825" dirty="0"/>
          </a:p>
          <a:p>
            <a:pPr algn="l" indent="0" marL="0">
              <a:lnSpc>
                <a:spcPts val="1402"/>
              </a:lnSpc>
              <a:buNone/>
            </a:pPr>
            <a:r>
              <a:rPr lang="en-US" sz="825" dirty="0">
                <a:solidFill>
                  <a:srgbClr val="6B7280"/>
                </a:solidFill>
                <a:latin typeface="Arial" pitchFamily="34" charset="0"/>
                <a:ea typeface="Arial" pitchFamily="34" charset="-122"/>
                <a:cs typeface="Arial" pitchFamily="34" charset="-120"/>
              </a:rPr>
              <a:t>Custom context</a:t>
            </a:r>
            <a:endParaRPr lang="en-US" sz="825" dirty="0"/>
          </a:p>
        </p:txBody>
      </p:sp>
      <p:sp>
        <p:nvSpPr>
          <p:cNvPr id="11" name="Text 9"/>
          <p:cNvSpPr/>
          <p:nvPr/>
        </p:nvSpPr>
        <p:spPr>
          <a:xfrm>
            <a:off x="685800" y="4176266"/>
            <a:ext cx="2266899" cy="146596"/>
          </a:xfrm>
          <a:prstGeom prst="rect">
            <a:avLst/>
          </a:prstGeom>
          <a:noFill/>
          <a:ln/>
        </p:spPr>
        <p:txBody>
          <a:bodyPr wrap="square" lIns="0" tIns="0" rIns="0" bIns="0" rtlCol="0" anchor="t"/>
          <a:lstStyle/>
          <a:p>
            <a:pPr algn="l" indent="0" marL="0">
              <a:lnSpc>
                <a:spcPts val="1155"/>
              </a:lnSpc>
              <a:buNone/>
            </a:pPr>
            <a:r>
              <a:rPr lang="en-US" sz="825" b="1" dirty="0">
                <a:solidFill>
                  <a:srgbClr val="059669"/>
                </a:solidFill>
                <a:latin typeface="Arial" pitchFamily="34" charset="0"/>
                <a:ea typeface="Arial" pitchFamily="34" charset="-122"/>
                <a:cs typeface="Arial" pitchFamily="34" charset="-120"/>
              </a:rPr>
              <a:t>Supports Azure OpenAI</a:t>
            </a:r>
            <a:endParaRPr lang="en-US" sz="825" dirty="0"/>
          </a:p>
        </p:txBody>
      </p:sp>
      <p:sp>
        <p:nvSpPr>
          <p:cNvPr id="12" name="Text 10"/>
          <p:cNvSpPr/>
          <p:nvPr/>
        </p:nvSpPr>
        <p:spPr>
          <a:xfrm>
            <a:off x="3251150" y="1462534"/>
            <a:ext cx="2641550" cy="3050828"/>
          </a:xfrm>
          <a:prstGeom prst="rect">
            <a:avLst/>
          </a:prstGeom>
          <a:solidFill>
            <a:srgbClr val="FFFFFF"/>
          </a:solidFill>
          <a:ln/>
        </p:spPr>
        <p:txBody>
          <a:bodyPr wrap="square" rtlCol="0" anchor="ctr"/>
          <a:lstStyle/>
          <a:p>
            <a:pPr indent="0" marL="0">
              <a:buNone/>
            </a:pPr>
            <a:endParaRPr lang="en-US" dirty="0"/>
          </a:p>
        </p:txBody>
      </p:sp>
      <p:sp>
        <p:nvSpPr>
          <p:cNvPr id="13" name="Shape 11"/>
          <p:cNvSpPr/>
          <p:nvPr/>
        </p:nvSpPr>
        <p:spPr>
          <a:xfrm>
            <a:off x="3270200" y="1462534"/>
            <a:ext cx="0" cy="3050828"/>
          </a:xfrm>
          <a:prstGeom prst="line">
            <a:avLst/>
          </a:prstGeom>
          <a:noFill/>
          <a:ln w="38100">
            <a:solidFill>
              <a:srgbClr val="C9A227"/>
            </a:solidFill>
            <a:prstDash val="solid"/>
          </a:ln>
        </p:spPr>
      </p:sp>
      <p:sp>
        <p:nvSpPr>
          <p:cNvPr id="14" name="Text 12"/>
          <p:cNvSpPr/>
          <p:nvPr/>
        </p:nvSpPr>
        <p:spPr>
          <a:xfrm>
            <a:off x="3479750" y="1653034"/>
            <a:ext cx="2266899" cy="213271"/>
          </a:xfrm>
          <a:prstGeom prst="rect">
            <a:avLst/>
          </a:prstGeom>
          <a:noFill/>
          <a:ln/>
        </p:spPr>
        <p:txBody>
          <a:bodyPr wrap="square" lIns="0" tIns="0" rIns="0" bIns="0" rtlCol="0" anchor="t"/>
          <a:lstStyle/>
          <a:p>
            <a:pPr algn="l" indent="0" marL="0">
              <a:lnSpc>
                <a:spcPts val="1680"/>
              </a:lnSpc>
              <a:spcAft>
                <a:spcPts val="600"/>
              </a:spcAft>
              <a:buNone/>
            </a:pPr>
            <a:r>
              <a:rPr lang="en-US" sz="1200" b="1" dirty="0">
                <a:solidFill>
                  <a:srgbClr val="1A1F2E"/>
                </a:solidFill>
                <a:latin typeface="Georgia" pitchFamily="34" charset="0"/>
                <a:ea typeface="Georgia" pitchFamily="34" charset="-122"/>
                <a:cs typeface="Georgia" pitchFamily="34" charset="-120"/>
              </a:rPr>
              <a:t>GitHub Copilot</a:t>
            </a:r>
            <a:endParaRPr lang="en-US" sz="1200" dirty="0"/>
          </a:p>
        </p:txBody>
      </p:sp>
      <p:sp>
        <p:nvSpPr>
          <p:cNvPr id="15" name="Text 13"/>
          <p:cNvSpPr/>
          <p:nvPr/>
        </p:nvSpPr>
        <p:spPr>
          <a:xfrm>
            <a:off x="3479750" y="2094905"/>
            <a:ext cx="2266899" cy="365522"/>
          </a:xfrm>
          <a:prstGeom prst="rect">
            <a:avLst/>
          </a:prstGeom>
          <a:noFill/>
          <a:ln/>
        </p:spPr>
        <p:txBody>
          <a:bodyPr wrap="square" lIns="0" tIns="0" rIns="0" bIns="0" rtlCol="0" anchor="t"/>
          <a:lstStyle/>
          <a:p>
            <a:pPr algn="l" indent="0" marL="0">
              <a:lnSpc>
                <a:spcPts val="1440"/>
              </a:lnSpc>
              <a:spcAft>
                <a:spcPts val="1200"/>
              </a:spcAft>
              <a:buNone/>
            </a:pPr>
            <a:r>
              <a:rPr lang="en-US" sz="900" dirty="0">
                <a:solidFill>
                  <a:srgbClr val="6B7280"/>
                </a:solidFill>
                <a:latin typeface="Arial" pitchFamily="34" charset="0"/>
                <a:ea typeface="Arial" pitchFamily="34" charset="-122"/>
                <a:cs typeface="Arial" pitchFamily="34" charset="-120"/>
              </a:rPr>
              <a:t>Microsoft's AI pair programmer with deep VS Code integration</a:t>
            </a:r>
            <a:endParaRPr lang="en-US" sz="900" dirty="0"/>
          </a:p>
        </p:txBody>
      </p:sp>
      <p:sp>
        <p:nvSpPr>
          <p:cNvPr id="16" name="Text 14"/>
          <p:cNvSpPr/>
          <p:nvPr/>
        </p:nvSpPr>
        <p:spPr>
          <a:xfrm>
            <a:off x="3479750" y="2765227"/>
            <a:ext cx="2222450" cy="1144339"/>
          </a:xfrm>
          <a:prstGeom prst="rect">
            <a:avLst/>
          </a:prstGeom>
          <a:solidFill>
            <a:srgbClr val="F7F8FA"/>
          </a:solidFill>
          <a:ln/>
        </p:spPr>
        <p:txBody>
          <a:bodyPr wrap="square" rtlCol="0" anchor="ctr"/>
          <a:lstStyle/>
          <a:p>
            <a:pPr indent="0" marL="0">
              <a:buNone/>
            </a:pPr>
            <a:endParaRPr lang="en-US" dirty="0"/>
          </a:p>
        </p:txBody>
      </p:sp>
      <p:sp>
        <p:nvSpPr>
          <p:cNvPr id="17" name="Text 15"/>
          <p:cNvSpPr/>
          <p:nvPr/>
        </p:nvSpPr>
        <p:spPr>
          <a:xfrm>
            <a:off x="3594050" y="2879527"/>
            <a:ext cx="2033727" cy="146596"/>
          </a:xfrm>
          <a:prstGeom prst="rect">
            <a:avLst/>
          </a:prstGeom>
          <a:noFill/>
          <a:ln/>
        </p:spPr>
        <p:txBody>
          <a:bodyPr wrap="square" lIns="0" tIns="0" rIns="0" bIns="0" rtlCol="0" anchor="t"/>
          <a:lstStyle/>
          <a:p>
            <a:pPr algn="l" indent="0" marL="0">
              <a:lnSpc>
                <a:spcPts val="1155"/>
              </a:lnSpc>
              <a:spcAft>
                <a:spcPts val="450"/>
              </a:spcAft>
              <a:buNone/>
            </a:pPr>
            <a:r>
              <a:rPr lang="en-US" sz="825" b="1" dirty="0">
                <a:solidFill>
                  <a:srgbClr val="1A1F2E"/>
                </a:solidFill>
                <a:latin typeface="Arial" pitchFamily="34" charset="0"/>
                <a:ea typeface="Arial" pitchFamily="34" charset="-122"/>
                <a:cs typeface="Arial" pitchFamily="34" charset="-120"/>
              </a:rPr>
              <a:t>Features</a:t>
            </a:r>
            <a:endParaRPr lang="en-US" sz="825" dirty="0"/>
          </a:p>
        </p:txBody>
      </p:sp>
      <p:sp>
        <p:nvSpPr>
          <p:cNvPr id="18" name="Text 16"/>
          <p:cNvSpPr/>
          <p:nvPr/>
        </p:nvSpPr>
        <p:spPr>
          <a:xfrm>
            <a:off x="3594050" y="3083272"/>
            <a:ext cx="2033727" cy="711994"/>
          </a:xfrm>
          <a:prstGeom prst="rect">
            <a:avLst/>
          </a:prstGeom>
          <a:noFill/>
          <a:ln/>
        </p:spPr>
        <p:txBody>
          <a:bodyPr wrap="square" lIns="0" tIns="0" rIns="0" bIns="0" rtlCol="0" anchor="t"/>
          <a:lstStyle/>
          <a:p>
            <a:pPr algn="l" indent="0" marL="0">
              <a:lnSpc>
                <a:spcPts val="1402"/>
              </a:lnSpc>
              <a:buNone/>
            </a:pPr>
            <a:r>
              <a:rPr lang="en-US" sz="825" dirty="0">
                <a:solidFill>
                  <a:srgbClr val="6B7280"/>
                </a:solidFill>
                <a:latin typeface="Arial" pitchFamily="34" charset="0"/>
                <a:ea typeface="Arial" pitchFamily="34" charset="-122"/>
                <a:cs typeface="Arial" pitchFamily="34" charset="-120"/>
              </a:rPr>
              <a:t>Ghost text suggestions</a:t>
            </a:r>
            <a:endParaRPr lang="en-US" sz="825" dirty="0"/>
          </a:p>
          <a:p>
            <a:pPr algn="l" indent="0" marL="0">
              <a:lnSpc>
                <a:spcPts val="1402"/>
              </a:lnSpc>
              <a:buNone/>
            </a:pPr>
            <a:r>
              <a:rPr lang="en-US" sz="825" dirty="0">
                <a:solidFill>
                  <a:srgbClr val="6B7280"/>
                </a:solidFill>
                <a:latin typeface="Arial" pitchFamily="34" charset="0"/>
                <a:ea typeface="Arial" pitchFamily="34" charset="-122"/>
                <a:cs typeface="Arial" pitchFamily="34" charset="-120"/>
              </a:rPr>
              <a:t>Copilot Chat</a:t>
            </a:r>
            <a:endParaRPr lang="en-US" sz="825" dirty="0"/>
          </a:p>
          <a:p>
            <a:pPr algn="l" indent="0" marL="0">
              <a:lnSpc>
                <a:spcPts val="1402"/>
              </a:lnSpc>
              <a:buNone/>
            </a:pPr>
            <a:r>
              <a:rPr lang="en-US" sz="825" dirty="0">
                <a:solidFill>
                  <a:srgbClr val="6B7280"/>
                </a:solidFill>
                <a:latin typeface="Arial" pitchFamily="34" charset="0"/>
                <a:ea typeface="Arial" pitchFamily="34" charset="-122"/>
                <a:cs typeface="Arial" pitchFamily="34" charset="-120"/>
              </a:rPr>
              <a:t>Slash commands</a:t>
            </a:r>
            <a:endParaRPr lang="en-US" sz="825" dirty="0"/>
          </a:p>
          <a:p>
            <a:pPr algn="l" indent="0" marL="0">
              <a:lnSpc>
                <a:spcPts val="1402"/>
              </a:lnSpc>
              <a:buNone/>
            </a:pPr>
            <a:r>
              <a:rPr lang="en-US" sz="825" dirty="0">
                <a:solidFill>
                  <a:srgbClr val="6B7280"/>
                </a:solidFill>
                <a:latin typeface="Arial" pitchFamily="34" charset="0"/>
                <a:ea typeface="Arial" pitchFamily="34" charset="-122"/>
                <a:cs typeface="Arial" pitchFamily="34" charset="-120"/>
              </a:rPr>
              <a:t>Workspace Q&amp;A</a:t>
            </a:r>
            <a:endParaRPr lang="en-US" sz="825" dirty="0"/>
          </a:p>
        </p:txBody>
      </p:sp>
      <p:sp>
        <p:nvSpPr>
          <p:cNvPr id="19" name="Text 17"/>
          <p:cNvSpPr/>
          <p:nvPr/>
        </p:nvSpPr>
        <p:spPr>
          <a:xfrm>
            <a:off x="3479750" y="4176266"/>
            <a:ext cx="2266899" cy="146596"/>
          </a:xfrm>
          <a:prstGeom prst="rect">
            <a:avLst/>
          </a:prstGeom>
          <a:noFill/>
          <a:ln/>
        </p:spPr>
        <p:txBody>
          <a:bodyPr wrap="square" lIns="0" tIns="0" rIns="0" bIns="0" rtlCol="0" anchor="t"/>
          <a:lstStyle/>
          <a:p>
            <a:pPr algn="l" indent="0" marL="0">
              <a:lnSpc>
                <a:spcPts val="1155"/>
              </a:lnSpc>
              <a:buNone/>
            </a:pPr>
            <a:r>
              <a:rPr lang="en-US" sz="825" b="1" dirty="0">
                <a:solidFill>
                  <a:srgbClr val="F59E0B"/>
                </a:solidFill>
                <a:latin typeface="Arial" pitchFamily="34" charset="0"/>
                <a:ea typeface="Arial" pitchFamily="34" charset="-122"/>
                <a:cs typeface="Arial" pitchFamily="34" charset="-120"/>
              </a:rPr>
              <a:t>Requires subscription</a:t>
            </a:r>
            <a:endParaRPr lang="en-US" sz="825" dirty="0"/>
          </a:p>
        </p:txBody>
      </p:sp>
      <p:sp>
        <p:nvSpPr>
          <p:cNvPr id="20" name="Text 18"/>
          <p:cNvSpPr/>
          <p:nvPr/>
        </p:nvSpPr>
        <p:spPr>
          <a:xfrm>
            <a:off x="6045101" y="1462534"/>
            <a:ext cx="2641550" cy="3050828"/>
          </a:xfrm>
          <a:prstGeom prst="rect">
            <a:avLst/>
          </a:prstGeom>
          <a:solidFill>
            <a:srgbClr val="FFFFFF"/>
          </a:solidFill>
          <a:ln/>
        </p:spPr>
        <p:txBody>
          <a:bodyPr wrap="square" rtlCol="0" anchor="ctr"/>
          <a:lstStyle/>
          <a:p>
            <a:pPr indent="0" marL="0">
              <a:buNone/>
            </a:pPr>
            <a:endParaRPr lang="en-US" dirty="0"/>
          </a:p>
        </p:txBody>
      </p:sp>
      <p:sp>
        <p:nvSpPr>
          <p:cNvPr id="21" name="Shape 19"/>
          <p:cNvSpPr/>
          <p:nvPr/>
        </p:nvSpPr>
        <p:spPr>
          <a:xfrm>
            <a:off x="6064151" y="1462534"/>
            <a:ext cx="0" cy="3050828"/>
          </a:xfrm>
          <a:prstGeom prst="line">
            <a:avLst/>
          </a:prstGeom>
          <a:noFill/>
          <a:ln w="38100">
            <a:solidFill>
              <a:srgbClr val="C9A227"/>
            </a:solidFill>
            <a:prstDash val="solid"/>
          </a:ln>
        </p:spPr>
      </p:sp>
      <p:sp>
        <p:nvSpPr>
          <p:cNvPr id="22" name="Text 20"/>
          <p:cNvSpPr/>
          <p:nvPr/>
        </p:nvSpPr>
        <p:spPr>
          <a:xfrm>
            <a:off x="6273701" y="1653034"/>
            <a:ext cx="2266899" cy="213271"/>
          </a:xfrm>
          <a:prstGeom prst="rect">
            <a:avLst/>
          </a:prstGeom>
          <a:noFill/>
          <a:ln/>
        </p:spPr>
        <p:txBody>
          <a:bodyPr wrap="square" lIns="0" tIns="0" rIns="0" bIns="0" rtlCol="0" anchor="t"/>
          <a:lstStyle/>
          <a:p>
            <a:pPr algn="l" indent="0" marL="0">
              <a:lnSpc>
                <a:spcPts val="1680"/>
              </a:lnSpc>
              <a:spcAft>
                <a:spcPts val="600"/>
              </a:spcAft>
              <a:buNone/>
            </a:pPr>
            <a:r>
              <a:rPr lang="en-US" sz="1200" b="1" dirty="0">
                <a:solidFill>
                  <a:srgbClr val="1A1F2E"/>
                </a:solidFill>
                <a:latin typeface="Georgia" pitchFamily="34" charset="0"/>
                <a:ea typeface="Georgia" pitchFamily="34" charset="-122"/>
                <a:cs typeface="Georgia" pitchFamily="34" charset="-120"/>
              </a:rPr>
              <a:t>Cody (Sourcegraph)</a:t>
            </a:r>
            <a:endParaRPr lang="en-US" sz="1200" dirty="0"/>
          </a:p>
        </p:txBody>
      </p:sp>
      <p:sp>
        <p:nvSpPr>
          <p:cNvPr id="23" name="Text 21"/>
          <p:cNvSpPr/>
          <p:nvPr/>
        </p:nvSpPr>
        <p:spPr>
          <a:xfrm>
            <a:off x="6273701" y="2094905"/>
            <a:ext cx="2266899" cy="365522"/>
          </a:xfrm>
          <a:prstGeom prst="rect">
            <a:avLst/>
          </a:prstGeom>
          <a:noFill/>
          <a:ln/>
        </p:spPr>
        <p:txBody>
          <a:bodyPr wrap="square" lIns="0" tIns="0" rIns="0" bIns="0" rtlCol="0" anchor="t"/>
          <a:lstStyle/>
          <a:p>
            <a:pPr algn="l" indent="0" marL="0">
              <a:lnSpc>
                <a:spcPts val="1440"/>
              </a:lnSpc>
              <a:spcAft>
                <a:spcPts val="1200"/>
              </a:spcAft>
              <a:buNone/>
            </a:pPr>
            <a:r>
              <a:rPr lang="en-US" sz="900" dirty="0">
                <a:solidFill>
                  <a:srgbClr val="6B7280"/>
                </a:solidFill>
                <a:latin typeface="Arial" pitchFamily="34" charset="0"/>
                <a:ea typeface="Arial" pitchFamily="34" charset="-122"/>
                <a:cs typeface="Arial" pitchFamily="34" charset="-120"/>
              </a:rPr>
              <a:t>Enterprise-focused with advanced code search</a:t>
            </a:r>
            <a:endParaRPr lang="en-US" sz="900" dirty="0"/>
          </a:p>
        </p:txBody>
      </p:sp>
      <p:sp>
        <p:nvSpPr>
          <p:cNvPr id="24" name="Text 22"/>
          <p:cNvSpPr/>
          <p:nvPr/>
        </p:nvSpPr>
        <p:spPr>
          <a:xfrm>
            <a:off x="6273701" y="2765227"/>
            <a:ext cx="2222450" cy="1144339"/>
          </a:xfrm>
          <a:prstGeom prst="rect">
            <a:avLst/>
          </a:prstGeom>
          <a:solidFill>
            <a:srgbClr val="F7F8FA"/>
          </a:solidFill>
          <a:ln/>
        </p:spPr>
        <p:txBody>
          <a:bodyPr wrap="square" rtlCol="0" anchor="ctr"/>
          <a:lstStyle/>
          <a:p>
            <a:pPr indent="0" marL="0">
              <a:buNone/>
            </a:pPr>
            <a:endParaRPr lang="en-US" dirty="0"/>
          </a:p>
        </p:txBody>
      </p:sp>
      <p:sp>
        <p:nvSpPr>
          <p:cNvPr id="25" name="Text 23"/>
          <p:cNvSpPr/>
          <p:nvPr/>
        </p:nvSpPr>
        <p:spPr>
          <a:xfrm>
            <a:off x="6388001" y="2879527"/>
            <a:ext cx="2033727" cy="146596"/>
          </a:xfrm>
          <a:prstGeom prst="rect">
            <a:avLst/>
          </a:prstGeom>
          <a:noFill/>
          <a:ln/>
        </p:spPr>
        <p:txBody>
          <a:bodyPr wrap="square" lIns="0" tIns="0" rIns="0" bIns="0" rtlCol="0" anchor="t"/>
          <a:lstStyle/>
          <a:p>
            <a:pPr algn="l" indent="0" marL="0">
              <a:lnSpc>
                <a:spcPts val="1155"/>
              </a:lnSpc>
              <a:spcAft>
                <a:spcPts val="450"/>
              </a:spcAft>
              <a:buNone/>
            </a:pPr>
            <a:r>
              <a:rPr lang="en-US" sz="825" b="1" dirty="0">
                <a:solidFill>
                  <a:srgbClr val="1A1F2E"/>
                </a:solidFill>
                <a:latin typeface="Arial" pitchFamily="34" charset="0"/>
                <a:ea typeface="Arial" pitchFamily="34" charset="-122"/>
                <a:cs typeface="Arial" pitchFamily="34" charset="-120"/>
              </a:rPr>
              <a:t>Features</a:t>
            </a:r>
            <a:endParaRPr lang="en-US" sz="825" dirty="0"/>
          </a:p>
        </p:txBody>
      </p:sp>
      <p:sp>
        <p:nvSpPr>
          <p:cNvPr id="26" name="Text 24"/>
          <p:cNvSpPr/>
          <p:nvPr/>
        </p:nvSpPr>
        <p:spPr>
          <a:xfrm>
            <a:off x="6388001" y="3083272"/>
            <a:ext cx="2033727" cy="711994"/>
          </a:xfrm>
          <a:prstGeom prst="rect">
            <a:avLst/>
          </a:prstGeom>
          <a:noFill/>
          <a:ln/>
        </p:spPr>
        <p:txBody>
          <a:bodyPr wrap="square" lIns="0" tIns="0" rIns="0" bIns="0" rtlCol="0" anchor="t"/>
          <a:lstStyle/>
          <a:p>
            <a:pPr algn="l" indent="0" marL="0">
              <a:lnSpc>
                <a:spcPts val="1402"/>
              </a:lnSpc>
              <a:buNone/>
            </a:pPr>
            <a:r>
              <a:rPr lang="en-US" sz="825" dirty="0">
                <a:solidFill>
                  <a:srgbClr val="6B7280"/>
                </a:solidFill>
                <a:latin typeface="Arial" pitchFamily="34" charset="0"/>
                <a:ea typeface="Arial" pitchFamily="34" charset="-122"/>
                <a:cs typeface="Arial" pitchFamily="34" charset="-120"/>
              </a:rPr>
              <a:t>Codebase search</a:t>
            </a:r>
            <a:endParaRPr lang="en-US" sz="825" dirty="0"/>
          </a:p>
          <a:p>
            <a:pPr algn="l" indent="0" marL="0">
              <a:lnSpc>
                <a:spcPts val="1402"/>
              </a:lnSpc>
              <a:buNone/>
            </a:pPr>
            <a:r>
              <a:rPr lang="en-US" sz="825" dirty="0">
                <a:solidFill>
                  <a:srgbClr val="6B7280"/>
                </a:solidFill>
                <a:latin typeface="Arial" pitchFamily="34" charset="0"/>
                <a:ea typeface="Arial" pitchFamily="34" charset="-122"/>
                <a:cs typeface="Arial" pitchFamily="34" charset="-120"/>
              </a:rPr>
              <a:t>Context awareness</a:t>
            </a:r>
            <a:endParaRPr lang="en-US" sz="825" dirty="0"/>
          </a:p>
          <a:p>
            <a:pPr algn="l" indent="0" marL="0">
              <a:lnSpc>
                <a:spcPts val="1402"/>
              </a:lnSpc>
              <a:buNone/>
            </a:pPr>
            <a:r>
              <a:rPr lang="en-US" sz="825" dirty="0">
                <a:solidFill>
                  <a:srgbClr val="6B7280"/>
                </a:solidFill>
                <a:latin typeface="Arial" pitchFamily="34" charset="0"/>
                <a:ea typeface="Arial" pitchFamily="34" charset="-122"/>
                <a:cs typeface="Arial" pitchFamily="34" charset="-120"/>
              </a:rPr>
              <a:t>Multiple models</a:t>
            </a:r>
            <a:endParaRPr lang="en-US" sz="825" dirty="0"/>
          </a:p>
          <a:p>
            <a:pPr algn="l" indent="0" marL="0">
              <a:lnSpc>
                <a:spcPts val="1402"/>
              </a:lnSpc>
              <a:buNone/>
            </a:pPr>
            <a:r>
              <a:rPr lang="en-US" sz="825" dirty="0">
                <a:solidFill>
                  <a:srgbClr val="6B7280"/>
                </a:solidFill>
                <a:latin typeface="Arial" pitchFamily="34" charset="0"/>
                <a:ea typeface="Arial" pitchFamily="34" charset="-122"/>
                <a:cs typeface="Arial" pitchFamily="34" charset="-120"/>
              </a:rPr>
              <a:t>Self-hosted option</a:t>
            </a:r>
            <a:endParaRPr lang="en-US" sz="825" dirty="0"/>
          </a:p>
        </p:txBody>
      </p:sp>
      <p:sp>
        <p:nvSpPr>
          <p:cNvPr id="27" name="Text 25"/>
          <p:cNvSpPr/>
          <p:nvPr/>
        </p:nvSpPr>
        <p:spPr>
          <a:xfrm>
            <a:off x="6273701" y="4176266"/>
            <a:ext cx="2266899" cy="146596"/>
          </a:xfrm>
          <a:prstGeom prst="rect">
            <a:avLst/>
          </a:prstGeom>
          <a:noFill/>
          <a:ln/>
        </p:spPr>
        <p:txBody>
          <a:bodyPr wrap="square" lIns="0" tIns="0" rIns="0" bIns="0" rtlCol="0" anchor="t"/>
          <a:lstStyle/>
          <a:p>
            <a:pPr algn="l" indent="0" marL="0">
              <a:lnSpc>
                <a:spcPts val="1155"/>
              </a:lnSpc>
              <a:buNone/>
            </a:pPr>
            <a:r>
              <a:rPr lang="en-US" sz="825" b="1" dirty="0">
                <a:solidFill>
                  <a:srgbClr val="059669"/>
                </a:solidFill>
                <a:latin typeface="Arial" pitchFamily="34" charset="0"/>
                <a:ea typeface="Arial" pitchFamily="34" charset="-122"/>
                <a:cs typeface="Arial" pitchFamily="34" charset="-120"/>
              </a:rPr>
              <a:t>Free tier available</a:t>
            </a:r>
            <a:endParaRPr lang="en-US" sz="825"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A1F2E"/>
        </a:solidFill>
      </p:bgPr>
    </p:bg>
    <p:spTree>
      <p:nvGrpSpPr>
        <p:cNvPr id="1" name=""/>
        <p:cNvGrpSpPr/>
        <p:nvPr/>
      </p:nvGrpSpPr>
      <p:grpSpPr>
        <a:xfrm>
          <a:off x="0" y="0"/>
          <a:ext cx="0" cy="0"/>
          <a:chOff x="0" y="0"/>
          <a:chExt cx="0" cy="0"/>
        </a:xfrm>
      </p:grpSpPr>
      <p:sp>
        <p:nvSpPr>
          <p:cNvPr id="2" name="Text 0"/>
          <p:cNvSpPr/>
          <p:nvPr/>
        </p:nvSpPr>
        <p:spPr>
          <a:xfrm>
            <a:off x="381000" y="266700"/>
            <a:ext cx="8549640" cy="133350"/>
          </a:xfrm>
          <a:prstGeom prst="rect">
            <a:avLst/>
          </a:prstGeom>
          <a:noFill/>
          <a:ln/>
        </p:spPr>
        <p:txBody>
          <a:bodyPr wrap="square" lIns="0" tIns="0" rIns="0" bIns="0" rtlCol="0" anchor="t"/>
          <a:lstStyle/>
          <a:p>
            <a:pPr algn="l" indent="0" marL="0">
              <a:lnSpc>
                <a:spcPts val="1050"/>
              </a:lnSpc>
              <a:spcAft>
                <a:spcPts val="450"/>
              </a:spcAft>
              <a:buNone/>
            </a:pPr>
            <a:r>
              <a:rPr lang="en-US" sz="750" dirty="0">
                <a:solidFill>
                  <a:srgbClr val="C9A227"/>
                </a:solidFill>
                <a:latin typeface="Arial" pitchFamily="34" charset="0"/>
                <a:ea typeface="Arial" pitchFamily="34" charset="-122"/>
                <a:cs typeface="Arial" pitchFamily="34" charset="-120"/>
              </a:rPr>
              <a:t>ENTERPRISE COMPLIANCE</a:t>
            </a:r>
            <a:endParaRPr lang="en-US" sz="750" dirty="0"/>
          </a:p>
        </p:txBody>
      </p:sp>
      <p:sp>
        <p:nvSpPr>
          <p:cNvPr id="3" name="Text 1"/>
          <p:cNvSpPr/>
          <p:nvPr/>
        </p:nvSpPr>
        <p:spPr>
          <a:xfrm>
            <a:off x="381000" y="457200"/>
            <a:ext cx="4284536" cy="266700"/>
          </a:xfrm>
          <a:prstGeom prst="rect">
            <a:avLst/>
          </a:prstGeom>
          <a:noFill/>
          <a:ln/>
        </p:spPr>
        <p:txBody>
          <a:bodyPr wrap="square" lIns="0" tIns="0" rIns="0" bIns="0" rtlCol="0" anchor="t"/>
          <a:lstStyle/>
          <a:p>
            <a:pPr algn="l" indent="0" marL="0">
              <a:lnSpc>
                <a:spcPts val="2100"/>
              </a:lnSpc>
              <a:buNone/>
            </a:pPr>
            <a:r>
              <a:rPr lang="en-US" sz="2100" dirty="0">
                <a:solidFill>
                  <a:srgbClr val="FFFFFF"/>
                </a:solidFill>
                <a:latin typeface="Georgia" pitchFamily="34" charset="0"/>
                <a:ea typeface="Georgia" pitchFamily="34" charset="-122"/>
                <a:cs typeface="Georgia" pitchFamily="34" charset="-120"/>
              </a:rPr>
              <a:t>VS Code with Azure OpenAI</a:t>
            </a:r>
            <a:endParaRPr lang="en-US" sz="2100" dirty="0"/>
          </a:p>
        </p:txBody>
      </p:sp>
      <p:sp>
        <p:nvSpPr>
          <p:cNvPr id="4" name="Text 2"/>
          <p:cNvSpPr/>
          <p:nvPr/>
        </p:nvSpPr>
        <p:spPr>
          <a:xfrm>
            <a:off x="381000" y="781050"/>
            <a:ext cx="8549640" cy="159990"/>
          </a:xfrm>
          <a:prstGeom prst="rect">
            <a:avLst/>
          </a:prstGeom>
          <a:noFill/>
          <a:ln/>
        </p:spPr>
        <p:txBody>
          <a:bodyPr wrap="square" lIns="0" tIns="0" rIns="0" bIns="0" rtlCol="0" anchor="t"/>
          <a:lstStyle/>
          <a:p>
            <a:pPr algn="l" indent="0" marL="0">
              <a:lnSpc>
                <a:spcPts val="1260"/>
              </a:lnSpc>
              <a:spcBef>
                <a:spcPts val="450"/>
              </a:spcBef>
              <a:buNone/>
            </a:pPr>
            <a:r>
              <a:rPr lang="en-US" sz="900" dirty="0">
                <a:solidFill>
                  <a:srgbClr val="FFFFFF">
                    <a:alpha val="60000"/>
                  </a:srgbClr>
                </a:solidFill>
                <a:latin typeface="Arial" pitchFamily="34" charset="0"/>
                <a:ea typeface="Arial" pitchFamily="34" charset="-122"/>
                <a:cs typeface="Arial" pitchFamily="34" charset="-120"/>
              </a:rPr>
              <a:t>Configuring Continue.dev for government-compliant AI</a:t>
            </a:r>
            <a:endParaRPr lang="en-US" sz="900" dirty="0"/>
          </a:p>
        </p:txBody>
      </p:sp>
      <p:sp>
        <p:nvSpPr>
          <p:cNvPr id="5" name="Text 3"/>
          <p:cNvSpPr/>
          <p:nvPr/>
        </p:nvSpPr>
        <p:spPr>
          <a:xfrm>
            <a:off x="381000" y="1099245"/>
            <a:ext cx="4641205" cy="3752850"/>
          </a:xfrm>
          <a:prstGeom prst="rect">
            <a:avLst/>
          </a:prstGeom>
          <a:solidFill>
            <a:srgbClr val="252B3D"/>
          </a:solidFill>
          <a:ln/>
        </p:spPr>
        <p:txBody>
          <a:bodyPr wrap="square" rtlCol="0" anchor="ctr"/>
          <a:lstStyle/>
          <a:p>
            <a:pPr indent="0" marL="0">
              <a:buNone/>
            </a:pPr>
            <a:endParaRPr lang="en-US" dirty="0"/>
          </a:p>
        </p:txBody>
      </p:sp>
      <p:sp>
        <p:nvSpPr>
          <p:cNvPr id="6" name="Text 4"/>
          <p:cNvSpPr/>
          <p:nvPr/>
        </p:nvSpPr>
        <p:spPr>
          <a:xfrm>
            <a:off x="571500" y="1289745"/>
            <a:ext cx="4345409" cy="133350"/>
          </a:xfrm>
          <a:prstGeom prst="rect">
            <a:avLst/>
          </a:prstGeom>
          <a:noFill/>
          <a:ln/>
        </p:spPr>
        <p:txBody>
          <a:bodyPr wrap="square" lIns="0" tIns="0" rIns="0" bIns="0" rtlCol="0" anchor="t"/>
          <a:lstStyle/>
          <a:p>
            <a:pPr algn="l" indent="0" marL="0">
              <a:lnSpc>
                <a:spcPts val="1050"/>
              </a:lnSpc>
              <a:spcAft>
                <a:spcPts val="900"/>
              </a:spcAft>
              <a:buNone/>
            </a:pPr>
            <a:r>
              <a:rPr lang="en-US" sz="750" dirty="0">
                <a:solidFill>
                  <a:srgbClr val="C9A227"/>
                </a:solidFill>
                <a:latin typeface="Arial" pitchFamily="34" charset="0"/>
                <a:ea typeface="Arial" pitchFamily="34" charset="-122"/>
                <a:cs typeface="Arial" pitchFamily="34" charset="-120"/>
              </a:rPr>
              <a:t>CONFIG.JSON</a:t>
            </a:r>
            <a:endParaRPr lang="en-US" sz="750" dirty="0"/>
          </a:p>
        </p:txBody>
      </p:sp>
      <p:sp>
        <p:nvSpPr>
          <p:cNvPr id="7" name="Text 5"/>
          <p:cNvSpPr/>
          <p:nvPr/>
        </p:nvSpPr>
        <p:spPr>
          <a:xfrm>
            <a:off x="571500" y="1689795"/>
            <a:ext cx="4345409" cy="266700"/>
          </a:xfrm>
          <a:prstGeom prst="rect">
            <a:avLst/>
          </a:prstGeom>
          <a:noFill/>
          <a:ln/>
        </p:spPr>
        <p:txBody>
          <a:bodyPr wrap="square" lIns="0" tIns="0" rIns="0" bIns="0" rtlCol="0" anchor="t"/>
          <a:lstStyle/>
          <a:p>
            <a:pPr algn="l" indent="0" marL="0">
              <a:lnSpc>
                <a:spcPts val="2100"/>
              </a:lnSpc>
              <a:buNone/>
            </a:pPr>
            <a:r>
              <a:rPr lang="en-US" sz="1500" dirty="0">
                <a:solidFill>
                  <a:srgbClr val="6B7280"/>
                </a:solidFill>
                <a:latin typeface="Arial" pitchFamily="34" charset="0"/>
                <a:ea typeface="Arial" pitchFamily="34" charset="-122"/>
                <a:cs typeface="Arial" pitchFamily="34" charset="-120"/>
              </a:rPr>
              <a:t>// ~/.continue/config.json</a:t>
            </a:r>
            <a:endParaRPr lang="en-US" sz="1500" dirty="0"/>
          </a:p>
        </p:txBody>
      </p:sp>
      <p:sp>
        <p:nvSpPr>
          <p:cNvPr id="8" name="Text 6"/>
          <p:cNvSpPr/>
          <p:nvPr/>
        </p:nvSpPr>
        <p:spPr>
          <a:xfrm>
            <a:off x="571500" y="1994595"/>
            <a:ext cx="4345409" cy="266700"/>
          </a:xfrm>
          <a:prstGeom prst="rect">
            <a:avLst/>
          </a:prstGeom>
          <a:noFill/>
          <a:ln/>
        </p:spPr>
        <p:txBody>
          <a:bodyPr wrap="square" lIns="0" tIns="0" rIns="0" bIns="0" rtlCol="0" anchor="t"/>
          <a:lstStyle/>
          <a:p>
            <a:pPr algn="l" indent="0" marL="0">
              <a:lnSpc>
                <a:spcPts val="2100"/>
              </a:lnSpc>
              <a:spcBef>
                <a:spcPts val="300"/>
              </a:spcBef>
              <a:buNone/>
            </a:pPr>
            <a:r>
              <a:rPr lang="en-US" sz="1500" dirty="0">
                <a:solidFill>
                  <a:srgbClr val="FFFFFF">
                    <a:alpha val="90000"/>
                  </a:srgbClr>
                </a:solidFill>
                <a:latin typeface="Arial" pitchFamily="34" charset="0"/>
                <a:ea typeface="Arial" pitchFamily="34" charset="-122"/>
                <a:cs typeface="Arial" pitchFamily="34" charset="-120"/>
              </a:rPr>
              <a:t>{</a:t>
            </a:r>
            <a:endParaRPr lang="en-US" sz="1500" dirty="0"/>
          </a:p>
        </p:txBody>
      </p:sp>
      <p:sp>
        <p:nvSpPr>
          <p:cNvPr id="9" name="Text 7"/>
          <p:cNvSpPr/>
          <p:nvPr/>
        </p:nvSpPr>
        <p:spPr>
          <a:xfrm>
            <a:off x="571500" y="2261295"/>
            <a:ext cx="4345409" cy="266700"/>
          </a:xfrm>
          <a:prstGeom prst="rect">
            <a:avLst/>
          </a:prstGeom>
          <a:noFill/>
          <a:ln/>
        </p:spPr>
        <p:txBody>
          <a:bodyPr wrap="square" lIns="0" tIns="0" rIns="0" bIns="0" rtlCol="0" anchor="t"/>
          <a:lstStyle/>
          <a:p>
            <a:pPr algn="l" indent="0" marL="0">
              <a:lnSpc>
                <a:spcPts val="2100"/>
              </a:lnSpc>
              <a:buNone/>
            </a:pPr>
            <a:r>
              <a:rPr lang="en-US" sz="1500" dirty="0">
                <a:solidFill>
                  <a:srgbClr val="FFFFFF">
                    <a:alpha val="90000"/>
                  </a:srgbClr>
                </a:solidFill>
                <a:latin typeface="Arial" pitchFamily="34" charset="0"/>
                <a:ea typeface="Arial" pitchFamily="34" charset="-122"/>
                <a:cs typeface="Arial" pitchFamily="34" charset="-120"/>
              </a:rPr>
              <a:t>"models": [{</a:t>
            </a:r>
            <a:endParaRPr lang="en-US" sz="1500" dirty="0"/>
          </a:p>
        </p:txBody>
      </p:sp>
      <p:sp>
        <p:nvSpPr>
          <p:cNvPr id="10" name="Text 8"/>
          <p:cNvSpPr/>
          <p:nvPr/>
        </p:nvSpPr>
        <p:spPr>
          <a:xfrm>
            <a:off x="571500" y="2527995"/>
            <a:ext cx="4345409" cy="266700"/>
          </a:xfrm>
          <a:prstGeom prst="rect">
            <a:avLst/>
          </a:prstGeom>
          <a:noFill/>
          <a:ln/>
        </p:spPr>
        <p:txBody>
          <a:bodyPr wrap="square" lIns="0" tIns="0" rIns="0" bIns="0" rtlCol="0" anchor="t"/>
          <a:lstStyle/>
          <a:p>
            <a:pPr algn="l" indent="0" marL="0">
              <a:lnSpc>
                <a:spcPts val="2100"/>
              </a:lnSpc>
              <a:buNone/>
            </a:pPr>
            <a:r>
              <a:rPr lang="en-US" sz="1500" dirty="0">
                <a:solidFill>
                  <a:srgbClr val="C9A227"/>
                </a:solidFill>
                <a:latin typeface="Arial" pitchFamily="34" charset="0"/>
                <a:ea typeface="Arial" pitchFamily="34" charset="-122"/>
                <a:cs typeface="Arial" pitchFamily="34" charset="-120"/>
              </a:rPr>
              <a:t>"provider": "azure",</a:t>
            </a:r>
            <a:endParaRPr lang="en-US" sz="1500" dirty="0"/>
          </a:p>
        </p:txBody>
      </p:sp>
      <p:sp>
        <p:nvSpPr>
          <p:cNvPr id="11" name="Text 9"/>
          <p:cNvSpPr/>
          <p:nvPr/>
        </p:nvSpPr>
        <p:spPr>
          <a:xfrm>
            <a:off x="571500" y="2794695"/>
            <a:ext cx="4345409" cy="266700"/>
          </a:xfrm>
          <a:prstGeom prst="rect">
            <a:avLst/>
          </a:prstGeom>
          <a:noFill/>
          <a:ln/>
        </p:spPr>
        <p:txBody>
          <a:bodyPr wrap="square" lIns="0" tIns="0" rIns="0" bIns="0" rtlCol="0" anchor="t"/>
          <a:lstStyle/>
          <a:p>
            <a:pPr algn="l" indent="0" marL="0">
              <a:lnSpc>
                <a:spcPts val="2100"/>
              </a:lnSpc>
              <a:buNone/>
            </a:pPr>
            <a:r>
              <a:rPr lang="en-US" sz="1500" dirty="0">
                <a:solidFill>
                  <a:srgbClr val="C9A227"/>
                </a:solidFill>
                <a:latin typeface="Arial" pitchFamily="34" charset="0"/>
                <a:ea typeface="Arial" pitchFamily="34" charset="-122"/>
                <a:cs typeface="Arial" pitchFamily="34" charset="-120"/>
              </a:rPr>
              <a:t>"model": "gpt-4",</a:t>
            </a:r>
            <a:endParaRPr lang="en-US" sz="1500" dirty="0"/>
          </a:p>
        </p:txBody>
      </p:sp>
      <p:sp>
        <p:nvSpPr>
          <p:cNvPr id="12" name="Text 10"/>
          <p:cNvSpPr/>
          <p:nvPr/>
        </p:nvSpPr>
        <p:spPr>
          <a:xfrm>
            <a:off x="571500" y="3061395"/>
            <a:ext cx="4345409" cy="266700"/>
          </a:xfrm>
          <a:prstGeom prst="rect">
            <a:avLst/>
          </a:prstGeom>
          <a:noFill/>
          <a:ln/>
        </p:spPr>
        <p:txBody>
          <a:bodyPr wrap="square" lIns="0" tIns="0" rIns="0" bIns="0" rtlCol="0" anchor="t"/>
          <a:lstStyle/>
          <a:p>
            <a:pPr algn="l" indent="0" marL="0">
              <a:lnSpc>
                <a:spcPts val="2100"/>
              </a:lnSpc>
              <a:buNone/>
            </a:pPr>
            <a:r>
              <a:rPr lang="en-US" sz="1500" dirty="0">
                <a:solidFill>
                  <a:srgbClr val="FFFFFF">
                    <a:alpha val="90000"/>
                  </a:srgbClr>
                </a:solidFill>
                <a:latin typeface="Arial" pitchFamily="34" charset="0"/>
                <a:ea typeface="Arial" pitchFamily="34" charset="-122"/>
                <a:cs typeface="Arial" pitchFamily="34" charset="-120"/>
              </a:rPr>
              <a:t>"apiBase": "https://your-</a:t>
            </a:r>
            <a:endParaRPr lang="en-US" sz="1500" dirty="0"/>
          </a:p>
        </p:txBody>
      </p:sp>
      <p:sp>
        <p:nvSpPr>
          <p:cNvPr id="13" name="Text 11"/>
          <p:cNvSpPr/>
          <p:nvPr/>
        </p:nvSpPr>
        <p:spPr>
          <a:xfrm>
            <a:off x="571500" y="3328095"/>
            <a:ext cx="4345409" cy="266700"/>
          </a:xfrm>
          <a:prstGeom prst="rect">
            <a:avLst/>
          </a:prstGeom>
          <a:noFill/>
          <a:ln/>
        </p:spPr>
        <p:txBody>
          <a:bodyPr wrap="square" lIns="0" tIns="0" rIns="0" bIns="0" rtlCol="0" anchor="t"/>
          <a:lstStyle/>
          <a:p>
            <a:pPr algn="l" indent="0" marL="0">
              <a:lnSpc>
                <a:spcPts val="2100"/>
              </a:lnSpc>
              <a:buNone/>
            </a:pPr>
            <a:r>
              <a:rPr lang="en-US" sz="1500" dirty="0">
                <a:solidFill>
                  <a:srgbClr val="FFFFFF">
                    <a:alpha val="90000"/>
                  </a:srgbClr>
                </a:solidFill>
                <a:latin typeface="Arial" pitchFamily="34" charset="0"/>
                <a:ea typeface="Arial" pitchFamily="34" charset="-122"/>
                <a:cs typeface="Arial" pitchFamily="34" charset="-120"/>
              </a:rPr>
              <a:t>resource.openai.azure.com",</a:t>
            </a:r>
            <a:endParaRPr lang="en-US" sz="1500" dirty="0"/>
          </a:p>
        </p:txBody>
      </p:sp>
      <p:sp>
        <p:nvSpPr>
          <p:cNvPr id="14" name="Text 12"/>
          <p:cNvSpPr/>
          <p:nvPr/>
        </p:nvSpPr>
        <p:spPr>
          <a:xfrm>
            <a:off x="571500" y="3594795"/>
            <a:ext cx="4345409" cy="266700"/>
          </a:xfrm>
          <a:prstGeom prst="rect">
            <a:avLst/>
          </a:prstGeom>
          <a:noFill/>
          <a:ln/>
        </p:spPr>
        <p:txBody>
          <a:bodyPr wrap="square" lIns="0" tIns="0" rIns="0" bIns="0" rtlCol="0" anchor="t"/>
          <a:lstStyle/>
          <a:p>
            <a:pPr algn="l" indent="0" marL="0">
              <a:lnSpc>
                <a:spcPts val="2100"/>
              </a:lnSpc>
              <a:buNone/>
            </a:pPr>
            <a:r>
              <a:rPr lang="en-US" sz="1500" dirty="0">
                <a:solidFill>
                  <a:srgbClr val="FFFFFF">
                    <a:alpha val="90000"/>
                  </a:srgbClr>
                </a:solidFill>
                <a:latin typeface="Arial" pitchFamily="34" charset="0"/>
                <a:ea typeface="Arial" pitchFamily="34" charset="-122"/>
                <a:cs typeface="Arial" pitchFamily="34" charset="-120"/>
              </a:rPr>
              <a:t>"deployment": "your-deploy",</a:t>
            </a:r>
            <a:endParaRPr lang="en-US" sz="1500" dirty="0"/>
          </a:p>
        </p:txBody>
      </p:sp>
      <p:sp>
        <p:nvSpPr>
          <p:cNvPr id="15" name="Text 13"/>
          <p:cNvSpPr/>
          <p:nvPr/>
        </p:nvSpPr>
        <p:spPr>
          <a:xfrm>
            <a:off x="571500" y="3861495"/>
            <a:ext cx="4345409" cy="266700"/>
          </a:xfrm>
          <a:prstGeom prst="rect">
            <a:avLst/>
          </a:prstGeom>
          <a:noFill/>
          <a:ln/>
        </p:spPr>
        <p:txBody>
          <a:bodyPr wrap="square" lIns="0" tIns="0" rIns="0" bIns="0" rtlCol="0" anchor="t"/>
          <a:lstStyle/>
          <a:p>
            <a:pPr algn="l" indent="0" marL="0">
              <a:lnSpc>
                <a:spcPts val="2100"/>
              </a:lnSpc>
              <a:buNone/>
            </a:pPr>
            <a:r>
              <a:rPr lang="en-US" sz="1500" dirty="0">
                <a:solidFill>
                  <a:srgbClr val="FFFFFF">
                    <a:alpha val="90000"/>
                  </a:srgbClr>
                </a:solidFill>
                <a:latin typeface="Arial" pitchFamily="34" charset="0"/>
                <a:ea typeface="Arial" pitchFamily="34" charset="-122"/>
                <a:cs typeface="Arial" pitchFamily="34" charset="-120"/>
              </a:rPr>
              <a:t>"apiVersion": "2024-02-15"</a:t>
            </a:r>
            <a:endParaRPr lang="en-US" sz="1500" dirty="0"/>
          </a:p>
        </p:txBody>
      </p:sp>
      <p:sp>
        <p:nvSpPr>
          <p:cNvPr id="16" name="Text 14"/>
          <p:cNvSpPr/>
          <p:nvPr/>
        </p:nvSpPr>
        <p:spPr>
          <a:xfrm>
            <a:off x="571500" y="4128195"/>
            <a:ext cx="4345409" cy="266700"/>
          </a:xfrm>
          <a:prstGeom prst="rect">
            <a:avLst/>
          </a:prstGeom>
          <a:noFill/>
          <a:ln/>
        </p:spPr>
        <p:txBody>
          <a:bodyPr wrap="square" lIns="0" tIns="0" rIns="0" bIns="0" rtlCol="0" anchor="t"/>
          <a:lstStyle/>
          <a:p>
            <a:pPr algn="l" indent="0" marL="0">
              <a:lnSpc>
                <a:spcPts val="2100"/>
              </a:lnSpc>
              <a:buNone/>
            </a:pPr>
            <a:r>
              <a:rPr lang="en-US" sz="1500" dirty="0">
                <a:solidFill>
                  <a:srgbClr val="FFFFFF">
                    <a:alpha val="90000"/>
                  </a:srgbClr>
                </a:solidFill>
                <a:latin typeface="Arial" pitchFamily="34" charset="0"/>
                <a:ea typeface="Arial" pitchFamily="34" charset="-122"/>
                <a:cs typeface="Arial" pitchFamily="34" charset="-120"/>
              </a:rPr>
              <a:t>}]</a:t>
            </a:r>
            <a:endParaRPr lang="en-US" sz="1500" dirty="0"/>
          </a:p>
        </p:txBody>
      </p:sp>
      <p:sp>
        <p:nvSpPr>
          <p:cNvPr id="17" name="Text 15"/>
          <p:cNvSpPr/>
          <p:nvPr/>
        </p:nvSpPr>
        <p:spPr>
          <a:xfrm>
            <a:off x="571500" y="4394895"/>
            <a:ext cx="4345409" cy="266700"/>
          </a:xfrm>
          <a:prstGeom prst="rect">
            <a:avLst/>
          </a:prstGeom>
          <a:noFill/>
          <a:ln/>
        </p:spPr>
        <p:txBody>
          <a:bodyPr wrap="square" lIns="0" tIns="0" rIns="0" bIns="0" rtlCol="0" anchor="t"/>
          <a:lstStyle/>
          <a:p>
            <a:pPr algn="l" indent="0" marL="0">
              <a:lnSpc>
                <a:spcPts val="2100"/>
              </a:lnSpc>
              <a:buNone/>
            </a:pPr>
            <a:r>
              <a:rPr lang="en-US" sz="1500" dirty="0">
                <a:solidFill>
                  <a:srgbClr val="FFFFFF">
                    <a:alpha val="90000"/>
                  </a:srgbClr>
                </a:solidFill>
                <a:latin typeface="Arial" pitchFamily="34" charset="0"/>
                <a:ea typeface="Arial" pitchFamily="34" charset="-122"/>
                <a:cs typeface="Arial" pitchFamily="34" charset="-120"/>
              </a:rPr>
              <a:t>}</a:t>
            </a:r>
            <a:endParaRPr lang="en-US" sz="1500" dirty="0"/>
          </a:p>
        </p:txBody>
      </p:sp>
      <p:sp>
        <p:nvSpPr>
          <p:cNvPr id="18" name="Text 16"/>
          <p:cNvSpPr/>
          <p:nvPr/>
        </p:nvSpPr>
        <p:spPr>
          <a:xfrm>
            <a:off x="5212705" y="1441252"/>
            <a:ext cx="3550295" cy="737146"/>
          </a:xfrm>
          <a:prstGeom prst="rect">
            <a:avLst/>
          </a:prstGeom>
          <a:solidFill>
            <a:srgbClr val="059669"/>
          </a:solidFill>
          <a:ln/>
        </p:spPr>
        <p:txBody>
          <a:bodyPr wrap="square" rtlCol="0" anchor="ctr"/>
          <a:lstStyle/>
          <a:p>
            <a:pPr indent="0" marL="0">
              <a:buNone/>
            </a:pPr>
            <a:endParaRPr lang="en-US" dirty="0"/>
          </a:p>
        </p:txBody>
      </p:sp>
      <p:sp>
        <p:nvSpPr>
          <p:cNvPr id="19" name="Text 17"/>
          <p:cNvSpPr/>
          <p:nvPr/>
        </p:nvSpPr>
        <p:spPr>
          <a:xfrm>
            <a:off x="5346055" y="1574602"/>
            <a:ext cx="3349267" cy="146596"/>
          </a:xfrm>
          <a:prstGeom prst="rect">
            <a:avLst/>
          </a:prstGeom>
          <a:noFill/>
          <a:ln/>
        </p:spPr>
        <p:txBody>
          <a:bodyPr wrap="square" lIns="0" tIns="0" rIns="0" bIns="0" rtlCol="0" anchor="t"/>
          <a:lstStyle/>
          <a:p>
            <a:pPr algn="l" indent="0" marL="0">
              <a:lnSpc>
                <a:spcPts val="1155"/>
              </a:lnSpc>
              <a:spcAft>
                <a:spcPts val="300"/>
              </a:spcAft>
              <a:buNone/>
            </a:pPr>
            <a:r>
              <a:rPr lang="en-US" sz="825" b="1" dirty="0">
                <a:solidFill>
                  <a:srgbClr val="FFFFFF"/>
                </a:solidFill>
                <a:latin typeface="Arial" pitchFamily="34" charset="0"/>
                <a:ea typeface="Arial" pitchFamily="34" charset="-122"/>
                <a:cs typeface="Arial" pitchFamily="34" charset="-120"/>
              </a:rPr>
              <a:t>Why This Matters</a:t>
            </a:r>
            <a:endParaRPr lang="en-US" sz="825" dirty="0"/>
          </a:p>
        </p:txBody>
      </p:sp>
      <p:sp>
        <p:nvSpPr>
          <p:cNvPr id="20" name="Text 18"/>
          <p:cNvSpPr/>
          <p:nvPr/>
        </p:nvSpPr>
        <p:spPr>
          <a:xfrm>
            <a:off x="5346055" y="1759297"/>
            <a:ext cx="3349267" cy="285750"/>
          </a:xfrm>
          <a:prstGeom prst="rect">
            <a:avLst/>
          </a:prstGeom>
          <a:noFill/>
          <a:ln/>
        </p:spPr>
        <p:txBody>
          <a:bodyPr wrap="square" lIns="0" tIns="0" rIns="0" bIns="0" rtlCol="0" anchor="t"/>
          <a:lstStyle/>
          <a:p>
            <a:pPr algn="l" indent="0" marL="0">
              <a:lnSpc>
                <a:spcPts val="1125"/>
              </a:lnSpc>
              <a:buNone/>
            </a:pPr>
            <a:r>
              <a:rPr lang="en-US" sz="750" dirty="0">
                <a:solidFill>
                  <a:srgbClr val="FFFFFF">
                    <a:alpha val="90000"/>
                  </a:srgbClr>
                </a:solidFill>
                <a:latin typeface="Arial" pitchFamily="34" charset="0"/>
                <a:ea typeface="Arial" pitchFamily="34" charset="-122"/>
                <a:cs typeface="Arial" pitchFamily="34" charset="-120"/>
              </a:rPr>
              <a:t>Your code stays in your Azure tenant. FedRAMP compliant. Data not used for training.</a:t>
            </a:r>
            <a:endParaRPr lang="en-US" sz="750" dirty="0"/>
          </a:p>
        </p:txBody>
      </p:sp>
      <p:sp>
        <p:nvSpPr>
          <p:cNvPr id="21" name="Text 19"/>
          <p:cNvSpPr/>
          <p:nvPr/>
        </p:nvSpPr>
        <p:spPr>
          <a:xfrm>
            <a:off x="5212705" y="2273647"/>
            <a:ext cx="3550295" cy="1080046"/>
          </a:xfrm>
          <a:prstGeom prst="rect">
            <a:avLst/>
          </a:prstGeom>
          <a:solidFill>
            <a:srgbClr val="252B3D"/>
          </a:solidFill>
          <a:ln/>
        </p:spPr>
        <p:txBody>
          <a:bodyPr wrap="square" rtlCol="0" anchor="ctr"/>
          <a:lstStyle/>
          <a:p>
            <a:pPr indent="0" marL="0">
              <a:buNone/>
            </a:pPr>
            <a:endParaRPr lang="en-US" dirty="0"/>
          </a:p>
        </p:txBody>
      </p:sp>
      <p:sp>
        <p:nvSpPr>
          <p:cNvPr id="22" name="Text 20"/>
          <p:cNvSpPr/>
          <p:nvPr/>
        </p:nvSpPr>
        <p:spPr>
          <a:xfrm>
            <a:off x="5346055" y="2406997"/>
            <a:ext cx="3349267" cy="146596"/>
          </a:xfrm>
          <a:prstGeom prst="rect">
            <a:avLst/>
          </a:prstGeom>
          <a:noFill/>
          <a:ln/>
        </p:spPr>
        <p:txBody>
          <a:bodyPr wrap="square" lIns="0" tIns="0" rIns="0" bIns="0" rtlCol="0" anchor="t"/>
          <a:lstStyle/>
          <a:p>
            <a:pPr algn="l" indent="0" marL="0">
              <a:lnSpc>
                <a:spcPts val="1155"/>
              </a:lnSpc>
              <a:spcAft>
                <a:spcPts val="450"/>
              </a:spcAft>
              <a:buNone/>
            </a:pPr>
            <a:r>
              <a:rPr lang="en-US" sz="825" b="1" dirty="0">
                <a:solidFill>
                  <a:srgbClr val="C9A227"/>
                </a:solidFill>
                <a:latin typeface="Arial" pitchFamily="34" charset="0"/>
                <a:ea typeface="Arial" pitchFamily="34" charset="-122"/>
                <a:cs typeface="Arial" pitchFamily="34" charset="-120"/>
              </a:rPr>
              <a:t>Requirements</a:t>
            </a:r>
            <a:endParaRPr lang="en-US" sz="825" dirty="0"/>
          </a:p>
        </p:txBody>
      </p:sp>
      <p:sp>
        <p:nvSpPr>
          <p:cNvPr id="23" name="Text 21"/>
          <p:cNvSpPr/>
          <p:nvPr/>
        </p:nvSpPr>
        <p:spPr>
          <a:xfrm>
            <a:off x="5346055" y="2610743"/>
            <a:ext cx="3349267" cy="609600"/>
          </a:xfrm>
          <a:prstGeom prst="rect">
            <a:avLst/>
          </a:prstGeom>
          <a:noFill/>
          <a:ln/>
        </p:spPr>
        <p:txBody>
          <a:bodyPr wrap="square" lIns="0" tIns="0" rIns="0" bIns="0" rtlCol="0" anchor="t"/>
          <a:lstStyle/>
          <a:p>
            <a:pPr algn="l" indent="0" marL="0">
              <a:lnSpc>
                <a:spcPts val="1200"/>
              </a:lnSpc>
              <a:buNone/>
            </a:pPr>
            <a:r>
              <a:rPr lang="en-US" sz="750" dirty="0">
                <a:solidFill>
                  <a:srgbClr val="FFFFFF">
                    <a:alpha val="70000"/>
                  </a:srgbClr>
                </a:solidFill>
                <a:latin typeface="Arial" pitchFamily="34" charset="0"/>
                <a:ea typeface="Arial" pitchFamily="34" charset="-122"/>
                <a:cs typeface="Arial" pitchFamily="34" charset="-120"/>
              </a:rPr>
              <a:t>1. Azure OpenAI access approved</a:t>
            </a:r>
            <a:endParaRPr lang="en-US" sz="750" dirty="0"/>
          </a:p>
          <a:p>
            <a:pPr algn="l" indent="0" marL="0">
              <a:lnSpc>
                <a:spcPts val="1200"/>
              </a:lnSpc>
              <a:buNone/>
            </a:pPr>
            <a:r>
              <a:rPr lang="en-US" sz="750" dirty="0">
                <a:solidFill>
                  <a:srgbClr val="FFFFFF">
                    <a:alpha val="70000"/>
                  </a:srgbClr>
                </a:solidFill>
                <a:latin typeface="Arial" pitchFamily="34" charset="0"/>
                <a:ea typeface="Arial" pitchFamily="34" charset="-122"/>
                <a:cs typeface="Arial" pitchFamily="34" charset="-120"/>
              </a:rPr>
              <a:t>2. GPT-4 deployment created</a:t>
            </a:r>
            <a:endParaRPr lang="en-US" sz="750" dirty="0"/>
          </a:p>
          <a:p>
            <a:pPr algn="l" indent="0" marL="0">
              <a:lnSpc>
                <a:spcPts val="1200"/>
              </a:lnSpc>
              <a:buNone/>
            </a:pPr>
            <a:r>
              <a:rPr lang="en-US" sz="750" dirty="0">
                <a:solidFill>
                  <a:srgbClr val="FFFFFF">
                    <a:alpha val="70000"/>
                  </a:srgbClr>
                </a:solidFill>
                <a:latin typeface="Arial" pitchFamily="34" charset="0"/>
                <a:ea typeface="Arial" pitchFamily="34" charset="-122"/>
                <a:cs typeface="Arial" pitchFamily="34" charset="-120"/>
              </a:rPr>
              <a:t>3. API key from Azure Portal</a:t>
            </a:r>
            <a:endParaRPr lang="en-US" sz="750" dirty="0"/>
          </a:p>
          <a:p>
            <a:pPr algn="l" indent="0" marL="0">
              <a:lnSpc>
                <a:spcPts val="1200"/>
              </a:lnSpc>
              <a:buNone/>
            </a:pPr>
            <a:r>
              <a:rPr lang="en-US" sz="750" dirty="0">
                <a:solidFill>
                  <a:srgbClr val="FFFFFF">
                    <a:alpha val="70000"/>
                  </a:srgbClr>
                </a:solidFill>
                <a:latin typeface="Arial" pitchFamily="34" charset="0"/>
                <a:ea typeface="Arial" pitchFamily="34" charset="-122"/>
                <a:cs typeface="Arial" pitchFamily="34" charset="-120"/>
              </a:rPr>
              <a:t>4. Continue.dev extension installed</a:t>
            </a:r>
            <a:endParaRPr lang="en-US" sz="750" dirty="0"/>
          </a:p>
        </p:txBody>
      </p:sp>
      <p:sp>
        <p:nvSpPr>
          <p:cNvPr id="24" name="Text 22"/>
          <p:cNvSpPr/>
          <p:nvPr/>
        </p:nvSpPr>
        <p:spPr>
          <a:xfrm>
            <a:off x="5212705" y="3448943"/>
            <a:ext cx="3550295" cy="603796"/>
          </a:xfrm>
          <a:prstGeom prst="rect">
            <a:avLst/>
          </a:prstGeom>
          <a:solidFill>
            <a:srgbClr val="252B3D"/>
          </a:solidFill>
          <a:ln/>
        </p:spPr>
        <p:txBody>
          <a:bodyPr wrap="square" rtlCol="0" anchor="ctr"/>
          <a:lstStyle/>
          <a:p>
            <a:pPr indent="0" marL="0">
              <a:buNone/>
            </a:pPr>
            <a:endParaRPr lang="en-US" dirty="0"/>
          </a:p>
        </p:txBody>
      </p:sp>
      <p:sp>
        <p:nvSpPr>
          <p:cNvPr id="25" name="Text 23"/>
          <p:cNvSpPr/>
          <p:nvPr/>
        </p:nvSpPr>
        <p:spPr>
          <a:xfrm>
            <a:off x="5346055" y="3582293"/>
            <a:ext cx="3349267" cy="146596"/>
          </a:xfrm>
          <a:prstGeom prst="rect">
            <a:avLst/>
          </a:prstGeom>
          <a:noFill/>
          <a:ln/>
        </p:spPr>
        <p:txBody>
          <a:bodyPr wrap="square" lIns="0" tIns="0" rIns="0" bIns="0" rtlCol="0" anchor="t"/>
          <a:lstStyle/>
          <a:p>
            <a:pPr algn="l" indent="0" marL="0">
              <a:lnSpc>
                <a:spcPts val="1155"/>
              </a:lnSpc>
              <a:spcAft>
                <a:spcPts val="450"/>
              </a:spcAft>
              <a:buNone/>
            </a:pPr>
            <a:r>
              <a:rPr lang="en-US" sz="825" b="1" dirty="0">
                <a:solidFill>
                  <a:srgbClr val="C9A227"/>
                </a:solidFill>
                <a:latin typeface="Arial" pitchFamily="34" charset="0"/>
                <a:ea typeface="Arial" pitchFamily="34" charset="-122"/>
                <a:cs typeface="Arial" pitchFamily="34" charset="-120"/>
              </a:rPr>
              <a:t>Environment Variable</a:t>
            </a:r>
            <a:endParaRPr lang="en-US" sz="825" dirty="0"/>
          </a:p>
        </p:txBody>
      </p:sp>
      <p:sp>
        <p:nvSpPr>
          <p:cNvPr id="26" name="Text 24"/>
          <p:cNvSpPr/>
          <p:nvPr/>
        </p:nvSpPr>
        <p:spPr>
          <a:xfrm>
            <a:off x="5346055" y="3786039"/>
            <a:ext cx="3349267" cy="133350"/>
          </a:xfrm>
          <a:prstGeom prst="rect">
            <a:avLst/>
          </a:prstGeom>
          <a:noFill/>
          <a:ln/>
        </p:spPr>
        <p:txBody>
          <a:bodyPr wrap="square" lIns="0" tIns="0" rIns="0" bIns="0" rtlCol="0" anchor="t"/>
          <a:lstStyle/>
          <a:p>
            <a:pPr algn="l" indent="0" marL="0">
              <a:lnSpc>
                <a:spcPts val="1050"/>
              </a:lnSpc>
              <a:buNone/>
            </a:pPr>
            <a:r>
              <a:rPr lang="en-US" sz="750" dirty="0">
                <a:solidFill>
                  <a:srgbClr val="FFFFFF">
                    <a:alpha val="70000"/>
                  </a:srgbClr>
                </a:solidFill>
                <a:latin typeface="monospace" pitchFamily="34" charset="0"/>
                <a:ea typeface="monospace" pitchFamily="34" charset="-122"/>
                <a:cs typeface="monospace" pitchFamily="34" charset="-120"/>
              </a:rPr>
              <a:t>AZURE_OPENAI_API_KEY=your-key</a:t>
            </a:r>
            <a:endParaRPr lang="en-US" sz="750" dirty="0"/>
          </a:p>
        </p:txBody>
      </p:sp>
      <p:sp>
        <p:nvSpPr>
          <p:cNvPr id="27" name="Text 25"/>
          <p:cNvSpPr/>
          <p:nvPr/>
        </p:nvSpPr>
        <p:spPr>
          <a:xfrm>
            <a:off x="5212705" y="4147989"/>
            <a:ext cx="3550295" cy="361950"/>
          </a:xfrm>
          <a:prstGeom prst="rect">
            <a:avLst/>
          </a:prstGeom>
          <a:solidFill>
            <a:srgbClr val="FEF3C7"/>
          </a:solidFill>
          <a:ln/>
        </p:spPr>
        <p:txBody>
          <a:bodyPr wrap="square" rtlCol="0" anchor="ctr"/>
          <a:lstStyle/>
          <a:p>
            <a:pPr indent="0" marL="0">
              <a:buNone/>
            </a:pPr>
            <a:endParaRPr lang="en-US" dirty="0"/>
          </a:p>
        </p:txBody>
      </p:sp>
      <p:sp>
        <p:nvSpPr>
          <p:cNvPr id="28" name="Text 26"/>
          <p:cNvSpPr/>
          <p:nvPr/>
        </p:nvSpPr>
        <p:spPr>
          <a:xfrm>
            <a:off x="5327005" y="4262289"/>
            <a:ext cx="3388129" cy="133350"/>
          </a:xfrm>
          <a:prstGeom prst="rect">
            <a:avLst/>
          </a:prstGeom>
          <a:noFill/>
          <a:ln/>
        </p:spPr>
        <p:txBody>
          <a:bodyPr wrap="square" lIns="0" tIns="0" rIns="0" bIns="0" rtlCol="0" anchor="t"/>
          <a:lstStyle/>
          <a:p>
            <a:pPr algn="l" indent="0" marL="0">
              <a:lnSpc>
                <a:spcPts val="1050"/>
              </a:lnSpc>
              <a:buNone/>
            </a:pPr>
            <a:r>
              <a:rPr lang="en-US" sz="750" b="1" dirty="0">
                <a:solidFill>
                  <a:srgbClr val="92400E"/>
                </a:solidFill>
                <a:latin typeface="Arial" pitchFamily="34" charset="0"/>
                <a:ea typeface="Arial" pitchFamily="34" charset="-122"/>
                <a:cs typeface="Arial" pitchFamily="34" charset="-120"/>
              </a:rPr>
              <a:t>Note:</a:t>
            </a:r>
            <a:pPr algn="l" indent="0" marL="0">
              <a:lnSpc>
                <a:spcPts val="1050"/>
              </a:lnSpc>
              <a:buNone/>
            </a:pPr>
            <a:r>
              <a:rPr lang="en-US" sz="750" dirty="0">
                <a:solidFill>
                  <a:srgbClr val="92400E"/>
                </a:solidFill>
                <a:latin typeface="Arial" pitchFamily="34" charset="0"/>
                <a:ea typeface="Arial" pitchFamily="34" charset="-122"/>
                <a:cs typeface="Arial" pitchFamily="34" charset="-120"/>
              </a:rPr>
              <a:t> Keep API keys secure - use env vars, not config files</a:t>
            </a:r>
            <a:endParaRPr lang="en-US" sz="7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4944070" cy="5143500"/>
          </a:xfrm>
          <a:prstGeom prst="rect">
            <a:avLst/>
          </a:prstGeom>
          <a:solidFill>
            <a:srgbClr val="F7F8FA"/>
          </a:solidFill>
          <a:ln/>
        </p:spPr>
        <p:txBody>
          <a:bodyPr wrap="square" rtlCol="0" anchor="ctr"/>
          <a:lstStyle/>
          <a:p>
            <a:pPr indent="0" marL="0">
              <a:buNone/>
            </a:pPr>
            <a:endParaRPr lang="en-US" dirty="0"/>
          </a:p>
        </p:txBody>
      </p:sp>
      <p:sp>
        <p:nvSpPr>
          <p:cNvPr id="3" name="Text 1"/>
          <p:cNvSpPr/>
          <p:nvPr/>
        </p:nvSpPr>
        <p:spPr>
          <a:xfrm>
            <a:off x="342900" y="380256"/>
            <a:ext cx="1326469" cy="133350"/>
          </a:xfrm>
          <a:prstGeom prst="rect">
            <a:avLst/>
          </a:prstGeom>
          <a:noFill/>
          <a:ln/>
        </p:spPr>
        <p:txBody>
          <a:bodyPr wrap="square" lIns="0" tIns="0" rIns="0" bIns="0" rtlCol="0" anchor="t"/>
          <a:lstStyle/>
          <a:p>
            <a:pPr algn="l" indent="0" marL="0">
              <a:lnSpc>
                <a:spcPts val="1050"/>
              </a:lnSpc>
              <a:buNone/>
            </a:pPr>
            <a:r>
              <a:rPr lang="en-US" sz="750" dirty="0">
                <a:solidFill>
                  <a:srgbClr val="C9A227"/>
                </a:solidFill>
                <a:latin typeface="Arial" pitchFamily="34" charset="0"/>
                <a:ea typeface="Arial" pitchFamily="34" charset="-122"/>
                <a:cs typeface="Arial" pitchFamily="34" charset="-120"/>
              </a:rPr>
              <a:t>AI-NATIVE EDITOR</a:t>
            </a:r>
            <a:endParaRPr lang="en-US" sz="750" dirty="0"/>
          </a:p>
        </p:txBody>
      </p:sp>
      <p:sp>
        <p:nvSpPr>
          <p:cNvPr id="4" name="Text 2"/>
          <p:cNvSpPr/>
          <p:nvPr/>
        </p:nvSpPr>
        <p:spPr>
          <a:xfrm>
            <a:off x="342900" y="723156"/>
            <a:ext cx="2176272" cy="304800"/>
          </a:xfrm>
          <a:prstGeom prst="rect">
            <a:avLst/>
          </a:prstGeom>
          <a:noFill/>
          <a:ln/>
        </p:spPr>
        <p:txBody>
          <a:bodyPr wrap="square" lIns="0" tIns="0" rIns="0" bIns="0" rtlCol="0" anchor="t"/>
          <a:lstStyle/>
          <a:p>
            <a:pPr algn="l" indent="0" marL="0">
              <a:lnSpc>
                <a:spcPts val="2400"/>
              </a:lnSpc>
              <a:spcAft>
                <a:spcPts val="450"/>
              </a:spcAft>
              <a:buNone/>
            </a:pPr>
            <a:r>
              <a:rPr lang="en-US" sz="2400" dirty="0">
                <a:solidFill>
                  <a:srgbClr val="1A1F2E"/>
                </a:solidFill>
                <a:latin typeface="Georgia" pitchFamily="34" charset="0"/>
                <a:ea typeface="Georgia" pitchFamily="34" charset="-122"/>
                <a:cs typeface="Georgia" pitchFamily="34" charset="-120"/>
              </a:rPr>
              <a:t>Cursor</a:t>
            </a:r>
            <a:endParaRPr lang="en-US" sz="2400" dirty="0"/>
          </a:p>
        </p:txBody>
      </p:sp>
      <p:sp>
        <p:nvSpPr>
          <p:cNvPr id="5" name="Text 3"/>
          <p:cNvSpPr/>
          <p:nvPr/>
        </p:nvSpPr>
        <p:spPr>
          <a:xfrm>
            <a:off x="342900" y="1237506"/>
            <a:ext cx="4343436" cy="173236"/>
          </a:xfrm>
          <a:prstGeom prst="rect">
            <a:avLst/>
          </a:prstGeom>
          <a:noFill/>
          <a:ln/>
        </p:spPr>
        <p:txBody>
          <a:bodyPr wrap="square" lIns="0" tIns="0" rIns="0" bIns="0" rtlCol="0" anchor="t"/>
          <a:lstStyle/>
          <a:p>
            <a:pPr algn="l" indent="0" marL="0">
              <a:lnSpc>
                <a:spcPts val="1365"/>
              </a:lnSpc>
              <a:spcAft>
                <a:spcPts val="1500"/>
              </a:spcAft>
              <a:buNone/>
            </a:pPr>
            <a:r>
              <a:rPr lang="en-US" sz="975" dirty="0">
                <a:solidFill>
                  <a:srgbClr val="6B7280"/>
                </a:solidFill>
                <a:latin typeface="Arial" pitchFamily="34" charset="0"/>
                <a:ea typeface="Arial" pitchFamily="34" charset="-122"/>
                <a:cs typeface="Arial" pitchFamily="34" charset="-120"/>
              </a:rPr>
              <a:t>VS Code fork with AI built into every feature</a:t>
            </a:r>
            <a:endParaRPr lang="en-US" sz="975" dirty="0"/>
          </a:p>
        </p:txBody>
      </p:sp>
      <p:sp>
        <p:nvSpPr>
          <p:cNvPr id="6" name="Text 4"/>
          <p:cNvSpPr/>
          <p:nvPr/>
        </p:nvSpPr>
        <p:spPr>
          <a:xfrm>
            <a:off x="342900" y="1753642"/>
            <a:ext cx="4258270" cy="630436"/>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7" name="Text 5"/>
          <p:cNvSpPr/>
          <p:nvPr/>
        </p:nvSpPr>
        <p:spPr>
          <a:xfrm>
            <a:off x="485775" y="1896517"/>
            <a:ext cx="4051971" cy="159990"/>
          </a:xfrm>
          <a:prstGeom prst="rect">
            <a:avLst/>
          </a:prstGeom>
          <a:noFill/>
          <a:ln/>
        </p:spPr>
        <p:txBody>
          <a:bodyPr wrap="square" lIns="0" tIns="0" rIns="0" bIns="0" rtlCol="0" anchor="t"/>
          <a:lstStyle/>
          <a:p>
            <a:pPr algn="l" indent="0" marL="0">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Tab Completions</a:t>
            </a:r>
            <a:endParaRPr lang="en-US" sz="900" dirty="0"/>
          </a:p>
        </p:txBody>
      </p:sp>
      <p:sp>
        <p:nvSpPr>
          <p:cNvPr id="8" name="Text 6"/>
          <p:cNvSpPr/>
          <p:nvPr/>
        </p:nvSpPr>
        <p:spPr>
          <a:xfrm>
            <a:off x="485775" y="2094607"/>
            <a:ext cx="4051971" cy="146596"/>
          </a:xfrm>
          <a:prstGeom prst="rect">
            <a:avLst/>
          </a:prstGeom>
          <a:noFill/>
          <a:ln/>
        </p:spPr>
        <p:txBody>
          <a:bodyPr wrap="square" lIns="0" tIns="0" rIns="0" bIns="0" rtlCol="0" anchor="t"/>
          <a:lstStyle/>
          <a:p>
            <a:pPr algn="l" indent="0" marL="0">
              <a:lnSpc>
                <a:spcPts val="1155"/>
              </a:lnSpc>
              <a:buNone/>
            </a:pPr>
            <a:r>
              <a:rPr lang="en-US" sz="825" dirty="0">
                <a:solidFill>
                  <a:srgbClr val="6B7280"/>
                </a:solidFill>
                <a:latin typeface="Arial" pitchFamily="34" charset="0"/>
                <a:ea typeface="Arial" pitchFamily="34" charset="-122"/>
                <a:cs typeface="Arial" pitchFamily="34" charset="-120"/>
              </a:rPr>
              <a:t>AI suggests multi-line completions as you type</a:t>
            </a:r>
            <a:endParaRPr lang="en-US" sz="825" dirty="0"/>
          </a:p>
        </p:txBody>
      </p:sp>
      <p:sp>
        <p:nvSpPr>
          <p:cNvPr id="9" name="Text 7"/>
          <p:cNvSpPr/>
          <p:nvPr/>
        </p:nvSpPr>
        <p:spPr>
          <a:xfrm>
            <a:off x="342900" y="2631728"/>
            <a:ext cx="4258270" cy="630436"/>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0" name="Text 8"/>
          <p:cNvSpPr/>
          <p:nvPr/>
        </p:nvSpPr>
        <p:spPr>
          <a:xfrm>
            <a:off x="485775" y="2774603"/>
            <a:ext cx="4051971" cy="159990"/>
          </a:xfrm>
          <a:prstGeom prst="rect">
            <a:avLst/>
          </a:prstGeom>
          <a:noFill/>
          <a:ln/>
        </p:spPr>
        <p:txBody>
          <a:bodyPr wrap="square" lIns="0" tIns="0" rIns="0" bIns="0" rtlCol="0" anchor="t"/>
          <a:lstStyle/>
          <a:p>
            <a:pPr algn="l" indent="0" marL="0">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Cmd+K Editing</a:t>
            </a:r>
            <a:endParaRPr lang="en-US" sz="900" dirty="0"/>
          </a:p>
        </p:txBody>
      </p:sp>
      <p:sp>
        <p:nvSpPr>
          <p:cNvPr id="11" name="Text 9"/>
          <p:cNvSpPr/>
          <p:nvPr/>
        </p:nvSpPr>
        <p:spPr>
          <a:xfrm>
            <a:off x="485775" y="2972693"/>
            <a:ext cx="4051971" cy="146596"/>
          </a:xfrm>
          <a:prstGeom prst="rect">
            <a:avLst/>
          </a:prstGeom>
          <a:noFill/>
          <a:ln/>
        </p:spPr>
        <p:txBody>
          <a:bodyPr wrap="square" lIns="0" tIns="0" rIns="0" bIns="0" rtlCol="0" anchor="t"/>
          <a:lstStyle/>
          <a:p>
            <a:pPr algn="l" indent="0" marL="0">
              <a:lnSpc>
                <a:spcPts val="1155"/>
              </a:lnSpc>
              <a:buNone/>
            </a:pPr>
            <a:r>
              <a:rPr lang="en-US" sz="825" dirty="0">
                <a:solidFill>
                  <a:srgbClr val="6B7280"/>
                </a:solidFill>
                <a:latin typeface="Arial" pitchFamily="34" charset="0"/>
                <a:ea typeface="Arial" pitchFamily="34" charset="-122"/>
                <a:cs typeface="Arial" pitchFamily="34" charset="-120"/>
              </a:rPr>
              <a:t>Select code and describe changes in natural language</a:t>
            </a:r>
            <a:endParaRPr lang="en-US" sz="825" dirty="0"/>
          </a:p>
        </p:txBody>
      </p:sp>
      <p:sp>
        <p:nvSpPr>
          <p:cNvPr id="12" name="Text 10"/>
          <p:cNvSpPr/>
          <p:nvPr/>
        </p:nvSpPr>
        <p:spPr>
          <a:xfrm>
            <a:off x="342900" y="3509814"/>
            <a:ext cx="4258270" cy="630436"/>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3" name="Text 11"/>
          <p:cNvSpPr/>
          <p:nvPr/>
        </p:nvSpPr>
        <p:spPr>
          <a:xfrm>
            <a:off x="485775" y="3652689"/>
            <a:ext cx="4051971" cy="159990"/>
          </a:xfrm>
          <a:prstGeom prst="rect">
            <a:avLst/>
          </a:prstGeom>
          <a:noFill/>
          <a:ln/>
        </p:spPr>
        <p:txBody>
          <a:bodyPr wrap="square" lIns="0" tIns="0" rIns="0" bIns="0" rtlCol="0" anchor="t"/>
          <a:lstStyle/>
          <a:p>
            <a:pPr algn="l" indent="0" marL="0">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Composer Mode</a:t>
            </a:r>
            <a:endParaRPr lang="en-US" sz="900" dirty="0"/>
          </a:p>
        </p:txBody>
      </p:sp>
      <p:sp>
        <p:nvSpPr>
          <p:cNvPr id="14" name="Text 12"/>
          <p:cNvSpPr/>
          <p:nvPr/>
        </p:nvSpPr>
        <p:spPr>
          <a:xfrm>
            <a:off x="485775" y="3850779"/>
            <a:ext cx="4051971" cy="146596"/>
          </a:xfrm>
          <a:prstGeom prst="rect">
            <a:avLst/>
          </a:prstGeom>
          <a:noFill/>
          <a:ln/>
        </p:spPr>
        <p:txBody>
          <a:bodyPr wrap="square" lIns="0" tIns="0" rIns="0" bIns="0" rtlCol="0" anchor="t"/>
          <a:lstStyle/>
          <a:p>
            <a:pPr algn="l" indent="0" marL="0">
              <a:lnSpc>
                <a:spcPts val="1155"/>
              </a:lnSpc>
              <a:buNone/>
            </a:pPr>
            <a:r>
              <a:rPr lang="en-US" sz="825" dirty="0">
                <a:solidFill>
                  <a:srgbClr val="6B7280"/>
                </a:solidFill>
                <a:latin typeface="Arial" pitchFamily="34" charset="0"/>
                <a:ea typeface="Arial" pitchFamily="34" charset="-122"/>
                <a:cs typeface="Arial" pitchFamily="34" charset="-120"/>
              </a:rPr>
              <a:t>Multi-file editing from a single conversation</a:t>
            </a:r>
            <a:endParaRPr lang="en-US" sz="825" dirty="0"/>
          </a:p>
        </p:txBody>
      </p:sp>
      <p:sp>
        <p:nvSpPr>
          <p:cNvPr id="15" name="Text 13"/>
          <p:cNvSpPr/>
          <p:nvPr/>
        </p:nvSpPr>
        <p:spPr>
          <a:xfrm>
            <a:off x="342900" y="4387900"/>
            <a:ext cx="4258270" cy="375196"/>
          </a:xfrm>
          <a:prstGeom prst="rect">
            <a:avLst/>
          </a:prstGeom>
          <a:solidFill>
            <a:srgbClr val="1A1F2E"/>
          </a:solidFill>
          <a:ln/>
        </p:spPr>
        <p:txBody>
          <a:bodyPr wrap="square" rtlCol="0" anchor="ctr"/>
          <a:lstStyle/>
          <a:p>
            <a:pPr indent="0" marL="0">
              <a:buNone/>
            </a:pPr>
            <a:endParaRPr lang="en-US" dirty="0"/>
          </a:p>
        </p:txBody>
      </p:sp>
      <p:sp>
        <p:nvSpPr>
          <p:cNvPr id="16" name="Text 14"/>
          <p:cNvSpPr/>
          <p:nvPr/>
        </p:nvSpPr>
        <p:spPr>
          <a:xfrm>
            <a:off x="476250" y="4502200"/>
            <a:ext cx="4071402" cy="146596"/>
          </a:xfrm>
          <a:prstGeom prst="rect">
            <a:avLst/>
          </a:prstGeom>
          <a:noFill/>
          <a:ln/>
        </p:spPr>
        <p:txBody>
          <a:bodyPr wrap="square" lIns="0" tIns="0" rIns="0" bIns="0" rtlCol="0" anchor="t"/>
          <a:lstStyle/>
          <a:p>
            <a:pPr algn="l" indent="0" marL="0">
              <a:lnSpc>
                <a:spcPts val="1155"/>
              </a:lnSpc>
              <a:buNone/>
            </a:pPr>
            <a:r>
              <a:rPr lang="en-US" sz="825" b="1" dirty="0">
                <a:solidFill>
                  <a:srgbClr val="C9A227"/>
                </a:solidFill>
                <a:latin typeface="Arial" pitchFamily="34" charset="0"/>
                <a:ea typeface="Arial" pitchFamily="34" charset="-122"/>
                <a:cs typeface="Arial" pitchFamily="34" charset="-120"/>
              </a:rPr>
              <a:t>Best for:</a:t>
            </a:r>
            <a:pPr algn="l" indent="0" marL="0">
              <a:lnSpc>
                <a:spcPts val="1155"/>
              </a:lnSpc>
              <a:buNone/>
            </a:pPr>
            <a:r>
              <a:rPr lang="en-US" sz="825" dirty="0">
                <a:solidFill>
                  <a:srgbClr val="C9A227"/>
                </a:solidFill>
                <a:latin typeface="Arial" pitchFamily="34" charset="0"/>
                <a:ea typeface="Arial" pitchFamily="34" charset="-122"/>
                <a:cs typeface="Arial" pitchFamily="34" charset="-120"/>
              </a:rPr>
              <a:t> Developers wanting AI deeply integrated in their editor</a:t>
            </a:r>
            <a:endParaRPr lang="en-US" sz="825" dirty="0"/>
          </a:p>
        </p:txBody>
      </p:sp>
      <p:sp>
        <p:nvSpPr>
          <p:cNvPr id="17" name="Text 15"/>
          <p:cNvSpPr/>
          <p:nvPr/>
        </p:nvSpPr>
        <p:spPr>
          <a:xfrm>
            <a:off x="5096470" y="0"/>
            <a:ext cx="4047530" cy="5143500"/>
          </a:xfrm>
          <a:prstGeom prst="rect">
            <a:avLst/>
          </a:prstGeom>
          <a:solidFill>
            <a:srgbClr val="1A1F2E"/>
          </a:solidFill>
          <a:ln/>
        </p:spPr>
        <p:txBody>
          <a:bodyPr wrap="square" rtlCol="0" anchor="ctr"/>
          <a:lstStyle/>
          <a:p>
            <a:pPr indent="0" marL="0">
              <a:buNone/>
            </a:pPr>
            <a:endParaRPr lang="en-US" dirty="0"/>
          </a:p>
        </p:txBody>
      </p:sp>
      <p:sp>
        <p:nvSpPr>
          <p:cNvPr id="18" name="Text 16"/>
          <p:cNvSpPr/>
          <p:nvPr/>
        </p:nvSpPr>
        <p:spPr>
          <a:xfrm>
            <a:off x="6786860" y="1217265"/>
            <a:ext cx="666750" cy="666750"/>
          </a:xfrm>
          <a:prstGeom prst="rect">
            <a:avLst/>
          </a:prstGeom>
          <a:solidFill>
            <a:srgbClr val="C9A227"/>
          </a:solidFill>
          <a:ln/>
        </p:spPr>
        <p:txBody>
          <a:bodyPr wrap="square" rtlCol="0" anchor="ctr"/>
          <a:lstStyle/>
          <a:p>
            <a:pPr indent="0" marL="0">
              <a:buNone/>
            </a:pPr>
            <a:endParaRPr lang="en-US" dirty="0"/>
          </a:p>
        </p:txBody>
      </p:sp>
      <p:sp>
        <p:nvSpPr>
          <p:cNvPr id="19" name="Text 17"/>
          <p:cNvSpPr/>
          <p:nvPr/>
        </p:nvSpPr>
        <p:spPr>
          <a:xfrm>
            <a:off x="6951733" y="1390650"/>
            <a:ext cx="336855" cy="319980"/>
          </a:xfrm>
          <a:prstGeom prst="rect">
            <a:avLst/>
          </a:prstGeom>
          <a:noFill/>
          <a:ln/>
        </p:spPr>
        <p:txBody>
          <a:bodyPr wrap="square" lIns="0" tIns="0" rIns="0" bIns="0" rtlCol="0" anchor="t"/>
          <a:lstStyle/>
          <a:p>
            <a:pPr algn="ctr" indent="0" marL="0">
              <a:lnSpc>
                <a:spcPts val="1260"/>
              </a:lnSpc>
              <a:buNone/>
            </a:pPr>
            <a:r>
              <a:rPr lang="en-US" sz="900" dirty="0">
                <a:solidFill>
                  <a:srgbClr val="1A1F2E"/>
                </a:solidFill>
                <a:latin typeface="Arial" pitchFamily="34" charset="0"/>
                <a:ea typeface="Arial" pitchFamily="34" charset="-122"/>
                <a:cs typeface="Arial" pitchFamily="34" charset="-120"/>
              </a:rPr>
              <a:t>AI</a:t>
            </a:r>
            <a:endParaRPr lang="en-US" sz="900" dirty="0"/>
          </a:p>
          <a:p>
            <a:pPr algn="ctr" indent="0" marL="0">
              <a:lnSpc>
                <a:spcPts val="1260"/>
              </a:lnSpc>
              <a:buNone/>
            </a:pPr>
            <a:r>
              <a:rPr lang="en-US" sz="900" dirty="0">
                <a:solidFill>
                  <a:srgbClr val="1A1F2E"/>
                </a:solidFill>
                <a:latin typeface="Arial" pitchFamily="34" charset="0"/>
                <a:ea typeface="Arial" pitchFamily="34" charset="-122"/>
                <a:cs typeface="Arial" pitchFamily="34" charset="-120"/>
              </a:rPr>
              <a:t>FIRST</a:t>
            </a:r>
            <a:endParaRPr lang="en-US" sz="900" dirty="0"/>
          </a:p>
        </p:txBody>
      </p:sp>
      <p:sp>
        <p:nvSpPr>
          <p:cNvPr id="20" name="Text 18"/>
          <p:cNvSpPr/>
          <p:nvPr/>
        </p:nvSpPr>
        <p:spPr>
          <a:xfrm>
            <a:off x="6332976" y="2226915"/>
            <a:ext cx="1574518" cy="213271"/>
          </a:xfrm>
          <a:prstGeom prst="rect">
            <a:avLst/>
          </a:prstGeom>
          <a:noFill/>
          <a:ln/>
        </p:spPr>
        <p:txBody>
          <a:bodyPr wrap="square" lIns="0" tIns="0" rIns="0" bIns="0" rtlCol="0" anchor="t"/>
          <a:lstStyle/>
          <a:p>
            <a:pPr algn="ctr" indent="0" marL="0">
              <a:lnSpc>
                <a:spcPts val="1680"/>
              </a:lnSpc>
              <a:spcAft>
                <a:spcPts val="750"/>
              </a:spcAft>
              <a:buNone/>
            </a:pPr>
            <a:r>
              <a:rPr lang="en-US" sz="1200" dirty="0">
                <a:solidFill>
                  <a:srgbClr val="FFFFFF"/>
                </a:solidFill>
                <a:latin typeface="Georgia" pitchFamily="34" charset="0"/>
                <a:ea typeface="Georgia" pitchFamily="34" charset="-122"/>
                <a:cs typeface="Georgia" pitchFamily="34" charset="-120"/>
              </a:rPr>
              <a:t>Familiar Yet Enhanced</a:t>
            </a:r>
            <a:endParaRPr lang="en-US" sz="1200" dirty="0"/>
          </a:p>
        </p:txBody>
      </p:sp>
      <p:sp>
        <p:nvSpPr>
          <p:cNvPr id="21" name="Text 19"/>
          <p:cNvSpPr/>
          <p:nvPr/>
        </p:nvSpPr>
        <p:spPr>
          <a:xfrm>
            <a:off x="5717256" y="2687836"/>
            <a:ext cx="2805958" cy="171450"/>
          </a:xfrm>
          <a:prstGeom prst="rect">
            <a:avLst/>
          </a:prstGeom>
          <a:noFill/>
          <a:ln/>
        </p:spPr>
        <p:txBody>
          <a:bodyPr wrap="square" lIns="0" tIns="0" rIns="0" bIns="0" rtlCol="0" anchor="t"/>
          <a:lstStyle/>
          <a:p>
            <a:pPr algn="ctr" indent="0" marL="0">
              <a:lnSpc>
                <a:spcPts val="1350"/>
              </a:lnSpc>
              <a:spcAft>
                <a:spcPts val="1500"/>
              </a:spcAft>
              <a:buNone/>
            </a:pPr>
            <a:r>
              <a:rPr lang="en-US" sz="900" dirty="0">
                <a:solidFill>
                  <a:srgbClr val="FFFFFF">
                    <a:alpha val="60000"/>
                  </a:srgbClr>
                </a:solidFill>
                <a:latin typeface="Arial" pitchFamily="34" charset="0"/>
                <a:ea typeface="Arial" pitchFamily="34" charset="-122"/>
                <a:cs typeface="Arial" pitchFamily="34" charset="-120"/>
              </a:rPr>
              <a:t>All your VS Code extensions work, plus AI everywhere</a:t>
            </a:r>
            <a:endParaRPr lang="en-US" sz="900" dirty="0"/>
          </a:p>
        </p:txBody>
      </p:sp>
      <p:sp>
        <p:nvSpPr>
          <p:cNvPr id="22" name="Text 20"/>
          <p:cNvSpPr/>
          <p:nvPr/>
        </p:nvSpPr>
        <p:spPr>
          <a:xfrm>
            <a:off x="5439370" y="3202186"/>
            <a:ext cx="3361730" cy="323850"/>
          </a:xfrm>
          <a:prstGeom prst="rect">
            <a:avLst/>
          </a:prstGeom>
          <a:solidFill>
            <a:srgbClr val="252B3D"/>
          </a:solidFill>
          <a:ln/>
        </p:spPr>
        <p:txBody>
          <a:bodyPr wrap="square" rtlCol="0" anchor="ctr"/>
          <a:lstStyle/>
          <a:p>
            <a:pPr indent="0" marL="0">
              <a:buNone/>
            </a:pPr>
            <a:endParaRPr lang="en-US" dirty="0"/>
          </a:p>
        </p:txBody>
      </p:sp>
      <p:sp>
        <p:nvSpPr>
          <p:cNvPr id="23" name="Text 21"/>
          <p:cNvSpPr/>
          <p:nvPr/>
        </p:nvSpPr>
        <p:spPr>
          <a:xfrm>
            <a:off x="5502908" y="3297436"/>
            <a:ext cx="3234654" cy="133350"/>
          </a:xfrm>
          <a:prstGeom prst="rect">
            <a:avLst/>
          </a:prstGeom>
          <a:noFill/>
          <a:ln/>
        </p:spPr>
        <p:txBody>
          <a:bodyPr wrap="square" lIns="0" tIns="0" rIns="0" bIns="0" rtlCol="0" anchor="t"/>
          <a:lstStyle/>
          <a:p>
            <a:pPr algn="ctr" indent="0" marL="0">
              <a:lnSpc>
                <a:spcPts val="1050"/>
              </a:lnSpc>
              <a:buNone/>
            </a:pPr>
            <a:r>
              <a:rPr lang="en-US" sz="750" dirty="0">
                <a:solidFill>
                  <a:srgbClr val="FFFFFF">
                    <a:alpha val="70000"/>
                  </a:srgbClr>
                </a:solidFill>
                <a:latin typeface="Arial" pitchFamily="34" charset="0"/>
                <a:ea typeface="Arial" pitchFamily="34" charset="-122"/>
                <a:cs typeface="Arial" pitchFamily="34" charset="-120"/>
              </a:rPr>
              <a:t>Free tier: Limited AI requests</a:t>
            </a:r>
            <a:endParaRPr lang="en-US" sz="750" dirty="0"/>
          </a:p>
        </p:txBody>
      </p:sp>
      <p:sp>
        <p:nvSpPr>
          <p:cNvPr id="24" name="Text 22"/>
          <p:cNvSpPr/>
          <p:nvPr/>
        </p:nvSpPr>
        <p:spPr>
          <a:xfrm>
            <a:off x="5439370" y="3602236"/>
            <a:ext cx="3361730" cy="323850"/>
          </a:xfrm>
          <a:prstGeom prst="rect">
            <a:avLst/>
          </a:prstGeom>
          <a:solidFill>
            <a:srgbClr val="252B3D"/>
          </a:solidFill>
          <a:ln/>
        </p:spPr>
        <p:txBody>
          <a:bodyPr wrap="square" rtlCol="0" anchor="ctr"/>
          <a:lstStyle/>
          <a:p>
            <a:pPr indent="0" marL="0">
              <a:buNone/>
            </a:pPr>
            <a:endParaRPr lang="en-US" dirty="0"/>
          </a:p>
        </p:txBody>
      </p:sp>
      <p:sp>
        <p:nvSpPr>
          <p:cNvPr id="25" name="Text 23"/>
          <p:cNvSpPr/>
          <p:nvPr/>
        </p:nvSpPr>
        <p:spPr>
          <a:xfrm>
            <a:off x="5502908" y="3697486"/>
            <a:ext cx="3234654" cy="133350"/>
          </a:xfrm>
          <a:prstGeom prst="rect">
            <a:avLst/>
          </a:prstGeom>
          <a:noFill/>
          <a:ln/>
        </p:spPr>
        <p:txBody>
          <a:bodyPr wrap="square" lIns="0" tIns="0" rIns="0" bIns="0" rtlCol="0" anchor="t"/>
          <a:lstStyle/>
          <a:p>
            <a:pPr algn="ctr" indent="0" marL="0">
              <a:lnSpc>
                <a:spcPts val="1050"/>
              </a:lnSpc>
              <a:buNone/>
            </a:pPr>
            <a:r>
              <a:rPr lang="en-US" sz="750" dirty="0">
                <a:solidFill>
                  <a:srgbClr val="FFFFFF">
                    <a:alpha val="70000"/>
                  </a:srgbClr>
                </a:solidFill>
                <a:latin typeface="Arial" pitchFamily="34" charset="0"/>
                <a:ea typeface="Arial" pitchFamily="34" charset="-122"/>
                <a:cs typeface="Arial" pitchFamily="34" charset="-120"/>
              </a:rPr>
              <a:t>Pro: $20/month unlimited</a:t>
            </a:r>
            <a:endParaRPr lang="en-US" sz="7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457200" y="228600"/>
            <a:ext cx="8394192" cy="146596"/>
          </a:xfrm>
          <a:prstGeom prst="rect">
            <a:avLst/>
          </a:prstGeom>
          <a:noFill/>
          <a:ln/>
        </p:spPr>
        <p:txBody>
          <a:bodyPr wrap="square" lIns="0" tIns="0" rIns="0" bIns="0" rtlCol="0" anchor="t"/>
          <a:lstStyle/>
          <a:p>
            <a:pPr algn="l" indent="0" marL="0">
              <a:lnSpc>
                <a:spcPts val="1155"/>
              </a:lnSpc>
              <a:spcAft>
                <a:spcPts val="600"/>
              </a:spcAft>
              <a:buNone/>
            </a:pPr>
            <a:r>
              <a:rPr lang="en-US" sz="825" dirty="0">
                <a:solidFill>
                  <a:srgbClr val="C9A227"/>
                </a:solidFill>
                <a:latin typeface="Arial" pitchFamily="34" charset="0"/>
                <a:ea typeface="Arial" pitchFamily="34" charset="-122"/>
                <a:cs typeface="Arial" pitchFamily="34" charset="-120"/>
              </a:rPr>
              <a:t>COMPARISON</a:t>
            </a:r>
            <a:endParaRPr lang="en-US" sz="825" dirty="0"/>
          </a:p>
        </p:txBody>
      </p:sp>
      <p:sp>
        <p:nvSpPr>
          <p:cNvPr id="3" name="Text 1"/>
          <p:cNvSpPr/>
          <p:nvPr/>
        </p:nvSpPr>
        <p:spPr>
          <a:xfrm>
            <a:off x="457200" y="451396"/>
            <a:ext cx="4206812" cy="266700"/>
          </a:xfrm>
          <a:prstGeom prst="rect">
            <a:avLst/>
          </a:prstGeom>
          <a:noFill/>
          <a:ln/>
        </p:spPr>
        <p:txBody>
          <a:bodyPr wrap="square" lIns="0" tIns="0" rIns="0" bIns="0" rtlCol="0" anchor="t"/>
          <a:lstStyle/>
          <a:p>
            <a:pPr algn="l" indent="0" marL="0">
              <a:lnSpc>
                <a:spcPts val="2100"/>
              </a:lnSpc>
              <a:buNone/>
            </a:pPr>
            <a:r>
              <a:rPr lang="en-US" sz="2100" dirty="0">
                <a:solidFill>
                  <a:srgbClr val="1A1F2E"/>
                </a:solidFill>
                <a:latin typeface="Georgia" pitchFamily="34" charset="0"/>
                <a:ea typeface="Georgia" pitchFamily="34" charset="-122"/>
                <a:cs typeface="Georgia" pitchFamily="34" charset="-120"/>
              </a:rPr>
              <a:t>AI Coding Assistant Comparison</a:t>
            </a:r>
            <a:endParaRPr lang="en-US" sz="2100" dirty="0"/>
          </a:p>
        </p:txBody>
      </p:sp>
      <p:sp>
        <p:nvSpPr>
          <p:cNvPr id="4" name="Text 2"/>
          <p:cNvSpPr/>
          <p:nvPr/>
        </p:nvSpPr>
        <p:spPr>
          <a:xfrm>
            <a:off x="457200" y="1387078"/>
            <a:ext cx="8229600" cy="337096"/>
          </a:xfrm>
          <a:prstGeom prst="rect">
            <a:avLst/>
          </a:prstGeom>
          <a:solidFill>
            <a:srgbClr val="1A1F2E"/>
          </a:solidFill>
          <a:ln/>
        </p:spPr>
        <p:txBody>
          <a:bodyPr wrap="square" rtlCol="0" anchor="ctr"/>
          <a:lstStyle/>
          <a:p>
            <a:pPr indent="0" marL="0">
              <a:buNone/>
            </a:pPr>
            <a:endParaRPr lang="en-US" dirty="0"/>
          </a:p>
        </p:txBody>
      </p:sp>
      <p:sp>
        <p:nvSpPr>
          <p:cNvPr id="5" name="Text 3"/>
          <p:cNvSpPr/>
          <p:nvPr/>
        </p:nvSpPr>
        <p:spPr>
          <a:xfrm>
            <a:off x="609600" y="1482328"/>
            <a:ext cx="1315084" cy="146596"/>
          </a:xfrm>
          <a:prstGeom prst="rect">
            <a:avLst/>
          </a:prstGeom>
          <a:noFill/>
          <a:ln/>
        </p:spPr>
        <p:txBody>
          <a:bodyPr wrap="square" lIns="0" tIns="0" rIns="0" bIns="0" rtlCol="0" anchor="t"/>
          <a:lstStyle/>
          <a:p>
            <a:pPr algn="l" indent="0" marL="0">
              <a:lnSpc>
                <a:spcPts val="1155"/>
              </a:lnSpc>
              <a:buNone/>
            </a:pPr>
            <a:r>
              <a:rPr lang="en-US" sz="825" b="1" dirty="0">
                <a:solidFill>
                  <a:srgbClr val="FFFFFF"/>
                </a:solidFill>
                <a:latin typeface="Arial" pitchFamily="34" charset="0"/>
                <a:ea typeface="Arial" pitchFamily="34" charset="-122"/>
                <a:cs typeface="Arial" pitchFamily="34" charset="-120"/>
              </a:rPr>
              <a:t>Tool</a:t>
            </a:r>
            <a:endParaRPr lang="en-US" sz="825" dirty="0"/>
          </a:p>
        </p:txBody>
      </p:sp>
      <p:sp>
        <p:nvSpPr>
          <p:cNvPr id="6" name="Text 4"/>
          <p:cNvSpPr/>
          <p:nvPr/>
        </p:nvSpPr>
        <p:spPr>
          <a:xfrm>
            <a:off x="2039838" y="1482328"/>
            <a:ext cx="1168896" cy="146596"/>
          </a:xfrm>
          <a:prstGeom prst="rect">
            <a:avLst/>
          </a:prstGeom>
          <a:noFill/>
          <a:ln/>
        </p:spPr>
        <p:txBody>
          <a:bodyPr wrap="square" lIns="0" tIns="0" rIns="0" bIns="0" rtlCol="0" anchor="t"/>
          <a:lstStyle/>
          <a:p>
            <a:pPr algn="ctr" indent="0" marL="0">
              <a:lnSpc>
                <a:spcPts val="1155"/>
              </a:lnSpc>
              <a:buNone/>
            </a:pPr>
            <a:r>
              <a:rPr lang="en-US" sz="825" b="1" dirty="0">
                <a:solidFill>
                  <a:srgbClr val="C9A227"/>
                </a:solidFill>
                <a:latin typeface="Arial" pitchFamily="34" charset="0"/>
                <a:ea typeface="Arial" pitchFamily="34" charset="-122"/>
                <a:cs typeface="Arial" pitchFamily="34" charset="-120"/>
              </a:rPr>
              <a:t>Interface</a:t>
            </a:r>
            <a:endParaRPr lang="en-US" sz="825" dirty="0"/>
          </a:p>
        </p:txBody>
      </p:sp>
      <p:sp>
        <p:nvSpPr>
          <p:cNvPr id="7" name="Text 5"/>
          <p:cNvSpPr/>
          <p:nvPr/>
        </p:nvSpPr>
        <p:spPr>
          <a:xfrm>
            <a:off x="3336782" y="1482328"/>
            <a:ext cx="1315084" cy="146596"/>
          </a:xfrm>
          <a:prstGeom prst="rect">
            <a:avLst/>
          </a:prstGeom>
          <a:noFill/>
          <a:ln/>
        </p:spPr>
        <p:txBody>
          <a:bodyPr wrap="square" lIns="0" tIns="0" rIns="0" bIns="0" rtlCol="0" anchor="t"/>
          <a:lstStyle/>
          <a:p>
            <a:pPr algn="ctr" indent="0" marL="0">
              <a:lnSpc>
                <a:spcPts val="1155"/>
              </a:lnSpc>
              <a:buNone/>
            </a:pPr>
            <a:r>
              <a:rPr lang="en-US" sz="825" b="1" dirty="0">
                <a:solidFill>
                  <a:srgbClr val="C9A227"/>
                </a:solidFill>
                <a:latin typeface="Arial" pitchFamily="34" charset="0"/>
                <a:ea typeface="Arial" pitchFamily="34" charset="-122"/>
                <a:cs typeface="Arial" pitchFamily="34" charset="-120"/>
              </a:rPr>
              <a:t>Strengths</a:t>
            </a:r>
            <a:endParaRPr lang="en-US" sz="825" dirty="0"/>
          </a:p>
        </p:txBody>
      </p:sp>
      <p:sp>
        <p:nvSpPr>
          <p:cNvPr id="8" name="Text 6"/>
          <p:cNvSpPr/>
          <p:nvPr/>
        </p:nvSpPr>
        <p:spPr>
          <a:xfrm>
            <a:off x="4779913" y="1482328"/>
            <a:ext cx="1168896" cy="146596"/>
          </a:xfrm>
          <a:prstGeom prst="rect">
            <a:avLst/>
          </a:prstGeom>
          <a:noFill/>
          <a:ln/>
        </p:spPr>
        <p:txBody>
          <a:bodyPr wrap="square" lIns="0" tIns="0" rIns="0" bIns="0" rtlCol="0" anchor="t"/>
          <a:lstStyle/>
          <a:p>
            <a:pPr algn="ctr" indent="0" marL="0">
              <a:lnSpc>
                <a:spcPts val="1155"/>
              </a:lnSpc>
              <a:buNone/>
            </a:pPr>
            <a:r>
              <a:rPr lang="en-US" sz="825" b="1" dirty="0">
                <a:solidFill>
                  <a:srgbClr val="C9A227"/>
                </a:solidFill>
                <a:latin typeface="Arial" pitchFamily="34" charset="0"/>
                <a:ea typeface="Arial" pitchFamily="34" charset="-122"/>
                <a:cs typeface="Arial" pitchFamily="34" charset="-120"/>
              </a:rPr>
              <a:t>Cost</a:t>
            </a:r>
            <a:endParaRPr lang="en-US" sz="825" dirty="0"/>
          </a:p>
        </p:txBody>
      </p:sp>
      <p:sp>
        <p:nvSpPr>
          <p:cNvPr id="9" name="Text 7"/>
          <p:cNvSpPr/>
          <p:nvPr/>
        </p:nvSpPr>
        <p:spPr>
          <a:xfrm>
            <a:off x="6078289" y="1482328"/>
            <a:ext cx="1168896" cy="146596"/>
          </a:xfrm>
          <a:prstGeom prst="rect">
            <a:avLst/>
          </a:prstGeom>
          <a:noFill/>
          <a:ln/>
        </p:spPr>
        <p:txBody>
          <a:bodyPr wrap="square" lIns="0" tIns="0" rIns="0" bIns="0" rtlCol="0" anchor="t"/>
          <a:lstStyle/>
          <a:p>
            <a:pPr algn="ctr" indent="0" marL="0">
              <a:lnSpc>
                <a:spcPts val="1155"/>
              </a:lnSpc>
              <a:buNone/>
            </a:pPr>
            <a:r>
              <a:rPr lang="en-US" sz="825" b="1" dirty="0">
                <a:solidFill>
                  <a:srgbClr val="C9A227"/>
                </a:solidFill>
                <a:latin typeface="Arial" pitchFamily="34" charset="0"/>
                <a:ea typeface="Arial" pitchFamily="34" charset="-122"/>
                <a:cs typeface="Arial" pitchFamily="34" charset="-120"/>
              </a:rPr>
              <a:t>Enterprise</a:t>
            </a:r>
            <a:endParaRPr lang="en-US" sz="825" dirty="0"/>
          </a:p>
        </p:txBody>
      </p:sp>
      <p:sp>
        <p:nvSpPr>
          <p:cNvPr id="10" name="Text 8"/>
          <p:cNvSpPr/>
          <p:nvPr/>
        </p:nvSpPr>
        <p:spPr>
          <a:xfrm>
            <a:off x="7376666" y="1482328"/>
            <a:ext cx="1168896" cy="146596"/>
          </a:xfrm>
          <a:prstGeom prst="rect">
            <a:avLst/>
          </a:prstGeom>
          <a:noFill/>
          <a:ln/>
        </p:spPr>
        <p:txBody>
          <a:bodyPr wrap="square" lIns="0" tIns="0" rIns="0" bIns="0" rtlCol="0" anchor="t"/>
          <a:lstStyle/>
          <a:p>
            <a:pPr algn="ctr" indent="0" marL="0">
              <a:lnSpc>
                <a:spcPts val="1155"/>
              </a:lnSpc>
              <a:buNone/>
            </a:pPr>
            <a:r>
              <a:rPr lang="en-US" sz="825" b="1" dirty="0">
                <a:solidFill>
                  <a:srgbClr val="C9A227"/>
                </a:solidFill>
                <a:latin typeface="Arial" pitchFamily="34" charset="0"/>
                <a:ea typeface="Arial" pitchFamily="34" charset="-122"/>
                <a:cs typeface="Arial" pitchFamily="34" charset="-120"/>
              </a:rPr>
              <a:t>Voice Ready</a:t>
            </a:r>
            <a:endParaRPr lang="en-US" sz="825" dirty="0"/>
          </a:p>
        </p:txBody>
      </p:sp>
      <p:sp>
        <p:nvSpPr>
          <p:cNvPr id="11" name="Text 9"/>
          <p:cNvSpPr/>
          <p:nvPr/>
        </p:nvSpPr>
        <p:spPr>
          <a:xfrm>
            <a:off x="457200" y="1895624"/>
            <a:ext cx="8229600" cy="346621"/>
          </a:xfrm>
          <a:prstGeom prst="rect">
            <a:avLst/>
          </a:prstGeom>
          <a:solidFill>
            <a:srgbClr val="FFFFFF"/>
          </a:solidFill>
          <a:ln/>
        </p:spPr>
        <p:txBody>
          <a:bodyPr wrap="square" rtlCol="0" anchor="ctr"/>
          <a:lstStyle/>
          <a:p>
            <a:pPr indent="0" marL="0">
              <a:buNone/>
            </a:pPr>
            <a:endParaRPr lang="en-US" dirty="0"/>
          </a:p>
        </p:txBody>
      </p:sp>
      <p:sp>
        <p:nvSpPr>
          <p:cNvPr id="12" name="Shape 10"/>
          <p:cNvSpPr/>
          <p:nvPr/>
        </p:nvSpPr>
        <p:spPr>
          <a:xfrm>
            <a:off x="457200" y="2237482"/>
            <a:ext cx="8229600" cy="0"/>
          </a:xfrm>
          <a:prstGeom prst="line">
            <a:avLst/>
          </a:prstGeom>
          <a:noFill/>
          <a:ln w="9525">
            <a:solidFill>
              <a:srgbClr val="E4E7ED"/>
            </a:solidFill>
            <a:prstDash val="solid"/>
          </a:ln>
        </p:spPr>
      </p:sp>
      <p:sp>
        <p:nvSpPr>
          <p:cNvPr id="13" name="Text 11"/>
          <p:cNvSpPr/>
          <p:nvPr/>
        </p:nvSpPr>
        <p:spPr>
          <a:xfrm>
            <a:off x="609600" y="1990874"/>
            <a:ext cx="1315084" cy="146596"/>
          </a:xfrm>
          <a:prstGeom prst="rect">
            <a:avLst/>
          </a:prstGeom>
          <a:noFill/>
          <a:ln/>
        </p:spPr>
        <p:txBody>
          <a:bodyPr wrap="square" lIns="0" tIns="0" rIns="0" bIns="0" rtlCol="0" anchor="t"/>
          <a:lstStyle/>
          <a:p>
            <a:pPr algn="l" indent="0" marL="0">
              <a:lnSpc>
                <a:spcPts val="1155"/>
              </a:lnSpc>
              <a:buNone/>
            </a:pPr>
            <a:r>
              <a:rPr lang="en-US" sz="825" b="1" dirty="0">
                <a:solidFill>
                  <a:srgbClr val="1A1F2E"/>
                </a:solidFill>
                <a:latin typeface="Arial" pitchFamily="34" charset="0"/>
                <a:ea typeface="Arial" pitchFamily="34" charset="-122"/>
                <a:cs typeface="Arial" pitchFamily="34" charset="-120"/>
              </a:rPr>
              <a:t>Claude Code</a:t>
            </a:r>
            <a:endParaRPr lang="en-US" sz="825" dirty="0"/>
          </a:p>
        </p:txBody>
      </p:sp>
      <p:sp>
        <p:nvSpPr>
          <p:cNvPr id="14" name="Text 12"/>
          <p:cNvSpPr/>
          <p:nvPr/>
        </p:nvSpPr>
        <p:spPr>
          <a:xfrm>
            <a:off x="2039838" y="1990874"/>
            <a:ext cx="1168896" cy="146596"/>
          </a:xfrm>
          <a:prstGeom prst="rect">
            <a:avLst/>
          </a:prstGeom>
          <a:noFill/>
          <a:ln/>
        </p:spPr>
        <p:txBody>
          <a:bodyPr wrap="square" lIns="0" tIns="0" rIns="0" bIns="0" rtlCol="0" anchor="t"/>
          <a:lstStyle/>
          <a:p>
            <a:pPr algn="ctr" indent="0" marL="0">
              <a:lnSpc>
                <a:spcPts val="1155"/>
              </a:lnSpc>
              <a:buNone/>
            </a:pPr>
            <a:r>
              <a:rPr lang="en-US" sz="825" dirty="0">
                <a:solidFill>
                  <a:srgbClr val="6B7280"/>
                </a:solidFill>
                <a:latin typeface="Arial" pitchFamily="34" charset="0"/>
                <a:ea typeface="Arial" pitchFamily="34" charset="-122"/>
                <a:cs typeface="Arial" pitchFamily="34" charset="-120"/>
              </a:rPr>
              <a:t>Terminal</a:t>
            </a:r>
            <a:endParaRPr lang="en-US" sz="825" dirty="0"/>
          </a:p>
        </p:txBody>
      </p:sp>
      <p:sp>
        <p:nvSpPr>
          <p:cNvPr id="15" name="Text 13"/>
          <p:cNvSpPr/>
          <p:nvPr/>
        </p:nvSpPr>
        <p:spPr>
          <a:xfrm>
            <a:off x="3336782" y="1990874"/>
            <a:ext cx="1315084" cy="146596"/>
          </a:xfrm>
          <a:prstGeom prst="rect">
            <a:avLst/>
          </a:prstGeom>
          <a:noFill/>
          <a:ln/>
        </p:spPr>
        <p:txBody>
          <a:bodyPr wrap="square" lIns="0" tIns="0" rIns="0" bIns="0" rtlCol="0" anchor="t"/>
          <a:lstStyle/>
          <a:p>
            <a:pPr algn="ctr" indent="0" marL="0">
              <a:lnSpc>
                <a:spcPts val="1155"/>
              </a:lnSpc>
              <a:buNone/>
            </a:pPr>
            <a:r>
              <a:rPr lang="en-US" sz="825" dirty="0">
                <a:solidFill>
                  <a:srgbClr val="6B7280"/>
                </a:solidFill>
                <a:latin typeface="Arial" pitchFamily="34" charset="0"/>
                <a:ea typeface="Arial" pitchFamily="34" charset="-122"/>
                <a:cs typeface="Arial" pitchFamily="34" charset="-120"/>
              </a:rPr>
              <a:t>Agentic, multi-file</a:t>
            </a:r>
            <a:endParaRPr lang="en-US" sz="825" dirty="0"/>
          </a:p>
        </p:txBody>
      </p:sp>
      <p:sp>
        <p:nvSpPr>
          <p:cNvPr id="16" name="Text 14"/>
          <p:cNvSpPr/>
          <p:nvPr/>
        </p:nvSpPr>
        <p:spPr>
          <a:xfrm>
            <a:off x="4779913" y="1990874"/>
            <a:ext cx="1168896" cy="146596"/>
          </a:xfrm>
          <a:prstGeom prst="rect">
            <a:avLst/>
          </a:prstGeom>
          <a:noFill/>
          <a:ln/>
        </p:spPr>
        <p:txBody>
          <a:bodyPr wrap="square" lIns="0" tIns="0" rIns="0" bIns="0" rtlCol="0" anchor="t"/>
          <a:lstStyle/>
          <a:p>
            <a:pPr algn="ctr" indent="0" marL="0">
              <a:lnSpc>
                <a:spcPts val="1155"/>
              </a:lnSpc>
              <a:buNone/>
            </a:pPr>
            <a:r>
              <a:rPr lang="en-US" sz="825" dirty="0">
                <a:solidFill>
                  <a:srgbClr val="6B7280"/>
                </a:solidFill>
                <a:latin typeface="Arial" pitchFamily="34" charset="0"/>
                <a:ea typeface="Arial" pitchFamily="34" charset="-122"/>
                <a:cs typeface="Arial" pitchFamily="34" charset="-120"/>
              </a:rPr>
              <a:t>Usage-based</a:t>
            </a:r>
            <a:endParaRPr lang="en-US" sz="825" dirty="0"/>
          </a:p>
        </p:txBody>
      </p:sp>
      <p:sp>
        <p:nvSpPr>
          <p:cNvPr id="17" name="Text 15"/>
          <p:cNvSpPr/>
          <p:nvPr/>
        </p:nvSpPr>
        <p:spPr>
          <a:xfrm>
            <a:off x="6078289" y="1990874"/>
            <a:ext cx="1168896" cy="146596"/>
          </a:xfrm>
          <a:prstGeom prst="rect">
            <a:avLst/>
          </a:prstGeom>
          <a:noFill/>
          <a:ln/>
        </p:spPr>
        <p:txBody>
          <a:bodyPr wrap="square" lIns="0" tIns="0" rIns="0" bIns="0" rtlCol="0" anchor="t"/>
          <a:lstStyle/>
          <a:p>
            <a:pPr algn="ctr" indent="0" marL="0">
              <a:lnSpc>
                <a:spcPts val="1155"/>
              </a:lnSpc>
              <a:buNone/>
            </a:pPr>
            <a:r>
              <a:rPr lang="en-US" sz="825" dirty="0">
                <a:solidFill>
                  <a:srgbClr val="059669"/>
                </a:solidFill>
                <a:latin typeface="Arial" pitchFamily="34" charset="0"/>
                <a:ea typeface="Arial" pitchFamily="34" charset="-122"/>
                <a:cs typeface="Arial" pitchFamily="34" charset="-120"/>
              </a:rPr>
              <a:t>Yes (Azure)</a:t>
            </a:r>
            <a:endParaRPr lang="en-US" sz="825" dirty="0"/>
          </a:p>
        </p:txBody>
      </p:sp>
      <p:sp>
        <p:nvSpPr>
          <p:cNvPr id="18" name="Text 16"/>
          <p:cNvSpPr/>
          <p:nvPr/>
        </p:nvSpPr>
        <p:spPr>
          <a:xfrm>
            <a:off x="7376666" y="1990874"/>
            <a:ext cx="1168896" cy="146596"/>
          </a:xfrm>
          <a:prstGeom prst="rect">
            <a:avLst/>
          </a:prstGeom>
          <a:noFill/>
          <a:ln/>
        </p:spPr>
        <p:txBody>
          <a:bodyPr wrap="square" lIns="0" tIns="0" rIns="0" bIns="0" rtlCol="0" anchor="t"/>
          <a:lstStyle/>
          <a:p>
            <a:pPr algn="ctr" indent="0" marL="0">
              <a:lnSpc>
                <a:spcPts val="1155"/>
              </a:lnSpc>
              <a:buNone/>
            </a:pPr>
            <a:r>
              <a:rPr lang="en-US" sz="825" b="1" dirty="0">
                <a:solidFill>
                  <a:srgbClr val="059669"/>
                </a:solidFill>
                <a:latin typeface="Arial" pitchFamily="34" charset="0"/>
                <a:ea typeface="Arial" pitchFamily="34" charset="-122"/>
                <a:cs typeface="Arial" pitchFamily="34" charset="-120"/>
              </a:rPr>
              <a:t>Excellent</a:t>
            </a:r>
            <a:endParaRPr lang="en-US" sz="825" dirty="0"/>
          </a:p>
        </p:txBody>
      </p:sp>
      <p:sp>
        <p:nvSpPr>
          <p:cNvPr id="19" name="Text 17"/>
          <p:cNvSpPr/>
          <p:nvPr/>
        </p:nvSpPr>
        <p:spPr>
          <a:xfrm>
            <a:off x="457200" y="2394645"/>
            <a:ext cx="8229600" cy="346621"/>
          </a:xfrm>
          <a:prstGeom prst="rect">
            <a:avLst/>
          </a:prstGeom>
          <a:solidFill>
            <a:srgbClr val="F7F8FA"/>
          </a:solidFill>
          <a:ln/>
        </p:spPr>
        <p:txBody>
          <a:bodyPr wrap="square" rtlCol="0" anchor="ctr"/>
          <a:lstStyle/>
          <a:p>
            <a:pPr indent="0" marL="0">
              <a:buNone/>
            </a:pPr>
            <a:endParaRPr lang="en-US" dirty="0"/>
          </a:p>
        </p:txBody>
      </p:sp>
      <p:sp>
        <p:nvSpPr>
          <p:cNvPr id="20" name="Shape 18"/>
          <p:cNvSpPr/>
          <p:nvPr/>
        </p:nvSpPr>
        <p:spPr>
          <a:xfrm>
            <a:off x="457200" y="2736503"/>
            <a:ext cx="8229600" cy="0"/>
          </a:xfrm>
          <a:prstGeom prst="line">
            <a:avLst/>
          </a:prstGeom>
          <a:noFill/>
          <a:ln w="9525">
            <a:solidFill>
              <a:srgbClr val="E4E7ED"/>
            </a:solidFill>
            <a:prstDash val="solid"/>
          </a:ln>
        </p:spPr>
      </p:sp>
      <p:sp>
        <p:nvSpPr>
          <p:cNvPr id="21" name="Text 19"/>
          <p:cNvSpPr/>
          <p:nvPr/>
        </p:nvSpPr>
        <p:spPr>
          <a:xfrm>
            <a:off x="609600" y="2489895"/>
            <a:ext cx="1315084" cy="146596"/>
          </a:xfrm>
          <a:prstGeom prst="rect">
            <a:avLst/>
          </a:prstGeom>
          <a:noFill/>
          <a:ln/>
        </p:spPr>
        <p:txBody>
          <a:bodyPr wrap="square" lIns="0" tIns="0" rIns="0" bIns="0" rtlCol="0" anchor="t"/>
          <a:lstStyle/>
          <a:p>
            <a:pPr algn="l" indent="0" marL="0">
              <a:lnSpc>
                <a:spcPts val="1155"/>
              </a:lnSpc>
              <a:buNone/>
            </a:pPr>
            <a:r>
              <a:rPr lang="en-US" sz="825" b="1" dirty="0">
                <a:solidFill>
                  <a:srgbClr val="1A1F2E"/>
                </a:solidFill>
                <a:latin typeface="Arial" pitchFamily="34" charset="0"/>
                <a:ea typeface="Arial" pitchFamily="34" charset="-122"/>
                <a:cs typeface="Arial" pitchFamily="34" charset="-120"/>
              </a:rPr>
              <a:t>VS Code + Continue</a:t>
            </a:r>
            <a:endParaRPr lang="en-US" sz="825" dirty="0"/>
          </a:p>
        </p:txBody>
      </p:sp>
      <p:sp>
        <p:nvSpPr>
          <p:cNvPr id="22" name="Text 20"/>
          <p:cNvSpPr/>
          <p:nvPr/>
        </p:nvSpPr>
        <p:spPr>
          <a:xfrm>
            <a:off x="2039838" y="2489895"/>
            <a:ext cx="1168896" cy="146596"/>
          </a:xfrm>
          <a:prstGeom prst="rect">
            <a:avLst/>
          </a:prstGeom>
          <a:noFill/>
          <a:ln/>
        </p:spPr>
        <p:txBody>
          <a:bodyPr wrap="square" lIns="0" tIns="0" rIns="0" bIns="0" rtlCol="0" anchor="t"/>
          <a:lstStyle/>
          <a:p>
            <a:pPr algn="ctr" indent="0" marL="0">
              <a:lnSpc>
                <a:spcPts val="1155"/>
              </a:lnSpc>
              <a:buNone/>
            </a:pPr>
            <a:r>
              <a:rPr lang="en-US" sz="825" dirty="0">
                <a:solidFill>
                  <a:srgbClr val="6B7280"/>
                </a:solidFill>
                <a:latin typeface="Arial" pitchFamily="34" charset="0"/>
                <a:ea typeface="Arial" pitchFamily="34" charset="-122"/>
                <a:cs typeface="Arial" pitchFamily="34" charset="-120"/>
              </a:rPr>
              <a:t>IDE</a:t>
            </a:r>
            <a:endParaRPr lang="en-US" sz="825" dirty="0"/>
          </a:p>
        </p:txBody>
      </p:sp>
      <p:sp>
        <p:nvSpPr>
          <p:cNvPr id="23" name="Text 21"/>
          <p:cNvSpPr/>
          <p:nvPr/>
        </p:nvSpPr>
        <p:spPr>
          <a:xfrm>
            <a:off x="3336782" y="2489895"/>
            <a:ext cx="1315084" cy="146596"/>
          </a:xfrm>
          <a:prstGeom prst="rect">
            <a:avLst/>
          </a:prstGeom>
          <a:noFill/>
          <a:ln/>
        </p:spPr>
        <p:txBody>
          <a:bodyPr wrap="square" lIns="0" tIns="0" rIns="0" bIns="0" rtlCol="0" anchor="t"/>
          <a:lstStyle/>
          <a:p>
            <a:pPr algn="ctr" indent="0" marL="0">
              <a:lnSpc>
                <a:spcPts val="1155"/>
              </a:lnSpc>
              <a:buNone/>
            </a:pPr>
            <a:r>
              <a:rPr lang="en-US" sz="825" dirty="0">
                <a:solidFill>
                  <a:srgbClr val="6B7280"/>
                </a:solidFill>
                <a:latin typeface="Arial" pitchFamily="34" charset="0"/>
                <a:ea typeface="Arial" pitchFamily="34" charset="-122"/>
                <a:cs typeface="Arial" pitchFamily="34" charset="-120"/>
              </a:rPr>
              <a:t>Flexible, open</a:t>
            </a:r>
            <a:endParaRPr lang="en-US" sz="825" dirty="0"/>
          </a:p>
        </p:txBody>
      </p:sp>
      <p:sp>
        <p:nvSpPr>
          <p:cNvPr id="24" name="Text 22"/>
          <p:cNvSpPr/>
          <p:nvPr/>
        </p:nvSpPr>
        <p:spPr>
          <a:xfrm>
            <a:off x="4779913" y="2489895"/>
            <a:ext cx="1168896" cy="146596"/>
          </a:xfrm>
          <a:prstGeom prst="rect">
            <a:avLst/>
          </a:prstGeom>
          <a:noFill/>
          <a:ln/>
        </p:spPr>
        <p:txBody>
          <a:bodyPr wrap="square" lIns="0" tIns="0" rIns="0" bIns="0" rtlCol="0" anchor="t"/>
          <a:lstStyle/>
          <a:p>
            <a:pPr algn="ctr" indent="0" marL="0">
              <a:lnSpc>
                <a:spcPts val="1155"/>
              </a:lnSpc>
              <a:buNone/>
            </a:pPr>
            <a:r>
              <a:rPr lang="en-US" sz="825" dirty="0">
                <a:solidFill>
                  <a:srgbClr val="6B7280"/>
                </a:solidFill>
                <a:latin typeface="Arial" pitchFamily="34" charset="0"/>
                <a:ea typeface="Arial" pitchFamily="34" charset="-122"/>
                <a:cs typeface="Arial" pitchFamily="34" charset="-120"/>
              </a:rPr>
              <a:t>Free + API</a:t>
            </a:r>
            <a:endParaRPr lang="en-US" sz="825" dirty="0"/>
          </a:p>
        </p:txBody>
      </p:sp>
      <p:sp>
        <p:nvSpPr>
          <p:cNvPr id="25" name="Text 23"/>
          <p:cNvSpPr/>
          <p:nvPr/>
        </p:nvSpPr>
        <p:spPr>
          <a:xfrm>
            <a:off x="6078289" y="2489895"/>
            <a:ext cx="1168896" cy="146596"/>
          </a:xfrm>
          <a:prstGeom prst="rect">
            <a:avLst/>
          </a:prstGeom>
          <a:noFill/>
          <a:ln/>
        </p:spPr>
        <p:txBody>
          <a:bodyPr wrap="square" lIns="0" tIns="0" rIns="0" bIns="0" rtlCol="0" anchor="t"/>
          <a:lstStyle/>
          <a:p>
            <a:pPr algn="ctr" indent="0" marL="0">
              <a:lnSpc>
                <a:spcPts val="1155"/>
              </a:lnSpc>
              <a:buNone/>
            </a:pPr>
            <a:r>
              <a:rPr lang="en-US" sz="825" dirty="0">
                <a:solidFill>
                  <a:srgbClr val="059669"/>
                </a:solidFill>
                <a:latin typeface="Arial" pitchFamily="34" charset="0"/>
                <a:ea typeface="Arial" pitchFamily="34" charset="-122"/>
                <a:cs typeface="Arial" pitchFamily="34" charset="-120"/>
              </a:rPr>
              <a:t>Yes (Azure)</a:t>
            </a:r>
            <a:endParaRPr lang="en-US" sz="825" dirty="0"/>
          </a:p>
        </p:txBody>
      </p:sp>
      <p:sp>
        <p:nvSpPr>
          <p:cNvPr id="26" name="Text 24"/>
          <p:cNvSpPr/>
          <p:nvPr/>
        </p:nvSpPr>
        <p:spPr>
          <a:xfrm>
            <a:off x="7376666" y="2489895"/>
            <a:ext cx="1168896" cy="146596"/>
          </a:xfrm>
          <a:prstGeom prst="rect">
            <a:avLst/>
          </a:prstGeom>
          <a:noFill/>
          <a:ln/>
        </p:spPr>
        <p:txBody>
          <a:bodyPr wrap="square" lIns="0" tIns="0" rIns="0" bIns="0" rtlCol="0" anchor="t"/>
          <a:lstStyle/>
          <a:p>
            <a:pPr algn="ctr" indent="0" marL="0">
              <a:lnSpc>
                <a:spcPts val="1155"/>
              </a:lnSpc>
              <a:buNone/>
            </a:pPr>
            <a:r>
              <a:rPr lang="en-US" sz="825" b="1" dirty="0">
                <a:solidFill>
                  <a:srgbClr val="F59E0B"/>
                </a:solidFill>
                <a:latin typeface="Arial" pitchFamily="34" charset="0"/>
                <a:ea typeface="Arial" pitchFamily="34" charset="-122"/>
                <a:cs typeface="Arial" pitchFamily="34" charset="-120"/>
              </a:rPr>
              <a:t>Good</a:t>
            </a:r>
            <a:endParaRPr lang="en-US" sz="825" dirty="0"/>
          </a:p>
        </p:txBody>
      </p:sp>
      <p:sp>
        <p:nvSpPr>
          <p:cNvPr id="27" name="Text 25"/>
          <p:cNvSpPr/>
          <p:nvPr/>
        </p:nvSpPr>
        <p:spPr>
          <a:xfrm>
            <a:off x="457200" y="2893665"/>
            <a:ext cx="8229600" cy="346621"/>
          </a:xfrm>
          <a:prstGeom prst="rect">
            <a:avLst/>
          </a:prstGeom>
          <a:solidFill>
            <a:srgbClr val="FFFFFF"/>
          </a:solidFill>
          <a:ln/>
        </p:spPr>
        <p:txBody>
          <a:bodyPr wrap="square" rtlCol="0" anchor="ctr"/>
          <a:lstStyle/>
          <a:p>
            <a:pPr indent="0" marL="0">
              <a:buNone/>
            </a:pPr>
            <a:endParaRPr lang="en-US" dirty="0"/>
          </a:p>
        </p:txBody>
      </p:sp>
      <p:sp>
        <p:nvSpPr>
          <p:cNvPr id="28" name="Shape 26"/>
          <p:cNvSpPr/>
          <p:nvPr/>
        </p:nvSpPr>
        <p:spPr>
          <a:xfrm>
            <a:off x="457200" y="3235523"/>
            <a:ext cx="8229600" cy="0"/>
          </a:xfrm>
          <a:prstGeom prst="line">
            <a:avLst/>
          </a:prstGeom>
          <a:noFill/>
          <a:ln w="9525">
            <a:solidFill>
              <a:srgbClr val="E4E7ED"/>
            </a:solidFill>
            <a:prstDash val="solid"/>
          </a:ln>
        </p:spPr>
      </p:sp>
      <p:sp>
        <p:nvSpPr>
          <p:cNvPr id="29" name="Text 27"/>
          <p:cNvSpPr/>
          <p:nvPr/>
        </p:nvSpPr>
        <p:spPr>
          <a:xfrm>
            <a:off x="609600" y="2988915"/>
            <a:ext cx="1315084" cy="146596"/>
          </a:xfrm>
          <a:prstGeom prst="rect">
            <a:avLst/>
          </a:prstGeom>
          <a:noFill/>
          <a:ln/>
        </p:spPr>
        <p:txBody>
          <a:bodyPr wrap="square" lIns="0" tIns="0" rIns="0" bIns="0" rtlCol="0" anchor="t"/>
          <a:lstStyle/>
          <a:p>
            <a:pPr algn="l" indent="0" marL="0">
              <a:lnSpc>
                <a:spcPts val="1155"/>
              </a:lnSpc>
              <a:buNone/>
            </a:pPr>
            <a:r>
              <a:rPr lang="en-US" sz="825" b="1" dirty="0">
                <a:solidFill>
                  <a:srgbClr val="1A1F2E"/>
                </a:solidFill>
                <a:latin typeface="Arial" pitchFamily="34" charset="0"/>
                <a:ea typeface="Arial" pitchFamily="34" charset="-122"/>
                <a:cs typeface="Arial" pitchFamily="34" charset="-120"/>
              </a:rPr>
              <a:t>GitHub Copilot</a:t>
            </a:r>
            <a:endParaRPr lang="en-US" sz="825" dirty="0"/>
          </a:p>
        </p:txBody>
      </p:sp>
      <p:sp>
        <p:nvSpPr>
          <p:cNvPr id="30" name="Text 28"/>
          <p:cNvSpPr/>
          <p:nvPr/>
        </p:nvSpPr>
        <p:spPr>
          <a:xfrm>
            <a:off x="2039838" y="2988915"/>
            <a:ext cx="1168896" cy="146596"/>
          </a:xfrm>
          <a:prstGeom prst="rect">
            <a:avLst/>
          </a:prstGeom>
          <a:noFill/>
          <a:ln/>
        </p:spPr>
        <p:txBody>
          <a:bodyPr wrap="square" lIns="0" tIns="0" rIns="0" bIns="0" rtlCol="0" anchor="t"/>
          <a:lstStyle/>
          <a:p>
            <a:pPr algn="ctr" indent="0" marL="0">
              <a:lnSpc>
                <a:spcPts val="1155"/>
              </a:lnSpc>
              <a:buNone/>
            </a:pPr>
            <a:r>
              <a:rPr lang="en-US" sz="825" dirty="0">
                <a:solidFill>
                  <a:srgbClr val="6B7280"/>
                </a:solidFill>
                <a:latin typeface="Arial" pitchFamily="34" charset="0"/>
                <a:ea typeface="Arial" pitchFamily="34" charset="-122"/>
                <a:cs typeface="Arial" pitchFamily="34" charset="-120"/>
              </a:rPr>
              <a:t>IDE</a:t>
            </a:r>
            <a:endParaRPr lang="en-US" sz="825" dirty="0"/>
          </a:p>
        </p:txBody>
      </p:sp>
      <p:sp>
        <p:nvSpPr>
          <p:cNvPr id="31" name="Text 29"/>
          <p:cNvSpPr/>
          <p:nvPr/>
        </p:nvSpPr>
        <p:spPr>
          <a:xfrm>
            <a:off x="3336782" y="2988915"/>
            <a:ext cx="1315084" cy="146596"/>
          </a:xfrm>
          <a:prstGeom prst="rect">
            <a:avLst/>
          </a:prstGeom>
          <a:noFill/>
          <a:ln/>
        </p:spPr>
        <p:txBody>
          <a:bodyPr wrap="square" lIns="0" tIns="0" rIns="0" bIns="0" rtlCol="0" anchor="t"/>
          <a:lstStyle/>
          <a:p>
            <a:pPr algn="ctr" indent="0" marL="0">
              <a:lnSpc>
                <a:spcPts val="1155"/>
              </a:lnSpc>
              <a:buNone/>
            </a:pPr>
            <a:r>
              <a:rPr lang="en-US" sz="825" dirty="0">
                <a:solidFill>
                  <a:srgbClr val="6B7280"/>
                </a:solidFill>
                <a:latin typeface="Arial" pitchFamily="34" charset="0"/>
                <a:ea typeface="Arial" pitchFamily="34" charset="-122"/>
                <a:cs typeface="Arial" pitchFamily="34" charset="-120"/>
              </a:rPr>
              <a:t>Completions</a:t>
            </a:r>
            <a:endParaRPr lang="en-US" sz="825" dirty="0"/>
          </a:p>
        </p:txBody>
      </p:sp>
      <p:sp>
        <p:nvSpPr>
          <p:cNvPr id="32" name="Text 30"/>
          <p:cNvSpPr/>
          <p:nvPr/>
        </p:nvSpPr>
        <p:spPr>
          <a:xfrm>
            <a:off x="4779913" y="2988915"/>
            <a:ext cx="1168896" cy="146596"/>
          </a:xfrm>
          <a:prstGeom prst="rect">
            <a:avLst/>
          </a:prstGeom>
          <a:noFill/>
          <a:ln/>
        </p:spPr>
        <p:txBody>
          <a:bodyPr wrap="square" lIns="0" tIns="0" rIns="0" bIns="0" rtlCol="0" anchor="t"/>
          <a:lstStyle/>
          <a:p>
            <a:pPr algn="ctr" indent="0" marL="0">
              <a:lnSpc>
                <a:spcPts val="1155"/>
              </a:lnSpc>
              <a:buNone/>
            </a:pPr>
            <a:r>
              <a:rPr lang="en-US" sz="825" dirty="0">
                <a:solidFill>
                  <a:srgbClr val="6B7280"/>
                </a:solidFill>
                <a:latin typeface="Arial" pitchFamily="34" charset="0"/>
                <a:ea typeface="Arial" pitchFamily="34" charset="-122"/>
                <a:cs typeface="Arial" pitchFamily="34" charset="-120"/>
              </a:rPr>
              <a:t>$10-19/mo</a:t>
            </a:r>
            <a:endParaRPr lang="en-US" sz="825" dirty="0"/>
          </a:p>
        </p:txBody>
      </p:sp>
      <p:sp>
        <p:nvSpPr>
          <p:cNvPr id="33" name="Text 31"/>
          <p:cNvSpPr/>
          <p:nvPr/>
        </p:nvSpPr>
        <p:spPr>
          <a:xfrm>
            <a:off x="6078289" y="2988915"/>
            <a:ext cx="1168896" cy="146596"/>
          </a:xfrm>
          <a:prstGeom prst="rect">
            <a:avLst/>
          </a:prstGeom>
          <a:noFill/>
          <a:ln/>
        </p:spPr>
        <p:txBody>
          <a:bodyPr wrap="square" lIns="0" tIns="0" rIns="0" bIns="0" rtlCol="0" anchor="t"/>
          <a:lstStyle/>
          <a:p>
            <a:pPr algn="ctr" indent="0" marL="0">
              <a:lnSpc>
                <a:spcPts val="1155"/>
              </a:lnSpc>
              <a:buNone/>
            </a:pPr>
            <a:r>
              <a:rPr lang="en-US" sz="825" dirty="0">
                <a:solidFill>
                  <a:srgbClr val="059669"/>
                </a:solidFill>
                <a:latin typeface="Arial" pitchFamily="34" charset="0"/>
                <a:ea typeface="Arial" pitchFamily="34" charset="-122"/>
                <a:cs typeface="Arial" pitchFamily="34" charset="-120"/>
              </a:rPr>
              <a:t>Yes</a:t>
            </a:r>
            <a:endParaRPr lang="en-US" sz="825" dirty="0"/>
          </a:p>
        </p:txBody>
      </p:sp>
      <p:sp>
        <p:nvSpPr>
          <p:cNvPr id="34" name="Text 32"/>
          <p:cNvSpPr/>
          <p:nvPr/>
        </p:nvSpPr>
        <p:spPr>
          <a:xfrm>
            <a:off x="7376666" y="2988915"/>
            <a:ext cx="1168896" cy="146596"/>
          </a:xfrm>
          <a:prstGeom prst="rect">
            <a:avLst/>
          </a:prstGeom>
          <a:noFill/>
          <a:ln/>
        </p:spPr>
        <p:txBody>
          <a:bodyPr wrap="square" lIns="0" tIns="0" rIns="0" bIns="0" rtlCol="0" anchor="t"/>
          <a:lstStyle/>
          <a:p>
            <a:pPr algn="ctr" indent="0" marL="0">
              <a:lnSpc>
                <a:spcPts val="1155"/>
              </a:lnSpc>
              <a:buNone/>
            </a:pPr>
            <a:r>
              <a:rPr lang="en-US" sz="825" b="1" dirty="0">
                <a:solidFill>
                  <a:srgbClr val="F59E0B"/>
                </a:solidFill>
                <a:latin typeface="Arial" pitchFamily="34" charset="0"/>
                <a:ea typeface="Arial" pitchFamily="34" charset="-122"/>
                <a:cs typeface="Arial" pitchFamily="34" charset="-120"/>
              </a:rPr>
              <a:t>Good</a:t>
            </a:r>
            <a:endParaRPr lang="en-US" sz="825" dirty="0"/>
          </a:p>
        </p:txBody>
      </p:sp>
      <p:sp>
        <p:nvSpPr>
          <p:cNvPr id="35" name="Text 33"/>
          <p:cNvSpPr/>
          <p:nvPr/>
        </p:nvSpPr>
        <p:spPr>
          <a:xfrm>
            <a:off x="457200" y="3392686"/>
            <a:ext cx="8229600" cy="337096"/>
          </a:xfrm>
          <a:prstGeom prst="rect">
            <a:avLst/>
          </a:prstGeom>
          <a:solidFill>
            <a:srgbClr val="F7F8FA"/>
          </a:solidFill>
          <a:ln/>
        </p:spPr>
        <p:txBody>
          <a:bodyPr wrap="square" rtlCol="0" anchor="ctr"/>
          <a:lstStyle/>
          <a:p>
            <a:pPr indent="0" marL="0">
              <a:buNone/>
            </a:pPr>
            <a:endParaRPr lang="en-US" dirty="0"/>
          </a:p>
        </p:txBody>
      </p:sp>
      <p:sp>
        <p:nvSpPr>
          <p:cNvPr id="36" name="Text 34"/>
          <p:cNvSpPr/>
          <p:nvPr/>
        </p:nvSpPr>
        <p:spPr>
          <a:xfrm>
            <a:off x="609600" y="3487936"/>
            <a:ext cx="1315084" cy="146596"/>
          </a:xfrm>
          <a:prstGeom prst="rect">
            <a:avLst/>
          </a:prstGeom>
          <a:noFill/>
          <a:ln/>
        </p:spPr>
        <p:txBody>
          <a:bodyPr wrap="square" lIns="0" tIns="0" rIns="0" bIns="0" rtlCol="0" anchor="t"/>
          <a:lstStyle/>
          <a:p>
            <a:pPr algn="l" indent="0" marL="0">
              <a:lnSpc>
                <a:spcPts val="1155"/>
              </a:lnSpc>
              <a:buNone/>
            </a:pPr>
            <a:r>
              <a:rPr lang="en-US" sz="825" b="1" dirty="0">
                <a:solidFill>
                  <a:srgbClr val="1A1F2E"/>
                </a:solidFill>
                <a:latin typeface="Arial" pitchFamily="34" charset="0"/>
                <a:ea typeface="Arial" pitchFamily="34" charset="-122"/>
                <a:cs typeface="Arial" pitchFamily="34" charset="-120"/>
              </a:rPr>
              <a:t>Cursor</a:t>
            </a:r>
            <a:endParaRPr lang="en-US" sz="825" dirty="0"/>
          </a:p>
        </p:txBody>
      </p:sp>
      <p:sp>
        <p:nvSpPr>
          <p:cNvPr id="37" name="Text 35"/>
          <p:cNvSpPr/>
          <p:nvPr/>
        </p:nvSpPr>
        <p:spPr>
          <a:xfrm>
            <a:off x="2039838" y="3487936"/>
            <a:ext cx="1168896" cy="146596"/>
          </a:xfrm>
          <a:prstGeom prst="rect">
            <a:avLst/>
          </a:prstGeom>
          <a:noFill/>
          <a:ln/>
        </p:spPr>
        <p:txBody>
          <a:bodyPr wrap="square" lIns="0" tIns="0" rIns="0" bIns="0" rtlCol="0" anchor="t"/>
          <a:lstStyle/>
          <a:p>
            <a:pPr algn="ctr" indent="0" marL="0">
              <a:lnSpc>
                <a:spcPts val="1155"/>
              </a:lnSpc>
              <a:buNone/>
            </a:pPr>
            <a:r>
              <a:rPr lang="en-US" sz="825" dirty="0">
                <a:solidFill>
                  <a:srgbClr val="6B7280"/>
                </a:solidFill>
                <a:latin typeface="Arial" pitchFamily="34" charset="0"/>
                <a:ea typeface="Arial" pitchFamily="34" charset="-122"/>
                <a:cs typeface="Arial" pitchFamily="34" charset="-120"/>
              </a:rPr>
              <a:t>IDE</a:t>
            </a:r>
            <a:endParaRPr lang="en-US" sz="825" dirty="0"/>
          </a:p>
        </p:txBody>
      </p:sp>
      <p:sp>
        <p:nvSpPr>
          <p:cNvPr id="38" name="Text 36"/>
          <p:cNvSpPr/>
          <p:nvPr/>
        </p:nvSpPr>
        <p:spPr>
          <a:xfrm>
            <a:off x="3336782" y="3487936"/>
            <a:ext cx="1315084" cy="146596"/>
          </a:xfrm>
          <a:prstGeom prst="rect">
            <a:avLst/>
          </a:prstGeom>
          <a:noFill/>
          <a:ln/>
        </p:spPr>
        <p:txBody>
          <a:bodyPr wrap="square" lIns="0" tIns="0" rIns="0" bIns="0" rtlCol="0" anchor="t"/>
          <a:lstStyle/>
          <a:p>
            <a:pPr algn="ctr" indent="0" marL="0">
              <a:lnSpc>
                <a:spcPts val="1155"/>
              </a:lnSpc>
              <a:buNone/>
            </a:pPr>
            <a:r>
              <a:rPr lang="en-US" sz="825" dirty="0">
                <a:solidFill>
                  <a:srgbClr val="6B7280"/>
                </a:solidFill>
                <a:latin typeface="Arial" pitchFamily="34" charset="0"/>
                <a:ea typeface="Arial" pitchFamily="34" charset="-122"/>
                <a:cs typeface="Arial" pitchFamily="34" charset="-120"/>
              </a:rPr>
              <a:t>AI-native UX</a:t>
            </a:r>
            <a:endParaRPr lang="en-US" sz="825" dirty="0"/>
          </a:p>
        </p:txBody>
      </p:sp>
      <p:sp>
        <p:nvSpPr>
          <p:cNvPr id="39" name="Text 37"/>
          <p:cNvSpPr/>
          <p:nvPr/>
        </p:nvSpPr>
        <p:spPr>
          <a:xfrm>
            <a:off x="4779913" y="3487936"/>
            <a:ext cx="1168896" cy="146596"/>
          </a:xfrm>
          <a:prstGeom prst="rect">
            <a:avLst/>
          </a:prstGeom>
          <a:noFill/>
          <a:ln/>
        </p:spPr>
        <p:txBody>
          <a:bodyPr wrap="square" lIns="0" tIns="0" rIns="0" bIns="0" rtlCol="0" anchor="t"/>
          <a:lstStyle/>
          <a:p>
            <a:pPr algn="ctr" indent="0" marL="0">
              <a:lnSpc>
                <a:spcPts val="1155"/>
              </a:lnSpc>
              <a:buNone/>
            </a:pPr>
            <a:r>
              <a:rPr lang="en-US" sz="825" dirty="0">
                <a:solidFill>
                  <a:srgbClr val="6B7280"/>
                </a:solidFill>
                <a:latin typeface="Arial" pitchFamily="34" charset="0"/>
                <a:ea typeface="Arial" pitchFamily="34" charset="-122"/>
                <a:cs typeface="Arial" pitchFamily="34" charset="-120"/>
              </a:rPr>
              <a:t>Free-$20/mo</a:t>
            </a:r>
            <a:endParaRPr lang="en-US" sz="825" dirty="0"/>
          </a:p>
        </p:txBody>
      </p:sp>
      <p:sp>
        <p:nvSpPr>
          <p:cNvPr id="40" name="Text 38"/>
          <p:cNvSpPr/>
          <p:nvPr/>
        </p:nvSpPr>
        <p:spPr>
          <a:xfrm>
            <a:off x="6078289" y="3487936"/>
            <a:ext cx="1168896" cy="146596"/>
          </a:xfrm>
          <a:prstGeom prst="rect">
            <a:avLst/>
          </a:prstGeom>
          <a:noFill/>
          <a:ln/>
        </p:spPr>
        <p:txBody>
          <a:bodyPr wrap="square" lIns="0" tIns="0" rIns="0" bIns="0" rtlCol="0" anchor="t"/>
          <a:lstStyle/>
          <a:p>
            <a:pPr algn="ctr" indent="0" marL="0">
              <a:lnSpc>
                <a:spcPts val="1155"/>
              </a:lnSpc>
              <a:buNone/>
            </a:pPr>
            <a:r>
              <a:rPr lang="en-US" sz="825" dirty="0">
                <a:solidFill>
                  <a:srgbClr val="F59E0B"/>
                </a:solidFill>
                <a:latin typeface="Arial" pitchFamily="34" charset="0"/>
                <a:ea typeface="Arial" pitchFamily="34" charset="-122"/>
                <a:cs typeface="Arial" pitchFamily="34" charset="-120"/>
              </a:rPr>
              <a:t>Limited</a:t>
            </a:r>
            <a:endParaRPr lang="en-US" sz="825" dirty="0"/>
          </a:p>
        </p:txBody>
      </p:sp>
      <p:sp>
        <p:nvSpPr>
          <p:cNvPr id="41" name="Text 39"/>
          <p:cNvSpPr/>
          <p:nvPr/>
        </p:nvSpPr>
        <p:spPr>
          <a:xfrm>
            <a:off x="7376666" y="3487936"/>
            <a:ext cx="1168896" cy="146596"/>
          </a:xfrm>
          <a:prstGeom prst="rect">
            <a:avLst/>
          </a:prstGeom>
          <a:noFill/>
          <a:ln/>
        </p:spPr>
        <p:txBody>
          <a:bodyPr wrap="square" lIns="0" tIns="0" rIns="0" bIns="0" rtlCol="0" anchor="t"/>
          <a:lstStyle/>
          <a:p>
            <a:pPr algn="ctr" indent="0" marL="0">
              <a:lnSpc>
                <a:spcPts val="1155"/>
              </a:lnSpc>
              <a:buNone/>
            </a:pPr>
            <a:r>
              <a:rPr lang="en-US" sz="825" b="1" dirty="0">
                <a:solidFill>
                  <a:srgbClr val="F59E0B"/>
                </a:solidFill>
                <a:latin typeface="Arial" pitchFamily="34" charset="0"/>
                <a:ea typeface="Arial" pitchFamily="34" charset="-122"/>
                <a:cs typeface="Arial" pitchFamily="34" charset="-120"/>
              </a:rPr>
              <a:t>Good</a:t>
            </a:r>
            <a:endParaRPr lang="en-US" sz="825" dirty="0"/>
          </a:p>
        </p:txBody>
      </p:sp>
      <p:sp>
        <p:nvSpPr>
          <p:cNvPr id="42" name="Text 40"/>
          <p:cNvSpPr/>
          <p:nvPr/>
        </p:nvSpPr>
        <p:spPr>
          <a:xfrm>
            <a:off x="457200" y="4034582"/>
            <a:ext cx="8229600" cy="478036"/>
          </a:xfrm>
          <a:prstGeom prst="rect">
            <a:avLst/>
          </a:prstGeom>
          <a:solidFill>
            <a:srgbClr val="1A1F2E"/>
          </a:solidFill>
          <a:ln/>
        </p:spPr>
        <p:txBody>
          <a:bodyPr wrap="square" rtlCol="0" anchor="ctr"/>
          <a:lstStyle/>
          <a:p>
            <a:pPr indent="0" marL="0">
              <a:buNone/>
            </a:pPr>
            <a:endParaRPr lang="en-US" dirty="0"/>
          </a:p>
        </p:txBody>
      </p:sp>
      <p:sp>
        <p:nvSpPr>
          <p:cNvPr id="43" name="Text 41"/>
          <p:cNvSpPr/>
          <p:nvPr/>
        </p:nvSpPr>
        <p:spPr>
          <a:xfrm>
            <a:off x="569214" y="4186982"/>
            <a:ext cx="8005572" cy="173236"/>
          </a:xfrm>
          <a:prstGeom prst="rect">
            <a:avLst/>
          </a:prstGeom>
          <a:noFill/>
          <a:ln/>
        </p:spPr>
        <p:txBody>
          <a:bodyPr wrap="square" lIns="0" tIns="0" rIns="0" bIns="0" rtlCol="0" anchor="t"/>
          <a:lstStyle/>
          <a:p>
            <a:pPr algn="ctr" indent="0" marL="0">
              <a:lnSpc>
                <a:spcPts val="1365"/>
              </a:lnSpc>
              <a:buNone/>
            </a:pPr>
            <a:r>
              <a:rPr lang="en-US" sz="975" dirty="0">
                <a:solidFill>
                  <a:srgbClr val="C9A227"/>
                </a:solidFill>
                <a:latin typeface="Arial" pitchFamily="34" charset="0"/>
                <a:ea typeface="Arial" pitchFamily="34" charset="-122"/>
                <a:cs typeface="Arial" pitchFamily="34" charset="-120"/>
              </a:rPr>
              <a:t>Recommendation:</a:t>
            </a:r>
            <a:pPr algn="ctr" indent="0" marL="0">
              <a:lnSpc>
                <a:spcPts val="1365"/>
              </a:lnSpc>
              <a:buNone/>
            </a:pPr>
            <a:r>
              <a:rPr lang="en-US" sz="975" dirty="0">
                <a:solidFill>
                  <a:srgbClr val="FFFFFF"/>
                </a:solidFill>
                <a:latin typeface="Arial" pitchFamily="34" charset="0"/>
                <a:ea typeface="Arial" pitchFamily="34" charset="-122"/>
                <a:cs typeface="Arial" pitchFamily="34" charset="-120"/>
              </a:rPr>
              <a:t> Claude Code for voice workflows + VS Code/Cursor for visual editing</a:t>
            </a:r>
            <a:endParaRPr lang="en-US" sz="975"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4496544" cy="5143500"/>
          </a:xfrm>
          <a:prstGeom prst="rect">
            <a:avLst/>
          </a:prstGeom>
          <a:solidFill>
            <a:srgbClr val="C9A227"/>
          </a:solidFill>
          <a:ln/>
        </p:spPr>
        <p:txBody>
          <a:bodyPr wrap="square" rtlCol="0" anchor="ctr"/>
          <a:lstStyle/>
          <a:p>
            <a:pPr indent="0" marL="0">
              <a:buNone/>
            </a:pPr>
            <a:endParaRPr lang="en-US" dirty="0"/>
          </a:p>
        </p:txBody>
      </p:sp>
      <p:sp>
        <p:nvSpPr>
          <p:cNvPr id="3" name="Text 1"/>
          <p:cNvSpPr/>
          <p:nvPr/>
        </p:nvSpPr>
        <p:spPr>
          <a:xfrm>
            <a:off x="381000" y="1505992"/>
            <a:ext cx="3809235" cy="133350"/>
          </a:xfrm>
          <a:prstGeom prst="rect">
            <a:avLst/>
          </a:prstGeom>
          <a:noFill/>
          <a:ln/>
        </p:spPr>
        <p:txBody>
          <a:bodyPr wrap="square" lIns="0" tIns="0" rIns="0" bIns="0" rtlCol="0" anchor="t"/>
          <a:lstStyle/>
          <a:p>
            <a:pPr algn="l" indent="0" marL="0">
              <a:lnSpc>
                <a:spcPts val="1050"/>
              </a:lnSpc>
              <a:spcAft>
                <a:spcPts val="900"/>
              </a:spcAft>
              <a:buNone/>
            </a:pPr>
            <a:r>
              <a:rPr lang="en-US" sz="750" dirty="0">
                <a:solidFill>
                  <a:srgbClr val="1A1F2E"/>
                </a:solidFill>
                <a:latin typeface="Arial" pitchFamily="34" charset="0"/>
                <a:ea typeface="Arial" pitchFamily="34" charset="-122"/>
                <a:cs typeface="Arial" pitchFamily="34" charset="-120"/>
              </a:rPr>
              <a:t>OUR RECOMMENDATION</a:t>
            </a:r>
            <a:endParaRPr lang="en-US" sz="750" dirty="0"/>
          </a:p>
        </p:txBody>
      </p:sp>
      <p:sp>
        <p:nvSpPr>
          <p:cNvPr id="4" name="Text 2"/>
          <p:cNvSpPr/>
          <p:nvPr/>
        </p:nvSpPr>
        <p:spPr>
          <a:xfrm>
            <a:off x="381000" y="1906042"/>
            <a:ext cx="2671763" cy="731341"/>
          </a:xfrm>
          <a:prstGeom prst="rect">
            <a:avLst/>
          </a:prstGeom>
          <a:noFill/>
          <a:ln/>
        </p:spPr>
        <p:txBody>
          <a:bodyPr wrap="square" lIns="0" tIns="0" rIns="0" bIns="0" rtlCol="0" anchor="t"/>
          <a:lstStyle/>
          <a:p>
            <a:pPr algn="l" indent="0" marL="0">
              <a:lnSpc>
                <a:spcPts val="2880"/>
              </a:lnSpc>
              <a:spcAft>
                <a:spcPts val="1200"/>
              </a:spcAft>
              <a:buNone/>
            </a:pPr>
            <a:r>
              <a:rPr lang="en-US" sz="2400" dirty="0">
                <a:solidFill>
                  <a:srgbClr val="1A1F2E"/>
                </a:solidFill>
                <a:latin typeface="Georgia" pitchFamily="34" charset="0"/>
                <a:ea typeface="Georgia" pitchFamily="34" charset="-122"/>
                <a:cs typeface="Georgia" pitchFamily="34" charset="-120"/>
              </a:rPr>
              <a:t>Claude Code for Voice Development</a:t>
            </a:r>
            <a:endParaRPr lang="en-US" sz="2400" dirty="0"/>
          </a:p>
        </p:txBody>
      </p:sp>
      <p:sp>
        <p:nvSpPr>
          <p:cNvPr id="5" name="Text 3"/>
          <p:cNvSpPr/>
          <p:nvPr/>
        </p:nvSpPr>
        <p:spPr>
          <a:xfrm>
            <a:off x="381000" y="2942183"/>
            <a:ext cx="381000" cy="19050"/>
          </a:xfrm>
          <a:prstGeom prst="rect">
            <a:avLst/>
          </a:prstGeom>
          <a:solidFill>
            <a:srgbClr val="1A1F2E"/>
          </a:solidFill>
          <a:ln/>
        </p:spPr>
        <p:txBody>
          <a:bodyPr wrap="square" rtlCol="0" anchor="ctr"/>
          <a:lstStyle/>
          <a:p>
            <a:pPr indent="0" marL="0">
              <a:buNone/>
            </a:pPr>
            <a:endParaRPr lang="en-US" dirty="0"/>
          </a:p>
        </p:txBody>
      </p:sp>
      <p:sp>
        <p:nvSpPr>
          <p:cNvPr id="6" name="Text 4"/>
          <p:cNvSpPr/>
          <p:nvPr/>
        </p:nvSpPr>
        <p:spPr>
          <a:xfrm>
            <a:off x="381000" y="3266033"/>
            <a:ext cx="3809235" cy="371475"/>
          </a:xfrm>
          <a:prstGeom prst="rect">
            <a:avLst/>
          </a:prstGeom>
          <a:noFill/>
          <a:ln/>
        </p:spPr>
        <p:txBody>
          <a:bodyPr wrap="square" lIns="0" tIns="0" rIns="0" bIns="0" rtlCol="0" anchor="t"/>
          <a:lstStyle/>
          <a:p>
            <a:pPr algn="l" indent="0" marL="0">
              <a:lnSpc>
                <a:spcPts val="1463"/>
              </a:lnSpc>
              <a:buNone/>
            </a:pPr>
            <a:r>
              <a:rPr lang="en-US" sz="975" dirty="0">
                <a:solidFill>
                  <a:srgbClr val="1A1F2E">
                    <a:alpha val="80000"/>
                  </a:srgbClr>
                </a:solidFill>
                <a:latin typeface="Arial" pitchFamily="34" charset="0"/>
                <a:ea typeface="Arial" pitchFamily="34" charset="-122"/>
                <a:cs typeface="Arial" pitchFamily="34" charset="-120"/>
              </a:rPr>
              <a:t>The terminal-based interface is naturally suited for voice input. Speak high-level commands, let Claude handle the details.</a:t>
            </a:r>
            <a:endParaRPr lang="en-US" sz="975" dirty="0"/>
          </a:p>
        </p:txBody>
      </p:sp>
      <p:sp>
        <p:nvSpPr>
          <p:cNvPr id="7" name="Text 5"/>
          <p:cNvSpPr/>
          <p:nvPr/>
        </p:nvSpPr>
        <p:spPr>
          <a:xfrm>
            <a:off x="4648944" y="0"/>
            <a:ext cx="4495056" cy="5143500"/>
          </a:xfrm>
          <a:prstGeom prst="rect">
            <a:avLst/>
          </a:prstGeom>
          <a:solidFill>
            <a:srgbClr val="1A1F2E"/>
          </a:solidFill>
          <a:ln/>
        </p:spPr>
        <p:txBody>
          <a:bodyPr wrap="square" rtlCol="0" anchor="ctr"/>
          <a:lstStyle/>
          <a:p>
            <a:pPr indent="0" marL="0">
              <a:buNone/>
            </a:pPr>
            <a:endParaRPr lang="en-US" dirty="0"/>
          </a:p>
        </p:txBody>
      </p:sp>
      <p:sp>
        <p:nvSpPr>
          <p:cNvPr id="8" name="Text 6"/>
          <p:cNvSpPr/>
          <p:nvPr/>
        </p:nvSpPr>
        <p:spPr>
          <a:xfrm>
            <a:off x="4991844" y="342900"/>
            <a:ext cx="3885441" cy="133350"/>
          </a:xfrm>
          <a:prstGeom prst="rect">
            <a:avLst/>
          </a:prstGeom>
          <a:noFill/>
          <a:ln/>
        </p:spPr>
        <p:txBody>
          <a:bodyPr wrap="square" lIns="0" tIns="0" rIns="0" bIns="0" rtlCol="0" anchor="t"/>
          <a:lstStyle/>
          <a:p>
            <a:pPr algn="l" indent="0" marL="0">
              <a:lnSpc>
                <a:spcPts val="1050"/>
              </a:lnSpc>
              <a:spcAft>
                <a:spcPts val="1500"/>
              </a:spcAft>
              <a:buNone/>
            </a:pPr>
            <a:r>
              <a:rPr lang="en-US" sz="750" dirty="0">
                <a:solidFill>
                  <a:srgbClr val="C9A227"/>
                </a:solidFill>
                <a:latin typeface="Arial" pitchFamily="34" charset="0"/>
                <a:ea typeface="Arial" pitchFamily="34" charset="-122"/>
                <a:cs typeface="Arial" pitchFamily="34" charset="-120"/>
              </a:rPr>
              <a:t>WHY CLAUDE CODE WINS</a:t>
            </a:r>
            <a:endParaRPr lang="en-US" sz="750" dirty="0"/>
          </a:p>
        </p:txBody>
      </p:sp>
      <p:sp>
        <p:nvSpPr>
          <p:cNvPr id="9" name="Text 7"/>
          <p:cNvSpPr/>
          <p:nvPr/>
        </p:nvSpPr>
        <p:spPr>
          <a:xfrm>
            <a:off x="4991844" y="819150"/>
            <a:ext cx="3885441" cy="173236"/>
          </a:xfrm>
          <a:prstGeom prst="rect">
            <a:avLst/>
          </a:prstGeom>
          <a:noFill/>
          <a:ln/>
        </p:spPr>
        <p:txBody>
          <a:bodyPr wrap="square" lIns="0" tIns="0" rIns="0" bIns="0" rtlCol="0" anchor="t"/>
          <a:lstStyle/>
          <a:p>
            <a:pPr algn="l" indent="0" marL="0">
              <a:lnSpc>
                <a:spcPts val="1365"/>
              </a:lnSpc>
              <a:spcAft>
                <a:spcPts val="300"/>
              </a:spcAft>
              <a:buNone/>
            </a:pPr>
            <a:r>
              <a:rPr lang="en-US" sz="975" dirty="0">
                <a:solidFill>
                  <a:srgbClr val="FFFFFF"/>
                </a:solidFill>
                <a:latin typeface="Georgia" pitchFamily="34" charset="0"/>
                <a:ea typeface="Georgia" pitchFamily="34" charset="-122"/>
                <a:cs typeface="Georgia" pitchFamily="34" charset="-120"/>
              </a:rPr>
              <a:t>Task-Level Interaction</a:t>
            </a:r>
            <a:endParaRPr lang="en-US" sz="975" dirty="0"/>
          </a:p>
        </p:txBody>
      </p:sp>
      <p:sp>
        <p:nvSpPr>
          <p:cNvPr id="10" name="Text 8"/>
          <p:cNvSpPr/>
          <p:nvPr/>
        </p:nvSpPr>
        <p:spPr>
          <a:xfrm>
            <a:off x="4991844" y="1030486"/>
            <a:ext cx="3885441" cy="146596"/>
          </a:xfrm>
          <a:prstGeom prst="rect">
            <a:avLst/>
          </a:prstGeom>
          <a:noFill/>
          <a:ln/>
        </p:spPr>
        <p:txBody>
          <a:bodyPr wrap="square" lIns="0" tIns="0" rIns="0" bIns="0" rtlCol="0" anchor="t"/>
          <a:lstStyle/>
          <a:p>
            <a:pPr algn="l" indent="0" marL="0">
              <a:lnSpc>
                <a:spcPts val="1155"/>
              </a:lnSpc>
              <a:buNone/>
            </a:pPr>
            <a:r>
              <a:rPr lang="en-US" sz="825" dirty="0">
                <a:solidFill>
                  <a:srgbClr val="FFFFFF">
                    <a:alpha val="60000"/>
                  </a:srgbClr>
                </a:solidFill>
                <a:latin typeface="Arial" pitchFamily="34" charset="0"/>
                <a:ea typeface="Arial" pitchFamily="34" charset="-122"/>
                <a:cs typeface="Arial" pitchFamily="34" charset="-120"/>
              </a:rPr>
              <a:t>You describe what you want, not how to do it. Perfect for natural language input.</a:t>
            </a:r>
            <a:endParaRPr lang="en-US" sz="825" dirty="0"/>
          </a:p>
        </p:txBody>
      </p:sp>
      <p:sp>
        <p:nvSpPr>
          <p:cNvPr id="11" name="Text 9"/>
          <p:cNvSpPr/>
          <p:nvPr/>
        </p:nvSpPr>
        <p:spPr>
          <a:xfrm>
            <a:off x="4991844" y="1481882"/>
            <a:ext cx="3885441" cy="173236"/>
          </a:xfrm>
          <a:prstGeom prst="rect">
            <a:avLst/>
          </a:prstGeom>
          <a:noFill/>
          <a:ln/>
        </p:spPr>
        <p:txBody>
          <a:bodyPr wrap="square" lIns="0" tIns="0" rIns="0" bIns="0" rtlCol="0" anchor="t"/>
          <a:lstStyle/>
          <a:p>
            <a:pPr algn="l" indent="0" marL="0">
              <a:lnSpc>
                <a:spcPts val="1365"/>
              </a:lnSpc>
              <a:spcAft>
                <a:spcPts val="300"/>
              </a:spcAft>
              <a:buNone/>
            </a:pPr>
            <a:r>
              <a:rPr lang="en-US" sz="975" dirty="0">
                <a:solidFill>
                  <a:srgbClr val="FFFFFF"/>
                </a:solidFill>
                <a:latin typeface="Georgia" pitchFamily="34" charset="0"/>
                <a:ea typeface="Georgia" pitchFamily="34" charset="-122"/>
                <a:cs typeface="Georgia" pitchFamily="34" charset="-120"/>
              </a:rPr>
              <a:t>Terminal = Voice Target</a:t>
            </a:r>
            <a:endParaRPr lang="en-US" sz="975" dirty="0"/>
          </a:p>
        </p:txBody>
      </p:sp>
      <p:sp>
        <p:nvSpPr>
          <p:cNvPr id="12" name="Text 10"/>
          <p:cNvSpPr/>
          <p:nvPr/>
        </p:nvSpPr>
        <p:spPr>
          <a:xfrm>
            <a:off x="4991844" y="1693218"/>
            <a:ext cx="3885441" cy="293191"/>
          </a:xfrm>
          <a:prstGeom prst="rect">
            <a:avLst/>
          </a:prstGeom>
          <a:noFill/>
          <a:ln/>
        </p:spPr>
        <p:txBody>
          <a:bodyPr wrap="square" lIns="0" tIns="0" rIns="0" bIns="0" rtlCol="0" anchor="t"/>
          <a:lstStyle/>
          <a:p>
            <a:pPr algn="l" indent="0" marL="0">
              <a:lnSpc>
                <a:spcPts val="1155"/>
              </a:lnSpc>
              <a:buNone/>
            </a:pPr>
            <a:r>
              <a:rPr lang="en-US" sz="825" dirty="0">
                <a:solidFill>
                  <a:srgbClr val="FFFFFF">
                    <a:alpha val="60000"/>
                  </a:srgbClr>
                </a:solidFill>
                <a:latin typeface="Arial" pitchFamily="34" charset="0"/>
                <a:ea typeface="Arial" pitchFamily="34" charset="-122"/>
                <a:cs typeface="Arial" pitchFamily="34" charset="-120"/>
              </a:rPr>
              <a:t>SuperWhisper/WhisperFlow insert text at cursor. Terminal accepts free-form commands.</a:t>
            </a:r>
            <a:endParaRPr lang="en-US" sz="825" dirty="0"/>
          </a:p>
        </p:txBody>
      </p:sp>
      <p:sp>
        <p:nvSpPr>
          <p:cNvPr id="13" name="Text 11"/>
          <p:cNvSpPr/>
          <p:nvPr/>
        </p:nvSpPr>
        <p:spPr>
          <a:xfrm>
            <a:off x="4991844" y="2291209"/>
            <a:ext cx="3885441" cy="173236"/>
          </a:xfrm>
          <a:prstGeom prst="rect">
            <a:avLst/>
          </a:prstGeom>
          <a:noFill/>
          <a:ln/>
        </p:spPr>
        <p:txBody>
          <a:bodyPr wrap="square" lIns="0" tIns="0" rIns="0" bIns="0" rtlCol="0" anchor="t"/>
          <a:lstStyle/>
          <a:p>
            <a:pPr algn="l" indent="0" marL="0">
              <a:lnSpc>
                <a:spcPts val="1365"/>
              </a:lnSpc>
              <a:spcAft>
                <a:spcPts val="300"/>
              </a:spcAft>
              <a:buNone/>
            </a:pPr>
            <a:r>
              <a:rPr lang="en-US" sz="975" dirty="0">
                <a:solidFill>
                  <a:srgbClr val="FFFFFF"/>
                </a:solidFill>
                <a:latin typeface="Georgia" pitchFamily="34" charset="0"/>
                <a:ea typeface="Georgia" pitchFamily="34" charset="-122"/>
                <a:cs typeface="Georgia" pitchFamily="34" charset="-120"/>
              </a:rPr>
              <a:t>Autonomous Execution</a:t>
            </a:r>
            <a:endParaRPr lang="en-US" sz="975" dirty="0"/>
          </a:p>
        </p:txBody>
      </p:sp>
      <p:sp>
        <p:nvSpPr>
          <p:cNvPr id="14" name="Text 12"/>
          <p:cNvSpPr/>
          <p:nvPr/>
        </p:nvSpPr>
        <p:spPr>
          <a:xfrm>
            <a:off x="4991844" y="2502545"/>
            <a:ext cx="3885441" cy="146596"/>
          </a:xfrm>
          <a:prstGeom prst="rect">
            <a:avLst/>
          </a:prstGeom>
          <a:noFill/>
          <a:ln/>
        </p:spPr>
        <p:txBody>
          <a:bodyPr wrap="square" lIns="0" tIns="0" rIns="0" bIns="0" rtlCol="0" anchor="t"/>
          <a:lstStyle/>
          <a:p>
            <a:pPr algn="l" indent="0" marL="0">
              <a:lnSpc>
                <a:spcPts val="1155"/>
              </a:lnSpc>
              <a:buNone/>
            </a:pPr>
            <a:r>
              <a:rPr lang="en-US" sz="825" dirty="0">
                <a:solidFill>
                  <a:srgbClr val="FFFFFF">
                    <a:alpha val="60000"/>
                  </a:srgbClr>
                </a:solidFill>
                <a:latin typeface="Arial" pitchFamily="34" charset="0"/>
                <a:ea typeface="Arial" pitchFamily="34" charset="-122"/>
                <a:cs typeface="Arial" pitchFamily="34" charset="-120"/>
              </a:rPr>
              <a:t>Claude reads, writes, and runs commands without constant approval requests.</a:t>
            </a:r>
            <a:endParaRPr lang="en-US" sz="825" dirty="0"/>
          </a:p>
        </p:txBody>
      </p:sp>
      <p:sp>
        <p:nvSpPr>
          <p:cNvPr id="15" name="Text 13"/>
          <p:cNvSpPr/>
          <p:nvPr/>
        </p:nvSpPr>
        <p:spPr>
          <a:xfrm>
            <a:off x="4991844" y="2953941"/>
            <a:ext cx="3885441" cy="173236"/>
          </a:xfrm>
          <a:prstGeom prst="rect">
            <a:avLst/>
          </a:prstGeom>
          <a:noFill/>
          <a:ln/>
        </p:spPr>
        <p:txBody>
          <a:bodyPr wrap="square" lIns="0" tIns="0" rIns="0" bIns="0" rtlCol="0" anchor="t"/>
          <a:lstStyle/>
          <a:p>
            <a:pPr algn="l" indent="0" marL="0">
              <a:lnSpc>
                <a:spcPts val="1365"/>
              </a:lnSpc>
              <a:spcAft>
                <a:spcPts val="300"/>
              </a:spcAft>
              <a:buNone/>
            </a:pPr>
            <a:r>
              <a:rPr lang="en-US" sz="975" dirty="0">
                <a:solidFill>
                  <a:srgbClr val="FFFFFF"/>
                </a:solidFill>
                <a:latin typeface="Georgia" pitchFamily="34" charset="0"/>
                <a:ea typeface="Georgia" pitchFamily="34" charset="-122"/>
                <a:cs typeface="Georgia" pitchFamily="34" charset="-120"/>
              </a:rPr>
              <a:t>Enterprise Compatible</a:t>
            </a:r>
            <a:endParaRPr lang="en-US" sz="975" dirty="0"/>
          </a:p>
        </p:txBody>
      </p:sp>
      <p:sp>
        <p:nvSpPr>
          <p:cNvPr id="16" name="Text 14"/>
          <p:cNvSpPr/>
          <p:nvPr/>
        </p:nvSpPr>
        <p:spPr>
          <a:xfrm>
            <a:off x="4991844" y="3165277"/>
            <a:ext cx="3885441" cy="146596"/>
          </a:xfrm>
          <a:prstGeom prst="rect">
            <a:avLst/>
          </a:prstGeom>
          <a:noFill/>
          <a:ln/>
        </p:spPr>
        <p:txBody>
          <a:bodyPr wrap="square" lIns="0" tIns="0" rIns="0" bIns="0" rtlCol="0" anchor="t"/>
          <a:lstStyle/>
          <a:p>
            <a:pPr algn="l" indent="0" marL="0">
              <a:lnSpc>
                <a:spcPts val="1155"/>
              </a:lnSpc>
              <a:buNone/>
            </a:pPr>
            <a:r>
              <a:rPr lang="en-US" sz="825" dirty="0">
                <a:solidFill>
                  <a:srgbClr val="FFFFFF">
                    <a:alpha val="60000"/>
                  </a:srgbClr>
                </a:solidFill>
                <a:latin typeface="Arial" pitchFamily="34" charset="0"/>
                <a:ea typeface="Arial" pitchFamily="34" charset="-122"/>
                <a:cs typeface="Arial" pitchFamily="34" charset="-120"/>
              </a:rPr>
              <a:t>Works with Azure OpenAI and custom endpoints for compliance.</a:t>
            </a:r>
            <a:endParaRPr lang="en-US" sz="825" dirty="0"/>
          </a:p>
        </p:txBody>
      </p:sp>
      <p:sp>
        <p:nvSpPr>
          <p:cNvPr id="17" name="Text 15"/>
          <p:cNvSpPr/>
          <p:nvPr/>
        </p:nvSpPr>
        <p:spPr>
          <a:xfrm>
            <a:off x="4991844" y="4387304"/>
            <a:ext cx="3809256" cy="413296"/>
          </a:xfrm>
          <a:prstGeom prst="rect">
            <a:avLst/>
          </a:prstGeom>
          <a:solidFill>
            <a:srgbClr val="252B3D"/>
          </a:solidFill>
          <a:ln/>
        </p:spPr>
        <p:txBody>
          <a:bodyPr wrap="square" rtlCol="0" anchor="ctr"/>
          <a:lstStyle/>
          <a:p>
            <a:pPr indent="0" marL="0">
              <a:buNone/>
            </a:pPr>
            <a:endParaRPr lang="en-US" dirty="0"/>
          </a:p>
        </p:txBody>
      </p:sp>
      <p:sp>
        <p:nvSpPr>
          <p:cNvPr id="18" name="Text 16"/>
          <p:cNvSpPr/>
          <p:nvPr/>
        </p:nvSpPr>
        <p:spPr>
          <a:xfrm>
            <a:off x="5089769" y="4520654"/>
            <a:ext cx="3613407" cy="146596"/>
          </a:xfrm>
          <a:prstGeom prst="rect">
            <a:avLst/>
          </a:prstGeom>
          <a:noFill/>
          <a:ln/>
        </p:spPr>
        <p:txBody>
          <a:bodyPr wrap="square" lIns="0" tIns="0" rIns="0" bIns="0" rtlCol="0" anchor="t"/>
          <a:lstStyle/>
          <a:p>
            <a:pPr algn="ctr" indent="0" marL="0">
              <a:lnSpc>
                <a:spcPts val="1155"/>
              </a:lnSpc>
              <a:buNone/>
            </a:pPr>
            <a:r>
              <a:rPr lang="en-US" sz="825" b="1" dirty="0">
                <a:solidFill>
                  <a:srgbClr val="C9A227"/>
                </a:solidFill>
                <a:latin typeface="Arial" pitchFamily="34" charset="0"/>
                <a:ea typeface="Arial" pitchFamily="34" charset="-122"/>
                <a:cs typeface="Arial" pitchFamily="34" charset="-120"/>
              </a:rPr>
              <a:t>Pairing:</a:t>
            </a:r>
            <a:pPr algn="ctr" indent="0" marL="0">
              <a:lnSpc>
                <a:spcPts val="1155"/>
              </a:lnSpc>
              <a:buNone/>
            </a:pPr>
            <a:r>
              <a:rPr lang="en-US" sz="825" dirty="0">
                <a:solidFill>
                  <a:srgbClr val="C9A227"/>
                </a:solidFill>
                <a:latin typeface="Arial" pitchFamily="34" charset="0"/>
                <a:ea typeface="Arial" pitchFamily="34" charset="-122"/>
                <a:cs typeface="Arial" pitchFamily="34" charset="-120"/>
              </a:rPr>
              <a:t> Voice tool + Claude Code + VS Code/Cursor for visual work</a:t>
            </a:r>
            <a:endParaRPr lang="en-US" sz="825"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980722" y="945952"/>
            <a:ext cx="1182407" cy="186630"/>
          </a:xfrm>
          <a:prstGeom prst="rect">
            <a:avLst/>
          </a:prstGeom>
          <a:noFill/>
          <a:ln/>
        </p:spPr>
        <p:txBody>
          <a:bodyPr wrap="square" lIns="0" tIns="0" rIns="0" bIns="0" rtlCol="0" anchor="t"/>
          <a:lstStyle/>
          <a:p>
            <a:pPr algn="ctr" indent="0" marL="0">
              <a:lnSpc>
                <a:spcPts val="1470"/>
              </a:lnSpc>
              <a:spcAft>
                <a:spcPts val="1800"/>
              </a:spcAft>
              <a:buNone/>
            </a:pPr>
            <a:r>
              <a:rPr lang="en-US" sz="1050" dirty="0">
                <a:solidFill>
                  <a:srgbClr val="C9A227"/>
                </a:solidFill>
                <a:latin typeface="Arial" pitchFamily="34" charset="0"/>
                <a:ea typeface="Arial" pitchFamily="34" charset="-122"/>
                <a:cs typeface="Arial" pitchFamily="34" charset="-120"/>
              </a:rPr>
              <a:t>SECTION 04</a:t>
            </a:r>
            <a:endParaRPr lang="en-US" sz="1050" dirty="0"/>
          </a:p>
        </p:txBody>
      </p:sp>
      <p:sp>
        <p:nvSpPr>
          <p:cNvPr id="3" name="Text 1"/>
          <p:cNvSpPr/>
          <p:nvPr/>
        </p:nvSpPr>
        <p:spPr>
          <a:xfrm>
            <a:off x="1775759" y="1513582"/>
            <a:ext cx="5592333" cy="495300"/>
          </a:xfrm>
          <a:prstGeom prst="rect">
            <a:avLst/>
          </a:prstGeom>
          <a:noFill/>
          <a:ln/>
        </p:spPr>
        <p:txBody>
          <a:bodyPr wrap="square" lIns="0" tIns="0" rIns="0" bIns="0" rtlCol="0" anchor="t"/>
          <a:lstStyle/>
          <a:p>
            <a:pPr algn="ctr" indent="0" marL="0">
              <a:lnSpc>
                <a:spcPts val="3900"/>
              </a:lnSpc>
              <a:spcAft>
                <a:spcPts val="1200"/>
              </a:spcAft>
              <a:buNone/>
            </a:pPr>
            <a:r>
              <a:rPr lang="en-US" sz="3900" dirty="0">
                <a:solidFill>
                  <a:srgbClr val="FFFFFF"/>
                </a:solidFill>
                <a:latin typeface="Georgia" pitchFamily="34" charset="0"/>
                <a:ea typeface="Georgia" pitchFamily="34" charset="-122"/>
                <a:cs typeface="Georgia" pitchFamily="34" charset="-120"/>
              </a:rPr>
              <a:t>Enterprise Configuration</a:t>
            </a:r>
            <a:endParaRPr lang="en-US" sz="3900" dirty="0"/>
          </a:p>
        </p:txBody>
      </p:sp>
      <p:sp>
        <p:nvSpPr>
          <p:cNvPr id="4" name="Text 2"/>
          <p:cNvSpPr/>
          <p:nvPr/>
        </p:nvSpPr>
        <p:spPr>
          <a:xfrm>
            <a:off x="2827007" y="2313682"/>
            <a:ext cx="3489838" cy="239911"/>
          </a:xfrm>
          <a:prstGeom prst="rect">
            <a:avLst/>
          </a:prstGeom>
          <a:noFill/>
          <a:ln/>
        </p:spPr>
        <p:txBody>
          <a:bodyPr wrap="square" lIns="0" tIns="0" rIns="0" bIns="0" rtlCol="0" anchor="t"/>
          <a:lstStyle/>
          <a:p>
            <a:pPr algn="ctr" indent="0" marL="0">
              <a:lnSpc>
                <a:spcPts val="1890"/>
              </a:lnSpc>
              <a:spcAft>
                <a:spcPts val="2400"/>
              </a:spcAft>
              <a:buNone/>
            </a:pPr>
            <a:r>
              <a:rPr lang="en-US" sz="1350" dirty="0">
                <a:solidFill>
                  <a:srgbClr val="FFFFFF">
                    <a:alpha val="60000"/>
                  </a:srgbClr>
                </a:solidFill>
                <a:latin typeface="Arial" pitchFamily="34" charset="0"/>
                <a:ea typeface="Arial" pitchFamily="34" charset="-122"/>
                <a:cs typeface="Arial" pitchFamily="34" charset="-120"/>
              </a:rPr>
              <a:t>Azure, Government Cloud, and Local Models</a:t>
            </a:r>
            <a:endParaRPr lang="en-US" sz="1350" dirty="0"/>
          </a:p>
        </p:txBody>
      </p:sp>
      <p:sp>
        <p:nvSpPr>
          <p:cNvPr id="5" name="Text 3"/>
          <p:cNvSpPr/>
          <p:nvPr/>
        </p:nvSpPr>
        <p:spPr>
          <a:xfrm>
            <a:off x="4191000" y="3010793"/>
            <a:ext cx="762000" cy="19050"/>
          </a:xfrm>
          <a:prstGeom prst="rect">
            <a:avLst/>
          </a:prstGeom>
          <a:solidFill>
            <a:srgbClr val="C9A227"/>
          </a:solidFill>
          <a:ln/>
        </p:spPr>
        <p:txBody>
          <a:bodyPr wrap="square" rtlCol="0" anchor="ctr"/>
          <a:lstStyle/>
          <a:p>
            <a:pPr indent="0" marL="0">
              <a:buNone/>
            </a:pPr>
            <a:endParaRPr lang="en-US" dirty="0"/>
          </a:p>
        </p:txBody>
      </p:sp>
      <p:sp>
        <p:nvSpPr>
          <p:cNvPr id="6" name="Text 4"/>
          <p:cNvSpPr/>
          <p:nvPr/>
        </p:nvSpPr>
        <p:spPr>
          <a:xfrm>
            <a:off x="3635441" y="3487043"/>
            <a:ext cx="150135" cy="373261"/>
          </a:xfrm>
          <a:prstGeom prst="rect">
            <a:avLst/>
          </a:prstGeom>
          <a:noFill/>
          <a:ln/>
        </p:spPr>
        <p:txBody>
          <a:bodyPr wrap="square" lIns="0" tIns="0" rIns="0" bIns="0" rtlCol="0" anchor="t"/>
          <a:lstStyle/>
          <a:p>
            <a:pPr algn="ctr" indent="0" marL="0">
              <a:lnSpc>
                <a:spcPts val="2940"/>
              </a:lnSpc>
              <a:buNone/>
            </a:pPr>
            <a:r>
              <a:rPr lang="en-US" sz="2100" dirty="0">
                <a:solidFill>
                  <a:srgbClr val="C9A227"/>
                </a:solidFill>
                <a:latin typeface="Georgia" pitchFamily="34" charset="0"/>
                <a:ea typeface="Georgia" pitchFamily="34" charset="-122"/>
                <a:cs typeface="Georgia" pitchFamily="34" charset="-120"/>
              </a:rPr>
              <a:t>3</a:t>
            </a:r>
            <a:endParaRPr lang="en-US" sz="2100" dirty="0"/>
          </a:p>
        </p:txBody>
      </p:sp>
      <p:sp>
        <p:nvSpPr>
          <p:cNvPr id="7" name="Text 5"/>
          <p:cNvSpPr/>
          <p:nvPr/>
        </p:nvSpPr>
        <p:spPr>
          <a:xfrm>
            <a:off x="3374943" y="4050804"/>
            <a:ext cx="671280" cy="146596"/>
          </a:xfrm>
          <a:prstGeom prst="rect">
            <a:avLst/>
          </a:prstGeom>
          <a:noFill/>
          <a:ln/>
        </p:spPr>
        <p:txBody>
          <a:bodyPr wrap="square" lIns="0" tIns="0" rIns="0" bIns="0" rtlCol="0" anchor="t"/>
          <a:lstStyle/>
          <a:p>
            <a:pPr algn="ctr" indent="0" marL="0">
              <a:lnSpc>
                <a:spcPts val="1155"/>
              </a:lnSpc>
              <a:spcBef>
                <a:spcPts val="300"/>
              </a:spcBef>
              <a:buNone/>
            </a:pPr>
            <a:r>
              <a:rPr lang="en-US" sz="825" dirty="0">
                <a:solidFill>
                  <a:srgbClr val="FFFFFF">
                    <a:alpha val="50000"/>
                  </a:srgbClr>
                </a:solidFill>
                <a:latin typeface="Arial" pitchFamily="34" charset="0"/>
                <a:ea typeface="Arial" pitchFamily="34" charset="-122"/>
                <a:cs typeface="Arial" pitchFamily="34" charset="-120"/>
              </a:rPr>
              <a:t>Azure OpenAI</a:t>
            </a:r>
            <a:endParaRPr lang="en-US" sz="825" dirty="0"/>
          </a:p>
        </p:txBody>
      </p:sp>
      <p:sp>
        <p:nvSpPr>
          <p:cNvPr id="8" name="Text 6"/>
          <p:cNvSpPr/>
          <p:nvPr/>
        </p:nvSpPr>
        <p:spPr>
          <a:xfrm>
            <a:off x="4600871" y="3487043"/>
            <a:ext cx="151956" cy="373261"/>
          </a:xfrm>
          <a:prstGeom prst="rect">
            <a:avLst/>
          </a:prstGeom>
          <a:noFill/>
          <a:ln/>
        </p:spPr>
        <p:txBody>
          <a:bodyPr wrap="square" lIns="0" tIns="0" rIns="0" bIns="0" rtlCol="0" anchor="t"/>
          <a:lstStyle/>
          <a:p>
            <a:pPr algn="ctr" indent="0" marL="0">
              <a:lnSpc>
                <a:spcPts val="2940"/>
              </a:lnSpc>
              <a:buNone/>
            </a:pPr>
            <a:r>
              <a:rPr lang="en-US" sz="2100" dirty="0">
                <a:solidFill>
                  <a:srgbClr val="C9A227"/>
                </a:solidFill>
                <a:latin typeface="Georgia" pitchFamily="34" charset="0"/>
                <a:ea typeface="Georgia" pitchFamily="34" charset="-122"/>
                <a:cs typeface="Georgia" pitchFamily="34" charset="-120"/>
              </a:rPr>
              <a:t>2</a:t>
            </a:r>
            <a:endParaRPr lang="en-US" sz="2100" dirty="0"/>
          </a:p>
        </p:txBody>
      </p:sp>
      <p:sp>
        <p:nvSpPr>
          <p:cNvPr id="9" name="Text 7"/>
          <p:cNvSpPr/>
          <p:nvPr/>
        </p:nvSpPr>
        <p:spPr>
          <a:xfrm>
            <a:off x="4415516" y="4050804"/>
            <a:ext cx="522815" cy="146596"/>
          </a:xfrm>
          <a:prstGeom prst="rect">
            <a:avLst/>
          </a:prstGeom>
          <a:noFill/>
          <a:ln/>
        </p:spPr>
        <p:txBody>
          <a:bodyPr wrap="square" lIns="0" tIns="0" rIns="0" bIns="0" rtlCol="0" anchor="t"/>
          <a:lstStyle/>
          <a:p>
            <a:pPr algn="ctr" indent="0" marL="0">
              <a:lnSpc>
                <a:spcPts val="1155"/>
              </a:lnSpc>
              <a:spcBef>
                <a:spcPts val="300"/>
              </a:spcBef>
              <a:buNone/>
            </a:pPr>
            <a:r>
              <a:rPr lang="en-US" sz="825" dirty="0">
                <a:solidFill>
                  <a:srgbClr val="FFFFFF">
                    <a:alpha val="50000"/>
                  </a:srgbClr>
                </a:solidFill>
                <a:latin typeface="Arial" pitchFamily="34" charset="0"/>
                <a:ea typeface="Arial" pitchFamily="34" charset="-122"/>
                <a:cs typeface="Arial" pitchFamily="34" charset="-120"/>
              </a:rPr>
              <a:t>Alt Options</a:t>
            </a:r>
            <a:endParaRPr lang="en-US" sz="825" dirty="0"/>
          </a:p>
        </p:txBody>
      </p:sp>
      <p:sp>
        <p:nvSpPr>
          <p:cNvPr id="10" name="Text 8"/>
          <p:cNvSpPr/>
          <p:nvPr/>
        </p:nvSpPr>
        <p:spPr>
          <a:xfrm>
            <a:off x="5479896" y="3487043"/>
            <a:ext cx="116890" cy="373261"/>
          </a:xfrm>
          <a:prstGeom prst="rect">
            <a:avLst/>
          </a:prstGeom>
          <a:noFill/>
          <a:ln/>
        </p:spPr>
        <p:txBody>
          <a:bodyPr wrap="square" lIns="0" tIns="0" rIns="0" bIns="0" rtlCol="0" anchor="t"/>
          <a:lstStyle/>
          <a:p>
            <a:pPr algn="ctr" indent="0" marL="0">
              <a:lnSpc>
                <a:spcPts val="2940"/>
              </a:lnSpc>
              <a:buNone/>
            </a:pPr>
            <a:r>
              <a:rPr lang="en-US" sz="2100" dirty="0">
                <a:solidFill>
                  <a:srgbClr val="C9A227"/>
                </a:solidFill>
                <a:latin typeface="Georgia" pitchFamily="34" charset="0"/>
                <a:ea typeface="Georgia" pitchFamily="34" charset="-122"/>
                <a:cs typeface="Georgia" pitchFamily="34" charset="-120"/>
              </a:rPr>
              <a:t>1</a:t>
            </a:r>
            <a:endParaRPr lang="en-US" sz="2100" dirty="0"/>
          </a:p>
        </p:txBody>
      </p:sp>
      <p:sp>
        <p:nvSpPr>
          <p:cNvPr id="11" name="Text 9"/>
          <p:cNvSpPr/>
          <p:nvPr/>
        </p:nvSpPr>
        <p:spPr>
          <a:xfrm>
            <a:off x="5309723" y="4050804"/>
            <a:ext cx="457236" cy="146596"/>
          </a:xfrm>
          <a:prstGeom prst="rect">
            <a:avLst/>
          </a:prstGeom>
          <a:noFill/>
          <a:ln/>
        </p:spPr>
        <p:txBody>
          <a:bodyPr wrap="square" lIns="0" tIns="0" rIns="0" bIns="0" rtlCol="0" anchor="t"/>
          <a:lstStyle/>
          <a:p>
            <a:pPr algn="ctr" indent="0" marL="0">
              <a:lnSpc>
                <a:spcPts val="1155"/>
              </a:lnSpc>
              <a:spcBef>
                <a:spcPts val="300"/>
              </a:spcBef>
              <a:buNone/>
            </a:pPr>
            <a:r>
              <a:rPr lang="en-US" sz="825" dirty="0">
                <a:solidFill>
                  <a:srgbClr val="FFFFFF">
                    <a:alpha val="50000"/>
                  </a:srgbClr>
                </a:solidFill>
                <a:latin typeface="Arial" pitchFamily="34" charset="0"/>
                <a:ea typeface="Arial" pitchFamily="34" charset="-122"/>
                <a:cs typeface="Arial" pitchFamily="34" charset="-120"/>
              </a:rPr>
              <a:t>Summary</a:t>
            </a:r>
            <a:endParaRPr lang="en-US" sz="825" dirty="0"/>
          </a:p>
        </p:txBody>
      </p:sp>
      <p:sp>
        <p:nvSpPr>
          <p:cNvPr id="12" name="Text 10"/>
          <p:cNvSpPr/>
          <p:nvPr/>
        </p:nvSpPr>
        <p:spPr>
          <a:xfrm>
            <a:off x="8127653" y="4678710"/>
            <a:ext cx="570330" cy="159990"/>
          </a:xfrm>
          <a:prstGeom prst="rect">
            <a:avLst/>
          </a:prstGeom>
          <a:noFill/>
          <a:ln/>
        </p:spPr>
        <p:txBody>
          <a:bodyPr wrap="square" lIns="0" tIns="0" rIns="0" bIns="0" rtlCol="0" anchor="t"/>
          <a:lstStyle/>
          <a:p>
            <a:pPr algn="l" indent="0" marL="0">
              <a:lnSpc>
                <a:spcPts val="1260"/>
              </a:lnSpc>
              <a:buNone/>
            </a:pPr>
            <a:r>
              <a:rPr lang="en-US" sz="900" dirty="0">
                <a:solidFill>
                  <a:srgbClr val="FFFFFF">
                    <a:alpha val="30000"/>
                  </a:srgbClr>
                </a:solidFill>
                <a:latin typeface="Arial" pitchFamily="34" charset="0"/>
                <a:ea typeface="Arial" pitchFamily="34" charset="-122"/>
                <a:cs typeface="Arial" pitchFamily="34" charset="-120"/>
              </a:rPr>
              <a:t>15 minutes</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5392341" cy="5143500"/>
          </a:xfrm>
          <a:prstGeom prst="rect">
            <a:avLst/>
          </a:prstGeom>
          <a:solidFill>
            <a:srgbClr val="F7F8FA"/>
          </a:solidFill>
          <a:ln/>
        </p:spPr>
        <p:txBody>
          <a:bodyPr wrap="square" rtlCol="0" anchor="ctr"/>
          <a:lstStyle/>
          <a:p>
            <a:pPr indent="0" marL="0">
              <a:buNone/>
            </a:pPr>
            <a:endParaRPr lang="en-US" dirty="0"/>
          </a:p>
        </p:txBody>
      </p:sp>
      <p:sp>
        <p:nvSpPr>
          <p:cNvPr id="3" name="Text 1"/>
          <p:cNvSpPr/>
          <p:nvPr/>
        </p:nvSpPr>
        <p:spPr>
          <a:xfrm>
            <a:off x="342900" y="454521"/>
            <a:ext cx="1113184" cy="133350"/>
          </a:xfrm>
          <a:prstGeom prst="rect">
            <a:avLst/>
          </a:prstGeom>
          <a:noFill/>
          <a:ln/>
        </p:spPr>
        <p:txBody>
          <a:bodyPr wrap="square" lIns="0" tIns="0" rIns="0" bIns="0" rtlCol="0" anchor="t"/>
          <a:lstStyle/>
          <a:p>
            <a:pPr algn="l" indent="0" marL="0">
              <a:lnSpc>
                <a:spcPts val="1050"/>
              </a:lnSpc>
              <a:buNone/>
            </a:pPr>
            <a:r>
              <a:rPr lang="en-US" sz="750" dirty="0">
                <a:solidFill>
                  <a:srgbClr val="C9A227"/>
                </a:solidFill>
                <a:latin typeface="Arial" pitchFamily="34" charset="0"/>
                <a:ea typeface="Arial" pitchFamily="34" charset="-122"/>
                <a:cs typeface="Arial" pitchFamily="34" charset="-120"/>
              </a:rPr>
              <a:t>ENTERPRISE AI</a:t>
            </a:r>
            <a:endParaRPr lang="en-US" sz="750" dirty="0"/>
          </a:p>
        </p:txBody>
      </p:sp>
      <p:sp>
        <p:nvSpPr>
          <p:cNvPr id="4" name="Text 2"/>
          <p:cNvSpPr/>
          <p:nvPr/>
        </p:nvSpPr>
        <p:spPr>
          <a:xfrm>
            <a:off x="342900" y="797421"/>
            <a:ext cx="3021521" cy="304800"/>
          </a:xfrm>
          <a:prstGeom prst="rect">
            <a:avLst/>
          </a:prstGeom>
          <a:noFill/>
          <a:ln/>
        </p:spPr>
        <p:txBody>
          <a:bodyPr wrap="square" lIns="0" tIns="0" rIns="0" bIns="0" rtlCol="0" anchor="t"/>
          <a:lstStyle/>
          <a:p>
            <a:pPr algn="l" indent="0" marL="0">
              <a:lnSpc>
                <a:spcPts val="2400"/>
              </a:lnSpc>
              <a:spcAft>
                <a:spcPts val="450"/>
              </a:spcAft>
              <a:buNone/>
            </a:pPr>
            <a:r>
              <a:rPr lang="en-US" sz="2400" dirty="0">
                <a:solidFill>
                  <a:srgbClr val="1A1F2E"/>
                </a:solidFill>
                <a:latin typeface="Georgia" pitchFamily="34" charset="0"/>
                <a:ea typeface="Georgia" pitchFamily="34" charset="-122"/>
                <a:cs typeface="Georgia" pitchFamily="34" charset="-120"/>
              </a:rPr>
              <a:t>Azure OpenAI Service</a:t>
            </a:r>
            <a:endParaRPr lang="en-US" sz="2400" dirty="0"/>
          </a:p>
        </p:txBody>
      </p:sp>
      <p:sp>
        <p:nvSpPr>
          <p:cNvPr id="5" name="Text 3"/>
          <p:cNvSpPr/>
          <p:nvPr/>
        </p:nvSpPr>
        <p:spPr>
          <a:xfrm>
            <a:off x="342900" y="1311771"/>
            <a:ext cx="4800671" cy="173236"/>
          </a:xfrm>
          <a:prstGeom prst="rect">
            <a:avLst/>
          </a:prstGeom>
          <a:noFill/>
          <a:ln/>
        </p:spPr>
        <p:txBody>
          <a:bodyPr wrap="square" lIns="0" tIns="0" rIns="0" bIns="0" rtlCol="0" anchor="t"/>
          <a:lstStyle/>
          <a:p>
            <a:pPr algn="l" indent="0" marL="0">
              <a:lnSpc>
                <a:spcPts val="1365"/>
              </a:lnSpc>
              <a:spcAft>
                <a:spcPts val="1500"/>
              </a:spcAft>
              <a:buNone/>
            </a:pPr>
            <a:r>
              <a:rPr lang="en-US" sz="975" dirty="0">
                <a:solidFill>
                  <a:srgbClr val="6B7280"/>
                </a:solidFill>
                <a:latin typeface="Arial" pitchFamily="34" charset="0"/>
                <a:ea typeface="Arial" pitchFamily="34" charset="-122"/>
                <a:cs typeface="Arial" pitchFamily="34" charset="-120"/>
              </a:rPr>
              <a:t>Microsoft-hosted GPT models with enterprise compliance</a:t>
            </a:r>
            <a:endParaRPr lang="en-US" sz="975" dirty="0"/>
          </a:p>
        </p:txBody>
      </p:sp>
      <p:sp>
        <p:nvSpPr>
          <p:cNvPr id="6" name="Text 4"/>
          <p:cNvSpPr/>
          <p:nvPr/>
        </p:nvSpPr>
        <p:spPr>
          <a:xfrm>
            <a:off x="342900" y="1827907"/>
            <a:ext cx="4706541" cy="817215"/>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7" name="Text 5"/>
          <p:cNvSpPr/>
          <p:nvPr/>
        </p:nvSpPr>
        <p:spPr>
          <a:xfrm>
            <a:off x="485775" y="1970782"/>
            <a:ext cx="4509206" cy="159990"/>
          </a:xfrm>
          <a:prstGeom prst="rect">
            <a:avLst/>
          </a:prstGeom>
          <a:noFill/>
          <a:ln/>
        </p:spPr>
        <p:txBody>
          <a:bodyPr wrap="square" lIns="0" tIns="0" rIns="0" bIns="0" rtlCol="0" anchor="t"/>
          <a:lstStyle/>
          <a:p>
            <a:pPr algn="l" indent="0" marL="0">
              <a:lnSpc>
                <a:spcPts val="1260"/>
              </a:lnSpc>
              <a:spcAft>
                <a:spcPts val="450"/>
              </a:spcAft>
              <a:buNone/>
            </a:pPr>
            <a:r>
              <a:rPr lang="en-US" sz="900" b="1" dirty="0">
                <a:solidFill>
                  <a:srgbClr val="1A1F2E"/>
                </a:solidFill>
                <a:latin typeface="Arial" pitchFamily="34" charset="0"/>
                <a:ea typeface="Arial" pitchFamily="34" charset="-122"/>
                <a:cs typeface="Arial" pitchFamily="34" charset="-120"/>
              </a:rPr>
              <a:t>What It Provides</a:t>
            </a:r>
            <a:endParaRPr lang="en-US" sz="900" dirty="0"/>
          </a:p>
        </p:txBody>
      </p:sp>
      <p:sp>
        <p:nvSpPr>
          <p:cNvPr id="8" name="Text 6"/>
          <p:cNvSpPr/>
          <p:nvPr/>
        </p:nvSpPr>
        <p:spPr>
          <a:xfrm>
            <a:off x="485775" y="2187922"/>
            <a:ext cx="4509206" cy="314325"/>
          </a:xfrm>
          <a:prstGeom prst="rect">
            <a:avLst/>
          </a:prstGeom>
          <a:noFill/>
          <a:ln/>
        </p:spPr>
        <p:txBody>
          <a:bodyPr wrap="square" lIns="0" tIns="0" rIns="0" bIns="0" rtlCol="0" anchor="t"/>
          <a:lstStyle/>
          <a:p>
            <a:pPr algn="l" indent="0" marL="0">
              <a:lnSpc>
                <a:spcPts val="1238"/>
              </a:lnSpc>
              <a:buNone/>
            </a:pPr>
            <a:r>
              <a:rPr lang="en-US" sz="825" dirty="0">
                <a:solidFill>
                  <a:srgbClr val="6B7280"/>
                </a:solidFill>
                <a:latin typeface="Arial" pitchFamily="34" charset="0"/>
                <a:ea typeface="Arial" pitchFamily="34" charset="-122"/>
                <a:cs typeface="Arial" pitchFamily="34" charset="-120"/>
              </a:rPr>
              <a:t>Same GPT-4 and GPT-4o models as OpenAI, hosted in Microsoft Azure infrastructure with enterprise security controls.</a:t>
            </a:r>
            <a:endParaRPr lang="en-US" sz="825" dirty="0"/>
          </a:p>
        </p:txBody>
      </p:sp>
      <p:sp>
        <p:nvSpPr>
          <p:cNvPr id="9" name="Text 7"/>
          <p:cNvSpPr/>
          <p:nvPr/>
        </p:nvSpPr>
        <p:spPr>
          <a:xfrm>
            <a:off x="342900" y="2892772"/>
            <a:ext cx="4706541" cy="1173212"/>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0" name="Text 8"/>
          <p:cNvSpPr/>
          <p:nvPr/>
        </p:nvSpPr>
        <p:spPr>
          <a:xfrm>
            <a:off x="485775" y="3035647"/>
            <a:ext cx="4509206" cy="159990"/>
          </a:xfrm>
          <a:prstGeom prst="rect">
            <a:avLst/>
          </a:prstGeom>
          <a:noFill/>
          <a:ln/>
        </p:spPr>
        <p:txBody>
          <a:bodyPr wrap="square" lIns="0" tIns="0" rIns="0" bIns="0" rtlCol="0" anchor="t"/>
          <a:lstStyle/>
          <a:p>
            <a:pPr algn="l" indent="0" marL="0">
              <a:lnSpc>
                <a:spcPts val="1260"/>
              </a:lnSpc>
              <a:spcAft>
                <a:spcPts val="450"/>
              </a:spcAft>
              <a:buNone/>
            </a:pPr>
            <a:r>
              <a:rPr lang="en-US" sz="900" b="1" dirty="0">
                <a:solidFill>
                  <a:srgbClr val="1A1F2E"/>
                </a:solidFill>
                <a:latin typeface="Arial" pitchFamily="34" charset="0"/>
                <a:ea typeface="Arial" pitchFamily="34" charset="-122"/>
                <a:cs typeface="Arial" pitchFamily="34" charset="-120"/>
              </a:rPr>
              <a:t>Government Benefits</a:t>
            </a:r>
            <a:endParaRPr lang="en-US" sz="900" dirty="0"/>
          </a:p>
        </p:txBody>
      </p:sp>
      <p:sp>
        <p:nvSpPr>
          <p:cNvPr id="11" name="Text 9"/>
          <p:cNvSpPr/>
          <p:nvPr/>
        </p:nvSpPr>
        <p:spPr>
          <a:xfrm>
            <a:off x="485775" y="3252788"/>
            <a:ext cx="4509206" cy="670322"/>
          </a:xfrm>
          <a:prstGeom prst="rect">
            <a:avLst/>
          </a:prstGeom>
          <a:noFill/>
          <a:ln/>
        </p:spPr>
        <p:txBody>
          <a:bodyPr wrap="square" lIns="0" tIns="0" rIns="0" bIns="0" rtlCol="0" anchor="t"/>
          <a:lstStyle/>
          <a:p>
            <a:pPr algn="l" indent="0" marL="0">
              <a:lnSpc>
                <a:spcPts val="1320"/>
              </a:lnSpc>
              <a:buNone/>
            </a:pPr>
            <a:r>
              <a:rPr lang="en-US" sz="825" dirty="0">
                <a:solidFill>
                  <a:srgbClr val="6B7280"/>
                </a:solidFill>
                <a:latin typeface="Arial" pitchFamily="34" charset="0"/>
                <a:ea typeface="Arial" pitchFamily="34" charset="-122"/>
                <a:cs typeface="Arial" pitchFamily="34" charset="-120"/>
              </a:rPr>
              <a:t>FedRAMP compliance available</a:t>
            </a:r>
            <a:endParaRPr lang="en-US" sz="825" dirty="0"/>
          </a:p>
          <a:p>
            <a:pPr algn="l" indent="0" marL="0">
              <a:lnSpc>
                <a:spcPts val="1320"/>
              </a:lnSpc>
              <a:buNone/>
            </a:pPr>
            <a:r>
              <a:rPr lang="en-US" sz="825" dirty="0">
                <a:solidFill>
                  <a:srgbClr val="6B7280"/>
                </a:solidFill>
                <a:latin typeface="Arial" pitchFamily="34" charset="0"/>
                <a:ea typeface="Arial" pitchFamily="34" charset="-122"/>
                <a:cs typeface="Arial" pitchFamily="34" charset="-120"/>
              </a:rPr>
              <a:t>Data stays in your Azure tenant</a:t>
            </a:r>
            <a:endParaRPr lang="en-US" sz="825" dirty="0"/>
          </a:p>
          <a:p>
            <a:pPr algn="l" indent="0" marL="0">
              <a:lnSpc>
                <a:spcPts val="1320"/>
              </a:lnSpc>
              <a:buNone/>
            </a:pPr>
            <a:r>
              <a:rPr lang="en-US" sz="825" dirty="0">
                <a:solidFill>
                  <a:srgbClr val="6B7280"/>
                </a:solidFill>
                <a:latin typeface="Arial" pitchFamily="34" charset="0"/>
                <a:ea typeface="Arial" pitchFamily="34" charset="-122"/>
                <a:cs typeface="Arial" pitchFamily="34" charset="-120"/>
              </a:rPr>
              <a:t>Private endpoints option</a:t>
            </a:r>
            <a:endParaRPr lang="en-US" sz="825" dirty="0"/>
          </a:p>
          <a:p>
            <a:pPr algn="l" indent="0" marL="0">
              <a:lnSpc>
                <a:spcPts val="1320"/>
              </a:lnSpc>
              <a:buNone/>
            </a:pPr>
            <a:r>
              <a:rPr lang="en-US" sz="825" dirty="0">
                <a:solidFill>
                  <a:srgbClr val="6B7280"/>
                </a:solidFill>
                <a:latin typeface="Arial" pitchFamily="34" charset="0"/>
                <a:ea typeface="Arial" pitchFamily="34" charset="-122"/>
                <a:cs typeface="Arial" pitchFamily="34" charset="-120"/>
              </a:rPr>
              <a:t>Audit logging built-in</a:t>
            </a:r>
            <a:endParaRPr lang="en-US" sz="825" dirty="0"/>
          </a:p>
        </p:txBody>
      </p:sp>
      <p:sp>
        <p:nvSpPr>
          <p:cNvPr id="12" name="Text 10"/>
          <p:cNvSpPr/>
          <p:nvPr/>
        </p:nvSpPr>
        <p:spPr>
          <a:xfrm>
            <a:off x="342900" y="4313634"/>
            <a:ext cx="4706541" cy="375196"/>
          </a:xfrm>
          <a:prstGeom prst="rect">
            <a:avLst/>
          </a:prstGeom>
          <a:solidFill>
            <a:srgbClr val="1A1F2E"/>
          </a:solidFill>
          <a:ln/>
        </p:spPr>
        <p:txBody>
          <a:bodyPr wrap="square" rtlCol="0" anchor="ctr"/>
          <a:lstStyle/>
          <a:p>
            <a:pPr indent="0" marL="0">
              <a:buNone/>
            </a:pPr>
            <a:endParaRPr lang="en-US" dirty="0"/>
          </a:p>
        </p:txBody>
      </p:sp>
      <p:sp>
        <p:nvSpPr>
          <p:cNvPr id="13" name="Text 11"/>
          <p:cNvSpPr/>
          <p:nvPr/>
        </p:nvSpPr>
        <p:spPr>
          <a:xfrm>
            <a:off x="476250" y="4427934"/>
            <a:ext cx="4528637" cy="146596"/>
          </a:xfrm>
          <a:prstGeom prst="rect">
            <a:avLst/>
          </a:prstGeom>
          <a:noFill/>
          <a:ln/>
        </p:spPr>
        <p:txBody>
          <a:bodyPr wrap="square" lIns="0" tIns="0" rIns="0" bIns="0" rtlCol="0" anchor="t"/>
          <a:lstStyle/>
          <a:p>
            <a:pPr algn="l" indent="0" marL="0">
              <a:lnSpc>
                <a:spcPts val="1155"/>
              </a:lnSpc>
              <a:buNone/>
            </a:pPr>
            <a:r>
              <a:rPr lang="en-US" sz="825" b="1" dirty="0">
                <a:solidFill>
                  <a:srgbClr val="C9A227"/>
                </a:solidFill>
                <a:latin typeface="Arial" pitchFamily="34" charset="0"/>
                <a:ea typeface="Arial" pitchFamily="34" charset="-122"/>
                <a:cs typeface="Arial" pitchFamily="34" charset="-120"/>
              </a:rPr>
              <a:t>Key Point:</a:t>
            </a:r>
            <a:pPr algn="l" indent="0" marL="0">
              <a:lnSpc>
                <a:spcPts val="1155"/>
              </a:lnSpc>
              <a:buNone/>
            </a:pPr>
            <a:r>
              <a:rPr lang="en-US" sz="825" dirty="0">
                <a:solidFill>
                  <a:srgbClr val="C9A227"/>
                </a:solidFill>
                <a:latin typeface="Arial" pitchFamily="34" charset="0"/>
                <a:ea typeface="Arial" pitchFamily="34" charset="-122"/>
                <a:cs typeface="Arial" pitchFamily="34" charset="-120"/>
              </a:rPr>
              <a:t> Your prompts are NOT used for model training</a:t>
            </a:r>
            <a:endParaRPr lang="en-US" sz="825" dirty="0"/>
          </a:p>
        </p:txBody>
      </p:sp>
      <p:sp>
        <p:nvSpPr>
          <p:cNvPr id="14" name="Text 12"/>
          <p:cNvSpPr/>
          <p:nvPr/>
        </p:nvSpPr>
        <p:spPr>
          <a:xfrm>
            <a:off x="5544741" y="0"/>
            <a:ext cx="3599259" cy="5143500"/>
          </a:xfrm>
          <a:prstGeom prst="rect">
            <a:avLst/>
          </a:prstGeom>
          <a:solidFill>
            <a:srgbClr val="1A1F2E"/>
          </a:solidFill>
          <a:ln/>
        </p:spPr>
        <p:txBody>
          <a:bodyPr wrap="square" rtlCol="0" anchor="ctr"/>
          <a:lstStyle/>
          <a:p>
            <a:pPr indent="0" marL="0">
              <a:buNone/>
            </a:pPr>
            <a:endParaRPr lang="en-US" dirty="0"/>
          </a:p>
        </p:txBody>
      </p:sp>
      <p:sp>
        <p:nvSpPr>
          <p:cNvPr id="15" name="Text 13"/>
          <p:cNvSpPr/>
          <p:nvPr/>
        </p:nvSpPr>
        <p:spPr>
          <a:xfrm>
            <a:off x="6915745" y="1372642"/>
            <a:ext cx="857250" cy="857250"/>
          </a:xfrm>
          <a:prstGeom prst="rect">
            <a:avLst/>
          </a:prstGeom>
          <a:solidFill>
            <a:srgbClr val="C9A227"/>
          </a:solidFill>
          <a:ln/>
        </p:spPr>
        <p:txBody>
          <a:bodyPr wrap="square" rtlCol="0" anchor="ctr"/>
          <a:lstStyle/>
          <a:p>
            <a:pPr indent="0" marL="0">
              <a:buNone/>
            </a:pPr>
            <a:endParaRPr lang="en-US" dirty="0"/>
          </a:p>
        </p:txBody>
      </p:sp>
      <p:sp>
        <p:nvSpPr>
          <p:cNvPr id="16" name="Text 14"/>
          <p:cNvSpPr/>
          <p:nvPr/>
        </p:nvSpPr>
        <p:spPr>
          <a:xfrm>
            <a:off x="7101332" y="1641277"/>
            <a:ext cx="485927" cy="319980"/>
          </a:xfrm>
          <a:prstGeom prst="rect">
            <a:avLst/>
          </a:prstGeom>
          <a:noFill/>
          <a:ln/>
        </p:spPr>
        <p:txBody>
          <a:bodyPr wrap="square" lIns="0" tIns="0" rIns="0" bIns="0" rtlCol="0" anchor="t"/>
          <a:lstStyle/>
          <a:p>
            <a:pPr algn="ctr" indent="0" marL="0">
              <a:lnSpc>
                <a:spcPts val="1260"/>
              </a:lnSpc>
              <a:buNone/>
            </a:pPr>
            <a:r>
              <a:rPr lang="en-US" sz="900" dirty="0">
                <a:solidFill>
                  <a:srgbClr val="1A1F2E"/>
                </a:solidFill>
                <a:latin typeface="Arial" pitchFamily="34" charset="0"/>
                <a:ea typeface="Arial" pitchFamily="34" charset="-122"/>
                <a:cs typeface="Arial" pitchFamily="34" charset="-120"/>
              </a:rPr>
              <a:t>AZURE</a:t>
            </a:r>
            <a:endParaRPr lang="en-US" sz="900" dirty="0"/>
          </a:p>
          <a:p>
            <a:pPr algn="ctr" indent="0" marL="0">
              <a:lnSpc>
                <a:spcPts val="1260"/>
              </a:lnSpc>
              <a:buNone/>
            </a:pPr>
            <a:r>
              <a:rPr lang="en-US" sz="900" dirty="0">
                <a:solidFill>
                  <a:srgbClr val="1A1F2E"/>
                </a:solidFill>
                <a:latin typeface="Arial" pitchFamily="34" charset="0"/>
                <a:ea typeface="Arial" pitchFamily="34" charset="-122"/>
                <a:cs typeface="Arial" pitchFamily="34" charset="-120"/>
              </a:rPr>
              <a:t>HOSTED</a:t>
            </a:r>
            <a:endParaRPr lang="en-US" sz="900" dirty="0"/>
          </a:p>
        </p:txBody>
      </p:sp>
      <p:sp>
        <p:nvSpPr>
          <p:cNvPr id="17" name="Text 15"/>
          <p:cNvSpPr/>
          <p:nvPr/>
        </p:nvSpPr>
        <p:spPr>
          <a:xfrm>
            <a:off x="6748235" y="2572792"/>
            <a:ext cx="1192122" cy="213271"/>
          </a:xfrm>
          <a:prstGeom prst="rect">
            <a:avLst/>
          </a:prstGeom>
          <a:noFill/>
          <a:ln/>
        </p:spPr>
        <p:txBody>
          <a:bodyPr wrap="square" lIns="0" tIns="0" rIns="0" bIns="0" rtlCol="0" anchor="t"/>
          <a:lstStyle/>
          <a:p>
            <a:pPr algn="ctr" indent="0" marL="0">
              <a:lnSpc>
                <a:spcPts val="1680"/>
              </a:lnSpc>
              <a:spcAft>
                <a:spcPts val="750"/>
              </a:spcAft>
              <a:buNone/>
            </a:pPr>
            <a:r>
              <a:rPr lang="en-US" sz="1200" dirty="0">
                <a:solidFill>
                  <a:srgbClr val="FFFFFF"/>
                </a:solidFill>
                <a:latin typeface="Georgia" pitchFamily="34" charset="0"/>
                <a:ea typeface="Georgia" pitchFamily="34" charset="-122"/>
                <a:cs typeface="Georgia" pitchFamily="34" charset="-120"/>
              </a:rPr>
              <a:t>Enterprise Ready</a:t>
            </a:r>
            <a:endParaRPr lang="en-US" sz="1200" dirty="0"/>
          </a:p>
        </p:txBody>
      </p:sp>
      <p:sp>
        <p:nvSpPr>
          <p:cNvPr id="18" name="Text 16"/>
          <p:cNvSpPr/>
          <p:nvPr/>
        </p:nvSpPr>
        <p:spPr>
          <a:xfrm>
            <a:off x="6258816" y="3033713"/>
            <a:ext cx="2170959" cy="171450"/>
          </a:xfrm>
          <a:prstGeom prst="rect">
            <a:avLst/>
          </a:prstGeom>
          <a:noFill/>
          <a:ln/>
        </p:spPr>
        <p:txBody>
          <a:bodyPr wrap="square" lIns="0" tIns="0" rIns="0" bIns="0" rtlCol="0" anchor="t"/>
          <a:lstStyle/>
          <a:p>
            <a:pPr algn="ctr" indent="0" marL="0">
              <a:lnSpc>
                <a:spcPts val="1350"/>
              </a:lnSpc>
              <a:buNone/>
            </a:pPr>
            <a:r>
              <a:rPr lang="en-US" sz="900" dirty="0">
                <a:solidFill>
                  <a:srgbClr val="FFFFFF">
                    <a:alpha val="60000"/>
                  </a:srgbClr>
                </a:solidFill>
                <a:latin typeface="Arial" pitchFamily="34" charset="0"/>
                <a:ea typeface="Arial" pitchFamily="34" charset="-122"/>
                <a:cs typeface="Arial" pitchFamily="34" charset="-120"/>
              </a:rPr>
              <a:t>Same AI, government-grade infrastructure</a:t>
            </a:r>
            <a:endParaRPr lang="en-US" sz="900" dirty="0"/>
          </a:p>
        </p:txBody>
      </p:sp>
      <p:sp>
        <p:nvSpPr>
          <p:cNvPr id="19" name="Text 17"/>
          <p:cNvSpPr/>
          <p:nvPr/>
        </p:nvSpPr>
        <p:spPr>
          <a:xfrm>
            <a:off x="5887641" y="4387304"/>
            <a:ext cx="2913459" cy="413296"/>
          </a:xfrm>
          <a:prstGeom prst="rect">
            <a:avLst/>
          </a:prstGeom>
          <a:solidFill>
            <a:srgbClr val="059669"/>
          </a:solidFill>
          <a:ln/>
        </p:spPr>
        <p:txBody>
          <a:bodyPr wrap="square" rtlCol="0" anchor="ctr"/>
          <a:lstStyle/>
          <a:p>
            <a:pPr indent="0" marL="0">
              <a:buNone/>
            </a:pPr>
            <a:endParaRPr lang="en-US" dirty="0"/>
          </a:p>
        </p:txBody>
      </p:sp>
      <p:sp>
        <p:nvSpPr>
          <p:cNvPr id="20" name="Text 18"/>
          <p:cNvSpPr/>
          <p:nvPr/>
        </p:nvSpPr>
        <p:spPr>
          <a:xfrm>
            <a:off x="5994523" y="4520654"/>
            <a:ext cx="2699695" cy="146596"/>
          </a:xfrm>
          <a:prstGeom prst="rect">
            <a:avLst/>
          </a:prstGeom>
          <a:noFill/>
          <a:ln/>
        </p:spPr>
        <p:txBody>
          <a:bodyPr wrap="square" lIns="0" tIns="0" rIns="0" bIns="0" rtlCol="0" anchor="t"/>
          <a:lstStyle/>
          <a:p>
            <a:pPr algn="ctr" indent="0" marL="0">
              <a:lnSpc>
                <a:spcPts val="1155"/>
              </a:lnSpc>
              <a:buNone/>
            </a:pPr>
            <a:r>
              <a:rPr lang="en-US" sz="825" dirty="0">
                <a:solidFill>
                  <a:srgbClr val="FFFFFF"/>
                </a:solidFill>
                <a:latin typeface="Arial" pitchFamily="34" charset="0"/>
                <a:ea typeface="Arial" pitchFamily="34" charset="-122"/>
                <a:cs typeface="Arial" pitchFamily="34" charset="-120"/>
              </a:rPr>
              <a:t>Compatible with Claude Code via API configuration</a:t>
            </a:r>
            <a:endParaRPr lang="en-US" sz="825"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457200" y="304800"/>
            <a:ext cx="8394192" cy="146596"/>
          </a:xfrm>
          <a:prstGeom prst="rect">
            <a:avLst/>
          </a:prstGeom>
          <a:noFill/>
          <a:ln/>
        </p:spPr>
        <p:txBody>
          <a:bodyPr wrap="square" lIns="0" tIns="0" rIns="0" bIns="0" rtlCol="0" anchor="t"/>
          <a:lstStyle/>
          <a:p>
            <a:pPr algn="l" indent="0" marL="0">
              <a:lnSpc>
                <a:spcPts val="1155"/>
              </a:lnSpc>
              <a:spcAft>
                <a:spcPts val="600"/>
              </a:spcAft>
              <a:buNone/>
            </a:pPr>
            <a:r>
              <a:rPr lang="en-US" sz="825" dirty="0">
                <a:solidFill>
                  <a:srgbClr val="C9A227"/>
                </a:solidFill>
                <a:latin typeface="Arial" pitchFamily="34" charset="0"/>
                <a:ea typeface="Arial" pitchFamily="34" charset="-122"/>
                <a:cs typeface="Arial" pitchFamily="34" charset="-120"/>
              </a:rPr>
              <a:t>COMPLIANCE</a:t>
            </a:r>
            <a:endParaRPr lang="en-US" sz="825" dirty="0"/>
          </a:p>
        </p:txBody>
      </p:sp>
      <p:sp>
        <p:nvSpPr>
          <p:cNvPr id="3" name="Text 1"/>
          <p:cNvSpPr/>
          <p:nvPr/>
        </p:nvSpPr>
        <p:spPr>
          <a:xfrm>
            <a:off x="457200" y="527596"/>
            <a:ext cx="4206812" cy="304800"/>
          </a:xfrm>
          <a:prstGeom prst="rect">
            <a:avLst/>
          </a:prstGeom>
          <a:noFill/>
          <a:ln/>
        </p:spPr>
        <p:txBody>
          <a:bodyPr wrap="square" lIns="0" tIns="0" rIns="0" bIns="0" rtlCol="0" anchor="t"/>
          <a:lstStyle/>
          <a:p>
            <a:pPr algn="l" indent="0" marL="0">
              <a:lnSpc>
                <a:spcPts val="2400"/>
              </a:lnSpc>
              <a:buNone/>
            </a:pPr>
            <a:r>
              <a:rPr lang="en-US" sz="2400" dirty="0">
                <a:solidFill>
                  <a:srgbClr val="1A1F2E"/>
                </a:solidFill>
                <a:latin typeface="Georgia" pitchFamily="34" charset="0"/>
                <a:ea typeface="Georgia" pitchFamily="34" charset="-122"/>
                <a:cs typeface="Georgia" pitchFamily="34" charset="-120"/>
              </a:rPr>
              <a:t>Azure Government Cloud</a:t>
            </a:r>
            <a:endParaRPr lang="en-US" sz="2400" dirty="0"/>
          </a:p>
        </p:txBody>
      </p:sp>
      <p:sp>
        <p:nvSpPr>
          <p:cNvPr id="4" name="Text 2"/>
          <p:cNvSpPr/>
          <p:nvPr/>
        </p:nvSpPr>
        <p:spPr>
          <a:xfrm>
            <a:off x="457200" y="908596"/>
            <a:ext cx="8394192" cy="186630"/>
          </a:xfrm>
          <a:prstGeom prst="rect">
            <a:avLst/>
          </a:prstGeom>
          <a:noFill/>
          <a:ln/>
        </p:spPr>
        <p:txBody>
          <a:bodyPr wrap="square" lIns="0" tIns="0" rIns="0" bIns="0" rtlCol="0" anchor="t"/>
          <a:lstStyle/>
          <a:p>
            <a:pPr algn="l" indent="0" marL="0">
              <a:lnSpc>
                <a:spcPts val="1470"/>
              </a:lnSpc>
              <a:spcBef>
                <a:spcPts val="600"/>
              </a:spcBef>
              <a:buNone/>
            </a:pPr>
            <a:r>
              <a:rPr lang="en-US" sz="1050" dirty="0">
                <a:solidFill>
                  <a:srgbClr val="6B7280"/>
                </a:solidFill>
                <a:latin typeface="Arial" pitchFamily="34" charset="0"/>
                <a:ea typeface="Arial" pitchFamily="34" charset="-122"/>
                <a:cs typeface="Arial" pitchFamily="34" charset="-120"/>
              </a:rPr>
              <a:t>Understanding GCC vs GCC-High environments</a:t>
            </a:r>
            <a:endParaRPr lang="en-US" sz="1050" dirty="0"/>
          </a:p>
        </p:txBody>
      </p:sp>
      <p:sp>
        <p:nvSpPr>
          <p:cNvPr id="5" name="Text 3"/>
          <p:cNvSpPr/>
          <p:nvPr/>
        </p:nvSpPr>
        <p:spPr>
          <a:xfrm>
            <a:off x="457200" y="1467892"/>
            <a:ext cx="2590800" cy="3302943"/>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6" name="Text 4"/>
          <p:cNvSpPr/>
          <p:nvPr/>
        </p:nvSpPr>
        <p:spPr>
          <a:xfrm>
            <a:off x="695325" y="1706017"/>
            <a:ext cx="2114550" cy="285750"/>
          </a:xfrm>
          <a:prstGeom prst="rect">
            <a:avLst/>
          </a:prstGeom>
          <a:solidFill>
            <a:srgbClr val="C9A227"/>
          </a:solidFill>
          <a:ln/>
        </p:spPr>
        <p:txBody>
          <a:bodyPr wrap="square" rtlCol="0" anchor="ctr"/>
          <a:lstStyle/>
          <a:p>
            <a:pPr indent="0" marL="0">
              <a:buNone/>
            </a:pPr>
            <a:endParaRPr lang="en-US" dirty="0"/>
          </a:p>
        </p:txBody>
      </p:sp>
      <p:sp>
        <p:nvSpPr>
          <p:cNvPr id="7" name="Text 5"/>
          <p:cNvSpPr/>
          <p:nvPr/>
        </p:nvSpPr>
        <p:spPr>
          <a:xfrm>
            <a:off x="809625" y="1782217"/>
            <a:ext cx="1923669" cy="133350"/>
          </a:xfrm>
          <a:prstGeom prst="rect">
            <a:avLst/>
          </a:prstGeom>
          <a:noFill/>
          <a:ln/>
        </p:spPr>
        <p:txBody>
          <a:bodyPr wrap="square" lIns="0" tIns="0" rIns="0" bIns="0" rtlCol="0" anchor="t"/>
          <a:lstStyle/>
          <a:p>
            <a:pPr algn="l" indent="0" marL="0">
              <a:lnSpc>
                <a:spcPts val="1050"/>
              </a:lnSpc>
              <a:buNone/>
            </a:pPr>
            <a:r>
              <a:rPr lang="en-US" sz="750" b="1" dirty="0">
                <a:solidFill>
                  <a:srgbClr val="1A1F2E"/>
                </a:solidFill>
                <a:latin typeface="Arial" pitchFamily="34" charset="0"/>
                <a:ea typeface="Arial" pitchFamily="34" charset="-122"/>
                <a:cs typeface="Arial" pitchFamily="34" charset="-120"/>
              </a:rPr>
              <a:t>MOST COMMON</a:t>
            </a:r>
            <a:endParaRPr lang="en-US" sz="750" dirty="0"/>
          </a:p>
        </p:txBody>
      </p:sp>
      <p:sp>
        <p:nvSpPr>
          <p:cNvPr id="8" name="Text 6"/>
          <p:cNvSpPr/>
          <p:nvPr/>
        </p:nvSpPr>
        <p:spPr>
          <a:xfrm>
            <a:off x="695325" y="2296567"/>
            <a:ext cx="2156841" cy="533400"/>
          </a:xfrm>
          <a:prstGeom prst="rect">
            <a:avLst/>
          </a:prstGeom>
          <a:noFill/>
          <a:ln/>
        </p:spPr>
        <p:txBody>
          <a:bodyPr wrap="square" lIns="0" tIns="0" rIns="0" bIns="0" rtlCol="0" anchor="t"/>
          <a:lstStyle/>
          <a:p>
            <a:pPr algn="l" indent="0" marL="0">
              <a:lnSpc>
                <a:spcPts val="2100"/>
              </a:lnSpc>
              <a:spcAft>
                <a:spcPts val="900"/>
              </a:spcAft>
              <a:buNone/>
            </a:pPr>
            <a:r>
              <a:rPr lang="en-US" sz="1500" dirty="0">
                <a:solidFill>
                  <a:srgbClr val="1A1F2E"/>
                </a:solidFill>
                <a:latin typeface="Georgia" pitchFamily="34" charset="0"/>
                <a:ea typeface="Georgia" pitchFamily="34" charset="-122"/>
                <a:cs typeface="Georgia" pitchFamily="34" charset="-120"/>
              </a:rPr>
              <a:t>GCC (Government Community Cloud)</a:t>
            </a:r>
            <a:endParaRPr lang="en-US" sz="1500" dirty="0"/>
          </a:p>
        </p:txBody>
      </p:sp>
      <p:sp>
        <p:nvSpPr>
          <p:cNvPr id="9" name="Text 7"/>
          <p:cNvSpPr/>
          <p:nvPr/>
        </p:nvSpPr>
        <p:spPr>
          <a:xfrm>
            <a:off x="695325" y="3096667"/>
            <a:ext cx="2156841" cy="822722"/>
          </a:xfrm>
          <a:prstGeom prst="rect">
            <a:avLst/>
          </a:prstGeom>
          <a:noFill/>
          <a:ln/>
        </p:spPr>
        <p:txBody>
          <a:bodyPr wrap="square" lIns="0" tIns="0" rIns="0" bIns="0" rtlCol="0" anchor="t"/>
          <a:lstStyle/>
          <a:p>
            <a:pPr algn="l" indent="0" marL="0">
              <a:lnSpc>
                <a:spcPts val="1620"/>
              </a:lnSpc>
              <a:spcAft>
                <a:spcPts val="1200"/>
              </a:spcAft>
              <a:buNone/>
            </a:pPr>
            <a:r>
              <a:rPr lang="en-US" sz="900" dirty="0">
                <a:solidFill>
                  <a:srgbClr val="6B7280"/>
                </a:solidFill>
                <a:latin typeface="Arial" pitchFamily="34" charset="0"/>
                <a:ea typeface="Arial" pitchFamily="34" charset="-122"/>
                <a:cs typeface="Arial" pitchFamily="34" charset="-120"/>
              </a:rPr>
              <a:t>FedRAMP Moderate</a:t>
            </a:r>
            <a:endParaRPr lang="en-US" sz="900" dirty="0"/>
          </a:p>
          <a:p>
            <a:pPr algn="l" indent="0" marL="0">
              <a:lnSpc>
                <a:spcPts val="1620"/>
              </a:lnSpc>
              <a:spcAft>
                <a:spcPts val="1200"/>
              </a:spcAft>
              <a:buNone/>
            </a:pPr>
            <a:r>
              <a:rPr lang="en-US" sz="900" dirty="0">
                <a:solidFill>
                  <a:srgbClr val="6B7280"/>
                </a:solidFill>
                <a:latin typeface="Arial" pitchFamily="34" charset="0"/>
                <a:ea typeface="Arial" pitchFamily="34" charset="-122"/>
                <a:cs typeface="Arial" pitchFamily="34" charset="-120"/>
              </a:rPr>
              <a:t>State/Local government</a:t>
            </a:r>
            <a:endParaRPr lang="en-US" sz="900" dirty="0"/>
          </a:p>
          <a:p>
            <a:pPr algn="l" indent="0" marL="0">
              <a:lnSpc>
                <a:spcPts val="1620"/>
              </a:lnSpc>
              <a:spcAft>
                <a:spcPts val="1200"/>
              </a:spcAft>
              <a:buNone/>
            </a:pPr>
            <a:r>
              <a:rPr lang="en-US" sz="900" dirty="0">
                <a:solidFill>
                  <a:srgbClr val="6B7280"/>
                </a:solidFill>
                <a:latin typeface="Arial" pitchFamily="34" charset="0"/>
                <a:ea typeface="Arial" pitchFamily="34" charset="-122"/>
                <a:cs typeface="Arial" pitchFamily="34" charset="-120"/>
              </a:rPr>
              <a:t>Standard .azure.com endpoints</a:t>
            </a:r>
            <a:endParaRPr lang="en-US" sz="900" dirty="0"/>
          </a:p>
          <a:p>
            <a:pPr algn="l" indent="0" marL="0">
              <a:lnSpc>
                <a:spcPts val="1620"/>
              </a:lnSpc>
              <a:spcAft>
                <a:spcPts val="1200"/>
              </a:spcAft>
              <a:buNone/>
            </a:pPr>
            <a:r>
              <a:rPr lang="en-US" sz="900" dirty="0">
                <a:solidFill>
                  <a:srgbClr val="6B7280"/>
                </a:solidFill>
                <a:latin typeface="Arial" pitchFamily="34" charset="0"/>
                <a:ea typeface="Arial" pitchFamily="34" charset="-122"/>
                <a:cs typeface="Arial" pitchFamily="34" charset="-120"/>
              </a:rPr>
              <a:t>Most AI features available</a:t>
            </a:r>
            <a:endParaRPr lang="en-US" sz="900" dirty="0"/>
          </a:p>
        </p:txBody>
      </p:sp>
      <p:sp>
        <p:nvSpPr>
          <p:cNvPr id="10" name="Shape 8"/>
          <p:cNvSpPr/>
          <p:nvPr/>
        </p:nvSpPr>
        <p:spPr>
          <a:xfrm>
            <a:off x="695325" y="4228951"/>
            <a:ext cx="2114550" cy="0"/>
          </a:xfrm>
          <a:prstGeom prst="line">
            <a:avLst/>
          </a:prstGeom>
          <a:noFill/>
          <a:ln w="9525">
            <a:solidFill>
              <a:srgbClr val="E4E7ED"/>
            </a:solidFill>
            <a:prstDash val="solid"/>
          </a:ln>
        </p:spPr>
      </p:sp>
      <p:sp>
        <p:nvSpPr>
          <p:cNvPr id="11" name="Text 9"/>
          <p:cNvSpPr/>
          <p:nvPr/>
        </p:nvSpPr>
        <p:spPr>
          <a:xfrm>
            <a:off x="695325" y="4386114"/>
            <a:ext cx="2156841" cy="146596"/>
          </a:xfrm>
          <a:prstGeom prst="rect">
            <a:avLst/>
          </a:prstGeom>
          <a:noFill/>
          <a:ln/>
        </p:spPr>
        <p:txBody>
          <a:bodyPr wrap="square" lIns="0" tIns="0" rIns="0" bIns="0" rtlCol="0" anchor="t"/>
          <a:lstStyle/>
          <a:p>
            <a:pPr algn="l" indent="0" marL="0">
              <a:lnSpc>
                <a:spcPts val="1155"/>
              </a:lnSpc>
              <a:buNone/>
            </a:pPr>
            <a:r>
              <a:rPr lang="en-US" sz="825" b="1" dirty="0">
                <a:solidFill>
                  <a:srgbClr val="059669"/>
                </a:solidFill>
                <a:latin typeface="Arial" pitchFamily="34" charset="0"/>
                <a:ea typeface="Arial" pitchFamily="34" charset="-122"/>
                <a:cs typeface="Arial" pitchFamily="34" charset="-120"/>
              </a:rPr>
              <a:t>Recommended for Austin Public Health</a:t>
            </a:r>
            <a:endParaRPr lang="en-US" sz="825" dirty="0"/>
          </a:p>
        </p:txBody>
      </p:sp>
      <p:sp>
        <p:nvSpPr>
          <p:cNvPr id="12" name="Text 10"/>
          <p:cNvSpPr/>
          <p:nvPr/>
        </p:nvSpPr>
        <p:spPr>
          <a:xfrm>
            <a:off x="3276600" y="1546920"/>
            <a:ext cx="2571750" cy="3144738"/>
          </a:xfrm>
          <a:prstGeom prst="rect">
            <a:avLst/>
          </a:prstGeom>
          <a:solidFill>
            <a:srgbClr val="1A1F2E"/>
          </a:solidFill>
          <a:ln/>
        </p:spPr>
        <p:txBody>
          <a:bodyPr wrap="square" rtlCol="0" anchor="ctr"/>
          <a:lstStyle/>
          <a:p>
            <a:pPr indent="0" marL="0">
              <a:buNone/>
            </a:pPr>
            <a:endParaRPr lang="en-US" dirty="0"/>
          </a:p>
        </p:txBody>
      </p:sp>
      <p:sp>
        <p:nvSpPr>
          <p:cNvPr id="13" name="Text 11"/>
          <p:cNvSpPr/>
          <p:nvPr/>
        </p:nvSpPr>
        <p:spPr>
          <a:xfrm>
            <a:off x="3505200" y="1775520"/>
            <a:ext cx="2156841" cy="266700"/>
          </a:xfrm>
          <a:prstGeom prst="rect">
            <a:avLst/>
          </a:prstGeom>
          <a:noFill/>
          <a:ln/>
        </p:spPr>
        <p:txBody>
          <a:bodyPr wrap="square" lIns="0" tIns="0" rIns="0" bIns="0" rtlCol="0" anchor="t"/>
          <a:lstStyle/>
          <a:p>
            <a:pPr algn="l" indent="0" marL="0">
              <a:lnSpc>
                <a:spcPts val="2100"/>
              </a:lnSpc>
              <a:spcAft>
                <a:spcPts val="900"/>
              </a:spcAft>
              <a:buNone/>
            </a:pPr>
            <a:r>
              <a:rPr lang="en-US" sz="1500" dirty="0">
                <a:solidFill>
                  <a:srgbClr val="FFFFFF"/>
                </a:solidFill>
                <a:latin typeface="Georgia" pitchFamily="34" charset="0"/>
                <a:ea typeface="Georgia" pitchFamily="34" charset="-122"/>
                <a:cs typeface="Georgia" pitchFamily="34" charset="-120"/>
              </a:rPr>
              <a:t>GCC-High</a:t>
            </a:r>
            <a:endParaRPr lang="en-US" sz="1500" dirty="0"/>
          </a:p>
        </p:txBody>
      </p:sp>
      <p:sp>
        <p:nvSpPr>
          <p:cNvPr id="14" name="Text 12"/>
          <p:cNvSpPr/>
          <p:nvPr/>
        </p:nvSpPr>
        <p:spPr>
          <a:xfrm>
            <a:off x="3505200" y="2308920"/>
            <a:ext cx="2156841" cy="822722"/>
          </a:xfrm>
          <a:prstGeom prst="rect">
            <a:avLst/>
          </a:prstGeom>
          <a:noFill/>
          <a:ln/>
        </p:spPr>
        <p:txBody>
          <a:bodyPr wrap="square" lIns="0" tIns="0" rIns="0" bIns="0" rtlCol="0" anchor="t"/>
          <a:lstStyle/>
          <a:p>
            <a:pPr algn="l" indent="0" marL="0">
              <a:lnSpc>
                <a:spcPts val="1620"/>
              </a:lnSpc>
              <a:spcAft>
                <a:spcPts val="1200"/>
              </a:spcAft>
              <a:buNone/>
            </a:pPr>
            <a:r>
              <a:rPr lang="en-US" sz="900" dirty="0">
                <a:solidFill>
                  <a:srgbClr val="FFFFFF">
                    <a:alpha val="60000"/>
                  </a:srgbClr>
                </a:solidFill>
                <a:latin typeface="Arial" pitchFamily="34" charset="0"/>
                <a:ea typeface="Arial" pitchFamily="34" charset="-122"/>
                <a:cs typeface="Arial" pitchFamily="34" charset="-120"/>
              </a:rPr>
              <a:t>FedRAMP High</a:t>
            </a:r>
            <a:endParaRPr lang="en-US" sz="900" dirty="0"/>
          </a:p>
          <a:p>
            <a:pPr algn="l" indent="0" marL="0">
              <a:lnSpc>
                <a:spcPts val="1620"/>
              </a:lnSpc>
              <a:spcAft>
                <a:spcPts val="1200"/>
              </a:spcAft>
              <a:buNone/>
            </a:pPr>
            <a:r>
              <a:rPr lang="en-US" sz="900" dirty="0">
                <a:solidFill>
                  <a:srgbClr val="FFFFFF">
                    <a:alpha val="60000"/>
                  </a:srgbClr>
                </a:solidFill>
                <a:latin typeface="Arial" pitchFamily="34" charset="0"/>
                <a:ea typeface="Arial" pitchFamily="34" charset="-122"/>
                <a:cs typeface="Arial" pitchFamily="34" charset="-120"/>
              </a:rPr>
              <a:t>IL4/IL5 workloads</a:t>
            </a:r>
            <a:endParaRPr lang="en-US" sz="900" dirty="0"/>
          </a:p>
          <a:p>
            <a:pPr algn="l" indent="0" marL="0">
              <a:lnSpc>
                <a:spcPts val="1620"/>
              </a:lnSpc>
              <a:spcAft>
                <a:spcPts val="1200"/>
              </a:spcAft>
              <a:buNone/>
            </a:pPr>
            <a:r>
              <a:rPr lang="en-US" sz="900" dirty="0">
                <a:solidFill>
                  <a:srgbClr val="FFFFFF">
                    <a:alpha val="60000"/>
                  </a:srgbClr>
                </a:solidFill>
                <a:latin typeface="Arial" pitchFamily="34" charset="0"/>
                <a:ea typeface="Arial" pitchFamily="34" charset="-122"/>
                <a:cs typeface="Arial" pitchFamily="34" charset="-120"/>
              </a:rPr>
              <a:t>Uses .azure.us endpoints</a:t>
            </a:r>
            <a:endParaRPr lang="en-US" sz="900" dirty="0"/>
          </a:p>
          <a:p>
            <a:pPr algn="l" indent="0" marL="0">
              <a:lnSpc>
                <a:spcPts val="1620"/>
              </a:lnSpc>
              <a:spcAft>
                <a:spcPts val="1200"/>
              </a:spcAft>
              <a:buNone/>
            </a:pPr>
            <a:r>
              <a:rPr lang="en-US" sz="900" dirty="0">
                <a:solidFill>
                  <a:srgbClr val="FFFFFF">
                    <a:alpha val="60000"/>
                  </a:srgbClr>
                </a:solidFill>
                <a:latin typeface="Arial" pitchFamily="34" charset="0"/>
                <a:ea typeface="Arial" pitchFamily="34" charset="-122"/>
                <a:cs typeface="Arial" pitchFamily="34" charset="-120"/>
              </a:rPr>
              <a:t>Limited AI feature availability</a:t>
            </a:r>
            <a:endParaRPr lang="en-US" sz="900" dirty="0"/>
          </a:p>
        </p:txBody>
      </p:sp>
      <p:sp>
        <p:nvSpPr>
          <p:cNvPr id="15" name="Text 13"/>
          <p:cNvSpPr/>
          <p:nvPr/>
        </p:nvSpPr>
        <p:spPr>
          <a:xfrm>
            <a:off x="3505200" y="3588841"/>
            <a:ext cx="2114550" cy="413296"/>
          </a:xfrm>
          <a:prstGeom prst="rect">
            <a:avLst/>
          </a:prstGeom>
          <a:solidFill>
            <a:srgbClr val="252B3D"/>
          </a:solidFill>
          <a:ln/>
        </p:spPr>
        <p:txBody>
          <a:bodyPr wrap="square" rtlCol="0" anchor="ctr"/>
          <a:lstStyle/>
          <a:p>
            <a:pPr indent="0" marL="0">
              <a:buNone/>
            </a:pPr>
            <a:endParaRPr lang="en-US" dirty="0"/>
          </a:p>
        </p:txBody>
      </p:sp>
      <p:sp>
        <p:nvSpPr>
          <p:cNvPr id="16" name="Text 14"/>
          <p:cNvSpPr/>
          <p:nvPr/>
        </p:nvSpPr>
        <p:spPr>
          <a:xfrm>
            <a:off x="3638550" y="3722191"/>
            <a:ext cx="1884807" cy="146596"/>
          </a:xfrm>
          <a:prstGeom prst="rect">
            <a:avLst/>
          </a:prstGeom>
          <a:noFill/>
          <a:ln/>
        </p:spPr>
        <p:txBody>
          <a:bodyPr wrap="square" lIns="0" tIns="0" rIns="0" bIns="0" rtlCol="0" anchor="t"/>
          <a:lstStyle/>
          <a:p>
            <a:pPr algn="l" indent="0" marL="0">
              <a:lnSpc>
                <a:spcPts val="1155"/>
              </a:lnSpc>
              <a:buNone/>
            </a:pPr>
            <a:r>
              <a:rPr lang="en-US" sz="825" dirty="0">
                <a:solidFill>
                  <a:srgbClr val="C9A227"/>
                </a:solidFill>
                <a:latin typeface="Arial" pitchFamily="34" charset="0"/>
                <a:ea typeface="Arial" pitchFamily="34" charset="-122"/>
                <a:cs typeface="Arial" pitchFamily="34" charset="-120"/>
              </a:rPr>
              <a:t>Required for: DoD, ITAR, CUI</a:t>
            </a:r>
            <a:endParaRPr lang="en-US" sz="825" dirty="0"/>
          </a:p>
        </p:txBody>
      </p:sp>
      <p:sp>
        <p:nvSpPr>
          <p:cNvPr id="17" name="Shape 15"/>
          <p:cNvSpPr/>
          <p:nvPr/>
        </p:nvSpPr>
        <p:spPr>
          <a:xfrm>
            <a:off x="3505200" y="4159300"/>
            <a:ext cx="2114550" cy="0"/>
          </a:xfrm>
          <a:prstGeom prst="line">
            <a:avLst/>
          </a:prstGeom>
          <a:noFill/>
          <a:ln w="9525">
            <a:solidFill>
              <a:srgbClr val="333333"/>
            </a:solidFill>
            <a:prstDash val="solid"/>
          </a:ln>
        </p:spPr>
      </p:sp>
      <p:sp>
        <p:nvSpPr>
          <p:cNvPr id="18" name="Text 16"/>
          <p:cNvSpPr/>
          <p:nvPr/>
        </p:nvSpPr>
        <p:spPr>
          <a:xfrm>
            <a:off x="3505200" y="4316462"/>
            <a:ext cx="2156841" cy="146596"/>
          </a:xfrm>
          <a:prstGeom prst="rect">
            <a:avLst/>
          </a:prstGeom>
          <a:noFill/>
          <a:ln/>
        </p:spPr>
        <p:txBody>
          <a:bodyPr wrap="square" lIns="0" tIns="0" rIns="0" bIns="0" rtlCol="0" anchor="t"/>
          <a:lstStyle/>
          <a:p>
            <a:pPr algn="l" indent="0" marL="0">
              <a:lnSpc>
                <a:spcPts val="1155"/>
              </a:lnSpc>
              <a:buNone/>
            </a:pPr>
            <a:r>
              <a:rPr lang="en-US" sz="825" dirty="0">
                <a:solidFill>
                  <a:srgbClr val="F59E0B"/>
                </a:solidFill>
                <a:latin typeface="Arial" pitchFamily="34" charset="0"/>
                <a:ea typeface="Arial" pitchFamily="34" charset="-122"/>
                <a:cs typeface="Arial" pitchFamily="34" charset="-120"/>
              </a:rPr>
              <a:t>Check with IT for specific requirements</a:t>
            </a:r>
            <a:endParaRPr lang="en-US" sz="825" dirty="0"/>
          </a:p>
        </p:txBody>
      </p:sp>
      <p:sp>
        <p:nvSpPr>
          <p:cNvPr id="19" name="Text 17"/>
          <p:cNvSpPr/>
          <p:nvPr/>
        </p:nvSpPr>
        <p:spPr>
          <a:xfrm>
            <a:off x="6076950" y="1526977"/>
            <a:ext cx="2609850" cy="3184624"/>
          </a:xfrm>
          <a:prstGeom prst="rect">
            <a:avLst/>
          </a:prstGeom>
          <a:solidFill>
            <a:srgbClr val="FFFFFF"/>
          </a:solidFill>
          <a:ln/>
        </p:spPr>
        <p:txBody>
          <a:bodyPr wrap="square" rtlCol="0" anchor="ctr"/>
          <a:lstStyle/>
          <a:p>
            <a:pPr indent="0" marL="0">
              <a:buNone/>
            </a:pPr>
            <a:endParaRPr lang="en-US" dirty="0"/>
          </a:p>
        </p:txBody>
      </p:sp>
      <p:sp>
        <p:nvSpPr>
          <p:cNvPr id="20" name="Shape 18"/>
          <p:cNvSpPr/>
          <p:nvPr/>
        </p:nvSpPr>
        <p:spPr>
          <a:xfrm>
            <a:off x="6096000" y="1526977"/>
            <a:ext cx="0" cy="3184624"/>
          </a:xfrm>
          <a:prstGeom prst="line">
            <a:avLst/>
          </a:prstGeom>
          <a:noFill/>
          <a:ln w="38100">
            <a:solidFill>
              <a:srgbClr val="C9A227"/>
            </a:solidFill>
            <a:prstDash val="solid"/>
          </a:ln>
        </p:spPr>
      </p:sp>
      <p:sp>
        <p:nvSpPr>
          <p:cNvPr id="21" name="Text 19"/>
          <p:cNvSpPr/>
          <p:nvPr/>
        </p:nvSpPr>
        <p:spPr>
          <a:xfrm>
            <a:off x="6343650" y="1755577"/>
            <a:ext cx="2156841" cy="186630"/>
          </a:xfrm>
          <a:prstGeom prst="rect">
            <a:avLst/>
          </a:prstGeom>
          <a:noFill/>
          <a:ln/>
        </p:spPr>
        <p:txBody>
          <a:bodyPr wrap="square" lIns="0" tIns="0" rIns="0" bIns="0" rtlCol="0" anchor="t"/>
          <a:lstStyle/>
          <a:p>
            <a:pPr algn="l" indent="0" marL="0">
              <a:lnSpc>
                <a:spcPts val="1470"/>
              </a:lnSpc>
              <a:spcAft>
                <a:spcPts val="1200"/>
              </a:spcAft>
              <a:buNone/>
            </a:pPr>
            <a:r>
              <a:rPr lang="en-US" sz="1050" b="1" dirty="0">
                <a:solidFill>
                  <a:srgbClr val="1A1F2E"/>
                </a:solidFill>
                <a:latin typeface="Georgia" pitchFamily="34" charset="0"/>
                <a:ea typeface="Georgia" pitchFamily="34" charset="-122"/>
                <a:cs typeface="Georgia" pitchFamily="34" charset="-120"/>
              </a:rPr>
              <a:t>Key Differences</a:t>
            </a:r>
            <a:endParaRPr lang="en-US" sz="1050" dirty="0"/>
          </a:p>
        </p:txBody>
      </p:sp>
      <p:sp>
        <p:nvSpPr>
          <p:cNvPr id="22" name="Text 20"/>
          <p:cNvSpPr/>
          <p:nvPr/>
        </p:nvSpPr>
        <p:spPr>
          <a:xfrm>
            <a:off x="6343650" y="2247007"/>
            <a:ext cx="2156841" cy="159990"/>
          </a:xfrm>
          <a:prstGeom prst="rect">
            <a:avLst/>
          </a:prstGeom>
          <a:noFill/>
          <a:ln/>
        </p:spPr>
        <p:txBody>
          <a:bodyPr wrap="square" lIns="0" tIns="0" rIns="0" bIns="0" rtlCol="0" anchor="t"/>
          <a:lstStyle/>
          <a:p>
            <a:pPr algn="l" indent="0" marL="0">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Endpoints</a:t>
            </a:r>
            <a:endParaRPr lang="en-US" sz="900" dirty="0"/>
          </a:p>
        </p:txBody>
      </p:sp>
      <p:sp>
        <p:nvSpPr>
          <p:cNvPr id="23" name="Text 21"/>
          <p:cNvSpPr/>
          <p:nvPr/>
        </p:nvSpPr>
        <p:spPr>
          <a:xfrm>
            <a:off x="6343650" y="2445097"/>
            <a:ext cx="2156841" cy="146596"/>
          </a:xfrm>
          <a:prstGeom prst="rect">
            <a:avLst/>
          </a:prstGeom>
          <a:noFill/>
          <a:ln/>
        </p:spPr>
        <p:txBody>
          <a:bodyPr wrap="square" lIns="0" tIns="0" rIns="0" bIns="0" rtlCol="0" anchor="t"/>
          <a:lstStyle/>
          <a:p>
            <a:pPr algn="l" indent="0" marL="0">
              <a:lnSpc>
                <a:spcPts val="1155"/>
              </a:lnSpc>
              <a:buNone/>
            </a:pPr>
            <a:r>
              <a:rPr lang="en-US" sz="825" dirty="0">
                <a:solidFill>
                  <a:srgbClr val="6B7280"/>
                </a:solidFill>
                <a:latin typeface="monospace" pitchFamily="34" charset="0"/>
                <a:ea typeface="monospace" pitchFamily="34" charset="-122"/>
                <a:cs typeface="monospace" pitchFamily="34" charset="-120"/>
              </a:rPr>
              <a:t>.azure.com vs .azure.us</a:t>
            </a:r>
            <a:endParaRPr lang="en-US" sz="825" dirty="0"/>
          </a:p>
        </p:txBody>
      </p:sp>
      <p:sp>
        <p:nvSpPr>
          <p:cNvPr id="24" name="Text 22"/>
          <p:cNvSpPr/>
          <p:nvPr/>
        </p:nvSpPr>
        <p:spPr>
          <a:xfrm>
            <a:off x="6343650" y="2877443"/>
            <a:ext cx="2156841" cy="159990"/>
          </a:xfrm>
          <a:prstGeom prst="rect">
            <a:avLst/>
          </a:prstGeom>
          <a:noFill/>
          <a:ln/>
        </p:spPr>
        <p:txBody>
          <a:bodyPr wrap="square" lIns="0" tIns="0" rIns="0" bIns="0" rtlCol="0" anchor="t"/>
          <a:lstStyle/>
          <a:p>
            <a:pPr algn="l" indent="0" marL="0">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Personnel</a:t>
            </a:r>
            <a:endParaRPr lang="en-US" sz="900" dirty="0"/>
          </a:p>
        </p:txBody>
      </p:sp>
      <p:sp>
        <p:nvSpPr>
          <p:cNvPr id="25" name="Text 23"/>
          <p:cNvSpPr/>
          <p:nvPr/>
        </p:nvSpPr>
        <p:spPr>
          <a:xfrm>
            <a:off x="6343650" y="3075533"/>
            <a:ext cx="2156841" cy="146596"/>
          </a:xfrm>
          <a:prstGeom prst="rect">
            <a:avLst/>
          </a:prstGeom>
          <a:noFill/>
          <a:ln/>
        </p:spPr>
        <p:txBody>
          <a:bodyPr wrap="square" lIns="0" tIns="0" rIns="0" bIns="0" rtlCol="0" anchor="t"/>
          <a:lstStyle/>
          <a:p>
            <a:pPr algn="l" indent="0" marL="0">
              <a:lnSpc>
                <a:spcPts val="1155"/>
              </a:lnSpc>
              <a:buNone/>
            </a:pPr>
            <a:r>
              <a:rPr lang="en-US" sz="825" dirty="0">
                <a:solidFill>
                  <a:srgbClr val="6B7280"/>
                </a:solidFill>
                <a:latin typeface="Arial" pitchFamily="34" charset="0"/>
                <a:ea typeface="Arial" pitchFamily="34" charset="-122"/>
                <a:cs typeface="Arial" pitchFamily="34" charset="-120"/>
              </a:rPr>
              <a:t>GCC-High: US citizens only</a:t>
            </a:r>
            <a:endParaRPr lang="en-US" sz="825" dirty="0"/>
          </a:p>
        </p:txBody>
      </p:sp>
      <p:sp>
        <p:nvSpPr>
          <p:cNvPr id="26" name="Text 24"/>
          <p:cNvSpPr/>
          <p:nvPr/>
        </p:nvSpPr>
        <p:spPr>
          <a:xfrm>
            <a:off x="6343650" y="3507879"/>
            <a:ext cx="2156841" cy="159990"/>
          </a:xfrm>
          <a:prstGeom prst="rect">
            <a:avLst/>
          </a:prstGeom>
          <a:noFill/>
          <a:ln/>
        </p:spPr>
        <p:txBody>
          <a:bodyPr wrap="square" lIns="0" tIns="0" rIns="0" bIns="0" rtlCol="0" anchor="t"/>
          <a:lstStyle/>
          <a:p>
            <a:pPr algn="l" indent="0" marL="0">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Data Location</a:t>
            </a:r>
            <a:endParaRPr lang="en-US" sz="900" dirty="0"/>
          </a:p>
        </p:txBody>
      </p:sp>
      <p:sp>
        <p:nvSpPr>
          <p:cNvPr id="27" name="Text 25"/>
          <p:cNvSpPr/>
          <p:nvPr/>
        </p:nvSpPr>
        <p:spPr>
          <a:xfrm>
            <a:off x="6343650" y="3705969"/>
            <a:ext cx="2156841" cy="146596"/>
          </a:xfrm>
          <a:prstGeom prst="rect">
            <a:avLst/>
          </a:prstGeom>
          <a:noFill/>
          <a:ln/>
        </p:spPr>
        <p:txBody>
          <a:bodyPr wrap="square" lIns="0" tIns="0" rIns="0" bIns="0" rtlCol="0" anchor="t"/>
          <a:lstStyle/>
          <a:p>
            <a:pPr algn="l" indent="0" marL="0">
              <a:lnSpc>
                <a:spcPts val="1155"/>
              </a:lnSpc>
              <a:buNone/>
            </a:pPr>
            <a:r>
              <a:rPr lang="en-US" sz="825" dirty="0">
                <a:solidFill>
                  <a:srgbClr val="6B7280"/>
                </a:solidFill>
                <a:latin typeface="Arial" pitchFamily="34" charset="0"/>
                <a:ea typeface="Arial" pitchFamily="34" charset="-122"/>
                <a:cs typeface="Arial" pitchFamily="34" charset="-120"/>
              </a:rPr>
              <a:t>Both: US datacenters only</a:t>
            </a:r>
            <a:endParaRPr lang="en-US" sz="825" dirty="0"/>
          </a:p>
        </p:txBody>
      </p:sp>
      <p:sp>
        <p:nvSpPr>
          <p:cNvPr id="28" name="Text 26"/>
          <p:cNvSpPr/>
          <p:nvPr/>
        </p:nvSpPr>
        <p:spPr>
          <a:xfrm>
            <a:off x="6343650" y="4138315"/>
            <a:ext cx="2156841" cy="159990"/>
          </a:xfrm>
          <a:prstGeom prst="rect">
            <a:avLst/>
          </a:prstGeom>
          <a:noFill/>
          <a:ln/>
        </p:spPr>
        <p:txBody>
          <a:bodyPr wrap="square" lIns="0" tIns="0" rIns="0" bIns="0" rtlCol="0" anchor="t"/>
          <a:lstStyle/>
          <a:p>
            <a:pPr algn="l" indent="0" marL="0">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Cost</a:t>
            </a:r>
            <a:endParaRPr lang="en-US" sz="900" dirty="0"/>
          </a:p>
        </p:txBody>
      </p:sp>
      <p:sp>
        <p:nvSpPr>
          <p:cNvPr id="29" name="Text 27"/>
          <p:cNvSpPr/>
          <p:nvPr/>
        </p:nvSpPr>
        <p:spPr>
          <a:xfrm>
            <a:off x="6343650" y="4336405"/>
            <a:ext cx="2156841" cy="146596"/>
          </a:xfrm>
          <a:prstGeom prst="rect">
            <a:avLst/>
          </a:prstGeom>
          <a:noFill/>
          <a:ln/>
        </p:spPr>
        <p:txBody>
          <a:bodyPr wrap="square" lIns="0" tIns="0" rIns="0" bIns="0" rtlCol="0" anchor="t"/>
          <a:lstStyle/>
          <a:p>
            <a:pPr algn="l" indent="0" marL="0">
              <a:lnSpc>
                <a:spcPts val="1155"/>
              </a:lnSpc>
              <a:buNone/>
            </a:pPr>
            <a:r>
              <a:rPr lang="en-US" sz="825" dirty="0">
                <a:solidFill>
                  <a:srgbClr val="6B7280"/>
                </a:solidFill>
                <a:latin typeface="Arial" pitchFamily="34" charset="0"/>
                <a:ea typeface="Arial" pitchFamily="34" charset="-122"/>
                <a:cs typeface="Arial" pitchFamily="34" charset="-120"/>
              </a:rPr>
              <a:t>GCC-High: ~20% premium</a:t>
            </a:r>
            <a:endParaRPr lang="en-US" sz="825"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A1F2E"/>
        </a:solidFill>
      </p:bgPr>
    </p:bg>
    <p:spTree>
      <p:nvGrpSpPr>
        <p:cNvPr id="1" name=""/>
        <p:cNvGrpSpPr/>
        <p:nvPr/>
      </p:nvGrpSpPr>
      <p:grpSpPr>
        <a:xfrm>
          <a:off x="0" y="0"/>
          <a:ext cx="0" cy="0"/>
          <a:chOff x="0" y="0"/>
          <a:chExt cx="0" cy="0"/>
        </a:xfrm>
      </p:grpSpPr>
      <p:sp>
        <p:nvSpPr>
          <p:cNvPr id="2" name="Text 0"/>
          <p:cNvSpPr/>
          <p:nvPr/>
        </p:nvSpPr>
        <p:spPr>
          <a:xfrm>
            <a:off x="381000" y="266700"/>
            <a:ext cx="8549640" cy="133350"/>
          </a:xfrm>
          <a:prstGeom prst="rect">
            <a:avLst/>
          </a:prstGeom>
          <a:noFill/>
          <a:ln/>
        </p:spPr>
        <p:txBody>
          <a:bodyPr wrap="square" lIns="0" tIns="0" rIns="0" bIns="0" rtlCol="0" anchor="t"/>
          <a:lstStyle/>
          <a:p>
            <a:pPr algn="l" indent="0" marL="0">
              <a:lnSpc>
                <a:spcPts val="1050"/>
              </a:lnSpc>
              <a:spcAft>
                <a:spcPts val="450"/>
              </a:spcAft>
              <a:buNone/>
            </a:pPr>
            <a:r>
              <a:rPr lang="en-US" sz="750" dirty="0">
                <a:solidFill>
                  <a:srgbClr val="C9A227"/>
                </a:solidFill>
                <a:latin typeface="Arial" pitchFamily="34" charset="0"/>
                <a:ea typeface="Arial" pitchFamily="34" charset="-122"/>
                <a:cs typeface="Arial" pitchFamily="34" charset="-120"/>
              </a:rPr>
              <a:t>CONFIGURATION</a:t>
            </a:r>
            <a:endParaRPr lang="en-US" sz="750" dirty="0"/>
          </a:p>
        </p:txBody>
      </p:sp>
      <p:sp>
        <p:nvSpPr>
          <p:cNvPr id="3" name="Text 1"/>
          <p:cNvSpPr/>
          <p:nvPr/>
        </p:nvSpPr>
        <p:spPr>
          <a:xfrm>
            <a:off x="381000" y="457200"/>
            <a:ext cx="4284536" cy="266700"/>
          </a:xfrm>
          <a:prstGeom prst="rect">
            <a:avLst/>
          </a:prstGeom>
          <a:noFill/>
          <a:ln/>
        </p:spPr>
        <p:txBody>
          <a:bodyPr wrap="square" lIns="0" tIns="0" rIns="0" bIns="0" rtlCol="0" anchor="t"/>
          <a:lstStyle/>
          <a:p>
            <a:pPr algn="l" indent="0" marL="0">
              <a:lnSpc>
                <a:spcPts val="2100"/>
              </a:lnSpc>
              <a:buNone/>
            </a:pPr>
            <a:r>
              <a:rPr lang="en-US" sz="2100" dirty="0">
                <a:solidFill>
                  <a:srgbClr val="FFFFFF"/>
                </a:solidFill>
                <a:latin typeface="Georgia" pitchFamily="34" charset="0"/>
                <a:ea typeface="Georgia" pitchFamily="34" charset="-122"/>
                <a:cs typeface="Georgia" pitchFamily="34" charset="-120"/>
              </a:rPr>
              <a:t>Azure OpenAI Setup</a:t>
            </a:r>
            <a:endParaRPr lang="en-US" sz="2100" dirty="0"/>
          </a:p>
        </p:txBody>
      </p:sp>
      <p:sp>
        <p:nvSpPr>
          <p:cNvPr id="4" name="Text 2"/>
          <p:cNvSpPr/>
          <p:nvPr/>
        </p:nvSpPr>
        <p:spPr>
          <a:xfrm>
            <a:off x="381000" y="922139"/>
            <a:ext cx="2705100" cy="1487686"/>
          </a:xfrm>
          <a:prstGeom prst="rect">
            <a:avLst/>
          </a:prstGeom>
          <a:solidFill>
            <a:srgbClr val="252B3D"/>
          </a:solidFill>
          <a:ln/>
        </p:spPr>
        <p:txBody>
          <a:bodyPr wrap="square" rtlCol="0" anchor="ctr"/>
          <a:lstStyle/>
          <a:p>
            <a:pPr indent="0" marL="0">
              <a:buNone/>
            </a:pPr>
            <a:endParaRPr lang="en-US" dirty="0"/>
          </a:p>
        </p:txBody>
      </p:sp>
      <p:sp>
        <p:nvSpPr>
          <p:cNvPr id="5" name="Text 3"/>
          <p:cNvSpPr/>
          <p:nvPr/>
        </p:nvSpPr>
        <p:spPr>
          <a:xfrm>
            <a:off x="533400" y="1074539"/>
            <a:ext cx="266700" cy="266700"/>
          </a:xfrm>
          <a:prstGeom prst="rect">
            <a:avLst/>
          </a:prstGeom>
          <a:solidFill>
            <a:srgbClr val="C9A227"/>
          </a:solidFill>
          <a:ln/>
        </p:spPr>
        <p:txBody>
          <a:bodyPr wrap="square" rtlCol="0" anchor="ctr"/>
          <a:lstStyle/>
          <a:p>
            <a:pPr indent="0" marL="0">
              <a:buNone/>
            </a:pPr>
            <a:endParaRPr lang="en-US" dirty="0"/>
          </a:p>
        </p:txBody>
      </p:sp>
      <p:sp>
        <p:nvSpPr>
          <p:cNvPr id="6" name="Text 4"/>
          <p:cNvSpPr/>
          <p:nvPr/>
        </p:nvSpPr>
        <p:spPr>
          <a:xfrm>
            <a:off x="634901" y="1127820"/>
            <a:ext cx="64972" cy="159990"/>
          </a:xfrm>
          <a:prstGeom prst="rect">
            <a:avLst/>
          </a:prstGeom>
          <a:noFill/>
          <a:ln/>
        </p:spPr>
        <p:txBody>
          <a:bodyPr wrap="square" lIns="0" tIns="0" rIns="0" bIns="0" rtlCol="0" anchor="t"/>
          <a:lstStyle/>
          <a:p>
            <a:pPr algn="l" indent="0" marL="0">
              <a:lnSpc>
                <a:spcPts val="1260"/>
              </a:lnSpc>
              <a:buNone/>
            </a:pPr>
            <a:r>
              <a:rPr lang="en-US" sz="900" b="1" dirty="0">
                <a:solidFill>
                  <a:srgbClr val="1A1F2E"/>
                </a:solidFill>
                <a:latin typeface="Arial" pitchFamily="34" charset="0"/>
                <a:ea typeface="Arial" pitchFamily="34" charset="-122"/>
                <a:cs typeface="Arial" pitchFamily="34" charset="-120"/>
              </a:rPr>
              <a:t>1</a:t>
            </a:r>
            <a:endParaRPr lang="en-US" sz="900" dirty="0"/>
          </a:p>
        </p:txBody>
      </p:sp>
      <p:sp>
        <p:nvSpPr>
          <p:cNvPr id="7" name="Text 5"/>
          <p:cNvSpPr/>
          <p:nvPr/>
        </p:nvSpPr>
        <p:spPr>
          <a:xfrm>
            <a:off x="533400" y="1588889"/>
            <a:ext cx="2448306" cy="173236"/>
          </a:xfrm>
          <a:prstGeom prst="rect">
            <a:avLst/>
          </a:prstGeom>
          <a:noFill/>
          <a:ln/>
        </p:spPr>
        <p:txBody>
          <a:bodyPr wrap="square" lIns="0" tIns="0" rIns="0" bIns="0" rtlCol="0" anchor="t"/>
          <a:lstStyle/>
          <a:p>
            <a:pPr algn="l" indent="0" marL="0">
              <a:lnSpc>
                <a:spcPts val="1365"/>
              </a:lnSpc>
              <a:spcAft>
                <a:spcPts val="450"/>
              </a:spcAft>
              <a:buNone/>
            </a:pPr>
            <a:r>
              <a:rPr lang="en-US" sz="975" dirty="0">
                <a:solidFill>
                  <a:srgbClr val="FFFFFF"/>
                </a:solidFill>
                <a:latin typeface="Georgia" pitchFamily="34" charset="0"/>
                <a:ea typeface="Georgia" pitchFamily="34" charset="-122"/>
                <a:cs typeface="Georgia" pitchFamily="34" charset="-120"/>
              </a:rPr>
              <a:t>Request Access</a:t>
            </a:r>
            <a:endParaRPr lang="en-US" sz="975" dirty="0"/>
          </a:p>
        </p:txBody>
      </p:sp>
      <p:sp>
        <p:nvSpPr>
          <p:cNvPr id="8" name="Text 6"/>
          <p:cNvSpPr/>
          <p:nvPr/>
        </p:nvSpPr>
        <p:spPr>
          <a:xfrm>
            <a:off x="533400" y="1971675"/>
            <a:ext cx="2448306" cy="285750"/>
          </a:xfrm>
          <a:prstGeom prst="rect">
            <a:avLst/>
          </a:prstGeom>
          <a:noFill/>
          <a:ln/>
        </p:spPr>
        <p:txBody>
          <a:bodyPr wrap="square" lIns="0" tIns="0" rIns="0" bIns="0" rtlCol="0" anchor="t"/>
          <a:lstStyle/>
          <a:p>
            <a:pPr algn="l" indent="0" marL="0">
              <a:lnSpc>
                <a:spcPts val="1125"/>
              </a:lnSpc>
              <a:buNone/>
            </a:pPr>
            <a:r>
              <a:rPr lang="en-US" sz="750" dirty="0">
                <a:solidFill>
                  <a:srgbClr val="FFFFFF">
                    <a:alpha val="60000"/>
                  </a:srgbClr>
                </a:solidFill>
                <a:latin typeface="Arial" pitchFamily="34" charset="0"/>
                <a:ea typeface="Arial" pitchFamily="34" charset="-122"/>
                <a:cs typeface="Arial" pitchFamily="34" charset="-120"/>
              </a:rPr>
              <a:t>Apply at aka.ms/oai/access. Approval typically 1-2 business days.</a:t>
            </a:r>
            <a:endParaRPr lang="en-US" sz="750" dirty="0"/>
          </a:p>
        </p:txBody>
      </p:sp>
      <p:sp>
        <p:nvSpPr>
          <p:cNvPr id="9" name="Text 7"/>
          <p:cNvSpPr/>
          <p:nvPr/>
        </p:nvSpPr>
        <p:spPr>
          <a:xfrm>
            <a:off x="3219450" y="922139"/>
            <a:ext cx="2705100" cy="1487686"/>
          </a:xfrm>
          <a:prstGeom prst="rect">
            <a:avLst/>
          </a:prstGeom>
          <a:solidFill>
            <a:srgbClr val="252B3D"/>
          </a:solidFill>
          <a:ln/>
        </p:spPr>
        <p:txBody>
          <a:bodyPr wrap="square" rtlCol="0" anchor="ctr"/>
          <a:lstStyle/>
          <a:p>
            <a:pPr indent="0" marL="0">
              <a:buNone/>
            </a:pPr>
            <a:endParaRPr lang="en-US" dirty="0"/>
          </a:p>
        </p:txBody>
      </p:sp>
      <p:sp>
        <p:nvSpPr>
          <p:cNvPr id="10" name="Text 8"/>
          <p:cNvSpPr/>
          <p:nvPr/>
        </p:nvSpPr>
        <p:spPr>
          <a:xfrm>
            <a:off x="3371850" y="1074539"/>
            <a:ext cx="266700" cy="266700"/>
          </a:xfrm>
          <a:prstGeom prst="rect">
            <a:avLst/>
          </a:prstGeom>
          <a:solidFill>
            <a:srgbClr val="C9A227"/>
          </a:solidFill>
          <a:ln/>
        </p:spPr>
        <p:txBody>
          <a:bodyPr wrap="square" rtlCol="0" anchor="ctr"/>
          <a:lstStyle/>
          <a:p>
            <a:pPr indent="0" marL="0">
              <a:buNone/>
            </a:pPr>
            <a:endParaRPr lang="en-US" dirty="0"/>
          </a:p>
        </p:txBody>
      </p:sp>
      <p:sp>
        <p:nvSpPr>
          <p:cNvPr id="11" name="Text 9"/>
          <p:cNvSpPr/>
          <p:nvPr/>
        </p:nvSpPr>
        <p:spPr>
          <a:xfrm>
            <a:off x="3473351" y="1127820"/>
            <a:ext cx="64972" cy="159990"/>
          </a:xfrm>
          <a:prstGeom prst="rect">
            <a:avLst/>
          </a:prstGeom>
          <a:noFill/>
          <a:ln/>
        </p:spPr>
        <p:txBody>
          <a:bodyPr wrap="square" lIns="0" tIns="0" rIns="0" bIns="0" rtlCol="0" anchor="t"/>
          <a:lstStyle/>
          <a:p>
            <a:pPr algn="l" indent="0" marL="0">
              <a:lnSpc>
                <a:spcPts val="1260"/>
              </a:lnSpc>
              <a:buNone/>
            </a:pPr>
            <a:r>
              <a:rPr lang="en-US" sz="900" b="1" dirty="0">
                <a:solidFill>
                  <a:srgbClr val="1A1F2E"/>
                </a:solidFill>
                <a:latin typeface="Arial" pitchFamily="34" charset="0"/>
                <a:ea typeface="Arial" pitchFamily="34" charset="-122"/>
                <a:cs typeface="Arial" pitchFamily="34" charset="-120"/>
              </a:rPr>
              <a:t>2</a:t>
            </a:r>
            <a:endParaRPr lang="en-US" sz="900" dirty="0"/>
          </a:p>
        </p:txBody>
      </p:sp>
      <p:sp>
        <p:nvSpPr>
          <p:cNvPr id="12" name="Text 10"/>
          <p:cNvSpPr/>
          <p:nvPr/>
        </p:nvSpPr>
        <p:spPr>
          <a:xfrm>
            <a:off x="3371850" y="1588889"/>
            <a:ext cx="2448306" cy="173236"/>
          </a:xfrm>
          <a:prstGeom prst="rect">
            <a:avLst/>
          </a:prstGeom>
          <a:noFill/>
          <a:ln/>
        </p:spPr>
        <p:txBody>
          <a:bodyPr wrap="square" lIns="0" tIns="0" rIns="0" bIns="0" rtlCol="0" anchor="t"/>
          <a:lstStyle/>
          <a:p>
            <a:pPr algn="l" indent="0" marL="0">
              <a:lnSpc>
                <a:spcPts val="1365"/>
              </a:lnSpc>
              <a:spcAft>
                <a:spcPts val="450"/>
              </a:spcAft>
              <a:buNone/>
            </a:pPr>
            <a:r>
              <a:rPr lang="en-US" sz="975" dirty="0">
                <a:solidFill>
                  <a:srgbClr val="FFFFFF"/>
                </a:solidFill>
                <a:latin typeface="Georgia" pitchFamily="34" charset="0"/>
                <a:ea typeface="Georgia" pitchFamily="34" charset="-122"/>
                <a:cs typeface="Georgia" pitchFamily="34" charset="-120"/>
              </a:rPr>
              <a:t>Create Resource</a:t>
            </a:r>
            <a:endParaRPr lang="en-US" sz="975" dirty="0"/>
          </a:p>
        </p:txBody>
      </p:sp>
      <p:sp>
        <p:nvSpPr>
          <p:cNvPr id="13" name="Text 11"/>
          <p:cNvSpPr/>
          <p:nvPr/>
        </p:nvSpPr>
        <p:spPr>
          <a:xfrm>
            <a:off x="3371850" y="1971675"/>
            <a:ext cx="2448306" cy="285750"/>
          </a:xfrm>
          <a:prstGeom prst="rect">
            <a:avLst/>
          </a:prstGeom>
          <a:noFill/>
          <a:ln/>
        </p:spPr>
        <p:txBody>
          <a:bodyPr wrap="square" lIns="0" tIns="0" rIns="0" bIns="0" rtlCol="0" anchor="t"/>
          <a:lstStyle/>
          <a:p>
            <a:pPr algn="l" indent="0" marL="0">
              <a:lnSpc>
                <a:spcPts val="1125"/>
              </a:lnSpc>
              <a:buNone/>
            </a:pPr>
            <a:r>
              <a:rPr lang="en-US" sz="750" dirty="0">
                <a:solidFill>
                  <a:srgbClr val="FFFFFF">
                    <a:alpha val="60000"/>
                  </a:srgbClr>
                </a:solidFill>
                <a:latin typeface="Arial" pitchFamily="34" charset="0"/>
                <a:ea typeface="Arial" pitchFamily="34" charset="-122"/>
                <a:cs typeface="Arial" pitchFamily="34" charset="-120"/>
              </a:rPr>
              <a:t>Azure Portal &gt; Create Azure OpenAI resource in your subscription.</a:t>
            </a:r>
            <a:endParaRPr lang="en-US" sz="750" dirty="0"/>
          </a:p>
        </p:txBody>
      </p:sp>
      <p:sp>
        <p:nvSpPr>
          <p:cNvPr id="14" name="Text 12"/>
          <p:cNvSpPr/>
          <p:nvPr/>
        </p:nvSpPr>
        <p:spPr>
          <a:xfrm>
            <a:off x="6057900" y="993577"/>
            <a:ext cx="2705100" cy="1344811"/>
          </a:xfrm>
          <a:prstGeom prst="rect">
            <a:avLst/>
          </a:prstGeom>
          <a:solidFill>
            <a:srgbClr val="252B3D"/>
          </a:solidFill>
          <a:ln/>
        </p:spPr>
        <p:txBody>
          <a:bodyPr wrap="square" rtlCol="0" anchor="ctr"/>
          <a:lstStyle/>
          <a:p>
            <a:pPr indent="0" marL="0">
              <a:buNone/>
            </a:pPr>
            <a:endParaRPr lang="en-US" dirty="0"/>
          </a:p>
        </p:txBody>
      </p:sp>
      <p:sp>
        <p:nvSpPr>
          <p:cNvPr id="15" name="Text 13"/>
          <p:cNvSpPr/>
          <p:nvPr/>
        </p:nvSpPr>
        <p:spPr>
          <a:xfrm>
            <a:off x="6210300" y="1145977"/>
            <a:ext cx="266700" cy="266700"/>
          </a:xfrm>
          <a:prstGeom prst="rect">
            <a:avLst/>
          </a:prstGeom>
          <a:solidFill>
            <a:srgbClr val="C9A227"/>
          </a:solidFill>
          <a:ln/>
        </p:spPr>
        <p:txBody>
          <a:bodyPr wrap="square" rtlCol="0" anchor="ctr"/>
          <a:lstStyle/>
          <a:p>
            <a:pPr indent="0" marL="0">
              <a:buNone/>
            </a:pPr>
            <a:endParaRPr lang="en-US" dirty="0"/>
          </a:p>
        </p:txBody>
      </p:sp>
      <p:sp>
        <p:nvSpPr>
          <p:cNvPr id="16" name="Text 14"/>
          <p:cNvSpPr/>
          <p:nvPr/>
        </p:nvSpPr>
        <p:spPr>
          <a:xfrm>
            <a:off x="6311801" y="1199257"/>
            <a:ext cx="64972" cy="159990"/>
          </a:xfrm>
          <a:prstGeom prst="rect">
            <a:avLst/>
          </a:prstGeom>
          <a:noFill/>
          <a:ln/>
        </p:spPr>
        <p:txBody>
          <a:bodyPr wrap="square" lIns="0" tIns="0" rIns="0" bIns="0" rtlCol="0" anchor="t"/>
          <a:lstStyle/>
          <a:p>
            <a:pPr algn="l" indent="0" marL="0">
              <a:lnSpc>
                <a:spcPts val="1260"/>
              </a:lnSpc>
              <a:buNone/>
            </a:pPr>
            <a:r>
              <a:rPr lang="en-US" sz="900" b="1" dirty="0">
                <a:solidFill>
                  <a:srgbClr val="1A1F2E"/>
                </a:solidFill>
                <a:latin typeface="Arial" pitchFamily="34" charset="0"/>
                <a:ea typeface="Arial" pitchFamily="34" charset="-122"/>
                <a:cs typeface="Arial" pitchFamily="34" charset="-120"/>
              </a:rPr>
              <a:t>3</a:t>
            </a:r>
            <a:endParaRPr lang="en-US" sz="900" dirty="0"/>
          </a:p>
        </p:txBody>
      </p:sp>
      <p:sp>
        <p:nvSpPr>
          <p:cNvPr id="17" name="Text 15"/>
          <p:cNvSpPr/>
          <p:nvPr/>
        </p:nvSpPr>
        <p:spPr>
          <a:xfrm>
            <a:off x="6210300" y="1660327"/>
            <a:ext cx="2448306" cy="173236"/>
          </a:xfrm>
          <a:prstGeom prst="rect">
            <a:avLst/>
          </a:prstGeom>
          <a:noFill/>
          <a:ln/>
        </p:spPr>
        <p:txBody>
          <a:bodyPr wrap="square" lIns="0" tIns="0" rIns="0" bIns="0" rtlCol="0" anchor="t"/>
          <a:lstStyle/>
          <a:p>
            <a:pPr algn="l" indent="0" marL="0">
              <a:lnSpc>
                <a:spcPts val="1365"/>
              </a:lnSpc>
              <a:spcAft>
                <a:spcPts val="450"/>
              </a:spcAft>
              <a:buNone/>
            </a:pPr>
            <a:r>
              <a:rPr lang="en-US" sz="975" dirty="0">
                <a:solidFill>
                  <a:srgbClr val="FFFFFF"/>
                </a:solidFill>
                <a:latin typeface="Georgia" pitchFamily="34" charset="0"/>
                <a:ea typeface="Georgia" pitchFamily="34" charset="-122"/>
                <a:cs typeface="Georgia" pitchFamily="34" charset="-120"/>
              </a:rPr>
              <a:t>Deploy Model</a:t>
            </a:r>
            <a:endParaRPr lang="en-US" sz="975" dirty="0"/>
          </a:p>
        </p:txBody>
      </p:sp>
      <p:sp>
        <p:nvSpPr>
          <p:cNvPr id="18" name="Text 16"/>
          <p:cNvSpPr/>
          <p:nvPr/>
        </p:nvSpPr>
        <p:spPr>
          <a:xfrm>
            <a:off x="6210300" y="2043113"/>
            <a:ext cx="2448306" cy="142875"/>
          </a:xfrm>
          <a:prstGeom prst="rect">
            <a:avLst/>
          </a:prstGeom>
          <a:noFill/>
          <a:ln/>
        </p:spPr>
        <p:txBody>
          <a:bodyPr wrap="square" lIns="0" tIns="0" rIns="0" bIns="0" rtlCol="0" anchor="t"/>
          <a:lstStyle/>
          <a:p>
            <a:pPr algn="l" indent="0" marL="0">
              <a:lnSpc>
                <a:spcPts val="1125"/>
              </a:lnSpc>
              <a:buNone/>
            </a:pPr>
            <a:r>
              <a:rPr lang="en-US" sz="750" dirty="0">
                <a:solidFill>
                  <a:srgbClr val="FFFFFF">
                    <a:alpha val="60000"/>
                  </a:srgbClr>
                </a:solidFill>
                <a:latin typeface="Arial" pitchFamily="34" charset="0"/>
                <a:ea typeface="Arial" pitchFamily="34" charset="-122"/>
                <a:cs typeface="Arial" pitchFamily="34" charset="-120"/>
              </a:rPr>
              <a:t>Azure AI Studio &gt; Deploy GPT-4 or GPT-4o model.</a:t>
            </a:r>
            <a:endParaRPr lang="en-US" sz="750" dirty="0"/>
          </a:p>
        </p:txBody>
      </p:sp>
      <p:sp>
        <p:nvSpPr>
          <p:cNvPr id="19" name="Text 17"/>
          <p:cNvSpPr/>
          <p:nvPr/>
        </p:nvSpPr>
        <p:spPr>
          <a:xfrm>
            <a:off x="381000" y="2695575"/>
            <a:ext cx="8382000" cy="1613446"/>
          </a:xfrm>
          <a:prstGeom prst="rect">
            <a:avLst/>
          </a:prstGeom>
          <a:solidFill>
            <a:srgbClr val="252B3D"/>
          </a:solidFill>
          <a:ln/>
        </p:spPr>
        <p:txBody>
          <a:bodyPr wrap="square" rtlCol="0" anchor="ctr"/>
          <a:lstStyle/>
          <a:p>
            <a:pPr indent="0" marL="0">
              <a:buNone/>
            </a:pPr>
            <a:endParaRPr lang="en-US" dirty="0"/>
          </a:p>
        </p:txBody>
      </p:sp>
      <p:sp>
        <p:nvSpPr>
          <p:cNvPr id="20" name="Text 18"/>
          <p:cNvSpPr/>
          <p:nvPr/>
        </p:nvSpPr>
        <p:spPr>
          <a:xfrm>
            <a:off x="533400" y="2847975"/>
            <a:ext cx="8238744" cy="146596"/>
          </a:xfrm>
          <a:prstGeom prst="rect">
            <a:avLst/>
          </a:prstGeom>
          <a:noFill/>
          <a:ln/>
        </p:spPr>
        <p:txBody>
          <a:bodyPr wrap="square" lIns="0" tIns="0" rIns="0" bIns="0" rtlCol="0" anchor="t"/>
          <a:lstStyle/>
          <a:p>
            <a:pPr algn="l" indent="0" marL="0">
              <a:lnSpc>
                <a:spcPts val="1155"/>
              </a:lnSpc>
              <a:spcAft>
                <a:spcPts val="750"/>
              </a:spcAft>
              <a:buNone/>
            </a:pPr>
            <a:r>
              <a:rPr lang="en-US" sz="825" b="1" dirty="0">
                <a:solidFill>
                  <a:srgbClr val="C9A227"/>
                </a:solidFill>
                <a:latin typeface="Arial" pitchFamily="34" charset="0"/>
                <a:ea typeface="Arial" pitchFamily="34" charset="-122"/>
                <a:cs typeface="Arial" pitchFamily="34" charset="-120"/>
              </a:rPr>
              <a:t>Environment Variables</a:t>
            </a:r>
            <a:endParaRPr lang="en-US" sz="825" dirty="0"/>
          </a:p>
        </p:txBody>
      </p:sp>
      <p:sp>
        <p:nvSpPr>
          <p:cNvPr id="21" name="Text 19"/>
          <p:cNvSpPr/>
          <p:nvPr/>
        </p:nvSpPr>
        <p:spPr>
          <a:xfrm>
            <a:off x="533400" y="3089821"/>
            <a:ext cx="8238744" cy="266700"/>
          </a:xfrm>
          <a:prstGeom prst="rect">
            <a:avLst/>
          </a:prstGeom>
          <a:noFill/>
          <a:ln/>
        </p:spPr>
        <p:txBody>
          <a:bodyPr wrap="square" lIns="0" tIns="0" rIns="0" bIns="0" rtlCol="0" anchor="t"/>
          <a:lstStyle/>
          <a:p>
            <a:pPr algn="l" indent="0" marL="0">
              <a:lnSpc>
                <a:spcPts val="2100"/>
              </a:lnSpc>
              <a:buNone/>
            </a:pPr>
            <a:r>
              <a:rPr lang="en-US" sz="1500" dirty="0">
                <a:solidFill>
                  <a:srgbClr val="FFFFFF">
                    <a:alpha val="80000"/>
                  </a:srgbClr>
                </a:solidFill>
                <a:latin typeface="Arial" pitchFamily="34" charset="0"/>
                <a:ea typeface="Arial" pitchFamily="34" charset="-122"/>
                <a:cs typeface="Arial" pitchFamily="34" charset="-120"/>
              </a:rPr>
              <a:t>AZURE_OPENAI_ENDPOINT=https://your-resource.openai.azure.com</a:t>
            </a:r>
            <a:endParaRPr lang="en-US" sz="1500" dirty="0"/>
          </a:p>
        </p:txBody>
      </p:sp>
      <p:sp>
        <p:nvSpPr>
          <p:cNvPr id="22" name="Text 20"/>
          <p:cNvSpPr/>
          <p:nvPr/>
        </p:nvSpPr>
        <p:spPr>
          <a:xfrm>
            <a:off x="533400" y="3356521"/>
            <a:ext cx="8238744" cy="266700"/>
          </a:xfrm>
          <a:prstGeom prst="rect">
            <a:avLst/>
          </a:prstGeom>
          <a:noFill/>
          <a:ln/>
        </p:spPr>
        <p:txBody>
          <a:bodyPr wrap="square" lIns="0" tIns="0" rIns="0" bIns="0" rtlCol="0" anchor="t"/>
          <a:lstStyle/>
          <a:p>
            <a:pPr algn="l" indent="0" marL="0">
              <a:lnSpc>
                <a:spcPts val="2100"/>
              </a:lnSpc>
              <a:buNone/>
            </a:pPr>
            <a:r>
              <a:rPr lang="en-US" sz="1500" dirty="0">
                <a:solidFill>
                  <a:srgbClr val="FFFFFF">
                    <a:alpha val="80000"/>
                  </a:srgbClr>
                </a:solidFill>
                <a:latin typeface="Arial" pitchFamily="34" charset="0"/>
                <a:ea typeface="Arial" pitchFamily="34" charset="-122"/>
                <a:cs typeface="Arial" pitchFamily="34" charset="-120"/>
              </a:rPr>
              <a:t>AZURE_OPENAI_API_KEY=your-api-key</a:t>
            </a:r>
            <a:endParaRPr lang="en-US" sz="1500" dirty="0"/>
          </a:p>
        </p:txBody>
      </p:sp>
      <p:sp>
        <p:nvSpPr>
          <p:cNvPr id="23" name="Text 21"/>
          <p:cNvSpPr/>
          <p:nvPr/>
        </p:nvSpPr>
        <p:spPr>
          <a:xfrm>
            <a:off x="533400" y="3623221"/>
            <a:ext cx="8238744" cy="266700"/>
          </a:xfrm>
          <a:prstGeom prst="rect">
            <a:avLst/>
          </a:prstGeom>
          <a:noFill/>
          <a:ln/>
        </p:spPr>
        <p:txBody>
          <a:bodyPr wrap="square" lIns="0" tIns="0" rIns="0" bIns="0" rtlCol="0" anchor="t"/>
          <a:lstStyle/>
          <a:p>
            <a:pPr algn="l" indent="0" marL="0">
              <a:lnSpc>
                <a:spcPts val="2100"/>
              </a:lnSpc>
              <a:buNone/>
            </a:pPr>
            <a:r>
              <a:rPr lang="en-US" sz="1500" dirty="0">
                <a:solidFill>
                  <a:srgbClr val="FFFFFF">
                    <a:alpha val="80000"/>
                  </a:srgbClr>
                </a:solidFill>
                <a:latin typeface="Arial" pitchFamily="34" charset="0"/>
                <a:ea typeface="Arial" pitchFamily="34" charset="-122"/>
                <a:cs typeface="Arial" pitchFamily="34" charset="-120"/>
              </a:rPr>
              <a:t>AZURE_OPENAI_DEPLOYMENT=your-deployment-name</a:t>
            </a:r>
            <a:endParaRPr lang="en-US" sz="1500" dirty="0"/>
          </a:p>
        </p:txBody>
      </p:sp>
      <p:sp>
        <p:nvSpPr>
          <p:cNvPr id="24" name="Text 22"/>
          <p:cNvSpPr/>
          <p:nvPr/>
        </p:nvSpPr>
        <p:spPr>
          <a:xfrm>
            <a:off x="533400" y="3889921"/>
            <a:ext cx="8238744" cy="266700"/>
          </a:xfrm>
          <a:prstGeom prst="rect">
            <a:avLst/>
          </a:prstGeom>
          <a:noFill/>
          <a:ln/>
        </p:spPr>
        <p:txBody>
          <a:bodyPr wrap="square" lIns="0" tIns="0" rIns="0" bIns="0" rtlCol="0" anchor="t"/>
          <a:lstStyle/>
          <a:p>
            <a:pPr algn="l" indent="0" marL="0">
              <a:lnSpc>
                <a:spcPts val="2100"/>
              </a:lnSpc>
              <a:buNone/>
            </a:pPr>
            <a:r>
              <a:rPr lang="en-US" sz="1500" dirty="0">
                <a:solidFill>
                  <a:srgbClr val="FFFFFF">
                    <a:alpha val="80000"/>
                  </a:srgbClr>
                </a:solidFill>
                <a:latin typeface="Arial" pitchFamily="34" charset="0"/>
                <a:ea typeface="Arial" pitchFamily="34" charset="-122"/>
                <a:cs typeface="Arial" pitchFamily="34" charset="-120"/>
              </a:rPr>
              <a:t>AZURE_OPENAI_API_VERSION=2024-02-15-preview</a:t>
            </a:r>
            <a:endParaRPr lang="en-US" sz="1500" dirty="0"/>
          </a:p>
        </p:txBody>
      </p:sp>
      <p:sp>
        <p:nvSpPr>
          <p:cNvPr id="25" name="Text 23"/>
          <p:cNvSpPr/>
          <p:nvPr/>
        </p:nvSpPr>
        <p:spPr>
          <a:xfrm>
            <a:off x="381000" y="4594771"/>
            <a:ext cx="8382000" cy="388590"/>
          </a:xfrm>
          <a:prstGeom prst="rect">
            <a:avLst/>
          </a:prstGeom>
          <a:solidFill>
            <a:srgbClr val="059669"/>
          </a:solidFill>
          <a:ln/>
        </p:spPr>
        <p:txBody>
          <a:bodyPr wrap="square" rtlCol="0" anchor="ctr"/>
          <a:lstStyle/>
          <a:p>
            <a:pPr indent="0" marL="0">
              <a:buNone/>
            </a:pPr>
            <a:endParaRPr lang="en-US" dirty="0"/>
          </a:p>
        </p:txBody>
      </p:sp>
      <p:sp>
        <p:nvSpPr>
          <p:cNvPr id="26" name="Text 24"/>
          <p:cNvSpPr/>
          <p:nvPr/>
        </p:nvSpPr>
        <p:spPr>
          <a:xfrm>
            <a:off x="452628" y="4709071"/>
            <a:ext cx="8238744" cy="159990"/>
          </a:xfrm>
          <a:prstGeom prst="rect">
            <a:avLst/>
          </a:prstGeom>
          <a:noFill/>
          <a:ln/>
        </p:spPr>
        <p:txBody>
          <a:bodyPr wrap="square" lIns="0" tIns="0" rIns="0" bIns="0" rtlCol="0" anchor="t"/>
          <a:lstStyle/>
          <a:p>
            <a:pPr algn="ctr" indent="0" marL="0">
              <a:lnSpc>
                <a:spcPts val="1260"/>
              </a:lnSpc>
              <a:buNone/>
            </a:pPr>
            <a:r>
              <a:rPr lang="en-US" sz="900" dirty="0">
                <a:solidFill>
                  <a:srgbClr val="FFFFFF"/>
                </a:solidFill>
                <a:latin typeface="Arial" pitchFamily="34" charset="0"/>
                <a:ea typeface="Arial" pitchFamily="34" charset="-122"/>
                <a:cs typeface="Arial" pitchFamily="34" charset="-120"/>
              </a:rPr>
              <a:t>These credentials work with Continue.dev, LangChain, and other AI development tools</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4944070" cy="5143500"/>
          </a:xfrm>
          <a:prstGeom prst="rect">
            <a:avLst/>
          </a:prstGeom>
          <a:solidFill>
            <a:srgbClr val="F7F8FA"/>
          </a:solidFill>
          <a:ln/>
        </p:spPr>
        <p:txBody>
          <a:bodyPr wrap="square" rtlCol="0" anchor="ctr"/>
          <a:lstStyle/>
          <a:p>
            <a:pPr indent="0" marL="0">
              <a:buNone/>
            </a:pPr>
            <a:endParaRPr lang="en-US" dirty="0"/>
          </a:p>
        </p:txBody>
      </p:sp>
      <p:sp>
        <p:nvSpPr>
          <p:cNvPr id="3" name="Text 1"/>
          <p:cNvSpPr/>
          <p:nvPr/>
        </p:nvSpPr>
        <p:spPr>
          <a:xfrm>
            <a:off x="342900" y="473571"/>
            <a:ext cx="1286241" cy="133350"/>
          </a:xfrm>
          <a:prstGeom prst="rect">
            <a:avLst/>
          </a:prstGeom>
          <a:noFill/>
          <a:ln/>
        </p:spPr>
        <p:txBody>
          <a:bodyPr wrap="square" lIns="0" tIns="0" rIns="0" bIns="0" rtlCol="0" anchor="t"/>
          <a:lstStyle/>
          <a:p>
            <a:pPr algn="l" indent="0" marL="0">
              <a:lnSpc>
                <a:spcPts val="1050"/>
              </a:lnSpc>
              <a:buNone/>
            </a:pPr>
            <a:r>
              <a:rPr lang="en-US" sz="750" dirty="0">
                <a:solidFill>
                  <a:srgbClr val="C9A227"/>
                </a:solidFill>
                <a:latin typeface="Arial" pitchFamily="34" charset="0"/>
                <a:ea typeface="Arial" pitchFamily="34" charset="-122"/>
                <a:cs typeface="Arial" pitchFamily="34" charset="-120"/>
              </a:rPr>
              <a:t>AZURE PLATFORM</a:t>
            </a:r>
            <a:endParaRPr lang="en-US" sz="750" dirty="0"/>
          </a:p>
        </p:txBody>
      </p:sp>
      <p:sp>
        <p:nvSpPr>
          <p:cNvPr id="4" name="Text 2"/>
          <p:cNvSpPr/>
          <p:nvPr/>
        </p:nvSpPr>
        <p:spPr>
          <a:xfrm>
            <a:off x="342900" y="816471"/>
            <a:ext cx="2176272" cy="266700"/>
          </a:xfrm>
          <a:prstGeom prst="rect">
            <a:avLst/>
          </a:prstGeom>
          <a:noFill/>
          <a:ln/>
        </p:spPr>
        <p:txBody>
          <a:bodyPr wrap="square" lIns="0" tIns="0" rIns="0" bIns="0" rtlCol="0" anchor="t"/>
          <a:lstStyle/>
          <a:p>
            <a:pPr algn="l" indent="0" marL="0">
              <a:lnSpc>
                <a:spcPts val="2100"/>
              </a:lnSpc>
              <a:spcAft>
                <a:spcPts val="450"/>
              </a:spcAft>
              <a:buNone/>
            </a:pPr>
            <a:r>
              <a:rPr lang="en-US" sz="2100" dirty="0">
                <a:solidFill>
                  <a:srgbClr val="1A1F2E"/>
                </a:solidFill>
                <a:latin typeface="Georgia" pitchFamily="34" charset="0"/>
                <a:ea typeface="Georgia" pitchFamily="34" charset="-122"/>
                <a:cs typeface="Georgia" pitchFamily="34" charset="-120"/>
              </a:rPr>
              <a:t>Azure AI Foundry</a:t>
            </a:r>
            <a:endParaRPr lang="en-US" sz="2100" dirty="0"/>
          </a:p>
        </p:txBody>
      </p:sp>
      <p:sp>
        <p:nvSpPr>
          <p:cNvPr id="5" name="Text 3"/>
          <p:cNvSpPr/>
          <p:nvPr/>
        </p:nvSpPr>
        <p:spPr>
          <a:xfrm>
            <a:off x="342900" y="1292721"/>
            <a:ext cx="4343436" cy="173236"/>
          </a:xfrm>
          <a:prstGeom prst="rect">
            <a:avLst/>
          </a:prstGeom>
          <a:noFill/>
          <a:ln/>
        </p:spPr>
        <p:txBody>
          <a:bodyPr wrap="square" lIns="0" tIns="0" rIns="0" bIns="0" rtlCol="0" anchor="t"/>
          <a:lstStyle/>
          <a:p>
            <a:pPr algn="l" indent="0" marL="0">
              <a:lnSpc>
                <a:spcPts val="1365"/>
              </a:lnSpc>
              <a:spcAft>
                <a:spcPts val="1500"/>
              </a:spcAft>
              <a:buNone/>
            </a:pPr>
            <a:r>
              <a:rPr lang="en-US" sz="975" dirty="0">
                <a:solidFill>
                  <a:srgbClr val="6B7280"/>
                </a:solidFill>
                <a:latin typeface="Arial" pitchFamily="34" charset="0"/>
                <a:ea typeface="Arial" pitchFamily="34" charset="-122"/>
                <a:cs typeface="Arial" pitchFamily="34" charset="-120"/>
              </a:rPr>
              <a:t>Microsoft's unified AI development platform</a:t>
            </a:r>
            <a:endParaRPr lang="en-US" sz="975" dirty="0"/>
          </a:p>
        </p:txBody>
      </p:sp>
      <p:sp>
        <p:nvSpPr>
          <p:cNvPr id="6" name="Text 4"/>
          <p:cNvSpPr/>
          <p:nvPr/>
        </p:nvSpPr>
        <p:spPr>
          <a:xfrm>
            <a:off x="342900" y="1808857"/>
            <a:ext cx="4258270" cy="817215"/>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7" name="Text 5"/>
          <p:cNvSpPr/>
          <p:nvPr/>
        </p:nvSpPr>
        <p:spPr>
          <a:xfrm>
            <a:off x="485775" y="1951732"/>
            <a:ext cx="4051971" cy="159990"/>
          </a:xfrm>
          <a:prstGeom prst="rect">
            <a:avLst/>
          </a:prstGeom>
          <a:noFill/>
          <a:ln/>
        </p:spPr>
        <p:txBody>
          <a:bodyPr wrap="square" lIns="0" tIns="0" rIns="0" bIns="0" rtlCol="0" anchor="t"/>
          <a:lstStyle/>
          <a:p>
            <a:pPr algn="l" indent="0" marL="0">
              <a:lnSpc>
                <a:spcPts val="1260"/>
              </a:lnSpc>
              <a:spcAft>
                <a:spcPts val="450"/>
              </a:spcAft>
              <a:buNone/>
            </a:pPr>
            <a:r>
              <a:rPr lang="en-US" sz="900" b="1" dirty="0">
                <a:solidFill>
                  <a:srgbClr val="1A1F2E"/>
                </a:solidFill>
                <a:latin typeface="Arial" pitchFamily="34" charset="0"/>
                <a:ea typeface="Arial" pitchFamily="34" charset="-122"/>
                <a:cs typeface="Arial" pitchFamily="34" charset="-120"/>
              </a:rPr>
              <a:t>What It Offers</a:t>
            </a:r>
            <a:endParaRPr lang="en-US" sz="900" dirty="0"/>
          </a:p>
        </p:txBody>
      </p:sp>
      <p:sp>
        <p:nvSpPr>
          <p:cNvPr id="8" name="Text 6"/>
          <p:cNvSpPr/>
          <p:nvPr/>
        </p:nvSpPr>
        <p:spPr>
          <a:xfrm>
            <a:off x="485775" y="2168872"/>
            <a:ext cx="4051971" cy="314325"/>
          </a:xfrm>
          <a:prstGeom prst="rect">
            <a:avLst/>
          </a:prstGeom>
          <a:noFill/>
          <a:ln/>
        </p:spPr>
        <p:txBody>
          <a:bodyPr wrap="square" lIns="0" tIns="0" rIns="0" bIns="0" rtlCol="0" anchor="t"/>
          <a:lstStyle/>
          <a:p>
            <a:pPr algn="l" indent="0" marL="0">
              <a:lnSpc>
                <a:spcPts val="1238"/>
              </a:lnSpc>
              <a:buNone/>
            </a:pPr>
            <a:r>
              <a:rPr lang="en-US" sz="825" dirty="0">
                <a:solidFill>
                  <a:srgbClr val="6B7280"/>
                </a:solidFill>
                <a:latin typeface="Arial" pitchFamily="34" charset="0"/>
                <a:ea typeface="Arial" pitchFamily="34" charset="-122"/>
                <a:cs typeface="Arial" pitchFamily="34" charset="-120"/>
              </a:rPr>
              <a:t>Unified portal to access OpenAI models (GPT-4, GPT-4o), Azure AI services, and custom model deployments. Single interface for all your AI needs.</a:t>
            </a:r>
            <a:endParaRPr lang="en-US" sz="825" dirty="0"/>
          </a:p>
        </p:txBody>
      </p:sp>
      <p:sp>
        <p:nvSpPr>
          <p:cNvPr id="9" name="Text 7"/>
          <p:cNvSpPr/>
          <p:nvPr/>
        </p:nvSpPr>
        <p:spPr>
          <a:xfrm>
            <a:off x="342900" y="2873722"/>
            <a:ext cx="4258270" cy="1173212"/>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0" name="Text 8"/>
          <p:cNvSpPr/>
          <p:nvPr/>
        </p:nvSpPr>
        <p:spPr>
          <a:xfrm>
            <a:off x="485775" y="3016597"/>
            <a:ext cx="4051971" cy="159990"/>
          </a:xfrm>
          <a:prstGeom prst="rect">
            <a:avLst/>
          </a:prstGeom>
          <a:noFill/>
          <a:ln/>
        </p:spPr>
        <p:txBody>
          <a:bodyPr wrap="square" lIns="0" tIns="0" rIns="0" bIns="0" rtlCol="0" anchor="t"/>
          <a:lstStyle/>
          <a:p>
            <a:pPr algn="l" indent="0" marL="0">
              <a:lnSpc>
                <a:spcPts val="1260"/>
              </a:lnSpc>
              <a:spcAft>
                <a:spcPts val="450"/>
              </a:spcAft>
              <a:buNone/>
            </a:pPr>
            <a:r>
              <a:rPr lang="en-US" sz="900" b="1" dirty="0">
                <a:solidFill>
                  <a:srgbClr val="1A1F2E"/>
                </a:solidFill>
                <a:latin typeface="Arial" pitchFamily="34" charset="0"/>
                <a:ea typeface="Arial" pitchFamily="34" charset="-122"/>
                <a:cs typeface="Arial" pitchFamily="34" charset="-120"/>
              </a:rPr>
              <a:t>Key Features</a:t>
            </a:r>
            <a:endParaRPr lang="en-US" sz="900" dirty="0"/>
          </a:p>
        </p:txBody>
      </p:sp>
      <p:sp>
        <p:nvSpPr>
          <p:cNvPr id="11" name="Text 9"/>
          <p:cNvSpPr/>
          <p:nvPr/>
        </p:nvSpPr>
        <p:spPr>
          <a:xfrm>
            <a:off x="485775" y="3233738"/>
            <a:ext cx="4051971" cy="670322"/>
          </a:xfrm>
          <a:prstGeom prst="rect">
            <a:avLst/>
          </a:prstGeom>
          <a:noFill/>
          <a:ln/>
        </p:spPr>
        <p:txBody>
          <a:bodyPr wrap="square" lIns="0" tIns="0" rIns="0" bIns="0" rtlCol="0" anchor="t"/>
          <a:lstStyle/>
          <a:p>
            <a:pPr algn="l" indent="0" marL="0">
              <a:lnSpc>
                <a:spcPts val="1320"/>
              </a:lnSpc>
              <a:buNone/>
            </a:pPr>
            <a:r>
              <a:rPr lang="en-US" sz="825" dirty="0">
                <a:solidFill>
                  <a:srgbClr val="6B7280"/>
                </a:solidFill>
                <a:latin typeface="Arial" pitchFamily="34" charset="0"/>
                <a:ea typeface="Arial" pitchFamily="34" charset="-122"/>
                <a:cs typeface="Arial" pitchFamily="34" charset="-120"/>
              </a:rPr>
              <a:t>Model catalog &amp; deployment</a:t>
            </a:r>
            <a:endParaRPr lang="en-US" sz="825" dirty="0"/>
          </a:p>
          <a:p>
            <a:pPr algn="l" indent="0" marL="0">
              <a:lnSpc>
                <a:spcPts val="1320"/>
              </a:lnSpc>
              <a:buNone/>
            </a:pPr>
            <a:r>
              <a:rPr lang="en-US" sz="825" dirty="0">
                <a:solidFill>
                  <a:srgbClr val="6B7280"/>
                </a:solidFill>
                <a:latin typeface="Arial" pitchFamily="34" charset="0"/>
                <a:ea typeface="Arial" pitchFamily="34" charset="-122"/>
                <a:cs typeface="Arial" pitchFamily="34" charset="-120"/>
              </a:rPr>
              <a:t>Prompt flow builder</a:t>
            </a:r>
            <a:endParaRPr lang="en-US" sz="825" dirty="0"/>
          </a:p>
          <a:p>
            <a:pPr algn="l" indent="0" marL="0">
              <a:lnSpc>
                <a:spcPts val="1320"/>
              </a:lnSpc>
              <a:buNone/>
            </a:pPr>
            <a:r>
              <a:rPr lang="en-US" sz="825" dirty="0">
                <a:solidFill>
                  <a:srgbClr val="6B7280"/>
                </a:solidFill>
                <a:latin typeface="Arial" pitchFamily="34" charset="0"/>
                <a:ea typeface="Arial" pitchFamily="34" charset="-122"/>
                <a:cs typeface="Arial" pitchFamily="34" charset="-120"/>
              </a:rPr>
              <a:t>Evaluation &amp; monitoring</a:t>
            </a:r>
            <a:endParaRPr lang="en-US" sz="825" dirty="0"/>
          </a:p>
          <a:p>
            <a:pPr algn="l" indent="0" marL="0">
              <a:lnSpc>
                <a:spcPts val="1320"/>
              </a:lnSpc>
              <a:buNone/>
            </a:pPr>
            <a:r>
              <a:rPr lang="en-US" sz="825" dirty="0">
                <a:solidFill>
                  <a:srgbClr val="6B7280"/>
                </a:solidFill>
                <a:latin typeface="Arial" pitchFamily="34" charset="0"/>
                <a:ea typeface="Arial" pitchFamily="34" charset="-122"/>
                <a:cs typeface="Arial" pitchFamily="34" charset="-120"/>
              </a:rPr>
              <a:t>Responsible AI tools</a:t>
            </a:r>
            <a:endParaRPr lang="en-US" sz="825" dirty="0"/>
          </a:p>
        </p:txBody>
      </p:sp>
      <p:sp>
        <p:nvSpPr>
          <p:cNvPr id="12" name="Text 10"/>
          <p:cNvSpPr/>
          <p:nvPr/>
        </p:nvSpPr>
        <p:spPr>
          <a:xfrm>
            <a:off x="342900" y="4294584"/>
            <a:ext cx="4258270" cy="375196"/>
          </a:xfrm>
          <a:prstGeom prst="rect">
            <a:avLst/>
          </a:prstGeom>
          <a:solidFill>
            <a:srgbClr val="DCFCE7"/>
          </a:solidFill>
          <a:ln/>
        </p:spPr>
        <p:txBody>
          <a:bodyPr wrap="square" rtlCol="0" anchor="ctr"/>
          <a:lstStyle/>
          <a:p>
            <a:pPr indent="0" marL="0">
              <a:buNone/>
            </a:pPr>
            <a:endParaRPr lang="en-US" dirty="0"/>
          </a:p>
        </p:txBody>
      </p:sp>
      <p:sp>
        <p:nvSpPr>
          <p:cNvPr id="13" name="Shape 11"/>
          <p:cNvSpPr/>
          <p:nvPr/>
        </p:nvSpPr>
        <p:spPr>
          <a:xfrm>
            <a:off x="361950" y="4294584"/>
            <a:ext cx="0" cy="375196"/>
          </a:xfrm>
          <a:prstGeom prst="line">
            <a:avLst/>
          </a:prstGeom>
          <a:noFill/>
          <a:ln w="38100">
            <a:solidFill>
              <a:srgbClr val="059669"/>
            </a:solidFill>
            <a:prstDash val="solid"/>
          </a:ln>
        </p:spPr>
      </p:sp>
      <p:sp>
        <p:nvSpPr>
          <p:cNvPr id="14" name="Text 12"/>
          <p:cNvSpPr/>
          <p:nvPr/>
        </p:nvSpPr>
        <p:spPr>
          <a:xfrm>
            <a:off x="514350" y="4408884"/>
            <a:ext cx="4032540" cy="146596"/>
          </a:xfrm>
          <a:prstGeom prst="rect">
            <a:avLst/>
          </a:prstGeom>
          <a:noFill/>
          <a:ln/>
        </p:spPr>
        <p:txBody>
          <a:bodyPr wrap="square" lIns="0" tIns="0" rIns="0" bIns="0" rtlCol="0" anchor="t"/>
          <a:lstStyle/>
          <a:p>
            <a:pPr algn="l" indent="0" marL="0">
              <a:lnSpc>
                <a:spcPts val="1155"/>
              </a:lnSpc>
              <a:buNone/>
            </a:pPr>
            <a:r>
              <a:rPr lang="en-US" sz="825" b="1" dirty="0">
                <a:solidFill>
                  <a:srgbClr val="166534"/>
                </a:solidFill>
                <a:latin typeface="Arial" pitchFamily="34" charset="0"/>
                <a:ea typeface="Arial" pitchFamily="34" charset="-122"/>
                <a:cs typeface="Arial" pitchFamily="34" charset="-120"/>
              </a:rPr>
              <a:t>Government Ready:</a:t>
            </a:r>
            <a:pPr algn="l" indent="0" marL="0">
              <a:lnSpc>
                <a:spcPts val="1155"/>
              </a:lnSpc>
              <a:buNone/>
            </a:pPr>
            <a:r>
              <a:rPr lang="en-US" sz="825" dirty="0">
                <a:solidFill>
                  <a:srgbClr val="166534"/>
                </a:solidFill>
                <a:latin typeface="Arial" pitchFamily="34" charset="0"/>
                <a:ea typeface="Arial" pitchFamily="34" charset="-122"/>
                <a:cs typeface="Arial" pitchFamily="34" charset="-120"/>
              </a:rPr>
              <a:t> Available on GCC and GCC-High with FedRAMP authorization.</a:t>
            </a:r>
            <a:endParaRPr lang="en-US" sz="825" dirty="0"/>
          </a:p>
        </p:txBody>
      </p:sp>
      <p:sp>
        <p:nvSpPr>
          <p:cNvPr id="15" name="Text 13"/>
          <p:cNvSpPr/>
          <p:nvPr/>
        </p:nvSpPr>
        <p:spPr>
          <a:xfrm>
            <a:off x="5096470" y="0"/>
            <a:ext cx="4047530" cy="5143500"/>
          </a:xfrm>
          <a:prstGeom prst="rect">
            <a:avLst/>
          </a:prstGeom>
          <a:solidFill>
            <a:srgbClr val="1A1F2E"/>
          </a:solidFill>
          <a:ln/>
        </p:spPr>
        <p:txBody>
          <a:bodyPr wrap="square" rtlCol="0" anchor="ctr"/>
          <a:lstStyle/>
          <a:p>
            <a:pPr indent="0" marL="0">
              <a:buNone/>
            </a:pPr>
            <a:endParaRPr lang="en-US" dirty="0"/>
          </a:p>
        </p:txBody>
      </p:sp>
      <p:sp>
        <p:nvSpPr>
          <p:cNvPr id="16" name="Text 14"/>
          <p:cNvSpPr/>
          <p:nvPr/>
        </p:nvSpPr>
        <p:spPr>
          <a:xfrm>
            <a:off x="6691610" y="1193453"/>
            <a:ext cx="857250" cy="857250"/>
          </a:xfrm>
          <a:prstGeom prst="rect">
            <a:avLst/>
          </a:prstGeom>
          <a:solidFill>
            <a:srgbClr val="C9A227"/>
          </a:solidFill>
          <a:ln/>
        </p:spPr>
        <p:txBody>
          <a:bodyPr wrap="square" rtlCol="0" anchor="ctr"/>
          <a:lstStyle/>
          <a:p>
            <a:pPr indent="0" marL="0">
              <a:buNone/>
            </a:pPr>
            <a:endParaRPr lang="en-US" dirty="0"/>
          </a:p>
        </p:txBody>
      </p:sp>
      <p:sp>
        <p:nvSpPr>
          <p:cNvPr id="17" name="Text 15"/>
          <p:cNvSpPr/>
          <p:nvPr/>
        </p:nvSpPr>
        <p:spPr>
          <a:xfrm>
            <a:off x="6836209" y="1475482"/>
            <a:ext cx="568053" cy="293191"/>
          </a:xfrm>
          <a:prstGeom prst="rect">
            <a:avLst/>
          </a:prstGeom>
          <a:noFill/>
          <a:ln/>
        </p:spPr>
        <p:txBody>
          <a:bodyPr wrap="square" lIns="0" tIns="0" rIns="0" bIns="0" rtlCol="0" anchor="t"/>
          <a:lstStyle/>
          <a:p>
            <a:pPr algn="ctr" indent="0" marL="0">
              <a:lnSpc>
                <a:spcPts val="1155"/>
              </a:lnSpc>
              <a:buNone/>
            </a:pPr>
            <a:r>
              <a:rPr lang="en-US" sz="825" dirty="0">
                <a:solidFill>
                  <a:srgbClr val="1A1F2E"/>
                </a:solidFill>
                <a:latin typeface="Arial" pitchFamily="34" charset="0"/>
                <a:ea typeface="Arial" pitchFamily="34" charset="-122"/>
                <a:cs typeface="Arial" pitchFamily="34" charset="-120"/>
              </a:rPr>
              <a:t>UNIFIED</a:t>
            </a:r>
            <a:endParaRPr lang="en-US" sz="825" dirty="0"/>
          </a:p>
          <a:p>
            <a:pPr algn="ctr" indent="0" marL="0">
              <a:lnSpc>
                <a:spcPts val="1155"/>
              </a:lnSpc>
              <a:buNone/>
            </a:pPr>
            <a:r>
              <a:rPr lang="en-US" sz="825" dirty="0">
                <a:solidFill>
                  <a:srgbClr val="1A1F2E"/>
                </a:solidFill>
                <a:latin typeface="Arial" pitchFamily="34" charset="0"/>
                <a:ea typeface="Arial" pitchFamily="34" charset="-122"/>
                <a:cs typeface="Arial" pitchFamily="34" charset="-120"/>
              </a:rPr>
              <a:t>AI PORTAL</a:t>
            </a:r>
            <a:endParaRPr lang="en-US" sz="825" dirty="0"/>
          </a:p>
        </p:txBody>
      </p:sp>
      <p:sp>
        <p:nvSpPr>
          <p:cNvPr id="18" name="Text 16"/>
          <p:cNvSpPr/>
          <p:nvPr/>
        </p:nvSpPr>
        <p:spPr>
          <a:xfrm>
            <a:off x="6249939" y="2393603"/>
            <a:ext cx="1740593" cy="213271"/>
          </a:xfrm>
          <a:prstGeom prst="rect">
            <a:avLst/>
          </a:prstGeom>
          <a:noFill/>
          <a:ln/>
        </p:spPr>
        <p:txBody>
          <a:bodyPr wrap="square" lIns="0" tIns="0" rIns="0" bIns="0" rtlCol="0" anchor="t"/>
          <a:lstStyle/>
          <a:p>
            <a:pPr algn="ctr" indent="0" marL="0">
              <a:lnSpc>
                <a:spcPts val="1680"/>
              </a:lnSpc>
              <a:spcAft>
                <a:spcPts val="750"/>
              </a:spcAft>
              <a:buNone/>
            </a:pPr>
            <a:r>
              <a:rPr lang="en-US" sz="1200" dirty="0">
                <a:solidFill>
                  <a:srgbClr val="FFFFFF"/>
                </a:solidFill>
                <a:latin typeface="Georgia" pitchFamily="34" charset="0"/>
                <a:ea typeface="Georgia" pitchFamily="34" charset="-122"/>
                <a:cs typeface="Georgia" pitchFamily="34" charset="-120"/>
              </a:rPr>
              <a:t>One Platform, All Models</a:t>
            </a:r>
            <a:endParaRPr lang="en-US" sz="1200" dirty="0"/>
          </a:p>
        </p:txBody>
      </p:sp>
      <p:sp>
        <p:nvSpPr>
          <p:cNvPr id="19" name="Text 17"/>
          <p:cNvSpPr/>
          <p:nvPr/>
        </p:nvSpPr>
        <p:spPr>
          <a:xfrm>
            <a:off x="5405753" y="2854523"/>
            <a:ext cx="3428964" cy="342900"/>
          </a:xfrm>
          <a:prstGeom prst="rect">
            <a:avLst/>
          </a:prstGeom>
          <a:noFill/>
          <a:ln/>
        </p:spPr>
        <p:txBody>
          <a:bodyPr wrap="square" lIns="0" tIns="0" rIns="0" bIns="0" rtlCol="0" anchor="t"/>
          <a:lstStyle/>
          <a:p>
            <a:pPr algn="ctr" indent="0" marL="0">
              <a:lnSpc>
                <a:spcPts val="1350"/>
              </a:lnSpc>
              <a:spcAft>
                <a:spcPts val="1500"/>
              </a:spcAft>
              <a:buNone/>
            </a:pPr>
            <a:r>
              <a:rPr lang="en-US" sz="900" dirty="0">
                <a:solidFill>
                  <a:srgbClr val="FFFFFF">
                    <a:alpha val="60000"/>
                  </a:srgbClr>
                </a:solidFill>
                <a:latin typeface="Arial" pitchFamily="34" charset="0"/>
                <a:ea typeface="Arial" pitchFamily="34" charset="-122"/>
                <a:cs typeface="Arial" pitchFamily="34" charset="-120"/>
              </a:rPr>
              <a:t>Access GPT-4, Claude, Llama, and other models through Azure's compliant infrastructure</a:t>
            </a:r>
            <a:endParaRPr lang="en-US" sz="900" dirty="0"/>
          </a:p>
        </p:txBody>
      </p:sp>
      <p:sp>
        <p:nvSpPr>
          <p:cNvPr id="20" name="Text 18"/>
          <p:cNvSpPr/>
          <p:nvPr/>
        </p:nvSpPr>
        <p:spPr>
          <a:xfrm>
            <a:off x="5439370" y="3540323"/>
            <a:ext cx="3361730" cy="409575"/>
          </a:xfrm>
          <a:prstGeom prst="rect">
            <a:avLst/>
          </a:prstGeom>
          <a:solidFill>
            <a:srgbClr val="252B3D"/>
          </a:solidFill>
          <a:ln/>
        </p:spPr>
        <p:txBody>
          <a:bodyPr wrap="square" rtlCol="0" anchor="ctr"/>
          <a:lstStyle/>
          <a:p>
            <a:pPr indent="0" marL="0">
              <a:buNone/>
            </a:pPr>
            <a:endParaRPr lang="en-US" dirty="0"/>
          </a:p>
        </p:txBody>
      </p:sp>
      <p:sp>
        <p:nvSpPr>
          <p:cNvPr id="21" name="Text 19"/>
          <p:cNvSpPr/>
          <p:nvPr/>
        </p:nvSpPr>
        <p:spPr>
          <a:xfrm>
            <a:off x="5541770" y="3673673"/>
            <a:ext cx="3156930" cy="142875"/>
          </a:xfrm>
          <a:prstGeom prst="rect">
            <a:avLst/>
          </a:prstGeom>
          <a:noFill/>
          <a:ln/>
        </p:spPr>
        <p:txBody>
          <a:bodyPr wrap="square" lIns="0" tIns="0" rIns="0" bIns="0" rtlCol="0" anchor="t"/>
          <a:lstStyle/>
          <a:p>
            <a:pPr algn="ctr" indent="0" marL="0">
              <a:lnSpc>
                <a:spcPts val="1125"/>
              </a:lnSpc>
              <a:buNone/>
            </a:pPr>
            <a:r>
              <a:rPr lang="en-US" sz="750" dirty="0">
                <a:solidFill>
                  <a:srgbClr val="FFFFFF">
                    <a:alpha val="70000"/>
                  </a:srgbClr>
                </a:solidFill>
                <a:latin typeface="Arial" pitchFamily="34" charset="0"/>
                <a:ea typeface="Arial" pitchFamily="34" charset="-122"/>
                <a:cs typeface="Arial" pitchFamily="34" charset="-120"/>
              </a:rPr>
              <a:t>formerly Azure AI Studio - rebranded November 2024</a:t>
            </a:r>
            <a:endParaRPr lang="en-US" sz="7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3599706" cy="5143500"/>
          </a:xfrm>
          <a:prstGeom prst="rect">
            <a:avLst/>
          </a:prstGeom>
          <a:solidFill>
            <a:srgbClr val="C9A227"/>
          </a:solidFill>
          <a:ln/>
        </p:spPr>
        <p:txBody>
          <a:bodyPr wrap="square" rtlCol="0" anchor="ctr"/>
          <a:lstStyle/>
          <a:p>
            <a:pPr indent="0" marL="0">
              <a:buNone/>
            </a:pPr>
            <a:endParaRPr lang="en-US" dirty="0"/>
          </a:p>
        </p:txBody>
      </p:sp>
      <p:sp>
        <p:nvSpPr>
          <p:cNvPr id="3" name="Text 1"/>
          <p:cNvSpPr/>
          <p:nvPr/>
        </p:nvSpPr>
        <p:spPr>
          <a:xfrm>
            <a:off x="381000" y="1384102"/>
            <a:ext cx="2894460" cy="146596"/>
          </a:xfrm>
          <a:prstGeom prst="rect">
            <a:avLst/>
          </a:prstGeom>
          <a:noFill/>
          <a:ln/>
        </p:spPr>
        <p:txBody>
          <a:bodyPr wrap="square" lIns="0" tIns="0" rIns="0" bIns="0" rtlCol="0" anchor="t"/>
          <a:lstStyle/>
          <a:p>
            <a:pPr algn="l" indent="0" marL="0">
              <a:lnSpc>
                <a:spcPts val="1155"/>
              </a:lnSpc>
              <a:spcAft>
                <a:spcPts val="1200"/>
              </a:spcAft>
              <a:buNone/>
            </a:pPr>
            <a:r>
              <a:rPr lang="en-US" sz="825" dirty="0">
                <a:solidFill>
                  <a:srgbClr val="1A1F2E"/>
                </a:solidFill>
                <a:latin typeface="Arial" pitchFamily="34" charset="0"/>
                <a:ea typeface="Arial" pitchFamily="34" charset="-122"/>
                <a:cs typeface="Arial" pitchFamily="34" charset="-120"/>
              </a:rPr>
              <a:t>100% LOCAL</a:t>
            </a:r>
            <a:endParaRPr lang="en-US" sz="825" dirty="0"/>
          </a:p>
        </p:txBody>
      </p:sp>
      <p:sp>
        <p:nvSpPr>
          <p:cNvPr id="4" name="Text 2"/>
          <p:cNvSpPr/>
          <p:nvPr/>
        </p:nvSpPr>
        <p:spPr>
          <a:xfrm>
            <a:off x="381000" y="1835497"/>
            <a:ext cx="2059686" cy="822722"/>
          </a:xfrm>
          <a:prstGeom prst="rect">
            <a:avLst/>
          </a:prstGeom>
          <a:noFill/>
          <a:ln/>
        </p:spPr>
        <p:txBody>
          <a:bodyPr wrap="square" lIns="0" tIns="0" rIns="0" bIns="0" rtlCol="0" anchor="t"/>
          <a:lstStyle/>
          <a:p>
            <a:pPr algn="l" indent="0" marL="0">
              <a:lnSpc>
                <a:spcPts val="3240"/>
              </a:lnSpc>
              <a:buNone/>
            </a:pPr>
            <a:r>
              <a:rPr lang="en-US" sz="2700" dirty="0">
                <a:solidFill>
                  <a:srgbClr val="1A1F2E"/>
                </a:solidFill>
                <a:latin typeface="Georgia" pitchFamily="34" charset="0"/>
                <a:ea typeface="Georgia" pitchFamily="34" charset="-122"/>
                <a:cs typeface="Georgia" pitchFamily="34" charset="-120"/>
              </a:rPr>
              <a:t>Ollama &amp;</a:t>
            </a:r>
            <a:endParaRPr lang="en-US" sz="2700" dirty="0"/>
          </a:p>
          <a:p>
            <a:pPr algn="l" indent="0" marL="0">
              <a:lnSpc>
                <a:spcPts val="3240"/>
              </a:lnSpc>
              <a:buNone/>
            </a:pPr>
            <a:r>
              <a:rPr lang="en-US" sz="2700" dirty="0">
                <a:solidFill>
                  <a:srgbClr val="1A1F2E"/>
                </a:solidFill>
                <a:latin typeface="Georgia" pitchFamily="34" charset="0"/>
                <a:ea typeface="Georgia" pitchFamily="34" charset="-122"/>
                <a:cs typeface="Georgia" pitchFamily="34" charset="-120"/>
              </a:rPr>
              <a:t>Local Models</a:t>
            </a:r>
            <a:endParaRPr lang="en-US" sz="2700" dirty="0"/>
          </a:p>
        </p:txBody>
      </p:sp>
      <p:sp>
        <p:nvSpPr>
          <p:cNvPr id="5" name="Text 3"/>
          <p:cNvSpPr/>
          <p:nvPr/>
        </p:nvSpPr>
        <p:spPr>
          <a:xfrm>
            <a:off x="381000" y="3001119"/>
            <a:ext cx="457200" cy="19050"/>
          </a:xfrm>
          <a:prstGeom prst="rect">
            <a:avLst/>
          </a:prstGeom>
          <a:solidFill>
            <a:srgbClr val="1A1F2E"/>
          </a:solidFill>
          <a:ln/>
        </p:spPr>
        <p:txBody>
          <a:bodyPr wrap="square" rtlCol="0" anchor="ctr"/>
          <a:lstStyle/>
          <a:p>
            <a:pPr indent="0" marL="0">
              <a:buNone/>
            </a:pPr>
            <a:endParaRPr lang="en-US" dirty="0"/>
          </a:p>
        </p:txBody>
      </p:sp>
      <p:sp>
        <p:nvSpPr>
          <p:cNvPr id="6" name="Text 4"/>
          <p:cNvSpPr/>
          <p:nvPr/>
        </p:nvSpPr>
        <p:spPr>
          <a:xfrm>
            <a:off x="381000" y="3363069"/>
            <a:ext cx="2894460" cy="396180"/>
          </a:xfrm>
          <a:prstGeom prst="rect">
            <a:avLst/>
          </a:prstGeom>
          <a:noFill/>
          <a:ln/>
        </p:spPr>
        <p:txBody>
          <a:bodyPr wrap="square" lIns="0" tIns="0" rIns="0" bIns="0" rtlCol="0" anchor="t"/>
          <a:lstStyle/>
          <a:p>
            <a:pPr algn="l" indent="0" marL="0">
              <a:lnSpc>
                <a:spcPts val="1560"/>
              </a:lnSpc>
              <a:buNone/>
            </a:pPr>
            <a:r>
              <a:rPr lang="en-US" sz="975" dirty="0">
                <a:solidFill>
                  <a:srgbClr val="1A1F2E">
                    <a:alpha val="70000"/>
                  </a:srgbClr>
                </a:solidFill>
                <a:latin typeface="Arial" pitchFamily="34" charset="0"/>
                <a:ea typeface="Arial" pitchFamily="34" charset="-122"/>
                <a:cs typeface="Arial" pitchFamily="34" charset="-120"/>
              </a:rPr>
              <a:t>Run LLMs entirely on your machine. Zero network traffic. Perfect for air-gapped environments.</a:t>
            </a:r>
            <a:endParaRPr lang="en-US" sz="975" dirty="0"/>
          </a:p>
        </p:txBody>
      </p:sp>
      <p:sp>
        <p:nvSpPr>
          <p:cNvPr id="7" name="Text 5"/>
          <p:cNvSpPr/>
          <p:nvPr/>
        </p:nvSpPr>
        <p:spPr>
          <a:xfrm>
            <a:off x="3752106" y="0"/>
            <a:ext cx="5391894" cy="5143500"/>
          </a:xfrm>
          <a:prstGeom prst="rect">
            <a:avLst/>
          </a:prstGeom>
          <a:solidFill>
            <a:srgbClr val="F7F8FA"/>
          </a:solidFill>
          <a:ln/>
        </p:spPr>
        <p:txBody>
          <a:bodyPr wrap="square" rtlCol="0" anchor="ctr"/>
          <a:lstStyle/>
          <a:p>
            <a:pPr indent="0" marL="0">
              <a:buNone/>
            </a:pPr>
            <a:endParaRPr lang="en-US" dirty="0"/>
          </a:p>
        </p:txBody>
      </p:sp>
      <p:sp>
        <p:nvSpPr>
          <p:cNvPr id="8" name="Text 6"/>
          <p:cNvSpPr/>
          <p:nvPr/>
        </p:nvSpPr>
        <p:spPr>
          <a:xfrm>
            <a:off x="4133106" y="501402"/>
            <a:ext cx="4629894" cy="897136"/>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9" name="Text 7"/>
          <p:cNvSpPr/>
          <p:nvPr/>
        </p:nvSpPr>
        <p:spPr>
          <a:xfrm>
            <a:off x="4295031" y="663327"/>
            <a:ext cx="4392165" cy="173236"/>
          </a:xfrm>
          <a:prstGeom prst="rect">
            <a:avLst/>
          </a:prstGeom>
          <a:noFill/>
          <a:ln/>
        </p:spPr>
        <p:txBody>
          <a:bodyPr wrap="square" lIns="0" tIns="0" rIns="0" bIns="0" rtlCol="0" anchor="t"/>
          <a:lstStyle/>
          <a:p>
            <a:pPr algn="l" indent="0" marL="0">
              <a:lnSpc>
                <a:spcPts val="1365"/>
              </a:lnSpc>
              <a:spcAft>
                <a:spcPts val="450"/>
              </a:spcAft>
              <a:buNone/>
            </a:pPr>
            <a:r>
              <a:rPr lang="en-US" sz="975" b="1" dirty="0">
                <a:solidFill>
                  <a:srgbClr val="1A1F2E"/>
                </a:solidFill>
                <a:latin typeface="Arial" pitchFamily="34" charset="0"/>
                <a:ea typeface="Arial" pitchFamily="34" charset="-122"/>
                <a:cs typeface="Arial" pitchFamily="34" charset="-120"/>
              </a:rPr>
              <a:t>What is Ollama?</a:t>
            </a:r>
            <a:endParaRPr lang="en-US" sz="975" dirty="0"/>
          </a:p>
        </p:txBody>
      </p:sp>
      <p:sp>
        <p:nvSpPr>
          <p:cNvPr id="10" name="Text 8"/>
          <p:cNvSpPr/>
          <p:nvPr/>
        </p:nvSpPr>
        <p:spPr>
          <a:xfrm>
            <a:off x="4295031" y="893713"/>
            <a:ext cx="4392165" cy="342900"/>
          </a:xfrm>
          <a:prstGeom prst="rect">
            <a:avLst/>
          </a:prstGeom>
          <a:noFill/>
          <a:ln/>
        </p:spPr>
        <p:txBody>
          <a:bodyPr wrap="square" lIns="0" tIns="0" rIns="0" bIns="0" rtlCol="0" anchor="t"/>
          <a:lstStyle/>
          <a:p>
            <a:pPr algn="l" indent="0" marL="0">
              <a:lnSpc>
                <a:spcPts val="1350"/>
              </a:lnSpc>
              <a:buNone/>
            </a:pPr>
            <a:r>
              <a:rPr lang="en-US" sz="900" dirty="0">
                <a:solidFill>
                  <a:srgbClr val="6B7280"/>
                </a:solidFill>
                <a:latin typeface="Arial" pitchFamily="34" charset="0"/>
                <a:ea typeface="Arial" pitchFamily="34" charset="-122"/>
                <a:cs typeface="Arial" pitchFamily="34" charset="-120"/>
              </a:rPr>
              <a:t>A tool to run open-source LLMs (Llama, Mistral, CodeLlama) locally on your computer.</a:t>
            </a:r>
            <a:endParaRPr lang="en-US" sz="900" dirty="0"/>
          </a:p>
        </p:txBody>
      </p:sp>
      <p:sp>
        <p:nvSpPr>
          <p:cNvPr id="11" name="Text 9"/>
          <p:cNvSpPr/>
          <p:nvPr/>
        </p:nvSpPr>
        <p:spPr>
          <a:xfrm>
            <a:off x="4133106" y="1512838"/>
            <a:ext cx="4629894" cy="965597"/>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2" name="Text 10"/>
          <p:cNvSpPr/>
          <p:nvPr/>
        </p:nvSpPr>
        <p:spPr>
          <a:xfrm>
            <a:off x="4295031" y="1674763"/>
            <a:ext cx="4392165" cy="173236"/>
          </a:xfrm>
          <a:prstGeom prst="rect">
            <a:avLst/>
          </a:prstGeom>
          <a:noFill/>
          <a:ln/>
        </p:spPr>
        <p:txBody>
          <a:bodyPr wrap="square" lIns="0" tIns="0" rIns="0" bIns="0" rtlCol="0" anchor="t"/>
          <a:lstStyle/>
          <a:p>
            <a:pPr algn="l" indent="0" marL="0">
              <a:lnSpc>
                <a:spcPts val="1365"/>
              </a:lnSpc>
              <a:spcAft>
                <a:spcPts val="450"/>
              </a:spcAft>
              <a:buNone/>
            </a:pPr>
            <a:r>
              <a:rPr lang="en-US" sz="975" b="1" dirty="0">
                <a:solidFill>
                  <a:srgbClr val="1A1F2E"/>
                </a:solidFill>
                <a:latin typeface="Arial" pitchFamily="34" charset="0"/>
                <a:ea typeface="Arial" pitchFamily="34" charset="-122"/>
                <a:cs typeface="Arial" pitchFamily="34" charset="-120"/>
              </a:rPr>
              <a:t>Quick Start</a:t>
            </a:r>
            <a:endParaRPr lang="en-US" sz="975" dirty="0"/>
          </a:p>
        </p:txBody>
      </p:sp>
      <p:sp>
        <p:nvSpPr>
          <p:cNvPr id="13" name="Text 11"/>
          <p:cNvSpPr/>
          <p:nvPr/>
        </p:nvSpPr>
        <p:spPr>
          <a:xfrm>
            <a:off x="4295031" y="1905149"/>
            <a:ext cx="4392165" cy="411361"/>
          </a:xfrm>
          <a:prstGeom prst="rect">
            <a:avLst/>
          </a:prstGeom>
          <a:noFill/>
          <a:ln/>
        </p:spPr>
        <p:txBody>
          <a:bodyPr wrap="square" lIns="0" tIns="0" rIns="0" bIns="0" rtlCol="0" anchor="t"/>
          <a:lstStyle/>
          <a:p>
            <a:pPr algn="l" indent="0" marL="0">
              <a:lnSpc>
                <a:spcPts val="1620"/>
              </a:lnSpc>
              <a:buNone/>
            </a:pPr>
            <a:r>
              <a:rPr lang="en-US" sz="900" dirty="0">
                <a:solidFill>
                  <a:srgbClr val="6B7280"/>
                </a:solidFill>
                <a:latin typeface="monospace" pitchFamily="34" charset="0"/>
                <a:ea typeface="monospace" pitchFamily="34" charset="-122"/>
                <a:cs typeface="monospace" pitchFamily="34" charset="-120"/>
              </a:rPr>
              <a:t>brew install ollama</a:t>
            </a:r>
            <a:endParaRPr lang="en-US" sz="900" dirty="0"/>
          </a:p>
          <a:p>
            <a:pPr algn="l" indent="0" marL="0">
              <a:lnSpc>
                <a:spcPts val="1620"/>
              </a:lnSpc>
              <a:buNone/>
            </a:pPr>
            <a:r>
              <a:rPr lang="en-US" sz="900" dirty="0">
                <a:solidFill>
                  <a:srgbClr val="6B7280"/>
                </a:solidFill>
                <a:latin typeface="monospace" pitchFamily="34" charset="0"/>
                <a:ea typeface="monospace" pitchFamily="34" charset="-122"/>
                <a:cs typeface="monospace" pitchFamily="34" charset="-120"/>
              </a:rPr>
              <a:t>ollama run codellama</a:t>
            </a:r>
            <a:endParaRPr lang="en-US" sz="900" dirty="0"/>
          </a:p>
        </p:txBody>
      </p:sp>
      <p:sp>
        <p:nvSpPr>
          <p:cNvPr id="14" name="Text 12"/>
          <p:cNvSpPr/>
          <p:nvPr/>
        </p:nvSpPr>
        <p:spPr>
          <a:xfrm>
            <a:off x="4133106" y="2592735"/>
            <a:ext cx="4629894" cy="1171277"/>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5" name="Text 13"/>
          <p:cNvSpPr/>
          <p:nvPr/>
        </p:nvSpPr>
        <p:spPr>
          <a:xfrm>
            <a:off x="4295031" y="2754660"/>
            <a:ext cx="4392165" cy="173236"/>
          </a:xfrm>
          <a:prstGeom prst="rect">
            <a:avLst/>
          </a:prstGeom>
          <a:noFill/>
          <a:ln/>
        </p:spPr>
        <p:txBody>
          <a:bodyPr wrap="square" lIns="0" tIns="0" rIns="0" bIns="0" rtlCol="0" anchor="t"/>
          <a:lstStyle/>
          <a:p>
            <a:pPr algn="l" indent="0" marL="0">
              <a:lnSpc>
                <a:spcPts val="1365"/>
              </a:lnSpc>
              <a:spcAft>
                <a:spcPts val="450"/>
              </a:spcAft>
              <a:buNone/>
            </a:pPr>
            <a:r>
              <a:rPr lang="en-US" sz="975" b="1" dirty="0">
                <a:solidFill>
                  <a:srgbClr val="1A1F2E"/>
                </a:solidFill>
                <a:latin typeface="Arial" pitchFamily="34" charset="0"/>
                <a:ea typeface="Arial" pitchFamily="34" charset="-122"/>
                <a:cs typeface="Arial" pitchFamily="34" charset="-120"/>
              </a:rPr>
              <a:t>Best Models for Coding</a:t>
            </a:r>
            <a:endParaRPr lang="en-US" sz="975" dirty="0"/>
          </a:p>
        </p:txBody>
      </p:sp>
      <p:sp>
        <p:nvSpPr>
          <p:cNvPr id="16" name="Text 14"/>
          <p:cNvSpPr/>
          <p:nvPr/>
        </p:nvSpPr>
        <p:spPr>
          <a:xfrm>
            <a:off x="4295031" y="2985046"/>
            <a:ext cx="4392165" cy="617041"/>
          </a:xfrm>
          <a:prstGeom prst="rect">
            <a:avLst/>
          </a:prstGeom>
          <a:noFill/>
          <a:ln/>
        </p:spPr>
        <p:txBody>
          <a:bodyPr wrap="square" lIns="0" tIns="0" rIns="0" bIns="0" rtlCol="0" anchor="t"/>
          <a:lstStyle/>
          <a:p>
            <a:pPr algn="l" indent="0" marL="0">
              <a:lnSpc>
                <a:spcPts val="1620"/>
              </a:lnSpc>
              <a:buNone/>
            </a:pPr>
            <a:r>
              <a:rPr lang="en-US" sz="900" dirty="0">
                <a:solidFill>
                  <a:srgbClr val="6B7280"/>
                </a:solidFill>
                <a:latin typeface="Arial" pitchFamily="34" charset="0"/>
                <a:ea typeface="Arial" pitchFamily="34" charset="-122"/>
                <a:cs typeface="Arial" pitchFamily="34" charset="-120"/>
              </a:rPr>
              <a:t>CodeLlama 7B/13B - General coding</a:t>
            </a:r>
            <a:endParaRPr lang="en-US" sz="900" dirty="0"/>
          </a:p>
          <a:p>
            <a:pPr algn="l" indent="0" marL="0">
              <a:lnSpc>
                <a:spcPts val="1620"/>
              </a:lnSpc>
              <a:buNone/>
            </a:pPr>
            <a:r>
              <a:rPr lang="en-US" sz="900" dirty="0">
                <a:solidFill>
                  <a:srgbClr val="6B7280"/>
                </a:solidFill>
                <a:latin typeface="Arial" pitchFamily="34" charset="0"/>
                <a:ea typeface="Arial" pitchFamily="34" charset="-122"/>
                <a:cs typeface="Arial" pitchFamily="34" charset="-120"/>
              </a:rPr>
              <a:t>DeepSeek Coder - Strong performance</a:t>
            </a:r>
            <a:endParaRPr lang="en-US" sz="900" dirty="0"/>
          </a:p>
          <a:p>
            <a:pPr algn="l" indent="0" marL="0">
              <a:lnSpc>
                <a:spcPts val="1620"/>
              </a:lnSpc>
              <a:buNone/>
            </a:pPr>
            <a:r>
              <a:rPr lang="en-US" sz="900" dirty="0">
                <a:solidFill>
                  <a:srgbClr val="6B7280"/>
                </a:solidFill>
                <a:latin typeface="Arial" pitchFamily="34" charset="0"/>
                <a:ea typeface="Arial" pitchFamily="34" charset="-122"/>
                <a:cs typeface="Arial" pitchFamily="34" charset="-120"/>
              </a:rPr>
              <a:t>Mistral - Good all-around</a:t>
            </a:r>
            <a:endParaRPr lang="en-US" sz="900" dirty="0"/>
          </a:p>
        </p:txBody>
      </p:sp>
      <p:sp>
        <p:nvSpPr>
          <p:cNvPr id="17" name="Text 15"/>
          <p:cNvSpPr/>
          <p:nvPr/>
        </p:nvSpPr>
        <p:spPr>
          <a:xfrm>
            <a:off x="4133106" y="3878312"/>
            <a:ext cx="2257871" cy="763637"/>
          </a:xfrm>
          <a:prstGeom prst="rect">
            <a:avLst/>
          </a:prstGeom>
          <a:solidFill>
            <a:srgbClr val="059669"/>
          </a:solidFill>
          <a:ln/>
        </p:spPr>
        <p:txBody>
          <a:bodyPr wrap="square" rtlCol="0" anchor="ctr"/>
          <a:lstStyle/>
          <a:p>
            <a:pPr indent="0" marL="0">
              <a:buNone/>
            </a:pPr>
            <a:endParaRPr lang="en-US" dirty="0"/>
          </a:p>
        </p:txBody>
      </p:sp>
      <p:sp>
        <p:nvSpPr>
          <p:cNvPr id="18" name="Text 16"/>
          <p:cNvSpPr/>
          <p:nvPr/>
        </p:nvSpPr>
        <p:spPr>
          <a:xfrm>
            <a:off x="4246544" y="4011662"/>
            <a:ext cx="2030995" cy="146596"/>
          </a:xfrm>
          <a:prstGeom prst="rect">
            <a:avLst/>
          </a:prstGeom>
          <a:noFill/>
          <a:ln/>
        </p:spPr>
        <p:txBody>
          <a:bodyPr wrap="square" lIns="0" tIns="0" rIns="0" bIns="0" rtlCol="0" anchor="t"/>
          <a:lstStyle/>
          <a:p>
            <a:pPr algn="ctr" indent="0" marL="0">
              <a:lnSpc>
                <a:spcPts val="1155"/>
              </a:lnSpc>
              <a:buNone/>
            </a:pPr>
            <a:r>
              <a:rPr lang="en-US" sz="825" b="1" dirty="0">
                <a:solidFill>
                  <a:srgbClr val="FFFFFF"/>
                </a:solidFill>
                <a:latin typeface="Arial" pitchFamily="34" charset="0"/>
                <a:ea typeface="Arial" pitchFamily="34" charset="-122"/>
                <a:cs typeface="Arial" pitchFamily="34" charset="-120"/>
              </a:rPr>
              <a:t>PROS</a:t>
            </a:r>
            <a:endParaRPr lang="en-US" sz="825" dirty="0"/>
          </a:p>
        </p:txBody>
      </p:sp>
      <p:sp>
        <p:nvSpPr>
          <p:cNvPr id="19" name="Text 17"/>
          <p:cNvSpPr/>
          <p:nvPr/>
        </p:nvSpPr>
        <p:spPr>
          <a:xfrm>
            <a:off x="4246544" y="4215408"/>
            <a:ext cx="2030995" cy="293191"/>
          </a:xfrm>
          <a:prstGeom prst="rect">
            <a:avLst/>
          </a:prstGeom>
          <a:noFill/>
          <a:ln/>
        </p:spPr>
        <p:txBody>
          <a:bodyPr wrap="square" lIns="0" tIns="0" rIns="0" bIns="0" rtlCol="0" anchor="t"/>
          <a:lstStyle/>
          <a:p>
            <a:pPr algn="ctr" indent="0" marL="0">
              <a:lnSpc>
                <a:spcPts val="1155"/>
              </a:lnSpc>
              <a:spcBef>
                <a:spcPts val="450"/>
              </a:spcBef>
              <a:buNone/>
            </a:pPr>
            <a:r>
              <a:rPr lang="en-US" sz="825" dirty="0">
                <a:solidFill>
                  <a:srgbClr val="FFFFFF">
                    <a:alpha val="80000"/>
                  </a:srgbClr>
                </a:solidFill>
                <a:latin typeface="Arial" pitchFamily="34" charset="0"/>
                <a:ea typeface="Arial" pitchFamily="34" charset="-122"/>
                <a:cs typeface="Arial" pitchFamily="34" charset="-120"/>
              </a:rPr>
              <a:t>Complete privacy</a:t>
            </a:r>
            <a:endParaRPr lang="en-US" sz="825" dirty="0"/>
          </a:p>
          <a:p>
            <a:pPr algn="ctr" indent="0" marL="0">
              <a:lnSpc>
                <a:spcPts val="1155"/>
              </a:lnSpc>
              <a:spcBef>
                <a:spcPts val="450"/>
              </a:spcBef>
              <a:buNone/>
            </a:pPr>
            <a:r>
              <a:rPr lang="en-US" sz="825" dirty="0">
                <a:solidFill>
                  <a:srgbClr val="FFFFFF">
                    <a:alpha val="80000"/>
                  </a:srgbClr>
                </a:solidFill>
                <a:latin typeface="Arial" pitchFamily="34" charset="0"/>
                <a:ea typeface="Arial" pitchFamily="34" charset="-122"/>
                <a:cs typeface="Arial" pitchFamily="34" charset="-120"/>
              </a:rPr>
              <a:t>No API costs</a:t>
            </a:r>
            <a:endParaRPr lang="en-US" sz="825" dirty="0"/>
          </a:p>
        </p:txBody>
      </p:sp>
      <p:sp>
        <p:nvSpPr>
          <p:cNvPr id="20" name="Text 18"/>
          <p:cNvSpPr/>
          <p:nvPr/>
        </p:nvSpPr>
        <p:spPr>
          <a:xfrm>
            <a:off x="6505277" y="3878312"/>
            <a:ext cx="2257871" cy="763637"/>
          </a:xfrm>
          <a:prstGeom prst="rect">
            <a:avLst/>
          </a:prstGeom>
          <a:solidFill>
            <a:srgbClr val="DC2626"/>
          </a:solidFill>
          <a:ln/>
        </p:spPr>
        <p:txBody>
          <a:bodyPr wrap="square" rtlCol="0" anchor="ctr"/>
          <a:lstStyle/>
          <a:p>
            <a:pPr indent="0" marL="0">
              <a:buNone/>
            </a:pPr>
            <a:endParaRPr lang="en-US" dirty="0"/>
          </a:p>
        </p:txBody>
      </p:sp>
      <p:sp>
        <p:nvSpPr>
          <p:cNvPr id="21" name="Text 19"/>
          <p:cNvSpPr/>
          <p:nvPr/>
        </p:nvSpPr>
        <p:spPr>
          <a:xfrm>
            <a:off x="6618716" y="4011662"/>
            <a:ext cx="2030995" cy="146596"/>
          </a:xfrm>
          <a:prstGeom prst="rect">
            <a:avLst/>
          </a:prstGeom>
          <a:noFill/>
          <a:ln/>
        </p:spPr>
        <p:txBody>
          <a:bodyPr wrap="square" lIns="0" tIns="0" rIns="0" bIns="0" rtlCol="0" anchor="t"/>
          <a:lstStyle/>
          <a:p>
            <a:pPr algn="ctr" indent="0" marL="0">
              <a:lnSpc>
                <a:spcPts val="1155"/>
              </a:lnSpc>
              <a:buNone/>
            </a:pPr>
            <a:r>
              <a:rPr lang="en-US" sz="825" b="1" dirty="0">
                <a:solidFill>
                  <a:srgbClr val="FFFFFF"/>
                </a:solidFill>
                <a:latin typeface="Arial" pitchFamily="34" charset="0"/>
                <a:ea typeface="Arial" pitchFamily="34" charset="-122"/>
                <a:cs typeface="Arial" pitchFamily="34" charset="-120"/>
              </a:rPr>
              <a:t>CONS</a:t>
            </a:r>
            <a:endParaRPr lang="en-US" sz="825" dirty="0"/>
          </a:p>
        </p:txBody>
      </p:sp>
      <p:sp>
        <p:nvSpPr>
          <p:cNvPr id="22" name="Text 20"/>
          <p:cNvSpPr/>
          <p:nvPr/>
        </p:nvSpPr>
        <p:spPr>
          <a:xfrm>
            <a:off x="6618716" y="4215408"/>
            <a:ext cx="2030995" cy="293191"/>
          </a:xfrm>
          <a:prstGeom prst="rect">
            <a:avLst/>
          </a:prstGeom>
          <a:noFill/>
          <a:ln/>
        </p:spPr>
        <p:txBody>
          <a:bodyPr wrap="square" lIns="0" tIns="0" rIns="0" bIns="0" rtlCol="0" anchor="t"/>
          <a:lstStyle/>
          <a:p>
            <a:pPr algn="ctr" indent="0" marL="0">
              <a:lnSpc>
                <a:spcPts val="1155"/>
              </a:lnSpc>
              <a:spcBef>
                <a:spcPts val="450"/>
              </a:spcBef>
              <a:buNone/>
            </a:pPr>
            <a:r>
              <a:rPr lang="en-US" sz="825" dirty="0">
                <a:solidFill>
                  <a:srgbClr val="FFFFFF">
                    <a:alpha val="80000"/>
                  </a:srgbClr>
                </a:solidFill>
                <a:latin typeface="Arial" pitchFamily="34" charset="0"/>
                <a:ea typeface="Arial" pitchFamily="34" charset="-122"/>
                <a:cs typeface="Arial" pitchFamily="34" charset="-120"/>
              </a:rPr>
              <a:t>Lower capability</a:t>
            </a:r>
            <a:endParaRPr lang="en-US" sz="825" dirty="0"/>
          </a:p>
          <a:p>
            <a:pPr algn="ctr" indent="0" marL="0">
              <a:lnSpc>
                <a:spcPts val="1155"/>
              </a:lnSpc>
              <a:spcBef>
                <a:spcPts val="450"/>
              </a:spcBef>
              <a:buNone/>
            </a:pPr>
            <a:r>
              <a:rPr lang="en-US" sz="825" dirty="0">
                <a:solidFill>
                  <a:srgbClr val="FFFFFF">
                    <a:alpha val="80000"/>
                  </a:srgbClr>
                </a:solidFill>
                <a:latin typeface="Arial" pitchFamily="34" charset="0"/>
                <a:ea typeface="Arial" pitchFamily="34" charset="-122"/>
                <a:cs typeface="Arial" pitchFamily="34" charset="-120"/>
              </a:rPr>
              <a:t>Requires GPU</a:t>
            </a:r>
            <a:endParaRPr lang="en-US" sz="825"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457200" y="228600"/>
            <a:ext cx="8394192" cy="146596"/>
          </a:xfrm>
          <a:prstGeom prst="rect">
            <a:avLst/>
          </a:prstGeom>
          <a:noFill/>
          <a:ln/>
        </p:spPr>
        <p:txBody>
          <a:bodyPr wrap="square" lIns="0" tIns="0" rIns="0" bIns="0" rtlCol="0" anchor="t"/>
          <a:lstStyle/>
          <a:p>
            <a:pPr algn="l" indent="0" marL="0">
              <a:lnSpc>
                <a:spcPts val="1155"/>
              </a:lnSpc>
              <a:spcAft>
                <a:spcPts val="600"/>
              </a:spcAft>
              <a:buNone/>
            </a:pPr>
            <a:r>
              <a:rPr lang="en-US" sz="825" dirty="0">
                <a:solidFill>
                  <a:srgbClr val="C9A227"/>
                </a:solidFill>
                <a:latin typeface="Arial" pitchFamily="34" charset="0"/>
                <a:ea typeface="Arial" pitchFamily="34" charset="-122"/>
                <a:cs typeface="Arial" pitchFamily="34" charset="-120"/>
              </a:rPr>
              <a:t>DECISION MATRIX</a:t>
            </a:r>
            <a:endParaRPr lang="en-US" sz="825" dirty="0"/>
          </a:p>
        </p:txBody>
      </p:sp>
      <p:sp>
        <p:nvSpPr>
          <p:cNvPr id="3" name="Text 1"/>
          <p:cNvSpPr/>
          <p:nvPr/>
        </p:nvSpPr>
        <p:spPr>
          <a:xfrm>
            <a:off x="457200" y="451396"/>
            <a:ext cx="4206812" cy="266700"/>
          </a:xfrm>
          <a:prstGeom prst="rect">
            <a:avLst/>
          </a:prstGeom>
          <a:noFill/>
          <a:ln/>
        </p:spPr>
        <p:txBody>
          <a:bodyPr wrap="square" lIns="0" tIns="0" rIns="0" bIns="0" rtlCol="0" anchor="t"/>
          <a:lstStyle/>
          <a:p>
            <a:pPr algn="l" indent="0" marL="0">
              <a:lnSpc>
                <a:spcPts val="2100"/>
              </a:lnSpc>
              <a:buNone/>
            </a:pPr>
            <a:r>
              <a:rPr lang="en-US" sz="2100" dirty="0">
                <a:solidFill>
                  <a:srgbClr val="1A1F2E"/>
                </a:solidFill>
                <a:latin typeface="Georgia" pitchFamily="34" charset="0"/>
                <a:ea typeface="Georgia" pitchFamily="34" charset="-122"/>
                <a:cs typeface="Georgia" pitchFamily="34" charset="-120"/>
              </a:rPr>
              <a:t>Enterprise AI Options Summary</a:t>
            </a:r>
            <a:endParaRPr lang="en-US" sz="2100" dirty="0"/>
          </a:p>
        </p:txBody>
      </p:sp>
      <p:sp>
        <p:nvSpPr>
          <p:cNvPr id="4" name="Text 2"/>
          <p:cNvSpPr/>
          <p:nvPr/>
        </p:nvSpPr>
        <p:spPr>
          <a:xfrm>
            <a:off x="457200" y="1327100"/>
            <a:ext cx="8229600" cy="337096"/>
          </a:xfrm>
          <a:prstGeom prst="rect">
            <a:avLst/>
          </a:prstGeom>
          <a:solidFill>
            <a:srgbClr val="1A1F2E"/>
          </a:solidFill>
          <a:ln/>
        </p:spPr>
        <p:txBody>
          <a:bodyPr wrap="square" rtlCol="0" anchor="ctr"/>
          <a:lstStyle/>
          <a:p>
            <a:pPr indent="0" marL="0">
              <a:buNone/>
            </a:pPr>
            <a:endParaRPr lang="en-US" dirty="0"/>
          </a:p>
        </p:txBody>
      </p:sp>
      <p:sp>
        <p:nvSpPr>
          <p:cNvPr id="5" name="Text 3"/>
          <p:cNvSpPr/>
          <p:nvPr/>
        </p:nvSpPr>
        <p:spPr>
          <a:xfrm>
            <a:off x="609600" y="1422350"/>
            <a:ext cx="1315084" cy="146596"/>
          </a:xfrm>
          <a:prstGeom prst="rect">
            <a:avLst/>
          </a:prstGeom>
          <a:noFill/>
          <a:ln/>
        </p:spPr>
        <p:txBody>
          <a:bodyPr wrap="square" lIns="0" tIns="0" rIns="0" bIns="0" rtlCol="0" anchor="t"/>
          <a:lstStyle/>
          <a:p>
            <a:pPr algn="l" indent="0" marL="0">
              <a:lnSpc>
                <a:spcPts val="1155"/>
              </a:lnSpc>
              <a:buNone/>
            </a:pPr>
            <a:r>
              <a:rPr lang="en-US" sz="825" b="1" dirty="0">
                <a:solidFill>
                  <a:srgbClr val="FFFFFF"/>
                </a:solidFill>
                <a:latin typeface="Arial" pitchFamily="34" charset="0"/>
                <a:ea typeface="Arial" pitchFamily="34" charset="-122"/>
                <a:cs typeface="Arial" pitchFamily="34" charset="-120"/>
              </a:rPr>
              <a:t>Option</a:t>
            </a:r>
            <a:endParaRPr lang="en-US" sz="825" dirty="0"/>
          </a:p>
        </p:txBody>
      </p:sp>
      <p:sp>
        <p:nvSpPr>
          <p:cNvPr id="6" name="Text 4"/>
          <p:cNvSpPr/>
          <p:nvPr/>
        </p:nvSpPr>
        <p:spPr>
          <a:xfrm>
            <a:off x="2039838" y="1422350"/>
            <a:ext cx="1168896" cy="146596"/>
          </a:xfrm>
          <a:prstGeom prst="rect">
            <a:avLst/>
          </a:prstGeom>
          <a:noFill/>
          <a:ln/>
        </p:spPr>
        <p:txBody>
          <a:bodyPr wrap="square" lIns="0" tIns="0" rIns="0" bIns="0" rtlCol="0" anchor="t"/>
          <a:lstStyle/>
          <a:p>
            <a:pPr algn="ctr" indent="0" marL="0">
              <a:lnSpc>
                <a:spcPts val="1155"/>
              </a:lnSpc>
              <a:buNone/>
            </a:pPr>
            <a:r>
              <a:rPr lang="en-US" sz="825" b="1" dirty="0">
                <a:solidFill>
                  <a:srgbClr val="C9A227"/>
                </a:solidFill>
                <a:latin typeface="Arial" pitchFamily="34" charset="0"/>
                <a:ea typeface="Arial" pitchFamily="34" charset="-122"/>
                <a:cs typeface="Arial" pitchFamily="34" charset="-120"/>
              </a:rPr>
              <a:t>Compliance</a:t>
            </a:r>
            <a:endParaRPr lang="en-US" sz="825" dirty="0"/>
          </a:p>
        </p:txBody>
      </p:sp>
      <p:sp>
        <p:nvSpPr>
          <p:cNvPr id="7" name="Text 5"/>
          <p:cNvSpPr/>
          <p:nvPr/>
        </p:nvSpPr>
        <p:spPr>
          <a:xfrm>
            <a:off x="3338215" y="1422350"/>
            <a:ext cx="1168896" cy="146596"/>
          </a:xfrm>
          <a:prstGeom prst="rect">
            <a:avLst/>
          </a:prstGeom>
          <a:noFill/>
          <a:ln/>
        </p:spPr>
        <p:txBody>
          <a:bodyPr wrap="square" lIns="0" tIns="0" rIns="0" bIns="0" rtlCol="0" anchor="t"/>
          <a:lstStyle/>
          <a:p>
            <a:pPr algn="ctr" indent="0" marL="0">
              <a:lnSpc>
                <a:spcPts val="1155"/>
              </a:lnSpc>
              <a:buNone/>
            </a:pPr>
            <a:r>
              <a:rPr lang="en-US" sz="825" b="1" dirty="0">
                <a:solidFill>
                  <a:srgbClr val="C9A227"/>
                </a:solidFill>
                <a:latin typeface="Arial" pitchFamily="34" charset="0"/>
                <a:ea typeface="Arial" pitchFamily="34" charset="-122"/>
                <a:cs typeface="Arial" pitchFamily="34" charset="-120"/>
              </a:rPr>
              <a:t>Capability</a:t>
            </a:r>
            <a:endParaRPr lang="en-US" sz="825" dirty="0"/>
          </a:p>
        </p:txBody>
      </p:sp>
      <p:sp>
        <p:nvSpPr>
          <p:cNvPr id="8" name="Text 6"/>
          <p:cNvSpPr/>
          <p:nvPr/>
        </p:nvSpPr>
        <p:spPr>
          <a:xfrm>
            <a:off x="4636591" y="1422350"/>
            <a:ext cx="1168896" cy="146596"/>
          </a:xfrm>
          <a:prstGeom prst="rect">
            <a:avLst/>
          </a:prstGeom>
          <a:noFill/>
          <a:ln/>
        </p:spPr>
        <p:txBody>
          <a:bodyPr wrap="square" lIns="0" tIns="0" rIns="0" bIns="0" rtlCol="0" anchor="t"/>
          <a:lstStyle/>
          <a:p>
            <a:pPr algn="ctr" indent="0" marL="0">
              <a:lnSpc>
                <a:spcPts val="1155"/>
              </a:lnSpc>
              <a:buNone/>
            </a:pPr>
            <a:r>
              <a:rPr lang="en-US" sz="825" b="1" dirty="0">
                <a:solidFill>
                  <a:srgbClr val="C9A227"/>
                </a:solidFill>
                <a:latin typeface="Arial" pitchFamily="34" charset="0"/>
                <a:ea typeface="Arial" pitchFamily="34" charset="-122"/>
                <a:cs typeface="Arial" pitchFamily="34" charset="-120"/>
              </a:rPr>
              <a:t>Cost</a:t>
            </a:r>
            <a:endParaRPr lang="en-US" sz="825" dirty="0"/>
          </a:p>
        </p:txBody>
      </p:sp>
      <p:sp>
        <p:nvSpPr>
          <p:cNvPr id="9" name="Text 7"/>
          <p:cNvSpPr/>
          <p:nvPr/>
        </p:nvSpPr>
        <p:spPr>
          <a:xfrm>
            <a:off x="5933535" y="1422350"/>
            <a:ext cx="1315084" cy="146596"/>
          </a:xfrm>
          <a:prstGeom prst="rect">
            <a:avLst/>
          </a:prstGeom>
          <a:noFill/>
          <a:ln/>
        </p:spPr>
        <p:txBody>
          <a:bodyPr wrap="square" lIns="0" tIns="0" rIns="0" bIns="0" rtlCol="0" anchor="t"/>
          <a:lstStyle/>
          <a:p>
            <a:pPr algn="ctr" indent="0" marL="0">
              <a:lnSpc>
                <a:spcPts val="1155"/>
              </a:lnSpc>
              <a:buNone/>
            </a:pPr>
            <a:r>
              <a:rPr lang="en-US" sz="825" b="1" dirty="0">
                <a:solidFill>
                  <a:srgbClr val="C9A227"/>
                </a:solidFill>
                <a:latin typeface="Arial" pitchFamily="34" charset="0"/>
                <a:ea typeface="Arial" pitchFamily="34" charset="-122"/>
                <a:cs typeface="Arial" pitchFamily="34" charset="-120"/>
              </a:rPr>
              <a:t>Best For</a:t>
            </a:r>
            <a:endParaRPr lang="en-US" sz="825" dirty="0"/>
          </a:p>
        </p:txBody>
      </p:sp>
      <p:sp>
        <p:nvSpPr>
          <p:cNvPr id="10" name="Text 8"/>
          <p:cNvSpPr/>
          <p:nvPr/>
        </p:nvSpPr>
        <p:spPr>
          <a:xfrm>
            <a:off x="7376666" y="1422350"/>
            <a:ext cx="1168896" cy="146596"/>
          </a:xfrm>
          <a:prstGeom prst="rect">
            <a:avLst/>
          </a:prstGeom>
          <a:noFill/>
          <a:ln/>
        </p:spPr>
        <p:txBody>
          <a:bodyPr wrap="square" lIns="0" tIns="0" rIns="0" bIns="0" rtlCol="0" anchor="t"/>
          <a:lstStyle/>
          <a:p>
            <a:pPr algn="ctr" indent="0" marL="0">
              <a:lnSpc>
                <a:spcPts val="1155"/>
              </a:lnSpc>
              <a:buNone/>
            </a:pPr>
            <a:r>
              <a:rPr lang="en-US" sz="825" b="1" dirty="0">
                <a:solidFill>
                  <a:srgbClr val="C9A227"/>
                </a:solidFill>
                <a:latin typeface="Arial" pitchFamily="34" charset="0"/>
                <a:ea typeface="Arial" pitchFamily="34" charset="-122"/>
                <a:cs typeface="Arial" pitchFamily="34" charset="-120"/>
              </a:rPr>
              <a:t>PHI Safe</a:t>
            </a:r>
            <a:endParaRPr lang="en-US" sz="825" dirty="0"/>
          </a:p>
        </p:txBody>
      </p:sp>
      <p:sp>
        <p:nvSpPr>
          <p:cNvPr id="11" name="Text 9"/>
          <p:cNvSpPr/>
          <p:nvPr/>
        </p:nvSpPr>
        <p:spPr>
          <a:xfrm>
            <a:off x="457200" y="1835646"/>
            <a:ext cx="8229600" cy="346621"/>
          </a:xfrm>
          <a:prstGeom prst="rect">
            <a:avLst/>
          </a:prstGeom>
          <a:solidFill>
            <a:srgbClr val="FFFFFF"/>
          </a:solidFill>
          <a:ln/>
        </p:spPr>
        <p:txBody>
          <a:bodyPr wrap="square" rtlCol="0" anchor="ctr"/>
          <a:lstStyle/>
          <a:p>
            <a:pPr indent="0" marL="0">
              <a:buNone/>
            </a:pPr>
            <a:endParaRPr lang="en-US" dirty="0"/>
          </a:p>
        </p:txBody>
      </p:sp>
      <p:sp>
        <p:nvSpPr>
          <p:cNvPr id="12" name="Shape 10"/>
          <p:cNvSpPr/>
          <p:nvPr/>
        </p:nvSpPr>
        <p:spPr>
          <a:xfrm>
            <a:off x="457200" y="2177504"/>
            <a:ext cx="8229600" cy="0"/>
          </a:xfrm>
          <a:prstGeom prst="line">
            <a:avLst/>
          </a:prstGeom>
          <a:noFill/>
          <a:ln w="9525">
            <a:solidFill>
              <a:srgbClr val="E4E7ED"/>
            </a:solidFill>
            <a:prstDash val="solid"/>
          </a:ln>
        </p:spPr>
      </p:sp>
      <p:sp>
        <p:nvSpPr>
          <p:cNvPr id="13" name="Text 11"/>
          <p:cNvSpPr/>
          <p:nvPr/>
        </p:nvSpPr>
        <p:spPr>
          <a:xfrm>
            <a:off x="609600" y="1930896"/>
            <a:ext cx="1315084" cy="146596"/>
          </a:xfrm>
          <a:prstGeom prst="rect">
            <a:avLst/>
          </a:prstGeom>
          <a:noFill/>
          <a:ln/>
        </p:spPr>
        <p:txBody>
          <a:bodyPr wrap="square" lIns="0" tIns="0" rIns="0" bIns="0" rtlCol="0" anchor="t"/>
          <a:lstStyle/>
          <a:p>
            <a:pPr algn="l" indent="0" marL="0">
              <a:lnSpc>
                <a:spcPts val="1155"/>
              </a:lnSpc>
              <a:buNone/>
            </a:pPr>
            <a:r>
              <a:rPr lang="en-US" sz="825" b="1" dirty="0">
                <a:solidFill>
                  <a:srgbClr val="1A1F2E"/>
                </a:solidFill>
                <a:latin typeface="Arial" pitchFamily="34" charset="0"/>
                <a:ea typeface="Arial" pitchFamily="34" charset="-122"/>
                <a:cs typeface="Arial" pitchFamily="34" charset="-120"/>
              </a:rPr>
              <a:t>Azure OpenAI</a:t>
            </a:r>
            <a:endParaRPr lang="en-US" sz="825" dirty="0"/>
          </a:p>
        </p:txBody>
      </p:sp>
      <p:sp>
        <p:nvSpPr>
          <p:cNvPr id="14" name="Text 12"/>
          <p:cNvSpPr/>
          <p:nvPr/>
        </p:nvSpPr>
        <p:spPr>
          <a:xfrm>
            <a:off x="2039838" y="1930896"/>
            <a:ext cx="1168896" cy="146596"/>
          </a:xfrm>
          <a:prstGeom prst="rect">
            <a:avLst/>
          </a:prstGeom>
          <a:noFill/>
          <a:ln/>
        </p:spPr>
        <p:txBody>
          <a:bodyPr wrap="square" lIns="0" tIns="0" rIns="0" bIns="0" rtlCol="0" anchor="t"/>
          <a:lstStyle/>
          <a:p>
            <a:pPr algn="ctr" indent="0" marL="0">
              <a:lnSpc>
                <a:spcPts val="1155"/>
              </a:lnSpc>
              <a:buNone/>
            </a:pPr>
            <a:r>
              <a:rPr lang="en-US" sz="825" dirty="0">
                <a:solidFill>
                  <a:srgbClr val="059669"/>
                </a:solidFill>
                <a:latin typeface="Arial" pitchFamily="34" charset="0"/>
                <a:ea typeface="Arial" pitchFamily="34" charset="-122"/>
                <a:cs typeface="Arial" pitchFamily="34" charset="-120"/>
              </a:rPr>
              <a:t>FedRAMP</a:t>
            </a:r>
            <a:endParaRPr lang="en-US" sz="825" dirty="0"/>
          </a:p>
        </p:txBody>
      </p:sp>
      <p:sp>
        <p:nvSpPr>
          <p:cNvPr id="15" name="Text 13"/>
          <p:cNvSpPr/>
          <p:nvPr/>
        </p:nvSpPr>
        <p:spPr>
          <a:xfrm>
            <a:off x="3338215" y="1930896"/>
            <a:ext cx="1168896" cy="146596"/>
          </a:xfrm>
          <a:prstGeom prst="rect">
            <a:avLst/>
          </a:prstGeom>
          <a:noFill/>
          <a:ln/>
        </p:spPr>
        <p:txBody>
          <a:bodyPr wrap="square" lIns="0" tIns="0" rIns="0" bIns="0" rtlCol="0" anchor="t"/>
          <a:lstStyle/>
          <a:p>
            <a:pPr algn="ctr" indent="0" marL="0">
              <a:lnSpc>
                <a:spcPts val="1155"/>
              </a:lnSpc>
              <a:buNone/>
            </a:pPr>
            <a:r>
              <a:rPr lang="en-US" sz="825" dirty="0">
                <a:solidFill>
                  <a:srgbClr val="059669"/>
                </a:solidFill>
                <a:latin typeface="Arial" pitchFamily="34" charset="0"/>
                <a:ea typeface="Arial" pitchFamily="34" charset="-122"/>
                <a:cs typeface="Arial" pitchFamily="34" charset="-120"/>
              </a:rPr>
              <a:t>Excellent</a:t>
            </a:r>
            <a:endParaRPr lang="en-US" sz="825" dirty="0"/>
          </a:p>
        </p:txBody>
      </p:sp>
      <p:sp>
        <p:nvSpPr>
          <p:cNvPr id="16" name="Text 14"/>
          <p:cNvSpPr/>
          <p:nvPr/>
        </p:nvSpPr>
        <p:spPr>
          <a:xfrm>
            <a:off x="4636591" y="1930896"/>
            <a:ext cx="1168896" cy="146596"/>
          </a:xfrm>
          <a:prstGeom prst="rect">
            <a:avLst/>
          </a:prstGeom>
          <a:noFill/>
          <a:ln/>
        </p:spPr>
        <p:txBody>
          <a:bodyPr wrap="square" lIns="0" tIns="0" rIns="0" bIns="0" rtlCol="0" anchor="t"/>
          <a:lstStyle/>
          <a:p>
            <a:pPr algn="ctr" indent="0" marL="0">
              <a:lnSpc>
                <a:spcPts val="1155"/>
              </a:lnSpc>
              <a:buNone/>
            </a:pPr>
            <a:r>
              <a:rPr lang="en-US" sz="825" dirty="0">
                <a:solidFill>
                  <a:srgbClr val="6B7280"/>
                </a:solidFill>
                <a:latin typeface="Arial" pitchFamily="34" charset="0"/>
                <a:ea typeface="Arial" pitchFamily="34" charset="-122"/>
                <a:cs typeface="Arial" pitchFamily="34" charset="-120"/>
              </a:rPr>
              <a:t>Per-token</a:t>
            </a:r>
            <a:endParaRPr lang="en-US" sz="825" dirty="0"/>
          </a:p>
        </p:txBody>
      </p:sp>
      <p:sp>
        <p:nvSpPr>
          <p:cNvPr id="17" name="Text 15"/>
          <p:cNvSpPr/>
          <p:nvPr/>
        </p:nvSpPr>
        <p:spPr>
          <a:xfrm>
            <a:off x="5933535" y="1930896"/>
            <a:ext cx="1315084" cy="146596"/>
          </a:xfrm>
          <a:prstGeom prst="rect">
            <a:avLst/>
          </a:prstGeom>
          <a:noFill/>
          <a:ln/>
        </p:spPr>
        <p:txBody>
          <a:bodyPr wrap="square" lIns="0" tIns="0" rIns="0" bIns="0" rtlCol="0" anchor="t"/>
          <a:lstStyle/>
          <a:p>
            <a:pPr algn="ctr" indent="0" marL="0">
              <a:lnSpc>
                <a:spcPts val="1155"/>
              </a:lnSpc>
              <a:buNone/>
            </a:pPr>
            <a:r>
              <a:rPr lang="en-US" sz="825" dirty="0">
                <a:solidFill>
                  <a:srgbClr val="6B7280"/>
                </a:solidFill>
                <a:latin typeface="Arial" pitchFamily="34" charset="0"/>
                <a:ea typeface="Arial" pitchFamily="34" charset="-122"/>
                <a:cs typeface="Arial" pitchFamily="34" charset="-120"/>
              </a:rPr>
              <a:t>Most teams</a:t>
            </a:r>
            <a:endParaRPr lang="en-US" sz="825" dirty="0"/>
          </a:p>
        </p:txBody>
      </p:sp>
      <p:sp>
        <p:nvSpPr>
          <p:cNvPr id="18" name="Text 16"/>
          <p:cNvSpPr/>
          <p:nvPr/>
        </p:nvSpPr>
        <p:spPr>
          <a:xfrm>
            <a:off x="7376666" y="1930896"/>
            <a:ext cx="1168896" cy="146596"/>
          </a:xfrm>
          <a:prstGeom prst="rect">
            <a:avLst/>
          </a:prstGeom>
          <a:noFill/>
          <a:ln/>
        </p:spPr>
        <p:txBody>
          <a:bodyPr wrap="square" lIns="0" tIns="0" rIns="0" bIns="0" rtlCol="0" anchor="t"/>
          <a:lstStyle/>
          <a:p>
            <a:pPr algn="ctr" indent="0" marL="0">
              <a:lnSpc>
                <a:spcPts val="1155"/>
              </a:lnSpc>
              <a:buNone/>
            </a:pPr>
            <a:r>
              <a:rPr lang="en-US" sz="825" b="1" dirty="0">
                <a:solidFill>
                  <a:srgbClr val="059669"/>
                </a:solidFill>
                <a:latin typeface="Arial" pitchFamily="34" charset="0"/>
                <a:ea typeface="Arial" pitchFamily="34" charset="-122"/>
                <a:cs typeface="Arial" pitchFamily="34" charset="-120"/>
              </a:rPr>
              <a:t>YES*</a:t>
            </a:r>
            <a:endParaRPr lang="en-US" sz="825" dirty="0"/>
          </a:p>
        </p:txBody>
      </p:sp>
      <p:sp>
        <p:nvSpPr>
          <p:cNvPr id="19" name="Text 17"/>
          <p:cNvSpPr/>
          <p:nvPr/>
        </p:nvSpPr>
        <p:spPr>
          <a:xfrm>
            <a:off x="457200" y="2334667"/>
            <a:ext cx="8229600" cy="346621"/>
          </a:xfrm>
          <a:prstGeom prst="rect">
            <a:avLst/>
          </a:prstGeom>
          <a:solidFill>
            <a:srgbClr val="F7F8FA"/>
          </a:solidFill>
          <a:ln/>
        </p:spPr>
        <p:txBody>
          <a:bodyPr wrap="square" rtlCol="0" anchor="ctr"/>
          <a:lstStyle/>
          <a:p>
            <a:pPr indent="0" marL="0">
              <a:buNone/>
            </a:pPr>
            <a:endParaRPr lang="en-US" dirty="0"/>
          </a:p>
        </p:txBody>
      </p:sp>
      <p:sp>
        <p:nvSpPr>
          <p:cNvPr id="20" name="Shape 18"/>
          <p:cNvSpPr/>
          <p:nvPr/>
        </p:nvSpPr>
        <p:spPr>
          <a:xfrm>
            <a:off x="457200" y="2676525"/>
            <a:ext cx="8229600" cy="0"/>
          </a:xfrm>
          <a:prstGeom prst="line">
            <a:avLst/>
          </a:prstGeom>
          <a:noFill/>
          <a:ln w="9525">
            <a:solidFill>
              <a:srgbClr val="E4E7ED"/>
            </a:solidFill>
            <a:prstDash val="solid"/>
          </a:ln>
        </p:spPr>
      </p:sp>
      <p:sp>
        <p:nvSpPr>
          <p:cNvPr id="21" name="Text 19"/>
          <p:cNvSpPr/>
          <p:nvPr/>
        </p:nvSpPr>
        <p:spPr>
          <a:xfrm>
            <a:off x="609600" y="2429917"/>
            <a:ext cx="1315084" cy="146596"/>
          </a:xfrm>
          <a:prstGeom prst="rect">
            <a:avLst/>
          </a:prstGeom>
          <a:noFill/>
          <a:ln/>
        </p:spPr>
        <p:txBody>
          <a:bodyPr wrap="square" lIns="0" tIns="0" rIns="0" bIns="0" rtlCol="0" anchor="t"/>
          <a:lstStyle/>
          <a:p>
            <a:pPr algn="l" indent="0" marL="0">
              <a:lnSpc>
                <a:spcPts val="1155"/>
              </a:lnSpc>
              <a:buNone/>
            </a:pPr>
            <a:r>
              <a:rPr lang="en-US" sz="825" b="1" dirty="0">
                <a:solidFill>
                  <a:srgbClr val="1A1F2E"/>
                </a:solidFill>
                <a:latin typeface="Arial" pitchFamily="34" charset="0"/>
                <a:ea typeface="Arial" pitchFamily="34" charset="-122"/>
                <a:cs typeface="Arial" pitchFamily="34" charset="-120"/>
              </a:rPr>
              <a:t>Anthropic (Claude)</a:t>
            </a:r>
            <a:endParaRPr lang="en-US" sz="825" dirty="0"/>
          </a:p>
        </p:txBody>
      </p:sp>
      <p:sp>
        <p:nvSpPr>
          <p:cNvPr id="22" name="Text 20"/>
          <p:cNvSpPr/>
          <p:nvPr/>
        </p:nvSpPr>
        <p:spPr>
          <a:xfrm>
            <a:off x="2039838" y="2429917"/>
            <a:ext cx="1168896" cy="146596"/>
          </a:xfrm>
          <a:prstGeom prst="rect">
            <a:avLst/>
          </a:prstGeom>
          <a:noFill/>
          <a:ln/>
        </p:spPr>
        <p:txBody>
          <a:bodyPr wrap="square" lIns="0" tIns="0" rIns="0" bIns="0" rtlCol="0" anchor="t"/>
          <a:lstStyle/>
          <a:p>
            <a:pPr algn="ctr" indent="0" marL="0">
              <a:lnSpc>
                <a:spcPts val="1155"/>
              </a:lnSpc>
              <a:buNone/>
            </a:pPr>
            <a:r>
              <a:rPr lang="en-US" sz="825" dirty="0">
                <a:solidFill>
                  <a:srgbClr val="F59E0B"/>
                </a:solidFill>
                <a:latin typeface="Arial" pitchFamily="34" charset="0"/>
                <a:ea typeface="Arial" pitchFamily="34" charset="-122"/>
                <a:cs typeface="Arial" pitchFamily="34" charset="-120"/>
              </a:rPr>
              <a:t>SOC2</a:t>
            </a:r>
            <a:endParaRPr lang="en-US" sz="825" dirty="0"/>
          </a:p>
        </p:txBody>
      </p:sp>
      <p:sp>
        <p:nvSpPr>
          <p:cNvPr id="23" name="Text 21"/>
          <p:cNvSpPr/>
          <p:nvPr/>
        </p:nvSpPr>
        <p:spPr>
          <a:xfrm>
            <a:off x="3338215" y="2429917"/>
            <a:ext cx="1168896" cy="146596"/>
          </a:xfrm>
          <a:prstGeom prst="rect">
            <a:avLst/>
          </a:prstGeom>
          <a:noFill/>
          <a:ln/>
        </p:spPr>
        <p:txBody>
          <a:bodyPr wrap="square" lIns="0" tIns="0" rIns="0" bIns="0" rtlCol="0" anchor="t"/>
          <a:lstStyle/>
          <a:p>
            <a:pPr algn="ctr" indent="0" marL="0">
              <a:lnSpc>
                <a:spcPts val="1155"/>
              </a:lnSpc>
              <a:buNone/>
            </a:pPr>
            <a:r>
              <a:rPr lang="en-US" sz="825" dirty="0">
                <a:solidFill>
                  <a:srgbClr val="059669"/>
                </a:solidFill>
                <a:latin typeface="Arial" pitchFamily="34" charset="0"/>
                <a:ea typeface="Arial" pitchFamily="34" charset="-122"/>
                <a:cs typeface="Arial" pitchFamily="34" charset="-120"/>
              </a:rPr>
              <a:t>Excellent</a:t>
            </a:r>
            <a:endParaRPr lang="en-US" sz="825" dirty="0"/>
          </a:p>
        </p:txBody>
      </p:sp>
      <p:sp>
        <p:nvSpPr>
          <p:cNvPr id="24" name="Text 22"/>
          <p:cNvSpPr/>
          <p:nvPr/>
        </p:nvSpPr>
        <p:spPr>
          <a:xfrm>
            <a:off x="4636591" y="2429917"/>
            <a:ext cx="1168896" cy="146596"/>
          </a:xfrm>
          <a:prstGeom prst="rect">
            <a:avLst/>
          </a:prstGeom>
          <a:noFill/>
          <a:ln/>
        </p:spPr>
        <p:txBody>
          <a:bodyPr wrap="square" lIns="0" tIns="0" rIns="0" bIns="0" rtlCol="0" anchor="t"/>
          <a:lstStyle/>
          <a:p>
            <a:pPr algn="ctr" indent="0" marL="0">
              <a:lnSpc>
                <a:spcPts val="1155"/>
              </a:lnSpc>
              <a:buNone/>
            </a:pPr>
            <a:r>
              <a:rPr lang="en-US" sz="825" dirty="0">
                <a:solidFill>
                  <a:srgbClr val="6B7280"/>
                </a:solidFill>
                <a:latin typeface="Arial" pitchFamily="34" charset="0"/>
                <a:ea typeface="Arial" pitchFamily="34" charset="-122"/>
                <a:cs typeface="Arial" pitchFamily="34" charset="-120"/>
              </a:rPr>
              <a:t>Per-token</a:t>
            </a:r>
            <a:endParaRPr lang="en-US" sz="825" dirty="0"/>
          </a:p>
        </p:txBody>
      </p:sp>
      <p:sp>
        <p:nvSpPr>
          <p:cNvPr id="25" name="Text 23"/>
          <p:cNvSpPr/>
          <p:nvPr/>
        </p:nvSpPr>
        <p:spPr>
          <a:xfrm>
            <a:off x="5933535" y="2429917"/>
            <a:ext cx="1315084" cy="146596"/>
          </a:xfrm>
          <a:prstGeom prst="rect">
            <a:avLst/>
          </a:prstGeom>
          <a:noFill/>
          <a:ln/>
        </p:spPr>
        <p:txBody>
          <a:bodyPr wrap="square" lIns="0" tIns="0" rIns="0" bIns="0" rtlCol="0" anchor="t"/>
          <a:lstStyle/>
          <a:p>
            <a:pPr algn="ctr" indent="0" marL="0">
              <a:lnSpc>
                <a:spcPts val="1155"/>
              </a:lnSpc>
              <a:buNone/>
            </a:pPr>
            <a:r>
              <a:rPr lang="en-US" sz="825" dirty="0">
                <a:solidFill>
                  <a:srgbClr val="6B7280"/>
                </a:solidFill>
                <a:latin typeface="Arial" pitchFamily="34" charset="0"/>
                <a:ea typeface="Arial" pitchFamily="34" charset="-122"/>
                <a:cs typeface="Arial" pitchFamily="34" charset="-120"/>
              </a:rPr>
              <a:t>Non-PHI work</a:t>
            </a:r>
            <a:endParaRPr lang="en-US" sz="825" dirty="0"/>
          </a:p>
        </p:txBody>
      </p:sp>
      <p:sp>
        <p:nvSpPr>
          <p:cNvPr id="26" name="Text 24"/>
          <p:cNvSpPr/>
          <p:nvPr/>
        </p:nvSpPr>
        <p:spPr>
          <a:xfrm>
            <a:off x="7376666" y="2429917"/>
            <a:ext cx="1168896" cy="146596"/>
          </a:xfrm>
          <a:prstGeom prst="rect">
            <a:avLst/>
          </a:prstGeom>
          <a:noFill/>
          <a:ln/>
        </p:spPr>
        <p:txBody>
          <a:bodyPr wrap="square" lIns="0" tIns="0" rIns="0" bIns="0" rtlCol="0" anchor="t"/>
          <a:lstStyle/>
          <a:p>
            <a:pPr algn="ctr" indent="0" marL="0">
              <a:lnSpc>
                <a:spcPts val="1155"/>
              </a:lnSpc>
              <a:buNone/>
            </a:pPr>
            <a:r>
              <a:rPr lang="en-US" sz="825" b="1" dirty="0">
                <a:solidFill>
                  <a:srgbClr val="F59E0B"/>
                </a:solidFill>
                <a:latin typeface="Arial" pitchFamily="34" charset="0"/>
                <a:ea typeface="Arial" pitchFamily="34" charset="-122"/>
                <a:cs typeface="Arial" pitchFamily="34" charset="-120"/>
              </a:rPr>
              <a:t>REVIEW</a:t>
            </a:r>
            <a:endParaRPr lang="en-US" sz="825" dirty="0"/>
          </a:p>
        </p:txBody>
      </p:sp>
      <p:sp>
        <p:nvSpPr>
          <p:cNvPr id="27" name="Text 25"/>
          <p:cNvSpPr/>
          <p:nvPr/>
        </p:nvSpPr>
        <p:spPr>
          <a:xfrm>
            <a:off x="457200" y="2833688"/>
            <a:ext cx="8229600" cy="346621"/>
          </a:xfrm>
          <a:prstGeom prst="rect">
            <a:avLst/>
          </a:prstGeom>
          <a:solidFill>
            <a:srgbClr val="FFFFFF"/>
          </a:solidFill>
          <a:ln/>
        </p:spPr>
        <p:txBody>
          <a:bodyPr wrap="square" rtlCol="0" anchor="ctr"/>
          <a:lstStyle/>
          <a:p>
            <a:pPr indent="0" marL="0">
              <a:buNone/>
            </a:pPr>
            <a:endParaRPr lang="en-US" dirty="0"/>
          </a:p>
        </p:txBody>
      </p:sp>
      <p:sp>
        <p:nvSpPr>
          <p:cNvPr id="28" name="Shape 26"/>
          <p:cNvSpPr/>
          <p:nvPr/>
        </p:nvSpPr>
        <p:spPr>
          <a:xfrm>
            <a:off x="457200" y="3175546"/>
            <a:ext cx="8229600" cy="0"/>
          </a:xfrm>
          <a:prstGeom prst="line">
            <a:avLst/>
          </a:prstGeom>
          <a:noFill/>
          <a:ln w="9525">
            <a:solidFill>
              <a:srgbClr val="E4E7ED"/>
            </a:solidFill>
            <a:prstDash val="solid"/>
          </a:ln>
        </p:spPr>
      </p:sp>
      <p:sp>
        <p:nvSpPr>
          <p:cNvPr id="29" name="Text 27"/>
          <p:cNvSpPr/>
          <p:nvPr/>
        </p:nvSpPr>
        <p:spPr>
          <a:xfrm>
            <a:off x="609600" y="2928938"/>
            <a:ext cx="1315084" cy="146596"/>
          </a:xfrm>
          <a:prstGeom prst="rect">
            <a:avLst/>
          </a:prstGeom>
          <a:noFill/>
          <a:ln/>
        </p:spPr>
        <p:txBody>
          <a:bodyPr wrap="square" lIns="0" tIns="0" rIns="0" bIns="0" rtlCol="0" anchor="t"/>
          <a:lstStyle/>
          <a:p>
            <a:pPr algn="l" indent="0" marL="0">
              <a:lnSpc>
                <a:spcPts val="1155"/>
              </a:lnSpc>
              <a:buNone/>
            </a:pPr>
            <a:r>
              <a:rPr lang="en-US" sz="825" b="1" dirty="0">
                <a:solidFill>
                  <a:srgbClr val="1A1F2E"/>
                </a:solidFill>
                <a:latin typeface="Arial" pitchFamily="34" charset="0"/>
                <a:ea typeface="Arial" pitchFamily="34" charset="-122"/>
                <a:cs typeface="Arial" pitchFamily="34" charset="-120"/>
              </a:rPr>
              <a:t>Azure AI Foundry</a:t>
            </a:r>
            <a:endParaRPr lang="en-US" sz="825" dirty="0"/>
          </a:p>
        </p:txBody>
      </p:sp>
      <p:sp>
        <p:nvSpPr>
          <p:cNvPr id="30" name="Text 28"/>
          <p:cNvSpPr/>
          <p:nvPr/>
        </p:nvSpPr>
        <p:spPr>
          <a:xfrm>
            <a:off x="2039838" y="2928938"/>
            <a:ext cx="1168896" cy="146596"/>
          </a:xfrm>
          <a:prstGeom prst="rect">
            <a:avLst/>
          </a:prstGeom>
          <a:noFill/>
          <a:ln/>
        </p:spPr>
        <p:txBody>
          <a:bodyPr wrap="square" lIns="0" tIns="0" rIns="0" bIns="0" rtlCol="0" anchor="t"/>
          <a:lstStyle/>
          <a:p>
            <a:pPr algn="ctr" indent="0" marL="0">
              <a:lnSpc>
                <a:spcPts val="1155"/>
              </a:lnSpc>
              <a:buNone/>
            </a:pPr>
            <a:r>
              <a:rPr lang="en-US" sz="825" dirty="0">
                <a:solidFill>
                  <a:srgbClr val="059669"/>
                </a:solidFill>
                <a:latin typeface="Arial" pitchFamily="34" charset="0"/>
                <a:ea typeface="Arial" pitchFamily="34" charset="-122"/>
                <a:cs typeface="Arial" pitchFamily="34" charset="-120"/>
              </a:rPr>
              <a:t>FedRAMP</a:t>
            </a:r>
            <a:endParaRPr lang="en-US" sz="825" dirty="0"/>
          </a:p>
        </p:txBody>
      </p:sp>
      <p:sp>
        <p:nvSpPr>
          <p:cNvPr id="31" name="Text 29"/>
          <p:cNvSpPr/>
          <p:nvPr/>
        </p:nvSpPr>
        <p:spPr>
          <a:xfrm>
            <a:off x="3338215" y="2928938"/>
            <a:ext cx="1168896" cy="146596"/>
          </a:xfrm>
          <a:prstGeom prst="rect">
            <a:avLst/>
          </a:prstGeom>
          <a:noFill/>
          <a:ln/>
        </p:spPr>
        <p:txBody>
          <a:bodyPr wrap="square" lIns="0" tIns="0" rIns="0" bIns="0" rtlCol="0" anchor="t"/>
          <a:lstStyle/>
          <a:p>
            <a:pPr algn="ctr" indent="0" marL="0">
              <a:lnSpc>
                <a:spcPts val="1155"/>
              </a:lnSpc>
              <a:buNone/>
            </a:pPr>
            <a:r>
              <a:rPr lang="en-US" sz="825" dirty="0">
                <a:solidFill>
                  <a:srgbClr val="059669"/>
                </a:solidFill>
                <a:latin typeface="Arial" pitchFamily="34" charset="0"/>
                <a:ea typeface="Arial" pitchFamily="34" charset="-122"/>
                <a:cs typeface="Arial" pitchFamily="34" charset="-120"/>
              </a:rPr>
              <a:t>Excellent</a:t>
            </a:r>
            <a:endParaRPr lang="en-US" sz="825" dirty="0"/>
          </a:p>
        </p:txBody>
      </p:sp>
      <p:sp>
        <p:nvSpPr>
          <p:cNvPr id="32" name="Text 30"/>
          <p:cNvSpPr/>
          <p:nvPr/>
        </p:nvSpPr>
        <p:spPr>
          <a:xfrm>
            <a:off x="4636591" y="2928938"/>
            <a:ext cx="1168896" cy="146596"/>
          </a:xfrm>
          <a:prstGeom prst="rect">
            <a:avLst/>
          </a:prstGeom>
          <a:noFill/>
          <a:ln/>
        </p:spPr>
        <p:txBody>
          <a:bodyPr wrap="square" lIns="0" tIns="0" rIns="0" bIns="0" rtlCol="0" anchor="t"/>
          <a:lstStyle/>
          <a:p>
            <a:pPr algn="ctr" indent="0" marL="0">
              <a:lnSpc>
                <a:spcPts val="1155"/>
              </a:lnSpc>
              <a:buNone/>
            </a:pPr>
            <a:r>
              <a:rPr lang="en-US" sz="825" dirty="0">
                <a:solidFill>
                  <a:srgbClr val="6B7280"/>
                </a:solidFill>
                <a:latin typeface="Arial" pitchFamily="34" charset="0"/>
                <a:ea typeface="Arial" pitchFamily="34" charset="-122"/>
                <a:cs typeface="Arial" pitchFamily="34" charset="-120"/>
              </a:rPr>
              <a:t>Per-token</a:t>
            </a:r>
            <a:endParaRPr lang="en-US" sz="825" dirty="0"/>
          </a:p>
        </p:txBody>
      </p:sp>
      <p:sp>
        <p:nvSpPr>
          <p:cNvPr id="33" name="Text 31"/>
          <p:cNvSpPr/>
          <p:nvPr/>
        </p:nvSpPr>
        <p:spPr>
          <a:xfrm>
            <a:off x="5933535" y="2928938"/>
            <a:ext cx="1315084" cy="146596"/>
          </a:xfrm>
          <a:prstGeom prst="rect">
            <a:avLst/>
          </a:prstGeom>
          <a:noFill/>
          <a:ln/>
        </p:spPr>
        <p:txBody>
          <a:bodyPr wrap="square" lIns="0" tIns="0" rIns="0" bIns="0" rtlCol="0" anchor="t"/>
          <a:lstStyle/>
          <a:p>
            <a:pPr algn="ctr" indent="0" marL="0">
              <a:lnSpc>
                <a:spcPts val="1155"/>
              </a:lnSpc>
              <a:buNone/>
            </a:pPr>
            <a:r>
              <a:rPr lang="en-US" sz="825" dirty="0">
                <a:solidFill>
                  <a:srgbClr val="6B7280"/>
                </a:solidFill>
                <a:latin typeface="Arial" pitchFamily="34" charset="0"/>
                <a:ea typeface="Arial" pitchFamily="34" charset="-122"/>
                <a:cs typeface="Arial" pitchFamily="34" charset="-120"/>
              </a:rPr>
              <a:t>Unified AI portal</a:t>
            </a:r>
            <a:endParaRPr lang="en-US" sz="825" dirty="0"/>
          </a:p>
        </p:txBody>
      </p:sp>
      <p:sp>
        <p:nvSpPr>
          <p:cNvPr id="34" name="Text 32"/>
          <p:cNvSpPr/>
          <p:nvPr/>
        </p:nvSpPr>
        <p:spPr>
          <a:xfrm>
            <a:off x="7376666" y="2928938"/>
            <a:ext cx="1168896" cy="146596"/>
          </a:xfrm>
          <a:prstGeom prst="rect">
            <a:avLst/>
          </a:prstGeom>
          <a:noFill/>
          <a:ln/>
        </p:spPr>
        <p:txBody>
          <a:bodyPr wrap="square" lIns="0" tIns="0" rIns="0" bIns="0" rtlCol="0" anchor="t"/>
          <a:lstStyle/>
          <a:p>
            <a:pPr algn="ctr" indent="0" marL="0">
              <a:lnSpc>
                <a:spcPts val="1155"/>
              </a:lnSpc>
              <a:buNone/>
            </a:pPr>
            <a:r>
              <a:rPr lang="en-US" sz="825" b="1" dirty="0">
                <a:solidFill>
                  <a:srgbClr val="059669"/>
                </a:solidFill>
                <a:latin typeface="Arial" pitchFamily="34" charset="0"/>
                <a:ea typeface="Arial" pitchFamily="34" charset="-122"/>
                <a:cs typeface="Arial" pitchFamily="34" charset="-120"/>
              </a:rPr>
              <a:t>YES*</a:t>
            </a:r>
            <a:endParaRPr lang="en-US" sz="825" dirty="0"/>
          </a:p>
        </p:txBody>
      </p:sp>
      <p:sp>
        <p:nvSpPr>
          <p:cNvPr id="35" name="Text 33"/>
          <p:cNvSpPr/>
          <p:nvPr/>
        </p:nvSpPr>
        <p:spPr>
          <a:xfrm>
            <a:off x="457200" y="3332708"/>
            <a:ext cx="8229600" cy="337096"/>
          </a:xfrm>
          <a:prstGeom prst="rect">
            <a:avLst/>
          </a:prstGeom>
          <a:solidFill>
            <a:srgbClr val="F7F8FA"/>
          </a:solidFill>
          <a:ln/>
        </p:spPr>
        <p:txBody>
          <a:bodyPr wrap="square" rtlCol="0" anchor="ctr"/>
          <a:lstStyle/>
          <a:p>
            <a:pPr indent="0" marL="0">
              <a:buNone/>
            </a:pPr>
            <a:endParaRPr lang="en-US" dirty="0"/>
          </a:p>
        </p:txBody>
      </p:sp>
      <p:sp>
        <p:nvSpPr>
          <p:cNvPr id="36" name="Text 34"/>
          <p:cNvSpPr/>
          <p:nvPr/>
        </p:nvSpPr>
        <p:spPr>
          <a:xfrm>
            <a:off x="609600" y="3427958"/>
            <a:ext cx="1315084" cy="146596"/>
          </a:xfrm>
          <a:prstGeom prst="rect">
            <a:avLst/>
          </a:prstGeom>
          <a:noFill/>
          <a:ln/>
        </p:spPr>
        <p:txBody>
          <a:bodyPr wrap="square" lIns="0" tIns="0" rIns="0" bIns="0" rtlCol="0" anchor="t"/>
          <a:lstStyle/>
          <a:p>
            <a:pPr algn="l" indent="0" marL="0">
              <a:lnSpc>
                <a:spcPts val="1155"/>
              </a:lnSpc>
              <a:buNone/>
            </a:pPr>
            <a:r>
              <a:rPr lang="en-US" sz="825" b="1" dirty="0">
                <a:solidFill>
                  <a:srgbClr val="1A1F2E"/>
                </a:solidFill>
                <a:latin typeface="Arial" pitchFamily="34" charset="0"/>
                <a:ea typeface="Arial" pitchFamily="34" charset="-122"/>
                <a:cs typeface="Arial" pitchFamily="34" charset="-120"/>
              </a:rPr>
              <a:t>Ollama (Local)</a:t>
            </a:r>
            <a:endParaRPr lang="en-US" sz="825" dirty="0"/>
          </a:p>
        </p:txBody>
      </p:sp>
      <p:sp>
        <p:nvSpPr>
          <p:cNvPr id="37" name="Text 35"/>
          <p:cNvSpPr/>
          <p:nvPr/>
        </p:nvSpPr>
        <p:spPr>
          <a:xfrm>
            <a:off x="2039838" y="3427958"/>
            <a:ext cx="1168896" cy="146596"/>
          </a:xfrm>
          <a:prstGeom prst="rect">
            <a:avLst/>
          </a:prstGeom>
          <a:noFill/>
          <a:ln/>
        </p:spPr>
        <p:txBody>
          <a:bodyPr wrap="square" lIns="0" tIns="0" rIns="0" bIns="0" rtlCol="0" anchor="t"/>
          <a:lstStyle/>
          <a:p>
            <a:pPr algn="ctr" indent="0" marL="0">
              <a:lnSpc>
                <a:spcPts val="1155"/>
              </a:lnSpc>
              <a:buNone/>
            </a:pPr>
            <a:r>
              <a:rPr lang="en-US" sz="825" dirty="0">
                <a:solidFill>
                  <a:srgbClr val="059669"/>
                </a:solidFill>
                <a:latin typeface="Arial" pitchFamily="34" charset="0"/>
                <a:ea typeface="Arial" pitchFamily="34" charset="-122"/>
                <a:cs typeface="Arial" pitchFamily="34" charset="-120"/>
              </a:rPr>
              <a:t>N/A (Local)</a:t>
            </a:r>
            <a:endParaRPr lang="en-US" sz="825" dirty="0"/>
          </a:p>
        </p:txBody>
      </p:sp>
      <p:sp>
        <p:nvSpPr>
          <p:cNvPr id="38" name="Text 36"/>
          <p:cNvSpPr/>
          <p:nvPr/>
        </p:nvSpPr>
        <p:spPr>
          <a:xfrm>
            <a:off x="3338215" y="3427958"/>
            <a:ext cx="1168896" cy="146596"/>
          </a:xfrm>
          <a:prstGeom prst="rect">
            <a:avLst/>
          </a:prstGeom>
          <a:noFill/>
          <a:ln/>
        </p:spPr>
        <p:txBody>
          <a:bodyPr wrap="square" lIns="0" tIns="0" rIns="0" bIns="0" rtlCol="0" anchor="t"/>
          <a:lstStyle/>
          <a:p>
            <a:pPr algn="ctr" indent="0" marL="0">
              <a:lnSpc>
                <a:spcPts val="1155"/>
              </a:lnSpc>
              <a:buNone/>
            </a:pPr>
            <a:r>
              <a:rPr lang="en-US" sz="825" dirty="0">
                <a:solidFill>
                  <a:srgbClr val="F59E0B"/>
                </a:solidFill>
                <a:latin typeface="Arial" pitchFamily="34" charset="0"/>
                <a:ea typeface="Arial" pitchFamily="34" charset="-122"/>
                <a:cs typeface="Arial" pitchFamily="34" charset="-120"/>
              </a:rPr>
              <a:t>Moderate</a:t>
            </a:r>
            <a:endParaRPr lang="en-US" sz="825" dirty="0"/>
          </a:p>
        </p:txBody>
      </p:sp>
      <p:sp>
        <p:nvSpPr>
          <p:cNvPr id="39" name="Text 37"/>
          <p:cNvSpPr/>
          <p:nvPr/>
        </p:nvSpPr>
        <p:spPr>
          <a:xfrm>
            <a:off x="4636591" y="3427958"/>
            <a:ext cx="1168896" cy="146596"/>
          </a:xfrm>
          <a:prstGeom prst="rect">
            <a:avLst/>
          </a:prstGeom>
          <a:noFill/>
          <a:ln/>
        </p:spPr>
        <p:txBody>
          <a:bodyPr wrap="square" lIns="0" tIns="0" rIns="0" bIns="0" rtlCol="0" anchor="t"/>
          <a:lstStyle/>
          <a:p>
            <a:pPr algn="ctr" indent="0" marL="0">
              <a:lnSpc>
                <a:spcPts val="1155"/>
              </a:lnSpc>
              <a:buNone/>
            </a:pPr>
            <a:r>
              <a:rPr lang="en-US" sz="825" dirty="0">
                <a:solidFill>
                  <a:srgbClr val="059669"/>
                </a:solidFill>
                <a:latin typeface="Arial" pitchFamily="34" charset="0"/>
                <a:ea typeface="Arial" pitchFamily="34" charset="-122"/>
                <a:cs typeface="Arial" pitchFamily="34" charset="-120"/>
              </a:rPr>
              <a:t>Free</a:t>
            </a:r>
            <a:endParaRPr lang="en-US" sz="825" dirty="0"/>
          </a:p>
        </p:txBody>
      </p:sp>
      <p:sp>
        <p:nvSpPr>
          <p:cNvPr id="40" name="Text 38"/>
          <p:cNvSpPr/>
          <p:nvPr/>
        </p:nvSpPr>
        <p:spPr>
          <a:xfrm>
            <a:off x="5933535" y="3427958"/>
            <a:ext cx="1315084" cy="146596"/>
          </a:xfrm>
          <a:prstGeom prst="rect">
            <a:avLst/>
          </a:prstGeom>
          <a:noFill/>
          <a:ln/>
        </p:spPr>
        <p:txBody>
          <a:bodyPr wrap="square" lIns="0" tIns="0" rIns="0" bIns="0" rtlCol="0" anchor="t"/>
          <a:lstStyle/>
          <a:p>
            <a:pPr algn="ctr" indent="0" marL="0">
              <a:lnSpc>
                <a:spcPts val="1155"/>
              </a:lnSpc>
              <a:buNone/>
            </a:pPr>
            <a:r>
              <a:rPr lang="en-US" sz="825" dirty="0">
                <a:solidFill>
                  <a:srgbClr val="6B7280"/>
                </a:solidFill>
                <a:latin typeface="Arial" pitchFamily="34" charset="0"/>
                <a:ea typeface="Arial" pitchFamily="34" charset="-122"/>
                <a:cs typeface="Arial" pitchFamily="34" charset="-120"/>
              </a:rPr>
              <a:t>Experimentation</a:t>
            </a:r>
            <a:endParaRPr lang="en-US" sz="825" dirty="0"/>
          </a:p>
        </p:txBody>
      </p:sp>
      <p:sp>
        <p:nvSpPr>
          <p:cNvPr id="41" name="Text 39"/>
          <p:cNvSpPr/>
          <p:nvPr/>
        </p:nvSpPr>
        <p:spPr>
          <a:xfrm>
            <a:off x="7376666" y="3427958"/>
            <a:ext cx="1168896" cy="146596"/>
          </a:xfrm>
          <a:prstGeom prst="rect">
            <a:avLst/>
          </a:prstGeom>
          <a:noFill/>
          <a:ln/>
        </p:spPr>
        <p:txBody>
          <a:bodyPr wrap="square" lIns="0" tIns="0" rIns="0" bIns="0" rtlCol="0" anchor="t"/>
          <a:lstStyle/>
          <a:p>
            <a:pPr algn="ctr" indent="0" marL="0">
              <a:lnSpc>
                <a:spcPts val="1155"/>
              </a:lnSpc>
              <a:buNone/>
            </a:pPr>
            <a:r>
              <a:rPr lang="en-US" sz="825" b="1" dirty="0">
                <a:solidFill>
                  <a:srgbClr val="059669"/>
                </a:solidFill>
                <a:latin typeface="Arial" pitchFamily="34" charset="0"/>
                <a:ea typeface="Arial" pitchFamily="34" charset="-122"/>
                <a:cs typeface="Arial" pitchFamily="34" charset="-120"/>
              </a:rPr>
              <a:t>YES</a:t>
            </a:r>
            <a:endParaRPr lang="en-US" sz="825" dirty="0"/>
          </a:p>
        </p:txBody>
      </p:sp>
      <p:sp>
        <p:nvSpPr>
          <p:cNvPr id="42" name="Text 40"/>
          <p:cNvSpPr/>
          <p:nvPr/>
        </p:nvSpPr>
        <p:spPr>
          <a:xfrm>
            <a:off x="457200" y="3974604"/>
            <a:ext cx="4019550" cy="597991"/>
          </a:xfrm>
          <a:prstGeom prst="rect">
            <a:avLst/>
          </a:prstGeom>
          <a:solidFill>
            <a:srgbClr val="1A1F2E"/>
          </a:solidFill>
          <a:ln/>
        </p:spPr>
        <p:txBody>
          <a:bodyPr wrap="square" rtlCol="0" anchor="ctr"/>
          <a:lstStyle/>
          <a:p>
            <a:pPr indent="0" marL="0">
              <a:buNone/>
            </a:pPr>
            <a:endParaRPr lang="en-US" dirty="0"/>
          </a:p>
        </p:txBody>
      </p:sp>
      <p:sp>
        <p:nvSpPr>
          <p:cNvPr id="43" name="Text 41"/>
          <p:cNvSpPr/>
          <p:nvPr/>
        </p:nvSpPr>
        <p:spPr>
          <a:xfrm>
            <a:off x="609600" y="4107954"/>
            <a:ext cx="3789045" cy="146596"/>
          </a:xfrm>
          <a:prstGeom prst="rect">
            <a:avLst/>
          </a:prstGeom>
          <a:noFill/>
          <a:ln/>
        </p:spPr>
        <p:txBody>
          <a:bodyPr wrap="square" lIns="0" tIns="0" rIns="0" bIns="0" rtlCol="0" anchor="t"/>
          <a:lstStyle/>
          <a:p>
            <a:pPr algn="l" indent="0" marL="0">
              <a:lnSpc>
                <a:spcPts val="1155"/>
              </a:lnSpc>
              <a:spcAft>
                <a:spcPts val="300"/>
              </a:spcAft>
              <a:buNone/>
            </a:pPr>
            <a:r>
              <a:rPr lang="en-US" sz="825" b="1" dirty="0">
                <a:solidFill>
                  <a:srgbClr val="C9A227"/>
                </a:solidFill>
                <a:latin typeface="Arial" pitchFamily="34" charset="0"/>
                <a:ea typeface="Arial" pitchFamily="34" charset="-122"/>
                <a:cs typeface="Arial" pitchFamily="34" charset="-120"/>
              </a:rPr>
              <a:t>RECOMMENDATION</a:t>
            </a:r>
            <a:endParaRPr lang="en-US" sz="825" dirty="0"/>
          </a:p>
        </p:txBody>
      </p:sp>
      <p:sp>
        <p:nvSpPr>
          <p:cNvPr id="44" name="Text 42"/>
          <p:cNvSpPr/>
          <p:nvPr/>
        </p:nvSpPr>
        <p:spPr>
          <a:xfrm>
            <a:off x="609600" y="4292650"/>
            <a:ext cx="3789045" cy="146596"/>
          </a:xfrm>
          <a:prstGeom prst="rect">
            <a:avLst/>
          </a:prstGeom>
          <a:noFill/>
          <a:ln/>
        </p:spPr>
        <p:txBody>
          <a:bodyPr wrap="square" lIns="0" tIns="0" rIns="0" bIns="0" rtlCol="0" anchor="t"/>
          <a:lstStyle/>
          <a:p>
            <a:pPr algn="l" indent="0" marL="0">
              <a:lnSpc>
                <a:spcPts val="1155"/>
              </a:lnSpc>
              <a:buNone/>
            </a:pPr>
            <a:r>
              <a:rPr lang="en-US" sz="825" dirty="0">
                <a:solidFill>
                  <a:srgbClr val="FFFFFF"/>
                </a:solidFill>
                <a:latin typeface="Arial" pitchFamily="34" charset="0"/>
                <a:ea typeface="Arial" pitchFamily="34" charset="-122"/>
                <a:cs typeface="Arial" pitchFamily="34" charset="-120"/>
              </a:rPr>
              <a:t>Azure OpenAI for most government work</a:t>
            </a:r>
            <a:endParaRPr lang="en-US" sz="825" dirty="0"/>
          </a:p>
        </p:txBody>
      </p:sp>
      <p:sp>
        <p:nvSpPr>
          <p:cNvPr id="45" name="Text 43"/>
          <p:cNvSpPr/>
          <p:nvPr/>
        </p:nvSpPr>
        <p:spPr>
          <a:xfrm>
            <a:off x="4629150" y="4066877"/>
            <a:ext cx="4057650" cy="413296"/>
          </a:xfrm>
          <a:prstGeom prst="rect">
            <a:avLst/>
          </a:prstGeom>
          <a:solidFill>
            <a:srgbClr val="FEF3C7"/>
          </a:solidFill>
          <a:ln/>
        </p:spPr>
        <p:txBody>
          <a:bodyPr wrap="square" rtlCol="0" anchor="ctr"/>
          <a:lstStyle/>
          <a:p>
            <a:pPr indent="0" marL="0">
              <a:buNone/>
            </a:pPr>
            <a:endParaRPr lang="en-US" dirty="0"/>
          </a:p>
        </p:txBody>
      </p:sp>
      <p:sp>
        <p:nvSpPr>
          <p:cNvPr id="46" name="Shape 44"/>
          <p:cNvSpPr/>
          <p:nvPr/>
        </p:nvSpPr>
        <p:spPr>
          <a:xfrm>
            <a:off x="4648200" y="4066877"/>
            <a:ext cx="0" cy="413296"/>
          </a:xfrm>
          <a:prstGeom prst="line">
            <a:avLst/>
          </a:prstGeom>
          <a:noFill/>
          <a:ln w="38100">
            <a:solidFill>
              <a:srgbClr val="F59E0B"/>
            </a:solidFill>
            <a:prstDash val="solid"/>
          </a:ln>
        </p:spPr>
      </p:sp>
      <p:sp>
        <p:nvSpPr>
          <p:cNvPr id="47" name="Text 45"/>
          <p:cNvSpPr/>
          <p:nvPr/>
        </p:nvSpPr>
        <p:spPr>
          <a:xfrm>
            <a:off x="4819650" y="4200227"/>
            <a:ext cx="3789045" cy="146596"/>
          </a:xfrm>
          <a:prstGeom prst="rect">
            <a:avLst/>
          </a:prstGeom>
          <a:noFill/>
          <a:ln/>
        </p:spPr>
        <p:txBody>
          <a:bodyPr wrap="square" lIns="0" tIns="0" rIns="0" bIns="0" rtlCol="0" anchor="t"/>
          <a:lstStyle/>
          <a:p>
            <a:pPr algn="l" indent="0" marL="0">
              <a:lnSpc>
                <a:spcPts val="1155"/>
              </a:lnSpc>
              <a:buNone/>
            </a:pPr>
            <a:r>
              <a:rPr lang="en-US" sz="825" dirty="0">
                <a:solidFill>
                  <a:srgbClr val="92400E"/>
                </a:solidFill>
                <a:latin typeface="Arial" pitchFamily="34" charset="0"/>
                <a:ea typeface="Arial" pitchFamily="34" charset="-122"/>
                <a:cs typeface="Arial" pitchFamily="34" charset="-120"/>
              </a:rPr>
              <a:t>*With proper BAA and configuration. Always verify with your compliance team.</a:t>
            </a:r>
            <a:endParaRPr lang="en-US" sz="825"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980722" y="945952"/>
            <a:ext cx="1182407" cy="186630"/>
          </a:xfrm>
          <a:prstGeom prst="rect">
            <a:avLst/>
          </a:prstGeom>
          <a:noFill/>
          <a:ln/>
        </p:spPr>
        <p:txBody>
          <a:bodyPr wrap="square" lIns="0" tIns="0" rIns="0" bIns="0" rtlCol="0" anchor="t"/>
          <a:lstStyle/>
          <a:p>
            <a:pPr algn="ctr" indent="0" marL="0">
              <a:lnSpc>
                <a:spcPts val="1470"/>
              </a:lnSpc>
              <a:spcAft>
                <a:spcPts val="1800"/>
              </a:spcAft>
              <a:buNone/>
            </a:pPr>
            <a:r>
              <a:rPr lang="en-US" sz="1050" dirty="0">
                <a:solidFill>
                  <a:srgbClr val="C9A227"/>
                </a:solidFill>
                <a:latin typeface="Arial" pitchFamily="34" charset="0"/>
                <a:ea typeface="Arial" pitchFamily="34" charset="-122"/>
                <a:cs typeface="Arial" pitchFamily="34" charset="-120"/>
              </a:rPr>
              <a:t>SECTION 05</a:t>
            </a:r>
            <a:endParaRPr lang="en-US" sz="1050" dirty="0"/>
          </a:p>
        </p:txBody>
      </p:sp>
      <p:sp>
        <p:nvSpPr>
          <p:cNvPr id="3" name="Text 1"/>
          <p:cNvSpPr/>
          <p:nvPr/>
        </p:nvSpPr>
        <p:spPr>
          <a:xfrm>
            <a:off x="2277474" y="1513582"/>
            <a:ext cx="4588904" cy="495300"/>
          </a:xfrm>
          <a:prstGeom prst="rect">
            <a:avLst/>
          </a:prstGeom>
          <a:noFill/>
          <a:ln/>
        </p:spPr>
        <p:txBody>
          <a:bodyPr wrap="square" lIns="0" tIns="0" rIns="0" bIns="0" rtlCol="0" anchor="t"/>
          <a:lstStyle/>
          <a:p>
            <a:pPr algn="ctr" indent="0" marL="0">
              <a:lnSpc>
                <a:spcPts val="3900"/>
              </a:lnSpc>
              <a:spcAft>
                <a:spcPts val="1200"/>
              </a:spcAft>
              <a:buNone/>
            </a:pPr>
            <a:r>
              <a:rPr lang="en-US" sz="3900" dirty="0">
                <a:solidFill>
                  <a:srgbClr val="FFFFFF"/>
                </a:solidFill>
                <a:latin typeface="Georgia" pitchFamily="34" charset="0"/>
                <a:ea typeface="Georgia" pitchFamily="34" charset="-122"/>
                <a:cs typeface="Georgia" pitchFamily="34" charset="-120"/>
              </a:rPr>
              <a:t>CLI Tools Deep Dive</a:t>
            </a:r>
            <a:endParaRPr lang="en-US" sz="3900" dirty="0"/>
          </a:p>
        </p:txBody>
      </p:sp>
      <p:sp>
        <p:nvSpPr>
          <p:cNvPr id="4" name="Text 2"/>
          <p:cNvSpPr/>
          <p:nvPr/>
        </p:nvSpPr>
        <p:spPr>
          <a:xfrm>
            <a:off x="3278929" y="2313682"/>
            <a:ext cx="2585993" cy="239911"/>
          </a:xfrm>
          <a:prstGeom prst="rect">
            <a:avLst/>
          </a:prstGeom>
          <a:noFill/>
          <a:ln/>
        </p:spPr>
        <p:txBody>
          <a:bodyPr wrap="square" lIns="0" tIns="0" rIns="0" bIns="0" rtlCol="0" anchor="t"/>
          <a:lstStyle/>
          <a:p>
            <a:pPr algn="ctr" indent="0" marL="0">
              <a:lnSpc>
                <a:spcPts val="1890"/>
              </a:lnSpc>
              <a:spcAft>
                <a:spcPts val="2400"/>
              </a:spcAft>
              <a:buNone/>
            </a:pPr>
            <a:r>
              <a:rPr lang="en-US" sz="1350" dirty="0">
                <a:solidFill>
                  <a:srgbClr val="FFFFFF">
                    <a:alpha val="60000"/>
                  </a:srgbClr>
                </a:solidFill>
                <a:latin typeface="Arial" pitchFamily="34" charset="0"/>
                <a:ea typeface="Arial" pitchFamily="34" charset="-122"/>
                <a:cs typeface="Arial" pitchFamily="34" charset="-120"/>
              </a:rPr>
              <a:t>Advanced Claude Code Features</a:t>
            </a:r>
            <a:endParaRPr lang="en-US" sz="1350" dirty="0"/>
          </a:p>
        </p:txBody>
      </p:sp>
      <p:sp>
        <p:nvSpPr>
          <p:cNvPr id="5" name="Text 3"/>
          <p:cNvSpPr/>
          <p:nvPr/>
        </p:nvSpPr>
        <p:spPr>
          <a:xfrm>
            <a:off x="4191000" y="3010793"/>
            <a:ext cx="762000" cy="19050"/>
          </a:xfrm>
          <a:prstGeom prst="rect">
            <a:avLst/>
          </a:prstGeom>
          <a:solidFill>
            <a:srgbClr val="C9A227"/>
          </a:solidFill>
          <a:ln/>
        </p:spPr>
        <p:txBody>
          <a:bodyPr wrap="square" rtlCol="0" anchor="ctr"/>
          <a:lstStyle/>
          <a:p>
            <a:pPr indent="0" marL="0">
              <a:buNone/>
            </a:pPr>
            <a:endParaRPr lang="en-US" dirty="0"/>
          </a:p>
        </p:txBody>
      </p:sp>
      <p:sp>
        <p:nvSpPr>
          <p:cNvPr id="6" name="Text 4"/>
          <p:cNvSpPr/>
          <p:nvPr/>
        </p:nvSpPr>
        <p:spPr>
          <a:xfrm>
            <a:off x="3656685" y="3487043"/>
            <a:ext cx="154082" cy="373261"/>
          </a:xfrm>
          <a:prstGeom prst="rect">
            <a:avLst/>
          </a:prstGeom>
          <a:noFill/>
          <a:ln/>
        </p:spPr>
        <p:txBody>
          <a:bodyPr wrap="square" lIns="0" tIns="0" rIns="0" bIns="0" rtlCol="0" anchor="t"/>
          <a:lstStyle/>
          <a:p>
            <a:pPr algn="ctr" indent="0" marL="0">
              <a:lnSpc>
                <a:spcPts val="2940"/>
              </a:lnSpc>
              <a:buNone/>
            </a:pPr>
            <a:r>
              <a:rPr lang="en-US" sz="2100" dirty="0">
                <a:solidFill>
                  <a:srgbClr val="C9A227"/>
                </a:solidFill>
                <a:latin typeface="Georgia" pitchFamily="34" charset="0"/>
                <a:ea typeface="Georgia" pitchFamily="34" charset="-122"/>
                <a:cs typeface="Georgia" pitchFamily="34" charset="-120"/>
              </a:rPr>
              <a:t>6</a:t>
            </a:r>
            <a:endParaRPr lang="en-US" sz="2100" dirty="0"/>
          </a:p>
        </p:txBody>
      </p:sp>
      <p:sp>
        <p:nvSpPr>
          <p:cNvPr id="7" name="Text 5"/>
          <p:cNvSpPr/>
          <p:nvPr/>
        </p:nvSpPr>
        <p:spPr>
          <a:xfrm>
            <a:off x="3582299" y="4050804"/>
            <a:ext cx="303002" cy="146596"/>
          </a:xfrm>
          <a:prstGeom prst="rect">
            <a:avLst/>
          </a:prstGeom>
          <a:noFill/>
          <a:ln/>
        </p:spPr>
        <p:txBody>
          <a:bodyPr wrap="square" lIns="0" tIns="0" rIns="0" bIns="0" rtlCol="0" anchor="t"/>
          <a:lstStyle/>
          <a:p>
            <a:pPr algn="ctr" indent="0" marL="0">
              <a:lnSpc>
                <a:spcPts val="1155"/>
              </a:lnSpc>
              <a:spcBef>
                <a:spcPts val="300"/>
              </a:spcBef>
              <a:buNone/>
            </a:pPr>
            <a:r>
              <a:rPr lang="en-US" sz="825" dirty="0">
                <a:solidFill>
                  <a:srgbClr val="FFFFFF">
                    <a:alpha val="50000"/>
                  </a:srgbClr>
                </a:solidFill>
                <a:latin typeface="Arial" pitchFamily="34" charset="0"/>
                <a:ea typeface="Arial" pitchFamily="34" charset="-122"/>
                <a:cs typeface="Arial" pitchFamily="34" charset="-120"/>
              </a:rPr>
              <a:t>Topics</a:t>
            </a:r>
            <a:endParaRPr lang="en-US" sz="825" dirty="0"/>
          </a:p>
        </p:txBody>
      </p:sp>
      <p:sp>
        <p:nvSpPr>
          <p:cNvPr id="8" name="Text 6"/>
          <p:cNvSpPr/>
          <p:nvPr/>
        </p:nvSpPr>
        <p:spPr>
          <a:xfrm>
            <a:off x="4421253" y="3487043"/>
            <a:ext cx="150135" cy="373261"/>
          </a:xfrm>
          <a:prstGeom prst="rect">
            <a:avLst/>
          </a:prstGeom>
          <a:noFill/>
          <a:ln/>
        </p:spPr>
        <p:txBody>
          <a:bodyPr wrap="square" lIns="0" tIns="0" rIns="0" bIns="0" rtlCol="0" anchor="t"/>
          <a:lstStyle/>
          <a:p>
            <a:pPr algn="ctr" indent="0" marL="0">
              <a:lnSpc>
                <a:spcPts val="2940"/>
              </a:lnSpc>
              <a:buNone/>
            </a:pPr>
            <a:r>
              <a:rPr lang="en-US" sz="2100" dirty="0">
                <a:solidFill>
                  <a:srgbClr val="C9A227"/>
                </a:solidFill>
                <a:latin typeface="Georgia" pitchFamily="34" charset="0"/>
                <a:ea typeface="Georgia" pitchFamily="34" charset="-122"/>
                <a:cs typeface="Georgia" pitchFamily="34" charset="-120"/>
              </a:rPr>
              <a:t>3</a:t>
            </a:r>
            <a:endParaRPr lang="en-US" sz="2100" dirty="0"/>
          </a:p>
        </p:txBody>
      </p:sp>
      <p:sp>
        <p:nvSpPr>
          <p:cNvPr id="9" name="Text 7"/>
          <p:cNvSpPr/>
          <p:nvPr/>
        </p:nvSpPr>
        <p:spPr>
          <a:xfrm>
            <a:off x="4258669" y="4050804"/>
            <a:ext cx="475452" cy="146596"/>
          </a:xfrm>
          <a:prstGeom prst="rect">
            <a:avLst/>
          </a:prstGeom>
          <a:noFill/>
          <a:ln/>
        </p:spPr>
        <p:txBody>
          <a:bodyPr wrap="square" lIns="0" tIns="0" rIns="0" bIns="0" rtlCol="0" anchor="t"/>
          <a:lstStyle/>
          <a:p>
            <a:pPr algn="ctr" indent="0" marL="0">
              <a:lnSpc>
                <a:spcPts val="1155"/>
              </a:lnSpc>
              <a:spcBef>
                <a:spcPts val="300"/>
              </a:spcBef>
              <a:buNone/>
            </a:pPr>
            <a:r>
              <a:rPr lang="en-US" sz="825" dirty="0">
                <a:solidFill>
                  <a:srgbClr val="FFFFFF">
                    <a:alpha val="50000"/>
                  </a:srgbClr>
                </a:solidFill>
                <a:latin typeface="Arial" pitchFamily="34" charset="0"/>
                <a:ea typeface="Arial" pitchFamily="34" charset="-122"/>
                <a:cs typeface="Arial" pitchFamily="34" charset="-120"/>
              </a:rPr>
              <a:t>Advanced</a:t>
            </a:r>
            <a:endParaRPr lang="en-US" sz="825" dirty="0"/>
          </a:p>
        </p:txBody>
      </p:sp>
      <p:sp>
        <p:nvSpPr>
          <p:cNvPr id="10" name="Text 8"/>
          <p:cNvSpPr/>
          <p:nvPr/>
        </p:nvSpPr>
        <p:spPr>
          <a:xfrm>
            <a:off x="5276151" y="3487043"/>
            <a:ext cx="116890" cy="373261"/>
          </a:xfrm>
          <a:prstGeom prst="rect">
            <a:avLst/>
          </a:prstGeom>
          <a:noFill/>
          <a:ln/>
        </p:spPr>
        <p:txBody>
          <a:bodyPr wrap="square" lIns="0" tIns="0" rIns="0" bIns="0" rtlCol="0" anchor="t"/>
          <a:lstStyle/>
          <a:p>
            <a:pPr algn="ctr" indent="0" marL="0">
              <a:lnSpc>
                <a:spcPts val="2940"/>
              </a:lnSpc>
              <a:buNone/>
            </a:pPr>
            <a:r>
              <a:rPr lang="en-US" sz="2100" dirty="0">
                <a:solidFill>
                  <a:srgbClr val="C9A227"/>
                </a:solidFill>
                <a:latin typeface="Georgia" pitchFamily="34" charset="0"/>
                <a:ea typeface="Georgia" pitchFamily="34" charset="-122"/>
                <a:cs typeface="Georgia" pitchFamily="34" charset="-120"/>
              </a:rPr>
              <a:t>1</a:t>
            </a:r>
            <a:endParaRPr lang="en-US" sz="2100" dirty="0"/>
          </a:p>
        </p:txBody>
      </p:sp>
      <p:sp>
        <p:nvSpPr>
          <p:cNvPr id="11" name="Text 9"/>
          <p:cNvSpPr/>
          <p:nvPr/>
        </p:nvSpPr>
        <p:spPr>
          <a:xfrm>
            <a:off x="5105977" y="4050804"/>
            <a:ext cx="457236" cy="146596"/>
          </a:xfrm>
          <a:prstGeom prst="rect">
            <a:avLst/>
          </a:prstGeom>
          <a:noFill/>
          <a:ln/>
        </p:spPr>
        <p:txBody>
          <a:bodyPr wrap="square" lIns="0" tIns="0" rIns="0" bIns="0" rtlCol="0" anchor="t"/>
          <a:lstStyle/>
          <a:p>
            <a:pPr algn="ctr" indent="0" marL="0">
              <a:lnSpc>
                <a:spcPts val="1155"/>
              </a:lnSpc>
              <a:spcBef>
                <a:spcPts val="300"/>
              </a:spcBef>
              <a:buNone/>
            </a:pPr>
            <a:r>
              <a:rPr lang="en-US" sz="825" dirty="0">
                <a:solidFill>
                  <a:srgbClr val="FFFFFF">
                    <a:alpha val="50000"/>
                  </a:srgbClr>
                </a:solidFill>
                <a:latin typeface="Arial" pitchFamily="34" charset="0"/>
                <a:ea typeface="Arial" pitchFamily="34" charset="-122"/>
                <a:cs typeface="Arial" pitchFamily="34" charset="-120"/>
              </a:rPr>
              <a:t>Summary</a:t>
            </a:r>
            <a:endParaRPr lang="en-US" sz="825" dirty="0"/>
          </a:p>
        </p:txBody>
      </p:sp>
      <p:sp>
        <p:nvSpPr>
          <p:cNvPr id="12" name="Text 10"/>
          <p:cNvSpPr/>
          <p:nvPr/>
        </p:nvSpPr>
        <p:spPr>
          <a:xfrm>
            <a:off x="8127653" y="4678710"/>
            <a:ext cx="570330" cy="159990"/>
          </a:xfrm>
          <a:prstGeom prst="rect">
            <a:avLst/>
          </a:prstGeom>
          <a:noFill/>
          <a:ln/>
        </p:spPr>
        <p:txBody>
          <a:bodyPr wrap="square" lIns="0" tIns="0" rIns="0" bIns="0" rtlCol="0" anchor="t"/>
          <a:lstStyle/>
          <a:p>
            <a:pPr algn="l" indent="0" marL="0">
              <a:lnSpc>
                <a:spcPts val="1260"/>
              </a:lnSpc>
              <a:buNone/>
            </a:pPr>
            <a:r>
              <a:rPr lang="en-US" sz="900" dirty="0">
                <a:solidFill>
                  <a:srgbClr val="FFFFFF">
                    <a:alpha val="30000"/>
                  </a:srgbClr>
                </a:solidFill>
                <a:latin typeface="Arial" pitchFamily="34" charset="0"/>
                <a:ea typeface="Arial" pitchFamily="34" charset="-122"/>
                <a:cs typeface="Arial" pitchFamily="34" charset="-120"/>
              </a:rPr>
              <a:t>15 minutes</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A1F2E"/>
        </a:solidFill>
      </p:bgPr>
    </p:bg>
    <p:spTree>
      <p:nvGrpSpPr>
        <p:cNvPr id="1" name=""/>
        <p:cNvGrpSpPr/>
        <p:nvPr/>
      </p:nvGrpSpPr>
      <p:grpSpPr>
        <a:xfrm>
          <a:off x="0" y="0"/>
          <a:ext cx="0" cy="0"/>
          <a:chOff x="0" y="0"/>
          <a:chExt cx="0" cy="0"/>
        </a:xfrm>
      </p:grpSpPr>
      <p:sp>
        <p:nvSpPr>
          <p:cNvPr id="2" name="Text 0"/>
          <p:cNvSpPr/>
          <p:nvPr/>
        </p:nvSpPr>
        <p:spPr>
          <a:xfrm>
            <a:off x="457200" y="304800"/>
            <a:ext cx="8394192" cy="146596"/>
          </a:xfrm>
          <a:prstGeom prst="rect">
            <a:avLst/>
          </a:prstGeom>
          <a:noFill/>
          <a:ln/>
        </p:spPr>
        <p:txBody>
          <a:bodyPr wrap="square" lIns="0" tIns="0" rIns="0" bIns="0" rtlCol="0" anchor="t"/>
          <a:lstStyle/>
          <a:p>
            <a:pPr algn="l" indent="0" marL="0">
              <a:lnSpc>
                <a:spcPts val="1155"/>
              </a:lnSpc>
              <a:spcAft>
                <a:spcPts val="600"/>
              </a:spcAft>
              <a:buNone/>
            </a:pPr>
            <a:r>
              <a:rPr lang="en-US" sz="825" dirty="0">
                <a:solidFill>
                  <a:srgbClr val="C9A227"/>
                </a:solidFill>
                <a:latin typeface="Arial" pitchFamily="34" charset="0"/>
                <a:ea typeface="Arial" pitchFamily="34" charset="-122"/>
                <a:cs typeface="Arial" pitchFamily="34" charset="-120"/>
              </a:rPr>
              <a:t>QUICK ACTIONS</a:t>
            </a:r>
            <a:endParaRPr lang="en-US" sz="825" dirty="0"/>
          </a:p>
        </p:txBody>
      </p:sp>
      <p:sp>
        <p:nvSpPr>
          <p:cNvPr id="3" name="Text 1"/>
          <p:cNvSpPr/>
          <p:nvPr/>
        </p:nvSpPr>
        <p:spPr>
          <a:xfrm>
            <a:off x="457200" y="527596"/>
            <a:ext cx="4206812" cy="304800"/>
          </a:xfrm>
          <a:prstGeom prst="rect">
            <a:avLst/>
          </a:prstGeom>
          <a:noFill/>
          <a:ln/>
        </p:spPr>
        <p:txBody>
          <a:bodyPr wrap="square" lIns="0" tIns="0" rIns="0" bIns="0" rtlCol="0" anchor="t"/>
          <a:lstStyle/>
          <a:p>
            <a:pPr algn="l" indent="0" marL="0">
              <a:lnSpc>
                <a:spcPts val="2400"/>
              </a:lnSpc>
              <a:buNone/>
            </a:pPr>
            <a:r>
              <a:rPr lang="en-US" sz="2400" dirty="0">
                <a:solidFill>
                  <a:srgbClr val="FFFFFF"/>
                </a:solidFill>
                <a:latin typeface="Georgia" pitchFamily="34" charset="0"/>
                <a:ea typeface="Georgia" pitchFamily="34" charset="-122"/>
                <a:cs typeface="Georgia" pitchFamily="34" charset="-120"/>
              </a:rPr>
              <a:t>Slash Commands Reference</a:t>
            </a:r>
            <a:endParaRPr lang="en-US" sz="2400" dirty="0"/>
          </a:p>
        </p:txBody>
      </p:sp>
      <p:sp>
        <p:nvSpPr>
          <p:cNvPr id="4" name="Text 2"/>
          <p:cNvSpPr/>
          <p:nvPr/>
        </p:nvSpPr>
        <p:spPr>
          <a:xfrm>
            <a:off x="457200" y="908596"/>
            <a:ext cx="8394192" cy="186630"/>
          </a:xfrm>
          <a:prstGeom prst="rect">
            <a:avLst/>
          </a:prstGeom>
          <a:noFill/>
          <a:ln/>
        </p:spPr>
        <p:txBody>
          <a:bodyPr wrap="square" lIns="0" tIns="0" rIns="0" bIns="0" rtlCol="0" anchor="t"/>
          <a:lstStyle/>
          <a:p>
            <a:pPr algn="l" indent="0" marL="0">
              <a:lnSpc>
                <a:spcPts val="1470"/>
              </a:lnSpc>
              <a:spcBef>
                <a:spcPts val="600"/>
              </a:spcBef>
              <a:buNone/>
            </a:pPr>
            <a:r>
              <a:rPr lang="en-US" sz="1050" dirty="0">
                <a:solidFill>
                  <a:srgbClr val="FFFFFF">
                    <a:alpha val="60000"/>
                  </a:srgbClr>
                </a:solidFill>
                <a:latin typeface="Arial" pitchFamily="34" charset="0"/>
                <a:ea typeface="Arial" pitchFamily="34" charset="-122"/>
                <a:cs typeface="Arial" pitchFamily="34" charset="-120"/>
              </a:rPr>
              <a:t>Built-in shortcuts for common operations</a:t>
            </a:r>
            <a:endParaRPr lang="en-US" sz="1050" dirty="0"/>
          </a:p>
        </p:txBody>
      </p:sp>
      <p:sp>
        <p:nvSpPr>
          <p:cNvPr id="5" name="Text 3"/>
          <p:cNvSpPr/>
          <p:nvPr/>
        </p:nvSpPr>
        <p:spPr>
          <a:xfrm>
            <a:off x="457200" y="1709738"/>
            <a:ext cx="2641550" cy="2857351"/>
          </a:xfrm>
          <a:prstGeom prst="rect">
            <a:avLst/>
          </a:prstGeom>
          <a:solidFill>
            <a:srgbClr val="252B3D"/>
          </a:solidFill>
          <a:ln/>
        </p:spPr>
        <p:txBody>
          <a:bodyPr wrap="square" rtlCol="0" anchor="ctr"/>
          <a:lstStyle/>
          <a:p>
            <a:pPr indent="0" marL="0">
              <a:buNone/>
            </a:pPr>
            <a:endParaRPr lang="en-US" dirty="0"/>
          </a:p>
        </p:txBody>
      </p:sp>
      <p:sp>
        <p:nvSpPr>
          <p:cNvPr id="6" name="Text 4"/>
          <p:cNvSpPr/>
          <p:nvPr/>
        </p:nvSpPr>
        <p:spPr>
          <a:xfrm>
            <a:off x="647700" y="1900238"/>
            <a:ext cx="2305761" cy="159990"/>
          </a:xfrm>
          <a:prstGeom prst="rect">
            <a:avLst/>
          </a:prstGeom>
          <a:noFill/>
          <a:ln/>
        </p:spPr>
        <p:txBody>
          <a:bodyPr wrap="square" lIns="0" tIns="0" rIns="0" bIns="0" rtlCol="0" anchor="t"/>
          <a:lstStyle/>
          <a:p>
            <a:pPr algn="l" indent="0" marL="0">
              <a:lnSpc>
                <a:spcPts val="1260"/>
              </a:lnSpc>
              <a:spcAft>
                <a:spcPts val="1050"/>
              </a:spcAft>
              <a:buNone/>
            </a:pPr>
            <a:r>
              <a:rPr lang="en-US" sz="900" b="1" dirty="0">
                <a:solidFill>
                  <a:srgbClr val="C9A227"/>
                </a:solidFill>
                <a:latin typeface="Arial" pitchFamily="34" charset="0"/>
                <a:ea typeface="Arial" pitchFamily="34" charset="-122"/>
                <a:cs typeface="Arial" pitchFamily="34" charset="-120"/>
              </a:rPr>
              <a:t>Session</a:t>
            </a:r>
            <a:endParaRPr lang="en-US" sz="900" dirty="0"/>
          </a:p>
        </p:txBody>
      </p:sp>
      <p:sp>
        <p:nvSpPr>
          <p:cNvPr id="7" name="Text 5"/>
          <p:cNvSpPr/>
          <p:nvPr/>
        </p:nvSpPr>
        <p:spPr>
          <a:xfrm>
            <a:off x="647700" y="2345978"/>
            <a:ext cx="2305761" cy="159990"/>
          </a:xfrm>
          <a:prstGeom prst="rect">
            <a:avLst/>
          </a:prstGeom>
          <a:noFill/>
          <a:ln/>
        </p:spPr>
        <p:txBody>
          <a:bodyPr wrap="square" lIns="0" tIns="0" rIns="0" bIns="0" rtlCol="0" anchor="t"/>
          <a:lstStyle/>
          <a:p>
            <a:pPr algn="l" indent="0" marL="0">
              <a:lnSpc>
                <a:spcPts val="1260"/>
              </a:lnSpc>
              <a:spcAft>
                <a:spcPts val="225"/>
              </a:spcAft>
              <a:buNone/>
            </a:pPr>
            <a:r>
              <a:rPr lang="en-US" sz="900" dirty="0">
                <a:solidFill>
                  <a:srgbClr val="FFFFFF"/>
                </a:solidFill>
                <a:latin typeface="monospace" pitchFamily="34" charset="0"/>
                <a:ea typeface="monospace" pitchFamily="34" charset="-122"/>
                <a:cs typeface="monospace" pitchFamily="34" charset="-120"/>
              </a:rPr>
              <a:t>/clear</a:t>
            </a:r>
            <a:endParaRPr lang="en-US" sz="900" dirty="0"/>
          </a:p>
        </p:txBody>
      </p:sp>
      <p:sp>
        <p:nvSpPr>
          <p:cNvPr id="8" name="Text 6"/>
          <p:cNvSpPr/>
          <p:nvPr/>
        </p:nvSpPr>
        <p:spPr>
          <a:xfrm>
            <a:off x="647700" y="2534543"/>
            <a:ext cx="2305761" cy="133350"/>
          </a:xfrm>
          <a:prstGeom prst="rect">
            <a:avLst/>
          </a:prstGeom>
          <a:noFill/>
          <a:ln/>
        </p:spPr>
        <p:txBody>
          <a:bodyPr wrap="square" lIns="0" tIns="0" rIns="0" bIns="0" rtlCol="0" anchor="t"/>
          <a:lstStyle/>
          <a:p>
            <a:pPr algn="l" indent="0" marL="0">
              <a:lnSpc>
                <a:spcPts val="1050"/>
              </a:lnSpc>
              <a:buNone/>
            </a:pPr>
            <a:r>
              <a:rPr lang="en-US" sz="750" dirty="0">
                <a:solidFill>
                  <a:srgbClr val="FFFFFF">
                    <a:alpha val="50000"/>
                  </a:srgbClr>
                </a:solidFill>
                <a:latin typeface="Arial" pitchFamily="34" charset="0"/>
                <a:ea typeface="Arial" pitchFamily="34" charset="-122"/>
                <a:cs typeface="Arial" pitchFamily="34" charset="-120"/>
              </a:rPr>
              <a:t>Reset conversation</a:t>
            </a:r>
            <a:endParaRPr lang="en-US" sz="750" dirty="0"/>
          </a:p>
        </p:txBody>
      </p:sp>
      <p:sp>
        <p:nvSpPr>
          <p:cNvPr id="9" name="Text 7"/>
          <p:cNvSpPr/>
          <p:nvPr/>
        </p:nvSpPr>
        <p:spPr>
          <a:xfrm>
            <a:off x="647700" y="2915543"/>
            <a:ext cx="2305761" cy="159990"/>
          </a:xfrm>
          <a:prstGeom prst="rect">
            <a:avLst/>
          </a:prstGeom>
          <a:noFill/>
          <a:ln/>
        </p:spPr>
        <p:txBody>
          <a:bodyPr wrap="square" lIns="0" tIns="0" rIns="0" bIns="0" rtlCol="0" anchor="t"/>
          <a:lstStyle/>
          <a:p>
            <a:pPr algn="l" indent="0" marL="0">
              <a:lnSpc>
                <a:spcPts val="1260"/>
              </a:lnSpc>
              <a:spcAft>
                <a:spcPts val="225"/>
              </a:spcAft>
              <a:buNone/>
            </a:pPr>
            <a:r>
              <a:rPr lang="en-US" sz="900" dirty="0">
                <a:solidFill>
                  <a:srgbClr val="FFFFFF"/>
                </a:solidFill>
                <a:latin typeface="monospace" pitchFamily="34" charset="0"/>
                <a:ea typeface="monospace" pitchFamily="34" charset="-122"/>
                <a:cs typeface="monospace" pitchFamily="34" charset="-120"/>
              </a:rPr>
              <a:t>/compact</a:t>
            </a:r>
            <a:endParaRPr lang="en-US" sz="900" dirty="0"/>
          </a:p>
        </p:txBody>
      </p:sp>
      <p:sp>
        <p:nvSpPr>
          <p:cNvPr id="10" name="Text 8"/>
          <p:cNvSpPr/>
          <p:nvPr/>
        </p:nvSpPr>
        <p:spPr>
          <a:xfrm>
            <a:off x="647700" y="3104108"/>
            <a:ext cx="2305761" cy="133350"/>
          </a:xfrm>
          <a:prstGeom prst="rect">
            <a:avLst/>
          </a:prstGeom>
          <a:noFill/>
          <a:ln/>
        </p:spPr>
        <p:txBody>
          <a:bodyPr wrap="square" lIns="0" tIns="0" rIns="0" bIns="0" rtlCol="0" anchor="t"/>
          <a:lstStyle/>
          <a:p>
            <a:pPr algn="l" indent="0" marL="0">
              <a:lnSpc>
                <a:spcPts val="1050"/>
              </a:lnSpc>
              <a:buNone/>
            </a:pPr>
            <a:r>
              <a:rPr lang="en-US" sz="750" dirty="0">
                <a:solidFill>
                  <a:srgbClr val="FFFFFF">
                    <a:alpha val="50000"/>
                  </a:srgbClr>
                </a:solidFill>
                <a:latin typeface="Arial" pitchFamily="34" charset="0"/>
                <a:ea typeface="Arial" pitchFamily="34" charset="-122"/>
                <a:cs typeface="Arial" pitchFamily="34" charset="-120"/>
              </a:rPr>
              <a:t>Summarize context</a:t>
            </a:r>
            <a:endParaRPr lang="en-US" sz="750" dirty="0"/>
          </a:p>
        </p:txBody>
      </p:sp>
      <p:sp>
        <p:nvSpPr>
          <p:cNvPr id="11" name="Text 9"/>
          <p:cNvSpPr/>
          <p:nvPr/>
        </p:nvSpPr>
        <p:spPr>
          <a:xfrm>
            <a:off x="647700" y="3485108"/>
            <a:ext cx="2305761" cy="159990"/>
          </a:xfrm>
          <a:prstGeom prst="rect">
            <a:avLst/>
          </a:prstGeom>
          <a:noFill/>
          <a:ln/>
        </p:spPr>
        <p:txBody>
          <a:bodyPr wrap="square" lIns="0" tIns="0" rIns="0" bIns="0" rtlCol="0" anchor="t"/>
          <a:lstStyle/>
          <a:p>
            <a:pPr algn="l" indent="0" marL="0">
              <a:lnSpc>
                <a:spcPts val="1260"/>
              </a:lnSpc>
              <a:spcAft>
                <a:spcPts val="225"/>
              </a:spcAft>
              <a:buNone/>
            </a:pPr>
            <a:r>
              <a:rPr lang="en-US" sz="900" dirty="0">
                <a:solidFill>
                  <a:srgbClr val="FFFFFF"/>
                </a:solidFill>
                <a:latin typeface="monospace" pitchFamily="34" charset="0"/>
                <a:ea typeface="monospace" pitchFamily="34" charset="-122"/>
                <a:cs typeface="monospace" pitchFamily="34" charset="-120"/>
              </a:rPr>
              <a:t>/resume</a:t>
            </a:r>
            <a:endParaRPr lang="en-US" sz="900" dirty="0"/>
          </a:p>
        </p:txBody>
      </p:sp>
      <p:sp>
        <p:nvSpPr>
          <p:cNvPr id="12" name="Text 10"/>
          <p:cNvSpPr/>
          <p:nvPr/>
        </p:nvSpPr>
        <p:spPr>
          <a:xfrm>
            <a:off x="647700" y="3673673"/>
            <a:ext cx="2305761" cy="133350"/>
          </a:xfrm>
          <a:prstGeom prst="rect">
            <a:avLst/>
          </a:prstGeom>
          <a:noFill/>
          <a:ln/>
        </p:spPr>
        <p:txBody>
          <a:bodyPr wrap="square" lIns="0" tIns="0" rIns="0" bIns="0" rtlCol="0" anchor="t"/>
          <a:lstStyle/>
          <a:p>
            <a:pPr algn="l" indent="0" marL="0">
              <a:lnSpc>
                <a:spcPts val="1050"/>
              </a:lnSpc>
              <a:buNone/>
            </a:pPr>
            <a:r>
              <a:rPr lang="en-US" sz="750" dirty="0">
                <a:solidFill>
                  <a:srgbClr val="FFFFFF">
                    <a:alpha val="50000"/>
                  </a:srgbClr>
                </a:solidFill>
                <a:latin typeface="Arial" pitchFamily="34" charset="0"/>
                <a:ea typeface="Arial" pitchFamily="34" charset="-122"/>
                <a:cs typeface="Arial" pitchFamily="34" charset="-120"/>
              </a:rPr>
              <a:t>Continue last session</a:t>
            </a:r>
            <a:endParaRPr lang="en-US" sz="750" dirty="0"/>
          </a:p>
        </p:txBody>
      </p:sp>
      <p:sp>
        <p:nvSpPr>
          <p:cNvPr id="13" name="Text 11"/>
          <p:cNvSpPr/>
          <p:nvPr/>
        </p:nvSpPr>
        <p:spPr>
          <a:xfrm>
            <a:off x="647700" y="4054673"/>
            <a:ext cx="2305761" cy="159990"/>
          </a:xfrm>
          <a:prstGeom prst="rect">
            <a:avLst/>
          </a:prstGeom>
          <a:noFill/>
          <a:ln/>
        </p:spPr>
        <p:txBody>
          <a:bodyPr wrap="square" lIns="0" tIns="0" rIns="0" bIns="0" rtlCol="0" anchor="t"/>
          <a:lstStyle/>
          <a:p>
            <a:pPr algn="l" indent="0" marL="0">
              <a:lnSpc>
                <a:spcPts val="1260"/>
              </a:lnSpc>
              <a:spcAft>
                <a:spcPts val="225"/>
              </a:spcAft>
              <a:buNone/>
            </a:pPr>
            <a:r>
              <a:rPr lang="en-US" sz="900" dirty="0">
                <a:solidFill>
                  <a:srgbClr val="FFFFFF"/>
                </a:solidFill>
                <a:latin typeface="monospace" pitchFamily="34" charset="0"/>
                <a:ea typeface="monospace" pitchFamily="34" charset="-122"/>
                <a:cs typeface="monospace" pitchFamily="34" charset="-120"/>
              </a:rPr>
              <a:t>/config</a:t>
            </a:r>
            <a:endParaRPr lang="en-US" sz="900" dirty="0"/>
          </a:p>
        </p:txBody>
      </p:sp>
      <p:sp>
        <p:nvSpPr>
          <p:cNvPr id="14" name="Text 12"/>
          <p:cNvSpPr/>
          <p:nvPr/>
        </p:nvSpPr>
        <p:spPr>
          <a:xfrm>
            <a:off x="647700" y="4243239"/>
            <a:ext cx="2305761" cy="133350"/>
          </a:xfrm>
          <a:prstGeom prst="rect">
            <a:avLst/>
          </a:prstGeom>
          <a:noFill/>
          <a:ln/>
        </p:spPr>
        <p:txBody>
          <a:bodyPr wrap="square" lIns="0" tIns="0" rIns="0" bIns="0" rtlCol="0" anchor="t"/>
          <a:lstStyle/>
          <a:p>
            <a:pPr algn="l" indent="0" marL="0">
              <a:lnSpc>
                <a:spcPts val="1050"/>
              </a:lnSpc>
              <a:buNone/>
            </a:pPr>
            <a:r>
              <a:rPr lang="en-US" sz="750" dirty="0">
                <a:solidFill>
                  <a:srgbClr val="FFFFFF">
                    <a:alpha val="50000"/>
                  </a:srgbClr>
                </a:solidFill>
                <a:latin typeface="Arial" pitchFamily="34" charset="0"/>
                <a:ea typeface="Arial" pitchFamily="34" charset="-122"/>
                <a:cs typeface="Arial" pitchFamily="34" charset="-120"/>
              </a:rPr>
              <a:t>View/edit settings</a:t>
            </a:r>
            <a:endParaRPr lang="en-US" sz="750" dirty="0"/>
          </a:p>
        </p:txBody>
      </p:sp>
      <p:sp>
        <p:nvSpPr>
          <p:cNvPr id="15" name="Text 13"/>
          <p:cNvSpPr/>
          <p:nvPr/>
        </p:nvSpPr>
        <p:spPr>
          <a:xfrm>
            <a:off x="3251150" y="1709738"/>
            <a:ext cx="2641550" cy="2857351"/>
          </a:xfrm>
          <a:prstGeom prst="rect">
            <a:avLst/>
          </a:prstGeom>
          <a:solidFill>
            <a:srgbClr val="252B3D"/>
          </a:solidFill>
          <a:ln/>
        </p:spPr>
        <p:txBody>
          <a:bodyPr wrap="square" rtlCol="0" anchor="ctr"/>
          <a:lstStyle/>
          <a:p>
            <a:pPr indent="0" marL="0">
              <a:buNone/>
            </a:pPr>
            <a:endParaRPr lang="en-US" dirty="0"/>
          </a:p>
        </p:txBody>
      </p:sp>
      <p:sp>
        <p:nvSpPr>
          <p:cNvPr id="16" name="Text 14"/>
          <p:cNvSpPr/>
          <p:nvPr/>
        </p:nvSpPr>
        <p:spPr>
          <a:xfrm>
            <a:off x="3441650" y="1900238"/>
            <a:ext cx="2305761" cy="159990"/>
          </a:xfrm>
          <a:prstGeom prst="rect">
            <a:avLst/>
          </a:prstGeom>
          <a:noFill/>
          <a:ln/>
        </p:spPr>
        <p:txBody>
          <a:bodyPr wrap="square" lIns="0" tIns="0" rIns="0" bIns="0" rtlCol="0" anchor="t"/>
          <a:lstStyle/>
          <a:p>
            <a:pPr algn="l" indent="0" marL="0">
              <a:lnSpc>
                <a:spcPts val="1260"/>
              </a:lnSpc>
              <a:spcAft>
                <a:spcPts val="1050"/>
              </a:spcAft>
              <a:buNone/>
            </a:pPr>
            <a:r>
              <a:rPr lang="en-US" sz="900" b="1" dirty="0">
                <a:solidFill>
                  <a:srgbClr val="C9A227"/>
                </a:solidFill>
                <a:latin typeface="Arial" pitchFamily="34" charset="0"/>
                <a:ea typeface="Arial" pitchFamily="34" charset="-122"/>
                <a:cs typeface="Arial" pitchFamily="34" charset="-120"/>
              </a:rPr>
              <a:t>Information</a:t>
            </a:r>
            <a:endParaRPr lang="en-US" sz="900" dirty="0"/>
          </a:p>
        </p:txBody>
      </p:sp>
      <p:sp>
        <p:nvSpPr>
          <p:cNvPr id="17" name="Text 15"/>
          <p:cNvSpPr/>
          <p:nvPr/>
        </p:nvSpPr>
        <p:spPr>
          <a:xfrm>
            <a:off x="3441650" y="2345978"/>
            <a:ext cx="2305761" cy="159990"/>
          </a:xfrm>
          <a:prstGeom prst="rect">
            <a:avLst/>
          </a:prstGeom>
          <a:noFill/>
          <a:ln/>
        </p:spPr>
        <p:txBody>
          <a:bodyPr wrap="square" lIns="0" tIns="0" rIns="0" bIns="0" rtlCol="0" anchor="t"/>
          <a:lstStyle/>
          <a:p>
            <a:pPr algn="l" indent="0" marL="0">
              <a:lnSpc>
                <a:spcPts val="1260"/>
              </a:lnSpc>
              <a:spcAft>
                <a:spcPts val="225"/>
              </a:spcAft>
              <a:buNone/>
            </a:pPr>
            <a:r>
              <a:rPr lang="en-US" sz="900" dirty="0">
                <a:solidFill>
                  <a:srgbClr val="FFFFFF"/>
                </a:solidFill>
                <a:latin typeface="monospace" pitchFamily="34" charset="0"/>
                <a:ea typeface="monospace" pitchFamily="34" charset="-122"/>
                <a:cs typeface="monospace" pitchFamily="34" charset="-120"/>
              </a:rPr>
              <a:t>/help</a:t>
            </a:r>
            <a:endParaRPr lang="en-US" sz="900" dirty="0"/>
          </a:p>
        </p:txBody>
      </p:sp>
      <p:sp>
        <p:nvSpPr>
          <p:cNvPr id="18" name="Text 16"/>
          <p:cNvSpPr/>
          <p:nvPr/>
        </p:nvSpPr>
        <p:spPr>
          <a:xfrm>
            <a:off x="3441650" y="2534543"/>
            <a:ext cx="2305761" cy="133350"/>
          </a:xfrm>
          <a:prstGeom prst="rect">
            <a:avLst/>
          </a:prstGeom>
          <a:noFill/>
          <a:ln/>
        </p:spPr>
        <p:txBody>
          <a:bodyPr wrap="square" lIns="0" tIns="0" rIns="0" bIns="0" rtlCol="0" anchor="t"/>
          <a:lstStyle/>
          <a:p>
            <a:pPr algn="l" indent="0" marL="0">
              <a:lnSpc>
                <a:spcPts val="1050"/>
              </a:lnSpc>
              <a:buNone/>
            </a:pPr>
            <a:r>
              <a:rPr lang="en-US" sz="750" dirty="0">
                <a:solidFill>
                  <a:srgbClr val="FFFFFF">
                    <a:alpha val="50000"/>
                  </a:srgbClr>
                </a:solidFill>
                <a:latin typeface="Arial" pitchFamily="34" charset="0"/>
                <a:ea typeface="Arial" pitchFamily="34" charset="-122"/>
                <a:cs typeface="Arial" pitchFamily="34" charset="-120"/>
              </a:rPr>
              <a:t>Show all commands</a:t>
            </a:r>
            <a:endParaRPr lang="en-US" sz="750" dirty="0"/>
          </a:p>
        </p:txBody>
      </p:sp>
      <p:sp>
        <p:nvSpPr>
          <p:cNvPr id="19" name="Text 17"/>
          <p:cNvSpPr/>
          <p:nvPr/>
        </p:nvSpPr>
        <p:spPr>
          <a:xfrm>
            <a:off x="3441650" y="2915543"/>
            <a:ext cx="2305761" cy="159990"/>
          </a:xfrm>
          <a:prstGeom prst="rect">
            <a:avLst/>
          </a:prstGeom>
          <a:noFill/>
          <a:ln/>
        </p:spPr>
        <p:txBody>
          <a:bodyPr wrap="square" lIns="0" tIns="0" rIns="0" bIns="0" rtlCol="0" anchor="t"/>
          <a:lstStyle/>
          <a:p>
            <a:pPr algn="l" indent="0" marL="0">
              <a:lnSpc>
                <a:spcPts val="1260"/>
              </a:lnSpc>
              <a:spcAft>
                <a:spcPts val="225"/>
              </a:spcAft>
              <a:buNone/>
            </a:pPr>
            <a:r>
              <a:rPr lang="en-US" sz="900" dirty="0">
                <a:solidFill>
                  <a:srgbClr val="FFFFFF"/>
                </a:solidFill>
                <a:latin typeface="monospace" pitchFamily="34" charset="0"/>
                <a:ea typeface="monospace" pitchFamily="34" charset="-122"/>
                <a:cs typeface="monospace" pitchFamily="34" charset="-120"/>
              </a:rPr>
              <a:t>/cost</a:t>
            </a:r>
            <a:endParaRPr lang="en-US" sz="900" dirty="0"/>
          </a:p>
        </p:txBody>
      </p:sp>
      <p:sp>
        <p:nvSpPr>
          <p:cNvPr id="20" name="Text 18"/>
          <p:cNvSpPr/>
          <p:nvPr/>
        </p:nvSpPr>
        <p:spPr>
          <a:xfrm>
            <a:off x="3441650" y="3104108"/>
            <a:ext cx="2305761" cy="133350"/>
          </a:xfrm>
          <a:prstGeom prst="rect">
            <a:avLst/>
          </a:prstGeom>
          <a:noFill/>
          <a:ln/>
        </p:spPr>
        <p:txBody>
          <a:bodyPr wrap="square" lIns="0" tIns="0" rIns="0" bIns="0" rtlCol="0" anchor="t"/>
          <a:lstStyle/>
          <a:p>
            <a:pPr algn="l" indent="0" marL="0">
              <a:lnSpc>
                <a:spcPts val="1050"/>
              </a:lnSpc>
              <a:buNone/>
            </a:pPr>
            <a:r>
              <a:rPr lang="en-US" sz="750" dirty="0">
                <a:solidFill>
                  <a:srgbClr val="FFFFFF">
                    <a:alpha val="50000"/>
                  </a:srgbClr>
                </a:solidFill>
                <a:latin typeface="Arial" pitchFamily="34" charset="0"/>
                <a:ea typeface="Arial" pitchFamily="34" charset="-122"/>
                <a:cs typeface="Arial" pitchFamily="34" charset="-120"/>
              </a:rPr>
              <a:t>Show token usage</a:t>
            </a:r>
            <a:endParaRPr lang="en-US" sz="750" dirty="0"/>
          </a:p>
        </p:txBody>
      </p:sp>
      <p:sp>
        <p:nvSpPr>
          <p:cNvPr id="21" name="Text 19"/>
          <p:cNvSpPr/>
          <p:nvPr/>
        </p:nvSpPr>
        <p:spPr>
          <a:xfrm>
            <a:off x="3441650" y="3485108"/>
            <a:ext cx="2305761" cy="159990"/>
          </a:xfrm>
          <a:prstGeom prst="rect">
            <a:avLst/>
          </a:prstGeom>
          <a:noFill/>
          <a:ln/>
        </p:spPr>
        <p:txBody>
          <a:bodyPr wrap="square" lIns="0" tIns="0" rIns="0" bIns="0" rtlCol="0" anchor="t"/>
          <a:lstStyle/>
          <a:p>
            <a:pPr algn="l" indent="0" marL="0">
              <a:lnSpc>
                <a:spcPts val="1260"/>
              </a:lnSpc>
              <a:spcAft>
                <a:spcPts val="225"/>
              </a:spcAft>
              <a:buNone/>
            </a:pPr>
            <a:r>
              <a:rPr lang="en-US" sz="900" dirty="0">
                <a:solidFill>
                  <a:srgbClr val="FFFFFF"/>
                </a:solidFill>
                <a:latin typeface="monospace" pitchFamily="34" charset="0"/>
                <a:ea typeface="monospace" pitchFamily="34" charset="-122"/>
                <a:cs typeface="monospace" pitchFamily="34" charset="-120"/>
              </a:rPr>
              <a:t>/status</a:t>
            </a:r>
            <a:endParaRPr lang="en-US" sz="900" dirty="0"/>
          </a:p>
        </p:txBody>
      </p:sp>
      <p:sp>
        <p:nvSpPr>
          <p:cNvPr id="22" name="Text 20"/>
          <p:cNvSpPr/>
          <p:nvPr/>
        </p:nvSpPr>
        <p:spPr>
          <a:xfrm>
            <a:off x="3441650" y="3673673"/>
            <a:ext cx="2305761" cy="133350"/>
          </a:xfrm>
          <a:prstGeom prst="rect">
            <a:avLst/>
          </a:prstGeom>
          <a:noFill/>
          <a:ln/>
        </p:spPr>
        <p:txBody>
          <a:bodyPr wrap="square" lIns="0" tIns="0" rIns="0" bIns="0" rtlCol="0" anchor="t"/>
          <a:lstStyle/>
          <a:p>
            <a:pPr algn="l" indent="0" marL="0">
              <a:lnSpc>
                <a:spcPts val="1050"/>
              </a:lnSpc>
              <a:buNone/>
            </a:pPr>
            <a:r>
              <a:rPr lang="en-US" sz="750" dirty="0">
                <a:solidFill>
                  <a:srgbClr val="FFFFFF">
                    <a:alpha val="50000"/>
                  </a:srgbClr>
                </a:solidFill>
                <a:latin typeface="Arial" pitchFamily="34" charset="0"/>
                <a:ea typeface="Arial" pitchFamily="34" charset="-122"/>
                <a:cs typeface="Arial" pitchFamily="34" charset="-120"/>
              </a:rPr>
              <a:t>Current session info</a:t>
            </a:r>
            <a:endParaRPr lang="en-US" sz="750" dirty="0"/>
          </a:p>
        </p:txBody>
      </p:sp>
      <p:sp>
        <p:nvSpPr>
          <p:cNvPr id="23" name="Text 21"/>
          <p:cNvSpPr/>
          <p:nvPr/>
        </p:nvSpPr>
        <p:spPr>
          <a:xfrm>
            <a:off x="3441650" y="4054673"/>
            <a:ext cx="2305761" cy="159990"/>
          </a:xfrm>
          <a:prstGeom prst="rect">
            <a:avLst/>
          </a:prstGeom>
          <a:noFill/>
          <a:ln/>
        </p:spPr>
        <p:txBody>
          <a:bodyPr wrap="square" lIns="0" tIns="0" rIns="0" bIns="0" rtlCol="0" anchor="t"/>
          <a:lstStyle/>
          <a:p>
            <a:pPr algn="l" indent="0" marL="0">
              <a:lnSpc>
                <a:spcPts val="1260"/>
              </a:lnSpc>
              <a:spcAft>
                <a:spcPts val="225"/>
              </a:spcAft>
              <a:buNone/>
            </a:pPr>
            <a:r>
              <a:rPr lang="en-US" sz="900" dirty="0">
                <a:solidFill>
                  <a:srgbClr val="FFFFFF"/>
                </a:solidFill>
                <a:latin typeface="monospace" pitchFamily="34" charset="0"/>
                <a:ea typeface="monospace" pitchFamily="34" charset="-122"/>
                <a:cs typeface="monospace" pitchFamily="34" charset="-120"/>
              </a:rPr>
              <a:t>/doctor</a:t>
            </a:r>
            <a:endParaRPr lang="en-US" sz="900" dirty="0"/>
          </a:p>
        </p:txBody>
      </p:sp>
      <p:sp>
        <p:nvSpPr>
          <p:cNvPr id="24" name="Text 22"/>
          <p:cNvSpPr/>
          <p:nvPr/>
        </p:nvSpPr>
        <p:spPr>
          <a:xfrm>
            <a:off x="3441650" y="4243239"/>
            <a:ext cx="2305761" cy="133350"/>
          </a:xfrm>
          <a:prstGeom prst="rect">
            <a:avLst/>
          </a:prstGeom>
          <a:noFill/>
          <a:ln/>
        </p:spPr>
        <p:txBody>
          <a:bodyPr wrap="square" lIns="0" tIns="0" rIns="0" bIns="0" rtlCol="0" anchor="t"/>
          <a:lstStyle/>
          <a:p>
            <a:pPr algn="l" indent="0" marL="0">
              <a:lnSpc>
                <a:spcPts val="1050"/>
              </a:lnSpc>
              <a:buNone/>
            </a:pPr>
            <a:r>
              <a:rPr lang="en-US" sz="750" dirty="0">
                <a:solidFill>
                  <a:srgbClr val="FFFFFF">
                    <a:alpha val="50000"/>
                  </a:srgbClr>
                </a:solidFill>
                <a:latin typeface="Arial" pitchFamily="34" charset="0"/>
                <a:ea typeface="Arial" pitchFamily="34" charset="-122"/>
                <a:cs typeface="Arial" pitchFamily="34" charset="-120"/>
              </a:rPr>
              <a:t>Diagnose issues</a:t>
            </a:r>
            <a:endParaRPr lang="en-US" sz="750" dirty="0"/>
          </a:p>
        </p:txBody>
      </p:sp>
      <p:sp>
        <p:nvSpPr>
          <p:cNvPr id="25" name="Text 23"/>
          <p:cNvSpPr/>
          <p:nvPr/>
        </p:nvSpPr>
        <p:spPr>
          <a:xfrm>
            <a:off x="6045101" y="1709738"/>
            <a:ext cx="2641550" cy="2857351"/>
          </a:xfrm>
          <a:prstGeom prst="rect">
            <a:avLst/>
          </a:prstGeom>
          <a:solidFill>
            <a:srgbClr val="252B3D"/>
          </a:solidFill>
          <a:ln/>
        </p:spPr>
        <p:txBody>
          <a:bodyPr wrap="square" rtlCol="0" anchor="ctr"/>
          <a:lstStyle/>
          <a:p>
            <a:pPr indent="0" marL="0">
              <a:buNone/>
            </a:pPr>
            <a:endParaRPr lang="en-US" dirty="0"/>
          </a:p>
        </p:txBody>
      </p:sp>
      <p:sp>
        <p:nvSpPr>
          <p:cNvPr id="26" name="Text 24"/>
          <p:cNvSpPr/>
          <p:nvPr/>
        </p:nvSpPr>
        <p:spPr>
          <a:xfrm>
            <a:off x="6235601" y="1900238"/>
            <a:ext cx="2305761" cy="159990"/>
          </a:xfrm>
          <a:prstGeom prst="rect">
            <a:avLst/>
          </a:prstGeom>
          <a:noFill/>
          <a:ln/>
        </p:spPr>
        <p:txBody>
          <a:bodyPr wrap="square" lIns="0" tIns="0" rIns="0" bIns="0" rtlCol="0" anchor="t"/>
          <a:lstStyle/>
          <a:p>
            <a:pPr algn="l" indent="0" marL="0">
              <a:lnSpc>
                <a:spcPts val="1260"/>
              </a:lnSpc>
              <a:spcAft>
                <a:spcPts val="1050"/>
              </a:spcAft>
              <a:buNone/>
            </a:pPr>
            <a:r>
              <a:rPr lang="en-US" sz="900" b="1" dirty="0">
                <a:solidFill>
                  <a:srgbClr val="C9A227"/>
                </a:solidFill>
                <a:latin typeface="Arial" pitchFamily="34" charset="0"/>
                <a:ea typeface="Arial" pitchFamily="34" charset="-122"/>
                <a:cs typeface="Arial" pitchFamily="34" charset="-120"/>
              </a:rPr>
              <a:t>Actions</a:t>
            </a:r>
            <a:endParaRPr lang="en-US" sz="900" dirty="0"/>
          </a:p>
        </p:txBody>
      </p:sp>
      <p:sp>
        <p:nvSpPr>
          <p:cNvPr id="27" name="Text 25"/>
          <p:cNvSpPr/>
          <p:nvPr/>
        </p:nvSpPr>
        <p:spPr>
          <a:xfrm>
            <a:off x="6235601" y="2345978"/>
            <a:ext cx="2305761" cy="159990"/>
          </a:xfrm>
          <a:prstGeom prst="rect">
            <a:avLst/>
          </a:prstGeom>
          <a:noFill/>
          <a:ln/>
        </p:spPr>
        <p:txBody>
          <a:bodyPr wrap="square" lIns="0" tIns="0" rIns="0" bIns="0" rtlCol="0" anchor="t"/>
          <a:lstStyle/>
          <a:p>
            <a:pPr algn="l" indent="0" marL="0">
              <a:lnSpc>
                <a:spcPts val="1260"/>
              </a:lnSpc>
              <a:spcAft>
                <a:spcPts val="225"/>
              </a:spcAft>
              <a:buNone/>
            </a:pPr>
            <a:r>
              <a:rPr lang="en-US" sz="900" dirty="0">
                <a:solidFill>
                  <a:srgbClr val="FFFFFF"/>
                </a:solidFill>
                <a:latin typeface="monospace" pitchFamily="34" charset="0"/>
                <a:ea typeface="monospace" pitchFamily="34" charset="-122"/>
                <a:cs typeface="monospace" pitchFamily="34" charset="-120"/>
              </a:rPr>
              <a:t>/init</a:t>
            </a:r>
            <a:endParaRPr lang="en-US" sz="900" dirty="0"/>
          </a:p>
        </p:txBody>
      </p:sp>
      <p:sp>
        <p:nvSpPr>
          <p:cNvPr id="28" name="Text 26"/>
          <p:cNvSpPr/>
          <p:nvPr/>
        </p:nvSpPr>
        <p:spPr>
          <a:xfrm>
            <a:off x="6235601" y="2534543"/>
            <a:ext cx="2305761" cy="133350"/>
          </a:xfrm>
          <a:prstGeom prst="rect">
            <a:avLst/>
          </a:prstGeom>
          <a:noFill/>
          <a:ln/>
        </p:spPr>
        <p:txBody>
          <a:bodyPr wrap="square" lIns="0" tIns="0" rIns="0" bIns="0" rtlCol="0" anchor="t"/>
          <a:lstStyle/>
          <a:p>
            <a:pPr algn="l" indent="0" marL="0">
              <a:lnSpc>
                <a:spcPts val="1050"/>
              </a:lnSpc>
              <a:buNone/>
            </a:pPr>
            <a:r>
              <a:rPr lang="en-US" sz="750" dirty="0">
                <a:solidFill>
                  <a:srgbClr val="FFFFFF">
                    <a:alpha val="50000"/>
                  </a:srgbClr>
                </a:solidFill>
                <a:latin typeface="Arial" pitchFamily="34" charset="0"/>
                <a:ea typeface="Arial" pitchFamily="34" charset="-122"/>
                <a:cs typeface="Arial" pitchFamily="34" charset="-120"/>
              </a:rPr>
              <a:t>Create CLAUDE.md</a:t>
            </a:r>
            <a:endParaRPr lang="en-US" sz="750" dirty="0"/>
          </a:p>
        </p:txBody>
      </p:sp>
      <p:sp>
        <p:nvSpPr>
          <p:cNvPr id="29" name="Text 27"/>
          <p:cNvSpPr/>
          <p:nvPr/>
        </p:nvSpPr>
        <p:spPr>
          <a:xfrm>
            <a:off x="6235601" y="2915543"/>
            <a:ext cx="2305761" cy="159990"/>
          </a:xfrm>
          <a:prstGeom prst="rect">
            <a:avLst/>
          </a:prstGeom>
          <a:noFill/>
          <a:ln/>
        </p:spPr>
        <p:txBody>
          <a:bodyPr wrap="square" lIns="0" tIns="0" rIns="0" bIns="0" rtlCol="0" anchor="t"/>
          <a:lstStyle/>
          <a:p>
            <a:pPr algn="l" indent="0" marL="0">
              <a:lnSpc>
                <a:spcPts val="1260"/>
              </a:lnSpc>
              <a:spcAft>
                <a:spcPts val="225"/>
              </a:spcAft>
              <a:buNone/>
            </a:pPr>
            <a:r>
              <a:rPr lang="en-US" sz="900" dirty="0">
                <a:solidFill>
                  <a:srgbClr val="FFFFFF"/>
                </a:solidFill>
                <a:latin typeface="monospace" pitchFamily="34" charset="0"/>
                <a:ea typeface="monospace" pitchFamily="34" charset="-122"/>
                <a:cs typeface="monospace" pitchFamily="34" charset="-120"/>
              </a:rPr>
              <a:t>/add-dir</a:t>
            </a:r>
            <a:endParaRPr lang="en-US" sz="900" dirty="0"/>
          </a:p>
        </p:txBody>
      </p:sp>
      <p:sp>
        <p:nvSpPr>
          <p:cNvPr id="30" name="Text 28"/>
          <p:cNvSpPr/>
          <p:nvPr/>
        </p:nvSpPr>
        <p:spPr>
          <a:xfrm>
            <a:off x="6235601" y="3104108"/>
            <a:ext cx="2305761" cy="133350"/>
          </a:xfrm>
          <a:prstGeom prst="rect">
            <a:avLst/>
          </a:prstGeom>
          <a:noFill/>
          <a:ln/>
        </p:spPr>
        <p:txBody>
          <a:bodyPr wrap="square" lIns="0" tIns="0" rIns="0" bIns="0" rtlCol="0" anchor="t"/>
          <a:lstStyle/>
          <a:p>
            <a:pPr algn="l" indent="0" marL="0">
              <a:lnSpc>
                <a:spcPts val="1050"/>
              </a:lnSpc>
              <a:buNone/>
            </a:pPr>
            <a:r>
              <a:rPr lang="en-US" sz="750" dirty="0">
                <a:solidFill>
                  <a:srgbClr val="FFFFFF">
                    <a:alpha val="50000"/>
                  </a:srgbClr>
                </a:solidFill>
                <a:latin typeface="Arial" pitchFamily="34" charset="0"/>
                <a:ea typeface="Arial" pitchFamily="34" charset="-122"/>
                <a:cs typeface="Arial" pitchFamily="34" charset="-120"/>
              </a:rPr>
              <a:t>Add folder to context</a:t>
            </a:r>
            <a:endParaRPr lang="en-US" sz="750" dirty="0"/>
          </a:p>
        </p:txBody>
      </p:sp>
      <p:sp>
        <p:nvSpPr>
          <p:cNvPr id="31" name="Text 29"/>
          <p:cNvSpPr/>
          <p:nvPr/>
        </p:nvSpPr>
        <p:spPr>
          <a:xfrm>
            <a:off x="6235601" y="3485108"/>
            <a:ext cx="2305761" cy="159990"/>
          </a:xfrm>
          <a:prstGeom prst="rect">
            <a:avLst/>
          </a:prstGeom>
          <a:noFill/>
          <a:ln/>
        </p:spPr>
        <p:txBody>
          <a:bodyPr wrap="square" lIns="0" tIns="0" rIns="0" bIns="0" rtlCol="0" anchor="t"/>
          <a:lstStyle/>
          <a:p>
            <a:pPr algn="l" indent="0" marL="0">
              <a:lnSpc>
                <a:spcPts val="1260"/>
              </a:lnSpc>
              <a:spcAft>
                <a:spcPts val="225"/>
              </a:spcAft>
              <a:buNone/>
            </a:pPr>
            <a:r>
              <a:rPr lang="en-US" sz="900" dirty="0">
                <a:solidFill>
                  <a:srgbClr val="FFFFFF"/>
                </a:solidFill>
                <a:latin typeface="monospace" pitchFamily="34" charset="0"/>
                <a:ea typeface="monospace" pitchFamily="34" charset="-122"/>
                <a:cs typeface="monospace" pitchFamily="34" charset="-120"/>
              </a:rPr>
              <a:t>/bug</a:t>
            </a:r>
            <a:endParaRPr lang="en-US" sz="900" dirty="0"/>
          </a:p>
        </p:txBody>
      </p:sp>
      <p:sp>
        <p:nvSpPr>
          <p:cNvPr id="32" name="Text 30"/>
          <p:cNvSpPr/>
          <p:nvPr/>
        </p:nvSpPr>
        <p:spPr>
          <a:xfrm>
            <a:off x="6235601" y="3673673"/>
            <a:ext cx="2305761" cy="133350"/>
          </a:xfrm>
          <a:prstGeom prst="rect">
            <a:avLst/>
          </a:prstGeom>
          <a:noFill/>
          <a:ln/>
        </p:spPr>
        <p:txBody>
          <a:bodyPr wrap="square" lIns="0" tIns="0" rIns="0" bIns="0" rtlCol="0" anchor="t"/>
          <a:lstStyle/>
          <a:p>
            <a:pPr algn="l" indent="0" marL="0">
              <a:lnSpc>
                <a:spcPts val="1050"/>
              </a:lnSpc>
              <a:buNone/>
            </a:pPr>
            <a:r>
              <a:rPr lang="en-US" sz="750" dirty="0">
                <a:solidFill>
                  <a:srgbClr val="FFFFFF">
                    <a:alpha val="50000"/>
                  </a:srgbClr>
                </a:solidFill>
                <a:latin typeface="Arial" pitchFamily="34" charset="0"/>
                <a:ea typeface="Arial" pitchFamily="34" charset="-122"/>
                <a:cs typeface="Arial" pitchFamily="34" charset="-120"/>
              </a:rPr>
              <a:t>Report a bug</a:t>
            </a:r>
            <a:endParaRPr lang="en-US" sz="750" dirty="0"/>
          </a:p>
        </p:txBody>
      </p:sp>
      <p:sp>
        <p:nvSpPr>
          <p:cNvPr id="33" name="Text 31"/>
          <p:cNvSpPr/>
          <p:nvPr/>
        </p:nvSpPr>
        <p:spPr>
          <a:xfrm>
            <a:off x="6235601" y="4054673"/>
            <a:ext cx="2305761" cy="159990"/>
          </a:xfrm>
          <a:prstGeom prst="rect">
            <a:avLst/>
          </a:prstGeom>
          <a:noFill/>
          <a:ln/>
        </p:spPr>
        <p:txBody>
          <a:bodyPr wrap="square" lIns="0" tIns="0" rIns="0" bIns="0" rtlCol="0" anchor="t"/>
          <a:lstStyle/>
          <a:p>
            <a:pPr algn="l" indent="0" marL="0">
              <a:lnSpc>
                <a:spcPts val="1260"/>
              </a:lnSpc>
              <a:spcAft>
                <a:spcPts val="225"/>
              </a:spcAft>
              <a:buNone/>
            </a:pPr>
            <a:r>
              <a:rPr lang="en-US" sz="900" dirty="0">
                <a:solidFill>
                  <a:srgbClr val="FFFFFF"/>
                </a:solidFill>
                <a:latin typeface="monospace" pitchFamily="34" charset="0"/>
                <a:ea typeface="monospace" pitchFamily="34" charset="-122"/>
                <a:cs typeface="monospace" pitchFamily="34" charset="-120"/>
              </a:rPr>
              <a:t>/login</a:t>
            </a:r>
            <a:endParaRPr lang="en-US" sz="900" dirty="0"/>
          </a:p>
        </p:txBody>
      </p:sp>
      <p:sp>
        <p:nvSpPr>
          <p:cNvPr id="34" name="Text 32"/>
          <p:cNvSpPr/>
          <p:nvPr/>
        </p:nvSpPr>
        <p:spPr>
          <a:xfrm>
            <a:off x="6235601" y="4243239"/>
            <a:ext cx="2305761" cy="133350"/>
          </a:xfrm>
          <a:prstGeom prst="rect">
            <a:avLst/>
          </a:prstGeom>
          <a:noFill/>
          <a:ln/>
        </p:spPr>
        <p:txBody>
          <a:bodyPr wrap="square" lIns="0" tIns="0" rIns="0" bIns="0" rtlCol="0" anchor="t"/>
          <a:lstStyle/>
          <a:p>
            <a:pPr algn="l" indent="0" marL="0">
              <a:lnSpc>
                <a:spcPts val="1050"/>
              </a:lnSpc>
              <a:buNone/>
            </a:pPr>
            <a:r>
              <a:rPr lang="en-US" sz="750" dirty="0">
                <a:solidFill>
                  <a:srgbClr val="FFFFFF">
                    <a:alpha val="50000"/>
                  </a:srgbClr>
                </a:solidFill>
                <a:latin typeface="Arial" pitchFamily="34" charset="0"/>
                <a:ea typeface="Arial" pitchFamily="34" charset="-122"/>
                <a:cs typeface="Arial" pitchFamily="34" charset="-120"/>
              </a:rPr>
              <a:t>Re-authenticate</a:t>
            </a:r>
            <a:endParaRPr lang="en-US" sz="7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4944070" cy="5143500"/>
          </a:xfrm>
          <a:prstGeom prst="rect">
            <a:avLst/>
          </a:prstGeom>
          <a:solidFill>
            <a:srgbClr val="F7F8FA"/>
          </a:solidFill>
          <a:ln/>
        </p:spPr>
        <p:txBody>
          <a:bodyPr wrap="square" rtlCol="0" anchor="ctr"/>
          <a:lstStyle/>
          <a:p>
            <a:pPr indent="0" marL="0">
              <a:buNone/>
            </a:pPr>
            <a:endParaRPr lang="en-US" dirty="0"/>
          </a:p>
        </p:txBody>
      </p:sp>
      <p:sp>
        <p:nvSpPr>
          <p:cNvPr id="3" name="Text 1"/>
          <p:cNvSpPr/>
          <p:nvPr/>
        </p:nvSpPr>
        <p:spPr>
          <a:xfrm>
            <a:off x="342900" y="504081"/>
            <a:ext cx="930259" cy="133350"/>
          </a:xfrm>
          <a:prstGeom prst="rect">
            <a:avLst/>
          </a:prstGeom>
          <a:noFill/>
          <a:ln/>
        </p:spPr>
        <p:txBody>
          <a:bodyPr wrap="square" lIns="0" tIns="0" rIns="0" bIns="0" rtlCol="0" anchor="t"/>
          <a:lstStyle/>
          <a:p>
            <a:pPr algn="l" indent="0" marL="0">
              <a:lnSpc>
                <a:spcPts val="1050"/>
              </a:lnSpc>
              <a:buNone/>
            </a:pPr>
            <a:r>
              <a:rPr lang="en-US" sz="750" dirty="0">
                <a:solidFill>
                  <a:srgbClr val="C9A227"/>
                </a:solidFill>
                <a:latin typeface="Arial" pitchFamily="34" charset="0"/>
                <a:ea typeface="Arial" pitchFamily="34" charset="-122"/>
                <a:cs typeface="Arial" pitchFamily="34" charset="-120"/>
              </a:rPr>
              <a:t>AUTOMATION</a:t>
            </a:r>
            <a:endParaRPr lang="en-US" sz="750" dirty="0"/>
          </a:p>
        </p:txBody>
      </p:sp>
      <p:sp>
        <p:nvSpPr>
          <p:cNvPr id="4" name="Text 2"/>
          <p:cNvSpPr/>
          <p:nvPr/>
        </p:nvSpPr>
        <p:spPr>
          <a:xfrm>
            <a:off x="342900" y="846981"/>
            <a:ext cx="2176272" cy="266700"/>
          </a:xfrm>
          <a:prstGeom prst="rect">
            <a:avLst/>
          </a:prstGeom>
          <a:noFill/>
          <a:ln/>
        </p:spPr>
        <p:txBody>
          <a:bodyPr wrap="square" lIns="0" tIns="0" rIns="0" bIns="0" rtlCol="0" anchor="t"/>
          <a:lstStyle/>
          <a:p>
            <a:pPr algn="l" indent="0" marL="0">
              <a:lnSpc>
                <a:spcPts val="2100"/>
              </a:lnSpc>
              <a:spcAft>
                <a:spcPts val="450"/>
              </a:spcAft>
              <a:buNone/>
            </a:pPr>
            <a:r>
              <a:rPr lang="en-US" sz="2100" dirty="0">
                <a:solidFill>
                  <a:srgbClr val="1A1F2E"/>
                </a:solidFill>
                <a:latin typeface="Georgia" pitchFamily="34" charset="0"/>
                <a:ea typeface="Georgia" pitchFamily="34" charset="-122"/>
                <a:cs typeface="Georgia" pitchFamily="34" charset="-120"/>
              </a:rPr>
              <a:t>Hooks System</a:t>
            </a:r>
            <a:endParaRPr lang="en-US" sz="2100" dirty="0"/>
          </a:p>
        </p:txBody>
      </p:sp>
      <p:sp>
        <p:nvSpPr>
          <p:cNvPr id="5" name="Text 3"/>
          <p:cNvSpPr/>
          <p:nvPr/>
        </p:nvSpPr>
        <p:spPr>
          <a:xfrm>
            <a:off x="342900" y="1323231"/>
            <a:ext cx="4343436" cy="173236"/>
          </a:xfrm>
          <a:prstGeom prst="rect">
            <a:avLst/>
          </a:prstGeom>
          <a:noFill/>
          <a:ln/>
        </p:spPr>
        <p:txBody>
          <a:bodyPr wrap="square" lIns="0" tIns="0" rIns="0" bIns="0" rtlCol="0" anchor="t"/>
          <a:lstStyle/>
          <a:p>
            <a:pPr algn="l" indent="0" marL="0">
              <a:lnSpc>
                <a:spcPts val="1365"/>
              </a:lnSpc>
              <a:spcAft>
                <a:spcPts val="1200"/>
              </a:spcAft>
              <a:buNone/>
            </a:pPr>
            <a:r>
              <a:rPr lang="en-US" sz="975" dirty="0">
                <a:solidFill>
                  <a:srgbClr val="6B7280"/>
                </a:solidFill>
                <a:latin typeface="Arial" pitchFamily="34" charset="0"/>
                <a:ea typeface="Arial" pitchFamily="34" charset="-122"/>
                <a:cs typeface="Arial" pitchFamily="34" charset="-120"/>
              </a:rPr>
              <a:t>Run scripts at key points in Claude's workflow</a:t>
            </a:r>
            <a:endParaRPr lang="en-US" sz="975" dirty="0"/>
          </a:p>
        </p:txBody>
      </p:sp>
      <p:sp>
        <p:nvSpPr>
          <p:cNvPr id="6" name="Text 4"/>
          <p:cNvSpPr/>
          <p:nvPr/>
        </p:nvSpPr>
        <p:spPr>
          <a:xfrm>
            <a:off x="342900" y="1801267"/>
            <a:ext cx="4258270" cy="592336"/>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7" name="Text 5"/>
          <p:cNvSpPr/>
          <p:nvPr/>
        </p:nvSpPr>
        <p:spPr>
          <a:xfrm>
            <a:off x="466725" y="1925092"/>
            <a:ext cx="4090833" cy="159990"/>
          </a:xfrm>
          <a:prstGeom prst="rect">
            <a:avLst/>
          </a:prstGeom>
          <a:noFill/>
          <a:ln/>
        </p:spPr>
        <p:txBody>
          <a:bodyPr wrap="square" lIns="0" tIns="0" rIns="0" bIns="0" rtlCol="0" anchor="t"/>
          <a:lstStyle/>
          <a:p>
            <a:pPr algn="l" indent="0" marL="0">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PreToolUse</a:t>
            </a:r>
            <a:endParaRPr lang="en-US" sz="900" dirty="0"/>
          </a:p>
        </p:txBody>
      </p:sp>
      <p:sp>
        <p:nvSpPr>
          <p:cNvPr id="8" name="Text 6"/>
          <p:cNvSpPr/>
          <p:nvPr/>
        </p:nvSpPr>
        <p:spPr>
          <a:xfrm>
            <a:off x="466725" y="2123182"/>
            <a:ext cx="4090833" cy="146596"/>
          </a:xfrm>
          <a:prstGeom prst="rect">
            <a:avLst/>
          </a:prstGeom>
          <a:noFill/>
          <a:ln/>
        </p:spPr>
        <p:txBody>
          <a:bodyPr wrap="square" lIns="0" tIns="0" rIns="0" bIns="0" rtlCol="0" anchor="t"/>
          <a:lstStyle/>
          <a:p>
            <a:pPr algn="l" indent="0" marL="0">
              <a:lnSpc>
                <a:spcPts val="1155"/>
              </a:lnSpc>
              <a:buNone/>
            </a:pPr>
            <a:r>
              <a:rPr lang="en-US" sz="825" dirty="0">
                <a:solidFill>
                  <a:srgbClr val="6B7280"/>
                </a:solidFill>
                <a:latin typeface="Arial" pitchFamily="34" charset="0"/>
                <a:ea typeface="Arial" pitchFamily="34" charset="-122"/>
                <a:cs typeface="Arial" pitchFamily="34" charset="-120"/>
              </a:rPr>
              <a:t>Run before Claude executes a tool (read, write, bash)</a:t>
            </a:r>
            <a:endParaRPr lang="en-US" sz="825" dirty="0"/>
          </a:p>
        </p:txBody>
      </p:sp>
      <p:sp>
        <p:nvSpPr>
          <p:cNvPr id="9" name="Text 7"/>
          <p:cNvSpPr/>
          <p:nvPr/>
        </p:nvSpPr>
        <p:spPr>
          <a:xfrm>
            <a:off x="342900" y="2622203"/>
            <a:ext cx="4258270" cy="592336"/>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0" name="Text 8"/>
          <p:cNvSpPr/>
          <p:nvPr/>
        </p:nvSpPr>
        <p:spPr>
          <a:xfrm>
            <a:off x="466725" y="2746028"/>
            <a:ext cx="4090833" cy="159990"/>
          </a:xfrm>
          <a:prstGeom prst="rect">
            <a:avLst/>
          </a:prstGeom>
          <a:noFill/>
          <a:ln/>
        </p:spPr>
        <p:txBody>
          <a:bodyPr wrap="square" lIns="0" tIns="0" rIns="0" bIns="0" rtlCol="0" anchor="t"/>
          <a:lstStyle/>
          <a:p>
            <a:pPr algn="l" indent="0" marL="0">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PostToolUse</a:t>
            </a:r>
            <a:endParaRPr lang="en-US" sz="900" dirty="0"/>
          </a:p>
        </p:txBody>
      </p:sp>
      <p:sp>
        <p:nvSpPr>
          <p:cNvPr id="11" name="Text 9"/>
          <p:cNvSpPr/>
          <p:nvPr/>
        </p:nvSpPr>
        <p:spPr>
          <a:xfrm>
            <a:off x="466725" y="2944118"/>
            <a:ext cx="4090833" cy="146596"/>
          </a:xfrm>
          <a:prstGeom prst="rect">
            <a:avLst/>
          </a:prstGeom>
          <a:noFill/>
          <a:ln/>
        </p:spPr>
        <p:txBody>
          <a:bodyPr wrap="square" lIns="0" tIns="0" rIns="0" bIns="0" rtlCol="0" anchor="t"/>
          <a:lstStyle/>
          <a:p>
            <a:pPr algn="l" indent="0" marL="0">
              <a:lnSpc>
                <a:spcPts val="1155"/>
              </a:lnSpc>
              <a:buNone/>
            </a:pPr>
            <a:r>
              <a:rPr lang="en-US" sz="825" dirty="0">
                <a:solidFill>
                  <a:srgbClr val="6B7280"/>
                </a:solidFill>
                <a:latin typeface="Arial" pitchFamily="34" charset="0"/>
                <a:ea typeface="Arial" pitchFamily="34" charset="-122"/>
                <a:cs typeface="Arial" pitchFamily="34" charset="-120"/>
              </a:rPr>
              <a:t>Run after a tool completes (log actions, format code)</a:t>
            </a:r>
            <a:endParaRPr lang="en-US" sz="825" dirty="0"/>
          </a:p>
        </p:txBody>
      </p:sp>
      <p:sp>
        <p:nvSpPr>
          <p:cNvPr id="12" name="Text 10"/>
          <p:cNvSpPr/>
          <p:nvPr/>
        </p:nvSpPr>
        <p:spPr>
          <a:xfrm>
            <a:off x="342900" y="3443139"/>
            <a:ext cx="4258270" cy="592336"/>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3" name="Text 11"/>
          <p:cNvSpPr/>
          <p:nvPr/>
        </p:nvSpPr>
        <p:spPr>
          <a:xfrm>
            <a:off x="466725" y="3566964"/>
            <a:ext cx="4090833" cy="159990"/>
          </a:xfrm>
          <a:prstGeom prst="rect">
            <a:avLst/>
          </a:prstGeom>
          <a:noFill/>
          <a:ln/>
        </p:spPr>
        <p:txBody>
          <a:bodyPr wrap="square" lIns="0" tIns="0" rIns="0" bIns="0" rtlCol="0" anchor="t"/>
          <a:lstStyle/>
          <a:p>
            <a:pPr algn="l" indent="0" marL="0">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Notification</a:t>
            </a:r>
            <a:endParaRPr lang="en-US" sz="900" dirty="0"/>
          </a:p>
        </p:txBody>
      </p:sp>
      <p:sp>
        <p:nvSpPr>
          <p:cNvPr id="14" name="Text 12"/>
          <p:cNvSpPr/>
          <p:nvPr/>
        </p:nvSpPr>
        <p:spPr>
          <a:xfrm>
            <a:off x="466725" y="3765054"/>
            <a:ext cx="4090833" cy="146596"/>
          </a:xfrm>
          <a:prstGeom prst="rect">
            <a:avLst/>
          </a:prstGeom>
          <a:noFill/>
          <a:ln/>
        </p:spPr>
        <p:txBody>
          <a:bodyPr wrap="square" lIns="0" tIns="0" rIns="0" bIns="0" rtlCol="0" anchor="t"/>
          <a:lstStyle/>
          <a:p>
            <a:pPr algn="l" indent="0" marL="0">
              <a:lnSpc>
                <a:spcPts val="1155"/>
              </a:lnSpc>
              <a:buNone/>
            </a:pPr>
            <a:r>
              <a:rPr lang="en-US" sz="825" dirty="0">
                <a:solidFill>
                  <a:srgbClr val="6B7280"/>
                </a:solidFill>
                <a:latin typeface="Arial" pitchFamily="34" charset="0"/>
                <a:ea typeface="Arial" pitchFamily="34" charset="-122"/>
                <a:cs typeface="Arial" pitchFamily="34" charset="-120"/>
              </a:rPr>
              <a:t>Handle Claude notifications (Slack, email, etc.)</a:t>
            </a:r>
            <a:endParaRPr lang="en-US" sz="825" dirty="0"/>
          </a:p>
        </p:txBody>
      </p:sp>
      <p:sp>
        <p:nvSpPr>
          <p:cNvPr id="15" name="Text 13"/>
          <p:cNvSpPr/>
          <p:nvPr/>
        </p:nvSpPr>
        <p:spPr>
          <a:xfrm>
            <a:off x="342900" y="4264075"/>
            <a:ext cx="4258270" cy="375196"/>
          </a:xfrm>
          <a:prstGeom prst="rect">
            <a:avLst/>
          </a:prstGeom>
          <a:solidFill>
            <a:srgbClr val="1A1F2E"/>
          </a:solidFill>
          <a:ln/>
        </p:spPr>
        <p:txBody>
          <a:bodyPr wrap="square" rtlCol="0" anchor="ctr"/>
          <a:lstStyle/>
          <a:p>
            <a:pPr indent="0" marL="0">
              <a:buNone/>
            </a:pPr>
            <a:endParaRPr lang="en-US" dirty="0"/>
          </a:p>
        </p:txBody>
      </p:sp>
      <p:sp>
        <p:nvSpPr>
          <p:cNvPr id="16" name="Text 14"/>
          <p:cNvSpPr/>
          <p:nvPr/>
        </p:nvSpPr>
        <p:spPr>
          <a:xfrm>
            <a:off x="476250" y="4378375"/>
            <a:ext cx="4071402" cy="146596"/>
          </a:xfrm>
          <a:prstGeom prst="rect">
            <a:avLst/>
          </a:prstGeom>
          <a:noFill/>
          <a:ln/>
        </p:spPr>
        <p:txBody>
          <a:bodyPr wrap="square" lIns="0" tIns="0" rIns="0" bIns="0" rtlCol="0" anchor="t"/>
          <a:lstStyle/>
          <a:p>
            <a:pPr algn="l" indent="0" marL="0">
              <a:lnSpc>
                <a:spcPts val="1155"/>
              </a:lnSpc>
              <a:buNone/>
            </a:pPr>
            <a:r>
              <a:rPr lang="en-US" sz="825" b="1" dirty="0">
                <a:solidFill>
                  <a:srgbClr val="C9A227"/>
                </a:solidFill>
                <a:latin typeface="Arial" pitchFamily="34" charset="0"/>
                <a:ea typeface="Arial" pitchFamily="34" charset="-122"/>
                <a:cs typeface="Arial" pitchFamily="34" charset="-120"/>
              </a:rPr>
              <a:t>Use case:</a:t>
            </a:r>
            <a:pPr algn="l" indent="0" marL="0">
              <a:lnSpc>
                <a:spcPts val="1155"/>
              </a:lnSpc>
              <a:buNone/>
            </a:pPr>
            <a:r>
              <a:rPr lang="en-US" sz="825" dirty="0">
                <a:solidFill>
                  <a:srgbClr val="C9A227"/>
                </a:solidFill>
                <a:latin typeface="Arial" pitchFamily="34" charset="0"/>
                <a:ea typeface="Arial" pitchFamily="34" charset="-122"/>
                <a:cs typeface="Arial" pitchFamily="34" charset="-120"/>
              </a:rPr>
              <a:t> Auto-format code before commits, log all file writes</a:t>
            </a:r>
            <a:endParaRPr lang="en-US" sz="825" dirty="0"/>
          </a:p>
        </p:txBody>
      </p:sp>
      <p:sp>
        <p:nvSpPr>
          <p:cNvPr id="17" name="Text 15"/>
          <p:cNvSpPr/>
          <p:nvPr/>
        </p:nvSpPr>
        <p:spPr>
          <a:xfrm>
            <a:off x="5096470" y="0"/>
            <a:ext cx="4047530" cy="5143500"/>
          </a:xfrm>
          <a:prstGeom prst="rect">
            <a:avLst/>
          </a:prstGeom>
          <a:solidFill>
            <a:srgbClr val="1A1F2E"/>
          </a:solidFill>
          <a:ln/>
        </p:spPr>
        <p:txBody>
          <a:bodyPr wrap="square" rtlCol="0" anchor="ctr"/>
          <a:lstStyle/>
          <a:p>
            <a:pPr indent="0" marL="0">
              <a:buNone/>
            </a:pPr>
            <a:endParaRPr lang="en-US" dirty="0"/>
          </a:p>
        </p:txBody>
      </p:sp>
      <p:sp>
        <p:nvSpPr>
          <p:cNvPr id="18" name="Text 16"/>
          <p:cNvSpPr/>
          <p:nvPr/>
        </p:nvSpPr>
        <p:spPr>
          <a:xfrm>
            <a:off x="5439370" y="295275"/>
            <a:ext cx="3428964" cy="133350"/>
          </a:xfrm>
          <a:prstGeom prst="rect">
            <a:avLst/>
          </a:prstGeom>
          <a:noFill/>
          <a:ln/>
        </p:spPr>
        <p:txBody>
          <a:bodyPr wrap="square" lIns="0" tIns="0" rIns="0" bIns="0" rtlCol="0" anchor="t"/>
          <a:lstStyle/>
          <a:p>
            <a:pPr algn="l" indent="0" marL="0">
              <a:lnSpc>
                <a:spcPts val="1050"/>
              </a:lnSpc>
              <a:spcAft>
                <a:spcPts val="1050"/>
              </a:spcAft>
              <a:buNone/>
            </a:pPr>
            <a:r>
              <a:rPr lang="en-US" sz="750" dirty="0">
                <a:solidFill>
                  <a:srgbClr val="C9A227"/>
                </a:solidFill>
                <a:latin typeface="Arial" pitchFamily="34" charset="0"/>
                <a:ea typeface="Arial" pitchFamily="34" charset="-122"/>
                <a:cs typeface="Arial" pitchFamily="34" charset="-120"/>
              </a:rPr>
              <a:t>EXAMPLE HOOK</a:t>
            </a:r>
            <a:endParaRPr lang="en-US" sz="750" dirty="0"/>
          </a:p>
        </p:txBody>
      </p:sp>
      <p:sp>
        <p:nvSpPr>
          <p:cNvPr id="19" name="Text 17"/>
          <p:cNvSpPr/>
          <p:nvPr/>
        </p:nvSpPr>
        <p:spPr>
          <a:xfrm>
            <a:off x="5439370" y="714375"/>
            <a:ext cx="3361730" cy="3467100"/>
          </a:xfrm>
          <a:prstGeom prst="rect">
            <a:avLst/>
          </a:prstGeom>
          <a:solidFill>
            <a:srgbClr val="252B3D"/>
          </a:solidFill>
          <a:ln/>
        </p:spPr>
        <p:txBody>
          <a:bodyPr wrap="square" rtlCol="0" anchor="ctr"/>
          <a:lstStyle/>
          <a:p>
            <a:pPr indent="0" marL="0">
              <a:buNone/>
            </a:pPr>
            <a:endParaRPr lang="en-US" dirty="0"/>
          </a:p>
        </p:txBody>
      </p:sp>
      <p:sp>
        <p:nvSpPr>
          <p:cNvPr id="20" name="Text 18"/>
          <p:cNvSpPr/>
          <p:nvPr/>
        </p:nvSpPr>
        <p:spPr>
          <a:xfrm>
            <a:off x="5572720" y="847725"/>
            <a:ext cx="3156930" cy="266700"/>
          </a:xfrm>
          <a:prstGeom prst="rect">
            <a:avLst/>
          </a:prstGeom>
          <a:noFill/>
          <a:ln/>
        </p:spPr>
        <p:txBody>
          <a:bodyPr wrap="square" lIns="0" tIns="0" rIns="0" bIns="0" rtlCol="0" anchor="t"/>
          <a:lstStyle/>
          <a:p>
            <a:pPr algn="l" indent="0" marL="0">
              <a:lnSpc>
                <a:spcPts val="2100"/>
              </a:lnSpc>
              <a:buNone/>
            </a:pPr>
            <a:r>
              <a:rPr lang="en-US" sz="1500" dirty="0">
                <a:solidFill>
                  <a:srgbClr val="6B7280"/>
                </a:solidFill>
                <a:latin typeface="Arial" pitchFamily="34" charset="0"/>
                <a:ea typeface="Arial" pitchFamily="34" charset="-122"/>
                <a:cs typeface="Arial" pitchFamily="34" charset="-120"/>
              </a:rPr>
              <a:t>// settings.json</a:t>
            </a:r>
            <a:endParaRPr lang="en-US" sz="1500" dirty="0"/>
          </a:p>
        </p:txBody>
      </p:sp>
      <p:sp>
        <p:nvSpPr>
          <p:cNvPr id="21" name="Text 19"/>
          <p:cNvSpPr/>
          <p:nvPr/>
        </p:nvSpPr>
        <p:spPr>
          <a:xfrm>
            <a:off x="5572720" y="1114425"/>
            <a:ext cx="3156930" cy="266700"/>
          </a:xfrm>
          <a:prstGeom prst="rect">
            <a:avLst/>
          </a:prstGeom>
          <a:noFill/>
          <a:ln/>
        </p:spPr>
        <p:txBody>
          <a:bodyPr wrap="square" lIns="0" tIns="0" rIns="0" bIns="0" rtlCol="0" anchor="t"/>
          <a:lstStyle/>
          <a:p>
            <a:pPr algn="l" indent="0" marL="0">
              <a:lnSpc>
                <a:spcPts val="2100"/>
              </a:lnSpc>
              <a:buNone/>
            </a:pPr>
            <a:r>
              <a:rPr lang="en-US" sz="1500" dirty="0">
                <a:solidFill>
                  <a:srgbClr val="FFFFFF"/>
                </a:solidFill>
                <a:latin typeface="Arial" pitchFamily="34" charset="0"/>
                <a:ea typeface="Arial" pitchFamily="34" charset="-122"/>
                <a:cs typeface="Arial" pitchFamily="34" charset="-120"/>
              </a:rPr>
              <a:t>{</a:t>
            </a:r>
            <a:endParaRPr lang="en-US" sz="1500" dirty="0"/>
          </a:p>
        </p:txBody>
      </p:sp>
      <p:sp>
        <p:nvSpPr>
          <p:cNvPr id="22" name="Text 20"/>
          <p:cNvSpPr/>
          <p:nvPr/>
        </p:nvSpPr>
        <p:spPr>
          <a:xfrm>
            <a:off x="5572720" y="1381125"/>
            <a:ext cx="3156930" cy="266700"/>
          </a:xfrm>
          <a:prstGeom prst="rect">
            <a:avLst/>
          </a:prstGeom>
          <a:noFill/>
          <a:ln/>
        </p:spPr>
        <p:txBody>
          <a:bodyPr wrap="square" lIns="0" tIns="0" rIns="0" bIns="0" rtlCol="0" anchor="t"/>
          <a:lstStyle/>
          <a:p>
            <a:pPr algn="l" indent="0" marL="0">
              <a:lnSpc>
                <a:spcPts val="2100"/>
              </a:lnSpc>
              <a:buNone/>
            </a:pPr>
            <a:r>
              <a:rPr lang="en-US" sz="1500" dirty="0">
                <a:solidFill>
                  <a:srgbClr val="FFFFFF"/>
                </a:solidFill>
                <a:latin typeface="Arial" pitchFamily="34" charset="0"/>
                <a:ea typeface="Arial" pitchFamily="34" charset="-122"/>
                <a:cs typeface="Arial" pitchFamily="34" charset="-120"/>
              </a:rPr>
              <a:t>"hooks": {</a:t>
            </a:r>
            <a:endParaRPr lang="en-US" sz="1500" dirty="0"/>
          </a:p>
        </p:txBody>
      </p:sp>
      <p:sp>
        <p:nvSpPr>
          <p:cNvPr id="23" name="Text 21"/>
          <p:cNvSpPr/>
          <p:nvPr/>
        </p:nvSpPr>
        <p:spPr>
          <a:xfrm>
            <a:off x="5572720" y="1647825"/>
            <a:ext cx="3156930" cy="266700"/>
          </a:xfrm>
          <a:prstGeom prst="rect">
            <a:avLst/>
          </a:prstGeom>
          <a:noFill/>
          <a:ln/>
        </p:spPr>
        <p:txBody>
          <a:bodyPr wrap="square" lIns="0" tIns="0" rIns="0" bIns="0" rtlCol="0" anchor="t"/>
          <a:lstStyle/>
          <a:p>
            <a:pPr algn="l" indent="0" marL="0">
              <a:lnSpc>
                <a:spcPts val="2100"/>
              </a:lnSpc>
              <a:buNone/>
            </a:pPr>
            <a:r>
              <a:rPr lang="en-US" sz="1500" dirty="0">
                <a:solidFill>
                  <a:srgbClr val="FFFFFF"/>
                </a:solidFill>
                <a:latin typeface="Arial" pitchFamily="34" charset="0"/>
                <a:ea typeface="Arial" pitchFamily="34" charset="-122"/>
                <a:cs typeface="Arial" pitchFamily="34" charset="-120"/>
              </a:rPr>
              <a:t>"PostToolUse": [{</a:t>
            </a:r>
            <a:endParaRPr lang="en-US" sz="1500" dirty="0"/>
          </a:p>
        </p:txBody>
      </p:sp>
      <p:sp>
        <p:nvSpPr>
          <p:cNvPr id="24" name="Text 22"/>
          <p:cNvSpPr/>
          <p:nvPr/>
        </p:nvSpPr>
        <p:spPr>
          <a:xfrm>
            <a:off x="5572720" y="1914525"/>
            <a:ext cx="3156930" cy="266700"/>
          </a:xfrm>
          <a:prstGeom prst="rect">
            <a:avLst/>
          </a:prstGeom>
          <a:noFill/>
          <a:ln/>
        </p:spPr>
        <p:txBody>
          <a:bodyPr wrap="square" lIns="0" tIns="0" rIns="0" bIns="0" rtlCol="0" anchor="t"/>
          <a:lstStyle/>
          <a:p>
            <a:pPr algn="l" indent="0" marL="0">
              <a:lnSpc>
                <a:spcPts val="2100"/>
              </a:lnSpc>
              <a:buNone/>
            </a:pPr>
            <a:r>
              <a:rPr lang="en-US" sz="1500" dirty="0">
                <a:solidFill>
                  <a:srgbClr val="C9A227"/>
                </a:solidFill>
                <a:latin typeface="Arial" pitchFamily="34" charset="0"/>
                <a:ea typeface="Arial" pitchFamily="34" charset="-122"/>
                <a:cs typeface="Arial" pitchFamily="34" charset="-120"/>
              </a:rPr>
              <a:t>"matcher": "Write",</a:t>
            </a:r>
            <a:endParaRPr lang="en-US" sz="1500" dirty="0"/>
          </a:p>
        </p:txBody>
      </p:sp>
      <p:sp>
        <p:nvSpPr>
          <p:cNvPr id="25" name="Text 23"/>
          <p:cNvSpPr/>
          <p:nvPr/>
        </p:nvSpPr>
        <p:spPr>
          <a:xfrm>
            <a:off x="5572720" y="2181225"/>
            <a:ext cx="3156930" cy="266700"/>
          </a:xfrm>
          <a:prstGeom prst="rect">
            <a:avLst/>
          </a:prstGeom>
          <a:noFill/>
          <a:ln/>
        </p:spPr>
        <p:txBody>
          <a:bodyPr wrap="square" lIns="0" tIns="0" rIns="0" bIns="0" rtlCol="0" anchor="t"/>
          <a:lstStyle/>
          <a:p>
            <a:pPr algn="l" indent="0" marL="0">
              <a:lnSpc>
                <a:spcPts val="2100"/>
              </a:lnSpc>
              <a:buNone/>
            </a:pPr>
            <a:r>
              <a:rPr lang="en-US" sz="1500" dirty="0">
                <a:solidFill>
                  <a:srgbClr val="FFFFFF"/>
                </a:solidFill>
                <a:latin typeface="Arial" pitchFamily="34" charset="0"/>
                <a:ea typeface="Arial" pitchFamily="34" charset="-122"/>
                <a:cs typeface="Arial" pitchFamily="34" charset="-120"/>
              </a:rPr>
              <a:t>"hooks": [{</a:t>
            </a:r>
            <a:endParaRPr lang="en-US" sz="1500" dirty="0"/>
          </a:p>
        </p:txBody>
      </p:sp>
      <p:sp>
        <p:nvSpPr>
          <p:cNvPr id="26" name="Text 24"/>
          <p:cNvSpPr/>
          <p:nvPr/>
        </p:nvSpPr>
        <p:spPr>
          <a:xfrm>
            <a:off x="5572720" y="2447925"/>
            <a:ext cx="3156930" cy="266700"/>
          </a:xfrm>
          <a:prstGeom prst="rect">
            <a:avLst/>
          </a:prstGeom>
          <a:noFill/>
          <a:ln/>
        </p:spPr>
        <p:txBody>
          <a:bodyPr wrap="square" lIns="0" tIns="0" rIns="0" bIns="0" rtlCol="0" anchor="t"/>
          <a:lstStyle/>
          <a:p>
            <a:pPr algn="l" indent="0" marL="0">
              <a:lnSpc>
                <a:spcPts val="2100"/>
              </a:lnSpc>
              <a:buNone/>
            </a:pPr>
            <a:r>
              <a:rPr lang="en-US" sz="1500" dirty="0">
                <a:solidFill>
                  <a:srgbClr val="C9A227"/>
                </a:solidFill>
                <a:latin typeface="Arial" pitchFamily="34" charset="0"/>
                <a:ea typeface="Arial" pitchFamily="34" charset="-122"/>
                <a:cs typeface="Arial" pitchFamily="34" charset="-120"/>
              </a:rPr>
              <a:t>"type": "command",</a:t>
            </a:r>
            <a:endParaRPr lang="en-US" sz="1500" dirty="0"/>
          </a:p>
        </p:txBody>
      </p:sp>
      <p:sp>
        <p:nvSpPr>
          <p:cNvPr id="27" name="Text 25"/>
          <p:cNvSpPr/>
          <p:nvPr/>
        </p:nvSpPr>
        <p:spPr>
          <a:xfrm>
            <a:off x="5572720" y="2714625"/>
            <a:ext cx="3156930" cy="266700"/>
          </a:xfrm>
          <a:prstGeom prst="rect">
            <a:avLst/>
          </a:prstGeom>
          <a:noFill/>
          <a:ln/>
        </p:spPr>
        <p:txBody>
          <a:bodyPr wrap="square" lIns="0" tIns="0" rIns="0" bIns="0" rtlCol="0" anchor="t"/>
          <a:lstStyle/>
          <a:p>
            <a:pPr algn="l" indent="0" marL="0">
              <a:lnSpc>
                <a:spcPts val="2100"/>
              </a:lnSpc>
              <a:buNone/>
            </a:pPr>
            <a:r>
              <a:rPr lang="en-US" sz="1500" dirty="0">
                <a:solidFill>
                  <a:srgbClr val="C9A227"/>
                </a:solidFill>
                <a:latin typeface="Arial" pitchFamily="34" charset="0"/>
                <a:ea typeface="Arial" pitchFamily="34" charset="-122"/>
                <a:cs typeface="Arial" pitchFamily="34" charset="-120"/>
              </a:rPr>
              <a:t>"command": "prettier --write"</a:t>
            </a:r>
            <a:endParaRPr lang="en-US" sz="1500" dirty="0"/>
          </a:p>
        </p:txBody>
      </p:sp>
      <p:sp>
        <p:nvSpPr>
          <p:cNvPr id="28" name="Text 26"/>
          <p:cNvSpPr/>
          <p:nvPr/>
        </p:nvSpPr>
        <p:spPr>
          <a:xfrm>
            <a:off x="5572720" y="2981325"/>
            <a:ext cx="3156930" cy="266700"/>
          </a:xfrm>
          <a:prstGeom prst="rect">
            <a:avLst/>
          </a:prstGeom>
          <a:noFill/>
          <a:ln/>
        </p:spPr>
        <p:txBody>
          <a:bodyPr wrap="square" lIns="0" tIns="0" rIns="0" bIns="0" rtlCol="0" anchor="t"/>
          <a:lstStyle/>
          <a:p>
            <a:pPr algn="l" indent="0" marL="0">
              <a:lnSpc>
                <a:spcPts val="2100"/>
              </a:lnSpc>
              <a:buNone/>
            </a:pPr>
            <a:r>
              <a:rPr lang="en-US" sz="1500" dirty="0">
                <a:solidFill>
                  <a:srgbClr val="FFFFFF"/>
                </a:solidFill>
                <a:latin typeface="Arial" pitchFamily="34" charset="0"/>
                <a:ea typeface="Arial" pitchFamily="34" charset="-122"/>
                <a:cs typeface="Arial" pitchFamily="34" charset="-120"/>
              </a:rPr>
              <a:t>}]</a:t>
            </a:r>
            <a:endParaRPr lang="en-US" sz="1500" dirty="0"/>
          </a:p>
        </p:txBody>
      </p:sp>
      <p:sp>
        <p:nvSpPr>
          <p:cNvPr id="29" name="Text 27"/>
          <p:cNvSpPr/>
          <p:nvPr/>
        </p:nvSpPr>
        <p:spPr>
          <a:xfrm>
            <a:off x="5572720" y="3248025"/>
            <a:ext cx="3156930" cy="266700"/>
          </a:xfrm>
          <a:prstGeom prst="rect">
            <a:avLst/>
          </a:prstGeom>
          <a:noFill/>
          <a:ln/>
        </p:spPr>
        <p:txBody>
          <a:bodyPr wrap="square" lIns="0" tIns="0" rIns="0" bIns="0" rtlCol="0" anchor="t"/>
          <a:lstStyle/>
          <a:p>
            <a:pPr algn="l" indent="0" marL="0">
              <a:lnSpc>
                <a:spcPts val="2100"/>
              </a:lnSpc>
              <a:buNone/>
            </a:pPr>
            <a:r>
              <a:rPr lang="en-US" sz="1500" dirty="0">
                <a:solidFill>
                  <a:srgbClr val="FFFFFF"/>
                </a:solidFill>
                <a:latin typeface="Arial" pitchFamily="34" charset="0"/>
                <a:ea typeface="Arial" pitchFamily="34" charset="-122"/>
                <a:cs typeface="Arial" pitchFamily="34" charset="-120"/>
              </a:rPr>
              <a:t>}]</a:t>
            </a:r>
            <a:endParaRPr lang="en-US" sz="1500" dirty="0"/>
          </a:p>
        </p:txBody>
      </p:sp>
      <p:sp>
        <p:nvSpPr>
          <p:cNvPr id="30" name="Text 28"/>
          <p:cNvSpPr/>
          <p:nvPr/>
        </p:nvSpPr>
        <p:spPr>
          <a:xfrm>
            <a:off x="5572720" y="3514725"/>
            <a:ext cx="3156930" cy="266700"/>
          </a:xfrm>
          <a:prstGeom prst="rect">
            <a:avLst/>
          </a:prstGeom>
          <a:noFill/>
          <a:ln/>
        </p:spPr>
        <p:txBody>
          <a:bodyPr wrap="square" lIns="0" tIns="0" rIns="0" bIns="0" rtlCol="0" anchor="t"/>
          <a:lstStyle/>
          <a:p>
            <a:pPr algn="l" indent="0" marL="0">
              <a:lnSpc>
                <a:spcPts val="2100"/>
              </a:lnSpc>
              <a:buNone/>
            </a:pPr>
            <a:r>
              <a:rPr lang="en-US" sz="1500" dirty="0">
                <a:solidFill>
                  <a:srgbClr val="FFFFFF"/>
                </a:solidFill>
                <a:latin typeface="Arial" pitchFamily="34" charset="0"/>
                <a:ea typeface="Arial" pitchFamily="34" charset="-122"/>
                <a:cs typeface="Arial" pitchFamily="34" charset="-120"/>
              </a:rPr>
              <a:t>}</a:t>
            </a:r>
            <a:endParaRPr lang="en-US" sz="1500" dirty="0"/>
          </a:p>
        </p:txBody>
      </p:sp>
      <p:sp>
        <p:nvSpPr>
          <p:cNvPr id="31" name="Text 29"/>
          <p:cNvSpPr/>
          <p:nvPr/>
        </p:nvSpPr>
        <p:spPr>
          <a:xfrm>
            <a:off x="5572720" y="3781425"/>
            <a:ext cx="3156930" cy="266700"/>
          </a:xfrm>
          <a:prstGeom prst="rect">
            <a:avLst/>
          </a:prstGeom>
          <a:noFill/>
          <a:ln/>
        </p:spPr>
        <p:txBody>
          <a:bodyPr wrap="square" lIns="0" tIns="0" rIns="0" bIns="0" rtlCol="0" anchor="t"/>
          <a:lstStyle/>
          <a:p>
            <a:pPr algn="l" indent="0" marL="0">
              <a:lnSpc>
                <a:spcPts val="2100"/>
              </a:lnSpc>
              <a:buNone/>
            </a:pPr>
            <a:r>
              <a:rPr lang="en-US" sz="1500" dirty="0">
                <a:solidFill>
                  <a:srgbClr val="FFFFFF"/>
                </a:solidFill>
                <a:latin typeface="Arial" pitchFamily="34" charset="0"/>
                <a:ea typeface="Arial" pitchFamily="34" charset="-122"/>
                <a:cs typeface="Arial" pitchFamily="34" charset="-120"/>
              </a:rPr>
              <a:t>}</a:t>
            </a:r>
            <a:endParaRPr lang="en-US" sz="1500" dirty="0"/>
          </a:p>
        </p:txBody>
      </p:sp>
      <p:sp>
        <p:nvSpPr>
          <p:cNvPr id="32" name="Text 30"/>
          <p:cNvSpPr/>
          <p:nvPr/>
        </p:nvSpPr>
        <p:spPr>
          <a:xfrm>
            <a:off x="5439370" y="4486275"/>
            <a:ext cx="3361730" cy="361950"/>
          </a:xfrm>
          <a:prstGeom prst="rect">
            <a:avLst/>
          </a:prstGeom>
          <a:solidFill>
            <a:srgbClr val="252B3D"/>
          </a:solidFill>
          <a:ln/>
        </p:spPr>
        <p:txBody>
          <a:bodyPr wrap="square" rtlCol="0" anchor="ctr"/>
          <a:lstStyle/>
          <a:p>
            <a:pPr indent="0" marL="0">
              <a:buNone/>
            </a:pPr>
            <a:endParaRPr lang="en-US" dirty="0"/>
          </a:p>
        </p:txBody>
      </p:sp>
      <p:sp>
        <p:nvSpPr>
          <p:cNvPr id="33" name="Text 31"/>
          <p:cNvSpPr/>
          <p:nvPr/>
        </p:nvSpPr>
        <p:spPr>
          <a:xfrm>
            <a:off x="5522339" y="4600575"/>
            <a:ext cx="3195792" cy="133350"/>
          </a:xfrm>
          <a:prstGeom prst="rect">
            <a:avLst/>
          </a:prstGeom>
          <a:noFill/>
          <a:ln/>
        </p:spPr>
        <p:txBody>
          <a:bodyPr wrap="square" lIns="0" tIns="0" rIns="0" bIns="0" rtlCol="0" anchor="t"/>
          <a:lstStyle/>
          <a:p>
            <a:pPr algn="ctr" indent="0" marL="0">
              <a:lnSpc>
                <a:spcPts val="1050"/>
              </a:lnSpc>
              <a:buNone/>
            </a:pPr>
            <a:r>
              <a:rPr lang="en-US" sz="750" dirty="0">
                <a:solidFill>
                  <a:srgbClr val="FFFFFF">
                    <a:alpha val="70000"/>
                  </a:srgbClr>
                </a:solidFill>
                <a:latin typeface="Arial" pitchFamily="34" charset="0"/>
                <a:ea typeface="Arial" pitchFamily="34" charset="-122"/>
                <a:cs typeface="Arial" pitchFamily="34" charset="-120"/>
              </a:rPr>
              <a:t>Auto-format files after Claude writes them</a:t>
            </a:r>
            <a:endParaRPr lang="en-US" sz="7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457200" y="266700"/>
            <a:ext cx="8394192" cy="146596"/>
          </a:xfrm>
          <a:prstGeom prst="rect">
            <a:avLst/>
          </a:prstGeom>
          <a:noFill/>
          <a:ln/>
        </p:spPr>
        <p:txBody>
          <a:bodyPr wrap="square" lIns="0" tIns="0" rIns="0" bIns="0" rtlCol="0" anchor="t"/>
          <a:lstStyle/>
          <a:p>
            <a:pPr algn="l" indent="0" marL="0">
              <a:lnSpc>
                <a:spcPts val="1155"/>
              </a:lnSpc>
              <a:spcAft>
                <a:spcPts val="600"/>
              </a:spcAft>
              <a:buNone/>
            </a:pPr>
            <a:r>
              <a:rPr lang="en-US" sz="825" dirty="0">
                <a:solidFill>
                  <a:srgbClr val="C9A227"/>
                </a:solidFill>
                <a:latin typeface="Arial" pitchFamily="34" charset="0"/>
                <a:ea typeface="Arial" pitchFamily="34" charset="-122"/>
                <a:cs typeface="Arial" pitchFamily="34" charset="-120"/>
              </a:rPr>
              <a:t>EXTENSIBILITY</a:t>
            </a:r>
            <a:endParaRPr lang="en-US" sz="825" dirty="0"/>
          </a:p>
        </p:txBody>
      </p:sp>
      <p:sp>
        <p:nvSpPr>
          <p:cNvPr id="3" name="Text 1"/>
          <p:cNvSpPr/>
          <p:nvPr/>
        </p:nvSpPr>
        <p:spPr>
          <a:xfrm>
            <a:off x="457200" y="489496"/>
            <a:ext cx="4245674" cy="304800"/>
          </a:xfrm>
          <a:prstGeom prst="rect">
            <a:avLst/>
          </a:prstGeom>
          <a:noFill/>
          <a:ln/>
        </p:spPr>
        <p:txBody>
          <a:bodyPr wrap="square" lIns="0" tIns="0" rIns="0" bIns="0" rtlCol="0" anchor="t"/>
          <a:lstStyle/>
          <a:p>
            <a:pPr algn="l" indent="0" marL="0">
              <a:lnSpc>
                <a:spcPts val="2400"/>
              </a:lnSpc>
              <a:buNone/>
            </a:pPr>
            <a:r>
              <a:rPr lang="en-US" sz="2400" dirty="0">
                <a:solidFill>
                  <a:srgbClr val="1A1F2E"/>
                </a:solidFill>
                <a:latin typeface="Georgia" pitchFamily="34" charset="0"/>
                <a:ea typeface="Georgia" pitchFamily="34" charset="-122"/>
                <a:cs typeface="Georgia" pitchFamily="34" charset="-120"/>
              </a:rPr>
              <a:t>Model Context Protocol (MCP)</a:t>
            </a:r>
            <a:endParaRPr lang="en-US" sz="2400" dirty="0"/>
          </a:p>
        </p:txBody>
      </p:sp>
      <p:sp>
        <p:nvSpPr>
          <p:cNvPr id="4" name="Text 2"/>
          <p:cNvSpPr/>
          <p:nvPr/>
        </p:nvSpPr>
        <p:spPr>
          <a:xfrm>
            <a:off x="457200" y="870496"/>
            <a:ext cx="8394192" cy="186630"/>
          </a:xfrm>
          <a:prstGeom prst="rect">
            <a:avLst/>
          </a:prstGeom>
          <a:noFill/>
          <a:ln/>
        </p:spPr>
        <p:txBody>
          <a:bodyPr wrap="square" lIns="0" tIns="0" rIns="0" bIns="0" rtlCol="0" anchor="t"/>
          <a:lstStyle/>
          <a:p>
            <a:pPr algn="l" indent="0" marL="0">
              <a:lnSpc>
                <a:spcPts val="1470"/>
              </a:lnSpc>
              <a:spcBef>
                <a:spcPts val="600"/>
              </a:spcBef>
              <a:buNone/>
            </a:pPr>
            <a:r>
              <a:rPr lang="en-US" sz="1050" dirty="0">
                <a:solidFill>
                  <a:srgbClr val="6B7280"/>
                </a:solidFill>
                <a:latin typeface="Arial" pitchFamily="34" charset="0"/>
                <a:ea typeface="Arial" pitchFamily="34" charset="-122"/>
                <a:cs typeface="Arial" pitchFamily="34" charset="-120"/>
              </a:rPr>
              <a:t>Connect Claude to external tools and data sources</a:t>
            </a:r>
            <a:endParaRPr lang="en-US" sz="1050" dirty="0"/>
          </a:p>
        </p:txBody>
      </p:sp>
      <p:sp>
        <p:nvSpPr>
          <p:cNvPr id="5" name="Text 3"/>
          <p:cNvSpPr/>
          <p:nvPr/>
        </p:nvSpPr>
        <p:spPr>
          <a:xfrm>
            <a:off x="457200" y="1539329"/>
            <a:ext cx="4038600" cy="1123652"/>
          </a:xfrm>
          <a:prstGeom prst="rect">
            <a:avLst/>
          </a:prstGeom>
          <a:solidFill>
            <a:srgbClr val="FFFFFF"/>
          </a:solidFill>
          <a:ln/>
        </p:spPr>
        <p:txBody>
          <a:bodyPr wrap="square" rtlCol="0" anchor="ctr"/>
          <a:lstStyle/>
          <a:p>
            <a:pPr indent="0" marL="0">
              <a:buNone/>
            </a:pPr>
            <a:endParaRPr lang="en-US" dirty="0"/>
          </a:p>
        </p:txBody>
      </p:sp>
      <p:sp>
        <p:nvSpPr>
          <p:cNvPr id="6" name="Shape 4"/>
          <p:cNvSpPr/>
          <p:nvPr/>
        </p:nvSpPr>
        <p:spPr>
          <a:xfrm>
            <a:off x="476250" y="1539329"/>
            <a:ext cx="0" cy="1123652"/>
          </a:xfrm>
          <a:prstGeom prst="line">
            <a:avLst/>
          </a:prstGeom>
          <a:noFill/>
          <a:ln w="38100">
            <a:solidFill>
              <a:srgbClr val="C9A227"/>
            </a:solidFill>
            <a:prstDash val="solid"/>
          </a:ln>
        </p:spPr>
      </p:sp>
      <p:sp>
        <p:nvSpPr>
          <p:cNvPr id="7" name="Text 5"/>
          <p:cNvSpPr/>
          <p:nvPr/>
        </p:nvSpPr>
        <p:spPr>
          <a:xfrm>
            <a:off x="666750" y="1710779"/>
            <a:ext cx="3730752" cy="186630"/>
          </a:xfrm>
          <a:prstGeom prst="rect">
            <a:avLst/>
          </a:prstGeom>
          <a:noFill/>
          <a:ln/>
        </p:spPr>
        <p:txBody>
          <a:bodyPr wrap="square" lIns="0" tIns="0" rIns="0" bIns="0" rtlCol="0" anchor="t"/>
          <a:lstStyle/>
          <a:p>
            <a:pPr algn="l" indent="0" marL="0">
              <a:lnSpc>
                <a:spcPts val="1470"/>
              </a:lnSpc>
              <a:spcAft>
                <a:spcPts val="600"/>
              </a:spcAft>
              <a:buNone/>
            </a:pPr>
            <a:r>
              <a:rPr lang="en-US" sz="1050" b="1" dirty="0">
                <a:solidFill>
                  <a:srgbClr val="1A1F2E"/>
                </a:solidFill>
                <a:latin typeface="Georgia" pitchFamily="34" charset="0"/>
                <a:ea typeface="Georgia" pitchFamily="34" charset="-122"/>
                <a:cs typeface="Georgia" pitchFamily="34" charset="-120"/>
              </a:rPr>
              <a:t>What is MCP?</a:t>
            </a:r>
            <a:endParaRPr lang="en-US" sz="1050" dirty="0"/>
          </a:p>
        </p:txBody>
      </p:sp>
      <p:sp>
        <p:nvSpPr>
          <p:cNvPr id="8" name="Text 6"/>
          <p:cNvSpPr/>
          <p:nvPr/>
        </p:nvSpPr>
        <p:spPr>
          <a:xfrm>
            <a:off x="666750" y="2126010"/>
            <a:ext cx="3730752" cy="365522"/>
          </a:xfrm>
          <a:prstGeom prst="rect">
            <a:avLst/>
          </a:prstGeom>
          <a:noFill/>
          <a:ln/>
        </p:spPr>
        <p:txBody>
          <a:bodyPr wrap="square" lIns="0" tIns="0" rIns="0" bIns="0" rtlCol="0" anchor="t"/>
          <a:lstStyle/>
          <a:p>
            <a:pPr algn="l" indent="0" marL="0">
              <a:lnSpc>
                <a:spcPts val="1440"/>
              </a:lnSpc>
              <a:buNone/>
            </a:pPr>
            <a:r>
              <a:rPr lang="en-US" sz="900" dirty="0">
                <a:solidFill>
                  <a:srgbClr val="6B7280"/>
                </a:solidFill>
                <a:latin typeface="Arial" pitchFamily="34" charset="0"/>
                <a:ea typeface="Arial" pitchFamily="34" charset="-122"/>
                <a:cs typeface="Arial" pitchFamily="34" charset="-120"/>
              </a:rPr>
              <a:t>A protocol that lets Claude interact with external services like databases, APIs, and custom tools.</a:t>
            </a:r>
            <a:endParaRPr lang="en-US" sz="900" dirty="0"/>
          </a:p>
        </p:txBody>
      </p:sp>
      <p:sp>
        <p:nvSpPr>
          <p:cNvPr id="9" name="Text 7"/>
          <p:cNvSpPr/>
          <p:nvPr/>
        </p:nvSpPr>
        <p:spPr>
          <a:xfrm>
            <a:off x="4648200" y="1539329"/>
            <a:ext cx="4038600" cy="1123652"/>
          </a:xfrm>
          <a:prstGeom prst="rect">
            <a:avLst/>
          </a:prstGeom>
          <a:solidFill>
            <a:srgbClr val="FFFFFF"/>
          </a:solidFill>
          <a:ln/>
        </p:spPr>
        <p:txBody>
          <a:bodyPr wrap="square" rtlCol="0" anchor="ctr"/>
          <a:lstStyle/>
          <a:p>
            <a:pPr indent="0" marL="0">
              <a:buNone/>
            </a:pPr>
            <a:endParaRPr lang="en-US" dirty="0"/>
          </a:p>
        </p:txBody>
      </p:sp>
      <p:sp>
        <p:nvSpPr>
          <p:cNvPr id="10" name="Shape 8"/>
          <p:cNvSpPr/>
          <p:nvPr/>
        </p:nvSpPr>
        <p:spPr>
          <a:xfrm>
            <a:off x="4667250" y="1539329"/>
            <a:ext cx="0" cy="1123652"/>
          </a:xfrm>
          <a:prstGeom prst="line">
            <a:avLst/>
          </a:prstGeom>
          <a:noFill/>
          <a:ln w="38100">
            <a:solidFill>
              <a:srgbClr val="C9A227"/>
            </a:solidFill>
            <a:prstDash val="solid"/>
          </a:ln>
        </p:spPr>
      </p:sp>
      <p:sp>
        <p:nvSpPr>
          <p:cNvPr id="11" name="Text 9"/>
          <p:cNvSpPr/>
          <p:nvPr/>
        </p:nvSpPr>
        <p:spPr>
          <a:xfrm>
            <a:off x="4857750" y="1710779"/>
            <a:ext cx="3730752" cy="186630"/>
          </a:xfrm>
          <a:prstGeom prst="rect">
            <a:avLst/>
          </a:prstGeom>
          <a:noFill/>
          <a:ln/>
        </p:spPr>
        <p:txBody>
          <a:bodyPr wrap="square" lIns="0" tIns="0" rIns="0" bIns="0" rtlCol="0" anchor="t"/>
          <a:lstStyle/>
          <a:p>
            <a:pPr algn="l" indent="0" marL="0">
              <a:lnSpc>
                <a:spcPts val="1470"/>
              </a:lnSpc>
              <a:spcAft>
                <a:spcPts val="600"/>
              </a:spcAft>
              <a:buNone/>
            </a:pPr>
            <a:r>
              <a:rPr lang="en-US" sz="1050" b="1" dirty="0">
                <a:solidFill>
                  <a:srgbClr val="1A1F2E"/>
                </a:solidFill>
                <a:latin typeface="Georgia" pitchFamily="34" charset="0"/>
                <a:ea typeface="Georgia" pitchFamily="34" charset="-122"/>
                <a:cs typeface="Georgia" pitchFamily="34" charset="-120"/>
              </a:rPr>
              <a:t>Why It Matters</a:t>
            </a:r>
            <a:endParaRPr lang="en-US" sz="1050" dirty="0"/>
          </a:p>
        </p:txBody>
      </p:sp>
      <p:sp>
        <p:nvSpPr>
          <p:cNvPr id="12" name="Text 10"/>
          <p:cNvSpPr/>
          <p:nvPr/>
        </p:nvSpPr>
        <p:spPr>
          <a:xfrm>
            <a:off x="4857750" y="2126010"/>
            <a:ext cx="3730752" cy="365522"/>
          </a:xfrm>
          <a:prstGeom prst="rect">
            <a:avLst/>
          </a:prstGeom>
          <a:noFill/>
          <a:ln/>
        </p:spPr>
        <p:txBody>
          <a:bodyPr wrap="square" lIns="0" tIns="0" rIns="0" bIns="0" rtlCol="0" anchor="t"/>
          <a:lstStyle/>
          <a:p>
            <a:pPr algn="l" indent="0" marL="0">
              <a:lnSpc>
                <a:spcPts val="1440"/>
              </a:lnSpc>
              <a:buNone/>
            </a:pPr>
            <a:r>
              <a:rPr lang="en-US" sz="900" dirty="0">
                <a:solidFill>
                  <a:srgbClr val="6B7280"/>
                </a:solidFill>
                <a:latin typeface="Arial" pitchFamily="34" charset="0"/>
                <a:ea typeface="Arial" pitchFamily="34" charset="-122"/>
                <a:cs typeface="Arial" pitchFamily="34" charset="-120"/>
              </a:rPr>
              <a:t>Extend Claude's capabilities beyond file operations to interact with any system.</a:t>
            </a:r>
            <a:endParaRPr lang="en-US" sz="900" dirty="0"/>
          </a:p>
        </p:txBody>
      </p:sp>
      <p:sp>
        <p:nvSpPr>
          <p:cNvPr id="13" name="Text 11"/>
          <p:cNvSpPr/>
          <p:nvPr/>
        </p:nvSpPr>
        <p:spPr>
          <a:xfrm>
            <a:off x="457200" y="2967782"/>
            <a:ext cx="8229600" cy="999976"/>
          </a:xfrm>
          <a:prstGeom prst="rect">
            <a:avLst/>
          </a:prstGeom>
          <a:solidFill>
            <a:srgbClr val="1A1F2E"/>
          </a:solidFill>
          <a:ln/>
        </p:spPr>
        <p:txBody>
          <a:bodyPr wrap="square" rtlCol="0" anchor="ctr"/>
          <a:lstStyle/>
          <a:p>
            <a:pPr indent="0" marL="0">
              <a:buNone/>
            </a:pPr>
            <a:endParaRPr lang="en-US" dirty="0"/>
          </a:p>
        </p:txBody>
      </p:sp>
      <p:sp>
        <p:nvSpPr>
          <p:cNvPr id="14" name="Text 12"/>
          <p:cNvSpPr/>
          <p:nvPr/>
        </p:nvSpPr>
        <p:spPr>
          <a:xfrm>
            <a:off x="647700" y="3158282"/>
            <a:ext cx="8005572" cy="159990"/>
          </a:xfrm>
          <a:prstGeom prst="rect">
            <a:avLst/>
          </a:prstGeom>
          <a:noFill/>
          <a:ln/>
        </p:spPr>
        <p:txBody>
          <a:bodyPr wrap="square" lIns="0" tIns="0" rIns="0" bIns="0" rtlCol="0" anchor="t"/>
          <a:lstStyle/>
          <a:p>
            <a:pPr algn="l" indent="0" marL="0">
              <a:lnSpc>
                <a:spcPts val="1260"/>
              </a:lnSpc>
              <a:spcAft>
                <a:spcPts val="900"/>
              </a:spcAft>
              <a:buNone/>
            </a:pPr>
            <a:r>
              <a:rPr lang="en-US" sz="900" b="1" dirty="0">
                <a:solidFill>
                  <a:srgbClr val="C9A227"/>
                </a:solidFill>
                <a:latin typeface="Arial" pitchFamily="34" charset="0"/>
                <a:ea typeface="Arial" pitchFamily="34" charset="-122"/>
                <a:cs typeface="Arial" pitchFamily="34" charset="-120"/>
              </a:rPr>
              <a:t>Available MCP Servers</a:t>
            </a:r>
            <a:endParaRPr lang="en-US" sz="900" dirty="0"/>
          </a:p>
        </p:txBody>
      </p:sp>
      <p:sp>
        <p:nvSpPr>
          <p:cNvPr id="15" name="Text 13"/>
          <p:cNvSpPr/>
          <p:nvPr/>
        </p:nvSpPr>
        <p:spPr>
          <a:xfrm>
            <a:off x="647700" y="3432572"/>
            <a:ext cx="962290" cy="159990"/>
          </a:xfrm>
          <a:prstGeom prst="rect">
            <a:avLst/>
          </a:prstGeom>
          <a:noFill/>
          <a:ln/>
        </p:spPr>
        <p:txBody>
          <a:bodyPr wrap="square" lIns="0" tIns="0" rIns="0" bIns="0" rtlCol="0" anchor="t"/>
          <a:lstStyle/>
          <a:p>
            <a:pPr algn="l" indent="0" marL="0">
              <a:lnSpc>
                <a:spcPts val="1260"/>
              </a:lnSpc>
              <a:spcAft>
                <a:spcPts val="300"/>
              </a:spcAft>
              <a:buNone/>
            </a:pPr>
            <a:r>
              <a:rPr lang="en-US" sz="900" dirty="0">
                <a:solidFill>
                  <a:srgbClr val="FFFFFF"/>
                </a:solidFill>
                <a:latin typeface="Arial" pitchFamily="34" charset="0"/>
                <a:ea typeface="Arial" pitchFamily="34" charset="-122"/>
                <a:cs typeface="Arial" pitchFamily="34" charset="-120"/>
              </a:rPr>
              <a:t>GitHub</a:t>
            </a:r>
            <a:endParaRPr lang="en-US" sz="900" dirty="0"/>
          </a:p>
        </p:txBody>
      </p:sp>
      <p:sp>
        <p:nvSpPr>
          <p:cNvPr id="16" name="Text 14"/>
          <p:cNvSpPr/>
          <p:nvPr/>
        </p:nvSpPr>
        <p:spPr>
          <a:xfrm>
            <a:off x="647700" y="3630662"/>
            <a:ext cx="962290" cy="146596"/>
          </a:xfrm>
          <a:prstGeom prst="rect">
            <a:avLst/>
          </a:prstGeom>
          <a:noFill/>
          <a:ln/>
        </p:spPr>
        <p:txBody>
          <a:bodyPr wrap="square" lIns="0" tIns="0" rIns="0" bIns="0" rtlCol="0" anchor="t"/>
          <a:lstStyle/>
          <a:p>
            <a:pPr algn="l" indent="0" marL="0">
              <a:lnSpc>
                <a:spcPts val="1155"/>
              </a:lnSpc>
              <a:buNone/>
            </a:pPr>
            <a:r>
              <a:rPr lang="en-US" sz="825" dirty="0">
                <a:solidFill>
                  <a:srgbClr val="FFFFFF">
                    <a:alpha val="50000"/>
                  </a:srgbClr>
                </a:solidFill>
                <a:latin typeface="Arial" pitchFamily="34" charset="0"/>
                <a:ea typeface="Arial" pitchFamily="34" charset="-122"/>
                <a:cs typeface="Arial" pitchFamily="34" charset="-120"/>
              </a:rPr>
              <a:t>PRs, issues, actions</a:t>
            </a:r>
            <a:endParaRPr lang="en-US" sz="825" dirty="0"/>
          </a:p>
        </p:txBody>
      </p:sp>
      <p:sp>
        <p:nvSpPr>
          <p:cNvPr id="17" name="Text 15"/>
          <p:cNvSpPr/>
          <p:nvPr/>
        </p:nvSpPr>
        <p:spPr>
          <a:xfrm>
            <a:off x="1819721" y="3432572"/>
            <a:ext cx="813977" cy="159990"/>
          </a:xfrm>
          <a:prstGeom prst="rect">
            <a:avLst/>
          </a:prstGeom>
          <a:noFill/>
          <a:ln/>
        </p:spPr>
        <p:txBody>
          <a:bodyPr wrap="square" lIns="0" tIns="0" rIns="0" bIns="0" rtlCol="0" anchor="t"/>
          <a:lstStyle/>
          <a:p>
            <a:pPr algn="l" indent="0" marL="0">
              <a:lnSpc>
                <a:spcPts val="1260"/>
              </a:lnSpc>
              <a:spcAft>
                <a:spcPts val="300"/>
              </a:spcAft>
              <a:buNone/>
            </a:pPr>
            <a:r>
              <a:rPr lang="en-US" sz="900" dirty="0">
                <a:solidFill>
                  <a:srgbClr val="FFFFFF"/>
                </a:solidFill>
                <a:latin typeface="Arial" pitchFamily="34" charset="0"/>
                <a:ea typeface="Arial" pitchFamily="34" charset="-122"/>
                <a:cs typeface="Arial" pitchFamily="34" charset="-120"/>
              </a:rPr>
              <a:t>PostgreSQL</a:t>
            </a:r>
            <a:endParaRPr lang="en-US" sz="900" dirty="0"/>
          </a:p>
        </p:txBody>
      </p:sp>
      <p:sp>
        <p:nvSpPr>
          <p:cNvPr id="18" name="Text 16"/>
          <p:cNvSpPr/>
          <p:nvPr/>
        </p:nvSpPr>
        <p:spPr>
          <a:xfrm>
            <a:off x="1819721" y="3630662"/>
            <a:ext cx="813977" cy="146596"/>
          </a:xfrm>
          <a:prstGeom prst="rect">
            <a:avLst/>
          </a:prstGeom>
          <a:noFill/>
          <a:ln/>
        </p:spPr>
        <p:txBody>
          <a:bodyPr wrap="square" lIns="0" tIns="0" rIns="0" bIns="0" rtlCol="0" anchor="t"/>
          <a:lstStyle/>
          <a:p>
            <a:pPr algn="l" indent="0" marL="0">
              <a:lnSpc>
                <a:spcPts val="1155"/>
              </a:lnSpc>
              <a:buNone/>
            </a:pPr>
            <a:r>
              <a:rPr lang="en-US" sz="825" dirty="0">
                <a:solidFill>
                  <a:srgbClr val="FFFFFF">
                    <a:alpha val="50000"/>
                  </a:srgbClr>
                </a:solidFill>
                <a:latin typeface="Arial" pitchFamily="34" charset="0"/>
                <a:ea typeface="Arial" pitchFamily="34" charset="-122"/>
                <a:cs typeface="Arial" pitchFamily="34" charset="-120"/>
              </a:rPr>
              <a:t>Query databases</a:t>
            </a:r>
            <a:endParaRPr lang="en-US" sz="825" dirty="0"/>
          </a:p>
        </p:txBody>
      </p:sp>
      <p:sp>
        <p:nvSpPr>
          <p:cNvPr id="19" name="Text 17"/>
          <p:cNvSpPr/>
          <p:nvPr/>
        </p:nvSpPr>
        <p:spPr>
          <a:xfrm>
            <a:off x="2846338" y="3432572"/>
            <a:ext cx="766462" cy="159990"/>
          </a:xfrm>
          <a:prstGeom prst="rect">
            <a:avLst/>
          </a:prstGeom>
          <a:noFill/>
          <a:ln/>
        </p:spPr>
        <p:txBody>
          <a:bodyPr wrap="square" lIns="0" tIns="0" rIns="0" bIns="0" rtlCol="0" anchor="t"/>
          <a:lstStyle/>
          <a:p>
            <a:pPr algn="l" indent="0" marL="0">
              <a:lnSpc>
                <a:spcPts val="1260"/>
              </a:lnSpc>
              <a:spcAft>
                <a:spcPts val="300"/>
              </a:spcAft>
              <a:buNone/>
            </a:pPr>
            <a:r>
              <a:rPr lang="en-US" sz="900" dirty="0">
                <a:solidFill>
                  <a:srgbClr val="FFFFFF"/>
                </a:solidFill>
                <a:latin typeface="Arial" pitchFamily="34" charset="0"/>
                <a:ea typeface="Arial" pitchFamily="34" charset="-122"/>
                <a:cs typeface="Arial" pitchFamily="34" charset="-120"/>
              </a:rPr>
              <a:t>Slack</a:t>
            </a:r>
            <a:endParaRPr lang="en-US" sz="900" dirty="0"/>
          </a:p>
        </p:txBody>
      </p:sp>
      <p:sp>
        <p:nvSpPr>
          <p:cNvPr id="20" name="Text 18"/>
          <p:cNvSpPr/>
          <p:nvPr/>
        </p:nvSpPr>
        <p:spPr>
          <a:xfrm>
            <a:off x="2846338" y="3630662"/>
            <a:ext cx="766462" cy="146596"/>
          </a:xfrm>
          <a:prstGeom prst="rect">
            <a:avLst/>
          </a:prstGeom>
          <a:noFill/>
          <a:ln/>
        </p:spPr>
        <p:txBody>
          <a:bodyPr wrap="square" lIns="0" tIns="0" rIns="0" bIns="0" rtlCol="0" anchor="t"/>
          <a:lstStyle/>
          <a:p>
            <a:pPr algn="l" indent="0" marL="0">
              <a:lnSpc>
                <a:spcPts val="1155"/>
              </a:lnSpc>
              <a:buNone/>
            </a:pPr>
            <a:r>
              <a:rPr lang="en-US" sz="825" dirty="0">
                <a:solidFill>
                  <a:srgbClr val="FFFFFF">
                    <a:alpha val="50000"/>
                  </a:srgbClr>
                </a:solidFill>
                <a:latin typeface="Arial" pitchFamily="34" charset="0"/>
                <a:ea typeface="Arial" pitchFamily="34" charset="-122"/>
                <a:cs typeface="Arial" pitchFamily="34" charset="-120"/>
              </a:rPr>
              <a:t>Send messages</a:t>
            </a:r>
            <a:endParaRPr lang="en-US" sz="825" dirty="0"/>
          </a:p>
        </p:txBody>
      </p:sp>
      <p:sp>
        <p:nvSpPr>
          <p:cNvPr id="21" name="Text 19"/>
          <p:cNvSpPr/>
          <p:nvPr/>
        </p:nvSpPr>
        <p:spPr>
          <a:xfrm>
            <a:off x="3826371" y="3432572"/>
            <a:ext cx="776329" cy="159990"/>
          </a:xfrm>
          <a:prstGeom prst="rect">
            <a:avLst/>
          </a:prstGeom>
          <a:noFill/>
          <a:ln/>
        </p:spPr>
        <p:txBody>
          <a:bodyPr wrap="square" lIns="0" tIns="0" rIns="0" bIns="0" rtlCol="0" anchor="t"/>
          <a:lstStyle/>
          <a:p>
            <a:pPr algn="l" indent="0" marL="0">
              <a:lnSpc>
                <a:spcPts val="1260"/>
              </a:lnSpc>
              <a:spcAft>
                <a:spcPts val="300"/>
              </a:spcAft>
              <a:buNone/>
            </a:pPr>
            <a:r>
              <a:rPr lang="en-US" sz="900" dirty="0">
                <a:solidFill>
                  <a:srgbClr val="FFFFFF"/>
                </a:solidFill>
                <a:latin typeface="Arial" pitchFamily="34" charset="0"/>
                <a:ea typeface="Arial" pitchFamily="34" charset="-122"/>
                <a:cs typeface="Arial" pitchFamily="34" charset="-120"/>
              </a:rPr>
              <a:t>Browser</a:t>
            </a:r>
            <a:endParaRPr lang="en-US" sz="900" dirty="0"/>
          </a:p>
        </p:txBody>
      </p:sp>
      <p:sp>
        <p:nvSpPr>
          <p:cNvPr id="22" name="Text 20"/>
          <p:cNvSpPr/>
          <p:nvPr/>
        </p:nvSpPr>
        <p:spPr>
          <a:xfrm>
            <a:off x="3826371" y="3630662"/>
            <a:ext cx="776329" cy="146596"/>
          </a:xfrm>
          <a:prstGeom prst="rect">
            <a:avLst/>
          </a:prstGeom>
          <a:noFill/>
          <a:ln/>
        </p:spPr>
        <p:txBody>
          <a:bodyPr wrap="square" lIns="0" tIns="0" rIns="0" bIns="0" rtlCol="0" anchor="t"/>
          <a:lstStyle/>
          <a:p>
            <a:pPr algn="l" indent="0" marL="0">
              <a:lnSpc>
                <a:spcPts val="1155"/>
              </a:lnSpc>
              <a:buNone/>
            </a:pPr>
            <a:r>
              <a:rPr lang="en-US" sz="825" dirty="0">
                <a:solidFill>
                  <a:srgbClr val="FFFFFF">
                    <a:alpha val="50000"/>
                  </a:srgbClr>
                </a:solidFill>
                <a:latin typeface="Arial" pitchFamily="34" charset="0"/>
                <a:ea typeface="Arial" pitchFamily="34" charset="-122"/>
                <a:cs typeface="Arial" pitchFamily="34" charset="-120"/>
              </a:rPr>
              <a:t>Web automation</a:t>
            </a:r>
            <a:endParaRPr lang="en-US" sz="825" dirty="0"/>
          </a:p>
        </p:txBody>
      </p:sp>
      <p:sp>
        <p:nvSpPr>
          <p:cNvPr id="23" name="Text 21"/>
          <p:cNvSpPr/>
          <p:nvPr/>
        </p:nvSpPr>
        <p:spPr>
          <a:xfrm>
            <a:off x="4816078" y="3432572"/>
            <a:ext cx="701034" cy="159990"/>
          </a:xfrm>
          <a:prstGeom prst="rect">
            <a:avLst/>
          </a:prstGeom>
          <a:noFill/>
          <a:ln/>
        </p:spPr>
        <p:txBody>
          <a:bodyPr wrap="square" lIns="0" tIns="0" rIns="0" bIns="0" rtlCol="0" anchor="t"/>
          <a:lstStyle/>
          <a:p>
            <a:pPr algn="l" indent="0" marL="0">
              <a:lnSpc>
                <a:spcPts val="1260"/>
              </a:lnSpc>
              <a:spcAft>
                <a:spcPts val="300"/>
              </a:spcAft>
              <a:buNone/>
            </a:pPr>
            <a:r>
              <a:rPr lang="en-US" sz="900" dirty="0">
                <a:solidFill>
                  <a:srgbClr val="FFFFFF"/>
                </a:solidFill>
                <a:latin typeface="Arial" pitchFamily="34" charset="0"/>
                <a:ea typeface="Arial" pitchFamily="34" charset="-122"/>
                <a:cs typeface="Arial" pitchFamily="34" charset="-120"/>
              </a:rPr>
              <a:t>Custom</a:t>
            </a:r>
            <a:endParaRPr lang="en-US" sz="900" dirty="0"/>
          </a:p>
        </p:txBody>
      </p:sp>
      <p:sp>
        <p:nvSpPr>
          <p:cNvPr id="24" name="Text 22"/>
          <p:cNvSpPr/>
          <p:nvPr/>
        </p:nvSpPr>
        <p:spPr>
          <a:xfrm>
            <a:off x="4816078" y="3630662"/>
            <a:ext cx="701034" cy="146596"/>
          </a:xfrm>
          <a:prstGeom prst="rect">
            <a:avLst/>
          </a:prstGeom>
          <a:noFill/>
          <a:ln/>
        </p:spPr>
        <p:txBody>
          <a:bodyPr wrap="square" lIns="0" tIns="0" rIns="0" bIns="0" rtlCol="0" anchor="t"/>
          <a:lstStyle/>
          <a:p>
            <a:pPr algn="l" indent="0" marL="0">
              <a:lnSpc>
                <a:spcPts val="1155"/>
              </a:lnSpc>
              <a:buNone/>
            </a:pPr>
            <a:r>
              <a:rPr lang="en-US" sz="825" dirty="0">
                <a:solidFill>
                  <a:srgbClr val="FFFFFF">
                    <a:alpha val="50000"/>
                  </a:srgbClr>
                </a:solidFill>
                <a:latin typeface="Arial" pitchFamily="34" charset="0"/>
                <a:ea typeface="Arial" pitchFamily="34" charset="-122"/>
                <a:cs typeface="Arial" pitchFamily="34" charset="-120"/>
              </a:rPr>
              <a:t>Build your own</a:t>
            </a:r>
            <a:endParaRPr lang="en-US" sz="825" dirty="0"/>
          </a:p>
        </p:txBody>
      </p:sp>
      <p:sp>
        <p:nvSpPr>
          <p:cNvPr id="25" name="Text 23"/>
          <p:cNvSpPr/>
          <p:nvPr/>
        </p:nvSpPr>
        <p:spPr>
          <a:xfrm>
            <a:off x="457200" y="4272558"/>
            <a:ext cx="8229600" cy="426690"/>
          </a:xfrm>
          <a:prstGeom prst="rect">
            <a:avLst/>
          </a:prstGeom>
          <a:solidFill>
            <a:srgbClr val="FEF3C7"/>
          </a:solidFill>
          <a:ln/>
        </p:spPr>
        <p:txBody>
          <a:bodyPr wrap="square" rtlCol="0" anchor="ctr"/>
          <a:lstStyle/>
          <a:p>
            <a:pPr indent="0" marL="0">
              <a:buNone/>
            </a:pPr>
            <a:endParaRPr lang="en-US" dirty="0"/>
          </a:p>
        </p:txBody>
      </p:sp>
      <p:sp>
        <p:nvSpPr>
          <p:cNvPr id="26" name="Shape 24"/>
          <p:cNvSpPr/>
          <p:nvPr/>
        </p:nvSpPr>
        <p:spPr>
          <a:xfrm>
            <a:off x="476250" y="4272558"/>
            <a:ext cx="0" cy="426690"/>
          </a:xfrm>
          <a:prstGeom prst="line">
            <a:avLst/>
          </a:prstGeom>
          <a:noFill/>
          <a:ln w="38100">
            <a:solidFill>
              <a:srgbClr val="F59E0B"/>
            </a:solidFill>
            <a:prstDash val="solid"/>
          </a:ln>
        </p:spPr>
      </p:sp>
      <p:sp>
        <p:nvSpPr>
          <p:cNvPr id="27" name="Text 25"/>
          <p:cNvSpPr/>
          <p:nvPr/>
        </p:nvSpPr>
        <p:spPr>
          <a:xfrm>
            <a:off x="666750" y="4405908"/>
            <a:ext cx="8005572" cy="159990"/>
          </a:xfrm>
          <a:prstGeom prst="rect">
            <a:avLst/>
          </a:prstGeom>
          <a:noFill/>
          <a:ln/>
        </p:spPr>
        <p:txBody>
          <a:bodyPr wrap="square" lIns="0" tIns="0" rIns="0" bIns="0" rtlCol="0" anchor="t"/>
          <a:lstStyle/>
          <a:p>
            <a:pPr algn="l" indent="0" marL="0">
              <a:lnSpc>
                <a:spcPts val="1260"/>
              </a:lnSpc>
              <a:buNone/>
            </a:pPr>
            <a:r>
              <a:rPr lang="en-US" sz="900" b="1" dirty="0">
                <a:solidFill>
                  <a:srgbClr val="92400E"/>
                </a:solidFill>
                <a:latin typeface="Arial" pitchFamily="34" charset="0"/>
                <a:ea typeface="Arial" pitchFamily="34" charset="-122"/>
                <a:cs typeface="Arial" pitchFamily="34" charset="-120"/>
              </a:rPr>
              <a:t>Voice Workflow:</a:t>
            </a:r>
            <a:pPr algn="l" indent="0" marL="0">
              <a:lnSpc>
                <a:spcPts val="1260"/>
              </a:lnSpc>
              <a:buNone/>
            </a:pPr>
            <a:r>
              <a:rPr lang="en-US" sz="900" dirty="0">
                <a:solidFill>
                  <a:srgbClr val="92400E"/>
                </a:solidFill>
                <a:latin typeface="Arial" pitchFamily="34" charset="0"/>
                <a:ea typeface="Arial" pitchFamily="34" charset="-122"/>
                <a:cs typeface="Arial" pitchFamily="34" charset="-120"/>
              </a:rPr>
              <a:t> "Check our GitHub issues and summarize the critical bugs"</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4047679" cy="5143500"/>
          </a:xfrm>
          <a:prstGeom prst="rect">
            <a:avLst/>
          </a:prstGeom>
          <a:solidFill>
            <a:srgbClr val="1A1F2E"/>
          </a:solidFill>
          <a:ln/>
        </p:spPr>
        <p:txBody>
          <a:bodyPr wrap="square" rtlCol="0" anchor="ctr"/>
          <a:lstStyle/>
          <a:p>
            <a:pPr indent="0" marL="0">
              <a:buNone/>
            </a:pPr>
            <a:endParaRPr lang="en-US" dirty="0"/>
          </a:p>
        </p:txBody>
      </p:sp>
      <p:sp>
        <p:nvSpPr>
          <p:cNvPr id="3" name="Text 1"/>
          <p:cNvSpPr/>
          <p:nvPr/>
        </p:nvSpPr>
        <p:spPr>
          <a:xfrm>
            <a:off x="381000" y="1593652"/>
            <a:ext cx="3351392" cy="146596"/>
          </a:xfrm>
          <a:prstGeom prst="rect">
            <a:avLst/>
          </a:prstGeom>
          <a:noFill/>
          <a:ln/>
        </p:spPr>
        <p:txBody>
          <a:bodyPr wrap="square" lIns="0" tIns="0" rIns="0" bIns="0" rtlCol="0" anchor="t"/>
          <a:lstStyle/>
          <a:p>
            <a:pPr algn="l" indent="0" marL="0">
              <a:lnSpc>
                <a:spcPts val="1155"/>
              </a:lnSpc>
              <a:spcAft>
                <a:spcPts val="1200"/>
              </a:spcAft>
              <a:buNone/>
            </a:pPr>
            <a:r>
              <a:rPr lang="en-US" sz="825" dirty="0">
                <a:solidFill>
                  <a:srgbClr val="C9A227"/>
                </a:solidFill>
                <a:latin typeface="Arial" pitchFamily="34" charset="0"/>
                <a:ea typeface="Arial" pitchFamily="34" charset="-122"/>
                <a:cs typeface="Arial" pitchFamily="34" charset="-120"/>
              </a:rPr>
              <a:t>PARALLEL WORK</a:t>
            </a:r>
            <a:endParaRPr lang="en-US" sz="825" dirty="0"/>
          </a:p>
        </p:txBody>
      </p:sp>
      <p:sp>
        <p:nvSpPr>
          <p:cNvPr id="4" name="Text 2"/>
          <p:cNvSpPr/>
          <p:nvPr/>
        </p:nvSpPr>
        <p:spPr>
          <a:xfrm>
            <a:off x="381000" y="2045047"/>
            <a:ext cx="1729359" cy="411361"/>
          </a:xfrm>
          <a:prstGeom prst="rect">
            <a:avLst/>
          </a:prstGeom>
          <a:noFill/>
          <a:ln/>
        </p:spPr>
        <p:txBody>
          <a:bodyPr wrap="square" lIns="0" tIns="0" rIns="0" bIns="0" rtlCol="0" anchor="t"/>
          <a:lstStyle/>
          <a:p>
            <a:pPr algn="l" indent="0" marL="0">
              <a:lnSpc>
                <a:spcPts val="3240"/>
              </a:lnSpc>
              <a:spcAft>
                <a:spcPts val="1200"/>
              </a:spcAft>
              <a:buNone/>
            </a:pPr>
            <a:r>
              <a:rPr lang="en-US" sz="2700" dirty="0">
                <a:solidFill>
                  <a:srgbClr val="FFFFFF"/>
                </a:solidFill>
                <a:latin typeface="Georgia" pitchFamily="34" charset="0"/>
                <a:ea typeface="Georgia" pitchFamily="34" charset="-122"/>
                <a:cs typeface="Georgia" pitchFamily="34" charset="-120"/>
              </a:rPr>
              <a:t>Sub-agents</a:t>
            </a:r>
            <a:endParaRPr lang="en-US" sz="2700" dirty="0"/>
          </a:p>
        </p:txBody>
      </p:sp>
      <p:sp>
        <p:nvSpPr>
          <p:cNvPr id="5" name="Text 3"/>
          <p:cNvSpPr/>
          <p:nvPr/>
        </p:nvSpPr>
        <p:spPr>
          <a:xfrm>
            <a:off x="381000" y="2761208"/>
            <a:ext cx="457200" cy="19050"/>
          </a:xfrm>
          <a:prstGeom prst="rect">
            <a:avLst/>
          </a:prstGeom>
          <a:solidFill>
            <a:srgbClr val="C9A227"/>
          </a:solidFill>
          <a:ln/>
        </p:spPr>
        <p:txBody>
          <a:bodyPr wrap="square" rtlCol="0" anchor="ctr"/>
          <a:lstStyle/>
          <a:p>
            <a:pPr indent="0" marL="0">
              <a:buNone/>
            </a:pPr>
            <a:endParaRPr lang="en-US" dirty="0"/>
          </a:p>
        </p:txBody>
      </p:sp>
      <p:sp>
        <p:nvSpPr>
          <p:cNvPr id="6" name="Text 4"/>
          <p:cNvSpPr/>
          <p:nvPr/>
        </p:nvSpPr>
        <p:spPr>
          <a:xfrm>
            <a:off x="381000" y="3123158"/>
            <a:ext cx="3351392" cy="426541"/>
          </a:xfrm>
          <a:prstGeom prst="rect">
            <a:avLst/>
          </a:prstGeom>
          <a:noFill/>
          <a:ln/>
        </p:spPr>
        <p:txBody>
          <a:bodyPr wrap="square" lIns="0" tIns="0" rIns="0" bIns="0" rtlCol="0" anchor="t"/>
          <a:lstStyle/>
          <a:p>
            <a:pPr algn="l" indent="0" marL="0">
              <a:lnSpc>
                <a:spcPts val="1680"/>
              </a:lnSpc>
              <a:buNone/>
            </a:pPr>
            <a:r>
              <a:rPr lang="en-US" sz="1050" dirty="0">
                <a:solidFill>
                  <a:srgbClr val="FFFFFF">
                    <a:alpha val="70000"/>
                  </a:srgbClr>
                </a:solidFill>
                <a:latin typeface="Arial" pitchFamily="34" charset="0"/>
                <a:ea typeface="Arial" pitchFamily="34" charset="-122"/>
                <a:cs typeface="Arial" pitchFamily="34" charset="-120"/>
              </a:rPr>
              <a:t>Claude can spawn child agents to work on subtasks in parallel, then combine results.</a:t>
            </a:r>
            <a:endParaRPr lang="en-US" sz="1050" dirty="0"/>
          </a:p>
        </p:txBody>
      </p:sp>
      <p:sp>
        <p:nvSpPr>
          <p:cNvPr id="7" name="Text 5"/>
          <p:cNvSpPr/>
          <p:nvPr/>
        </p:nvSpPr>
        <p:spPr>
          <a:xfrm>
            <a:off x="4200079" y="0"/>
            <a:ext cx="4943921" cy="5143500"/>
          </a:xfrm>
          <a:prstGeom prst="rect">
            <a:avLst/>
          </a:prstGeom>
          <a:solidFill>
            <a:srgbClr val="F7F8FA"/>
          </a:solidFill>
          <a:ln/>
        </p:spPr>
        <p:txBody>
          <a:bodyPr wrap="square" rtlCol="0" anchor="ctr"/>
          <a:lstStyle/>
          <a:p>
            <a:pPr indent="0" marL="0">
              <a:buNone/>
            </a:pPr>
            <a:endParaRPr lang="en-US" dirty="0"/>
          </a:p>
        </p:txBody>
      </p:sp>
      <p:sp>
        <p:nvSpPr>
          <p:cNvPr id="8" name="Text 6"/>
          <p:cNvSpPr/>
          <p:nvPr/>
        </p:nvSpPr>
        <p:spPr>
          <a:xfrm>
            <a:off x="4581079" y="696516"/>
            <a:ext cx="4181921" cy="897136"/>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9" name="Text 7"/>
          <p:cNvSpPr/>
          <p:nvPr/>
        </p:nvSpPr>
        <p:spPr>
          <a:xfrm>
            <a:off x="4743004" y="858441"/>
            <a:ext cx="3935233" cy="173236"/>
          </a:xfrm>
          <a:prstGeom prst="rect">
            <a:avLst/>
          </a:prstGeom>
          <a:noFill/>
          <a:ln/>
        </p:spPr>
        <p:txBody>
          <a:bodyPr wrap="square" lIns="0" tIns="0" rIns="0" bIns="0" rtlCol="0" anchor="t"/>
          <a:lstStyle/>
          <a:p>
            <a:pPr algn="l" indent="0" marL="0">
              <a:lnSpc>
                <a:spcPts val="1365"/>
              </a:lnSpc>
              <a:spcAft>
                <a:spcPts val="450"/>
              </a:spcAft>
              <a:buNone/>
            </a:pPr>
            <a:r>
              <a:rPr lang="en-US" sz="975" b="1" dirty="0">
                <a:solidFill>
                  <a:srgbClr val="1A1F2E"/>
                </a:solidFill>
                <a:latin typeface="Arial" pitchFamily="34" charset="0"/>
                <a:ea typeface="Arial" pitchFamily="34" charset="-122"/>
                <a:cs typeface="Arial" pitchFamily="34" charset="-120"/>
              </a:rPr>
              <a:t>How It Works</a:t>
            </a:r>
            <a:endParaRPr lang="en-US" sz="975" dirty="0"/>
          </a:p>
        </p:txBody>
      </p:sp>
      <p:sp>
        <p:nvSpPr>
          <p:cNvPr id="10" name="Text 8"/>
          <p:cNvSpPr/>
          <p:nvPr/>
        </p:nvSpPr>
        <p:spPr>
          <a:xfrm>
            <a:off x="4743004" y="1088827"/>
            <a:ext cx="3935233" cy="342900"/>
          </a:xfrm>
          <a:prstGeom prst="rect">
            <a:avLst/>
          </a:prstGeom>
          <a:noFill/>
          <a:ln/>
        </p:spPr>
        <p:txBody>
          <a:bodyPr wrap="square" lIns="0" tIns="0" rIns="0" bIns="0" rtlCol="0" anchor="t"/>
          <a:lstStyle/>
          <a:p>
            <a:pPr algn="l" indent="0" marL="0">
              <a:lnSpc>
                <a:spcPts val="1350"/>
              </a:lnSpc>
              <a:buNone/>
            </a:pPr>
            <a:r>
              <a:rPr lang="en-US" sz="900" dirty="0">
                <a:solidFill>
                  <a:srgbClr val="6B7280"/>
                </a:solidFill>
                <a:latin typeface="Arial" pitchFamily="34" charset="0"/>
                <a:ea typeface="Arial" pitchFamily="34" charset="-122"/>
                <a:cs typeface="Arial" pitchFamily="34" charset="-120"/>
              </a:rPr>
              <a:t>Main agent delegates complex tasks to specialized sub-agents. Each sub-agent handles a portion, returning results to the main agent.</a:t>
            </a:r>
            <a:endParaRPr lang="en-US" sz="900" dirty="0"/>
          </a:p>
        </p:txBody>
      </p:sp>
      <p:sp>
        <p:nvSpPr>
          <p:cNvPr id="11" name="Text 9"/>
          <p:cNvSpPr/>
          <p:nvPr/>
        </p:nvSpPr>
        <p:spPr>
          <a:xfrm>
            <a:off x="4581079" y="1707952"/>
            <a:ext cx="4181921" cy="1190327"/>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2" name="Text 10"/>
          <p:cNvSpPr/>
          <p:nvPr/>
        </p:nvSpPr>
        <p:spPr>
          <a:xfrm>
            <a:off x="4743004" y="1869877"/>
            <a:ext cx="3935233" cy="173236"/>
          </a:xfrm>
          <a:prstGeom prst="rect">
            <a:avLst/>
          </a:prstGeom>
          <a:noFill/>
          <a:ln/>
        </p:spPr>
        <p:txBody>
          <a:bodyPr wrap="square" lIns="0" tIns="0" rIns="0" bIns="0" rtlCol="0" anchor="t"/>
          <a:lstStyle/>
          <a:p>
            <a:pPr algn="l" indent="0" marL="0">
              <a:lnSpc>
                <a:spcPts val="1365"/>
              </a:lnSpc>
              <a:spcAft>
                <a:spcPts val="600"/>
              </a:spcAft>
              <a:buNone/>
            </a:pPr>
            <a:r>
              <a:rPr lang="en-US" sz="975" b="1" dirty="0">
                <a:solidFill>
                  <a:srgbClr val="1A1F2E"/>
                </a:solidFill>
                <a:latin typeface="Arial" pitchFamily="34" charset="0"/>
                <a:ea typeface="Arial" pitchFamily="34" charset="-122"/>
                <a:cs typeface="Arial" pitchFamily="34" charset="-120"/>
              </a:rPr>
              <a:t>Example Use Cases</a:t>
            </a:r>
            <a:endParaRPr lang="en-US" sz="975" dirty="0"/>
          </a:p>
        </p:txBody>
      </p:sp>
      <p:sp>
        <p:nvSpPr>
          <p:cNvPr id="13" name="Text 11"/>
          <p:cNvSpPr/>
          <p:nvPr/>
        </p:nvSpPr>
        <p:spPr>
          <a:xfrm>
            <a:off x="4743004" y="2119313"/>
            <a:ext cx="3935233" cy="617041"/>
          </a:xfrm>
          <a:prstGeom prst="rect">
            <a:avLst/>
          </a:prstGeom>
          <a:noFill/>
          <a:ln/>
        </p:spPr>
        <p:txBody>
          <a:bodyPr wrap="square" lIns="0" tIns="0" rIns="0" bIns="0" rtlCol="0" anchor="t"/>
          <a:lstStyle/>
          <a:p>
            <a:pPr algn="l" indent="0" marL="0">
              <a:lnSpc>
                <a:spcPts val="1620"/>
              </a:lnSpc>
              <a:buNone/>
            </a:pPr>
            <a:r>
              <a:rPr lang="en-US" sz="900" dirty="0">
                <a:solidFill>
                  <a:srgbClr val="6B7280"/>
                </a:solidFill>
                <a:latin typeface="Arial" pitchFamily="34" charset="0"/>
                <a:ea typeface="Arial" pitchFamily="34" charset="-122"/>
                <a:cs typeface="Arial" pitchFamily="34" charset="-120"/>
              </a:rPr>
              <a:t>"Refactor all API endpoints" - spawns agents per file</a:t>
            </a:r>
            <a:endParaRPr lang="en-US" sz="900" dirty="0"/>
          </a:p>
          <a:p>
            <a:pPr algn="l" indent="0" marL="0">
              <a:lnSpc>
                <a:spcPts val="1620"/>
              </a:lnSpc>
              <a:buNone/>
            </a:pPr>
            <a:r>
              <a:rPr lang="en-US" sz="900" dirty="0">
                <a:solidFill>
                  <a:srgbClr val="6B7280"/>
                </a:solidFill>
                <a:latin typeface="Arial" pitchFamily="34" charset="0"/>
                <a:ea typeface="Arial" pitchFamily="34" charset="-122"/>
                <a:cs typeface="Arial" pitchFamily="34" charset="-120"/>
              </a:rPr>
              <a:t>"Add tests for each module" - parallel test generation</a:t>
            </a:r>
            <a:endParaRPr lang="en-US" sz="900" dirty="0"/>
          </a:p>
          <a:p>
            <a:pPr algn="l" indent="0" marL="0">
              <a:lnSpc>
                <a:spcPts val="1620"/>
              </a:lnSpc>
              <a:buNone/>
            </a:pPr>
            <a:r>
              <a:rPr lang="en-US" sz="900" dirty="0">
                <a:solidFill>
                  <a:srgbClr val="6B7280"/>
                </a:solidFill>
                <a:latin typeface="Arial" pitchFamily="34" charset="0"/>
                <a:ea typeface="Arial" pitchFamily="34" charset="-122"/>
                <a:cs typeface="Arial" pitchFamily="34" charset="-120"/>
              </a:rPr>
              <a:t>"Research and implement" - one researches, one codes</a:t>
            </a:r>
            <a:endParaRPr lang="en-US" sz="900" dirty="0"/>
          </a:p>
        </p:txBody>
      </p:sp>
      <p:sp>
        <p:nvSpPr>
          <p:cNvPr id="14" name="Text 12"/>
          <p:cNvSpPr/>
          <p:nvPr/>
        </p:nvSpPr>
        <p:spPr>
          <a:xfrm>
            <a:off x="4581079" y="3012579"/>
            <a:ext cx="4181921" cy="893266"/>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5" name="Text 13"/>
          <p:cNvSpPr/>
          <p:nvPr/>
        </p:nvSpPr>
        <p:spPr>
          <a:xfrm>
            <a:off x="4743004" y="3174504"/>
            <a:ext cx="3935233" cy="173236"/>
          </a:xfrm>
          <a:prstGeom prst="rect">
            <a:avLst/>
          </a:prstGeom>
          <a:noFill/>
          <a:ln/>
        </p:spPr>
        <p:txBody>
          <a:bodyPr wrap="square" lIns="0" tIns="0" rIns="0" bIns="0" rtlCol="0" anchor="t"/>
          <a:lstStyle/>
          <a:p>
            <a:pPr algn="l" indent="0" marL="0">
              <a:lnSpc>
                <a:spcPts val="1365"/>
              </a:lnSpc>
              <a:spcAft>
                <a:spcPts val="600"/>
              </a:spcAft>
              <a:buNone/>
            </a:pPr>
            <a:r>
              <a:rPr lang="en-US" sz="975" b="1" dirty="0">
                <a:solidFill>
                  <a:srgbClr val="1A1F2E"/>
                </a:solidFill>
                <a:latin typeface="Arial" pitchFamily="34" charset="0"/>
                <a:ea typeface="Arial" pitchFamily="34" charset="-122"/>
                <a:cs typeface="Arial" pitchFamily="34" charset="-120"/>
              </a:rPr>
              <a:t>Voice Command Example</a:t>
            </a:r>
            <a:endParaRPr lang="en-US" sz="975" dirty="0"/>
          </a:p>
        </p:txBody>
      </p:sp>
      <p:sp>
        <p:nvSpPr>
          <p:cNvPr id="16" name="Text 14"/>
          <p:cNvSpPr/>
          <p:nvPr/>
        </p:nvSpPr>
        <p:spPr>
          <a:xfrm>
            <a:off x="4743004" y="3423940"/>
            <a:ext cx="3935233" cy="319980"/>
          </a:xfrm>
          <a:prstGeom prst="rect">
            <a:avLst/>
          </a:prstGeom>
          <a:noFill/>
          <a:ln/>
        </p:spPr>
        <p:txBody>
          <a:bodyPr wrap="square" lIns="0" tIns="0" rIns="0" bIns="0" rtlCol="0" anchor="t"/>
          <a:lstStyle/>
          <a:p>
            <a:pPr algn="l" indent="0" marL="0">
              <a:lnSpc>
                <a:spcPts val="1260"/>
              </a:lnSpc>
              <a:buNone/>
            </a:pPr>
            <a:r>
              <a:rPr lang="en-US" sz="900" i="1" dirty="0">
                <a:solidFill>
                  <a:srgbClr val="6B7280"/>
                </a:solidFill>
                <a:latin typeface="Arial" pitchFamily="34" charset="0"/>
                <a:ea typeface="Arial" pitchFamily="34" charset="-122"/>
                <a:cs typeface="Arial" pitchFamily="34" charset="-120"/>
              </a:rPr>
              <a:t>"Refactor all the API handlers to use async/await and add error handling to each one"</a:t>
            </a:r>
            <a:endParaRPr lang="en-US" sz="900" dirty="0"/>
          </a:p>
        </p:txBody>
      </p:sp>
      <p:sp>
        <p:nvSpPr>
          <p:cNvPr id="17" name="Text 15"/>
          <p:cNvSpPr/>
          <p:nvPr/>
        </p:nvSpPr>
        <p:spPr>
          <a:xfrm>
            <a:off x="4581079" y="4020145"/>
            <a:ext cx="4181921" cy="426690"/>
          </a:xfrm>
          <a:prstGeom prst="rect">
            <a:avLst/>
          </a:prstGeom>
          <a:solidFill>
            <a:srgbClr val="1A1F2E"/>
          </a:solidFill>
          <a:ln/>
        </p:spPr>
        <p:txBody>
          <a:bodyPr wrap="square" rtlCol="0" anchor="ctr"/>
          <a:lstStyle/>
          <a:p>
            <a:pPr indent="0" marL="0">
              <a:buNone/>
            </a:pPr>
            <a:endParaRPr lang="en-US" dirty="0"/>
          </a:p>
        </p:txBody>
      </p:sp>
      <p:sp>
        <p:nvSpPr>
          <p:cNvPr id="18" name="Text 16"/>
          <p:cNvSpPr/>
          <p:nvPr/>
        </p:nvSpPr>
        <p:spPr>
          <a:xfrm>
            <a:off x="4694707" y="4153495"/>
            <a:ext cx="3954664" cy="159990"/>
          </a:xfrm>
          <a:prstGeom prst="rect">
            <a:avLst/>
          </a:prstGeom>
          <a:noFill/>
          <a:ln/>
        </p:spPr>
        <p:txBody>
          <a:bodyPr wrap="square" lIns="0" tIns="0" rIns="0" bIns="0" rtlCol="0" anchor="t"/>
          <a:lstStyle/>
          <a:p>
            <a:pPr algn="ctr" indent="0" marL="0">
              <a:lnSpc>
                <a:spcPts val="1260"/>
              </a:lnSpc>
              <a:buNone/>
            </a:pPr>
            <a:r>
              <a:rPr lang="en-US" sz="900" b="1" dirty="0">
                <a:solidFill>
                  <a:srgbClr val="C9A227"/>
                </a:solidFill>
                <a:latin typeface="Arial" pitchFamily="34" charset="0"/>
                <a:ea typeface="Arial" pitchFamily="34" charset="-122"/>
                <a:cs typeface="Arial" pitchFamily="34" charset="-120"/>
              </a:rPr>
              <a:t>Benefit:</a:t>
            </a:r>
            <a:pPr algn="ctr" indent="0" marL="0">
              <a:lnSpc>
                <a:spcPts val="1260"/>
              </a:lnSpc>
              <a:buNone/>
            </a:pPr>
            <a:r>
              <a:rPr lang="en-US" sz="900" dirty="0">
                <a:solidFill>
                  <a:srgbClr val="C9A227"/>
                </a:solidFill>
                <a:latin typeface="Arial" pitchFamily="34" charset="0"/>
                <a:ea typeface="Arial" pitchFamily="34" charset="-122"/>
                <a:cs typeface="Arial" pitchFamily="34" charset="-120"/>
              </a:rPr>
              <a:t> Complex tasks complete faster with parallel execution</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457200" y="266700"/>
            <a:ext cx="8394192" cy="146596"/>
          </a:xfrm>
          <a:prstGeom prst="rect">
            <a:avLst/>
          </a:prstGeom>
          <a:noFill/>
          <a:ln/>
        </p:spPr>
        <p:txBody>
          <a:bodyPr wrap="square" lIns="0" tIns="0" rIns="0" bIns="0" rtlCol="0" anchor="t"/>
          <a:lstStyle/>
          <a:p>
            <a:pPr algn="l" indent="0" marL="0">
              <a:lnSpc>
                <a:spcPts val="1155"/>
              </a:lnSpc>
              <a:spcAft>
                <a:spcPts val="600"/>
              </a:spcAft>
              <a:buNone/>
            </a:pPr>
            <a:r>
              <a:rPr lang="en-US" sz="825" dirty="0">
                <a:solidFill>
                  <a:srgbClr val="C9A227"/>
                </a:solidFill>
                <a:latin typeface="Arial" pitchFamily="34" charset="0"/>
                <a:ea typeface="Arial" pitchFamily="34" charset="-122"/>
                <a:cs typeface="Arial" pitchFamily="34" charset="-120"/>
              </a:rPr>
              <a:t>SAFETY</a:t>
            </a:r>
            <a:endParaRPr lang="en-US" sz="825" dirty="0"/>
          </a:p>
        </p:txBody>
      </p:sp>
      <p:sp>
        <p:nvSpPr>
          <p:cNvPr id="3" name="Text 1"/>
          <p:cNvSpPr/>
          <p:nvPr/>
        </p:nvSpPr>
        <p:spPr>
          <a:xfrm>
            <a:off x="457200" y="489496"/>
            <a:ext cx="4313682" cy="304800"/>
          </a:xfrm>
          <a:prstGeom prst="rect">
            <a:avLst/>
          </a:prstGeom>
          <a:noFill/>
          <a:ln/>
        </p:spPr>
        <p:txBody>
          <a:bodyPr wrap="square" lIns="0" tIns="0" rIns="0" bIns="0" rtlCol="0" anchor="t"/>
          <a:lstStyle/>
          <a:p>
            <a:pPr algn="l" indent="0" marL="0">
              <a:lnSpc>
                <a:spcPts val="2400"/>
              </a:lnSpc>
              <a:buNone/>
            </a:pPr>
            <a:r>
              <a:rPr lang="en-US" sz="2400" dirty="0">
                <a:solidFill>
                  <a:srgbClr val="1A1F2E"/>
                </a:solidFill>
                <a:latin typeface="Georgia" pitchFamily="34" charset="0"/>
                <a:ea typeface="Georgia" pitchFamily="34" charset="-122"/>
                <a:cs typeface="Georgia" pitchFamily="34" charset="-120"/>
              </a:rPr>
              <a:t>Permission and Safety Controls</a:t>
            </a:r>
            <a:endParaRPr lang="en-US" sz="2400" dirty="0"/>
          </a:p>
        </p:txBody>
      </p:sp>
      <p:sp>
        <p:nvSpPr>
          <p:cNvPr id="4" name="Text 2"/>
          <p:cNvSpPr/>
          <p:nvPr/>
        </p:nvSpPr>
        <p:spPr>
          <a:xfrm>
            <a:off x="457200" y="1647974"/>
            <a:ext cx="2647950" cy="2679948"/>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5" name="Text 3"/>
          <p:cNvSpPr/>
          <p:nvPr/>
        </p:nvSpPr>
        <p:spPr>
          <a:xfrm>
            <a:off x="657225" y="1847999"/>
            <a:ext cx="2292858" cy="159990"/>
          </a:xfrm>
          <a:prstGeom prst="rect">
            <a:avLst/>
          </a:prstGeom>
          <a:noFill/>
          <a:ln/>
        </p:spPr>
        <p:txBody>
          <a:bodyPr wrap="square" lIns="0" tIns="0" rIns="0" bIns="0" rtlCol="0" anchor="t"/>
          <a:lstStyle/>
          <a:p>
            <a:pPr algn="l" indent="0" marL="0">
              <a:lnSpc>
                <a:spcPts val="1260"/>
              </a:lnSpc>
              <a:spcAft>
                <a:spcPts val="1050"/>
              </a:spcAft>
              <a:buNone/>
            </a:pPr>
            <a:r>
              <a:rPr lang="en-US" sz="900" b="1" dirty="0">
                <a:solidFill>
                  <a:srgbClr val="C9A227"/>
                </a:solidFill>
                <a:latin typeface="Arial" pitchFamily="34" charset="0"/>
                <a:ea typeface="Arial" pitchFamily="34" charset="-122"/>
                <a:cs typeface="Arial" pitchFamily="34" charset="-120"/>
              </a:rPr>
              <a:t>Permission Modes</a:t>
            </a:r>
            <a:endParaRPr lang="en-US" sz="900" dirty="0"/>
          </a:p>
        </p:txBody>
      </p:sp>
      <p:sp>
        <p:nvSpPr>
          <p:cNvPr id="6" name="Text 4"/>
          <p:cNvSpPr/>
          <p:nvPr/>
        </p:nvSpPr>
        <p:spPr>
          <a:xfrm>
            <a:off x="657225" y="2293739"/>
            <a:ext cx="2292858" cy="173236"/>
          </a:xfrm>
          <a:prstGeom prst="rect">
            <a:avLst/>
          </a:prstGeom>
          <a:noFill/>
          <a:ln/>
        </p:spPr>
        <p:txBody>
          <a:bodyPr wrap="square" lIns="0" tIns="0" rIns="0" bIns="0" rtlCol="0" anchor="t"/>
          <a:lstStyle/>
          <a:p>
            <a:pPr algn="l" indent="0" marL="0">
              <a:lnSpc>
                <a:spcPts val="1365"/>
              </a:lnSpc>
              <a:spcAft>
                <a:spcPts val="300"/>
              </a:spcAft>
              <a:buNone/>
            </a:pPr>
            <a:r>
              <a:rPr lang="en-US" sz="975" b="1" dirty="0">
                <a:solidFill>
                  <a:srgbClr val="1A1F2E"/>
                </a:solidFill>
                <a:latin typeface="Arial" pitchFamily="34" charset="0"/>
                <a:ea typeface="Arial" pitchFamily="34" charset="-122"/>
                <a:cs typeface="Arial" pitchFamily="34" charset="-120"/>
              </a:rPr>
              <a:t>Ask Mode (Default)</a:t>
            </a:r>
            <a:endParaRPr lang="en-US" sz="975" dirty="0"/>
          </a:p>
        </p:txBody>
      </p:sp>
      <p:sp>
        <p:nvSpPr>
          <p:cNvPr id="7" name="Text 5"/>
          <p:cNvSpPr/>
          <p:nvPr/>
        </p:nvSpPr>
        <p:spPr>
          <a:xfrm>
            <a:off x="657225" y="2505075"/>
            <a:ext cx="2292858" cy="314325"/>
          </a:xfrm>
          <a:prstGeom prst="rect">
            <a:avLst/>
          </a:prstGeom>
          <a:noFill/>
          <a:ln/>
        </p:spPr>
        <p:txBody>
          <a:bodyPr wrap="square" lIns="0" tIns="0" rIns="0" bIns="0" rtlCol="0" anchor="t"/>
          <a:lstStyle/>
          <a:p>
            <a:pPr algn="l" indent="0" marL="0">
              <a:lnSpc>
                <a:spcPts val="1238"/>
              </a:lnSpc>
              <a:buNone/>
            </a:pPr>
            <a:r>
              <a:rPr lang="en-US" sz="825" dirty="0">
                <a:solidFill>
                  <a:srgbClr val="6B7280"/>
                </a:solidFill>
                <a:latin typeface="Arial" pitchFamily="34" charset="0"/>
                <a:ea typeface="Arial" pitchFamily="34" charset="-122"/>
                <a:cs typeface="Arial" pitchFamily="34" charset="-120"/>
              </a:rPr>
              <a:t>Claude asks permission before file writes and bash commands</a:t>
            </a:r>
            <a:endParaRPr lang="en-US" sz="825" dirty="0"/>
          </a:p>
        </p:txBody>
      </p:sp>
      <p:sp>
        <p:nvSpPr>
          <p:cNvPr id="8" name="Text 6"/>
          <p:cNvSpPr/>
          <p:nvPr/>
        </p:nvSpPr>
        <p:spPr>
          <a:xfrm>
            <a:off x="657225" y="3105150"/>
            <a:ext cx="2292858" cy="173236"/>
          </a:xfrm>
          <a:prstGeom prst="rect">
            <a:avLst/>
          </a:prstGeom>
          <a:noFill/>
          <a:ln/>
        </p:spPr>
        <p:txBody>
          <a:bodyPr wrap="square" lIns="0" tIns="0" rIns="0" bIns="0" rtlCol="0" anchor="t"/>
          <a:lstStyle/>
          <a:p>
            <a:pPr algn="l" indent="0" marL="0">
              <a:lnSpc>
                <a:spcPts val="1365"/>
              </a:lnSpc>
              <a:spcAft>
                <a:spcPts val="300"/>
              </a:spcAft>
              <a:buNone/>
            </a:pPr>
            <a:r>
              <a:rPr lang="en-US" sz="975" b="1" dirty="0">
                <a:solidFill>
                  <a:srgbClr val="1A1F2E"/>
                </a:solidFill>
                <a:latin typeface="Arial" pitchFamily="34" charset="0"/>
                <a:ea typeface="Arial" pitchFamily="34" charset="-122"/>
                <a:cs typeface="Arial" pitchFamily="34" charset="-120"/>
              </a:rPr>
              <a:t>Auto-Accept Mode</a:t>
            </a:r>
            <a:endParaRPr lang="en-US" sz="975" dirty="0"/>
          </a:p>
        </p:txBody>
      </p:sp>
      <p:sp>
        <p:nvSpPr>
          <p:cNvPr id="9" name="Text 7"/>
          <p:cNvSpPr/>
          <p:nvPr/>
        </p:nvSpPr>
        <p:spPr>
          <a:xfrm>
            <a:off x="657225" y="3316486"/>
            <a:ext cx="2292858" cy="157163"/>
          </a:xfrm>
          <a:prstGeom prst="rect">
            <a:avLst/>
          </a:prstGeom>
          <a:noFill/>
          <a:ln/>
        </p:spPr>
        <p:txBody>
          <a:bodyPr wrap="square" lIns="0" tIns="0" rIns="0" bIns="0" rtlCol="0" anchor="t"/>
          <a:lstStyle/>
          <a:p>
            <a:pPr algn="l" indent="0" marL="0">
              <a:lnSpc>
                <a:spcPts val="1238"/>
              </a:lnSpc>
              <a:buNone/>
            </a:pPr>
            <a:r>
              <a:rPr lang="en-US" sz="825" dirty="0">
                <a:solidFill>
                  <a:srgbClr val="6B7280"/>
                </a:solidFill>
                <a:latin typeface="Arial" pitchFamily="34" charset="0"/>
                <a:ea typeface="Arial" pitchFamily="34" charset="-122"/>
                <a:cs typeface="Arial" pitchFamily="34" charset="-120"/>
              </a:rPr>
              <a:t>Skip confirmations (use with caution)</a:t>
            </a:r>
            <a:endParaRPr lang="en-US" sz="825" dirty="0"/>
          </a:p>
        </p:txBody>
      </p:sp>
      <p:sp>
        <p:nvSpPr>
          <p:cNvPr id="10" name="Text 8"/>
          <p:cNvSpPr/>
          <p:nvPr/>
        </p:nvSpPr>
        <p:spPr>
          <a:xfrm>
            <a:off x="657225" y="3759398"/>
            <a:ext cx="2292858" cy="173236"/>
          </a:xfrm>
          <a:prstGeom prst="rect">
            <a:avLst/>
          </a:prstGeom>
          <a:noFill/>
          <a:ln/>
        </p:spPr>
        <p:txBody>
          <a:bodyPr wrap="square" lIns="0" tIns="0" rIns="0" bIns="0" rtlCol="0" anchor="t"/>
          <a:lstStyle/>
          <a:p>
            <a:pPr algn="l" indent="0" marL="0">
              <a:lnSpc>
                <a:spcPts val="1365"/>
              </a:lnSpc>
              <a:spcAft>
                <a:spcPts val="300"/>
              </a:spcAft>
              <a:buNone/>
            </a:pPr>
            <a:r>
              <a:rPr lang="en-US" sz="975" b="1" dirty="0">
                <a:solidFill>
                  <a:srgbClr val="1A1F2E"/>
                </a:solidFill>
                <a:latin typeface="Arial" pitchFamily="34" charset="0"/>
                <a:ea typeface="Arial" pitchFamily="34" charset="-122"/>
                <a:cs typeface="Arial" pitchFamily="34" charset="-120"/>
              </a:rPr>
              <a:t>Tool Restrictions</a:t>
            </a:r>
            <a:endParaRPr lang="en-US" sz="975" dirty="0"/>
          </a:p>
        </p:txBody>
      </p:sp>
      <p:sp>
        <p:nvSpPr>
          <p:cNvPr id="11" name="Text 9"/>
          <p:cNvSpPr/>
          <p:nvPr/>
        </p:nvSpPr>
        <p:spPr>
          <a:xfrm>
            <a:off x="657225" y="3970734"/>
            <a:ext cx="2292858" cy="157163"/>
          </a:xfrm>
          <a:prstGeom prst="rect">
            <a:avLst/>
          </a:prstGeom>
          <a:noFill/>
          <a:ln/>
        </p:spPr>
        <p:txBody>
          <a:bodyPr wrap="square" lIns="0" tIns="0" rIns="0" bIns="0" rtlCol="0" anchor="t"/>
          <a:lstStyle/>
          <a:p>
            <a:pPr algn="l" indent="0" marL="0">
              <a:lnSpc>
                <a:spcPts val="1238"/>
              </a:lnSpc>
              <a:buNone/>
            </a:pPr>
            <a:r>
              <a:rPr lang="en-US" sz="825" dirty="0">
                <a:solidFill>
                  <a:srgbClr val="6B7280"/>
                </a:solidFill>
                <a:latin typeface="Arial" pitchFamily="34" charset="0"/>
                <a:ea typeface="Arial" pitchFamily="34" charset="-122"/>
                <a:cs typeface="Arial" pitchFamily="34" charset="-120"/>
              </a:rPr>
              <a:t>--allowedTools to limit capabilities</a:t>
            </a:r>
            <a:endParaRPr lang="en-US" sz="825" dirty="0"/>
          </a:p>
        </p:txBody>
      </p:sp>
      <p:sp>
        <p:nvSpPr>
          <p:cNvPr id="12" name="Text 10"/>
          <p:cNvSpPr/>
          <p:nvPr/>
        </p:nvSpPr>
        <p:spPr>
          <a:xfrm>
            <a:off x="3257550" y="1647974"/>
            <a:ext cx="2647950" cy="2679948"/>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3" name="Text 11"/>
          <p:cNvSpPr/>
          <p:nvPr/>
        </p:nvSpPr>
        <p:spPr>
          <a:xfrm>
            <a:off x="3457575" y="1847999"/>
            <a:ext cx="2292858" cy="159990"/>
          </a:xfrm>
          <a:prstGeom prst="rect">
            <a:avLst/>
          </a:prstGeom>
          <a:noFill/>
          <a:ln/>
        </p:spPr>
        <p:txBody>
          <a:bodyPr wrap="square" lIns="0" tIns="0" rIns="0" bIns="0" rtlCol="0" anchor="t"/>
          <a:lstStyle/>
          <a:p>
            <a:pPr algn="l" indent="0" marL="0">
              <a:lnSpc>
                <a:spcPts val="1260"/>
              </a:lnSpc>
              <a:spcAft>
                <a:spcPts val="1050"/>
              </a:spcAft>
              <a:buNone/>
            </a:pPr>
            <a:r>
              <a:rPr lang="en-US" sz="900" b="1" dirty="0">
                <a:solidFill>
                  <a:srgbClr val="C9A227"/>
                </a:solidFill>
                <a:latin typeface="Arial" pitchFamily="34" charset="0"/>
                <a:ea typeface="Arial" pitchFamily="34" charset="-122"/>
                <a:cs typeface="Arial" pitchFamily="34" charset="-120"/>
              </a:rPr>
              <a:t>Built-in Safety</a:t>
            </a:r>
            <a:endParaRPr lang="en-US" sz="900" dirty="0"/>
          </a:p>
        </p:txBody>
      </p:sp>
      <p:sp>
        <p:nvSpPr>
          <p:cNvPr id="14" name="Text 12"/>
          <p:cNvSpPr/>
          <p:nvPr/>
        </p:nvSpPr>
        <p:spPr>
          <a:xfrm>
            <a:off x="3457575" y="2293739"/>
            <a:ext cx="2292858" cy="173236"/>
          </a:xfrm>
          <a:prstGeom prst="rect">
            <a:avLst/>
          </a:prstGeom>
          <a:noFill/>
          <a:ln/>
        </p:spPr>
        <p:txBody>
          <a:bodyPr wrap="square" lIns="0" tIns="0" rIns="0" bIns="0" rtlCol="0" anchor="t"/>
          <a:lstStyle/>
          <a:p>
            <a:pPr algn="l" indent="0" marL="0">
              <a:lnSpc>
                <a:spcPts val="1365"/>
              </a:lnSpc>
              <a:spcAft>
                <a:spcPts val="300"/>
              </a:spcAft>
              <a:buNone/>
            </a:pPr>
            <a:r>
              <a:rPr lang="en-US" sz="975" b="1" dirty="0">
                <a:solidFill>
                  <a:srgbClr val="1A1F2E"/>
                </a:solidFill>
                <a:latin typeface="Arial" pitchFamily="34" charset="0"/>
                <a:ea typeface="Arial" pitchFamily="34" charset="-122"/>
                <a:cs typeface="Arial" pitchFamily="34" charset="-120"/>
              </a:rPr>
              <a:t>Sandbox Execution</a:t>
            </a:r>
            <a:endParaRPr lang="en-US" sz="975" dirty="0"/>
          </a:p>
        </p:txBody>
      </p:sp>
      <p:sp>
        <p:nvSpPr>
          <p:cNvPr id="15" name="Text 13"/>
          <p:cNvSpPr/>
          <p:nvPr/>
        </p:nvSpPr>
        <p:spPr>
          <a:xfrm>
            <a:off x="3457575" y="2505075"/>
            <a:ext cx="2292858" cy="314325"/>
          </a:xfrm>
          <a:prstGeom prst="rect">
            <a:avLst/>
          </a:prstGeom>
          <a:noFill/>
          <a:ln/>
        </p:spPr>
        <p:txBody>
          <a:bodyPr wrap="square" lIns="0" tIns="0" rIns="0" bIns="0" rtlCol="0" anchor="t"/>
          <a:lstStyle/>
          <a:p>
            <a:pPr algn="l" indent="0" marL="0">
              <a:lnSpc>
                <a:spcPts val="1238"/>
              </a:lnSpc>
              <a:buNone/>
            </a:pPr>
            <a:r>
              <a:rPr lang="en-US" sz="825" dirty="0">
                <a:solidFill>
                  <a:srgbClr val="6B7280"/>
                </a:solidFill>
                <a:latin typeface="Arial" pitchFamily="34" charset="0"/>
                <a:ea typeface="Arial" pitchFamily="34" charset="-122"/>
                <a:cs typeface="Arial" pitchFamily="34" charset="-120"/>
              </a:rPr>
              <a:t>Commands run in isolated environment when possible</a:t>
            </a:r>
            <a:endParaRPr lang="en-US" sz="825" dirty="0"/>
          </a:p>
        </p:txBody>
      </p:sp>
      <p:sp>
        <p:nvSpPr>
          <p:cNvPr id="16" name="Text 14"/>
          <p:cNvSpPr/>
          <p:nvPr/>
        </p:nvSpPr>
        <p:spPr>
          <a:xfrm>
            <a:off x="3457575" y="3105150"/>
            <a:ext cx="2292858" cy="173236"/>
          </a:xfrm>
          <a:prstGeom prst="rect">
            <a:avLst/>
          </a:prstGeom>
          <a:noFill/>
          <a:ln/>
        </p:spPr>
        <p:txBody>
          <a:bodyPr wrap="square" lIns="0" tIns="0" rIns="0" bIns="0" rtlCol="0" anchor="t"/>
          <a:lstStyle/>
          <a:p>
            <a:pPr algn="l" indent="0" marL="0">
              <a:lnSpc>
                <a:spcPts val="1365"/>
              </a:lnSpc>
              <a:spcAft>
                <a:spcPts val="300"/>
              </a:spcAft>
              <a:buNone/>
            </a:pPr>
            <a:r>
              <a:rPr lang="en-US" sz="975" b="1" dirty="0">
                <a:solidFill>
                  <a:srgbClr val="1A1F2E"/>
                </a:solidFill>
                <a:latin typeface="Arial" pitchFamily="34" charset="0"/>
                <a:ea typeface="Arial" pitchFamily="34" charset="-122"/>
                <a:cs typeface="Arial" pitchFamily="34" charset="-120"/>
              </a:rPr>
              <a:t>Destructive Command Detection</a:t>
            </a:r>
            <a:endParaRPr lang="en-US" sz="975" dirty="0"/>
          </a:p>
        </p:txBody>
      </p:sp>
      <p:sp>
        <p:nvSpPr>
          <p:cNvPr id="17" name="Text 15"/>
          <p:cNvSpPr/>
          <p:nvPr/>
        </p:nvSpPr>
        <p:spPr>
          <a:xfrm>
            <a:off x="3457575" y="3316486"/>
            <a:ext cx="2292858" cy="157163"/>
          </a:xfrm>
          <a:prstGeom prst="rect">
            <a:avLst/>
          </a:prstGeom>
          <a:noFill/>
          <a:ln/>
        </p:spPr>
        <p:txBody>
          <a:bodyPr wrap="square" lIns="0" tIns="0" rIns="0" bIns="0" rtlCol="0" anchor="t"/>
          <a:lstStyle/>
          <a:p>
            <a:pPr algn="l" indent="0" marL="0">
              <a:lnSpc>
                <a:spcPts val="1238"/>
              </a:lnSpc>
              <a:buNone/>
            </a:pPr>
            <a:r>
              <a:rPr lang="en-US" sz="825" dirty="0">
                <a:solidFill>
                  <a:srgbClr val="6B7280"/>
                </a:solidFill>
                <a:latin typeface="Arial" pitchFamily="34" charset="0"/>
                <a:ea typeface="Arial" pitchFamily="34" charset="-122"/>
                <a:cs typeface="Arial" pitchFamily="34" charset="-120"/>
              </a:rPr>
              <a:t>Extra confirmation for rm, git push --force, etc.</a:t>
            </a:r>
            <a:endParaRPr lang="en-US" sz="825" dirty="0"/>
          </a:p>
        </p:txBody>
      </p:sp>
      <p:sp>
        <p:nvSpPr>
          <p:cNvPr id="18" name="Text 16"/>
          <p:cNvSpPr/>
          <p:nvPr/>
        </p:nvSpPr>
        <p:spPr>
          <a:xfrm>
            <a:off x="3457575" y="3759398"/>
            <a:ext cx="2292858" cy="173236"/>
          </a:xfrm>
          <a:prstGeom prst="rect">
            <a:avLst/>
          </a:prstGeom>
          <a:noFill/>
          <a:ln/>
        </p:spPr>
        <p:txBody>
          <a:bodyPr wrap="square" lIns="0" tIns="0" rIns="0" bIns="0" rtlCol="0" anchor="t"/>
          <a:lstStyle/>
          <a:p>
            <a:pPr algn="l" indent="0" marL="0">
              <a:lnSpc>
                <a:spcPts val="1365"/>
              </a:lnSpc>
              <a:spcAft>
                <a:spcPts val="300"/>
              </a:spcAft>
              <a:buNone/>
            </a:pPr>
            <a:r>
              <a:rPr lang="en-US" sz="975" b="1" dirty="0">
                <a:solidFill>
                  <a:srgbClr val="1A1F2E"/>
                </a:solidFill>
                <a:latin typeface="Arial" pitchFamily="34" charset="0"/>
                <a:ea typeface="Arial" pitchFamily="34" charset="-122"/>
                <a:cs typeface="Arial" pitchFamily="34" charset="-120"/>
              </a:rPr>
              <a:t>Git Integration</a:t>
            </a:r>
            <a:endParaRPr lang="en-US" sz="975" dirty="0"/>
          </a:p>
        </p:txBody>
      </p:sp>
      <p:sp>
        <p:nvSpPr>
          <p:cNvPr id="19" name="Text 17"/>
          <p:cNvSpPr/>
          <p:nvPr/>
        </p:nvSpPr>
        <p:spPr>
          <a:xfrm>
            <a:off x="3457575" y="3970734"/>
            <a:ext cx="2292858" cy="157163"/>
          </a:xfrm>
          <a:prstGeom prst="rect">
            <a:avLst/>
          </a:prstGeom>
          <a:noFill/>
          <a:ln/>
        </p:spPr>
        <p:txBody>
          <a:bodyPr wrap="square" lIns="0" tIns="0" rIns="0" bIns="0" rtlCol="0" anchor="t"/>
          <a:lstStyle/>
          <a:p>
            <a:pPr algn="l" indent="0" marL="0">
              <a:lnSpc>
                <a:spcPts val="1238"/>
              </a:lnSpc>
              <a:buNone/>
            </a:pPr>
            <a:r>
              <a:rPr lang="en-US" sz="825" dirty="0">
                <a:solidFill>
                  <a:srgbClr val="6B7280"/>
                </a:solidFill>
                <a:latin typeface="Arial" pitchFamily="34" charset="0"/>
                <a:ea typeface="Arial" pitchFamily="34" charset="-122"/>
                <a:cs typeface="Arial" pitchFamily="34" charset="-120"/>
              </a:rPr>
              <a:t>Changes visible in git diff for review</a:t>
            </a:r>
            <a:endParaRPr lang="en-US" sz="825" dirty="0"/>
          </a:p>
        </p:txBody>
      </p:sp>
      <p:sp>
        <p:nvSpPr>
          <p:cNvPr id="20" name="Text 18"/>
          <p:cNvSpPr/>
          <p:nvPr/>
        </p:nvSpPr>
        <p:spPr>
          <a:xfrm>
            <a:off x="6057900" y="1511647"/>
            <a:ext cx="2628900" cy="2952601"/>
          </a:xfrm>
          <a:prstGeom prst="rect">
            <a:avLst/>
          </a:prstGeom>
          <a:solidFill>
            <a:srgbClr val="1A1F2E"/>
          </a:solidFill>
          <a:ln/>
        </p:spPr>
        <p:txBody>
          <a:bodyPr wrap="square" rtlCol="0" anchor="ctr"/>
          <a:lstStyle/>
          <a:p>
            <a:pPr indent="0" marL="0">
              <a:buNone/>
            </a:pPr>
            <a:endParaRPr lang="en-US" dirty="0"/>
          </a:p>
        </p:txBody>
      </p:sp>
      <p:sp>
        <p:nvSpPr>
          <p:cNvPr id="21" name="Text 19"/>
          <p:cNvSpPr/>
          <p:nvPr/>
        </p:nvSpPr>
        <p:spPr>
          <a:xfrm>
            <a:off x="6248400" y="1702147"/>
            <a:ext cx="2292858" cy="159990"/>
          </a:xfrm>
          <a:prstGeom prst="rect">
            <a:avLst/>
          </a:prstGeom>
          <a:noFill/>
          <a:ln/>
        </p:spPr>
        <p:txBody>
          <a:bodyPr wrap="square" lIns="0" tIns="0" rIns="0" bIns="0" rtlCol="0" anchor="t"/>
          <a:lstStyle/>
          <a:p>
            <a:pPr algn="l" indent="0" marL="0">
              <a:lnSpc>
                <a:spcPts val="1260"/>
              </a:lnSpc>
              <a:spcAft>
                <a:spcPts val="1050"/>
              </a:spcAft>
              <a:buNone/>
            </a:pPr>
            <a:r>
              <a:rPr lang="en-US" sz="900" b="1" dirty="0">
                <a:solidFill>
                  <a:srgbClr val="C9A227"/>
                </a:solidFill>
                <a:latin typeface="Arial" pitchFamily="34" charset="0"/>
                <a:ea typeface="Arial" pitchFamily="34" charset="-122"/>
                <a:cs typeface="Arial" pitchFamily="34" charset="-120"/>
              </a:rPr>
              <a:t>Best Practices</a:t>
            </a:r>
            <a:endParaRPr lang="en-US" sz="900" dirty="0"/>
          </a:p>
        </p:txBody>
      </p:sp>
      <p:sp>
        <p:nvSpPr>
          <p:cNvPr id="22" name="Text 20"/>
          <p:cNvSpPr/>
          <p:nvPr/>
        </p:nvSpPr>
        <p:spPr>
          <a:xfrm>
            <a:off x="6248400" y="2147888"/>
            <a:ext cx="2292858" cy="159990"/>
          </a:xfrm>
          <a:prstGeom prst="rect">
            <a:avLst/>
          </a:prstGeom>
          <a:noFill/>
          <a:ln/>
        </p:spPr>
        <p:txBody>
          <a:bodyPr wrap="square" lIns="0" tIns="0" rIns="0" bIns="0" rtlCol="0" anchor="t"/>
          <a:lstStyle/>
          <a:p>
            <a:pPr algn="l" indent="0" marL="0">
              <a:lnSpc>
                <a:spcPts val="1260"/>
              </a:lnSpc>
              <a:buNone/>
            </a:pPr>
            <a:r>
              <a:rPr lang="en-US" sz="900" dirty="0">
                <a:solidFill>
                  <a:srgbClr val="FFFFFF"/>
                </a:solidFill>
                <a:latin typeface="Arial" pitchFamily="34" charset="0"/>
                <a:ea typeface="Arial" pitchFamily="34" charset="-122"/>
                <a:cs typeface="Arial" pitchFamily="34" charset="-120"/>
              </a:rPr>
              <a:t>1. Start in Ask Mode</a:t>
            </a:r>
            <a:endParaRPr lang="en-US" sz="900" dirty="0"/>
          </a:p>
        </p:txBody>
      </p:sp>
      <p:sp>
        <p:nvSpPr>
          <p:cNvPr id="23" name="Text 21"/>
          <p:cNvSpPr/>
          <p:nvPr/>
        </p:nvSpPr>
        <p:spPr>
          <a:xfrm>
            <a:off x="6248400" y="2345978"/>
            <a:ext cx="2292858" cy="133350"/>
          </a:xfrm>
          <a:prstGeom prst="rect">
            <a:avLst/>
          </a:prstGeom>
          <a:noFill/>
          <a:ln/>
        </p:spPr>
        <p:txBody>
          <a:bodyPr wrap="square" lIns="0" tIns="0" rIns="0" bIns="0" rtlCol="0" anchor="t"/>
          <a:lstStyle/>
          <a:p>
            <a:pPr algn="l" indent="0" marL="0">
              <a:lnSpc>
                <a:spcPts val="1050"/>
              </a:lnSpc>
              <a:spcBef>
                <a:spcPts val="300"/>
              </a:spcBef>
              <a:buNone/>
            </a:pPr>
            <a:r>
              <a:rPr lang="en-US" sz="750" dirty="0">
                <a:solidFill>
                  <a:srgbClr val="FFFFFF">
                    <a:alpha val="50000"/>
                  </a:srgbClr>
                </a:solidFill>
                <a:latin typeface="Arial" pitchFamily="34" charset="0"/>
                <a:ea typeface="Arial" pitchFamily="34" charset="-122"/>
                <a:cs typeface="Arial" pitchFamily="34" charset="-120"/>
              </a:rPr>
              <a:t>Learn what Claude does</a:t>
            </a:r>
            <a:endParaRPr lang="en-US" sz="750" dirty="0"/>
          </a:p>
        </p:txBody>
      </p:sp>
      <p:sp>
        <p:nvSpPr>
          <p:cNvPr id="24" name="Text 22"/>
          <p:cNvSpPr/>
          <p:nvPr/>
        </p:nvSpPr>
        <p:spPr>
          <a:xfrm>
            <a:off x="6248400" y="2746028"/>
            <a:ext cx="2292858" cy="159990"/>
          </a:xfrm>
          <a:prstGeom prst="rect">
            <a:avLst/>
          </a:prstGeom>
          <a:noFill/>
          <a:ln/>
        </p:spPr>
        <p:txBody>
          <a:bodyPr wrap="square" lIns="0" tIns="0" rIns="0" bIns="0" rtlCol="0" anchor="t"/>
          <a:lstStyle/>
          <a:p>
            <a:pPr algn="l" indent="0" marL="0">
              <a:lnSpc>
                <a:spcPts val="1260"/>
              </a:lnSpc>
              <a:buNone/>
            </a:pPr>
            <a:r>
              <a:rPr lang="en-US" sz="900" dirty="0">
                <a:solidFill>
                  <a:srgbClr val="FFFFFF"/>
                </a:solidFill>
                <a:latin typeface="Arial" pitchFamily="34" charset="0"/>
                <a:ea typeface="Arial" pitchFamily="34" charset="-122"/>
                <a:cs typeface="Arial" pitchFamily="34" charset="-120"/>
              </a:rPr>
              <a:t>2. Use Git Branches</a:t>
            </a:r>
            <a:endParaRPr lang="en-US" sz="900" dirty="0"/>
          </a:p>
        </p:txBody>
      </p:sp>
      <p:sp>
        <p:nvSpPr>
          <p:cNvPr id="25" name="Text 23"/>
          <p:cNvSpPr/>
          <p:nvPr/>
        </p:nvSpPr>
        <p:spPr>
          <a:xfrm>
            <a:off x="6248400" y="2944118"/>
            <a:ext cx="2292858" cy="133350"/>
          </a:xfrm>
          <a:prstGeom prst="rect">
            <a:avLst/>
          </a:prstGeom>
          <a:noFill/>
          <a:ln/>
        </p:spPr>
        <p:txBody>
          <a:bodyPr wrap="square" lIns="0" tIns="0" rIns="0" bIns="0" rtlCol="0" anchor="t"/>
          <a:lstStyle/>
          <a:p>
            <a:pPr algn="l" indent="0" marL="0">
              <a:lnSpc>
                <a:spcPts val="1050"/>
              </a:lnSpc>
              <a:spcBef>
                <a:spcPts val="300"/>
              </a:spcBef>
              <a:buNone/>
            </a:pPr>
            <a:r>
              <a:rPr lang="en-US" sz="750" dirty="0">
                <a:solidFill>
                  <a:srgbClr val="FFFFFF">
                    <a:alpha val="50000"/>
                  </a:srgbClr>
                </a:solidFill>
                <a:latin typeface="Arial" pitchFamily="34" charset="0"/>
                <a:ea typeface="Arial" pitchFamily="34" charset="-122"/>
                <a:cs typeface="Arial" pitchFamily="34" charset="-120"/>
              </a:rPr>
              <a:t>Easy to revert changes</a:t>
            </a:r>
            <a:endParaRPr lang="en-US" sz="750" dirty="0"/>
          </a:p>
        </p:txBody>
      </p:sp>
      <p:sp>
        <p:nvSpPr>
          <p:cNvPr id="26" name="Text 24"/>
          <p:cNvSpPr/>
          <p:nvPr/>
        </p:nvSpPr>
        <p:spPr>
          <a:xfrm>
            <a:off x="6248400" y="3344168"/>
            <a:ext cx="2292858" cy="159990"/>
          </a:xfrm>
          <a:prstGeom prst="rect">
            <a:avLst/>
          </a:prstGeom>
          <a:noFill/>
          <a:ln/>
        </p:spPr>
        <p:txBody>
          <a:bodyPr wrap="square" lIns="0" tIns="0" rIns="0" bIns="0" rtlCol="0" anchor="t"/>
          <a:lstStyle/>
          <a:p>
            <a:pPr algn="l" indent="0" marL="0">
              <a:lnSpc>
                <a:spcPts val="1260"/>
              </a:lnSpc>
              <a:buNone/>
            </a:pPr>
            <a:r>
              <a:rPr lang="en-US" sz="900" dirty="0">
                <a:solidFill>
                  <a:srgbClr val="FFFFFF"/>
                </a:solidFill>
                <a:latin typeface="Arial" pitchFamily="34" charset="0"/>
                <a:ea typeface="Arial" pitchFamily="34" charset="-122"/>
                <a:cs typeface="Arial" pitchFamily="34" charset="-120"/>
              </a:rPr>
              <a:t>3. Review Diffs</a:t>
            </a:r>
            <a:endParaRPr lang="en-US" sz="900" dirty="0"/>
          </a:p>
        </p:txBody>
      </p:sp>
      <p:sp>
        <p:nvSpPr>
          <p:cNvPr id="27" name="Text 25"/>
          <p:cNvSpPr/>
          <p:nvPr/>
        </p:nvSpPr>
        <p:spPr>
          <a:xfrm>
            <a:off x="6248400" y="3542258"/>
            <a:ext cx="2292858" cy="133350"/>
          </a:xfrm>
          <a:prstGeom prst="rect">
            <a:avLst/>
          </a:prstGeom>
          <a:noFill/>
          <a:ln/>
        </p:spPr>
        <p:txBody>
          <a:bodyPr wrap="square" lIns="0" tIns="0" rIns="0" bIns="0" rtlCol="0" anchor="t"/>
          <a:lstStyle/>
          <a:p>
            <a:pPr algn="l" indent="0" marL="0">
              <a:lnSpc>
                <a:spcPts val="1050"/>
              </a:lnSpc>
              <a:spcBef>
                <a:spcPts val="300"/>
              </a:spcBef>
              <a:buNone/>
            </a:pPr>
            <a:r>
              <a:rPr lang="en-US" sz="750" dirty="0">
                <a:solidFill>
                  <a:srgbClr val="FFFFFF">
                    <a:alpha val="50000"/>
                  </a:srgbClr>
                </a:solidFill>
                <a:latin typeface="Arial" pitchFamily="34" charset="0"/>
                <a:ea typeface="Arial" pitchFamily="34" charset="-122"/>
                <a:cs typeface="Arial" pitchFamily="34" charset="-120"/>
              </a:rPr>
              <a:t>Check before committing</a:t>
            </a:r>
            <a:endParaRPr lang="en-US" sz="750" dirty="0"/>
          </a:p>
        </p:txBody>
      </p:sp>
      <p:sp>
        <p:nvSpPr>
          <p:cNvPr id="28" name="Text 26"/>
          <p:cNvSpPr/>
          <p:nvPr/>
        </p:nvSpPr>
        <p:spPr>
          <a:xfrm>
            <a:off x="6248400" y="3942308"/>
            <a:ext cx="2292858" cy="159990"/>
          </a:xfrm>
          <a:prstGeom prst="rect">
            <a:avLst/>
          </a:prstGeom>
          <a:noFill/>
          <a:ln/>
        </p:spPr>
        <p:txBody>
          <a:bodyPr wrap="square" lIns="0" tIns="0" rIns="0" bIns="0" rtlCol="0" anchor="t"/>
          <a:lstStyle/>
          <a:p>
            <a:pPr algn="l" indent="0" marL="0">
              <a:lnSpc>
                <a:spcPts val="1260"/>
              </a:lnSpc>
              <a:buNone/>
            </a:pPr>
            <a:r>
              <a:rPr lang="en-US" sz="900" dirty="0">
                <a:solidFill>
                  <a:srgbClr val="FFFFFF"/>
                </a:solidFill>
                <a:latin typeface="Arial" pitchFamily="34" charset="0"/>
                <a:ea typeface="Arial" pitchFamily="34" charset="-122"/>
                <a:cs typeface="Arial" pitchFamily="34" charset="-120"/>
              </a:rPr>
              <a:t>4. Test Changes</a:t>
            </a:r>
            <a:endParaRPr lang="en-US" sz="900" dirty="0"/>
          </a:p>
        </p:txBody>
      </p:sp>
      <p:sp>
        <p:nvSpPr>
          <p:cNvPr id="29" name="Text 27"/>
          <p:cNvSpPr/>
          <p:nvPr/>
        </p:nvSpPr>
        <p:spPr>
          <a:xfrm>
            <a:off x="6248400" y="4140398"/>
            <a:ext cx="2292858" cy="133350"/>
          </a:xfrm>
          <a:prstGeom prst="rect">
            <a:avLst/>
          </a:prstGeom>
          <a:noFill/>
          <a:ln/>
        </p:spPr>
        <p:txBody>
          <a:bodyPr wrap="square" lIns="0" tIns="0" rIns="0" bIns="0" rtlCol="0" anchor="t"/>
          <a:lstStyle/>
          <a:p>
            <a:pPr algn="l" indent="0" marL="0">
              <a:lnSpc>
                <a:spcPts val="1050"/>
              </a:lnSpc>
              <a:spcBef>
                <a:spcPts val="300"/>
              </a:spcBef>
              <a:buNone/>
            </a:pPr>
            <a:r>
              <a:rPr lang="en-US" sz="750" dirty="0">
                <a:solidFill>
                  <a:srgbClr val="FFFFFF">
                    <a:alpha val="50000"/>
                  </a:srgbClr>
                </a:solidFill>
                <a:latin typeface="Arial" pitchFamily="34" charset="0"/>
                <a:ea typeface="Arial" pitchFamily="34" charset="-122"/>
                <a:cs typeface="Arial" pitchFamily="34" charset="-120"/>
              </a:rPr>
              <a:t>Run tests after edits</a:t>
            </a:r>
            <a:endParaRPr lang="en-US" sz="7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1A1F2E"/>
        </a:solidFill>
      </p:bgPr>
    </p:bg>
    <p:spTree>
      <p:nvGrpSpPr>
        <p:cNvPr id="1" name=""/>
        <p:cNvGrpSpPr/>
        <p:nvPr/>
      </p:nvGrpSpPr>
      <p:grpSpPr>
        <a:xfrm>
          <a:off x="0" y="0"/>
          <a:ext cx="0" cy="0"/>
          <a:chOff x="0" y="0"/>
          <a:chExt cx="0" cy="0"/>
        </a:xfrm>
      </p:grpSpPr>
      <p:sp>
        <p:nvSpPr>
          <p:cNvPr id="2" name="Text 0"/>
          <p:cNvSpPr/>
          <p:nvPr/>
        </p:nvSpPr>
        <p:spPr>
          <a:xfrm>
            <a:off x="381000" y="266700"/>
            <a:ext cx="8549640" cy="133350"/>
          </a:xfrm>
          <a:prstGeom prst="rect">
            <a:avLst/>
          </a:prstGeom>
          <a:noFill/>
          <a:ln/>
        </p:spPr>
        <p:txBody>
          <a:bodyPr wrap="square" lIns="0" tIns="0" rIns="0" bIns="0" rtlCol="0" anchor="t"/>
          <a:lstStyle/>
          <a:p>
            <a:pPr algn="l" indent="0" marL="0">
              <a:lnSpc>
                <a:spcPts val="1050"/>
              </a:lnSpc>
              <a:spcAft>
                <a:spcPts val="450"/>
              </a:spcAft>
              <a:buNone/>
            </a:pPr>
            <a:r>
              <a:rPr lang="en-US" sz="750" dirty="0">
                <a:solidFill>
                  <a:srgbClr val="C9A227"/>
                </a:solidFill>
                <a:latin typeface="Arial" pitchFamily="34" charset="0"/>
                <a:ea typeface="Arial" pitchFamily="34" charset="-122"/>
                <a:cs typeface="Arial" pitchFamily="34" charset="-120"/>
              </a:rPr>
              <a:t>SUMMARY</a:t>
            </a:r>
            <a:endParaRPr lang="en-US" sz="750" dirty="0"/>
          </a:p>
        </p:txBody>
      </p:sp>
      <p:sp>
        <p:nvSpPr>
          <p:cNvPr id="3" name="Text 1"/>
          <p:cNvSpPr/>
          <p:nvPr/>
        </p:nvSpPr>
        <p:spPr>
          <a:xfrm>
            <a:off x="381000" y="457200"/>
            <a:ext cx="4284536" cy="266700"/>
          </a:xfrm>
          <a:prstGeom prst="rect">
            <a:avLst/>
          </a:prstGeom>
          <a:noFill/>
          <a:ln/>
        </p:spPr>
        <p:txBody>
          <a:bodyPr wrap="square" lIns="0" tIns="0" rIns="0" bIns="0" rtlCol="0" anchor="t"/>
          <a:lstStyle/>
          <a:p>
            <a:pPr algn="l" indent="0" marL="0">
              <a:lnSpc>
                <a:spcPts val="2100"/>
              </a:lnSpc>
              <a:buNone/>
            </a:pPr>
            <a:r>
              <a:rPr lang="en-US" sz="2100" dirty="0">
                <a:solidFill>
                  <a:srgbClr val="FFFFFF"/>
                </a:solidFill>
                <a:latin typeface="Georgia" pitchFamily="34" charset="0"/>
                <a:ea typeface="Georgia" pitchFamily="34" charset="-122"/>
                <a:cs typeface="Georgia" pitchFamily="34" charset="-120"/>
              </a:rPr>
              <a:t>CLI Tools Best Practices</a:t>
            </a:r>
            <a:endParaRPr lang="en-US" sz="2100" dirty="0"/>
          </a:p>
        </p:txBody>
      </p:sp>
      <p:sp>
        <p:nvSpPr>
          <p:cNvPr id="4" name="Text 2"/>
          <p:cNvSpPr/>
          <p:nvPr/>
        </p:nvSpPr>
        <p:spPr>
          <a:xfrm>
            <a:off x="381000" y="1816596"/>
            <a:ext cx="2705100" cy="2272308"/>
          </a:xfrm>
          <a:prstGeom prst="rect">
            <a:avLst/>
          </a:prstGeom>
          <a:solidFill>
            <a:srgbClr val="252B3D"/>
          </a:solidFill>
          <a:ln/>
        </p:spPr>
        <p:txBody>
          <a:bodyPr wrap="square" rtlCol="0" anchor="ctr"/>
          <a:lstStyle/>
          <a:p>
            <a:pPr indent="0" marL="0">
              <a:buNone/>
            </a:pPr>
            <a:endParaRPr lang="en-US" dirty="0"/>
          </a:p>
        </p:txBody>
      </p:sp>
      <p:sp>
        <p:nvSpPr>
          <p:cNvPr id="5" name="Text 3"/>
          <p:cNvSpPr/>
          <p:nvPr/>
        </p:nvSpPr>
        <p:spPr>
          <a:xfrm>
            <a:off x="571500" y="2007096"/>
            <a:ext cx="2370582" cy="146596"/>
          </a:xfrm>
          <a:prstGeom prst="rect">
            <a:avLst/>
          </a:prstGeom>
          <a:noFill/>
          <a:ln/>
        </p:spPr>
        <p:txBody>
          <a:bodyPr wrap="square" lIns="0" tIns="0" rIns="0" bIns="0" rtlCol="0" anchor="t"/>
          <a:lstStyle/>
          <a:p>
            <a:pPr algn="l" indent="0" marL="0">
              <a:lnSpc>
                <a:spcPts val="1155"/>
              </a:lnSpc>
              <a:spcAft>
                <a:spcPts val="1050"/>
              </a:spcAft>
              <a:buNone/>
            </a:pPr>
            <a:r>
              <a:rPr lang="en-US" sz="825" b="1" dirty="0">
                <a:solidFill>
                  <a:srgbClr val="C9A227"/>
                </a:solidFill>
                <a:latin typeface="Arial" pitchFamily="34" charset="0"/>
                <a:ea typeface="Arial" pitchFamily="34" charset="-122"/>
                <a:cs typeface="Arial" pitchFamily="34" charset="-120"/>
              </a:rPr>
              <a:t>Getting Started</a:t>
            </a:r>
            <a:endParaRPr lang="en-US" sz="825" dirty="0"/>
          </a:p>
        </p:txBody>
      </p:sp>
      <p:sp>
        <p:nvSpPr>
          <p:cNvPr id="6" name="Text 4"/>
          <p:cNvSpPr/>
          <p:nvPr/>
        </p:nvSpPr>
        <p:spPr>
          <a:xfrm>
            <a:off x="571500" y="2439442"/>
            <a:ext cx="2370582" cy="146596"/>
          </a:xfrm>
          <a:prstGeom prst="rect">
            <a:avLst/>
          </a:prstGeom>
          <a:noFill/>
          <a:ln/>
        </p:spPr>
        <p:txBody>
          <a:bodyPr wrap="square" lIns="0" tIns="0" rIns="0" bIns="0" rtlCol="0" anchor="t"/>
          <a:lstStyle/>
          <a:p>
            <a:pPr algn="l" indent="0" marL="0">
              <a:lnSpc>
                <a:spcPts val="1155"/>
              </a:lnSpc>
              <a:spcAft>
                <a:spcPts val="225"/>
              </a:spcAft>
              <a:buNone/>
            </a:pPr>
            <a:r>
              <a:rPr lang="en-US" sz="825" dirty="0">
                <a:solidFill>
                  <a:srgbClr val="FFFFFF"/>
                </a:solidFill>
                <a:latin typeface="Arial" pitchFamily="34" charset="0"/>
                <a:ea typeface="Arial" pitchFamily="34" charset="-122"/>
                <a:cs typeface="Arial" pitchFamily="34" charset="-120"/>
              </a:rPr>
              <a:t>Create CLAUDE.md first</a:t>
            </a:r>
            <a:endParaRPr lang="en-US" sz="825" dirty="0"/>
          </a:p>
        </p:txBody>
      </p:sp>
      <p:sp>
        <p:nvSpPr>
          <p:cNvPr id="7" name="Text 5"/>
          <p:cNvSpPr/>
          <p:nvPr/>
        </p:nvSpPr>
        <p:spPr>
          <a:xfrm>
            <a:off x="571500" y="2614613"/>
            <a:ext cx="2370582" cy="133350"/>
          </a:xfrm>
          <a:prstGeom prst="rect">
            <a:avLst/>
          </a:prstGeom>
          <a:noFill/>
          <a:ln/>
        </p:spPr>
        <p:txBody>
          <a:bodyPr wrap="square" lIns="0" tIns="0" rIns="0" bIns="0" rtlCol="0" anchor="t"/>
          <a:lstStyle/>
          <a:p>
            <a:pPr algn="l" indent="0" marL="0">
              <a:lnSpc>
                <a:spcPts val="1050"/>
              </a:lnSpc>
              <a:buNone/>
            </a:pPr>
            <a:r>
              <a:rPr lang="en-US" sz="750" dirty="0">
                <a:solidFill>
                  <a:srgbClr val="FFFFFF">
                    <a:alpha val="50000"/>
                  </a:srgbClr>
                </a:solidFill>
                <a:latin typeface="Arial" pitchFamily="34" charset="0"/>
                <a:ea typeface="Arial" pitchFamily="34" charset="-122"/>
                <a:cs typeface="Arial" pitchFamily="34" charset="-120"/>
              </a:rPr>
              <a:t>Run /init in your project root</a:t>
            </a:r>
            <a:endParaRPr lang="en-US" sz="750" dirty="0"/>
          </a:p>
        </p:txBody>
      </p:sp>
      <p:sp>
        <p:nvSpPr>
          <p:cNvPr id="8" name="Text 6"/>
          <p:cNvSpPr/>
          <p:nvPr/>
        </p:nvSpPr>
        <p:spPr>
          <a:xfrm>
            <a:off x="571500" y="3014663"/>
            <a:ext cx="2370582" cy="146596"/>
          </a:xfrm>
          <a:prstGeom prst="rect">
            <a:avLst/>
          </a:prstGeom>
          <a:noFill/>
          <a:ln/>
        </p:spPr>
        <p:txBody>
          <a:bodyPr wrap="square" lIns="0" tIns="0" rIns="0" bIns="0" rtlCol="0" anchor="t"/>
          <a:lstStyle/>
          <a:p>
            <a:pPr algn="l" indent="0" marL="0">
              <a:lnSpc>
                <a:spcPts val="1155"/>
              </a:lnSpc>
              <a:spcAft>
                <a:spcPts val="225"/>
              </a:spcAft>
              <a:buNone/>
            </a:pPr>
            <a:r>
              <a:rPr lang="en-US" sz="825" dirty="0">
                <a:solidFill>
                  <a:srgbClr val="FFFFFF"/>
                </a:solidFill>
                <a:latin typeface="Arial" pitchFamily="34" charset="0"/>
                <a:ea typeface="Arial" pitchFamily="34" charset="-122"/>
                <a:cs typeface="Arial" pitchFamily="34" charset="-120"/>
              </a:rPr>
              <a:t>Start in Ask Mode</a:t>
            </a:r>
            <a:endParaRPr lang="en-US" sz="825" dirty="0"/>
          </a:p>
        </p:txBody>
      </p:sp>
      <p:sp>
        <p:nvSpPr>
          <p:cNvPr id="9" name="Text 7"/>
          <p:cNvSpPr/>
          <p:nvPr/>
        </p:nvSpPr>
        <p:spPr>
          <a:xfrm>
            <a:off x="571500" y="3189833"/>
            <a:ext cx="2370582" cy="133350"/>
          </a:xfrm>
          <a:prstGeom prst="rect">
            <a:avLst/>
          </a:prstGeom>
          <a:noFill/>
          <a:ln/>
        </p:spPr>
        <p:txBody>
          <a:bodyPr wrap="square" lIns="0" tIns="0" rIns="0" bIns="0" rtlCol="0" anchor="t"/>
          <a:lstStyle/>
          <a:p>
            <a:pPr algn="l" indent="0" marL="0">
              <a:lnSpc>
                <a:spcPts val="1050"/>
              </a:lnSpc>
              <a:buNone/>
            </a:pPr>
            <a:r>
              <a:rPr lang="en-US" sz="750" dirty="0">
                <a:solidFill>
                  <a:srgbClr val="FFFFFF">
                    <a:alpha val="50000"/>
                  </a:srgbClr>
                </a:solidFill>
                <a:latin typeface="Arial" pitchFamily="34" charset="0"/>
                <a:ea typeface="Arial" pitchFamily="34" charset="-122"/>
                <a:cs typeface="Arial" pitchFamily="34" charset="-120"/>
              </a:rPr>
              <a:t>Understand Claude's actions</a:t>
            </a:r>
            <a:endParaRPr lang="en-US" sz="750" dirty="0"/>
          </a:p>
        </p:txBody>
      </p:sp>
      <p:sp>
        <p:nvSpPr>
          <p:cNvPr id="10" name="Text 8"/>
          <p:cNvSpPr/>
          <p:nvPr/>
        </p:nvSpPr>
        <p:spPr>
          <a:xfrm>
            <a:off x="571500" y="3589883"/>
            <a:ext cx="2370582" cy="146596"/>
          </a:xfrm>
          <a:prstGeom prst="rect">
            <a:avLst/>
          </a:prstGeom>
          <a:noFill/>
          <a:ln/>
        </p:spPr>
        <p:txBody>
          <a:bodyPr wrap="square" lIns="0" tIns="0" rIns="0" bIns="0" rtlCol="0" anchor="t"/>
          <a:lstStyle/>
          <a:p>
            <a:pPr algn="l" indent="0" marL="0">
              <a:lnSpc>
                <a:spcPts val="1155"/>
              </a:lnSpc>
              <a:spcAft>
                <a:spcPts val="225"/>
              </a:spcAft>
              <a:buNone/>
            </a:pPr>
            <a:r>
              <a:rPr lang="en-US" sz="825" dirty="0">
                <a:solidFill>
                  <a:srgbClr val="FFFFFF"/>
                </a:solidFill>
                <a:latin typeface="Arial" pitchFamily="34" charset="0"/>
                <a:ea typeface="Arial" pitchFamily="34" charset="-122"/>
                <a:cs typeface="Arial" pitchFamily="34" charset="-120"/>
              </a:rPr>
              <a:t>Use git branches</a:t>
            </a:r>
            <a:endParaRPr lang="en-US" sz="825" dirty="0"/>
          </a:p>
        </p:txBody>
      </p:sp>
      <p:sp>
        <p:nvSpPr>
          <p:cNvPr id="11" name="Text 9"/>
          <p:cNvSpPr/>
          <p:nvPr/>
        </p:nvSpPr>
        <p:spPr>
          <a:xfrm>
            <a:off x="571500" y="3765054"/>
            <a:ext cx="2370582" cy="133350"/>
          </a:xfrm>
          <a:prstGeom prst="rect">
            <a:avLst/>
          </a:prstGeom>
          <a:noFill/>
          <a:ln/>
        </p:spPr>
        <p:txBody>
          <a:bodyPr wrap="square" lIns="0" tIns="0" rIns="0" bIns="0" rtlCol="0" anchor="t"/>
          <a:lstStyle/>
          <a:p>
            <a:pPr algn="l" indent="0" marL="0">
              <a:lnSpc>
                <a:spcPts val="1050"/>
              </a:lnSpc>
              <a:buNone/>
            </a:pPr>
            <a:r>
              <a:rPr lang="en-US" sz="750" dirty="0">
                <a:solidFill>
                  <a:srgbClr val="FFFFFF">
                    <a:alpha val="50000"/>
                  </a:srgbClr>
                </a:solidFill>
                <a:latin typeface="Arial" pitchFamily="34" charset="0"/>
                <a:ea typeface="Arial" pitchFamily="34" charset="-122"/>
                <a:cs typeface="Arial" pitchFamily="34" charset="-120"/>
              </a:rPr>
              <a:t>Easy rollback if needed</a:t>
            </a:r>
            <a:endParaRPr lang="en-US" sz="750" dirty="0"/>
          </a:p>
        </p:txBody>
      </p:sp>
      <p:sp>
        <p:nvSpPr>
          <p:cNvPr id="12" name="Text 10"/>
          <p:cNvSpPr/>
          <p:nvPr/>
        </p:nvSpPr>
        <p:spPr>
          <a:xfrm>
            <a:off x="3219450" y="1816596"/>
            <a:ext cx="2705100" cy="2272308"/>
          </a:xfrm>
          <a:prstGeom prst="rect">
            <a:avLst/>
          </a:prstGeom>
          <a:solidFill>
            <a:srgbClr val="252B3D"/>
          </a:solidFill>
          <a:ln/>
        </p:spPr>
        <p:txBody>
          <a:bodyPr wrap="square" rtlCol="0" anchor="ctr"/>
          <a:lstStyle/>
          <a:p>
            <a:pPr indent="0" marL="0">
              <a:buNone/>
            </a:pPr>
            <a:endParaRPr lang="en-US" dirty="0"/>
          </a:p>
        </p:txBody>
      </p:sp>
      <p:sp>
        <p:nvSpPr>
          <p:cNvPr id="13" name="Text 11"/>
          <p:cNvSpPr/>
          <p:nvPr/>
        </p:nvSpPr>
        <p:spPr>
          <a:xfrm>
            <a:off x="3409950" y="2007096"/>
            <a:ext cx="2370582" cy="146596"/>
          </a:xfrm>
          <a:prstGeom prst="rect">
            <a:avLst/>
          </a:prstGeom>
          <a:noFill/>
          <a:ln/>
        </p:spPr>
        <p:txBody>
          <a:bodyPr wrap="square" lIns="0" tIns="0" rIns="0" bIns="0" rtlCol="0" anchor="t"/>
          <a:lstStyle/>
          <a:p>
            <a:pPr algn="l" indent="0" marL="0">
              <a:lnSpc>
                <a:spcPts val="1155"/>
              </a:lnSpc>
              <a:spcAft>
                <a:spcPts val="1050"/>
              </a:spcAft>
              <a:buNone/>
            </a:pPr>
            <a:r>
              <a:rPr lang="en-US" sz="825" b="1" dirty="0">
                <a:solidFill>
                  <a:srgbClr val="C9A227"/>
                </a:solidFill>
                <a:latin typeface="Arial" pitchFamily="34" charset="0"/>
                <a:ea typeface="Arial" pitchFamily="34" charset="-122"/>
                <a:cs typeface="Arial" pitchFamily="34" charset="-120"/>
              </a:rPr>
              <a:t>Voice Workflow Tips</a:t>
            </a:r>
            <a:endParaRPr lang="en-US" sz="825" dirty="0"/>
          </a:p>
        </p:txBody>
      </p:sp>
      <p:sp>
        <p:nvSpPr>
          <p:cNvPr id="14" name="Text 12"/>
          <p:cNvSpPr/>
          <p:nvPr/>
        </p:nvSpPr>
        <p:spPr>
          <a:xfrm>
            <a:off x="3409950" y="2439442"/>
            <a:ext cx="2370582" cy="146596"/>
          </a:xfrm>
          <a:prstGeom prst="rect">
            <a:avLst/>
          </a:prstGeom>
          <a:noFill/>
          <a:ln/>
        </p:spPr>
        <p:txBody>
          <a:bodyPr wrap="square" lIns="0" tIns="0" rIns="0" bIns="0" rtlCol="0" anchor="t"/>
          <a:lstStyle/>
          <a:p>
            <a:pPr algn="l" indent="0" marL="0">
              <a:lnSpc>
                <a:spcPts val="1155"/>
              </a:lnSpc>
              <a:spcAft>
                <a:spcPts val="225"/>
              </a:spcAft>
              <a:buNone/>
            </a:pPr>
            <a:r>
              <a:rPr lang="en-US" sz="825" dirty="0">
                <a:solidFill>
                  <a:srgbClr val="FFFFFF"/>
                </a:solidFill>
                <a:latin typeface="Arial" pitchFamily="34" charset="0"/>
                <a:ea typeface="Arial" pitchFamily="34" charset="-122"/>
                <a:cs typeface="Arial" pitchFamily="34" charset="-120"/>
              </a:rPr>
              <a:t>Think high-level</a:t>
            </a:r>
            <a:endParaRPr lang="en-US" sz="825" dirty="0"/>
          </a:p>
        </p:txBody>
      </p:sp>
      <p:sp>
        <p:nvSpPr>
          <p:cNvPr id="15" name="Text 13"/>
          <p:cNvSpPr/>
          <p:nvPr/>
        </p:nvSpPr>
        <p:spPr>
          <a:xfrm>
            <a:off x="3409950" y="2614613"/>
            <a:ext cx="2370582" cy="133350"/>
          </a:xfrm>
          <a:prstGeom prst="rect">
            <a:avLst/>
          </a:prstGeom>
          <a:noFill/>
          <a:ln/>
        </p:spPr>
        <p:txBody>
          <a:bodyPr wrap="square" lIns="0" tIns="0" rIns="0" bIns="0" rtlCol="0" anchor="t"/>
          <a:lstStyle/>
          <a:p>
            <a:pPr algn="l" indent="0" marL="0">
              <a:lnSpc>
                <a:spcPts val="1050"/>
              </a:lnSpc>
              <a:buNone/>
            </a:pPr>
            <a:r>
              <a:rPr lang="en-US" sz="750" dirty="0">
                <a:solidFill>
                  <a:srgbClr val="FFFFFF">
                    <a:alpha val="50000"/>
                  </a:srgbClr>
                </a:solidFill>
                <a:latin typeface="Arial" pitchFamily="34" charset="0"/>
                <a:ea typeface="Arial" pitchFamily="34" charset="-122"/>
                <a:cs typeface="Arial" pitchFamily="34" charset="-120"/>
              </a:rPr>
              <a:t>"Add validation" not "type if statement"</a:t>
            </a:r>
            <a:endParaRPr lang="en-US" sz="750" dirty="0"/>
          </a:p>
        </p:txBody>
      </p:sp>
      <p:sp>
        <p:nvSpPr>
          <p:cNvPr id="16" name="Text 14"/>
          <p:cNvSpPr/>
          <p:nvPr/>
        </p:nvSpPr>
        <p:spPr>
          <a:xfrm>
            <a:off x="3409950" y="3014663"/>
            <a:ext cx="2370582" cy="146596"/>
          </a:xfrm>
          <a:prstGeom prst="rect">
            <a:avLst/>
          </a:prstGeom>
          <a:noFill/>
          <a:ln/>
        </p:spPr>
        <p:txBody>
          <a:bodyPr wrap="square" lIns="0" tIns="0" rIns="0" bIns="0" rtlCol="0" anchor="t"/>
          <a:lstStyle/>
          <a:p>
            <a:pPr algn="l" indent="0" marL="0">
              <a:lnSpc>
                <a:spcPts val="1155"/>
              </a:lnSpc>
              <a:spcAft>
                <a:spcPts val="225"/>
              </a:spcAft>
              <a:buNone/>
            </a:pPr>
            <a:r>
              <a:rPr lang="en-US" sz="825" dirty="0">
                <a:solidFill>
                  <a:srgbClr val="FFFFFF"/>
                </a:solidFill>
                <a:latin typeface="Arial" pitchFamily="34" charset="0"/>
                <a:ea typeface="Arial" pitchFamily="34" charset="-122"/>
                <a:cs typeface="Arial" pitchFamily="34" charset="-120"/>
              </a:rPr>
              <a:t>Be specific about scope</a:t>
            </a:r>
            <a:endParaRPr lang="en-US" sz="825" dirty="0"/>
          </a:p>
        </p:txBody>
      </p:sp>
      <p:sp>
        <p:nvSpPr>
          <p:cNvPr id="17" name="Text 15"/>
          <p:cNvSpPr/>
          <p:nvPr/>
        </p:nvSpPr>
        <p:spPr>
          <a:xfrm>
            <a:off x="3409950" y="3189833"/>
            <a:ext cx="2370582" cy="133350"/>
          </a:xfrm>
          <a:prstGeom prst="rect">
            <a:avLst/>
          </a:prstGeom>
          <a:noFill/>
          <a:ln/>
        </p:spPr>
        <p:txBody>
          <a:bodyPr wrap="square" lIns="0" tIns="0" rIns="0" bIns="0" rtlCol="0" anchor="t"/>
          <a:lstStyle/>
          <a:p>
            <a:pPr algn="l" indent="0" marL="0">
              <a:lnSpc>
                <a:spcPts val="1050"/>
              </a:lnSpc>
              <a:buNone/>
            </a:pPr>
            <a:r>
              <a:rPr lang="en-US" sz="750" dirty="0">
                <a:solidFill>
                  <a:srgbClr val="FFFFFF">
                    <a:alpha val="50000"/>
                  </a:srgbClr>
                </a:solidFill>
                <a:latin typeface="Arial" pitchFamily="34" charset="0"/>
                <a:ea typeface="Arial" pitchFamily="34" charset="-122"/>
                <a:cs typeface="Arial" pitchFamily="34" charset="-120"/>
              </a:rPr>
              <a:t>"In the user module" helps focus</a:t>
            </a:r>
            <a:endParaRPr lang="en-US" sz="750" dirty="0"/>
          </a:p>
        </p:txBody>
      </p:sp>
      <p:sp>
        <p:nvSpPr>
          <p:cNvPr id="18" name="Text 16"/>
          <p:cNvSpPr/>
          <p:nvPr/>
        </p:nvSpPr>
        <p:spPr>
          <a:xfrm>
            <a:off x="3409950" y="3589883"/>
            <a:ext cx="2370582" cy="146596"/>
          </a:xfrm>
          <a:prstGeom prst="rect">
            <a:avLst/>
          </a:prstGeom>
          <a:noFill/>
          <a:ln/>
        </p:spPr>
        <p:txBody>
          <a:bodyPr wrap="square" lIns="0" tIns="0" rIns="0" bIns="0" rtlCol="0" anchor="t"/>
          <a:lstStyle/>
          <a:p>
            <a:pPr algn="l" indent="0" marL="0">
              <a:lnSpc>
                <a:spcPts val="1155"/>
              </a:lnSpc>
              <a:spcAft>
                <a:spcPts val="225"/>
              </a:spcAft>
              <a:buNone/>
            </a:pPr>
            <a:r>
              <a:rPr lang="en-US" sz="825" dirty="0">
                <a:solidFill>
                  <a:srgbClr val="FFFFFF"/>
                </a:solidFill>
                <a:latin typeface="Arial" pitchFamily="34" charset="0"/>
                <a:ea typeface="Arial" pitchFamily="34" charset="-122"/>
                <a:cs typeface="Arial" pitchFamily="34" charset="-120"/>
              </a:rPr>
              <a:t>Iterate naturally</a:t>
            </a:r>
            <a:endParaRPr lang="en-US" sz="825" dirty="0"/>
          </a:p>
        </p:txBody>
      </p:sp>
      <p:sp>
        <p:nvSpPr>
          <p:cNvPr id="19" name="Text 17"/>
          <p:cNvSpPr/>
          <p:nvPr/>
        </p:nvSpPr>
        <p:spPr>
          <a:xfrm>
            <a:off x="3409950" y="3765054"/>
            <a:ext cx="2370582" cy="133350"/>
          </a:xfrm>
          <a:prstGeom prst="rect">
            <a:avLst/>
          </a:prstGeom>
          <a:noFill/>
          <a:ln/>
        </p:spPr>
        <p:txBody>
          <a:bodyPr wrap="square" lIns="0" tIns="0" rIns="0" bIns="0" rtlCol="0" anchor="t"/>
          <a:lstStyle/>
          <a:p>
            <a:pPr algn="l" indent="0" marL="0">
              <a:lnSpc>
                <a:spcPts val="1050"/>
              </a:lnSpc>
              <a:buNone/>
            </a:pPr>
            <a:r>
              <a:rPr lang="en-US" sz="750" dirty="0">
                <a:solidFill>
                  <a:srgbClr val="FFFFFF">
                    <a:alpha val="50000"/>
                  </a:srgbClr>
                </a:solidFill>
                <a:latin typeface="Arial" pitchFamily="34" charset="0"/>
                <a:ea typeface="Arial" pitchFamily="34" charset="-122"/>
                <a:cs typeface="Arial" pitchFamily="34" charset="-120"/>
              </a:rPr>
              <a:t>"Actually, make it a dropdown"</a:t>
            </a:r>
            <a:endParaRPr lang="en-US" sz="750" dirty="0"/>
          </a:p>
        </p:txBody>
      </p:sp>
      <p:sp>
        <p:nvSpPr>
          <p:cNvPr id="20" name="Text 18"/>
          <p:cNvSpPr/>
          <p:nvPr/>
        </p:nvSpPr>
        <p:spPr>
          <a:xfrm>
            <a:off x="6057900" y="1816596"/>
            <a:ext cx="2705100" cy="2272308"/>
          </a:xfrm>
          <a:prstGeom prst="rect">
            <a:avLst/>
          </a:prstGeom>
          <a:solidFill>
            <a:srgbClr val="252B3D"/>
          </a:solidFill>
          <a:ln/>
        </p:spPr>
        <p:txBody>
          <a:bodyPr wrap="square" rtlCol="0" anchor="ctr"/>
          <a:lstStyle/>
          <a:p>
            <a:pPr indent="0" marL="0">
              <a:buNone/>
            </a:pPr>
            <a:endParaRPr lang="en-US" dirty="0"/>
          </a:p>
        </p:txBody>
      </p:sp>
      <p:sp>
        <p:nvSpPr>
          <p:cNvPr id="21" name="Text 19"/>
          <p:cNvSpPr/>
          <p:nvPr/>
        </p:nvSpPr>
        <p:spPr>
          <a:xfrm>
            <a:off x="6248400" y="2007096"/>
            <a:ext cx="2370582" cy="146596"/>
          </a:xfrm>
          <a:prstGeom prst="rect">
            <a:avLst/>
          </a:prstGeom>
          <a:noFill/>
          <a:ln/>
        </p:spPr>
        <p:txBody>
          <a:bodyPr wrap="square" lIns="0" tIns="0" rIns="0" bIns="0" rtlCol="0" anchor="t"/>
          <a:lstStyle/>
          <a:p>
            <a:pPr algn="l" indent="0" marL="0">
              <a:lnSpc>
                <a:spcPts val="1155"/>
              </a:lnSpc>
              <a:spcAft>
                <a:spcPts val="1050"/>
              </a:spcAft>
              <a:buNone/>
            </a:pPr>
            <a:r>
              <a:rPr lang="en-US" sz="825" b="1" dirty="0">
                <a:solidFill>
                  <a:srgbClr val="C9A227"/>
                </a:solidFill>
                <a:latin typeface="Arial" pitchFamily="34" charset="0"/>
                <a:ea typeface="Arial" pitchFamily="34" charset="-122"/>
                <a:cs typeface="Arial" pitchFamily="34" charset="-120"/>
              </a:rPr>
              <a:t>Advanced Usage</a:t>
            </a:r>
            <a:endParaRPr lang="en-US" sz="825" dirty="0"/>
          </a:p>
        </p:txBody>
      </p:sp>
      <p:sp>
        <p:nvSpPr>
          <p:cNvPr id="22" name="Text 20"/>
          <p:cNvSpPr/>
          <p:nvPr/>
        </p:nvSpPr>
        <p:spPr>
          <a:xfrm>
            <a:off x="6248400" y="2439442"/>
            <a:ext cx="2370582" cy="146596"/>
          </a:xfrm>
          <a:prstGeom prst="rect">
            <a:avLst/>
          </a:prstGeom>
          <a:noFill/>
          <a:ln/>
        </p:spPr>
        <p:txBody>
          <a:bodyPr wrap="square" lIns="0" tIns="0" rIns="0" bIns="0" rtlCol="0" anchor="t"/>
          <a:lstStyle/>
          <a:p>
            <a:pPr algn="l" indent="0" marL="0">
              <a:lnSpc>
                <a:spcPts val="1155"/>
              </a:lnSpc>
              <a:spcAft>
                <a:spcPts val="225"/>
              </a:spcAft>
              <a:buNone/>
            </a:pPr>
            <a:r>
              <a:rPr lang="en-US" sz="825" dirty="0">
                <a:solidFill>
                  <a:srgbClr val="FFFFFF"/>
                </a:solidFill>
                <a:latin typeface="Arial" pitchFamily="34" charset="0"/>
                <a:ea typeface="Arial" pitchFamily="34" charset="-122"/>
                <a:cs typeface="Arial" pitchFamily="34" charset="-120"/>
              </a:rPr>
              <a:t>Set up hooks</a:t>
            </a:r>
            <a:endParaRPr lang="en-US" sz="825" dirty="0"/>
          </a:p>
        </p:txBody>
      </p:sp>
      <p:sp>
        <p:nvSpPr>
          <p:cNvPr id="23" name="Text 21"/>
          <p:cNvSpPr/>
          <p:nvPr/>
        </p:nvSpPr>
        <p:spPr>
          <a:xfrm>
            <a:off x="6248400" y="2614613"/>
            <a:ext cx="2370582" cy="133350"/>
          </a:xfrm>
          <a:prstGeom prst="rect">
            <a:avLst/>
          </a:prstGeom>
          <a:noFill/>
          <a:ln/>
        </p:spPr>
        <p:txBody>
          <a:bodyPr wrap="square" lIns="0" tIns="0" rIns="0" bIns="0" rtlCol="0" anchor="t"/>
          <a:lstStyle/>
          <a:p>
            <a:pPr algn="l" indent="0" marL="0">
              <a:lnSpc>
                <a:spcPts val="1050"/>
              </a:lnSpc>
              <a:buNone/>
            </a:pPr>
            <a:r>
              <a:rPr lang="en-US" sz="750" dirty="0">
                <a:solidFill>
                  <a:srgbClr val="FFFFFF">
                    <a:alpha val="50000"/>
                  </a:srgbClr>
                </a:solidFill>
                <a:latin typeface="Arial" pitchFamily="34" charset="0"/>
                <a:ea typeface="Arial" pitchFamily="34" charset="-122"/>
                <a:cs typeface="Arial" pitchFamily="34" charset="-120"/>
              </a:rPr>
              <a:t>Auto-format, auto-lint</a:t>
            </a:r>
            <a:endParaRPr lang="en-US" sz="750" dirty="0"/>
          </a:p>
        </p:txBody>
      </p:sp>
      <p:sp>
        <p:nvSpPr>
          <p:cNvPr id="24" name="Text 22"/>
          <p:cNvSpPr/>
          <p:nvPr/>
        </p:nvSpPr>
        <p:spPr>
          <a:xfrm>
            <a:off x="6248400" y="3014663"/>
            <a:ext cx="2370582" cy="146596"/>
          </a:xfrm>
          <a:prstGeom prst="rect">
            <a:avLst/>
          </a:prstGeom>
          <a:noFill/>
          <a:ln/>
        </p:spPr>
        <p:txBody>
          <a:bodyPr wrap="square" lIns="0" tIns="0" rIns="0" bIns="0" rtlCol="0" anchor="t"/>
          <a:lstStyle/>
          <a:p>
            <a:pPr algn="l" indent="0" marL="0">
              <a:lnSpc>
                <a:spcPts val="1155"/>
              </a:lnSpc>
              <a:spcAft>
                <a:spcPts val="225"/>
              </a:spcAft>
              <a:buNone/>
            </a:pPr>
            <a:r>
              <a:rPr lang="en-US" sz="825" dirty="0">
                <a:solidFill>
                  <a:srgbClr val="FFFFFF"/>
                </a:solidFill>
                <a:latin typeface="Arial" pitchFamily="34" charset="0"/>
                <a:ea typeface="Arial" pitchFamily="34" charset="-122"/>
                <a:cs typeface="Arial" pitchFamily="34" charset="-120"/>
              </a:rPr>
              <a:t>Configure MCP servers</a:t>
            </a:r>
            <a:endParaRPr lang="en-US" sz="825" dirty="0"/>
          </a:p>
        </p:txBody>
      </p:sp>
      <p:sp>
        <p:nvSpPr>
          <p:cNvPr id="25" name="Text 23"/>
          <p:cNvSpPr/>
          <p:nvPr/>
        </p:nvSpPr>
        <p:spPr>
          <a:xfrm>
            <a:off x="6248400" y="3189833"/>
            <a:ext cx="2370582" cy="133350"/>
          </a:xfrm>
          <a:prstGeom prst="rect">
            <a:avLst/>
          </a:prstGeom>
          <a:noFill/>
          <a:ln/>
        </p:spPr>
        <p:txBody>
          <a:bodyPr wrap="square" lIns="0" tIns="0" rIns="0" bIns="0" rtlCol="0" anchor="t"/>
          <a:lstStyle/>
          <a:p>
            <a:pPr algn="l" indent="0" marL="0">
              <a:lnSpc>
                <a:spcPts val="1050"/>
              </a:lnSpc>
              <a:buNone/>
            </a:pPr>
            <a:r>
              <a:rPr lang="en-US" sz="750" dirty="0">
                <a:solidFill>
                  <a:srgbClr val="FFFFFF">
                    <a:alpha val="50000"/>
                  </a:srgbClr>
                </a:solidFill>
                <a:latin typeface="Arial" pitchFamily="34" charset="0"/>
                <a:ea typeface="Arial" pitchFamily="34" charset="-122"/>
                <a:cs typeface="Arial" pitchFamily="34" charset="-120"/>
              </a:rPr>
              <a:t>Extend capabilities</a:t>
            </a:r>
            <a:endParaRPr lang="en-US" sz="750" dirty="0"/>
          </a:p>
        </p:txBody>
      </p:sp>
      <p:sp>
        <p:nvSpPr>
          <p:cNvPr id="26" name="Text 24"/>
          <p:cNvSpPr/>
          <p:nvPr/>
        </p:nvSpPr>
        <p:spPr>
          <a:xfrm>
            <a:off x="6248400" y="3589883"/>
            <a:ext cx="2370582" cy="146596"/>
          </a:xfrm>
          <a:prstGeom prst="rect">
            <a:avLst/>
          </a:prstGeom>
          <a:noFill/>
          <a:ln/>
        </p:spPr>
        <p:txBody>
          <a:bodyPr wrap="square" lIns="0" tIns="0" rIns="0" bIns="0" rtlCol="0" anchor="t"/>
          <a:lstStyle/>
          <a:p>
            <a:pPr algn="l" indent="0" marL="0">
              <a:lnSpc>
                <a:spcPts val="1155"/>
              </a:lnSpc>
              <a:spcAft>
                <a:spcPts val="225"/>
              </a:spcAft>
              <a:buNone/>
            </a:pPr>
            <a:r>
              <a:rPr lang="en-US" sz="825" dirty="0">
                <a:solidFill>
                  <a:srgbClr val="FFFFFF"/>
                </a:solidFill>
                <a:latin typeface="Arial" pitchFamily="34" charset="0"/>
                <a:ea typeface="Arial" pitchFamily="34" charset="-122"/>
                <a:cs typeface="Arial" pitchFamily="34" charset="-120"/>
              </a:rPr>
              <a:t>Use /compact regularly</a:t>
            </a:r>
            <a:endParaRPr lang="en-US" sz="825" dirty="0"/>
          </a:p>
        </p:txBody>
      </p:sp>
      <p:sp>
        <p:nvSpPr>
          <p:cNvPr id="27" name="Text 25"/>
          <p:cNvSpPr/>
          <p:nvPr/>
        </p:nvSpPr>
        <p:spPr>
          <a:xfrm>
            <a:off x="6248400" y="3765054"/>
            <a:ext cx="2370582" cy="133350"/>
          </a:xfrm>
          <a:prstGeom prst="rect">
            <a:avLst/>
          </a:prstGeom>
          <a:noFill/>
          <a:ln/>
        </p:spPr>
        <p:txBody>
          <a:bodyPr wrap="square" lIns="0" tIns="0" rIns="0" bIns="0" rtlCol="0" anchor="t"/>
          <a:lstStyle/>
          <a:p>
            <a:pPr algn="l" indent="0" marL="0">
              <a:lnSpc>
                <a:spcPts val="1050"/>
              </a:lnSpc>
              <a:buNone/>
            </a:pPr>
            <a:r>
              <a:rPr lang="en-US" sz="750" dirty="0">
                <a:solidFill>
                  <a:srgbClr val="FFFFFF">
                    <a:alpha val="50000"/>
                  </a:srgbClr>
                </a:solidFill>
                <a:latin typeface="Arial" pitchFamily="34" charset="0"/>
                <a:ea typeface="Arial" pitchFamily="34" charset="-122"/>
                <a:cs typeface="Arial" pitchFamily="34" charset="-120"/>
              </a:rPr>
              <a:t>Manage context window</a:t>
            </a:r>
            <a:endParaRPr lang="en-US" sz="7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038103" y="1041202"/>
            <a:ext cx="1067794" cy="186630"/>
          </a:xfrm>
          <a:prstGeom prst="rect">
            <a:avLst/>
          </a:prstGeom>
          <a:noFill/>
          <a:ln/>
        </p:spPr>
        <p:txBody>
          <a:bodyPr wrap="square" lIns="0" tIns="0" rIns="0" bIns="0" rtlCol="0" anchor="t"/>
          <a:lstStyle/>
          <a:p>
            <a:pPr algn="ctr" indent="0" marL="0">
              <a:lnSpc>
                <a:spcPts val="1470"/>
              </a:lnSpc>
              <a:spcAft>
                <a:spcPts val="1500"/>
              </a:spcAft>
              <a:buNone/>
            </a:pPr>
            <a:r>
              <a:rPr lang="en-US" sz="1050" dirty="0">
                <a:solidFill>
                  <a:srgbClr val="C9A227"/>
                </a:solidFill>
                <a:latin typeface="Arial" pitchFamily="34" charset="0"/>
                <a:ea typeface="Arial" pitchFamily="34" charset="-122"/>
                <a:cs typeface="Arial" pitchFamily="34" charset="-120"/>
              </a:rPr>
              <a:t>SECTION 6</a:t>
            </a:r>
            <a:endParaRPr lang="en-US" sz="1050" dirty="0"/>
          </a:p>
        </p:txBody>
      </p:sp>
      <p:sp>
        <p:nvSpPr>
          <p:cNvPr id="3" name="Text 1"/>
          <p:cNvSpPr/>
          <p:nvPr/>
        </p:nvSpPr>
        <p:spPr>
          <a:xfrm>
            <a:off x="2517627" y="1570732"/>
            <a:ext cx="4108746" cy="495300"/>
          </a:xfrm>
          <a:prstGeom prst="rect">
            <a:avLst/>
          </a:prstGeom>
          <a:noFill/>
          <a:ln/>
        </p:spPr>
        <p:txBody>
          <a:bodyPr wrap="square" lIns="0" tIns="0" rIns="0" bIns="0" rtlCol="0" anchor="t"/>
          <a:lstStyle/>
          <a:p>
            <a:pPr algn="ctr" indent="0" marL="0">
              <a:lnSpc>
                <a:spcPts val="3900"/>
              </a:lnSpc>
              <a:spcAft>
                <a:spcPts val="1500"/>
              </a:spcAft>
              <a:buNone/>
            </a:pPr>
            <a:r>
              <a:rPr lang="en-US" sz="3900" dirty="0">
                <a:solidFill>
                  <a:srgbClr val="FFFFFF"/>
                </a:solidFill>
                <a:latin typeface="Georgia" pitchFamily="34" charset="0"/>
                <a:ea typeface="Georgia" pitchFamily="34" charset="-122"/>
                <a:cs typeface="Georgia" pitchFamily="34" charset="-120"/>
              </a:rPr>
              <a:t>CI/CD Integration</a:t>
            </a:r>
            <a:endParaRPr lang="en-US" sz="3900" dirty="0"/>
          </a:p>
        </p:txBody>
      </p:sp>
      <p:sp>
        <p:nvSpPr>
          <p:cNvPr id="4" name="Text 2"/>
          <p:cNvSpPr/>
          <p:nvPr/>
        </p:nvSpPr>
        <p:spPr>
          <a:xfrm>
            <a:off x="4191000" y="2408932"/>
            <a:ext cx="762000" cy="28575"/>
          </a:xfrm>
          <a:prstGeom prst="rect">
            <a:avLst/>
          </a:prstGeom>
          <a:solidFill>
            <a:srgbClr val="C9A227"/>
          </a:solidFill>
          <a:ln/>
        </p:spPr>
        <p:txBody>
          <a:bodyPr wrap="square" rtlCol="0" anchor="ctr"/>
          <a:lstStyle/>
          <a:p>
            <a:pPr indent="0" marL="0">
              <a:buNone/>
            </a:pPr>
            <a:endParaRPr lang="en-US" dirty="0"/>
          </a:p>
        </p:txBody>
      </p:sp>
      <p:sp>
        <p:nvSpPr>
          <p:cNvPr id="5" name="Text 3"/>
          <p:cNvSpPr/>
          <p:nvPr/>
        </p:nvSpPr>
        <p:spPr>
          <a:xfrm>
            <a:off x="2702525" y="2818507"/>
            <a:ext cx="3738949" cy="239911"/>
          </a:xfrm>
          <a:prstGeom prst="rect">
            <a:avLst/>
          </a:prstGeom>
          <a:noFill/>
          <a:ln/>
        </p:spPr>
        <p:txBody>
          <a:bodyPr wrap="square" lIns="0" tIns="0" rIns="0" bIns="0" rtlCol="0" anchor="t"/>
          <a:lstStyle/>
          <a:p>
            <a:pPr algn="ctr" indent="0" marL="0">
              <a:lnSpc>
                <a:spcPts val="1890"/>
              </a:lnSpc>
              <a:buNone/>
            </a:pPr>
            <a:r>
              <a:rPr lang="en-US" sz="1350" dirty="0">
                <a:solidFill>
                  <a:srgbClr val="FFFFFF">
                    <a:alpha val="70000"/>
                  </a:srgbClr>
                </a:solidFill>
                <a:latin typeface="Arial" pitchFamily="34" charset="0"/>
                <a:ea typeface="Arial" pitchFamily="34" charset="-122"/>
                <a:cs typeface="Arial" pitchFamily="34" charset="-120"/>
              </a:rPr>
              <a:t>Automating AI-Assisted Development Workflows</a:t>
            </a:r>
            <a:endParaRPr lang="en-US" sz="1350" dirty="0"/>
          </a:p>
        </p:txBody>
      </p:sp>
      <p:sp>
        <p:nvSpPr>
          <p:cNvPr id="6" name="Text 4"/>
          <p:cNvSpPr/>
          <p:nvPr/>
        </p:nvSpPr>
        <p:spPr>
          <a:xfrm>
            <a:off x="3931444" y="3591818"/>
            <a:ext cx="1280964" cy="510480"/>
          </a:xfrm>
          <a:prstGeom prst="rect">
            <a:avLst/>
          </a:prstGeom>
          <a:solidFill>
            <a:srgbClr val="C9A227">
              <a:alpha val="15000"/>
            </a:srgbClr>
          </a:solidFill>
          <a:ln w="9525">
            <a:solidFill>
              <a:srgbClr val="C9A227"/>
            </a:solidFill>
          </a:ln>
        </p:spPr>
        <p:txBody>
          <a:bodyPr wrap="square" rtlCol="0" anchor="ctr"/>
          <a:lstStyle/>
          <a:p>
            <a:pPr indent="0" marL="0">
              <a:buNone/>
            </a:pPr>
            <a:endParaRPr lang="en-US" dirty="0"/>
          </a:p>
        </p:txBody>
      </p:sp>
      <p:sp>
        <p:nvSpPr>
          <p:cNvPr id="7" name="Text 5"/>
          <p:cNvSpPr/>
          <p:nvPr/>
        </p:nvSpPr>
        <p:spPr>
          <a:xfrm>
            <a:off x="4239246" y="3753743"/>
            <a:ext cx="665360" cy="186630"/>
          </a:xfrm>
          <a:prstGeom prst="rect">
            <a:avLst/>
          </a:prstGeom>
          <a:noFill/>
          <a:ln/>
        </p:spPr>
        <p:txBody>
          <a:bodyPr wrap="square" lIns="0" tIns="0" rIns="0" bIns="0" rtlCol="0" anchor="t"/>
          <a:lstStyle/>
          <a:p>
            <a:pPr algn="ctr" indent="0" marL="0">
              <a:lnSpc>
                <a:spcPts val="1470"/>
              </a:lnSpc>
              <a:buNone/>
            </a:pPr>
            <a:r>
              <a:rPr lang="en-US" sz="1050" dirty="0">
                <a:solidFill>
                  <a:srgbClr val="C9A227"/>
                </a:solidFill>
                <a:latin typeface="Arial" pitchFamily="34" charset="0"/>
                <a:ea typeface="Arial" pitchFamily="34" charset="-122"/>
                <a:cs typeface="Arial" pitchFamily="34" charset="-120"/>
              </a:rPr>
              <a:t>10 minutes</a:t>
            </a:r>
            <a:endParaRPr lang="en-US" sz="10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381000" y="228600"/>
            <a:ext cx="8549640" cy="133350"/>
          </a:xfrm>
          <a:prstGeom prst="rect">
            <a:avLst/>
          </a:prstGeom>
          <a:noFill/>
          <a:ln/>
        </p:spPr>
        <p:txBody>
          <a:bodyPr wrap="square" lIns="0" tIns="0" rIns="0" bIns="0" rtlCol="0" anchor="t"/>
          <a:lstStyle/>
          <a:p>
            <a:pPr algn="l" indent="0" marL="0">
              <a:lnSpc>
                <a:spcPts val="1050"/>
              </a:lnSpc>
              <a:spcAft>
                <a:spcPts val="450"/>
              </a:spcAft>
              <a:buNone/>
            </a:pPr>
            <a:r>
              <a:rPr lang="en-US" sz="750" dirty="0">
                <a:solidFill>
                  <a:srgbClr val="C9A227"/>
                </a:solidFill>
                <a:latin typeface="Arial" pitchFamily="34" charset="0"/>
                <a:ea typeface="Arial" pitchFamily="34" charset="-122"/>
                <a:cs typeface="Arial" pitchFamily="34" charset="-120"/>
              </a:rPr>
              <a:t>CI/CD</a:t>
            </a:r>
            <a:endParaRPr lang="en-US" sz="750" dirty="0"/>
          </a:p>
        </p:txBody>
      </p:sp>
      <p:sp>
        <p:nvSpPr>
          <p:cNvPr id="3" name="Text 1"/>
          <p:cNvSpPr/>
          <p:nvPr/>
        </p:nvSpPr>
        <p:spPr>
          <a:xfrm>
            <a:off x="381000" y="419100"/>
            <a:ext cx="4284536" cy="266700"/>
          </a:xfrm>
          <a:prstGeom prst="rect">
            <a:avLst/>
          </a:prstGeom>
          <a:noFill/>
          <a:ln/>
        </p:spPr>
        <p:txBody>
          <a:bodyPr wrap="square" lIns="0" tIns="0" rIns="0" bIns="0" rtlCol="0" anchor="t"/>
          <a:lstStyle/>
          <a:p>
            <a:pPr algn="l" indent="0" marL="0">
              <a:lnSpc>
                <a:spcPts val="2100"/>
              </a:lnSpc>
              <a:buNone/>
            </a:pPr>
            <a:r>
              <a:rPr lang="en-US" sz="2100" dirty="0">
                <a:solidFill>
                  <a:srgbClr val="1A1F2E"/>
                </a:solidFill>
                <a:latin typeface="Georgia" pitchFamily="34" charset="0"/>
                <a:ea typeface="Georgia" pitchFamily="34" charset="-122"/>
                <a:cs typeface="Georgia" pitchFamily="34" charset="-120"/>
              </a:rPr>
              <a:t>GitHub Actions with Claude Code</a:t>
            </a:r>
            <a:endParaRPr lang="en-US" sz="2100" dirty="0"/>
          </a:p>
        </p:txBody>
      </p:sp>
      <p:sp>
        <p:nvSpPr>
          <p:cNvPr id="4" name="Text 2"/>
          <p:cNvSpPr/>
          <p:nvPr/>
        </p:nvSpPr>
        <p:spPr>
          <a:xfrm>
            <a:off x="381000" y="1591717"/>
            <a:ext cx="3636913" cy="2493318"/>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5" name="Text 3"/>
          <p:cNvSpPr/>
          <p:nvPr/>
        </p:nvSpPr>
        <p:spPr>
          <a:xfrm>
            <a:off x="542925" y="1753642"/>
            <a:ext cx="3379324" cy="146596"/>
          </a:xfrm>
          <a:prstGeom prst="rect">
            <a:avLst/>
          </a:prstGeom>
          <a:noFill/>
          <a:ln/>
        </p:spPr>
        <p:txBody>
          <a:bodyPr wrap="square" lIns="0" tIns="0" rIns="0" bIns="0" rtlCol="0" anchor="t"/>
          <a:lstStyle/>
          <a:p>
            <a:pPr algn="l" indent="0" marL="0">
              <a:lnSpc>
                <a:spcPts val="1155"/>
              </a:lnSpc>
              <a:spcAft>
                <a:spcPts val="750"/>
              </a:spcAft>
              <a:buNone/>
            </a:pPr>
            <a:r>
              <a:rPr lang="en-US" sz="825" b="1" dirty="0">
                <a:solidFill>
                  <a:srgbClr val="C9A227"/>
                </a:solidFill>
                <a:latin typeface="Arial" pitchFamily="34" charset="0"/>
                <a:ea typeface="Arial" pitchFamily="34" charset="-122"/>
                <a:cs typeface="Arial" pitchFamily="34" charset="-120"/>
              </a:rPr>
              <a:t>Automation Use Cases</a:t>
            </a:r>
            <a:endParaRPr lang="en-US" sz="825" dirty="0"/>
          </a:p>
        </p:txBody>
      </p:sp>
      <p:sp>
        <p:nvSpPr>
          <p:cNvPr id="6" name="Text 4"/>
          <p:cNvSpPr/>
          <p:nvPr/>
        </p:nvSpPr>
        <p:spPr>
          <a:xfrm>
            <a:off x="542925" y="2147888"/>
            <a:ext cx="3379324" cy="133350"/>
          </a:xfrm>
          <a:prstGeom prst="rect">
            <a:avLst/>
          </a:prstGeom>
          <a:noFill/>
          <a:ln/>
        </p:spPr>
        <p:txBody>
          <a:bodyPr wrap="square" lIns="0" tIns="0" rIns="0" bIns="0" rtlCol="0" anchor="t"/>
          <a:lstStyle/>
          <a:p>
            <a:pPr algn="l" indent="0" marL="0">
              <a:lnSpc>
                <a:spcPts val="1050"/>
              </a:lnSpc>
              <a:spcAft>
                <a:spcPts val="150"/>
              </a:spcAft>
              <a:buNone/>
            </a:pPr>
            <a:r>
              <a:rPr lang="en-US" sz="750" b="1" dirty="0">
                <a:solidFill>
                  <a:srgbClr val="1A1F2E"/>
                </a:solidFill>
                <a:latin typeface="Arial" pitchFamily="34" charset="0"/>
                <a:ea typeface="Arial" pitchFamily="34" charset="-122"/>
                <a:cs typeface="Arial" pitchFamily="34" charset="-120"/>
              </a:rPr>
              <a:t>PR Code Review</a:t>
            </a:r>
            <a:endParaRPr lang="en-US" sz="750" dirty="0"/>
          </a:p>
        </p:txBody>
      </p:sp>
      <p:sp>
        <p:nvSpPr>
          <p:cNvPr id="7" name="Text 5"/>
          <p:cNvSpPr/>
          <p:nvPr/>
        </p:nvSpPr>
        <p:spPr>
          <a:xfrm>
            <a:off x="542925" y="2300288"/>
            <a:ext cx="3379324" cy="119955"/>
          </a:xfrm>
          <a:prstGeom prst="rect">
            <a:avLst/>
          </a:prstGeom>
          <a:noFill/>
          <a:ln/>
        </p:spPr>
        <p:txBody>
          <a:bodyPr wrap="square" lIns="0" tIns="0" rIns="0" bIns="0" rtlCol="0" anchor="t"/>
          <a:lstStyle/>
          <a:p>
            <a:pPr algn="l" indent="0" marL="0">
              <a:lnSpc>
                <a:spcPts val="945"/>
              </a:lnSpc>
              <a:buNone/>
            </a:pPr>
            <a:r>
              <a:rPr lang="en-US" sz="675" dirty="0">
                <a:solidFill>
                  <a:srgbClr val="6B7280"/>
                </a:solidFill>
                <a:latin typeface="Arial" pitchFamily="34" charset="0"/>
                <a:ea typeface="Arial" pitchFamily="34" charset="-122"/>
                <a:cs typeface="Arial" pitchFamily="34" charset="-120"/>
              </a:rPr>
              <a:t>AI-assisted review on every PR</a:t>
            </a:r>
            <a:endParaRPr lang="en-US" sz="675" dirty="0"/>
          </a:p>
        </p:txBody>
      </p:sp>
      <p:sp>
        <p:nvSpPr>
          <p:cNvPr id="8" name="Text 6"/>
          <p:cNvSpPr/>
          <p:nvPr/>
        </p:nvSpPr>
        <p:spPr>
          <a:xfrm>
            <a:off x="542925" y="2648843"/>
            <a:ext cx="3379324" cy="133350"/>
          </a:xfrm>
          <a:prstGeom prst="rect">
            <a:avLst/>
          </a:prstGeom>
          <a:noFill/>
          <a:ln/>
        </p:spPr>
        <p:txBody>
          <a:bodyPr wrap="square" lIns="0" tIns="0" rIns="0" bIns="0" rtlCol="0" anchor="t"/>
          <a:lstStyle/>
          <a:p>
            <a:pPr algn="l" indent="0" marL="0">
              <a:lnSpc>
                <a:spcPts val="1050"/>
              </a:lnSpc>
              <a:spcAft>
                <a:spcPts val="150"/>
              </a:spcAft>
              <a:buNone/>
            </a:pPr>
            <a:r>
              <a:rPr lang="en-US" sz="750" b="1" dirty="0">
                <a:solidFill>
                  <a:srgbClr val="1A1F2E"/>
                </a:solidFill>
                <a:latin typeface="Arial" pitchFamily="34" charset="0"/>
                <a:ea typeface="Arial" pitchFamily="34" charset="-122"/>
                <a:cs typeface="Arial" pitchFamily="34" charset="-120"/>
              </a:rPr>
              <a:t>Issue Triage</a:t>
            </a:r>
            <a:endParaRPr lang="en-US" sz="750" dirty="0"/>
          </a:p>
        </p:txBody>
      </p:sp>
      <p:sp>
        <p:nvSpPr>
          <p:cNvPr id="9" name="Text 7"/>
          <p:cNvSpPr/>
          <p:nvPr/>
        </p:nvSpPr>
        <p:spPr>
          <a:xfrm>
            <a:off x="542925" y="2801243"/>
            <a:ext cx="3379324" cy="119955"/>
          </a:xfrm>
          <a:prstGeom prst="rect">
            <a:avLst/>
          </a:prstGeom>
          <a:noFill/>
          <a:ln/>
        </p:spPr>
        <p:txBody>
          <a:bodyPr wrap="square" lIns="0" tIns="0" rIns="0" bIns="0" rtlCol="0" anchor="t"/>
          <a:lstStyle/>
          <a:p>
            <a:pPr algn="l" indent="0" marL="0">
              <a:lnSpc>
                <a:spcPts val="945"/>
              </a:lnSpc>
              <a:buNone/>
            </a:pPr>
            <a:r>
              <a:rPr lang="en-US" sz="675" dirty="0">
                <a:solidFill>
                  <a:srgbClr val="6B7280"/>
                </a:solidFill>
                <a:latin typeface="Arial" pitchFamily="34" charset="0"/>
                <a:ea typeface="Arial" pitchFamily="34" charset="-122"/>
                <a:cs typeface="Arial" pitchFamily="34" charset="-120"/>
              </a:rPr>
              <a:t>Auto-label and categorize issues</a:t>
            </a:r>
            <a:endParaRPr lang="en-US" sz="675" dirty="0"/>
          </a:p>
        </p:txBody>
      </p:sp>
      <p:sp>
        <p:nvSpPr>
          <p:cNvPr id="10" name="Text 8"/>
          <p:cNvSpPr/>
          <p:nvPr/>
        </p:nvSpPr>
        <p:spPr>
          <a:xfrm>
            <a:off x="542925" y="3149798"/>
            <a:ext cx="3379324" cy="133350"/>
          </a:xfrm>
          <a:prstGeom prst="rect">
            <a:avLst/>
          </a:prstGeom>
          <a:noFill/>
          <a:ln/>
        </p:spPr>
        <p:txBody>
          <a:bodyPr wrap="square" lIns="0" tIns="0" rIns="0" bIns="0" rtlCol="0" anchor="t"/>
          <a:lstStyle/>
          <a:p>
            <a:pPr algn="l" indent="0" marL="0">
              <a:lnSpc>
                <a:spcPts val="1050"/>
              </a:lnSpc>
              <a:spcAft>
                <a:spcPts val="150"/>
              </a:spcAft>
              <a:buNone/>
            </a:pPr>
            <a:r>
              <a:rPr lang="en-US" sz="750" b="1" dirty="0">
                <a:solidFill>
                  <a:srgbClr val="1A1F2E"/>
                </a:solidFill>
                <a:latin typeface="Arial" pitchFamily="34" charset="0"/>
                <a:ea typeface="Arial" pitchFamily="34" charset="-122"/>
                <a:cs typeface="Arial" pitchFamily="34" charset="-120"/>
              </a:rPr>
              <a:t>Documentation</a:t>
            </a:r>
            <a:endParaRPr lang="en-US" sz="750" dirty="0"/>
          </a:p>
        </p:txBody>
      </p:sp>
      <p:sp>
        <p:nvSpPr>
          <p:cNvPr id="11" name="Text 9"/>
          <p:cNvSpPr/>
          <p:nvPr/>
        </p:nvSpPr>
        <p:spPr>
          <a:xfrm>
            <a:off x="542925" y="3302198"/>
            <a:ext cx="3379324" cy="119955"/>
          </a:xfrm>
          <a:prstGeom prst="rect">
            <a:avLst/>
          </a:prstGeom>
          <a:noFill/>
          <a:ln/>
        </p:spPr>
        <p:txBody>
          <a:bodyPr wrap="square" lIns="0" tIns="0" rIns="0" bIns="0" rtlCol="0" anchor="t"/>
          <a:lstStyle/>
          <a:p>
            <a:pPr algn="l" indent="0" marL="0">
              <a:lnSpc>
                <a:spcPts val="945"/>
              </a:lnSpc>
              <a:buNone/>
            </a:pPr>
            <a:r>
              <a:rPr lang="en-US" sz="675" dirty="0">
                <a:solidFill>
                  <a:srgbClr val="6B7280"/>
                </a:solidFill>
                <a:latin typeface="Arial" pitchFamily="34" charset="0"/>
                <a:ea typeface="Arial" pitchFamily="34" charset="-122"/>
                <a:cs typeface="Arial" pitchFamily="34" charset="-120"/>
              </a:rPr>
              <a:t>Generate docs from code changes</a:t>
            </a:r>
            <a:endParaRPr lang="en-US" sz="675" dirty="0"/>
          </a:p>
        </p:txBody>
      </p:sp>
      <p:sp>
        <p:nvSpPr>
          <p:cNvPr id="12" name="Text 10"/>
          <p:cNvSpPr/>
          <p:nvPr/>
        </p:nvSpPr>
        <p:spPr>
          <a:xfrm>
            <a:off x="542925" y="3650754"/>
            <a:ext cx="3379324" cy="133350"/>
          </a:xfrm>
          <a:prstGeom prst="rect">
            <a:avLst/>
          </a:prstGeom>
          <a:noFill/>
          <a:ln/>
        </p:spPr>
        <p:txBody>
          <a:bodyPr wrap="square" lIns="0" tIns="0" rIns="0" bIns="0" rtlCol="0" anchor="t"/>
          <a:lstStyle/>
          <a:p>
            <a:pPr algn="l" indent="0" marL="0">
              <a:lnSpc>
                <a:spcPts val="1050"/>
              </a:lnSpc>
              <a:spcAft>
                <a:spcPts val="150"/>
              </a:spcAft>
              <a:buNone/>
            </a:pPr>
            <a:r>
              <a:rPr lang="en-US" sz="750" b="1" dirty="0">
                <a:solidFill>
                  <a:srgbClr val="1A1F2E"/>
                </a:solidFill>
                <a:latin typeface="Arial" pitchFamily="34" charset="0"/>
                <a:ea typeface="Arial" pitchFamily="34" charset="-122"/>
                <a:cs typeface="Arial" pitchFamily="34" charset="-120"/>
              </a:rPr>
              <a:t>Test Generation</a:t>
            </a:r>
            <a:endParaRPr lang="en-US" sz="750" dirty="0"/>
          </a:p>
        </p:txBody>
      </p:sp>
      <p:sp>
        <p:nvSpPr>
          <p:cNvPr id="13" name="Text 11"/>
          <p:cNvSpPr/>
          <p:nvPr/>
        </p:nvSpPr>
        <p:spPr>
          <a:xfrm>
            <a:off x="542925" y="3803154"/>
            <a:ext cx="3379324" cy="119955"/>
          </a:xfrm>
          <a:prstGeom prst="rect">
            <a:avLst/>
          </a:prstGeom>
          <a:noFill/>
          <a:ln/>
        </p:spPr>
        <p:txBody>
          <a:bodyPr wrap="square" lIns="0" tIns="0" rIns="0" bIns="0" rtlCol="0" anchor="t"/>
          <a:lstStyle/>
          <a:p>
            <a:pPr algn="l" indent="0" marL="0">
              <a:lnSpc>
                <a:spcPts val="945"/>
              </a:lnSpc>
              <a:buNone/>
            </a:pPr>
            <a:r>
              <a:rPr lang="en-US" sz="675" dirty="0">
                <a:solidFill>
                  <a:srgbClr val="6B7280"/>
                </a:solidFill>
                <a:latin typeface="Arial" pitchFamily="34" charset="0"/>
                <a:ea typeface="Arial" pitchFamily="34" charset="-122"/>
                <a:cs typeface="Arial" pitchFamily="34" charset="-120"/>
              </a:rPr>
              <a:t>Create tests for new functions</a:t>
            </a:r>
            <a:endParaRPr lang="en-US" sz="675" dirty="0"/>
          </a:p>
        </p:txBody>
      </p:sp>
      <p:sp>
        <p:nvSpPr>
          <p:cNvPr id="14" name="Text 12"/>
          <p:cNvSpPr/>
          <p:nvPr/>
        </p:nvSpPr>
        <p:spPr>
          <a:xfrm>
            <a:off x="4151263" y="825847"/>
            <a:ext cx="4611737" cy="4025205"/>
          </a:xfrm>
          <a:prstGeom prst="rect">
            <a:avLst/>
          </a:prstGeom>
          <a:solidFill>
            <a:srgbClr val="1A1F2E"/>
          </a:solidFill>
          <a:ln/>
        </p:spPr>
        <p:txBody>
          <a:bodyPr wrap="square" rtlCol="0" anchor="ctr"/>
          <a:lstStyle/>
          <a:p>
            <a:pPr indent="0" marL="0">
              <a:buNone/>
            </a:pPr>
            <a:endParaRPr lang="en-US" dirty="0"/>
          </a:p>
        </p:txBody>
      </p:sp>
      <p:sp>
        <p:nvSpPr>
          <p:cNvPr id="15" name="Text 13"/>
          <p:cNvSpPr/>
          <p:nvPr/>
        </p:nvSpPr>
        <p:spPr>
          <a:xfrm>
            <a:off x="4303663" y="978247"/>
            <a:ext cx="4393076" cy="133350"/>
          </a:xfrm>
          <a:prstGeom prst="rect">
            <a:avLst/>
          </a:prstGeom>
          <a:noFill/>
          <a:ln/>
        </p:spPr>
        <p:txBody>
          <a:bodyPr wrap="square" lIns="0" tIns="0" rIns="0" bIns="0" rtlCol="0" anchor="t"/>
          <a:lstStyle/>
          <a:p>
            <a:pPr algn="l" indent="0" marL="0">
              <a:lnSpc>
                <a:spcPts val="1050"/>
              </a:lnSpc>
              <a:spcAft>
                <a:spcPts val="600"/>
              </a:spcAft>
              <a:buNone/>
            </a:pPr>
            <a:r>
              <a:rPr lang="en-US" sz="750" dirty="0">
                <a:solidFill>
                  <a:srgbClr val="C9A227"/>
                </a:solidFill>
                <a:latin typeface="Arial" pitchFamily="34" charset="0"/>
                <a:ea typeface="Arial" pitchFamily="34" charset="-122"/>
                <a:cs typeface="Arial" pitchFamily="34" charset="-120"/>
              </a:rPr>
              <a:t>WORKFLOW EXAMPLE</a:t>
            </a:r>
            <a:endParaRPr lang="en-US" sz="750" dirty="0"/>
          </a:p>
        </p:txBody>
      </p:sp>
      <p:sp>
        <p:nvSpPr>
          <p:cNvPr id="16" name="Text 14"/>
          <p:cNvSpPr/>
          <p:nvPr/>
        </p:nvSpPr>
        <p:spPr>
          <a:xfrm>
            <a:off x="4303663" y="1340197"/>
            <a:ext cx="4306937" cy="2857500"/>
          </a:xfrm>
          <a:prstGeom prst="rect">
            <a:avLst/>
          </a:prstGeom>
          <a:solidFill>
            <a:srgbClr val="252B3D"/>
          </a:solidFill>
          <a:ln/>
        </p:spPr>
        <p:txBody>
          <a:bodyPr wrap="square" rtlCol="0" anchor="ctr"/>
          <a:lstStyle/>
          <a:p>
            <a:pPr indent="0" marL="0">
              <a:buNone/>
            </a:pPr>
            <a:endParaRPr lang="en-US" dirty="0"/>
          </a:p>
        </p:txBody>
      </p:sp>
      <p:sp>
        <p:nvSpPr>
          <p:cNvPr id="17" name="Text 15"/>
          <p:cNvSpPr/>
          <p:nvPr/>
        </p:nvSpPr>
        <p:spPr>
          <a:xfrm>
            <a:off x="4398913" y="1435447"/>
            <a:ext cx="4198766" cy="266700"/>
          </a:xfrm>
          <a:prstGeom prst="rect">
            <a:avLst/>
          </a:prstGeom>
          <a:noFill/>
          <a:ln/>
        </p:spPr>
        <p:txBody>
          <a:bodyPr wrap="square" lIns="0" tIns="0" rIns="0" bIns="0" rtlCol="0" anchor="t"/>
          <a:lstStyle/>
          <a:p>
            <a:pPr algn="l" indent="0" marL="0">
              <a:lnSpc>
                <a:spcPts val="2100"/>
              </a:lnSpc>
              <a:buNone/>
            </a:pPr>
            <a:r>
              <a:rPr lang="en-US" sz="1500" dirty="0">
                <a:solidFill>
                  <a:srgbClr val="6B7280"/>
                </a:solidFill>
                <a:latin typeface="Arial" pitchFamily="34" charset="0"/>
                <a:ea typeface="Arial" pitchFamily="34" charset="-122"/>
                <a:cs typeface="Arial" pitchFamily="34" charset="-120"/>
              </a:rPr>
              <a:t># .github/workflows/claude.yml</a:t>
            </a:r>
            <a:endParaRPr lang="en-US" sz="1500" dirty="0"/>
          </a:p>
        </p:txBody>
      </p:sp>
      <p:sp>
        <p:nvSpPr>
          <p:cNvPr id="18" name="Text 16"/>
          <p:cNvSpPr/>
          <p:nvPr/>
        </p:nvSpPr>
        <p:spPr>
          <a:xfrm>
            <a:off x="4398913" y="1702147"/>
            <a:ext cx="4198766" cy="266700"/>
          </a:xfrm>
          <a:prstGeom prst="rect">
            <a:avLst/>
          </a:prstGeom>
          <a:noFill/>
          <a:ln/>
        </p:spPr>
        <p:txBody>
          <a:bodyPr wrap="square" lIns="0" tIns="0" rIns="0" bIns="0" rtlCol="0" anchor="t"/>
          <a:lstStyle/>
          <a:p>
            <a:pPr algn="l" indent="0" marL="0">
              <a:lnSpc>
                <a:spcPts val="2100"/>
              </a:lnSpc>
              <a:buNone/>
            </a:pPr>
            <a:r>
              <a:rPr lang="en-US" sz="1500" dirty="0">
                <a:solidFill>
                  <a:srgbClr val="FFFFFF"/>
                </a:solidFill>
                <a:latin typeface="Arial" pitchFamily="34" charset="0"/>
                <a:ea typeface="Arial" pitchFamily="34" charset="-122"/>
                <a:cs typeface="Arial" pitchFamily="34" charset="-120"/>
              </a:rPr>
              <a:t>name: Claude Code Review</a:t>
            </a:r>
            <a:endParaRPr lang="en-US" sz="1500" dirty="0"/>
          </a:p>
        </p:txBody>
      </p:sp>
      <p:sp>
        <p:nvSpPr>
          <p:cNvPr id="19" name="Text 17"/>
          <p:cNvSpPr/>
          <p:nvPr/>
        </p:nvSpPr>
        <p:spPr>
          <a:xfrm>
            <a:off x="4398913" y="1968847"/>
            <a:ext cx="4198766" cy="266700"/>
          </a:xfrm>
          <a:prstGeom prst="rect">
            <a:avLst/>
          </a:prstGeom>
          <a:noFill/>
          <a:ln/>
        </p:spPr>
        <p:txBody>
          <a:bodyPr wrap="square" lIns="0" tIns="0" rIns="0" bIns="0" rtlCol="0" anchor="t"/>
          <a:lstStyle/>
          <a:p>
            <a:pPr algn="l" indent="0" marL="0">
              <a:lnSpc>
                <a:spcPts val="2100"/>
              </a:lnSpc>
              <a:buNone/>
            </a:pPr>
            <a:r>
              <a:rPr lang="en-US" sz="1500" dirty="0">
                <a:solidFill>
                  <a:srgbClr val="FFFFFF"/>
                </a:solidFill>
                <a:latin typeface="Arial" pitchFamily="34" charset="0"/>
                <a:ea typeface="Arial" pitchFamily="34" charset="-122"/>
                <a:cs typeface="Arial" pitchFamily="34" charset="-120"/>
              </a:rPr>
              <a:t>on: [pull_request]</a:t>
            </a:r>
            <a:endParaRPr lang="en-US" sz="1500" dirty="0"/>
          </a:p>
        </p:txBody>
      </p:sp>
      <p:sp>
        <p:nvSpPr>
          <p:cNvPr id="20" name="Text 18"/>
          <p:cNvSpPr/>
          <p:nvPr/>
        </p:nvSpPr>
        <p:spPr>
          <a:xfrm>
            <a:off x="4398913" y="2235547"/>
            <a:ext cx="4198766" cy="266700"/>
          </a:xfrm>
          <a:prstGeom prst="rect">
            <a:avLst/>
          </a:prstGeom>
          <a:noFill/>
          <a:ln/>
        </p:spPr>
        <p:txBody>
          <a:bodyPr wrap="square" lIns="0" tIns="0" rIns="0" bIns="0" rtlCol="0" anchor="t"/>
          <a:lstStyle/>
          <a:p>
            <a:pPr algn="l" indent="0" marL="0">
              <a:lnSpc>
                <a:spcPts val="2100"/>
              </a:lnSpc>
              <a:buNone/>
            </a:pPr>
            <a:r>
              <a:rPr lang="en-US" sz="1500" dirty="0">
                <a:solidFill>
                  <a:srgbClr val="FFFFFF"/>
                </a:solidFill>
                <a:latin typeface="Arial" pitchFamily="34" charset="0"/>
                <a:ea typeface="Arial" pitchFamily="34" charset="-122"/>
                <a:cs typeface="Arial" pitchFamily="34" charset="-120"/>
              </a:rPr>
              <a:t>jobs:</a:t>
            </a:r>
            <a:endParaRPr lang="en-US" sz="1500" dirty="0"/>
          </a:p>
        </p:txBody>
      </p:sp>
      <p:sp>
        <p:nvSpPr>
          <p:cNvPr id="21" name="Text 19"/>
          <p:cNvSpPr/>
          <p:nvPr/>
        </p:nvSpPr>
        <p:spPr>
          <a:xfrm>
            <a:off x="4398913" y="2502247"/>
            <a:ext cx="4198766" cy="266700"/>
          </a:xfrm>
          <a:prstGeom prst="rect">
            <a:avLst/>
          </a:prstGeom>
          <a:noFill/>
          <a:ln/>
        </p:spPr>
        <p:txBody>
          <a:bodyPr wrap="square" lIns="0" tIns="0" rIns="0" bIns="0" rtlCol="0" anchor="t"/>
          <a:lstStyle/>
          <a:p>
            <a:pPr algn="l" indent="0" marL="0">
              <a:lnSpc>
                <a:spcPts val="2100"/>
              </a:lnSpc>
              <a:buNone/>
            </a:pPr>
            <a:r>
              <a:rPr lang="en-US" sz="1500" dirty="0">
                <a:solidFill>
                  <a:srgbClr val="FFFFFF"/>
                </a:solidFill>
                <a:latin typeface="Arial" pitchFamily="34" charset="0"/>
                <a:ea typeface="Arial" pitchFamily="34" charset="-122"/>
                <a:cs typeface="Arial" pitchFamily="34" charset="-120"/>
              </a:rPr>
              <a:t>review:</a:t>
            </a:r>
            <a:endParaRPr lang="en-US" sz="1500" dirty="0"/>
          </a:p>
        </p:txBody>
      </p:sp>
      <p:sp>
        <p:nvSpPr>
          <p:cNvPr id="22" name="Text 20"/>
          <p:cNvSpPr/>
          <p:nvPr/>
        </p:nvSpPr>
        <p:spPr>
          <a:xfrm>
            <a:off x="4398913" y="2768947"/>
            <a:ext cx="4198766" cy="266700"/>
          </a:xfrm>
          <a:prstGeom prst="rect">
            <a:avLst/>
          </a:prstGeom>
          <a:noFill/>
          <a:ln/>
        </p:spPr>
        <p:txBody>
          <a:bodyPr wrap="square" lIns="0" tIns="0" rIns="0" bIns="0" rtlCol="0" anchor="t"/>
          <a:lstStyle/>
          <a:p>
            <a:pPr algn="l" indent="0" marL="0">
              <a:lnSpc>
                <a:spcPts val="2100"/>
              </a:lnSpc>
              <a:buNone/>
            </a:pPr>
            <a:r>
              <a:rPr lang="en-US" sz="1500" dirty="0">
                <a:solidFill>
                  <a:srgbClr val="FFFFFF"/>
                </a:solidFill>
                <a:latin typeface="Arial" pitchFamily="34" charset="0"/>
                <a:ea typeface="Arial" pitchFamily="34" charset="-122"/>
                <a:cs typeface="Arial" pitchFamily="34" charset="-120"/>
              </a:rPr>
              <a:t>runs-on: ubuntu-latest</a:t>
            </a:r>
            <a:endParaRPr lang="en-US" sz="1500" dirty="0"/>
          </a:p>
        </p:txBody>
      </p:sp>
      <p:sp>
        <p:nvSpPr>
          <p:cNvPr id="23" name="Text 21"/>
          <p:cNvSpPr/>
          <p:nvPr/>
        </p:nvSpPr>
        <p:spPr>
          <a:xfrm>
            <a:off x="4398913" y="3035647"/>
            <a:ext cx="4198766" cy="266700"/>
          </a:xfrm>
          <a:prstGeom prst="rect">
            <a:avLst/>
          </a:prstGeom>
          <a:noFill/>
          <a:ln/>
        </p:spPr>
        <p:txBody>
          <a:bodyPr wrap="square" lIns="0" tIns="0" rIns="0" bIns="0" rtlCol="0" anchor="t"/>
          <a:lstStyle/>
          <a:p>
            <a:pPr algn="l" indent="0" marL="0">
              <a:lnSpc>
                <a:spcPts val="2100"/>
              </a:lnSpc>
              <a:buNone/>
            </a:pPr>
            <a:r>
              <a:rPr lang="en-US" sz="1500" dirty="0">
                <a:solidFill>
                  <a:srgbClr val="FFFFFF"/>
                </a:solidFill>
                <a:latin typeface="Arial" pitchFamily="34" charset="0"/>
                <a:ea typeface="Arial" pitchFamily="34" charset="-122"/>
                <a:cs typeface="Arial" pitchFamily="34" charset="-120"/>
              </a:rPr>
              <a:t>steps:</a:t>
            </a:r>
            <a:endParaRPr lang="en-US" sz="1500" dirty="0"/>
          </a:p>
        </p:txBody>
      </p:sp>
      <p:sp>
        <p:nvSpPr>
          <p:cNvPr id="24" name="Text 22"/>
          <p:cNvSpPr/>
          <p:nvPr/>
        </p:nvSpPr>
        <p:spPr>
          <a:xfrm>
            <a:off x="4398913" y="3302347"/>
            <a:ext cx="4198766" cy="266700"/>
          </a:xfrm>
          <a:prstGeom prst="rect">
            <a:avLst/>
          </a:prstGeom>
          <a:noFill/>
          <a:ln/>
        </p:spPr>
        <p:txBody>
          <a:bodyPr wrap="square" lIns="0" tIns="0" rIns="0" bIns="0" rtlCol="0" anchor="t"/>
          <a:lstStyle/>
          <a:p>
            <a:pPr algn="l" indent="0" marL="0">
              <a:lnSpc>
                <a:spcPts val="2100"/>
              </a:lnSpc>
              <a:buNone/>
            </a:pPr>
            <a:r>
              <a:rPr lang="en-US" sz="1500" dirty="0">
                <a:solidFill>
                  <a:srgbClr val="C9A227"/>
                </a:solidFill>
                <a:latin typeface="Arial" pitchFamily="34" charset="0"/>
                <a:ea typeface="Arial" pitchFamily="34" charset="-122"/>
                <a:cs typeface="Arial" pitchFamily="34" charset="-120"/>
              </a:rPr>
              <a:t>uses: anthropics/claude-code-action</a:t>
            </a:r>
            <a:endParaRPr lang="en-US" sz="1500" dirty="0"/>
          </a:p>
        </p:txBody>
      </p:sp>
      <p:sp>
        <p:nvSpPr>
          <p:cNvPr id="25" name="Text 23"/>
          <p:cNvSpPr/>
          <p:nvPr/>
        </p:nvSpPr>
        <p:spPr>
          <a:xfrm>
            <a:off x="4398913" y="3569047"/>
            <a:ext cx="4198766" cy="266700"/>
          </a:xfrm>
          <a:prstGeom prst="rect">
            <a:avLst/>
          </a:prstGeom>
          <a:noFill/>
          <a:ln/>
        </p:spPr>
        <p:txBody>
          <a:bodyPr wrap="square" lIns="0" tIns="0" rIns="0" bIns="0" rtlCol="0" anchor="t"/>
          <a:lstStyle/>
          <a:p>
            <a:pPr algn="l" indent="0" marL="0">
              <a:lnSpc>
                <a:spcPts val="2100"/>
              </a:lnSpc>
              <a:buNone/>
            </a:pPr>
            <a:r>
              <a:rPr lang="en-US" sz="1500" dirty="0">
                <a:solidFill>
                  <a:srgbClr val="FFFFFF"/>
                </a:solidFill>
                <a:latin typeface="Arial" pitchFamily="34" charset="0"/>
                <a:ea typeface="Arial" pitchFamily="34" charset="-122"/>
                <a:cs typeface="Arial" pitchFamily="34" charset="-120"/>
              </a:rPr>
              <a:t>with:</a:t>
            </a:r>
            <a:endParaRPr lang="en-US" sz="1500" dirty="0"/>
          </a:p>
        </p:txBody>
      </p:sp>
      <p:sp>
        <p:nvSpPr>
          <p:cNvPr id="26" name="Text 24"/>
          <p:cNvSpPr/>
          <p:nvPr/>
        </p:nvSpPr>
        <p:spPr>
          <a:xfrm>
            <a:off x="4398913" y="3835747"/>
            <a:ext cx="4198766" cy="266700"/>
          </a:xfrm>
          <a:prstGeom prst="rect">
            <a:avLst/>
          </a:prstGeom>
          <a:noFill/>
          <a:ln/>
        </p:spPr>
        <p:txBody>
          <a:bodyPr wrap="square" lIns="0" tIns="0" rIns="0" bIns="0" rtlCol="0" anchor="t"/>
          <a:lstStyle/>
          <a:p>
            <a:pPr algn="l" indent="0" marL="0">
              <a:lnSpc>
                <a:spcPts val="2100"/>
              </a:lnSpc>
              <a:buNone/>
            </a:pPr>
            <a:r>
              <a:rPr lang="en-US" sz="1500" dirty="0">
                <a:solidFill>
                  <a:srgbClr val="C9A227"/>
                </a:solidFill>
                <a:latin typeface="Arial" pitchFamily="34" charset="0"/>
                <a:ea typeface="Arial" pitchFamily="34" charset="-122"/>
                <a:cs typeface="Arial" pitchFamily="34" charset="-120"/>
              </a:rPr>
              <a:t>prompt: "Review this PR"</a:t>
            </a:r>
            <a:endParaRPr lang="en-US" sz="1500" dirty="0"/>
          </a:p>
        </p:txBody>
      </p:sp>
      <p:sp>
        <p:nvSpPr>
          <p:cNvPr id="27" name="Text 25"/>
          <p:cNvSpPr/>
          <p:nvPr/>
        </p:nvSpPr>
        <p:spPr>
          <a:xfrm>
            <a:off x="4303663" y="4426297"/>
            <a:ext cx="4306937" cy="272355"/>
          </a:xfrm>
          <a:prstGeom prst="rect">
            <a:avLst/>
          </a:prstGeom>
          <a:solidFill>
            <a:srgbClr val="252B3D"/>
          </a:solidFill>
          <a:ln/>
        </p:spPr>
        <p:txBody>
          <a:bodyPr wrap="square" rtlCol="0" anchor="ctr"/>
          <a:lstStyle/>
          <a:p>
            <a:pPr indent="0" marL="0">
              <a:buNone/>
            </a:pPr>
            <a:endParaRPr lang="en-US" dirty="0"/>
          </a:p>
        </p:txBody>
      </p:sp>
      <p:sp>
        <p:nvSpPr>
          <p:cNvPr id="28" name="Text 26"/>
          <p:cNvSpPr/>
          <p:nvPr/>
        </p:nvSpPr>
        <p:spPr>
          <a:xfrm>
            <a:off x="4338318" y="4502497"/>
            <a:ext cx="4237628" cy="119955"/>
          </a:xfrm>
          <a:prstGeom prst="rect">
            <a:avLst/>
          </a:prstGeom>
          <a:noFill/>
          <a:ln/>
        </p:spPr>
        <p:txBody>
          <a:bodyPr wrap="square" lIns="0" tIns="0" rIns="0" bIns="0" rtlCol="0" anchor="t"/>
          <a:lstStyle/>
          <a:p>
            <a:pPr algn="ctr" indent="0" marL="0">
              <a:lnSpc>
                <a:spcPts val="945"/>
              </a:lnSpc>
              <a:buNone/>
            </a:pPr>
            <a:r>
              <a:rPr lang="en-US" sz="675" dirty="0">
                <a:solidFill>
                  <a:srgbClr val="FFFFFF">
                    <a:alpha val="70000"/>
                  </a:srgbClr>
                </a:solidFill>
                <a:latin typeface="Arial" pitchFamily="34" charset="0"/>
                <a:ea typeface="Arial" pitchFamily="34" charset="-122"/>
                <a:cs typeface="Arial" pitchFamily="34" charset="-120"/>
              </a:rPr>
              <a:t>Runs Claude on every pull request</a:t>
            </a:r>
            <a:endParaRPr lang="en-US" sz="675"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4047679" cy="5143500"/>
          </a:xfrm>
          <a:prstGeom prst="rect">
            <a:avLst/>
          </a:prstGeom>
          <a:solidFill>
            <a:srgbClr val="1A1F2E"/>
          </a:solidFill>
          <a:ln/>
        </p:spPr>
        <p:txBody>
          <a:bodyPr wrap="square" rtlCol="0" anchor="ctr"/>
          <a:lstStyle/>
          <a:p>
            <a:pPr indent="0" marL="0">
              <a:buNone/>
            </a:pPr>
            <a:endParaRPr lang="en-US" dirty="0"/>
          </a:p>
        </p:txBody>
      </p:sp>
      <p:sp>
        <p:nvSpPr>
          <p:cNvPr id="3" name="Text 1"/>
          <p:cNvSpPr/>
          <p:nvPr/>
        </p:nvSpPr>
        <p:spPr>
          <a:xfrm>
            <a:off x="381000" y="1410742"/>
            <a:ext cx="3351392" cy="146596"/>
          </a:xfrm>
          <a:prstGeom prst="rect">
            <a:avLst/>
          </a:prstGeom>
          <a:noFill/>
          <a:ln/>
        </p:spPr>
        <p:txBody>
          <a:bodyPr wrap="square" lIns="0" tIns="0" rIns="0" bIns="0" rtlCol="0" anchor="t"/>
          <a:lstStyle/>
          <a:p>
            <a:pPr algn="l" indent="0" marL="0">
              <a:lnSpc>
                <a:spcPts val="1155"/>
              </a:lnSpc>
              <a:spcAft>
                <a:spcPts val="1200"/>
              </a:spcAft>
              <a:buNone/>
            </a:pPr>
            <a:r>
              <a:rPr lang="en-US" sz="825" dirty="0">
                <a:solidFill>
                  <a:srgbClr val="C9A227"/>
                </a:solidFill>
                <a:latin typeface="Arial" pitchFamily="34" charset="0"/>
                <a:ea typeface="Arial" pitchFamily="34" charset="-122"/>
                <a:cs typeface="Arial" pitchFamily="34" charset="-120"/>
              </a:rPr>
              <a:t>ENTERPRISE</a:t>
            </a:r>
            <a:endParaRPr lang="en-US" sz="825" dirty="0"/>
          </a:p>
        </p:txBody>
      </p:sp>
      <p:sp>
        <p:nvSpPr>
          <p:cNvPr id="4" name="Text 2"/>
          <p:cNvSpPr/>
          <p:nvPr/>
        </p:nvSpPr>
        <p:spPr>
          <a:xfrm>
            <a:off x="381000" y="1862138"/>
            <a:ext cx="2244281" cy="777180"/>
          </a:xfrm>
          <a:prstGeom prst="rect">
            <a:avLst/>
          </a:prstGeom>
          <a:noFill/>
          <a:ln/>
        </p:spPr>
        <p:txBody>
          <a:bodyPr wrap="square" lIns="0" tIns="0" rIns="0" bIns="0" rtlCol="0" anchor="t"/>
          <a:lstStyle/>
          <a:p>
            <a:pPr algn="l" indent="0" marL="0">
              <a:lnSpc>
                <a:spcPts val="3060"/>
              </a:lnSpc>
              <a:spcAft>
                <a:spcPts val="1200"/>
              </a:spcAft>
              <a:buNone/>
            </a:pPr>
            <a:r>
              <a:rPr lang="en-US" sz="2550" dirty="0">
                <a:solidFill>
                  <a:srgbClr val="FFFFFF"/>
                </a:solidFill>
                <a:latin typeface="Georgia" pitchFamily="34" charset="0"/>
                <a:ea typeface="Georgia" pitchFamily="34" charset="-122"/>
                <a:cs typeface="Georgia" pitchFamily="34" charset="-120"/>
              </a:rPr>
              <a:t>GitHub Copilot Enterprise</a:t>
            </a:r>
            <a:endParaRPr lang="en-US" sz="2550" dirty="0"/>
          </a:p>
        </p:txBody>
      </p:sp>
      <p:sp>
        <p:nvSpPr>
          <p:cNvPr id="5" name="Text 3"/>
          <p:cNvSpPr/>
          <p:nvPr/>
        </p:nvSpPr>
        <p:spPr>
          <a:xfrm>
            <a:off x="381000" y="2944118"/>
            <a:ext cx="457200" cy="19050"/>
          </a:xfrm>
          <a:prstGeom prst="rect">
            <a:avLst/>
          </a:prstGeom>
          <a:solidFill>
            <a:srgbClr val="C9A227"/>
          </a:solidFill>
          <a:ln/>
        </p:spPr>
        <p:txBody>
          <a:bodyPr wrap="square" rtlCol="0" anchor="ctr"/>
          <a:lstStyle/>
          <a:p>
            <a:pPr indent="0" marL="0">
              <a:buNone/>
            </a:pPr>
            <a:endParaRPr lang="en-US" dirty="0"/>
          </a:p>
        </p:txBody>
      </p:sp>
      <p:sp>
        <p:nvSpPr>
          <p:cNvPr id="6" name="Text 4"/>
          <p:cNvSpPr/>
          <p:nvPr/>
        </p:nvSpPr>
        <p:spPr>
          <a:xfrm>
            <a:off x="381000" y="3306068"/>
            <a:ext cx="3351392" cy="426541"/>
          </a:xfrm>
          <a:prstGeom prst="rect">
            <a:avLst/>
          </a:prstGeom>
          <a:noFill/>
          <a:ln/>
        </p:spPr>
        <p:txBody>
          <a:bodyPr wrap="square" lIns="0" tIns="0" rIns="0" bIns="0" rtlCol="0" anchor="t"/>
          <a:lstStyle/>
          <a:p>
            <a:pPr algn="l" indent="0" marL="0">
              <a:lnSpc>
                <a:spcPts val="1680"/>
              </a:lnSpc>
              <a:buNone/>
            </a:pPr>
            <a:r>
              <a:rPr lang="en-US" sz="1050" dirty="0">
                <a:solidFill>
                  <a:srgbClr val="FFFFFF">
                    <a:alpha val="70000"/>
                  </a:srgbClr>
                </a:solidFill>
                <a:latin typeface="Arial" pitchFamily="34" charset="0"/>
                <a:ea typeface="Arial" pitchFamily="34" charset="-122"/>
                <a:cs typeface="Arial" pitchFamily="34" charset="-120"/>
              </a:rPr>
              <a:t>Enterprise-grade AI coding assistant with organization-wide customization and security controls.</a:t>
            </a:r>
            <a:endParaRPr lang="en-US" sz="1050" dirty="0"/>
          </a:p>
        </p:txBody>
      </p:sp>
      <p:sp>
        <p:nvSpPr>
          <p:cNvPr id="7" name="Text 5"/>
          <p:cNvSpPr/>
          <p:nvPr/>
        </p:nvSpPr>
        <p:spPr>
          <a:xfrm>
            <a:off x="4200079" y="0"/>
            <a:ext cx="4943921" cy="5143500"/>
          </a:xfrm>
          <a:prstGeom prst="rect">
            <a:avLst/>
          </a:prstGeom>
          <a:solidFill>
            <a:srgbClr val="F7F8FA"/>
          </a:solidFill>
          <a:ln/>
        </p:spPr>
        <p:txBody>
          <a:bodyPr wrap="square" rtlCol="0" anchor="ctr"/>
          <a:lstStyle/>
          <a:p>
            <a:pPr indent="0" marL="0">
              <a:buNone/>
            </a:pPr>
            <a:endParaRPr lang="en-US" dirty="0"/>
          </a:p>
        </p:txBody>
      </p:sp>
      <p:sp>
        <p:nvSpPr>
          <p:cNvPr id="8" name="Text 6"/>
          <p:cNvSpPr/>
          <p:nvPr/>
        </p:nvSpPr>
        <p:spPr>
          <a:xfrm>
            <a:off x="4581079" y="704106"/>
            <a:ext cx="4181921" cy="725686"/>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9" name="Text 7"/>
          <p:cNvSpPr/>
          <p:nvPr/>
        </p:nvSpPr>
        <p:spPr>
          <a:xfrm>
            <a:off x="4743004" y="866031"/>
            <a:ext cx="3935233" cy="173236"/>
          </a:xfrm>
          <a:prstGeom prst="rect">
            <a:avLst/>
          </a:prstGeom>
          <a:noFill/>
          <a:ln/>
        </p:spPr>
        <p:txBody>
          <a:bodyPr wrap="square" lIns="0" tIns="0" rIns="0" bIns="0" rtlCol="0" anchor="t"/>
          <a:lstStyle/>
          <a:p>
            <a:pPr algn="l" indent="0" marL="0">
              <a:lnSpc>
                <a:spcPts val="1365"/>
              </a:lnSpc>
              <a:spcAft>
                <a:spcPts val="450"/>
              </a:spcAft>
              <a:buNone/>
            </a:pPr>
            <a:r>
              <a:rPr lang="en-US" sz="975" b="1" dirty="0">
                <a:solidFill>
                  <a:srgbClr val="1A1F2E"/>
                </a:solidFill>
                <a:latin typeface="Arial" pitchFamily="34" charset="0"/>
                <a:ea typeface="Arial" pitchFamily="34" charset="-122"/>
                <a:cs typeface="Arial" pitchFamily="34" charset="-120"/>
              </a:rPr>
              <a:t>Custom Models</a:t>
            </a:r>
            <a:endParaRPr lang="en-US" sz="975" dirty="0"/>
          </a:p>
        </p:txBody>
      </p:sp>
      <p:sp>
        <p:nvSpPr>
          <p:cNvPr id="10" name="Text 8"/>
          <p:cNvSpPr/>
          <p:nvPr/>
        </p:nvSpPr>
        <p:spPr>
          <a:xfrm>
            <a:off x="4743004" y="1096417"/>
            <a:ext cx="3935233" cy="171450"/>
          </a:xfrm>
          <a:prstGeom prst="rect">
            <a:avLst/>
          </a:prstGeom>
          <a:noFill/>
          <a:ln/>
        </p:spPr>
        <p:txBody>
          <a:bodyPr wrap="square" lIns="0" tIns="0" rIns="0" bIns="0" rtlCol="0" anchor="t"/>
          <a:lstStyle/>
          <a:p>
            <a:pPr algn="l" indent="0" marL="0">
              <a:lnSpc>
                <a:spcPts val="1350"/>
              </a:lnSpc>
              <a:buNone/>
            </a:pPr>
            <a:r>
              <a:rPr lang="en-US" sz="900" dirty="0">
                <a:solidFill>
                  <a:srgbClr val="6B7280"/>
                </a:solidFill>
                <a:latin typeface="Arial" pitchFamily="34" charset="0"/>
                <a:ea typeface="Arial" pitchFamily="34" charset="-122"/>
                <a:cs typeface="Arial" pitchFamily="34" charset="-120"/>
              </a:rPr>
              <a:t>Fine-tuned on your organization's codebase for more relevant suggestions.</a:t>
            </a:r>
            <a:endParaRPr lang="en-US" sz="900" dirty="0"/>
          </a:p>
        </p:txBody>
      </p:sp>
      <p:sp>
        <p:nvSpPr>
          <p:cNvPr id="11" name="Text 9"/>
          <p:cNvSpPr/>
          <p:nvPr/>
        </p:nvSpPr>
        <p:spPr>
          <a:xfrm>
            <a:off x="4581079" y="1544092"/>
            <a:ext cx="4181921" cy="725686"/>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2" name="Text 10"/>
          <p:cNvSpPr/>
          <p:nvPr/>
        </p:nvSpPr>
        <p:spPr>
          <a:xfrm>
            <a:off x="4743004" y="1706017"/>
            <a:ext cx="3935233" cy="173236"/>
          </a:xfrm>
          <a:prstGeom prst="rect">
            <a:avLst/>
          </a:prstGeom>
          <a:noFill/>
          <a:ln/>
        </p:spPr>
        <p:txBody>
          <a:bodyPr wrap="square" lIns="0" tIns="0" rIns="0" bIns="0" rtlCol="0" anchor="t"/>
          <a:lstStyle/>
          <a:p>
            <a:pPr algn="l" indent="0" marL="0">
              <a:lnSpc>
                <a:spcPts val="1365"/>
              </a:lnSpc>
              <a:spcAft>
                <a:spcPts val="450"/>
              </a:spcAft>
              <a:buNone/>
            </a:pPr>
            <a:r>
              <a:rPr lang="en-US" sz="975" b="1" dirty="0">
                <a:solidFill>
                  <a:srgbClr val="1A1F2E"/>
                </a:solidFill>
                <a:latin typeface="Arial" pitchFamily="34" charset="0"/>
                <a:ea typeface="Arial" pitchFamily="34" charset="-122"/>
                <a:cs typeface="Arial" pitchFamily="34" charset="-120"/>
              </a:rPr>
              <a:t>Knowledge Bases</a:t>
            </a:r>
            <a:endParaRPr lang="en-US" sz="975" dirty="0"/>
          </a:p>
        </p:txBody>
      </p:sp>
      <p:sp>
        <p:nvSpPr>
          <p:cNvPr id="13" name="Text 11"/>
          <p:cNvSpPr/>
          <p:nvPr/>
        </p:nvSpPr>
        <p:spPr>
          <a:xfrm>
            <a:off x="4743004" y="1936403"/>
            <a:ext cx="3935233" cy="171450"/>
          </a:xfrm>
          <a:prstGeom prst="rect">
            <a:avLst/>
          </a:prstGeom>
          <a:noFill/>
          <a:ln/>
        </p:spPr>
        <p:txBody>
          <a:bodyPr wrap="square" lIns="0" tIns="0" rIns="0" bIns="0" rtlCol="0" anchor="t"/>
          <a:lstStyle/>
          <a:p>
            <a:pPr algn="l" indent="0" marL="0">
              <a:lnSpc>
                <a:spcPts val="1350"/>
              </a:lnSpc>
              <a:buNone/>
            </a:pPr>
            <a:r>
              <a:rPr lang="en-US" sz="900" dirty="0">
                <a:solidFill>
                  <a:srgbClr val="6B7280"/>
                </a:solidFill>
                <a:latin typeface="Arial" pitchFamily="34" charset="0"/>
                <a:ea typeface="Arial" pitchFamily="34" charset="-122"/>
                <a:cs typeface="Arial" pitchFamily="34" charset="-120"/>
              </a:rPr>
              <a:t>Index internal docs, wikis, and repos for context-aware assistance.</a:t>
            </a:r>
            <a:endParaRPr lang="en-US" sz="900" dirty="0"/>
          </a:p>
        </p:txBody>
      </p:sp>
      <p:sp>
        <p:nvSpPr>
          <p:cNvPr id="14" name="Text 12"/>
          <p:cNvSpPr/>
          <p:nvPr/>
        </p:nvSpPr>
        <p:spPr>
          <a:xfrm>
            <a:off x="4581079" y="2384078"/>
            <a:ext cx="4181921" cy="725686"/>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5" name="Text 13"/>
          <p:cNvSpPr/>
          <p:nvPr/>
        </p:nvSpPr>
        <p:spPr>
          <a:xfrm>
            <a:off x="4743004" y="2546003"/>
            <a:ext cx="3935233" cy="173236"/>
          </a:xfrm>
          <a:prstGeom prst="rect">
            <a:avLst/>
          </a:prstGeom>
          <a:noFill/>
          <a:ln/>
        </p:spPr>
        <p:txBody>
          <a:bodyPr wrap="square" lIns="0" tIns="0" rIns="0" bIns="0" rtlCol="0" anchor="t"/>
          <a:lstStyle/>
          <a:p>
            <a:pPr algn="l" indent="0" marL="0">
              <a:lnSpc>
                <a:spcPts val="1365"/>
              </a:lnSpc>
              <a:spcAft>
                <a:spcPts val="450"/>
              </a:spcAft>
              <a:buNone/>
            </a:pPr>
            <a:r>
              <a:rPr lang="en-US" sz="975" b="1" dirty="0">
                <a:solidFill>
                  <a:srgbClr val="1A1F2E"/>
                </a:solidFill>
                <a:latin typeface="Arial" pitchFamily="34" charset="0"/>
                <a:ea typeface="Arial" pitchFamily="34" charset="-122"/>
                <a:cs typeface="Arial" pitchFamily="34" charset="-120"/>
              </a:rPr>
              <a:t>Policy Controls</a:t>
            </a:r>
            <a:endParaRPr lang="en-US" sz="975" dirty="0"/>
          </a:p>
        </p:txBody>
      </p:sp>
      <p:sp>
        <p:nvSpPr>
          <p:cNvPr id="16" name="Text 14"/>
          <p:cNvSpPr/>
          <p:nvPr/>
        </p:nvSpPr>
        <p:spPr>
          <a:xfrm>
            <a:off x="4743004" y="2776389"/>
            <a:ext cx="3935233" cy="171450"/>
          </a:xfrm>
          <a:prstGeom prst="rect">
            <a:avLst/>
          </a:prstGeom>
          <a:noFill/>
          <a:ln/>
        </p:spPr>
        <p:txBody>
          <a:bodyPr wrap="square" lIns="0" tIns="0" rIns="0" bIns="0" rtlCol="0" anchor="t"/>
          <a:lstStyle/>
          <a:p>
            <a:pPr algn="l" indent="0" marL="0">
              <a:lnSpc>
                <a:spcPts val="1350"/>
              </a:lnSpc>
              <a:buNone/>
            </a:pPr>
            <a:r>
              <a:rPr lang="en-US" sz="900" dirty="0">
                <a:solidFill>
                  <a:srgbClr val="6B7280"/>
                </a:solidFill>
                <a:latin typeface="Arial" pitchFamily="34" charset="0"/>
                <a:ea typeface="Arial" pitchFamily="34" charset="-122"/>
                <a:cs typeface="Arial" pitchFamily="34" charset="-120"/>
              </a:rPr>
              <a:t>Content exclusions, IP indemnity, and compliance certifications.</a:t>
            </a:r>
            <a:endParaRPr lang="en-US" sz="900" dirty="0"/>
          </a:p>
        </p:txBody>
      </p:sp>
      <p:sp>
        <p:nvSpPr>
          <p:cNvPr id="17" name="Text 15"/>
          <p:cNvSpPr/>
          <p:nvPr/>
        </p:nvSpPr>
        <p:spPr>
          <a:xfrm>
            <a:off x="4581079" y="3224064"/>
            <a:ext cx="4181921" cy="725686"/>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8" name="Text 16"/>
          <p:cNvSpPr/>
          <p:nvPr/>
        </p:nvSpPr>
        <p:spPr>
          <a:xfrm>
            <a:off x="4743004" y="3385989"/>
            <a:ext cx="3935233" cy="173236"/>
          </a:xfrm>
          <a:prstGeom prst="rect">
            <a:avLst/>
          </a:prstGeom>
          <a:noFill/>
          <a:ln/>
        </p:spPr>
        <p:txBody>
          <a:bodyPr wrap="square" lIns="0" tIns="0" rIns="0" bIns="0" rtlCol="0" anchor="t"/>
          <a:lstStyle/>
          <a:p>
            <a:pPr algn="l" indent="0" marL="0">
              <a:lnSpc>
                <a:spcPts val="1365"/>
              </a:lnSpc>
              <a:spcAft>
                <a:spcPts val="450"/>
              </a:spcAft>
              <a:buNone/>
            </a:pPr>
            <a:r>
              <a:rPr lang="en-US" sz="975" b="1" dirty="0">
                <a:solidFill>
                  <a:srgbClr val="1A1F2E"/>
                </a:solidFill>
                <a:latin typeface="Arial" pitchFamily="34" charset="0"/>
                <a:ea typeface="Arial" pitchFamily="34" charset="-122"/>
                <a:cs typeface="Arial" pitchFamily="34" charset="-120"/>
              </a:rPr>
              <a:t>Analytics Dashboard</a:t>
            </a:r>
            <a:endParaRPr lang="en-US" sz="975" dirty="0"/>
          </a:p>
        </p:txBody>
      </p:sp>
      <p:sp>
        <p:nvSpPr>
          <p:cNvPr id="19" name="Text 17"/>
          <p:cNvSpPr/>
          <p:nvPr/>
        </p:nvSpPr>
        <p:spPr>
          <a:xfrm>
            <a:off x="4743004" y="3616375"/>
            <a:ext cx="3935233" cy="171450"/>
          </a:xfrm>
          <a:prstGeom prst="rect">
            <a:avLst/>
          </a:prstGeom>
          <a:noFill/>
          <a:ln/>
        </p:spPr>
        <p:txBody>
          <a:bodyPr wrap="square" lIns="0" tIns="0" rIns="0" bIns="0" rtlCol="0" anchor="t"/>
          <a:lstStyle/>
          <a:p>
            <a:pPr algn="l" indent="0" marL="0">
              <a:lnSpc>
                <a:spcPts val="1350"/>
              </a:lnSpc>
              <a:buNone/>
            </a:pPr>
            <a:r>
              <a:rPr lang="en-US" sz="900" dirty="0">
                <a:solidFill>
                  <a:srgbClr val="6B7280"/>
                </a:solidFill>
                <a:latin typeface="Arial" pitchFamily="34" charset="0"/>
                <a:ea typeface="Arial" pitchFamily="34" charset="-122"/>
                <a:cs typeface="Arial" pitchFamily="34" charset="-120"/>
              </a:rPr>
              <a:t>Usage metrics, adoption tracking, and productivity insights.</a:t>
            </a:r>
            <a:endParaRPr lang="en-US" sz="900" dirty="0"/>
          </a:p>
        </p:txBody>
      </p:sp>
      <p:sp>
        <p:nvSpPr>
          <p:cNvPr id="20" name="Text 18"/>
          <p:cNvSpPr/>
          <p:nvPr/>
        </p:nvSpPr>
        <p:spPr>
          <a:xfrm>
            <a:off x="4581079" y="4064050"/>
            <a:ext cx="4181921" cy="375196"/>
          </a:xfrm>
          <a:prstGeom prst="rect">
            <a:avLst/>
          </a:prstGeom>
          <a:solidFill>
            <a:srgbClr val="FEF3C7"/>
          </a:solidFill>
          <a:ln/>
        </p:spPr>
        <p:txBody>
          <a:bodyPr wrap="square" rtlCol="0" anchor="ctr"/>
          <a:lstStyle/>
          <a:p>
            <a:pPr indent="0" marL="0">
              <a:buNone/>
            </a:pPr>
            <a:endParaRPr lang="en-US" dirty="0"/>
          </a:p>
        </p:txBody>
      </p:sp>
      <p:sp>
        <p:nvSpPr>
          <p:cNvPr id="21" name="Shape 19"/>
          <p:cNvSpPr/>
          <p:nvPr/>
        </p:nvSpPr>
        <p:spPr>
          <a:xfrm>
            <a:off x="4600129" y="4064050"/>
            <a:ext cx="0" cy="375196"/>
          </a:xfrm>
          <a:prstGeom prst="line">
            <a:avLst/>
          </a:prstGeom>
          <a:noFill/>
          <a:ln w="38100">
            <a:solidFill>
              <a:srgbClr val="F59E0B"/>
            </a:solidFill>
            <a:prstDash val="solid"/>
          </a:ln>
        </p:spPr>
      </p:sp>
      <p:sp>
        <p:nvSpPr>
          <p:cNvPr id="22" name="Text 20"/>
          <p:cNvSpPr/>
          <p:nvPr/>
        </p:nvSpPr>
        <p:spPr>
          <a:xfrm>
            <a:off x="4771579" y="4178350"/>
            <a:ext cx="3915802" cy="146596"/>
          </a:xfrm>
          <a:prstGeom prst="rect">
            <a:avLst/>
          </a:prstGeom>
          <a:noFill/>
          <a:ln/>
        </p:spPr>
        <p:txBody>
          <a:bodyPr wrap="square" lIns="0" tIns="0" rIns="0" bIns="0" rtlCol="0" anchor="t"/>
          <a:lstStyle/>
          <a:p>
            <a:pPr algn="l" indent="0" marL="0">
              <a:lnSpc>
                <a:spcPts val="1155"/>
              </a:lnSpc>
              <a:buNone/>
            </a:pPr>
            <a:r>
              <a:rPr lang="en-US" sz="825" b="1" dirty="0">
                <a:solidFill>
                  <a:srgbClr val="92400E"/>
                </a:solidFill>
                <a:latin typeface="Arial" pitchFamily="34" charset="0"/>
                <a:ea typeface="Arial" pitchFamily="34" charset="-122"/>
                <a:cs typeface="Arial" pitchFamily="34" charset="-120"/>
              </a:rPr>
              <a:t>Note:</a:t>
            </a:r>
            <a:pPr algn="l" indent="0" marL="0">
              <a:lnSpc>
                <a:spcPts val="1155"/>
              </a:lnSpc>
              <a:buNone/>
            </a:pPr>
            <a:r>
              <a:rPr lang="en-US" sz="825" dirty="0">
                <a:solidFill>
                  <a:srgbClr val="92400E"/>
                </a:solidFill>
                <a:latin typeface="Arial" pitchFamily="34" charset="0"/>
                <a:ea typeface="Arial" pitchFamily="34" charset="-122"/>
                <a:cs typeface="Arial" pitchFamily="34" charset="-120"/>
              </a:rPr>
              <a:t> Requires GitHub Enterprise Cloud subscription</a:t>
            </a:r>
            <a:endParaRPr lang="en-US" sz="825"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038103" y="1041202"/>
            <a:ext cx="1067794" cy="186630"/>
          </a:xfrm>
          <a:prstGeom prst="rect">
            <a:avLst/>
          </a:prstGeom>
          <a:noFill/>
          <a:ln/>
        </p:spPr>
        <p:txBody>
          <a:bodyPr wrap="square" lIns="0" tIns="0" rIns="0" bIns="0" rtlCol="0" anchor="t"/>
          <a:lstStyle/>
          <a:p>
            <a:pPr algn="ctr" indent="0" marL="0">
              <a:lnSpc>
                <a:spcPts val="1470"/>
              </a:lnSpc>
              <a:spcAft>
                <a:spcPts val="1500"/>
              </a:spcAft>
              <a:buNone/>
            </a:pPr>
            <a:r>
              <a:rPr lang="en-US" sz="1050" dirty="0">
                <a:solidFill>
                  <a:srgbClr val="C9A227"/>
                </a:solidFill>
                <a:latin typeface="Arial" pitchFamily="34" charset="0"/>
                <a:ea typeface="Arial" pitchFamily="34" charset="-122"/>
                <a:cs typeface="Arial" pitchFamily="34" charset="-120"/>
              </a:rPr>
              <a:t>SECTION 7</a:t>
            </a:r>
            <a:endParaRPr lang="en-US" sz="1050" dirty="0"/>
          </a:p>
        </p:txBody>
      </p:sp>
      <p:sp>
        <p:nvSpPr>
          <p:cNvPr id="3" name="Text 1"/>
          <p:cNvSpPr/>
          <p:nvPr/>
        </p:nvSpPr>
        <p:spPr>
          <a:xfrm>
            <a:off x="2060847" y="1570732"/>
            <a:ext cx="5022306" cy="495300"/>
          </a:xfrm>
          <a:prstGeom prst="rect">
            <a:avLst/>
          </a:prstGeom>
          <a:noFill/>
          <a:ln/>
        </p:spPr>
        <p:txBody>
          <a:bodyPr wrap="square" lIns="0" tIns="0" rIns="0" bIns="0" rtlCol="0" anchor="t"/>
          <a:lstStyle/>
          <a:p>
            <a:pPr algn="ctr" indent="0" marL="0">
              <a:lnSpc>
                <a:spcPts val="3900"/>
              </a:lnSpc>
              <a:spcAft>
                <a:spcPts val="1500"/>
              </a:spcAft>
              <a:buNone/>
            </a:pPr>
            <a:r>
              <a:rPr lang="en-US" sz="3900" dirty="0">
                <a:solidFill>
                  <a:srgbClr val="FFFFFF"/>
                </a:solidFill>
                <a:latin typeface="Georgia" pitchFamily="34" charset="0"/>
                <a:ea typeface="Georgia" pitchFamily="34" charset="-122"/>
                <a:cs typeface="Georgia" pitchFamily="34" charset="-120"/>
              </a:rPr>
              <a:t>Putting It All Together</a:t>
            </a:r>
            <a:endParaRPr lang="en-US" sz="3900" dirty="0"/>
          </a:p>
        </p:txBody>
      </p:sp>
      <p:sp>
        <p:nvSpPr>
          <p:cNvPr id="4" name="Text 2"/>
          <p:cNvSpPr/>
          <p:nvPr/>
        </p:nvSpPr>
        <p:spPr>
          <a:xfrm>
            <a:off x="4191000" y="2408932"/>
            <a:ext cx="762000" cy="28575"/>
          </a:xfrm>
          <a:prstGeom prst="rect">
            <a:avLst/>
          </a:prstGeom>
          <a:solidFill>
            <a:srgbClr val="C9A227"/>
          </a:solidFill>
          <a:ln/>
        </p:spPr>
        <p:txBody>
          <a:bodyPr wrap="square" rtlCol="0" anchor="ctr"/>
          <a:lstStyle/>
          <a:p>
            <a:pPr indent="0" marL="0">
              <a:buNone/>
            </a:pPr>
            <a:endParaRPr lang="en-US" dirty="0"/>
          </a:p>
        </p:txBody>
      </p:sp>
      <p:sp>
        <p:nvSpPr>
          <p:cNvPr id="5" name="Text 3"/>
          <p:cNvSpPr/>
          <p:nvPr/>
        </p:nvSpPr>
        <p:spPr>
          <a:xfrm>
            <a:off x="3538362" y="2818507"/>
            <a:ext cx="2067276" cy="239911"/>
          </a:xfrm>
          <a:prstGeom prst="rect">
            <a:avLst/>
          </a:prstGeom>
          <a:noFill/>
          <a:ln/>
        </p:spPr>
        <p:txBody>
          <a:bodyPr wrap="square" lIns="0" tIns="0" rIns="0" bIns="0" rtlCol="0" anchor="t"/>
          <a:lstStyle/>
          <a:p>
            <a:pPr algn="ctr" indent="0" marL="0">
              <a:lnSpc>
                <a:spcPts val="1890"/>
              </a:lnSpc>
              <a:buNone/>
            </a:pPr>
            <a:r>
              <a:rPr lang="en-US" sz="1350" dirty="0">
                <a:solidFill>
                  <a:srgbClr val="FFFFFF">
                    <a:alpha val="70000"/>
                  </a:srgbClr>
                </a:solidFill>
                <a:latin typeface="Arial" pitchFamily="34" charset="0"/>
                <a:ea typeface="Arial" pitchFamily="34" charset="-122"/>
                <a:cs typeface="Arial" pitchFamily="34" charset="-120"/>
              </a:rPr>
              <a:t>Voice Workflow Integration</a:t>
            </a:r>
            <a:endParaRPr lang="en-US" sz="1350" dirty="0"/>
          </a:p>
        </p:txBody>
      </p:sp>
      <p:sp>
        <p:nvSpPr>
          <p:cNvPr id="6" name="Text 4"/>
          <p:cNvSpPr/>
          <p:nvPr/>
        </p:nvSpPr>
        <p:spPr>
          <a:xfrm>
            <a:off x="3968502" y="3591818"/>
            <a:ext cx="1206847" cy="510480"/>
          </a:xfrm>
          <a:prstGeom prst="rect">
            <a:avLst/>
          </a:prstGeom>
          <a:solidFill>
            <a:srgbClr val="C9A227">
              <a:alpha val="15000"/>
            </a:srgbClr>
          </a:solidFill>
          <a:ln w="9525">
            <a:solidFill>
              <a:srgbClr val="C9A227"/>
            </a:solidFill>
          </a:ln>
        </p:spPr>
        <p:txBody>
          <a:bodyPr wrap="square" rtlCol="0" anchor="ctr"/>
          <a:lstStyle/>
          <a:p>
            <a:pPr indent="0" marL="0">
              <a:buNone/>
            </a:pPr>
            <a:endParaRPr lang="en-US" dirty="0"/>
          </a:p>
        </p:txBody>
      </p:sp>
      <p:sp>
        <p:nvSpPr>
          <p:cNvPr id="7" name="Text 5"/>
          <p:cNvSpPr/>
          <p:nvPr/>
        </p:nvSpPr>
        <p:spPr>
          <a:xfrm>
            <a:off x="4277045" y="3753743"/>
            <a:ext cx="589761" cy="186630"/>
          </a:xfrm>
          <a:prstGeom prst="rect">
            <a:avLst/>
          </a:prstGeom>
          <a:noFill/>
          <a:ln/>
        </p:spPr>
        <p:txBody>
          <a:bodyPr wrap="square" lIns="0" tIns="0" rIns="0" bIns="0" rtlCol="0" anchor="t"/>
          <a:lstStyle/>
          <a:p>
            <a:pPr algn="ctr" indent="0" marL="0">
              <a:lnSpc>
                <a:spcPts val="1470"/>
              </a:lnSpc>
              <a:buNone/>
            </a:pPr>
            <a:r>
              <a:rPr lang="en-US" sz="1050" dirty="0">
                <a:solidFill>
                  <a:srgbClr val="C9A227"/>
                </a:solidFill>
                <a:latin typeface="Arial" pitchFamily="34" charset="0"/>
                <a:ea typeface="Arial" pitchFamily="34" charset="-122"/>
                <a:cs typeface="Arial" pitchFamily="34" charset="-120"/>
              </a:rPr>
              <a:t>5 minutes</a:t>
            </a:r>
            <a:endParaRPr lang="en-US" sz="10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457200" y="266700"/>
            <a:ext cx="8394192" cy="146596"/>
          </a:xfrm>
          <a:prstGeom prst="rect">
            <a:avLst/>
          </a:prstGeom>
          <a:noFill/>
          <a:ln/>
        </p:spPr>
        <p:txBody>
          <a:bodyPr wrap="square" lIns="0" tIns="0" rIns="0" bIns="0" rtlCol="0" anchor="t"/>
          <a:lstStyle/>
          <a:p>
            <a:pPr algn="l" indent="0" marL="0">
              <a:lnSpc>
                <a:spcPts val="1155"/>
              </a:lnSpc>
              <a:spcAft>
                <a:spcPts val="600"/>
              </a:spcAft>
              <a:buNone/>
            </a:pPr>
            <a:r>
              <a:rPr lang="en-US" sz="825" dirty="0">
                <a:solidFill>
                  <a:srgbClr val="C9A227"/>
                </a:solidFill>
                <a:latin typeface="Arial" pitchFamily="34" charset="0"/>
                <a:ea typeface="Arial" pitchFamily="34" charset="-122"/>
                <a:cs typeface="Arial" pitchFamily="34" charset="-120"/>
              </a:rPr>
              <a:t>WORKFLOW</a:t>
            </a:r>
            <a:endParaRPr lang="en-US" sz="825" dirty="0"/>
          </a:p>
        </p:txBody>
      </p:sp>
      <p:sp>
        <p:nvSpPr>
          <p:cNvPr id="3" name="Text 1"/>
          <p:cNvSpPr/>
          <p:nvPr/>
        </p:nvSpPr>
        <p:spPr>
          <a:xfrm>
            <a:off x="457200" y="489496"/>
            <a:ext cx="5129784" cy="304800"/>
          </a:xfrm>
          <a:prstGeom prst="rect">
            <a:avLst/>
          </a:prstGeom>
          <a:noFill/>
          <a:ln/>
        </p:spPr>
        <p:txBody>
          <a:bodyPr wrap="square" lIns="0" tIns="0" rIns="0" bIns="0" rtlCol="0" anchor="t"/>
          <a:lstStyle/>
          <a:p>
            <a:pPr algn="l" indent="0" marL="0">
              <a:lnSpc>
                <a:spcPts val="2400"/>
              </a:lnSpc>
              <a:buNone/>
            </a:pPr>
            <a:r>
              <a:rPr lang="en-US" sz="2400" dirty="0">
                <a:solidFill>
                  <a:srgbClr val="1A1F2E"/>
                </a:solidFill>
                <a:latin typeface="Georgia" pitchFamily="34" charset="0"/>
                <a:ea typeface="Georgia" pitchFamily="34" charset="-122"/>
                <a:cs typeface="Georgia" pitchFamily="34" charset="-120"/>
              </a:rPr>
              <a:t>End-to-End Voice Development Flow</a:t>
            </a:r>
            <a:endParaRPr lang="en-US" sz="2400" dirty="0"/>
          </a:p>
        </p:txBody>
      </p:sp>
      <p:sp>
        <p:nvSpPr>
          <p:cNvPr id="4" name="Text 2"/>
          <p:cNvSpPr/>
          <p:nvPr/>
        </p:nvSpPr>
        <p:spPr>
          <a:xfrm>
            <a:off x="700980" y="1165027"/>
            <a:ext cx="609600" cy="609600"/>
          </a:xfrm>
          <a:prstGeom prst="rect">
            <a:avLst/>
          </a:prstGeom>
          <a:solidFill>
            <a:srgbClr val="1A1F2E"/>
          </a:solidFill>
          <a:ln/>
        </p:spPr>
        <p:txBody>
          <a:bodyPr wrap="square" rtlCol="0" anchor="ctr"/>
          <a:lstStyle/>
          <a:p>
            <a:pPr indent="0" marL="0">
              <a:buNone/>
            </a:pPr>
            <a:endParaRPr lang="en-US" dirty="0"/>
          </a:p>
        </p:txBody>
      </p:sp>
      <p:sp>
        <p:nvSpPr>
          <p:cNvPr id="5" name="Text 3"/>
          <p:cNvSpPr/>
          <p:nvPr/>
        </p:nvSpPr>
        <p:spPr>
          <a:xfrm>
            <a:off x="955685" y="1309836"/>
            <a:ext cx="100191" cy="319980"/>
          </a:xfrm>
          <a:prstGeom prst="rect">
            <a:avLst/>
          </a:prstGeom>
          <a:noFill/>
          <a:ln/>
        </p:spPr>
        <p:txBody>
          <a:bodyPr wrap="square" lIns="0" tIns="0" rIns="0" bIns="0" rtlCol="0" anchor="t"/>
          <a:lstStyle/>
          <a:p>
            <a:pPr algn="ctr" indent="0" marL="0">
              <a:lnSpc>
                <a:spcPts val="2520"/>
              </a:lnSpc>
              <a:buNone/>
            </a:pPr>
            <a:r>
              <a:rPr lang="en-US" sz="1800" dirty="0">
                <a:solidFill>
                  <a:srgbClr val="C9A227"/>
                </a:solidFill>
                <a:latin typeface="Georgia" pitchFamily="34" charset="0"/>
                <a:ea typeface="Georgia" pitchFamily="34" charset="-122"/>
                <a:cs typeface="Georgia" pitchFamily="34" charset="-120"/>
              </a:rPr>
              <a:t>1</a:t>
            </a:r>
            <a:endParaRPr lang="en-US" sz="1800" dirty="0"/>
          </a:p>
        </p:txBody>
      </p:sp>
      <p:sp>
        <p:nvSpPr>
          <p:cNvPr id="6" name="Text 4"/>
          <p:cNvSpPr/>
          <p:nvPr/>
        </p:nvSpPr>
        <p:spPr>
          <a:xfrm>
            <a:off x="834088" y="2022277"/>
            <a:ext cx="343534" cy="159990"/>
          </a:xfrm>
          <a:prstGeom prst="rect">
            <a:avLst/>
          </a:prstGeom>
          <a:noFill/>
          <a:ln/>
        </p:spPr>
        <p:txBody>
          <a:bodyPr wrap="square" lIns="0" tIns="0" rIns="0" bIns="0" rtlCol="0" anchor="t"/>
          <a:lstStyle/>
          <a:p>
            <a:pPr algn="ctr" indent="0" marL="0">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Speak</a:t>
            </a:r>
            <a:endParaRPr lang="en-US" sz="900" dirty="0"/>
          </a:p>
        </p:txBody>
      </p:sp>
      <p:sp>
        <p:nvSpPr>
          <p:cNvPr id="7" name="Text 5"/>
          <p:cNvSpPr/>
          <p:nvPr/>
        </p:nvSpPr>
        <p:spPr>
          <a:xfrm>
            <a:off x="660121" y="2372767"/>
            <a:ext cx="691319" cy="133350"/>
          </a:xfrm>
          <a:prstGeom prst="rect">
            <a:avLst/>
          </a:prstGeom>
          <a:noFill/>
          <a:ln/>
        </p:spPr>
        <p:txBody>
          <a:bodyPr wrap="square" lIns="0" tIns="0" rIns="0" bIns="0" rtlCol="0" anchor="t"/>
          <a:lstStyle/>
          <a:p>
            <a:pPr algn="ctr" indent="0" marL="0">
              <a:lnSpc>
                <a:spcPts val="1050"/>
              </a:lnSpc>
              <a:buNone/>
            </a:pPr>
            <a:r>
              <a:rPr lang="en-US" sz="750" dirty="0">
                <a:solidFill>
                  <a:srgbClr val="6B7280"/>
                </a:solidFill>
                <a:latin typeface="Arial" pitchFamily="34" charset="0"/>
                <a:ea typeface="Arial" pitchFamily="34" charset="-122"/>
                <a:cs typeface="Arial" pitchFamily="34" charset="-120"/>
              </a:rPr>
              <a:t>Voice command</a:t>
            </a:r>
            <a:endParaRPr lang="en-US" sz="750" dirty="0"/>
          </a:p>
        </p:txBody>
      </p:sp>
      <p:sp>
        <p:nvSpPr>
          <p:cNvPr id="8" name="Text 6"/>
          <p:cNvSpPr/>
          <p:nvPr/>
        </p:nvSpPr>
        <p:spPr>
          <a:xfrm>
            <a:off x="1706910" y="1825972"/>
            <a:ext cx="381000" cy="19050"/>
          </a:xfrm>
          <a:prstGeom prst="rect">
            <a:avLst/>
          </a:prstGeom>
          <a:solidFill>
            <a:srgbClr val="C9A227"/>
          </a:solidFill>
          <a:ln/>
        </p:spPr>
        <p:txBody>
          <a:bodyPr wrap="square" rtlCol="0" anchor="ctr"/>
          <a:lstStyle/>
          <a:p>
            <a:pPr indent="0" marL="0">
              <a:buNone/>
            </a:pPr>
            <a:endParaRPr lang="en-US" dirty="0"/>
          </a:p>
        </p:txBody>
      </p:sp>
      <p:sp>
        <p:nvSpPr>
          <p:cNvPr id="9" name="Text 7"/>
          <p:cNvSpPr/>
          <p:nvPr/>
        </p:nvSpPr>
        <p:spPr>
          <a:xfrm>
            <a:off x="2484090" y="1165027"/>
            <a:ext cx="609600" cy="609600"/>
          </a:xfrm>
          <a:prstGeom prst="rect">
            <a:avLst/>
          </a:prstGeom>
          <a:solidFill>
            <a:srgbClr val="1A1F2E"/>
          </a:solidFill>
          <a:ln/>
        </p:spPr>
        <p:txBody>
          <a:bodyPr wrap="square" rtlCol="0" anchor="ctr"/>
          <a:lstStyle/>
          <a:p>
            <a:pPr indent="0" marL="0">
              <a:buNone/>
            </a:pPr>
            <a:endParaRPr lang="en-US" dirty="0"/>
          </a:p>
        </p:txBody>
      </p:sp>
      <p:sp>
        <p:nvSpPr>
          <p:cNvPr id="10" name="Text 8"/>
          <p:cNvSpPr/>
          <p:nvPr/>
        </p:nvSpPr>
        <p:spPr>
          <a:xfrm>
            <a:off x="2723766" y="1309836"/>
            <a:ext cx="130248" cy="319980"/>
          </a:xfrm>
          <a:prstGeom prst="rect">
            <a:avLst/>
          </a:prstGeom>
          <a:noFill/>
          <a:ln/>
        </p:spPr>
        <p:txBody>
          <a:bodyPr wrap="square" lIns="0" tIns="0" rIns="0" bIns="0" rtlCol="0" anchor="t"/>
          <a:lstStyle/>
          <a:p>
            <a:pPr algn="ctr" indent="0" marL="0">
              <a:lnSpc>
                <a:spcPts val="2520"/>
              </a:lnSpc>
              <a:buNone/>
            </a:pPr>
            <a:r>
              <a:rPr lang="en-US" sz="1800" dirty="0">
                <a:solidFill>
                  <a:srgbClr val="C9A227"/>
                </a:solidFill>
                <a:latin typeface="Georgia" pitchFamily="34" charset="0"/>
                <a:ea typeface="Georgia" pitchFamily="34" charset="-122"/>
                <a:cs typeface="Georgia" pitchFamily="34" charset="-120"/>
              </a:rPr>
              <a:t>2</a:t>
            </a:r>
            <a:endParaRPr lang="en-US" sz="1800" dirty="0"/>
          </a:p>
        </p:txBody>
      </p:sp>
      <p:sp>
        <p:nvSpPr>
          <p:cNvPr id="11" name="Text 9"/>
          <p:cNvSpPr/>
          <p:nvPr/>
        </p:nvSpPr>
        <p:spPr>
          <a:xfrm>
            <a:off x="2494084" y="2022277"/>
            <a:ext cx="589761" cy="159990"/>
          </a:xfrm>
          <a:prstGeom prst="rect">
            <a:avLst/>
          </a:prstGeom>
          <a:noFill/>
          <a:ln/>
        </p:spPr>
        <p:txBody>
          <a:bodyPr wrap="square" lIns="0" tIns="0" rIns="0" bIns="0" rtlCol="0" anchor="t"/>
          <a:lstStyle/>
          <a:p>
            <a:pPr algn="ctr" indent="0" marL="0">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Transcribe</a:t>
            </a:r>
            <a:endParaRPr lang="en-US" sz="900" dirty="0"/>
          </a:p>
        </p:txBody>
      </p:sp>
      <p:sp>
        <p:nvSpPr>
          <p:cNvPr id="12" name="Text 10"/>
          <p:cNvSpPr/>
          <p:nvPr/>
        </p:nvSpPr>
        <p:spPr>
          <a:xfrm>
            <a:off x="2481181" y="2372767"/>
            <a:ext cx="615568" cy="133350"/>
          </a:xfrm>
          <a:prstGeom prst="rect">
            <a:avLst/>
          </a:prstGeom>
          <a:noFill/>
          <a:ln/>
        </p:spPr>
        <p:txBody>
          <a:bodyPr wrap="square" lIns="0" tIns="0" rIns="0" bIns="0" rtlCol="0" anchor="t"/>
          <a:lstStyle/>
          <a:p>
            <a:pPr algn="ctr" indent="0" marL="0">
              <a:lnSpc>
                <a:spcPts val="1050"/>
              </a:lnSpc>
              <a:buNone/>
            </a:pPr>
            <a:r>
              <a:rPr lang="en-US" sz="750" dirty="0">
                <a:solidFill>
                  <a:srgbClr val="6B7280"/>
                </a:solidFill>
                <a:latin typeface="Arial" pitchFamily="34" charset="0"/>
                <a:ea typeface="Arial" pitchFamily="34" charset="-122"/>
                <a:cs typeface="Arial" pitchFamily="34" charset="-120"/>
              </a:rPr>
              <a:t>Local Whisper</a:t>
            </a:r>
            <a:endParaRPr lang="en-US" sz="750" dirty="0"/>
          </a:p>
        </p:txBody>
      </p:sp>
      <p:sp>
        <p:nvSpPr>
          <p:cNvPr id="13" name="Text 11"/>
          <p:cNvSpPr/>
          <p:nvPr/>
        </p:nvSpPr>
        <p:spPr>
          <a:xfrm>
            <a:off x="3490020" y="1825972"/>
            <a:ext cx="381000" cy="19050"/>
          </a:xfrm>
          <a:prstGeom prst="rect">
            <a:avLst/>
          </a:prstGeom>
          <a:solidFill>
            <a:srgbClr val="C9A227"/>
          </a:solidFill>
          <a:ln/>
        </p:spPr>
        <p:txBody>
          <a:bodyPr wrap="square" rtlCol="0" anchor="ctr"/>
          <a:lstStyle/>
          <a:p>
            <a:pPr indent="0" marL="0">
              <a:buNone/>
            </a:pPr>
            <a:endParaRPr lang="en-US" dirty="0"/>
          </a:p>
        </p:txBody>
      </p:sp>
      <p:sp>
        <p:nvSpPr>
          <p:cNvPr id="14" name="Text 12"/>
          <p:cNvSpPr/>
          <p:nvPr/>
        </p:nvSpPr>
        <p:spPr>
          <a:xfrm>
            <a:off x="4267200" y="1165027"/>
            <a:ext cx="609600" cy="609600"/>
          </a:xfrm>
          <a:prstGeom prst="rect">
            <a:avLst/>
          </a:prstGeom>
          <a:solidFill>
            <a:srgbClr val="1A1F2E"/>
          </a:solidFill>
          <a:ln/>
        </p:spPr>
        <p:txBody>
          <a:bodyPr wrap="square" rtlCol="0" anchor="ctr"/>
          <a:lstStyle/>
          <a:p>
            <a:pPr indent="0" marL="0">
              <a:buNone/>
            </a:pPr>
            <a:endParaRPr lang="en-US" dirty="0"/>
          </a:p>
        </p:txBody>
      </p:sp>
      <p:sp>
        <p:nvSpPr>
          <p:cNvPr id="15" name="Text 13"/>
          <p:cNvSpPr/>
          <p:nvPr/>
        </p:nvSpPr>
        <p:spPr>
          <a:xfrm>
            <a:off x="4507635" y="1309836"/>
            <a:ext cx="128730" cy="319980"/>
          </a:xfrm>
          <a:prstGeom prst="rect">
            <a:avLst/>
          </a:prstGeom>
          <a:noFill/>
          <a:ln/>
        </p:spPr>
        <p:txBody>
          <a:bodyPr wrap="square" lIns="0" tIns="0" rIns="0" bIns="0" rtlCol="0" anchor="t"/>
          <a:lstStyle/>
          <a:p>
            <a:pPr algn="ctr" indent="0" marL="0">
              <a:lnSpc>
                <a:spcPts val="2520"/>
              </a:lnSpc>
              <a:buNone/>
            </a:pPr>
            <a:r>
              <a:rPr lang="en-US" sz="1800" dirty="0">
                <a:solidFill>
                  <a:srgbClr val="C9A227"/>
                </a:solidFill>
                <a:latin typeface="Georgia" pitchFamily="34" charset="0"/>
                <a:ea typeface="Georgia" pitchFamily="34" charset="-122"/>
                <a:cs typeface="Georgia" pitchFamily="34" charset="-120"/>
              </a:rPr>
              <a:t>3</a:t>
            </a:r>
            <a:endParaRPr lang="en-US" sz="1800" dirty="0"/>
          </a:p>
        </p:txBody>
      </p:sp>
      <p:sp>
        <p:nvSpPr>
          <p:cNvPr id="16" name="Text 14"/>
          <p:cNvSpPr/>
          <p:nvPr/>
        </p:nvSpPr>
        <p:spPr>
          <a:xfrm>
            <a:off x="4416400" y="2022277"/>
            <a:ext cx="311200" cy="159990"/>
          </a:xfrm>
          <a:prstGeom prst="rect">
            <a:avLst/>
          </a:prstGeom>
          <a:noFill/>
          <a:ln/>
        </p:spPr>
        <p:txBody>
          <a:bodyPr wrap="square" lIns="0" tIns="0" rIns="0" bIns="0" rtlCol="0" anchor="t"/>
          <a:lstStyle/>
          <a:p>
            <a:pPr algn="ctr" indent="0" marL="0">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Paste</a:t>
            </a:r>
            <a:endParaRPr lang="en-US" sz="900" dirty="0"/>
          </a:p>
        </p:txBody>
      </p:sp>
      <p:sp>
        <p:nvSpPr>
          <p:cNvPr id="17" name="Text 15"/>
          <p:cNvSpPr/>
          <p:nvPr/>
        </p:nvSpPr>
        <p:spPr>
          <a:xfrm>
            <a:off x="4261558" y="2372767"/>
            <a:ext cx="621033" cy="133350"/>
          </a:xfrm>
          <a:prstGeom prst="rect">
            <a:avLst/>
          </a:prstGeom>
          <a:noFill/>
          <a:ln/>
        </p:spPr>
        <p:txBody>
          <a:bodyPr wrap="square" lIns="0" tIns="0" rIns="0" bIns="0" rtlCol="0" anchor="t"/>
          <a:lstStyle/>
          <a:p>
            <a:pPr algn="ctr" indent="0" marL="0">
              <a:lnSpc>
                <a:spcPts val="1050"/>
              </a:lnSpc>
              <a:buNone/>
            </a:pPr>
            <a:r>
              <a:rPr lang="en-US" sz="750" dirty="0">
                <a:solidFill>
                  <a:srgbClr val="6B7280"/>
                </a:solidFill>
                <a:latin typeface="Arial" pitchFamily="34" charset="0"/>
                <a:ea typeface="Arial" pitchFamily="34" charset="-122"/>
                <a:cs typeface="Arial" pitchFamily="34" charset="-120"/>
              </a:rPr>
              <a:t>Into CLI/Editor</a:t>
            </a:r>
            <a:endParaRPr lang="en-US" sz="750" dirty="0"/>
          </a:p>
        </p:txBody>
      </p:sp>
      <p:sp>
        <p:nvSpPr>
          <p:cNvPr id="18" name="Text 16"/>
          <p:cNvSpPr/>
          <p:nvPr/>
        </p:nvSpPr>
        <p:spPr>
          <a:xfrm>
            <a:off x="5273129" y="1825972"/>
            <a:ext cx="381000" cy="19050"/>
          </a:xfrm>
          <a:prstGeom prst="rect">
            <a:avLst/>
          </a:prstGeom>
          <a:solidFill>
            <a:srgbClr val="C9A227"/>
          </a:solidFill>
          <a:ln/>
        </p:spPr>
        <p:txBody>
          <a:bodyPr wrap="square" rtlCol="0" anchor="ctr"/>
          <a:lstStyle/>
          <a:p>
            <a:pPr indent="0" marL="0">
              <a:buNone/>
            </a:pPr>
            <a:endParaRPr lang="en-US" dirty="0"/>
          </a:p>
        </p:txBody>
      </p:sp>
      <p:sp>
        <p:nvSpPr>
          <p:cNvPr id="19" name="Text 17"/>
          <p:cNvSpPr/>
          <p:nvPr/>
        </p:nvSpPr>
        <p:spPr>
          <a:xfrm>
            <a:off x="6050310" y="1165027"/>
            <a:ext cx="609600" cy="609600"/>
          </a:xfrm>
          <a:prstGeom prst="rect">
            <a:avLst/>
          </a:prstGeom>
          <a:solidFill>
            <a:srgbClr val="1A1F2E"/>
          </a:solidFill>
          <a:ln/>
        </p:spPr>
        <p:txBody>
          <a:bodyPr wrap="square" rtlCol="0" anchor="ctr"/>
          <a:lstStyle/>
          <a:p>
            <a:pPr indent="0" marL="0">
              <a:buNone/>
            </a:pPr>
            <a:endParaRPr lang="en-US" dirty="0"/>
          </a:p>
        </p:txBody>
      </p:sp>
      <p:sp>
        <p:nvSpPr>
          <p:cNvPr id="20" name="Text 18"/>
          <p:cNvSpPr/>
          <p:nvPr/>
        </p:nvSpPr>
        <p:spPr>
          <a:xfrm>
            <a:off x="6289227" y="1309836"/>
            <a:ext cx="131766" cy="319980"/>
          </a:xfrm>
          <a:prstGeom prst="rect">
            <a:avLst/>
          </a:prstGeom>
          <a:noFill/>
          <a:ln/>
        </p:spPr>
        <p:txBody>
          <a:bodyPr wrap="square" lIns="0" tIns="0" rIns="0" bIns="0" rtlCol="0" anchor="t"/>
          <a:lstStyle/>
          <a:p>
            <a:pPr algn="ctr" indent="0" marL="0">
              <a:lnSpc>
                <a:spcPts val="2520"/>
              </a:lnSpc>
              <a:buNone/>
            </a:pPr>
            <a:r>
              <a:rPr lang="en-US" sz="1800" dirty="0">
                <a:solidFill>
                  <a:srgbClr val="C9A227"/>
                </a:solidFill>
                <a:latin typeface="Georgia" pitchFamily="34" charset="0"/>
                <a:ea typeface="Georgia" pitchFamily="34" charset="-122"/>
                <a:cs typeface="Georgia" pitchFamily="34" charset="-120"/>
              </a:rPr>
              <a:t>4</a:t>
            </a:r>
            <a:endParaRPr lang="en-US" sz="1800" dirty="0"/>
          </a:p>
        </p:txBody>
      </p:sp>
      <p:sp>
        <p:nvSpPr>
          <p:cNvPr id="21" name="Text 19"/>
          <p:cNvSpPr/>
          <p:nvPr/>
        </p:nvSpPr>
        <p:spPr>
          <a:xfrm>
            <a:off x="6128312" y="2022277"/>
            <a:ext cx="453744" cy="159990"/>
          </a:xfrm>
          <a:prstGeom prst="rect">
            <a:avLst/>
          </a:prstGeom>
          <a:noFill/>
          <a:ln/>
        </p:spPr>
        <p:txBody>
          <a:bodyPr wrap="square" lIns="0" tIns="0" rIns="0" bIns="0" rtlCol="0" anchor="t"/>
          <a:lstStyle/>
          <a:p>
            <a:pPr algn="ctr" indent="0" marL="0">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Process</a:t>
            </a:r>
            <a:endParaRPr lang="en-US" sz="900" dirty="0"/>
          </a:p>
        </p:txBody>
      </p:sp>
      <p:sp>
        <p:nvSpPr>
          <p:cNvPr id="22" name="Text 20"/>
          <p:cNvSpPr/>
          <p:nvPr/>
        </p:nvSpPr>
        <p:spPr>
          <a:xfrm>
            <a:off x="6082317" y="2372767"/>
            <a:ext cx="545586" cy="133350"/>
          </a:xfrm>
          <a:prstGeom prst="rect">
            <a:avLst/>
          </a:prstGeom>
          <a:noFill/>
          <a:ln/>
        </p:spPr>
        <p:txBody>
          <a:bodyPr wrap="square" lIns="0" tIns="0" rIns="0" bIns="0" rtlCol="0" anchor="t"/>
          <a:lstStyle/>
          <a:p>
            <a:pPr algn="ctr" indent="0" marL="0">
              <a:lnSpc>
                <a:spcPts val="1050"/>
              </a:lnSpc>
              <a:buNone/>
            </a:pPr>
            <a:r>
              <a:rPr lang="en-US" sz="750" dirty="0">
                <a:solidFill>
                  <a:srgbClr val="6B7280"/>
                </a:solidFill>
                <a:latin typeface="Arial" pitchFamily="34" charset="0"/>
                <a:ea typeface="Arial" pitchFamily="34" charset="-122"/>
                <a:cs typeface="Arial" pitchFamily="34" charset="-120"/>
              </a:rPr>
              <a:t>AI reasoning</a:t>
            </a:r>
            <a:endParaRPr lang="en-US" sz="750" dirty="0"/>
          </a:p>
        </p:txBody>
      </p:sp>
      <p:sp>
        <p:nvSpPr>
          <p:cNvPr id="23" name="Text 21"/>
          <p:cNvSpPr/>
          <p:nvPr/>
        </p:nvSpPr>
        <p:spPr>
          <a:xfrm>
            <a:off x="7056239" y="1825972"/>
            <a:ext cx="381000" cy="19050"/>
          </a:xfrm>
          <a:prstGeom prst="rect">
            <a:avLst/>
          </a:prstGeom>
          <a:solidFill>
            <a:srgbClr val="C9A227"/>
          </a:solidFill>
          <a:ln/>
        </p:spPr>
        <p:txBody>
          <a:bodyPr wrap="square" rtlCol="0" anchor="ctr"/>
          <a:lstStyle/>
          <a:p>
            <a:pPr indent="0" marL="0">
              <a:buNone/>
            </a:pPr>
            <a:endParaRPr lang="en-US" dirty="0"/>
          </a:p>
        </p:txBody>
      </p:sp>
      <p:sp>
        <p:nvSpPr>
          <p:cNvPr id="24" name="Text 22"/>
          <p:cNvSpPr/>
          <p:nvPr/>
        </p:nvSpPr>
        <p:spPr>
          <a:xfrm>
            <a:off x="7833420" y="1165027"/>
            <a:ext cx="609600" cy="609600"/>
          </a:xfrm>
          <a:prstGeom prst="rect">
            <a:avLst/>
          </a:prstGeom>
          <a:solidFill>
            <a:srgbClr val="C9A227"/>
          </a:solidFill>
          <a:ln/>
        </p:spPr>
        <p:txBody>
          <a:bodyPr wrap="square" rtlCol="0" anchor="ctr"/>
          <a:lstStyle/>
          <a:p>
            <a:pPr indent="0" marL="0">
              <a:buNone/>
            </a:pPr>
            <a:endParaRPr lang="en-US" dirty="0"/>
          </a:p>
        </p:txBody>
      </p:sp>
      <p:sp>
        <p:nvSpPr>
          <p:cNvPr id="25" name="Text 23"/>
          <p:cNvSpPr/>
          <p:nvPr/>
        </p:nvSpPr>
        <p:spPr>
          <a:xfrm>
            <a:off x="8076587" y="1309836"/>
            <a:ext cx="123265" cy="319980"/>
          </a:xfrm>
          <a:prstGeom prst="rect">
            <a:avLst/>
          </a:prstGeom>
          <a:noFill/>
          <a:ln/>
        </p:spPr>
        <p:txBody>
          <a:bodyPr wrap="square" lIns="0" tIns="0" rIns="0" bIns="0" rtlCol="0" anchor="t"/>
          <a:lstStyle/>
          <a:p>
            <a:pPr algn="ctr" indent="0" marL="0">
              <a:lnSpc>
                <a:spcPts val="2520"/>
              </a:lnSpc>
              <a:buNone/>
            </a:pPr>
            <a:r>
              <a:rPr lang="en-US" sz="1800" dirty="0">
                <a:solidFill>
                  <a:srgbClr val="1A1F2E"/>
                </a:solidFill>
                <a:latin typeface="Georgia" pitchFamily="34" charset="0"/>
                <a:ea typeface="Georgia" pitchFamily="34" charset="-122"/>
                <a:cs typeface="Georgia" pitchFamily="34" charset="-120"/>
              </a:rPr>
              <a:t>5</a:t>
            </a:r>
            <a:endParaRPr lang="en-US" sz="1800" dirty="0"/>
          </a:p>
        </p:txBody>
      </p:sp>
      <p:sp>
        <p:nvSpPr>
          <p:cNvPr id="26" name="Text 24"/>
          <p:cNvSpPr/>
          <p:nvPr/>
        </p:nvSpPr>
        <p:spPr>
          <a:xfrm>
            <a:off x="7914611" y="2022277"/>
            <a:ext cx="447217" cy="159990"/>
          </a:xfrm>
          <a:prstGeom prst="rect">
            <a:avLst/>
          </a:prstGeom>
          <a:noFill/>
          <a:ln/>
        </p:spPr>
        <p:txBody>
          <a:bodyPr wrap="square" lIns="0" tIns="0" rIns="0" bIns="0" rtlCol="0" anchor="t"/>
          <a:lstStyle/>
          <a:p>
            <a:pPr algn="ctr" indent="0" marL="0">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Execute</a:t>
            </a:r>
            <a:endParaRPr lang="en-US" sz="900" dirty="0"/>
          </a:p>
        </p:txBody>
      </p:sp>
      <p:sp>
        <p:nvSpPr>
          <p:cNvPr id="27" name="Text 25"/>
          <p:cNvSpPr/>
          <p:nvPr/>
        </p:nvSpPr>
        <p:spPr>
          <a:xfrm>
            <a:off x="7824895" y="2372767"/>
            <a:ext cx="626650" cy="133350"/>
          </a:xfrm>
          <a:prstGeom prst="rect">
            <a:avLst/>
          </a:prstGeom>
          <a:noFill/>
          <a:ln/>
        </p:spPr>
        <p:txBody>
          <a:bodyPr wrap="square" lIns="0" tIns="0" rIns="0" bIns="0" rtlCol="0" anchor="t"/>
          <a:lstStyle/>
          <a:p>
            <a:pPr algn="ctr" indent="0" marL="0">
              <a:lnSpc>
                <a:spcPts val="1050"/>
              </a:lnSpc>
              <a:buNone/>
            </a:pPr>
            <a:r>
              <a:rPr lang="en-US" sz="750" dirty="0">
                <a:solidFill>
                  <a:srgbClr val="6B7280"/>
                </a:solidFill>
                <a:latin typeface="Arial" pitchFamily="34" charset="0"/>
                <a:ea typeface="Arial" pitchFamily="34" charset="-122"/>
                <a:cs typeface="Arial" pitchFamily="34" charset="-120"/>
              </a:rPr>
              <a:t>Code changes</a:t>
            </a:r>
            <a:endParaRPr lang="en-US" sz="750" dirty="0"/>
          </a:p>
        </p:txBody>
      </p:sp>
      <p:sp>
        <p:nvSpPr>
          <p:cNvPr id="28" name="Text 26"/>
          <p:cNvSpPr/>
          <p:nvPr/>
        </p:nvSpPr>
        <p:spPr>
          <a:xfrm>
            <a:off x="457200" y="2887117"/>
            <a:ext cx="8229600" cy="1179016"/>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29" name="Text 27"/>
          <p:cNvSpPr/>
          <p:nvPr/>
        </p:nvSpPr>
        <p:spPr>
          <a:xfrm>
            <a:off x="657225" y="3087142"/>
            <a:ext cx="7986141" cy="146596"/>
          </a:xfrm>
          <a:prstGeom prst="rect">
            <a:avLst/>
          </a:prstGeom>
          <a:noFill/>
          <a:ln/>
        </p:spPr>
        <p:txBody>
          <a:bodyPr wrap="square" lIns="0" tIns="0" rIns="0" bIns="0" rtlCol="0" anchor="t"/>
          <a:lstStyle/>
          <a:p>
            <a:pPr algn="l" indent="0" marL="0">
              <a:lnSpc>
                <a:spcPts val="1155"/>
              </a:lnSpc>
              <a:spcAft>
                <a:spcPts val="900"/>
              </a:spcAft>
              <a:buNone/>
            </a:pPr>
            <a:r>
              <a:rPr lang="en-US" sz="825" b="1" dirty="0">
                <a:solidFill>
                  <a:srgbClr val="C9A227"/>
                </a:solidFill>
                <a:latin typeface="Arial" pitchFamily="34" charset="0"/>
                <a:ea typeface="Arial" pitchFamily="34" charset="-122"/>
                <a:cs typeface="Arial" pitchFamily="34" charset="-120"/>
              </a:rPr>
              <a:t>EXAMPLE WORKFLOW</a:t>
            </a:r>
            <a:endParaRPr lang="en-US" sz="825" dirty="0"/>
          </a:p>
        </p:txBody>
      </p:sp>
      <p:sp>
        <p:nvSpPr>
          <p:cNvPr id="30" name="Text 28"/>
          <p:cNvSpPr/>
          <p:nvPr/>
        </p:nvSpPr>
        <p:spPr>
          <a:xfrm>
            <a:off x="657225" y="3348038"/>
            <a:ext cx="3895916" cy="159990"/>
          </a:xfrm>
          <a:prstGeom prst="rect">
            <a:avLst/>
          </a:prstGeom>
          <a:noFill/>
          <a:ln/>
        </p:spPr>
        <p:txBody>
          <a:bodyPr wrap="square" lIns="0" tIns="0" rIns="0" bIns="0" rtlCol="0" anchor="t"/>
          <a:lstStyle/>
          <a:p>
            <a:pPr algn="l" indent="0" marL="0">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You say:</a:t>
            </a:r>
            <a:endParaRPr lang="en-US" sz="900" dirty="0"/>
          </a:p>
        </p:txBody>
      </p:sp>
      <p:sp>
        <p:nvSpPr>
          <p:cNvPr id="31" name="Text 29"/>
          <p:cNvSpPr/>
          <p:nvPr/>
        </p:nvSpPr>
        <p:spPr>
          <a:xfrm>
            <a:off x="657225" y="3546128"/>
            <a:ext cx="3895916" cy="319980"/>
          </a:xfrm>
          <a:prstGeom prst="rect">
            <a:avLst/>
          </a:prstGeom>
          <a:noFill/>
          <a:ln/>
        </p:spPr>
        <p:txBody>
          <a:bodyPr wrap="square" lIns="0" tIns="0" rIns="0" bIns="0" rtlCol="0" anchor="t"/>
          <a:lstStyle/>
          <a:p>
            <a:pPr algn="l" indent="0" marL="0">
              <a:lnSpc>
                <a:spcPts val="1260"/>
              </a:lnSpc>
              <a:buNone/>
            </a:pPr>
            <a:r>
              <a:rPr lang="en-US" sz="900" i="1" dirty="0">
                <a:solidFill>
                  <a:srgbClr val="6B7280"/>
                </a:solidFill>
                <a:latin typeface="Arial" pitchFamily="34" charset="0"/>
                <a:ea typeface="Arial" pitchFamily="34" charset="-122"/>
                <a:cs typeface="Arial" pitchFamily="34" charset="-120"/>
              </a:rPr>
              <a:t>"Add input validation to the user registration form and show helpful error messages"</a:t>
            </a:r>
            <a:endParaRPr lang="en-US" sz="900" dirty="0"/>
          </a:p>
        </p:txBody>
      </p:sp>
      <p:sp>
        <p:nvSpPr>
          <p:cNvPr id="32" name="Text 30"/>
          <p:cNvSpPr/>
          <p:nvPr/>
        </p:nvSpPr>
        <p:spPr>
          <a:xfrm>
            <a:off x="4667250" y="3348038"/>
            <a:ext cx="3895916" cy="159990"/>
          </a:xfrm>
          <a:prstGeom prst="rect">
            <a:avLst/>
          </a:prstGeom>
          <a:noFill/>
          <a:ln/>
        </p:spPr>
        <p:txBody>
          <a:bodyPr wrap="square" lIns="0" tIns="0" rIns="0" bIns="0" rtlCol="0" anchor="t"/>
          <a:lstStyle/>
          <a:p>
            <a:pPr algn="l" indent="0" marL="0">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Claude does:</a:t>
            </a:r>
            <a:endParaRPr lang="en-US" sz="900" dirty="0"/>
          </a:p>
        </p:txBody>
      </p:sp>
      <p:sp>
        <p:nvSpPr>
          <p:cNvPr id="33" name="Text 31"/>
          <p:cNvSpPr/>
          <p:nvPr/>
        </p:nvSpPr>
        <p:spPr>
          <a:xfrm>
            <a:off x="4667250" y="3546128"/>
            <a:ext cx="3895916" cy="319980"/>
          </a:xfrm>
          <a:prstGeom prst="rect">
            <a:avLst/>
          </a:prstGeom>
          <a:noFill/>
          <a:ln/>
        </p:spPr>
        <p:txBody>
          <a:bodyPr wrap="square" lIns="0" tIns="0" rIns="0" bIns="0" rtlCol="0" anchor="t"/>
          <a:lstStyle/>
          <a:p>
            <a:pPr algn="l" indent="0" marL="0">
              <a:lnSpc>
                <a:spcPts val="1260"/>
              </a:lnSpc>
              <a:buNone/>
            </a:pPr>
            <a:r>
              <a:rPr lang="en-US" sz="900" dirty="0">
                <a:solidFill>
                  <a:srgbClr val="6B7280"/>
                </a:solidFill>
                <a:latin typeface="Arial" pitchFamily="34" charset="0"/>
                <a:ea typeface="Arial" pitchFamily="34" charset="-122"/>
                <a:cs typeface="Arial" pitchFamily="34" charset="-120"/>
              </a:rPr>
              <a:t>Finds form, adds validation rules, creates error messages, updates UI, runs tests</a:t>
            </a:r>
            <a:endParaRPr lang="en-US" sz="900" dirty="0"/>
          </a:p>
        </p:txBody>
      </p:sp>
      <p:sp>
        <p:nvSpPr>
          <p:cNvPr id="34" name="Text 32"/>
          <p:cNvSpPr/>
          <p:nvPr/>
        </p:nvSpPr>
        <p:spPr>
          <a:xfrm>
            <a:off x="457200" y="4370933"/>
            <a:ext cx="8229600" cy="478036"/>
          </a:xfrm>
          <a:prstGeom prst="rect">
            <a:avLst/>
          </a:prstGeom>
          <a:solidFill>
            <a:srgbClr val="1A1F2E"/>
          </a:solidFill>
          <a:ln/>
        </p:spPr>
        <p:txBody>
          <a:bodyPr wrap="square" rtlCol="0" anchor="ctr"/>
          <a:lstStyle/>
          <a:p>
            <a:pPr indent="0" marL="0">
              <a:buNone/>
            </a:pPr>
            <a:endParaRPr lang="en-US" dirty="0"/>
          </a:p>
        </p:txBody>
      </p:sp>
      <p:sp>
        <p:nvSpPr>
          <p:cNvPr id="35" name="Text 33"/>
          <p:cNvSpPr/>
          <p:nvPr/>
        </p:nvSpPr>
        <p:spPr>
          <a:xfrm>
            <a:off x="530352" y="4523333"/>
            <a:ext cx="8083296" cy="173236"/>
          </a:xfrm>
          <a:prstGeom prst="rect">
            <a:avLst/>
          </a:prstGeom>
          <a:noFill/>
          <a:ln/>
        </p:spPr>
        <p:txBody>
          <a:bodyPr wrap="square" lIns="0" tIns="0" rIns="0" bIns="0" rtlCol="0" anchor="t"/>
          <a:lstStyle/>
          <a:p>
            <a:pPr algn="ctr" indent="0" marL="0">
              <a:lnSpc>
                <a:spcPts val="1365"/>
              </a:lnSpc>
              <a:buNone/>
            </a:pPr>
            <a:r>
              <a:rPr lang="en-US" sz="975" b="1" dirty="0">
                <a:solidFill>
                  <a:srgbClr val="C9A227"/>
                </a:solidFill>
                <a:latin typeface="Arial" pitchFamily="34" charset="0"/>
                <a:ea typeface="Arial" pitchFamily="34" charset="-122"/>
                <a:cs typeface="Arial" pitchFamily="34" charset="-120"/>
              </a:rPr>
              <a:t>Total time: seconds to speak, minutes for AI to complete what would take hours manually</a:t>
            </a:r>
            <a:endParaRPr lang="en-US" sz="975"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457200" y="266700"/>
            <a:ext cx="8394192" cy="146596"/>
          </a:xfrm>
          <a:prstGeom prst="rect">
            <a:avLst/>
          </a:prstGeom>
          <a:noFill/>
          <a:ln/>
        </p:spPr>
        <p:txBody>
          <a:bodyPr wrap="square" lIns="0" tIns="0" rIns="0" bIns="0" rtlCol="0" anchor="t"/>
          <a:lstStyle/>
          <a:p>
            <a:pPr algn="l" indent="0" marL="0">
              <a:lnSpc>
                <a:spcPts val="1155"/>
              </a:lnSpc>
              <a:spcAft>
                <a:spcPts val="600"/>
              </a:spcAft>
              <a:buNone/>
            </a:pPr>
            <a:r>
              <a:rPr lang="en-US" sz="825" dirty="0">
                <a:solidFill>
                  <a:srgbClr val="C9A227"/>
                </a:solidFill>
                <a:latin typeface="Arial" pitchFamily="34" charset="0"/>
                <a:ea typeface="Arial" pitchFamily="34" charset="-122"/>
                <a:cs typeface="Arial" pitchFamily="34" charset="-120"/>
              </a:rPr>
              <a:t>QUICK REFERENCE</a:t>
            </a:r>
            <a:endParaRPr lang="en-US" sz="825" dirty="0"/>
          </a:p>
        </p:txBody>
      </p:sp>
      <p:sp>
        <p:nvSpPr>
          <p:cNvPr id="3" name="Text 1"/>
          <p:cNvSpPr/>
          <p:nvPr/>
        </p:nvSpPr>
        <p:spPr>
          <a:xfrm>
            <a:off x="457200" y="489496"/>
            <a:ext cx="4206812" cy="304800"/>
          </a:xfrm>
          <a:prstGeom prst="rect">
            <a:avLst/>
          </a:prstGeom>
          <a:noFill/>
          <a:ln/>
        </p:spPr>
        <p:txBody>
          <a:bodyPr wrap="square" lIns="0" tIns="0" rIns="0" bIns="0" rtlCol="0" anchor="t"/>
          <a:lstStyle/>
          <a:p>
            <a:pPr algn="l" indent="0" marL="0">
              <a:lnSpc>
                <a:spcPts val="2400"/>
              </a:lnSpc>
              <a:buNone/>
            </a:pPr>
            <a:r>
              <a:rPr lang="en-US" sz="2400" dirty="0">
                <a:solidFill>
                  <a:srgbClr val="1A1F2E"/>
                </a:solidFill>
                <a:latin typeface="Georgia" pitchFamily="34" charset="0"/>
                <a:ea typeface="Georgia" pitchFamily="34" charset="-122"/>
                <a:cs typeface="Georgia" pitchFamily="34" charset="-120"/>
              </a:rPr>
              <a:t>Tools by Role</a:t>
            </a:r>
            <a:endParaRPr lang="en-US" sz="2400" dirty="0"/>
          </a:p>
        </p:txBody>
      </p:sp>
      <p:sp>
        <p:nvSpPr>
          <p:cNvPr id="4" name="Text 2"/>
          <p:cNvSpPr/>
          <p:nvPr/>
        </p:nvSpPr>
        <p:spPr>
          <a:xfrm>
            <a:off x="457200" y="1308795"/>
            <a:ext cx="2628900" cy="2474268"/>
          </a:xfrm>
          <a:prstGeom prst="rect">
            <a:avLst/>
          </a:prstGeom>
          <a:solidFill>
            <a:srgbClr val="1A1F2E"/>
          </a:solidFill>
          <a:ln/>
        </p:spPr>
        <p:txBody>
          <a:bodyPr wrap="square" rtlCol="0" anchor="ctr"/>
          <a:lstStyle/>
          <a:p>
            <a:pPr indent="0" marL="0">
              <a:buNone/>
            </a:pPr>
            <a:endParaRPr lang="en-US" dirty="0"/>
          </a:p>
        </p:txBody>
      </p:sp>
      <p:sp>
        <p:nvSpPr>
          <p:cNvPr id="5" name="Text 3"/>
          <p:cNvSpPr/>
          <p:nvPr/>
        </p:nvSpPr>
        <p:spPr>
          <a:xfrm>
            <a:off x="647700" y="1499295"/>
            <a:ext cx="2292858" cy="159990"/>
          </a:xfrm>
          <a:prstGeom prst="rect">
            <a:avLst/>
          </a:prstGeom>
          <a:noFill/>
          <a:ln/>
        </p:spPr>
        <p:txBody>
          <a:bodyPr wrap="square" lIns="0" tIns="0" rIns="0" bIns="0" rtlCol="0" anchor="t"/>
          <a:lstStyle/>
          <a:p>
            <a:pPr algn="l" indent="0" marL="0">
              <a:lnSpc>
                <a:spcPts val="1260"/>
              </a:lnSpc>
              <a:spcAft>
                <a:spcPts val="1050"/>
              </a:spcAft>
              <a:buNone/>
            </a:pPr>
            <a:r>
              <a:rPr lang="en-US" sz="900" b="1" dirty="0">
                <a:solidFill>
                  <a:srgbClr val="C9A227"/>
                </a:solidFill>
                <a:latin typeface="Arial" pitchFamily="34" charset="0"/>
                <a:ea typeface="Arial" pitchFamily="34" charset="-122"/>
                <a:cs typeface="Arial" pitchFamily="34" charset="-120"/>
              </a:rPr>
              <a:t>DEVELOPERS</a:t>
            </a:r>
            <a:endParaRPr lang="en-US" sz="900" dirty="0"/>
          </a:p>
        </p:txBody>
      </p:sp>
      <p:sp>
        <p:nvSpPr>
          <p:cNvPr id="6" name="Text 4"/>
          <p:cNvSpPr/>
          <p:nvPr/>
        </p:nvSpPr>
        <p:spPr>
          <a:xfrm>
            <a:off x="647700" y="1945035"/>
            <a:ext cx="2292858" cy="159990"/>
          </a:xfrm>
          <a:prstGeom prst="rect">
            <a:avLst/>
          </a:prstGeom>
          <a:noFill/>
          <a:ln/>
        </p:spPr>
        <p:txBody>
          <a:bodyPr wrap="square" lIns="0" tIns="0" rIns="0" bIns="0" rtlCol="0" anchor="t"/>
          <a:lstStyle/>
          <a:p>
            <a:pPr algn="l" indent="0" marL="0">
              <a:lnSpc>
                <a:spcPts val="1260"/>
              </a:lnSpc>
              <a:spcAft>
                <a:spcPts val="300"/>
              </a:spcAft>
              <a:buNone/>
            </a:pPr>
            <a:r>
              <a:rPr lang="en-US" sz="900" b="1" dirty="0">
                <a:solidFill>
                  <a:srgbClr val="FFFFFF"/>
                </a:solidFill>
                <a:latin typeface="Arial" pitchFamily="34" charset="0"/>
                <a:ea typeface="Arial" pitchFamily="34" charset="-122"/>
                <a:cs typeface="Arial" pitchFamily="34" charset="-120"/>
              </a:rPr>
              <a:t>Primary Tools</a:t>
            </a:r>
            <a:endParaRPr lang="en-US" sz="900" dirty="0"/>
          </a:p>
        </p:txBody>
      </p:sp>
      <p:sp>
        <p:nvSpPr>
          <p:cNvPr id="7" name="Text 5"/>
          <p:cNvSpPr/>
          <p:nvPr/>
        </p:nvSpPr>
        <p:spPr>
          <a:xfrm>
            <a:off x="647700" y="2143125"/>
            <a:ext cx="2292858" cy="167580"/>
          </a:xfrm>
          <a:prstGeom prst="rect">
            <a:avLst/>
          </a:prstGeom>
          <a:noFill/>
          <a:ln/>
        </p:spPr>
        <p:txBody>
          <a:bodyPr wrap="square" lIns="0" tIns="0" rIns="0" bIns="0" rtlCol="0" anchor="t"/>
          <a:lstStyle/>
          <a:p>
            <a:pPr algn="l" indent="0" marL="0">
              <a:lnSpc>
                <a:spcPts val="1320"/>
              </a:lnSpc>
              <a:buNone/>
            </a:pPr>
            <a:r>
              <a:rPr lang="en-US" sz="825" dirty="0">
                <a:solidFill>
                  <a:srgbClr val="FFFFFF">
                    <a:alpha val="60000"/>
                  </a:srgbClr>
                </a:solidFill>
                <a:latin typeface="Arial" pitchFamily="34" charset="0"/>
                <a:ea typeface="Arial" pitchFamily="34" charset="-122"/>
                <a:cs typeface="Arial" pitchFamily="34" charset="-120"/>
              </a:rPr>
              <a:t>Claude Code + SuperWhisper/WhisperFlow</a:t>
            </a:r>
            <a:endParaRPr lang="en-US" sz="825" dirty="0"/>
          </a:p>
        </p:txBody>
      </p:sp>
      <p:sp>
        <p:nvSpPr>
          <p:cNvPr id="8" name="Text 6"/>
          <p:cNvSpPr/>
          <p:nvPr/>
        </p:nvSpPr>
        <p:spPr>
          <a:xfrm>
            <a:off x="647700" y="2596455"/>
            <a:ext cx="2292858" cy="159990"/>
          </a:xfrm>
          <a:prstGeom prst="rect">
            <a:avLst/>
          </a:prstGeom>
          <a:noFill/>
          <a:ln/>
        </p:spPr>
        <p:txBody>
          <a:bodyPr wrap="square" lIns="0" tIns="0" rIns="0" bIns="0" rtlCol="0" anchor="t"/>
          <a:lstStyle/>
          <a:p>
            <a:pPr algn="l" indent="0" marL="0">
              <a:lnSpc>
                <a:spcPts val="1260"/>
              </a:lnSpc>
              <a:spcAft>
                <a:spcPts val="300"/>
              </a:spcAft>
              <a:buNone/>
            </a:pPr>
            <a:r>
              <a:rPr lang="en-US" sz="900" b="1" dirty="0">
                <a:solidFill>
                  <a:srgbClr val="FFFFFF"/>
                </a:solidFill>
                <a:latin typeface="Arial" pitchFamily="34" charset="0"/>
                <a:ea typeface="Arial" pitchFamily="34" charset="-122"/>
                <a:cs typeface="Arial" pitchFamily="34" charset="-120"/>
              </a:rPr>
              <a:t>Best For</a:t>
            </a:r>
            <a:endParaRPr lang="en-US" sz="900" dirty="0"/>
          </a:p>
        </p:txBody>
      </p:sp>
      <p:sp>
        <p:nvSpPr>
          <p:cNvPr id="9" name="Text 7"/>
          <p:cNvSpPr/>
          <p:nvPr/>
        </p:nvSpPr>
        <p:spPr>
          <a:xfrm>
            <a:off x="647700" y="2794546"/>
            <a:ext cx="2292858" cy="167580"/>
          </a:xfrm>
          <a:prstGeom prst="rect">
            <a:avLst/>
          </a:prstGeom>
          <a:noFill/>
          <a:ln/>
        </p:spPr>
        <p:txBody>
          <a:bodyPr wrap="square" lIns="0" tIns="0" rIns="0" bIns="0" rtlCol="0" anchor="t"/>
          <a:lstStyle/>
          <a:p>
            <a:pPr algn="l" indent="0" marL="0">
              <a:lnSpc>
                <a:spcPts val="1320"/>
              </a:lnSpc>
              <a:buNone/>
            </a:pPr>
            <a:r>
              <a:rPr lang="en-US" sz="825" dirty="0">
                <a:solidFill>
                  <a:srgbClr val="FFFFFF">
                    <a:alpha val="60000"/>
                  </a:srgbClr>
                </a:solidFill>
                <a:latin typeface="Arial" pitchFamily="34" charset="0"/>
                <a:ea typeface="Arial" pitchFamily="34" charset="-122"/>
                <a:cs typeface="Arial" pitchFamily="34" charset="-120"/>
              </a:rPr>
              <a:t>Refactoring, testing, debugging, documentation</a:t>
            </a:r>
            <a:endParaRPr lang="en-US" sz="825" dirty="0"/>
          </a:p>
        </p:txBody>
      </p:sp>
      <p:sp>
        <p:nvSpPr>
          <p:cNvPr id="10" name="Text 8"/>
          <p:cNvSpPr/>
          <p:nvPr/>
        </p:nvSpPr>
        <p:spPr>
          <a:xfrm>
            <a:off x="647700" y="3247876"/>
            <a:ext cx="2292858" cy="159990"/>
          </a:xfrm>
          <a:prstGeom prst="rect">
            <a:avLst/>
          </a:prstGeom>
          <a:noFill/>
          <a:ln/>
        </p:spPr>
        <p:txBody>
          <a:bodyPr wrap="square" lIns="0" tIns="0" rIns="0" bIns="0" rtlCol="0" anchor="t"/>
          <a:lstStyle/>
          <a:p>
            <a:pPr algn="l" indent="0" marL="0">
              <a:lnSpc>
                <a:spcPts val="1260"/>
              </a:lnSpc>
              <a:spcAft>
                <a:spcPts val="300"/>
              </a:spcAft>
              <a:buNone/>
            </a:pPr>
            <a:r>
              <a:rPr lang="en-US" sz="900" b="1" dirty="0">
                <a:solidFill>
                  <a:srgbClr val="FFFFFF"/>
                </a:solidFill>
                <a:latin typeface="Arial" pitchFamily="34" charset="0"/>
                <a:ea typeface="Arial" pitchFamily="34" charset="-122"/>
                <a:cs typeface="Arial" pitchFamily="34" charset="-120"/>
              </a:rPr>
              <a:t>Voice Example</a:t>
            </a:r>
            <a:endParaRPr lang="en-US" sz="900" dirty="0"/>
          </a:p>
        </p:txBody>
      </p:sp>
      <p:sp>
        <p:nvSpPr>
          <p:cNvPr id="11" name="Text 9"/>
          <p:cNvSpPr/>
          <p:nvPr/>
        </p:nvSpPr>
        <p:spPr>
          <a:xfrm>
            <a:off x="647700" y="3445966"/>
            <a:ext cx="2292858" cy="146596"/>
          </a:xfrm>
          <a:prstGeom prst="rect">
            <a:avLst/>
          </a:prstGeom>
          <a:noFill/>
          <a:ln/>
        </p:spPr>
        <p:txBody>
          <a:bodyPr wrap="square" lIns="0" tIns="0" rIns="0" bIns="0" rtlCol="0" anchor="t"/>
          <a:lstStyle/>
          <a:p>
            <a:pPr algn="l" indent="0" marL="0">
              <a:lnSpc>
                <a:spcPts val="1155"/>
              </a:lnSpc>
              <a:buNone/>
            </a:pPr>
            <a:r>
              <a:rPr lang="en-US" sz="825" i="1" dirty="0">
                <a:solidFill>
                  <a:srgbClr val="FFFFFF">
                    <a:alpha val="60000"/>
                  </a:srgbClr>
                </a:solidFill>
                <a:latin typeface="Arial" pitchFamily="34" charset="0"/>
                <a:ea typeface="Arial" pitchFamily="34" charset="-122"/>
                <a:cs typeface="Arial" pitchFamily="34" charset="-120"/>
              </a:rPr>
              <a:t>"Add unit tests for the auth module"</a:t>
            </a:r>
            <a:endParaRPr lang="en-US" sz="825" dirty="0"/>
          </a:p>
        </p:txBody>
      </p:sp>
      <p:sp>
        <p:nvSpPr>
          <p:cNvPr id="12" name="Text 10"/>
          <p:cNvSpPr/>
          <p:nvPr/>
        </p:nvSpPr>
        <p:spPr>
          <a:xfrm>
            <a:off x="3238500" y="1299270"/>
            <a:ext cx="2647950" cy="2493318"/>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3" name="Text 11"/>
          <p:cNvSpPr/>
          <p:nvPr/>
        </p:nvSpPr>
        <p:spPr>
          <a:xfrm>
            <a:off x="3438525" y="1499295"/>
            <a:ext cx="2292858" cy="159990"/>
          </a:xfrm>
          <a:prstGeom prst="rect">
            <a:avLst/>
          </a:prstGeom>
          <a:noFill/>
          <a:ln/>
        </p:spPr>
        <p:txBody>
          <a:bodyPr wrap="square" lIns="0" tIns="0" rIns="0" bIns="0" rtlCol="0" anchor="t"/>
          <a:lstStyle/>
          <a:p>
            <a:pPr algn="l" indent="0" marL="0">
              <a:lnSpc>
                <a:spcPts val="1260"/>
              </a:lnSpc>
              <a:spcAft>
                <a:spcPts val="1050"/>
              </a:spcAft>
              <a:buNone/>
            </a:pPr>
            <a:r>
              <a:rPr lang="en-US" sz="900" b="1" dirty="0">
                <a:solidFill>
                  <a:srgbClr val="C9A227"/>
                </a:solidFill>
                <a:latin typeface="Arial" pitchFamily="34" charset="0"/>
                <a:ea typeface="Arial" pitchFamily="34" charset="-122"/>
                <a:cs typeface="Arial" pitchFamily="34" charset="-120"/>
              </a:rPr>
              <a:t>DATA ANALYSTS</a:t>
            </a:r>
            <a:endParaRPr lang="en-US" sz="900" dirty="0"/>
          </a:p>
        </p:txBody>
      </p:sp>
      <p:sp>
        <p:nvSpPr>
          <p:cNvPr id="14" name="Text 12"/>
          <p:cNvSpPr/>
          <p:nvPr/>
        </p:nvSpPr>
        <p:spPr>
          <a:xfrm>
            <a:off x="3438525" y="1945035"/>
            <a:ext cx="2292858" cy="159990"/>
          </a:xfrm>
          <a:prstGeom prst="rect">
            <a:avLst/>
          </a:prstGeom>
          <a:noFill/>
          <a:ln/>
        </p:spPr>
        <p:txBody>
          <a:bodyPr wrap="square" lIns="0" tIns="0" rIns="0" bIns="0" rtlCol="0" anchor="t"/>
          <a:lstStyle/>
          <a:p>
            <a:pPr algn="l" indent="0" marL="0">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Primary Tools</a:t>
            </a:r>
            <a:endParaRPr lang="en-US" sz="900" dirty="0"/>
          </a:p>
        </p:txBody>
      </p:sp>
      <p:sp>
        <p:nvSpPr>
          <p:cNvPr id="15" name="Text 13"/>
          <p:cNvSpPr/>
          <p:nvPr/>
        </p:nvSpPr>
        <p:spPr>
          <a:xfrm>
            <a:off x="3438525" y="2143125"/>
            <a:ext cx="2292858" cy="167580"/>
          </a:xfrm>
          <a:prstGeom prst="rect">
            <a:avLst/>
          </a:prstGeom>
          <a:noFill/>
          <a:ln/>
        </p:spPr>
        <p:txBody>
          <a:bodyPr wrap="square" lIns="0" tIns="0" rIns="0" bIns="0" rtlCol="0" anchor="t"/>
          <a:lstStyle/>
          <a:p>
            <a:pPr algn="l" indent="0" marL="0">
              <a:lnSpc>
                <a:spcPts val="1320"/>
              </a:lnSpc>
              <a:buNone/>
            </a:pPr>
            <a:r>
              <a:rPr lang="en-US" sz="825" dirty="0">
                <a:solidFill>
                  <a:srgbClr val="6B7280"/>
                </a:solidFill>
                <a:latin typeface="Arial" pitchFamily="34" charset="0"/>
                <a:ea typeface="Arial" pitchFamily="34" charset="-122"/>
                <a:cs typeface="Arial" pitchFamily="34" charset="-120"/>
              </a:rPr>
              <a:t>VS Code + Continue.dev or Cursor</a:t>
            </a:r>
            <a:endParaRPr lang="en-US" sz="825" dirty="0"/>
          </a:p>
        </p:txBody>
      </p:sp>
      <p:sp>
        <p:nvSpPr>
          <p:cNvPr id="16" name="Text 14"/>
          <p:cNvSpPr/>
          <p:nvPr/>
        </p:nvSpPr>
        <p:spPr>
          <a:xfrm>
            <a:off x="3438525" y="2596455"/>
            <a:ext cx="2292858" cy="159990"/>
          </a:xfrm>
          <a:prstGeom prst="rect">
            <a:avLst/>
          </a:prstGeom>
          <a:noFill/>
          <a:ln/>
        </p:spPr>
        <p:txBody>
          <a:bodyPr wrap="square" lIns="0" tIns="0" rIns="0" bIns="0" rtlCol="0" anchor="t"/>
          <a:lstStyle/>
          <a:p>
            <a:pPr algn="l" indent="0" marL="0">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Best For</a:t>
            </a:r>
            <a:endParaRPr lang="en-US" sz="900" dirty="0"/>
          </a:p>
        </p:txBody>
      </p:sp>
      <p:sp>
        <p:nvSpPr>
          <p:cNvPr id="17" name="Text 15"/>
          <p:cNvSpPr/>
          <p:nvPr/>
        </p:nvSpPr>
        <p:spPr>
          <a:xfrm>
            <a:off x="3438525" y="2794546"/>
            <a:ext cx="2292858" cy="167580"/>
          </a:xfrm>
          <a:prstGeom prst="rect">
            <a:avLst/>
          </a:prstGeom>
          <a:noFill/>
          <a:ln/>
        </p:spPr>
        <p:txBody>
          <a:bodyPr wrap="square" lIns="0" tIns="0" rIns="0" bIns="0" rtlCol="0" anchor="t"/>
          <a:lstStyle/>
          <a:p>
            <a:pPr algn="l" indent="0" marL="0">
              <a:lnSpc>
                <a:spcPts val="1320"/>
              </a:lnSpc>
              <a:buNone/>
            </a:pPr>
            <a:r>
              <a:rPr lang="en-US" sz="825" dirty="0">
                <a:solidFill>
                  <a:srgbClr val="6B7280"/>
                </a:solidFill>
                <a:latin typeface="Arial" pitchFamily="34" charset="0"/>
                <a:ea typeface="Arial" pitchFamily="34" charset="-122"/>
                <a:cs typeface="Arial" pitchFamily="34" charset="-120"/>
              </a:rPr>
              <a:t>SQL queries, Python scripts, data pipelines</a:t>
            </a:r>
            <a:endParaRPr lang="en-US" sz="825" dirty="0"/>
          </a:p>
        </p:txBody>
      </p:sp>
      <p:sp>
        <p:nvSpPr>
          <p:cNvPr id="18" name="Text 16"/>
          <p:cNvSpPr/>
          <p:nvPr/>
        </p:nvSpPr>
        <p:spPr>
          <a:xfrm>
            <a:off x="3438525" y="3247876"/>
            <a:ext cx="2292858" cy="159990"/>
          </a:xfrm>
          <a:prstGeom prst="rect">
            <a:avLst/>
          </a:prstGeom>
          <a:noFill/>
          <a:ln/>
        </p:spPr>
        <p:txBody>
          <a:bodyPr wrap="square" lIns="0" tIns="0" rIns="0" bIns="0" rtlCol="0" anchor="t"/>
          <a:lstStyle/>
          <a:p>
            <a:pPr algn="l" indent="0" marL="0">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Voice Example</a:t>
            </a:r>
            <a:endParaRPr lang="en-US" sz="900" dirty="0"/>
          </a:p>
        </p:txBody>
      </p:sp>
      <p:sp>
        <p:nvSpPr>
          <p:cNvPr id="19" name="Text 17"/>
          <p:cNvSpPr/>
          <p:nvPr/>
        </p:nvSpPr>
        <p:spPr>
          <a:xfrm>
            <a:off x="3438525" y="3445966"/>
            <a:ext cx="2292858" cy="146596"/>
          </a:xfrm>
          <a:prstGeom prst="rect">
            <a:avLst/>
          </a:prstGeom>
          <a:noFill/>
          <a:ln/>
        </p:spPr>
        <p:txBody>
          <a:bodyPr wrap="square" lIns="0" tIns="0" rIns="0" bIns="0" rtlCol="0" anchor="t"/>
          <a:lstStyle/>
          <a:p>
            <a:pPr algn="l" indent="0" marL="0">
              <a:lnSpc>
                <a:spcPts val="1155"/>
              </a:lnSpc>
              <a:buNone/>
            </a:pPr>
            <a:r>
              <a:rPr lang="en-US" sz="825" i="1" dirty="0">
                <a:solidFill>
                  <a:srgbClr val="6B7280"/>
                </a:solidFill>
                <a:latin typeface="Arial" pitchFamily="34" charset="0"/>
                <a:ea typeface="Arial" pitchFamily="34" charset="-122"/>
                <a:cs typeface="Arial" pitchFamily="34" charset="-120"/>
              </a:rPr>
              <a:t>"Write a query to aggregate monthly stats"</a:t>
            </a:r>
            <a:endParaRPr lang="en-US" sz="825" dirty="0"/>
          </a:p>
        </p:txBody>
      </p:sp>
      <p:sp>
        <p:nvSpPr>
          <p:cNvPr id="20" name="Text 18"/>
          <p:cNvSpPr/>
          <p:nvPr/>
        </p:nvSpPr>
        <p:spPr>
          <a:xfrm>
            <a:off x="6038850" y="1299270"/>
            <a:ext cx="2647950" cy="2493318"/>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21" name="Text 19"/>
          <p:cNvSpPr/>
          <p:nvPr/>
        </p:nvSpPr>
        <p:spPr>
          <a:xfrm>
            <a:off x="6238875" y="1499295"/>
            <a:ext cx="2292858" cy="159990"/>
          </a:xfrm>
          <a:prstGeom prst="rect">
            <a:avLst/>
          </a:prstGeom>
          <a:noFill/>
          <a:ln/>
        </p:spPr>
        <p:txBody>
          <a:bodyPr wrap="square" lIns="0" tIns="0" rIns="0" bIns="0" rtlCol="0" anchor="t"/>
          <a:lstStyle/>
          <a:p>
            <a:pPr algn="l" indent="0" marL="0">
              <a:lnSpc>
                <a:spcPts val="1260"/>
              </a:lnSpc>
              <a:spcAft>
                <a:spcPts val="1050"/>
              </a:spcAft>
              <a:buNone/>
            </a:pPr>
            <a:r>
              <a:rPr lang="en-US" sz="900" b="1" dirty="0">
                <a:solidFill>
                  <a:srgbClr val="C9A227"/>
                </a:solidFill>
                <a:latin typeface="Arial" pitchFamily="34" charset="0"/>
                <a:ea typeface="Arial" pitchFamily="34" charset="-122"/>
                <a:cs typeface="Arial" pitchFamily="34" charset="-120"/>
              </a:rPr>
              <a:t>IT / DEVOPS</a:t>
            </a:r>
            <a:endParaRPr lang="en-US" sz="900" dirty="0"/>
          </a:p>
        </p:txBody>
      </p:sp>
      <p:sp>
        <p:nvSpPr>
          <p:cNvPr id="22" name="Text 20"/>
          <p:cNvSpPr/>
          <p:nvPr/>
        </p:nvSpPr>
        <p:spPr>
          <a:xfrm>
            <a:off x="6238875" y="1945035"/>
            <a:ext cx="2292858" cy="159990"/>
          </a:xfrm>
          <a:prstGeom prst="rect">
            <a:avLst/>
          </a:prstGeom>
          <a:noFill/>
          <a:ln/>
        </p:spPr>
        <p:txBody>
          <a:bodyPr wrap="square" lIns="0" tIns="0" rIns="0" bIns="0" rtlCol="0" anchor="t"/>
          <a:lstStyle/>
          <a:p>
            <a:pPr algn="l" indent="0" marL="0">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Primary Tools</a:t>
            </a:r>
            <a:endParaRPr lang="en-US" sz="900" dirty="0"/>
          </a:p>
        </p:txBody>
      </p:sp>
      <p:sp>
        <p:nvSpPr>
          <p:cNvPr id="23" name="Text 21"/>
          <p:cNvSpPr/>
          <p:nvPr/>
        </p:nvSpPr>
        <p:spPr>
          <a:xfrm>
            <a:off x="6238875" y="2143125"/>
            <a:ext cx="2292858" cy="167580"/>
          </a:xfrm>
          <a:prstGeom prst="rect">
            <a:avLst/>
          </a:prstGeom>
          <a:noFill/>
          <a:ln/>
        </p:spPr>
        <p:txBody>
          <a:bodyPr wrap="square" lIns="0" tIns="0" rIns="0" bIns="0" rtlCol="0" anchor="t"/>
          <a:lstStyle/>
          <a:p>
            <a:pPr algn="l" indent="0" marL="0">
              <a:lnSpc>
                <a:spcPts val="1320"/>
              </a:lnSpc>
              <a:buNone/>
            </a:pPr>
            <a:r>
              <a:rPr lang="en-US" sz="825" dirty="0">
                <a:solidFill>
                  <a:srgbClr val="6B7280"/>
                </a:solidFill>
                <a:latin typeface="Arial" pitchFamily="34" charset="0"/>
                <a:ea typeface="Arial" pitchFamily="34" charset="-122"/>
                <a:cs typeface="Arial" pitchFamily="34" charset="-120"/>
              </a:rPr>
              <a:t>Claude Code + MCP servers</a:t>
            </a:r>
            <a:endParaRPr lang="en-US" sz="825" dirty="0"/>
          </a:p>
        </p:txBody>
      </p:sp>
      <p:sp>
        <p:nvSpPr>
          <p:cNvPr id="24" name="Text 22"/>
          <p:cNvSpPr/>
          <p:nvPr/>
        </p:nvSpPr>
        <p:spPr>
          <a:xfrm>
            <a:off x="6238875" y="2596455"/>
            <a:ext cx="2292858" cy="159990"/>
          </a:xfrm>
          <a:prstGeom prst="rect">
            <a:avLst/>
          </a:prstGeom>
          <a:noFill/>
          <a:ln/>
        </p:spPr>
        <p:txBody>
          <a:bodyPr wrap="square" lIns="0" tIns="0" rIns="0" bIns="0" rtlCol="0" anchor="t"/>
          <a:lstStyle/>
          <a:p>
            <a:pPr algn="l" indent="0" marL="0">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Best For</a:t>
            </a:r>
            <a:endParaRPr lang="en-US" sz="900" dirty="0"/>
          </a:p>
        </p:txBody>
      </p:sp>
      <p:sp>
        <p:nvSpPr>
          <p:cNvPr id="25" name="Text 23"/>
          <p:cNvSpPr/>
          <p:nvPr/>
        </p:nvSpPr>
        <p:spPr>
          <a:xfrm>
            <a:off x="6238875" y="2794546"/>
            <a:ext cx="2292858" cy="167580"/>
          </a:xfrm>
          <a:prstGeom prst="rect">
            <a:avLst/>
          </a:prstGeom>
          <a:noFill/>
          <a:ln/>
        </p:spPr>
        <p:txBody>
          <a:bodyPr wrap="square" lIns="0" tIns="0" rIns="0" bIns="0" rtlCol="0" anchor="t"/>
          <a:lstStyle/>
          <a:p>
            <a:pPr algn="l" indent="0" marL="0">
              <a:lnSpc>
                <a:spcPts val="1320"/>
              </a:lnSpc>
              <a:buNone/>
            </a:pPr>
            <a:r>
              <a:rPr lang="en-US" sz="825" dirty="0">
                <a:solidFill>
                  <a:srgbClr val="6B7280"/>
                </a:solidFill>
                <a:latin typeface="Arial" pitchFamily="34" charset="0"/>
                <a:ea typeface="Arial" pitchFamily="34" charset="-122"/>
                <a:cs typeface="Arial" pitchFamily="34" charset="-120"/>
              </a:rPr>
              <a:t>Scripts, configs, automation, troubleshooting</a:t>
            </a:r>
            <a:endParaRPr lang="en-US" sz="825" dirty="0"/>
          </a:p>
        </p:txBody>
      </p:sp>
      <p:sp>
        <p:nvSpPr>
          <p:cNvPr id="26" name="Text 24"/>
          <p:cNvSpPr/>
          <p:nvPr/>
        </p:nvSpPr>
        <p:spPr>
          <a:xfrm>
            <a:off x="6238875" y="3247876"/>
            <a:ext cx="2292858" cy="159990"/>
          </a:xfrm>
          <a:prstGeom prst="rect">
            <a:avLst/>
          </a:prstGeom>
          <a:noFill/>
          <a:ln/>
        </p:spPr>
        <p:txBody>
          <a:bodyPr wrap="square" lIns="0" tIns="0" rIns="0" bIns="0" rtlCol="0" anchor="t"/>
          <a:lstStyle/>
          <a:p>
            <a:pPr algn="l" indent="0" marL="0">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Voice Example</a:t>
            </a:r>
            <a:endParaRPr lang="en-US" sz="900" dirty="0"/>
          </a:p>
        </p:txBody>
      </p:sp>
      <p:sp>
        <p:nvSpPr>
          <p:cNvPr id="27" name="Text 25"/>
          <p:cNvSpPr/>
          <p:nvPr/>
        </p:nvSpPr>
        <p:spPr>
          <a:xfrm>
            <a:off x="6238875" y="3445966"/>
            <a:ext cx="2292858" cy="146596"/>
          </a:xfrm>
          <a:prstGeom prst="rect">
            <a:avLst/>
          </a:prstGeom>
          <a:noFill/>
          <a:ln/>
        </p:spPr>
        <p:txBody>
          <a:bodyPr wrap="square" lIns="0" tIns="0" rIns="0" bIns="0" rtlCol="0" anchor="t"/>
          <a:lstStyle/>
          <a:p>
            <a:pPr algn="l" indent="0" marL="0">
              <a:lnSpc>
                <a:spcPts val="1155"/>
              </a:lnSpc>
              <a:buNone/>
            </a:pPr>
            <a:r>
              <a:rPr lang="en-US" sz="825" i="1" dirty="0">
                <a:solidFill>
                  <a:srgbClr val="6B7280"/>
                </a:solidFill>
                <a:latin typeface="Arial" pitchFamily="34" charset="0"/>
                <a:ea typeface="Arial" pitchFamily="34" charset="-122"/>
                <a:cs typeface="Arial" pitchFamily="34" charset="-120"/>
              </a:rPr>
              <a:t>"Create a script to rotate log files"</a:t>
            </a:r>
            <a:endParaRPr lang="en-US" sz="825" dirty="0"/>
          </a:p>
        </p:txBody>
      </p:sp>
      <p:sp>
        <p:nvSpPr>
          <p:cNvPr id="28" name="Text 26"/>
          <p:cNvSpPr/>
          <p:nvPr/>
        </p:nvSpPr>
        <p:spPr>
          <a:xfrm>
            <a:off x="457200" y="4412010"/>
            <a:ext cx="8229600" cy="426690"/>
          </a:xfrm>
          <a:prstGeom prst="rect">
            <a:avLst/>
          </a:prstGeom>
          <a:solidFill>
            <a:srgbClr val="C9A227"/>
          </a:solidFill>
          <a:ln/>
        </p:spPr>
        <p:txBody>
          <a:bodyPr wrap="square" rtlCol="0" anchor="ctr"/>
          <a:lstStyle/>
          <a:p>
            <a:pPr indent="0" marL="0">
              <a:buNone/>
            </a:pPr>
            <a:endParaRPr lang="en-US" dirty="0"/>
          </a:p>
        </p:txBody>
      </p:sp>
      <p:sp>
        <p:nvSpPr>
          <p:cNvPr id="29" name="Text 27"/>
          <p:cNvSpPr/>
          <p:nvPr/>
        </p:nvSpPr>
        <p:spPr>
          <a:xfrm>
            <a:off x="510921" y="4545360"/>
            <a:ext cx="8122158" cy="159990"/>
          </a:xfrm>
          <a:prstGeom prst="rect">
            <a:avLst/>
          </a:prstGeom>
          <a:noFill/>
          <a:ln/>
        </p:spPr>
        <p:txBody>
          <a:bodyPr wrap="square" lIns="0" tIns="0" rIns="0" bIns="0" rtlCol="0" anchor="t"/>
          <a:lstStyle/>
          <a:p>
            <a:pPr algn="ctr" indent="0" marL="0">
              <a:lnSpc>
                <a:spcPts val="1260"/>
              </a:lnSpc>
              <a:buNone/>
            </a:pPr>
            <a:r>
              <a:rPr lang="en-US" sz="900" b="1" dirty="0">
                <a:solidFill>
                  <a:srgbClr val="1A1F2E"/>
                </a:solidFill>
                <a:latin typeface="Arial" pitchFamily="34" charset="0"/>
                <a:ea typeface="Arial" pitchFamily="34" charset="-122"/>
                <a:cs typeface="Arial" pitchFamily="34" charset="-120"/>
              </a:rPr>
              <a:t>All roles benefit from local voice transcription for speed and privacy</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037954" y="1041202"/>
            <a:ext cx="1067794" cy="186630"/>
          </a:xfrm>
          <a:prstGeom prst="rect">
            <a:avLst/>
          </a:prstGeom>
          <a:noFill/>
          <a:ln/>
        </p:spPr>
        <p:txBody>
          <a:bodyPr wrap="square" lIns="0" tIns="0" rIns="0" bIns="0" rtlCol="0" anchor="t"/>
          <a:lstStyle/>
          <a:p>
            <a:pPr algn="ctr" indent="0" marL="0">
              <a:lnSpc>
                <a:spcPts val="1470"/>
              </a:lnSpc>
              <a:spcAft>
                <a:spcPts val="1500"/>
              </a:spcAft>
              <a:buNone/>
            </a:pPr>
            <a:r>
              <a:rPr lang="en-US" sz="1050" dirty="0">
                <a:solidFill>
                  <a:srgbClr val="C9A227"/>
                </a:solidFill>
                <a:latin typeface="Arial" pitchFamily="34" charset="0"/>
                <a:ea typeface="Arial" pitchFamily="34" charset="-122"/>
                <a:cs typeface="Arial" pitchFamily="34" charset="-120"/>
              </a:rPr>
              <a:t>SECTION 8</a:t>
            </a:r>
            <a:endParaRPr lang="en-US" sz="1050" dirty="0"/>
          </a:p>
        </p:txBody>
      </p:sp>
      <p:sp>
        <p:nvSpPr>
          <p:cNvPr id="3" name="Text 1"/>
          <p:cNvSpPr/>
          <p:nvPr/>
        </p:nvSpPr>
        <p:spPr>
          <a:xfrm>
            <a:off x="2032916" y="1570732"/>
            <a:ext cx="5078019" cy="495300"/>
          </a:xfrm>
          <a:prstGeom prst="rect">
            <a:avLst/>
          </a:prstGeom>
          <a:noFill/>
          <a:ln/>
        </p:spPr>
        <p:txBody>
          <a:bodyPr wrap="square" lIns="0" tIns="0" rIns="0" bIns="0" rtlCol="0" anchor="t"/>
          <a:lstStyle/>
          <a:p>
            <a:pPr algn="ctr" indent="0" marL="0">
              <a:lnSpc>
                <a:spcPts val="3900"/>
              </a:lnSpc>
              <a:spcAft>
                <a:spcPts val="1500"/>
              </a:spcAft>
              <a:buNone/>
            </a:pPr>
            <a:r>
              <a:rPr lang="en-US" sz="3900" dirty="0">
                <a:solidFill>
                  <a:srgbClr val="FFFFFF"/>
                </a:solidFill>
                <a:latin typeface="Georgia" pitchFamily="34" charset="0"/>
                <a:ea typeface="Georgia" pitchFamily="34" charset="-122"/>
                <a:cs typeface="Georgia" pitchFamily="34" charset="-120"/>
              </a:rPr>
              <a:t>Security &amp; Compliance</a:t>
            </a:r>
            <a:endParaRPr lang="en-US" sz="3900" dirty="0"/>
          </a:p>
        </p:txBody>
      </p:sp>
      <p:sp>
        <p:nvSpPr>
          <p:cNvPr id="4" name="Text 2"/>
          <p:cNvSpPr/>
          <p:nvPr/>
        </p:nvSpPr>
        <p:spPr>
          <a:xfrm>
            <a:off x="4190851" y="2408932"/>
            <a:ext cx="762000" cy="28575"/>
          </a:xfrm>
          <a:prstGeom prst="rect">
            <a:avLst/>
          </a:prstGeom>
          <a:solidFill>
            <a:srgbClr val="C9A227"/>
          </a:solidFill>
          <a:ln/>
        </p:spPr>
        <p:txBody>
          <a:bodyPr wrap="square" rtlCol="0" anchor="ctr"/>
          <a:lstStyle/>
          <a:p>
            <a:pPr indent="0" marL="0">
              <a:buNone/>
            </a:pPr>
            <a:endParaRPr lang="en-US" dirty="0"/>
          </a:p>
        </p:txBody>
      </p:sp>
      <p:sp>
        <p:nvSpPr>
          <p:cNvPr id="5" name="Text 3"/>
          <p:cNvSpPr/>
          <p:nvPr/>
        </p:nvSpPr>
        <p:spPr>
          <a:xfrm>
            <a:off x="2831864" y="2818507"/>
            <a:ext cx="3480122" cy="239911"/>
          </a:xfrm>
          <a:prstGeom prst="rect">
            <a:avLst/>
          </a:prstGeom>
          <a:noFill/>
          <a:ln/>
        </p:spPr>
        <p:txBody>
          <a:bodyPr wrap="square" lIns="0" tIns="0" rIns="0" bIns="0" rtlCol="0" anchor="t"/>
          <a:lstStyle/>
          <a:p>
            <a:pPr algn="ctr" indent="0" marL="0">
              <a:lnSpc>
                <a:spcPts val="1890"/>
              </a:lnSpc>
              <a:buNone/>
            </a:pPr>
            <a:r>
              <a:rPr lang="en-US" sz="1350" dirty="0">
                <a:solidFill>
                  <a:srgbClr val="FFFFFF">
                    <a:alpha val="70000"/>
                  </a:srgbClr>
                </a:solidFill>
                <a:latin typeface="Arial" pitchFamily="34" charset="0"/>
                <a:ea typeface="Arial" pitchFamily="34" charset="-122"/>
                <a:cs typeface="Arial" pitchFamily="34" charset="-120"/>
              </a:rPr>
              <a:t>Understanding Data Flows and PHI Handling</a:t>
            </a:r>
            <a:endParaRPr lang="en-US" sz="1350" dirty="0"/>
          </a:p>
        </p:txBody>
      </p:sp>
      <p:sp>
        <p:nvSpPr>
          <p:cNvPr id="6" name="Text 4"/>
          <p:cNvSpPr/>
          <p:nvPr/>
        </p:nvSpPr>
        <p:spPr>
          <a:xfrm>
            <a:off x="3931444" y="3591818"/>
            <a:ext cx="1280964" cy="510480"/>
          </a:xfrm>
          <a:prstGeom prst="rect">
            <a:avLst/>
          </a:prstGeom>
          <a:solidFill>
            <a:srgbClr val="C9A227">
              <a:alpha val="15000"/>
            </a:srgbClr>
          </a:solidFill>
          <a:ln w="9525">
            <a:solidFill>
              <a:srgbClr val="C9A227"/>
            </a:solidFill>
          </a:ln>
        </p:spPr>
        <p:txBody>
          <a:bodyPr wrap="square" rtlCol="0" anchor="ctr"/>
          <a:lstStyle/>
          <a:p>
            <a:pPr indent="0" marL="0">
              <a:buNone/>
            </a:pPr>
            <a:endParaRPr lang="en-US" dirty="0"/>
          </a:p>
        </p:txBody>
      </p:sp>
      <p:sp>
        <p:nvSpPr>
          <p:cNvPr id="7" name="Text 5"/>
          <p:cNvSpPr/>
          <p:nvPr/>
        </p:nvSpPr>
        <p:spPr>
          <a:xfrm>
            <a:off x="4239246" y="3753743"/>
            <a:ext cx="665360" cy="186630"/>
          </a:xfrm>
          <a:prstGeom prst="rect">
            <a:avLst/>
          </a:prstGeom>
          <a:noFill/>
          <a:ln/>
        </p:spPr>
        <p:txBody>
          <a:bodyPr wrap="square" lIns="0" tIns="0" rIns="0" bIns="0" rtlCol="0" anchor="t"/>
          <a:lstStyle/>
          <a:p>
            <a:pPr algn="ctr" indent="0" marL="0">
              <a:lnSpc>
                <a:spcPts val="1470"/>
              </a:lnSpc>
              <a:buNone/>
            </a:pPr>
            <a:r>
              <a:rPr lang="en-US" sz="1050" dirty="0">
                <a:solidFill>
                  <a:srgbClr val="C9A227"/>
                </a:solidFill>
                <a:latin typeface="Arial" pitchFamily="34" charset="0"/>
                <a:ea typeface="Arial" pitchFamily="34" charset="-122"/>
                <a:cs typeface="Arial" pitchFamily="34" charset="-120"/>
              </a:rPr>
              <a:t>10 minutes</a:t>
            </a:r>
            <a:endParaRPr lang="en-US" sz="10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381000" y="228600"/>
            <a:ext cx="8549640" cy="133350"/>
          </a:xfrm>
          <a:prstGeom prst="rect">
            <a:avLst/>
          </a:prstGeom>
          <a:noFill/>
          <a:ln/>
        </p:spPr>
        <p:txBody>
          <a:bodyPr wrap="square" lIns="0" tIns="0" rIns="0" bIns="0" rtlCol="0" anchor="t"/>
          <a:lstStyle/>
          <a:p>
            <a:pPr algn="l" indent="0" marL="0">
              <a:lnSpc>
                <a:spcPts val="1050"/>
              </a:lnSpc>
              <a:spcAft>
                <a:spcPts val="450"/>
              </a:spcAft>
              <a:buNone/>
            </a:pPr>
            <a:r>
              <a:rPr lang="en-US" sz="750" dirty="0">
                <a:solidFill>
                  <a:srgbClr val="C9A227"/>
                </a:solidFill>
                <a:latin typeface="Arial" pitchFamily="34" charset="0"/>
                <a:ea typeface="Arial" pitchFamily="34" charset="-122"/>
                <a:cs typeface="Arial" pitchFamily="34" charset="-120"/>
              </a:rPr>
              <a:t>DATA SECURITY</a:t>
            </a:r>
            <a:endParaRPr lang="en-US" sz="750" dirty="0"/>
          </a:p>
        </p:txBody>
      </p:sp>
      <p:sp>
        <p:nvSpPr>
          <p:cNvPr id="3" name="Text 1"/>
          <p:cNvSpPr/>
          <p:nvPr/>
        </p:nvSpPr>
        <p:spPr>
          <a:xfrm>
            <a:off x="381000" y="419100"/>
            <a:ext cx="4284536" cy="266700"/>
          </a:xfrm>
          <a:prstGeom prst="rect">
            <a:avLst/>
          </a:prstGeom>
          <a:noFill/>
          <a:ln/>
        </p:spPr>
        <p:txBody>
          <a:bodyPr wrap="square" lIns="0" tIns="0" rIns="0" bIns="0" rtlCol="0" anchor="t"/>
          <a:lstStyle/>
          <a:p>
            <a:pPr algn="l" indent="0" marL="0">
              <a:lnSpc>
                <a:spcPts val="2100"/>
              </a:lnSpc>
              <a:buNone/>
            </a:pPr>
            <a:r>
              <a:rPr lang="en-US" sz="2100" dirty="0">
                <a:solidFill>
                  <a:srgbClr val="1A1F2E"/>
                </a:solidFill>
                <a:latin typeface="Georgia" pitchFamily="34" charset="0"/>
                <a:ea typeface="Georgia" pitchFamily="34" charset="-122"/>
                <a:cs typeface="Georgia" pitchFamily="34" charset="-120"/>
              </a:rPr>
              <a:t>Data Flow Awareness</a:t>
            </a:r>
            <a:endParaRPr lang="en-US" sz="2100" dirty="0"/>
          </a:p>
        </p:txBody>
      </p:sp>
      <p:sp>
        <p:nvSpPr>
          <p:cNvPr id="4" name="Text 2"/>
          <p:cNvSpPr/>
          <p:nvPr/>
        </p:nvSpPr>
        <p:spPr>
          <a:xfrm>
            <a:off x="381000" y="742950"/>
            <a:ext cx="8549640" cy="159990"/>
          </a:xfrm>
          <a:prstGeom prst="rect">
            <a:avLst/>
          </a:prstGeom>
          <a:noFill/>
          <a:ln/>
        </p:spPr>
        <p:txBody>
          <a:bodyPr wrap="square" lIns="0" tIns="0" rIns="0" bIns="0" rtlCol="0" anchor="t"/>
          <a:lstStyle/>
          <a:p>
            <a:pPr algn="l" indent="0" marL="0">
              <a:lnSpc>
                <a:spcPts val="1260"/>
              </a:lnSpc>
              <a:spcBef>
                <a:spcPts val="450"/>
              </a:spcBef>
              <a:buNone/>
            </a:pPr>
            <a:r>
              <a:rPr lang="en-US" sz="900" dirty="0">
                <a:solidFill>
                  <a:srgbClr val="6B7280"/>
                </a:solidFill>
                <a:latin typeface="Arial" pitchFamily="34" charset="0"/>
                <a:ea typeface="Arial" pitchFamily="34" charset="-122"/>
                <a:cs typeface="Arial" pitchFamily="34" charset="-120"/>
              </a:rPr>
              <a:t>Understanding where your data goes</a:t>
            </a:r>
            <a:endParaRPr lang="en-US" sz="900" dirty="0"/>
          </a:p>
        </p:txBody>
      </p:sp>
      <p:sp>
        <p:nvSpPr>
          <p:cNvPr id="5" name="Text 3"/>
          <p:cNvSpPr/>
          <p:nvPr/>
        </p:nvSpPr>
        <p:spPr>
          <a:xfrm>
            <a:off x="381000" y="1360438"/>
            <a:ext cx="2730550" cy="1407468"/>
          </a:xfrm>
          <a:prstGeom prst="rect">
            <a:avLst/>
          </a:prstGeom>
          <a:solidFill>
            <a:srgbClr val="DCFCE7"/>
          </a:solidFill>
          <a:ln/>
        </p:spPr>
        <p:txBody>
          <a:bodyPr wrap="square" rtlCol="0" anchor="ctr"/>
          <a:lstStyle/>
          <a:p>
            <a:pPr indent="0" marL="0">
              <a:buNone/>
            </a:pPr>
            <a:endParaRPr lang="en-US" dirty="0"/>
          </a:p>
        </p:txBody>
      </p:sp>
      <p:sp>
        <p:nvSpPr>
          <p:cNvPr id="6" name="Shape 4"/>
          <p:cNvSpPr/>
          <p:nvPr/>
        </p:nvSpPr>
        <p:spPr>
          <a:xfrm>
            <a:off x="400050" y="1360438"/>
            <a:ext cx="0" cy="1407468"/>
          </a:xfrm>
          <a:prstGeom prst="line">
            <a:avLst/>
          </a:prstGeom>
          <a:noFill/>
          <a:ln w="38100">
            <a:solidFill>
              <a:srgbClr val="059669"/>
            </a:solidFill>
            <a:prstDash val="solid"/>
          </a:ln>
        </p:spPr>
      </p:sp>
      <p:sp>
        <p:nvSpPr>
          <p:cNvPr id="7" name="Text 5"/>
          <p:cNvSpPr/>
          <p:nvPr/>
        </p:nvSpPr>
        <p:spPr>
          <a:xfrm>
            <a:off x="533400" y="1474738"/>
            <a:ext cx="2513127" cy="146596"/>
          </a:xfrm>
          <a:prstGeom prst="rect">
            <a:avLst/>
          </a:prstGeom>
          <a:noFill/>
          <a:ln/>
        </p:spPr>
        <p:txBody>
          <a:bodyPr wrap="square" lIns="0" tIns="0" rIns="0" bIns="0" rtlCol="0" anchor="t"/>
          <a:lstStyle/>
          <a:p>
            <a:pPr algn="l" indent="0" marL="0">
              <a:lnSpc>
                <a:spcPts val="1155"/>
              </a:lnSpc>
              <a:spcAft>
                <a:spcPts val="600"/>
              </a:spcAft>
              <a:buNone/>
            </a:pPr>
            <a:r>
              <a:rPr lang="en-US" sz="825" b="1" dirty="0">
                <a:solidFill>
                  <a:srgbClr val="059669"/>
                </a:solidFill>
                <a:latin typeface="Arial" pitchFamily="34" charset="0"/>
                <a:ea typeface="Arial" pitchFamily="34" charset="-122"/>
                <a:cs typeface="Arial" pitchFamily="34" charset="-120"/>
              </a:rPr>
              <a:t>LOCAL (SAFE)</a:t>
            </a:r>
            <a:endParaRPr lang="en-US" sz="825" dirty="0"/>
          </a:p>
        </p:txBody>
      </p:sp>
      <p:sp>
        <p:nvSpPr>
          <p:cNvPr id="8" name="Text 6"/>
          <p:cNvSpPr/>
          <p:nvPr/>
        </p:nvSpPr>
        <p:spPr>
          <a:xfrm>
            <a:off x="533400" y="1849934"/>
            <a:ext cx="2513127" cy="133350"/>
          </a:xfrm>
          <a:prstGeom prst="rect">
            <a:avLst/>
          </a:prstGeom>
          <a:noFill/>
          <a:ln/>
        </p:spPr>
        <p:txBody>
          <a:bodyPr wrap="square" lIns="0" tIns="0" rIns="0" bIns="0" rtlCol="0" anchor="t"/>
          <a:lstStyle/>
          <a:p>
            <a:pPr algn="l" indent="0" marL="0">
              <a:lnSpc>
                <a:spcPts val="1050"/>
              </a:lnSpc>
              <a:spcAft>
                <a:spcPts val="300"/>
              </a:spcAft>
              <a:buNone/>
            </a:pPr>
            <a:r>
              <a:rPr lang="en-US" sz="750" dirty="0">
                <a:solidFill>
                  <a:srgbClr val="166534"/>
                </a:solidFill>
                <a:latin typeface="Arial" pitchFamily="34" charset="0"/>
                <a:ea typeface="Arial" pitchFamily="34" charset="-122"/>
                <a:cs typeface="Arial" pitchFamily="34" charset="-120"/>
              </a:rPr>
              <a:t>Your Device Only</a:t>
            </a:r>
            <a:endParaRPr lang="en-US" sz="750" dirty="0"/>
          </a:p>
        </p:txBody>
      </p:sp>
      <p:sp>
        <p:nvSpPr>
          <p:cNvPr id="9" name="Text 7"/>
          <p:cNvSpPr/>
          <p:nvPr/>
        </p:nvSpPr>
        <p:spPr>
          <a:xfrm>
            <a:off x="533400" y="2173784"/>
            <a:ext cx="2513127" cy="479822"/>
          </a:xfrm>
          <a:prstGeom prst="rect">
            <a:avLst/>
          </a:prstGeom>
          <a:noFill/>
          <a:ln/>
        </p:spPr>
        <p:txBody>
          <a:bodyPr wrap="square" lIns="0" tIns="0" rIns="0" bIns="0" rtlCol="0" anchor="t"/>
          <a:lstStyle/>
          <a:p>
            <a:pPr algn="l" indent="0" marL="0">
              <a:lnSpc>
                <a:spcPts val="945"/>
              </a:lnSpc>
              <a:buNone/>
            </a:pPr>
            <a:r>
              <a:rPr lang="en-US" sz="675" dirty="0">
                <a:solidFill>
                  <a:srgbClr val="6B7280"/>
                </a:solidFill>
                <a:latin typeface="Arial" pitchFamily="34" charset="0"/>
                <a:ea typeface="Arial" pitchFamily="34" charset="-122"/>
                <a:cs typeface="Arial" pitchFamily="34" charset="-120"/>
              </a:rPr>
              <a:t>SuperWhisper local models</a:t>
            </a:r>
            <a:endParaRPr lang="en-US" sz="675" dirty="0"/>
          </a:p>
          <a:p>
            <a:pPr algn="l" indent="0" marL="0">
              <a:lnSpc>
                <a:spcPts val="945"/>
              </a:lnSpc>
              <a:buNone/>
            </a:pPr>
            <a:r>
              <a:rPr lang="en-US" sz="675" dirty="0">
                <a:solidFill>
                  <a:srgbClr val="6B7280"/>
                </a:solidFill>
                <a:latin typeface="Arial" pitchFamily="34" charset="0"/>
                <a:ea typeface="Arial" pitchFamily="34" charset="-122"/>
                <a:cs typeface="Arial" pitchFamily="34" charset="-120"/>
              </a:rPr>
              <a:t>Ollama local models</a:t>
            </a:r>
            <a:endParaRPr lang="en-US" sz="675" dirty="0"/>
          </a:p>
          <a:p>
            <a:pPr algn="l" indent="0" marL="0">
              <a:lnSpc>
                <a:spcPts val="945"/>
              </a:lnSpc>
              <a:buNone/>
            </a:pPr>
            <a:r>
              <a:rPr lang="en-US" sz="675" dirty="0">
                <a:solidFill>
                  <a:srgbClr val="6B7280"/>
                </a:solidFill>
                <a:latin typeface="Arial" pitchFamily="34" charset="0"/>
                <a:ea typeface="Arial" pitchFamily="34" charset="-122"/>
                <a:cs typeface="Arial" pitchFamily="34" charset="-120"/>
              </a:rPr>
              <a:t>Local file operations</a:t>
            </a:r>
            <a:endParaRPr lang="en-US" sz="675" dirty="0"/>
          </a:p>
          <a:p>
            <a:pPr algn="l" indent="0" marL="0">
              <a:lnSpc>
                <a:spcPts val="945"/>
              </a:lnSpc>
              <a:buNone/>
            </a:pPr>
            <a:r>
              <a:rPr lang="en-US" sz="675" dirty="0">
                <a:solidFill>
                  <a:srgbClr val="6B7280"/>
                </a:solidFill>
                <a:latin typeface="Arial" pitchFamily="34" charset="0"/>
                <a:ea typeface="Arial" pitchFamily="34" charset="-122"/>
                <a:cs typeface="Arial" pitchFamily="34" charset="-120"/>
              </a:rPr>
              <a:t>macOS dictation (on-device)</a:t>
            </a:r>
            <a:endParaRPr lang="en-US" sz="675" dirty="0"/>
          </a:p>
        </p:txBody>
      </p:sp>
      <p:sp>
        <p:nvSpPr>
          <p:cNvPr id="10" name="Text 8"/>
          <p:cNvSpPr/>
          <p:nvPr/>
        </p:nvSpPr>
        <p:spPr>
          <a:xfrm>
            <a:off x="3206800" y="1360438"/>
            <a:ext cx="2730550" cy="1407468"/>
          </a:xfrm>
          <a:prstGeom prst="rect">
            <a:avLst/>
          </a:prstGeom>
          <a:solidFill>
            <a:srgbClr val="FEF3C7"/>
          </a:solidFill>
          <a:ln/>
        </p:spPr>
        <p:txBody>
          <a:bodyPr wrap="square" rtlCol="0" anchor="ctr"/>
          <a:lstStyle/>
          <a:p>
            <a:pPr indent="0" marL="0">
              <a:buNone/>
            </a:pPr>
            <a:endParaRPr lang="en-US" dirty="0"/>
          </a:p>
        </p:txBody>
      </p:sp>
      <p:sp>
        <p:nvSpPr>
          <p:cNvPr id="11" name="Shape 9"/>
          <p:cNvSpPr/>
          <p:nvPr/>
        </p:nvSpPr>
        <p:spPr>
          <a:xfrm>
            <a:off x="3225850" y="1360438"/>
            <a:ext cx="0" cy="1407468"/>
          </a:xfrm>
          <a:prstGeom prst="line">
            <a:avLst/>
          </a:prstGeom>
          <a:noFill/>
          <a:ln w="38100">
            <a:solidFill>
              <a:srgbClr val="F59E0B"/>
            </a:solidFill>
            <a:prstDash val="solid"/>
          </a:ln>
        </p:spPr>
      </p:sp>
      <p:sp>
        <p:nvSpPr>
          <p:cNvPr id="12" name="Text 10"/>
          <p:cNvSpPr/>
          <p:nvPr/>
        </p:nvSpPr>
        <p:spPr>
          <a:xfrm>
            <a:off x="3359200" y="1474738"/>
            <a:ext cx="2513127" cy="146596"/>
          </a:xfrm>
          <a:prstGeom prst="rect">
            <a:avLst/>
          </a:prstGeom>
          <a:noFill/>
          <a:ln/>
        </p:spPr>
        <p:txBody>
          <a:bodyPr wrap="square" lIns="0" tIns="0" rIns="0" bIns="0" rtlCol="0" anchor="t"/>
          <a:lstStyle/>
          <a:p>
            <a:pPr algn="l" indent="0" marL="0">
              <a:lnSpc>
                <a:spcPts val="1155"/>
              </a:lnSpc>
              <a:spcAft>
                <a:spcPts val="600"/>
              </a:spcAft>
              <a:buNone/>
            </a:pPr>
            <a:r>
              <a:rPr lang="en-US" sz="825" b="1" dirty="0">
                <a:solidFill>
                  <a:srgbClr val="B45309"/>
                </a:solidFill>
                <a:latin typeface="Arial" pitchFamily="34" charset="0"/>
                <a:ea typeface="Arial" pitchFamily="34" charset="-122"/>
                <a:cs typeface="Arial" pitchFamily="34" charset="-120"/>
              </a:rPr>
              <a:t>CLOUD (VERIFY)</a:t>
            </a:r>
            <a:endParaRPr lang="en-US" sz="825" dirty="0"/>
          </a:p>
        </p:txBody>
      </p:sp>
      <p:sp>
        <p:nvSpPr>
          <p:cNvPr id="13" name="Text 11"/>
          <p:cNvSpPr/>
          <p:nvPr/>
        </p:nvSpPr>
        <p:spPr>
          <a:xfrm>
            <a:off x="3359200" y="1849934"/>
            <a:ext cx="2513127" cy="133350"/>
          </a:xfrm>
          <a:prstGeom prst="rect">
            <a:avLst/>
          </a:prstGeom>
          <a:noFill/>
          <a:ln/>
        </p:spPr>
        <p:txBody>
          <a:bodyPr wrap="square" lIns="0" tIns="0" rIns="0" bIns="0" rtlCol="0" anchor="t"/>
          <a:lstStyle/>
          <a:p>
            <a:pPr algn="l" indent="0" marL="0">
              <a:lnSpc>
                <a:spcPts val="1050"/>
              </a:lnSpc>
              <a:spcAft>
                <a:spcPts val="300"/>
              </a:spcAft>
              <a:buNone/>
            </a:pPr>
            <a:r>
              <a:rPr lang="en-US" sz="750" dirty="0">
                <a:solidFill>
                  <a:srgbClr val="92400E"/>
                </a:solidFill>
                <a:latin typeface="Arial" pitchFamily="34" charset="0"/>
                <a:ea typeface="Arial" pitchFamily="34" charset="-122"/>
                <a:cs typeface="Arial" pitchFamily="34" charset="-120"/>
              </a:rPr>
              <a:t>Enterprise Approved</a:t>
            </a:r>
            <a:endParaRPr lang="en-US" sz="750" dirty="0"/>
          </a:p>
        </p:txBody>
      </p:sp>
      <p:sp>
        <p:nvSpPr>
          <p:cNvPr id="14" name="Text 12"/>
          <p:cNvSpPr/>
          <p:nvPr/>
        </p:nvSpPr>
        <p:spPr>
          <a:xfrm>
            <a:off x="3359200" y="2173784"/>
            <a:ext cx="2513127" cy="479822"/>
          </a:xfrm>
          <a:prstGeom prst="rect">
            <a:avLst/>
          </a:prstGeom>
          <a:noFill/>
          <a:ln/>
        </p:spPr>
        <p:txBody>
          <a:bodyPr wrap="square" lIns="0" tIns="0" rIns="0" bIns="0" rtlCol="0" anchor="t"/>
          <a:lstStyle/>
          <a:p>
            <a:pPr algn="l" indent="0" marL="0">
              <a:lnSpc>
                <a:spcPts val="945"/>
              </a:lnSpc>
              <a:buNone/>
            </a:pPr>
            <a:r>
              <a:rPr lang="en-US" sz="675" dirty="0">
                <a:solidFill>
                  <a:srgbClr val="6B7280"/>
                </a:solidFill>
                <a:latin typeface="Arial" pitchFamily="34" charset="0"/>
                <a:ea typeface="Arial" pitchFamily="34" charset="-122"/>
                <a:cs typeface="Arial" pitchFamily="34" charset="-120"/>
              </a:rPr>
              <a:t>Azure OpenAI (with BAA)</a:t>
            </a:r>
            <a:endParaRPr lang="en-US" sz="675" dirty="0"/>
          </a:p>
          <a:p>
            <a:pPr algn="l" indent="0" marL="0">
              <a:lnSpc>
                <a:spcPts val="945"/>
              </a:lnSpc>
              <a:buNone/>
            </a:pPr>
            <a:r>
              <a:rPr lang="en-US" sz="675" dirty="0">
                <a:solidFill>
                  <a:srgbClr val="6B7280"/>
                </a:solidFill>
                <a:latin typeface="Arial" pitchFamily="34" charset="0"/>
                <a:ea typeface="Arial" pitchFamily="34" charset="-122"/>
                <a:cs typeface="Arial" pitchFamily="34" charset="-120"/>
              </a:rPr>
              <a:t>Azure AI Foundry</a:t>
            </a:r>
            <a:endParaRPr lang="en-US" sz="675" dirty="0"/>
          </a:p>
          <a:p>
            <a:pPr algn="l" indent="0" marL="0">
              <a:lnSpc>
                <a:spcPts val="945"/>
              </a:lnSpc>
              <a:buNone/>
            </a:pPr>
            <a:r>
              <a:rPr lang="en-US" sz="675" dirty="0">
                <a:solidFill>
                  <a:srgbClr val="6B7280"/>
                </a:solidFill>
                <a:latin typeface="Arial" pitchFamily="34" charset="0"/>
                <a:ea typeface="Arial" pitchFamily="34" charset="-122"/>
                <a:cs typeface="Arial" pitchFamily="34" charset="-120"/>
              </a:rPr>
              <a:t>GCC/GCC-High endpoints</a:t>
            </a:r>
            <a:endParaRPr lang="en-US" sz="675" dirty="0"/>
          </a:p>
          <a:p>
            <a:pPr algn="l" indent="0" marL="0">
              <a:lnSpc>
                <a:spcPts val="945"/>
              </a:lnSpc>
              <a:buNone/>
            </a:pPr>
            <a:r>
              <a:rPr lang="en-US" sz="675" dirty="0">
                <a:solidFill>
                  <a:srgbClr val="6B7280"/>
                </a:solidFill>
                <a:latin typeface="Arial" pitchFamily="34" charset="0"/>
                <a:ea typeface="Arial" pitchFamily="34" charset="-122"/>
                <a:cs typeface="Arial" pitchFamily="34" charset="-120"/>
              </a:rPr>
              <a:t>GitHub Enterprise</a:t>
            </a:r>
            <a:endParaRPr lang="en-US" sz="675" dirty="0"/>
          </a:p>
        </p:txBody>
      </p:sp>
      <p:sp>
        <p:nvSpPr>
          <p:cNvPr id="15" name="Text 13"/>
          <p:cNvSpPr/>
          <p:nvPr/>
        </p:nvSpPr>
        <p:spPr>
          <a:xfrm>
            <a:off x="6032599" y="1360438"/>
            <a:ext cx="2730550" cy="1407468"/>
          </a:xfrm>
          <a:prstGeom prst="rect">
            <a:avLst/>
          </a:prstGeom>
          <a:solidFill>
            <a:srgbClr val="FEF2F2"/>
          </a:solidFill>
          <a:ln/>
        </p:spPr>
        <p:txBody>
          <a:bodyPr wrap="square" rtlCol="0" anchor="ctr"/>
          <a:lstStyle/>
          <a:p>
            <a:pPr indent="0" marL="0">
              <a:buNone/>
            </a:pPr>
            <a:endParaRPr lang="en-US" dirty="0"/>
          </a:p>
        </p:txBody>
      </p:sp>
      <p:sp>
        <p:nvSpPr>
          <p:cNvPr id="16" name="Shape 14"/>
          <p:cNvSpPr/>
          <p:nvPr/>
        </p:nvSpPr>
        <p:spPr>
          <a:xfrm>
            <a:off x="6051649" y="1360438"/>
            <a:ext cx="0" cy="1407468"/>
          </a:xfrm>
          <a:prstGeom prst="line">
            <a:avLst/>
          </a:prstGeom>
          <a:noFill/>
          <a:ln w="38100">
            <a:solidFill>
              <a:srgbClr val="DC2626"/>
            </a:solidFill>
            <a:prstDash val="solid"/>
          </a:ln>
        </p:spPr>
      </p:sp>
      <p:sp>
        <p:nvSpPr>
          <p:cNvPr id="17" name="Text 15"/>
          <p:cNvSpPr/>
          <p:nvPr/>
        </p:nvSpPr>
        <p:spPr>
          <a:xfrm>
            <a:off x="6184999" y="1474738"/>
            <a:ext cx="2513127" cy="146596"/>
          </a:xfrm>
          <a:prstGeom prst="rect">
            <a:avLst/>
          </a:prstGeom>
          <a:noFill/>
          <a:ln/>
        </p:spPr>
        <p:txBody>
          <a:bodyPr wrap="square" lIns="0" tIns="0" rIns="0" bIns="0" rtlCol="0" anchor="t"/>
          <a:lstStyle/>
          <a:p>
            <a:pPr algn="l" indent="0" marL="0">
              <a:lnSpc>
                <a:spcPts val="1155"/>
              </a:lnSpc>
              <a:spcAft>
                <a:spcPts val="600"/>
              </a:spcAft>
              <a:buNone/>
            </a:pPr>
            <a:r>
              <a:rPr lang="en-US" sz="825" b="1" dirty="0">
                <a:solidFill>
                  <a:srgbClr val="DC2626"/>
                </a:solidFill>
                <a:latin typeface="Arial" pitchFamily="34" charset="0"/>
                <a:ea typeface="Arial" pitchFamily="34" charset="-122"/>
                <a:cs typeface="Arial" pitchFamily="34" charset="-120"/>
              </a:rPr>
              <a:t>PUBLIC (CAUTION)</a:t>
            </a:r>
            <a:endParaRPr lang="en-US" sz="825" dirty="0"/>
          </a:p>
        </p:txBody>
      </p:sp>
      <p:sp>
        <p:nvSpPr>
          <p:cNvPr id="18" name="Text 16"/>
          <p:cNvSpPr/>
          <p:nvPr/>
        </p:nvSpPr>
        <p:spPr>
          <a:xfrm>
            <a:off x="6184999" y="1849934"/>
            <a:ext cx="2513127" cy="133350"/>
          </a:xfrm>
          <a:prstGeom prst="rect">
            <a:avLst/>
          </a:prstGeom>
          <a:noFill/>
          <a:ln/>
        </p:spPr>
        <p:txBody>
          <a:bodyPr wrap="square" lIns="0" tIns="0" rIns="0" bIns="0" rtlCol="0" anchor="t"/>
          <a:lstStyle/>
          <a:p>
            <a:pPr algn="l" indent="0" marL="0">
              <a:lnSpc>
                <a:spcPts val="1050"/>
              </a:lnSpc>
              <a:spcAft>
                <a:spcPts val="300"/>
              </a:spcAft>
              <a:buNone/>
            </a:pPr>
            <a:r>
              <a:rPr lang="en-US" sz="750" dirty="0">
                <a:solidFill>
                  <a:srgbClr val="991B1B"/>
                </a:solidFill>
                <a:latin typeface="Arial" pitchFamily="34" charset="0"/>
                <a:ea typeface="Arial" pitchFamily="34" charset="-122"/>
                <a:cs typeface="Arial" pitchFamily="34" charset="-120"/>
              </a:rPr>
              <a:t>Not for PHI</a:t>
            </a:r>
            <a:endParaRPr lang="en-US" sz="750" dirty="0"/>
          </a:p>
        </p:txBody>
      </p:sp>
      <p:sp>
        <p:nvSpPr>
          <p:cNvPr id="19" name="Text 17"/>
          <p:cNvSpPr/>
          <p:nvPr/>
        </p:nvSpPr>
        <p:spPr>
          <a:xfrm>
            <a:off x="6184999" y="2173784"/>
            <a:ext cx="2513127" cy="479822"/>
          </a:xfrm>
          <a:prstGeom prst="rect">
            <a:avLst/>
          </a:prstGeom>
          <a:noFill/>
          <a:ln/>
        </p:spPr>
        <p:txBody>
          <a:bodyPr wrap="square" lIns="0" tIns="0" rIns="0" bIns="0" rtlCol="0" anchor="t"/>
          <a:lstStyle/>
          <a:p>
            <a:pPr algn="l" indent="0" marL="0">
              <a:lnSpc>
                <a:spcPts val="945"/>
              </a:lnSpc>
              <a:buNone/>
            </a:pPr>
            <a:r>
              <a:rPr lang="en-US" sz="675" dirty="0">
                <a:solidFill>
                  <a:srgbClr val="6B7280"/>
                </a:solidFill>
                <a:latin typeface="Arial" pitchFamily="34" charset="0"/>
                <a:ea typeface="Arial" pitchFamily="34" charset="-122"/>
                <a:cs typeface="Arial" pitchFamily="34" charset="-120"/>
              </a:rPr>
              <a:t>Wispr Flow (cloud-based)*</a:t>
            </a:r>
            <a:endParaRPr lang="en-US" sz="675" dirty="0"/>
          </a:p>
          <a:p>
            <a:pPr algn="l" indent="0" marL="0">
              <a:lnSpc>
                <a:spcPts val="945"/>
              </a:lnSpc>
              <a:buNone/>
            </a:pPr>
            <a:r>
              <a:rPr lang="en-US" sz="675" dirty="0">
                <a:solidFill>
                  <a:srgbClr val="6B7280"/>
                </a:solidFill>
                <a:latin typeface="Arial" pitchFamily="34" charset="0"/>
                <a:ea typeface="Arial" pitchFamily="34" charset="-122"/>
                <a:cs typeface="Arial" pitchFamily="34" charset="-120"/>
              </a:rPr>
              <a:t>OpenAI/Anthropic direct</a:t>
            </a:r>
            <a:endParaRPr lang="en-US" sz="675" dirty="0"/>
          </a:p>
          <a:p>
            <a:pPr algn="l" indent="0" marL="0">
              <a:lnSpc>
                <a:spcPts val="945"/>
              </a:lnSpc>
              <a:buNone/>
            </a:pPr>
            <a:r>
              <a:rPr lang="en-US" sz="675" dirty="0">
                <a:solidFill>
                  <a:srgbClr val="6B7280"/>
                </a:solidFill>
                <a:latin typeface="Arial" pitchFamily="34" charset="0"/>
                <a:ea typeface="Arial" pitchFamily="34" charset="-122"/>
                <a:cs typeface="Arial" pitchFamily="34" charset="-120"/>
              </a:rPr>
              <a:t>ChatGPT/Claude.ai free</a:t>
            </a:r>
            <a:endParaRPr lang="en-US" sz="675" dirty="0"/>
          </a:p>
          <a:p>
            <a:pPr algn="l" indent="0" marL="0">
              <a:lnSpc>
                <a:spcPts val="945"/>
              </a:lnSpc>
              <a:buNone/>
            </a:pPr>
            <a:r>
              <a:rPr lang="en-US" sz="675" dirty="0">
                <a:solidFill>
                  <a:srgbClr val="6B7280"/>
                </a:solidFill>
                <a:latin typeface="Arial" pitchFamily="34" charset="0"/>
                <a:ea typeface="Arial" pitchFamily="34" charset="-122"/>
                <a:cs typeface="Arial" pitchFamily="34" charset="-120"/>
              </a:rPr>
              <a:t>Default OS dictation</a:t>
            </a:r>
            <a:endParaRPr lang="en-US" sz="675" dirty="0"/>
          </a:p>
        </p:txBody>
      </p:sp>
      <p:sp>
        <p:nvSpPr>
          <p:cNvPr id="20" name="Text 18"/>
          <p:cNvSpPr/>
          <p:nvPr/>
        </p:nvSpPr>
        <p:spPr>
          <a:xfrm>
            <a:off x="381000" y="3034605"/>
            <a:ext cx="8382000" cy="1047601"/>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21" name="Text 19"/>
          <p:cNvSpPr/>
          <p:nvPr/>
        </p:nvSpPr>
        <p:spPr>
          <a:xfrm>
            <a:off x="542925" y="3196530"/>
            <a:ext cx="8219313" cy="146596"/>
          </a:xfrm>
          <a:prstGeom prst="rect">
            <a:avLst/>
          </a:prstGeom>
          <a:noFill/>
          <a:ln/>
        </p:spPr>
        <p:txBody>
          <a:bodyPr wrap="square" lIns="0" tIns="0" rIns="0" bIns="0" rtlCol="0" anchor="t"/>
          <a:lstStyle/>
          <a:p>
            <a:pPr algn="l" indent="0" marL="0">
              <a:lnSpc>
                <a:spcPts val="1155"/>
              </a:lnSpc>
              <a:spcAft>
                <a:spcPts val="750"/>
              </a:spcAft>
              <a:buNone/>
            </a:pPr>
            <a:r>
              <a:rPr lang="en-US" sz="825" b="1" dirty="0">
                <a:solidFill>
                  <a:srgbClr val="1A1F2E"/>
                </a:solidFill>
                <a:latin typeface="Arial" pitchFamily="34" charset="0"/>
                <a:ea typeface="Arial" pitchFamily="34" charset="-122"/>
                <a:cs typeface="Arial" pitchFamily="34" charset="-120"/>
              </a:rPr>
              <a:t>TYPICAL VOICE WORKFLOW DATA FLOW</a:t>
            </a:r>
            <a:endParaRPr lang="en-US" sz="825" dirty="0"/>
          </a:p>
        </p:txBody>
      </p:sp>
      <p:sp>
        <p:nvSpPr>
          <p:cNvPr id="22" name="Text 20"/>
          <p:cNvSpPr/>
          <p:nvPr/>
        </p:nvSpPr>
        <p:spPr>
          <a:xfrm>
            <a:off x="2590502" y="3447901"/>
            <a:ext cx="699939" cy="247650"/>
          </a:xfrm>
          <a:prstGeom prst="rect">
            <a:avLst/>
          </a:prstGeom>
          <a:solidFill>
            <a:srgbClr val="DCFCE7"/>
          </a:solidFill>
          <a:ln/>
        </p:spPr>
        <p:txBody>
          <a:bodyPr wrap="square" rtlCol="0" anchor="ctr"/>
          <a:lstStyle/>
          <a:p>
            <a:pPr indent="0" marL="0">
              <a:buNone/>
            </a:pPr>
            <a:endParaRPr lang="en-US" dirty="0"/>
          </a:p>
        </p:txBody>
      </p:sp>
      <p:sp>
        <p:nvSpPr>
          <p:cNvPr id="23" name="Text 21"/>
          <p:cNvSpPr/>
          <p:nvPr/>
        </p:nvSpPr>
        <p:spPr>
          <a:xfrm>
            <a:off x="2704802" y="3505051"/>
            <a:ext cx="480765" cy="133350"/>
          </a:xfrm>
          <a:prstGeom prst="rect">
            <a:avLst/>
          </a:prstGeom>
          <a:noFill/>
          <a:ln/>
        </p:spPr>
        <p:txBody>
          <a:bodyPr wrap="square" lIns="0" tIns="0" rIns="0" bIns="0" rtlCol="0" anchor="t"/>
          <a:lstStyle/>
          <a:p>
            <a:pPr algn="l" indent="0" marL="0">
              <a:lnSpc>
                <a:spcPts val="1050"/>
              </a:lnSpc>
              <a:buNone/>
            </a:pPr>
            <a:r>
              <a:rPr lang="en-US" sz="750" dirty="0">
                <a:solidFill>
                  <a:srgbClr val="166534"/>
                </a:solidFill>
                <a:latin typeface="Arial" pitchFamily="34" charset="0"/>
                <a:ea typeface="Arial" pitchFamily="34" charset="-122"/>
                <a:cs typeface="Arial" pitchFamily="34" charset="-120"/>
              </a:rPr>
              <a:t>Voice Input</a:t>
            </a:r>
            <a:endParaRPr lang="en-US" sz="750" dirty="0"/>
          </a:p>
        </p:txBody>
      </p:sp>
      <p:sp>
        <p:nvSpPr>
          <p:cNvPr id="24" name="Text 22"/>
          <p:cNvSpPr/>
          <p:nvPr/>
        </p:nvSpPr>
        <p:spPr>
          <a:xfrm>
            <a:off x="3347591" y="3438376"/>
            <a:ext cx="178219" cy="266700"/>
          </a:xfrm>
          <a:prstGeom prst="rect">
            <a:avLst/>
          </a:prstGeom>
          <a:noFill/>
          <a:ln/>
        </p:spPr>
        <p:txBody>
          <a:bodyPr wrap="square" lIns="0" tIns="0" rIns="0" bIns="0" rtlCol="0" anchor="t"/>
          <a:lstStyle/>
          <a:p>
            <a:pPr algn="l" indent="0" marL="0">
              <a:lnSpc>
                <a:spcPts val="2100"/>
              </a:lnSpc>
              <a:buNone/>
            </a:pPr>
            <a:r>
              <a:rPr lang="en-US" sz="1500" dirty="0">
                <a:solidFill>
                  <a:srgbClr val="6B7280"/>
                </a:solidFill>
                <a:latin typeface="Arial" pitchFamily="34" charset="0"/>
                <a:ea typeface="Arial" pitchFamily="34" charset="-122"/>
                <a:cs typeface="Arial" pitchFamily="34" charset="-120"/>
              </a:rPr>
              <a:t>-&gt;</a:t>
            </a:r>
            <a:endParaRPr lang="en-US" sz="1500" dirty="0"/>
          </a:p>
        </p:txBody>
      </p:sp>
      <p:sp>
        <p:nvSpPr>
          <p:cNvPr id="25" name="Text 23"/>
          <p:cNvSpPr/>
          <p:nvPr/>
        </p:nvSpPr>
        <p:spPr>
          <a:xfrm>
            <a:off x="3579465" y="3447901"/>
            <a:ext cx="832098" cy="247650"/>
          </a:xfrm>
          <a:prstGeom prst="rect">
            <a:avLst/>
          </a:prstGeom>
          <a:solidFill>
            <a:srgbClr val="DCFCE7"/>
          </a:solidFill>
          <a:ln/>
        </p:spPr>
        <p:txBody>
          <a:bodyPr wrap="square" rtlCol="0" anchor="ctr"/>
          <a:lstStyle/>
          <a:p>
            <a:pPr indent="0" marL="0">
              <a:buNone/>
            </a:pPr>
            <a:endParaRPr lang="en-US" dirty="0"/>
          </a:p>
        </p:txBody>
      </p:sp>
      <p:sp>
        <p:nvSpPr>
          <p:cNvPr id="26" name="Text 24"/>
          <p:cNvSpPr/>
          <p:nvPr/>
        </p:nvSpPr>
        <p:spPr>
          <a:xfrm>
            <a:off x="3693765" y="3505051"/>
            <a:ext cx="615568" cy="133350"/>
          </a:xfrm>
          <a:prstGeom prst="rect">
            <a:avLst/>
          </a:prstGeom>
          <a:noFill/>
          <a:ln/>
        </p:spPr>
        <p:txBody>
          <a:bodyPr wrap="square" lIns="0" tIns="0" rIns="0" bIns="0" rtlCol="0" anchor="t"/>
          <a:lstStyle/>
          <a:p>
            <a:pPr algn="l" indent="0" marL="0">
              <a:lnSpc>
                <a:spcPts val="1050"/>
              </a:lnSpc>
              <a:buNone/>
            </a:pPr>
            <a:r>
              <a:rPr lang="en-US" sz="750" dirty="0">
                <a:solidFill>
                  <a:srgbClr val="166534"/>
                </a:solidFill>
                <a:latin typeface="Arial" pitchFamily="34" charset="0"/>
                <a:ea typeface="Arial" pitchFamily="34" charset="-122"/>
                <a:cs typeface="Arial" pitchFamily="34" charset="-120"/>
              </a:rPr>
              <a:t>Local Whisper</a:t>
            </a:r>
            <a:endParaRPr lang="en-US" sz="750" dirty="0"/>
          </a:p>
        </p:txBody>
      </p:sp>
      <p:sp>
        <p:nvSpPr>
          <p:cNvPr id="27" name="Text 25"/>
          <p:cNvSpPr/>
          <p:nvPr/>
        </p:nvSpPr>
        <p:spPr>
          <a:xfrm>
            <a:off x="4468713" y="3438376"/>
            <a:ext cx="178219" cy="266700"/>
          </a:xfrm>
          <a:prstGeom prst="rect">
            <a:avLst/>
          </a:prstGeom>
          <a:noFill/>
          <a:ln/>
        </p:spPr>
        <p:txBody>
          <a:bodyPr wrap="square" lIns="0" tIns="0" rIns="0" bIns="0" rtlCol="0" anchor="t"/>
          <a:lstStyle/>
          <a:p>
            <a:pPr algn="l" indent="0" marL="0">
              <a:lnSpc>
                <a:spcPts val="2100"/>
              </a:lnSpc>
              <a:buNone/>
            </a:pPr>
            <a:r>
              <a:rPr lang="en-US" sz="1500" dirty="0">
                <a:solidFill>
                  <a:srgbClr val="6B7280"/>
                </a:solidFill>
                <a:latin typeface="Arial" pitchFamily="34" charset="0"/>
                <a:ea typeface="Arial" pitchFamily="34" charset="-122"/>
                <a:cs typeface="Arial" pitchFamily="34" charset="-120"/>
              </a:rPr>
              <a:t>-&gt;</a:t>
            </a:r>
            <a:endParaRPr lang="en-US" sz="1500" dirty="0"/>
          </a:p>
        </p:txBody>
      </p:sp>
      <p:sp>
        <p:nvSpPr>
          <p:cNvPr id="28" name="Text 26"/>
          <p:cNvSpPr/>
          <p:nvPr/>
        </p:nvSpPr>
        <p:spPr>
          <a:xfrm>
            <a:off x="4700588" y="3447901"/>
            <a:ext cx="853380" cy="247650"/>
          </a:xfrm>
          <a:prstGeom prst="rect">
            <a:avLst/>
          </a:prstGeom>
          <a:solidFill>
            <a:srgbClr val="FEF3C7"/>
          </a:solidFill>
          <a:ln/>
        </p:spPr>
        <p:txBody>
          <a:bodyPr wrap="square" rtlCol="0" anchor="ctr"/>
          <a:lstStyle/>
          <a:p>
            <a:pPr indent="0" marL="0">
              <a:buNone/>
            </a:pPr>
            <a:endParaRPr lang="en-US" dirty="0"/>
          </a:p>
        </p:txBody>
      </p:sp>
      <p:sp>
        <p:nvSpPr>
          <p:cNvPr id="29" name="Text 27"/>
          <p:cNvSpPr/>
          <p:nvPr/>
        </p:nvSpPr>
        <p:spPr>
          <a:xfrm>
            <a:off x="4814888" y="3505051"/>
            <a:ext cx="637276" cy="133350"/>
          </a:xfrm>
          <a:prstGeom prst="rect">
            <a:avLst/>
          </a:prstGeom>
          <a:noFill/>
          <a:ln/>
        </p:spPr>
        <p:txBody>
          <a:bodyPr wrap="square" lIns="0" tIns="0" rIns="0" bIns="0" rtlCol="0" anchor="t"/>
          <a:lstStyle/>
          <a:p>
            <a:pPr algn="l" indent="0" marL="0">
              <a:lnSpc>
                <a:spcPts val="1050"/>
              </a:lnSpc>
              <a:buNone/>
            </a:pPr>
            <a:r>
              <a:rPr lang="en-US" sz="750" dirty="0">
                <a:solidFill>
                  <a:srgbClr val="92400E"/>
                </a:solidFill>
                <a:latin typeface="Arial" pitchFamily="34" charset="0"/>
                <a:ea typeface="Arial" pitchFamily="34" charset="-122"/>
                <a:cs typeface="Arial" pitchFamily="34" charset="-120"/>
              </a:rPr>
              <a:t>AI Processing*</a:t>
            </a:r>
            <a:endParaRPr lang="en-US" sz="750" dirty="0"/>
          </a:p>
        </p:txBody>
      </p:sp>
      <p:sp>
        <p:nvSpPr>
          <p:cNvPr id="30" name="Text 28"/>
          <p:cNvSpPr/>
          <p:nvPr/>
        </p:nvSpPr>
        <p:spPr>
          <a:xfrm>
            <a:off x="5611118" y="3438376"/>
            <a:ext cx="178219" cy="266700"/>
          </a:xfrm>
          <a:prstGeom prst="rect">
            <a:avLst/>
          </a:prstGeom>
          <a:noFill/>
          <a:ln/>
        </p:spPr>
        <p:txBody>
          <a:bodyPr wrap="square" lIns="0" tIns="0" rIns="0" bIns="0" rtlCol="0" anchor="t"/>
          <a:lstStyle/>
          <a:p>
            <a:pPr algn="l" indent="0" marL="0">
              <a:lnSpc>
                <a:spcPts val="2100"/>
              </a:lnSpc>
              <a:buNone/>
            </a:pPr>
            <a:r>
              <a:rPr lang="en-US" sz="1500" dirty="0">
                <a:solidFill>
                  <a:srgbClr val="6B7280"/>
                </a:solidFill>
                <a:latin typeface="Arial" pitchFamily="34" charset="0"/>
                <a:ea typeface="Arial" pitchFamily="34" charset="-122"/>
                <a:cs typeface="Arial" pitchFamily="34" charset="-120"/>
              </a:rPr>
              <a:t>-&gt;</a:t>
            </a:r>
            <a:endParaRPr lang="en-US" sz="1500" dirty="0"/>
          </a:p>
        </p:txBody>
      </p:sp>
      <p:sp>
        <p:nvSpPr>
          <p:cNvPr id="31" name="Text 29"/>
          <p:cNvSpPr/>
          <p:nvPr/>
        </p:nvSpPr>
        <p:spPr>
          <a:xfrm>
            <a:off x="5842992" y="3447901"/>
            <a:ext cx="710505" cy="247650"/>
          </a:xfrm>
          <a:prstGeom prst="rect">
            <a:avLst/>
          </a:prstGeom>
          <a:solidFill>
            <a:srgbClr val="DCFCE7"/>
          </a:solidFill>
          <a:ln/>
        </p:spPr>
        <p:txBody>
          <a:bodyPr wrap="square" rtlCol="0" anchor="ctr"/>
          <a:lstStyle/>
          <a:p>
            <a:pPr indent="0" marL="0">
              <a:buNone/>
            </a:pPr>
            <a:endParaRPr lang="en-US" dirty="0"/>
          </a:p>
        </p:txBody>
      </p:sp>
      <p:sp>
        <p:nvSpPr>
          <p:cNvPr id="32" name="Text 30"/>
          <p:cNvSpPr/>
          <p:nvPr/>
        </p:nvSpPr>
        <p:spPr>
          <a:xfrm>
            <a:off x="5957292" y="3505051"/>
            <a:ext cx="491544" cy="133350"/>
          </a:xfrm>
          <a:prstGeom prst="rect">
            <a:avLst/>
          </a:prstGeom>
          <a:noFill/>
          <a:ln/>
        </p:spPr>
        <p:txBody>
          <a:bodyPr wrap="square" lIns="0" tIns="0" rIns="0" bIns="0" rtlCol="0" anchor="t"/>
          <a:lstStyle/>
          <a:p>
            <a:pPr algn="l" indent="0" marL="0">
              <a:lnSpc>
                <a:spcPts val="1050"/>
              </a:lnSpc>
              <a:buNone/>
            </a:pPr>
            <a:r>
              <a:rPr lang="en-US" sz="750" dirty="0">
                <a:solidFill>
                  <a:srgbClr val="166534"/>
                </a:solidFill>
                <a:latin typeface="Arial" pitchFamily="34" charset="0"/>
                <a:ea typeface="Arial" pitchFamily="34" charset="-122"/>
                <a:cs typeface="Arial" pitchFamily="34" charset="-120"/>
              </a:rPr>
              <a:t>Local Code</a:t>
            </a:r>
            <a:endParaRPr lang="en-US" sz="750" dirty="0"/>
          </a:p>
        </p:txBody>
      </p:sp>
      <p:sp>
        <p:nvSpPr>
          <p:cNvPr id="33" name="Text 31"/>
          <p:cNvSpPr/>
          <p:nvPr/>
        </p:nvSpPr>
        <p:spPr>
          <a:xfrm>
            <a:off x="462344" y="3800326"/>
            <a:ext cx="8219313" cy="119955"/>
          </a:xfrm>
          <a:prstGeom prst="rect">
            <a:avLst/>
          </a:prstGeom>
          <a:noFill/>
          <a:ln/>
        </p:spPr>
        <p:txBody>
          <a:bodyPr wrap="square" lIns="0" tIns="0" rIns="0" bIns="0" rtlCol="0" anchor="t"/>
          <a:lstStyle/>
          <a:p>
            <a:pPr algn="ctr" indent="0" marL="0">
              <a:lnSpc>
                <a:spcPts val="945"/>
              </a:lnSpc>
              <a:spcBef>
                <a:spcPts val="750"/>
              </a:spcBef>
              <a:buNone/>
            </a:pPr>
            <a:r>
              <a:rPr lang="en-US" sz="675" dirty="0">
                <a:solidFill>
                  <a:srgbClr val="6B7280"/>
                </a:solidFill>
                <a:latin typeface="Arial" pitchFamily="34" charset="0"/>
                <a:ea typeface="Arial" pitchFamily="34" charset="-122"/>
                <a:cs typeface="Arial" pitchFamily="34" charset="-120"/>
              </a:rPr>
              <a:t>*Wispr Flow Privacy Mode = zero retention, but audio still sent to cloud servers</a:t>
            </a:r>
            <a:endParaRPr lang="en-US" sz="675" dirty="0"/>
          </a:p>
        </p:txBody>
      </p:sp>
      <p:sp>
        <p:nvSpPr>
          <p:cNvPr id="34" name="Text 32"/>
          <p:cNvSpPr/>
          <p:nvPr/>
        </p:nvSpPr>
        <p:spPr>
          <a:xfrm>
            <a:off x="381000" y="4348907"/>
            <a:ext cx="8382000" cy="375196"/>
          </a:xfrm>
          <a:prstGeom prst="rect">
            <a:avLst/>
          </a:prstGeom>
          <a:solidFill>
            <a:srgbClr val="1A1F2E"/>
          </a:solidFill>
          <a:ln/>
        </p:spPr>
        <p:txBody>
          <a:bodyPr wrap="square" rtlCol="0" anchor="ctr"/>
          <a:lstStyle/>
          <a:p>
            <a:pPr indent="0" marL="0">
              <a:buNone/>
            </a:pPr>
            <a:endParaRPr lang="en-US" dirty="0"/>
          </a:p>
        </p:txBody>
      </p:sp>
      <p:sp>
        <p:nvSpPr>
          <p:cNvPr id="35" name="Text 33"/>
          <p:cNvSpPr/>
          <p:nvPr/>
        </p:nvSpPr>
        <p:spPr>
          <a:xfrm>
            <a:off x="413766" y="4463207"/>
            <a:ext cx="8316468" cy="146596"/>
          </a:xfrm>
          <a:prstGeom prst="rect">
            <a:avLst/>
          </a:prstGeom>
          <a:noFill/>
          <a:ln/>
        </p:spPr>
        <p:txBody>
          <a:bodyPr wrap="square" lIns="0" tIns="0" rIns="0" bIns="0" rtlCol="0" anchor="t"/>
          <a:lstStyle/>
          <a:p>
            <a:pPr algn="ctr" indent="0" marL="0">
              <a:lnSpc>
                <a:spcPts val="1155"/>
              </a:lnSpc>
              <a:buNone/>
            </a:pPr>
            <a:r>
              <a:rPr lang="en-US" sz="825" b="1" dirty="0">
                <a:solidFill>
                  <a:srgbClr val="C9A227"/>
                </a:solidFill>
                <a:latin typeface="Arial" pitchFamily="34" charset="0"/>
                <a:ea typeface="Arial" pitchFamily="34" charset="-122"/>
                <a:cs typeface="Arial" pitchFamily="34" charset="-120"/>
              </a:rPr>
              <a:t>Always know where your data flows before including sensitive information</a:t>
            </a:r>
            <a:endParaRPr lang="en-US" sz="825"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4047679" cy="5143500"/>
          </a:xfrm>
          <a:prstGeom prst="rect">
            <a:avLst/>
          </a:prstGeom>
          <a:solidFill>
            <a:srgbClr val="DC2626"/>
          </a:solidFill>
          <a:ln/>
        </p:spPr>
        <p:txBody>
          <a:bodyPr wrap="square" rtlCol="0" anchor="ctr"/>
          <a:lstStyle/>
          <a:p>
            <a:pPr indent="0" marL="0">
              <a:buNone/>
            </a:pPr>
            <a:endParaRPr lang="en-US" dirty="0"/>
          </a:p>
        </p:txBody>
      </p:sp>
      <p:sp>
        <p:nvSpPr>
          <p:cNvPr id="3" name="Text 1"/>
          <p:cNvSpPr/>
          <p:nvPr/>
        </p:nvSpPr>
        <p:spPr>
          <a:xfrm>
            <a:off x="381000" y="1331714"/>
            <a:ext cx="762000" cy="762000"/>
          </a:xfrm>
          <a:prstGeom prst="rect">
            <a:avLst/>
          </a:prstGeom>
          <a:solidFill>
            <a:srgbClr val="FFFFFF"/>
          </a:solidFill>
          <a:ln/>
        </p:spPr>
        <p:txBody>
          <a:bodyPr wrap="square" rtlCol="0" anchor="ctr"/>
          <a:lstStyle/>
          <a:p>
            <a:pPr indent="0" marL="0">
              <a:buNone/>
            </a:pPr>
            <a:endParaRPr lang="en-US" dirty="0"/>
          </a:p>
        </p:txBody>
      </p:sp>
      <p:sp>
        <p:nvSpPr>
          <p:cNvPr id="4" name="Text 2"/>
          <p:cNvSpPr/>
          <p:nvPr/>
        </p:nvSpPr>
        <p:spPr>
          <a:xfrm>
            <a:off x="675829" y="1392734"/>
            <a:ext cx="175638" cy="639961"/>
          </a:xfrm>
          <a:prstGeom prst="rect">
            <a:avLst/>
          </a:prstGeom>
          <a:noFill/>
          <a:ln/>
        </p:spPr>
        <p:txBody>
          <a:bodyPr wrap="square" lIns="0" tIns="0" rIns="0" bIns="0" rtlCol="0" anchor="t"/>
          <a:lstStyle/>
          <a:p>
            <a:pPr algn="l" indent="0" marL="0">
              <a:lnSpc>
                <a:spcPts val="5040"/>
              </a:lnSpc>
              <a:buNone/>
            </a:pPr>
            <a:r>
              <a:rPr lang="en-US" sz="3600" b="1" dirty="0">
                <a:solidFill>
                  <a:srgbClr val="DC2626"/>
                </a:solidFill>
                <a:latin typeface="Georgia" pitchFamily="34" charset="0"/>
                <a:ea typeface="Georgia" pitchFamily="34" charset="-122"/>
                <a:cs typeface="Georgia" pitchFamily="34" charset="-120"/>
              </a:rPr>
              <a:t>!</a:t>
            </a:r>
            <a:endParaRPr lang="en-US" sz="3600" dirty="0"/>
          </a:p>
        </p:txBody>
      </p:sp>
      <p:sp>
        <p:nvSpPr>
          <p:cNvPr id="5" name="Text 3"/>
          <p:cNvSpPr/>
          <p:nvPr/>
        </p:nvSpPr>
        <p:spPr>
          <a:xfrm>
            <a:off x="381000" y="2436614"/>
            <a:ext cx="2487168" cy="319980"/>
          </a:xfrm>
          <a:prstGeom prst="rect">
            <a:avLst/>
          </a:prstGeom>
          <a:noFill/>
          <a:ln/>
        </p:spPr>
        <p:txBody>
          <a:bodyPr wrap="square" lIns="0" tIns="0" rIns="0" bIns="0" rtlCol="0" anchor="t"/>
          <a:lstStyle/>
          <a:p>
            <a:pPr algn="l" indent="0" marL="0">
              <a:lnSpc>
                <a:spcPts val="2520"/>
              </a:lnSpc>
              <a:spcAft>
                <a:spcPts val="1200"/>
              </a:spcAft>
              <a:buNone/>
            </a:pPr>
            <a:r>
              <a:rPr lang="en-US" sz="2100" dirty="0">
                <a:solidFill>
                  <a:srgbClr val="FFFFFF"/>
                </a:solidFill>
                <a:latin typeface="Georgia" pitchFamily="34" charset="0"/>
                <a:ea typeface="Georgia" pitchFamily="34" charset="-122"/>
                <a:cs typeface="Georgia" pitchFamily="34" charset="-120"/>
              </a:rPr>
              <a:t>PHI Handling Guide</a:t>
            </a:r>
            <a:endParaRPr lang="en-US" sz="2100" dirty="0"/>
          </a:p>
        </p:txBody>
      </p:sp>
      <p:sp>
        <p:nvSpPr>
          <p:cNvPr id="6" name="Text 4"/>
          <p:cNvSpPr/>
          <p:nvPr/>
        </p:nvSpPr>
        <p:spPr>
          <a:xfrm>
            <a:off x="381000" y="3061395"/>
            <a:ext cx="457200" cy="19050"/>
          </a:xfrm>
          <a:prstGeom prst="rect">
            <a:avLst/>
          </a:prstGeom>
          <a:solidFill>
            <a:srgbClr val="FFFFFF"/>
          </a:solidFill>
          <a:ln/>
        </p:spPr>
        <p:txBody>
          <a:bodyPr wrap="square" rtlCol="0" anchor="ctr"/>
          <a:lstStyle/>
          <a:p>
            <a:pPr indent="0" marL="0">
              <a:buNone/>
            </a:pPr>
            <a:endParaRPr lang="en-US" dirty="0"/>
          </a:p>
        </p:txBody>
      </p:sp>
      <p:sp>
        <p:nvSpPr>
          <p:cNvPr id="7" name="Text 5"/>
          <p:cNvSpPr/>
          <p:nvPr/>
        </p:nvSpPr>
        <p:spPr>
          <a:xfrm>
            <a:off x="381000" y="3385245"/>
            <a:ext cx="3351392" cy="426541"/>
          </a:xfrm>
          <a:prstGeom prst="rect">
            <a:avLst/>
          </a:prstGeom>
          <a:noFill/>
          <a:ln/>
        </p:spPr>
        <p:txBody>
          <a:bodyPr wrap="square" lIns="0" tIns="0" rIns="0" bIns="0" rtlCol="0" anchor="t"/>
          <a:lstStyle/>
          <a:p>
            <a:pPr algn="l" indent="0" marL="0">
              <a:lnSpc>
                <a:spcPts val="1680"/>
              </a:lnSpc>
              <a:buNone/>
            </a:pPr>
            <a:r>
              <a:rPr lang="en-US" sz="1050" dirty="0">
                <a:solidFill>
                  <a:srgbClr val="FFFFFF">
                    <a:alpha val="90000"/>
                  </a:srgbClr>
                </a:solidFill>
                <a:latin typeface="Arial" pitchFamily="34" charset="0"/>
                <a:ea typeface="Arial" pitchFamily="34" charset="-122"/>
                <a:cs typeface="Arial" pitchFamily="34" charset="-120"/>
              </a:rPr>
              <a:t>Protected Health Information requires special handling. Know your boundaries.</a:t>
            </a:r>
            <a:endParaRPr lang="en-US" sz="1050" dirty="0"/>
          </a:p>
        </p:txBody>
      </p:sp>
      <p:sp>
        <p:nvSpPr>
          <p:cNvPr id="8" name="Text 6"/>
          <p:cNvSpPr/>
          <p:nvPr/>
        </p:nvSpPr>
        <p:spPr>
          <a:xfrm>
            <a:off x="4200079" y="0"/>
            <a:ext cx="4943921" cy="5143500"/>
          </a:xfrm>
          <a:prstGeom prst="rect">
            <a:avLst/>
          </a:prstGeom>
          <a:solidFill>
            <a:srgbClr val="F7F8FA"/>
          </a:solidFill>
          <a:ln/>
        </p:spPr>
        <p:txBody>
          <a:bodyPr wrap="square" rtlCol="0" anchor="ctr"/>
          <a:lstStyle/>
          <a:p>
            <a:pPr indent="0" marL="0">
              <a:buNone/>
            </a:pPr>
            <a:endParaRPr lang="en-US" dirty="0"/>
          </a:p>
        </p:txBody>
      </p:sp>
      <p:sp>
        <p:nvSpPr>
          <p:cNvPr id="9" name="Text 7"/>
          <p:cNvSpPr/>
          <p:nvPr/>
        </p:nvSpPr>
        <p:spPr>
          <a:xfrm>
            <a:off x="4581079" y="404366"/>
            <a:ext cx="4181921" cy="1331119"/>
          </a:xfrm>
          <a:prstGeom prst="rect">
            <a:avLst/>
          </a:prstGeom>
          <a:solidFill>
            <a:srgbClr val="059669"/>
          </a:solidFill>
          <a:ln/>
        </p:spPr>
        <p:txBody>
          <a:bodyPr wrap="square" rtlCol="0" anchor="ctr"/>
          <a:lstStyle/>
          <a:p>
            <a:pPr indent="0" marL="0">
              <a:buNone/>
            </a:pPr>
            <a:endParaRPr lang="en-US" dirty="0"/>
          </a:p>
        </p:txBody>
      </p:sp>
      <p:sp>
        <p:nvSpPr>
          <p:cNvPr id="10" name="Text 8"/>
          <p:cNvSpPr/>
          <p:nvPr/>
        </p:nvSpPr>
        <p:spPr>
          <a:xfrm>
            <a:off x="4733479" y="556766"/>
            <a:ext cx="3954664" cy="173236"/>
          </a:xfrm>
          <a:prstGeom prst="rect">
            <a:avLst/>
          </a:prstGeom>
          <a:noFill/>
          <a:ln/>
        </p:spPr>
        <p:txBody>
          <a:bodyPr wrap="square" lIns="0" tIns="0" rIns="0" bIns="0" rtlCol="0" anchor="t"/>
          <a:lstStyle/>
          <a:p>
            <a:pPr algn="l" indent="0" marL="0">
              <a:lnSpc>
                <a:spcPts val="1365"/>
              </a:lnSpc>
              <a:spcAft>
                <a:spcPts val="600"/>
              </a:spcAft>
              <a:buNone/>
            </a:pPr>
            <a:r>
              <a:rPr lang="en-US" sz="975" b="1" dirty="0">
                <a:solidFill>
                  <a:srgbClr val="FFFFFF"/>
                </a:solidFill>
                <a:latin typeface="Arial" pitchFamily="34" charset="0"/>
                <a:ea typeface="Arial" pitchFamily="34" charset="-122"/>
                <a:cs typeface="Arial" pitchFamily="34" charset="-120"/>
              </a:rPr>
              <a:t>SAFE FOR PHI</a:t>
            </a:r>
            <a:endParaRPr lang="en-US" sz="975" dirty="0"/>
          </a:p>
        </p:txBody>
      </p:sp>
      <p:sp>
        <p:nvSpPr>
          <p:cNvPr id="11" name="Text 9"/>
          <p:cNvSpPr/>
          <p:nvPr/>
        </p:nvSpPr>
        <p:spPr>
          <a:xfrm>
            <a:off x="4733479" y="806202"/>
            <a:ext cx="3954664" cy="776883"/>
          </a:xfrm>
          <a:prstGeom prst="rect">
            <a:avLst/>
          </a:prstGeom>
          <a:noFill/>
          <a:ln/>
        </p:spPr>
        <p:txBody>
          <a:bodyPr wrap="square" lIns="0" tIns="0" rIns="0" bIns="0" rtlCol="0" anchor="t"/>
          <a:lstStyle/>
          <a:p>
            <a:pPr algn="l" indent="0" marL="0">
              <a:lnSpc>
                <a:spcPts val="1530"/>
              </a:lnSpc>
              <a:buNone/>
            </a:pPr>
            <a:r>
              <a:rPr lang="en-US" sz="900" dirty="0">
                <a:solidFill>
                  <a:srgbClr val="FFFFFF">
                    <a:alpha val="90000"/>
                  </a:srgbClr>
                </a:solidFill>
                <a:latin typeface="Arial" pitchFamily="34" charset="0"/>
                <a:ea typeface="Arial" pitchFamily="34" charset="-122"/>
                <a:cs typeface="Arial" pitchFamily="34" charset="-120"/>
              </a:rPr>
              <a:t>SuperWhisper with local models (FREE tier works!)</a:t>
            </a:r>
            <a:endParaRPr lang="en-US" sz="900" dirty="0"/>
          </a:p>
          <a:p>
            <a:pPr algn="l" indent="0" marL="0">
              <a:lnSpc>
                <a:spcPts val="1530"/>
              </a:lnSpc>
              <a:buNone/>
            </a:pPr>
            <a:r>
              <a:rPr lang="en-US" sz="900" dirty="0">
                <a:solidFill>
                  <a:srgbClr val="FFFFFF">
                    <a:alpha val="90000"/>
                  </a:srgbClr>
                </a:solidFill>
                <a:latin typeface="Arial" pitchFamily="34" charset="0"/>
                <a:ea typeface="Arial" pitchFamily="34" charset="-122"/>
                <a:cs typeface="Arial" pitchFamily="34" charset="-120"/>
              </a:rPr>
              <a:t>Ollama with local models</a:t>
            </a:r>
            <a:endParaRPr lang="en-US" sz="900" dirty="0"/>
          </a:p>
          <a:p>
            <a:pPr algn="l" indent="0" marL="0">
              <a:lnSpc>
                <a:spcPts val="1530"/>
              </a:lnSpc>
              <a:buNone/>
            </a:pPr>
            <a:r>
              <a:rPr lang="en-US" sz="900" dirty="0">
                <a:solidFill>
                  <a:srgbClr val="FFFFFF">
                    <a:alpha val="90000"/>
                  </a:srgbClr>
                </a:solidFill>
                <a:latin typeface="Arial" pitchFamily="34" charset="0"/>
                <a:ea typeface="Arial" pitchFamily="34" charset="-122"/>
                <a:cs typeface="Arial" pitchFamily="34" charset="-120"/>
              </a:rPr>
              <a:t>Azure OpenAI with BAA in place*</a:t>
            </a:r>
            <a:endParaRPr lang="en-US" sz="900" dirty="0"/>
          </a:p>
          <a:p>
            <a:pPr algn="l" indent="0" marL="0">
              <a:lnSpc>
                <a:spcPts val="1530"/>
              </a:lnSpc>
              <a:buNone/>
            </a:pPr>
            <a:r>
              <a:rPr lang="en-US" sz="900" dirty="0">
                <a:solidFill>
                  <a:srgbClr val="FFFFFF">
                    <a:alpha val="90000"/>
                  </a:srgbClr>
                </a:solidFill>
                <a:latin typeface="Arial" pitchFamily="34" charset="0"/>
                <a:ea typeface="Arial" pitchFamily="34" charset="-122"/>
                <a:cs typeface="Arial" pitchFamily="34" charset="-120"/>
              </a:rPr>
              <a:t>Air-gapped systems</a:t>
            </a:r>
            <a:endParaRPr lang="en-US" sz="900" dirty="0"/>
          </a:p>
        </p:txBody>
      </p:sp>
      <p:sp>
        <p:nvSpPr>
          <p:cNvPr id="12" name="Text 10"/>
          <p:cNvSpPr/>
          <p:nvPr/>
        </p:nvSpPr>
        <p:spPr>
          <a:xfrm>
            <a:off x="4581079" y="1849785"/>
            <a:ext cx="4181921" cy="1331119"/>
          </a:xfrm>
          <a:prstGeom prst="rect">
            <a:avLst/>
          </a:prstGeom>
          <a:solidFill>
            <a:srgbClr val="FEF2F2"/>
          </a:solidFill>
          <a:ln/>
        </p:spPr>
        <p:txBody>
          <a:bodyPr wrap="square" rtlCol="0" anchor="ctr"/>
          <a:lstStyle/>
          <a:p>
            <a:pPr indent="0" marL="0">
              <a:buNone/>
            </a:pPr>
            <a:endParaRPr lang="en-US" dirty="0"/>
          </a:p>
        </p:txBody>
      </p:sp>
      <p:sp>
        <p:nvSpPr>
          <p:cNvPr id="13" name="Shape 11"/>
          <p:cNvSpPr/>
          <p:nvPr/>
        </p:nvSpPr>
        <p:spPr>
          <a:xfrm>
            <a:off x="4600129" y="1849785"/>
            <a:ext cx="0" cy="1331119"/>
          </a:xfrm>
          <a:prstGeom prst="line">
            <a:avLst/>
          </a:prstGeom>
          <a:noFill/>
          <a:ln w="38100">
            <a:solidFill>
              <a:srgbClr val="DC2626"/>
            </a:solidFill>
            <a:prstDash val="solid"/>
          </a:ln>
        </p:spPr>
      </p:sp>
      <p:sp>
        <p:nvSpPr>
          <p:cNvPr id="14" name="Text 12"/>
          <p:cNvSpPr/>
          <p:nvPr/>
        </p:nvSpPr>
        <p:spPr>
          <a:xfrm>
            <a:off x="4771579" y="2002185"/>
            <a:ext cx="3915802" cy="173236"/>
          </a:xfrm>
          <a:prstGeom prst="rect">
            <a:avLst/>
          </a:prstGeom>
          <a:noFill/>
          <a:ln/>
        </p:spPr>
        <p:txBody>
          <a:bodyPr wrap="square" lIns="0" tIns="0" rIns="0" bIns="0" rtlCol="0" anchor="t"/>
          <a:lstStyle/>
          <a:p>
            <a:pPr algn="l" indent="0" marL="0">
              <a:lnSpc>
                <a:spcPts val="1365"/>
              </a:lnSpc>
              <a:spcAft>
                <a:spcPts val="600"/>
              </a:spcAft>
              <a:buNone/>
            </a:pPr>
            <a:r>
              <a:rPr lang="en-US" sz="975" b="1" dirty="0">
                <a:solidFill>
                  <a:srgbClr val="991B1B"/>
                </a:solidFill>
                <a:latin typeface="Arial" pitchFamily="34" charset="0"/>
                <a:ea typeface="Arial" pitchFamily="34" charset="-122"/>
                <a:cs typeface="Arial" pitchFamily="34" charset="-120"/>
              </a:rPr>
              <a:t>NOT SAFE FOR PHI (without approval)</a:t>
            </a:r>
            <a:endParaRPr lang="en-US" sz="975" dirty="0"/>
          </a:p>
        </p:txBody>
      </p:sp>
      <p:sp>
        <p:nvSpPr>
          <p:cNvPr id="15" name="Text 13"/>
          <p:cNvSpPr/>
          <p:nvPr/>
        </p:nvSpPr>
        <p:spPr>
          <a:xfrm>
            <a:off x="4771579" y="2251621"/>
            <a:ext cx="3915802" cy="776883"/>
          </a:xfrm>
          <a:prstGeom prst="rect">
            <a:avLst/>
          </a:prstGeom>
          <a:noFill/>
          <a:ln/>
        </p:spPr>
        <p:txBody>
          <a:bodyPr wrap="square" lIns="0" tIns="0" rIns="0" bIns="0" rtlCol="0" anchor="t"/>
          <a:lstStyle/>
          <a:p>
            <a:pPr algn="l" indent="0" marL="0">
              <a:lnSpc>
                <a:spcPts val="1530"/>
              </a:lnSpc>
              <a:buNone/>
            </a:pPr>
            <a:r>
              <a:rPr lang="en-US" sz="900" dirty="0">
                <a:solidFill>
                  <a:srgbClr val="991B1B"/>
                </a:solidFill>
                <a:latin typeface="Arial" pitchFamily="34" charset="0"/>
                <a:ea typeface="Arial" pitchFamily="34" charset="-122"/>
                <a:cs typeface="Arial" pitchFamily="34" charset="-120"/>
              </a:rPr>
              <a:t>Wispr Flow (cloud-based, even with Privacy Mode)</a:t>
            </a:r>
            <a:endParaRPr lang="en-US" sz="900" dirty="0"/>
          </a:p>
          <a:p>
            <a:pPr algn="l" indent="0" marL="0">
              <a:lnSpc>
                <a:spcPts val="1530"/>
              </a:lnSpc>
              <a:buNone/>
            </a:pPr>
            <a:r>
              <a:rPr lang="en-US" sz="900" dirty="0">
                <a:solidFill>
                  <a:srgbClr val="991B1B"/>
                </a:solidFill>
                <a:latin typeface="Arial" pitchFamily="34" charset="0"/>
                <a:ea typeface="Arial" pitchFamily="34" charset="-122"/>
                <a:cs typeface="Arial" pitchFamily="34" charset="-120"/>
              </a:rPr>
              <a:t>Direct OpenAI/Anthropic API calls</a:t>
            </a:r>
            <a:endParaRPr lang="en-US" sz="900" dirty="0"/>
          </a:p>
          <a:p>
            <a:pPr algn="l" indent="0" marL="0">
              <a:lnSpc>
                <a:spcPts val="1530"/>
              </a:lnSpc>
              <a:buNone/>
            </a:pPr>
            <a:r>
              <a:rPr lang="en-US" sz="900" dirty="0">
                <a:solidFill>
                  <a:srgbClr val="991B1B"/>
                </a:solidFill>
                <a:latin typeface="Arial" pitchFamily="34" charset="0"/>
                <a:ea typeface="Arial" pitchFamily="34" charset="-122"/>
                <a:cs typeface="Arial" pitchFamily="34" charset="-120"/>
              </a:rPr>
              <a:t>Consumer AI tools (ChatGPT, Claude.ai free)</a:t>
            </a:r>
            <a:endParaRPr lang="en-US" sz="900" dirty="0"/>
          </a:p>
          <a:p>
            <a:pPr algn="l" indent="0" marL="0">
              <a:lnSpc>
                <a:spcPts val="1530"/>
              </a:lnSpc>
              <a:buNone/>
            </a:pPr>
            <a:r>
              <a:rPr lang="en-US" sz="900" dirty="0">
                <a:solidFill>
                  <a:srgbClr val="991B1B"/>
                </a:solidFill>
                <a:latin typeface="Arial" pitchFamily="34" charset="0"/>
                <a:ea typeface="Arial" pitchFamily="34" charset="-122"/>
                <a:cs typeface="Arial" pitchFamily="34" charset="-120"/>
              </a:rPr>
              <a:t>Default OS cloud dictation</a:t>
            </a:r>
            <a:endParaRPr lang="en-US" sz="900" dirty="0"/>
          </a:p>
        </p:txBody>
      </p:sp>
      <p:sp>
        <p:nvSpPr>
          <p:cNvPr id="16" name="Text 14"/>
          <p:cNvSpPr/>
          <p:nvPr/>
        </p:nvSpPr>
        <p:spPr>
          <a:xfrm>
            <a:off x="4581079" y="3295204"/>
            <a:ext cx="4181921" cy="916186"/>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7" name="Text 15"/>
          <p:cNvSpPr/>
          <p:nvPr/>
        </p:nvSpPr>
        <p:spPr>
          <a:xfrm>
            <a:off x="4743004" y="3457129"/>
            <a:ext cx="3935233" cy="173236"/>
          </a:xfrm>
          <a:prstGeom prst="rect">
            <a:avLst/>
          </a:prstGeom>
          <a:noFill/>
          <a:ln/>
        </p:spPr>
        <p:txBody>
          <a:bodyPr wrap="square" lIns="0" tIns="0" rIns="0" bIns="0" rtlCol="0" anchor="t"/>
          <a:lstStyle/>
          <a:p>
            <a:pPr algn="l" indent="0" marL="0">
              <a:lnSpc>
                <a:spcPts val="1365"/>
              </a:lnSpc>
              <a:spcAft>
                <a:spcPts val="600"/>
              </a:spcAft>
              <a:buNone/>
            </a:pPr>
            <a:r>
              <a:rPr lang="en-US" sz="975" b="1" dirty="0">
                <a:solidFill>
                  <a:srgbClr val="1A1F2E"/>
                </a:solidFill>
                <a:latin typeface="Arial" pitchFamily="34" charset="0"/>
                <a:ea typeface="Arial" pitchFamily="34" charset="-122"/>
                <a:cs typeface="Arial" pitchFamily="34" charset="-120"/>
              </a:rPr>
              <a:t>PHI INCLUDES</a:t>
            </a:r>
            <a:endParaRPr lang="en-US" sz="975" dirty="0"/>
          </a:p>
        </p:txBody>
      </p:sp>
      <p:sp>
        <p:nvSpPr>
          <p:cNvPr id="18" name="Text 16"/>
          <p:cNvSpPr/>
          <p:nvPr/>
        </p:nvSpPr>
        <p:spPr>
          <a:xfrm>
            <a:off x="4743004" y="3706564"/>
            <a:ext cx="3935233" cy="342900"/>
          </a:xfrm>
          <a:prstGeom prst="rect">
            <a:avLst/>
          </a:prstGeom>
          <a:noFill/>
          <a:ln/>
        </p:spPr>
        <p:txBody>
          <a:bodyPr wrap="square" lIns="0" tIns="0" rIns="0" bIns="0" rtlCol="0" anchor="t"/>
          <a:lstStyle/>
          <a:p>
            <a:pPr algn="l" indent="0" marL="0">
              <a:lnSpc>
                <a:spcPts val="1350"/>
              </a:lnSpc>
              <a:buNone/>
            </a:pPr>
            <a:r>
              <a:rPr lang="en-US" sz="900" dirty="0">
                <a:solidFill>
                  <a:srgbClr val="6B7280"/>
                </a:solidFill>
                <a:latin typeface="Arial" pitchFamily="34" charset="0"/>
                <a:ea typeface="Arial" pitchFamily="34" charset="-122"/>
                <a:cs typeface="Arial" pitchFamily="34" charset="-120"/>
              </a:rPr>
              <a:t>Names, dates, addresses, SSN, medical record numbers, health conditions, test results, provider information, any data that could identify a patient</a:t>
            </a:r>
            <a:endParaRPr lang="en-US" sz="900" dirty="0"/>
          </a:p>
        </p:txBody>
      </p:sp>
      <p:sp>
        <p:nvSpPr>
          <p:cNvPr id="19" name="Text 17"/>
          <p:cNvSpPr/>
          <p:nvPr/>
        </p:nvSpPr>
        <p:spPr>
          <a:xfrm>
            <a:off x="4581079" y="4325689"/>
            <a:ext cx="4181921" cy="413296"/>
          </a:xfrm>
          <a:prstGeom prst="rect">
            <a:avLst/>
          </a:prstGeom>
          <a:solidFill>
            <a:srgbClr val="1A1F2E"/>
          </a:solidFill>
          <a:ln/>
        </p:spPr>
        <p:txBody>
          <a:bodyPr wrap="square" rtlCol="0" anchor="ctr"/>
          <a:lstStyle/>
          <a:p>
            <a:pPr indent="0" marL="0">
              <a:buNone/>
            </a:pPr>
            <a:endParaRPr lang="en-US" dirty="0"/>
          </a:p>
        </p:txBody>
      </p:sp>
      <p:sp>
        <p:nvSpPr>
          <p:cNvPr id="20" name="Text 18"/>
          <p:cNvSpPr/>
          <p:nvPr/>
        </p:nvSpPr>
        <p:spPr>
          <a:xfrm>
            <a:off x="4675276" y="4459039"/>
            <a:ext cx="3993526" cy="146596"/>
          </a:xfrm>
          <a:prstGeom prst="rect">
            <a:avLst/>
          </a:prstGeom>
          <a:noFill/>
          <a:ln/>
        </p:spPr>
        <p:txBody>
          <a:bodyPr wrap="square" lIns="0" tIns="0" rIns="0" bIns="0" rtlCol="0" anchor="t"/>
          <a:lstStyle/>
          <a:p>
            <a:pPr algn="ctr" indent="0" marL="0">
              <a:lnSpc>
                <a:spcPts val="1155"/>
              </a:lnSpc>
              <a:buNone/>
            </a:pPr>
            <a:r>
              <a:rPr lang="en-US" sz="825" dirty="0">
                <a:solidFill>
                  <a:srgbClr val="C9A227"/>
                </a:solidFill>
                <a:latin typeface="Arial" pitchFamily="34" charset="0"/>
                <a:ea typeface="Arial" pitchFamily="34" charset="-122"/>
                <a:cs typeface="Arial" pitchFamily="34" charset="-120"/>
              </a:rPr>
              <a:t>*Always verify BAA status with your compliance team before use</a:t>
            </a:r>
            <a:endParaRPr lang="en-US" sz="825"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1A1F2E"/>
        </a:solidFill>
      </p:bgPr>
    </p:bg>
    <p:spTree>
      <p:nvGrpSpPr>
        <p:cNvPr id="1" name=""/>
        <p:cNvGrpSpPr/>
        <p:nvPr/>
      </p:nvGrpSpPr>
      <p:grpSpPr>
        <a:xfrm>
          <a:off x="0" y="0"/>
          <a:ext cx="0" cy="0"/>
          <a:chOff x="0" y="0"/>
          <a:chExt cx="0" cy="0"/>
        </a:xfrm>
      </p:grpSpPr>
      <p:sp>
        <p:nvSpPr>
          <p:cNvPr id="2" name="Text 0"/>
          <p:cNvSpPr/>
          <p:nvPr/>
        </p:nvSpPr>
        <p:spPr>
          <a:xfrm>
            <a:off x="457200" y="266700"/>
            <a:ext cx="8394192" cy="146596"/>
          </a:xfrm>
          <a:prstGeom prst="rect">
            <a:avLst/>
          </a:prstGeom>
          <a:noFill/>
          <a:ln/>
        </p:spPr>
        <p:txBody>
          <a:bodyPr wrap="square" lIns="0" tIns="0" rIns="0" bIns="0" rtlCol="0" anchor="t"/>
          <a:lstStyle/>
          <a:p>
            <a:pPr algn="l" indent="0" marL="0">
              <a:lnSpc>
                <a:spcPts val="1155"/>
              </a:lnSpc>
              <a:spcAft>
                <a:spcPts val="600"/>
              </a:spcAft>
              <a:buNone/>
            </a:pPr>
            <a:r>
              <a:rPr lang="en-US" sz="825" dirty="0">
                <a:solidFill>
                  <a:srgbClr val="DC2626"/>
                </a:solidFill>
                <a:latin typeface="Arial" pitchFamily="34" charset="0"/>
                <a:ea typeface="Arial" pitchFamily="34" charset="-122"/>
                <a:cs typeface="Arial" pitchFamily="34" charset="-120"/>
              </a:rPr>
              <a:t>WARNINGS</a:t>
            </a:r>
            <a:endParaRPr lang="en-US" sz="825" dirty="0"/>
          </a:p>
        </p:txBody>
      </p:sp>
      <p:sp>
        <p:nvSpPr>
          <p:cNvPr id="3" name="Text 1"/>
          <p:cNvSpPr/>
          <p:nvPr/>
        </p:nvSpPr>
        <p:spPr>
          <a:xfrm>
            <a:off x="457200" y="489496"/>
            <a:ext cx="4206812" cy="304800"/>
          </a:xfrm>
          <a:prstGeom prst="rect">
            <a:avLst/>
          </a:prstGeom>
          <a:noFill/>
          <a:ln/>
        </p:spPr>
        <p:txBody>
          <a:bodyPr wrap="square" lIns="0" tIns="0" rIns="0" bIns="0" rtlCol="0" anchor="t"/>
          <a:lstStyle/>
          <a:p>
            <a:pPr algn="l" indent="0" marL="0">
              <a:lnSpc>
                <a:spcPts val="2400"/>
              </a:lnSpc>
              <a:buNone/>
            </a:pPr>
            <a:r>
              <a:rPr lang="en-US" sz="2400" dirty="0">
                <a:solidFill>
                  <a:srgbClr val="FFFFFF"/>
                </a:solidFill>
                <a:latin typeface="Georgia" pitchFamily="34" charset="0"/>
                <a:ea typeface="Georgia" pitchFamily="34" charset="-122"/>
                <a:cs typeface="Georgia" pitchFamily="34" charset="-120"/>
              </a:rPr>
              <a:t>Common Mistakes to Avoid</a:t>
            </a:r>
            <a:endParaRPr lang="en-US" sz="2400" dirty="0"/>
          </a:p>
        </p:txBody>
      </p:sp>
      <p:sp>
        <p:nvSpPr>
          <p:cNvPr id="4" name="Text 2"/>
          <p:cNvSpPr/>
          <p:nvPr/>
        </p:nvSpPr>
        <p:spPr>
          <a:xfrm>
            <a:off x="457200" y="1134814"/>
            <a:ext cx="2803029" cy="3706416"/>
          </a:xfrm>
          <a:prstGeom prst="rect">
            <a:avLst/>
          </a:prstGeom>
          <a:solidFill>
            <a:srgbClr val="FEF2F2"/>
          </a:solidFill>
          <a:ln/>
        </p:spPr>
        <p:txBody>
          <a:bodyPr wrap="square" rtlCol="0" anchor="ctr"/>
          <a:lstStyle/>
          <a:p>
            <a:pPr indent="0" marL="0">
              <a:buNone/>
            </a:pPr>
            <a:endParaRPr lang="en-US" dirty="0"/>
          </a:p>
        </p:txBody>
      </p:sp>
      <p:sp>
        <p:nvSpPr>
          <p:cNvPr id="5" name="Text 3"/>
          <p:cNvSpPr/>
          <p:nvPr/>
        </p:nvSpPr>
        <p:spPr>
          <a:xfrm>
            <a:off x="647700" y="1325314"/>
            <a:ext cx="2470469" cy="173236"/>
          </a:xfrm>
          <a:prstGeom prst="rect">
            <a:avLst/>
          </a:prstGeom>
          <a:noFill/>
          <a:ln/>
        </p:spPr>
        <p:txBody>
          <a:bodyPr wrap="square" lIns="0" tIns="0" rIns="0" bIns="0" rtlCol="0" anchor="t"/>
          <a:lstStyle/>
          <a:p>
            <a:pPr algn="l" indent="0" marL="0">
              <a:lnSpc>
                <a:spcPts val="1365"/>
              </a:lnSpc>
              <a:spcAft>
                <a:spcPts val="1050"/>
              </a:spcAft>
              <a:buNone/>
            </a:pPr>
            <a:r>
              <a:rPr lang="en-US" sz="975" b="1" dirty="0">
                <a:solidFill>
                  <a:srgbClr val="DC2626"/>
                </a:solidFill>
                <a:latin typeface="Arial" pitchFamily="34" charset="0"/>
                <a:ea typeface="Arial" pitchFamily="34" charset="-122"/>
                <a:cs typeface="Arial" pitchFamily="34" charset="-120"/>
              </a:rPr>
              <a:t>NEVER DO THIS</a:t>
            </a:r>
            <a:endParaRPr lang="en-US" sz="975" dirty="0"/>
          </a:p>
        </p:txBody>
      </p:sp>
      <p:sp>
        <p:nvSpPr>
          <p:cNvPr id="6" name="Text 4"/>
          <p:cNvSpPr/>
          <p:nvPr/>
        </p:nvSpPr>
        <p:spPr>
          <a:xfrm>
            <a:off x="647700" y="1784300"/>
            <a:ext cx="2470469" cy="159990"/>
          </a:xfrm>
          <a:prstGeom prst="rect">
            <a:avLst/>
          </a:prstGeom>
          <a:noFill/>
          <a:ln/>
        </p:spPr>
        <p:txBody>
          <a:bodyPr wrap="square" lIns="0" tIns="0" rIns="0" bIns="0" rtlCol="0" anchor="t"/>
          <a:lstStyle/>
          <a:p>
            <a:pPr algn="l" indent="0" marL="0">
              <a:lnSpc>
                <a:spcPts val="1260"/>
              </a:lnSpc>
              <a:spcAft>
                <a:spcPts val="300"/>
              </a:spcAft>
              <a:buNone/>
            </a:pPr>
            <a:r>
              <a:rPr lang="en-US" sz="900" b="1" dirty="0">
                <a:solidFill>
                  <a:srgbClr val="991B1B"/>
                </a:solidFill>
                <a:latin typeface="Arial" pitchFamily="34" charset="0"/>
                <a:ea typeface="Arial" pitchFamily="34" charset="-122"/>
                <a:cs typeface="Arial" pitchFamily="34" charset="-120"/>
              </a:rPr>
              <a:t>Paste PHI into public AI tools</a:t>
            </a:r>
            <a:endParaRPr lang="en-US" sz="900" dirty="0"/>
          </a:p>
        </p:txBody>
      </p:sp>
      <p:sp>
        <p:nvSpPr>
          <p:cNvPr id="7" name="Text 5"/>
          <p:cNvSpPr/>
          <p:nvPr/>
        </p:nvSpPr>
        <p:spPr>
          <a:xfrm>
            <a:off x="647700" y="1982391"/>
            <a:ext cx="2470469" cy="146596"/>
          </a:xfrm>
          <a:prstGeom prst="rect">
            <a:avLst/>
          </a:prstGeom>
          <a:noFill/>
          <a:ln/>
        </p:spPr>
        <p:txBody>
          <a:bodyPr wrap="square" lIns="0" tIns="0" rIns="0" bIns="0" rtlCol="0" anchor="t"/>
          <a:lstStyle/>
          <a:p>
            <a:pPr algn="l" indent="0" marL="0">
              <a:lnSpc>
                <a:spcPts val="1155"/>
              </a:lnSpc>
              <a:buNone/>
            </a:pPr>
            <a:r>
              <a:rPr lang="en-US" sz="825" dirty="0">
                <a:solidFill>
                  <a:srgbClr val="6B7280"/>
                </a:solidFill>
                <a:latin typeface="Arial" pitchFamily="34" charset="0"/>
                <a:ea typeface="Arial" pitchFamily="34" charset="-122"/>
                <a:cs typeface="Arial" pitchFamily="34" charset="-120"/>
              </a:rPr>
              <a:t>ChatGPT, Claude.ai free tier, etc.</a:t>
            </a:r>
            <a:endParaRPr lang="en-US" sz="825" dirty="0"/>
          </a:p>
        </p:txBody>
      </p:sp>
      <p:sp>
        <p:nvSpPr>
          <p:cNvPr id="8" name="Text 6"/>
          <p:cNvSpPr/>
          <p:nvPr/>
        </p:nvSpPr>
        <p:spPr>
          <a:xfrm>
            <a:off x="647700" y="2414736"/>
            <a:ext cx="2470469" cy="159990"/>
          </a:xfrm>
          <a:prstGeom prst="rect">
            <a:avLst/>
          </a:prstGeom>
          <a:noFill/>
          <a:ln/>
        </p:spPr>
        <p:txBody>
          <a:bodyPr wrap="square" lIns="0" tIns="0" rIns="0" bIns="0" rtlCol="0" anchor="t"/>
          <a:lstStyle/>
          <a:p>
            <a:pPr algn="l" indent="0" marL="0">
              <a:lnSpc>
                <a:spcPts val="1260"/>
              </a:lnSpc>
              <a:spcAft>
                <a:spcPts val="300"/>
              </a:spcAft>
              <a:buNone/>
            </a:pPr>
            <a:r>
              <a:rPr lang="en-US" sz="900" b="1" dirty="0">
                <a:solidFill>
                  <a:srgbClr val="991B1B"/>
                </a:solidFill>
                <a:latin typeface="Arial" pitchFamily="34" charset="0"/>
                <a:ea typeface="Arial" pitchFamily="34" charset="-122"/>
                <a:cs typeface="Arial" pitchFamily="34" charset="-120"/>
              </a:rPr>
              <a:t>Include real patient data in prompts</a:t>
            </a:r>
            <a:endParaRPr lang="en-US" sz="900" dirty="0"/>
          </a:p>
        </p:txBody>
      </p:sp>
      <p:sp>
        <p:nvSpPr>
          <p:cNvPr id="9" name="Text 7"/>
          <p:cNvSpPr/>
          <p:nvPr/>
        </p:nvSpPr>
        <p:spPr>
          <a:xfrm>
            <a:off x="647700" y="2612827"/>
            <a:ext cx="2470469" cy="146596"/>
          </a:xfrm>
          <a:prstGeom prst="rect">
            <a:avLst/>
          </a:prstGeom>
          <a:noFill/>
          <a:ln/>
        </p:spPr>
        <p:txBody>
          <a:bodyPr wrap="square" lIns="0" tIns="0" rIns="0" bIns="0" rtlCol="0" anchor="t"/>
          <a:lstStyle/>
          <a:p>
            <a:pPr algn="l" indent="0" marL="0">
              <a:lnSpc>
                <a:spcPts val="1155"/>
              </a:lnSpc>
              <a:buNone/>
            </a:pPr>
            <a:r>
              <a:rPr lang="en-US" sz="825" dirty="0">
                <a:solidFill>
                  <a:srgbClr val="6B7280"/>
                </a:solidFill>
                <a:latin typeface="Arial" pitchFamily="34" charset="0"/>
                <a:ea typeface="Arial" pitchFamily="34" charset="-122"/>
                <a:cs typeface="Arial" pitchFamily="34" charset="-120"/>
              </a:rPr>
              <a:t>Even for "testing" purposes</a:t>
            </a:r>
            <a:endParaRPr lang="en-US" sz="825" dirty="0"/>
          </a:p>
        </p:txBody>
      </p:sp>
      <p:sp>
        <p:nvSpPr>
          <p:cNvPr id="10" name="Text 8"/>
          <p:cNvSpPr/>
          <p:nvPr/>
        </p:nvSpPr>
        <p:spPr>
          <a:xfrm>
            <a:off x="647700" y="3045172"/>
            <a:ext cx="2470469" cy="159990"/>
          </a:xfrm>
          <a:prstGeom prst="rect">
            <a:avLst/>
          </a:prstGeom>
          <a:noFill/>
          <a:ln/>
        </p:spPr>
        <p:txBody>
          <a:bodyPr wrap="square" lIns="0" tIns="0" rIns="0" bIns="0" rtlCol="0" anchor="t"/>
          <a:lstStyle/>
          <a:p>
            <a:pPr algn="l" indent="0" marL="0">
              <a:lnSpc>
                <a:spcPts val="1260"/>
              </a:lnSpc>
              <a:spcAft>
                <a:spcPts val="300"/>
              </a:spcAft>
              <a:buNone/>
            </a:pPr>
            <a:r>
              <a:rPr lang="en-US" sz="900" b="1" dirty="0">
                <a:solidFill>
                  <a:srgbClr val="991B1B"/>
                </a:solidFill>
                <a:latin typeface="Arial" pitchFamily="34" charset="0"/>
                <a:ea typeface="Arial" pitchFamily="34" charset="-122"/>
                <a:cs typeface="Arial" pitchFamily="34" charset="-120"/>
              </a:rPr>
              <a:t>Use cloud dictation for PHI</a:t>
            </a:r>
            <a:endParaRPr lang="en-US" sz="900" dirty="0"/>
          </a:p>
        </p:txBody>
      </p:sp>
      <p:sp>
        <p:nvSpPr>
          <p:cNvPr id="11" name="Text 9"/>
          <p:cNvSpPr/>
          <p:nvPr/>
        </p:nvSpPr>
        <p:spPr>
          <a:xfrm>
            <a:off x="647700" y="3243263"/>
            <a:ext cx="2470469" cy="146596"/>
          </a:xfrm>
          <a:prstGeom prst="rect">
            <a:avLst/>
          </a:prstGeom>
          <a:noFill/>
          <a:ln/>
        </p:spPr>
        <p:txBody>
          <a:bodyPr wrap="square" lIns="0" tIns="0" rIns="0" bIns="0" rtlCol="0" anchor="t"/>
          <a:lstStyle/>
          <a:p>
            <a:pPr algn="l" indent="0" marL="0">
              <a:lnSpc>
                <a:spcPts val="1155"/>
              </a:lnSpc>
              <a:buNone/>
            </a:pPr>
            <a:r>
              <a:rPr lang="en-US" sz="825" dirty="0">
                <a:solidFill>
                  <a:srgbClr val="6B7280"/>
                </a:solidFill>
                <a:latin typeface="Arial" pitchFamily="34" charset="0"/>
                <a:ea typeface="Arial" pitchFamily="34" charset="-122"/>
                <a:cs typeface="Arial" pitchFamily="34" charset="-120"/>
              </a:rPr>
              <a:t>Default OS dictation sends to cloud</a:t>
            </a:r>
            <a:endParaRPr lang="en-US" sz="825" dirty="0"/>
          </a:p>
        </p:txBody>
      </p:sp>
      <p:sp>
        <p:nvSpPr>
          <p:cNvPr id="12" name="Text 10"/>
          <p:cNvSpPr/>
          <p:nvPr/>
        </p:nvSpPr>
        <p:spPr>
          <a:xfrm>
            <a:off x="647700" y="3675608"/>
            <a:ext cx="2470469" cy="159990"/>
          </a:xfrm>
          <a:prstGeom prst="rect">
            <a:avLst/>
          </a:prstGeom>
          <a:noFill/>
          <a:ln/>
        </p:spPr>
        <p:txBody>
          <a:bodyPr wrap="square" lIns="0" tIns="0" rIns="0" bIns="0" rtlCol="0" anchor="t"/>
          <a:lstStyle/>
          <a:p>
            <a:pPr algn="l" indent="0" marL="0">
              <a:lnSpc>
                <a:spcPts val="1260"/>
              </a:lnSpc>
              <a:spcAft>
                <a:spcPts val="300"/>
              </a:spcAft>
              <a:buNone/>
            </a:pPr>
            <a:r>
              <a:rPr lang="en-US" sz="900" b="1" dirty="0">
                <a:solidFill>
                  <a:srgbClr val="991B1B"/>
                </a:solidFill>
                <a:latin typeface="Arial" pitchFamily="34" charset="0"/>
                <a:ea typeface="Arial" pitchFamily="34" charset="-122"/>
                <a:cs typeface="Arial" pitchFamily="34" charset="-120"/>
              </a:rPr>
              <a:t>Share API keys or credentials</a:t>
            </a:r>
            <a:endParaRPr lang="en-US" sz="900" dirty="0"/>
          </a:p>
        </p:txBody>
      </p:sp>
      <p:sp>
        <p:nvSpPr>
          <p:cNvPr id="13" name="Text 11"/>
          <p:cNvSpPr/>
          <p:nvPr/>
        </p:nvSpPr>
        <p:spPr>
          <a:xfrm>
            <a:off x="647700" y="3873698"/>
            <a:ext cx="2470469" cy="146596"/>
          </a:xfrm>
          <a:prstGeom prst="rect">
            <a:avLst/>
          </a:prstGeom>
          <a:noFill/>
          <a:ln/>
        </p:spPr>
        <p:txBody>
          <a:bodyPr wrap="square" lIns="0" tIns="0" rIns="0" bIns="0" rtlCol="0" anchor="t"/>
          <a:lstStyle/>
          <a:p>
            <a:pPr algn="l" indent="0" marL="0">
              <a:lnSpc>
                <a:spcPts val="1155"/>
              </a:lnSpc>
              <a:buNone/>
            </a:pPr>
            <a:r>
              <a:rPr lang="en-US" sz="825" dirty="0">
                <a:solidFill>
                  <a:srgbClr val="6B7280"/>
                </a:solidFill>
                <a:latin typeface="Arial" pitchFamily="34" charset="0"/>
                <a:ea typeface="Arial" pitchFamily="34" charset="-122"/>
                <a:cs typeface="Arial" pitchFamily="34" charset="-120"/>
              </a:rPr>
              <a:t>In code, prompts, or conversations</a:t>
            </a:r>
            <a:endParaRPr lang="en-US" sz="825" dirty="0"/>
          </a:p>
        </p:txBody>
      </p:sp>
      <p:sp>
        <p:nvSpPr>
          <p:cNvPr id="14" name="Text 12"/>
          <p:cNvSpPr/>
          <p:nvPr/>
        </p:nvSpPr>
        <p:spPr>
          <a:xfrm>
            <a:off x="647700" y="4306044"/>
            <a:ext cx="2470469" cy="159990"/>
          </a:xfrm>
          <a:prstGeom prst="rect">
            <a:avLst/>
          </a:prstGeom>
          <a:noFill/>
          <a:ln/>
        </p:spPr>
        <p:txBody>
          <a:bodyPr wrap="square" lIns="0" tIns="0" rIns="0" bIns="0" rtlCol="0" anchor="t"/>
          <a:lstStyle/>
          <a:p>
            <a:pPr algn="l" indent="0" marL="0">
              <a:lnSpc>
                <a:spcPts val="1260"/>
              </a:lnSpc>
              <a:spcAft>
                <a:spcPts val="300"/>
              </a:spcAft>
              <a:buNone/>
            </a:pPr>
            <a:r>
              <a:rPr lang="en-US" sz="900" b="1" dirty="0">
                <a:solidFill>
                  <a:srgbClr val="991B1B"/>
                </a:solidFill>
                <a:latin typeface="Arial" pitchFamily="34" charset="0"/>
                <a:ea typeface="Arial" pitchFamily="34" charset="-122"/>
                <a:cs typeface="Arial" pitchFamily="34" charset="-120"/>
              </a:rPr>
              <a:t>Assume "private" means compliant</a:t>
            </a:r>
            <a:endParaRPr lang="en-US" sz="900" dirty="0"/>
          </a:p>
        </p:txBody>
      </p:sp>
      <p:sp>
        <p:nvSpPr>
          <p:cNvPr id="15" name="Text 13"/>
          <p:cNvSpPr/>
          <p:nvPr/>
        </p:nvSpPr>
        <p:spPr>
          <a:xfrm>
            <a:off x="647700" y="4504134"/>
            <a:ext cx="2470469" cy="146596"/>
          </a:xfrm>
          <a:prstGeom prst="rect">
            <a:avLst/>
          </a:prstGeom>
          <a:noFill/>
          <a:ln/>
        </p:spPr>
        <p:txBody>
          <a:bodyPr wrap="square" lIns="0" tIns="0" rIns="0" bIns="0" rtlCol="0" anchor="t"/>
          <a:lstStyle/>
          <a:p>
            <a:pPr algn="l" indent="0" marL="0">
              <a:lnSpc>
                <a:spcPts val="1155"/>
              </a:lnSpc>
              <a:buNone/>
            </a:pPr>
            <a:r>
              <a:rPr lang="en-US" sz="825" dirty="0">
                <a:solidFill>
                  <a:srgbClr val="6B7280"/>
                </a:solidFill>
                <a:latin typeface="Arial" pitchFamily="34" charset="0"/>
                <a:ea typeface="Arial" pitchFamily="34" charset="-122"/>
                <a:cs typeface="Arial" pitchFamily="34" charset="-120"/>
              </a:rPr>
              <a:t>Verify with IT/compliance first</a:t>
            </a:r>
            <a:endParaRPr lang="en-US" sz="825" dirty="0"/>
          </a:p>
        </p:txBody>
      </p:sp>
      <p:sp>
        <p:nvSpPr>
          <p:cNvPr id="16" name="Text 14"/>
          <p:cNvSpPr/>
          <p:nvPr/>
        </p:nvSpPr>
        <p:spPr>
          <a:xfrm>
            <a:off x="3412629" y="1134814"/>
            <a:ext cx="2803029" cy="3706416"/>
          </a:xfrm>
          <a:prstGeom prst="rect">
            <a:avLst/>
          </a:prstGeom>
          <a:solidFill>
            <a:srgbClr val="DCFCE7"/>
          </a:solidFill>
          <a:ln/>
        </p:spPr>
        <p:txBody>
          <a:bodyPr wrap="square" rtlCol="0" anchor="ctr"/>
          <a:lstStyle/>
          <a:p>
            <a:pPr indent="0" marL="0">
              <a:buNone/>
            </a:pPr>
            <a:endParaRPr lang="en-US" dirty="0"/>
          </a:p>
        </p:txBody>
      </p:sp>
      <p:sp>
        <p:nvSpPr>
          <p:cNvPr id="17" name="Text 15"/>
          <p:cNvSpPr/>
          <p:nvPr/>
        </p:nvSpPr>
        <p:spPr>
          <a:xfrm>
            <a:off x="3603129" y="1325314"/>
            <a:ext cx="2470469" cy="173236"/>
          </a:xfrm>
          <a:prstGeom prst="rect">
            <a:avLst/>
          </a:prstGeom>
          <a:noFill/>
          <a:ln/>
        </p:spPr>
        <p:txBody>
          <a:bodyPr wrap="square" lIns="0" tIns="0" rIns="0" bIns="0" rtlCol="0" anchor="t"/>
          <a:lstStyle/>
          <a:p>
            <a:pPr algn="l" indent="0" marL="0">
              <a:lnSpc>
                <a:spcPts val="1365"/>
              </a:lnSpc>
              <a:spcAft>
                <a:spcPts val="1050"/>
              </a:spcAft>
              <a:buNone/>
            </a:pPr>
            <a:r>
              <a:rPr lang="en-US" sz="975" b="1" dirty="0">
                <a:solidFill>
                  <a:srgbClr val="059669"/>
                </a:solidFill>
                <a:latin typeface="Arial" pitchFamily="34" charset="0"/>
                <a:ea typeface="Arial" pitchFamily="34" charset="-122"/>
                <a:cs typeface="Arial" pitchFamily="34" charset="-120"/>
              </a:rPr>
              <a:t>DO THIS INSTEAD</a:t>
            </a:r>
            <a:endParaRPr lang="en-US" sz="975" dirty="0"/>
          </a:p>
        </p:txBody>
      </p:sp>
      <p:sp>
        <p:nvSpPr>
          <p:cNvPr id="18" name="Text 16"/>
          <p:cNvSpPr/>
          <p:nvPr/>
        </p:nvSpPr>
        <p:spPr>
          <a:xfrm>
            <a:off x="3603129" y="1784300"/>
            <a:ext cx="2470469" cy="159990"/>
          </a:xfrm>
          <a:prstGeom prst="rect">
            <a:avLst/>
          </a:prstGeom>
          <a:noFill/>
          <a:ln/>
        </p:spPr>
        <p:txBody>
          <a:bodyPr wrap="square" lIns="0" tIns="0" rIns="0" bIns="0" rtlCol="0" anchor="t"/>
          <a:lstStyle/>
          <a:p>
            <a:pPr algn="l" indent="0" marL="0">
              <a:lnSpc>
                <a:spcPts val="1260"/>
              </a:lnSpc>
              <a:spcAft>
                <a:spcPts val="300"/>
              </a:spcAft>
              <a:buNone/>
            </a:pPr>
            <a:r>
              <a:rPr lang="en-US" sz="900" b="1" dirty="0">
                <a:solidFill>
                  <a:srgbClr val="166534"/>
                </a:solidFill>
                <a:latin typeface="Arial" pitchFamily="34" charset="0"/>
                <a:ea typeface="Arial" pitchFamily="34" charset="-122"/>
                <a:cs typeface="Arial" pitchFamily="34" charset="-120"/>
              </a:rPr>
              <a:t>Use approved enterprise tools</a:t>
            </a:r>
            <a:endParaRPr lang="en-US" sz="900" dirty="0"/>
          </a:p>
        </p:txBody>
      </p:sp>
      <p:sp>
        <p:nvSpPr>
          <p:cNvPr id="19" name="Text 17"/>
          <p:cNvSpPr/>
          <p:nvPr/>
        </p:nvSpPr>
        <p:spPr>
          <a:xfrm>
            <a:off x="3603129" y="1982391"/>
            <a:ext cx="2470469" cy="146596"/>
          </a:xfrm>
          <a:prstGeom prst="rect">
            <a:avLst/>
          </a:prstGeom>
          <a:noFill/>
          <a:ln/>
        </p:spPr>
        <p:txBody>
          <a:bodyPr wrap="square" lIns="0" tIns="0" rIns="0" bIns="0" rtlCol="0" anchor="t"/>
          <a:lstStyle/>
          <a:p>
            <a:pPr algn="l" indent="0" marL="0">
              <a:lnSpc>
                <a:spcPts val="1155"/>
              </a:lnSpc>
              <a:buNone/>
            </a:pPr>
            <a:r>
              <a:rPr lang="en-US" sz="825" dirty="0">
                <a:solidFill>
                  <a:srgbClr val="6B7280"/>
                </a:solidFill>
                <a:latin typeface="Arial" pitchFamily="34" charset="0"/>
                <a:ea typeface="Arial" pitchFamily="34" charset="-122"/>
                <a:cs typeface="Arial" pitchFamily="34" charset="-120"/>
              </a:rPr>
              <a:t>Azure OpenAI, Azure AI Foundry</a:t>
            </a:r>
            <a:endParaRPr lang="en-US" sz="825" dirty="0"/>
          </a:p>
        </p:txBody>
      </p:sp>
      <p:sp>
        <p:nvSpPr>
          <p:cNvPr id="20" name="Text 18"/>
          <p:cNvSpPr/>
          <p:nvPr/>
        </p:nvSpPr>
        <p:spPr>
          <a:xfrm>
            <a:off x="3603129" y="2414736"/>
            <a:ext cx="2470469" cy="159990"/>
          </a:xfrm>
          <a:prstGeom prst="rect">
            <a:avLst/>
          </a:prstGeom>
          <a:noFill/>
          <a:ln/>
        </p:spPr>
        <p:txBody>
          <a:bodyPr wrap="square" lIns="0" tIns="0" rIns="0" bIns="0" rtlCol="0" anchor="t"/>
          <a:lstStyle/>
          <a:p>
            <a:pPr algn="l" indent="0" marL="0">
              <a:lnSpc>
                <a:spcPts val="1260"/>
              </a:lnSpc>
              <a:spcAft>
                <a:spcPts val="300"/>
              </a:spcAft>
              <a:buNone/>
            </a:pPr>
            <a:r>
              <a:rPr lang="en-US" sz="900" b="1" dirty="0">
                <a:solidFill>
                  <a:srgbClr val="166534"/>
                </a:solidFill>
                <a:latin typeface="Arial" pitchFamily="34" charset="0"/>
                <a:ea typeface="Arial" pitchFamily="34" charset="-122"/>
                <a:cs typeface="Arial" pitchFamily="34" charset="-120"/>
              </a:rPr>
              <a:t>Use synthetic or anonymized data</a:t>
            </a:r>
            <a:endParaRPr lang="en-US" sz="900" dirty="0"/>
          </a:p>
        </p:txBody>
      </p:sp>
      <p:sp>
        <p:nvSpPr>
          <p:cNvPr id="21" name="Text 19"/>
          <p:cNvSpPr/>
          <p:nvPr/>
        </p:nvSpPr>
        <p:spPr>
          <a:xfrm>
            <a:off x="3603129" y="2612827"/>
            <a:ext cx="2470469" cy="146596"/>
          </a:xfrm>
          <a:prstGeom prst="rect">
            <a:avLst/>
          </a:prstGeom>
          <a:noFill/>
          <a:ln/>
        </p:spPr>
        <p:txBody>
          <a:bodyPr wrap="square" lIns="0" tIns="0" rIns="0" bIns="0" rtlCol="0" anchor="t"/>
          <a:lstStyle/>
          <a:p>
            <a:pPr algn="l" indent="0" marL="0">
              <a:lnSpc>
                <a:spcPts val="1155"/>
              </a:lnSpc>
              <a:buNone/>
            </a:pPr>
            <a:r>
              <a:rPr lang="en-US" sz="825" dirty="0">
                <a:solidFill>
                  <a:srgbClr val="6B7280"/>
                </a:solidFill>
                <a:latin typeface="Arial" pitchFamily="34" charset="0"/>
                <a:ea typeface="Arial" pitchFamily="34" charset="-122"/>
                <a:cs typeface="Arial" pitchFamily="34" charset="-120"/>
              </a:rPr>
              <a:t>For testing and development</a:t>
            </a:r>
            <a:endParaRPr lang="en-US" sz="825" dirty="0"/>
          </a:p>
        </p:txBody>
      </p:sp>
      <p:sp>
        <p:nvSpPr>
          <p:cNvPr id="22" name="Text 20"/>
          <p:cNvSpPr/>
          <p:nvPr/>
        </p:nvSpPr>
        <p:spPr>
          <a:xfrm>
            <a:off x="3603129" y="3045172"/>
            <a:ext cx="2470469" cy="159990"/>
          </a:xfrm>
          <a:prstGeom prst="rect">
            <a:avLst/>
          </a:prstGeom>
          <a:noFill/>
          <a:ln/>
        </p:spPr>
        <p:txBody>
          <a:bodyPr wrap="square" lIns="0" tIns="0" rIns="0" bIns="0" rtlCol="0" anchor="t"/>
          <a:lstStyle/>
          <a:p>
            <a:pPr algn="l" indent="0" marL="0">
              <a:lnSpc>
                <a:spcPts val="1260"/>
              </a:lnSpc>
              <a:spcAft>
                <a:spcPts val="300"/>
              </a:spcAft>
              <a:buNone/>
            </a:pPr>
            <a:r>
              <a:rPr lang="en-US" sz="900" b="1" dirty="0">
                <a:solidFill>
                  <a:srgbClr val="166534"/>
                </a:solidFill>
                <a:latin typeface="Arial" pitchFamily="34" charset="0"/>
                <a:ea typeface="Arial" pitchFamily="34" charset="-122"/>
                <a:cs typeface="Arial" pitchFamily="34" charset="-120"/>
              </a:rPr>
              <a:t>Use local voice transcription</a:t>
            </a:r>
            <a:endParaRPr lang="en-US" sz="900" dirty="0"/>
          </a:p>
        </p:txBody>
      </p:sp>
      <p:sp>
        <p:nvSpPr>
          <p:cNvPr id="23" name="Text 21"/>
          <p:cNvSpPr/>
          <p:nvPr/>
        </p:nvSpPr>
        <p:spPr>
          <a:xfrm>
            <a:off x="3603129" y="3243263"/>
            <a:ext cx="2470469" cy="146596"/>
          </a:xfrm>
          <a:prstGeom prst="rect">
            <a:avLst/>
          </a:prstGeom>
          <a:noFill/>
          <a:ln/>
        </p:spPr>
        <p:txBody>
          <a:bodyPr wrap="square" lIns="0" tIns="0" rIns="0" bIns="0" rtlCol="0" anchor="t"/>
          <a:lstStyle/>
          <a:p>
            <a:pPr algn="l" indent="0" marL="0">
              <a:lnSpc>
                <a:spcPts val="1155"/>
              </a:lnSpc>
              <a:buNone/>
            </a:pPr>
            <a:r>
              <a:rPr lang="en-US" sz="825" dirty="0">
                <a:solidFill>
                  <a:srgbClr val="6B7280"/>
                </a:solidFill>
                <a:latin typeface="Arial" pitchFamily="34" charset="0"/>
                <a:ea typeface="Arial" pitchFamily="34" charset="-122"/>
                <a:cs typeface="Arial" pitchFamily="34" charset="-120"/>
              </a:rPr>
              <a:t>SuperWhisper, WhisperFlow</a:t>
            </a:r>
            <a:endParaRPr lang="en-US" sz="825" dirty="0"/>
          </a:p>
        </p:txBody>
      </p:sp>
      <p:sp>
        <p:nvSpPr>
          <p:cNvPr id="24" name="Text 22"/>
          <p:cNvSpPr/>
          <p:nvPr/>
        </p:nvSpPr>
        <p:spPr>
          <a:xfrm>
            <a:off x="3603129" y="3675608"/>
            <a:ext cx="2470469" cy="159990"/>
          </a:xfrm>
          <a:prstGeom prst="rect">
            <a:avLst/>
          </a:prstGeom>
          <a:noFill/>
          <a:ln/>
        </p:spPr>
        <p:txBody>
          <a:bodyPr wrap="square" lIns="0" tIns="0" rIns="0" bIns="0" rtlCol="0" anchor="t"/>
          <a:lstStyle/>
          <a:p>
            <a:pPr algn="l" indent="0" marL="0">
              <a:lnSpc>
                <a:spcPts val="1260"/>
              </a:lnSpc>
              <a:spcAft>
                <a:spcPts val="300"/>
              </a:spcAft>
              <a:buNone/>
            </a:pPr>
            <a:r>
              <a:rPr lang="en-US" sz="900" b="1" dirty="0">
                <a:solidFill>
                  <a:srgbClr val="166534"/>
                </a:solidFill>
                <a:latin typeface="Arial" pitchFamily="34" charset="0"/>
                <a:ea typeface="Arial" pitchFamily="34" charset="-122"/>
                <a:cs typeface="Arial" pitchFamily="34" charset="-120"/>
              </a:rPr>
              <a:t>Use environment variables</a:t>
            </a:r>
            <a:endParaRPr lang="en-US" sz="900" dirty="0"/>
          </a:p>
        </p:txBody>
      </p:sp>
      <p:sp>
        <p:nvSpPr>
          <p:cNvPr id="25" name="Text 23"/>
          <p:cNvSpPr/>
          <p:nvPr/>
        </p:nvSpPr>
        <p:spPr>
          <a:xfrm>
            <a:off x="3603129" y="3873698"/>
            <a:ext cx="2470469" cy="146596"/>
          </a:xfrm>
          <a:prstGeom prst="rect">
            <a:avLst/>
          </a:prstGeom>
          <a:noFill/>
          <a:ln/>
        </p:spPr>
        <p:txBody>
          <a:bodyPr wrap="square" lIns="0" tIns="0" rIns="0" bIns="0" rtlCol="0" anchor="t"/>
          <a:lstStyle/>
          <a:p>
            <a:pPr algn="l" indent="0" marL="0">
              <a:lnSpc>
                <a:spcPts val="1155"/>
              </a:lnSpc>
              <a:buNone/>
            </a:pPr>
            <a:r>
              <a:rPr lang="en-US" sz="825" dirty="0">
                <a:solidFill>
                  <a:srgbClr val="6B7280"/>
                </a:solidFill>
                <a:latin typeface="Arial" pitchFamily="34" charset="0"/>
                <a:ea typeface="Arial" pitchFamily="34" charset="-122"/>
                <a:cs typeface="Arial" pitchFamily="34" charset="-120"/>
              </a:rPr>
              <a:t>Never hardcode credentials</a:t>
            </a:r>
            <a:endParaRPr lang="en-US" sz="825" dirty="0"/>
          </a:p>
        </p:txBody>
      </p:sp>
      <p:sp>
        <p:nvSpPr>
          <p:cNvPr id="26" name="Text 24"/>
          <p:cNvSpPr/>
          <p:nvPr/>
        </p:nvSpPr>
        <p:spPr>
          <a:xfrm>
            <a:off x="3603129" y="4306044"/>
            <a:ext cx="2470469" cy="159990"/>
          </a:xfrm>
          <a:prstGeom prst="rect">
            <a:avLst/>
          </a:prstGeom>
          <a:noFill/>
          <a:ln/>
        </p:spPr>
        <p:txBody>
          <a:bodyPr wrap="square" lIns="0" tIns="0" rIns="0" bIns="0" rtlCol="0" anchor="t"/>
          <a:lstStyle/>
          <a:p>
            <a:pPr algn="l" indent="0" marL="0">
              <a:lnSpc>
                <a:spcPts val="1260"/>
              </a:lnSpc>
              <a:spcAft>
                <a:spcPts val="300"/>
              </a:spcAft>
              <a:buNone/>
            </a:pPr>
            <a:r>
              <a:rPr lang="en-US" sz="900" b="1" dirty="0">
                <a:solidFill>
                  <a:srgbClr val="166534"/>
                </a:solidFill>
                <a:latin typeface="Arial" pitchFamily="34" charset="0"/>
                <a:ea typeface="Arial" pitchFamily="34" charset="-122"/>
                <a:cs typeface="Arial" pitchFamily="34" charset="-120"/>
              </a:rPr>
              <a:t>Verify compliance before use</a:t>
            </a:r>
            <a:endParaRPr lang="en-US" sz="900" dirty="0"/>
          </a:p>
        </p:txBody>
      </p:sp>
      <p:sp>
        <p:nvSpPr>
          <p:cNvPr id="27" name="Text 25"/>
          <p:cNvSpPr/>
          <p:nvPr/>
        </p:nvSpPr>
        <p:spPr>
          <a:xfrm>
            <a:off x="3603129" y="4504134"/>
            <a:ext cx="2470469" cy="146596"/>
          </a:xfrm>
          <a:prstGeom prst="rect">
            <a:avLst/>
          </a:prstGeom>
          <a:noFill/>
          <a:ln/>
        </p:spPr>
        <p:txBody>
          <a:bodyPr wrap="square" lIns="0" tIns="0" rIns="0" bIns="0" rtlCol="0" anchor="t"/>
          <a:lstStyle/>
          <a:p>
            <a:pPr algn="l" indent="0" marL="0">
              <a:lnSpc>
                <a:spcPts val="1155"/>
              </a:lnSpc>
              <a:buNone/>
            </a:pPr>
            <a:r>
              <a:rPr lang="en-US" sz="825" dirty="0">
                <a:solidFill>
                  <a:srgbClr val="6B7280"/>
                </a:solidFill>
                <a:latin typeface="Arial" pitchFamily="34" charset="0"/>
                <a:ea typeface="Arial" pitchFamily="34" charset="-122"/>
                <a:cs typeface="Arial" pitchFamily="34" charset="-120"/>
              </a:rPr>
              <a:t>Check with IT security team</a:t>
            </a:r>
            <a:endParaRPr lang="en-US" sz="825" dirty="0"/>
          </a:p>
        </p:txBody>
      </p:sp>
      <p:sp>
        <p:nvSpPr>
          <p:cNvPr id="28" name="Text 26"/>
          <p:cNvSpPr/>
          <p:nvPr/>
        </p:nvSpPr>
        <p:spPr>
          <a:xfrm>
            <a:off x="6368058" y="1376511"/>
            <a:ext cx="2318593" cy="3222873"/>
          </a:xfrm>
          <a:prstGeom prst="rect">
            <a:avLst/>
          </a:prstGeom>
          <a:solidFill>
            <a:srgbClr val="252B3D"/>
          </a:solidFill>
          <a:ln/>
        </p:spPr>
        <p:txBody>
          <a:bodyPr wrap="square" rtlCol="0" anchor="ctr"/>
          <a:lstStyle/>
          <a:p>
            <a:pPr indent="0" marL="0">
              <a:buNone/>
            </a:pPr>
            <a:endParaRPr lang="en-US" dirty="0"/>
          </a:p>
        </p:txBody>
      </p:sp>
      <p:sp>
        <p:nvSpPr>
          <p:cNvPr id="29" name="Text 27"/>
          <p:cNvSpPr/>
          <p:nvPr/>
        </p:nvSpPr>
        <p:spPr>
          <a:xfrm>
            <a:off x="6558558" y="1567011"/>
            <a:ext cx="1976345" cy="173236"/>
          </a:xfrm>
          <a:prstGeom prst="rect">
            <a:avLst/>
          </a:prstGeom>
          <a:noFill/>
          <a:ln/>
        </p:spPr>
        <p:txBody>
          <a:bodyPr wrap="square" lIns="0" tIns="0" rIns="0" bIns="0" rtlCol="0" anchor="t"/>
          <a:lstStyle/>
          <a:p>
            <a:pPr algn="l" indent="0" marL="0">
              <a:lnSpc>
                <a:spcPts val="1365"/>
              </a:lnSpc>
              <a:spcAft>
                <a:spcPts val="1200"/>
              </a:spcAft>
              <a:buNone/>
            </a:pPr>
            <a:r>
              <a:rPr lang="en-US" sz="975" b="1" dirty="0">
                <a:solidFill>
                  <a:srgbClr val="C9A227"/>
                </a:solidFill>
                <a:latin typeface="Arial" pitchFamily="34" charset="0"/>
                <a:ea typeface="Arial" pitchFamily="34" charset="-122"/>
                <a:cs typeface="Arial" pitchFamily="34" charset="-120"/>
              </a:rPr>
              <a:t>REMEMBER</a:t>
            </a:r>
            <a:endParaRPr lang="en-US" sz="975" dirty="0"/>
          </a:p>
        </p:txBody>
      </p:sp>
      <p:sp>
        <p:nvSpPr>
          <p:cNvPr id="30" name="Text 28"/>
          <p:cNvSpPr/>
          <p:nvPr/>
        </p:nvSpPr>
        <p:spPr>
          <a:xfrm>
            <a:off x="6558558" y="2045047"/>
            <a:ext cx="1937593" cy="1104900"/>
          </a:xfrm>
          <a:prstGeom prst="rect">
            <a:avLst/>
          </a:prstGeom>
          <a:solidFill>
            <a:srgbClr val="1A1F2E"/>
          </a:solidFill>
          <a:ln/>
        </p:spPr>
        <p:txBody>
          <a:bodyPr wrap="square" rtlCol="0" anchor="ctr"/>
          <a:lstStyle/>
          <a:p>
            <a:pPr indent="0" marL="0">
              <a:buNone/>
            </a:pPr>
            <a:endParaRPr lang="en-US" dirty="0"/>
          </a:p>
        </p:txBody>
      </p:sp>
      <p:sp>
        <p:nvSpPr>
          <p:cNvPr id="31" name="Text 29"/>
          <p:cNvSpPr/>
          <p:nvPr/>
        </p:nvSpPr>
        <p:spPr>
          <a:xfrm>
            <a:off x="6710958" y="2197447"/>
            <a:ext cx="1665449" cy="800100"/>
          </a:xfrm>
          <a:prstGeom prst="rect">
            <a:avLst/>
          </a:prstGeom>
          <a:noFill/>
          <a:ln/>
        </p:spPr>
        <p:txBody>
          <a:bodyPr wrap="square" lIns="0" tIns="0" rIns="0" bIns="0" rtlCol="0" anchor="t"/>
          <a:lstStyle/>
          <a:p>
            <a:pPr algn="l" indent="0" marL="0">
              <a:lnSpc>
                <a:spcPts val="1575"/>
              </a:lnSpc>
              <a:buNone/>
            </a:pPr>
            <a:r>
              <a:rPr lang="en-US" sz="1050" dirty="0">
                <a:solidFill>
                  <a:srgbClr val="FFFFFF"/>
                </a:solidFill>
                <a:latin typeface="Georgia" pitchFamily="34" charset="0"/>
                <a:ea typeface="Georgia" pitchFamily="34" charset="-122"/>
                <a:cs typeface="Georgia" pitchFamily="34" charset="-120"/>
              </a:rPr>
              <a:t>"If you wouldn't print it and leave it on a public printer, don't paste it into a public AI."</a:t>
            </a:r>
            <a:endParaRPr lang="en-US" sz="1050" dirty="0"/>
          </a:p>
        </p:txBody>
      </p:sp>
      <p:sp>
        <p:nvSpPr>
          <p:cNvPr id="32" name="Text 30"/>
          <p:cNvSpPr/>
          <p:nvPr/>
        </p:nvSpPr>
        <p:spPr>
          <a:xfrm>
            <a:off x="6558558" y="3454747"/>
            <a:ext cx="1976345" cy="502741"/>
          </a:xfrm>
          <a:prstGeom prst="rect">
            <a:avLst/>
          </a:prstGeom>
          <a:noFill/>
          <a:ln/>
        </p:spPr>
        <p:txBody>
          <a:bodyPr wrap="square" lIns="0" tIns="0" rIns="0" bIns="0" rtlCol="0" anchor="t"/>
          <a:lstStyle/>
          <a:p>
            <a:pPr algn="l" indent="0" marL="0">
              <a:lnSpc>
                <a:spcPts val="1320"/>
              </a:lnSpc>
              <a:buNone/>
            </a:pPr>
            <a:r>
              <a:rPr lang="en-US" sz="825" dirty="0">
                <a:solidFill>
                  <a:srgbClr val="FFFFFF">
                    <a:alpha val="60000"/>
                  </a:srgbClr>
                </a:solidFill>
                <a:latin typeface="Arial" pitchFamily="34" charset="0"/>
                <a:ea typeface="Arial" pitchFamily="34" charset="-122"/>
                <a:cs typeface="Arial" pitchFamily="34" charset="-120"/>
              </a:rPr>
              <a:t>The convenience of AI tools doesn't change our responsibility to protect sensitive data.</a:t>
            </a:r>
            <a:endParaRPr lang="en-US" sz="825" dirty="0"/>
          </a:p>
        </p:txBody>
      </p:sp>
      <p:sp>
        <p:nvSpPr>
          <p:cNvPr id="33" name="Text 31"/>
          <p:cNvSpPr/>
          <p:nvPr/>
        </p:nvSpPr>
        <p:spPr>
          <a:xfrm>
            <a:off x="6558558" y="4262289"/>
            <a:ext cx="1976345" cy="146596"/>
          </a:xfrm>
          <a:prstGeom prst="rect">
            <a:avLst/>
          </a:prstGeom>
          <a:noFill/>
          <a:ln/>
        </p:spPr>
        <p:txBody>
          <a:bodyPr wrap="square" lIns="0" tIns="0" rIns="0" bIns="0" rtlCol="0" anchor="t"/>
          <a:lstStyle/>
          <a:p>
            <a:pPr algn="l" indent="0" marL="0">
              <a:lnSpc>
                <a:spcPts val="1155"/>
              </a:lnSpc>
              <a:buNone/>
            </a:pPr>
            <a:r>
              <a:rPr lang="en-US" sz="825" dirty="0">
                <a:solidFill>
                  <a:srgbClr val="C9A227"/>
                </a:solidFill>
                <a:latin typeface="Arial" pitchFamily="34" charset="0"/>
                <a:ea typeface="Arial" pitchFamily="34" charset="-122"/>
                <a:cs typeface="Arial" pitchFamily="34" charset="-120"/>
              </a:rPr>
              <a:t>When in doubt, ask IT Security</a:t>
            </a:r>
            <a:endParaRPr lang="en-US" sz="825"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457200" y="266700"/>
            <a:ext cx="8394192" cy="146596"/>
          </a:xfrm>
          <a:prstGeom prst="rect">
            <a:avLst/>
          </a:prstGeom>
          <a:noFill/>
          <a:ln/>
        </p:spPr>
        <p:txBody>
          <a:bodyPr wrap="square" lIns="0" tIns="0" rIns="0" bIns="0" rtlCol="0" anchor="t"/>
          <a:lstStyle/>
          <a:p>
            <a:pPr algn="l" indent="0" marL="0">
              <a:lnSpc>
                <a:spcPts val="1155"/>
              </a:lnSpc>
              <a:spcAft>
                <a:spcPts val="600"/>
              </a:spcAft>
              <a:buNone/>
            </a:pPr>
            <a:r>
              <a:rPr lang="en-US" sz="825" dirty="0">
                <a:solidFill>
                  <a:srgbClr val="C9A227"/>
                </a:solidFill>
                <a:latin typeface="Arial" pitchFamily="34" charset="0"/>
                <a:ea typeface="Arial" pitchFamily="34" charset="-122"/>
                <a:cs typeface="Arial" pitchFamily="34" charset="-120"/>
              </a:rPr>
              <a:t>CHECKLIST</a:t>
            </a:r>
            <a:endParaRPr lang="en-US" sz="825" dirty="0"/>
          </a:p>
        </p:txBody>
      </p:sp>
      <p:sp>
        <p:nvSpPr>
          <p:cNvPr id="3" name="Text 1"/>
          <p:cNvSpPr/>
          <p:nvPr/>
        </p:nvSpPr>
        <p:spPr>
          <a:xfrm>
            <a:off x="457200" y="489496"/>
            <a:ext cx="4206812" cy="304800"/>
          </a:xfrm>
          <a:prstGeom prst="rect">
            <a:avLst/>
          </a:prstGeom>
          <a:noFill/>
          <a:ln/>
        </p:spPr>
        <p:txBody>
          <a:bodyPr wrap="square" lIns="0" tIns="0" rIns="0" bIns="0" rtlCol="0" anchor="t"/>
          <a:lstStyle/>
          <a:p>
            <a:pPr algn="l" indent="0" marL="0">
              <a:lnSpc>
                <a:spcPts val="2400"/>
              </a:lnSpc>
              <a:buNone/>
            </a:pPr>
            <a:r>
              <a:rPr lang="en-US" sz="2400" dirty="0">
                <a:solidFill>
                  <a:srgbClr val="1A1F2E"/>
                </a:solidFill>
                <a:latin typeface="Georgia" pitchFamily="34" charset="0"/>
                <a:ea typeface="Georgia" pitchFamily="34" charset="-122"/>
                <a:cs typeface="Georgia" pitchFamily="34" charset="-120"/>
              </a:rPr>
              <a:t>Before Using AI Tools</a:t>
            </a:r>
            <a:endParaRPr lang="en-US" sz="2400" dirty="0"/>
          </a:p>
        </p:txBody>
      </p:sp>
      <p:sp>
        <p:nvSpPr>
          <p:cNvPr id="4" name="Text 2"/>
          <p:cNvSpPr/>
          <p:nvPr/>
        </p:nvSpPr>
        <p:spPr>
          <a:xfrm>
            <a:off x="457200" y="1545878"/>
            <a:ext cx="2808536" cy="2884140"/>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5" name="Text 3"/>
          <p:cNvSpPr/>
          <p:nvPr/>
        </p:nvSpPr>
        <p:spPr>
          <a:xfrm>
            <a:off x="657225" y="1745903"/>
            <a:ext cx="2456655" cy="159990"/>
          </a:xfrm>
          <a:prstGeom prst="rect">
            <a:avLst/>
          </a:prstGeom>
          <a:noFill/>
          <a:ln/>
        </p:spPr>
        <p:txBody>
          <a:bodyPr wrap="square" lIns="0" tIns="0" rIns="0" bIns="0" rtlCol="0" anchor="t"/>
          <a:lstStyle/>
          <a:p>
            <a:pPr algn="l" indent="0" marL="0">
              <a:lnSpc>
                <a:spcPts val="1260"/>
              </a:lnSpc>
              <a:spcAft>
                <a:spcPts val="1200"/>
              </a:spcAft>
              <a:buNone/>
            </a:pPr>
            <a:r>
              <a:rPr lang="en-US" sz="900" b="1" dirty="0">
                <a:solidFill>
                  <a:srgbClr val="C9A227"/>
                </a:solidFill>
                <a:latin typeface="Arial" pitchFamily="34" charset="0"/>
                <a:ea typeface="Arial" pitchFamily="34" charset="-122"/>
                <a:cs typeface="Arial" pitchFamily="34" charset="-120"/>
              </a:rPr>
              <a:t>INITIAL SETUP</a:t>
            </a:r>
            <a:endParaRPr lang="en-US" sz="900" dirty="0"/>
          </a:p>
        </p:txBody>
      </p:sp>
      <p:sp>
        <p:nvSpPr>
          <p:cNvPr id="6" name="Text 4"/>
          <p:cNvSpPr/>
          <p:nvPr/>
        </p:nvSpPr>
        <p:spPr>
          <a:xfrm>
            <a:off x="657225" y="2210693"/>
            <a:ext cx="190500" cy="190500"/>
          </a:xfrm>
          <a:prstGeom prst="rect">
            <a:avLst/>
          </a:prstGeom>
          <a:noFill/>
          <a:ln w="19050">
            <a:solidFill>
              <a:srgbClr val="059669"/>
            </a:solidFill>
          </a:ln>
        </p:spPr>
        <p:txBody>
          <a:bodyPr wrap="square" rtlCol="0" anchor="ctr"/>
          <a:lstStyle/>
          <a:p>
            <a:pPr indent="0" marL="0">
              <a:buNone/>
            </a:pPr>
            <a:endParaRPr lang="en-US" dirty="0"/>
          </a:p>
        </p:txBody>
      </p:sp>
      <p:sp>
        <p:nvSpPr>
          <p:cNvPr id="7" name="Text 5"/>
          <p:cNvSpPr/>
          <p:nvPr/>
        </p:nvSpPr>
        <p:spPr>
          <a:xfrm>
            <a:off x="942975" y="2225873"/>
            <a:ext cx="1380360" cy="159990"/>
          </a:xfrm>
          <a:prstGeom prst="rect">
            <a:avLst/>
          </a:prstGeom>
          <a:noFill/>
          <a:ln/>
        </p:spPr>
        <p:txBody>
          <a:bodyPr wrap="square" lIns="0" tIns="0" rIns="0" bIns="0" rtlCol="0" anchor="t"/>
          <a:lstStyle/>
          <a:p>
            <a:pPr algn="l" indent="0" marL="0">
              <a:lnSpc>
                <a:spcPts val="1260"/>
              </a:lnSpc>
              <a:buNone/>
            </a:pPr>
            <a:r>
              <a:rPr lang="en-US" sz="900" dirty="0">
                <a:solidFill>
                  <a:srgbClr val="1A1F2E"/>
                </a:solidFill>
                <a:latin typeface="Arial" pitchFamily="34" charset="0"/>
                <a:ea typeface="Arial" pitchFamily="34" charset="-122"/>
                <a:cs typeface="Arial" pitchFamily="34" charset="-120"/>
              </a:rPr>
              <a:t>Verified tool is IT-approved</a:t>
            </a:r>
            <a:endParaRPr lang="en-US" sz="900" dirty="0"/>
          </a:p>
        </p:txBody>
      </p:sp>
      <p:sp>
        <p:nvSpPr>
          <p:cNvPr id="8" name="Text 6"/>
          <p:cNvSpPr/>
          <p:nvPr/>
        </p:nvSpPr>
        <p:spPr>
          <a:xfrm>
            <a:off x="657225" y="2667893"/>
            <a:ext cx="190500" cy="190500"/>
          </a:xfrm>
          <a:prstGeom prst="rect">
            <a:avLst/>
          </a:prstGeom>
          <a:noFill/>
          <a:ln w="19050">
            <a:solidFill>
              <a:srgbClr val="059669"/>
            </a:solidFill>
          </a:ln>
        </p:spPr>
        <p:txBody>
          <a:bodyPr wrap="square" rtlCol="0" anchor="ctr"/>
          <a:lstStyle/>
          <a:p>
            <a:pPr indent="0" marL="0">
              <a:buNone/>
            </a:pPr>
            <a:endParaRPr lang="en-US" dirty="0"/>
          </a:p>
        </p:txBody>
      </p:sp>
      <p:sp>
        <p:nvSpPr>
          <p:cNvPr id="9" name="Text 7"/>
          <p:cNvSpPr/>
          <p:nvPr/>
        </p:nvSpPr>
        <p:spPr>
          <a:xfrm>
            <a:off x="942975" y="2683073"/>
            <a:ext cx="1911676" cy="159990"/>
          </a:xfrm>
          <a:prstGeom prst="rect">
            <a:avLst/>
          </a:prstGeom>
          <a:noFill/>
          <a:ln/>
        </p:spPr>
        <p:txBody>
          <a:bodyPr wrap="square" lIns="0" tIns="0" rIns="0" bIns="0" rtlCol="0" anchor="t"/>
          <a:lstStyle/>
          <a:p>
            <a:pPr algn="l" indent="0" marL="0">
              <a:lnSpc>
                <a:spcPts val="1260"/>
              </a:lnSpc>
              <a:buNone/>
            </a:pPr>
            <a:r>
              <a:rPr lang="en-US" sz="900" dirty="0">
                <a:solidFill>
                  <a:srgbClr val="1A1F2E"/>
                </a:solidFill>
                <a:latin typeface="Arial" pitchFamily="34" charset="0"/>
                <a:ea typeface="Arial" pitchFamily="34" charset="-122"/>
                <a:cs typeface="Arial" pitchFamily="34" charset="-120"/>
              </a:rPr>
              <a:t>Understand data flow (local vs cloud)</a:t>
            </a:r>
            <a:endParaRPr lang="en-US" sz="900" dirty="0"/>
          </a:p>
        </p:txBody>
      </p:sp>
      <p:sp>
        <p:nvSpPr>
          <p:cNvPr id="10" name="Text 8"/>
          <p:cNvSpPr/>
          <p:nvPr/>
        </p:nvSpPr>
        <p:spPr>
          <a:xfrm>
            <a:off x="657225" y="3125093"/>
            <a:ext cx="190500" cy="190500"/>
          </a:xfrm>
          <a:prstGeom prst="rect">
            <a:avLst/>
          </a:prstGeom>
          <a:noFill/>
          <a:ln w="19050">
            <a:solidFill>
              <a:srgbClr val="059669"/>
            </a:solidFill>
          </a:ln>
        </p:spPr>
        <p:txBody>
          <a:bodyPr wrap="square" rtlCol="0" anchor="ctr"/>
          <a:lstStyle/>
          <a:p>
            <a:pPr indent="0" marL="0">
              <a:buNone/>
            </a:pPr>
            <a:endParaRPr lang="en-US" dirty="0"/>
          </a:p>
        </p:txBody>
      </p:sp>
      <p:sp>
        <p:nvSpPr>
          <p:cNvPr id="11" name="Text 9"/>
          <p:cNvSpPr/>
          <p:nvPr/>
        </p:nvSpPr>
        <p:spPr>
          <a:xfrm>
            <a:off x="942975" y="3140273"/>
            <a:ext cx="1833649" cy="159990"/>
          </a:xfrm>
          <a:prstGeom prst="rect">
            <a:avLst/>
          </a:prstGeom>
          <a:noFill/>
          <a:ln/>
        </p:spPr>
        <p:txBody>
          <a:bodyPr wrap="square" lIns="0" tIns="0" rIns="0" bIns="0" rtlCol="0" anchor="t"/>
          <a:lstStyle/>
          <a:p>
            <a:pPr algn="l" indent="0" marL="0">
              <a:lnSpc>
                <a:spcPts val="1260"/>
              </a:lnSpc>
              <a:buNone/>
            </a:pPr>
            <a:r>
              <a:rPr lang="en-US" sz="900" dirty="0">
                <a:solidFill>
                  <a:srgbClr val="1A1F2E"/>
                </a:solidFill>
                <a:latin typeface="Arial" pitchFamily="34" charset="0"/>
                <a:ea typeface="Arial" pitchFamily="34" charset="-122"/>
                <a:cs typeface="Arial" pitchFamily="34" charset="-120"/>
              </a:rPr>
              <a:t>API keys stored securely (env vars)</a:t>
            </a:r>
            <a:endParaRPr lang="en-US" sz="900" dirty="0"/>
          </a:p>
        </p:txBody>
      </p:sp>
      <p:sp>
        <p:nvSpPr>
          <p:cNvPr id="12" name="Text 10"/>
          <p:cNvSpPr/>
          <p:nvPr/>
        </p:nvSpPr>
        <p:spPr>
          <a:xfrm>
            <a:off x="657225" y="3582293"/>
            <a:ext cx="190500" cy="190500"/>
          </a:xfrm>
          <a:prstGeom prst="rect">
            <a:avLst/>
          </a:prstGeom>
          <a:noFill/>
          <a:ln w="19050">
            <a:solidFill>
              <a:srgbClr val="059669"/>
            </a:solidFill>
          </a:ln>
        </p:spPr>
        <p:txBody>
          <a:bodyPr wrap="square" rtlCol="0" anchor="ctr"/>
          <a:lstStyle/>
          <a:p>
            <a:pPr indent="0" marL="0">
              <a:buNone/>
            </a:pPr>
            <a:endParaRPr lang="en-US" dirty="0"/>
          </a:p>
        </p:txBody>
      </p:sp>
      <p:sp>
        <p:nvSpPr>
          <p:cNvPr id="13" name="Text 11"/>
          <p:cNvSpPr/>
          <p:nvPr/>
        </p:nvSpPr>
        <p:spPr>
          <a:xfrm>
            <a:off x="942975" y="3597473"/>
            <a:ext cx="1393567" cy="159990"/>
          </a:xfrm>
          <a:prstGeom prst="rect">
            <a:avLst/>
          </a:prstGeom>
          <a:noFill/>
          <a:ln/>
        </p:spPr>
        <p:txBody>
          <a:bodyPr wrap="square" lIns="0" tIns="0" rIns="0" bIns="0" rtlCol="0" anchor="t"/>
          <a:lstStyle/>
          <a:p>
            <a:pPr algn="l" indent="0" marL="0">
              <a:lnSpc>
                <a:spcPts val="1260"/>
              </a:lnSpc>
              <a:buNone/>
            </a:pPr>
            <a:r>
              <a:rPr lang="en-US" sz="900" dirty="0">
                <a:solidFill>
                  <a:srgbClr val="1A1F2E"/>
                </a:solidFill>
                <a:latin typeface="Arial" pitchFamily="34" charset="0"/>
                <a:ea typeface="Arial" pitchFamily="34" charset="-122"/>
                <a:cs typeface="Arial" pitchFamily="34" charset="-120"/>
              </a:rPr>
              <a:t>Local transcription enabled</a:t>
            </a:r>
            <a:endParaRPr lang="en-US" sz="900" dirty="0"/>
          </a:p>
        </p:txBody>
      </p:sp>
      <p:sp>
        <p:nvSpPr>
          <p:cNvPr id="14" name="Text 12"/>
          <p:cNvSpPr/>
          <p:nvPr/>
        </p:nvSpPr>
        <p:spPr>
          <a:xfrm>
            <a:off x="657225" y="4039493"/>
            <a:ext cx="190500" cy="190500"/>
          </a:xfrm>
          <a:prstGeom prst="rect">
            <a:avLst/>
          </a:prstGeom>
          <a:noFill/>
          <a:ln w="19050">
            <a:solidFill>
              <a:srgbClr val="059669"/>
            </a:solidFill>
          </a:ln>
        </p:spPr>
        <p:txBody>
          <a:bodyPr wrap="square" rtlCol="0" anchor="ctr"/>
          <a:lstStyle/>
          <a:p>
            <a:pPr indent="0" marL="0">
              <a:buNone/>
            </a:pPr>
            <a:endParaRPr lang="en-US" dirty="0"/>
          </a:p>
        </p:txBody>
      </p:sp>
      <p:sp>
        <p:nvSpPr>
          <p:cNvPr id="15" name="Text 13"/>
          <p:cNvSpPr/>
          <p:nvPr/>
        </p:nvSpPr>
        <p:spPr>
          <a:xfrm>
            <a:off x="942975" y="4054673"/>
            <a:ext cx="1639642" cy="159990"/>
          </a:xfrm>
          <a:prstGeom prst="rect">
            <a:avLst/>
          </a:prstGeom>
          <a:noFill/>
          <a:ln/>
        </p:spPr>
        <p:txBody>
          <a:bodyPr wrap="square" lIns="0" tIns="0" rIns="0" bIns="0" rtlCol="0" anchor="t"/>
          <a:lstStyle/>
          <a:p>
            <a:pPr algn="l" indent="0" marL="0">
              <a:lnSpc>
                <a:spcPts val="1260"/>
              </a:lnSpc>
              <a:buNone/>
            </a:pPr>
            <a:r>
              <a:rPr lang="en-US" sz="900" dirty="0">
                <a:solidFill>
                  <a:srgbClr val="1A1F2E"/>
                </a:solidFill>
                <a:latin typeface="Arial" pitchFamily="34" charset="0"/>
                <a:ea typeface="Arial" pitchFamily="34" charset="-122"/>
                <a:cs typeface="Arial" pitchFamily="34" charset="-120"/>
              </a:rPr>
              <a:t>Know escalation path for issues</a:t>
            </a:r>
            <a:endParaRPr lang="en-US" sz="900" dirty="0"/>
          </a:p>
        </p:txBody>
      </p:sp>
      <p:sp>
        <p:nvSpPr>
          <p:cNvPr id="16" name="Text 14"/>
          <p:cNvSpPr/>
          <p:nvPr/>
        </p:nvSpPr>
        <p:spPr>
          <a:xfrm>
            <a:off x="3418136" y="1545878"/>
            <a:ext cx="2808536" cy="2884140"/>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7" name="Text 15"/>
          <p:cNvSpPr/>
          <p:nvPr/>
        </p:nvSpPr>
        <p:spPr>
          <a:xfrm>
            <a:off x="3618161" y="1745903"/>
            <a:ext cx="2456655" cy="159990"/>
          </a:xfrm>
          <a:prstGeom prst="rect">
            <a:avLst/>
          </a:prstGeom>
          <a:noFill/>
          <a:ln/>
        </p:spPr>
        <p:txBody>
          <a:bodyPr wrap="square" lIns="0" tIns="0" rIns="0" bIns="0" rtlCol="0" anchor="t"/>
          <a:lstStyle/>
          <a:p>
            <a:pPr algn="l" indent="0" marL="0">
              <a:lnSpc>
                <a:spcPts val="1260"/>
              </a:lnSpc>
              <a:spcAft>
                <a:spcPts val="1200"/>
              </a:spcAft>
              <a:buNone/>
            </a:pPr>
            <a:r>
              <a:rPr lang="en-US" sz="900" b="1" dirty="0">
                <a:solidFill>
                  <a:srgbClr val="C9A227"/>
                </a:solidFill>
                <a:latin typeface="Arial" pitchFamily="34" charset="0"/>
                <a:ea typeface="Arial" pitchFamily="34" charset="-122"/>
                <a:cs typeface="Arial" pitchFamily="34" charset="-120"/>
              </a:rPr>
              <a:t>BEFORE EACH USE</a:t>
            </a:r>
            <a:endParaRPr lang="en-US" sz="900" dirty="0"/>
          </a:p>
        </p:txBody>
      </p:sp>
      <p:sp>
        <p:nvSpPr>
          <p:cNvPr id="18" name="Text 16"/>
          <p:cNvSpPr/>
          <p:nvPr/>
        </p:nvSpPr>
        <p:spPr>
          <a:xfrm>
            <a:off x="3618161" y="2210693"/>
            <a:ext cx="190500" cy="190500"/>
          </a:xfrm>
          <a:prstGeom prst="rect">
            <a:avLst/>
          </a:prstGeom>
          <a:noFill/>
          <a:ln w="19050">
            <a:solidFill>
              <a:srgbClr val="F59E0B"/>
            </a:solidFill>
          </a:ln>
        </p:spPr>
        <p:txBody>
          <a:bodyPr wrap="square" rtlCol="0" anchor="ctr"/>
          <a:lstStyle/>
          <a:p>
            <a:pPr indent="0" marL="0">
              <a:buNone/>
            </a:pPr>
            <a:endParaRPr lang="en-US" dirty="0"/>
          </a:p>
        </p:txBody>
      </p:sp>
      <p:sp>
        <p:nvSpPr>
          <p:cNvPr id="19" name="Text 17"/>
          <p:cNvSpPr/>
          <p:nvPr/>
        </p:nvSpPr>
        <p:spPr>
          <a:xfrm>
            <a:off x="3903911" y="2225873"/>
            <a:ext cx="1367457" cy="159990"/>
          </a:xfrm>
          <a:prstGeom prst="rect">
            <a:avLst/>
          </a:prstGeom>
          <a:noFill/>
          <a:ln/>
        </p:spPr>
        <p:txBody>
          <a:bodyPr wrap="square" lIns="0" tIns="0" rIns="0" bIns="0" rtlCol="0" anchor="t"/>
          <a:lstStyle/>
          <a:p>
            <a:pPr algn="l" indent="0" marL="0">
              <a:lnSpc>
                <a:spcPts val="1260"/>
              </a:lnSpc>
              <a:buNone/>
            </a:pPr>
            <a:r>
              <a:rPr lang="en-US" sz="900" dirty="0">
                <a:solidFill>
                  <a:srgbClr val="1A1F2E"/>
                </a:solidFill>
                <a:latin typeface="Arial" pitchFamily="34" charset="0"/>
                <a:ea typeface="Arial" pitchFamily="34" charset="-122"/>
                <a:cs typeface="Arial" pitchFamily="34" charset="-120"/>
              </a:rPr>
              <a:t>Does prompt contain PHI?</a:t>
            </a:r>
            <a:endParaRPr lang="en-US" sz="900" dirty="0"/>
          </a:p>
        </p:txBody>
      </p:sp>
      <p:sp>
        <p:nvSpPr>
          <p:cNvPr id="20" name="Text 18"/>
          <p:cNvSpPr/>
          <p:nvPr/>
        </p:nvSpPr>
        <p:spPr>
          <a:xfrm>
            <a:off x="3618161" y="2667893"/>
            <a:ext cx="190500" cy="190500"/>
          </a:xfrm>
          <a:prstGeom prst="rect">
            <a:avLst/>
          </a:prstGeom>
          <a:noFill/>
          <a:ln w="19050">
            <a:solidFill>
              <a:srgbClr val="F59E0B"/>
            </a:solidFill>
          </a:ln>
        </p:spPr>
        <p:txBody>
          <a:bodyPr wrap="square" rtlCol="0" anchor="ctr"/>
          <a:lstStyle/>
          <a:p>
            <a:pPr indent="0" marL="0">
              <a:buNone/>
            </a:pPr>
            <a:endParaRPr lang="en-US" dirty="0"/>
          </a:p>
        </p:txBody>
      </p:sp>
      <p:sp>
        <p:nvSpPr>
          <p:cNvPr id="21" name="Text 19"/>
          <p:cNvSpPr/>
          <p:nvPr/>
        </p:nvSpPr>
        <p:spPr>
          <a:xfrm>
            <a:off x="3903911" y="2683073"/>
            <a:ext cx="1452012" cy="159990"/>
          </a:xfrm>
          <a:prstGeom prst="rect">
            <a:avLst/>
          </a:prstGeom>
          <a:noFill/>
          <a:ln/>
        </p:spPr>
        <p:txBody>
          <a:bodyPr wrap="square" lIns="0" tIns="0" rIns="0" bIns="0" rtlCol="0" anchor="t"/>
          <a:lstStyle/>
          <a:p>
            <a:pPr algn="l" indent="0" marL="0">
              <a:lnSpc>
                <a:spcPts val="1260"/>
              </a:lnSpc>
              <a:buNone/>
            </a:pPr>
            <a:r>
              <a:rPr lang="en-US" sz="900" dirty="0">
                <a:solidFill>
                  <a:srgbClr val="1A1F2E"/>
                </a:solidFill>
                <a:latin typeface="Arial" pitchFamily="34" charset="0"/>
                <a:ea typeface="Arial" pitchFamily="34" charset="-122"/>
                <a:cs typeface="Arial" pitchFamily="34" charset="-120"/>
              </a:rPr>
              <a:t>Is the endpoint appropriate?</a:t>
            </a:r>
            <a:endParaRPr lang="en-US" sz="900" dirty="0"/>
          </a:p>
        </p:txBody>
      </p:sp>
      <p:sp>
        <p:nvSpPr>
          <p:cNvPr id="22" name="Text 20"/>
          <p:cNvSpPr/>
          <p:nvPr/>
        </p:nvSpPr>
        <p:spPr>
          <a:xfrm>
            <a:off x="3618161" y="3125093"/>
            <a:ext cx="190500" cy="190500"/>
          </a:xfrm>
          <a:prstGeom prst="rect">
            <a:avLst/>
          </a:prstGeom>
          <a:noFill/>
          <a:ln w="19050">
            <a:solidFill>
              <a:srgbClr val="F59E0B"/>
            </a:solidFill>
          </a:ln>
        </p:spPr>
        <p:txBody>
          <a:bodyPr wrap="square" rtlCol="0" anchor="ctr"/>
          <a:lstStyle/>
          <a:p>
            <a:pPr indent="0" marL="0">
              <a:buNone/>
            </a:pPr>
            <a:endParaRPr lang="en-US" dirty="0"/>
          </a:p>
        </p:txBody>
      </p:sp>
      <p:sp>
        <p:nvSpPr>
          <p:cNvPr id="23" name="Text 21"/>
          <p:cNvSpPr/>
          <p:nvPr/>
        </p:nvSpPr>
        <p:spPr>
          <a:xfrm>
            <a:off x="3903911" y="3140273"/>
            <a:ext cx="1270302" cy="159990"/>
          </a:xfrm>
          <a:prstGeom prst="rect">
            <a:avLst/>
          </a:prstGeom>
          <a:noFill/>
          <a:ln/>
        </p:spPr>
        <p:txBody>
          <a:bodyPr wrap="square" lIns="0" tIns="0" rIns="0" bIns="0" rtlCol="0" anchor="t"/>
          <a:lstStyle/>
          <a:p>
            <a:pPr algn="l" indent="0" marL="0">
              <a:lnSpc>
                <a:spcPts val="1260"/>
              </a:lnSpc>
              <a:buNone/>
            </a:pPr>
            <a:r>
              <a:rPr lang="en-US" sz="900" dirty="0">
                <a:solidFill>
                  <a:srgbClr val="1A1F2E"/>
                </a:solidFill>
                <a:latin typeface="Arial" pitchFamily="34" charset="0"/>
                <a:ea typeface="Arial" pitchFamily="34" charset="-122"/>
                <a:cs typeface="Arial" pitchFamily="34" charset="-120"/>
              </a:rPr>
              <a:t>Any credentials in code?</a:t>
            </a:r>
            <a:endParaRPr lang="en-US" sz="900" dirty="0"/>
          </a:p>
        </p:txBody>
      </p:sp>
      <p:sp>
        <p:nvSpPr>
          <p:cNvPr id="24" name="Text 22"/>
          <p:cNvSpPr/>
          <p:nvPr/>
        </p:nvSpPr>
        <p:spPr>
          <a:xfrm>
            <a:off x="3618161" y="3582293"/>
            <a:ext cx="190500" cy="190500"/>
          </a:xfrm>
          <a:prstGeom prst="rect">
            <a:avLst/>
          </a:prstGeom>
          <a:noFill/>
          <a:ln w="19050">
            <a:solidFill>
              <a:srgbClr val="F59E0B"/>
            </a:solidFill>
          </a:ln>
        </p:spPr>
        <p:txBody>
          <a:bodyPr wrap="square" rtlCol="0" anchor="ctr"/>
          <a:lstStyle/>
          <a:p>
            <a:pPr indent="0" marL="0">
              <a:buNone/>
            </a:pPr>
            <a:endParaRPr lang="en-US" dirty="0"/>
          </a:p>
        </p:txBody>
      </p:sp>
      <p:sp>
        <p:nvSpPr>
          <p:cNvPr id="25" name="Text 23"/>
          <p:cNvSpPr/>
          <p:nvPr/>
        </p:nvSpPr>
        <p:spPr>
          <a:xfrm>
            <a:off x="3903911" y="3597473"/>
            <a:ext cx="1833952" cy="159990"/>
          </a:xfrm>
          <a:prstGeom prst="rect">
            <a:avLst/>
          </a:prstGeom>
          <a:noFill/>
          <a:ln/>
        </p:spPr>
        <p:txBody>
          <a:bodyPr wrap="square" lIns="0" tIns="0" rIns="0" bIns="0" rtlCol="0" anchor="t"/>
          <a:lstStyle/>
          <a:p>
            <a:pPr algn="l" indent="0" marL="0">
              <a:lnSpc>
                <a:spcPts val="1260"/>
              </a:lnSpc>
              <a:buNone/>
            </a:pPr>
            <a:r>
              <a:rPr lang="en-US" sz="900" dirty="0">
                <a:solidFill>
                  <a:srgbClr val="1A1F2E"/>
                </a:solidFill>
                <a:latin typeface="Arial" pitchFamily="34" charset="0"/>
                <a:ea typeface="Arial" pitchFamily="34" charset="-122"/>
                <a:cs typeface="Arial" pitchFamily="34" charset="-120"/>
              </a:rPr>
              <a:t>Review AI output before committing</a:t>
            </a:r>
            <a:endParaRPr lang="en-US" sz="900" dirty="0"/>
          </a:p>
        </p:txBody>
      </p:sp>
      <p:sp>
        <p:nvSpPr>
          <p:cNvPr id="26" name="Text 24"/>
          <p:cNvSpPr/>
          <p:nvPr/>
        </p:nvSpPr>
        <p:spPr>
          <a:xfrm>
            <a:off x="3618161" y="4039493"/>
            <a:ext cx="190500" cy="190500"/>
          </a:xfrm>
          <a:prstGeom prst="rect">
            <a:avLst/>
          </a:prstGeom>
          <a:noFill/>
          <a:ln w="19050">
            <a:solidFill>
              <a:srgbClr val="F59E0B"/>
            </a:solidFill>
          </a:ln>
        </p:spPr>
        <p:txBody>
          <a:bodyPr wrap="square" rtlCol="0" anchor="ctr"/>
          <a:lstStyle/>
          <a:p>
            <a:pPr indent="0" marL="0">
              <a:buNone/>
            </a:pPr>
            <a:endParaRPr lang="en-US" dirty="0"/>
          </a:p>
        </p:txBody>
      </p:sp>
      <p:sp>
        <p:nvSpPr>
          <p:cNvPr id="27" name="Text 25"/>
          <p:cNvSpPr/>
          <p:nvPr/>
        </p:nvSpPr>
        <p:spPr>
          <a:xfrm>
            <a:off x="3903911" y="4054673"/>
            <a:ext cx="1633418" cy="159990"/>
          </a:xfrm>
          <a:prstGeom prst="rect">
            <a:avLst/>
          </a:prstGeom>
          <a:noFill/>
          <a:ln/>
        </p:spPr>
        <p:txBody>
          <a:bodyPr wrap="square" lIns="0" tIns="0" rIns="0" bIns="0" rtlCol="0" anchor="t"/>
          <a:lstStyle/>
          <a:p>
            <a:pPr algn="l" indent="0" marL="0">
              <a:lnSpc>
                <a:spcPts val="1260"/>
              </a:lnSpc>
              <a:buNone/>
            </a:pPr>
            <a:r>
              <a:rPr lang="en-US" sz="900" dirty="0">
                <a:solidFill>
                  <a:srgbClr val="1A1F2E"/>
                </a:solidFill>
                <a:latin typeface="Arial" pitchFamily="34" charset="0"/>
                <a:ea typeface="Arial" pitchFamily="34" charset="-122"/>
                <a:cs typeface="Arial" pitchFamily="34" charset="-120"/>
              </a:rPr>
              <a:t>Test generated code thoroughly</a:t>
            </a:r>
            <a:endParaRPr lang="en-US" sz="900" dirty="0"/>
          </a:p>
        </p:txBody>
      </p:sp>
      <p:sp>
        <p:nvSpPr>
          <p:cNvPr id="28" name="Text 26"/>
          <p:cNvSpPr/>
          <p:nvPr/>
        </p:nvSpPr>
        <p:spPr>
          <a:xfrm>
            <a:off x="6379071" y="1403152"/>
            <a:ext cx="2307729" cy="3169444"/>
          </a:xfrm>
          <a:prstGeom prst="rect">
            <a:avLst/>
          </a:prstGeom>
          <a:solidFill>
            <a:srgbClr val="1A1F2E"/>
          </a:solidFill>
          <a:ln/>
        </p:spPr>
        <p:txBody>
          <a:bodyPr wrap="square" rtlCol="0" anchor="ctr"/>
          <a:lstStyle/>
          <a:p>
            <a:pPr indent="0" marL="0">
              <a:buNone/>
            </a:pPr>
            <a:endParaRPr lang="en-US" dirty="0"/>
          </a:p>
        </p:txBody>
      </p:sp>
      <p:sp>
        <p:nvSpPr>
          <p:cNvPr id="29" name="Text 27"/>
          <p:cNvSpPr/>
          <p:nvPr/>
        </p:nvSpPr>
        <p:spPr>
          <a:xfrm>
            <a:off x="6569571" y="1593652"/>
            <a:ext cx="1965263" cy="159990"/>
          </a:xfrm>
          <a:prstGeom prst="rect">
            <a:avLst/>
          </a:prstGeom>
          <a:noFill/>
          <a:ln/>
        </p:spPr>
        <p:txBody>
          <a:bodyPr wrap="square" lIns="0" tIns="0" rIns="0" bIns="0" rtlCol="0" anchor="t"/>
          <a:lstStyle/>
          <a:p>
            <a:pPr algn="l" indent="0" marL="0">
              <a:lnSpc>
                <a:spcPts val="1260"/>
              </a:lnSpc>
              <a:spcAft>
                <a:spcPts val="1200"/>
              </a:spcAft>
              <a:buNone/>
            </a:pPr>
            <a:r>
              <a:rPr lang="en-US" sz="900" b="1" dirty="0">
                <a:solidFill>
                  <a:srgbClr val="C9A227"/>
                </a:solidFill>
                <a:latin typeface="Arial" pitchFamily="34" charset="0"/>
                <a:ea typeface="Arial" pitchFamily="34" charset="-122"/>
                <a:cs typeface="Arial" pitchFamily="34" charset="-120"/>
              </a:rPr>
              <a:t>RESOURCES</a:t>
            </a:r>
            <a:endParaRPr lang="en-US" sz="900" dirty="0"/>
          </a:p>
        </p:txBody>
      </p:sp>
      <p:sp>
        <p:nvSpPr>
          <p:cNvPr id="30" name="Text 28"/>
          <p:cNvSpPr/>
          <p:nvPr/>
        </p:nvSpPr>
        <p:spPr>
          <a:xfrm>
            <a:off x="6569571" y="2058442"/>
            <a:ext cx="1965263" cy="159990"/>
          </a:xfrm>
          <a:prstGeom prst="rect">
            <a:avLst/>
          </a:prstGeom>
          <a:noFill/>
          <a:ln/>
        </p:spPr>
        <p:txBody>
          <a:bodyPr wrap="square" lIns="0" tIns="0" rIns="0" bIns="0" rtlCol="0" anchor="t"/>
          <a:lstStyle/>
          <a:p>
            <a:pPr algn="l" indent="0" marL="0">
              <a:lnSpc>
                <a:spcPts val="1260"/>
              </a:lnSpc>
              <a:spcAft>
                <a:spcPts val="300"/>
              </a:spcAft>
              <a:buNone/>
            </a:pPr>
            <a:r>
              <a:rPr lang="en-US" sz="900" b="1" dirty="0">
                <a:solidFill>
                  <a:srgbClr val="FFFFFF"/>
                </a:solidFill>
                <a:latin typeface="Arial" pitchFamily="34" charset="0"/>
                <a:ea typeface="Arial" pitchFamily="34" charset="-122"/>
                <a:cs typeface="Arial" pitchFamily="34" charset="-120"/>
              </a:rPr>
              <a:t>Questions?</a:t>
            </a:r>
            <a:endParaRPr lang="en-US" sz="900" dirty="0"/>
          </a:p>
        </p:txBody>
      </p:sp>
      <p:sp>
        <p:nvSpPr>
          <p:cNvPr id="31" name="Text 29"/>
          <p:cNvSpPr/>
          <p:nvPr/>
        </p:nvSpPr>
        <p:spPr>
          <a:xfrm>
            <a:off x="6569571" y="2256532"/>
            <a:ext cx="1965263" cy="146596"/>
          </a:xfrm>
          <a:prstGeom prst="rect">
            <a:avLst/>
          </a:prstGeom>
          <a:noFill/>
          <a:ln/>
        </p:spPr>
        <p:txBody>
          <a:bodyPr wrap="square" lIns="0" tIns="0" rIns="0" bIns="0" rtlCol="0" anchor="t"/>
          <a:lstStyle/>
          <a:p>
            <a:pPr algn="l" indent="0" marL="0">
              <a:lnSpc>
                <a:spcPts val="1155"/>
              </a:lnSpc>
              <a:buNone/>
            </a:pPr>
            <a:r>
              <a:rPr lang="en-US" sz="825" dirty="0">
                <a:solidFill>
                  <a:srgbClr val="FFFFFF">
                    <a:alpha val="60000"/>
                  </a:srgbClr>
                </a:solidFill>
                <a:latin typeface="Arial" pitchFamily="34" charset="0"/>
                <a:ea typeface="Arial" pitchFamily="34" charset="-122"/>
                <a:cs typeface="Arial" pitchFamily="34" charset="-120"/>
              </a:rPr>
              <a:t>Contact IT Security</a:t>
            </a:r>
            <a:endParaRPr lang="en-US" sz="825" dirty="0"/>
          </a:p>
        </p:txBody>
      </p:sp>
      <p:sp>
        <p:nvSpPr>
          <p:cNvPr id="32" name="Text 30"/>
          <p:cNvSpPr/>
          <p:nvPr/>
        </p:nvSpPr>
        <p:spPr>
          <a:xfrm>
            <a:off x="6569571" y="2707928"/>
            <a:ext cx="1965263" cy="159990"/>
          </a:xfrm>
          <a:prstGeom prst="rect">
            <a:avLst/>
          </a:prstGeom>
          <a:noFill/>
          <a:ln/>
        </p:spPr>
        <p:txBody>
          <a:bodyPr wrap="square" lIns="0" tIns="0" rIns="0" bIns="0" rtlCol="0" anchor="t"/>
          <a:lstStyle/>
          <a:p>
            <a:pPr algn="l" indent="0" marL="0">
              <a:lnSpc>
                <a:spcPts val="1260"/>
              </a:lnSpc>
              <a:spcAft>
                <a:spcPts val="300"/>
              </a:spcAft>
              <a:buNone/>
            </a:pPr>
            <a:r>
              <a:rPr lang="en-US" sz="900" b="1" dirty="0">
                <a:solidFill>
                  <a:srgbClr val="FFFFFF"/>
                </a:solidFill>
                <a:latin typeface="Arial" pitchFamily="34" charset="0"/>
                <a:ea typeface="Arial" pitchFamily="34" charset="-122"/>
                <a:cs typeface="Arial" pitchFamily="34" charset="-120"/>
              </a:rPr>
              <a:t>PHI Incident?</a:t>
            </a:r>
            <a:endParaRPr lang="en-US" sz="900" dirty="0"/>
          </a:p>
        </p:txBody>
      </p:sp>
      <p:sp>
        <p:nvSpPr>
          <p:cNvPr id="33" name="Text 31"/>
          <p:cNvSpPr/>
          <p:nvPr/>
        </p:nvSpPr>
        <p:spPr>
          <a:xfrm>
            <a:off x="6569571" y="2906018"/>
            <a:ext cx="1965263" cy="146596"/>
          </a:xfrm>
          <a:prstGeom prst="rect">
            <a:avLst/>
          </a:prstGeom>
          <a:noFill/>
          <a:ln/>
        </p:spPr>
        <p:txBody>
          <a:bodyPr wrap="square" lIns="0" tIns="0" rIns="0" bIns="0" rtlCol="0" anchor="t"/>
          <a:lstStyle/>
          <a:p>
            <a:pPr algn="l" indent="0" marL="0">
              <a:lnSpc>
                <a:spcPts val="1155"/>
              </a:lnSpc>
              <a:buNone/>
            </a:pPr>
            <a:r>
              <a:rPr lang="en-US" sz="825" dirty="0">
                <a:solidFill>
                  <a:srgbClr val="FFFFFF">
                    <a:alpha val="60000"/>
                  </a:srgbClr>
                </a:solidFill>
                <a:latin typeface="Arial" pitchFamily="34" charset="0"/>
                <a:ea typeface="Arial" pitchFamily="34" charset="-122"/>
                <a:cs typeface="Arial" pitchFamily="34" charset="-120"/>
              </a:rPr>
              <a:t>Report immediately to Privacy Officer</a:t>
            </a:r>
            <a:endParaRPr lang="en-US" sz="825" dirty="0"/>
          </a:p>
        </p:txBody>
      </p:sp>
      <p:sp>
        <p:nvSpPr>
          <p:cNvPr id="34" name="Text 32"/>
          <p:cNvSpPr/>
          <p:nvPr/>
        </p:nvSpPr>
        <p:spPr>
          <a:xfrm>
            <a:off x="6569571" y="3357414"/>
            <a:ext cx="1965263" cy="159990"/>
          </a:xfrm>
          <a:prstGeom prst="rect">
            <a:avLst/>
          </a:prstGeom>
          <a:noFill/>
          <a:ln/>
        </p:spPr>
        <p:txBody>
          <a:bodyPr wrap="square" lIns="0" tIns="0" rIns="0" bIns="0" rtlCol="0" anchor="t"/>
          <a:lstStyle/>
          <a:p>
            <a:pPr algn="l" indent="0" marL="0">
              <a:lnSpc>
                <a:spcPts val="1260"/>
              </a:lnSpc>
              <a:spcAft>
                <a:spcPts val="300"/>
              </a:spcAft>
              <a:buNone/>
            </a:pPr>
            <a:r>
              <a:rPr lang="en-US" sz="900" b="1" dirty="0">
                <a:solidFill>
                  <a:srgbClr val="FFFFFF"/>
                </a:solidFill>
                <a:latin typeface="Arial" pitchFamily="34" charset="0"/>
                <a:ea typeface="Arial" pitchFamily="34" charset="-122"/>
                <a:cs typeface="Arial" pitchFamily="34" charset="-120"/>
              </a:rPr>
              <a:t>New Tool Request?</a:t>
            </a:r>
            <a:endParaRPr lang="en-US" sz="900" dirty="0"/>
          </a:p>
        </p:txBody>
      </p:sp>
      <p:sp>
        <p:nvSpPr>
          <p:cNvPr id="35" name="Text 33"/>
          <p:cNvSpPr/>
          <p:nvPr/>
        </p:nvSpPr>
        <p:spPr>
          <a:xfrm>
            <a:off x="6569571" y="3555504"/>
            <a:ext cx="1965263" cy="146596"/>
          </a:xfrm>
          <a:prstGeom prst="rect">
            <a:avLst/>
          </a:prstGeom>
          <a:noFill/>
          <a:ln/>
        </p:spPr>
        <p:txBody>
          <a:bodyPr wrap="square" lIns="0" tIns="0" rIns="0" bIns="0" rtlCol="0" anchor="t"/>
          <a:lstStyle/>
          <a:p>
            <a:pPr algn="l" indent="0" marL="0">
              <a:lnSpc>
                <a:spcPts val="1155"/>
              </a:lnSpc>
              <a:buNone/>
            </a:pPr>
            <a:r>
              <a:rPr lang="en-US" sz="825" dirty="0">
                <a:solidFill>
                  <a:srgbClr val="FFFFFF">
                    <a:alpha val="60000"/>
                  </a:srgbClr>
                </a:solidFill>
                <a:latin typeface="Arial" pitchFamily="34" charset="0"/>
                <a:ea typeface="Arial" pitchFamily="34" charset="-122"/>
                <a:cs typeface="Arial" pitchFamily="34" charset="-120"/>
              </a:rPr>
              <a:t>Submit through IT approval process</a:t>
            </a:r>
            <a:endParaRPr lang="en-US" sz="825" dirty="0"/>
          </a:p>
        </p:txBody>
      </p:sp>
      <p:sp>
        <p:nvSpPr>
          <p:cNvPr id="36" name="Text 34"/>
          <p:cNvSpPr/>
          <p:nvPr/>
        </p:nvSpPr>
        <p:spPr>
          <a:xfrm>
            <a:off x="6569571" y="4006900"/>
            <a:ext cx="1926729" cy="375196"/>
          </a:xfrm>
          <a:prstGeom prst="rect">
            <a:avLst/>
          </a:prstGeom>
          <a:solidFill>
            <a:srgbClr val="252B3D"/>
          </a:solidFill>
          <a:ln/>
        </p:spPr>
        <p:txBody>
          <a:bodyPr wrap="square" rtlCol="0" anchor="ctr"/>
          <a:lstStyle/>
          <a:p>
            <a:pPr indent="0" marL="0">
              <a:buNone/>
            </a:pPr>
            <a:endParaRPr lang="en-US" dirty="0"/>
          </a:p>
        </p:txBody>
      </p:sp>
      <p:sp>
        <p:nvSpPr>
          <p:cNvPr id="37" name="Text 35"/>
          <p:cNvSpPr/>
          <p:nvPr/>
        </p:nvSpPr>
        <p:spPr>
          <a:xfrm>
            <a:off x="6666890" y="4121200"/>
            <a:ext cx="1732091" cy="146596"/>
          </a:xfrm>
          <a:prstGeom prst="rect">
            <a:avLst/>
          </a:prstGeom>
          <a:noFill/>
          <a:ln/>
        </p:spPr>
        <p:txBody>
          <a:bodyPr wrap="square" lIns="0" tIns="0" rIns="0" bIns="0" rtlCol="0" anchor="t"/>
          <a:lstStyle/>
          <a:p>
            <a:pPr algn="ctr" indent="0" marL="0">
              <a:lnSpc>
                <a:spcPts val="1155"/>
              </a:lnSpc>
              <a:buNone/>
            </a:pPr>
            <a:r>
              <a:rPr lang="en-US" sz="825" dirty="0">
                <a:solidFill>
                  <a:srgbClr val="C9A227"/>
                </a:solidFill>
                <a:latin typeface="Arial" pitchFamily="34" charset="0"/>
                <a:ea typeface="Arial" pitchFamily="34" charset="-122"/>
                <a:cs typeface="Arial" pitchFamily="34" charset="-120"/>
              </a:rPr>
              <a:t>Security is everyone's responsibility</a:t>
            </a:r>
            <a:endParaRPr lang="en-US" sz="825"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038103" y="1041202"/>
            <a:ext cx="1067794" cy="186630"/>
          </a:xfrm>
          <a:prstGeom prst="rect">
            <a:avLst/>
          </a:prstGeom>
          <a:noFill/>
          <a:ln/>
        </p:spPr>
        <p:txBody>
          <a:bodyPr wrap="square" lIns="0" tIns="0" rIns="0" bIns="0" rtlCol="0" anchor="t"/>
          <a:lstStyle/>
          <a:p>
            <a:pPr algn="ctr" indent="0" marL="0">
              <a:lnSpc>
                <a:spcPts val="1470"/>
              </a:lnSpc>
              <a:spcAft>
                <a:spcPts val="1500"/>
              </a:spcAft>
              <a:buNone/>
            </a:pPr>
            <a:r>
              <a:rPr lang="en-US" sz="1050" dirty="0">
                <a:solidFill>
                  <a:srgbClr val="C9A227"/>
                </a:solidFill>
                <a:latin typeface="Arial" pitchFamily="34" charset="0"/>
                <a:ea typeface="Arial" pitchFamily="34" charset="-122"/>
                <a:cs typeface="Arial" pitchFamily="34" charset="-120"/>
              </a:rPr>
              <a:t>SECTION 9</a:t>
            </a:r>
            <a:endParaRPr lang="en-US" sz="1050" dirty="0"/>
          </a:p>
        </p:txBody>
      </p:sp>
      <p:sp>
        <p:nvSpPr>
          <p:cNvPr id="3" name="Text 1"/>
          <p:cNvSpPr/>
          <p:nvPr/>
        </p:nvSpPr>
        <p:spPr>
          <a:xfrm>
            <a:off x="3375931" y="1570732"/>
            <a:ext cx="2392138" cy="495300"/>
          </a:xfrm>
          <a:prstGeom prst="rect">
            <a:avLst/>
          </a:prstGeom>
          <a:noFill/>
          <a:ln/>
        </p:spPr>
        <p:txBody>
          <a:bodyPr wrap="square" lIns="0" tIns="0" rIns="0" bIns="0" rtlCol="0" anchor="t"/>
          <a:lstStyle/>
          <a:p>
            <a:pPr algn="ctr" indent="0" marL="0">
              <a:lnSpc>
                <a:spcPts val="3900"/>
              </a:lnSpc>
              <a:spcAft>
                <a:spcPts val="1500"/>
              </a:spcAft>
              <a:buNone/>
            </a:pPr>
            <a:r>
              <a:rPr lang="en-US" sz="3900" dirty="0">
                <a:solidFill>
                  <a:srgbClr val="FFFFFF"/>
                </a:solidFill>
                <a:latin typeface="Georgia" pitchFamily="34" charset="0"/>
                <a:ea typeface="Georgia" pitchFamily="34" charset="-122"/>
                <a:cs typeface="Georgia" pitchFamily="34" charset="-120"/>
              </a:rPr>
              <a:t>Next Steps</a:t>
            </a:r>
            <a:endParaRPr lang="en-US" sz="3900" dirty="0"/>
          </a:p>
        </p:txBody>
      </p:sp>
      <p:sp>
        <p:nvSpPr>
          <p:cNvPr id="4" name="Text 2"/>
          <p:cNvSpPr/>
          <p:nvPr/>
        </p:nvSpPr>
        <p:spPr>
          <a:xfrm>
            <a:off x="4191000" y="2408932"/>
            <a:ext cx="762000" cy="28575"/>
          </a:xfrm>
          <a:prstGeom prst="rect">
            <a:avLst/>
          </a:prstGeom>
          <a:solidFill>
            <a:srgbClr val="C9A227"/>
          </a:solidFill>
          <a:ln/>
        </p:spPr>
        <p:txBody>
          <a:bodyPr wrap="square" rtlCol="0" anchor="ctr"/>
          <a:lstStyle/>
          <a:p>
            <a:pPr indent="0" marL="0">
              <a:buNone/>
            </a:pPr>
            <a:endParaRPr lang="en-US" dirty="0"/>
          </a:p>
        </p:txBody>
      </p:sp>
      <p:sp>
        <p:nvSpPr>
          <p:cNvPr id="5" name="Text 3"/>
          <p:cNvSpPr/>
          <p:nvPr/>
        </p:nvSpPr>
        <p:spPr>
          <a:xfrm>
            <a:off x="3808879" y="2818507"/>
            <a:ext cx="1526093" cy="239911"/>
          </a:xfrm>
          <a:prstGeom prst="rect">
            <a:avLst/>
          </a:prstGeom>
          <a:noFill/>
          <a:ln/>
        </p:spPr>
        <p:txBody>
          <a:bodyPr wrap="square" lIns="0" tIns="0" rIns="0" bIns="0" rtlCol="0" anchor="t"/>
          <a:lstStyle/>
          <a:p>
            <a:pPr algn="ctr" indent="0" marL="0">
              <a:lnSpc>
                <a:spcPts val="1890"/>
              </a:lnSpc>
              <a:buNone/>
            </a:pPr>
            <a:r>
              <a:rPr lang="en-US" sz="1350" dirty="0">
                <a:solidFill>
                  <a:srgbClr val="FFFFFF">
                    <a:alpha val="70000"/>
                  </a:srgbClr>
                </a:solidFill>
                <a:latin typeface="Arial" pitchFamily="34" charset="0"/>
                <a:ea typeface="Arial" pitchFamily="34" charset="-122"/>
                <a:cs typeface="Arial" pitchFamily="34" charset="-120"/>
              </a:rPr>
              <a:t>Preparing for Part 2</a:t>
            </a:r>
            <a:endParaRPr lang="en-US" sz="1350" dirty="0"/>
          </a:p>
        </p:txBody>
      </p:sp>
      <p:sp>
        <p:nvSpPr>
          <p:cNvPr id="6" name="Text 4"/>
          <p:cNvSpPr/>
          <p:nvPr/>
        </p:nvSpPr>
        <p:spPr>
          <a:xfrm>
            <a:off x="3968502" y="3591818"/>
            <a:ext cx="1206847" cy="510480"/>
          </a:xfrm>
          <a:prstGeom prst="rect">
            <a:avLst/>
          </a:prstGeom>
          <a:solidFill>
            <a:srgbClr val="C9A227">
              <a:alpha val="15000"/>
            </a:srgbClr>
          </a:solidFill>
          <a:ln w="9525">
            <a:solidFill>
              <a:srgbClr val="C9A227"/>
            </a:solidFill>
          </a:ln>
        </p:spPr>
        <p:txBody>
          <a:bodyPr wrap="square" rtlCol="0" anchor="ctr"/>
          <a:lstStyle/>
          <a:p>
            <a:pPr indent="0" marL="0">
              <a:buNone/>
            </a:pPr>
            <a:endParaRPr lang="en-US" dirty="0"/>
          </a:p>
        </p:txBody>
      </p:sp>
      <p:sp>
        <p:nvSpPr>
          <p:cNvPr id="7" name="Text 5"/>
          <p:cNvSpPr/>
          <p:nvPr/>
        </p:nvSpPr>
        <p:spPr>
          <a:xfrm>
            <a:off x="4277045" y="3753743"/>
            <a:ext cx="589761" cy="186630"/>
          </a:xfrm>
          <a:prstGeom prst="rect">
            <a:avLst/>
          </a:prstGeom>
          <a:noFill/>
          <a:ln/>
        </p:spPr>
        <p:txBody>
          <a:bodyPr wrap="square" lIns="0" tIns="0" rIns="0" bIns="0" rtlCol="0" anchor="t"/>
          <a:lstStyle/>
          <a:p>
            <a:pPr algn="ctr" indent="0" marL="0">
              <a:lnSpc>
                <a:spcPts val="1470"/>
              </a:lnSpc>
              <a:buNone/>
            </a:pPr>
            <a:r>
              <a:rPr lang="en-US" sz="1050" dirty="0">
                <a:solidFill>
                  <a:srgbClr val="C9A227"/>
                </a:solidFill>
                <a:latin typeface="Arial" pitchFamily="34" charset="0"/>
                <a:ea typeface="Arial" pitchFamily="34" charset="-122"/>
                <a:cs typeface="Arial" pitchFamily="34" charset="-120"/>
              </a:rPr>
              <a:t>5 minutes</a:t>
            </a:r>
            <a:endParaRPr lang="en-US" sz="10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3599706" cy="5143500"/>
          </a:xfrm>
          <a:prstGeom prst="rect">
            <a:avLst/>
          </a:prstGeom>
          <a:solidFill>
            <a:srgbClr val="C9A227"/>
          </a:solidFill>
          <a:ln/>
        </p:spPr>
        <p:txBody>
          <a:bodyPr wrap="square" rtlCol="0" anchor="ctr"/>
          <a:lstStyle/>
          <a:p>
            <a:pPr indent="0" marL="0">
              <a:buNone/>
            </a:pPr>
            <a:endParaRPr lang="en-US" dirty="0"/>
          </a:p>
        </p:txBody>
      </p:sp>
      <p:sp>
        <p:nvSpPr>
          <p:cNvPr id="3" name="Text 1"/>
          <p:cNvSpPr/>
          <p:nvPr/>
        </p:nvSpPr>
        <p:spPr>
          <a:xfrm>
            <a:off x="381000" y="1384102"/>
            <a:ext cx="2894460" cy="146596"/>
          </a:xfrm>
          <a:prstGeom prst="rect">
            <a:avLst/>
          </a:prstGeom>
          <a:noFill/>
          <a:ln/>
        </p:spPr>
        <p:txBody>
          <a:bodyPr wrap="square" lIns="0" tIns="0" rIns="0" bIns="0" rtlCol="0" anchor="t"/>
          <a:lstStyle/>
          <a:p>
            <a:pPr algn="l" indent="0" marL="0">
              <a:lnSpc>
                <a:spcPts val="1155"/>
              </a:lnSpc>
              <a:spcAft>
                <a:spcPts val="1200"/>
              </a:spcAft>
              <a:buNone/>
            </a:pPr>
            <a:r>
              <a:rPr lang="en-US" sz="825" dirty="0">
                <a:solidFill>
                  <a:srgbClr val="1A1F2E"/>
                </a:solidFill>
                <a:latin typeface="Arial" pitchFamily="34" charset="0"/>
                <a:ea typeface="Arial" pitchFamily="34" charset="-122"/>
                <a:cs typeface="Arial" pitchFamily="34" charset="-120"/>
              </a:rPr>
              <a:t>HOMEWORK</a:t>
            </a:r>
            <a:endParaRPr lang="en-US" sz="825" dirty="0"/>
          </a:p>
        </p:txBody>
      </p:sp>
      <p:sp>
        <p:nvSpPr>
          <p:cNvPr id="4" name="Text 2"/>
          <p:cNvSpPr/>
          <p:nvPr/>
        </p:nvSpPr>
        <p:spPr>
          <a:xfrm>
            <a:off x="381000" y="1835497"/>
            <a:ext cx="1525334" cy="822722"/>
          </a:xfrm>
          <a:prstGeom prst="rect">
            <a:avLst/>
          </a:prstGeom>
          <a:noFill/>
          <a:ln/>
        </p:spPr>
        <p:txBody>
          <a:bodyPr wrap="square" lIns="0" tIns="0" rIns="0" bIns="0" rtlCol="0" anchor="t"/>
          <a:lstStyle/>
          <a:p>
            <a:pPr algn="l" indent="0" marL="0">
              <a:lnSpc>
                <a:spcPts val="3240"/>
              </a:lnSpc>
              <a:buNone/>
            </a:pPr>
            <a:r>
              <a:rPr lang="en-US" sz="2700" dirty="0">
                <a:solidFill>
                  <a:srgbClr val="1A1F2E"/>
                </a:solidFill>
                <a:latin typeface="Georgia" pitchFamily="34" charset="0"/>
                <a:ea typeface="Georgia" pitchFamily="34" charset="-122"/>
                <a:cs typeface="Georgia" pitchFamily="34" charset="-120"/>
              </a:rPr>
              <a:t>Pre-Work</a:t>
            </a:r>
            <a:endParaRPr lang="en-US" sz="2700" dirty="0"/>
          </a:p>
          <a:p>
            <a:pPr algn="l" indent="0" marL="0">
              <a:lnSpc>
                <a:spcPts val="3240"/>
              </a:lnSpc>
              <a:buNone/>
            </a:pPr>
            <a:r>
              <a:rPr lang="en-US" sz="2700" dirty="0">
                <a:solidFill>
                  <a:srgbClr val="1A1F2E"/>
                </a:solidFill>
                <a:latin typeface="Georgia" pitchFamily="34" charset="0"/>
                <a:ea typeface="Georgia" pitchFamily="34" charset="-122"/>
                <a:cs typeface="Georgia" pitchFamily="34" charset="-120"/>
              </a:rPr>
              <a:t>for Part 2</a:t>
            </a:r>
            <a:endParaRPr lang="en-US" sz="2700" dirty="0"/>
          </a:p>
        </p:txBody>
      </p:sp>
      <p:sp>
        <p:nvSpPr>
          <p:cNvPr id="5" name="Text 3"/>
          <p:cNvSpPr/>
          <p:nvPr/>
        </p:nvSpPr>
        <p:spPr>
          <a:xfrm>
            <a:off x="381000" y="3001119"/>
            <a:ext cx="457200" cy="19050"/>
          </a:xfrm>
          <a:prstGeom prst="rect">
            <a:avLst/>
          </a:prstGeom>
          <a:solidFill>
            <a:srgbClr val="1A1F2E"/>
          </a:solidFill>
          <a:ln/>
        </p:spPr>
        <p:txBody>
          <a:bodyPr wrap="square" rtlCol="0" anchor="ctr"/>
          <a:lstStyle/>
          <a:p>
            <a:pPr indent="0" marL="0">
              <a:buNone/>
            </a:pPr>
            <a:endParaRPr lang="en-US" dirty="0"/>
          </a:p>
        </p:txBody>
      </p:sp>
      <p:sp>
        <p:nvSpPr>
          <p:cNvPr id="6" name="Text 4"/>
          <p:cNvSpPr/>
          <p:nvPr/>
        </p:nvSpPr>
        <p:spPr>
          <a:xfrm>
            <a:off x="381000" y="3363069"/>
            <a:ext cx="2894460" cy="396180"/>
          </a:xfrm>
          <a:prstGeom prst="rect">
            <a:avLst/>
          </a:prstGeom>
          <a:noFill/>
          <a:ln/>
        </p:spPr>
        <p:txBody>
          <a:bodyPr wrap="square" lIns="0" tIns="0" rIns="0" bIns="0" rtlCol="0" anchor="t"/>
          <a:lstStyle/>
          <a:p>
            <a:pPr algn="l" indent="0" marL="0">
              <a:lnSpc>
                <a:spcPts val="1560"/>
              </a:lnSpc>
              <a:buNone/>
            </a:pPr>
            <a:r>
              <a:rPr lang="en-US" sz="975" dirty="0">
                <a:solidFill>
                  <a:srgbClr val="1A1F2E">
                    <a:alpha val="70000"/>
                  </a:srgbClr>
                </a:solidFill>
                <a:latin typeface="Arial" pitchFamily="34" charset="0"/>
                <a:ea typeface="Arial" pitchFamily="34" charset="-122"/>
                <a:cs typeface="Arial" pitchFamily="34" charset="-120"/>
              </a:rPr>
              <a:t>Complete these before our next session for the best hands-on experience.</a:t>
            </a:r>
            <a:endParaRPr lang="en-US" sz="975" dirty="0"/>
          </a:p>
        </p:txBody>
      </p:sp>
      <p:sp>
        <p:nvSpPr>
          <p:cNvPr id="7" name="Text 5"/>
          <p:cNvSpPr/>
          <p:nvPr/>
        </p:nvSpPr>
        <p:spPr>
          <a:xfrm>
            <a:off x="3752106" y="0"/>
            <a:ext cx="5391894" cy="5143500"/>
          </a:xfrm>
          <a:prstGeom prst="rect">
            <a:avLst/>
          </a:prstGeom>
          <a:solidFill>
            <a:srgbClr val="F7F8FA"/>
          </a:solidFill>
          <a:ln/>
        </p:spPr>
        <p:txBody>
          <a:bodyPr wrap="square" rtlCol="0" anchor="ctr"/>
          <a:lstStyle/>
          <a:p>
            <a:pPr indent="0" marL="0">
              <a:buNone/>
            </a:pPr>
            <a:endParaRPr lang="en-US" dirty="0"/>
          </a:p>
        </p:txBody>
      </p:sp>
      <p:sp>
        <p:nvSpPr>
          <p:cNvPr id="8" name="Text 6"/>
          <p:cNvSpPr/>
          <p:nvPr/>
        </p:nvSpPr>
        <p:spPr>
          <a:xfrm>
            <a:off x="4133106" y="805309"/>
            <a:ext cx="4629894" cy="634157"/>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9" name="Text 7"/>
          <p:cNvSpPr/>
          <p:nvPr/>
        </p:nvSpPr>
        <p:spPr>
          <a:xfrm>
            <a:off x="4314081" y="988963"/>
            <a:ext cx="266700" cy="266700"/>
          </a:xfrm>
          <a:prstGeom prst="rect">
            <a:avLst/>
          </a:prstGeom>
          <a:solidFill>
            <a:srgbClr val="1A1F2E"/>
          </a:solidFill>
          <a:ln/>
        </p:spPr>
        <p:txBody>
          <a:bodyPr wrap="square" rtlCol="0" anchor="ctr"/>
          <a:lstStyle/>
          <a:p>
            <a:pPr indent="0" marL="0">
              <a:buNone/>
            </a:pPr>
            <a:endParaRPr lang="en-US" dirty="0"/>
          </a:p>
        </p:txBody>
      </p:sp>
      <p:sp>
        <p:nvSpPr>
          <p:cNvPr id="10" name="Text 8"/>
          <p:cNvSpPr/>
          <p:nvPr/>
        </p:nvSpPr>
        <p:spPr>
          <a:xfrm>
            <a:off x="4415582" y="1042243"/>
            <a:ext cx="64972" cy="159990"/>
          </a:xfrm>
          <a:prstGeom prst="rect">
            <a:avLst/>
          </a:prstGeom>
          <a:noFill/>
          <a:ln/>
        </p:spPr>
        <p:txBody>
          <a:bodyPr wrap="square" lIns="0" tIns="0" rIns="0" bIns="0" rtlCol="0" anchor="t"/>
          <a:lstStyle/>
          <a:p>
            <a:pPr algn="l" indent="0" marL="0">
              <a:lnSpc>
                <a:spcPts val="1260"/>
              </a:lnSpc>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11" name="Text 9"/>
          <p:cNvSpPr/>
          <p:nvPr/>
        </p:nvSpPr>
        <p:spPr>
          <a:xfrm>
            <a:off x="4866531" y="948184"/>
            <a:ext cx="2571571" cy="173236"/>
          </a:xfrm>
          <a:prstGeom prst="rect">
            <a:avLst/>
          </a:prstGeom>
          <a:noFill/>
          <a:ln/>
        </p:spPr>
        <p:txBody>
          <a:bodyPr wrap="square" lIns="0" tIns="0" rIns="0" bIns="0" rtlCol="0" anchor="t"/>
          <a:lstStyle/>
          <a:p>
            <a:pPr algn="l" indent="0" marL="0">
              <a:lnSpc>
                <a:spcPts val="1365"/>
              </a:lnSpc>
              <a:buNone/>
            </a:pPr>
            <a:r>
              <a:rPr lang="en-US" sz="975" b="1" dirty="0">
                <a:solidFill>
                  <a:srgbClr val="1A1F2E"/>
                </a:solidFill>
                <a:latin typeface="Arial" pitchFamily="34" charset="0"/>
                <a:ea typeface="Arial" pitchFamily="34" charset="-122"/>
                <a:cs typeface="Arial" pitchFamily="34" charset="-120"/>
              </a:rPr>
              <a:t>Install your voice tool</a:t>
            </a:r>
            <a:endParaRPr lang="en-US" sz="975" dirty="0"/>
          </a:p>
        </p:txBody>
      </p:sp>
      <p:sp>
        <p:nvSpPr>
          <p:cNvPr id="12" name="Text 10"/>
          <p:cNvSpPr/>
          <p:nvPr/>
        </p:nvSpPr>
        <p:spPr>
          <a:xfrm>
            <a:off x="4866531" y="1149995"/>
            <a:ext cx="2571571" cy="146596"/>
          </a:xfrm>
          <a:prstGeom prst="rect">
            <a:avLst/>
          </a:prstGeom>
          <a:noFill/>
          <a:ln/>
        </p:spPr>
        <p:txBody>
          <a:bodyPr wrap="square" lIns="0" tIns="0" rIns="0" bIns="0" rtlCol="0" anchor="t"/>
          <a:lstStyle/>
          <a:p>
            <a:pPr algn="l" indent="0" marL="0">
              <a:lnSpc>
                <a:spcPts val="1155"/>
              </a:lnSpc>
              <a:spcBef>
                <a:spcPts val="225"/>
              </a:spcBef>
              <a:buNone/>
            </a:pPr>
            <a:r>
              <a:rPr lang="en-US" sz="825" dirty="0">
                <a:solidFill>
                  <a:srgbClr val="6B7280"/>
                </a:solidFill>
                <a:latin typeface="Arial" pitchFamily="34" charset="0"/>
                <a:ea typeface="Arial" pitchFamily="34" charset="-122"/>
                <a:cs typeface="Arial" pitchFamily="34" charset="-120"/>
              </a:rPr>
              <a:t>SuperWhisper (Mac) or WhisperFlow (Windows/Linux)</a:t>
            </a:r>
            <a:endParaRPr lang="en-US" sz="825" dirty="0"/>
          </a:p>
        </p:txBody>
      </p:sp>
      <p:sp>
        <p:nvSpPr>
          <p:cNvPr id="13" name="Text 11"/>
          <p:cNvSpPr/>
          <p:nvPr/>
        </p:nvSpPr>
        <p:spPr>
          <a:xfrm>
            <a:off x="4133106" y="1534716"/>
            <a:ext cx="4629894" cy="634157"/>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4" name="Text 12"/>
          <p:cNvSpPr/>
          <p:nvPr/>
        </p:nvSpPr>
        <p:spPr>
          <a:xfrm>
            <a:off x="4314081" y="1718370"/>
            <a:ext cx="266700" cy="266700"/>
          </a:xfrm>
          <a:prstGeom prst="rect">
            <a:avLst/>
          </a:prstGeom>
          <a:solidFill>
            <a:srgbClr val="1A1F2E"/>
          </a:solidFill>
          <a:ln/>
        </p:spPr>
        <p:txBody>
          <a:bodyPr wrap="square" rtlCol="0" anchor="ctr"/>
          <a:lstStyle/>
          <a:p>
            <a:pPr indent="0" marL="0">
              <a:buNone/>
            </a:pPr>
            <a:endParaRPr lang="en-US" dirty="0"/>
          </a:p>
        </p:txBody>
      </p:sp>
      <p:sp>
        <p:nvSpPr>
          <p:cNvPr id="15" name="Text 13"/>
          <p:cNvSpPr/>
          <p:nvPr/>
        </p:nvSpPr>
        <p:spPr>
          <a:xfrm>
            <a:off x="4415582" y="1771650"/>
            <a:ext cx="64972" cy="159990"/>
          </a:xfrm>
          <a:prstGeom prst="rect">
            <a:avLst/>
          </a:prstGeom>
          <a:noFill/>
          <a:ln/>
        </p:spPr>
        <p:txBody>
          <a:bodyPr wrap="square" lIns="0" tIns="0" rIns="0" bIns="0" rtlCol="0" anchor="t"/>
          <a:lstStyle/>
          <a:p>
            <a:pPr algn="l" indent="0" marL="0">
              <a:lnSpc>
                <a:spcPts val="1260"/>
              </a:lnSpc>
              <a:buNone/>
            </a:pPr>
            <a:r>
              <a:rPr lang="en-US" sz="900" b="1" dirty="0">
                <a:solidFill>
                  <a:srgbClr val="FFFFFF"/>
                </a:solidFill>
                <a:latin typeface="Arial" pitchFamily="34" charset="0"/>
                <a:ea typeface="Arial" pitchFamily="34" charset="-122"/>
                <a:cs typeface="Arial" pitchFamily="34" charset="-120"/>
              </a:rPr>
              <a:t>2</a:t>
            </a:r>
            <a:endParaRPr lang="en-US" sz="900" dirty="0"/>
          </a:p>
        </p:txBody>
      </p:sp>
      <p:sp>
        <p:nvSpPr>
          <p:cNvPr id="16" name="Text 14"/>
          <p:cNvSpPr/>
          <p:nvPr/>
        </p:nvSpPr>
        <p:spPr>
          <a:xfrm>
            <a:off x="4866531" y="1677591"/>
            <a:ext cx="1944163" cy="173236"/>
          </a:xfrm>
          <a:prstGeom prst="rect">
            <a:avLst/>
          </a:prstGeom>
          <a:noFill/>
          <a:ln/>
        </p:spPr>
        <p:txBody>
          <a:bodyPr wrap="square" lIns="0" tIns="0" rIns="0" bIns="0" rtlCol="0" anchor="t"/>
          <a:lstStyle/>
          <a:p>
            <a:pPr algn="l" indent="0" marL="0">
              <a:lnSpc>
                <a:spcPts val="1365"/>
              </a:lnSpc>
              <a:buNone/>
            </a:pPr>
            <a:r>
              <a:rPr lang="en-US" sz="975" b="1" dirty="0">
                <a:solidFill>
                  <a:srgbClr val="1A1F2E"/>
                </a:solidFill>
                <a:latin typeface="Arial" pitchFamily="34" charset="0"/>
                <a:ea typeface="Arial" pitchFamily="34" charset="-122"/>
                <a:cs typeface="Arial" pitchFamily="34" charset="-120"/>
              </a:rPr>
              <a:t>Install Claude Code</a:t>
            </a:r>
            <a:endParaRPr lang="en-US" sz="975" dirty="0"/>
          </a:p>
        </p:txBody>
      </p:sp>
      <p:sp>
        <p:nvSpPr>
          <p:cNvPr id="17" name="Text 15"/>
          <p:cNvSpPr/>
          <p:nvPr/>
        </p:nvSpPr>
        <p:spPr>
          <a:xfrm>
            <a:off x="4866531" y="1879402"/>
            <a:ext cx="1944163" cy="146596"/>
          </a:xfrm>
          <a:prstGeom prst="rect">
            <a:avLst/>
          </a:prstGeom>
          <a:noFill/>
          <a:ln/>
        </p:spPr>
        <p:txBody>
          <a:bodyPr wrap="square" lIns="0" tIns="0" rIns="0" bIns="0" rtlCol="0" anchor="t"/>
          <a:lstStyle/>
          <a:p>
            <a:pPr algn="l" indent="0" marL="0">
              <a:lnSpc>
                <a:spcPts val="1155"/>
              </a:lnSpc>
              <a:spcBef>
                <a:spcPts val="225"/>
              </a:spcBef>
              <a:buNone/>
            </a:pPr>
            <a:r>
              <a:rPr lang="en-US" sz="825" dirty="0">
                <a:solidFill>
                  <a:srgbClr val="6B7280"/>
                </a:solidFill>
                <a:latin typeface="Arial" pitchFamily="34" charset="0"/>
                <a:ea typeface="Arial" pitchFamily="34" charset="-122"/>
                <a:cs typeface="Arial" pitchFamily="34" charset="-120"/>
              </a:rPr>
              <a:t>npm install -g @anthropic-ai/claude-code</a:t>
            </a:r>
            <a:endParaRPr lang="en-US" sz="825" dirty="0"/>
          </a:p>
        </p:txBody>
      </p:sp>
      <p:sp>
        <p:nvSpPr>
          <p:cNvPr id="18" name="Text 16"/>
          <p:cNvSpPr/>
          <p:nvPr/>
        </p:nvSpPr>
        <p:spPr>
          <a:xfrm>
            <a:off x="4133106" y="2264122"/>
            <a:ext cx="4629894" cy="634157"/>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9" name="Text 17"/>
          <p:cNvSpPr/>
          <p:nvPr/>
        </p:nvSpPr>
        <p:spPr>
          <a:xfrm>
            <a:off x="4314081" y="2447776"/>
            <a:ext cx="266700" cy="266700"/>
          </a:xfrm>
          <a:prstGeom prst="rect">
            <a:avLst/>
          </a:prstGeom>
          <a:solidFill>
            <a:srgbClr val="1A1F2E"/>
          </a:solidFill>
          <a:ln/>
        </p:spPr>
        <p:txBody>
          <a:bodyPr wrap="square" rtlCol="0" anchor="ctr"/>
          <a:lstStyle/>
          <a:p>
            <a:pPr indent="0" marL="0">
              <a:buNone/>
            </a:pPr>
            <a:endParaRPr lang="en-US" dirty="0"/>
          </a:p>
        </p:txBody>
      </p:sp>
      <p:sp>
        <p:nvSpPr>
          <p:cNvPr id="20" name="Text 18"/>
          <p:cNvSpPr/>
          <p:nvPr/>
        </p:nvSpPr>
        <p:spPr>
          <a:xfrm>
            <a:off x="4415582" y="2501057"/>
            <a:ext cx="64972" cy="159990"/>
          </a:xfrm>
          <a:prstGeom prst="rect">
            <a:avLst/>
          </a:prstGeom>
          <a:noFill/>
          <a:ln/>
        </p:spPr>
        <p:txBody>
          <a:bodyPr wrap="square" lIns="0" tIns="0" rIns="0" bIns="0" rtlCol="0" anchor="t"/>
          <a:lstStyle/>
          <a:p>
            <a:pPr algn="l" indent="0" marL="0">
              <a:lnSpc>
                <a:spcPts val="1260"/>
              </a:lnSpc>
              <a:buNone/>
            </a:pPr>
            <a:r>
              <a:rPr lang="en-US" sz="900" b="1" dirty="0">
                <a:solidFill>
                  <a:srgbClr val="FFFFFF"/>
                </a:solidFill>
                <a:latin typeface="Arial" pitchFamily="34" charset="0"/>
                <a:ea typeface="Arial" pitchFamily="34" charset="-122"/>
                <a:cs typeface="Arial" pitchFamily="34" charset="-120"/>
              </a:rPr>
              <a:t>3</a:t>
            </a:r>
            <a:endParaRPr lang="en-US" sz="900" dirty="0"/>
          </a:p>
        </p:txBody>
      </p:sp>
      <p:sp>
        <p:nvSpPr>
          <p:cNvPr id="21" name="Text 19"/>
          <p:cNvSpPr/>
          <p:nvPr/>
        </p:nvSpPr>
        <p:spPr>
          <a:xfrm>
            <a:off x="4866531" y="2406997"/>
            <a:ext cx="2352669" cy="173236"/>
          </a:xfrm>
          <a:prstGeom prst="rect">
            <a:avLst/>
          </a:prstGeom>
          <a:noFill/>
          <a:ln/>
        </p:spPr>
        <p:txBody>
          <a:bodyPr wrap="square" lIns="0" tIns="0" rIns="0" bIns="0" rtlCol="0" anchor="t"/>
          <a:lstStyle/>
          <a:p>
            <a:pPr algn="l" indent="0" marL="0">
              <a:lnSpc>
                <a:spcPts val="1365"/>
              </a:lnSpc>
              <a:buNone/>
            </a:pPr>
            <a:r>
              <a:rPr lang="en-US" sz="975" b="1" dirty="0">
                <a:solidFill>
                  <a:srgbClr val="1A1F2E"/>
                </a:solidFill>
                <a:latin typeface="Arial" pitchFamily="34" charset="0"/>
                <a:ea typeface="Arial" pitchFamily="34" charset="-122"/>
                <a:cs typeface="Arial" pitchFamily="34" charset="-120"/>
              </a:rPr>
              <a:t>Set up authentication</a:t>
            </a:r>
            <a:endParaRPr lang="en-US" sz="975" dirty="0"/>
          </a:p>
        </p:txBody>
      </p:sp>
      <p:sp>
        <p:nvSpPr>
          <p:cNvPr id="22" name="Text 20"/>
          <p:cNvSpPr/>
          <p:nvPr/>
        </p:nvSpPr>
        <p:spPr>
          <a:xfrm>
            <a:off x="4866531" y="2608808"/>
            <a:ext cx="2352669" cy="146596"/>
          </a:xfrm>
          <a:prstGeom prst="rect">
            <a:avLst/>
          </a:prstGeom>
          <a:noFill/>
          <a:ln/>
        </p:spPr>
        <p:txBody>
          <a:bodyPr wrap="square" lIns="0" tIns="0" rIns="0" bIns="0" rtlCol="0" anchor="t"/>
          <a:lstStyle/>
          <a:p>
            <a:pPr algn="l" indent="0" marL="0">
              <a:lnSpc>
                <a:spcPts val="1155"/>
              </a:lnSpc>
              <a:spcBef>
                <a:spcPts val="225"/>
              </a:spcBef>
              <a:buNone/>
            </a:pPr>
            <a:r>
              <a:rPr lang="en-US" sz="825" dirty="0">
                <a:solidFill>
                  <a:srgbClr val="6B7280"/>
                </a:solidFill>
                <a:latin typeface="Arial" pitchFamily="34" charset="0"/>
                <a:ea typeface="Arial" pitchFamily="34" charset="-122"/>
                <a:cs typeface="Arial" pitchFamily="34" charset="-120"/>
              </a:rPr>
              <a:t>Run claude and complete OAuth or API key setup</a:t>
            </a:r>
            <a:endParaRPr lang="en-US" sz="825" dirty="0"/>
          </a:p>
        </p:txBody>
      </p:sp>
      <p:sp>
        <p:nvSpPr>
          <p:cNvPr id="23" name="Text 21"/>
          <p:cNvSpPr/>
          <p:nvPr/>
        </p:nvSpPr>
        <p:spPr>
          <a:xfrm>
            <a:off x="4133106" y="2993529"/>
            <a:ext cx="4629894" cy="634157"/>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24" name="Text 22"/>
          <p:cNvSpPr/>
          <p:nvPr/>
        </p:nvSpPr>
        <p:spPr>
          <a:xfrm>
            <a:off x="4314081" y="3177183"/>
            <a:ext cx="266700" cy="266700"/>
          </a:xfrm>
          <a:prstGeom prst="rect">
            <a:avLst/>
          </a:prstGeom>
          <a:solidFill>
            <a:srgbClr val="1A1F2E"/>
          </a:solidFill>
          <a:ln/>
        </p:spPr>
        <p:txBody>
          <a:bodyPr wrap="square" rtlCol="0" anchor="ctr"/>
          <a:lstStyle/>
          <a:p>
            <a:pPr indent="0" marL="0">
              <a:buNone/>
            </a:pPr>
            <a:endParaRPr lang="en-US" dirty="0"/>
          </a:p>
        </p:txBody>
      </p:sp>
      <p:sp>
        <p:nvSpPr>
          <p:cNvPr id="25" name="Text 23"/>
          <p:cNvSpPr/>
          <p:nvPr/>
        </p:nvSpPr>
        <p:spPr>
          <a:xfrm>
            <a:off x="4415582" y="3230463"/>
            <a:ext cx="64972" cy="159990"/>
          </a:xfrm>
          <a:prstGeom prst="rect">
            <a:avLst/>
          </a:prstGeom>
          <a:noFill/>
          <a:ln/>
        </p:spPr>
        <p:txBody>
          <a:bodyPr wrap="square" lIns="0" tIns="0" rIns="0" bIns="0" rtlCol="0" anchor="t"/>
          <a:lstStyle/>
          <a:p>
            <a:pPr algn="l" indent="0" marL="0">
              <a:lnSpc>
                <a:spcPts val="1260"/>
              </a:lnSpc>
              <a:buNone/>
            </a:pPr>
            <a:r>
              <a:rPr lang="en-US" sz="900" b="1" dirty="0">
                <a:solidFill>
                  <a:srgbClr val="FFFFFF"/>
                </a:solidFill>
                <a:latin typeface="Arial" pitchFamily="34" charset="0"/>
                <a:ea typeface="Arial" pitchFamily="34" charset="-122"/>
                <a:cs typeface="Arial" pitchFamily="34" charset="-120"/>
              </a:rPr>
              <a:t>4</a:t>
            </a:r>
            <a:endParaRPr lang="en-US" sz="900" dirty="0"/>
          </a:p>
        </p:txBody>
      </p:sp>
      <p:sp>
        <p:nvSpPr>
          <p:cNvPr id="26" name="Text 24"/>
          <p:cNvSpPr/>
          <p:nvPr/>
        </p:nvSpPr>
        <p:spPr>
          <a:xfrm>
            <a:off x="4866531" y="3136404"/>
            <a:ext cx="2031754" cy="173236"/>
          </a:xfrm>
          <a:prstGeom prst="rect">
            <a:avLst/>
          </a:prstGeom>
          <a:noFill/>
          <a:ln/>
        </p:spPr>
        <p:txBody>
          <a:bodyPr wrap="square" lIns="0" tIns="0" rIns="0" bIns="0" rtlCol="0" anchor="t"/>
          <a:lstStyle/>
          <a:p>
            <a:pPr algn="l" indent="0" marL="0">
              <a:lnSpc>
                <a:spcPts val="1365"/>
              </a:lnSpc>
              <a:buNone/>
            </a:pPr>
            <a:r>
              <a:rPr lang="en-US" sz="975" b="1" dirty="0">
                <a:solidFill>
                  <a:srgbClr val="1A1F2E"/>
                </a:solidFill>
                <a:latin typeface="Arial" pitchFamily="34" charset="0"/>
                <a:ea typeface="Arial" pitchFamily="34" charset="-122"/>
                <a:cs typeface="Arial" pitchFamily="34" charset="-120"/>
              </a:rPr>
              <a:t>Have a project ready</a:t>
            </a:r>
            <a:endParaRPr lang="en-US" sz="975" dirty="0"/>
          </a:p>
        </p:txBody>
      </p:sp>
      <p:sp>
        <p:nvSpPr>
          <p:cNvPr id="27" name="Text 25"/>
          <p:cNvSpPr/>
          <p:nvPr/>
        </p:nvSpPr>
        <p:spPr>
          <a:xfrm>
            <a:off x="4866531" y="3338215"/>
            <a:ext cx="2031754" cy="146596"/>
          </a:xfrm>
          <a:prstGeom prst="rect">
            <a:avLst/>
          </a:prstGeom>
          <a:noFill/>
          <a:ln/>
        </p:spPr>
        <p:txBody>
          <a:bodyPr wrap="square" lIns="0" tIns="0" rIns="0" bIns="0" rtlCol="0" anchor="t"/>
          <a:lstStyle/>
          <a:p>
            <a:pPr algn="l" indent="0" marL="0">
              <a:lnSpc>
                <a:spcPts val="1155"/>
              </a:lnSpc>
              <a:spcBef>
                <a:spcPts val="225"/>
              </a:spcBef>
              <a:buNone/>
            </a:pPr>
            <a:r>
              <a:rPr lang="en-US" sz="825" dirty="0">
                <a:solidFill>
                  <a:srgbClr val="6B7280"/>
                </a:solidFill>
                <a:latin typeface="Arial" pitchFamily="34" charset="0"/>
                <a:ea typeface="Arial" pitchFamily="34" charset="-122"/>
                <a:cs typeface="Arial" pitchFamily="34" charset="-120"/>
              </a:rPr>
              <a:t>Any codebase you want to experiment with</a:t>
            </a:r>
            <a:endParaRPr lang="en-US" sz="825" dirty="0"/>
          </a:p>
        </p:txBody>
      </p:sp>
      <p:sp>
        <p:nvSpPr>
          <p:cNvPr id="28" name="Text 26"/>
          <p:cNvSpPr/>
          <p:nvPr/>
        </p:nvSpPr>
        <p:spPr>
          <a:xfrm>
            <a:off x="4133106" y="3722936"/>
            <a:ext cx="4629894" cy="615107"/>
          </a:xfrm>
          <a:prstGeom prst="rect">
            <a:avLst/>
          </a:prstGeom>
          <a:solidFill>
            <a:srgbClr val="1A1F2E"/>
          </a:solidFill>
          <a:ln/>
        </p:spPr>
        <p:txBody>
          <a:bodyPr wrap="square" rtlCol="0" anchor="ctr"/>
          <a:lstStyle/>
          <a:p>
            <a:pPr indent="0" marL="0">
              <a:buNone/>
            </a:pPr>
            <a:endParaRPr lang="en-US" dirty="0"/>
          </a:p>
        </p:txBody>
      </p:sp>
      <p:sp>
        <p:nvSpPr>
          <p:cNvPr id="29" name="Text 27"/>
          <p:cNvSpPr/>
          <p:nvPr/>
        </p:nvSpPr>
        <p:spPr>
          <a:xfrm>
            <a:off x="4304556" y="3897064"/>
            <a:ext cx="266700" cy="266700"/>
          </a:xfrm>
          <a:prstGeom prst="rect">
            <a:avLst/>
          </a:prstGeom>
          <a:solidFill>
            <a:srgbClr val="C9A227"/>
          </a:solidFill>
          <a:ln/>
        </p:spPr>
        <p:txBody>
          <a:bodyPr wrap="square" rtlCol="0" anchor="ctr"/>
          <a:lstStyle/>
          <a:p>
            <a:pPr indent="0" marL="0">
              <a:buNone/>
            </a:pPr>
            <a:endParaRPr lang="en-US" dirty="0"/>
          </a:p>
        </p:txBody>
      </p:sp>
      <p:sp>
        <p:nvSpPr>
          <p:cNvPr id="30" name="Text 28"/>
          <p:cNvSpPr/>
          <p:nvPr/>
        </p:nvSpPr>
        <p:spPr>
          <a:xfrm>
            <a:off x="4406057" y="3950345"/>
            <a:ext cx="64972" cy="159990"/>
          </a:xfrm>
          <a:prstGeom prst="rect">
            <a:avLst/>
          </a:prstGeom>
          <a:noFill/>
          <a:ln/>
        </p:spPr>
        <p:txBody>
          <a:bodyPr wrap="square" lIns="0" tIns="0" rIns="0" bIns="0" rtlCol="0" anchor="t"/>
          <a:lstStyle/>
          <a:p>
            <a:pPr algn="l" indent="0" marL="0">
              <a:lnSpc>
                <a:spcPts val="1260"/>
              </a:lnSpc>
              <a:buNone/>
            </a:pPr>
            <a:r>
              <a:rPr lang="en-US" sz="900" b="1" dirty="0">
                <a:solidFill>
                  <a:srgbClr val="1A1F2E"/>
                </a:solidFill>
                <a:latin typeface="Arial" pitchFamily="34" charset="0"/>
                <a:ea typeface="Arial" pitchFamily="34" charset="-122"/>
                <a:cs typeface="Arial" pitchFamily="34" charset="-120"/>
              </a:rPr>
              <a:t>5</a:t>
            </a:r>
            <a:endParaRPr lang="en-US" sz="900" dirty="0"/>
          </a:p>
        </p:txBody>
      </p:sp>
      <p:sp>
        <p:nvSpPr>
          <p:cNvPr id="31" name="Text 29"/>
          <p:cNvSpPr/>
          <p:nvPr/>
        </p:nvSpPr>
        <p:spPr>
          <a:xfrm>
            <a:off x="4857006" y="3856286"/>
            <a:ext cx="2217563" cy="173236"/>
          </a:xfrm>
          <a:prstGeom prst="rect">
            <a:avLst/>
          </a:prstGeom>
          <a:noFill/>
          <a:ln/>
        </p:spPr>
        <p:txBody>
          <a:bodyPr wrap="square" lIns="0" tIns="0" rIns="0" bIns="0" rtlCol="0" anchor="t"/>
          <a:lstStyle/>
          <a:p>
            <a:pPr algn="l" indent="0" marL="0">
              <a:lnSpc>
                <a:spcPts val="1365"/>
              </a:lnSpc>
              <a:buNone/>
            </a:pPr>
            <a:r>
              <a:rPr lang="en-US" sz="975" b="1" dirty="0">
                <a:solidFill>
                  <a:srgbClr val="FFFFFF"/>
                </a:solidFill>
                <a:latin typeface="Arial" pitchFamily="34" charset="0"/>
                <a:ea typeface="Arial" pitchFamily="34" charset="-122"/>
                <a:cs typeface="Arial" pitchFamily="34" charset="-120"/>
              </a:rPr>
              <a:t>Practice voice input</a:t>
            </a:r>
            <a:endParaRPr lang="en-US" sz="975" dirty="0"/>
          </a:p>
        </p:txBody>
      </p:sp>
      <p:sp>
        <p:nvSpPr>
          <p:cNvPr id="32" name="Text 30"/>
          <p:cNvSpPr/>
          <p:nvPr/>
        </p:nvSpPr>
        <p:spPr>
          <a:xfrm>
            <a:off x="4857006" y="4058096"/>
            <a:ext cx="2217563" cy="146596"/>
          </a:xfrm>
          <a:prstGeom prst="rect">
            <a:avLst/>
          </a:prstGeom>
          <a:noFill/>
          <a:ln/>
        </p:spPr>
        <p:txBody>
          <a:bodyPr wrap="square" lIns="0" tIns="0" rIns="0" bIns="0" rtlCol="0" anchor="t"/>
          <a:lstStyle/>
          <a:p>
            <a:pPr algn="l" indent="0" marL="0">
              <a:lnSpc>
                <a:spcPts val="1155"/>
              </a:lnSpc>
              <a:spcBef>
                <a:spcPts val="225"/>
              </a:spcBef>
              <a:buNone/>
            </a:pPr>
            <a:r>
              <a:rPr lang="en-US" sz="825" dirty="0">
                <a:solidFill>
                  <a:srgbClr val="FFFFFF">
                    <a:alpha val="60000"/>
                  </a:srgbClr>
                </a:solidFill>
                <a:latin typeface="Arial" pitchFamily="34" charset="0"/>
                <a:ea typeface="Arial" pitchFamily="34" charset="-122"/>
                <a:cs typeface="Arial" pitchFamily="34" charset="-120"/>
              </a:rPr>
              <a:t>Try dictating emails or notes to get comfortable</a:t>
            </a:r>
            <a:endParaRPr lang="en-US" sz="825"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457200" y="304800"/>
            <a:ext cx="8394192" cy="146596"/>
          </a:xfrm>
          <a:prstGeom prst="rect">
            <a:avLst/>
          </a:prstGeom>
          <a:noFill/>
          <a:ln/>
        </p:spPr>
        <p:txBody>
          <a:bodyPr wrap="square" lIns="0" tIns="0" rIns="0" bIns="0" rtlCol="0" anchor="t"/>
          <a:lstStyle/>
          <a:p>
            <a:pPr algn="l" indent="0" marL="0">
              <a:lnSpc>
                <a:spcPts val="1155"/>
              </a:lnSpc>
              <a:spcAft>
                <a:spcPts val="600"/>
              </a:spcAft>
              <a:buNone/>
            </a:pPr>
            <a:r>
              <a:rPr lang="en-US" sz="825" dirty="0">
                <a:solidFill>
                  <a:srgbClr val="C9A227"/>
                </a:solidFill>
                <a:latin typeface="Arial" pitchFamily="34" charset="0"/>
                <a:ea typeface="Arial" pitchFamily="34" charset="-122"/>
                <a:cs typeface="Arial" pitchFamily="34" charset="-120"/>
              </a:rPr>
              <a:t>PREVIEW</a:t>
            </a:r>
            <a:endParaRPr lang="en-US" sz="825" dirty="0"/>
          </a:p>
        </p:txBody>
      </p:sp>
      <p:sp>
        <p:nvSpPr>
          <p:cNvPr id="3" name="Text 1"/>
          <p:cNvSpPr/>
          <p:nvPr/>
        </p:nvSpPr>
        <p:spPr>
          <a:xfrm>
            <a:off x="457200" y="527596"/>
            <a:ext cx="5120068" cy="304800"/>
          </a:xfrm>
          <a:prstGeom prst="rect">
            <a:avLst/>
          </a:prstGeom>
          <a:noFill/>
          <a:ln/>
        </p:spPr>
        <p:txBody>
          <a:bodyPr wrap="square" lIns="0" tIns="0" rIns="0" bIns="0" rtlCol="0" anchor="t"/>
          <a:lstStyle/>
          <a:p>
            <a:pPr algn="l" indent="0" marL="0">
              <a:lnSpc>
                <a:spcPts val="2400"/>
              </a:lnSpc>
              <a:buNone/>
            </a:pPr>
            <a:r>
              <a:rPr lang="en-US" sz="2400" dirty="0">
                <a:solidFill>
                  <a:srgbClr val="1A1F2E"/>
                </a:solidFill>
                <a:latin typeface="Georgia" pitchFamily="34" charset="0"/>
                <a:ea typeface="Georgia" pitchFamily="34" charset="-122"/>
                <a:cs typeface="Georgia" pitchFamily="34" charset="-120"/>
              </a:rPr>
              <a:t>Coming in Part 2: Hands-On Practice</a:t>
            </a:r>
            <a:endParaRPr lang="en-US" sz="2400" dirty="0"/>
          </a:p>
        </p:txBody>
      </p:sp>
      <p:sp>
        <p:nvSpPr>
          <p:cNvPr id="4" name="Text 2"/>
          <p:cNvSpPr/>
          <p:nvPr/>
        </p:nvSpPr>
        <p:spPr>
          <a:xfrm>
            <a:off x="457200" y="1237506"/>
            <a:ext cx="2641550" cy="2476054"/>
          </a:xfrm>
          <a:prstGeom prst="rect">
            <a:avLst/>
          </a:prstGeom>
          <a:solidFill>
            <a:srgbClr val="1A1F2E"/>
          </a:solidFill>
          <a:ln/>
        </p:spPr>
        <p:txBody>
          <a:bodyPr wrap="square" rtlCol="0" anchor="ctr"/>
          <a:lstStyle/>
          <a:p>
            <a:pPr indent="0" marL="0">
              <a:buNone/>
            </a:pPr>
            <a:endParaRPr lang="en-US" dirty="0"/>
          </a:p>
        </p:txBody>
      </p:sp>
      <p:sp>
        <p:nvSpPr>
          <p:cNvPr id="5" name="Text 3"/>
          <p:cNvSpPr/>
          <p:nvPr/>
        </p:nvSpPr>
        <p:spPr>
          <a:xfrm>
            <a:off x="685800" y="1466106"/>
            <a:ext cx="457200" cy="457200"/>
          </a:xfrm>
          <a:prstGeom prst="rect">
            <a:avLst/>
          </a:prstGeom>
          <a:solidFill>
            <a:srgbClr val="C9A227"/>
          </a:solidFill>
          <a:ln/>
        </p:spPr>
        <p:txBody>
          <a:bodyPr wrap="square" rtlCol="0" anchor="ctr"/>
          <a:lstStyle/>
          <a:p>
            <a:pPr indent="0" marL="0">
              <a:buNone/>
            </a:pPr>
            <a:endParaRPr lang="en-US" dirty="0"/>
          </a:p>
        </p:txBody>
      </p:sp>
      <p:sp>
        <p:nvSpPr>
          <p:cNvPr id="6" name="Text 4"/>
          <p:cNvSpPr/>
          <p:nvPr/>
        </p:nvSpPr>
        <p:spPr>
          <a:xfrm>
            <a:off x="814983" y="1561356"/>
            <a:ext cx="202811" cy="266700"/>
          </a:xfrm>
          <a:prstGeom prst="rect">
            <a:avLst/>
          </a:prstGeom>
          <a:noFill/>
          <a:ln/>
        </p:spPr>
        <p:txBody>
          <a:bodyPr wrap="square" lIns="0" tIns="0" rIns="0" bIns="0" rtlCol="0" anchor="t"/>
          <a:lstStyle/>
          <a:p>
            <a:pPr algn="l" indent="0" marL="0">
              <a:lnSpc>
                <a:spcPts val="2100"/>
              </a:lnSpc>
              <a:buNone/>
            </a:pPr>
            <a:r>
              <a:rPr lang="en-US" sz="1500" dirty="0">
                <a:solidFill>
                  <a:srgbClr val="1A1F2E"/>
                </a:solidFill>
                <a:latin typeface="Georgia" pitchFamily="34" charset="0"/>
                <a:ea typeface="Georgia" pitchFamily="34" charset="-122"/>
                <a:cs typeface="Georgia" pitchFamily="34" charset="-120"/>
              </a:rPr>
              <a:t>01</a:t>
            </a:r>
            <a:endParaRPr lang="en-US" sz="1500" dirty="0"/>
          </a:p>
        </p:txBody>
      </p:sp>
      <p:sp>
        <p:nvSpPr>
          <p:cNvPr id="7" name="Text 5"/>
          <p:cNvSpPr/>
          <p:nvPr/>
        </p:nvSpPr>
        <p:spPr>
          <a:xfrm>
            <a:off x="685800" y="2228106"/>
            <a:ext cx="2228037" cy="213271"/>
          </a:xfrm>
          <a:prstGeom prst="rect">
            <a:avLst/>
          </a:prstGeom>
          <a:noFill/>
          <a:ln/>
        </p:spPr>
        <p:txBody>
          <a:bodyPr wrap="square" lIns="0" tIns="0" rIns="0" bIns="0" rtlCol="0" anchor="t"/>
          <a:lstStyle/>
          <a:p>
            <a:pPr algn="l" indent="0" marL="0">
              <a:lnSpc>
                <a:spcPts val="1680"/>
              </a:lnSpc>
              <a:spcAft>
                <a:spcPts val="900"/>
              </a:spcAft>
              <a:buNone/>
            </a:pPr>
            <a:r>
              <a:rPr lang="en-US" sz="1200" dirty="0">
                <a:solidFill>
                  <a:srgbClr val="FFFFFF"/>
                </a:solidFill>
                <a:latin typeface="Georgia" pitchFamily="34" charset="0"/>
                <a:ea typeface="Georgia" pitchFamily="34" charset="-122"/>
                <a:cs typeface="Georgia" pitchFamily="34" charset="-120"/>
              </a:rPr>
              <a:t>Real Exercises</a:t>
            </a:r>
            <a:endParaRPr lang="en-US" sz="1200" dirty="0"/>
          </a:p>
        </p:txBody>
      </p:sp>
      <p:sp>
        <p:nvSpPr>
          <p:cNvPr id="8" name="Text 6"/>
          <p:cNvSpPr/>
          <p:nvPr/>
        </p:nvSpPr>
        <p:spPr>
          <a:xfrm>
            <a:off x="685800" y="2708077"/>
            <a:ext cx="2228037" cy="776883"/>
          </a:xfrm>
          <a:prstGeom prst="rect">
            <a:avLst/>
          </a:prstGeom>
          <a:noFill/>
          <a:ln/>
        </p:spPr>
        <p:txBody>
          <a:bodyPr wrap="square" lIns="0" tIns="0" rIns="0" bIns="0" rtlCol="0" anchor="t"/>
          <a:lstStyle/>
          <a:p>
            <a:pPr algn="l" indent="0" marL="0">
              <a:lnSpc>
                <a:spcPts val="1530"/>
              </a:lnSpc>
              <a:buNone/>
            </a:pPr>
            <a:r>
              <a:rPr lang="en-US" sz="900" dirty="0">
                <a:solidFill>
                  <a:srgbClr val="FFFFFF">
                    <a:alpha val="60000"/>
                  </a:srgbClr>
                </a:solidFill>
                <a:latin typeface="Arial" pitchFamily="34" charset="0"/>
                <a:ea typeface="Arial" pitchFamily="34" charset="-122"/>
                <a:cs typeface="Arial" pitchFamily="34" charset="-120"/>
              </a:rPr>
              <a:t>Voice-driven refactoring</a:t>
            </a:r>
            <a:endParaRPr lang="en-US" sz="900" dirty="0"/>
          </a:p>
          <a:p>
            <a:pPr algn="l" indent="0" marL="0">
              <a:lnSpc>
                <a:spcPts val="1530"/>
              </a:lnSpc>
              <a:buNone/>
            </a:pPr>
            <a:r>
              <a:rPr lang="en-US" sz="900" dirty="0">
                <a:solidFill>
                  <a:srgbClr val="FFFFFF">
                    <a:alpha val="60000"/>
                  </a:srgbClr>
                </a:solidFill>
                <a:latin typeface="Arial" pitchFamily="34" charset="0"/>
                <a:ea typeface="Arial" pitchFamily="34" charset="-122"/>
                <a:cs typeface="Arial" pitchFamily="34" charset="-120"/>
              </a:rPr>
              <a:t>Test generation</a:t>
            </a:r>
            <a:endParaRPr lang="en-US" sz="900" dirty="0"/>
          </a:p>
          <a:p>
            <a:pPr algn="l" indent="0" marL="0">
              <a:lnSpc>
                <a:spcPts val="1530"/>
              </a:lnSpc>
              <a:buNone/>
            </a:pPr>
            <a:r>
              <a:rPr lang="en-US" sz="900" dirty="0">
                <a:solidFill>
                  <a:srgbClr val="FFFFFF">
                    <a:alpha val="60000"/>
                  </a:srgbClr>
                </a:solidFill>
                <a:latin typeface="Arial" pitchFamily="34" charset="0"/>
                <a:ea typeface="Arial" pitchFamily="34" charset="-122"/>
                <a:cs typeface="Arial" pitchFamily="34" charset="-120"/>
              </a:rPr>
              <a:t>Documentation updates</a:t>
            </a:r>
            <a:endParaRPr lang="en-US" sz="900" dirty="0"/>
          </a:p>
          <a:p>
            <a:pPr algn="l" indent="0" marL="0">
              <a:lnSpc>
                <a:spcPts val="1530"/>
              </a:lnSpc>
              <a:buNone/>
            </a:pPr>
            <a:r>
              <a:rPr lang="en-US" sz="900" dirty="0">
                <a:solidFill>
                  <a:srgbClr val="FFFFFF">
                    <a:alpha val="60000"/>
                  </a:srgbClr>
                </a:solidFill>
                <a:latin typeface="Arial" pitchFamily="34" charset="0"/>
                <a:ea typeface="Arial" pitchFamily="34" charset="-122"/>
                <a:cs typeface="Arial" pitchFamily="34" charset="-120"/>
              </a:rPr>
              <a:t>Bug fixing workflows</a:t>
            </a:r>
            <a:endParaRPr lang="en-US" sz="900" dirty="0"/>
          </a:p>
        </p:txBody>
      </p:sp>
      <p:sp>
        <p:nvSpPr>
          <p:cNvPr id="9" name="Text 7"/>
          <p:cNvSpPr/>
          <p:nvPr/>
        </p:nvSpPr>
        <p:spPr>
          <a:xfrm>
            <a:off x="3251150" y="1237506"/>
            <a:ext cx="2641550" cy="2476054"/>
          </a:xfrm>
          <a:prstGeom prst="rect">
            <a:avLst/>
          </a:prstGeom>
          <a:solidFill>
            <a:srgbClr val="1A1F2E"/>
          </a:solidFill>
          <a:ln/>
        </p:spPr>
        <p:txBody>
          <a:bodyPr wrap="square" rtlCol="0" anchor="ctr"/>
          <a:lstStyle/>
          <a:p>
            <a:pPr indent="0" marL="0">
              <a:buNone/>
            </a:pPr>
            <a:endParaRPr lang="en-US" dirty="0"/>
          </a:p>
        </p:txBody>
      </p:sp>
      <p:sp>
        <p:nvSpPr>
          <p:cNvPr id="10" name="Text 8"/>
          <p:cNvSpPr/>
          <p:nvPr/>
        </p:nvSpPr>
        <p:spPr>
          <a:xfrm>
            <a:off x="3479750" y="1466106"/>
            <a:ext cx="457200" cy="457200"/>
          </a:xfrm>
          <a:prstGeom prst="rect">
            <a:avLst/>
          </a:prstGeom>
          <a:solidFill>
            <a:srgbClr val="C9A227"/>
          </a:solidFill>
          <a:ln/>
        </p:spPr>
        <p:txBody>
          <a:bodyPr wrap="square" rtlCol="0" anchor="ctr"/>
          <a:lstStyle/>
          <a:p>
            <a:pPr indent="0" marL="0">
              <a:buNone/>
            </a:pPr>
            <a:endParaRPr lang="en-US" dirty="0"/>
          </a:p>
        </p:txBody>
      </p:sp>
      <p:sp>
        <p:nvSpPr>
          <p:cNvPr id="11" name="Text 9"/>
          <p:cNvSpPr/>
          <p:nvPr/>
        </p:nvSpPr>
        <p:spPr>
          <a:xfrm>
            <a:off x="3596580" y="1561356"/>
            <a:ext cx="227859" cy="266700"/>
          </a:xfrm>
          <a:prstGeom prst="rect">
            <a:avLst/>
          </a:prstGeom>
          <a:noFill/>
          <a:ln/>
        </p:spPr>
        <p:txBody>
          <a:bodyPr wrap="square" lIns="0" tIns="0" rIns="0" bIns="0" rtlCol="0" anchor="t"/>
          <a:lstStyle/>
          <a:p>
            <a:pPr algn="l" indent="0" marL="0">
              <a:lnSpc>
                <a:spcPts val="2100"/>
              </a:lnSpc>
              <a:buNone/>
            </a:pPr>
            <a:r>
              <a:rPr lang="en-US" sz="1500" dirty="0">
                <a:solidFill>
                  <a:srgbClr val="1A1F2E"/>
                </a:solidFill>
                <a:latin typeface="Georgia" pitchFamily="34" charset="0"/>
                <a:ea typeface="Georgia" pitchFamily="34" charset="-122"/>
                <a:cs typeface="Georgia" pitchFamily="34" charset="-120"/>
              </a:rPr>
              <a:t>02</a:t>
            </a:r>
            <a:endParaRPr lang="en-US" sz="1500" dirty="0"/>
          </a:p>
        </p:txBody>
      </p:sp>
      <p:sp>
        <p:nvSpPr>
          <p:cNvPr id="12" name="Text 10"/>
          <p:cNvSpPr/>
          <p:nvPr/>
        </p:nvSpPr>
        <p:spPr>
          <a:xfrm>
            <a:off x="3479750" y="2228106"/>
            <a:ext cx="2228037" cy="213271"/>
          </a:xfrm>
          <a:prstGeom prst="rect">
            <a:avLst/>
          </a:prstGeom>
          <a:noFill/>
          <a:ln/>
        </p:spPr>
        <p:txBody>
          <a:bodyPr wrap="square" lIns="0" tIns="0" rIns="0" bIns="0" rtlCol="0" anchor="t"/>
          <a:lstStyle/>
          <a:p>
            <a:pPr algn="l" indent="0" marL="0">
              <a:lnSpc>
                <a:spcPts val="1680"/>
              </a:lnSpc>
              <a:spcAft>
                <a:spcPts val="900"/>
              </a:spcAft>
              <a:buNone/>
            </a:pPr>
            <a:r>
              <a:rPr lang="en-US" sz="1200" dirty="0">
                <a:solidFill>
                  <a:srgbClr val="FFFFFF"/>
                </a:solidFill>
                <a:latin typeface="Georgia" pitchFamily="34" charset="0"/>
                <a:ea typeface="Georgia" pitchFamily="34" charset="-122"/>
                <a:cs typeface="Georgia" pitchFamily="34" charset="-120"/>
              </a:rPr>
              <a:t>Your Projects</a:t>
            </a:r>
            <a:endParaRPr lang="en-US" sz="1200" dirty="0"/>
          </a:p>
        </p:txBody>
      </p:sp>
      <p:sp>
        <p:nvSpPr>
          <p:cNvPr id="13" name="Text 11"/>
          <p:cNvSpPr/>
          <p:nvPr/>
        </p:nvSpPr>
        <p:spPr>
          <a:xfrm>
            <a:off x="3479750" y="2708077"/>
            <a:ext cx="2228037" cy="776883"/>
          </a:xfrm>
          <a:prstGeom prst="rect">
            <a:avLst/>
          </a:prstGeom>
          <a:noFill/>
          <a:ln/>
        </p:spPr>
        <p:txBody>
          <a:bodyPr wrap="square" lIns="0" tIns="0" rIns="0" bIns="0" rtlCol="0" anchor="t"/>
          <a:lstStyle/>
          <a:p>
            <a:pPr algn="l" indent="0" marL="0">
              <a:lnSpc>
                <a:spcPts val="1530"/>
              </a:lnSpc>
              <a:buNone/>
            </a:pPr>
            <a:r>
              <a:rPr lang="en-US" sz="900" dirty="0">
                <a:solidFill>
                  <a:srgbClr val="FFFFFF">
                    <a:alpha val="60000"/>
                  </a:srgbClr>
                </a:solidFill>
                <a:latin typeface="Arial" pitchFamily="34" charset="0"/>
                <a:ea typeface="Arial" pitchFamily="34" charset="-122"/>
                <a:cs typeface="Arial" pitchFamily="34" charset="-120"/>
              </a:rPr>
              <a:t>Work on your own code</a:t>
            </a:r>
            <a:endParaRPr lang="en-US" sz="900" dirty="0"/>
          </a:p>
          <a:p>
            <a:pPr algn="l" indent="0" marL="0">
              <a:lnSpc>
                <a:spcPts val="1530"/>
              </a:lnSpc>
              <a:buNone/>
            </a:pPr>
            <a:r>
              <a:rPr lang="en-US" sz="900" dirty="0">
                <a:solidFill>
                  <a:srgbClr val="FFFFFF">
                    <a:alpha val="60000"/>
                  </a:srgbClr>
                </a:solidFill>
                <a:latin typeface="Arial" pitchFamily="34" charset="0"/>
                <a:ea typeface="Arial" pitchFamily="34" charset="-122"/>
                <a:cs typeface="Arial" pitchFamily="34" charset="-120"/>
              </a:rPr>
              <a:t>Real-world scenarios</a:t>
            </a:r>
            <a:endParaRPr lang="en-US" sz="900" dirty="0"/>
          </a:p>
          <a:p>
            <a:pPr algn="l" indent="0" marL="0">
              <a:lnSpc>
                <a:spcPts val="1530"/>
              </a:lnSpc>
              <a:buNone/>
            </a:pPr>
            <a:r>
              <a:rPr lang="en-US" sz="900" dirty="0">
                <a:solidFill>
                  <a:srgbClr val="FFFFFF">
                    <a:alpha val="60000"/>
                  </a:srgbClr>
                </a:solidFill>
                <a:latin typeface="Arial" pitchFamily="34" charset="0"/>
                <a:ea typeface="Arial" pitchFamily="34" charset="-122"/>
                <a:cs typeface="Arial" pitchFamily="34" charset="-120"/>
              </a:rPr>
              <a:t>Team-specific patterns</a:t>
            </a:r>
            <a:endParaRPr lang="en-US" sz="900" dirty="0"/>
          </a:p>
          <a:p>
            <a:pPr algn="l" indent="0" marL="0">
              <a:lnSpc>
                <a:spcPts val="1530"/>
              </a:lnSpc>
              <a:buNone/>
            </a:pPr>
            <a:r>
              <a:rPr lang="en-US" sz="900" dirty="0">
                <a:solidFill>
                  <a:srgbClr val="FFFFFF">
                    <a:alpha val="60000"/>
                  </a:srgbClr>
                </a:solidFill>
                <a:latin typeface="Arial" pitchFamily="34" charset="0"/>
                <a:ea typeface="Arial" pitchFamily="34" charset="-122"/>
                <a:cs typeface="Arial" pitchFamily="34" charset="-120"/>
              </a:rPr>
              <a:t>Custom workflows</a:t>
            </a:r>
            <a:endParaRPr lang="en-US" sz="900" dirty="0"/>
          </a:p>
        </p:txBody>
      </p:sp>
      <p:sp>
        <p:nvSpPr>
          <p:cNvPr id="14" name="Text 12"/>
          <p:cNvSpPr/>
          <p:nvPr/>
        </p:nvSpPr>
        <p:spPr>
          <a:xfrm>
            <a:off x="6045101" y="1237506"/>
            <a:ext cx="2641550" cy="2476054"/>
          </a:xfrm>
          <a:prstGeom prst="rect">
            <a:avLst/>
          </a:prstGeom>
          <a:solidFill>
            <a:srgbClr val="1A1F2E"/>
          </a:solidFill>
          <a:ln/>
        </p:spPr>
        <p:txBody>
          <a:bodyPr wrap="square" rtlCol="0" anchor="ctr"/>
          <a:lstStyle/>
          <a:p>
            <a:pPr indent="0" marL="0">
              <a:buNone/>
            </a:pPr>
            <a:endParaRPr lang="en-US" dirty="0"/>
          </a:p>
        </p:txBody>
      </p:sp>
      <p:sp>
        <p:nvSpPr>
          <p:cNvPr id="15" name="Text 13"/>
          <p:cNvSpPr/>
          <p:nvPr/>
        </p:nvSpPr>
        <p:spPr>
          <a:xfrm>
            <a:off x="6273701" y="1466106"/>
            <a:ext cx="457200" cy="457200"/>
          </a:xfrm>
          <a:prstGeom prst="rect">
            <a:avLst/>
          </a:prstGeom>
          <a:solidFill>
            <a:srgbClr val="C9A227"/>
          </a:solidFill>
          <a:ln/>
        </p:spPr>
        <p:txBody>
          <a:bodyPr wrap="square" rtlCol="0" anchor="ctr"/>
          <a:lstStyle/>
          <a:p>
            <a:pPr indent="0" marL="0">
              <a:buNone/>
            </a:pPr>
            <a:endParaRPr lang="en-US" dirty="0"/>
          </a:p>
        </p:txBody>
      </p:sp>
      <p:sp>
        <p:nvSpPr>
          <p:cNvPr id="16" name="Text 14"/>
          <p:cNvSpPr/>
          <p:nvPr/>
        </p:nvSpPr>
        <p:spPr>
          <a:xfrm>
            <a:off x="6391275" y="1561356"/>
            <a:ext cx="226493" cy="266700"/>
          </a:xfrm>
          <a:prstGeom prst="rect">
            <a:avLst/>
          </a:prstGeom>
          <a:noFill/>
          <a:ln/>
        </p:spPr>
        <p:txBody>
          <a:bodyPr wrap="square" lIns="0" tIns="0" rIns="0" bIns="0" rtlCol="0" anchor="t"/>
          <a:lstStyle/>
          <a:p>
            <a:pPr algn="l" indent="0" marL="0">
              <a:lnSpc>
                <a:spcPts val="2100"/>
              </a:lnSpc>
              <a:buNone/>
            </a:pPr>
            <a:r>
              <a:rPr lang="en-US" sz="1500" dirty="0">
                <a:solidFill>
                  <a:srgbClr val="1A1F2E"/>
                </a:solidFill>
                <a:latin typeface="Georgia" pitchFamily="34" charset="0"/>
                <a:ea typeface="Georgia" pitchFamily="34" charset="-122"/>
                <a:cs typeface="Georgia" pitchFamily="34" charset="-120"/>
              </a:rPr>
              <a:t>03</a:t>
            </a:r>
            <a:endParaRPr lang="en-US" sz="1500" dirty="0"/>
          </a:p>
        </p:txBody>
      </p:sp>
      <p:sp>
        <p:nvSpPr>
          <p:cNvPr id="17" name="Text 15"/>
          <p:cNvSpPr/>
          <p:nvPr/>
        </p:nvSpPr>
        <p:spPr>
          <a:xfrm>
            <a:off x="6273701" y="2228106"/>
            <a:ext cx="2228037" cy="213271"/>
          </a:xfrm>
          <a:prstGeom prst="rect">
            <a:avLst/>
          </a:prstGeom>
          <a:noFill/>
          <a:ln/>
        </p:spPr>
        <p:txBody>
          <a:bodyPr wrap="square" lIns="0" tIns="0" rIns="0" bIns="0" rtlCol="0" anchor="t"/>
          <a:lstStyle/>
          <a:p>
            <a:pPr algn="l" indent="0" marL="0">
              <a:lnSpc>
                <a:spcPts val="1680"/>
              </a:lnSpc>
              <a:spcAft>
                <a:spcPts val="900"/>
              </a:spcAft>
              <a:buNone/>
            </a:pPr>
            <a:r>
              <a:rPr lang="en-US" sz="1200" dirty="0">
                <a:solidFill>
                  <a:srgbClr val="FFFFFF"/>
                </a:solidFill>
                <a:latin typeface="Georgia" pitchFamily="34" charset="0"/>
                <a:ea typeface="Georgia" pitchFamily="34" charset="-122"/>
                <a:cs typeface="Georgia" pitchFamily="34" charset="-120"/>
              </a:rPr>
              <a:t>Tips &amp; Troubleshooting</a:t>
            </a:r>
            <a:endParaRPr lang="en-US" sz="1200" dirty="0"/>
          </a:p>
        </p:txBody>
      </p:sp>
      <p:sp>
        <p:nvSpPr>
          <p:cNvPr id="18" name="Text 16"/>
          <p:cNvSpPr/>
          <p:nvPr/>
        </p:nvSpPr>
        <p:spPr>
          <a:xfrm>
            <a:off x="6273701" y="2708077"/>
            <a:ext cx="2228037" cy="776883"/>
          </a:xfrm>
          <a:prstGeom prst="rect">
            <a:avLst/>
          </a:prstGeom>
          <a:noFill/>
          <a:ln/>
        </p:spPr>
        <p:txBody>
          <a:bodyPr wrap="square" lIns="0" tIns="0" rIns="0" bIns="0" rtlCol="0" anchor="t"/>
          <a:lstStyle/>
          <a:p>
            <a:pPr algn="l" indent="0" marL="0">
              <a:lnSpc>
                <a:spcPts val="1530"/>
              </a:lnSpc>
              <a:buNone/>
            </a:pPr>
            <a:r>
              <a:rPr lang="en-US" sz="900" dirty="0">
                <a:solidFill>
                  <a:srgbClr val="FFFFFF">
                    <a:alpha val="60000"/>
                  </a:srgbClr>
                </a:solidFill>
                <a:latin typeface="Arial" pitchFamily="34" charset="0"/>
                <a:ea typeface="Arial" pitchFamily="34" charset="-122"/>
                <a:cs typeface="Arial" pitchFamily="34" charset="-120"/>
              </a:rPr>
              <a:t>Common pitfalls</a:t>
            </a:r>
            <a:endParaRPr lang="en-US" sz="900" dirty="0"/>
          </a:p>
          <a:p>
            <a:pPr algn="l" indent="0" marL="0">
              <a:lnSpc>
                <a:spcPts val="1530"/>
              </a:lnSpc>
              <a:buNone/>
            </a:pPr>
            <a:r>
              <a:rPr lang="en-US" sz="900" dirty="0">
                <a:solidFill>
                  <a:srgbClr val="FFFFFF">
                    <a:alpha val="60000"/>
                  </a:srgbClr>
                </a:solidFill>
                <a:latin typeface="Arial" pitchFamily="34" charset="0"/>
                <a:ea typeface="Arial" pitchFamily="34" charset="-122"/>
                <a:cs typeface="Arial" pitchFamily="34" charset="-120"/>
              </a:rPr>
              <a:t>Optimization tricks</a:t>
            </a:r>
            <a:endParaRPr lang="en-US" sz="900" dirty="0"/>
          </a:p>
          <a:p>
            <a:pPr algn="l" indent="0" marL="0">
              <a:lnSpc>
                <a:spcPts val="1530"/>
              </a:lnSpc>
              <a:buNone/>
            </a:pPr>
            <a:r>
              <a:rPr lang="en-US" sz="900" dirty="0">
                <a:solidFill>
                  <a:srgbClr val="FFFFFF">
                    <a:alpha val="60000"/>
                  </a:srgbClr>
                </a:solidFill>
                <a:latin typeface="Arial" pitchFamily="34" charset="0"/>
                <a:ea typeface="Arial" pitchFamily="34" charset="-122"/>
                <a:cs typeface="Arial" pitchFamily="34" charset="-120"/>
              </a:rPr>
              <a:t>Voice command patterns</a:t>
            </a:r>
            <a:endParaRPr lang="en-US" sz="900" dirty="0"/>
          </a:p>
          <a:p>
            <a:pPr algn="l" indent="0" marL="0">
              <a:lnSpc>
                <a:spcPts val="1530"/>
              </a:lnSpc>
              <a:buNone/>
            </a:pPr>
            <a:r>
              <a:rPr lang="en-US" sz="900" dirty="0">
                <a:solidFill>
                  <a:srgbClr val="FFFFFF">
                    <a:alpha val="60000"/>
                  </a:srgbClr>
                </a:solidFill>
                <a:latin typeface="Arial" pitchFamily="34" charset="0"/>
                <a:ea typeface="Arial" pitchFamily="34" charset="-122"/>
                <a:cs typeface="Arial" pitchFamily="34" charset="-120"/>
              </a:rPr>
              <a:t>Debug techniques</a:t>
            </a:r>
            <a:endParaRPr lang="en-US" sz="900" dirty="0"/>
          </a:p>
        </p:txBody>
      </p:sp>
      <p:sp>
        <p:nvSpPr>
          <p:cNvPr id="19" name="Text 17"/>
          <p:cNvSpPr/>
          <p:nvPr/>
        </p:nvSpPr>
        <p:spPr>
          <a:xfrm>
            <a:off x="457200" y="4271070"/>
            <a:ext cx="8229600" cy="567630"/>
          </a:xfrm>
          <a:prstGeom prst="rect">
            <a:avLst/>
          </a:prstGeom>
          <a:solidFill>
            <a:srgbClr val="C9A227"/>
          </a:solidFill>
          <a:ln/>
        </p:spPr>
        <p:txBody>
          <a:bodyPr wrap="square" rtlCol="0" anchor="ctr"/>
          <a:lstStyle/>
          <a:p>
            <a:pPr indent="0" marL="0">
              <a:buNone/>
            </a:pPr>
            <a:endParaRPr lang="en-US" dirty="0"/>
          </a:p>
        </p:txBody>
      </p:sp>
      <p:sp>
        <p:nvSpPr>
          <p:cNvPr id="20" name="Text 18"/>
          <p:cNvSpPr/>
          <p:nvPr/>
        </p:nvSpPr>
        <p:spPr>
          <a:xfrm>
            <a:off x="608076" y="4461570"/>
            <a:ext cx="7927848" cy="186630"/>
          </a:xfrm>
          <a:prstGeom prst="rect">
            <a:avLst/>
          </a:prstGeom>
          <a:noFill/>
          <a:ln/>
        </p:spPr>
        <p:txBody>
          <a:bodyPr wrap="square" lIns="0" tIns="0" rIns="0" bIns="0" rtlCol="0" anchor="t"/>
          <a:lstStyle/>
          <a:p>
            <a:pPr algn="ctr" indent="0" marL="0">
              <a:lnSpc>
                <a:spcPts val="1470"/>
              </a:lnSpc>
              <a:buNone/>
            </a:pPr>
            <a:r>
              <a:rPr lang="en-US" sz="1050" b="1" dirty="0">
                <a:solidFill>
                  <a:srgbClr val="1A1F2E"/>
                </a:solidFill>
                <a:latin typeface="Arial" pitchFamily="34" charset="0"/>
                <a:ea typeface="Arial" pitchFamily="34" charset="-122"/>
                <a:cs typeface="Arial" pitchFamily="34" charset="-120"/>
              </a:rPr>
              <a:t>Part 2 is all hands-on - bring your laptop and a project you want to improve</a:t>
            </a:r>
            <a:endParaRPr lang="en-US" sz="10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pic>
        <p:nvPicPr>
          <p:cNvPr id="2" name="Image 0" descr="/var/folders/8s/qp6qfsr90ml5q7fb2n2ptwch0000gn/T/rasterized-gradient-a9380b37.png">    </p:cNvPr>
          <p:cNvPicPr>
            <a:picLocks noChangeAspect="1"/>
          </p:cNvPicPr>
          <p:nvPr/>
        </p:nvPicPr>
        <p:blipFill>
          <a:blip r:embed="rId1"/>
          <a:stretch>
            <a:fillRect/>
          </a:stretch>
        </p:blipFill>
        <p:spPr>
          <a:xfrm>
            <a:off x="0" y="0"/>
            <a:ext cx="5850434" cy="5143500"/>
          </a:xfrm>
          <a:prstGeom prst="rect">
            <a:avLst/>
          </a:prstGeom>
        </p:spPr>
      </p:pic>
      <p:sp>
        <p:nvSpPr>
          <p:cNvPr id="3" name="Text 0"/>
          <p:cNvSpPr/>
          <p:nvPr/>
        </p:nvSpPr>
        <p:spPr>
          <a:xfrm>
            <a:off x="457200" y="1023193"/>
            <a:ext cx="5034754" cy="146596"/>
          </a:xfrm>
          <a:prstGeom prst="rect">
            <a:avLst/>
          </a:prstGeom>
          <a:noFill/>
          <a:ln/>
        </p:spPr>
        <p:txBody>
          <a:bodyPr wrap="square" lIns="0" tIns="0" rIns="0" bIns="0" rtlCol="0" anchor="t"/>
          <a:lstStyle/>
          <a:p>
            <a:pPr algn="l" indent="0" marL="0">
              <a:lnSpc>
                <a:spcPts val="1155"/>
              </a:lnSpc>
              <a:spcAft>
                <a:spcPts val="1500"/>
              </a:spcAft>
              <a:buNone/>
            </a:pPr>
            <a:r>
              <a:rPr lang="en-US" sz="825" dirty="0">
                <a:solidFill>
                  <a:srgbClr val="C9A227"/>
                </a:solidFill>
                <a:latin typeface="Arial" pitchFamily="34" charset="0"/>
                <a:ea typeface="Arial" pitchFamily="34" charset="-122"/>
                <a:cs typeface="Arial" pitchFamily="34" charset="-120"/>
              </a:rPr>
              <a:t>AUSTIN PUBLIC HEALTH</a:t>
            </a:r>
            <a:endParaRPr lang="en-US" sz="825" dirty="0"/>
          </a:p>
        </p:txBody>
      </p:sp>
      <p:sp>
        <p:nvSpPr>
          <p:cNvPr id="4" name="Text 1"/>
          <p:cNvSpPr/>
          <p:nvPr/>
        </p:nvSpPr>
        <p:spPr>
          <a:xfrm>
            <a:off x="457200" y="1512689"/>
            <a:ext cx="2526030" cy="460921"/>
          </a:xfrm>
          <a:prstGeom prst="rect">
            <a:avLst/>
          </a:prstGeom>
          <a:noFill/>
          <a:ln/>
        </p:spPr>
        <p:txBody>
          <a:bodyPr wrap="square" lIns="0" tIns="0" rIns="0" bIns="0" rtlCol="0" anchor="t"/>
          <a:lstStyle/>
          <a:p>
            <a:pPr algn="l" indent="0" marL="0">
              <a:lnSpc>
                <a:spcPts val="3630"/>
              </a:lnSpc>
              <a:spcAft>
                <a:spcPts val="1200"/>
              </a:spcAft>
              <a:buNone/>
            </a:pPr>
            <a:r>
              <a:rPr lang="en-US" sz="3300" dirty="0">
                <a:solidFill>
                  <a:srgbClr val="FFFFFF"/>
                </a:solidFill>
                <a:latin typeface="Georgia" pitchFamily="34" charset="0"/>
                <a:ea typeface="Georgia" pitchFamily="34" charset="-122"/>
                <a:cs typeface="Georgia" pitchFamily="34" charset="-120"/>
              </a:rPr>
              <a:t>Thank You</a:t>
            </a:r>
            <a:endParaRPr lang="en-US" sz="3300" dirty="0"/>
          </a:p>
        </p:txBody>
      </p:sp>
      <p:sp>
        <p:nvSpPr>
          <p:cNvPr id="5" name="Text 2"/>
          <p:cNvSpPr/>
          <p:nvPr/>
        </p:nvSpPr>
        <p:spPr>
          <a:xfrm>
            <a:off x="457200" y="2278410"/>
            <a:ext cx="5034754" cy="319980"/>
          </a:xfrm>
          <a:prstGeom prst="rect">
            <a:avLst/>
          </a:prstGeom>
          <a:noFill/>
          <a:ln/>
        </p:spPr>
        <p:txBody>
          <a:bodyPr wrap="square" lIns="0" tIns="0" rIns="0" bIns="0" rtlCol="0" anchor="t"/>
          <a:lstStyle/>
          <a:p>
            <a:pPr algn="l" indent="0" marL="0">
              <a:lnSpc>
                <a:spcPts val="2520"/>
              </a:lnSpc>
              <a:spcAft>
                <a:spcPts val="2400"/>
              </a:spcAft>
              <a:buNone/>
            </a:pPr>
            <a:r>
              <a:rPr lang="en-US" sz="1800" dirty="0">
                <a:solidFill>
                  <a:srgbClr val="C9A227"/>
                </a:solidFill>
                <a:latin typeface="Georgia" pitchFamily="34" charset="0"/>
                <a:ea typeface="Georgia" pitchFamily="34" charset="-122"/>
                <a:cs typeface="Georgia" pitchFamily="34" charset="-120"/>
              </a:rPr>
              <a:t>Part 1 Complete</a:t>
            </a:r>
            <a:endParaRPr lang="en-US" sz="1800" dirty="0"/>
          </a:p>
        </p:txBody>
      </p:sp>
      <p:sp>
        <p:nvSpPr>
          <p:cNvPr id="6" name="Text 3"/>
          <p:cNvSpPr/>
          <p:nvPr/>
        </p:nvSpPr>
        <p:spPr>
          <a:xfrm>
            <a:off x="457200" y="3055590"/>
            <a:ext cx="762000" cy="19050"/>
          </a:xfrm>
          <a:prstGeom prst="rect">
            <a:avLst/>
          </a:prstGeom>
          <a:solidFill>
            <a:srgbClr val="C9A227"/>
          </a:solidFill>
          <a:ln/>
        </p:spPr>
        <p:txBody>
          <a:bodyPr wrap="square" rtlCol="0" anchor="ctr"/>
          <a:lstStyle/>
          <a:p>
            <a:pPr indent="0" marL="0">
              <a:buNone/>
            </a:pPr>
            <a:endParaRPr lang="en-US" dirty="0"/>
          </a:p>
        </p:txBody>
      </p:sp>
      <p:sp>
        <p:nvSpPr>
          <p:cNvPr id="7" name="Text 4"/>
          <p:cNvSpPr/>
          <p:nvPr/>
        </p:nvSpPr>
        <p:spPr>
          <a:xfrm>
            <a:off x="457200" y="3531840"/>
            <a:ext cx="5034754" cy="186630"/>
          </a:xfrm>
          <a:prstGeom prst="rect">
            <a:avLst/>
          </a:prstGeom>
          <a:noFill/>
          <a:ln/>
        </p:spPr>
        <p:txBody>
          <a:bodyPr wrap="square" lIns="0" tIns="0" rIns="0" bIns="0" rtlCol="0" anchor="t"/>
          <a:lstStyle/>
          <a:p>
            <a:pPr algn="l" indent="0" marL="0">
              <a:lnSpc>
                <a:spcPts val="1470"/>
              </a:lnSpc>
              <a:spcAft>
                <a:spcPts val="600"/>
              </a:spcAft>
              <a:buNone/>
            </a:pPr>
            <a:r>
              <a:rPr lang="en-US" sz="1050" dirty="0">
                <a:solidFill>
                  <a:srgbClr val="FFFFFF">
                    <a:alpha val="70000"/>
                  </a:srgbClr>
                </a:solidFill>
                <a:latin typeface="Arial" pitchFamily="34" charset="0"/>
                <a:ea typeface="Arial" pitchFamily="34" charset="-122"/>
                <a:cs typeface="Arial" pitchFamily="34" charset="-120"/>
              </a:rPr>
              <a:t>Questions? Reach out anytime.</a:t>
            </a:r>
            <a:endParaRPr lang="en-US" sz="1050" dirty="0"/>
          </a:p>
        </p:txBody>
      </p:sp>
      <p:sp>
        <p:nvSpPr>
          <p:cNvPr id="8" name="Text 5"/>
          <p:cNvSpPr/>
          <p:nvPr/>
        </p:nvSpPr>
        <p:spPr>
          <a:xfrm>
            <a:off x="457200" y="3947071"/>
            <a:ext cx="5034754" cy="173236"/>
          </a:xfrm>
          <a:prstGeom prst="rect">
            <a:avLst/>
          </a:prstGeom>
          <a:noFill/>
          <a:ln/>
        </p:spPr>
        <p:txBody>
          <a:bodyPr wrap="square" lIns="0" tIns="0" rIns="0" bIns="0" rtlCol="0" anchor="t"/>
          <a:lstStyle/>
          <a:p>
            <a:pPr algn="l" indent="0" marL="0">
              <a:lnSpc>
                <a:spcPts val="1365"/>
              </a:lnSpc>
              <a:buNone/>
            </a:pPr>
            <a:r>
              <a:rPr lang="en-US" sz="975" dirty="0">
                <a:solidFill>
                  <a:srgbClr val="FFFFFF">
                    <a:alpha val="50000"/>
                  </a:srgbClr>
                </a:solidFill>
                <a:latin typeface="Arial" pitchFamily="34" charset="0"/>
                <a:ea typeface="Arial" pitchFamily="34" charset="-122"/>
                <a:cs typeface="Arial" pitchFamily="34" charset="-120"/>
              </a:rPr>
              <a:t>See you in Part 2: Hands-On Practice</a:t>
            </a:r>
            <a:endParaRPr lang="en-US" sz="975" dirty="0"/>
          </a:p>
        </p:txBody>
      </p:sp>
      <p:sp>
        <p:nvSpPr>
          <p:cNvPr id="9" name="Text 6"/>
          <p:cNvSpPr/>
          <p:nvPr/>
        </p:nvSpPr>
        <p:spPr>
          <a:xfrm>
            <a:off x="6002834" y="0"/>
            <a:ext cx="3141166" cy="5143500"/>
          </a:xfrm>
          <a:prstGeom prst="rect">
            <a:avLst/>
          </a:prstGeom>
          <a:solidFill>
            <a:srgbClr val="C9A227"/>
          </a:solidFill>
          <a:ln/>
        </p:spPr>
        <p:txBody>
          <a:bodyPr wrap="square" rtlCol="0" anchor="ctr"/>
          <a:lstStyle/>
          <a:p>
            <a:pPr indent="0" marL="0">
              <a:buNone/>
            </a:pPr>
            <a:endParaRPr lang="en-US" dirty="0"/>
          </a:p>
        </p:txBody>
      </p:sp>
      <p:sp>
        <p:nvSpPr>
          <p:cNvPr id="10" name="Text 7"/>
          <p:cNvSpPr/>
          <p:nvPr/>
        </p:nvSpPr>
        <p:spPr>
          <a:xfrm>
            <a:off x="7122557" y="315516"/>
            <a:ext cx="901720" cy="853380"/>
          </a:xfrm>
          <a:prstGeom prst="rect">
            <a:avLst/>
          </a:prstGeom>
          <a:noFill/>
          <a:ln/>
        </p:spPr>
        <p:txBody>
          <a:bodyPr wrap="square" lIns="0" tIns="0" rIns="0" bIns="0" rtlCol="0" anchor="t"/>
          <a:lstStyle/>
          <a:p>
            <a:pPr algn="ctr" indent="0" marL="0">
              <a:lnSpc>
                <a:spcPts val="6720"/>
              </a:lnSpc>
              <a:buNone/>
            </a:pPr>
            <a:r>
              <a:rPr lang="en-US" sz="4800" dirty="0">
                <a:solidFill>
                  <a:srgbClr val="1A1F2E"/>
                </a:solidFill>
                <a:latin typeface="Georgia" pitchFamily="34" charset="0"/>
                <a:ea typeface="Georgia" pitchFamily="34" charset="-122"/>
                <a:cs typeface="Georgia" pitchFamily="34" charset="-120"/>
              </a:rPr>
              <a:t>1/3</a:t>
            </a:r>
            <a:endParaRPr lang="en-US" sz="4800" dirty="0"/>
          </a:p>
        </p:txBody>
      </p:sp>
      <p:sp>
        <p:nvSpPr>
          <p:cNvPr id="11" name="Text 8"/>
          <p:cNvSpPr/>
          <p:nvPr/>
        </p:nvSpPr>
        <p:spPr>
          <a:xfrm>
            <a:off x="7121496" y="1397496"/>
            <a:ext cx="903693" cy="186630"/>
          </a:xfrm>
          <a:prstGeom prst="rect">
            <a:avLst/>
          </a:prstGeom>
          <a:noFill/>
          <a:ln/>
        </p:spPr>
        <p:txBody>
          <a:bodyPr wrap="square" lIns="0" tIns="0" rIns="0" bIns="0" rtlCol="0" anchor="t"/>
          <a:lstStyle/>
          <a:p>
            <a:pPr algn="ctr" indent="0" marL="0">
              <a:lnSpc>
                <a:spcPts val="1470"/>
              </a:lnSpc>
              <a:spcBef>
                <a:spcPts val="600"/>
              </a:spcBef>
              <a:buNone/>
            </a:pPr>
            <a:r>
              <a:rPr lang="en-US" sz="1050" dirty="0">
                <a:solidFill>
                  <a:srgbClr val="1A1F2E"/>
                </a:solidFill>
                <a:latin typeface="Arial" pitchFamily="34" charset="0"/>
                <a:ea typeface="Arial" pitchFamily="34" charset="-122"/>
                <a:cs typeface="Arial" pitchFamily="34" charset="-120"/>
              </a:rPr>
              <a:t>COMPLETE</a:t>
            </a:r>
            <a:endParaRPr lang="en-US" sz="1050" dirty="0"/>
          </a:p>
        </p:txBody>
      </p:sp>
      <p:sp>
        <p:nvSpPr>
          <p:cNvPr id="12" name="Text 9"/>
          <p:cNvSpPr/>
          <p:nvPr/>
        </p:nvSpPr>
        <p:spPr>
          <a:xfrm>
            <a:off x="6307634" y="2356842"/>
            <a:ext cx="2531566" cy="649486"/>
          </a:xfrm>
          <a:prstGeom prst="rect">
            <a:avLst/>
          </a:prstGeom>
          <a:solidFill>
            <a:srgbClr val="1A1F2E">
              <a:alpha val="10000"/>
            </a:srgbClr>
          </a:solidFill>
          <a:ln/>
        </p:spPr>
        <p:txBody>
          <a:bodyPr wrap="square" rtlCol="0" anchor="ctr"/>
          <a:lstStyle/>
          <a:p>
            <a:pPr indent="0" marL="0">
              <a:buNone/>
            </a:pPr>
            <a:endParaRPr lang="en-US" dirty="0"/>
          </a:p>
        </p:txBody>
      </p:sp>
      <p:sp>
        <p:nvSpPr>
          <p:cNvPr id="13" name="Text 10"/>
          <p:cNvSpPr/>
          <p:nvPr/>
        </p:nvSpPr>
        <p:spPr>
          <a:xfrm>
            <a:off x="6460034" y="2509242"/>
            <a:ext cx="2271302" cy="159990"/>
          </a:xfrm>
          <a:prstGeom prst="rect">
            <a:avLst/>
          </a:prstGeom>
          <a:noFill/>
          <a:ln/>
        </p:spPr>
        <p:txBody>
          <a:bodyPr wrap="square" lIns="0" tIns="0" rIns="0" bIns="0" rtlCol="0" anchor="t"/>
          <a:lstStyle/>
          <a:p>
            <a:pPr algn="l" indent="0" marL="0">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Today</a:t>
            </a:r>
            <a:endParaRPr lang="en-US" sz="900" dirty="0"/>
          </a:p>
        </p:txBody>
      </p:sp>
      <p:sp>
        <p:nvSpPr>
          <p:cNvPr id="14" name="Text 11"/>
          <p:cNvSpPr/>
          <p:nvPr/>
        </p:nvSpPr>
        <p:spPr>
          <a:xfrm>
            <a:off x="6460034" y="2707332"/>
            <a:ext cx="2271302" cy="146596"/>
          </a:xfrm>
          <a:prstGeom prst="rect">
            <a:avLst/>
          </a:prstGeom>
          <a:noFill/>
          <a:ln/>
        </p:spPr>
        <p:txBody>
          <a:bodyPr wrap="square" lIns="0" tIns="0" rIns="0" bIns="0" rtlCol="0" anchor="t"/>
          <a:lstStyle/>
          <a:p>
            <a:pPr algn="l" indent="0" marL="0">
              <a:lnSpc>
                <a:spcPts val="1155"/>
              </a:lnSpc>
              <a:buNone/>
            </a:pPr>
            <a:r>
              <a:rPr lang="en-US" sz="825" dirty="0">
                <a:solidFill>
                  <a:srgbClr val="1A1F2E">
                    <a:alpha val="70000"/>
                  </a:srgbClr>
                </a:solidFill>
                <a:latin typeface="Arial" pitchFamily="34" charset="0"/>
                <a:ea typeface="Arial" pitchFamily="34" charset="-122"/>
                <a:cs typeface="Arial" pitchFamily="34" charset="-120"/>
              </a:rPr>
              <a:t>Setup &amp; Tool Overview</a:t>
            </a:r>
            <a:endParaRPr lang="en-US" sz="825" dirty="0"/>
          </a:p>
        </p:txBody>
      </p:sp>
      <p:sp>
        <p:nvSpPr>
          <p:cNvPr id="15" name="Text 12"/>
          <p:cNvSpPr/>
          <p:nvPr/>
        </p:nvSpPr>
        <p:spPr>
          <a:xfrm>
            <a:off x="6307634" y="3273028"/>
            <a:ext cx="2531566" cy="649486"/>
          </a:xfrm>
          <a:prstGeom prst="rect">
            <a:avLst/>
          </a:prstGeom>
          <a:solidFill>
            <a:srgbClr val="1A1F2E">
              <a:alpha val="5000"/>
            </a:srgbClr>
          </a:solidFill>
          <a:ln/>
        </p:spPr>
        <p:txBody>
          <a:bodyPr wrap="square" rtlCol="0" anchor="ctr"/>
          <a:lstStyle/>
          <a:p>
            <a:pPr indent="0" marL="0">
              <a:buNone/>
            </a:pPr>
            <a:endParaRPr lang="en-US" dirty="0"/>
          </a:p>
        </p:txBody>
      </p:sp>
      <p:sp>
        <p:nvSpPr>
          <p:cNvPr id="16" name="Text 13"/>
          <p:cNvSpPr/>
          <p:nvPr/>
        </p:nvSpPr>
        <p:spPr>
          <a:xfrm>
            <a:off x="6460034" y="3425428"/>
            <a:ext cx="2271302" cy="159990"/>
          </a:xfrm>
          <a:prstGeom prst="rect">
            <a:avLst/>
          </a:prstGeom>
          <a:noFill/>
          <a:ln/>
        </p:spPr>
        <p:txBody>
          <a:bodyPr wrap="square" lIns="0" tIns="0" rIns="0" bIns="0" rtlCol="0" anchor="t"/>
          <a:lstStyle/>
          <a:p>
            <a:pPr algn="l" indent="0" marL="0">
              <a:lnSpc>
                <a:spcPts val="1260"/>
              </a:lnSpc>
              <a:spcAft>
                <a:spcPts val="300"/>
              </a:spcAft>
              <a:buNone/>
            </a:pPr>
            <a:r>
              <a:rPr lang="en-US" sz="900" b="1" dirty="0">
                <a:solidFill>
                  <a:srgbClr val="1A1F2E">
                    <a:alpha val="60000"/>
                  </a:srgbClr>
                </a:solidFill>
                <a:latin typeface="Arial" pitchFamily="34" charset="0"/>
                <a:ea typeface="Arial" pitchFamily="34" charset="-122"/>
                <a:cs typeface="Arial" pitchFamily="34" charset="-120"/>
              </a:rPr>
              <a:t>Next</a:t>
            </a:r>
            <a:endParaRPr lang="en-US" sz="900" dirty="0"/>
          </a:p>
        </p:txBody>
      </p:sp>
      <p:sp>
        <p:nvSpPr>
          <p:cNvPr id="17" name="Text 14"/>
          <p:cNvSpPr/>
          <p:nvPr/>
        </p:nvSpPr>
        <p:spPr>
          <a:xfrm>
            <a:off x="6460034" y="3623518"/>
            <a:ext cx="2271302" cy="146596"/>
          </a:xfrm>
          <a:prstGeom prst="rect">
            <a:avLst/>
          </a:prstGeom>
          <a:noFill/>
          <a:ln/>
        </p:spPr>
        <p:txBody>
          <a:bodyPr wrap="square" lIns="0" tIns="0" rIns="0" bIns="0" rtlCol="0" anchor="t"/>
          <a:lstStyle/>
          <a:p>
            <a:pPr algn="l" indent="0" marL="0">
              <a:lnSpc>
                <a:spcPts val="1155"/>
              </a:lnSpc>
              <a:buNone/>
            </a:pPr>
            <a:r>
              <a:rPr lang="en-US" sz="825" dirty="0">
                <a:solidFill>
                  <a:srgbClr val="1A1F2E">
                    <a:alpha val="50000"/>
                  </a:srgbClr>
                </a:solidFill>
                <a:latin typeface="Arial" pitchFamily="34" charset="0"/>
                <a:ea typeface="Arial" pitchFamily="34" charset="-122"/>
                <a:cs typeface="Arial" pitchFamily="34" charset="-120"/>
              </a:rPr>
              <a:t>Hands-On Practice</a:t>
            </a:r>
            <a:endParaRPr lang="en-US" sz="825" dirty="0"/>
          </a:p>
        </p:txBody>
      </p:sp>
      <p:sp>
        <p:nvSpPr>
          <p:cNvPr id="18" name="Text 15"/>
          <p:cNvSpPr/>
          <p:nvPr/>
        </p:nvSpPr>
        <p:spPr>
          <a:xfrm>
            <a:off x="6307634" y="4189214"/>
            <a:ext cx="2531566" cy="649486"/>
          </a:xfrm>
          <a:prstGeom prst="rect">
            <a:avLst/>
          </a:prstGeom>
          <a:solidFill>
            <a:srgbClr val="1A1F2E">
              <a:alpha val="5000"/>
            </a:srgbClr>
          </a:solidFill>
          <a:ln/>
        </p:spPr>
        <p:txBody>
          <a:bodyPr wrap="square" rtlCol="0" anchor="ctr"/>
          <a:lstStyle/>
          <a:p>
            <a:pPr indent="0" marL="0">
              <a:buNone/>
            </a:pPr>
            <a:endParaRPr lang="en-US" dirty="0"/>
          </a:p>
        </p:txBody>
      </p:sp>
      <p:sp>
        <p:nvSpPr>
          <p:cNvPr id="19" name="Text 16"/>
          <p:cNvSpPr/>
          <p:nvPr/>
        </p:nvSpPr>
        <p:spPr>
          <a:xfrm>
            <a:off x="6460034" y="4341614"/>
            <a:ext cx="2271302" cy="159990"/>
          </a:xfrm>
          <a:prstGeom prst="rect">
            <a:avLst/>
          </a:prstGeom>
          <a:noFill/>
          <a:ln/>
        </p:spPr>
        <p:txBody>
          <a:bodyPr wrap="square" lIns="0" tIns="0" rIns="0" bIns="0" rtlCol="0" anchor="t"/>
          <a:lstStyle/>
          <a:p>
            <a:pPr algn="l" indent="0" marL="0">
              <a:lnSpc>
                <a:spcPts val="1260"/>
              </a:lnSpc>
              <a:spcAft>
                <a:spcPts val="300"/>
              </a:spcAft>
              <a:buNone/>
            </a:pPr>
            <a:r>
              <a:rPr lang="en-US" sz="900" b="1" dirty="0">
                <a:solidFill>
                  <a:srgbClr val="1A1F2E">
                    <a:alpha val="60000"/>
                  </a:srgbClr>
                </a:solidFill>
                <a:latin typeface="Arial" pitchFamily="34" charset="0"/>
                <a:ea typeface="Arial" pitchFamily="34" charset="-122"/>
                <a:cs typeface="Arial" pitchFamily="34" charset="-120"/>
              </a:rPr>
              <a:t>Final</a:t>
            </a:r>
            <a:endParaRPr lang="en-US" sz="900" dirty="0"/>
          </a:p>
        </p:txBody>
      </p:sp>
      <p:sp>
        <p:nvSpPr>
          <p:cNvPr id="20" name="Text 17"/>
          <p:cNvSpPr/>
          <p:nvPr/>
        </p:nvSpPr>
        <p:spPr>
          <a:xfrm>
            <a:off x="6460034" y="4539704"/>
            <a:ext cx="2271302" cy="146596"/>
          </a:xfrm>
          <a:prstGeom prst="rect">
            <a:avLst/>
          </a:prstGeom>
          <a:noFill/>
          <a:ln/>
        </p:spPr>
        <p:txBody>
          <a:bodyPr wrap="square" lIns="0" tIns="0" rIns="0" bIns="0" rtlCol="0" anchor="t"/>
          <a:lstStyle/>
          <a:p>
            <a:pPr algn="l" indent="0" marL="0">
              <a:lnSpc>
                <a:spcPts val="1155"/>
              </a:lnSpc>
              <a:buNone/>
            </a:pPr>
            <a:r>
              <a:rPr lang="en-US" sz="825" dirty="0">
                <a:solidFill>
                  <a:srgbClr val="1A1F2E">
                    <a:alpha val="50000"/>
                  </a:srgbClr>
                </a:solidFill>
                <a:latin typeface="Arial" pitchFamily="34" charset="0"/>
                <a:ea typeface="Arial" pitchFamily="34" charset="-122"/>
                <a:cs typeface="Arial" pitchFamily="34" charset="-120"/>
              </a:rPr>
              <a:t>Build a Transcriber</a:t>
            </a:r>
            <a:endParaRPr lang="en-US" sz="825"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249479" y="905917"/>
            <a:ext cx="2644893" cy="159990"/>
          </a:xfrm>
          <a:prstGeom prst="rect">
            <a:avLst/>
          </a:prstGeom>
          <a:noFill/>
          <a:ln/>
        </p:spPr>
        <p:txBody>
          <a:bodyPr wrap="square" lIns="0" tIns="0" rIns="0" bIns="0" rtlCol="0" anchor="t"/>
          <a:lstStyle/>
          <a:p>
            <a:pPr algn="ctr" indent="0" marL="0">
              <a:lnSpc>
                <a:spcPts val="1260"/>
              </a:lnSpc>
              <a:spcAft>
                <a:spcPts val="1800"/>
              </a:spcAft>
              <a:buNone/>
            </a:pPr>
            <a:r>
              <a:rPr lang="en-US" sz="900" dirty="0">
                <a:solidFill>
                  <a:srgbClr val="C9A227"/>
                </a:solidFill>
                <a:latin typeface="Arial" pitchFamily="34" charset="0"/>
                <a:ea typeface="Arial" pitchFamily="34" charset="-122"/>
                <a:cs typeface="Arial" pitchFamily="34" charset="-120"/>
              </a:rPr>
              <a:t>PART 3 • HANDS-ON SECTION</a:t>
            </a:r>
            <a:endParaRPr lang="en-US" sz="900" dirty="0"/>
          </a:p>
        </p:txBody>
      </p:sp>
      <p:sp>
        <p:nvSpPr>
          <p:cNvPr id="3" name="Text 1"/>
          <p:cNvSpPr/>
          <p:nvPr/>
        </p:nvSpPr>
        <p:spPr>
          <a:xfrm>
            <a:off x="1758148" y="1446907"/>
            <a:ext cx="5627703" cy="495300"/>
          </a:xfrm>
          <a:prstGeom prst="rect">
            <a:avLst/>
          </a:prstGeom>
          <a:noFill/>
          <a:ln/>
        </p:spPr>
        <p:txBody>
          <a:bodyPr wrap="square" lIns="0" tIns="0" rIns="0" bIns="0" rtlCol="0" anchor="t"/>
          <a:lstStyle/>
          <a:p>
            <a:pPr algn="ctr" indent="0" marL="0">
              <a:lnSpc>
                <a:spcPts val="3900"/>
              </a:lnSpc>
              <a:spcAft>
                <a:spcPts val="1200"/>
              </a:spcAft>
              <a:buNone/>
            </a:pPr>
            <a:r>
              <a:rPr lang="en-US" sz="3900" dirty="0">
                <a:solidFill>
                  <a:srgbClr val="FFFFFF"/>
                </a:solidFill>
                <a:latin typeface="Georgia" pitchFamily="34" charset="0"/>
                <a:ea typeface="Georgia" pitchFamily="34" charset="-122"/>
                <a:cs typeface="Georgia" pitchFamily="34" charset="-120"/>
              </a:rPr>
              <a:t>SuperWhisper Deep Dive</a:t>
            </a:r>
            <a:endParaRPr lang="en-US" sz="3900" dirty="0"/>
          </a:p>
        </p:txBody>
      </p:sp>
      <p:sp>
        <p:nvSpPr>
          <p:cNvPr id="4" name="Text 2"/>
          <p:cNvSpPr/>
          <p:nvPr/>
        </p:nvSpPr>
        <p:spPr>
          <a:xfrm>
            <a:off x="4191000" y="2247007"/>
            <a:ext cx="762000" cy="28575"/>
          </a:xfrm>
          <a:prstGeom prst="rect">
            <a:avLst/>
          </a:prstGeom>
          <a:solidFill>
            <a:srgbClr val="C9A227"/>
          </a:solidFill>
          <a:ln/>
        </p:spPr>
        <p:txBody>
          <a:bodyPr wrap="square" rtlCol="0" anchor="ctr"/>
          <a:lstStyle/>
          <a:p>
            <a:pPr indent="0" marL="0">
              <a:buNone/>
            </a:pPr>
            <a:endParaRPr lang="en-US" dirty="0"/>
          </a:p>
        </p:txBody>
      </p:sp>
      <p:sp>
        <p:nvSpPr>
          <p:cNvPr id="5" name="Text 3"/>
          <p:cNvSpPr/>
          <p:nvPr/>
        </p:nvSpPr>
        <p:spPr>
          <a:xfrm>
            <a:off x="1657350" y="2656582"/>
            <a:ext cx="5829300" cy="487561"/>
          </a:xfrm>
          <a:prstGeom prst="rect">
            <a:avLst/>
          </a:prstGeom>
          <a:noFill/>
          <a:ln/>
        </p:spPr>
        <p:txBody>
          <a:bodyPr wrap="square" lIns="0" tIns="0" rIns="0" bIns="0" rtlCol="0" anchor="t"/>
          <a:lstStyle/>
          <a:p>
            <a:pPr algn="ctr" indent="0" marL="0">
              <a:lnSpc>
                <a:spcPts val="1920"/>
              </a:lnSpc>
              <a:spcAft>
                <a:spcPts val="2400"/>
              </a:spcAft>
              <a:buNone/>
            </a:pPr>
            <a:r>
              <a:rPr lang="en-US" sz="1200" dirty="0">
                <a:solidFill>
                  <a:srgbClr val="FFFFFF">
                    <a:alpha val="70000"/>
                  </a:srgbClr>
                </a:solidFill>
                <a:latin typeface="Arial" pitchFamily="34" charset="0"/>
                <a:ea typeface="Arial" pitchFamily="34" charset="-122"/>
                <a:cs typeface="Arial" pitchFamily="34" charset="-120"/>
              </a:rPr>
              <a:t>Configure SuperWhisper for your specific workflow. We'll walk through setup, custom modes, and optimization together.</a:t>
            </a:r>
            <a:endParaRPr lang="en-US" sz="1200" dirty="0"/>
          </a:p>
        </p:txBody>
      </p:sp>
      <p:sp>
        <p:nvSpPr>
          <p:cNvPr id="6" name="Text 4"/>
          <p:cNvSpPr/>
          <p:nvPr/>
        </p:nvSpPr>
        <p:spPr>
          <a:xfrm>
            <a:off x="2454622" y="3753743"/>
            <a:ext cx="1073646" cy="483840"/>
          </a:xfrm>
          <a:prstGeom prst="rect">
            <a:avLst/>
          </a:prstGeom>
          <a:solidFill>
            <a:srgbClr val="C9A227">
              <a:alpha val="15000"/>
            </a:srgbClr>
          </a:solidFill>
          <a:ln w="9525">
            <a:solidFill>
              <a:srgbClr val="C9A227"/>
            </a:solidFill>
          </a:ln>
        </p:spPr>
        <p:txBody>
          <a:bodyPr wrap="square" rtlCol="0" anchor="ctr"/>
          <a:lstStyle/>
          <a:p>
            <a:pPr indent="0" marL="0">
              <a:buNone/>
            </a:pPr>
            <a:endParaRPr lang="en-US" dirty="0"/>
          </a:p>
        </p:txBody>
      </p:sp>
      <p:sp>
        <p:nvSpPr>
          <p:cNvPr id="7" name="Text 5"/>
          <p:cNvSpPr/>
          <p:nvPr/>
        </p:nvSpPr>
        <p:spPr>
          <a:xfrm>
            <a:off x="2686773" y="3915668"/>
            <a:ext cx="609344" cy="159990"/>
          </a:xfrm>
          <a:prstGeom prst="rect">
            <a:avLst/>
          </a:prstGeom>
          <a:noFill/>
          <a:ln/>
        </p:spPr>
        <p:txBody>
          <a:bodyPr wrap="square" lIns="0" tIns="0" rIns="0" bIns="0" rtlCol="0" anchor="t"/>
          <a:lstStyle/>
          <a:p>
            <a:pPr algn="ctr" indent="0" marL="0">
              <a:lnSpc>
                <a:spcPts val="1260"/>
              </a:lnSpc>
              <a:buNone/>
            </a:pPr>
            <a:r>
              <a:rPr lang="en-US" sz="900" dirty="0">
                <a:solidFill>
                  <a:srgbClr val="C9A227"/>
                </a:solidFill>
                <a:latin typeface="Arial" pitchFamily="34" charset="0"/>
                <a:ea typeface="Arial" pitchFamily="34" charset="-122"/>
                <a:cs typeface="Arial" pitchFamily="34" charset="-120"/>
              </a:rPr>
              <a:t>Initial Setup</a:t>
            </a:r>
            <a:endParaRPr lang="en-US" sz="900" dirty="0"/>
          </a:p>
        </p:txBody>
      </p:sp>
      <p:sp>
        <p:nvSpPr>
          <p:cNvPr id="8" name="Text 6"/>
          <p:cNvSpPr/>
          <p:nvPr/>
        </p:nvSpPr>
        <p:spPr>
          <a:xfrm>
            <a:off x="3756868" y="3753743"/>
            <a:ext cx="1244947" cy="483840"/>
          </a:xfrm>
          <a:prstGeom prst="rect">
            <a:avLst/>
          </a:prstGeom>
          <a:solidFill>
            <a:srgbClr val="C9A227">
              <a:alpha val="15000"/>
            </a:srgbClr>
          </a:solidFill>
          <a:ln w="9525">
            <a:solidFill>
              <a:srgbClr val="C9A227"/>
            </a:solidFill>
          </a:ln>
        </p:spPr>
        <p:txBody>
          <a:bodyPr wrap="square" rtlCol="0" anchor="ctr"/>
          <a:lstStyle/>
          <a:p>
            <a:pPr indent="0" marL="0">
              <a:buNone/>
            </a:pPr>
            <a:endParaRPr lang="en-US" dirty="0"/>
          </a:p>
        </p:txBody>
      </p:sp>
      <p:sp>
        <p:nvSpPr>
          <p:cNvPr id="9" name="Text 7"/>
          <p:cNvSpPr/>
          <p:nvPr/>
        </p:nvSpPr>
        <p:spPr>
          <a:xfrm>
            <a:off x="3987306" y="3915668"/>
            <a:ext cx="784071" cy="159990"/>
          </a:xfrm>
          <a:prstGeom prst="rect">
            <a:avLst/>
          </a:prstGeom>
          <a:noFill/>
          <a:ln/>
        </p:spPr>
        <p:txBody>
          <a:bodyPr wrap="square" lIns="0" tIns="0" rIns="0" bIns="0" rtlCol="0" anchor="t"/>
          <a:lstStyle/>
          <a:p>
            <a:pPr algn="ctr" indent="0" marL="0">
              <a:lnSpc>
                <a:spcPts val="1260"/>
              </a:lnSpc>
              <a:buNone/>
            </a:pPr>
            <a:r>
              <a:rPr lang="en-US" sz="900" dirty="0">
                <a:solidFill>
                  <a:srgbClr val="C9A227"/>
                </a:solidFill>
                <a:latin typeface="Arial" pitchFamily="34" charset="0"/>
                <a:ea typeface="Arial" pitchFamily="34" charset="-122"/>
                <a:cs typeface="Arial" pitchFamily="34" charset="-120"/>
              </a:rPr>
              <a:t>Custom Modes</a:t>
            </a:r>
            <a:endParaRPr lang="en-US" sz="900" dirty="0"/>
          </a:p>
        </p:txBody>
      </p:sp>
      <p:sp>
        <p:nvSpPr>
          <p:cNvPr id="10" name="Text 8"/>
          <p:cNvSpPr/>
          <p:nvPr/>
        </p:nvSpPr>
        <p:spPr>
          <a:xfrm>
            <a:off x="5230416" y="3753743"/>
            <a:ext cx="1458962" cy="483840"/>
          </a:xfrm>
          <a:prstGeom prst="rect">
            <a:avLst/>
          </a:prstGeom>
          <a:solidFill>
            <a:srgbClr val="C9A227">
              <a:alpha val="15000"/>
            </a:srgbClr>
          </a:solidFill>
          <a:ln w="9525">
            <a:solidFill>
              <a:srgbClr val="C9A227"/>
            </a:solidFill>
          </a:ln>
        </p:spPr>
        <p:txBody>
          <a:bodyPr wrap="square" rtlCol="0" anchor="ctr"/>
          <a:lstStyle/>
          <a:p>
            <a:pPr indent="0" marL="0">
              <a:buNone/>
            </a:pPr>
            <a:endParaRPr lang="en-US" dirty="0"/>
          </a:p>
        </p:txBody>
      </p:sp>
      <p:sp>
        <p:nvSpPr>
          <p:cNvPr id="11" name="Text 9"/>
          <p:cNvSpPr/>
          <p:nvPr/>
        </p:nvSpPr>
        <p:spPr>
          <a:xfrm>
            <a:off x="5458714" y="3915668"/>
            <a:ext cx="1002366" cy="159990"/>
          </a:xfrm>
          <a:prstGeom prst="rect">
            <a:avLst/>
          </a:prstGeom>
          <a:noFill/>
          <a:ln/>
        </p:spPr>
        <p:txBody>
          <a:bodyPr wrap="square" lIns="0" tIns="0" rIns="0" bIns="0" rtlCol="0" anchor="t"/>
          <a:lstStyle/>
          <a:p>
            <a:pPr algn="ctr" indent="0" marL="0">
              <a:lnSpc>
                <a:spcPts val="1260"/>
              </a:lnSpc>
              <a:buNone/>
            </a:pPr>
            <a:r>
              <a:rPr lang="en-US" sz="900" dirty="0">
                <a:solidFill>
                  <a:srgbClr val="C9A227"/>
                </a:solidFill>
                <a:latin typeface="Arial" pitchFamily="34" charset="0"/>
                <a:ea typeface="Arial" pitchFamily="34" charset="-122"/>
                <a:cs typeface="Arial" pitchFamily="34" charset="-120"/>
              </a:rPr>
              <a:t>Context Awareness</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381000" y="266700"/>
            <a:ext cx="8549640" cy="133350"/>
          </a:xfrm>
          <a:prstGeom prst="rect">
            <a:avLst/>
          </a:prstGeom>
          <a:noFill/>
          <a:ln/>
        </p:spPr>
        <p:txBody>
          <a:bodyPr wrap="square" lIns="0" tIns="0" rIns="0" bIns="0" rtlCol="0" anchor="t"/>
          <a:lstStyle/>
          <a:p>
            <a:pPr algn="l" indent="0" marL="0">
              <a:lnSpc>
                <a:spcPts val="1050"/>
              </a:lnSpc>
              <a:spcAft>
                <a:spcPts val="450"/>
              </a:spcAft>
              <a:buNone/>
            </a:pPr>
            <a:r>
              <a:rPr lang="en-US" sz="750" dirty="0">
                <a:solidFill>
                  <a:srgbClr val="C9A227"/>
                </a:solidFill>
                <a:latin typeface="Arial" pitchFamily="34" charset="0"/>
                <a:ea typeface="Arial" pitchFamily="34" charset="-122"/>
                <a:cs typeface="Arial" pitchFamily="34" charset="-120"/>
              </a:rPr>
              <a:t>HANDS-ON</a:t>
            </a:r>
            <a:endParaRPr lang="en-US" sz="750" dirty="0"/>
          </a:p>
        </p:txBody>
      </p:sp>
      <p:sp>
        <p:nvSpPr>
          <p:cNvPr id="3" name="Text 1"/>
          <p:cNvSpPr/>
          <p:nvPr/>
        </p:nvSpPr>
        <p:spPr>
          <a:xfrm>
            <a:off x="381000" y="457200"/>
            <a:ext cx="4284536" cy="266700"/>
          </a:xfrm>
          <a:prstGeom prst="rect">
            <a:avLst/>
          </a:prstGeom>
          <a:noFill/>
          <a:ln/>
        </p:spPr>
        <p:txBody>
          <a:bodyPr wrap="square" lIns="0" tIns="0" rIns="0" bIns="0" rtlCol="0" anchor="t"/>
          <a:lstStyle/>
          <a:p>
            <a:pPr algn="l" indent="0" marL="0">
              <a:lnSpc>
                <a:spcPts val="2100"/>
              </a:lnSpc>
              <a:buNone/>
            </a:pPr>
            <a:r>
              <a:rPr lang="en-US" sz="2100" dirty="0">
                <a:solidFill>
                  <a:srgbClr val="1A1F2E"/>
                </a:solidFill>
                <a:latin typeface="Georgia" pitchFamily="34" charset="0"/>
                <a:ea typeface="Georgia" pitchFamily="34" charset="-122"/>
                <a:cs typeface="Georgia" pitchFamily="34" charset="-120"/>
              </a:rPr>
              <a:t>Initial Setup Walkthrough</a:t>
            </a:r>
            <a:endParaRPr lang="en-US" sz="2100" dirty="0"/>
          </a:p>
        </p:txBody>
      </p:sp>
      <p:sp>
        <p:nvSpPr>
          <p:cNvPr id="4" name="Text 2"/>
          <p:cNvSpPr/>
          <p:nvPr/>
        </p:nvSpPr>
        <p:spPr>
          <a:xfrm>
            <a:off x="381000" y="1409700"/>
            <a:ext cx="4505325" cy="560040"/>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5" name="Text 3"/>
          <p:cNvSpPr/>
          <p:nvPr/>
        </p:nvSpPr>
        <p:spPr>
          <a:xfrm>
            <a:off x="542925" y="1556296"/>
            <a:ext cx="266700" cy="266700"/>
          </a:xfrm>
          <a:prstGeom prst="rect">
            <a:avLst/>
          </a:prstGeom>
          <a:solidFill>
            <a:srgbClr val="059669"/>
          </a:solidFill>
          <a:ln/>
        </p:spPr>
        <p:txBody>
          <a:bodyPr wrap="square" rtlCol="0" anchor="ctr"/>
          <a:lstStyle/>
          <a:p>
            <a:pPr indent="0" marL="0">
              <a:buNone/>
            </a:pPr>
            <a:endParaRPr lang="en-US" dirty="0"/>
          </a:p>
        </p:txBody>
      </p:sp>
      <p:sp>
        <p:nvSpPr>
          <p:cNvPr id="6" name="Text 4"/>
          <p:cNvSpPr/>
          <p:nvPr/>
        </p:nvSpPr>
        <p:spPr>
          <a:xfrm>
            <a:off x="644426" y="1609576"/>
            <a:ext cx="64972" cy="159990"/>
          </a:xfrm>
          <a:prstGeom prst="rect">
            <a:avLst/>
          </a:prstGeom>
          <a:noFill/>
          <a:ln/>
        </p:spPr>
        <p:txBody>
          <a:bodyPr wrap="square" lIns="0" tIns="0" rIns="0" bIns="0" rtlCol="0" anchor="t"/>
          <a:lstStyle/>
          <a:p>
            <a:pPr algn="l" indent="0" marL="0">
              <a:lnSpc>
                <a:spcPts val="1260"/>
              </a:lnSpc>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7" name="Text 5"/>
          <p:cNvSpPr/>
          <p:nvPr/>
        </p:nvSpPr>
        <p:spPr>
          <a:xfrm>
            <a:off x="1076325" y="1533525"/>
            <a:ext cx="1941278" cy="159990"/>
          </a:xfrm>
          <a:prstGeom prst="rect">
            <a:avLst/>
          </a:prstGeom>
          <a:noFill/>
          <a:ln/>
        </p:spPr>
        <p:txBody>
          <a:bodyPr wrap="square" lIns="0" tIns="0" rIns="0" bIns="0" rtlCol="0" anchor="t"/>
          <a:lstStyle/>
          <a:p>
            <a:pPr algn="l" indent="0" marL="0">
              <a:lnSpc>
                <a:spcPts val="1260"/>
              </a:lnSpc>
              <a:buNone/>
            </a:pPr>
            <a:r>
              <a:rPr lang="en-US" sz="900" b="1" dirty="0">
                <a:solidFill>
                  <a:srgbClr val="1A1F2E"/>
                </a:solidFill>
                <a:latin typeface="Arial" pitchFamily="34" charset="0"/>
                <a:ea typeface="Arial" pitchFamily="34" charset="-122"/>
                <a:cs typeface="Arial" pitchFamily="34" charset="-120"/>
              </a:rPr>
              <a:t>First Launch - Grant Permissions</a:t>
            </a:r>
            <a:endParaRPr lang="en-US" sz="900" dirty="0"/>
          </a:p>
        </p:txBody>
      </p:sp>
      <p:sp>
        <p:nvSpPr>
          <p:cNvPr id="8" name="Text 6"/>
          <p:cNvSpPr/>
          <p:nvPr/>
        </p:nvSpPr>
        <p:spPr>
          <a:xfrm>
            <a:off x="1076325" y="1712565"/>
            <a:ext cx="1941278" cy="133350"/>
          </a:xfrm>
          <a:prstGeom prst="rect">
            <a:avLst/>
          </a:prstGeom>
          <a:noFill/>
          <a:ln/>
        </p:spPr>
        <p:txBody>
          <a:bodyPr wrap="square" lIns="0" tIns="0" rIns="0" bIns="0" rtlCol="0" anchor="t"/>
          <a:lstStyle/>
          <a:p>
            <a:pPr algn="l" indent="0" marL="0">
              <a:lnSpc>
                <a:spcPts val="1050"/>
              </a:lnSpc>
              <a:spcBef>
                <a:spcPts val="150"/>
              </a:spcBef>
              <a:buNone/>
            </a:pPr>
            <a:r>
              <a:rPr lang="en-US" sz="750" dirty="0">
                <a:solidFill>
                  <a:srgbClr val="6B7280"/>
                </a:solidFill>
                <a:latin typeface="Arial" pitchFamily="34" charset="0"/>
                <a:ea typeface="Arial" pitchFamily="34" charset="-122"/>
                <a:cs typeface="Arial" pitchFamily="34" charset="-120"/>
              </a:rPr>
              <a:t>Microphone access + Accessibility (for paste)</a:t>
            </a:r>
            <a:endParaRPr lang="en-US" sz="750" dirty="0"/>
          </a:p>
        </p:txBody>
      </p:sp>
      <p:sp>
        <p:nvSpPr>
          <p:cNvPr id="9" name="Text 7"/>
          <p:cNvSpPr/>
          <p:nvPr/>
        </p:nvSpPr>
        <p:spPr>
          <a:xfrm>
            <a:off x="381000" y="2045940"/>
            <a:ext cx="4505325" cy="560040"/>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0" name="Text 8"/>
          <p:cNvSpPr/>
          <p:nvPr/>
        </p:nvSpPr>
        <p:spPr>
          <a:xfrm>
            <a:off x="542925" y="2192536"/>
            <a:ext cx="266700" cy="266700"/>
          </a:xfrm>
          <a:prstGeom prst="rect">
            <a:avLst/>
          </a:prstGeom>
          <a:solidFill>
            <a:srgbClr val="059669"/>
          </a:solidFill>
          <a:ln/>
        </p:spPr>
        <p:txBody>
          <a:bodyPr wrap="square" rtlCol="0" anchor="ctr"/>
          <a:lstStyle/>
          <a:p>
            <a:pPr indent="0" marL="0">
              <a:buNone/>
            </a:pPr>
            <a:endParaRPr lang="en-US" dirty="0"/>
          </a:p>
        </p:txBody>
      </p:sp>
      <p:sp>
        <p:nvSpPr>
          <p:cNvPr id="11" name="Text 9"/>
          <p:cNvSpPr/>
          <p:nvPr/>
        </p:nvSpPr>
        <p:spPr>
          <a:xfrm>
            <a:off x="644426" y="2245816"/>
            <a:ext cx="64972" cy="159990"/>
          </a:xfrm>
          <a:prstGeom prst="rect">
            <a:avLst/>
          </a:prstGeom>
          <a:noFill/>
          <a:ln/>
        </p:spPr>
        <p:txBody>
          <a:bodyPr wrap="square" lIns="0" tIns="0" rIns="0" bIns="0" rtlCol="0" anchor="t"/>
          <a:lstStyle/>
          <a:p>
            <a:pPr algn="l" indent="0" marL="0">
              <a:lnSpc>
                <a:spcPts val="1260"/>
              </a:lnSpc>
              <a:buNone/>
            </a:pPr>
            <a:r>
              <a:rPr lang="en-US" sz="900" b="1" dirty="0">
                <a:solidFill>
                  <a:srgbClr val="FFFFFF"/>
                </a:solidFill>
                <a:latin typeface="Arial" pitchFamily="34" charset="0"/>
                <a:ea typeface="Arial" pitchFamily="34" charset="-122"/>
                <a:cs typeface="Arial" pitchFamily="34" charset="-120"/>
              </a:rPr>
              <a:t>2</a:t>
            </a:r>
            <a:endParaRPr lang="en-US" sz="900" dirty="0"/>
          </a:p>
        </p:txBody>
      </p:sp>
      <p:sp>
        <p:nvSpPr>
          <p:cNvPr id="12" name="Text 10"/>
          <p:cNvSpPr/>
          <p:nvPr/>
        </p:nvSpPr>
        <p:spPr>
          <a:xfrm>
            <a:off x="1076325" y="2169765"/>
            <a:ext cx="1910310" cy="159990"/>
          </a:xfrm>
          <a:prstGeom prst="rect">
            <a:avLst/>
          </a:prstGeom>
          <a:noFill/>
          <a:ln/>
        </p:spPr>
        <p:txBody>
          <a:bodyPr wrap="square" lIns="0" tIns="0" rIns="0" bIns="0" rtlCol="0" anchor="t"/>
          <a:lstStyle/>
          <a:p>
            <a:pPr algn="l" indent="0" marL="0">
              <a:lnSpc>
                <a:spcPts val="1260"/>
              </a:lnSpc>
              <a:buNone/>
            </a:pPr>
            <a:r>
              <a:rPr lang="en-US" sz="900" b="1" dirty="0">
                <a:solidFill>
                  <a:srgbClr val="1A1F2E"/>
                </a:solidFill>
                <a:latin typeface="Arial" pitchFamily="34" charset="0"/>
                <a:ea typeface="Arial" pitchFamily="34" charset="-122"/>
                <a:cs typeface="Arial" pitchFamily="34" charset="-120"/>
              </a:rPr>
              <a:t>Select Your Default Model</a:t>
            </a:r>
            <a:endParaRPr lang="en-US" sz="900" dirty="0"/>
          </a:p>
        </p:txBody>
      </p:sp>
      <p:sp>
        <p:nvSpPr>
          <p:cNvPr id="13" name="Text 11"/>
          <p:cNvSpPr/>
          <p:nvPr/>
        </p:nvSpPr>
        <p:spPr>
          <a:xfrm>
            <a:off x="1076325" y="2348805"/>
            <a:ext cx="1910310" cy="133350"/>
          </a:xfrm>
          <a:prstGeom prst="rect">
            <a:avLst/>
          </a:prstGeom>
          <a:noFill/>
          <a:ln/>
        </p:spPr>
        <p:txBody>
          <a:bodyPr wrap="square" lIns="0" tIns="0" rIns="0" bIns="0" rtlCol="0" anchor="t"/>
          <a:lstStyle/>
          <a:p>
            <a:pPr algn="l" indent="0" marL="0">
              <a:lnSpc>
                <a:spcPts val="1050"/>
              </a:lnSpc>
              <a:spcBef>
                <a:spcPts val="150"/>
              </a:spcBef>
              <a:buNone/>
            </a:pPr>
            <a:r>
              <a:rPr lang="en-US" sz="750" dirty="0">
                <a:solidFill>
                  <a:srgbClr val="6B7280"/>
                </a:solidFill>
                <a:latin typeface="Arial" pitchFamily="34" charset="0"/>
                <a:ea typeface="Arial" pitchFamily="34" charset="-122"/>
                <a:cs typeface="Arial" pitchFamily="34" charset="-120"/>
              </a:rPr>
              <a:t>Start with "Fast" for quick testing (local, free)</a:t>
            </a:r>
            <a:endParaRPr lang="en-US" sz="750" dirty="0"/>
          </a:p>
        </p:txBody>
      </p:sp>
      <p:sp>
        <p:nvSpPr>
          <p:cNvPr id="14" name="Text 12"/>
          <p:cNvSpPr/>
          <p:nvPr/>
        </p:nvSpPr>
        <p:spPr>
          <a:xfrm>
            <a:off x="381000" y="2682180"/>
            <a:ext cx="4505325" cy="560040"/>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5" name="Text 13"/>
          <p:cNvSpPr/>
          <p:nvPr/>
        </p:nvSpPr>
        <p:spPr>
          <a:xfrm>
            <a:off x="542925" y="2828776"/>
            <a:ext cx="266700" cy="266700"/>
          </a:xfrm>
          <a:prstGeom prst="rect">
            <a:avLst/>
          </a:prstGeom>
          <a:solidFill>
            <a:srgbClr val="059669"/>
          </a:solidFill>
          <a:ln/>
        </p:spPr>
        <p:txBody>
          <a:bodyPr wrap="square" rtlCol="0" anchor="ctr"/>
          <a:lstStyle/>
          <a:p>
            <a:pPr indent="0" marL="0">
              <a:buNone/>
            </a:pPr>
            <a:endParaRPr lang="en-US" dirty="0"/>
          </a:p>
        </p:txBody>
      </p:sp>
      <p:sp>
        <p:nvSpPr>
          <p:cNvPr id="16" name="Text 14"/>
          <p:cNvSpPr/>
          <p:nvPr/>
        </p:nvSpPr>
        <p:spPr>
          <a:xfrm>
            <a:off x="644426" y="2882057"/>
            <a:ext cx="64972" cy="159990"/>
          </a:xfrm>
          <a:prstGeom prst="rect">
            <a:avLst/>
          </a:prstGeom>
          <a:noFill/>
          <a:ln/>
        </p:spPr>
        <p:txBody>
          <a:bodyPr wrap="square" lIns="0" tIns="0" rIns="0" bIns="0" rtlCol="0" anchor="t"/>
          <a:lstStyle/>
          <a:p>
            <a:pPr algn="l" indent="0" marL="0">
              <a:lnSpc>
                <a:spcPts val="1260"/>
              </a:lnSpc>
              <a:buNone/>
            </a:pPr>
            <a:r>
              <a:rPr lang="en-US" sz="900" b="1" dirty="0">
                <a:solidFill>
                  <a:srgbClr val="FFFFFF"/>
                </a:solidFill>
                <a:latin typeface="Arial" pitchFamily="34" charset="0"/>
                <a:ea typeface="Arial" pitchFamily="34" charset="-122"/>
                <a:cs typeface="Arial" pitchFamily="34" charset="-120"/>
              </a:rPr>
              <a:t>3</a:t>
            </a:r>
            <a:endParaRPr lang="en-US" sz="900" dirty="0"/>
          </a:p>
        </p:txBody>
      </p:sp>
      <p:sp>
        <p:nvSpPr>
          <p:cNvPr id="17" name="Text 15"/>
          <p:cNvSpPr/>
          <p:nvPr/>
        </p:nvSpPr>
        <p:spPr>
          <a:xfrm>
            <a:off x="1076325" y="2806005"/>
            <a:ext cx="2095208" cy="159990"/>
          </a:xfrm>
          <a:prstGeom prst="rect">
            <a:avLst/>
          </a:prstGeom>
          <a:noFill/>
          <a:ln/>
        </p:spPr>
        <p:txBody>
          <a:bodyPr wrap="square" lIns="0" tIns="0" rIns="0" bIns="0" rtlCol="0" anchor="t"/>
          <a:lstStyle/>
          <a:p>
            <a:pPr algn="l" indent="0" marL="0">
              <a:lnSpc>
                <a:spcPts val="1260"/>
              </a:lnSpc>
              <a:buNone/>
            </a:pPr>
            <a:r>
              <a:rPr lang="en-US" sz="900" b="1" dirty="0">
                <a:solidFill>
                  <a:srgbClr val="1A1F2E"/>
                </a:solidFill>
                <a:latin typeface="Arial" pitchFamily="34" charset="0"/>
                <a:ea typeface="Arial" pitchFamily="34" charset="-122"/>
                <a:cs typeface="Arial" pitchFamily="34" charset="-120"/>
              </a:rPr>
              <a:t>Configure Recording Hotkey</a:t>
            </a:r>
            <a:endParaRPr lang="en-US" sz="900" dirty="0"/>
          </a:p>
        </p:txBody>
      </p:sp>
      <p:sp>
        <p:nvSpPr>
          <p:cNvPr id="18" name="Text 16"/>
          <p:cNvSpPr/>
          <p:nvPr/>
        </p:nvSpPr>
        <p:spPr>
          <a:xfrm>
            <a:off x="1076325" y="2985046"/>
            <a:ext cx="2095208" cy="133350"/>
          </a:xfrm>
          <a:prstGeom prst="rect">
            <a:avLst/>
          </a:prstGeom>
          <a:noFill/>
          <a:ln/>
        </p:spPr>
        <p:txBody>
          <a:bodyPr wrap="square" lIns="0" tIns="0" rIns="0" bIns="0" rtlCol="0" anchor="t"/>
          <a:lstStyle/>
          <a:p>
            <a:pPr algn="l" indent="0" marL="0">
              <a:lnSpc>
                <a:spcPts val="1050"/>
              </a:lnSpc>
              <a:spcBef>
                <a:spcPts val="150"/>
              </a:spcBef>
              <a:buNone/>
            </a:pPr>
            <a:r>
              <a:rPr lang="en-US" sz="750" dirty="0">
                <a:solidFill>
                  <a:srgbClr val="6B7280"/>
                </a:solidFill>
                <a:latin typeface="Arial" pitchFamily="34" charset="0"/>
                <a:ea typeface="Arial" pitchFamily="34" charset="-122"/>
                <a:cs typeface="Arial" pitchFamily="34" charset="-120"/>
              </a:rPr>
              <a:t>Default: Option+Space (Mac) or Alt+Space (Win)</a:t>
            </a:r>
            <a:endParaRPr lang="en-US" sz="750" dirty="0"/>
          </a:p>
        </p:txBody>
      </p:sp>
      <p:sp>
        <p:nvSpPr>
          <p:cNvPr id="19" name="Text 17"/>
          <p:cNvSpPr/>
          <p:nvPr/>
        </p:nvSpPr>
        <p:spPr>
          <a:xfrm>
            <a:off x="381000" y="3318421"/>
            <a:ext cx="4505325" cy="560040"/>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20" name="Text 18"/>
          <p:cNvSpPr/>
          <p:nvPr/>
        </p:nvSpPr>
        <p:spPr>
          <a:xfrm>
            <a:off x="542925" y="3465016"/>
            <a:ext cx="266700" cy="266700"/>
          </a:xfrm>
          <a:prstGeom prst="rect">
            <a:avLst/>
          </a:prstGeom>
          <a:solidFill>
            <a:srgbClr val="059669"/>
          </a:solidFill>
          <a:ln/>
        </p:spPr>
        <p:txBody>
          <a:bodyPr wrap="square" rtlCol="0" anchor="ctr"/>
          <a:lstStyle/>
          <a:p>
            <a:pPr indent="0" marL="0">
              <a:buNone/>
            </a:pPr>
            <a:endParaRPr lang="en-US" dirty="0"/>
          </a:p>
        </p:txBody>
      </p:sp>
      <p:sp>
        <p:nvSpPr>
          <p:cNvPr id="21" name="Text 19"/>
          <p:cNvSpPr/>
          <p:nvPr/>
        </p:nvSpPr>
        <p:spPr>
          <a:xfrm>
            <a:off x="644426" y="3518297"/>
            <a:ext cx="64972" cy="159990"/>
          </a:xfrm>
          <a:prstGeom prst="rect">
            <a:avLst/>
          </a:prstGeom>
          <a:noFill/>
          <a:ln/>
        </p:spPr>
        <p:txBody>
          <a:bodyPr wrap="square" lIns="0" tIns="0" rIns="0" bIns="0" rtlCol="0" anchor="t"/>
          <a:lstStyle/>
          <a:p>
            <a:pPr algn="l" indent="0" marL="0">
              <a:lnSpc>
                <a:spcPts val="1260"/>
              </a:lnSpc>
              <a:buNone/>
            </a:pPr>
            <a:r>
              <a:rPr lang="en-US" sz="900" b="1" dirty="0">
                <a:solidFill>
                  <a:srgbClr val="FFFFFF"/>
                </a:solidFill>
                <a:latin typeface="Arial" pitchFamily="34" charset="0"/>
                <a:ea typeface="Arial" pitchFamily="34" charset="-122"/>
                <a:cs typeface="Arial" pitchFamily="34" charset="-120"/>
              </a:rPr>
              <a:t>4</a:t>
            </a:r>
            <a:endParaRPr lang="en-US" sz="900" dirty="0"/>
          </a:p>
        </p:txBody>
      </p:sp>
      <p:sp>
        <p:nvSpPr>
          <p:cNvPr id="22" name="Text 20"/>
          <p:cNvSpPr/>
          <p:nvPr/>
        </p:nvSpPr>
        <p:spPr>
          <a:xfrm>
            <a:off x="1076325" y="3442246"/>
            <a:ext cx="2039800" cy="159990"/>
          </a:xfrm>
          <a:prstGeom prst="rect">
            <a:avLst/>
          </a:prstGeom>
          <a:noFill/>
          <a:ln/>
        </p:spPr>
        <p:txBody>
          <a:bodyPr wrap="square" lIns="0" tIns="0" rIns="0" bIns="0" rtlCol="0" anchor="t"/>
          <a:lstStyle/>
          <a:p>
            <a:pPr algn="l" indent="0" marL="0">
              <a:lnSpc>
                <a:spcPts val="1260"/>
              </a:lnSpc>
              <a:buNone/>
            </a:pPr>
            <a:r>
              <a:rPr lang="en-US" sz="900" b="1" dirty="0">
                <a:solidFill>
                  <a:srgbClr val="1A1F2E"/>
                </a:solidFill>
                <a:latin typeface="Arial" pitchFamily="34" charset="0"/>
                <a:ea typeface="Arial" pitchFamily="34" charset="-122"/>
                <a:cs typeface="Arial" pitchFamily="34" charset="-120"/>
              </a:rPr>
              <a:t>Test Your First Dictation</a:t>
            </a:r>
            <a:endParaRPr lang="en-US" sz="900" dirty="0"/>
          </a:p>
        </p:txBody>
      </p:sp>
      <p:sp>
        <p:nvSpPr>
          <p:cNvPr id="23" name="Text 21"/>
          <p:cNvSpPr/>
          <p:nvPr/>
        </p:nvSpPr>
        <p:spPr>
          <a:xfrm>
            <a:off x="1076325" y="3621286"/>
            <a:ext cx="2039800" cy="133350"/>
          </a:xfrm>
          <a:prstGeom prst="rect">
            <a:avLst/>
          </a:prstGeom>
          <a:noFill/>
          <a:ln/>
        </p:spPr>
        <p:txBody>
          <a:bodyPr wrap="square" lIns="0" tIns="0" rIns="0" bIns="0" rtlCol="0" anchor="t"/>
          <a:lstStyle/>
          <a:p>
            <a:pPr algn="l" indent="0" marL="0">
              <a:lnSpc>
                <a:spcPts val="1050"/>
              </a:lnSpc>
              <a:spcBef>
                <a:spcPts val="150"/>
              </a:spcBef>
              <a:buNone/>
            </a:pPr>
            <a:r>
              <a:rPr lang="en-US" sz="750" dirty="0">
                <a:solidFill>
                  <a:srgbClr val="6B7280"/>
                </a:solidFill>
                <a:latin typeface="Arial" pitchFamily="34" charset="0"/>
                <a:ea typeface="Arial" pitchFamily="34" charset="-122"/>
                <a:cs typeface="Arial" pitchFamily="34" charset="-120"/>
              </a:rPr>
              <a:t>Open any text field, hold hotkey, speak, release</a:t>
            </a:r>
            <a:endParaRPr lang="en-US" sz="750" dirty="0"/>
          </a:p>
        </p:txBody>
      </p:sp>
      <p:sp>
        <p:nvSpPr>
          <p:cNvPr id="24" name="Text 22"/>
          <p:cNvSpPr/>
          <p:nvPr/>
        </p:nvSpPr>
        <p:spPr>
          <a:xfrm>
            <a:off x="381000" y="3954661"/>
            <a:ext cx="4505325" cy="540990"/>
          </a:xfrm>
          <a:prstGeom prst="rect">
            <a:avLst/>
          </a:prstGeom>
          <a:solidFill>
            <a:srgbClr val="C9A227"/>
          </a:solidFill>
          <a:ln/>
        </p:spPr>
        <p:txBody>
          <a:bodyPr wrap="square" rtlCol="0" anchor="ctr"/>
          <a:lstStyle/>
          <a:p>
            <a:pPr indent="0" marL="0">
              <a:buNone/>
            </a:pPr>
            <a:endParaRPr lang="en-US" dirty="0"/>
          </a:p>
        </p:txBody>
      </p:sp>
      <p:sp>
        <p:nvSpPr>
          <p:cNvPr id="25" name="Text 23"/>
          <p:cNvSpPr/>
          <p:nvPr/>
        </p:nvSpPr>
        <p:spPr>
          <a:xfrm>
            <a:off x="533400" y="4091732"/>
            <a:ext cx="266700" cy="266700"/>
          </a:xfrm>
          <a:prstGeom prst="rect">
            <a:avLst/>
          </a:prstGeom>
          <a:solidFill>
            <a:srgbClr val="1A1F2E"/>
          </a:solidFill>
          <a:ln/>
        </p:spPr>
        <p:txBody>
          <a:bodyPr wrap="square" rtlCol="0" anchor="ctr"/>
          <a:lstStyle/>
          <a:p>
            <a:pPr indent="0" marL="0">
              <a:buNone/>
            </a:pPr>
            <a:endParaRPr lang="en-US" dirty="0"/>
          </a:p>
        </p:txBody>
      </p:sp>
      <p:sp>
        <p:nvSpPr>
          <p:cNvPr id="26" name="Text 24"/>
          <p:cNvSpPr/>
          <p:nvPr/>
        </p:nvSpPr>
        <p:spPr>
          <a:xfrm>
            <a:off x="634901" y="4145012"/>
            <a:ext cx="64972" cy="159990"/>
          </a:xfrm>
          <a:prstGeom prst="rect">
            <a:avLst/>
          </a:prstGeom>
          <a:noFill/>
          <a:ln/>
        </p:spPr>
        <p:txBody>
          <a:bodyPr wrap="square" lIns="0" tIns="0" rIns="0" bIns="0" rtlCol="0" anchor="t"/>
          <a:lstStyle/>
          <a:p>
            <a:pPr algn="l" indent="0" marL="0">
              <a:lnSpc>
                <a:spcPts val="1260"/>
              </a:lnSpc>
              <a:buNone/>
            </a:pPr>
            <a:r>
              <a:rPr lang="en-US" sz="900" b="1" dirty="0">
                <a:solidFill>
                  <a:srgbClr val="FFFFFF"/>
                </a:solidFill>
                <a:latin typeface="Arial" pitchFamily="34" charset="0"/>
                <a:ea typeface="Arial" pitchFamily="34" charset="-122"/>
                <a:cs typeface="Arial" pitchFamily="34" charset="-120"/>
              </a:rPr>
              <a:t>5</a:t>
            </a:r>
            <a:endParaRPr lang="en-US" sz="900" dirty="0"/>
          </a:p>
        </p:txBody>
      </p:sp>
      <p:sp>
        <p:nvSpPr>
          <p:cNvPr id="27" name="Text 25"/>
          <p:cNvSpPr/>
          <p:nvPr/>
        </p:nvSpPr>
        <p:spPr>
          <a:xfrm>
            <a:off x="1066800" y="4068961"/>
            <a:ext cx="2131793" cy="159990"/>
          </a:xfrm>
          <a:prstGeom prst="rect">
            <a:avLst/>
          </a:prstGeom>
          <a:noFill/>
          <a:ln/>
        </p:spPr>
        <p:txBody>
          <a:bodyPr wrap="square" lIns="0" tIns="0" rIns="0" bIns="0" rtlCol="0" anchor="t"/>
          <a:lstStyle/>
          <a:p>
            <a:pPr algn="l" indent="0" marL="0">
              <a:lnSpc>
                <a:spcPts val="1260"/>
              </a:lnSpc>
              <a:buNone/>
            </a:pPr>
            <a:r>
              <a:rPr lang="en-US" sz="900" b="1" dirty="0">
                <a:solidFill>
                  <a:srgbClr val="1A1F2E"/>
                </a:solidFill>
                <a:latin typeface="Arial" pitchFamily="34" charset="0"/>
                <a:ea typeface="Arial" pitchFamily="34" charset="-122"/>
                <a:cs typeface="Arial" pitchFamily="34" charset="-120"/>
              </a:rPr>
              <a:t>Verify Local Processing</a:t>
            </a:r>
            <a:endParaRPr lang="en-US" sz="900" dirty="0"/>
          </a:p>
        </p:txBody>
      </p:sp>
      <p:sp>
        <p:nvSpPr>
          <p:cNvPr id="28" name="Text 26"/>
          <p:cNvSpPr/>
          <p:nvPr/>
        </p:nvSpPr>
        <p:spPr>
          <a:xfrm>
            <a:off x="1066800" y="4248001"/>
            <a:ext cx="2131793" cy="133350"/>
          </a:xfrm>
          <a:prstGeom prst="rect">
            <a:avLst/>
          </a:prstGeom>
          <a:noFill/>
          <a:ln/>
        </p:spPr>
        <p:txBody>
          <a:bodyPr wrap="square" lIns="0" tIns="0" rIns="0" bIns="0" rtlCol="0" anchor="t"/>
          <a:lstStyle/>
          <a:p>
            <a:pPr algn="l" indent="0" marL="0">
              <a:lnSpc>
                <a:spcPts val="1050"/>
              </a:lnSpc>
              <a:spcBef>
                <a:spcPts val="150"/>
              </a:spcBef>
              <a:buNone/>
            </a:pPr>
            <a:r>
              <a:rPr lang="en-US" sz="750" dirty="0">
                <a:solidFill>
                  <a:srgbClr val="1A1F2E">
                    <a:alpha val="70000"/>
                  </a:srgbClr>
                </a:solidFill>
                <a:latin typeface="Arial" pitchFamily="34" charset="0"/>
                <a:ea typeface="Arial" pitchFamily="34" charset="-122"/>
                <a:cs typeface="Arial" pitchFamily="34" charset="-120"/>
              </a:rPr>
              <a:t>Check Settings → confirm "Local" model selected</a:t>
            </a:r>
            <a:endParaRPr lang="en-US" sz="750" dirty="0"/>
          </a:p>
        </p:txBody>
      </p:sp>
      <p:sp>
        <p:nvSpPr>
          <p:cNvPr id="29" name="Text 27"/>
          <p:cNvSpPr/>
          <p:nvPr/>
        </p:nvSpPr>
        <p:spPr>
          <a:xfrm>
            <a:off x="5076825" y="1102221"/>
            <a:ext cx="3686175" cy="984796"/>
          </a:xfrm>
          <a:prstGeom prst="rect">
            <a:avLst/>
          </a:prstGeom>
          <a:solidFill>
            <a:srgbClr val="1A1F2E"/>
          </a:solidFill>
          <a:ln/>
        </p:spPr>
        <p:txBody>
          <a:bodyPr wrap="square" rtlCol="0" anchor="ctr"/>
          <a:lstStyle/>
          <a:p>
            <a:pPr indent="0" marL="0">
              <a:buNone/>
            </a:pPr>
            <a:endParaRPr lang="en-US" dirty="0"/>
          </a:p>
        </p:txBody>
      </p:sp>
      <p:sp>
        <p:nvSpPr>
          <p:cNvPr id="30" name="Text 28"/>
          <p:cNvSpPr/>
          <p:nvPr/>
        </p:nvSpPr>
        <p:spPr>
          <a:xfrm>
            <a:off x="5229225" y="1254621"/>
            <a:ext cx="3449002" cy="146596"/>
          </a:xfrm>
          <a:prstGeom prst="rect">
            <a:avLst/>
          </a:prstGeom>
          <a:noFill/>
          <a:ln/>
        </p:spPr>
        <p:txBody>
          <a:bodyPr wrap="square" lIns="0" tIns="0" rIns="0" bIns="0" rtlCol="0" anchor="t"/>
          <a:lstStyle/>
          <a:p>
            <a:pPr algn="l" indent="0" marL="0">
              <a:lnSpc>
                <a:spcPts val="1155"/>
              </a:lnSpc>
              <a:spcAft>
                <a:spcPts val="600"/>
              </a:spcAft>
              <a:buNone/>
            </a:pPr>
            <a:r>
              <a:rPr lang="en-US" sz="825" b="1" dirty="0">
                <a:solidFill>
                  <a:srgbClr val="C9A227"/>
                </a:solidFill>
                <a:latin typeface="Arial" pitchFamily="34" charset="0"/>
                <a:ea typeface="Arial" pitchFamily="34" charset="-122"/>
                <a:cs typeface="Arial" pitchFamily="34" charset="-120"/>
              </a:rPr>
              <a:t>HOTKEY OPTIONS</a:t>
            </a:r>
            <a:endParaRPr lang="en-US" sz="825" dirty="0"/>
          </a:p>
        </p:txBody>
      </p:sp>
      <p:sp>
        <p:nvSpPr>
          <p:cNvPr id="31" name="Text 29"/>
          <p:cNvSpPr/>
          <p:nvPr/>
        </p:nvSpPr>
        <p:spPr>
          <a:xfrm>
            <a:off x="5229225" y="1477417"/>
            <a:ext cx="3449002" cy="457200"/>
          </a:xfrm>
          <a:prstGeom prst="rect">
            <a:avLst/>
          </a:prstGeom>
          <a:noFill/>
          <a:ln/>
        </p:spPr>
        <p:txBody>
          <a:bodyPr wrap="square" lIns="0" tIns="0" rIns="0" bIns="0" rtlCol="0" anchor="t"/>
          <a:lstStyle/>
          <a:p>
            <a:pPr algn="l" indent="0" marL="0">
              <a:lnSpc>
                <a:spcPts val="1200"/>
              </a:lnSpc>
              <a:buNone/>
            </a:pPr>
            <a:r>
              <a:rPr lang="en-US" sz="750" b="1" dirty="0">
                <a:solidFill>
                  <a:srgbClr val="FFFFFF">
                    <a:alpha val="80000"/>
                  </a:srgbClr>
                </a:solidFill>
                <a:latin typeface="Arial" pitchFamily="34" charset="0"/>
                <a:ea typeface="Arial" pitchFamily="34" charset="-122"/>
                <a:cs typeface="Arial" pitchFamily="34" charset="-120"/>
              </a:rPr>
              <a:t>Hold-to-Record:</a:t>
            </a:r>
            <a:pPr algn="l" indent="0" marL="0">
              <a:lnSpc>
                <a:spcPts val="1200"/>
              </a:lnSpc>
              <a:buNone/>
            </a:pPr>
            <a:r>
              <a:rPr lang="en-US" sz="750" dirty="0">
                <a:solidFill>
                  <a:srgbClr val="FFFFFF">
                    <a:alpha val="80000"/>
                  </a:srgbClr>
                </a:solidFill>
                <a:latin typeface="Arial" pitchFamily="34" charset="0"/>
                <a:ea typeface="Arial" pitchFamily="34" charset="-122"/>
                <a:cs typeface="Arial" pitchFamily="34" charset="-120"/>
              </a:rPr>
              <a:t> Speak while holding</a:t>
            </a:r>
            <a:endParaRPr lang="en-US" sz="750" dirty="0"/>
          </a:p>
          <a:p>
            <a:pPr algn="l" indent="0" marL="0">
              <a:lnSpc>
                <a:spcPts val="1200"/>
              </a:lnSpc>
              <a:buNone/>
            </a:pPr>
            <a:r>
              <a:rPr lang="en-US" sz="750" dirty="0">
                <a:solidFill>
                  <a:srgbClr val="FFFFFF">
                    <a:alpha val="80000"/>
                  </a:srgbClr>
                </a:solidFill>
                <a:latin typeface="Arial" pitchFamily="34" charset="0"/>
                <a:ea typeface="Arial" pitchFamily="34" charset="-122"/>
                <a:cs typeface="Arial" pitchFamily="34" charset="-120"/>
              </a:rPr>
              <a:t> </a:t>
            </a:r>
            <a:endParaRPr lang="en-US" sz="750" dirty="0"/>
          </a:p>
          <a:p>
            <a:pPr algn="l" indent="0" marL="0">
              <a:lnSpc>
                <a:spcPts val="1200"/>
              </a:lnSpc>
              <a:buNone/>
            </a:pPr>
            <a:r>
              <a:rPr lang="en-US" sz="750" b="1" dirty="0">
                <a:solidFill>
                  <a:srgbClr val="FFFFFF">
                    <a:alpha val="80000"/>
                  </a:srgbClr>
                </a:solidFill>
                <a:latin typeface="Arial" pitchFamily="34" charset="0"/>
                <a:ea typeface="Arial" pitchFamily="34" charset="-122"/>
                <a:cs typeface="Arial" pitchFamily="34" charset="-120"/>
              </a:rPr>
              <a:t>Toggle Mode:</a:t>
            </a:r>
            <a:pPr algn="l" indent="0" marL="0">
              <a:lnSpc>
                <a:spcPts val="1200"/>
              </a:lnSpc>
              <a:buNone/>
            </a:pPr>
            <a:r>
              <a:rPr lang="en-US" sz="750" dirty="0">
                <a:solidFill>
                  <a:srgbClr val="FFFFFF">
                    <a:alpha val="80000"/>
                  </a:srgbClr>
                </a:solidFill>
                <a:latin typeface="Arial" pitchFamily="34" charset="0"/>
                <a:ea typeface="Arial" pitchFamily="34" charset="-122"/>
                <a:cs typeface="Arial" pitchFamily="34" charset="-120"/>
              </a:rPr>
              <a:t> Press once to start/stop</a:t>
            </a:r>
            <a:endParaRPr lang="en-US" sz="750" dirty="0"/>
          </a:p>
          <a:p>
            <a:pPr algn="l" indent="0" marL="0">
              <a:lnSpc>
                <a:spcPts val="1200"/>
              </a:lnSpc>
              <a:buNone/>
            </a:pPr>
            <a:r>
              <a:rPr lang="en-US" sz="750" dirty="0">
                <a:solidFill>
                  <a:srgbClr val="FFFFFF">
                    <a:alpha val="80000"/>
                  </a:srgbClr>
                </a:solidFill>
                <a:latin typeface="Arial" pitchFamily="34" charset="0"/>
                <a:ea typeface="Arial" pitchFamily="34" charset="-122"/>
                <a:cs typeface="Arial" pitchFamily="34" charset="-120"/>
              </a:rPr>
              <a:t> </a:t>
            </a:r>
            <a:endParaRPr lang="en-US" sz="750" dirty="0"/>
          </a:p>
          <a:p>
            <a:pPr algn="l" indent="0" marL="0">
              <a:lnSpc>
                <a:spcPts val="1200"/>
              </a:lnSpc>
              <a:buNone/>
            </a:pPr>
            <a:r>
              <a:rPr lang="en-US" sz="750" b="1" dirty="0">
                <a:solidFill>
                  <a:srgbClr val="FFFFFF">
                    <a:alpha val="80000"/>
                  </a:srgbClr>
                </a:solidFill>
                <a:latin typeface="Arial" pitchFamily="34" charset="0"/>
                <a:ea typeface="Arial" pitchFamily="34" charset="-122"/>
                <a:cs typeface="Arial" pitchFamily="34" charset="-120"/>
              </a:rPr>
              <a:t>Push-to-Talk:</a:t>
            </a:r>
            <a:pPr algn="l" indent="0" marL="0">
              <a:lnSpc>
                <a:spcPts val="1200"/>
              </a:lnSpc>
              <a:buNone/>
            </a:pPr>
            <a:r>
              <a:rPr lang="en-US" sz="750" dirty="0">
                <a:solidFill>
                  <a:srgbClr val="FFFFFF">
                    <a:alpha val="80000"/>
                  </a:srgbClr>
                </a:solidFill>
                <a:latin typeface="Arial" pitchFamily="34" charset="0"/>
                <a:ea typeface="Arial" pitchFamily="34" charset="-122"/>
                <a:cs typeface="Arial" pitchFamily="34" charset="-120"/>
              </a:rPr>
              <a:t> Classic PTT style</a:t>
            </a:r>
            <a:endParaRPr lang="en-US" sz="750" dirty="0"/>
          </a:p>
        </p:txBody>
      </p:sp>
      <p:sp>
        <p:nvSpPr>
          <p:cNvPr id="32" name="Text 30"/>
          <p:cNvSpPr/>
          <p:nvPr/>
        </p:nvSpPr>
        <p:spPr>
          <a:xfrm>
            <a:off x="5076825" y="2182267"/>
            <a:ext cx="3686175" cy="756196"/>
          </a:xfrm>
          <a:prstGeom prst="rect">
            <a:avLst/>
          </a:prstGeom>
          <a:solidFill>
            <a:srgbClr val="DCFCE7"/>
          </a:solidFill>
          <a:ln/>
        </p:spPr>
        <p:txBody>
          <a:bodyPr wrap="square" rtlCol="0" anchor="ctr"/>
          <a:lstStyle/>
          <a:p>
            <a:pPr indent="0" marL="0">
              <a:buNone/>
            </a:pPr>
            <a:endParaRPr lang="en-US" dirty="0"/>
          </a:p>
        </p:txBody>
      </p:sp>
      <p:sp>
        <p:nvSpPr>
          <p:cNvPr id="33" name="Shape 31"/>
          <p:cNvSpPr/>
          <p:nvPr/>
        </p:nvSpPr>
        <p:spPr>
          <a:xfrm>
            <a:off x="5095875" y="2182267"/>
            <a:ext cx="0" cy="756196"/>
          </a:xfrm>
          <a:prstGeom prst="line">
            <a:avLst/>
          </a:prstGeom>
          <a:noFill/>
          <a:ln w="38100">
            <a:solidFill>
              <a:srgbClr val="059669"/>
            </a:solidFill>
            <a:prstDash val="solid"/>
          </a:ln>
        </p:spPr>
      </p:sp>
      <p:sp>
        <p:nvSpPr>
          <p:cNvPr id="34" name="Text 32"/>
          <p:cNvSpPr/>
          <p:nvPr/>
        </p:nvSpPr>
        <p:spPr>
          <a:xfrm>
            <a:off x="5248275" y="2315617"/>
            <a:ext cx="3449002" cy="146596"/>
          </a:xfrm>
          <a:prstGeom prst="rect">
            <a:avLst/>
          </a:prstGeom>
          <a:noFill/>
          <a:ln/>
        </p:spPr>
        <p:txBody>
          <a:bodyPr wrap="square" lIns="0" tIns="0" rIns="0" bIns="0" rtlCol="0" anchor="t"/>
          <a:lstStyle/>
          <a:p>
            <a:pPr algn="l" indent="0" marL="0">
              <a:lnSpc>
                <a:spcPts val="1155"/>
              </a:lnSpc>
              <a:spcAft>
                <a:spcPts val="450"/>
              </a:spcAft>
              <a:buNone/>
            </a:pPr>
            <a:r>
              <a:rPr lang="en-US" sz="825" b="1" dirty="0">
                <a:solidFill>
                  <a:srgbClr val="166534"/>
                </a:solidFill>
                <a:latin typeface="Arial" pitchFamily="34" charset="0"/>
                <a:ea typeface="Arial" pitchFamily="34" charset="-122"/>
                <a:cs typeface="Arial" pitchFamily="34" charset="-120"/>
              </a:rPr>
              <a:t>PRO TIP</a:t>
            </a:r>
            <a:endParaRPr lang="en-US" sz="825" dirty="0"/>
          </a:p>
        </p:txBody>
      </p:sp>
      <p:sp>
        <p:nvSpPr>
          <p:cNvPr id="35" name="Text 33"/>
          <p:cNvSpPr/>
          <p:nvPr/>
        </p:nvSpPr>
        <p:spPr>
          <a:xfrm>
            <a:off x="5248275" y="2519363"/>
            <a:ext cx="3449002" cy="285750"/>
          </a:xfrm>
          <a:prstGeom prst="rect">
            <a:avLst/>
          </a:prstGeom>
          <a:noFill/>
          <a:ln/>
        </p:spPr>
        <p:txBody>
          <a:bodyPr wrap="square" lIns="0" tIns="0" rIns="0" bIns="0" rtlCol="0" anchor="t"/>
          <a:lstStyle/>
          <a:p>
            <a:pPr algn="l" indent="0" marL="0">
              <a:lnSpc>
                <a:spcPts val="1125"/>
              </a:lnSpc>
              <a:buNone/>
            </a:pPr>
            <a:r>
              <a:rPr lang="en-US" sz="750" dirty="0">
                <a:solidFill>
                  <a:srgbClr val="166534"/>
                </a:solidFill>
                <a:latin typeface="Arial" pitchFamily="34" charset="0"/>
                <a:ea typeface="Arial" pitchFamily="34" charset="-122"/>
                <a:cs typeface="Arial" pitchFamily="34" charset="-120"/>
              </a:rPr>
              <a:t>Hold-to-Record gives you precise control. Release to instantly process and paste. Most natural for short commands.</a:t>
            </a:r>
            <a:endParaRPr lang="en-US" sz="750" dirty="0"/>
          </a:p>
        </p:txBody>
      </p:sp>
      <p:sp>
        <p:nvSpPr>
          <p:cNvPr id="36" name="Text 34"/>
          <p:cNvSpPr/>
          <p:nvPr/>
        </p:nvSpPr>
        <p:spPr>
          <a:xfrm>
            <a:off x="5076825" y="3033713"/>
            <a:ext cx="3686175" cy="756196"/>
          </a:xfrm>
          <a:prstGeom prst="rect">
            <a:avLst/>
          </a:prstGeom>
          <a:solidFill>
            <a:srgbClr val="FEF3C7"/>
          </a:solidFill>
          <a:ln/>
        </p:spPr>
        <p:txBody>
          <a:bodyPr wrap="square" rtlCol="0" anchor="ctr"/>
          <a:lstStyle/>
          <a:p>
            <a:pPr indent="0" marL="0">
              <a:buNone/>
            </a:pPr>
            <a:endParaRPr lang="en-US" dirty="0"/>
          </a:p>
        </p:txBody>
      </p:sp>
      <p:sp>
        <p:nvSpPr>
          <p:cNvPr id="37" name="Shape 35"/>
          <p:cNvSpPr/>
          <p:nvPr/>
        </p:nvSpPr>
        <p:spPr>
          <a:xfrm>
            <a:off x="5095875" y="3033713"/>
            <a:ext cx="0" cy="756196"/>
          </a:xfrm>
          <a:prstGeom prst="line">
            <a:avLst/>
          </a:prstGeom>
          <a:noFill/>
          <a:ln w="38100">
            <a:solidFill>
              <a:srgbClr val="F59E0B"/>
            </a:solidFill>
            <a:prstDash val="solid"/>
          </a:ln>
        </p:spPr>
      </p:sp>
      <p:sp>
        <p:nvSpPr>
          <p:cNvPr id="38" name="Text 36"/>
          <p:cNvSpPr/>
          <p:nvPr/>
        </p:nvSpPr>
        <p:spPr>
          <a:xfrm>
            <a:off x="5248275" y="3167063"/>
            <a:ext cx="3449002" cy="146596"/>
          </a:xfrm>
          <a:prstGeom prst="rect">
            <a:avLst/>
          </a:prstGeom>
          <a:noFill/>
          <a:ln/>
        </p:spPr>
        <p:txBody>
          <a:bodyPr wrap="square" lIns="0" tIns="0" rIns="0" bIns="0" rtlCol="0" anchor="t"/>
          <a:lstStyle/>
          <a:p>
            <a:pPr algn="l" indent="0" marL="0">
              <a:lnSpc>
                <a:spcPts val="1155"/>
              </a:lnSpc>
              <a:spcAft>
                <a:spcPts val="450"/>
              </a:spcAft>
              <a:buNone/>
            </a:pPr>
            <a:r>
              <a:rPr lang="en-US" sz="825" b="1" dirty="0">
                <a:solidFill>
                  <a:srgbClr val="92400E"/>
                </a:solidFill>
                <a:latin typeface="Arial" pitchFamily="34" charset="0"/>
                <a:ea typeface="Arial" pitchFamily="34" charset="-122"/>
                <a:cs typeface="Arial" pitchFamily="34" charset="-120"/>
              </a:rPr>
              <a:t>FIRST MODEL DOWNLOAD</a:t>
            </a:r>
            <a:endParaRPr lang="en-US" sz="825" dirty="0"/>
          </a:p>
        </p:txBody>
      </p:sp>
      <p:sp>
        <p:nvSpPr>
          <p:cNvPr id="39" name="Text 37"/>
          <p:cNvSpPr/>
          <p:nvPr/>
        </p:nvSpPr>
        <p:spPr>
          <a:xfrm>
            <a:off x="5248275" y="3370808"/>
            <a:ext cx="3449002" cy="285750"/>
          </a:xfrm>
          <a:prstGeom prst="rect">
            <a:avLst/>
          </a:prstGeom>
          <a:noFill/>
          <a:ln/>
        </p:spPr>
        <p:txBody>
          <a:bodyPr wrap="square" lIns="0" tIns="0" rIns="0" bIns="0" rtlCol="0" anchor="t"/>
          <a:lstStyle/>
          <a:p>
            <a:pPr algn="l" indent="0" marL="0">
              <a:lnSpc>
                <a:spcPts val="1125"/>
              </a:lnSpc>
              <a:buNone/>
            </a:pPr>
            <a:r>
              <a:rPr lang="en-US" sz="750" dirty="0">
                <a:solidFill>
                  <a:srgbClr val="92400E"/>
                </a:solidFill>
                <a:latin typeface="Arial" pitchFamily="34" charset="0"/>
                <a:ea typeface="Arial" pitchFamily="34" charset="-122"/>
                <a:cs typeface="Arial" pitchFamily="34" charset="-120"/>
              </a:rPr>
              <a:t>Local models download on first use (~100-500MB). Wait for download to complete before testing.</a:t>
            </a:r>
            <a:endParaRPr lang="en-US" sz="750" dirty="0"/>
          </a:p>
        </p:txBody>
      </p:sp>
      <p:sp>
        <p:nvSpPr>
          <p:cNvPr id="40" name="Text 38"/>
          <p:cNvSpPr/>
          <p:nvPr/>
        </p:nvSpPr>
        <p:spPr>
          <a:xfrm>
            <a:off x="5076825" y="3885158"/>
            <a:ext cx="3686175" cy="918121"/>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41" name="Text 39"/>
          <p:cNvSpPr/>
          <p:nvPr/>
        </p:nvSpPr>
        <p:spPr>
          <a:xfrm>
            <a:off x="5219700" y="4028033"/>
            <a:ext cx="3468434" cy="146596"/>
          </a:xfrm>
          <a:prstGeom prst="rect">
            <a:avLst/>
          </a:prstGeom>
          <a:noFill/>
          <a:ln/>
        </p:spPr>
        <p:txBody>
          <a:bodyPr wrap="square" lIns="0" tIns="0" rIns="0" bIns="0" rtlCol="0" anchor="t"/>
          <a:lstStyle/>
          <a:p>
            <a:pPr algn="l" indent="0" marL="0">
              <a:lnSpc>
                <a:spcPts val="1155"/>
              </a:lnSpc>
              <a:spcAft>
                <a:spcPts val="450"/>
              </a:spcAft>
              <a:buNone/>
            </a:pPr>
            <a:r>
              <a:rPr lang="en-US" sz="825" b="1" dirty="0">
                <a:solidFill>
                  <a:srgbClr val="1A1F2E"/>
                </a:solidFill>
                <a:latin typeface="Arial" pitchFamily="34" charset="0"/>
                <a:ea typeface="Arial" pitchFamily="34" charset="-122"/>
                <a:cs typeface="Arial" pitchFamily="34" charset="-120"/>
              </a:rPr>
              <a:t>STATUS INDICATOR</a:t>
            </a:r>
            <a:endParaRPr lang="en-US" sz="825" dirty="0"/>
          </a:p>
        </p:txBody>
      </p:sp>
      <p:sp>
        <p:nvSpPr>
          <p:cNvPr id="42" name="Text 40"/>
          <p:cNvSpPr/>
          <p:nvPr/>
        </p:nvSpPr>
        <p:spPr>
          <a:xfrm>
            <a:off x="5219700" y="4231779"/>
            <a:ext cx="3468434" cy="428625"/>
          </a:xfrm>
          <a:prstGeom prst="rect">
            <a:avLst/>
          </a:prstGeom>
          <a:noFill/>
          <a:ln/>
        </p:spPr>
        <p:txBody>
          <a:bodyPr wrap="square" lIns="0" tIns="0" rIns="0" bIns="0" rtlCol="0" anchor="t"/>
          <a:lstStyle/>
          <a:p>
            <a:pPr algn="l" indent="0" marL="0">
              <a:lnSpc>
                <a:spcPts val="1125"/>
              </a:lnSpc>
              <a:buNone/>
            </a:pPr>
            <a:r>
              <a:rPr lang="en-US" sz="750" dirty="0">
                <a:solidFill>
                  <a:srgbClr val="6B7280"/>
                </a:solidFill>
                <a:latin typeface="Arial" pitchFamily="34" charset="0"/>
                <a:ea typeface="Arial" pitchFamily="34" charset="-122"/>
                <a:cs typeface="Arial" pitchFamily="34" charset="-120"/>
              </a:rPr>
              <a:t>Gray = Idle state</a:t>
            </a:r>
            <a:endParaRPr lang="en-US" sz="750" dirty="0"/>
          </a:p>
          <a:p>
            <a:pPr algn="l" indent="0" marL="0">
              <a:lnSpc>
                <a:spcPts val="1125"/>
              </a:lnSpc>
              <a:buNone/>
            </a:pPr>
            <a:r>
              <a:rPr lang="en-US" sz="750" dirty="0">
                <a:solidFill>
                  <a:srgbClr val="6B7280"/>
                </a:solidFill>
                <a:latin typeface="Arial" pitchFamily="34" charset="0"/>
                <a:ea typeface="Arial" pitchFamily="34" charset="-122"/>
                <a:cs typeface="Arial" pitchFamily="34" charset="-120"/>
              </a:rPr>
              <a:t> Red = Recording</a:t>
            </a:r>
            <a:endParaRPr lang="en-US" sz="750" dirty="0"/>
          </a:p>
          <a:p>
            <a:pPr algn="l" indent="0" marL="0">
              <a:lnSpc>
                <a:spcPts val="1125"/>
              </a:lnSpc>
              <a:buNone/>
            </a:pPr>
            <a:r>
              <a:rPr lang="en-US" sz="750" dirty="0">
                <a:solidFill>
                  <a:srgbClr val="6B7280"/>
                </a:solidFill>
                <a:latin typeface="Arial" pitchFamily="34" charset="0"/>
                <a:ea typeface="Arial" pitchFamily="34" charset="-122"/>
                <a:cs typeface="Arial" pitchFamily="34" charset="-120"/>
              </a:rPr>
              <a:t> Gold = Processing</a:t>
            </a:r>
            <a:endParaRPr lang="en-US" sz="7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381000" y="228600"/>
            <a:ext cx="8549640" cy="133350"/>
          </a:xfrm>
          <a:prstGeom prst="rect">
            <a:avLst/>
          </a:prstGeom>
          <a:noFill/>
          <a:ln/>
        </p:spPr>
        <p:txBody>
          <a:bodyPr wrap="square" lIns="0" tIns="0" rIns="0" bIns="0" rtlCol="0" anchor="t"/>
          <a:lstStyle/>
          <a:p>
            <a:pPr algn="l" indent="0" marL="0">
              <a:lnSpc>
                <a:spcPts val="1050"/>
              </a:lnSpc>
              <a:spcAft>
                <a:spcPts val="450"/>
              </a:spcAft>
              <a:buNone/>
            </a:pPr>
            <a:r>
              <a:rPr lang="en-US" sz="750" dirty="0">
                <a:solidFill>
                  <a:srgbClr val="C9A227"/>
                </a:solidFill>
                <a:latin typeface="Arial" pitchFamily="34" charset="0"/>
                <a:ea typeface="Arial" pitchFamily="34" charset="-122"/>
                <a:cs typeface="Arial" pitchFamily="34" charset="-120"/>
              </a:rPr>
              <a:t>CUSTOM MODE PROMPTS</a:t>
            </a:r>
            <a:endParaRPr lang="en-US" sz="750" dirty="0"/>
          </a:p>
        </p:txBody>
      </p:sp>
      <p:sp>
        <p:nvSpPr>
          <p:cNvPr id="3" name="Text 1"/>
          <p:cNvSpPr/>
          <p:nvPr/>
        </p:nvSpPr>
        <p:spPr>
          <a:xfrm>
            <a:off x="381000" y="419100"/>
            <a:ext cx="4284536" cy="247650"/>
          </a:xfrm>
          <a:prstGeom prst="rect">
            <a:avLst/>
          </a:prstGeom>
          <a:noFill/>
          <a:ln/>
        </p:spPr>
        <p:txBody>
          <a:bodyPr wrap="square" lIns="0" tIns="0" rIns="0" bIns="0" rtlCol="0" anchor="t"/>
          <a:lstStyle/>
          <a:p>
            <a:pPr algn="l" indent="0" marL="0">
              <a:lnSpc>
                <a:spcPts val="1950"/>
              </a:lnSpc>
              <a:buNone/>
            </a:pPr>
            <a:r>
              <a:rPr lang="en-US" sz="1950" dirty="0">
                <a:solidFill>
                  <a:srgbClr val="1A1F2E"/>
                </a:solidFill>
                <a:latin typeface="Georgia" pitchFamily="34" charset="0"/>
                <a:ea typeface="Georgia" pitchFamily="34" charset="-122"/>
                <a:cs typeface="Georgia" pitchFamily="34" charset="-120"/>
              </a:rPr>
              <a:t>Writing Effective AI Instructions</a:t>
            </a:r>
            <a:endParaRPr lang="en-US" sz="1950" dirty="0"/>
          </a:p>
        </p:txBody>
      </p:sp>
      <p:sp>
        <p:nvSpPr>
          <p:cNvPr id="4" name="Text 2"/>
          <p:cNvSpPr/>
          <p:nvPr/>
        </p:nvSpPr>
        <p:spPr>
          <a:xfrm>
            <a:off x="381000" y="1191964"/>
            <a:ext cx="2814155" cy="159990"/>
          </a:xfrm>
          <a:prstGeom prst="rect">
            <a:avLst/>
          </a:prstGeom>
          <a:noFill/>
          <a:ln/>
        </p:spPr>
        <p:txBody>
          <a:bodyPr wrap="square" lIns="0" tIns="0" rIns="0" bIns="0" rtlCol="0" anchor="t"/>
          <a:lstStyle/>
          <a:p>
            <a:pPr algn="l" indent="0" marL="0">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PROMPT STRUCTURE</a:t>
            </a:r>
            <a:endParaRPr lang="en-US" sz="900" dirty="0"/>
          </a:p>
        </p:txBody>
      </p:sp>
      <p:sp>
        <p:nvSpPr>
          <p:cNvPr id="5" name="Text 3"/>
          <p:cNvSpPr/>
          <p:nvPr/>
        </p:nvSpPr>
        <p:spPr>
          <a:xfrm>
            <a:off x="381000" y="1485305"/>
            <a:ext cx="2758976" cy="2435721"/>
          </a:xfrm>
          <a:prstGeom prst="rect">
            <a:avLst/>
          </a:prstGeom>
          <a:solidFill>
            <a:srgbClr val="1A1F2E"/>
          </a:solidFill>
          <a:ln/>
        </p:spPr>
        <p:txBody>
          <a:bodyPr wrap="square" rtlCol="0" anchor="ctr"/>
          <a:lstStyle/>
          <a:p>
            <a:pPr indent="0" marL="0">
              <a:buNone/>
            </a:pPr>
            <a:endParaRPr lang="en-US" dirty="0"/>
          </a:p>
        </p:txBody>
      </p:sp>
      <p:sp>
        <p:nvSpPr>
          <p:cNvPr id="6" name="Text 4"/>
          <p:cNvSpPr/>
          <p:nvPr/>
        </p:nvSpPr>
        <p:spPr>
          <a:xfrm>
            <a:off x="514350" y="1618655"/>
            <a:ext cx="2542121" cy="119955"/>
          </a:xfrm>
          <a:prstGeom prst="rect">
            <a:avLst/>
          </a:prstGeom>
          <a:noFill/>
          <a:ln/>
        </p:spPr>
        <p:txBody>
          <a:bodyPr wrap="square" lIns="0" tIns="0" rIns="0" bIns="0" rtlCol="0" anchor="t"/>
          <a:lstStyle/>
          <a:p>
            <a:pPr algn="l" indent="0" marL="0">
              <a:lnSpc>
                <a:spcPts val="945"/>
              </a:lnSpc>
              <a:spcAft>
                <a:spcPts val="600"/>
              </a:spcAft>
              <a:buNone/>
            </a:pPr>
            <a:r>
              <a:rPr lang="en-US" sz="675" dirty="0">
                <a:solidFill>
                  <a:srgbClr val="C9A227"/>
                </a:solidFill>
                <a:latin typeface="Arial" pitchFamily="34" charset="0"/>
                <a:ea typeface="Arial" pitchFamily="34" charset="-122"/>
                <a:cs typeface="Arial" pitchFamily="34" charset="-120"/>
              </a:rPr>
              <a:t>&lt;role&gt;</a:t>
            </a:r>
            <a:endParaRPr lang="en-US" sz="675" dirty="0"/>
          </a:p>
        </p:txBody>
      </p:sp>
      <p:sp>
        <p:nvSpPr>
          <p:cNvPr id="7" name="Text 5"/>
          <p:cNvSpPr/>
          <p:nvPr/>
        </p:nvSpPr>
        <p:spPr>
          <a:xfrm>
            <a:off x="514350" y="1814810"/>
            <a:ext cx="2542121" cy="119955"/>
          </a:xfrm>
          <a:prstGeom prst="rect">
            <a:avLst/>
          </a:prstGeom>
          <a:noFill/>
          <a:ln/>
        </p:spPr>
        <p:txBody>
          <a:bodyPr wrap="square" lIns="114300" tIns="0" rIns="0" bIns="0" rtlCol="0" anchor="t"/>
          <a:lstStyle/>
          <a:p>
            <a:pPr algn="l" indent="0" marL="0">
              <a:lnSpc>
                <a:spcPts val="945"/>
              </a:lnSpc>
              <a:spcAft>
                <a:spcPts val="600"/>
              </a:spcAft>
              <a:buNone/>
            </a:pPr>
            <a:r>
              <a:rPr lang="en-US" sz="675" dirty="0">
                <a:solidFill>
                  <a:srgbClr val="FFFFFF">
                    <a:alpha val="80000"/>
                  </a:srgbClr>
                </a:solidFill>
                <a:latin typeface="Arial" pitchFamily="34" charset="0"/>
                <a:ea typeface="Arial" pitchFamily="34" charset="-122"/>
                <a:cs typeface="Arial" pitchFamily="34" charset="-120"/>
              </a:rPr>
              <a:t>You are a professional email editor</a:t>
            </a:r>
            <a:endParaRPr lang="en-US" sz="675" dirty="0"/>
          </a:p>
        </p:txBody>
      </p:sp>
      <p:sp>
        <p:nvSpPr>
          <p:cNvPr id="8" name="Text 6"/>
          <p:cNvSpPr/>
          <p:nvPr/>
        </p:nvSpPr>
        <p:spPr>
          <a:xfrm>
            <a:off x="514350" y="2010966"/>
            <a:ext cx="2542121" cy="119955"/>
          </a:xfrm>
          <a:prstGeom prst="rect">
            <a:avLst/>
          </a:prstGeom>
          <a:noFill/>
          <a:ln/>
        </p:spPr>
        <p:txBody>
          <a:bodyPr wrap="square" lIns="0" tIns="0" rIns="0" bIns="0" rtlCol="0" anchor="t"/>
          <a:lstStyle/>
          <a:p>
            <a:pPr algn="l" indent="0" marL="0">
              <a:lnSpc>
                <a:spcPts val="945"/>
              </a:lnSpc>
              <a:spcAft>
                <a:spcPts val="600"/>
              </a:spcAft>
              <a:buNone/>
            </a:pPr>
            <a:r>
              <a:rPr lang="en-US" sz="675" dirty="0">
                <a:solidFill>
                  <a:srgbClr val="C9A227"/>
                </a:solidFill>
                <a:latin typeface="Arial" pitchFamily="34" charset="0"/>
                <a:ea typeface="Arial" pitchFamily="34" charset="-122"/>
                <a:cs typeface="Arial" pitchFamily="34" charset="-120"/>
              </a:rPr>
              <a:t>&lt;/role&gt;</a:t>
            </a:r>
            <a:endParaRPr lang="en-US" sz="675" dirty="0"/>
          </a:p>
        </p:txBody>
      </p:sp>
      <p:sp>
        <p:nvSpPr>
          <p:cNvPr id="9" name="Text 7"/>
          <p:cNvSpPr/>
          <p:nvPr/>
        </p:nvSpPr>
        <p:spPr>
          <a:xfrm>
            <a:off x="514350" y="2207121"/>
            <a:ext cx="2542121" cy="119955"/>
          </a:xfrm>
          <a:prstGeom prst="rect">
            <a:avLst/>
          </a:prstGeom>
          <a:noFill/>
          <a:ln/>
        </p:spPr>
        <p:txBody>
          <a:bodyPr wrap="square" lIns="0" tIns="0" rIns="0" bIns="0" rtlCol="0" anchor="t"/>
          <a:lstStyle/>
          <a:p>
            <a:pPr algn="l" indent="0" marL="0">
              <a:lnSpc>
                <a:spcPts val="945"/>
              </a:lnSpc>
              <a:spcAft>
                <a:spcPts val="600"/>
              </a:spcAft>
              <a:buNone/>
            </a:pPr>
            <a:r>
              <a:rPr lang="en-US" sz="675" dirty="0">
                <a:solidFill>
                  <a:srgbClr val="C9A227"/>
                </a:solidFill>
                <a:latin typeface="Arial" pitchFamily="34" charset="0"/>
                <a:ea typeface="Arial" pitchFamily="34" charset="-122"/>
                <a:cs typeface="Arial" pitchFamily="34" charset="-120"/>
              </a:rPr>
              <a:t>&lt;instructions&gt;</a:t>
            </a:r>
            <a:endParaRPr lang="en-US" sz="675" dirty="0"/>
          </a:p>
        </p:txBody>
      </p:sp>
      <p:sp>
        <p:nvSpPr>
          <p:cNvPr id="10" name="Text 8"/>
          <p:cNvSpPr/>
          <p:nvPr/>
        </p:nvSpPr>
        <p:spPr>
          <a:xfrm>
            <a:off x="514350" y="2403277"/>
            <a:ext cx="2542121" cy="359866"/>
          </a:xfrm>
          <a:prstGeom prst="rect">
            <a:avLst/>
          </a:prstGeom>
          <a:noFill/>
          <a:ln/>
        </p:spPr>
        <p:txBody>
          <a:bodyPr wrap="square" lIns="114300" tIns="0" rIns="0" bIns="0" rtlCol="0" anchor="t"/>
          <a:lstStyle/>
          <a:p>
            <a:pPr algn="l" indent="0" marL="0">
              <a:lnSpc>
                <a:spcPts val="945"/>
              </a:lnSpc>
              <a:spcAft>
                <a:spcPts val="600"/>
              </a:spcAft>
              <a:buNone/>
            </a:pPr>
            <a:r>
              <a:rPr lang="en-US" sz="675" dirty="0">
                <a:solidFill>
                  <a:srgbClr val="FFFFFF">
                    <a:alpha val="80000"/>
                  </a:srgbClr>
                </a:solidFill>
                <a:latin typeface="Arial" pitchFamily="34" charset="0"/>
                <a:ea typeface="Arial" pitchFamily="34" charset="-122"/>
                <a:cs typeface="Arial" pitchFamily="34" charset="-120"/>
              </a:rPr>
              <a:t>Format the User Message into a</a:t>
            </a:r>
            <a:endParaRPr lang="en-US" sz="675" dirty="0"/>
          </a:p>
          <a:p>
            <a:pPr algn="l" indent="0" marL="0">
              <a:lnSpc>
                <a:spcPts val="945"/>
              </a:lnSpc>
              <a:spcAft>
                <a:spcPts val="600"/>
              </a:spcAft>
              <a:buNone/>
            </a:pPr>
            <a:r>
              <a:rPr lang="en-US" sz="675" dirty="0">
                <a:solidFill>
                  <a:srgbClr val="FFFFFF">
                    <a:alpha val="80000"/>
                  </a:srgbClr>
                </a:solidFill>
                <a:latin typeface="Arial" pitchFamily="34" charset="0"/>
                <a:ea typeface="Arial" pitchFamily="34" charset="-122"/>
                <a:cs typeface="Arial" pitchFamily="34" charset="-120"/>
              </a:rPr>
              <a:t>professional email with proper</a:t>
            </a:r>
            <a:endParaRPr lang="en-US" sz="675" dirty="0"/>
          </a:p>
          <a:p>
            <a:pPr algn="l" indent="0" marL="0">
              <a:lnSpc>
                <a:spcPts val="945"/>
              </a:lnSpc>
              <a:spcAft>
                <a:spcPts val="600"/>
              </a:spcAft>
              <a:buNone/>
            </a:pPr>
            <a:r>
              <a:rPr lang="en-US" sz="675" dirty="0">
                <a:solidFill>
                  <a:srgbClr val="FFFFFF">
                    <a:alpha val="80000"/>
                  </a:srgbClr>
                </a:solidFill>
                <a:latin typeface="Arial" pitchFamily="34" charset="0"/>
                <a:ea typeface="Arial" pitchFamily="34" charset="-122"/>
                <a:cs typeface="Arial" pitchFamily="34" charset="-120"/>
              </a:rPr>
              <a:t>greeting and signature</a:t>
            </a:r>
            <a:endParaRPr lang="en-US" sz="675" dirty="0"/>
          </a:p>
        </p:txBody>
      </p:sp>
      <p:sp>
        <p:nvSpPr>
          <p:cNvPr id="11" name="Text 9"/>
          <p:cNvSpPr/>
          <p:nvPr/>
        </p:nvSpPr>
        <p:spPr>
          <a:xfrm>
            <a:off x="514350" y="2839343"/>
            <a:ext cx="2542121" cy="119955"/>
          </a:xfrm>
          <a:prstGeom prst="rect">
            <a:avLst/>
          </a:prstGeom>
          <a:noFill/>
          <a:ln/>
        </p:spPr>
        <p:txBody>
          <a:bodyPr wrap="square" lIns="0" tIns="0" rIns="0" bIns="0" rtlCol="0" anchor="t"/>
          <a:lstStyle/>
          <a:p>
            <a:pPr algn="l" indent="0" marL="0">
              <a:lnSpc>
                <a:spcPts val="945"/>
              </a:lnSpc>
              <a:spcAft>
                <a:spcPts val="600"/>
              </a:spcAft>
              <a:buNone/>
            </a:pPr>
            <a:r>
              <a:rPr lang="en-US" sz="675" dirty="0">
                <a:solidFill>
                  <a:srgbClr val="C9A227"/>
                </a:solidFill>
                <a:latin typeface="Arial" pitchFamily="34" charset="0"/>
                <a:ea typeface="Arial" pitchFamily="34" charset="-122"/>
                <a:cs typeface="Arial" pitchFamily="34" charset="-120"/>
              </a:rPr>
              <a:t>&lt;/instructions&gt;</a:t>
            </a:r>
            <a:endParaRPr lang="en-US" sz="675" dirty="0"/>
          </a:p>
        </p:txBody>
      </p:sp>
      <p:sp>
        <p:nvSpPr>
          <p:cNvPr id="12" name="Text 10"/>
          <p:cNvSpPr/>
          <p:nvPr/>
        </p:nvSpPr>
        <p:spPr>
          <a:xfrm>
            <a:off x="514350" y="3035498"/>
            <a:ext cx="2542121" cy="119955"/>
          </a:xfrm>
          <a:prstGeom prst="rect">
            <a:avLst/>
          </a:prstGeom>
          <a:noFill/>
          <a:ln/>
        </p:spPr>
        <p:txBody>
          <a:bodyPr wrap="square" lIns="0" tIns="0" rIns="0" bIns="0" rtlCol="0" anchor="t"/>
          <a:lstStyle/>
          <a:p>
            <a:pPr algn="l" indent="0" marL="0">
              <a:lnSpc>
                <a:spcPts val="945"/>
              </a:lnSpc>
              <a:spcAft>
                <a:spcPts val="600"/>
              </a:spcAft>
              <a:buNone/>
            </a:pPr>
            <a:r>
              <a:rPr lang="en-US" sz="675" dirty="0">
                <a:solidFill>
                  <a:srgbClr val="C9A227"/>
                </a:solidFill>
                <a:latin typeface="Arial" pitchFamily="34" charset="0"/>
                <a:ea typeface="Arial" pitchFamily="34" charset="-122"/>
                <a:cs typeface="Arial" pitchFamily="34" charset="-120"/>
              </a:rPr>
              <a:t>&lt;requirements&gt;</a:t>
            </a:r>
            <a:endParaRPr lang="en-US" sz="675" dirty="0"/>
          </a:p>
        </p:txBody>
      </p:sp>
      <p:sp>
        <p:nvSpPr>
          <p:cNvPr id="13" name="Text 11"/>
          <p:cNvSpPr/>
          <p:nvPr/>
        </p:nvSpPr>
        <p:spPr>
          <a:xfrm>
            <a:off x="514350" y="3231654"/>
            <a:ext cx="2542121" cy="359866"/>
          </a:xfrm>
          <a:prstGeom prst="rect">
            <a:avLst/>
          </a:prstGeom>
          <a:noFill/>
          <a:ln/>
        </p:spPr>
        <p:txBody>
          <a:bodyPr wrap="square" lIns="114300" tIns="0" rIns="0" bIns="0" rtlCol="0" anchor="t"/>
          <a:lstStyle/>
          <a:p>
            <a:pPr algn="l" indent="0" marL="0">
              <a:lnSpc>
                <a:spcPts val="945"/>
              </a:lnSpc>
              <a:buNone/>
            </a:pPr>
            <a:r>
              <a:rPr lang="en-US" sz="675" dirty="0">
                <a:solidFill>
                  <a:srgbClr val="FFFFFF">
                    <a:alpha val="80000"/>
                  </a:srgbClr>
                </a:solidFill>
                <a:latin typeface="Arial" pitchFamily="34" charset="0"/>
                <a:ea typeface="Arial" pitchFamily="34" charset="-122"/>
                <a:cs typeface="Arial" pitchFamily="34" charset="-120"/>
              </a:rPr>
              <a:t>Keep tone professional</a:t>
            </a:r>
            <a:endParaRPr lang="en-US" sz="675" dirty="0"/>
          </a:p>
          <a:p>
            <a:pPr algn="l" indent="0" marL="0">
              <a:lnSpc>
                <a:spcPts val="945"/>
              </a:lnSpc>
              <a:buNone/>
            </a:pPr>
            <a:r>
              <a:rPr lang="en-US" sz="675" dirty="0">
                <a:solidFill>
                  <a:srgbClr val="FFFFFF">
                    <a:alpha val="80000"/>
                  </a:srgbClr>
                </a:solidFill>
                <a:latin typeface="Arial" pitchFamily="34" charset="0"/>
                <a:ea typeface="Arial" pitchFamily="34" charset="-122"/>
                <a:cs typeface="Arial" pitchFamily="34" charset="-120"/>
              </a:rPr>
              <a:t>Use clear paragraphs</a:t>
            </a:r>
            <a:endParaRPr lang="en-US" sz="675" dirty="0"/>
          </a:p>
          <a:p>
            <a:pPr algn="l" indent="0" marL="0">
              <a:lnSpc>
                <a:spcPts val="945"/>
              </a:lnSpc>
              <a:buNone/>
            </a:pPr>
            <a:r>
              <a:rPr lang="en-US" sz="675" dirty="0">
                <a:solidFill>
                  <a:srgbClr val="FFFFFF">
                    <a:alpha val="80000"/>
                  </a:srgbClr>
                </a:solidFill>
                <a:latin typeface="Arial" pitchFamily="34" charset="0"/>
                <a:ea typeface="Arial" pitchFamily="34" charset="-122"/>
                <a:cs typeface="Arial" pitchFamily="34" charset="-120"/>
              </a:rPr>
              <a:t>Include appropriate sign-off</a:t>
            </a:r>
            <a:endParaRPr lang="en-US" sz="675" dirty="0"/>
          </a:p>
        </p:txBody>
      </p:sp>
      <p:sp>
        <p:nvSpPr>
          <p:cNvPr id="14" name="Text 12"/>
          <p:cNvSpPr/>
          <p:nvPr/>
        </p:nvSpPr>
        <p:spPr>
          <a:xfrm>
            <a:off x="514350" y="3667720"/>
            <a:ext cx="2542121" cy="119955"/>
          </a:xfrm>
          <a:prstGeom prst="rect">
            <a:avLst/>
          </a:prstGeom>
          <a:noFill/>
          <a:ln/>
        </p:spPr>
        <p:txBody>
          <a:bodyPr wrap="square" lIns="0" tIns="0" rIns="0" bIns="0" rtlCol="0" anchor="t"/>
          <a:lstStyle/>
          <a:p>
            <a:pPr algn="l" indent="0" marL="0">
              <a:lnSpc>
                <a:spcPts val="945"/>
              </a:lnSpc>
              <a:spcBef>
                <a:spcPts val="600"/>
              </a:spcBef>
              <a:buNone/>
            </a:pPr>
            <a:r>
              <a:rPr lang="en-US" sz="675" dirty="0">
                <a:solidFill>
                  <a:srgbClr val="C9A227"/>
                </a:solidFill>
                <a:latin typeface="Arial" pitchFamily="34" charset="0"/>
                <a:ea typeface="Arial" pitchFamily="34" charset="-122"/>
                <a:cs typeface="Arial" pitchFamily="34" charset="-120"/>
              </a:rPr>
              <a:t>&lt;/requirements&gt;</a:t>
            </a:r>
            <a:endParaRPr lang="en-US" sz="675" dirty="0"/>
          </a:p>
        </p:txBody>
      </p:sp>
      <p:sp>
        <p:nvSpPr>
          <p:cNvPr id="15" name="Text 13"/>
          <p:cNvSpPr/>
          <p:nvPr/>
        </p:nvSpPr>
        <p:spPr>
          <a:xfrm>
            <a:off x="381000" y="4016276"/>
            <a:ext cx="2758976" cy="639961"/>
          </a:xfrm>
          <a:prstGeom prst="rect">
            <a:avLst/>
          </a:prstGeom>
          <a:solidFill>
            <a:srgbClr val="FEF3C7"/>
          </a:solidFill>
          <a:ln/>
        </p:spPr>
        <p:txBody>
          <a:bodyPr wrap="square" rtlCol="0" anchor="ctr"/>
          <a:lstStyle/>
          <a:p>
            <a:pPr indent="0" marL="0">
              <a:buNone/>
            </a:pPr>
            <a:endParaRPr lang="en-US" dirty="0"/>
          </a:p>
        </p:txBody>
      </p:sp>
      <p:sp>
        <p:nvSpPr>
          <p:cNvPr id="16" name="Shape 14"/>
          <p:cNvSpPr/>
          <p:nvPr/>
        </p:nvSpPr>
        <p:spPr>
          <a:xfrm>
            <a:off x="400050" y="4016276"/>
            <a:ext cx="0" cy="639961"/>
          </a:xfrm>
          <a:prstGeom prst="line">
            <a:avLst/>
          </a:prstGeom>
          <a:noFill/>
          <a:ln w="38100">
            <a:solidFill>
              <a:srgbClr val="F59E0B"/>
            </a:solidFill>
            <a:prstDash val="solid"/>
          </a:ln>
        </p:spPr>
      </p:sp>
      <p:sp>
        <p:nvSpPr>
          <p:cNvPr id="17" name="Text 15"/>
          <p:cNvSpPr/>
          <p:nvPr/>
        </p:nvSpPr>
        <p:spPr>
          <a:xfrm>
            <a:off x="533400" y="4130576"/>
            <a:ext cx="2542121"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92400E"/>
                </a:solidFill>
                <a:latin typeface="Arial" pitchFamily="34" charset="0"/>
                <a:ea typeface="Arial" pitchFamily="34" charset="-122"/>
                <a:cs typeface="Arial" pitchFamily="34" charset="-120"/>
              </a:rPr>
              <a:t>XML TAGS NOTE</a:t>
            </a:r>
            <a:endParaRPr lang="en-US" sz="750" dirty="0"/>
          </a:p>
        </p:txBody>
      </p:sp>
      <p:sp>
        <p:nvSpPr>
          <p:cNvPr id="18" name="Text 16"/>
          <p:cNvSpPr/>
          <p:nvPr/>
        </p:nvSpPr>
        <p:spPr>
          <a:xfrm>
            <a:off x="533400" y="4302026"/>
            <a:ext cx="2542121" cy="239911"/>
          </a:xfrm>
          <a:prstGeom prst="rect">
            <a:avLst/>
          </a:prstGeom>
          <a:noFill/>
          <a:ln/>
        </p:spPr>
        <p:txBody>
          <a:bodyPr wrap="square" lIns="0" tIns="0" rIns="0" bIns="0" rtlCol="0" anchor="t"/>
          <a:lstStyle/>
          <a:p>
            <a:pPr algn="l" indent="0" marL="0">
              <a:lnSpc>
                <a:spcPts val="945"/>
              </a:lnSpc>
              <a:buNone/>
            </a:pPr>
            <a:r>
              <a:rPr lang="en-US" sz="675" dirty="0">
                <a:solidFill>
                  <a:srgbClr val="92400E"/>
                </a:solidFill>
                <a:latin typeface="Arial" pitchFamily="34" charset="0"/>
                <a:ea typeface="Arial" pitchFamily="34" charset="-122"/>
                <a:cs typeface="Arial" pitchFamily="34" charset="-120"/>
              </a:rPr>
              <a:t>XML tags improve clarity with advanced models. Some local models may struggle with them - test your results.</a:t>
            </a:r>
            <a:endParaRPr lang="en-US" sz="675" dirty="0"/>
          </a:p>
        </p:txBody>
      </p:sp>
      <p:sp>
        <p:nvSpPr>
          <p:cNvPr id="19" name="Text 17"/>
          <p:cNvSpPr/>
          <p:nvPr/>
        </p:nvSpPr>
        <p:spPr>
          <a:xfrm>
            <a:off x="3330476" y="1128861"/>
            <a:ext cx="2814155" cy="159990"/>
          </a:xfrm>
          <a:prstGeom prst="rect">
            <a:avLst/>
          </a:prstGeom>
          <a:noFill/>
          <a:ln/>
        </p:spPr>
        <p:txBody>
          <a:bodyPr wrap="square" lIns="0" tIns="0" rIns="0" bIns="0" rtlCol="0" anchor="t"/>
          <a:lstStyle/>
          <a:p>
            <a:pPr algn="l" indent="0" marL="0">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KEY ELEMENTS</a:t>
            </a:r>
            <a:endParaRPr lang="en-US" sz="900" dirty="0"/>
          </a:p>
        </p:txBody>
      </p:sp>
      <p:sp>
        <p:nvSpPr>
          <p:cNvPr id="20" name="Text 18"/>
          <p:cNvSpPr/>
          <p:nvPr/>
        </p:nvSpPr>
        <p:spPr>
          <a:xfrm>
            <a:off x="3330476" y="1422202"/>
            <a:ext cx="2758976" cy="539055"/>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21" name="Text 19"/>
          <p:cNvSpPr/>
          <p:nvPr/>
        </p:nvSpPr>
        <p:spPr>
          <a:xfrm>
            <a:off x="3454301" y="1546027"/>
            <a:ext cx="2561552"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059669"/>
                </a:solidFill>
                <a:latin typeface="Arial" pitchFamily="34" charset="0"/>
                <a:ea typeface="Arial" pitchFamily="34" charset="-122"/>
                <a:cs typeface="Arial" pitchFamily="34" charset="-120"/>
              </a:rPr>
              <a:t>1. ROLE STATEMENT</a:t>
            </a:r>
            <a:endParaRPr lang="en-US" sz="750" dirty="0"/>
          </a:p>
        </p:txBody>
      </p:sp>
      <p:sp>
        <p:nvSpPr>
          <p:cNvPr id="22" name="Text 20"/>
          <p:cNvSpPr/>
          <p:nvPr/>
        </p:nvSpPr>
        <p:spPr>
          <a:xfrm>
            <a:off x="3454301" y="1717477"/>
            <a:ext cx="2561552" cy="119955"/>
          </a:xfrm>
          <a:prstGeom prst="rect">
            <a:avLst/>
          </a:prstGeom>
          <a:noFill/>
          <a:ln/>
        </p:spPr>
        <p:txBody>
          <a:bodyPr wrap="square" lIns="0" tIns="0" rIns="0" bIns="0" rtlCol="0" anchor="t"/>
          <a:lstStyle/>
          <a:p>
            <a:pPr algn="l" indent="0" marL="0">
              <a:lnSpc>
                <a:spcPts val="945"/>
              </a:lnSpc>
              <a:buNone/>
            </a:pPr>
            <a:r>
              <a:rPr lang="en-US" sz="675" dirty="0">
                <a:solidFill>
                  <a:srgbClr val="6B7280"/>
                </a:solidFill>
                <a:latin typeface="Arial" pitchFamily="34" charset="0"/>
                <a:ea typeface="Arial" pitchFamily="34" charset="-122"/>
                <a:cs typeface="Arial" pitchFamily="34" charset="-120"/>
              </a:rPr>
              <a:t>Define who the AI is. Sets the foundation for all processing.</a:t>
            </a:r>
            <a:endParaRPr lang="en-US" sz="675" dirty="0"/>
          </a:p>
        </p:txBody>
      </p:sp>
      <p:sp>
        <p:nvSpPr>
          <p:cNvPr id="23" name="Text 21"/>
          <p:cNvSpPr/>
          <p:nvPr/>
        </p:nvSpPr>
        <p:spPr>
          <a:xfrm>
            <a:off x="3330476" y="2056507"/>
            <a:ext cx="2758976" cy="539055"/>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24" name="Text 22"/>
          <p:cNvSpPr/>
          <p:nvPr/>
        </p:nvSpPr>
        <p:spPr>
          <a:xfrm>
            <a:off x="3454301" y="2180332"/>
            <a:ext cx="2561552"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059669"/>
                </a:solidFill>
                <a:latin typeface="Arial" pitchFamily="34" charset="0"/>
                <a:ea typeface="Arial" pitchFamily="34" charset="-122"/>
                <a:cs typeface="Arial" pitchFamily="34" charset="-120"/>
              </a:rPr>
              <a:t>2. CLEAR INSTRUCTIONS</a:t>
            </a:r>
            <a:endParaRPr lang="en-US" sz="750" dirty="0"/>
          </a:p>
        </p:txBody>
      </p:sp>
      <p:sp>
        <p:nvSpPr>
          <p:cNvPr id="25" name="Text 23"/>
          <p:cNvSpPr/>
          <p:nvPr/>
        </p:nvSpPr>
        <p:spPr>
          <a:xfrm>
            <a:off x="3454301" y="2351782"/>
            <a:ext cx="2561552" cy="119955"/>
          </a:xfrm>
          <a:prstGeom prst="rect">
            <a:avLst/>
          </a:prstGeom>
          <a:noFill/>
          <a:ln/>
        </p:spPr>
        <p:txBody>
          <a:bodyPr wrap="square" lIns="0" tIns="0" rIns="0" bIns="0" rtlCol="0" anchor="t"/>
          <a:lstStyle/>
          <a:p>
            <a:pPr algn="l" indent="0" marL="0">
              <a:lnSpc>
                <a:spcPts val="945"/>
              </a:lnSpc>
              <a:buNone/>
            </a:pPr>
            <a:r>
              <a:rPr lang="en-US" sz="675" dirty="0">
                <a:solidFill>
                  <a:srgbClr val="6B7280"/>
                </a:solidFill>
                <a:latin typeface="Arial" pitchFamily="34" charset="0"/>
                <a:ea typeface="Arial" pitchFamily="34" charset="-122"/>
                <a:cs typeface="Arial" pitchFamily="34" charset="-120"/>
              </a:rPr>
              <a:t>Explicit actions to take with the dictated text. Be specific.</a:t>
            </a:r>
            <a:endParaRPr lang="en-US" sz="675" dirty="0"/>
          </a:p>
        </p:txBody>
      </p:sp>
      <p:sp>
        <p:nvSpPr>
          <p:cNvPr id="26" name="Text 24"/>
          <p:cNvSpPr/>
          <p:nvPr/>
        </p:nvSpPr>
        <p:spPr>
          <a:xfrm>
            <a:off x="3330476" y="2690813"/>
            <a:ext cx="2758976" cy="539055"/>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27" name="Text 25"/>
          <p:cNvSpPr/>
          <p:nvPr/>
        </p:nvSpPr>
        <p:spPr>
          <a:xfrm>
            <a:off x="3454301" y="2814638"/>
            <a:ext cx="2561552"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059669"/>
                </a:solidFill>
                <a:latin typeface="Arial" pitchFamily="34" charset="0"/>
                <a:ea typeface="Arial" pitchFamily="34" charset="-122"/>
                <a:cs typeface="Arial" pitchFamily="34" charset="-120"/>
              </a:rPr>
              <a:t>3. REQUIREMENTS LIST</a:t>
            </a:r>
            <a:endParaRPr lang="en-US" sz="750" dirty="0"/>
          </a:p>
        </p:txBody>
      </p:sp>
      <p:sp>
        <p:nvSpPr>
          <p:cNvPr id="28" name="Text 26"/>
          <p:cNvSpPr/>
          <p:nvPr/>
        </p:nvSpPr>
        <p:spPr>
          <a:xfrm>
            <a:off x="3454301" y="2986088"/>
            <a:ext cx="2561552" cy="119955"/>
          </a:xfrm>
          <a:prstGeom prst="rect">
            <a:avLst/>
          </a:prstGeom>
          <a:noFill/>
          <a:ln/>
        </p:spPr>
        <p:txBody>
          <a:bodyPr wrap="square" lIns="0" tIns="0" rIns="0" bIns="0" rtlCol="0" anchor="t"/>
          <a:lstStyle/>
          <a:p>
            <a:pPr algn="l" indent="0" marL="0">
              <a:lnSpc>
                <a:spcPts val="945"/>
              </a:lnSpc>
              <a:buNone/>
            </a:pPr>
            <a:r>
              <a:rPr lang="en-US" sz="675" dirty="0">
                <a:solidFill>
                  <a:srgbClr val="6B7280"/>
                </a:solidFill>
                <a:latin typeface="Arial" pitchFamily="34" charset="0"/>
                <a:ea typeface="Arial" pitchFamily="34" charset="-122"/>
                <a:cs typeface="Arial" pitchFamily="34" charset="-120"/>
              </a:rPr>
              <a:t>Bullet points of constraints and style guidelines.</a:t>
            </a:r>
            <a:endParaRPr lang="en-US" sz="675" dirty="0"/>
          </a:p>
        </p:txBody>
      </p:sp>
      <p:sp>
        <p:nvSpPr>
          <p:cNvPr id="29" name="Text 27"/>
          <p:cNvSpPr/>
          <p:nvPr/>
        </p:nvSpPr>
        <p:spPr>
          <a:xfrm>
            <a:off x="3330476" y="3325118"/>
            <a:ext cx="2758976" cy="539055"/>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30" name="Text 28"/>
          <p:cNvSpPr/>
          <p:nvPr/>
        </p:nvSpPr>
        <p:spPr>
          <a:xfrm>
            <a:off x="3454301" y="3448943"/>
            <a:ext cx="2561552"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059669"/>
                </a:solidFill>
                <a:latin typeface="Arial" pitchFamily="34" charset="0"/>
                <a:ea typeface="Arial" pitchFamily="34" charset="-122"/>
                <a:cs typeface="Arial" pitchFamily="34" charset="-120"/>
              </a:rPr>
              <a:t>4. EXAMPLES (2-3)</a:t>
            </a:r>
            <a:endParaRPr lang="en-US" sz="750" dirty="0"/>
          </a:p>
        </p:txBody>
      </p:sp>
      <p:sp>
        <p:nvSpPr>
          <p:cNvPr id="31" name="Text 29"/>
          <p:cNvSpPr/>
          <p:nvPr/>
        </p:nvSpPr>
        <p:spPr>
          <a:xfrm>
            <a:off x="3454301" y="3620393"/>
            <a:ext cx="2561552" cy="119955"/>
          </a:xfrm>
          <a:prstGeom prst="rect">
            <a:avLst/>
          </a:prstGeom>
          <a:noFill/>
          <a:ln/>
        </p:spPr>
        <p:txBody>
          <a:bodyPr wrap="square" lIns="0" tIns="0" rIns="0" bIns="0" rtlCol="0" anchor="t"/>
          <a:lstStyle/>
          <a:p>
            <a:pPr algn="l" indent="0" marL="0">
              <a:lnSpc>
                <a:spcPts val="945"/>
              </a:lnSpc>
              <a:buNone/>
            </a:pPr>
            <a:r>
              <a:rPr lang="en-US" sz="675" dirty="0">
                <a:solidFill>
                  <a:srgbClr val="6B7280"/>
                </a:solidFill>
                <a:latin typeface="Arial" pitchFamily="34" charset="0"/>
                <a:ea typeface="Arial" pitchFamily="34" charset="-122"/>
                <a:cs typeface="Arial" pitchFamily="34" charset="-120"/>
              </a:rPr>
              <a:t>Show input → output pairs. Dramatically improves accuracy.</a:t>
            </a:r>
            <a:endParaRPr lang="en-US" sz="675" dirty="0"/>
          </a:p>
        </p:txBody>
      </p:sp>
      <p:sp>
        <p:nvSpPr>
          <p:cNvPr id="32" name="Text 30"/>
          <p:cNvSpPr/>
          <p:nvPr/>
        </p:nvSpPr>
        <p:spPr>
          <a:xfrm>
            <a:off x="3330476" y="3959423"/>
            <a:ext cx="2758976" cy="759916"/>
          </a:xfrm>
          <a:prstGeom prst="rect">
            <a:avLst/>
          </a:prstGeom>
          <a:solidFill>
            <a:srgbClr val="DCFCE7"/>
          </a:solidFill>
          <a:ln/>
        </p:spPr>
        <p:txBody>
          <a:bodyPr wrap="square" rtlCol="0" anchor="ctr"/>
          <a:lstStyle/>
          <a:p>
            <a:pPr indent="0" marL="0">
              <a:buNone/>
            </a:pPr>
            <a:endParaRPr lang="en-US" dirty="0"/>
          </a:p>
        </p:txBody>
      </p:sp>
      <p:sp>
        <p:nvSpPr>
          <p:cNvPr id="33" name="Shape 31"/>
          <p:cNvSpPr/>
          <p:nvPr/>
        </p:nvSpPr>
        <p:spPr>
          <a:xfrm>
            <a:off x="3349526" y="3959423"/>
            <a:ext cx="0" cy="759916"/>
          </a:xfrm>
          <a:prstGeom prst="line">
            <a:avLst/>
          </a:prstGeom>
          <a:noFill/>
          <a:ln w="38100">
            <a:solidFill>
              <a:srgbClr val="059669"/>
            </a:solidFill>
            <a:prstDash val="solid"/>
          </a:ln>
        </p:spPr>
      </p:sp>
      <p:sp>
        <p:nvSpPr>
          <p:cNvPr id="34" name="Text 32"/>
          <p:cNvSpPr/>
          <p:nvPr/>
        </p:nvSpPr>
        <p:spPr>
          <a:xfrm>
            <a:off x="3482876" y="4073723"/>
            <a:ext cx="2542121"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166534"/>
                </a:solidFill>
                <a:latin typeface="Arial" pitchFamily="34" charset="0"/>
                <a:ea typeface="Arial" pitchFamily="34" charset="-122"/>
                <a:cs typeface="Arial" pitchFamily="34" charset="-120"/>
              </a:rPr>
              <a:t>CONTEXT REFERENCES</a:t>
            </a:r>
            <a:endParaRPr lang="en-US" sz="750" dirty="0"/>
          </a:p>
        </p:txBody>
      </p:sp>
      <p:sp>
        <p:nvSpPr>
          <p:cNvPr id="35" name="Text 33"/>
          <p:cNvSpPr/>
          <p:nvPr/>
        </p:nvSpPr>
        <p:spPr>
          <a:xfrm>
            <a:off x="3482876" y="4245173"/>
            <a:ext cx="2542121" cy="359866"/>
          </a:xfrm>
          <a:prstGeom prst="rect">
            <a:avLst/>
          </a:prstGeom>
          <a:noFill/>
          <a:ln/>
        </p:spPr>
        <p:txBody>
          <a:bodyPr wrap="square" lIns="0" tIns="0" rIns="0" bIns="0" rtlCol="0" anchor="t"/>
          <a:lstStyle/>
          <a:p>
            <a:pPr algn="l" indent="0" marL="0">
              <a:lnSpc>
                <a:spcPts val="945"/>
              </a:lnSpc>
              <a:buNone/>
            </a:pPr>
            <a:r>
              <a:rPr lang="en-US" sz="675" dirty="0">
                <a:solidFill>
                  <a:srgbClr val="166534"/>
                </a:solidFill>
                <a:latin typeface="Arial" pitchFamily="34" charset="0"/>
                <a:ea typeface="Arial" pitchFamily="34" charset="-122"/>
                <a:cs typeface="Arial" pitchFamily="34" charset="-120"/>
              </a:rPr>
              <a:t>Use "User Message" for dictated text,</a:t>
            </a:r>
            <a:endParaRPr lang="en-US" sz="675" dirty="0"/>
          </a:p>
          <a:p>
            <a:pPr algn="l" indent="0" marL="0">
              <a:lnSpc>
                <a:spcPts val="945"/>
              </a:lnSpc>
              <a:buNone/>
            </a:pPr>
            <a:r>
              <a:rPr lang="en-US" sz="675" dirty="0">
                <a:solidFill>
                  <a:srgbClr val="166534"/>
                </a:solidFill>
                <a:latin typeface="Arial" pitchFamily="34" charset="0"/>
                <a:ea typeface="Arial" pitchFamily="34" charset="-122"/>
                <a:cs typeface="Arial" pitchFamily="34" charset="-120"/>
              </a:rPr>
              <a:t>"Application Context" for current app,</a:t>
            </a:r>
            <a:endParaRPr lang="en-US" sz="675" dirty="0"/>
          </a:p>
          <a:p>
            <a:pPr algn="l" indent="0" marL="0">
              <a:lnSpc>
                <a:spcPts val="945"/>
              </a:lnSpc>
              <a:buNone/>
            </a:pPr>
            <a:r>
              <a:rPr lang="en-US" sz="675" dirty="0">
                <a:solidFill>
                  <a:srgbClr val="166534"/>
                </a:solidFill>
                <a:latin typeface="Arial" pitchFamily="34" charset="0"/>
                <a:ea typeface="Arial" pitchFamily="34" charset="-122"/>
                <a:cs typeface="Arial" pitchFamily="34" charset="-120"/>
              </a:rPr>
              <a:t>"Clipboard Context" for copied text</a:t>
            </a:r>
            <a:endParaRPr lang="en-US" sz="675" dirty="0"/>
          </a:p>
        </p:txBody>
      </p:sp>
      <p:sp>
        <p:nvSpPr>
          <p:cNvPr id="36" name="Text 34"/>
          <p:cNvSpPr/>
          <p:nvPr/>
        </p:nvSpPr>
        <p:spPr>
          <a:xfrm>
            <a:off x="6279952" y="1290638"/>
            <a:ext cx="2532709" cy="159990"/>
          </a:xfrm>
          <a:prstGeom prst="rect">
            <a:avLst/>
          </a:prstGeom>
          <a:noFill/>
          <a:ln/>
        </p:spPr>
        <p:txBody>
          <a:bodyPr wrap="square" lIns="0" tIns="0" rIns="0" bIns="0" rtlCol="0" anchor="t"/>
          <a:lstStyle/>
          <a:p>
            <a:pPr algn="l" indent="0" marL="0">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BEST PRACTICES</a:t>
            </a:r>
            <a:endParaRPr lang="en-US" sz="900" dirty="0"/>
          </a:p>
        </p:txBody>
      </p:sp>
      <p:sp>
        <p:nvSpPr>
          <p:cNvPr id="37" name="Text 35"/>
          <p:cNvSpPr/>
          <p:nvPr/>
        </p:nvSpPr>
        <p:spPr>
          <a:xfrm>
            <a:off x="6279952" y="1583978"/>
            <a:ext cx="2483048" cy="1062038"/>
          </a:xfrm>
          <a:prstGeom prst="rect">
            <a:avLst/>
          </a:prstGeom>
          <a:solidFill>
            <a:srgbClr val="1A1F2E"/>
          </a:solidFill>
          <a:ln/>
        </p:spPr>
        <p:txBody>
          <a:bodyPr wrap="square" rtlCol="0" anchor="ctr"/>
          <a:lstStyle/>
          <a:p>
            <a:pPr indent="0" marL="0">
              <a:buNone/>
            </a:pPr>
            <a:endParaRPr lang="en-US" dirty="0"/>
          </a:p>
        </p:txBody>
      </p:sp>
      <p:sp>
        <p:nvSpPr>
          <p:cNvPr id="38" name="Text 36"/>
          <p:cNvSpPr/>
          <p:nvPr/>
        </p:nvSpPr>
        <p:spPr>
          <a:xfrm>
            <a:off x="6394252" y="1698278"/>
            <a:ext cx="2299537"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C9A227"/>
                </a:solidFill>
                <a:latin typeface="Arial" pitchFamily="34" charset="0"/>
                <a:ea typeface="Arial" pitchFamily="34" charset="-122"/>
                <a:cs typeface="Arial" pitchFamily="34" charset="-120"/>
              </a:rPr>
              <a:t>DO</a:t>
            </a:r>
            <a:endParaRPr lang="en-US" sz="750" dirty="0"/>
          </a:p>
        </p:txBody>
      </p:sp>
      <p:sp>
        <p:nvSpPr>
          <p:cNvPr id="39" name="Text 37"/>
          <p:cNvSpPr/>
          <p:nvPr/>
        </p:nvSpPr>
        <p:spPr>
          <a:xfrm>
            <a:off x="6394252" y="1888778"/>
            <a:ext cx="2299537" cy="642938"/>
          </a:xfrm>
          <a:prstGeom prst="rect">
            <a:avLst/>
          </a:prstGeom>
          <a:noFill/>
          <a:ln/>
        </p:spPr>
        <p:txBody>
          <a:bodyPr wrap="square" lIns="0" tIns="0" rIns="0" bIns="0" rtlCol="0" anchor="t"/>
          <a:lstStyle/>
          <a:p>
            <a:pPr algn="l" indent="0" marL="0">
              <a:lnSpc>
                <a:spcPts val="1013"/>
              </a:lnSpc>
              <a:buNone/>
            </a:pPr>
            <a:r>
              <a:rPr lang="en-US" sz="675" dirty="0">
                <a:solidFill>
                  <a:srgbClr val="FFFFFF">
                    <a:alpha val="70000"/>
                  </a:srgbClr>
                </a:solidFill>
                <a:latin typeface="Arial" pitchFamily="34" charset="0"/>
                <a:ea typeface="Arial" pitchFamily="34" charset="-122"/>
                <a:cs typeface="Arial" pitchFamily="34" charset="-120"/>
              </a:rPr>
              <a:t>✓ Be explicit and specific</a:t>
            </a:r>
            <a:endParaRPr lang="en-US" sz="675" dirty="0"/>
          </a:p>
          <a:p>
            <a:pPr algn="l" indent="0" marL="0">
              <a:lnSpc>
                <a:spcPts val="1013"/>
              </a:lnSpc>
              <a:buNone/>
            </a:pPr>
            <a:r>
              <a:rPr lang="en-US" sz="675" dirty="0">
                <a:solidFill>
                  <a:srgbClr val="FFFFFF">
                    <a:alpha val="70000"/>
                  </a:srgbClr>
                </a:solidFill>
                <a:latin typeface="Arial" pitchFamily="34" charset="0"/>
                <a:ea typeface="Arial" pitchFamily="34" charset="-122"/>
                <a:cs typeface="Arial" pitchFamily="34" charset="-120"/>
              </a:rPr>
              <a:t> ✓ Include 2-3 examples</a:t>
            </a:r>
            <a:endParaRPr lang="en-US" sz="675" dirty="0"/>
          </a:p>
          <a:p>
            <a:pPr algn="l" indent="0" marL="0">
              <a:lnSpc>
                <a:spcPts val="1013"/>
              </a:lnSpc>
              <a:buNone/>
            </a:pPr>
            <a:r>
              <a:rPr lang="en-US" sz="675" dirty="0">
                <a:solidFill>
                  <a:srgbClr val="FFFFFF">
                    <a:alpha val="70000"/>
                  </a:srgbClr>
                </a:solidFill>
                <a:latin typeface="Arial" pitchFamily="34" charset="0"/>
                <a:ea typeface="Arial" pitchFamily="34" charset="-122"/>
                <a:cs typeface="Arial" pitchFamily="34" charset="-120"/>
              </a:rPr>
              <a:t> ✓ Use modular sections</a:t>
            </a:r>
            <a:endParaRPr lang="en-US" sz="675" dirty="0"/>
          </a:p>
          <a:p>
            <a:pPr algn="l" indent="0" marL="0">
              <a:lnSpc>
                <a:spcPts val="1013"/>
              </a:lnSpc>
              <a:buNone/>
            </a:pPr>
            <a:r>
              <a:rPr lang="en-US" sz="675" dirty="0">
                <a:solidFill>
                  <a:srgbClr val="FFFFFF">
                    <a:alpha val="70000"/>
                  </a:srgbClr>
                </a:solidFill>
                <a:latin typeface="Arial" pitchFamily="34" charset="0"/>
                <a:ea typeface="Arial" pitchFamily="34" charset="-122"/>
                <a:cs typeface="Arial" pitchFamily="34" charset="-120"/>
              </a:rPr>
              <a:t> ✓ Test with your voice</a:t>
            </a:r>
            <a:endParaRPr lang="en-US" sz="675" dirty="0"/>
          </a:p>
          <a:p>
            <a:pPr algn="l" indent="0" marL="0">
              <a:lnSpc>
                <a:spcPts val="1013"/>
              </a:lnSpc>
              <a:buNone/>
            </a:pPr>
            <a:r>
              <a:rPr lang="en-US" sz="675" dirty="0">
                <a:solidFill>
                  <a:srgbClr val="FFFFFF">
                    <a:alpha val="70000"/>
                  </a:srgbClr>
                </a:solidFill>
                <a:latin typeface="Arial" pitchFamily="34" charset="0"/>
                <a:ea typeface="Arial" pitchFamily="34" charset="-122"/>
                <a:cs typeface="Arial" pitchFamily="34" charset="-120"/>
              </a:rPr>
              <a:t> ✓ Iterate and refine</a:t>
            </a:r>
            <a:endParaRPr lang="en-US" sz="675" dirty="0"/>
          </a:p>
        </p:txBody>
      </p:sp>
      <p:sp>
        <p:nvSpPr>
          <p:cNvPr id="40" name="Text 38"/>
          <p:cNvSpPr/>
          <p:nvPr/>
        </p:nvSpPr>
        <p:spPr>
          <a:xfrm>
            <a:off x="6279952" y="2741265"/>
            <a:ext cx="2483048" cy="1062038"/>
          </a:xfrm>
          <a:prstGeom prst="rect">
            <a:avLst/>
          </a:prstGeom>
          <a:solidFill>
            <a:srgbClr val="FEF2F2"/>
          </a:solidFill>
          <a:ln/>
        </p:spPr>
        <p:txBody>
          <a:bodyPr wrap="square" rtlCol="0" anchor="ctr"/>
          <a:lstStyle/>
          <a:p>
            <a:pPr indent="0" marL="0">
              <a:buNone/>
            </a:pPr>
            <a:endParaRPr lang="en-US" dirty="0"/>
          </a:p>
        </p:txBody>
      </p:sp>
      <p:sp>
        <p:nvSpPr>
          <p:cNvPr id="41" name="Shape 39"/>
          <p:cNvSpPr/>
          <p:nvPr/>
        </p:nvSpPr>
        <p:spPr>
          <a:xfrm>
            <a:off x="6299002" y="2741265"/>
            <a:ext cx="0" cy="1062038"/>
          </a:xfrm>
          <a:prstGeom prst="line">
            <a:avLst/>
          </a:prstGeom>
          <a:noFill/>
          <a:ln w="38100">
            <a:solidFill>
              <a:srgbClr val="DC2626"/>
            </a:solidFill>
            <a:prstDash val="solid"/>
          </a:ln>
        </p:spPr>
      </p:sp>
      <p:sp>
        <p:nvSpPr>
          <p:cNvPr id="42" name="Text 40"/>
          <p:cNvSpPr/>
          <p:nvPr/>
        </p:nvSpPr>
        <p:spPr>
          <a:xfrm>
            <a:off x="6432352" y="2855565"/>
            <a:ext cx="2260675"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991B1B"/>
                </a:solidFill>
                <a:latin typeface="Arial" pitchFamily="34" charset="0"/>
                <a:ea typeface="Arial" pitchFamily="34" charset="-122"/>
                <a:cs typeface="Arial" pitchFamily="34" charset="-120"/>
              </a:rPr>
              <a:t>AVOID</a:t>
            </a:r>
            <a:endParaRPr lang="en-US" sz="750" dirty="0"/>
          </a:p>
        </p:txBody>
      </p:sp>
      <p:sp>
        <p:nvSpPr>
          <p:cNvPr id="43" name="Text 41"/>
          <p:cNvSpPr/>
          <p:nvPr/>
        </p:nvSpPr>
        <p:spPr>
          <a:xfrm>
            <a:off x="6432352" y="3046065"/>
            <a:ext cx="2260675" cy="642938"/>
          </a:xfrm>
          <a:prstGeom prst="rect">
            <a:avLst/>
          </a:prstGeom>
          <a:noFill/>
          <a:ln/>
        </p:spPr>
        <p:txBody>
          <a:bodyPr wrap="square" lIns="0" tIns="0" rIns="0" bIns="0" rtlCol="0" anchor="t"/>
          <a:lstStyle/>
          <a:p>
            <a:pPr algn="l" indent="0" marL="0">
              <a:lnSpc>
                <a:spcPts val="1013"/>
              </a:lnSpc>
              <a:buNone/>
            </a:pPr>
            <a:r>
              <a:rPr lang="en-US" sz="675" dirty="0">
                <a:solidFill>
                  <a:srgbClr val="991B1B"/>
                </a:solidFill>
                <a:latin typeface="Arial" pitchFamily="34" charset="0"/>
                <a:ea typeface="Arial" pitchFamily="34" charset="-122"/>
                <a:cs typeface="Arial" pitchFamily="34" charset="-120"/>
              </a:rPr>
              <a:t>✗ Vague instructions</a:t>
            </a:r>
            <a:endParaRPr lang="en-US" sz="675" dirty="0"/>
          </a:p>
          <a:p>
            <a:pPr algn="l" indent="0" marL="0">
              <a:lnSpc>
                <a:spcPts val="1013"/>
              </a:lnSpc>
              <a:buNone/>
            </a:pPr>
            <a:r>
              <a:rPr lang="en-US" sz="675" dirty="0">
                <a:solidFill>
                  <a:srgbClr val="991B1B"/>
                </a:solidFill>
                <a:latin typeface="Arial" pitchFamily="34" charset="0"/>
                <a:ea typeface="Arial" pitchFamily="34" charset="-122"/>
                <a:cs typeface="Arial" pitchFamily="34" charset="-120"/>
              </a:rPr>
              <a:t> ✗ Conflicting directives</a:t>
            </a:r>
            <a:endParaRPr lang="en-US" sz="675" dirty="0"/>
          </a:p>
          <a:p>
            <a:pPr algn="l" indent="0" marL="0">
              <a:lnSpc>
                <a:spcPts val="1013"/>
              </a:lnSpc>
              <a:buNone/>
            </a:pPr>
            <a:r>
              <a:rPr lang="en-US" sz="675" dirty="0">
                <a:solidFill>
                  <a:srgbClr val="991B1B"/>
                </a:solidFill>
                <a:latin typeface="Arial" pitchFamily="34" charset="0"/>
                <a:ea typeface="Arial" pitchFamily="34" charset="-122"/>
                <a:cs typeface="Arial" pitchFamily="34" charset="-120"/>
              </a:rPr>
              <a:t> ✗ Too many requirements</a:t>
            </a:r>
            <a:endParaRPr lang="en-US" sz="675" dirty="0"/>
          </a:p>
          <a:p>
            <a:pPr algn="l" indent="0" marL="0">
              <a:lnSpc>
                <a:spcPts val="1013"/>
              </a:lnSpc>
              <a:buNone/>
            </a:pPr>
            <a:r>
              <a:rPr lang="en-US" sz="675" dirty="0">
                <a:solidFill>
                  <a:srgbClr val="991B1B"/>
                </a:solidFill>
                <a:latin typeface="Arial" pitchFamily="34" charset="0"/>
                <a:ea typeface="Arial" pitchFamily="34" charset="-122"/>
                <a:cs typeface="Arial" pitchFamily="34" charset="-120"/>
              </a:rPr>
              <a:t> ✗ No examples</a:t>
            </a:r>
            <a:endParaRPr lang="en-US" sz="675" dirty="0"/>
          </a:p>
          <a:p>
            <a:pPr algn="l" indent="0" marL="0">
              <a:lnSpc>
                <a:spcPts val="1013"/>
              </a:lnSpc>
              <a:buNone/>
            </a:pPr>
            <a:r>
              <a:rPr lang="en-US" sz="675" dirty="0">
                <a:solidFill>
                  <a:srgbClr val="991B1B"/>
                </a:solidFill>
                <a:latin typeface="Arial" pitchFamily="34" charset="0"/>
                <a:ea typeface="Arial" pitchFamily="34" charset="-122"/>
                <a:cs typeface="Arial" pitchFamily="34" charset="-120"/>
              </a:rPr>
              <a:t> ✗ Untested prompts</a:t>
            </a:r>
            <a:endParaRPr lang="en-US" sz="675" dirty="0"/>
          </a:p>
        </p:txBody>
      </p:sp>
      <p:sp>
        <p:nvSpPr>
          <p:cNvPr id="44" name="Text 42"/>
          <p:cNvSpPr/>
          <p:nvPr/>
        </p:nvSpPr>
        <p:spPr>
          <a:xfrm>
            <a:off x="6279952" y="3898553"/>
            <a:ext cx="2483048" cy="659011"/>
          </a:xfrm>
          <a:prstGeom prst="rect">
            <a:avLst/>
          </a:prstGeom>
          <a:solidFill>
            <a:srgbClr val="FFFFFF"/>
          </a:solidFill>
          <a:ln w="9525">
            <a:solidFill>
              <a:srgbClr val="C9A227"/>
            </a:solidFill>
          </a:ln>
        </p:spPr>
        <p:txBody>
          <a:bodyPr wrap="square" rtlCol="0" anchor="ctr"/>
          <a:lstStyle/>
          <a:p>
            <a:pPr indent="0" marL="0">
              <a:buNone/>
            </a:pPr>
            <a:endParaRPr lang="en-US" dirty="0"/>
          </a:p>
        </p:txBody>
      </p:sp>
      <p:sp>
        <p:nvSpPr>
          <p:cNvPr id="45" name="Text 43"/>
          <p:cNvSpPr/>
          <p:nvPr/>
        </p:nvSpPr>
        <p:spPr>
          <a:xfrm>
            <a:off x="6403777" y="4022378"/>
            <a:ext cx="2280106"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1A1F2E"/>
                </a:solidFill>
                <a:latin typeface="Arial" pitchFamily="34" charset="0"/>
                <a:ea typeface="Arial" pitchFamily="34" charset="-122"/>
                <a:cs typeface="Arial" pitchFamily="34" charset="-120"/>
              </a:rPr>
              <a:t>TELL AI IT'S DICTATED</a:t>
            </a:r>
            <a:endParaRPr lang="en-US" sz="750" dirty="0"/>
          </a:p>
        </p:txBody>
      </p:sp>
      <p:sp>
        <p:nvSpPr>
          <p:cNvPr id="46" name="Text 44"/>
          <p:cNvSpPr/>
          <p:nvPr/>
        </p:nvSpPr>
        <p:spPr>
          <a:xfrm>
            <a:off x="6403777" y="4193828"/>
            <a:ext cx="2280106" cy="239911"/>
          </a:xfrm>
          <a:prstGeom prst="rect">
            <a:avLst/>
          </a:prstGeom>
          <a:noFill/>
          <a:ln/>
        </p:spPr>
        <p:txBody>
          <a:bodyPr wrap="square" lIns="0" tIns="0" rIns="0" bIns="0" rtlCol="0" anchor="t"/>
          <a:lstStyle/>
          <a:p>
            <a:pPr algn="l" indent="0" marL="0">
              <a:lnSpc>
                <a:spcPts val="945"/>
              </a:lnSpc>
              <a:buNone/>
            </a:pPr>
            <a:r>
              <a:rPr lang="en-US" sz="675" dirty="0">
                <a:solidFill>
                  <a:srgbClr val="6B7280"/>
                </a:solidFill>
                <a:latin typeface="Arial" pitchFamily="34" charset="0"/>
                <a:ea typeface="Arial" pitchFamily="34" charset="-122"/>
                <a:cs typeface="Arial" pitchFamily="34" charset="-120"/>
              </a:rPr>
              <a:t>"The User Message contains dictated speech. Please format..."</a:t>
            </a:r>
            <a:endParaRPr lang="en-US" sz="675"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381000" y="228600"/>
            <a:ext cx="8549640" cy="133350"/>
          </a:xfrm>
          <a:prstGeom prst="rect">
            <a:avLst/>
          </a:prstGeom>
          <a:noFill/>
          <a:ln/>
        </p:spPr>
        <p:txBody>
          <a:bodyPr wrap="square" lIns="0" tIns="0" rIns="0" bIns="0" rtlCol="0" anchor="t"/>
          <a:lstStyle/>
          <a:p>
            <a:pPr algn="l" indent="0" marL="0">
              <a:lnSpc>
                <a:spcPts val="1050"/>
              </a:lnSpc>
              <a:spcAft>
                <a:spcPts val="450"/>
              </a:spcAft>
              <a:buNone/>
            </a:pPr>
            <a:r>
              <a:rPr lang="en-US" sz="750" dirty="0">
                <a:solidFill>
                  <a:srgbClr val="C9A227"/>
                </a:solidFill>
                <a:latin typeface="Arial" pitchFamily="34" charset="0"/>
                <a:ea typeface="Arial" pitchFamily="34" charset="-122"/>
                <a:cs typeface="Arial" pitchFamily="34" charset="-120"/>
              </a:rPr>
              <a:t>ADVANCED FEATURES</a:t>
            </a:r>
            <a:endParaRPr lang="en-US" sz="750" dirty="0"/>
          </a:p>
        </p:txBody>
      </p:sp>
      <p:sp>
        <p:nvSpPr>
          <p:cNvPr id="3" name="Text 1"/>
          <p:cNvSpPr/>
          <p:nvPr/>
        </p:nvSpPr>
        <p:spPr>
          <a:xfrm>
            <a:off x="381000" y="419100"/>
            <a:ext cx="4284536" cy="247650"/>
          </a:xfrm>
          <a:prstGeom prst="rect">
            <a:avLst/>
          </a:prstGeom>
          <a:noFill/>
          <a:ln/>
        </p:spPr>
        <p:txBody>
          <a:bodyPr wrap="square" lIns="0" tIns="0" rIns="0" bIns="0" rtlCol="0" anchor="t"/>
          <a:lstStyle/>
          <a:p>
            <a:pPr algn="l" indent="0" marL="0">
              <a:lnSpc>
                <a:spcPts val="1950"/>
              </a:lnSpc>
              <a:buNone/>
            </a:pPr>
            <a:r>
              <a:rPr lang="en-US" sz="1950" dirty="0">
                <a:solidFill>
                  <a:srgbClr val="1A1F2E"/>
                </a:solidFill>
                <a:latin typeface="Georgia" pitchFamily="34" charset="0"/>
                <a:ea typeface="Georgia" pitchFamily="34" charset="-122"/>
                <a:cs typeface="Georgia" pitchFamily="34" charset="-120"/>
              </a:rPr>
              <a:t>Context Awareness &amp; Mode Switching</a:t>
            </a:r>
            <a:endParaRPr lang="en-US" sz="1950" dirty="0"/>
          </a:p>
        </p:txBody>
      </p:sp>
      <p:sp>
        <p:nvSpPr>
          <p:cNvPr id="4" name="Text 2"/>
          <p:cNvSpPr/>
          <p:nvPr/>
        </p:nvSpPr>
        <p:spPr>
          <a:xfrm>
            <a:off x="381000" y="1355675"/>
            <a:ext cx="2840873" cy="159990"/>
          </a:xfrm>
          <a:prstGeom prst="rect">
            <a:avLst/>
          </a:prstGeom>
          <a:noFill/>
          <a:ln/>
        </p:spPr>
        <p:txBody>
          <a:bodyPr wrap="square" lIns="0" tIns="0" rIns="0" bIns="0" rtlCol="0" anchor="t"/>
          <a:lstStyle/>
          <a:p>
            <a:pPr algn="l" indent="0" marL="0">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THREE CONTEXT TYPES</a:t>
            </a:r>
            <a:endParaRPr lang="en-US" sz="900" dirty="0"/>
          </a:p>
        </p:txBody>
      </p:sp>
      <p:sp>
        <p:nvSpPr>
          <p:cNvPr id="5" name="Text 3"/>
          <p:cNvSpPr/>
          <p:nvPr/>
        </p:nvSpPr>
        <p:spPr>
          <a:xfrm>
            <a:off x="381000" y="1629966"/>
            <a:ext cx="2785170" cy="664666"/>
          </a:xfrm>
          <a:prstGeom prst="rect">
            <a:avLst/>
          </a:prstGeom>
          <a:solidFill>
            <a:srgbClr val="FFFFFF"/>
          </a:solidFill>
          <a:ln/>
        </p:spPr>
        <p:txBody>
          <a:bodyPr wrap="square" rtlCol="0" anchor="ctr"/>
          <a:lstStyle/>
          <a:p>
            <a:pPr indent="0" marL="0">
              <a:buNone/>
            </a:pPr>
            <a:endParaRPr lang="en-US" dirty="0"/>
          </a:p>
        </p:txBody>
      </p:sp>
      <p:sp>
        <p:nvSpPr>
          <p:cNvPr id="6" name="Shape 4"/>
          <p:cNvSpPr/>
          <p:nvPr/>
        </p:nvSpPr>
        <p:spPr>
          <a:xfrm>
            <a:off x="400050" y="1629966"/>
            <a:ext cx="0" cy="664666"/>
          </a:xfrm>
          <a:prstGeom prst="line">
            <a:avLst/>
          </a:prstGeom>
          <a:noFill/>
          <a:ln w="38100">
            <a:solidFill>
              <a:srgbClr val="059669"/>
            </a:solidFill>
            <a:prstDash val="solid"/>
          </a:ln>
        </p:spPr>
      </p:sp>
      <p:sp>
        <p:nvSpPr>
          <p:cNvPr id="7" name="Text 5"/>
          <p:cNvSpPr/>
          <p:nvPr/>
        </p:nvSpPr>
        <p:spPr>
          <a:xfrm>
            <a:off x="533400" y="1744266"/>
            <a:ext cx="2568839"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059669"/>
                </a:solidFill>
                <a:latin typeface="Arial" pitchFamily="34" charset="0"/>
                <a:ea typeface="Arial" pitchFamily="34" charset="-122"/>
                <a:cs typeface="Arial" pitchFamily="34" charset="-120"/>
              </a:rPr>
              <a:t>APPLICATION CONTEXT</a:t>
            </a:r>
            <a:endParaRPr lang="en-US" sz="750" dirty="0"/>
          </a:p>
        </p:txBody>
      </p:sp>
      <p:sp>
        <p:nvSpPr>
          <p:cNvPr id="8" name="Text 6"/>
          <p:cNvSpPr/>
          <p:nvPr/>
        </p:nvSpPr>
        <p:spPr>
          <a:xfrm>
            <a:off x="533400" y="1915716"/>
            <a:ext cx="2568839" cy="119955"/>
          </a:xfrm>
          <a:prstGeom prst="rect">
            <a:avLst/>
          </a:prstGeom>
          <a:noFill/>
          <a:ln/>
        </p:spPr>
        <p:txBody>
          <a:bodyPr wrap="square" lIns="0" tIns="0" rIns="0" bIns="0" rtlCol="0" anchor="t"/>
          <a:lstStyle/>
          <a:p>
            <a:pPr algn="l" indent="0" marL="0">
              <a:lnSpc>
                <a:spcPts val="945"/>
              </a:lnSpc>
              <a:spcAft>
                <a:spcPts val="300"/>
              </a:spcAft>
              <a:buNone/>
            </a:pPr>
            <a:r>
              <a:rPr lang="en-US" sz="675" dirty="0">
                <a:solidFill>
                  <a:srgbClr val="6B7280"/>
                </a:solidFill>
                <a:latin typeface="Arial" pitchFamily="34" charset="0"/>
                <a:ea typeface="Arial" pitchFamily="34" charset="-122"/>
                <a:cs typeface="Arial" pitchFamily="34" charset="-120"/>
              </a:rPr>
              <a:t>Knows which app is active (VS Code, Teams, Chrome, etc.)</a:t>
            </a:r>
            <a:endParaRPr lang="en-US" sz="675" dirty="0"/>
          </a:p>
        </p:txBody>
      </p:sp>
      <p:sp>
        <p:nvSpPr>
          <p:cNvPr id="9" name="Text 7"/>
          <p:cNvSpPr/>
          <p:nvPr/>
        </p:nvSpPr>
        <p:spPr>
          <a:xfrm>
            <a:off x="533400" y="2073771"/>
            <a:ext cx="2568839" cy="106561"/>
          </a:xfrm>
          <a:prstGeom prst="rect">
            <a:avLst/>
          </a:prstGeom>
          <a:noFill/>
          <a:ln/>
        </p:spPr>
        <p:txBody>
          <a:bodyPr wrap="square" lIns="0" tIns="0" rIns="0" bIns="0" rtlCol="0" anchor="t"/>
          <a:lstStyle/>
          <a:p>
            <a:pPr algn="l" indent="0" marL="0">
              <a:lnSpc>
                <a:spcPts val="840"/>
              </a:lnSpc>
              <a:buNone/>
            </a:pPr>
            <a:r>
              <a:rPr lang="en-US" sz="600" dirty="0">
                <a:solidFill>
                  <a:srgbClr val="9CA3AF"/>
                </a:solidFill>
                <a:latin typeface="Arial" pitchFamily="34" charset="0"/>
                <a:ea typeface="Arial" pitchFamily="34" charset="-122"/>
                <a:cs typeface="Arial" pitchFamily="34" charset="-120"/>
              </a:rPr>
              <a:t>Captured: After voice processing, before AI</a:t>
            </a:r>
            <a:endParaRPr lang="en-US" sz="600" dirty="0"/>
          </a:p>
        </p:txBody>
      </p:sp>
      <p:sp>
        <p:nvSpPr>
          <p:cNvPr id="10" name="Text 8"/>
          <p:cNvSpPr/>
          <p:nvPr/>
        </p:nvSpPr>
        <p:spPr>
          <a:xfrm>
            <a:off x="381000" y="2370832"/>
            <a:ext cx="2785170" cy="664666"/>
          </a:xfrm>
          <a:prstGeom prst="rect">
            <a:avLst/>
          </a:prstGeom>
          <a:solidFill>
            <a:srgbClr val="FFFFFF"/>
          </a:solidFill>
          <a:ln/>
        </p:spPr>
        <p:txBody>
          <a:bodyPr wrap="square" rtlCol="0" anchor="ctr"/>
          <a:lstStyle/>
          <a:p>
            <a:pPr indent="0" marL="0">
              <a:buNone/>
            </a:pPr>
            <a:endParaRPr lang="en-US" dirty="0"/>
          </a:p>
        </p:txBody>
      </p:sp>
      <p:sp>
        <p:nvSpPr>
          <p:cNvPr id="11" name="Shape 9"/>
          <p:cNvSpPr/>
          <p:nvPr/>
        </p:nvSpPr>
        <p:spPr>
          <a:xfrm>
            <a:off x="400050" y="2370832"/>
            <a:ext cx="0" cy="664666"/>
          </a:xfrm>
          <a:prstGeom prst="line">
            <a:avLst/>
          </a:prstGeom>
          <a:noFill/>
          <a:ln w="38100">
            <a:solidFill>
              <a:srgbClr val="3B82F6"/>
            </a:solidFill>
            <a:prstDash val="solid"/>
          </a:ln>
        </p:spPr>
      </p:sp>
      <p:sp>
        <p:nvSpPr>
          <p:cNvPr id="12" name="Text 10"/>
          <p:cNvSpPr/>
          <p:nvPr/>
        </p:nvSpPr>
        <p:spPr>
          <a:xfrm>
            <a:off x="533400" y="2485132"/>
            <a:ext cx="2568839"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3B82F6"/>
                </a:solidFill>
                <a:latin typeface="Arial" pitchFamily="34" charset="0"/>
                <a:ea typeface="Arial" pitchFamily="34" charset="-122"/>
                <a:cs typeface="Arial" pitchFamily="34" charset="-120"/>
              </a:rPr>
              <a:t>SELECTED TEXT CONTEXT</a:t>
            </a:r>
            <a:endParaRPr lang="en-US" sz="750" dirty="0"/>
          </a:p>
        </p:txBody>
      </p:sp>
      <p:sp>
        <p:nvSpPr>
          <p:cNvPr id="13" name="Text 11"/>
          <p:cNvSpPr/>
          <p:nvPr/>
        </p:nvSpPr>
        <p:spPr>
          <a:xfrm>
            <a:off x="533400" y="2656582"/>
            <a:ext cx="2568839" cy="119955"/>
          </a:xfrm>
          <a:prstGeom prst="rect">
            <a:avLst/>
          </a:prstGeom>
          <a:noFill/>
          <a:ln/>
        </p:spPr>
        <p:txBody>
          <a:bodyPr wrap="square" lIns="0" tIns="0" rIns="0" bIns="0" rtlCol="0" anchor="t"/>
          <a:lstStyle/>
          <a:p>
            <a:pPr algn="l" indent="0" marL="0">
              <a:lnSpc>
                <a:spcPts val="945"/>
              </a:lnSpc>
              <a:spcAft>
                <a:spcPts val="300"/>
              </a:spcAft>
              <a:buNone/>
            </a:pPr>
            <a:r>
              <a:rPr lang="en-US" sz="675" dirty="0">
                <a:solidFill>
                  <a:srgbClr val="6B7280"/>
                </a:solidFill>
                <a:latin typeface="Arial" pitchFamily="34" charset="0"/>
                <a:ea typeface="Arial" pitchFamily="34" charset="-122"/>
                <a:cs typeface="Arial" pitchFamily="34" charset="-120"/>
              </a:rPr>
              <a:t>Passes highlighted text to AI for reference or transformation</a:t>
            </a:r>
            <a:endParaRPr lang="en-US" sz="675" dirty="0"/>
          </a:p>
        </p:txBody>
      </p:sp>
      <p:sp>
        <p:nvSpPr>
          <p:cNvPr id="14" name="Text 12"/>
          <p:cNvSpPr/>
          <p:nvPr/>
        </p:nvSpPr>
        <p:spPr>
          <a:xfrm>
            <a:off x="533400" y="2814638"/>
            <a:ext cx="2568839" cy="106561"/>
          </a:xfrm>
          <a:prstGeom prst="rect">
            <a:avLst/>
          </a:prstGeom>
          <a:noFill/>
          <a:ln/>
        </p:spPr>
        <p:txBody>
          <a:bodyPr wrap="square" lIns="0" tIns="0" rIns="0" bIns="0" rtlCol="0" anchor="t"/>
          <a:lstStyle/>
          <a:p>
            <a:pPr algn="l" indent="0" marL="0">
              <a:lnSpc>
                <a:spcPts val="840"/>
              </a:lnSpc>
              <a:buNone/>
            </a:pPr>
            <a:r>
              <a:rPr lang="en-US" sz="600" dirty="0">
                <a:solidFill>
                  <a:srgbClr val="9CA3AF"/>
                </a:solidFill>
                <a:latin typeface="Arial" pitchFamily="34" charset="0"/>
                <a:ea typeface="Arial" pitchFamily="34" charset="-122"/>
                <a:cs typeface="Arial" pitchFamily="34" charset="-120"/>
              </a:rPr>
              <a:t>Captured: Exactly when recording starts</a:t>
            </a:r>
            <a:endParaRPr lang="en-US" sz="600" dirty="0"/>
          </a:p>
        </p:txBody>
      </p:sp>
      <p:sp>
        <p:nvSpPr>
          <p:cNvPr id="15" name="Text 13"/>
          <p:cNvSpPr/>
          <p:nvPr/>
        </p:nvSpPr>
        <p:spPr>
          <a:xfrm>
            <a:off x="381000" y="3111698"/>
            <a:ext cx="2785170" cy="664666"/>
          </a:xfrm>
          <a:prstGeom prst="rect">
            <a:avLst/>
          </a:prstGeom>
          <a:solidFill>
            <a:srgbClr val="FFFFFF"/>
          </a:solidFill>
          <a:ln/>
        </p:spPr>
        <p:txBody>
          <a:bodyPr wrap="square" rtlCol="0" anchor="ctr"/>
          <a:lstStyle/>
          <a:p>
            <a:pPr indent="0" marL="0">
              <a:buNone/>
            </a:pPr>
            <a:endParaRPr lang="en-US" dirty="0"/>
          </a:p>
        </p:txBody>
      </p:sp>
      <p:sp>
        <p:nvSpPr>
          <p:cNvPr id="16" name="Shape 14"/>
          <p:cNvSpPr/>
          <p:nvPr/>
        </p:nvSpPr>
        <p:spPr>
          <a:xfrm>
            <a:off x="400050" y="3111698"/>
            <a:ext cx="0" cy="664666"/>
          </a:xfrm>
          <a:prstGeom prst="line">
            <a:avLst/>
          </a:prstGeom>
          <a:noFill/>
          <a:ln w="38100">
            <a:solidFill>
              <a:srgbClr val="8B5CF6"/>
            </a:solidFill>
            <a:prstDash val="solid"/>
          </a:ln>
        </p:spPr>
      </p:sp>
      <p:sp>
        <p:nvSpPr>
          <p:cNvPr id="17" name="Text 15"/>
          <p:cNvSpPr/>
          <p:nvPr/>
        </p:nvSpPr>
        <p:spPr>
          <a:xfrm>
            <a:off x="533400" y="3225998"/>
            <a:ext cx="2568839"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8B5CF6"/>
                </a:solidFill>
                <a:latin typeface="Arial" pitchFamily="34" charset="0"/>
                <a:ea typeface="Arial" pitchFamily="34" charset="-122"/>
                <a:cs typeface="Arial" pitchFamily="34" charset="-120"/>
              </a:rPr>
              <a:t>CLIPBOARD CONTEXT</a:t>
            </a:r>
            <a:endParaRPr lang="en-US" sz="750" dirty="0"/>
          </a:p>
        </p:txBody>
      </p:sp>
      <p:sp>
        <p:nvSpPr>
          <p:cNvPr id="18" name="Text 16"/>
          <p:cNvSpPr/>
          <p:nvPr/>
        </p:nvSpPr>
        <p:spPr>
          <a:xfrm>
            <a:off x="533400" y="3397448"/>
            <a:ext cx="2568839" cy="119955"/>
          </a:xfrm>
          <a:prstGeom prst="rect">
            <a:avLst/>
          </a:prstGeom>
          <a:noFill/>
          <a:ln/>
        </p:spPr>
        <p:txBody>
          <a:bodyPr wrap="square" lIns="0" tIns="0" rIns="0" bIns="0" rtlCol="0" anchor="t"/>
          <a:lstStyle/>
          <a:p>
            <a:pPr algn="l" indent="0" marL="0">
              <a:lnSpc>
                <a:spcPts val="945"/>
              </a:lnSpc>
              <a:spcAft>
                <a:spcPts val="300"/>
              </a:spcAft>
              <a:buNone/>
            </a:pPr>
            <a:r>
              <a:rPr lang="en-US" sz="675" dirty="0">
                <a:solidFill>
                  <a:srgbClr val="6B7280"/>
                </a:solidFill>
                <a:latin typeface="Arial" pitchFamily="34" charset="0"/>
                <a:ea typeface="Arial" pitchFamily="34" charset="-122"/>
                <a:cs typeface="Arial" pitchFamily="34" charset="-120"/>
              </a:rPr>
              <a:t>Uses recently copied content as reference material</a:t>
            </a:r>
            <a:endParaRPr lang="en-US" sz="675" dirty="0"/>
          </a:p>
        </p:txBody>
      </p:sp>
      <p:sp>
        <p:nvSpPr>
          <p:cNvPr id="19" name="Text 17"/>
          <p:cNvSpPr/>
          <p:nvPr/>
        </p:nvSpPr>
        <p:spPr>
          <a:xfrm>
            <a:off x="533400" y="3555504"/>
            <a:ext cx="2568839" cy="106561"/>
          </a:xfrm>
          <a:prstGeom prst="rect">
            <a:avLst/>
          </a:prstGeom>
          <a:noFill/>
          <a:ln/>
        </p:spPr>
        <p:txBody>
          <a:bodyPr wrap="square" lIns="0" tIns="0" rIns="0" bIns="0" rtlCol="0" anchor="t"/>
          <a:lstStyle/>
          <a:p>
            <a:pPr algn="l" indent="0" marL="0">
              <a:lnSpc>
                <a:spcPts val="840"/>
              </a:lnSpc>
              <a:buNone/>
            </a:pPr>
            <a:r>
              <a:rPr lang="en-US" sz="600" dirty="0">
                <a:solidFill>
                  <a:srgbClr val="9CA3AF"/>
                </a:solidFill>
                <a:latin typeface="Arial" pitchFamily="34" charset="0"/>
                <a:ea typeface="Arial" pitchFamily="34" charset="-122"/>
                <a:cs typeface="Arial" pitchFamily="34" charset="-120"/>
              </a:rPr>
              <a:t>Captured: 3 sec before OR during recording</a:t>
            </a:r>
            <a:endParaRPr lang="en-US" sz="600" dirty="0"/>
          </a:p>
        </p:txBody>
      </p:sp>
      <p:sp>
        <p:nvSpPr>
          <p:cNvPr id="20" name="Text 18"/>
          <p:cNvSpPr/>
          <p:nvPr/>
        </p:nvSpPr>
        <p:spPr>
          <a:xfrm>
            <a:off x="381000" y="3852565"/>
            <a:ext cx="2785170" cy="639961"/>
          </a:xfrm>
          <a:prstGeom prst="rect">
            <a:avLst/>
          </a:prstGeom>
          <a:solidFill>
            <a:srgbClr val="FEF3C7"/>
          </a:solidFill>
          <a:ln/>
        </p:spPr>
        <p:txBody>
          <a:bodyPr wrap="square" rtlCol="0" anchor="ctr"/>
          <a:lstStyle/>
          <a:p>
            <a:pPr indent="0" marL="0">
              <a:buNone/>
            </a:pPr>
            <a:endParaRPr lang="en-US" dirty="0"/>
          </a:p>
        </p:txBody>
      </p:sp>
      <p:sp>
        <p:nvSpPr>
          <p:cNvPr id="21" name="Shape 19"/>
          <p:cNvSpPr/>
          <p:nvPr/>
        </p:nvSpPr>
        <p:spPr>
          <a:xfrm>
            <a:off x="400050" y="3852565"/>
            <a:ext cx="0" cy="639961"/>
          </a:xfrm>
          <a:prstGeom prst="line">
            <a:avLst/>
          </a:prstGeom>
          <a:noFill/>
          <a:ln w="38100">
            <a:solidFill>
              <a:srgbClr val="F59E0B"/>
            </a:solidFill>
            <a:prstDash val="solid"/>
          </a:ln>
        </p:spPr>
      </p:sp>
      <p:sp>
        <p:nvSpPr>
          <p:cNvPr id="22" name="Text 20"/>
          <p:cNvSpPr/>
          <p:nvPr/>
        </p:nvSpPr>
        <p:spPr>
          <a:xfrm>
            <a:off x="533400" y="3966865"/>
            <a:ext cx="2568839"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92400E"/>
                </a:solidFill>
                <a:latin typeface="Arial" pitchFamily="34" charset="0"/>
                <a:ea typeface="Arial" pitchFamily="34" charset="-122"/>
                <a:cs typeface="Arial" pitchFamily="34" charset="-120"/>
              </a:rPr>
              <a:t>SUPER MODE NOTE</a:t>
            </a:r>
            <a:endParaRPr lang="en-US" sz="750" dirty="0"/>
          </a:p>
        </p:txBody>
      </p:sp>
      <p:sp>
        <p:nvSpPr>
          <p:cNvPr id="23" name="Text 21"/>
          <p:cNvSpPr/>
          <p:nvPr/>
        </p:nvSpPr>
        <p:spPr>
          <a:xfrm>
            <a:off x="533400" y="4138315"/>
            <a:ext cx="2568839" cy="239911"/>
          </a:xfrm>
          <a:prstGeom prst="rect">
            <a:avLst/>
          </a:prstGeom>
          <a:noFill/>
          <a:ln/>
        </p:spPr>
        <p:txBody>
          <a:bodyPr wrap="square" lIns="0" tIns="0" rIns="0" bIns="0" rtlCol="0" anchor="t"/>
          <a:lstStyle/>
          <a:p>
            <a:pPr algn="l" indent="0" marL="0">
              <a:lnSpc>
                <a:spcPts val="945"/>
              </a:lnSpc>
              <a:buNone/>
            </a:pPr>
            <a:r>
              <a:rPr lang="en-US" sz="675" dirty="0">
                <a:solidFill>
                  <a:srgbClr val="92400E"/>
                </a:solidFill>
                <a:latin typeface="Arial" pitchFamily="34" charset="0"/>
                <a:ea typeface="Arial" pitchFamily="34" charset="-122"/>
                <a:cs typeface="Arial" pitchFamily="34" charset="-120"/>
              </a:rPr>
              <a:t>Super Mode enables ALL three by default. Custom modes let you choose which to enable.</a:t>
            </a:r>
            <a:endParaRPr lang="en-US" sz="675" dirty="0"/>
          </a:p>
        </p:txBody>
      </p:sp>
      <p:sp>
        <p:nvSpPr>
          <p:cNvPr id="24" name="Text 22"/>
          <p:cNvSpPr/>
          <p:nvPr/>
        </p:nvSpPr>
        <p:spPr>
          <a:xfrm>
            <a:off x="3318570" y="1392734"/>
            <a:ext cx="2840873" cy="159990"/>
          </a:xfrm>
          <a:prstGeom prst="rect">
            <a:avLst/>
          </a:prstGeom>
          <a:noFill/>
          <a:ln/>
        </p:spPr>
        <p:txBody>
          <a:bodyPr wrap="square" lIns="0" tIns="0" rIns="0" bIns="0" rtlCol="0" anchor="t"/>
          <a:lstStyle/>
          <a:p>
            <a:pPr algn="l" indent="0" marL="0">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FOUR WAYS TO SWITCH MODES</a:t>
            </a:r>
            <a:endParaRPr lang="en-US" sz="900" dirty="0"/>
          </a:p>
        </p:txBody>
      </p:sp>
      <p:sp>
        <p:nvSpPr>
          <p:cNvPr id="25" name="Text 23"/>
          <p:cNvSpPr/>
          <p:nvPr/>
        </p:nvSpPr>
        <p:spPr>
          <a:xfrm>
            <a:off x="3318570" y="1667024"/>
            <a:ext cx="2785170" cy="639961"/>
          </a:xfrm>
          <a:prstGeom prst="rect">
            <a:avLst/>
          </a:prstGeom>
          <a:solidFill>
            <a:srgbClr val="1A1F2E"/>
          </a:solidFill>
          <a:ln/>
        </p:spPr>
        <p:txBody>
          <a:bodyPr wrap="square" rtlCol="0" anchor="ctr"/>
          <a:lstStyle/>
          <a:p>
            <a:pPr indent="0" marL="0">
              <a:buNone/>
            </a:pPr>
            <a:endParaRPr lang="en-US" dirty="0"/>
          </a:p>
        </p:txBody>
      </p:sp>
      <p:sp>
        <p:nvSpPr>
          <p:cNvPr id="26" name="Text 24"/>
          <p:cNvSpPr/>
          <p:nvPr/>
        </p:nvSpPr>
        <p:spPr>
          <a:xfrm>
            <a:off x="3432870" y="1781324"/>
            <a:ext cx="2607701"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C9A227"/>
                </a:solidFill>
                <a:latin typeface="Arial" pitchFamily="34" charset="0"/>
                <a:ea typeface="Arial" pitchFamily="34" charset="-122"/>
                <a:cs typeface="Arial" pitchFamily="34" charset="-120"/>
              </a:rPr>
              <a:t>1. KEYBOARD SHORTCUTS</a:t>
            </a:r>
            <a:endParaRPr lang="en-US" sz="750" dirty="0"/>
          </a:p>
        </p:txBody>
      </p:sp>
      <p:sp>
        <p:nvSpPr>
          <p:cNvPr id="27" name="Text 25"/>
          <p:cNvSpPr/>
          <p:nvPr/>
        </p:nvSpPr>
        <p:spPr>
          <a:xfrm>
            <a:off x="3432870" y="1952774"/>
            <a:ext cx="2607701" cy="239911"/>
          </a:xfrm>
          <a:prstGeom prst="rect">
            <a:avLst/>
          </a:prstGeom>
          <a:noFill/>
          <a:ln/>
        </p:spPr>
        <p:txBody>
          <a:bodyPr wrap="square" lIns="0" tIns="0" rIns="0" bIns="0" rtlCol="0" anchor="t"/>
          <a:lstStyle/>
          <a:p>
            <a:pPr algn="l" indent="0" marL="0">
              <a:lnSpc>
                <a:spcPts val="945"/>
              </a:lnSpc>
              <a:buNone/>
            </a:pPr>
            <a:r>
              <a:rPr lang="en-US" sz="675" dirty="0">
                <a:solidFill>
                  <a:srgbClr val="FFFFFF">
                    <a:alpha val="70000"/>
                  </a:srgbClr>
                </a:solidFill>
                <a:latin typeface="Arial" pitchFamily="34" charset="0"/>
                <a:ea typeface="Arial" pitchFamily="34" charset="-122"/>
                <a:cs typeface="Arial" pitchFamily="34" charset="-120"/>
              </a:rPr>
              <a:t>Assign unique shortcuts per mode</a:t>
            </a:r>
            <a:endParaRPr lang="en-US" sz="675" dirty="0"/>
          </a:p>
          <a:p>
            <a:pPr algn="l" indent="0" marL="0">
              <a:lnSpc>
                <a:spcPts val="945"/>
              </a:lnSpc>
              <a:buNone/>
            </a:pPr>
            <a:r>
              <a:rPr lang="en-US" sz="675" dirty="0">
                <a:solidFill>
                  <a:srgbClr val="FFFFFF">
                    <a:alpha val="70000"/>
                  </a:srgbClr>
                </a:solidFill>
                <a:latin typeface="Arial" pitchFamily="34" charset="0"/>
                <a:ea typeface="Arial" pitchFamily="34" charset="-122"/>
                <a:cs typeface="Arial" pitchFamily="34" charset="-120"/>
              </a:rPr>
              <a:t>Configure in Settings → Keyboard</a:t>
            </a:r>
            <a:endParaRPr lang="en-US" sz="675" dirty="0"/>
          </a:p>
        </p:txBody>
      </p:sp>
      <p:sp>
        <p:nvSpPr>
          <p:cNvPr id="28" name="Text 26"/>
          <p:cNvSpPr/>
          <p:nvPr/>
        </p:nvSpPr>
        <p:spPr>
          <a:xfrm>
            <a:off x="3318570" y="2383185"/>
            <a:ext cx="2785170" cy="639961"/>
          </a:xfrm>
          <a:prstGeom prst="rect">
            <a:avLst/>
          </a:prstGeom>
          <a:solidFill>
            <a:srgbClr val="1A1F2E"/>
          </a:solidFill>
          <a:ln/>
        </p:spPr>
        <p:txBody>
          <a:bodyPr wrap="square" rtlCol="0" anchor="ctr"/>
          <a:lstStyle/>
          <a:p>
            <a:pPr indent="0" marL="0">
              <a:buNone/>
            </a:pPr>
            <a:endParaRPr lang="en-US" dirty="0"/>
          </a:p>
        </p:txBody>
      </p:sp>
      <p:sp>
        <p:nvSpPr>
          <p:cNvPr id="29" name="Text 27"/>
          <p:cNvSpPr/>
          <p:nvPr/>
        </p:nvSpPr>
        <p:spPr>
          <a:xfrm>
            <a:off x="3432870" y="2497485"/>
            <a:ext cx="2607701"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C9A227"/>
                </a:solidFill>
                <a:latin typeface="Arial" pitchFamily="34" charset="0"/>
                <a:ea typeface="Arial" pitchFamily="34" charset="-122"/>
                <a:cs typeface="Arial" pitchFamily="34" charset="-120"/>
              </a:rPr>
              <a:t>2. MENU BAR / SYSTEM TRAY</a:t>
            </a:r>
            <a:endParaRPr lang="en-US" sz="750" dirty="0"/>
          </a:p>
        </p:txBody>
      </p:sp>
      <p:sp>
        <p:nvSpPr>
          <p:cNvPr id="30" name="Text 28"/>
          <p:cNvSpPr/>
          <p:nvPr/>
        </p:nvSpPr>
        <p:spPr>
          <a:xfrm>
            <a:off x="3432870" y="2668935"/>
            <a:ext cx="2607701" cy="239911"/>
          </a:xfrm>
          <a:prstGeom prst="rect">
            <a:avLst/>
          </a:prstGeom>
          <a:noFill/>
          <a:ln/>
        </p:spPr>
        <p:txBody>
          <a:bodyPr wrap="square" lIns="0" tIns="0" rIns="0" bIns="0" rtlCol="0" anchor="t"/>
          <a:lstStyle/>
          <a:p>
            <a:pPr algn="l" indent="0" marL="0">
              <a:lnSpc>
                <a:spcPts val="945"/>
              </a:lnSpc>
              <a:buNone/>
            </a:pPr>
            <a:r>
              <a:rPr lang="en-US" sz="675" dirty="0">
                <a:solidFill>
                  <a:srgbClr val="FFFFFF">
                    <a:alpha val="70000"/>
                  </a:srgbClr>
                </a:solidFill>
                <a:latin typeface="Arial" pitchFamily="34" charset="0"/>
                <a:ea typeface="Arial" pitchFamily="34" charset="-122"/>
                <a:cs typeface="Arial" pitchFamily="34" charset="-120"/>
              </a:rPr>
              <a:t>Click SuperWhisper icon → Select mode</a:t>
            </a:r>
            <a:endParaRPr lang="en-US" sz="675" dirty="0"/>
          </a:p>
          <a:p>
            <a:pPr algn="l" indent="0" marL="0">
              <a:lnSpc>
                <a:spcPts val="945"/>
              </a:lnSpc>
              <a:buNone/>
            </a:pPr>
            <a:r>
              <a:rPr lang="en-US" sz="675" dirty="0">
                <a:solidFill>
                  <a:srgbClr val="FFFFFF">
                    <a:alpha val="70000"/>
                  </a:srgbClr>
                </a:solidFill>
                <a:latin typeface="Arial" pitchFamily="34" charset="0"/>
                <a:ea typeface="Arial" pitchFamily="34" charset="-122"/>
                <a:cs typeface="Arial" pitchFamily="34" charset="-120"/>
              </a:rPr>
              <a:t>Visual indicator shows current mode</a:t>
            </a:r>
            <a:endParaRPr lang="en-US" sz="675" dirty="0"/>
          </a:p>
        </p:txBody>
      </p:sp>
      <p:sp>
        <p:nvSpPr>
          <p:cNvPr id="31" name="Text 29"/>
          <p:cNvSpPr/>
          <p:nvPr/>
        </p:nvSpPr>
        <p:spPr>
          <a:xfrm>
            <a:off x="3318570" y="3099346"/>
            <a:ext cx="2785170" cy="639961"/>
          </a:xfrm>
          <a:prstGeom prst="rect">
            <a:avLst/>
          </a:prstGeom>
          <a:solidFill>
            <a:srgbClr val="1A1F2E"/>
          </a:solidFill>
          <a:ln/>
        </p:spPr>
        <p:txBody>
          <a:bodyPr wrap="square" rtlCol="0" anchor="ctr"/>
          <a:lstStyle/>
          <a:p>
            <a:pPr indent="0" marL="0">
              <a:buNone/>
            </a:pPr>
            <a:endParaRPr lang="en-US" dirty="0"/>
          </a:p>
        </p:txBody>
      </p:sp>
      <p:sp>
        <p:nvSpPr>
          <p:cNvPr id="32" name="Text 30"/>
          <p:cNvSpPr/>
          <p:nvPr/>
        </p:nvSpPr>
        <p:spPr>
          <a:xfrm>
            <a:off x="3432870" y="3213646"/>
            <a:ext cx="2607701"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C9A227"/>
                </a:solidFill>
                <a:latin typeface="Arial" pitchFamily="34" charset="0"/>
                <a:ea typeface="Arial" pitchFamily="34" charset="-122"/>
                <a:cs typeface="Arial" pitchFamily="34" charset="-120"/>
              </a:rPr>
              <a:t>3. AUTO-ACTIVATION RULES</a:t>
            </a:r>
            <a:endParaRPr lang="en-US" sz="750" dirty="0"/>
          </a:p>
        </p:txBody>
      </p:sp>
      <p:sp>
        <p:nvSpPr>
          <p:cNvPr id="33" name="Text 31"/>
          <p:cNvSpPr/>
          <p:nvPr/>
        </p:nvSpPr>
        <p:spPr>
          <a:xfrm>
            <a:off x="3432870" y="3385096"/>
            <a:ext cx="2607701" cy="239911"/>
          </a:xfrm>
          <a:prstGeom prst="rect">
            <a:avLst/>
          </a:prstGeom>
          <a:noFill/>
          <a:ln/>
        </p:spPr>
        <p:txBody>
          <a:bodyPr wrap="square" lIns="0" tIns="0" rIns="0" bIns="0" rtlCol="0" anchor="t"/>
          <a:lstStyle/>
          <a:p>
            <a:pPr algn="l" indent="0" marL="0">
              <a:lnSpc>
                <a:spcPts val="945"/>
              </a:lnSpc>
              <a:buNone/>
            </a:pPr>
            <a:r>
              <a:rPr lang="en-US" sz="675" dirty="0">
                <a:solidFill>
                  <a:srgbClr val="FFFFFF">
                    <a:alpha val="70000"/>
                  </a:srgbClr>
                </a:solidFill>
                <a:latin typeface="Arial" pitchFamily="34" charset="0"/>
                <a:ea typeface="Arial" pitchFamily="34" charset="-122"/>
                <a:cs typeface="Arial" pitchFamily="34" charset="-120"/>
              </a:rPr>
              <a:t>Auto-switch when specific apps are active</a:t>
            </a:r>
            <a:endParaRPr lang="en-US" sz="675" dirty="0"/>
          </a:p>
          <a:p>
            <a:pPr algn="l" indent="0" marL="0">
              <a:lnSpc>
                <a:spcPts val="945"/>
              </a:lnSpc>
              <a:buNone/>
            </a:pPr>
            <a:r>
              <a:rPr lang="en-US" sz="675" dirty="0">
                <a:solidFill>
                  <a:srgbClr val="FFFFFF">
                    <a:alpha val="70000"/>
                  </a:srgbClr>
                </a:solidFill>
                <a:latin typeface="Arial" pitchFamily="34" charset="0"/>
                <a:ea typeface="Arial" pitchFamily="34" charset="-122"/>
                <a:cs typeface="Arial" pitchFamily="34" charset="-120"/>
              </a:rPr>
              <a:t>e.g., VS Code → Coding Mode</a:t>
            </a:r>
            <a:endParaRPr lang="en-US" sz="675" dirty="0"/>
          </a:p>
        </p:txBody>
      </p:sp>
      <p:sp>
        <p:nvSpPr>
          <p:cNvPr id="34" name="Text 32"/>
          <p:cNvSpPr/>
          <p:nvPr/>
        </p:nvSpPr>
        <p:spPr>
          <a:xfrm>
            <a:off x="3318570" y="3815507"/>
            <a:ext cx="2785170" cy="639961"/>
          </a:xfrm>
          <a:prstGeom prst="rect">
            <a:avLst/>
          </a:prstGeom>
          <a:solidFill>
            <a:srgbClr val="1A1F2E"/>
          </a:solidFill>
          <a:ln/>
        </p:spPr>
        <p:txBody>
          <a:bodyPr wrap="square" rtlCol="0" anchor="ctr"/>
          <a:lstStyle/>
          <a:p>
            <a:pPr indent="0" marL="0">
              <a:buNone/>
            </a:pPr>
            <a:endParaRPr lang="en-US" dirty="0"/>
          </a:p>
        </p:txBody>
      </p:sp>
      <p:sp>
        <p:nvSpPr>
          <p:cNvPr id="35" name="Text 33"/>
          <p:cNvSpPr/>
          <p:nvPr/>
        </p:nvSpPr>
        <p:spPr>
          <a:xfrm>
            <a:off x="3432870" y="3929807"/>
            <a:ext cx="2607701"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C9A227"/>
                </a:solidFill>
                <a:latin typeface="Arial" pitchFamily="34" charset="0"/>
                <a:ea typeface="Arial" pitchFamily="34" charset="-122"/>
                <a:cs typeface="Arial" pitchFamily="34" charset="-120"/>
              </a:rPr>
              <a:t>4. DEEP LINKS</a:t>
            </a:r>
            <a:endParaRPr lang="en-US" sz="750" dirty="0"/>
          </a:p>
        </p:txBody>
      </p:sp>
      <p:sp>
        <p:nvSpPr>
          <p:cNvPr id="36" name="Text 34"/>
          <p:cNvSpPr/>
          <p:nvPr/>
        </p:nvSpPr>
        <p:spPr>
          <a:xfrm>
            <a:off x="3432870" y="4101257"/>
            <a:ext cx="2607701" cy="239911"/>
          </a:xfrm>
          <a:prstGeom prst="rect">
            <a:avLst/>
          </a:prstGeom>
          <a:noFill/>
          <a:ln/>
        </p:spPr>
        <p:txBody>
          <a:bodyPr wrap="square" lIns="0" tIns="0" rIns="0" bIns="0" rtlCol="0" anchor="t"/>
          <a:lstStyle/>
          <a:p>
            <a:pPr algn="l" indent="0" marL="0">
              <a:lnSpc>
                <a:spcPts val="945"/>
              </a:lnSpc>
              <a:buNone/>
            </a:pPr>
            <a:r>
              <a:rPr lang="en-US" sz="675" dirty="0">
                <a:solidFill>
                  <a:srgbClr val="FFFFFF">
                    <a:alpha val="70000"/>
                  </a:srgbClr>
                </a:solidFill>
                <a:latin typeface="Arial" pitchFamily="34" charset="0"/>
                <a:ea typeface="Arial" pitchFamily="34" charset="-122"/>
                <a:cs typeface="Arial" pitchFamily="34" charset="-120"/>
              </a:rPr>
              <a:t>superwhisper://mode/[name]</a:t>
            </a:r>
            <a:endParaRPr lang="en-US" sz="675" dirty="0"/>
          </a:p>
          <a:p>
            <a:pPr algn="l" indent="0" marL="0">
              <a:lnSpc>
                <a:spcPts val="945"/>
              </a:lnSpc>
              <a:buNone/>
            </a:pPr>
            <a:r>
              <a:rPr lang="en-US" sz="675" dirty="0">
                <a:solidFill>
                  <a:srgbClr val="FFFFFF">
                    <a:alpha val="70000"/>
                  </a:srgbClr>
                </a:solidFill>
                <a:latin typeface="Arial" pitchFamily="34" charset="0"/>
                <a:ea typeface="Arial" pitchFamily="34" charset="-122"/>
                <a:cs typeface="Arial" pitchFamily="34" charset="-120"/>
              </a:rPr>
              <a:t>Integrate with Alfred, Raycast, scripts</a:t>
            </a:r>
            <a:endParaRPr lang="en-US" sz="675" dirty="0"/>
          </a:p>
        </p:txBody>
      </p:sp>
      <p:sp>
        <p:nvSpPr>
          <p:cNvPr id="37" name="Text 35"/>
          <p:cNvSpPr/>
          <p:nvPr/>
        </p:nvSpPr>
        <p:spPr>
          <a:xfrm>
            <a:off x="6256139" y="1379637"/>
            <a:ext cx="2556846" cy="159990"/>
          </a:xfrm>
          <a:prstGeom prst="rect">
            <a:avLst/>
          </a:prstGeom>
          <a:noFill/>
          <a:ln/>
        </p:spPr>
        <p:txBody>
          <a:bodyPr wrap="square" lIns="0" tIns="0" rIns="0" bIns="0" rtlCol="0" anchor="t"/>
          <a:lstStyle/>
          <a:p>
            <a:pPr algn="l" indent="0" marL="0">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AUTO-ACTIVATION SETUP</a:t>
            </a:r>
            <a:endParaRPr lang="en-US" sz="900" dirty="0"/>
          </a:p>
        </p:txBody>
      </p:sp>
      <p:sp>
        <p:nvSpPr>
          <p:cNvPr id="38" name="Text 36"/>
          <p:cNvSpPr/>
          <p:nvPr/>
        </p:nvSpPr>
        <p:spPr>
          <a:xfrm>
            <a:off x="6256139" y="1653927"/>
            <a:ext cx="2506712" cy="1123504"/>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39" name="Text 37"/>
          <p:cNvSpPr/>
          <p:nvPr/>
        </p:nvSpPr>
        <p:spPr>
          <a:xfrm>
            <a:off x="6379964" y="1777752"/>
            <a:ext cx="2304243"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1A1F2E"/>
                </a:solidFill>
                <a:latin typeface="Arial" pitchFamily="34" charset="0"/>
                <a:ea typeface="Arial" pitchFamily="34" charset="-122"/>
                <a:cs typeface="Arial" pitchFamily="34" charset="-120"/>
              </a:rPr>
              <a:t>EXAMPLE RULES</a:t>
            </a:r>
            <a:endParaRPr lang="en-US" sz="750" dirty="0"/>
          </a:p>
        </p:txBody>
      </p:sp>
      <p:sp>
        <p:nvSpPr>
          <p:cNvPr id="40" name="Text 38"/>
          <p:cNvSpPr/>
          <p:nvPr/>
        </p:nvSpPr>
        <p:spPr>
          <a:xfrm>
            <a:off x="6379964" y="1968252"/>
            <a:ext cx="2304243" cy="685354"/>
          </a:xfrm>
          <a:prstGeom prst="rect">
            <a:avLst/>
          </a:prstGeom>
          <a:noFill/>
          <a:ln/>
        </p:spPr>
        <p:txBody>
          <a:bodyPr wrap="square" lIns="0" tIns="0" rIns="0" bIns="0" rtlCol="0" anchor="t"/>
          <a:lstStyle/>
          <a:p>
            <a:pPr algn="l" indent="0" marL="0">
              <a:lnSpc>
                <a:spcPts val="1080"/>
              </a:lnSpc>
              <a:buNone/>
            </a:pPr>
            <a:r>
              <a:rPr lang="en-US" sz="675" dirty="0">
                <a:solidFill>
                  <a:srgbClr val="6B7280"/>
                </a:solidFill>
                <a:latin typeface="Arial" pitchFamily="34" charset="0"/>
                <a:ea typeface="Arial" pitchFamily="34" charset="-122"/>
                <a:cs typeface="Arial" pitchFamily="34" charset="-120"/>
              </a:rPr>
              <a:t>VS Code → "Coding Mode"</a:t>
            </a:r>
            <a:endParaRPr lang="en-US" sz="675" dirty="0"/>
          </a:p>
          <a:p>
            <a:pPr algn="l" indent="0" marL="0">
              <a:lnSpc>
                <a:spcPts val="1080"/>
              </a:lnSpc>
              <a:buNone/>
            </a:pPr>
            <a:r>
              <a:rPr lang="en-US" sz="675" dirty="0">
                <a:solidFill>
                  <a:srgbClr val="6B7280"/>
                </a:solidFill>
                <a:latin typeface="Arial" pitchFamily="34" charset="0"/>
                <a:ea typeface="Arial" pitchFamily="34" charset="-122"/>
                <a:cs typeface="Arial" pitchFamily="34" charset="-120"/>
              </a:rPr>
              <a:t> Teams → "Chat Mode"</a:t>
            </a:r>
            <a:endParaRPr lang="en-US" sz="675" dirty="0"/>
          </a:p>
          <a:p>
            <a:pPr algn="l" indent="0" marL="0">
              <a:lnSpc>
                <a:spcPts val="1080"/>
              </a:lnSpc>
              <a:buNone/>
            </a:pPr>
            <a:r>
              <a:rPr lang="en-US" sz="675" dirty="0">
                <a:solidFill>
                  <a:srgbClr val="6B7280"/>
                </a:solidFill>
                <a:latin typeface="Arial" pitchFamily="34" charset="0"/>
                <a:ea typeface="Arial" pitchFamily="34" charset="-122"/>
                <a:cs typeface="Arial" pitchFamily="34" charset="-120"/>
              </a:rPr>
              <a:t> Outlook → "Email Mode"</a:t>
            </a:r>
            <a:endParaRPr lang="en-US" sz="675" dirty="0"/>
          </a:p>
          <a:p>
            <a:pPr algn="l" indent="0" marL="0">
              <a:lnSpc>
                <a:spcPts val="1080"/>
              </a:lnSpc>
              <a:buNone/>
            </a:pPr>
            <a:r>
              <a:rPr lang="en-US" sz="675" dirty="0">
                <a:solidFill>
                  <a:srgbClr val="6B7280"/>
                </a:solidFill>
                <a:latin typeface="Arial" pitchFamily="34" charset="0"/>
                <a:ea typeface="Arial" pitchFamily="34" charset="-122"/>
                <a:cs typeface="Arial" pitchFamily="34" charset="-120"/>
              </a:rPr>
              <a:t> Chrome → "Browse Mode"</a:t>
            </a:r>
            <a:endParaRPr lang="en-US" sz="675" dirty="0"/>
          </a:p>
          <a:p>
            <a:pPr algn="l" indent="0" marL="0">
              <a:lnSpc>
                <a:spcPts val="1080"/>
              </a:lnSpc>
              <a:buNone/>
            </a:pPr>
            <a:r>
              <a:rPr lang="en-US" sz="675" dirty="0">
                <a:solidFill>
                  <a:srgbClr val="6B7280"/>
                </a:solidFill>
                <a:latin typeface="Arial" pitchFamily="34" charset="0"/>
                <a:ea typeface="Arial" pitchFamily="34" charset="-122"/>
                <a:cs typeface="Arial" pitchFamily="34" charset="-120"/>
              </a:rPr>
              <a:t> Slack → "Slack Mode"</a:t>
            </a:r>
            <a:endParaRPr lang="en-US" sz="675" dirty="0"/>
          </a:p>
        </p:txBody>
      </p:sp>
      <p:sp>
        <p:nvSpPr>
          <p:cNvPr id="41" name="Text 39"/>
          <p:cNvSpPr/>
          <p:nvPr/>
        </p:nvSpPr>
        <p:spPr>
          <a:xfrm>
            <a:off x="6256139" y="2853630"/>
            <a:ext cx="2506712" cy="879872"/>
          </a:xfrm>
          <a:prstGeom prst="rect">
            <a:avLst/>
          </a:prstGeom>
          <a:solidFill>
            <a:srgbClr val="DCFCE7"/>
          </a:solidFill>
          <a:ln/>
        </p:spPr>
        <p:txBody>
          <a:bodyPr wrap="square" rtlCol="0" anchor="ctr"/>
          <a:lstStyle/>
          <a:p>
            <a:pPr indent="0" marL="0">
              <a:buNone/>
            </a:pPr>
            <a:endParaRPr lang="en-US" dirty="0"/>
          </a:p>
        </p:txBody>
      </p:sp>
      <p:sp>
        <p:nvSpPr>
          <p:cNvPr id="42" name="Shape 40"/>
          <p:cNvSpPr/>
          <p:nvPr/>
        </p:nvSpPr>
        <p:spPr>
          <a:xfrm>
            <a:off x="6275189" y="2853630"/>
            <a:ext cx="0" cy="879872"/>
          </a:xfrm>
          <a:prstGeom prst="line">
            <a:avLst/>
          </a:prstGeom>
          <a:noFill/>
          <a:ln w="38100">
            <a:solidFill>
              <a:srgbClr val="059669"/>
            </a:solidFill>
            <a:prstDash val="solid"/>
          </a:ln>
        </p:spPr>
      </p:sp>
      <p:sp>
        <p:nvSpPr>
          <p:cNvPr id="43" name="Text 41"/>
          <p:cNvSpPr/>
          <p:nvPr/>
        </p:nvSpPr>
        <p:spPr>
          <a:xfrm>
            <a:off x="6408539" y="2967930"/>
            <a:ext cx="2284812"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166534"/>
                </a:solidFill>
                <a:latin typeface="Arial" pitchFamily="34" charset="0"/>
                <a:ea typeface="Arial" pitchFamily="34" charset="-122"/>
                <a:cs typeface="Arial" pitchFamily="34" charset="-120"/>
              </a:rPr>
              <a:t>HOW TO SET UP</a:t>
            </a:r>
            <a:endParaRPr lang="en-US" sz="750" dirty="0"/>
          </a:p>
        </p:txBody>
      </p:sp>
      <p:sp>
        <p:nvSpPr>
          <p:cNvPr id="44" name="Text 42"/>
          <p:cNvSpPr/>
          <p:nvPr/>
        </p:nvSpPr>
        <p:spPr>
          <a:xfrm>
            <a:off x="6408539" y="3139380"/>
            <a:ext cx="2284812" cy="479822"/>
          </a:xfrm>
          <a:prstGeom prst="rect">
            <a:avLst/>
          </a:prstGeom>
          <a:noFill/>
          <a:ln/>
        </p:spPr>
        <p:txBody>
          <a:bodyPr wrap="square" lIns="0" tIns="0" rIns="0" bIns="0" rtlCol="0" anchor="t"/>
          <a:lstStyle/>
          <a:p>
            <a:pPr algn="l" indent="0" marL="0">
              <a:lnSpc>
                <a:spcPts val="945"/>
              </a:lnSpc>
              <a:buNone/>
            </a:pPr>
            <a:r>
              <a:rPr lang="en-US" sz="675" dirty="0">
                <a:solidFill>
                  <a:srgbClr val="166534"/>
                </a:solidFill>
                <a:latin typeface="Arial" pitchFamily="34" charset="0"/>
                <a:ea typeface="Arial" pitchFamily="34" charset="-122"/>
                <a:cs typeface="Arial" pitchFamily="34" charset="-120"/>
              </a:rPr>
              <a:t>1. Edit your custom mode</a:t>
            </a:r>
            <a:endParaRPr lang="en-US" sz="675" dirty="0"/>
          </a:p>
          <a:p>
            <a:pPr algn="l" indent="0" marL="0">
              <a:lnSpc>
                <a:spcPts val="945"/>
              </a:lnSpc>
              <a:buNone/>
            </a:pPr>
            <a:r>
              <a:rPr lang="en-US" sz="675" dirty="0">
                <a:solidFill>
                  <a:srgbClr val="166534"/>
                </a:solidFill>
                <a:latin typeface="Arial" pitchFamily="34" charset="0"/>
                <a:ea typeface="Arial" pitchFamily="34" charset="-122"/>
                <a:cs typeface="Arial" pitchFamily="34" charset="-120"/>
              </a:rPr>
              <a:t> 2. Go to Advanced Settings</a:t>
            </a:r>
            <a:endParaRPr lang="en-US" sz="675" dirty="0"/>
          </a:p>
          <a:p>
            <a:pPr algn="l" indent="0" marL="0">
              <a:lnSpc>
                <a:spcPts val="945"/>
              </a:lnSpc>
              <a:buNone/>
            </a:pPr>
            <a:r>
              <a:rPr lang="en-US" sz="675" dirty="0">
                <a:solidFill>
                  <a:srgbClr val="166534"/>
                </a:solidFill>
                <a:latin typeface="Arial" pitchFamily="34" charset="0"/>
                <a:ea typeface="Arial" pitchFamily="34" charset="-122"/>
                <a:cs typeface="Arial" pitchFamily="34" charset="-120"/>
              </a:rPr>
              <a:t> 3. Add Auto-Activation Rule</a:t>
            </a:r>
            <a:endParaRPr lang="en-US" sz="675" dirty="0"/>
          </a:p>
          <a:p>
            <a:pPr algn="l" indent="0" marL="0">
              <a:lnSpc>
                <a:spcPts val="945"/>
              </a:lnSpc>
              <a:buNone/>
            </a:pPr>
            <a:r>
              <a:rPr lang="en-US" sz="675" dirty="0">
                <a:solidFill>
                  <a:srgbClr val="166534"/>
                </a:solidFill>
                <a:latin typeface="Arial" pitchFamily="34" charset="0"/>
                <a:ea typeface="Arial" pitchFamily="34" charset="-122"/>
                <a:cs typeface="Arial" pitchFamily="34" charset="-120"/>
              </a:rPr>
              <a:t> 4. Select app or enter URL pattern</a:t>
            </a:r>
            <a:endParaRPr lang="en-US" sz="675" dirty="0"/>
          </a:p>
        </p:txBody>
      </p:sp>
      <p:sp>
        <p:nvSpPr>
          <p:cNvPr id="45" name="Text 43"/>
          <p:cNvSpPr/>
          <p:nvPr/>
        </p:nvSpPr>
        <p:spPr>
          <a:xfrm>
            <a:off x="6256139" y="3809702"/>
            <a:ext cx="2506712" cy="659011"/>
          </a:xfrm>
          <a:prstGeom prst="rect">
            <a:avLst/>
          </a:prstGeom>
          <a:solidFill>
            <a:srgbClr val="FFFFFF"/>
          </a:solidFill>
          <a:ln w="9525">
            <a:solidFill>
              <a:srgbClr val="C9A227"/>
            </a:solidFill>
          </a:ln>
        </p:spPr>
        <p:txBody>
          <a:bodyPr wrap="square" rtlCol="0" anchor="ctr"/>
          <a:lstStyle/>
          <a:p>
            <a:pPr indent="0" marL="0">
              <a:buNone/>
            </a:pPr>
            <a:endParaRPr lang="en-US" dirty="0"/>
          </a:p>
        </p:txBody>
      </p:sp>
      <p:sp>
        <p:nvSpPr>
          <p:cNvPr id="46" name="Text 44"/>
          <p:cNvSpPr/>
          <p:nvPr/>
        </p:nvSpPr>
        <p:spPr>
          <a:xfrm>
            <a:off x="6379964" y="3933527"/>
            <a:ext cx="2304243"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1A1F2E"/>
                </a:solidFill>
                <a:latin typeface="Arial" pitchFamily="34" charset="0"/>
                <a:ea typeface="Arial" pitchFamily="34" charset="-122"/>
                <a:cs typeface="Arial" pitchFamily="34" charset="-120"/>
              </a:rPr>
              <a:t>POWER USER TIP</a:t>
            </a:r>
            <a:endParaRPr lang="en-US" sz="750" dirty="0"/>
          </a:p>
        </p:txBody>
      </p:sp>
      <p:sp>
        <p:nvSpPr>
          <p:cNvPr id="47" name="Text 45"/>
          <p:cNvSpPr/>
          <p:nvPr/>
        </p:nvSpPr>
        <p:spPr>
          <a:xfrm>
            <a:off x="6379964" y="4104977"/>
            <a:ext cx="2304243" cy="239911"/>
          </a:xfrm>
          <a:prstGeom prst="rect">
            <a:avLst/>
          </a:prstGeom>
          <a:noFill/>
          <a:ln/>
        </p:spPr>
        <p:txBody>
          <a:bodyPr wrap="square" lIns="0" tIns="0" rIns="0" bIns="0" rtlCol="0" anchor="t"/>
          <a:lstStyle/>
          <a:p>
            <a:pPr algn="l" indent="0" marL="0">
              <a:lnSpc>
                <a:spcPts val="945"/>
              </a:lnSpc>
              <a:buNone/>
            </a:pPr>
            <a:r>
              <a:rPr lang="en-US" sz="675" dirty="0">
                <a:solidFill>
                  <a:srgbClr val="6B7280"/>
                </a:solidFill>
                <a:latin typeface="Arial" pitchFamily="34" charset="0"/>
                <a:ea typeface="Arial" pitchFamily="34" charset="-122"/>
                <a:cs typeface="Arial" pitchFamily="34" charset="-120"/>
              </a:rPr>
              <a:t>Combine auto-activation with context awareness for fully adaptive dictation workflows.</a:t>
            </a:r>
            <a:endParaRPr lang="en-US" sz="675"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4495800" cy="5143500"/>
          </a:xfrm>
          <a:prstGeom prst="rect">
            <a:avLst/>
          </a:prstGeom>
          <a:solidFill>
            <a:srgbClr val="F7F8FA"/>
          </a:solidFill>
          <a:ln/>
        </p:spPr>
        <p:txBody>
          <a:bodyPr wrap="square" rtlCol="0" anchor="ctr"/>
          <a:lstStyle/>
          <a:p>
            <a:pPr indent="0" marL="0">
              <a:buNone/>
            </a:pPr>
            <a:endParaRPr lang="en-US" dirty="0"/>
          </a:p>
        </p:txBody>
      </p:sp>
      <p:sp>
        <p:nvSpPr>
          <p:cNvPr id="3" name="Text 1"/>
          <p:cNvSpPr/>
          <p:nvPr/>
        </p:nvSpPr>
        <p:spPr>
          <a:xfrm>
            <a:off x="304800" y="240357"/>
            <a:ext cx="3963924" cy="133350"/>
          </a:xfrm>
          <a:prstGeom prst="rect">
            <a:avLst/>
          </a:prstGeom>
          <a:noFill/>
          <a:ln/>
        </p:spPr>
        <p:txBody>
          <a:bodyPr wrap="square" lIns="0" tIns="0" rIns="0" bIns="0" rtlCol="0" anchor="t"/>
          <a:lstStyle/>
          <a:p>
            <a:pPr algn="l" indent="0" marL="0">
              <a:lnSpc>
                <a:spcPts val="1050"/>
              </a:lnSpc>
              <a:spcAft>
                <a:spcPts val="600"/>
              </a:spcAft>
              <a:buNone/>
            </a:pPr>
            <a:r>
              <a:rPr lang="en-US" sz="750" dirty="0">
                <a:solidFill>
                  <a:srgbClr val="C9A227"/>
                </a:solidFill>
                <a:latin typeface="Arial" pitchFamily="34" charset="0"/>
                <a:ea typeface="Arial" pitchFamily="34" charset="-122"/>
                <a:cs typeface="Arial" pitchFamily="34" charset="-120"/>
              </a:rPr>
              <a:t>RECOGNITION SETTINGS</a:t>
            </a:r>
            <a:endParaRPr lang="en-US" sz="750" dirty="0"/>
          </a:p>
        </p:txBody>
      </p:sp>
      <p:sp>
        <p:nvSpPr>
          <p:cNvPr id="4" name="Text 2"/>
          <p:cNvSpPr/>
          <p:nvPr/>
        </p:nvSpPr>
        <p:spPr>
          <a:xfrm>
            <a:off x="304800" y="602307"/>
            <a:ext cx="2895219" cy="228600"/>
          </a:xfrm>
          <a:prstGeom prst="rect">
            <a:avLst/>
          </a:prstGeom>
          <a:noFill/>
          <a:ln/>
        </p:spPr>
        <p:txBody>
          <a:bodyPr wrap="square" lIns="0" tIns="0" rIns="0" bIns="0" rtlCol="0" anchor="t"/>
          <a:lstStyle/>
          <a:p>
            <a:pPr algn="l" indent="0" marL="0">
              <a:lnSpc>
                <a:spcPts val="1800"/>
              </a:lnSpc>
              <a:spcAft>
                <a:spcPts val="1200"/>
              </a:spcAft>
              <a:buNone/>
            </a:pPr>
            <a:r>
              <a:rPr lang="en-US" sz="1800" dirty="0">
                <a:solidFill>
                  <a:srgbClr val="1A1F2E"/>
                </a:solidFill>
                <a:latin typeface="Georgia" pitchFamily="34" charset="0"/>
                <a:ea typeface="Georgia" pitchFamily="34" charset="-122"/>
                <a:cs typeface="Georgia" pitchFamily="34" charset="-120"/>
              </a:rPr>
              <a:t>Vocabulary &amp; Replacements</a:t>
            </a:r>
            <a:endParaRPr lang="en-US" sz="1800" dirty="0"/>
          </a:p>
        </p:txBody>
      </p:sp>
      <p:sp>
        <p:nvSpPr>
          <p:cNvPr id="5" name="Text 3"/>
          <p:cNvSpPr/>
          <p:nvPr/>
        </p:nvSpPr>
        <p:spPr>
          <a:xfrm>
            <a:off x="304800" y="1135707"/>
            <a:ext cx="3886200" cy="808583"/>
          </a:xfrm>
          <a:prstGeom prst="rect">
            <a:avLst/>
          </a:prstGeom>
          <a:solidFill>
            <a:srgbClr val="FFFFFF"/>
          </a:solidFill>
          <a:ln/>
        </p:spPr>
        <p:txBody>
          <a:bodyPr wrap="square" rtlCol="0" anchor="ctr"/>
          <a:lstStyle/>
          <a:p>
            <a:pPr indent="0" marL="0">
              <a:buNone/>
            </a:pPr>
            <a:endParaRPr lang="en-US" dirty="0"/>
          </a:p>
        </p:txBody>
      </p:sp>
      <p:sp>
        <p:nvSpPr>
          <p:cNvPr id="6" name="Shape 4"/>
          <p:cNvSpPr/>
          <p:nvPr/>
        </p:nvSpPr>
        <p:spPr>
          <a:xfrm>
            <a:off x="323850" y="1135707"/>
            <a:ext cx="0" cy="808583"/>
          </a:xfrm>
          <a:prstGeom prst="line">
            <a:avLst/>
          </a:prstGeom>
          <a:noFill/>
          <a:ln w="38100">
            <a:solidFill>
              <a:srgbClr val="059669"/>
            </a:solidFill>
            <a:prstDash val="solid"/>
          </a:ln>
        </p:spPr>
      </p:sp>
      <p:sp>
        <p:nvSpPr>
          <p:cNvPr id="7" name="Text 5"/>
          <p:cNvSpPr/>
          <p:nvPr/>
        </p:nvSpPr>
        <p:spPr>
          <a:xfrm>
            <a:off x="476250" y="1269057"/>
            <a:ext cx="3653028" cy="146596"/>
          </a:xfrm>
          <a:prstGeom prst="rect">
            <a:avLst/>
          </a:prstGeom>
          <a:noFill/>
          <a:ln/>
        </p:spPr>
        <p:txBody>
          <a:bodyPr wrap="square" lIns="0" tIns="0" rIns="0" bIns="0" rtlCol="0" anchor="t"/>
          <a:lstStyle/>
          <a:p>
            <a:pPr algn="l" indent="0" marL="0">
              <a:lnSpc>
                <a:spcPts val="1155"/>
              </a:lnSpc>
              <a:spcAft>
                <a:spcPts val="450"/>
              </a:spcAft>
              <a:buNone/>
            </a:pPr>
            <a:r>
              <a:rPr lang="en-US" sz="825" b="1" dirty="0">
                <a:solidFill>
                  <a:srgbClr val="059669"/>
                </a:solidFill>
                <a:latin typeface="Arial" pitchFamily="34" charset="0"/>
                <a:ea typeface="Arial" pitchFamily="34" charset="-122"/>
                <a:cs typeface="Arial" pitchFamily="34" charset="-120"/>
              </a:rPr>
              <a:t>VOCABULARY WORDS</a:t>
            </a:r>
            <a:endParaRPr lang="en-US" sz="825" dirty="0"/>
          </a:p>
        </p:txBody>
      </p:sp>
      <p:sp>
        <p:nvSpPr>
          <p:cNvPr id="8" name="Text 6"/>
          <p:cNvSpPr/>
          <p:nvPr/>
        </p:nvSpPr>
        <p:spPr>
          <a:xfrm>
            <a:off x="476250" y="1472803"/>
            <a:ext cx="3653028" cy="133350"/>
          </a:xfrm>
          <a:prstGeom prst="rect">
            <a:avLst/>
          </a:prstGeom>
          <a:noFill/>
          <a:ln/>
        </p:spPr>
        <p:txBody>
          <a:bodyPr wrap="square" lIns="0" tIns="0" rIns="0" bIns="0" rtlCol="0" anchor="t"/>
          <a:lstStyle/>
          <a:p>
            <a:pPr algn="l" indent="0" marL="0">
              <a:lnSpc>
                <a:spcPts val="1050"/>
              </a:lnSpc>
              <a:spcAft>
                <a:spcPts val="600"/>
              </a:spcAft>
              <a:buNone/>
            </a:pPr>
            <a:r>
              <a:rPr lang="en-US" sz="750" dirty="0">
                <a:solidFill>
                  <a:srgbClr val="6B7280"/>
                </a:solidFill>
                <a:latin typeface="Arial" pitchFamily="34" charset="0"/>
                <a:ea typeface="Arial" pitchFamily="34" charset="-122"/>
                <a:cs typeface="Arial" pitchFamily="34" charset="-120"/>
              </a:rPr>
              <a:t>Help AI recognize custom terms DURING transcription</a:t>
            </a:r>
            <a:endParaRPr lang="en-US" sz="750" dirty="0"/>
          </a:p>
        </p:txBody>
      </p:sp>
      <p:sp>
        <p:nvSpPr>
          <p:cNvPr id="9" name="Text 7"/>
          <p:cNvSpPr/>
          <p:nvPr/>
        </p:nvSpPr>
        <p:spPr>
          <a:xfrm>
            <a:off x="476250" y="1682353"/>
            <a:ext cx="3653028" cy="128588"/>
          </a:xfrm>
          <a:prstGeom prst="rect">
            <a:avLst/>
          </a:prstGeom>
          <a:noFill/>
          <a:ln/>
        </p:spPr>
        <p:txBody>
          <a:bodyPr wrap="square" lIns="0" tIns="0" rIns="0" bIns="0" rtlCol="0" anchor="t"/>
          <a:lstStyle/>
          <a:p>
            <a:pPr algn="l" indent="0" marL="0">
              <a:lnSpc>
                <a:spcPts val="1013"/>
              </a:lnSpc>
              <a:buNone/>
            </a:pPr>
            <a:r>
              <a:rPr lang="en-US" sz="675" b="1" dirty="0">
                <a:solidFill>
                  <a:srgbClr val="1A1F2E"/>
                </a:solidFill>
                <a:latin typeface="Arial" pitchFamily="34" charset="0"/>
                <a:ea typeface="Arial" pitchFamily="34" charset="-122"/>
                <a:cs typeface="Arial" pitchFamily="34" charset="-120"/>
              </a:rPr>
              <a:t>Use for:</a:t>
            </a:r>
            <a:pPr algn="l" indent="0" marL="0">
              <a:lnSpc>
                <a:spcPts val="1013"/>
              </a:lnSpc>
              <a:buNone/>
            </a:pPr>
            <a:r>
              <a:rPr lang="en-US" sz="675" dirty="0">
                <a:solidFill>
                  <a:srgbClr val="1A1F2E"/>
                </a:solidFill>
                <a:latin typeface="Arial" pitchFamily="34" charset="0"/>
                <a:ea typeface="Arial" pitchFamily="34" charset="-122"/>
                <a:cs typeface="Arial" pitchFamily="34" charset="-120"/>
              </a:rPr>
              <a:t> Acronyms, names, brand names, technical terms, non-English words</a:t>
            </a:r>
            <a:endParaRPr lang="en-US" sz="675" dirty="0"/>
          </a:p>
        </p:txBody>
      </p:sp>
      <p:sp>
        <p:nvSpPr>
          <p:cNvPr id="10" name="Text 8"/>
          <p:cNvSpPr/>
          <p:nvPr/>
        </p:nvSpPr>
        <p:spPr>
          <a:xfrm>
            <a:off x="304800" y="2210991"/>
            <a:ext cx="3886200" cy="808583"/>
          </a:xfrm>
          <a:prstGeom prst="rect">
            <a:avLst/>
          </a:prstGeom>
          <a:solidFill>
            <a:srgbClr val="FFFFFF"/>
          </a:solidFill>
          <a:ln/>
        </p:spPr>
        <p:txBody>
          <a:bodyPr wrap="square" rtlCol="0" anchor="ctr"/>
          <a:lstStyle/>
          <a:p>
            <a:pPr indent="0" marL="0">
              <a:buNone/>
            </a:pPr>
            <a:endParaRPr lang="en-US" dirty="0"/>
          </a:p>
        </p:txBody>
      </p:sp>
      <p:sp>
        <p:nvSpPr>
          <p:cNvPr id="11" name="Shape 9"/>
          <p:cNvSpPr/>
          <p:nvPr/>
        </p:nvSpPr>
        <p:spPr>
          <a:xfrm>
            <a:off x="323850" y="2210991"/>
            <a:ext cx="0" cy="808583"/>
          </a:xfrm>
          <a:prstGeom prst="line">
            <a:avLst/>
          </a:prstGeom>
          <a:noFill/>
          <a:ln w="38100">
            <a:solidFill>
              <a:srgbClr val="3B82F6"/>
            </a:solidFill>
            <a:prstDash val="solid"/>
          </a:ln>
        </p:spPr>
      </p:sp>
      <p:sp>
        <p:nvSpPr>
          <p:cNvPr id="12" name="Text 10"/>
          <p:cNvSpPr/>
          <p:nvPr/>
        </p:nvSpPr>
        <p:spPr>
          <a:xfrm>
            <a:off x="476250" y="2344341"/>
            <a:ext cx="3653028" cy="146596"/>
          </a:xfrm>
          <a:prstGeom prst="rect">
            <a:avLst/>
          </a:prstGeom>
          <a:noFill/>
          <a:ln/>
        </p:spPr>
        <p:txBody>
          <a:bodyPr wrap="square" lIns="0" tIns="0" rIns="0" bIns="0" rtlCol="0" anchor="t"/>
          <a:lstStyle/>
          <a:p>
            <a:pPr algn="l" indent="0" marL="0">
              <a:lnSpc>
                <a:spcPts val="1155"/>
              </a:lnSpc>
              <a:spcAft>
                <a:spcPts val="450"/>
              </a:spcAft>
              <a:buNone/>
            </a:pPr>
            <a:r>
              <a:rPr lang="en-US" sz="825" b="1" dirty="0">
                <a:solidFill>
                  <a:srgbClr val="3B82F6"/>
                </a:solidFill>
                <a:latin typeface="Arial" pitchFamily="34" charset="0"/>
                <a:ea typeface="Arial" pitchFamily="34" charset="-122"/>
                <a:cs typeface="Arial" pitchFamily="34" charset="-120"/>
              </a:rPr>
              <a:t>REPLACEMENTS</a:t>
            </a:r>
            <a:endParaRPr lang="en-US" sz="825" dirty="0"/>
          </a:p>
        </p:txBody>
      </p:sp>
      <p:sp>
        <p:nvSpPr>
          <p:cNvPr id="13" name="Text 11"/>
          <p:cNvSpPr/>
          <p:nvPr/>
        </p:nvSpPr>
        <p:spPr>
          <a:xfrm>
            <a:off x="476250" y="2548086"/>
            <a:ext cx="3653028" cy="133350"/>
          </a:xfrm>
          <a:prstGeom prst="rect">
            <a:avLst/>
          </a:prstGeom>
          <a:noFill/>
          <a:ln/>
        </p:spPr>
        <p:txBody>
          <a:bodyPr wrap="square" lIns="0" tIns="0" rIns="0" bIns="0" rtlCol="0" anchor="t"/>
          <a:lstStyle/>
          <a:p>
            <a:pPr algn="l" indent="0" marL="0">
              <a:lnSpc>
                <a:spcPts val="1050"/>
              </a:lnSpc>
              <a:spcAft>
                <a:spcPts val="600"/>
              </a:spcAft>
              <a:buNone/>
            </a:pPr>
            <a:r>
              <a:rPr lang="en-US" sz="750" dirty="0">
                <a:solidFill>
                  <a:srgbClr val="6B7280"/>
                </a:solidFill>
                <a:latin typeface="Arial" pitchFamily="34" charset="0"/>
                <a:ea typeface="Arial" pitchFamily="34" charset="-122"/>
                <a:cs typeface="Arial" pitchFamily="34" charset="-120"/>
              </a:rPr>
              <a:t>Auto-correct text AFTER transcription (programmatic, not AI)</a:t>
            </a:r>
            <a:endParaRPr lang="en-US" sz="750" dirty="0"/>
          </a:p>
        </p:txBody>
      </p:sp>
      <p:sp>
        <p:nvSpPr>
          <p:cNvPr id="14" name="Text 12"/>
          <p:cNvSpPr/>
          <p:nvPr/>
        </p:nvSpPr>
        <p:spPr>
          <a:xfrm>
            <a:off x="476250" y="2757636"/>
            <a:ext cx="3653028" cy="128588"/>
          </a:xfrm>
          <a:prstGeom prst="rect">
            <a:avLst/>
          </a:prstGeom>
          <a:noFill/>
          <a:ln/>
        </p:spPr>
        <p:txBody>
          <a:bodyPr wrap="square" lIns="0" tIns="0" rIns="0" bIns="0" rtlCol="0" anchor="t"/>
          <a:lstStyle/>
          <a:p>
            <a:pPr algn="l" indent="0" marL="0">
              <a:lnSpc>
                <a:spcPts val="1013"/>
              </a:lnSpc>
              <a:buNone/>
            </a:pPr>
            <a:r>
              <a:rPr lang="en-US" sz="675" b="1" dirty="0">
                <a:solidFill>
                  <a:srgbClr val="1A1F2E"/>
                </a:solidFill>
                <a:latin typeface="Arial" pitchFamily="34" charset="0"/>
                <a:ea typeface="Arial" pitchFamily="34" charset="-122"/>
                <a:cs typeface="Arial" pitchFamily="34" charset="-120"/>
              </a:rPr>
              <a:t>Use for:</a:t>
            </a:r>
            <a:pPr algn="l" indent="0" marL="0">
              <a:lnSpc>
                <a:spcPts val="1013"/>
              </a:lnSpc>
              <a:buNone/>
            </a:pPr>
            <a:r>
              <a:rPr lang="en-US" sz="675" dirty="0">
                <a:solidFill>
                  <a:srgbClr val="1A1F2E"/>
                </a:solidFill>
                <a:latin typeface="Arial" pitchFamily="34" charset="0"/>
                <a:ea typeface="Arial" pitchFamily="34" charset="-122"/>
                <a:cs typeface="Arial" pitchFamily="34" charset="-120"/>
              </a:rPr>
              <a:t> Persistent errors, expanding abbreviations, formatting fixes</a:t>
            </a:r>
            <a:endParaRPr lang="en-US" sz="675" dirty="0"/>
          </a:p>
        </p:txBody>
      </p:sp>
      <p:sp>
        <p:nvSpPr>
          <p:cNvPr id="15" name="Text 13"/>
          <p:cNvSpPr/>
          <p:nvPr/>
        </p:nvSpPr>
        <p:spPr>
          <a:xfrm>
            <a:off x="304800" y="3286274"/>
            <a:ext cx="3886200" cy="830312"/>
          </a:xfrm>
          <a:prstGeom prst="rect">
            <a:avLst/>
          </a:prstGeom>
          <a:solidFill>
            <a:srgbClr val="1A1F2E"/>
          </a:solidFill>
          <a:ln/>
        </p:spPr>
        <p:txBody>
          <a:bodyPr wrap="square" rtlCol="0" anchor="ctr"/>
          <a:lstStyle/>
          <a:p>
            <a:pPr indent="0" marL="0">
              <a:buNone/>
            </a:pPr>
            <a:endParaRPr lang="en-US" dirty="0"/>
          </a:p>
        </p:txBody>
      </p:sp>
      <p:sp>
        <p:nvSpPr>
          <p:cNvPr id="16" name="Text 14"/>
          <p:cNvSpPr/>
          <p:nvPr/>
        </p:nvSpPr>
        <p:spPr>
          <a:xfrm>
            <a:off x="419100" y="3400574"/>
            <a:ext cx="3730752"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C9A227"/>
                </a:solidFill>
                <a:latin typeface="Arial" pitchFamily="34" charset="0"/>
                <a:ea typeface="Arial" pitchFamily="34" charset="-122"/>
                <a:cs typeface="Arial" pitchFamily="34" charset="-120"/>
              </a:rPr>
              <a:t>EXAMPLE REPLACEMENTS</a:t>
            </a:r>
            <a:endParaRPr lang="en-US" sz="750" dirty="0"/>
          </a:p>
        </p:txBody>
      </p:sp>
      <p:sp>
        <p:nvSpPr>
          <p:cNvPr id="17" name="Text 15"/>
          <p:cNvSpPr/>
          <p:nvPr/>
        </p:nvSpPr>
        <p:spPr>
          <a:xfrm>
            <a:off x="419100" y="3591074"/>
            <a:ext cx="3730752" cy="411212"/>
          </a:xfrm>
          <a:prstGeom prst="rect">
            <a:avLst/>
          </a:prstGeom>
          <a:noFill/>
          <a:ln/>
        </p:spPr>
        <p:txBody>
          <a:bodyPr wrap="square" lIns="0" tIns="0" rIns="0" bIns="0" rtlCol="0" anchor="t"/>
          <a:lstStyle/>
          <a:p>
            <a:pPr algn="l" indent="0" marL="0">
              <a:lnSpc>
                <a:spcPts val="1080"/>
              </a:lnSpc>
              <a:buNone/>
            </a:pPr>
            <a:r>
              <a:rPr lang="en-US" sz="675" dirty="0">
                <a:solidFill>
                  <a:srgbClr val="FFFFFF">
                    <a:alpha val="80000"/>
                  </a:srgbClr>
                </a:solidFill>
                <a:latin typeface="monospace" pitchFamily="34" charset="0"/>
                <a:ea typeface="monospace" pitchFamily="34" charset="-122"/>
                <a:cs typeface="monospace" pitchFamily="34" charset="-120"/>
              </a:rPr>
              <a:t>"todo" → "TODO"</a:t>
            </a:r>
            <a:endParaRPr lang="en-US" sz="675" dirty="0"/>
          </a:p>
          <a:p>
            <a:pPr algn="l" indent="0" marL="0">
              <a:lnSpc>
                <a:spcPts val="1080"/>
              </a:lnSpc>
              <a:buNone/>
            </a:pPr>
            <a:r>
              <a:rPr lang="en-US" sz="675" dirty="0">
                <a:solidFill>
                  <a:srgbClr val="FFFFFF">
                    <a:alpha val="80000"/>
                  </a:srgbClr>
                </a:solidFill>
                <a:latin typeface="monospace" pitchFamily="34" charset="0"/>
                <a:ea typeface="monospace" pitchFamily="34" charset="-122"/>
                <a:cs typeface="monospace" pitchFamily="34" charset="-120"/>
              </a:rPr>
              <a:t> "use state" → "`useState`"</a:t>
            </a:r>
            <a:endParaRPr lang="en-US" sz="675" dirty="0"/>
          </a:p>
          <a:p>
            <a:pPr algn="l" indent="0" marL="0">
              <a:lnSpc>
                <a:spcPts val="1080"/>
              </a:lnSpc>
              <a:buNone/>
            </a:pPr>
            <a:r>
              <a:rPr lang="en-US" sz="675" dirty="0">
                <a:solidFill>
                  <a:srgbClr val="FFFFFF">
                    <a:alpha val="80000"/>
                  </a:srgbClr>
                </a:solidFill>
                <a:latin typeface="monospace" pitchFamily="34" charset="0"/>
                <a:ea typeface="monospace" pitchFamily="34" charset="-122"/>
                <a:cs typeface="monospace" pitchFamily="34" charset="-120"/>
              </a:rPr>
              <a:t> "APH" → "Austin Public Health"</a:t>
            </a:r>
            <a:endParaRPr lang="en-US" sz="675" dirty="0"/>
          </a:p>
        </p:txBody>
      </p:sp>
      <p:sp>
        <p:nvSpPr>
          <p:cNvPr id="18" name="Text 16"/>
          <p:cNvSpPr/>
          <p:nvPr/>
        </p:nvSpPr>
        <p:spPr>
          <a:xfrm>
            <a:off x="304800" y="4383286"/>
            <a:ext cx="3886200" cy="520005"/>
          </a:xfrm>
          <a:prstGeom prst="rect">
            <a:avLst/>
          </a:prstGeom>
          <a:solidFill>
            <a:srgbClr val="FEF3C7"/>
          </a:solidFill>
          <a:ln/>
        </p:spPr>
        <p:txBody>
          <a:bodyPr wrap="square" rtlCol="0" anchor="ctr"/>
          <a:lstStyle/>
          <a:p>
            <a:pPr indent="0" marL="0">
              <a:buNone/>
            </a:pPr>
            <a:endParaRPr lang="en-US" dirty="0"/>
          </a:p>
        </p:txBody>
      </p:sp>
      <p:sp>
        <p:nvSpPr>
          <p:cNvPr id="19" name="Shape 17"/>
          <p:cNvSpPr/>
          <p:nvPr/>
        </p:nvSpPr>
        <p:spPr>
          <a:xfrm>
            <a:off x="323850" y="4383286"/>
            <a:ext cx="0" cy="520005"/>
          </a:xfrm>
          <a:prstGeom prst="line">
            <a:avLst/>
          </a:prstGeom>
          <a:noFill/>
          <a:ln w="38100">
            <a:solidFill>
              <a:srgbClr val="F59E0B"/>
            </a:solidFill>
            <a:prstDash val="solid"/>
          </a:ln>
        </p:spPr>
      </p:sp>
      <p:sp>
        <p:nvSpPr>
          <p:cNvPr id="20" name="Text 18"/>
          <p:cNvSpPr/>
          <p:nvPr/>
        </p:nvSpPr>
        <p:spPr>
          <a:xfrm>
            <a:off x="457200" y="4497586"/>
            <a:ext cx="3691890"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92400E"/>
                </a:solidFill>
                <a:latin typeface="Arial" pitchFamily="34" charset="0"/>
                <a:ea typeface="Arial" pitchFamily="34" charset="-122"/>
                <a:cs typeface="Arial" pitchFamily="34" charset="-120"/>
              </a:rPr>
              <a:t>VOCABULARY TIP</a:t>
            </a:r>
            <a:endParaRPr lang="en-US" sz="750" dirty="0"/>
          </a:p>
        </p:txBody>
      </p:sp>
      <p:sp>
        <p:nvSpPr>
          <p:cNvPr id="21" name="Text 19"/>
          <p:cNvSpPr/>
          <p:nvPr/>
        </p:nvSpPr>
        <p:spPr>
          <a:xfrm>
            <a:off x="457200" y="4669036"/>
            <a:ext cx="3691890" cy="119955"/>
          </a:xfrm>
          <a:prstGeom prst="rect">
            <a:avLst/>
          </a:prstGeom>
          <a:noFill/>
          <a:ln/>
        </p:spPr>
        <p:txBody>
          <a:bodyPr wrap="square" lIns="0" tIns="0" rIns="0" bIns="0" rtlCol="0" anchor="t"/>
          <a:lstStyle/>
          <a:p>
            <a:pPr algn="l" indent="0" marL="0">
              <a:lnSpc>
                <a:spcPts val="945"/>
              </a:lnSpc>
              <a:buNone/>
            </a:pPr>
            <a:r>
              <a:rPr lang="en-US" sz="675" dirty="0">
                <a:solidFill>
                  <a:srgbClr val="92400E"/>
                </a:solidFill>
                <a:latin typeface="Arial" pitchFamily="34" charset="0"/>
                <a:ea typeface="Arial" pitchFamily="34" charset="-122"/>
                <a:cs typeface="Arial" pitchFamily="34" charset="-120"/>
              </a:rPr>
              <a:t>Keep vocabulary list SHORT. Too many words can confuse the AI transcription model.</a:t>
            </a:r>
            <a:endParaRPr lang="en-US" sz="675" dirty="0"/>
          </a:p>
        </p:txBody>
      </p:sp>
      <p:sp>
        <p:nvSpPr>
          <p:cNvPr id="22" name="Text 20"/>
          <p:cNvSpPr/>
          <p:nvPr/>
        </p:nvSpPr>
        <p:spPr>
          <a:xfrm>
            <a:off x="4648200" y="0"/>
            <a:ext cx="4495800" cy="5143500"/>
          </a:xfrm>
          <a:prstGeom prst="rect">
            <a:avLst/>
          </a:prstGeom>
          <a:solidFill>
            <a:srgbClr val="1A1F2E"/>
          </a:solidFill>
          <a:ln/>
        </p:spPr>
        <p:txBody>
          <a:bodyPr wrap="square" rtlCol="0" anchor="ctr"/>
          <a:lstStyle/>
          <a:p>
            <a:pPr indent="0" marL="0">
              <a:buNone/>
            </a:pPr>
            <a:endParaRPr lang="en-US" dirty="0"/>
          </a:p>
        </p:txBody>
      </p:sp>
      <p:sp>
        <p:nvSpPr>
          <p:cNvPr id="23" name="Text 21"/>
          <p:cNvSpPr/>
          <p:nvPr/>
        </p:nvSpPr>
        <p:spPr>
          <a:xfrm>
            <a:off x="4953000" y="266700"/>
            <a:ext cx="3963924" cy="133350"/>
          </a:xfrm>
          <a:prstGeom prst="rect">
            <a:avLst/>
          </a:prstGeom>
          <a:noFill/>
          <a:ln/>
        </p:spPr>
        <p:txBody>
          <a:bodyPr wrap="square" lIns="0" tIns="0" rIns="0" bIns="0" rtlCol="0" anchor="t"/>
          <a:lstStyle/>
          <a:p>
            <a:pPr algn="l" indent="0" marL="0">
              <a:lnSpc>
                <a:spcPts val="1050"/>
              </a:lnSpc>
              <a:spcAft>
                <a:spcPts val="1200"/>
              </a:spcAft>
              <a:buNone/>
            </a:pPr>
            <a:r>
              <a:rPr lang="en-US" sz="750" dirty="0">
                <a:solidFill>
                  <a:srgbClr val="C9A227"/>
                </a:solidFill>
                <a:latin typeface="Arial" pitchFamily="34" charset="0"/>
                <a:ea typeface="Arial" pitchFamily="34" charset="-122"/>
                <a:cs typeface="Arial" pitchFamily="34" charset="-120"/>
              </a:rPr>
              <a:t>HOW TO CONFIGURE</a:t>
            </a:r>
            <a:endParaRPr lang="en-US" sz="750" dirty="0"/>
          </a:p>
        </p:txBody>
      </p:sp>
      <p:sp>
        <p:nvSpPr>
          <p:cNvPr id="24" name="Text 22"/>
          <p:cNvSpPr/>
          <p:nvPr/>
        </p:nvSpPr>
        <p:spPr>
          <a:xfrm>
            <a:off x="4953000" y="704850"/>
            <a:ext cx="3886200" cy="1080046"/>
          </a:xfrm>
          <a:prstGeom prst="rect">
            <a:avLst/>
          </a:prstGeom>
          <a:solidFill>
            <a:srgbClr val="C9A227">
              <a:alpha val="15000"/>
            </a:srgbClr>
          </a:solidFill>
          <a:ln w="9525">
            <a:solidFill>
              <a:srgbClr val="C9A227"/>
            </a:solidFill>
          </a:ln>
        </p:spPr>
        <p:txBody>
          <a:bodyPr wrap="square" rtlCol="0" anchor="ctr"/>
          <a:lstStyle/>
          <a:p>
            <a:pPr indent="0" marL="0">
              <a:buNone/>
            </a:pPr>
            <a:endParaRPr lang="en-US" dirty="0"/>
          </a:p>
        </p:txBody>
      </p:sp>
      <p:sp>
        <p:nvSpPr>
          <p:cNvPr id="25" name="Text 23"/>
          <p:cNvSpPr/>
          <p:nvPr/>
        </p:nvSpPr>
        <p:spPr>
          <a:xfrm>
            <a:off x="5095875" y="847725"/>
            <a:ext cx="3672459" cy="146596"/>
          </a:xfrm>
          <a:prstGeom prst="rect">
            <a:avLst/>
          </a:prstGeom>
          <a:noFill/>
          <a:ln/>
        </p:spPr>
        <p:txBody>
          <a:bodyPr wrap="square" lIns="0" tIns="0" rIns="0" bIns="0" rtlCol="0" anchor="t"/>
          <a:lstStyle/>
          <a:p>
            <a:pPr algn="l" indent="0" marL="0">
              <a:lnSpc>
                <a:spcPts val="1155"/>
              </a:lnSpc>
              <a:spcAft>
                <a:spcPts val="600"/>
              </a:spcAft>
              <a:buNone/>
            </a:pPr>
            <a:r>
              <a:rPr lang="en-US" sz="825" b="1" dirty="0">
                <a:solidFill>
                  <a:srgbClr val="FFFFFF"/>
                </a:solidFill>
                <a:latin typeface="Arial" pitchFamily="34" charset="0"/>
                <a:ea typeface="Arial" pitchFamily="34" charset="-122"/>
                <a:cs typeface="Arial" pitchFamily="34" charset="-120"/>
              </a:rPr>
              <a:t>ACCESS VOCABULARY</a:t>
            </a:r>
            <a:endParaRPr lang="en-US" sz="825" dirty="0"/>
          </a:p>
        </p:txBody>
      </p:sp>
      <p:sp>
        <p:nvSpPr>
          <p:cNvPr id="26" name="Text 24"/>
          <p:cNvSpPr/>
          <p:nvPr/>
        </p:nvSpPr>
        <p:spPr>
          <a:xfrm>
            <a:off x="5095875" y="1070521"/>
            <a:ext cx="3672459" cy="571500"/>
          </a:xfrm>
          <a:prstGeom prst="rect">
            <a:avLst/>
          </a:prstGeom>
          <a:noFill/>
          <a:ln/>
        </p:spPr>
        <p:txBody>
          <a:bodyPr wrap="square" lIns="0" tIns="0" rIns="0" bIns="0" rtlCol="0" anchor="t"/>
          <a:lstStyle/>
          <a:p>
            <a:pPr algn="l" indent="0" marL="0">
              <a:lnSpc>
                <a:spcPts val="1125"/>
              </a:lnSpc>
              <a:buNone/>
            </a:pPr>
            <a:r>
              <a:rPr lang="en-US" sz="750" dirty="0">
                <a:solidFill>
                  <a:srgbClr val="FFFFFF">
                    <a:alpha val="70000"/>
                  </a:srgbClr>
                </a:solidFill>
                <a:latin typeface="Arial" pitchFamily="34" charset="0"/>
                <a:ea typeface="Arial" pitchFamily="34" charset="-122"/>
                <a:cs typeface="Arial" pitchFamily="34" charset="-120"/>
              </a:rPr>
              <a:t>1. Click menu bar icon</a:t>
            </a:r>
            <a:endParaRPr lang="en-US" sz="750" dirty="0"/>
          </a:p>
          <a:p>
            <a:pPr algn="l" indent="0" marL="0">
              <a:lnSpc>
                <a:spcPts val="1125"/>
              </a:lnSpc>
              <a:buNone/>
            </a:pPr>
            <a:r>
              <a:rPr lang="en-US" sz="750" dirty="0">
                <a:solidFill>
                  <a:srgbClr val="FFFFFF">
                    <a:alpha val="70000"/>
                  </a:srgbClr>
                </a:solidFill>
                <a:latin typeface="Arial" pitchFamily="34" charset="0"/>
                <a:ea typeface="Arial" pitchFamily="34" charset="-122"/>
                <a:cs typeface="Arial" pitchFamily="34" charset="-120"/>
              </a:rPr>
              <a:t> 2. Open Settings</a:t>
            </a:r>
            <a:endParaRPr lang="en-US" sz="750" dirty="0"/>
          </a:p>
          <a:p>
            <a:pPr algn="l" indent="0" marL="0">
              <a:lnSpc>
                <a:spcPts val="1125"/>
              </a:lnSpc>
              <a:buNone/>
            </a:pPr>
            <a:r>
              <a:rPr lang="en-US" sz="750" dirty="0">
                <a:solidFill>
                  <a:srgbClr val="FFFFFF">
                    <a:alpha val="70000"/>
                  </a:srgbClr>
                </a:solidFill>
                <a:latin typeface="Arial" pitchFamily="34" charset="0"/>
                <a:ea typeface="Arial" pitchFamily="34" charset="-122"/>
                <a:cs typeface="Arial" pitchFamily="34" charset="-120"/>
              </a:rPr>
              <a:t> 3. Go to "Vocabulary" tab</a:t>
            </a:r>
            <a:endParaRPr lang="en-US" sz="750" dirty="0"/>
          </a:p>
          <a:p>
            <a:pPr algn="l" indent="0" marL="0">
              <a:lnSpc>
                <a:spcPts val="1125"/>
              </a:lnSpc>
              <a:buNone/>
            </a:pPr>
            <a:r>
              <a:rPr lang="en-US" sz="750" dirty="0">
                <a:solidFill>
                  <a:srgbClr val="FFFFFF">
                    <a:alpha val="70000"/>
                  </a:srgbClr>
                </a:solidFill>
                <a:latin typeface="Arial" pitchFamily="34" charset="0"/>
                <a:ea typeface="Arial" pitchFamily="34" charset="-122"/>
                <a:cs typeface="Arial" pitchFamily="34" charset="-120"/>
              </a:rPr>
              <a:t> 4. Add words or replacements</a:t>
            </a:r>
            <a:endParaRPr lang="en-US" sz="750" dirty="0"/>
          </a:p>
        </p:txBody>
      </p:sp>
      <p:sp>
        <p:nvSpPr>
          <p:cNvPr id="27" name="Text 25"/>
          <p:cNvSpPr/>
          <p:nvPr/>
        </p:nvSpPr>
        <p:spPr>
          <a:xfrm>
            <a:off x="4953000" y="2051596"/>
            <a:ext cx="3886200" cy="1060996"/>
          </a:xfrm>
          <a:prstGeom prst="rect">
            <a:avLst/>
          </a:prstGeom>
          <a:solidFill>
            <a:srgbClr val="FFFFFF">
              <a:alpha val="5000"/>
            </a:srgbClr>
          </a:solidFill>
          <a:ln/>
        </p:spPr>
        <p:txBody>
          <a:bodyPr wrap="square" rtlCol="0" anchor="ctr"/>
          <a:lstStyle/>
          <a:p>
            <a:pPr indent="0" marL="0">
              <a:buNone/>
            </a:pPr>
            <a:endParaRPr lang="en-US" dirty="0"/>
          </a:p>
        </p:txBody>
      </p:sp>
      <p:sp>
        <p:nvSpPr>
          <p:cNvPr id="28" name="Text 26"/>
          <p:cNvSpPr/>
          <p:nvPr/>
        </p:nvSpPr>
        <p:spPr>
          <a:xfrm>
            <a:off x="5086350" y="2184946"/>
            <a:ext cx="3691890" cy="146596"/>
          </a:xfrm>
          <a:prstGeom prst="rect">
            <a:avLst/>
          </a:prstGeom>
          <a:noFill/>
          <a:ln/>
        </p:spPr>
        <p:txBody>
          <a:bodyPr wrap="square" lIns="0" tIns="0" rIns="0" bIns="0" rtlCol="0" anchor="t"/>
          <a:lstStyle/>
          <a:p>
            <a:pPr algn="l" indent="0" marL="0">
              <a:lnSpc>
                <a:spcPts val="1155"/>
              </a:lnSpc>
              <a:spcAft>
                <a:spcPts val="600"/>
              </a:spcAft>
              <a:buNone/>
            </a:pPr>
            <a:r>
              <a:rPr lang="en-US" sz="825" b="1" dirty="0">
                <a:solidFill>
                  <a:srgbClr val="FFFFFF"/>
                </a:solidFill>
                <a:latin typeface="Arial" pitchFamily="34" charset="0"/>
                <a:ea typeface="Arial" pitchFamily="34" charset="-122"/>
                <a:cs typeface="Arial" pitchFamily="34" charset="-120"/>
              </a:rPr>
              <a:t>REPLACEMENT BEHAVIOR</a:t>
            </a:r>
            <a:endParaRPr lang="en-US" sz="825" dirty="0"/>
          </a:p>
        </p:txBody>
      </p:sp>
      <p:sp>
        <p:nvSpPr>
          <p:cNvPr id="29" name="Text 27"/>
          <p:cNvSpPr/>
          <p:nvPr/>
        </p:nvSpPr>
        <p:spPr>
          <a:xfrm>
            <a:off x="5086350" y="2407741"/>
            <a:ext cx="3691890" cy="571500"/>
          </a:xfrm>
          <a:prstGeom prst="rect">
            <a:avLst/>
          </a:prstGeom>
          <a:noFill/>
          <a:ln/>
        </p:spPr>
        <p:txBody>
          <a:bodyPr wrap="square" lIns="0" tIns="0" rIns="0" bIns="0" rtlCol="0" anchor="t"/>
          <a:lstStyle/>
          <a:p>
            <a:pPr algn="l" indent="0" marL="0">
              <a:lnSpc>
                <a:spcPts val="1125"/>
              </a:lnSpc>
              <a:buNone/>
            </a:pPr>
            <a:r>
              <a:rPr lang="en-US" sz="750" dirty="0">
                <a:solidFill>
                  <a:srgbClr val="FFFFFF">
                    <a:alpha val="60000"/>
                  </a:srgbClr>
                </a:solidFill>
                <a:latin typeface="Arial" pitchFamily="34" charset="0"/>
                <a:ea typeface="Arial" pitchFamily="34" charset="-122"/>
                <a:cs typeface="Arial" pitchFamily="34" charset="-120"/>
              </a:rPr>
              <a:t>Case-insensitive matching</a:t>
            </a:r>
            <a:endParaRPr lang="en-US" sz="750" dirty="0"/>
          </a:p>
          <a:p>
            <a:pPr algn="l" indent="0" marL="0">
              <a:lnSpc>
                <a:spcPts val="1125"/>
              </a:lnSpc>
              <a:buNone/>
            </a:pPr>
            <a:r>
              <a:rPr lang="en-US" sz="750" dirty="0">
                <a:solidFill>
                  <a:srgbClr val="FFFFFF">
                    <a:alpha val="60000"/>
                  </a:srgbClr>
                </a:solidFill>
                <a:latin typeface="Arial" pitchFamily="34" charset="0"/>
                <a:ea typeface="Arial" pitchFamily="34" charset="-122"/>
                <a:cs typeface="Arial" pitchFamily="34" charset="-120"/>
              </a:rPr>
              <a:t> "todo" matches "ToDo", "TODO", "Todo"</a:t>
            </a:r>
            <a:endParaRPr lang="en-US" sz="750" dirty="0"/>
          </a:p>
          <a:p>
            <a:pPr algn="l" indent="0" marL="0">
              <a:lnSpc>
                <a:spcPts val="1125"/>
              </a:lnSpc>
              <a:buNone/>
            </a:pPr>
            <a:r>
              <a:rPr lang="en-US" sz="750" dirty="0">
                <a:solidFill>
                  <a:srgbClr val="FFFFFF">
                    <a:alpha val="60000"/>
                  </a:srgbClr>
                </a:solidFill>
                <a:latin typeface="Arial" pitchFamily="34" charset="0"/>
                <a:ea typeface="Arial" pitchFamily="34" charset="-122"/>
                <a:cs typeface="Arial" pitchFamily="34" charset="-120"/>
              </a:rPr>
              <a:t> Output appears exactly as you specify</a:t>
            </a:r>
            <a:endParaRPr lang="en-US" sz="750" dirty="0"/>
          </a:p>
          <a:p>
            <a:pPr algn="l" indent="0" marL="0">
              <a:lnSpc>
                <a:spcPts val="1125"/>
              </a:lnSpc>
              <a:buNone/>
            </a:pPr>
            <a:r>
              <a:rPr lang="en-US" sz="750" dirty="0">
                <a:solidFill>
                  <a:srgbClr val="FFFFFF">
                    <a:alpha val="60000"/>
                  </a:srgbClr>
                </a:solidFill>
                <a:latin typeface="Arial" pitchFamily="34" charset="0"/>
                <a:ea typeface="Arial" pitchFamily="34" charset="-122"/>
                <a:cs typeface="Arial" pitchFamily="34" charset="-120"/>
              </a:rPr>
              <a:t> Works 100% reliably (not AI-dependent)</a:t>
            </a:r>
            <a:endParaRPr lang="en-US" sz="750" dirty="0"/>
          </a:p>
        </p:txBody>
      </p:sp>
      <p:sp>
        <p:nvSpPr>
          <p:cNvPr id="30" name="Text 28"/>
          <p:cNvSpPr/>
          <p:nvPr/>
        </p:nvSpPr>
        <p:spPr>
          <a:xfrm>
            <a:off x="4953000" y="3379291"/>
            <a:ext cx="3886200" cy="775246"/>
          </a:xfrm>
          <a:prstGeom prst="rect">
            <a:avLst/>
          </a:prstGeom>
          <a:solidFill>
            <a:srgbClr val="FFFFFF">
              <a:alpha val="5000"/>
            </a:srgbClr>
          </a:solidFill>
          <a:ln/>
        </p:spPr>
        <p:txBody>
          <a:bodyPr wrap="square" rtlCol="0" anchor="ctr"/>
          <a:lstStyle/>
          <a:p>
            <a:pPr indent="0" marL="0">
              <a:buNone/>
            </a:pPr>
            <a:endParaRPr lang="en-US" dirty="0"/>
          </a:p>
        </p:txBody>
      </p:sp>
      <p:sp>
        <p:nvSpPr>
          <p:cNvPr id="31" name="Text 29"/>
          <p:cNvSpPr/>
          <p:nvPr/>
        </p:nvSpPr>
        <p:spPr>
          <a:xfrm>
            <a:off x="5086350" y="3512641"/>
            <a:ext cx="3691890" cy="146596"/>
          </a:xfrm>
          <a:prstGeom prst="rect">
            <a:avLst/>
          </a:prstGeom>
          <a:noFill/>
          <a:ln/>
        </p:spPr>
        <p:txBody>
          <a:bodyPr wrap="square" lIns="0" tIns="0" rIns="0" bIns="0" rtlCol="0" anchor="t"/>
          <a:lstStyle/>
          <a:p>
            <a:pPr algn="l" indent="0" marL="0">
              <a:lnSpc>
                <a:spcPts val="1155"/>
              </a:lnSpc>
              <a:spcAft>
                <a:spcPts val="600"/>
              </a:spcAft>
              <a:buNone/>
            </a:pPr>
            <a:r>
              <a:rPr lang="en-US" sz="825" b="1" dirty="0">
                <a:solidFill>
                  <a:srgbClr val="FFFFFF"/>
                </a:solidFill>
                <a:latin typeface="Arial" pitchFamily="34" charset="0"/>
                <a:ea typeface="Arial" pitchFamily="34" charset="-122"/>
                <a:cs typeface="Arial" pitchFamily="34" charset="-120"/>
              </a:rPr>
              <a:t>MODEL COMPATIBILITY</a:t>
            </a:r>
            <a:endParaRPr lang="en-US" sz="825" dirty="0"/>
          </a:p>
        </p:txBody>
      </p:sp>
      <p:sp>
        <p:nvSpPr>
          <p:cNvPr id="32" name="Text 30"/>
          <p:cNvSpPr/>
          <p:nvPr/>
        </p:nvSpPr>
        <p:spPr>
          <a:xfrm>
            <a:off x="5086350" y="3735437"/>
            <a:ext cx="3691890" cy="285750"/>
          </a:xfrm>
          <a:prstGeom prst="rect">
            <a:avLst/>
          </a:prstGeom>
          <a:noFill/>
          <a:ln/>
        </p:spPr>
        <p:txBody>
          <a:bodyPr wrap="square" lIns="0" tIns="0" rIns="0" bIns="0" rtlCol="0" anchor="t"/>
          <a:lstStyle/>
          <a:p>
            <a:pPr algn="l" indent="0" marL="0">
              <a:lnSpc>
                <a:spcPts val="1125"/>
              </a:lnSpc>
              <a:buNone/>
            </a:pPr>
            <a:r>
              <a:rPr lang="en-US" sz="750" dirty="0">
                <a:solidFill>
                  <a:srgbClr val="FFFFFF">
                    <a:alpha val="60000"/>
                  </a:srgbClr>
                </a:solidFill>
                <a:latin typeface="Arial" pitchFamily="34" charset="0"/>
                <a:ea typeface="Arial" pitchFamily="34" charset="-122"/>
                <a:cs typeface="Arial" pitchFamily="34" charset="-120"/>
              </a:rPr>
              <a:t>Vocabulary hints work with most models.</a:t>
            </a:r>
            <a:endParaRPr lang="en-US" sz="750" dirty="0"/>
          </a:p>
          <a:p>
            <a:pPr algn="l" indent="0" marL="0">
              <a:lnSpc>
                <a:spcPts val="1125"/>
              </a:lnSpc>
              <a:buNone/>
            </a:pPr>
            <a:r>
              <a:rPr lang="en-US" sz="750" dirty="0">
                <a:solidFill>
                  <a:srgbClr val="FFFFFF">
                    <a:alpha val="60000"/>
                  </a:srgbClr>
                </a:solidFill>
                <a:latin typeface="Arial" pitchFamily="34" charset="0"/>
                <a:ea typeface="Arial" pitchFamily="34" charset="-122"/>
                <a:cs typeface="Arial" pitchFamily="34" charset="-120"/>
              </a:rPr>
              <a:t> </a:t>
            </a:r>
            <a:endParaRPr lang="en-US" sz="750" dirty="0"/>
          </a:p>
          <a:p>
            <a:pPr algn="l" indent="0" marL="0">
              <a:lnSpc>
                <a:spcPts val="1125"/>
              </a:lnSpc>
              <a:buNone/>
            </a:pPr>
            <a:r>
              <a:rPr lang="en-US" sz="750" dirty="0">
                <a:solidFill>
                  <a:srgbClr val="F59E0B">
                    <a:alpha val="60000"/>
                  </a:srgbClr>
                </a:solidFill>
                <a:latin typeface="Arial" pitchFamily="34" charset="0"/>
                <a:ea typeface="Arial" pitchFamily="34" charset="-122"/>
                <a:cs typeface="Arial" pitchFamily="34" charset="-120"/>
              </a:rPr>
              <a:t>Exception:</a:t>
            </a:r>
            <a:pPr algn="l" indent="0" marL="0">
              <a:lnSpc>
                <a:spcPts val="1125"/>
              </a:lnSpc>
              <a:buNone/>
            </a:pPr>
            <a:r>
              <a:rPr lang="en-US" sz="750" dirty="0">
                <a:solidFill>
                  <a:srgbClr val="FFFFFF">
                    <a:alpha val="60000"/>
                  </a:srgbClr>
                </a:solidFill>
                <a:latin typeface="Arial" pitchFamily="34" charset="0"/>
                <a:ea typeface="Arial" pitchFamily="34" charset="-122"/>
                <a:cs typeface="Arial" pitchFamily="34" charset="-120"/>
              </a:rPr>
              <a:t> Nova and Parakeet models don't support vocabulary hints.</a:t>
            </a:r>
            <a:endParaRPr lang="en-US" sz="750" dirty="0"/>
          </a:p>
        </p:txBody>
      </p:sp>
      <p:sp>
        <p:nvSpPr>
          <p:cNvPr id="33" name="Text 31"/>
          <p:cNvSpPr/>
          <p:nvPr/>
        </p:nvSpPr>
        <p:spPr>
          <a:xfrm>
            <a:off x="4953000" y="4514850"/>
            <a:ext cx="3886200" cy="361950"/>
          </a:xfrm>
          <a:prstGeom prst="rect">
            <a:avLst/>
          </a:prstGeom>
          <a:solidFill>
            <a:srgbClr val="059669"/>
          </a:solidFill>
          <a:ln/>
        </p:spPr>
        <p:txBody>
          <a:bodyPr wrap="square" rtlCol="0" anchor="ctr"/>
          <a:lstStyle/>
          <a:p>
            <a:pPr indent="0" marL="0">
              <a:buNone/>
            </a:pPr>
            <a:endParaRPr lang="en-US" dirty="0"/>
          </a:p>
        </p:txBody>
      </p:sp>
      <p:sp>
        <p:nvSpPr>
          <p:cNvPr id="34" name="Text 32"/>
          <p:cNvSpPr/>
          <p:nvPr/>
        </p:nvSpPr>
        <p:spPr>
          <a:xfrm>
            <a:off x="5030724" y="4629150"/>
            <a:ext cx="3730752" cy="133350"/>
          </a:xfrm>
          <a:prstGeom prst="rect">
            <a:avLst/>
          </a:prstGeom>
          <a:noFill/>
          <a:ln/>
        </p:spPr>
        <p:txBody>
          <a:bodyPr wrap="square" lIns="0" tIns="0" rIns="0" bIns="0" rtlCol="0" anchor="t"/>
          <a:lstStyle/>
          <a:p>
            <a:pPr algn="ctr" indent="0" marL="0">
              <a:lnSpc>
                <a:spcPts val="1050"/>
              </a:lnSpc>
              <a:buNone/>
            </a:pPr>
            <a:r>
              <a:rPr lang="en-US" sz="750" dirty="0">
                <a:solidFill>
                  <a:srgbClr val="FFFFFF"/>
                </a:solidFill>
                <a:latin typeface="Arial" pitchFamily="34" charset="0"/>
                <a:ea typeface="Arial" pitchFamily="34" charset="-122"/>
                <a:cs typeface="Arial" pitchFamily="34" charset="-120"/>
              </a:rPr>
              <a:t>Prefer replacements over vocabulary for consistent results</a:t>
            </a:r>
            <a:endParaRPr lang="en-US" sz="75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44625" y="537270"/>
            <a:ext cx="1854750" cy="159990"/>
          </a:xfrm>
          <a:prstGeom prst="rect">
            <a:avLst/>
          </a:prstGeom>
          <a:noFill/>
          <a:ln/>
        </p:spPr>
        <p:txBody>
          <a:bodyPr wrap="square" lIns="0" tIns="0" rIns="0" bIns="0" rtlCol="0" anchor="t"/>
          <a:lstStyle/>
          <a:p>
            <a:pPr algn="ctr" indent="0" marL="0">
              <a:lnSpc>
                <a:spcPts val="1260"/>
              </a:lnSpc>
              <a:spcAft>
                <a:spcPts val="1800"/>
              </a:spcAft>
              <a:buNone/>
            </a:pPr>
            <a:r>
              <a:rPr lang="en-US" sz="900" dirty="0">
                <a:solidFill>
                  <a:srgbClr val="C9A227"/>
                </a:solidFill>
                <a:latin typeface="Arial" pitchFamily="34" charset="0"/>
                <a:ea typeface="Arial" pitchFamily="34" charset="-122"/>
                <a:cs typeface="Arial" pitchFamily="34" charset="-120"/>
              </a:rPr>
              <a:t>PART 4 • WORKSHOP</a:t>
            </a:r>
            <a:endParaRPr lang="en-US" sz="900" dirty="0"/>
          </a:p>
        </p:txBody>
      </p:sp>
      <p:sp>
        <p:nvSpPr>
          <p:cNvPr id="3" name="Text 1"/>
          <p:cNvSpPr/>
          <p:nvPr/>
        </p:nvSpPr>
        <p:spPr>
          <a:xfrm>
            <a:off x="2005743" y="1078260"/>
            <a:ext cx="5132365" cy="457200"/>
          </a:xfrm>
          <a:prstGeom prst="rect">
            <a:avLst/>
          </a:prstGeom>
          <a:noFill/>
          <a:ln/>
        </p:spPr>
        <p:txBody>
          <a:bodyPr wrap="square" lIns="0" tIns="0" rIns="0" bIns="0" rtlCol="0" anchor="t"/>
          <a:lstStyle/>
          <a:p>
            <a:pPr algn="ctr" indent="0" marL="0">
              <a:lnSpc>
                <a:spcPts val="3600"/>
              </a:lnSpc>
              <a:spcAft>
                <a:spcPts val="1200"/>
              </a:spcAft>
              <a:buNone/>
            </a:pPr>
            <a:r>
              <a:rPr lang="en-US" sz="3600" dirty="0">
                <a:solidFill>
                  <a:srgbClr val="FFFFFF"/>
                </a:solidFill>
                <a:latin typeface="Georgia" pitchFamily="34" charset="0"/>
                <a:ea typeface="Georgia" pitchFamily="34" charset="-122"/>
                <a:cs typeface="Georgia" pitchFamily="34" charset="-120"/>
              </a:rPr>
              <a:t>Custom Mode Workshop</a:t>
            </a:r>
            <a:endParaRPr lang="en-US" sz="3600" dirty="0"/>
          </a:p>
        </p:txBody>
      </p:sp>
      <p:sp>
        <p:nvSpPr>
          <p:cNvPr id="4" name="Text 2"/>
          <p:cNvSpPr/>
          <p:nvPr/>
        </p:nvSpPr>
        <p:spPr>
          <a:xfrm>
            <a:off x="4191000" y="1840260"/>
            <a:ext cx="762000" cy="28575"/>
          </a:xfrm>
          <a:prstGeom prst="rect">
            <a:avLst/>
          </a:prstGeom>
          <a:solidFill>
            <a:srgbClr val="C9A227"/>
          </a:solidFill>
          <a:ln/>
        </p:spPr>
        <p:txBody>
          <a:bodyPr wrap="square" rtlCol="0" anchor="ctr"/>
          <a:lstStyle/>
          <a:p>
            <a:pPr indent="0" marL="0">
              <a:buNone/>
            </a:pPr>
            <a:endParaRPr lang="en-US" dirty="0"/>
          </a:p>
        </p:txBody>
      </p:sp>
      <p:sp>
        <p:nvSpPr>
          <p:cNvPr id="5" name="Text 3"/>
          <p:cNvSpPr/>
          <p:nvPr/>
        </p:nvSpPr>
        <p:spPr>
          <a:xfrm>
            <a:off x="1657350" y="2249835"/>
            <a:ext cx="5829300" cy="487561"/>
          </a:xfrm>
          <a:prstGeom prst="rect">
            <a:avLst/>
          </a:prstGeom>
          <a:noFill/>
          <a:ln/>
        </p:spPr>
        <p:txBody>
          <a:bodyPr wrap="square" lIns="0" tIns="0" rIns="0" bIns="0" rtlCol="0" anchor="t"/>
          <a:lstStyle/>
          <a:p>
            <a:pPr algn="ctr" indent="0" marL="0">
              <a:lnSpc>
                <a:spcPts val="1920"/>
              </a:lnSpc>
              <a:spcAft>
                <a:spcPts val="2400"/>
              </a:spcAft>
              <a:buNone/>
            </a:pPr>
            <a:r>
              <a:rPr lang="en-US" sz="1200" dirty="0">
                <a:solidFill>
                  <a:srgbClr val="FFFFFF">
                    <a:alpha val="70000"/>
                  </a:srgbClr>
                </a:solidFill>
                <a:latin typeface="Arial" pitchFamily="34" charset="0"/>
                <a:ea typeface="Arial" pitchFamily="34" charset="-122"/>
                <a:cs typeface="Arial" pitchFamily="34" charset="-120"/>
              </a:rPr>
              <a:t>Build application-specific modes for your daily workflow. We'll create modes for coding, email, chat, and more.</a:t>
            </a:r>
            <a:endParaRPr lang="en-US" sz="1200" dirty="0"/>
          </a:p>
        </p:txBody>
      </p:sp>
      <p:sp>
        <p:nvSpPr>
          <p:cNvPr id="6" name="Text 4"/>
          <p:cNvSpPr/>
          <p:nvPr/>
        </p:nvSpPr>
        <p:spPr>
          <a:xfrm>
            <a:off x="1704231" y="3346996"/>
            <a:ext cx="1110704" cy="394246"/>
          </a:xfrm>
          <a:prstGeom prst="rect">
            <a:avLst/>
          </a:prstGeom>
          <a:solidFill>
            <a:srgbClr val="C9A227">
              <a:alpha val="15000"/>
            </a:srgbClr>
          </a:solidFill>
          <a:ln w="9525">
            <a:solidFill>
              <a:srgbClr val="C9A227"/>
            </a:solidFill>
          </a:ln>
        </p:spPr>
        <p:txBody>
          <a:bodyPr wrap="square" rtlCol="0" anchor="ctr"/>
          <a:lstStyle/>
          <a:p>
            <a:pPr indent="0" marL="0">
              <a:buNone/>
            </a:pPr>
            <a:endParaRPr lang="en-US" dirty="0"/>
          </a:p>
        </p:txBody>
      </p:sp>
      <p:sp>
        <p:nvSpPr>
          <p:cNvPr id="7" name="Text 5"/>
          <p:cNvSpPr/>
          <p:nvPr/>
        </p:nvSpPr>
        <p:spPr>
          <a:xfrm>
            <a:off x="1897149" y="3470821"/>
            <a:ext cx="724867" cy="146596"/>
          </a:xfrm>
          <a:prstGeom prst="rect">
            <a:avLst/>
          </a:prstGeom>
          <a:noFill/>
          <a:ln/>
        </p:spPr>
        <p:txBody>
          <a:bodyPr wrap="square" lIns="0" tIns="0" rIns="0" bIns="0" rtlCol="0" anchor="t"/>
          <a:lstStyle/>
          <a:p>
            <a:pPr algn="ctr" indent="0" marL="0">
              <a:lnSpc>
                <a:spcPts val="1155"/>
              </a:lnSpc>
              <a:buNone/>
            </a:pPr>
            <a:r>
              <a:rPr lang="en-US" sz="825" dirty="0">
                <a:solidFill>
                  <a:srgbClr val="C9A227"/>
                </a:solidFill>
                <a:latin typeface="Arial" pitchFamily="34" charset="0"/>
                <a:ea typeface="Arial" pitchFamily="34" charset="-122"/>
                <a:cs typeface="Arial" pitchFamily="34" charset="-120"/>
              </a:rPr>
              <a:t>Agentic Coding</a:t>
            </a:r>
            <a:endParaRPr lang="en-US" sz="825" dirty="0"/>
          </a:p>
        </p:txBody>
      </p:sp>
      <p:sp>
        <p:nvSpPr>
          <p:cNvPr id="8" name="Text 6"/>
          <p:cNvSpPr/>
          <p:nvPr/>
        </p:nvSpPr>
        <p:spPr>
          <a:xfrm>
            <a:off x="2967335" y="3346996"/>
            <a:ext cx="959197" cy="394246"/>
          </a:xfrm>
          <a:prstGeom prst="rect">
            <a:avLst/>
          </a:prstGeom>
          <a:solidFill>
            <a:srgbClr val="C9A227">
              <a:alpha val="15000"/>
            </a:srgbClr>
          </a:solidFill>
          <a:ln w="9525">
            <a:solidFill>
              <a:srgbClr val="C9A227"/>
            </a:solidFill>
          </a:ln>
        </p:spPr>
        <p:txBody>
          <a:bodyPr wrap="square" rtlCol="0" anchor="ctr"/>
          <a:lstStyle/>
          <a:p>
            <a:pPr indent="0" marL="0">
              <a:buNone/>
            </a:pPr>
            <a:endParaRPr lang="en-US" dirty="0"/>
          </a:p>
        </p:txBody>
      </p:sp>
      <p:sp>
        <p:nvSpPr>
          <p:cNvPr id="9" name="Text 7"/>
          <p:cNvSpPr/>
          <p:nvPr/>
        </p:nvSpPr>
        <p:spPr>
          <a:xfrm>
            <a:off x="3161769" y="3470821"/>
            <a:ext cx="570330" cy="146596"/>
          </a:xfrm>
          <a:prstGeom prst="rect">
            <a:avLst/>
          </a:prstGeom>
          <a:noFill/>
          <a:ln/>
        </p:spPr>
        <p:txBody>
          <a:bodyPr wrap="square" lIns="0" tIns="0" rIns="0" bIns="0" rtlCol="0" anchor="t"/>
          <a:lstStyle/>
          <a:p>
            <a:pPr algn="ctr" indent="0" marL="0">
              <a:lnSpc>
                <a:spcPts val="1155"/>
              </a:lnSpc>
              <a:buNone/>
            </a:pPr>
            <a:r>
              <a:rPr lang="en-US" sz="825" dirty="0">
                <a:solidFill>
                  <a:srgbClr val="C9A227"/>
                </a:solidFill>
                <a:latin typeface="Arial" pitchFamily="34" charset="0"/>
                <a:ea typeface="Arial" pitchFamily="34" charset="-122"/>
                <a:cs typeface="Arial" pitchFamily="34" charset="-120"/>
              </a:rPr>
              <a:t>Teams Chat</a:t>
            </a:r>
            <a:endParaRPr lang="en-US" sz="825" dirty="0"/>
          </a:p>
        </p:txBody>
      </p:sp>
      <p:sp>
        <p:nvSpPr>
          <p:cNvPr id="10" name="Text 8"/>
          <p:cNvSpPr/>
          <p:nvPr/>
        </p:nvSpPr>
        <p:spPr>
          <a:xfrm>
            <a:off x="4078932" y="3346996"/>
            <a:ext cx="968722" cy="394246"/>
          </a:xfrm>
          <a:prstGeom prst="rect">
            <a:avLst/>
          </a:prstGeom>
          <a:solidFill>
            <a:srgbClr val="C9A227">
              <a:alpha val="15000"/>
            </a:srgbClr>
          </a:solidFill>
          <a:ln w="9525">
            <a:solidFill>
              <a:srgbClr val="C9A227"/>
            </a:solidFill>
          </a:ln>
        </p:spPr>
        <p:txBody>
          <a:bodyPr wrap="square" rtlCol="0" anchor="ctr"/>
          <a:lstStyle/>
          <a:p>
            <a:pPr indent="0" marL="0">
              <a:buNone/>
            </a:pPr>
            <a:endParaRPr lang="en-US" dirty="0"/>
          </a:p>
        </p:txBody>
      </p:sp>
      <p:sp>
        <p:nvSpPr>
          <p:cNvPr id="11" name="Text 9"/>
          <p:cNvSpPr/>
          <p:nvPr/>
        </p:nvSpPr>
        <p:spPr>
          <a:xfrm>
            <a:off x="4273271" y="3470821"/>
            <a:ext cx="580046" cy="146596"/>
          </a:xfrm>
          <a:prstGeom prst="rect">
            <a:avLst/>
          </a:prstGeom>
          <a:noFill/>
          <a:ln/>
        </p:spPr>
        <p:txBody>
          <a:bodyPr wrap="square" lIns="0" tIns="0" rIns="0" bIns="0" rtlCol="0" anchor="t"/>
          <a:lstStyle/>
          <a:p>
            <a:pPr algn="ctr" indent="0" marL="0">
              <a:lnSpc>
                <a:spcPts val="1155"/>
              </a:lnSpc>
              <a:buNone/>
            </a:pPr>
            <a:r>
              <a:rPr lang="en-US" sz="825" dirty="0">
                <a:solidFill>
                  <a:srgbClr val="C9A227"/>
                </a:solidFill>
                <a:latin typeface="Arial" pitchFamily="34" charset="0"/>
                <a:ea typeface="Arial" pitchFamily="34" charset="-122"/>
                <a:cs typeface="Arial" pitchFamily="34" charset="-120"/>
              </a:rPr>
              <a:t>Email Writer</a:t>
            </a:r>
            <a:endParaRPr lang="en-US" sz="825" dirty="0"/>
          </a:p>
        </p:txBody>
      </p:sp>
      <p:sp>
        <p:nvSpPr>
          <p:cNvPr id="12" name="Text 10"/>
          <p:cNvSpPr/>
          <p:nvPr/>
        </p:nvSpPr>
        <p:spPr>
          <a:xfrm>
            <a:off x="5200055" y="3346996"/>
            <a:ext cx="1011734" cy="394246"/>
          </a:xfrm>
          <a:prstGeom prst="rect">
            <a:avLst/>
          </a:prstGeom>
          <a:solidFill>
            <a:srgbClr val="C9A227">
              <a:alpha val="15000"/>
            </a:srgbClr>
          </a:solidFill>
          <a:ln w="9525">
            <a:solidFill>
              <a:srgbClr val="C9A227"/>
            </a:solidFill>
          </a:ln>
        </p:spPr>
        <p:txBody>
          <a:bodyPr wrap="square" rtlCol="0" anchor="ctr"/>
          <a:lstStyle/>
          <a:p>
            <a:pPr indent="0" marL="0">
              <a:buNone/>
            </a:pPr>
            <a:endParaRPr lang="en-US" dirty="0"/>
          </a:p>
        </p:txBody>
      </p:sp>
      <p:sp>
        <p:nvSpPr>
          <p:cNvPr id="13" name="Text 11"/>
          <p:cNvSpPr/>
          <p:nvPr/>
        </p:nvSpPr>
        <p:spPr>
          <a:xfrm>
            <a:off x="5393963" y="3470821"/>
            <a:ext cx="623917" cy="146596"/>
          </a:xfrm>
          <a:prstGeom prst="rect">
            <a:avLst/>
          </a:prstGeom>
          <a:noFill/>
          <a:ln/>
        </p:spPr>
        <p:txBody>
          <a:bodyPr wrap="square" lIns="0" tIns="0" rIns="0" bIns="0" rtlCol="0" anchor="t"/>
          <a:lstStyle/>
          <a:p>
            <a:pPr algn="ctr" indent="0" marL="0">
              <a:lnSpc>
                <a:spcPts val="1155"/>
              </a:lnSpc>
              <a:buNone/>
            </a:pPr>
            <a:r>
              <a:rPr lang="en-US" sz="825" dirty="0">
                <a:solidFill>
                  <a:srgbClr val="C9A227"/>
                </a:solidFill>
                <a:latin typeface="Arial" pitchFamily="34" charset="0"/>
                <a:ea typeface="Arial" pitchFamily="34" charset="-122"/>
                <a:cs typeface="Arial" pitchFamily="34" charset="-120"/>
              </a:rPr>
              <a:t>Claude Code</a:t>
            </a:r>
            <a:endParaRPr lang="en-US" sz="825" dirty="0"/>
          </a:p>
        </p:txBody>
      </p:sp>
      <p:sp>
        <p:nvSpPr>
          <p:cNvPr id="14" name="Text 12"/>
          <p:cNvSpPr/>
          <p:nvPr/>
        </p:nvSpPr>
        <p:spPr>
          <a:xfrm>
            <a:off x="6364188" y="3346996"/>
            <a:ext cx="1075581" cy="394246"/>
          </a:xfrm>
          <a:prstGeom prst="rect">
            <a:avLst/>
          </a:prstGeom>
          <a:solidFill>
            <a:srgbClr val="C9A227">
              <a:alpha val="15000"/>
            </a:srgbClr>
          </a:solidFill>
          <a:ln w="9525">
            <a:solidFill>
              <a:srgbClr val="C9A227"/>
            </a:solidFill>
          </a:ln>
        </p:spPr>
        <p:txBody>
          <a:bodyPr wrap="square" rtlCol="0" anchor="ctr"/>
          <a:lstStyle/>
          <a:p>
            <a:pPr indent="0" marL="0">
              <a:buNone/>
            </a:pPr>
            <a:endParaRPr lang="en-US" dirty="0"/>
          </a:p>
        </p:txBody>
      </p:sp>
      <p:sp>
        <p:nvSpPr>
          <p:cNvPr id="15" name="Text 13"/>
          <p:cNvSpPr/>
          <p:nvPr/>
        </p:nvSpPr>
        <p:spPr>
          <a:xfrm>
            <a:off x="6557458" y="3470821"/>
            <a:ext cx="689041" cy="146596"/>
          </a:xfrm>
          <a:prstGeom prst="rect">
            <a:avLst/>
          </a:prstGeom>
          <a:noFill/>
          <a:ln/>
        </p:spPr>
        <p:txBody>
          <a:bodyPr wrap="square" lIns="0" tIns="0" rIns="0" bIns="0" rtlCol="0" anchor="t"/>
          <a:lstStyle/>
          <a:p>
            <a:pPr algn="ctr" indent="0" marL="0">
              <a:lnSpc>
                <a:spcPts val="1155"/>
              </a:lnSpc>
              <a:buNone/>
            </a:pPr>
            <a:r>
              <a:rPr lang="en-US" sz="825" dirty="0">
                <a:solidFill>
                  <a:srgbClr val="C9A227"/>
                </a:solidFill>
                <a:latin typeface="Arial" pitchFamily="34" charset="0"/>
                <a:ea typeface="Arial" pitchFamily="34" charset="-122"/>
                <a:cs typeface="Arial" pitchFamily="34" charset="-120"/>
              </a:rPr>
              <a:t>Browser Mode</a:t>
            </a:r>
            <a:endParaRPr lang="en-US" sz="825" dirty="0"/>
          </a:p>
        </p:txBody>
      </p:sp>
      <p:sp>
        <p:nvSpPr>
          <p:cNvPr id="16" name="Text 14"/>
          <p:cNvSpPr/>
          <p:nvPr/>
        </p:nvSpPr>
        <p:spPr>
          <a:xfrm>
            <a:off x="2920008" y="4160341"/>
            <a:ext cx="3303984" cy="445740"/>
          </a:xfrm>
          <a:prstGeom prst="rect">
            <a:avLst/>
          </a:prstGeom>
          <a:solidFill>
            <a:srgbClr val="059669">
              <a:alpha val="20000"/>
            </a:srgbClr>
          </a:solidFill>
          <a:ln w="9525">
            <a:solidFill>
              <a:srgbClr val="059669"/>
            </a:solidFill>
          </a:ln>
        </p:spPr>
        <p:txBody>
          <a:bodyPr wrap="square" rtlCol="0" anchor="ctr"/>
          <a:lstStyle/>
          <a:p>
            <a:pPr indent="0" marL="0">
              <a:buNone/>
            </a:pPr>
            <a:endParaRPr lang="en-US" dirty="0"/>
          </a:p>
        </p:txBody>
      </p:sp>
      <p:sp>
        <p:nvSpPr>
          <p:cNvPr id="17" name="Text 15"/>
          <p:cNvSpPr/>
          <p:nvPr/>
        </p:nvSpPr>
        <p:spPr>
          <a:xfrm>
            <a:off x="3129855" y="4303216"/>
            <a:ext cx="2884289" cy="159990"/>
          </a:xfrm>
          <a:prstGeom prst="rect">
            <a:avLst/>
          </a:prstGeom>
          <a:noFill/>
          <a:ln/>
        </p:spPr>
        <p:txBody>
          <a:bodyPr wrap="square" lIns="0" tIns="0" rIns="0" bIns="0" rtlCol="0" anchor="t"/>
          <a:lstStyle/>
          <a:p>
            <a:pPr algn="ctr" indent="0" marL="0">
              <a:lnSpc>
                <a:spcPts val="1260"/>
              </a:lnSpc>
              <a:buNone/>
            </a:pPr>
            <a:r>
              <a:rPr lang="en-US" sz="900" dirty="0">
                <a:solidFill>
                  <a:srgbClr val="34D399"/>
                </a:solidFill>
                <a:latin typeface="Arial" pitchFamily="34" charset="0"/>
                <a:ea typeface="Arial" pitchFamily="34" charset="-122"/>
                <a:cs typeface="Arial" pitchFamily="34" charset="-120"/>
              </a:rPr>
              <a:t>We'll provide pre-built prompts you can use immediately</a:t>
            </a:r>
            <a:endParaRPr lang="en-US" sz="9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3598664" cy="5143500"/>
          </a:xfrm>
          <a:prstGeom prst="rect">
            <a:avLst/>
          </a:prstGeom>
          <a:solidFill>
            <a:srgbClr val="1A1F2E"/>
          </a:solidFill>
          <a:ln/>
        </p:spPr>
        <p:txBody>
          <a:bodyPr wrap="square" rtlCol="0" anchor="ctr"/>
          <a:lstStyle/>
          <a:p>
            <a:pPr indent="0" marL="0">
              <a:buNone/>
            </a:pPr>
            <a:endParaRPr lang="en-US" dirty="0"/>
          </a:p>
        </p:txBody>
      </p:sp>
      <p:sp>
        <p:nvSpPr>
          <p:cNvPr id="3" name="Text 1"/>
          <p:cNvSpPr/>
          <p:nvPr/>
        </p:nvSpPr>
        <p:spPr>
          <a:xfrm>
            <a:off x="266700" y="276820"/>
            <a:ext cx="876449" cy="272355"/>
          </a:xfrm>
          <a:prstGeom prst="rect">
            <a:avLst/>
          </a:prstGeom>
          <a:solidFill>
            <a:srgbClr val="059669"/>
          </a:solidFill>
          <a:ln/>
        </p:spPr>
        <p:txBody>
          <a:bodyPr wrap="square" rtlCol="0" anchor="ctr"/>
          <a:lstStyle/>
          <a:p>
            <a:pPr indent="0" marL="0">
              <a:buNone/>
            </a:pPr>
            <a:endParaRPr lang="en-US" dirty="0"/>
          </a:p>
        </p:txBody>
      </p:sp>
      <p:sp>
        <p:nvSpPr>
          <p:cNvPr id="4" name="Text 2"/>
          <p:cNvSpPr/>
          <p:nvPr/>
        </p:nvSpPr>
        <p:spPr>
          <a:xfrm>
            <a:off x="381000" y="353020"/>
            <a:ext cx="660806" cy="119955"/>
          </a:xfrm>
          <a:prstGeom prst="rect">
            <a:avLst/>
          </a:prstGeom>
          <a:noFill/>
          <a:ln/>
        </p:spPr>
        <p:txBody>
          <a:bodyPr wrap="square" lIns="0" tIns="0" rIns="0" bIns="0" rtlCol="0" anchor="t"/>
          <a:lstStyle/>
          <a:p>
            <a:pPr algn="l" indent="0" marL="0">
              <a:lnSpc>
                <a:spcPts val="945"/>
              </a:lnSpc>
              <a:buNone/>
            </a:pPr>
            <a:r>
              <a:rPr lang="en-US" sz="675" b="1" dirty="0">
                <a:solidFill>
                  <a:srgbClr val="FFFFFF"/>
                </a:solidFill>
                <a:latin typeface="Arial" pitchFamily="34" charset="0"/>
                <a:ea typeface="Arial" pitchFamily="34" charset="-122"/>
                <a:cs typeface="Arial" pitchFamily="34" charset="-120"/>
              </a:rPr>
              <a:t>MODE 1 OF 5</a:t>
            </a:r>
            <a:endParaRPr lang="en-US" sz="675" dirty="0"/>
          </a:p>
        </p:txBody>
      </p:sp>
      <p:sp>
        <p:nvSpPr>
          <p:cNvPr id="5" name="Text 3"/>
          <p:cNvSpPr/>
          <p:nvPr/>
        </p:nvSpPr>
        <p:spPr>
          <a:xfrm>
            <a:off x="266700" y="815876"/>
            <a:ext cx="2079117" cy="548580"/>
          </a:xfrm>
          <a:prstGeom prst="rect">
            <a:avLst/>
          </a:prstGeom>
          <a:noFill/>
          <a:ln/>
        </p:spPr>
        <p:txBody>
          <a:bodyPr wrap="square" lIns="0" tIns="0" rIns="0" bIns="0" rtlCol="0" anchor="t"/>
          <a:lstStyle/>
          <a:p>
            <a:pPr algn="l" indent="0" marL="0">
              <a:lnSpc>
                <a:spcPts val="2160"/>
              </a:lnSpc>
              <a:spcAft>
                <a:spcPts val="900"/>
              </a:spcAft>
              <a:buNone/>
            </a:pPr>
            <a:r>
              <a:rPr lang="en-US" sz="1800" dirty="0">
                <a:solidFill>
                  <a:srgbClr val="FFFFFF"/>
                </a:solidFill>
                <a:latin typeface="Georgia" pitchFamily="34" charset="0"/>
                <a:ea typeface="Georgia" pitchFamily="34" charset="-122"/>
                <a:cs typeface="Georgia" pitchFamily="34" charset="-120"/>
              </a:rPr>
              <a:t>Prompt Enrichment</a:t>
            </a:r>
            <a:endParaRPr lang="en-US" sz="1800" dirty="0"/>
          </a:p>
          <a:p>
            <a:pPr algn="l" indent="0" marL="0">
              <a:lnSpc>
                <a:spcPts val="2160"/>
              </a:lnSpc>
              <a:spcAft>
                <a:spcPts val="900"/>
              </a:spcAft>
              <a:buNone/>
            </a:pPr>
            <a:r>
              <a:rPr lang="en-US" sz="1800" dirty="0">
                <a:solidFill>
                  <a:srgbClr val="FFFFFF"/>
                </a:solidFill>
                <a:latin typeface="Georgia" pitchFamily="34" charset="0"/>
                <a:ea typeface="Georgia" pitchFamily="34" charset="-122"/>
                <a:cs typeface="Georgia" pitchFamily="34" charset="-120"/>
              </a:rPr>
              <a:t>Mode</a:t>
            </a:r>
            <a:endParaRPr lang="en-US" sz="1800" dirty="0"/>
          </a:p>
        </p:txBody>
      </p:sp>
      <p:sp>
        <p:nvSpPr>
          <p:cNvPr id="6" name="Text 4"/>
          <p:cNvSpPr/>
          <p:nvPr/>
        </p:nvSpPr>
        <p:spPr>
          <a:xfrm>
            <a:off x="266700" y="1631156"/>
            <a:ext cx="381000" cy="19050"/>
          </a:xfrm>
          <a:prstGeom prst="rect">
            <a:avLst/>
          </a:prstGeom>
          <a:solidFill>
            <a:srgbClr val="C9A227"/>
          </a:solidFill>
          <a:ln/>
        </p:spPr>
        <p:txBody>
          <a:bodyPr wrap="square" rtlCol="0" anchor="ctr"/>
          <a:lstStyle/>
          <a:p>
            <a:pPr indent="0" marL="0">
              <a:buNone/>
            </a:pPr>
            <a:endParaRPr lang="en-US" dirty="0"/>
          </a:p>
        </p:txBody>
      </p:sp>
      <p:sp>
        <p:nvSpPr>
          <p:cNvPr id="7" name="Text 5"/>
          <p:cNvSpPr/>
          <p:nvPr/>
        </p:nvSpPr>
        <p:spPr>
          <a:xfrm>
            <a:off x="266700" y="1955006"/>
            <a:ext cx="3065264" cy="639961"/>
          </a:xfrm>
          <a:prstGeom prst="rect">
            <a:avLst/>
          </a:prstGeom>
          <a:solidFill>
            <a:srgbClr val="C9A227">
              <a:alpha val="15000"/>
            </a:srgbClr>
          </a:solidFill>
          <a:ln/>
        </p:spPr>
        <p:txBody>
          <a:bodyPr wrap="square" rtlCol="0" anchor="ctr"/>
          <a:lstStyle/>
          <a:p>
            <a:pPr indent="0" marL="0">
              <a:buNone/>
            </a:pPr>
            <a:endParaRPr lang="en-US" dirty="0"/>
          </a:p>
        </p:txBody>
      </p:sp>
      <p:sp>
        <p:nvSpPr>
          <p:cNvPr id="8" name="Shape 6"/>
          <p:cNvSpPr/>
          <p:nvPr/>
        </p:nvSpPr>
        <p:spPr>
          <a:xfrm>
            <a:off x="280988" y="1955006"/>
            <a:ext cx="0" cy="639961"/>
          </a:xfrm>
          <a:prstGeom prst="line">
            <a:avLst/>
          </a:prstGeom>
          <a:noFill/>
          <a:ln w="28575">
            <a:solidFill>
              <a:srgbClr val="C9A227"/>
            </a:solidFill>
            <a:prstDash val="solid"/>
          </a:ln>
        </p:spPr>
      </p:sp>
      <p:sp>
        <p:nvSpPr>
          <p:cNvPr id="9" name="Text 7"/>
          <p:cNvSpPr/>
          <p:nvPr/>
        </p:nvSpPr>
        <p:spPr>
          <a:xfrm>
            <a:off x="409575" y="2069306"/>
            <a:ext cx="2864251"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C9A227"/>
                </a:solidFill>
                <a:latin typeface="Arial" pitchFamily="34" charset="0"/>
                <a:ea typeface="Arial" pitchFamily="34" charset="-122"/>
                <a:cs typeface="Arial" pitchFamily="34" charset="-120"/>
              </a:rPr>
              <a:t>USE CASE</a:t>
            </a:r>
            <a:endParaRPr lang="en-US" sz="750" dirty="0"/>
          </a:p>
        </p:txBody>
      </p:sp>
      <p:sp>
        <p:nvSpPr>
          <p:cNvPr id="10" name="Text 8"/>
          <p:cNvSpPr/>
          <p:nvPr/>
        </p:nvSpPr>
        <p:spPr>
          <a:xfrm>
            <a:off x="409575" y="2240756"/>
            <a:ext cx="2864251" cy="239911"/>
          </a:xfrm>
          <a:prstGeom prst="rect">
            <a:avLst/>
          </a:prstGeom>
          <a:noFill/>
          <a:ln/>
        </p:spPr>
        <p:txBody>
          <a:bodyPr wrap="square" lIns="0" tIns="0" rIns="0" bIns="0" rtlCol="0" anchor="t"/>
          <a:lstStyle/>
          <a:p>
            <a:pPr algn="l" indent="0" marL="0">
              <a:lnSpc>
                <a:spcPts val="945"/>
              </a:lnSpc>
              <a:buNone/>
            </a:pPr>
            <a:r>
              <a:rPr lang="en-US" sz="675" dirty="0">
                <a:solidFill>
                  <a:srgbClr val="FFFFFF">
                    <a:alpha val="70000"/>
                  </a:srgbClr>
                </a:solidFill>
                <a:latin typeface="Arial" pitchFamily="34" charset="0"/>
                <a:ea typeface="Arial" pitchFamily="34" charset="-122"/>
                <a:cs typeface="Arial" pitchFamily="34" charset="-120"/>
              </a:rPr>
              <a:t>Transform raw spoken thoughts into well-structured prompts for ANY AI tool: Claude, ChatGPT, Cursor, Copilot, etc.</a:t>
            </a:r>
            <a:endParaRPr lang="en-US" sz="675" dirty="0"/>
          </a:p>
        </p:txBody>
      </p:sp>
      <p:sp>
        <p:nvSpPr>
          <p:cNvPr id="11" name="Text 9"/>
          <p:cNvSpPr/>
          <p:nvPr/>
        </p:nvSpPr>
        <p:spPr>
          <a:xfrm>
            <a:off x="266700" y="2861667"/>
            <a:ext cx="3065264" cy="804863"/>
          </a:xfrm>
          <a:prstGeom prst="rect">
            <a:avLst/>
          </a:prstGeom>
          <a:solidFill>
            <a:srgbClr val="FFFFFF">
              <a:alpha val="5000"/>
            </a:srgbClr>
          </a:solidFill>
          <a:ln/>
        </p:spPr>
        <p:txBody>
          <a:bodyPr wrap="square" rtlCol="0" anchor="ctr"/>
          <a:lstStyle/>
          <a:p>
            <a:pPr indent="0" marL="0">
              <a:buNone/>
            </a:pPr>
            <a:endParaRPr lang="en-US" dirty="0"/>
          </a:p>
        </p:txBody>
      </p:sp>
      <p:sp>
        <p:nvSpPr>
          <p:cNvPr id="12" name="Text 10"/>
          <p:cNvSpPr/>
          <p:nvPr/>
        </p:nvSpPr>
        <p:spPr>
          <a:xfrm>
            <a:off x="381000" y="2975967"/>
            <a:ext cx="2893397"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KEY INSIGHT</a:t>
            </a:r>
            <a:endParaRPr lang="en-US" sz="750" dirty="0"/>
          </a:p>
        </p:txBody>
      </p:sp>
      <p:sp>
        <p:nvSpPr>
          <p:cNvPr id="13" name="Text 11"/>
          <p:cNvSpPr/>
          <p:nvPr/>
        </p:nvSpPr>
        <p:spPr>
          <a:xfrm>
            <a:off x="381000" y="3166467"/>
            <a:ext cx="2893397" cy="385763"/>
          </a:xfrm>
          <a:prstGeom prst="rect">
            <a:avLst/>
          </a:prstGeom>
          <a:noFill/>
          <a:ln/>
        </p:spPr>
        <p:txBody>
          <a:bodyPr wrap="square" lIns="0" tIns="0" rIns="0" bIns="0" rtlCol="0" anchor="t"/>
          <a:lstStyle/>
          <a:p>
            <a:pPr algn="l" indent="0" marL="0">
              <a:lnSpc>
                <a:spcPts val="1013"/>
              </a:lnSpc>
              <a:buNone/>
            </a:pPr>
            <a:r>
              <a:rPr lang="en-US" sz="675" dirty="0">
                <a:solidFill>
                  <a:srgbClr val="FFFFFF">
                    <a:alpha val="60000"/>
                  </a:srgbClr>
                </a:solidFill>
                <a:latin typeface="Arial" pitchFamily="34" charset="0"/>
                <a:ea typeface="Arial" pitchFamily="34" charset="-122"/>
                <a:cs typeface="Arial" pitchFamily="34" charset="-120"/>
              </a:rPr>
              <a:t>SuperWhisper is an </a:t>
            </a:r>
            <a:pPr algn="l" indent="0" marL="0">
              <a:lnSpc>
                <a:spcPts val="1013"/>
              </a:lnSpc>
              <a:buNone/>
            </a:pPr>
            <a:r>
              <a:rPr lang="en-US" sz="675" b="1" dirty="0">
                <a:solidFill>
                  <a:srgbClr val="FFFFFF">
                    <a:alpha val="60000"/>
                  </a:srgbClr>
                </a:solidFill>
                <a:latin typeface="Arial" pitchFamily="34" charset="0"/>
                <a:ea typeface="Arial" pitchFamily="34" charset="-122"/>
                <a:cs typeface="Arial" pitchFamily="34" charset="-120"/>
              </a:rPr>
              <a:t>input method</a:t>
            </a:r>
            <a:pPr algn="l" indent="0" marL="0">
              <a:lnSpc>
                <a:spcPts val="1013"/>
              </a:lnSpc>
              <a:buNone/>
            </a:pPr>
            <a:r>
              <a:rPr lang="en-US" sz="675" dirty="0">
                <a:solidFill>
                  <a:srgbClr val="FFFFFF">
                    <a:alpha val="60000"/>
                  </a:srgbClr>
                </a:solidFill>
                <a:latin typeface="Arial" pitchFamily="34" charset="0"/>
                <a:ea typeface="Arial" pitchFamily="34" charset="-122"/>
                <a:cs typeface="Arial" pitchFamily="34" charset="-120"/>
              </a:rPr>
              <a:t>,</a:t>
            </a:r>
            <a:endParaRPr lang="en-US" sz="675" dirty="0"/>
          </a:p>
          <a:p>
            <a:pPr algn="l" indent="0" marL="0">
              <a:lnSpc>
                <a:spcPts val="1013"/>
              </a:lnSpc>
              <a:buNone/>
            </a:pPr>
            <a:r>
              <a:rPr lang="en-US" sz="675" dirty="0">
                <a:solidFill>
                  <a:srgbClr val="FFFFFF">
                    <a:alpha val="60000"/>
                  </a:srgbClr>
                </a:solidFill>
                <a:latin typeface="Arial" pitchFamily="34" charset="0"/>
                <a:ea typeface="Arial" pitchFamily="34" charset="-122"/>
                <a:cs typeface="Arial" pitchFamily="34" charset="-120"/>
              </a:rPr>
              <a:t> not a code generator. It prepares</a:t>
            </a:r>
            <a:endParaRPr lang="en-US" sz="675" dirty="0"/>
          </a:p>
          <a:p>
            <a:pPr algn="l" indent="0" marL="0">
              <a:lnSpc>
                <a:spcPts val="1013"/>
              </a:lnSpc>
              <a:buNone/>
            </a:pPr>
            <a:r>
              <a:rPr lang="en-US" sz="675" dirty="0">
                <a:solidFill>
                  <a:srgbClr val="FFFFFF">
                    <a:alpha val="60000"/>
                  </a:srgbClr>
                </a:solidFill>
                <a:latin typeface="Arial" pitchFamily="34" charset="0"/>
                <a:ea typeface="Arial" pitchFamily="34" charset="-122"/>
                <a:cs typeface="Arial" pitchFamily="34" charset="-120"/>
              </a:rPr>
              <a:t> your prompts for another AI to execute.</a:t>
            </a:r>
            <a:endParaRPr lang="en-US" sz="675" dirty="0"/>
          </a:p>
        </p:txBody>
      </p:sp>
      <p:sp>
        <p:nvSpPr>
          <p:cNvPr id="14" name="Text 12"/>
          <p:cNvSpPr/>
          <p:nvPr/>
        </p:nvSpPr>
        <p:spPr>
          <a:xfrm>
            <a:off x="266700" y="3933230"/>
            <a:ext cx="3065264" cy="933450"/>
          </a:xfrm>
          <a:prstGeom prst="rect">
            <a:avLst/>
          </a:prstGeom>
          <a:solidFill>
            <a:srgbClr val="FFFFFF">
              <a:alpha val="5000"/>
            </a:srgbClr>
          </a:solidFill>
          <a:ln/>
        </p:spPr>
        <p:txBody>
          <a:bodyPr wrap="square" rtlCol="0" anchor="ctr"/>
          <a:lstStyle/>
          <a:p>
            <a:pPr indent="0" marL="0">
              <a:buNone/>
            </a:pPr>
            <a:endParaRPr lang="en-US" dirty="0"/>
          </a:p>
        </p:txBody>
      </p:sp>
      <p:sp>
        <p:nvSpPr>
          <p:cNvPr id="15" name="Text 13"/>
          <p:cNvSpPr/>
          <p:nvPr/>
        </p:nvSpPr>
        <p:spPr>
          <a:xfrm>
            <a:off x="381000" y="4047530"/>
            <a:ext cx="2893397"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AUTO-ACTIVATION</a:t>
            </a:r>
            <a:endParaRPr lang="en-US" sz="750" dirty="0"/>
          </a:p>
        </p:txBody>
      </p:sp>
      <p:sp>
        <p:nvSpPr>
          <p:cNvPr id="16" name="Text 14"/>
          <p:cNvSpPr/>
          <p:nvPr/>
        </p:nvSpPr>
        <p:spPr>
          <a:xfrm>
            <a:off x="381000" y="4238030"/>
            <a:ext cx="2893397" cy="514350"/>
          </a:xfrm>
          <a:prstGeom prst="rect">
            <a:avLst/>
          </a:prstGeom>
          <a:noFill/>
          <a:ln/>
        </p:spPr>
        <p:txBody>
          <a:bodyPr wrap="square" lIns="0" tIns="0" rIns="0" bIns="0" rtlCol="0" anchor="t"/>
          <a:lstStyle/>
          <a:p>
            <a:pPr algn="l" indent="0" marL="0">
              <a:lnSpc>
                <a:spcPts val="1013"/>
              </a:lnSpc>
              <a:buNone/>
            </a:pPr>
            <a:r>
              <a:rPr lang="en-US" sz="675" dirty="0">
                <a:solidFill>
                  <a:srgbClr val="FFFFFF">
                    <a:alpha val="60000"/>
                  </a:srgbClr>
                </a:solidFill>
                <a:latin typeface="Arial" pitchFamily="34" charset="0"/>
                <a:ea typeface="Arial" pitchFamily="34" charset="-122"/>
                <a:cs typeface="Arial" pitchFamily="34" charset="-120"/>
              </a:rPr>
              <a:t>ChatGPT / Claude.ai</a:t>
            </a:r>
            <a:endParaRPr lang="en-US" sz="675" dirty="0"/>
          </a:p>
          <a:p>
            <a:pPr algn="l" indent="0" marL="0">
              <a:lnSpc>
                <a:spcPts val="1013"/>
              </a:lnSpc>
              <a:buNone/>
            </a:pPr>
            <a:r>
              <a:rPr lang="en-US" sz="675" dirty="0">
                <a:solidFill>
                  <a:srgbClr val="FFFFFF">
                    <a:alpha val="60000"/>
                  </a:srgbClr>
                </a:solidFill>
                <a:latin typeface="Arial" pitchFamily="34" charset="0"/>
                <a:ea typeface="Arial" pitchFamily="34" charset="-122"/>
                <a:cs typeface="Arial" pitchFamily="34" charset="-120"/>
              </a:rPr>
              <a:t> Cursor AI input</a:t>
            </a:r>
            <a:endParaRPr lang="en-US" sz="675" dirty="0"/>
          </a:p>
          <a:p>
            <a:pPr algn="l" indent="0" marL="0">
              <a:lnSpc>
                <a:spcPts val="1013"/>
              </a:lnSpc>
              <a:buNone/>
            </a:pPr>
            <a:r>
              <a:rPr lang="en-US" sz="675" dirty="0">
                <a:solidFill>
                  <a:srgbClr val="FFFFFF">
                    <a:alpha val="60000"/>
                  </a:srgbClr>
                </a:solidFill>
                <a:latin typeface="Arial" pitchFamily="34" charset="0"/>
                <a:ea typeface="Arial" pitchFamily="34" charset="-122"/>
                <a:cs typeface="Arial" pitchFamily="34" charset="-120"/>
              </a:rPr>
              <a:t> Copilot Chat</a:t>
            </a:r>
            <a:endParaRPr lang="en-US" sz="675" dirty="0"/>
          </a:p>
          <a:p>
            <a:pPr algn="l" indent="0" marL="0">
              <a:lnSpc>
                <a:spcPts val="1013"/>
              </a:lnSpc>
              <a:buNone/>
            </a:pPr>
            <a:r>
              <a:rPr lang="en-US" sz="675" dirty="0">
                <a:solidFill>
                  <a:srgbClr val="FFFFFF">
                    <a:alpha val="60000"/>
                  </a:srgbClr>
                </a:solidFill>
                <a:latin typeface="Arial" pitchFamily="34" charset="0"/>
                <a:ea typeface="Arial" pitchFamily="34" charset="-122"/>
                <a:cs typeface="Arial" pitchFamily="34" charset="-120"/>
              </a:rPr>
              <a:t> Any AI prompt field</a:t>
            </a:r>
            <a:endParaRPr lang="en-US" sz="675" dirty="0"/>
          </a:p>
        </p:txBody>
      </p:sp>
      <p:sp>
        <p:nvSpPr>
          <p:cNvPr id="17" name="Text 15"/>
          <p:cNvSpPr/>
          <p:nvPr/>
        </p:nvSpPr>
        <p:spPr>
          <a:xfrm>
            <a:off x="3751064" y="0"/>
            <a:ext cx="5392936" cy="5143500"/>
          </a:xfrm>
          <a:prstGeom prst="rect">
            <a:avLst/>
          </a:prstGeom>
          <a:solidFill>
            <a:srgbClr val="F7F8FA"/>
          </a:solidFill>
          <a:ln/>
        </p:spPr>
        <p:txBody>
          <a:bodyPr wrap="square" rtlCol="0" anchor="ctr"/>
          <a:lstStyle/>
          <a:p>
            <a:pPr indent="0" marL="0">
              <a:buNone/>
            </a:pPr>
            <a:endParaRPr lang="en-US" dirty="0"/>
          </a:p>
        </p:txBody>
      </p:sp>
      <p:sp>
        <p:nvSpPr>
          <p:cNvPr id="18" name="Text 16"/>
          <p:cNvSpPr/>
          <p:nvPr/>
        </p:nvSpPr>
        <p:spPr>
          <a:xfrm>
            <a:off x="4017764" y="337840"/>
            <a:ext cx="4956727" cy="159990"/>
          </a:xfrm>
          <a:prstGeom prst="rect">
            <a:avLst/>
          </a:prstGeom>
          <a:noFill/>
          <a:ln/>
        </p:spPr>
        <p:txBody>
          <a:bodyPr wrap="square" lIns="0" tIns="0" rIns="0" bIns="0" rtlCol="0" anchor="t"/>
          <a:lstStyle/>
          <a:p>
            <a:pPr algn="l" indent="0" marL="0">
              <a:lnSpc>
                <a:spcPts val="1260"/>
              </a:lnSpc>
              <a:spcAft>
                <a:spcPts val="900"/>
              </a:spcAft>
              <a:buNone/>
            </a:pPr>
            <a:r>
              <a:rPr lang="en-US" sz="900" b="1" dirty="0">
                <a:solidFill>
                  <a:srgbClr val="1A1F2E"/>
                </a:solidFill>
                <a:latin typeface="Arial" pitchFamily="34" charset="0"/>
                <a:ea typeface="Arial" pitchFamily="34" charset="-122"/>
                <a:cs typeface="Arial" pitchFamily="34" charset="-120"/>
              </a:rPr>
              <a:t>SAMPLE AI INSTRUCTIONS</a:t>
            </a:r>
            <a:endParaRPr lang="en-US" sz="900" dirty="0"/>
          </a:p>
        </p:txBody>
      </p:sp>
      <p:sp>
        <p:nvSpPr>
          <p:cNvPr id="19" name="Text 17"/>
          <p:cNvSpPr/>
          <p:nvPr/>
        </p:nvSpPr>
        <p:spPr>
          <a:xfrm>
            <a:off x="4017764" y="764530"/>
            <a:ext cx="4859536" cy="2422327"/>
          </a:xfrm>
          <a:prstGeom prst="rect">
            <a:avLst/>
          </a:prstGeom>
          <a:solidFill>
            <a:srgbClr val="1A1F2E"/>
          </a:solidFill>
          <a:ln/>
        </p:spPr>
        <p:txBody>
          <a:bodyPr wrap="square" rtlCol="0" anchor="ctr"/>
          <a:lstStyle/>
          <a:p>
            <a:pPr indent="0" marL="0">
              <a:buNone/>
            </a:pPr>
            <a:endParaRPr lang="en-US" dirty="0"/>
          </a:p>
        </p:txBody>
      </p:sp>
      <p:sp>
        <p:nvSpPr>
          <p:cNvPr id="20" name="Text 18"/>
          <p:cNvSpPr/>
          <p:nvPr/>
        </p:nvSpPr>
        <p:spPr>
          <a:xfrm>
            <a:off x="4170164" y="916930"/>
            <a:ext cx="4645831" cy="106561"/>
          </a:xfrm>
          <a:prstGeom prst="rect">
            <a:avLst/>
          </a:prstGeom>
          <a:noFill/>
          <a:ln/>
        </p:spPr>
        <p:txBody>
          <a:bodyPr wrap="square" lIns="0" tIns="0" rIns="0" bIns="0" rtlCol="0" anchor="t"/>
          <a:lstStyle/>
          <a:p>
            <a:pPr algn="l" indent="0" marL="0">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&lt;role&gt;</a:t>
            </a:r>
            <a:endParaRPr lang="en-US" sz="600" dirty="0"/>
          </a:p>
        </p:txBody>
      </p:sp>
      <p:sp>
        <p:nvSpPr>
          <p:cNvPr id="21" name="Text 19"/>
          <p:cNvSpPr/>
          <p:nvPr/>
        </p:nvSpPr>
        <p:spPr>
          <a:xfrm>
            <a:off x="4170164" y="1080641"/>
            <a:ext cx="4645831" cy="106561"/>
          </a:xfrm>
          <a:prstGeom prst="rect">
            <a:avLst/>
          </a:prstGeom>
          <a:noFill/>
          <a:ln/>
        </p:spPr>
        <p:txBody>
          <a:bodyPr wrap="square" lIns="76200" tIns="0" rIns="0" bIns="0" rtlCol="0" anchor="t"/>
          <a:lstStyle/>
          <a:p>
            <a:pPr algn="l" indent="0" marL="0">
              <a:lnSpc>
                <a:spcPts val="840"/>
              </a:lnSpc>
              <a:spcAft>
                <a:spcPts val="450"/>
              </a:spcAft>
              <a:buNone/>
            </a:pPr>
            <a:r>
              <a:rPr lang="en-US" sz="600" dirty="0">
                <a:solidFill>
                  <a:srgbClr val="FFFFFF">
                    <a:alpha val="85000"/>
                  </a:srgbClr>
                </a:solidFill>
                <a:latin typeface="Arial" pitchFamily="34" charset="0"/>
                <a:ea typeface="Arial" pitchFamily="34" charset="-122"/>
                <a:cs typeface="Arial" pitchFamily="34" charset="-120"/>
              </a:rPr>
              <a:t>You are a prompt engineer preparing input for AI assistants</a:t>
            </a:r>
            <a:endParaRPr lang="en-US" sz="600" dirty="0"/>
          </a:p>
        </p:txBody>
      </p:sp>
      <p:sp>
        <p:nvSpPr>
          <p:cNvPr id="22" name="Text 20"/>
          <p:cNvSpPr/>
          <p:nvPr/>
        </p:nvSpPr>
        <p:spPr>
          <a:xfrm>
            <a:off x="4170164" y="1244352"/>
            <a:ext cx="4645831" cy="106561"/>
          </a:xfrm>
          <a:prstGeom prst="rect">
            <a:avLst/>
          </a:prstGeom>
          <a:noFill/>
          <a:ln/>
        </p:spPr>
        <p:txBody>
          <a:bodyPr wrap="square" lIns="0" tIns="0" rIns="0" bIns="0" rtlCol="0" anchor="t"/>
          <a:lstStyle/>
          <a:p>
            <a:pPr algn="l" indent="0" marL="0">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&lt;/role&gt;</a:t>
            </a:r>
            <a:endParaRPr lang="en-US" sz="600" dirty="0"/>
          </a:p>
        </p:txBody>
      </p:sp>
      <p:sp>
        <p:nvSpPr>
          <p:cNvPr id="23" name="Text 21"/>
          <p:cNvSpPr/>
          <p:nvPr/>
        </p:nvSpPr>
        <p:spPr>
          <a:xfrm>
            <a:off x="4170164" y="1408063"/>
            <a:ext cx="4645831" cy="106561"/>
          </a:xfrm>
          <a:prstGeom prst="rect">
            <a:avLst/>
          </a:prstGeom>
          <a:noFill/>
          <a:ln/>
        </p:spPr>
        <p:txBody>
          <a:bodyPr wrap="square" lIns="0" tIns="0" rIns="0" bIns="0" rtlCol="0" anchor="t"/>
          <a:lstStyle/>
          <a:p>
            <a:pPr algn="l" indent="0" marL="0">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&lt;instructions&gt;</a:t>
            </a:r>
            <a:endParaRPr lang="en-US" sz="600" dirty="0"/>
          </a:p>
        </p:txBody>
      </p:sp>
      <p:sp>
        <p:nvSpPr>
          <p:cNvPr id="24" name="Text 22"/>
          <p:cNvSpPr/>
          <p:nvPr/>
        </p:nvSpPr>
        <p:spPr>
          <a:xfrm>
            <a:off x="4170164" y="1571774"/>
            <a:ext cx="4645831" cy="342900"/>
          </a:xfrm>
          <a:prstGeom prst="rect">
            <a:avLst/>
          </a:prstGeom>
          <a:noFill/>
          <a:ln/>
        </p:spPr>
        <p:txBody>
          <a:bodyPr wrap="square" lIns="76200" tIns="0" rIns="0" bIns="0" rtlCol="0" anchor="t"/>
          <a:lstStyle/>
          <a:p>
            <a:pPr algn="l" indent="0" marL="0">
              <a:lnSpc>
                <a:spcPts val="900"/>
              </a:lnSpc>
              <a:spcAft>
                <a:spcPts val="450"/>
              </a:spcAft>
              <a:buNone/>
            </a:pPr>
            <a:r>
              <a:rPr lang="en-US" sz="600" dirty="0">
                <a:solidFill>
                  <a:srgbClr val="FFFFFF">
                    <a:alpha val="85000"/>
                  </a:srgbClr>
                </a:solidFill>
                <a:latin typeface="Arial" pitchFamily="34" charset="0"/>
                <a:ea typeface="Arial" pitchFamily="34" charset="-122"/>
                <a:cs typeface="Arial" pitchFamily="34" charset="-120"/>
              </a:rPr>
              <a:t>The User Message is raw dictated speech.</a:t>
            </a:r>
            <a:endParaRPr lang="en-US" sz="600" dirty="0"/>
          </a:p>
          <a:p>
            <a:pPr algn="l" indent="0" marL="0">
              <a:lnSpc>
                <a:spcPts val="900"/>
              </a:lnSpc>
              <a:spcAft>
                <a:spcPts val="450"/>
              </a:spcAft>
              <a:buNone/>
            </a:pPr>
            <a:r>
              <a:rPr lang="en-US" sz="600" dirty="0">
                <a:solidFill>
                  <a:srgbClr val="FFFFFF">
                    <a:alpha val="85000"/>
                  </a:srgbClr>
                </a:solidFill>
                <a:latin typeface="Arial" pitchFamily="34" charset="0"/>
                <a:ea typeface="Arial" pitchFamily="34" charset="-122"/>
                <a:cs typeface="Arial" pitchFamily="34" charset="-120"/>
              </a:rPr>
              <a:t> Reformat it as a clear, effective prompt</a:t>
            </a:r>
            <a:endParaRPr lang="en-US" sz="600" dirty="0"/>
          </a:p>
          <a:p>
            <a:pPr algn="l" indent="0" marL="0">
              <a:lnSpc>
                <a:spcPts val="900"/>
              </a:lnSpc>
              <a:spcAft>
                <a:spcPts val="450"/>
              </a:spcAft>
              <a:buNone/>
            </a:pPr>
            <a:r>
              <a:rPr lang="en-US" sz="600" dirty="0">
                <a:solidFill>
                  <a:srgbClr val="FFFFFF">
                    <a:alpha val="85000"/>
                  </a:srgbClr>
                </a:solidFill>
                <a:latin typeface="Arial" pitchFamily="34" charset="0"/>
                <a:ea typeface="Arial" pitchFamily="34" charset="-122"/>
                <a:cs typeface="Arial" pitchFamily="34" charset="-120"/>
              </a:rPr>
              <a:t> ready to paste into an AI tool.</a:t>
            </a:r>
            <a:endParaRPr lang="en-US" sz="600" dirty="0"/>
          </a:p>
        </p:txBody>
      </p:sp>
      <p:sp>
        <p:nvSpPr>
          <p:cNvPr id="25" name="Text 23"/>
          <p:cNvSpPr/>
          <p:nvPr/>
        </p:nvSpPr>
        <p:spPr>
          <a:xfrm>
            <a:off x="4170164" y="1971824"/>
            <a:ext cx="4645831" cy="106561"/>
          </a:xfrm>
          <a:prstGeom prst="rect">
            <a:avLst/>
          </a:prstGeom>
          <a:noFill/>
          <a:ln/>
        </p:spPr>
        <p:txBody>
          <a:bodyPr wrap="square" lIns="0" tIns="0" rIns="0" bIns="0" rtlCol="0" anchor="t"/>
          <a:lstStyle/>
          <a:p>
            <a:pPr algn="l" indent="0" marL="0">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&lt;/instructions&gt;</a:t>
            </a:r>
            <a:endParaRPr lang="en-US" sz="600" dirty="0"/>
          </a:p>
        </p:txBody>
      </p:sp>
      <p:sp>
        <p:nvSpPr>
          <p:cNvPr id="26" name="Text 24"/>
          <p:cNvSpPr/>
          <p:nvPr/>
        </p:nvSpPr>
        <p:spPr>
          <a:xfrm>
            <a:off x="4170164" y="2135535"/>
            <a:ext cx="4645831" cy="106561"/>
          </a:xfrm>
          <a:prstGeom prst="rect">
            <a:avLst/>
          </a:prstGeom>
          <a:noFill/>
          <a:ln/>
        </p:spPr>
        <p:txBody>
          <a:bodyPr wrap="square" lIns="0" tIns="0" rIns="0" bIns="0" rtlCol="0" anchor="t"/>
          <a:lstStyle/>
          <a:p>
            <a:pPr algn="l" indent="0" marL="0">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&lt;requirements&gt;</a:t>
            </a:r>
            <a:endParaRPr lang="en-US" sz="600" dirty="0"/>
          </a:p>
        </p:txBody>
      </p:sp>
      <p:sp>
        <p:nvSpPr>
          <p:cNvPr id="27" name="Text 25"/>
          <p:cNvSpPr/>
          <p:nvPr/>
        </p:nvSpPr>
        <p:spPr>
          <a:xfrm>
            <a:off x="4170164" y="2299246"/>
            <a:ext cx="4645831" cy="571500"/>
          </a:xfrm>
          <a:prstGeom prst="rect">
            <a:avLst/>
          </a:prstGeom>
          <a:noFill/>
          <a:ln/>
        </p:spPr>
        <p:txBody>
          <a:bodyPr wrap="square" lIns="76200" tIns="0" rIns="0" bIns="0" rtlCol="0" anchor="t"/>
          <a:lstStyle/>
          <a:p>
            <a:pPr algn="l" indent="0" marL="0">
              <a:lnSpc>
                <a:spcPts val="900"/>
              </a:lnSpc>
              <a:buNone/>
            </a:pPr>
            <a:r>
              <a:rPr lang="en-US" sz="600" dirty="0">
                <a:solidFill>
                  <a:srgbClr val="FFFFFF">
                    <a:alpha val="85000"/>
                  </a:srgbClr>
                </a:solidFill>
                <a:latin typeface="Arial" pitchFamily="34" charset="0"/>
                <a:ea typeface="Arial" pitchFamily="34" charset="-122"/>
                <a:cs typeface="Arial" pitchFamily="34" charset="-120"/>
              </a:rPr>
              <a:t>Clarify intent and scope</a:t>
            </a:r>
            <a:endParaRPr lang="en-US" sz="600" dirty="0"/>
          </a:p>
          <a:p>
            <a:pPr algn="l" indent="0" marL="0">
              <a:lnSpc>
                <a:spcPts val="900"/>
              </a:lnSpc>
              <a:buNone/>
            </a:pPr>
            <a:r>
              <a:rPr lang="en-US" sz="600" dirty="0">
                <a:solidFill>
                  <a:srgbClr val="FFFFFF">
                    <a:alpha val="85000"/>
                  </a:srgbClr>
                </a:solidFill>
                <a:latin typeface="Arial" pitchFamily="34" charset="0"/>
                <a:ea typeface="Arial" pitchFamily="34" charset="-122"/>
                <a:cs typeface="Arial" pitchFamily="34" charset="-120"/>
              </a:rPr>
              <a:t> Add structure (numbered steps if complex)</a:t>
            </a:r>
            <a:endParaRPr lang="en-US" sz="600" dirty="0"/>
          </a:p>
          <a:p>
            <a:pPr algn="l" indent="0" marL="0">
              <a:lnSpc>
                <a:spcPts val="900"/>
              </a:lnSpc>
              <a:buNone/>
            </a:pPr>
            <a:r>
              <a:rPr lang="en-US" sz="600" dirty="0">
                <a:solidFill>
                  <a:srgbClr val="FFFFFF">
                    <a:alpha val="85000"/>
                  </a:srgbClr>
                </a:solidFill>
                <a:latin typeface="Arial" pitchFamily="34" charset="0"/>
                <a:ea typeface="Arial" pitchFamily="34" charset="-122"/>
                <a:cs typeface="Arial" pitchFamily="34" charset="-120"/>
              </a:rPr>
              <a:t> Preserve technical terms exactly</a:t>
            </a:r>
            <a:endParaRPr lang="en-US" sz="600" dirty="0"/>
          </a:p>
          <a:p>
            <a:pPr algn="l" indent="0" marL="0">
              <a:lnSpc>
                <a:spcPts val="900"/>
              </a:lnSpc>
              <a:buNone/>
            </a:pPr>
            <a:r>
              <a:rPr lang="en-US" sz="600" dirty="0">
                <a:solidFill>
                  <a:srgbClr val="FFFFFF">
                    <a:alpha val="85000"/>
                  </a:srgbClr>
                </a:solidFill>
                <a:latin typeface="Arial" pitchFamily="34" charset="0"/>
                <a:ea typeface="Arial" pitchFamily="34" charset="-122"/>
                <a:cs typeface="Arial" pitchFamily="34" charset="-120"/>
              </a:rPr>
              <a:t> Remove filler words ("um", "like", etc.)</a:t>
            </a:r>
            <a:endParaRPr lang="en-US" sz="600" dirty="0"/>
          </a:p>
          <a:p>
            <a:pPr algn="l" indent="0" marL="0">
              <a:lnSpc>
                <a:spcPts val="900"/>
              </a:lnSpc>
              <a:buNone/>
            </a:pPr>
            <a:r>
              <a:rPr lang="en-US" sz="600" dirty="0">
                <a:solidFill>
                  <a:srgbClr val="FFFFFF">
                    <a:alpha val="85000"/>
                  </a:srgbClr>
                </a:solidFill>
                <a:latin typeface="Arial" pitchFamily="34" charset="0"/>
                <a:ea typeface="Arial" pitchFamily="34" charset="-122"/>
                <a:cs typeface="Arial" pitchFamily="34" charset="-120"/>
              </a:rPr>
              <a:t> Keep the user's voice and intent</a:t>
            </a:r>
            <a:endParaRPr lang="en-US" sz="600" dirty="0"/>
          </a:p>
        </p:txBody>
      </p:sp>
      <p:sp>
        <p:nvSpPr>
          <p:cNvPr id="28" name="Text 26"/>
          <p:cNvSpPr/>
          <p:nvPr/>
        </p:nvSpPr>
        <p:spPr>
          <a:xfrm>
            <a:off x="4170164" y="2927896"/>
            <a:ext cx="4645831" cy="106561"/>
          </a:xfrm>
          <a:prstGeom prst="rect">
            <a:avLst/>
          </a:prstGeom>
          <a:noFill/>
          <a:ln/>
        </p:spPr>
        <p:txBody>
          <a:bodyPr wrap="square" lIns="0" tIns="0" rIns="0" bIns="0" rtlCol="0" anchor="t"/>
          <a:lstStyle/>
          <a:p>
            <a:pPr algn="l" indent="0" marL="0">
              <a:lnSpc>
                <a:spcPts val="840"/>
              </a:lnSpc>
              <a:spcBef>
                <a:spcPts val="450"/>
              </a:spcBef>
              <a:buNone/>
            </a:pPr>
            <a:r>
              <a:rPr lang="en-US" sz="600" dirty="0">
                <a:solidFill>
                  <a:srgbClr val="C9A227"/>
                </a:solidFill>
                <a:latin typeface="Arial" pitchFamily="34" charset="0"/>
                <a:ea typeface="Arial" pitchFamily="34" charset="-122"/>
                <a:cs typeface="Arial" pitchFamily="34" charset="-120"/>
              </a:rPr>
              <a:t>&lt;/requirements&gt;</a:t>
            </a:r>
            <a:endParaRPr lang="en-US" sz="600" dirty="0"/>
          </a:p>
        </p:txBody>
      </p:sp>
      <p:sp>
        <p:nvSpPr>
          <p:cNvPr id="29" name="Text 27"/>
          <p:cNvSpPr/>
          <p:nvPr/>
        </p:nvSpPr>
        <p:spPr>
          <a:xfrm>
            <a:off x="4017764" y="3516362"/>
            <a:ext cx="2386905" cy="668238"/>
          </a:xfrm>
          <a:prstGeom prst="rect">
            <a:avLst/>
          </a:prstGeom>
          <a:solidFill>
            <a:srgbClr val="DCFCE7"/>
          </a:solidFill>
          <a:ln/>
        </p:spPr>
        <p:txBody>
          <a:bodyPr wrap="square" rtlCol="0" anchor="ctr"/>
          <a:lstStyle/>
          <a:p>
            <a:pPr indent="0" marL="0">
              <a:buNone/>
            </a:pPr>
            <a:endParaRPr lang="en-US" dirty="0"/>
          </a:p>
        </p:txBody>
      </p:sp>
      <p:sp>
        <p:nvSpPr>
          <p:cNvPr id="30" name="Shape 28"/>
          <p:cNvSpPr/>
          <p:nvPr/>
        </p:nvSpPr>
        <p:spPr>
          <a:xfrm>
            <a:off x="4032052" y="3516362"/>
            <a:ext cx="0" cy="668238"/>
          </a:xfrm>
          <a:prstGeom prst="line">
            <a:avLst/>
          </a:prstGeom>
          <a:noFill/>
          <a:ln w="28575">
            <a:solidFill>
              <a:srgbClr val="059669"/>
            </a:solidFill>
            <a:prstDash val="solid"/>
          </a:ln>
        </p:spPr>
      </p:sp>
      <p:sp>
        <p:nvSpPr>
          <p:cNvPr id="31" name="Text 29"/>
          <p:cNvSpPr/>
          <p:nvPr/>
        </p:nvSpPr>
        <p:spPr>
          <a:xfrm>
            <a:off x="4141589" y="3611612"/>
            <a:ext cx="2211187"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166534"/>
                </a:solidFill>
                <a:latin typeface="Arial" pitchFamily="34" charset="0"/>
                <a:ea typeface="Arial" pitchFamily="34" charset="-122"/>
                <a:cs typeface="Arial" pitchFamily="34" charset="-120"/>
              </a:rPr>
              <a:t>RAW SPEECH</a:t>
            </a:r>
            <a:endParaRPr lang="en-US" sz="675" dirty="0"/>
          </a:p>
        </p:txBody>
      </p:sp>
      <p:sp>
        <p:nvSpPr>
          <p:cNvPr id="32" name="Text 30"/>
          <p:cNvSpPr/>
          <p:nvPr/>
        </p:nvSpPr>
        <p:spPr>
          <a:xfrm>
            <a:off x="4141589" y="3769668"/>
            <a:ext cx="2211187" cy="319683"/>
          </a:xfrm>
          <a:prstGeom prst="rect">
            <a:avLst/>
          </a:prstGeom>
          <a:noFill/>
          <a:ln/>
        </p:spPr>
        <p:txBody>
          <a:bodyPr wrap="square" lIns="0" tIns="0" rIns="0" bIns="0" rtlCol="0" anchor="t"/>
          <a:lstStyle/>
          <a:p>
            <a:pPr algn="l" indent="0" marL="0">
              <a:lnSpc>
                <a:spcPts val="840"/>
              </a:lnSpc>
              <a:buNone/>
            </a:pPr>
            <a:r>
              <a:rPr lang="en-US" sz="600" dirty="0">
                <a:solidFill>
                  <a:srgbClr val="166534"/>
                </a:solidFill>
                <a:latin typeface="Arial" pitchFamily="34" charset="0"/>
                <a:ea typeface="Arial" pitchFamily="34" charset="-122"/>
                <a:cs typeface="Arial" pitchFamily="34" charset="-120"/>
              </a:rPr>
              <a:t>"okay so um I need like a function that takes a list of users and filters them by um you know active status and then sorts by last login date"</a:t>
            </a:r>
            <a:endParaRPr lang="en-US" sz="600" dirty="0"/>
          </a:p>
        </p:txBody>
      </p:sp>
      <p:sp>
        <p:nvSpPr>
          <p:cNvPr id="33" name="Text 31"/>
          <p:cNvSpPr/>
          <p:nvPr/>
        </p:nvSpPr>
        <p:spPr>
          <a:xfrm>
            <a:off x="6499920" y="3453557"/>
            <a:ext cx="2377380" cy="793849"/>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34" name="Text 32"/>
          <p:cNvSpPr/>
          <p:nvPr/>
        </p:nvSpPr>
        <p:spPr>
          <a:xfrm>
            <a:off x="6604695" y="3558332"/>
            <a:ext cx="2211187"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1A1F2E"/>
                </a:solidFill>
                <a:latin typeface="Arial" pitchFamily="34" charset="0"/>
                <a:ea typeface="Arial" pitchFamily="34" charset="-122"/>
                <a:cs typeface="Arial" pitchFamily="34" charset="-120"/>
              </a:rPr>
              <a:t>ENRICHED PROMPT</a:t>
            </a:r>
            <a:endParaRPr lang="en-US" sz="675" dirty="0"/>
          </a:p>
        </p:txBody>
      </p:sp>
      <p:sp>
        <p:nvSpPr>
          <p:cNvPr id="35" name="Text 33"/>
          <p:cNvSpPr/>
          <p:nvPr/>
        </p:nvSpPr>
        <p:spPr>
          <a:xfrm>
            <a:off x="6604695" y="3716387"/>
            <a:ext cx="2211187" cy="426244"/>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Create a function that:</a:t>
            </a:r>
            <a:endParaRPr lang="en-US" sz="600" dirty="0"/>
          </a:p>
          <a:p>
            <a:pPr algn="l" indent="0" marL="0">
              <a:lnSpc>
                <a:spcPts val="840"/>
              </a:lnSpc>
              <a:buNone/>
            </a:pPr>
            <a:r>
              <a:rPr lang="en-US" sz="600" dirty="0">
                <a:solidFill>
                  <a:srgbClr val="6B7280"/>
                </a:solidFill>
                <a:latin typeface="Arial" pitchFamily="34" charset="0"/>
                <a:ea typeface="Arial" pitchFamily="34" charset="-122"/>
                <a:cs typeface="Arial" pitchFamily="34" charset="-120"/>
              </a:rPr>
              <a:t>1. Takes a list of users</a:t>
            </a:r>
            <a:endParaRPr lang="en-US" sz="600" dirty="0"/>
          </a:p>
          <a:p>
            <a:pPr algn="l" indent="0" marL="0">
              <a:lnSpc>
                <a:spcPts val="840"/>
              </a:lnSpc>
              <a:buNone/>
            </a:pPr>
            <a:r>
              <a:rPr lang="en-US" sz="600" dirty="0">
                <a:solidFill>
                  <a:srgbClr val="6B7280"/>
                </a:solidFill>
                <a:latin typeface="Arial" pitchFamily="34" charset="0"/>
                <a:ea typeface="Arial" pitchFamily="34" charset="-122"/>
                <a:cs typeface="Arial" pitchFamily="34" charset="-120"/>
              </a:rPr>
              <a:t>2. Filters to only active users</a:t>
            </a:r>
            <a:endParaRPr lang="en-US" sz="600" dirty="0"/>
          </a:p>
          <a:p>
            <a:pPr algn="l" indent="0" marL="0">
              <a:lnSpc>
                <a:spcPts val="840"/>
              </a:lnSpc>
              <a:buNone/>
            </a:pPr>
            <a:r>
              <a:rPr lang="en-US" sz="600" dirty="0">
                <a:solidFill>
                  <a:srgbClr val="6B7280"/>
                </a:solidFill>
                <a:latin typeface="Arial" pitchFamily="34" charset="0"/>
                <a:ea typeface="Arial" pitchFamily="34" charset="-122"/>
                <a:cs typeface="Arial" pitchFamily="34" charset="-120"/>
              </a:rPr>
              <a:t>3. Sorts by last login date (descending)</a:t>
            </a:r>
            <a:endParaRPr lang="en-US" sz="600" dirty="0"/>
          </a:p>
        </p:txBody>
      </p:sp>
      <p:sp>
        <p:nvSpPr>
          <p:cNvPr id="36" name="Text 34"/>
          <p:cNvSpPr/>
          <p:nvPr/>
        </p:nvSpPr>
        <p:spPr>
          <a:xfrm>
            <a:off x="4017764" y="4495056"/>
            <a:ext cx="4859536" cy="310455"/>
          </a:xfrm>
          <a:prstGeom prst="rect">
            <a:avLst/>
          </a:prstGeom>
          <a:solidFill>
            <a:srgbClr val="FEF3C7"/>
          </a:solidFill>
          <a:ln/>
        </p:spPr>
        <p:txBody>
          <a:bodyPr wrap="square" rtlCol="0" anchor="ctr"/>
          <a:lstStyle/>
          <a:p>
            <a:pPr indent="0" marL="0">
              <a:buNone/>
            </a:pPr>
            <a:endParaRPr lang="en-US" dirty="0"/>
          </a:p>
        </p:txBody>
      </p:sp>
      <p:sp>
        <p:nvSpPr>
          <p:cNvPr id="37" name="Shape 35"/>
          <p:cNvSpPr/>
          <p:nvPr/>
        </p:nvSpPr>
        <p:spPr>
          <a:xfrm>
            <a:off x="4032052" y="4495056"/>
            <a:ext cx="0" cy="310455"/>
          </a:xfrm>
          <a:prstGeom prst="line">
            <a:avLst/>
          </a:prstGeom>
          <a:noFill/>
          <a:ln w="28575">
            <a:solidFill>
              <a:srgbClr val="F59E0B"/>
            </a:solidFill>
            <a:prstDash val="solid"/>
          </a:ln>
        </p:spPr>
      </p:sp>
      <p:sp>
        <p:nvSpPr>
          <p:cNvPr id="38" name="Text 36"/>
          <p:cNvSpPr/>
          <p:nvPr/>
        </p:nvSpPr>
        <p:spPr>
          <a:xfrm>
            <a:off x="4141589" y="4590306"/>
            <a:ext cx="4733270" cy="119955"/>
          </a:xfrm>
          <a:prstGeom prst="rect">
            <a:avLst/>
          </a:prstGeom>
          <a:noFill/>
          <a:ln/>
        </p:spPr>
        <p:txBody>
          <a:bodyPr wrap="square" lIns="0" tIns="0" rIns="0" bIns="0" rtlCol="0" anchor="t"/>
          <a:lstStyle/>
          <a:p>
            <a:pPr algn="l" indent="0" marL="0">
              <a:lnSpc>
                <a:spcPts val="945"/>
              </a:lnSpc>
              <a:buNone/>
            </a:pPr>
            <a:r>
              <a:rPr lang="en-US" sz="675" b="1" dirty="0">
                <a:solidFill>
                  <a:srgbClr val="92400E"/>
                </a:solidFill>
                <a:latin typeface="Arial" pitchFamily="34" charset="0"/>
                <a:ea typeface="Arial" pitchFamily="34" charset="-122"/>
                <a:cs typeface="Arial" pitchFamily="34" charset="-120"/>
              </a:rPr>
              <a:t>Flow:</a:t>
            </a:r>
            <a:pPr algn="l" indent="0" marL="0">
              <a:lnSpc>
                <a:spcPts val="945"/>
              </a:lnSpc>
              <a:buNone/>
            </a:pPr>
            <a:r>
              <a:rPr lang="en-US" sz="675" dirty="0">
                <a:solidFill>
                  <a:srgbClr val="92400E"/>
                </a:solidFill>
                <a:latin typeface="Arial" pitchFamily="34" charset="0"/>
                <a:ea typeface="Arial" pitchFamily="34" charset="-122"/>
                <a:cs typeface="Arial" pitchFamily="34" charset="-120"/>
              </a:rPr>
              <a:t> Speak naturally → SuperWhisper enriches → Paste to AI tool → AI executes</a:t>
            </a:r>
            <a:endParaRPr lang="en-US" sz="675"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3598664" cy="5143500"/>
          </a:xfrm>
          <a:prstGeom prst="rect">
            <a:avLst/>
          </a:prstGeom>
          <a:solidFill>
            <a:srgbClr val="1A1F2E"/>
          </a:solidFill>
          <a:ln/>
        </p:spPr>
        <p:txBody>
          <a:bodyPr wrap="square" rtlCol="0" anchor="ctr"/>
          <a:lstStyle/>
          <a:p>
            <a:pPr indent="0" marL="0">
              <a:buNone/>
            </a:pPr>
            <a:endParaRPr lang="en-US" dirty="0"/>
          </a:p>
        </p:txBody>
      </p:sp>
      <p:sp>
        <p:nvSpPr>
          <p:cNvPr id="3" name="Text 1"/>
          <p:cNvSpPr/>
          <p:nvPr/>
        </p:nvSpPr>
        <p:spPr>
          <a:xfrm>
            <a:off x="266700" y="240804"/>
            <a:ext cx="778073" cy="220861"/>
          </a:xfrm>
          <a:prstGeom prst="rect">
            <a:avLst/>
          </a:prstGeom>
          <a:solidFill>
            <a:srgbClr val="3B82F6"/>
          </a:solidFill>
          <a:ln/>
        </p:spPr>
        <p:txBody>
          <a:bodyPr wrap="square" rtlCol="0" anchor="ctr"/>
          <a:lstStyle/>
          <a:p>
            <a:pPr indent="0" marL="0">
              <a:buNone/>
            </a:pPr>
            <a:endParaRPr lang="en-US" dirty="0"/>
          </a:p>
        </p:txBody>
      </p:sp>
      <p:sp>
        <p:nvSpPr>
          <p:cNvPr id="4" name="Text 2"/>
          <p:cNvSpPr/>
          <p:nvPr/>
        </p:nvSpPr>
        <p:spPr>
          <a:xfrm>
            <a:off x="361950" y="297954"/>
            <a:ext cx="599325" cy="106561"/>
          </a:xfrm>
          <a:prstGeom prst="rect">
            <a:avLst/>
          </a:prstGeom>
          <a:noFill/>
          <a:ln/>
        </p:spPr>
        <p:txBody>
          <a:bodyPr wrap="square" lIns="0" tIns="0" rIns="0" bIns="0" rtlCol="0" anchor="t"/>
          <a:lstStyle/>
          <a:p>
            <a:pPr algn="l" indent="0" marL="0">
              <a:lnSpc>
                <a:spcPts val="840"/>
              </a:lnSpc>
              <a:buNone/>
            </a:pPr>
            <a:r>
              <a:rPr lang="en-US" sz="600" b="1" dirty="0">
                <a:solidFill>
                  <a:srgbClr val="FFFFFF"/>
                </a:solidFill>
                <a:latin typeface="Arial" pitchFamily="34" charset="0"/>
                <a:ea typeface="Arial" pitchFamily="34" charset="-122"/>
                <a:cs typeface="Arial" pitchFamily="34" charset="-120"/>
              </a:rPr>
              <a:t>MODE 2 OF 5</a:t>
            </a:r>
            <a:endParaRPr lang="en-US" sz="600" dirty="0"/>
          </a:p>
        </p:txBody>
      </p:sp>
      <p:sp>
        <p:nvSpPr>
          <p:cNvPr id="5" name="Text 3"/>
          <p:cNvSpPr/>
          <p:nvPr/>
        </p:nvSpPr>
        <p:spPr>
          <a:xfrm>
            <a:off x="266700" y="709315"/>
            <a:ext cx="1739075" cy="548580"/>
          </a:xfrm>
          <a:prstGeom prst="rect">
            <a:avLst/>
          </a:prstGeom>
          <a:noFill/>
          <a:ln/>
        </p:spPr>
        <p:txBody>
          <a:bodyPr wrap="square" lIns="0" tIns="0" rIns="0" bIns="0" rtlCol="0" anchor="t"/>
          <a:lstStyle/>
          <a:p>
            <a:pPr algn="l" indent="0" marL="0">
              <a:lnSpc>
                <a:spcPts val="2160"/>
              </a:lnSpc>
              <a:spcAft>
                <a:spcPts val="900"/>
              </a:spcAft>
              <a:buNone/>
            </a:pPr>
            <a:r>
              <a:rPr lang="en-US" sz="1800" dirty="0">
                <a:solidFill>
                  <a:srgbClr val="FFFFFF"/>
                </a:solidFill>
                <a:latin typeface="Georgia" pitchFamily="34" charset="0"/>
                <a:ea typeface="Georgia" pitchFamily="34" charset="-122"/>
                <a:cs typeface="Georgia" pitchFamily="34" charset="-120"/>
              </a:rPr>
              <a:t>Microsoft Teams</a:t>
            </a:r>
            <a:endParaRPr lang="en-US" sz="1800" dirty="0"/>
          </a:p>
          <a:p>
            <a:pPr algn="l" indent="0" marL="0">
              <a:lnSpc>
                <a:spcPts val="2160"/>
              </a:lnSpc>
              <a:spcAft>
                <a:spcPts val="900"/>
              </a:spcAft>
              <a:buNone/>
            </a:pPr>
            <a:r>
              <a:rPr lang="en-US" sz="1800" dirty="0">
                <a:solidFill>
                  <a:srgbClr val="FFFFFF"/>
                </a:solidFill>
                <a:latin typeface="Georgia" pitchFamily="34" charset="0"/>
                <a:ea typeface="Georgia" pitchFamily="34" charset="-122"/>
                <a:cs typeface="Georgia" pitchFamily="34" charset="-120"/>
              </a:rPr>
              <a:t>Chat Mode</a:t>
            </a:r>
            <a:endParaRPr lang="en-US" sz="1800" dirty="0"/>
          </a:p>
        </p:txBody>
      </p:sp>
      <p:sp>
        <p:nvSpPr>
          <p:cNvPr id="6" name="Text 4"/>
          <p:cNvSpPr/>
          <p:nvPr/>
        </p:nvSpPr>
        <p:spPr>
          <a:xfrm>
            <a:off x="266700" y="1829395"/>
            <a:ext cx="3065264" cy="639961"/>
          </a:xfrm>
          <a:prstGeom prst="rect">
            <a:avLst/>
          </a:prstGeom>
          <a:solidFill>
            <a:srgbClr val="C9A227">
              <a:alpha val="15000"/>
            </a:srgbClr>
          </a:solidFill>
          <a:ln/>
        </p:spPr>
        <p:txBody>
          <a:bodyPr wrap="square" rtlCol="0" anchor="ctr"/>
          <a:lstStyle/>
          <a:p>
            <a:pPr indent="0" marL="0">
              <a:buNone/>
            </a:pPr>
            <a:endParaRPr lang="en-US" dirty="0"/>
          </a:p>
        </p:txBody>
      </p:sp>
      <p:sp>
        <p:nvSpPr>
          <p:cNvPr id="7" name="Shape 5"/>
          <p:cNvSpPr/>
          <p:nvPr/>
        </p:nvSpPr>
        <p:spPr>
          <a:xfrm>
            <a:off x="280988" y="1829395"/>
            <a:ext cx="0" cy="639961"/>
          </a:xfrm>
          <a:prstGeom prst="line">
            <a:avLst/>
          </a:prstGeom>
          <a:noFill/>
          <a:ln w="28575">
            <a:solidFill>
              <a:srgbClr val="C9A227"/>
            </a:solidFill>
            <a:prstDash val="solid"/>
          </a:ln>
        </p:spPr>
      </p:sp>
      <p:sp>
        <p:nvSpPr>
          <p:cNvPr id="8" name="Text 6"/>
          <p:cNvSpPr/>
          <p:nvPr/>
        </p:nvSpPr>
        <p:spPr>
          <a:xfrm>
            <a:off x="409575" y="1943695"/>
            <a:ext cx="2864251"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C9A227"/>
                </a:solidFill>
                <a:latin typeface="Arial" pitchFamily="34" charset="0"/>
                <a:ea typeface="Arial" pitchFamily="34" charset="-122"/>
                <a:cs typeface="Arial" pitchFamily="34" charset="-120"/>
              </a:rPr>
              <a:t>USE CASE</a:t>
            </a:r>
            <a:endParaRPr lang="en-US" sz="750" dirty="0"/>
          </a:p>
        </p:txBody>
      </p:sp>
      <p:sp>
        <p:nvSpPr>
          <p:cNvPr id="9" name="Text 7"/>
          <p:cNvSpPr/>
          <p:nvPr/>
        </p:nvSpPr>
        <p:spPr>
          <a:xfrm>
            <a:off x="409575" y="2115145"/>
            <a:ext cx="2864251" cy="239911"/>
          </a:xfrm>
          <a:prstGeom prst="rect">
            <a:avLst/>
          </a:prstGeom>
          <a:noFill/>
          <a:ln/>
        </p:spPr>
        <p:txBody>
          <a:bodyPr wrap="square" lIns="0" tIns="0" rIns="0" bIns="0" rtlCol="0" anchor="t"/>
          <a:lstStyle/>
          <a:p>
            <a:pPr algn="l" indent="0" marL="0">
              <a:lnSpc>
                <a:spcPts val="945"/>
              </a:lnSpc>
              <a:buNone/>
            </a:pPr>
            <a:r>
              <a:rPr lang="en-US" sz="675" dirty="0">
                <a:solidFill>
                  <a:srgbClr val="FFFFFF">
                    <a:alpha val="70000"/>
                  </a:srgbClr>
                </a:solidFill>
                <a:latin typeface="Arial" pitchFamily="34" charset="0"/>
                <a:ea typeface="Arial" pitchFamily="34" charset="-122"/>
                <a:cs typeface="Arial" pitchFamily="34" charset="-120"/>
              </a:rPr>
              <a:t>Quick, professional chat messages. Maintains conversational tone while keeping it workplace-appropriate.</a:t>
            </a:r>
            <a:endParaRPr lang="en-US" sz="675" dirty="0"/>
          </a:p>
        </p:txBody>
      </p:sp>
      <p:sp>
        <p:nvSpPr>
          <p:cNvPr id="10" name="Text 8"/>
          <p:cNvSpPr/>
          <p:nvPr/>
        </p:nvSpPr>
        <p:spPr>
          <a:xfrm>
            <a:off x="266700" y="2736056"/>
            <a:ext cx="3065264" cy="804863"/>
          </a:xfrm>
          <a:prstGeom prst="rect">
            <a:avLst/>
          </a:prstGeom>
          <a:solidFill>
            <a:srgbClr val="FFFFFF">
              <a:alpha val="5000"/>
            </a:srgbClr>
          </a:solidFill>
          <a:ln/>
        </p:spPr>
        <p:txBody>
          <a:bodyPr wrap="square" rtlCol="0" anchor="ctr"/>
          <a:lstStyle/>
          <a:p>
            <a:pPr indent="0" marL="0">
              <a:buNone/>
            </a:pPr>
            <a:endParaRPr lang="en-US" dirty="0"/>
          </a:p>
        </p:txBody>
      </p:sp>
      <p:sp>
        <p:nvSpPr>
          <p:cNvPr id="11" name="Text 9"/>
          <p:cNvSpPr/>
          <p:nvPr/>
        </p:nvSpPr>
        <p:spPr>
          <a:xfrm>
            <a:off x="381000" y="2850356"/>
            <a:ext cx="2893397"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CONTEXT SETTINGS</a:t>
            </a:r>
            <a:endParaRPr lang="en-US" sz="750" dirty="0"/>
          </a:p>
        </p:txBody>
      </p:sp>
      <p:sp>
        <p:nvSpPr>
          <p:cNvPr id="12" name="Text 10"/>
          <p:cNvSpPr/>
          <p:nvPr/>
        </p:nvSpPr>
        <p:spPr>
          <a:xfrm>
            <a:off x="381000" y="3040856"/>
            <a:ext cx="2893397" cy="385763"/>
          </a:xfrm>
          <a:prstGeom prst="rect">
            <a:avLst/>
          </a:prstGeom>
          <a:noFill/>
          <a:ln/>
        </p:spPr>
        <p:txBody>
          <a:bodyPr wrap="square" lIns="0" tIns="0" rIns="0" bIns="0" rtlCol="0" anchor="t"/>
          <a:lstStyle/>
          <a:p>
            <a:pPr algn="l" indent="0" marL="0">
              <a:lnSpc>
                <a:spcPts val="1013"/>
              </a:lnSpc>
              <a:buNone/>
            </a:pPr>
            <a:r>
              <a:rPr lang="en-US" sz="675" dirty="0">
                <a:solidFill>
                  <a:srgbClr val="FFFFFF">
                    <a:alpha val="60000"/>
                  </a:srgbClr>
                </a:solidFill>
                <a:latin typeface="Arial" pitchFamily="34" charset="0"/>
                <a:ea typeface="Arial" pitchFamily="34" charset="-122"/>
                <a:cs typeface="Arial" pitchFamily="34" charset="-120"/>
              </a:rPr>
              <a:t>✓ Application Context (detect Teams)</a:t>
            </a:r>
            <a:endParaRPr lang="en-US" sz="675" dirty="0"/>
          </a:p>
          <a:p>
            <a:pPr algn="l" indent="0" marL="0">
              <a:lnSpc>
                <a:spcPts val="1013"/>
              </a:lnSpc>
              <a:buNone/>
            </a:pPr>
            <a:r>
              <a:rPr lang="en-US" sz="675" dirty="0">
                <a:solidFill>
                  <a:srgbClr val="FFFFFF">
                    <a:alpha val="60000"/>
                  </a:srgbClr>
                </a:solidFill>
                <a:latin typeface="Arial" pitchFamily="34" charset="0"/>
                <a:ea typeface="Arial" pitchFamily="34" charset="-122"/>
                <a:cs typeface="Arial" pitchFamily="34" charset="-120"/>
              </a:rPr>
              <a:t> ○ Selected Text (optional)</a:t>
            </a:r>
            <a:endParaRPr lang="en-US" sz="675" dirty="0"/>
          </a:p>
          <a:p>
            <a:pPr algn="l" indent="0" marL="0">
              <a:lnSpc>
                <a:spcPts val="1013"/>
              </a:lnSpc>
              <a:buNone/>
            </a:pPr>
            <a:r>
              <a:rPr lang="en-US" sz="675" dirty="0">
                <a:solidFill>
                  <a:srgbClr val="FFFFFF">
                    <a:alpha val="60000"/>
                  </a:srgbClr>
                </a:solidFill>
                <a:latin typeface="Arial" pitchFamily="34" charset="0"/>
                <a:ea typeface="Arial" pitchFamily="34" charset="-122"/>
                <a:cs typeface="Arial" pitchFamily="34" charset="-120"/>
              </a:rPr>
              <a:t> ○ Clipboard Context (optional)</a:t>
            </a:r>
            <a:endParaRPr lang="en-US" sz="675" dirty="0"/>
          </a:p>
        </p:txBody>
      </p:sp>
      <p:sp>
        <p:nvSpPr>
          <p:cNvPr id="13" name="Text 11"/>
          <p:cNvSpPr/>
          <p:nvPr/>
        </p:nvSpPr>
        <p:spPr>
          <a:xfrm>
            <a:off x="266700" y="3807619"/>
            <a:ext cx="3065264" cy="721816"/>
          </a:xfrm>
          <a:prstGeom prst="rect">
            <a:avLst/>
          </a:prstGeom>
          <a:solidFill>
            <a:srgbClr val="FFFFFF">
              <a:alpha val="5000"/>
            </a:srgbClr>
          </a:solidFill>
          <a:ln/>
        </p:spPr>
        <p:txBody>
          <a:bodyPr wrap="square" rtlCol="0" anchor="ctr"/>
          <a:lstStyle/>
          <a:p>
            <a:pPr indent="0" marL="0">
              <a:buNone/>
            </a:pPr>
            <a:endParaRPr lang="en-US" dirty="0"/>
          </a:p>
        </p:txBody>
      </p:sp>
      <p:sp>
        <p:nvSpPr>
          <p:cNvPr id="14" name="Text 12"/>
          <p:cNvSpPr/>
          <p:nvPr/>
        </p:nvSpPr>
        <p:spPr>
          <a:xfrm>
            <a:off x="361950" y="3902869"/>
            <a:ext cx="2932259"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FFFFFF"/>
                </a:solidFill>
                <a:latin typeface="Arial" pitchFamily="34" charset="0"/>
                <a:ea typeface="Arial" pitchFamily="34" charset="-122"/>
                <a:cs typeface="Arial" pitchFamily="34" charset="-120"/>
              </a:rPr>
              <a:t>AUTO-ACTIVATION</a:t>
            </a:r>
            <a:endParaRPr lang="en-US" sz="750" dirty="0"/>
          </a:p>
        </p:txBody>
      </p:sp>
      <p:sp>
        <p:nvSpPr>
          <p:cNvPr id="15" name="Text 13"/>
          <p:cNvSpPr/>
          <p:nvPr/>
        </p:nvSpPr>
        <p:spPr>
          <a:xfrm>
            <a:off x="361950" y="4074319"/>
            <a:ext cx="2932259" cy="359866"/>
          </a:xfrm>
          <a:prstGeom prst="rect">
            <a:avLst/>
          </a:prstGeom>
          <a:noFill/>
          <a:ln/>
        </p:spPr>
        <p:txBody>
          <a:bodyPr wrap="square" lIns="0" tIns="0" rIns="0" bIns="0" rtlCol="0" anchor="t"/>
          <a:lstStyle/>
          <a:p>
            <a:pPr algn="l" indent="0" marL="0">
              <a:lnSpc>
                <a:spcPts val="945"/>
              </a:lnSpc>
              <a:buNone/>
            </a:pPr>
            <a:r>
              <a:rPr lang="en-US" sz="675" dirty="0">
                <a:solidFill>
                  <a:srgbClr val="FFFFFF">
                    <a:alpha val="60000"/>
                  </a:srgbClr>
                </a:solidFill>
                <a:latin typeface="Arial" pitchFamily="34" charset="0"/>
                <a:ea typeface="Arial" pitchFamily="34" charset="-122"/>
                <a:cs typeface="Arial" pitchFamily="34" charset="-120"/>
              </a:rPr>
              <a:t>Microsoft Teams</a:t>
            </a:r>
            <a:endParaRPr lang="en-US" sz="675" dirty="0"/>
          </a:p>
          <a:p>
            <a:pPr algn="l" indent="0" marL="0">
              <a:lnSpc>
                <a:spcPts val="945"/>
              </a:lnSpc>
              <a:buNone/>
            </a:pPr>
            <a:r>
              <a:rPr lang="en-US" sz="675" dirty="0">
                <a:solidFill>
                  <a:srgbClr val="FFFFFF">
                    <a:alpha val="60000"/>
                  </a:srgbClr>
                </a:solidFill>
                <a:latin typeface="Arial" pitchFamily="34" charset="0"/>
                <a:ea typeface="Arial" pitchFamily="34" charset="-122"/>
                <a:cs typeface="Arial" pitchFamily="34" charset="-120"/>
              </a:rPr>
              <a:t> Slack (optional)</a:t>
            </a:r>
            <a:endParaRPr lang="en-US" sz="675" dirty="0"/>
          </a:p>
          <a:p>
            <a:pPr algn="l" indent="0" marL="0">
              <a:lnSpc>
                <a:spcPts val="945"/>
              </a:lnSpc>
              <a:buNone/>
            </a:pPr>
            <a:r>
              <a:rPr lang="en-US" sz="675" dirty="0">
                <a:solidFill>
                  <a:srgbClr val="FFFFFF">
                    <a:alpha val="60000"/>
                  </a:srgbClr>
                </a:solidFill>
                <a:latin typeface="Arial" pitchFamily="34" charset="0"/>
                <a:ea typeface="Arial" pitchFamily="34" charset="-122"/>
                <a:cs typeface="Arial" pitchFamily="34" charset="-120"/>
              </a:rPr>
              <a:t> Discord (optional)</a:t>
            </a:r>
            <a:endParaRPr lang="en-US" sz="675" dirty="0"/>
          </a:p>
        </p:txBody>
      </p:sp>
      <p:sp>
        <p:nvSpPr>
          <p:cNvPr id="16" name="Text 14"/>
          <p:cNvSpPr/>
          <p:nvPr/>
        </p:nvSpPr>
        <p:spPr>
          <a:xfrm>
            <a:off x="266700" y="4681835"/>
            <a:ext cx="3065264" cy="258961"/>
          </a:xfrm>
          <a:prstGeom prst="rect">
            <a:avLst/>
          </a:prstGeom>
          <a:solidFill>
            <a:srgbClr val="FEF3C7"/>
          </a:solidFill>
          <a:ln/>
        </p:spPr>
        <p:txBody>
          <a:bodyPr wrap="square" rtlCol="0" anchor="ctr"/>
          <a:lstStyle/>
          <a:p>
            <a:pPr indent="0" marL="0">
              <a:buNone/>
            </a:pPr>
            <a:endParaRPr lang="en-US" dirty="0"/>
          </a:p>
        </p:txBody>
      </p:sp>
      <p:sp>
        <p:nvSpPr>
          <p:cNvPr id="17" name="Shape 15"/>
          <p:cNvSpPr/>
          <p:nvPr/>
        </p:nvSpPr>
        <p:spPr>
          <a:xfrm>
            <a:off x="280988" y="4681835"/>
            <a:ext cx="0" cy="258961"/>
          </a:xfrm>
          <a:prstGeom prst="line">
            <a:avLst/>
          </a:prstGeom>
          <a:noFill/>
          <a:ln w="28575">
            <a:solidFill>
              <a:srgbClr val="F59E0B"/>
            </a:solidFill>
            <a:prstDash val="solid"/>
          </a:ln>
        </p:spPr>
      </p:sp>
      <p:sp>
        <p:nvSpPr>
          <p:cNvPr id="18" name="Text 16"/>
          <p:cNvSpPr/>
          <p:nvPr/>
        </p:nvSpPr>
        <p:spPr>
          <a:xfrm>
            <a:off x="371475" y="4758035"/>
            <a:ext cx="2941975" cy="106561"/>
          </a:xfrm>
          <a:prstGeom prst="rect">
            <a:avLst/>
          </a:prstGeom>
          <a:noFill/>
          <a:ln/>
        </p:spPr>
        <p:txBody>
          <a:bodyPr wrap="square" lIns="0" tIns="0" rIns="0" bIns="0" rtlCol="0" anchor="t"/>
          <a:lstStyle/>
          <a:p>
            <a:pPr algn="l" indent="0" marL="0">
              <a:lnSpc>
                <a:spcPts val="840"/>
              </a:lnSpc>
              <a:buNone/>
            </a:pPr>
            <a:r>
              <a:rPr lang="en-US" sz="600" b="1" dirty="0">
                <a:solidFill>
                  <a:srgbClr val="92400E"/>
                </a:solidFill>
                <a:latin typeface="Arial" pitchFamily="34" charset="0"/>
                <a:ea typeface="Arial" pitchFamily="34" charset="-122"/>
                <a:cs typeface="Arial" pitchFamily="34" charset="-120"/>
              </a:rPr>
              <a:t>Note:</a:t>
            </a:r>
            <a:pPr algn="l" indent="0" marL="0">
              <a:lnSpc>
                <a:spcPts val="840"/>
              </a:lnSpc>
              <a:buNone/>
            </a:pPr>
            <a:r>
              <a:rPr lang="en-US" sz="600" dirty="0">
                <a:solidFill>
                  <a:srgbClr val="92400E"/>
                </a:solidFill>
                <a:latin typeface="Arial" pitchFamily="34" charset="0"/>
                <a:ea typeface="Arial" pitchFamily="34" charset="-122"/>
                <a:cs typeface="Arial" pitchFamily="34" charset="-120"/>
              </a:rPr>
              <a:t> Teams has no native dictation.</a:t>
            </a:r>
            <a:endParaRPr lang="en-US" sz="600" dirty="0"/>
          </a:p>
        </p:txBody>
      </p:sp>
      <p:sp>
        <p:nvSpPr>
          <p:cNvPr id="19" name="Text 17"/>
          <p:cNvSpPr/>
          <p:nvPr/>
        </p:nvSpPr>
        <p:spPr>
          <a:xfrm>
            <a:off x="3751064" y="0"/>
            <a:ext cx="5392936" cy="5143500"/>
          </a:xfrm>
          <a:prstGeom prst="rect">
            <a:avLst/>
          </a:prstGeom>
          <a:solidFill>
            <a:srgbClr val="F7F8FA"/>
          </a:solidFill>
          <a:ln/>
        </p:spPr>
        <p:txBody>
          <a:bodyPr wrap="square" rtlCol="0" anchor="ctr"/>
          <a:lstStyle/>
          <a:p>
            <a:pPr indent="0" marL="0">
              <a:buNone/>
            </a:pPr>
            <a:endParaRPr lang="en-US" dirty="0"/>
          </a:p>
        </p:txBody>
      </p:sp>
      <p:sp>
        <p:nvSpPr>
          <p:cNvPr id="20" name="Text 18"/>
          <p:cNvSpPr/>
          <p:nvPr/>
        </p:nvSpPr>
        <p:spPr>
          <a:xfrm>
            <a:off x="4017764" y="444401"/>
            <a:ext cx="4956727" cy="159990"/>
          </a:xfrm>
          <a:prstGeom prst="rect">
            <a:avLst/>
          </a:prstGeom>
          <a:noFill/>
          <a:ln/>
        </p:spPr>
        <p:txBody>
          <a:bodyPr wrap="square" lIns="0" tIns="0" rIns="0" bIns="0" rtlCol="0" anchor="t"/>
          <a:lstStyle/>
          <a:p>
            <a:pPr algn="l" indent="0" marL="0">
              <a:lnSpc>
                <a:spcPts val="1260"/>
              </a:lnSpc>
              <a:spcAft>
                <a:spcPts val="900"/>
              </a:spcAft>
              <a:buNone/>
            </a:pPr>
            <a:r>
              <a:rPr lang="en-US" sz="900" b="1" dirty="0">
                <a:solidFill>
                  <a:srgbClr val="1A1F2E"/>
                </a:solidFill>
                <a:latin typeface="Arial" pitchFamily="34" charset="0"/>
                <a:ea typeface="Arial" pitchFamily="34" charset="-122"/>
                <a:cs typeface="Arial" pitchFamily="34" charset="-120"/>
              </a:rPr>
              <a:t>SAMPLE AI INSTRUCTIONS</a:t>
            </a:r>
            <a:endParaRPr lang="en-US" sz="900" dirty="0"/>
          </a:p>
        </p:txBody>
      </p:sp>
      <p:sp>
        <p:nvSpPr>
          <p:cNvPr id="21" name="Text 19"/>
          <p:cNvSpPr/>
          <p:nvPr/>
        </p:nvSpPr>
        <p:spPr>
          <a:xfrm>
            <a:off x="4017764" y="871091"/>
            <a:ext cx="4859536" cy="2422327"/>
          </a:xfrm>
          <a:prstGeom prst="rect">
            <a:avLst/>
          </a:prstGeom>
          <a:solidFill>
            <a:srgbClr val="1A1F2E"/>
          </a:solidFill>
          <a:ln/>
        </p:spPr>
        <p:txBody>
          <a:bodyPr wrap="square" rtlCol="0" anchor="ctr"/>
          <a:lstStyle/>
          <a:p>
            <a:pPr indent="0" marL="0">
              <a:buNone/>
            </a:pPr>
            <a:endParaRPr lang="en-US" dirty="0"/>
          </a:p>
        </p:txBody>
      </p:sp>
      <p:sp>
        <p:nvSpPr>
          <p:cNvPr id="22" name="Text 20"/>
          <p:cNvSpPr/>
          <p:nvPr/>
        </p:nvSpPr>
        <p:spPr>
          <a:xfrm>
            <a:off x="4170164" y="1023491"/>
            <a:ext cx="4645831" cy="106561"/>
          </a:xfrm>
          <a:prstGeom prst="rect">
            <a:avLst/>
          </a:prstGeom>
          <a:noFill/>
          <a:ln/>
        </p:spPr>
        <p:txBody>
          <a:bodyPr wrap="square" lIns="0" tIns="0" rIns="0" bIns="0" rtlCol="0" anchor="t"/>
          <a:lstStyle/>
          <a:p>
            <a:pPr algn="l" indent="0" marL="0">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&lt;role&gt;</a:t>
            </a:r>
            <a:endParaRPr lang="en-US" sz="600" dirty="0"/>
          </a:p>
        </p:txBody>
      </p:sp>
      <p:sp>
        <p:nvSpPr>
          <p:cNvPr id="23" name="Text 21"/>
          <p:cNvSpPr/>
          <p:nvPr/>
        </p:nvSpPr>
        <p:spPr>
          <a:xfrm>
            <a:off x="4170164" y="1187202"/>
            <a:ext cx="4645831" cy="106561"/>
          </a:xfrm>
          <a:prstGeom prst="rect">
            <a:avLst/>
          </a:prstGeom>
          <a:noFill/>
          <a:ln/>
        </p:spPr>
        <p:txBody>
          <a:bodyPr wrap="square" lIns="76200" tIns="0" rIns="0" bIns="0" rtlCol="0" anchor="t"/>
          <a:lstStyle/>
          <a:p>
            <a:pPr algn="l" indent="0" marL="0">
              <a:lnSpc>
                <a:spcPts val="840"/>
              </a:lnSpc>
              <a:spcAft>
                <a:spcPts val="450"/>
              </a:spcAft>
              <a:buNone/>
            </a:pPr>
            <a:r>
              <a:rPr lang="en-US" sz="600" dirty="0">
                <a:solidFill>
                  <a:srgbClr val="FFFFFF">
                    <a:alpha val="85000"/>
                  </a:srgbClr>
                </a:solidFill>
                <a:latin typeface="Arial" pitchFamily="34" charset="0"/>
                <a:ea typeface="Arial" pitchFamily="34" charset="-122"/>
                <a:cs typeface="Arial" pitchFamily="34" charset="-120"/>
              </a:rPr>
              <a:t>You are a workplace chat assistant</a:t>
            </a:r>
            <a:endParaRPr lang="en-US" sz="600" dirty="0"/>
          </a:p>
        </p:txBody>
      </p:sp>
      <p:sp>
        <p:nvSpPr>
          <p:cNvPr id="24" name="Text 22"/>
          <p:cNvSpPr/>
          <p:nvPr/>
        </p:nvSpPr>
        <p:spPr>
          <a:xfrm>
            <a:off x="4170164" y="1350913"/>
            <a:ext cx="4645831" cy="106561"/>
          </a:xfrm>
          <a:prstGeom prst="rect">
            <a:avLst/>
          </a:prstGeom>
          <a:noFill/>
          <a:ln/>
        </p:spPr>
        <p:txBody>
          <a:bodyPr wrap="square" lIns="0" tIns="0" rIns="0" bIns="0" rtlCol="0" anchor="t"/>
          <a:lstStyle/>
          <a:p>
            <a:pPr algn="l" indent="0" marL="0">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&lt;/role&gt;</a:t>
            </a:r>
            <a:endParaRPr lang="en-US" sz="600" dirty="0"/>
          </a:p>
        </p:txBody>
      </p:sp>
      <p:sp>
        <p:nvSpPr>
          <p:cNvPr id="25" name="Text 23"/>
          <p:cNvSpPr/>
          <p:nvPr/>
        </p:nvSpPr>
        <p:spPr>
          <a:xfrm>
            <a:off x="4170164" y="1514624"/>
            <a:ext cx="4645831" cy="106561"/>
          </a:xfrm>
          <a:prstGeom prst="rect">
            <a:avLst/>
          </a:prstGeom>
          <a:noFill/>
          <a:ln/>
        </p:spPr>
        <p:txBody>
          <a:bodyPr wrap="square" lIns="0" tIns="0" rIns="0" bIns="0" rtlCol="0" anchor="t"/>
          <a:lstStyle/>
          <a:p>
            <a:pPr algn="l" indent="0" marL="0">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&lt;instructions&gt;</a:t>
            </a:r>
            <a:endParaRPr lang="en-US" sz="600" dirty="0"/>
          </a:p>
        </p:txBody>
      </p:sp>
      <p:sp>
        <p:nvSpPr>
          <p:cNvPr id="26" name="Text 24"/>
          <p:cNvSpPr/>
          <p:nvPr/>
        </p:nvSpPr>
        <p:spPr>
          <a:xfrm>
            <a:off x="4170164" y="1678335"/>
            <a:ext cx="4645831" cy="342900"/>
          </a:xfrm>
          <a:prstGeom prst="rect">
            <a:avLst/>
          </a:prstGeom>
          <a:noFill/>
          <a:ln/>
        </p:spPr>
        <p:txBody>
          <a:bodyPr wrap="square" lIns="76200" tIns="0" rIns="0" bIns="0" rtlCol="0" anchor="t"/>
          <a:lstStyle/>
          <a:p>
            <a:pPr algn="l" indent="0" marL="0">
              <a:lnSpc>
                <a:spcPts val="900"/>
              </a:lnSpc>
              <a:spcAft>
                <a:spcPts val="450"/>
              </a:spcAft>
              <a:buNone/>
            </a:pPr>
            <a:r>
              <a:rPr lang="en-US" sz="600" dirty="0">
                <a:solidFill>
                  <a:srgbClr val="FFFFFF">
                    <a:alpha val="85000"/>
                  </a:srgbClr>
                </a:solidFill>
                <a:latin typeface="Arial" pitchFamily="34" charset="0"/>
                <a:ea typeface="Arial" pitchFamily="34" charset="-122"/>
                <a:cs typeface="Arial" pitchFamily="34" charset="-120"/>
              </a:rPr>
              <a:t>Format the User Message for Teams chat.</a:t>
            </a:r>
            <a:endParaRPr lang="en-US" sz="600" dirty="0"/>
          </a:p>
          <a:p>
            <a:pPr algn="l" indent="0" marL="0">
              <a:lnSpc>
                <a:spcPts val="900"/>
              </a:lnSpc>
              <a:spcAft>
                <a:spcPts val="450"/>
              </a:spcAft>
              <a:buNone/>
            </a:pPr>
            <a:r>
              <a:rPr lang="en-US" sz="600" dirty="0">
                <a:solidFill>
                  <a:srgbClr val="FFFFFF">
                    <a:alpha val="85000"/>
                  </a:srgbClr>
                </a:solidFill>
                <a:latin typeface="Arial" pitchFamily="34" charset="0"/>
                <a:ea typeface="Arial" pitchFamily="34" charset="-122"/>
                <a:cs typeface="Arial" pitchFamily="34" charset="-120"/>
              </a:rPr>
              <a:t> Keep it conversational but professional.</a:t>
            </a:r>
            <a:endParaRPr lang="en-US" sz="600" dirty="0"/>
          </a:p>
          <a:p>
            <a:pPr algn="l" indent="0" marL="0">
              <a:lnSpc>
                <a:spcPts val="900"/>
              </a:lnSpc>
              <a:spcAft>
                <a:spcPts val="450"/>
              </a:spcAft>
              <a:buNone/>
            </a:pPr>
            <a:r>
              <a:rPr lang="en-US" sz="600" dirty="0">
                <a:solidFill>
                  <a:srgbClr val="FFFFFF">
                    <a:alpha val="85000"/>
                  </a:srgbClr>
                </a:solidFill>
                <a:latin typeface="Arial" pitchFamily="34" charset="0"/>
                <a:ea typeface="Arial" pitchFamily="34" charset="-122"/>
                <a:cs typeface="Arial" pitchFamily="34" charset="-120"/>
              </a:rPr>
              <a:t> Messages should feel natural, not formal.</a:t>
            </a:r>
            <a:endParaRPr lang="en-US" sz="600" dirty="0"/>
          </a:p>
        </p:txBody>
      </p:sp>
      <p:sp>
        <p:nvSpPr>
          <p:cNvPr id="27" name="Text 25"/>
          <p:cNvSpPr/>
          <p:nvPr/>
        </p:nvSpPr>
        <p:spPr>
          <a:xfrm>
            <a:off x="4170164" y="2078385"/>
            <a:ext cx="4645831" cy="106561"/>
          </a:xfrm>
          <a:prstGeom prst="rect">
            <a:avLst/>
          </a:prstGeom>
          <a:noFill/>
          <a:ln/>
        </p:spPr>
        <p:txBody>
          <a:bodyPr wrap="square" lIns="0" tIns="0" rIns="0" bIns="0" rtlCol="0" anchor="t"/>
          <a:lstStyle/>
          <a:p>
            <a:pPr algn="l" indent="0" marL="0">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&lt;/instructions&gt;</a:t>
            </a:r>
            <a:endParaRPr lang="en-US" sz="600" dirty="0"/>
          </a:p>
        </p:txBody>
      </p:sp>
      <p:sp>
        <p:nvSpPr>
          <p:cNvPr id="28" name="Text 26"/>
          <p:cNvSpPr/>
          <p:nvPr/>
        </p:nvSpPr>
        <p:spPr>
          <a:xfrm>
            <a:off x="4170164" y="2242096"/>
            <a:ext cx="4645831" cy="106561"/>
          </a:xfrm>
          <a:prstGeom prst="rect">
            <a:avLst/>
          </a:prstGeom>
          <a:noFill/>
          <a:ln/>
        </p:spPr>
        <p:txBody>
          <a:bodyPr wrap="square" lIns="0" tIns="0" rIns="0" bIns="0" rtlCol="0" anchor="t"/>
          <a:lstStyle/>
          <a:p>
            <a:pPr algn="l" indent="0" marL="0">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&lt;requirements&gt;</a:t>
            </a:r>
            <a:endParaRPr lang="en-US" sz="600" dirty="0"/>
          </a:p>
        </p:txBody>
      </p:sp>
      <p:sp>
        <p:nvSpPr>
          <p:cNvPr id="29" name="Text 27"/>
          <p:cNvSpPr/>
          <p:nvPr/>
        </p:nvSpPr>
        <p:spPr>
          <a:xfrm>
            <a:off x="4170164" y="2405807"/>
            <a:ext cx="4645831" cy="571500"/>
          </a:xfrm>
          <a:prstGeom prst="rect">
            <a:avLst/>
          </a:prstGeom>
          <a:noFill/>
          <a:ln/>
        </p:spPr>
        <p:txBody>
          <a:bodyPr wrap="square" lIns="76200" tIns="0" rIns="0" bIns="0" rtlCol="0" anchor="t"/>
          <a:lstStyle/>
          <a:p>
            <a:pPr algn="l" indent="0" marL="0">
              <a:lnSpc>
                <a:spcPts val="900"/>
              </a:lnSpc>
              <a:buNone/>
            </a:pPr>
            <a:r>
              <a:rPr lang="en-US" sz="600" dirty="0">
                <a:solidFill>
                  <a:srgbClr val="FFFFFF">
                    <a:alpha val="85000"/>
                  </a:srgbClr>
                </a:solidFill>
                <a:latin typeface="Arial" pitchFamily="34" charset="0"/>
                <a:ea typeface="Arial" pitchFamily="34" charset="-122"/>
                <a:cs typeface="Arial" pitchFamily="34" charset="-120"/>
              </a:rPr>
              <a:t>Short, direct messages (no essays)</a:t>
            </a:r>
            <a:endParaRPr lang="en-US" sz="600" dirty="0"/>
          </a:p>
          <a:p>
            <a:pPr algn="l" indent="0" marL="0">
              <a:lnSpc>
                <a:spcPts val="900"/>
              </a:lnSpc>
              <a:buNone/>
            </a:pPr>
            <a:r>
              <a:rPr lang="en-US" sz="600" dirty="0">
                <a:solidFill>
                  <a:srgbClr val="FFFFFF">
                    <a:alpha val="85000"/>
                  </a:srgbClr>
                </a:solidFill>
                <a:latin typeface="Arial" pitchFamily="34" charset="0"/>
                <a:ea typeface="Arial" pitchFamily="34" charset="-122"/>
                <a:cs typeface="Arial" pitchFamily="34" charset="-120"/>
              </a:rPr>
              <a:t> Professional but friendly tone</a:t>
            </a:r>
            <a:endParaRPr lang="en-US" sz="600" dirty="0"/>
          </a:p>
          <a:p>
            <a:pPr algn="l" indent="0" marL="0">
              <a:lnSpc>
                <a:spcPts val="900"/>
              </a:lnSpc>
              <a:buNone/>
            </a:pPr>
            <a:r>
              <a:rPr lang="en-US" sz="600" dirty="0">
                <a:solidFill>
                  <a:srgbClr val="FFFFFF">
                    <a:alpha val="85000"/>
                  </a:srgbClr>
                </a:solidFill>
                <a:latin typeface="Arial" pitchFamily="34" charset="0"/>
                <a:ea typeface="Arial" pitchFamily="34" charset="-122"/>
                <a:cs typeface="Arial" pitchFamily="34" charset="-120"/>
              </a:rPr>
              <a:t> Handle @mentions as usernames</a:t>
            </a:r>
            <a:endParaRPr lang="en-US" sz="600" dirty="0"/>
          </a:p>
          <a:p>
            <a:pPr algn="l" indent="0" marL="0">
              <a:lnSpc>
                <a:spcPts val="900"/>
              </a:lnSpc>
              <a:buNone/>
            </a:pPr>
            <a:r>
              <a:rPr lang="en-US" sz="600" dirty="0">
                <a:solidFill>
                  <a:srgbClr val="FFFFFF">
                    <a:alpha val="85000"/>
                  </a:srgbClr>
                </a:solidFill>
                <a:latin typeface="Arial" pitchFamily="34" charset="0"/>
                <a:ea typeface="Arial" pitchFamily="34" charset="-122"/>
                <a:cs typeface="Arial" pitchFamily="34" charset="-120"/>
              </a:rPr>
              <a:t> No formal greetings/signatures</a:t>
            </a:r>
            <a:endParaRPr lang="en-US" sz="600" dirty="0"/>
          </a:p>
          <a:p>
            <a:pPr algn="l" indent="0" marL="0">
              <a:lnSpc>
                <a:spcPts val="900"/>
              </a:lnSpc>
              <a:buNone/>
            </a:pPr>
            <a:r>
              <a:rPr lang="en-US" sz="600" dirty="0">
                <a:solidFill>
                  <a:srgbClr val="FFFFFF">
                    <a:alpha val="85000"/>
                  </a:srgbClr>
                </a:solidFill>
                <a:latin typeface="Arial" pitchFamily="34" charset="0"/>
                <a:ea typeface="Arial" pitchFamily="34" charset="-122"/>
                <a:cs typeface="Arial" pitchFamily="34" charset="-120"/>
              </a:rPr>
              <a:t> Add appropriate punctuation only</a:t>
            </a:r>
            <a:endParaRPr lang="en-US" sz="600" dirty="0"/>
          </a:p>
        </p:txBody>
      </p:sp>
      <p:sp>
        <p:nvSpPr>
          <p:cNvPr id="30" name="Text 28"/>
          <p:cNvSpPr/>
          <p:nvPr/>
        </p:nvSpPr>
        <p:spPr>
          <a:xfrm>
            <a:off x="4170164" y="3034457"/>
            <a:ext cx="4645831" cy="106561"/>
          </a:xfrm>
          <a:prstGeom prst="rect">
            <a:avLst/>
          </a:prstGeom>
          <a:noFill/>
          <a:ln/>
        </p:spPr>
        <p:txBody>
          <a:bodyPr wrap="square" lIns="0" tIns="0" rIns="0" bIns="0" rtlCol="0" anchor="t"/>
          <a:lstStyle/>
          <a:p>
            <a:pPr algn="l" indent="0" marL="0">
              <a:lnSpc>
                <a:spcPts val="840"/>
              </a:lnSpc>
              <a:spcBef>
                <a:spcPts val="450"/>
              </a:spcBef>
              <a:buNone/>
            </a:pPr>
            <a:r>
              <a:rPr lang="en-US" sz="600" dirty="0">
                <a:solidFill>
                  <a:srgbClr val="C9A227"/>
                </a:solidFill>
                <a:latin typeface="Arial" pitchFamily="34" charset="0"/>
                <a:ea typeface="Arial" pitchFamily="34" charset="-122"/>
                <a:cs typeface="Arial" pitchFamily="34" charset="-120"/>
              </a:rPr>
              <a:t>&lt;/requirements&gt;</a:t>
            </a:r>
            <a:endParaRPr lang="en-US" sz="600" dirty="0"/>
          </a:p>
        </p:txBody>
      </p:sp>
      <p:sp>
        <p:nvSpPr>
          <p:cNvPr id="31" name="Text 29"/>
          <p:cNvSpPr/>
          <p:nvPr/>
        </p:nvSpPr>
        <p:spPr>
          <a:xfrm>
            <a:off x="4017764" y="3569643"/>
            <a:ext cx="2386905" cy="561677"/>
          </a:xfrm>
          <a:prstGeom prst="rect">
            <a:avLst/>
          </a:prstGeom>
          <a:solidFill>
            <a:srgbClr val="DBEAFE"/>
          </a:solidFill>
          <a:ln/>
        </p:spPr>
        <p:txBody>
          <a:bodyPr wrap="square" rtlCol="0" anchor="ctr"/>
          <a:lstStyle/>
          <a:p>
            <a:pPr indent="0" marL="0">
              <a:buNone/>
            </a:pPr>
            <a:endParaRPr lang="en-US" dirty="0"/>
          </a:p>
        </p:txBody>
      </p:sp>
      <p:sp>
        <p:nvSpPr>
          <p:cNvPr id="32" name="Shape 30"/>
          <p:cNvSpPr/>
          <p:nvPr/>
        </p:nvSpPr>
        <p:spPr>
          <a:xfrm>
            <a:off x="4032052" y="3569643"/>
            <a:ext cx="0" cy="561677"/>
          </a:xfrm>
          <a:prstGeom prst="line">
            <a:avLst/>
          </a:prstGeom>
          <a:noFill/>
          <a:ln w="28575">
            <a:solidFill>
              <a:srgbClr val="3B82F6"/>
            </a:solidFill>
            <a:prstDash val="solid"/>
          </a:ln>
        </p:spPr>
      </p:sp>
      <p:sp>
        <p:nvSpPr>
          <p:cNvPr id="33" name="Text 31"/>
          <p:cNvSpPr/>
          <p:nvPr/>
        </p:nvSpPr>
        <p:spPr>
          <a:xfrm>
            <a:off x="4141589" y="3664893"/>
            <a:ext cx="2211187"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1E40AF"/>
                </a:solidFill>
                <a:latin typeface="Arial" pitchFamily="34" charset="0"/>
                <a:ea typeface="Arial" pitchFamily="34" charset="-122"/>
                <a:cs typeface="Arial" pitchFamily="34" charset="-120"/>
              </a:rPr>
              <a:t>EXAMPLE INPUT</a:t>
            </a:r>
            <a:endParaRPr lang="en-US" sz="675" dirty="0"/>
          </a:p>
        </p:txBody>
      </p:sp>
      <p:sp>
        <p:nvSpPr>
          <p:cNvPr id="34" name="Text 32"/>
          <p:cNvSpPr/>
          <p:nvPr/>
        </p:nvSpPr>
        <p:spPr>
          <a:xfrm>
            <a:off x="4141589" y="3822948"/>
            <a:ext cx="2211187" cy="213122"/>
          </a:xfrm>
          <a:prstGeom prst="rect">
            <a:avLst/>
          </a:prstGeom>
          <a:noFill/>
          <a:ln/>
        </p:spPr>
        <p:txBody>
          <a:bodyPr wrap="square" lIns="0" tIns="0" rIns="0" bIns="0" rtlCol="0" anchor="t"/>
          <a:lstStyle/>
          <a:p>
            <a:pPr algn="l" indent="0" marL="0">
              <a:lnSpc>
                <a:spcPts val="840"/>
              </a:lnSpc>
              <a:buNone/>
            </a:pPr>
            <a:r>
              <a:rPr lang="en-US" sz="600" dirty="0">
                <a:solidFill>
                  <a:srgbClr val="1E40AF"/>
                </a:solidFill>
                <a:latin typeface="Arial" pitchFamily="34" charset="0"/>
                <a:ea typeface="Arial" pitchFamily="34" charset="-122"/>
                <a:cs typeface="Arial" pitchFamily="34" charset="-120"/>
              </a:rPr>
              <a:t>"hey can you let Sarah know that the meeting got moved to three PM and we'll need her to bring the quarterly report"</a:t>
            </a:r>
            <a:endParaRPr lang="en-US" sz="600" dirty="0"/>
          </a:p>
        </p:txBody>
      </p:sp>
      <p:sp>
        <p:nvSpPr>
          <p:cNvPr id="35" name="Text 33"/>
          <p:cNvSpPr/>
          <p:nvPr/>
        </p:nvSpPr>
        <p:spPr>
          <a:xfrm>
            <a:off x="6499920" y="3560118"/>
            <a:ext cx="2377380" cy="580727"/>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36" name="Text 34"/>
          <p:cNvSpPr/>
          <p:nvPr/>
        </p:nvSpPr>
        <p:spPr>
          <a:xfrm>
            <a:off x="6604695" y="3664893"/>
            <a:ext cx="2211187"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1A1F2E"/>
                </a:solidFill>
                <a:latin typeface="Arial" pitchFamily="34" charset="0"/>
                <a:ea typeface="Arial" pitchFamily="34" charset="-122"/>
                <a:cs typeface="Arial" pitchFamily="34" charset="-120"/>
              </a:rPr>
              <a:t>EXAMPLE OUTPUT</a:t>
            </a:r>
            <a:endParaRPr lang="en-US" sz="675" dirty="0"/>
          </a:p>
        </p:txBody>
      </p:sp>
      <p:sp>
        <p:nvSpPr>
          <p:cNvPr id="37" name="Text 35"/>
          <p:cNvSpPr/>
          <p:nvPr/>
        </p:nvSpPr>
        <p:spPr>
          <a:xfrm>
            <a:off x="6604695" y="3822948"/>
            <a:ext cx="2211187" cy="213122"/>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Hey @Sarah, heads up - the meeting got moved to 3 PM. Can you bring the quarterly report?</a:t>
            </a:r>
            <a:endParaRPr lang="en-US" sz="600" dirty="0"/>
          </a:p>
        </p:txBody>
      </p:sp>
      <p:sp>
        <p:nvSpPr>
          <p:cNvPr id="38" name="Text 36"/>
          <p:cNvSpPr/>
          <p:nvPr/>
        </p:nvSpPr>
        <p:spPr>
          <a:xfrm>
            <a:off x="4017764" y="4388495"/>
            <a:ext cx="4859536" cy="310455"/>
          </a:xfrm>
          <a:prstGeom prst="rect">
            <a:avLst/>
          </a:prstGeom>
          <a:solidFill>
            <a:srgbClr val="DCFCE7"/>
          </a:solidFill>
          <a:ln/>
        </p:spPr>
        <p:txBody>
          <a:bodyPr wrap="square" rtlCol="0" anchor="ctr"/>
          <a:lstStyle/>
          <a:p>
            <a:pPr indent="0" marL="0">
              <a:buNone/>
            </a:pPr>
            <a:endParaRPr lang="en-US" dirty="0"/>
          </a:p>
        </p:txBody>
      </p:sp>
      <p:sp>
        <p:nvSpPr>
          <p:cNvPr id="39" name="Shape 37"/>
          <p:cNvSpPr/>
          <p:nvPr/>
        </p:nvSpPr>
        <p:spPr>
          <a:xfrm>
            <a:off x="4032052" y="4388495"/>
            <a:ext cx="0" cy="310455"/>
          </a:xfrm>
          <a:prstGeom prst="line">
            <a:avLst/>
          </a:prstGeom>
          <a:noFill/>
          <a:ln w="28575">
            <a:solidFill>
              <a:srgbClr val="059669"/>
            </a:solidFill>
            <a:prstDash val="solid"/>
          </a:ln>
        </p:spPr>
      </p:sp>
      <p:sp>
        <p:nvSpPr>
          <p:cNvPr id="40" name="Text 38"/>
          <p:cNvSpPr/>
          <p:nvPr/>
        </p:nvSpPr>
        <p:spPr>
          <a:xfrm>
            <a:off x="4141589" y="4483745"/>
            <a:ext cx="4733270" cy="119955"/>
          </a:xfrm>
          <a:prstGeom prst="rect">
            <a:avLst/>
          </a:prstGeom>
          <a:noFill/>
          <a:ln/>
        </p:spPr>
        <p:txBody>
          <a:bodyPr wrap="square" lIns="0" tIns="0" rIns="0" bIns="0" rtlCol="0" anchor="t"/>
          <a:lstStyle/>
          <a:p>
            <a:pPr algn="l" indent="0" marL="0">
              <a:lnSpc>
                <a:spcPts val="945"/>
              </a:lnSpc>
              <a:buNone/>
            </a:pPr>
            <a:r>
              <a:rPr lang="en-US" sz="675" b="1" dirty="0">
                <a:solidFill>
                  <a:srgbClr val="166534"/>
                </a:solidFill>
                <a:latin typeface="Arial" pitchFamily="34" charset="0"/>
                <a:ea typeface="Arial" pitchFamily="34" charset="-122"/>
                <a:cs typeface="Arial" pitchFamily="34" charset="-120"/>
              </a:rPr>
              <a:t>Pro tip:</a:t>
            </a:r>
            <a:pPr algn="l" indent="0" marL="0">
              <a:lnSpc>
                <a:spcPts val="945"/>
              </a:lnSpc>
              <a:buNone/>
            </a:pPr>
            <a:r>
              <a:rPr lang="en-US" sz="675" dirty="0">
                <a:solidFill>
                  <a:srgbClr val="166534"/>
                </a:solidFill>
                <a:latin typeface="Arial" pitchFamily="34" charset="0"/>
                <a:ea typeface="Arial" pitchFamily="34" charset="-122"/>
                <a:cs typeface="Arial" pitchFamily="34" charset="-120"/>
              </a:rPr>
              <a:t> Say "at Sarah" to get @Sarah. The AI learns to convert spoken mentions to proper format.</a:t>
            </a:r>
            <a:endParaRPr lang="en-US" sz="675"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3598664" cy="5143500"/>
          </a:xfrm>
          <a:prstGeom prst="rect">
            <a:avLst/>
          </a:prstGeom>
          <a:solidFill>
            <a:srgbClr val="1A1F2E"/>
          </a:solidFill>
          <a:ln/>
        </p:spPr>
        <p:txBody>
          <a:bodyPr wrap="square" rtlCol="0" anchor="ctr"/>
          <a:lstStyle/>
          <a:p>
            <a:pPr indent="0" marL="0">
              <a:buNone/>
            </a:pPr>
            <a:endParaRPr lang="en-US" dirty="0"/>
          </a:p>
        </p:txBody>
      </p:sp>
      <p:sp>
        <p:nvSpPr>
          <p:cNvPr id="3" name="Text 1"/>
          <p:cNvSpPr/>
          <p:nvPr/>
        </p:nvSpPr>
        <p:spPr>
          <a:xfrm>
            <a:off x="266700" y="240804"/>
            <a:ext cx="778073" cy="220861"/>
          </a:xfrm>
          <a:prstGeom prst="rect">
            <a:avLst/>
          </a:prstGeom>
          <a:solidFill>
            <a:srgbClr val="8B5CF6"/>
          </a:solidFill>
          <a:ln/>
        </p:spPr>
        <p:txBody>
          <a:bodyPr wrap="square" rtlCol="0" anchor="ctr"/>
          <a:lstStyle/>
          <a:p>
            <a:pPr indent="0" marL="0">
              <a:buNone/>
            </a:pPr>
            <a:endParaRPr lang="en-US" dirty="0"/>
          </a:p>
        </p:txBody>
      </p:sp>
      <p:sp>
        <p:nvSpPr>
          <p:cNvPr id="4" name="Text 2"/>
          <p:cNvSpPr/>
          <p:nvPr/>
        </p:nvSpPr>
        <p:spPr>
          <a:xfrm>
            <a:off x="361950" y="297954"/>
            <a:ext cx="599325" cy="106561"/>
          </a:xfrm>
          <a:prstGeom prst="rect">
            <a:avLst/>
          </a:prstGeom>
          <a:noFill/>
          <a:ln/>
        </p:spPr>
        <p:txBody>
          <a:bodyPr wrap="square" lIns="0" tIns="0" rIns="0" bIns="0" rtlCol="0" anchor="t"/>
          <a:lstStyle/>
          <a:p>
            <a:pPr algn="l" indent="0" marL="0">
              <a:lnSpc>
                <a:spcPts val="840"/>
              </a:lnSpc>
              <a:buNone/>
            </a:pPr>
            <a:r>
              <a:rPr lang="en-US" sz="600" b="1" dirty="0">
                <a:solidFill>
                  <a:srgbClr val="FFFFFF"/>
                </a:solidFill>
                <a:latin typeface="Arial" pitchFamily="34" charset="0"/>
                <a:ea typeface="Arial" pitchFamily="34" charset="-122"/>
                <a:cs typeface="Arial" pitchFamily="34" charset="-120"/>
              </a:rPr>
              <a:t>MODE 3 OF 5</a:t>
            </a:r>
            <a:endParaRPr lang="en-US" sz="600" dirty="0"/>
          </a:p>
        </p:txBody>
      </p:sp>
      <p:sp>
        <p:nvSpPr>
          <p:cNvPr id="5" name="Text 3"/>
          <p:cNvSpPr/>
          <p:nvPr/>
        </p:nvSpPr>
        <p:spPr>
          <a:xfrm>
            <a:off x="266700" y="709315"/>
            <a:ext cx="1573911" cy="548580"/>
          </a:xfrm>
          <a:prstGeom prst="rect">
            <a:avLst/>
          </a:prstGeom>
          <a:noFill/>
          <a:ln/>
        </p:spPr>
        <p:txBody>
          <a:bodyPr wrap="square" lIns="0" tIns="0" rIns="0" bIns="0" rtlCol="0" anchor="t"/>
          <a:lstStyle/>
          <a:p>
            <a:pPr algn="l" indent="0" marL="0">
              <a:lnSpc>
                <a:spcPts val="2160"/>
              </a:lnSpc>
              <a:spcAft>
                <a:spcPts val="900"/>
              </a:spcAft>
              <a:buNone/>
            </a:pPr>
            <a:r>
              <a:rPr lang="en-US" sz="1800" dirty="0">
                <a:solidFill>
                  <a:srgbClr val="FFFFFF"/>
                </a:solidFill>
                <a:latin typeface="Georgia" pitchFamily="34" charset="0"/>
                <a:ea typeface="Georgia" pitchFamily="34" charset="-122"/>
                <a:cs typeface="Georgia" pitchFamily="34" charset="-120"/>
              </a:rPr>
              <a:t>Professional</a:t>
            </a:r>
            <a:endParaRPr lang="en-US" sz="1800" dirty="0"/>
          </a:p>
          <a:p>
            <a:pPr algn="l" indent="0" marL="0">
              <a:lnSpc>
                <a:spcPts val="2160"/>
              </a:lnSpc>
              <a:spcAft>
                <a:spcPts val="900"/>
              </a:spcAft>
              <a:buNone/>
            </a:pPr>
            <a:r>
              <a:rPr lang="en-US" sz="1800" dirty="0">
                <a:solidFill>
                  <a:srgbClr val="FFFFFF"/>
                </a:solidFill>
                <a:latin typeface="Georgia" pitchFamily="34" charset="0"/>
                <a:ea typeface="Georgia" pitchFamily="34" charset="-122"/>
                <a:cs typeface="Georgia" pitchFamily="34" charset="-120"/>
              </a:rPr>
              <a:t>Email Mode</a:t>
            </a:r>
            <a:endParaRPr lang="en-US" sz="1800" dirty="0"/>
          </a:p>
        </p:txBody>
      </p:sp>
      <p:sp>
        <p:nvSpPr>
          <p:cNvPr id="6" name="Text 4"/>
          <p:cNvSpPr/>
          <p:nvPr/>
        </p:nvSpPr>
        <p:spPr>
          <a:xfrm>
            <a:off x="266700" y="1829395"/>
            <a:ext cx="3065264" cy="639961"/>
          </a:xfrm>
          <a:prstGeom prst="rect">
            <a:avLst/>
          </a:prstGeom>
          <a:solidFill>
            <a:srgbClr val="C9A227">
              <a:alpha val="15000"/>
            </a:srgbClr>
          </a:solidFill>
          <a:ln/>
        </p:spPr>
        <p:txBody>
          <a:bodyPr wrap="square" rtlCol="0" anchor="ctr"/>
          <a:lstStyle/>
          <a:p>
            <a:pPr indent="0" marL="0">
              <a:buNone/>
            </a:pPr>
            <a:endParaRPr lang="en-US" dirty="0"/>
          </a:p>
        </p:txBody>
      </p:sp>
      <p:sp>
        <p:nvSpPr>
          <p:cNvPr id="7" name="Shape 5"/>
          <p:cNvSpPr/>
          <p:nvPr/>
        </p:nvSpPr>
        <p:spPr>
          <a:xfrm>
            <a:off x="280988" y="1829395"/>
            <a:ext cx="0" cy="639961"/>
          </a:xfrm>
          <a:prstGeom prst="line">
            <a:avLst/>
          </a:prstGeom>
          <a:noFill/>
          <a:ln w="28575">
            <a:solidFill>
              <a:srgbClr val="C9A227"/>
            </a:solidFill>
            <a:prstDash val="solid"/>
          </a:ln>
        </p:spPr>
      </p:sp>
      <p:sp>
        <p:nvSpPr>
          <p:cNvPr id="8" name="Text 6"/>
          <p:cNvSpPr/>
          <p:nvPr/>
        </p:nvSpPr>
        <p:spPr>
          <a:xfrm>
            <a:off x="409575" y="1943695"/>
            <a:ext cx="2864251"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C9A227"/>
                </a:solidFill>
                <a:latin typeface="Arial" pitchFamily="34" charset="0"/>
                <a:ea typeface="Arial" pitchFamily="34" charset="-122"/>
                <a:cs typeface="Arial" pitchFamily="34" charset="-120"/>
              </a:rPr>
              <a:t>USE CASE</a:t>
            </a:r>
            <a:endParaRPr lang="en-US" sz="750" dirty="0"/>
          </a:p>
        </p:txBody>
      </p:sp>
      <p:sp>
        <p:nvSpPr>
          <p:cNvPr id="9" name="Text 7"/>
          <p:cNvSpPr/>
          <p:nvPr/>
        </p:nvSpPr>
        <p:spPr>
          <a:xfrm>
            <a:off x="409575" y="2115145"/>
            <a:ext cx="2864251" cy="239911"/>
          </a:xfrm>
          <a:prstGeom prst="rect">
            <a:avLst/>
          </a:prstGeom>
          <a:noFill/>
          <a:ln/>
        </p:spPr>
        <p:txBody>
          <a:bodyPr wrap="square" lIns="0" tIns="0" rIns="0" bIns="0" rtlCol="0" anchor="t"/>
          <a:lstStyle/>
          <a:p>
            <a:pPr algn="l" indent="0" marL="0">
              <a:lnSpc>
                <a:spcPts val="945"/>
              </a:lnSpc>
              <a:buNone/>
            </a:pPr>
            <a:r>
              <a:rPr lang="en-US" sz="675" dirty="0">
                <a:solidFill>
                  <a:srgbClr val="FFFFFF">
                    <a:alpha val="70000"/>
                  </a:srgbClr>
                </a:solidFill>
                <a:latin typeface="Arial" pitchFamily="34" charset="0"/>
                <a:ea typeface="Arial" pitchFamily="34" charset="-122"/>
                <a:cs typeface="Arial" pitchFamily="34" charset="-120"/>
              </a:rPr>
              <a:t>Transform rambling dictation into well-structured, professional emails. Perfect for busy schedules.</a:t>
            </a:r>
            <a:endParaRPr lang="en-US" sz="675" dirty="0"/>
          </a:p>
        </p:txBody>
      </p:sp>
      <p:sp>
        <p:nvSpPr>
          <p:cNvPr id="10" name="Text 8"/>
          <p:cNvSpPr/>
          <p:nvPr/>
        </p:nvSpPr>
        <p:spPr>
          <a:xfrm>
            <a:off x="266700" y="2736056"/>
            <a:ext cx="3065264" cy="804863"/>
          </a:xfrm>
          <a:prstGeom prst="rect">
            <a:avLst/>
          </a:prstGeom>
          <a:solidFill>
            <a:srgbClr val="FFFFFF">
              <a:alpha val="5000"/>
            </a:srgbClr>
          </a:solidFill>
          <a:ln/>
        </p:spPr>
        <p:txBody>
          <a:bodyPr wrap="square" rtlCol="0" anchor="ctr"/>
          <a:lstStyle/>
          <a:p>
            <a:pPr indent="0" marL="0">
              <a:buNone/>
            </a:pPr>
            <a:endParaRPr lang="en-US" dirty="0"/>
          </a:p>
        </p:txBody>
      </p:sp>
      <p:sp>
        <p:nvSpPr>
          <p:cNvPr id="11" name="Text 9"/>
          <p:cNvSpPr/>
          <p:nvPr/>
        </p:nvSpPr>
        <p:spPr>
          <a:xfrm>
            <a:off x="381000" y="2850356"/>
            <a:ext cx="2893397"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CONTEXT SETTINGS</a:t>
            </a:r>
            <a:endParaRPr lang="en-US" sz="750" dirty="0"/>
          </a:p>
        </p:txBody>
      </p:sp>
      <p:sp>
        <p:nvSpPr>
          <p:cNvPr id="12" name="Text 10"/>
          <p:cNvSpPr/>
          <p:nvPr/>
        </p:nvSpPr>
        <p:spPr>
          <a:xfrm>
            <a:off x="381000" y="3040856"/>
            <a:ext cx="2893397" cy="385763"/>
          </a:xfrm>
          <a:prstGeom prst="rect">
            <a:avLst/>
          </a:prstGeom>
          <a:noFill/>
          <a:ln/>
        </p:spPr>
        <p:txBody>
          <a:bodyPr wrap="square" lIns="0" tIns="0" rIns="0" bIns="0" rtlCol="0" anchor="t"/>
          <a:lstStyle/>
          <a:p>
            <a:pPr algn="l" indent="0" marL="0">
              <a:lnSpc>
                <a:spcPts val="1013"/>
              </a:lnSpc>
              <a:buNone/>
            </a:pPr>
            <a:r>
              <a:rPr lang="en-US" sz="675" dirty="0">
                <a:solidFill>
                  <a:srgbClr val="FFFFFF">
                    <a:alpha val="60000"/>
                  </a:srgbClr>
                </a:solidFill>
                <a:latin typeface="Arial" pitchFamily="34" charset="0"/>
                <a:ea typeface="Arial" pitchFamily="34" charset="-122"/>
                <a:cs typeface="Arial" pitchFamily="34" charset="-120"/>
              </a:rPr>
              <a:t>✓ Application Context (detect Outlook)</a:t>
            </a:r>
            <a:endParaRPr lang="en-US" sz="675" dirty="0"/>
          </a:p>
          <a:p>
            <a:pPr algn="l" indent="0" marL="0">
              <a:lnSpc>
                <a:spcPts val="1013"/>
              </a:lnSpc>
              <a:buNone/>
            </a:pPr>
            <a:r>
              <a:rPr lang="en-US" sz="675" dirty="0">
                <a:solidFill>
                  <a:srgbClr val="FFFFFF">
                    <a:alpha val="60000"/>
                  </a:srgbClr>
                </a:solidFill>
                <a:latin typeface="Arial" pitchFamily="34" charset="0"/>
                <a:ea typeface="Arial" pitchFamily="34" charset="-122"/>
                <a:cs typeface="Arial" pitchFamily="34" charset="-120"/>
              </a:rPr>
              <a:t> ✓ Selected Text (reply context)</a:t>
            </a:r>
            <a:endParaRPr lang="en-US" sz="675" dirty="0"/>
          </a:p>
          <a:p>
            <a:pPr algn="l" indent="0" marL="0">
              <a:lnSpc>
                <a:spcPts val="1013"/>
              </a:lnSpc>
              <a:buNone/>
            </a:pPr>
            <a:r>
              <a:rPr lang="en-US" sz="675" dirty="0">
                <a:solidFill>
                  <a:srgbClr val="FFFFFF">
                    <a:alpha val="60000"/>
                  </a:srgbClr>
                </a:solidFill>
                <a:latin typeface="Arial" pitchFamily="34" charset="0"/>
                <a:ea typeface="Arial" pitchFamily="34" charset="-122"/>
                <a:cs typeface="Arial" pitchFamily="34" charset="-120"/>
              </a:rPr>
              <a:t> ○ Clipboard Context (optional)</a:t>
            </a:r>
            <a:endParaRPr lang="en-US" sz="675" dirty="0"/>
          </a:p>
        </p:txBody>
      </p:sp>
      <p:sp>
        <p:nvSpPr>
          <p:cNvPr id="13" name="Text 11"/>
          <p:cNvSpPr/>
          <p:nvPr/>
        </p:nvSpPr>
        <p:spPr>
          <a:xfrm>
            <a:off x="266700" y="3807619"/>
            <a:ext cx="3065264" cy="721816"/>
          </a:xfrm>
          <a:prstGeom prst="rect">
            <a:avLst/>
          </a:prstGeom>
          <a:solidFill>
            <a:srgbClr val="FFFFFF">
              <a:alpha val="5000"/>
            </a:srgbClr>
          </a:solidFill>
          <a:ln/>
        </p:spPr>
        <p:txBody>
          <a:bodyPr wrap="square" rtlCol="0" anchor="ctr"/>
          <a:lstStyle/>
          <a:p>
            <a:pPr indent="0" marL="0">
              <a:buNone/>
            </a:pPr>
            <a:endParaRPr lang="en-US" dirty="0"/>
          </a:p>
        </p:txBody>
      </p:sp>
      <p:sp>
        <p:nvSpPr>
          <p:cNvPr id="14" name="Text 12"/>
          <p:cNvSpPr/>
          <p:nvPr/>
        </p:nvSpPr>
        <p:spPr>
          <a:xfrm>
            <a:off x="361950" y="3902869"/>
            <a:ext cx="2932259"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FFFFFF"/>
                </a:solidFill>
                <a:latin typeface="Arial" pitchFamily="34" charset="0"/>
                <a:ea typeface="Arial" pitchFamily="34" charset="-122"/>
                <a:cs typeface="Arial" pitchFamily="34" charset="-120"/>
              </a:rPr>
              <a:t>AUTO-ACTIVATION</a:t>
            </a:r>
            <a:endParaRPr lang="en-US" sz="750" dirty="0"/>
          </a:p>
        </p:txBody>
      </p:sp>
      <p:sp>
        <p:nvSpPr>
          <p:cNvPr id="15" name="Text 13"/>
          <p:cNvSpPr/>
          <p:nvPr/>
        </p:nvSpPr>
        <p:spPr>
          <a:xfrm>
            <a:off x="361950" y="4074319"/>
            <a:ext cx="2932259" cy="359866"/>
          </a:xfrm>
          <a:prstGeom prst="rect">
            <a:avLst/>
          </a:prstGeom>
          <a:noFill/>
          <a:ln/>
        </p:spPr>
        <p:txBody>
          <a:bodyPr wrap="square" lIns="0" tIns="0" rIns="0" bIns="0" rtlCol="0" anchor="t"/>
          <a:lstStyle/>
          <a:p>
            <a:pPr algn="l" indent="0" marL="0">
              <a:lnSpc>
                <a:spcPts val="945"/>
              </a:lnSpc>
              <a:buNone/>
            </a:pPr>
            <a:r>
              <a:rPr lang="en-US" sz="675" dirty="0">
                <a:solidFill>
                  <a:srgbClr val="FFFFFF">
                    <a:alpha val="60000"/>
                  </a:srgbClr>
                </a:solidFill>
                <a:latin typeface="Arial" pitchFamily="34" charset="0"/>
                <a:ea typeface="Arial" pitchFamily="34" charset="-122"/>
                <a:cs typeface="Arial" pitchFamily="34" charset="-120"/>
              </a:rPr>
              <a:t>Microsoft Outlook</a:t>
            </a:r>
            <a:endParaRPr lang="en-US" sz="675" dirty="0"/>
          </a:p>
          <a:p>
            <a:pPr algn="l" indent="0" marL="0">
              <a:lnSpc>
                <a:spcPts val="945"/>
              </a:lnSpc>
              <a:buNone/>
            </a:pPr>
            <a:r>
              <a:rPr lang="en-US" sz="675" dirty="0">
                <a:solidFill>
                  <a:srgbClr val="FFFFFF">
                    <a:alpha val="60000"/>
                  </a:srgbClr>
                </a:solidFill>
                <a:latin typeface="Arial" pitchFamily="34" charset="0"/>
                <a:ea typeface="Arial" pitchFamily="34" charset="-122"/>
                <a:cs typeface="Arial" pitchFamily="34" charset="-120"/>
              </a:rPr>
              <a:t> Gmail (browser)</a:t>
            </a:r>
            <a:endParaRPr lang="en-US" sz="675" dirty="0"/>
          </a:p>
          <a:p>
            <a:pPr algn="l" indent="0" marL="0">
              <a:lnSpc>
                <a:spcPts val="945"/>
              </a:lnSpc>
              <a:buNone/>
            </a:pPr>
            <a:r>
              <a:rPr lang="en-US" sz="675" dirty="0">
                <a:solidFill>
                  <a:srgbClr val="FFFFFF">
                    <a:alpha val="60000"/>
                  </a:srgbClr>
                </a:solidFill>
                <a:latin typeface="Arial" pitchFamily="34" charset="0"/>
                <a:ea typeface="Arial" pitchFamily="34" charset="-122"/>
                <a:cs typeface="Arial" pitchFamily="34" charset="-120"/>
              </a:rPr>
              <a:t> Apple Mail</a:t>
            </a:r>
            <a:endParaRPr lang="en-US" sz="675" dirty="0"/>
          </a:p>
        </p:txBody>
      </p:sp>
      <p:sp>
        <p:nvSpPr>
          <p:cNvPr id="16" name="Text 14"/>
          <p:cNvSpPr/>
          <p:nvPr/>
        </p:nvSpPr>
        <p:spPr>
          <a:xfrm>
            <a:off x="266700" y="4681835"/>
            <a:ext cx="3065264" cy="258961"/>
          </a:xfrm>
          <a:prstGeom prst="rect">
            <a:avLst/>
          </a:prstGeom>
          <a:solidFill>
            <a:srgbClr val="059669"/>
          </a:solidFill>
          <a:ln/>
        </p:spPr>
        <p:txBody>
          <a:bodyPr wrap="square" rtlCol="0" anchor="ctr"/>
          <a:lstStyle/>
          <a:p>
            <a:pPr indent="0" marL="0">
              <a:buNone/>
            </a:pPr>
            <a:endParaRPr lang="en-US" dirty="0"/>
          </a:p>
        </p:txBody>
      </p:sp>
      <p:sp>
        <p:nvSpPr>
          <p:cNvPr id="17" name="Text 15"/>
          <p:cNvSpPr/>
          <p:nvPr/>
        </p:nvSpPr>
        <p:spPr>
          <a:xfrm>
            <a:off x="313771" y="4758035"/>
            <a:ext cx="2971121" cy="106561"/>
          </a:xfrm>
          <a:prstGeom prst="rect">
            <a:avLst/>
          </a:prstGeom>
          <a:noFill/>
          <a:ln/>
        </p:spPr>
        <p:txBody>
          <a:bodyPr wrap="square" lIns="0" tIns="0" rIns="0" bIns="0" rtlCol="0" anchor="t"/>
          <a:lstStyle/>
          <a:p>
            <a:pPr algn="ctr" indent="0" marL="0">
              <a:lnSpc>
                <a:spcPts val="840"/>
              </a:lnSpc>
              <a:buNone/>
            </a:pPr>
            <a:r>
              <a:rPr lang="en-US" sz="600" dirty="0">
                <a:solidFill>
                  <a:srgbClr val="FFFFFF"/>
                </a:solidFill>
                <a:latin typeface="Arial" pitchFamily="34" charset="0"/>
                <a:ea typeface="Arial" pitchFamily="34" charset="-122"/>
                <a:cs typeface="Arial" pitchFamily="34" charset="-120"/>
              </a:rPr>
              <a:t>Uses your name from system context</a:t>
            </a:r>
            <a:endParaRPr lang="en-US" sz="600" dirty="0"/>
          </a:p>
        </p:txBody>
      </p:sp>
      <p:sp>
        <p:nvSpPr>
          <p:cNvPr id="18" name="Text 16"/>
          <p:cNvSpPr/>
          <p:nvPr/>
        </p:nvSpPr>
        <p:spPr>
          <a:xfrm>
            <a:off x="3751064" y="0"/>
            <a:ext cx="5392936" cy="5143500"/>
          </a:xfrm>
          <a:prstGeom prst="rect">
            <a:avLst/>
          </a:prstGeom>
          <a:solidFill>
            <a:srgbClr val="F7F8FA"/>
          </a:solidFill>
          <a:ln/>
        </p:spPr>
        <p:txBody>
          <a:bodyPr wrap="square" rtlCol="0" anchor="ctr"/>
          <a:lstStyle/>
          <a:p>
            <a:pPr indent="0" marL="0">
              <a:buNone/>
            </a:pPr>
            <a:endParaRPr lang="en-US" dirty="0"/>
          </a:p>
        </p:txBody>
      </p:sp>
      <p:sp>
        <p:nvSpPr>
          <p:cNvPr id="19" name="Text 17"/>
          <p:cNvSpPr/>
          <p:nvPr/>
        </p:nvSpPr>
        <p:spPr>
          <a:xfrm>
            <a:off x="4017764" y="228600"/>
            <a:ext cx="4956727" cy="159990"/>
          </a:xfrm>
          <a:prstGeom prst="rect">
            <a:avLst/>
          </a:prstGeom>
          <a:noFill/>
          <a:ln/>
        </p:spPr>
        <p:txBody>
          <a:bodyPr wrap="square" lIns="0" tIns="0" rIns="0" bIns="0" rtlCol="0" anchor="t"/>
          <a:lstStyle/>
          <a:p>
            <a:pPr algn="l" indent="0" marL="0">
              <a:lnSpc>
                <a:spcPts val="1260"/>
              </a:lnSpc>
              <a:spcAft>
                <a:spcPts val="900"/>
              </a:spcAft>
              <a:buNone/>
            </a:pPr>
            <a:r>
              <a:rPr lang="en-US" sz="900" b="1" dirty="0">
                <a:solidFill>
                  <a:srgbClr val="1A1F2E"/>
                </a:solidFill>
                <a:latin typeface="Arial" pitchFamily="34" charset="0"/>
                <a:ea typeface="Arial" pitchFamily="34" charset="-122"/>
                <a:cs typeface="Arial" pitchFamily="34" charset="-120"/>
              </a:rPr>
              <a:t>SAMPLE AI INSTRUCTIONS</a:t>
            </a:r>
            <a:endParaRPr lang="en-US" sz="900" dirty="0"/>
          </a:p>
        </p:txBody>
      </p:sp>
      <p:sp>
        <p:nvSpPr>
          <p:cNvPr id="20" name="Text 18"/>
          <p:cNvSpPr/>
          <p:nvPr/>
        </p:nvSpPr>
        <p:spPr>
          <a:xfrm>
            <a:off x="4017764" y="655290"/>
            <a:ext cx="4859536" cy="2321272"/>
          </a:xfrm>
          <a:prstGeom prst="rect">
            <a:avLst/>
          </a:prstGeom>
          <a:solidFill>
            <a:srgbClr val="1A1F2E"/>
          </a:solidFill>
          <a:ln/>
        </p:spPr>
        <p:txBody>
          <a:bodyPr wrap="square" rtlCol="0" anchor="ctr"/>
          <a:lstStyle/>
          <a:p>
            <a:pPr indent="0" marL="0">
              <a:buNone/>
            </a:pPr>
            <a:endParaRPr lang="en-US" dirty="0"/>
          </a:p>
        </p:txBody>
      </p:sp>
      <p:sp>
        <p:nvSpPr>
          <p:cNvPr id="21" name="Text 19"/>
          <p:cNvSpPr/>
          <p:nvPr/>
        </p:nvSpPr>
        <p:spPr>
          <a:xfrm>
            <a:off x="4170164" y="807690"/>
            <a:ext cx="4645831" cy="106561"/>
          </a:xfrm>
          <a:prstGeom prst="rect">
            <a:avLst/>
          </a:prstGeom>
          <a:noFill/>
          <a:ln/>
        </p:spPr>
        <p:txBody>
          <a:bodyPr wrap="square" lIns="0" tIns="0" rIns="0" bIns="0" rtlCol="0" anchor="t"/>
          <a:lstStyle/>
          <a:p>
            <a:pPr algn="l" indent="0" marL="0">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&lt;role&gt;</a:t>
            </a:r>
            <a:endParaRPr lang="en-US" sz="600" dirty="0"/>
          </a:p>
        </p:txBody>
      </p:sp>
      <p:sp>
        <p:nvSpPr>
          <p:cNvPr id="22" name="Text 20"/>
          <p:cNvSpPr/>
          <p:nvPr/>
        </p:nvSpPr>
        <p:spPr>
          <a:xfrm>
            <a:off x="4170164" y="971401"/>
            <a:ext cx="4645831" cy="106561"/>
          </a:xfrm>
          <a:prstGeom prst="rect">
            <a:avLst/>
          </a:prstGeom>
          <a:noFill/>
          <a:ln/>
        </p:spPr>
        <p:txBody>
          <a:bodyPr wrap="square" lIns="76200" tIns="0" rIns="0" bIns="0" rtlCol="0" anchor="t"/>
          <a:lstStyle/>
          <a:p>
            <a:pPr algn="l" indent="0" marL="0">
              <a:lnSpc>
                <a:spcPts val="840"/>
              </a:lnSpc>
              <a:spcAft>
                <a:spcPts val="450"/>
              </a:spcAft>
              <a:buNone/>
            </a:pPr>
            <a:r>
              <a:rPr lang="en-US" sz="600" dirty="0">
                <a:solidFill>
                  <a:srgbClr val="FFFFFF">
                    <a:alpha val="85000"/>
                  </a:srgbClr>
                </a:solidFill>
                <a:latin typeface="Arial" pitchFamily="34" charset="0"/>
                <a:ea typeface="Arial" pitchFamily="34" charset="-122"/>
                <a:cs typeface="Arial" pitchFamily="34" charset="-120"/>
              </a:rPr>
              <a:t>You are a professional email editor</a:t>
            </a:r>
            <a:endParaRPr lang="en-US" sz="600" dirty="0"/>
          </a:p>
        </p:txBody>
      </p:sp>
      <p:sp>
        <p:nvSpPr>
          <p:cNvPr id="23" name="Text 21"/>
          <p:cNvSpPr/>
          <p:nvPr/>
        </p:nvSpPr>
        <p:spPr>
          <a:xfrm>
            <a:off x="4170164" y="1135112"/>
            <a:ext cx="4645831" cy="106561"/>
          </a:xfrm>
          <a:prstGeom prst="rect">
            <a:avLst/>
          </a:prstGeom>
          <a:noFill/>
          <a:ln/>
        </p:spPr>
        <p:txBody>
          <a:bodyPr wrap="square" lIns="0" tIns="0" rIns="0" bIns="0" rtlCol="0" anchor="t"/>
          <a:lstStyle/>
          <a:p>
            <a:pPr algn="l" indent="0" marL="0">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&lt;/role&gt;</a:t>
            </a:r>
            <a:endParaRPr lang="en-US" sz="600" dirty="0"/>
          </a:p>
        </p:txBody>
      </p:sp>
      <p:sp>
        <p:nvSpPr>
          <p:cNvPr id="24" name="Text 22"/>
          <p:cNvSpPr/>
          <p:nvPr/>
        </p:nvSpPr>
        <p:spPr>
          <a:xfrm>
            <a:off x="4170164" y="1298823"/>
            <a:ext cx="4645831" cy="106561"/>
          </a:xfrm>
          <a:prstGeom prst="rect">
            <a:avLst/>
          </a:prstGeom>
          <a:noFill/>
          <a:ln/>
        </p:spPr>
        <p:txBody>
          <a:bodyPr wrap="square" lIns="0" tIns="0" rIns="0" bIns="0" rtlCol="0" anchor="t"/>
          <a:lstStyle/>
          <a:p>
            <a:pPr algn="l" indent="0" marL="0">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&lt;instructions&gt;</a:t>
            </a:r>
            <a:endParaRPr lang="en-US" sz="600" dirty="0"/>
          </a:p>
        </p:txBody>
      </p:sp>
      <p:sp>
        <p:nvSpPr>
          <p:cNvPr id="25" name="Text 23"/>
          <p:cNvSpPr/>
          <p:nvPr/>
        </p:nvSpPr>
        <p:spPr>
          <a:xfrm>
            <a:off x="4170164" y="1462534"/>
            <a:ext cx="4645831" cy="571500"/>
          </a:xfrm>
          <a:prstGeom prst="rect">
            <a:avLst/>
          </a:prstGeom>
          <a:noFill/>
          <a:ln/>
        </p:spPr>
        <p:txBody>
          <a:bodyPr wrap="square" lIns="76200" tIns="0" rIns="0" bIns="0" rtlCol="0" anchor="t"/>
          <a:lstStyle/>
          <a:p>
            <a:pPr algn="l" indent="0" marL="0">
              <a:lnSpc>
                <a:spcPts val="900"/>
              </a:lnSpc>
              <a:spcAft>
                <a:spcPts val="450"/>
              </a:spcAft>
              <a:buNone/>
            </a:pPr>
            <a:r>
              <a:rPr lang="en-US" sz="600" dirty="0">
                <a:solidFill>
                  <a:srgbClr val="FFFFFF">
                    <a:alpha val="85000"/>
                  </a:srgbClr>
                </a:solidFill>
                <a:latin typeface="Arial" pitchFamily="34" charset="0"/>
                <a:ea typeface="Arial" pitchFamily="34" charset="-122"/>
                <a:cs typeface="Arial" pitchFamily="34" charset="-120"/>
              </a:rPr>
              <a:t>The User Message is dictated speech.</a:t>
            </a:r>
            <a:endParaRPr lang="en-US" sz="600" dirty="0"/>
          </a:p>
          <a:p>
            <a:pPr algn="l" indent="0" marL="0">
              <a:lnSpc>
                <a:spcPts val="900"/>
              </a:lnSpc>
              <a:spcAft>
                <a:spcPts val="450"/>
              </a:spcAft>
              <a:buNone/>
            </a:pPr>
            <a:r>
              <a:rPr lang="en-US" sz="600" dirty="0">
                <a:solidFill>
                  <a:srgbClr val="FFFFFF">
                    <a:alpha val="85000"/>
                  </a:srgbClr>
                </a:solidFill>
                <a:latin typeface="Arial" pitchFamily="34" charset="0"/>
                <a:ea typeface="Arial" pitchFamily="34" charset="-122"/>
                <a:cs typeface="Arial" pitchFamily="34" charset="-120"/>
              </a:rPr>
              <a:t> Format into a professional email with:</a:t>
            </a:r>
            <a:endParaRPr lang="en-US" sz="600" dirty="0"/>
          </a:p>
          <a:p>
            <a:pPr algn="l" indent="0" marL="0">
              <a:lnSpc>
                <a:spcPts val="900"/>
              </a:lnSpc>
              <a:spcAft>
                <a:spcPts val="450"/>
              </a:spcAft>
              <a:buNone/>
            </a:pPr>
            <a:r>
              <a:rPr lang="en-US" sz="600" dirty="0">
                <a:solidFill>
                  <a:srgbClr val="FFFFFF">
                    <a:alpha val="85000"/>
                  </a:srgbClr>
                </a:solidFill>
                <a:latin typeface="Arial" pitchFamily="34" charset="0"/>
                <a:ea typeface="Arial" pitchFamily="34" charset="-122"/>
                <a:cs typeface="Arial" pitchFamily="34" charset="-120"/>
              </a:rPr>
              <a:t> - Appropriate greeting</a:t>
            </a:r>
            <a:endParaRPr lang="en-US" sz="600" dirty="0"/>
          </a:p>
          <a:p>
            <a:pPr algn="l" indent="0" marL="0">
              <a:lnSpc>
                <a:spcPts val="900"/>
              </a:lnSpc>
              <a:spcAft>
                <a:spcPts val="450"/>
              </a:spcAft>
              <a:buNone/>
            </a:pPr>
            <a:r>
              <a:rPr lang="en-US" sz="600" dirty="0">
                <a:solidFill>
                  <a:srgbClr val="FFFFFF">
                    <a:alpha val="85000"/>
                  </a:srgbClr>
                </a:solidFill>
                <a:latin typeface="Arial" pitchFamily="34" charset="0"/>
                <a:ea typeface="Arial" pitchFamily="34" charset="-122"/>
                <a:cs typeface="Arial" pitchFamily="34" charset="-120"/>
              </a:rPr>
              <a:t> - Clear paragraphs</a:t>
            </a:r>
            <a:endParaRPr lang="en-US" sz="600" dirty="0"/>
          </a:p>
          <a:p>
            <a:pPr algn="l" indent="0" marL="0">
              <a:lnSpc>
                <a:spcPts val="900"/>
              </a:lnSpc>
              <a:spcAft>
                <a:spcPts val="450"/>
              </a:spcAft>
              <a:buNone/>
            </a:pPr>
            <a:r>
              <a:rPr lang="en-US" sz="600" dirty="0">
                <a:solidFill>
                  <a:srgbClr val="FFFFFF">
                    <a:alpha val="85000"/>
                  </a:srgbClr>
                </a:solidFill>
                <a:latin typeface="Arial" pitchFamily="34" charset="0"/>
                <a:ea typeface="Arial" pitchFamily="34" charset="-122"/>
                <a:cs typeface="Arial" pitchFamily="34" charset="-120"/>
              </a:rPr>
              <a:t> - Professional closing</a:t>
            </a:r>
            <a:endParaRPr lang="en-US" sz="600" dirty="0"/>
          </a:p>
        </p:txBody>
      </p:sp>
      <p:sp>
        <p:nvSpPr>
          <p:cNvPr id="26" name="Text 24"/>
          <p:cNvSpPr/>
          <p:nvPr/>
        </p:nvSpPr>
        <p:spPr>
          <a:xfrm>
            <a:off x="4170164" y="2091184"/>
            <a:ext cx="4645831" cy="106561"/>
          </a:xfrm>
          <a:prstGeom prst="rect">
            <a:avLst/>
          </a:prstGeom>
          <a:noFill/>
          <a:ln/>
        </p:spPr>
        <p:txBody>
          <a:bodyPr wrap="square" lIns="0" tIns="0" rIns="0" bIns="0" rtlCol="0" anchor="t"/>
          <a:lstStyle/>
          <a:p>
            <a:pPr algn="l" indent="0" marL="0">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&lt;/instructions&gt;</a:t>
            </a:r>
            <a:endParaRPr lang="en-US" sz="600" dirty="0"/>
          </a:p>
        </p:txBody>
      </p:sp>
      <p:sp>
        <p:nvSpPr>
          <p:cNvPr id="27" name="Text 25"/>
          <p:cNvSpPr/>
          <p:nvPr/>
        </p:nvSpPr>
        <p:spPr>
          <a:xfrm>
            <a:off x="4170164" y="2254895"/>
            <a:ext cx="4645831" cy="106561"/>
          </a:xfrm>
          <a:prstGeom prst="rect">
            <a:avLst/>
          </a:prstGeom>
          <a:noFill/>
          <a:ln/>
        </p:spPr>
        <p:txBody>
          <a:bodyPr wrap="square" lIns="0" tIns="0" rIns="0" bIns="0" rtlCol="0" anchor="t"/>
          <a:lstStyle/>
          <a:p>
            <a:pPr algn="l" indent="0" marL="0">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&lt;requirements&gt;</a:t>
            </a:r>
            <a:endParaRPr lang="en-US" sz="600" dirty="0"/>
          </a:p>
        </p:txBody>
      </p:sp>
      <p:sp>
        <p:nvSpPr>
          <p:cNvPr id="28" name="Text 26"/>
          <p:cNvSpPr/>
          <p:nvPr/>
        </p:nvSpPr>
        <p:spPr>
          <a:xfrm>
            <a:off x="4170164" y="2418606"/>
            <a:ext cx="4645831" cy="571500"/>
          </a:xfrm>
          <a:prstGeom prst="rect">
            <a:avLst/>
          </a:prstGeom>
          <a:noFill/>
          <a:ln/>
        </p:spPr>
        <p:txBody>
          <a:bodyPr wrap="square" lIns="76200" tIns="0" rIns="0" bIns="0" rtlCol="0" anchor="t"/>
          <a:lstStyle/>
          <a:p>
            <a:pPr algn="l" indent="0" marL="0">
              <a:lnSpc>
                <a:spcPts val="900"/>
              </a:lnSpc>
              <a:buNone/>
            </a:pPr>
            <a:r>
              <a:rPr lang="en-US" sz="600" dirty="0">
                <a:solidFill>
                  <a:srgbClr val="FFFFFF">
                    <a:alpha val="85000"/>
                  </a:srgbClr>
                </a:solidFill>
                <a:latin typeface="Arial" pitchFamily="34" charset="0"/>
                <a:ea typeface="Arial" pitchFamily="34" charset="-122"/>
                <a:cs typeface="Arial" pitchFamily="34" charset="-120"/>
              </a:rPr>
              <a:t>Professional but warm tone</a:t>
            </a:r>
            <a:endParaRPr lang="en-US" sz="600" dirty="0"/>
          </a:p>
          <a:p>
            <a:pPr algn="l" indent="0" marL="0">
              <a:lnSpc>
                <a:spcPts val="900"/>
              </a:lnSpc>
              <a:buNone/>
            </a:pPr>
            <a:r>
              <a:rPr lang="en-US" sz="600" dirty="0">
                <a:solidFill>
                  <a:srgbClr val="FFFFFF">
                    <a:alpha val="85000"/>
                  </a:srgbClr>
                </a:solidFill>
                <a:latin typeface="Arial" pitchFamily="34" charset="0"/>
                <a:ea typeface="Arial" pitchFamily="34" charset="-122"/>
                <a:cs typeface="Arial" pitchFamily="34" charset="-120"/>
              </a:rPr>
              <a:t> Structure logically</a:t>
            </a:r>
            <a:endParaRPr lang="en-US" sz="600" dirty="0"/>
          </a:p>
          <a:p>
            <a:pPr algn="l" indent="0" marL="0">
              <a:lnSpc>
                <a:spcPts val="900"/>
              </a:lnSpc>
              <a:buNone/>
            </a:pPr>
            <a:r>
              <a:rPr lang="en-US" sz="600" dirty="0">
                <a:solidFill>
                  <a:srgbClr val="FFFFFF">
                    <a:alpha val="85000"/>
                  </a:srgbClr>
                </a:solidFill>
                <a:latin typeface="Arial" pitchFamily="34" charset="0"/>
                <a:ea typeface="Arial" pitchFamily="34" charset="-122"/>
                <a:cs typeface="Arial" pitchFamily="34" charset="-120"/>
              </a:rPr>
              <a:t> Use my name for signature</a:t>
            </a:r>
            <a:endParaRPr lang="en-US" sz="600" dirty="0"/>
          </a:p>
          <a:p>
            <a:pPr algn="l" indent="0" marL="0">
              <a:lnSpc>
                <a:spcPts val="900"/>
              </a:lnSpc>
              <a:buNone/>
            </a:pPr>
            <a:r>
              <a:rPr lang="en-US" sz="600" dirty="0">
                <a:solidFill>
                  <a:srgbClr val="FFFFFF">
                    <a:alpha val="85000"/>
                  </a:srgbClr>
                </a:solidFill>
                <a:latin typeface="Arial" pitchFamily="34" charset="0"/>
                <a:ea typeface="Arial" pitchFamily="34" charset="-122"/>
                <a:cs typeface="Arial" pitchFamily="34" charset="-120"/>
              </a:rPr>
              <a:t> If Selected Text exists, treat as</a:t>
            </a:r>
            <a:endParaRPr lang="en-US" sz="600" dirty="0"/>
          </a:p>
          <a:p>
            <a:pPr algn="l" indent="0" marL="0">
              <a:lnSpc>
                <a:spcPts val="900"/>
              </a:lnSpc>
              <a:buNone/>
            </a:pPr>
            <a:r>
              <a:rPr lang="en-US" sz="600" dirty="0">
                <a:solidFill>
                  <a:srgbClr val="FFFFFF">
                    <a:alpha val="85000"/>
                  </a:srgbClr>
                </a:solidFill>
                <a:latin typeface="Arial" pitchFamily="34" charset="0"/>
                <a:ea typeface="Arial" pitchFamily="34" charset="-122"/>
                <a:cs typeface="Arial" pitchFamily="34" charset="-120"/>
              </a:rPr>
              <a:t> email being replied to</a:t>
            </a:r>
            <a:endParaRPr lang="en-US" sz="600" dirty="0"/>
          </a:p>
        </p:txBody>
      </p:sp>
      <p:sp>
        <p:nvSpPr>
          <p:cNvPr id="29" name="Text 27"/>
          <p:cNvSpPr/>
          <p:nvPr/>
        </p:nvSpPr>
        <p:spPr>
          <a:xfrm>
            <a:off x="4170164" y="3047256"/>
            <a:ext cx="4645831" cy="106561"/>
          </a:xfrm>
          <a:prstGeom prst="rect">
            <a:avLst/>
          </a:prstGeom>
          <a:noFill/>
          <a:ln/>
        </p:spPr>
        <p:txBody>
          <a:bodyPr wrap="square" lIns="0" tIns="0" rIns="0" bIns="0" rtlCol="0" anchor="t"/>
          <a:lstStyle/>
          <a:p>
            <a:pPr algn="l" indent="0" marL="0">
              <a:lnSpc>
                <a:spcPts val="840"/>
              </a:lnSpc>
              <a:spcBef>
                <a:spcPts val="450"/>
              </a:spcBef>
              <a:buNone/>
            </a:pPr>
            <a:r>
              <a:rPr lang="en-US" sz="600" dirty="0">
                <a:solidFill>
                  <a:srgbClr val="C9A227"/>
                </a:solidFill>
                <a:latin typeface="Arial" pitchFamily="34" charset="0"/>
                <a:ea typeface="Arial" pitchFamily="34" charset="-122"/>
                <a:cs typeface="Arial" pitchFamily="34" charset="-120"/>
              </a:rPr>
              <a:t>&lt;/requirements&gt;</a:t>
            </a:r>
            <a:endParaRPr lang="en-US" sz="600" dirty="0"/>
          </a:p>
        </p:txBody>
      </p:sp>
      <p:sp>
        <p:nvSpPr>
          <p:cNvPr id="30" name="Text 28"/>
          <p:cNvSpPr/>
          <p:nvPr/>
        </p:nvSpPr>
        <p:spPr>
          <a:xfrm>
            <a:off x="4017764" y="3412629"/>
            <a:ext cx="2386905" cy="774799"/>
          </a:xfrm>
          <a:prstGeom prst="rect">
            <a:avLst/>
          </a:prstGeom>
          <a:solidFill>
            <a:srgbClr val="EDE9FE"/>
          </a:solidFill>
          <a:ln/>
        </p:spPr>
        <p:txBody>
          <a:bodyPr wrap="square" rtlCol="0" anchor="ctr"/>
          <a:lstStyle/>
          <a:p>
            <a:pPr indent="0" marL="0">
              <a:buNone/>
            </a:pPr>
            <a:endParaRPr lang="en-US" dirty="0"/>
          </a:p>
        </p:txBody>
      </p:sp>
      <p:sp>
        <p:nvSpPr>
          <p:cNvPr id="31" name="Shape 29"/>
          <p:cNvSpPr/>
          <p:nvPr/>
        </p:nvSpPr>
        <p:spPr>
          <a:xfrm>
            <a:off x="4032052" y="3412629"/>
            <a:ext cx="0" cy="774799"/>
          </a:xfrm>
          <a:prstGeom prst="line">
            <a:avLst/>
          </a:prstGeom>
          <a:noFill/>
          <a:ln w="28575">
            <a:solidFill>
              <a:srgbClr val="8B5CF6"/>
            </a:solidFill>
            <a:prstDash val="solid"/>
          </a:ln>
        </p:spPr>
      </p:sp>
      <p:sp>
        <p:nvSpPr>
          <p:cNvPr id="32" name="Text 30"/>
          <p:cNvSpPr/>
          <p:nvPr/>
        </p:nvSpPr>
        <p:spPr>
          <a:xfrm>
            <a:off x="4141589" y="3507879"/>
            <a:ext cx="2211187"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5B21B6"/>
                </a:solidFill>
                <a:latin typeface="Arial" pitchFamily="34" charset="0"/>
                <a:ea typeface="Arial" pitchFamily="34" charset="-122"/>
                <a:cs typeface="Arial" pitchFamily="34" charset="-120"/>
              </a:rPr>
              <a:t>EXAMPLE INPUT</a:t>
            </a:r>
            <a:endParaRPr lang="en-US" sz="675" dirty="0"/>
          </a:p>
        </p:txBody>
      </p:sp>
      <p:sp>
        <p:nvSpPr>
          <p:cNvPr id="33" name="Text 31"/>
          <p:cNvSpPr/>
          <p:nvPr/>
        </p:nvSpPr>
        <p:spPr>
          <a:xfrm>
            <a:off x="4141589" y="3665934"/>
            <a:ext cx="2211187" cy="426244"/>
          </a:xfrm>
          <a:prstGeom prst="rect">
            <a:avLst/>
          </a:prstGeom>
          <a:noFill/>
          <a:ln/>
        </p:spPr>
        <p:txBody>
          <a:bodyPr wrap="square" lIns="0" tIns="0" rIns="0" bIns="0" rtlCol="0" anchor="t"/>
          <a:lstStyle/>
          <a:p>
            <a:pPr algn="l" indent="0" marL="0">
              <a:lnSpc>
                <a:spcPts val="840"/>
              </a:lnSpc>
              <a:buNone/>
            </a:pPr>
            <a:r>
              <a:rPr lang="en-US" sz="600" dirty="0">
                <a:solidFill>
                  <a:srgbClr val="5B21B6"/>
                </a:solidFill>
                <a:latin typeface="Arial" pitchFamily="34" charset="0"/>
                <a:ea typeface="Arial" pitchFamily="34" charset="-122"/>
                <a:cs typeface="Arial" pitchFamily="34" charset="-120"/>
              </a:rPr>
              <a:t>"okay so I need to follow up with Dr Martinez about the data request we talked about last week and ask if she got the files I sent and when she thinks she can get back to me with her analysis"</a:t>
            </a:r>
            <a:endParaRPr lang="en-US" sz="600" dirty="0"/>
          </a:p>
        </p:txBody>
      </p:sp>
      <p:sp>
        <p:nvSpPr>
          <p:cNvPr id="34" name="Text 32"/>
          <p:cNvSpPr/>
          <p:nvPr/>
        </p:nvSpPr>
        <p:spPr>
          <a:xfrm>
            <a:off x="6499920" y="3243263"/>
            <a:ext cx="2377380" cy="1113532"/>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35" name="Text 33"/>
          <p:cNvSpPr/>
          <p:nvPr/>
        </p:nvSpPr>
        <p:spPr>
          <a:xfrm>
            <a:off x="6604695" y="3348038"/>
            <a:ext cx="2211187"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1A1F2E"/>
                </a:solidFill>
                <a:latin typeface="Arial" pitchFamily="34" charset="0"/>
                <a:ea typeface="Arial" pitchFamily="34" charset="-122"/>
                <a:cs typeface="Arial" pitchFamily="34" charset="-120"/>
              </a:rPr>
              <a:t>EXAMPLE OUTPUT</a:t>
            </a:r>
            <a:endParaRPr lang="en-US" sz="675" dirty="0"/>
          </a:p>
        </p:txBody>
      </p:sp>
      <p:sp>
        <p:nvSpPr>
          <p:cNvPr id="36" name="Text 34"/>
          <p:cNvSpPr/>
          <p:nvPr/>
        </p:nvSpPr>
        <p:spPr>
          <a:xfrm>
            <a:off x="6604695" y="3506093"/>
            <a:ext cx="2211187" cy="745927"/>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Hi Dr. Martinez,</a:t>
            </a:r>
            <a:endParaRPr lang="en-US" sz="600" dirty="0"/>
          </a:p>
          <a:p>
            <a:pPr algn="l" indent="0" marL="0">
              <a:lnSpc>
                <a:spcPts val="840"/>
              </a:lnSpc>
              <a:buNone/>
            </a:pPr>
            <a:endParaRPr lang="en-US" sz="600" dirty="0"/>
          </a:p>
          <a:p>
            <a:pPr algn="l" indent="0" marL="0">
              <a:lnSpc>
                <a:spcPts val="840"/>
              </a:lnSpc>
              <a:buNone/>
            </a:pPr>
            <a:r>
              <a:rPr lang="en-US" sz="600" dirty="0">
                <a:solidFill>
                  <a:srgbClr val="6B7280"/>
                </a:solidFill>
                <a:latin typeface="Arial" pitchFamily="34" charset="0"/>
                <a:ea typeface="Arial" pitchFamily="34" charset="-122"/>
                <a:cs typeface="Arial" pitchFamily="34" charset="-120"/>
              </a:rPr>
              <a:t>I wanted to follow up on the data request we discussed last week...</a:t>
            </a:r>
            <a:endParaRPr lang="en-US" sz="600" dirty="0"/>
          </a:p>
          <a:p>
            <a:pPr algn="l" indent="0" marL="0">
              <a:lnSpc>
                <a:spcPts val="840"/>
              </a:lnSpc>
              <a:buNone/>
            </a:pPr>
            <a:endParaRPr lang="en-US" sz="600" dirty="0"/>
          </a:p>
          <a:p>
            <a:pPr algn="l" indent="0" marL="0">
              <a:lnSpc>
                <a:spcPts val="840"/>
              </a:lnSpc>
              <a:buNone/>
            </a:pPr>
            <a:r>
              <a:rPr lang="en-US" sz="600" dirty="0">
                <a:solidFill>
                  <a:srgbClr val="6B7280"/>
                </a:solidFill>
                <a:latin typeface="Arial" pitchFamily="34" charset="0"/>
                <a:ea typeface="Arial" pitchFamily="34" charset="-122"/>
                <a:cs typeface="Arial" pitchFamily="34" charset="-120"/>
              </a:rPr>
              <a:t>Best regards,</a:t>
            </a:r>
            <a:endParaRPr lang="en-US" sz="600" dirty="0"/>
          </a:p>
          <a:p>
            <a:pPr algn="l" indent="0" marL="0">
              <a:lnSpc>
                <a:spcPts val="840"/>
              </a:lnSpc>
              <a:buNone/>
            </a:pPr>
            <a:r>
              <a:rPr lang="en-US" sz="600" dirty="0">
                <a:solidFill>
                  <a:srgbClr val="6B7280"/>
                </a:solidFill>
                <a:latin typeface="Arial" pitchFamily="34" charset="0"/>
                <a:ea typeface="Arial" pitchFamily="34" charset="-122"/>
                <a:cs typeface="Arial" pitchFamily="34" charset="-120"/>
              </a:rPr>
              <a:t>[Your Name]</a:t>
            </a:r>
            <a:endParaRPr lang="en-US" sz="600" dirty="0"/>
          </a:p>
        </p:txBody>
      </p:sp>
      <p:sp>
        <p:nvSpPr>
          <p:cNvPr id="37" name="Text 35"/>
          <p:cNvSpPr/>
          <p:nvPr/>
        </p:nvSpPr>
        <p:spPr>
          <a:xfrm>
            <a:off x="4017764" y="4604445"/>
            <a:ext cx="4859536" cy="310455"/>
          </a:xfrm>
          <a:prstGeom prst="rect">
            <a:avLst/>
          </a:prstGeom>
          <a:solidFill>
            <a:srgbClr val="FEF3C7"/>
          </a:solidFill>
          <a:ln/>
        </p:spPr>
        <p:txBody>
          <a:bodyPr wrap="square" rtlCol="0" anchor="ctr"/>
          <a:lstStyle/>
          <a:p>
            <a:pPr indent="0" marL="0">
              <a:buNone/>
            </a:pPr>
            <a:endParaRPr lang="en-US" dirty="0"/>
          </a:p>
        </p:txBody>
      </p:sp>
      <p:sp>
        <p:nvSpPr>
          <p:cNvPr id="38" name="Shape 36"/>
          <p:cNvSpPr/>
          <p:nvPr/>
        </p:nvSpPr>
        <p:spPr>
          <a:xfrm>
            <a:off x="4032052" y="4604445"/>
            <a:ext cx="0" cy="310455"/>
          </a:xfrm>
          <a:prstGeom prst="line">
            <a:avLst/>
          </a:prstGeom>
          <a:noFill/>
          <a:ln w="28575">
            <a:solidFill>
              <a:srgbClr val="F59E0B"/>
            </a:solidFill>
            <a:prstDash val="solid"/>
          </a:ln>
        </p:spPr>
      </p:sp>
      <p:sp>
        <p:nvSpPr>
          <p:cNvPr id="39" name="Text 37"/>
          <p:cNvSpPr/>
          <p:nvPr/>
        </p:nvSpPr>
        <p:spPr>
          <a:xfrm>
            <a:off x="4141589" y="4699695"/>
            <a:ext cx="4733270" cy="119955"/>
          </a:xfrm>
          <a:prstGeom prst="rect">
            <a:avLst/>
          </a:prstGeom>
          <a:noFill/>
          <a:ln/>
        </p:spPr>
        <p:txBody>
          <a:bodyPr wrap="square" lIns="0" tIns="0" rIns="0" bIns="0" rtlCol="0" anchor="t"/>
          <a:lstStyle/>
          <a:p>
            <a:pPr algn="l" indent="0" marL="0">
              <a:lnSpc>
                <a:spcPts val="945"/>
              </a:lnSpc>
              <a:buNone/>
            </a:pPr>
            <a:r>
              <a:rPr lang="en-US" sz="675" b="1" dirty="0">
                <a:solidFill>
                  <a:srgbClr val="92400E"/>
                </a:solidFill>
                <a:latin typeface="Arial" pitchFamily="34" charset="0"/>
                <a:ea typeface="Arial" pitchFamily="34" charset="-122"/>
                <a:cs typeface="Arial" pitchFamily="34" charset="-120"/>
              </a:rPr>
              <a:t>Reply tip:</a:t>
            </a:r>
            <a:pPr algn="l" indent="0" marL="0">
              <a:lnSpc>
                <a:spcPts val="945"/>
              </a:lnSpc>
              <a:buNone/>
            </a:pPr>
            <a:r>
              <a:rPr lang="en-US" sz="675" dirty="0">
                <a:solidFill>
                  <a:srgbClr val="92400E"/>
                </a:solidFill>
                <a:latin typeface="Arial" pitchFamily="34" charset="0"/>
                <a:ea typeface="Arial" pitchFamily="34" charset="-122"/>
                <a:cs typeface="Arial" pitchFamily="34" charset="-120"/>
              </a:rPr>
              <a:t> Select the email you're replying to, then dictate. AI will format appropriately.</a:t>
            </a:r>
            <a:endParaRPr lang="en-US" sz="675"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3598664" cy="5143500"/>
          </a:xfrm>
          <a:prstGeom prst="rect">
            <a:avLst/>
          </a:prstGeom>
          <a:solidFill>
            <a:srgbClr val="1A1F2E"/>
          </a:solidFill>
          <a:ln/>
        </p:spPr>
        <p:txBody>
          <a:bodyPr wrap="square" rtlCol="0" anchor="ctr"/>
          <a:lstStyle/>
          <a:p>
            <a:pPr indent="0" marL="0">
              <a:buNone/>
            </a:pPr>
            <a:endParaRPr lang="en-US" dirty="0"/>
          </a:p>
        </p:txBody>
      </p:sp>
      <p:sp>
        <p:nvSpPr>
          <p:cNvPr id="3" name="Text 1"/>
          <p:cNvSpPr/>
          <p:nvPr/>
        </p:nvSpPr>
        <p:spPr>
          <a:xfrm>
            <a:off x="266700" y="278904"/>
            <a:ext cx="778073" cy="220861"/>
          </a:xfrm>
          <a:prstGeom prst="rect">
            <a:avLst/>
          </a:prstGeom>
          <a:solidFill>
            <a:srgbClr val="F59E0B"/>
          </a:solidFill>
          <a:ln/>
        </p:spPr>
        <p:txBody>
          <a:bodyPr wrap="square" rtlCol="0" anchor="ctr"/>
          <a:lstStyle/>
          <a:p>
            <a:pPr indent="0" marL="0">
              <a:buNone/>
            </a:pPr>
            <a:endParaRPr lang="en-US" dirty="0"/>
          </a:p>
        </p:txBody>
      </p:sp>
      <p:sp>
        <p:nvSpPr>
          <p:cNvPr id="4" name="Text 2"/>
          <p:cNvSpPr/>
          <p:nvPr/>
        </p:nvSpPr>
        <p:spPr>
          <a:xfrm>
            <a:off x="361950" y="336054"/>
            <a:ext cx="599325" cy="106561"/>
          </a:xfrm>
          <a:prstGeom prst="rect">
            <a:avLst/>
          </a:prstGeom>
          <a:noFill/>
          <a:ln/>
        </p:spPr>
        <p:txBody>
          <a:bodyPr wrap="square" lIns="0" tIns="0" rIns="0" bIns="0" rtlCol="0" anchor="t"/>
          <a:lstStyle/>
          <a:p>
            <a:pPr algn="l" indent="0" marL="0">
              <a:lnSpc>
                <a:spcPts val="840"/>
              </a:lnSpc>
              <a:buNone/>
            </a:pPr>
            <a:r>
              <a:rPr lang="en-US" sz="600" b="1" dirty="0">
                <a:solidFill>
                  <a:srgbClr val="1A1F2E"/>
                </a:solidFill>
                <a:latin typeface="Arial" pitchFamily="34" charset="0"/>
                <a:ea typeface="Arial" pitchFamily="34" charset="-122"/>
                <a:cs typeface="Arial" pitchFamily="34" charset="-120"/>
              </a:rPr>
              <a:t>MODE 4 OF 5</a:t>
            </a:r>
            <a:endParaRPr lang="en-US" sz="600" dirty="0"/>
          </a:p>
        </p:txBody>
      </p:sp>
      <p:sp>
        <p:nvSpPr>
          <p:cNvPr id="5" name="Text 3"/>
          <p:cNvSpPr/>
          <p:nvPr/>
        </p:nvSpPr>
        <p:spPr>
          <a:xfrm>
            <a:off x="266700" y="747415"/>
            <a:ext cx="1593342" cy="548580"/>
          </a:xfrm>
          <a:prstGeom prst="rect">
            <a:avLst/>
          </a:prstGeom>
          <a:noFill/>
          <a:ln/>
        </p:spPr>
        <p:txBody>
          <a:bodyPr wrap="square" lIns="0" tIns="0" rIns="0" bIns="0" rtlCol="0" anchor="t"/>
          <a:lstStyle/>
          <a:p>
            <a:pPr algn="l" indent="0" marL="0">
              <a:lnSpc>
                <a:spcPts val="2160"/>
              </a:lnSpc>
              <a:spcAft>
                <a:spcPts val="900"/>
              </a:spcAft>
              <a:buNone/>
            </a:pPr>
            <a:r>
              <a:rPr lang="en-US" sz="1800" dirty="0">
                <a:solidFill>
                  <a:srgbClr val="FFFFFF"/>
                </a:solidFill>
                <a:latin typeface="Georgia" pitchFamily="34" charset="0"/>
                <a:ea typeface="Georgia" pitchFamily="34" charset="-122"/>
                <a:cs typeface="Georgia" pitchFamily="34" charset="-120"/>
              </a:rPr>
              <a:t>Claude Code</a:t>
            </a:r>
            <a:endParaRPr lang="en-US" sz="1800" dirty="0"/>
          </a:p>
          <a:p>
            <a:pPr algn="l" indent="0" marL="0">
              <a:lnSpc>
                <a:spcPts val="2160"/>
              </a:lnSpc>
              <a:spcAft>
                <a:spcPts val="900"/>
              </a:spcAft>
              <a:buNone/>
            </a:pPr>
            <a:r>
              <a:rPr lang="en-US" sz="1800" dirty="0">
                <a:solidFill>
                  <a:srgbClr val="FFFFFF"/>
                </a:solidFill>
                <a:latin typeface="Georgia" pitchFamily="34" charset="0"/>
                <a:ea typeface="Georgia" pitchFamily="34" charset="-122"/>
                <a:cs typeface="Georgia" pitchFamily="34" charset="-120"/>
              </a:rPr>
              <a:t>Terminal Mode</a:t>
            </a:r>
            <a:endParaRPr lang="en-US" sz="1800" dirty="0"/>
          </a:p>
        </p:txBody>
      </p:sp>
      <p:sp>
        <p:nvSpPr>
          <p:cNvPr id="6" name="Text 4"/>
          <p:cNvSpPr/>
          <p:nvPr/>
        </p:nvSpPr>
        <p:spPr>
          <a:xfrm>
            <a:off x="266700" y="1867495"/>
            <a:ext cx="3065264" cy="639961"/>
          </a:xfrm>
          <a:prstGeom prst="rect">
            <a:avLst/>
          </a:prstGeom>
          <a:solidFill>
            <a:srgbClr val="C9A227">
              <a:alpha val="15000"/>
            </a:srgbClr>
          </a:solidFill>
          <a:ln/>
        </p:spPr>
        <p:txBody>
          <a:bodyPr wrap="square" rtlCol="0" anchor="ctr"/>
          <a:lstStyle/>
          <a:p>
            <a:pPr indent="0" marL="0">
              <a:buNone/>
            </a:pPr>
            <a:endParaRPr lang="en-US" dirty="0"/>
          </a:p>
        </p:txBody>
      </p:sp>
      <p:sp>
        <p:nvSpPr>
          <p:cNvPr id="7" name="Shape 5"/>
          <p:cNvSpPr/>
          <p:nvPr/>
        </p:nvSpPr>
        <p:spPr>
          <a:xfrm>
            <a:off x="280988" y="1867495"/>
            <a:ext cx="0" cy="639961"/>
          </a:xfrm>
          <a:prstGeom prst="line">
            <a:avLst/>
          </a:prstGeom>
          <a:noFill/>
          <a:ln w="28575">
            <a:solidFill>
              <a:srgbClr val="C9A227"/>
            </a:solidFill>
            <a:prstDash val="solid"/>
          </a:ln>
        </p:spPr>
      </p:sp>
      <p:sp>
        <p:nvSpPr>
          <p:cNvPr id="8" name="Text 6"/>
          <p:cNvSpPr/>
          <p:nvPr/>
        </p:nvSpPr>
        <p:spPr>
          <a:xfrm>
            <a:off x="409575" y="1981795"/>
            <a:ext cx="2864251"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C9A227"/>
                </a:solidFill>
                <a:latin typeface="Arial" pitchFamily="34" charset="0"/>
                <a:ea typeface="Arial" pitchFamily="34" charset="-122"/>
                <a:cs typeface="Arial" pitchFamily="34" charset="-120"/>
              </a:rPr>
              <a:t>USE CASE</a:t>
            </a:r>
            <a:endParaRPr lang="en-US" sz="750" dirty="0"/>
          </a:p>
        </p:txBody>
      </p:sp>
      <p:sp>
        <p:nvSpPr>
          <p:cNvPr id="9" name="Text 7"/>
          <p:cNvSpPr/>
          <p:nvPr/>
        </p:nvSpPr>
        <p:spPr>
          <a:xfrm>
            <a:off x="409575" y="2153245"/>
            <a:ext cx="2864251" cy="239911"/>
          </a:xfrm>
          <a:prstGeom prst="rect">
            <a:avLst/>
          </a:prstGeom>
          <a:noFill/>
          <a:ln/>
        </p:spPr>
        <p:txBody>
          <a:bodyPr wrap="square" lIns="0" tIns="0" rIns="0" bIns="0" rtlCol="0" anchor="t"/>
          <a:lstStyle/>
          <a:p>
            <a:pPr algn="l" indent="0" marL="0">
              <a:lnSpc>
                <a:spcPts val="945"/>
              </a:lnSpc>
              <a:buNone/>
            </a:pPr>
            <a:r>
              <a:rPr lang="en-US" sz="675" dirty="0">
                <a:solidFill>
                  <a:srgbClr val="FFFFFF">
                    <a:alpha val="70000"/>
                  </a:srgbClr>
                </a:solidFill>
                <a:latin typeface="Arial" pitchFamily="34" charset="0"/>
                <a:ea typeface="Arial" pitchFamily="34" charset="-122"/>
                <a:cs typeface="Arial" pitchFamily="34" charset="-120"/>
              </a:rPr>
              <a:t>Detailed prompts and instructions for Claude Code. Dictate complex requests instead of typing them.</a:t>
            </a:r>
            <a:endParaRPr lang="en-US" sz="675" dirty="0"/>
          </a:p>
        </p:txBody>
      </p:sp>
      <p:sp>
        <p:nvSpPr>
          <p:cNvPr id="10" name="Text 8"/>
          <p:cNvSpPr/>
          <p:nvPr/>
        </p:nvSpPr>
        <p:spPr>
          <a:xfrm>
            <a:off x="266700" y="2774156"/>
            <a:ext cx="3065264" cy="804863"/>
          </a:xfrm>
          <a:prstGeom prst="rect">
            <a:avLst/>
          </a:prstGeom>
          <a:solidFill>
            <a:srgbClr val="FFFFFF">
              <a:alpha val="5000"/>
            </a:srgbClr>
          </a:solidFill>
          <a:ln/>
        </p:spPr>
        <p:txBody>
          <a:bodyPr wrap="square" rtlCol="0" anchor="ctr"/>
          <a:lstStyle/>
          <a:p>
            <a:pPr indent="0" marL="0">
              <a:buNone/>
            </a:pPr>
            <a:endParaRPr lang="en-US" dirty="0"/>
          </a:p>
        </p:txBody>
      </p:sp>
      <p:sp>
        <p:nvSpPr>
          <p:cNvPr id="11" name="Text 9"/>
          <p:cNvSpPr/>
          <p:nvPr/>
        </p:nvSpPr>
        <p:spPr>
          <a:xfrm>
            <a:off x="381000" y="2888456"/>
            <a:ext cx="2893397"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CONTEXT SETTINGS</a:t>
            </a:r>
            <a:endParaRPr lang="en-US" sz="750" dirty="0"/>
          </a:p>
        </p:txBody>
      </p:sp>
      <p:sp>
        <p:nvSpPr>
          <p:cNvPr id="12" name="Text 10"/>
          <p:cNvSpPr/>
          <p:nvPr/>
        </p:nvSpPr>
        <p:spPr>
          <a:xfrm>
            <a:off x="381000" y="3078956"/>
            <a:ext cx="2893397" cy="385763"/>
          </a:xfrm>
          <a:prstGeom prst="rect">
            <a:avLst/>
          </a:prstGeom>
          <a:noFill/>
          <a:ln/>
        </p:spPr>
        <p:txBody>
          <a:bodyPr wrap="square" lIns="0" tIns="0" rIns="0" bIns="0" rtlCol="0" anchor="t"/>
          <a:lstStyle/>
          <a:p>
            <a:pPr algn="l" indent="0" marL="0">
              <a:lnSpc>
                <a:spcPts val="1013"/>
              </a:lnSpc>
              <a:buNone/>
            </a:pPr>
            <a:r>
              <a:rPr lang="en-US" sz="675" dirty="0">
                <a:solidFill>
                  <a:srgbClr val="FFFFFF">
                    <a:alpha val="60000"/>
                  </a:srgbClr>
                </a:solidFill>
                <a:latin typeface="Arial" pitchFamily="34" charset="0"/>
                <a:ea typeface="Arial" pitchFamily="34" charset="-122"/>
                <a:cs typeface="Arial" pitchFamily="34" charset="-120"/>
              </a:rPr>
              <a:t>✓ Application Context (detect terminal)</a:t>
            </a:r>
            <a:endParaRPr lang="en-US" sz="675" dirty="0"/>
          </a:p>
          <a:p>
            <a:pPr algn="l" indent="0" marL="0">
              <a:lnSpc>
                <a:spcPts val="1013"/>
              </a:lnSpc>
              <a:buNone/>
            </a:pPr>
            <a:r>
              <a:rPr lang="en-US" sz="675" dirty="0">
                <a:solidFill>
                  <a:srgbClr val="FFFFFF">
                    <a:alpha val="60000"/>
                  </a:srgbClr>
                </a:solidFill>
                <a:latin typeface="Arial" pitchFamily="34" charset="0"/>
                <a:ea typeface="Arial" pitchFamily="34" charset="-122"/>
                <a:cs typeface="Arial" pitchFamily="34" charset="-120"/>
              </a:rPr>
              <a:t> ○ Selected Text (optional)</a:t>
            </a:r>
            <a:endParaRPr lang="en-US" sz="675" dirty="0"/>
          </a:p>
          <a:p>
            <a:pPr algn="l" indent="0" marL="0">
              <a:lnSpc>
                <a:spcPts val="1013"/>
              </a:lnSpc>
              <a:buNone/>
            </a:pPr>
            <a:r>
              <a:rPr lang="en-US" sz="675" dirty="0">
                <a:solidFill>
                  <a:srgbClr val="FFFFFF">
                    <a:alpha val="60000"/>
                  </a:srgbClr>
                </a:solidFill>
                <a:latin typeface="Arial" pitchFamily="34" charset="0"/>
                <a:ea typeface="Arial" pitchFamily="34" charset="-122"/>
                <a:cs typeface="Arial" pitchFamily="34" charset="-120"/>
              </a:rPr>
              <a:t> ✓ Clipboard (error messages)</a:t>
            </a:r>
            <a:endParaRPr lang="en-US" sz="675" dirty="0"/>
          </a:p>
        </p:txBody>
      </p:sp>
      <p:sp>
        <p:nvSpPr>
          <p:cNvPr id="13" name="Text 11"/>
          <p:cNvSpPr/>
          <p:nvPr/>
        </p:nvSpPr>
        <p:spPr>
          <a:xfrm>
            <a:off x="266700" y="3845719"/>
            <a:ext cx="3065264" cy="721816"/>
          </a:xfrm>
          <a:prstGeom prst="rect">
            <a:avLst/>
          </a:prstGeom>
          <a:solidFill>
            <a:srgbClr val="FFFFFF">
              <a:alpha val="5000"/>
            </a:srgbClr>
          </a:solidFill>
          <a:ln/>
        </p:spPr>
        <p:txBody>
          <a:bodyPr wrap="square" rtlCol="0" anchor="ctr"/>
          <a:lstStyle/>
          <a:p>
            <a:pPr indent="0" marL="0">
              <a:buNone/>
            </a:pPr>
            <a:endParaRPr lang="en-US" dirty="0"/>
          </a:p>
        </p:txBody>
      </p:sp>
      <p:sp>
        <p:nvSpPr>
          <p:cNvPr id="14" name="Text 12"/>
          <p:cNvSpPr/>
          <p:nvPr/>
        </p:nvSpPr>
        <p:spPr>
          <a:xfrm>
            <a:off x="361950" y="3940969"/>
            <a:ext cx="2932259"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FFFFFF"/>
                </a:solidFill>
                <a:latin typeface="Arial" pitchFamily="34" charset="0"/>
                <a:ea typeface="Arial" pitchFamily="34" charset="-122"/>
                <a:cs typeface="Arial" pitchFamily="34" charset="-120"/>
              </a:rPr>
              <a:t>AUTO-ACTIVATION</a:t>
            </a:r>
            <a:endParaRPr lang="en-US" sz="750" dirty="0"/>
          </a:p>
        </p:txBody>
      </p:sp>
      <p:sp>
        <p:nvSpPr>
          <p:cNvPr id="15" name="Text 13"/>
          <p:cNvSpPr/>
          <p:nvPr/>
        </p:nvSpPr>
        <p:spPr>
          <a:xfrm>
            <a:off x="361950" y="4112419"/>
            <a:ext cx="2932259" cy="359866"/>
          </a:xfrm>
          <a:prstGeom prst="rect">
            <a:avLst/>
          </a:prstGeom>
          <a:noFill/>
          <a:ln/>
        </p:spPr>
        <p:txBody>
          <a:bodyPr wrap="square" lIns="0" tIns="0" rIns="0" bIns="0" rtlCol="0" anchor="t"/>
          <a:lstStyle/>
          <a:p>
            <a:pPr algn="l" indent="0" marL="0">
              <a:lnSpc>
                <a:spcPts val="945"/>
              </a:lnSpc>
              <a:buNone/>
            </a:pPr>
            <a:r>
              <a:rPr lang="en-US" sz="675" dirty="0">
                <a:solidFill>
                  <a:srgbClr val="FFFFFF">
                    <a:alpha val="60000"/>
                  </a:srgbClr>
                </a:solidFill>
                <a:latin typeface="Arial" pitchFamily="34" charset="0"/>
                <a:ea typeface="Arial" pitchFamily="34" charset="-122"/>
                <a:cs typeface="Arial" pitchFamily="34" charset="-120"/>
              </a:rPr>
              <a:t>Terminal.app / iTerm2</a:t>
            </a:r>
            <a:endParaRPr lang="en-US" sz="675" dirty="0"/>
          </a:p>
          <a:p>
            <a:pPr algn="l" indent="0" marL="0">
              <a:lnSpc>
                <a:spcPts val="945"/>
              </a:lnSpc>
              <a:buNone/>
            </a:pPr>
            <a:r>
              <a:rPr lang="en-US" sz="675" dirty="0">
                <a:solidFill>
                  <a:srgbClr val="FFFFFF">
                    <a:alpha val="60000"/>
                  </a:srgbClr>
                </a:solidFill>
                <a:latin typeface="Arial" pitchFamily="34" charset="0"/>
                <a:ea typeface="Arial" pitchFamily="34" charset="-122"/>
                <a:cs typeface="Arial" pitchFamily="34" charset="-120"/>
              </a:rPr>
              <a:t> Windows Terminal</a:t>
            </a:r>
            <a:endParaRPr lang="en-US" sz="675" dirty="0"/>
          </a:p>
          <a:p>
            <a:pPr algn="l" indent="0" marL="0">
              <a:lnSpc>
                <a:spcPts val="945"/>
              </a:lnSpc>
              <a:buNone/>
            </a:pPr>
            <a:r>
              <a:rPr lang="en-US" sz="675" dirty="0">
                <a:solidFill>
                  <a:srgbClr val="FFFFFF">
                    <a:alpha val="60000"/>
                  </a:srgbClr>
                </a:solidFill>
                <a:latin typeface="Arial" pitchFamily="34" charset="0"/>
                <a:ea typeface="Arial" pitchFamily="34" charset="-122"/>
                <a:cs typeface="Arial" pitchFamily="34" charset="-120"/>
              </a:rPr>
              <a:t> Warp</a:t>
            </a:r>
            <a:endParaRPr lang="en-US" sz="675" dirty="0"/>
          </a:p>
        </p:txBody>
      </p:sp>
      <p:sp>
        <p:nvSpPr>
          <p:cNvPr id="16" name="Text 14"/>
          <p:cNvSpPr/>
          <p:nvPr/>
        </p:nvSpPr>
        <p:spPr>
          <a:xfrm>
            <a:off x="266700" y="4719935"/>
            <a:ext cx="3065264" cy="258961"/>
          </a:xfrm>
          <a:prstGeom prst="rect">
            <a:avLst/>
          </a:prstGeom>
          <a:solidFill>
            <a:srgbClr val="DCFCE7"/>
          </a:solidFill>
          <a:ln/>
        </p:spPr>
        <p:txBody>
          <a:bodyPr wrap="square" rtlCol="0" anchor="ctr"/>
          <a:lstStyle/>
          <a:p>
            <a:pPr indent="0" marL="0">
              <a:buNone/>
            </a:pPr>
            <a:endParaRPr lang="en-US" dirty="0"/>
          </a:p>
        </p:txBody>
      </p:sp>
      <p:sp>
        <p:nvSpPr>
          <p:cNvPr id="17" name="Shape 15"/>
          <p:cNvSpPr/>
          <p:nvPr/>
        </p:nvSpPr>
        <p:spPr>
          <a:xfrm>
            <a:off x="280988" y="4719935"/>
            <a:ext cx="0" cy="258961"/>
          </a:xfrm>
          <a:prstGeom prst="line">
            <a:avLst/>
          </a:prstGeom>
          <a:noFill/>
          <a:ln w="28575">
            <a:solidFill>
              <a:srgbClr val="059669"/>
            </a:solidFill>
            <a:prstDash val="solid"/>
          </a:ln>
        </p:spPr>
      </p:sp>
      <p:sp>
        <p:nvSpPr>
          <p:cNvPr id="18" name="Text 16"/>
          <p:cNvSpPr/>
          <p:nvPr/>
        </p:nvSpPr>
        <p:spPr>
          <a:xfrm>
            <a:off x="371475" y="4796135"/>
            <a:ext cx="2941975" cy="106561"/>
          </a:xfrm>
          <a:prstGeom prst="rect">
            <a:avLst/>
          </a:prstGeom>
          <a:noFill/>
          <a:ln/>
        </p:spPr>
        <p:txBody>
          <a:bodyPr wrap="square" lIns="0" tIns="0" rIns="0" bIns="0" rtlCol="0" anchor="t"/>
          <a:lstStyle/>
          <a:p>
            <a:pPr algn="l" indent="0" marL="0">
              <a:lnSpc>
                <a:spcPts val="840"/>
              </a:lnSpc>
              <a:buNone/>
            </a:pPr>
            <a:r>
              <a:rPr lang="en-US" sz="600" b="1" dirty="0">
                <a:solidFill>
                  <a:srgbClr val="166534"/>
                </a:solidFill>
                <a:latin typeface="Arial" pitchFamily="34" charset="0"/>
                <a:ea typeface="Arial" pitchFamily="34" charset="-122"/>
                <a:cs typeface="Arial" pitchFamily="34" charset="-120"/>
              </a:rPr>
              <a:t>Benefit:</a:t>
            </a:r>
            <a:pPr algn="l" indent="0" marL="0">
              <a:lnSpc>
                <a:spcPts val="840"/>
              </a:lnSpc>
              <a:buNone/>
            </a:pPr>
            <a:r>
              <a:rPr lang="en-US" sz="600" dirty="0">
                <a:solidFill>
                  <a:srgbClr val="166534"/>
                </a:solidFill>
                <a:latin typeface="Arial" pitchFamily="34" charset="0"/>
                <a:ea typeface="Arial" pitchFamily="34" charset="-122"/>
                <a:cs typeface="Arial" pitchFamily="34" charset="-120"/>
              </a:rPr>
              <a:t> Voice is perfect for detailed prompts.</a:t>
            </a:r>
            <a:endParaRPr lang="en-US" sz="600" dirty="0"/>
          </a:p>
        </p:txBody>
      </p:sp>
      <p:sp>
        <p:nvSpPr>
          <p:cNvPr id="19" name="Text 17"/>
          <p:cNvSpPr/>
          <p:nvPr/>
        </p:nvSpPr>
        <p:spPr>
          <a:xfrm>
            <a:off x="3751064" y="0"/>
            <a:ext cx="5392936" cy="5143500"/>
          </a:xfrm>
          <a:prstGeom prst="rect">
            <a:avLst/>
          </a:prstGeom>
          <a:solidFill>
            <a:srgbClr val="F7F8FA"/>
          </a:solidFill>
          <a:ln/>
        </p:spPr>
        <p:txBody>
          <a:bodyPr wrap="square" rtlCol="0" anchor="ctr"/>
          <a:lstStyle/>
          <a:p>
            <a:pPr indent="0" marL="0">
              <a:buNone/>
            </a:pPr>
            <a:endParaRPr lang="en-US" dirty="0"/>
          </a:p>
        </p:txBody>
      </p:sp>
      <p:sp>
        <p:nvSpPr>
          <p:cNvPr id="20" name="Text 18"/>
          <p:cNvSpPr/>
          <p:nvPr/>
        </p:nvSpPr>
        <p:spPr>
          <a:xfrm>
            <a:off x="4017764" y="271165"/>
            <a:ext cx="4956727" cy="159990"/>
          </a:xfrm>
          <a:prstGeom prst="rect">
            <a:avLst/>
          </a:prstGeom>
          <a:noFill/>
          <a:ln/>
        </p:spPr>
        <p:txBody>
          <a:bodyPr wrap="square" lIns="0" tIns="0" rIns="0" bIns="0" rtlCol="0" anchor="t"/>
          <a:lstStyle/>
          <a:p>
            <a:pPr algn="l" indent="0" marL="0">
              <a:lnSpc>
                <a:spcPts val="1260"/>
              </a:lnSpc>
              <a:spcAft>
                <a:spcPts val="900"/>
              </a:spcAft>
              <a:buNone/>
            </a:pPr>
            <a:r>
              <a:rPr lang="en-US" sz="900" b="1" dirty="0">
                <a:solidFill>
                  <a:srgbClr val="1A1F2E"/>
                </a:solidFill>
                <a:latin typeface="Arial" pitchFamily="34" charset="0"/>
                <a:ea typeface="Arial" pitchFamily="34" charset="-122"/>
                <a:cs typeface="Arial" pitchFamily="34" charset="-120"/>
              </a:rPr>
              <a:t>SAMPLE AI INSTRUCTIONS</a:t>
            </a:r>
            <a:endParaRPr lang="en-US" sz="900" dirty="0"/>
          </a:p>
        </p:txBody>
      </p:sp>
      <p:sp>
        <p:nvSpPr>
          <p:cNvPr id="21" name="Text 19"/>
          <p:cNvSpPr/>
          <p:nvPr/>
        </p:nvSpPr>
        <p:spPr>
          <a:xfrm>
            <a:off x="4017764" y="697855"/>
            <a:ext cx="4859536" cy="2536627"/>
          </a:xfrm>
          <a:prstGeom prst="rect">
            <a:avLst/>
          </a:prstGeom>
          <a:solidFill>
            <a:srgbClr val="1A1F2E"/>
          </a:solidFill>
          <a:ln/>
        </p:spPr>
        <p:txBody>
          <a:bodyPr wrap="square" rtlCol="0" anchor="ctr"/>
          <a:lstStyle/>
          <a:p>
            <a:pPr indent="0" marL="0">
              <a:buNone/>
            </a:pPr>
            <a:endParaRPr lang="en-US" dirty="0"/>
          </a:p>
        </p:txBody>
      </p:sp>
      <p:sp>
        <p:nvSpPr>
          <p:cNvPr id="22" name="Text 20"/>
          <p:cNvSpPr/>
          <p:nvPr/>
        </p:nvSpPr>
        <p:spPr>
          <a:xfrm>
            <a:off x="4170164" y="850255"/>
            <a:ext cx="4645831" cy="106561"/>
          </a:xfrm>
          <a:prstGeom prst="rect">
            <a:avLst/>
          </a:prstGeom>
          <a:noFill/>
          <a:ln/>
        </p:spPr>
        <p:txBody>
          <a:bodyPr wrap="square" lIns="0" tIns="0" rIns="0" bIns="0" rtlCol="0" anchor="t"/>
          <a:lstStyle/>
          <a:p>
            <a:pPr algn="l" indent="0" marL="0">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&lt;role&gt;</a:t>
            </a:r>
            <a:endParaRPr lang="en-US" sz="600" dirty="0"/>
          </a:p>
        </p:txBody>
      </p:sp>
      <p:sp>
        <p:nvSpPr>
          <p:cNvPr id="23" name="Text 21"/>
          <p:cNvSpPr/>
          <p:nvPr/>
        </p:nvSpPr>
        <p:spPr>
          <a:xfrm>
            <a:off x="4170164" y="1013966"/>
            <a:ext cx="4645831" cy="106561"/>
          </a:xfrm>
          <a:prstGeom prst="rect">
            <a:avLst/>
          </a:prstGeom>
          <a:noFill/>
          <a:ln/>
        </p:spPr>
        <p:txBody>
          <a:bodyPr wrap="square" lIns="76200" tIns="0" rIns="0" bIns="0" rtlCol="0" anchor="t"/>
          <a:lstStyle/>
          <a:p>
            <a:pPr algn="l" indent="0" marL="0">
              <a:lnSpc>
                <a:spcPts val="840"/>
              </a:lnSpc>
              <a:spcAft>
                <a:spcPts val="450"/>
              </a:spcAft>
              <a:buNone/>
            </a:pPr>
            <a:r>
              <a:rPr lang="en-US" sz="600" dirty="0">
                <a:solidFill>
                  <a:srgbClr val="FFFFFF">
                    <a:alpha val="85000"/>
                  </a:srgbClr>
                </a:solidFill>
                <a:latin typeface="Arial" pitchFamily="34" charset="0"/>
                <a:ea typeface="Arial" pitchFamily="34" charset="-122"/>
                <a:cs typeface="Arial" pitchFamily="34" charset="-120"/>
              </a:rPr>
              <a:t>You format dictation for Claude Code prompts</a:t>
            </a:r>
            <a:endParaRPr lang="en-US" sz="600" dirty="0"/>
          </a:p>
        </p:txBody>
      </p:sp>
      <p:sp>
        <p:nvSpPr>
          <p:cNvPr id="24" name="Text 22"/>
          <p:cNvSpPr/>
          <p:nvPr/>
        </p:nvSpPr>
        <p:spPr>
          <a:xfrm>
            <a:off x="4170164" y="1177677"/>
            <a:ext cx="4645831" cy="106561"/>
          </a:xfrm>
          <a:prstGeom prst="rect">
            <a:avLst/>
          </a:prstGeom>
          <a:noFill/>
          <a:ln/>
        </p:spPr>
        <p:txBody>
          <a:bodyPr wrap="square" lIns="0" tIns="0" rIns="0" bIns="0" rtlCol="0" anchor="t"/>
          <a:lstStyle/>
          <a:p>
            <a:pPr algn="l" indent="0" marL="0">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&lt;/role&gt;</a:t>
            </a:r>
            <a:endParaRPr lang="en-US" sz="600" dirty="0"/>
          </a:p>
        </p:txBody>
      </p:sp>
      <p:sp>
        <p:nvSpPr>
          <p:cNvPr id="25" name="Text 23"/>
          <p:cNvSpPr/>
          <p:nvPr/>
        </p:nvSpPr>
        <p:spPr>
          <a:xfrm>
            <a:off x="4170164" y="1341388"/>
            <a:ext cx="4645831" cy="106561"/>
          </a:xfrm>
          <a:prstGeom prst="rect">
            <a:avLst/>
          </a:prstGeom>
          <a:noFill/>
          <a:ln/>
        </p:spPr>
        <p:txBody>
          <a:bodyPr wrap="square" lIns="0" tIns="0" rIns="0" bIns="0" rtlCol="0" anchor="t"/>
          <a:lstStyle/>
          <a:p>
            <a:pPr algn="l" indent="0" marL="0">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&lt;instructions&gt;</a:t>
            </a:r>
            <a:endParaRPr lang="en-US" sz="600" dirty="0"/>
          </a:p>
        </p:txBody>
      </p:sp>
      <p:sp>
        <p:nvSpPr>
          <p:cNvPr id="26" name="Text 24"/>
          <p:cNvSpPr/>
          <p:nvPr/>
        </p:nvSpPr>
        <p:spPr>
          <a:xfrm>
            <a:off x="4170164" y="1505099"/>
            <a:ext cx="4645831" cy="457200"/>
          </a:xfrm>
          <a:prstGeom prst="rect">
            <a:avLst/>
          </a:prstGeom>
          <a:noFill/>
          <a:ln/>
        </p:spPr>
        <p:txBody>
          <a:bodyPr wrap="square" lIns="76200" tIns="0" rIns="0" bIns="0" rtlCol="0" anchor="t"/>
          <a:lstStyle/>
          <a:p>
            <a:pPr algn="l" indent="0" marL="0">
              <a:lnSpc>
                <a:spcPts val="900"/>
              </a:lnSpc>
              <a:spcAft>
                <a:spcPts val="450"/>
              </a:spcAft>
              <a:buNone/>
            </a:pPr>
            <a:r>
              <a:rPr lang="en-US" sz="600" dirty="0">
                <a:solidFill>
                  <a:srgbClr val="FFFFFF">
                    <a:alpha val="85000"/>
                  </a:srgbClr>
                </a:solidFill>
                <a:latin typeface="Arial" pitchFamily="34" charset="0"/>
                <a:ea typeface="Arial" pitchFamily="34" charset="-122"/>
                <a:cs typeface="Arial" pitchFamily="34" charset="-120"/>
              </a:rPr>
              <a:t>The User Message is a dictated prompt for</a:t>
            </a:r>
            <a:endParaRPr lang="en-US" sz="600" dirty="0"/>
          </a:p>
          <a:p>
            <a:pPr algn="l" indent="0" marL="0">
              <a:lnSpc>
                <a:spcPts val="900"/>
              </a:lnSpc>
              <a:spcAft>
                <a:spcPts val="450"/>
              </a:spcAft>
              <a:buNone/>
            </a:pPr>
            <a:r>
              <a:rPr lang="en-US" sz="600" dirty="0">
                <a:solidFill>
                  <a:srgbClr val="FFFFFF">
                    <a:alpha val="85000"/>
                  </a:srgbClr>
                </a:solidFill>
                <a:latin typeface="Arial" pitchFamily="34" charset="0"/>
                <a:ea typeface="Arial" pitchFamily="34" charset="-122"/>
                <a:cs typeface="Arial" pitchFamily="34" charset="-120"/>
              </a:rPr>
              <a:t> Claude Code. Clean it up and format as a</a:t>
            </a:r>
            <a:endParaRPr lang="en-US" sz="600" dirty="0"/>
          </a:p>
          <a:p>
            <a:pPr algn="l" indent="0" marL="0">
              <a:lnSpc>
                <a:spcPts val="900"/>
              </a:lnSpc>
              <a:spcAft>
                <a:spcPts val="450"/>
              </a:spcAft>
              <a:buNone/>
            </a:pPr>
            <a:r>
              <a:rPr lang="en-US" sz="600" dirty="0">
                <a:solidFill>
                  <a:srgbClr val="FFFFFF">
                    <a:alpha val="85000"/>
                  </a:srgbClr>
                </a:solidFill>
                <a:latin typeface="Arial" pitchFamily="34" charset="0"/>
                <a:ea typeface="Arial" pitchFamily="34" charset="-122"/>
                <a:cs typeface="Arial" pitchFamily="34" charset="-120"/>
              </a:rPr>
              <a:t> clear instruction. Keep technical terms</a:t>
            </a:r>
            <a:endParaRPr lang="en-US" sz="600" dirty="0"/>
          </a:p>
          <a:p>
            <a:pPr algn="l" indent="0" marL="0">
              <a:lnSpc>
                <a:spcPts val="900"/>
              </a:lnSpc>
              <a:spcAft>
                <a:spcPts val="450"/>
              </a:spcAft>
              <a:buNone/>
            </a:pPr>
            <a:r>
              <a:rPr lang="en-US" sz="600" dirty="0">
                <a:solidFill>
                  <a:srgbClr val="FFFFFF">
                    <a:alpha val="85000"/>
                  </a:srgbClr>
                </a:solidFill>
                <a:latin typeface="Arial" pitchFamily="34" charset="0"/>
                <a:ea typeface="Arial" pitchFamily="34" charset="-122"/>
                <a:cs typeface="Arial" pitchFamily="34" charset="-120"/>
              </a:rPr>
              <a:t> exactly as spoken.</a:t>
            </a:r>
            <a:endParaRPr lang="en-US" sz="600" dirty="0"/>
          </a:p>
        </p:txBody>
      </p:sp>
      <p:sp>
        <p:nvSpPr>
          <p:cNvPr id="27" name="Text 25"/>
          <p:cNvSpPr/>
          <p:nvPr/>
        </p:nvSpPr>
        <p:spPr>
          <a:xfrm>
            <a:off x="4170164" y="2019449"/>
            <a:ext cx="4645831" cy="106561"/>
          </a:xfrm>
          <a:prstGeom prst="rect">
            <a:avLst/>
          </a:prstGeom>
          <a:noFill/>
          <a:ln/>
        </p:spPr>
        <p:txBody>
          <a:bodyPr wrap="square" lIns="0" tIns="0" rIns="0" bIns="0" rtlCol="0" anchor="t"/>
          <a:lstStyle/>
          <a:p>
            <a:pPr algn="l" indent="0" marL="0">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&lt;/instructions&gt;</a:t>
            </a:r>
            <a:endParaRPr lang="en-US" sz="600" dirty="0"/>
          </a:p>
        </p:txBody>
      </p:sp>
      <p:sp>
        <p:nvSpPr>
          <p:cNvPr id="28" name="Text 26"/>
          <p:cNvSpPr/>
          <p:nvPr/>
        </p:nvSpPr>
        <p:spPr>
          <a:xfrm>
            <a:off x="4170164" y="2183160"/>
            <a:ext cx="4645831" cy="106561"/>
          </a:xfrm>
          <a:prstGeom prst="rect">
            <a:avLst/>
          </a:prstGeom>
          <a:noFill/>
          <a:ln/>
        </p:spPr>
        <p:txBody>
          <a:bodyPr wrap="square" lIns="0" tIns="0" rIns="0" bIns="0" rtlCol="0" anchor="t"/>
          <a:lstStyle/>
          <a:p>
            <a:pPr algn="l" indent="0" marL="0">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&lt;requirements&gt;</a:t>
            </a:r>
            <a:endParaRPr lang="en-US" sz="600" dirty="0"/>
          </a:p>
        </p:txBody>
      </p:sp>
      <p:sp>
        <p:nvSpPr>
          <p:cNvPr id="29" name="Text 27"/>
          <p:cNvSpPr/>
          <p:nvPr/>
        </p:nvSpPr>
        <p:spPr>
          <a:xfrm>
            <a:off x="4170164" y="2346871"/>
            <a:ext cx="4645831" cy="571500"/>
          </a:xfrm>
          <a:prstGeom prst="rect">
            <a:avLst/>
          </a:prstGeom>
          <a:noFill/>
          <a:ln/>
        </p:spPr>
        <p:txBody>
          <a:bodyPr wrap="square" lIns="76200" tIns="0" rIns="0" bIns="0" rtlCol="0" anchor="t"/>
          <a:lstStyle/>
          <a:p>
            <a:pPr algn="l" indent="0" marL="0">
              <a:lnSpc>
                <a:spcPts val="900"/>
              </a:lnSpc>
              <a:buNone/>
            </a:pPr>
            <a:r>
              <a:rPr lang="en-US" sz="600" dirty="0">
                <a:solidFill>
                  <a:srgbClr val="FFFFFF">
                    <a:alpha val="85000"/>
                  </a:srgbClr>
                </a:solidFill>
                <a:latin typeface="Arial" pitchFamily="34" charset="0"/>
                <a:ea typeface="Arial" pitchFamily="34" charset="-122"/>
                <a:cs typeface="Arial" pitchFamily="34" charset="-120"/>
              </a:rPr>
              <a:t>Preserve technical accuracy</a:t>
            </a:r>
            <a:endParaRPr lang="en-US" sz="600" dirty="0"/>
          </a:p>
          <a:p>
            <a:pPr algn="l" indent="0" marL="0">
              <a:lnSpc>
                <a:spcPts val="900"/>
              </a:lnSpc>
              <a:buNone/>
            </a:pPr>
            <a:r>
              <a:rPr lang="en-US" sz="600" dirty="0">
                <a:solidFill>
                  <a:srgbClr val="FFFFFF">
                    <a:alpha val="85000"/>
                  </a:srgbClr>
                </a:solidFill>
                <a:latin typeface="Arial" pitchFamily="34" charset="0"/>
                <a:ea typeface="Arial" pitchFamily="34" charset="-122"/>
                <a:cs typeface="Arial" pitchFamily="34" charset="-120"/>
              </a:rPr>
              <a:t> Structure into clear steps if needed</a:t>
            </a:r>
            <a:endParaRPr lang="en-US" sz="600" dirty="0"/>
          </a:p>
          <a:p>
            <a:pPr algn="l" indent="0" marL="0">
              <a:lnSpc>
                <a:spcPts val="900"/>
              </a:lnSpc>
              <a:buNone/>
            </a:pPr>
            <a:r>
              <a:rPr lang="en-US" sz="600" dirty="0">
                <a:solidFill>
                  <a:srgbClr val="FFFFFF">
                    <a:alpha val="85000"/>
                  </a:srgbClr>
                </a:solidFill>
                <a:latin typeface="Arial" pitchFamily="34" charset="0"/>
                <a:ea typeface="Arial" pitchFamily="34" charset="-122"/>
                <a:cs typeface="Arial" pitchFamily="34" charset="-120"/>
              </a:rPr>
              <a:t> No greeting or pleasantries</a:t>
            </a:r>
            <a:endParaRPr lang="en-US" sz="600" dirty="0"/>
          </a:p>
          <a:p>
            <a:pPr algn="l" indent="0" marL="0">
              <a:lnSpc>
                <a:spcPts val="900"/>
              </a:lnSpc>
              <a:buNone/>
            </a:pPr>
            <a:r>
              <a:rPr lang="en-US" sz="600" dirty="0">
                <a:solidFill>
                  <a:srgbClr val="FFFFFF">
                    <a:alpha val="85000"/>
                  </a:srgbClr>
                </a:solidFill>
                <a:latin typeface="Arial" pitchFamily="34" charset="0"/>
                <a:ea typeface="Arial" pitchFamily="34" charset="-122"/>
                <a:cs typeface="Arial" pitchFamily="34" charset="-120"/>
              </a:rPr>
              <a:t> Ready to paste directly to Claude</a:t>
            </a:r>
            <a:endParaRPr lang="en-US" sz="600" dirty="0"/>
          </a:p>
          <a:p>
            <a:pPr algn="l" indent="0" marL="0">
              <a:lnSpc>
                <a:spcPts val="900"/>
              </a:lnSpc>
              <a:buNone/>
            </a:pPr>
            <a:r>
              <a:rPr lang="en-US" sz="600" dirty="0">
                <a:solidFill>
                  <a:srgbClr val="FFFFFF">
                    <a:alpha val="85000"/>
                  </a:srgbClr>
                </a:solidFill>
                <a:latin typeface="Arial" pitchFamily="34" charset="0"/>
                <a:ea typeface="Arial" pitchFamily="34" charset="-122"/>
                <a:cs typeface="Arial" pitchFamily="34" charset="-120"/>
              </a:rPr>
              <a:t> If Clipboard has an error, reference it</a:t>
            </a:r>
            <a:endParaRPr lang="en-US" sz="600" dirty="0"/>
          </a:p>
        </p:txBody>
      </p:sp>
      <p:sp>
        <p:nvSpPr>
          <p:cNvPr id="30" name="Text 28"/>
          <p:cNvSpPr/>
          <p:nvPr/>
        </p:nvSpPr>
        <p:spPr>
          <a:xfrm>
            <a:off x="4170164" y="2975521"/>
            <a:ext cx="4645831" cy="106561"/>
          </a:xfrm>
          <a:prstGeom prst="rect">
            <a:avLst/>
          </a:prstGeom>
          <a:noFill/>
          <a:ln/>
        </p:spPr>
        <p:txBody>
          <a:bodyPr wrap="square" lIns="0" tIns="0" rIns="0" bIns="0" rtlCol="0" anchor="t"/>
          <a:lstStyle/>
          <a:p>
            <a:pPr algn="l" indent="0" marL="0">
              <a:lnSpc>
                <a:spcPts val="840"/>
              </a:lnSpc>
              <a:spcBef>
                <a:spcPts val="450"/>
              </a:spcBef>
              <a:buNone/>
            </a:pPr>
            <a:r>
              <a:rPr lang="en-US" sz="600" dirty="0">
                <a:solidFill>
                  <a:srgbClr val="C9A227"/>
                </a:solidFill>
                <a:latin typeface="Arial" pitchFamily="34" charset="0"/>
                <a:ea typeface="Arial" pitchFamily="34" charset="-122"/>
                <a:cs typeface="Arial" pitchFamily="34" charset="-120"/>
              </a:rPr>
              <a:t>&lt;/requirements&gt;</a:t>
            </a:r>
            <a:endParaRPr lang="en-US" sz="600" dirty="0"/>
          </a:p>
        </p:txBody>
      </p:sp>
      <p:sp>
        <p:nvSpPr>
          <p:cNvPr id="31" name="Text 29"/>
          <p:cNvSpPr/>
          <p:nvPr/>
        </p:nvSpPr>
        <p:spPr>
          <a:xfrm>
            <a:off x="4017764" y="3510707"/>
            <a:ext cx="2386905" cy="774799"/>
          </a:xfrm>
          <a:prstGeom prst="rect">
            <a:avLst/>
          </a:prstGeom>
          <a:solidFill>
            <a:srgbClr val="FEF3C7"/>
          </a:solidFill>
          <a:ln/>
        </p:spPr>
        <p:txBody>
          <a:bodyPr wrap="square" rtlCol="0" anchor="ctr"/>
          <a:lstStyle/>
          <a:p>
            <a:pPr indent="0" marL="0">
              <a:buNone/>
            </a:pPr>
            <a:endParaRPr lang="en-US" dirty="0"/>
          </a:p>
        </p:txBody>
      </p:sp>
      <p:sp>
        <p:nvSpPr>
          <p:cNvPr id="32" name="Shape 30"/>
          <p:cNvSpPr/>
          <p:nvPr/>
        </p:nvSpPr>
        <p:spPr>
          <a:xfrm>
            <a:off x="4032052" y="3510707"/>
            <a:ext cx="0" cy="774799"/>
          </a:xfrm>
          <a:prstGeom prst="line">
            <a:avLst/>
          </a:prstGeom>
          <a:noFill/>
          <a:ln w="28575">
            <a:solidFill>
              <a:srgbClr val="F59E0B"/>
            </a:solidFill>
            <a:prstDash val="solid"/>
          </a:ln>
        </p:spPr>
      </p:sp>
      <p:sp>
        <p:nvSpPr>
          <p:cNvPr id="33" name="Text 31"/>
          <p:cNvSpPr/>
          <p:nvPr/>
        </p:nvSpPr>
        <p:spPr>
          <a:xfrm>
            <a:off x="4141589" y="3605957"/>
            <a:ext cx="2211187"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92400E"/>
                </a:solidFill>
                <a:latin typeface="Arial" pitchFamily="34" charset="0"/>
                <a:ea typeface="Arial" pitchFamily="34" charset="-122"/>
                <a:cs typeface="Arial" pitchFamily="34" charset="-120"/>
              </a:rPr>
              <a:t>EXAMPLE INPUT</a:t>
            </a:r>
            <a:endParaRPr lang="en-US" sz="675" dirty="0"/>
          </a:p>
        </p:txBody>
      </p:sp>
      <p:sp>
        <p:nvSpPr>
          <p:cNvPr id="34" name="Text 32"/>
          <p:cNvSpPr/>
          <p:nvPr/>
        </p:nvSpPr>
        <p:spPr>
          <a:xfrm>
            <a:off x="4141589" y="3764012"/>
            <a:ext cx="2211187" cy="426244"/>
          </a:xfrm>
          <a:prstGeom prst="rect">
            <a:avLst/>
          </a:prstGeom>
          <a:noFill/>
          <a:ln/>
        </p:spPr>
        <p:txBody>
          <a:bodyPr wrap="square" lIns="0" tIns="0" rIns="0" bIns="0" rtlCol="0" anchor="t"/>
          <a:lstStyle/>
          <a:p>
            <a:pPr algn="l" indent="0" marL="0">
              <a:lnSpc>
                <a:spcPts val="840"/>
              </a:lnSpc>
              <a:buNone/>
            </a:pPr>
            <a:r>
              <a:rPr lang="en-US" sz="600" dirty="0">
                <a:solidFill>
                  <a:srgbClr val="92400E"/>
                </a:solidFill>
                <a:latin typeface="Arial" pitchFamily="34" charset="0"/>
                <a:ea typeface="Arial" pitchFamily="34" charset="-122"/>
                <a:cs typeface="Arial" pitchFamily="34" charset="-120"/>
              </a:rPr>
              <a:t>"okay I need you to look at the auth middleware in the source API folder and add rate limiting so that it blocks more than one hundred requests per minute per IP address and also log any blocked attempts"</a:t>
            </a:r>
            <a:endParaRPr lang="en-US" sz="600" dirty="0"/>
          </a:p>
        </p:txBody>
      </p:sp>
      <p:sp>
        <p:nvSpPr>
          <p:cNvPr id="35" name="Text 33"/>
          <p:cNvSpPr/>
          <p:nvPr/>
        </p:nvSpPr>
        <p:spPr>
          <a:xfrm>
            <a:off x="6499920" y="3501182"/>
            <a:ext cx="2377380" cy="793849"/>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36" name="Text 34"/>
          <p:cNvSpPr/>
          <p:nvPr/>
        </p:nvSpPr>
        <p:spPr>
          <a:xfrm>
            <a:off x="6604695" y="3605957"/>
            <a:ext cx="2211187"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1A1F2E"/>
                </a:solidFill>
                <a:latin typeface="Arial" pitchFamily="34" charset="0"/>
                <a:ea typeface="Arial" pitchFamily="34" charset="-122"/>
                <a:cs typeface="Arial" pitchFamily="34" charset="-120"/>
              </a:rPr>
              <a:t>EXAMPLE OUTPUT</a:t>
            </a:r>
            <a:endParaRPr lang="en-US" sz="675" dirty="0"/>
          </a:p>
        </p:txBody>
      </p:sp>
      <p:sp>
        <p:nvSpPr>
          <p:cNvPr id="37" name="Text 35"/>
          <p:cNvSpPr/>
          <p:nvPr/>
        </p:nvSpPr>
        <p:spPr>
          <a:xfrm>
            <a:off x="6604695" y="3764012"/>
            <a:ext cx="2211187" cy="426244"/>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In src/api/authMiddleware, add rate limiting:</a:t>
            </a:r>
            <a:endParaRPr lang="en-US" sz="600" dirty="0"/>
          </a:p>
          <a:p>
            <a:pPr algn="l" indent="0" marL="0">
              <a:lnSpc>
                <a:spcPts val="840"/>
              </a:lnSpc>
              <a:buNone/>
            </a:pPr>
            <a:r>
              <a:rPr lang="en-US" sz="600" dirty="0">
                <a:solidFill>
                  <a:srgbClr val="6B7280"/>
                </a:solidFill>
                <a:latin typeface="Arial" pitchFamily="34" charset="0"/>
                <a:ea typeface="Arial" pitchFamily="34" charset="-122"/>
                <a:cs typeface="Arial" pitchFamily="34" charset="-120"/>
              </a:rPr>
              <a:t>- Max 100 requests/min per IP</a:t>
            </a:r>
            <a:endParaRPr lang="en-US" sz="600" dirty="0"/>
          </a:p>
          <a:p>
            <a:pPr algn="l" indent="0" marL="0">
              <a:lnSpc>
                <a:spcPts val="840"/>
              </a:lnSpc>
              <a:buNone/>
            </a:pPr>
            <a:r>
              <a:rPr lang="en-US" sz="600" dirty="0">
                <a:solidFill>
                  <a:srgbClr val="6B7280"/>
                </a:solidFill>
                <a:latin typeface="Arial" pitchFamily="34" charset="0"/>
                <a:ea typeface="Arial" pitchFamily="34" charset="-122"/>
                <a:cs typeface="Arial" pitchFamily="34" charset="-120"/>
              </a:rPr>
              <a:t>- Log all blocked attempts</a:t>
            </a:r>
            <a:endParaRPr lang="en-US" sz="600" dirty="0"/>
          </a:p>
          <a:p>
            <a:pPr algn="l" indent="0" marL="0">
              <a:lnSpc>
                <a:spcPts val="840"/>
              </a:lnSpc>
              <a:buNone/>
            </a:pPr>
            <a:r>
              <a:rPr lang="en-US" sz="600" dirty="0">
                <a:solidFill>
                  <a:srgbClr val="6B7280"/>
                </a:solidFill>
                <a:latin typeface="Arial" pitchFamily="34" charset="0"/>
                <a:ea typeface="Arial" pitchFamily="34" charset="-122"/>
                <a:cs typeface="Arial" pitchFamily="34" charset="-120"/>
              </a:rPr>
              <a:t>- Include timestamp and IP in logs</a:t>
            </a:r>
            <a:endParaRPr lang="en-US" sz="600" dirty="0"/>
          </a:p>
        </p:txBody>
      </p:sp>
      <p:sp>
        <p:nvSpPr>
          <p:cNvPr id="38" name="Text 36"/>
          <p:cNvSpPr/>
          <p:nvPr/>
        </p:nvSpPr>
        <p:spPr>
          <a:xfrm>
            <a:off x="4017764" y="4542681"/>
            <a:ext cx="4859536" cy="329505"/>
          </a:xfrm>
          <a:prstGeom prst="rect">
            <a:avLst/>
          </a:prstGeom>
          <a:solidFill>
            <a:srgbClr val="FFFFFF"/>
          </a:solidFill>
          <a:ln w="9525">
            <a:solidFill>
              <a:srgbClr val="C9A227"/>
            </a:solidFill>
          </a:ln>
        </p:spPr>
        <p:txBody>
          <a:bodyPr wrap="square" rtlCol="0" anchor="ctr"/>
          <a:lstStyle/>
          <a:p>
            <a:pPr indent="0" marL="0">
              <a:buNone/>
            </a:pPr>
            <a:endParaRPr lang="en-US" dirty="0"/>
          </a:p>
        </p:txBody>
      </p:sp>
      <p:sp>
        <p:nvSpPr>
          <p:cNvPr id="39" name="Text 37"/>
          <p:cNvSpPr/>
          <p:nvPr/>
        </p:nvSpPr>
        <p:spPr>
          <a:xfrm>
            <a:off x="4122539" y="4647456"/>
            <a:ext cx="4742986" cy="119955"/>
          </a:xfrm>
          <a:prstGeom prst="rect">
            <a:avLst/>
          </a:prstGeom>
          <a:noFill/>
          <a:ln/>
        </p:spPr>
        <p:txBody>
          <a:bodyPr wrap="square" lIns="0" tIns="0" rIns="0" bIns="0" rtlCol="0" anchor="t"/>
          <a:lstStyle/>
          <a:p>
            <a:pPr algn="l" indent="0" marL="0">
              <a:lnSpc>
                <a:spcPts val="945"/>
              </a:lnSpc>
              <a:buNone/>
            </a:pPr>
            <a:r>
              <a:rPr lang="en-US" sz="675" b="1" dirty="0">
                <a:solidFill>
                  <a:srgbClr val="1A1F2E"/>
                </a:solidFill>
                <a:latin typeface="Arial" pitchFamily="34" charset="0"/>
                <a:ea typeface="Arial" pitchFamily="34" charset="-122"/>
                <a:cs typeface="Arial" pitchFamily="34" charset="-120"/>
              </a:rPr>
              <a:t>Workflow:</a:t>
            </a:r>
            <a:pPr algn="l" indent="0" marL="0">
              <a:lnSpc>
                <a:spcPts val="945"/>
              </a:lnSpc>
              <a:buNone/>
            </a:pPr>
            <a:r>
              <a:rPr lang="en-US" sz="675" dirty="0">
                <a:solidFill>
                  <a:srgbClr val="1A1F2E"/>
                </a:solidFill>
                <a:latin typeface="Arial" pitchFamily="34" charset="0"/>
                <a:ea typeface="Arial" pitchFamily="34" charset="-122"/>
                <a:cs typeface="Arial" pitchFamily="34" charset="-120"/>
              </a:rPr>
              <a:t> Copy error → Dictate "fix this error" → Paste to Claude Code</a:t>
            </a:r>
            <a:endParaRPr lang="en-US" sz="675"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381000" y="228600"/>
            <a:ext cx="8549640" cy="133350"/>
          </a:xfrm>
          <a:prstGeom prst="rect">
            <a:avLst/>
          </a:prstGeom>
          <a:noFill/>
          <a:ln/>
        </p:spPr>
        <p:txBody>
          <a:bodyPr wrap="square" lIns="0" tIns="0" rIns="0" bIns="0" rtlCol="0" anchor="t"/>
          <a:lstStyle/>
          <a:p>
            <a:pPr algn="l" indent="0" marL="0">
              <a:lnSpc>
                <a:spcPts val="1050"/>
              </a:lnSpc>
              <a:spcAft>
                <a:spcPts val="450"/>
              </a:spcAft>
              <a:buNone/>
            </a:pPr>
            <a:r>
              <a:rPr lang="en-US" sz="750" dirty="0">
                <a:solidFill>
                  <a:srgbClr val="C9A227"/>
                </a:solidFill>
                <a:latin typeface="Arial" pitchFamily="34" charset="0"/>
                <a:ea typeface="Arial" pitchFamily="34" charset="-122"/>
                <a:cs typeface="Arial" pitchFamily="34" charset="-120"/>
              </a:rPr>
              <a:t>LIVE DEMO</a:t>
            </a:r>
            <a:endParaRPr lang="en-US" sz="750" dirty="0"/>
          </a:p>
        </p:txBody>
      </p:sp>
      <p:sp>
        <p:nvSpPr>
          <p:cNvPr id="3" name="Text 1"/>
          <p:cNvSpPr/>
          <p:nvPr/>
        </p:nvSpPr>
        <p:spPr>
          <a:xfrm>
            <a:off x="381000" y="419100"/>
            <a:ext cx="4284536" cy="247650"/>
          </a:xfrm>
          <a:prstGeom prst="rect">
            <a:avLst/>
          </a:prstGeom>
          <a:noFill/>
          <a:ln/>
        </p:spPr>
        <p:txBody>
          <a:bodyPr wrap="square" lIns="0" tIns="0" rIns="0" bIns="0" rtlCol="0" anchor="t"/>
          <a:lstStyle/>
          <a:p>
            <a:pPr algn="l" indent="0" marL="0">
              <a:lnSpc>
                <a:spcPts val="1950"/>
              </a:lnSpc>
              <a:buNone/>
            </a:pPr>
            <a:r>
              <a:rPr lang="en-US" sz="1950" dirty="0">
                <a:solidFill>
                  <a:srgbClr val="1A1F2E"/>
                </a:solidFill>
                <a:latin typeface="Georgia" pitchFamily="34" charset="0"/>
                <a:ea typeface="Georgia" pitchFamily="34" charset="-122"/>
                <a:cs typeface="Georgia" pitchFamily="34" charset="-120"/>
              </a:rPr>
              <a:t>Context Switching in Action</a:t>
            </a:r>
            <a:endParaRPr lang="en-US" sz="1950" dirty="0"/>
          </a:p>
        </p:txBody>
      </p:sp>
      <p:sp>
        <p:nvSpPr>
          <p:cNvPr id="4" name="Text 2"/>
          <p:cNvSpPr/>
          <p:nvPr/>
        </p:nvSpPr>
        <p:spPr>
          <a:xfrm>
            <a:off x="381000" y="1644253"/>
            <a:ext cx="5036576" cy="159990"/>
          </a:xfrm>
          <a:prstGeom prst="rect">
            <a:avLst/>
          </a:prstGeom>
          <a:noFill/>
          <a:ln/>
        </p:spPr>
        <p:txBody>
          <a:bodyPr wrap="square" lIns="0" tIns="0" rIns="0" bIns="0" rtlCol="0" anchor="t"/>
          <a:lstStyle/>
          <a:p>
            <a:pPr algn="l" indent="0" marL="0">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DEMONSTRATION FLOW</a:t>
            </a:r>
            <a:endParaRPr lang="en-US" sz="900" dirty="0"/>
          </a:p>
        </p:txBody>
      </p:sp>
      <p:sp>
        <p:nvSpPr>
          <p:cNvPr id="5" name="Text 3"/>
          <p:cNvSpPr/>
          <p:nvPr/>
        </p:nvSpPr>
        <p:spPr>
          <a:xfrm>
            <a:off x="381000" y="1918543"/>
            <a:ext cx="4937820" cy="514201"/>
          </a:xfrm>
          <a:prstGeom prst="rect">
            <a:avLst/>
          </a:prstGeom>
          <a:solidFill>
            <a:srgbClr val="1A1F2E"/>
          </a:solidFill>
          <a:ln/>
        </p:spPr>
        <p:txBody>
          <a:bodyPr wrap="square" rtlCol="0" anchor="ctr"/>
          <a:lstStyle/>
          <a:p>
            <a:pPr indent="0" marL="0">
              <a:buNone/>
            </a:pPr>
            <a:endParaRPr lang="en-US" dirty="0"/>
          </a:p>
        </p:txBody>
      </p:sp>
      <p:sp>
        <p:nvSpPr>
          <p:cNvPr id="6" name="Text 4"/>
          <p:cNvSpPr/>
          <p:nvPr/>
        </p:nvSpPr>
        <p:spPr>
          <a:xfrm>
            <a:off x="495300" y="2061270"/>
            <a:ext cx="228600" cy="228600"/>
          </a:xfrm>
          <a:prstGeom prst="rect">
            <a:avLst/>
          </a:prstGeom>
          <a:solidFill>
            <a:srgbClr val="C9A227"/>
          </a:solidFill>
          <a:ln/>
        </p:spPr>
        <p:txBody>
          <a:bodyPr wrap="square" rtlCol="0" anchor="ctr"/>
          <a:lstStyle/>
          <a:p>
            <a:pPr indent="0" marL="0">
              <a:buNone/>
            </a:pPr>
            <a:endParaRPr lang="en-US" dirty="0"/>
          </a:p>
        </p:txBody>
      </p:sp>
      <p:sp>
        <p:nvSpPr>
          <p:cNvPr id="7" name="Text 5"/>
          <p:cNvSpPr/>
          <p:nvPr/>
        </p:nvSpPr>
        <p:spPr>
          <a:xfrm>
            <a:off x="580430" y="2102197"/>
            <a:ext cx="59507" cy="146596"/>
          </a:xfrm>
          <a:prstGeom prst="rect">
            <a:avLst/>
          </a:prstGeom>
          <a:noFill/>
          <a:ln/>
        </p:spPr>
        <p:txBody>
          <a:bodyPr wrap="square" lIns="0" tIns="0" rIns="0" bIns="0" rtlCol="0" anchor="t"/>
          <a:lstStyle/>
          <a:p>
            <a:pPr algn="l" indent="0" marL="0">
              <a:lnSpc>
                <a:spcPts val="1155"/>
              </a:lnSpc>
              <a:buNone/>
            </a:pPr>
            <a:r>
              <a:rPr lang="en-US" sz="825" b="1" dirty="0">
                <a:solidFill>
                  <a:srgbClr val="1A1F2E"/>
                </a:solidFill>
                <a:latin typeface="Arial" pitchFamily="34" charset="0"/>
                <a:ea typeface="Arial" pitchFamily="34" charset="-122"/>
                <a:cs typeface="Arial" pitchFamily="34" charset="-120"/>
              </a:rPr>
              <a:t>1</a:t>
            </a:r>
            <a:endParaRPr lang="en-US" sz="825" dirty="0"/>
          </a:p>
        </p:txBody>
      </p:sp>
      <p:sp>
        <p:nvSpPr>
          <p:cNvPr id="8" name="Text 6"/>
          <p:cNvSpPr/>
          <p:nvPr/>
        </p:nvSpPr>
        <p:spPr>
          <a:xfrm>
            <a:off x="971550" y="2032843"/>
            <a:ext cx="2072438" cy="146596"/>
          </a:xfrm>
          <a:prstGeom prst="rect">
            <a:avLst/>
          </a:prstGeom>
          <a:noFill/>
          <a:ln/>
        </p:spPr>
        <p:txBody>
          <a:bodyPr wrap="square" lIns="0" tIns="0" rIns="0" bIns="0" rtlCol="0" anchor="t"/>
          <a:lstStyle/>
          <a:p>
            <a:pPr algn="l" indent="0" marL="0">
              <a:lnSpc>
                <a:spcPts val="1155"/>
              </a:lnSpc>
              <a:buNone/>
            </a:pPr>
            <a:r>
              <a:rPr lang="en-US" sz="825" b="1" dirty="0">
                <a:solidFill>
                  <a:srgbClr val="FFFFFF"/>
                </a:solidFill>
                <a:latin typeface="Arial" pitchFamily="34" charset="0"/>
                <a:ea typeface="Arial" pitchFamily="34" charset="-122"/>
                <a:cs typeface="Arial" pitchFamily="34" charset="-120"/>
              </a:rPr>
              <a:t>Open VS Code → Coding Mode activates</a:t>
            </a:r>
            <a:endParaRPr lang="en-US" sz="825" dirty="0"/>
          </a:p>
        </p:txBody>
      </p:sp>
      <p:sp>
        <p:nvSpPr>
          <p:cNvPr id="9" name="Text 7"/>
          <p:cNvSpPr/>
          <p:nvPr/>
        </p:nvSpPr>
        <p:spPr>
          <a:xfrm>
            <a:off x="971550" y="2198489"/>
            <a:ext cx="2072438" cy="119955"/>
          </a:xfrm>
          <a:prstGeom prst="rect">
            <a:avLst/>
          </a:prstGeom>
          <a:noFill/>
          <a:ln/>
        </p:spPr>
        <p:txBody>
          <a:bodyPr wrap="square" lIns="0" tIns="0" rIns="0" bIns="0" rtlCol="0" anchor="t"/>
          <a:lstStyle/>
          <a:p>
            <a:pPr algn="l" indent="0" marL="0">
              <a:lnSpc>
                <a:spcPts val="945"/>
              </a:lnSpc>
              <a:spcBef>
                <a:spcPts val="150"/>
              </a:spcBef>
              <a:buNone/>
            </a:pPr>
            <a:r>
              <a:rPr lang="en-US" sz="675" dirty="0">
                <a:solidFill>
                  <a:srgbClr val="FFFFFF">
                    <a:alpha val="60000"/>
                  </a:srgbClr>
                </a:solidFill>
                <a:latin typeface="Arial" pitchFamily="34" charset="0"/>
                <a:ea typeface="Arial" pitchFamily="34" charset="-122"/>
                <a:cs typeface="Arial" pitchFamily="34" charset="-120"/>
              </a:rPr>
              <a:t>Dictate: "Create a function to validate email"</a:t>
            </a:r>
            <a:endParaRPr lang="en-US" sz="675" dirty="0"/>
          </a:p>
        </p:txBody>
      </p:sp>
      <p:sp>
        <p:nvSpPr>
          <p:cNvPr id="10" name="Text 8"/>
          <p:cNvSpPr/>
          <p:nvPr/>
        </p:nvSpPr>
        <p:spPr>
          <a:xfrm>
            <a:off x="381000" y="2508945"/>
            <a:ext cx="4937820" cy="514201"/>
          </a:xfrm>
          <a:prstGeom prst="rect">
            <a:avLst/>
          </a:prstGeom>
          <a:solidFill>
            <a:srgbClr val="1A1F2E"/>
          </a:solidFill>
          <a:ln/>
        </p:spPr>
        <p:txBody>
          <a:bodyPr wrap="square" rtlCol="0" anchor="ctr"/>
          <a:lstStyle/>
          <a:p>
            <a:pPr indent="0" marL="0">
              <a:buNone/>
            </a:pPr>
            <a:endParaRPr lang="en-US" dirty="0"/>
          </a:p>
        </p:txBody>
      </p:sp>
      <p:sp>
        <p:nvSpPr>
          <p:cNvPr id="11" name="Text 9"/>
          <p:cNvSpPr/>
          <p:nvPr/>
        </p:nvSpPr>
        <p:spPr>
          <a:xfrm>
            <a:off x="495300" y="2651671"/>
            <a:ext cx="228600" cy="228600"/>
          </a:xfrm>
          <a:prstGeom prst="rect">
            <a:avLst/>
          </a:prstGeom>
          <a:solidFill>
            <a:srgbClr val="C9A227"/>
          </a:solidFill>
          <a:ln/>
        </p:spPr>
        <p:txBody>
          <a:bodyPr wrap="square" rtlCol="0" anchor="ctr"/>
          <a:lstStyle/>
          <a:p>
            <a:pPr indent="0" marL="0">
              <a:buNone/>
            </a:pPr>
            <a:endParaRPr lang="en-US" dirty="0"/>
          </a:p>
        </p:txBody>
      </p:sp>
      <p:sp>
        <p:nvSpPr>
          <p:cNvPr id="12" name="Text 10"/>
          <p:cNvSpPr/>
          <p:nvPr/>
        </p:nvSpPr>
        <p:spPr>
          <a:xfrm>
            <a:off x="580430" y="2692598"/>
            <a:ext cx="59507" cy="146596"/>
          </a:xfrm>
          <a:prstGeom prst="rect">
            <a:avLst/>
          </a:prstGeom>
          <a:noFill/>
          <a:ln/>
        </p:spPr>
        <p:txBody>
          <a:bodyPr wrap="square" lIns="0" tIns="0" rIns="0" bIns="0" rtlCol="0" anchor="t"/>
          <a:lstStyle/>
          <a:p>
            <a:pPr algn="l" indent="0" marL="0">
              <a:lnSpc>
                <a:spcPts val="1155"/>
              </a:lnSpc>
              <a:buNone/>
            </a:pPr>
            <a:r>
              <a:rPr lang="en-US" sz="825" b="1" dirty="0">
                <a:solidFill>
                  <a:srgbClr val="1A1F2E"/>
                </a:solidFill>
                <a:latin typeface="Arial" pitchFamily="34" charset="0"/>
                <a:ea typeface="Arial" pitchFamily="34" charset="-122"/>
                <a:cs typeface="Arial" pitchFamily="34" charset="-120"/>
              </a:rPr>
              <a:t>2</a:t>
            </a:r>
            <a:endParaRPr lang="en-US" sz="825" dirty="0"/>
          </a:p>
        </p:txBody>
      </p:sp>
      <p:sp>
        <p:nvSpPr>
          <p:cNvPr id="13" name="Text 11"/>
          <p:cNvSpPr/>
          <p:nvPr/>
        </p:nvSpPr>
        <p:spPr>
          <a:xfrm>
            <a:off x="971550" y="2623245"/>
            <a:ext cx="2035094" cy="146596"/>
          </a:xfrm>
          <a:prstGeom prst="rect">
            <a:avLst/>
          </a:prstGeom>
          <a:noFill/>
          <a:ln/>
        </p:spPr>
        <p:txBody>
          <a:bodyPr wrap="square" lIns="0" tIns="0" rIns="0" bIns="0" rtlCol="0" anchor="t"/>
          <a:lstStyle/>
          <a:p>
            <a:pPr algn="l" indent="0" marL="0">
              <a:lnSpc>
                <a:spcPts val="1155"/>
              </a:lnSpc>
              <a:buNone/>
            </a:pPr>
            <a:r>
              <a:rPr lang="en-US" sz="825" b="1" dirty="0">
                <a:solidFill>
                  <a:srgbClr val="FFFFFF"/>
                </a:solidFill>
                <a:latin typeface="Arial" pitchFamily="34" charset="0"/>
                <a:ea typeface="Arial" pitchFamily="34" charset="-122"/>
                <a:cs typeface="Arial" pitchFamily="34" charset="-120"/>
              </a:rPr>
              <a:t>Switch to Teams → Chat Mode activates</a:t>
            </a:r>
            <a:endParaRPr lang="en-US" sz="825" dirty="0"/>
          </a:p>
        </p:txBody>
      </p:sp>
      <p:sp>
        <p:nvSpPr>
          <p:cNvPr id="14" name="Text 12"/>
          <p:cNvSpPr/>
          <p:nvPr/>
        </p:nvSpPr>
        <p:spPr>
          <a:xfrm>
            <a:off x="971550" y="2788890"/>
            <a:ext cx="2035094" cy="119955"/>
          </a:xfrm>
          <a:prstGeom prst="rect">
            <a:avLst/>
          </a:prstGeom>
          <a:noFill/>
          <a:ln/>
        </p:spPr>
        <p:txBody>
          <a:bodyPr wrap="square" lIns="0" tIns="0" rIns="0" bIns="0" rtlCol="0" anchor="t"/>
          <a:lstStyle/>
          <a:p>
            <a:pPr algn="l" indent="0" marL="0">
              <a:lnSpc>
                <a:spcPts val="945"/>
              </a:lnSpc>
              <a:spcBef>
                <a:spcPts val="150"/>
              </a:spcBef>
              <a:buNone/>
            </a:pPr>
            <a:r>
              <a:rPr lang="en-US" sz="675" dirty="0">
                <a:solidFill>
                  <a:srgbClr val="FFFFFF">
                    <a:alpha val="60000"/>
                  </a:srgbClr>
                </a:solidFill>
                <a:latin typeface="Arial" pitchFamily="34" charset="0"/>
                <a:ea typeface="Arial" pitchFamily="34" charset="-122"/>
                <a:cs typeface="Arial" pitchFamily="34" charset="-120"/>
              </a:rPr>
              <a:t>Dictate: "Hey team the feature is ready for review"</a:t>
            </a:r>
            <a:endParaRPr lang="en-US" sz="675" dirty="0"/>
          </a:p>
        </p:txBody>
      </p:sp>
      <p:sp>
        <p:nvSpPr>
          <p:cNvPr id="15" name="Text 13"/>
          <p:cNvSpPr/>
          <p:nvPr/>
        </p:nvSpPr>
        <p:spPr>
          <a:xfrm>
            <a:off x="381000" y="3099346"/>
            <a:ext cx="4937820" cy="514201"/>
          </a:xfrm>
          <a:prstGeom prst="rect">
            <a:avLst/>
          </a:prstGeom>
          <a:solidFill>
            <a:srgbClr val="1A1F2E"/>
          </a:solidFill>
          <a:ln/>
        </p:spPr>
        <p:txBody>
          <a:bodyPr wrap="square" rtlCol="0" anchor="ctr"/>
          <a:lstStyle/>
          <a:p>
            <a:pPr indent="0" marL="0">
              <a:buNone/>
            </a:pPr>
            <a:endParaRPr lang="en-US" dirty="0"/>
          </a:p>
        </p:txBody>
      </p:sp>
      <p:sp>
        <p:nvSpPr>
          <p:cNvPr id="16" name="Text 14"/>
          <p:cNvSpPr/>
          <p:nvPr/>
        </p:nvSpPr>
        <p:spPr>
          <a:xfrm>
            <a:off x="495300" y="3242072"/>
            <a:ext cx="228600" cy="228600"/>
          </a:xfrm>
          <a:prstGeom prst="rect">
            <a:avLst/>
          </a:prstGeom>
          <a:solidFill>
            <a:srgbClr val="C9A227"/>
          </a:solidFill>
          <a:ln/>
        </p:spPr>
        <p:txBody>
          <a:bodyPr wrap="square" rtlCol="0" anchor="ctr"/>
          <a:lstStyle/>
          <a:p>
            <a:pPr indent="0" marL="0">
              <a:buNone/>
            </a:pPr>
            <a:endParaRPr lang="en-US" dirty="0"/>
          </a:p>
        </p:txBody>
      </p:sp>
      <p:sp>
        <p:nvSpPr>
          <p:cNvPr id="17" name="Text 15"/>
          <p:cNvSpPr/>
          <p:nvPr/>
        </p:nvSpPr>
        <p:spPr>
          <a:xfrm>
            <a:off x="580430" y="3283000"/>
            <a:ext cx="59507" cy="146596"/>
          </a:xfrm>
          <a:prstGeom prst="rect">
            <a:avLst/>
          </a:prstGeom>
          <a:noFill/>
          <a:ln/>
        </p:spPr>
        <p:txBody>
          <a:bodyPr wrap="square" lIns="0" tIns="0" rIns="0" bIns="0" rtlCol="0" anchor="t"/>
          <a:lstStyle/>
          <a:p>
            <a:pPr algn="l" indent="0" marL="0">
              <a:lnSpc>
                <a:spcPts val="1155"/>
              </a:lnSpc>
              <a:buNone/>
            </a:pPr>
            <a:r>
              <a:rPr lang="en-US" sz="825" b="1" dirty="0">
                <a:solidFill>
                  <a:srgbClr val="1A1F2E"/>
                </a:solidFill>
                <a:latin typeface="Arial" pitchFamily="34" charset="0"/>
                <a:ea typeface="Arial" pitchFamily="34" charset="-122"/>
                <a:cs typeface="Arial" pitchFamily="34" charset="-120"/>
              </a:rPr>
              <a:t>3</a:t>
            </a:r>
            <a:endParaRPr lang="en-US" sz="825" dirty="0"/>
          </a:p>
        </p:txBody>
      </p:sp>
      <p:sp>
        <p:nvSpPr>
          <p:cNvPr id="18" name="Text 16"/>
          <p:cNvSpPr/>
          <p:nvPr/>
        </p:nvSpPr>
        <p:spPr>
          <a:xfrm>
            <a:off x="971550" y="3213646"/>
            <a:ext cx="2040407" cy="146596"/>
          </a:xfrm>
          <a:prstGeom prst="rect">
            <a:avLst/>
          </a:prstGeom>
          <a:noFill/>
          <a:ln/>
        </p:spPr>
        <p:txBody>
          <a:bodyPr wrap="square" lIns="0" tIns="0" rIns="0" bIns="0" rtlCol="0" anchor="t"/>
          <a:lstStyle/>
          <a:p>
            <a:pPr algn="l" indent="0" marL="0">
              <a:lnSpc>
                <a:spcPts val="1155"/>
              </a:lnSpc>
              <a:buNone/>
            </a:pPr>
            <a:r>
              <a:rPr lang="en-US" sz="825" b="1" dirty="0">
                <a:solidFill>
                  <a:srgbClr val="FFFFFF"/>
                </a:solidFill>
                <a:latin typeface="Arial" pitchFamily="34" charset="0"/>
                <a:ea typeface="Arial" pitchFamily="34" charset="-122"/>
                <a:cs typeface="Arial" pitchFamily="34" charset="-120"/>
              </a:rPr>
              <a:t>Open Outlook → Email Mode activates</a:t>
            </a:r>
            <a:endParaRPr lang="en-US" sz="825" dirty="0"/>
          </a:p>
        </p:txBody>
      </p:sp>
      <p:sp>
        <p:nvSpPr>
          <p:cNvPr id="19" name="Text 17"/>
          <p:cNvSpPr/>
          <p:nvPr/>
        </p:nvSpPr>
        <p:spPr>
          <a:xfrm>
            <a:off x="971550" y="3379291"/>
            <a:ext cx="2040407" cy="119955"/>
          </a:xfrm>
          <a:prstGeom prst="rect">
            <a:avLst/>
          </a:prstGeom>
          <a:noFill/>
          <a:ln/>
        </p:spPr>
        <p:txBody>
          <a:bodyPr wrap="square" lIns="0" tIns="0" rIns="0" bIns="0" rtlCol="0" anchor="t"/>
          <a:lstStyle/>
          <a:p>
            <a:pPr algn="l" indent="0" marL="0">
              <a:lnSpc>
                <a:spcPts val="945"/>
              </a:lnSpc>
              <a:spcBef>
                <a:spcPts val="150"/>
              </a:spcBef>
              <a:buNone/>
            </a:pPr>
            <a:r>
              <a:rPr lang="en-US" sz="675" dirty="0">
                <a:solidFill>
                  <a:srgbClr val="FFFFFF">
                    <a:alpha val="60000"/>
                  </a:srgbClr>
                </a:solidFill>
                <a:latin typeface="Arial" pitchFamily="34" charset="0"/>
                <a:ea typeface="Arial" pitchFamily="34" charset="-122"/>
                <a:cs typeface="Arial" pitchFamily="34" charset="-120"/>
              </a:rPr>
              <a:t>Dictate: "Follow up on our meeting about the project"</a:t>
            </a:r>
            <a:endParaRPr lang="en-US" sz="675" dirty="0"/>
          </a:p>
        </p:txBody>
      </p:sp>
      <p:sp>
        <p:nvSpPr>
          <p:cNvPr id="20" name="Text 18"/>
          <p:cNvSpPr/>
          <p:nvPr/>
        </p:nvSpPr>
        <p:spPr>
          <a:xfrm>
            <a:off x="381000" y="3689747"/>
            <a:ext cx="4937820" cy="514201"/>
          </a:xfrm>
          <a:prstGeom prst="rect">
            <a:avLst/>
          </a:prstGeom>
          <a:solidFill>
            <a:srgbClr val="1A1F2E"/>
          </a:solidFill>
          <a:ln/>
        </p:spPr>
        <p:txBody>
          <a:bodyPr wrap="square" rtlCol="0" anchor="ctr"/>
          <a:lstStyle/>
          <a:p>
            <a:pPr indent="0" marL="0">
              <a:buNone/>
            </a:pPr>
            <a:endParaRPr lang="en-US" dirty="0"/>
          </a:p>
        </p:txBody>
      </p:sp>
      <p:sp>
        <p:nvSpPr>
          <p:cNvPr id="21" name="Text 19"/>
          <p:cNvSpPr/>
          <p:nvPr/>
        </p:nvSpPr>
        <p:spPr>
          <a:xfrm>
            <a:off x="495300" y="3832473"/>
            <a:ext cx="228600" cy="228600"/>
          </a:xfrm>
          <a:prstGeom prst="rect">
            <a:avLst/>
          </a:prstGeom>
          <a:solidFill>
            <a:srgbClr val="C9A227"/>
          </a:solidFill>
          <a:ln/>
        </p:spPr>
        <p:txBody>
          <a:bodyPr wrap="square" rtlCol="0" anchor="ctr"/>
          <a:lstStyle/>
          <a:p>
            <a:pPr indent="0" marL="0">
              <a:buNone/>
            </a:pPr>
            <a:endParaRPr lang="en-US" dirty="0"/>
          </a:p>
        </p:txBody>
      </p:sp>
      <p:sp>
        <p:nvSpPr>
          <p:cNvPr id="22" name="Text 20"/>
          <p:cNvSpPr/>
          <p:nvPr/>
        </p:nvSpPr>
        <p:spPr>
          <a:xfrm>
            <a:off x="580430" y="3873401"/>
            <a:ext cx="59507" cy="146596"/>
          </a:xfrm>
          <a:prstGeom prst="rect">
            <a:avLst/>
          </a:prstGeom>
          <a:noFill/>
          <a:ln/>
        </p:spPr>
        <p:txBody>
          <a:bodyPr wrap="square" lIns="0" tIns="0" rIns="0" bIns="0" rtlCol="0" anchor="t"/>
          <a:lstStyle/>
          <a:p>
            <a:pPr algn="l" indent="0" marL="0">
              <a:lnSpc>
                <a:spcPts val="1155"/>
              </a:lnSpc>
              <a:buNone/>
            </a:pPr>
            <a:r>
              <a:rPr lang="en-US" sz="825" b="1" dirty="0">
                <a:solidFill>
                  <a:srgbClr val="1A1F2E"/>
                </a:solidFill>
                <a:latin typeface="Arial" pitchFamily="34" charset="0"/>
                <a:ea typeface="Arial" pitchFamily="34" charset="-122"/>
                <a:cs typeface="Arial" pitchFamily="34" charset="-120"/>
              </a:rPr>
              <a:t>4</a:t>
            </a:r>
            <a:endParaRPr lang="en-US" sz="825" dirty="0"/>
          </a:p>
        </p:txBody>
      </p:sp>
      <p:sp>
        <p:nvSpPr>
          <p:cNvPr id="23" name="Text 21"/>
          <p:cNvSpPr/>
          <p:nvPr/>
        </p:nvSpPr>
        <p:spPr>
          <a:xfrm>
            <a:off x="971550" y="3804047"/>
            <a:ext cx="2355705" cy="146596"/>
          </a:xfrm>
          <a:prstGeom prst="rect">
            <a:avLst/>
          </a:prstGeom>
          <a:noFill/>
          <a:ln/>
        </p:spPr>
        <p:txBody>
          <a:bodyPr wrap="square" lIns="0" tIns="0" rIns="0" bIns="0" rtlCol="0" anchor="t"/>
          <a:lstStyle/>
          <a:p>
            <a:pPr algn="l" indent="0" marL="0">
              <a:lnSpc>
                <a:spcPts val="1155"/>
              </a:lnSpc>
              <a:buNone/>
            </a:pPr>
            <a:r>
              <a:rPr lang="en-US" sz="825" b="1" dirty="0">
                <a:solidFill>
                  <a:srgbClr val="FFFFFF"/>
                </a:solidFill>
                <a:latin typeface="Arial" pitchFamily="34" charset="0"/>
                <a:ea typeface="Arial" pitchFamily="34" charset="-122"/>
                <a:cs typeface="Arial" pitchFamily="34" charset="-120"/>
              </a:rPr>
              <a:t>Open Terminal → Claude Code Mode activates</a:t>
            </a:r>
            <a:endParaRPr lang="en-US" sz="825" dirty="0"/>
          </a:p>
        </p:txBody>
      </p:sp>
      <p:sp>
        <p:nvSpPr>
          <p:cNvPr id="24" name="Text 22"/>
          <p:cNvSpPr/>
          <p:nvPr/>
        </p:nvSpPr>
        <p:spPr>
          <a:xfrm>
            <a:off x="971550" y="3969693"/>
            <a:ext cx="2355705" cy="119955"/>
          </a:xfrm>
          <a:prstGeom prst="rect">
            <a:avLst/>
          </a:prstGeom>
          <a:noFill/>
          <a:ln/>
        </p:spPr>
        <p:txBody>
          <a:bodyPr wrap="square" lIns="0" tIns="0" rIns="0" bIns="0" rtlCol="0" anchor="t"/>
          <a:lstStyle/>
          <a:p>
            <a:pPr algn="l" indent="0" marL="0">
              <a:lnSpc>
                <a:spcPts val="945"/>
              </a:lnSpc>
              <a:spcBef>
                <a:spcPts val="150"/>
              </a:spcBef>
              <a:buNone/>
            </a:pPr>
            <a:r>
              <a:rPr lang="en-US" sz="675" dirty="0">
                <a:solidFill>
                  <a:srgbClr val="FFFFFF">
                    <a:alpha val="60000"/>
                  </a:srgbClr>
                </a:solidFill>
                <a:latin typeface="Arial" pitchFamily="34" charset="0"/>
                <a:ea typeface="Arial" pitchFamily="34" charset="-122"/>
                <a:cs typeface="Arial" pitchFamily="34" charset="-120"/>
              </a:rPr>
              <a:t>Dictate: "Add error handling to the auth module"</a:t>
            </a:r>
            <a:endParaRPr lang="en-US" sz="675" dirty="0"/>
          </a:p>
        </p:txBody>
      </p:sp>
      <p:sp>
        <p:nvSpPr>
          <p:cNvPr id="25" name="Text 23"/>
          <p:cNvSpPr/>
          <p:nvPr/>
        </p:nvSpPr>
        <p:spPr>
          <a:xfrm>
            <a:off x="5471220" y="1325017"/>
            <a:ext cx="3357616" cy="159990"/>
          </a:xfrm>
          <a:prstGeom prst="rect">
            <a:avLst/>
          </a:prstGeom>
          <a:noFill/>
          <a:ln/>
        </p:spPr>
        <p:txBody>
          <a:bodyPr wrap="square" lIns="0" tIns="0" rIns="0" bIns="0" rtlCol="0" anchor="t"/>
          <a:lstStyle/>
          <a:p>
            <a:pPr algn="l" indent="0" marL="0">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WHAT TO WATCH FOR</a:t>
            </a:r>
            <a:endParaRPr lang="en-US" sz="900" dirty="0"/>
          </a:p>
        </p:txBody>
      </p:sp>
      <p:sp>
        <p:nvSpPr>
          <p:cNvPr id="26" name="Text 24"/>
          <p:cNvSpPr/>
          <p:nvPr/>
        </p:nvSpPr>
        <p:spPr>
          <a:xfrm>
            <a:off x="5471220" y="1599307"/>
            <a:ext cx="3291780" cy="520005"/>
          </a:xfrm>
          <a:prstGeom prst="rect">
            <a:avLst/>
          </a:prstGeom>
          <a:solidFill>
            <a:srgbClr val="DCFCE7"/>
          </a:solidFill>
          <a:ln/>
        </p:spPr>
        <p:txBody>
          <a:bodyPr wrap="square" rtlCol="0" anchor="ctr"/>
          <a:lstStyle/>
          <a:p>
            <a:pPr indent="0" marL="0">
              <a:buNone/>
            </a:pPr>
            <a:endParaRPr lang="en-US" dirty="0"/>
          </a:p>
        </p:txBody>
      </p:sp>
      <p:sp>
        <p:nvSpPr>
          <p:cNvPr id="27" name="Shape 25"/>
          <p:cNvSpPr/>
          <p:nvPr/>
        </p:nvSpPr>
        <p:spPr>
          <a:xfrm>
            <a:off x="5490270" y="1599307"/>
            <a:ext cx="0" cy="520005"/>
          </a:xfrm>
          <a:prstGeom prst="line">
            <a:avLst/>
          </a:prstGeom>
          <a:noFill/>
          <a:ln w="38100">
            <a:solidFill>
              <a:srgbClr val="059669"/>
            </a:solidFill>
            <a:prstDash val="solid"/>
          </a:ln>
        </p:spPr>
      </p:sp>
      <p:sp>
        <p:nvSpPr>
          <p:cNvPr id="28" name="Text 26"/>
          <p:cNvSpPr/>
          <p:nvPr/>
        </p:nvSpPr>
        <p:spPr>
          <a:xfrm>
            <a:off x="5623620" y="1713607"/>
            <a:ext cx="3085582"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166534"/>
                </a:solidFill>
                <a:latin typeface="Arial" pitchFamily="34" charset="0"/>
                <a:ea typeface="Arial" pitchFamily="34" charset="-122"/>
                <a:cs typeface="Arial" pitchFamily="34" charset="-120"/>
              </a:rPr>
              <a:t>MODE INDICATOR</a:t>
            </a:r>
            <a:endParaRPr lang="en-US" sz="750" dirty="0"/>
          </a:p>
        </p:txBody>
      </p:sp>
      <p:sp>
        <p:nvSpPr>
          <p:cNvPr id="29" name="Text 27"/>
          <p:cNvSpPr/>
          <p:nvPr/>
        </p:nvSpPr>
        <p:spPr>
          <a:xfrm>
            <a:off x="5623620" y="1885057"/>
            <a:ext cx="3085582" cy="119955"/>
          </a:xfrm>
          <a:prstGeom prst="rect">
            <a:avLst/>
          </a:prstGeom>
          <a:noFill/>
          <a:ln/>
        </p:spPr>
        <p:txBody>
          <a:bodyPr wrap="square" lIns="0" tIns="0" rIns="0" bIns="0" rtlCol="0" anchor="t"/>
          <a:lstStyle/>
          <a:p>
            <a:pPr algn="l" indent="0" marL="0">
              <a:lnSpc>
                <a:spcPts val="945"/>
              </a:lnSpc>
              <a:buNone/>
            </a:pPr>
            <a:r>
              <a:rPr lang="en-US" sz="675" dirty="0">
                <a:solidFill>
                  <a:srgbClr val="166534"/>
                </a:solidFill>
                <a:latin typeface="Arial" pitchFamily="34" charset="0"/>
                <a:ea typeface="Arial" pitchFamily="34" charset="-122"/>
                <a:cs typeface="Arial" pitchFamily="34" charset="-120"/>
              </a:rPr>
              <a:t>Watch the menu bar - mode name changes automatically when switching apps.</a:t>
            </a:r>
            <a:endParaRPr lang="en-US" sz="675" dirty="0"/>
          </a:p>
        </p:txBody>
      </p:sp>
      <p:sp>
        <p:nvSpPr>
          <p:cNvPr id="30" name="Text 28"/>
          <p:cNvSpPr/>
          <p:nvPr/>
        </p:nvSpPr>
        <p:spPr>
          <a:xfrm>
            <a:off x="5471220" y="2195513"/>
            <a:ext cx="3291780" cy="520005"/>
          </a:xfrm>
          <a:prstGeom prst="rect">
            <a:avLst/>
          </a:prstGeom>
          <a:solidFill>
            <a:srgbClr val="DBEAFE"/>
          </a:solidFill>
          <a:ln/>
        </p:spPr>
        <p:txBody>
          <a:bodyPr wrap="square" rtlCol="0" anchor="ctr"/>
          <a:lstStyle/>
          <a:p>
            <a:pPr indent="0" marL="0">
              <a:buNone/>
            </a:pPr>
            <a:endParaRPr lang="en-US" dirty="0"/>
          </a:p>
        </p:txBody>
      </p:sp>
      <p:sp>
        <p:nvSpPr>
          <p:cNvPr id="31" name="Shape 29"/>
          <p:cNvSpPr/>
          <p:nvPr/>
        </p:nvSpPr>
        <p:spPr>
          <a:xfrm>
            <a:off x="5490270" y="2195513"/>
            <a:ext cx="0" cy="520005"/>
          </a:xfrm>
          <a:prstGeom prst="line">
            <a:avLst/>
          </a:prstGeom>
          <a:noFill/>
          <a:ln w="38100">
            <a:solidFill>
              <a:srgbClr val="3B82F6"/>
            </a:solidFill>
            <a:prstDash val="solid"/>
          </a:ln>
        </p:spPr>
      </p:sp>
      <p:sp>
        <p:nvSpPr>
          <p:cNvPr id="32" name="Text 30"/>
          <p:cNvSpPr/>
          <p:nvPr/>
        </p:nvSpPr>
        <p:spPr>
          <a:xfrm>
            <a:off x="5623620" y="2309813"/>
            <a:ext cx="3085582"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1E40AF"/>
                </a:solidFill>
                <a:latin typeface="Arial" pitchFamily="34" charset="0"/>
                <a:ea typeface="Arial" pitchFamily="34" charset="-122"/>
                <a:cs typeface="Arial" pitchFamily="34" charset="-120"/>
              </a:rPr>
              <a:t>OUTPUT FORMAT</a:t>
            </a:r>
            <a:endParaRPr lang="en-US" sz="750" dirty="0"/>
          </a:p>
        </p:txBody>
      </p:sp>
      <p:sp>
        <p:nvSpPr>
          <p:cNvPr id="33" name="Text 31"/>
          <p:cNvSpPr/>
          <p:nvPr/>
        </p:nvSpPr>
        <p:spPr>
          <a:xfrm>
            <a:off x="5623620" y="2481263"/>
            <a:ext cx="3085582" cy="119955"/>
          </a:xfrm>
          <a:prstGeom prst="rect">
            <a:avLst/>
          </a:prstGeom>
          <a:noFill/>
          <a:ln/>
        </p:spPr>
        <p:txBody>
          <a:bodyPr wrap="square" lIns="0" tIns="0" rIns="0" bIns="0" rtlCol="0" anchor="t"/>
          <a:lstStyle/>
          <a:p>
            <a:pPr algn="l" indent="0" marL="0">
              <a:lnSpc>
                <a:spcPts val="945"/>
              </a:lnSpc>
              <a:buNone/>
            </a:pPr>
            <a:r>
              <a:rPr lang="en-US" sz="675" dirty="0">
                <a:solidFill>
                  <a:srgbClr val="1E40AF"/>
                </a:solidFill>
                <a:latin typeface="Arial" pitchFamily="34" charset="0"/>
                <a:ea typeface="Arial" pitchFamily="34" charset="-122"/>
                <a:cs typeface="Arial" pitchFamily="34" charset="-120"/>
              </a:rPr>
              <a:t>Same spoken input produces different formatted output based on context.</a:t>
            </a:r>
            <a:endParaRPr lang="en-US" sz="675" dirty="0"/>
          </a:p>
        </p:txBody>
      </p:sp>
      <p:sp>
        <p:nvSpPr>
          <p:cNvPr id="34" name="Text 32"/>
          <p:cNvSpPr/>
          <p:nvPr/>
        </p:nvSpPr>
        <p:spPr>
          <a:xfrm>
            <a:off x="5471220" y="2791718"/>
            <a:ext cx="3291780" cy="520005"/>
          </a:xfrm>
          <a:prstGeom prst="rect">
            <a:avLst/>
          </a:prstGeom>
          <a:solidFill>
            <a:srgbClr val="FEF3C7"/>
          </a:solidFill>
          <a:ln/>
        </p:spPr>
        <p:txBody>
          <a:bodyPr wrap="square" rtlCol="0" anchor="ctr"/>
          <a:lstStyle/>
          <a:p>
            <a:pPr indent="0" marL="0">
              <a:buNone/>
            </a:pPr>
            <a:endParaRPr lang="en-US" dirty="0"/>
          </a:p>
        </p:txBody>
      </p:sp>
      <p:sp>
        <p:nvSpPr>
          <p:cNvPr id="35" name="Shape 33"/>
          <p:cNvSpPr/>
          <p:nvPr/>
        </p:nvSpPr>
        <p:spPr>
          <a:xfrm>
            <a:off x="5490270" y="2791718"/>
            <a:ext cx="0" cy="520005"/>
          </a:xfrm>
          <a:prstGeom prst="line">
            <a:avLst/>
          </a:prstGeom>
          <a:noFill/>
          <a:ln w="38100">
            <a:solidFill>
              <a:srgbClr val="F59E0B"/>
            </a:solidFill>
            <a:prstDash val="solid"/>
          </a:ln>
        </p:spPr>
      </p:sp>
      <p:sp>
        <p:nvSpPr>
          <p:cNvPr id="36" name="Text 34"/>
          <p:cNvSpPr/>
          <p:nvPr/>
        </p:nvSpPr>
        <p:spPr>
          <a:xfrm>
            <a:off x="5623620" y="2906018"/>
            <a:ext cx="3085582"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92400E"/>
                </a:solidFill>
                <a:latin typeface="Arial" pitchFamily="34" charset="0"/>
                <a:ea typeface="Arial" pitchFamily="34" charset="-122"/>
                <a:cs typeface="Arial" pitchFamily="34" charset="-120"/>
              </a:rPr>
              <a:t>PROCESSING SPEED</a:t>
            </a:r>
            <a:endParaRPr lang="en-US" sz="750" dirty="0"/>
          </a:p>
        </p:txBody>
      </p:sp>
      <p:sp>
        <p:nvSpPr>
          <p:cNvPr id="37" name="Text 35"/>
          <p:cNvSpPr/>
          <p:nvPr/>
        </p:nvSpPr>
        <p:spPr>
          <a:xfrm>
            <a:off x="5623620" y="3077468"/>
            <a:ext cx="3085582" cy="119955"/>
          </a:xfrm>
          <a:prstGeom prst="rect">
            <a:avLst/>
          </a:prstGeom>
          <a:noFill/>
          <a:ln/>
        </p:spPr>
        <p:txBody>
          <a:bodyPr wrap="square" lIns="0" tIns="0" rIns="0" bIns="0" rtlCol="0" anchor="t"/>
          <a:lstStyle/>
          <a:p>
            <a:pPr algn="l" indent="0" marL="0">
              <a:lnSpc>
                <a:spcPts val="945"/>
              </a:lnSpc>
              <a:buNone/>
            </a:pPr>
            <a:r>
              <a:rPr lang="en-US" sz="675" dirty="0">
                <a:solidFill>
                  <a:srgbClr val="92400E"/>
                </a:solidFill>
                <a:latin typeface="Arial" pitchFamily="34" charset="0"/>
                <a:ea typeface="Arial" pitchFamily="34" charset="-122"/>
                <a:cs typeface="Arial" pitchFamily="34" charset="-120"/>
              </a:rPr>
              <a:t>Local models: instant processing. No network delay.</a:t>
            </a:r>
            <a:endParaRPr lang="en-US" sz="675" dirty="0"/>
          </a:p>
        </p:txBody>
      </p:sp>
      <p:sp>
        <p:nvSpPr>
          <p:cNvPr id="38" name="Text 36"/>
          <p:cNvSpPr/>
          <p:nvPr/>
        </p:nvSpPr>
        <p:spPr>
          <a:xfrm>
            <a:off x="5471220" y="3387923"/>
            <a:ext cx="3291780" cy="520005"/>
          </a:xfrm>
          <a:prstGeom prst="rect">
            <a:avLst/>
          </a:prstGeom>
          <a:solidFill>
            <a:srgbClr val="EDE9FE"/>
          </a:solidFill>
          <a:ln/>
        </p:spPr>
        <p:txBody>
          <a:bodyPr wrap="square" rtlCol="0" anchor="ctr"/>
          <a:lstStyle/>
          <a:p>
            <a:pPr indent="0" marL="0">
              <a:buNone/>
            </a:pPr>
            <a:endParaRPr lang="en-US" dirty="0"/>
          </a:p>
        </p:txBody>
      </p:sp>
      <p:sp>
        <p:nvSpPr>
          <p:cNvPr id="39" name="Shape 37"/>
          <p:cNvSpPr/>
          <p:nvPr/>
        </p:nvSpPr>
        <p:spPr>
          <a:xfrm>
            <a:off x="5490270" y="3387923"/>
            <a:ext cx="0" cy="520005"/>
          </a:xfrm>
          <a:prstGeom prst="line">
            <a:avLst/>
          </a:prstGeom>
          <a:noFill/>
          <a:ln w="38100">
            <a:solidFill>
              <a:srgbClr val="8B5CF6"/>
            </a:solidFill>
            <a:prstDash val="solid"/>
          </a:ln>
        </p:spPr>
      </p:sp>
      <p:sp>
        <p:nvSpPr>
          <p:cNvPr id="40" name="Text 38"/>
          <p:cNvSpPr/>
          <p:nvPr/>
        </p:nvSpPr>
        <p:spPr>
          <a:xfrm>
            <a:off x="5623620" y="3502223"/>
            <a:ext cx="3085582"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5B21B6"/>
                </a:solidFill>
                <a:latin typeface="Arial" pitchFamily="34" charset="0"/>
                <a:ea typeface="Arial" pitchFamily="34" charset="-122"/>
                <a:cs typeface="Arial" pitchFamily="34" charset="-120"/>
              </a:rPr>
              <a:t>NATURAL SPEECH</a:t>
            </a:r>
            <a:endParaRPr lang="en-US" sz="750" dirty="0"/>
          </a:p>
        </p:txBody>
      </p:sp>
      <p:sp>
        <p:nvSpPr>
          <p:cNvPr id="41" name="Text 39"/>
          <p:cNvSpPr/>
          <p:nvPr/>
        </p:nvSpPr>
        <p:spPr>
          <a:xfrm>
            <a:off x="5623620" y="3673673"/>
            <a:ext cx="3085582" cy="119955"/>
          </a:xfrm>
          <a:prstGeom prst="rect">
            <a:avLst/>
          </a:prstGeom>
          <a:noFill/>
          <a:ln/>
        </p:spPr>
        <p:txBody>
          <a:bodyPr wrap="square" lIns="0" tIns="0" rIns="0" bIns="0" rtlCol="0" anchor="t"/>
          <a:lstStyle/>
          <a:p>
            <a:pPr algn="l" indent="0" marL="0">
              <a:lnSpc>
                <a:spcPts val="945"/>
              </a:lnSpc>
              <a:buNone/>
            </a:pPr>
            <a:r>
              <a:rPr lang="en-US" sz="675" dirty="0">
                <a:solidFill>
                  <a:srgbClr val="5B21B6"/>
                </a:solidFill>
                <a:latin typeface="Arial" pitchFamily="34" charset="0"/>
                <a:ea typeface="Arial" pitchFamily="34" charset="-122"/>
                <a:cs typeface="Arial" pitchFamily="34" charset="-120"/>
              </a:rPr>
              <a:t>No special commands needed - just speak naturally.</a:t>
            </a:r>
            <a:endParaRPr lang="en-US" sz="675" dirty="0"/>
          </a:p>
        </p:txBody>
      </p:sp>
      <p:sp>
        <p:nvSpPr>
          <p:cNvPr id="42" name="Text 40"/>
          <p:cNvSpPr/>
          <p:nvPr/>
        </p:nvSpPr>
        <p:spPr>
          <a:xfrm>
            <a:off x="5471220" y="3984129"/>
            <a:ext cx="3291780" cy="539055"/>
          </a:xfrm>
          <a:prstGeom prst="rect">
            <a:avLst/>
          </a:prstGeom>
          <a:solidFill>
            <a:srgbClr val="FFFFFF"/>
          </a:solidFill>
          <a:ln w="9525">
            <a:solidFill>
              <a:srgbClr val="C9A227"/>
            </a:solidFill>
          </a:ln>
        </p:spPr>
        <p:txBody>
          <a:bodyPr wrap="square" rtlCol="0" anchor="ctr"/>
          <a:lstStyle/>
          <a:p>
            <a:pPr indent="0" marL="0">
              <a:buNone/>
            </a:pPr>
            <a:endParaRPr lang="en-US" dirty="0"/>
          </a:p>
        </p:txBody>
      </p:sp>
      <p:sp>
        <p:nvSpPr>
          <p:cNvPr id="43" name="Text 41"/>
          <p:cNvSpPr/>
          <p:nvPr/>
        </p:nvSpPr>
        <p:spPr>
          <a:xfrm>
            <a:off x="5595045" y="4107954"/>
            <a:ext cx="3105013"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1A1F2E"/>
                </a:solidFill>
                <a:latin typeface="Arial" pitchFamily="34" charset="0"/>
                <a:ea typeface="Arial" pitchFamily="34" charset="-122"/>
                <a:cs typeface="Arial" pitchFamily="34" charset="-120"/>
              </a:rPr>
              <a:t>QUESTIONS?</a:t>
            </a:r>
            <a:endParaRPr lang="en-US" sz="750" dirty="0"/>
          </a:p>
        </p:txBody>
      </p:sp>
      <p:sp>
        <p:nvSpPr>
          <p:cNvPr id="44" name="Text 42"/>
          <p:cNvSpPr/>
          <p:nvPr/>
        </p:nvSpPr>
        <p:spPr>
          <a:xfrm>
            <a:off x="5595045" y="4279404"/>
            <a:ext cx="3105013" cy="119955"/>
          </a:xfrm>
          <a:prstGeom prst="rect">
            <a:avLst/>
          </a:prstGeom>
          <a:noFill/>
          <a:ln/>
        </p:spPr>
        <p:txBody>
          <a:bodyPr wrap="square" lIns="0" tIns="0" rIns="0" bIns="0" rtlCol="0" anchor="t"/>
          <a:lstStyle/>
          <a:p>
            <a:pPr algn="l" indent="0" marL="0">
              <a:lnSpc>
                <a:spcPts val="945"/>
              </a:lnSpc>
              <a:buNone/>
            </a:pPr>
            <a:r>
              <a:rPr lang="en-US" sz="675" dirty="0">
                <a:solidFill>
                  <a:srgbClr val="6B7280"/>
                </a:solidFill>
                <a:latin typeface="Arial" pitchFamily="34" charset="0"/>
                <a:ea typeface="Arial" pitchFamily="34" charset="-122"/>
                <a:cs typeface="Arial" pitchFamily="34" charset="-120"/>
              </a:rPr>
              <a:t>Stop me anytime during the demo if you want to see something specific.</a:t>
            </a:r>
            <a:endParaRPr lang="en-US" sz="675"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4496544" cy="5143500"/>
          </a:xfrm>
          <a:prstGeom prst="rect">
            <a:avLst/>
          </a:prstGeom>
          <a:solidFill>
            <a:srgbClr val="1A1F2E"/>
          </a:solidFill>
          <a:ln/>
        </p:spPr>
        <p:txBody>
          <a:bodyPr wrap="square" rtlCol="0" anchor="ctr"/>
          <a:lstStyle/>
          <a:p>
            <a:pPr indent="0" marL="0">
              <a:buNone/>
            </a:pPr>
            <a:endParaRPr lang="en-US" dirty="0"/>
          </a:p>
        </p:txBody>
      </p:sp>
      <p:sp>
        <p:nvSpPr>
          <p:cNvPr id="3" name="Text 1"/>
          <p:cNvSpPr/>
          <p:nvPr/>
        </p:nvSpPr>
        <p:spPr>
          <a:xfrm>
            <a:off x="381000" y="1395561"/>
            <a:ext cx="3809235" cy="146596"/>
          </a:xfrm>
          <a:prstGeom prst="rect">
            <a:avLst/>
          </a:prstGeom>
          <a:noFill/>
          <a:ln/>
        </p:spPr>
        <p:txBody>
          <a:bodyPr wrap="square" lIns="0" tIns="0" rIns="0" bIns="0" rtlCol="0" anchor="t"/>
          <a:lstStyle/>
          <a:p>
            <a:pPr algn="l" indent="0" marL="0">
              <a:lnSpc>
                <a:spcPts val="1155"/>
              </a:lnSpc>
              <a:spcAft>
                <a:spcPts val="1200"/>
              </a:spcAft>
              <a:buNone/>
            </a:pPr>
            <a:r>
              <a:rPr lang="en-US" sz="825" dirty="0">
                <a:solidFill>
                  <a:srgbClr val="C9A227"/>
                </a:solidFill>
                <a:latin typeface="Arial" pitchFamily="34" charset="0"/>
                <a:ea typeface="Arial" pitchFamily="34" charset="-122"/>
                <a:cs typeface="Arial" pitchFamily="34" charset="-120"/>
              </a:rPr>
              <a:t>WORKSHOP DECISION</a:t>
            </a:r>
            <a:endParaRPr lang="en-US" sz="825" dirty="0"/>
          </a:p>
        </p:txBody>
      </p:sp>
      <p:sp>
        <p:nvSpPr>
          <p:cNvPr id="4" name="Text 2"/>
          <p:cNvSpPr/>
          <p:nvPr/>
        </p:nvSpPr>
        <p:spPr>
          <a:xfrm>
            <a:off x="381000" y="1846957"/>
            <a:ext cx="2691194" cy="731341"/>
          </a:xfrm>
          <a:prstGeom prst="rect">
            <a:avLst/>
          </a:prstGeom>
          <a:noFill/>
          <a:ln/>
        </p:spPr>
        <p:txBody>
          <a:bodyPr wrap="square" lIns="0" tIns="0" rIns="0" bIns="0" rtlCol="0" anchor="t"/>
          <a:lstStyle/>
          <a:p>
            <a:pPr algn="l" indent="0" marL="0">
              <a:lnSpc>
                <a:spcPts val="2880"/>
              </a:lnSpc>
              <a:spcAft>
                <a:spcPts val="1500"/>
              </a:spcAft>
              <a:buNone/>
            </a:pPr>
            <a:r>
              <a:rPr lang="en-US" sz="2400" dirty="0">
                <a:solidFill>
                  <a:srgbClr val="FFFFFF"/>
                </a:solidFill>
                <a:latin typeface="Georgia" pitchFamily="34" charset="0"/>
                <a:ea typeface="Georgia" pitchFamily="34" charset="-122"/>
                <a:cs typeface="Georgia" pitchFamily="34" charset="-120"/>
              </a:rPr>
              <a:t>Why SuperWhisper</a:t>
            </a:r>
            <a:endParaRPr lang="en-US" sz="2400" dirty="0"/>
          </a:p>
          <a:p>
            <a:pPr algn="l" indent="0" marL="0">
              <a:lnSpc>
                <a:spcPts val="2880"/>
              </a:lnSpc>
              <a:spcAft>
                <a:spcPts val="1500"/>
              </a:spcAft>
              <a:buNone/>
            </a:pPr>
            <a:r>
              <a:rPr lang="en-US" sz="2400" dirty="0">
                <a:solidFill>
                  <a:srgbClr val="FFFFFF"/>
                </a:solidFill>
                <a:latin typeface="Georgia" pitchFamily="34" charset="0"/>
                <a:ea typeface="Georgia" pitchFamily="34" charset="-122"/>
                <a:cs typeface="Georgia" pitchFamily="34" charset="-120"/>
              </a:rPr>
              <a:t>for This Workshop</a:t>
            </a:r>
            <a:endParaRPr lang="en-US" sz="2400" dirty="0"/>
          </a:p>
        </p:txBody>
      </p:sp>
      <p:sp>
        <p:nvSpPr>
          <p:cNvPr id="5" name="Text 3"/>
          <p:cNvSpPr/>
          <p:nvPr/>
        </p:nvSpPr>
        <p:spPr>
          <a:xfrm>
            <a:off x="381000" y="2921198"/>
            <a:ext cx="571500" cy="19050"/>
          </a:xfrm>
          <a:prstGeom prst="rect">
            <a:avLst/>
          </a:prstGeom>
          <a:solidFill>
            <a:srgbClr val="C9A227"/>
          </a:solidFill>
          <a:ln/>
        </p:spPr>
        <p:txBody>
          <a:bodyPr wrap="square" rtlCol="0" anchor="ctr"/>
          <a:lstStyle/>
          <a:p>
            <a:pPr indent="0" marL="0">
              <a:buNone/>
            </a:pPr>
            <a:endParaRPr lang="en-US" dirty="0"/>
          </a:p>
        </p:txBody>
      </p:sp>
      <p:sp>
        <p:nvSpPr>
          <p:cNvPr id="6" name="Text 4"/>
          <p:cNvSpPr/>
          <p:nvPr/>
        </p:nvSpPr>
        <p:spPr>
          <a:xfrm>
            <a:off x="381000" y="3321248"/>
            <a:ext cx="3809235" cy="426541"/>
          </a:xfrm>
          <a:prstGeom prst="rect">
            <a:avLst/>
          </a:prstGeom>
          <a:noFill/>
          <a:ln/>
        </p:spPr>
        <p:txBody>
          <a:bodyPr wrap="square" lIns="0" tIns="0" rIns="0" bIns="0" rtlCol="0" anchor="t"/>
          <a:lstStyle/>
          <a:p>
            <a:pPr algn="l" indent="0" marL="0">
              <a:lnSpc>
                <a:spcPts val="1680"/>
              </a:lnSpc>
              <a:buNone/>
            </a:pPr>
            <a:r>
              <a:rPr lang="en-US" sz="1050" dirty="0">
                <a:solidFill>
                  <a:srgbClr val="FFFFFF">
                    <a:alpha val="70000"/>
                  </a:srgbClr>
                </a:solidFill>
                <a:latin typeface="Arial" pitchFamily="34" charset="0"/>
                <a:ea typeface="Arial" pitchFamily="34" charset="-122"/>
                <a:cs typeface="Arial" pitchFamily="34" charset="-120"/>
              </a:rPr>
              <a:t>We're moving forward with SuperWhisper because it offers the privacy controls required for government health work.</a:t>
            </a:r>
            <a:endParaRPr lang="en-US" sz="1050" dirty="0"/>
          </a:p>
        </p:txBody>
      </p:sp>
      <p:sp>
        <p:nvSpPr>
          <p:cNvPr id="7" name="Text 5"/>
          <p:cNvSpPr/>
          <p:nvPr/>
        </p:nvSpPr>
        <p:spPr>
          <a:xfrm>
            <a:off x="4648944" y="0"/>
            <a:ext cx="4495056" cy="5143500"/>
          </a:xfrm>
          <a:prstGeom prst="rect">
            <a:avLst/>
          </a:prstGeom>
          <a:solidFill>
            <a:srgbClr val="F7F8FA"/>
          </a:solidFill>
          <a:ln/>
        </p:spPr>
        <p:txBody>
          <a:bodyPr wrap="square" rtlCol="0" anchor="ctr"/>
          <a:lstStyle/>
          <a:p>
            <a:pPr indent="0" marL="0">
              <a:buNone/>
            </a:pPr>
            <a:endParaRPr lang="en-US" dirty="0"/>
          </a:p>
        </p:txBody>
      </p:sp>
      <p:sp>
        <p:nvSpPr>
          <p:cNvPr id="8" name="Text 6"/>
          <p:cNvSpPr/>
          <p:nvPr/>
        </p:nvSpPr>
        <p:spPr>
          <a:xfrm>
            <a:off x="4991844" y="735657"/>
            <a:ext cx="3809256" cy="630436"/>
          </a:xfrm>
          <a:prstGeom prst="rect">
            <a:avLst/>
          </a:prstGeom>
          <a:solidFill>
            <a:srgbClr val="DCFCE7"/>
          </a:solidFill>
          <a:ln/>
        </p:spPr>
        <p:txBody>
          <a:bodyPr wrap="square" rtlCol="0" anchor="ctr"/>
          <a:lstStyle/>
          <a:p>
            <a:pPr indent="0" marL="0">
              <a:buNone/>
            </a:pPr>
            <a:endParaRPr lang="en-US" dirty="0"/>
          </a:p>
        </p:txBody>
      </p:sp>
      <p:sp>
        <p:nvSpPr>
          <p:cNvPr id="9" name="Shape 7"/>
          <p:cNvSpPr/>
          <p:nvPr/>
        </p:nvSpPr>
        <p:spPr>
          <a:xfrm>
            <a:off x="5010894" y="735657"/>
            <a:ext cx="0" cy="630436"/>
          </a:xfrm>
          <a:prstGeom prst="line">
            <a:avLst/>
          </a:prstGeom>
          <a:noFill/>
          <a:ln w="38100">
            <a:solidFill>
              <a:srgbClr val="059669"/>
            </a:solidFill>
            <a:prstDash val="solid"/>
          </a:ln>
        </p:spPr>
      </p:sp>
      <p:sp>
        <p:nvSpPr>
          <p:cNvPr id="10" name="Text 8"/>
          <p:cNvSpPr/>
          <p:nvPr/>
        </p:nvSpPr>
        <p:spPr>
          <a:xfrm>
            <a:off x="5163294" y="869007"/>
            <a:ext cx="3574545" cy="159990"/>
          </a:xfrm>
          <a:prstGeom prst="rect">
            <a:avLst/>
          </a:prstGeom>
          <a:noFill/>
          <a:ln/>
        </p:spPr>
        <p:txBody>
          <a:bodyPr wrap="square" lIns="0" tIns="0" rIns="0" bIns="0" rtlCol="0" anchor="t"/>
          <a:lstStyle/>
          <a:p>
            <a:pPr algn="l" indent="0" marL="0">
              <a:lnSpc>
                <a:spcPts val="1260"/>
              </a:lnSpc>
              <a:spcAft>
                <a:spcPts val="450"/>
              </a:spcAft>
              <a:buNone/>
            </a:pPr>
            <a:r>
              <a:rPr lang="en-US" sz="900" b="1" dirty="0">
                <a:solidFill>
                  <a:srgbClr val="059669"/>
                </a:solidFill>
                <a:latin typeface="Arial" pitchFamily="34" charset="0"/>
                <a:ea typeface="Arial" pitchFamily="34" charset="-122"/>
                <a:cs typeface="Arial" pitchFamily="34" charset="-120"/>
              </a:rPr>
              <a:t>FREE LOCAL MODELS</a:t>
            </a:r>
            <a:endParaRPr lang="en-US" sz="900" dirty="0"/>
          </a:p>
        </p:txBody>
      </p:sp>
      <p:sp>
        <p:nvSpPr>
          <p:cNvPr id="11" name="Text 9"/>
          <p:cNvSpPr/>
          <p:nvPr/>
        </p:nvSpPr>
        <p:spPr>
          <a:xfrm>
            <a:off x="5163294" y="1086148"/>
            <a:ext cx="3574545" cy="146596"/>
          </a:xfrm>
          <a:prstGeom prst="rect">
            <a:avLst/>
          </a:prstGeom>
          <a:noFill/>
          <a:ln/>
        </p:spPr>
        <p:txBody>
          <a:bodyPr wrap="square" lIns="0" tIns="0" rIns="0" bIns="0" rtlCol="0" anchor="t"/>
          <a:lstStyle/>
          <a:p>
            <a:pPr algn="l" indent="0" marL="0">
              <a:lnSpc>
                <a:spcPts val="1155"/>
              </a:lnSpc>
              <a:buNone/>
            </a:pPr>
            <a:r>
              <a:rPr lang="en-US" sz="825" dirty="0">
                <a:solidFill>
                  <a:srgbClr val="166534"/>
                </a:solidFill>
                <a:latin typeface="Arial" pitchFamily="34" charset="0"/>
                <a:ea typeface="Arial" pitchFamily="34" charset="-122"/>
                <a:cs typeface="Arial" pitchFamily="34" charset="-120"/>
              </a:rPr>
              <a:t>Audio never leaves your device. PHI-safe out of the box with the free tier.</a:t>
            </a:r>
            <a:endParaRPr lang="en-US" sz="825" dirty="0"/>
          </a:p>
        </p:txBody>
      </p:sp>
      <p:sp>
        <p:nvSpPr>
          <p:cNvPr id="12" name="Text 10"/>
          <p:cNvSpPr/>
          <p:nvPr/>
        </p:nvSpPr>
        <p:spPr>
          <a:xfrm>
            <a:off x="4991844" y="1499443"/>
            <a:ext cx="3809256" cy="649486"/>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3" name="Text 11"/>
          <p:cNvSpPr/>
          <p:nvPr/>
        </p:nvSpPr>
        <p:spPr>
          <a:xfrm>
            <a:off x="5134719" y="1642318"/>
            <a:ext cx="3593976" cy="159990"/>
          </a:xfrm>
          <a:prstGeom prst="rect">
            <a:avLst/>
          </a:prstGeom>
          <a:noFill/>
          <a:ln/>
        </p:spPr>
        <p:txBody>
          <a:bodyPr wrap="square" lIns="0" tIns="0" rIns="0" bIns="0" rtlCol="0" anchor="t"/>
          <a:lstStyle/>
          <a:p>
            <a:pPr algn="l" indent="0" marL="0">
              <a:lnSpc>
                <a:spcPts val="1260"/>
              </a:lnSpc>
              <a:spcAft>
                <a:spcPts val="450"/>
              </a:spcAft>
              <a:buNone/>
            </a:pPr>
            <a:r>
              <a:rPr lang="en-US" sz="900" b="1" dirty="0">
                <a:solidFill>
                  <a:srgbClr val="1A1F2E"/>
                </a:solidFill>
                <a:latin typeface="Arial" pitchFamily="34" charset="0"/>
                <a:ea typeface="Arial" pitchFamily="34" charset="-122"/>
                <a:cs typeface="Arial" pitchFamily="34" charset="-120"/>
              </a:rPr>
              <a:t>CROSS-PLATFORM</a:t>
            </a:r>
            <a:endParaRPr lang="en-US" sz="900" dirty="0"/>
          </a:p>
        </p:txBody>
      </p:sp>
      <p:sp>
        <p:nvSpPr>
          <p:cNvPr id="14" name="Text 12"/>
          <p:cNvSpPr/>
          <p:nvPr/>
        </p:nvSpPr>
        <p:spPr>
          <a:xfrm>
            <a:off x="5134719" y="1859459"/>
            <a:ext cx="3593976" cy="146596"/>
          </a:xfrm>
          <a:prstGeom prst="rect">
            <a:avLst/>
          </a:prstGeom>
          <a:noFill/>
          <a:ln/>
        </p:spPr>
        <p:txBody>
          <a:bodyPr wrap="square" lIns="0" tIns="0" rIns="0" bIns="0" rtlCol="0" anchor="t"/>
          <a:lstStyle/>
          <a:p>
            <a:pPr algn="l" indent="0" marL="0">
              <a:lnSpc>
                <a:spcPts val="1155"/>
              </a:lnSpc>
              <a:buNone/>
            </a:pPr>
            <a:r>
              <a:rPr lang="en-US" sz="825" dirty="0">
                <a:solidFill>
                  <a:srgbClr val="6B7280"/>
                </a:solidFill>
                <a:latin typeface="Arial" pitchFamily="34" charset="0"/>
                <a:ea typeface="Arial" pitchFamily="34" charset="-122"/>
                <a:cs typeface="Arial" pitchFamily="34" charset="-120"/>
              </a:rPr>
              <a:t>Works on Mac, Windows, and iOS. Same experience across your devices.</a:t>
            </a:r>
            <a:endParaRPr lang="en-US" sz="825" dirty="0"/>
          </a:p>
        </p:txBody>
      </p:sp>
      <p:sp>
        <p:nvSpPr>
          <p:cNvPr id="15" name="Text 13"/>
          <p:cNvSpPr/>
          <p:nvPr/>
        </p:nvSpPr>
        <p:spPr>
          <a:xfrm>
            <a:off x="4991844" y="2282279"/>
            <a:ext cx="3809256" cy="649486"/>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6" name="Text 14"/>
          <p:cNvSpPr/>
          <p:nvPr/>
        </p:nvSpPr>
        <p:spPr>
          <a:xfrm>
            <a:off x="5134719" y="2425154"/>
            <a:ext cx="3593976" cy="159990"/>
          </a:xfrm>
          <a:prstGeom prst="rect">
            <a:avLst/>
          </a:prstGeom>
          <a:noFill/>
          <a:ln/>
        </p:spPr>
        <p:txBody>
          <a:bodyPr wrap="square" lIns="0" tIns="0" rIns="0" bIns="0" rtlCol="0" anchor="t"/>
          <a:lstStyle/>
          <a:p>
            <a:pPr algn="l" indent="0" marL="0">
              <a:lnSpc>
                <a:spcPts val="1260"/>
              </a:lnSpc>
              <a:spcAft>
                <a:spcPts val="450"/>
              </a:spcAft>
              <a:buNone/>
            </a:pPr>
            <a:r>
              <a:rPr lang="en-US" sz="900" b="1" dirty="0">
                <a:solidFill>
                  <a:srgbClr val="1A1F2E"/>
                </a:solidFill>
                <a:latin typeface="Arial" pitchFamily="34" charset="0"/>
                <a:ea typeface="Arial" pitchFamily="34" charset="-122"/>
                <a:cs typeface="Arial" pitchFamily="34" charset="-120"/>
              </a:rPr>
              <a:t>CUSTOM MODES</a:t>
            </a:r>
            <a:endParaRPr lang="en-US" sz="900" dirty="0"/>
          </a:p>
        </p:txBody>
      </p:sp>
      <p:sp>
        <p:nvSpPr>
          <p:cNvPr id="17" name="Text 15"/>
          <p:cNvSpPr/>
          <p:nvPr/>
        </p:nvSpPr>
        <p:spPr>
          <a:xfrm>
            <a:off x="5134719" y="2642295"/>
            <a:ext cx="3593976" cy="146596"/>
          </a:xfrm>
          <a:prstGeom prst="rect">
            <a:avLst/>
          </a:prstGeom>
          <a:noFill/>
          <a:ln/>
        </p:spPr>
        <p:txBody>
          <a:bodyPr wrap="square" lIns="0" tIns="0" rIns="0" bIns="0" rtlCol="0" anchor="t"/>
          <a:lstStyle/>
          <a:p>
            <a:pPr algn="l" indent="0" marL="0">
              <a:lnSpc>
                <a:spcPts val="1155"/>
              </a:lnSpc>
              <a:buNone/>
            </a:pPr>
            <a:r>
              <a:rPr lang="en-US" sz="825" dirty="0">
                <a:solidFill>
                  <a:srgbClr val="6B7280"/>
                </a:solidFill>
                <a:latin typeface="Arial" pitchFamily="34" charset="0"/>
                <a:ea typeface="Arial" pitchFamily="34" charset="-122"/>
                <a:cs typeface="Arial" pitchFamily="34" charset="-120"/>
              </a:rPr>
              <a:t>3 free custom modes let us build application-specific workflows together.</a:t>
            </a:r>
            <a:endParaRPr lang="en-US" sz="825" dirty="0"/>
          </a:p>
        </p:txBody>
      </p:sp>
      <p:sp>
        <p:nvSpPr>
          <p:cNvPr id="18" name="Text 16"/>
          <p:cNvSpPr/>
          <p:nvPr/>
        </p:nvSpPr>
        <p:spPr>
          <a:xfrm>
            <a:off x="4991844" y="3065115"/>
            <a:ext cx="3809256" cy="649486"/>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9" name="Text 17"/>
          <p:cNvSpPr/>
          <p:nvPr/>
        </p:nvSpPr>
        <p:spPr>
          <a:xfrm>
            <a:off x="5134719" y="3207990"/>
            <a:ext cx="3593976" cy="159990"/>
          </a:xfrm>
          <a:prstGeom prst="rect">
            <a:avLst/>
          </a:prstGeom>
          <a:noFill/>
          <a:ln/>
        </p:spPr>
        <p:txBody>
          <a:bodyPr wrap="square" lIns="0" tIns="0" rIns="0" bIns="0" rtlCol="0" anchor="t"/>
          <a:lstStyle/>
          <a:p>
            <a:pPr algn="l" indent="0" marL="0">
              <a:lnSpc>
                <a:spcPts val="1260"/>
              </a:lnSpc>
              <a:spcAft>
                <a:spcPts val="450"/>
              </a:spcAft>
              <a:buNone/>
            </a:pPr>
            <a:r>
              <a:rPr lang="en-US" sz="900" b="1" dirty="0">
                <a:solidFill>
                  <a:srgbClr val="1A1F2E"/>
                </a:solidFill>
                <a:latin typeface="Arial" pitchFamily="34" charset="0"/>
                <a:ea typeface="Arial" pitchFamily="34" charset="-122"/>
                <a:cs typeface="Arial" pitchFamily="34" charset="-120"/>
              </a:rPr>
              <a:t>AUTO-ACTIVATION</a:t>
            </a:r>
            <a:endParaRPr lang="en-US" sz="900" dirty="0"/>
          </a:p>
        </p:txBody>
      </p:sp>
      <p:sp>
        <p:nvSpPr>
          <p:cNvPr id="20" name="Text 18"/>
          <p:cNvSpPr/>
          <p:nvPr/>
        </p:nvSpPr>
        <p:spPr>
          <a:xfrm>
            <a:off x="5134719" y="3425130"/>
            <a:ext cx="3593976" cy="146596"/>
          </a:xfrm>
          <a:prstGeom prst="rect">
            <a:avLst/>
          </a:prstGeom>
          <a:noFill/>
          <a:ln/>
        </p:spPr>
        <p:txBody>
          <a:bodyPr wrap="square" lIns="0" tIns="0" rIns="0" bIns="0" rtlCol="0" anchor="t"/>
          <a:lstStyle/>
          <a:p>
            <a:pPr algn="l" indent="0" marL="0">
              <a:lnSpc>
                <a:spcPts val="1155"/>
              </a:lnSpc>
              <a:buNone/>
            </a:pPr>
            <a:r>
              <a:rPr lang="en-US" sz="825" dirty="0">
                <a:solidFill>
                  <a:srgbClr val="6B7280"/>
                </a:solidFill>
                <a:latin typeface="Arial" pitchFamily="34" charset="0"/>
                <a:ea typeface="Arial" pitchFamily="34" charset="-122"/>
                <a:cs typeface="Arial" pitchFamily="34" charset="-120"/>
              </a:rPr>
              <a:t>Modes switch automatically based on your active application.</a:t>
            </a:r>
            <a:endParaRPr lang="en-US" sz="825" dirty="0"/>
          </a:p>
        </p:txBody>
      </p:sp>
      <p:sp>
        <p:nvSpPr>
          <p:cNvPr id="21" name="Text 19"/>
          <p:cNvSpPr/>
          <p:nvPr/>
        </p:nvSpPr>
        <p:spPr>
          <a:xfrm>
            <a:off x="4991844" y="3847951"/>
            <a:ext cx="3809256" cy="559891"/>
          </a:xfrm>
          <a:prstGeom prst="rect">
            <a:avLst/>
          </a:prstGeom>
          <a:solidFill>
            <a:srgbClr val="FEF3C7"/>
          </a:solidFill>
          <a:ln/>
        </p:spPr>
        <p:txBody>
          <a:bodyPr wrap="square" rtlCol="0" anchor="ctr"/>
          <a:lstStyle/>
          <a:p>
            <a:pPr indent="0" marL="0">
              <a:buNone/>
            </a:pPr>
            <a:endParaRPr lang="en-US" dirty="0"/>
          </a:p>
        </p:txBody>
      </p:sp>
      <p:sp>
        <p:nvSpPr>
          <p:cNvPr id="22" name="Shape 20"/>
          <p:cNvSpPr/>
          <p:nvPr/>
        </p:nvSpPr>
        <p:spPr>
          <a:xfrm>
            <a:off x="5010894" y="3847951"/>
            <a:ext cx="0" cy="559891"/>
          </a:xfrm>
          <a:prstGeom prst="line">
            <a:avLst/>
          </a:prstGeom>
          <a:noFill/>
          <a:ln w="38100">
            <a:solidFill>
              <a:srgbClr val="F59E0B"/>
            </a:solidFill>
            <a:prstDash val="solid"/>
          </a:ln>
        </p:spPr>
      </p:sp>
      <p:sp>
        <p:nvSpPr>
          <p:cNvPr id="23" name="Text 21"/>
          <p:cNvSpPr/>
          <p:nvPr/>
        </p:nvSpPr>
        <p:spPr>
          <a:xfrm>
            <a:off x="5163294" y="3981301"/>
            <a:ext cx="3574545" cy="293191"/>
          </a:xfrm>
          <a:prstGeom prst="rect">
            <a:avLst/>
          </a:prstGeom>
          <a:noFill/>
          <a:ln/>
        </p:spPr>
        <p:txBody>
          <a:bodyPr wrap="square" lIns="0" tIns="0" rIns="0" bIns="0" rtlCol="0" anchor="t"/>
          <a:lstStyle/>
          <a:p>
            <a:pPr algn="l" indent="0" marL="0">
              <a:lnSpc>
                <a:spcPts val="1155"/>
              </a:lnSpc>
              <a:buNone/>
            </a:pPr>
            <a:r>
              <a:rPr lang="en-US" sz="825" b="1" dirty="0">
                <a:solidFill>
                  <a:srgbClr val="92400E"/>
                </a:solidFill>
                <a:latin typeface="Arial" pitchFamily="34" charset="0"/>
                <a:ea typeface="Arial" pitchFamily="34" charset="-122"/>
                <a:cs typeface="Arial" pitchFamily="34" charset="-120"/>
              </a:rPr>
              <a:t>Wispr Flow</a:t>
            </a:r>
            <a:pPr algn="l" indent="0" marL="0">
              <a:lnSpc>
                <a:spcPts val="1155"/>
              </a:lnSpc>
              <a:buNone/>
            </a:pPr>
            <a:r>
              <a:rPr lang="en-US" sz="825" dirty="0">
                <a:solidFill>
                  <a:srgbClr val="92400E"/>
                </a:solidFill>
                <a:latin typeface="Arial" pitchFamily="34" charset="0"/>
                <a:ea typeface="Arial" pitchFamily="34" charset="-122"/>
                <a:cs typeface="Arial" pitchFamily="34" charset="-120"/>
              </a:rPr>
              <a:t> is excellent for non-sensitive work, but it's cloud-only. For PHI compliance, we need local processing.</a:t>
            </a:r>
            <a:endParaRPr lang="en-US" sz="825"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3598664" cy="5143500"/>
          </a:xfrm>
          <a:prstGeom prst="rect">
            <a:avLst/>
          </a:prstGeom>
          <a:solidFill>
            <a:srgbClr val="1A1F2E"/>
          </a:solidFill>
          <a:ln/>
        </p:spPr>
        <p:txBody>
          <a:bodyPr wrap="square" rtlCol="0" anchor="ctr"/>
          <a:lstStyle/>
          <a:p>
            <a:pPr indent="0" marL="0">
              <a:buNone/>
            </a:pPr>
            <a:endParaRPr lang="en-US" dirty="0"/>
          </a:p>
        </p:txBody>
      </p:sp>
      <p:sp>
        <p:nvSpPr>
          <p:cNvPr id="3" name="Text 1"/>
          <p:cNvSpPr/>
          <p:nvPr/>
        </p:nvSpPr>
        <p:spPr>
          <a:xfrm>
            <a:off x="266700" y="222052"/>
            <a:ext cx="1276350" cy="272355"/>
          </a:xfrm>
          <a:prstGeom prst="rect">
            <a:avLst/>
          </a:prstGeom>
          <a:solidFill>
            <a:srgbClr val="8B5CF6"/>
          </a:solidFill>
          <a:ln/>
        </p:spPr>
        <p:txBody>
          <a:bodyPr wrap="square" rtlCol="0" anchor="ctr"/>
          <a:lstStyle/>
          <a:p>
            <a:pPr indent="0" marL="0">
              <a:buNone/>
            </a:pPr>
            <a:endParaRPr lang="en-US" dirty="0"/>
          </a:p>
        </p:txBody>
      </p:sp>
      <p:sp>
        <p:nvSpPr>
          <p:cNvPr id="4" name="Text 2"/>
          <p:cNvSpPr/>
          <p:nvPr/>
        </p:nvSpPr>
        <p:spPr>
          <a:xfrm>
            <a:off x="381000" y="298252"/>
            <a:ext cx="1068705" cy="119955"/>
          </a:xfrm>
          <a:prstGeom prst="rect">
            <a:avLst/>
          </a:prstGeom>
          <a:noFill/>
          <a:ln/>
        </p:spPr>
        <p:txBody>
          <a:bodyPr wrap="square" lIns="0" tIns="0" rIns="0" bIns="0" rtlCol="0" anchor="t"/>
          <a:lstStyle/>
          <a:p>
            <a:pPr algn="l" indent="0" marL="0">
              <a:lnSpc>
                <a:spcPts val="945"/>
              </a:lnSpc>
              <a:buNone/>
            </a:pPr>
            <a:r>
              <a:rPr lang="en-US" sz="675" b="1" dirty="0">
                <a:solidFill>
                  <a:srgbClr val="FFFFFF"/>
                </a:solidFill>
                <a:latin typeface="Arial" pitchFamily="34" charset="0"/>
                <a:ea typeface="Arial" pitchFamily="34" charset="-122"/>
                <a:cs typeface="Arial" pitchFamily="34" charset="-120"/>
              </a:rPr>
              <a:t>ADVANCED PATTERN</a:t>
            </a:r>
            <a:endParaRPr lang="en-US" sz="675" dirty="0"/>
          </a:p>
        </p:txBody>
      </p:sp>
      <p:sp>
        <p:nvSpPr>
          <p:cNvPr id="5" name="Text 3"/>
          <p:cNvSpPr/>
          <p:nvPr/>
        </p:nvSpPr>
        <p:spPr>
          <a:xfrm>
            <a:off x="266700" y="761107"/>
            <a:ext cx="1700213" cy="548580"/>
          </a:xfrm>
          <a:prstGeom prst="rect">
            <a:avLst/>
          </a:prstGeom>
          <a:noFill/>
          <a:ln/>
        </p:spPr>
        <p:txBody>
          <a:bodyPr wrap="square" lIns="0" tIns="0" rIns="0" bIns="0" rtlCol="0" anchor="t"/>
          <a:lstStyle/>
          <a:p>
            <a:pPr algn="l" indent="0" marL="0">
              <a:lnSpc>
                <a:spcPts val="2160"/>
              </a:lnSpc>
              <a:spcAft>
                <a:spcPts val="900"/>
              </a:spcAft>
              <a:buNone/>
            </a:pPr>
            <a:r>
              <a:rPr lang="en-US" sz="1800" dirty="0">
                <a:solidFill>
                  <a:srgbClr val="FFFFFF"/>
                </a:solidFill>
                <a:latin typeface="Georgia" pitchFamily="34" charset="0"/>
                <a:ea typeface="Georgia" pitchFamily="34" charset="-122"/>
                <a:cs typeface="Georgia" pitchFamily="34" charset="-120"/>
              </a:rPr>
              <a:t>Agentic Handoff</a:t>
            </a:r>
            <a:endParaRPr lang="en-US" sz="1800" dirty="0"/>
          </a:p>
          <a:p>
            <a:pPr algn="l" indent="0" marL="0">
              <a:lnSpc>
                <a:spcPts val="2160"/>
              </a:lnSpc>
              <a:spcAft>
                <a:spcPts val="900"/>
              </a:spcAft>
              <a:buNone/>
            </a:pPr>
            <a:r>
              <a:rPr lang="en-US" sz="1800" dirty="0">
                <a:solidFill>
                  <a:srgbClr val="FFFFFF"/>
                </a:solidFill>
                <a:latin typeface="Georgia" pitchFamily="34" charset="0"/>
                <a:ea typeface="Georgia" pitchFamily="34" charset="-122"/>
                <a:cs typeface="Georgia" pitchFamily="34" charset="-120"/>
              </a:rPr>
              <a:t>Mode</a:t>
            </a:r>
            <a:endParaRPr lang="en-US" sz="1800" dirty="0"/>
          </a:p>
        </p:txBody>
      </p:sp>
      <p:sp>
        <p:nvSpPr>
          <p:cNvPr id="6" name="Text 4"/>
          <p:cNvSpPr/>
          <p:nvPr/>
        </p:nvSpPr>
        <p:spPr>
          <a:xfrm>
            <a:off x="266700" y="1881187"/>
            <a:ext cx="3065264" cy="639961"/>
          </a:xfrm>
          <a:prstGeom prst="rect">
            <a:avLst/>
          </a:prstGeom>
          <a:solidFill>
            <a:srgbClr val="C9A227">
              <a:alpha val="15000"/>
            </a:srgbClr>
          </a:solidFill>
          <a:ln/>
        </p:spPr>
        <p:txBody>
          <a:bodyPr wrap="square" rtlCol="0" anchor="ctr"/>
          <a:lstStyle/>
          <a:p>
            <a:pPr indent="0" marL="0">
              <a:buNone/>
            </a:pPr>
            <a:endParaRPr lang="en-US" dirty="0"/>
          </a:p>
        </p:txBody>
      </p:sp>
      <p:sp>
        <p:nvSpPr>
          <p:cNvPr id="7" name="Shape 5"/>
          <p:cNvSpPr/>
          <p:nvPr/>
        </p:nvSpPr>
        <p:spPr>
          <a:xfrm>
            <a:off x="280988" y="1881187"/>
            <a:ext cx="0" cy="639961"/>
          </a:xfrm>
          <a:prstGeom prst="line">
            <a:avLst/>
          </a:prstGeom>
          <a:noFill/>
          <a:ln w="28575">
            <a:solidFill>
              <a:srgbClr val="C9A227"/>
            </a:solidFill>
            <a:prstDash val="solid"/>
          </a:ln>
        </p:spPr>
      </p:sp>
      <p:sp>
        <p:nvSpPr>
          <p:cNvPr id="8" name="Text 6"/>
          <p:cNvSpPr/>
          <p:nvPr/>
        </p:nvSpPr>
        <p:spPr>
          <a:xfrm>
            <a:off x="409575" y="1995487"/>
            <a:ext cx="2864251"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C9A227"/>
                </a:solidFill>
                <a:latin typeface="Arial" pitchFamily="34" charset="0"/>
                <a:ea typeface="Arial" pitchFamily="34" charset="-122"/>
                <a:cs typeface="Arial" pitchFamily="34" charset="-120"/>
              </a:rPr>
              <a:t>USE CASE</a:t>
            </a:r>
            <a:endParaRPr lang="en-US" sz="750" dirty="0"/>
          </a:p>
        </p:txBody>
      </p:sp>
      <p:sp>
        <p:nvSpPr>
          <p:cNvPr id="9" name="Text 7"/>
          <p:cNvSpPr/>
          <p:nvPr/>
        </p:nvSpPr>
        <p:spPr>
          <a:xfrm>
            <a:off x="409575" y="2166938"/>
            <a:ext cx="2864251" cy="239911"/>
          </a:xfrm>
          <a:prstGeom prst="rect">
            <a:avLst/>
          </a:prstGeom>
          <a:noFill/>
          <a:ln/>
        </p:spPr>
        <p:txBody>
          <a:bodyPr wrap="square" lIns="0" tIns="0" rIns="0" bIns="0" rtlCol="0" anchor="t"/>
          <a:lstStyle/>
          <a:p>
            <a:pPr algn="l" indent="0" marL="0">
              <a:lnSpc>
                <a:spcPts val="945"/>
              </a:lnSpc>
              <a:buNone/>
            </a:pPr>
            <a:r>
              <a:rPr lang="en-US" sz="675" dirty="0">
                <a:solidFill>
                  <a:srgbClr val="FFFFFF">
                    <a:alpha val="70000"/>
                  </a:srgbClr>
                </a:solidFill>
                <a:latin typeface="Arial" pitchFamily="34" charset="0"/>
                <a:ea typeface="Arial" pitchFamily="34" charset="-122"/>
                <a:cs typeface="Arial" pitchFamily="34" charset="-120"/>
              </a:rPr>
              <a:t>Prepare structured task handoffs for autonomous AI coding agents like Claude Code, Aider, or Cursor Agent.</a:t>
            </a:r>
            <a:endParaRPr lang="en-US" sz="675" dirty="0"/>
          </a:p>
        </p:txBody>
      </p:sp>
      <p:sp>
        <p:nvSpPr>
          <p:cNvPr id="10" name="Text 8"/>
          <p:cNvSpPr/>
          <p:nvPr/>
        </p:nvSpPr>
        <p:spPr>
          <a:xfrm>
            <a:off x="266700" y="2787848"/>
            <a:ext cx="3065264" cy="1062038"/>
          </a:xfrm>
          <a:prstGeom prst="rect">
            <a:avLst/>
          </a:prstGeom>
          <a:solidFill>
            <a:srgbClr val="FFFFFF">
              <a:alpha val="5000"/>
            </a:srgbClr>
          </a:solidFill>
          <a:ln/>
        </p:spPr>
        <p:txBody>
          <a:bodyPr wrap="square" rtlCol="0" anchor="ctr"/>
          <a:lstStyle/>
          <a:p>
            <a:pPr indent="0" marL="0">
              <a:buNone/>
            </a:pPr>
            <a:endParaRPr lang="en-US" dirty="0"/>
          </a:p>
        </p:txBody>
      </p:sp>
      <p:sp>
        <p:nvSpPr>
          <p:cNvPr id="11" name="Text 9"/>
          <p:cNvSpPr/>
          <p:nvPr/>
        </p:nvSpPr>
        <p:spPr>
          <a:xfrm>
            <a:off x="381000" y="2902148"/>
            <a:ext cx="2893397"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THE PATTERN</a:t>
            </a:r>
            <a:endParaRPr lang="en-US" sz="750" dirty="0"/>
          </a:p>
        </p:txBody>
      </p:sp>
      <p:sp>
        <p:nvSpPr>
          <p:cNvPr id="12" name="Text 10"/>
          <p:cNvSpPr/>
          <p:nvPr/>
        </p:nvSpPr>
        <p:spPr>
          <a:xfrm>
            <a:off x="381000" y="3092648"/>
            <a:ext cx="2893397" cy="642938"/>
          </a:xfrm>
          <a:prstGeom prst="rect">
            <a:avLst/>
          </a:prstGeom>
          <a:noFill/>
          <a:ln/>
        </p:spPr>
        <p:txBody>
          <a:bodyPr wrap="square" lIns="0" tIns="0" rIns="0" bIns="0" rtlCol="0" anchor="t"/>
          <a:lstStyle/>
          <a:p>
            <a:pPr algn="l" indent="0" marL="0">
              <a:lnSpc>
                <a:spcPts val="1013"/>
              </a:lnSpc>
              <a:buNone/>
            </a:pPr>
            <a:r>
              <a:rPr lang="en-US" sz="675" dirty="0">
                <a:solidFill>
                  <a:srgbClr val="FFFFFF">
                    <a:alpha val="60000"/>
                  </a:srgbClr>
                </a:solidFill>
                <a:latin typeface="Arial" pitchFamily="34" charset="0"/>
                <a:ea typeface="Arial" pitchFamily="34" charset="-122"/>
                <a:cs typeface="Arial" pitchFamily="34" charset="-120"/>
              </a:rPr>
              <a:t>Raw speech describing a task</a:t>
            </a:r>
            <a:endParaRPr lang="en-US" sz="675" dirty="0"/>
          </a:p>
          <a:p>
            <a:pPr algn="l" indent="0" marL="0">
              <a:lnSpc>
                <a:spcPts val="1013"/>
              </a:lnSpc>
              <a:buNone/>
            </a:pPr>
            <a:r>
              <a:rPr lang="en-US" sz="675" dirty="0">
                <a:solidFill>
                  <a:srgbClr val="FFFFFF">
                    <a:alpha val="60000"/>
                  </a:srgbClr>
                </a:solidFill>
                <a:latin typeface="Arial" pitchFamily="34" charset="0"/>
                <a:ea typeface="Arial" pitchFamily="34" charset="-122"/>
                <a:cs typeface="Arial" pitchFamily="34" charset="-120"/>
              </a:rPr>
              <a:t> ↓</a:t>
            </a:r>
            <a:endParaRPr lang="en-US" sz="675" dirty="0"/>
          </a:p>
          <a:p>
            <a:pPr algn="l" indent="0" marL="0">
              <a:lnSpc>
                <a:spcPts val="1013"/>
              </a:lnSpc>
              <a:buNone/>
            </a:pPr>
            <a:r>
              <a:rPr lang="en-US" sz="675" dirty="0">
                <a:solidFill>
                  <a:srgbClr val="FFFFFF">
                    <a:alpha val="60000"/>
                  </a:srgbClr>
                </a:solidFill>
                <a:latin typeface="Arial" pitchFamily="34" charset="0"/>
                <a:ea typeface="Arial" pitchFamily="34" charset="-122"/>
                <a:cs typeface="Arial" pitchFamily="34" charset="-120"/>
              </a:rPr>
              <a:t> Structured task specification</a:t>
            </a:r>
            <a:endParaRPr lang="en-US" sz="675" dirty="0"/>
          </a:p>
          <a:p>
            <a:pPr algn="l" indent="0" marL="0">
              <a:lnSpc>
                <a:spcPts val="1013"/>
              </a:lnSpc>
              <a:buNone/>
            </a:pPr>
            <a:r>
              <a:rPr lang="en-US" sz="675" dirty="0">
                <a:solidFill>
                  <a:srgbClr val="FFFFFF">
                    <a:alpha val="60000"/>
                  </a:srgbClr>
                </a:solidFill>
                <a:latin typeface="Arial" pitchFamily="34" charset="0"/>
                <a:ea typeface="Arial" pitchFamily="34" charset="-122"/>
                <a:cs typeface="Arial" pitchFamily="34" charset="-120"/>
              </a:rPr>
              <a:t> ↓</a:t>
            </a:r>
            <a:endParaRPr lang="en-US" sz="675" dirty="0"/>
          </a:p>
          <a:p>
            <a:pPr algn="l" indent="0" marL="0">
              <a:lnSpc>
                <a:spcPts val="1013"/>
              </a:lnSpc>
              <a:buNone/>
            </a:pPr>
            <a:r>
              <a:rPr lang="en-US" sz="675" dirty="0">
                <a:solidFill>
                  <a:srgbClr val="FFFFFF">
                    <a:alpha val="60000"/>
                  </a:srgbClr>
                </a:solidFill>
                <a:latin typeface="Arial" pitchFamily="34" charset="0"/>
                <a:ea typeface="Arial" pitchFamily="34" charset="-122"/>
                <a:cs typeface="Arial" pitchFamily="34" charset="-120"/>
              </a:rPr>
              <a:t> AI agent executes autonomously</a:t>
            </a:r>
            <a:endParaRPr lang="en-US" sz="675" dirty="0"/>
          </a:p>
        </p:txBody>
      </p:sp>
      <p:sp>
        <p:nvSpPr>
          <p:cNvPr id="13" name="Text 11"/>
          <p:cNvSpPr/>
          <p:nvPr/>
        </p:nvSpPr>
        <p:spPr>
          <a:xfrm>
            <a:off x="266700" y="4116586"/>
            <a:ext cx="3065264" cy="804863"/>
          </a:xfrm>
          <a:prstGeom prst="rect">
            <a:avLst/>
          </a:prstGeom>
          <a:solidFill>
            <a:srgbClr val="FFFFFF">
              <a:alpha val="5000"/>
            </a:srgbClr>
          </a:solidFill>
          <a:ln/>
        </p:spPr>
        <p:txBody>
          <a:bodyPr wrap="square" rtlCol="0" anchor="ctr"/>
          <a:lstStyle/>
          <a:p>
            <a:pPr indent="0" marL="0">
              <a:buNone/>
            </a:pPr>
            <a:endParaRPr lang="en-US" dirty="0"/>
          </a:p>
        </p:txBody>
      </p:sp>
      <p:sp>
        <p:nvSpPr>
          <p:cNvPr id="14" name="Text 12"/>
          <p:cNvSpPr/>
          <p:nvPr/>
        </p:nvSpPr>
        <p:spPr>
          <a:xfrm>
            <a:off x="381000" y="4230886"/>
            <a:ext cx="2893397"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CONTEXT SETTINGS</a:t>
            </a:r>
            <a:endParaRPr lang="en-US" sz="750" dirty="0"/>
          </a:p>
        </p:txBody>
      </p:sp>
      <p:sp>
        <p:nvSpPr>
          <p:cNvPr id="15" name="Text 13"/>
          <p:cNvSpPr/>
          <p:nvPr/>
        </p:nvSpPr>
        <p:spPr>
          <a:xfrm>
            <a:off x="381000" y="4421386"/>
            <a:ext cx="2893397" cy="385763"/>
          </a:xfrm>
          <a:prstGeom prst="rect">
            <a:avLst/>
          </a:prstGeom>
          <a:noFill/>
          <a:ln/>
        </p:spPr>
        <p:txBody>
          <a:bodyPr wrap="square" lIns="0" tIns="0" rIns="0" bIns="0" rtlCol="0" anchor="t"/>
          <a:lstStyle/>
          <a:p>
            <a:pPr algn="l" indent="0" marL="0">
              <a:lnSpc>
                <a:spcPts val="1013"/>
              </a:lnSpc>
              <a:buNone/>
            </a:pPr>
            <a:r>
              <a:rPr lang="en-US" sz="675" dirty="0">
                <a:solidFill>
                  <a:srgbClr val="FFFFFF">
                    <a:alpha val="60000"/>
                  </a:srgbClr>
                </a:solidFill>
                <a:latin typeface="Arial" pitchFamily="34" charset="0"/>
                <a:ea typeface="Arial" pitchFamily="34" charset="-122"/>
                <a:cs typeface="Arial" pitchFamily="34" charset="-120"/>
              </a:rPr>
              <a:t>✓ Application Context</a:t>
            </a:r>
            <a:endParaRPr lang="en-US" sz="675" dirty="0"/>
          </a:p>
          <a:p>
            <a:pPr algn="l" indent="0" marL="0">
              <a:lnSpc>
                <a:spcPts val="1013"/>
              </a:lnSpc>
              <a:buNone/>
            </a:pPr>
            <a:r>
              <a:rPr lang="en-US" sz="675" dirty="0">
                <a:solidFill>
                  <a:srgbClr val="FFFFFF">
                    <a:alpha val="60000"/>
                  </a:srgbClr>
                </a:solidFill>
                <a:latin typeface="Arial" pitchFamily="34" charset="0"/>
                <a:ea typeface="Arial" pitchFamily="34" charset="-122"/>
                <a:cs typeface="Arial" pitchFamily="34" charset="-120"/>
              </a:rPr>
              <a:t> ✓ Selected Text (file/code context)</a:t>
            </a:r>
            <a:endParaRPr lang="en-US" sz="675" dirty="0"/>
          </a:p>
          <a:p>
            <a:pPr algn="l" indent="0" marL="0">
              <a:lnSpc>
                <a:spcPts val="1013"/>
              </a:lnSpc>
              <a:buNone/>
            </a:pPr>
            <a:r>
              <a:rPr lang="en-US" sz="675" dirty="0">
                <a:solidFill>
                  <a:srgbClr val="FFFFFF">
                    <a:alpha val="60000"/>
                  </a:srgbClr>
                </a:solidFill>
                <a:latin typeface="Arial" pitchFamily="34" charset="0"/>
                <a:ea typeface="Arial" pitchFamily="34" charset="-122"/>
                <a:cs typeface="Arial" pitchFamily="34" charset="-120"/>
              </a:rPr>
              <a:t> ✓ Clipboard (errors, references)</a:t>
            </a:r>
            <a:endParaRPr lang="en-US" sz="675" dirty="0"/>
          </a:p>
        </p:txBody>
      </p:sp>
      <p:sp>
        <p:nvSpPr>
          <p:cNvPr id="16" name="Text 14"/>
          <p:cNvSpPr/>
          <p:nvPr/>
        </p:nvSpPr>
        <p:spPr>
          <a:xfrm>
            <a:off x="3751064" y="0"/>
            <a:ext cx="5392936" cy="5143500"/>
          </a:xfrm>
          <a:prstGeom prst="rect">
            <a:avLst/>
          </a:prstGeom>
          <a:solidFill>
            <a:srgbClr val="F7F8FA"/>
          </a:solidFill>
          <a:ln/>
        </p:spPr>
        <p:txBody>
          <a:bodyPr wrap="square" rtlCol="0" anchor="ctr"/>
          <a:lstStyle/>
          <a:p>
            <a:pPr indent="0" marL="0">
              <a:buNone/>
            </a:pPr>
            <a:endParaRPr lang="en-US" dirty="0"/>
          </a:p>
        </p:txBody>
      </p:sp>
      <p:sp>
        <p:nvSpPr>
          <p:cNvPr id="17" name="Text 15"/>
          <p:cNvSpPr/>
          <p:nvPr/>
        </p:nvSpPr>
        <p:spPr>
          <a:xfrm>
            <a:off x="4017764" y="491579"/>
            <a:ext cx="4956727" cy="159990"/>
          </a:xfrm>
          <a:prstGeom prst="rect">
            <a:avLst/>
          </a:prstGeom>
          <a:noFill/>
          <a:ln/>
        </p:spPr>
        <p:txBody>
          <a:bodyPr wrap="square" lIns="0" tIns="0" rIns="0" bIns="0" rtlCol="0" anchor="t"/>
          <a:lstStyle/>
          <a:p>
            <a:pPr algn="l" indent="0" marL="0">
              <a:lnSpc>
                <a:spcPts val="1260"/>
              </a:lnSpc>
              <a:spcAft>
                <a:spcPts val="900"/>
              </a:spcAft>
              <a:buNone/>
            </a:pPr>
            <a:r>
              <a:rPr lang="en-US" sz="900" b="1" dirty="0">
                <a:solidFill>
                  <a:srgbClr val="1A1F2E"/>
                </a:solidFill>
                <a:latin typeface="Arial" pitchFamily="34" charset="0"/>
                <a:ea typeface="Arial" pitchFamily="34" charset="-122"/>
                <a:cs typeface="Arial" pitchFamily="34" charset="-120"/>
              </a:rPr>
              <a:t>SAMPLE AI INSTRUCTIONS</a:t>
            </a:r>
            <a:endParaRPr lang="en-US" sz="900" dirty="0"/>
          </a:p>
        </p:txBody>
      </p:sp>
      <p:sp>
        <p:nvSpPr>
          <p:cNvPr id="18" name="Text 16"/>
          <p:cNvSpPr/>
          <p:nvPr/>
        </p:nvSpPr>
        <p:spPr>
          <a:xfrm>
            <a:off x="4017764" y="918270"/>
            <a:ext cx="4859536" cy="1956792"/>
          </a:xfrm>
          <a:prstGeom prst="rect">
            <a:avLst/>
          </a:prstGeom>
          <a:solidFill>
            <a:srgbClr val="1A1F2E"/>
          </a:solidFill>
          <a:ln/>
        </p:spPr>
        <p:txBody>
          <a:bodyPr wrap="square" rtlCol="0" anchor="ctr"/>
          <a:lstStyle/>
          <a:p>
            <a:pPr indent="0" marL="0">
              <a:buNone/>
            </a:pPr>
            <a:endParaRPr lang="en-US" dirty="0"/>
          </a:p>
        </p:txBody>
      </p:sp>
      <p:sp>
        <p:nvSpPr>
          <p:cNvPr id="19" name="Text 17"/>
          <p:cNvSpPr/>
          <p:nvPr/>
        </p:nvSpPr>
        <p:spPr>
          <a:xfrm>
            <a:off x="4151114" y="1051620"/>
            <a:ext cx="4684693" cy="106561"/>
          </a:xfrm>
          <a:prstGeom prst="rect">
            <a:avLst/>
          </a:prstGeom>
          <a:noFill/>
          <a:ln/>
        </p:spPr>
        <p:txBody>
          <a:bodyPr wrap="square" lIns="0" tIns="0" rIns="0" bIns="0" rtlCol="0" anchor="t"/>
          <a:lstStyle/>
          <a:p>
            <a:pPr algn="l" indent="0" marL="0">
              <a:lnSpc>
                <a:spcPts val="840"/>
              </a:lnSpc>
              <a:spcAft>
                <a:spcPts val="300"/>
              </a:spcAft>
              <a:buNone/>
            </a:pPr>
            <a:r>
              <a:rPr lang="en-US" sz="600" dirty="0">
                <a:solidFill>
                  <a:srgbClr val="C9A227"/>
                </a:solidFill>
                <a:latin typeface="Arial" pitchFamily="34" charset="0"/>
                <a:ea typeface="Arial" pitchFamily="34" charset="-122"/>
                <a:cs typeface="Arial" pitchFamily="34" charset="-120"/>
              </a:rPr>
              <a:t>&lt;role&gt;</a:t>
            </a:r>
            <a:endParaRPr lang="en-US" sz="600" dirty="0"/>
          </a:p>
        </p:txBody>
      </p:sp>
      <p:sp>
        <p:nvSpPr>
          <p:cNvPr id="20" name="Text 18"/>
          <p:cNvSpPr/>
          <p:nvPr/>
        </p:nvSpPr>
        <p:spPr>
          <a:xfrm>
            <a:off x="4151114" y="1196280"/>
            <a:ext cx="4684693" cy="106561"/>
          </a:xfrm>
          <a:prstGeom prst="rect">
            <a:avLst/>
          </a:prstGeom>
          <a:noFill/>
          <a:ln/>
        </p:spPr>
        <p:txBody>
          <a:bodyPr wrap="square" lIns="76200" tIns="0" rIns="0" bIns="0" rtlCol="0" anchor="t"/>
          <a:lstStyle/>
          <a:p>
            <a:pPr algn="l" indent="0" marL="0">
              <a:lnSpc>
                <a:spcPts val="840"/>
              </a:lnSpc>
              <a:spcAft>
                <a:spcPts val="300"/>
              </a:spcAft>
              <a:buNone/>
            </a:pPr>
            <a:r>
              <a:rPr lang="en-US" sz="600" dirty="0">
                <a:solidFill>
                  <a:srgbClr val="FFFFFF">
                    <a:alpha val="85000"/>
                  </a:srgbClr>
                </a:solidFill>
                <a:latin typeface="Arial" pitchFamily="34" charset="0"/>
                <a:ea typeface="Arial" pitchFamily="34" charset="-122"/>
                <a:cs typeface="Arial" pitchFamily="34" charset="-120"/>
              </a:rPr>
              <a:t>You prepare task specifications for AI coding agents</a:t>
            </a:r>
            <a:endParaRPr lang="en-US" sz="600" dirty="0"/>
          </a:p>
        </p:txBody>
      </p:sp>
      <p:sp>
        <p:nvSpPr>
          <p:cNvPr id="21" name="Text 19"/>
          <p:cNvSpPr/>
          <p:nvPr/>
        </p:nvSpPr>
        <p:spPr>
          <a:xfrm>
            <a:off x="4151114" y="1340941"/>
            <a:ext cx="4684693" cy="106561"/>
          </a:xfrm>
          <a:prstGeom prst="rect">
            <a:avLst/>
          </a:prstGeom>
          <a:noFill/>
          <a:ln/>
        </p:spPr>
        <p:txBody>
          <a:bodyPr wrap="square" lIns="0" tIns="0" rIns="0" bIns="0" rtlCol="0" anchor="t"/>
          <a:lstStyle/>
          <a:p>
            <a:pPr algn="l" indent="0" marL="0">
              <a:lnSpc>
                <a:spcPts val="840"/>
              </a:lnSpc>
              <a:spcAft>
                <a:spcPts val="300"/>
              </a:spcAft>
              <a:buNone/>
            </a:pPr>
            <a:r>
              <a:rPr lang="en-US" sz="600" dirty="0">
                <a:solidFill>
                  <a:srgbClr val="C9A227"/>
                </a:solidFill>
                <a:latin typeface="Arial" pitchFamily="34" charset="0"/>
                <a:ea typeface="Arial" pitchFamily="34" charset="-122"/>
                <a:cs typeface="Arial" pitchFamily="34" charset="-120"/>
              </a:rPr>
              <a:t>&lt;/role&gt;</a:t>
            </a:r>
            <a:endParaRPr lang="en-US" sz="600" dirty="0"/>
          </a:p>
        </p:txBody>
      </p:sp>
      <p:sp>
        <p:nvSpPr>
          <p:cNvPr id="22" name="Text 20"/>
          <p:cNvSpPr/>
          <p:nvPr/>
        </p:nvSpPr>
        <p:spPr>
          <a:xfrm>
            <a:off x="4151114" y="1485602"/>
            <a:ext cx="4684693" cy="106561"/>
          </a:xfrm>
          <a:prstGeom prst="rect">
            <a:avLst/>
          </a:prstGeom>
          <a:noFill/>
          <a:ln/>
        </p:spPr>
        <p:txBody>
          <a:bodyPr wrap="square" lIns="0" tIns="0" rIns="0" bIns="0" rtlCol="0" anchor="t"/>
          <a:lstStyle/>
          <a:p>
            <a:pPr algn="l" indent="0" marL="0">
              <a:lnSpc>
                <a:spcPts val="840"/>
              </a:lnSpc>
              <a:spcAft>
                <a:spcPts val="300"/>
              </a:spcAft>
              <a:buNone/>
            </a:pPr>
            <a:r>
              <a:rPr lang="en-US" sz="600" dirty="0">
                <a:solidFill>
                  <a:srgbClr val="C9A227"/>
                </a:solidFill>
                <a:latin typeface="Arial" pitchFamily="34" charset="0"/>
                <a:ea typeface="Arial" pitchFamily="34" charset="-122"/>
                <a:cs typeface="Arial" pitchFamily="34" charset="-120"/>
              </a:rPr>
              <a:t>&lt;instructions&gt;</a:t>
            </a:r>
            <a:endParaRPr lang="en-US" sz="600" dirty="0"/>
          </a:p>
        </p:txBody>
      </p:sp>
      <p:sp>
        <p:nvSpPr>
          <p:cNvPr id="23" name="Text 21"/>
          <p:cNvSpPr/>
          <p:nvPr/>
        </p:nvSpPr>
        <p:spPr>
          <a:xfrm>
            <a:off x="4151114" y="1630263"/>
            <a:ext cx="4684693" cy="213122"/>
          </a:xfrm>
          <a:prstGeom prst="rect">
            <a:avLst/>
          </a:prstGeom>
          <a:noFill/>
          <a:ln/>
        </p:spPr>
        <p:txBody>
          <a:bodyPr wrap="square" lIns="76200" tIns="0" rIns="0" bIns="0" rtlCol="0" anchor="t"/>
          <a:lstStyle/>
          <a:p>
            <a:pPr algn="l" indent="0" marL="0">
              <a:lnSpc>
                <a:spcPts val="840"/>
              </a:lnSpc>
              <a:spcAft>
                <a:spcPts val="300"/>
              </a:spcAft>
              <a:buNone/>
            </a:pPr>
            <a:r>
              <a:rPr lang="en-US" sz="600" dirty="0">
                <a:solidFill>
                  <a:srgbClr val="FFFFFF">
                    <a:alpha val="85000"/>
                  </a:srgbClr>
                </a:solidFill>
                <a:latin typeface="Arial" pitchFamily="34" charset="0"/>
                <a:ea typeface="Arial" pitchFamily="34" charset="-122"/>
                <a:cs typeface="Arial" pitchFamily="34" charset="-120"/>
              </a:rPr>
              <a:t>Convert the User Message into a structured task.</a:t>
            </a:r>
            <a:endParaRPr lang="en-US" sz="600" dirty="0"/>
          </a:p>
          <a:p>
            <a:pPr algn="l" indent="0" marL="0">
              <a:lnSpc>
                <a:spcPts val="840"/>
              </a:lnSpc>
              <a:spcAft>
                <a:spcPts val="300"/>
              </a:spcAft>
              <a:buNone/>
            </a:pPr>
            <a:r>
              <a:rPr lang="en-US" sz="600" dirty="0">
                <a:solidFill>
                  <a:srgbClr val="FFFFFF">
                    <a:alpha val="85000"/>
                  </a:srgbClr>
                </a:solidFill>
                <a:latin typeface="Arial" pitchFamily="34" charset="0"/>
                <a:ea typeface="Arial" pitchFamily="34" charset="-122"/>
                <a:cs typeface="Arial" pitchFamily="34" charset="-120"/>
              </a:rPr>
              <a:t> Include: objective, scope, constraints, success criteria.</a:t>
            </a:r>
            <a:endParaRPr lang="en-US" sz="600" dirty="0"/>
          </a:p>
        </p:txBody>
      </p:sp>
      <p:sp>
        <p:nvSpPr>
          <p:cNvPr id="24" name="Text 22"/>
          <p:cNvSpPr/>
          <p:nvPr/>
        </p:nvSpPr>
        <p:spPr>
          <a:xfrm>
            <a:off x="4151114" y="1881485"/>
            <a:ext cx="4684693" cy="106561"/>
          </a:xfrm>
          <a:prstGeom prst="rect">
            <a:avLst/>
          </a:prstGeom>
          <a:noFill/>
          <a:ln/>
        </p:spPr>
        <p:txBody>
          <a:bodyPr wrap="square" lIns="0" tIns="0" rIns="0" bIns="0" rtlCol="0" anchor="t"/>
          <a:lstStyle/>
          <a:p>
            <a:pPr algn="l" indent="0" marL="0">
              <a:lnSpc>
                <a:spcPts val="840"/>
              </a:lnSpc>
              <a:spcAft>
                <a:spcPts val="300"/>
              </a:spcAft>
              <a:buNone/>
            </a:pPr>
            <a:r>
              <a:rPr lang="en-US" sz="600" dirty="0">
                <a:solidFill>
                  <a:srgbClr val="C9A227"/>
                </a:solidFill>
                <a:latin typeface="Arial" pitchFamily="34" charset="0"/>
                <a:ea typeface="Arial" pitchFamily="34" charset="-122"/>
                <a:cs typeface="Arial" pitchFamily="34" charset="-120"/>
              </a:rPr>
              <a:t>&lt;/instructions&gt;</a:t>
            </a:r>
            <a:endParaRPr lang="en-US" sz="600" dirty="0"/>
          </a:p>
        </p:txBody>
      </p:sp>
      <p:sp>
        <p:nvSpPr>
          <p:cNvPr id="25" name="Text 23"/>
          <p:cNvSpPr/>
          <p:nvPr/>
        </p:nvSpPr>
        <p:spPr>
          <a:xfrm>
            <a:off x="4151114" y="2026146"/>
            <a:ext cx="4684693" cy="106561"/>
          </a:xfrm>
          <a:prstGeom prst="rect">
            <a:avLst/>
          </a:prstGeom>
          <a:noFill/>
          <a:ln/>
        </p:spPr>
        <p:txBody>
          <a:bodyPr wrap="square" lIns="0" tIns="0" rIns="0" bIns="0" rtlCol="0" anchor="t"/>
          <a:lstStyle/>
          <a:p>
            <a:pPr algn="l" indent="0" marL="0">
              <a:lnSpc>
                <a:spcPts val="840"/>
              </a:lnSpc>
              <a:spcAft>
                <a:spcPts val="300"/>
              </a:spcAft>
              <a:buNone/>
            </a:pPr>
            <a:r>
              <a:rPr lang="en-US" sz="600" dirty="0">
                <a:solidFill>
                  <a:srgbClr val="C9A227"/>
                </a:solidFill>
                <a:latin typeface="Arial" pitchFamily="34" charset="0"/>
                <a:ea typeface="Arial" pitchFamily="34" charset="-122"/>
                <a:cs typeface="Arial" pitchFamily="34" charset="-120"/>
              </a:rPr>
              <a:t>&lt;requirements&gt;</a:t>
            </a:r>
            <a:endParaRPr lang="en-US" sz="600" dirty="0"/>
          </a:p>
        </p:txBody>
      </p:sp>
      <p:sp>
        <p:nvSpPr>
          <p:cNvPr id="26" name="Text 24"/>
          <p:cNvSpPr/>
          <p:nvPr/>
        </p:nvSpPr>
        <p:spPr>
          <a:xfrm>
            <a:off x="4151114" y="2170807"/>
            <a:ext cx="4684693" cy="426244"/>
          </a:xfrm>
          <a:prstGeom prst="rect">
            <a:avLst/>
          </a:prstGeom>
          <a:noFill/>
          <a:ln/>
        </p:spPr>
        <p:txBody>
          <a:bodyPr wrap="square" lIns="76200" tIns="0" rIns="0" bIns="0" rtlCol="0" anchor="t"/>
          <a:lstStyle/>
          <a:p>
            <a:pPr algn="l" indent="0" marL="0">
              <a:lnSpc>
                <a:spcPts val="840"/>
              </a:lnSpc>
              <a:buNone/>
            </a:pPr>
            <a:r>
              <a:rPr lang="en-US" sz="600" dirty="0">
                <a:solidFill>
                  <a:srgbClr val="FFFFFF">
                    <a:alpha val="85000"/>
                  </a:srgbClr>
                </a:solidFill>
                <a:latin typeface="Arial" pitchFamily="34" charset="0"/>
                <a:ea typeface="Arial" pitchFamily="34" charset="-122"/>
                <a:cs typeface="Arial" pitchFamily="34" charset="-120"/>
              </a:rPr>
              <a:t>Clear, actionable objective</a:t>
            </a:r>
            <a:endParaRPr lang="en-US" sz="600" dirty="0"/>
          </a:p>
          <a:p>
            <a:pPr algn="l" indent="0" marL="0">
              <a:lnSpc>
                <a:spcPts val="840"/>
              </a:lnSpc>
              <a:buNone/>
            </a:pPr>
            <a:r>
              <a:rPr lang="en-US" sz="600" dirty="0">
                <a:solidFill>
                  <a:srgbClr val="FFFFFF">
                    <a:alpha val="85000"/>
                  </a:srgbClr>
                </a:solidFill>
                <a:latin typeface="Arial" pitchFamily="34" charset="0"/>
                <a:ea typeface="Arial" pitchFamily="34" charset="-122"/>
                <a:cs typeface="Arial" pitchFamily="34" charset="-120"/>
              </a:rPr>
              <a:t> Reference files from Selected Text if provided</a:t>
            </a:r>
            <a:endParaRPr lang="en-US" sz="600" dirty="0"/>
          </a:p>
          <a:p>
            <a:pPr algn="l" indent="0" marL="0">
              <a:lnSpc>
                <a:spcPts val="840"/>
              </a:lnSpc>
              <a:buNone/>
            </a:pPr>
            <a:r>
              <a:rPr lang="en-US" sz="600" dirty="0">
                <a:solidFill>
                  <a:srgbClr val="FFFFFF">
                    <a:alpha val="85000"/>
                  </a:srgbClr>
                </a:solidFill>
                <a:latin typeface="Arial" pitchFamily="34" charset="0"/>
                <a:ea typeface="Arial" pitchFamily="34" charset="-122"/>
                <a:cs typeface="Arial" pitchFamily="34" charset="-120"/>
              </a:rPr>
              <a:t> Include Clipboard context if relevant</a:t>
            </a:r>
            <a:endParaRPr lang="en-US" sz="600" dirty="0"/>
          </a:p>
          <a:p>
            <a:pPr algn="l" indent="0" marL="0">
              <a:lnSpc>
                <a:spcPts val="840"/>
              </a:lnSpc>
              <a:buNone/>
            </a:pPr>
            <a:r>
              <a:rPr lang="en-US" sz="600" dirty="0">
                <a:solidFill>
                  <a:srgbClr val="FFFFFF">
                    <a:alpha val="85000"/>
                  </a:srgbClr>
                </a:solidFill>
                <a:latin typeface="Arial" pitchFamily="34" charset="0"/>
                <a:ea typeface="Arial" pitchFamily="34" charset="-122"/>
                <a:cs typeface="Arial" pitchFamily="34" charset="-120"/>
              </a:rPr>
              <a:t> Specify what NOT to change if mentioned</a:t>
            </a:r>
            <a:endParaRPr lang="en-US" sz="600" dirty="0"/>
          </a:p>
        </p:txBody>
      </p:sp>
      <p:sp>
        <p:nvSpPr>
          <p:cNvPr id="27" name="Text 25"/>
          <p:cNvSpPr/>
          <p:nvPr/>
        </p:nvSpPr>
        <p:spPr>
          <a:xfrm>
            <a:off x="4151114" y="2635151"/>
            <a:ext cx="4684693" cy="106561"/>
          </a:xfrm>
          <a:prstGeom prst="rect">
            <a:avLst/>
          </a:prstGeom>
          <a:noFill/>
          <a:ln/>
        </p:spPr>
        <p:txBody>
          <a:bodyPr wrap="square" lIns="0" tIns="0" rIns="0" bIns="0" rtlCol="0" anchor="t"/>
          <a:lstStyle/>
          <a:p>
            <a:pPr algn="l" indent="0" marL="0">
              <a:lnSpc>
                <a:spcPts val="840"/>
              </a:lnSpc>
              <a:spcBef>
                <a:spcPts val="300"/>
              </a:spcBef>
              <a:buNone/>
            </a:pPr>
            <a:r>
              <a:rPr lang="en-US" sz="600" dirty="0">
                <a:solidFill>
                  <a:srgbClr val="C9A227"/>
                </a:solidFill>
                <a:latin typeface="Arial" pitchFamily="34" charset="0"/>
                <a:ea typeface="Arial" pitchFamily="34" charset="-122"/>
                <a:cs typeface="Arial" pitchFamily="34" charset="-120"/>
              </a:rPr>
              <a:t>&lt;/requirements&gt;</a:t>
            </a:r>
            <a:endParaRPr lang="en-US" sz="600" dirty="0"/>
          </a:p>
        </p:txBody>
      </p:sp>
      <p:sp>
        <p:nvSpPr>
          <p:cNvPr id="28" name="Text 26"/>
          <p:cNvSpPr/>
          <p:nvPr/>
        </p:nvSpPr>
        <p:spPr>
          <a:xfrm>
            <a:off x="4017764" y="3225552"/>
            <a:ext cx="2396430" cy="590401"/>
          </a:xfrm>
          <a:prstGeom prst="rect">
            <a:avLst/>
          </a:prstGeom>
          <a:solidFill>
            <a:srgbClr val="EDE9FE"/>
          </a:solidFill>
          <a:ln/>
        </p:spPr>
        <p:txBody>
          <a:bodyPr wrap="square" rtlCol="0" anchor="ctr"/>
          <a:lstStyle/>
          <a:p>
            <a:pPr indent="0" marL="0">
              <a:buNone/>
            </a:pPr>
            <a:endParaRPr lang="en-US" dirty="0"/>
          </a:p>
        </p:txBody>
      </p:sp>
      <p:sp>
        <p:nvSpPr>
          <p:cNvPr id="29" name="Shape 27"/>
          <p:cNvSpPr/>
          <p:nvPr/>
        </p:nvSpPr>
        <p:spPr>
          <a:xfrm>
            <a:off x="4032052" y="3225552"/>
            <a:ext cx="0" cy="590401"/>
          </a:xfrm>
          <a:prstGeom prst="line">
            <a:avLst/>
          </a:prstGeom>
          <a:noFill/>
          <a:ln w="28575">
            <a:solidFill>
              <a:srgbClr val="8B5CF6"/>
            </a:solidFill>
            <a:prstDash val="solid"/>
          </a:ln>
        </p:spPr>
      </p:sp>
      <p:sp>
        <p:nvSpPr>
          <p:cNvPr id="30" name="Text 28"/>
          <p:cNvSpPr/>
          <p:nvPr/>
        </p:nvSpPr>
        <p:spPr>
          <a:xfrm>
            <a:off x="4122539" y="3301752"/>
            <a:ext cx="2259765"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5B21B6"/>
                </a:solidFill>
                <a:latin typeface="Arial" pitchFamily="34" charset="0"/>
                <a:ea typeface="Arial" pitchFamily="34" charset="-122"/>
                <a:cs typeface="Arial" pitchFamily="34" charset="-120"/>
              </a:rPr>
              <a:t>RAW SPEECH</a:t>
            </a:r>
            <a:endParaRPr lang="en-US" sz="675" dirty="0"/>
          </a:p>
        </p:txBody>
      </p:sp>
      <p:sp>
        <p:nvSpPr>
          <p:cNvPr id="31" name="Text 29"/>
          <p:cNvSpPr/>
          <p:nvPr/>
        </p:nvSpPr>
        <p:spPr>
          <a:xfrm>
            <a:off x="4122539" y="3459807"/>
            <a:ext cx="2259765" cy="279946"/>
          </a:xfrm>
          <a:prstGeom prst="rect">
            <a:avLst/>
          </a:prstGeom>
          <a:noFill/>
          <a:ln/>
        </p:spPr>
        <p:txBody>
          <a:bodyPr wrap="square" lIns="0" tIns="0" rIns="0" bIns="0" rtlCol="0" anchor="t"/>
          <a:lstStyle/>
          <a:p>
            <a:pPr algn="l" indent="0" marL="0">
              <a:lnSpc>
                <a:spcPts val="735"/>
              </a:lnSpc>
              <a:buNone/>
            </a:pPr>
            <a:r>
              <a:rPr lang="en-US" sz="525" dirty="0">
                <a:solidFill>
                  <a:srgbClr val="5B21B6"/>
                </a:solidFill>
                <a:latin typeface="Arial" pitchFamily="34" charset="0"/>
                <a:ea typeface="Arial" pitchFamily="34" charset="-122"/>
                <a:cs typeface="Arial" pitchFamily="34" charset="-120"/>
              </a:rPr>
              <a:t>"okay so there's a bug in the user dashboard where the charts aren't loading and I think it's something to do with the API call timing and we need to fix it but don't touch the CSS because design just approved that"</a:t>
            </a:r>
            <a:endParaRPr lang="en-US" sz="525" dirty="0"/>
          </a:p>
        </p:txBody>
      </p:sp>
      <p:sp>
        <p:nvSpPr>
          <p:cNvPr id="32" name="Text 30"/>
          <p:cNvSpPr/>
          <p:nvPr/>
        </p:nvSpPr>
        <p:spPr>
          <a:xfrm>
            <a:off x="6490395" y="3122712"/>
            <a:ext cx="2386905" cy="796082"/>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33" name="Text 31"/>
          <p:cNvSpPr/>
          <p:nvPr/>
        </p:nvSpPr>
        <p:spPr>
          <a:xfrm>
            <a:off x="6576120" y="3208437"/>
            <a:ext cx="2259765"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1A1F2E"/>
                </a:solidFill>
                <a:latin typeface="Arial" pitchFamily="34" charset="0"/>
                <a:ea typeface="Arial" pitchFamily="34" charset="-122"/>
                <a:cs typeface="Arial" pitchFamily="34" charset="-120"/>
              </a:rPr>
              <a:t>STRUCTURED HANDOFF</a:t>
            </a:r>
            <a:endParaRPr lang="en-US" sz="675" dirty="0"/>
          </a:p>
        </p:txBody>
      </p:sp>
      <p:sp>
        <p:nvSpPr>
          <p:cNvPr id="34" name="Text 32"/>
          <p:cNvSpPr/>
          <p:nvPr/>
        </p:nvSpPr>
        <p:spPr>
          <a:xfrm>
            <a:off x="6576120" y="3366492"/>
            <a:ext cx="2259765" cy="466576"/>
          </a:xfrm>
          <a:prstGeom prst="rect">
            <a:avLst/>
          </a:prstGeom>
          <a:noFill/>
          <a:ln/>
        </p:spPr>
        <p:txBody>
          <a:bodyPr wrap="square" lIns="0" tIns="0" rIns="0" bIns="0" rtlCol="0" anchor="t"/>
          <a:lstStyle/>
          <a:p>
            <a:pPr algn="l" indent="0" marL="0">
              <a:lnSpc>
                <a:spcPts val="735"/>
              </a:lnSpc>
              <a:buNone/>
            </a:pPr>
            <a:r>
              <a:rPr lang="en-US" sz="525" b="1" dirty="0">
                <a:solidFill>
                  <a:srgbClr val="6B7280"/>
                </a:solidFill>
                <a:latin typeface="Arial" pitchFamily="34" charset="0"/>
                <a:ea typeface="Arial" pitchFamily="34" charset="-122"/>
                <a:cs typeface="Arial" pitchFamily="34" charset="-120"/>
              </a:rPr>
              <a:t>Objective:</a:t>
            </a:r>
            <a:pPr algn="l" indent="0" marL="0">
              <a:lnSpc>
                <a:spcPts val="735"/>
              </a:lnSpc>
              <a:buNone/>
            </a:pPr>
            <a:r>
              <a:rPr lang="en-US" sz="525" dirty="0">
                <a:solidFill>
                  <a:srgbClr val="6B7280"/>
                </a:solidFill>
                <a:latin typeface="Arial" pitchFamily="34" charset="0"/>
                <a:ea typeface="Arial" pitchFamily="34" charset="-122"/>
                <a:cs typeface="Arial" pitchFamily="34" charset="-120"/>
              </a:rPr>
              <a:t> Fix chart loading bug in user dashboard
</a:t>
            </a:r>
            <a:pPr algn="l" indent="0" marL="0">
              <a:lnSpc>
                <a:spcPts val="735"/>
              </a:lnSpc>
              <a:buNone/>
            </a:pPr>
            <a:r>
              <a:rPr lang="en-US" sz="525" b="1" dirty="0">
                <a:solidFill>
                  <a:srgbClr val="6B7280"/>
                </a:solidFill>
                <a:latin typeface="Arial" pitchFamily="34" charset="0"/>
                <a:ea typeface="Arial" pitchFamily="34" charset="-122"/>
                <a:cs typeface="Arial" pitchFamily="34" charset="-120"/>
              </a:rPr>
              <a:t>Likely cause:</a:t>
            </a:r>
            <a:pPr algn="l" indent="0" marL="0">
              <a:lnSpc>
                <a:spcPts val="735"/>
              </a:lnSpc>
              <a:buNone/>
            </a:pPr>
            <a:r>
              <a:rPr lang="en-US" sz="525" dirty="0">
                <a:solidFill>
                  <a:srgbClr val="6B7280"/>
                </a:solidFill>
                <a:latin typeface="Arial" pitchFamily="34" charset="0"/>
                <a:ea typeface="Arial" pitchFamily="34" charset="-122"/>
                <a:cs typeface="Arial" pitchFamily="34" charset="-120"/>
              </a:rPr>
              <a:t> API call timing issue
</a:t>
            </a:r>
            <a:pPr algn="l" indent="0" marL="0">
              <a:lnSpc>
                <a:spcPts val="735"/>
              </a:lnSpc>
              <a:buNone/>
            </a:pPr>
            <a:r>
              <a:rPr lang="en-US" sz="525" b="1" dirty="0">
                <a:solidFill>
                  <a:srgbClr val="6B7280"/>
                </a:solidFill>
                <a:latin typeface="Arial" pitchFamily="34" charset="0"/>
                <a:ea typeface="Arial" pitchFamily="34" charset="-122"/>
                <a:cs typeface="Arial" pitchFamily="34" charset="-120"/>
              </a:rPr>
              <a:t>Scope:</a:t>
            </a:r>
            <a:pPr algn="l" indent="0" marL="0">
              <a:lnSpc>
                <a:spcPts val="735"/>
              </a:lnSpc>
              <a:buNone/>
            </a:pPr>
            <a:r>
              <a:rPr lang="en-US" sz="525" dirty="0">
                <a:solidFill>
                  <a:srgbClr val="6B7280"/>
                </a:solidFill>
                <a:latin typeface="Arial" pitchFamily="34" charset="0"/>
                <a:ea typeface="Arial" pitchFamily="34" charset="-122"/>
                <a:cs typeface="Arial" pitchFamily="34" charset="-120"/>
              </a:rPr>
              <a:t> JS/API logic only
</a:t>
            </a:r>
            <a:pPr algn="l" indent="0" marL="0">
              <a:lnSpc>
                <a:spcPts val="735"/>
              </a:lnSpc>
              <a:buNone/>
            </a:pPr>
            <a:r>
              <a:rPr lang="en-US" sz="525" b="1" dirty="0">
                <a:solidFill>
                  <a:srgbClr val="6B7280"/>
                </a:solidFill>
                <a:latin typeface="Arial" pitchFamily="34" charset="0"/>
                <a:ea typeface="Arial" pitchFamily="34" charset="-122"/>
                <a:cs typeface="Arial" pitchFamily="34" charset="-120"/>
              </a:rPr>
              <a:t>Constraint:</a:t>
            </a:r>
            <a:pPr algn="l" indent="0" marL="0">
              <a:lnSpc>
                <a:spcPts val="735"/>
              </a:lnSpc>
              <a:buNone/>
            </a:pPr>
            <a:r>
              <a:rPr lang="en-US" sz="525" dirty="0">
                <a:solidFill>
                  <a:srgbClr val="6B7280"/>
                </a:solidFill>
                <a:latin typeface="Arial" pitchFamily="34" charset="0"/>
                <a:ea typeface="Arial" pitchFamily="34" charset="-122"/>
                <a:cs typeface="Arial" pitchFamily="34" charset="-120"/>
              </a:rPr>
              <a:t> Do NOT modify CSS
</a:t>
            </a:r>
            <a:pPr algn="l" indent="0" marL="0">
              <a:lnSpc>
                <a:spcPts val="735"/>
              </a:lnSpc>
              <a:buNone/>
            </a:pPr>
            <a:r>
              <a:rPr lang="en-US" sz="525" b="1" dirty="0">
                <a:solidFill>
                  <a:srgbClr val="6B7280"/>
                </a:solidFill>
                <a:latin typeface="Arial" pitchFamily="34" charset="0"/>
                <a:ea typeface="Arial" pitchFamily="34" charset="-122"/>
                <a:cs typeface="Arial" pitchFamily="34" charset="-120"/>
              </a:rPr>
              <a:t>Success:</a:t>
            </a:r>
            <a:pPr algn="l" indent="0" marL="0">
              <a:lnSpc>
                <a:spcPts val="735"/>
              </a:lnSpc>
              <a:buNone/>
            </a:pPr>
            <a:r>
              <a:rPr lang="en-US" sz="525" dirty="0">
                <a:solidFill>
                  <a:srgbClr val="6B7280"/>
                </a:solidFill>
                <a:latin typeface="Arial" pitchFamily="34" charset="0"/>
                <a:ea typeface="Arial" pitchFamily="34" charset="-122"/>
                <a:cs typeface="Arial" pitchFamily="34" charset="-120"/>
              </a:rPr>
              <a:t> Charts load correctly</a:t>
            </a:r>
            <a:endParaRPr lang="en-US" sz="525" dirty="0"/>
          </a:p>
        </p:txBody>
      </p:sp>
      <p:sp>
        <p:nvSpPr>
          <p:cNvPr id="35" name="Text 33"/>
          <p:cNvSpPr/>
          <p:nvPr/>
        </p:nvSpPr>
        <p:spPr>
          <a:xfrm>
            <a:off x="4017764" y="4147393"/>
            <a:ext cx="2391668" cy="504527"/>
          </a:xfrm>
          <a:prstGeom prst="rect">
            <a:avLst/>
          </a:prstGeom>
          <a:solidFill>
            <a:srgbClr val="DCFCE7"/>
          </a:solidFill>
          <a:ln/>
        </p:spPr>
        <p:txBody>
          <a:bodyPr wrap="square" rtlCol="0" anchor="ctr"/>
          <a:lstStyle/>
          <a:p>
            <a:pPr indent="0" marL="0">
              <a:buNone/>
            </a:pPr>
            <a:endParaRPr lang="en-US" dirty="0"/>
          </a:p>
        </p:txBody>
      </p:sp>
      <p:sp>
        <p:nvSpPr>
          <p:cNvPr id="36" name="Shape 34"/>
          <p:cNvSpPr/>
          <p:nvPr/>
        </p:nvSpPr>
        <p:spPr>
          <a:xfrm>
            <a:off x="4032052" y="4147393"/>
            <a:ext cx="0" cy="504527"/>
          </a:xfrm>
          <a:prstGeom prst="line">
            <a:avLst/>
          </a:prstGeom>
          <a:noFill/>
          <a:ln w="28575">
            <a:solidFill>
              <a:srgbClr val="059669"/>
            </a:solidFill>
            <a:prstDash val="solid"/>
          </a:ln>
        </p:spPr>
      </p:sp>
      <p:sp>
        <p:nvSpPr>
          <p:cNvPr id="37" name="Text 35"/>
          <p:cNvSpPr/>
          <p:nvPr/>
        </p:nvSpPr>
        <p:spPr>
          <a:xfrm>
            <a:off x="4122539" y="4223593"/>
            <a:ext cx="2254907" cy="119955"/>
          </a:xfrm>
          <a:prstGeom prst="rect">
            <a:avLst/>
          </a:prstGeom>
          <a:noFill/>
          <a:ln/>
        </p:spPr>
        <p:txBody>
          <a:bodyPr wrap="square" lIns="0" tIns="0" rIns="0" bIns="0" rtlCol="0" anchor="t"/>
          <a:lstStyle/>
          <a:p>
            <a:pPr algn="l" indent="0" marL="0">
              <a:lnSpc>
                <a:spcPts val="945"/>
              </a:lnSpc>
              <a:spcAft>
                <a:spcPts val="150"/>
              </a:spcAft>
              <a:buNone/>
            </a:pPr>
            <a:r>
              <a:rPr lang="en-US" sz="675" b="1" dirty="0">
                <a:solidFill>
                  <a:srgbClr val="166534"/>
                </a:solidFill>
                <a:latin typeface="Arial" pitchFamily="34" charset="0"/>
                <a:ea typeface="Arial" pitchFamily="34" charset="-122"/>
                <a:cs typeface="Arial" pitchFamily="34" charset="-120"/>
              </a:rPr>
              <a:t>WHY THIS MATTERS</a:t>
            </a:r>
            <a:endParaRPr lang="en-US" sz="675" dirty="0"/>
          </a:p>
        </p:txBody>
      </p:sp>
      <p:sp>
        <p:nvSpPr>
          <p:cNvPr id="38" name="Text 36"/>
          <p:cNvSpPr/>
          <p:nvPr/>
        </p:nvSpPr>
        <p:spPr>
          <a:xfrm>
            <a:off x="4122539" y="4362599"/>
            <a:ext cx="2254907" cy="213122"/>
          </a:xfrm>
          <a:prstGeom prst="rect">
            <a:avLst/>
          </a:prstGeom>
          <a:noFill/>
          <a:ln/>
        </p:spPr>
        <p:txBody>
          <a:bodyPr wrap="square" lIns="0" tIns="0" rIns="0" bIns="0" rtlCol="0" anchor="t"/>
          <a:lstStyle/>
          <a:p>
            <a:pPr algn="l" indent="0" marL="0">
              <a:lnSpc>
                <a:spcPts val="840"/>
              </a:lnSpc>
              <a:buNone/>
            </a:pPr>
            <a:r>
              <a:rPr lang="en-US" sz="600" dirty="0">
                <a:solidFill>
                  <a:srgbClr val="166534"/>
                </a:solidFill>
                <a:latin typeface="Arial" pitchFamily="34" charset="0"/>
                <a:ea typeface="Arial" pitchFamily="34" charset="-122"/>
                <a:cs typeface="Arial" pitchFamily="34" charset="-120"/>
              </a:rPr>
              <a:t>AI agents work better with structured tasks than rambling instructions.</a:t>
            </a:r>
            <a:endParaRPr lang="en-US" sz="600" dirty="0"/>
          </a:p>
        </p:txBody>
      </p:sp>
      <p:sp>
        <p:nvSpPr>
          <p:cNvPr id="39" name="Text 37"/>
          <p:cNvSpPr/>
          <p:nvPr/>
        </p:nvSpPr>
        <p:spPr>
          <a:xfrm>
            <a:off x="6485632" y="4147393"/>
            <a:ext cx="2391668" cy="504527"/>
          </a:xfrm>
          <a:prstGeom prst="rect">
            <a:avLst/>
          </a:prstGeom>
          <a:solidFill>
            <a:srgbClr val="FEF3C7"/>
          </a:solidFill>
          <a:ln/>
        </p:spPr>
        <p:txBody>
          <a:bodyPr wrap="square" rtlCol="0" anchor="ctr"/>
          <a:lstStyle/>
          <a:p>
            <a:pPr indent="0" marL="0">
              <a:buNone/>
            </a:pPr>
            <a:endParaRPr lang="en-US" dirty="0"/>
          </a:p>
        </p:txBody>
      </p:sp>
      <p:sp>
        <p:nvSpPr>
          <p:cNvPr id="40" name="Shape 38"/>
          <p:cNvSpPr/>
          <p:nvPr/>
        </p:nvSpPr>
        <p:spPr>
          <a:xfrm>
            <a:off x="6499920" y="4147393"/>
            <a:ext cx="0" cy="504527"/>
          </a:xfrm>
          <a:prstGeom prst="line">
            <a:avLst/>
          </a:prstGeom>
          <a:noFill/>
          <a:ln w="28575">
            <a:solidFill>
              <a:srgbClr val="F59E0B"/>
            </a:solidFill>
            <a:prstDash val="solid"/>
          </a:ln>
        </p:spPr>
      </p:sp>
      <p:sp>
        <p:nvSpPr>
          <p:cNvPr id="41" name="Text 39"/>
          <p:cNvSpPr/>
          <p:nvPr/>
        </p:nvSpPr>
        <p:spPr>
          <a:xfrm>
            <a:off x="6590407" y="4223593"/>
            <a:ext cx="2254907" cy="119955"/>
          </a:xfrm>
          <a:prstGeom prst="rect">
            <a:avLst/>
          </a:prstGeom>
          <a:noFill/>
          <a:ln/>
        </p:spPr>
        <p:txBody>
          <a:bodyPr wrap="square" lIns="0" tIns="0" rIns="0" bIns="0" rtlCol="0" anchor="t"/>
          <a:lstStyle/>
          <a:p>
            <a:pPr algn="l" indent="0" marL="0">
              <a:lnSpc>
                <a:spcPts val="945"/>
              </a:lnSpc>
              <a:spcAft>
                <a:spcPts val="150"/>
              </a:spcAft>
              <a:buNone/>
            </a:pPr>
            <a:r>
              <a:rPr lang="en-US" sz="675" b="1" dirty="0">
                <a:solidFill>
                  <a:srgbClr val="92400E"/>
                </a:solidFill>
                <a:latin typeface="Arial" pitchFamily="34" charset="0"/>
                <a:ea typeface="Arial" pitchFamily="34" charset="-122"/>
                <a:cs typeface="Arial" pitchFamily="34" charset="-120"/>
              </a:rPr>
              <a:t>WORKFLOW</a:t>
            </a:r>
            <a:endParaRPr lang="en-US" sz="675" dirty="0"/>
          </a:p>
        </p:txBody>
      </p:sp>
      <p:sp>
        <p:nvSpPr>
          <p:cNvPr id="42" name="Text 40"/>
          <p:cNvSpPr/>
          <p:nvPr/>
        </p:nvSpPr>
        <p:spPr>
          <a:xfrm>
            <a:off x="6590407" y="4362599"/>
            <a:ext cx="2254907" cy="213122"/>
          </a:xfrm>
          <a:prstGeom prst="rect">
            <a:avLst/>
          </a:prstGeom>
          <a:noFill/>
          <a:ln/>
        </p:spPr>
        <p:txBody>
          <a:bodyPr wrap="square" lIns="0" tIns="0" rIns="0" bIns="0" rtlCol="0" anchor="t"/>
          <a:lstStyle/>
          <a:p>
            <a:pPr algn="l" indent="0" marL="0">
              <a:lnSpc>
                <a:spcPts val="840"/>
              </a:lnSpc>
              <a:buNone/>
            </a:pPr>
            <a:r>
              <a:rPr lang="en-US" sz="600" dirty="0">
                <a:solidFill>
                  <a:srgbClr val="92400E"/>
                </a:solidFill>
                <a:latin typeface="Arial" pitchFamily="34" charset="0"/>
                <a:ea typeface="Arial" pitchFamily="34" charset="-122"/>
                <a:cs typeface="Arial" pitchFamily="34" charset="-120"/>
              </a:rPr>
              <a:t>Select relevant code → Dictate task → Paste to Claude Code → Agent executes</a:t>
            </a:r>
            <a:endParaRPr lang="en-US" sz="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78</Slides>
  <Notes>78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78</vt:i4>
      </vt:variant>
    </vt:vector>
  </HeadingPairs>
  <TitlesOfParts>
    <vt:vector size="8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Voice-Driven AI Development Workflows - Part 1</dc:title>
  <dc:subject>Setup, Introduction &amp; Tool Overview</dc:subject>
  <dc:creator>Austin Public Health</dc:creator>
  <cp:lastModifiedBy>Austin Public Health</cp:lastModifiedBy>
  <cp:revision>1</cp:revision>
  <dcterms:created xsi:type="dcterms:W3CDTF">2026-01-15T07:07:51Z</dcterms:created>
  <dcterms:modified xsi:type="dcterms:W3CDTF">2026-01-15T07:07:51Z</dcterms:modified>
</cp:coreProperties>
</file>