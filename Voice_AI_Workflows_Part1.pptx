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Part 1 of our Voice-Driven AI Development Workflows series. Today we're covering setup, introduction, and tool overview. This 90-minute session will give you the foundation to start using voice-driven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for the full series. Today is Part 1 focusing on understanding the tools. Part 2 will be hands-on practice with your own projects. Part 3 culminates in building a real meeting transcriber application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 here is that we think faster than we type. Voice-driven development closes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benefits to highlight. Ergonomic benefits are significant for anyone typing all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training isn't just for developers. Data scientists, researchers, and admin staff all benefit.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agenda. We'll spend most time on voice input tools and enterprise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Now we're getting into the tools. The acoustic layer is your first point of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SuperWhisper is our primary recommendation. The key point is 100% local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shows why local processing matters. With SuperWhisper, the entire flow stays on your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note: SuperWhisper only works on Mac. For Mac users, the Medium model is the sweet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these setup steps. The key government-specific step is verifying local-only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government use, these settings are essential. Disable analytics and auto-updates.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WhisperFlow - note this is the commercial 'Wispr Flow' product. It's our secondary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killer features of WhisperFlow. Context awareness knows when you're coding vs writing an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security slide. WhisperFlow is cloud-based. Privacy Mode helps but you still need a BAA for PHI.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setup overview for WhisperFlow. Remember to enable Privacy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OS dictation is your fallback. It's free and built-in, but lacks AI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comparison matrix is your quick reference. SuperWhisper wins on security, WhisperFlow wins on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framework slide. Most Mac users with security concerns should start with SuperWhisper.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Now we're moving from voice input to AI assistants - the reasoning layer that turns your spoken intent into actual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picture: Voice goes to transcription, then to an AI assistant, then becomes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is different from chatting with Claude. This is an autonomous agent that can actually modify your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features of Claude Code. Slash commands for quick actions. CLAUDE.md for persistent project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to use Claude Code: complex refactoring, exploring codebases, generating tests,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 Code with extensions is our compliance-friendly option. Direct Azure endpoint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Cursor is the AI-native editor option. Great features like Composer mode. But note the caveats.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caveats for Cursor. Three red flags: routes through Cursor's backend, no BAA, data egress.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framework. Models are the AI brains. Extensions add features. Integrations connect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4: Enterprise configuration. This is where we connect our tools to secure Azure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Azure OpenAI overview. Your data stays in your Azure tenant. Same models, enterprise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Azure Government Cloud for federal and state work. Note the different domain (.us vs .com).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Azure AI Foundry is Microsoft's broader AI platform. Includes Azure OpenAI plus other providers like Anthropic.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general pattern: environment variables and config files. az login ties into your org's IAM.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for specific tool configurations. Note the Cursor warning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overview of local models. Ollama is simplest for air-gapped operation. Note capability trade-offs.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5: Deep dive into CLI tools, specifically Claude Code's advanced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Slash commands are your quick actions. The essential ones are help, clear, compact, and init.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Hooks system - think of these like git hooks but for Claude Code. Run scripts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- Model Context Protocol. How Claude Code connects to external systems. Review permissions carefully.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Sub-agents let Claude delegate specialized tasks. CLAUDE.md is your project context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features are built-in for a reason. Don't disable these to save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overview of other CLI tools. Aider for git-focused workflows. Start with Claude Code, explore others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6: CI/CD integration - connecting voice workflows to version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+ Claude Code workflow. You can voice-drive the entire git workflow: commits, branches, PRs.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Copilot ecosystem overview. Copilot in IDE, CLI, and on GitHub.com.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7: Putting it all together into a complete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end-to-end flow. Two recommended stacks based on your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by role. Developers get the full stack. Everyone has a path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8: Security and compliance - critical for government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 awareness diagram. Green is local/safe. Yellow needs BAA. Red has compliance concerns.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 guidance in three columns. Green tools are safe for PHI. Yellow needs BAA. Red should be avoided.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NOT to do - six common mistakes. These aren't hypothetical - they're real issues we've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9: Wrapping up and preparing for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Pre-work checklist. Install a voice tool and code editor before Part 2. Test your microphone.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of Parts 2 and 3. You'll leave the series with working skills and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you! Time for questions and discussion. Resources will be shared via email. Contact IT for tool access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182880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Voice-Driven AI Development Workflows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53"/>
                </a:solidFill>
              </a:rPr>
              <a:t>Part 1: Setup, Introduction &amp; Tool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0" y="3200400"/>
            <a:ext cx="219456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Austin Public Health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AI Technology Training Series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90-Minute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Welcome: Your Learning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three-part series to transform how you work with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926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31520" cy="274320"/>
          </a:xfrm>
          <a:prstGeom prst="rect">
            <a:avLst/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Setup &amp; Tool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Voice input 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AI coding assistants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Enterprise configuration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Security fundamentals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90 minutes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54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PART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Hands-On Practice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Real workflow exercises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Your actual projects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Troubleshooting tips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Productivity shortcuts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90 minutes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554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PART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Build a Transcriber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End-to-end project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Meeting transcription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Voice-driven development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Deploy and share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90 minutes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Why Voice-Driven Development?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The shift from typing syntax to speaking intent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E3A5F"/>
                </a:solidFill>
              </a:rPr>
              <a:t>"The keyboard is a bottleneck between your thoughts and your code. Voice removes that bottleneck."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— Voice-Driven AI Toolkit Research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We speak ~150 words/minute but type only ~40 words/minute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Voice-driven development lets you work at the speed of thought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Key Benefits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Why voice-driven workflows matter for your team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2011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417320"/>
            <a:ext cx="548640" cy="54864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Ergonomic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RSI prevention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Reduced physical strain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Accessibility support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280160"/>
            <a:ext cx="2011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7480" y="1417320"/>
            <a:ext cx="548640" cy="54864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2" name="Text 9"/>
          <p:cNvSpPr/>
          <p:nvPr/>
        </p:nvSpPr>
        <p:spPr>
          <a:xfrm>
            <a:off x="26974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69748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Productivity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97480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Faster iteration cycles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Speak ideas as you think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Reduce context switching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1280160"/>
            <a:ext cx="2011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92040" y="1417320"/>
            <a:ext cx="548640" cy="54864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89204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Multitasking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92040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Code while reviewing 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Hands-free operation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Think out loud naturally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49440" y="1280160"/>
            <a:ext cx="2011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86600" y="1417320"/>
            <a:ext cx="548640" cy="548640"/>
          </a:xfrm>
          <a:prstGeom prst="roundRect">
            <a:avLst/>
          </a:prstGeom>
          <a:solidFill>
            <a:srgbClr val="F3E8FF"/>
          </a:solidFill>
          <a:ln/>
        </p:spPr>
      </p:sp>
      <p:sp>
        <p:nvSpPr>
          <p:cNvPr id="22" name="Text 19"/>
          <p:cNvSpPr/>
          <p:nvPr/>
        </p:nvSpPr>
        <p:spPr>
          <a:xfrm>
            <a:off x="70866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♿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086600" y="2103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Accessibility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086600" y="25146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Mobility accommodations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Inclusive workflows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Alternative input paths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Who Is This For?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Voice-driven AI benefits every role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Developers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Voice-driven coding, refactoring, and debugging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128016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5176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Data Scientists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651760" y="1828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Dictate analysis scripts and documentation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Researchers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1828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Draft reports while reviewing data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9440" y="128016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Admin Staff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40880" y="1828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Enhanced dictation and document creation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566160"/>
            <a:ext cx="8229600" cy="7315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6534"/>
                </a:solidFill>
              </a:rPr>
              <a:t>Everyone benefits from voice input – it's not just for coders!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Today's 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90 minutes to get you set up and ready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10972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 min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3736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Voice Input Tools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SuperWhisper, WhisperFlow, and alternatives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10972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15 min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3736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AI Coding Assistants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Claude Code, VS Code, Cursor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377440"/>
            <a:ext cx="10972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377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15 min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3736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Enterprise Configuration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Azure OpenAI, Government Cloud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10972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926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15 min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73736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CLI Tools Deep Dive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0" y="2926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Commands, hooks, MCP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474720"/>
            <a:ext cx="10972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3474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10 min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73736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CI/CD Integration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GitHub workflows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023360"/>
            <a:ext cx="10972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023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15 min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73736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Security &amp; Wrap-Up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Compliance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Section 2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53"/>
                </a:solidFill>
              </a:rPr>
              <a:t>Voice Input Tools Foundation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566160"/>
            <a:ext cx="1463040" cy="4572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SuperWhisper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Local-first AI transcription for macOS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0" y="274320"/>
            <a:ext cx="2103120" cy="320040"/>
          </a:xfrm>
          <a:prstGeom prst="rect">
            <a:avLst/>
          </a:prstGeom>
          <a:solidFill>
            <a:srgbClr val="D4A85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PRIMARY RECOMMENDATION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840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What It 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macOS/iOS application that runs Whisper AI models entirely on your device. No data ever leaves your machine.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280160"/>
            <a:ext cx="4206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Why We Recommend 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7373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100% local processing - no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No compliance paperwork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Works offline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One-time purchase (~$30)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822960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6534"/>
                </a:solidFill>
              </a:rPr>
              <a:t>✓ Safe for PHI and sensitive government data - all processing stays on your device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Why Local Processing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Data sovereignty for government work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DATA FLOW DIAGRAM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645920" cy="64008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554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Your Voice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1945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51760" y="1554480"/>
            <a:ext cx="1645920" cy="64008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2651760" y="1554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SuperWhisper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846320" y="1554480"/>
            <a:ext cx="1645920" cy="64008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554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Text Output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040880" y="1554480"/>
            <a:ext cx="1645920" cy="64008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1554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Your App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377440"/>
            <a:ext cx="8229600" cy="45720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ALL PROCESSING STAYS ON YOUR DEVICE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Government Benefits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34747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No BAA required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No data egress concerns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Simplified compliance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IT-friendly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Platform &amp;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What you need to run SuperWhisper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Supported Platforms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macOS (primary)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iOS/iPadOS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✗ Windows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✗ Linux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Hardware Requirements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83280" y="17373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Apple Silicon (M1-M4)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8GB+ RAM recommended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~2GB storage for models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12801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Model Size Options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17373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Small: Fast, less accurate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Medium: Best balance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Large: Most accurate, slower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291840"/>
            <a:ext cx="822960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2400E"/>
                </a:solidFill>
              </a:rPr>
              <a:t>Windows Users: Don't worry! We'll cover WhisperFlow next as your alternative.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SuperWhisper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Step-by-step installation guide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</a:rPr>
              <a:t>Download from superwhisper.com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783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</a:rPr>
              <a:t>Install application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2286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</a:rPr>
              <a:t>Choose Whisper model size (Medium recommended)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2788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</a:rPr>
              <a:t>Configure hotkey (e.g., Fn twice)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</a:rPr>
              <a:t>Verify local-only mode enabled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3794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</a:rPr>
              <a:t>Test with a sample dictation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Government Configuration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Optimizing SuperWhisper for secure environments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840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Essential Settings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☑ Local-only mode: ENABLED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☐ Send analytics: DISABLED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☐ Auto-update: DISABLED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(let IT review updates)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☑ Keyboard shortcut: configured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1280160"/>
            <a:ext cx="42062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Advanced: Custom Modes (XML)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17373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&lt;mode name="Medical"&gt;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&lt;instruction&gt;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medical terminology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&lt;/instruction&gt;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&lt;/mode&gt;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657600"/>
            <a:ext cx="8229600" cy="6400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1B1B"/>
                </a:solidFill>
              </a:rPr>
              <a:t>⚠ Always verify local-only mode before dictating PHI or sensitive data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WhisperFlow (Wispr Flow)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Context-aware voice input with cloud processing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583680" y="274320"/>
            <a:ext cx="1920240" cy="32004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SECONDARY OPTION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840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commercial, cross-platform dictation tool with context awareness. Works on Mac, Windows, and in browsers.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280160"/>
            <a:ext cx="4206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63440" y="173736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Context-aware code formatting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Command mode for text transforms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Whisper mode (privacy in offices)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Works across any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WhisperFlow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Intelligent transcription that adapts to context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Context Awareness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Automatically formats output based on application (camelCase in code, sentences in email)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28016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⌨️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29184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Command Mode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91840" y="237744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Say 'fix grammar' or 'make formal' to transform selected text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28016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🤫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12648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Whisper Mode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26480" y="237744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Low-volume dictation for shared office spaces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Security Considerations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Understanding WhisperFlow's data handling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Privacy Mode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☑ Audio deleted after processing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☑ No training on your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☑ Encrypted transmission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☐ Still routes through cloud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1280160"/>
            <a:ext cx="4206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Compliance Features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17373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Enterprise tier available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BAA available for PHI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SOC 2 compliance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Admin controls for org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749040"/>
            <a:ext cx="8229600" cy="548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⚠ Cloud-based: Requires BAA before use with PHI. Contact vendor for enterprise tier.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WhisperFlow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Quick installation and configuration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Download from wispr.ai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Install and create account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Choose subscription tier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Configure hotkey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Enable Privacy Mode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56616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</a:rPr>
              <a:t>Test dictation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1280160"/>
            <a:ext cx="39319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Best Use Cases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937760" y="17373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Windows users (no SuperWhisper)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Cross-platform teams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Users wanting context awareness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Cursor IDE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Non-PHI work only (unless BAA)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Native OS Dictation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Built-in voice input when other tools aren't available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583680" y="274320"/>
            <a:ext cx="1920240" cy="320040"/>
          </a:xfrm>
          <a:prstGeom prst="rect">
            <a:avLst/>
          </a:prstGeom>
          <a:solidFill>
            <a:srgbClr val="9CA3A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FALLBACK OPTION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macOS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Hotkey: Fn Fn or ⌃⌘Space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✓ Built-in, free, good accuracy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✗ Basic features only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28016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Windows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29184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Hotkey: Win + 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9184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✓ Built-in, works everywhere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9184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✗ Less accurate than alternatives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128016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iOS/Android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2648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Hotkey: Microphone icon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2648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✓ Mobile-friendly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2648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✗ Varies by keyboard app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Comparison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Choosing the right voice input tool for your needs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0" y="1280160"/>
            <a:ext cx="20116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SuperWhisper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280160"/>
            <a:ext cx="20116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WhisperFlow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280160"/>
            <a:ext cx="20116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Native 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737360"/>
            <a:ext cx="18288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286000" y="1737360"/>
            <a:ext cx="20116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3"/>
          <p:cNvSpPr/>
          <p:nvPr/>
        </p:nvSpPr>
        <p:spPr>
          <a:xfrm>
            <a:off x="228600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100% Local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97680" y="1737360"/>
            <a:ext cx="20116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5"/>
          <p:cNvSpPr/>
          <p:nvPr/>
        </p:nvSpPr>
        <p:spPr>
          <a:xfrm>
            <a:off x="42976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Cloud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309360" y="1737360"/>
            <a:ext cx="20116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7"/>
          <p:cNvSpPr/>
          <p:nvPr/>
        </p:nvSpPr>
        <p:spPr>
          <a:xfrm>
            <a:off x="63093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Mixed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Platform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286000" y="219456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Mac only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97680" y="219456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429768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Mac/Win/Web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309360" y="219456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PHI Safe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286000" y="2651760"/>
            <a:ext cx="20116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29"/>
          <p:cNvSpPr/>
          <p:nvPr/>
        </p:nvSpPr>
        <p:spPr>
          <a:xfrm>
            <a:off x="228600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✓ Yes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297680" y="2651760"/>
            <a:ext cx="20116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1"/>
          <p:cNvSpPr/>
          <p:nvPr/>
        </p:nvSpPr>
        <p:spPr>
          <a:xfrm>
            <a:off x="429768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With BAA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309360" y="2651760"/>
            <a:ext cx="20116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3"/>
          <p:cNvSpPr/>
          <p:nvPr/>
        </p:nvSpPr>
        <p:spPr>
          <a:xfrm>
            <a:off x="630936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Check policy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Cost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286000" y="310896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228600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~$30 once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297680" y="310896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429768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$10-20/mo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309360" y="310896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630936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Free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Context Aware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2286000" y="3566160"/>
            <a:ext cx="20116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5"/>
          <p:cNvSpPr/>
          <p:nvPr/>
        </p:nvSpPr>
        <p:spPr>
          <a:xfrm>
            <a:off x="228600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Basic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297680" y="3566160"/>
            <a:ext cx="20116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Text 47"/>
          <p:cNvSpPr/>
          <p:nvPr/>
        </p:nvSpPr>
        <p:spPr>
          <a:xfrm>
            <a:off x="429768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Advanced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309360" y="3566160"/>
            <a:ext cx="20116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Text 49"/>
          <p:cNvSpPr/>
          <p:nvPr/>
        </p:nvSpPr>
        <p:spPr>
          <a:xfrm>
            <a:off x="630936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Which Tool Should You Choose?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simple decision framework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828800" y="1188720"/>
            <a:ext cx="5486400" cy="5486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Are you on macOS with Apple Silicon?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86000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Yes ↓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371600" y="2103120"/>
            <a:ext cx="2743200" cy="45720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Use SuperWhisper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for: Security, PHI, offline use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0" y="1325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No →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0" y="2103120"/>
            <a:ext cx="2743200" cy="45720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Use WhisperFlow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for: Windows, context awareness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0" y="3200400"/>
            <a:ext cx="3657600" cy="45720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Fallback: Native OS Dictation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 when: Testing, quick notes, tools unavailable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Section 3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53"/>
                </a:solidFill>
              </a:rPr>
              <a:t>AI Coding Assistants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566160"/>
            <a:ext cx="1463040" cy="4572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The AI Assistant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How voice input connects to code generation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1371600"/>
            <a:ext cx="1463040" cy="64008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Voice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783080" y="1508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103120" y="1371600"/>
            <a:ext cx="1645920" cy="64008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9" name="Text 6"/>
          <p:cNvSpPr/>
          <p:nvPr/>
        </p:nvSpPr>
        <p:spPr>
          <a:xfrm>
            <a:off x="210312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Transcription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94760" y="1508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14800" y="1371600"/>
            <a:ext cx="1645920" cy="64008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AI Assistant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06440" y="1508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26480" y="1371600"/>
            <a:ext cx="1463040" cy="640080"/>
          </a:xfrm>
          <a:prstGeom prst="roundRect">
            <a:avLst/>
          </a:prstGeom>
          <a:solidFill>
            <a:srgbClr val="F3E8FF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Code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635240" y="1508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955280" y="1371600"/>
            <a:ext cx="731520" cy="6400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18" name="Text 15"/>
          <p:cNvSpPr/>
          <p:nvPr/>
        </p:nvSpPr>
        <p:spPr>
          <a:xfrm>
            <a:off x="7955280" y="1371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Deploy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Three Main Categories We'll Cover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5760" y="269748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CLI Agents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53"/>
                </a:solidFill>
              </a:rPr>
              <a:t>Claude Code, Aider, Goose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3520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Terminal-based autonomous agents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0" y="269748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IDE Extensions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9184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53"/>
                </a:solidFill>
              </a:rPr>
              <a:t>Continue.dev, GitHub Copilot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91840" y="3520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Integrated into your editor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35040" y="269748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AI-Native Editors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12648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53"/>
                </a:solidFill>
              </a:rPr>
              <a:t>Cursor, Windsurf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26480" y="3520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Built from ground up for AI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Claude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Anthropic's official CLI agent for developers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840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terminal-based AI agent that can read your codebase, make changes, run commands, and iterate on solutions autonomously.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1280160"/>
            <a:ext cx="42062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Core Capabilities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17373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Read and understand entire codebases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Create, edit, and delete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Run shell commands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Execute multi-step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Work across multiple files simultaneously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657600"/>
            <a:ext cx="822960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40AF"/>
                </a:solidFill>
              </a:rPr>
              <a:t>Key Difference: Claude Code acts, not just advises. It's an agent, not a chatbot.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Claude Code Key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What makes it powerful for voice-driven development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Slash Commands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/help, /clear, /compact, /init - Quick actions via typed commands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4023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CLAUDE.md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92040" y="1737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Project context file - Tell Claude about your architecture and coding standards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4023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Extended Thinking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3108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Deep reasoning for complex problems - think step by step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651760"/>
            <a:ext cx="4023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Multi-file Editing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92040" y="3108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Refactor across your entire codebase in one conversation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When to Use Claude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Best scenarios for CLI-based AI development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840480" cy="2560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 IDEAL USE CASES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Complex multi-file refactoring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Exploring unfamiliar codebases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Generating comprehensive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Debugging tricky issues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Creating new projects from scratch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Automating repetitive tasks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1280160"/>
            <a:ext cx="4206240" cy="2560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✗ CONSIDER ALTERNATIVES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63440" y="17830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Quick single-line edits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→ Use IDE autocomplete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Visual UI 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→ Use Cursor/VS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Strict compliance requirements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→ Use Azure-routed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Offline-only environments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→ Use local models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VS Code with AI Extensions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The established, compliance-friendly option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Available AI Extensions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Continue.dev - Open source, Azure compatible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GitHub Copilot - MS ecosystem, enterprise tier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CodeGPT - Multi-provider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Cody - Sourcegraph's offering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Key Advantages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Direct Azure endpoint routing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Your data → Your tenant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Familiar VS Code interface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Works with existing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Enterprise licensing available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822960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6534"/>
                </a:solidFill>
              </a:rPr>
              <a:t>✓ Best choice when compliance is the top priority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Cursor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The AI-native code editor built on VS Code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Makes It Different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Cursor is a VS Code fork with AI deeply integrated. Not an extension - AI is core to the experience.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Composer: Multi-file AI editing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Cmd+K: Inline code 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Tab: Smart autocomplete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Chat: Codebase-aware Q&amp;A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8229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WhisperFlow + Cursor = Voice-Driven IDE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WhisperFlow's context awareness recognizes Cursor and automatically formats dictation for code. Combined with Composer mode, you can describe entire features vocally.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Cursor: Important Caveats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Critical considerations for government use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5029200" cy="2560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</a:rPr>
              <a:t>⚠ Government Concerns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1. Data Routing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Even with your own API keys, requests route through Cursor's backend servers.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2. No BAA Available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Cursor does not offer a Business Associate Agreement for PHI.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3. Third-Party Infrastructure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 egress through servers you don't control.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1280160"/>
            <a:ext cx="3017520" cy="2560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When Cursor IS Appropriate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178308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Non-sensitive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Open source projects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Personal development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Training/learning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✓ Prototyping only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977640"/>
            <a:ext cx="8229600" cy="365760"/>
          </a:xfrm>
          <a:prstGeom prst="roundRect">
            <a:avLst/>
          </a:prstGeom>
          <a:solidFill>
            <a:srgbClr val="FEF2F2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NOT recommended for PHI or sensitive government data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Understanding the Components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Key concepts for setup and configuration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Models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AI 'brains' (GPT-4, Claude, etc.)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Examples: GPT-4o, Claude 3.5, Llama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4023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Extensions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9204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Add AI features to editors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9204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Examples: Continue.dev, Copilot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4023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Integrations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436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Connect to external services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Examples: Azure, GitHub, Slack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2651760"/>
            <a:ext cx="4023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Agents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9204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Autonomous AI that takes actions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9204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Examples: Claude Code, Aider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Section 4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53"/>
                </a:solidFill>
              </a:rPr>
              <a:t>Enterprise Model Configuration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566160"/>
            <a:ext cx="1463040" cy="4572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Azure OpenAI Service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Enterprise AI with Microsoft's infrastructure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OpenAI models (GPT-4, etc.) hosted in your own Azure subscription. Same capabilities, but your data stays in your tenant.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Key Components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Resource: Your Azure OpenAI instance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Deployments: Model versions you create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Endpoints: URLs your tools connect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Keys: Authentication credentials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822960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Azure OpenAI vs Direct OpenAI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</a:rPr>
              <a:t>Same models, but data stays in YOUR tenant. Enterprise controls, compliance, and integration with Azure IAM.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Azure Government Cloud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Sovereign cloud for US government workloads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Government Cloud Tiers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2377440" cy="146304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GCC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</a:rPr>
              <a:t>Government Community 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</a:rPr>
              <a:t>State &amp; local government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</a:rPr>
              <a:t>.azure.com domain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828800"/>
            <a:ext cx="2377440" cy="146304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GCC-High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0" y="2194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Higher compliance tier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CUI / ITAR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.azure.us domain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1828800"/>
            <a:ext cx="2377440" cy="1463040"/>
          </a:xfrm>
          <a:prstGeom prst="roundRect">
            <a:avLst/>
          </a:prstGeom>
          <a:solidFill>
            <a:srgbClr val="F3E8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DoD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60720" y="2194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21A8"/>
                </a:solidFill>
              </a:rPr>
              <a:t>Department of Defense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21A8"/>
                </a:solidFill>
              </a:rPr>
              <a:t>Highest compliance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21A8"/>
                </a:solidFill>
              </a:rPr>
              <a:t>Isolated infrastructure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657600"/>
            <a:ext cx="8229600" cy="6400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⚠ Your tools need specific configuration for government endpoints (different URLs)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Azure AI Foundry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Microsoft's unified AI platform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Azure AI Foundry (formerly Azure AI Studio) - Unified platform for multiple AI providers, including non-OpenAI models.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Model Catalog Includes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OpenAI models (GPT-4, etc.)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Anthropic Claude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Meta Llama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Mistral, Cohere, and more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8229600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Why Use Foundry?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3832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Get Claude models through Azure billing and compliance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Compare multiple models in one interface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Build RAG and complex AI applications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Unified management for all AI resources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Connecting Tools to Azure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The general pattern for enterprise configuration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572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The Pattern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tools use environment variables or config files: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AZURE_OPENAI_ENDPOINT=https://...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AZURE_OPENAI_API_KEY=...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AZURE_OPENAI_DEPLOYMENT=gpt-4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12080" y="128016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0" y="1371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Authentication Options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17373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API Key: Simple but less secure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Azure AD: Better for 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az 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# Uses your org identity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474720"/>
            <a:ext cx="822960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</a:rPr>
              <a:t>Pro tip: Use az login for authentication - ties into your org's existing IAM policies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Tool Configuration Examples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Quick reference for common tool setups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VS Code + Continue.dev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config.json: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"provider": "azure"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"deployment": "your-deployment"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Environment Variables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1691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AZURE_OPENAI_ENDPOINT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AZURE_OPENAI_API_KEY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AZURE_OPENAI_DEPLOYMENT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697480"/>
            <a:ext cx="4114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Aider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aider --model azure/gpt-4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Uses env vars automatically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697480"/>
            <a:ext cx="3931920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⚠ Cursor Warning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31089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Even with Azure config, requests still route through Cursor backend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Configuration varies by tool - always check official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Local Models: Brief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Running AI models entirely on your device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When Local Models Make Sense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Air-gapped environments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Maximum data sovereignty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Cost control (no API fees)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Specific compliance needs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Offline work required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Trade-offs to Consider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Less capable than cloud models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Requires powerful hardware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More setup/maintenance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Slower response times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Limited context windows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566160"/>
            <a:ext cx="8229600" cy="73152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Ollama: Simplest path to local models. Install, pull a model, and run.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Section 5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53"/>
                </a:solidFill>
              </a:rPr>
              <a:t>CLI AI Tools Deep Dive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566160"/>
            <a:ext cx="1463040" cy="4572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Slash Commands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Quick actions with the / prefix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Essential Commands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 - Show all commands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 - Clear conversation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 - Compress 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 - Initialize project settings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/review - Code review mode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 - Generate tests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/commit - Create git commit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Custom Commands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your own in CLAUDE.md: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/deploy: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description: Deploy to staging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Build 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Push to staging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Hooks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Event-triggered automation for Claude Code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Are Hooks?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Scripts that run automatically at specific points in Claude Code's workflow.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Hook Types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PreToolUse - Before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PostToolUse - After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Notification - Status updates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8229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Example Use Cases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3832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Auto-format code after edits  • Run linters before commits  • Send Slack notifications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Validate changes against rules  • Auto-run tests  • Log all file modifications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MCP: Model Context Protocol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Standardized way to connect AI to external systems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Is MCP?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An open standard that lets AI assistants connect to databases, APIs, and services in a secure, standardized way.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Available MCP Servers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GitHub - repo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Slack - team communication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PostgreSQL - database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Filesystem - local file access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8229600" cy="1371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⚠ Security Reminder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MCP servers have real access to your systems. Review permissions carefully before enabling.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Only enable servers you trust and need. Principle of least privilege applies.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Sub-agents &amp; CLAUDE.md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Task delegation and project context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Sub-agents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Claude can spawn specialized sub-agents for parallel tasks: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Research agent for documentation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Test agent for test 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Review agent for code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Each runs independently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CLAUDE.md Project File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markdown file at project root that provides persistent context: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Project architecture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Coding standards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File organization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Common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Team preferences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474720"/>
            <a:ext cx="822960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</a:rPr>
              <a:t>Pro tip: A good CLAUDE.md dramatically improves Claude Code's accuracy for your project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Safety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Built-in guardrails for autonomous AI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✓ Permission Prompts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Asks before destructive actions like deleting files or running commands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4023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✓ File Access Controls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9204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Respects .gitignore and can be restricted to specific directories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4023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✓ Command Safeguards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3154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Warns before running potentially dangerous shell commands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651760"/>
            <a:ext cx="4023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✓ Undo Support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92040" y="3154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Can revert changes made during a session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069080"/>
            <a:ext cx="8229600" cy="320040"/>
          </a:xfrm>
          <a:prstGeom prst="roundRect">
            <a:avLst/>
          </a:prstGeom>
          <a:solidFill>
            <a:srgbClr val="FE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⚠ Don't disable safety features to save time - they prevent expensive mistakes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Other CLI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Alternative agents worth knowing about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Aider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Git-focused AI pair programmer. Great for commit-by-commit development.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Best for: Git workflows, pair programming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28016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Goose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91840" y="18288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Extensible AI agent from Block. Custom tool integrations.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91840" y="3017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Best for: Custom integrations, flexibility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128016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Factory Droid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26480" y="18288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Enterprise SDLC agent. Full software lifecycle.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0" y="3017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Best for: Enterprise teams, full lifecycle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Recommendation: Start with Claude Code, explore alternatives as your needs evolve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Section 6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53"/>
                </a:solidFill>
              </a:rPr>
              <a:t>CI/CD Integration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566160"/>
            <a:ext cx="1463040" cy="4572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GitHub + Claude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Voice-driven version control workflow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You Can Do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Say: "Create a branch for the login feature, implement it, and open a PR"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Claude Code will: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Create and checkout a new branch  • Make the code changes  • Stage and commit with meaningful messages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Push to remote  • Create a pull request with description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1371600" cy="54864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926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Voice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7452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94560" y="2926080"/>
            <a:ext cx="1371600" cy="54864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2" name="Text 9"/>
          <p:cNvSpPr/>
          <p:nvPr/>
        </p:nvSpPr>
        <p:spPr>
          <a:xfrm>
            <a:off x="2194560" y="2926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Claude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118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31920" y="2926080"/>
            <a:ext cx="1371600" cy="54864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5" name="Text 12"/>
          <p:cNvSpPr/>
          <p:nvPr/>
        </p:nvSpPr>
        <p:spPr>
          <a:xfrm>
            <a:off x="3931920" y="2926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Code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4924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69280" y="2926080"/>
            <a:ext cx="1371600" cy="548640"/>
          </a:xfrm>
          <a:prstGeom prst="roundRect">
            <a:avLst/>
          </a:prstGeom>
          <a:solidFill>
            <a:srgbClr val="F3E8FF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0" y="2926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Git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8660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06640" y="2926080"/>
            <a:ext cx="1280160" cy="54864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406640" y="29260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PR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Claude generates meaningful commit messages by reading your actual changes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GitHub Copilot Ecosystem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Microsoft's AI assistant across platforms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Copilot in IDE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Autocomplete, chat, inline suggestions in VS Code and other editors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Copilot CLI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91840" y="1828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Terminal assistance, command suggestions, git help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28016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Copilot on GitHub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1828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 summaries, code review, issue triage directly on github.com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474720"/>
            <a:ext cx="822960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Enterprise Features: Check with IT about availability and licensing requirements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Section 7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53"/>
                </a:solidFill>
              </a:rPr>
              <a:t>Voice Workflow Integration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566160"/>
            <a:ext cx="1463040" cy="4572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The End-to-End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From voice to deployed code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1280160"/>
            <a:ext cx="1554480" cy="54864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Voice Input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7452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11680" y="1280160"/>
            <a:ext cx="1554480" cy="54864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9" name="Text 6"/>
          <p:cNvSpPr/>
          <p:nvPr/>
        </p:nvSpPr>
        <p:spPr>
          <a:xfrm>
            <a:off x="201168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Transcription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1188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49040" y="1280160"/>
            <a:ext cx="1554480" cy="54864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2" name="Text 9"/>
          <p:cNvSpPr/>
          <p:nvPr/>
        </p:nvSpPr>
        <p:spPr>
          <a:xfrm>
            <a:off x="374904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AI Assistant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4924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0" y="1280160"/>
            <a:ext cx="1554480" cy="54864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Code Changes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8660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23760" y="1280160"/>
            <a:ext cx="1554480" cy="54864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Git/Deploy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Recommended Stacks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2377440"/>
            <a:ext cx="3840480" cy="1828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Security-First Stack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28346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SuperWhisper + Claude Code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100% local voice processing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CLI-based workflow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Best for PHI/sensitive data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80560" y="2377440"/>
            <a:ext cx="4206240" cy="1828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IDE-Centric Stack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63440" y="28346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WhisperFlow + Cursor/VS Code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Context-aware dictation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Visual IDE experience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Best for rapid prototyping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Quick Reference by Role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Recommended setups for different team members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2801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Developers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377440" y="12801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SuperWhisper/WhisperFlow + Claude Code + VS Code/Cursor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0" y="1280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Full voice-driven development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057400"/>
            <a:ext cx="82296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574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Data Scientists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377440" y="20574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Voice tool + Jupyter + Claude Code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0" y="20574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Analysis scripts, data pipelines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8229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8346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Researchers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377440" y="28346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Voice tool + Word/Docs integration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83680" y="2834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Documentation, report drafting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611880"/>
            <a:ext cx="82296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611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Admin Staff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377440" y="36118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Native dictation or WhisperFlow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83680" y="3611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</a:rPr>
              <a:t>Enhanced document creation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Section 8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53"/>
                </a:solidFill>
              </a:rPr>
              <a:t>Security &amp; Compliance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566160"/>
            <a:ext cx="1463040" cy="4572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Data Flow Awareness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Know where your data goes before you use a tool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560320" cy="2194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LOCAL ONLY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✓ SuperWhisper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✓ Ollama/Local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✓ On-device processing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Safe for all data types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2560320" cy="2194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YOUR AZURE TENANT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17373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</a:rPr>
              <a:t>✓ Azure OpenAI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</a:rPr>
              <a:t>✓ Azure AI Foundry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</a:rPr>
              <a:t>✓ VS Code + Azure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</a:rPr>
              <a:t>Data stays in your tenant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1280160"/>
            <a:ext cx="2743200" cy="2194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THIRD-PARTY CLOUD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1737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⚠ WhisperFlow (needs BAA)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⚠ Cursor (no BAA available)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⚠ Direct OpenAI API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Review compliance first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Always know the data flow BEFORE using a tool with sensitive information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PHI and Sensitive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Quick reference for HIPAA-sensitive information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560320" cy="2560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 SAFE FOR PHI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SuperWhisper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Local models (Ollama)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Azure OpenAI (w/ BAA)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On-premise solutions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2560320" cy="2560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⚠ NEEDS BAA FIRST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17373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WhisperFlow 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GitHub Copilot 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Azure AI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Cloud providers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1280160"/>
            <a:ext cx="2743200" cy="2560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✗ AVOID FOR PHI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17373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Cursor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Direct OpenAI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Free tier cloud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Unvetted extensions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Consumer AI products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When in doubt, ask IT or compliance before using a new tool with PHI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What NOT to 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Common mistakes that create compliance risks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✗ Dictating PHI into cloud tools without BAA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402336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✗ Using personal API keys for work projects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402336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331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✗ Disabling security prompts to save time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194560"/>
            <a:ext cx="402336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2331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✗ Sharing API keys in code repositories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108960"/>
            <a:ext cx="402336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✗ Using Cursor for PHI (no BAA available)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3108960"/>
            <a:ext cx="402336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✗ Assuming 'private mode' means HIPAA compliant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Review these with your team - awareness prevents incidents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Section 9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53"/>
                </a:solidFill>
              </a:rPr>
              <a:t>Next Steps &amp; Wrap-Up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566160"/>
            <a:ext cx="1463040" cy="4572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Pre-Work for Part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Install these before our next session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Voice Input (Choose One)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☐ SuperWhisper (Mac users)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☐ WhisperFlow (Windows/cross-platform)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☐ Native OS dictation (fallback)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Code Editor (Choose One)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☐ VS Code with Continue.dev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☐ Cursor (non-PHI work only)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☐ Your existing IDE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4114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AI Assistant (Optional)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291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☐ Claude Code (npm install -g @anthropic-ai/claude-code)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834640"/>
            <a:ext cx="3931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Also Verify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3291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☐ Azure access (if applicable)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☐ Microphone works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☐ Git configured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Having issues? Contact IT before Part 2 for tool access requests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Coming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What to expect in Parts 2 and 3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840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Part 2: Hands-On Practice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Work with your actual projects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Real workflow exercises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Troubleshooting common issues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Productivity tips and shortcuts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Q&amp;A and individual help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1280160"/>
            <a:ext cx="42062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Part 3: Build a Transcriber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182880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End-to-end project together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Build a meeting transcription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Use voice-driven development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Deploy and share your creation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Certificate of completion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840480"/>
            <a:ext cx="8229600" cy="457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You'll leave this series with practical skills AND working software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657600" y="2468880"/>
            <a:ext cx="182880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377440" cy="822960"/>
          </a:xfrm>
          <a:prstGeom prst="round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RESOURCES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Links will be shared via email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3291840"/>
            <a:ext cx="2377440" cy="822960"/>
          </a:xfrm>
          <a:prstGeom prst="round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FEEDBACK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Survey link coming soon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291840"/>
            <a:ext cx="2377440" cy="822960"/>
          </a:xfrm>
          <a:prstGeom prst="round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SUPPORT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Contact IT for tool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Austin Public Health | AI Technology Training Series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Part 1 of 3 | Setup, Introduction &amp; Tool Overview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Voice-Driven AI Development Workflows - Part 1</dc:title>
  <dc:subject>PptxGenJS Presentation</dc:subject>
  <dc:creator>Austin Public Health</dc:creator>
  <cp:lastModifiedBy>Austin Public Health</cp:lastModifiedBy>
  <cp:revision>1</cp:revision>
  <dcterms:created xsi:type="dcterms:W3CDTF">2026-01-14T07:45:42Z</dcterms:created>
  <dcterms:modified xsi:type="dcterms:W3CDTF">2026-01-14T07:45:42Z</dcterms:modified>
</cp:coreProperties>
</file>