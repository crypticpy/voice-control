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06"/>
    <p:restoredTop sz="94610"/>
  </p:normalViewPr>
  <p:slideViewPr>
    <p:cSldViewPr snapToGrid="0" snapToObjects="1">
      <p:cViewPr varScale="1">
        <p:scale>
          <a:sx n="320" d="100"/>
          <a:sy n="320" d="100"/>
        </p:scale>
        <p:origin x="1808"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469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Part 1 of our Voice-Driven AI Development Workflows series. Today we're covering setup, introduction, and tool overview. This 90-minute session will give you the foundation to start using voice-driven development.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full series. Today is Part 1 focusing on understanding the tools. Part 2 will be hands-on practice with your own projects. Part 3 culminates in building a real meeting transcriber application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we think faster than we type. Voice-driven development closes that gap. The quote from our research captures it well - keyboards are a bottleneck. Voice input lets you work at the speed of thought.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benefits to highlight. Ergonomic benefits are significant for anyone typing all day. Productivity gains come from faster iteration. Multitasking becomes possible when your hands are free. And accessibility opens development to more people.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training isn't just for developers. Data scientists can dictate analysis scripts. Researchers and epidemiologists can draft reports while reviewing data. Even admin staff benefit from better dictation tools. Everyone here will find something useful.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agenda for today. Note the time allocations - we'll spend most time on voice input tools since those are foundational. We'll end with security considerations which are critical for government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Now we're getting into the tools. The acoustic layer is your first point of contact - capturing your voice and turning it into text that AI can understand.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is our primary recommendation. Key updates: it now works on BOTH Mac AND Windows. The critical point is 100% local processing - your voice data never leaves your device. This makes compliance much simpler.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why local processing matters. With SuperWhisper, the entire flow stays on your machine. Compare this to cloud processing where your voice goes to external servers. For PHI and sensitive data, local is the only option.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 installation is straightforward. You can use the App Store for automatic updates, or download directly from superwhisper.com. The App Store version is recommended for most users.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installation is new and important to cover. Download the installer from superwhisper.com, run through the setup wizard, and configure your default audio device. GPU acceleration is supported if you have an NVIDIA card.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tour the interface. On Mac, look for the menu bar icon. On Windows, it's in the system tray. The colored indicator shows recording status. Click to access settings and mode selection.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SuperWhisper has two main modes. Dictation Mode is pure transcription - what you say becomes text. AI Mode adds intelligence - it can follow instructions, format code, fix grammar. Use Dictation for speed, AI Mode for polish.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selection affects speed and accuracy. Tiny and Base are fast but less accurate. Medium is the sweet spot for most users. Large is most accurate but requires more RAM and processing time. Match to your hardware.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tips for getting the most out of SuperWhisper. Speak naturally - don't robot-speak. Use natural pauses instead of saying punctuation. The hold-to-record hotkey gives you precise control.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 is our cross-platform alternative. It works on Mac, Windows, AND Linux. There's a free tier to try it out. The key differentiator is context awareness - it knows when you're coding vs writing an email.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Wispr Flow is simple. Download from wispr.ai, run the installer, and sign in. The free tier gives you limited transcription, paid unlocks unlimited use.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SLIDE for government users. Wispr Flow's Privacy Mode enables local-only processing. You MUST enable this for any work involving PHI or sensitive data. Go to Settings, Privacy, Enable Local Mode.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Flow's killer features include context awareness, command mode for text transformation, and flow state optimization. It learns your patterns over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Wispr Flow integrates deeply with Cursor and VS Code. It can detect what language you're coding in and adjust formatting accordingly.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settings let you customize hotkeys, auto-punctuation behavior, and language preferences. Take time to configure these for your workflow.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of SuperWhisper vs Wispr Flow. SuperWhisper wins on simplicity and guaranteed local processing. Wispr Flow wins on features and cross-platform support.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matrix includes native OS dictation options too. Key takeaway: for PHI safety, use SuperWhisper or Wispr Flow with Privacy Mode enabled.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flowchart to help you choose. Start with your platform, then consider security requirements, then budget. Most government users should prioritize local processing.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Now we move from voice input to AI assistants - the reasoning layer that turns your spoken intent into actual code.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picture: Voice goes to transcription, then to an AI assistant, then becomes code. We're covering three categories: CLI agents, IDE extensions, and AI-native editors.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is a terminal-based AI coding agent. It's different from chatting with Claude in a browser - this is an autonomous agent that can read your files, write code, and run commands.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Claude Code requires Node.js 18+. Run npm install globally, then set your API key. First run will prompt for permissions.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commands to know: /help shows all commands, /clear resets context, /compact summarizes for long sessions, /init creates a CLAUDE.md file, /cost shows token usage.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CLAUDE.md is your project context file. Put it in your project root. Include architecture decisions, coding standards, file structure, and any constraints. Claude reads this automatically.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 Claude Code workflow is powerful. Dictate your intent with SuperWhisper, paste into terminal, Claude executes. The terminal interface pairs naturally with voice input.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extensions provide in-editor AI assistance. Continue.dev is open-source and configurable. GitHub Copilot is the industry standard. Cody focuses on codebase understanding.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enterprise compliance, configure VS Code to use Azure OpenAI endpoints. This keeps your code within your Azure tenant. Continue.dev supports custom endpoints natively.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is an AI-native code editor built on VS Code. Composer mode lets you describe changes across multiple files. Inline editing with Cmd+K is fast for quick fixes.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matrix for AI assistants. Claude Code excels at autonomous multi-file operations. VS Code is best for enterprise compliance. Cursor is fastest for inline editing.</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Claude Code for voice-driven development. The terminal interface is a natural fit for voice input. You dictate, paste, and Claude executes.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Enterprise configuration. This is where we connect our tools to secure Azure endpoints.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OpenAI is Microsoft's hosted version of OpenAI models. Key difference from direct OpenAI: your data stays in your Azure tenant. You need an Azure subscription and deployment.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cloud options: GCC for general government work, GCC-High for DoD and controlled unclassified information. Note the different domain: .azure.us instead of .azure.com.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involves setting environment variables for your endpoint URL and API key. Authentication can use API key or Azure AD depending on your setup.</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Palantir Foundry access, you can use the same AI models through that infrastructure. This may be relevant for some health departments.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runs models locally on your machine. This is the ultimate in privacy - completely air-gapped. Good for experimenting but requires significant hardware.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options summary. Azure OpenAI is recommended for most government use. Ollama for air-gapped requirements. Direct APIs only for non-sensitive work.</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Deep dive into CLI tools, specifically Claude Code's advanced features.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are organized by function: session management, information queries, and actions. The most useful are /help, /clear, /compact, and /init.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let you run scripts automatically. PreToolUse runs before Claude takes an action. PostToolUse runs after. Notification hooks alert you to events.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 connects Claude to external systems. Examples include database access, API integrations, and file system extensions. Review permissions carefully.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let Claude delegate specialized tasks. For complex operations, Claude can spawn focused agents for research, testing, or specific file operations.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features are built-in for good reason. Permission prompts for file access, command execution safeguards, and sensitive data detection. Don't bypass these.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summary: Use CLAUDE.md for context, leverage slash commands, set up hooks for your workflow, be thoughtful about MCP permissions.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CI/CD integration - connecting voice workflows to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can trigger Claude Code for automated tasks. Use cases include PR reviews, documentation generation, and code refactoring. The YAML workflow shows the pattern.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Enterprise adds custom models trained on your codebase, knowledge bases from your docs, and policy controls. Check with IT for availability.</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Putting it all together into a complete workflow.</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flow: Speak your intent, transcribe with SuperWhisper or Wispr Flow, paste into Claude Code or your IDE, process and iterate, execute and deploy.</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by role. Developers get the full stack. Data analysts focus on voice + notebooks. IT/DevOps use CI/CD integration. Everyone starts with voice tools.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Security and compliance - critical for government work.</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awareness diagram. Green is local and safe - SuperWhisper, local Ollama. Blue is your Azure tenant - verify BAA status. Red is public cloud - avoid for PHI.</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guidance: Safe tools include SuperWhisper, Wispr Flow with Privacy Mode, and Azure with BAA. Not safe: direct OpenAI APIs, ChatGPT free tier, default cloud dictation.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mistakes to avoid. Don't paste PHI into public AI tools. Don't use cloud dictation for sensitive conversations. Don't skip privacy mode configuration.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checklist. Before starting: verify tool configuration, check privacy mode, confirm endpoint routing. Before each use: consider data sensitivity, choose appropriate tool.</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Wrapping up and preparing for Part 2.</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Pre-work for Part 2: Install SuperWhisper or Wispr Flow, install Claude Code, set up your API keys, identify a project to work on, bring questions.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preview: Real hands-on exercises with your own projects. We'll troubleshoot issues together and share tips. You'll leave with working tools.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Part 1 of 3 complete. Questions? Reach out anytime. See you in Part 2 for hands-on practice.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5f89053c.png"/>
          <p:cNvPicPr>
            <a:picLocks noChangeAspect="1"/>
          </p:cNvPicPr>
          <p:nvPr/>
        </p:nvPicPr>
        <p:blipFill>
          <a:blip r:embed="rId3"/>
          <a:stretch>
            <a:fillRect/>
          </a:stretch>
        </p:blipFill>
        <p:spPr>
          <a:xfrm>
            <a:off x="0" y="0"/>
            <a:ext cx="5850434" cy="5143500"/>
          </a:xfrm>
          <a:prstGeom prst="rect">
            <a:avLst/>
          </a:prstGeom>
        </p:spPr>
      </p:pic>
      <p:sp>
        <p:nvSpPr>
          <p:cNvPr id="3" name="Text 0"/>
          <p:cNvSpPr/>
          <p:nvPr/>
        </p:nvSpPr>
        <p:spPr>
          <a:xfrm>
            <a:off x="457200" y="993577"/>
            <a:ext cx="5034754" cy="146596"/>
          </a:xfrm>
          <a:prstGeom prst="rect">
            <a:avLst/>
          </a:prstGeom>
          <a:noFill/>
          <a:ln/>
        </p:spPr>
        <p:txBody>
          <a:bodyPr wrap="square" lIns="0" tIns="0" rIns="0" bIns="0" rtlCol="0" anchor="t"/>
          <a:lstStyle/>
          <a:p>
            <a:pPr marL="0" indent="0" algn="l">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483072"/>
            <a:ext cx="2836926" cy="921841"/>
          </a:xfrm>
          <a:prstGeom prst="rect">
            <a:avLst/>
          </a:prstGeom>
          <a:noFill/>
          <a:ln/>
        </p:spPr>
        <p:txBody>
          <a:bodyPr wrap="square" lIns="0" tIns="0" rIns="0" bIns="0" rtlCol="0" anchor="t"/>
          <a:lstStyle/>
          <a:p>
            <a:pPr marL="0" indent="0" algn="l">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Voice-Driven AI Development</a:t>
            </a:r>
            <a:endParaRPr lang="en-US" sz="3300" dirty="0"/>
          </a:p>
        </p:txBody>
      </p:sp>
      <p:sp>
        <p:nvSpPr>
          <p:cNvPr id="5" name="Text 2"/>
          <p:cNvSpPr/>
          <p:nvPr/>
        </p:nvSpPr>
        <p:spPr>
          <a:xfrm>
            <a:off x="457200" y="2709714"/>
            <a:ext cx="5034754" cy="319980"/>
          </a:xfrm>
          <a:prstGeom prst="rect">
            <a:avLst/>
          </a:prstGeom>
          <a:noFill/>
          <a:ln/>
        </p:spPr>
        <p:txBody>
          <a:bodyPr wrap="square" lIns="0" tIns="0" rIns="0" bIns="0" rtlCol="0" anchor="t"/>
          <a:lstStyle/>
          <a:p>
            <a:pPr marL="0" indent="0" algn="l">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Workflows</a:t>
            </a:r>
            <a:endParaRPr lang="en-US" sz="1800" dirty="0"/>
          </a:p>
        </p:txBody>
      </p:sp>
      <p:sp>
        <p:nvSpPr>
          <p:cNvPr id="6" name="Text 3"/>
          <p:cNvSpPr/>
          <p:nvPr/>
        </p:nvSpPr>
        <p:spPr>
          <a:xfrm>
            <a:off x="457200" y="3486894"/>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963144"/>
            <a:ext cx="5034754" cy="186630"/>
          </a:xfrm>
          <a:prstGeom prst="rect">
            <a:avLst/>
          </a:prstGeom>
          <a:noFill/>
          <a:ln/>
        </p:spPr>
        <p:txBody>
          <a:bodyPr wrap="square" lIns="0" tIns="0" rIns="0" bIns="0" rtlCol="0" anchor="t"/>
          <a:lstStyle/>
          <a:p>
            <a:pPr marL="0" indent="0" algn="l">
              <a:lnSpc>
                <a:spcPts val="1470"/>
              </a:lnSpc>
              <a:buNone/>
            </a:pPr>
            <a:r>
              <a:rPr lang="en-US" sz="1050" dirty="0">
                <a:solidFill>
                  <a:srgbClr val="FFFFFF">
                    <a:alpha val="70000"/>
                  </a:srgbClr>
                </a:solidFill>
                <a:latin typeface="Arial" pitchFamily="34" charset="0"/>
                <a:ea typeface="Arial" pitchFamily="34" charset="-122"/>
                <a:cs typeface="Arial" pitchFamily="34" charset="-120"/>
              </a:rPr>
              <a:t>Part 1 of 3: Setup, Introduction &amp; Tool Overview</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9" name="Text 6"/>
          <p:cNvSpPr/>
          <p:nvPr/>
        </p:nvSpPr>
        <p:spPr>
          <a:xfrm>
            <a:off x="7223659" y="1525042"/>
            <a:ext cx="699516" cy="960090"/>
          </a:xfrm>
          <a:prstGeom prst="rect">
            <a:avLst/>
          </a:prstGeom>
          <a:noFill/>
          <a:ln/>
        </p:spPr>
        <p:txBody>
          <a:bodyPr wrap="square" lIns="0" tIns="0" rIns="0" bIns="0" rtlCol="0" anchor="t"/>
          <a:lstStyle/>
          <a:p>
            <a:pPr marL="0" indent="0" algn="ctr">
              <a:lnSpc>
                <a:spcPts val="7560"/>
              </a:lnSpc>
              <a:buNone/>
            </a:pPr>
            <a:r>
              <a:rPr lang="en-US" sz="5400" dirty="0">
                <a:solidFill>
                  <a:srgbClr val="1A1F2E"/>
                </a:solidFill>
                <a:latin typeface="Georgia" pitchFamily="34" charset="0"/>
                <a:ea typeface="Georgia" pitchFamily="34" charset="-122"/>
                <a:cs typeface="Georgia" pitchFamily="34" charset="-120"/>
              </a:rPr>
              <a:t>90</a:t>
            </a:r>
            <a:endParaRPr lang="en-US" sz="5400" dirty="0"/>
          </a:p>
        </p:txBody>
      </p:sp>
      <p:sp>
        <p:nvSpPr>
          <p:cNvPr id="10" name="Text 7"/>
          <p:cNvSpPr/>
          <p:nvPr/>
        </p:nvSpPr>
        <p:spPr>
          <a:xfrm>
            <a:off x="7199370" y="2675632"/>
            <a:ext cx="748094" cy="186630"/>
          </a:xfrm>
          <a:prstGeom prst="rect">
            <a:avLst/>
          </a:prstGeom>
          <a:noFill/>
          <a:ln/>
        </p:spPr>
        <p:txBody>
          <a:bodyPr wrap="square" lIns="0" tIns="0" rIns="0" bIns="0" rtlCol="0" anchor="t"/>
          <a:lstStyle/>
          <a:p>
            <a:pPr marL="0" indent="0" algn="ctr">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MINUTES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marL="0" indent="0" algn="ctr">
              <a:lnSpc>
                <a:spcPts val="1155"/>
              </a:lnSpc>
              <a:buNone/>
            </a:pPr>
            <a:r>
              <a:rPr lang="en-US" sz="825" dirty="0">
                <a:solidFill>
                  <a:srgbClr val="1A1F2E">
                    <a:alpha val="60000"/>
                  </a:srgbClr>
                </a:solidFill>
                <a:latin typeface="Arial" pitchFamily="34" charset="0"/>
                <a:ea typeface="Arial" pitchFamily="34" charset="-122"/>
                <a:cs typeface="Arial" pitchFamily="34" charset="-120"/>
              </a:rPr>
              <a:t>AI Technology Training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YOUR LEARNING JOURNEY</a:t>
            </a:r>
            <a:endParaRPr lang="en-US" sz="825" dirty="0"/>
          </a:p>
        </p:txBody>
      </p:sp>
      <p:sp>
        <p:nvSpPr>
          <p:cNvPr id="3" name="Text 1"/>
          <p:cNvSpPr/>
          <p:nvPr/>
        </p:nvSpPr>
        <p:spPr>
          <a:xfrm>
            <a:off x="457200" y="527596"/>
            <a:ext cx="6266498" cy="342900"/>
          </a:xfrm>
          <a:prstGeom prst="rect">
            <a:avLst/>
          </a:prstGeom>
          <a:noFill/>
          <a:ln/>
        </p:spPr>
        <p:txBody>
          <a:bodyPr wrap="square" lIns="0" tIns="0" rIns="0" bIns="0" rtlCol="0" anchor="t"/>
          <a:lstStyle/>
          <a:p>
            <a:pPr marL="0" indent="0" algn="l">
              <a:lnSpc>
                <a:spcPts val="2700"/>
              </a:lnSpc>
              <a:buNone/>
            </a:pPr>
            <a:r>
              <a:rPr lang="en-US" sz="2700" dirty="0">
                <a:solidFill>
                  <a:srgbClr val="1A1F2E"/>
                </a:solidFill>
                <a:latin typeface="Georgia" pitchFamily="34" charset="0"/>
                <a:ea typeface="Georgia" pitchFamily="34" charset="-122"/>
                <a:cs typeface="Georgia" pitchFamily="34" charset="-120"/>
              </a:rPr>
              <a:t>Three Sessions to Transform Your Workflow</a:t>
            </a:r>
            <a:endParaRPr lang="en-US" sz="2700" dirty="0"/>
          </a:p>
        </p:txBody>
      </p:sp>
      <p:sp>
        <p:nvSpPr>
          <p:cNvPr id="4" name="Text 2"/>
          <p:cNvSpPr/>
          <p:nvPr/>
        </p:nvSpPr>
        <p:spPr>
          <a:xfrm>
            <a:off x="457200" y="1415653"/>
            <a:ext cx="2603450" cy="3182689"/>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85800" y="1320403"/>
            <a:ext cx="675382" cy="2095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838200" y="1358503"/>
            <a:ext cx="377994"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TODAY</a:t>
            </a:r>
            <a:endParaRPr lang="en-US" sz="750" dirty="0"/>
          </a:p>
        </p:txBody>
      </p:sp>
      <p:sp>
        <p:nvSpPr>
          <p:cNvPr id="7" name="Text 5"/>
          <p:cNvSpPr/>
          <p:nvPr/>
        </p:nvSpPr>
        <p:spPr>
          <a:xfrm>
            <a:off x="723900"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01</a:t>
            </a:r>
            <a:endParaRPr lang="en-US" sz="3600" dirty="0"/>
          </a:p>
        </p:txBody>
      </p:sp>
      <p:sp>
        <p:nvSpPr>
          <p:cNvPr id="8" name="Text 6"/>
          <p:cNvSpPr/>
          <p:nvPr/>
        </p:nvSpPr>
        <p:spPr>
          <a:xfrm>
            <a:off x="723900"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FFFFFF"/>
                </a:solidFill>
                <a:latin typeface="Georgia" pitchFamily="34" charset="0"/>
                <a:ea typeface="Georgia" pitchFamily="34" charset="-122"/>
                <a:cs typeface="Georgia" pitchFamily="34" charset="-120"/>
              </a:rPr>
              <a:t>Setup &amp; Tool Overview</a:t>
            </a:r>
            <a:endParaRPr lang="en-US" sz="1350" dirty="0"/>
          </a:p>
        </p:txBody>
      </p:sp>
      <p:sp>
        <p:nvSpPr>
          <p:cNvPr id="9" name="Text 7"/>
          <p:cNvSpPr/>
          <p:nvPr/>
        </p:nvSpPr>
        <p:spPr>
          <a:xfrm>
            <a:off x="723900"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Voice input tools</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AI coding assistants</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Enterprise configuration</a:t>
            </a:r>
            <a:endParaRPr lang="en-US" sz="900" dirty="0"/>
          </a:p>
          <a:p>
            <a:pPr marL="0" indent="0" algn="l">
              <a:lnSpc>
                <a:spcPts val="1620"/>
              </a:lnSpc>
              <a:buNone/>
            </a:pPr>
            <a:r>
              <a:rPr lang="en-US" sz="900" dirty="0">
                <a:solidFill>
                  <a:srgbClr val="FFFFFF">
                    <a:alpha val="60000"/>
                  </a:srgbClr>
                </a:solidFill>
                <a:latin typeface="Arial" pitchFamily="34" charset="0"/>
                <a:ea typeface="Arial" pitchFamily="34" charset="-122"/>
                <a:cs typeface="Arial" pitchFamily="34" charset="-120"/>
              </a:rPr>
              <a:t>Security fundamentals</a:t>
            </a:r>
            <a:endParaRPr lang="en-US" sz="900" dirty="0"/>
          </a:p>
        </p:txBody>
      </p:sp>
      <p:sp>
        <p:nvSpPr>
          <p:cNvPr id="10" name="Text 8"/>
          <p:cNvSpPr/>
          <p:nvPr/>
        </p:nvSpPr>
        <p:spPr>
          <a:xfrm>
            <a:off x="723900"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40000"/>
                  </a:srgbClr>
                </a:solidFill>
                <a:latin typeface="Arial" pitchFamily="34" charset="0"/>
                <a:ea typeface="Arial" pitchFamily="34" charset="-122"/>
                <a:cs typeface="Arial" pitchFamily="34" charset="-120"/>
              </a:rPr>
              <a:t>90 minutes</a:t>
            </a:r>
            <a:endParaRPr lang="en-US" sz="825" dirty="0"/>
          </a:p>
        </p:txBody>
      </p:sp>
      <p:sp>
        <p:nvSpPr>
          <p:cNvPr id="11" name="Text 9"/>
          <p:cNvSpPr/>
          <p:nvPr/>
        </p:nvSpPr>
        <p:spPr>
          <a:xfrm>
            <a:off x="3251150" y="1406128"/>
            <a:ext cx="2622500" cy="320173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3527375"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3527375"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Hands-On Practice</a:t>
            </a:r>
            <a:endParaRPr lang="en-US" sz="1350" dirty="0"/>
          </a:p>
        </p:txBody>
      </p:sp>
      <p:sp>
        <p:nvSpPr>
          <p:cNvPr id="14" name="Text 12"/>
          <p:cNvSpPr/>
          <p:nvPr/>
        </p:nvSpPr>
        <p:spPr>
          <a:xfrm>
            <a:off x="3527375"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Real workflow exercises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Your actual projects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Troubleshooting tips</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Productivity shortcuts</a:t>
            </a:r>
            <a:endParaRPr lang="en-US" sz="900" dirty="0"/>
          </a:p>
        </p:txBody>
      </p:sp>
      <p:sp>
        <p:nvSpPr>
          <p:cNvPr id="15" name="Text 13"/>
          <p:cNvSpPr/>
          <p:nvPr/>
        </p:nvSpPr>
        <p:spPr>
          <a:xfrm>
            <a:off x="3527375"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
        <p:nvSpPr>
          <p:cNvPr id="16" name="Text 14"/>
          <p:cNvSpPr/>
          <p:nvPr/>
        </p:nvSpPr>
        <p:spPr>
          <a:xfrm>
            <a:off x="6064151" y="1406128"/>
            <a:ext cx="2622500" cy="3201739"/>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6340376" y="1682353"/>
            <a:ext cx="2111451" cy="639961"/>
          </a:xfrm>
          <a:prstGeom prst="rect">
            <a:avLst/>
          </a:prstGeom>
          <a:noFill/>
          <a:ln/>
        </p:spPr>
        <p:txBody>
          <a:bodyPr wrap="square" lIns="0" tIns="0" rIns="0" bIns="0" rtlCol="0" anchor="t"/>
          <a:lstStyle/>
          <a:p>
            <a:pPr marL="0" indent="0" algn="l">
              <a:lnSpc>
                <a:spcPts val="5040"/>
              </a:lnSpc>
              <a:spcAft>
                <a:spcPts val="300"/>
              </a:spcAft>
              <a:buNone/>
            </a:pPr>
            <a:r>
              <a:rPr lang="en-US" sz="3600" dirty="0">
                <a:solidFill>
                  <a:srgbClr val="C9A227"/>
                </a:solidFill>
                <a:latin typeface="Georgia" pitchFamily="34" charset="0"/>
                <a:ea typeface="Georgia" pitchFamily="34" charset="-122"/>
                <a:cs typeface="Georgia" pitchFamily="34" charset="-120"/>
              </a:rPr>
              <a:t>03</a:t>
            </a:r>
            <a:endParaRPr lang="en-US" sz="3600" dirty="0"/>
          </a:p>
        </p:txBody>
      </p:sp>
      <p:sp>
        <p:nvSpPr>
          <p:cNvPr id="18" name="Text 16"/>
          <p:cNvSpPr/>
          <p:nvPr/>
        </p:nvSpPr>
        <p:spPr>
          <a:xfrm>
            <a:off x="6340376" y="2512814"/>
            <a:ext cx="2111451" cy="239911"/>
          </a:xfrm>
          <a:prstGeom prst="rect">
            <a:avLst/>
          </a:prstGeom>
          <a:noFill/>
          <a:ln/>
        </p:spPr>
        <p:txBody>
          <a:bodyPr wrap="square" lIns="0" tIns="0" rIns="0" bIns="0" rtlCol="0" anchor="t"/>
          <a:lstStyle/>
          <a:p>
            <a:pPr marL="0" indent="0" algn="l">
              <a:lnSpc>
                <a:spcPts val="1890"/>
              </a:lnSpc>
              <a:spcAft>
                <a:spcPts val="1200"/>
              </a:spcAft>
              <a:buNone/>
            </a:pPr>
            <a:r>
              <a:rPr lang="en-US" sz="1350" dirty="0">
                <a:solidFill>
                  <a:srgbClr val="1A1F2E"/>
                </a:solidFill>
                <a:latin typeface="Georgia" pitchFamily="34" charset="0"/>
                <a:ea typeface="Georgia" pitchFamily="34" charset="-122"/>
                <a:cs typeface="Georgia" pitchFamily="34" charset="-120"/>
              </a:rPr>
              <a:t>Build a Transcriber</a:t>
            </a:r>
            <a:endParaRPr lang="en-US" sz="1350" dirty="0"/>
          </a:p>
        </p:txBody>
      </p:sp>
      <p:sp>
        <p:nvSpPr>
          <p:cNvPr id="19" name="Text 17"/>
          <p:cNvSpPr/>
          <p:nvPr/>
        </p:nvSpPr>
        <p:spPr>
          <a:xfrm>
            <a:off x="6340376" y="3057525"/>
            <a:ext cx="2111451" cy="822722"/>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End-to-end project</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Meeting transcription app</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Voice-driven development</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Deploy and share</a:t>
            </a:r>
            <a:endParaRPr lang="en-US" sz="900" dirty="0"/>
          </a:p>
        </p:txBody>
      </p:sp>
      <p:sp>
        <p:nvSpPr>
          <p:cNvPr id="20" name="Text 18"/>
          <p:cNvSpPr/>
          <p:nvPr/>
        </p:nvSpPr>
        <p:spPr>
          <a:xfrm>
            <a:off x="6340376" y="4185047"/>
            <a:ext cx="2111451" cy="146596"/>
          </a:xfrm>
          <a:prstGeom prst="rect">
            <a:avLst/>
          </a:prstGeom>
          <a:noFill/>
          <a:ln/>
        </p:spPr>
        <p:txBody>
          <a:bodyPr wrap="square" lIns="0" tIns="0" rIns="0" bIns="0" rtlCol="0" anchor="t"/>
          <a:lstStyle/>
          <a:p>
            <a:pPr marL="0" indent="0" algn="l">
              <a:lnSpc>
                <a:spcPts val="1155"/>
              </a:lnSpc>
              <a:buNone/>
            </a:pPr>
            <a:r>
              <a:rPr lang="en-US" sz="825" dirty="0">
                <a:solidFill>
                  <a:srgbClr val="9CA3AF"/>
                </a:solidFill>
                <a:latin typeface="Arial" pitchFamily="34" charset="0"/>
                <a:ea typeface="Arial" pitchFamily="34" charset="-122"/>
                <a:cs typeface="Arial" pitchFamily="34" charset="-120"/>
              </a:rPr>
              <a:t>90 minutes</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3475"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457200" y="1119188"/>
            <a:ext cx="4109657" cy="487561"/>
          </a:xfrm>
          <a:prstGeom prst="rect">
            <a:avLst/>
          </a:prstGeom>
          <a:noFill/>
          <a:ln/>
        </p:spPr>
        <p:txBody>
          <a:bodyPr wrap="square" lIns="0" tIns="0" rIns="0" bIns="0" rtlCol="0" anchor="t"/>
          <a:lstStyle/>
          <a:p>
            <a:pPr marL="0" indent="0" algn="l">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1759148"/>
            <a:ext cx="4109657" cy="628650"/>
          </a:xfrm>
          <a:prstGeom prst="rect">
            <a:avLst/>
          </a:prstGeom>
          <a:noFill/>
          <a:ln/>
        </p:spPr>
        <p:txBody>
          <a:bodyPr wrap="square" lIns="0" tIns="0" rIns="0" bIns="0" rtlCol="0" anchor="t"/>
          <a:lstStyle/>
          <a:p>
            <a:pPr marL="0" indent="0" algn="l">
              <a:lnSpc>
                <a:spcPts val="2475"/>
              </a:lnSpc>
              <a:spcAft>
                <a:spcPts val="1800"/>
              </a:spcAft>
              <a:buNone/>
            </a:pPr>
            <a:r>
              <a:rPr lang="en-US" sz="1650" i="1" dirty="0">
                <a:solidFill>
                  <a:srgbClr val="FFFFFF"/>
                </a:solidFill>
                <a:latin typeface="Georgia" pitchFamily="34" charset="0"/>
                <a:ea typeface="Georgia" pitchFamily="34" charset="-122"/>
                <a:cs typeface="Georgia" pitchFamily="34" charset="-120"/>
              </a:rPr>
              <a:t>The keyboard is a bottleneck between your thoughts and your code.</a:t>
            </a:r>
            <a:endParaRPr lang="en-US" sz="1650" dirty="0"/>
          </a:p>
        </p:txBody>
      </p:sp>
      <p:sp>
        <p:nvSpPr>
          <p:cNvPr id="5" name="Text 3"/>
          <p:cNvSpPr/>
          <p:nvPr/>
        </p:nvSpPr>
        <p:spPr>
          <a:xfrm>
            <a:off x="457200" y="2768798"/>
            <a:ext cx="4109657" cy="314325"/>
          </a:xfrm>
          <a:prstGeom prst="rect">
            <a:avLst/>
          </a:prstGeom>
          <a:noFill/>
          <a:ln/>
        </p:spPr>
        <p:txBody>
          <a:bodyPr wrap="square" lIns="0" tIns="0" rIns="0" bIns="0" rtlCol="0" anchor="t"/>
          <a:lstStyle/>
          <a:p>
            <a:pPr marL="0" indent="0" algn="l">
              <a:lnSpc>
                <a:spcPts val="2475"/>
              </a:lnSpc>
              <a:spcAft>
                <a:spcPts val="2400"/>
              </a:spcAft>
              <a:buNone/>
            </a:pPr>
            <a:r>
              <a:rPr lang="en-US" sz="1650" i="1" dirty="0">
                <a:solidFill>
                  <a:srgbClr val="FFFFFF"/>
                </a:solidFill>
                <a:latin typeface="Georgia" pitchFamily="34" charset="0"/>
                <a:ea typeface="Georgia" pitchFamily="34" charset="-122"/>
                <a:cs typeface="Georgia" pitchFamily="34" charset="-120"/>
              </a:rPr>
              <a:t>Voice removes that bottleneck.</a:t>
            </a:r>
            <a:endParaRPr lang="en-US" sz="1650" dirty="0"/>
          </a:p>
        </p:txBody>
      </p:sp>
      <p:sp>
        <p:nvSpPr>
          <p:cNvPr id="6" name="Text 4"/>
          <p:cNvSpPr/>
          <p:nvPr/>
        </p:nvSpPr>
        <p:spPr>
          <a:xfrm>
            <a:off x="457200" y="3540323"/>
            <a:ext cx="4572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457200" y="3864173"/>
            <a:ext cx="4109657"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AI Toolkit Research</a:t>
            </a:r>
            <a:endParaRPr lang="en-US" sz="900" dirty="0"/>
          </a:p>
        </p:txBody>
      </p:sp>
      <p:sp>
        <p:nvSpPr>
          <p:cNvPr id="8" name="Text 6"/>
          <p:cNvSpPr/>
          <p:nvPr/>
        </p:nvSpPr>
        <p:spPr>
          <a:xfrm>
            <a:off x="5095875" y="0"/>
            <a:ext cx="4048125" cy="5143500"/>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5553075" y="922139"/>
            <a:ext cx="3196400" cy="685800"/>
          </a:xfrm>
          <a:prstGeom prst="rect">
            <a:avLst/>
          </a:prstGeom>
          <a:noFill/>
          <a:ln/>
        </p:spPr>
        <p:txBody>
          <a:bodyPr wrap="square" lIns="0" tIns="0" rIns="0" bIns="0" rtlCol="0" anchor="t"/>
          <a:lstStyle/>
          <a:p>
            <a:pPr marL="0" indent="0" algn="l">
              <a:lnSpc>
                <a:spcPts val="5400"/>
              </a:lnSpc>
              <a:buNone/>
            </a:pPr>
            <a:r>
              <a:rPr lang="en-US" sz="5400" dirty="0">
                <a:solidFill>
                  <a:srgbClr val="C9A227"/>
                </a:solidFill>
                <a:latin typeface="Georgia" pitchFamily="34" charset="0"/>
                <a:ea typeface="Georgia" pitchFamily="34" charset="-122"/>
                <a:cs typeface="Georgia" pitchFamily="34" charset="-120"/>
              </a:rPr>
              <a:t>150</a:t>
            </a:r>
            <a:endParaRPr lang="en-US" sz="5400" dirty="0"/>
          </a:p>
        </p:txBody>
      </p:sp>
      <p:sp>
        <p:nvSpPr>
          <p:cNvPr id="10" name="Text 8"/>
          <p:cNvSpPr/>
          <p:nvPr/>
        </p:nvSpPr>
        <p:spPr>
          <a:xfrm>
            <a:off x="5553075" y="1646039"/>
            <a:ext cx="3196400" cy="186630"/>
          </a:xfrm>
          <a:prstGeom prst="rect">
            <a:avLst/>
          </a:prstGeom>
          <a:noFill/>
          <a:ln/>
        </p:spPr>
        <p:txBody>
          <a:bodyPr wrap="square" lIns="0" tIns="0" rIns="0" bIns="0" rtlCol="0" anchor="t"/>
          <a:lstStyle/>
          <a:p>
            <a:pPr marL="0" indent="0" algn="l">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words per minute speaking</a:t>
            </a:r>
            <a:endParaRPr lang="en-US" sz="1050" dirty="0"/>
          </a:p>
        </p:txBody>
      </p:sp>
      <p:sp>
        <p:nvSpPr>
          <p:cNvPr id="11" name="Text 9"/>
          <p:cNvSpPr/>
          <p:nvPr/>
        </p:nvSpPr>
        <p:spPr>
          <a:xfrm>
            <a:off x="5553075" y="2137470"/>
            <a:ext cx="3133725" cy="9525"/>
          </a:xfrm>
          <a:prstGeom prst="rect">
            <a:avLst/>
          </a:prstGeom>
          <a:solidFill>
            <a:srgbClr val="E4E7ED"/>
          </a:solidFill>
          <a:ln/>
        </p:spPr>
        <p:txBody>
          <a:bodyPr wrap="square" rtlCol="0" anchor="ctr"/>
          <a:lstStyle/>
          <a:p>
            <a:pPr marL="0" indent="0">
              <a:buNone/>
            </a:pPr>
            <a:endParaRPr lang="en-US" dirty="0"/>
          </a:p>
        </p:txBody>
      </p:sp>
      <p:sp>
        <p:nvSpPr>
          <p:cNvPr id="12" name="Text 10"/>
          <p:cNvSpPr/>
          <p:nvPr/>
        </p:nvSpPr>
        <p:spPr>
          <a:xfrm>
            <a:off x="5553075" y="2451795"/>
            <a:ext cx="3196400" cy="685800"/>
          </a:xfrm>
          <a:prstGeom prst="rect">
            <a:avLst/>
          </a:prstGeom>
          <a:noFill/>
          <a:ln/>
        </p:spPr>
        <p:txBody>
          <a:bodyPr wrap="square" lIns="0" tIns="0" rIns="0" bIns="0" rtlCol="0" anchor="t"/>
          <a:lstStyle/>
          <a:p>
            <a:pPr marL="0" indent="0" algn="l">
              <a:lnSpc>
                <a:spcPts val="5400"/>
              </a:lnSpc>
              <a:buNone/>
            </a:pPr>
            <a:r>
              <a:rPr lang="en-US" sz="5400" dirty="0">
                <a:solidFill>
                  <a:srgbClr val="6B7280"/>
                </a:solidFill>
                <a:latin typeface="Georgia" pitchFamily="34" charset="0"/>
                <a:ea typeface="Georgia" pitchFamily="34" charset="-122"/>
                <a:cs typeface="Georgia" pitchFamily="34" charset="-120"/>
              </a:rPr>
              <a:t>40</a:t>
            </a:r>
            <a:endParaRPr lang="en-US" sz="5400" dirty="0"/>
          </a:p>
        </p:txBody>
      </p:sp>
      <p:sp>
        <p:nvSpPr>
          <p:cNvPr id="13" name="Text 11"/>
          <p:cNvSpPr/>
          <p:nvPr/>
        </p:nvSpPr>
        <p:spPr>
          <a:xfrm>
            <a:off x="5553075" y="3175695"/>
            <a:ext cx="3196400" cy="186630"/>
          </a:xfrm>
          <a:prstGeom prst="rect">
            <a:avLst/>
          </a:prstGeom>
          <a:noFill/>
          <a:ln/>
        </p:spPr>
        <p:txBody>
          <a:bodyPr wrap="square" lIns="0" tIns="0" rIns="0" bIns="0" rtlCol="0" anchor="t"/>
          <a:lstStyle/>
          <a:p>
            <a:pPr marL="0" indent="0" algn="l">
              <a:lnSpc>
                <a:spcPts val="1470"/>
              </a:lnSpc>
              <a:spcBef>
                <a:spcPts val="300"/>
              </a:spcBef>
              <a:buNone/>
            </a:pPr>
            <a:r>
              <a:rPr lang="en-US" sz="1050" dirty="0">
                <a:solidFill>
                  <a:srgbClr val="6B7280"/>
                </a:solidFill>
                <a:latin typeface="Arial" pitchFamily="34" charset="0"/>
                <a:ea typeface="Arial" pitchFamily="34" charset="-122"/>
                <a:cs typeface="Arial" pitchFamily="34" charset="-120"/>
              </a:rPr>
              <a:t>words per minute typing</a:t>
            </a:r>
            <a:endParaRPr lang="en-US" sz="1050" dirty="0"/>
          </a:p>
        </p:txBody>
      </p:sp>
      <p:sp>
        <p:nvSpPr>
          <p:cNvPr id="14" name="Text 12"/>
          <p:cNvSpPr/>
          <p:nvPr/>
        </p:nvSpPr>
        <p:spPr>
          <a:xfrm>
            <a:off x="5553075" y="3743325"/>
            <a:ext cx="3133725" cy="478036"/>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5716048" y="3895725"/>
            <a:ext cx="2807779" cy="173236"/>
          </a:xfrm>
          <a:prstGeom prst="rect">
            <a:avLst/>
          </a:prstGeom>
          <a:noFill/>
          <a:ln/>
        </p:spPr>
        <p:txBody>
          <a:bodyPr wrap="square" lIns="0" tIns="0" rIns="0" bIns="0" rtlCol="0" anchor="t"/>
          <a:lstStyle/>
          <a:p>
            <a:pPr marL="0" indent="0" algn="ctr">
              <a:lnSpc>
                <a:spcPts val="1365"/>
              </a:lnSpc>
              <a:buNone/>
            </a:pPr>
            <a:r>
              <a:rPr lang="en-US" sz="975" dirty="0">
                <a:solidFill>
                  <a:srgbClr val="FFFFFF"/>
                </a:solidFill>
                <a:latin typeface="Arial" pitchFamily="34" charset="0"/>
                <a:ea typeface="Arial" pitchFamily="34" charset="-122"/>
                <a:cs typeface="Arial" pitchFamily="34" charset="-120"/>
              </a:rPr>
              <a:t>Work at the speed of thought</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WHY IT MATTERS</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marL="0" indent="0" algn="l">
              <a:lnSpc>
                <a:spcPts val="2700"/>
              </a:lnSpc>
              <a:buNone/>
            </a:pPr>
            <a:r>
              <a:rPr lang="en-US" sz="2700" dirty="0">
                <a:solidFill>
                  <a:srgbClr val="FFFFFF"/>
                </a:solidFill>
                <a:latin typeface="Georgia" pitchFamily="34" charset="0"/>
                <a:ea typeface="Georgia" pitchFamily="34" charset="-122"/>
                <a:cs typeface="Georgia" pitchFamily="34" charset="-120"/>
              </a:rPr>
              <a:t>Key Benefits</a:t>
            </a:r>
            <a:endParaRPr lang="en-US" sz="2700" dirty="0"/>
          </a:p>
        </p:txBody>
      </p:sp>
      <p:sp>
        <p:nvSpPr>
          <p:cNvPr id="4" name="Text 2"/>
          <p:cNvSpPr/>
          <p:nvPr/>
        </p:nvSpPr>
        <p:spPr>
          <a:xfrm>
            <a:off x="4572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5" name="Text 3"/>
          <p:cNvSpPr/>
          <p:nvPr/>
        </p:nvSpPr>
        <p:spPr>
          <a:xfrm>
            <a:off x="6858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7703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01</a:t>
            </a:r>
            <a:endParaRPr lang="en-US" sz="1500" dirty="0"/>
          </a:p>
        </p:txBody>
      </p:sp>
      <p:sp>
        <p:nvSpPr>
          <p:cNvPr id="7" name="Text 5"/>
          <p:cNvSpPr/>
          <p:nvPr/>
        </p:nvSpPr>
        <p:spPr>
          <a:xfrm>
            <a:off x="6858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Ergonomic</a:t>
            </a:r>
            <a:endParaRPr lang="en-US" sz="1200" dirty="0"/>
          </a:p>
        </p:txBody>
      </p:sp>
      <p:sp>
        <p:nvSpPr>
          <p:cNvPr id="8" name="Text 6"/>
          <p:cNvSpPr/>
          <p:nvPr/>
        </p:nvSpPr>
        <p:spPr>
          <a:xfrm>
            <a:off x="6858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RSI prevention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Reduced physical strain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Accessibility support</a:t>
            </a:r>
            <a:endParaRPr lang="en-US" sz="900" dirty="0"/>
          </a:p>
        </p:txBody>
      </p:sp>
      <p:sp>
        <p:nvSpPr>
          <p:cNvPr id="9" name="Text 7"/>
          <p:cNvSpPr/>
          <p:nvPr/>
        </p:nvSpPr>
        <p:spPr>
          <a:xfrm>
            <a:off x="25527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10" name="Text 8"/>
          <p:cNvSpPr/>
          <p:nvPr/>
        </p:nvSpPr>
        <p:spPr>
          <a:xfrm>
            <a:off x="27813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28658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27813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Productivity</a:t>
            </a:r>
            <a:endParaRPr lang="en-US" sz="1200" dirty="0"/>
          </a:p>
        </p:txBody>
      </p:sp>
      <p:sp>
        <p:nvSpPr>
          <p:cNvPr id="13" name="Text 11"/>
          <p:cNvSpPr/>
          <p:nvPr/>
        </p:nvSpPr>
        <p:spPr>
          <a:xfrm>
            <a:off x="27813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Faster iteration cycles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Speak ideas as you think</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Reduce context switching</a:t>
            </a:r>
            <a:endParaRPr lang="en-US" sz="900" dirty="0"/>
          </a:p>
        </p:txBody>
      </p:sp>
      <p:sp>
        <p:nvSpPr>
          <p:cNvPr id="14" name="Text 12"/>
          <p:cNvSpPr/>
          <p:nvPr/>
        </p:nvSpPr>
        <p:spPr>
          <a:xfrm>
            <a:off x="46482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15" name="Text 13"/>
          <p:cNvSpPr/>
          <p:nvPr/>
        </p:nvSpPr>
        <p:spPr>
          <a:xfrm>
            <a:off x="48768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49613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48768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Multitasking</a:t>
            </a:r>
            <a:endParaRPr lang="en-US" sz="1200" dirty="0"/>
          </a:p>
        </p:txBody>
      </p:sp>
      <p:sp>
        <p:nvSpPr>
          <p:cNvPr id="18" name="Text 16"/>
          <p:cNvSpPr/>
          <p:nvPr/>
        </p:nvSpPr>
        <p:spPr>
          <a:xfrm>
            <a:off x="48768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Code while reviewing docs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Hands-free operation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Think out loud naturally</a:t>
            </a:r>
            <a:endParaRPr lang="en-US" sz="900" dirty="0"/>
          </a:p>
        </p:txBody>
      </p:sp>
      <p:sp>
        <p:nvSpPr>
          <p:cNvPr id="19" name="Text 17"/>
          <p:cNvSpPr/>
          <p:nvPr/>
        </p:nvSpPr>
        <p:spPr>
          <a:xfrm>
            <a:off x="6743700" y="1942207"/>
            <a:ext cx="1943100" cy="2205633"/>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6972300" y="2170807"/>
            <a:ext cx="381000" cy="381000"/>
          </a:xfrm>
          <a:prstGeom prst="rect">
            <a:avLst/>
          </a:prstGeom>
          <a:solidFill>
            <a:srgbClr val="C9A227"/>
          </a:solidFill>
          <a:ln/>
        </p:spPr>
        <p:txBody>
          <a:bodyPr wrap="square" rtlCol="0" anchor="ctr"/>
          <a:lstStyle/>
          <a:p>
            <a:pPr marL="0" indent="0">
              <a:buNone/>
            </a:pPr>
            <a:endParaRPr lang="en-US" dirty="0"/>
          </a:p>
        </p:txBody>
      </p:sp>
      <p:sp>
        <p:nvSpPr>
          <p:cNvPr id="21" name="Text 19"/>
          <p:cNvSpPr/>
          <p:nvPr/>
        </p:nvSpPr>
        <p:spPr>
          <a:xfrm>
            <a:off x="7056834" y="2227957"/>
            <a:ext cx="21617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Arial" pitchFamily="34" charset="0"/>
                <a:ea typeface="Arial" pitchFamily="34" charset="-122"/>
                <a:cs typeface="Arial" pitchFamily="34" charset="-120"/>
              </a:rPr>
              <a:t>04</a:t>
            </a:r>
            <a:endParaRPr lang="en-US" sz="1500" dirty="0"/>
          </a:p>
        </p:txBody>
      </p:sp>
      <p:sp>
        <p:nvSpPr>
          <p:cNvPr id="22" name="Text 20"/>
          <p:cNvSpPr/>
          <p:nvPr/>
        </p:nvSpPr>
        <p:spPr>
          <a:xfrm>
            <a:off x="6972300" y="2856607"/>
            <a:ext cx="1515618"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Accessibility</a:t>
            </a:r>
            <a:endParaRPr lang="en-US" sz="1200" dirty="0"/>
          </a:p>
        </p:txBody>
      </p:sp>
      <p:sp>
        <p:nvSpPr>
          <p:cNvPr id="23" name="Text 21"/>
          <p:cNvSpPr/>
          <p:nvPr/>
        </p:nvSpPr>
        <p:spPr>
          <a:xfrm>
            <a:off x="6972300" y="3336578"/>
            <a:ext cx="1515618" cy="582662"/>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Mobility accommodations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Inclusive workflows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Alternative input paths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429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AUDIENCE</a:t>
            </a:r>
            <a:endParaRPr lang="en-US" sz="825" dirty="0"/>
          </a:p>
        </p:txBody>
      </p:sp>
      <p:sp>
        <p:nvSpPr>
          <p:cNvPr id="3" name="Text 1"/>
          <p:cNvSpPr/>
          <p:nvPr/>
        </p:nvSpPr>
        <p:spPr>
          <a:xfrm>
            <a:off x="457200" y="565696"/>
            <a:ext cx="4206812" cy="342900"/>
          </a:xfrm>
          <a:prstGeom prst="rect">
            <a:avLst/>
          </a:prstGeom>
          <a:noFill/>
          <a:ln/>
        </p:spPr>
        <p:txBody>
          <a:bodyPr wrap="square" lIns="0" tIns="0" rIns="0" bIns="0" rtlCol="0" anchor="t"/>
          <a:lstStyle/>
          <a:p>
            <a:pPr marL="0" indent="0" algn="l">
              <a:lnSpc>
                <a:spcPts val="2700"/>
              </a:lnSpc>
              <a:buNone/>
            </a:pPr>
            <a:r>
              <a:rPr lang="en-US" sz="2700" dirty="0">
                <a:solidFill>
                  <a:srgbClr val="1A1F2E"/>
                </a:solidFill>
                <a:latin typeface="Georgia" pitchFamily="34" charset="0"/>
                <a:ea typeface="Georgia" pitchFamily="34" charset="-122"/>
                <a:cs typeface="Georgia" pitchFamily="34" charset="-120"/>
              </a:rPr>
              <a:t>Who Is This For?</a:t>
            </a:r>
            <a:endParaRPr lang="en-US" sz="2700" dirty="0"/>
          </a:p>
        </p:txBody>
      </p:sp>
      <p:sp>
        <p:nvSpPr>
          <p:cNvPr id="4" name="Text 2"/>
          <p:cNvSpPr/>
          <p:nvPr/>
        </p:nvSpPr>
        <p:spPr>
          <a:xfrm>
            <a:off x="457200" y="1964085"/>
            <a:ext cx="1943100" cy="1175147"/>
          </a:xfrm>
          <a:prstGeom prst="rect">
            <a:avLst/>
          </a:prstGeom>
          <a:solidFill>
            <a:srgbClr val="FFFFFF"/>
          </a:solidFill>
          <a:ln/>
        </p:spPr>
        <p:txBody>
          <a:bodyPr wrap="square" rtlCol="0" anchor="ctr"/>
          <a:lstStyle/>
          <a:p>
            <a:pPr marL="0" indent="0">
              <a:buNone/>
            </a:pPr>
            <a:endParaRPr lang="en-US" dirty="0"/>
          </a:p>
        </p:txBody>
      </p:sp>
      <p:sp>
        <p:nvSpPr>
          <p:cNvPr id="5" name="Shape 3"/>
          <p:cNvSpPr/>
          <p:nvPr/>
        </p:nvSpPr>
        <p:spPr>
          <a:xfrm>
            <a:off x="476250" y="1964085"/>
            <a:ext cx="0" cy="1175147"/>
          </a:xfrm>
          <a:prstGeom prst="line">
            <a:avLst/>
          </a:prstGeom>
          <a:noFill/>
          <a:ln w="38100">
            <a:solidFill>
              <a:srgbClr val="C9A227"/>
            </a:solidFill>
            <a:prstDash val="solid"/>
          </a:ln>
        </p:spPr>
        <p:txBody>
          <a:bodyPr/>
          <a:lstStyle/>
          <a:p>
            <a:endParaRPr lang="en-US"/>
          </a:p>
        </p:txBody>
      </p:sp>
      <p:sp>
        <p:nvSpPr>
          <p:cNvPr id="6" name="Text 4"/>
          <p:cNvSpPr/>
          <p:nvPr/>
        </p:nvSpPr>
        <p:spPr>
          <a:xfrm>
            <a:off x="685800" y="2154585"/>
            <a:ext cx="1554480" cy="200025"/>
          </a:xfrm>
          <a:prstGeom prst="rect">
            <a:avLst/>
          </a:prstGeom>
          <a:noFill/>
          <a:ln/>
        </p:spPr>
        <p:txBody>
          <a:bodyPr wrap="square" lIns="0" tIns="0" rIns="0" bIns="0" rtlCol="0" anchor="t"/>
          <a:lstStyle/>
          <a:p>
            <a:pPr marL="0" indent="0" algn="l">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Developers</a:t>
            </a:r>
            <a:endParaRPr lang="en-US" sz="1125" dirty="0"/>
          </a:p>
        </p:txBody>
      </p:sp>
      <p:sp>
        <p:nvSpPr>
          <p:cNvPr id="7" name="Text 5"/>
          <p:cNvSpPr/>
          <p:nvPr/>
        </p:nvSpPr>
        <p:spPr>
          <a:xfrm>
            <a:off x="685800" y="2583210"/>
            <a:ext cx="1554480" cy="365522"/>
          </a:xfrm>
          <a:prstGeom prst="rect">
            <a:avLst/>
          </a:prstGeom>
          <a:noFill/>
          <a:ln/>
        </p:spPr>
        <p:txBody>
          <a:bodyPr wrap="square" lIns="0" tIns="0" rIns="0" bIns="0" rtlCol="0" anchor="t"/>
          <a:lstStyle/>
          <a:p>
            <a:pPr marL="0" indent="0" algn="l">
              <a:lnSpc>
                <a:spcPts val="1440"/>
              </a:lnSpc>
              <a:buNone/>
            </a:pPr>
            <a:r>
              <a:rPr lang="en-US" sz="900" dirty="0">
                <a:solidFill>
                  <a:srgbClr val="6B7280"/>
                </a:solidFill>
                <a:latin typeface="Arial" pitchFamily="34" charset="0"/>
                <a:ea typeface="Arial" pitchFamily="34" charset="-122"/>
                <a:cs typeface="Arial" pitchFamily="34" charset="-120"/>
              </a:rPr>
              <a:t>Voice-driven coding, refactoring, and debugging</a:t>
            </a:r>
            <a:endParaRPr lang="en-US" sz="900" dirty="0"/>
          </a:p>
        </p:txBody>
      </p:sp>
      <p:sp>
        <p:nvSpPr>
          <p:cNvPr id="8" name="Text 6"/>
          <p:cNvSpPr/>
          <p:nvPr/>
        </p:nvSpPr>
        <p:spPr>
          <a:xfrm>
            <a:off x="2552700" y="1964085"/>
            <a:ext cx="1943100" cy="1175147"/>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2571750" y="1964085"/>
            <a:ext cx="0" cy="1175147"/>
          </a:xfrm>
          <a:prstGeom prst="line">
            <a:avLst/>
          </a:prstGeom>
          <a:noFill/>
          <a:ln w="38100">
            <a:solidFill>
              <a:srgbClr val="C9A227"/>
            </a:solidFill>
            <a:prstDash val="solid"/>
          </a:ln>
        </p:spPr>
        <p:txBody>
          <a:bodyPr/>
          <a:lstStyle/>
          <a:p>
            <a:endParaRPr lang="en-US"/>
          </a:p>
        </p:txBody>
      </p:sp>
      <p:sp>
        <p:nvSpPr>
          <p:cNvPr id="10" name="Text 8"/>
          <p:cNvSpPr/>
          <p:nvPr/>
        </p:nvSpPr>
        <p:spPr>
          <a:xfrm>
            <a:off x="2781300" y="2154585"/>
            <a:ext cx="1554480" cy="200025"/>
          </a:xfrm>
          <a:prstGeom prst="rect">
            <a:avLst/>
          </a:prstGeom>
          <a:noFill/>
          <a:ln/>
        </p:spPr>
        <p:txBody>
          <a:bodyPr wrap="square" lIns="0" tIns="0" rIns="0" bIns="0" rtlCol="0" anchor="t"/>
          <a:lstStyle/>
          <a:p>
            <a:pPr marL="0" indent="0" algn="l">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Data Scientists</a:t>
            </a:r>
            <a:endParaRPr lang="en-US" sz="1125" dirty="0"/>
          </a:p>
        </p:txBody>
      </p:sp>
      <p:sp>
        <p:nvSpPr>
          <p:cNvPr id="11" name="Text 9"/>
          <p:cNvSpPr/>
          <p:nvPr/>
        </p:nvSpPr>
        <p:spPr>
          <a:xfrm>
            <a:off x="2781300" y="2583210"/>
            <a:ext cx="1554480" cy="365522"/>
          </a:xfrm>
          <a:prstGeom prst="rect">
            <a:avLst/>
          </a:prstGeom>
          <a:noFill/>
          <a:ln/>
        </p:spPr>
        <p:txBody>
          <a:bodyPr wrap="square" lIns="0" tIns="0" rIns="0" bIns="0" rtlCol="0" anchor="t"/>
          <a:lstStyle/>
          <a:p>
            <a:pPr marL="0" indent="0" algn="l">
              <a:lnSpc>
                <a:spcPts val="1440"/>
              </a:lnSpc>
              <a:buNone/>
            </a:pPr>
            <a:r>
              <a:rPr lang="en-US" sz="900" dirty="0">
                <a:solidFill>
                  <a:srgbClr val="6B7280"/>
                </a:solidFill>
                <a:latin typeface="Arial" pitchFamily="34" charset="0"/>
                <a:ea typeface="Arial" pitchFamily="34" charset="-122"/>
                <a:cs typeface="Arial" pitchFamily="34" charset="-120"/>
              </a:rPr>
              <a:t>Dictate analysis scripts and documentation</a:t>
            </a:r>
            <a:endParaRPr lang="en-US" sz="900" dirty="0"/>
          </a:p>
        </p:txBody>
      </p:sp>
      <p:sp>
        <p:nvSpPr>
          <p:cNvPr id="12" name="Text 10"/>
          <p:cNvSpPr/>
          <p:nvPr/>
        </p:nvSpPr>
        <p:spPr>
          <a:xfrm>
            <a:off x="4648200" y="1964085"/>
            <a:ext cx="1943100" cy="1175147"/>
          </a:xfrm>
          <a:prstGeom prst="rect">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4667250" y="1964085"/>
            <a:ext cx="0" cy="1175147"/>
          </a:xfrm>
          <a:prstGeom prst="line">
            <a:avLst/>
          </a:prstGeom>
          <a:noFill/>
          <a:ln w="38100">
            <a:solidFill>
              <a:srgbClr val="C9A227"/>
            </a:solidFill>
            <a:prstDash val="solid"/>
          </a:ln>
        </p:spPr>
        <p:txBody>
          <a:bodyPr/>
          <a:lstStyle/>
          <a:p>
            <a:endParaRPr lang="en-US"/>
          </a:p>
        </p:txBody>
      </p:sp>
      <p:sp>
        <p:nvSpPr>
          <p:cNvPr id="14" name="Text 12"/>
          <p:cNvSpPr/>
          <p:nvPr/>
        </p:nvSpPr>
        <p:spPr>
          <a:xfrm>
            <a:off x="4876800" y="2154585"/>
            <a:ext cx="1554480" cy="200025"/>
          </a:xfrm>
          <a:prstGeom prst="rect">
            <a:avLst/>
          </a:prstGeom>
          <a:noFill/>
          <a:ln/>
        </p:spPr>
        <p:txBody>
          <a:bodyPr wrap="square" lIns="0" tIns="0" rIns="0" bIns="0" rtlCol="0" anchor="t"/>
          <a:lstStyle/>
          <a:p>
            <a:pPr marL="0" indent="0" algn="l">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Researchers</a:t>
            </a:r>
            <a:endParaRPr lang="en-US" sz="1125" dirty="0"/>
          </a:p>
        </p:txBody>
      </p:sp>
      <p:sp>
        <p:nvSpPr>
          <p:cNvPr id="15" name="Text 13"/>
          <p:cNvSpPr/>
          <p:nvPr/>
        </p:nvSpPr>
        <p:spPr>
          <a:xfrm>
            <a:off x="4876800" y="2583210"/>
            <a:ext cx="1554480" cy="365522"/>
          </a:xfrm>
          <a:prstGeom prst="rect">
            <a:avLst/>
          </a:prstGeom>
          <a:noFill/>
          <a:ln/>
        </p:spPr>
        <p:txBody>
          <a:bodyPr wrap="square" lIns="0" tIns="0" rIns="0" bIns="0" rtlCol="0" anchor="t"/>
          <a:lstStyle/>
          <a:p>
            <a:pPr marL="0" indent="0" algn="l">
              <a:lnSpc>
                <a:spcPts val="1440"/>
              </a:lnSpc>
              <a:buNone/>
            </a:pPr>
            <a:r>
              <a:rPr lang="en-US" sz="900" dirty="0">
                <a:solidFill>
                  <a:srgbClr val="6B7280"/>
                </a:solidFill>
                <a:latin typeface="Arial" pitchFamily="34" charset="0"/>
                <a:ea typeface="Arial" pitchFamily="34" charset="-122"/>
                <a:cs typeface="Arial" pitchFamily="34" charset="-120"/>
              </a:rPr>
              <a:t>Draft reports while reviewing data</a:t>
            </a:r>
            <a:endParaRPr lang="en-US" sz="900" dirty="0"/>
          </a:p>
        </p:txBody>
      </p:sp>
      <p:sp>
        <p:nvSpPr>
          <p:cNvPr id="16" name="Text 14"/>
          <p:cNvSpPr/>
          <p:nvPr/>
        </p:nvSpPr>
        <p:spPr>
          <a:xfrm>
            <a:off x="6743700" y="1964085"/>
            <a:ext cx="1943100" cy="1175147"/>
          </a:xfrm>
          <a:prstGeom prst="rect">
            <a:avLst/>
          </a:prstGeom>
          <a:solidFill>
            <a:srgbClr val="FFFFFF"/>
          </a:solidFill>
          <a:ln/>
        </p:spPr>
        <p:txBody>
          <a:bodyPr wrap="square" rtlCol="0" anchor="ctr"/>
          <a:lstStyle/>
          <a:p>
            <a:pPr marL="0" indent="0">
              <a:buNone/>
            </a:pPr>
            <a:endParaRPr lang="en-US" dirty="0"/>
          </a:p>
        </p:txBody>
      </p:sp>
      <p:sp>
        <p:nvSpPr>
          <p:cNvPr id="17" name="Shape 15"/>
          <p:cNvSpPr/>
          <p:nvPr/>
        </p:nvSpPr>
        <p:spPr>
          <a:xfrm>
            <a:off x="6762750" y="1964085"/>
            <a:ext cx="0" cy="1175147"/>
          </a:xfrm>
          <a:prstGeom prst="line">
            <a:avLst/>
          </a:prstGeom>
          <a:noFill/>
          <a:ln w="38100">
            <a:solidFill>
              <a:srgbClr val="C9A227"/>
            </a:solidFill>
            <a:prstDash val="solid"/>
          </a:ln>
        </p:spPr>
        <p:txBody>
          <a:bodyPr/>
          <a:lstStyle/>
          <a:p>
            <a:endParaRPr lang="en-US"/>
          </a:p>
        </p:txBody>
      </p:sp>
      <p:sp>
        <p:nvSpPr>
          <p:cNvPr id="18" name="Text 16"/>
          <p:cNvSpPr/>
          <p:nvPr/>
        </p:nvSpPr>
        <p:spPr>
          <a:xfrm>
            <a:off x="6972300" y="2154585"/>
            <a:ext cx="1554480" cy="200025"/>
          </a:xfrm>
          <a:prstGeom prst="rect">
            <a:avLst/>
          </a:prstGeom>
          <a:noFill/>
          <a:ln/>
        </p:spPr>
        <p:txBody>
          <a:bodyPr wrap="square" lIns="0" tIns="0" rIns="0" bIns="0" rtlCol="0" anchor="t"/>
          <a:lstStyle/>
          <a:p>
            <a:pPr marL="0" indent="0" algn="l">
              <a:lnSpc>
                <a:spcPts val="1575"/>
              </a:lnSpc>
              <a:spcAft>
                <a:spcPts val="600"/>
              </a:spcAft>
              <a:buNone/>
            </a:pPr>
            <a:r>
              <a:rPr lang="en-US" sz="1125" b="1" dirty="0">
                <a:solidFill>
                  <a:srgbClr val="1A1F2E"/>
                </a:solidFill>
                <a:latin typeface="Georgia" pitchFamily="34" charset="0"/>
                <a:ea typeface="Georgia" pitchFamily="34" charset="-122"/>
                <a:cs typeface="Georgia" pitchFamily="34" charset="-120"/>
              </a:rPr>
              <a:t>Admin Staff</a:t>
            </a:r>
            <a:endParaRPr lang="en-US" sz="1125" dirty="0"/>
          </a:p>
        </p:txBody>
      </p:sp>
      <p:sp>
        <p:nvSpPr>
          <p:cNvPr id="19" name="Text 17"/>
          <p:cNvSpPr/>
          <p:nvPr/>
        </p:nvSpPr>
        <p:spPr>
          <a:xfrm>
            <a:off x="6972300" y="2583210"/>
            <a:ext cx="1554480" cy="365522"/>
          </a:xfrm>
          <a:prstGeom prst="rect">
            <a:avLst/>
          </a:prstGeom>
          <a:noFill/>
          <a:ln/>
        </p:spPr>
        <p:txBody>
          <a:bodyPr wrap="square" lIns="0" tIns="0" rIns="0" bIns="0" rtlCol="0" anchor="t"/>
          <a:lstStyle/>
          <a:p>
            <a:pPr marL="0" indent="0" algn="l">
              <a:lnSpc>
                <a:spcPts val="1440"/>
              </a:lnSpc>
              <a:buNone/>
            </a:pPr>
            <a:r>
              <a:rPr lang="en-US" sz="900" dirty="0">
                <a:solidFill>
                  <a:srgbClr val="6B7280"/>
                </a:solidFill>
                <a:latin typeface="Arial" pitchFamily="34" charset="0"/>
                <a:ea typeface="Arial" pitchFamily="34" charset="-122"/>
                <a:cs typeface="Arial" pitchFamily="34" charset="-120"/>
              </a:rPr>
              <a:t>Enhanced dictation and document creation</a:t>
            </a:r>
            <a:endParaRPr lang="en-US" sz="900" dirty="0"/>
          </a:p>
        </p:txBody>
      </p:sp>
      <p:sp>
        <p:nvSpPr>
          <p:cNvPr id="20" name="Text 18"/>
          <p:cNvSpPr/>
          <p:nvPr/>
        </p:nvSpPr>
        <p:spPr>
          <a:xfrm>
            <a:off x="457200" y="4271070"/>
            <a:ext cx="8229600" cy="567630"/>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608076" y="4461570"/>
            <a:ext cx="7927848" cy="186630"/>
          </a:xfrm>
          <a:prstGeom prst="rect">
            <a:avLst/>
          </a:prstGeom>
          <a:noFill/>
          <a:ln/>
        </p:spPr>
        <p:txBody>
          <a:bodyPr wrap="square" lIns="0" tIns="0" rIns="0" bIns="0" rtlCol="0" anchor="t"/>
          <a:lstStyle/>
          <a:p>
            <a:pPr marL="0" indent="0" algn="ctr">
              <a:lnSpc>
                <a:spcPts val="1470"/>
              </a:lnSpc>
              <a:buNone/>
            </a:pPr>
            <a:r>
              <a:rPr lang="en-US" sz="1050" dirty="0">
                <a:solidFill>
                  <a:srgbClr val="FFFFFF"/>
                </a:solidFill>
                <a:latin typeface="Arial" pitchFamily="34" charset="0"/>
                <a:ea typeface="Arial" pitchFamily="34" charset="-122"/>
                <a:cs typeface="Arial" pitchFamily="34" charset="-120"/>
              </a:rPr>
              <a:t>Everyone benefits from voice input — it's not just for coders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152775"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457200" y="1597372"/>
            <a:ext cx="2283142"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TODAY</a:t>
            </a:r>
            <a:endParaRPr lang="en-US" sz="825" dirty="0"/>
          </a:p>
        </p:txBody>
      </p:sp>
      <p:sp>
        <p:nvSpPr>
          <p:cNvPr id="4" name="Text 2"/>
          <p:cNvSpPr/>
          <p:nvPr/>
        </p:nvSpPr>
        <p:spPr>
          <a:xfrm>
            <a:off x="457200" y="2048768"/>
            <a:ext cx="1214438" cy="419100"/>
          </a:xfrm>
          <a:prstGeom prst="rect">
            <a:avLst/>
          </a:prstGeom>
          <a:noFill/>
          <a:ln/>
        </p:spPr>
        <p:txBody>
          <a:bodyPr wrap="square" lIns="0" tIns="0" rIns="0" bIns="0" rtlCol="0" anchor="t"/>
          <a:lstStyle/>
          <a:p>
            <a:pPr marL="0" indent="0" algn="l">
              <a:lnSpc>
                <a:spcPts val="3300"/>
              </a:lnSpc>
              <a:spcAft>
                <a:spcPts val="1500"/>
              </a:spcAft>
              <a:buNone/>
            </a:pPr>
            <a:r>
              <a:rPr lang="en-US" sz="3000" dirty="0">
                <a:solidFill>
                  <a:srgbClr val="1A1F2E"/>
                </a:solidFill>
                <a:latin typeface="Georgia" pitchFamily="34" charset="0"/>
                <a:ea typeface="Georgia" pitchFamily="34" charset="-122"/>
                <a:cs typeface="Georgia" pitchFamily="34" charset="-120"/>
              </a:rPr>
              <a:t>Agenda</a:t>
            </a:r>
            <a:endParaRPr lang="en-US" sz="3000" dirty="0"/>
          </a:p>
        </p:txBody>
      </p:sp>
      <p:sp>
        <p:nvSpPr>
          <p:cNvPr id="5" name="Text 3"/>
          <p:cNvSpPr/>
          <p:nvPr/>
        </p:nvSpPr>
        <p:spPr>
          <a:xfrm>
            <a:off x="457200" y="2810768"/>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457200" y="3172718"/>
            <a:ext cx="2283142" cy="373261"/>
          </a:xfrm>
          <a:prstGeom prst="rect">
            <a:avLst/>
          </a:prstGeom>
          <a:noFill/>
          <a:ln/>
        </p:spPr>
        <p:txBody>
          <a:bodyPr wrap="square" lIns="0" tIns="0" rIns="0" bIns="0" rtlCol="0" anchor="t"/>
          <a:lstStyle/>
          <a:p>
            <a:pPr marL="0" indent="0" algn="l">
              <a:lnSpc>
                <a:spcPts val="1470"/>
              </a:lnSpc>
              <a:buNone/>
            </a:pPr>
            <a:r>
              <a:rPr lang="en-US" sz="1050" dirty="0">
                <a:solidFill>
                  <a:srgbClr val="1A1F2E">
                    <a:alpha val="70000"/>
                  </a:srgbClr>
                </a:solidFill>
                <a:latin typeface="Arial" pitchFamily="34" charset="0"/>
                <a:ea typeface="Arial" pitchFamily="34" charset="-122"/>
                <a:cs typeface="Arial" pitchFamily="34" charset="-120"/>
              </a:rPr>
              <a:t>90 minutes to get you set up and ready</a:t>
            </a:r>
            <a:endParaRPr lang="en-US" sz="1050" dirty="0"/>
          </a:p>
        </p:txBody>
      </p:sp>
      <p:sp>
        <p:nvSpPr>
          <p:cNvPr id="7" name="Text 5"/>
          <p:cNvSpPr/>
          <p:nvPr/>
        </p:nvSpPr>
        <p:spPr>
          <a:xfrm>
            <a:off x="3305175" y="0"/>
            <a:ext cx="5838825"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3762375" y="973634"/>
            <a:ext cx="4924425" cy="453330"/>
          </a:xfrm>
          <a:prstGeom prst="rect">
            <a:avLst/>
          </a:prstGeom>
          <a:solidFill>
            <a:srgbClr val="1A1F2E"/>
          </a:solidFill>
          <a:ln/>
        </p:spPr>
        <p:txBody>
          <a:bodyPr wrap="square" rtlCol="0" anchor="ctr"/>
          <a:lstStyle/>
          <a:p>
            <a:pPr marL="0" indent="0">
              <a:buNone/>
            </a:pPr>
            <a:endParaRPr lang="en-US" dirty="0"/>
          </a:p>
        </p:txBody>
      </p:sp>
      <p:sp>
        <p:nvSpPr>
          <p:cNvPr id="9" name="Text 7"/>
          <p:cNvSpPr/>
          <p:nvPr/>
        </p:nvSpPr>
        <p:spPr>
          <a:xfrm>
            <a:off x="3952875" y="1120229"/>
            <a:ext cx="680085" cy="159990"/>
          </a:xfrm>
          <a:prstGeom prst="rect">
            <a:avLst/>
          </a:prstGeom>
          <a:noFill/>
          <a:ln/>
        </p:spPr>
        <p:txBody>
          <a:bodyPr wrap="square" lIns="0" tIns="0" rIns="0" bIns="0" rtlCol="0" anchor="t"/>
          <a:lstStyle/>
          <a:p>
            <a:pPr marL="0" indent="0" algn="l">
              <a:lnSpc>
                <a:spcPts val="1260"/>
              </a:lnSpc>
              <a:buNone/>
            </a:pPr>
            <a:r>
              <a:rPr lang="en-US" sz="900" b="1" dirty="0">
                <a:solidFill>
                  <a:srgbClr val="C9A227"/>
                </a:solidFill>
                <a:latin typeface="Arial" pitchFamily="34" charset="0"/>
                <a:ea typeface="Arial" pitchFamily="34" charset="-122"/>
                <a:cs typeface="Arial" pitchFamily="34" charset="-120"/>
              </a:rPr>
              <a:t>20 min</a:t>
            </a:r>
            <a:endParaRPr lang="en-US" sz="900" dirty="0"/>
          </a:p>
        </p:txBody>
      </p:sp>
      <p:sp>
        <p:nvSpPr>
          <p:cNvPr id="10" name="Text 8"/>
          <p:cNvSpPr/>
          <p:nvPr/>
        </p:nvSpPr>
        <p:spPr>
          <a:xfrm>
            <a:off x="4772025" y="1106984"/>
            <a:ext cx="1026048" cy="186630"/>
          </a:xfrm>
          <a:prstGeom prst="rect">
            <a:avLst/>
          </a:prstGeom>
          <a:noFill/>
          <a:ln/>
        </p:spPr>
        <p:txBody>
          <a:bodyPr wrap="square" lIns="0" tIns="0" rIns="0" bIns="0" rtlCol="0" anchor="t"/>
          <a:lstStyle/>
          <a:p>
            <a:pPr marL="0" indent="0" algn="l">
              <a:lnSpc>
                <a:spcPts val="1470"/>
              </a:lnSpc>
              <a:buNone/>
            </a:pPr>
            <a:r>
              <a:rPr lang="en-US" sz="1050" dirty="0">
                <a:solidFill>
                  <a:srgbClr val="FFFFFF"/>
                </a:solidFill>
                <a:latin typeface="Arial" pitchFamily="34" charset="0"/>
                <a:ea typeface="Arial" pitchFamily="34" charset="-122"/>
                <a:cs typeface="Arial" pitchFamily="34" charset="-120"/>
              </a:rPr>
              <a:t>Voice Input Tools</a:t>
            </a:r>
            <a:endParaRPr lang="en-US" sz="1050" dirty="0"/>
          </a:p>
        </p:txBody>
      </p:sp>
      <p:sp>
        <p:nvSpPr>
          <p:cNvPr id="11" name="Text 9"/>
          <p:cNvSpPr/>
          <p:nvPr/>
        </p:nvSpPr>
        <p:spPr>
          <a:xfrm>
            <a:off x="3762375" y="1503164"/>
            <a:ext cx="4924425" cy="47238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3962400" y="1659285"/>
            <a:ext cx="680085" cy="159990"/>
          </a:xfrm>
          <a:prstGeom prst="rect">
            <a:avLst/>
          </a:prstGeom>
          <a:noFill/>
          <a:ln/>
        </p:spPr>
        <p:txBody>
          <a:bodyPr wrap="square" lIns="0" tIns="0" rIns="0" bIns="0" rtlCol="0" anchor="t"/>
          <a:lstStyle/>
          <a:p>
            <a:pPr marL="0" indent="0" algn="l">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13" name="Text 11"/>
          <p:cNvSpPr/>
          <p:nvPr/>
        </p:nvSpPr>
        <p:spPr>
          <a:xfrm>
            <a:off x="4781550" y="1646039"/>
            <a:ext cx="1247531"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AI Coding Assistants</a:t>
            </a:r>
            <a:endParaRPr lang="en-US" sz="1050" dirty="0"/>
          </a:p>
        </p:txBody>
      </p:sp>
      <p:sp>
        <p:nvSpPr>
          <p:cNvPr id="14" name="Text 12"/>
          <p:cNvSpPr/>
          <p:nvPr/>
        </p:nvSpPr>
        <p:spPr>
          <a:xfrm>
            <a:off x="3762375" y="2051745"/>
            <a:ext cx="4924425" cy="47238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3962400" y="2207865"/>
            <a:ext cx="680085" cy="159990"/>
          </a:xfrm>
          <a:prstGeom prst="rect">
            <a:avLst/>
          </a:prstGeom>
          <a:noFill/>
          <a:ln/>
        </p:spPr>
        <p:txBody>
          <a:bodyPr wrap="square" lIns="0" tIns="0" rIns="0" bIns="0" rtlCol="0" anchor="t"/>
          <a:lstStyle/>
          <a:p>
            <a:pPr marL="0" indent="0" algn="l">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16" name="Text 14"/>
          <p:cNvSpPr/>
          <p:nvPr/>
        </p:nvSpPr>
        <p:spPr>
          <a:xfrm>
            <a:off x="4781550" y="2194620"/>
            <a:ext cx="1466889"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Enterprise Configuration</a:t>
            </a:r>
            <a:endParaRPr lang="en-US" sz="1050" dirty="0"/>
          </a:p>
        </p:txBody>
      </p:sp>
      <p:sp>
        <p:nvSpPr>
          <p:cNvPr id="17" name="Text 15"/>
          <p:cNvSpPr/>
          <p:nvPr/>
        </p:nvSpPr>
        <p:spPr>
          <a:xfrm>
            <a:off x="3762375" y="2600325"/>
            <a:ext cx="4924425" cy="47238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3962400" y="2756446"/>
            <a:ext cx="680085" cy="159990"/>
          </a:xfrm>
          <a:prstGeom prst="rect">
            <a:avLst/>
          </a:prstGeom>
          <a:noFill/>
          <a:ln/>
        </p:spPr>
        <p:txBody>
          <a:bodyPr wrap="square" lIns="0" tIns="0" rIns="0" bIns="0" rtlCol="0" anchor="t"/>
          <a:lstStyle/>
          <a:p>
            <a:pPr marL="0" indent="0" algn="l">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19" name="Text 17"/>
          <p:cNvSpPr/>
          <p:nvPr/>
        </p:nvSpPr>
        <p:spPr>
          <a:xfrm>
            <a:off x="4781550" y="2743200"/>
            <a:ext cx="1237512"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CLI Tools Deep Dive</a:t>
            </a:r>
            <a:endParaRPr lang="en-US" sz="1050" dirty="0"/>
          </a:p>
        </p:txBody>
      </p:sp>
      <p:sp>
        <p:nvSpPr>
          <p:cNvPr id="20" name="Text 18"/>
          <p:cNvSpPr/>
          <p:nvPr/>
        </p:nvSpPr>
        <p:spPr>
          <a:xfrm>
            <a:off x="3762375" y="3148905"/>
            <a:ext cx="4924425" cy="47238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3962400" y="3305026"/>
            <a:ext cx="680085" cy="159990"/>
          </a:xfrm>
          <a:prstGeom prst="rect">
            <a:avLst/>
          </a:prstGeom>
          <a:noFill/>
          <a:ln/>
        </p:spPr>
        <p:txBody>
          <a:bodyPr wrap="square" lIns="0" tIns="0" rIns="0" bIns="0" rtlCol="0" anchor="t"/>
          <a:lstStyle/>
          <a:p>
            <a:pPr marL="0" indent="0" algn="l">
              <a:lnSpc>
                <a:spcPts val="1260"/>
              </a:lnSpc>
              <a:buNone/>
            </a:pPr>
            <a:r>
              <a:rPr lang="en-US" sz="900" b="1" dirty="0">
                <a:solidFill>
                  <a:srgbClr val="C9A227"/>
                </a:solidFill>
                <a:latin typeface="Arial" pitchFamily="34" charset="0"/>
                <a:ea typeface="Arial" pitchFamily="34" charset="-122"/>
                <a:cs typeface="Arial" pitchFamily="34" charset="-120"/>
              </a:rPr>
              <a:t>10 min</a:t>
            </a:r>
            <a:endParaRPr lang="en-US" sz="900" dirty="0"/>
          </a:p>
        </p:txBody>
      </p:sp>
      <p:sp>
        <p:nvSpPr>
          <p:cNvPr id="22" name="Text 20"/>
          <p:cNvSpPr/>
          <p:nvPr/>
        </p:nvSpPr>
        <p:spPr>
          <a:xfrm>
            <a:off x="4781550" y="3291780"/>
            <a:ext cx="1050944"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CI/CD Integration</a:t>
            </a:r>
            <a:endParaRPr lang="en-US" sz="1050" dirty="0"/>
          </a:p>
        </p:txBody>
      </p:sp>
      <p:sp>
        <p:nvSpPr>
          <p:cNvPr id="23" name="Text 21"/>
          <p:cNvSpPr/>
          <p:nvPr/>
        </p:nvSpPr>
        <p:spPr>
          <a:xfrm>
            <a:off x="3762375" y="3697486"/>
            <a:ext cx="4924425" cy="47238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962400" y="3853607"/>
            <a:ext cx="680085" cy="159990"/>
          </a:xfrm>
          <a:prstGeom prst="rect">
            <a:avLst/>
          </a:prstGeom>
          <a:noFill/>
          <a:ln/>
        </p:spPr>
        <p:txBody>
          <a:bodyPr wrap="square" lIns="0" tIns="0" rIns="0" bIns="0" rtlCol="0" anchor="t"/>
          <a:lstStyle/>
          <a:p>
            <a:pPr marL="0" indent="0" algn="l">
              <a:lnSpc>
                <a:spcPts val="1260"/>
              </a:lnSpc>
              <a:buNone/>
            </a:pPr>
            <a:r>
              <a:rPr lang="en-US" sz="900" b="1" dirty="0">
                <a:solidFill>
                  <a:srgbClr val="C9A227"/>
                </a:solidFill>
                <a:latin typeface="Arial" pitchFamily="34" charset="0"/>
                <a:ea typeface="Arial" pitchFamily="34" charset="-122"/>
                <a:cs typeface="Arial" pitchFamily="34" charset="-120"/>
              </a:rPr>
              <a:t>15 min</a:t>
            </a:r>
            <a:endParaRPr lang="en-US" sz="900" dirty="0"/>
          </a:p>
        </p:txBody>
      </p:sp>
      <p:sp>
        <p:nvSpPr>
          <p:cNvPr id="25" name="Text 23"/>
          <p:cNvSpPr/>
          <p:nvPr/>
        </p:nvSpPr>
        <p:spPr>
          <a:xfrm>
            <a:off x="4781550" y="3840361"/>
            <a:ext cx="1199409"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Security &amp; Wrap-Up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57411"/>
            <a:ext cx="1182407" cy="186630"/>
          </a:xfrm>
          <a:prstGeom prst="rect">
            <a:avLst/>
          </a:prstGeom>
          <a:noFill/>
          <a:ln/>
        </p:spPr>
        <p:txBody>
          <a:bodyPr wrap="square" lIns="0" tIns="0" rIns="0" bIns="0" rtlCol="0" anchor="t"/>
          <a:lstStyle/>
          <a:p>
            <a:pPr marL="0" indent="0" algn="ctr">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02</a:t>
            </a:r>
            <a:endParaRPr lang="en-US" sz="1050" dirty="0"/>
          </a:p>
        </p:txBody>
      </p:sp>
      <p:sp>
        <p:nvSpPr>
          <p:cNvPr id="3" name="Text 1"/>
          <p:cNvSpPr/>
          <p:nvPr/>
        </p:nvSpPr>
        <p:spPr>
          <a:xfrm>
            <a:off x="2925831" y="1525042"/>
            <a:ext cx="3292188" cy="457200"/>
          </a:xfrm>
          <a:prstGeom prst="rect">
            <a:avLst/>
          </a:prstGeom>
          <a:noFill/>
          <a:ln/>
        </p:spPr>
        <p:txBody>
          <a:bodyPr wrap="square" lIns="0" tIns="0" rIns="0" bIns="0" rtlCol="0" anchor="t"/>
          <a:lstStyle/>
          <a:p>
            <a:pPr marL="0" indent="0" algn="ctr">
              <a:lnSpc>
                <a:spcPts val="3600"/>
              </a:lnSpc>
              <a:spcAft>
                <a:spcPts val="900"/>
              </a:spcAft>
              <a:buNone/>
            </a:pPr>
            <a:r>
              <a:rPr lang="en-US" sz="3600" dirty="0">
                <a:solidFill>
                  <a:srgbClr val="FFFFFF"/>
                </a:solidFill>
                <a:latin typeface="Georgia" pitchFamily="34" charset="0"/>
                <a:ea typeface="Georgia" pitchFamily="34" charset="-122"/>
                <a:cs typeface="Georgia" pitchFamily="34" charset="-120"/>
              </a:rPr>
              <a:t>Voice Input Tools</a:t>
            </a:r>
            <a:endParaRPr lang="en-US" sz="3600" dirty="0"/>
          </a:p>
        </p:txBody>
      </p:sp>
      <p:sp>
        <p:nvSpPr>
          <p:cNvPr id="4" name="Text 2"/>
          <p:cNvSpPr/>
          <p:nvPr/>
        </p:nvSpPr>
        <p:spPr>
          <a:xfrm>
            <a:off x="3742843" y="2248942"/>
            <a:ext cx="1658314" cy="293340"/>
          </a:xfrm>
          <a:prstGeom prst="rect">
            <a:avLst/>
          </a:prstGeom>
          <a:noFill/>
          <a:ln/>
        </p:spPr>
        <p:txBody>
          <a:bodyPr wrap="square" lIns="0" tIns="0" rIns="0" bIns="0" rtlCol="0" anchor="t"/>
          <a:lstStyle/>
          <a:p>
            <a:pPr marL="0" indent="0" algn="ctr">
              <a:lnSpc>
                <a:spcPts val="2310"/>
              </a:lnSpc>
              <a:spcAft>
                <a:spcPts val="2400"/>
              </a:spcAft>
              <a:buNone/>
            </a:pPr>
            <a:r>
              <a:rPr lang="en-US" sz="1650" i="1" dirty="0">
                <a:solidFill>
                  <a:srgbClr val="FFFFFF">
                    <a:alpha val="80000"/>
                  </a:srgbClr>
                </a:solidFill>
                <a:latin typeface="Georgia" pitchFamily="34" charset="0"/>
                <a:ea typeface="Georgia" pitchFamily="34" charset="-122"/>
                <a:cs typeface="Georgia" pitchFamily="34" charset="-120"/>
              </a:rPr>
              <a:t>The Acoustic Layer</a:t>
            </a:r>
            <a:endParaRPr lang="en-US" sz="1650" dirty="0"/>
          </a:p>
        </p:txBody>
      </p:sp>
      <p:sp>
        <p:nvSpPr>
          <p:cNvPr id="5" name="Text 3"/>
          <p:cNvSpPr/>
          <p:nvPr/>
        </p:nvSpPr>
        <p:spPr>
          <a:xfrm>
            <a:off x="4191000" y="2999482"/>
            <a:ext cx="7620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581406" y="3475732"/>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8</a:t>
            </a:r>
            <a:endParaRPr lang="en-US" sz="2100" dirty="0"/>
          </a:p>
        </p:txBody>
      </p:sp>
      <p:sp>
        <p:nvSpPr>
          <p:cNvPr id="7" name="Text 5"/>
          <p:cNvSpPr/>
          <p:nvPr/>
        </p:nvSpPr>
        <p:spPr>
          <a:xfrm>
            <a:off x="3310889" y="4039493"/>
            <a:ext cx="67720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SuperWhisper</a:t>
            </a:r>
            <a:endParaRPr lang="en-US" sz="825" dirty="0"/>
          </a:p>
        </p:txBody>
      </p:sp>
      <p:sp>
        <p:nvSpPr>
          <p:cNvPr id="8" name="Text 6"/>
          <p:cNvSpPr/>
          <p:nvPr/>
        </p:nvSpPr>
        <p:spPr>
          <a:xfrm>
            <a:off x="4553402" y="3475732"/>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6</a:t>
            </a:r>
            <a:endParaRPr lang="en-US" sz="2100" dirty="0"/>
          </a:p>
        </p:txBody>
      </p:sp>
      <p:sp>
        <p:nvSpPr>
          <p:cNvPr id="9" name="Text 7"/>
          <p:cNvSpPr/>
          <p:nvPr/>
        </p:nvSpPr>
        <p:spPr>
          <a:xfrm>
            <a:off x="4357269" y="4039493"/>
            <a:ext cx="528432"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Wispr Flow</a:t>
            </a:r>
            <a:endParaRPr lang="en-US" sz="825" dirty="0"/>
          </a:p>
        </p:txBody>
      </p:sp>
      <p:sp>
        <p:nvSpPr>
          <p:cNvPr id="10" name="Text 8"/>
          <p:cNvSpPr/>
          <p:nvPr/>
        </p:nvSpPr>
        <p:spPr>
          <a:xfrm>
            <a:off x="5475988" y="3475732"/>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11" name="Text 9"/>
          <p:cNvSpPr/>
          <p:nvPr/>
        </p:nvSpPr>
        <p:spPr>
          <a:xfrm>
            <a:off x="5255871" y="4039493"/>
            <a:ext cx="57625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Comparison</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30000"/>
                  </a:srgbClr>
                </a:solidFill>
                <a:latin typeface="Arial" pitchFamily="34" charset="0"/>
                <a:ea typeface="Arial" pitchFamily="34" charset="-122"/>
                <a:cs typeface="Arial" pitchFamily="34" charset="-120"/>
              </a:rPr>
              <a:t>20 minutes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213896"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621209"/>
            <a:ext cx="2185077"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PRIMARY RECOMMENDATION</a:t>
            </a:r>
            <a:endParaRPr lang="en-US" sz="825" dirty="0"/>
          </a:p>
        </p:txBody>
      </p:sp>
      <p:sp>
        <p:nvSpPr>
          <p:cNvPr id="4" name="Text 2"/>
          <p:cNvSpPr/>
          <p:nvPr/>
        </p:nvSpPr>
        <p:spPr>
          <a:xfrm>
            <a:off x="342900" y="977354"/>
            <a:ext cx="2312289" cy="323850"/>
          </a:xfrm>
          <a:prstGeom prst="rect">
            <a:avLst/>
          </a:prstGeom>
          <a:noFill/>
          <a:ln/>
        </p:spPr>
        <p:txBody>
          <a:bodyPr wrap="square" lIns="0" tIns="0" rIns="0" bIns="0" rtlCol="0" anchor="t"/>
          <a:lstStyle/>
          <a:p>
            <a:pPr marL="0" indent="0" algn="l">
              <a:lnSpc>
                <a:spcPts val="2550"/>
              </a:lnSpc>
              <a:spcAft>
                <a:spcPts val="450"/>
              </a:spcAft>
              <a:buNone/>
            </a:pPr>
            <a:r>
              <a:rPr lang="en-US" sz="2550" dirty="0">
                <a:solidFill>
                  <a:srgbClr val="1A1F2E"/>
                </a:solidFill>
                <a:latin typeface="Georgia" pitchFamily="34" charset="0"/>
                <a:ea typeface="Georgia" pitchFamily="34" charset="-122"/>
                <a:cs typeface="Georgia" pitchFamily="34" charset="-120"/>
              </a:rPr>
              <a:t>SuperWhisper</a:t>
            </a:r>
            <a:endParaRPr lang="en-US" sz="2550" dirty="0"/>
          </a:p>
        </p:txBody>
      </p:sp>
      <p:sp>
        <p:nvSpPr>
          <p:cNvPr id="5" name="Text 3"/>
          <p:cNvSpPr/>
          <p:nvPr/>
        </p:nvSpPr>
        <p:spPr>
          <a:xfrm>
            <a:off x="342900" y="1510754"/>
            <a:ext cx="4618658" cy="173236"/>
          </a:xfrm>
          <a:prstGeom prst="rect">
            <a:avLst/>
          </a:prstGeom>
          <a:noFill/>
          <a:ln/>
        </p:spPr>
        <p:txBody>
          <a:bodyPr wrap="square" lIns="0" tIns="0" rIns="0" bIns="0" rtlCol="0" anchor="t"/>
          <a:lstStyle/>
          <a:p>
            <a:pPr marL="0" indent="0" algn="l">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Local-first AI transcription for Mac and Windows</a:t>
            </a:r>
            <a:endParaRPr lang="en-US" sz="975" dirty="0"/>
          </a:p>
        </p:txBody>
      </p:sp>
      <p:sp>
        <p:nvSpPr>
          <p:cNvPr id="6" name="Text 4"/>
          <p:cNvSpPr/>
          <p:nvPr/>
        </p:nvSpPr>
        <p:spPr>
          <a:xfrm>
            <a:off x="342900" y="1988790"/>
            <a:ext cx="4528096" cy="798165"/>
          </a:xfrm>
          <a:prstGeom prst="rect">
            <a:avLst/>
          </a:prstGeom>
          <a:solidFill>
            <a:srgbClr val="FFFFFF"/>
          </a:solidFill>
          <a:ln/>
        </p:spPr>
        <p:txBody>
          <a:bodyPr wrap="square" rtlCol="0" anchor="ctr"/>
          <a:lstStyle/>
          <a:p>
            <a:pPr marL="0" indent="0">
              <a:buNone/>
            </a:pPr>
            <a:endParaRPr lang="en-US" dirty="0"/>
          </a:p>
        </p:txBody>
      </p:sp>
      <p:sp>
        <p:nvSpPr>
          <p:cNvPr id="7" name="Shape 5"/>
          <p:cNvSpPr/>
          <p:nvPr/>
        </p:nvSpPr>
        <p:spPr>
          <a:xfrm>
            <a:off x="361950" y="1988790"/>
            <a:ext cx="0" cy="798165"/>
          </a:xfrm>
          <a:prstGeom prst="line">
            <a:avLst/>
          </a:prstGeom>
          <a:noFill/>
          <a:ln w="38100">
            <a:solidFill>
              <a:srgbClr val="C9A227"/>
            </a:solidFill>
            <a:prstDash val="solid"/>
          </a:ln>
        </p:spPr>
        <p:txBody>
          <a:bodyPr/>
          <a:lstStyle/>
          <a:p>
            <a:endParaRPr lang="en-US"/>
          </a:p>
        </p:txBody>
      </p:sp>
      <p:sp>
        <p:nvSpPr>
          <p:cNvPr id="8" name="Text 6"/>
          <p:cNvSpPr/>
          <p:nvPr/>
        </p:nvSpPr>
        <p:spPr>
          <a:xfrm>
            <a:off x="533400" y="2122140"/>
            <a:ext cx="4268900"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9" name="Text 7"/>
          <p:cNvSpPr/>
          <p:nvPr/>
        </p:nvSpPr>
        <p:spPr>
          <a:xfrm>
            <a:off x="533400" y="2339280"/>
            <a:ext cx="4268900"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 desktop application that runs OpenAI's Whisper AI models entirely on your device. Converts speech to text with high accuracy - no internet required.</a:t>
            </a:r>
            <a:endParaRPr lang="en-US" sz="825" dirty="0"/>
          </a:p>
        </p:txBody>
      </p:sp>
      <p:sp>
        <p:nvSpPr>
          <p:cNvPr id="10" name="Text 8"/>
          <p:cNvSpPr/>
          <p:nvPr/>
        </p:nvSpPr>
        <p:spPr>
          <a:xfrm>
            <a:off x="342900" y="3053655"/>
            <a:ext cx="1433215" cy="65901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1" name="Text 9"/>
          <p:cNvSpPr/>
          <p:nvPr/>
        </p:nvSpPr>
        <p:spPr>
          <a:xfrm>
            <a:off x="466725" y="3177480"/>
            <a:ext cx="1209276"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059669"/>
                </a:solidFill>
                <a:latin typeface="Georgia" pitchFamily="34" charset="0"/>
                <a:ea typeface="Georgia" pitchFamily="34" charset="-122"/>
                <a:cs typeface="Georgia" pitchFamily="34" charset="-120"/>
              </a:rPr>
              <a:t>100%</a:t>
            </a:r>
            <a:endParaRPr lang="en-US" sz="1350" dirty="0"/>
          </a:p>
        </p:txBody>
      </p:sp>
      <p:sp>
        <p:nvSpPr>
          <p:cNvPr id="12" name="Text 10"/>
          <p:cNvSpPr/>
          <p:nvPr/>
        </p:nvSpPr>
        <p:spPr>
          <a:xfrm>
            <a:off x="466725" y="3455491"/>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Local Processing</a:t>
            </a:r>
            <a:endParaRPr lang="en-US" sz="750" dirty="0"/>
          </a:p>
        </p:txBody>
      </p:sp>
      <p:sp>
        <p:nvSpPr>
          <p:cNvPr id="13" name="Text 11"/>
          <p:cNvSpPr/>
          <p:nvPr/>
        </p:nvSpPr>
        <p:spPr>
          <a:xfrm>
            <a:off x="1890415" y="3053655"/>
            <a:ext cx="1433215" cy="65901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2014240" y="3177480"/>
            <a:ext cx="1209276"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1A1F2E"/>
                </a:solidFill>
                <a:latin typeface="Georgia" pitchFamily="34" charset="0"/>
                <a:ea typeface="Georgia" pitchFamily="34" charset="-122"/>
                <a:cs typeface="Georgia" pitchFamily="34" charset="-120"/>
              </a:rPr>
              <a:t>~$0</a:t>
            </a:r>
            <a:endParaRPr lang="en-US" sz="1350" dirty="0"/>
          </a:p>
        </p:txBody>
      </p:sp>
      <p:sp>
        <p:nvSpPr>
          <p:cNvPr id="15" name="Text 13"/>
          <p:cNvSpPr/>
          <p:nvPr/>
        </p:nvSpPr>
        <p:spPr>
          <a:xfrm>
            <a:off x="2014240" y="3455491"/>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For Local Models</a:t>
            </a:r>
            <a:endParaRPr lang="en-US" sz="750" dirty="0"/>
          </a:p>
        </p:txBody>
      </p:sp>
      <p:sp>
        <p:nvSpPr>
          <p:cNvPr id="16" name="Text 14"/>
          <p:cNvSpPr/>
          <p:nvPr/>
        </p:nvSpPr>
        <p:spPr>
          <a:xfrm>
            <a:off x="3437930" y="3053655"/>
            <a:ext cx="1433215" cy="65901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561755" y="3177480"/>
            <a:ext cx="1209276"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1A1F2E"/>
                </a:solidFill>
                <a:latin typeface="Georgia" pitchFamily="34" charset="0"/>
                <a:ea typeface="Georgia" pitchFamily="34" charset="-122"/>
                <a:cs typeface="Georgia" pitchFamily="34" charset="-120"/>
              </a:rPr>
              <a:t>0</a:t>
            </a:r>
            <a:endParaRPr lang="en-US" sz="1350" dirty="0"/>
          </a:p>
        </p:txBody>
      </p:sp>
      <p:sp>
        <p:nvSpPr>
          <p:cNvPr id="18" name="Text 16"/>
          <p:cNvSpPr/>
          <p:nvPr/>
        </p:nvSpPr>
        <p:spPr>
          <a:xfrm>
            <a:off x="3561755" y="3455491"/>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Cloud Dependencies</a:t>
            </a:r>
            <a:endParaRPr lang="en-US" sz="750" dirty="0"/>
          </a:p>
        </p:txBody>
      </p:sp>
      <p:sp>
        <p:nvSpPr>
          <p:cNvPr id="19" name="Text 17"/>
          <p:cNvSpPr/>
          <p:nvPr/>
        </p:nvSpPr>
        <p:spPr>
          <a:xfrm>
            <a:off x="342900" y="3979366"/>
            <a:ext cx="4528096" cy="542925"/>
          </a:xfrm>
          <a:prstGeom prst="rect">
            <a:avLst/>
          </a:prstGeom>
          <a:solidFill>
            <a:srgbClr val="DCFCE7"/>
          </a:solidFill>
          <a:ln/>
        </p:spPr>
        <p:txBody>
          <a:bodyPr wrap="square" rtlCol="0" anchor="ctr"/>
          <a:lstStyle/>
          <a:p>
            <a:pPr marL="0" indent="0">
              <a:buNone/>
            </a:pPr>
            <a:endParaRPr lang="en-US" dirty="0"/>
          </a:p>
        </p:txBody>
      </p:sp>
      <p:sp>
        <p:nvSpPr>
          <p:cNvPr id="20" name="Shape 18"/>
          <p:cNvSpPr/>
          <p:nvPr/>
        </p:nvSpPr>
        <p:spPr>
          <a:xfrm>
            <a:off x="361950" y="3979366"/>
            <a:ext cx="0" cy="542925"/>
          </a:xfrm>
          <a:prstGeom prst="line">
            <a:avLst/>
          </a:prstGeom>
          <a:noFill/>
          <a:ln w="38100">
            <a:solidFill>
              <a:srgbClr val="059669"/>
            </a:solidFill>
            <a:prstDash val="solid"/>
          </a:ln>
        </p:spPr>
        <p:txBody>
          <a:bodyPr/>
          <a:lstStyle/>
          <a:p>
            <a:endParaRPr lang="en-US"/>
          </a:p>
        </p:txBody>
      </p:sp>
      <p:sp>
        <p:nvSpPr>
          <p:cNvPr id="21" name="Text 19"/>
          <p:cNvSpPr/>
          <p:nvPr/>
        </p:nvSpPr>
        <p:spPr>
          <a:xfrm>
            <a:off x="533400" y="4093666"/>
            <a:ext cx="4268900" cy="314325"/>
          </a:xfrm>
          <a:prstGeom prst="rect">
            <a:avLst/>
          </a:prstGeom>
          <a:noFill/>
          <a:ln/>
        </p:spPr>
        <p:txBody>
          <a:bodyPr wrap="square" lIns="0" tIns="0" rIns="0" bIns="0" rtlCol="0" anchor="t"/>
          <a:lstStyle/>
          <a:p>
            <a:pPr marL="0" indent="0" algn="l">
              <a:lnSpc>
                <a:spcPts val="1238"/>
              </a:lnSpc>
              <a:buNone/>
            </a:pPr>
            <a:r>
              <a:rPr lang="en-US" sz="825" b="1" dirty="0">
                <a:solidFill>
                  <a:srgbClr val="166534"/>
                </a:solidFill>
                <a:latin typeface="Arial" pitchFamily="34" charset="0"/>
                <a:ea typeface="Arial" pitchFamily="34" charset="-122"/>
                <a:cs typeface="Arial" pitchFamily="34" charset="-120"/>
              </a:rPr>
              <a:t>NEW:</a:t>
            </a:r>
            <a:r>
              <a:rPr lang="en-US" sz="825" dirty="0">
                <a:solidFill>
                  <a:srgbClr val="166534"/>
                </a:solidFill>
                <a:latin typeface="Arial" pitchFamily="34" charset="0"/>
                <a:ea typeface="Arial" pitchFamily="34" charset="-122"/>
                <a:cs typeface="Arial" pitchFamily="34" charset="-120"/>
              </a:rPr>
              <a:t> Now available on Windows! Previously Mac-only, SuperWhisper expanded to Windows in 2024.</a:t>
            </a:r>
            <a:endParaRPr lang="en-US" sz="825" dirty="0"/>
          </a:p>
        </p:txBody>
      </p:sp>
      <p:sp>
        <p:nvSpPr>
          <p:cNvPr id="22" name="Text 20"/>
          <p:cNvSpPr/>
          <p:nvPr/>
        </p:nvSpPr>
        <p:spPr>
          <a:xfrm>
            <a:off x="5366296" y="0"/>
            <a:ext cx="3777704" cy="5143500"/>
          </a:xfrm>
          <a:prstGeom prst="rect">
            <a:avLst/>
          </a:prstGeom>
          <a:solidFill>
            <a:srgbClr val="1A1F2E"/>
          </a:solidFill>
          <a:ln/>
        </p:spPr>
        <p:txBody>
          <a:bodyPr wrap="square" rtlCol="0" anchor="ctr"/>
          <a:lstStyle/>
          <a:p>
            <a:pPr marL="0" indent="0">
              <a:buNone/>
            </a:pPr>
            <a:endParaRPr lang="en-US" dirty="0"/>
          </a:p>
        </p:txBody>
      </p:sp>
      <p:sp>
        <p:nvSpPr>
          <p:cNvPr id="23" name="Text 21"/>
          <p:cNvSpPr/>
          <p:nvPr/>
        </p:nvSpPr>
        <p:spPr>
          <a:xfrm>
            <a:off x="5671096" y="304800"/>
            <a:ext cx="3231466"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4" name="Text 22"/>
          <p:cNvSpPr/>
          <p:nvPr/>
        </p:nvSpPr>
        <p:spPr>
          <a:xfrm>
            <a:off x="5671096" y="756196"/>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25" name="Text 23"/>
          <p:cNvSpPr/>
          <p:nvPr/>
        </p:nvSpPr>
        <p:spPr>
          <a:xfrm>
            <a:off x="5813971" y="909489"/>
            <a:ext cx="304800" cy="304800"/>
          </a:xfrm>
          <a:prstGeom prst="rect">
            <a:avLst/>
          </a:prstGeom>
          <a:solidFill>
            <a:srgbClr val="C9A227"/>
          </a:solidFill>
          <a:ln/>
        </p:spPr>
        <p:txBody>
          <a:bodyPr wrap="square" rtlCol="0" anchor="ctr"/>
          <a:lstStyle/>
          <a:p>
            <a:pPr marL="0" indent="0">
              <a:buNone/>
            </a:pPr>
            <a:endParaRPr lang="en-US" dirty="0"/>
          </a:p>
        </p:txBody>
      </p:sp>
      <p:sp>
        <p:nvSpPr>
          <p:cNvPr id="26" name="Text 24"/>
          <p:cNvSpPr/>
          <p:nvPr/>
        </p:nvSpPr>
        <p:spPr>
          <a:xfrm>
            <a:off x="5903416" y="968573"/>
            <a:ext cx="128427"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W</a:t>
            </a:r>
            <a:endParaRPr lang="en-US" sz="1050" dirty="0"/>
          </a:p>
        </p:txBody>
      </p:sp>
      <p:sp>
        <p:nvSpPr>
          <p:cNvPr id="27" name="Text 25"/>
          <p:cNvSpPr/>
          <p:nvPr/>
        </p:nvSpPr>
        <p:spPr>
          <a:xfrm>
            <a:off x="6214021" y="899071"/>
            <a:ext cx="1242066"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Windows 10/11</a:t>
            </a:r>
            <a:endParaRPr lang="en-US" sz="975" dirty="0"/>
          </a:p>
        </p:txBody>
      </p:sp>
      <p:sp>
        <p:nvSpPr>
          <p:cNvPr id="28" name="Text 26"/>
          <p:cNvSpPr/>
          <p:nvPr/>
        </p:nvSpPr>
        <p:spPr>
          <a:xfrm>
            <a:off x="6214021" y="1091357"/>
            <a:ext cx="1242066"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x64 with GPU recommended</a:t>
            </a:r>
            <a:endParaRPr lang="en-US" sz="750" dirty="0"/>
          </a:p>
        </p:txBody>
      </p:sp>
      <p:sp>
        <p:nvSpPr>
          <p:cNvPr id="29" name="Text 27"/>
          <p:cNvSpPr/>
          <p:nvPr/>
        </p:nvSpPr>
        <p:spPr>
          <a:xfrm>
            <a:off x="5671096" y="1634282"/>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0" name="Text 28"/>
          <p:cNvSpPr/>
          <p:nvPr/>
        </p:nvSpPr>
        <p:spPr>
          <a:xfrm>
            <a:off x="5813971" y="1787575"/>
            <a:ext cx="304800" cy="304800"/>
          </a:xfrm>
          <a:prstGeom prst="rect">
            <a:avLst/>
          </a:prstGeom>
          <a:solidFill>
            <a:srgbClr val="C9A227"/>
          </a:solidFill>
          <a:ln/>
        </p:spPr>
        <p:txBody>
          <a:bodyPr wrap="square" rtlCol="0" anchor="ctr"/>
          <a:lstStyle/>
          <a:p>
            <a:pPr marL="0" indent="0">
              <a:buNone/>
            </a:pPr>
            <a:endParaRPr lang="en-US" dirty="0"/>
          </a:p>
        </p:txBody>
      </p:sp>
      <p:sp>
        <p:nvSpPr>
          <p:cNvPr id="31" name="Text 29"/>
          <p:cNvSpPr/>
          <p:nvPr/>
        </p:nvSpPr>
        <p:spPr>
          <a:xfrm>
            <a:off x="5910709" y="1846659"/>
            <a:ext cx="113398"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M</a:t>
            </a:r>
            <a:endParaRPr lang="en-US" sz="1050" dirty="0"/>
          </a:p>
        </p:txBody>
      </p:sp>
      <p:sp>
        <p:nvSpPr>
          <p:cNvPr id="32" name="Text 30"/>
          <p:cNvSpPr/>
          <p:nvPr/>
        </p:nvSpPr>
        <p:spPr>
          <a:xfrm>
            <a:off x="6214021" y="1777157"/>
            <a:ext cx="1295957"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macOS</a:t>
            </a:r>
            <a:endParaRPr lang="en-US" sz="975" dirty="0"/>
          </a:p>
        </p:txBody>
      </p:sp>
      <p:sp>
        <p:nvSpPr>
          <p:cNvPr id="33" name="Text 31"/>
          <p:cNvSpPr/>
          <p:nvPr/>
        </p:nvSpPr>
        <p:spPr>
          <a:xfrm>
            <a:off x="6214021" y="1969443"/>
            <a:ext cx="1295957"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Apple Silicon (M1-M4) optimal</a:t>
            </a:r>
            <a:endParaRPr lang="en-US" sz="750" dirty="0"/>
          </a:p>
        </p:txBody>
      </p:sp>
      <p:sp>
        <p:nvSpPr>
          <p:cNvPr id="34" name="Text 32"/>
          <p:cNvSpPr/>
          <p:nvPr/>
        </p:nvSpPr>
        <p:spPr>
          <a:xfrm>
            <a:off x="5671096" y="2512368"/>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5" name="Text 33"/>
          <p:cNvSpPr/>
          <p:nvPr/>
        </p:nvSpPr>
        <p:spPr>
          <a:xfrm>
            <a:off x="5813971" y="2665661"/>
            <a:ext cx="304800" cy="304800"/>
          </a:xfrm>
          <a:prstGeom prst="rect">
            <a:avLst/>
          </a:prstGeom>
          <a:solidFill>
            <a:srgbClr val="C9A227"/>
          </a:solidFill>
          <a:ln/>
        </p:spPr>
        <p:txBody>
          <a:bodyPr wrap="square" rtlCol="0" anchor="ctr"/>
          <a:lstStyle/>
          <a:p>
            <a:pPr marL="0" indent="0">
              <a:buNone/>
            </a:pPr>
            <a:endParaRPr lang="en-US" dirty="0"/>
          </a:p>
        </p:txBody>
      </p:sp>
      <p:sp>
        <p:nvSpPr>
          <p:cNvPr id="36" name="Text 34"/>
          <p:cNvSpPr/>
          <p:nvPr/>
        </p:nvSpPr>
        <p:spPr>
          <a:xfrm>
            <a:off x="5951488" y="2724745"/>
            <a:ext cx="30361"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i</a:t>
            </a:r>
            <a:endParaRPr lang="en-US" sz="1050" dirty="0"/>
          </a:p>
        </p:txBody>
      </p:sp>
      <p:sp>
        <p:nvSpPr>
          <p:cNvPr id="37" name="Text 35"/>
          <p:cNvSpPr/>
          <p:nvPr/>
        </p:nvSpPr>
        <p:spPr>
          <a:xfrm>
            <a:off x="6214021" y="2655243"/>
            <a:ext cx="977622"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iOS / iPadOS</a:t>
            </a:r>
            <a:endParaRPr lang="en-US" sz="975" dirty="0"/>
          </a:p>
        </p:txBody>
      </p:sp>
      <p:sp>
        <p:nvSpPr>
          <p:cNvPr id="38" name="Text 36"/>
          <p:cNvSpPr/>
          <p:nvPr/>
        </p:nvSpPr>
        <p:spPr>
          <a:xfrm>
            <a:off x="6214021" y="2847529"/>
            <a:ext cx="977622"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Mobile companion app</a:t>
            </a:r>
            <a:endParaRPr lang="en-US" sz="750" dirty="0"/>
          </a:p>
        </p:txBody>
      </p:sp>
      <p:sp>
        <p:nvSpPr>
          <p:cNvPr id="39" name="Text 37"/>
          <p:cNvSpPr/>
          <p:nvPr/>
        </p:nvSpPr>
        <p:spPr>
          <a:xfrm>
            <a:off x="5671096" y="4425404"/>
            <a:ext cx="3168104" cy="413296"/>
          </a:xfrm>
          <a:prstGeom prst="rect">
            <a:avLst/>
          </a:prstGeom>
          <a:solidFill>
            <a:srgbClr val="059669"/>
          </a:solidFill>
          <a:ln/>
        </p:spPr>
        <p:txBody>
          <a:bodyPr wrap="square" rtlCol="0" anchor="ctr"/>
          <a:lstStyle/>
          <a:p>
            <a:pPr marL="0" indent="0">
              <a:buNone/>
            </a:pPr>
            <a:endParaRPr lang="en-US" dirty="0"/>
          </a:p>
        </p:txBody>
      </p:sp>
      <p:sp>
        <p:nvSpPr>
          <p:cNvPr id="40" name="Text 38"/>
          <p:cNvSpPr/>
          <p:nvPr/>
        </p:nvSpPr>
        <p:spPr>
          <a:xfrm>
            <a:off x="5775432" y="4558754"/>
            <a:ext cx="2959432" cy="146596"/>
          </a:xfrm>
          <a:prstGeom prst="rect">
            <a:avLst/>
          </a:prstGeom>
          <a:noFill/>
          <a:ln/>
        </p:spPr>
        <p:txBody>
          <a:bodyPr wrap="square" lIns="0" tIns="0" rIns="0" bIns="0" rtlCol="0" anchor="t"/>
          <a:lstStyle/>
          <a:p>
            <a:pPr marL="0" indent="0" algn="ctr">
              <a:lnSpc>
                <a:spcPts val="1155"/>
              </a:lnSpc>
              <a:buNone/>
            </a:pPr>
            <a:r>
              <a:rPr lang="en-US" sz="825" dirty="0">
                <a:solidFill>
                  <a:srgbClr val="FFFFFF"/>
                </a:solidFill>
                <a:latin typeface="Arial" pitchFamily="34" charset="0"/>
                <a:ea typeface="Arial" pitchFamily="34" charset="-122"/>
                <a:cs typeface="Arial" pitchFamily="34" charset="-120"/>
              </a:rPr>
              <a:t>Safe for PHI and sensitive government data</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DATA FLOW ARCHITECTURE</a:t>
            </a:r>
            <a:endParaRPr lang="en-US" sz="825" dirty="0"/>
          </a:p>
        </p:txBody>
      </p:sp>
      <p:sp>
        <p:nvSpPr>
          <p:cNvPr id="3" name="Text 1"/>
          <p:cNvSpPr/>
          <p:nvPr/>
        </p:nvSpPr>
        <p:spPr>
          <a:xfrm>
            <a:off x="457200" y="470446"/>
            <a:ext cx="4206812" cy="285750"/>
          </a:xfrm>
          <a:prstGeom prst="rect">
            <a:avLst/>
          </a:prstGeom>
          <a:noFill/>
          <a:ln/>
        </p:spPr>
        <p:txBody>
          <a:bodyPr wrap="square" lIns="0" tIns="0" rIns="0" bIns="0" rtlCol="0" anchor="t"/>
          <a:lstStyle/>
          <a:p>
            <a:pPr marL="0" indent="0" algn="l">
              <a:lnSpc>
                <a:spcPts val="2250"/>
              </a:lnSpc>
              <a:buNone/>
            </a:pPr>
            <a:r>
              <a:rPr lang="en-US" sz="2250" dirty="0">
                <a:solidFill>
                  <a:srgbClr val="1A1F2E"/>
                </a:solidFill>
                <a:latin typeface="Georgia" pitchFamily="34" charset="0"/>
                <a:ea typeface="Georgia" pitchFamily="34" charset="-122"/>
                <a:cs typeface="Georgia" pitchFamily="34" charset="-120"/>
              </a:rPr>
              <a:t>Why Local Processing Matters</a:t>
            </a:r>
            <a:endParaRPr lang="en-US" sz="2250" dirty="0"/>
          </a:p>
        </p:txBody>
      </p:sp>
      <p:sp>
        <p:nvSpPr>
          <p:cNvPr id="4" name="Text 2"/>
          <p:cNvSpPr/>
          <p:nvPr/>
        </p:nvSpPr>
        <p:spPr>
          <a:xfrm>
            <a:off x="457200" y="1060996"/>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PROCESSING (SuperWhisper)</a:t>
            </a:r>
            <a:endParaRPr lang="en-US" sz="825" dirty="0"/>
          </a:p>
        </p:txBody>
      </p:sp>
      <p:sp>
        <p:nvSpPr>
          <p:cNvPr id="5" name="Text 3"/>
          <p:cNvSpPr/>
          <p:nvPr/>
        </p:nvSpPr>
        <p:spPr>
          <a:xfrm>
            <a:off x="457200" y="1524744"/>
            <a:ext cx="1047750" cy="323850"/>
          </a:xfrm>
          <a:prstGeom prst="rect">
            <a:avLst/>
          </a:prstGeom>
          <a:solidFill>
            <a:srgbClr val="DBEAFE"/>
          </a:solidFill>
          <a:ln/>
        </p:spPr>
        <p:txBody>
          <a:bodyPr wrap="square" rtlCol="0" anchor="ctr"/>
          <a:lstStyle/>
          <a:p>
            <a:pPr marL="0" indent="0">
              <a:buNone/>
            </a:pPr>
            <a:endParaRPr lang="en-US" dirty="0"/>
          </a:p>
        </p:txBody>
      </p:sp>
      <p:sp>
        <p:nvSpPr>
          <p:cNvPr id="6" name="Text 4"/>
          <p:cNvSpPr/>
          <p:nvPr/>
        </p:nvSpPr>
        <p:spPr>
          <a:xfrm>
            <a:off x="582740"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7" name="Text 5"/>
          <p:cNvSpPr/>
          <p:nvPr/>
        </p:nvSpPr>
        <p:spPr>
          <a:xfrm>
            <a:off x="1562100"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8" name="Text 6"/>
          <p:cNvSpPr/>
          <p:nvPr/>
        </p:nvSpPr>
        <p:spPr>
          <a:xfrm>
            <a:off x="1759000" y="1436191"/>
            <a:ext cx="1238250" cy="500955"/>
          </a:xfrm>
          <a:prstGeom prst="rect">
            <a:avLst/>
          </a:prstGeom>
          <a:solidFill>
            <a:srgbClr val="DCFCE7"/>
          </a:solidFill>
          <a:ln w="19050">
            <a:solidFill>
              <a:srgbClr val="059669"/>
            </a:solidFill>
          </a:ln>
        </p:spPr>
        <p:txBody>
          <a:bodyPr wrap="square" rtlCol="0" anchor="ctr"/>
          <a:lstStyle/>
          <a:p>
            <a:pPr marL="0" indent="0">
              <a:buNone/>
            </a:pPr>
            <a:endParaRPr lang="en-US" dirty="0"/>
          </a:p>
        </p:txBody>
      </p:sp>
      <p:sp>
        <p:nvSpPr>
          <p:cNvPr id="9" name="Text 7"/>
          <p:cNvSpPr/>
          <p:nvPr/>
        </p:nvSpPr>
        <p:spPr>
          <a:xfrm>
            <a:off x="1902065" y="1550491"/>
            <a:ext cx="952119" cy="133350"/>
          </a:xfrm>
          <a:prstGeom prst="rect">
            <a:avLst/>
          </a:prstGeom>
          <a:noFill/>
          <a:ln/>
        </p:spPr>
        <p:txBody>
          <a:bodyPr wrap="square" lIns="0" tIns="0" rIns="0" bIns="0" rtlCol="0" anchor="t"/>
          <a:lstStyle/>
          <a:p>
            <a:pPr marL="0" indent="0" algn="ctr">
              <a:lnSpc>
                <a:spcPts val="1050"/>
              </a:lnSpc>
              <a:buNone/>
            </a:pPr>
            <a:r>
              <a:rPr lang="en-US" sz="750" b="1" dirty="0">
                <a:solidFill>
                  <a:srgbClr val="166534"/>
                </a:solidFill>
                <a:latin typeface="Arial" pitchFamily="34" charset="0"/>
                <a:ea typeface="Arial" pitchFamily="34" charset="-122"/>
                <a:cs typeface="Arial" pitchFamily="34" charset="-120"/>
              </a:rPr>
              <a:t>SuperWhisper</a:t>
            </a:r>
            <a:endParaRPr lang="en-US" sz="750" dirty="0"/>
          </a:p>
        </p:txBody>
      </p:sp>
      <p:sp>
        <p:nvSpPr>
          <p:cNvPr id="10" name="Text 8"/>
          <p:cNvSpPr/>
          <p:nvPr/>
        </p:nvSpPr>
        <p:spPr>
          <a:xfrm>
            <a:off x="1902065" y="1702891"/>
            <a:ext cx="952119" cy="119955"/>
          </a:xfrm>
          <a:prstGeom prst="rect">
            <a:avLst/>
          </a:prstGeom>
          <a:noFill/>
          <a:ln/>
        </p:spPr>
        <p:txBody>
          <a:bodyPr wrap="square" lIns="0" tIns="0" rIns="0" bIns="0" rtlCol="0" anchor="t"/>
          <a:lstStyle/>
          <a:p>
            <a:pPr marL="0" indent="0" algn="ctr">
              <a:lnSpc>
                <a:spcPts val="945"/>
              </a:lnSpc>
              <a:spcBef>
                <a:spcPts val="150"/>
              </a:spcBef>
              <a:buNone/>
            </a:pPr>
            <a:r>
              <a:rPr lang="en-US" sz="675" dirty="0">
                <a:solidFill>
                  <a:srgbClr val="166534"/>
                </a:solidFill>
                <a:latin typeface="Arial" pitchFamily="34" charset="0"/>
                <a:ea typeface="Arial" pitchFamily="34" charset="-122"/>
                <a:cs typeface="Arial" pitchFamily="34" charset="-120"/>
              </a:rPr>
              <a:t>(On Your Device)</a:t>
            </a:r>
            <a:endParaRPr lang="en-US" sz="675" dirty="0"/>
          </a:p>
        </p:txBody>
      </p:sp>
      <p:sp>
        <p:nvSpPr>
          <p:cNvPr id="11" name="Text 9"/>
          <p:cNvSpPr/>
          <p:nvPr/>
        </p:nvSpPr>
        <p:spPr>
          <a:xfrm>
            <a:off x="3054400"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2" name="Text 10"/>
          <p:cNvSpPr/>
          <p:nvPr/>
        </p:nvSpPr>
        <p:spPr>
          <a:xfrm>
            <a:off x="3251299" y="1524744"/>
            <a:ext cx="1047750" cy="323850"/>
          </a:xfrm>
          <a:prstGeom prst="rect">
            <a:avLst/>
          </a:prstGeom>
          <a:solidFill>
            <a:srgbClr val="DCFCE7"/>
          </a:solidFill>
          <a:ln/>
        </p:spPr>
        <p:txBody>
          <a:bodyPr wrap="square" rtlCol="0" anchor="ctr"/>
          <a:lstStyle/>
          <a:p>
            <a:pPr marL="0" indent="0">
              <a:buNone/>
            </a:pPr>
            <a:endParaRPr lang="en-US" dirty="0"/>
          </a:p>
        </p:txBody>
      </p:sp>
      <p:sp>
        <p:nvSpPr>
          <p:cNvPr id="13" name="Text 11"/>
          <p:cNvSpPr/>
          <p:nvPr/>
        </p:nvSpPr>
        <p:spPr>
          <a:xfrm>
            <a:off x="3376839"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66534"/>
                </a:solidFill>
                <a:latin typeface="Arial" pitchFamily="34" charset="0"/>
                <a:ea typeface="Arial" pitchFamily="34" charset="-122"/>
                <a:cs typeface="Arial" pitchFamily="34" charset="-120"/>
              </a:rPr>
              <a:t>Text Output</a:t>
            </a:r>
            <a:endParaRPr lang="en-US" sz="750" dirty="0"/>
          </a:p>
        </p:txBody>
      </p:sp>
      <p:sp>
        <p:nvSpPr>
          <p:cNvPr id="14" name="Text 12"/>
          <p:cNvSpPr/>
          <p:nvPr/>
        </p:nvSpPr>
        <p:spPr>
          <a:xfrm>
            <a:off x="4356199" y="1579959"/>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059669"/>
                </a:solidFill>
                <a:latin typeface="Arial" pitchFamily="34" charset="0"/>
                <a:ea typeface="Arial" pitchFamily="34" charset="-122"/>
                <a:cs typeface="Arial" pitchFamily="34" charset="-120"/>
              </a:rPr>
              <a:t>-&gt;</a:t>
            </a:r>
            <a:endParaRPr lang="en-US" sz="1200" dirty="0"/>
          </a:p>
        </p:txBody>
      </p:sp>
      <p:sp>
        <p:nvSpPr>
          <p:cNvPr id="15" name="Text 13"/>
          <p:cNvSpPr/>
          <p:nvPr/>
        </p:nvSpPr>
        <p:spPr>
          <a:xfrm>
            <a:off x="4553099" y="1524744"/>
            <a:ext cx="1047750" cy="323850"/>
          </a:xfrm>
          <a:prstGeom prst="rect">
            <a:avLst/>
          </a:prstGeom>
          <a:solidFill>
            <a:srgbClr val="DBEAFE"/>
          </a:solidFill>
          <a:ln/>
        </p:spPr>
        <p:txBody>
          <a:bodyPr wrap="square" rtlCol="0" anchor="ctr"/>
          <a:lstStyle/>
          <a:p>
            <a:pPr marL="0" indent="0">
              <a:buNone/>
            </a:pPr>
            <a:endParaRPr lang="en-US" dirty="0"/>
          </a:p>
        </p:txBody>
      </p:sp>
      <p:sp>
        <p:nvSpPr>
          <p:cNvPr id="16" name="Text 14"/>
          <p:cNvSpPr/>
          <p:nvPr/>
        </p:nvSpPr>
        <p:spPr>
          <a:xfrm>
            <a:off x="4678638" y="1619994"/>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17" name="Text 15"/>
          <p:cNvSpPr/>
          <p:nvPr/>
        </p:nvSpPr>
        <p:spPr>
          <a:xfrm>
            <a:off x="5772299" y="1550491"/>
            <a:ext cx="685800" cy="272355"/>
          </a:xfrm>
          <a:prstGeom prst="rect">
            <a:avLst/>
          </a:prstGeom>
          <a:solidFill>
            <a:srgbClr val="DCFCE7"/>
          </a:solidFill>
          <a:ln/>
        </p:spPr>
        <p:txBody>
          <a:bodyPr wrap="square" rtlCol="0" anchor="ctr"/>
          <a:lstStyle/>
          <a:p>
            <a:pPr marL="0" indent="0">
              <a:buNone/>
            </a:pPr>
            <a:endParaRPr lang="en-US" dirty="0"/>
          </a:p>
        </p:txBody>
      </p:sp>
      <p:sp>
        <p:nvSpPr>
          <p:cNvPr id="18" name="Text 16"/>
          <p:cNvSpPr/>
          <p:nvPr/>
        </p:nvSpPr>
        <p:spPr>
          <a:xfrm>
            <a:off x="5886599" y="1626691"/>
            <a:ext cx="466344"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NO CLOUD</a:t>
            </a:r>
            <a:endParaRPr lang="en-US" sz="675" dirty="0"/>
          </a:p>
        </p:txBody>
      </p:sp>
      <p:sp>
        <p:nvSpPr>
          <p:cNvPr id="19" name="Text 17"/>
          <p:cNvSpPr/>
          <p:nvPr/>
        </p:nvSpPr>
        <p:spPr>
          <a:xfrm>
            <a:off x="457200" y="2203847"/>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CLOUD PROCESSING (Traditional)</a:t>
            </a:r>
            <a:endParaRPr lang="en-US" sz="825" dirty="0"/>
          </a:p>
        </p:txBody>
      </p:sp>
      <p:sp>
        <p:nvSpPr>
          <p:cNvPr id="20" name="Text 18"/>
          <p:cNvSpPr/>
          <p:nvPr/>
        </p:nvSpPr>
        <p:spPr>
          <a:xfrm>
            <a:off x="457200" y="2667595"/>
            <a:ext cx="1047750" cy="323850"/>
          </a:xfrm>
          <a:prstGeom prst="rect">
            <a:avLst/>
          </a:prstGeom>
          <a:solidFill>
            <a:srgbClr val="DBEAFE"/>
          </a:solidFill>
          <a:ln/>
        </p:spPr>
        <p:txBody>
          <a:bodyPr wrap="square" rtlCol="0" anchor="ctr"/>
          <a:lstStyle/>
          <a:p>
            <a:pPr marL="0" indent="0">
              <a:buNone/>
            </a:pPr>
            <a:endParaRPr lang="en-US" dirty="0"/>
          </a:p>
        </p:txBody>
      </p:sp>
      <p:sp>
        <p:nvSpPr>
          <p:cNvPr id="21" name="Text 19"/>
          <p:cNvSpPr/>
          <p:nvPr/>
        </p:nvSpPr>
        <p:spPr>
          <a:xfrm>
            <a:off x="582740"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Voice</a:t>
            </a:r>
            <a:endParaRPr lang="en-US" sz="750" dirty="0"/>
          </a:p>
        </p:txBody>
      </p:sp>
      <p:sp>
        <p:nvSpPr>
          <p:cNvPr id="22" name="Text 20"/>
          <p:cNvSpPr/>
          <p:nvPr/>
        </p:nvSpPr>
        <p:spPr>
          <a:xfrm>
            <a:off x="1562100"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3" name="Text 21"/>
          <p:cNvSpPr/>
          <p:nvPr/>
        </p:nvSpPr>
        <p:spPr>
          <a:xfrm>
            <a:off x="1759000" y="2579043"/>
            <a:ext cx="1238250" cy="500955"/>
          </a:xfrm>
          <a:prstGeom prst="rect">
            <a:avLst/>
          </a:prstGeom>
          <a:solidFill>
            <a:srgbClr val="FEE2E2"/>
          </a:solidFill>
          <a:ln w="19050">
            <a:solidFill>
              <a:srgbClr val="DC2626"/>
            </a:solidFill>
          </a:ln>
        </p:spPr>
        <p:txBody>
          <a:bodyPr wrap="square" rtlCol="0" anchor="ctr"/>
          <a:lstStyle/>
          <a:p>
            <a:pPr marL="0" indent="0">
              <a:buNone/>
            </a:pPr>
            <a:endParaRPr lang="en-US" dirty="0"/>
          </a:p>
        </p:txBody>
      </p:sp>
      <p:sp>
        <p:nvSpPr>
          <p:cNvPr id="24" name="Text 22"/>
          <p:cNvSpPr/>
          <p:nvPr/>
        </p:nvSpPr>
        <p:spPr>
          <a:xfrm>
            <a:off x="1902065" y="2693343"/>
            <a:ext cx="952119"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Cloud Server</a:t>
            </a:r>
            <a:endParaRPr lang="en-US" sz="750" dirty="0"/>
          </a:p>
        </p:txBody>
      </p:sp>
      <p:sp>
        <p:nvSpPr>
          <p:cNvPr id="25" name="Text 23"/>
          <p:cNvSpPr/>
          <p:nvPr/>
        </p:nvSpPr>
        <p:spPr>
          <a:xfrm>
            <a:off x="1902065" y="2845743"/>
            <a:ext cx="952119" cy="119955"/>
          </a:xfrm>
          <a:prstGeom prst="rect">
            <a:avLst/>
          </a:prstGeom>
          <a:noFill/>
          <a:ln/>
        </p:spPr>
        <p:txBody>
          <a:bodyPr wrap="square" lIns="0" tIns="0" rIns="0" bIns="0" rtlCol="0" anchor="t"/>
          <a:lstStyle/>
          <a:p>
            <a:pPr marL="0" indent="0" algn="ctr">
              <a:lnSpc>
                <a:spcPts val="945"/>
              </a:lnSpc>
              <a:spcBef>
                <a:spcPts val="150"/>
              </a:spcBef>
              <a:buNone/>
            </a:pPr>
            <a:r>
              <a:rPr lang="en-US" sz="675" dirty="0">
                <a:solidFill>
                  <a:srgbClr val="DC2626"/>
                </a:solidFill>
                <a:latin typeface="Arial" pitchFamily="34" charset="0"/>
                <a:ea typeface="Arial" pitchFamily="34" charset="-122"/>
                <a:cs typeface="Arial" pitchFamily="34" charset="-120"/>
              </a:rPr>
              <a:t>(3rd Party)</a:t>
            </a:r>
            <a:endParaRPr lang="en-US" sz="675" dirty="0"/>
          </a:p>
        </p:txBody>
      </p:sp>
      <p:sp>
        <p:nvSpPr>
          <p:cNvPr id="26" name="Text 24"/>
          <p:cNvSpPr/>
          <p:nvPr/>
        </p:nvSpPr>
        <p:spPr>
          <a:xfrm>
            <a:off x="3054400"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27" name="Text 25"/>
          <p:cNvSpPr/>
          <p:nvPr/>
        </p:nvSpPr>
        <p:spPr>
          <a:xfrm>
            <a:off x="3251299" y="2667595"/>
            <a:ext cx="1047750" cy="323850"/>
          </a:xfrm>
          <a:prstGeom prst="rect">
            <a:avLst/>
          </a:prstGeom>
          <a:solidFill>
            <a:srgbClr val="FEE2E2"/>
          </a:solidFill>
          <a:ln/>
        </p:spPr>
        <p:txBody>
          <a:bodyPr wrap="square" rtlCol="0" anchor="ctr"/>
          <a:lstStyle/>
          <a:p>
            <a:pPr marL="0" indent="0">
              <a:buNone/>
            </a:pPr>
            <a:endParaRPr lang="en-US" dirty="0"/>
          </a:p>
        </p:txBody>
      </p:sp>
      <p:sp>
        <p:nvSpPr>
          <p:cNvPr id="28" name="Text 26"/>
          <p:cNvSpPr/>
          <p:nvPr/>
        </p:nvSpPr>
        <p:spPr>
          <a:xfrm>
            <a:off x="3376839"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DC2626"/>
                </a:solidFill>
                <a:latin typeface="Arial" pitchFamily="34" charset="0"/>
                <a:ea typeface="Arial" pitchFamily="34" charset="-122"/>
                <a:cs typeface="Arial" pitchFamily="34" charset="-120"/>
              </a:rPr>
              <a:t>Text Output</a:t>
            </a:r>
            <a:endParaRPr lang="en-US" sz="750" dirty="0"/>
          </a:p>
        </p:txBody>
      </p:sp>
      <p:sp>
        <p:nvSpPr>
          <p:cNvPr id="29" name="Text 27"/>
          <p:cNvSpPr/>
          <p:nvPr/>
        </p:nvSpPr>
        <p:spPr>
          <a:xfrm>
            <a:off x="4356199" y="2722811"/>
            <a:ext cx="142545" cy="213271"/>
          </a:xfrm>
          <a:prstGeom prst="rect">
            <a:avLst/>
          </a:prstGeom>
          <a:noFill/>
          <a:ln/>
        </p:spPr>
        <p:txBody>
          <a:bodyPr wrap="square" lIns="0" tIns="0" rIns="0" bIns="0" rtlCol="0" anchor="t"/>
          <a:lstStyle/>
          <a:p>
            <a:pPr marL="0" indent="0" algn="l">
              <a:lnSpc>
                <a:spcPts val="1680"/>
              </a:lnSpc>
              <a:buNone/>
            </a:pPr>
            <a:r>
              <a:rPr lang="en-US" sz="1200" dirty="0">
                <a:solidFill>
                  <a:srgbClr val="DC2626"/>
                </a:solidFill>
                <a:latin typeface="Arial" pitchFamily="34" charset="0"/>
                <a:ea typeface="Arial" pitchFamily="34" charset="-122"/>
                <a:cs typeface="Arial" pitchFamily="34" charset="-120"/>
              </a:rPr>
              <a:t>-&gt;</a:t>
            </a:r>
            <a:endParaRPr lang="en-US" sz="1200" dirty="0"/>
          </a:p>
        </p:txBody>
      </p:sp>
      <p:sp>
        <p:nvSpPr>
          <p:cNvPr id="30" name="Text 28"/>
          <p:cNvSpPr/>
          <p:nvPr/>
        </p:nvSpPr>
        <p:spPr>
          <a:xfrm>
            <a:off x="4553099" y="2667595"/>
            <a:ext cx="1047750" cy="323850"/>
          </a:xfrm>
          <a:prstGeom prst="rect">
            <a:avLst/>
          </a:prstGeom>
          <a:solidFill>
            <a:srgbClr val="DBEAFE"/>
          </a:solidFill>
          <a:ln/>
        </p:spPr>
        <p:txBody>
          <a:bodyPr wrap="square" rtlCol="0" anchor="ctr"/>
          <a:lstStyle/>
          <a:p>
            <a:pPr marL="0" indent="0">
              <a:buNone/>
            </a:pPr>
            <a:endParaRPr lang="en-US" dirty="0"/>
          </a:p>
        </p:txBody>
      </p:sp>
      <p:sp>
        <p:nvSpPr>
          <p:cNvPr id="31" name="Text 29"/>
          <p:cNvSpPr/>
          <p:nvPr/>
        </p:nvSpPr>
        <p:spPr>
          <a:xfrm>
            <a:off x="4678638" y="2762845"/>
            <a:ext cx="796671" cy="133350"/>
          </a:xfrm>
          <a:prstGeom prst="rect">
            <a:avLst/>
          </a:prstGeom>
          <a:noFill/>
          <a:ln/>
        </p:spPr>
        <p:txBody>
          <a:bodyPr wrap="square" lIns="0" tIns="0" rIns="0" bIns="0" rtlCol="0" anchor="t"/>
          <a:lstStyle/>
          <a:p>
            <a:pPr marL="0" indent="0" algn="ctr">
              <a:lnSpc>
                <a:spcPts val="1050"/>
              </a:lnSpc>
              <a:buNone/>
            </a:pPr>
            <a:r>
              <a:rPr lang="en-US" sz="750" dirty="0">
                <a:solidFill>
                  <a:srgbClr val="1A1F2E"/>
                </a:solidFill>
                <a:latin typeface="Arial" pitchFamily="34" charset="0"/>
                <a:ea typeface="Arial" pitchFamily="34" charset="-122"/>
                <a:cs typeface="Arial" pitchFamily="34" charset="-120"/>
              </a:rPr>
              <a:t>Your App</a:t>
            </a:r>
            <a:endParaRPr lang="en-US" sz="750" dirty="0"/>
          </a:p>
        </p:txBody>
      </p:sp>
      <p:sp>
        <p:nvSpPr>
          <p:cNvPr id="32" name="Text 30"/>
          <p:cNvSpPr/>
          <p:nvPr/>
        </p:nvSpPr>
        <p:spPr>
          <a:xfrm>
            <a:off x="5772299" y="2693343"/>
            <a:ext cx="811262" cy="272355"/>
          </a:xfrm>
          <a:prstGeom prst="rect">
            <a:avLst/>
          </a:prstGeom>
          <a:solidFill>
            <a:srgbClr val="FEE2E2"/>
          </a:solidFill>
          <a:ln/>
        </p:spPr>
        <p:txBody>
          <a:bodyPr wrap="square" rtlCol="0" anchor="ctr"/>
          <a:lstStyle/>
          <a:p>
            <a:pPr marL="0" indent="0">
              <a:buNone/>
            </a:pPr>
            <a:endParaRPr lang="en-US" dirty="0"/>
          </a:p>
        </p:txBody>
      </p:sp>
      <p:sp>
        <p:nvSpPr>
          <p:cNvPr id="33" name="Text 31"/>
          <p:cNvSpPr/>
          <p:nvPr/>
        </p:nvSpPr>
        <p:spPr>
          <a:xfrm>
            <a:off x="5886599" y="2769543"/>
            <a:ext cx="594315" cy="119955"/>
          </a:xfrm>
          <a:prstGeom prst="rect">
            <a:avLst/>
          </a:prstGeom>
          <a:noFill/>
          <a:ln/>
        </p:spPr>
        <p:txBody>
          <a:bodyPr wrap="square" lIns="0" tIns="0" rIns="0" bIns="0" rtlCol="0" anchor="t"/>
          <a:lstStyle/>
          <a:p>
            <a:pPr marL="0" indent="0" algn="l">
              <a:lnSpc>
                <a:spcPts val="945"/>
              </a:lnSpc>
              <a:buNone/>
            </a:pPr>
            <a:r>
              <a:rPr lang="en-US" sz="675" b="1" dirty="0">
                <a:solidFill>
                  <a:srgbClr val="DC2626"/>
                </a:solidFill>
                <a:latin typeface="Arial" pitchFamily="34" charset="0"/>
                <a:ea typeface="Arial" pitchFamily="34" charset="-122"/>
                <a:cs typeface="Arial" pitchFamily="34" charset="-120"/>
              </a:rPr>
              <a:t>DATA LEAVES</a:t>
            </a:r>
            <a:endParaRPr lang="en-US" sz="675" dirty="0"/>
          </a:p>
        </p:txBody>
      </p:sp>
      <p:sp>
        <p:nvSpPr>
          <p:cNvPr id="34" name="Text 32"/>
          <p:cNvSpPr/>
          <p:nvPr/>
        </p:nvSpPr>
        <p:spPr>
          <a:xfrm>
            <a:off x="457200" y="3447157"/>
            <a:ext cx="2667000" cy="1367284"/>
          </a:xfrm>
          <a:prstGeom prst="rect">
            <a:avLst/>
          </a:prstGeom>
          <a:solidFill>
            <a:srgbClr val="FFFFFF"/>
          </a:solidFill>
          <a:ln/>
        </p:spPr>
        <p:txBody>
          <a:bodyPr wrap="square" rtlCol="0" anchor="ctr"/>
          <a:lstStyle/>
          <a:p>
            <a:pPr marL="0" indent="0">
              <a:buNone/>
            </a:pPr>
            <a:endParaRPr lang="en-US" dirty="0"/>
          </a:p>
        </p:txBody>
      </p:sp>
      <p:sp>
        <p:nvSpPr>
          <p:cNvPr id="35" name="Shape 33"/>
          <p:cNvSpPr/>
          <p:nvPr/>
        </p:nvSpPr>
        <p:spPr>
          <a:xfrm>
            <a:off x="476250" y="3447157"/>
            <a:ext cx="0" cy="1367284"/>
          </a:xfrm>
          <a:prstGeom prst="line">
            <a:avLst/>
          </a:prstGeom>
          <a:noFill/>
          <a:ln w="38100">
            <a:solidFill>
              <a:srgbClr val="C9A227"/>
            </a:solidFill>
            <a:prstDash val="solid"/>
          </a:ln>
        </p:spPr>
        <p:txBody>
          <a:bodyPr/>
          <a:lstStyle/>
          <a:p>
            <a:endParaRPr lang="en-US"/>
          </a:p>
        </p:txBody>
      </p:sp>
      <p:sp>
        <p:nvSpPr>
          <p:cNvPr id="36" name="Text 34"/>
          <p:cNvSpPr/>
          <p:nvPr/>
        </p:nvSpPr>
        <p:spPr>
          <a:xfrm>
            <a:off x="628650" y="3580507"/>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Government Benefits</a:t>
            </a:r>
            <a:endParaRPr lang="en-US" sz="900" dirty="0"/>
          </a:p>
        </p:txBody>
      </p:sp>
      <p:sp>
        <p:nvSpPr>
          <p:cNvPr id="37" name="Text 35"/>
          <p:cNvSpPr/>
          <p:nvPr/>
        </p:nvSpPr>
        <p:spPr>
          <a:xfrm>
            <a:off x="628650" y="3969097"/>
            <a:ext cx="2409444"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BAA required for voice data</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data egress concerns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Simplified compliance posture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IT-friendly deployment</a:t>
            </a:r>
            <a:endParaRPr lang="en-US" sz="825" dirty="0"/>
          </a:p>
        </p:txBody>
      </p:sp>
      <p:sp>
        <p:nvSpPr>
          <p:cNvPr id="38" name="Text 36"/>
          <p:cNvSpPr/>
          <p:nvPr/>
        </p:nvSpPr>
        <p:spPr>
          <a:xfrm>
            <a:off x="3257550" y="3447157"/>
            <a:ext cx="2667000" cy="1367284"/>
          </a:xfrm>
          <a:prstGeom prst="rect">
            <a:avLst/>
          </a:prstGeom>
          <a:solidFill>
            <a:srgbClr val="FFFFFF"/>
          </a:solidFill>
          <a:ln/>
        </p:spPr>
        <p:txBody>
          <a:bodyPr wrap="square" rtlCol="0" anchor="ctr"/>
          <a:lstStyle/>
          <a:p>
            <a:pPr marL="0" indent="0">
              <a:buNone/>
            </a:pPr>
            <a:endParaRPr lang="en-US" dirty="0"/>
          </a:p>
        </p:txBody>
      </p:sp>
      <p:sp>
        <p:nvSpPr>
          <p:cNvPr id="39" name="Shape 37"/>
          <p:cNvSpPr/>
          <p:nvPr/>
        </p:nvSpPr>
        <p:spPr>
          <a:xfrm>
            <a:off x="3276600" y="3447157"/>
            <a:ext cx="0" cy="1367284"/>
          </a:xfrm>
          <a:prstGeom prst="line">
            <a:avLst/>
          </a:prstGeom>
          <a:noFill/>
          <a:ln w="38100">
            <a:solidFill>
              <a:srgbClr val="C9A227"/>
            </a:solidFill>
            <a:prstDash val="solid"/>
          </a:ln>
        </p:spPr>
        <p:txBody>
          <a:bodyPr/>
          <a:lstStyle/>
          <a:p>
            <a:endParaRPr lang="en-US"/>
          </a:p>
        </p:txBody>
      </p:sp>
      <p:sp>
        <p:nvSpPr>
          <p:cNvPr id="40" name="Text 38"/>
          <p:cNvSpPr/>
          <p:nvPr/>
        </p:nvSpPr>
        <p:spPr>
          <a:xfrm>
            <a:off x="3429000" y="3580507"/>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Security Benefits</a:t>
            </a:r>
            <a:endParaRPr lang="en-US" sz="900" dirty="0"/>
          </a:p>
        </p:txBody>
      </p:sp>
      <p:sp>
        <p:nvSpPr>
          <p:cNvPr id="41" name="Text 39"/>
          <p:cNvSpPr/>
          <p:nvPr/>
        </p:nvSpPr>
        <p:spPr>
          <a:xfrm>
            <a:off x="3429000" y="3969097"/>
            <a:ext cx="2409444"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Voice never leaves device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Works offline / air-gapped</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No vendor data retention</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Full audit control</a:t>
            </a:r>
            <a:endParaRPr lang="en-US" sz="825" dirty="0"/>
          </a:p>
        </p:txBody>
      </p:sp>
      <p:sp>
        <p:nvSpPr>
          <p:cNvPr id="42" name="Text 40"/>
          <p:cNvSpPr/>
          <p:nvPr/>
        </p:nvSpPr>
        <p:spPr>
          <a:xfrm>
            <a:off x="6057900" y="3536156"/>
            <a:ext cx="2628900" cy="1189286"/>
          </a:xfrm>
          <a:prstGeom prst="rect">
            <a:avLst/>
          </a:prstGeom>
          <a:solidFill>
            <a:srgbClr val="1A1F2E"/>
          </a:solidFill>
          <a:ln/>
        </p:spPr>
        <p:txBody>
          <a:bodyPr wrap="square" rtlCol="0" anchor="ctr"/>
          <a:lstStyle/>
          <a:p>
            <a:pPr marL="0" indent="0">
              <a:buNone/>
            </a:pPr>
            <a:endParaRPr lang="en-US" dirty="0"/>
          </a:p>
        </p:txBody>
      </p:sp>
      <p:sp>
        <p:nvSpPr>
          <p:cNvPr id="43" name="Text 41"/>
          <p:cNvSpPr/>
          <p:nvPr/>
        </p:nvSpPr>
        <p:spPr>
          <a:xfrm>
            <a:off x="6191250" y="3669506"/>
            <a:ext cx="2409444"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C9A227"/>
                </a:solidFill>
                <a:latin typeface="Arial" pitchFamily="34" charset="0"/>
                <a:ea typeface="Arial" pitchFamily="34" charset="-122"/>
                <a:cs typeface="Arial" pitchFamily="34" charset="-120"/>
              </a:rPr>
              <a:t>Key Insight</a:t>
            </a:r>
            <a:endParaRPr lang="en-US" sz="900" dirty="0"/>
          </a:p>
        </p:txBody>
      </p:sp>
      <p:sp>
        <p:nvSpPr>
          <p:cNvPr id="44" name="Text 42"/>
          <p:cNvSpPr/>
          <p:nvPr/>
        </p:nvSpPr>
        <p:spPr>
          <a:xfrm>
            <a:off x="6191250" y="4058096"/>
            <a:ext cx="2409444" cy="533995"/>
          </a:xfrm>
          <a:prstGeom prst="rect">
            <a:avLst/>
          </a:prstGeom>
          <a:noFill/>
          <a:ln/>
        </p:spPr>
        <p:txBody>
          <a:bodyPr wrap="square" lIns="0" tIns="0" rIns="0" bIns="0" rtlCol="0" anchor="t"/>
          <a:lstStyle/>
          <a:p>
            <a:pPr marL="0" indent="0" algn="l">
              <a:lnSpc>
                <a:spcPts val="1402"/>
              </a:lnSpc>
              <a:buNone/>
            </a:pPr>
            <a:r>
              <a:rPr lang="en-US" sz="825" dirty="0">
                <a:solidFill>
                  <a:srgbClr val="FFFFFF">
                    <a:alpha val="80000"/>
                  </a:srgbClr>
                </a:solidFill>
                <a:latin typeface="Arial" pitchFamily="34" charset="0"/>
                <a:ea typeface="Arial" pitchFamily="34" charset="-122"/>
                <a:cs typeface="Arial" pitchFamily="34" charset="-120"/>
              </a:rPr>
              <a:t>Voice data is biometric and sensitive. Local processing means you maintain complete control over where your data goes.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4219"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04800" y="691604"/>
            <a:ext cx="4421312" cy="146596"/>
          </a:xfrm>
          <a:prstGeom prst="rect">
            <a:avLst/>
          </a:prstGeom>
          <a:noFill/>
          <a:ln/>
        </p:spPr>
        <p:txBody>
          <a:bodyPr wrap="square" lIns="0" tIns="0" rIns="0" bIns="0" rtlCol="0" anchor="t"/>
          <a:lstStyle/>
          <a:p>
            <a:pPr marL="0" indent="0" algn="l">
              <a:lnSpc>
                <a:spcPts val="1155"/>
              </a:lnSpc>
              <a:spcAft>
                <a:spcPts val="300"/>
              </a:spcAft>
              <a:buNone/>
            </a:pPr>
            <a:r>
              <a:rPr lang="en-US" sz="825" dirty="0">
                <a:solidFill>
                  <a:srgbClr val="C9A227"/>
                </a:solidFill>
                <a:latin typeface="Arial" pitchFamily="34" charset="0"/>
                <a:ea typeface="Arial" pitchFamily="34" charset="-122"/>
                <a:cs typeface="Arial" pitchFamily="34" charset="-120"/>
              </a:rPr>
              <a:t>INSTALLATION GUIDE</a:t>
            </a:r>
            <a:endParaRPr lang="en-US" sz="825" dirty="0"/>
          </a:p>
        </p:txBody>
      </p:sp>
      <p:sp>
        <p:nvSpPr>
          <p:cNvPr id="4" name="Text 2"/>
          <p:cNvSpPr/>
          <p:nvPr/>
        </p:nvSpPr>
        <p:spPr>
          <a:xfrm>
            <a:off x="304800" y="1028700"/>
            <a:ext cx="2322005" cy="247650"/>
          </a:xfrm>
          <a:prstGeom prst="rect">
            <a:avLst/>
          </a:prstGeom>
          <a:noFill/>
          <a:ln/>
        </p:spPr>
        <p:txBody>
          <a:bodyPr wrap="square" lIns="0" tIns="0" rIns="0" bIns="0" rtlCol="0" anchor="t"/>
          <a:lstStyle/>
          <a:p>
            <a:pPr marL="0" indent="0" algn="l">
              <a:lnSpc>
                <a:spcPts val="1950"/>
              </a:lnSpc>
              <a:spcAft>
                <a:spcPts val="300"/>
              </a:spcAft>
              <a:buNone/>
            </a:pPr>
            <a:r>
              <a:rPr lang="en-US" sz="1950" dirty="0">
                <a:solidFill>
                  <a:srgbClr val="1A1F2E"/>
                </a:solidFill>
                <a:latin typeface="Georgia" pitchFamily="34" charset="0"/>
                <a:ea typeface="Georgia" pitchFamily="34" charset="-122"/>
                <a:cs typeface="Georgia" pitchFamily="34" charset="-120"/>
              </a:rPr>
              <a:t>SuperWhisper for Mac</a:t>
            </a:r>
            <a:endParaRPr lang="en-US" sz="1950" dirty="0"/>
          </a:p>
        </p:txBody>
      </p:sp>
      <p:sp>
        <p:nvSpPr>
          <p:cNvPr id="5" name="Text 3"/>
          <p:cNvSpPr/>
          <p:nvPr/>
        </p:nvSpPr>
        <p:spPr>
          <a:xfrm>
            <a:off x="304800" y="1466850"/>
            <a:ext cx="4421312" cy="146596"/>
          </a:xfrm>
          <a:prstGeom prst="rect">
            <a:avLst/>
          </a:prstGeom>
          <a:noFill/>
          <a:ln/>
        </p:spPr>
        <p:txBody>
          <a:bodyPr wrap="square" lIns="0" tIns="0" rIns="0" bIns="0" rtlCol="0" anchor="t"/>
          <a:lstStyle/>
          <a:p>
            <a:pPr marL="0" indent="0" algn="l">
              <a:lnSpc>
                <a:spcPts val="1155"/>
              </a:lnSpc>
              <a:spcAft>
                <a:spcPts val="1050"/>
              </a:spcAft>
              <a:buNone/>
            </a:pPr>
            <a:r>
              <a:rPr lang="en-US" sz="825" dirty="0">
                <a:solidFill>
                  <a:srgbClr val="6B7280"/>
                </a:solidFill>
                <a:latin typeface="Arial" pitchFamily="34" charset="0"/>
                <a:ea typeface="Arial" pitchFamily="34" charset="-122"/>
                <a:cs typeface="Arial" pitchFamily="34" charset="-120"/>
              </a:rPr>
              <a:t>Step-by-step installation</a:t>
            </a:r>
            <a:endParaRPr lang="en-US" sz="825" dirty="0"/>
          </a:p>
        </p:txBody>
      </p:sp>
      <p:sp>
        <p:nvSpPr>
          <p:cNvPr id="6" name="Text 4"/>
          <p:cNvSpPr/>
          <p:nvPr/>
        </p:nvSpPr>
        <p:spPr>
          <a:xfrm>
            <a:off x="304800" y="1941016"/>
            <a:ext cx="228600" cy="22860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87251" y="197524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1</a:t>
            </a:r>
            <a:endParaRPr lang="en-US" sz="900" dirty="0"/>
          </a:p>
        </p:txBody>
      </p:sp>
      <p:sp>
        <p:nvSpPr>
          <p:cNvPr id="8" name="Text 6"/>
          <p:cNvSpPr/>
          <p:nvPr/>
        </p:nvSpPr>
        <p:spPr>
          <a:xfrm>
            <a:off x="781050" y="1899196"/>
            <a:ext cx="3935537" cy="159990"/>
          </a:xfrm>
          <a:prstGeom prst="rect">
            <a:avLst/>
          </a:prstGeom>
          <a:noFill/>
          <a:ln/>
        </p:spPr>
        <p:txBody>
          <a:bodyPr wrap="square" lIns="0" tIns="0" rIns="0" bIns="0" rtlCol="0" anchor="t"/>
          <a:lstStyle/>
          <a:p>
            <a:pPr marL="0" indent="0" algn="l">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Download SuperWhisper</a:t>
            </a:r>
            <a:endParaRPr lang="en-US" sz="900" dirty="0"/>
          </a:p>
        </p:txBody>
      </p:sp>
      <p:sp>
        <p:nvSpPr>
          <p:cNvPr id="9" name="Text 7"/>
          <p:cNvSpPr/>
          <p:nvPr/>
        </p:nvSpPr>
        <p:spPr>
          <a:xfrm>
            <a:off x="781050" y="2078236"/>
            <a:ext cx="3935537"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Visit superwhisper.com or search "SuperWhisper" in the Mac App Store</a:t>
            </a:r>
            <a:endParaRPr lang="en-US" sz="750" dirty="0"/>
          </a:p>
        </p:txBody>
      </p:sp>
      <p:sp>
        <p:nvSpPr>
          <p:cNvPr id="10" name="Text 8"/>
          <p:cNvSpPr/>
          <p:nvPr/>
        </p:nvSpPr>
        <p:spPr>
          <a:xfrm>
            <a:off x="304800" y="2501057"/>
            <a:ext cx="228600" cy="2286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387251" y="253528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781050" y="2459236"/>
            <a:ext cx="3935537" cy="159990"/>
          </a:xfrm>
          <a:prstGeom prst="rect">
            <a:avLst/>
          </a:prstGeom>
          <a:noFill/>
          <a:ln/>
        </p:spPr>
        <p:txBody>
          <a:bodyPr wrap="square" lIns="0" tIns="0" rIns="0" bIns="0" rtlCol="0" anchor="t"/>
          <a:lstStyle/>
          <a:p>
            <a:pPr marL="0" indent="0" algn="l">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Install the Application</a:t>
            </a:r>
            <a:endParaRPr lang="en-US" sz="900" dirty="0"/>
          </a:p>
        </p:txBody>
      </p:sp>
      <p:sp>
        <p:nvSpPr>
          <p:cNvPr id="13" name="Text 11"/>
          <p:cNvSpPr/>
          <p:nvPr/>
        </p:nvSpPr>
        <p:spPr>
          <a:xfrm>
            <a:off x="781050" y="2638276"/>
            <a:ext cx="3935537"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Drag to Applications folder (direct download) or click Install (App Store)</a:t>
            </a:r>
            <a:endParaRPr lang="en-US" sz="750" dirty="0"/>
          </a:p>
        </p:txBody>
      </p:sp>
      <p:sp>
        <p:nvSpPr>
          <p:cNvPr id="14" name="Text 12"/>
          <p:cNvSpPr/>
          <p:nvPr/>
        </p:nvSpPr>
        <p:spPr>
          <a:xfrm>
            <a:off x="304800" y="3061097"/>
            <a:ext cx="228600" cy="22860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87251" y="309532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3</a:t>
            </a:r>
            <a:endParaRPr lang="en-US" sz="900" dirty="0"/>
          </a:p>
        </p:txBody>
      </p:sp>
      <p:sp>
        <p:nvSpPr>
          <p:cNvPr id="16" name="Text 14"/>
          <p:cNvSpPr/>
          <p:nvPr/>
        </p:nvSpPr>
        <p:spPr>
          <a:xfrm>
            <a:off x="781050" y="3019276"/>
            <a:ext cx="3935537" cy="159990"/>
          </a:xfrm>
          <a:prstGeom prst="rect">
            <a:avLst/>
          </a:prstGeom>
          <a:noFill/>
          <a:ln/>
        </p:spPr>
        <p:txBody>
          <a:bodyPr wrap="square" lIns="0" tIns="0" rIns="0" bIns="0" rtlCol="0" anchor="t"/>
          <a:lstStyle/>
          <a:p>
            <a:pPr marL="0" indent="0" algn="l">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Grant Microphone Access</a:t>
            </a:r>
            <a:endParaRPr lang="en-US" sz="900" dirty="0"/>
          </a:p>
        </p:txBody>
      </p:sp>
      <p:sp>
        <p:nvSpPr>
          <p:cNvPr id="17" name="Text 15"/>
          <p:cNvSpPr/>
          <p:nvPr/>
        </p:nvSpPr>
        <p:spPr>
          <a:xfrm>
            <a:off x="781050" y="3198316"/>
            <a:ext cx="3935537"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System Preferences &gt; Privacy &amp; Security &gt; Microphone &gt; Enable SuperWhisper</a:t>
            </a:r>
            <a:endParaRPr lang="en-US" sz="750" dirty="0"/>
          </a:p>
        </p:txBody>
      </p:sp>
      <p:sp>
        <p:nvSpPr>
          <p:cNvPr id="18" name="Text 16"/>
          <p:cNvSpPr/>
          <p:nvPr/>
        </p:nvSpPr>
        <p:spPr>
          <a:xfrm>
            <a:off x="304800" y="3621137"/>
            <a:ext cx="228600" cy="228600"/>
          </a:xfrm>
          <a:prstGeom prst="rect">
            <a:avLst/>
          </a:prstGeom>
          <a:solidFill>
            <a:srgbClr val="C9A227"/>
          </a:solidFill>
          <a:ln/>
        </p:spPr>
        <p:txBody>
          <a:bodyPr wrap="square" rtlCol="0" anchor="ctr"/>
          <a:lstStyle/>
          <a:p>
            <a:pPr marL="0" indent="0">
              <a:buNone/>
            </a:pPr>
            <a:endParaRPr lang="en-US" dirty="0"/>
          </a:p>
        </p:txBody>
      </p:sp>
      <p:sp>
        <p:nvSpPr>
          <p:cNvPr id="19" name="Text 17"/>
          <p:cNvSpPr/>
          <p:nvPr/>
        </p:nvSpPr>
        <p:spPr>
          <a:xfrm>
            <a:off x="387251" y="3655368"/>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4</a:t>
            </a:r>
            <a:endParaRPr lang="en-US" sz="900" dirty="0"/>
          </a:p>
        </p:txBody>
      </p:sp>
      <p:sp>
        <p:nvSpPr>
          <p:cNvPr id="20" name="Text 18"/>
          <p:cNvSpPr/>
          <p:nvPr/>
        </p:nvSpPr>
        <p:spPr>
          <a:xfrm>
            <a:off x="781050" y="3579316"/>
            <a:ext cx="3935537" cy="159990"/>
          </a:xfrm>
          <a:prstGeom prst="rect">
            <a:avLst/>
          </a:prstGeom>
          <a:noFill/>
          <a:ln/>
        </p:spPr>
        <p:txBody>
          <a:bodyPr wrap="square" lIns="0" tIns="0" rIns="0" bIns="0" rtlCol="0" anchor="t"/>
          <a:lstStyle/>
          <a:p>
            <a:pPr marL="0" indent="0" algn="l">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Download AI Model</a:t>
            </a:r>
            <a:endParaRPr lang="en-US" sz="900" dirty="0"/>
          </a:p>
        </p:txBody>
      </p:sp>
      <p:sp>
        <p:nvSpPr>
          <p:cNvPr id="21" name="Text 19"/>
          <p:cNvSpPr/>
          <p:nvPr/>
        </p:nvSpPr>
        <p:spPr>
          <a:xfrm>
            <a:off x="781050" y="3758357"/>
            <a:ext cx="3935537"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On first launch, select a model (recommend "Medium" for balance). Download is ~1-2GB.</a:t>
            </a:r>
            <a:endParaRPr lang="en-US" sz="750" dirty="0"/>
          </a:p>
        </p:txBody>
      </p:sp>
      <p:sp>
        <p:nvSpPr>
          <p:cNvPr id="22" name="Text 20"/>
          <p:cNvSpPr/>
          <p:nvPr/>
        </p:nvSpPr>
        <p:spPr>
          <a:xfrm>
            <a:off x="304800" y="4181177"/>
            <a:ext cx="228600" cy="228600"/>
          </a:xfrm>
          <a:prstGeom prst="rect">
            <a:avLst/>
          </a:prstGeom>
          <a:solidFill>
            <a:srgbClr val="059669"/>
          </a:solidFill>
          <a:ln/>
        </p:spPr>
        <p:txBody>
          <a:bodyPr wrap="square" rtlCol="0" anchor="ctr"/>
          <a:lstStyle/>
          <a:p>
            <a:pPr marL="0" indent="0">
              <a:buNone/>
            </a:pPr>
            <a:endParaRPr lang="en-US" dirty="0"/>
          </a:p>
        </p:txBody>
      </p:sp>
      <p:sp>
        <p:nvSpPr>
          <p:cNvPr id="23" name="Text 21"/>
          <p:cNvSpPr/>
          <p:nvPr/>
        </p:nvSpPr>
        <p:spPr>
          <a:xfrm>
            <a:off x="387251" y="4215408"/>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24" name="Text 22"/>
          <p:cNvSpPr/>
          <p:nvPr/>
        </p:nvSpPr>
        <p:spPr>
          <a:xfrm>
            <a:off x="781050" y="4139357"/>
            <a:ext cx="3935537" cy="159990"/>
          </a:xfrm>
          <a:prstGeom prst="rect">
            <a:avLst/>
          </a:prstGeom>
          <a:noFill/>
          <a:ln/>
        </p:spPr>
        <p:txBody>
          <a:bodyPr wrap="square" lIns="0" tIns="0" rIns="0" bIns="0" rtlCol="0" anchor="t"/>
          <a:lstStyle/>
          <a:p>
            <a:pPr marL="0" indent="0" algn="l">
              <a:lnSpc>
                <a:spcPts val="1260"/>
              </a:lnSpc>
              <a:spcAft>
                <a:spcPts val="150"/>
              </a:spcAft>
              <a:buNone/>
            </a:pPr>
            <a:r>
              <a:rPr lang="en-US" sz="900" b="1" dirty="0">
                <a:solidFill>
                  <a:srgbClr val="1A1F2E"/>
                </a:solidFill>
                <a:latin typeface="Arial" pitchFamily="34" charset="0"/>
                <a:ea typeface="Arial" pitchFamily="34" charset="-122"/>
                <a:cs typeface="Arial" pitchFamily="34" charset="-120"/>
              </a:rPr>
              <a:t>Test Recording</a:t>
            </a:r>
            <a:endParaRPr lang="en-US" sz="900" dirty="0"/>
          </a:p>
        </p:txBody>
      </p:sp>
      <p:sp>
        <p:nvSpPr>
          <p:cNvPr id="25" name="Text 23"/>
          <p:cNvSpPr/>
          <p:nvPr/>
        </p:nvSpPr>
        <p:spPr>
          <a:xfrm>
            <a:off x="781050" y="4318397"/>
            <a:ext cx="3935537"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Hold Fn key (or custom hotkey) and speak. Release to transcribe.</a:t>
            </a:r>
            <a:endParaRPr lang="en-US" sz="750" dirty="0"/>
          </a:p>
        </p:txBody>
      </p:sp>
      <p:sp>
        <p:nvSpPr>
          <p:cNvPr id="26" name="Text 24"/>
          <p:cNvSpPr/>
          <p:nvPr/>
        </p:nvSpPr>
        <p:spPr>
          <a:xfrm>
            <a:off x="5096619" y="0"/>
            <a:ext cx="4047381" cy="5143500"/>
          </a:xfrm>
          <a:prstGeom prst="rect">
            <a:avLst/>
          </a:prstGeom>
          <a:solidFill>
            <a:srgbClr val="1A1F2E"/>
          </a:solidFill>
          <a:ln/>
        </p:spPr>
        <p:txBody>
          <a:bodyPr wrap="square" rtlCol="0" anchor="ctr"/>
          <a:lstStyle/>
          <a:p>
            <a:pPr marL="0" indent="0">
              <a:buNone/>
            </a:pPr>
            <a:endParaRPr lang="en-US" dirty="0"/>
          </a:p>
        </p:txBody>
      </p:sp>
      <p:sp>
        <p:nvSpPr>
          <p:cNvPr id="27" name="Text 25"/>
          <p:cNvSpPr/>
          <p:nvPr/>
        </p:nvSpPr>
        <p:spPr>
          <a:xfrm>
            <a:off x="5401419" y="266700"/>
            <a:ext cx="3506536" cy="146596"/>
          </a:xfrm>
          <a:prstGeom prst="rect">
            <a:avLst/>
          </a:prstGeom>
          <a:noFill/>
          <a:ln/>
        </p:spPr>
        <p:txBody>
          <a:bodyPr wrap="square" lIns="0" tIns="0" rIns="0" bIns="0" rtlCol="0" anchor="t"/>
          <a:lstStyle/>
          <a:p>
            <a:pPr marL="0" indent="0" algn="l">
              <a:lnSpc>
                <a:spcPts val="1155"/>
              </a:lnSpc>
              <a:spcAft>
                <a:spcPts val="1050"/>
              </a:spcAft>
              <a:buNone/>
            </a:pPr>
            <a:r>
              <a:rPr lang="en-US" sz="825" dirty="0">
                <a:solidFill>
                  <a:srgbClr val="C9A227"/>
                </a:solidFill>
                <a:latin typeface="Arial" pitchFamily="34" charset="0"/>
                <a:ea typeface="Arial" pitchFamily="34" charset="-122"/>
                <a:cs typeface="Arial" pitchFamily="34" charset="-120"/>
              </a:rPr>
              <a:t>DOWNLOAD OPTIONS</a:t>
            </a:r>
            <a:endParaRPr lang="en-US" sz="825" dirty="0"/>
          </a:p>
        </p:txBody>
      </p:sp>
      <p:sp>
        <p:nvSpPr>
          <p:cNvPr id="28" name="Text 26"/>
          <p:cNvSpPr/>
          <p:nvPr/>
        </p:nvSpPr>
        <p:spPr>
          <a:xfrm>
            <a:off x="5401419" y="699046"/>
            <a:ext cx="3437781" cy="870496"/>
          </a:xfrm>
          <a:prstGeom prst="rect">
            <a:avLst/>
          </a:prstGeom>
          <a:solidFill>
            <a:srgbClr val="FFFFFF">
              <a:alpha val="5000"/>
            </a:srgbClr>
          </a:solidFill>
          <a:ln w="9525">
            <a:solidFill>
              <a:srgbClr val="FFFFFF"/>
            </a:solidFill>
          </a:ln>
        </p:spPr>
        <p:txBody>
          <a:bodyPr wrap="square" rtlCol="0" anchor="ctr"/>
          <a:lstStyle/>
          <a:p>
            <a:pPr marL="0" indent="0">
              <a:buNone/>
            </a:pPr>
            <a:endParaRPr lang="en-US" dirty="0"/>
          </a:p>
        </p:txBody>
      </p:sp>
      <p:sp>
        <p:nvSpPr>
          <p:cNvPr id="29" name="Text 27"/>
          <p:cNvSpPr/>
          <p:nvPr/>
        </p:nvSpPr>
        <p:spPr>
          <a:xfrm>
            <a:off x="5525244" y="822871"/>
            <a:ext cx="325393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Option A: Mac App Store</a:t>
            </a:r>
            <a:endParaRPr lang="en-US" sz="900" dirty="0"/>
          </a:p>
        </p:txBody>
      </p:sp>
      <p:sp>
        <p:nvSpPr>
          <p:cNvPr id="30" name="Text 28"/>
          <p:cNvSpPr/>
          <p:nvPr/>
        </p:nvSpPr>
        <p:spPr>
          <a:xfrm>
            <a:off x="5525244" y="1020961"/>
            <a:ext cx="3253933"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FFFFFF">
                    <a:alpha val="60000"/>
                  </a:srgbClr>
                </a:solidFill>
                <a:latin typeface="Arial" pitchFamily="34" charset="0"/>
                <a:ea typeface="Arial" pitchFamily="34" charset="-122"/>
                <a:cs typeface="Arial" pitchFamily="34" charset="-120"/>
              </a:rPr>
              <a:t>Easiest option, auto-updates, sandboxed for security</a:t>
            </a:r>
            <a:endParaRPr lang="en-US" sz="750" dirty="0"/>
          </a:p>
        </p:txBody>
      </p:sp>
      <p:sp>
        <p:nvSpPr>
          <p:cNvPr id="31" name="Text 29"/>
          <p:cNvSpPr/>
          <p:nvPr/>
        </p:nvSpPr>
        <p:spPr>
          <a:xfrm>
            <a:off x="5525244" y="1211461"/>
            <a:ext cx="881211" cy="234255"/>
          </a:xfrm>
          <a:prstGeom prst="rect">
            <a:avLst/>
          </a:prstGeom>
          <a:solidFill>
            <a:srgbClr val="0EA5E9"/>
          </a:solidFill>
          <a:ln/>
        </p:spPr>
        <p:txBody>
          <a:bodyPr wrap="square" rtlCol="0" anchor="ctr"/>
          <a:lstStyle/>
          <a:p>
            <a:pPr marL="0" indent="0">
              <a:buNone/>
            </a:pPr>
            <a:endParaRPr lang="en-US" dirty="0"/>
          </a:p>
        </p:txBody>
      </p:sp>
      <p:sp>
        <p:nvSpPr>
          <p:cNvPr id="32" name="Text 30"/>
          <p:cNvSpPr/>
          <p:nvPr/>
        </p:nvSpPr>
        <p:spPr>
          <a:xfrm>
            <a:off x="5620494" y="1268611"/>
            <a:ext cx="704526" cy="119955"/>
          </a:xfrm>
          <a:prstGeom prst="rect">
            <a:avLst/>
          </a:prstGeom>
          <a:noFill/>
          <a:ln/>
        </p:spPr>
        <p:txBody>
          <a:bodyPr wrap="square" lIns="0" tIns="0" rIns="0" bIns="0" rtlCol="0" anchor="t"/>
          <a:lstStyle/>
          <a:p>
            <a:pPr marL="0" indent="0" algn="l">
              <a:lnSpc>
                <a:spcPts val="945"/>
              </a:lnSpc>
              <a:buNone/>
            </a:pPr>
            <a:r>
              <a:rPr lang="en-US" sz="675" dirty="0">
                <a:solidFill>
                  <a:srgbClr val="FFFFFF"/>
                </a:solidFill>
                <a:latin typeface="Arial" pitchFamily="34" charset="0"/>
                <a:ea typeface="Arial" pitchFamily="34" charset="-122"/>
                <a:cs typeface="Arial" pitchFamily="34" charset="-120"/>
              </a:rPr>
              <a:t>RECOMMENDED</a:t>
            </a:r>
            <a:endParaRPr lang="en-US" sz="675" dirty="0"/>
          </a:p>
        </p:txBody>
      </p:sp>
      <p:sp>
        <p:nvSpPr>
          <p:cNvPr id="33" name="Text 31"/>
          <p:cNvSpPr/>
          <p:nvPr/>
        </p:nvSpPr>
        <p:spPr>
          <a:xfrm>
            <a:off x="5401419" y="1817191"/>
            <a:ext cx="3437781" cy="712440"/>
          </a:xfrm>
          <a:prstGeom prst="rect">
            <a:avLst/>
          </a:prstGeom>
          <a:solidFill>
            <a:srgbClr val="FFFFFF">
              <a:alpha val="5000"/>
            </a:srgbClr>
          </a:solidFill>
          <a:ln w="9525">
            <a:solidFill>
              <a:srgbClr val="FFFFFF"/>
            </a:solidFill>
          </a:ln>
        </p:spPr>
        <p:txBody>
          <a:bodyPr wrap="square" rtlCol="0" anchor="ctr"/>
          <a:lstStyle/>
          <a:p>
            <a:pPr marL="0" indent="0">
              <a:buNone/>
            </a:pPr>
            <a:endParaRPr lang="en-US" dirty="0"/>
          </a:p>
        </p:txBody>
      </p:sp>
      <p:sp>
        <p:nvSpPr>
          <p:cNvPr id="34" name="Text 32"/>
          <p:cNvSpPr/>
          <p:nvPr/>
        </p:nvSpPr>
        <p:spPr>
          <a:xfrm>
            <a:off x="5525244" y="1941016"/>
            <a:ext cx="325393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Option B: Direct Download</a:t>
            </a:r>
            <a:endParaRPr lang="en-US" sz="900" dirty="0"/>
          </a:p>
        </p:txBody>
      </p:sp>
      <p:sp>
        <p:nvSpPr>
          <p:cNvPr id="35" name="Text 33"/>
          <p:cNvSpPr/>
          <p:nvPr/>
        </p:nvSpPr>
        <p:spPr>
          <a:xfrm>
            <a:off x="5525244" y="2139107"/>
            <a:ext cx="3253933"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superwhisper.com/download</a:t>
            </a:r>
            <a:endParaRPr lang="en-US" sz="750" dirty="0"/>
          </a:p>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More features, requires notarization bypass</a:t>
            </a:r>
            <a:endParaRPr lang="en-US" sz="750" dirty="0"/>
          </a:p>
        </p:txBody>
      </p:sp>
      <p:sp>
        <p:nvSpPr>
          <p:cNvPr id="36" name="Text 34"/>
          <p:cNvSpPr/>
          <p:nvPr/>
        </p:nvSpPr>
        <p:spPr>
          <a:xfrm>
            <a:off x="5401419" y="2815382"/>
            <a:ext cx="3437781" cy="102870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37" name="Text 35"/>
          <p:cNvSpPr/>
          <p:nvPr/>
        </p:nvSpPr>
        <p:spPr>
          <a:xfrm>
            <a:off x="5525244" y="2939207"/>
            <a:ext cx="325393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SYSTEM REQUIREMENTS</a:t>
            </a:r>
            <a:endParaRPr lang="en-US" sz="750" dirty="0"/>
          </a:p>
        </p:txBody>
      </p:sp>
      <p:sp>
        <p:nvSpPr>
          <p:cNvPr id="38" name="Text 36"/>
          <p:cNvSpPr/>
          <p:nvPr/>
        </p:nvSpPr>
        <p:spPr>
          <a:xfrm>
            <a:off x="5525244" y="3110657"/>
            <a:ext cx="3253933"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macOS 13 Ventura or later</a:t>
            </a:r>
            <a:endParaRPr lang="en-US" sz="750" dirty="0"/>
          </a:p>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Apple Silicon (M1/M2/M3/M4)</a:t>
            </a:r>
            <a:endParaRPr lang="en-US" sz="750" dirty="0"/>
          </a:p>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8GB RAM minimum</a:t>
            </a:r>
            <a:endParaRPr lang="en-US" sz="750" dirty="0"/>
          </a:p>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2GB free storage for models</a:t>
            </a:r>
            <a:endParaRPr lang="en-US" sz="750" dirty="0"/>
          </a:p>
        </p:txBody>
      </p:sp>
      <p:sp>
        <p:nvSpPr>
          <p:cNvPr id="39" name="Text 37"/>
          <p:cNvSpPr/>
          <p:nvPr/>
        </p:nvSpPr>
        <p:spPr>
          <a:xfrm>
            <a:off x="5401419" y="4756845"/>
            <a:ext cx="3506536" cy="119955"/>
          </a:xfrm>
          <a:prstGeom prst="rect">
            <a:avLst/>
          </a:prstGeom>
          <a:noFill/>
          <a:ln/>
        </p:spPr>
        <p:txBody>
          <a:bodyPr wrap="square" lIns="0" tIns="0" rIns="0" bIns="0" rtlCol="0" anchor="t"/>
          <a:lstStyle/>
          <a:p>
            <a:pPr marL="0" indent="0" algn="l">
              <a:lnSpc>
                <a:spcPts val="945"/>
              </a:lnSpc>
              <a:buNone/>
            </a:pPr>
            <a:r>
              <a:rPr lang="en-US" sz="675" dirty="0">
                <a:solidFill>
                  <a:srgbClr val="FFFFFF">
                    <a:alpha val="40000"/>
                  </a:srgbClr>
                </a:solidFill>
                <a:latin typeface="Arial" pitchFamily="34" charset="0"/>
                <a:ea typeface="Arial" pitchFamily="34" charset="-122"/>
                <a:cs typeface="Arial" pitchFamily="34" charset="-120"/>
              </a:rPr>
              <a:t>Intel Macs supported but performance is slower</a:t>
            </a:r>
            <a:endParaRPr lang="en-US" sz="6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4219"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04800" y="520303"/>
            <a:ext cx="1637214"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INSTALLATION GUIDE</a:t>
            </a:r>
            <a:endParaRPr lang="en-US" sz="825" dirty="0"/>
          </a:p>
        </p:txBody>
      </p:sp>
      <p:sp>
        <p:nvSpPr>
          <p:cNvPr id="4" name="Text 2"/>
          <p:cNvSpPr/>
          <p:nvPr/>
        </p:nvSpPr>
        <p:spPr>
          <a:xfrm>
            <a:off x="1986111" y="521196"/>
            <a:ext cx="292150" cy="144661"/>
          </a:xfrm>
          <a:prstGeom prst="rect">
            <a:avLst/>
          </a:prstGeom>
          <a:solidFill>
            <a:srgbClr val="DCFCE7"/>
          </a:solidFill>
          <a:ln/>
        </p:spPr>
        <p:txBody>
          <a:bodyPr wrap="square" rtlCol="0" anchor="ctr"/>
          <a:lstStyle/>
          <a:p>
            <a:pPr marL="0" indent="0">
              <a:buNone/>
            </a:pPr>
            <a:endParaRPr lang="en-US" dirty="0"/>
          </a:p>
        </p:txBody>
      </p:sp>
      <p:sp>
        <p:nvSpPr>
          <p:cNvPr id="5" name="Text 3"/>
          <p:cNvSpPr/>
          <p:nvPr/>
        </p:nvSpPr>
        <p:spPr>
          <a:xfrm>
            <a:off x="2043261" y="540246"/>
            <a:ext cx="181407" cy="106561"/>
          </a:xfrm>
          <a:prstGeom prst="rect">
            <a:avLst/>
          </a:prstGeom>
          <a:noFill/>
          <a:ln/>
        </p:spPr>
        <p:txBody>
          <a:bodyPr wrap="square" lIns="0" tIns="0" rIns="0" bIns="0" rtlCol="0" anchor="t"/>
          <a:lstStyle/>
          <a:p>
            <a:pPr marL="0" indent="0" algn="l">
              <a:lnSpc>
                <a:spcPts val="840"/>
              </a:lnSpc>
              <a:buNone/>
            </a:pPr>
            <a:r>
              <a:rPr lang="en-US" sz="600" b="1" dirty="0">
                <a:solidFill>
                  <a:srgbClr val="166534"/>
                </a:solidFill>
                <a:latin typeface="Arial" pitchFamily="34" charset="0"/>
                <a:ea typeface="Arial" pitchFamily="34" charset="-122"/>
                <a:cs typeface="Arial" pitchFamily="34" charset="-120"/>
              </a:rPr>
              <a:t>NEW</a:t>
            </a:r>
            <a:endParaRPr lang="en-US" sz="600" dirty="0"/>
          </a:p>
        </p:txBody>
      </p:sp>
      <p:sp>
        <p:nvSpPr>
          <p:cNvPr id="6" name="Text 4"/>
          <p:cNvSpPr/>
          <p:nvPr/>
        </p:nvSpPr>
        <p:spPr>
          <a:xfrm>
            <a:off x="304800" y="857399"/>
            <a:ext cx="2827211" cy="247650"/>
          </a:xfrm>
          <a:prstGeom prst="rect">
            <a:avLst/>
          </a:prstGeom>
          <a:noFill/>
          <a:ln/>
        </p:spPr>
        <p:txBody>
          <a:bodyPr wrap="square" lIns="0" tIns="0" rIns="0" bIns="0" rtlCol="0" anchor="t"/>
          <a:lstStyle/>
          <a:p>
            <a:pPr marL="0" indent="0" algn="l">
              <a:lnSpc>
                <a:spcPts val="1950"/>
              </a:lnSpc>
              <a:spcAft>
                <a:spcPts val="300"/>
              </a:spcAft>
              <a:buNone/>
            </a:pPr>
            <a:r>
              <a:rPr lang="en-US" sz="1950" dirty="0">
                <a:solidFill>
                  <a:srgbClr val="1A1F2E"/>
                </a:solidFill>
                <a:latin typeface="Georgia" pitchFamily="34" charset="0"/>
                <a:ea typeface="Georgia" pitchFamily="34" charset="-122"/>
                <a:cs typeface="Georgia" pitchFamily="34" charset="-120"/>
              </a:rPr>
              <a:t>SuperWhisper for Windows</a:t>
            </a:r>
            <a:endParaRPr lang="en-US" sz="1950" dirty="0"/>
          </a:p>
        </p:txBody>
      </p:sp>
      <p:sp>
        <p:nvSpPr>
          <p:cNvPr id="7" name="Text 5"/>
          <p:cNvSpPr/>
          <p:nvPr/>
        </p:nvSpPr>
        <p:spPr>
          <a:xfrm>
            <a:off x="304800" y="1295549"/>
            <a:ext cx="4421312" cy="146596"/>
          </a:xfrm>
          <a:prstGeom prst="rect">
            <a:avLst/>
          </a:prstGeom>
          <a:noFill/>
          <a:ln/>
        </p:spPr>
        <p:txBody>
          <a:bodyPr wrap="square" lIns="0" tIns="0" rIns="0" bIns="0" rtlCol="0" anchor="t"/>
          <a:lstStyle/>
          <a:p>
            <a:pPr marL="0" indent="0" algn="l">
              <a:lnSpc>
                <a:spcPts val="1155"/>
              </a:lnSpc>
              <a:spcAft>
                <a:spcPts val="900"/>
              </a:spcAft>
              <a:buNone/>
            </a:pPr>
            <a:r>
              <a:rPr lang="en-US" sz="825" dirty="0">
                <a:solidFill>
                  <a:srgbClr val="6B7280"/>
                </a:solidFill>
                <a:latin typeface="Arial" pitchFamily="34" charset="0"/>
                <a:ea typeface="Arial" pitchFamily="34" charset="-122"/>
                <a:cs typeface="Arial" pitchFamily="34" charset="-120"/>
              </a:rPr>
              <a:t>Step-by-step installation</a:t>
            </a:r>
            <a:endParaRPr lang="en-US" sz="825" dirty="0"/>
          </a:p>
        </p:txBody>
      </p:sp>
      <p:sp>
        <p:nvSpPr>
          <p:cNvPr id="8" name="Text 6"/>
          <p:cNvSpPr/>
          <p:nvPr/>
        </p:nvSpPr>
        <p:spPr>
          <a:xfrm>
            <a:off x="304800" y="1748730"/>
            <a:ext cx="209550" cy="209550"/>
          </a:xfrm>
          <a:prstGeom prst="rect">
            <a:avLst/>
          </a:prstGeom>
          <a:solidFill>
            <a:srgbClr val="C9A227"/>
          </a:solidFill>
          <a:ln/>
        </p:spPr>
        <p:txBody>
          <a:bodyPr wrap="square" rtlCol="0" anchor="ctr"/>
          <a:lstStyle/>
          <a:p>
            <a:pPr marL="0" indent="0">
              <a:buNone/>
            </a:pPr>
            <a:endParaRPr lang="en-US" dirty="0"/>
          </a:p>
        </p:txBody>
      </p:sp>
      <p:sp>
        <p:nvSpPr>
          <p:cNvPr id="9" name="Text 7"/>
          <p:cNvSpPr/>
          <p:nvPr/>
        </p:nvSpPr>
        <p:spPr>
          <a:xfrm>
            <a:off x="380405" y="1780133"/>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1</a:t>
            </a:r>
            <a:endParaRPr lang="en-US" sz="825" dirty="0"/>
          </a:p>
        </p:txBody>
      </p:sp>
      <p:sp>
        <p:nvSpPr>
          <p:cNvPr id="10" name="Text 8"/>
          <p:cNvSpPr/>
          <p:nvPr/>
        </p:nvSpPr>
        <p:spPr>
          <a:xfrm>
            <a:off x="762000" y="1708845"/>
            <a:ext cx="3954968"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Download Installer</a:t>
            </a:r>
            <a:endParaRPr lang="en-US" sz="825" dirty="0"/>
          </a:p>
        </p:txBody>
      </p:sp>
      <p:sp>
        <p:nvSpPr>
          <p:cNvPr id="11" name="Text 9"/>
          <p:cNvSpPr/>
          <p:nvPr/>
        </p:nvSpPr>
        <p:spPr>
          <a:xfrm>
            <a:off x="762000" y="1874490"/>
            <a:ext cx="3954968" cy="123825"/>
          </a:xfrm>
          <a:prstGeom prst="rect">
            <a:avLst/>
          </a:prstGeom>
          <a:noFill/>
          <a:ln/>
        </p:spPr>
        <p:txBody>
          <a:bodyPr wrap="square" lIns="0" tIns="0" rIns="0" bIns="0" rtlCol="0" anchor="t"/>
          <a:lstStyle/>
          <a:p>
            <a:pPr marL="0" indent="0" algn="l">
              <a:lnSpc>
                <a:spcPts val="975"/>
              </a:lnSpc>
              <a:buNone/>
            </a:pPr>
            <a:r>
              <a:rPr lang="en-US" sz="750" dirty="0">
                <a:solidFill>
                  <a:srgbClr val="6B7280"/>
                </a:solidFill>
                <a:latin typeface="Arial" pitchFamily="34" charset="0"/>
                <a:ea typeface="Arial" pitchFamily="34" charset="-122"/>
                <a:cs typeface="Arial" pitchFamily="34" charset="-120"/>
              </a:rPr>
              <a:t>Visit superwhisper.com/windows and download the .exe installer</a:t>
            </a:r>
            <a:endParaRPr lang="en-US" sz="750" dirty="0"/>
          </a:p>
        </p:txBody>
      </p:sp>
      <p:sp>
        <p:nvSpPr>
          <p:cNvPr id="12" name="Text 10"/>
          <p:cNvSpPr/>
          <p:nvPr/>
        </p:nvSpPr>
        <p:spPr>
          <a:xfrm>
            <a:off x="304800" y="2266801"/>
            <a:ext cx="209550" cy="209550"/>
          </a:xfrm>
          <a:prstGeom prst="rect">
            <a:avLst/>
          </a:prstGeom>
          <a:solidFill>
            <a:srgbClr val="C9A227"/>
          </a:solidFill>
          <a:ln/>
        </p:spPr>
        <p:txBody>
          <a:bodyPr wrap="square" rtlCol="0" anchor="ctr"/>
          <a:lstStyle/>
          <a:p>
            <a:pPr marL="0" indent="0">
              <a:buNone/>
            </a:pPr>
            <a:endParaRPr lang="en-US" dirty="0"/>
          </a:p>
        </p:txBody>
      </p:sp>
      <p:sp>
        <p:nvSpPr>
          <p:cNvPr id="13" name="Text 11"/>
          <p:cNvSpPr/>
          <p:nvPr/>
        </p:nvSpPr>
        <p:spPr>
          <a:xfrm>
            <a:off x="380405" y="2298204"/>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2</a:t>
            </a:r>
            <a:endParaRPr lang="en-US" sz="825" dirty="0"/>
          </a:p>
        </p:txBody>
      </p:sp>
      <p:sp>
        <p:nvSpPr>
          <p:cNvPr id="14" name="Text 12"/>
          <p:cNvSpPr/>
          <p:nvPr/>
        </p:nvSpPr>
        <p:spPr>
          <a:xfrm>
            <a:off x="762000" y="2226915"/>
            <a:ext cx="3954968"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Run Installer</a:t>
            </a:r>
            <a:endParaRPr lang="en-US" sz="825" dirty="0"/>
          </a:p>
        </p:txBody>
      </p:sp>
      <p:sp>
        <p:nvSpPr>
          <p:cNvPr id="15" name="Text 13"/>
          <p:cNvSpPr/>
          <p:nvPr/>
        </p:nvSpPr>
        <p:spPr>
          <a:xfrm>
            <a:off x="762000" y="2392561"/>
            <a:ext cx="3954968" cy="123825"/>
          </a:xfrm>
          <a:prstGeom prst="rect">
            <a:avLst/>
          </a:prstGeom>
          <a:noFill/>
          <a:ln/>
        </p:spPr>
        <p:txBody>
          <a:bodyPr wrap="square" lIns="0" tIns="0" rIns="0" bIns="0" rtlCol="0" anchor="t"/>
          <a:lstStyle/>
          <a:p>
            <a:pPr marL="0" indent="0" algn="l">
              <a:lnSpc>
                <a:spcPts val="975"/>
              </a:lnSpc>
              <a:buNone/>
            </a:pPr>
            <a:r>
              <a:rPr lang="en-US" sz="750" dirty="0">
                <a:solidFill>
                  <a:srgbClr val="6B7280"/>
                </a:solidFill>
                <a:latin typeface="Arial" pitchFamily="34" charset="0"/>
                <a:ea typeface="Arial" pitchFamily="34" charset="-122"/>
                <a:cs typeface="Arial" pitchFamily="34" charset="-120"/>
              </a:rPr>
              <a:t>Double-click installer, accept UAC prompt, follow wizard</a:t>
            </a:r>
            <a:endParaRPr lang="en-US" sz="750" dirty="0"/>
          </a:p>
        </p:txBody>
      </p:sp>
      <p:sp>
        <p:nvSpPr>
          <p:cNvPr id="16" name="Text 14"/>
          <p:cNvSpPr/>
          <p:nvPr/>
        </p:nvSpPr>
        <p:spPr>
          <a:xfrm>
            <a:off x="304800" y="2784872"/>
            <a:ext cx="209550" cy="209550"/>
          </a:xfrm>
          <a:prstGeom prst="rect">
            <a:avLst/>
          </a:prstGeom>
          <a:solidFill>
            <a:srgbClr val="C9A227"/>
          </a:solidFill>
          <a:ln/>
        </p:spPr>
        <p:txBody>
          <a:bodyPr wrap="square" rtlCol="0" anchor="ctr"/>
          <a:lstStyle/>
          <a:p>
            <a:pPr marL="0" indent="0">
              <a:buNone/>
            </a:pPr>
            <a:endParaRPr lang="en-US" dirty="0"/>
          </a:p>
        </p:txBody>
      </p:sp>
      <p:sp>
        <p:nvSpPr>
          <p:cNvPr id="17" name="Text 15"/>
          <p:cNvSpPr/>
          <p:nvPr/>
        </p:nvSpPr>
        <p:spPr>
          <a:xfrm>
            <a:off x="380405" y="2816275"/>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3</a:t>
            </a:r>
            <a:endParaRPr lang="en-US" sz="825" dirty="0"/>
          </a:p>
        </p:txBody>
      </p:sp>
      <p:sp>
        <p:nvSpPr>
          <p:cNvPr id="18" name="Text 16"/>
          <p:cNvSpPr/>
          <p:nvPr/>
        </p:nvSpPr>
        <p:spPr>
          <a:xfrm>
            <a:off x="762000" y="2744986"/>
            <a:ext cx="3954968"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Configure Microphone Access</a:t>
            </a:r>
            <a:endParaRPr lang="en-US" sz="825" dirty="0"/>
          </a:p>
        </p:txBody>
      </p:sp>
      <p:sp>
        <p:nvSpPr>
          <p:cNvPr id="19" name="Text 17"/>
          <p:cNvSpPr/>
          <p:nvPr/>
        </p:nvSpPr>
        <p:spPr>
          <a:xfrm>
            <a:off x="762000" y="2910632"/>
            <a:ext cx="3954968" cy="123825"/>
          </a:xfrm>
          <a:prstGeom prst="rect">
            <a:avLst/>
          </a:prstGeom>
          <a:noFill/>
          <a:ln/>
        </p:spPr>
        <p:txBody>
          <a:bodyPr wrap="square" lIns="0" tIns="0" rIns="0" bIns="0" rtlCol="0" anchor="t"/>
          <a:lstStyle/>
          <a:p>
            <a:pPr marL="0" indent="0" algn="l">
              <a:lnSpc>
                <a:spcPts val="975"/>
              </a:lnSpc>
              <a:buNone/>
            </a:pPr>
            <a:r>
              <a:rPr lang="en-US" sz="750" dirty="0">
                <a:solidFill>
                  <a:srgbClr val="6B7280"/>
                </a:solidFill>
                <a:latin typeface="Arial" pitchFamily="34" charset="0"/>
                <a:ea typeface="Arial" pitchFamily="34" charset="-122"/>
                <a:cs typeface="Arial" pitchFamily="34" charset="-120"/>
              </a:rPr>
              <a:t>Settings &gt; Privacy &gt; Microphone &gt; Allow SuperWhisper</a:t>
            </a:r>
            <a:endParaRPr lang="en-US" sz="750" dirty="0"/>
          </a:p>
        </p:txBody>
      </p:sp>
      <p:sp>
        <p:nvSpPr>
          <p:cNvPr id="20" name="Text 18"/>
          <p:cNvSpPr/>
          <p:nvPr/>
        </p:nvSpPr>
        <p:spPr>
          <a:xfrm>
            <a:off x="304800" y="3302943"/>
            <a:ext cx="209550" cy="209550"/>
          </a:xfrm>
          <a:prstGeom prst="rect">
            <a:avLst/>
          </a:prstGeom>
          <a:solidFill>
            <a:srgbClr val="C9A227"/>
          </a:solidFill>
          <a:ln/>
        </p:spPr>
        <p:txBody>
          <a:bodyPr wrap="square" rtlCol="0" anchor="ctr"/>
          <a:lstStyle/>
          <a:p>
            <a:pPr marL="0" indent="0">
              <a:buNone/>
            </a:pPr>
            <a:endParaRPr lang="en-US" dirty="0"/>
          </a:p>
        </p:txBody>
      </p:sp>
      <p:sp>
        <p:nvSpPr>
          <p:cNvPr id="21" name="Text 19"/>
          <p:cNvSpPr/>
          <p:nvPr/>
        </p:nvSpPr>
        <p:spPr>
          <a:xfrm>
            <a:off x="380405" y="3334345"/>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4</a:t>
            </a:r>
            <a:endParaRPr lang="en-US" sz="825" dirty="0"/>
          </a:p>
        </p:txBody>
      </p:sp>
      <p:sp>
        <p:nvSpPr>
          <p:cNvPr id="22" name="Text 20"/>
          <p:cNvSpPr/>
          <p:nvPr/>
        </p:nvSpPr>
        <p:spPr>
          <a:xfrm>
            <a:off x="762000" y="3263057"/>
            <a:ext cx="3954968"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Download AI Model</a:t>
            </a:r>
            <a:endParaRPr lang="en-US" sz="825" dirty="0"/>
          </a:p>
        </p:txBody>
      </p:sp>
      <p:sp>
        <p:nvSpPr>
          <p:cNvPr id="23" name="Text 21"/>
          <p:cNvSpPr/>
          <p:nvPr/>
        </p:nvSpPr>
        <p:spPr>
          <a:xfrm>
            <a:off x="762000" y="3428702"/>
            <a:ext cx="3954968" cy="123825"/>
          </a:xfrm>
          <a:prstGeom prst="rect">
            <a:avLst/>
          </a:prstGeom>
          <a:noFill/>
          <a:ln/>
        </p:spPr>
        <p:txBody>
          <a:bodyPr wrap="square" lIns="0" tIns="0" rIns="0" bIns="0" rtlCol="0" anchor="t"/>
          <a:lstStyle/>
          <a:p>
            <a:pPr marL="0" indent="0" algn="l">
              <a:lnSpc>
                <a:spcPts val="975"/>
              </a:lnSpc>
              <a:buNone/>
            </a:pPr>
            <a:r>
              <a:rPr lang="en-US" sz="750" dirty="0">
                <a:solidFill>
                  <a:srgbClr val="6B7280"/>
                </a:solidFill>
                <a:latin typeface="Arial" pitchFamily="34" charset="0"/>
                <a:ea typeface="Arial" pitchFamily="34" charset="-122"/>
                <a:cs typeface="Arial" pitchFamily="34" charset="-120"/>
              </a:rPr>
              <a:t>Select model on first launch (Medium recommended). ~1-2GB download.</a:t>
            </a:r>
            <a:endParaRPr lang="en-US" sz="750" dirty="0"/>
          </a:p>
        </p:txBody>
      </p:sp>
      <p:sp>
        <p:nvSpPr>
          <p:cNvPr id="24" name="Text 22"/>
          <p:cNvSpPr/>
          <p:nvPr/>
        </p:nvSpPr>
        <p:spPr>
          <a:xfrm>
            <a:off x="304800" y="3821013"/>
            <a:ext cx="209550" cy="209550"/>
          </a:xfrm>
          <a:prstGeom prst="rect">
            <a:avLst/>
          </a:prstGeom>
          <a:solidFill>
            <a:srgbClr val="059669"/>
          </a:solidFill>
          <a:ln/>
        </p:spPr>
        <p:txBody>
          <a:bodyPr wrap="square" rtlCol="0" anchor="ctr"/>
          <a:lstStyle/>
          <a:p>
            <a:pPr marL="0" indent="0">
              <a:buNone/>
            </a:pPr>
            <a:endParaRPr lang="en-US" dirty="0"/>
          </a:p>
        </p:txBody>
      </p:sp>
      <p:sp>
        <p:nvSpPr>
          <p:cNvPr id="25" name="Text 23"/>
          <p:cNvSpPr/>
          <p:nvPr/>
        </p:nvSpPr>
        <p:spPr>
          <a:xfrm>
            <a:off x="380405" y="3852416"/>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5</a:t>
            </a:r>
            <a:endParaRPr lang="en-US" sz="825" dirty="0"/>
          </a:p>
        </p:txBody>
      </p:sp>
      <p:sp>
        <p:nvSpPr>
          <p:cNvPr id="26" name="Text 24"/>
          <p:cNvSpPr/>
          <p:nvPr/>
        </p:nvSpPr>
        <p:spPr>
          <a:xfrm>
            <a:off x="762000" y="3781127"/>
            <a:ext cx="3954968"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Test with Hotkey</a:t>
            </a:r>
            <a:endParaRPr lang="en-US" sz="825" dirty="0"/>
          </a:p>
        </p:txBody>
      </p:sp>
      <p:sp>
        <p:nvSpPr>
          <p:cNvPr id="27" name="Text 25"/>
          <p:cNvSpPr/>
          <p:nvPr/>
        </p:nvSpPr>
        <p:spPr>
          <a:xfrm>
            <a:off x="762000" y="3946773"/>
            <a:ext cx="3954968" cy="123825"/>
          </a:xfrm>
          <a:prstGeom prst="rect">
            <a:avLst/>
          </a:prstGeom>
          <a:noFill/>
          <a:ln/>
        </p:spPr>
        <p:txBody>
          <a:bodyPr wrap="square" lIns="0" tIns="0" rIns="0" bIns="0" rtlCol="0" anchor="t"/>
          <a:lstStyle/>
          <a:p>
            <a:pPr marL="0" indent="0" algn="l">
              <a:lnSpc>
                <a:spcPts val="975"/>
              </a:lnSpc>
              <a:buNone/>
            </a:pPr>
            <a:r>
              <a:rPr lang="en-US" sz="750" dirty="0">
                <a:solidFill>
                  <a:srgbClr val="6B7280"/>
                </a:solidFill>
                <a:latin typeface="Arial" pitchFamily="34" charset="0"/>
                <a:ea typeface="Arial" pitchFamily="34" charset="-122"/>
                <a:cs typeface="Arial" pitchFamily="34" charset="-120"/>
              </a:rPr>
              <a:t>Press Ctrl+Shift+Space (default) to start recording. Press again to transcribe.</a:t>
            </a:r>
            <a:endParaRPr lang="en-US" sz="750" dirty="0"/>
          </a:p>
        </p:txBody>
      </p:sp>
      <p:sp>
        <p:nvSpPr>
          <p:cNvPr id="28" name="Text 26"/>
          <p:cNvSpPr/>
          <p:nvPr/>
        </p:nvSpPr>
        <p:spPr>
          <a:xfrm>
            <a:off x="304800" y="4337298"/>
            <a:ext cx="4334619" cy="285750"/>
          </a:xfrm>
          <a:prstGeom prst="rect">
            <a:avLst/>
          </a:prstGeom>
          <a:solidFill>
            <a:srgbClr val="FEF3C7"/>
          </a:solidFill>
          <a:ln/>
        </p:spPr>
        <p:txBody>
          <a:bodyPr wrap="square" rtlCol="0" anchor="ctr"/>
          <a:lstStyle/>
          <a:p>
            <a:pPr marL="0" indent="0">
              <a:buNone/>
            </a:pPr>
            <a:endParaRPr lang="en-US" dirty="0"/>
          </a:p>
        </p:txBody>
      </p:sp>
      <p:sp>
        <p:nvSpPr>
          <p:cNvPr id="29" name="Shape 27"/>
          <p:cNvSpPr/>
          <p:nvPr/>
        </p:nvSpPr>
        <p:spPr>
          <a:xfrm>
            <a:off x="323850" y="4337298"/>
            <a:ext cx="0" cy="285750"/>
          </a:xfrm>
          <a:prstGeom prst="line">
            <a:avLst/>
          </a:prstGeom>
          <a:noFill/>
          <a:ln w="38100">
            <a:solidFill>
              <a:srgbClr val="F59E0B"/>
            </a:solidFill>
            <a:prstDash val="solid"/>
          </a:ln>
        </p:spPr>
        <p:txBody>
          <a:bodyPr/>
          <a:lstStyle/>
          <a:p>
            <a:endParaRPr lang="en-US"/>
          </a:p>
        </p:txBody>
      </p:sp>
      <p:sp>
        <p:nvSpPr>
          <p:cNvPr id="30" name="Text 28"/>
          <p:cNvSpPr/>
          <p:nvPr/>
        </p:nvSpPr>
        <p:spPr>
          <a:xfrm>
            <a:off x="457200" y="4413498"/>
            <a:ext cx="4149278" cy="133350"/>
          </a:xfrm>
          <a:prstGeom prst="rect">
            <a:avLst/>
          </a:prstGeom>
          <a:noFill/>
          <a:ln/>
        </p:spPr>
        <p:txBody>
          <a:bodyPr wrap="square" lIns="0" tIns="0" rIns="0" bIns="0" rtlCol="0" anchor="t"/>
          <a:lstStyle/>
          <a:p>
            <a:pPr marL="0" indent="0" algn="l">
              <a:lnSpc>
                <a:spcPts val="1050"/>
              </a:lnSpc>
              <a:buNone/>
            </a:pPr>
            <a:r>
              <a:rPr lang="en-US" sz="750" b="1" dirty="0">
                <a:solidFill>
                  <a:srgbClr val="92400E"/>
                </a:solidFill>
                <a:latin typeface="Arial" pitchFamily="34" charset="0"/>
                <a:ea typeface="Arial" pitchFamily="34" charset="-122"/>
                <a:cs typeface="Arial" pitchFamily="34" charset="-120"/>
              </a:rPr>
              <a:t>GPU Recommended:</a:t>
            </a:r>
            <a:r>
              <a:rPr lang="en-US" sz="750" dirty="0">
                <a:solidFill>
                  <a:srgbClr val="92400E"/>
                </a:solidFill>
                <a:latin typeface="Arial" pitchFamily="34" charset="0"/>
                <a:ea typeface="Arial" pitchFamily="34" charset="-122"/>
                <a:cs typeface="Arial" pitchFamily="34" charset="-120"/>
              </a:rPr>
              <a:t> NVIDIA GPU with CUDA significantly improves speed.</a:t>
            </a:r>
            <a:endParaRPr lang="en-US" sz="750" dirty="0"/>
          </a:p>
        </p:txBody>
      </p:sp>
      <p:sp>
        <p:nvSpPr>
          <p:cNvPr id="31" name="Text 29"/>
          <p:cNvSpPr/>
          <p:nvPr/>
        </p:nvSpPr>
        <p:spPr>
          <a:xfrm>
            <a:off x="5096619" y="0"/>
            <a:ext cx="4047381" cy="5143500"/>
          </a:xfrm>
          <a:prstGeom prst="rect">
            <a:avLst/>
          </a:prstGeom>
          <a:solidFill>
            <a:srgbClr val="1A1F2E"/>
          </a:solidFill>
          <a:ln/>
        </p:spPr>
        <p:txBody>
          <a:bodyPr wrap="square" rtlCol="0" anchor="ctr"/>
          <a:lstStyle/>
          <a:p>
            <a:pPr marL="0" indent="0">
              <a:buNone/>
            </a:pPr>
            <a:endParaRPr lang="en-US" dirty="0"/>
          </a:p>
        </p:txBody>
      </p:sp>
      <p:sp>
        <p:nvSpPr>
          <p:cNvPr id="32" name="Text 30"/>
          <p:cNvSpPr/>
          <p:nvPr/>
        </p:nvSpPr>
        <p:spPr>
          <a:xfrm>
            <a:off x="5401419" y="266700"/>
            <a:ext cx="3506536" cy="146596"/>
          </a:xfrm>
          <a:prstGeom prst="rect">
            <a:avLst/>
          </a:prstGeom>
          <a:noFill/>
          <a:ln/>
        </p:spPr>
        <p:txBody>
          <a:bodyPr wrap="square" lIns="0" tIns="0" rIns="0" bIns="0" rtlCol="0" anchor="t"/>
          <a:lstStyle/>
          <a:p>
            <a:pPr marL="0" indent="0" algn="l">
              <a:lnSpc>
                <a:spcPts val="1155"/>
              </a:lnSpc>
              <a:spcAft>
                <a:spcPts val="900"/>
              </a:spcAft>
              <a:buNone/>
            </a:pPr>
            <a:r>
              <a:rPr lang="en-US" sz="825" dirty="0">
                <a:solidFill>
                  <a:srgbClr val="C9A227"/>
                </a:solidFill>
                <a:latin typeface="Arial" pitchFamily="34" charset="0"/>
                <a:ea typeface="Arial" pitchFamily="34" charset="-122"/>
                <a:cs typeface="Arial" pitchFamily="34" charset="-120"/>
              </a:rPr>
              <a:t>WINDOWS REQUIREMENTS</a:t>
            </a:r>
            <a:endParaRPr lang="en-US" sz="825" dirty="0"/>
          </a:p>
        </p:txBody>
      </p:sp>
      <p:sp>
        <p:nvSpPr>
          <p:cNvPr id="33" name="Text 31"/>
          <p:cNvSpPr/>
          <p:nvPr/>
        </p:nvSpPr>
        <p:spPr>
          <a:xfrm>
            <a:off x="5401419" y="679996"/>
            <a:ext cx="3437781" cy="1022896"/>
          </a:xfrm>
          <a:prstGeom prst="rect">
            <a:avLst/>
          </a:prstGeom>
          <a:solidFill>
            <a:srgbClr val="FFFFFF">
              <a:alpha val="5000"/>
            </a:srgbClr>
          </a:solidFill>
          <a:ln w="9525">
            <a:solidFill>
              <a:srgbClr val="FFFFFF"/>
            </a:solidFill>
          </a:ln>
        </p:spPr>
        <p:txBody>
          <a:bodyPr wrap="square" rtlCol="0" anchor="ctr"/>
          <a:lstStyle/>
          <a:p>
            <a:pPr marL="0" indent="0">
              <a:buNone/>
            </a:pPr>
            <a:endParaRPr lang="en-US" dirty="0"/>
          </a:p>
        </p:txBody>
      </p:sp>
      <p:sp>
        <p:nvSpPr>
          <p:cNvPr id="34" name="Text 32"/>
          <p:cNvSpPr/>
          <p:nvPr/>
        </p:nvSpPr>
        <p:spPr>
          <a:xfrm>
            <a:off x="5525244" y="803821"/>
            <a:ext cx="3253933"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Minimum Specs</a:t>
            </a:r>
            <a:endParaRPr lang="en-US" sz="825" dirty="0"/>
          </a:p>
        </p:txBody>
      </p:sp>
      <p:sp>
        <p:nvSpPr>
          <p:cNvPr id="35" name="Text 33"/>
          <p:cNvSpPr/>
          <p:nvPr/>
        </p:nvSpPr>
        <p:spPr>
          <a:xfrm>
            <a:off x="5525244" y="1007566"/>
            <a:ext cx="3253933"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Windows 10 (64-bit) or Windows 11</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8GB RAM</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4GB free storage</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Any modern CPU</a:t>
            </a:r>
            <a:endParaRPr lang="en-US" sz="750" dirty="0"/>
          </a:p>
        </p:txBody>
      </p:sp>
      <p:sp>
        <p:nvSpPr>
          <p:cNvPr id="36" name="Text 34"/>
          <p:cNvSpPr/>
          <p:nvPr/>
        </p:nvSpPr>
        <p:spPr>
          <a:xfrm>
            <a:off x="5401419" y="1950541"/>
            <a:ext cx="3437781" cy="1022896"/>
          </a:xfrm>
          <a:prstGeom prst="rect">
            <a:avLst/>
          </a:prstGeom>
          <a:solidFill>
            <a:srgbClr val="059669">
              <a:alpha val="15000"/>
            </a:srgbClr>
          </a:solidFill>
          <a:ln w="9525">
            <a:solidFill>
              <a:srgbClr val="059669"/>
            </a:solidFill>
          </a:ln>
        </p:spPr>
        <p:txBody>
          <a:bodyPr wrap="square" rtlCol="0" anchor="ctr"/>
          <a:lstStyle/>
          <a:p>
            <a:pPr marL="0" indent="0">
              <a:buNone/>
            </a:pPr>
            <a:endParaRPr lang="en-US" dirty="0"/>
          </a:p>
        </p:txBody>
      </p:sp>
      <p:sp>
        <p:nvSpPr>
          <p:cNvPr id="37" name="Text 35"/>
          <p:cNvSpPr/>
          <p:nvPr/>
        </p:nvSpPr>
        <p:spPr>
          <a:xfrm>
            <a:off x="5525244" y="2074366"/>
            <a:ext cx="3253933"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34D399"/>
                </a:solidFill>
                <a:latin typeface="Arial" pitchFamily="34" charset="0"/>
                <a:ea typeface="Arial" pitchFamily="34" charset="-122"/>
                <a:cs typeface="Arial" pitchFamily="34" charset="-120"/>
              </a:rPr>
              <a:t>Recommended Specs</a:t>
            </a:r>
            <a:endParaRPr lang="en-US" sz="825" dirty="0"/>
          </a:p>
        </p:txBody>
      </p:sp>
      <p:sp>
        <p:nvSpPr>
          <p:cNvPr id="38" name="Text 36"/>
          <p:cNvSpPr/>
          <p:nvPr/>
        </p:nvSpPr>
        <p:spPr>
          <a:xfrm>
            <a:off x="5525244" y="2278112"/>
            <a:ext cx="3253933"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NVIDIA RTX 2060 or better</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16GB RAM</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CUDA 11.0+ drivers installed</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SSD storage</a:t>
            </a:r>
            <a:endParaRPr lang="en-US" sz="750" dirty="0"/>
          </a:p>
        </p:txBody>
      </p:sp>
      <p:sp>
        <p:nvSpPr>
          <p:cNvPr id="39" name="Text 37"/>
          <p:cNvSpPr/>
          <p:nvPr/>
        </p:nvSpPr>
        <p:spPr>
          <a:xfrm>
            <a:off x="5401419" y="3221087"/>
            <a:ext cx="3437781" cy="99060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40" name="Text 38"/>
          <p:cNvSpPr/>
          <p:nvPr/>
        </p:nvSpPr>
        <p:spPr>
          <a:xfrm>
            <a:off x="5525244" y="3344912"/>
            <a:ext cx="325393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FIRST RUN CHECKLIST</a:t>
            </a:r>
            <a:endParaRPr lang="en-US" sz="750" dirty="0"/>
          </a:p>
        </p:txBody>
      </p:sp>
      <p:sp>
        <p:nvSpPr>
          <p:cNvPr id="41" name="Text 39"/>
          <p:cNvSpPr/>
          <p:nvPr/>
        </p:nvSpPr>
        <p:spPr>
          <a:xfrm>
            <a:off x="5525244" y="3516362"/>
            <a:ext cx="3253933"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1. Allow through Windows Firewall</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2. Set to run at startup (optional)</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3. Configure system tray icon</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4. Test microphone levels</a:t>
            </a:r>
            <a:endParaRPr lang="en-US" sz="750" dirty="0"/>
          </a:p>
        </p:txBody>
      </p:sp>
      <p:sp>
        <p:nvSpPr>
          <p:cNvPr id="42" name="Text 40"/>
          <p:cNvSpPr/>
          <p:nvPr/>
        </p:nvSpPr>
        <p:spPr>
          <a:xfrm>
            <a:off x="5401419" y="4552950"/>
            <a:ext cx="3437781" cy="323850"/>
          </a:xfrm>
          <a:prstGeom prst="rect">
            <a:avLst/>
          </a:prstGeom>
          <a:solidFill>
            <a:srgbClr val="0EA5E9"/>
          </a:solidFill>
          <a:ln/>
        </p:spPr>
        <p:txBody>
          <a:bodyPr wrap="square" rtlCol="0" anchor="ctr"/>
          <a:lstStyle/>
          <a:p>
            <a:pPr marL="0" indent="0">
              <a:buNone/>
            </a:pPr>
            <a:endParaRPr lang="en-US" dirty="0"/>
          </a:p>
        </p:txBody>
      </p:sp>
      <p:sp>
        <p:nvSpPr>
          <p:cNvPr id="43" name="Text 41"/>
          <p:cNvSpPr/>
          <p:nvPr/>
        </p:nvSpPr>
        <p:spPr>
          <a:xfrm>
            <a:off x="5464196" y="4648200"/>
            <a:ext cx="3312226" cy="133350"/>
          </a:xfrm>
          <a:prstGeom prst="rect">
            <a:avLst/>
          </a:prstGeom>
          <a:noFill/>
          <a:ln/>
        </p:spPr>
        <p:txBody>
          <a:bodyPr wrap="square" lIns="0" tIns="0" rIns="0" bIns="0" rtlCol="0" anchor="t"/>
          <a:lstStyle/>
          <a:p>
            <a:pPr marL="0" indent="0" algn="ctr">
              <a:lnSpc>
                <a:spcPts val="1050"/>
              </a:lnSpc>
              <a:buNone/>
            </a:pPr>
            <a:r>
              <a:rPr lang="en-US" sz="750" b="1" dirty="0">
                <a:solidFill>
                  <a:srgbClr val="FFFFFF"/>
                </a:solidFill>
                <a:latin typeface="Arial" pitchFamily="34" charset="0"/>
                <a:ea typeface="Arial" pitchFamily="34" charset="-122"/>
                <a:cs typeface="Arial" pitchFamily="34" charset="-120"/>
              </a:rPr>
              <a:t>Tip:</a:t>
            </a:r>
            <a:r>
              <a:rPr lang="en-US" sz="750" dirty="0">
                <a:solidFill>
                  <a:srgbClr val="FFFFFF"/>
                </a:solidFill>
                <a:latin typeface="Arial" pitchFamily="34" charset="0"/>
                <a:ea typeface="Arial" pitchFamily="34" charset="-122"/>
                <a:cs typeface="Arial" pitchFamily="34" charset="-120"/>
              </a:rPr>
              <a:t> Pin SuperWhisper to taskbar for quick access</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USER INTERFACE</a:t>
            </a:r>
            <a:endParaRPr lang="en-US" sz="825" dirty="0"/>
          </a:p>
        </p:txBody>
      </p:sp>
      <p:sp>
        <p:nvSpPr>
          <p:cNvPr id="3" name="Text 1"/>
          <p:cNvSpPr/>
          <p:nvPr/>
        </p:nvSpPr>
        <p:spPr>
          <a:xfrm>
            <a:off x="457200" y="470446"/>
            <a:ext cx="4206812" cy="285750"/>
          </a:xfrm>
          <a:prstGeom prst="rect">
            <a:avLst/>
          </a:prstGeom>
          <a:noFill/>
          <a:ln/>
        </p:spPr>
        <p:txBody>
          <a:bodyPr wrap="square" lIns="0" tIns="0" rIns="0" bIns="0" rtlCol="0" anchor="t"/>
          <a:lstStyle/>
          <a:p>
            <a:pPr marL="0" indent="0" algn="l">
              <a:lnSpc>
                <a:spcPts val="2250"/>
              </a:lnSpc>
              <a:buNone/>
            </a:pPr>
            <a:r>
              <a:rPr lang="en-US" sz="2250" dirty="0">
                <a:solidFill>
                  <a:srgbClr val="1A1F2E"/>
                </a:solidFill>
                <a:latin typeface="Georgia" pitchFamily="34" charset="0"/>
                <a:ea typeface="Georgia" pitchFamily="34" charset="-122"/>
                <a:cs typeface="Georgia" pitchFamily="34" charset="-120"/>
              </a:rPr>
              <a:t>SuperWhisper Interface Tour</a:t>
            </a:r>
            <a:endParaRPr lang="en-US" sz="2250" dirty="0"/>
          </a:p>
        </p:txBody>
      </p:sp>
      <p:sp>
        <p:nvSpPr>
          <p:cNvPr id="4" name="Text 2"/>
          <p:cNvSpPr/>
          <p:nvPr/>
        </p:nvSpPr>
        <p:spPr>
          <a:xfrm>
            <a:off x="457200" y="1586061"/>
            <a:ext cx="2616250" cy="1461046"/>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09600" y="1738461"/>
            <a:ext cx="2357679"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MENU BAR / SYSTEM TRAY</a:t>
            </a:r>
            <a:endParaRPr lang="en-US" sz="825" dirty="0"/>
          </a:p>
        </p:txBody>
      </p:sp>
      <p:sp>
        <p:nvSpPr>
          <p:cNvPr id="6" name="Text 4"/>
          <p:cNvSpPr/>
          <p:nvPr/>
        </p:nvSpPr>
        <p:spPr>
          <a:xfrm>
            <a:off x="609600" y="1980307"/>
            <a:ext cx="2311450" cy="361950"/>
          </a:xfrm>
          <a:prstGeom prst="rect">
            <a:avLst/>
          </a:prstGeom>
          <a:solidFill>
            <a:srgbClr val="3B4252"/>
          </a:solidFill>
          <a:ln/>
        </p:spPr>
        <p:txBody>
          <a:bodyPr wrap="square" rtlCol="0" anchor="ctr"/>
          <a:lstStyle/>
          <a:p>
            <a:pPr marL="0" indent="0">
              <a:buNone/>
            </a:pPr>
            <a:endParaRPr lang="en-US" dirty="0"/>
          </a:p>
        </p:txBody>
      </p:sp>
      <p:sp>
        <p:nvSpPr>
          <p:cNvPr id="7" name="Text 5"/>
          <p:cNvSpPr/>
          <p:nvPr/>
        </p:nvSpPr>
        <p:spPr>
          <a:xfrm>
            <a:off x="742950" y="2075557"/>
            <a:ext cx="171450" cy="171450"/>
          </a:xfrm>
          <a:prstGeom prst="roundRect">
            <a:avLst>
              <a:gd name="adj" fmla="val 533333"/>
            </a:avLst>
          </a:prstGeom>
          <a:solidFill>
            <a:srgbClr val="C9A227"/>
          </a:solidFill>
          <a:ln/>
        </p:spPr>
        <p:txBody>
          <a:bodyPr wrap="square" rtlCol="0" anchor="ctr"/>
          <a:lstStyle/>
          <a:p>
            <a:pPr marL="0" indent="0">
              <a:buNone/>
            </a:pPr>
            <a:endParaRPr lang="en-US" dirty="0"/>
          </a:p>
        </p:txBody>
      </p:sp>
      <p:sp>
        <p:nvSpPr>
          <p:cNvPr id="8" name="Text 6"/>
          <p:cNvSpPr/>
          <p:nvPr/>
        </p:nvSpPr>
        <p:spPr>
          <a:xfrm>
            <a:off x="990600" y="2087910"/>
            <a:ext cx="908855"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80000"/>
                  </a:srgbClr>
                </a:solidFill>
                <a:latin typeface="Arial" pitchFamily="34" charset="0"/>
                <a:ea typeface="Arial" pitchFamily="34" charset="-122"/>
                <a:cs typeface="Arial" pitchFamily="34" charset="-120"/>
              </a:rPr>
              <a:t>SuperWhisper Icon</a:t>
            </a:r>
            <a:endParaRPr lang="en-US" sz="825" dirty="0"/>
          </a:p>
        </p:txBody>
      </p:sp>
      <p:sp>
        <p:nvSpPr>
          <p:cNvPr id="9" name="Text 7"/>
          <p:cNvSpPr/>
          <p:nvPr/>
        </p:nvSpPr>
        <p:spPr>
          <a:xfrm>
            <a:off x="609600" y="2437507"/>
            <a:ext cx="2357679" cy="4572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Mac: Lives in menu bar (top right)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Windows: Lives in system tray (bottom right)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Click to open menu, right-click for options</a:t>
            </a:r>
            <a:endParaRPr lang="en-US" sz="750" dirty="0"/>
          </a:p>
        </p:txBody>
      </p:sp>
      <p:sp>
        <p:nvSpPr>
          <p:cNvPr id="10" name="Text 8"/>
          <p:cNvSpPr/>
          <p:nvPr/>
        </p:nvSpPr>
        <p:spPr>
          <a:xfrm>
            <a:off x="457200" y="3332857"/>
            <a:ext cx="2616250" cy="1056977"/>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476250" y="3332857"/>
            <a:ext cx="0" cy="1056977"/>
          </a:xfrm>
          <a:prstGeom prst="line">
            <a:avLst/>
          </a:prstGeom>
          <a:noFill/>
          <a:ln w="38100">
            <a:solidFill>
              <a:srgbClr val="C9A227"/>
            </a:solidFill>
            <a:prstDash val="solid"/>
          </a:ln>
        </p:spPr>
        <p:txBody>
          <a:bodyPr/>
          <a:lstStyle/>
          <a:p>
            <a:endParaRPr lang="en-US"/>
          </a:p>
        </p:txBody>
      </p:sp>
      <p:sp>
        <p:nvSpPr>
          <p:cNvPr id="12" name="Text 10"/>
          <p:cNvSpPr/>
          <p:nvPr/>
        </p:nvSpPr>
        <p:spPr>
          <a:xfrm>
            <a:off x="628650" y="3466207"/>
            <a:ext cx="2357679"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Icon States</a:t>
            </a:r>
            <a:endParaRPr lang="en-US" sz="900" dirty="0"/>
          </a:p>
        </p:txBody>
      </p:sp>
      <p:sp>
        <p:nvSpPr>
          <p:cNvPr id="13" name="Text 11"/>
          <p:cNvSpPr/>
          <p:nvPr/>
        </p:nvSpPr>
        <p:spPr>
          <a:xfrm>
            <a:off x="628650" y="3708946"/>
            <a:ext cx="133350" cy="133350"/>
          </a:xfrm>
          <a:prstGeom prst="roundRect">
            <a:avLst>
              <a:gd name="adj" fmla="val 685714"/>
            </a:avLst>
          </a:prstGeom>
          <a:solidFill>
            <a:srgbClr val="6B7280"/>
          </a:solidFill>
          <a:ln/>
        </p:spPr>
        <p:txBody>
          <a:bodyPr wrap="square" rtlCol="0" anchor="ctr"/>
          <a:lstStyle/>
          <a:p>
            <a:pPr marL="0" indent="0">
              <a:buNone/>
            </a:pPr>
            <a:endParaRPr lang="en-US" dirty="0"/>
          </a:p>
        </p:txBody>
      </p:sp>
      <p:sp>
        <p:nvSpPr>
          <p:cNvPr id="14" name="Text 12"/>
          <p:cNvSpPr/>
          <p:nvPr/>
        </p:nvSpPr>
        <p:spPr>
          <a:xfrm>
            <a:off x="838200" y="3702397"/>
            <a:ext cx="1303850"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Gray = Idle, ready to record</a:t>
            </a:r>
            <a:endParaRPr lang="en-US" sz="825" dirty="0"/>
          </a:p>
        </p:txBody>
      </p:sp>
      <p:sp>
        <p:nvSpPr>
          <p:cNvPr id="15" name="Text 13"/>
          <p:cNvSpPr/>
          <p:nvPr/>
        </p:nvSpPr>
        <p:spPr>
          <a:xfrm>
            <a:off x="628650" y="3912691"/>
            <a:ext cx="133350" cy="133350"/>
          </a:xfrm>
          <a:prstGeom prst="roundRect">
            <a:avLst>
              <a:gd name="adj" fmla="val 685714"/>
            </a:avLst>
          </a:prstGeom>
          <a:solidFill>
            <a:srgbClr val="DC2626"/>
          </a:solidFill>
          <a:ln/>
        </p:spPr>
        <p:txBody>
          <a:bodyPr wrap="square" rtlCol="0" anchor="ctr"/>
          <a:lstStyle/>
          <a:p>
            <a:pPr marL="0" indent="0">
              <a:buNone/>
            </a:pPr>
            <a:endParaRPr lang="en-US" dirty="0"/>
          </a:p>
        </p:txBody>
      </p:sp>
      <p:sp>
        <p:nvSpPr>
          <p:cNvPr id="16" name="Text 14"/>
          <p:cNvSpPr/>
          <p:nvPr/>
        </p:nvSpPr>
        <p:spPr>
          <a:xfrm>
            <a:off x="838200" y="3906143"/>
            <a:ext cx="1363358"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Red = Recording in progress</a:t>
            </a:r>
            <a:endParaRPr lang="en-US" sz="825" dirty="0"/>
          </a:p>
        </p:txBody>
      </p:sp>
      <p:sp>
        <p:nvSpPr>
          <p:cNvPr id="17" name="Text 15"/>
          <p:cNvSpPr/>
          <p:nvPr/>
        </p:nvSpPr>
        <p:spPr>
          <a:xfrm>
            <a:off x="628650" y="4116437"/>
            <a:ext cx="133350" cy="133350"/>
          </a:xfrm>
          <a:prstGeom prst="roundRect">
            <a:avLst>
              <a:gd name="adj" fmla="val 685714"/>
            </a:avLst>
          </a:prstGeom>
          <a:solidFill>
            <a:srgbClr val="C9A227"/>
          </a:solidFill>
          <a:ln/>
        </p:spPr>
        <p:txBody>
          <a:bodyPr wrap="square" rtlCol="0" anchor="ctr"/>
          <a:lstStyle/>
          <a:p>
            <a:pPr marL="0" indent="0">
              <a:buNone/>
            </a:pPr>
            <a:endParaRPr lang="en-US" dirty="0"/>
          </a:p>
        </p:txBody>
      </p:sp>
      <p:sp>
        <p:nvSpPr>
          <p:cNvPr id="18" name="Text 16"/>
          <p:cNvSpPr/>
          <p:nvPr/>
        </p:nvSpPr>
        <p:spPr>
          <a:xfrm>
            <a:off x="838200" y="4109889"/>
            <a:ext cx="148814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Gold = Processing transcription</a:t>
            </a:r>
            <a:endParaRPr lang="en-US" sz="825" dirty="0"/>
          </a:p>
        </p:txBody>
      </p:sp>
      <p:sp>
        <p:nvSpPr>
          <p:cNvPr id="19" name="Text 17"/>
          <p:cNvSpPr/>
          <p:nvPr/>
        </p:nvSpPr>
        <p:spPr>
          <a:xfrm>
            <a:off x="3263950" y="1739354"/>
            <a:ext cx="2616250" cy="13733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0" name="Text 18"/>
          <p:cNvSpPr/>
          <p:nvPr/>
        </p:nvSpPr>
        <p:spPr>
          <a:xfrm>
            <a:off x="3425875" y="1901279"/>
            <a:ext cx="2338248" cy="159990"/>
          </a:xfrm>
          <a:prstGeom prst="rect">
            <a:avLst/>
          </a:prstGeom>
          <a:noFill/>
          <a:ln/>
        </p:spPr>
        <p:txBody>
          <a:bodyPr wrap="square" lIns="0" tIns="0" rIns="0" bIns="0" rtlCol="0" anchor="t"/>
          <a:lstStyle/>
          <a:p>
            <a:pPr marL="0" indent="0" algn="l">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Recording Overlay</a:t>
            </a:r>
            <a:endParaRPr lang="en-US" sz="900" dirty="0"/>
          </a:p>
        </p:txBody>
      </p:sp>
      <p:sp>
        <p:nvSpPr>
          <p:cNvPr id="21" name="Text 19"/>
          <p:cNvSpPr/>
          <p:nvPr/>
        </p:nvSpPr>
        <p:spPr>
          <a:xfrm>
            <a:off x="3425875" y="2156520"/>
            <a:ext cx="2292400" cy="413296"/>
          </a:xfrm>
          <a:prstGeom prst="rect">
            <a:avLst/>
          </a:prstGeom>
          <a:solidFill>
            <a:srgbClr val="FEE2E2"/>
          </a:solidFill>
          <a:ln w="19050">
            <a:solidFill>
              <a:srgbClr val="DC2626"/>
            </a:solidFill>
          </a:ln>
        </p:spPr>
        <p:txBody>
          <a:bodyPr wrap="square" rtlCol="0" anchor="ctr"/>
          <a:lstStyle/>
          <a:p>
            <a:pPr marL="0" indent="0">
              <a:buNone/>
            </a:pPr>
            <a:endParaRPr lang="en-US" dirty="0"/>
          </a:p>
        </p:txBody>
      </p:sp>
      <p:sp>
        <p:nvSpPr>
          <p:cNvPr id="22" name="Text 20"/>
          <p:cNvSpPr/>
          <p:nvPr/>
        </p:nvSpPr>
        <p:spPr>
          <a:xfrm>
            <a:off x="4166146" y="2315468"/>
            <a:ext cx="95250" cy="95250"/>
          </a:xfrm>
          <a:prstGeom prst="roundRect">
            <a:avLst>
              <a:gd name="adj" fmla="val 960000"/>
            </a:avLst>
          </a:prstGeom>
          <a:solidFill>
            <a:srgbClr val="DC2626"/>
          </a:solidFill>
          <a:ln/>
        </p:spPr>
        <p:txBody>
          <a:bodyPr wrap="square" rtlCol="0" anchor="ctr"/>
          <a:lstStyle/>
          <a:p>
            <a:pPr marL="0" indent="0">
              <a:buNone/>
            </a:pPr>
            <a:endParaRPr lang="en-US" dirty="0"/>
          </a:p>
        </p:txBody>
      </p:sp>
      <p:sp>
        <p:nvSpPr>
          <p:cNvPr id="23" name="Text 21"/>
          <p:cNvSpPr/>
          <p:nvPr/>
        </p:nvSpPr>
        <p:spPr>
          <a:xfrm>
            <a:off x="4331192" y="2289870"/>
            <a:ext cx="653216" cy="146596"/>
          </a:xfrm>
          <a:prstGeom prst="rect">
            <a:avLst/>
          </a:prstGeom>
          <a:noFill/>
          <a:ln/>
        </p:spPr>
        <p:txBody>
          <a:bodyPr wrap="square" lIns="0" tIns="0" rIns="0" bIns="0" rtlCol="0" anchor="t"/>
          <a:lstStyle/>
          <a:p>
            <a:pPr marL="0" indent="0" algn="ctr">
              <a:lnSpc>
                <a:spcPts val="1155"/>
              </a:lnSpc>
              <a:buNone/>
            </a:pPr>
            <a:r>
              <a:rPr lang="en-US" sz="825" b="1" dirty="0">
                <a:solidFill>
                  <a:srgbClr val="DC2626"/>
                </a:solidFill>
                <a:latin typeface="Arial" pitchFamily="34" charset="0"/>
                <a:ea typeface="Arial" pitchFamily="34" charset="-122"/>
                <a:cs typeface="Arial" pitchFamily="34" charset="-120"/>
              </a:rPr>
              <a:t>RECORDING</a:t>
            </a:r>
            <a:endParaRPr lang="en-US" sz="825" dirty="0"/>
          </a:p>
        </p:txBody>
      </p:sp>
      <p:sp>
        <p:nvSpPr>
          <p:cNvPr id="24" name="Text 22"/>
          <p:cNvSpPr/>
          <p:nvPr/>
        </p:nvSpPr>
        <p:spPr>
          <a:xfrm>
            <a:off x="3425875" y="2665065"/>
            <a:ext cx="2338248" cy="285750"/>
          </a:xfrm>
          <a:prstGeom prst="rect">
            <a:avLst/>
          </a:prstGeom>
          <a:noFill/>
          <a:ln/>
        </p:spPr>
        <p:txBody>
          <a:bodyPr wrap="square" lIns="0" tIns="0" rIns="0" bIns="0" rtlCol="0" anchor="t"/>
          <a:lstStyle/>
          <a:p>
            <a:pPr marL="0" indent="0" algn="l">
              <a:lnSpc>
                <a:spcPts val="1125"/>
              </a:lnSpc>
              <a:buNone/>
            </a:pPr>
            <a:r>
              <a:rPr lang="en-US" sz="750" dirty="0">
                <a:solidFill>
                  <a:srgbClr val="6B7280"/>
                </a:solidFill>
                <a:latin typeface="Arial" pitchFamily="34" charset="0"/>
                <a:ea typeface="Arial" pitchFamily="34" charset="-122"/>
                <a:cs typeface="Arial" pitchFamily="34" charset="-120"/>
              </a:rPr>
              <a:t>Visual indicator appears when recording. Can be positioned or hidden in settings.</a:t>
            </a:r>
            <a:endParaRPr lang="en-US" sz="750" dirty="0"/>
          </a:p>
        </p:txBody>
      </p:sp>
      <p:sp>
        <p:nvSpPr>
          <p:cNvPr id="25" name="Text 23"/>
          <p:cNvSpPr/>
          <p:nvPr/>
        </p:nvSpPr>
        <p:spPr>
          <a:xfrm>
            <a:off x="3263950" y="3398490"/>
            <a:ext cx="2616250" cy="838051"/>
          </a:xfrm>
          <a:prstGeom prst="rect">
            <a:avLst/>
          </a:prstGeom>
          <a:solidFill>
            <a:srgbClr val="FFFFFF"/>
          </a:solidFill>
          <a:ln/>
        </p:spPr>
        <p:txBody>
          <a:bodyPr wrap="square" rtlCol="0" anchor="ctr"/>
          <a:lstStyle/>
          <a:p>
            <a:pPr marL="0" indent="0">
              <a:buNone/>
            </a:pPr>
            <a:endParaRPr lang="en-US" dirty="0"/>
          </a:p>
        </p:txBody>
      </p:sp>
      <p:sp>
        <p:nvSpPr>
          <p:cNvPr id="26" name="Shape 24"/>
          <p:cNvSpPr/>
          <p:nvPr/>
        </p:nvSpPr>
        <p:spPr>
          <a:xfrm>
            <a:off x="3283000" y="3398490"/>
            <a:ext cx="0" cy="838051"/>
          </a:xfrm>
          <a:prstGeom prst="line">
            <a:avLst/>
          </a:prstGeom>
          <a:noFill/>
          <a:ln w="38100">
            <a:solidFill>
              <a:srgbClr val="C9A227"/>
            </a:solidFill>
            <a:prstDash val="solid"/>
          </a:ln>
        </p:spPr>
        <p:txBody>
          <a:bodyPr/>
          <a:lstStyle/>
          <a:p>
            <a:endParaRPr lang="en-US"/>
          </a:p>
        </p:txBody>
      </p:sp>
      <p:sp>
        <p:nvSpPr>
          <p:cNvPr id="27" name="Text 25"/>
          <p:cNvSpPr/>
          <p:nvPr/>
        </p:nvSpPr>
        <p:spPr>
          <a:xfrm>
            <a:off x="3435400" y="3531840"/>
            <a:ext cx="2357679" cy="159990"/>
          </a:xfrm>
          <a:prstGeom prst="rect">
            <a:avLst/>
          </a:prstGeom>
          <a:noFill/>
          <a:ln/>
        </p:spPr>
        <p:txBody>
          <a:bodyPr wrap="square" lIns="0" tIns="0" rIns="0" bIns="0" rtlCol="0" anchor="t"/>
          <a:lstStyle/>
          <a:p>
            <a:pPr marL="0" indent="0" algn="l">
              <a:lnSpc>
                <a:spcPts val="1260"/>
              </a:lnSpc>
              <a:spcAft>
                <a:spcPts val="600"/>
              </a:spcAft>
              <a:buNone/>
            </a:pPr>
            <a:r>
              <a:rPr lang="en-US" sz="900" b="1" dirty="0">
                <a:solidFill>
                  <a:srgbClr val="1A1F2E"/>
                </a:solidFill>
                <a:latin typeface="Arial" pitchFamily="34" charset="0"/>
                <a:ea typeface="Arial" pitchFamily="34" charset="-122"/>
                <a:cs typeface="Arial" pitchFamily="34" charset="-120"/>
              </a:rPr>
              <a:t>Output Behavior</a:t>
            </a:r>
            <a:endParaRPr lang="en-US" sz="900" dirty="0"/>
          </a:p>
        </p:txBody>
      </p:sp>
      <p:sp>
        <p:nvSpPr>
          <p:cNvPr id="28" name="Text 26"/>
          <p:cNvSpPr/>
          <p:nvPr/>
        </p:nvSpPr>
        <p:spPr>
          <a:xfrm>
            <a:off x="3435400" y="3768030"/>
            <a:ext cx="2357679" cy="335161"/>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Text is typed directly into the active application at cursor position. Works in any text field.</a:t>
            </a:r>
            <a:endParaRPr lang="en-US" sz="825" dirty="0"/>
          </a:p>
        </p:txBody>
      </p:sp>
      <p:sp>
        <p:nvSpPr>
          <p:cNvPr id="29" name="Text 27"/>
          <p:cNvSpPr/>
          <p:nvPr/>
        </p:nvSpPr>
        <p:spPr>
          <a:xfrm>
            <a:off x="6070699" y="1604070"/>
            <a:ext cx="2616250" cy="2767608"/>
          </a:xfrm>
          <a:prstGeom prst="rect">
            <a:avLst/>
          </a:prstGeom>
          <a:solidFill>
            <a:srgbClr val="1A1F2E"/>
          </a:solidFill>
          <a:ln/>
        </p:spPr>
        <p:txBody>
          <a:bodyPr wrap="square" rtlCol="0" anchor="ctr"/>
          <a:lstStyle/>
          <a:p>
            <a:pPr marL="0" indent="0">
              <a:buNone/>
            </a:pPr>
            <a:endParaRPr lang="en-US" dirty="0"/>
          </a:p>
        </p:txBody>
      </p:sp>
      <p:sp>
        <p:nvSpPr>
          <p:cNvPr id="30" name="Text 28"/>
          <p:cNvSpPr/>
          <p:nvPr/>
        </p:nvSpPr>
        <p:spPr>
          <a:xfrm>
            <a:off x="6223099" y="1756470"/>
            <a:ext cx="2357679" cy="146596"/>
          </a:xfrm>
          <a:prstGeom prst="rect">
            <a:avLst/>
          </a:prstGeom>
          <a:noFill/>
          <a:ln/>
        </p:spPr>
        <p:txBody>
          <a:bodyPr wrap="square" lIns="0" tIns="0" rIns="0" bIns="0" rtlCol="0" anchor="t"/>
          <a:lstStyle/>
          <a:p>
            <a:pPr marL="0" indent="0" algn="l">
              <a:lnSpc>
                <a:spcPts val="1155"/>
              </a:lnSpc>
              <a:spcAft>
                <a:spcPts val="900"/>
              </a:spcAft>
              <a:buNone/>
            </a:pPr>
            <a:r>
              <a:rPr lang="en-US" sz="825" b="1" dirty="0">
                <a:solidFill>
                  <a:srgbClr val="C9A227"/>
                </a:solidFill>
                <a:latin typeface="Arial" pitchFamily="34" charset="0"/>
                <a:ea typeface="Arial" pitchFamily="34" charset="-122"/>
                <a:cs typeface="Arial" pitchFamily="34" charset="-120"/>
              </a:rPr>
              <a:t>SETTINGS ACCESS</a:t>
            </a:r>
            <a:endParaRPr lang="en-US" sz="825" dirty="0"/>
          </a:p>
        </p:txBody>
      </p:sp>
      <p:sp>
        <p:nvSpPr>
          <p:cNvPr id="31" name="Text 29"/>
          <p:cNvSpPr/>
          <p:nvPr/>
        </p:nvSpPr>
        <p:spPr>
          <a:xfrm>
            <a:off x="6223099" y="2017365"/>
            <a:ext cx="2311450" cy="508546"/>
          </a:xfrm>
          <a:prstGeom prst="rect">
            <a:avLst/>
          </a:prstGeom>
          <a:solidFill>
            <a:srgbClr val="FFFFFF">
              <a:alpha val="5000"/>
            </a:srgbClr>
          </a:solidFill>
          <a:ln/>
        </p:spPr>
        <p:txBody>
          <a:bodyPr wrap="square" rtlCol="0" anchor="ctr"/>
          <a:lstStyle/>
          <a:p>
            <a:pPr marL="0" indent="0">
              <a:buNone/>
            </a:pPr>
            <a:endParaRPr lang="en-US" dirty="0"/>
          </a:p>
        </p:txBody>
      </p:sp>
      <p:sp>
        <p:nvSpPr>
          <p:cNvPr id="32" name="Text 30"/>
          <p:cNvSpPr/>
          <p:nvPr/>
        </p:nvSpPr>
        <p:spPr>
          <a:xfrm>
            <a:off x="6318349" y="2112615"/>
            <a:ext cx="2163369"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Quick Access</a:t>
            </a:r>
            <a:endParaRPr lang="en-US" sz="825" dirty="0"/>
          </a:p>
        </p:txBody>
      </p:sp>
      <p:sp>
        <p:nvSpPr>
          <p:cNvPr id="33" name="Text 31"/>
          <p:cNvSpPr/>
          <p:nvPr/>
        </p:nvSpPr>
        <p:spPr>
          <a:xfrm>
            <a:off x="6318349" y="2297311"/>
            <a:ext cx="216336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Click icon &gt; Preferences</a:t>
            </a:r>
            <a:endParaRPr lang="en-US" sz="750" dirty="0"/>
          </a:p>
        </p:txBody>
      </p:sp>
      <p:sp>
        <p:nvSpPr>
          <p:cNvPr id="34" name="Text 32"/>
          <p:cNvSpPr/>
          <p:nvPr/>
        </p:nvSpPr>
        <p:spPr>
          <a:xfrm>
            <a:off x="6223099" y="2621161"/>
            <a:ext cx="2311450" cy="984796"/>
          </a:xfrm>
          <a:prstGeom prst="rect">
            <a:avLst/>
          </a:prstGeom>
          <a:solidFill>
            <a:srgbClr val="FFFFFF">
              <a:alpha val="5000"/>
            </a:srgbClr>
          </a:solidFill>
          <a:ln/>
        </p:spPr>
        <p:txBody>
          <a:bodyPr wrap="square" rtlCol="0" anchor="ctr"/>
          <a:lstStyle/>
          <a:p>
            <a:pPr marL="0" indent="0">
              <a:buNone/>
            </a:pPr>
            <a:endParaRPr lang="en-US" dirty="0"/>
          </a:p>
        </p:txBody>
      </p:sp>
      <p:sp>
        <p:nvSpPr>
          <p:cNvPr id="35" name="Text 33"/>
          <p:cNvSpPr/>
          <p:nvPr/>
        </p:nvSpPr>
        <p:spPr>
          <a:xfrm>
            <a:off x="6318349" y="2716411"/>
            <a:ext cx="2163369"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Key Settings</a:t>
            </a:r>
            <a:endParaRPr lang="en-US" sz="825" dirty="0"/>
          </a:p>
        </p:txBody>
      </p:sp>
      <p:sp>
        <p:nvSpPr>
          <p:cNvPr id="36" name="Text 34"/>
          <p:cNvSpPr/>
          <p:nvPr/>
        </p:nvSpPr>
        <p:spPr>
          <a:xfrm>
            <a:off x="6318349" y="2901107"/>
            <a:ext cx="2163369"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Hotkey configuration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Model selection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Language settings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Output formatting</a:t>
            </a:r>
            <a:endParaRPr lang="en-US" sz="750" dirty="0"/>
          </a:p>
        </p:txBody>
      </p:sp>
      <p:sp>
        <p:nvSpPr>
          <p:cNvPr id="37" name="Text 35"/>
          <p:cNvSpPr/>
          <p:nvPr/>
        </p:nvSpPr>
        <p:spPr>
          <a:xfrm>
            <a:off x="6223099" y="3701207"/>
            <a:ext cx="2311450" cy="518071"/>
          </a:xfrm>
          <a:prstGeom prst="rect">
            <a:avLst/>
          </a:prstGeom>
          <a:solidFill>
            <a:srgbClr val="C9A227">
              <a:alpha val="20000"/>
            </a:srgbClr>
          </a:solidFill>
          <a:ln/>
        </p:spPr>
        <p:txBody>
          <a:bodyPr wrap="square" rtlCol="0" anchor="ctr"/>
          <a:lstStyle/>
          <a:p>
            <a:pPr marL="0" indent="0">
              <a:buNone/>
            </a:pPr>
            <a:endParaRPr lang="en-US" dirty="0"/>
          </a:p>
        </p:txBody>
      </p:sp>
      <p:sp>
        <p:nvSpPr>
          <p:cNvPr id="38" name="Text 36"/>
          <p:cNvSpPr/>
          <p:nvPr/>
        </p:nvSpPr>
        <p:spPr>
          <a:xfrm>
            <a:off x="6318349" y="3796457"/>
            <a:ext cx="2163369"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History Panel</a:t>
            </a:r>
            <a:endParaRPr lang="en-US" sz="825" dirty="0"/>
          </a:p>
        </p:txBody>
      </p:sp>
      <p:sp>
        <p:nvSpPr>
          <p:cNvPr id="39" name="Text 37"/>
          <p:cNvSpPr/>
          <p:nvPr/>
        </p:nvSpPr>
        <p:spPr>
          <a:xfrm>
            <a:off x="6318349" y="3981152"/>
            <a:ext cx="2163369" cy="14287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View recent transcriptions, copy text, replay audio</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660499"/>
            <a:ext cx="3886200"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OPERATING MODES</a:t>
            </a:r>
            <a:endParaRPr lang="en-US" sz="825" dirty="0"/>
          </a:p>
        </p:txBody>
      </p:sp>
      <p:sp>
        <p:nvSpPr>
          <p:cNvPr id="4" name="Text 2"/>
          <p:cNvSpPr/>
          <p:nvPr/>
        </p:nvSpPr>
        <p:spPr>
          <a:xfrm>
            <a:off x="342900" y="1016645"/>
            <a:ext cx="2370582" cy="266700"/>
          </a:xfrm>
          <a:prstGeom prst="rect">
            <a:avLst/>
          </a:prstGeom>
          <a:noFill/>
          <a:ln/>
        </p:spPr>
        <p:txBody>
          <a:bodyPr wrap="square" lIns="0" tIns="0" rIns="0" bIns="0" rtlCol="0" anchor="t"/>
          <a:lstStyle/>
          <a:p>
            <a:pPr marL="0" indent="0" algn="l">
              <a:lnSpc>
                <a:spcPts val="2100"/>
              </a:lnSpc>
              <a:spcAft>
                <a:spcPts val="1500"/>
              </a:spcAft>
              <a:buNone/>
            </a:pPr>
            <a:r>
              <a:rPr lang="en-US" sz="2100" dirty="0">
                <a:solidFill>
                  <a:srgbClr val="1A1F2E"/>
                </a:solidFill>
                <a:latin typeface="Georgia" pitchFamily="34" charset="0"/>
                <a:ea typeface="Georgia" pitchFamily="34" charset="-122"/>
                <a:cs typeface="Georgia" pitchFamily="34" charset="-120"/>
              </a:rPr>
              <a:t>SuperWhisper Modes</a:t>
            </a:r>
            <a:endParaRPr lang="en-US" sz="2100" dirty="0"/>
          </a:p>
        </p:txBody>
      </p:sp>
      <p:sp>
        <p:nvSpPr>
          <p:cNvPr id="5" name="Text 3"/>
          <p:cNvSpPr/>
          <p:nvPr/>
        </p:nvSpPr>
        <p:spPr>
          <a:xfrm>
            <a:off x="342900" y="1626245"/>
            <a:ext cx="3810000" cy="2176611"/>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361950" y="1626245"/>
            <a:ext cx="0" cy="2176611"/>
          </a:xfrm>
          <a:prstGeom prst="line">
            <a:avLst/>
          </a:prstGeom>
          <a:noFill/>
          <a:ln w="38100">
            <a:solidFill>
              <a:srgbClr val="C9A227"/>
            </a:solidFill>
            <a:prstDash val="solid"/>
          </a:ln>
        </p:spPr>
        <p:txBody>
          <a:bodyPr/>
          <a:lstStyle/>
          <a:p>
            <a:endParaRPr lang="en-US"/>
          </a:p>
        </p:txBody>
      </p:sp>
      <p:sp>
        <p:nvSpPr>
          <p:cNvPr id="7" name="Text 5"/>
          <p:cNvSpPr/>
          <p:nvPr/>
        </p:nvSpPr>
        <p:spPr>
          <a:xfrm>
            <a:off x="552450" y="1797695"/>
            <a:ext cx="342900" cy="342900"/>
          </a:xfrm>
          <a:prstGeom prst="rect">
            <a:avLst/>
          </a:prstGeom>
          <a:solidFill>
            <a:srgbClr val="C9A227"/>
          </a:solidFill>
          <a:ln/>
        </p:spPr>
        <p:txBody>
          <a:bodyPr wrap="square" rtlCol="0" anchor="ctr"/>
          <a:lstStyle/>
          <a:p>
            <a:pPr marL="0" indent="0">
              <a:buNone/>
            </a:pPr>
            <a:endParaRPr lang="en-US" dirty="0"/>
          </a:p>
        </p:txBody>
      </p:sp>
      <p:sp>
        <p:nvSpPr>
          <p:cNvPr id="8" name="Text 6"/>
          <p:cNvSpPr/>
          <p:nvPr/>
        </p:nvSpPr>
        <p:spPr>
          <a:xfrm>
            <a:off x="668834" y="1862435"/>
            <a:ext cx="112335" cy="213271"/>
          </a:xfrm>
          <a:prstGeom prst="rect">
            <a:avLst/>
          </a:prstGeom>
          <a:noFill/>
          <a:ln/>
        </p:spPr>
        <p:txBody>
          <a:bodyPr wrap="square" lIns="0" tIns="0" rIns="0" bIns="0" rtlCol="0" anchor="t"/>
          <a:lstStyle/>
          <a:p>
            <a:pPr marL="0" indent="0" algn="l">
              <a:lnSpc>
                <a:spcPts val="1680"/>
              </a:lnSpc>
              <a:buNone/>
            </a:pPr>
            <a:r>
              <a:rPr lang="en-US" sz="1200" b="1" dirty="0">
                <a:solidFill>
                  <a:srgbClr val="1A1F2E"/>
                </a:solidFill>
                <a:latin typeface="Arial" pitchFamily="34" charset="0"/>
                <a:ea typeface="Arial" pitchFamily="34" charset="-122"/>
                <a:cs typeface="Arial" pitchFamily="34" charset="-120"/>
              </a:rPr>
              <a:t>D</a:t>
            </a:r>
            <a:endParaRPr lang="en-US" sz="1200" dirty="0"/>
          </a:p>
        </p:txBody>
      </p:sp>
      <p:sp>
        <p:nvSpPr>
          <p:cNvPr id="9" name="Text 7"/>
          <p:cNvSpPr/>
          <p:nvPr/>
        </p:nvSpPr>
        <p:spPr>
          <a:xfrm>
            <a:off x="990600" y="1862435"/>
            <a:ext cx="1031816" cy="213271"/>
          </a:xfrm>
          <a:prstGeom prst="rect">
            <a:avLst/>
          </a:prstGeom>
          <a:noFill/>
          <a:ln/>
        </p:spPr>
        <p:txBody>
          <a:bodyPr wrap="square" lIns="0" tIns="0" rIns="0" bIns="0" rtlCol="0" anchor="t"/>
          <a:lstStyle/>
          <a:p>
            <a:pPr marL="0" indent="0" algn="l">
              <a:lnSpc>
                <a:spcPts val="1680"/>
              </a:lnSpc>
              <a:buNone/>
            </a:pPr>
            <a:r>
              <a:rPr lang="en-US" sz="1200" b="1" dirty="0">
                <a:solidFill>
                  <a:srgbClr val="1A1F2E"/>
                </a:solidFill>
                <a:latin typeface="Georgia" pitchFamily="34" charset="0"/>
                <a:ea typeface="Georgia" pitchFamily="34" charset="-122"/>
                <a:cs typeface="Georgia" pitchFamily="34" charset="-120"/>
              </a:rPr>
              <a:t>Dictation Mode</a:t>
            </a:r>
            <a:endParaRPr lang="en-US" sz="1200" dirty="0"/>
          </a:p>
        </p:txBody>
      </p:sp>
      <p:sp>
        <p:nvSpPr>
          <p:cNvPr id="10" name="Text 8"/>
          <p:cNvSpPr/>
          <p:nvPr/>
        </p:nvSpPr>
        <p:spPr>
          <a:xfrm>
            <a:off x="552450" y="2235845"/>
            <a:ext cx="3497580" cy="365522"/>
          </a:xfrm>
          <a:prstGeom prst="rect">
            <a:avLst/>
          </a:prstGeom>
          <a:noFill/>
          <a:ln/>
        </p:spPr>
        <p:txBody>
          <a:bodyPr wrap="square" lIns="0" tIns="0" rIns="0" bIns="0" rtlCol="0" anchor="t"/>
          <a:lstStyle/>
          <a:p>
            <a:pPr marL="0" indent="0" algn="l">
              <a:lnSpc>
                <a:spcPts val="1440"/>
              </a:lnSpc>
              <a:spcAft>
                <a:spcPts val="900"/>
              </a:spcAft>
              <a:buNone/>
            </a:pPr>
            <a:r>
              <a:rPr lang="en-US" sz="900" dirty="0">
                <a:solidFill>
                  <a:srgbClr val="6B7280"/>
                </a:solidFill>
                <a:latin typeface="Arial" pitchFamily="34" charset="0"/>
                <a:ea typeface="Arial" pitchFamily="34" charset="-122"/>
                <a:cs typeface="Arial" pitchFamily="34" charset="-120"/>
              </a:rPr>
              <a:t>Pure speech-to-text transcription. What you say is what you get - no AI processing or modification.</a:t>
            </a:r>
            <a:endParaRPr lang="en-US" sz="900" dirty="0"/>
          </a:p>
        </p:txBody>
      </p:sp>
      <p:sp>
        <p:nvSpPr>
          <p:cNvPr id="11" name="Text 9"/>
          <p:cNvSpPr/>
          <p:nvPr/>
        </p:nvSpPr>
        <p:spPr>
          <a:xfrm>
            <a:off x="552450" y="2715667"/>
            <a:ext cx="3497580"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Best For:</a:t>
            </a:r>
            <a:endParaRPr lang="en-US" sz="825" dirty="0"/>
          </a:p>
        </p:txBody>
      </p:sp>
      <p:sp>
        <p:nvSpPr>
          <p:cNvPr id="12" name="Text 10"/>
          <p:cNvSpPr/>
          <p:nvPr/>
        </p:nvSpPr>
        <p:spPr>
          <a:xfrm>
            <a:off x="552450" y="2919413"/>
            <a:ext cx="3497580"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Writing emails and documents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Taking notes in meetings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Drafting content quickly</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Any text input task</a:t>
            </a:r>
            <a:endParaRPr lang="en-US" sz="825" dirty="0"/>
          </a:p>
        </p:txBody>
      </p:sp>
      <p:sp>
        <p:nvSpPr>
          <p:cNvPr id="13" name="Text 11"/>
          <p:cNvSpPr/>
          <p:nvPr/>
        </p:nvSpPr>
        <p:spPr>
          <a:xfrm>
            <a:off x="342900" y="4107656"/>
            <a:ext cx="3810000" cy="375196"/>
          </a:xfrm>
          <a:prstGeom prst="rect">
            <a:avLst/>
          </a:prstGeom>
          <a:solidFill>
            <a:srgbClr val="DCFCE7"/>
          </a:solidFill>
          <a:ln/>
        </p:spPr>
        <p:txBody>
          <a:bodyPr wrap="square" rtlCol="0" anchor="ctr"/>
          <a:lstStyle/>
          <a:p>
            <a:pPr marL="0" indent="0">
              <a:buNone/>
            </a:pPr>
            <a:endParaRPr lang="en-US" dirty="0"/>
          </a:p>
        </p:txBody>
      </p:sp>
      <p:sp>
        <p:nvSpPr>
          <p:cNvPr id="14" name="Shape 12"/>
          <p:cNvSpPr/>
          <p:nvPr/>
        </p:nvSpPr>
        <p:spPr>
          <a:xfrm>
            <a:off x="361950" y="4107656"/>
            <a:ext cx="0" cy="375196"/>
          </a:xfrm>
          <a:prstGeom prst="line">
            <a:avLst/>
          </a:prstGeom>
          <a:noFill/>
          <a:ln w="38100">
            <a:solidFill>
              <a:srgbClr val="059669"/>
            </a:solidFill>
            <a:prstDash val="solid"/>
          </a:ln>
        </p:spPr>
        <p:txBody>
          <a:bodyPr/>
          <a:lstStyle/>
          <a:p>
            <a:endParaRPr lang="en-US"/>
          </a:p>
        </p:txBody>
      </p:sp>
      <p:sp>
        <p:nvSpPr>
          <p:cNvPr id="15" name="Text 13"/>
          <p:cNvSpPr/>
          <p:nvPr/>
        </p:nvSpPr>
        <p:spPr>
          <a:xfrm>
            <a:off x="533400" y="4221956"/>
            <a:ext cx="3536442" cy="146596"/>
          </a:xfrm>
          <a:prstGeom prst="rect">
            <a:avLst/>
          </a:prstGeom>
          <a:noFill/>
          <a:ln/>
        </p:spPr>
        <p:txBody>
          <a:bodyPr wrap="square" lIns="0" tIns="0" rIns="0" bIns="0" rtlCol="0" anchor="t"/>
          <a:lstStyle/>
          <a:p>
            <a:pPr marL="0" indent="0" algn="l">
              <a:lnSpc>
                <a:spcPts val="1155"/>
              </a:lnSpc>
              <a:buNone/>
            </a:pPr>
            <a:r>
              <a:rPr lang="en-US" sz="825" b="1" dirty="0">
                <a:solidFill>
                  <a:srgbClr val="166534"/>
                </a:solidFill>
                <a:latin typeface="Arial" pitchFamily="34" charset="0"/>
                <a:ea typeface="Arial" pitchFamily="34" charset="-122"/>
                <a:cs typeface="Arial" pitchFamily="34" charset="-120"/>
              </a:rPr>
              <a:t>Privacy:</a:t>
            </a:r>
            <a:r>
              <a:rPr lang="en-US" sz="825" dirty="0">
                <a:solidFill>
                  <a:srgbClr val="166534"/>
                </a:solidFill>
                <a:latin typeface="Arial" pitchFamily="34" charset="0"/>
                <a:ea typeface="Arial" pitchFamily="34" charset="-122"/>
                <a:cs typeface="Arial" pitchFamily="34" charset="-120"/>
              </a:rPr>
              <a:t> 100% local - voice never leaves your device in Dictation Mode</a:t>
            </a:r>
            <a:endParaRPr lang="en-US" sz="825" dirty="0"/>
          </a:p>
        </p:txBody>
      </p:sp>
      <p:sp>
        <p:nvSpPr>
          <p:cNvPr id="16" name="Text 14"/>
          <p:cNvSpPr/>
          <p:nvPr/>
        </p:nvSpPr>
        <p:spPr>
          <a:xfrm>
            <a:off x="4648200" y="0"/>
            <a:ext cx="4495800" cy="5143500"/>
          </a:xfrm>
          <a:prstGeom prst="rect">
            <a:avLst/>
          </a:prstGeom>
          <a:solidFill>
            <a:srgbClr val="1A1F2E"/>
          </a:solidFill>
          <a:ln/>
        </p:spPr>
        <p:txBody>
          <a:bodyPr wrap="square" rtlCol="0" anchor="ctr"/>
          <a:lstStyle/>
          <a:p>
            <a:pPr marL="0" indent="0">
              <a:buNone/>
            </a:pPr>
            <a:endParaRPr lang="en-US" dirty="0"/>
          </a:p>
        </p:txBody>
      </p:sp>
      <p:sp>
        <p:nvSpPr>
          <p:cNvPr id="17" name="Text 15"/>
          <p:cNvSpPr/>
          <p:nvPr/>
        </p:nvSpPr>
        <p:spPr>
          <a:xfrm>
            <a:off x="4991100" y="304800"/>
            <a:ext cx="3886200"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FFFFFF">
                    <a:alpha val="40000"/>
                  </a:srgbClr>
                </a:solidFill>
                <a:latin typeface="Arial" pitchFamily="34" charset="0"/>
                <a:ea typeface="Arial" pitchFamily="34" charset="-122"/>
                <a:cs typeface="Arial" pitchFamily="34" charset="-120"/>
              </a:rPr>
              <a:t>ADVANCED</a:t>
            </a:r>
            <a:endParaRPr lang="en-US" sz="825" dirty="0"/>
          </a:p>
        </p:txBody>
      </p:sp>
      <p:sp>
        <p:nvSpPr>
          <p:cNvPr id="18" name="Text 16"/>
          <p:cNvSpPr/>
          <p:nvPr/>
        </p:nvSpPr>
        <p:spPr>
          <a:xfrm>
            <a:off x="4991100" y="660946"/>
            <a:ext cx="1952816" cy="266700"/>
          </a:xfrm>
          <a:prstGeom prst="rect">
            <a:avLst/>
          </a:prstGeom>
          <a:noFill/>
          <a:ln/>
        </p:spPr>
        <p:txBody>
          <a:bodyPr wrap="square" lIns="0" tIns="0" rIns="0" bIns="0" rtlCol="0" anchor="t"/>
          <a:lstStyle/>
          <a:p>
            <a:pPr marL="0" indent="0" algn="l">
              <a:lnSpc>
                <a:spcPts val="2100"/>
              </a:lnSpc>
              <a:spcAft>
                <a:spcPts val="1500"/>
              </a:spcAft>
              <a:buNone/>
            </a:pPr>
            <a:r>
              <a:rPr lang="en-US" sz="2100" dirty="0">
                <a:solidFill>
                  <a:srgbClr val="FFFFFF"/>
                </a:solidFill>
                <a:latin typeface="Georgia" pitchFamily="34" charset="0"/>
                <a:ea typeface="Georgia" pitchFamily="34" charset="-122"/>
                <a:cs typeface="Georgia" pitchFamily="34" charset="-120"/>
              </a:rPr>
              <a:t>AI Mode</a:t>
            </a:r>
            <a:endParaRPr lang="en-US" sz="2100" dirty="0"/>
          </a:p>
        </p:txBody>
      </p:sp>
      <p:sp>
        <p:nvSpPr>
          <p:cNvPr id="19" name="Text 17"/>
          <p:cNvSpPr/>
          <p:nvPr/>
        </p:nvSpPr>
        <p:spPr>
          <a:xfrm>
            <a:off x="4991100" y="1270546"/>
            <a:ext cx="3810000" cy="2176611"/>
          </a:xfrm>
          <a:prstGeom prst="rect">
            <a:avLst/>
          </a:prstGeom>
          <a:solidFill>
            <a:srgbClr val="FFFFFF">
              <a:alpha val="5000"/>
            </a:srgbClr>
          </a:solidFill>
          <a:ln/>
        </p:spPr>
        <p:txBody>
          <a:bodyPr wrap="square" rtlCol="0" anchor="ctr"/>
          <a:lstStyle/>
          <a:p>
            <a:pPr marL="0" indent="0">
              <a:buNone/>
            </a:pPr>
            <a:endParaRPr lang="en-US" dirty="0"/>
          </a:p>
        </p:txBody>
      </p:sp>
      <p:sp>
        <p:nvSpPr>
          <p:cNvPr id="20" name="Shape 18"/>
          <p:cNvSpPr/>
          <p:nvPr/>
        </p:nvSpPr>
        <p:spPr>
          <a:xfrm>
            <a:off x="5010150" y="1270546"/>
            <a:ext cx="0" cy="2176611"/>
          </a:xfrm>
          <a:prstGeom prst="line">
            <a:avLst/>
          </a:prstGeom>
          <a:noFill/>
          <a:ln w="38100">
            <a:solidFill>
              <a:srgbClr val="C9A227"/>
            </a:solidFill>
            <a:prstDash val="solid"/>
          </a:ln>
        </p:spPr>
        <p:txBody>
          <a:bodyPr/>
          <a:lstStyle/>
          <a:p>
            <a:endParaRPr lang="en-US"/>
          </a:p>
        </p:txBody>
      </p:sp>
      <p:sp>
        <p:nvSpPr>
          <p:cNvPr id="21" name="Text 19"/>
          <p:cNvSpPr/>
          <p:nvPr/>
        </p:nvSpPr>
        <p:spPr>
          <a:xfrm>
            <a:off x="5200650" y="1441996"/>
            <a:ext cx="342900" cy="342900"/>
          </a:xfrm>
          <a:prstGeom prst="rect">
            <a:avLst/>
          </a:prstGeom>
          <a:solidFill>
            <a:srgbClr val="C9A227"/>
          </a:solidFill>
          <a:ln/>
        </p:spPr>
        <p:txBody>
          <a:bodyPr wrap="square" rtlCol="0" anchor="ctr"/>
          <a:lstStyle/>
          <a:p>
            <a:pPr marL="0" indent="0">
              <a:buNone/>
            </a:pPr>
            <a:endParaRPr lang="en-US" dirty="0"/>
          </a:p>
        </p:txBody>
      </p:sp>
      <p:sp>
        <p:nvSpPr>
          <p:cNvPr id="22" name="Text 20"/>
          <p:cNvSpPr/>
          <p:nvPr/>
        </p:nvSpPr>
        <p:spPr>
          <a:xfrm>
            <a:off x="5295900" y="1506736"/>
            <a:ext cx="155448" cy="213271"/>
          </a:xfrm>
          <a:prstGeom prst="rect">
            <a:avLst/>
          </a:prstGeom>
          <a:noFill/>
          <a:ln/>
        </p:spPr>
        <p:txBody>
          <a:bodyPr wrap="square" lIns="0" tIns="0" rIns="0" bIns="0" rtlCol="0" anchor="t"/>
          <a:lstStyle/>
          <a:p>
            <a:pPr marL="0" indent="0" algn="l">
              <a:lnSpc>
                <a:spcPts val="1680"/>
              </a:lnSpc>
              <a:buNone/>
            </a:pPr>
            <a:r>
              <a:rPr lang="en-US" sz="1200" b="1" dirty="0">
                <a:solidFill>
                  <a:srgbClr val="1A1F2E"/>
                </a:solidFill>
                <a:latin typeface="Arial" pitchFamily="34" charset="0"/>
                <a:ea typeface="Arial" pitchFamily="34" charset="-122"/>
                <a:cs typeface="Arial" pitchFamily="34" charset="-120"/>
              </a:rPr>
              <a:t>AI</a:t>
            </a:r>
            <a:endParaRPr lang="en-US" sz="1200" dirty="0"/>
          </a:p>
        </p:txBody>
      </p:sp>
      <p:sp>
        <p:nvSpPr>
          <p:cNvPr id="23" name="Text 21"/>
          <p:cNvSpPr/>
          <p:nvPr/>
        </p:nvSpPr>
        <p:spPr>
          <a:xfrm>
            <a:off x="5638800" y="1506736"/>
            <a:ext cx="1308556" cy="213271"/>
          </a:xfrm>
          <a:prstGeom prst="rect">
            <a:avLst/>
          </a:prstGeom>
          <a:noFill/>
          <a:ln/>
        </p:spPr>
        <p:txBody>
          <a:bodyPr wrap="square" lIns="0" tIns="0" rIns="0" bIns="0" rtlCol="0" anchor="t"/>
          <a:lstStyle/>
          <a:p>
            <a:pPr marL="0" indent="0" algn="l">
              <a:lnSpc>
                <a:spcPts val="1680"/>
              </a:lnSpc>
              <a:buNone/>
            </a:pPr>
            <a:r>
              <a:rPr lang="en-US" sz="1200" b="1" dirty="0">
                <a:solidFill>
                  <a:srgbClr val="FFFFFF"/>
                </a:solidFill>
                <a:latin typeface="Georgia" pitchFamily="34" charset="0"/>
                <a:ea typeface="Georgia" pitchFamily="34" charset="-122"/>
                <a:cs typeface="Georgia" pitchFamily="34" charset="-120"/>
              </a:rPr>
              <a:t>AI-Enhanced Mode</a:t>
            </a:r>
            <a:endParaRPr lang="en-US" sz="1200" dirty="0"/>
          </a:p>
        </p:txBody>
      </p:sp>
      <p:sp>
        <p:nvSpPr>
          <p:cNvPr id="24" name="Text 22"/>
          <p:cNvSpPr/>
          <p:nvPr/>
        </p:nvSpPr>
        <p:spPr>
          <a:xfrm>
            <a:off x="5200650" y="1880146"/>
            <a:ext cx="3497580" cy="365522"/>
          </a:xfrm>
          <a:prstGeom prst="rect">
            <a:avLst/>
          </a:prstGeom>
          <a:noFill/>
          <a:ln/>
        </p:spPr>
        <p:txBody>
          <a:bodyPr wrap="square" lIns="0" tIns="0" rIns="0" bIns="0" rtlCol="0" anchor="t"/>
          <a:lstStyle/>
          <a:p>
            <a:pPr marL="0" indent="0" algn="l">
              <a:lnSpc>
                <a:spcPts val="1440"/>
              </a:lnSpc>
              <a:spcAft>
                <a:spcPts val="900"/>
              </a:spcAft>
              <a:buNone/>
            </a:pPr>
            <a:r>
              <a:rPr lang="en-US" sz="900" dirty="0">
                <a:solidFill>
                  <a:srgbClr val="FFFFFF">
                    <a:alpha val="70000"/>
                  </a:srgbClr>
                </a:solidFill>
                <a:latin typeface="Arial" pitchFamily="34" charset="0"/>
                <a:ea typeface="Arial" pitchFamily="34" charset="-122"/>
                <a:cs typeface="Arial" pitchFamily="34" charset="-120"/>
              </a:rPr>
              <a:t>Transcription + AI processing. Can reformat, summarize, translate, or execute commands on your speech.</a:t>
            </a:r>
            <a:endParaRPr lang="en-US" sz="900" dirty="0"/>
          </a:p>
        </p:txBody>
      </p:sp>
      <p:sp>
        <p:nvSpPr>
          <p:cNvPr id="25" name="Text 23"/>
          <p:cNvSpPr/>
          <p:nvPr/>
        </p:nvSpPr>
        <p:spPr>
          <a:xfrm>
            <a:off x="5200650" y="2359968"/>
            <a:ext cx="3497580"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Best For:</a:t>
            </a:r>
            <a:endParaRPr lang="en-US" sz="825" dirty="0"/>
          </a:p>
        </p:txBody>
      </p:sp>
      <p:sp>
        <p:nvSpPr>
          <p:cNvPr id="26" name="Text 24"/>
          <p:cNvSpPr/>
          <p:nvPr/>
        </p:nvSpPr>
        <p:spPr>
          <a:xfrm>
            <a:off x="5200650" y="2563713"/>
            <a:ext cx="3497580" cy="711994"/>
          </a:xfrm>
          <a:prstGeom prst="rect">
            <a:avLst/>
          </a:prstGeom>
          <a:noFill/>
          <a:ln/>
        </p:spPr>
        <p:txBody>
          <a:bodyPr wrap="square" lIns="0" tIns="0" rIns="0" bIns="0" rtlCol="0" anchor="t"/>
          <a:lstStyle/>
          <a:p>
            <a:pPr marL="0" indent="0" algn="l">
              <a:lnSpc>
                <a:spcPts val="1402"/>
              </a:lnSpc>
              <a:buNone/>
            </a:pPr>
            <a:r>
              <a:rPr lang="en-US" sz="825" dirty="0">
                <a:solidFill>
                  <a:srgbClr val="FFFFFF">
                    <a:alpha val="60000"/>
                  </a:srgbClr>
                </a:solidFill>
                <a:latin typeface="Arial" pitchFamily="34" charset="0"/>
                <a:ea typeface="Arial" pitchFamily="34" charset="-122"/>
                <a:cs typeface="Arial" pitchFamily="34" charset="-120"/>
              </a:rPr>
              <a:t>Coding with voice commands</a:t>
            </a:r>
            <a:endParaRPr lang="en-US" sz="825" dirty="0"/>
          </a:p>
          <a:p>
            <a:pPr marL="0" indent="0" algn="l">
              <a:lnSpc>
                <a:spcPts val="1402"/>
              </a:lnSpc>
              <a:buNone/>
            </a:pPr>
            <a:r>
              <a:rPr lang="en-US" sz="825" dirty="0">
                <a:solidFill>
                  <a:srgbClr val="FFFFFF">
                    <a:alpha val="60000"/>
                  </a:srgbClr>
                </a:solidFill>
                <a:latin typeface="Arial" pitchFamily="34" charset="0"/>
                <a:ea typeface="Arial" pitchFamily="34" charset="-122"/>
                <a:cs typeface="Arial" pitchFamily="34" charset="-120"/>
              </a:rPr>
              <a:t>Generating formatted content</a:t>
            </a:r>
            <a:endParaRPr lang="en-US" sz="825" dirty="0"/>
          </a:p>
          <a:p>
            <a:pPr marL="0" indent="0" algn="l">
              <a:lnSpc>
                <a:spcPts val="1402"/>
              </a:lnSpc>
              <a:buNone/>
            </a:pPr>
            <a:r>
              <a:rPr lang="en-US" sz="825" dirty="0">
                <a:solidFill>
                  <a:srgbClr val="FFFFFF">
                    <a:alpha val="60000"/>
                  </a:srgbClr>
                </a:solidFill>
                <a:latin typeface="Arial" pitchFamily="34" charset="0"/>
                <a:ea typeface="Arial" pitchFamily="34" charset="-122"/>
                <a:cs typeface="Arial" pitchFamily="34" charset="-120"/>
              </a:rPr>
              <a:t>Translation tasks</a:t>
            </a:r>
            <a:endParaRPr lang="en-US" sz="825" dirty="0"/>
          </a:p>
          <a:p>
            <a:pPr marL="0" indent="0" algn="l">
              <a:lnSpc>
                <a:spcPts val="1402"/>
              </a:lnSpc>
              <a:buNone/>
            </a:pPr>
            <a:r>
              <a:rPr lang="en-US" sz="825" dirty="0">
                <a:solidFill>
                  <a:srgbClr val="FFFFFF">
                    <a:alpha val="60000"/>
                  </a:srgbClr>
                </a:solidFill>
                <a:latin typeface="Arial" pitchFamily="34" charset="0"/>
                <a:ea typeface="Arial" pitchFamily="34" charset="-122"/>
                <a:cs typeface="Arial" pitchFamily="34" charset="-120"/>
              </a:rPr>
              <a:t>Complex multi-step workflows</a:t>
            </a:r>
            <a:endParaRPr lang="en-US" sz="825" dirty="0"/>
          </a:p>
        </p:txBody>
      </p:sp>
      <p:sp>
        <p:nvSpPr>
          <p:cNvPr id="27" name="Text 25"/>
          <p:cNvSpPr/>
          <p:nvPr/>
        </p:nvSpPr>
        <p:spPr>
          <a:xfrm>
            <a:off x="4991100" y="3751957"/>
            <a:ext cx="3810000" cy="521791"/>
          </a:xfrm>
          <a:prstGeom prst="rect">
            <a:avLst/>
          </a:prstGeom>
          <a:solidFill>
            <a:srgbClr val="FEF3C7"/>
          </a:solidFill>
          <a:ln/>
        </p:spPr>
        <p:txBody>
          <a:bodyPr wrap="square" rtlCol="0" anchor="ctr"/>
          <a:lstStyle/>
          <a:p>
            <a:pPr marL="0" indent="0">
              <a:buNone/>
            </a:pPr>
            <a:endParaRPr lang="en-US" dirty="0"/>
          </a:p>
        </p:txBody>
      </p:sp>
      <p:sp>
        <p:nvSpPr>
          <p:cNvPr id="28" name="Shape 26"/>
          <p:cNvSpPr/>
          <p:nvPr/>
        </p:nvSpPr>
        <p:spPr>
          <a:xfrm>
            <a:off x="5010150" y="3751957"/>
            <a:ext cx="0" cy="521791"/>
          </a:xfrm>
          <a:prstGeom prst="line">
            <a:avLst/>
          </a:prstGeom>
          <a:noFill/>
          <a:ln w="38100">
            <a:solidFill>
              <a:srgbClr val="F59E0B"/>
            </a:solidFill>
            <a:prstDash val="solid"/>
          </a:ln>
        </p:spPr>
        <p:txBody>
          <a:bodyPr/>
          <a:lstStyle/>
          <a:p>
            <a:endParaRPr lang="en-US"/>
          </a:p>
        </p:txBody>
      </p:sp>
      <p:sp>
        <p:nvSpPr>
          <p:cNvPr id="29" name="Text 27"/>
          <p:cNvSpPr/>
          <p:nvPr/>
        </p:nvSpPr>
        <p:spPr>
          <a:xfrm>
            <a:off x="5181600" y="3866257"/>
            <a:ext cx="3536442" cy="293191"/>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Note:</a:t>
            </a:r>
            <a:r>
              <a:rPr lang="en-US" sz="825" dirty="0">
                <a:solidFill>
                  <a:srgbClr val="92400E"/>
                </a:solidFill>
                <a:latin typeface="Arial" pitchFamily="34" charset="0"/>
                <a:ea typeface="Arial" pitchFamily="34" charset="-122"/>
                <a:cs typeface="Arial" pitchFamily="34" charset="-120"/>
              </a:rPr>
              <a:t> AI Mode may send text to cloud AI (check your settings for local AI options)</a:t>
            </a:r>
            <a:endParaRPr lang="en-US" sz="825" dirty="0"/>
          </a:p>
        </p:txBody>
      </p:sp>
      <p:sp>
        <p:nvSpPr>
          <p:cNvPr id="30" name="Text 28"/>
          <p:cNvSpPr/>
          <p:nvPr/>
        </p:nvSpPr>
        <p:spPr>
          <a:xfrm>
            <a:off x="4991100" y="4705350"/>
            <a:ext cx="3886200"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Switch modes via menu bar icon or keyboard shortcut</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CONFIGURATION</a:t>
            </a:r>
            <a:endParaRPr lang="en-US" sz="825" dirty="0"/>
          </a:p>
        </p:txBody>
      </p:sp>
      <p:sp>
        <p:nvSpPr>
          <p:cNvPr id="3" name="Text 1"/>
          <p:cNvSpPr/>
          <p:nvPr/>
        </p:nvSpPr>
        <p:spPr>
          <a:xfrm>
            <a:off x="457200" y="470446"/>
            <a:ext cx="4206812"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Model Selection Guide</a:t>
            </a:r>
            <a:endParaRPr lang="en-US" sz="2100" dirty="0"/>
          </a:p>
        </p:txBody>
      </p:sp>
      <p:sp>
        <p:nvSpPr>
          <p:cNvPr id="4" name="Text 2"/>
          <p:cNvSpPr/>
          <p:nvPr/>
        </p:nvSpPr>
        <p:spPr>
          <a:xfrm>
            <a:off x="457200" y="794296"/>
            <a:ext cx="8394192" cy="159990"/>
          </a:xfrm>
          <a:prstGeom prst="rect">
            <a:avLst/>
          </a:prstGeom>
          <a:noFill/>
          <a:ln/>
        </p:spPr>
        <p:txBody>
          <a:bodyPr wrap="square" lIns="0" tIns="0" rIns="0" bIns="0" rtlCol="0" anchor="t"/>
          <a:lstStyle/>
          <a:p>
            <a:pPr marL="0" indent="0" algn="l">
              <a:lnSpc>
                <a:spcPts val="1260"/>
              </a:lnSpc>
              <a:spcBef>
                <a:spcPts val="450"/>
              </a:spcBef>
              <a:buNone/>
            </a:pPr>
            <a:r>
              <a:rPr lang="en-US" sz="900" dirty="0">
                <a:solidFill>
                  <a:srgbClr val="6B7280"/>
                </a:solidFill>
                <a:latin typeface="Arial" pitchFamily="34" charset="0"/>
                <a:ea typeface="Arial" pitchFamily="34" charset="-122"/>
                <a:cs typeface="Arial" pitchFamily="34" charset="-120"/>
              </a:rPr>
              <a:t>Choose based on your hardware and accuracy needs</a:t>
            </a:r>
            <a:endParaRPr lang="en-US" sz="900" dirty="0"/>
          </a:p>
        </p:txBody>
      </p:sp>
      <p:sp>
        <p:nvSpPr>
          <p:cNvPr id="5" name="Text 3"/>
          <p:cNvSpPr/>
          <p:nvPr/>
        </p:nvSpPr>
        <p:spPr>
          <a:xfrm>
            <a:off x="457200" y="1088082"/>
            <a:ext cx="8229600" cy="337096"/>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609600" y="1183332"/>
            <a:ext cx="1168896"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Model</a:t>
            </a:r>
            <a:endParaRPr lang="en-US" sz="825" dirty="0"/>
          </a:p>
        </p:txBody>
      </p:sp>
      <p:sp>
        <p:nvSpPr>
          <p:cNvPr id="7" name="Text 5"/>
          <p:cNvSpPr/>
          <p:nvPr/>
        </p:nvSpPr>
        <p:spPr>
          <a:xfrm>
            <a:off x="1897949" y="1183332"/>
            <a:ext cx="1022860"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Size</a:t>
            </a:r>
            <a:endParaRPr lang="en-US" sz="825" dirty="0"/>
          </a:p>
        </p:txBody>
      </p:sp>
      <p:sp>
        <p:nvSpPr>
          <p:cNvPr id="8" name="Text 6"/>
          <p:cNvSpPr/>
          <p:nvPr/>
        </p:nvSpPr>
        <p:spPr>
          <a:xfrm>
            <a:off x="3050287" y="1183332"/>
            <a:ext cx="1315084"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Speed</a:t>
            </a:r>
            <a:endParaRPr lang="en-US" sz="825" dirty="0"/>
          </a:p>
        </p:txBody>
      </p:sp>
      <p:sp>
        <p:nvSpPr>
          <p:cNvPr id="9" name="Text 7"/>
          <p:cNvSpPr/>
          <p:nvPr/>
        </p:nvSpPr>
        <p:spPr>
          <a:xfrm>
            <a:off x="4491986" y="1183332"/>
            <a:ext cx="1315084"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Accuracy</a:t>
            </a:r>
            <a:endParaRPr lang="en-US" sz="825" dirty="0"/>
          </a:p>
        </p:txBody>
      </p:sp>
      <p:sp>
        <p:nvSpPr>
          <p:cNvPr id="10" name="Text 8"/>
          <p:cNvSpPr/>
          <p:nvPr/>
        </p:nvSpPr>
        <p:spPr>
          <a:xfrm>
            <a:off x="5933684" y="1183332"/>
            <a:ext cx="1315084"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RAM Needed</a:t>
            </a:r>
            <a:endParaRPr lang="en-US" sz="825" dirty="0"/>
          </a:p>
        </p:txBody>
      </p:sp>
      <p:sp>
        <p:nvSpPr>
          <p:cNvPr id="11" name="Text 9"/>
          <p:cNvSpPr/>
          <p:nvPr/>
        </p:nvSpPr>
        <p:spPr>
          <a:xfrm>
            <a:off x="7376815" y="1183332"/>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Best For</a:t>
            </a:r>
            <a:endParaRPr lang="en-US" sz="825" dirty="0"/>
          </a:p>
        </p:txBody>
      </p:sp>
      <p:sp>
        <p:nvSpPr>
          <p:cNvPr id="12" name="Text 10"/>
          <p:cNvSpPr/>
          <p:nvPr/>
        </p:nvSpPr>
        <p:spPr>
          <a:xfrm>
            <a:off x="457200" y="1596628"/>
            <a:ext cx="8229600" cy="346621"/>
          </a:xfrm>
          <a:prstGeom prst="rect">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457200" y="1938486"/>
            <a:ext cx="8229600" cy="0"/>
          </a:xfrm>
          <a:prstGeom prst="line">
            <a:avLst/>
          </a:prstGeom>
          <a:noFill/>
          <a:ln w="9525">
            <a:solidFill>
              <a:srgbClr val="E4E7ED"/>
            </a:solidFill>
            <a:prstDash val="solid"/>
          </a:ln>
        </p:spPr>
        <p:txBody>
          <a:bodyPr/>
          <a:lstStyle/>
          <a:p>
            <a:endParaRPr lang="en-US"/>
          </a:p>
        </p:txBody>
      </p:sp>
      <p:sp>
        <p:nvSpPr>
          <p:cNvPr id="14" name="Text 12"/>
          <p:cNvSpPr/>
          <p:nvPr/>
        </p:nvSpPr>
        <p:spPr>
          <a:xfrm>
            <a:off x="609600" y="1691878"/>
            <a:ext cx="1168896"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Tiny</a:t>
            </a:r>
            <a:endParaRPr lang="en-US" sz="825" dirty="0"/>
          </a:p>
        </p:txBody>
      </p:sp>
      <p:sp>
        <p:nvSpPr>
          <p:cNvPr id="15" name="Text 13"/>
          <p:cNvSpPr/>
          <p:nvPr/>
        </p:nvSpPr>
        <p:spPr>
          <a:xfrm>
            <a:off x="1897949" y="1691878"/>
            <a:ext cx="1022860"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~75 MB</a:t>
            </a:r>
            <a:endParaRPr lang="en-US" sz="825" dirty="0"/>
          </a:p>
        </p:txBody>
      </p:sp>
      <p:sp>
        <p:nvSpPr>
          <p:cNvPr id="16" name="Text 14"/>
          <p:cNvSpPr/>
          <p:nvPr/>
        </p:nvSpPr>
        <p:spPr>
          <a:xfrm>
            <a:off x="3050287" y="1691878"/>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Fastest</a:t>
            </a:r>
            <a:endParaRPr lang="en-US" sz="825" dirty="0"/>
          </a:p>
        </p:txBody>
      </p:sp>
      <p:sp>
        <p:nvSpPr>
          <p:cNvPr id="17" name="Text 15"/>
          <p:cNvSpPr/>
          <p:nvPr/>
        </p:nvSpPr>
        <p:spPr>
          <a:xfrm>
            <a:off x="4491986" y="1691878"/>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F59E0B"/>
                </a:solidFill>
                <a:latin typeface="Arial" pitchFamily="34" charset="0"/>
                <a:ea typeface="Arial" pitchFamily="34" charset="-122"/>
                <a:cs typeface="Arial" pitchFamily="34" charset="-120"/>
              </a:rPr>
              <a:t>Basic</a:t>
            </a:r>
            <a:endParaRPr lang="en-US" sz="825" dirty="0"/>
          </a:p>
        </p:txBody>
      </p:sp>
      <p:sp>
        <p:nvSpPr>
          <p:cNvPr id="18" name="Text 16"/>
          <p:cNvSpPr/>
          <p:nvPr/>
        </p:nvSpPr>
        <p:spPr>
          <a:xfrm>
            <a:off x="5933684" y="1691878"/>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~2 GB</a:t>
            </a:r>
            <a:endParaRPr lang="en-US" sz="825" dirty="0"/>
          </a:p>
        </p:txBody>
      </p:sp>
      <p:sp>
        <p:nvSpPr>
          <p:cNvPr id="19" name="Text 17"/>
          <p:cNvSpPr/>
          <p:nvPr/>
        </p:nvSpPr>
        <p:spPr>
          <a:xfrm>
            <a:off x="7376815" y="169187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Quick notes</a:t>
            </a:r>
            <a:endParaRPr lang="en-US" sz="825" dirty="0"/>
          </a:p>
        </p:txBody>
      </p:sp>
      <p:sp>
        <p:nvSpPr>
          <p:cNvPr id="20" name="Text 18"/>
          <p:cNvSpPr/>
          <p:nvPr/>
        </p:nvSpPr>
        <p:spPr>
          <a:xfrm>
            <a:off x="457200" y="2095649"/>
            <a:ext cx="8229600" cy="346621"/>
          </a:xfrm>
          <a:prstGeom prst="rect">
            <a:avLst/>
          </a:prstGeom>
          <a:solidFill>
            <a:srgbClr val="F7F8FA"/>
          </a:solidFill>
          <a:ln/>
        </p:spPr>
        <p:txBody>
          <a:bodyPr wrap="square" rtlCol="0" anchor="ctr"/>
          <a:lstStyle/>
          <a:p>
            <a:pPr marL="0" indent="0">
              <a:buNone/>
            </a:pPr>
            <a:endParaRPr lang="en-US" dirty="0"/>
          </a:p>
        </p:txBody>
      </p:sp>
      <p:sp>
        <p:nvSpPr>
          <p:cNvPr id="21" name="Shape 19"/>
          <p:cNvSpPr/>
          <p:nvPr/>
        </p:nvSpPr>
        <p:spPr>
          <a:xfrm>
            <a:off x="457200" y="2437507"/>
            <a:ext cx="8229600" cy="0"/>
          </a:xfrm>
          <a:prstGeom prst="line">
            <a:avLst/>
          </a:prstGeom>
          <a:noFill/>
          <a:ln w="9525">
            <a:solidFill>
              <a:srgbClr val="E4E7ED"/>
            </a:solidFill>
            <a:prstDash val="solid"/>
          </a:ln>
        </p:spPr>
        <p:txBody>
          <a:bodyPr/>
          <a:lstStyle/>
          <a:p>
            <a:endParaRPr lang="en-US"/>
          </a:p>
        </p:txBody>
      </p:sp>
      <p:sp>
        <p:nvSpPr>
          <p:cNvPr id="22" name="Text 20"/>
          <p:cNvSpPr/>
          <p:nvPr/>
        </p:nvSpPr>
        <p:spPr>
          <a:xfrm>
            <a:off x="609600" y="2190899"/>
            <a:ext cx="1168896"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Base</a:t>
            </a:r>
            <a:endParaRPr lang="en-US" sz="825" dirty="0"/>
          </a:p>
        </p:txBody>
      </p:sp>
      <p:sp>
        <p:nvSpPr>
          <p:cNvPr id="23" name="Text 21"/>
          <p:cNvSpPr/>
          <p:nvPr/>
        </p:nvSpPr>
        <p:spPr>
          <a:xfrm>
            <a:off x="1897949" y="2190899"/>
            <a:ext cx="1022860"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~150 MB</a:t>
            </a:r>
            <a:endParaRPr lang="en-US" sz="825" dirty="0"/>
          </a:p>
        </p:txBody>
      </p:sp>
      <p:sp>
        <p:nvSpPr>
          <p:cNvPr id="24" name="Text 22"/>
          <p:cNvSpPr/>
          <p:nvPr/>
        </p:nvSpPr>
        <p:spPr>
          <a:xfrm>
            <a:off x="3050287" y="2190899"/>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Very Fast</a:t>
            </a:r>
            <a:endParaRPr lang="en-US" sz="825" dirty="0"/>
          </a:p>
        </p:txBody>
      </p:sp>
      <p:sp>
        <p:nvSpPr>
          <p:cNvPr id="25" name="Text 23"/>
          <p:cNvSpPr/>
          <p:nvPr/>
        </p:nvSpPr>
        <p:spPr>
          <a:xfrm>
            <a:off x="4491986" y="2190899"/>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F59E0B"/>
                </a:solidFill>
                <a:latin typeface="Arial" pitchFamily="34" charset="0"/>
                <a:ea typeface="Arial" pitchFamily="34" charset="-122"/>
                <a:cs typeface="Arial" pitchFamily="34" charset="-120"/>
              </a:rPr>
              <a:t>Good</a:t>
            </a:r>
            <a:endParaRPr lang="en-US" sz="825" dirty="0"/>
          </a:p>
        </p:txBody>
      </p:sp>
      <p:sp>
        <p:nvSpPr>
          <p:cNvPr id="26" name="Text 24"/>
          <p:cNvSpPr/>
          <p:nvPr/>
        </p:nvSpPr>
        <p:spPr>
          <a:xfrm>
            <a:off x="5933684" y="2190899"/>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~4 GB</a:t>
            </a:r>
            <a:endParaRPr lang="en-US" sz="825" dirty="0"/>
          </a:p>
        </p:txBody>
      </p:sp>
      <p:sp>
        <p:nvSpPr>
          <p:cNvPr id="27" name="Text 25"/>
          <p:cNvSpPr/>
          <p:nvPr/>
        </p:nvSpPr>
        <p:spPr>
          <a:xfrm>
            <a:off x="7376815" y="2190899"/>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Daily use</a:t>
            </a:r>
            <a:endParaRPr lang="en-US" sz="825" dirty="0"/>
          </a:p>
        </p:txBody>
      </p:sp>
      <p:sp>
        <p:nvSpPr>
          <p:cNvPr id="28" name="Text 26"/>
          <p:cNvSpPr/>
          <p:nvPr/>
        </p:nvSpPr>
        <p:spPr>
          <a:xfrm>
            <a:off x="457200" y="2594670"/>
            <a:ext cx="8229600" cy="375196"/>
          </a:xfrm>
          <a:prstGeom prst="rect">
            <a:avLst/>
          </a:prstGeom>
          <a:solidFill>
            <a:srgbClr val="DCFCE7"/>
          </a:solidFill>
          <a:ln w="19050">
            <a:solidFill>
              <a:srgbClr val="059669"/>
            </a:solidFill>
          </a:ln>
        </p:spPr>
        <p:txBody>
          <a:bodyPr wrap="square" rtlCol="0" anchor="ctr"/>
          <a:lstStyle/>
          <a:p>
            <a:pPr marL="0" indent="0">
              <a:buNone/>
            </a:pPr>
            <a:endParaRPr lang="en-US" dirty="0"/>
          </a:p>
        </p:txBody>
      </p:sp>
      <p:sp>
        <p:nvSpPr>
          <p:cNvPr id="29" name="Text 27"/>
          <p:cNvSpPr/>
          <p:nvPr/>
        </p:nvSpPr>
        <p:spPr>
          <a:xfrm>
            <a:off x="628650" y="2708970"/>
            <a:ext cx="1162672"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Small</a:t>
            </a:r>
            <a:endParaRPr lang="en-US" sz="825" dirty="0"/>
          </a:p>
        </p:txBody>
      </p:sp>
      <p:sp>
        <p:nvSpPr>
          <p:cNvPr id="30" name="Text 28"/>
          <p:cNvSpPr/>
          <p:nvPr/>
        </p:nvSpPr>
        <p:spPr>
          <a:xfrm>
            <a:off x="1910950" y="2708970"/>
            <a:ext cx="1017395"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~500 MB</a:t>
            </a:r>
            <a:endParaRPr lang="en-US" sz="825" dirty="0"/>
          </a:p>
        </p:txBody>
      </p:sp>
      <p:sp>
        <p:nvSpPr>
          <p:cNvPr id="31" name="Text 29"/>
          <p:cNvSpPr/>
          <p:nvPr/>
        </p:nvSpPr>
        <p:spPr>
          <a:xfrm>
            <a:off x="3057946" y="2708970"/>
            <a:ext cx="1308101"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Fast</a:t>
            </a:r>
            <a:endParaRPr lang="en-US" sz="825" dirty="0"/>
          </a:p>
        </p:txBody>
      </p:sp>
      <p:sp>
        <p:nvSpPr>
          <p:cNvPr id="32" name="Text 30"/>
          <p:cNvSpPr/>
          <p:nvPr/>
        </p:nvSpPr>
        <p:spPr>
          <a:xfrm>
            <a:off x="4492798" y="2708970"/>
            <a:ext cx="1308101"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Very Good</a:t>
            </a:r>
            <a:endParaRPr lang="en-US" sz="825" dirty="0"/>
          </a:p>
        </p:txBody>
      </p:sp>
      <p:sp>
        <p:nvSpPr>
          <p:cNvPr id="33" name="Text 31"/>
          <p:cNvSpPr/>
          <p:nvPr/>
        </p:nvSpPr>
        <p:spPr>
          <a:xfrm>
            <a:off x="5927650" y="2708970"/>
            <a:ext cx="1308101"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~6 GB</a:t>
            </a:r>
            <a:endParaRPr lang="en-US" sz="825" dirty="0"/>
          </a:p>
        </p:txBody>
      </p:sp>
      <p:sp>
        <p:nvSpPr>
          <p:cNvPr id="34" name="Text 32"/>
          <p:cNvSpPr/>
          <p:nvPr/>
        </p:nvSpPr>
        <p:spPr>
          <a:xfrm>
            <a:off x="7363928" y="2708970"/>
            <a:ext cx="1162672" cy="146596"/>
          </a:xfrm>
          <a:prstGeom prst="rect">
            <a:avLst/>
          </a:prstGeom>
          <a:noFill/>
          <a:ln/>
        </p:spPr>
        <p:txBody>
          <a:bodyPr wrap="square" lIns="0" tIns="0" rIns="0" bIns="0" rtlCol="0" anchor="t"/>
          <a:lstStyle/>
          <a:p>
            <a:pPr marL="0" indent="0" algn="ctr">
              <a:lnSpc>
                <a:spcPts val="1155"/>
              </a:lnSpc>
              <a:buNone/>
            </a:pPr>
            <a:r>
              <a:rPr lang="en-US" sz="825" b="1" dirty="0">
                <a:solidFill>
                  <a:srgbClr val="166534"/>
                </a:solidFill>
                <a:latin typeface="Arial" pitchFamily="34" charset="0"/>
                <a:ea typeface="Arial" pitchFamily="34" charset="-122"/>
                <a:cs typeface="Arial" pitchFamily="34" charset="-120"/>
              </a:rPr>
              <a:t>RECOMMENDED</a:t>
            </a:r>
            <a:endParaRPr lang="en-US" sz="825" dirty="0"/>
          </a:p>
        </p:txBody>
      </p:sp>
      <p:sp>
        <p:nvSpPr>
          <p:cNvPr id="35" name="Text 33"/>
          <p:cNvSpPr/>
          <p:nvPr/>
        </p:nvSpPr>
        <p:spPr>
          <a:xfrm>
            <a:off x="457200" y="3122265"/>
            <a:ext cx="8229600" cy="346621"/>
          </a:xfrm>
          <a:prstGeom prst="rect">
            <a:avLst/>
          </a:prstGeom>
          <a:solidFill>
            <a:srgbClr val="FFFFFF"/>
          </a:solidFill>
          <a:ln/>
        </p:spPr>
        <p:txBody>
          <a:bodyPr wrap="square" rtlCol="0" anchor="ctr"/>
          <a:lstStyle/>
          <a:p>
            <a:pPr marL="0" indent="0">
              <a:buNone/>
            </a:pPr>
            <a:endParaRPr lang="en-US" dirty="0"/>
          </a:p>
        </p:txBody>
      </p:sp>
      <p:sp>
        <p:nvSpPr>
          <p:cNvPr id="36" name="Shape 34"/>
          <p:cNvSpPr/>
          <p:nvPr/>
        </p:nvSpPr>
        <p:spPr>
          <a:xfrm>
            <a:off x="457200" y="3464123"/>
            <a:ext cx="8229600" cy="0"/>
          </a:xfrm>
          <a:prstGeom prst="line">
            <a:avLst/>
          </a:prstGeom>
          <a:noFill/>
          <a:ln w="9525">
            <a:solidFill>
              <a:srgbClr val="E4E7ED"/>
            </a:solidFill>
            <a:prstDash val="solid"/>
          </a:ln>
        </p:spPr>
        <p:txBody>
          <a:bodyPr/>
          <a:lstStyle/>
          <a:p>
            <a:endParaRPr lang="en-US"/>
          </a:p>
        </p:txBody>
      </p:sp>
      <p:sp>
        <p:nvSpPr>
          <p:cNvPr id="37" name="Text 35"/>
          <p:cNvSpPr/>
          <p:nvPr/>
        </p:nvSpPr>
        <p:spPr>
          <a:xfrm>
            <a:off x="609600" y="3217515"/>
            <a:ext cx="1168896"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Medium</a:t>
            </a:r>
            <a:endParaRPr lang="en-US" sz="825" dirty="0"/>
          </a:p>
        </p:txBody>
      </p:sp>
      <p:sp>
        <p:nvSpPr>
          <p:cNvPr id="38" name="Text 36"/>
          <p:cNvSpPr/>
          <p:nvPr/>
        </p:nvSpPr>
        <p:spPr>
          <a:xfrm>
            <a:off x="1897949" y="3217515"/>
            <a:ext cx="1022860"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~1.5 GB</a:t>
            </a:r>
            <a:endParaRPr lang="en-US" sz="825" dirty="0"/>
          </a:p>
        </p:txBody>
      </p:sp>
      <p:sp>
        <p:nvSpPr>
          <p:cNvPr id="39" name="Text 37"/>
          <p:cNvSpPr/>
          <p:nvPr/>
        </p:nvSpPr>
        <p:spPr>
          <a:xfrm>
            <a:off x="3050287" y="3217515"/>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F59E0B"/>
                </a:solidFill>
                <a:latin typeface="Arial" pitchFamily="34" charset="0"/>
                <a:ea typeface="Arial" pitchFamily="34" charset="-122"/>
                <a:cs typeface="Arial" pitchFamily="34" charset="-120"/>
              </a:rPr>
              <a:t>Moderate</a:t>
            </a:r>
            <a:endParaRPr lang="en-US" sz="825" dirty="0"/>
          </a:p>
        </p:txBody>
      </p:sp>
      <p:sp>
        <p:nvSpPr>
          <p:cNvPr id="40" name="Text 38"/>
          <p:cNvSpPr/>
          <p:nvPr/>
        </p:nvSpPr>
        <p:spPr>
          <a:xfrm>
            <a:off x="4491986" y="3217515"/>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41" name="Text 39"/>
          <p:cNvSpPr/>
          <p:nvPr/>
        </p:nvSpPr>
        <p:spPr>
          <a:xfrm>
            <a:off x="5933684" y="3217515"/>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~8 GB</a:t>
            </a:r>
            <a:endParaRPr lang="en-US" sz="825" dirty="0"/>
          </a:p>
        </p:txBody>
      </p:sp>
      <p:sp>
        <p:nvSpPr>
          <p:cNvPr id="42" name="Text 40"/>
          <p:cNvSpPr/>
          <p:nvPr/>
        </p:nvSpPr>
        <p:spPr>
          <a:xfrm>
            <a:off x="7376815" y="321751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Technical work</a:t>
            </a:r>
            <a:endParaRPr lang="en-US" sz="825" dirty="0"/>
          </a:p>
        </p:txBody>
      </p:sp>
      <p:sp>
        <p:nvSpPr>
          <p:cNvPr id="43" name="Text 41"/>
          <p:cNvSpPr/>
          <p:nvPr/>
        </p:nvSpPr>
        <p:spPr>
          <a:xfrm>
            <a:off x="457200" y="3621286"/>
            <a:ext cx="8229600" cy="337096"/>
          </a:xfrm>
          <a:prstGeom prst="rect">
            <a:avLst/>
          </a:prstGeom>
          <a:solidFill>
            <a:srgbClr val="F7F8FA"/>
          </a:solidFill>
          <a:ln/>
        </p:spPr>
        <p:txBody>
          <a:bodyPr wrap="square" rtlCol="0" anchor="ctr"/>
          <a:lstStyle/>
          <a:p>
            <a:pPr marL="0" indent="0">
              <a:buNone/>
            </a:pPr>
            <a:endParaRPr lang="en-US" dirty="0"/>
          </a:p>
        </p:txBody>
      </p:sp>
      <p:sp>
        <p:nvSpPr>
          <p:cNvPr id="44" name="Text 42"/>
          <p:cNvSpPr/>
          <p:nvPr/>
        </p:nvSpPr>
        <p:spPr>
          <a:xfrm>
            <a:off x="609600" y="3716536"/>
            <a:ext cx="1168896"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Large</a:t>
            </a:r>
            <a:endParaRPr lang="en-US" sz="825" dirty="0"/>
          </a:p>
        </p:txBody>
      </p:sp>
      <p:sp>
        <p:nvSpPr>
          <p:cNvPr id="45" name="Text 43"/>
          <p:cNvSpPr/>
          <p:nvPr/>
        </p:nvSpPr>
        <p:spPr>
          <a:xfrm>
            <a:off x="1897949" y="3716536"/>
            <a:ext cx="1022860"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~3 GB</a:t>
            </a:r>
            <a:endParaRPr lang="en-US" sz="825" dirty="0"/>
          </a:p>
        </p:txBody>
      </p:sp>
      <p:sp>
        <p:nvSpPr>
          <p:cNvPr id="46" name="Text 44"/>
          <p:cNvSpPr/>
          <p:nvPr/>
        </p:nvSpPr>
        <p:spPr>
          <a:xfrm>
            <a:off x="3050287" y="3716536"/>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DC2626"/>
                </a:solidFill>
                <a:latin typeface="Arial" pitchFamily="34" charset="0"/>
                <a:ea typeface="Arial" pitchFamily="34" charset="-122"/>
                <a:cs typeface="Arial" pitchFamily="34" charset="-120"/>
              </a:rPr>
              <a:t>Slower</a:t>
            </a:r>
            <a:endParaRPr lang="en-US" sz="825" dirty="0"/>
          </a:p>
        </p:txBody>
      </p:sp>
      <p:sp>
        <p:nvSpPr>
          <p:cNvPr id="47" name="Text 45"/>
          <p:cNvSpPr/>
          <p:nvPr/>
        </p:nvSpPr>
        <p:spPr>
          <a:xfrm>
            <a:off x="4491986" y="3716536"/>
            <a:ext cx="1315084" cy="146596"/>
          </a:xfrm>
          <a:prstGeom prst="rect">
            <a:avLst/>
          </a:prstGeom>
          <a:noFill/>
          <a:ln/>
        </p:spPr>
        <p:txBody>
          <a:bodyPr wrap="square" lIns="0" tIns="0" rIns="0" bIns="0" rtlCol="0" anchor="t"/>
          <a:lstStyle/>
          <a:p>
            <a:pPr marL="0" indent="0" algn="ctr">
              <a:lnSpc>
                <a:spcPts val="1155"/>
              </a:lnSpc>
              <a:buNone/>
            </a:pPr>
            <a:r>
              <a:rPr lang="en-US" sz="825" b="1" dirty="0">
                <a:solidFill>
                  <a:srgbClr val="059669"/>
                </a:solidFill>
                <a:latin typeface="Arial" pitchFamily="34" charset="0"/>
                <a:ea typeface="Arial" pitchFamily="34" charset="-122"/>
                <a:cs typeface="Arial" pitchFamily="34" charset="-120"/>
              </a:rPr>
              <a:t>Best</a:t>
            </a:r>
            <a:endParaRPr lang="en-US" sz="825" dirty="0"/>
          </a:p>
        </p:txBody>
      </p:sp>
      <p:sp>
        <p:nvSpPr>
          <p:cNvPr id="48" name="Text 46"/>
          <p:cNvSpPr/>
          <p:nvPr/>
        </p:nvSpPr>
        <p:spPr>
          <a:xfrm>
            <a:off x="5933684" y="3716536"/>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~12 GB</a:t>
            </a:r>
            <a:endParaRPr lang="en-US" sz="825" dirty="0"/>
          </a:p>
        </p:txBody>
      </p:sp>
      <p:sp>
        <p:nvSpPr>
          <p:cNvPr id="49" name="Text 47"/>
          <p:cNvSpPr/>
          <p:nvPr/>
        </p:nvSpPr>
        <p:spPr>
          <a:xfrm>
            <a:off x="7376815" y="371653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Max accuracy</a:t>
            </a:r>
            <a:endParaRPr lang="en-US" sz="825" dirty="0"/>
          </a:p>
        </p:txBody>
      </p:sp>
      <p:sp>
        <p:nvSpPr>
          <p:cNvPr id="50" name="Text 48"/>
          <p:cNvSpPr/>
          <p:nvPr/>
        </p:nvSpPr>
        <p:spPr>
          <a:xfrm>
            <a:off x="457200" y="4263182"/>
            <a:ext cx="2628900" cy="784771"/>
          </a:xfrm>
          <a:prstGeom prst="rect">
            <a:avLst/>
          </a:prstGeom>
          <a:solidFill>
            <a:srgbClr val="1A1F2E"/>
          </a:solidFill>
          <a:ln/>
        </p:spPr>
        <p:txBody>
          <a:bodyPr wrap="square" rtlCol="0" anchor="ctr"/>
          <a:lstStyle/>
          <a:p>
            <a:pPr marL="0" indent="0">
              <a:buNone/>
            </a:pPr>
            <a:endParaRPr lang="en-US" dirty="0"/>
          </a:p>
        </p:txBody>
      </p:sp>
      <p:sp>
        <p:nvSpPr>
          <p:cNvPr id="51" name="Text 49"/>
          <p:cNvSpPr/>
          <p:nvPr/>
        </p:nvSpPr>
        <p:spPr>
          <a:xfrm>
            <a:off x="590550" y="4396532"/>
            <a:ext cx="24094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APPLE SILICON</a:t>
            </a:r>
            <a:endParaRPr lang="en-US" sz="825" dirty="0"/>
          </a:p>
        </p:txBody>
      </p:sp>
      <p:sp>
        <p:nvSpPr>
          <p:cNvPr id="52" name="Text 50"/>
          <p:cNvSpPr/>
          <p:nvPr/>
        </p:nvSpPr>
        <p:spPr>
          <a:xfrm>
            <a:off x="590550" y="4600277"/>
            <a:ext cx="24094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70000"/>
                  </a:srgbClr>
                </a:solidFill>
                <a:latin typeface="Arial" pitchFamily="34" charset="0"/>
                <a:ea typeface="Arial" pitchFamily="34" charset="-122"/>
                <a:cs typeface="Arial" pitchFamily="34" charset="-120"/>
              </a:rPr>
              <a:t>M1/M2/M3/M4 Macs can run Medium or Large efficiently due to unified memory.</a:t>
            </a:r>
            <a:endParaRPr lang="en-US" sz="825" dirty="0"/>
          </a:p>
        </p:txBody>
      </p:sp>
      <p:sp>
        <p:nvSpPr>
          <p:cNvPr id="53" name="Text 51"/>
          <p:cNvSpPr/>
          <p:nvPr/>
        </p:nvSpPr>
        <p:spPr>
          <a:xfrm>
            <a:off x="3238500" y="4263182"/>
            <a:ext cx="2628900" cy="784771"/>
          </a:xfrm>
          <a:prstGeom prst="rect">
            <a:avLst/>
          </a:prstGeom>
          <a:solidFill>
            <a:srgbClr val="1A1F2E"/>
          </a:solidFill>
          <a:ln/>
        </p:spPr>
        <p:txBody>
          <a:bodyPr wrap="square" rtlCol="0" anchor="ctr"/>
          <a:lstStyle/>
          <a:p>
            <a:pPr marL="0" indent="0">
              <a:buNone/>
            </a:pPr>
            <a:endParaRPr lang="en-US" dirty="0"/>
          </a:p>
        </p:txBody>
      </p:sp>
      <p:sp>
        <p:nvSpPr>
          <p:cNvPr id="54" name="Text 52"/>
          <p:cNvSpPr/>
          <p:nvPr/>
        </p:nvSpPr>
        <p:spPr>
          <a:xfrm>
            <a:off x="3371850" y="4396532"/>
            <a:ext cx="24094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WINDOWS + GPU</a:t>
            </a:r>
            <a:endParaRPr lang="en-US" sz="825" dirty="0"/>
          </a:p>
        </p:txBody>
      </p:sp>
      <p:sp>
        <p:nvSpPr>
          <p:cNvPr id="55" name="Text 53"/>
          <p:cNvSpPr/>
          <p:nvPr/>
        </p:nvSpPr>
        <p:spPr>
          <a:xfrm>
            <a:off x="3371850" y="4600277"/>
            <a:ext cx="24094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70000"/>
                  </a:srgbClr>
                </a:solidFill>
                <a:latin typeface="Arial" pitchFamily="34" charset="0"/>
                <a:ea typeface="Arial" pitchFamily="34" charset="-122"/>
                <a:cs typeface="Arial" pitchFamily="34" charset="-120"/>
              </a:rPr>
              <a:t>NVIDIA RTX cards with 8GB+ VRAM handle Medium/Large well with CUDA.</a:t>
            </a:r>
            <a:endParaRPr lang="en-US" sz="825" dirty="0"/>
          </a:p>
        </p:txBody>
      </p:sp>
      <p:sp>
        <p:nvSpPr>
          <p:cNvPr id="56" name="Text 54"/>
          <p:cNvSpPr/>
          <p:nvPr/>
        </p:nvSpPr>
        <p:spPr>
          <a:xfrm>
            <a:off x="6019800" y="4263182"/>
            <a:ext cx="2667000" cy="784771"/>
          </a:xfrm>
          <a:prstGeom prst="rect">
            <a:avLst/>
          </a:prstGeom>
          <a:solidFill>
            <a:srgbClr val="FEF3C7"/>
          </a:solidFill>
          <a:ln/>
        </p:spPr>
        <p:txBody>
          <a:bodyPr wrap="square" rtlCol="0" anchor="ctr"/>
          <a:lstStyle/>
          <a:p>
            <a:pPr marL="0" indent="0">
              <a:buNone/>
            </a:pPr>
            <a:endParaRPr lang="en-US" dirty="0"/>
          </a:p>
        </p:txBody>
      </p:sp>
      <p:sp>
        <p:nvSpPr>
          <p:cNvPr id="57" name="Shape 55"/>
          <p:cNvSpPr/>
          <p:nvPr/>
        </p:nvSpPr>
        <p:spPr>
          <a:xfrm>
            <a:off x="6038850" y="4263182"/>
            <a:ext cx="0" cy="784771"/>
          </a:xfrm>
          <a:prstGeom prst="line">
            <a:avLst/>
          </a:prstGeom>
          <a:noFill/>
          <a:ln w="38100">
            <a:solidFill>
              <a:srgbClr val="F59E0B"/>
            </a:solidFill>
            <a:prstDash val="solid"/>
          </a:ln>
        </p:spPr>
        <p:txBody>
          <a:bodyPr/>
          <a:lstStyle/>
          <a:p>
            <a:endParaRPr lang="en-US"/>
          </a:p>
        </p:txBody>
      </p:sp>
      <p:sp>
        <p:nvSpPr>
          <p:cNvPr id="58" name="Text 56"/>
          <p:cNvSpPr/>
          <p:nvPr/>
        </p:nvSpPr>
        <p:spPr>
          <a:xfrm>
            <a:off x="6191250" y="4396532"/>
            <a:ext cx="24094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92400E"/>
                </a:solidFill>
                <a:latin typeface="Arial" pitchFamily="34" charset="0"/>
                <a:ea typeface="Arial" pitchFamily="34" charset="-122"/>
                <a:cs typeface="Arial" pitchFamily="34" charset="-120"/>
              </a:rPr>
              <a:t>CPU-ONLY</a:t>
            </a:r>
            <a:endParaRPr lang="en-US" sz="825" dirty="0"/>
          </a:p>
        </p:txBody>
      </p:sp>
      <p:sp>
        <p:nvSpPr>
          <p:cNvPr id="59" name="Text 57"/>
          <p:cNvSpPr/>
          <p:nvPr/>
        </p:nvSpPr>
        <p:spPr>
          <a:xfrm>
            <a:off x="6191250" y="4600277"/>
            <a:ext cx="2409444" cy="314325"/>
          </a:xfrm>
          <a:prstGeom prst="rect">
            <a:avLst/>
          </a:prstGeom>
          <a:noFill/>
          <a:ln/>
        </p:spPr>
        <p:txBody>
          <a:bodyPr wrap="square" lIns="0" tIns="0" rIns="0" bIns="0" rtlCol="0" anchor="t"/>
          <a:lstStyle/>
          <a:p>
            <a:pPr marL="0" indent="0" algn="l">
              <a:lnSpc>
                <a:spcPts val="1238"/>
              </a:lnSpc>
              <a:buNone/>
            </a:pPr>
            <a:r>
              <a:rPr lang="en-US" sz="825" dirty="0">
                <a:solidFill>
                  <a:srgbClr val="92400E"/>
                </a:solidFill>
                <a:latin typeface="Arial" pitchFamily="34" charset="0"/>
                <a:ea typeface="Arial" pitchFamily="34" charset="-122"/>
                <a:cs typeface="Arial" pitchFamily="34" charset="-120"/>
              </a:rPr>
              <a:t>Stick with Small or Base model for acceptable performance.</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PRO TIPS</a:t>
            </a:r>
            <a:endParaRPr lang="en-US" sz="825" dirty="0"/>
          </a:p>
        </p:txBody>
      </p:sp>
      <p:sp>
        <p:nvSpPr>
          <p:cNvPr id="3" name="Text 1"/>
          <p:cNvSpPr/>
          <p:nvPr/>
        </p:nvSpPr>
        <p:spPr>
          <a:xfrm>
            <a:off x="457200" y="470446"/>
            <a:ext cx="4206812" cy="266700"/>
          </a:xfrm>
          <a:prstGeom prst="rect">
            <a:avLst/>
          </a:prstGeom>
          <a:noFill/>
          <a:ln/>
        </p:spPr>
        <p:txBody>
          <a:bodyPr wrap="square" lIns="0" tIns="0" rIns="0" bIns="0" rtlCol="0" anchor="t"/>
          <a:lstStyle/>
          <a:p>
            <a:pPr marL="0" indent="0" algn="l">
              <a:lnSpc>
                <a:spcPts val="2100"/>
              </a:lnSpc>
              <a:buNone/>
            </a:pPr>
            <a:r>
              <a:rPr lang="en-US" sz="2100" dirty="0">
                <a:solidFill>
                  <a:srgbClr val="FFFFFF"/>
                </a:solidFill>
                <a:latin typeface="Georgia" pitchFamily="34" charset="0"/>
                <a:ea typeface="Georgia" pitchFamily="34" charset="-122"/>
                <a:cs typeface="Georgia" pitchFamily="34" charset="-120"/>
              </a:rPr>
              <a:t>Getting the Most from SuperWhisper</a:t>
            </a:r>
            <a:endParaRPr lang="en-US" sz="2100" dirty="0"/>
          </a:p>
        </p:txBody>
      </p:sp>
      <p:sp>
        <p:nvSpPr>
          <p:cNvPr id="4" name="Text 2"/>
          <p:cNvSpPr/>
          <p:nvPr/>
        </p:nvSpPr>
        <p:spPr>
          <a:xfrm>
            <a:off x="457200" y="1295102"/>
            <a:ext cx="1957388" cy="1986558"/>
          </a:xfrm>
          <a:prstGeom prst="rect">
            <a:avLst/>
          </a:prstGeom>
          <a:solidFill>
            <a:srgbClr val="252B3D"/>
          </a:solidFill>
          <a:ln/>
        </p:spPr>
        <p:txBody>
          <a:bodyPr wrap="square" rtlCol="0" anchor="ctr"/>
          <a:lstStyle/>
          <a:p>
            <a:pPr marL="0" indent="0">
              <a:buNone/>
            </a:pPr>
            <a:endParaRPr lang="en-US" dirty="0"/>
          </a:p>
        </p:txBody>
      </p:sp>
      <p:sp>
        <p:nvSpPr>
          <p:cNvPr id="5" name="Text 3"/>
          <p:cNvSpPr/>
          <p:nvPr/>
        </p:nvSpPr>
        <p:spPr>
          <a:xfrm>
            <a:off x="628650" y="1466552"/>
            <a:ext cx="304800" cy="3048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747713" y="1525637"/>
            <a:ext cx="68009"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Georgia" pitchFamily="34" charset="0"/>
                <a:ea typeface="Georgia" pitchFamily="34" charset="-122"/>
                <a:cs typeface="Georgia" pitchFamily="34" charset="-120"/>
              </a:rPr>
              <a:t>1</a:t>
            </a:r>
            <a:endParaRPr lang="en-US" sz="1050" dirty="0"/>
          </a:p>
        </p:txBody>
      </p:sp>
      <p:sp>
        <p:nvSpPr>
          <p:cNvPr id="7" name="Text 5"/>
          <p:cNvSpPr/>
          <p:nvPr/>
        </p:nvSpPr>
        <p:spPr>
          <a:xfrm>
            <a:off x="628650" y="2038052"/>
            <a:ext cx="1646777" cy="173236"/>
          </a:xfrm>
          <a:prstGeom prst="rect">
            <a:avLst/>
          </a:prstGeom>
          <a:noFill/>
          <a:ln/>
        </p:spPr>
        <p:txBody>
          <a:bodyPr wrap="square" lIns="0" tIns="0" rIns="0" bIns="0" rtlCol="0" anchor="t"/>
          <a:lstStyle/>
          <a:p>
            <a:pPr marL="0" indent="0" algn="l">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Speak Naturally</a:t>
            </a:r>
            <a:endParaRPr lang="en-US" sz="975" dirty="0"/>
          </a:p>
        </p:txBody>
      </p:sp>
      <p:sp>
        <p:nvSpPr>
          <p:cNvPr id="8" name="Text 6"/>
          <p:cNvSpPr/>
          <p:nvPr/>
        </p:nvSpPr>
        <p:spPr>
          <a:xfrm>
            <a:off x="628650" y="2439888"/>
            <a:ext cx="1646777" cy="670322"/>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Talk at a conversational pace. Whisper handles natural speech patterns, pauses, and filler words gracefully.</a:t>
            </a:r>
            <a:endParaRPr lang="en-US" sz="825" dirty="0"/>
          </a:p>
        </p:txBody>
      </p:sp>
      <p:sp>
        <p:nvSpPr>
          <p:cNvPr id="9" name="Text 7"/>
          <p:cNvSpPr/>
          <p:nvPr/>
        </p:nvSpPr>
        <p:spPr>
          <a:xfrm>
            <a:off x="2547938" y="1295102"/>
            <a:ext cx="1957388" cy="1986558"/>
          </a:xfrm>
          <a:prstGeom prst="rect">
            <a:avLst/>
          </a:prstGeom>
          <a:solidFill>
            <a:srgbClr val="252B3D"/>
          </a:solidFill>
          <a:ln/>
        </p:spPr>
        <p:txBody>
          <a:bodyPr wrap="square" rtlCol="0" anchor="ctr"/>
          <a:lstStyle/>
          <a:p>
            <a:pPr marL="0" indent="0">
              <a:buNone/>
            </a:pPr>
            <a:endParaRPr lang="en-US" dirty="0"/>
          </a:p>
        </p:txBody>
      </p:sp>
      <p:sp>
        <p:nvSpPr>
          <p:cNvPr id="10" name="Text 8"/>
          <p:cNvSpPr/>
          <p:nvPr/>
        </p:nvSpPr>
        <p:spPr>
          <a:xfrm>
            <a:off x="2719388" y="1466552"/>
            <a:ext cx="304800" cy="3048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2838450" y="1525637"/>
            <a:ext cx="68009"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Georgia" pitchFamily="34" charset="0"/>
                <a:ea typeface="Georgia" pitchFamily="34" charset="-122"/>
                <a:cs typeface="Georgia" pitchFamily="34" charset="-120"/>
              </a:rPr>
              <a:t>2</a:t>
            </a:r>
            <a:endParaRPr lang="en-US" sz="1050" dirty="0"/>
          </a:p>
        </p:txBody>
      </p:sp>
      <p:sp>
        <p:nvSpPr>
          <p:cNvPr id="12" name="Text 10"/>
          <p:cNvSpPr/>
          <p:nvPr/>
        </p:nvSpPr>
        <p:spPr>
          <a:xfrm>
            <a:off x="2719388" y="2038052"/>
            <a:ext cx="1646777" cy="173236"/>
          </a:xfrm>
          <a:prstGeom prst="rect">
            <a:avLst/>
          </a:prstGeom>
          <a:noFill/>
          <a:ln/>
        </p:spPr>
        <p:txBody>
          <a:bodyPr wrap="square" lIns="0" tIns="0" rIns="0" bIns="0" rtlCol="0" anchor="t"/>
          <a:lstStyle/>
          <a:p>
            <a:pPr marL="0" indent="0" algn="l">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Use Pauses Strategically</a:t>
            </a:r>
            <a:endParaRPr lang="en-US" sz="975" dirty="0"/>
          </a:p>
        </p:txBody>
      </p:sp>
      <p:sp>
        <p:nvSpPr>
          <p:cNvPr id="13" name="Text 11"/>
          <p:cNvSpPr/>
          <p:nvPr/>
        </p:nvSpPr>
        <p:spPr>
          <a:xfrm>
            <a:off x="2719388" y="2439888"/>
            <a:ext cx="1646777" cy="670322"/>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Brief pauses help with punctuation. Longer pauses (2-3 sec) often trigger paragraph breaks automatically.</a:t>
            </a:r>
            <a:endParaRPr lang="en-US" sz="825" dirty="0"/>
          </a:p>
        </p:txBody>
      </p:sp>
      <p:sp>
        <p:nvSpPr>
          <p:cNvPr id="14" name="Text 12"/>
          <p:cNvSpPr/>
          <p:nvPr/>
        </p:nvSpPr>
        <p:spPr>
          <a:xfrm>
            <a:off x="4638675" y="1295102"/>
            <a:ext cx="1957388" cy="1986558"/>
          </a:xfrm>
          <a:prstGeom prst="rect">
            <a:avLst/>
          </a:prstGeom>
          <a:solidFill>
            <a:srgbClr val="252B3D"/>
          </a:solidFill>
          <a:ln/>
        </p:spPr>
        <p:txBody>
          <a:bodyPr wrap="square" rtlCol="0" anchor="ctr"/>
          <a:lstStyle/>
          <a:p>
            <a:pPr marL="0" indent="0">
              <a:buNone/>
            </a:pPr>
            <a:endParaRPr lang="en-US" dirty="0"/>
          </a:p>
        </p:txBody>
      </p:sp>
      <p:sp>
        <p:nvSpPr>
          <p:cNvPr id="15" name="Text 13"/>
          <p:cNvSpPr/>
          <p:nvPr/>
        </p:nvSpPr>
        <p:spPr>
          <a:xfrm>
            <a:off x="4810125" y="1466552"/>
            <a:ext cx="304800" cy="3048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4929188" y="1525637"/>
            <a:ext cx="68009"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Georgia" pitchFamily="34" charset="0"/>
                <a:ea typeface="Georgia" pitchFamily="34" charset="-122"/>
                <a:cs typeface="Georgia" pitchFamily="34" charset="-120"/>
              </a:rPr>
              <a:t>3</a:t>
            </a:r>
            <a:endParaRPr lang="en-US" sz="1050" dirty="0"/>
          </a:p>
        </p:txBody>
      </p:sp>
      <p:sp>
        <p:nvSpPr>
          <p:cNvPr id="17" name="Text 15"/>
          <p:cNvSpPr/>
          <p:nvPr/>
        </p:nvSpPr>
        <p:spPr>
          <a:xfrm>
            <a:off x="4810125" y="2038052"/>
            <a:ext cx="1646777" cy="173236"/>
          </a:xfrm>
          <a:prstGeom prst="rect">
            <a:avLst/>
          </a:prstGeom>
          <a:noFill/>
          <a:ln/>
        </p:spPr>
        <p:txBody>
          <a:bodyPr wrap="square" lIns="0" tIns="0" rIns="0" bIns="0" rtlCol="0" anchor="t"/>
          <a:lstStyle/>
          <a:p>
            <a:pPr marL="0" indent="0" algn="l">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Custom Vocabulary</a:t>
            </a:r>
            <a:endParaRPr lang="en-US" sz="975" dirty="0"/>
          </a:p>
        </p:txBody>
      </p:sp>
      <p:sp>
        <p:nvSpPr>
          <p:cNvPr id="18" name="Text 16"/>
          <p:cNvSpPr/>
          <p:nvPr/>
        </p:nvSpPr>
        <p:spPr>
          <a:xfrm>
            <a:off x="4810125" y="2439888"/>
            <a:ext cx="1646777" cy="670322"/>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Add technical terms, project names, and acronyms to improve recognition of domain-specific language.</a:t>
            </a:r>
            <a:endParaRPr lang="en-US" sz="825" dirty="0"/>
          </a:p>
        </p:txBody>
      </p:sp>
      <p:sp>
        <p:nvSpPr>
          <p:cNvPr id="19" name="Text 17"/>
          <p:cNvSpPr/>
          <p:nvPr/>
        </p:nvSpPr>
        <p:spPr>
          <a:xfrm>
            <a:off x="6729413" y="1295102"/>
            <a:ext cx="1957388" cy="1986558"/>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6900863" y="1466552"/>
            <a:ext cx="304800" cy="304800"/>
          </a:xfrm>
          <a:prstGeom prst="rect">
            <a:avLst/>
          </a:prstGeom>
          <a:solidFill>
            <a:srgbClr val="C9A227"/>
          </a:solidFill>
          <a:ln/>
        </p:spPr>
        <p:txBody>
          <a:bodyPr wrap="square" rtlCol="0" anchor="ctr"/>
          <a:lstStyle/>
          <a:p>
            <a:pPr marL="0" indent="0">
              <a:buNone/>
            </a:pPr>
            <a:endParaRPr lang="en-US" dirty="0"/>
          </a:p>
        </p:txBody>
      </p:sp>
      <p:sp>
        <p:nvSpPr>
          <p:cNvPr id="21" name="Text 19"/>
          <p:cNvSpPr/>
          <p:nvPr/>
        </p:nvSpPr>
        <p:spPr>
          <a:xfrm>
            <a:off x="7019925" y="1525637"/>
            <a:ext cx="68009"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Georgia" pitchFamily="34" charset="0"/>
                <a:ea typeface="Georgia" pitchFamily="34" charset="-122"/>
                <a:cs typeface="Georgia" pitchFamily="34" charset="-120"/>
              </a:rPr>
              <a:t>4</a:t>
            </a:r>
            <a:endParaRPr lang="en-US" sz="1050" dirty="0"/>
          </a:p>
        </p:txBody>
      </p:sp>
      <p:sp>
        <p:nvSpPr>
          <p:cNvPr id="22" name="Text 20"/>
          <p:cNvSpPr/>
          <p:nvPr/>
        </p:nvSpPr>
        <p:spPr>
          <a:xfrm>
            <a:off x="6900863" y="2038052"/>
            <a:ext cx="1646777" cy="173236"/>
          </a:xfrm>
          <a:prstGeom prst="rect">
            <a:avLst/>
          </a:prstGeom>
          <a:noFill/>
          <a:ln/>
        </p:spPr>
        <p:txBody>
          <a:bodyPr wrap="square" lIns="0" tIns="0" rIns="0" bIns="0" rtlCol="0" anchor="t"/>
          <a:lstStyle/>
          <a:p>
            <a:pPr marL="0" indent="0" algn="l">
              <a:lnSpc>
                <a:spcPts val="1365"/>
              </a:lnSpc>
              <a:spcAft>
                <a:spcPts val="600"/>
              </a:spcAft>
              <a:buNone/>
            </a:pPr>
            <a:r>
              <a:rPr lang="en-US" sz="975" dirty="0">
                <a:solidFill>
                  <a:srgbClr val="FFFFFF"/>
                </a:solidFill>
                <a:latin typeface="Georgia" pitchFamily="34" charset="0"/>
                <a:ea typeface="Georgia" pitchFamily="34" charset="-122"/>
                <a:cs typeface="Georgia" pitchFamily="34" charset="-120"/>
              </a:rPr>
              <a:t>Master the Hotkey</a:t>
            </a:r>
            <a:endParaRPr lang="en-US" sz="975" dirty="0"/>
          </a:p>
        </p:txBody>
      </p:sp>
      <p:sp>
        <p:nvSpPr>
          <p:cNvPr id="23" name="Text 21"/>
          <p:cNvSpPr/>
          <p:nvPr/>
        </p:nvSpPr>
        <p:spPr>
          <a:xfrm>
            <a:off x="6900863" y="2439888"/>
            <a:ext cx="1646777" cy="670322"/>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Mac: Hold Fn key to record</a:t>
            </a:r>
            <a:endParaRPr lang="en-US" sz="825" dirty="0"/>
          </a:p>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Windows: Ctrl+Shift+Space</a:t>
            </a:r>
            <a:endParaRPr lang="en-US" sz="825" dirty="0"/>
          </a:p>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Customize in preferences for comfort.</a:t>
            </a:r>
            <a:endParaRPr lang="en-US" sz="825" dirty="0"/>
          </a:p>
        </p:txBody>
      </p:sp>
      <p:sp>
        <p:nvSpPr>
          <p:cNvPr id="24" name="Text 22"/>
          <p:cNvSpPr/>
          <p:nvPr/>
        </p:nvSpPr>
        <p:spPr>
          <a:xfrm>
            <a:off x="457200" y="3915817"/>
            <a:ext cx="2660600" cy="960983"/>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25" name="Text 23"/>
          <p:cNvSpPr/>
          <p:nvPr/>
        </p:nvSpPr>
        <p:spPr>
          <a:xfrm>
            <a:off x="600075" y="4058692"/>
            <a:ext cx="242234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QUICK TIP: PUNCTUATION</a:t>
            </a:r>
            <a:endParaRPr lang="en-US" sz="825" dirty="0"/>
          </a:p>
        </p:txBody>
      </p:sp>
      <p:sp>
        <p:nvSpPr>
          <p:cNvPr id="26" name="Text 24"/>
          <p:cNvSpPr/>
          <p:nvPr/>
        </p:nvSpPr>
        <p:spPr>
          <a:xfrm>
            <a:off x="600075" y="4262438"/>
            <a:ext cx="2422347" cy="471488"/>
          </a:xfrm>
          <a:prstGeom prst="rect">
            <a:avLst/>
          </a:prstGeom>
          <a:noFill/>
          <a:ln/>
        </p:spPr>
        <p:txBody>
          <a:bodyPr wrap="square" lIns="0" tIns="0" rIns="0" bIns="0" rtlCol="0" anchor="t"/>
          <a:lstStyle/>
          <a:p>
            <a:pPr marL="0" indent="0" algn="l">
              <a:lnSpc>
                <a:spcPts val="1238"/>
              </a:lnSpc>
              <a:buNone/>
            </a:pPr>
            <a:r>
              <a:rPr lang="en-US" sz="825" dirty="0">
                <a:solidFill>
                  <a:srgbClr val="FFFFFF">
                    <a:alpha val="70000"/>
                  </a:srgbClr>
                </a:solidFill>
                <a:latin typeface="Arial" pitchFamily="34" charset="0"/>
                <a:ea typeface="Arial" pitchFamily="34" charset="-122"/>
                <a:cs typeface="Arial" pitchFamily="34" charset="-120"/>
              </a:rPr>
              <a:t>Say "period", "comma", "question mark" for explicit punctuation. Or let Whisper auto-punctuate based on context.</a:t>
            </a:r>
            <a:endParaRPr lang="en-US" sz="825" dirty="0"/>
          </a:p>
        </p:txBody>
      </p:sp>
      <p:sp>
        <p:nvSpPr>
          <p:cNvPr id="27" name="Text 25"/>
          <p:cNvSpPr/>
          <p:nvPr/>
        </p:nvSpPr>
        <p:spPr>
          <a:xfrm>
            <a:off x="3251150" y="3915817"/>
            <a:ext cx="2660600" cy="960983"/>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28" name="Text 26"/>
          <p:cNvSpPr/>
          <p:nvPr/>
        </p:nvSpPr>
        <p:spPr>
          <a:xfrm>
            <a:off x="3394025" y="4058692"/>
            <a:ext cx="242234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QUICK TIP: ENVIRONMENT</a:t>
            </a:r>
            <a:endParaRPr lang="en-US" sz="825" dirty="0"/>
          </a:p>
        </p:txBody>
      </p:sp>
      <p:sp>
        <p:nvSpPr>
          <p:cNvPr id="29" name="Text 27"/>
          <p:cNvSpPr/>
          <p:nvPr/>
        </p:nvSpPr>
        <p:spPr>
          <a:xfrm>
            <a:off x="3394025" y="4262438"/>
            <a:ext cx="2422347" cy="471488"/>
          </a:xfrm>
          <a:prstGeom prst="rect">
            <a:avLst/>
          </a:prstGeom>
          <a:noFill/>
          <a:ln/>
        </p:spPr>
        <p:txBody>
          <a:bodyPr wrap="square" lIns="0" tIns="0" rIns="0" bIns="0" rtlCol="0" anchor="t"/>
          <a:lstStyle/>
          <a:p>
            <a:pPr marL="0" indent="0" algn="l">
              <a:lnSpc>
                <a:spcPts val="1238"/>
              </a:lnSpc>
              <a:buNone/>
            </a:pPr>
            <a:r>
              <a:rPr lang="en-US" sz="825" dirty="0">
                <a:solidFill>
                  <a:srgbClr val="FFFFFF">
                    <a:alpha val="70000"/>
                  </a:srgbClr>
                </a:solidFill>
                <a:latin typeface="Arial" pitchFamily="34" charset="0"/>
                <a:ea typeface="Arial" pitchFamily="34" charset="-122"/>
                <a:cs typeface="Arial" pitchFamily="34" charset="-120"/>
              </a:rPr>
              <a:t>Quiet environment helps accuracy. A good microphone matters more than model size for clarity.</a:t>
            </a:r>
            <a:endParaRPr lang="en-US" sz="825" dirty="0"/>
          </a:p>
        </p:txBody>
      </p:sp>
      <p:sp>
        <p:nvSpPr>
          <p:cNvPr id="30" name="Text 28"/>
          <p:cNvSpPr/>
          <p:nvPr/>
        </p:nvSpPr>
        <p:spPr>
          <a:xfrm>
            <a:off x="6045101" y="4003923"/>
            <a:ext cx="2641550" cy="784771"/>
          </a:xfrm>
          <a:prstGeom prst="rect">
            <a:avLst/>
          </a:prstGeom>
          <a:solidFill>
            <a:srgbClr val="059669"/>
          </a:solidFill>
          <a:ln/>
        </p:spPr>
        <p:txBody>
          <a:bodyPr wrap="square" rtlCol="0" anchor="ctr"/>
          <a:lstStyle/>
          <a:p>
            <a:pPr marL="0" indent="0">
              <a:buNone/>
            </a:pPr>
            <a:endParaRPr lang="en-US" dirty="0"/>
          </a:p>
        </p:txBody>
      </p:sp>
      <p:sp>
        <p:nvSpPr>
          <p:cNvPr id="31" name="Text 29"/>
          <p:cNvSpPr/>
          <p:nvPr/>
        </p:nvSpPr>
        <p:spPr>
          <a:xfrm>
            <a:off x="6178451" y="4137273"/>
            <a:ext cx="242234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KEYBOARD SHORTCUTS</a:t>
            </a:r>
            <a:endParaRPr lang="en-US" sz="825" dirty="0"/>
          </a:p>
        </p:txBody>
      </p:sp>
      <p:sp>
        <p:nvSpPr>
          <p:cNvPr id="32" name="Text 30"/>
          <p:cNvSpPr/>
          <p:nvPr/>
        </p:nvSpPr>
        <p:spPr>
          <a:xfrm>
            <a:off x="6178451" y="4341019"/>
            <a:ext cx="2422347"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90000"/>
                  </a:srgbClr>
                </a:solidFill>
                <a:latin typeface="Arial" pitchFamily="34" charset="0"/>
                <a:ea typeface="Arial" pitchFamily="34" charset="-122"/>
                <a:cs typeface="Arial" pitchFamily="34" charset="-120"/>
              </a:rPr>
              <a:t>Escape = Cancel recording</a:t>
            </a:r>
            <a:endParaRPr lang="en-US" sz="825" dirty="0"/>
          </a:p>
          <a:p>
            <a:pPr marL="0" indent="0" algn="l">
              <a:lnSpc>
                <a:spcPts val="1238"/>
              </a:lnSpc>
              <a:buNone/>
            </a:pPr>
            <a:r>
              <a:rPr lang="en-US" sz="825" dirty="0">
                <a:solidFill>
                  <a:srgbClr val="FFFFFF">
                    <a:alpha val="90000"/>
                  </a:srgbClr>
                </a:solidFill>
                <a:latin typeface="Arial" pitchFamily="34" charset="0"/>
                <a:ea typeface="Arial" pitchFamily="34" charset="-122"/>
                <a:cs typeface="Arial" pitchFamily="34" charset="-120"/>
              </a:rPr>
              <a:t>Check Preferences for full shortcut list</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213896"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532507"/>
            <a:ext cx="2041166"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CROSS-PLATFORM OPTION</a:t>
            </a:r>
            <a:endParaRPr lang="en-US" sz="825" dirty="0"/>
          </a:p>
        </p:txBody>
      </p:sp>
      <p:sp>
        <p:nvSpPr>
          <p:cNvPr id="4" name="Text 2"/>
          <p:cNvSpPr/>
          <p:nvPr/>
        </p:nvSpPr>
        <p:spPr>
          <a:xfrm>
            <a:off x="2420243" y="517327"/>
            <a:ext cx="971550" cy="177105"/>
          </a:xfrm>
          <a:prstGeom prst="rect">
            <a:avLst/>
          </a:prstGeom>
          <a:solidFill>
            <a:srgbClr val="DCFCE7"/>
          </a:solidFill>
          <a:ln/>
        </p:spPr>
        <p:txBody>
          <a:bodyPr wrap="square" rtlCol="0" anchor="ctr"/>
          <a:lstStyle/>
          <a:p>
            <a:pPr marL="0" indent="0">
              <a:buNone/>
            </a:pPr>
            <a:endParaRPr lang="en-US" dirty="0"/>
          </a:p>
        </p:txBody>
      </p:sp>
      <p:sp>
        <p:nvSpPr>
          <p:cNvPr id="5" name="Text 3"/>
          <p:cNvSpPr/>
          <p:nvPr/>
        </p:nvSpPr>
        <p:spPr>
          <a:xfrm>
            <a:off x="2496443" y="545902"/>
            <a:ext cx="835533"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NOW ON WINDOWS</a:t>
            </a:r>
            <a:endParaRPr lang="en-US" sz="675" dirty="0"/>
          </a:p>
        </p:txBody>
      </p:sp>
      <p:sp>
        <p:nvSpPr>
          <p:cNvPr id="6" name="Text 4"/>
          <p:cNvSpPr/>
          <p:nvPr/>
        </p:nvSpPr>
        <p:spPr>
          <a:xfrm>
            <a:off x="342900" y="903982"/>
            <a:ext cx="2312289" cy="304800"/>
          </a:xfrm>
          <a:prstGeom prst="rect">
            <a:avLst/>
          </a:prstGeom>
          <a:noFill/>
          <a:ln/>
        </p:spPr>
        <p:txBody>
          <a:bodyPr wrap="square" lIns="0" tIns="0" rIns="0" bIns="0" rtlCol="0" anchor="t"/>
          <a:lstStyle/>
          <a:p>
            <a:pPr marL="0" indent="0" algn="l">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Wispr Flow</a:t>
            </a:r>
            <a:endParaRPr lang="en-US" sz="2400" dirty="0"/>
          </a:p>
        </p:txBody>
      </p:sp>
      <p:sp>
        <p:nvSpPr>
          <p:cNvPr id="7" name="Text 5"/>
          <p:cNvSpPr/>
          <p:nvPr/>
        </p:nvSpPr>
        <p:spPr>
          <a:xfrm>
            <a:off x="342900" y="1418332"/>
            <a:ext cx="4618658" cy="173236"/>
          </a:xfrm>
          <a:prstGeom prst="rect">
            <a:avLst/>
          </a:prstGeom>
          <a:noFill/>
          <a:ln/>
        </p:spPr>
        <p:txBody>
          <a:bodyPr wrap="square" lIns="0" tIns="0" rIns="0" bIns="0" rtlCol="0" anchor="t"/>
          <a:lstStyle/>
          <a:p>
            <a:pPr marL="0" indent="0" algn="l">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Context-aware voice input for Mac, Windows, and Linux</a:t>
            </a:r>
            <a:endParaRPr lang="en-US" sz="975" dirty="0"/>
          </a:p>
        </p:txBody>
      </p:sp>
      <p:sp>
        <p:nvSpPr>
          <p:cNvPr id="8" name="Text 6"/>
          <p:cNvSpPr/>
          <p:nvPr/>
        </p:nvSpPr>
        <p:spPr>
          <a:xfrm>
            <a:off x="342900" y="1896368"/>
            <a:ext cx="4528096" cy="798165"/>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361950" y="1896368"/>
            <a:ext cx="0" cy="798165"/>
          </a:xfrm>
          <a:prstGeom prst="line">
            <a:avLst/>
          </a:prstGeom>
          <a:noFill/>
          <a:ln w="38100">
            <a:solidFill>
              <a:srgbClr val="C9A227"/>
            </a:solidFill>
            <a:prstDash val="solid"/>
          </a:ln>
        </p:spPr>
        <p:txBody>
          <a:bodyPr/>
          <a:lstStyle/>
          <a:p>
            <a:endParaRPr lang="en-US"/>
          </a:p>
        </p:txBody>
      </p:sp>
      <p:sp>
        <p:nvSpPr>
          <p:cNvPr id="10" name="Text 8"/>
          <p:cNvSpPr/>
          <p:nvPr/>
        </p:nvSpPr>
        <p:spPr>
          <a:xfrm>
            <a:off x="533400" y="2029718"/>
            <a:ext cx="4268900"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Is</a:t>
            </a:r>
            <a:endParaRPr lang="en-US" sz="900" dirty="0"/>
          </a:p>
        </p:txBody>
      </p:sp>
      <p:sp>
        <p:nvSpPr>
          <p:cNvPr id="11" name="Text 9"/>
          <p:cNvSpPr/>
          <p:nvPr/>
        </p:nvSpPr>
        <p:spPr>
          <a:xfrm>
            <a:off x="533400" y="2246858"/>
            <a:ext cx="4268900"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An intelligent voice-to-text tool that understands context. It knows if you're coding, writing email, or chatting - and formats output accordingly.</a:t>
            </a:r>
            <a:endParaRPr lang="en-US" sz="825" dirty="0"/>
          </a:p>
        </p:txBody>
      </p:sp>
      <p:sp>
        <p:nvSpPr>
          <p:cNvPr id="12" name="Text 10"/>
          <p:cNvSpPr/>
          <p:nvPr/>
        </p:nvSpPr>
        <p:spPr>
          <a:xfrm>
            <a:off x="342900"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466725"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Free Tier</a:t>
            </a:r>
            <a:endParaRPr lang="en-US" sz="1200" dirty="0"/>
          </a:p>
        </p:txBody>
      </p:sp>
      <p:sp>
        <p:nvSpPr>
          <p:cNvPr id="14" name="Text 12"/>
          <p:cNvSpPr/>
          <p:nvPr/>
        </p:nvSpPr>
        <p:spPr>
          <a:xfrm>
            <a:off x="466725"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Limited daily minutes</a:t>
            </a:r>
            <a:endParaRPr lang="en-US" sz="750" dirty="0"/>
          </a:p>
        </p:txBody>
      </p:sp>
      <p:sp>
        <p:nvSpPr>
          <p:cNvPr id="15" name="Text 13"/>
          <p:cNvSpPr/>
          <p:nvPr/>
        </p:nvSpPr>
        <p:spPr>
          <a:xfrm>
            <a:off x="1890415"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6" name="Text 14"/>
          <p:cNvSpPr/>
          <p:nvPr/>
        </p:nvSpPr>
        <p:spPr>
          <a:xfrm>
            <a:off x="2014240"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Cloud + Local</a:t>
            </a:r>
            <a:endParaRPr lang="en-US" sz="1200" dirty="0"/>
          </a:p>
        </p:txBody>
      </p:sp>
      <p:sp>
        <p:nvSpPr>
          <p:cNvPr id="17" name="Text 15"/>
          <p:cNvSpPr/>
          <p:nvPr/>
        </p:nvSpPr>
        <p:spPr>
          <a:xfrm>
            <a:off x="2014240"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Hybrid processing</a:t>
            </a:r>
            <a:endParaRPr lang="en-US" sz="750" dirty="0"/>
          </a:p>
        </p:txBody>
      </p:sp>
      <p:sp>
        <p:nvSpPr>
          <p:cNvPr id="18" name="Text 16"/>
          <p:cNvSpPr/>
          <p:nvPr/>
        </p:nvSpPr>
        <p:spPr>
          <a:xfrm>
            <a:off x="3437930" y="2961233"/>
            <a:ext cx="1433215" cy="63237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561755" y="3085058"/>
            <a:ext cx="1209276" cy="213271"/>
          </a:xfrm>
          <a:prstGeom prst="rect">
            <a:avLst/>
          </a:prstGeom>
          <a:noFill/>
          <a:ln/>
        </p:spPr>
        <p:txBody>
          <a:bodyPr wrap="square" lIns="0" tIns="0" rIns="0" bIns="0" rtlCol="0" anchor="t"/>
          <a:lstStyle/>
          <a:p>
            <a:pPr marL="0" indent="0" algn="l">
              <a:lnSpc>
                <a:spcPts val="1680"/>
              </a:lnSpc>
              <a:spcAft>
                <a:spcPts val="300"/>
              </a:spcAft>
              <a:buNone/>
            </a:pPr>
            <a:r>
              <a:rPr lang="en-US" sz="1200" dirty="0">
                <a:solidFill>
                  <a:srgbClr val="1A1F2E"/>
                </a:solidFill>
                <a:latin typeface="Georgia" pitchFamily="34" charset="0"/>
                <a:ea typeface="Georgia" pitchFamily="34" charset="-122"/>
                <a:cs typeface="Georgia" pitchFamily="34" charset="-120"/>
              </a:rPr>
              <a:t>Flow State</a:t>
            </a:r>
            <a:endParaRPr lang="en-US" sz="1200" dirty="0"/>
          </a:p>
        </p:txBody>
      </p:sp>
      <p:sp>
        <p:nvSpPr>
          <p:cNvPr id="20" name="Text 18"/>
          <p:cNvSpPr/>
          <p:nvPr/>
        </p:nvSpPr>
        <p:spPr>
          <a:xfrm>
            <a:off x="3561755" y="3336429"/>
            <a:ext cx="1209276"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Continuous dictation</a:t>
            </a:r>
            <a:endParaRPr lang="en-US" sz="750" dirty="0"/>
          </a:p>
        </p:txBody>
      </p:sp>
      <p:sp>
        <p:nvSpPr>
          <p:cNvPr id="21" name="Text 19"/>
          <p:cNvSpPr/>
          <p:nvPr/>
        </p:nvSpPr>
        <p:spPr>
          <a:xfrm>
            <a:off x="342900" y="3860304"/>
            <a:ext cx="4528096" cy="765721"/>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95300" y="3993654"/>
            <a:ext cx="4307762"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KEY DIFFERENTIATOR</a:t>
            </a:r>
            <a:endParaRPr lang="en-US" sz="825" dirty="0"/>
          </a:p>
        </p:txBody>
      </p:sp>
      <p:sp>
        <p:nvSpPr>
          <p:cNvPr id="23" name="Text 21"/>
          <p:cNvSpPr/>
          <p:nvPr/>
        </p:nvSpPr>
        <p:spPr>
          <a:xfrm>
            <a:off x="495300" y="4178350"/>
            <a:ext cx="4307762"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Context awareness - Wispr Flow detects your current app and adjusts formatting. Code in VS Code, prose in Word.</a:t>
            </a:r>
            <a:endParaRPr lang="en-US" sz="825" dirty="0"/>
          </a:p>
        </p:txBody>
      </p:sp>
      <p:sp>
        <p:nvSpPr>
          <p:cNvPr id="24" name="Text 22"/>
          <p:cNvSpPr/>
          <p:nvPr/>
        </p:nvSpPr>
        <p:spPr>
          <a:xfrm>
            <a:off x="5366296" y="0"/>
            <a:ext cx="3777704" cy="51435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5671096" y="304800"/>
            <a:ext cx="3231466"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PLATFORM SUPPORT</a:t>
            </a:r>
            <a:endParaRPr lang="en-US" sz="825" dirty="0"/>
          </a:p>
        </p:txBody>
      </p:sp>
      <p:sp>
        <p:nvSpPr>
          <p:cNvPr id="26" name="Text 24"/>
          <p:cNvSpPr/>
          <p:nvPr/>
        </p:nvSpPr>
        <p:spPr>
          <a:xfrm>
            <a:off x="5671096" y="756196"/>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27" name="Text 25"/>
          <p:cNvSpPr/>
          <p:nvPr/>
        </p:nvSpPr>
        <p:spPr>
          <a:xfrm>
            <a:off x="5813971" y="909489"/>
            <a:ext cx="304800" cy="304800"/>
          </a:xfrm>
          <a:prstGeom prst="rect">
            <a:avLst/>
          </a:prstGeom>
          <a:solidFill>
            <a:srgbClr val="C9A227"/>
          </a:solidFill>
          <a:ln/>
        </p:spPr>
        <p:txBody>
          <a:bodyPr wrap="square" rtlCol="0" anchor="ctr"/>
          <a:lstStyle/>
          <a:p>
            <a:pPr marL="0" indent="0">
              <a:buNone/>
            </a:pPr>
            <a:endParaRPr lang="en-US" dirty="0"/>
          </a:p>
        </p:txBody>
      </p:sp>
      <p:sp>
        <p:nvSpPr>
          <p:cNvPr id="28" name="Text 26"/>
          <p:cNvSpPr/>
          <p:nvPr/>
        </p:nvSpPr>
        <p:spPr>
          <a:xfrm>
            <a:off x="5903416" y="968573"/>
            <a:ext cx="128427"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W</a:t>
            </a:r>
            <a:endParaRPr lang="en-US" sz="1050" dirty="0"/>
          </a:p>
        </p:txBody>
      </p:sp>
      <p:sp>
        <p:nvSpPr>
          <p:cNvPr id="29" name="Text 27"/>
          <p:cNvSpPr/>
          <p:nvPr/>
        </p:nvSpPr>
        <p:spPr>
          <a:xfrm>
            <a:off x="6214021" y="899071"/>
            <a:ext cx="854205"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Windows 10/11</a:t>
            </a:r>
            <a:endParaRPr lang="en-US" sz="975" dirty="0"/>
          </a:p>
        </p:txBody>
      </p:sp>
      <p:sp>
        <p:nvSpPr>
          <p:cNvPr id="30" name="Text 28"/>
          <p:cNvSpPr/>
          <p:nvPr/>
        </p:nvSpPr>
        <p:spPr>
          <a:xfrm>
            <a:off x="6214021" y="1091357"/>
            <a:ext cx="854205"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Full feature support</a:t>
            </a:r>
            <a:endParaRPr lang="en-US" sz="750" dirty="0"/>
          </a:p>
        </p:txBody>
      </p:sp>
      <p:sp>
        <p:nvSpPr>
          <p:cNvPr id="31" name="Text 29"/>
          <p:cNvSpPr/>
          <p:nvPr/>
        </p:nvSpPr>
        <p:spPr>
          <a:xfrm>
            <a:off x="5671096" y="1634282"/>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2" name="Text 30"/>
          <p:cNvSpPr/>
          <p:nvPr/>
        </p:nvSpPr>
        <p:spPr>
          <a:xfrm>
            <a:off x="5813971" y="1787575"/>
            <a:ext cx="304800" cy="304800"/>
          </a:xfrm>
          <a:prstGeom prst="rect">
            <a:avLst/>
          </a:prstGeom>
          <a:solidFill>
            <a:srgbClr val="C9A227"/>
          </a:solidFill>
          <a:ln/>
        </p:spPr>
        <p:txBody>
          <a:bodyPr wrap="square" rtlCol="0" anchor="ctr"/>
          <a:lstStyle/>
          <a:p>
            <a:pPr marL="0" indent="0">
              <a:buNone/>
            </a:pPr>
            <a:endParaRPr lang="en-US" dirty="0"/>
          </a:p>
        </p:txBody>
      </p:sp>
      <p:sp>
        <p:nvSpPr>
          <p:cNvPr id="33" name="Text 31"/>
          <p:cNvSpPr/>
          <p:nvPr/>
        </p:nvSpPr>
        <p:spPr>
          <a:xfrm>
            <a:off x="5910709" y="1846659"/>
            <a:ext cx="113398"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M</a:t>
            </a:r>
            <a:endParaRPr lang="en-US" sz="1050" dirty="0"/>
          </a:p>
        </p:txBody>
      </p:sp>
      <p:sp>
        <p:nvSpPr>
          <p:cNvPr id="34" name="Text 32"/>
          <p:cNvSpPr/>
          <p:nvPr/>
        </p:nvSpPr>
        <p:spPr>
          <a:xfrm>
            <a:off x="6214021" y="1777157"/>
            <a:ext cx="875002"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macOS</a:t>
            </a:r>
            <a:endParaRPr lang="en-US" sz="975" dirty="0"/>
          </a:p>
        </p:txBody>
      </p:sp>
      <p:sp>
        <p:nvSpPr>
          <p:cNvPr id="35" name="Text 33"/>
          <p:cNvSpPr/>
          <p:nvPr/>
        </p:nvSpPr>
        <p:spPr>
          <a:xfrm>
            <a:off x="6214021" y="1969443"/>
            <a:ext cx="875002"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Native app available</a:t>
            </a:r>
            <a:endParaRPr lang="en-US" sz="750" dirty="0"/>
          </a:p>
        </p:txBody>
      </p:sp>
      <p:sp>
        <p:nvSpPr>
          <p:cNvPr id="36" name="Text 34"/>
          <p:cNvSpPr/>
          <p:nvPr/>
        </p:nvSpPr>
        <p:spPr>
          <a:xfrm>
            <a:off x="5671096" y="2512368"/>
            <a:ext cx="3168104" cy="61138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7" name="Text 35"/>
          <p:cNvSpPr/>
          <p:nvPr/>
        </p:nvSpPr>
        <p:spPr>
          <a:xfrm>
            <a:off x="5813971" y="2665661"/>
            <a:ext cx="304800" cy="304800"/>
          </a:xfrm>
          <a:prstGeom prst="rect">
            <a:avLst/>
          </a:prstGeom>
          <a:solidFill>
            <a:srgbClr val="C9A227"/>
          </a:solidFill>
          <a:ln/>
        </p:spPr>
        <p:txBody>
          <a:bodyPr wrap="square" rtlCol="0" anchor="ctr"/>
          <a:lstStyle/>
          <a:p>
            <a:pPr marL="0" indent="0">
              <a:buNone/>
            </a:pPr>
            <a:endParaRPr lang="en-US" dirty="0"/>
          </a:p>
        </p:txBody>
      </p:sp>
      <p:sp>
        <p:nvSpPr>
          <p:cNvPr id="38" name="Text 36"/>
          <p:cNvSpPr/>
          <p:nvPr/>
        </p:nvSpPr>
        <p:spPr>
          <a:xfrm>
            <a:off x="5929164" y="2724745"/>
            <a:ext cx="75751" cy="186630"/>
          </a:xfrm>
          <a:prstGeom prst="rect">
            <a:avLst/>
          </a:prstGeom>
          <a:noFill/>
          <a:ln/>
        </p:spPr>
        <p:txBody>
          <a:bodyPr wrap="square" lIns="0" tIns="0" rIns="0" bIns="0" rtlCol="0" anchor="t"/>
          <a:lstStyle/>
          <a:p>
            <a:pPr marL="0" indent="0" algn="l">
              <a:lnSpc>
                <a:spcPts val="1470"/>
              </a:lnSpc>
              <a:buNone/>
            </a:pPr>
            <a:r>
              <a:rPr lang="en-US" sz="1050" dirty="0">
                <a:solidFill>
                  <a:srgbClr val="1A1F2E"/>
                </a:solidFill>
                <a:latin typeface="Arial" pitchFamily="34" charset="0"/>
                <a:ea typeface="Arial" pitchFamily="34" charset="-122"/>
                <a:cs typeface="Arial" pitchFamily="34" charset="-120"/>
              </a:rPr>
              <a:t>L</a:t>
            </a:r>
            <a:endParaRPr lang="en-US" sz="1050" dirty="0"/>
          </a:p>
        </p:txBody>
      </p:sp>
      <p:sp>
        <p:nvSpPr>
          <p:cNvPr id="39" name="Text 37"/>
          <p:cNvSpPr/>
          <p:nvPr/>
        </p:nvSpPr>
        <p:spPr>
          <a:xfrm>
            <a:off x="6214021" y="2655243"/>
            <a:ext cx="713027" cy="173236"/>
          </a:xfrm>
          <a:prstGeom prst="rect">
            <a:avLst/>
          </a:prstGeom>
          <a:noFill/>
          <a:ln/>
        </p:spPr>
        <p:txBody>
          <a:bodyPr wrap="square" lIns="0" tIns="0" rIns="0" bIns="0" rtlCol="0" anchor="t"/>
          <a:lstStyle/>
          <a:p>
            <a:pPr marL="0" indent="0" algn="l">
              <a:lnSpc>
                <a:spcPts val="1365"/>
              </a:lnSpc>
              <a:buNone/>
            </a:pPr>
            <a:r>
              <a:rPr lang="en-US" sz="975" dirty="0">
                <a:solidFill>
                  <a:srgbClr val="FFFFFF"/>
                </a:solidFill>
                <a:latin typeface="Arial" pitchFamily="34" charset="0"/>
                <a:ea typeface="Arial" pitchFamily="34" charset="-122"/>
                <a:cs typeface="Arial" pitchFamily="34" charset="-120"/>
              </a:rPr>
              <a:t>Linux</a:t>
            </a:r>
            <a:endParaRPr lang="en-US" sz="975" dirty="0"/>
          </a:p>
        </p:txBody>
      </p:sp>
      <p:sp>
        <p:nvSpPr>
          <p:cNvPr id="40" name="Text 38"/>
          <p:cNvSpPr/>
          <p:nvPr/>
        </p:nvSpPr>
        <p:spPr>
          <a:xfrm>
            <a:off x="6214021" y="2847529"/>
            <a:ext cx="713027"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FFFFFF">
                    <a:alpha val="50000"/>
                  </a:srgbClr>
                </a:solidFill>
                <a:latin typeface="Arial" pitchFamily="34" charset="0"/>
                <a:ea typeface="Arial" pitchFamily="34" charset="-122"/>
                <a:cs typeface="Arial" pitchFamily="34" charset="-120"/>
              </a:rPr>
              <a:t>AppImage / .deb</a:t>
            </a:r>
            <a:endParaRPr lang="en-US" sz="750" dirty="0"/>
          </a:p>
        </p:txBody>
      </p:sp>
      <p:sp>
        <p:nvSpPr>
          <p:cNvPr id="41" name="Text 39"/>
          <p:cNvSpPr/>
          <p:nvPr/>
        </p:nvSpPr>
        <p:spPr>
          <a:xfrm>
            <a:off x="5671096" y="4316909"/>
            <a:ext cx="3168104" cy="521791"/>
          </a:xfrm>
          <a:prstGeom prst="rect">
            <a:avLst/>
          </a:prstGeom>
          <a:solidFill>
            <a:srgbClr val="FEF3C7"/>
          </a:solidFill>
          <a:ln/>
        </p:spPr>
        <p:txBody>
          <a:bodyPr wrap="square" rtlCol="0" anchor="ctr"/>
          <a:lstStyle/>
          <a:p>
            <a:pPr marL="0" indent="0">
              <a:buNone/>
            </a:pPr>
            <a:endParaRPr lang="en-US" dirty="0"/>
          </a:p>
        </p:txBody>
      </p:sp>
      <p:sp>
        <p:nvSpPr>
          <p:cNvPr id="42" name="Shape 40"/>
          <p:cNvSpPr/>
          <p:nvPr/>
        </p:nvSpPr>
        <p:spPr>
          <a:xfrm>
            <a:off x="5690146" y="4316909"/>
            <a:ext cx="0" cy="521791"/>
          </a:xfrm>
          <a:prstGeom prst="line">
            <a:avLst/>
          </a:prstGeom>
          <a:noFill/>
          <a:ln w="38100">
            <a:solidFill>
              <a:srgbClr val="F59E0B"/>
            </a:solidFill>
            <a:prstDash val="solid"/>
          </a:ln>
        </p:spPr>
        <p:txBody>
          <a:bodyPr/>
          <a:lstStyle/>
          <a:p>
            <a:endParaRPr lang="en-US"/>
          </a:p>
        </p:txBody>
      </p:sp>
      <p:sp>
        <p:nvSpPr>
          <p:cNvPr id="43" name="Text 41"/>
          <p:cNvSpPr/>
          <p:nvPr/>
        </p:nvSpPr>
        <p:spPr>
          <a:xfrm>
            <a:off x="5823496" y="4431209"/>
            <a:ext cx="2959432" cy="293191"/>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Note:</a:t>
            </a:r>
            <a:r>
              <a:rPr lang="en-US" sz="825" dirty="0">
                <a:solidFill>
                  <a:srgbClr val="92400E"/>
                </a:solidFill>
                <a:latin typeface="Arial" pitchFamily="34" charset="0"/>
                <a:ea typeface="Arial" pitchFamily="34" charset="-122"/>
                <a:cs typeface="Arial" pitchFamily="34" charset="-120"/>
              </a:rPr>
              <a:t> Enable Privacy Mode for government/sensitive use (see next slides)</a:t>
            </a:r>
            <a:endParaRPr lang="en-US" sz="8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151138"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342900" y="1570732"/>
            <a:ext cx="2514645"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INSTALLATION</a:t>
            </a:r>
            <a:endParaRPr lang="en-US" sz="825" dirty="0"/>
          </a:p>
        </p:txBody>
      </p:sp>
      <p:sp>
        <p:nvSpPr>
          <p:cNvPr id="4" name="Text 2"/>
          <p:cNvSpPr/>
          <p:nvPr/>
        </p:nvSpPr>
        <p:spPr>
          <a:xfrm>
            <a:off x="342900" y="2022128"/>
            <a:ext cx="1457325" cy="685800"/>
          </a:xfrm>
          <a:prstGeom prst="rect">
            <a:avLst/>
          </a:prstGeom>
          <a:noFill/>
          <a:ln/>
        </p:spPr>
        <p:txBody>
          <a:bodyPr wrap="square" lIns="0" tIns="0" rIns="0" bIns="0" rtlCol="0" anchor="t"/>
          <a:lstStyle/>
          <a:p>
            <a:pPr marL="0" indent="0" algn="l">
              <a:lnSpc>
                <a:spcPts val="2700"/>
              </a:lnSpc>
              <a:buNone/>
            </a:pPr>
            <a:r>
              <a:rPr lang="en-US" sz="2250" dirty="0">
                <a:solidFill>
                  <a:srgbClr val="1A1F2E"/>
                </a:solidFill>
                <a:latin typeface="Georgia" pitchFamily="34" charset="0"/>
                <a:ea typeface="Georgia" pitchFamily="34" charset="-122"/>
                <a:cs typeface="Georgia" pitchFamily="34" charset="-120"/>
              </a:rPr>
              <a:t>Wispr Flow</a:t>
            </a:r>
            <a:endParaRPr lang="en-US" sz="2250" dirty="0"/>
          </a:p>
          <a:p>
            <a:pPr marL="0" indent="0" algn="l">
              <a:lnSpc>
                <a:spcPts val="2700"/>
              </a:lnSpc>
              <a:buNone/>
            </a:pPr>
            <a:r>
              <a:rPr lang="en-US" sz="2250" dirty="0">
                <a:solidFill>
                  <a:srgbClr val="1A1F2E"/>
                </a:solidFill>
                <a:latin typeface="Georgia" pitchFamily="34" charset="0"/>
                <a:ea typeface="Georgia" pitchFamily="34" charset="-122"/>
                <a:cs typeface="Georgia" pitchFamily="34" charset="-120"/>
              </a:rPr>
              <a:t>Setup Guide</a:t>
            </a:r>
            <a:endParaRPr lang="en-US" sz="2250" dirty="0"/>
          </a:p>
        </p:txBody>
      </p:sp>
      <p:sp>
        <p:nvSpPr>
          <p:cNvPr id="5" name="Text 3"/>
          <p:cNvSpPr/>
          <p:nvPr/>
        </p:nvSpPr>
        <p:spPr>
          <a:xfrm>
            <a:off x="342900" y="3050828"/>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342900" y="3412778"/>
            <a:ext cx="2514645" cy="159990"/>
          </a:xfrm>
          <a:prstGeom prst="rect">
            <a:avLst/>
          </a:prstGeom>
          <a:noFill/>
          <a:ln/>
        </p:spPr>
        <p:txBody>
          <a:bodyPr wrap="square" lIns="0" tIns="0" rIns="0" bIns="0" rtlCol="0" anchor="t"/>
          <a:lstStyle/>
          <a:p>
            <a:pPr marL="0" indent="0" algn="l">
              <a:lnSpc>
                <a:spcPts val="1260"/>
              </a:lnSpc>
              <a:buNone/>
            </a:pPr>
            <a:r>
              <a:rPr lang="en-US" sz="900" dirty="0">
                <a:solidFill>
                  <a:srgbClr val="1A1F2E">
                    <a:alpha val="70000"/>
                  </a:srgbClr>
                </a:solidFill>
                <a:latin typeface="Arial" pitchFamily="34" charset="0"/>
                <a:ea typeface="Arial" pitchFamily="34" charset="-122"/>
                <a:cs typeface="Arial" pitchFamily="34" charset="-120"/>
              </a:rPr>
              <a:t>Quick setup on any platform</a:t>
            </a:r>
            <a:endParaRPr lang="en-US" sz="900" dirty="0"/>
          </a:p>
        </p:txBody>
      </p:sp>
      <p:sp>
        <p:nvSpPr>
          <p:cNvPr id="7" name="Text 5"/>
          <p:cNvSpPr/>
          <p:nvPr/>
        </p:nvSpPr>
        <p:spPr>
          <a:xfrm>
            <a:off x="3303538" y="0"/>
            <a:ext cx="5840462"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3646438" y="541586"/>
            <a:ext cx="5154662"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3827413" y="725239"/>
            <a:ext cx="266700" cy="266700"/>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3928914" y="77852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379863" y="684461"/>
            <a:ext cx="2334301"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Visit wispr.ai</a:t>
            </a:r>
            <a:endParaRPr lang="en-US" sz="975" dirty="0"/>
          </a:p>
        </p:txBody>
      </p:sp>
      <p:sp>
        <p:nvSpPr>
          <p:cNvPr id="12" name="Text 10"/>
          <p:cNvSpPr/>
          <p:nvPr/>
        </p:nvSpPr>
        <p:spPr>
          <a:xfrm>
            <a:off x="4379863" y="886271"/>
            <a:ext cx="2334301"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Download for your platform (Mac/Windows/Linux)</a:t>
            </a:r>
            <a:endParaRPr lang="en-US" sz="825" dirty="0"/>
          </a:p>
        </p:txBody>
      </p:sp>
      <p:sp>
        <p:nvSpPr>
          <p:cNvPr id="13" name="Text 11"/>
          <p:cNvSpPr/>
          <p:nvPr/>
        </p:nvSpPr>
        <p:spPr>
          <a:xfrm>
            <a:off x="3646438" y="1270992"/>
            <a:ext cx="5154662"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3827413" y="1454646"/>
            <a:ext cx="266700" cy="26670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3928914" y="150792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379863" y="1413867"/>
            <a:ext cx="3043684"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the Application</a:t>
            </a:r>
            <a:endParaRPr lang="en-US" sz="975" dirty="0"/>
          </a:p>
        </p:txBody>
      </p:sp>
      <p:sp>
        <p:nvSpPr>
          <p:cNvPr id="17" name="Text 15"/>
          <p:cNvSpPr/>
          <p:nvPr/>
        </p:nvSpPr>
        <p:spPr>
          <a:xfrm>
            <a:off x="4379863" y="1615678"/>
            <a:ext cx="3043684"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Mac: drag to Applications | Windows: run .exe | Linux: AppImage</a:t>
            </a:r>
            <a:endParaRPr lang="en-US" sz="825" dirty="0"/>
          </a:p>
        </p:txBody>
      </p:sp>
      <p:sp>
        <p:nvSpPr>
          <p:cNvPr id="18" name="Text 16"/>
          <p:cNvSpPr/>
          <p:nvPr/>
        </p:nvSpPr>
        <p:spPr>
          <a:xfrm>
            <a:off x="3646438" y="2000399"/>
            <a:ext cx="5154662"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827413" y="2184053"/>
            <a:ext cx="266700" cy="266700"/>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3928914" y="223733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379863" y="2143274"/>
            <a:ext cx="2203900"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Create Account or Sign In</a:t>
            </a:r>
            <a:endParaRPr lang="en-US" sz="975" dirty="0"/>
          </a:p>
        </p:txBody>
      </p:sp>
      <p:sp>
        <p:nvSpPr>
          <p:cNvPr id="22" name="Text 20"/>
          <p:cNvSpPr/>
          <p:nvPr/>
        </p:nvSpPr>
        <p:spPr>
          <a:xfrm>
            <a:off x="4379863" y="2345085"/>
            <a:ext cx="2203900"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Free tier available, or connect existing account</a:t>
            </a:r>
            <a:endParaRPr lang="en-US" sz="825" dirty="0"/>
          </a:p>
        </p:txBody>
      </p:sp>
      <p:sp>
        <p:nvSpPr>
          <p:cNvPr id="23" name="Text 21"/>
          <p:cNvSpPr/>
          <p:nvPr/>
        </p:nvSpPr>
        <p:spPr>
          <a:xfrm>
            <a:off x="3646438" y="2729805"/>
            <a:ext cx="5154662"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3827413" y="2913459"/>
            <a:ext cx="266700" cy="2667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3928914" y="296674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379863" y="2872680"/>
            <a:ext cx="1803743"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Grant Microphone Permission</a:t>
            </a:r>
            <a:endParaRPr lang="en-US" sz="975" dirty="0"/>
          </a:p>
        </p:txBody>
      </p:sp>
      <p:sp>
        <p:nvSpPr>
          <p:cNvPr id="27" name="Text 25"/>
          <p:cNvSpPr/>
          <p:nvPr/>
        </p:nvSpPr>
        <p:spPr>
          <a:xfrm>
            <a:off x="4379863" y="3074491"/>
            <a:ext cx="180374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Required for voice input functionality</a:t>
            </a:r>
            <a:endParaRPr lang="en-US" sz="825" dirty="0"/>
          </a:p>
        </p:txBody>
      </p:sp>
      <p:sp>
        <p:nvSpPr>
          <p:cNvPr id="28" name="Text 26"/>
          <p:cNvSpPr/>
          <p:nvPr/>
        </p:nvSpPr>
        <p:spPr>
          <a:xfrm>
            <a:off x="3646438" y="3459212"/>
            <a:ext cx="5154662" cy="615107"/>
          </a:xfrm>
          <a:prstGeom prst="rect">
            <a:avLst/>
          </a:prstGeom>
          <a:solidFill>
            <a:srgbClr val="C9A227"/>
          </a:solidFill>
          <a:ln/>
        </p:spPr>
        <p:txBody>
          <a:bodyPr wrap="square" rtlCol="0" anchor="ctr"/>
          <a:lstStyle/>
          <a:p>
            <a:pPr marL="0" indent="0">
              <a:buNone/>
            </a:pPr>
            <a:endParaRPr lang="en-US" dirty="0"/>
          </a:p>
        </p:txBody>
      </p:sp>
      <p:sp>
        <p:nvSpPr>
          <p:cNvPr id="29" name="Text 27"/>
          <p:cNvSpPr/>
          <p:nvPr/>
        </p:nvSpPr>
        <p:spPr>
          <a:xfrm>
            <a:off x="3817888" y="3633341"/>
            <a:ext cx="266700" cy="266700"/>
          </a:xfrm>
          <a:prstGeom prst="rect">
            <a:avLst/>
          </a:prstGeom>
          <a:solidFill>
            <a:srgbClr val="1A1F2E"/>
          </a:solidFill>
          <a:ln/>
        </p:spPr>
        <p:txBody>
          <a:bodyPr wrap="square" rtlCol="0" anchor="ctr"/>
          <a:lstStyle/>
          <a:p>
            <a:pPr marL="0" indent="0">
              <a:buNone/>
            </a:pPr>
            <a:endParaRPr lang="en-US" dirty="0"/>
          </a:p>
        </p:txBody>
      </p:sp>
      <p:sp>
        <p:nvSpPr>
          <p:cNvPr id="30" name="Text 28"/>
          <p:cNvSpPr/>
          <p:nvPr/>
        </p:nvSpPr>
        <p:spPr>
          <a:xfrm>
            <a:off x="3919389" y="3686621"/>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370338" y="3592562"/>
            <a:ext cx="2405952"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Enable Privacy Mode (CRITICAL)</a:t>
            </a:r>
            <a:endParaRPr lang="en-US" sz="975" dirty="0"/>
          </a:p>
        </p:txBody>
      </p:sp>
      <p:sp>
        <p:nvSpPr>
          <p:cNvPr id="32" name="Text 30"/>
          <p:cNvSpPr/>
          <p:nvPr/>
        </p:nvSpPr>
        <p:spPr>
          <a:xfrm>
            <a:off x="4370338" y="3794373"/>
            <a:ext cx="2405952"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1A1F2E">
                    <a:alpha val="70000"/>
                  </a:srgbClr>
                </a:solidFill>
                <a:latin typeface="Arial" pitchFamily="34" charset="0"/>
                <a:ea typeface="Arial" pitchFamily="34" charset="-122"/>
                <a:cs typeface="Arial" pitchFamily="34" charset="-120"/>
              </a:rPr>
              <a:t>Settings &gt; Privacy &gt; Enable Local Processing Only</a:t>
            </a:r>
            <a:endParaRPr lang="en-US" sz="825" dirty="0"/>
          </a:p>
        </p:txBody>
      </p:sp>
      <p:sp>
        <p:nvSpPr>
          <p:cNvPr id="33" name="Text 31"/>
          <p:cNvSpPr/>
          <p:nvPr/>
        </p:nvSpPr>
        <p:spPr>
          <a:xfrm>
            <a:off x="3646438" y="4226719"/>
            <a:ext cx="5154662" cy="375196"/>
          </a:xfrm>
          <a:prstGeom prst="rect">
            <a:avLst/>
          </a:prstGeom>
          <a:solidFill>
            <a:srgbClr val="FEF3C7"/>
          </a:solidFill>
          <a:ln/>
        </p:spPr>
        <p:txBody>
          <a:bodyPr wrap="square" rtlCol="0" anchor="ctr"/>
          <a:lstStyle/>
          <a:p>
            <a:pPr marL="0" indent="0">
              <a:buNone/>
            </a:pPr>
            <a:endParaRPr lang="en-US" dirty="0"/>
          </a:p>
        </p:txBody>
      </p:sp>
      <p:sp>
        <p:nvSpPr>
          <p:cNvPr id="34" name="Shape 32"/>
          <p:cNvSpPr/>
          <p:nvPr/>
        </p:nvSpPr>
        <p:spPr>
          <a:xfrm>
            <a:off x="3665488" y="4226719"/>
            <a:ext cx="0" cy="375196"/>
          </a:xfrm>
          <a:prstGeom prst="line">
            <a:avLst/>
          </a:prstGeom>
          <a:noFill/>
          <a:ln w="38100">
            <a:solidFill>
              <a:srgbClr val="F59E0B"/>
            </a:solidFill>
            <a:prstDash val="solid"/>
          </a:ln>
        </p:spPr>
        <p:txBody>
          <a:bodyPr/>
          <a:lstStyle/>
          <a:p>
            <a:endParaRPr lang="en-US"/>
          </a:p>
        </p:txBody>
      </p:sp>
      <p:sp>
        <p:nvSpPr>
          <p:cNvPr id="35" name="Text 33"/>
          <p:cNvSpPr/>
          <p:nvPr/>
        </p:nvSpPr>
        <p:spPr>
          <a:xfrm>
            <a:off x="3836938" y="4341019"/>
            <a:ext cx="4907997" cy="146596"/>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Government Users:</a:t>
            </a:r>
            <a:r>
              <a:rPr lang="en-US" sz="825" dirty="0">
                <a:solidFill>
                  <a:srgbClr val="92400E"/>
                </a:solidFill>
                <a:latin typeface="Arial" pitchFamily="34" charset="0"/>
                <a:ea typeface="Arial" pitchFamily="34" charset="-122"/>
                <a:cs typeface="Arial" pitchFamily="34" charset="-120"/>
              </a:rPr>
              <a:t> Privacy Mode is mandatory - see next slide for details</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381" cy="5143500"/>
          </a:xfrm>
          <a:prstGeom prst="rect">
            <a:avLst/>
          </a:prstGeom>
          <a:solidFill>
            <a:srgbClr val="DC2626"/>
          </a:solidFill>
          <a:ln/>
        </p:spPr>
        <p:txBody>
          <a:bodyPr wrap="square" rtlCol="0" anchor="ctr"/>
          <a:lstStyle/>
          <a:p>
            <a:pPr marL="0" indent="0">
              <a:buNone/>
            </a:pPr>
            <a:endParaRPr lang="en-US" dirty="0"/>
          </a:p>
        </p:txBody>
      </p:sp>
      <p:sp>
        <p:nvSpPr>
          <p:cNvPr id="3" name="Text 1"/>
          <p:cNvSpPr/>
          <p:nvPr/>
        </p:nvSpPr>
        <p:spPr>
          <a:xfrm>
            <a:off x="304800" y="266700"/>
            <a:ext cx="476250" cy="47625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495300" y="304800"/>
            <a:ext cx="97155" cy="400050"/>
          </a:xfrm>
          <a:prstGeom prst="rect">
            <a:avLst/>
          </a:prstGeom>
          <a:noFill/>
          <a:ln/>
        </p:spPr>
        <p:txBody>
          <a:bodyPr wrap="square" lIns="0" tIns="0" rIns="0" bIns="0" rtlCol="0" anchor="t"/>
          <a:lstStyle/>
          <a:p>
            <a:pPr marL="0" indent="0" algn="l">
              <a:lnSpc>
                <a:spcPts val="3150"/>
              </a:lnSpc>
              <a:buNone/>
            </a:pPr>
            <a:r>
              <a:rPr lang="en-US" sz="2250" b="1" dirty="0">
                <a:solidFill>
                  <a:srgbClr val="DC2626"/>
                </a:solidFill>
                <a:latin typeface="Georgia" pitchFamily="34" charset="0"/>
                <a:ea typeface="Georgia" pitchFamily="34" charset="-122"/>
                <a:cs typeface="Georgia" pitchFamily="34" charset="-120"/>
              </a:rPr>
              <a:t>!</a:t>
            </a:r>
            <a:endParaRPr lang="en-US" sz="2250" dirty="0"/>
          </a:p>
        </p:txBody>
      </p:sp>
      <p:sp>
        <p:nvSpPr>
          <p:cNvPr id="5" name="Text 3"/>
          <p:cNvSpPr/>
          <p:nvPr/>
        </p:nvSpPr>
        <p:spPr>
          <a:xfrm>
            <a:off x="304800" y="1047750"/>
            <a:ext cx="3506536" cy="133350"/>
          </a:xfrm>
          <a:prstGeom prst="rect">
            <a:avLst/>
          </a:prstGeom>
          <a:noFill/>
          <a:ln/>
        </p:spPr>
        <p:txBody>
          <a:bodyPr wrap="square" lIns="0" tIns="0" rIns="0" bIns="0" rtlCol="0" anchor="t"/>
          <a:lstStyle/>
          <a:p>
            <a:pPr marL="0" indent="0" algn="l">
              <a:lnSpc>
                <a:spcPts val="1050"/>
              </a:lnSpc>
              <a:spcAft>
                <a:spcPts val="750"/>
              </a:spcAft>
              <a:buNone/>
            </a:pPr>
            <a:r>
              <a:rPr lang="en-US" sz="750" dirty="0">
                <a:solidFill>
                  <a:srgbClr val="FFFFFF"/>
                </a:solidFill>
                <a:latin typeface="Arial" pitchFamily="34" charset="0"/>
                <a:ea typeface="Arial" pitchFamily="34" charset="-122"/>
                <a:cs typeface="Arial" pitchFamily="34" charset="-120"/>
              </a:rPr>
              <a:t>CRITICAL FOR GOVERNMENT USE</a:t>
            </a:r>
            <a:endParaRPr lang="en-US" sz="750" dirty="0"/>
          </a:p>
        </p:txBody>
      </p:sp>
      <p:sp>
        <p:nvSpPr>
          <p:cNvPr id="6" name="Text 4"/>
          <p:cNvSpPr/>
          <p:nvPr/>
        </p:nvSpPr>
        <p:spPr>
          <a:xfrm>
            <a:off x="304800" y="1428750"/>
            <a:ext cx="2904935" cy="297061"/>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Privacy Mode Configuration</a:t>
            </a:r>
            <a:endParaRPr lang="en-US" sz="1950" dirty="0"/>
          </a:p>
        </p:txBody>
      </p:sp>
      <p:sp>
        <p:nvSpPr>
          <p:cNvPr id="7" name="Text 5"/>
          <p:cNvSpPr/>
          <p:nvPr/>
        </p:nvSpPr>
        <p:spPr>
          <a:xfrm>
            <a:off x="304800" y="1992511"/>
            <a:ext cx="3506536" cy="342900"/>
          </a:xfrm>
          <a:prstGeom prst="rect">
            <a:avLst/>
          </a:prstGeom>
          <a:noFill/>
          <a:ln/>
        </p:spPr>
        <p:txBody>
          <a:bodyPr wrap="square" lIns="0" tIns="0" rIns="0" bIns="0" rtlCol="0" anchor="t"/>
          <a:lstStyle/>
          <a:p>
            <a:pPr marL="0" indent="0" algn="l">
              <a:lnSpc>
                <a:spcPts val="1350"/>
              </a:lnSpc>
              <a:spcAft>
                <a:spcPts val="1200"/>
              </a:spcAft>
              <a:buNone/>
            </a:pPr>
            <a:r>
              <a:rPr lang="en-US" sz="900" dirty="0">
                <a:solidFill>
                  <a:srgbClr val="FFFFFF">
                    <a:alpha val="90000"/>
                  </a:srgbClr>
                </a:solidFill>
                <a:latin typeface="Arial" pitchFamily="34" charset="0"/>
                <a:ea typeface="Arial" pitchFamily="34" charset="-122"/>
                <a:cs typeface="Arial" pitchFamily="34" charset="-120"/>
              </a:rPr>
              <a:t>By default, Wispr Flow uses cloud processing. For government or sensitive work, you MUST enable Privacy Mode.</a:t>
            </a:r>
            <a:endParaRPr lang="en-US" sz="900" dirty="0"/>
          </a:p>
        </p:txBody>
      </p:sp>
      <p:sp>
        <p:nvSpPr>
          <p:cNvPr id="8" name="Text 6"/>
          <p:cNvSpPr/>
          <p:nvPr/>
        </p:nvSpPr>
        <p:spPr>
          <a:xfrm>
            <a:off x="304800" y="4034879"/>
            <a:ext cx="3437781" cy="841921"/>
          </a:xfrm>
          <a:prstGeom prst="rect">
            <a:avLst/>
          </a:prstGeom>
          <a:solidFill>
            <a:srgbClr val="FFFFFF">
              <a:alpha val="15000"/>
            </a:srgbClr>
          </a:solidFill>
          <a:ln/>
        </p:spPr>
        <p:txBody>
          <a:bodyPr wrap="square" rtlCol="0" anchor="ctr"/>
          <a:lstStyle/>
          <a:p>
            <a:pPr marL="0" indent="0">
              <a:buNone/>
            </a:pPr>
            <a:endParaRPr lang="en-US" dirty="0"/>
          </a:p>
        </p:txBody>
      </p:sp>
      <p:sp>
        <p:nvSpPr>
          <p:cNvPr id="9" name="Text 7"/>
          <p:cNvSpPr/>
          <p:nvPr/>
        </p:nvSpPr>
        <p:spPr>
          <a:xfrm>
            <a:off x="419100" y="4149179"/>
            <a:ext cx="3273364"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Without Privacy Mode:</a:t>
            </a:r>
            <a:endParaRPr lang="en-US" sz="825" dirty="0"/>
          </a:p>
        </p:txBody>
      </p:sp>
      <p:sp>
        <p:nvSpPr>
          <p:cNvPr id="10" name="Text 8"/>
          <p:cNvSpPr/>
          <p:nvPr/>
        </p:nvSpPr>
        <p:spPr>
          <a:xfrm>
            <a:off x="419100" y="4333875"/>
            <a:ext cx="3273364" cy="42862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90000"/>
                  </a:srgbClr>
                </a:solidFill>
                <a:latin typeface="Arial" pitchFamily="34" charset="0"/>
                <a:ea typeface="Arial" pitchFamily="34" charset="-122"/>
                <a:cs typeface="Arial" pitchFamily="34" charset="-120"/>
              </a:rPr>
              <a:t>Voice data sent to cloud servers</a:t>
            </a:r>
            <a:endParaRPr lang="en-US" sz="750" dirty="0"/>
          </a:p>
          <a:p>
            <a:pPr marL="0" indent="0" algn="l">
              <a:lnSpc>
                <a:spcPts val="1125"/>
              </a:lnSpc>
              <a:buNone/>
            </a:pPr>
            <a:r>
              <a:rPr lang="en-US" sz="750" dirty="0">
                <a:solidFill>
                  <a:srgbClr val="FFFFFF">
                    <a:alpha val="90000"/>
                  </a:srgbClr>
                </a:solidFill>
                <a:latin typeface="Arial" pitchFamily="34" charset="0"/>
                <a:ea typeface="Arial" pitchFamily="34" charset="-122"/>
                <a:cs typeface="Arial" pitchFamily="34" charset="-120"/>
              </a:rPr>
              <a:t>Not suitable for PHI or sensitive data</a:t>
            </a:r>
            <a:endParaRPr lang="en-US" sz="750" dirty="0"/>
          </a:p>
          <a:p>
            <a:pPr marL="0" indent="0" algn="l">
              <a:lnSpc>
                <a:spcPts val="1125"/>
              </a:lnSpc>
              <a:buNone/>
            </a:pPr>
            <a:r>
              <a:rPr lang="en-US" sz="750" dirty="0">
                <a:solidFill>
                  <a:srgbClr val="FFFFFF">
                    <a:alpha val="90000"/>
                  </a:srgbClr>
                </a:solidFill>
                <a:latin typeface="Arial" pitchFamily="34" charset="0"/>
                <a:ea typeface="Arial" pitchFamily="34" charset="-122"/>
                <a:cs typeface="Arial" pitchFamily="34" charset="-120"/>
              </a:rPr>
              <a:t>Requires compliance review</a:t>
            </a:r>
            <a:endParaRPr lang="en-US" sz="750" dirty="0"/>
          </a:p>
        </p:txBody>
      </p:sp>
      <p:sp>
        <p:nvSpPr>
          <p:cNvPr id="11" name="Text 9"/>
          <p:cNvSpPr/>
          <p:nvPr/>
        </p:nvSpPr>
        <p:spPr>
          <a:xfrm>
            <a:off x="4199781" y="0"/>
            <a:ext cx="4944219" cy="5143500"/>
          </a:xfrm>
          <a:prstGeom prst="rect">
            <a:avLst/>
          </a:prstGeom>
          <a:solidFill>
            <a:srgbClr val="F7F8FA"/>
          </a:solidFill>
          <a:ln/>
        </p:spPr>
        <p:txBody>
          <a:bodyPr wrap="square" rtlCol="0" anchor="ctr"/>
          <a:lstStyle/>
          <a:p>
            <a:pPr marL="0" indent="0">
              <a:buNone/>
            </a:pPr>
            <a:endParaRPr lang="en-US" dirty="0"/>
          </a:p>
        </p:txBody>
      </p:sp>
      <p:sp>
        <p:nvSpPr>
          <p:cNvPr id="12" name="Text 10"/>
          <p:cNvSpPr/>
          <p:nvPr/>
        </p:nvSpPr>
        <p:spPr>
          <a:xfrm>
            <a:off x="4504581" y="321915"/>
            <a:ext cx="4421312"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059669"/>
                </a:solidFill>
                <a:latin typeface="Arial" pitchFamily="34" charset="0"/>
                <a:ea typeface="Arial" pitchFamily="34" charset="-122"/>
                <a:cs typeface="Arial" pitchFamily="34" charset="-120"/>
              </a:rPr>
              <a:t>ENABLING LOCAL-ONLY MODE</a:t>
            </a:r>
            <a:endParaRPr lang="en-US" sz="750" dirty="0"/>
          </a:p>
        </p:txBody>
      </p:sp>
      <p:sp>
        <p:nvSpPr>
          <p:cNvPr id="13" name="Text 11"/>
          <p:cNvSpPr/>
          <p:nvPr/>
        </p:nvSpPr>
        <p:spPr>
          <a:xfrm>
            <a:off x="4504581" y="664815"/>
            <a:ext cx="2215134" cy="232767"/>
          </a:xfrm>
          <a:prstGeom prst="rect">
            <a:avLst/>
          </a:prstGeom>
          <a:noFill/>
          <a:ln/>
        </p:spPr>
        <p:txBody>
          <a:bodyPr wrap="square" lIns="0" tIns="0" rIns="0" bIns="0" rtlCol="0" anchor="t"/>
          <a:lstStyle/>
          <a:p>
            <a:pPr marL="0" indent="0" algn="l">
              <a:lnSpc>
                <a:spcPts val="1833"/>
              </a:lnSpc>
              <a:spcAft>
                <a:spcPts val="1200"/>
              </a:spcAft>
              <a:buNone/>
            </a:pPr>
            <a:r>
              <a:rPr lang="en-US" sz="1650" dirty="0">
                <a:solidFill>
                  <a:srgbClr val="1A1F2E"/>
                </a:solidFill>
                <a:latin typeface="Georgia" pitchFamily="34" charset="0"/>
                <a:ea typeface="Georgia" pitchFamily="34" charset="-122"/>
                <a:cs typeface="Georgia" pitchFamily="34" charset="-120"/>
              </a:rPr>
              <a:t>Step-by-Step Instructions</a:t>
            </a:r>
            <a:endParaRPr lang="en-US" sz="1650" dirty="0"/>
          </a:p>
        </p:txBody>
      </p:sp>
      <p:sp>
        <p:nvSpPr>
          <p:cNvPr id="14" name="Text 12"/>
          <p:cNvSpPr/>
          <p:nvPr/>
        </p:nvSpPr>
        <p:spPr>
          <a:xfrm>
            <a:off x="4504581" y="1247031"/>
            <a:ext cx="209550" cy="209550"/>
          </a:xfrm>
          <a:prstGeom prst="rect">
            <a:avLst/>
          </a:prstGeom>
          <a:solidFill>
            <a:srgbClr val="059669"/>
          </a:solidFill>
          <a:ln/>
        </p:spPr>
        <p:txBody>
          <a:bodyPr wrap="square" rtlCol="0" anchor="ctr"/>
          <a:lstStyle/>
          <a:p>
            <a:pPr marL="0" indent="0">
              <a:buNone/>
            </a:pPr>
            <a:endParaRPr lang="en-US" dirty="0"/>
          </a:p>
        </p:txBody>
      </p:sp>
      <p:sp>
        <p:nvSpPr>
          <p:cNvPr id="15" name="Text 13"/>
          <p:cNvSpPr/>
          <p:nvPr/>
        </p:nvSpPr>
        <p:spPr>
          <a:xfrm>
            <a:off x="4580186" y="1278434"/>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1</a:t>
            </a:r>
            <a:endParaRPr lang="en-US" sz="825" dirty="0"/>
          </a:p>
        </p:txBody>
      </p:sp>
      <p:sp>
        <p:nvSpPr>
          <p:cNvPr id="16" name="Text 14"/>
          <p:cNvSpPr/>
          <p:nvPr/>
        </p:nvSpPr>
        <p:spPr>
          <a:xfrm>
            <a:off x="4961781" y="1202382"/>
            <a:ext cx="1838658"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Open Wispr Flow Settings</a:t>
            </a:r>
            <a:endParaRPr lang="en-US" sz="825" dirty="0"/>
          </a:p>
        </p:txBody>
      </p:sp>
      <p:sp>
        <p:nvSpPr>
          <p:cNvPr id="17" name="Text 15"/>
          <p:cNvSpPr/>
          <p:nvPr/>
        </p:nvSpPr>
        <p:spPr>
          <a:xfrm>
            <a:off x="4961781" y="1368028"/>
            <a:ext cx="1838658"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Click system tray/menu bar icon &gt; Settings</a:t>
            </a:r>
            <a:endParaRPr lang="en-US" sz="750" dirty="0"/>
          </a:p>
        </p:txBody>
      </p:sp>
      <p:sp>
        <p:nvSpPr>
          <p:cNvPr id="18" name="Text 16"/>
          <p:cNvSpPr/>
          <p:nvPr/>
        </p:nvSpPr>
        <p:spPr>
          <a:xfrm>
            <a:off x="4504581" y="1793677"/>
            <a:ext cx="209550" cy="209550"/>
          </a:xfrm>
          <a:prstGeom prst="rect">
            <a:avLst/>
          </a:prstGeom>
          <a:solidFill>
            <a:srgbClr val="059669"/>
          </a:solidFill>
          <a:ln/>
        </p:spPr>
        <p:txBody>
          <a:bodyPr wrap="square" rtlCol="0" anchor="ctr"/>
          <a:lstStyle/>
          <a:p>
            <a:pPr marL="0" indent="0">
              <a:buNone/>
            </a:pPr>
            <a:endParaRPr lang="en-US" dirty="0"/>
          </a:p>
        </p:txBody>
      </p:sp>
      <p:sp>
        <p:nvSpPr>
          <p:cNvPr id="19" name="Text 17"/>
          <p:cNvSpPr/>
          <p:nvPr/>
        </p:nvSpPr>
        <p:spPr>
          <a:xfrm>
            <a:off x="4580186" y="1825079"/>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2</a:t>
            </a:r>
            <a:endParaRPr lang="en-US" sz="825" dirty="0"/>
          </a:p>
        </p:txBody>
      </p:sp>
      <p:sp>
        <p:nvSpPr>
          <p:cNvPr id="20" name="Text 18"/>
          <p:cNvSpPr/>
          <p:nvPr/>
        </p:nvSpPr>
        <p:spPr>
          <a:xfrm>
            <a:off x="4961781" y="1749028"/>
            <a:ext cx="1437439"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Navigate to Privacy Settings</a:t>
            </a:r>
            <a:endParaRPr lang="en-US" sz="825" dirty="0"/>
          </a:p>
        </p:txBody>
      </p:sp>
      <p:sp>
        <p:nvSpPr>
          <p:cNvPr id="21" name="Text 19"/>
          <p:cNvSpPr/>
          <p:nvPr/>
        </p:nvSpPr>
        <p:spPr>
          <a:xfrm>
            <a:off x="4961781" y="1914674"/>
            <a:ext cx="1437439"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Settings &gt; Privacy &amp; Security</a:t>
            </a:r>
            <a:endParaRPr lang="en-US" sz="750" dirty="0"/>
          </a:p>
        </p:txBody>
      </p:sp>
      <p:sp>
        <p:nvSpPr>
          <p:cNvPr id="22" name="Text 20"/>
          <p:cNvSpPr/>
          <p:nvPr/>
        </p:nvSpPr>
        <p:spPr>
          <a:xfrm>
            <a:off x="4504581" y="2340322"/>
            <a:ext cx="209550" cy="209550"/>
          </a:xfrm>
          <a:prstGeom prst="rect">
            <a:avLst/>
          </a:prstGeom>
          <a:solidFill>
            <a:srgbClr val="059669"/>
          </a:solidFill>
          <a:ln/>
        </p:spPr>
        <p:txBody>
          <a:bodyPr wrap="square" rtlCol="0" anchor="ctr"/>
          <a:lstStyle/>
          <a:p>
            <a:pPr marL="0" indent="0">
              <a:buNone/>
            </a:pPr>
            <a:endParaRPr lang="en-US" dirty="0"/>
          </a:p>
        </p:txBody>
      </p:sp>
      <p:sp>
        <p:nvSpPr>
          <p:cNvPr id="23" name="Text 21"/>
          <p:cNvSpPr/>
          <p:nvPr/>
        </p:nvSpPr>
        <p:spPr>
          <a:xfrm>
            <a:off x="4580186" y="2371725"/>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3</a:t>
            </a:r>
            <a:endParaRPr lang="en-US" sz="825" dirty="0"/>
          </a:p>
        </p:txBody>
      </p:sp>
      <p:sp>
        <p:nvSpPr>
          <p:cNvPr id="24" name="Text 22"/>
          <p:cNvSpPr/>
          <p:nvPr/>
        </p:nvSpPr>
        <p:spPr>
          <a:xfrm>
            <a:off x="4961781" y="2295674"/>
            <a:ext cx="1633722"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Enable "Local Processing Only"</a:t>
            </a:r>
            <a:endParaRPr lang="en-US" sz="825" dirty="0"/>
          </a:p>
        </p:txBody>
      </p:sp>
      <p:sp>
        <p:nvSpPr>
          <p:cNvPr id="25" name="Text 23"/>
          <p:cNvSpPr/>
          <p:nvPr/>
        </p:nvSpPr>
        <p:spPr>
          <a:xfrm>
            <a:off x="4961781" y="2461320"/>
            <a:ext cx="1633722"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Toggle the switch to ON</a:t>
            </a:r>
            <a:endParaRPr lang="en-US" sz="750" dirty="0"/>
          </a:p>
        </p:txBody>
      </p:sp>
      <p:sp>
        <p:nvSpPr>
          <p:cNvPr id="26" name="Text 24"/>
          <p:cNvSpPr/>
          <p:nvPr/>
        </p:nvSpPr>
        <p:spPr>
          <a:xfrm>
            <a:off x="4504581" y="2886968"/>
            <a:ext cx="209550" cy="209550"/>
          </a:xfrm>
          <a:prstGeom prst="rect">
            <a:avLst/>
          </a:prstGeom>
          <a:solidFill>
            <a:srgbClr val="059669"/>
          </a:solidFill>
          <a:ln/>
        </p:spPr>
        <p:txBody>
          <a:bodyPr wrap="square" rtlCol="0" anchor="ctr"/>
          <a:lstStyle/>
          <a:p>
            <a:pPr marL="0" indent="0">
              <a:buNone/>
            </a:pPr>
            <a:endParaRPr lang="en-US" dirty="0"/>
          </a:p>
        </p:txBody>
      </p:sp>
      <p:sp>
        <p:nvSpPr>
          <p:cNvPr id="27" name="Text 25"/>
          <p:cNvSpPr/>
          <p:nvPr/>
        </p:nvSpPr>
        <p:spPr>
          <a:xfrm>
            <a:off x="4580186" y="2918371"/>
            <a:ext cx="59507"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4</a:t>
            </a:r>
            <a:endParaRPr lang="en-US" sz="825" dirty="0"/>
          </a:p>
        </p:txBody>
      </p:sp>
      <p:sp>
        <p:nvSpPr>
          <p:cNvPr id="28" name="Text 26"/>
          <p:cNvSpPr/>
          <p:nvPr/>
        </p:nvSpPr>
        <p:spPr>
          <a:xfrm>
            <a:off x="4961781" y="2842320"/>
            <a:ext cx="2319272"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Download Local Model</a:t>
            </a:r>
            <a:endParaRPr lang="en-US" sz="825" dirty="0"/>
          </a:p>
        </p:txBody>
      </p:sp>
      <p:sp>
        <p:nvSpPr>
          <p:cNvPr id="29" name="Text 27"/>
          <p:cNvSpPr/>
          <p:nvPr/>
        </p:nvSpPr>
        <p:spPr>
          <a:xfrm>
            <a:off x="4961781" y="3007965"/>
            <a:ext cx="2319272"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App will prompt to download Whisper model (~1-2GB)</a:t>
            </a:r>
            <a:endParaRPr lang="en-US" sz="750" dirty="0"/>
          </a:p>
        </p:txBody>
      </p:sp>
      <p:sp>
        <p:nvSpPr>
          <p:cNvPr id="30" name="Text 28"/>
          <p:cNvSpPr/>
          <p:nvPr/>
        </p:nvSpPr>
        <p:spPr>
          <a:xfrm>
            <a:off x="4504581" y="3408015"/>
            <a:ext cx="4334619" cy="841921"/>
          </a:xfrm>
          <a:prstGeom prst="rect">
            <a:avLst/>
          </a:prstGeom>
          <a:solidFill>
            <a:srgbClr val="DCFCE7"/>
          </a:solidFill>
          <a:ln/>
        </p:spPr>
        <p:txBody>
          <a:bodyPr wrap="square" rtlCol="0" anchor="ctr"/>
          <a:lstStyle/>
          <a:p>
            <a:pPr marL="0" indent="0">
              <a:buNone/>
            </a:pPr>
            <a:endParaRPr lang="en-US" dirty="0"/>
          </a:p>
        </p:txBody>
      </p:sp>
      <p:sp>
        <p:nvSpPr>
          <p:cNvPr id="31" name="Shape 29"/>
          <p:cNvSpPr/>
          <p:nvPr/>
        </p:nvSpPr>
        <p:spPr>
          <a:xfrm>
            <a:off x="4523631" y="3408015"/>
            <a:ext cx="0" cy="841921"/>
          </a:xfrm>
          <a:prstGeom prst="line">
            <a:avLst/>
          </a:prstGeom>
          <a:noFill/>
          <a:ln w="38100">
            <a:solidFill>
              <a:srgbClr val="059669"/>
            </a:solidFill>
            <a:prstDash val="solid"/>
          </a:ln>
        </p:spPr>
        <p:txBody>
          <a:bodyPr/>
          <a:lstStyle/>
          <a:p>
            <a:endParaRPr lang="en-US"/>
          </a:p>
        </p:txBody>
      </p:sp>
      <p:sp>
        <p:nvSpPr>
          <p:cNvPr id="32" name="Text 30"/>
          <p:cNvSpPr/>
          <p:nvPr/>
        </p:nvSpPr>
        <p:spPr>
          <a:xfrm>
            <a:off x="4656981" y="3522315"/>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66534"/>
                </a:solidFill>
                <a:latin typeface="Arial" pitchFamily="34" charset="0"/>
                <a:ea typeface="Arial" pitchFamily="34" charset="-122"/>
                <a:cs typeface="Arial" pitchFamily="34" charset="-120"/>
              </a:rPr>
              <a:t>With Privacy Mode Enabled:</a:t>
            </a:r>
            <a:endParaRPr lang="en-US" sz="825" dirty="0"/>
          </a:p>
        </p:txBody>
      </p:sp>
      <p:sp>
        <p:nvSpPr>
          <p:cNvPr id="33" name="Text 31"/>
          <p:cNvSpPr/>
          <p:nvPr/>
        </p:nvSpPr>
        <p:spPr>
          <a:xfrm>
            <a:off x="4656981" y="3707011"/>
            <a:ext cx="4149278" cy="428625"/>
          </a:xfrm>
          <a:prstGeom prst="rect">
            <a:avLst/>
          </a:prstGeom>
          <a:noFill/>
          <a:ln/>
        </p:spPr>
        <p:txBody>
          <a:bodyPr wrap="square" lIns="0" tIns="0" rIns="0" bIns="0" rtlCol="0" anchor="t"/>
          <a:lstStyle/>
          <a:p>
            <a:pPr marL="0" indent="0" algn="l">
              <a:lnSpc>
                <a:spcPts val="1125"/>
              </a:lnSpc>
              <a:buNone/>
            </a:pPr>
            <a:r>
              <a:rPr lang="en-US" sz="750" dirty="0">
                <a:solidFill>
                  <a:srgbClr val="166534"/>
                </a:solidFill>
                <a:latin typeface="Arial" pitchFamily="34" charset="0"/>
                <a:ea typeface="Arial" pitchFamily="34" charset="-122"/>
                <a:cs typeface="Arial" pitchFamily="34" charset="-120"/>
              </a:rPr>
              <a:t>All processing stays on device</a:t>
            </a:r>
            <a:endParaRPr lang="en-US" sz="750" dirty="0"/>
          </a:p>
          <a:p>
            <a:pPr marL="0" indent="0" algn="l">
              <a:lnSpc>
                <a:spcPts val="1125"/>
              </a:lnSpc>
              <a:buNone/>
            </a:pPr>
            <a:r>
              <a:rPr lang="en-US" sz="750" dirty="0">
                <a:solidFill>
                  <a:srgbClr val="166534"/>
                </a:solidFill>
                <a:latin typeface="Arial" pitchFamily="34" charset="0"/>
                <a:ea typeface="Arial" pitchFamily="34" charset="-122"/>
                <a:cs typeface="Arial" pitchFamily="34" charset="-120"/>
              </a:rPr>
              <a:t>No network requests for transcription</a:t>
            </a:r>
            <a:endParaRPr lang="en-US" sz="750" dirty="0"/>
          </a:p>
          <a:p>
            <a:pPr marL="0" indent="0" algn="l">
              <a:lnSpc>
                <a:spcPts val="1125"/>
              </a:lnSpc>
              <a:buNone/>
            </a:pPr>
            <a:r>
              <a:rPr lang="en-US" sz="750" dirty="0">
                <a:solidFill>
                  <a:srgbClr val="166534"/>
                </a:solidFill>
                <a:latin typeface="Arial" pitchFamily="34" charset="0"/>
                <a:ea typeface="Arial" pitchFamily="34" charset="-122"/>
                <a:cs typeface="Arial" pitchFamily="34" charset="-120"/>
              </a:rPr>
              <a:t>Safe for PHI and government data</a:t>
            </a:r>
            <a:endParaRPr lang="en-US" sz="750" dirty="0"/>
          </a:p>
        </p:txBody>
      </p:sp>
      <p:sp>
        <p:nvSpPr>
          <p:cNvPr id="34" name="Text 32"/>
          <p:cNvSpPr/>
          <p:nvPr/>
        </p:nvSpPr>
        <p:spPr>
          <a:xfrm>
            <a:off x="4504581" y="4497586"/>
            <a:ext cx="4334619" cy="323850"/>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599831" y="4592836"/>
            <a:ext cx="4227002" cy="133350"/>
          </a:xfrm>
          <a:prstGeom prst="rect">
            <a:avLst/>
          </a:prstGeom>
          <a:noFill/>
          <a:ln/>
        </p:spPr>
        <p:txBody>
          <a:bodyPr wrap="square" lIns="0" tIns="0" rIns="0" bIns="0" rtlCol="0" anchor="t"/>
          <a:lstStyle/>
          <a:p>
            <a:pPr marL="0" indent="0" algn="l">
              <a:lnSpc>
                <a:spcPts val="1050"/>
              </a:lnSpc>
              <a:buNone/>
            </a:pPr>
            <a:r>
              <a:rPr lang="en-US" sz="750" b="1" dirty="0">
                <a:solidFill>
                  <a:srgbClr val="C9A227"/>
                </a:solidFill>
                <a:latin typeface="Arial" pitchFamily="34" charset="0"/>
                <a:ea typeface="Arial" pitchFamily="34" charset="-122"/>
                <a:cs typeface="Arial" pitchFamily="34" charset="-120"/>
              </a:rPr>
              <a:t>Verify:</a:t>
            </a:r>
            <a:r>
              <a:rPr lang="en-US" sz="750" dirty="0">
                <a:solidFill>
                  <a:srgbClr val="C9A227"/>
                </a:solidFill>
                <a:latin typeface="Arial" pitchFamily="34" charset="0"/>
                <a:ea typeface="Arial" pitchFamily="34" charset="-122"/>
                <a:cs typeface="Arial" pitchFamily="34" charset="-120"/>
              </a:rPr>
              <a:t> Look for "Local Mode" indicator in the app status bar</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KEY CAPABILITIES</a:t>
            </a:r>
            <a:endParaRPr lang="en-US" sz="825" dirty="0"/>
          </a:p>
        </p:txBody>
      </p:sp>
      <p:sp>
        <p:nvSpPr>
          <p:cNvPr id="3" name="Text 1"/>
          <p:cNvSpPr/>
          <p:nvPr/>
        </p:nvSpPr>
        <p:spPr>
          <a:xfrm>
            <a:off x="457200" y="470446"/>
            <a:ext cx="4206812"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Wispr Flow Features</a:t>
            </a:r>
            <a:endParaRPr lang="en-US" sz="2100" dirty="0"/>
          </a:p>
        </p:txBody>
      </p:sp>
      <p:sp>
        <p:nvSpPr>
          <p:cNvPr id="4" name="Text 2"/>
          <p:cNvSpPr/>
          <p:nvPr/>
        </p:nvSpPr>
        <p:spPr>
          <a:xfrm>
            <a:off x="457200" y="983159"/>
            <a:ext cx="4038600" cy="849511"/>
          </a:xfrm>
          <a:prstGeom prst="rect">
            <a:avLst/>
          </a:prstGeom>
          <a:solidFill>
            <a:srgbClr val="FFFFFF"/>
          </a:solidFill>
          <a:ln/>
        </p:spPr>
        <p:txBody>
          <a:bodyPr wrap="square" rtlCol="0" anchor="ctr"/>
          <a:lstStyle/>
          <a:p>
            <a:pPr marL="0" indent="0">
              <a:buNone/>
            </a:pPr>
            <a:endParaRPr lang="en-US" dirty="0"/>
          </a:p>
        </p:txBody>
      </p:sp>
      <p:sp>
        <p:nvSpPr>
          <p:cNvPr id="5" name="Shape 3"/>
          <p:cNvSpPr/>
          <p:nvPr/>
        </p:nvSpPr>
        <p:spPr>
          <a:xfrm>
            <a:off x="476250" y="983159"/>
            <a:ext cx="0" cy="849511"/>
          </a:xfrm>
          <a:prstGeom prst="line">
            <a:avLst/>
          </a:prstGeom>
          <a:noFill/>
          <a:ln w="38100">
            <a:solidFill>
              <a:srgbClr val="C9A227"/>
            </a:solidFill>
            <a:prstDash val="solid"/>
          </a:ln>
        </p:spPr>
        <p:txBody>
          <a:bodyPr/>
          <a:lstStyle/>
          <a:p>
            <a:endParaRPr lang="en-US"/>
          </a:p>
        </p:txBody>
      </p:sp>
      <p:sp>
        <p:nvSpPr>
          <p:cNvPr id="6" name="Text 4"/>
          <p:cNvSpPr/>
          <p:nvPr/>
        </p:nvSpPr>
        <p:spPr>
          <a:xfrm>
            <a:off x="647700" y="1135559"/>
            <a:ext cx="3769614"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Context Awareness</a:t>
            </a:r>
            <a:endParaRPr lang="en-US" sz="975" dirty="0"/>
          </a:p>
        </p:txBody>
      </p:sp>
      <p:sp>
        <p:nvSpPr>
          <p:cNvPr id="7" name="Text 5"/>
          <p:cNvSpPr/>
          <p:nvPr/>
        </p:nvSpPr>
        <p:spPr>
          <a:xfrm>
            <a:off x="647700" y="1365945"/>
            <a:ext cx="3769614"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Automatically detects what app you're using. Formats output for code in VS Code, prose in Word, casual in Slack.</a:t>
            </a:r>
            <a:endParaRPr lang="en-US" sz="825" dirty="0"/>
          </a:p>
        </p:txBody>
      </p:sp>
      <p:sp>
        <p:nvSpPr>
          <p:cNvPr id="8" name="Text 6"/>
          <p:cNvSpPr/>
          <p:nvPr/>
        </p:nvSpPr>
        <p:spPr>
          <a:xfrm>
            <a:off x="457200" y="1946970"/>
            <a:ext cx="4038600" cy="849511"/>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476250" y="1946970"/>
            <a:ext cx="0" cy="849511"/>
          </a:xfrm>
          <a:prstGeom prst="line">
            <a:avLst/>
          </a:prstGeom>
          <a:noFill/>
          <a:ln w="38100">
            <a:solidFill>
              <a:srgbClr val="C9A227"/>
            </a:solidFill>
            <a:prstDash val="solid"/>
          </a:ln>
        </p:spPr>
        <p:txBody>
          <a:bodyPr/>
          <a:lstStyle/>
          <a:p>
            <a:endParaRPr lang="en-US"/>
          </a:p>
        </p:txBody>
      </p:sp>
      <p:sp>
        <p:nvSpPr>
          <p:cNvPr id="10" name="Text 8"/>
          <p:cNvSpPr/>
          <p:nvPr/>
        </p:nvSpPr>
        <p:spPr>
          <a:xfrm>
            <a:off x="647700" y="2099370"/>
            <a:ext cx="3769614"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Command Mode</a:t>
            </a:r>
            <a:endParaRPr lang="en-US" sz="975" dirty="0"/>
          </a:p>
        </p:txBody>
      </p:sp>
      <p:sp>
        <p:nvSpPr>
          <p:cNvPr id="11" name="Text 9"/>
          <p:cNvSpPr/>
          <p:nvPr/>
        </p:nvSpPr>
        <p:spPr>
          <a:xfrm>
            <a:off x="647700" y="2329755"/>
            <a:ext cx="3769614"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Say "Hey Wispr" to trigger commands. Edit, format, translate, or perform actions on selected text.</a:t>
            </a:r>
            <a:endParaRPr lang="en-US" sz="825" dirty="0"/>
          </a:p>
        </p:txBody>
      </p:sp>
      <p:sp>
        <p:nvSpPr>
          <p:cNvPr id="12" name="Text 10"/>
          <p:cNvSpPr/>
          <p:nvPr/>
        </p:nvSpPr>
        <p:spPr>
          <a:xfrm>
            <a:off x="457200" y="2910780"/>
            <a:ext cx="4038600" cy="849511"/>
          </a:xfrm>
          <a:prstGeom prst="rect">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476250" y="2910780"/>
            <a:ext cx="0" cy="849511"/>
          </a:xfrm>
          <a:prstGeom prst="line">
            <a:avLst/>
          </a:prstGeom>
          <a:noFill/>
          <a:ln w="38100">
            <a:solidFill>
              <a:srgbClr val="C9A227"/>
            </a:solidFill>
            <a:prstDash val="solid"/>
          </a:ln>
        </p:spPr>
        <p:txBody>
          <a:bodyPr/>
          <a:lstStyle/>
          <a:p>
            <a:endParaRPr lang="en-US"/>
          </a:p>
        </p:txBody>
      </p:sp>
      <p:sp>
        <p:nvSpPr>
          <p:cNvPr id="14" name="Text 12"/>
          <p:cNvSpPr/>
          <p:nvPr/>
        </p:nvSpPr>
        <p:spPr>
          <a:xfrm>
            <a:off x="647700" y="3063180"/>
            <a:ext cx="3769614"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Flow State Mode</a:t>
            </a:r>
            <a:endParaRPr lang="en-US" sz="975" dirty="0"/>
          </a:p>
        </p:txBody>
      </p:sp>
      <p:sp>
        <p:nvSpPr>
          <p:cNvPr id="15" name="Text 13"/>
          <p:cNvSpPr/>
          <p:nvPr/>
        </p:nvSpPr>
        <p:spPr>
          <a:xfrm>
            <a:off x="647700" y="3293566"/>
            <a:ext cx="3769614"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Continuous dictation without holding keys. Start speaking when ready, pause naturally between sentences.</a:t>
            </a:r>
            <a:endParaRPr lang="en-US" sz="825" dirty="0"/>
          </a:p>
        </p:txBody>
      </p:sp>
      <p:sp>
        <p:nvSpPr>
          <p:cNvPr id="16" name="Text 14"/>
          <p:cNvSpPr/>
          <p:nvPr/>
        </p:nvSpPr>
        <p:spPr>
          <a:xfrm>
            <a:off x="4648200" y="983159"/>
            <a:ext cx="4038600" cy="849511"/>
          </a:xfrm>
          <a:prstGeom prst="rect">
            <a:avLst/>
          </a:prstGeom>
          <a:solidFill>
            <a:srgbClr val="FFFFFF"/>
          </a:solidFill>
          <a:ln/>
        </p:spPr>
        <p:txBody>
          <a:bodyPr wrap="square" rtlCol="0" anchor="ctr"/>
          <a:lstStyle/>
          <a:p>
            <a:pPr marL="0" indent="0">
              <a:buNone/>
            </a:pPr>
            <a:endParaRPr lang="en-US" dirty="0"/>
          </a:p>
        </p:txBody>
      </p:sp>
      <p:sp>
        <p:nvSpPr>
          <p:cNvPr id="17" name="Shape 15"/>
          <p:cNvSpPr/>
          <p:nvPr/>
        </p:nvSpPr>
        <p:spPr>
          <a:xfrm>
            <a:off x="4667250" y="983159"/>
            <a:ext cx="0" cy="849511"/>
          </a:xfrm>
          <a:prstGeom prst="line">
            <a:avLst/>
          </a:prstGeom>
          <a:noFill/>
          <a:ln w="38100">
            <a:solidFill>
              <a:srgbClr val="C9A227"/>
            </a:solidFill>
            <a:prstDash val="solid"/>
          </a:ln>
        </p:spPr>
        <p:txBody>
          <a:bodyPr/>
          <a:lstStyle/>
          <a:p>
            <a:endParaRPr lang="en-US"/>
          </a:p>
        </p:txBody>
      </p:sp>
      <p:sp>
        <p:nvSpPr>
          <p:cNvPr id="18" name="Text 16"/>
          <p:cNvSpPr/>
          <p:nvPr/>
        </p:nvSpPr>
        <p:spPr>
          <a:xfrm>
            <a:off x="4838700" y="1135559"/>
            <a:ext cx="3769614"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Smart Formatting</a:t>
            </a:r>
            <a:endParaRPr lang="en-US" sz="975" dirty="0"/>
          </a:p>
        </p:txBody>
      </p:sp>
      <p:sp>
        <p:nvSpPr>
          <p:cNvPr id="19" name="Text 17"/>
          <p:cNvSpPr/>
          <p:nvPr/>
        </p:nvSpPr>
        <p:spPr>
          <a:xfrm>
            <a:off x="4838700" y="1365945"/>
            <a:ext cx="3769614"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Auto-capitalizes sentences, adds punctuation intelligently, formats code blocks, and handles special characters.</a:t>
            </a:r>
            <a:endParaRPr lang="en-US" sz="825" dirty="0"/>
          </a:p>
        </p:txBody>
      </p:sp>
      <p:sp>
        <p:nvSpPr>
          <p:cNvPr id="20" name="Text 18"/>
          <p:cNvSpPr/>
          <p:nvPr/>
        </p:nvSpPr>
        <p:spPr>
          <a:xfrm>
            <a:off x="4648200" y="1946970"/>
            <a:ext cx="4038600" cy="849511"/>
          </a:xfrm>
          <a:prstGeom prst="rect">
            <a:avLst/>
          </a:prstGeom>
          <a:solidFill>
            <a:srgbClr val="FFFFFF"/>
          </a:solidFill>
          <a:ln/>
        </p:spPr>
        <p:txBody>
          <a:bodyPr wrap="square" rtlCol="0" anchor="ctr"/>
          <a:lstStyle/>
          <a:p>
            <a:pPr marL="0" indent="0">
              <a:buNone/>
            </a:pPr>
            <a:endParaRPr lang="en-US" dirty="0"/>
          </a:p>
        </p:txBody>
      </p:sp>
      <p:sp>
        <p:nvSpPr>
          <p:cNvPr id="21" name="Shape 19"/>
          <p:cNvSpPr/>
          <p:nvPr/>
        </p:nvSpPr>
        <p:spPr>
          <a:xfrm>
            <a:off x="4667250" y="1946970"/>
            <a:ext cx="0" cy="849511"/>
          </a:xfrm>
          <a:prstGeom prst="line">
            <a:avLst/>
          </a:prstGeom>
          <a:noFill/>
          <a:ln w="38100">
            <a:solidFill>
              <a:srgbClr val="C9A227"/>
            </a:solidFill>
            <a:prstDash val="solid"/>
          </a:ln>
        </p:spPr>
        <p:txBody>
          <a:bodyPr/>
          <a:lstStyle/>
          <a:p>
            <a:endParaRPr lang="en-US"/>
          </a:p>
        </p:txBody>
      </p:sp>
      <p:sp>
        <p:nvSpPr>
          <p:cNvPr id="22" name="Text 20"/>
          <p:cNvSpPr/>
          <p:nvPr/>
        </p:nvSpPr>
        <p:spPr>
          <a:xfrm>
            <a:off x="4838700" y="2099370"/>
            <a:ext cx="3769614"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Georgia" pitchFamily="34" charset="0"/>
                <a:ea typeface="Georgia" pitchFamily="34" charset="-122"/>
                <a:cs typeface="Georgia" pitchFamily="34" charset="-120"/>
              </a:rPr>
              <a:t>Multi-Language Support</a:t>
            </a:r>
            <a:endParaRPr lang="en-US" sz="975" dirty="0"/>
          </a:p>
        </p:txBody>
      </p:sp>
      <p:sp>
        <p:nvSpPr>
          <p:cNvPr id="23" name="Text 21"/>
          <p:cNvSpPr/>
          <p:nvPr/>
        </p:nvSpPr>
        <p:spPr>
          <a:xfrm>
            <a:off x="4838700" y="2329755"/>
            <a:ext cx="3769614"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Supports 30+ languages with automatic detection. Switch languages mid-dictation seamlessly.</a:t>
            </a:r>
            <a:endParaRPr lang="en-US" sz="825" dirty="0"/>
          </a:p>
        </p:txBody>
      </p:sp>
      <p:sp>
        <p:nvSpPr>
          <p:cNvPr id="24" name="Text 22"/>
          <p:cNvSpPr/>
          <p:nvPr/>
        </p:nvSpPr>
        <p:spPr>
          <a:xfrm>
            <a:off x="4648200" y="2910780"/>
            <a:ext cx="4038600" cy="849511"/>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4800600" y="3063180"/>
            <a:ext cx="3808476"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C9A227"/>
                </a:solidFill>
                <a:latin typeface="Georgia" pitchFamily="34" charset="0"/>
                <a:ea typeface="Georgia" pitchFamily="34" charset="-122"/>
                <a:cs typeface="Georgia" pitchFamily="34" charset="-120"/>
              </a:rPr>
              <a:t>Correction Mode</a:t>
            </a:r>
            <a:endParaRPr lang="en-US" sz="975" dirty="0"/>
          </a:p>
        </p:txBody>
      </p:sp>
      <p:sp>
        <p:nvSpPr>
          <p:cNvPr id="26" name="Text 24"/>
          <p:cNvSpPr/>
          <p:nvPr/>
        </p:nvSpPr>
        <p:spPr>
          <a:xfrm>
            <a:off x="4800600" y="3293566"/>
            <a:ext cx="3808476"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70000"/>
                  </a:srgbClr>
                </a:solidFill>
                <a:latin typeface="Arial" pitchFamily="34" charset="0"/>
                <a:ea typeface="Arial" pitchFamily="34" charset="-122"/>
                <a:cs typeface="Arial" pitchFamily="34" charset="-120"/>
              </a:rPr>
              <a:t>Say "correct that" or "change X to Y" to make inline edits without switching to keyboard.</a:t>
            </a:r>
            <a:endParaRPr lang="en-US" sz="825" dirty="0"/>
          </a:p>
        </p:txBody>
      </p:sp>
      <p:sp>
        <p:nvSpPr>
          <p:cNvPr id="27" name="Text 25"/>
          <p:cNvSpPr/>
          <p:nvPr/>
        </p:nvSpPr>
        <p:spPr>
          <a:xfrm>
            <a:off x="457200" y="4082504"/>
            <a:ext cx="4038600" cy="794296"/>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28" name="Text 26"/>
          <p:cNvSpPr/>
          <p:nvPr/>
        </p:nvSpPr>
        <p:spPr>
          <a:xfrm>
            <a:off x="600075" y="4225379"/>
            <a:ext cx="3827907"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CODING CONTEXT EXAMPLE</a:t>
            </a:r>
            <a:endParaRPr lang="en-US" sz="825" dirty="0"/>
          </a:p>
        </p:txBody>
      </p:sp>
      <p:sp>
        <p:nvSpPr>
          <p:cNvPr id="29" name="Text 27"/>
          <p:cNvSpPr/>
          <p:nvPr/>
        </p:nvSpPr>
        <p:spPr>
          <a:xfrm>
            <a:off x="600075" y="4410075"/>
            <a:ext cx="3827907" cy="323850"/>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Say: "create a function called calculate total that takes price and quantity"</a:t>
            </a:r>
            <a:endParaRPr lang="en-US" sz="825" dirty="0"/>
          </a:p>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Output: </a:t>
            </a:r>
            <a:endParaRPr lang="en-US" sz="825" dirty="0"/>
          </a:p>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function calculateTotal(price, quantity)</a:t>
            </a:r>
            <a:endParaRPr lang="en-US" sz="825" dirty="0"/>
          </a:p>
        </p:txBody>
      </p:sp>
      <p:sp>
        <p:nvSpPr>
          <p:cNvPr id="30" name="Text 28"/>
          <p:cNvSpPr/>
          <p:nvPr/>
        </p:nvSpPr>
        <p:spPr>
          <a:xfrm>
            <a:off x="4648200" y="4087267"/>
            <a:ext cx="4038600" cy="784771"/>
          </a:xfrm>
          <a:prstGeom prst="rect">
            <a:avLst/>
          </a:prstGeom>
          <a:solidFill>
            <a:srgbClr val="C9A227">
              <a:alpha val="10000"/>
            </a:srgbClr>
          </a:solidFill>
          <a:ln w="9525">
            <a:solidFill>
              <a:srgbClr val="C9A227"/>
            </a:solidFill>
          </a:ln>
        </p:spPr>
        <p:txBody>
          <a:bodyPr wrap="square" rtlCol="0" anchor="ctr"/>
          <a:lstStyle/>
          <a:p>
            <a:pPr marL="0" indent="0">
              <a:buNone/>
            </a:pPr>
            <a:endParaRPr lang="en-US" dirty="0"/>
          </a:p>
        </p:txBody>
      </p:sp>
      <p:sp>
        <p:nvSpPr>
          <p:cNvPr id="31" name="Text 29"/>
          <p:cNvSpPr/>
          <p:nvPr/>
        </p:nvSpPr>
        <p:spPr>
          <a:xfrm>
            <a:off x="4791075" y="4230142"/>
            <a:ext cx="3827907"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EMAIL CONTEXT EXAMPLE</a:t>
            </a:r>
            <a:endParaRPr lang="en-US" sz="825" dirty="0"/>
          </a:p>
        </p:txBody>
      </p:sp>
      <p:sp>
        <p:nvSpPr>
          <p:cNvPr id="32" name="Text 30"/>
          <p:cNvSpPr/>
          <p:nvPr/>
        </p:nvSpPr>
        <p:spPr>
          <a:xfrm>
            <a:off x="4791075" y="4414838"/>
            <a:ext cx="3827907"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Say: "hi john comma thanks for the meeting period looking forward to next steps"</a:t>
            </a:r>
            <a:endParaRPr lang="en-US" sz="825" dirty="0"/>
          </a:p>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Output: Hi John, Thanks for the meeting. Looking forward to next steps.</a:t>
            </a:r>
            <a:endParaRPr lang="en-US" sz="8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4219"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04800" y="340221"/>
            <a:ext cx="4421312"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IDE INTEGRATION</a:t>
            </a:r>
            <a:endParaRPr lang="en-US" sz="750" dirty="0"/>
          </a:p>
        </p:txBody>
      </p:sp>
      <p:sp>
        <p:nvSpPr>
          <p:cNvPr id="4" name="Text 2"/>
          <p:cNvSpPr/>
          <p:nvPr/>
        </p:nvSpPr>
        <p:spPr>
          <a:xfrm>
            <a:off x="304800" y="664071"/>
            <a:ext cx="2574608" cy="228600"/>
          </a:xfrm>
          <a:prstGeom prst="rect">
            <a:avLst/>
          </a:prstGeom>
          <a:noFill/>
          <a:ln/>
        </p:spPr>
        <p:txBody>
          <a:bodyPr wrap="square" lIns="0" tIns="0" rIns="0" bIns="0" rtlCol="0" anchor="t"/>
          <a:lstStyle/>
          <a:p>
            <a:pPr marL="0" indent="0" algn="l">
              <a:lnSpc>
                <a:spcPts val="1800"/>
              </a:lnSpc>
              <a:spcAft>
                <a:spcPts val="300"/>
              </a:spcAft>
              <a:buNone/>
            </a:pPr>
            <a:r>
              <a:rPr lang="en-US" sz="1800" dirty="0">
                <a:solidFill>
                  <a:srgbClr val="1A1F2E"/>
                </a:solidFill>
                <a:latin typeface="Georgia" pitchFamily="34" charset="0"/>
                <a:ea typeface="Georgia" pitchFamily="34" charset="-122"/>
                <a:cs typeface="Georgia" pitchFamily="34" charset="-120"/>
              </a:rPr>
              <a:t>Wispr Flow + Code Editors</a:t>
            </a:r>
            <a:endParaRPr lang="en-US" sz="1800" dirty="0"/>
          </a:p>
        </p:txBody>
      </p:sp>
      <p:sp>
        <p:nvSpPr>
          <p:cNvPr id="5" name="Text 3"/>
          <p:cNvSpPr/>
          <p:nvPr/>
        </p:nvSpPr>
        <p:spPr>
          <a:xfrm>
            <a:off x="304800" y="1083171"/>
            <a:ext cx="4421312" cy="146596"/>
          </a:xfrm>
          <a:prstGeom prst="rect">
            <a:avLst/>
          </a:prstGeom>
          <a:noFill/>
          <a:ln/>
        </p:spPr>
        <p:txBody>
          <a:bodyPr wrap="square" lIns="0" tIns="0" rIns="0" bIns="0" rtlCol="0" anchor="t"/>
          <a:lstStyle/>
          <a:p>
            <a:pPr marL="0" indent="0" algn="l">
              <a:lnSpc>
                <a:spcPts val="1155"/>
              </a:lnSpc>
              <a:spcAft>
                <a:spcPts val="1050"/>
              </a:spcAft>
              <a:buNone/>
            </a:pPr>
            <a:r>
              <a:rPr lang="en-US" sz="825" dirty="0">
                <a:solidFill>
                  <a:srgbClr val="6B7280"/>
                </a:solidFill>
                <a:latin typeface="Arial" pitchFamily="34" charset="0"/>
                <a:ea typeface="Arial" pitchFamily="34" charset="-122"/>
                <a:cs typeface="Arial" pitchFamily="34" charset="-120"/>
              </a:rPr>
              <a:t>Special features for VS Code, Cursor, and other IDEs</a:t>
            </a:r>
            <a:endParaRPr lang="en-US" sz="825" dirty="0"/>
          </a:p>
        </p:txBody>
      </p:sp>
      <p:sp>
        <p:nvSpPr>
          <p:cNvPr id="6" name="Text 4"/>
          <p:cNvSpPr/>
          <p:nvPr/>
        </p:nvSpPr>
        <p:spPr>
          <a:xfrm>
            <a:off x="304800" y="1515517"/>
            <a:ext cx="4334619" cy="641896"/>
          </a:xfrm>
          <a:prstGeom prst="rect">
            <a:avLst/>
          </a:prstGeom>
          <a:solidFill>
            <a:srgbClr val="FFFFFF"/>
          </a:solidFill>
          <a:ln/>
        </p:spPr>
        <p:txBody>
          <a:bodyPr wrap="square" rtlCol="0" anchor="ctr"/>
          <a:lstStyle/>
          <a:p>
            <a:pPr marL="0" indent="0">
              <a:buNone/>
            </a:pPr>
            <a:endParaRPr lang="en-US" dirty="0"/>
          </a:p>
        </p:txBody>
      </p:sp>
      <p:sp>
        <p:nvSpPr>
          <p:cNvPr id="7" name="Shape 5"/>
          <p:cNvSpPr/>
          <p:nvPr/>
        </p:nvSpPr>
        <p:spPr>
          <a:xfrm>
            <a:off x="323850" y="1515517"/>
            <a:ext cx="0" cy="641896"/>
          </a:xfrm>
          <a:prstGeom prst="line">
            <a:avLst/>
          </a:prstGeom>
          <a:noFill/>
          <a:ln w="38100">
            <a:solidFill>
              <a:srgbClr val="C9A227"/>
            </a:solidFill>
            <a:prstDash val="solid"/>
          </a:ln>
        </p:spPr>
        <p:txBody>
          <a:bodyPr/>
          <a:lstStyle/>
          <a:p>
            <a:endParaRPr lang="en-US"/>
          </a:p>
        </p:txBody>
      </p:sp>
      <p:sp>
        <p:nvSpPr>
          <p:cNvPr id="8" name="Text 6"/>
          <p:cNvSpPr/>
          <p:nvPr/>
        </p:nvSpPr>
        <p:spPr>
          <a:xfrm>
            <a:off x="457200" y="1610767"/>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Automatic Code Formatting</a:t>
            </a:r>
            <a:endParaRPr lang="en-US" sz="825" dirty="0"/>
          </a:p>
        </p:txBody>
      </p:sp>
      <p:sp>
        <p:nvSpPr>
          <p:cNvPr id="9" name="Text 7"/>
          <p:cNvSpPr/>
          <p:nvPr/>
        </p:nvSpPr>
        <p:spPr>
          <a:xfrm>
            <a:off x="457200" y="1795463"/>
            <a:ext cx="4149278" cy="26670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Wispr detects when you're in a code file and automatically formats variable names as camelCase, adds proper syntax, and handles special characters.</a:t>
            </a:r>
            <a:endParaRPr lang="en-US" sz="750" dirty="0"/>
          </a:p>
        </p:txBody>
      </p:sp>
      <p:sp>
        <p:nvSpPr>
          <p:cNvPr id="10" name="Text 8"/>
          <p:cNvSpPr/>
          <p:nvPr/>
        </p:nvSpPr>
        <p:spPr>
          <a:xfrm>
            <a:off x="304800" y="2405063"/>
            <a:ext cx="4334619" cy="641896"/>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323850" y="2405063"/>
            <a:ext cx="0" cy="641896"/>
          </a:xfrm>
          <a:prstGeom prst="line">
            <a:avLst/>
          </a:prstGeom>
          <a:noFill/>
          <a:ln w="38100">
            <a:solidFill>
              <a:srgbClr val="C9A227"/>
            </a:solidFill>
            <a:prstDash val="solid"/>
          </a:ln>
        </p:spPr>
        <p:txBody>
          <a:bodyPr/>
          <a:lstStyle/>
          <a:p>
            <a:endParaRPr lang="en-US"/>
          </a:p>
        </p:txBody>
      </p:sp>
      <p:sp>
        <p:nvSpPr>
          <p:cNvPr id="12" name="Text 10"/>
          <p:cNvSpPr/>
          <p:nvPr/>
        </p:nvSpPr>
        <p:spPr>
          <a:xfrm>
            <a:off x="457200" y="2500313"/>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Language-Aware Dictation</a:t>
            </a:r>
            <a:endParaRPr lang="en-US" sz="825" dirty="0"/>
          </a:p>
        </p:txBody>
      </p:sp>
      <p:sp>
        <p:nvSpPr>
          <p:cNvPr id="13" name="Text 11"/>
          <p:cNvSpPr/>
          <p:nvPr/>
        </p:nvSpPr>
        <p:spPr>
          <a:xfrm>
            <a:off x="457200" y="2685008"/>
            <a:ext cx="4149278" cy="26670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Recognizes file type (.py, .js, .tsx) and adjusts output. Say "string" in Python, get quotes; in TypeScript, get proper typing.</a:t>
            </a:r>
            <a:endParaRPr lang="en-US" sz="750" dirty="0"/>
          </a:p>
        </p:txBody>
      </p:sp>
      <p:sp>
        <p:nvSpPr>
          <p:cNvPr id="14" name="Text 12"/>
          <p:cNvSpPr/>
          <p:nvPr/>
        </p:nvSpPr>
        <p:spPr>
          <a:xfrm>
            <a:off x="304800" y="3294608"/>
            <a:ext cx="4334619" cy="641896"/>
          </a:xfrm>
          <a:prstGeom prst="rect">
            <a:avLst/>
          </a:prstGeom>
          <a:solidFill>
            <a:srgbClr val="FFFFFF"/>
          </a:solidFill>
          <a:ln/>
        </p:spPr>
        <p:txBody>
          <a:bodyPr wrap="square" rtlCol="0" anchor="ctr"/>
          <a:lstStyle/>
          <a:p>
            <a:pPr marL="0" indent="0">
              <a:buNone/>
            </a:pPr>
            <a:endParaRPr lang="en-US" dirty="0"/>
          </a:p>
        </p:txBody>
      </p:sp>
      <p:sp>
        <p:nvSpPr>
          <p:cNvPr id="15" name="Shape 13"/>
          <p:cNvSpPr/>
          <p:nvPr/>
        </p:nvSpPr>
        <p:spPr>
          <a:xfrm>
            <a:off x="323850" y="3294608"/>
            <a:ext cx="0" cy="641896"/>
          </a:xfrm>
          <a:prstGeom prst="line">
            <a:avLst/>
          </a:prstGeom>
          <a:noFill/>
          <a:ln w="38100">
            <a:solidFill>
              <a:srgbClr val="C9A227"/>
            </a:solidFill>
            <a:prstDash val="solid"/>
          </a:ln>
        </p:spPr>
        <p:txBody>
          <a:bodyPr/>
          <a:lstStyle/>
          <a:p>
            <a:endParaRPr lang="en-US"/>
          </a:p>
        </p:txBody>
      </p:sp>
      <p:sp>
        <p:nvSpPr>
          <p:cNvPr id="16" name="Text 14"/>
          <p:cNvSpPr/>
          <p:nvPr/>
        </p:nvSpPr>
        <p:spPr>
          <a:xfrm>
            <a:off x="457200" y="3389858"/>
            <a:ext cx="4149278"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Comment Dictation</a:t>
            </a:r>
            <a:endParaRPr lang="en-US" sz="825" dirty="0"/>
          </a:p>
        </p:txBody>
      </p:sp>
      <p:sp>
        <p:nvSpPr>
          <p:cNvPr id="17" name="Text 15"/>
          <p:cNvSpPr/>
          <p:nvPr/>
        </p:nvSpPr>
        <p:spPr>
          <a:xfrm>
            <a:off x="457200" y="3574554"/>
            <a:ext cx="4149278" cy="26670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Say "comment" before dictating and Wispr adds appropriate comment syntax (// for JS, # for Python, etc.)</a:t>
            </a:r>
            <a:endParaRPr lang="en-US" sz="750" dirty="0"/>
          </a:p>
        </p:txBody>
      </p:sp>
      <p:sp>
        <p:nvSpPr>
          <p:cNvPr id="18" name="Text 16"/>
          <p:cNvSpPr/>
          <p:nvPr/>
        </p:nvSpPr>
        <p:spPr>
          <a:xfrm>
            <a:off x="304800" y="4184154"/>
            <a:ext cx="4334619" cy="619125"/>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419100" y="4279404"/>
            <a:ext cx="4188140" cy="133350"/>
          </a:xfrm>
          <a:prstGeom prst="rect">
            <a:avLst/>
          </a:prstGeom>
          <a:noFill/>
          <a:ln/>
        </p:spPr>
        <p:txBody>
          <a:bodyPr wrap="square" lIns="0" tIns="0" rIns="0" bIns="0" rtlCol="0" anchor="t"/>
          <a:lstStyle/>
          <a:p>
            <a:pPr marL="0" indent="0" algn="l">
              <a:lnSpc>
                <a:spcPts val="1050"/>
              </a:lnSpc>
              <a:spcAft>
                <a:spcPts val="225"/>
              </a:spcAft>
              <a:buNone/>
            </a:pPr>
            <a:r>
              <a:rPr lang="en-US" sz="750" b="1" dirty="0">
                <a:solidFill>
                  <a:srgbClr val="C9A227"/>
                </a:solidFill>
                <a:latin typeface="Arial" pitchFamily="34" charset="0"/>
                <a:ea typeface="Arial" pitchFamily="34" charset="-122"/>
                <a:cs typeface="Arial" pitchFamily="34" charset="-120"/>
              </a:rPr>
              <a:t>CURSOR + WISPR FLOW</a:t>
            </a:r>
            <a:endParaRPr lang="en-US" sz="750" dirty="0"/>
          </a:p>
        </p:txBody>
      </p:sp>
      <p:sp>
        <p:nvSpPr>
          <p:cNvPr id="20" name="Text 18"/>
          <p:cNvSpPr/>
          <p:nvPr/>
        </p:nvSpPr>
        <p:spPr>
          <a:xfrm>
            <a:off x="419100" y="4441329"/>
            <a:ext cx="4188140"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80000"/>
                  </a:srgbClr>
                </a:solidFill>
                <a:latin typeface="Arial" pitchFamily="34" charset="0"/>
                <a:ea typeface="Arial" pitchFamily="34" charset="-122"/>
                <a:cs typeface="Arial" pitchFamily="34" charset="-120"/>
              </a:rPr>
              <a:t>Combine voice dictation with Cursor's AI. Dictate prompts to Cursor's composer with your voice for hands-free AI coding.</a:t>
            </a:r>
            <a:endParaRPr lang="en-US" sz="750" dirty="0"/>
          </a:p>
        </p:txBody>
      </p:sp>
      <p:sp>
        <p:nvSpPr>
          <p:cNvPr id="21" name="Text 19"/>
          <p:cNvSpPr/>
          <p:nvPr/>
        </p:nvSpPr>
        <p:spPr>
          <a:xfrm>
            <a:off x="5096619" y="0"/>
            <a:ext cx="4047381" cy="5143500"/>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5401419" y="266700"/>
            <a:ext cx="3506536" cy="133350"/>
          </a:xfrm>
          <a:prstGeom prst="rect">
            <a:avLst/>
          </a:prstGeom>
          <a:noFill/>
          <a:ln/>
        </p:spPr>
        <p:txBody>
          <a:bodyPr wrap="square" lIns="0" tIns="0" rIns="0" bIns="0" rtlCol="0" anchor="t"/>
          <a:lstStyle/>
          <a:p>
            <a:pPr marL="0" indent="0" algn="l">
              <a:lnSpc>
                <a:spcPts val="1050"/>
              </a:lnSpc>
              <a:spcAft>
                <a:spcPts val="900"/>
              </a:spcAft>
              <a:buNone/>
            </a:pPr>
            <a:r>
              <a:rPr lang="en-US" sz="750" dirty="0">
                <a:solidFill>
                  <a:srgbClr val="C9A227"/>
                </a:solidFill>
                <a:latin typeface="Arial" pitchFamily="34" charset="0"/>
                <a:ea typeface="Arial" pitchFamily="34" charset="-122"/>
                <a:cs typeface="Arial" pitchFamily="34" charset="-120"/>
              </a:rPr>
              <a:t>CONFIGURATION TIPS</a:t>
            </a:r>
            <a:endParaRPr lang="en-US" sz="750" dirty="0"/>
          </a:p>
        </p:txBody>
      </p:sp>
      <p:sp>
        <p:nvSpPr>
          <p:cNvPr id="23" name="Text 21"/>
          <p:cNvSpPr/>
          <p:nvPr/>
        </p:nvSpPr>
        <p:spPr>
          <a:xfrm>
            <a:off x="5401419" y="666750"/>
            <a:ext cx="3437781" cy="699046"/>
          </a:xfrm>
          <a:prstGeom prst="rect">
            <a:avLst/>
          </a:prstGeom>
          <a:solidFill>
            <a:srgbClr val="FFFFFF">
              <a:alpha val="5000"/>
            </a:srgbClr>
          </a:solidFill>
          <a:ln w="9525">
            <a:solidFill>
              <a:srgbClr val="FFFFFF"/>
            </a:solidFill>
          </a:ln>
        </p:spPr>
        <p:txBody>
          <a:bodyPr wrap="square" rtlCol="0" anchor="ctr"/>
          <a:lstStyle/>
          <a:p>
            <a:pPr marL="0" indent="0">
              <a:buNone/>
            </a:pPr>
            <a:endParaRPr lang="en-US" dirty="0"/>
          </a:p>
        </p:txBody>
      </p:sp>
      <p:sp>
        <p:nvSpPr>
          <p:cNvPr id="24" name="Text 22"/>
          <p:cNvSpPr/>
          <p:nvPr/>
        </p:nvSpPr>
        <p:spPr>
          <a:xfrm>
            <a:off x="5525244" y="790575"/>
            <a:ext cx="3253933"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Hotkey Setup</a:t>
            </a:r>
            <a:endParaRPr lang="en-US" sz="825" dirty="0"/>
          </a:p>
        </p:txBody>
      </p:sp>
      <p:sp>
        <p:nvSpPr>
          <p:cNvPr id="25" name="Text 23"/>
          <p:cNvSpPr/>
          <p:nvPr/>
        </p:nvSpPr>
        <p:spPr>
          <a:xfrm>
            <a:off x="5525244" y="975271"/>
            <a:ext cx="3253933"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Avoid conflicts with IDE shortcuts. Use Cmd/Ctrl+Shift+D or a dedicated key like Caps Lock.</a:t>
            </a:r>
            <a:endParaRPr lang="en-US" sz="750" dirty="0"/>
          </a:p>
        </p:txBody>
      </p:sp>
      <p:sp>
        <p:nvSpPr>
          <p:cNvPr id="26" name="Text 24"/>
          <p:cNvSpPr/>
          <p:nvPr/>
        </p:nvSpPr>
        <p:spPr>
          <a:xfrm>
            <a:off x="5401419" y="1613446"/>
            <a:ext cx="3437781" cy="699046"/>
          </a:xfrm>
          <a:prstGeom prst="rect">
            <a:avLst/>
          </a:prstGeom>
          <a:solidFill>
            <a:srgbClr val="FFFFFF">
              <a:alpha val="5000"/>
            </a:srgbClr>
          </a:solidFill>
          <a:ln w="9525">
            <a:solidFill>
              <a:srgbClr val="FFFFFF"/>
            </a:solidFill>
          </a:ln>
        </p:spPr>
        <p:txBody>
          <a:bodyPr wrap="square" rtlCol="0" anchor="ctr"/>
          <a:lstStyle/>
          <a:p>
            <a:pPr marL="0" indent="0">
              <a:buNone/>
            </a:pPr>
            <a:endParaRPr lang="en-US" dirty="0"/>
          </a:p>
        </p:txBody>
      </p:sp>
      <p:sp>
        <p:nvSpPr>
          <p:cNvPr id="27" name="Text 25"/>
          <p:cNvSpPr/>
          <p:nvPr/>
        </p:nvSpPr>
        <p:spPr>
          <a:xfrm>
            <a:off x="5525244" y="1737271"/>
            <a:ext cx="3253933"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Enable IDE Mode</a:t>
            </a:r>
            <a:endParaRPr lang="en-US" sz="825" dirty="0"/>
          </a:p>
        </p:txBody>
      </p:sp>
      <p:sp>
        <p:nvSpPr>
          <p:cNvPr id="28" name="Text 26"/>
          <p:cNvSpPr/>
          <p:nvPr/>
        </p:nvSpPr>
        <p:spPr>
          <a:xfrm>
            <a:off x="5525244" y="1921966"/>
            <a:ext cx="3253933"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Settings &gt; Applications &gt; Enable "Developer Mode" for enhanced code formatting.</a:t>
            </a:r>
            <a:endParaRPr lang="en-US" sz="750" dirty="0"/>
          </a:p>
        </p:txBody>
      </p:sp>
      <p:sp>
        <p:nvSpPr>
          <p:cNvPr id="29" name="Text 27"/>
          <p:cNvSpPr/>
          <p:nvPr/>
        </p:nvSpPr>
        <p:spPr>
          <a:xfrm>
            <a:off x="5401419" y="2560141"/>
            <a:ext cx="3437781" cy="699046"/>
          </a:xfrm>
          <a:prstGeom prst="rect">
            <a:avLst/>
          </a:prstGeom>
          <a:solidFill>
            <a:srgbClr val="FFFFFF">
              <a:alpha val="5000"/>
            </a:srgbClr>
          </a:solidFill>
          <a:ln w="9525">
            <a:solidFill>
              <a:srgbClr val="FFFFFF"/>
            </a:solidFill>
          </a:ln>
        </p:spPr>
        <p:txBody>
          <a:bodyPr wrap="square" rtlCol="0" anchor="ctr"/>
          <a:lstStyle/>
          <a:p>
            <a:pPr marL="0" indent="0">
              <a:buNone/>
            </a:pPr>
            <a:endParaRPr lang="en-US" dirty="0"/>
          </a:p>
        </p:txBody>
      </p:sp>
      <p:sp>
        <p:nvSpPr>
          <p:cNvPr id="30" name="Text 28"/>
          <p:cNvSpPr/>
          <p:nvPr/>
        </p:nvSpPr>
        <p:spPr>
          <a:xfrm>
            <a:off x="5525244" y="2683966"/>
            <a:ext cx="3253933"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Custom Vocabulary</a:t>
            </a:r>
            <a:endParaRPr lang="en-US" sz="825" dirty="0"/>
          </a:p>
        </p:txBody>
      </p:sp>
      <p:sp>
        <p:nvSpPr>
          <p:cNvPr id="31" name="Text 29"/>
          <p:cNvSpPr/>
          <p:nvPr/>
        </p:nvSpPr>
        <p:spPr>
          <a:xfrm>
            <a:off x="5525244" y="2868662"/>
            <a:ext cx="3253933"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Add your project's function names, variables, and technical terms for better recognition.</a:t>
            </a:r>
            <a:endParaRPr lang="en-US" sz="750" dirty="0"/>
          </a:p>
        </p:txBody>
      </p:sp>
      <p:sp>
        <p:nvSpPr>
          <p:cNvPr id="32" name="Text 30"/>
          <p:cNvSpPr/>
          <p:nvPr/>
        </p:nvSpPr>
        <p:spPr>
          <a:xfrm>
            <a:off x="5401419" y="3506837"/>
            <a:ext cx="3437781" cy="990600"/>
          </a:xfrm>
          <a:prstGeom prst="rect">
            <a:avLst/>
          </a:prstGeom>
          <a:solidFill>
            <a:srgbClr val="C9A227">
              <a:alpha val="20000"/>
            </a:srgbClr>
          </a:solidFill>
          <a:ln w="9525">
            <a:solidFill>
              <a:srgbClr val="C9A227"/>
            </a:solidFill>
          </a:ln>
        </p:spPr>
        <p:txBody>
          <a:bodyPr wrap="square" rtlCol="0" anchor="ctr"/>
          <a:lstStyle/>
          <a:p>
            <a:pPr marL="0" indent="0">
              <a:buNone/>
            </a:pPr>
            <a:endParaRPr lang="en-US" dirty="0"/>
          </a:p>
        </p:txBody>
      </p:sp>
      <p:sp>
        <p:nvSpPr>
          <p:cNvPr id="33" name="Text 31"/>
          <p:cNvSpPr/>
          <p:nvPr/>
        </p:nvSpPr>
        <p:spPr>
          <a:xfrm>
            <a:off x="5525244" y="3630662"/>
            <a:ext cx="3253933"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WORKFLOW EXAMPLE</a:t>
            </a:r>
            <a:endParaRPr lang="en-US" sz="750" dirty="0"/>
          </a:p>
        </p:txBody>
      </p:sp>
      <p:sp>
        <p:nvSpPr>
          <p:cNvPr id="34" name="Text 32"/>
          <p:cNvSpPr/>
          <p:nvPr/>
        </p:nvSpPr>
        <p:spPr>
          <a:xfrm>
            <a:off x="5525244" y="3802112"/>
            <a:ext cx="3253933"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1. Open Cursor/VS Code</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2. Position cursor where you want code</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3. Hold hotkey and describe function</a:t>
            </a:r>
            <a:endParaRPr lang="en-US" sz="750" dirty="0"/>
          </a:p>
          <a:p>
            <a:pPr marL="0" indent="0" algn="l">
              <a:lnSpc>
                <a:spcPts val="1125"/>
              </a:lnSpc>
              <a:buNone/>
            </a:pPr>
            <a:r>
              <a:rPr lang="en-US" sz="750" dirty="0">
                <a:solidFill>
                  <a:srgbClr val="FFFFFF">
                    <a:alpha val="70000"/>
                  </a:srgbClr>
                </a:solidFill>
                <a:latin typeface="Arial" pitchFamily="34" charset="0"/>
                <a:ea typeface="Arial" pitchFamily="34" charset="-122"/>
                <a:cs typeface="Arial" pitchFamily="34" charset="-120"/>
              </a:rPr>
              <a:t>4. Release to insert formatted code</a:t>
            </a:r>
            <a:endParaRPr lang="en-US" sz="750" dirty="0"/>
          </a:p>
        </p:txBody>
      </p:sp>
      <p:sp>
        <p:nvSpPr>
          <p:cNvPr id="35" name="Text 33"/>
          <p:cNvSpPr/>
          <p:nvPr/>
        </p:nvSpPr>
        <p:spPr>
          <a:xfrm>
            <a:off x="5401419" y="4756845"/>
            <a:ext cx="3506536" cy="119955"/>
          </a:xfrm>
          <a:prstGeom prst="rect">
            <a:avLst/>
          </a:prstGeom>
          <a:noFill/>
          <a:ln/>
        </p:spPr>
        <p:txBody>
          <a:bodyPr wrap="square" lIns="0" tIns="0" rIns="0" bIns="0" rtlCol="0" anchor="t"/>
          <a:lstStyle/>
          <a:p>
            <a:pPr marL="0" indent="0" algn="l">
              <a:lnSpc>
                <a:spcPts val="945"/>
              </a:lnSpc>
              <a:buNone/>
            </a:pPr>
            <a:r>
              <a:rPr lang="en-US" sz="675" dirty="0">
                <a:solidFill>
                  <a:srgbClr val="FFFFFF">
                    <a:alpha val="40000"/>
                  </a:srgbClr>
                </a:solidFill>
                <a:latin typeface="Arial" pitchFamily="34" charset="0"/>
                <a:ea typeface="Arial" pitchFamily="34" charset="-122"/>
                <a:cs typeface="Arial" pitchFamily="34" charset="-120"/>
              </a:rPr>
              <a:t>Works with any text-based IDE: JetBrains, Vim, Emacs, etc.</a:t>
            </a:r>
            <a:endParaRPr lang="en-US" sz="6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CONFIGURATION</a:t>
            </a:r>
            <a:endParaRPr lang="en-US" sz="825" dirty="0"/>
          </a:p>
        </p:txBody>
      </p:sp>
      <p:sp>
        <p:nvSpPr>
          <p:cNvPr id="3" name="Text 1"/>
          <p:cNvSpPr/>
          <p:nvPr/>
        </p:nvSpPr>
        <p:spPr>
          <a:xfrm>
            <a:off x="457200" y="470446"/>
            <a:ext cx="4206812"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Wispr Flow Advanced Settings</a:t>
            </a:r>
            <a:endParaRPr lang="en-US" sz="2100" dirty="0"/>
          </a:p>
        </p:txBody>
      </p:sp>
      <p:sp>
        <p:nvSpPr>
          <p:cNvPr id="4" name="Text 2"/>
          <p:cNvSpPr/>
          <p:nvPr/>
        </p:nvSpPr>
        <p:spPr>
          <a:xfrm>
            <a:off x="457200" y="1435596"/>
            <a:ext cx="2616250" cy="1662708"/>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09600" y="1587996"/>
            <a:ext cx="2357679"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HOTKEY OPTIONS</a:t>
            </a:r>
            <a:endParaRPr lang="en-US" sz="825" dirty="0"/>
          </a:p>
        </p:txBody>
      </p:sp>
      <p:sp>
        <p:nvSpPr>
          <p:cNvPr id="6" name="Text 4"/>
          <p:cNvSpPr/>
          <p:nvPr/>
        </p:nvSpPr>
        <p:spPr>
          <a:xfrm>
            <a:off x="609600" y="1829842"/>
            <a:ext cx="235767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Push-to-Talk</a:t>
            </a:r>
            <a:endParaRPr lang="en-US" sz="825" dirty="0"/>
          </a:p>
        </p:txBody>
      </p:sp>
      <p:sp>
        <p:nvSpPr>
          <p:cNvPr id="7" name="Text 5"/>
          <p:cNvSpPr/>
          <p:nvPr/>
        </p:nvSpPr>
        <p:spPr>
          <a:xfrm>
            <a:off x="609600" y="2005013"/>
            <a:ext cx="235767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Hold key to record, release to transcribe</a:t>
            </a:r>
            <a:endParaRPr lang="en-US" sz="750" dirty="0"/>
          </a:p>
        </p:txBody>
      </p:sp>
      <p:sp>
        <p:nvSpPr>
          <p:cNvPr id="8" name="Text 6"/>
          <p:cNvSpPr/>
          <p:nvPr/>
        </p:nvSpPr>
        <p:spPr>
          <a:xfrm>
            <a:off x="609600" y="2233613"/>
            <a:ext cx="235767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Toggle Mode</a:t>
            </a:r>
            <a:endParaRPr lang="en-US" sz="825" dirty="0"/>
          </a:p>
        </p:txBody>
      </p:sp>
      <p:sp>
        <p:nvSpPr>
          <p:cNvPr id="9" name="Text 7"/>
          <p:cNvSpPr/>
          <p:nvPr/>
        </p:nvSpPr>
        <p:spPr>
          <a:xfrm>
            <a:off x="609600" y="2408783"/>
            <a:ext cx="235767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Press once to start, again to stop</a:t>
            </a:r>
            <a:endParaRPr lang="en-US" sz="750" dirty="0"/>
          </a:p>
        </p:txBody>
      </p:sp>
      <p:sp>
        <p:nvSpPr>
          <p:cNvPr id="10" name="Text 8"/>
          <p:cNvSpPr/>
          <p:nvPr/>
        </p:nvSpPr>
        <p:spPr>
          <a:xfrm>
            <a:off x="609600" y="2637383"/>
            <a:ext cx="235767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Voice Activation</a:t>
            </a:r>
            <a:endParaRPr lang="en-US" sz="825" dirty="0"/>
          </a:p>
        </p:txBody>
      </p:sp>
      <p:sp>
        <p:nvSpPr>
          <p:cNvPr id="11" name="Text 9"/>
          <p:cNvSpPr/>
          <p:nvPr/>
        </p:nvSpPr>
        <p:spPr>
          <a:xfrm>
            <a:off x="609600" y="2812554"/>
            <a:ext cx="235767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"Hey Wispr" wake word (requires cloud)</a:t>
            </a:r>
            <a:endParaRPr lang="en-US" sz="750" dirty="0"/>
          </a:p>
        </p:txBody>
      </p:sp>
      <p:sp>
        <p:nvSpPr>
          <p:cNvPr id="12" name="Text 10"/>
          <p:cNvSpPr/>
          <p:nvPr/>
        </p:nvSpPr>
        <p:spPr>
          <a:xfrm>
            <a:off x="457200" y="3384054"/>
            <a:ext cx="2616250" cy="1137196"/>
          </a:xfrm>
          <a:prstGeom prst="rect">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476250" y="3384054"/>
            <a:ext cx="0" cy="1137196"/>
          </a:xfrm>
          <a:prstGeom prst="line">
            <a:avLst/>
          </a:prstGeom>
          <a:noFill/>
          <a:ln w="38100">
            <a:solidFill>
              <a:srgbClr val="C9A227"/>
            </a:solidFill>
            <a:prstDash val="solid"/>
          </a:ln>
        </p:spPr>
        <p:txBody>
          <a:bodyPr/>
          <a:lstStyle/>
          <a:p>
            <a:endParaRPr lang="en-US"/>
          </a:p>
        </p:txBody>
      </p:sp>
      <p:sp>
        <p:nvSpPr>
          <p:cNvPr id="14" name="Text 12"/>
          <p:cNvSpPr/>
          <p:nvPr/>
        </p:nvSpPr>
        <p:spPr>
          <a:xfrm>
            <a:off x="628650" y="3517404"/>
            <a:ext cx="2357679"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Recommended Shortcuts</a:t>
            </a:r>
            <a:endParaRPr lang="en-US" sz="825" dirty="0"/>
          </a:p>
        </p:txBody>
      </p:sp>
      <p:sp>
        <p:nvSpPr>
          <p:cNvPr id="15" name="Text 13"/>
          <p:cNvSpPr/>
          <p:nvPr/>
        </p:nvSpPr>
        <p:spPr>
          <a:xfrm>
            <a:off x="628650" y="3740200"/>
            <a:ext cx="2357679" cy="647700"/>
          </a:xfrm>
          <a:prstGeom prst="rect">
            <a:avLst/>
          </a:prstGeom>
          <a:noFill/>
          <a:ln/>
        </p:spPr>
        <p:txBody>
          <a:bodyPr wrap="square" lIns="0" tIns="0" rIns="0" bIns="0" rtlCol="0" anchor="t"/>
          <a:lstStyle/>
          <a:p>
            <a:pPr marL="0" indent="0" algn="l">
              <a:lnSpc>
                <a:spcPts val="1275"/>
              </a:lnSpc>
              <a:buNone/>
            </a:pPr>
            <a:r>
              <a:rPr lang="en-US" sz="750" dirty="0">
                <a:solidFill>
                  <a:srgbClr val="6B7280"/>
                </a:solidFill>
                <a:latin typeface="Arial" pitchFamily="34" charset="0"/>
                <a:ea typeface="Arial" pitchFamily="34" charset="-122"/>
                <a:cs typeface="Arial" pitchFamily="34" charset="-120"/>
              </a:rPr>
              <a:t>Mac: Fn (hold) or Cmd+Shift+Space</a:t>
            </a:r>
            <a:endParaRPr lang="en-US" sz="750" dirty="0"/>
          </a:p>
          <a:p>
            <a:pPr marL="0" indent="0" algn="l">
              <a:lnSpc>
                <a:spcPts val="1275"/>
              </a:lnSpc>
              <a:buNone/>
            </a:pPr>
            <a:r>
              <a:rPr lang="en-US" sz="750" dirty="0">
                <a:solidFill>
                  <a:srgbClr val="6B7280"/>
                </a:solidFill>
                <a:latin typeface="Arial" pitchFamily="34" charset="0"/>
                <a:ea typeface="Arial" pitchFamily="34" charset="-122"/>
                <a:cs typeface="Arial" pitchFamily="34" charset="-120"/>
              </a:rPr>
              <a:t>Windows: Ctrl+Shift+Space</a:t>
            </a:r>
            <a:endParaRPr lang="en-US" sz="750" dirty="0"/>
          </a:p>
          <a:p>
            <a:pPr marL="0" indent="0" algn="l">
              <a:lnSpc>
                <a:spcPts val="1275"/>
              </a:lnSpc>
              <a:buNone/>
            </a:pPr>
            <a:r>
              <a:rPr lang="en-US" sz="750" dirty="0">
                <a:solidFill>
                  <a:srgbClr val="6B7280"/>
                </a:solidFill>
                <a:latin typeface="Arial" pitchFamily="34" charset="0"/>
                <a:ea typeface="Arial" pitchFamily="34" charset="-122"/>
                <a:cs typeface="Arial" pitchFamily="34" charset="-120"/>
              </a:rPr>
              <a:t>Caps Lock (can remap)</a:t>
            </a:r>
            <a:endParaRPr lang="en-US" sz="750" dirty="0"/>
          </a:p>
          <a:p>
            <a:pPr marL="0" indent="0" algn="l">
              <a:lnSpc>
                <a:spcPts val="1275"/>
              </a:lnSpc>
              <a:buNone/>
            </a:pPr>
            <a:r>
              <a:rPr lang="en-US" sz="750" dirty="0">
                <a:solidFill>
                  <a:srgbClr val="6B7280"/>
                </a:solidFill>
                <a:latin typeface="Arial" pitchFamily="34" charset="0"/>
                <a:ea typeface="Arial" pitchFamily="34" charset="-122"/>
                <a:cs typeface="Arial" pitchFamily="34" charset="-120"/>
              </a:rPr>
              <a:t>Dedicated macro key</a:t>
            </a:r>
            <a:endParaRPr lang="en-US" sz="750" dirty="0"/>
          </a:p>
        </p:txBody>
      </p:sp>
      <p:sp>
        <p:nvSpPr>
          <p:cNvPr id="16" name="Text 14"/>
          <p:cNvSpPr/>
          <p:nvPr/>
        </p:nvSpPr>
        <p:spPr>
          <a:xfrm>
            <a:off x="3263950" y="1717328"/>
            <a:ext cx="2616250" cy="111814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425875" y="1879253"/>
            <a:ext cx="2338248"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AUTO-PUNCTUATION</a:t>
            </a:r>
            <a:endParaRPr lang="en-US" sz="825" dirty="0"/>
          </a:p>
        </p:txBody>
      </p:sp>
      <p:sp>
        <p:nvSpPr>
          <p:cNvPr id="18" name="Text 16"/>
          <p:cNvSpPr/>
          <p:nvPr/>
        </p:nvSpPr>
        <p:spPr>
          <a:xfrm>
            <a:off x="3425875" y="2130623"/>
            <a:ext cx="114300" cy="114300"/>
          </a:xfrm>
          <a:prstGeom prst="roundRect">
            <a:avLst>
              <a:gd name="adj" fmla="val 800000"/>
            </a:avLst>
          </a:prstGeom>
          <a:solidFill>
            <a:srgbClr val="059669"/>
          </a:solidFill>
          <a:ln/>
        </p:spPr>
        <p:txBody>
          <a:bodyPr wrap="square" rtlCol="0" anchor="ctr"/>
          <a:lstStyle/>
          <a:p>
            <a:pPr marL="0" indent="0">
              <a:buNone/>
            </a:pPr>
            <a:endParaRPr lang="en-US" dirty="0"/>
          </a:p>
        </p:txBody>
      </p:sp>
      <p:sp>
        <p:nvSpPr>
          <p:cNvPr id="19" name="Text 17"/>
          <p:cNvSpPr/>
          <p:nvPr/>
        </p:nvSpPr>
        <p:spPr>
          <a:xfrm>
            <a:off x="3616375" y="2121098"/>
            <a:ext cx="1225975"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Automatic periods at pauses</a:t>
            </a:r>
            <a:endParaRPr lang="en-US" sz="750" dirty="0"/>
          </a:p>
        </p:txBody>
      </p:sp>
      <p:sp>
        <p:nvSpPr>
          <p:cNvPr id="20" name="Text 18"/>
          <p:cNvSpPr/>
          <p:nvPr/>
        </p:nvSpPr>
        <p:spPr>
          <a:xfrm>
            <a:off x="3425875" y="2340173"/>
            <a:ext cx="114300" cy="114300"/>
          </a:xfrm>
          <a:prstGeom prst="roundRect">
            <a:avLst>
              <a:gd name="adj" fmla="val 800000"/>
            </a:avLst>
          </a:prstGeom>
          <a:solidFill>
            <a:srgbClr val="059669"/>
          </a:solidFill>
          <a:ln/>
        </p:spPr>
        <p:txBody>
          <a:bodyPr wrap="square" rtlCol="0" anchor="ctr"/>
          <a:lstStyle/>
          <a:p>
            <a:pPr marL="0" indent="0">
              <a:buNone/>
            </a:pPr>
            <a:endParaRPr lang="en-US" dirty="0"/>
          </a:p>
        </p:txBody>
      </p:sp>
      <p:sp>
        <p:nvSpPr>
          <p:cNvPr id="21" name="Text 19"/>
          <p:cNvSpPr/>
          <p:nvPr/>
        </p:nvSpPr>
        <p:spPr>
          <a:xfrm>
            <a:off x="3616375" y="2330648"/>
            <a:ext cx="1349999"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Question marks from intonation</a:t>
            </a:r>
            <a:endParaRPr lang="en-US" sz="750" dirty="0"/>
          </a:p>
        </p:txBody>
      </p:sp>
      <p:sp>
        <p:nvSpPr>
          <p:cNvPr id="22" name="Text 20"/>
          <p:cNvSpPr/>
          <p:nvPr/>
        </p:nvSpPr>
        <p:spPr>
          <a:xfrm>
            <a:off x="3425875" y="2549723"/>
            <a:ext cx="114300" cy="114300"/>
          </a:xfrm>
          <a:prstGeom prst="roundRect">
            <a:avLst>
              <a:gd name="adj" fmla="val 800000"/>
            </a:avLst>
          </a:prstGeom>
          <a:solidFill>
            <a:srgbClr val="059669"/>
          </a:solidFill>
          <a:ln/>
        </p:spPr>
        <p:txBody>
          <a:bodyPr wrap="square" rtlCol="0" anchor="ctr"/>
          <a:lstStyle/>
          <a:p>
            <a:pPr marL="0" indent="0">
              <a:buNone/>
            </a:pPr>
            <a:endParaRPr lang="en-US" dirty="0"/>
          </a:p>
        </p:txBody>
      </p:sp>
      <p:sp>
        <p:nvSpPr>
          <p:cNvPr id="23" name="Text 21"/>
          <p:cNvSpPr/>
          <p:nvPr/>
        </p:nvSpPr>
        <p:spPr>
          <a:xfrm>
            <a:off x="3616375" y="2540198"/>
            <a:ext cx="1355464"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Comma insertion (configurable)</a:t>
            </a:r>
            <a:endParaRPr lang="en-US" sz="750" dirty="0"/>
          </a:p>
        </p:txBody>
      </p:sp>
      <p:sp>
        <p:nvSpPr>
          <p:cNvPr id="24" name="Text 22"/>
          <p:cNvSpPr/>
          <p:nvPr/>
        </p:nvSpPr>
        <p:spPr>
          <a:xfrm>
            <a:off x="3263950" y="3121223"/>
            <a:ext cx="2616250" cy="111814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5" name="Text 23"/>
          <p:cNvSpPr/>
          <p:nvPr/>
        </p:nvSpPr>
        <p:spPr>
          <a:xfrm>
            <a:off x="3425875" y="3283148"/>
            <a:ext cx="2338248"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AUTO-CAPITALIZATION</a:t>
            </a:r>
            <a:endParaRPr lang="en-US" sz="825" dirty="0"/>
          </a:p>
        </p:txBody>
      </p:sp>
      <p:sp>
        <p:nvSpPr>
          <p:cNvPr id="26" name="Text 24"/>
          <p:cNvSpPr/>
          <p:nvPr/>
        </p:nvSpPr>
        <p:spPr>
          <a:xfrm>
            <a:off x="3425875" y="3534519"/>
            <a:ext cx="114300" cy="114300"/>
          </a:xfrm>
          <a:prstGeom prst="roundRect">
            <a:avLst>
              <a:gd name="adj" fmla="val 800000"/>
            </a:avLst>
          </a:prstGeom>
          <a:solidFill>
            <a:srgbClr val="059669"/>
          </a:solidFill>
          <a:ln/>
        </p:spPr>
        <p:txBody>
          <a:bodyPr wrap="square" rtlCol="0" anchor="ctr"/>
          <a:lstStyle/>
          <a:p>
            <a:pPr marL="0" indent="0">
              <a:buNone/>
            </a:pPr>
            <a:endParaRPr lang="en-US" dirty="0"/>
          </a:p>
        </p:txBody>
      </p:sp>
      <p:sp>
        <p:nvSpPr>
          <p:cNvPr id="27" name="Text 25"/>
          <p:cNvSpPr/>
          <p:nvPr/>
        </p:nvSpPr>
        <p:spPr>
          <a:xfrm>
            <a:off x="3616375" y="3524994"/>
            <a:ext cx="675075"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Sentence starts</a:t>
            </a:r>
            <a:endParaRPr lang="en-US" sz="750" dirty="0"/>
          </a:p>
        </p:txBody>
      </p:sp>
      <p:sp>
        <p:nvSpPr>
          <p:cNvPr id="28" name="Text 26"/>
          <p:cNvSpPr/>
          <p:nvPr/>
        </p:nvSpPr>
        <p:spPr>
          <a:xfrm>
            <a:off x="3425875" y="3744069"/>
            <a:ext cx="114300" cy="114300"/>
          </a:xfrm>
          <a:prstGeom prst="roundRect">
            <a:avLst>
              <a:gd name="adj" fmla="val 800000"/>
            </a:avLst>
          </a:prstGeom>
          <a:solidFill>
            <a:srgbClr val="059669"/>
          </a:solidFill>
          <a:ln/>
        </p:spPr>
        <p:txBody>
          <a:bodyPr wrap="square" rtlCol="0" anchor="ctr"/>
          <a:lstStyle/>
          <a:p>
            <a:pPr marL="0" indent="0">
              <a:buNone/>
            </a:pPr>
            <a:endParaRPr lang="en-US" dirty="0"/>
          </a:p>
        </p:txBody>
      </p:sp>
      <p:sp>
        <p:nvSpPr>
          <p:cNvPr id="29" name="Text 27"/>
          <p:cNvSpPr/>
          <p:nvPr/>
        </p:nvSpPr>
        <p:spPr>
          <a:xfrm>
            <a:off x="3616375" y="3734544"/>
            <a:ext cx="583385"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Proper nouns</a:t>
            </a:r>
            <a:endParaRPr lang="en-US" sz="750" dirty="0"/>
          </a:p>
        </p:txBody>
      </p:sp>
      <p:sp>
        <p:nvSpPr>
          <p:cNvPr id="30" name="Text 28"/>
          <p:cNvSpPr/>
          <p:nvPr/>
        </p:nvSpPr>
        <p:spPr>
          <a:xfrm>
            <a:off x="3425875" y="3953619"/>
            <a:ext cx="114300" cy="114300"/>
          </a:xfrm>
          <a:prstGeom prst="roundRect">
            <a:avLst>
              <a:gd name="adj" fmla="val 800000"/>
            </a:avLst>
          </a:prstGeom>
          <a:solidFill>
            <a:srgbClr val="059669"/>
          </a:solidFill>
          <a:ln/>
        </p:spPr>
        <p:txBody>
          <a:bodyPr wrap="square" rtlCol="0" anchor="ctr"/>
          <a:lstStyle/>
          <a:p>
            <a:pPr marL="0" indent="0">
              <a:buNone/>
            </a:pPr>
            <a:endParaRPr lang="en-US" dirty="0"/>
          </a:p>
        </p:txBody>
      </p:sp>
      <p:sp>
        <p:nvSpPr>
          <p:cNvPr id="31" name="Text 29"/>
          <p:cNvSpPr/>
          <p:nvPr/>
        </p:nvSpPr>
        <p:spPr>
          <a:xfrm>
            <a:off x="3616375" y="3944094"/>
            <a:ext cx="1052917" cy="133350"/>
          </a:xfrm>
          <a:prstGeom prst="rect">
            <a:avLst/>
          </a:prstGeom>
          <a:noFill/>
          <a:ln/>
        </p:spPr>
        <p:txBody>
          <a:bodyPr wrap="square" lIns="0" tIns="0" rIns="0" bIns="0" rtlCol="0" anchor="t"/>
          <a:lstStyle/>
          <a:p>
            <a:pPr marL="0" indent="0" algn="l">
              <a:lnSpc>
                <a:spcPts val="1050"/>
              </a:lnSpc>
              <a:buNone/>
            </a:pPr>
            <a:r>
              <a:rPr lang="en-US" sz="750" dirty="0">
                <a:solidFill>
                  <a:srgbClr val="6B7280"/>
                </a:solidFill>
                <a:latin typeface="Arial" pitchFamily="34" charset="0"/>
                <a:ea typeface="Arial" pitchFamily="34" charset="-122"/>
                <a:cs typeface="Arial" pitchFamily="34" charset="-120"/>
              </a:rPr>
              <a:t>Acronyms (configurable)</a:t>
            </a:r>
            <a:endParaRPr lang="en-US" sz="750" dirty="0"/>
          </a:p>
        </p:txBody>
      </p:sp>
      <p:sp>
        <p:nvSpPr>
          <p:cNvPr id="32" name="Text 30"/>
          <p:cNvSpPr/>
          <p:nvPr/>
        </p:nvSpPr>
        <p:spPr>
          <a:xfrm>
            <a:off x="6070699" y="1626096"/>
            <a:ext cx="2616250" cy="1662708"/>
          </a:xfrm>
          <a:prstGeom prst="rect">
            <a:avLst/>
          </a:prstGeom>
          <a:solidFill>
            <a:srgbClr val="1A1F2E"/>
          </a:solidFill>
          <a:ln/>
        </p:spPr>
        <p:txBody>
          <a:bodyPr wrap="square" rtlCol="0" anchor="ctr"/>
          <a:lstStyle/>
          <a:p>
            <a:pPr marL="0" indent="0">
              <a:buNone/>
            </a:pPr>
            <a:endParaRPr lang="en-US" dirty="0"/>
          </a:p>
        </p:txBody>
      </p:sp>
      <p:sp>
        <p:nvSpPr>
          <p:cNvPr id="33" name="Text 31"/>
          <p:cNvSpPr/>
          <p:nvPr/>
        </p:nvSpPr>
        <p:spPr>
          <a:xfrm>
            <a:off x="6223099" y="1778496"/>
            <a:ext cx="2357679"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LANGUAGE SETTINGS</a:t>
            </a:r>
            <a:endParaRPr lang="en-US" sz="825" dirty="0"/>
          </a:p>
        </p:txBody>
      </p:sp>
      <p:sp>
        <p:nvSpPr>
          <p:cNvPr id="34" name="Text 32"/>
          <p:cNvSpPr/>
          <p:nvPr/>
        </p:nvSpPr>
        <p:spPr>
          <a:xfrm>
            <a:off x="6223099" y="2020342"/>
            <a:ext cx="235767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Primary Language</a:t>
            </a:r>
            <a:endParaRPr lang="en-US" sz="825" dirty="0"/>
          </a:p>
        </p:txBody>
      </p:sp>
      <p:sp>
        <p:nvSpPr>
          <p:cNvPr id="35" name="Text 33"/>
          <p:cNvSpPr/>
          <p:nvPr/>
        </p:nvSpPr>
        <p:spPr>
          <a:xfrm>
            <a:off x="6223099" y="2195513"/>
            <a:ext cx="235767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Set your main language for best accuracy</a:t>
            </a:r>
            <a:endParaRPr lang="en-US" sz="750" dirty="0"/>
          </a:p>
        </p:txBody>
      </p:sp>
      <p:sp>
        <p:nvSpPr>
          <p:cNvPr id="36" name="Text 34"/>
          <p:cNvSpPr/>
          <p:nvPr/>
        </p:nvSpPr>
        <p:spPr>
          <a:xfrm>
            <a:off x="6223099" y="2424113"/>
            <a:ext cx="235767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Auto-Detect</a:t>
            </a:r>
            <a:endParaRPr lang="en-US" sz="825" dirty="0"/>
          </a:p>
        </p:txBody>
      </p:sp>
      <p:sp>
        <p:nvSpPr>
          <p:cNvPr id="37" name="Text 35"/>
          <p:cNvSpPr/>
          <p:nvPr/>
        </p:nvSpPr>
        <p:spPr>
          <a:xfrm>
            <a:off x="6223099" y="2599283"/>
            <a:ext cx="235767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Enable for multilingual dictation</a:t>
            </a:r>
            <a:endParaRPr lang="en-US" sz="750" dirty="0"/>
          </a:p>
        </p:txBody>
      </p:sp>
      <p:sp>
        <p:nvSpPr>
          <p:cNvPr id="38" name="Text 36"/>
          <p:cNvSpPr/>
          <p:nvPr/>
        </p:nvSpPr>
        <p:spPr>
          <a:xfrm>
            <a:off x="6223099" y="2827883"/>
            <a:ext cx="235767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FFFFFF"/>
                </a:solidFill>
                <a:latin typeface="Arial" pitchFamily="34" charset="0"/>
                <a:ea typeface="Arial" pitchFamily="34" charset="-122"/>
                <a:cs typeface="Arial" pitchFamily="34" charset="-120"/>
              </a:rPr>
              <a:t>Technical Vocabulary</a:t>
            </a:r>
            <a:endParaRPr lang="en-US" sz="825" dirty="0"/>
          </a:p>
        </p:txBody>
      </p:sp>
      <p:sp>
        <p:nvSpPr>
          <p:cNvPr id="39" name="Text 37"/>
          <p:cNvSpPr/>
          <p:nvPr/>
        </p:nvSpPr>
        <p:spPr>
          <a:xfrm>
            <a:off x="6223099" y="3003054"/>
            <a:ext cx="235767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60000"/>
                  </a:srgbClr>
                </a:solidFill>
                <a:latin typeface="Arial" pitchFamily="34" charset="0"/>
                <a:ea typeface="Arial" pitchFamily="34" charset="-122"/>
                <a:cs typeface="Arial" pitchFamily="34" charset="-120"/>
              </a:rPr>
              <a:t>Add domain-specific terms</a:t>
            </a:r>
            <a:endParaRPr lang="en-US" sz="750" dirty="0"/>
          </a:p>
        </p:txBody>
      </p:sp>
      <p:sp>
        <p:nvSpPr>
          <p:cNvPr id="40" name="Text 38"/>
          <p:cNvSpPr/>
          <p:nvPr/>
        </p:nvSpPr>
        <p:spPr>
          <a:xfrm>
            <a:off x="6070699" y="3574554"/>
            <a:ext cx="2616250" cy="756196"/>
          </a:xfrm>
          <a:prstGeom prst="rect">
            <a:avLst/>
          </a:prstGeom>
          <a:solidFill>
            <a:srgbClr val="FEF3C7"/>
          </a:solidFill>
          <a:ln/>
        </p:spPr>
        <p:txBody>
          <a:bodyPr wrap="square" rtlCol="0" anchor="ctr"/>
          <a:lstStyle/>
          <a:p>
            <a:pPr marL="0" indent="0">
              <a:buNone/>
            </a:pPr>
            <a:endParaRPr lang="en-US" dirty="0"/>
          </a:p>
        </p:txBody>
      </p:sp>
      <p:sp>
        <p:nvSpPr>
          <p:cNvPr id="41" name="Shape 39"/>
          <p:cNvSpPr/>
          <p:nvPr/>
        </p:nvSpPr>
        <p:spPr>
          <a:xfrm>
            <a:off x="6089749" y="3574554"/>
            <a:ext cx="0" cy="756196"/>
          </a:xfrm>
          <a:prstGeom prst="line">
            <a:avLst/>
          </a:prstGeom>
          <a:noFill/>
          <a:ln w="38100">
            <a:solidFill>
              <a:srgbClr val="F59E0B"/>
            </a:solidFill>
            <a:prstDash val="solid"/>
          </a:ln>
        </p:spPr>
        <p:txBody>
          <a:bodyPr/>
          <a:lstStyle/>
          <a:p>
            <a:endParaRPr lang="en-US"/>
          </a:p>
        </p:txBody>
      </p:sp>
      <p:sp>
        <p:nvSpPr>
          <p:cNvPr id="42" name="Text 40"/>
          <p:cNvSpPr/>
          <p:nvPr/>
        </p:nvSpPr>
        <p:spPr>
          <a:xfrm>
            <a:off x="6242149" y="3707904"/>
            <a:ext cx="2357679"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92400E"/>
                </a:solidFill>
                <a:latin typeface="Arial" pitchFamily="34" charset="0"/>
                <a:ea typeface="Arial" pitchFamily="34" charset="-122"/>
                <a:cs typeface="Arial" pitchFamily="34" charset="-120"/>
              </a:rPr>
              <a:t>PRIVACY REMINDER</a:t>
            </a:r>
            <a:endParaRPr lang="en-US" sz="825" dirty="0"/>
          </a:p>
        </p:txBody>
      </p:sp>
      <p:sp>
        <p:nvSpPr>
          <p:cNvPr id="43" name="Text 41"/>
          <p:cNvSpPr/>
          <p:nvPr/>
        </p:nvSpPr>
        <p:spPr>
          <a:xfrm>
            <a:off x="6242149" y="3911650"/>
            <a:ext cx="2357679" cy="285750"/>
          </a:xfrm>
          <a:prstGeom prst="rect">
            <a:avLst/>
          </a:prstGeom>
          <a:noFill/>
          <a:ln/>
        </p:spPr>
        <p:txBody>
          <a:bodyPr wrap="square" lIns="0" tIns="0" rIns="0" bIns="0" rtlCol="0" anchor="t"/>
          <a:lstStyle/>
          <a:p>
            <a:pPr marL="0" indent="0" algn="l">
              <a:lnSpc>
                <a:spcPts val="1125"/>
              </a:lnSpc>
              <a:buNone/>
            </a:pPr>
            <a:r>
              <a:rPr lang="en-US" sz="750" dirty="0">
                <a:solidFill>
                  <a:srgbClr val="92400E"/>
                </a:solidFill>
                <a:latin typeface="Arial" pitchFamily="34" charset="0"/>
                <a:ea typeface="Arial" pitchFamily="34" charset="-122"/>
                <a:cs typeface="Arial" pitchFamily="34" charset="-120"/>
              </a:rPr>
              <a:t>Voice activation and some auto features require cloud. Keep disabled for local-only use.</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HEAD-TO-HEAD COMPARISON</a:t>
            </a:r>
            <a:endParaRPr lang="en-US" sz="750" dirty="0"/>
          </a:p>
        </p:txBody>
      </p:sp>
      <p:sp>
        <p:nvSpPr>
          <p:cNvPr id="3" name="Text 1"/>
          <p:cNvSpPr/>
          <p:nvPr/>
        </p:nvSpPr>
        <p:spPr>
          <a:xfrm>
            <a:off x="381000" y="438150"/>
            <a:ext cx="4284536" cy="228600"/>
          </a:xfrm>
          <a:prstGeom prst="rect">
            <a:avLst/>
          </a:prstGeom>
          <a:noFill/>
          <a:ln/>
        </p:spPr>
        <p:txBody>
          <a:bodyPr wrap="square" lIns="0" tIns="0" rIns="0" bIns="0" rtlCol="0" anchor="t"/>
          <a:lstStyle/>
          <a:p>
            <a:pPr marL="0" indent="0" algn="l">
              <a:lnSpc>
                <a:spcPts val="1800"/>
              </a:lnSpc>
              <a:buNone/>
            </a:pPr>
            <a:r>
              <a:rPr lang="en-US" sz="1800" dirty="0">
                <a:solidFill>
                  <a:srgbClr val="1A1F2E"/>
                </a:solidFill>
                <a:latin typeface="Georgia" pitchFamily="34" charset="0"/>
                <a:ea typeface="Georgia" pitchFamily="34" charset="-122"/>
                <a:cs typeface="Georgia" pitchFamily="34" charset="-120"/>
              </a:rPr>
              <a:t>SuperWhisper vs Wispr Flow</a:t>
            </a:r>
            <a:endParaRPr lang="en-US" sz="1800" dirty="0"/>
          </a:p>
        </p:txBody>
      </p:sp>
      <p:sp>
        <p:nvSpPr>
          <p:cNvPr id="4" name="Text 2"/>
          <p:cNvSpPr/>
          <p:nvPr/>
        </p:nvSpPr>
        <p:spPr>
          <a:xfrm>
            <a:off x="381000" y="900113"/>
            <a:ext cx="8382000" cy="285750"/>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514350" y="976312"/>
            <a:ext cx="1752737"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Feature</a:t>
            </a:r>
            <a:endParaRPr lang="en-US" sz="750" dirty="0"/>
          </a:p>
        </p:txBody>
      </p:sp>
      <p:sp>
        <p:nvSpPr>
          <p:cNvPr id="6" name="Text 4"/>
          <p:cNvSpPr/>
          <p:nvPr/>
        </p:nvSpPr>
        <p:spPr>
          <a:xfrm>
            <a:off x="2354659" y="976312"/>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SuperWhisper</a:t>
            </a:r>
            <a:endParaRPr lang="en-US" sz="750" dirty="0"/>
          </a:p>
        </p:txBody>
      </p:sp>
      <p:sp>
        <p:nvSpPr>
          <p:cNvPr id="7" name="Text 5"/>
          <p:cNvSpPr/>
          <p:nvPr/>
        </p:nvSpPr>
        <p:spPr>
          <a:xfrm>
            <a:off x="5553124" y="976312"/>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Wispr Flow</a:t>
            </a:r>
            <a:endParaRPr lang="en-US" sz="750" dirty="0"/>
          </a:p>
        </p:txBody>
      </p:sp>
      <p:sp>
        <p:nvSpPr>
          <p:cNvPr id="8" name="Text 6"/>
          <p:cNvSpPr/>
          <p:nvPr/>
        </p:nvSpPr>
        <p:spPr>
          <a:xfrm>
            <a:off x="381000" y="1357313"/>
            <a:ext cx="8382000" cy="257175"/>
          </a:xfrm>
          <a:prstGeom prst="rect">
            <a:avLst/>
          </a:prstGeom>
          <a:solidFill>
            <a:srgbClr val="FFFFFF"/>
          </a:solidFill>
          <a:ln/>
        </p:spPr>
        <p:txBody>
          <a:bodyPr wrap="square" rtlCol="0" anchor="ctr"/>
          <a:lstStyle/>
          <a:p>
            <a:pPr marL="0" indent="0">
              <a:buNone/>
            </a:pPr>
            <a:endParaRPr lang="en-US" dirty="0"/>
          </a:p>
        </p:txBody>
      </p:sp>
      <p:sp>
        <p:nvSpPr>
          <p:cNvPr id="9" name="Shape 7"/>
          <p:cNvSpPr/>
          <p:nvPr/>
        </p:nvSpPr>
        <p:spPr>
          <a:xfrm>
            <a:off x="381000" y="1609725"/>
            <a:ext cx="8382000" cy="0"/>
          </a:xfrm>
          <a:prstGeom prst="line">
            <a:avLst/>
          </a:prstGeom>
          <a:noFill/>
          <a:ln w="9525">
            <a:solidFill>
              <a:srgbClr val="E4E7ED"/>
            </a:solidFill>
            <a:prstDash val="solid"/>
          </a:ln>
        </p:spPr>
        <p:txBody>
          <a:bodyPr/>
          <a:lstStyle/>
          <a:p>
            <a:endParaRPr lang="en-US"/>
          </a:p>
        </p:txBody>
      </p:sp>
      <p:sp>
        <p:nvSpPr>
          <p:cNvPr id="10" name="Text 8"/>
          <p:cNvSpPr/>
          <p:nvPr/>
        </p:nvSpPr>
        <p:spPr>
          <a:xfrm>
            <a:off x="514350" y="141446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2354659" y="14144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Mac, Windows, iOS</a:t>
            </a:r>
            <a:endParaRPr lang="en-US" sz="750" dirty="0"/>
          </a:p>
        </p:txBody>
      </p:sp>
      <p:sp>
        <p:nvSpPr>
          <p:cNvPr id="12" name="Text 10"/>
          <p:cNvSpPr/>
          <p:nvPr/>
        </p:nvSpPr>
        <p:spPr>
          <a:xfrm>
            <a:off x="5553124" y="14144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Mac, Windows, Linux</a:t>
            </a:r>
            <a:endParaRPr lang="en-US" sz="750" dirty="0"/>
          </a:p>
        </p:txBody>
      </p:sp>
      <p:sp>
        <p:nvSpPr>
          <p:cNvPr id="13" name="Text 11"/>
          <p:cNvSpPr/>
          <p:nvPr/>
        </p:nvSpPr>
        <p:spPr>
          <a:xfrm>
            <a:off x="381000" y="1766888"/>
            <a:ext cx="8382000" cy="257175"/>
          </a:xfrm>
          <a:prstGeom prst="rect">
            <a:avLst/>
          </a:prstGeom>
          <a:solidFill>
            <a:srgbClr val="F7F8FA"/>
          </a:solidFill>
          <a:ln/>
        </p:spPr>
        <p:txBody>
          <a:bodyPr wrap="square" rtlCol="0" anchor="ctr"/>
          <a:lstStyle/>
          <a:p>
            <a:pPr marL="0" indent="0">
              <a:buNone/>
            </a:pPr>
            <a:endParaRPr lang="en-US" dirty="0"/>
          </a:p>
        </p:txBody>
      </p:sp>
      <p:sp>
        <p:nvSpPr>
          <p:cNvPr id="14" name="Shape 12"/>
          <p:cNvSpPr/>
          <p:nvPr/>
        </p:nvSpPr>
        <p:spPr>
          <a:xfrm>
            <a:off x="381000" y="2019300"/>
            <a:ext cx="8382000" cy="0"/>
          </a:xfrm>
          <a:prstGeom prst="line">
            <a:avLst/>
          </a:prstGeom>
          <a:noFill/>
          <a:ln w="9525">
            <a:solidFill>
              <a:srgbClr val="E4E7ED"/>
            </a:solidFill>
            <a:prstDash val="solid"/>
          </a:ln>
        </p:spPr>
        <p:txBody>
          <a:bodyPr/>
          <a:lstStyle/>
          <a:p>
            <a:endParaRPr lang="en-US"/>
          </a:p>
        </p:txBody>
      </p:sp>
      <p:sp>
        <p:nvSpPr>
          <p:cNvPr id="15" name="Text 13"/>
          <p:cNvSpPr/>
          <p:nvPr/>
        </p:nvSpPr>
        <p:spPr>
          <a:xfrm>
            <a:off x="514350" y="182403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Default Privacy</a:t>
            </a:r>
            <a:endParaRPr lang="en-US" sz="750" dirty="0"/>
          </a:p>
        </p:txBody>
      </p:sp>
      <p:sp>
        <p:nvSpPr>
          <p:cNvPr id="16" name="Text 14"/>
          <p:cNvSpPr/>
          <p:nvPr/>
        </p:nvSpPr>
        <p:spPr>
          <a:xfrm>
            <a:off x="2354659" y="182403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100% Local Always</a:t>
            </a:r>
            <a:endParaRPr lang="en-US" sz="750" dirty="0"/>
          </a:p>
        </p:txBody>
      </p:sp>
      <p:sp>
        <p:nvSpPr>
          <p:cNvPr id="17" name="Text 15"/>
          <p:cNvSpPr/>
          <p:nvPr/>
        </p:nvSpPr>
        <p:spPr>
          <a:xfrm>
            <a:off x="5553124" y="182403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F59E0B"/>
                </a:solidFill>
                <a:latin typeface="Arial" pitchFamily="34" charset="0"/>
                <a:ea typeface="Arial" pitchFamily="34" charset="-122"/>
                <a:cs typeface="Arial" pitchFamily="34" charset="-120"/>
              </a:rPr>
              <a:t>Cloud (Local Mode Available)</a:t>
            </a:r>
            <a:endParaRPr lang="en-US" sz="750" dirty="0"/>
          </a:p>
        </p:txBody>
      </p:sp>
      <p:sp>
        <p:nvSpPr>
          <p:cNvPr id="18" name="Text 16"/>
          <p:cNvSpPr/>
          <p:nvPr/>
        </p:nvSpPr>
        <p:spPr>
          <a:xfrm>
            <a:off x="381000" y="2176463"/>
            <a:ext cx="8382000" cy="257175"/>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1000" y="2428875"/>
            <a:ext cx="8382000" cy="0"/>
          </a:xfrm>
          <a:prstGeom prst="line">
            <a:avLst/>
          </a:prstGeom>
          <a:noFill/>
          <a:ln w="9525">
            <a:solidFill>
              <a:srgbClr val="E4E7ED"/>
            </a:solidFill>
            <a:prstDash val="solid"/>
          </a:ln>
        </p:spPr>
        <p:txBody>
          <a:bodyPr/>
          <a:lstStyle/>
          <a:p>
            <a:endParaRPr lang="en-US"/>
          </a:p>
        </p:txBody>
      </p:sp>
      <p:sp>
        <p:nvSpPr>
          <p:cNvPr id="20" name="Text 18"/>
          <p:cNvSpPr/>
          <p:nvPr/>
        </p:nvSpPr>
        <p:spPr>
          <a:xfrm>
            <a:off x="514350" y="223361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Cost</a:t>
            </a:r>
            <a:endParaRPr lang="en-US" sz="750" dirty="0"/>
          </a:p>
        </p:txBody>
      </p:sp>
      <p:sp>
        <p:nvSpPr>
          <p:cNvPr id="21" name="Text 19"/>
          <p:cNvSpPr/>
          <p:nvPr/>
        </p:nvSpPr>
        <p:spPr>
          <a:xfrm>
            <a:off x="2354659" y="223361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~$30 one-time</a:t>
            </a:r>
            <a:endParaRPr lang="en-US" sz="750" dirty="0"/>
          </a:p>
        </p:txBody>
      </p:sp>
      <p:sp>
        <p:nvSpPr>
          <p:cNvPr id="22" name="Text 20"/>
          <p:cNvSpPr/>
          <p:nvPr/>
        </p:nvSpPr>
        <p:spPr>
          <a:xfrm>
            <a:off x="5553124" y="223361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 tier / $10-20/mo Pro</a:t>
            </a:r>
            <a:endParaRPr lang="en-US" sz="750" dirty="0"/>
          </a:p>
        </p:txBody>
      </p:sp>
      <p:sp>
        <p:nvSpPr>
          <p:cNvPr id="23" name="Text 21"/>
          <p:cNvSpPr/>
          <p:nvPr/>
        </p:nvSpPr>
        <p:spPr>
          <a:xfrm>
            <a:off x="381000" y="2586038"/>
            <a:ext cx="8382000" cy="257175"/>
          </a:xfrm>
          <a:prstGeom prst="rect">
            <a:avLst/>
          </a:prstGeom>
          <a:solidFill>
            <a:srgbClr val="F7F8FA"/>
          </a:solidFill>
          <a:ln/>
        </p:spPr>
        <p:txBody>
          <a:bodyPr wrap="square" rtlCol="0" anchor="ctr"/>
          <a:lstStyle/>
          <a:p>
            <a:pPr marL="0" indent="0">
              <a:buNone/>
            </a:pPr>
            <a:endParaRPr lang="en-US" dirty="0"/>
          </a:p>
        </p:txBody>
      </p:sp>
      <p:sp>
        <p:nvSpPr>
          <p:cNvPr id="24" name="Shape 22"/>
          <p:cNvSpPr/>
          <p:nvPr/>
        </p:nvSpPr>
        <p:spPr>
          <a:xfrm>
            <a:off x="381000" y="2838450"/>
            <a:ext cx="8382000" cy="0"/>
          </a:xfrm>
          <a:prstGeom prst="line">
            <a:avLst/>
          </a:prstGeom>
          <a:noFill/>
          <a:ln w="9525">
            <a:solidFill>
              <a:srgbClr val="E4E7ED"/>
            </a:solidFill>
            <a:prstDash val="solid"/>
          </a:ln>
        </p:spPr>
        <p:txBody>
          <a:bodyPr/>
          <a:lstStyle/>
          <a:p>
            <a:endParaRPr lang="en-US"/>
          </a:p>
        </p:txBody>
      </p:sp>
      <p:sp>
        <p:nvSpPr>
          <p:cNvPr id="25" name="Text 23"/>
          <p:cNvSpPr/>
          <p:nvPr/>
        </p:nvSpPr>
        <p:spPr>
          <a:xfrm>
            <a:off x="514350" y="264318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Context Awareness</a:t>
            </a:r>
            <a:endParaRPr lang="en-US" sz="750" dirty="0"/>
          </a:p>
        </p:txBody>
      </p:sp>
      <p:sp>
        <p:nvSpPr>
          <p:cNvPr id="26" name="Text 24"/>
          <p:cNvSpPr/>
          <p:nvPr/>
        </p:nvSpPr>
        <p:spPr>
          <a:xfrm>
            <a:off x="2354659" y="264318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Basic (via modes)</a:t>
            </a:r>
            <a:endParaRPr lang="en-US" sz="750" dirty="0"/>
          </a:p>
        </p:txBody>
      </p:sp>
      <p:sp>
        <p:nvSpPr>
          <p:cNvPr id="27" name="Text 25"/>
          <p:cNvSpPr/>
          <p:nvPr/>
        </p:nvSpPr>
        <p:spPr>
          <a:xfrm>
            <a:off x="5553124" y="2643188"/>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Advanced (auto-detects app)</a:t>
            </a:r>
            <a:endParaRPr lang="en-US" sz="750" dirty="0"/>
          </a:p>
        </p:txBody>
      </p:sp>
      <p:sp>
        <p:nvSpPr>
          <p:cNvPr id="28" name="Text 26"/>
          <p:cNvSpPr/>
          <p:nvPr/>
        </p:nvSpPr>
        <p:spPr>
          <a:xfrm>
            <a:off x="381000" y="2995613"/>
            <a:ext cx="8382000" cy="257175"/>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1000" y="3248025"/>
            <a:ext cx="8382000" cy="0"/>
          </a:xfrm>
          <a:prstGeom prst="line">
            <a:avLst/>
          </a:prstGeom>
          <a:noFill/>
          <a:ln w="9525">
            <a:solidFill>
              <a:srgbClr val="E4E7ED"/>
            </a:solidFill>
            <a:prstDash val="solid"/>
          </a:ln>
        </p:spPr>
        <p:txBody>
          <a:bodyPr/>
          <a:lstStyle/>
          <a:p>
            <a:endParaRPr lang="en-US"/>
          </a:p>
        </p:txBody>
      </p:sp>
      <p:sp>
        <p:nvSpPr>
          <p:cNvPr id="30" name="Text 28"/>
          <p:cNvSpPr/>
          <p:nvPr/>
        </p:nvSpPr>
        <p:spPr>
          <a:xfrm>
            <a:off x="514350" y="305276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Setup Complexity</a:t>
            </a:r>
            <a:endParaRPr lang="en-US" sz="750" dirty="0"/>
          </a:p>
        </p:txBody>
      </p:sp>
      <p:sp>
        <p:nvSpPr>
          <p:cNvPr id="31" name="Text 29"/>
          <p:cNvSpPr/>
          <p:nvPr/>
        </p:nvSpPr>
        <p:spPr>
          <a:xfrm>
            <a:off x="2354659" y="30527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Very Easy</a:t>
            </a:r>
            <a:endParaRPr lang="en-US" sz="750" dirty="0"/>
          </a:p>
        </p:txBody>
      </p:sp>
      <p:sp>
        <p:nvSpPr>
          <p:cNvPr id="32" name="Text 30"/>
          <p:cNvSpPr/>
          <p:nvPr/>
        </p:nvSpPr>
        <p:spPr>
          <a:xfrm>
            <a:off x="5553124" y="3052763"/>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Easy (Privacy Mode config needed)</a:t>
            </a:r>
            <a:endParaRPr lang="en-US" sz="750" dirty="0"/>
          </a:p>
        </p:txBody>
      </p:sp>
      <p:sp>
        <p:nvSpPr>
          <p:cNvPr id="33" name="Text 31"/>
          <p:cNvSpPr/>
          <p:nvPr/>
        </p:nvSpPr>
        <p:spPr>
          <a:xfrm>
            <a:off x="381000" y="3405188"/>
            <a:ext cx="8382000" cy="257175"/>
          </a:xfrm>
          <a:prstGeom prst="rect">
            <a:avLst/>
          </a:prstGeom>
          <a:solidFill>
            <a:srgbClr val="F7F8FA"/>
          </a:solidFill>
          <a:ln/>
        </p:spPr>
        <p:txBody>
          <a:bodyPr wrap="square" rtlCol="0" anchor="ctr"/>
          <a:lstStyle/>
          <a:p>
            <a:pPr marL="0" indent="0">
              <a:buNone/>
            </a:pPr>
            <a:endParaRPr lang="en-US" dirty="0"/>
          </a:p>
        </p:txBody>
      </p:sp>
      <p:sp>
        <p:nvSpPr>
          <p:cNvPr id="34" name="Shape 32"/>
          <p:cNvSpPr/>
          <p:nvPr/>
        </p:nvSpPr>
        <p:spPr>
          <a:xfrm>
            <a:off x="381000" y="3657600"/>
            <a:ext cx="8382000" cy="0"/>
          </a:xfrm>
          <a:prstGeom prst="line">
            <a:avLst/>
          </a:prstGeom>
          <a:noFill/>
          <a:ln w="9525">
            <a:solidFill>
              <a:srgbClr val="E4E7ED"/>
            </a:solidFill>
            <a:prstDash val="solid"/>
          </a:ln>
        </p:spPr>
        <p:txBody>
          <a:bodyPr/>
          <a:lstStyle/>
          <a:p>
            <a:endParaRPr lang="en-US"/>
          </a:p>
        </p:txBody>
      </p:sp>
      <p:sp>
        <p:nvSpPr>
          <p:cNvPr id="35" name="Text 33"/>
          <p:cNvSpPr/>
          <p:nvPr/>
        </p:nvSpPr>
        <p:spPr>
          <a:xfrm>
            <a:off x="514350" y="3462338"/>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AI Features</a:t>
            </a:r>
            <a:endParaRPr lang="en-US" sz="750" dirty="0"/>
          </a:p>
        </p:txBody>
      </p:sp>
      <p:sp>
        <p:nvSpPr>
          <p:cNvPr id="36" name="Text 34"/>
          <p:cNvSpPr/>
          <p:nvPr/>
        </p:nvSpPr>
        <p:spPr>
          <a:xfrm>
            <a:off x="2354659" y="346233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AI Mode (optional)</a:t>
            </a:r>
            <a:endParaRPr lang="en-US" sz="750" dirty="0"/>
          </a:p>
        </p:txBody>
      </p:sp>
      <p:sp>
        <p:nvSpPr>
          <p:cNvPr id="37" name="Text 35"/>
          <p:cNvSpPr/>
          <p:nvPr/>
        </p:nvSpPr>
        <p:spPr>
          <a:xfrm>
            <a:off x="5553124" y="3462338"/>
            <a:ext cx="3106987"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Commands, Corrections, Flow</a:t>
            </a:r>
            <a:endParaRPr lang="en-US" sz="750" dirty="0"/>
          </a:p>
        </p:txBody>
      </p:sp>
      <p:sp>
        <p:nvSpPr>
          <p:cNvPr id="38" name="Text 36"/>
          <p:cNvSpPr/>
          <p:nvPr/>
        </p:nvSpPr>
        <p:spPr>
          <a:xfrm>
            <a:off x="381000" y="3814763"/>
            <a:ext cx="8382000" cy="247650"/>
          </a:xfrm>
          <a:prstGeom prst="rect">
            <a:avLst/>
          </a:prstGeom>
          <a:solidFill>
            <a:srgbClr val="FFFFFF"/>
          </a:solidFill>
          <a:ln/>
        </p:spPr>
        <p:txBody>
          <a:bodyPr wrap="square" rtlCol="0" anchor="ctr"/>
          <a:lstStyle/>
          <a:p>
            <a:pPr marL="0" indent="0">
              <a:buNone/>
            </a:pPr>
            <a:endParaRPr lang="en-US" dirty="0"/>
          </a:p>
        </p:txBody>
      </p:sp>
      <p:sp>
        <p:nvSpPr>
          <p:cNvPr id="39" name="Text 37"/>
          <p:cNvSpPr/>
          <p:nvPr/>
        </p:nvSpPr>
        <p:spPr>
          <a:xfrm>
            <a:off x="514350" y="3871913"/>
            <a:ext cx="1752737" cy="133350"/>
          </a:xfrm>
          <a:prstGeom prst="rect">
            <a:avLst/>
          </a:prstGeom>
          <a:noFill/>
          <a:ln/>
        </p:spPr>
        <p:txBody>
          <a:bodyPr wrap="square" lIns="0" tIns="0" rIns="0" bIns="0" rtlCol="0" anchor="t"/>
          <a:lstStyle/>
          <a:p>
            <a:pPr marL="0" indent="0" algn="l">
              <a:lnSpc>
                <a:spcPts val="1050"/>
              </a:lnSpc>
              <a:buNone/>
            </a:pPr>
            <a:r>
              <a:rPr lang="en-US" sz="750" dirty="0">
                <a:solidFill>
                  <a:srgbClr val="1A1F2E"/>
                </a:solidFill>
                <a:latin typeface="Arial" pitchFamily="34" charset="0"/>
                <a:ea typeface="Arial" pitchFamily="34" charset="-122"/>
                <a:cs typeface="Arial" pitchFamily="34" charset="-120"/>
              </a:rPr>
              <a:t>Best For</a:t>
            </a:r>
            <a:endParaRPr lang="en-US" sz="750" dirty="0"/>
          </a:p>
        </p:txBody>
      </p:sp>
      <p:sp>
        <p:nvSpPr>
          <p:cNvPr id="40" name="Text 38"/>
          <p:cNvSpPr/>
          <p:nvPr/>
        </p:nvSpPr>
        <p:spPr>
          <a:xfrm>
            <a:off x="2354659" y="387191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Privacy-first, simple needs</a:t>
            </a:r>
            <a:endParaRPr lang="en-US" sz="750" dirty="0"/>
          </a:p>
        </p:txBody>
      </p:sp>
      <p:sp>
        <p:nvSpPr>
          <p:cNvPr id="41" name="Text 39"/>
          <p:cNvSpPr/>
          <p:nvPr/>
        </p:nvSpPr>
        <p:spPr>
          <a:xfrm>
            <a:off x="5553124" y="3871913"/>
            <a:ext cx="3106987"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Power users, context-switching</a:t>
            </a:r>
            <a:endParaRPr lang="en-US" sz="750" dirty="0"/>
          </a:p>
        </p:txBody>
      </p:sp>
      <p:sp>
        <p:nvSpPr>
          <p:cNvPr id="42" name="Text 40"/>
          <p:cNvSpPr/>
          <p:nvPr/>
        </p:nvSpPr>
        <p:spPr>
          <a:xfrm>
            <a:off x="381000" y="4329113"/>
            <a:ext cx="4133850" cy="657225"/>
          </a:xfrm>
          <a:prstGeom prst="rect">
            <a:avLst/>
          </a:prstGeom>
          <a:solidFill>
            <a:srgbClr val="1A1F2E"/>
          </a:solidFill>
          <a:ln/>
        </p:spPr>
        <p:txBody>
          <a:bodyPr wrap="square" rtlCol="0" anchor="ctr"/>
          <a:lstStyle/>
          <a:p>
            <a:pPr marL="0" indent="0">
              <a:buNone/>
            </a:pPr>
            <a:endParaRPr lang="en-US" dirty="0"/>
          </a:p>
        </p:txBody>
      </p:sp>
      <p:sp>
        <p:nvSpPr>
          <p:cNvPr id="43" name="Text 41"/>
          <p:cNvSpPr/>
          <p:nvPr/>
        </p:nvSpPr>
        <p:spPr>
          <a:xfrm>
            <a:off x="495300" y="4443413"/>
            <a:ext cx="398335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CHOOSE SUPERWHISPER IF:</a:t>
            </a:r>
            <a:endParaRPr lang="en-US" sz="750" dirty="0"/>
          </a:p>
        </p:txBody>
      </p:sp>
      <p:sp>
        <p:nvSpPr>
          <p:cNvPr id="44" name="Text 42"/>
          <p:cNvSpPr/>
          <p:nvPr/>
        </p:nvSpPr>
        <p:spPr>
          <a:xfrm>
            <a:off x="495300" y="4614863"/>
            <a:ext cx="3983355"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Privacy is top priority, you want simple setup, you prefer one-time payment, or you mainly need basic dictation.</a:t>
            </a:r>
            <a:endParaRPr lang="en-US" sz="675" dirty="0"/>
          </a:p>
        </p:txBody>
      </p:sp>
      <p:sp>
        <p:nvSpPr>
          <p:cNvPr id="45" name="Text 43"/>
          <p:cNvSpPr/>
          <p:nvPr/>
        </p:nvSpPr>
        <p:spPr>
          <a:xfrm>
            <a:off x="4629150" y="4329113"/>
            <a:ext cx="4133850" cy="657225"/>
          </a:xfrm>
          <a:prstGeom prst="rect">
            <a:avLst/>
          </a:prstGeom>
          <a:solidFill>
            <a:srgbClr val="1A1F2E"/>
          </a:solidFill>
          <a:ln/>
        </p:spPr>
        <p:txBody>
          <a:bodyPr wrap="square" rtlCol="0" anchor="ctr"/>
          <a:lstStyle/>
          <a:p>
            <a:pPr marL="0" indent="0">
              <a:buNone/>
            </a:pPr>
            <a:endParaRPr lang="en-US" dirty="0"/>
          </a:p>
        </p:txBody>
      </p:sp>
      <p:sp>
        <p:nvSpPr>
          <p:cNvPr id="46" name="Text 44"/>
          <p:cNvSpPr/>
          <p:nvPr/>
        </p:nvSpPr>
        <p:spPr>
          <a:xfrm>
            <a:off x="4743450" y="4443413"/>
            <a:ext cx="398335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CHOOSE WISPR FLOW IF:</a:t>
            </a:r>
            <a:endParaRPr lang="en-US" sz="750" dirty="0"/>
          </a:p>
        </p:txBody>
      </p:sp>
      <p:sp>
        <p:nvSpPr>
          <p:cNvPr id="47" name="Text 45"/>
          <p:cNvSpPr/>
          <p:nvPr/>
        </p:nvSpPr>
        <p:spPr>
          <a:xfrm>
            <a:off x="4743450" y="4614863"/>
            <a:ext cx="3983355"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You need Linux support, want smart context formatting, use many different apps, or value advanced AI features.</a:t>
            </a:r>
            <a:endParaRPr lang="en-US" sz="6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marL="0" indent="0" algn="l">
              <a:lnSpc>
                <a:spcPts val="1155"/>
              </a:lnSpc>
              <a:spcAft>
                <a:spcPts val="450"/>
              </a:spcAft>
              <a:buNone/>
            </a:pPr>
            <a:r>
              <a:rPr lang="en-US" sz="825" dirty="0">
                <a:solidFill>
                  <a:srgbClr val="C9A227"/>
                </a:solidFill>
                <a:latin typeface="Arial" pitchFamily="34" charset="0"/>
                <a:ea typeface="Arial" pitchFamily="34" charset="-122"/>
                <a:cs typeface="Arial" pitchFamily="34" charset="-120"/>
              </a:rPr>
              <a:t>COMPLETE COMPARISON</a:t>
            </a:r>
            <a:endParaRPr lang="en-US" sz="825" dirty="0"/>
          </a:p>
        </p:txBody>
      </p:sp>
      <p:sp>
        <p:nvSpPr>
          <p:cNvPr id="3" name="Text 1"/>
          <p:cNvSpPr/>
          <p:nvPr/>
        </p:nvSpPr>
        <p:spPr>
          <a:xfrm>
            <a:off x="457200" y="432346"/>
            <a:ext cx="4206812" cy="247650"/>
          </a:xfrm>
          <a:prstGeom prst="rect">
            <a:avLst/>
          </a:prstGeom>
          <a:noFill/>
          <a:ln/>
        </p:spPr>
        <p:txBody>
          <a:bodyPr wrap="square" lIns="0" tIns="0" rIns="0" bIns="0" rtlCol="0" anchor="t"/>
          <a:lstStyle/>
          <a:p>
            <a:pPr marL="0" indent="0" algn="l">
              <a:lnSpc>
                <a:spcPts val="1950"/>
              </a:lnSpc>
              <a:buNone/>
            </a:pPr>
            <a:r>
              <a:rPr lang="en-US" sz="1950" dirty="0">
                <a:solidFill>
                  <a:srgbClr val="1A1F2E"/>
                </a:solidFill>
                <a:latin typeface="Georgia" pitchFamily="34" charset="0"/>
                <a:ea typeface="Georgia" pitchFamily="34" charset="-122"/>
                <a:cs typeface="Georgia" pitchFamily="34" charset="-120"/>
              </a:rPr>
              <a:t>Voice Tool Comparison Matrix</a:t>
            </a:r>
            <a:endParaRPr lang="en-US" sz="1950" dirty="0"/>
          </a:p>
        </p:txBody>
      </p:sp>
      <p:sp>
        <p:nvSpPr>
          <p:cNvPr id="4" name="Text 2"/>
          <p:cNvSpPr/>
          <p:nvPr/>
        </p:nvSpPr>
        <p:spPr>
          <a:xfrm>
            <a:off x="457200" y="718096"/>
            <a:ext cx="8394192" cy="146596"/>
          </a:xfrm>
          <a:prstGeom prst="rect">
            <a:avLst/>
          </a:prstGeom>
          <a:noFill/>
          <a:ln/>
        </p:spPr>
        <p:txBody>
          <a:bodyPr wrap="square" lIns="0" tIns="0" rIns="0" bIns="0" rtlCol="0" anchor="t"/>
          <a:lstStyle/>
          <a:p>
            <a:pPr marL="0" indent="0" algn="l">
              <a:lnSpc>
                <a:spcPts val="1155"/>
              </a:lnSpc>
              <a:spcBef>
                <a:spcPts val="300"/>
              </a:spcBef>
              <a:buNone/>
            </a:pPr>
            <a:r>
              <a:rPr lang="en-US" sz="825" dirty="0">
                <a:solidFill>
                  <a:srgbClr val="6B7280"/>
                </a:solidFill>
                <a:latin typeface="Arial" pitchFamily="34" charset="0"/>
                <a:ea typeface="Arial" pitchFamily="34" charset="-122"/>
                <a:cs typeface="Arial" pitchFamily="34" charset="-120"/>
              </a:rPr>
              <a:t>Including native OS dictation options</a:t>
            </a:r>
            <a:endParaRPr lang="en-US" sz="825" dirty="0"/>
          </a:p>
        </p:txBody>
      </p:sp>
      <p:sp>
        <p:nvSpPr>
          <p:cNvPr id="5" name="Text 3"/>
          <p:cNvSpPr/>
          <p:nvPr/>
        </p:nvSpPr>
        <p:spPr>
          <a:xfrm>
            <a:off x="457200" y="1361033"/>
            <a:ext cx="8229600" cy="2857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571500" y="1437233"/>
            <a:ext cx="1301118"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Tool</a:t>
            </a:r>
            <a:endParaRPr lang="en-US" sz="750" dirty="0"/>
          </a:p>
        </p:txBody>
      </p:sp>
      <p:sp>
        <p:nvSpPr>
          <p:cNvPr id="7" name="Text 5"/>
          <p:cNvSpPr/>
          <p:nvPr/>
        </p:nvSpPr>
        <p:spPr>
          <a:xfrm>
            <a:off x="1989585" y="14372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Platform</a:t>
            </a:r>
            <a:endParaRPr lang="en-US" sz="750" dirty="0"/>
          </a:p>
        </p:txBody>
      </p:sp>
      <p:sp>
        <p:nvSpPr>
          <p:cNvPr id="8" name="Text 6"/>
          <p:cNvSpPr/>
          <p:nvPr/>
        </p:nvSpPr>
        <p:spPr>
          <a:xfrm>
            <a:off x="3134073" y="14372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Privacy</a:t>
            </a:r>
            <a:endParaRPr lang="en-US" sz="750" dirty="0"/>
          </a:p>
        </p:txBody>
      </p:sp>
      <p:sp>
        <p:nvSpPr>
          <p:cNvPr id="9" name="Text 7"/>
          <p:cNvSpPr/>
          <p:nvPr/>
        </p:nvSpPr>
        <p:spPr>
          <a:xfrm>
            <a:off x="4279978" y="1437233"/>
            <a:ext cx="867412"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Cost</a:t>
            </a:r>
            <a:endParaRPr lang="en-US" sz="750" dirty="0"/>
          </a:p>
        </p:txBody>
      </p:sp>
      <p:sp>
        <p:nvSpPr>
          <p:cNvPr id="10" name="Text 8"/>
          <p:cNvSpPr/>
          <p:nvPr/>
        </p:nvSpPr>
        <p:spPr>
          <a:xfrm>
            <a:off x="5281365" y="14372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Accuracy</a:t>
            </a:r>
            <a:endParaRPr lang="en-US" sz="750" dirty="0"/>
          </a:p>
        </p:txBody>
      </p:sp>
      <p:sp>
        <p:nvSpPr>
          <p:cNvPr id="11" name="Text 9"/>
          <p:cNvSpPr/>
          <p:nvPr/>
        </p:nvSpPr>
        <p:spPr>
          <a:xfrm>
            <a:off x="6425854" y="14372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Features</a:t>
            </a:r>
            <a:endParaRPr lang="en-US" sz="750" dirty="0"/>
          </a:p>
        </p:txBody>
      </p:sp>
      <p:sp>
        <p:nvSpPr>
          <p:cNvPr id="12" name="Text 10"/>
          <p:cNvSpPr/>
          <p:nvPr/>
        </p:nvSpPr>
        <p:spPr>
          <a:xfrm>
            <a:off x="7570342" y="14372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C9A227"/>
                </a:solidFill>
                <a:latin typeface="Arial" pitchFamily="34" charset="0"/>
                <a:ea typeface="Arial" pitchFamily="34" charset="-122"/>
                <a:cs typeface="Arial" pitchFamily="34" charset="-120"/>
              </a:rPr>
              <a:t>PHI Safe</a:t>
            </a:r>
            <a:endParaRPr lang="en-US" sz="750" dirty="0"/>
          </a:p>
        </p:txBody>
      </p:sp>
      <p:sp>
        <p:nvSpPr>
          <p:cNvPr id="13" name="Text 11"/>
          <p:cNvSpPr/>
          <p:nvPr/>
        </p:nvSpPr>
        <p:spPr>
          <a:xfrm>
            <a:off x="457200" y="1818233"/>
            <a:ext cx="8229600" cy="304800"/>
          </a:xfrm>
          <a:prstGeom prst="rect">
            <a:avLst/>
          </a:prstGeom>
          <a:solidFill>
            <a:srgbClr val="DCFCE7"/>
          </a:solidFill>
          <a:ln w="9525">
            <a:solidFill>
              <a:srgbClr val="059669"/>
            </a:solidFill>
          </a:ln>
        </p:spPr>
        <p:txBody>
          <a:bodyPr wrap="square" rtlCol="0" anchor="ctr"/>
          <a:lstStyle/>
          <a:p>
            <a:pPr marL="0" indent="0">
              <a:buNone/>
            </a:pPr>
            <a:endParaRPr lang="en-US" dirty="0"/>
          </a:p>
        </p:txBody>
      </p:sp>
      <p:sp>
        <p:nvSpPr>
          <p:cNvPr id="14" name="Text 12"/>
          <p:cNvSpPr/>
          <p:nvPr/>
        </p:nvSpPr>
        <p:spPr>
          <a:xfrm>
            <a:off x="581025" y="1903958"/>
            <a:ext cx="1297626"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SuperWhisper</a:t>
            </a:r>
            <a:endParaRPr lang="en-US" sz="750" dirty="0"/>
          </a:p>
        </p:txBody>
      </p:sp>
      <p:sp>
        <p:nvSpPr>
          <p:cNvPr id="15" name="Text 13"/>
          <p:cNvSpPr/>
          <p:nvPr/>
        </p:nvSpPr>
        <p:spPr>
          <a:xfrm>
            <a:off x="1995714" y="1903958"/>
            <a:ext cx="1009198"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Mac/Win/iOS</a:t>
            </a:r>
            <a:endParaRPr lang="en-US" sz="750" dirty="0"/>
          </a:p>
        </p:txBody>
      </p:sp>
      <p:sp>
        <p:nvSpPr>
          <p:cNvPr id="16" name="Text 14"/>
          <p:cNvSpPr/>
          <p:nvPr/>
        </p:nvSpPr>
        <p:spPr>
          <a:xfrm>
            <a:off x="3137523" y="1903958"/>
            <a:ext cx="1009198"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100% Local</a:t>
            </a:r>
            <a:endParaRPr lang="en-US" sz="750" dirty="0"/>
          </a:p>
        </p:txBody>
      </p:sp>
      <p:sp>
        <p:nvSpPr>
          <p:cNvPr id="17" name="Text 15"/>
          <p:cNvSpPr/>
          <p:nvPr/>
        </p:nvSpPr>
        <p:spPr>
          <a:xfrm>
            <a:off x="4280746" y="1903958"/>
            <a:ext cx="864983"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~$30</a:t>
            </a:r>
            <a:endParaRPr lang="en-US" sz="750" dirty="0"/>
          </a:p>
        </p:txBody>
      </p:sp>
      <p:sp>
        <p:nvSpPr>
          <p:cNvPr id="18" name="Text 16"/>
          <p:cNvSpPr/>
          <p:nvPr/>
        </p:nvSpPr>
        <p:spPr>
          <a:xfrm>
            <a:off x="5279755" y="1903958"/>
            <a:ext cx="1009198"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Excellent</a:t>
            </a:r>
            <a:endParaRPr lang="en-US" sz="750" dirty="0"/>
          </a:p>
        </p:txBody>
      </p:sp>
      <p:sp>
        <p:nvSpPr>
          <p:cNvPr id="19" name="Text 17"/>
          <p:cNvSpPr/>
          <p:nvPr/>
        </p:nvSpPr>
        <p:spPr>
          <a:xfrm>
            <a:off x="6421565" y="1903958"/>
            <a:ext cx="1009198"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Good</a:t>
            </a:r>
            <a:endParaRPr lang="en-US" sz="750" dirty="0"/>
          </a:p>
        </p:txBody>
      </p:sp>
      <p:sp>
        <p:nvSpPr>
          <p:cNvPr id="20" name="Text 18"/>
          <p:cNvSpPr/>
          <p:nvPr/>
        </p:nvSpPr>
        <p:spPr>
          <a:xfrm>
            <a:off x="7563374" y="1903958"/>
            <a:ext cx="1009198"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YES</a:t>
            </a:r>
            <a:endParaRPr lang="en-US" sz="750" dirty="0"/>
          </a:p>
        </p:txBody>
      </p:sp>
      <p:sp>
        <p:nvSpPr>
          <p:cNvPr id="21" name="Text 19"/>
          <p:cNvSpPr/>
          <p:nvPr/>
        </p:nvSpPr>
        <p:spPr>
          <a:xfrm>
            <a:off x="457200" y="2275433"/>
            <a:ext cx="8229600" cy="295275"/>
          </a:xfrm>
          <a:prstGeom prst="rect">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457200" y="2565946"/>
            <a:ext cx="8229600" cy="0"/>
          </a:xfrm>
          <a:prstGeom prst="line">
            <a:avLst/>
          </a:prstGeom>
          <a:noFill/>
          <a:ln w="9525">
            <a:solidFill>
              <a:srgbClr val="E4E7ED"/>
            </a:solidFill>
            <a:prstDash val="solid"/>
          </a:ln>
        </p:spPr>
        <p:txBody>
          <a:bodyPr/>
          <a:lstStyle/>
          <a:p>
            <a:endParaRPr lang="en-US"/>
          </a:p>
        </p:txBody>
      </p:sp>
      <p:sp>
        <p:nvSpPr>
          <p:cNvPr id="23" name="Text 21"/>
          <p:cNvSpPr/>
          <p:nvPr/>
        </p:nvSpPr>
        <p:spPr>
          <a:xfrm>
            <a:off x="571500" y="2351633"/>
            <a:ext cx="1301118"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Wispr Flow</a:t>
            </a:r>
            <a:endParaRPr lang="en-US" sz="750" dirty="0"/>
          </a:p>
        </p:txBody>
      </p:sp>
      <p:sp>
        <p:nvSpPr>
          <p:cNvPr id="24" name="Text 22"/>
          <p:cNvSpPr/>
          <p:nvPr/>
        </p:nvSpPr>
        <p:spPr>
          <a:xfrm>
            <a:off x="1989585" y="235163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All</a:t>
            </a:r>
            <a:endParaRPr lang="en-US" sz="750" dirty="0"/>
          </a:p>
        </p:txBody>
      </p:sp>
      <p:sp>
        <p:nvSpPr>
          <p:cNvPr id="25" name="Text 23"/>
          <p:cNvSpPr/>
          <p:nvPr/>
        </p:nvSpPr>
        <p:spPr>
          <a:xfrm>
            <a:off x="3134073" y="235163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F59E0B"/>
                </a:solidFill>
                <a:latin typeface="Arial" pitchFamily="34" charset="0"/>
                <a:ea typeface="Arial" pitchFamily="34" charset="-122"/>
                <a:cs typeface="Arial" pitchFamily="34" charset="-120"/>
              </a:rPr>
              <a:t>Local Mode*</a:t>
            </a:r>
            <a:endParaRPr lang="en-US" sz="750" dirty="0"/>
          </a:p>
        </p:txBody>
      </p:sp>
      <p:sp>
        <p:nvSpPr>
          <p:cNvPr id="26" name="Text 24"/>
          <p:cNvSpPr/>
          <p:nvPr/>
        </p:nvSpPr>
        <p:spPr>
          <a:xfrm>
            <a:off x="4279978" y="2351633"/>
            <a:ext cx="867412"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Free/$20</a:t>
            </a:r>
            <a:endParaRPr lang="en-US" sz="750" dirty="0"/>
          </a:p>
        </p:txBody>
      </p:sp>
      <p:sp>
        <p:nvSpPr>
          <p:cNvPr id="27" name="Text 25"/>
          <p:cNvSpPr/>
          <p:nvPr/>
        </p:nvSpPr>
        <p:spPr>
          <a:xfrm>
            <a:off x="5281365" y="235163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Excellent</a:t>
            </a:r>
            <a:endParaRPr lang="en-US" sz="750" dirty="0"/>
          </a:p>
        </p:txBody>
      </p:sp>
      <p:sp>
        <p:nvSpPr>
          <p:cNvPr id="28" name="Text 26"/>
          <p:cNvSpPr/>
          <p:nvPr/>
        </p:nvSpPr>
        <p:spPr>
          <a:xfrm>
            <a:off x="6425854" y="23516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059669"/>
                </a:solidFill>
                <a:latin typeface="Arial" pitchFamily="34" charset="0"/>
                <a:ea typeface="Arial" pitchFamily="34" charset="-122"/>
                <a:cs typeface="Arial" pitchFamily="34" charset="-120"/>
              </a:rPr>
              <a:t>Advanced</a:t>
            </a:r>
            <a:endParaRPr lang="en-US" sz="750" dirty="0"/>
          </a:p>
        </p:txBody>
      </p:sp>
      <p:sp>
        <p:nvSpPr>
          <p:cNvPr id="29" name="Text 27"/>
          <p:cNvSpPr/>
          <p:nvPr/>
        </p:nvSpPr>
        <p:spPr>
          <a:xfrm>
            <a:off x="7570342" y="235163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F59E0B"/>
                </a:solidFill>
                <a:latin typeface="Arial" pitchFamily="34" charset="0"/>
                <a:ea typeface="Arial" pitchFamily="34" charset="-122"/>
                <a:cs typeface="Arial" pitchFamily="34" charset="-120"/>
              </a:rPr>
              <a:t>IF LOCAL</a:t>
            </a:r>
            <a:endParaRPr lang="en-US" sz="750" dirty="0"/>
          </a:p>
        </p:txBody>
      </p:sp>
      <p:sp>
        <p:nvSpPr>
          <p:cNvPr id="30" name="Text 28"/>
          <p:cNvSpPr/>
          <p:nvPr/>
        </p:nvSpPr>
        <p:spPr>
          <a:xfrm>
            <a:off x="457200" y="2723108"/>
            <a:ext cx="8229600" cy="295275"/>
          </a:xfrm>
          <a:prstGeom prst="rect">
            <a:avLst/>
          </a:prstGeom>
          <a:solidFill>
            <a:srgbClr val="F7F8FA"/>
          </a:solidFill>
          <a:ln/>
        </p:spPr>
        <p:txBody>
          <a:bodyPr wrap="square" rtlCol="0" anchor="ctr"/>
          <a:lstStyle/>
          <a:p>
            <a:pPr marL="0" indent="0">
              <a:buNone/>
            </a:pPr>
            <a:endParaRPr lang="en-US" dirty="0"/>
          </a:p>
        </p:txBody>
      </p:sp>
      <p:sp>
        <p:nvSpPr>
          <p:cNvPr id="31" name="Shape 29"/>
          <p:cNvSpPr/>
          <p:nvPr/>
        </p:nvSpPr>
        <p:spPr>
          <a:xfrm>
            <a:off x="457200" y="3013621"/>
            <a:ext cx="8229600" cy="0"/>
          </a:xfrm>
          <a:prstGeom prst="line">
            <a:avLst/>
          </a:prstGeom>
          <a:noFill/>
          <a:ln w="9525">
            <a:solidFill>
              <a:srgbClr val="E4E7ED"/>
            </a:solidFill>
            <a:prstDash val="solid"/>
          </a:ln>
        </p:spPr>
        <p:txBody>
          <a:bodyPr/>
          <a:lstStyle/>
          <a:p>
            <a:endParaRPr lang="en-US"/>
          </a:p>
        </p:txBody>
      </p:sp>
      <p:sp>
        <p:nvSpPr>
          <p:cNvPr id="32" name="Text 30"/>
          <p:cNvSpPr/>
          <p:nvPr/>
        </p:nvSpPr>
        <p:spPr>
          <a:xfrm>
            <a:off x="571500" y="2799308"/>
            <a:ext cx="1301118"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macOS Dictation</a:t>
            </a:r>
            <a:endParaRPr lang="en-US" sz="750" dirty="0"/>
          </a:p>
        </p:txBody>
      </p:sp>
      <p:sp>
        <p:nvSpPr>
          <p:cNvPr id="33" name="Text 31"/>
          <p:cNvSpPr/>
          <p:nvPr/>
        </p:nvSpPr>
        <p:spPr>
          <a:xfrm>
            <a:off x="1989585" y="279930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Mac only</a:t>
            </a:r>
            <a:endParaRPr lang="en-US" sz="750" dirty="0"/>
          </a:p>
        </p:txBody>
      </p:sp>
      <p:sp>
        <p:nvSpPr>
          <p:cNvPr id="34" name="Text 32"/>
          <p:cNvSpPr/>
          <p:nvPr/>
        </p:nvSpPr>
        <p:spPr>
          <a:xfrm>
            <a:off x="3134073" y="279930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F59E0B"/>
                </a:solidFill>
                <a:latin typeface="Arial" pitchFamily="34" charset="0"/>
                <a:ea typeface="Arial" pitchFamily="34" charset="-122"/>
                <a:cs typeface="Arial" pitchFamily="34" charset="-120"/>
              </a:rPr>
              <a:t>Local opt*</a:t>
            </a:r>
            <a:endParaRPr lang="en-US" sz="750" dirty="0"/>
          </a:p>
        </p:txBody>
      </p:sp>
      <p:sp>
        <p:nvSpPr>
          <p:cNvPr id="35" name="Text 33"/>
          <p:cNvSpPr/>
          <p:nvPr/>
        </p:nvSpPr>
        <p:spPr>
          <a:xfrm>
            <a:off x="4279978" y="2799308"/>
            <a:ext cx="867412"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36" name="Text 34"/>
          <p:cNvSpPr/>
          <p:nvPr/>
        </p:nvSpPr>
        <p:spPr>
          <a:xfrm>
            <a:off x="5281365" y="279930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Good</a:t>
            </a:r>
            <a:endParaRPr lang="en-US" sz="750" dirty="0"/>
          </a:p>
        </p:txBody>
      </p:sp>
      <p:sp>
        <p:nvSpPr>
          <p:cNvPr id="37" name="Text 35"/>
          <p:cNvSpPr/>
          <p:nvPr/>
        </p:nvSpPr>
        <p:spPr>
          <a:xfrm>
            <a:off x="6425854" y="279930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Basic</a:t>
            </a:r>
            <a:endParaRPr lang="en-US" sz="750" dirty="0"/>
          </a:p>
        </p:txBody>
      </p:sp>
      <p:sp>
        <p:nvSpPr>
          <p:cNvPr id="38" name="Text 36"/>
          <p:cNvSpPr/>
          <p:nvPr/>
        </p:nvSpPr>
        <p:spPr>
          <a:xfrm>
            <a:off x="7570342" y="2799308"/>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F59E0B"/>
                </a:solidFill>
                <a:latin typeface="Arial" pitchFamily="34" charset="0"/>
                <a:ea typeface="Arial" pitchFamily="34" charset="-122"/>
                <a:cs typeface="Arial" pitchFamily="34" charset="-120"/>
              </a:rPr>
              <a:t>IF LOCAL</a:t>
            </a:r>
            <a:endParaRPr lang="en-US" sz="750" dirty="0"/>
          </a:p>
        </p:txBody>
      </p:sp>
      <p:sp>
        <p:nvSpPr>
          <p:cNvPr id="39" name="Text 37"/>
          <p:cNvSpPr/>
          <p:nvPr/>
        </p:nvSpPr>
        <p:spPr>
          <a:xfrm>
            <a:off x="457200" y="3170783"/>
            <a:ext cx="8229600" cy="295275"/>
          </a:xfrm>
          <a:prstGeom prst="rect">
            <a:avLst/>
          </a:prstGeom>
          <a:solidFill>
            <a:srgbClr val="FFFFFF"/>
          </a:solidFill>
          <a:ln/>
        </p:spPr>
        <p:txBody>
          <a:bodyPr wrap="square" rtlCol="0" anchor="ctr"/>
          <a:lstStyle/>
          <a:p>
            <a:pPr marL="0" indent="0">
              <a:buNone/>
            </a:pPr>
            <a:endParaRPr lang="en-US" dirty="0"/>
          </a:p>
        </p:txBody>
      </p:sp>
      <p:sp>
        <p:nvSpPr>
          <p:cNvPr id="40" name="Shape 38"/>
          <p:cNvSpPr/>
          <p:nvPr/>
        </p:nvSpPr>
        <p:spPr>
          <a:xfrm>
            <a:off x="457200" y="3461296"/>
            <a:ext cx="8229600" cy="0"/>
          </a:xfrm>
          <a:prstGeom prst="line">
            <a:avLst/>
          </a:prstGeom>
          <a:noFill/>
          <a:ln w="9525">
            <a:solidFill>
              <a:srgbClr val="E4E7ED"/>
            </a:solidFill>
            <a:prstDash val="solid"/>
          </a:ln>
        </p:spPr>
        <p:txBody>
          <a:bodyPr/>
          <a:lstStyle/>
          <a:p>
            <a:endParaRPr lang="en-US"/>
          </a:p>
        </p:txBody>
      </p:sp>
      <p:sp>
        <p:nvSpPr>
          <p:cNvPr id="41" name="Text 39"/>
          <p:cNvSpPr/>
          <p:nvPr/>
        </p:nvSpPr>
        <p:spPr>
          <a:xfrm>
            <a:off x="571500" y="3246983"/>
            <a:ext cx="1301118"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Windows Voice</a:t>
            </a:r>
            <a:endParaRPr lang="en-US" sz="750" dirty="0"/>
          </a:p>
        </p:txBody>
      </p:sp>
      <p:sp>
        <p:nvSpPr>
          <p:cNvPr id="42" name="Text 40"/>
          <p:cNvSpPr/>
          <p:nvPr/>
        </p:nvSpPr>
        <p:spPr>
          <a:xfrm>
            <a:off x="1989585" y="324698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Win only</a:t>
            </a:r>
            <a:endParaRPr lang="en-US" sz="750" dirty="0"/>
          </a:p>
        </p:txBody>
      </p:sp>
      <p:sp>
        <p:nvSpPr>
          <p:cNvPr id="43" name="Text 41"/>
          <p:cNvSpPr/>
          <p:nvPr/>
        </p:nvSpPr>
        <p:spPr>
          <a:xfrm>
            <a:off x="3134073" y="324698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DC2626"/>
                </a:solidFill>
                <a:latin typeface="Arial" pitchFamily="34" charset="0"/>
                <a:ea typeface="Arial" pitchFamily="34" charset="-122"/>
                <a:cs typeface="Arial" pitchFamily="34" charset="-120"/>
              </a:rPr>
              <a:t>Cloud</a:t>
            </a:r>
            <a:endParaRPr lang="en-US" sz="750" dirty="0"/>
          </a:p>
        </p:txBody>
      </p:sp>
      <p:sp>
        <p:nvSpPr>
          <p:cNvPr id="44" name="Text 42"/>
          <p:cNvSpPr/>
          <p:nvPr/>
        </p:nvSpPr>
        <p:spPr>
          <a:xfrm>
            <a:off x="4279978" y="3246983"/>
            <a:ext cx="867412"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45" name="Text 43"/>
          <p:cNvSpPr/>
          <p:nvPr/>
        </p:nvSpPr>
        <p:spPr>
          <a:xfrm>
            <a:off x="5281365" y="324698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Good</a:t>
            </a:r>
            <a:endParaRPr lang="en-US" sz="750" dirty="0"/>
          </a:p>
        </p:txBody>
      </p:sp>
      <p:sp>
        <p:nvSpPr>
          <p:cNvPr id="46" name="Text 44"/>
          <p:cNvSpPr/>
          <p:nvPr/>
        </p:nvSpPr>
        <p:spPr>
          <a:xfrm>
            <a:off x="6425854" y="3246983"/>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Basic</a:t>
            </a:r>
            <a:endParaRPr lang="en-US" sz="750" dirty="0"/>
          </a:p>
        </p:txBody>
      </p:sp>
      <p:sp>
        <p:nvSpPr>
          <p:cNvPr id="47" name="Text 45"/>
          <p:cNvSpPr/>
          <p:nvPr/>
        </p:nvSpPr>
        <p:spPr>
          <a:xfrm>
            <a:off x="7570342" y="3246983"/>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NO</a:t>
            </a:r>
            <a:endParaRPr lang="en-US" sz="750" dirty="0"/>
          </a:p>
        </p:txBody>
      </p:sp>
      <p:sp>
        <p:nvSpPr>
          <p:cNvPr id="48" name="Text 46"/>
          <p:cNvSpPr/>
          <p:nvPr/>
        </p:nvSpPr>
        <p:spPr>
          <a:xfrm>
            <a:off x="457200" y="3618458"/>
            <a:ext cx="8229600" cy="285750"/>
          </a:xfrm>
          <a:prstGeom prst="rect">
            <a:avLst/>
          </a:prstGeom>
          <a:solidFill>
            <a:srgbClr val="F7F8FA"/>
          </a:solidFill>
          <a:ln/>
        </p:spPr>
        <p:txBody>
          <a:bodyPr wrap="square" rtlCol="0" anchor="ctr"/>
          <a:lstStyle/>
          <a:p>
            <a:pPr marL="0" indent="0">
              <a:buNone/>
            </a:pPr>
            <a:endParaRPr lang="en-US" dirty="0"/>
          </a:p>
        </p:txBody>
      </p:sp>
      <p:sp>
        <p:nvSpPr>
          <p:cNvPr id="49" name="Text 47"/>
          <p:cNvSpPr/>
          <p:nvPr/>
        </p:nvSpPr>
        <p:spPr>
          <a:xfrm>
            <a:off x="571500" y="3694658"/>
            <a:ext cx="1301118"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Google Voice</a:t>
            </a:r>
            <a:endParaRPr lang="en-US" sz="750" dirty="0"/>
          </a:p>
        </p:txBody>
      </p:sp>
      <p:sp>
        <p:nvSpPr>
          <p:cNvPr id="50" name="Text 48"/>
          <p:cNvSpPr/>
          <p:nvPr/>
        </p:nvSpPr>
        <p:spPr>
          <a:xfrm>
            <a:off x="1989585" y="369465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Chrome</a:t>
            </a:r>
            <a:endParaRPr lang="en-US" sz="750" dirty="0"/>
          </a:p>
        </p:txBody>
      </p:sp>
      <p:sp>
        <p:nvSpPr>
          <p:cNvPr id="51" name="Text 49"/>
          <p:cNvSpPr/>
          <p:nvPr/>
        </p:nvSpPr>
        <p:spPr>
          <a:xfrm>
            <a:off x="3134073" y="369465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DC2626"/>
                </a:solidFill>
                <a:latin typeface="Arial" pitchFamily="34" charset="0"/>
                <a:ea typeface="Arial" pitchFamily="34" charset="-122"/>
                <a:cs typeface="Arial" pitchFamily="34" charset="-120"/>
              </a:rPr>
              <a:t>Cloud</a:t>
            </a:r>
            <a:endParaRPr lang="en-US" sz="750" dirty="0"/>
          </a:p>
        </p:txBody>
      </p:sp>
      <p:sp>
        <p:nvSpPr>
          <p:cNvPr id="52" name="Text 50"/>
          <p:cNvSpPr/>
          <p:nvPr/>
        </p:nvSpPr>
        <p:spPr>
          <a:xfrm>
            <a:off x="4279978" y="3694658"/>
            <a:ext cx="867412"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Free</a:t>
            </a:r>
            <a:endParaRPr lang="en-US" sz="750" dirty="0"/>
          </a:p>
        </p:txBody>
      </p:sp>
      <p:sp>
        <p:nvSpPr>
          <p:cNvPr id="53" name="Text 51"/>
          <p:cNvSpPr/>
          <p:nvPr/>
        </p:nvSpPr>
        <p:spPr>
          <a:xfrm>
            <a:off x="5281365" y="369465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059669"/>
                </a:solidFill>
                <a:latin typeface="Arial" pitchFamily="34" charset="0"/>
                <a:ea typeface="Arial" pitchFamily="34" charset="-122"/>
                <a:cs typeface="Arial" pitchFamily="34" charset="-120"/>
              </a:rPr>
              <a:t>Very Good</a:t>
            </a:r>
            <a:endParaRPr lang="en-US" sz="750" dirty="0"/>
          </a:p>
        </p:txBody>
      </p:sp>
      <p:sp>
        <p:nvSpPr>
          <p:cNvPr id="54" name="Text 52"/>
          <p:cNvSpPr/>
          <p:nvPr/>
        </p:nvSpPr>
        <p:spPr>
          <a:xfrm>
            <a:off x="6425854" y="3694658"/>
            <a:ext cx="101193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Basic</a:t>
            </a:r>
            <a:endParaRPr lang="en-US" sz="750" dirty="0"/>
          </a:p>
        </p:txBody>
      </p:sp>
      <p:sp>
        <p:nvSpPr>
          <p:cNvPr id="55" name="Text 53"/>
          <p:cNvSpPr/>
          <p:nvPr/>
        </p:nvSpPr>
        <p:spPr>
          <a:xfrm>
            <a:off x="7570342" y="3694658"/>
            <a:ext cx="1011930" cy="133350"/>
          </a:xfrm>
          <a:prstGeom prst="rect">
            <a:avLst/>
          </a:prstGeom>
          <a:noFill/>
          <a:ln/>
        </p:spPr>
        <p:txBody>
          <a:bodyPr wrap="square" lIns="0" tIns="0" rIns="0" bIns="0" rtlCol="0" anchor="t"/>
          <a:lstStyle/>
          <a:p>
            <a:pPr marL="0" indent="0" algn="ctr">
              <a:lnSpc>
                <a:spcPts val="1050"/>
              </a:lnSpc>
              <a:buNone/>
            </a:pPr>
            <a:r>
              <a:rPr lang="en-US" sz="750" b="1" dirty="0">
                <a:solidFill>
                  <a:srgbClr val="DC2626"/>
                </a:solidFill>
                <a:latin typeface="Arial" pitchFamily="34" charset="0"/>
                <a:ea typeface="Arial" pitchFamily="34" charset="-122"/>
                <a:cs typeface="Arial" pitchFamily="34" charset="-120"/>
              </a:rPr>
              <a:t>NO</a:t>
            </a:r>
            <a:endParaRPr lang="en-US" sz="750" dirty="0"/>
          </a:p>
        </p:txBody>
      </p:sp>
      <p:sp>
        <p:nvSpPr>
          <p:cNvPr id="56" name="Text 54"/>
          <p:cNvSpPr/>
          <p:nvPr/>
        </p:nvSpPr>
        <p:spPr>
          <a:xfrm>
            <a:off x="457200" y="4170908"/>
            <a:ext cx="5308550" cy="533400"/>
          </a:xfrm>
          <a:prstGeom prst="rect">
            <a:avLst/>
          </a:prstGeom>
          <a:solidFill>
            <a:srgbClr val="1A1F2E"/>
          </a:solidFill>
          <a:ln/>
        </p:spPr>
        <p:txBody>
          <a:bodyPr wrap="square" rtlCol="0" anchor="ctr"/>
          <a:lstStyle/>
          <a:p>
            <a:pPr marL="0" indent="0">
              <a:buNone/>
            </a:pPr>
            <a:endParaRPr lang="en-US" dirty="0"/>
          </a:p>
        </p:txBody>
      </p:sp>
      <p:sp>
        <p:nvSpPr>
          <p:cNvPr id="57" name="Text 55"/>
          <p:cNvSpPr/>
          <p:nvPr/>
        </p:nvSpPr>
        <p:spPr>
          <a:xfrm>
            <a:off x="571500" y="4285208"/>
            <a:ext cx="5181549"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RECOMMENDATION FOR GOVERNMENT</a:t>
            </a:r>
            <a:endParaRPr lang="en-US" sz="750" dirty="0"/>
          </a:p>
        </p:txBody>
      </p:sp>
      <p:sp>
        <p:nvSpPr>
          <p:cNvPr id="58" name="Text 56"/>
          <p:cNvSpPr/>
          <p:nvPr/>
        </p:nvSpPr>
        <p:spPr>
          <a:xfrm>
            <a:off x="571500" y="4456658"/>
            <a:ext cx="5181549" cy="133350"/>
          </a:xfrm>
          <a:prstGeom prst="rect">
            <a:avLst/>
          </a:prstGeom>
          <a:noFill/>
          <a:ln/>
        </p:spPr>
        <p:txBody>
          <a:bodyPr wrap="square" lIns="0" tIns="0" rIns="0" bIns="0" rtlCol="0" anchor="t"/>
          <a:lstStyle/>
          <a:p>
            <a:pPr marL="0" indent="0" algn="l">
              <a:lnSpc>
                <a:spcPts val="1050"/>
              </a:lnSpc>
              <a:buNone/>
            </a:pPr>
            <a:r>
              <a:rPr lang="en-US" sz="750" dirty="0">
                <a:solidFill>
                  <a:srgbClr val="FFFFFF"/>
                </a:solidFill>
                <a:latin typeface="Arial" pitchFamily="34" charset="0"/>
                <a:ea typeface="Arial" pitchFamily="34" charset="-122"/>
                <a:cs typeface="Arial" pitchFamily="34" charset="-120"/>
              </a:rPr>
              <a:t>SuperWhisper (simplest) or Wispr Flow with Privacy Mode enabled</a:t>
            </a:r>
            <a:endParaRPr lang="en-US" sz="750" dirty="0"/>
          </a:p>
        </p:txBody>
      </p:sp>
      <p:sp>
        <p:nvSpPr>
          <p:cNvPr id="59" name="Text 57"/>
          <p:cNvSpPr/>
          <p:nvPr/>
        </p:nvSpPr>
        <p:spPr>
          <a:xfrm>
            <a:off x="5880050" y="4180433"/>
            <a:ext cx="2806750" cy="514350"/>
          </a:xfrm>
          <a:prstGeom prst="rect">
            <a:avLst/>
          </a:prstGeom>
          <a:solidFill>
            <a:srgbClr val="FEF3C7"/>
          </a:solidFill>
          <a:ln/>
        </p:spPr>
        <p:txBody>
          <a:bodyPr wrap="square" rtlCol="0" anchor="ctr"/>
          <a:lstStyle/>
          <a:p>
            <a:pPr marL="0" indent="0">
              <a:buNone/>
            </a:pPr>
            <a:endParaRPr lang="en-US" dirty="0"/>
          </a:p>
        </p:txBody>
      </p:sp>
      <p:sp>
        <p:nvSpPr>
          <p:cNvPr id="60" name="Shape 58"/>
          <p:cNvSpPr/>
          <p:nvPr/>
        </p:nvSpPr>
        <p:spPr>
          <a:xfrm>
            <a:off x="5899100" y="4180433"/>
            <a:ext cx="0" cy="514350"/>
          </a:xfrm>
          <a:prstGeom prst="line">
            <a:avLst/>
          </a:prstGeom>
          <a:noFill/>
          <a:ln w="38100">
            <a:solidFill>
              <a:srgbClr val="F59E0B"/>
            </a:solidFill>
            <a:prstDash val="solid"/>
          </a:ln>
        </p:spPr>
        <p:txBody>
          <a:bodyPr/>
          <a:lstStyle/>
          <a:p>
            <a:endParaRPr lang="en-US"/>
          </a:p>
        </p:txBody>
      </p:sp>
      <p:sp>
        <p:nvSpPr>
          <p:cNvPr id="61" name="Text 59"/>
          <p:cNvSpPr/>
          <p:nvPr/>
        </p:nvSpPr>
        <p:spPr>
          <a:xfrm>
            <a:off x="6032450" y="4294733"/>
            <a:ext cx="2590851" cy="285750"/>
          </a:xfrm>
          <a:prstGeom prst="rect">
            <a:avLst/>
          </a:prstGeom>
          <a:noFill/>
          <a:ln/>
        </p:spPr>
        <p:txBody>
          <a:bodyPr wrap="square" lIns="0" tIns="0" rIns="0" bIns="0" rtlCol="0" anchor="t"/>
          <a:lstStyle/>
          <a:p>
            <a:pPr marL="0" indent="0" algn="l">
              <a:lnSpc>
                <a:spcPts val="1125"/>
              </a:lnSpc>
              <a:buNone/>
            </a:pPr>
            <a:r>
              <a:rPr lang="en-US" sz="750" dirty="0">
                <a:solidFill>
                  <a:srgbClr val="92400E"/>
                </a:solidFill>
                <a:latin typeface="Arial" pitchFamily="34" charset="0"/>
                <a:ea typeface="Arial" pitchFamily="34" charset="-122"/>
                <a:cs typeface="Arial" pitchFamily="34" charset="-120"/>
              </a:rPr>
              <a:t>*Local Mode requires explicit configuration - see setup slides</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C9A227"/>
                </a:solidFill>
                <a:latin typeface="Arial" pitchFamily="34" charset="0"/>
                <a:ea typeface="Arial" pitchFamily="34" charset="-122"/>
                <a:cs typeface="Arial" pitchFamily="34" charset="-120"/>
              </a:rPr>
              <a:t>DECISION GUIDE</a:t>
            </a:r>
            <a:endParaRPr lang="en-US" sz="750" dirty="0"/>
          </a:p>
        </p:txBody>
      </p:sp>
      <p:sp>
        <p:nvSpPr>
          <p:cNvPr id="3" name="Text 1"/>
          <p:cNvSpPr/>
          <p:nvPr/>
        </p:nvSpPr>
        <p:spPr>
          <a:xfrm>
            <a:off x="381000" y="400050"/>
            <a:ext cx="4284536" cy="247650"/>
          </a:xfrm>
          <a:prstGeom prst="rect">
            <a:avLst/>
          </a:prstGeom>
          <a:noFill/>
          <a:ln/>
        </p:spPr>
        <p:txBody>
          <a:bodyPr wrap="square" lIns="0" tIns="0" rIns="0" bIns="0" rtlCol="0" anchor="t"/>
          <a:lstStyle/>
          <a:p>
            <a:pPr marL="0" indent="0" algn="l">
              <a:lnSpc>
                <a:spcPts val="1950"/>
              </a:lnSpc>
              <a:buNone/>
            </a:pPr>
            <a:r>
              <a:rPr lang="en-US" sz="1950" dirty="0">
                <a:solidFill>
                  <a:srgbClr val="FFFFFF"/>
                </a:solidFill>
                <a:latin typeface="Georgia" pitchFamily="34" charset="0"/>
                <a:ea typeface="Georgia" pitchFamily="34" charset="-122"/>
                <a:cs typeface="Georgia" pitchFamily="34" charset="-120"/>
              </a:rPr>
              <a:t>Which Voice Tool Should I Use?</a:t>
            </a:r>
            <a:endParaRPr lang="en-US" sz="1950" dirty="0"/>
          </a:p>
        </p:txBody>
      </p:sp>
      <p:sp>
        <p:nvSpPr>
          <p:cNvPr id="4" name="Text 2"/>
          <p:cNvSpPr/>
          <p:nvPr/>
        </p:nvSpPr>
        <p:spPr>
          <a:xfrm>
            <a:off x="2817019" y="1098500"/>
            <a:ext cx="3509963" cy="350490"/>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007519" y="1193750"/>
            <a:ext cx="319154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START: Do you handle PHI or sensitive government data?</a:t>
            </a:r>
            <a:endParaRPr lang="en-US" sz="900" dirty="0"/>
          </a:p>
        </p:txBody>
      </p:sp>
      <p:sp>
        <p:nvSpPr>
          <p:cNvPr id="6" name="Text 4"/>
          <p:cNvSpPr/>
          <p:nvPr/>
        </p:nvSpPr>
        <p:spPr>
          <a:xfrm>
            <a:off x="381000" y="1715691"/>
            <a:ext cx="4095750" cy="298996"/>
          </a:xfrm>
          <a:prstGeom prst="rect">
            <a:avLst/>
          </a:prstGeom>
          <a:solidFill>
            <a:srgbClr val="059669"/>
          </a:solidFill>
          <a:ln/>
        </p:spPr>
        <p:txBody>
          <a:bodyPr wrap="square" rtlCol="0" anchor="ctr"/>
          <a:lstStyle/>
          <a:p>
            <a:pPr marL="0" indent="0">
              <a:buNone/>
            </a:pPr>
            <a:endParaRPr lang="en-US" dirty="0"/>
          </a:p>
        </p:txBody>
      </p:sp>
      <p:sp>
        <p:nvSpPr>
          <p:cNvPr id="7" name="Text 5"/>
          <p:cNvSpPr/>
          <p:nvPr/>
        </p:nvSpPr>
        <p:spPr>
          <a:xfrm>
            <a:off x="417767" y="1791891"/>
            <a:ext cx="4022217"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YES - Need Local Processing</a:t>
            </a:r>
            <a:endParaRPr lang="en-US" sz="825" dirty="0"/>
          </a:p>
        </p:txBody>
      </p:sp>
      <p:sp>
        <p:nvSpPr>
          <p:cNvPr id="8" name="Text 6"/>
          <p:cNvSpPr/>
          <p:nvPr/>
        </p:nvSpPr>
        <p:spPr>
          <a:xfrm>
            <a:off x="381000" y="2262336"/>
            <a:ext cx="4095750" cy="615255"/>
          </a:xfrm>
          <a:prstGeom prst="rect">
            <a:avLst/>
          </a:prstGeom>
          <a:solidFill>
            <a:srgbClr val="252B3D"/>
          </a:solidFill>
          <a:ln/>
        </p:spPr>
        <p:txBody>
          <a:bodyPr wrap="square" rtlCol="0" anchor="ctr"/>
          <a:lstStyle/>
          <a:p>
            <a:pPr marL="0" indent="0">
              <a:buNone/>
            </a:pPr>
            <a:endParaRPr lang="en-US" dirty="0"/>
          </a:p>
        </p:txBody>
      </p:sp>
      <p:sp>
        <p:nvSpPr>
          <p:cNvPr id="9" name="Text 7"/>
          <p:cNvSpPr/>
          <p:nvPr/>
        </p:nvSpPr>
        <p:spPr>
          <a:xfrm>
            <a:off x="476250" y="2357586"/>
            <a:ext cx="3983355"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What's your platform?</a:t>
            </a:r>
            <a:endParaRPr lang="en-US" sz="750" dirty="0"/>
          </a:p>
        </p:txBody>
      </p:sp>
      <p:sp>
        <p:nvSpPr>
          <p:cNvPr id="10" name="Text 8"/>
          <p:cNvSpPr/>
          <p:nvPr/>
        </p:nvSpPr>
        <p:spPr>
          <a:xfrm>
            <a:off x="47625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1" name="Text 9"/>
          <p:cNvSpPr/>
          <p:nvPr/>
        </p:nvSpPr>
        <p:spPr>
          <a:xfrm>
            <a:off x="52190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Mac</a:t>
            </a:r>
            <a:endParaRPr lang="en-US" sz="675" dirty="0"/>
          </a:p>
        </p:txBody>
      </p:sp>
      <p:sp>
        <p:nvSpPr>
          <p:cNvPr id="12" name="Text 10"/>
          <p:cNvSpPr/>
          <p:nvPr/>
        </p:nvSpPr>
        <p:spPr>
          <a:xfrm>
            <a:off x="179710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3" name="Text 11"/>
          <p:cNvSpPr/>
          <p:nvPr/>
        </p:nvSpPr>
        <p:spPr>
          <a:xfrm>
            <a:off x="184275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Windows</a:t>
            </a:r>
            <a:endParaRPr lang="en-US" sz="675" dirty="0"/>
          </a:p>
        </p:txBody>
      </p:sp>
      <p:sp>
        <p:nvSpPr>
          <p:cNvPr id="14" name="Text 12"/>
          <p:cNvSpPr/>
          <p:nvPr/>
        </p:nvSpPr>
        <p:spPr>
          <a:xfrm>
            <a:off x="3117949"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15" name="Text 13"/>
          <p:cNvSpPr/>
          <p:nvPr/>
        </p:nvSpPr>
        <p:spPr>
          <a:xfrm>
            <a:off x="3163605"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Linux</a:t>
            </a:r>
            <a:endParaRPr lang="en-US" sz="675" dirty="0"/>
          </a:p>
        </p:txBody>
      </p:sp>
      <p:sp>
        <p:nvSpPr>
          <p:cNvPr id="16" name="Text 14"/>
          <p:cNvSpPr/>
          <p:nvPr/>
        </p:nvSpPr>
        <p:spPr>
          <a:xfrm>
            <a:off x="381000" y="3125242"/>
            <a:ext cx="2019300" cy="462707"/>
          </a:xfrm>
          <a:prstGeom prst="rect">
            <a:avLst/>
          </a:prstGeom>
          <a:solidFill>
            <a:srgbClr val="059669"/>
          </a:solidFill>
          <a:ln/>
        </p:spPr>
        <p:txBody>
          <a:bodyPr wrap="square" rtlCol="0" anchor="ctr"/>
          <a:lstStyle/>
          <a:p>
            <a:pPr marL="0" indent="0">
              <a:buNone/>
            </a:pPr>
            <a:endParaRPr lang="en-US" dirty="0"/>
          </a:p>
        </p:txBody>
      </p:sp>
      <p:sp>
        <p:nvSpPr>
          <p:cNvPr id="17" name="Text 15"/>
          <p:cNvSpPr/>
          <p:nvPr/>
        </p:nvSpPr>
        <p:spPr>
          <a:xfrm>
            <a:off x="45796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18" name="Text 16"/>
          <p:cNvSpPr/>
          <p:nvPr/>
        </p:nvSpPr>
        <p:spPr>
          <a:xfrm>
            <a:off x="45796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Mac/Windows</a:t>
            </a:r>
            <a:endParaRPr lang="en-US" sz="600" dirty="0"/>
          </a:p>
        </p:txBody>
      </p:sp>
      <p:sp>
        <p:nvSpPr>
          <p:cNvPr id="19" name="Text 17"/>
          <p:cNvSpPr/>
          <p:nvPr/>
        </p:nvSpPr>
        <p:spPr>
          <a:xfrm>
            <a:off x="2457450" y="3125242"/>
            <a:ext cx="2019300" cy="462707"/>
          </a:xfrm>
          <a:prstGeom prst="rect">
            <a:avLst/>
          </a:prstGeom>
          <a:solidFill>
            <a:srgbClr val="059669"/>
          </a:solidFill>
          <a:ln/>
        </p:spPr>
        <p:txBody>
          <a:bodyPr wrap="square" rtlCol="0" anchor="ctr"/>
          <a:lstStyle/>
          <a:p>
            <a:pPr marL="0" indent="0">
              <a:buNone/>
            </a:pPr>
            <a:endParaRPr lang="en-US" dirty="0"/>
          </a:p>
        </p:txBody>
      </p:sp>
      <p:sp>
        <p:nvSpPr>
          <p:cNvPr id="20" name="Text 18"/>
          <p:cNvSpPr/>
          <p:nvPr/>
        </p:nvSpPr>
        <p:spPr>
          <a:xfrm>
            <a:off x="253441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21" name="Text 19"/>
          <p:cNvSpPr/>
          <p:nvPr/>
        </p:nvSpPr>
        <p:spPr>
          <a:xfrm>
            <a:off x="253441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Privacy Mode ON</a:t>
            </a:r>
            <a:endParaRPr lang="en-US" sz="600" dirty="0"/>
          </a:p>
        </p:txBody>
      </p:sp>
      <p:sp>
        <p:nvSpPr>
          <p:cNvPr id="22" name="Text 20"/>
          <p:cNvSpPr/>
          <p:nvPr/>
        </p:nvSpPr>
        <p:spPr>
          <a:xfrm>
            <a:off x="381000" y="3835598"/>
            <a:ext cx="4095750" cy="272355"/>
          </a:xfrm>
          <a:prstGeom prst="rect">
            <a:avLst/>
          </a:prstGeom>
          <a:solidFill>
            <a:srgbClr val="FEF3C7"/>
          </a:solidFill>
          <a:ln/>
        </p:spPr>
        <p:txBody>
          <a:bodyPr wrap="square" rtlCol="0" anchor="ctr"/>
          <a:lstStyle/>
          <a:p>
            <a:pPr marL="0" indent="0">
              <a:buNone/>
            </a:pPr>
            <a:endParaRPr lang="en-US" dirty="0"/>
          </a:p>
        </p:txBody>
      </p:sp>
      <p:sp>
        <p:nvSpPr>
          <p:cNvPr id="23" name="Text 21"/>
          <p:cNvSpPr/>
          <p:nvPr/>
        </p:nvSpPr>
        <p:spPr>
          <a:xfrm>
            <a:off x="417767" y="3911798"/>
            <a:ext cx="4022217" cy="119955"/>
          </a:xfrm>
          <a:prstGeom prst="rect">
            <a:avLst/>
          </a:prstGeom>
          <a:noFill/>
          <a:ln/>
        </p:spPr>
        <p:txBody>
          <a:bodyPr wrap="square" lIns="0" tIns="0" rIns="0" bIns="0" rtlCol="0" anchor="t"/>
          <a:lstStyle/>
          <a:p>
            <a:pPr marL="0" indent="0" algn="ctr">
              <a:lnSpc>
                <a:spcPts val="945"/>
              </a:lnSpc>
              <a:buNone/>
            </a:pPr>
            <a:r>
              <a:rPr lang="en-US" sz="675" b="1" dirty="0">
                <a:solidFill>
                  <a:srgbClr val="92400E"/>
                </a:solidFill>
                <a:latin typeface="Arial" pitchFamily="34" charset="0"/>
                <a:ea typeface="Arial" pitchFamily="34" charset="-122"/>
                <a:cs typeface="Arial" pitchFamily="34" charset="-120"/>
              </a:rPr>
              <a:t>Linux only:</a:t>
            </a:r>
            <a:r>
              <a:rPr lang="en-US" sz="675" dirty="0">
                <a:solidFill>
                  <a:srgbClr val="92400E"/>
                </a:solidFill>
                <a:latin typeface="Arial" pitchFamily="34" charset="0"/>
                <a:ea typeface="Arial" pitchFamily="34" charset="-122"/>
                <a:cs typeface="Arial" pitchFamily="34" charset="-120"/>
              </a:rPr>
              <a:t> Use Wispr Flow with Privacy Mode</a:t>
            </a:r>
            <a:endParaRPr lang="en-US" sz="675" dirty="0"/>
          </a:p>
        </p:txBody>
      </p:sp>
      <p:sp>
        <p:nvSpPr>
          <p:cNvPr id="24" name="Text 22"/>
          <p:cNvSpPr/>
          <p:nvPr/>
        </p:nvSpPr>
        <p:spPr>
          <a:xfrm>
            <a:off x="4667250" y="1715691"/>
            <a:ext cx="4095750" cy="298996"/>
          </a:xfrm>
          <a:prstGeom prst="rect">
            <a:avLst/>
          </a:prstGeom>
          <a:solidFill>
            <a:srgbClr val="6B7280"/>
          </a:solidFill>
          <a:ln/>
        </p:spPr>
        <p:txBody>
          <a:bodyPr wrap="square" rtlCol="0" anchor="ctr"/>
          <a:lstStyle/>
          <a:p>
            <a:pPr marL="0" indent="0">
              <a:buNone/>
            </a:pPr>
            <a:endParaRPr lang="en-US" dirty="0"/>
          </a:p>
        </p:txBody>
      </p:sp>
      <p:sp>
        <p:nvSpPr>
          <p:cNvPr id="25" name="Text 23"/>
          <p:cNvSpPr/>
          <p:nvPr/>
        </p:nvSpPr>
        <p:spPr>
          <a:xfrm>
            <a:off x="4704017" y="1791891"/>
            <a:ext cx="4022217"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NO - Cloud OK</a:t>
            </a:r>
            <a:endParaRPr lang="en-US" sz="825" dirty="0"/>
          </a:p>
        </p:txBody>
      </p:sp>
      <p:sp>
        <p:nvSpPr>
          <p:cNvPr id="26" name="Text 24"/>
          <p:cNvSpPr/>
          <p:nvPr/>
        </p:nvSpPr>
        <p:spPr>
          <a:xfrm>
            <a:off x="4667250" y="2262336"/>
            <a:ext cx="4095750" cy="615255"/>
          </a:xfrm>
          <a:prstGeom prst="rect">
            <a:avLst/>
          </a:prstGeom>
          <a:solidFill>
            <a:srgbClr val="252B3D"/>
          </a:solidFill>
          <a:ln/>
        </p:spPr>
        <p:txBody>
          <a:bodyPr wrap="square" rtlCol="0" anchor="ctr"/>
          <a:lstStyle/>
          <a:p>
            <a:pPr marL="0" indent="0">
              <a:buNone/>
            </a:pPr>
            <a:endParaRPr lang="en-US" dirty="0"/>
          </a:p>
        </p:txBody>
      </p:sp>
      <p:sp>
        <p:nvSpPr>
          <p:cNvPr id="27" name="Text 25"/>
          <p:cNvSpPr/>
          <p:nvPr/>
        </p:nvSpPr>
        <p:spPr>
          <a:xfrm>
            <a:off x="4762500" y="2357586"/>
            <a:ext cx="3983355"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What features do you need?</a:t>
            </a:r>
            <a:endParaRPr lang="en-US" sz="750" dirty="0"/>
          </a:p>
        </p:txBody>
      </p:sp>
      <p:sp>
        <p:nvSpPr>
          <p:cNvPr id="28" name="Text 26"/>
          <p:cNvSpPr/>
          <p:nvPr/>
        </p:nvSpPr>
        <p:spPr>
          <a:xfrm>
            <a:off x="476250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29" name="Text 27"/>
          <p:cNvSpPr/>
          <p:nvPr/>
        </p:nvSpPr>
        <p:spPr>
          <a:xfrm>
            <a:off x="480815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Basic</a:t>
            </a:r>
            <a:endParaRPr lang="en-US" sz="675" dirty="0"/>
          </a:p>
        </p:txBody>
      </p:sp>
      <p:sp>
        <p:nvSpPr>
          <p:cNvPr id="30" name="Text 28"/>
          <p:cNvSpPr/>
          <p:nvPr/>
        </p:nvSpPr>
        <p:spPr>
          <a:xfrm>
            <a:off x="6083350"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31" name="Text 29"/>
          <p:cNvSpPr/>
          <p:nvPr/>
        </p:nvSpPr>
        <p:spPr>
          <a:xfrm>
            <a:off x="6129006"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Context</a:t>
            </a:r>
            <a:endParaRPr lang="en-US" sz="675" dirty="0"/>
          </a:p>
        </p:txBody>
      </p:sp>
      <p:sp>
        <p:nvSpPr>
          <p:cNvPr id="32" name="Text 30"/>
          <p:cNvSpPr/>
          <p:nvPr/>
        </p:nvSpPr>
        <p:spPr>
          <a:xfrm>
            <a:off x="7404199" y="2548086"/>
            <a:ext cx="1263700" cy="234255"/>
          </a:xfrm>
          <a:prstGeom prst="rect">
            <a:avLst/>
          </a:prstGeom>
          <a:solidFill>
            <a:srgbClr val="C9A227">
              <a:alpha val="10000"/>
            </a:srgbClr>
          </a:solidFill>
          <a:ln/>
        </p:spPr>
        <p:txBody>
          <a:bodyPr wrap="square" rtlCol="0" anchor="ctr"/>
          <a:lstStyle/>
          <a:p>
            <a:pPr marL="0" indent="0">
              <a:buNone/>
            </a:pPr>
            <a:endParaRPr lang="en-US" dirty="0"/>
          </a:p>
        </p:txBody>
      </p:sp>
      <p:sp>
        <p:nvSpPr>
          <p:cNvPr id="33" name="Text 31"/>
          <p:cNvSpPr/>
          <p:nvPr/>
        </p:nvSpPr>
        <p:spPr>
          <a:xfrm>
            <a:off x="7449855" y="2605236"/>
            <a:ext cx="117238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solidFill>
                <a:latin typeface="Arial" pitchFamily="34" charset="0"/>
                <a:ea typeface="Arial" pitchFamily="34" charset="-122"/>
                <a:cs typeface="Arial" pitchFamily="34" charset="-120"/>
              </a:rPr>
              <a:t>Free</a:t>
            </a:r>
            <a:endParaRPr lang="en-US" sz="675" dirty="0"/>
          </a:p>
        </p:txBody>
      </p:sp>
      <p:sp>
        <p:nvSpPr>
          <p:cNvPr id="34" name="Text 32"/>
          <p:cNvSpPr/>
          <p:nvPr/>
        </p:nvSpPr>
        <p:spPr>
          <a:xfrm>
            <a:off x="4667250" y="3125242"/>
            <a:ext cx="2019300" cy="462707"/>
          </a:xfrm>
          <a:prstGeom prst="rect">
            <a:avLst/>
          </a:prstGeom>
          <a:solidFill>
            <a:srgbClr val="3B82F6"/>
          </a:solidFill>
          <a:ln/>
        </p:spPr>
        <p:txBody>
          <a:bodyPr wrap="square" rtlCol="0" anchor="ctr"/>
          <a:lstStyle/>
          <a:p>
            <a:pPr marL="0" indent="0">
              <a:buNone/>
            </a:pPr>
            <a:endParaRPr lang="en-US" dirty="0"/>
          </a:p>
        </p:txBody>
      </p:sp>
      <p:sp>
        <p:nvSpPr>
          <p:cNvPr id="35" name="Text 33"/>
          <p:cNvSpPr/>
          <p:nvPr/>
        </p:nvSpPr>
        <p:spPr>
          <a:xfrm>
            <a:off x="474421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SuperWhisper</a:t>
            </a:r>
            <a:endParaRPr lang="en-US" sz="825" dirty="0"/>
          </a:p>
        </p:txBody>
      </p:sp>
      <p:sp>
        <p:nvSpPr>
          <p:cNvPr id="36" name="Text 34"/>
          <p:cNvSpPr/>
          <p:nvPr/>
        </p:nvSpPr>
        <p:spPr>
          <a:xfrm>
            <a:off x="474421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Simple + Local</a:t>
            </a:r>
            <a:endParaRPr lang="en-US" sz="600" dirty="0"/>
          </a:p>
        </p:txBody>
      </p:sp>
      <p:sp>
        <p:nvSpPr>
          <p:cNvPr id="37" name="Text 35"/>
          <p:cNvSpPr/>
          <p:nvPr/>
        </p:nvSpPr>
        <p:spPr>
          <a:xfrm>
            <a:off x="6743700" y="3125242"/>
            <a:ext cx="2019300" cy="462707"/>
          </a:xfrm>
          <a:prstGeom prst="rect">
            <a:avLst/>
          </a:prstGeom>
          <a:solidFill>
            <a:srgbClr val="3B82F6"/>
          </a:solidFill>
          <a:ln/>
        </p:spPr>
        <p:txBody>
          <a:bodyPr wrap="square" rtlCol="0" anchor="ctr"/>
          <a:lstStyle/>
          <a:p>
            <a:pPr marL="0" indent="0">
              <a:buNone/>
            </a:pPr>
            <a:endParaRPr lang="en-US" dirty="0"/>
          </a:p>
        </p:txBody>
      </p:sp>
      <p:sp>
        <p:nvSpPr>
          <p:cNvPr id="38" name="Text 36"/>
          <p:cNvSpPr/>
          <p:nvPr/>
        </p:nvSpPr>
        <p:spPr>
          <a:xfrm>
            <a:off x="6820662" y="3220492"/>
            <a:ext cx="1865376" cy="146596"/>
          </a:xfrm>
          <a:prstGeom prst="rect">
            <a:avLst/>
          </a:prstGeom>
          <a:noFill/>
          <a:ln/>
        </p:spPr>
        <p:txBody>
          <a:bodyPr wrap="square" lIns="0" tIns="0" rIns="0" bIns="0" rtlCol="0" anchor="t"/>
          <a:lstStyle/>
          <a:p>
            <a:pPr marL="0" indent="0" algn="ctr">
              <a:lnSpc>
                <a:spcPts val="1155"/>
              </a:lnSpc>
              <a:spcAft>
                <a:spcPts val="150"/>
              </a:spcAft>
              <a:buNone/>
            </a:pPr>
            <a:r>
              <a:rPr lang="en-US" sz="825" b="1" dirty="0">
                <a:solidFill>
                  <a:srgbClr val="FFFFFF"/>
                </a:solidFill>
                <a:latin typeface="Arial" pitchFamily="34" charset="0"/>
                <a:ea typeface="Arial" pitchFamily="34" charset="-122"/>
                <a:cs typeface="Arial" pitchFamily="34" charset="-120"/>
              </a:rPr>
              <a:t>Wispr Flow</a:t>
            </a:r>
            <a:endParaRPr lang="en-US" sz="825" dirty="0"/>
          </a:p>
        </p:txBody>
      </p:sp>
      <p:sp>
        <p:nvSpPr>
          <p:cNvPr id="39" name="Text 37"/>
          <p:cNvSpPr/>
          <p:nvPr/>
        </p:nvSpPr>
        <p:spPr>
          <a:xfrm>
            <a:off x="6820662" y="3386138"/>
            <a:ext cx="1865376" cy="106561"/>
          </a:xfrm>
          <a:prstGeom prst="rect">
            <a:avLst/>
          </a:prstGeom>
          <a:noFill/>
          <a:ln/>
        </p:spPr>
        <p:txBody>
          <a:bodyPr wrap="square" lIns="0" tIns="0" rIns="0" bIns="0" rtlCol="0" anchor="t"/>
          <a:lstStyle/>
          <a:p>
            <a:pPr marL="0" indent="0" algn="ctr">
              <a:lnSpc>
                <a:spcPts val="840"/>
              </a:lnSpc>
              <a:buNone/>
            </a:pPr>
            <a:r>
              <a:rPr lang="en-US" sz="600" dirty="0">
                <a:solidFill>
                  <a:srgbClr val="FFFFFF">
                    <a:alpha val="80000"/>
                  </a:srgbClr>
                </a:solidFill>
                <a:latin typeface="Arial" pitchFamily="34" charset="0"/>
                <a:ea typeface="Arial" pitchFamily="34" charset="-122"/>
                <a:cs typeface="Arial" pitchFamily="34" charset="-120"/>
              </a:rPr>
              <a:t>Smart Features</a:t>
            </a:r>
            <a:endParaRPr lang="en-US" sz="600" dirty="0"/>
          </a:p>
        </p:txBody>
      </p:sp>
      <p:sp>
        <p:nvSpPr>
          <p:cNvPr id="40" name="Text 38"/>
          <p:cNvSpPr/>
          <p:nvPr/>
        </p:nvSpPr>
        <p:spPr>
          <a:xfrm>
            <a:off x="4667250" y="3835598"/>
            <a:ext cx="4095750" cy="272355"/>
          </a:xfrm>
          <a:prstGeom prst="rect">
            <a:avLst/>
          </a:prstGeom>
          <a:solidFill>
            <a:srgbClr val="252B3D"/>
          </a:solidFill>
          <a:ln/>
        </p:spPr>
        <p:txBody>
          <a:bodyPr wrap="square" rtlCol="0" anchor="ctr"/>
          <a:lstStyle/>
          <a:p>
            <a:pPr marL="0" indent="0">
              <a:buNone/>
            </a:pPr>
            <a:endParaRPr lang="en-US" dirty="0"/>
          </a:p>
        </p:txBody>
      </p:sp>
      <p:sp>
        <p:nvSpPr>
          <p:cNvPr id="41" name="Text 39"/>
          <p:cNvSpPr/>
          <p:nvPr/>
        </p:nvSpPr>
        <p:spPr>
          <a:xfrm>
            <a:off x="4704017" y="3911798"/>
            <a:ext cx="4022217" cy="119955"/>
          </a:xfrm>
          <a:prstGeom prst="rect">
            <a:avLst/>
          </a:prstGeom>
          <a:noFill/>
          <a:ln/>
        </p:spPr>
        <p:txBody>
          <a:bodyPr wrap="square" lIns="0" tIns="0" rIns="0" bIns="0" rtlCol="0" anchor="t"/>
          <a:lstStyle/>
          <a:p>
            <a:pPr marL="0" indent="0" algn="ctr">
              <a:lnSpc>
                <a:spcPts val="945"/>
              </a:lnSpc>
              <a:buNone/>
            </a:pPr>
            <a:r>
              <a:rPr lang="en-US" sz="675" b="1" dirty="0">
                <a:solidFill>
                  <a:srgbClr val="FFFFFF">
                    <a:alpha val="60000"/>
                  </a:srgbClr>
                </a:solidFill>
                <a:latin typeface="Arial" pitchFamily="34" charset="0"/>
                <a:ea typeface="Arial" pitchFamily="34" charset="-122"/>
                <a:cs typeface="Arial" pitchFamily="34" charset="-120"/>
              </a:rPr>
              <a:t>Budget:</a:t>
            </a:r>
            <a:r>
              <a:rPr lang="en-US" sz="675" dirty="0">
                <a:solidFill>
                  <a:srgbClr val="FFFFFF">
                    <a:alpha val="60000"/>
                  </a:srgbClr>
                </a:solidFill>
                <a:latin typeface="Arial" pitchFamily="34" charset="0"/>
                <a:ea typeface="Arial" pitchFamily="34" charset="-122"/>
                <a:cs typeface="Arial" pitchFamily="34" charset="-120"/>
              </a:rPr>
              <a:t> Native OS dictation works for casual use</a:t>
            </a:r>
            <a:endParaRPr lang="en-US" sz="675" dirty="0"/>
          </a:p>
        </p:txBody>
      </p:sp>
      <p:sp>
        <p:nvSpPr>
          <p:cNvPr id="42" name="Text 40"/>
          <p:cNvSpPr/>
          <p:nvPr/>
        </p:nvSpPr>
        <p:spPr>
          <a:xfrm>
            <a:off x="381000" y="4374654"/>
            <a:ext cx="8382000" cy="375196"/>
          </a:xfrm>
          <a:prstGeom prst="rect">
            <a:avLst/>
          </a:prstGeom>
          <a:solidFill>
            <a:srgbClr val="C9A227"/>
          </a:solidFill>
          <a:ln/>
        </p:spPr>
        <p:txBody>
          <a:bodyPr wrap="square" rtlCol="0" anchor="ctr"/>
          <a:lstStyle/>
          <a:p>
            <a:pPr marL="0" indent="0">
              <a:buNone/>
            </a:pPr>
            <a:endParaRPr lang="en-US" dirty="0"/>
          </a:p>
        </p:txBody>
      </p:sp>
      <p:sp>
        <p:nvSpPr>
          <p:cNvPr id="43" name="Text 41"/>
          <p:cNvSpPr/>
          <p:nvPr/>
        </p:nvSpPr>
        <p:spPr>
          <a:xfrm>
            <a:off x="413766" y="4488954"/>
            <a:ext cx="8316468" cy="146596"/>
          </a:xfrm>
          <a:prstGeom prst="rect">
            <a:avLst/>
          </a:prstGeom>
          <a:noFill/>
          <a:ln/>
        </p:spPr>
        <p:txBody>
          <a:bodyPr wrap="square" lIns="0" tIns="0" rIns="0" bIns="0" rtlCol="0" anchor="t"/>
          <a:lstStyle/>
          <a:p>
            <a:pPr marL="0" indent="0" algn="ctr">
              <a:lnSpc>
                <a:spcPts val="1155"/>
              </a:lnSpc>
              <a:buNone/>
            </a:pPr>
            <a:r>
              <a:rPr lang="en-US" sz="825" b="1" dirty="0">
                <a:solidFill>
                  <a:srgbClr val="1A1F2E"/>
                </a:solidFill>
                <a:latin typeface="Arial" pitchFamily="34" charset="0"/>
                <a:ea typeface="Arial" pitchFamily="34" charset="-122"/>
                <a:cs typeface="Arial" pitchFamily="34" charset="-120"/>
              </a:rPr>
              <a:t>QUICK PICK:</a:t>
            </a:r>
            <a:r>
              <a:rPr lang="en-US" sz="825" dirty="0">
                <a:solidFill>
                  <a:srgbClr val="1A1F2E"/>
                </a:solidFill>
                <a:latin typeface="Arial" pitchFamily="34" charset="0"/>
                <a:ea typeface="Arial" pitchFamily="34" charset="-122"/>
                <a:cs typeface="Arial" pitchFamily="34" charset="-120"/>
              </a:rPr>
              <a:t> Government/PHI = SuperWhisper | Power User = Wispr Flow (Privacy Mode) | Linux = Wispr Flow</a:t>
            </a:r>
            <a:endParaRPr lang="en-US" sz="8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57411"/>
            <a:ext cx="1182407" cy="186630"/>
          </a:xfrm>
          <a:prstGeom prst="rect">
            <a:avLst/>
          </a:prstGeom>
          <a:noFill/>
          <a:ln/>
        </p:spPr>
        <p:txBody>
          <a:bodyPr wrap="square" lIns="0" tIns="0" rIns="0" bIns="0" rtlCol="0" anchor="t"/>
          <a:lstStyle/>
          <a:p>
            <a:pPr marL="0" indent="0" algn="ctr">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03</a:t>
            </a:r>
            <a:endParaRPr lang="en-US" sz="1050" dirty="0"/>
          </a:p>
        </p:txBody>
      </p:sp>
      <p:sp>
        <p:nvSpPr>
          <p:cNvPr id="3" name="Text 1"/>
          <p:cNvSpPr/>
          <p:nvPr/>
        </p:nvSpPr>
        <p:spPr>
          <a:xfrm>
            <a:off x="2589736" y="1525042"/>
            <a:ext cx="3964379" cy="457200"/>
          </a:xfrm>
          <a:prstGeom prst="rect">
            <a:avLst/>
          </a:prstGeom>
          <a:noFill/>
          <a:ln/>
        </p:spPr>
        <p:txBody>
          <a:bodyPr wrap="square" lIns="0" tIns="0" rIns="0" bIns="0" rtlCol="0" anchor="t"/>
          <a:lstStyle/>
          <a:p>
            <a:pPr marL="0" indent="0" algn="ctr">
              <a:lnSpc>
                <a:spcPts val="3600"/>
              </a:lnSpc>
              <a:spcAft>
                <a:spcPts val="900"/>
              </a:spcAft>
              <a:buNone/>
            </a:pPr>
            <a:r>
              <a:rPr lang="en-US" sz="3600" dirty="0">
                <a:solidFill>
                  <a:srgbClr val="FFFFFF"/>
                </a:solidFill>
                <a:latin typeface="Georgia" pitchFamily="34" charset="0"/>
                <a:ea typeface="Georgia" pitchFamily="34" charset="-122"/>
                <a:cs typeface="Georgia" pitchFamily="34" charset="-120"/>
              </a:rPr>
              <a:t>AI Coding Assistants</a:t>
            </a:r>
            <a:endParaRPr lang="en-US" sz="3600" dirty="0"/>
          </a:p>
        </p:txBody>
      </p:sp>
      <p:sp>
        <p:nvSpPr>
          <p:cNvPr id="4" name="Text 2"/>
          <p:cNvSpPr/>
          <p:nvPr/>
        </p:nvSpPr>
        <p:spPr>
          <a:xfrm>
            <a:off x="3657682" y="2248942"/>
            <a:ext cx="1828487" cy="293340"/>
          </a:xfrm>
          <a:prstGeom prst="rect">
            <a:avLst/>
          </a:prstGeom>
          <a:noFill/>
          <a:ln/>
        </p:spPr>
        <p:txBody>
          <a:bodyPr wrap="square" lIns="0" tIns="0" rIns="0" bIns="0" rtlCol="0" anchor="t"/>
          <a:lstStyle/>
          <a:p>
            <a:pPr marL="0" indent="0" algn="ctr">
              <a:lnSpc>
                <a:spcPts val="2310"/>
              </a:lnSpc>
              <a:spcAft>
                <a:spcPts val="2400"/>
              </a:spcAft>
              <a:buNone/>
            </a:pPr>
            <a:r>
              <a:rPr lang="en-US" sz="1650" i="1" dirty="0">
                <a:solidFill>
                  <a:srgbClr val="FFFFFF">
                    <a:alpha val="80000"/>
                  </a:srgbClr>
                </a:solidFill>
                <a:latin typeface="Georgia" pitchFamily="34" charset="0"/>
                <a:ea typeface="Georgia" pitchFamily="34" charset="-122"/>
                <a:cs typeface="Georgia" pitchFamily="34" charset="-120"/>
              </a:rPr>
              <a:t>The Reasoning Layer</a:t>
            </a:r>
            <a:endParaRPr lang="en-US" sz="1650" dirty="0"/>
          </a:p>
        </p:txBody>
      </p:sp>
      <p:sp>
        <p:nvSpPr>
          <p:cNvPr id="5" name="Text 3"/>
          <p:cNvSpPr/>
          <p:nvPr/>
        </p:nvSpPr>
        <p:spPr>
          <a:xfrm>
            <a:off x="4191000" y="2999482"/>
            <a:ext cx="7620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558040" y="3475732"/>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7" name="Text 5"/>
          <p:cNvSpPr/>
          <p:nvPr/>
        </p:nvSpPr>
        <p:spPr>
          <a:xfrm>
            <a:off x="3314090" y="4039493"/>
            <a:ext cx="623917"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Claude Code</a:t>
            </a:r>
            <a:endParaRPr lang="en-US" sz="825" dirty="0"/>
          </a:p>
        </p:txBody>
      </p:sp>
      <p:sp>
        <p:nvSpPr>
          <p:cNvPr id="8" name="Text 6"/>
          <p:cNvSpPr/>
          <p:nvPr/>
        </p:nvSpPr>
        <p:spPr>
          <a:xfrm>
            <a:off x="4527358" y="3475732"/>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4</a:t>
            </a:r>
            <a:endParaRPr lang="en-US" sz="2100" dirty="0"/>
          </a:p>
        </p:txBody>
      </p:sp>
      <p:sp>
        <p:nvSpPr>
          <p:cNvPr id="9" name="Text 7"/>
          <p:cNvSpPr/>
          <p:nvPr/>
        </p:nvSpPr>
        <p:spPr>
          <a:xfrm>
            <a:off x="4307241" y="4039493"/>
            <a:ext cx="57625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IDE Options</a:t>
            </a:r>
            <a:endParaRPr lang="en-US" sz="825" dirty="0"/>
          </a:p>
        </p:txBody>
      </p:sp>
      <p:sp>
        <p:nvSpPr>
          <p:cNvPr id="10" name="Text 8"/>
          <p:cNvSpPr/>
          <p:nvPr/>
        </p:nvSpPr>
        <p:spPr>
          <a:xfrm>
            <a:off x="5473309" y="3475732"/>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1</a:t>
            </a:r>
            <a:endParaRPr lang="en-US" sz="2100" dirty="0"/>
          </a:p>
        </p:txBody>
      </p:sp>
      <p:sp>
        <p:nvSpPr>
          <p:cNvPr id="11" name="Text 9"/>
          <p:cNvSpPr/>
          <p:nvPr/>
        </p:nvSpPr>
        <p:spPr>
          <a:xfrm>
            <a:off x="5253192" y="4039493"/>
            <a:ext cx="57625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Comparison</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ARCHITECTURE</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The AI Development Stack</a:t>
            </a:r>
            <a:endParaRPr lang="en-US" sz="2400" dirty="0"/>
          </a:p>
        </p:txBody>
      </p:sp>
      <p:sp>
        <p:nvSpPr>
          <p:cNvPr id="4" name="Text 2"/>
          <p:cNvSpPr/>
          <p:nvPr/>
        </p:nvSpPr>
        <p:spPr>
          <a:xfrm>
            <a:off x="1238250" y="1602135"/>
            <a:ext cx="952500" cy="952500"/>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1649529" y="1825972"/>
            <a:ext cx="129793" cy="319980"/>
          </a:xfrm>
          <a:prstGeom prst="rect">
            <a:avLst/>
          </a:prstGeom>
          <a:noFill/>
          <a:ln/>
        </p:spPr>
        <p:txBody>
          <a:bodyPr wrap="square" lIns="0" tIns="0" rIns="0" bIns="0" rtlCol="0" anchor="t"/>
          <a:lstStyle/>
          <a:p>
            <a:pPr marL="0" indent="0" algn="ctr">
              <a:lnSpc>
                <a:spcPts val="2520"/>
              </a:lnSpc>
              <a:buNone/>
            </a:pPr>
            <a:r>
              <a:rPr lang="en-US" sz="1800" dirty="0">
                <a:solidFill>
                  <a:srgbClr val="C9A227"/>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548124" y="2184053"/>
            <a:ext cx="332604"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VOICE</a:t>
            </a:r>
            <a:endParaRPr lang="en-US" sz="825" dirty="0"/>
          </a:p>
        </p:txBody>
      </p:sp>
      <p:sp>
        <p:nvSpPr>
          <p:cNvPr id="7" name="Text 5"/>
          <p:cNvSpPr/>
          <p:nvPr/>
        </p:nvSpPr>
        <p:spPr>
          <a:xfrm>
            <a:off x="1375825" y="2802285"/>
            <a:ext cx="677201" cy="293191"/>
          </a:xfrm>
          <a:prstGeom prst="rect">
            <a:avLst/>
          </a:prstGeom>
          <a:noFill/>
          <a:ln/>
        </p:spPr>
        <p:txBody>
          <a:bodyPr wrap="square" lIns="0" tIns="0" rIns="0" bIns="0" rtlCol="0" anchor="t"/>
          <a:lstStyle/>
          <a:p>
            <a:pPr marL="0" indent="0" algn="ctr">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SuperWhisper</a:t>
            </a:r>
            <a:endParaRPr lang="en-US" sz="825" dirty="0"/>
          </a:p>
          <a:p>
            <a:pPr marL="0" indent="0" algn="ctr">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Wispr Flow</a:t>
            </a:r>
            <a:endParaRPr lang="en-US" sz="825" dirty="0"/>
          </a:p>
        </p:txBody>
      </p:sp>
      <p:sp>
        <p:nvSpPr>
          <p:cNvPr id="8" name="Text 6"/>
          <p:cNvSpPr/>
          <p:nvPr/>
        </p:nvSpPr>
        <p:spPr>
          <a:xfrm>
            <a:off x="2476500" y="2339280"/>
            <a:ext cx="381000" cy="19050"/>
          </a:xfrm>
          <a:prstGeom prst="rect">
            <a:avLst/>
          </a:prstGeom>
          <a:solidFill>
            <a:srgbClr val="C9A227"/>
          </a:solidFill>
          <a:ln/>
        </p:spPr>
        <p:txBody>
          <a:bodyPr wrap="square" rtlCol="0" anchor="ctr"/>
          <a:lstStyle/>
          <a:p>
            <a:pPr marL="0" indent="0">
              <a:buNone/>
            </a:pPr>
            <a:endParaRPr lang="en-US" dirty="0"/>
          </a:p>
        </p:txBody>
      </p:sp>
      <p:sp>
        <p:nvSpPr>
          <p:cNvPr id="9" name="Shape 7"/>
          <p:cNvSpPr/>
          <p:nvPr/>
        </p:nvSpPr>
        <p:spPr>
          <a:xfrm>
            <a:off x="2819400" y="2324993"/>
            <a:ext cx="95250" cy="0"/>
          </a:xfrm>
          <a:prstGeom prst="line">
            <a:avLst/>
          </a:prstGeom>
          <a:noFill/>
          <a:ln w="47625">
            <a:solidFill>
              <a:srgbClr val="FFFFFF"/>
            </a:solidFill>
            <a:prstDash val="solid"/>
          </a:ln>
        </p:spPr>
        <p:txBody>
          <a:bodyPr/>
          <a:lstStyle/>
          <a:p>
            <a:endParaRPr lang="en-US"/>
          </a:p>
        </p:txBody>
      </p:sp>
      <p:sp>
        <p:nvSpPr>
          <p:cNvPr id="10" name="Shape 8"/>
          <p:cNvSpPr/>
          <p:nvPr/>
        </p:nvSpPr>
        <p:spPr>
          <a:xfrm>
            <a:off x="2819400" y="2372618"/>
            <a:ext cx="95250" cy="0"/>
          </a:xfrm>
          <a:prstGeom prst="line">
            <a:avLst/>
          </a:prstGeom>
          <a:noFill/>
          <a:ln w="47625">
            <a:solidFill>
              <a:srgbClr val="FFFFFF"/>
            </a:solidFill>
            <a:prstDash val="solid"/>
          </a:ln>
        </p:spPr>
        <p:txBody>
          <a:bodyPr/>
          <a:lstStyle/>
          <a:p>
            <a:endParaRPr lang="en-US"/>
          </a:p>
        </p:txBody>
      </p:sp>
      <p:sp>
        <p:nvSpPr>
          <p:cNvPr id="11" name="Shape 9"/>
          <p:cNvSpPr/>
          <p:nvPr/>
        </p:nvSpPr>
        <p:spPr>
          <a:xfrm>
            <a:off x="2867025" y="2301180"/>
            <a:ext cx="0" cy="95250"/>
          </a:xfrm>
          <a:prstGeom prst="line">
            <a:avLst/>
          </a:prstGeom>
          <a:noFill/>
          <a:ln w="95250">
            <a:solidFill>
              <a:srgbClr val="C9A227"/>
            </a:solidFill>
            <a:prstDash val="solid"/>
          </a:ln>
        </p:spPr>
        <p:txBody>
          <a:bodyPr/>
          <a:lstStyle/>
          <a:p>
            <a:endParaRPr lang="en-US"/>
          </a:p>
        </p:txBody>
      </p:sp>
      <p:sp>
        <p:nvSpPr>
          <p:cNvPr id="12" name="Text 10"/>
          <p:cNvSpPr/>
          <p:nvPr/>
        </p:nvSpPr>
        <p:spPr>
          <a:xfrm>
            <a:off x="3143250" y="1602135"/>
            <a:ext cx="952500" cy="952500"/>
          </a:xfrm>
          <a:prstGeom prst="rect">
            <a:avLst/>
          </a:prstGeom>
          <a:solidFill>
            <a:srgbClr val="252B3D"/>
          </a:solidFill>
          <a:ln/>
        </p:spPr>
        <p:txBody>
          <a:bodyPr wrap="square" rtlCol="0" anchor="ctr"/>
          <a:lstStyle/>
          <a:p>
            <a:pPr marL="0" indent="0">
              <a:buNone/>
            </a:pPr>
            <a:endParaRPr lang="en-US" dirty="0"/>
          </a:p>
        </p:txBody>
      </p:sp>
      <p:sp>
        <p:nvSpPr>
          <p:cNvPr id="13" name="Text 11"/>
          <p:cNvSpPr/>
          <p:nvPr/>
        </p:nvSpPr>
        <p:spPr>
          <a:xfrm>
            <a:off x="3554529" y="1825972"/>
            <a:ext cx="129793" cy="319980"/>
          </a:xfrm>
          <a:prstGeom prst="rect">
            <a:avLst/>
          </a:prstGeom>
          <a:noFill/>
          <a:ln/>
        </p:spPr>
        <p:txBody>
          <a:bodyPr wrap="square" lIns="0" tIns="0" rIns="0" bIns="0" rtlCol="0" anchor="t"/>
          <a:lstStyle/>
          <a:p>
            <a:pPr marL="0" indent="0" algn="ctr">
              <a:lnSpc>
                <a:spcPts val="2520"/>
              </a:lnSpc>
              <a:buNone/>
            </a:pPr>
            <a:r>
              <a:rPr lang="en-US" sz="1800" dirty="0">
                <a:solidFill>
                  <a:srgbClr val="C9A227"/>
                </a:solidFill>
                <a:latin typeface="Arial" pitchFamily="34" charset="0"/>
                <a:ea typeface="Arial" pitchFamily="34" charset="-122"/>
                <a:cs typeface="Arial" pitchFamily="34" charset="-120"/>
              </a:rPr>
              <a:t>2</a:t>
            </a:r>
            <a:endParaRPr lang="en-US" sz="1800" dirty="0"/>
          </a:p>
        </p:txBody>
      </p:sp>
      <p:sp>
        <p:nvSpPr>
          <p:cNvPr id="14" name="Text 12"/>
          <p:cNvSpPr/>
          <p:nvPr/>
        </p:nvSpPr>
        <p:spPr>
          <a:xfrm>
            <a:off x="3275055" y="2184053"/>
            <a:ext cx="688890"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TRANSCRIBE</a:t>
            </a:r>
            <a:endParaRPr lang="en-US" sz="825" dirty="0"/>
          </a:p>
        </p:txBody>
      </p:sp>
      <p:sp>
        <p:nvSpPr>
          <p:cNvPr id="15" name="Text 13"/>
          <p:cNvSpPr/>
          <p:nvPr/>
        </p:nvSpPr>
        <p:spPr>
          <a:xfrm>
            <a:off x="3239231" y="2802285"/>
            <a:ext cx="760390" cy="293191"/>
          </a:xfrm>
          <a:prstGeom prst="rect">
            <a:avLst/>
          </a:prstGeom>
          <a:noFill/>
          <a:ln/>
        </p:spPr>
        <p:txBody>
          <a:bodyPr wrap="square" lIns="0" tIns="0" rIns="0" bIns="0" rtlCol="0" anchor="t"/>
          <a:lstStyle/>
          <a:p>
            <a:pPr marL="0" indent="0" algn="ctr">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Whisper Model</a:t>
            </a:r>
            <a:endParaRPr lang="en-US" sz="825" dirty="0"/>
          </a:p>
          <a:p>
            <a:pPr marL="0" indent="0" algn="ctr">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(Local or Cloud)</a:t>
            </a:r>
            <a:endParaRPr lang="en-US" sz="825" dirty="0"/>
          </a:p>
        </p:txBody>
      </p:sp>
      <p:sp>
        <p:nvSpPr>
          <p:cNvPr id="16" name="Text 14"/>
          <p:cNvSpPr/>
          <p:nvPr/>
        </p:nvSpPr>
        <p:spPr>
          <a:xfrm>
            <a:off x="4381500" y="2339280"/>
            <a:ext cx="381000" cy="19050"/>
          </a:xfrm>
          <a:prstGeom prst="rect">
            <a:avLst/>
          </a:prstGeom>
          <a:solidFill>
            <a:srgbClr val="C9A227"/>
          </a:solidFill>
          <a:ln/>
        </p:spPr>
        <p:txBody>
          <a:bodyPr wrap="square" rtlCol="0" anchor="ctr"/>
          <a:lstStyle/>
          <a:p>
            <a:pPr marL="0" indent="0">
              <a:buNone/>
            </a:pPr>
            <a:endParaRPr lang="en-US" dirty="0"/>
          </a:p>
        </p:txBody>
      </p:sp>
      <p:sp>
        <p:nvSpPr>
          <p:cNvPr id="17" name="Shape 15"/>
          <p:cNvSpPr/>
          <p:nvPr/>
        </p:nvSpPr>
        <p:spPr>
          <a:xfrm>
            <a:off x="4724400" y="2324993"/>
            <a:ext cx="95250" cy="0"/>
          </a:xfrm>
          <a:prstGeom prst="line">
            <a:avLst/>
          </a:prstGeom>
          <a:noFill/>
          <a:ln w="47625">
            <a:solidFill>
              <a:srgbClr val="FFFFFF"/>
            </a:solidFill>
            <a:prstDash val="solid"/>
          </a:ln>
        </p:spPr>
        <p:txBody>
          <a:bodyPr/>
          <a:lstStyle/>
          <a:p>
            <a:endParaRPr lang="en-US"/>
          </a:p>
        </p:txBody>
      </p:sp>
      <p:sp>
        <p:nvSpPr>
          <p:cNvPr id="18" name="Shape 16"/>
          <p:cNvSpPr/>
          <p:nvPr/>
        </p:nvSpPr>
        <p:spPr>
          <a:xfrm>
            <a:off x="4724400" y="2372618"/>
            <a:ext cx="95250" cy="0"/>
          </a:xfrm>
          <a:prstGeom prst="line">
            <a:avLst/>
          </a:prstGeom>
          <a:noFill/>
          <a:ln w="47625">
            <a:solidFill>
              <a:srgbClr val="FFFFFF"/>
            </a:solidFill>
            <a:prstDash val="solid"/>
          </a:ln>
        </p:spPr>
        <p:txBody>
          <a:bodyPr/>
          <a:lstStyle/>
          <a:p>
            <a:endParaRPr lang="en-US"/>
          </a:p>
        </p:txBody>
      </p:sp>
      <p:sp>
        <p:nvSpPr>
          <p:cNvPr id="19" name="Shape 17"/>
          <p:cNvSpPr/>
          <p:nvPr/>
        </p:nvSpPr>
        <p:spPr>
          <a:xfrm>
            <a:off x="4772025" y="2301180"/>
            <a:ext cx="0" cy="95250"/>
          </a:xfrm>
          <a:prstGeom prst="line">
            <a:avLst/>
          </a:prstGeom>
          <a:noFill/>
          <a:ln w="95250">
            <a:solidFill>
              <a:srgbClr val="C9A227"/>
            </a:solidFill>
            <a:prstDash val="solid"/>
          </a:ln>
        </p:spPr>
        <p:txBody>
          <a:bodyPr/>
          <a:lstStyle/>
          <a:p>
            <a:endParaRPr lang="en-US"/>
          </a:p>
        </p:txBody>
      </p:sp>
      <p:sp>
        <p:nvSpPr>
          <p:cNvPr id="20" name="Text 18"/>
          <p:cNvSpPr/>
          <p:nvPr/>
        </p:nvSpPr>
        <p:spPr>
          <a:xfrm>
            <a:off x="5048250" y="1602135"/>
            <a:ext cx="952500" cy="952500"/>
          </a:xfrm>
          <a:prstGeom prst="rect">
            <a:avLst/>
          </a:prstGeom>
          <a:solidFill>
            <a:srgbClr val="C9A227"/>
          </a:solidFill>
          <a:ln/>
        </p:spPr>
        <p:txBody>
          <a:bodyPr wrap="square" rtlCol="0" anchor="ctr"/>
          <a:lstStyle/>
          <a:p>
            <a:pPr marL="0" indent="0">
              <a:buNone/>
            </a:pPr>
            <a:endParaRPr lang="en-US" dirty="0"/>
          </a:p>
        </p:txBody>
      </p:sp>
      <p:sp>
        <p:nvSpPr>
          <p:cNvPr id="21" name="Text 19"/>
          <p:cNvSpPr/>
          <p:nvPr/>
        </p:nvSpPr>
        <p:spPr>
          <a:xfrm>
            <a:off x="5459529" y="1825972"/>
            <a:ext cx="129793" cy="319980"/>
          </a:xfrm>
          <a:prstGeom prst="rect">
            <a:avLst/>
          </a:prstGeom>
          <a:noFill/>
          <a:ln/>
        </p:spPr>
        <p:txBody>
          <a:bodyPr wrap="square" lIns="0" tIns="0" rIns="0" bIns="0" rtlCol="0" anchor="t"/>
          <a:lstStyle/>
          <a:p>
            <a:pPr marL="0" indent="0" algn="ctr">
              <a:lnSpc>
                <a:spcPts val="2520"/>
              </a:lnSpc>
              <a:buNone/>
            </a:pPr>
            <a:r>
              <a:rPr lang="en-US" sz="1800" b="1" dirty="0">
                <a:solidFill>
                  <a:srgbClr val="1A1F2E"/>
                </a:solidFill>
                <a:latin typeface="Arial" pitchFamily="34" charset="0"/>
                <a:ea typeface="Arial" pitchFamily="34" charset="-122"/>
                <a:cs typeface="Arial" pitchFamily="34" charset="-120"/>
              </a:rPr>
              <a:t>3</a:t>
            </a:r>
            <a:endParaRPr lang="en-US" sz="1800" dirty="0"/>
          </a:p>
        </p:txBody>
      </p:sp>
      <p:sp>
        <p:nvSpPr>
          <p:cNvPr id="22" name="Text 20"/>
          <p:cNvSpPr/>
          <p:nvPr/>
        </p:nvSpPr>
        <p:spPr>
          <a:xfrm>
            <a:off x="5295882" y="2184053"/>
            <a:ext cx="457236" cy="146596"/>
          </a:xfrm>
          <a:prstGeom prst="rect">
            <a:avLst/>
          </a:prstGeom>
          <a:noFill/>
          <a:ln/>
        </p:spPr>
        <p:txBody>
          <a:bodyPr wrap="square" lIns="0" tIns="0" rIns="0" bIns="0" rtlCol="0" anchor="t"/>
          <a:lstStyle/>
          <a:p>
            <a:pPr marL="0" indent="0" algn="ctr">
              <a:lnSpc>
                <a:spcPts val="1155"/>
              </a:lnSpc>
              <a:spcBef>
                <a:spcPts val="300"/>
              </a:spcBef>
              <a:buNone/>
            </a:pPr>
            <a:r>
              <a:rPr lang="en-US" sz="825" b="1" dirty="0">
                <a:solidFill>
                  <a:srgbClr val="1A1F2E"/>
                </a:solidFill>
                <a:latin typeface="Arial" pitchFamily="34" charset="0"/>
                <a:ea typeface="Arial" pitchFamily="34" charset="-122"/>
                <a:cs typeface="Arial" pitchFamily="34" charset="-120"/>
              </a:rPr>
              <a:t>REASON</a:t>
            </a:r>
            <a:endParaRPr lang="en-US" sz="825" dirty="0"/>
          </a:p>
        </p:txBody>
      </p:sp>
      <p:sp>
        <p:nvSpPr>
          <p:cNvPr id="23" name="Text 21"/>
          <p:cNvSpPr/>
          <p:nvPr/>
        </p:nvSpPr>
        <p:spPr>
          <a:xfrm>
            <a:off x="5197818" y="2802285"/>
            <a:ext cx="653216" cy="293191"/>
          </a:xfrm>
          <a:prstGeom prst="rect">
            <a:avLst/>
          </a:prstGeom>
          <a:noFill/>
          <a:ln/>
        </p:spPr>
        <p:txBody>
          <a:bodyPr wrap="square" lIns="0" tIns="0" rIns="0" bIns="0" rtlCol="0" anchor="t"/>
          <a:lstStyle/>
          <a:p>
            <a:pPr marL="0" indent="0" algn="ctr">
              <a:lnSpc>
                <a:spcPts val="1155"/>
              </a:lnSpc>
              <a:spcBef>
                <a:spcPts val="750"/>
              </a:spcBef>
              <a:buNone/>
            </a:pPr>
            <a:r>
              <a:rPr lang="en-US" sz="825" dirty="0">
                <a:solidFill>
                  <a:srgbClr val="1A1F2E"/>
                </a:solidFill>
                <a:latin typeface="Arial" pitchFamily="34" charset="0"/>
                <a:ea typeface="Arial" pitchFamily="34" charset="-122"/>
                <a:cs typeface="Arial" pitchFamily="34" charset="-120"/>
              </a:rPr>
              <a:t>Claude Code</a:t>
            </a:r>
            <a:endParaRPr lang="en-US" sz="825" dirty="0"/>
          </a:p>
          <a:p>
            <a:pPr marL="0" indent="0" algn="ctr">
              <a:lnSpc>
                <a:spcPts val="1155"/>
              </a:lnSpc>
              <a:spcBef>
                <a:spcPts val="750"/>
              </a:spcBef>
              <a:buNone/>
            </a:pPr>
            <a:r>
              <a:rPr lang="en-US" sz="825" dirty="0">
                <a:solidFill>
                  <a:srgbClr val="1A1F2E"/>
                </a:solidFill>
                <a:latin typeface="Arial" pitchFamily="34" charset="0"/>
                <a:ea typeface="Arial" pitchFamily="34" charset="-122"/>
                <a:cs typeface="Arial" pitchFamily="34" charset="-120"/>
              </a:rPr>
              <a:t>AI Assistant</a:t>
            </a:r>
            <a:endParaRPr lang="en-US" sz="825" dirty="0"/>
          </a:p>
        </p:txBody>
      </p:sp>
      <p:sp>
        <p:nvSpPr>
          <p:cNvPr id="24" name="Text 22"/>
          <p:cNvSpPr/>
          <p:nvPr/>
        </p:nvSpPr>
        <p:spPr>
          <a:xfrm>
            <a:off x="6286500" y="2339280"/>
            <a:ext cx="381000" cy="19050"/>
          </a:xfrm>
          <a:prstGeom prst="rect">
            <a:avLst/>
          </a:prstGeom>
          <a:solidFill>
            <a:srgbClr val="C9A227"/>
          </a:solidFill>
          <a:ln/>
        </p:spPr>
        <p:txBody>
          <a:bodyPr wrap="square" rtlCol="0" anchor="ctr"/>
          <a:lstStyle/>
          <a:p>
            <a:pPr marL="0" indent="0">
              <a:buNone/>
            </a:pPr>
            <a:endParaRPr lang="en-US" dirty="0"/>
          </a:p>
        </p:txBody>
      </p:sp>
      <p:sp>
        <p:nvSpPr>
          <p:cNvPr id="25" name="Shape 23"/>
          <p:cNvSpPr/>
          <p:nvPr/>
        </p:nvSpPr>
        <p:spPr>
          <a:xfrm>
            <a:off x="6629400" y="2324993"/>
            <a:ext cx="95250" cy="0"/>
          </a:xfrm>
          <a:prstGeom prst="line">
            <a:avLst/>
          </a:prstGeom>
          <a:noFill/>
          <a:ln w="47625">
            <a:solidFill>
              <a:srgbClr val="FFFFFF"/>
            </a:solidFill>
            <a:prstDash val="solid"/>
          </a:ln>
        </p:spPr>
        <p:txBody>
          <a:bodyPr/>
          <a:lstStyle/>
          <a:p>
            <a:endParaRPr lang="en-US"/>
          </a:p>
        </p:txBody>
      </p:sp>
      <p:sp>
        <p:nvSpPr>
          <p:cNvPr id="26" name="Shape 24"/>
          <p:cNvSpPr/>
          <p:nvPr/>
        </p:nvSpPr>
        <p:spPr>
          <a:xfrm>
            <a:off x="6629400" y="2372618"/>
            <a:ext cx="95250" cy="0"/>
          </a:xfrm>
          <a:prstGeom prst="line">
            <a:avLst/>
          </a:prstGeom>
          <a:noFill/>
          <a:ln w="47625">
            <a:solidFill>
              <a:srgbClr val="FFFFFF"/>
            </a:solidFill>
            <a:prstDash val="solid"/>
          </a:ln>
        </p:spPr>
        <p:txBody>
          <a:bodyPr/>
          <a:lstStyle/>
          <a:p>
            <a:endParaRPr lang="en-US"/>
          </a:p>
        </p:txBody>
      </p:sp>
      <p:sp>
        <p:nvSpPr>
          <p:cNvPr id="27" name="Shape 25"/>
          <p:cNvSpPr/>
          <p:nvPr/>
        </p:nvSpPr>
        <p:spPr>
          <a:xfrm>
            <a:off x="6677025" y="2301180"/>
            <a:ext cx="0" cy="95250"/>
          </a:xfrm>
          <a:prstGeom prst="line">
            <a:avLst/>
          </a:prstGeom>
          <a:noFill/>
          <a:ln w="95250">
            <a:solidFill>
              <a:srgbClr val="C9A227"/>
            </a:solidFill>
            <a:prstDash val="solid"/>
          </a:ln>
        </p:spPr>
        <p:txBody>
          <a:bodyPr/>
          <a:lstStyle/>
          <a:p>
            <a:endParaRPr lang="en-US"/>
          </a:p>
        </p:txBody>
      </p:sp>
      <p:sp>
        <p:nvSpPr>
          <p:cNvPr id="28" name="Text 26"/>
          <p:cNvSpPr/>
          <p:nvPr/>
        </p:nvSpPr>
        <p:spPr>
          <a:xfrm>
            <a:off x="6953250" y="1602135"/>
            <a:ext cx="952500" cy="952500"/>
          </a:xfrm>
          <a:prstGeom prst="rect">
            <a:avLst/>
          </a:prstGeom>
          <a:solidFill>
            <a:srgbClr val="059669"/>
          </a:solidFill>
          <a:ln/>
        </p:spPr>
        <p:txBody>
          <a:bodyPr wrap="square" rtlCol="0" anchor="ctr"/>
          <a:lstStyle/>
          <a:p>
            <a:pPr marL="0" indent="0">
              <a:buNone/>
            </a:pPr>
            <a:endParaRPr lang="en-US" dirty="0"/>
          </a:p>
        </p:txBody>
      </p:sp>
      <p:sp>
        <p:nvSpPr>
          <p:cNvPr id="29" name="Text 27"/>
          <p:cNvSpPr/>
          <p:nvPr/>
        </p:nvSpPr>
        <p:spPr>
          <a:xfrm>
            <a:off x="7364529" y="1825972"/>
            <a:ext cx="129793" cy="319980"/>
          </a:xfrm>
          <a:prstGeom prst="rect">
            <a:avLst/>
          </a:prstGeom>
          <a:noFill/>
          <a:ln/>
        </p:spPr>
        <p:txBody>
          <a:bodyPr wrap="square" lIns="0" tIns="0" rIns="0" bIns="0" rtlCol="0" anchor="t"/>
          <a:lstStyle/>
          <a:p>
            <a:pPr marL="0" indent="0" algn="ctr">
              <a:lnSpc>
                <a:spcPts val="2520"/>
              </a:lnSpc>
              <a:buNone/>
            </a:pPr>
            <a:r>
              <a:rPr lang="en-US" sz="1800" dirty="0">
                <a:solidFill>
                  <a:srgbClr val="FFFFFF"/>
                </a:solidFill>
                <a:latin typeface="Arial" pitchFamily="34" charset="0"/>
                <a:ea typeface="Arial" pitchFamily="34" charset="-122"/>
                <a:cs typeface="Arial" pitchFamily="34" charset="-120"/>
              </a:rPr>
              <a:t>4</a:t>
            </a:r>
            <a:endParaRPr lang="en-US" sz="1800" dirty="0"/>
          </a:p>
        </p:txBody>
      </p:sp>
      <p:sp>
        <p:nvSpPr>
          <p:cNvPr id="30" name="Text 28"/>
          <p:cNvSpPr/>
          <p:nvPr/>
        </p:nvSpPr>
        <p:spPr>
          <a:xfrm>
            <a:off x="7275115" y="2184053"/>
            <a:ext cx="308771"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solidFill>
                <a:latin typeface="Arial" pitchFamily="34" charset="0"/>
                <a:ea typeface="Arial" pitchFamily="34" charset="-122"/>
                <a:cs typeface="Arial" pitchFamily="34" charset="-120"/>
              </a:rPr>
              <a:t>CODE</a:t>
            </a:r>
            <a:endParaRPr lang="en-US" sz="825" dirty="0"/>
          </a:p>
        </p:txBody>
      </p:sp>
      <p:sp>
        <p:nvSpPr>
          <p:cNvPr id="31" name="Text 29"/>
          <p:cNvSpPr/>
          <p:nvPr/>
        </p:nvSpPr>
        <p:spPr>
          <a:xfrm>
            <a:off x="7111622" y="2802285"/>
            <a:ext cx="635606" cy="293191"/>
          </a:xfrm>
          <a:prstGeom prst="rect">
            <a:avLst/>
          </a:prstGeom>
          <a:noFill/>
          <a:ln/>
        </p:spPr>
        <p:txBody>
          <a:bodyPr wrap="square" lIns="0" tIns="0" rIns="0" bIns="0" rtlCol="0" anchor="t"/>
          <a:lstStyle/>
          <a:p>
            <a:pPr marL="0" indent="0" algn="ctr">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Files Created</a:t>
            </a:r>
            <a:endParaRPr lang="en-US" sz="825" dirty="0"/>
          </a:p>
          <a:p>
            <a:pPr marL="0" indent="0" algn="ctr">
              <a:lnSpc>
                <a:spcPts val="1155"/>
              </a:lnSpc>
              <a:spcBef>
                <a:spcPts val="750"/>
              </a:spcBef>
              <a:buNone/>
            </a:pPr>
            <a:r>
              <a:rPr lang="en-US" sz="825" dirty="0">
                <a:solidFill>
                  <a:srgbClr val="6B7280"/>
                </a:solidFill>
                <a:latin typeface="Arial" pitchFamily="34" charset="0"/>
                <a:ea typeface="Arial" pitchFamily="34" charset="-122"/>
                <a:cs typeface="Arial" pitchFamily="34" charset="-120"/>
              </a:rPr>
              <a:t>&amp; Modified</a:t>
            </a:r>
            <a:endParaRPr lang="en-US" sz="825" dirty="0"/>
          </a:p>
        </p:txBody>
      </p:sp>
      <p:sp>
        <p:nvSpPr>
          <p:cNvPr id="32" name="Text 30"/>
          <p:cNvSpPr/>
          <p:nvPr/>
        </p:nvSpPr>
        <p:spPr>
          <a:xfrm>
            <a:off x="1238250" y="3552676"/>
            <a:ext cx="6667500" cy="8209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3" name="Text 31"/>
          <p:cNvSpPr/>
          <p:nvPr/>
        </p:nvSpPr>
        <p:spPr>
          <a:xfrm>
            <a:off x="1492187" y="3752701"/>
            <a:ext cx="6159627" cy="420886"/>
          </a:xfrm>
          <a:prstGeom prst="rect">
            <a:avLst/>
          </a:prstGeom>
          <a:noFill/>
          <a:ln/>
        </p:spPr>
        <p:txBody>
          <a:bodyPr wrap="square" lIns="0" tIns="0" rIns="0" bIns="0" rtlCol="0" anchor="t"/>
          <a:lstStyle/>
          <a:p>
            <a:pPr marL="0" indent="0" algn="ctr">
              <a:lnSpc>
                <a:spcPts val="1658"/>
              </a:lnSpc>
              <a:buNone/>
            </a:pPr>
            <a:r>
              <a:rPr lang="en-US" sz="975" dirty="0">
                <a:solidFill>
                  <a:srgbClr val="1A1F2E"/>
                </a:solidFill>
                <a:latin typeface="Arial" pitchFamily="34" charset="0"/>
                <a:ea typeface="Arial" pitchFamily="34" charset="-122"/>
                <a:cs typeface="Arial" pitchFamily="34" charset="-120"/>
              </a:rPr>
              <a:t>Voice becomes text, text becomes intent, intent becomes code. </a:t>
            </a:r>
            <a:r>
              <a:rPr lang="en-US" sz="975" b="1" dirty="0">
                <a:solidFill>
                  <a:srgbClr val="C9A227"/>
                </a:solidFill>
                <a:latin typeface="Arial" pitchFamily="34" charset="0"/>
                <a:ea typeface="Arial" pitchFamily="34" charset="-122"/>
                <a:cs typeface="Arial" pitchFamily="34" charset="-120"/>
              </a:rPr>
              <a:t>The AI assistant is the reasoning engine</a:t>
            </a:r>
            <a:r>
              <a:rPr lang="en-US" sz="975" dirty="0">
                <a:solidFill>
                  <a:srgbClr val="1A1F2E"/>
                </a:solidFill>
                <a:latin typeface="Arial" pitchFamily="34" charset="0"/>
                <a:ea typeface="Arial" pitchFamily="34" charset="-122"/>
                <a:cs typeface="Arial" pitchFamily="34" charset="-120"/>
              </a:rPr>
              <a:t> that transforms your spoken instructions into working software.</a:t>
            </a:r>
            <a:endParaRPr lang="en-US" sz="9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81000"/>
            <a:ext cx="8394192"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AI CODING ASSISTANT</a:t>
            </a:r>
            <a:endParaRPr lang="en-US" sz="750" dirty="0"/>
          </a:p>
        </p:txBody>
      </p:sp>
      <p:sp>
        <p:nvSpPr>
          <p:cNvPr id="3" name="Text 1"/>
          <p:cNvSpPr/>
          <p:nvPr/>
        </p:nvSpPr>
        <p:spPr>
          <a:xfrm>
            <a:off x="457200" y="590550"/>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Claude Code</a:t>
            </a:r>
            <a:endParaRPr lang="en-US" sz="2400" dirty="0"/>
          </a:p>
        </p:txBody>
      </p:sp>
      <p:sp>
        <p:nvSpPr>
          <p:cNvPr id="4" name="Text 2"/>
          <p:cNvSpPr/>
          <p:nvPr/>
        </p:nvSpPr>
        <p:spPr>
          <a:xfrm>
            <a:off x="457200" y="971550"/>
            <a:ext cx="8394192" cy="173236"/>
          </a:xfrm>
          <a:prstGeom prst="rect">
            <a:avLst/>
          </a:prstGeom>
          <a:noFill/>
          <a:ln/>
        </p:spPr>
        <p:txBody>
          <a:bodyPr wrap="square" lIns="0" tIns="0" rIns="0" bIns="0" rtlCol="0" anchor="t"/>
          <a:lstStyle/>
          <a:p>
            <a:pPr marL="0" indent="0" algn="l">
              <a:lnSpc>
                <a:spcPts val="1365"/>
              </a:lnSpc>
              <a:spcBef>
                <a:spcPts val="600"/>
              </a:spcBef>
              <a:buNone/>
            </a:pPr>
            <a:r>
              <a:rPr lang="en-US" sz="975" dirty="0">
                <a:solidFill>
                  <a:srgbClr val="6B7280"/>
                </a:solidFill>
                <a:latin typeface="Arial" pitchFamily="34" charset="0"/>
                <a:ea typeface="Arial" pitchFamily="34" charset="-122"/>
                <a:cs typeface="Arial" pitchFamily="34" charset="-120"/>
              </a:rPr>
              <a:t>Anthropic's agentic terminal-based coding assistant</a:t>
            </a:r>
            <a:endParaRPr lang="en-US" sz="975" dirty="0"/>
          </a:p>
        </p:txBody>
      </p:sp>
      <p:sp>
        <p:nvSpPr>
          <p:cNvPr id="5" name="Text 3"/>
          <p:cNvSpPr/>
          <p:nvPr/>
        </p:nvSpPr>
        <p:spPr>
          <a:xfrm>
            <a:off x="457200" y="1998464"/>
            <a:ext cx="4212134" cy="649486"/>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476250" y="1998464"/>
            <a:ext cx="0" cy="649486"/>
          </a:xfrm>
          <a:prstGeom prst="line">
            <a:avLst/>
          </a:prstGeom>
          <a:noFill/>
          <a:ln w="38100">
            <a:solidFill>
              <a:srgbClr val="C9A227"/>
            </a:solidFill>
            <a:prstDash val="solid"/>
          </a:ln>
        </p:spPr>
        <p:txBody>
          <a:bodyPr/>
          <a:lstStyle/>
          <a:p>
            <a:endParaRPr lang="en-US"/>
          </a:p>
        </p:txBody>
      </p:sp>
      <p:sp>
        <p:nvSpPr>
          <p:cNvPr id="7" name="Text 5"/>
          <p:cNvSpPr/>
          <p:nvPr/>
        </p:nvSpPr>
        <p:spPr>
          <a:xfrm>
            <a:off x="647700" y="2150864"/>
            <a:ext cx="394661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Terminal-Based</a:t>
            </a:r>
            <a:endParaRPr lang="en-US" sz="900" dirty="0"/>
          </a:p>
        </p:txBody>
      </p:sp>
      <p:sp>
        <p:nvSpPr>
          <p:cNvPr id="8" name="Text 6"/>
          <p:cNvSpPr/>
          <p:nvPr/>
        </p:nvSpPr>
        <p:spPr>
          <a:xfrm>
            <a:off x="647700" y="2348954"/>
            <a:ext cx="3946618"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Works in your existing terminal. Perfect for voice input.</a:t>
            </a:r>
            <a:endParaRPr lang="en-US" sz="825" dirty="0"/>
          </a:p>
        </p:txBody>
      </p:sp>
      <p:sp>
        <p:nvSpPr>
          <p:cNvPr id="9" name="Text 7"/>
          <p:cNvSpPr/>
          <p:nvPr/>
        </p:nvSpPr>
        <p:spPr>
          <a:xfrm>
            <a:off x="457200" y="2762250"/>
            <a:ext cx="4212134" cy="649486"/>
          </a:xfrm>
          <a:prstGeom prst="rect">
            <a:avLst/>
          </a:prstGeom>
          <a:solidFill>
            <a:srgbClr val="FFFFFF"/>
          </a:solidFill>
          <a:ln/>
        </p:spPr>
        <p:txBody>
          <a:bodyPr wrap="square" rtlCol="0" anchor="ctr"/>
          <a:lstStyle/>
          <a:p>
            <a:pPr marL="0" indent="0">
              <a:buNone/>
            </a:pPr>
            <a:endParaRPr lang="en-US" dirty="0"/>
          </a:p>
        </p:txBody>
      </p:sp>
      <p:sp>
        <p:nvSpPr>
          <p:cNvPr id="10" name="Shape 8"/>
          <p:cNvSpPr/>
          <p:nvPr/>
        </p:nvSpPr>
        <p:spPr>
          <a:xfrm>
            <a:off x="476250" y="2762250"/>
            <a:ext cx="0" cy="649486"/>
          </a:xfrm>
          <a:prstGeom prst="line">
            <a:avLst/>
          </a:prstGeom>
          <a:noFill/>
          <a:ln w="38100">
            <a:solidFill>
              <a:srgbClr val="C9A227"/>
            </a:solidFill>
            <a:prstDash val="solid"/>
          </a:ln>
        </p:spPr>
        <p:txBody>
          <a:bodyPr/>
          <a:lstStyle/>
          <a:p>
            <a:endParaRPr lang="en-US"/>
          </a:p>
        </p:txBody>
      </p:sp>
      <p:sp>
        <p:nvSpPr>
          <p:cNvPr id="11" name="Text 9"/>
          <p:cNvSpPr/>
          <p:nvPr/>
        </p:nvSpPr>
        <p:spPr>
          <a:xfrm>
            <a:off x="647700" y="2914650"/>
            <a:ext cx="394661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Autonomous Agent</a:t>
            </a:r>
            <a:endParaRPr lang="en-US" sz="900" dirty="0"/>
          </a:p>
        </p:txBody>
      </p:sp>
      <p:sp>
        <p:nvSpPr>
          <p:cNvPr id="12" name="Text 10"/>
          <p:cNvSpPr/>
          <p:nvPr/>
        </p:nvSpPr>
        <p:spPr>
          <a:xfrm>
            <a:off x="647700" y="3112740"/>
            <a:ext cx="3946618"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Reads files, writes code, runs commands autonomously.</a:t>
            </a:r>
            <a:endParaRPr lang="en-US" sz="825" dirty="0"/>
          </a:p>
        </p:txBody>
      </p:sp>
      <p:sp>
        <p:nvSpPr>
          <p:cNvPr id="13" name="Text 11"/>
          <p:cNvSpPr/>
          <p:nvPr/>
        </p:nvSpPr>
        <p:spPr>
          <a:xfrm>
            <a:off x="457200" y="3526036"/>
            <a:ext cx="4212134" cy="649486"/>
          </a:xfrm>
          <a:prstGeom prst="rect">
            <a:avLst/>
          </a:prstGeom>
          <a:solidFill>
            <a:srgbClr val="FFFFFF"/>
          </a:solidFill>
          <a:ln/>
        </p:spPr>
        <p:txBody>
          <a:bodyPr wrap="square" rtlCol="0" anchor="ctr"/>
          <a:lstStyle/>
          <a:p>
            <a:pPr marL="0" indent="0">
              <a:buNone/>
            </a:pPr>
            <a:endParaRPr lang="en-US" dirty="0"/>
          </a:p>
        </p:txBody>
      </p:sp>
      <p:sp>
        <p:nvSpPr>
          <p:cNvPr id="14" name="Shape 12"/>
          <p:cNvSpPr/>
          <p:nvPr/>
        </p:nvSpPr>
        <p:spPr>
          <a:xfrm>
            <a:off x="476250" y="3526036"/>
            <a:ext cx="0" cy="649486"/>
          </a:xfrm>
          <a:prstGeom prst="line">
            <a:avLst/>
          </a:prstGeom>
          <a:noFill/>
          <a:ln w="38100">
            <a:solidFill>
              <a:srgbClr val="C9A227"/>
            </a:solidFill>
            <a:prstDash val="solid"/>
          </a:ln>
        </p:spPr>
        <p:txBody>
          <a:bodyPr/>
          <a:lstStyle/>
          <a:p>
            <a:endParaRPr lang="en-US"/>
          </a:p>
        </p:txBody>
      </p:sp>
      <p:sp>
        <p:nvSpPr>
          <p:cNvPr id="15" name="Text 13"/>
          <p:cNvSpPr/>
          <p:nvPr/>
        </p:nvSpPr>
        <p:spPr>
          <a:xfrm>
            <a:off x="647700" y="3678436"/>
            <a:ext cx="394661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Context-Aware</a:t>
            </a:r>
            <a:endParaRPr lang="en-US" sz="900" dirty="0"/>
          </a:p>
        </p:txBody>
      </p:sp>
      <p:sp>
        <p:nvSpPr>
          <p:cNvPr id="16" name="Text 14"/>
          <p:cNvSpPr/>
          <p:nvPr/>
        </p:nvSpPr>
        <p:spPr>
          <a:xfrm>
            <a:off x="647700" y="3876526"/>
            <a:ext cx="3946618"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Understands your entire codebase, not just one file.</a:t>
            </a:r>
            <a:endParaRPr lang="en-US" sz="825" dirty="0"/>
          </a:p>
        </p:txBody>
      </p:sp>
      <p:sp>
        <p:nvSpPr>
          <p:cNvPr id="17" name="Text 15"/>
          <p:cNvSpPr/>
          <p:nvPr/>
        </p:nvSpPr>
        <p:spPr>
          <a:xfrm>
            <a:off x="4859834" y="2139255"/>
            <a:ext cx="3826966" cy="1895326"/>
          </a:xfrm>
          <a:prstGeom prst="rect">
            <a:avLst/>
          </a:prstGeom>
          <a:solidFill>
            <a:srgbClr val="1A1F2E"/>
          </a:solidFill>
          <a:ln/>
        </p:spPr>
        <p:txBody>
          <a:bodyPr wrap="square" rtlCol="0" anchor="ctr"/>
          <a:lstStyle/>
          <a:p>
            <a:pPr marL="0" indent="0">
              <a:buNone/>
            </a:pPr>
            <a:endParaRPr lang="en-US" dirty="0"/>
          </a:p>
        </p:txBody>
      </p:sp>
      <p:sp>
        <p:nvSpPr>
          <p:cNvPr id="18" name="Text 16"/>
          <p:cNvSpPr/>
          <p:nvPr/>
        </p:nvSpPr>
        <p:spPr>
          <a:xfrm>
            <a:off x="6487567" y="2367855"/>
            <a:ext cx="571500" cy="571500"/>
          </a:xfrm>
          <a:prstGeom prst="rect">
            <a:avLst/>
          </a:prstGeom>
          <a:solidFill>
            <a:srgbClr val="C9A227"/>
          </a:solidFill>
          <a:ln/>
        </p:spPr>
        <p:txBody>
          <a:bodyPr wrap="square" rtlCol="0" anchor="ctr"/>
          <a:lstStyle/>
          <a:p>
            <a:pPr marL="0" indent="0">
              <a:buNone/>
            </a:pPr>
            <a:endParaRPr lang="en-US" dirty="0"/>
          </a:p>
        </p:txBody>
      </p:sp>
      <p:sp>
        <p:nvSpPr>
          <p:cNvPr id="19" name="Text 17"/>
          <p:cNvSpPr/>
          <p:nvPr/>
        </p:nvSpPr>
        <p:spPr>
          <a:xfrm>
            <a:off x="6703033" y="2493615"/>
            <a:ext cx="140419" cy="319980"/>
          </a:xfrm>
          <a:prstGeom prst="rect">
            <a:avLst/>
          </a:prstGeom>
          <a:noFill/>
          <a:ln/>
        </p:spPr>
        <p:txBody>
          <a:bodyPr wrap="square" lIns="0" tIns="0" rIns="0" bIns="0" rtlCol="0" anchor="t"/>
          <a:lstStyle/>
          <a:p>
            <a:pPr marL="0" indent="0" algn="ctr">
              <a:lnSpc>
                <a:spcPts val="2520"/>
              </a:lnSpc>
              <a:buNone/>
            </a:pPr>
            <a:r>
              <a:rPr lang="en-US" sz="1800" b="1" dirty="0">
                <a:solidFill>
                  <a:srgbClr val="1A1F2E"/>
                </a:solidFill>
                <a:latin typeface="monospace" pitchFamily="34" charset="0"/>
                <a:ea typeface="monospace" pitchFamily="34" charset="-122"/>
                <a:cs typeface="monospace" pitchFamily="34" charset="-120"/>
              </a:rPr>
              <a:t>&gt;</a:t>
            </a:r>
            <a:endParaRPr lang="en-US" sz="1800" dirty="0"/>
          </a:p>
        </p:txBody>
      </p:sp>
      <p:sp>
        <p:nvSpPr>
          <p:cNvPr id="20" name="Text 18"/>
          <p:cNvSpPr/>
          <p:nvPr/>
        </p:nvSpPr>
        <p:spPr>
          <a:xfrm>
            <a:off x="6444052" y="3244155"/>
            <a:ext cx="658529" cy="186630"/>
          </a:xfrm>
          <a:prstGeom prst="rect">
            <a:avLst/>
          </a:prstGeom>
          <a:noFill/>
          <a:ln/>
        </p:spPr>
        <p:txBody>
          <a:bodyPr wrap="square" lIns="0" tIns="0" rIns="0" bIns="0" rtlCol="0" anchor="t"/>
          <a:lstStyle/>
          <a:p>
            <a:pPr marL="0" indent="0" algn="ctr">
              <a:lnSpc>
                <a:spcPts val="1470"/>
              </a:lnSpc>
              <a:spcAft>
                <a:spcPts val="600"/>
              </a:spcAft>
              <a:buNone/>
            </a:pPr>
            <a:r>
              <a:rPr lang="en-US" sz="1050" dirty="0">
                <a:solidFill>
                  <a:srgbClr val="FFFFFF"/>
                </a:solidFill>
                <a:latin typeface="Georgia" pitchFamily="34" charset="0"/>
                <a:ea typeface="Georgia" pitchFamily="34" charset="-122"/>
                <a:cs typeface="Georgia" pitchFamily="34" charset="-120"/>
              </a:rPr>
              <a:t>Think + Act</a:t>
            </a:r>
            <a:endParaRPr lang="en-US" sz="1050" dirty="0"/>
          </a:p>
        </p:txBody>
      </p:sp>
      <p:sp>
        <p:nvSpPr>
          <p:cNvPr id="21" name="Text 19"/>
          <p:cNvSpPr/>
          <p:nvPr/>
        </p:nvSpPr>
        <p:spPr>
          <a:xfrm>
            <a:off x="5444268" y="3659386"/>
            <a:ext cx="2657948" cy="146596"/>
          </a:xfrm>
          <a:prstGeom prst="rect">
            <a:avLst/>
          </a:prstGeom>
          <a:noFill/>
          <a:ln/>
        </p:spPr>
        <p:txBody>
          <a:bodyPr wrap="square" lIns="0" tIns="0" rIns="0" bIns="0" rtlCol="0" anchor="t"/>
          <a:lstStyle/>
          <a:p>
            <a:pPr marL="0" indent="0" algn="ctr">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 doesn't just suggest - it executes complete tasks</a:t>
            </a:r>
            <a:endParaRPr lang="en-US" sz="8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SETUP</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FFFFFF"/>
                </a:solidFill>
                <a:latin typeface="Georgia" pitchFamily="34" charset="0"/>
                <a:ea typeface="Georgia" pitchFamily="34" charset="-122"/>
                <a:cs typeface="Georgia" pitchFamily="34" charset="-120"/>
              </a:rPr>
              <a:t>Claude Code Installation</a:t>
            </a:r>
            <a:endParaRPr lang="en-US" sz="2100" dirty="0"/>
          </a:p>
        </p:txBody>
      </p:sp>
      <p:sp>
        <p:nvSpPr>
          <p:cNvPr id="4" name="Text 2"/>
          <p:cNvSpPr/>
          <p:nvPr/>
        </p:nvSpPr>
        <p:spPr>
          <a:xfrm>
            <a:off x="381000" y="2164110"/>
            <a:ext cx="2667000" cy="350490"/>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514350" y="2259360"/>
            <a:ext cx="2448306"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Step 1: Install via npm</a:t>
            </a:r>
            <a:endParaRPr lang="en-US" sz="900" dirty="0"/>
          </a:p>
        </p:txBody>
      </p:sp>
      <p:sp>
        <p:nvSpPr>
          <p:cNvPr id="6" name="Text 4"/>
          <p:cNvSpPr/>
          <p:nvPr/>
        </p:nvSpPr>
        <p:spPr>
          <a:xfrm>
            <a:off x="381000" y="2762250"/>
            <a:ext cx="2667000" cy="597991"/>
          </a:xfrm>
          <a:prstGeom prst="rect">
            <a:avLst/>
          </a:prstGeom>
          <a:solidFill>
            <a:srgbClr val="252B3D"/>
          </a:solidFill>
          <a:ln/>
        </p:spPr>
        <p:txBody>
          <a:bodyPr wrap="square" rtlCol="0" anchor="ctr"/>
          <a:lstStyle/>
          <a:p>
            <a:pPr marL="0" indent="0">
              <a:buNone/>
            </a:pPr>
            <a:endParaRPr lang="en-US" dirty="0"/>
          </a:p>
        </p:txBody>
      </p:sp>
      <p:sp>
        <p:nvSpPr>
          <p:cNvPr id="7" name="Text 5"/>
          <p:cNvSpPr/>
          <p:nvPr/>
        </p:nvSpPr>
        <p:spPr>
          <a:xfrm>
            <a:off x="533400" y="2914650"/>
            <a:ext cx="2409444" cy="293191"/>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monospace" pitchFamily="34" charset="0"/>
                <a:ea typeface="monospace" pitchFamily="34" charset="-122"/>
                <a:cs typeface="monospace" pitchFamily="34" charset="-120"/>
              </a:rPr>
              <a:t>npm install -g @anthropic-ai/claude-code</a:t>
            </a:r>
            <a:endParaRPr lang="en-US" sz="825" dirty="0"/>
          </a:p>
        </p:txBody>
      </p:sp>
      <p:sp>
        <p:nvSpPr>
          <p:cNvPr id="8" name="Text 6"/>
          <p:cNvSpPr/>
          <p:nvPr/>
        </p:nvSpPr>
        <p:spPr>
          <a:xfrm>
            <a:off x="381000" y="3607891"/>
            <a:ext cx="2720340"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Requires Node.js 18+ installed</a:t>
            </a:r>
            <a:endParaRPr lang="en-US" sz="750" dirty="0"/>
          </a:p>
        </p:txBody>
      </p:sp>
      <p:sp>
        <p:nvSpPr>
          <p:cNvPr id="9" name="Text 7"/>
          <p:cNvSpPr/>
          <p:nvPr/>
        </p:nvSpPr>
        <p:spPr>
          <a:xfrm>
            <a:off x="3238500" y="1925985"/>
            <a:ext cx="2667000" cy="350490"/>
          </a:xfrm>
          <a:prstGeom prst="rect">
            <a:avLst/>
          </a:prstGeom>
          <a:solidFill>
            <a:srgbClr val="C9A227"/>
          </a:solidFill>
          <a:ln/>
        </p:spPr>
        <p:txBody>
          <a:bodyPr wrap="square" rtlCol="0" anchor="ctr"/>
          <a:lstStyle/>
          <a:p>
            <a:pPr marL="0" indent="0">
              <a:buNone/>
            </a:pPr>
            <a:endParaRPr lang="en-US" dirty="0"/>
          </a:p>
        </p:txBody>
      </p:sp>
      <p:sp>
        <p:nvSpPr>
          <p:cNvPr id="10" name="Text 8"/>
          <p:cNvSpPr/>
          <p:nvPr/>
        </p:nvSpPr>
        <p:spPr>
          <a:xfrm>
            <a:off x="3371850" y="2021235"/>
            <a:ext cx="2448306"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Step 2: Authenticate</a:t>
            </a:r>
            <a:endParaRPr lang="en-US" sz="900" dirty="0"/>
          </a:p>
        </p:txBody>
      </p:sp>
      <p:sp>
        <p:nvSpPr>
          <p:cNvPr id="11" name="Text 9"/>
          <p:cNvSpPr/>
          <p:nvPr/>
        </p:nvSpPr>
        <p:spPr>
          <a:xfrm>
            <a:off x="3238500" y="2524125"/>
            <a:ext cx="2667000" cy="1074241"/>
          </a:xfrm>
          <a:prstGeom prst="rect">
            <a:avLst/>
          </a:prstGeom>
          <a:solidFill>
            <a:srgbClr val="252B3D"/>
          </a:solidFill>
          <a:ln/>
        </p:spPr>
        <p:txBody>
          <a:bodyPr wrap="square" rtlCol="0" anchor="ctr"/>
          <a:lstStyle/>
          <a:p>
            <a:pPr marL="0" indent="0">
              <a:buNone/>
            </a:pPr>
            <a:endParaRPr lang="en-US" dirty="0"/>
          </a:p>
        </p:txBody>
      </p:sp>
      <p:sp>
        <p:nvSpPr>
          <p:cNvPr id="12" name="Text 10"/>
          <p:cNvSpPr/>
          <p:nvPr/>
        </p:nvSpPr>
        <p:spPr>
          <a:xfrm>
            <a:off x="3390900" y="2676525"/>
            <a:ext cx="2409444"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Option A: OAuth (recommended)</a:t>
            </a:r>
            <a:endParaRPr lang="en-US" sz="750" dirty="0"/>
          </a:p>
        </p:txBody>
      </p:sp>
      <p:sp>
        <p:nvSpPr>
          <p:cNvPr id="13" name="Text 11"/>
          <p:cNvSpPr/>
          <p:nvPr/>
        </p:nvSpPr>
        <p:spPr>
          <a:xfrm>
            <a:off x="3390900" y="2867025"/>
            <a:ext cx="2409444"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C9A227"/>
                </a:solidFill>
                <a:latin typeface="monospace" pitchFamily="34" charset="0"/>
                <a:ea typeface="monospace" pitchFamily="34" charset="-122"/>
                <a:cs typeface="monospace" pitchFamily="34" charset="-120"/>
              </a:rPr>
              <a:t>claude</a:t>
            </a:r>
            <a:endParaRPr lang="en-US" sz="825" dirty="0"/>
          </a:p>
        </p:txBody>
      </p:sp>
      <p:sp>
        <p:nvSpPr>
          <p:cNvPr id="14" name="Text 12"/>
          <p:cNvSpPr/>
          <p:nvPr/>
        </p:nvSpPr>
        <p:spPr>
          <a:xfrm>
            <a:off x="3390900" y="3108871"/>
            <a:ext cx="2409444"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Option B: API Key</a:t>
            </a:r>
            <a:endParaRPr lang="en-US" sz="750" dirty="0"/>
          </a:p>
        </p:txBody>
      </p:sp>
      <p:sp>
        <p:nvSpPr>
          <p:cNvPr id="15" name="Text 13"/>
          <p:cNvSpPr/>
          <p:nvPr/>
        </p:nvSpPr>
        <p:spPr>
          <a:xfrm>
            <a:off x="3390900" y="3299371"/>
            <a:ext cx="2409444"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monospace" pitchFamily="34" charset="0"/>
                <a:ea typeface="monospace" pitchFamily="34" charset="-122"/>
                <a:cs typeface="monospace" pitchFamily="34" charset="-120"/>
              </a:rPr>
              <a:t>export ANTHROPIC_API_KEY=sk-...</a:t>
            </a:r>
            <a:endParaRPr lang="en-US" sz="825" dirty="0"/>
          </a:p>
        </p:txBody>
      </p:sp>
      <p:sp>
        <p:nvSpPr>
          <p:cNvPr id="16" name="Text 14"/>
          <p:cNvSpPr/>
          <p:nvPr/>
        </p:nvSpPr>
        <p:spPr>
          <a:xfrm>
            <a:off x="3238500" y="3846016"/>
            <a:ext cx="2720340"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OAuth opens browser for login</a:t>
            </a:r>
            <a:endParaRPr lang="en-US" sz="750" dirty="0"/>
          </a:p>
        </p:txBody>
      </p:sp>
      <p:sp>
        <p:nvSpPr>
          <p:cNvPr id="17" name="Text 15"/>
          <p:cNvSpPr/>
          <p:nvPr/>
        </p:nvSpPr>
        <p:spPr>
          <a:xfrm>
            <a:off x="6096000" y="1925985"/>
            <a:ext cx="2667000" cy="350490"/>
          </a:xfrm>
          <a:prstGeom prst="rect">
            <a:avLst/>
          </a:prstGeom>
          <a:solidFill>
            <a:srgbClr val="C9A227"/>
          </a:solidFill>
          <a:ln/>
        </p:spPr>
        <p:txBody>
          <a:bodyPr wrap="square" rtlCol="0" anchor="ctr"/>
          <a:lstStyle/>
          <a:p>
            <a:pPr marL="0" indent="0">
              <a:buNone/>
            </a:pPr>
            <a:endParaRPr lang="en-US" dirty="0"/>
          </a:p>
        </p:txBody>
      </p:sp>
      <p:sp>
        <p:nvSpPr>
          <p:cNvPr id="18" name="Text 16"/>
          <p:cNvSpPr/>
          <p:nvPr/>
        </p:nvSpPr>
        <p:spPr>
          <a:xfrm>
            <a:off x="6229350" y="2021235"/>
            <a:ext cx="2448306"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Step 3: Start Using</a:t>
            </a:r>
            <a:endParaRPr lang="en-US" sz="900" dirty="0"/>
          </a:p>
        </p:txBody>
      </p:sp>
      <p:sp>
        <p:nvSpPr>
          <p:cNvPr id="19" name="Text 17"/>
          <p:cNvSpPr/>
          <p:nvPr/>
        </p:nvSpPr>
        <p:spPr>
          <a:xfrm>
            <a:off x="6096000" y="2524125"/>
            <a:ext cx="2667000" cy="1074241"/>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6248400" y="2676525"/>
            <a:ext cx="2409444"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Navigate to your project</a:t>
            </a:r>
            <a:endParaRPr lang="en-US" sz="750" dirty="0"/>
          </a:p>
        </p:txBody>
      </p:sp>
      <p:sp>
        <p:nvSpPr>
          <p:cNvPr id="21" name="Text 19"/>
          <p:cNvSpPr/>
          <p:nvPr/>
        </p:nvSpPr>
        <p:spPr>
          <a:xfrm>
            <a:off x="6248400" y="2867025"/>
            <a:ext cx="2409444" cy="146596"/>
          </a:xfrm>
          <a:prstGeom prst="rect">
            <a:avLst/>
          </a:prstGeom>
          <a:noFill/>
          <a:ln/>
        </p:spPr>
        <p:txBody>
          <a:bodyPr wrap="square" lIns="0" tIns="0" rIns="0" bIns="0" rtlCol="0" anchor="t"/>
          <a:lstStyle/>
          <a:p>
            <a:pPr marL="0" indent="0" algn="l">
              <a:lnSpc>
                <a:spcPts val="1155"/>
              </a:lnSpc>
              <a:spcAft>
                <a:spcPts val="750"/>
              </a:spcAft>
              <a:buNone/>
            </a:pPr>
            <a:r>
              <a:rPr lang="en-US" sz="825" dirty="0">
                <a:solidFill>
                  <a:srgbClr val="C9A227"/>
                </a:solidFill>
                <a:latin typeface="monospace" pitchFamily="34" charset="0"/>
                <a:ea typeface="monospace" pitchFamily="34" charset="-122"/>
                <a:cs typeface="monospace" pitchFamily="34" charset="-120"/>
              </a:rPr>
              <a:t>cd ~/my-project</a:t>
            </a:r>
            <a:endParaRPr lang="en-US" sz="825" dirty="0"/>
          </a:p>
        </p:txBody>
      </p:sp>
      <p:sp>
        <p:nvSpPr>
          <p:cNvPr id="22" name="Text 20"/>
          <p:cNvSpPr/>
          <p:nvPr/>
        </p:nvSpPr>
        <p:spPr>
          <a:xfrm>
            <a:off x="6248400" y="3108871"/>
            <a:ext cx="2409444"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FFFFFF">
                    <a:alpha val="70000"/>
                  </a:srgbClr>
                </a:solidFill>
                <a:latin typeface="monospace" pitchFamily="34" charset="0"/>
                <a:ea typeface="monospace" pitchFamily="34" charset="-122"/>
                <a:cs typeface="monospace" pitchFamily="34" charset="-120"/>
              </a:rPr>
              <a:t># Launch Claude Code</a:t>
            </a:r>
            <a:endParaRPr lang="en-US" sz="750" dirty="0"/>
          </a:p>
        </p:txBody>
      </p:sp>
      <p:sp>
        <p:nvSpPr>
          <p:cNvPr id="23" name="Text 21"/>
          <p:cNvSpPr/>
          <p:nvPr/>
        </p:nvSpPr>
        <p:spPr>
          <a:xfrm>
            <a:off x="6248400" y="3299371"/>
            <a:ext cx="2409444"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monospace" pitchFamily="34" charset="0"/>
                <a:ea typeface="monospace" pitchFamily="34" charset="-122"/>
                <a:cs typeface="monospace" pitchFamily="34" charset="-120"/>
              </a:rPr>
              <a:t>claude</a:t>
            </a:r>
            <a:endParaRPr lang="en-US" sz="825" dirty="0"/>
          </a:p>
        </p:txBody>
      </p:sp>
      <p:sp>
        <p:nvSpPr>
          <p:cNvPr id="24" name="Text 22"/>
          <p:cNvSpPr/>
          <p:nvPr/>
        </p:nvSpPr>
        <p:spPr>
          <a:xfrm>
            <a:off x="6096000" y="3846016"/>
            <a:ext cx="2720340"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Claude indexes your codebase</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ESSENTIAL COMMANDS</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Claude Code Key Commands</a:t>
            </a:r>
            <a:endParaRPr lang="en-US" sz="2400" dirty="0"/>
          </a:p>
        </p:txBody>
      </p:sp>
      <p:sp>
        <p:nvSpPr>
          <p:cNvPr id="4" name="Text 2"/>
          <p:cNvSpPr/>
          <p:nvPr/>
        </p:nvSpPr>
        <p:spPr>
          <a:xfrm>
            <a:off x="457200" y="1562398"/>
            <a:ext cx="2641550" cy="2851100"/>
          </a:xfrm>
          <a:prstGeom prst="rect">
            <a:avLst/>
          </a:prstGeom>
          <a:solidFill>
            <a:srgbClr val="FFFFFF"/>
          </a:solidFill>
          <a:ln/>
        </p:spPr>
        <p:txBody>
          <a:bodyPr wrap="square" rtlCol="0" anchor="ctr"/>
          <a:lstStyle/>
          <a:p>
            <a:pPr marL="0" indent="0">
              <a:buNone/>
            </a:pPr>
            <a:endParaRPr lang="en-US" dirty="0"/>
          </a:p>
        </p:txBody>
      </p:sp>
      <p:sp>
        <p:nvSpPr>
          <p:cNvPr id="5" name="Shape 3"/>
          <p:cNvSpPr/>
          <p:nvPr/>
        </p:nvSpPr>
        <p:spPr>
          <a:xfrm>
            <a:off x="476250" y="1562398"/>
            <a:ext cx="0" cy="2851100"/>
          </a:xfrm>
          <a:prstGeom prst="line">
            <a:avLst/>
          </a:prstGeom>
          <a:noFill/>
          <a:ln w="38100">
            <a:solidFill>
              <a:srgbClr val="C9A227"/>
            </a:solidFill>
            <a:prstDash val="solid"/>
          </a:ln>
        </p:spPr>
        <p:txBody>
          <a:bodyPr/>
          <a:lstStyle/>
          <a:p>
            <a:endParaRPr lang="en-US"/>
          </a:p>
        </p:txBody>
      </p:sp>
      <p:sp>
        <p:nvSpPr>
          <p:cNvPr id="6" name="Text 4"/>
          <p:cNvSpPr/>
          <p:nvPr/>
        </p:nvSpPr>
        <p:spPr>
          <a:xfrm>
            <a:off x="685800" y="1752898"/>
            <a:ext cx="2266899" cy="186630"/>
          </a:xfrm>
          <a:prstGeom prst="rect">
            <a:avLst/>
          </a:prstGeom>
          <a:noFill/>
          <a:ln/>
        </p:spPr>
        <p:txBody>
          <a:bodyPr wrap="square" lIns="0" tIns="0" rIns="0" bIns="0" rtlCol="0" anchor="t"/>
          <a:lstStyle/>
          <a:p>
            <a:pPr marL="0" indent="0" algn="l">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Session Management</a:t>
            </a:r>
            <a:endParaRPr lang="en-US" sz="1050" dirty="0"/>
          </a:p>
        </p:txBody>
      </p:sp>
      <p:sp>
        <p:nvSpPr>
          <p:cNvPr id="7" name="Text 5"/>
          <p:cNvSpPr/>
          <p:nvPr/>
        </p:nvSpPr>
        <p:spPr>
          <a:xfrm>
            <a:off x="685800" y="2244328"/>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/clear</a:t>
            </a:r>
            <a:endParaRPr lang="en-US" sz="1050" dirty="0"/>
          </a:p>
        </p:txBody>
      </p:sp>
      <p:sp>
        <p:nvSpPr>
          <p:cNvPr id="8" name="Text 6"/>
          <p:cNvSpPr/>
          <p:nvPr/>
        </p:nvSpPr>
        <p:spPr>
          <a:xfrm>
            <a:off x="685800" y="2469059"/>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Reset conversation history. Start fresh without restarting Claude.</a:t>
            </a:r>
            <a:endParaRPr lang="en-US" sz="825" dirty="0"/>
          </a:p>
        </p:txBody>
      </p:sp>
      <p:sp>
        <p:nvSpPr>
          <p:cNvPr id="9" name="Text 7"/>
          <p:cNvSpPr/>
          <p:nvPr/>
        </p:nvSpPr>
        <p:spPr>
          <a:xfrm>
            <a:off x="685800" y="3048000"/>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/compact</a:t>
            </a:r>
            <a:endParaRPr lang="en-US" sz="1050" dirty="0"/>
          </a:p>
        </p:txBody>
      </p:sp>
      <p:sp>
        <p:nvSpPr>
          <p:cNvPr id="10" name="Text 8"/>
          <p:cNvSpPr/>
          <p:nvPr/>
        </p:nvSpPr>
        <p:spPr>
          <a:xfrm>
            <a:off x="685800" y="3272730"/>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Summarize context to reduce token usage while preserving key info.</a:t>
            </a:r>
            <a:endParaRPr lang="en-US" sz="825" dirty="0"/>
          </a:p>
        </p:txBody>
      </p:sp>
      <p:sp>
        <p:nvSpPr>
          <p:cNvPr id="11" name="Text 9"/>
          <p:cNvSpPr/>
          <p:nvPr/>
        </p:nvSpPr>
        <p:spPr>
          <a:xfrm>
            <a:off x="685800" y="3851672"/>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/resume</a:t>
            </a:r>
            <a:endParaRPr lang="en-US" sz="1050" dirty="0"/>
          </a:p>
        </p:txBody>
      </p:sp>
      <p:sp>
        <p:nvSpPr>
          <p:cNvPr id="12" name="Text 10"/>
          <p:cNvSpPr/>
          <p:nvPr/>
        </p:nvSpPr>
        <p:spPr>
          <a:xfrm>
            <a:off x="685800" y="4076402"/>
            <a:ext cx="226689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Continue a previous session where you left off.</a:t>
            </a:r>
            <a:endParaRPr lang="en-US" sz="825" dirty="0"/>
          </a:p>
        </p:txBody>
      </p:sp>
      <p:sp>
        <p:nvSpPr>
          <p:cNvPr id="13" name="Text 11"/>
          <p:cNvSpPr/>
          <p:nvPr/>
        </p:nvSpPr>
        <p:spPr>
          <a:xfrm>
            <a:off x="3251150" y="1489025"/>
            <a:ext cx="2641550" cy="2997696"/>
          </a:xfrm>
          <a:prstGeom prst="rect">
            <a:avLst/>
          </a:prstGeom>
          <a:solidFill>
            <a:srgbClr val="FFFFFF"/>
          </a:solidFill>
          <a:ln/>
        </p:spPr>
        <p:txBody>
          <a:bodyPr wrap="square" rtlCol="0" anchor="ctr"/>
          <a:lstStyle/>
          <a:p>
            <a:pPr marL="0" indent="0">
              <a:buNone/>
            </a:pPr>
            <a:endParaRPr lang="en-US" dirty="0"/>
          </a:p>
        </p:txBody>
      </p:sp>
      <p:sp>
        <p:nvSpPr>
          <p:cNvPr id="14" name="Shape 12"/>
          <p:cNvSpPr/>
          <p:nvPr/>
        </p:nvSpPr>
        <p:spPr>
          <a:xfrm>
            <a:off x="3270200" y="1489025"/>
            <a:ext cx="0" cy="2997696"/>
          </a:xfrm>
          <a:prstGeom prst="line">
            <a:avLst/>
          </a:prstGeom>
          <a:noFill/>
          <a:ln w="38100">
            <a:solidFill>
              <a:srgbClr val="C9A227"/>
            </a:solidFill>
            <a:prstDash val="solid"/>
          </a:ln>
        </p:spPr>
        <p:txBody>
          <a:bodyPr/>
          <a:lstStyle/>
          <a:p>
            <a:endParaRPr lang="en-US"/>
          </a:p>
        </p:txBody>
      </p:sp>
      <p:sp>
        <p:nvSpPr>
          <p:cNvPr id="15" name="Text 13"/>
          <p:cNvSpPr/>
          <p:nvPr/>
        </p:nvSpPr>
        <p:spPr>
          <a:xfrm>
            <a:off x="3479750" y="1679525"/>
            <a:ext cx="2266899" cy="186630"/>
          </a:xfrm>
          <a:prstGeom prst="rect">
            <a:avLst/>
          </a:prstGeom>
          <a:noFill/>
          <a:ln/>
        </p:spPr>
        <p:txBody>
          <a:bodyPr wrap="square" lIns="0" tIns="0" rIns="0" bIns="0" rtlCol="0" anchor="t"/>
          <a:lstStyle/>
          <a:p>
            <a:pPr marL="0" indent="0" algn="l">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Information</a:t>
            </a:r>
            <a:endParaRPr lang="en-US" sz="1050" dirty="0"/>
          </a:p>
        </p:txBody>
      </p:sp>
      <p:sp>
        <p:nvSpPr>
          <p:cNvPr id="16" name="Text 14"/>
          <p:cNvSpPr/>
          <p:nvPr/>
        </p:nvSpPr>
        <p:spPr>
          <a:xfrm>
            <a:off x="3479750" y="2170956"/>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/help</a:t>
            </a:r>
            <a:endParaRPr lang="en-US" sz="1050" dirty="0"/>
          </a:p>
        </p:txBody>
      </p:sp>
      <p:sp>
        <p:nvSpPr>
          <p:cNvPr id="17" name="Text 15"/>
          <p:cNvSpPr/>
          <p:nvPr/>
        </p:nvSpPr>
        <p:spPr>
          <a:xfrm>
            <a:off x="3479750" y="2395686"/>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Display all available commands and their descriptions.</a:t>
            </a:r>
            <a:endParaRPr lang="en-US" sz="825" dirty="0"/>
          </a:p>
        </p:txBody>
      </p:sp>
      <p:sp>
        <p:nvSpPr>
          <p:cNvPr id="18" name="Text 16"/>
          <p:cNvSpPr/>
          <p:nvPr/>
        </p:nvSpPr>
        <p:spPr>
          <a:xfrm>
            <a:off x="3479750" y="2974628"/>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/cost</a:t>
            </a:r>
            <a:endParaRPr lang="en-US" sz="1050" dirty="0"/>
          </a:p>
        </p:txBody>
      </p:sp>
      <p:sp>
        <p:nvSpPr>
          <p:cNvPr id="19" name="Text 17"/>
          <p:cNvSpPr/>
          <p:nvPr/>
        </p:nvSpPr>
        <p:spPr>
          <a:xfrm>
            <a:off x="3479750" y="3199358"/>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Show token usage and estimated cost for current session.</a:t>
            </a:r>
            <a:endParaRPr lang="en-US" sz="825" dirty="0"/>
          </a:p>
        </p:txBody>
      </p:sp>
      <p:sp>
        <p:nvSpPr>
          <p:cNvPr id="20" name="Text 18"/>
          <p:cNvSpPr/>
          <p:nvPr/>
        </p:nvSpPr>
        <p:spPr>
          <a:xfrm>
            <a:off x="3479750" y="3778300"/>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/status</a:t>
            </a:r>
            <a:endParaRPr lang="en-US" sz="1050" dirty="0"/>
          </a:p>
        </p:txBody>
      </p:sp>
      <p:sp>
        <p:nvSpPr>
          <p:cNvPr id="21" name="Text 19"/>
          <p:cNvSpPr/>
          <p:nvPr/>
        </p:nvSpPr>
        <p:spPr>
          <a:xfrm>
            <a:off x="3479750" y="4003030"/>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View current session info, model, and context window usage.</a:t>
            </a:r>
            <a:endParaRPr lang="en-US" sz="825" dirty="0"/>
          </a:p>
        </p:txBody>
      </p:sp>
      <p:sp>
        <p:nvSpPr>
          <p:cNvPr id="22" name="Text 20"/>
          <p:cNvSpPr/>
          <p:nvPr/>
        </p:nvSpPr>
        <p:spPr>
          <a:xfrm>
            <a:off x="6045101" y="1562398"/>
            <a:ext cx="2641550" cy="2851100"/>
          </a:xfrm>
          <a:prstGeom prst="rect">
            <a:avLst/>
          </a:prstGeom>
          <a:solidFill>
            <a:srgbClr val="FFFFFF"/>
          </a:solidFill>
          <a:ln/>
        </p:spPr>
        <p:txBody>
          <a:bodyPr wrap="square" rtlCol="0" anchor="ctr"/>
          <a:lstStyle/>
          <a:p>
            <a:pPr marL="0" indent="0">
              <a:buNone/>
            </a:pPr>
            <a:endParaRPr lang="en-US" dirty="0"/>
          </a:p>
        </p:txBody>
      </p:sp>
      <p:sp>
        <p:nvSpPr>
          <p:cNvPr id="23" name="Shape 21"/>
          <p:cNvSpPr/>
          <p:nvPr/>
        </p:nvSpPr>
        <p:spPr>
          <a:xfrm>
            <a:off x="6064151" y="1562398"/>
            <a:ext cx="0" cy="2851100"/>
          </a:xfrm>
          <a:prstGeom prst="line">
            <a:avLst/>
          </a:prstGeom>
          <a:noFill/>
          <a:ln w="38100">
            <a:solidFill>
              <a:srgbClr val="C9A227"/>
            </a:solidFill>
            <a:prstDash val="solid"/>
          </a:ln>
        </p:spPr>
        <p:txBody>
          <a:bodyPr/>
          <a:lstStyle/>
          <a:p>
            <a:endParaRPr lang="en-US"/>
          </a:p>
        </p:txBody>
      </p:sp>
      <p:sp>
        <p:nvSpPr>
          <p:cNvPr id="24" name="Text 22"/>
          <p:cNvSpPr/>
          <p:nvPr/>
        </p:nvSpPr>
        <p:spPr>
          <a:xfrm>
            <a:off x="6273701" y="1752898"/>
            <a:ext cx="2266899" cy="186630"/>
          </a:xfrm>
          <a:prstGeom prst="rect">
            <a:avLst/>
          </a:prstGeom>
          <a:noFill/>
          <a:ln/>
        </p:spPr>
        <p:txBody>
          <a:bodyPr wrap="square" lIns="0" tIns="0" rIns="0" bIns="0" rtlCol="0" anchor="t"/>
          <a:lstStyle/>
          <a:p>
            <a:pPr marL="0" indent="0" algn="l">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Project Setup</a:t>
            </a:r>
            <a:endParaRPr lang="en-US" sz="1050" dirty="0"/>
          </a:p>
        </p:txBody>
      </p:sp>
      <p:sp>
        <p:nvSpPr>
          <p:cNvPr id="25" name="Text 23"/>
          <p:cNvSpPr/>
          <p:nvPr/>
        </p:nvSpPr>
        <p:spPr>
          <a:xfrm>
            <a:off x="6273701" y="2244328"/>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/init</a:t>
            </a:r>
            <a:endParaRPr lang="en-US" sz="1050" dirty="0"/>
          </a:p>
        </p:txBody>
      </p:sp>
      <p:sp>
        <p:nvSpPr>
          <p:cNvPr id="26" name="Text 24"/>
          <p:cNvSpPr/>
          <p:nvPr/>
        </p:nvSpPr>
        <p:spPr>
          <a:xfrm>
            <a:off x="6273701" y="2469059"/>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Create a CLAUDE.md file with project context and conventions.</a:t>
            </a:r>
            <a:endParaRPr lang="en-US" sz="825" dirty="0"/>
          </a:p>
        </p:txBody>
      </p:sp>
      <p:sp>
        <p:nvSpPr>
          <p:cNvPr id="27" name="Text 25"/>
          <p:cNvSpPr/>
          <p:nvPr/>
        </p:nvSpPr>
        <p:spPr>
          <a:xfrm>
            <a:off x="6273701" y="3048000"/>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/config</a:t>
            </a:r>
            <a:endParaRPr lang="en-US" sz="1050" dirty="0"/>
          </a:p>
        </p:txBody>
      </p:sp>
      <p:sp>
        <p:nvSpPr>
          <p:cNvPr id="28" name="Text 26"/>
          <p:cNvSpPr/>
          <p:nvPr/>
        </p:nvSpPr>
        <p:spPr>
          <a:xfrm>
            <a:off x="6273701" y="3272730"/>
            <a:ext cx="2266899" cy="293191"/>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View or modify Claude Code settings and preferences.</a:t>
            </a:r>
            <a:endParaRPr lang="en-US" sz="825" dirty="0"/>
          </a:p>
        </p:txBody>
      </p:sp>
      <p:sp>
        <p:nvSpPr>
          <p:cNvPr id="29" name="Text 27"/>
          <p:cNvSpPr/>
          <p:nvPr/>
        </p:nvSpPr>
        <p:spPr>
          <a:xfrm>
            <a:off x="6273701" y="3851672"/>
            <a:ext cx="2266899" cy="186630"/>
          </a:xfrm>
          <a:prstGeom prst="rect">
            <a:avLst/>
          </a:prstGeom>
          <a:noFill/>
          <a:ln/>
        </p:spPr>
        <p:txBody>
          <a:bodyPr wrap="square" lIns="0" tIns="0" rIns="0" bIns="0" rtlCol="0" anchor="t"/>
          <a:lstStyle/>
          <a:p>
            <a:pPr marL="0" indent="0" algn="l">
              <a:lnSpc>
                <a:spcPts val="1470"/>
              </a:lnSpc>
              <a:spcAft>
                <a:spcPts val="300"/>
              </a:spcAft>
              <a:buNone/>
            </a:pPr>
            <a:r>
              <a:rPr lang="en-US" sz="1050" b="1" dirty="0">
                <a:solidFill>
                  <a:srgbClr val="C9A227"/>
                </a:solidFill>
                <a:latin typeface="monospace" pitchFamily="34" charset="0"/>
                <a:ea typeface="monospace" pitchFamily="34" charset="-122"/>
                <a:cs typeface="monospace" pitchFamily="34" charset="-120"/>
              </a:rPr>
              <a:t>/add-dir</a:t>
            </a:r>
            <a:endParaRPr lang="en-US" sz="1050" dirty="0"/>
          </a:p>
        </p:txBody>
      </p:sp>
      <p:sp>
        <p:nvSpPr>
          <p:cNvPr id="30" name="Text 28"/>
          <p:cNvSpPr/>
          <p:nvPr/>
        </p:nvSpPr>
        <p:spPr>
          <a:xfrm>
            <a:off x="6273701" y="4076402"/>
            <a:ext cx="226689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Add additional directories to the current context.</a:t>
            </a:r>
            <a:endParaRPr lang="en-US" sz="8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6637"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266700" y="358229"/>
            <a:ext cx="3583501"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PROJECT CONTEXT</a:t>
            </a:r>
            <a:endParaRPr lang="en-US" sz="750" dirty="0"/>
          </a:p>
        </p:txBody>
      </p:sp>
      <p:sp>
        <p:nvSpPr>
          <p:cNvPr id="4" name="Text 2"/>
          <p:cNvSpPr/>
          <p:nvPr/>
        </p:nvSpPr>
        <p:spPr>
          <a:xfrm>
            <a:off x="266700" y="701129"/>
            <a:ext cx="1797368" cy="266700"/>
          </a:xfrm>
          <a:prstGeom prst="rect">
            <a:avLst/>
          </a:prstGeom>
          <a:noFill/>
          <a:ln/>
        </p:spPr>
        <p:txBody>
          <a:bodyPr wrap="square" lIns="0" tIns="0" rIns="0" bIns="0" rtlCol="0" anchor="t"/>
          <a:lstStyle/>
          <a:p>
            <a:pPr marL="0" indent="0" algn="l">
              <a:lnSpc>
                <a:spcPts val="2100"/>
              </a:lnSpc>
              <a:spcAft>
                <a:spcPts val="900"/>
              </a:spcAft>
              <a:buNone/>
            </a:pPr>
            <a:r>
              <a:rPr lang="en-US" sz="2100" dirty="0">
                <a:solidFill>
                  <a:srgbClr val="1A1F2E"/>
                </a:solidFill>
                <a:latin typeface="Georgia" pitchFamily="34" charset="0"/>
                <a:ea typeface="Georgia" pitchFamily="34" charset="-122"/>
                <a:cs typeface="Georgia" pitchFamily="34" charset="-120"/>
              </a:rPr>
              <a:t>CLAUDE.md</a:t>
            </a:r>
            <a:endParaRPr lang="en-US" sz="2100" dirty="0"/>
          </a:p>
        </p:txBody>
      </p:sp>
      <p:sp>
        <p:nvSpPr>
          <p:cNvPr id="5" name="Text 3"/>
          <p:cNvSpPr/>
          <p:nvPr/>
        </p:nvSpPr>
        <p:spPr>
          <a:xfrm>
            <a:off x="266700" y="1234529"/>
            <a:ext cx="3583501" cy="342900"/>
          </a:xfrm>
          <a:prstGeom prst="rect">
            <a:avLst/>
          </a:prstGeom>
          <a:noFill/>
          <a:ln/>
        </p:spPr>
        <p:txBody>
          <a:bodyPr wrap="square" lIns="0" tIns="0" rIns="0" bIns="0" rtlCol="0" anchor="t"/>
          <a:lstStyle/>
          <a:p>
            <a:pPr marL="0" indent="0" algn="l">
              <a:lnSpc>
                <a:spcPts val="1350"/>
              </a:lnSpc>
              <a:spcAft>
                <a:spcPts val="1500"/>
              </a:spcAft>
              <a:buNone/>
            </a:pPr>
            <a:r>
              <a:rPr lang="en-US" sz="900" dirty="0">
                <a:solidFill>
                  <a:srgbClr val="6B7280"/>
                </a:solidFill>
                <a:latin typeface="Arial" pitchFamily="34" charset="0"/>
                <a:ea typeface="Arial" pitchFamily="34" charset="-122"/>
                <a:cs typeface="Arial" pitchFamily="34" charset="-120"/>
              </a:rPr>
              <a:t>A markdown file at your project root that gives Claude persistent context about your codebase.</a:t>
            </a:r>
            <a:endParaRPr lang="en-US" sz="900" dirty="0"/>
          </a:p>
        </p:txBody>
      </p:sp>
      <p:sp>
        <p:nvSpPr>
          <p:cNvPr id="6" name="Text 4"/>
          <p:cNvSpPr/>
          <p:nvPr/>
        </p:nvSpPr>
        <p:spPr>
          <a:xfrm>
            <a:off x="266700" y="1920329"/>
            <a:ext cx="3513237" cy="1175296"/>
          </a:xfrm>
          <a:prstGeom prst="rect">
            <a:avLst/>
          </a:prstGeom>
          <a:solidFill>
            <a:srgbClr val="FFFFFF"/>
          </a:solidFill>
          <a:ln/>
        </p:spPr>
        <p:txBody>
          <a:bodyPr wrap="square" rtlCol="0" anchor="ctr"/>
          <a:lstStyle/>
          <a:p>
            <a:pPr marL="0" indent="0">
              <a:buNone/>
            </a:pPr>
            <a:endParaRPr lang="en-US" dirty="0"/>
          </a:p>
        </p:txBody>
      </p:sp>
      <p:sp>
        <p:nvSpPr>
          <p:cNvPr id="7" name="Shape 5"/>
          <p:cNvSpPr/>
          <p:nvPr/>
        </p:nvSpPr>
        <p:spPr>
          <a:xfrm>
            <a:off x="285750" y="1920329"/>
            <a:ext cx="0" cy="1175296"/>
          </a:xfrm>
          <a:prstGeom prst="line">
            <a:avLst/>
          </a:prstGeom>
          <a:noFill/>
          <a:ln w="38100">
            <a:solidFill>
              <a:srgbClr val="C9A227"/>
            </a:solidFill>
            <a:prstDash val="solid"/>
          </a:ln>
        </p:spPr>
        <p:txBody>
          <a:bodyPr/>
          <a:lstStyle/>
          <a:p>
            <a:endParaRPr lang="en-US"/>
          </a:p>
        </p:txBody>
      </p:sp>
      <p:sp>
        <p:nvSpPr>
          <p:cNvPr id="8" name="Text 6"/>
          <p:cNvSpPr/>
          <p:nvPr/>
        </p:nvSpPr>
        <p:spPr>
          <a:xfrm>
            <a:off x="419100" y="2034629"/>
            <a:ext cx="3311467"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What to Include</a:t>
            </a:r>
            <a:endParaRPr lang="en-US" sz="825" dirty="0"/>
          </a:p>
        </p:txBody>
      </p:sp>
      <p:sp>
        <p:nvSpPr>
          <p:cNvPr id="9" name="Text 7"/>
          <p:cNvSpPr/>
          <p:nvPr/>
        </p:nvSpPr>
        <p:spPr>
          <a:xfrm>
            <a:off x="419100" y="2219325"/>
            <a:ext cx="3311467" cy="762000"/>
          </a:xfrm>
          <a:prstGeom prst="rect">
            <a:avLst/>
          </a:prstGeom>
          <a:noFill/>
          <a:ln/>
        </p:spPr>
        <p:txBody>
          <a:bodyPr wrap="square" lIns="0" tIns="0" rIns="0" bIns="0" rtlCol="0" anchor="t"/>
          <a:lstStyle/>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Project overview and purpose</a:t>
            </a:r>
            <a:endParaRPr lang="en-US" sz="750" dirty="0"/>
          </a:p>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Tech stack and dependencies</a:t>
            </a:r>
            <a:endParaRPr lang="en-US" sz="750" dirty="0"/>
          </a:p>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Code conventions and patterns</a:t>
            </a:r>
            <a:endParaRPr lang="en-US" sz="750" dirty="0"/>
          </a:p>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File structure explanations</a:t>
            </a:r>
            <a:endParaRPr lang="en-US" sz="750" dirty="0"/>
          </a:p>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Common tasks and workflows</a:t>
            </a:r>
            <a:endParaRPr lang="en-US" sz="750" dirty="0"/>
          </a:p>
        </p:txBody>
      </p:sp>
      <p:sp>
        <p:nvSpPr>
          <p:cNvPr id="10" name="Text 8"/>
          <p:cNvSpPr/>
          <p:nvPr/>
        </p:nvSpPr>
        <p:spPr>
          <a:xfrm>
            <a:off x="266700" y="3343275"/>
            <a:ext cx="3513237" cy="870496"/>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285750" y="3343275"/>
            <a:ext cx="0" cy="870496"/>
          </a:xfrm>
          <a:prstGeom prst="line">
            <a:avLst/>
          </a:prstGeom>
          <a:noFill/>
          <a:ln w="38100">
            <a:solidFill>
              <a:srgbClr val="059669"/>
            </a:solidFill>
            <a:prstDash val="solid"/>
          </a:ln>
        </p:spPr>
        <p:txBody>
          <a:bodyPr/>
          <a:lstStyle/>
          <a:p>
            <a:endParaRPr lang="en-US"/>
          </a:p>
        </p:txBody>
      </p:sp>
      <p:sp>
        <p:nvSpPr>
          <p:cNvPr id="12" name="Text 10"/>
          <p:cNvSpPr/>
          <p:nvPr/>
        </p:nvSpPr>
        <p:spPr>
          <a:xfrm>
            <a:off x="419100" y="3457575"/>
            <a:ext cx="3311467"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Benefits</a:t>
            </a:r>
            <a:endParaRPr lang="en-US" sz="825" dirty="0"/>
          </a:p>
        </p:txBody>
      </p:sp>
      <p:sp>
        <p:nvSpPr>
          <p:cNvPr id="13" name="Text 11"/>
          <p:cNvSpPr/>
          <p:nvPr/>
        </p:nvSpPr>
        <p:spPr>
          <a:xfrm>
            <a:off x="419100" y="3642271"/>
            <a:ext cx="3311467" cy="457200"/>
          </a:xfrm>
          <a:prstGeom prst="rect">
            <a:avLst/>
          </a:prstGeom>
          <a:noFill/>
          <a:ln/>
        </p:spPr>
        <p:txBody>
          <a:bodyPr wrap="square" lIns="0" tIns="0" rIns="0" bIns="0" rtlCol="0" anchor="t"/>
          <a:lstStyle/>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Claude remembers across sessions</a:t>
            </a:r>
            <a:endParaRPr lang="en-US" sz="750" dirty="0"/>
          </a:p>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Consistent code style</a:t>
            </a:r>
            <a:endParaRPr lang="en-US" sz="750" dirty="0"/>
          </a:p>
          <a:p>
            <a:pPr marL="0" indent="0" algn="l">
              <a:lnSpc>
                <a:spcPts val="1200"/>
              </a:lnSpc>
              <a:buNone/>
            </a:pPr>
            <a:r>
              <a:rPr lang="en-US" sz="750" dirty="0">
                <a:solidFill>
                  <a:srgbClr val="6B7280"/>
                </a:solidFill>
                <a:latin typeface="Arial" pitchFamily="34" charset="0"/>
                <a:ea typeface="Arial" pitchFamily="34" charset="-122"/>
                <a:cs typeface="Arial" pitchFamily="34" charset="-120"/>
              </a:rPr>
              <a:t>Faster onboarding for new tasks</a:t>
            </a:r>
            <a:endParaRPr lang="en-US" sz="750" dirty="0"/>
          </a:p>
        </p:txBody>
      </p:sp>
      <p:sp>
        <p:nvSpPr>
          <p:cNvPr id="14" name="Text 12"/>
          <p:cNvSpPr/>
          <p:nvPr/>
        </p:nvSpPr>
        <p:spPr>
          <a:xfrm>
            <a:off x="266700" y="4461421"/>
            <a:ext cx="3513237" cy="32385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381000" y="4556671"/>
            <a:ext cx="3350329" cy="133350"/>
          </a:xfrm>
          <a:prstGeom prst="rect">
            <a:avLst/>
          </a:prstGeom>
          <a:noFill/>
          <a:ln/>
        </p:spPr>
        <p:txBody>
          <a:bodyPr wrap="square" lIns="0" tIns="0" rIns="0" bIns="0" rtlCol="0" anchor="t"/>
          <a:lstStyle/>
          <a:p>
            <a:pPr marL="0" indent="0" algn="l">
              <a:lnSpc>
                <a:spcPts val="1050"/>
              </a:lnSpc>
              <a:buNone/>
            </a:pPr>
            <a:r>
              <a:rPr lang="en-US" sz="750" b="1" dirty="0">
                <a:solidFill>
                  <a:srgbClr val="C9A227"/>
                </a:solidFill>
                <a:latin typeface="Arial" pitchFamily="34" charset="0"/>
                <a:ea typeface="Arial" pitchFamily="34" charset="-122"/>
                <a:cs typeface="Arial" pitchFamily="34" charset="-120"/>
              </a:rPr>
              <a:t>Tip:</a:t>
            </a:r>
            <a:r>
              <a:rPr lang="en-US" sz="750" dirty="0">
                <a:solidFill>
                  <a:srgbClr val="C9A227"/>
                </a:solidFill>
                <a:latin typeface="Arial" pitchFamily="34" charset="0"/>
                <a:ea typeface="Arial" pitchFamily="34" charset="-122"/>
                <a:cs typeface="Arial" pitchFamily="34" charset="-120"/>
              </a:rPr>
              <a:t> Run /init to auto-generate</a:t>
            </a:r>
            <a:endParaRPr lang="en-US" sz="750" dirty="0"/>
          </a:p>
        </p:txBody>
      </p:sp>
      <p:sp>
        <p:nvSpPr>
          <p:cNvPr id="16" name="Text 14"/>
          <p:cNvSpPr/>
          <p:nvPr/>
        </p:nvSpPr>
        <p:spPr>
          <a:xfrm>
            <a:off x="4199037" y="0"/>
            <a:ext cx="4944963" cy="5143500"/>
          </a:xfrm>
          <a:prstGeom prst="rect">
            <a:avLst/>
          </a:prstGeom>
          <a:solidFill>
            <a:srgbClr val="1A1F2E"/>
          </a:solidFill>
          <a:ln/>
        </p:spPr>
        <p:txBody>
          <a:bodyPr wrap="square" rtlCol="0" anchor="ctr"/>
          <a:lstStyle/>
          <a:p>
            <a:pPr marL="0" indent="0">
              <a:buNone/>
            </a:pPr>
            <a:endParaRPr lang="en-US" dirty="0"/>
          </a:p>
        </p:txBody>
      </p:sp>
      <p:sp>
        <p:nvSpPr>
          <p:cNvPr id="17" name="Text 15"/>
          <p:cNvSpPr/>
          <p:nvPr/>
        </p:nvSpPr>
        <p:spPr>
          <a:xfrm>
            <a:off x="4503837" y="606772"/>
            <a:ext cx="4422071" cy="133350"/>
          </a:xfrm>
          <a:prstGeom prst="rect">
            <a:avLst/>
          </a:prstGeom>
          <a:noFill/>
          <a:ln/>
        </p:spPr>
        <p:txBody>
          <a:bodyPr wrap="square" lIns="0" tIns="0" rIns="0" bIns="0" rtlCol="0" anchor="t"/>
          <a:lstStyle/>
          <a:p>
            <a:pPr marL="0" indent="0" algn="l">
              <a:lnSpc>
                <a:spcPts val="1050"/>
              </a:lnSpc>
              <a:spcAft>
                <a:spcPts val="750"/>
              </a:spcAft>
              <a:buNone/>
            </a:pPr>
            <a:r>
              <a:rPr lang="en-US" sz="750" dirty="0">
                <a:solidFill>
                  <a:srgbClr val="C9A227"/>
                </a:solidFill>
                <a:latin typeface="Arial" pitchFamily="34" charset="0"/>
                <a:ea typeface="Arial" pitchFamily="34" charset="-122"/>
                <a:cs typeface="Arial" pitchFamily="34" charset="-120"/>
              </a:rPr>
              <a:t>EXAMPLE</a:t>
            </a:r>
            <a:endParaRPr lang="en-US" sz="750" dirty="0"/>
          </a:p>
        </p:txBody>
      </p:sp>
      <p:sp>
        <p:nvSpPr>
          <p:cNvPr id="18" name="Text 16"/>
          <p:cNvSpPr/>
          <p:nvPr/>
        </p:nvSpPr>
        <p:spPr>
          <a:xfrm>
            <a:off x="4503837" y="987772"/>
            <a:ext cx="4335363" cy="3124200"/>
          </a:xfrm>
          <a:prstGeom prst="rect">
            <a:avLst/>
          </a:prstGeom>
          <a:solidFill>
            <a:srgbClr val="252B3D"/>
          </a:solidFill>
          <a:ln/>
        </p:spPr>
        <p:txBody>
          <a:bodyPr wrap="square" rtlCol="0" anchor="ctr"/>
          <a:lstStyle/>
          <a:p>
            <a:pPr marL="0" indent="0">
              <a:buNone/>
            </a:pPr>
            <a:endParaRPr lang="en-US" dirty="0"/>
          </a:p>
        </p:txBody>
      </p:sp>
      <p:sp>
        <p:nvSpPr>
          <p:cNvPr id="19" name="Text 17"/>
          <p:cNvSpPr/>
          <p:nvPr/>
        </p:nvSpPr>
        <p:spPr>
          <a:xfrm>
            <a:off x="4637187" y="11211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 CLAUDE.md</a:t>
            </a:r>
            <a:endParaRPr lang="en-US" sz="1500" dirty="0"/>
          </a:p>
        </p:txBody>
      </p:sp>
      <p:sp>
        <p:nvSpPr>
          <p:cNvPr id="20" name="Text 18"/>
          <p:cNvSpPr/>
          <p:nvPr/>
        </p:nvSpPr>
        <p:spPr>
          <a:xfrm>
            <a:off x="4637187" y="1425922"/>
            <a:ext cx="4150037" cy="266700"/>
          </a:xfrm>
          <a:prstGeom prst="rect">
            <a:avLst/>
          </a:prstGeom>
          <a:noFill/>
          <a:ln/>
        </p:spPr>
        <p:txBody>
          <a:bodyPr wrap="square" lIns="0" tIns="0" rIns="0" bIns="0" rtlCol="0" anchor="t"/>
          <a:lstStyle/>
          <a:p>
            <a:pPr marL="0" indent="0" algn="l">
              <a:lnSpc>
                <a:spcPts val="2100"/>
              </a:lnSpc>
              <a:spcBef>
                <a:spcPts val="300"/>
              </a:spcBef>
              <a:buNone/>
            </a:pPr>
            <a:r>
              <a:rPr lang="en-US" sz="1500" dirty="0">
                <a:solidFill>
                  <a:srgbClr val="FFFFFF">
                    <a:alpha val="50000"/>
                  </a:srgbClr>
                </a:solidFill>
                <a:latin typeface="Arial" pitchFamily="34" charset="0"/>
                <a:ea typeface="Arial" pitchFamily="34" charset="-122"/>
                <a:cs typeface="Arial" pitchFamily="34" charset="-120"/>
              </a:rPr>
              <a:t>## Project Overview</a:t>
            </a:r>
            <a:endParaRPr lang="en-US" sz="1500" dirty="0"/>
          </a:p>
        </p:txBody>
      </p:sp>
      <p:sp>
        <p:nvSpPr>
          <p:cNvPr id="21" name="Text 19"/>
          <p:cNvSpPr/>
          <p:nvPr/>
        </p:nvSpPr>
        <p:spPr>
          <a:xfrm>
            <a:off x="4637187" y="16926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Austin Public Health patient portal</a:t>
            </a:r>
            <a:endParaRPr lang="en-US" sz="1500" dirty="0"/>
          </a:p>
        </p:txBody>
      </p:sp>
      <p:sp>
        <p:nvSpPr>
          <p:cNvPr id="22" name="Text 20"/>
          <p:cNvSpPr/>
          <p:nvPr/>
        </p:nvSpPr>
        <p:spPr>
          <a:xfrm>
            <a:off x="4637187" y="19593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React frontend + FastAPI backend</a:t>
            </a:r>
            <a:endParaRPr lang="en-US" sz="1500" dirty="0"/>
          </a:p>
        </p:txBody>
      </p:sp>
      <p:sp>
        <p:nvSpPr>
          <p:cNvPr id="23" name="Text 21"/>
          <p:cNvSpPr/>
          <p:nvPr/>
        </p:nvSpPr>
        <p:spPr>
          <a:xfrm>
            <a:off x="4637187" y="2302222"/>
            <a:ext cx="4150037" cy="266700"/>
          </a:xfrm>
          <a:prstGeom prst="rect">
            <a:avLst/>
          </a:prstGeom>
          <a:noFill/>
          <a:ln/>
        </p:spPr>
        <p:txBody>
          <a:bodyPr wrap="square" lIns="0" tIns="0" rIns="0" bIns="0" rtlCol="0" anchor="t"/>
          <a:lstStyle/>
          <a:p>
            <a:pPr marL="0" indent="0" algn="l">
              <a:lnSpc>
                <a:spcPts val="2100"/>
              </a:lnSpc>
              <a:spcBef>
                <a:spcPts val="600"/>
              </a:spcBef>
              <a:buNone/>
            </a:pPr>
            <a:r>
              <a:rPr lang="en-US" sz="1500" dirty="0">
                <a:solidFill>
                  <a:srgbClr val="FFFFFF">
                    <a:alpha val="50000"/>
                  </a:srgbClr>
                </a:solidFill>
                <a:latin typeface="Arial" pitchFamily="34" charset="0"/>
                <a:ea typeface="Arial" pitchFamily="34" charset="-122"/>
                <a:cs typeface="Arial" pitchFamily="34" charset="-120"/>
              </a:rPr>
              <a:t>## Conventions</a:t>
            </a:r>
            <a:endParaRPr lang="en-US" sz="1500" dirty="0"/>
          </a:p>
        </p:txBody>
      </p:sp>
      <p:sp>
        <p:nvSpPr>
          <p:cNvPr id="24" name="Text 22"/>
          <p:cNvSpPr/>
          <p:nvPr/>
        </p:nvSpPr>
        <p:spPr>
          <a:xfrm>
            <a:off x="4637187" y="25689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TypeScript strict mode</a:t>
            </a:r>
            <a:endParaRPr lang="en-US" sz="1500" dirty="0"/>
          </a:p>
        </p:txBody>
      </p:sp>
      <p:sp>
        <p:nvSpPr>
          <p:cNvPr id="25" name="Text 23"/>
          <p:cNvSpPr/>
          <p:nvPr/>
        </p:nvSpPr>
        <p:spPr>
          <a:xfrm>
            <a:off x="4637187" y="28356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Components in PascalCase</a:t>
            </a:r>
            <a:endParaRPr lang="en-US" sz="1500" dirty="0"/>
          </a:p>
        </p:txBody>
      </p:sp>
      <p:sp>
        <p:nvSpPr>
          <p:cNvPr id="26" name="Text 24"/>
          <p:cNvSpPr/>
          <p:nvPr/>
        </p:nvSpPr>
        <p:spPr>
          <a:xfrm>
            <a:off x="4637187" y="3178522"/>
            <a:ext cx="4150037" cy="266700"/>
          </a:xfrm>
          <a:prstGeom prst="rect">
            <a:avLst/>
          </a:prstGeom>
          <a:noFill/>
          <a:ln/>
        </p:spPr>
        <p:txBody>
          <a:bodyPr wrap="square" lIns="0" tIns="0" rIns="0" bIns="0" rtlCol="0" anchor="t"/>
          <a:lstStyle/>
          <a:p>
            <a:pPr marL="0" indent="0" algn="l">
              <a:lnSpc>
                <a:spcPts val="2100"/>
              </a:lnSpc>
              <a:spcBef>
                <a:spcPts val="600"/>
              </a:spcBef>
              <a:buNone/>
            </a:pPr>
            <a:r>
              <a:rPr lang="en-US" sz="1500" dirty="0">
                <a:solidFill>
                  <a:srgbClr val="FFFFFF">
                    <a:alpha val="50000"/>
                  </a:srgbClr>
                </a:solidFill>
                <a:latin typeface="Arial" pitchFamily="34" charset="0"/>
                <a:ea typeface="Arial" pitchFamily="34" charset="-122"/>
                <a:cs typeface="Arial" pitchFamily="34" charset="-120"/>
              </a:rPr>
              <a:t>## Security Notes</a:t>
            </a:r>
            <a:endParaRPr lang="en-US" sz="1500" dirty="0"/>
          </a:p>
        </p:txBody>
      </p:sp>
      <p:sp>
        <p:nvSpPr>
          <p:cNvPr id="27" name="Text 25"/>
          <p:cNvSpPr/>
          <p:nvPr/>
        </p:nvSpPr>
        <p:spPr>
          <a:xfrm>
            <a:off x="4637187" y="34452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DC2626"/>
                </a:solidFill>
                <a:latin typeface="Arial" pitchFamily="34" charset="0"/>
                <a:ea typeface="Arial" pitchFamily="34" charset="-122"/>
                <a:cs typeface="Arial" pitchFamily="34" charset="-120"/>
              </a:rPr>
              <a:t>Never log PHI to console</a:t>
            </a:r>
            <a:endParaRPr lang="en-US" sz="1500" dirty="0"/>
          </a:p>
        </p:txBody>
      </p:sp>
      <p:sp>
        <p:nvSpPr>
          <p:cNvPr id="28" name="Text 26"/>
          <p:cNvSpPr/>
          <p:nvPr/>
        </p:nvSpPr>
        <p:spPr>
          <a:xfrm>
            <a:off x="4637187" y="3711922"/>
            <a:ext cx="4150037" cy="266700"/>
          </a:xfrm>
          <a:prstGeom prst="rect">
            <a:avLst/>
          </a:prstGeom>
          <a:noFill/>
          <a:ln/>
        </p:spPr>
        <p:txBody>
          <a:bodyPr wrap="square" lIns="0" tIns="0" rIns="0" bIns="0" rtlCol="0" anchor="t"/>
          <a:lstStyle/>
          <a:p>
            <a:pPr marL="0" indent="0" algn="l">
              <a:lnSpc>
                <a:spcPts val="2100"/>
              </a:lnSpc>
              <a:buNone/>
            </a:pPr>
            <a:r>
              <a:rPr lang="en-US" sz="1500" dirty="0">
                <a:solidFill>
                  <a:srgbClr val="DC2626"/>
                </a:solidFill>
                <a:latin typeface="Arial" pitchFamily="34" charset="0"/>
                <a:ea typeface="Arial" pitchFamily="34" charset="-122"/>
                <a:cs typeface="Arial" pitchFamily="34" charset="-120"/>
              </a:rPr>
              <a:t>All endpoints require auth</a:t>
            </a:r>
            <a:endParaRPr lang="en-US" sz="1500" dirty="0"/>
          </a:p>
        </p:txBody>
      </p:sp>
      <p:sp>
        <p:nvSpPr>
          <p:cNvPr id="29" name="Text 27"/>
          <p:cNvSpPr/>
          <p:nvPr/>
        </p:nvSpPr>
        <p:spPr>
          <a:xfrm>
            <a:off x="4503837" y="4340572"/>
            <a:ext cx="4422071" cy="119955"/>
          </a:xfrm>
          <a:prstGeom prst="rect">
            <a:avLst/>
          </a:prstGeom>
          <a:noFill/>
          <a:ln/>
        </p:spPr>
        <p:txBody>
          <a:bodyPr wrap="square" lIns="0" tIns="0" rIns="0" bIns="0" rtlCol="0" anchor="t"/>
          <a:lstStyle/>
          <a:p>
            <a:pPr marL="0" indent="0" algn="l">
              <a:lnSpc>
                <a:spcPts val="945"/>
              </a:lnSpc>
              <a:spcBef>
                <a:spcPts val="600"/>
              </a:spcBef>
              <a:buNone/>
            </a:pPr>
            <a:r>
              <a:rPr lang="en-US" sz="675" dirty="0">
                <a:solidFill>
                  <a:srgbClr val="FFFFFF">
                    <a:alpha val="40000"/>
                  </a:srgbClr>
                </a:solidFill>
                <a:latin typeface="Arial" pitchFamily="34" charset="0"/>
                <a:ea typeface="Arial" pitchFamily="34" charset="-122"/>
                <a:cs typeface="Arial" pitchFamily="34" charset="-120"/>
              </a:rPr>
              <a:t>Claude reads this file automatically when you start a session</a:t>
            </a:r>
            <a:endParaRPr lang="en-US" sz="6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7288"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457200" y="1390650"/>
            <a:ext cx="3654546" cy="487561"/>
          </a:xfrm>
          <a:prstGeom prst="rect">
            <a:avLst/>
          </a:prstGeom>
          <a:noFill/>
          <a:ln/>
        </p:spPr>
        <p:txBody>
          <a:bodyPr wrap="square" lIns="0" tIns="0" rIns="0" bIns="0" rtlCol="0" anchor="t"/>
          <a:lstStyle/>
          <a:p>
            <a:pPr marL="0" indent="0" algn="l">
              <a:lnSpc>
                <a:spcPts val="3840"/>
              </a:lnSpc>
              <a:buNone/>
            </a:pPr>
            <a:r>
              <a:rPr lang="en-US" sz="4800" dirty="0">
                <a:solidFill>
                  <a:srgbClr val="C9A227"/>
                </a:solidFill>
                <a:latin typeface="Georgia" pitchFamily="34" charset="0"/>
                <a:ea typeface="Georgia" pitchFamily="34" charset="-122"/>
                <a:cs typeface="Georgia" pitchFamily="34" charset="-120"/>
              </a:rPr>
              <a:t>"</a:t>
            </a:r>
            <a:endParaRPr lang="en-US" sz="4800" dirty="0"/>
          </a:p>
        </p:txBody>
      </p:sp>
      <p:sp>
        <p:nvSpPr>
          <p:cNvPr id="4" name="Text 2"/>
          <p:cNvSpPr/>
          <p:nvPr/>
        </p:nvSpPr>
        <p:spPr>
          <a:xfrm>
            <a:off x="457200" y="2030611"/>
            <a:ext cx="3654546" cy="857250"/>
          </a:xfrm>
          <a:prstGeom prst="rect">
            <a:avLst/>
          </a:prstGeom>
          <a:noFill/>
          <a:ln/>
        </p:spPr>
        <p:txBody>
          <a:bodyPr wrap="square" lIns="0" tIns="0" rIns="0" bIns="0" rtlCol="0" anchor="t"/>
          <a:lstStyle/>
          <a:p>
            <a:pPr marL="0" indent="0" algn="l">
              <a:lnSpc>
                <a:spcPts val="2250"/>
              </a:lnSpc>
              <a:spcAft>
                <a:spcPts val="1800"/>
              </a:spcAft>
              <a:buNone/>
            </a:pPr>
            <a:r>
              <a:rPr lang="en-US" sz="1500" i="1" dirty="0">
                <a:solidFill>
                  <a:srgbClr val="FFFFFF"/>
                </a:solidFill>
                <a:latin typeface="Georgia" pitchFamily="34" charset="0"/>
                <a:ea typeface="Georgia" pitchFamily="34" charset="-122"/>
                <a:cs typeface="Georgia" pitchFamily="34" charset="-120"/>
              </a:rPr>
              <a:t>Claude Code is uniquely suited for voice workflows because it operates at the task level, not the keystroke level.</a:t>
            </a:r>
            <a:endParaRPr lang="en-US" sz="1500" dirty="0"/>
          </a:p>
        </p:txBody>
      </p:sp>
      <p:sp>
        <p:nvSpPr>
          <p:cNvPr id="5" name="Text 3"/>
          <p:cNvSpPr/>
          <p:nvPr/>
        </p:nvSpPr>
        <p:spPr>
          <a:xfrm>
            <a:off x="457200" y="3268861"/>
            <a:ext cx="4572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457200" y="3592711"/>
            <a:ext cx="3654546"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50000"/>
                  </a:srgbClr>
                </a:solidFill>
                <a:latin typeface="Arial" pitchFamily="34" charset="0"/>
                <a:ea typeface="Arial" pitchFamily="34" charset="-122"/>
                <a:cs typeface="Arial" pitchFamily="34" charset="-120"/>
              </a:rPr>
              <a:t>Voice-Driven Development Principle</a:t>
            </a:r>
            <a:endParaRPr lang="en-US" sz="900" dirty="0"/>
          </a:p>
        </p:txBody>
      </p:sp>
      <p:sp>
        <p:nvSpPr>
          <p:cNvPr id="7" name="Text 5"/>
          <p:cNvSpPr/>
          <p:nvPr/>
        </p:nvSpPr>
        <p:spPr>
          <a:xfrm>
            <a:off x="4649688" y="0"/>
            <a:ext cx="4494312"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5030688" y="276374"/>
            <a:ext cx="3806958"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WHY IT WORKS</a:t>
            </a:r>
            <a:endParaRPr lang="en-US" sz="825" dirty="0"/>
          </a:p>
        </p:txBody>
      </p:sp>
      <p:sp>
        <p:nvSpPr>
          <p:cNvPr id="9" name="Text 7"/>
          <p:cNvSpPr/>
          <p:nvPr/>
        </p:nvSpPr>
        <p:spPr>
          <a:xfrm>
            <a:off x="5030688" y="727770"/>
            <a:ext cx="1991677" cy="253901"/>
          </a:xfrm>
          <a:prstGeom prst="rect">
            <a:avLst/>
          </a:prstGeom>
          <a:noFill/>
          <a:ln/>
        </p:spPr>
        <p:txBody>
          <a:bodyPr wrap="square" lIns="0" tIns="0" rIns="0" bIns="0" rtlCol="0" anchor="t"/>
          <a:lstStyle/>
          <a:p>
            <a:pPr marL="0" indent="0" algn="l">
              <a:lnSpc>
                <a:spcPts val="2000"/>
              </a:lnSpc>
              <a:spcAft>
                <a:spcPts val="1800"/>
              </a:spcAft>
              <a:buNone/>
            </a:pPr>
            <a:r>
              <a:rPr lang="en-US" sz="1800" dirty="0">
                <a:solidFill>
                  <a:srgbClr val="1A1F2E"/>
                </a:solidFill>
                <a:latin typeface="Georgia" pitchFamily="34" charset="0"/>
                <a:ea typeface="Georgia" pitchFamily="34" charset="-122"/>
                <a:cs typeface="Georgia" pitchFamily="34" charset="-120"/>
              </a:rPr>
              <a:t>Voice + Claude Code</a:t>
            </a:r>
            <a:endParaRPr lang="en-US" sz="1800" dirty="0"/>
          </a:p>
        </p:txBody>
      </p:sp>
      <p:sp>
        <p:nvSpPr>
          <p:cNvPr id="10" name="Text 8"/>
          <p:cNvSpPr/>
          <p:nvPr/>
        </p:nvSpPr>
        <p:spPr>
          <a:xfrm>
            <a:off x="5030688" y="1362670"/>
            <a:ext cx="3732312" cy="676126"/>
          </a:xfrm>
          <a:prstGeom prst="rect">
            <a:avLst/>
          </a:prstGeom>
          <a:solidFill>
            <a:srgbClr val="FFFFFF"/>
          </a:solidFill>
          <a:ln/>
        </p:spPr>
        <p:txBody>
          <a:bodyPr wrap="square" rtlCol="0" anchor="ctr"/>
          <a:lstStyle/>
          <a:p>
            <a:pPr marL="0" indent="0">
              <a:buNone/>
            </a:pPr>
            <a:endParaRPr lang="en-US" dirty="0"/>
          </a:p>
        </p:txBody>
      </p:sp>
      <p:sp>
        <p:nvSpPr>
          <p:cNvPr id="11" name="Shape 9"/>
          <p:cNvSpPr/>
          <p:nvPr/>
        </p:nvSpPr>
        <p:spPr>
          <a:xfrm>
            <a:off x="5049738" y="1362670"/>
            <a:ext cx="0" cy="676126"/>
          </a:xfrm>
          <a:prstGeom prst="line">
            <a:avLst/>
          </a:prstGeom>
          <a:noFill/>
          <a:ln w="38100">
            <a:solidFill>
              <a:srgbClr val="C9A227"/>
            </a:solidFill>
            <a:prstDash val="solid"/>
          </a:ln>
        </p:spPr>
        <p:txBody>
          <a:bodyPr/>
          <a:lstStyle/>
          <a:p>
            <a:endParaRPr lang="en-US"/>
          </a:p>
        </p:txBody>
      </p:sp>
      <p:sp>
        <p:nvSpPr>
          <p:cNvPr id="12" name="Text 10"/>
          <p:cNvSpPr/>
          <p:nvPr/>
        </p:nvSpPr>
        <p:spPr>
          <a:xfrm>
            <a:off x="5221188" y="1515070"/>
            <a:ext cx="34572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High-Level Commands</a:t>
            </a:r>
            <a:endParaRPr lang="en-US" sz="975" dirty="0"/>
          </a:p>
        </p:txBody>
      </p:sp>
      <p:sp>
        <p:nvSpPr>
          <p:cNvPr id="13" name="Text 11"/>
          <p:cNvSpPr/>
          <p:nvPr/>
        </p:nvSpPr>
        <p:spPr>
          <a:xfrm>
            <a:off x="5221188" y="1726406"/>
            <a:ext cx="3457200" cy="159990"/>
          </a:xfrm>
          <a:prstGeom prst="rect">
            <a:avLst/>
          </a:prstGeom>
          <a:noFill/>
          <a:ln/>
        </p:spPr>
        <p:txBody>
          <a:bodyPr wrap="square" lIns="0" tIns="0" rIns="0" bIns="0" rtlCol="0" anchor="t"/>
          <a:lstStyle/>
          <a:p>
            <a:pPr marL="0" indent="0" algn="l">
              <a:lnSpc>
                <a:spcPts val="1260"/>
              </a:lnSpc>
              <a:buNone/>
            </a:pPr>
            <a:r>
              <a:rPr lang="en-US" sz="900" dirty="0">
                <a:solidFill>
                  <a:srgbClr val="6B7280"/>
                </a:solidFill>
                <a:latin typeface="Arial" pitchFamily="34" charset="0"/>
                <a:ea typeface="Arial" pitchFamily="34" charset="-122"/>
                <a:cs typeface="Arial" pitchFamily="34" charset="-120"/>
              </a:rPr>
              <a:t>"Add error handling to all API calls"</a:t>
            </a:r>
            <a:endParaRPr lang="en-US" sz="900" dirty="0"/>
          </a:p>
        </p:txBody>
      </p:sp>
      <p:sp>
        <p:nvSpPr>
          <p:cNvPr id="14" name="Text 12"/>
          <p:cNvSpPr/>
          <p:nvPr/>
        </p:nvSpPr>
        <p:spPr>
          <a:xfrm>
            <a:off x="5030688" y="2305496"/>
            <a:ext cx="3732312" cy="676126"/>
          </a:xfrm>
          <a:prstGeom prst="rect">
            <a:avLst/>
          </a:prstGeom>
          <a:solidFill>
            <a:srgbClr val="FFFFFF"/>
          </a:solidFill>
          <a:ln/>
        </p:spPr>
        <p:txBody>
          <a:bodyPr wrap="square" rtlCol="0" anchor="ctr"/>
          <a:lstStyle/>
          <a:p>
            <a:pPr marL="0" indent="0">
              <a:buNone/>
            </a:pPr>
            <a:endParaRPr lang="en-US" dirty="0"/>
          </a:p>
        </p:txBody>
      </p:sp>
      <p:sp>
        <p:nvSpPr>
          <p:cNvPr id="15" name="Shape 13"/>
          <p:cNvSpPr/>
          <p:nvPr/>
        </p:nvSpPr>
        <p:spPr>
          <a:xfrm>
            <a:off x="5049738" y="2305496"/>
            <a:ext cx="0" cy="676126"/>
          </a:xfrm>
          <a:prstGeom prst="line">
            <a:avLst/>
          </a:prstGeom>
          <a:noFill/>
          <a:ln w="38100">
            <a:solidFill>
              <a:srgbClr val="C9A227"/>
            </a:solidFill>
            <a:prstDash val="solid"/>
          </a:ln>
        </p:spPr>
        <p:txBody>
          <a:bodyPr/>
          <a:lstStyle/>
          <a:p>
            <a:endParaRPr lang="en-US"/>
          </a:p>
        </p:txBody>
      </p:sp>
      <p:sp>
        <p:nvSpPr>
          <p:cNvPr id="16" name="Text 14"/>
          <p:cNvSpPr/>
          <p:nvPr/>
        </p:nvSpPr>
        <p:spPr>
          <a:xfrm>
            <a:off x="5221188" y="2457896"/>
            <a:ext cx="34572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Context Aware</a:t>
            </a:r>
            <a:endParaRPr lang="en-US" sz="975" dirty="0"/>
          </a:p>
        </p:txBody>
      </p:sp>
      <p:sp>
        <p:nvSpPr>
          <p:cNvPr id="17" name="Text 15"/>
          <p:cNvSpPr/>
          <p:nvPr/>
        </p:nvSpPr>
        <p:spPr>
          <a:xfrm>
            <a:off x="5221188" y="2669232"/>
            <a:ext cx="3457200" cy="159990"/>
          </a:xfrm>
          <a:prstGeom prst="rect">
            <a:avLst/>
          </a:prstGeom>
          <a:noFill/>
          <a:ln/>
        </p:spPr>
        <p:txBody>
          <a:bodyPr wrap="square" lIns="0" tIns="0" rIns="0" bIns="0" rtlCol="0" anchor="t"/>
          <a:lstStyle/>
          <a:p>
            <a:pPr marL="0" indent="0" algn="l">
              <a:lnSpc>
                <a:spcPts val="1260"/>
              </a:lnSpc>
              <a:buNone/>
            </a:pPr>
            <a:r>
              <a:rPr lang="en-US" sz="900" dirty="0">
                <a:solidFill>
                  <a:srgbClr val="6B7280"/>
                </a:solidFill>
                <a:latin typeface="Arial" pitchFamily="34" charset="0"/>
                <a:ea typeface="Arial" pitchFamily="34" charset="-122"/>
                <a:cs typeface="Arial" pitchFamily="34" charset="-120"/>
              </a:rPr>
              <a:t>Understands your entire codebase structure</a:t>
            </a:r>
            <a:endParaRPr lang="en-US" sz="900" dirty="0"/>
          </a:p>
        </p:txBody>
      </p:sp>
      <p:sp>
        <p:nvSpPr>
          <p:cNvPr id="18" name="Text 16"/>
          <p:cNvSpPr/>
          <p:nvPr/>
        </p:nvSpPr>
        <p:spPr>
          <a:xfrm>
            <a:off x="5030688" y="3248323"/>
            <a:ext cx="3732312" cy="676126"/>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5049738" y="3248323"/>
            <a:ext cx="0" cy="676126"/>
          </a:xfrm>
          <a:prstGeom prst="line">
            <a:avLst/>
          </a:prstGeom>
          <a:noFill/>
          <a:ln w="38100">
            <a:solidFill>
              <a:srgbClr val="C9A227"/>
            </a:solidFill>
            <a:prstDash val="solid"/>
          </a:ln>
        </p:spPr>
        <p:txBody>
          <a:bodyPr/>
          <a:lstStyle/>
          <a:p>
            <a:endParaRPr lang="en-US"/>
          </a:p>
        </p:txBody>
      </p:sp>
      <p:sp>
        <p:nvSpPr>
          <p:cNvPr id="20" name="Text 18"/>
          <p:cNvSpPr/>
          <p:nvPr/>
        </p:nvSpPr>
        <p:spPr>
          <a:xfrm>
            <a:off x="5221188" y="3400723"/>
            <a:ext cx="34572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Autonomous Execution</a:t>
            </a:r>
            <a:endParaRPr lang="en-US" sz="975" dirty="0"/>
          </a:p>
        </p:txBody>
      </p:sp>
      <p:sp>
        <p:nvSpPr>
          <p:cNvPr id="21" name="Text 19"/>
          <p:cNvSpPr/>
          <p:nvPr/>
        </p:nvSpPr>
        <p:spPr>
          <a:xfrm>
            <a:off x="5221188" y="3612059"/>
            <a:ext cx="3457200" cy="159990"/>
          </a:xfrm>
          <a:prstGeom prst="rect">
            <a:avLst/>
          </a:prstGeom>
          <a:noFill/>
          <a:ln/>
        </p:spPr>
        <p:txBody>
          <a:bodyPr wrap="square" lIns="0" tIns="0" rIns="0" bIns="0" rtlCol="0" anchor="t"/>
          <a:lstStyle/>
          <a:p>
            <a:pPr marL="0" indent="0" algn="l">
              <a:lnSpc>
                <a:spcPts val="1260"/>
              </a:lnSpc>
              <a:buNone/>
            </a:pPr>
            <a:r>
              <a:rPr lang="en-US" sz="900" dirty="0">
                <a:solidFill>
                  <a:srgbClr val="6B7280"/>
                </a:solidFill>
                <a:latin typeface="Arial" pitchFamily="34" charset="0"/>
                <a:ea typeface="Arial" pitchFamily="34" charset="-122"/>
                <a:cs typeface="Arial" pitchFamily="34" charset="-120"/>
              </a:rPr>
              <a:t>Creates, edits, and tests without micro-management</a:t>
            </a:r>
            <a:endParaRPr lang="en-US" sz="900" dirty="0"/>
          </a:p>
        </p:txBody>
      </p:sp>
      <p:sp>
        <p:nvSpPr>
          <p:cNvPr id="22" name="Text 20"/>
          <p:cNvSpPr/>
          <p:nvPr/>
        </p:nvSpPr>
        <p:spPr>
          <a:xfrm>
            <a:off x="5030688" y="4191149"/>
            <a:ext cx="3732312" cy="676126"/>
          </a:xfrm>
          <a:prstGeom prst="rect">
            <a:avLst/>
          </a:prstGeom>
          <a:solidFill>
            <a:srgbClr val="FFFFFF"/>
          </a:solidFill>
          <a:ln/>
        </p:spPr>
        <p:txBody>
          <a:bodyPr wrap="square" rtlCol="0" anchor="ctr"/>
          <a:lstStyle/>
          <a:p>
            <a:pPr marL="0" indent="0">
              <a:buNone/>
            </a:pPr>
            <a:endParaRPr lang="en-US" dirty="0"/>
          </a:p>
        </p:txBody>
      </p:sp>
      <p:sp>
        <p:nvSpPr>
          <p:cNvPr id="23" name="Shape 21"/>
          <p:cNvSpPr/>
          <p:nvPr/>
        </p:nvSpPr>
        <p:spPr>
          <a:xfrm>
            <a:off x="5049738" y="4191149"/>
            <a:ext cx="0" cy="676126"/>
          </a:xfrm>
          <a:prstGeom prst="line">
            <a:avLst/>
          </a:prstGeom>
          <a:noFill/>
          <a:ln w="38100">
            <a:solidFill>
              <a:srgbClr val="C9A227"/>
            </a:solidFill>
            <a:prstDash val="solid"/>
          </a:ln>
        </p:spPr>
        <p:txBody>
          <a:bodyPr/>
          <a:lstStyle/>
          <a:p>
            <a:endParaRPr lang="en-US"/>
          </a:p>
        </p:txBody>
      </p:sp>
      <p:sp>
        <p:nvSpPr>
          <p:cNvPr id="24" name="Text 22"/>
          <p:cNvSpPr/>
          <p:nvPr/>
        </p:nvSpPr>
        <p:spPr>
          <a:xfrm>
            <a:off x="5221188" y="4343549"/>
            <a:ext cx="3457200"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Iterative Refinement</a:t>
            </a:r>
            <a:endParaRPr lang="en-US" sz="975" dirty="0"/>
          </a:p>
        </p:txBody>
      </p:sp>
      <p:sp>
        <p:nvSpPr>
          <p:cNvPr id="25" name="Text 23"/>
          <p:cNvSpPr/>
          <p:nvPr/>
        </p:nvSpPr>
        <p:spPr>
          <a:xfrm>
            <a:off x="5221188" y="4554885"/>
            <a:ext cx="3457200" cy="159990"/>
          </a:xfrm>
          <a:prstGeom prst="rect">
            <a:avLst/>
          </a:prstGeom>
          <a:noFill/>
          <a:ln/>
        </p:spPr>
        <p:txBody>
          <a:bodyPr wrap="square" lIns="0" tIns="0" rIns="0" bIns="0" rtlCol="0" anchor="t"/>
          <a:lstStyle/>
          <a:p>
            <a:pPr marL="0" indent="0" algn="l">
              <a:lnSpc>
                <a:spcPts val="1260"/>
              </a:lnSpc>
              <a:buNone/>
            </a:pPr>
            <a:r>
              <a:rPr lang="en-US" sz="900" dirty="0">
                <a:solidFill>
                  <a:srgbClr val="6B7280"/>
                </a:solidFill>
                <a:latin typeface="Arial" pitchFamily="34" charset="0"/>
                <a:ea typeface="Arial" pitchFamily="34" charset="-122"/>
                <a:cs typeface="Arial" pitchFamily="34" charset="-120"/>
              </a:rPr>
              <a:t>"Actually, make that a dropdown instead"</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IDE INTEGRATION</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VS Code AI Extensions</a:t>
            </a:r>
            <a:endParaRPr lang="en-US" sz="2400" dirty="0"/>
          </a:p>
        </p:txBody>
      </p:sp>
      <p:sp>
        <p:nvSpPr>
          <p:cNvPr id="4" name="Text 2"/>
          <p:cNvSpPr/>
          <p:nvPr/>
        </p:nvSpPr>
        <p:spPr>
          <a:xfrm>
            <a:off x="457200" y="1462534"/>
            <a:ext cx="2641550" cy="3050828"/>
          </a:xfrm>
          <a:prstGeom prst="rect">
            <a:avLst/>
          </a:prstGeom>
          <a:solidFill>
            <a:srgbClr val="FFFFFF"/>
          </a:solidFill>
          <a:ln/>
        </p:spPr>
        <p:txBody>
          <a:bodyPr wrap="square" rtlCol="0" anchor="ctr"/>
          <a:lstStyle/>
          <a:p>
            <a:pPr marL="0" indent="0">
              <a:buNone/>
            </a:pPr>
            <a:endParaRPr lang="en-US" dirty="0"/>
          </a:p>
        </p:txBody>
      </p:sp>
      <p:sp>
        <p:nvSpPr>
          <p:cNvPr id="5" name="Shape 3"/>
          <p:cNvSpPr/>
          <p:nvPr/>
        </p:nvSpPr>
        <p:spPr>
          <a:xfrm>
            <a:off x="476250" y="1462534"/>
            <a:ext cx="0" cy="3050828"/>
          </a:xfrm>
          <a:prstGeom prst="line">
            <a:avLst/>
          </a:prstGeom>
          <a:noFill/>
          <a:ln w="38100">
            <a:solidFill>
              <a:srgbClr val="C9A227"/>
            </a:solidFill>
            <a:prstDash val="solid"/>
          </a:ln>
        </p:spPr>
        <p:txBody>
          <a:bodyPr/>
          <a:lstStyle/>
          <a:p>
            <a:endParaRPr lang="en-US"/>
          </a:p>
        </p:txBody>
      </p:sp>
      <p:sp>
        <p:nvSpPr>
          <p:cNvPr id="6" name="Text 4"/>
          <p:cNvSpPr/>
          <p:nvPr/>
        </p:nvSpPr>
        <p:spPr>
          <a:xfrm>
            <a:off x="685800" y="1653034"/>
            <a:ext cx="2266899" cy="213271"/>
          </a:xfrm>
          <a:prstGeom prst="rect">
            <a:avLst/>
          </a:prstGeom>
          <a:noFill/>
          <a:ln/>
        </p:spPr>
        <p:txBody>
          <a:bodyPr wrap="square" lIns="0" tIns="0" rIns="0" bIns="0" rtlCol="0" anchor="t"/>
          <a:lstStyle/>
          <a:p>
            <a:pPr marL="0" indent="0" algn="l">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Continue.dev</a:t>
            </a:r>
            <a:endParaRPr lang="en-US" sz="1200" dirty="0"/>
          </a:p>
        </p:txBody>
      </p:sp>
      <p:sp>
        <p:nvSpPr>
          <p:cNvPr id="7" name="Text 5"/>
          <p:cNvSpPr/>
          <p:nvPr/>
        </p:nvSpPr>
        <p:spPr>
          <a:xfrm>
            <a:off x="685800" y="2094905"/>
            <a:ext cx="2266899" cy="365522"/>
          </a:xfrm>
          <a:prstGeom prst="rect">
            <a:avLst/>
          </a:prstGeom>
          <a:noFill/>
          <a:ln/>
        </p:spPr>
        <p:txBody>
          <a:bodyPr wrap="square" lIns="0" tIns="0" rIns="0" bIns="0" rtlCol="0" anchor="t"/>
          <a:lstStyle/>
          <a:p>
            <a:pPr marL="0" indent="0" algn="l">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Open-source AI assistant that works with any model provider</a:t>
            </a:r>
            <a:endParaRPr lang="en-US" sz="900" dirty="0"/>
          </a:p>
        </p:txBody>
      </p:sp>
      <p:sp>
        <p:nvSpPr>
          <p:cNvPr id="8" name="Text 6"/>
          <p:cNvSpPr/>
          <p:nvPr/>
        </p:nvSpPr>
        <p:spPr>
          <a:xfrm>
            <a:off x="685800" y="2765227"/>
            <a:ext cx="2222450" cy="1144339"/>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800100" y="2879527"/>
            <a:ext cx="203372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0" name="Text 8"/>
          <p:cNvSpPr/>
          <p:nvPr/>
        </p:nvSpPr>
        <p:spPr>
          <a:xfrm>
            <a:off x="800100" y="3083272"/>
            <a:ext cx="2033727"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Tab autocomplete</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Inline editing</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Chat sidebar</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Custom context</a:t>
            </a:r>
            <a:endParaRPr lang="en-US" sz="825" dirty="0"/>
          </a:p>
        </p:txBody>
      </p:sp>
      <p:sp>
        <p:nvSpPr>
          <p:cNvPr id="11" name="Text 9"/>
          <p:cNvSpPr/>
          <p:nvPr/>
        </p:nvSpPr>
        <p:spPr>
          <a:xfrm>
            <a:off x="685800" y="4176266"/>
            <a:ext cx="2266899" cy="146596"/>
          </a:xfrm>
          <a:prstGeom prst="rect">
            <a:avLst/>
          </a:prstGeom>
          <a:noFill/>
          <a:ln/>
        </p:spPr>
        <p:txBody>
          <a:bodyPr wrap="square" lIns="0" tIns="0" rIns="0" bIns="0" rtlCol="0" anchor="t"/>
          <a:lstStyle/>
          <a:p>
            <a:pPr marL="0" indent="0" algn="l">
              <a:lnSpc>
                <a:spcPts val="1155"/>
              </a:lnSpc>
              <a:buNone/>
            </a:pPr>
            <a:r>
              <a:rPr lang="en-US" sz="825" b="1" dirty="0">
                <a:solidFill>
                  <a:srgbClr val="059669"/>
                </a:solidFill>
                <a:latin typeface="Arial" pitchFamily="34" charset="0"/>
                <a:ea typeface="Arial" pitchFamily="34" charset="-122"/>
                <a:cs typeface="Arial" pitchFamily="34" charset="-120"/>
              </a:rPr>
              <a:t>Supports Azure OpenAI</a:t>
            </a:r>
            <a:endParaRPr lang="en-US" sz="825" dirty="0"/>
          </a:p>
        </p:txBody>
      </p:sp>
      <p:sp>
        <p:nvSpPr>
          <p:cNvPr id="12" name="Text 10"/>
          <p:cNvSpPr/>
          <p:nvPr/>
        </p:nvSpPr>
        <p:spPr>
          <a:xfrm>
            <a:off x="3251150" y="1462534"/>
            <a:ext cx="2641550" cy="3050828"/>
          </a:xfrm>
          <a:prstGeom prst="rect">
            <a:avLst/>
          </a:prstGeom>
          <a:solidFill>
            <a:srgbClr val="FFFFFF"/>
          </a:solidFill>
          <a:ln/>
        </p:spPr>
        <p:txBody>
          <a:bodyPr wrap="square" rtlCol="0" anchor="ctr"/>
          <a:lstStyle/>
          <a:p>
            <a:pPr marL="0" indent="0">
              <a:buNone/>
            </a:pPr>
            <a:endParaRPr lang="en-US" dirty="0"/>
          </a:p>
        </p:txBody>
      </p:sp>
      <p:sp>
        <p:nvSpPr>
          <p:cNvPr id="13" name="Shape 11"/>
          <p:cNvSpPr/>
          <p:nvPr/>
        </p:nvSpPr>
        <p:spPr>
          <a:xfrm>
            <a:off x="3270200" y="1462534"/>
            <a:ext cx="0" cy="3050828"/>
          </a:xfrm>
          <a:prstGeom prst="line">
            <a:avLst/>
          </a:prstGeom>
          <a:noFill/>
          <a:ln w="38100">
            <a:solidFill>
              <a:srgbClr val="C9A227"/>
            </a:solidFill>
            <a:prstDash val="solid"/>
          </a:ln>
        </p:spPr>
        <p:txBody>
          <a:bodyPr/>
          <a:lstStyle/>
          <a:p>
            <a:endParaRPr lang="en-US"/>
          </a:p>
        </p:txBody>
      </p:sp>
      <p:sp>
        <p:nvSpPr>
          <p:cNvPr id="14" name="Text 12"/>
          <p:cNvSpPr/>
          <p:nvPr/>
        </p:nvSpPr>
        <p:spPr>
          <a:xfrm>
            <a:off x="3479750" y="1653034"/>
            <a:ext cx="2266899" cy="213271"/>
          </a:xfrm>
          <a:prstGeom prst="rect">
            <a:avLst/>
          </a:prstGeom>
          <a:noFill/>
          <a:ln/>
        </p:spPr>
        <p:txBody>
          <a:bodyPr wrap="square" lIns="0" tIns="0" rIns="0" bIns="0" rtlCol="0" anchor="t"/>
          <a:lstStyle/>
          <a:p>
            <a:pPr marL="0" indent="0" algn="l">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GitHub Copilot</a:t>
            </a:r>
            <a:endParaRPr lang="en-US" sz="1200" dirty="0"/>
          </a:p>
        </p:txBody>
      </p:sp>
      <p:sp>
        <p:nvSpPr>
          <p:cNvPr id="15" name="Text 13"/>
          <p:cNvSpPr/>
          <p:nvPr/>
        </p:nvSpPr>
        <p:spPr>
          <a:xfrm>
            <a:off x="3479750" y="2094905"/>
            <a:ext cx="2266899" cy="365522"/>
          </a:xfrm>
          <a:prstGeom prst="rect">
            <a:avLst/>
          </a:prstGeom>
          <a:noFill/>
          <a:ln/>
        </p:spPr>
        <p:txBody>
          <a:bodyPr wrap="square" lIns="0" tIns="0" rIns="0" bIns="0" rtlCol="0" anchor="t"/>
          <a:lstStyle/>
          <a:p>
            <a:pPr marL="0" indent="0" algn="l">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Microsoft's AI pair programmer with deep VS Code integration</a:t>
            </a:r>
            <a:endParaRPr lang="en-US" sz="900" dirty="0"/>
          </a:p>
        </p:txBody>
      </p:sp>
      <p:sp>
        <p:nvSpPr>
          <p:cNvPr id="16" name="Text 14"/>
          <p:cNvSpPr/>
          <p:nvPr/>
        </p:nvSpPr>
        <p:spPr>
          <a:xfrm>
            <a:off x="3479750" y="2765227"/>
            <a:ext cx="2222450" cy="1144339"/>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594050" y="2879527"/>
            <a:ext cx="203372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18" name="Text 16"/>
          <p:cNvSpPr/>
          <p:nvPr/>
        </p:nvSpPr>
        <p:spPr>
          <a:xfrm>
            <a:off x="3594050" y="3083272"/>
            <a:ext cx="2033727"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Ghost text suggestions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Copilot Chat</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Slash commands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Workspace Q&amp;A</a:t>
            </a:r>
            <a:endParaRPr lang="en-US" sz="825" dirty="0"/>
          </a:p>
        </p:txBody>
      </p:sp>
      <p:sp>
        <p:nvSpPr>
          <p:cNvPr id="19" name="Text 17"/>
          <p:cNvSpPr/>
          <p:nvPr/>
        </p:nvSpPr>
        <p:spPr>
          <a:xfrm>
            <a:off x="3479750" y="4176266"/>
            <a:ext cx="2266899" cy="146596"/>
          </a:xfrm>
          <a:prstGeom prst="rect">
            <a:avLst/>
          </a:prstGeom>
          <a:noFill/>
          <a:ln/>
        </p:spPr>
        <p:txBody>
          <a:bodyPr wrap="square" lIns="0" tIns="0" rIns="0" bIns="0" rtlCol="0" anchor="t"/>
          <a:lstStyle/>
          <a:p>
            <a:pPr marL="0" indent="0" algn="l">
              <a:lnSpc>
                <a:spcPts val="1155"/>
              </a:lnSpc>
              <a:buNone/>
            </a:pPr>
            <a:r>
              <a:rPr lang="en-US" sz="825" b="1" dirty="0">
                <a:solidFill>
                  <a:srgbClr val="F59E0B"/>
                </a:solidFill>
                <a:latin typeface="Arial" pitchFamily="34" charset="0"/>
                <a:ea typeface="Arial" pitchFamily="34" charset="-122"/>
                <a:cs typeface="Arial" pitchFamily="34" charset="-120"/>
              </a:rPr>
              <a:t>Requires subscription</a:t>
            </a:r>
            <a:endParaRPr lang="en-US" sz="825" dirty="0"/>
          </a:p>
        </p:txBody>
      </p:sp>
      <p:sp>
        <p:nvSpPr>
          <p:cNvPr id="20" name="Text 18"/>
          <p:cNvSpPr/>
          <p:nvPr/>
        </p:nvSpPr>
        <p:spPr>
          <a:xfrm>
            <a:off x="6045101" y="1462534"/>
            <a:ext cx="2641550" cy="3050828"/>
          </a:xfrm>
          <a:prstGeom prst="rect">
            <a:avLst/>
          </a:prstGeom>
          <a:solidFill>
            <a:srgbClr val="FFFFFF"/>
          </a:solidFill>
          <a:ln/>
        </p:spPr>
        <p:txBody>
          <a:bodyPr wrap="square" rtlCol="0" anchor="ctr"/>
          <a:lstStyle/>
          <a:p>
            <a:pPr marL="0" indent="0">
              <a:buNone/>
            </a:pPr>
            <a:endParaRPr lang="en-US" dirty="0"/>
          </a:p>
        </p:txBody>
      </p:sp>
      <p:sp>
        <p:nvSpPr>
          <p:cNvPr id="21" name="Shape 19"/>
          <p:cNvSpPr/>
          <p:nvPr/>
        </p:nvSpPr>
        <p:spPr>
          <a:xfrm>
            <a:off x="6064151" y="1462534"/>
            <a:ext cx="0" cy="3050828"/>
          </a:xfrm>
          <a:prstGeom prst="line">
            <a:avLst/>
          </a:prstGeom>
          <a:noFill/>
          <a:ln w="38100">
            <a:solidFill>
              <a:srgbClr val="C9A227"/>
            </a:solidFill>
            <a:prstDash val="solid"/>
          </a:ln>
        </p:spPr>
        <p:txBody>
          <a:bodyPr/>
          <a:lstStyle/>
          <a:p>
            <a:endParaRPr lang="en-US"/>
          </a:p>
        </p:txBody>
      </p:sp>
      <p:sp>
        <p:nvSpPr>
          <p:cNvPr id="22" name="Text 20"/>
          <p:cNvSpPr/>
          <p:nvPr/>
        </p:nvSpPr>
        <p:spPr>
          <a:xfrm>
            <a:off x="6273701" y="1653034"/>
            <a:ext cx="2266899" cy="213271"/>
          </a:xfrm>
          <a:prstGeom prst="rect">
            <a:avLst/>
          </a:prstGeom>
          <a:noFill/>
          <a:ln/>
        </p:spPr>
        <p:txBody>
          <a:bodyPr wrap="square" lIns="0" tIns="0" rIns="0" bIns="0" rtlCol="0" anchor="t"/>
          <a:lstStyle/>
          <a:p>
            <a:pPr marL="0" indent="0" algn="l">
              <a:lnSpc>
                <a:spcPts val="1680"/>
              </a:lnSpc>
              <a:spcAft>
                <a:spcPts val="600"/>
              </a:spcAft>
              <a:buNone/>
            </a:pPr>
            <a:r>
              <a:rPr lang="en-US" sz="1200" b="1" dirty="0">
                <a:solidFill>
                  <a:srgbClr val="1A1F2E"/>
                </a:solidFill>
                <a:latin typeface="Georgia" pitchFamily="34" charset="0"/>
                <a:ea typeface="Georgia" pitchFamily="34" charset="-122"/>
                <a:cs typeface="Georgia" pitchFamily="34" charset="-120"/>
              </a:rPr>
              <a:t>Cody (Sourcegraph)</a:t>
            </a:r>
            <a:endParaRPr lang="en-US" sz="1200" dirty="0"/>
          </a:p>
        </p:txBody>
      </p:sp>
      <p:sp>
        <p:nvSpPr>
          <p:cNvPr id="23" name="Text 21"/>
          <p:cNvSpPr/>
          <p:nvPr/>
        </p:nvSpPr>
        <p:spPr>
          <a:xfrm>
            <a:off x="6273701" y="2094905"/>
            <a:ext cx="2266899" cy="365522"/>
          </a:xfrm>
          <a:prstGeom prst="rect">
            <a:avLst/>
          </a:prstGeom>
          <a:noFill/>
          <a:ln/>
        </p:spPr>
        <p:txBody>
          <a:bodyPr wrap="square" lIns="0" tIns="0" rIns="0" bIns="0" rtlCol="0" anchor="t"/>
          <a:lstStyle/>
          <a:p>
            <a:pPr marL="0" indent="0" algn="l">
              <a:lnSpc>
                <a:spcPts val="1440"/>
              </a:lnSpc>
              <a:spcAft>
                <a:spcPts val="1200"/>
              </a:spcAft>
              <a:buNone/>
            </a:pPr>
            <a:r>
              <a:rPr lang="en-US" sz="900" dirty="0">
                <a:solidFill>
                  <a:srgbClr val="6B7280"/>
                </a:solidFill>
                <a:latin typeface="Arial" pitchFamily="34" charset="0"/>
                <a:ea typeface="Arial" pitchFamily="34" charset="-122"/>
                <a:cs typeface="Arial" pitchFamily="34" charset="-120"/>
              </a:rPr>
              <a:t>Enterprise-focused with advanced code search</a:t>
            </a:r>
            <a:endParaRPr lang="en-US" sz="900" dirty="0"/>
          </a:p>
        </p:txBody>
      </p:sp>
      <p:sp>
        <p:nvSpPr>
          <p:cNvPr id="24" name="Text 22"/>
          <p:cNvSpPr/>
          <p:nvPr/>
        </p:nvSpPr>
        <p:spPr>
          <a:xfrm>
            <a:off x="6273701" y="2765227"/>
            <a:ext cx="2222450" cy="1144339"/>
          </a:xfrm>
          <a:prstGeom prst="rect">
            <a:avLst/>
          </a:prstGeom>
          <a:solidFill>
            <a:srgbClr val="F7F8FA"/>
          </a:solidFill>
          <a:ln/>
        </p:spPr>
        <p:txBody>
          <a:bodyPr wrap="square" rtlCol="0" anchor="ctr"/>
          <a:lstStyle/>
          <a:p>
            <a:pPr marL="0" indent="0">
              <a:buNone/>
            </a:pPr>
            <a:endParaRPr lang="en-US" dirty="0"/>
          </a:p>
        </p:txBody>
      </p:sp>
      <p:sp>
        <p:nvSpPr>
          <p:cNvPr id="25" name="Text 23"/>
          <p:cNvSpPr/>
          <p:nvPr/>
        </p:nvSpPr>
        <p:spPr>
          <a:xfrm>
            <a:off x="6388001" y="2879527"/>
            <a:ext cx="203372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Features</a:t>
            </a:r>
            <a:endParaRPr lang="en-US" sz="825" dirty="0"/>
          </a:p>
        </p:txBody>
      </p:sp>
      <p:sp>
        <p:nvSpPr>
          <p:cNvPr id="26" name="Text 24"/>
          <p:cNvSpPr/>
          <p:nvPr/>
        </p:nvSpPr>
        <p:spPr>
          <a:xfrm>
            <a:off x="6388001" y="3083272"/>
            <a:ext cx="2033727" cy="711994"/>
          </a:xfrm>
          <a:prstGeom prst="rect">
            <a:avLst/>
          </a:prstGeom>
          <a:noFill/>
          <a:ln/>
        </p:spPr>
        <p:txBody>
          <a:bodyPr wrap="square" lIns="0" tIns="0" rIns="0" bIns="0" rtlCol="0" anchor="t"/>
          <a:lstStyle/>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Codebase search</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Context awareness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Multiple models</a:t>
            </a:r>
            <a:endParaRPr lang="en-US" sz="825" dirty="0"/>
          </a:p>
          <a:p>
            <a:pPr marL="0" indent="0" algn="l">
              <a:lnSpc>
                <a:spcPts val="1402"/>
              </a:lnSpc>
              <a:buNone/>
            </a:pPr>
            <a:r>
              <a:rPr lang="en-US" sz="825" dirty="0">
                <a:solidFill>
                  <a:srgbClr val="6B7280"/>
                </a:solidFill>
                <a:latin typeface="Arial" pitchFamily="34" charset="0"/>
                <a:ea typeface="Arial" pitchFamily="34" charset="-122"/>
                <a:cs typeface="Arial" pitchFamily="34" charset="-120"/>
              </a:rPr>
              <a:t>Self-hosted option</a:t>
            </a:r>
            <a:endParaRPr lang="en-US" sz="825" dirty="0"/>
          </a:p>
        </p:txBody>
      </p:sp>
      <p:sp>
        <p:nvSpPr>
          <p:cNvPr id="27" name="Text 25"/>
          <p:cNvSpPr/>
          <p:nvPr/>
        </p:nvSpPr>
        <p:spPr>
          <a:xfrm>
            <a:off x="6273701" y="4176266"/>
            <a:ext cx="2266899" cy="146596"/>
          </a:xfrm>
          <a:prstGeom prst="rect">
            <a:avLst/>
          </a:prstGeom>
          <a:noFill/>
          <a:ln/>
        </p:spPr>
        <p:txBody>
          <a:bodyPr wrap="square" lIns="0" tIns="0" rIns="0" bIns="0" rtlCol="0" anchor="t"/>
          <a:lstStyle/>
          <a:p>
            <a:pPr marL="0" indent="0" algn="l">
              <a:lnSpc>
                <a:spcPts val="1155"/>
              </a:lnSpc>
              <a:buNone/>
            </a:pPr>
            <a:r>
              <a:rPr lang="en-US" sz="825" b="1" dirty="0">
                <a:solidFill>
                  <a:srgbClr val="059669"/>
                </a:solidFill>
                <a:latin typeface="Arial" pitchFamily="34" charset="0"/>
                <a:ea typeface="Arial" pitchFamily="34" charset="-122"/>
                <a:cs typeface="Arial" pitchFamily="34" charset="-120"/>
              </a:rPr>
              <a:t>Free tier available</a:t>
            </a:r>
            <a:endParaRPr lang="en-US" sz="8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ENTERPRISE COMPLIANCE</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FFFFFF"/>
                </a:solidFill>
                <a:latin typeface="Georgia" pitchFamily="34" charset="0"/>
                <a:ea typeface="Georgia" pitchFamily="34" charset="-122"/>
                <a:cs typeface="Georgia" pitchFamily="34" charset="-120"/>
              </a:rPr>
              <a:t>VS Code with Azure OpenAI</a:t>
            </a:r>
            <a:endParaRPr lang="en-US" sz="2100" dirty="0"/>
          </a:p>
        </p:txBody>
      </p:sp>
      <p:sp>
        <p:nvSpPr>
          <p:cNvPr id="4" name="Text 2"/>
          <p:cNvSpPr/>
          <p:nvPr/>
        </p:nvSpPr>
        <p:spPr>
          <a:xfrm>
            <a:off x="381000" y="781050"/>
            <a:ext cx="8549640" cy="159990"/>
          </a:xfrm>
          <a:prstGeom prst="rect">
            <a:avLst/>
          </a:prstGeom>
          <a:noFill/>
          <a:ln/>
        </p:spPr>
        <p:txBody>
          <a:bodyPr wrap="square" lIns="0" tIns="0" rIns="0" bIns="0" rtlCol="0" anchor="t"/>
          <a:lstStyle/>
          <a:p>
            <a:pPr marL="0" indent="0" algn="l">
              <a:lnSpc>
                <a:spcPts val="1260"/>
              </a:lnSpc>
              <a:spcBef>
                <a:spcPts val="450"/>
              </a:spcBef>
              <a:buNone/>
            </a:pPr>
            <a:r>
              <a:rPr lang="en-US" sz="900" dirty="0">
                <a:solidFill>
                  <a:srgbClr val="FFFFFF">
                    <a:alpha val="60000"/>
                  </a:srgbClr>
                </a:solidFill>
                <a:latin typeface="Arial" pitchFamily="34" charset="0"/>
                <a:ea typeface="Arial" pitchFamily="34" charset="-122"/>
                <a:cs typeface="Arial" pitchFamily="34" charset="-120"/>
              </a:rPr>
              <a:t>Configuring Continue.dev for government-compliant AI</a:t>
            </a:r>
            <a:endParaRPr lang="en-US" sz="900" dirty="0"/>
          </a:p>
        </p:txBody>
      </p:sp>
      <p:sp>
        <p:nvSpPr>
          <p:cNvPr id="5" name="Text 3"/>
          <p:cNvSpPr/>
          <p:nvPr/>
        </p:nvSpPr>
        <p:spPr>
          <a:xfrm>
            <a:off x="381000" y="1099245"/>
            <a:ext cx="4641205" cy="3752850"/>
          </a:xfrm>
          <a:prstGeom prst="rect">
            <a:avLst/>
          </a:prstGeom>
          <a:solidFill>
            <a:srgbClr val="252B3D"/>
          </a:solidFill>
          <a:ln/>
        </p:spPr>
        <p:txBody>
          <a:bodyPr wrap="square" rtlCol="0" anchor="ctr"/>
          <a:lstStyle/>
          <a:p>
            <a:pPr marL="0" indent="0">
              <a:buNone/>
            </a:pPr>
            <a:endParaRPr lang="en-US" dirty="0"/>
          </a:p>
        </p:txBody>
      </p:sp>
      <p:sp>
        <p:nvSpPr>
          <p:cNvPr id="6" name="Text 4"/>
          <p:cNvSpPr/>
          <p:nvPr/>
        </p:nvSpPr>
        <p:spPr>
          <a:xfrm>
            <a:off x="571500" y="1289745"/>
            <a:ext cx="4345409" cy="133350"/>
          </a:xfrm>
          <a:prstGeom prst="rect">
            <a:avLst/>
          </a:prstGeom>
          <a:noFill/>
          <a:ln/>
        </p:spPr>
        <p:txBody>
          <a:bodyPr wrap="square" lIns="0" tIns="0" rIns="0" bIns="0" rtlCol="0" anchor="t"/>
          <a:lstStyle/>
          <a:p>
            <a:pPr marL="0" indent="0" algn="l">
              <a:lnSpc>
                <a:spcPts val="1050"/>
              </a:lnSpc>
              <a:spcAft>
                <a:spcPts val="900"/>
              </a:spcAft>
              <a:buNone/>
            </a:pPr>
            <a:r>
              <a:rPr lang="en-US" sz="750" dirty="0">
                <a:solidFill>
                  <a:srgbClr val="C9A227"/>
                </a:solidFill>
                <a:latin typeface="Arial" pitchFamily="34" charset="0"/>
                <a:ea typeface="Arial" pitchFamily="34" charset="-122"/>
                <a:cs typeface="Arial" pitchFamily="34" charset="-120"/>
              </a:rPr>
              <a:t>CONFIG.JSON</a:t>
            </a:r>
            <a:endParaRPr lang="en-US" sz="750" dirty="0"/>
          </a:p>
        </p:txBody>
      </p:sp>
      <p:sp>
        <p:nvSpPr>
          <p:cNvPr id="7" name="Text 5"/>
          <p:cNvSpPr/>
          <p:nvPr/>
        </p:nvSpPr>
        <p:spPr>
          <a:xfrm>
            <a:off x="571500" y="16897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 ~/.continue/config.json</a:t>
            </a:r>
            <a:endParaRPr lang="en-US" sz="1500" dirty="0"/>
          </a:p>
        </p:txBody>
      </p:sp>
      <p:sp>
        <p:nvSpPr>
          <p:cNvPr id="8" name="Text 6"/>
          <p:cNvSpPr/>
          <p:nvPr/>
        </p:nvSpPr>
        <p:spPr>
          <a:xfrm>
            <a:off x="571500" y="1994595"/>
            <a:ext cx="4345409" cy="266700"/>
          </a:xfrm>
          <a:prstGeom prst="rect">
            <a:avLst/>
          </a:prstGeom>
          <a:noFill/>
          <a:ln/>
        </p:spPr>
        <p:txBody>
          <a:bodyPr wrap="square" lIns="0" tIns="0" rIns="0" bIns="0" rtlCol="0" anchor="t"/>
          <a:lstStyle/>
          <a:p>
            <a:pPr marL="0" indent="0" algn="l">
              <a:lnSpc>
                <a:spcPts val="2100"/>
              </a:lnSpc>
              <a:spcBef>
                <a:spcPts val="300"/>
              </a:spcBef>
              <a:buNone/>
            </a:pPr>
            <a:r>
              <a:rPr lang="en-US" sz="1500" dirty="0">
                <a:solidFill>
                  <a:srgbClr val="FFFFFF">
                    <a:alpha val="90000"/>
                  </a:srgbClr>
                </a:solidFill>
                <a:latin typeface="Arial" pitchFamily="34" charset="0"/>
                <a:ea typeface="Arial" pitchFamily="34" charset="-122"/>
                <a:cs typeface="Arial" pitchFamily="34" charset="-120"/>
              </a:rPr>
              <a:t>{</a:t>
            </a:r>
            <a:endParaRPr lang="en-US" sz="1500" dirty="0"/>
          </a:p>
        </p:txBody>
      </p:sp>
      <p:sp>
        <p:nvSpPr>
          <p:cNvPr id="9" name="Text 7"/>
          <p:cNvSpPr/>
          <p:nvPr/>
        </p:nvSpPr>
        <p:spPr>
          <a:xfrm>
            <a:off x="571500" y="22612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"models": [{</a:t>
            </a:r>
            <a:endParaRPr lang="en-US" sz="1500" dirty="0"/>
          </a:p>
        </p:txBody>
      </p:sp>
      <p:sp>
        <p:nvSpPr>
          <p:cNvPr id="10" name="Text 8"/>
          <p:cNvSpPr/>
          <p:nvPr/>
        </p:nvSpPr>
        <p:spPr>
          <a:xfrm>
            <a:off x="571500" y="25279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"provider": "azure",</a:t>
            </a:r>
            <a:endParaRPr lang="en-US" sz="1500" dirty="0"/>
          </a:p>
        </p:txBody>
      </p:sp>
      <p:sp>
        <p:nvSpPr>
          <p:cNvPr id="11" name="Text 9"/>
          <p:cNvSpPr/>
          <p:nvPr/>
        </p:nvSpPr>
        <p:spPr>
          <a:xfrm>
            <a:off x="571500" y="27946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"model": "gpt-4",</a:t>
            </a:r>
            <a:endParaRPr lang="en-US" sz="1500" dirty="0"/>
          </a:p>
        </p:txBody>
      </p:sp>
      <p:sp>
        <p:nvSpPr>
          <p:cNvPr id="12" name="Text 10"/>
          <p:cNvSpPr/>
          <p:nvPr/>
        </p:nvSpPr>
        <p:spPr>
          <a:xfrm>
            <a:off x="571500" y="30613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"apiBase": "https://your-</a:t>
            </a:r>
            <a:endParaRPr lang="en-US" sz="1500" dirty="0"/>
          </a:p>
        </p:txBody>
      </p:sp>
      <p:sp>
        <p:nvSpPr>
          <p:cNvPr id="13" name="Text 11"/>
          <p:cNvSpPr/>
          <p:nvPr/>
        </p:nvSpPr>
        <p:spPr>
          <a:xfrm>
            <a:off x="571500" y="33280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resource.openai.azure.com",</a:t>
            </a:r>
            <a:endParaRPr lang="en-US" sz="1500" dirty="0"/>
          </a:p>
        </p:txBody>
      </p:sp>
      <p:sp>
        <p:nvSpPr>
          <p:cNvPr id="14" name="Text 12"/>
          <p:cNvSpPr/>
          <p:nvPr/>
        </p:nvSpPr>
        <p:spPr>
          <a:xfrm>
            <a:off x="571500" y="35947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"deployment": "your-deploy",</a:t>
            </a:r>
            <a:endParaRPr lang="en-US" sz="1500" dirty="0"/>
          </a:p>
        </p:txBody>
      </p:sp>
      <p:sp>
        <p:nvSpPr>
          <p:cNvPr id="15" name="Text 13"/>
          <p:cNvSpPr/>
          <p:nvPr/>
        </p:nvSpPr>
        <p:spPr>
          <a:xfrm>
            <a:off x="571500" y="38614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"apiVersion": "2024-02-15"</a:t>
            </a:r>
            <a:endParaRPr lang="en-US" sz="1500" dirty="0"/>
          </a:p>
        </p:txBody>
      </p:sp>
      <p:sp>
        <p:nvSpPr>
          <p:cNvPr id="16" name="Text 14"/>
          <p:cNvSpPr/>
          <p:nvPr/>
        </p:nvSpPr>
        <p:spPr>
          <a:xfrm>
            <a:off x="571500" y="41281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a:t>
            </a:r>
            <a:endParaRPr lang="en-US" sz="1500" dirty="0"/>
          </a:p>
        </p:txBody>
      </p:sp>
      <p:sp>
        <p:nvSpPr>
          <p:cNvPr id="17" name="Text 15"/>
          <p:cNvSpPr/>
          <p:nvPr/>
        </p:nvSpPr>
        <p:spPr>
          <a:xfrm>
            <a:off x="571500" y="4394895"/>
            <a:ext cx="4345409"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90000"/>
                  </a:srgbClr>
                </a:solidFill>
                <a:latin typeface="Arial" pitchFamily="34" charset="0"/>
                <a:ea typeface="Arial" pitchFamily="34" charset="-122"/>
                <a:cs typeface="Arial" pitchFamily="34" charset="-120"/>
              </a:rPr>
              <a:t>}</a:t>
            </a:r>
            <a:endParaRPr lang="en-US" sz="1500" dirty="0"/>
          </a:p>
        </p:txBody>
      </p:sp>
      <p:sp>
        <p:nvSpPr>
          <p:cNvPr id="18" name="Text 16"/>
          <p:cNvSpPr/>
          <p:nvPr/>
        </p:nvSpPr>
        <p:spPr>
          <a:xfrm>
            <a:off x="5212705" y="1441252"/>
            <a:ext cx="3550295" cy="737146"/>
          </a:xfrm>
          <a:prstGeom prst="rect">
            <a:avLst/>
          </a:prstGeom>
          <a:solidFill>
            <a:srgbClr val="059669"/>
          </a:solidFill>
          <a:ln/>
        </p:spPr>
        <p:txBody>
          <a:bodyPr wrap="square" rtlCol="0" anchor="ctr"/>
          <a:lstStyle/>
          <a:p>
            <a:pPr marL="0" indent="0">
              <a:buNone/>
            </a:pPr>
            <a:endParaRPr lang="en-US" dirty="0"/>
          </a:p>
        </p:txBody>
      </p:sp>
      <p:sp>
        <p:nvSpPr>
          <p:cNvPr id="19" name="Text 17"/>
          <p:cNvSpPr/>
          <p:nvPr/>
        </p:nvSpPr>
        <p:spPr>
          <a:xfrm>
            <a:off x="5346055" y="1574602"/>
            <a:ext cx="3349267"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FFFFFF"/>
                </a:solidFill>
                <a:latin typeface="Arial" pitchFamily="34" charset="0"/>
                <a:ea typeface="Arial" pitchFamily="34" charset="-122"/>
                <a:cs typeface="Arial" pitchFamily="34" charset="-120"/>
              </a:rPr>
              <a:t>Why This Matters</a:t>
            </a:r>
            <a:endParaRPr lang="en-US" sz="825" dirty="0"/>
          </a:p>
        </p:txBody>
      </p:sp>
      <p:sp>
        <p:nvSpPr>
          <p:cNvPr id="20" name="Text 18"/>
          <p:cNvSpPr/>
          <p:nvPr/>
        </p:nvSpPr>
        <p:spPr>
          <a:xfrm>
            <a:off x="5346055" y="1759297"/>
            <a:ext cx="3349267"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90000"/>
                  </a:srgbClr>
                </a:solidFill>
                <a:latin typeface="Arial" pitchFamily="34" charset="0"/>
                <a:ea typeface="Arial" pitchFamily="34" charset="-122"/>
                <a:cs typeface="Arial" pitchFamily="34" charset="-120"/>
              </a:rPr>
              <a:t>Your code stays in your Azure tenant. FedRAMP compliant. Data not used for training.</a:t>
            </a:r>
            <a:endParaRPr lang="en-US" sz="750" dirty="0"/>
          </a:p>
        </p:txBody>
      </p:sp>
      <p:sp>
        <p:nvSpPr>
          <p:cNvPr id="21" name="Text 19"/>
          <p:cNvSpPr/>
          <p:nvPr/>
        </p:nvSpPr>
        <p:spPr>
          <a:xfrm>
            <a:off x="5212705" y="2273647"/>
            <a:ext cx="3550295" cy="1080046"/>
          </a:xfrm>
          <a:prstGeom prst="rect">
            <a:avLst/>
          </a:prstGeom>
          <a:solidFill>
            <a:srgbClr val="252B3D"/>
          </a:solidFill>
          <a:ln/>
        </p:spPr>
        <p:txBody>
          <a:bodyPr wrap="square" rtlCol="0" anchor="ctr"/>
          <a:lstStyle/>
          <a:p>
            <a:pPr marL="0" indent="0">
              <a:buNone/>
            </a:pPr>
            <a:endParaRPr lang="en-US" dirty="0"/>
          </a:p>
        </p:txBody>
      </p:sp>
      <p:sp>
        <p:nvSpPr>
          <p:cNvPr id="22" name="Text 20"/>
          <p:cNvSpPr/>
          <p:nvPr/>
        </p:nvSpPr>
        <p:spPr>
          <a:xfrm>
            <a:off x="5346055" y="2406997"/>
            <a:ext cx="334926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Requirements</a:t>
            </a:r>
            <a:endParaRPr lang="en-US" sz="825" dirty="0"/>
          </a:p>
        </p:txBody>
      </p:sp>
      <p:sp>
        <p:nvSpPr>
          <p:cNvPr id="23" name="Text 21"/>
          <p:cNvSpPr/>
          <p:nvPr/>
        </p:nvSpPr>
        <p:spPr>
          <a:xfrm>
            <a:off x="5346055" y="2610743"/>
            <a:ext cx="3349267"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1. Azure OpenAI access approved</a:t>
            </a:r>
            <a:endParaRPr lang="en-US" sz="750" dirty="0"/>
          </a:p>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2. GPT-4 deployment created</a:t>
            </a:r>
            <a:endParaRPr lang="en-US" sz="750" dirty="0"/>
          </a:p>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3. API key from Azure Portal</a:t>
            </a:r>
            <a:endParaRPr lang="en-US" sz="750" dirty="0"/>
          </a:p>
          <a:p>
            <a:pPr marL="0" indent="0" algn="l">
              <a:lnSpc>
                <a:spcPts val="1200"/>
              </a:lnSpc>
              <a:buNone/>
            </a:pPr>
            <a:r>
              <a:rPr lang="en-US" sz="750" dirty="0">
                <a:solidFill>
                  <a:srgbClr val="FFFFFF">
                    <a:alpha val="70000"/>
                  </a:srgbClr>
                </a:solidFill>
                <a:latin typeface="Arial" pitchFamily="34" charset="0"/>
                <a:ea typeface="Arial" pitchFamily="34" charset="-122"/>
                <a:cs typeface="Arial" pitchFamily="34" charset="-120"/>
              </a:rPr>
              <a:t>4. Continue.dev extension installed</a:t>
            </a:r>
            <a:endParaRPr lang="en-US" sz="750" dirty="0"/>
          </a:p>
        </p:txBody>
      </p:sp>
      <p:sp>
        <p:nvSpPr>
          <p:cNvPr id="24" name="Text 22"/>
          <p:cNvSpPr/>
          <p:nvPr/>
        </p:nvSpPr>
        <p:spPr>
          <a:xfrm>
            <a:off x="5212705" y="3448943"/>
            <a:ext cx="3550295" cy="603796"/>
          </a:xfrm>
          <a:prstGeom prst="rect">
            <a:avLst/>
          </a:prstGeom>
          <a:solidFill>
            <a:srgbClr val="252B3D"/>
          </a:solidFill>
          <a:ln/>
        </p:spPr>
        <p:txBody>
          <a:bodyPr wrap="square" rtlCol="0" anchor="ctr"/>
          <a:lstStyle/>
          <a:p>
            <a:pPr marL="0" indent="0">
              <a:buNone/>
            </a:pPr>
            <a:endParaRPr lang="en-US" dirty="0"/>
          </a:p>
        </p:txBody>
      </p:sp>
      <p:sp>
        <p:nvSpPr>
          <p:cNvPr id="25" name="Text 23"/>
          <p:cNvSpPr/>
          <p:nvPr/>
        </p:nvSpPr>
        <p:spPr>
          <a:xfrm>
            <a:off x="5346055" y="3582293"/>
            <a:ext cx="3349267"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Environment Variable</a:t>
            </a:r>
            <a:endParaRPr lang="en-US" sz="825" dirty="0"/>
          </a:p>
        </p:txBody>
      </p:sp>
      <p:sp>
        <p:nvSpPr>
          <p:cNvPr id="26" name="Text 24"/>
          <p:cNvSpPr/>
          <p:nvPr/>
        </p:nvSpPr>
        <p:spPr>
          <a:xfrm>
            <a:off x="5346055" y="3786039"/>
            <a:ext cx="3349267"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70000"/>
                  </a:srgbClr>
                </a:solidFill>
                <a:latin typeface="monospace" pitchFamily="34" charset="0"/>
                <a:ea typeface="monospace" pitchFamily="34" charset="-122"/>
                <a:cs typeface="monospace" pitchFamily="34" charset="-120"/>
              </a:rPr>
              <a:t>AZURE_OPENAI_API_KEY=your-key</a:t>
            </a:r>
            <a:endParaRPr lang="en-US" sz="750" dirty="0"/>
          </a:p>
        </p:txBody>
      </p:sp>
      <p:sp>
        <p:nvSpPr>
          <p:cNvPr id="27" name="Text 25"/>
          <p:cNvSpPr/>
          <p:nvPr/>
        </p:nvSpPr>
        <p:spPr>
          <a:xfrm>
            <a:off x="5212705" y="4147989"/>
            <a:ext cx="3550295" cy="361950"/>
          </a:xfrm>
          <a:prstGeom prst="rect">
            <a:avLst/>
          </a:prstGeom>
          <a:solidFill>
            <a:srgbClr val="FEF3C7"/>
          </a:solidFill>
          <a:ln/>
        </p:spPr>
        <p:txBody>
          <a:bodyPr wrap="square" rtlCol="0" anchor="ctr"/>
          <a:lstStyle/>
          <a:p>
            <a:pPr marL="0" indent="0">
              <a:buNone/>
            </a:pPr>
            <a:endParaRPr lang="en-US" dirty="0"/>
          </a:p>
        </p:txBody>
      </p:sp>
      <p:sp>
        <p:nvSpPr>
          <p:cNvPr id="28" name="Text 26"/>
          <p:cNvSpPr/>
          <p:nvPr/>
        </p:nvSpPr>
        <p:spPr>
          <a:xfrm>
            <a:off x="5327005" y="4262289"/>
            <a:ext cx="3388129" cy="133350"/>
          </a:xfrm>
          <a:prstGeom prst="rect">
            <a:avLst/>
          </a:prstGeom>
          <a:noFill/>
          <a:ln/>
        </p:spPr>
        <p:txBody>
          <a:bodyPr wrap="square" lIns="0" tIns="0" rIns="0" bIns="0" rtlCol="0" anchor="t"/>
          <a:lstStyle/>
          <a:p>
            <a:pPr marL="0" indent="0" algn="l">
              <a:lnSpc>
                <a:spcPts val="1050"/>
              </a:lnSpc>
              <a:buNone/>
            </a:pPr>
            <a:r>
              <a:rPr lang="en-US" sz="750" b="1" dirty="0">
                <a:solidFill>
                  <a:srgbClr val="92400E"/>
                </a:solidFill>
                <a:latin typeface="Arial" pitchFamily="34" charset="0"/>
                <a:ea typeface="Arial" pitchFamily="34" charset="-122"/>
                <a:cs typeface="Arial" pitchFamily="34" charset="-120"/>
              </a:rPr>
              <a:t>Note:</a:t>
            </a:r>
            <a:r>
              <a:rPr lang="en-US" sz="750" dirty="0">
                <a:solidFill>
                  <a:srgbClr val="92400E"/>
                </a:solidFill>
                <a:latin typeface="Arial" pitchFamily="34" charset="0"/>
                <a:ea typeface="Arial" pitchFamily="34" charset="-122"/>
                <a:cs typeface="Arial" pitchFamily="34" charset="-120"/>
              </a:rPr>
              <a:t> Keep API keys secure - use env vars, not config files</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4070"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380256"/>
            <a:ext cx="1326469" cy="133350"/>
          </a:xfrm>
          <a:prstGeom prst="rect">
            <a:avLst/>
          </a:prstGeom>
          <a:noFill/>
          <a:ln/>
        </p:spPr>
        <p:txBody>
          <a:bodyPr wrap="square" lIns="0" tIns="0" rIns="0" bIns="0" rtlCol="0" anchor="t"/>
          <a:lstStyle/>
          <a:p>
            <a:pPr marL="0" indent="0" algn="l">
              <a:lnSpc>
                <a:spcPts val="1050"/>
              </a:lnSpc>
              <a:buNone/>
            </a:pPr>
            <a:r>
              <a:rPr lang="en-US" sz="750" dirty="0">
                <a:solidFill>
                  <a:srgbClr val="C9A227"/>
                </a:solidFill>
                <a:latin typeface="Arial" pitchFamily="34" charset="0"/>
                <a:ea typeface="Arial" pitchFamily="34" charset="-122"/>
                <a:cs typeface="Arial" pitchFamily="34" charset="-120"/>
              </a:rPr>
              <a:t>AI-NATIVE EDITOR</a:t>
            </a:r>
            <a:endParaRPr lang="en-US" sz="750" dirty="0"/>
          </a:p>
        </p:txBody>
      </p:sp>
      <p:sp>
        <p:nvSpPr>
          <p:cNvPr id="4" name="Text 2"/>
          <p:cNvSpPr/>
          <p:nvPr/>
        </p:nvSpPr>
        <p:spPr>
          <a:xfrm>
            <a:off x="342900" y="723156"/>
            <a:ext cx="2176272" cy="304800"/>
          </a:xfrm>
          <a:prstGeom prst="rect">
            <a:avLst/>
          </a:prstGeom>
          <a:noFill/>
          <a:ln/>
        </p:spPr>
        <p:txBody>
          <a:bodyPr wrap="square" lIns="0" tIns="0" rIns="0" bIns="0" rtlCol="0" anchor="t"/>
          <a:lstStyle/>
          <a:p>
            <a:pPr marL="0" indent="0" algn="l">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Cursor</a:t>
            </a:r>
            <a:endParaRPr lang="en-US" sz="2400" dirty="0"/>
          </a:p>
        </p:txBody>
      </p:sp>
      <p:sp>
        <p:nvSpPr>
          <p:cNvPr id="5" name="Text 3"/>
          <p:cNvSpPr/>
          <p:nvPr/>
        </p:nvSpPr>
        <p:spPr>
          <a:xfrm>
            <a:off x="342900" y="1237506"/>
            <a:ext cx="4343436" cy="173236"/>
          </a:xfrm>
          <a:prstGeom prst="rect">
            <a:avLst/>
          </a:prstGeom>
          <a:noFill/>
          <a:ln/>
        </p:spPr>
        <p:txBody>
          <a:bodyPr wrap="square" lIns="0" tIns="0" rIns="0" bIns="0" rtlCol="0" anchor="t"/>
          <a:lstStyle/>
          <a:p>
            <a:pPr marL="0" indent="0" algn="l">
              <a:lnSpc>
                <a:spcPts val="1365"/>
              </a:lnSpc>
              <a:spcAft>
                <a:spcPts val="1500"/>
              </a:spcAft>
              <a:buNone/>
            </a:pPr>
            <a:r>
              <a:rPr lang="en-US" sz="975" dirty="0">
                <a:solidFill>
                  <a:srgbClr val="6B7280"/>
                </a:solidFill>
                <a:latin typeface="Arial" pitchFamily="34" charset="0"/>
                <a:ea typeface="Arial" pitchFamily="34" charset="-122"/>
                <a:cs typeface="Arial" pitchFamily="34" charset="-120"/>
              </a:rPr>
              <a:t>VS Code fork with AI built into every feature</a:t>
            </a:r>
            <a:endParaRPr lang="en-US" sz="975" dirty="0"/>
          </a:p>
        </p:txBody>
      </p:sp>
      <p:sp>
        <p:nvSpPr>
          <p:cNvPr id="6" name="Text 4"/>
          <p:cNvSpPr/>
          <p:nvPr/>
        </p:nvSpPr>
        <p:spPr>
          <a:xfrm>
            <a:off x="342900" y="1753642"/>
            <a:ext cx="4258270" cy="6304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7" name="Text 5"/>
          <p:cNvSpPr/>
          <p:nvPr/>
        </p:nvSpPr>
        <p:spPr>
          <a:xfrm>
            <a:off x="485775" y="1896517"/>
            <a:ext cx="405197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Tab Completions</a:t>
            </a:r>
            <a:endParaRPr lang="en-US" sz="900" dirty="0"/>
          </a:p>
        </p:txBody>
      </p:sp>
      <p:sp>
        <p:nvSpPr>
          <p:cNvPr id="8" name="Text 6"/>
          <p:cNvSpPr/>
          <p:nvPr/>
        </p:nvSpPr>
        <p:spPr>
          <a:xfrm>
            <a:off x="485775" y="2094607"/>
            <a:ext cx="405197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AI suggests multi-line completions as you type</a:t>
            </a:r>
            <a:endParaRPr lang="en-US" sz="825" dirty="0"/>
          </a:p>
        </p:txBody>
      </p:sp>
      <p:sp>
        <p:nvSpPr>
          <p:cNvPr id="9" name="Text 7"/>
          <p:cNvSpPr/>
          <p:nvPr/>
        </p:nvSpPr>
        <p:spPr>
          <a:xfrm>
            <a:off x="342900" y="2631728"/>
            <a:ext cx="4258270" cy="6304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0" name="Text 8"/>
          <p:cNvSpPr/>
          <p:nvPr/>
        </p:nvSpPr>
        <p:spPr>
          <a:xfrm>
            <a:off x="485775" y="2774603"/>
            <a:ext cx="405197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Cmd+K Editing</a:t>
            </a:r>
            <a:endParaRPr lang="en-US" sz="900" dirty="0"/>
          </a:p>
        </p:txBody>
      </p:sp>
      <p:sp>
        <p:nvSpPr>
          <p:cNvPr id="11" name="Text 9"/>
          <p:cNvSpPr/>
          <p:nvPr/>
        </p:nvSpPr>
        <p:spPr>
          <a:xfrm>
            <a:off x="485775" y="2972693"/>
            <a:ext cx="405197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Select code and describe changes in natural language</a:t>
            </a:r>
            <a:endParaRPr lang="en-US" sz="825" dirty="0"/>
          </a:p>
        </p:txBody>
      </p:sp>
      <p:sp>
        <p:nvSpPr>
          <p:cNvPr id="12" name="Text 10"/>
          <p:cNvSpPr/>
          <p:nvPr/>
        </p:nvSpPr>
        <p:spPr>
          <a:xfrm>
            <a:off x="342900" y="3509814"/>
            <a:ext cx="4258270" cy="6304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485775" y="3652689"/>
            <a:ext cx="405197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Composer Mode</a:t>
            </a:r>
            <a:endParaRPr lang="en-US" sz="900" dirty="0"/>
          </a:p>
        </p:txBody>
      </p:sp>
      <p:sp>
        <p:nvSpPr>
          <p:cNvPr id="14" name="Text 12"/>
          <p:cNvSpPr/>
          <p:nvPr/>
        </p:nvSpPr>
        <p:spPr>
          <a:xfrm>
            <a:off x="485775" y="3850779"/>
            <a:ext cx="405197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Multi-file editing from a single conversation</a:t>
            </a:r>
            <a:endParaRPr lang="en-US" sz="825" dirty="0"/>
          </a:p>
        </p:txBody>
      </p:sp>
      <p:sp>
        <p:nvSpPr>
          <p:cNvPr id="15" name="Text 13"/>
          <p:cNvSpPr/>
          <p:nvPr/>
        </p:nvSpPr>
        <p:spPr>
          <a:xfrm>
            <a:off x="342900" y="4387900"/>
            <a:ext cx="4258270" cy="375196"/>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476250" y="4502200"/>
            <a:ext cx="4071402"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Best for:</a:t>
            </a:r>
            <a:r>
              <a:rPr lang="en-US" sz="825" dirty="0">
                <a:solidFill>
                  <a:srgbClr val="C9A227"/>
                </a:solidFill>
                <a:latin typeface="Arial" pitchFamily="34" charset="0"/>
                <a:ea typeface="Arial" pitchFamily="34" charset="-122"/>
                <a:cs typeface="Arial" pitchFamily="34" charset="-120"/>
              </a:rPr>
              <a:t> Developers wanting AI deeply integrated in their editor</a:t>
            </a:r>
            <a:endParaRPr lang="en-US" sz="825" dirty="0"/>
          </a:p>
        </p:txBody>
      </p:sp>
      <p:sp>
        <p:nvSpPr>
          <p:cNvPr id="17" name="Text 15"/>
          <p:cNvSpPr/>
          <p:nvPr/>
        </p:nvSpPr>
        <p:spPr>
          <a:xfrm>
            <a:off x="5096470" y="0"/>
            <a:ext cx="4047530" cy="5143500"/>
          </a:xfrm>
          <a:prstGeom prst="rect">
            <a:avLst/>
          </a:prstGeom>
          <a:solidFill>
            <a:srgbClr val="1A1F2E"/>
          </a:solidFill>
          <a:ln/>
        </p:spPr>
        <p:txBody>
          <a:bodyPr wrap="square" rtlCol="0" anchor="ctr"/>
          <a:lstStyle/>
          <a:p>
            <a:pPr marL="0" indent="0">
              <a:buNone/>
            </a:pPr>
            <a:endParaRPr lang="en-US" dirty="0"/>
          </a:p>
        </p:txBody>
      </p:sp>
      <p:sp>
        <p:nvSpPr>
          <p:cNvPr id="18" name="Text 16"/>
          <p:cNvSpPr/>
          <p:nvPr/>
        </p:nvSpPr>
        <p:spPr>
          <a:xfrm>
            <a:off x="6786860" y="1217265"/>
            <a:ext cx="666750" cy="666750"/>
          </a:xfrm>
          <a:prstGeom prst="rect">
            <a:avLst/>
          </a:prstGeom>
          <a:solidFill>
            <a:srgbClr val="C9A227"/>
          </a:solidFill>
          <a:ln/>
        </p:spPr>
        <p:txBody>
          <a:bodyPr wrap="square" rtlCol="0" anchor="ctr"/>
          <a:lstStyle/>
          <a:p>
            <a:pPr marL="0" indent="0">
              <a:buNone/>
            </a:pPr>
            <a:endParaRPr lang="en-US" dirty="0"/>
          </a:p>
        </p:txBody>
      </p:sp>
      <p:sp>
        <p:nvSpPr>
          <p:cNvPr id="19" name="Text 17"/>
          <p:cNvSpPr/>
          <p:nvPr/>
        </p:nvSpPr>
        <p:spPr>
          <a:xfrm>
            <a:off x="6951733" y="1390650"/>
            <a:ext cx="336855" cy="319980"/>
          </a:xfrm>
          <a:prstGeom prst="rect">
            <a:avLst/>
          </a:prstGeom>
          <a:noFill/>
          <a:ln/>
        </p:spPr>
        <p:txBody>
          <a:bodyPr wrap="square" lIns="0" tIns="0" rIns="0" bIns="0" rtlCol="0" anchor="t"/>
          <a:lstStyle/>
          <a:p>
            <a:pPr marL="0" indent="0" algn="ctr">
              <a:lnSpc>
                <a:spcPts val="1260"/>
              </a:lnSpc>
              <a:buNone/>
            </a:pPr>
            <a:r>
              <a:rPr lang="en-US" sz="900" dirty="0">
                <a:solidFill>
                  <a:srgbClr val="1A1F2E"/>
                </a:solidFill>
                <a:latin typeface="Arial" pitchFamily="34" charset="0"/>
                <a:ea typeface="Arial" pitchFamily="34" charset="-122"/>
                <a:cs typeface="Arial" pitchFamily="34" charset="-120"/>
              </a:rPr>
              <a:t>AI</a:t>
            </a:r>
            <a:endParaRPr lang="en-US" sz="900" dirty="0"/>
          </a:p>
          <a:p>
            <a:pPr marL="0" indent="0" algn="ctr">
              <a:lnSpc>
                <a:spcPts val="1260"/>
              </a:lnSpc>
              <a:buNone/>
            </a:pPr>
            <a:r>
              <a:rPr lang="en-US" sz="900" dirty="0">
                <a:solidFill>
                  <a:srgbClr val="1A1F2E"/>
                </a:solidFill>
                <a:latin typeface="Arial" pitchFamily="34" charset="0"/>
                <a:ea typeface="Arial" pitchFamily="34" charset="-122"/>
                <a:cs typeface="Arial" pitchFamily="34" charset="-120"/>
              </a:rPr>
              <a:t>FIRST</a:t>
            </a:r>
            <a:endParaRPr lang="en-US" sz="900" dirty="0"/>
          </a:p>
        </p:txBody>
      </p:sp>
      <p:sp>
        <p:nvSpPr>
          <p:cNvPr id="20" name="Text 18"/>
          <p:cNvSpPr/>
          <p:nvPr/>
        </p:nvSpPr>
        <p:spPr>
          <a:xfrm>
            <a:off x="6409943" y="2226915"/>
            <a:ext cx="1420436" cy="213271"/>
          </a:xfrm>
          <a:prstGeom prst="rect">
            <a:avLst/>
          </a:prstGeom>
          <a:noFill/>
          <a:ln/>
        </p:spPr>
        <p:txBody>
          <a:bodyPr wrap="square" lIns="0" tIns="0" rIns="0" bIns="0" rtlCol="0" anchor="t"/>
          <a:lstStyle/>
          <a:p>
            <a:pPr marL="0" indent="0" algn="ctr">
              <a:lnSpc>
                <a:spcPts val="1680"/>
              </a:lnSpc>
              <a:spcAft>
                <a:spcPts val="750"/>
              </a:spcAft>
              <a:buNone/>
            </a:pPr>
            <a:r>
              <a:rPr lang="en-US" sz="1200" dirty="0">
                <a:solidFill>
                  <a:srgbClr val="FFFFFF"/>
                </a:solidFill>
                <a:latin typeface="Georgia" pitchFamily="34" charset="0"/>
                <a:ea typeface="Georgia" pitchFamily="34" charset="-122"/>
                <a:cs typeface="Georgia" pitchFamily="34" charset="-120"/>
              </a:rPr>
              <a:t>Familiar Yet Enhanced</a:t>
            </a:r>
            <a:endParaRPr lang="en-US" sz="1200" dirty="0"/>
          </a:p>
        </p:txBody>
      </p:sp>
      <p:sp>
        <p:nvSpPr>
          <p:cNvPr id="21" name="Text 19"/>
          <p:cNvSpPr/>
          <p:nvPr/>
        </p:nvSpPr>
        <p:spPr>
          <a:xfrm>
            <a:off x="5717256" y="2687836"/>
            <a:ext cx="2805958" cy="171450"/>
          </a:xfrm>
          <a:prstGeom prst="rect">
            <a:avLst/>
          </a:prstGeom>
          <a:noFill/>
          <a:ln/>
        </p:spPr>
        <p:txBody>
          <a:bodyPr wrap="square" lIns="0" tIns="0" rIns="0" bIns="0" rtlCol="0" anchor="t"/>
          <a:lstStyle/>
          <a:p>
            <a:pPr marL="0" indent="0" algn="ctr">
              <a:lnSpc>
                <a:spcPts val="1350"/>
              </a:lnSpc>
              <a:spcAft>
                <a:spcPts val="1500"/>
              </a:spcAft>
              <a:buNone/>
            </a:pPr>
            <a:r>
              <a:rPr lang="en-US" sz="900" dirty="0">
                <a:solidFill>
                  <a:srgbClr val="FFFFFF">
                    <a:alpha val="60000"/>
                  </a:srgbClr>
                </a:solidFill>
                <a:latin typeface="Arial" pitchFamily="34" charset="0"/>
                <a:ea typeface="Arial" pitchFamily="34" charset="-122"/>
                <a:cs typeface="Arial" pitchFamily="34" charset="-120"/>
              </a:rPr>
              <a:t>All your VS Code extensions work, plus AI everywhere</a:t>
            </a:r>
            <a:endParaRPr lang="en-US" sz="900" dirty="0"/>
          </a:p>
        </p:txBody>
      </p:sp>
      <p:sp>
        <p:nvSpPr>
          <p:cNvPr id="22" name="Text 20"/>
          <p:cNvSpPr/>
          <p:nvPr/>
        </p:nvSpPr>
        <p:spPr>
          <a:xfrm>
            <a:off x="5439370" y="3202186"/>
            <a:ext cx="3361730" cy="323850"/>
          </a:xfrm>
          <a:prstGeom prst="rect">
            <a:avLst/>
          </a:prstGeom>
          <a:solidFill>
            <a:srgbClr val="252B3D"/>
          </a:solidFill>
          <a:ln/>
        </p:spPr>
        <p:txBody>
          <a:bodyPr wrap="square" rtlCol="0" anchor="ctr"/>
          <a:lstStyle/>
          <a:p>
            <a:pPr marL="0" indent="0">
              <a:buNone/>
            </a:pPr>
            <a:endParaRPr lang="en-US" dirty="0"/>
          </a:p>
        </p:txBody>
      </p:sp>
      <p:sp>
        <p:nvSpPr>
          <p:cNvPr id="23" name="Text 21"/>
          <p:cNvSpPr/>
          <p:nvPr/>
        </p:nvSpPr>
        <p:spPr>
          <a:xfrm>
            <a:off x="5502908" y="3297436"/>
            <a:ext cx="3234654"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alpha val="70000"/>
                  </a:srgbClr>
                </a:solidFill>
                <a:latin typeface="Arial" pitchFamily="34" charset="0"/>
                <a:ea typeface="Arial" pitchFamily="34" charset="-122"/>
                <a:cs typeface="Arial" pitchFamily="34" charset="-120"/>
              </a:rPr>
              <a:t>Free tier: Limited AI requests</a:t>
            </a:r>
            <a:endParaRPr lang="en-US" sz="750" dirty="0"/>
          </a:p>
        </p:txBody>
      </p:sp>
      <p:sp>
        <p:nvSpPr>
          <p:cNvPr id="24" name="Text 22"/>
          <p:cNvSpPr/>
          <p:nvPr/>
        </p:nvSpPr>
        <p:spPr>
          <a:xfrm>
            <a:off x="5439370" y="3602236"/>
            <a:ext cx="3361730" cy="323850"/>
          </a:xfrm>
          <a:prstGeom prst="rect">
            <a:avLst/>
          </a:prstGeom>
          <a:solidFill>
            <a:srgbClr val="252B3D"/>
          </a:solidFill>
          <a:ln/>
        </p:spPr>
        <p:txBody>
          <a:bodyPr wrap="square" rtlCol="0" anchor="ctr"/>
          <a:lstStyle/>
          <a:p>
            <a:pPr marL="0" indent="0">
              <a:buNone/>
            </a:pPr>
            <a:endParaRPr lang="en-US" dirty="0"/>
          </a:p>
        </p:txBody>
      </p:sp>
      <p:sp>
        <p:nvSpPr>
          <p:cNvPr id="25" name="Text 23"/>
          <p:cNvSpPr/>
          <p:nvPr/>
        </p:nvSpPr>
        <p:spPr>
          <a:xfrm>
            <a:off x="5502908" y="3697486"/>
            <a:ext cx="3234654"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alpha val="70000"/>
                  </a:srgbClr>
                </a:solidFill>
                <a:latin typeface="Arial" pitchFamily="34" charset="0"/>
                <a:ea typeface="Arial" pitchFamily="34" charset="-122"/>
                <a:cs typeface="Arial" pitchFamily="34" charset="-120"/>
              </a:rPr>
              <a:t>Pro: $20/month unlimited</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COMPARISON</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AI Coding Assistant Comparison</a:t>
            </a:r>
            <a:endParaRPr lang="en-US" sz="2100" dirty="0"/>
          </a:p>
        </p:txBody>
      </p:sp>
      <p:sp>
        <p:nvSpPr>
          <p:cNvPr id="4" name="Text 2"/>
          <p:cNvSpPr/>
          <p:nvPr/>
        </p:nvSpPr>
        <p:spPr>
          <a:xfrm>
            <a:off x="457200" y="1387078"/>
            <a:ext cx="8229600" cy="337096"/>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09600" y="1482328"/>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Tool</a:t>
            </a:r>
            <a:endParaRPr lang="en-US" sz="825" dirty="0"/>
          </a:p>
        </p:txBody>
      </p:sp>
      <p:sp>
        <p:nvSpPr>
          <p:cNvPr id="6" name="Text 4"/>
          <p:cNvSpPr/>
          <p:nvPr/>
        </p:nvSpPr>
        <p:spPr>
          <a:xfrm>
            <a:off x="2039838" y="1482328"/>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Interface</a:t>
            </a:r>
            <a:endParaRPr lang="en-US" sz="825" dirty="0"/>
          </a:p>
        </p:txBody>
      </p:sp>
      <p:sp>
        <p:nvSpPr>
          <p:cNvPr id="7" name="Text 5"/>
          <p:cNvSpPr/>
          <p:nvPr/>
        </p:nvSpPr>
        <p:spPr>
          <a:xfrm>
            <a:off x="3336782" y="1482328"/>
            <a:ext cx="1315084"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Strengths</a:t>
            </a:r>
            <a:endParaRPr lang="en-US" sz="825" dirty="0"/>
          </a:p>
        </p:txBody>
      </p:sp>
      <p:sp>
        <p:nvSpPr>
          <p:cNvPr id="8" name="Text 6"/>
          <p:cNvSpPr/>
          <p:nvPr/>
        </p:nvSpPr>
        <p:spPr>
          <a:xfrm>
            <a:off x="4779913" y="1482328"/>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6078289" y="1482328"/>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Enterprise</a:t>
            </a:r>
            <a:endParaRPr lang="en-US" sz="825" dirty="0"/>
          </a:p>
        </p:txBody>
      </p:sp>
      <p:sp>
        <p:nvSpPr>
          <p:cNvPr id="10" name="Text 8"/>
          <p:cNvSpPr/>
          <p:nvPr/>
        </p:nvSpPr>
        <p:spPr>
          <a:xfrm>
            <a:off x="7376666" y="1482328"/>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Voice Ready</a:t>
            </a:r>
            <a:endParaRPr lang="en-US" sz="825" dirty="0"/>
          </a:p>
        </p:txBody>
      </p:sp>
      <p:sp>
        <p:nvSpPr>
          <p:cNvPr id="11" name="Text 9"/>
          <p:cNvSpPr/>
          <p:nvPr/>
        </p:nvSpPr>
        <p:spPr>
          <a:xfrm>
            <a:off x="457200" y="1895624"/>
            <a:ext cx="8229600" cy="346621"/>
          </a:xfrm>
          <a:prstGeom prst="rect">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457200" y="2237482"/>
            <a:ext cx="8229600" cy="0"/>
          </a:xfrm>
          <a:prstGeom prst="line">
            <a:avLst/>
          </a:prstGeom>
          <a:noFill/>
          <a:ln w="9525">
            <a:solidFill>
              <a:srgbClr val="E4E7ED"/>
            </a:solidFill>
            <a:prstDash val="solid"/>
          </a:ln>
        </p:spPr>
        <p:txBody>
          <a:bodyPr/>
          <a:lstStyle/>
          <a:p>
            <a:endParaRPr lang="en-US"/>
          </a:p>
        </p:txBody>
      </p:sp>
      <p:sp>
        <p:nvSpPr>
          <p:cNvPr id="13" name="Text 11"/>
          <p:cNvSpPr/>
          <p:nvPr/>
        </p:nvSpPr>
        <p:spPr>
          <a:xfrm>
            <a:off x="609600" y="1990874"/>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Claude Code</a:t>
            </a:r>
            <a:endParaRPr lang="en-US" sz="825" dirty="0"/>
          </a:p>
        </p:txBody>
      </p:sp>
      <p:sp>
        <p:nvSpPr>
          <p:cNvPr id="14" name="Text 12"/>
          <p:cNvSpPr/>
          <p:nvPr/>
        </p:nvSpPr>
        <p:spPr>
          <a:xfrm>
            <a:off x="2039838" y="1990874"/>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Terminal</a:t>
            </a:r>
            <a:endParaRPr lang="en-US" sz="825" dirty="0"/>
          </a:p>
        </p:txBody>
      </p:sp>
      <p:sp>
        <p:nvSpPr>
          <p:cNvPr id="15" name="Text 13"/>
          <p:cNvSpPr/>
          <p:nvPr/>
        </p:nvSpPr>
        <p:spPr>
          <a:xfrm>
            <a:off x="3336782" y="1990874"/>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Agentic, multi-file</a:t>
            </a:r>
            <a:endParaRPr lang="en-US" sz="825" dirty="0"/>
          </a:p>
        </p:txBody>
      </p:sp>
      <p:sp>
        <p:nvSpPr>
          <p:cNvPr id="16" name="Text 14"/>
          <p:cNvSpPr/>
          <p:nvPr/>
        </p:nvSpPr>
        <p:spPr>
          <a:xfrm>
            <a:off x="4779913" y="1990874"/>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Usage-based</a:t>
            </a:r>
            <a:endParaRPr lang="en-US" sz="825" dirty="0"/>
          </a:p>
        </p:txBody>
      </p:sp>
      <p:sp>
        <p:nvSpPr>
          <p:cNvPr id="17" name="Text 15"/>
          <p:cNvSpPr/>
          <p:nvPr/>
        </p:nvSpPr>
        <p:spPr>
          <a:xfrm>
            <a:off x="6078289" y="1990874"/>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Yes (Azure)</a:t>
            </a:r>
            <a:endParaRPr lang="en-US" sz="825" dirty="0"/>
          </a:p>
        </p:txBody>
      </p:sp>
      <p:sp>
        <p:nvSpPr>
          <p:cNvPr id="18" name="Text 16"/>
          <p:cNvSpPr/>
          <p:nvPr/>
        </p:nvSpPr>
        <p:spPr>
          <a:xfrm>
            <a:off x="7376666" y="1990874"/>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059669"/>
                </a:solidFill>
                <a:latin typeface="Arial" pitchFamily="34" charset="0"/>
                <a:ea typeface="Arial" pitchFamily="34" charset="-122"/>
                <a:cs typeface="Arial" pitchFamily="34" charset="-120"/>
              </a:rPr>
              <a:t>Excellent</a:t>
            </a:r>
            <a:endParaRPr lang="en-US" sz="825" dirty="0"/>
          </a:p>
        </p:txBody>
      </p:sp>
      <p:sp>
        <p:nvSpPr>
          <p:cNvPr id="19" name="Text 17"/>
          <p:cNvSpPr/>
          <p:nvPr/>
        </p:nvSpPr>
        <p:spPr>
          <a:xfrm>
            <a:off x="457200" y="2394645"/>
            <a:ext cx="8229600" cy="346621"/>
          </a:xfrm>
          <a:prstGeom prst="rect">
            <a:avLst/>
          </a:prstGeom>
          <a:solidFill>
            <a:srgbClr val="F7F8FA"/>
          </a:solidFill>
          <a:ln/>
        </p:spPr>
        <p:txBody>
          <a:bodyPr wrap="square" rtlCol="0" anchor="ctr"/>
          <a:lstStyle/>
          <a:p>
            <a:pPr marL="0" indent="0">
              <a:buNone/>
            </a:pPr>
            <a:endParaRPr lang="en-US" dirty="0"/>
          </a:p>
        </p:txBody>
      </p:sp>
      <p:sp>
        <p:nvSpPr>
          <p:cNvPr id="20" name="Shape 18"/>
          <p:cNvSpPr/>
          <p:nvPr/>
        </p:nvSpPr>
        <p:spPr>
          <a:xfrm>
            <a:off x="457200" y="2736503"/>
            <a:ext cx="8229600" cy="0"/>
          </a:xfrm>
          <a:prstGeom prst="line">
            <a:avLst/>
          </a:prstGeom>
          <a:noFill/>
          <a:ln w="9525">
            <a:solidFill>
              <a:srgbClr val="E4E7ED"/>
            </a:solidFill>
            <a:prstDash val="solid"/>
          </a:ln>
        </p:spPr>
        <p:txBody>
          <a:bodyPr/>
          <a:lstStyle/>
          <a:p>
            <a:endParaRPr lang="en-US"/>
          </a:p>
        </p:txBody>
      </p:sp>
      <p:sp>
        <p:nvSpPr>
          <p:cNvPr id="21" name="Text 19"/>
          <p:cNvSpPr/>
          <p:nvPr/>
        </p:nvSpPr>
        <p:spPr>
          <a:xfrm>
            <a:off x="609600" y="2489895"/>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VS Code + Continue</a:t>
            </a:r>
            <a:endParaRPr lang="en-US" sz="825" dirty="0"/>
          </a:p>
        </p:txBody>
      </p:sp>
      <p:sp>
        <p:nvSpPr>
          <p:cNvPr id="22" name="Text 20"/>
          <p:cNvSpPr/>
          <p:nvPr/>
        </p:nvSpPr>
        <p:spPr>
          <a:xfrm>
            <a:off x="2039838" y="248989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23" name="Text 21"/>
          <p:cNvSpPr/>
          <p:nvPr/>
        </p:nvSpPr>
        <p:spPr>
          <a:xfrm>
            <a:off x="3336782" y="2489895"/>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Flexible, open</a:t>
            </a:r>
            <a:endParaRPr lang="en-US" sz="825" dirty="0"/>
          </a:p>
        </p:txBody>
      </p:sp>
      <p:sp>
        <p:nvSpPr>
          <p:cNvPr id="24" name="Text 22"/>
          <p:cNvSpPr/>
          <p:nvPr/>
        </p:nvSpPr>
        <p:spPr>
          <a:xfrm>
            <a:off x="4779913" y="248989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Free + API</a:t>
            </a:r>
            <a:endParaRPr lang="en-US" sz="825" dirty="0"/>
          </a:p>
        </p:txBody>
      </p:sp>
      <p:sp>
        <p:nvSpPr>
          <p:cNvPr id="25" name="Text 23"/>
          <p:cNvSpPr/>
          <p:nvPr/>
        </p:nvSpPr>
        <p:spPr>
          <a:xfrm>
            <a:off x="6078289" y="248989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Yes (Azure)</a:t>
            </a:r>
            <a:endParaRPr lang="en-US" sz="825" dirty="0"/>
          </a:p>
        </p:txBody>
      </p:sp>
      <p:sp>
        <p:nvSpPr>
          <p:cNvPr id="26" name="Text 24"/>
          <p:cNvSpPr/>
          <p:nvPr/>
        </p:nvSpPr>
        <p:spPr>
          <a:xfrm>
            <a:off x="7376666" y="2489895"/>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27" name="Text 25"/>
          <p:cNvSpPr/>
          <p:nvPr/>
        </p:nvSpPr>
        <p:spPr>
          <a:xfrm>
            <a:off x="457200" y="2893665"/>
            <a:ext cx="8229600" cy="346621"/>
          </a:xfrm>
          <a:prstGeom prst="rect">
            <a:avLst/>
          </a:prstGeom>
          <a:solidFill>
            <a:srgbClr val="FFFFFF"/>
          </a:solidFill>
          <a:ln/>
        </p:spPr>
        <p:txBody>
          <a:bodyPr wrap="square" rtlCol="0" anchor="ctr"/>
          <a:lstStyle/>
          <a:p>
            <a:pPr marL="0" indent="0">
              <a:buNone/>
            </a:pPr>
            <a:endParaRPr lang="en-US" dirty="0"/>
          </a:p>
        </p:txBody>
      </p:sp>
      <p:sp>
        <p:nvSpPr>
          <p:cNvPr id="28" name="Shape 26"/>
          <p:cNvSpPr/>
          <p:nvPr/>
        </p:nvSpPr>
        <p:spPr>
          <a:xfrm>
            <a:off x="457200" y="3235523"/>
            <a:ext cx="8229600" cy="0"/>
          </a:xfrm>
          <a:prstGeom prst="line">
            <a:avLst/>
          </a:prstGeom>
          <a:noFill/>
          <a:ln w="9525">
            <a:solidFill>
              <a:srgbClr val="E4E7ED"/>
            </a:solidFill>
            <a:prstDash val="solid"/>
          </a:ln>
        </p:spPr>
        <p:txBody>
          <a:bodyPr/>
          <a:lstStyle/>
          <a:p>
            <a:endParaRPr lang="en-US"/>
          </a:p>
        </p:txBody>
      </p:sp>
      <p:sp>
        <p:nvSpPr>
          <p:cNvPr id="29" name="Text 27"/>
          <p:cNvSpPr/>
          <p:nvPr/>
        </p:nvSpPr>
        <p:spPr>
          <a:xfrm>
            <a:off x="609600" y="2988915"/>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GitHub Copilot</a:t>
            </a:r>
            <a:endParaRPr lang="en-US" sz="825" dirty="0"/>
          </a:p>
        </p:txBody>
      </p:sp>
      <p:sp>
        <p:nvSpPr>
          <p:cNvPr id="30" name="Text 28"/>
          <p:cNvSpPr/>
          <p:nvPr/>
        </p:nvSpPr>
        <p:spPr>
          <a:xfrm>
            <a:off x="2039838" y="298891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31" name="Text 29"/>
          <p:cNvSpPr/>
          <p:nvPr/>
        </p:nvSpPr>
        <p:spPr>
          <a:xfrm>
            <a:off x="3336782" y="2988915"/>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Completions</a:t>
            </a:r>
            <a:endParaRPr lang="en-US" sz="825" dirty="0"/>
          </a:p>
        </p:txBody>
      </p:sp>
      <p:sp>
        <p:nvSpPr>
          <p:cNvPr id="32" name="Text 30"/>
          <p:cNvSpPr/>
          <p:nvPr/>
        </p:nvSpPr>
        <p:spPr>
          <a:xfrm>
            <a:off x="4779913" y="298891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$10-19/mo</a:t>
            </a:r>
            <a:endParaRPr lang="en-US" sz="825" dirty="0"/>
          </a:p>
        </p:txBody>
      </p:sp>
      <p:sp>
        <p:nvSpPr>
          <p:cNvPr id="33" name="Text 31"/>
          <p:cNvSpPr/>
          <p:nvPr/>
        </p:nvSpPr>
        <p:spPr>
          <a:xfrm>
            <a:off x="6078289" y="2988915"/>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Yes</a:t>
            </a:r>
            <a:endParaRPr lang="en-US" sz="825" dirty="0"/>
          </a:p>
        </p:txBody>
      </p:sp>
      <p:sp>
        <p:nvSpPr>
          <p:cNvPr id="34" name="Text 32"/>
          <p:cNvSpPr/>
          <p:nvPr/>
        </p:nvSpPr>
        <p:spPr>
          <a:xfrm>
            <a:off x="7376666" y="2988915"/>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35" name="Text 33"/>
          <p:cNvSpPr/>
          <p:nvPr/>
        </p:nvSpPr>
        <p:spPr>
          <a:xfrm>
            <a:off x="457200" y="3392686"/>
            <a:ext cx="8229600" cy="337096"/>
          </a:xfrm>
          <a:prstGeom prst="rect">
            <a:avLst/>
          </a:prstGeom>
          <a:solidFill>
            <a:srgbClr val="F7F8FA"/>
          </a:solidFill>
          <a:ln/>
        </p:spPr>
        <p:txBody>
          <a:bodyPr wrap="square" rtlCol="0" anchor="ctr"/>
          <a:lstStyle/>
          <a:p>
            <a:pPr marL="0" indent="0">
              <a:buNone/>
            </a:pPr>
            <a:endParaRPr lang="en-US" dirty="0"/>
          </a:p>
        </p:txBody>
      </p:sp>
      <p:sp>
        <p:nvSpPr>
          <p:cNvPr id="36" name="Text 34"/>
          <p:cNvSpPr/>
          <p:nvPr/>
        </p:nvSpPr>
        <p:spPr>
          <a:xfrm>
            <a:off x="609600" y="3487936"/>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Cursor</a:t>
            </a:r>
            <a:endParaRPr lang="en-US" sz="825" dirty="0"/>
          </a:p>
        </p:txBody>
      </p:sp>
      <p:sp>
        <p:nvSpPr>
          <p:cNvPr id="37" name="Text 35"/>
          <p:cNvSpPr/>
          <p:nvPr/>
        </p:nvSpPr>
        <p:spPr>
          <a:xfrm>
            <a:off x="2039838" y="348793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IDE</a:t>
            </a:r>
            <a:endParaRPr lang="en-US" sz="825" dirty="0"/>
          </a:p>
        </p:txBody>
      </p:sp>
      <p:sp>
        <p:nvSpPr>
          <p:cNvPr id="38" name="Text 36"/>
          <p:cNvSpPr/>
          <p:nvPr/>
        </p:nvSpPr>
        <p:spPr>
          <a:xfrm>
            <a:off x="3336782" y="3487936"/>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AI-native UX</a:t>
            </a:r>
            <a:endParaRPr lang="en-US" sz="825" dirty="0"/>
          </a:p>
        </p:txBody>
      </p:sp>
      <p:sp>
        <p:nvSpPr>
          <p:cNvPr id="39" name="Text 37"/>
          <p:cNvSpPr/>
          <p:nvPr/>
        </p:nvSpPr>
        <p:spPr>
          <a:xfrm>
            <a:off x="4779913" y="348793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Free-$20/mo</a:t>
            </a:r>
            <a:endParaRPr lang="en-US" sz="825" dirty="0"/>
          </a:p>
        </p:txBody>
      </p:sp>
      <p:sp>
        <p:nvSpPr>
          <p:cNvPr id="40" name="Text 38"/>
          <p:cNvSpPr/>
          <p:nvPr/>
        </p:nvSpPr>
        <p:spPr>
          <a:xfrm>
            <a:off x="6078289" y="348793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F59E0B"/>
                </a:solidFill>
                <a:latin typeface="Arial" pitchFamily="34" charset="0"/>
                <a:ea typeface="Arial" pitchFamily="34" charset="-122"/>
                <a:cs typeface="Arial" pitchFamily="34" charset="-120"/>
              </a:rPr>
              <a:t>Limited</a:t>
            </a:r>
            <a:endParaRPr lang="en-US" sz="825" dirty="0"/>
          </a:p>
        </p:txBody>
      </p:sp>
      <p:sp>
        <p:nvSpPr>
          <p:cNvPr id="41" name="Text 39"/>
          <p:cNvSpPr/>
          <p:nvPr/>
        </p:nvSpPr>
        <p:spPr>
          <a:xfrm>
            <a:off x="7376666" y="3487936"/>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F59E0B"/>
                </a:solidFill>
                <a:latin typeface="Arial" pitchFamily="34" charset="0"/>
                <a:ea typeface="Arial" pitchFamily="34" charset="-122"/>
                <a:cs typeface="Arial" pitchFamily="34" charset="-120"/>
              </a:rPr>
              <a:t>Good</a:t>
            </a:r>
            <a:endParaRPr lang="en-US" sz="825" dirty="0"/>
          </a:p>
        </p:txBody>
      </p:sp>
      <p:sp>
        <p:nvSpPr>
          <p:cNvPr id="42" name="Text 40"/>
          <p:cNvSpPr/>
          <p:nvPr/>
        </p:nvSpPr>
        <p:spPr>
          <a:xfrm>
            <a:off x="457200" y="4034582"/>
            <a:ext cx="8229600" cy="478036"/>
          </a:xfrm>
          <a:prstGeom prst="rect">
            <a:avLst/>
          </a:prstGeom>
          <a:solidFill>
            <a:srgbClr val="1A1F2E"/>
          </a:solidFill>
          <a:ln/>
        </p:spPr>
        <p:txBody>
          <a:bodyPr wrap="square" rtlCol="0" anchor="ctr"/>
          <a:lstStyle/>
          <a:p>
            <a:pPr marL="0" indent="0">
              <a:buNone/>
            </a:pPr>
            <a:endParaRPr lang="en-US" dirty="0"/>
          </a:p>
        </p:txBody>
      </p:sp>
      <p:sp>
        <p:nvSpPr>
          <p:cNvPr id="43" name="Text 41"/>
          <p:cNvSpPr/>
          <p:nvPr/>
        </p:nvSpPr>
        <p:spPr>
          <a:xfrm>
            <a:off x="569214" y="4186982"/>
            <a:ext cx="8005572" cy="173236"/>
          </a:xfrm>
          <a:prstGeom prst="rect">
            <a:avLst/>
          </a:prstGeom>
          <a:noFill/>
          <a:ln/>
        </p:spPr>
        <p:txBody>
          <a:bodyPr wrap="square" lIns="0" tIns="0" rIns="0" bIns="0" rtlCol="0" anchor="t"/>
          <a:lstStyle/>
          <a:p>
            <a:pPr marL="0" indent="0" algn="ctr">
              <a:lnSpc>
                <a:spcPts val="1365"/>
              </a:lnSpc>
              <a:buNone/>
            </a:pPr>
            <a:r>
              <a:rPr lang="en-US" sz="975" dirty="0">
                <a:solidFill>
                  <a:srgbClr val="C9A227"/>
                </a:solidFill>
                <a:latin typeface="Arial" pitchFamily="34" charset="0"/>
                <a:ea typeface="Arial" pitchFamily="34" charset="-122"/>
                <a:cs typeface="Arial" pitchFamily="34" charset="-120"/>
              </a:rPr>
              <a:t>Recommendation:</a:t>
            </a:r>
            <a:r>
              <a:rPr lang="en-US" sz="975" dirty="0">
                <a:solidFill>
                  <a:srgbClr val="FFFFFF"/>
                </a:solidFill>
                <a:latin typeface="Arial" pitchFamily="34" charset="0"/>
                <a:ea typeface="Arial" pitchFamily="34" charset="-122"/>
                <a:cs typeface="Arial" pitchFamily="34" charset="-120"/>
              </a:rPr>
              <a:t> Claude Code for voice workflows + VS Code/Cursor for visual editing</a:t>
            </a:r>
            <a:endParaRPr lang="en-US" sz="9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496544"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381000" y="1505992"/>
            <a:ext cx="3809235" cy="133350"/>
          </a:xfrm>
          <a:prstGeom prst="rect">
            <a:avLst/>
          </a:prstGeom>
          <a:noFill/>
          <a:ln/>
        </p:spPr>
        <p:txBody>
          <a:bodyPr wrap="square" lIns="0" tIns="0" rIns="0" bIns="0" rtlCol="0" anchor="t"/>
          <a:lstStyle/>
          <a:p>
            <a:pPr marL="0" indent="0" algn="l">
              <a:lnSpc>
                <a:spcPts val="1050"/>
              </a:lnSpc>
              <a:spcAft>
                <a:spcPts val="900"/>
              </a:spcAft>
              <a:buNone/>
            </a:pPr>
            <a:r>
              <a:rPr lang="en-US" sz="750" dirty="0">
                <a:solidFill>
                  <a:srgbClr val="1A1F2E"/>
                </a:solidFill>
                <a:latin typeface="Arial" pitchFamily="34" charset="0"/>
                <a:ea typeface="Arial" pitchFamily="34" charset="-122"/>
                <a:cs typeface="Arial" pitchFamily="34" charset="-120"/>
              </a:rPr>
              <a:t>OUR RECOMMENDATION</a:t>
            </a:r>
            <a:endParaRPr lang="en-US" sz="750" dirty="0"/>
          </a:p>
        </p:txBody>
      </p:sp>
      <p:sp>
        <p:nvSpPr>
          <p:cNvPr id="4" name="Text 2"/>
          <p:cNvSpPr/>
          <p:nvPr/>
        </p:nvSpPr>
        <p:spPr>
          <a:xfrm>
            <a:off x="381000" y="1906042"/>
            <a:ext cx="2458022" cy="731341"/>
          </a:xfrm>
          <a:prstGeom prst="rect">
            <a:avLst/>
          </a:prstGeom>
          <a:noFill/>
          <a:ln/>
        </p:spPr>
        <p:txBody>
          <a:bodyPr wrap="square" lIns="0" tIns="0" rIns="0" bIns="0" rtlCol="0" anchor="t"/>
          <a:lstStyle/>
          <a:p>
            <a:pPr marL="0" indent="0" algn="l">
              <a:lnSpc>
                <a:spcPts val="2880"/>
              </a:lnSpc>
              <a:spcAft>
                <a:spcPts val="1200"/>
              </a:spcAft>
              <a:buNone/>
            </a:pPr>
            <a:r>
              <a:rPr lang="en-US" sz="2400" dirty="0">
                <a:solidFill>
                  <a:srgbClr val="1A1F2E"/>
                </a:solidFill>
                <a:latin typeface="Georgia" pitchFamily="34" charset="0"/>
                <a:ea typeface="Georgia" pitchFamily="34" charset="-122"/>
                <a:cs typeface="Georgia" pitchFamily="34" charset="-120"/>
              </a:rPr>
              <a:t>Claude Code for Voice Development</a:t>
            </a:r>
            <a:endParaRPr lang="en-US" sz="2400" dirty="0"/>
          </a:p>
        </p:txBody>
      </p:sp>
      <p:sp>
        <p:nvSpPr>
          <p:cNvPr id="5" name="Text 3"/>
          <p:cNvSpPr/>
          <p:nvPr/>
        </p:nvSpPr>
        <p:spPr>
          <a:xfrm>
            <a:off x="381000" y="2942183"/>
            <a:ext cx="3810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381000" y="3266033"/>
            <a:ext cx="3809235" cy="371475"/>
          </a:xfrm>
          <a:prstGeom prst="rect">
            <a:avLst/>
          </a:prstGeom>
          <a:noFill/>
          <a:ln/>
        </p:spPr>
        <p:txBody>
          <a:bodyPr wrap="square" lIns="0" tIns="0" rIns="0" bIns="0" rtlCol="0" anchor="t"/>
          <a:lstStyle/>
          <a:p>
            <a:pPr marL="0" indent="0" algn="l">
              <a:lnSpc>
                <a:spcPts val="1463"/>
              </a:lnSpc>
              <a:buNone/>
            </a:pPr>
            <a:r>
              <a:rPr lang="en-US" sz="975" dirty="0">
                <a:solidFill>
                  <a:srgbClr val="1A1F2E">
                    <a:alpha val="80000"/>
                  </a:srgbClr>
                </a:solidFill>
                <a:latin typeface="Arial" pitchFamily="34" charset="0"/>
                <a:ea typeface="Arial" pitchFamily="34" charset="-122"/>
                <a:cs typeface="Arial" pitchFamily="34" charset="-120"/>
              </a:rPr>
              <a:t>The terminal-based interface is naturally suited for voice input. Speak high-level commands, let Claude handle the details.</a:t>
            </a:r>
            <a:endParaRPr lang="en-US" sz="975" dirty="0"/>
          </a:p>
        </p:txBody>
      </p:sp>
      <p:sp>
        <p:nvSpPr>
          <p:cNvPr id="7" name="Text 5"/>
          <p:cNvSpPr/>
          <p:nvPr/>
        </p:nvSpPr>
        <p:spPr>
          <a:xfrm>
            <a:off x="4648944" y="0"/>
            <a:ext cx="4495056" cy="5143500"/>
          </a:xfrm>
          <a:prstGeom prst="rect">
            <a:avLst/>
          </a:prstGeom>
          <a:solidFill>
            <a:srgbClr val="1A1F2E"/>
          </a:solidFill>
          <a:ln/>
        </p:spPr>
        <p:txBody>
          <a:bodyPr wrap="square" rtlCol="0" anchor="ctr"/>
          <a:lstStyle/>
          <a:p>
            <a:pPr marL="0" indent="0">
              <a:buNone/>
            </a:pPr>
            <a:endParaRPr lang="en-US" dirty="0"/>
          </a:p>
        </p:txBody>
      </p:sp>
      <p:sp>
        <p:nvSpPr>
          <p:cNvPr id="8" name="Text 6"/>
          <p:cNvSpPr/>
          <p:nvPr/>
        </p:nvSpPr>
        <p:spPr>
          <a:xfrm>
            <a:off x="4991844" y="342900"/>
            <a:ext cx="3885441" cy="133350"/>
          </a:xfrm>
          <a:prstGeom prst="rect">
            <a:avLst/>
          </a:prstGeom>
          <a:noFill/>
          <a:ln/>
        </p:spPr>
        <p:txBody>
          <a:bodyPr wrap="square" lIns="0" tIns="0" rIns="0" bIns="0" rtlCol="0" anchor="t"/>
          <a:lstStyle/>
          <a:p>
            <a:pPr marL="0" indent="0" algn="l">
              <a:lnSpc>
                <a:spcPts val="1050"/>
              </a:lnSpc>
              <a:spcAft>
                <a:spcPts val="1500"/>
              </a:spcAft>
              <a:buNone/>
            </a:pPr>
            <a:r>
              <a:rPr lang="en-US" sz="750" dirty="0">
                <a:solidFill>
                  <a:srgbClr val="C9A227"/>
                </a:solidFill>
                <a:latin typeface="Arial" pitchFamily="34" charset="0"/>
                <a:ea typeface="Arial" pitchFamily="34" charset="-122"/>
                <a:cs typeface="Arial" pitchFamily="34" charset="-120"/>
              </a:rPr>
              <a:t>WHY CLAUDE CODE WINS</a:t>
            </a:r>
            <a:endParaRPr lang="en-US" sz="750" dirty="0"/>
          </a:p>
        </p:txBody>
      </p:sp>
      <p:sp>
        <p:nvSpPr>
          <p:cNvPr id="9" name="Text 7"/>
          <p:cNvSpPr/>
          <p:nvPr/>
        </p:nvSpPr>
        <p:spPr>
          <a:xfrm>
            <a:off x="4991844" y="819150"/>
            <a:ext cx="3885441" cy="173236"/>
          </a:xfrm>
          <a:prstGeom prst="rect">
            <a:avLst/>
          </a:prstGeom>
          <a:noFill/>
          <a:ln/>
        </p:spPr>
        <p:txBody>
          <a:bodyPr wrap="square" lIns="0" tIns="0" rIns="0" bIns="0" rtlCol="0" anchor="t"/>
          <a:lstStyle/>
          <a:p>
            <a:pPr marL="0" indent="0" algn="l">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Task-Level Interaction</a:t>
            </a:r>
            <a:endParaRPr lang="en-US" sz="975" dirty="0"/>
          </a:p>
        </p:txBody>
      </p:sp>
      <p:sp>
        <p:nvSpPr>
          <p:cNvPr id="10" name="Text 8"/>
          <p:cNvSpPr/>
          <p:nvPr/>
        </p:nvSpPr>
        <p:spPr>
          <a:xfrm>
            <a:off x="4991844" y="1030486"/>
            <a:ext cx="3885441"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You describe what you want, not how to do it. Perfect for natural language input.</a:t>
            </a:r>
            <a:endParaRPr lang="en-US" sz="825" dirty="0"/>
          </a:p>
        </p:txBody>
      </p:sp>
      <p:sp>
        <p:nvSpPr>
          <p:cNvPr id="11" name="Text 9"/>
          <p:cNvSpPr/>
          <p:nvPr/>
        </p:nvSpPr>
        <p:spPr>
          <a:xfrm>
            <a:off x="4991844" y="1481882"/>
            <a:ext cx="3885441" cy="173236"/>
          </a:xfrm>
          <a:prstGeom prst="rect">
            <a:avLst/>
          </a:prstGeom>
          <a:noFill/>
          <a:ln/>
        </p:spPr>
        <p:txBody>
          <a:bodyPr wrap="square" lIns="0" tIns="0" rIns="0" bIns="0" rtlCol="0" anchor="t"/>
          <a:lstStyle/>
          <a:p>
            <a:pPr marL="0" indent="0" algn="l">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Terminal = Voice Target</a:t>
            </a:r>
            <a:endParaRPr lang="en-US" sz="975" dirty="0"/>
          </a:p>
        </p:txBody>
      </p:sp>
      <p:sp>
        <p:nvSpPr>
          <p:cNvPr id="12" name="Text 10"/>
          <p:cNvSpPr/>
          <p:nvPr/>
        </p:nvSpPr>
        <p:spPr>
          <a:xfrm>
            <a:off x="4991844" y="1693218"/>
            <a:ext cx="3885441" cy="293191"/>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SuperWhisper/WhisperFlow insert text at cursor. Terminal accepts free-form commands.</a:t>
            </a:r>
            <a:endParaRPr lang="en-US" sz="825" dirty="0"/>
          </a:p>
        </p:txBody>
      </p:sp>
      <p:sp>
        <p:nvSpPr>
          <p:cNvPr id="13" name="Text 11"/>
          <p:cNvSpPr/>
          <p:nvPr/>
        </p:nvSpPr>
        <p:spPr>
          <a:xfrm>
            <a:off x="4991844" y="2291209"/>
            <a:ext cx="3885441" cy="173236"/>
          </a:xfrm>
          <a:prstGeom prst="rect">
            <a:avLst/>
          </a:prstGeom>
          <a:noFill/>
          <a:ln/>
        </p:spPr>
        <p:txBody>
          <a:bodyPr wrap="square" lIns="0" tIns="0" rIns="0" bIns="0" rtlCol="0" anchor="t"/>
          <a:lstStyle/>
          <a:p>
            <a:pPr marL="0" indent="0" algn="l">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Autonomous Execution</a:t>
            </a:r>
            <a:endParaRPr lang="en-US" sz="975" dirty="0"/>
          </a:p>
        </p:txBody>
      </p:sp>
      <p:sp>
        <p:nvSpPr>
          <p:cNvPr id="14" name="Text 12"/>
          <p:cNvSpPr/>
          <p:nvPr/>
        </p:nvSpPr>
        <p:spPr>
          <a:xfrm>
            <a:off x="4991844" y="2502545"/>
            <a:ext cx="3885441"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Claude reads, writes, and runs commands without constant approval requests.</a:t>
            </a:r>
            <a:endParaRPr lang="en-US" sz="825" dirty="0"/>
          </a:p>
        </p:txBody>
      </p:sp>
      <p:sp>
        <p:nvSpPr>
          <p:cNvPr id="15" name="Text 13"/>
          <p:cNvSpPr/>
          <p:nvPr/>
        </p:nvSpPr>
        <p:spPr>
          <a:xfrm>
            <a:off x="4991844" y="2953941"/>
            <a:ext cx="3885441" cy="173236"/>
          </a:xfrm>
          <a:prstGeom prst="rect">
            <a:avLst/>
          </a:prstGeom>
          <a:noFill/>
          <a:ln/>
        </p:spPr>
        <p:txBody>
          <a:bodyPr wrap="square" lIns="0" tIns="0" rIns="0" bIns="0" rtlCol="0" anchor="t"/>
          <a:lstStyle/>
          <a:p>
            <a:pPr marL="0" indent="0" algn="l">
              <a:lnSpc>
                <a:spcPts val="1365"/>
              </a:lnSpc>
              <a:spcAft>
                <a:spcPts val="300"/>
              </a:spcAft>
              <a:buNone/>
            </a:pPr>
            <a:r>
              <a:rPr lang="en-US" sz="975" dirty="0">
                <a:solidFill>
                  <a:srgbClr val="FFFFFF"/>
                </a:solidFill>
                <a:latin typeface="Georgia" pitchFamily="34" charset="0"/>
                <a:ea typeface="Georgia" pitchFamily="34" charset="-122"/>
                <a:cs typeface="Georgia" pitchFamily="34" charset="-120"/>
              </a:rPr>
              <a:t>Enterprise Compatible</a:t>
            </a:r>
            <a:endParaRPr lang="en-US" sz="975" dirty="0"/>
          </a:p>
        </p:txBody>
      </p:sp>
      <p:sp>
        <p:nvSpPr>
          <p:cNvPr id="16" name="Text 14"/>
          <p:cNvSpPr/>
          <p:nvPr/>
        </p:nvSpPr>
        <p:spPr>
          <a:xfrm>
            <a:off x="4991844" y="3165277"/>
            <a:ext cx="3885441"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Works with Azure OpenAI and custom endpoints for compliance.</a:t>
            </a:r>
            <a:endParaRPr lang="en-US" sz="825" dirty="0"/>
          </a:p>
        </p:txBody>
      </p:sp>
      <p:sp>
        <p:nvSpPr>
          <p:cNvPr id="17" name="Text 15"/>
          <p:cNvSpPr/>
          <p:nvPr/>
        </p:nvSpPr>
        <p:spPr>
          <a:xfrm>
            <a:off x="4991844" y="4387304"/>
            <a:ext cx="3809256" cy="413296"/>
          </a:xfrm>
          <a:prstGeom prst="rect">
            <a:avLst/>
          </a:prstGeom>
          <a:solidFill>
            <a:srgbClr val="252B3D"/>
          </a:solidFill>
          <a:ln/>
        </p:spPr>
        <p:txBody>
          <a:bodyPr wrap="square" rtlCol="0" anchor="ctr"/>
          <a:lstStyle/>
          <a:p>
            <a:pPr marL="0" indent="0">
              <a:buNone/>
            </a:pPr>
            <a:endParaRPr lang="en-US" dirty="0"/>
          </a:p>
        </p:txBody>
      </p:sp>
      <p:sp>
        <p:nvSpPr>
          <p:cNvPr id="18" name="Text 16"/>
          <p:cNvSpPr/>
          <p:nvPr/>
        </p:nvSpPr>
        <p:spPr>
          <a:xfrm>
            <a:off x="5089769" y="4520654"/>
            <a:ext cx="3613407"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Pairing:</a:t>
            </a:r>
            <a:r>
              <a:rPr lang="en-US" sz="825" dirty="0">
                <a:solidFill>
                  <a:srgbClr val="C9A227"/>
                </a:solidFill>
                <a:latin typeface="Arial" pitchFamily="34" charset="0"/>
                <a:ea typeface="Arial" pitchFamily="34" charset="-122"/>
                <a:cs typeface="Arial" pitchFamily="34" charset="-120"/>
              </a:rPr>
              <a:t> Voice tool + Claude Code + VS Code/Cursor for visual work</a:t>
            </a:r>
            <a:endParaRPr lang="en-US" sz="8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45952"/>
            <a:ext cx="1182407" cy="186630"/>
          </a:xfrm>
          <a:prstGeom prst="rect">
            <a:avLst/>
          </a:prstGeom>
          <a:noFill/>
          <a:ln/>
        </p:spPr>
        <p:txBody>
          <a:bodyPr wrap="square" lIns="0" tIns="0" rIns="0" bIns="0" rtlCol="0" anchor="t"/>
          <a:lstStyle/>
          <a:p>
            <a:pPr marL="0" indent="0" algn="ctr">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04</a:t>
            </a:r>
            <a:endParaRPr lang="en-US" sz="1050" dirty="0"/>
          </a:p>
        </p:txBody>
      </p:sp>
      <p:sp>
        <p:nvSpPr>
          <p:cNvPr id="3" name="Text 1"/>
          <p:cNvSpPr/>
          <p:nvPr/>
        </p:nvSpPr>
        <p:spPr>
          <a:xfrm>
            <a:off x="2053560" y="1513582"/>
            <a:ext cx="5036880" cy="495300"/>
          </a:xfrm>
          <a:prstGeom prst="rect">
            <a:avLst/>
          </a:prstGeom>
          <a:noFill/>
          <a:ln/>
        </p:spPr>
        <p:txBody>
          <a:bodyPr wrap="square" lIns="0" tIns="0" rIns="0" bIns="0" rtlCol="0" anchor="t"/>
          <a:lstStyle/>
          <a:p>
            <a:pPr marL="0" indent="0" algn="ctr">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Enterprise Configuration</a:t>
            </a:r>
            <a:endParaRPr lang="en-US" sz="3900" dirty="0"/>
          </a:p>
        </p:txBody>
      </p:sp>
      <p:sp>
        <p:nvSpPr>
          <p:cNvPr id="4" name="Text 2"/>
          <p:cNvSpPr/>
          <p:nvPr/>
        </p:nvSpPr>
        <p:spPr>
          <a:xfrm>
            <a:off x="2827007" y="2313682"/>
            <a:ext cx="3489838" cy="239911"/>
          </a:xfrm>
          <a:prstGeom prst="rect">
            <a:avLst/>
          </a:prstGeom>
          <a:noFill/>
          <a:ln/>
        </p:spPr>
        <p:txBody>
          <a:bodyPr wrap="square" lIns="0" tIns="0" rIns="0" bIns="0" rtlCol="0" anchor="t"/>
          <a:lstStyle/>
          <a:p>
            <a:pPr marL="0" indent="0" algn="ctr">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Azure, Government Cloud, and Local Models</a:t>
            </a:r>
            <a:endParaRPr lang="en-US" sz="1350" dirty="0"/>
          </a:p>
        </p:txBody>
      </p:sp>
      <p:sp>
        <p:nvSpPr>
          <p:cNvPr id="5" name="Text 3"/>
          <p:cNvSpPr/>
          <p:nvPr/>
        </p:nvSpPr>
        <p:spPr>
          <a:xfrm>
            <a:off x="4191000" y="3010793"/>
            <a:ext cx="7620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642574" y="3487043"/>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7" name="Text 5"/>
          <p:cNvSpPr/>
          <p:nvPr/>
        </p:nvSpPr>
        <p:spPr>
          <a:xfrm>
            <a:off x="3374943" y="4050804"/>
            <a:ext cx="671280"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Azure OpenAI</a:t>
            </a:r>
            <a:endParaRPr lang="en-US" sz="825" dirty="0"/>
          </a:p>
        </p:txBody>
      </p:sp>
      <p:sp>
        <p:nvSpPr>
          <p:cNvPr id="8" name="Text 6"/>
          <p:cNvSpPr/>
          <p:nvPr/>
        </p:nvSpPr>
        <p:spPr>
          <a:xfrm>
            <a:off x="4608915" y="3487043"/>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2</a:t>
            </a:r>
            <a:endParaRPr lang="en-US" sz="2100" dirty="0"/>
          </a:p>
        </p:txBody>
      </p:sp>
      <p:sp>
        <p:nvSpPr>
          <p:cNvPr id="9" name="Text 7"/>
          <p:cNvSpPr/>
          <p:nvPr/>
        </p:nvSpPr>
        <p:spPr>
          <a:xfrm>
            <a:off x="4415516" y="4050804"/>
            <a:ext cx="522815"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Alt Options</a:t>
            </a:r>
            <a:endParaRPr lang="en-US" sz="825" dirty="0"/>
          </a:p>
        </p:txBody>
      </p:sp>
      <p:sp>
        <p:nvSpPr>
          <p:cNvPr id="10" name="Text 8"/>
          <p:cNvSpPr/>
          <p:nvPr/>
        </p:nvSpPr>
        <p:spPr>
          <a:xfrm>
            <a:off x="5470333" y="3487043"/>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1</a:t>
            </a:r>
            <a:endParaRPr lang="en-US" sz="2100" dirty="0"/>
          </a:p>
        </p:txBody>
      </p:sp>
      <p:sp>
        <p:nvSpPr>
          <p:cNvPr id="11" name="Text 9"/>
          <p:cNvSpPr/>
          <p:nvPr/>
        </p:nvSpPr>
        <p:spPr>
          <a:xfrm>
            <a:off x="5309723" y="4050804"/>
            <a:ext cx="457236"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Summary</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5392341"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454521"/>
            <a:ext cx="1113184" cy="133350"/>
          </a:xfrm>
          <a:prstGeom prst="rect">
            <a:avLst/>
          </a:prstGeom>
          <a:noFill/>
          <a:ln/>
        </p:spPr>
        <p:txBody>
          <a:bodyPr wrap="square" lIns="0" tIns="0" rIns="0" bIns="0" rtlCol="0" anchor="t"/>
          <a:lstStyle/>
          <a:p>
            <a:pPr marL="0" indent="0" algn="l">
              <a:lnSpc>
                <a:spcPts val="1050"/>
              </a:lnSpc>
              <a:buNone/>
            </a:pPr>
            <a:r>
              <a:rPr lang="en-US" sz="750" dirty="0">
                <a:solidFill>
                  <a:srgbClr val="C9A227"/>
                </a:solidFill>
                <a:latin typeface="Arial" pitchFamily="34" charset="0"/>
                <a:ea typeface="Arial" pitchFamily="34" charset="-122"/>
                <a:cs typeface="Arial" pitchFamily="34" charset="-120"/>
              </a:rPr>
              <a:t>ENTERPRISE AI</a:t>
            </a:r>
            <a:endParaRPr lang="en-US" sz="750" dirty="0"/>
          </a:p>
        </p:txBody>
      </p:sp>
      <p:sp>
        <p:nvSpPr>
          <p:cNvPr id="4" name="Text 2"/>
          <p:cNvSpPr/>
          <p:nvPr/>
        </p:nvSpPr>
        <p:spPr>
          <a:xfrm>
            <a:off x="342900" y="797421"/>
            <a:ext cx="2856357" cy="304800"/>
          </a:xfrm>
          <a:prstGeom prst="rect">
            <a:avLst/>
          </a:prstGeom>
          <a:noFill/>
          <a:ln/>
        </p:spPr>
        <p:txBody>
          <a:bodyPr wrap="square" lIns="0" tIns="0" rIns="0" bIns="0" rtlCol="0" anchor="t"/>
          <a:lstStyle/>
          <a:p>
            <a:pPr marL="0" indent="0" algn="l">
              <a:lnSpc>
                <a:spcPts val="2400"/>
              </a:lnSpc>
              <a:spcAft>
                <a:spcPts val="450"/>
              </a:spcAft>
              <a:buNone/>
            </a:pPr>
            <a:r>
              <a:rPr lang="en-US" sz="2400" dirty="0">
                <a:solidFill>
                  <a:srgbClr val="1A1F2E"/>
                </a:solidFill>
                <a:latin typeface="Georgia" pitchFamily="34" charset="0"/>
                <a:ea typeface="Georgia" pitchFamily="34" charset="-122"/>
                <a:cs typeface="Georgia" pitchFamily="34" charset="-120"/>
              </a:rPr>
              <a:t>Azure OpenAI Service</a:t>
            </a:r>
            <a:endParaRPr lang="en-US" sz="2400" dirty="0"/>
          </a:p>
        </p:txBody>
      </p:sp>
      <p:sp>
        <p:nvSpPr>
          <p:cNvPr id="5" name="Text 3"/>
          <p:cNvSpPr/>
          <p:nvPr/>
        </p:nvSpPr>
        <p:spPr>
          <a:xfrm>
            <a:off x="342900" y="1311771"/>
            <a:ext cx="4800671" cy="173236"/>
          </a:xfrm>
          <a:prstGeom prst="rect">
            <a:avLst/>
          </a:prstGeom>
          <a:noFill/>
          <a:ln/>
        </p:spPr>
        <p:txBody>
          <a:bodyPr wrap="square" lIns="0" tIns="0" rIns="0" bIns="0" rtlCol="0" anchor="t"/>
          <a:lstStyle/>
          <a:p>
            <a:pPr marL="0" indent="0" algn="l">
              <a:lnSpc>
                <a:spcPts val="1365"/>
              </a:lnSpc>
              <a:spcAft>
                <a:spcPts val="1500"/>
              </a:spcAft>
              <a:buNone/>
            </a:pPr>
            <a:r>
              <a:rPr lang="en-US" sz="975" dirty="0">
                <a:solidFill>
                  <a:srgbClr val="6B7280"/>
                </a:solidFill>
                <a:latin typeface="Arial" pitchFamily="34" charset="0"/>
                <a:ea typeface="Arial" pitchFamily="34" charset="-122"/>
                <a:cs typeface="Arial" pitchFamily="34" charset="-120"/>
              </a:rPr>
              <a:t>Microsoft-hosted GPT models with enterprise compliance</a:t>
            </a:r>
            <a:endParaRPr lang="en-US" sz="975" dirty="0"/>
          </a:p>
        </p:txBody>
      </p:sp>
      <p:sp>
        <p:nvSpPr>
          <p:cNvPr id="6" name="Text 4"/>
          <p:cNvSpPr/>
          <p:nvPr/>
        </p:nvSpPr>
        <p:spPr>
          <a:xfrm>
            <a:off x="342900" y="1827907"/>
            <a:ext cx="4706541" cy="81721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7" name="Text 5"/>
          <p:cNvSpPr/>
          <p:nvPr/>
        </p:nvSpPr>
        <p:spPr>
          <a:xfrm>
            <a:off x="485775" y="1970782"/>
            <a:ext cx="450920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Provides</a:t>
            </a:r>
            <a:endParaRPr lang="en-US" sz="900" dirty="0"/>
          </a:p>
        </p:txBody>
      </p:sp>
      <p:sp>
        <p:nvSpPr>
          <p:cNvPr id="8" name="Text 6"/>
          <p:cNvSpPr/>
          <p:nvPr/>
        </p:nvSpPr>
        <p:spPr>
          <a:xfrm>
            <a:off x="485775" y="2187922"/>
            <a:ext cx="4509206"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Same GPT-4 and GPT-4o models as OpenAI, hosted in Microsoft Azure infrastructure with enterprise security controls.</a:t>
            </a:r>
            <a:endParaRPr lang="en-US" sz="825" dirty="0"/>
          </a:p>
        </p:txBody>
      </p:sp>
      <p:sp>
        <p:nvSpPr>
          <p:cNvPr id="9" name="Text 7"/>
          <p:cNvSpPr/>
          <p:nvPr/>
        </p:nvSpPr>
        <p:spPr>
          <a:xfrm>
            <a:off x="342900" y="2892772"/>
            <a:ext cx="4706541" cy="117321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0" name="Text 8"/>
          <p:cNvSpPr/>
          <p:nvPr/>
        </p:nvSpPr>
        <p:spPr>
          <a:xfrm>
            <a:off x="485775" y="3035647"/>
            <a:ext cx="4509206"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Government Benefits</a:t>
            </a:r>
            <a:endParaRPr lang="en-US" sz="900" dirty="0"/>
          </a:p>
        </p:txBody>
      </p:sp>
      <p:sp>
        <p:nvSpPr>
          <p:cNvPr id="11" name="Text 9"/>
          <p:cNvSpPr/>
          <p:nvPr/>
        </p:nvSpPr>
        <p:spPr>
          <a:xfrm>
            <a:off x="485775" y="3252788"/>
            <a:ext cx="4509206" cy="670322"/>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FedRAMP compliance available</a:t>
            </a:r>
            <a:endParaRPr lang="en-US" sz="825" dirty="0"/>
          </a:p>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Data stays in your Azure tenant</a:t>
            </a:r>
            <a:endParaRPr lang="en-US" sz="825" dirty="0"/>
          </a:p>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Private endpoints option</a:t>
            </a:r>
            <a:endParaRPr lang="en-US" sz="825" dirty="0"/>
          </a:p>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Audit logging built-in</a:t>
            </a:r>
            <a:endParaRPr lang="en-US" sz="825" dirty="0"/>
          </a:p>
        </p:txBody>
      </p:sp>
      <p:sp>
        <p:nvSpPr>
          <p:cNvPr id="12" name="Text 10"/>
          <p:cNvSpPr/>
          <p:nvPr/>
        </p:nvSpPr>
        <p:spPr>
          <a:xfrm>
            <a:off x="342900" y="4313634"/>
            <a:ext cx="4706541" cy="375196"/>
          </a:xfrm>
          <a:prstGeom prst="rect">
            <a:avLst/>
          </a:prstGeom>
          <a:solidFill>
            <a:srgbClr val="1A1F2E"/>
          </a:solidFill>
          <a:ln/>
        </p:spPr>
        <p:txBody>
          <a:bodyPr wrap="square" rtlCol="0" anchor="ctr"/>
          <a:lstStyle/>
          <a:p>
            <a:pPr marL="0" indent="0">
              <a:buNone/>
            </a:pPr>
            <a:endParaRPr lang="en-US" dirty="0"/>
          </a:p>
        </p:txBody>
      </p:sp>
      <p:sp>
        <p:nvSpPr>
          <p:cNvPr id="13" name="Text 11"/>
          <p:cNvSpPr/>
          <p:nvPr/>
        </p:nvSpPr>
        <p:spPr>
          <a:xfrm>
            <a:off x="476250" y="4427934"/>
            <a:ext cx="4528637"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Key Point:</a:t>
            </a:r>
            <a:r>
              <a:rPr lang="en-US" sz="825" dirty="0">
                <a:solidFill>
                  <a:srgbClr val="C9A227"/>
                </a:solidFill>
                <a:latin typeface="Arial" pitchFamily="34" charset="0"/>
                <a:ea typeface="Arial" pitchFamily="34" charset="-122"/>
                <a:cs typeface="Arial" pitchFamily="34" charset="-120"/>
              </a:rPr>
              <a:t> Your prompts are NOT used for model training</a:t>
            </a:r>
            <a:endParaRPr lang="en-US" sz="825" dirty="0"/>
          </a:p>
        </p:txBody>
      </p:sp>
      <p:sp>
        <p:nvSpPr>
          <p:cNvPr id="14" name="Text 12"/>
          <p:cNvSpPr/>
          <p:nvPr/>
        </p:nvSpPr>
        <p:spPr>
          <a:xfrm>
            <a:off x="5544741" y="0"/>
            <a:ext cx="3599259" cy="514350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6915745" y="1372642"/>
            <a:ext cx="857250" cy="85725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7101332" y="1641277"/>
            <a:ext cx="485927" cy="319980"/>
          </a:xfrm>
          <a:prstGeom prst="rect">
            <a:avLst/>
          </a:prstGeom>
          <a:noFill/>
          <a:ln/>
        </p:spPr>
        <p:txBody>
          <a:bodyPr wrap="square" lIns="0" tIns="0" rIns="0" bIns="0" rtlCol="0" anchor="t"/>
          <a:lstStyle/>
          <a:p>
            <a:pPr marL="0" indent="0" algn="ctr">
              <a:lnSpc>
                <a:spcPts val="1260"/>
              </a:lnSpc>
              <a:buNone/>
            </a:pPr>
            <a:r>
              <a:rPr lang="en-US" sz="900" dirty="0">
                <a:solidFill>
                  <a:srgbClr val="1A1F2E"/>
                </a:solidFill>
                <a:latin typeface="Arial" pitchFamily="34" charset="0"/>
                <a:ea typeface="Arial" pitchFamily="34" charset="-122"/>
                <a:cs typeface="Arial" pitchFamily="34" charset="-120"/>
              </a:rPr>
              <a:t>AZURE</a:t>
            </a:r>
            <a:endParaRPr lang="en-US" sz="900" dirty="0"/>
          </a:p>
          <a:p>
            <a:pPr marL="0" indent="0" algn="ctr">
              <a:lnSpc>
                <a:spcPts val="1260"/>
              </a:lnSpc>
              <a:buNone/>
            </a:pPr>
            <a:r>
              <a:rPr lang="en-US" sz="900" dirty="0">
                <a:solidFill>
                  <a:srgbClr val="1A1F2E"/>
                </a:solidFill>
                <a:latin typeface="Arial" pitchFamily="34" charset="0"/>
                <a:ea typeface="Arial" pitchFamily="34" charset="-122"/>
                <a:cs typeface="Arial" pitchFamily="34" charset="-120"/>
              </a:rPr>
              <a:t>HOSTED</a:t>
            </a:r>
            <a:endParaRPr lang="en-US" sz="900" dirty="0"/>
          </a:p>
        </p:txBody>
      </p:sp>
      <p:sp>
        <p:nvSpPr>
          <p:cNvPr id="17" name="Text 15"/>
          <p:cNvSpPr/>
          <p:nvPr/>
        </p:nvSpPr>
        <p:spPr>
          <a:xfrm>
            <a:off x="6806982" y="2572792"/>
            <a:ext cx="1074777" cy="213271"/>
          </a:xfrm>
          <a:prstGeom prst="rect">
            <a:avLst/>
          </a:prstGeom>
          <a:noFill/>
          <a:ln/>
        </p:spPr>
        <p:txBody>
          <a:bodyPr wrap="square" lIns="0" tIns="0" rIns="0" bIns="0" rtlCol="0" anchor="t"/>
          <a:lstStyle/>
          <a:p>
            <a:pPr marL="0" indent="0" algn="ctr">
              <a:lnSpc>
                <a:spcPts val="1680"/>
              </a:lnSpc>
              <a:spcAft>
                <a:spcPts val="750"/>
              </a:spcAft>
              <a:buNone/>
            </a:pPr>
            <a:r>
              <a:rPr lang="en-US" sz="1200" dirty="0">
                <a:solidFill>
                  <a:srgbClr val="FFFFFF"/>
                </a:solidFill>
                <a:latin typeface="Georgia" pitchFamily="34" charset="0"/>
                <a:ea typeface="Georgia" pitchFamily="34" charset="-122"/>
                <a:cs typeface="Georgia" pitchFamily="34" charset="-120"/>
              </a:rPr>
              <a:t>Enterprise Ready</a:t>
            </a:r>
            <a:endParaRPr lang="en-US" sz="1200" dirty="0"/>
          </a:p>
        </p:txBody>
      </p:sp>
      <p:sp>
        <p:nvSpPr>
          <p:cNvPr id="18" name="Text 16"/>
          <p:cNvSpPr/>
          <p:nvPr/>
        </p:nvSpPr>
        <p:spPr>
          <a:xfrm>
            <a:off x="6258816" y="3033713"/>
            <a:ext cx="2170959" cy="171450"/>
          </a:xfrm>
          <a:prstGeom prst="rect">
            <a:avLst/>
          </a:prstGeom>
          <a:noFill/>
          <a:ln/>
        </p:spPr>
        <p:txBody>
          <a:bodyPr wrap="square" lIns="0" tIns="0" rIns="0" bIns="0" rtlCol="0" anchor="t"/>
          <a:lstStyle/>
          <a:p>
            <a:pPr marL="0" indent="0" algn="ctr">
              <a:lnSpc>
                <a:spcPts val="1350"/>
              </a:lnSpc>
              <a:buNone/>
            </a:pPr>
            <a:r>
              <a:rPr lang="en-US" sz="900" dirty="0">
                <a:solidFill>
                  <a:srgbClr val="FFFFFF">
                    <a:alpha val="60000"/>
                  </a:srgbClr>
                </a:solidFill>
                <a:latin typeface="Arial" pitchFamily="34" charset="0"/>
                <a:ea typeface="Arial" pitchFamily="34" charset="-122"/>
                <a:cs typeface="Arial" pitchFamily="34" charset="-120"/>
              </a:rPr>
              <a:t>Same AI, government-grade infrastructure</a:t>
            </a:r>
            <a:endParaRPr lang="en-US" sz="900" dirty="0"/>
          </a:p>
        </p:txBody>
      </p:sp>
      <p:sp>
        <p:nvSpPr>
          <p:cNvPr id="19" name="Text 17"/>
          <p:cNvSpPr/>
          <p:nvPr/>
        </p:nvSpPr>
        <p:spPr>
          <a:xfrm>
            <a:off x="5887641" y="4387304"/>
            <a:ext cx="2913459" cy="413296"/>
          </a:xfrm>
          <a:prstGeom prst="rect">
            <a:avLst/>
          </a:prstGeom>
          <a:solidFill>
            <a:srgbClr val="059669"/>
          </a:solidFill>
          <a:ln/>
        </p:spPr>
        <p:txBody>
          <a:bodyPr wrap="square" rtlCol="0" anchor="ctr"/>
          <a:lstStyle/>
          <a:p>
            <a:pPr marL="0" indent="0">
              <a:buNone/>
            </a:pPr>
            <a:endParaRPr lang="en-US" dirty="0"/>
          </a:p>
        </p:txBody>
      </p:sp>
      <p:sp>
        <p:nvSpPr>
          <p:cNvPr id="20" name="Text 18"/>
          <p:cNvSpPr/>
          <p:nvPr/>
        </p:nvSpPr>
        <p:spPr>
          <a:xfrm>
            <a:off x="5994523" y="4520654"/>
            <a:ext cx="2699695" cy="146596"/>
          </a:xfrm>
          <a:prstGeom prst="rect">
            <a:avLst/>
          </a:prstGeom>
          <a:noFill/>
          <a:ln/>
        </p:spPr>
        <p:txBody>
          <a:bodyPr wrap="square" lIns="0" tIns="0" rIns="0" bIns="0" rtlCol="0" anchor="t"/>
          <a:lstStyle/>
          <a:p>
            <a:pPr marL="0" indent="0" algn="ctr">
              <a:lnSpc>
                <a:spcPts val="1155"/>
              </a:lnSpc>
              <a:buNone/>
            </a:pPr>
            <a:r>
              <a:rPr lang="en-US" sz="825" dirty="0">
                <a:solidFill>
                  <a:srgbClr val="FFFFFF"/>
                </a:solidFill>
                <a:latin typeface="Arial" pitchFamily="34" charset="0"/>
                <a:ea typeface="Arial" pitchFamily="34" charset="-122"/>
                <a:cs typeface="Arial" pitchFamily="34" charset="-120"/>
              </a:rPr>
              <a:t>Compatible with Claude Code via API configuration</a:t>
            </a:r>
            <a:endParaRPr lang="en-US" sz="8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COMPLIANCE</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Azure Government Cloud</a:t>
            </a:r>
            <a:endParaRPr lang="en-US" sz="2400" dirty="0"/>
          </a:p>
        </p:txBody>
      </p:sp>
      <p:sp>
        <p:nvSpPr>
          <p:cNvPr id="4" name="Text 2"/>
          <p:cNvSpPr/>
          <p:nvPr/>
        </p:nvSpPr>
        <p:spPr>
          <a:xfrm>
            <a:off x="457200" y="908596"/>
            <a:ext cx="8394192" cy="186630"/>
          </a:xfrm>
          <a:prstGeom prst="rect">
            <a:avLst/>
          </a:prstGeom>
          <a:noFill/>
          <a:ln/>
        </p:spPr>
        <p:txBody>
          <a:bodyPr wrap="square" lIns="0" tIns="0" rIns="0" bIns="0" rtlCol="0" anchor="t"/>
          <a:lstStyle/>
          <a:p>
            <a:pPr marL="0" indent="0" algn="l">
              <a:lnSpc>
                <a:spcPts val="1470"/>
              </a:lnSpc>
              <a:spcBef>
                <a:spcPts val="600"/>
              </a:spcBef>
              <a:buNone/>
            </a:pPr>
            <a:r>
              <a:rPr lang="en-US" sz="1050" dirty="0">
                <a:solidFill>
                  <a:srgbClr val="6B7280"/>
                </a:solidFill>
                <a:latin typeface="Arial" pitchFamily="34" charset="0"/>
                <a:ea typeface="Arial" pitchFamily="34" charset="-122"/>
                <a:cs typeface="Arial" pitchFamily="34" charset="-120"/>
              </a:rPr>
              <a:t>Understanding GCC vs GCC-High environments</a:t>
            </a:r>
            <a:endParaRPr lang="en-US" sz="1050" dirty="0"/>
          </a:p>
        </p:txBody>
      </p:sp>
      <p:sp>
        <p:nvSpPr>
          <p:cNvPr id="5" name="Text 3"/>
          <p:cNvSpPr/>
          <p:nvPr/>
        </p:nvSpPr>
        <p:spPr>
          <a:xfrm>
            <a:off x="457200" y="1467892"/>
            <a:ext cx="2590800" cy="330294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6" name="Text 4"/>
          <p:cNvSpPr/>
          <p:nvPr/>
        </p:nvSpPr>
        <p:spPr>
          <a:xfrm>
            <a:off x="695325" y="1706017"/>
            <a:ext cx="2114550" cy="2857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809625" y="1782217"/>
            <a:ext cx="1923669"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MOST COMMON</a:t>
            </a:r>
            <a:endParaRPr lang="en-US" sz="750" dirty="0"/>
          </a:p>
        </p:txBody>
      </p:sp>
      <p:sp>
        <p:nvSpPr>
          <p:cNvPr id="8" name="Text 6"/>
          <p:cNvSpPr/>
          <p:nvPr/>
        </p:nvSpPr>
        <p:spPr>
          <a:xfrm>
            <a:off x="695325" y="2296567"/>
            <a:ext cx="2156841" cy="533400"/>
          </a:xfrm>
          <a:prstGeom prst="rect">
            <a:avLst/>
          </a:prstGeom>
          <a:noFill/>
          <a:ln/>
        </p:spPr>
        <p:txBody>
          <a:bodyPr wrap="square" lIns="0" tIns="0" rIns="0" bIns="0" rtlCol="0" anchor="t"/>
          <a:lstStyle/>
          <a:p>
            <a:pPr marL="0" indent="0" algn="l">
              <a:lnSpc>
                <a:spcPts val="2100"/>
              </a:lnSpc>
              <a:spcAft>
                <a:spcPts val="900"/>
              </a:spcAft>
              <a:buNone/>
            </a:pPr>
            <a:r>
              <a:rPr lang="en-US" sz="1500" dirty="0">
                <a:solidFill>
                  <a:srgbClr val="1A1F2E"/>
                </a:solidFill>
                <a:latin typeface="Georgia" pitchFamily="34" charset="0"/>
                <a:ea typeface="Georgia" pitchFamily="34" charset="-122"/>
                <a:cs typeface="Georgia" pitchFamily="34" charset="-120"/>
              </a:rPr>
              <a:t>GCC (Government Community Cloud)</a:t>
            </a:r>
            <a:endParaRPr lang="en-US" sz="1500" dirty="0"/>
          </a:p>
        </p:txBody>
      </p:sp>
      <p:sp>
        <p:nvSpPr>
          <p:cNvPr id="9" name="Text 7"/>
          <p:cNvSpPr/>
          <p:nvPr/>
        </p:nvSpPr>
        <p:spPr>
          <a:xfrm>
            <a:off x="695325" y="3096667"/>
            <a:ext cx="2156841" cy="822722"/>
          </a:xfrm>
          <a:prstGeom prst="rect">
            <a:avLst/>
          </a:prstGeom>
          <a:noFill/>
          <a:ln/>
        </p:spPr>
        <p:txBody>
          <a:bodyPr wrap="square" lIns="0" tIns="0" rIns="0" bIns="0" rtlCol="0" anchor="t"/>
          <a:lstStyle/>
          <a:p>
            <a:pPr marL="0" indent="0" algn="l">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FedRAMP Moderate</a:t>
            </a:r>
            <a:endParaRPr lang="en-US" sz="900" dirty="0"/>
          </a:p>
          <a:p>
            <a:pPr marL="0" indent="0" algn="l">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State/Local government</a:t>
            </a:r>
            <a:endParaRPr lang="en-US" sz="900" dirty="0"/>
          </a:p>
          <a:p>
            <a:pPr marL="0" indent="0" algn="l">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Standard .azure.com endpoints</a:t>
            </a:r>
            <a:endParaRPr lang="en-US" sz="900" dirty="0"/>
          </a:p>
          <a:p>
            <a:pPr marL="0" indent="0" algn="l">
              <a:lnSpc>
                <a:spcPts val="1620"/>
              </a:lnSpc>
              <a:spcAft>
                <a:spcPts val="1200"/>
              </a:spcAft>
              <a:buNone/>
            </a:pPr>
            <a:r>
              <a:rPr lang="en-US" sz="900" dirty="0">
                <a:solidFill>
                  <a:srgbClr val="6B7280"/>
                </a:solidFill>
                <a:latin typeface="Arial" pitchFamily="34" charset="0"/>
                <a:ea typeface="Arial" pitchFamily="34" charset="-122"/>
                <a:cs typeface="Arial" pitchFamily="34" charset="-120"/>
              </a:rPr>
              <a:t>Most AI features available</a:t>
            </a:r>
            <a:endParaRPr lang="en-US" sz="900" dirty="0"/>
          </a:p>
        </p:txBody>
      </p:sp>
      <p:sp>
        <p:nvSpPr>
          <p:cNvPr id="10" name="Shape 8"/>
          <p:cNvSpPr/>
          <p:nvPr/>
        </p:nvSpPr>
        <p:spPr>
          <a:xfrm>
            <a:off x="695325" y="4228951"/>
            <a:ext cx="2114550" cy="0"/>
          </a:xfrm>
          <a:prstGeom prst="line">
            <a:avLst/>
          </a:prstGeom>
          <a:noFill/>
          <a:ln w="9525">
            <a:solidFill>
              <a:srgbClr val="E4E7ED"/>
            </a:solidFill>
            <a:prstDash val="solid"/>
          </a:ln>
        </p:spPr>
        <p:txBody>
          <a:bodyPr/>
          <a:lstStyle/>
          <a:p>
            <a:endParaRPr lang="en-US"/>
          </a:p>
        </p:txBody>
      </p:sp>
      <p:sp>
        <p:nvSpPr>
          <p:cNvPr id="11" name="Text 9"/>
          <p:cNvSpPr/>
          <p:nvPr/>
        </p:nvSpPr>
        <p:spPr>
          <a:xfrm>
            <a:off x="695325" y="4386114"/>
            <a:ext cx="2156841" cy="146596"/>
          </a:xfrm>
          <a:prstGeom prst="rect">
            <a:avLst/>
          </a:prstGeom>
          <a:noFill/>
          <a:ln/>
        </p:spPr>
        <p:txBody>
          <a:bodyPr wrap="square" lIns="0" tIns="0" rIns="0" bIns="0" rtlCol="0" anchor="t"/>
          <a:lstStyle/>
          <a:p>
            <a:pPr marL="0" indent="0" algn="l">
              <a:lnSpc>
                <a:spcPts val="1155"/>
              </a:lnSpc>
              <a:buNone/>
            </a:pPr>
            <a:r>
              <a:rPr lang="en-US" sz="825" b="1" dirty="0">
                <a:solidFill>
                  <a:srgbClr val="059669"/>
                </a:solidFill>
                <a:latin typeface="Arial" pitchFamily="34" charset="0"/>
                <a:ea typeface="Arial" pitchFamily="34" charset="-122"/>
                <a:cs typeface="Arial" pitchFamily="34" charset="-120"/>
              </a:rPr>
              <a:t>Recommended for Austin Public Health</a:t>
            </a:r>
            <a:endParaRPr lang="en-US" sz="825" dirty="0"/>
          </a:p>
        </p:txBody>
      </p:sp>
      <p:sp>
        <p:nvSpPr>
          <p:cNvPr id="12" name="Text 10"/>
          <p:cNvSpPr/>
          <p:nvPr/>
        </p:nvSpPr>
        <p:spPr>
          <a:xfrm>
            <a:off x="3276600" y="1546920"/>
            <a:ext cx="2571750" cy="3144738"/>
          </a:xfrm>
          <a:prstGeom prst="rect">
            <a:avLst/>
          </a:prstGeom>
          <a:solidFill>
            <a:srgbClr val="1A1F2E"/>
          </a:solidFill>
          <a:ln/>
        </p:spPr>
        <p:txBody>
          <a:bodyPr wrap="square" rtlCol="0" anchor="ctr"/>
          <a:lstStyle/>
          <a:p>
            <a:pPr marL="0" indent="0">
              <a:buNone/>
            </a:pPr>
            <a:endParaRPr lang="en-US" dirty="0"/>
          </a:p>
        </p:txBody>
      </p:sp>
      <p:sp>
        <p:nvSpPr>
          <p:cNvPr id="13" name="Text 11"/>
          <p:cNvSpPr/>
          <p:nvPr/>
        </p:nvSpPr>
        <p:spPr>
          <a:xfrm>
            <a:off x="3505200" y="1775520"/>
            <a:ext cx="2156841" cy="266700"/>
          </a:xfrm>
          <a:prstGeom prst="rect">
            <a:avLst/>
          </a:prstGeom>
          <a:noFill/>
          <a:ln/>
        </p:spPr>
        <p:txBody>
          <a:bodyPr wrap="square" lIns="0" tIns="0" rIns="0" bIns="0" rtlCol="0" anchor="t"/>
          <a:lstStyle/>
          <a:p>
            <a:pPr marL="0" indent="0" algn="l">
              <a:lnSpc>
                <a:spcPts val="2100"/>
              </a:lnSpc>
              <a:spcAft>
                <a:spcPts val="900"/>
              </a:spcAft>
              <a:buNone/>
            </a:pPr>
            <a:r>
              <a:rPr lang="en-US" sz="1500" dirty="0">
                <a:solidFill>
                  <a:srgbClr val="FFFFFF"/>
                </a:solidFill>
                <a:latin typeface="Georgia" pitchFamily="34" charset="0"/>
                <a:ea typeface="Georgia" pitchFamily="34" charset="-122"/>
                <a:cs typeface="Georgia" pitchFamily="34" charset="-120"/>
              </a:rPr>
              <a:t>GCC-High</a:t>
            </a:r>
            <a:endParaRPr lang="en-US" sz="1500" dirty="0"/>
          </a:p>
        </p:txBody>
      </p:sp>
      <p:sp>
        <p:nvSpPr>
          <p:cNvPr id="14" name="Text 12"/>
          <p:cNvSpPr/>
          <p:nvPr/>
        </p:nvSpPr>
        <p:spPr>
          <a:xfrm>
            <a:off x="3505200" y="2308920"/>
            <a:ext cx="2156841" cy="822722"/>
          </a:xfrm>
          <a:prstGeom prst="rect">
            <a:avLst/>
          </a:prstGeom>
          <a:noFill/>
          <a:ln/>
        </p:spPr>
        <p:txBody>
          <a:bodyPr wrap="square" lIns="0" tIns="0" rIns="0" bIns="0" rtlCol="0" anchor="t"/>
          <a:lstStyle/>
          <a:p>
            <a:pPr marL="0" indent="0" algn="l">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FedRAMP High</a:t>
            </a:r>
            <a:endParaRPr lang="en-US" sz="900" dirty="0"/>
          </a:p>
          <a:p>
            <a:pPr marL="0" indent="0" algn="l">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IL4/IL5 workloads</a:t>
            </a:r>
            <a:endParaRPr lang="en-US" sz="900" dirty="0"/>
          </a:p>
          <a:p>
            <a:pPr marL="0" indent="0" algn="l">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Uses .azure.us endpoints</a:t>
            </a:r>
            <a:endParaRPr lang="en-US" sz="900" dirty="0"/>
          </a:p>
          <a:p>
            <a:pPr marL="0" indent="0" algn="l">
              <a:lnSpc>
                <a:spcPts val="1620"/>
              </a:lnSpc>
              <a:spcAft>
                <a:spcPts val="1200"/>
              </a:spcAft>
              <a:buNone/>
            </a:pPr>
            <a:r>
              <a:rPr lang="en-US" sz="900" dirty="0">
                <a:solidFill>
                  <a:srgbClr val="FFFFFF">
                    <a:alpha val="60000"/>
                  </a:srgbClr>
                </a:solidFill>
                <a:latin typeface="Arial" pitchFamily="34" charset="0"/>
                <a:ea typeface="Arial" pitchFamily="34" charset="-122"/>
                <a:cs typeface="Arial" pitchFamily="34" charset="-120"/>
              </a:rPr>
              <a:t>Limited AI feature availability</a:t>
            </a:r>
            <a:endParaRPr lang="en-US" sz="900" dirty="0"/>
          </a:p>
        </p:txBody>
      </p:sp>
      <p:sp>
        <p:nvSpPr>
          <p:cNvPr id="15" name="Text 13"/>
          <p:cNvSpPr/>
          <p:nvPr/>
        </p:nvSpPr>
        <p:spPr>
          <a:xfrm>
            <a:off x="3505200" y="3588841"/>
            <a:ext cx="2114550" cy="413296"/>
          </a:xfrm>
          <a:prstGeom prst="rect">
            <a:avLst/>
          </a:prstGeom>
          <a:solidFill>
            <a:srgbClr val="252B3D"/>
          </a:solidFill>
          <a:ln/>
        </p:spPr>
        <p:txBody>
          <a:bodyPr wrap="square" rtlCol="0" anchor="ctr"/>
          <a:lstStyle/>
          <a:p>
            <a:pPr marL="0" indent="0">
              <a:buNone/>
            </a:pPr>
            <a:endParaRPr lang="en-US" dirty="0"/>
          </a:p>
        </p:txBody>
      </p:sp>
      <p:sp>
        <p:nvSpPr>
          <p:cNvPr id="16" name="Text 14"/>
          <p:cNvSpPr/>
          <p:nvPr/>
        </p:nvSpPr>
        <p:spPr>
          <a:xfrm>
            <a:off x="3638550" y="3722191"/>
            <a:ext cx="1884807"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Required for: DoD, ITAR, CUI</a:t>
            </a:r>
            <a:endParaRPr lang="en-US" sz="825" dirty="0"/>
          </a:p>
        </p:txBody>
      </p:sp>
      <p:sp>
        <p:nvSpPr>
          <p:cNvPr id="17" name="Shape 15"/>
          <p:cNvSpPr/>
          <p:nvPr/>
        </p:nvSpPr>
        <p:spPr>
          <a:xfrm>
            <a:off x="3505200" y="4159300"/>
            <a:ext cx="2114550" cy="0"/>
          </a:xfrm>
          <a:prstGeom prst="line">
            <a:avLst/>
          </a:prstGeom>
          <a:noFill/>
          <a:ln w="9525">
            <a:solidFill>
              <a:srgbClr val="333333"/>
            </a:solidFill>
            <a:prstDash val="solid"/>
          </a:ln>
        </p:spPr>
        <p:txBody>
          <a:bodyPr/>
          <a:lstStyle/>
          <a:p>
            <a:endParaRPr lang="en-US"/>
          </a:p>
        </p:txBody>
      </p:sp>
      <p:sp>
        <p:nvSpPr>
          <p:cNvPr id="18" name="Text 16"/>
          <p:cNvSpPr/>
          <p:nvPr/>
        </p:nvSpPr>
        <p:spPr>
          <a:xfrm>
            <a:off x="3505200" y="4316462"/>
            <a:ext cx="2156841" cy="146596"/>
          </a:xfrm>
          <a:prstGeom prst="rect">
            <a:avLst/>
          </a:prstGeom>
          <a:noFill/>
          <a:ln/>
        </p:spPr>
        <p:txBody>
          <a:bodyPr wrap="square" lIns="0" tIns="0" rIns="0" bIns="0" rtlCol="0" anchor="t"/>
          <a:lstStyle/>
          <a:p>
            <a:pPr marL="0" indent="0" algn="l">
              <a:lnSpc>
                <a:spcPts val="1155"/>
              </a:lnSpc>
              <a:buNone/>
            </a:pPr>
            <a:r>
              <a:rPr lang="en-US" sz="825" dirty="0">
                <a:solidFill>
                  <a:srgbClr val="F59E0B"/>
                </a:solidFill>
                <a:latin typeface="Arial" pitchFamily="34" charset="0"/>
                <a:ea typeface="Arial" pitchFamily="34" charset="-122"/>
                <a:cs typeface="Arial" pitchFamily="34" charset="-120"/>
              </a:rPr>
              <a:t>Check with IT for specific requirements</a:t>
            </a:r>
            <a:endParaRPr lang="en-US" sz="825" dirty="0"/>
          </a:p>
        </p:txBody>
      </p:sp>
      <p:sp>
        <p:nvSpPr>
          <p:cNvPr id="19" name="Text 17"/>
          <p:cNvSpPr/>
          <p:nvPr/>
        </p:nvSpPr>
        <p:spPr>
          <a:xfrm>
            <a:off x="6076950" y="1526977"/>
            <a:ext cx="2609850" cy="3184624"/>
          </a:xfrm>
          <a:prstGeom prst="rect">
            <a:avLst/>
          </a:prstGeom>
          <a:solidFill>
            <a:srgbClr val="FFFFFF"/>
          </a:solidFill>
          <a:ln/>
        </p:spPr>
        <p:txBody>
          <a:bodyPr wrap="square" rtlCol="0" anchor="ctr"/>
          <a:lstStyle/>
          <a:p>
            <a:pPr marL="0" indent="0">
              <a:buNone/>
            </a:pPr>
            <a:endParaRPr lang="en-US" dirty="0"/>
          </a:p>
        </p:txBody>
      </p:sp>
      <p:sp>
        <p:nvSpPr>
          <p:cNvPr id="20" name="Shape 18"/>
          <p:cNvSpPr/>
          <p:nvPr/>
        </p:nvSpPr>
        <p:spPr>
          <a:xfrm>
            <a:off x="6096000" y="1526977"/>
            <a:ext cx="0" cy="3184624"/>
          </a:xfrm>
          <a:prstGeom prst="line">
            <a:avLst/>
          </a:prstGeom>
          <a:noFill/>
          <a:ln w="38100">
            <a:solidFill>
              <a:srgbClr val="C9A227"/>
            </a:solidFill>
            <a:prstDash val="solid"/>
          </a:ln>
        </p:spPr>
        <p:txBody>
          <a:bodyPr/>
          <a:lstStyle/>
          <a:p>
            <a:endParaRPr lang="en-US"/>
          </a:p>
        </p:txBody>
      </p:sp>
      <p:sp>
        <p:nvSpPr>
          <p:cNvPr id="21" name="Text 19"/>
          <p:cNvSpPr/>
          <p:nvPr/>
        </p:nvSpPr>
        <p:spPr>
          <a:xfrm>
            <a:off x="6343650" y="1755577"/>
            <a:ext cx="2156841" cy="186630"/>
          </a:xfrm>
          <a:prstGeom prst="rect">
            <a:avLst/>
          </a:prstGeom>
          <a:noFill/>
          <a:ln/>
        </p:spPr>
        <p:txBody>
          <a:bodyPr wrap="square" lIns="0" tIns="0" rIns="0" bIns="0" rtlCol="0" anchor="t"/>
          <a:lstStyle/>
          <a:p>
            <a:pPr marL="0" indent="0" algn="l">
              <a:lnSpc>
                <a:spcPts val="1470"/>
              </a:lnSpc>
              <a:spcAft>
                <a:spcPts val="1200"/>
              </a:spcAft>
              <a:buNone/>
            </a:pPr>
            <a:r>
              <a:rPr lang="en-US" sz="1050" b="1" dirty="0">
                <a:solidFill>
                  <a:srgbClr val="1A1F2E"/>
                </a:solidFill>
                <a:latin typeface="Georgia" pitchFamily="34" charset="0"/>
                <a:ea typeface="Georgia" pitchFamily="34" charset="-122"/>
                <a:cs typeface="Georgia" pitchFamily="34" charset="-120"/>
              </a:rPr>
              <a:t>Key Differences</a:t>
            </a:r>
            <a:endParaRPr lang="en-US" sz="1050" dirty="0"/>
          </a:p>
        </p:txBody>
      </p:sp>
      <p:sp>
        <p:nvSpPr>
          <p:cNvPr id="22" name="Text 20"/>
          <p:cNvSpPr/>
          <p:nvPr/>
        </p:nvSpPr>
        <p:spPr>
          <a:xfrm>
            <a:off x="6343650" y="2247007"/>
            <a:ext cx="215684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Endpoints</a:t>
            </a:r>
            <a:endParaRPr lang="en-US" sz="900" dirty="0"/>
          </a:p>
        </p:txBody>
      </p:sp>
      <p:sp>
        <p:nvSpPr>
          <p:cNvPr id="23" name="Text 21"/>
          <p:cNvSpPr/>
          <p:nvPr/>
        </p:nvSpPr>
        <p:spPr>
          <a:xfrm>
            <a:off x="6343650" y="2445097"/>
            <a:ext cx="215684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monospace" pitchFamily="34" charset="0"/>
                <a:ea typeface="monospace" pitchFamily="34" charset="-122"/>
                <a:cs typeface="monospace" pitchFamily="34" charset="-120"/>
              </a:rPr>
              <a:t>.azure.com vs .azure.us</a:t>
            </a:r>
            <a:endParaRPr lang="en-US" sz="825" dirty="0"/>
          </a:p>
        </p:txBody>
      </p:sp>
      <p:sp>
        <p:nvSpPr>
          <p:cNvPr id="24" name="Text 22"/>
          <p:cNvSpPr/>
          <p:nvPr/>
        </p:nvSpPr>
        <p:spPr>
          <a:xfrm>
            <a:off x="6343650" y="2877443"/>
            <a:ext cx="215684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Personnel</a:t>
            </a:r>
            <a:endParaRPr lang="en-US" sz="900" dirty="0"/>
          </a:p>
        </p:txBody>
      </p:sp>
      <p:sp>
        <p:nvSpPr>
          <p:cNvPr id="25" name="Text 23"/>
          <p:cNvSpPr/>
          <p:nvPr/>
        </p:nvSpPr>
        <p:spPr>
          <a:xfrm>
            <a:off x="6343650" y="3075533"/>
            <a:ext cx="215684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GCC-High: US citizens only</a:t>
            </a:r>
            <a:endParaRPr lang="en-US" sz="825" dirty="0"/>
          </a:p>
        </p:txBody>
      </p:sp>
      <p:sp>
        <p:nvSpPr>
          <p:cNvPr id="26" name="Text 24"/>
          <p:cNvSpPr/>
          <p:nvPr/>
        </p:nvSpPr>
        <p:spPr>
          <a:xfrm>
            <a:off x="6343650" y="3507879"/>
            <a:ext cx="215684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Data Location</a:t>
            </a:r>
            <a:endParaRPr lang="en-US" sz="900" dirty="0"/>
          </a:p>
        </p:txBody>
      </p:sp>
      <p:sp>
        <p:nvSpPr>
          <p:cNvPr id="27" name="Text 25"/>
          <p:cNvSpPr/>
          <p:nvPr/>
        </p:nvSpPr>
        <p:spPr>
          <a:xfrm>
            <a:off x="6343650" y="3705969"/>
            <a:ext cx="215684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Both: US datacenters only</a:t>
            </a:r>
            <a:endParaRPr lang="en-US" sz="825" dirty="0"/>
          </a:p>
        </p:txBody>
      </p:sp>
      <p:sp>
        <p:nvSpPr>
          <p:cNvPr id="28" name="Text 26"/>
          <p:cNvSpPr/>
          <p:nvPr/>
        </p:nvSpPr>
        <p:spPr>
          <a:xfrm>
            <a:off x="6343650" y="4138315"/>
            <a:ext cx="2156841"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Cost</a:t>
            </a:r>
            <a:endParaRPr lang="en-US" sz="900" dirty="0"/>
          </a:p>
        </p:txBody>
      </p:sp>
      <p:sp>
        <p:nvSpPr>
          <p:cNvPr id="29" name="Text 27"/>
          <p:cNvSpPr/>
          <p:nvPr/>
        </p:nvSpPr>
        <p:spPr>
          <a:xfrm>
            <a:off x="6343650" y="4336405"/>
            <a:ext cx="2156841"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GCC-High: ~20% premium</a:t>
            </a:r>
            <a:endParaRPr lang="en-US" sz="8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CONFIGURATION</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FFFFFF"/>
                </a:solidFill>
                <a:latin typeface="Georgia" pitchFamily="34" charset="0"/>
                <a:ea typeface="Georgia" pitchFamily="34" charset="-122"/>
                <a:cs typeface="Georgia" pitchFamily="34" charset="-120"/>
              </a:rPr>
              <a:t>Azure OpenAI Setup</a:t>
            </a:r>
            <a:endParaRPr lang="en-US" sz="2100" dirty="0"/>
          </a:p>
        </p:txBody>
      </p:sp>
      <p:sp>
        <p:nvSpPr>
          <p:cNvPr id="4" name="Text 2"/>
          <p:cNvSpPr/>
          <p:nvPr/>
        </p:nvSpPr>
        <p:spPr>
          <a:xfrm>
            <a:off x="381000" y="922139"/>
            <a:ext cx="2705100" cy="1487686"/>
          </a:xfrm>
          <a:prstGeom prst="rect">
            <a:avLst/>
          </a:prstGeom>
          <a:solidFill>
            <a:srgbClr val="252B3D"/>
          </a:solidFill>
          <a:ln/>
        </p:spPr>
        <p:txBody>
          <a:bodyPr wrap="square" rtlCol="0" anchor="ctr"/>
          <a:lstStyle/>
          <a:p>
            <a:pPr marL="0" indent="0">
              <a:buNone/>
            </a:pPr>
            <a:endParaRPr lang="en-US" dirty="0"/>
          </a:p>
        </p:txBody>
      </p:sp>
      <p:sp>
        <p:nvSpPr>
          <p:cNvPr id="5" name="Text 3"/>
          <p:cNvSpPr/>
          <p:nvPr/>
        </p:nvSpPr>
        <p:spPr>
          <a:xfrm>
            <a:off x="533400" y="1074539"/>
            <a:ext cx="266700" cy="2667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634901" y="112782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533400" y="1588889"/>
            <a:ext cx="2448306" cy="173236"/>
          </a:xfrm>
          <a:prstGeom prst="rect">
            <a:avLst/>
          </a:prstGeom>
          <a:noFill/>
          <a:ln/>
        </p:spPr>
        <p:txBody>
          <a:bodyPr wrap="square" lIns="0" tIns="0" rIns="0" bIns="0" rtlCol="0" anchor="t"/>
          <a:lstStyle/>
          <a:p>
            <a:pPr marL="0" indent="0" algn="l">
              <a:lnSpc>
                <a:spcPts val="1365"/>
              </a:lnSpc>
              <a:spcAft>
                <a:spcPts val="450"/>
              </a:spcAft>
              <a:buNone/>
            </a:pPr>
            <a:r>
              <a:rPr lang="en-US" sz="975" dirty="0">
                <a:solidFill>
                  <a:srgbClr val="FFFFFF"/>
                </a:solidFill>
                <a:latin typeface="Georgia" pitchFamily="34" charset="0"/>
                <a:ea typeface="Georgia" pitchFamily="34" charset="-122"/>
                <a:cs typeface="Georgia" pitchFamily="34" charset="-120"/>
              </a:rPr>
              <a:t>Request Access</a:t>
            </a:r>
            <a:endParaRPr lang="en-US" sz="975" dirty="0"/>
          </a:p>
        </p:txBody>
      </p:sp>
      <p:sp>
        <p:nvSpPr>
          <p:cNvPr id="8" name="Text 6"/>
          <p:cNvSpPr/>
          <p:nvPr/>
        </p:nvSpPr>
        <p:spPr>
          <a:xfrm>
            <a:off x="533400" y="1971675"/>
            <a:ext cx="2448306"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Apply at aka.ms/oai/access. Approval typically 1-2 business days.</a:t>
            </a:r>
            <a:endParaRPr lang="en-US" sz="750" dirty="0"/>
          </a:p>
        </p:txBody>
      </p:sp>
      <p:sp>
        <p:nvSpPr>
          <p:cNvPr id="9" name="Text 7"/>
          <p:cNvSpPr/>
          <p:nvPr/>
        </p:nvSpPr>
        <p:spPr>
          <a:xfrm>
            <a:off x="3219450" y="922139"/>
            <a:ext cx="2705100" cy="1487686"/>
          </a:xfrm>
          <a:prstGeom prst="rect">
            <a:avLst/>
          </a:prstGeom>
          <a:solidFill>
            <a:srgbClr val="252B3D"/>
          </a:solidFill>
          <a:ln/>
        </p:spPr>
        <p:txBody>
          <a:bodyPr wrap="square" rtlCol="0" anchor="ctr"/>
          <a:lstStyle/>
          <a:p>
            <a:pPr marL="0" indent="0">
              <a:buNone/>
            </a:pPr>
            <a:endParaRPr lang="en-US" dirty="0"/>
          </a:p>
        </p:txBody>
      </p:sp>
      <p:sp>
        <p:nvSpPr>
          <p:cNvPr id="10" name="Text 8"/>
          <p:cNvSpPr/>
          <p:nvPr/>
        </p:nvSpPr>
        <p:spPr>
          <a:xfrm>
            <a:off x="3371850" y="1074539"/>
            <a:ext cx="266700" cy="2667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3473351" y="112782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2</a:t>
            </a:r>
            <a:endParaRPr lang="en-US" sz="900" dirty="0"/>
          </a:p>
        </p:txBody>
      </p:sp>
      <p:sp>
        <p:nvSpPr>
          <p:cNvPr id="12" name="Text 10"/>
          <p:cNvSpPr/>
          <p:nvPr/>
        </p:nvSpPr>
        <p:spPr>
          <a:xfrm>
            <a:off x="3371850" y="1588889"/>
            <a:ext cx="2448306" cy="173236"/>
          </a:xfrm>
          <a:prstGeom prst="rect">
            <a:avLst/>
          </a:prstGeom>
          <a:noFill/>
          <a:ln/>
        </p:spPr>
        <p:txBody>
          <a:bodyPr wrap="square" lIns="0" tIns="0" rIns="0" bIns="0" rtlCol="0" anchor="t"/>
          <a:lstStyle/>
          <a:p>
            <a:pPr marL="0" indent="0" algn="l">
              <a:lnSpc>
                <a:spcPts val="1365"/>
              </a:lnSpc>
              <a:spcAft>
                <a:spcPts val="450"/>
              </a:spcAft>
              <a:buNone/>
            </a:pPr>
            <a:r>
              <a:rPr lang="en-US" sz="975" dirty="0">
                <a:solidFill>
                  <a:srgbClr val="FFFFFF"/>
                </a:solidFill>
                <a:latin typeface="Georgia" pitchFamily="34" charset="0"/>
                <a:ea typeface="Georgia" pitchFamily="34" charset="-122"/>
                <a:cs typeface="Georgia" pitchFamily="34" charset="-120"/>
              </a:rPr>
              <a:t>Create Resource</a:t>
            </a:r>
            <a:endParaRPr lang="en-US" sz="975" dirty="0"/>
          </a:p>
        </p:txBody>
      </p:sp>
      <p:sp>
        <p:nvSpPr>
          <p:cNvPr id="13" name="Text 11"/>
          <p:cNvSpPr/>
          <p:nvPr/>
        </p:nvSpPr>
        <p:spPr>
          <a:xfrm>
            <a:off x="3371850" y="1971675"/>
            <a:ext cx="2448306" cy="28575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Azure Portal &gt; Create Azure OpenAI resource in your subscription.</a:t>
            </a:r>
            <a:endParaRPr lang="en-US" sz="750" dirty="0"/>
          </a:p>
        </p:txBody>
      </p:sp>
      <p:sp>
        <p:nvSpPr>
          <p:cNvPr id="14" name="Text 12"/>
          <p:cNvSpPr/>
          <p:nvPr/>
        </p:nvSpPr>
        <p:spPr>
          <a:xfrm>
            <a:off x="6057900" y="993577"/>
            <a:ext cx="2705100" cy="1344811"/>
          </a:xfrm>
          <a:prstGeom prst="rect">
            <a:avLst/>
          </a:prstGeom>
          <a:solidFill>
            <a:srgbClr val="252B3D"/>
          </a:solidFill>
          <a:ln/>
        </p:spPr>
        <p:txBody>
          <a:bodyPr wrap="square" rtlCol="0" anchor="ctr"/>
          <a:lstStyle/>
          <a:p>
            <a:pPr marL="0" indent="0">
              <a:buNone/>
            </a:pPr>
            <a:endParaRPr lang="en-US" dirty="0"/>
          </a:p>
        </p:txBody>
      </p:sp>
      <p:sp>
        <p:nvSpPr>
          <p:cNvPr id="15" name="Text 13"/>
          <p:cNvSpPr/>
          <p:nvPr/>
        </p:nvSpPr>
        <p:spPr>
          <a:xfrm>
            <a:off x="6210300" y="1145977"/>
            <a:ext cx="266700" cy="2667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6311801" y="119925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3</a:t>
            </a:r>
            <a:endParaRPr lang="en-US" sz="900" dirty="0"/>
          </a:p>
        </p:txBody>
      </p:sp>
      <p:sp>
        <p:nvSpPr>
          <p:cNvPr id="17" name="Text 15"/>
          <p:cNvSpPr/>
          <p:nvPr/>
        </p:nvSpPr>
        <p:spPr>
          <a:xfrm>
            <a:off x="6210300" y="1660327"/>
            <a:ext cx="2448306" cy="173236"/>
          </a:xfrm>
          <a:prstGeom prst="rect">
            <a:avLst/>
          </a:prstGeom>
          <a:noFill/>
          <a:ln/>
        </p:spPr>
        <p:txBody>
          <a:bodyPr wrap="square" lIns="0" tIns="0" rIns="0" bIns="0" rtlCol="0" anchor="t"/>
          <a:lstStyle/>
          <a:p>
            <a:pPr marL="0" indent="0" algn="l">
              <a:lnSpc>
                <a:spcPts val="1365"/>
              </a:lnSpc>
              <a:spcAft>
                <a:spcPts val="450"/>
              </a:spcAft>
              <a:buNone/>
            </a:pPr>
            <a:r>
              <a:rPr lang="en-US" sz="975" dirty="0">
                <a:solidFill>
                  <a:srgbClr val="FFFFFF"/>
                </a:solidFill>
                <a:latin typeface="Georgia" pitchFamily="34" charset="0"/>
                <a:ea typeface="Georgia" pitchFamily="34" charset="-122"/>
                <a:cs typeface="Georgia" pitchFamily="34" charset="-120"/>
              </a:rPr>
              <a:t>Deploy Model</a:t>
            </a:r>
            <a:endParaRPr lang="en-US" sz="975" dirty="0"/>
          </a:p>
        </p:txBody>
      </p:sp>
      <p:sp>
        <p:nvSpPr>
          <p:cNvPr id="18" name="Text 16"/>
          <p:cNvSpPr/>
          <p:nvPr/>
        </p:nvSpPr>
        <p:spPr>
          <a:xfrm>
            <a:off x="6210300" y="2043113"/>
            <a:ext cx="2448306" cy="142875"/>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Azure AI Studio &gt; Deploy GPT-4 or GPT-4o model.</a:t>
            </a:r>
            <a:endParaRPr lang="en-US" sz="750" dirty="0"/>
          </a:p>
        </p:txBody>
      </p:sp>
      <p:sp>
        <p:nvSpPr>
          <p:cNvPr id="19" name="Text 17"/>
          <p:cNvSpPr/>
          <p:nvPr/>
        </p:nvSpPr>
        <p:spPr>
          <a:xfrm>
            <a:off x="381000" y="2695575"/>
            <a:ext cx="8382000" cy="1613446"/>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533400" y="2847975"/>
            <a:ext cx="8238744"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Environment Variables</a:t>
            </a:r>
            <a:endParaRPr lang="en-US" sz="825" dirty="0"/>
          </a:p>
        </p:txBody>
      </p:sp>
      <p:sp>
        <p:nvSpPr>
          <p:cNvPr id="21" name="Text 19"/>
          <p:cNvSpPr/>
          <p:nvPr/>
        </p:nvSpPr>
        <p:spPr>
          <a:xfrm>
            <a:off x="533400" y="3089821"/>
            <a:ext cx="8238744"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AZURE_OPENAI_ENDPOINT=https://your-resource.openai.azure.com</a:t>
            </a:r>
            <a:endParaRPr lang="en-US" sz="1500" dirty="0"/>
          </a:p>
        </p:txBody>
      </p:sp>
      <p:sp>
        <p:nvSpPr>
          <p:cNvPr id="22" name="Text 20"/>
          <p:cNvSpPr/>
          <p:nvPr/>
        </p:nvSpPr>
        <p:spPr>
          <a:xfrm>
            <a:off x="533400" y="3356521"/>
            <a:ext cx="8238744"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AZURE_OPENAI_API_KEY=your-api-key</a:t>
            </a:r>
            <a:endParaRPr lang="en-US" sz="1500" dirty="0"/>
          </a:p>
        </p:txBody>
      </p:sp>
      <p:sp>
        <p:nvSpPr>
          <p:cNvPr id="23" name="Text 21"/>
          <p:cNvSpPr/>
          <p:nvPr/>
        </p:nvSpPr>
        <p:spPr>
          <a:xfrm>
            <a:off x="533400" y="3623221"/>
            <a:ext cx="8238744"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AZURE_OPENAI_DEPLOYMENT=your-deployment-name</a:t>
            </a:r>
            <a:endParaRPr lang="en-US" sz="1500" dirty="0"/>
          </a:p>
        </p:txBody>
      </p:sp>
      <p:sp>
        <p:nvSpPr>
          <p:cNvPr id="24" name="Text 22"/>
          <p:cNvSpPr/>
          <p:nvPr/>
        </p:nvSpPr>
        <p:spPr>
          <a:xfrm>
            <a:off x="533400" y="3889921"/>
            <a:ext cx="8238744"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alpha val="80000"/>
                  </a:srgbClr>
                </a:solidFill>
                <a:latin typeface="Arial" pitchFamily="34" charset="0"/>
                <a:ea typeface="Arial" pitchFamily="34" charset="-122"/>
                <a:cs typeface="Arial" pitchFamily="34" charset="-120"/>
              </a:rPr>
              <a:t>AZURE_OPENAI_API_VERSION=2024-02-15-preview</a:t>
            </a:r>
            <a:endParaRPr lang="en-US" sz="1500" dirty="0"/>
          </a:p>
        </p:txBody>
      </p:sp>
      <p:sp>
        <p:nvSpPr>
          <p:cNvPr id="25" name="Text 23"/>
          <p:cNvSpPr/>
          <p:nvPr/>
        </p:nvSpPr>
        <p:spPr>
          <a:xfrm>
            <a:off x="381000" y="4594771"/>
            <a:ext cx="8382000" cy="388590"/>
          </a:xfrm>
          <a:prstGeom prst="rect">
            <a:avLst/>
          </a:prstGeom>
          <a:solidFill>
            <a:srgbClr val="059669"/>
          </a:solidFill>
          <a:ln/>
        </p:spPr>
        <p:txBody>
          <a:bodyPr wrap="square" rtlCol="0" anchor="ctr"/>
          <a:lstStyle/>
          <a:p>
            <a:pPr marL="0" indent="0">
              <a:buNone/>
            </a:pPr>
            <a:endParaRPr lang="en-US" dirty="0"/>
          </a:p>
        </p:txBody>
      </p:sp>
      <p:sp>
        <p:nvSpPr>
          <p:cNvPr id="26" name="Text 24"/>
          <p:cNvSpPr/>
          <p:nvPr/>
        </p:nvSpPr>
        <p:spPr>
          <a:xfrm>
            <a:off x="452628" y="4709071"/>
            <a:ext cx="8238744" cy="159990"/>
          </a:xfrm>
          <a:prstGeom prst="rect">
            <a:avLst/>
          </a:prstGeom>
          <a:noFill/>
          <a:ln/>
        </p:spPr>
        <p:txBody>
          <a:bodyPr wrap="square" lIns="0" tIns="0" rIns="0" bIns="0" rtlCol="0" anchor="t"/>
          <a:lstStyle/>
          <a:p>
            <a:pPr marL="0" indent="0" algn="ctr">
              <a:lnSpc>
                <a:spcPts val="1260"/>
              </a:lnSpc>
              <a:buNone/>
            </a:pPr>
            <a:r>
              <a:rPr lang="en-US" sz="900" dirty="0">
                <a:solidFill>
                  <a:srgbClr val="FFFFFF"/>
                </a:solidFill>
                <a:latin typeface="Arial" pitchFamily="34" charset="0"/>
                <a:ea typeface="Arial" pitchFamily="34" charset="-122"/>
                <a:cs typeface="Arial" pitchFamily="34" charset="-120"/>
              </a:rPr>
              <a:t>These credentials work with Continue.dev, LangChain, and other AI development tools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4070"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473571"/>
            <a:ext cx="1358500" cy="133350"/>
          </a:xfrm>
          <a:prstGeom prst="rect">
            <a:avLst/>
          </a:prstGeom>
          <a:noFill/>
          <a:ln/>
        </p:spPr>
        <p:txBody>
          <a:bodyPr wrap="square" lIns="0" tIns="0" rIns="0" bIns="0" rtlCol="0" anchor="t"/>
          <a:lstStyle/>
          <a:p>
            <a:pPr marL="0" indent="0" algn="l">
              <a:lnSpc>
                <a:spcPts val="1050"/>
              </a:lnSpc>
              <a:buNone/>
            </a:pPr>
            <a:r>
              <a:rPr lang="en-US" sz="750" dirty="0">
                <a:solidFill>
                  <a:srgbClr val="C9A227"/>
                </a:solidFill>
                <a:latin typeface="Arial" pitchFamily="34" charset="0"/>
                <a:ea typeface="Arial" pitchFamily="34" charset="-122"/>
                <a:cs typeface="Arial" pitchFamily="34" charset="-120"/>
              </a:rPr>
              <a:t>PLATFORM OPTION</a:t>
            </a:r>
            <a:endParaRPr lang="en-US" sz="750" dirty="0"/>
          </a:p>
        </p:txBody>
      </p:sp>
      <p:sp>
        <p:nvSpPr>
          <p:cNvPr id="4" name="Text 2"/>
          <p:cNvSpPr/>
          <p:nvPr/>
        </p:nvSpPr>
        <p:spPr>
          <a:xfrm>
            <a:off x="342900" y="816471"/>
            <a:ext cx="2176272" cy="266700"/>
          </a:xfrm>
          <a:prstGeom prst="rect">
            <a:avLst/>
          </a:prstGeom>
          <a:noFill/>
          <a:ln/>
        </p:spPr>
        <p:txBody>
          <a:bodyPr wrap="square" lIns="0" tIns="0" rIns="0" bIns="0" rtlCol="0" anchor="t"/>
          <a:lstStyle/>
          <a:p>
            <a:pPr marL="0" indent="0" algn="l">
              <a:lnSpc>
                <a:spcPts val="2100"/>
              </a:lnSpc>
              <a:spcAft>
                <a:spcPts val="450"/>
              </a:spcAft>
              <a:buNone/>
            </a:pPr>
            <a:r>
              <a:rPr lang="en-US" sz="2100" dirty="0">
                <a:solidFill>
                  <a:srgbClr val="1A1F2E"/>
                </a:solidFill>
                <a:latin typeface="Georgia" pitchFamily="34" charset="0"/>
                <a:ea typeface="Georgia" pitchFamily="34" charset="-122"/>
                <a:cs typeface="Georgia" pitchFamily="34" charset="-120"/>
              </a:rPr>
              <a:t>Palantir Foundry</a:t>
            </a:r>
            <a:endParaRPr lang="en-US" sz="2100" dirty="0"/>
          </a:p>
        </p:txBody>
      </p:sp>
      <p:sp>
        <p:nvSpPr>
          <p:cNvPr id="5" name="Text 3"/>
          <p:cNvSpPr/>
          <p:nvPr/>
        </p:nvSpPr>
        <p:spPr>
          <a:xfrm>
            <a:off x="342900" y="1292721"/>
            <a:ext cx="4343436" cy="173236"/>
          </a:xfrm>
          <a:prstGeom prst="rect">
            <a:avLst/>
          </a:prstGeom>
          <a:noFill/>
          <a:ln/>
        </p:spPr>
        <p:txBody>
          <a:bodyPr wrap="square" lIns="0" tIns="0" rIns="0" bIns="0" rtlCol="0" anchor="t"/>
          <a:lstStyle/>
          <a:p>
            <a:pPr marL="0" indent="0" algn="l">
              <a:lnSpc>
                <a:spcPts val="1365"/>
              </a:lnSpc>
              <a:spcAft>
                <a:spcPts val="1500"/>
              </a:spcAft>
              <a:buNone/>
            </a:pPr>
            <a:r>
              <a:rPr lang="en-US" sz="975" dirty="0">
                <a:solidFill>
                  <a:srgbClr val="6B7280"/>
                </a:solidFill>
                <a:latin typeface="Arial" pitchFamily="34" charset="0"/>
                <a:ea typeface="Arial" pitchFamily="34" charset="-122"/>
                <a:cs typeface="Arial" pitchFamily="34" charset="-120"/>
              </a:rPr>
              <a:t>Enterprise data platform with AI integration</a:t>
            </a:r>
            <a:endParaRPr lang="en-US" sz="975" dirty="0"/>
          </a:p>
        </p:txBody>
      </p:sp>
      <p:sp>
        <p:nvSpPr>
          <p:cNvPr id="6" name="Text 4"/>
          <p:cNvSpPr/>
          <p:nvPr/>
        </p:nvSpPr>
        <p:spPr>
          <a:xfrm>
            <a:off x="342900" y="1808857"/>
            <a:ext cx="4258270" cy="81721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7" name="Text 5"/>
          <p:cNvSpPr/>
          <p:nvPr/>
        </p:nvSpPr>
        <p:spPr>
          <a:xfrm>
            <a:off x="485775" y="1951732"/>
            <a:ext cx="4051971"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What It Offers</a:t>
            </a:r>
            <a:endParaRPr lang="en-US" sz="900" dirty="0"/>
          </a:p>
        </p:txBody>
      </p:sp>
      <p:sp>
        <p:nvSpPr>
          <p:cNvPr id="8" name="Text 6"/>
          <p:cNvSpPr/>
          <p:nvPr/>
        </p:nvSpPr>
        <p:spPr>
          <a:xfrm>
            <a:off x="485775" y="2168872"/>
            <a:ext cx="4051971"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Data integration platform with built-in LLM capabilities. Designed for government and enterprise data workflows.</a:t>
            </a:r>
            <a:endParaRPr lang="en-US" sz="825" dirty="0"/>
          </a:p>
        </p:txBody>
      </p:sp>
      <p:sp>
        <p:nvSpPr>
          <p:cNvPr id="9" name="Text 7"/>
          <p:cNvSpPr/>
          <p:nvPr/>
        </p:nvSpPr>
        <p:spPr>
          <a:xfrm>
            <a:off x="342900" y="2873722"/>
            <a:ext cx="4258270" cy="117321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0" name="Text 8"/>
          <p:cNvSpPr/>
          <p:nvPr/>
        </p:nvSpPr>
        <p:spPr>
          <a:xfrm>
            <a:off x="485775" y="3016597"/>
            <a:ext cx="4051971"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1A1F2E"/>
                </a:solidFill>
                <a:latin typeface="Arial" pitchFamily="34" charset="0"/>
                <a:ea typeface="Arial" pitchFamily="34" charset="-122"/>
                <a:cs typeface="Arial" pitchFamily="34" charset="-120"/>
              </a:rPr>
              <a:t>AI Capabilities</a:t>
            </a:r>
            <a:endParaRPr lang="en-US" sz="900" dirty="0"/>
          </a:p>
        </p:txBody>
      </p:sp>
      <p:sp>
        <p:nvSpPr>
          <p:cNvPr id="11" name="Text 9"/>
          <p:cNvSpPr/>
          <p:nvPr/>
        </p:nvSpPr>
        <p:spPr>
          <a:xfrm>
            <a:off x="485775" y="3233738"/>
            <a:ext cx="4051971" cy="670322"/>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AIP (AI Platform) for coding</a:t>
            </a:r>
            <a:endParaRPr lang="en-US" sz="825" dirty="0"/>
          </a:p>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Ontology-aware AI</a:t>
            </a:r>
            <a:endParaRPr lang="en-US" sz="825" dirty="0"/>
          </a:p>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Data lineage tracking</a:t>
            </a:r>
            <a:endParaRPr lang="en-US" sz="825" dirty="0"/>
          </a:p>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Audit trail included</a:t>
            </a:r>
            <a:endParaRPr lang="en-US" sz="825" dirty="0"/>
          </a:p>
        </p:txBody>
      </p:sp>
      <p:sp>
        <p:nvSpPr>
          <p:cNvPr id="12" name="Text 10"/>
          <p:cNvSpPr/>
          <p:nvPr/>
        </p:nvSpPr>
        <p:spPr>
          <a:xfrm>
            <a:off x="342900" y="4294584"/>
            <a:ext cx="4258270" cy="375196"/>
          </a:xfrm>
          <a:prstGeom prst="rect">
            <a:avLst/>
          </a:prstGeom>
          <a:solidFill>
            <a:srgbClr val="FEF3C7"/>
          </a:solidFill>
          <a:ln/>
        </p:spPr>
        <p:txBody>
          <a:bodyPr wrap="square" rtlCol="0" anchor="ctr"/>
          <a:lstStyle/>
          <a:p>
            <a:pPr marL="0" indent="0">
              <a:buNone/>
            </a:pPr>
            <a:endParaRPr lang="en-US" dirty="0"/>
          </a:p>
        </p:txBody>
      </p:sp>
      <p:sp>
        <p:nvSpPr>
          <p:cNvPr id="13" name="Shape 11"/>
          <p:cNvSpPr/>
          <p:nvPr/>
        </p:nvSpPr>
        <p:spPr>
          <a:xfrm>
            <a:off x="361950" y="4294584"/>
            <a:ext cx="0" cy="375196"/>
          </a:xfrm>
          <a:prstGeom prst="line">
            <a:avLst/>
          </a:prstGeom>
          <a:noFill/>
          <a:ln w="38100">
            <a:solidFill>
              <a:srgbClr val="F59E0B"/>
            </a:solidFill>
            <a:prstDash val="solid"/>
          </a:ln>
        </p:spPr>
        <p:txBody>
          <a:bodyPr/>
          <a:lstStyle/>
          <a:p>
            <a:endParaRPr lang="en-US"/>
          </a:p>
        </p:txBody>
      </p:sp>
      <p:sp>
        <p:nvSpPr>
          <p:cNvPr id="14" name="Text 12"/>
          <p:cNvSpPr/>
          <p:nvPr/>
        </p:nvSpPr>
        <p:spPr>
          <a:xfrm>
            <a:off x="514350" y="4408884"/>
            <a:ext cx="4032540" cy="146596"/>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Note:</a:t>
            </a:r>
            <a:r>
              <a:rPr lang="en-US" sz="825" dirty="0">
                <a:solidFill>
                  <a:srgbClr val="92400E"/>
                </a:solidFill>
                <a:latin typeface="Arial" pitchFamily="34" charset="0"/>
                <a:ea typeface="Arial" pitchFamily="34" charset="-122"/>
                <a:cs typeface="Arial" pitchFamily="34" charset="-120"/>
              </a:rPr>
              <a:t> Requires Foundry platform license. Check with IT for availability.</a:t>
            </a:r>
            <a:endParaRPr lang="en-US" sz="825" dirty="0"/>
          </a:p>
        </p:txBody>
      </p:sp>
      <p:sp>
        <p:nvSpPr>
          <p:cNvPr id="15" name="Text 13"/>
          <p:cNvSpPr/>
          <p:nvPr/>
        </p:nvSpPr>
        <p:spPr>
          <a:xfrm>
            <a:off x="5096470" y="0"/>
            <a:ext cx="4047530" cy="5143500"/>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6691610" y="1279178"/>
            <a:ext cx="857250" cy="857250"/>
          </a:xfrm>
          <a:prstGeom prst="rect">
            <a:avLst/>
          </a:prstGeom>
          <a:solidFill>
            <a:srgbClr val="C9A227"/>
          </a:solidFill>
          <a:ln/>
        </p:spPr>
        <p:txBody>
          <a:bodyPr wrap="square" rtlCol="0" anchor="ctr"/>
          <a:lstStyle/>
          <a:p>
            <a:pPr marL="0" indent="0">
              <a:buNone/>
            </a:pPr>
            <a:endParaRPr lang="en-US" dirty="0"/>
          </a:p>
        </p:txBody>
      </p:sp>
      <p:sp>
        <p:nvSpPr>
          <p:cNvPr id="17" name="Text 15"/>
          <p:cNvSpPr/>
          <p:nvPr/>
        </p:nvSpPr>
        <p:spPr>
          <a:xfrm>
            <a:off x="6776853" y="1561207"/>
            <a:ext cx="686764" cy="293191"/>
          </a:xfrm>
          <a:prstGeom prst="rect">
            <a:avLst/>
          </a:prstGeom>
          <a:noFill/>
          <a:ln/>
        </p:spPr>
        <p:txBody>
          <a:bodyPr wrap="square" lIns="0" tIns="0" rIns="0" bIns="0" rtlCol="0" anchor="t"/>
          <a:lstStyle/>
          <a:p>
            <a:pPr marL="0" indent="0" algn="ctr">
              <a:lnSpc>
                <a:spcPts val="1155"/>
              </a:lnSpc>
              <a:buNone/>
            </a:pPr>
            <a:r>
              <a:rPr lang="en-US" sz="825" dirty="0">
                <a:solidFill>
                  <a:srgbClr val="1A1F2E"/>
                </a:solidFill>
                <a:latin typeface="Arial" pitchFamily="34" charset="0"/>
                <a:ea typeface="Arial" pitchFamily="34" charset="-122"/>
                <a:cs typeface="Arial" pitchFamily="34" charset="-120"/>
              </a:rPr>
              <a:t>INTEGRATED</a:t>
            </a:r>
            <a:endParaRPr lang="en-US" sz="825" dirty="0"/>
          </a:p>
          <a:p>
            <a:pPr marL="0" indent="0" algn="ctr">
              <a:lnSpc>
                <a:spcPts val="1155"/>
              </a:lnSpc>
              <a:buNone/>
            </a:pPr>
            <a:r>
              <a:rPr lang="en-US" sz="825" dirty="0">
                <a:solidFill>
                  <a:srgbClr val="1A1F2E"/>
                </a:solidFill>
                <a:latin typeface="Arial" pitchFamily="34" charset="0"/>
                <a:ea typeface="Arial" pitchFamily="34" charset="-122"/>
                <a:cs typeface="Arial" pitchFamily="34" charset="-120"/>
              </a:rPr>
              <a:t>PLATFORM</a:t>
            </a:r>
            <a:endParaRPr lang="en-US" sz="825" dirty="0"/>
          </a:p>
        </p:txBody>
      </p:sp>
      <p:sp>
        <p:nvSpPr>
          <p:cNvPr id="18" name="Text 16"/>
          <p:cNvSpPr/>
          <p:nvPr/>
        </p:nvSpPr>
        <p:spPr>
          <a:xfrm>
            <a:off x="6519849" y="2479328"/>
            <a:ext cx="1200623" cy="213271"/>
          </a:xfrm>
          <a:prstGeom prst="rect">
            <a:avLst/>
          </a:prstGeom>
          <a:noFill/>
          <a:ln/>
        </p:spPr>
        <p:txBody>
          <a:bodyPr wrap="square" lIns="0" tIns="0" rIns="0" bIns="0" rtlCol="0" anchor="t"/>
          <a:lstStyle/>
          <a:p>
            <a:pPr marL="0" indent="0" algn="ctr">
              <a:lnSpc>
                <a:spcPts val="1680"/>
              </a:lnSpc>
              <a:spcAft>
                <a:spcPts val="750"/>
              </a:spcAft>
              <a:buNone/>
            </a:pPr>
            <a:r>
              <a:rPr lang="en-US" sz="1200" dirty="0">
                <a:solidFill>
                  <a:srgbClr val="FFFFFF"/>
                </a:solidFill>
                <a:latin typeface="Georgia" pitchFamily="34" charset="0"/>
                <a:ea typeface="Georgia" pitchFamily="34" charset="-122"/>
                <a:cs typeface="Georgia" pitchFamily="34" charset="-120"/>
              </a:rPr>
              <a:t>Data + AI Together</a:t>
            </a:r>
            <a:endParaRPr lang="en-US" sz="1200" dirty="0"/>
          </a:p>
        </p:txBody>
      </p:sp>
      <p:sp>
        <p:nvSpPr>
          <p:cNvPr id="19" name="Text 17"/>
          <p:cNvSpPr/>
          <p:nvPr/>
        </p:nvSpPr>
        <p:spPr>
          <a:xfrm>
            <a:off x="5830352" y="2940248"/>
            <a:ext cx="2579617" cy="171450"/>
          </a:xfrm>
          <a:prstGeom prst="rect">
            <a:avLst/>
          </a:prstGeom>
          <a:noFill/>
          <a:ln/>
        </p:spPr>
        <p:txBody>
          <a:bodyPr wrap="square" lIns="0" tIns="0" rIns="0" bIns="0" rtlCol="0" anchor="t"/>
          <a:lstStyle/>
          <a:p>
            <a:pPr marL="0" indent="0" algn="ctr">
              <a:lnSpc>
                <a:spcPts val="1350"/>
              </a:lnSpc>
              <a:spcAft>
                <a:spcPts val="1500"/>
              </a:spcAft>
              <a:buNone/>
            </a:pPr>
            <a:r>
              <a:rPr lang="en-US" sz="900" dirty="0">
                <a:solidFill>
                  <a:srgbClr val="FFFFFF">
                    <a:alpha val="60000"/>
                  </a:srgbClr>
                </a:solidFill>
                <a:latin typeface="Arial" pitchFamily="34" charset="0"/>
                <a:ea typeface="Arial" pitchFamily="34" charset="-122"/>
                <a:cs typeface="Arial" pitchFamily="34" charset="-120"/>
              </a:rPr>
              <a:t>AI understands your data context and governance</a:t>
            </a:r>
            <a:endParaRPr lang="en-US" sz="900" dirty="0"/>
          </a:p>
        </p:txBody>
      </p:sp>
      <p:sp>
        <p:nvSpPr>
          <p:cNvPr id="20" name="Text 18"/>
          <p:cNvSpPr/>
          <p:nvPr/>
        </p:nvSpPr>
        <p:spPr>
          <a:xfrm>
            <a:off x="5439370" y="3454598"/>
            <a:ext cx="3361730" cy="409575"/>
          </a:xfrm>
          <a:prstGeom prst="rect">
            <a:avLst/>
          </a:prstGeom>
          <a:solidFill>
            <a:srgbClr val="252B3D"/>
          </a:solidFill>
          <a:ln/>
        </p:spPr>
        <p:txBody>
          <a:bodyPr wrap="square" rtlCol="0" anchor="ctr"/>
          <a:lstStyle/>
          <a:p>
            <a:pPr marL="0" indent="0">
              <a:buNone/>
            </a:pPr>
            <a:endParaRPr lang="en-US" dirty="0"/>
          </a:p>
        </p:txBody>
      </p:sp>
      <p:sp>
        <p:nvSpPr>
          <p:cNvPr id="21" name="Text 19"/>
          <p:cNvSpPr/>
          <p:nvPr/>
        </p:nvSpPr>
        <p:spPr>
          <a:xfrm>
            <a:off x="5541770" y="3587948"/>
            <a:ext cx="3156930" cy="142875"/>
          </a:xfrm>
          <a:prstGeom prst="rect">
            <a:avLst/>
          </a:prstGeom>
          <a:noFill/>
          <a:ln/>
        </p:spPr>
        <p:txBody>
          <a:bodyPr wrap="square" lIns="0" tIns="0" rIns="0" bIns="0" rtlCol="0" anchor="t"/>
          <a:lstStyle/>
          <a:p>
            <a:pPr marL="0" indent="0" algn="ctr">
              <a:lnSpc>
                <a:spcPts val="1125"/>
              </a:lnSpc>
              <a:buNone/>
            </a:pPr>
            <a:r>
              <a:rPr lang="en-US" sz="750" dirty="0">
                <a:solidFill>
                  <a:srgbClr val="FFFFFF">
                    <a:alpha val="70000"/>
                  </a:srgbClr>
                </a:solidFill>
                <a:latin typeface="Arial" pitchFamily="34" charset="0"/>
                <a:ea typeface="Arial" pitchFamily="34" charset="-122"/>
                <a:cs typeface="Arial" pitchFamily="34" charset="-120"/>
              </a:rPr>
              <a:t>Already FedRAMP authorized for government use</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100% LOCAL</a:t>
            </a:r>
            <a:endParaRPr lang="en-US" sz="825" dirty="0"/>
          </a:p>
        </p:txBody>
      </p:sp>
      <p:sp>
        <p:nvSpPr>
          <p:cNvPr id="4" name="Text 2"/>
          <p:cNvSpPr/>
          <p:nvPr/>
        </p:nvSpPr>
        <p:spPr>
          <a:xfrm>
            <a:off x="381000" y="1835497"/>
            <a:ext cx="1933385" cy="822722"/>
          </a:xfrm>
          <a:prstGeom prst="rect">
            <a:avLst/>
          </a:prstGeom>
          <a:noFill/>
          <a:ln/>
        </p:spPr>
        <p:txBody>
          <a:bodyPr wrap="square" lIns="0" tIns="0" rIns="0" bIns="0" rtlCol="0" anchor="t"/>
          <a:lstStyle/>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Ollama &amp;</a:t>
            </a:r>
            <a:endParaRPr lang="en-US" sz="2700" dirty="0"/>
          </a:p>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Local Models</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marL="0" indent="0" algn="l">
              <a:lnSpc>
                <a:spcPts val="1560"/>
              </a:lnSpc>
              <a:buNone/>
            </a:pPr>
            <a:r>
              <a:rPr lang="en-US" sz="975" dirty="0">
                <a:solidFill>
                  <a:srgbClr val="1A1F2E">
                    <a:alpha val="70000"/>
                  </a:srgbClr>
                </a:solidFill>
                <a:latin typeface="Arial" pitchFamily="34" charset="0"/>
                <a:ea typeface="Arial" pitchFamily="34" charset="-122"/>
                <a:cs typeface="Arial" pitchFamily="34" charset="-120"/>
              </a:rPr>
              <a:t>Run LLMs entirely on your machine. Zero network traffic. Perfect for air-gapped environments.</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133106" y="501402"/>
            <a:ext cx="4629894" cy="8971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4295031" y="663327"/>
            <a:ext cx="4392165"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What is Ollama?</a:t>
            </a:r>
            <a:endParaRPr lang="en-US" sz="975" dirty="0"/>
          </a:p>
        </p:txBody>
      </p:sp>
      <p:sp>
        <p:nvSpPr>
          <p:cNvPr id="10" name="Text 8"/>
          <p:cNvSpPr/>
          <p:nvPr/>
        </p:nvSpPr>
        <p:spPr>
          <a:xfrm>
            <a:off x="4295031" y="893713"/>
            <a:ext cx="4392165" cy="34290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A tool to run open-source LLMs (Llama, Mistral, CodeLlama) locally on your computer.</a:t>
            </a:r>
            <a:endParaRPr lang="en-US" sz="900" dirty="0"/>
          </a:p>
        </p:txBody>
      </p:sp>
      <p:sp>
        <p:nvSpPr>
          <p:cNvPr id="11" name="Text 9"/>
          <p:cNvSpPr/>
          <p:nvPr/>
        </p:nvSpPr>
        <p:spPr>
          <a:xfrm>
            <a:off x="4133106" y="1512838"/>
            <a:ext cx="4629894" cy="96559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4295031" y="1674763"/>
            <a:ext cx="4392165"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Quick Start</a:t>
            </a:r>
            <a:endParaRPr lang="en-US" sz="975" dirty="0"/>
          </a:p>
        </p:txBody>
      </p:sp>
      <p:sp>
        <p:nvSpPr>
          <p:cNvPr id="13" name="Text 11"/>
          <p:cNvSpPr/>
          <p:nvPr/>
        </p:nvSpPr>
        <p:spPr>
          <a:xfrm>
            <a:off x="4295031" y="1905149"/>
            <a:ext cx="4392165" cy="411361"/>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monospace" pitchFamily="34" charset="0"/>
                <a:ea typeface="monospace" pitchFamily="34" charset="-122"/>
                <a:cs typeface="monospace" pitchFamily="34" charset="-120"/>
              </a:rPr>
              <a:t>brew install ollama</a:t>
            </a:r>
            <a:endParaRPr lang="en-US" sz="900" dirty="0"/>
          </a:p>
          <a:p>
            <a:pPr marL="0" indent="0" algn="l">
              <a:lnSpc>
                <a:spcPts val="1620"/>
              </a:lnSpc>
              <a:buNone/>
            </a:pPr>
            <a:r>
              <a:rPr lang="en-US" sz="900" dirty="0">
                <a:solidFill>
                  <a:srgbClr val="6B7280"/>
                </a:solidFill>
                <a:latin typeface="monospace" pitchFamily="34" charset="0"/>
                <a:ea typeface="monospace" pitchFamily="34" charset="-122"/>
                <a:cs typeface="monospace" pitchFamily="34" charset="-120"/>
              </a:rPr>
              <a:t>ollama run codellama</a:t>
            </a:r>
            <a:endParaRPr lang="en-US" sz="900" dirty="0"/>
          </a:p>
        </p:txBody>
      </p:sp>
      <p:sp>
        <p:nvSpPr>
          <p:cNvPr id="14" name="Text 12"/>
          <p:cNvSpPr/>
          <p:nvPr/>
        </p:nvSpPr>
        <p:spPr>
          <a:xfrm>
            <a:off x="4133106" y="2592735"/>
            <a:ext cx="4629894" cy="117127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4295031" y="2754660"/>
            <a:ext cx="4392165"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Best Models for Coding</a:t>
            </a:r>
            <a:endParaRPr lang="en-US" sz="975" dirty="0"/>
          </a:p>
        </p:txBody>
      </p:sp>
      <p:sp>
        <p:nvSpPr>
          <p:cNvPr id="16" name="Text 14"/>
          <p:cNvSpPr/>
          <p:nvPr/>
        </p:nvSpPr>
        <p:spPr>
          <a:xfrm>
            <a:off x="4295031" y="2985046"/>
            <a:ext cx="4392165" cy="617041"/>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CodeLlama 7B/13B - General coding</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DeepSeek Coder - Strong performance</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Mistral - Good all-around</a:t>
            </a:r>
            <a:endParaRPr lang="en-US" sz="900" dirty="0"/>
          </a:p>
        </p:txBody>
      </p:sp>
      <p:sp>
        <p:nvSpPr>
          <p:cNvPr id="17" name="Text 15"/>
          <p:cNvSpPr/>
          <p:nvPr/>
        </p:nvSpPr>
        <p:spPr>
          <a:xfrm>
            <a:off x="4133106" y="3878312"/>
            <a:ext cx="2257871" cy="763637"/>
          </a:xfrm>
          <a:prstGeom prst="rect">
            <a:avLst/>
          </a:prstGeom>
          <a:solidFill>
            <a:srgbClr val="059669"/>
          </a:solidFill>
          <a:ln/>
        </p:spPr>
        <p:txBody>
          <a:bodyPr wrap="square" rtlCol="0" anchor="ctr"/>
          <a:lstStyle/>
          <a:p>
            <a:pPr marL="0" indent="0">
              <a:buNone/>
            </a:pPr>
            <a:endParaRPr lang="en-US" dirty="0"/>
          </a:p>
        </p:txBody>
      </p:sp>
      <p:sp>
        <p:nvSpPr>
          <p:cNvPr id="18" name="Text 16"/>
          <p:cNvSpPr/>
          <p:nvPr/>
        </p:nvSpPr>
        <p:spPr>
          <a:xfrm>
            <a:off x="4246544" y="4011662"/>
            <a:ext cx="2030995"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PROS</a:t>
            </a:r>
            <a:endParaRPr lang="en-US" sz="825" dirty="0"/>
          </a:p>
        </p:txBody>
      </p:sp>
      <p:sp>
        <p:nvSpPr>
          <p:cNvPr id="19" name="Text 17"/>
          <p:cNvSpPr/>
          <p:nvPr/>
        </p:nvSpPr>
        <p:spPr>
          <a:xfrm>
            <a:off x="4246544" y="4215408"/>
            <a:ext cx="2030995" cy="293191"/>
          </a:xfrm>
          <a:prstGeom prst="rect">
            <a:avLst/>
          </a:prstGeom>
          <a:noFill/>
          <a:ln/>
        </p:spPr>
        <p:txBody>
          <a:bodyPr wrap="square" lIns="0" tIns="0" rIns="0" bIns="0" rtlCol="0" anchor="t"/>
          <a:lstStyle/>
          <a:p>
            <a:pPr marL="0" indent="0" algn="ctr">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Complete privacy</a:t>
            </a:r>
            <a:endParaRPr lang="en-US" sz="825" dirty="0"/>
          </a:p>
          <a:p>
            <a:pPr marL="0" indent="0" algn="ctr">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No API costs</a:t>
            </a:r>
            <a:endParaRPr lang="en-US" sz="825" dirty="0"/>
          </a:p>
        </p:txBody>
      </p:sp>
      <p:sp>
        <p:nvSpPr>
          <p:cNvPr id="20" name="Text 18"/>
          <p:cNvSpPr/>
          <p:nvPr/>
        </p:nvSpPr>
        <p:spPr>
          <a:xfrm>
            <a:off x="6505277" y="3878312"/>
            <a:ext cx="2257871" cy="763637"/>
          </a:xfrm>
          <a:prstGeom prst="rect">
            <a:avLst/>
          </a:prstGeom>
          <a:solidFill>
            <a:srgbClr val="DC2626"/>
          </a:solidFill>
          <a:ln/>
        </p:spPr>
        <p:txBody>
          <a:bodyPr wrap="square" rtlCol="0" anchor="ctr"/>
          <a:lstStyle/>
          <a:p>
            <a:pPr marL="0" indent="0">
              <a:buNone/>
            </a:pPr>
            <a:endParaRPr lang="en-US" dirty="0"/>
          </a:p>
        </p:txBody>
      </p:sp>
      <p:sp>
        <p:nvSpPr>
          <p:cNvPr id="21" name="Text 19"/>
          <p:cNvSpPr/>
          <p:nvPr/>
        </p:nvSpPr>
        <p:spPr>
          <a:xfrm>
            <a:off x="6618716" y="4011662"/>
            <a:ext cx="2030995" cy="146596"/>
          </a:xfrm>
          <a:prstGeom prst="rect">
            <a:avLst/>
          </a:prstGeom>
          <a:noFill/>
          <a:ln/>
        </p:spPr>
        <p:txBody>
          <a:bodyPr wrap="square" lIns="0" tIns="0" rIns="0" bIns="0" rtlCol="0" anchor="t"/>
          <a:lstStyle/>
          <a:p>
            <a:pPr marL="0" indent="0" algn="ctr">
              <a:lnSpc>
                <a:spcPts val="1155"/>
              </a:lnSpc>
              <a:buNone/>
            </a:pPr>
            <a:r>
              <a:rPr lang="en-US" sz="825" b="1" dirty="0">
                <a:solidFill>
                  <a:srgbClr val="FFFFFF"/>
                </a:solidFill>
                <a:latin typeface="Arial" pitchFamily="34" charset="0"/>
                <a:ea typeface="Arial" pitchFamily="34" charset="-122"/>
                <a:cs typeface="Arial" pitchFamily="34" charset="-120"/>
              </a:rPr>
              <a:t>CONS</a:t>
            </a:r>
            <a:endParaRPr lang="en-US" sz="825" dirty="0"/>
          </a:p>
        </p:txBody>
      </p:sp>
      <p:sp>
        <p:nvSpPr>
          <p:cNvPr id="22" name="Text 20"/>
          <p:cNvSpPr/>
          <p:nvPr/>
        </p:nvSpPr>
        <p:spPr>
          <a:xfrm>
            <a:off x="6618716" y="4215408"/>
            <a:ext cx="2030995" cy="293191"/>
          </a:xfrm>
          <a:prstGeom prst="rect">
            <a:avLst/>
          </a:prstGeom>
          <a:noFill/>
          <a:ln/>
        </p:spPr>
        <p:txBody>
          <a:bodyPr wrap="square" lIns="0" tIns="0" rIns="0" bIns="0" rtlCol="0" anchor="t"/>
          <a:lstStyle/>
          <a:p>
            <a:pPr marL="0" indent="0" algn="ctr">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Lower capability</a:t>
            </a:r>
            <a:endParaRPr lang="en-US" sz="825" dirty="0"/>
          </a:p>
          <a:p>
            <a:pPr marL="0" indent="0" algn="ctr">
              <a:lnSpc>
                <a:spcPts val="1155"/>
              </a:lnSpc>
              <a:spcBef>
                <a:spcPts val="450"/>
              </a:spcBef>
              <a:buNone/>
            </a:pPr>
            <a:r>
              <a:rPr lang="en-US" sz="825" dirty="0">
                <a:solidFill>
                  <a:srgbClr val="FFFFFF">
                    <a:alpha val="80000"/>
                  </a:srgbClr>
                </a:solidFill>
                <a:latin typeface="Arial" pitchFamily="34" charset="0"/>
                <a:ea typeface="Arial" pitchFamily="34" charset="-122"/>
                <a:cs typeface="Arial" pitchFamily="34" charset="-120"/>
              </a:rPr>
              <a:t>Requires GPU</a:t>
            </a:r>
            <a:endParaRPr lang="en-US" sz="8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286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DECISION MATRIX</a:t>
            </a:r>
            <a:endParaRPr lang="en-US" sz="825" dirty="0"/>
          </a:p>
        </p:txBody>
      </p:sp>
      <p:sp>
        <p:nvSpPr>
          <p:cNvPr id="3" name="Text 1"/>
          <p:cNvSpPr/>
          <p:nvPr/>
        </p:nvSpPr>
        <p:spPr>
          <a:xfrm>
            <a:off x="457200" y="451396"/>
            <a:ext cx="4206812"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Enterprise AI Options Summary</a:t>
            </a:r>
            <a:endParaRPr lang="en-US" sz="2100" dirty="0"/>
          </a:p>
        </p:txBody>
      </p:sp>
      <p:sp>
        <p:nvSpPr>
          <p:cNvPr id="4" name="Text 2"/>
          <p:cNvSpPr/>
          <p:nvPr/>
        </p:nvSpPr>
        <p:spPr>
          <a:xfrm>
            <a:off x="457200" y="1327100"/>
            <a:ext cx="8229600" cy="337096"/>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09600" y="1422350"/>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Option</a:t>
            </a:r>
            <a:endParaRPr lang="en-US" sz="825" dirty="0"/>
          </a:p>
        </p:txBody>
      </p:sp>
      <p:sp>
        <p:nvSpPr>
          <p:cNvPr id="6" name="Text 4"/>
          <p:cNvSpPr/>
          <p:nvPr/>
        </p:nvSpPr>
        <p:spPr>
          <a:xfrm>
            <a:off x="2039838" y="1422350"/>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Compliance</a:t>
            </a:r>
            <a:endParaRPr lang="en-US" sz="825" dirty="0"/>
          </a:p>
        </p:txBody>
      </p:sp>
      <p:sp>
        <p:nvSpPr>
          <p:cNvPr id="7" name="Text 5"/>
          <p:cNvSpPr/>
          <p:nvPr/>
        </p:nvSpPr>
        <p:spPr>
          <a:xfrm>
            <a:off x="3338215" y="1422350"/>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Capability</a:t>
            </a:r>
            <a:endParaRPr lang="en-US" sz="825" dirty="0"/>
          </a:p>
        </p:txBody>
      </p:sp>
      <p:sp>
        <p:nvSpPr>
          <p:cNvPr id="8" name="Text 6"/>
          <p:cNvSpPr/>
          <p:nvPr/>
        </p:nvSpPr>
        <p:spPr>
          <a:xfrm>
            <a:off x="4636591" y="1422350"/>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Cost</a:t>
            </a:r>
            <a:endParaRPr lang="en-US" sz="825" dirty="0"/>
          </a:p>
        </p:txBody>
      </p:sp>
      <p:sp>
        <p:nvSpPr>
          <p:cNvPr id="9" name="Text 7"/>
          <p:cNvSpPr/>
          <p:nvPr/>
        </p:nvSpPr>
        <p:spPr>
          <a:xfrm>
            <a:off x="5933535" y="1422350"/>
            <a:ext cx="1315084"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Best For</a:t>
            </a:r>
            <a:endParaRPr lang="en-US" sz="825" dirty="0"/>
          </a:p>
        </p:txBody>
      </p:sp>
      <p:sp>
        <p:nvSpPr>
          <p:cNvPr id="10" name="Text 8"/>
          <p:cNvSpPr/>
          <p:nvPr/>
        </p:nvSpPr>
        <p:spPr>
          <a:xfrm>
            <a:off x="7376666" y="1422350"/>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PHI Safe</a:t>
            </a:r>
            <a:endParaRPr lang="en-US" sz="825" dirty="0"/>
          </a:p>
        </p:txBody>
      </p:sp>
      <p:sp>
        <p:nvSpPr>
          <p:cNvPr id="11" name="Text 9"/>
          <p:cNvSpPr/>
          <p:nvPr/>
        </p:nvSpPr>
        <p:spPr>
          <a:xfrm>
            <a:off x="457200" y="1835646"/>
            <a:ext cx="8229600" cy="346621"/>
          </a:xfrm>
          <a:prstGeom prst="rect">
            <a:avLst/>
          </a:prstGeom>
          <a:solidFill>
            <a:srgbClr val="FFFFFF"/>
          </a:solidFill>
          <a:ln/>
        </p:spPr>
        <p:txBody>
          <a:bodyPr wrap="square" rtlCol="0" anchor="ctr"/>
          <a:lstStyle/>
          <a:p>
            <a:pPr marL="0" indent="0">
              <a:buNone/>
            </a:pPr>
            <a:endParaRPr lang="en-US" dirty="0"/>
          </a:p>
        </p:txBody>
      </p:sp>
      <p:sp>
        <p:nvSpPr>
          <p:cNvPr id="12" name="Shape 10"/>
          <p:cNvSpPr/>
          <p:nvPr/>
        </p:nvSpPr>
        <p:spPr>
          <a:xfrm>
            <a:off x="457200" y="2177504"/>
            <a:ext cx="8229600" cy="0"/>
          </a:xfrm>
          <a:prstGeom prst="line">
            <a:avLst/>
          </a:prstGeom>
          <a:noFill/>
          <a:ln w="9525">
            <a:solidFill>
              <a:srgbClr val="E4E7ED"/>
            </a:solidFill>
            <a:prstDash val="solid"/>
          </a:ln>
        </p:spPr>
        <p:txBody>
          <a:bodyPr/>
          <a:lstStyle/>
          <a:p>
            <a:endParaRPr lang="en-US"/>
          </a:p>
        </p:txBody>
      </p:sp>
      <p:sp>
        <p:nvSpPr>
          <p:cNvPr id="13" name="Text 11"/>
          <p:cNvSpPr/>
          <p:nvPr/>
        </p:nvSpPr>
        <p:spPr>
          <a:xfrm>
            <a:off x="609600" y="1930896"/>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Azure OpenAI</a:t>
            </a:r>
            <a:endParaRPr lang="en-US" sz="825" dirty="0"/>
          </a:p>
        </p:txBody>
      </p:sp>
      <p:sp>
        <p:nvSpPr>
          <p:cNvPr id="14" name="Text 12"/>
          <p:cNvSpPr/>
          <p:nvPr/>
        </p:nvSpPr>
        <p:spPr>
          <a:xfrm>
            <a:off x="2039838" y="193089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FedRAMP</a:t>
            </a:r>
            <a:endParaRPr lang="en-US" sz="825" dirty="0"/>
          </a:p>
        </p:txBody>
      </p:sp>
      <p:sp>
        <p:nvSpPr>
          <p:cNvPr id="15" name="Text 13"/>
          <p:cNvSpPr/>
          <p:nvPr/>
        </p:nvSpPr>
        <p:spPr>
          <a:xfrm>
            <a:off x="3338215" y="193089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16" name="Text 14"/>
          <p:cNvSpPr/>
          <p:nvPr/>
        </p:nvSpPr>
        <p:spPr>
          <a:xfrm>
            <a:off x="4636591" y="1930896"/>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17" name="Text 15"/>
          <p:cNvSpPr/>
          <p:nvPr/>
        </p:nvSpPr>
        <p:spPr>
          <a:xfrm>
            <a:off x="5933535" y="1930896"/>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Most teams</a:t>
            </a:r>
            <a:endParaRPr lang="en-US" sz="825" dirty="0"/>
          </a:p>
        </p:txBody>
      </p:sp>
      <p:sp>
        <p:nvSpPr>
          <p:cNvPr id="18" name="Text 16"/>
          <p:cNvSpPr/>
          <p:nvPr/>
        </p:nvSpPr>
        <p:spPr>
          <a:xfrm>
            <a:off x="7376666" y="1930896"/>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19" name="Text 17"/>
          <p:cNvSpPr/>
          <p:nvPr/>
        </p:nvSpPr>
        <p:spPr>
          <a:xfrm>
            <a:off x="457200" y="2334667"/>
            <a:ext cx="8229600" cy="346621"/>
          </a:xfrm>
          <a:prstGeom prst="rect">
            <a:avLst/>
          </a:prstGeom>
          <a:solidFill>
            <a:srgbClr val="F7F8FA"/>
          </a:solidFill>
          <a:ln/>
        </p:spPr>
        <p:txBody>
          <a:bodyPr wrap="square" rtlCol="0" anchor="ctr"/>
          <a:lstStyle/>
          <a:p>
            <a:pPr marL="0" indent="0">
              <a:buNone/>
            </a:pPr>
            <a:endParaRPr lang="en-US" dirty="0"/>
          </a:p>
        </p:txBody>
      </p:sp>
      <p:sp>
        <p:nvSpPr>
          <p:cNvPr id="20" name="Shape 18"/>
          <p:cNvSpPr/>
          <p:nvPr/>
        </p:nvSpPr>
        <p:spPr>
          <a:xfrm>
            <a:off x="457200" y="2676525"/>
            <a:ext cx="8229600" cy="0"/>
          </a:xfrm>
          <a:prstGeom prst="line">
            <a:avLst/>
          </a:prstGeom>
          <a:noFill/>
          <a:ln w="9525">
            <a:solidFill>
              <a:srgbClr val="E4E7ED"/>
            </a:solidFill>
            <a:prstDash val="solid"/>
          </a:ln>
        </p:spPr>
        <p:txBody>
          <a:bodyPr/>
          <a:lstStyle/>
          <a:p>
            <a:endParaRPr lang="en-US"/>
          </a:p>
        </p:txBody>
      </p:sp>
      <p:sp>
        <p:nvSpPr>
          <p:cNvPr id="21" name="Text 19"/>
          <p:cNvSpPr/>
          <p:nvPr/>
        </p:nvSpPr>
        <p:spPr>
          <a:xfrm>
            <a:off x="609600" y="2429917"/>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Anthropic (Claude)</a:t>
            </a:r>
            <a:endParaRPr lang="en-US" sz="825" dirty="0"/>
          </a:p>
        </p:txBody>
      </p:sp>
      <p:sp>
        <p:nvSpPr>
          <p:cNvPr id="22" name="Text 20"/>
          <p:cNvSpPr/>
          <p:nvPr/>
        </p:nvSpPr>
        <p:spPr>
          <a:xfrm>
            <a:off x="2039838" y="2429917"/>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F59E0B"/>
                </a:solidFill>
                <a:latin typeface="Arial" pitchFamily="34" charset="0"/>
                <a:ea typeface="Arial" pitchFamily="34" charset="-122"/>
                <a:cs typeface="Arial" pitchFamily="34" charset="-120"/>
              </a:rPr>
              <a:t>SOC2</a:t>
            </a:r>
            <a:endParaRPr lang="en-US" sz="825" dirty="0"/>
          </a:p>
        </p:txBody>
      </p:sp>
      <p:sp>
        <p:nvSpPr>
          <p:cNvPr id="23" name="Text 21"/>
          <p:cNvSpPr/>
          <p:nvPr/>
        </p:nvSpPr>
        <p:spPr>
          <a:xfrm>
            <a:off x="3338215" y="2429917"/>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Excellent</a:t>
            </a:r>
            <a:endParaRPr lang="en-US" sz="825" dirty="0"/>
          </a:p>
        </p:txBody>
      </p:sp>
      <p:sp>
        <p:nvSpPr>
          <p:cNvPr id="24" name="Text 22"/>
          <p:cNvSpPr/>
          <p:nvPr/>
        </p:nvSpPr>
        <p:spPr>
          <a:xfrm>
            <a:off x="4636591" y="2429917"/>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Per-token</a:t>
            </a:r>
            <a:endParaRPr lang="en-US" sz="825" dirty="0"/>
          </a:p>
        </p:txBody>
      </p:sp>
      <p:sp>
        <p:nvSpPr>
          <p:cNvPr id="25" name="Text 23"/>
          <p:cNvSpPr/>
          <p:nvPr/>
        </p:nvSpPr>
        <p:spPr>
          <a:xfrm>
            <a:off x="5933535" y="2429917"/>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Non-PHI work</a:t>
            </a:r>
            <a:endParaRPr lang="en-US" sz="825" dirty="0"/>
          </a:p>
        </p:txBody>
      </p:sp>
      <p:sp>
        <p:nvSpPr>
          <p:cNvPr id="26" name="Text 24"/>
          <p:cNvSpPr/>
          <p:nvPr/>
        </p:nvSpPr>
        <p:spPr>
          <a:xfrm>
            <a:off x="7376666" y="2429917"/>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F59E0B"/>
                </a:solidFill>
                <a:latin typeface="Arial" pitchFamily="34" charset="0"/>
                <a:ea typeface="Arial" pitchFamily="34" charset="-122"/>
                <a:cs typeface="Arial" pitchFamily="34" charset="-120"/>
              </a:rPr>
              <a:t>REVIEW</a:t>
            </a:r>
            <a:endParaRPr lang="en-US" sz="825" dirty="0"/>
          </a:p>
        </p:txBody>
      </p:sp>
      <p:sp>
        <p:nvSpPr>
          <p:cNvPr id="27" name="Text 25"/>
          <p:cNvSpPr/>
          <p:nvPr/>
        </p:nvSpPr>
        <p:spPr>
          <a:xfrm>
            <a:off x="457200" y="2833688"/>
            <a:ext cx="8229600" cy="346621"/>
          </a:xfrm>
          <a:prstGeom prst="rect">
            <a:avLst/>
          </a:prstGeom>
          <a:solidFill>
            <a:srgbClr val="FFFFFF"/>
          </a:solidFill>
          <a:ln/>
        </p:spPr>
        <p:txBody>
          <a:bodyPr wrap="square" rtlCol="0" anchor="ctr"/>
          <a:lstStyle/>
          <a:p>
            <a:pPr marL="0" indent="0">
              <a:buNone/>
            </a:pPr>
            <a:endParaRPr lang="en-US" dirty="0"/>
          </a:p>
        </p:txBody>
      </p:sp>
      <p:sp>
        <p:nvSpPr>
          <p:cNvPr id="28" name="Shape 26"/>
          <p:cNvSpPr/>
          <p:nvPr/>
        </p:nvSpPr>
        <p:spPr>
          <a:xfrm>
            <a:off x="457200" y="3175546"/>
            <a:ext cx="8229600" cy="0"/>
          </a:xfrm>
          <a:prstGeom prst="line">
            <a:avLst/>
          </a:prstGeom>
          <a:noFill/>
          <a:ln w="9525">
            <a:solidFill>
              <a:srgbClr val="E4E7ED"/>
            </a:solidFill>
            <a:prstDash val="solid"/>
          </a:ln>
        </p:spPr>
        <p:txBody>
          <a:bodyPr/>
          <a:lstStyle/>
          <a:p>
            <a:endParaRPr lang="en-US"/>
          </a:p>
        </p:txBody>
      </p:sp>
      <p:sp>
        <p:nvSpPr>
          <p:cNvPr id="29" name="Text 27"/>
          <p:cNvSpPr/>
          <p:nvPr/>
        </p:nvSpPr>
        <p:spPr>
          <a:xfrm>
            <a:off x="609600" y="2928938"/>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Palantir Foundry</a:t>
            </a:r>
            <a:endParaRPr lang="en-US" sz="825" dirty="0"/>
          </a:p>
        </p:txBody>
      </p:sp>
      <p:sp>
        <p:nvSpPr>
          <p:cNvPr id="30" name="Text 28"/>
          <p:cNvSpPr/>
          <p:nvPr/>
        </p:nvSpPr>
        <p:spPr>
          <a:xfrm>
            <a:off x="2039838" y="292893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FedRAMP</a:t>
            </a:r>
            <a:endParaRPr lang="en-US" sz="825" dirty="0"/>
          </a:p>
        </p:txBody>
      </p:sp>
      <p:sp>
        <p:nvSpPr>
          <p:cNvPr id="31" name="Text 29"/>
          <p:cNvSpPr/>
          <p:nvPr/>
        </p:nvSpPr>
        <p:spPr>
          <a:xfrm>
            <a:off x="3338215" y="292893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Good</a:t>
            </a:r>
            <a:endParaRPr lang="en-US" sz="825" dirty="0"/>
          </a:p>
        </p:txBody>
      </p:sp>
      <p:sp>
        <p:nvSpPr>
          <p:cNvPr id="32" name="Text 30"/>
          <p:cNvSpPr/>
          <p:nvPr/>
        </p:nvSpPr>
        <p:spPr>
          <a:xfrm>
            <a:off x="4636591" y="292893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DC2626"/>
                </a:solidFill>
                <a:latin typeface="Arial" pitchFamily="34" charset="0"/>
                <a:ea typeface="Arial" pitchFamily="34" charset="-122"/>
                <a:cs typeface="Arial" pitchFamily="34" charset="-120"/>
              </a:rPr>
              <a:t>Enterprise</a:t>
            </a:r>
            <a:endParaRPr lang="en-US" sz="825" dirty="0"/>
          </a:p>
        </p:txBody>
      </p:sp>
      <p:sp>
        <p:nvSpPr>
          <p:cNvPr id="33" name="Text 31"/>
          <p:cNvSpPr/>
          <p:nvPr/>
        </p:nvSpPr>
        <p:spPr>
          <a:xfrm>
            <a:off x="5933535" y="2928938"/>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Data platforms</a:t>
            </a:r>
            <a:endParaRPr lang="en-US" sz="825" dirty="0"/>
          </a:p>
        </p:txBody>
      </p:sp>
      <p:sp>
        <p:nvSpPr>
          <p:cNvPr id="34" name="Text 32"/>
          <p:cNvSpPr/>
          <p:nvPr/>
        </p:nvSpPr>
        <p:spPr>
          <a:xfrm>
            <a:off x="7376666" y="2928938"/>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35" name="Text 33"/>
          <p:cNvSpPr/>
          <p:nvPr/>
        </p:nvSpPr>
        <p:spPr>
          <a:xfrm>
            <a:off x="457200" y="3332708"/>
            <a:ext cx="8229600" cy="337096"/>
          </a:xfrm>
          <a:prstGeom prst="rect">
            <a:avLst/>
          </a:prstGeom>
          <a:solidFill>
            <a:srgbClr val="F7F8FA"/>
          </a:solidFill>
          <a:ln/>
        </p:spPr>
        <p:txBody>
          <a:bodyPr wrap="square" rtlCol="0" anchor="ctr"/>
          <a:lstStyle/>
          <a:p>
            <a:pPr marL="0" indent="0">
              <a:buNone/>
            </a:pPr>
            <a:endParaRPr lang="en-US" dirty="0"/>
          </a:p>
        </p:txBody>
      </p:sp>
      <p:sp>
        <p:nvSpPr>
          <p:cNvPr id="36" name="Text 34"/>
          <p:cNvSpPr/>
          <p:nvPr/>
        </p:nvSpPr>
        <p:spPr>
          <a:xfrm>
            <a:off x="609600" y="3427958"/>
            <a:ext cx="1315084"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Ollama (Local)</a:t>
            </a:r>
            <a:endParaRPr lang="en-US" sz="825" dirty="0"/>
          </a:p>
        </p:txBody>
      </p:sp>
      <p:sp>
        <p:nvSpPr>
          <p:cNvPr id="37" name="Text 35"/>
          <p:cNvSpPr/>
          <p:nvPr/>
        </p:nvSpPr>
        <p:spPr>
          <a:xfrm>
            <a:off x="2039838" y="342795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N/A (Local)</a:t>
            </a:r>
            <a:endParaRPr lang="en-US" sz="825" dirty="0"/>
          </a:p>
        </p:txBody>
      </p:sp>
      <p:sp>
        <p:nvSpPr>
          <p:cNvPr id="38" name="Text 36"/>
          <p:cNvSpPr/>
          <p:nvPr/>
        </p:nvSpPr>
        <p:spPr>
          <a:xfrm>
            <a:off x="3338215" y="342795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F59E0B"/>
                </a:solidFill>
                <a:latin typeface="Arial" pitchFamily="34" charset="0"/>
                <a:ea typeface="Arial" pitchFamily="34" charset="-122"/>
                <a:cs typeface="Arial" pitchFamily="34" charset="-120"/>
              </a:rPr>
              <a:t>Moderate</a:t>
            </a:r>
            <a:endParaRPr lang="en-US" sz="825" dirty="0"/>
          </a:p>
        </p:txBody>
      </p:sp>
      <p:sp>
        <p:nvSpPr>
          <p:cNvPr id="39" name="Text 37"/>
          <p:cNvSpPr/>
          <p:nvPr/>
        </p:nvSpPr>
        <p:spPr>
          <a:xfrm>
            <a:off x="4636591" y="3427958"/>
            <a:ext cx="1168896" cy="146596"/>
          </a:xfrm>
          <a:prstGeom prst="rect">
            <a:avLst/>
          </a:prstGeom>
          <a:noFill/>
          <a:ln/>
        </p:spPr>
        <p:txBody>
          <a:bodyPr wrap="square" lIns="0" tIns="0" rIns="0" bIns="0" rtlCol="0" anchor="t"/>
          <a:lstStyle/>
          <a:p>
            <a:pPr marL="0" indent="0" algn="ctr">
              <a:lnSpc>
                <a:spcPts val="1155"/>
              </a:lnSpc>
              <a:buNone/>
            </a:pPr>
            <a:r>
              <a:rPr lang="en-US" sz="825" dirty="0">
                <a:solidFill>
                  <a:srgbClr val="059669"/>
                </a:solidFill>
                <a:latin typeface="Arial" pitchFamily="34" charset="0"/>
                <a:ea typeface="Arial" pitchFamily="34" charset="-122"/>
                <a:cs typeface="Arial" pitchFamily="34" charset="-120"/>
              </a:rPr>
              <a:t>Free</a:t>
            </a:r>
            <a:endParaRPr lang="en-US" sz="825" dirty="0"/>
          </a:p>
        </p:txBody>
      </p:sp>
      <p:sp>
        <p:nvSpPr>
          <p:cNvPr id="40" name="Text 38"/>
          <p:cNvSpPr/>
          <p:nvPr/>
        </p:nvSpPr>
        <p:spPr>
          <a:xfrm>
            <a:off x="5933535" y="3427958"/>
            <a:ext cx="1315084" cy="146596"/>
          </a:xfrm>
          <a:prstGeom prst="rect">
            <a:avLst/>
          </a:prstGeom>
          <a:noFill/>
          <a:ln/>
        </p:spPr>
        <p:txBody>
          <a:bodyPr wrap="square" lIns="0" tIns="0" rIns="0" bIns="0" rtlCol="0" anchor="t"/>
          <a:lstStyle/>
          <a:p>
            <a:pPr marL="0" indent="0" algn="ctr">
              <a:lnSpc>
                <a:spcPts val="1155"/>
              </a:lnSpc>
              <a:buNone/>
            </a:pPr>
            <a:r>
              <a:rPr lang="en-US" sz="825" dirty="0">
                <a:solidFill>
                  <a:srgbClr val="6B7280"/>
                </a:solidFill>
                <a:latin typeface="Arial" pitchFamily="34" charset="0"/>
                <a:ea typeface="Arial" pitchFamily="34" charset="-122"/>
                <a:cs typeface="Arial" pitchFamily="34" charset="-120"/>
              </a:rPr>
              <a:t>Experimentation</a:t>
            </a:r>
            <a:endParaRPr lang="en-US" sz="825" dirty="0"/>
          </a:p>
        </p:txBody>
      </p:sp>
      <p:sp>
        <p:nvSpPr>
          <p:cNvPr id="41" name="Text 39"/>
          <p:cNvSpPr/>
          <p:nvPr/>
        </p:nvSpPr>
        <p:spPr>
          <a:xfrm>
            <a:off x="7376666" y="3427958"/>
            <a:ext cx="1168896" cy="146596"/>
          </a:xfrm>
          <a:prstGeom prst="rect">
            <a:avLst/>
          </a:prstGeom>
          <a:noFill/>
          <a:ln/>
        </p:spPr>
        <p:txBody>
          <a:bodyPr wrap="square" lIns="0" tIns="0" rIns="0" bIns="0" rtlCol="0" anchor="t"/>
          <a:lstStyle/>
          <a:p>
            <a:pPr marL="0" indent="0" algn="ctr">
              <a:lnSpc>
                <a:spcPts val="1155"/>
              </a:lnSpc>
              <a:buNone/>
            </a:pPr>
            <a:r>
              <a:rPr lang="en-US" sz="825" b="1" dirty="0">
                <a:solidFill>
                  <a:srgbClr val="059669"/>
                </a:solidFill>
                <a:latin typeface="Arial" pitchFamily="34" charset="0"/>
                <a:ea typeface="Arial" pitchFamily="34" charset="-122"/>
                <a:cs typeface="Arial" pitchFamily="34" charset="-120"/>
              </a:rPr>
              <a:t>YES</a:t>
            </a:r>
            <a:endParaRPr lang="en-US" sz="825" dirty="0"/>
          </a:p>
        </p:txBody>
      </p:sp>
      <p:sp>
        <p:nvSpPr>
          <p:cNvPr id="42" name="Text 40"/>
          <p:cNvSpPr/>
          <p:nvPr/>
        </p:nvSpPr>
        <p:spPr>
          <a:xfrm>
            <a:off x="457200" y="3974604"/>
            <a:ext cx="4019550" cy="597991"/>
          </a:xfrm>
          <a:prstGeom prst="rect">
            <a:avLst/>
          </a:prstGeom>
          <a:solidFill>
            <a:srgbClr val="1A1F2E"/>
          </a:solidFill>
          <a:ln/>
        </p:spPr>
        <p:txBody>
          <a:bodyPr wrap="square" rtlCol="0" anchor="ctr"/>
          <a:lstStyle/>
          <a:p>
            <a:pPr marL="0" indent="0">
              <a:buNone/>
            </a:pPr>
            <a:endParaRPr lang="en-US" dirty="0"/>
          </a:p>
        </p:txBody>
      </p:sp>
      <p:sp>
        <p:nvSpPr>
          <p:cNvPr id="43" name="Text 41"/>
          <p:cNvSpPr/>
          <p:nvPr/>
        </p:nvSpPr>
        <p:spPr>
          <a:xfrm>
            <a:off x="609600" y="4107954"/>
            <a:ext cx="3789045" cy="146596"/>
          </a:xfrm>
          <a:prstGeom prst="rect">
            <a:avLst/>
          </a:prstGeom>
          <a:noFill/>
          <a:ln/>
        </p:spPr>
        <p:txBody>
          <a:bodyPr wrap="square" lIns="0" tIns="0" rIns="0" bIns="0" rtlCol="0" anchor="t"/>
          <a:lstStyle/>
          <a:p>
            <a:pPr marL="0" indent="0" algn="l">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RECOMMENDATION</a:t>
            </a:r>
            <a:endParaRPr lang="en-US" sz="825" dirty="0"/>
          </a:p>
        </p:txBody>
      </p:sp>
      <p:sp>
        <p:nvSpPr>
          <p:cNvPr id="44" name="Text 42"/>
          <p:cNvSpPr/>
          <p:nvPr/>
        </p:nvSpPr>
        <p:spPr>
          <a:xfrm>
            <a:off x="609600" y="4292650"/>
            <a:ext cx="3789045" cy="146596"/>
          </a:xfrm>
          <a:prstGeom prst="rect">
            <a:avLst/>
          </a:prstGeom>
          <a:noFill/>
          <a:ln/>
        </p:spPr>
        <p:txBody>
          <a:bodyPr wrap="square" lIns="0" tIns="0" rIns="0" bIns="0" rtlCol="0" anchor="t"/>
          <a:lstStyle/>
          <a:p>
            <a:pPr marL="0" indent="0" algn="l">
              <a:lnSpc>
                <a:spcPts val="1155"/>
              </a:lnSpc>
              <a:buNone/>
            </a:pPr>
            <a:r>
              <a:rPr lang="en-US" sz="825" dirty="0">
                <a:solidFill>
                  <a:srgbClr val="FFFFFF"/>
                </a:solidFill>
                <a:latin typeface="Arial" pitchFamily="34" charset="0"/>
                <a:ea typeface="Arial" pitchFamily="34" charset="-122"/>
                <a:cs typeface="Arial" pitchFamily="34" charset="-120"/>
              </a:rPr>
              <a:t>Azure OpenAI for most government work</a:t>
            </a:r>
            <a:endParaRPr lang="en-US" sz="825" dirty="0"/>
          </a:p>
        </p:txBody>
      </p:sp>
      <p:sp>
        <p:nvSpPr>
          <p:cNvPr id="45" name="Text 43"/>
          <p:cNvSpPr/>
          <p:nvPr/>
        </p:nvSpPr>
        <p:spPr>
          <a:xfrm>
            <a:off x="4629150" y="4066877"/>
            <a:ext cx="4057650" cy="413296"/>
          </a:xfrm>
          <a:prstGeom prst="rect">
            <a:avLst/>
          </a:prstGeom>
          <a:solidFill>
            <a:srgbClr val="FEF3C7"/>
          </a:solidFill>
          <a:ln/>
        </p:spPr>
        <p:txBody>
          <a:bodyPr wrap="square" rtlCol="0" anchor="ctr"/>
          <a:lstStyle/>
          <a:p>
            <a:pPr marL="0" indent="0">
              <a:buNone/>
            </a:pPr>
            <a:endParaRPr lang="en-US" dirty="0"/>
          </a:p>
        </p:txBody>
      </p:sp>
      <p:sp>
        <p:nvSpPr>
          <p:cNvPr id="46" name="Shape 44"/>
          <p:cNvSpPr/>
          <p:nvPr/>
        </p:nvSpPr>
        <p:spPr>
          <a:xfrm>
            <a:off x="4648200" y="4066877"/>
            <a:ext cx="0" cy="413296"/>
          </a:xfrm>
          <a:prstGeom prst="line">
            <a:avLst/>
          </a:prstGeom>
          <a:noFill/>
          <a:ln w="38100">
            <a:solidFill>
              <a:srgbClr val="F59E0B"/>
            </a:solidFill>
            <a:prstDash val="solid"/>
          </a:ln>
        </p:spPr>
        <p:txBody>
          <a:bodyPr/>
          <a:lstStyle/>
          <a:p>
            <a:endParaRPr lang="en-US"/>
          </a:p>
        </p:txBody>
      </p:sp>
      <p:sp>
        <p:nvSpPr>
          <p:cNvPr id="47" name="Text 45"/>
          <p:cNvSpPr/>
          <p:nvPr/>
        </p:nvSpPr>
        <p:spPr>
          <a:xfrm>
            <a:off x="4819650" y="4200227"/>
            <a:ext cx="3789045" cy="146596"/>
          </a:xfrm>
          <a:prstGeom prst="rect">
            <a:avLst/>
          </a:prstGeom>
          <a:noFill/>
          <a:ln/>
        </p:spPr>
        <p:txBody>
          <a:bodyPr wrap="square" lIns="0" tIns="0" rIns="0" bIns="0" rtlCol="0" anchor="t"/>
          <a:lstStyle/>
          <a:p>
            <a:pPr marL="0" indent="0" algn="l">
              <a:lnSpc>
                <a:spcPts val="1155"/>
              </a:lnSpc>
              <a:buNone/>
            </a:pPr>
            <a:r>
              <a:rPr lang="en-US" sz="825" dirty="0">
                <a:solidFill>
                  <a:srgbClr val="92400E"/>
                </a:solidFill>
                <a:latin typeface="Arial" pitchFamily="34" charset="0"/>
                <a:ea typeface="Arial" pitchFamily="34" charset="-122"/>
                <a:cs typeface="Arial" pitchFamily="34" charset="-120"/>
              </a:rPr>
              <a:t>*With proper BAA and configuration. Always verify with your compliance team.</a:t>
            </a:r>
            <a:endParaRPr lang="en-US" sz="8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980722" y="945952"/>
            <a:ext cx="1182407" cy="186630"/>
          </a:xfrm>
          <a:prstGeom prst="rect">
            <a:avLst/>
          </a:prstGeom>
          <a:noFill/>
          <a:ln/>
        </p:spPr>
        <p:txBody>
          <a:bodyPr wrap="square" lIns="0" tIns="0" rIns="0" bIns="0" rtlCol="0" anchor="t"/>
          <a:lstStyle/>
          <a:p>
            <a:pPr marL="0" indent="0" algn="ctr">
              <a:lnSpc>
                <a:spcPts val="1470"/>
              </a:lnSpc>
              <a:spcAft>
                <a:spcPts val="1800"/>
              </a:spcAft>
              <a:buNone/>
            </a:pPr>
            <a:r>
              <a:rPr lang="en-US" sz="1050" dirty="0">
                <a:solidFill>
                  <a:srgbClr val="C9A227"/>
                </a:solidFill>
                <a:latin typeface="Arial" pitchFamily="34" charset="0"/>
                <a:ea typeface="Arial" pitchFamily="34" charset="-122"/>
                <a:cs typeface="Arial" pitchFamily="34" charset="-120"/>
              </a:rPr>
              <a:t>SECTION 05</a:t>
            </a:r>
            <a:endParaRPr lang="en-US" sz="1050" dirty="0"/>
          </a:p>
        </p:txBody>
      </p:sp>
      <p:sp>
        <p:nvSpPr>
          <p:cNvPr id="3" name="Text 1"/>
          <p:cNvSpPr/>
          <p:nvPr/>
        </p:nvSpPr>
        <p:spPr>
          <a:xfrm>
            <a:off x="2398460" y="1513582"/>
            <a:ext cx="4347079" cy="495300"/>
          </a:xfrm>
          <a:prstGeom prst="rect">
            <a:avLst/>
          </a:prstGeom>
          <a:noFill/>
          <a:ln/>
        </p:spPr>
        <p:txBody>
          <a:bodyPr wrap="square" lIns="0" tIns="0" rIns="0" bIns="0" rtlCol="0" anchor="t"/>
          <a:lstStyle/>
          <a:p>
            <a:pPr marL="0" indent="0" algn="ctr">
              <a:lnSpc>
                <a:spcPts val="3900"/>
              </a:lnSpc>
              <a:spcAft>
                <a:spcPts val="1200"/>
              </a:spcAft>
              <a:buNone/>
            </a:pPr>
            <a:r>
              <a:rPr lang="en-US" sz="3900" dirty="0">
                <a:solidFill>
                  <a:srgbClr val="FFFFFF"/>
                </a:solidFill>
                <a:latin typeface="Georgia" pitchFamily="34" charset="0"/>
                <a:ea typeface="Georgia" pitchFamily="34" charset="-122"/>
                <a:cs typeface="Georgia" pitchFamily="34" charset="-120"/>
              </a:rPr>
              <a:t>CLI Tools Deep Dive</a:t>
            </a:r>
            <a:endParaRPr lang="en-US" sz="3900" dirty="0"/>
          </a:p>
        </p:txBody>
      </p:sp>
      <p:sp>
        <p:nvSpPr>
          <p:cNvPr id="4" name="Text 2"/>
          <p:cNvSpPr/>
          <p:nvPr/>
        </p:nvSpPr>
        <p:spPr>
          <a:xfrm>
            <a:off x="3278929" y="2313682"/>
            <a:ext cx="2585993" cy="239911"/>
          </a:xfrm>
          <a:prstGeom prst="rect">
            <a:avLst/>
          </a:prstGeom>
          <a:noFill/>
          <a:ln/>
        </p:spPr>
        <p:txBody>
          <a:bodyPr wrap="square" lIns="0" tIns="0" rIns="0" bIns="0" rtlCol="0" anchor="t"/>
          <a:lstStyle/>
          <a:p>
            <a:pPr marL="0" indent="0" algn="ctr">
              <a:lnSpc>
                <a:spcPts val="1890"/>
              </a:lnSpc>
              <a:spcAft>
                <a:spcPts val="2400"/>
              </a:spcAft>
              <a:buNone/>
            </a:pPr>
            <a:r>
              <a:rPr lang="en-US" sz="1350" dirty="0">
                <a:solidFill>
                  <a:srgbClr val="FFFFFF">
                    <a:alpha val="60000"/>
                  </a:srgbClr>
                </a:solidFill>
                <a:latin typeface="Arial" pitchFamily="34" charset="0"/>
                <a:ea typeface="Arial" pitchFamily="34" charset="-122"/>
                <a:cs typeface="Arial" pitchFamily="34" charset="-120"/>
              </a:rPr>
              <a:t>Advanced Claude Code Features</a:t>
            </a:r>
            <a:endParaRPr lang="en-US" sz="1350" dirty="0"/>
          </a:p>
        </p:txBody>
      </p:sp>
      <p:sp>
        <p:nvSpPr>
          <p:cNvPr id="5" name="Text 3"/>
          <p:cNvSpPr/>
          <p:nvPr/>
        </p:nvSpPr>
        <p:spPr>
          <a:xfrm>
            <a:off x="4191000" y="3010793"/>
            <a:ext cx="7620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665792" y="3487043"/>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6</a:t>
            </a:r>
            <a:endParaRPr lang="en-US" sz="2100" dirty="0"/>
          </a:p>
        </p:txBody>
      </p:sp>
      <p:sp>
        <p:nvSpPr>
          <p:cNvPr id="7" name="Text 5"/>
          <p:cNvSpPr/>
          <p:nvPr/>
        </p:nvSpPr>
        <p:spPr>
          <a:xfrm>
            <a:off x="3582299" y="4050804"/>
            <a:ext cx="303002"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Topics</a:t>
            </a:r>
            <a:endParaRPr lang="en-US" sz="825" dirty="0"/>
          </a:p>
        </p:txBody>
      </p:sp>
      <p:sp>
        <p:nvSpPr>
          <p:cNvPr id="8" name="Text 6"/>
          <p:cNvSpPr/>
          <p:nvPr/>
        </p:nvSpPr>
        <p:spPr>
          <a:xfrm>
            <a:off x="4428387" y="3487043"/>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3</a:t>
            </a:r>
            <a:endParaRPr lang="en-US" sz="2100" dirty="0"/>
          </a:p>
        </p:txBody>
      </p:sp>
      <p:sp>
        <p:nvSpPr>
          <p:cNvPr id="9" name="Text 7"/>
          <p:cNvSpPr/>
          <p:nvPr/>
        </p:nvSpPr>
        <p:spPr>
          <a:xfrm>
            <a:off x="4258669" y="4050804"/>
            <a:ext cx="475452"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Advanced</a:t>
            </a:r>
            <a:endParaRPr lang="en-US" sz="825" dirty="0"/>
          </a:p>
        </p:txBody>
      </p:sp>
      <p:sp>
        <p:nvSpPr>
          <p:cNvPr id="10" name="Text 8"/>
          <p:cNvSpPr/>
          <p:nvPr/>
        </p:nvSpPr>
        <p:spPr>
          <a:xfrm>
            <a:off x="5266587" y="3487043"/>
            <a:ext cx="136017" cy="373261"/>
          </a:xfrm>
          <a:prstGeom prst="rect">
            <a:avLst/>
          </a:prstGeom>
          <a:noFill/>
          <a:ln/>
        </p:spPr>
        <p:txBody>
          <a:bodyPr wrap="square" lIns="0" tIns="0" rIns="0" bIns="0" rtlCol="0" anchor="t"/>
          <a:lstStyle/>
          <a:p>
            <a:pPr marL="0" indent="0" algn="ctr">
              <a:lnSpc>
                <a:spcPts val="2940"/>
              </a:lnSpc>
              <a:buNone/>
            </a:pPr>
            <a:r>
              <a:rPr lang="en-US" sz="2100" dirty="0">
                <a:solidFill>
                  <a:srgbClr val="C9A227"/>
                </a:solidFill>
                <a:latin typeface="Georgia" pitchFamily="34" charset="0"/>
                <a:ea typeface="Georgia" pitchFamily="34" charset="-122"/>
                <a:cs typeface="Georgia" pitchFamily="34" charset="-120"/>
              </a:rPr>
              <a:t>1</a:t>
            </a:r>
            <a:endParaRPr lang="en-US" sz="2100" dirty="0"/>
          </a:p>
        </p:txBody>
      </p:sp>
      <p:sp>
        <p:nvSpPr>
          <p:cNvPr id="11" name="Text 9"/>
          <p:cNvSpPr/>
          <p:nvPr/>
        </p:nvSpPr>
        <p:spPr>
          <a:xfrm>
            <a:off x="5105977" y="4050804"/>
            <a:ext cx="457236" cy="146596"/>
          </a:xfrm>
          <a:prstGeom prst="rect">
            <a:avLst/>
          </a:prstGeom>
          <a:noFill/>
          <a:ln/>
        </p:spPr>
        <p:txBody>
          <a:bodyPr wrap="square" lIns="0" tIns="0" rIns="0" bIns="0" rtlCol="0" anchor="t"/>
          <a:lstStyle/>
          <a:p>
            <a:pPr marL="0" indent="0" algn="ctr">
              <a:lnSpc>
                <a:spcPts val="1155"/>
              </a:lnSpc>
              <a:spcBef>
                <a:spcPts val="300"/>
              </a:spcBef>
              <a:buNone/>
            </a:pPr>
            <a:r>
              <a:rPr lang="en-US" sz="825" dirty="0">
                <a:solidFill>
                  <a:srgbClr val="FFFFFF">
                    <a:alpha val="50000"/>
                  </a:srgbClr>
                </a:solidFill>
                <a:latin typeface="Arial" pitchFamily="34" charset="0"/>
                <a:ea typeface="Arial" pitchFamily="34" charset="-122"/>
                <a:cs typeface="Arial" pitchFamily="34" charset="-120"/>
              </a:rPr>
              <a:t>Summary</a:t>
            </a:r>
            <a:endParaRPr lang="en-US" sz="825" dirty="0"/>
          </a:p>
        </p:txBody>
      </p:sp>
      <p:sp>
        <p:nvSpPr>
          <p:cNvPr id="12" name="Text 10"/>
          <p:cNvSpPr/>
          <p:nvPr/>
        </p:nvSpPr>
        <p:spPr>
          <a:xfrm>
            <a:off x="8127653" y="4678710"/>
            <a:ext cx="570330" cy="159990"/>
          </a:xfrm>
          <a:prstGeom prst="rect">
            <a:avLst/>
          </a:prstGeom>
          <a:noFill/>
          <a:ln/>
        </p:spPr>
        <p:txBody>
          <a:bodyPr wrap="square" lIns="0" tIns="0" rIns="0" bIns="0" rtlCol="0" anchor="t"/>
          <a:lstStyle/>
          <a:p>
            <a:pPr marL="0" indent="0" algn="l">
              <a:lnSpc>
                <a:spcPts val="1260"/>
              </a:lnSpc>
              <a:buNone/>
            </a:pPr>
            <a:r>
              <a:rPr lang="en-US" sz="900" dirty="0">
                <a:solidFill>
                  <a:srgbClr val="FFFFFF">
                    <a:alpha val="30000"/>
                  </a:srgbClr>
                </a:solidFill>
                <a:latin typeface="Arial" pitchFamily="34" charset="0"/>
                <a:ea typeface="Arial" pitchFamily="34" charset="-122"/>
                <a:cs typeface="Arial" pitchFamily="34" charset="-120"/>
              </a:rPr>
              <a:t>15 minutes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QUICK ACTIONS</a:t>
            </a:r>
            <a:endParaRPr lang="en-US" sz="825" dirty="0"/>
          </a:p>
        </p:txBody>
      </p:sp>
      <p:sp>
        <p:nvSpPr>
          <p:cNvPr id="3" name="Text 1"/>
          <p:cNvSpPr/>
          <p:nvPr/>
        </p:nvSpPr>
        <p:spPr>
          <a:xfrm>
            <a:off x="457200" y="5275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FFFFFF"/>
                </a:solidFill>
                <a:latin typeface="Georgia" pitchFamily="34" charset="0"/>
                <a:ea typeface="Georgia" pitchFamily="34" charset="-122"/>
                <a:cs typeface="Georgia" pitchFamily="34" charset="-120"/>
              </a:rPr>
              <a:t>Slash Commands Reference</a:t>
            </a:r>
            <a:endParaRPr lang="en-US" sz="2400" dirty="0"/>
          </a:p>
        </p:txBody>
      </p:sp>
      <p:sp>
        <p:nvSpPr>
          <p:cNvPr id="4" name="Text 2"/>
          <p:cNvSpPr/>
          <p:nvPr/>
        </p:nvSpPr>
        <p:spPr>
          <a:xfrm>
            <a:off x="457200" y="908596"/>
            <a:ext cx="8394192" cy="186630"/>
          </a:xfrm>
          <a:prstGeom prst="rect">
            <a:avLst/>
          </a:prstGeom>
          <a:noFill/>
          <a:ln/>
        </p:spPr>
        <p:txBody>
          <a:bodyPr wrap="square" lIns="0" tIns="0" rIns="0" bIns="0" rtlCol="0" anchor="t"/>
          <a:lstStyle/>
          <a:p>
            <a:pPr marL="0" indent="0" algn="l">
              <a:lnSpc>
                <a:spcPts val="1470"/>
              </a:lnSpc>
              <a:spcBef>
                <a:spcPts val="600"/>
              </a:spcBef>
              <a:buNone/>
            </a:pPr>
            <a:r>
              <a:rPr lang="en-US" sz="1050" dirty="0">
                <a:solidFill>
                  <a:srgbClr val="FFFFFF">
                    <a:alpha val="60000"/>
                  </a:srgbClr>
                </a:solidFill>
                <a:latin typeface="Arial" pitchFamily="34" charset="0"/>
                <a:ea typeface="Arial" pitchFamily="34" charset="-122"/>
                <a:cs typeface="Arial" pitchFamily="34" charset="-120"/>
              </a:rPr>
              <a:t>Built-in shortcuts for common operations</a:t>
            </a:r>
            <a:endParaRPr lang="en-US" sz="1050" dirty="0"/>
          </a:p>
        </p:txBody>
      </p:sp>
      <p:sp>
        <p:nvSpPr>
          <p:cNvPr id="5" name="Text 3"/>
          <p:cNvSpPr/>
          <p:nvPr/>
        </p:nvSpPr>
        <p:spPr>
          <a:xfrm>
            <a:off x="457200" y="1709738"/>
            <a:ext cx="2641550" cy="2857351"/>
          </a:xfrm>
          <a:prstGeom prst="rect">
            <a:avLst/>
          </a:prstGeom>
          <a:solidFill>
            <a:srgbClr val="252B3D"/>
          </a:solidFill>
          <a:ln/>
        </p:spPr>
        <p:txBody>
          <a:bodyPr wrap="square" rtlCol="0" anchor="ctr"/>
          <a:lstStyle/>
          <a:p>
            <a:pPr marL="0" indent="0">
              <a:buNone/>
            </a:pPr>
            <a:endParaRPr lang="en-US" dirty="0"/>
          </a:p>
        </p:txBody>
      </p:sp>
      <p:sp>
        <p:nvSpPr>
          <p:cNvPr id="6" name="Text 4"/>
          <p:cNvSpPr/>
          <p:nvPr/>
        </p:nvSpPr>
        <p:spPr>
          <a:xfrm>
            <a:off x="647700" y="1900238"/>
            <a:ext cx="2305761"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Session</a:t>
            </a:r>
            <a:endParaRPr lang="en-US" sz="900" dirty="0"/>
          </a:p>
        </p:txBody>
      </p:sp>
      <p:sp>
        <p:nvSpPr>
          <p:cNvPr id="7" name="Text 5"/>
          <p:cNvSpPr/>
          <p:nvPr/>
        </p:nvSpPr>
        <p:spPr>
          <a:xfrm>
            <a:off x="647700" y="2345978"/>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/clear</a:t>
            </a:r>
            <a:endParaRPr lang="en-US" sz="900" dirty="0"/>
          </a:p>
        </p:txBody>
      </p:sp>
      <p:sp>
        <p:nvSpPr>
          <p:cNvPr id="8" name="Text 6"/>
          <p:cNvSpPr/>
          <p:nvPr/>
        </p:nvSpPr>
        <p:spPr>
          <a:xfrm>
            <a:off x="647700" y="2534543"/>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Reset conversation</a:t>
            </a:r>
            <a:endParaRPr lang="en-US" sz="750" dirty="0"/>
          </a:p>
        </p:txBody>
      </p:sp>
      <p:sp>
        <p:nvSpPr>
          <p:cNvPr id="9" name="Text 7"/>
          <p:cNvSpPr/>
          <p:nvPr/>
        </p:nvSpPr>
        <p:spPr>
          <a:xfrm>
            <a:off x="647700" y="2915543"/>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/compact</a:t>
            </a:r>
            <a:endParaRPr lang="en-US" sz="900" dirty="0"/>
          </a:p>
        </p:txBody>
      </p:sp>
      <p:sp>
        <p:nvSpPr>
          <p:cNvPr id="10" name="Text 8"/>
          <p:cNvSpPr/>
          <p:nvPr/>
        </p:nvSpPr>
        <p:spPr>
          <a:xfrm>
            <a:off x="647700" y="3104108"/>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Summarize context</a:t>
            </a:r>
            <a:endParaRPr lang="en-US" sz="750" dirty="0"/>
          </a:p>
        </p:txBody>
      </p:sp>
      <p:sp>
        <p:nvSpPr>
          <p:cNvPr id="11" name="Text 9"/>
          <p:cNvSpPr/>
          <p:nvPr/>
        </p:nvSpPr>
        <p:spPr>
          <a:xfrm>
            <a:off x="647700" y="3485108"/>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/resume</a:t>
            </a:r>
            <a:endParaRPr lang="en-US" sz="900" dirty="0"/>
          </a:p>
        </p:txBody>
      </p:sp>
      <p:sp>
        <p:nvSpPr>
          <p:cNvPr id="12" name="Text 10"/>
          <p:cNvSpPr/>
          <p:nvPr/>
        </p:nvSpPr>
        <p:spPr>
          <a:xfrm>
            <a:off x="647700" y="3673673"/>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Continue last session</a:t>
            </a:r>
            <a:endParaRPr lang="en-US" sz="750" dirty="0"/>
          </a:p>
        </p:txBody>
      </p:sp>
      <p:sp>
        <p:nvSpPr>
          <p:cNvPr id="13" name="Text 11"/>
          <p:cNvSpPr/>
          <p:nvPr/>
        </p:nvSpPr>
        <p:spPr>
          <a:xfrm>
            <a:off x="647700" y="4054673"/>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/config</a:t>
            </a:r>
            <a:endParaRPr lang="en-US" sz="900" dirty="0"/>
          </a:p>
        </p:txBody>
      </p:sp>
      <p:sp>
        <p:nvSpPr>
          <p:cNvPr id="14" name="Text 12"/>
          <p:cNvSpPr/>
          <p:nvPr/>
        </p:nvSpPr>
        <p:spPr>
          <a:xfrm>
            <a:off x="647700" y="4243239"/>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View/edit settings</a:t>
            </a:r>
            <a:endParaRPr lang="en-US" sz="750" dirty="0"/>
          </a:p>
        </p:txBody>
      </p:sp>
      <p:sp>
        <p:nvSpPr>
          <p:cNvPr id="15" name="Text 13"/>
          <p:cNvSpPr/>
          <p:nvPr/>
        </p:nvSpPr>
        <p:spPr>
          <a:xfrm>
            <a:off x="3251150" y="1709738"/>
            <a:ext cx="2641550" cy="2857351"/>
          </a:xfrm>
          <a:prstGeom prst="rect">
            <a:avLst/>
          </a:prstGeom>
          <a:solidFill>
            <a:srgbClr val="252B3D"/>
          </a:solidFill>
          <a:ln/>
        </p:spPr>
        <p:txBody>
          <a:bodyPr wrap="square" rtlCol="0" anchor="ctr"/>
          <a:lstStyle/>
          <a:p>
            <a:pPr marL="0" indent="0">
              <a:buNone/>
            </a:pPr>
            <a:endParaRPr lang="en-US" dirty="0"/>
          </a:p>
        </p:txBody>
      </p:sp>
      <p:sp>
        <p:nvSpPr>
          <p:cNvPr id="16" name="Text 14"/>
          <p:cNvSpPr/>
          <p:nvPr/>
        </p:nvSpPr>
        <p:spPr>
          <a:xfrm>
            <a:off x="3441650" y="1900238"/>
            <a:ext cx="2305761"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Information</a:t>
            </a:r>
            <a:endParaRPr lang="en-US" sz="900" dirty="0"/>
          </a:p>
        </p:txBody>
      </p:sp>
      <p:sp>
        <p:nvSpPr>
          <p:cNvPr id="17" name="Text 15"/>
          <p:cNvSpPr/>
          <p:nvPr/>
        </p:nvSpPr>
        <p:spPr>
          <a:xfrm>
            <a:off x="3441650" y="2345978"/>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/help</a:t>
            </a:r>
            <a:endParaRPr lang="en-US" sz="900" dirty="0"/>
          </a:p>
        </p:txBody>
      </p:sp>
      <p:sp>
        <p:nvSpPr>
          <p:cNvPr id="18" name="Text 16"/>
          <p:cNvSpPr/>
          <p:nvPr/>
        </p:nvSpPr>
        <p:spPr>
          <a:xfrm>
            <a:off x="3441650" y="2534543"/>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Show all commands</a:t>
            </a:r>
            <a:endParaRPr lang="en-US" sz="750" dirty="0"/>
          </a:p>
        </p:txBody>
      </p:sp>
      <p:sp>
        <p:nvSpPr>
          <p:cNvPr id="19" name="Text 17"/>
          <p:cNvSpPr/>
          <p:nvPr/>
        </p:nvSpPr>
        <p:spPr>
          <a:xfrm>
            <a:off x="3441650" y="2915543"/>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/cost</a:t>
            </a:r>
            <a:endParaRPr lang="en-US" sz="900" dirty="0"/>
          </a:p>
        </p:txBody>
      </p:sp>
      <p:sp>
        <p:nvSpPr>
          <p:cNvPr id="20" name="Text 18"/>
          <p:cNvSpPr/>
          <p:nvPr/>
        </p:nvSpPr>
        <p:spPr>
          <a:xfrm>
            <a:off x="3441650" y="3104108"/>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Show token usage</a:t>
            </a:r>
            <a:endParaRPr lang="en-US" sz="750" dirty="0"/>
          </a:p>
        </p:txBody>
      </p:sp>
      <p:sp>
        <p:nvSpPr>
          <p:cNvPr id="21" name="Text 19"/>
          <p:cNvSpPr/>
          <p:nvPr/>
        </p:nvSpPr>
        <p:spPr>
          <a:xfrm>
            <a:off x="3441650" y="3485108"/>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/status</a:t>
            </a:r>
            <a:endParaRPr lang="en-US" sz="900" dirty="0"/>
          </a:p>
        </p:txBody>
      </p:sp>
      <p:sp>
        <p:nvSpPr>
          <p:cNvPr id="22" name="Text 20"/>
          <p:cNvSpPr/>
          <p:nvPr/>
        </p:nvSpPr>
        <p:spPr>
          <a:xfrm>
            <a:off x="3441650" y="3673673"/>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Current session info</a:t>
            </a:r>
            <a:endParaRPr lang="en-US" sz="750" dirty="0"/>
          </a:p>
        </p:txBody>
      </p:sp>
      <p:sp>
        <p:nvSpPr>
          <p:cNvPr id="23" name="Text 21"/>
          <p:cNvSpPr/>
          <p:nvPr/>
        </p:nvSpPr>
        <p:spPr>
          <a:xfrm>
            <a:off x="3441650" y="4054673"/>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/doctor</a:t>
            </a:r>
            <a:endParaRPr lang="en-US" sz="900" dirty="0"/>
          </a:p>
        </p:txBody>
      </p:sp>
      <p:sp>
        <p:nvSpPr>
          <p:cNvPr id="24" name="Text 22"/>
          <p:cNvSpPr/>
          <p:nvPr/>
        </p:nvSpPr>
        <p:spPr>
          <a:xfrm>
            <a:off x="3441650" y="4243239"/>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Diagnose issues</a:t>
            </a:r>
            <a:endParaRPr lang="en-US" sz="750" dirty="0"/>
          </a:p>
        </p:txBody>
      </p:sp>
      <p:sp>
        <p:nvSpPr>
          <p:cNvPr id="25" name="Text 23"/>
          <p:cNvSpPr/>
          <p:nvPr/>
        </p:nvSpPr>
        <p:spPr>
          <a:xfrm>
            <a:off x="6045101" y="1709738"/>
            <a:ext cx="2641550" cy="2857351"/>
          </a:xfrm>
          <a:prstGeom prst="rect">
            <a:avLst/>
          </a:prstGeom>
          <a:solidFill>
            <a:srgbClr val="252B3D"/>
          </a:solidFill>
          <a:ln/>
        </p:spPr>
        <p:txBody>
          <a:bodyPr wrap="square" rtlCol="0" anchor="ctr"/>
          <a:lstStyle/>
          <a:p>
            <a:pPr marL="0" indent="0">
              <a:buNone/>
            </a:pPr>
            <a:endParaRPr lang="en-US" dirty="0"/>
          </a:p>
        </p:txBody>
      </p:sp>
      <p:sp>
        <p:nvSpPr>
          <p:cNvPr id="26" name="Text 24"/>
          <p:cNvSpPr/>
          <p:nvPr/>
        </p:nvSpPr>
        <p:spPr>
          <a:xfrm>
            <a:off x="6235601" y="1900238"/>
            <a:ext cx="2305761"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Actions</a:t>
            </a:r>
            <a:endParaRPr lang="en-US" sz="900" dirty="0"/>
          </a:p>
        </p:txBody>
      </p:sp>
      <p:sp>
        <p:nvSpPr>
          <p:cNvPr id="27" name="Text 25"/>
          <p:cNvSpPr/>
          <p:nvPr/>
        </p:nvSpPr>
        <p:spPr>
          <a:xfrm>
            <a:off x="6235601" y="2345978"/>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/init</a:t>
            </a:r>
            <a:endParaRPr lang="en-US" sz="900" dirty="0"/>
          </a:p>
        </p:txBody>
      </p:sp>
      <p:sp>
        <p:nvSpPr>
          <p:cNvPr id="28" name="Text 26"/>
          <p:cNvSpPr/>
          <p:nvPr/>
        </p:nvSpPr>
        <p:spPr>
          <a:xfrm>
            <a:off x="6235601" y="2534543"/>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Create CLAUDE.md</a:t>
            </a:r>
            <a:endParaRPr lang="en-US" sz="750" dirty="0"/>
          </a:p>
        </p:txBody>
      </p:sp>
      <p:sp>
        <p:nvSpPr>
          <p:cNvPr id="29" name="Text 27"/>
          <p:cNvSpPr/>
          <p:nvPr/>
        </p:nvSpPr>
        <p:spPr>
          <a:xfrm>
            <a:off x="6235601" y="2915543"/>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/add-dir</a:t>
            </a:r>
            <a:endParaRPr lang="en-US" sz="900" dirty="0"/>
          </a:p>
        </p:txBody>
      </p:sp>
      <p:sp>
        <p:nvSpPr>
          <p:cNvPr id="30" name="Text 28"/>
          <p:cNvSpPr/>
          <p:nvPr/>
        </p:nvSpPr>
        <p:spPr>
          <a:xfrm>
            <a:off x="6235601" y="3104108"/>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Add folder to context</a:t>
            </a:r>
            <a:endParaRPr lang="en-US" sz="750" dirty="0"/>
          </a:p>
        </p:txBody>
      </p:sp>
      <p:sp>
        <p:nvSpPr>
          <p:cNvPr id="31" name="Text 29"/>
          <p:cNvSpPr/>
          <p:nvPr/>
        </p:nvSpPr>
        <p:spPr>
          <a:xfrm>
            <a:off x="6235601" y="3485108"/>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/bug</a:t>
            </a:r>
            <a:endParaRPr lang="en-US" sz="900" dirty="0"/>
          </a:p>
        </p:txBody>
      </p:sp>
      <p:sp>
        <p:nvSpPr>
          <p:cNvPr id="32" name="Text 30"/>
          <p:cNvSpPr/>
          <p:nvPr/>
        </p:nvSpPr>
        <p:spPr>
          <a:xfrm>
            <a:off x="6235601" y="3673673"/>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Report a bug</a:t>
            </a:r>
            <a:endParaRPr lang="en-US" sz="750" dirty="0"/>
          </a:p>
        </p:txBody>
      </p:sp>
      <p:sp>
        <p:nvSpPr>
          <p:cNvPr id="33" name="Text 31"/>
          <p:cNvSpPr/>
          <p:nvPr/>
        </p:nvSpPr>
        <p:spPr>
          <a:xfrm>
            <a:off x="6235601" y="4054673"/>
            <a:ext cx="2305761" cy="159990"/>
          </a:xfrm>
          <a:prstGeom prst="rect">
            <a:avLst/>
          </a:prstGeom>
          <a:noFill/>
          <a:ln/>
        </p:spPr>
        <p:txBody>
          <a:bodyPr wrap="square" lIns="0" tIns="0" rIns="0" bIns="0" rtlCol="0" anchor="t"/>
          <a:lstStyle/>
          <a:p>
            <a:pPr marL="0" indent="0" algn="l">
              <a:lnSpc>
                <a:spcPts val="1260"/>
              </a:lnSpc>
              <a:spcAft>
                <a:spcPts val="225"/>
              </a:spcAft>
              <a:buNone/>
            </a:pPr>
            <a:r>
              <a:rPr lang="en-US" sz="900" dirty="0">
                <a:solidFill>
                  <a:srgbClr val="FFFFFF"/>
                </a:solidFill>
                <a:latin typeface="monospace" pitchFamily="34" charset="0"/>
                <a:ea typeface="monospace" pitchFamily="34" charset="-122"/>
                <a:cs typeface="monospace" pitchFamily="34" charset="-120"/>
              </a:rPr>
              <a:t>/login</a:t>
            </a:r>
            <a:endParaRPr lang="en-US" sz="900" dirty="0"/>
          </a:p>
        </p:txBody>
      </p:sp>
      <p:sp>
        <p:nvSpPr>
          <p:cNvPr id="34" name="Text 32"/>
          <p:cNvSpPr/>
          <p:nvPr/>
        </p:nvSpPr>
        <p:spPr>
          <a:xfrm>
            <a:off x="6235601" y="4243239"/>
            <a:ext cx="2305761"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Re-authenticate</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944070" cy="5143500"/>
          </a:xfrm>
          <a:prstGeom prst="rect">
            <a:avLst/>
          </a:prstGeom>
          <a:solidFill>
            <a:srgbClr val="F7F8FA"/>
          </a:solidFill>
          <a:ln/>
        </p:spPr>
        <p:txBody>
          <a:bodyPr wrap="square" rtlCol="0" anchor="ctr"/>
          <a:lstStyle/>
          <a:p>
            <a:pPr marL="0" indent="0">
              <a:buNone/>
            </a:pPr>
            <a:endParaRPr lang="en-US" dirty="0"/>
          </a:p>
        </p:txBody>
      </p:sp>
      <p:sp>
        <p:nvSpPr>
          <p:cNvPr id="3" name="Text 1"/>
          <p:cNvSpPr/>
          <p:nvPr/>
        </p:nvSpPr>
        <p:spPr>
          <a:xfrm>
            <a:off x="342900" y="504081"/>
            <a:ext cx="930259" cy="133350"/>
          </a:xfrm>
          <a:prstGeom prst="rect">
            <a:avLst/>
          </a:prstGeom>
          <a:noFill/>
          <a:ln/>
        </p:spPr>
        <p:txBody>
          <a:bodyPr wrap="square" lIns="0" tIns="0" rIns="0" bIns="0" rtlCol="0" anchor="t"/>
          <a:lstStyle/>
          <a:p>
            <a:pPr marL="0" indent="0" algn="l">
              <a:lnSpc>
                <a:spcPts val="1050"/>
              </a:lnSpc>
              <a:buNone/>
            </a:pPr>
            <a:r>
              <a:rPr lang="en-US" sz="750" dirty="0">
                <a:solidFill>
                  <a:srgbClr val="C9A227"/>
                </a:solidFill>
                <a:latin typeface="Arial" pitchFamily="34" charset="0"/>
                <a:ea typeface="Arial" pitchFamily="34" charset="-122"/>
                <a:cs typeface="Arial" pitchFamily="34" charset="-120"/>
              </a:rPr>
              <a:t>AUTOMATION</a:t>
            </a:r>
            <a:endParaRPr lang="en-US" sz="750" dirty="0"/>
          </a:p>
        </p:txBody>
      </p:sp>
      <p:sp>
        <p:nvSpPr>
          <p:cNvPr id="4" name="Text 2"/>
          <p:cNvSpPr/>
          <p:nvPr/>
        </p:nvSpPr>
        <p:spPr>
          <a:xfrm>
            <a:off x="342900" y="846981"/>
            <a:ext cx="2176272" cy="266700"/>
          </a:xfrm>
          <a:prstGeom prst="rect">
            <a:avLst/>
          </a:prstGeom>
          <a:noFill/>
          <a:ln/>
        </p:spPr>
        <p:txBody>
          <a:bodyPr wrap="square" lIns="0" tIns="0" rIns="0" bIns="0" rtlCol="0" anchor="t"/>
          <a:lstStyle/>
          <a:p>
            <a:pPr marL="0" indent="0" algn="l">
              <a:lnSpc>
                <a:spcPts val="2100"/>
              </a:lnSpc>
              <a:spcAft>
                <a:spcPts val="450"/>
              </a:spcAft>
              <a:buNone/>
            </a:pPr>
            <a:r>
              <a:rPr lang="en-US" sz="2100" dirty="0">
                <a:solidFill>
                  <a:srgbClr val="1A1F2E"/>
                </a:solidFill>
                <a:latin typeface="Georgia" pitchFamily="34" charset="0"/>
                <a:ea typeface="Georgia" pitchFamily="34" charset="-122"/>
                <a:cs typeface="Georgia" pitchFamily="34" charset="-120"/>
              </a:rPr>
              <a:t>Hooks System</a:t>
            </a:r>
            <a:endParaRPr lang="en-US" sz="2100" dirty="0"/>
          </a:p>
        </p:txBody>
      </p:sp>
      <p:sp>
        <p:nvSpPr>
          <p:cNvPr id="5" name="Text 3"/>
          <p:cNvSpPr/>
          <p:nvPr/>
        </p:nvSpPr>
        <p:spPr>
          <a:xfrm>
            <a:off x="342900" y="1323231"/>
            <a:ext cx="4343436" cy="173236"/>
          </a:xfrm>
          <a:prstGeom prst="rect">
            <a:avLst/>
          </a:prstGeom>
          <a:noFill/>
          <a:ln/>
        </p:spPr>
        <p:txBody>
          <a:bodyPr wrap="square" lIns="0" tIns="0" rIns="0" bIns="0" rtlCol="0" anchor="t"/>
          <a:lstStyle/>
          <a:p>
            <a:pPr marL="0" indent="0" algn="l">
              <a:lnSpc>
                <a:spcPts val="1365"/>
              </a:lnSpc>
              <a:spcAft>
                <a:spcPts val="1200"/>
              </a:spcAft>
              <a:buNone/>
            </a:pPr>
            <a:r>
              <a:rPr lang="en-US" sz="975" dirty="0">
                <a:solidFill>
                  <a:srgbClr val="6B7280"/>
                </a:solidFill>
                <a:latin typeface="Arial" pitchFamily="34" charset="0"/>
                <a:ea typeface="Arial" pitchFamily="34" charset="-122"/>
                <a:cs typeface="Arial" pitchFamily="34" charset="-120"/>
              </a:rPr>
              <a:t>Run scripts at key points in Claude's workflow</a:t>
            </a:r>
            <a:endParaRPr lang="en-US" sz="975" dirty="0"/>
          </a:p>
        </p:txBody>
      </p:sp>
      <p:sp>
        <p:nvSpPr>
          <p:cNvPr id="6" name="Text 4"/>
          <p:cNvSpPr/>
          <p:nvPr/>
        </p:nvSpPr>
        <p:spPr>
          <a:xfrm>
            <a:off x="342900" y="1801267"/>
            <a:ext cx="4258270" cy="5923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7" name="Text 5"/>
          <p:cNvSpPr/>
          <p:nvPr/>
        </p:nvSpPr>
        <p:spPr>
          <a:xfrm>
            <a:off x="466725" y="1925092"/>
            <a:ext cx="409083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PreToolUse</a:t>
            </a:r>
            <a:endParaRPr lang="en-US" sz="900" dirty="0"/>
          </a:p>
        </p:txBody>
      </p:sp>
      <p:sp>
        <p:nvSpPr>
          <p:cNvPr id="8" name="Text 6"/>
          <p:cNvSpPr/>
          <p:nvPr/>
        </p:nvSpPr>
        <p:spPr>
          <a:xfrm>
            <a:off x="466725" y="2123182"/>
            <a:ext cx="4090833"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Run before Claude executes a tool (read, write, bash)</a:t>
            </a:r>
            <a:endParaRPr lang="en-US" sz="825" dirty="0"/>
          </a:p>
        </p:txBody>
      </p:sp>
      <p:sp>
        <p:nvSpPr>
          <p:cNvPr id="9" name="Text 7"/>
          <p:cNvSpPr/>
          <p:nvPr/>
        </p:nvSpPr>
        <p:spPr>
          <a:xfrm>
            <a:off x="342900" y="2622203"/>
            <a:ext cx="4258270" cy="5923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0" name="Text 8"/>
          <p:cNvSpPr/>
          <p:nvPr/>
        </p:nvSpPr>
        <p:spPr>
          <a:xfrm>
            <a:off x="466725" y="2746028"/>
            <a:ext cx="409083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PostToolUse</a:t>
            </a:r>
            <a:endParaRPr lang="en-US" sz="900" dirty="0"/>
          </a:p>
        </p:txBody>
      </p:sp>
      <p:sp>
        <p:nvSpPr>
          <p:cNvPr id="11" name="Text 9"/>
          <p:cNvSpPr/>
          <p:nvPr/>
        </p:nvSpPr>
        <p:spPr>
          <a:xfrm>
            <a:off x="466725" y="2944118"/>
            <a:ext cx="4090833"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Run after a tool completes (log actions, format code)</a:t>
            </a:r>
            <a:endParaRPr lang="en-US" sz="825" dirty="0"/>
          </a:p>
        </p:txBody>
      </p:sp>
      <p:sp>
        <p:nvSpPr>
          <p:cNvPr id="12" name="Text 10"/>
          <p:cNvSpPr/>
          <p:nvPr/>
        </p:nvSpPr>
        <p:spPr>
          <a:xfrm>
            <a:off x="342900" y="3443139"/>
            <a:ext cx="4258270" cy="5923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466725" y="3566964"/>
            <a:ext cx="409083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Notification</a:t>
            </a:r>
            <a:endParaRPr lang="en-US" sz="900" dirty="0"/>
          </a:p>
        </p:txBody>
      </p:sp>
      <p:sp>
        <p:nvSpPr>
          <p:cNvPr id="14" name="Text 12"/>
          <p:cNvSpPr/>
          <p:nvPr/>
        </p:nvSpPr>
        <p:spPr>
          <a:xfrm>
            <a:off x="466725" y="3765054"/>
            <a:ext cx="4090833"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Handle Claude notifications (Slack, email, etc.)</a:t>
            </a:r>
            <a:endParaRPr lang="en-US" sz="825" dirty="0"/>
          </a:p>
        </p:txBody>
      </p:sp>
      <p:sp>
        <p:nvSpPr>
          <p:cNvPr id="15" name="Text 13"/>
          <p:cNvSpPr/>
          <p:nvPr/>
        </p:nvSpPr>
        <p:spPr>
          <a:xfrm>
            <a:off x="342900" y="4264075"/>
            <a:ext cx="4258270" cy="375196"/>
          </a:xfrm>
          <a:prstGeom prst="rect">
            <a:avLst/>
          </a:prstGeom>
          <a:solidFill>
            <a:srgbClr val="1A1F2E"/>
          </a:solidFill>
          <a:ln/>
        </p:spPr>
        <p:txBody>
          <a:bodyPr wrap="square" rtlCol="0" anchor="ctr"/>
          <a:lstStyle/>
          <a:p>
            <a:pPr marL="0" indent="0">
              <a:buNone/>
            </a:pPr>
            <a:endParaRPr lang="en-US" dirty="0"/>
          </a:p>
        </p:txBody>
      </p:sp>
      <p:sp>
        <p:nvSpPr>
          <p:cNvPr id="16" name="Text 14"/>
          <p:cNvSpPr/>
          <p:nvPr/>
        </p:nvSpPr>
        <p:spPr>
          <a:xfrm>
            <a:off x="476250" y="4378375"/>
            <a:ext cx="4071402" cy="146596"/>
          </a:xfrm>
          <a:prstGeom prst="rect">
            <a:avLst/>
          </a:prstGeom>
          <a:noFill/>
          <a:ln/>
        </p:spPr>
        <p:txBody>
          <a:bodyPr wrap="square" lIns="0" tIns="0" rIns="0" bIns="0" rtlCol="0" anchor="t"/>
          <a:lstStyle/>
          <a:p>
            <a:pPr marL="0" indent="0" algn="l">
              <a:lnSpc>
                <a:spcPts val="1155"/>
              </a:lnSpc>
              <a:buNone/>
            </a:pPr>
            <a:r>
              <a:rPr lang="en-US" sz="825" b="1" dirty="0">
                <a:solidFill>
                  <a:srgbClr val="C9A227"/>
                </a:solidFill>
                <a:latin typeface="Arial" pitchFamily="34" charset="0"/>
                <a:ea typeface="Arial" pitchFamily="34" charset="-122"/>
                <a:cs typeface="Arial" pitchFamily="34" charset="-120"/>
              </a:rPr>
              <a:t>Use case:</a:t>
            </a:r>
            <a:r>
              <a:rPr lang="en-US" sz="825" dirty="0">
                <a:solidFill>
                  <a:srgbClr val="C9A227"/>
                </a:solidFill>
                <a:latin typeface="Arial" pitchFamily="34" charset="0"/>
                <a:ea typeface="Arial" pitchFamily="34" charset="-122"/>
                <a:cs typeface="Arial" pitchFamily="34" charset="-120"/>
              </a:rPr>
              <a:t> Auto-format code before commits, log all file writes</a:t>
            </a:r>
            <a:endParaRPr lang="en-US" sz="825" dirty="0"/>
          </a:p>
        </p:txBody>
      </p:sp>
      <p:sp>
        <p:nvSpPr>
          <p:cNvPr id="17" name="Text 15"/>
          <p:cNvSpPr/>
          <p:nvPr/>
        </p:nvSpPr>
        <p:spPr>
          <a:xfrm>
            <a:off x="5096470" y="0"/>
            <a:ext cx="4047530" cy="5143500"/>
          </a:xfrm>
          <a:prstGeom prst="rect">
            <a:avLst/>
          </a:prstGeom>
          <a:solidFill>
            <a:srgbClr val="1A1F2E"/>
          </a:solidFill>
          <a:ln/>
        </p:spPr>
        <p:txBody>
          <a:bodyPr wrap="square" rtlCol="0" anchor="ctr"/>
          <a:lstStyle/>
          <a:p>
            <a:pPr marL="0" indent="0">
              <a:buNone/>
            </a:pPr>
            <a:endParaRPr lang="en-US" dirty="0"/>
          </a:p>
        </p:txBody>
      </p:sp>
      <p:sp>
        <p:nvSpPr>
          <p:cNvPr id="18" name="Text 16"/>
          <p:cNvSpPr/>
          <p:nvPr/>
        </p:nvSpPr>
        <p:spPr>
          <a:xfrm>
            <a:off x="5439370" y="295275"/>
            <a:ext cx="3428964" cy="133350"/>
          </a:xfrm>
          <a:prstGeom prst="rect">
            <a:avLst/>
          </a:prstGeom>
          <a:noFill/>
          <a:ln/>
        </p:spPr>
        <p:txBody>
          <a:bodyPr wrap="square" lIns="0" tIns="0" rIns="0" bIns="0" rtlCol="0" anchor="t"/>
          <a:lstStyle/>
          <a:p>
            <a:pPr marL="0" indent="0" algn="l">
              <a:lnSpc>
                <a:spcPts val="1050"/>
              </a:lnSpc>
              <a:spcAft>
                <a:spcPts val="1050"/>
              </a:spcAft>
              <a:buNone/>
            </a:pPr>
            <a:r>
              <a:rPr lang="en-US" sz="750" dirty="0">
                <a:solidFill>
                  <a:srgbClr val="C9A227"/>
                </a:solidFill>
                <a:latin typeface="Arial" pitchFamily="34" charset="0"/>
                <a:ea typeface="Arial" pitchFamily="34" charset="-122"/>
                <a:cs typeface="Arial" pitchFamily="34" charset="-120"/>
              </a:rPr>
              <a:t>EXAMPLE HOOK</a:t>
            </a:r>
            <a:endParaRPr lang="en-US" sz="750" dirty="0"/>
          </a:p>
        </p:txBody>
      </p:sp>
      <p:sp>
        <p:nvSpPr>
          <p:cNvPr id="19" name="Text 17"/>
          <p:cNvSpPr/>
          <p:nvPr/>
        </p:nvSpPr>
        <p:spPr>
          <a:xfrm>
            <a:off x="5439370" y="714375"/>
            <a:ext cx="3361730" cy="3467100"/>
          </a:xfrm>
          <a:prstGeom prst="rect">
            <a:avLst/>
          </a:prstGeom>
          <a:solidFill>
            <a:srgbClr val="252B3D"/>
          </a:solidFill>
          <a:ln/>
        </p:spPr>
        <p:txBody>
          <a:bodyPr wrap="square" rtlCol="0" anchor="ctr"/>
          <a:lstStyle/>
          <a:p>
            <a:pPr marL="0" indent="0">
              <a:buNone/>
            </a:pPr>
            <a:endParaRPr lang="en-US" dirty="0"/>
          </a:p>
        </p:txBody>
      </p:sp>
      <p:sp>
        <p:nvSpPr>
          <p:cNvPr id="20" name="Text 18"/>
          <p:cNvSpPr/>
          <p:nvPr/>
        </p:nvSpPr>
        <p:spPr>
          <a:xfrm>
            <a:off x="5572720" y="8477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 settings.json</a:t>
            </a:r>
            <a:endParaRPr lang="en-US" sz="1500" dirty="0"/>
          </a:p>
        </p:txBody>
      </p:sp>
      <p:sp>
        <p:nvSpPr>
          <p:cNvPr id="21" name="Text 19"/>
          <p:cNvSpPr/>
          <p:nvPr/>
        </p:nvSpPr>
        <p:spPr>
          <a:xfrm>
            <a:off x="5572720" y="11144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2" name="Text 20"/>
          <p:cNvSpPr/>
          <p:nvPr/>
        </p:nvSpPr>
        <p:spPr>
          <a:xfrm>
            <a:off x="5572720" y="13811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"hooks": {</a:t>
            </a:r>
            <a:endParaRPr lang="en-US" sz="1500" dirty="0"/>
          </a:p>
        </p:txBody>
      </p:sp>
      <p:sp>
        <p:nvSpPr>
          <p:cNvPr id="23" name="Text 21"/>
          <p:cNvSpPr/>
          <p:nvPr/>
        </p:nvSpPr>
        <p:spPr>
          <a:xfrm>
            <a:off x="5572720" y="16478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"PostToolUse": [{</a:t>
            </a:r>
            <a:endParaRPr lang="en-US" sz="1500" dirty="0"/>
          </a:p>
        </p:txBody>
      </p:sp>
      <p:sp>
        <p:nvSpPr>
          <p:cNvPr id="24" name="Text 22"/>
          <p:cNvSpPr/>
          <p:nvPr/>
        </p:nvSpPr>
        <p:spPr>
          <a:xfrm>
            <a:off x="5572720" y="19145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"matcher": "Write",</a:t>
            </a:r>
            <a:endParaRPr lang="en-US" sz="1500" dirty="0"/>
          </a:p>
        </p:txBody>
      </p:sp>
      <p:sp>
        <p:nvSpPr>
          <p:cNvPr id="25" name="Text 23"/>
          <p:cNvSpPr/>
          <p:nvPr/>
        </p:nvSpPr>
        <p:spPr>
          <a:xfrm>
            <a:off x="5572720" y="21812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"hooks": [{</a:t>
            </a:r>
            <a:endParaRPr lang="en-US" sz="1500" dirty="0"/>
          </a:p>
        </p:txBody>
      </p:sp>
      <p:sp>
        <p:nvSpPr>
          <p:cNvPr id="26" name="Text 24"/>
          <p:cNvSpPr/>
          <p:nvPr/>
        </p:nvSpPr>
        <p:spPr>
          <a:xfrm>
            <a:off x="5572720" y="24479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"type": "command",</a:t>
            </a:r>
            <a:endParaRPr lang="en-US" sz="1500" dirty="0"/>
          </a:p>
        </p:txBody>
      </p:sp>
      <p:sp>
        <p:nvSpPr>
          <p:cNvPr id="27" name="Text 25"/>
          <p:cNvSpPr/>
          <p:nvPr/>
        </p:nvSpPr>
        <p:spPr>
          <a:xfrm>
            <a:off x="5572720" y="27146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"command": "prettier --write"</a:t>
            </a:r>
            <a:endParaRPr lang="en-US" sz="1500" dirty="0"/>
          </a:p>
        </p:txBody>
      </p:sp>
      <p:sp>
        <p:nvSpPr>
          <p:cNvPr id="28" name="Text 26"/>
          <p:cNvSpPr/>
          <p:nvPr/>
        </p:nvSpPr>
        <p:spPr>
          <a:xfrm>
            <a:off x="5572720" y="29813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29" name="Text 27"/>
          <p:cNvSpPr/>
          <p:nvPr/>
        </p:nvSpPr>
        <p:spPr>
          <a:xfrm>
            <a:off x="5572720" y="32480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0" name="Text 28"/>
          <p:cNvSpPr/>
          <p:nvPr/>
        </p:nvSpPr>
        <p:spPr>
          <a:xfrm>
            <a:off x="5572720" y="35147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1" name="Text 29"/>
          <p:cNvSpPr/>
          <p:nvPr/>
        </p:nvSpPr>
        <p:spPr>
          <a:xfrm>
            <a:off x="5572720" y="3781425"/>
            <a:ext cx="3156930"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a:t>
            </a:r>
            <a:endParaRPr lang="en-US" sz="1500" dirty="0"/>
          </a:p>
        </p:txBody>
      </p:sp>
      <p:sp>
        <p:nvSpPr>
          <p:cNvPr id="32" name="Text 30"/>
          <p:cNvSpPr/>
          <p:nvPr/>
        </p:nvSpPr>
        <p:spPr>
          <a:xfrm>
            <a:off x="5439370" y="4486275"/>
            <a:ext cx="3361730" cy="361950"/>
          </a:xfrm>
          <a:prstGeom prst="rect">
            <a:avLst/>
          </a:prstGeom>
          <a:solidFill>
            <a:srgbClr val="252B3D"/>
          </a:solidFill>
          <a:ln/>
        </p:spPr>
        <p:txBody>
          <a:bodyPr wrap="square" rtlCol="0" anchor="ctr"/>
          <a:lstStyle/>
          <a:p>
            <a:pPr marL="0" indent="0">
              <a:buNone/>
            </a:pPr>
            <a:endParaRPr lang="en-US" dirty="0"/>
          </a:p>
        </p:txBody>
      </p:sp>
      <p:sp>
        <p:nvSpPr>
          <p:cNvPr id="33" name="Text 31"/>
          <p:cNvSpPr/>
          <p:nvPr/>
        </p:nvSpPr>
        <p:spPr>
          <a:xfrm>
            <a:off x="5522339" y="4600575"/>
            <a:ext cx="3195792"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alpha val="70000"/>
                  </a:srgbClr>
                </a:solidFill>
                <a:latin typeface="Arial" pitchFamily="34" charset="0"/>
                <a:ea typeface="Arial" pitchFamily="34" charset="-122"/>
                <a:cs typeface="Arial" pitchFamily="34" charset="-120"/>
              </a:rPr>
              <a:t>Auto-format files after Claude writes them</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EXTENSIBILITY</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Model Context Protocol (MCP)</a:t>
            </a:r>
            <a:endParaRPr lang="en-US" sz="2400" dirty="0"/>
          </a:p>
        </p:txBody>
      </p:sp>
      <p:sp>
        <p:nvSpPr>
          <p:cNvPr id="4" name="Text 2"/>
          <p:cNvSpPr/>
          <p:nvPr/>
        </p:nvSpPr>
        <p:spPr>
          <a:xfrm>
            <a:off x="457200" y="870496"/>
            <a:ext cx="8394192" cy="186630"/>
          </a:xfrm>
          <a:prstGeom prst="rect">
            <a:avLst/>
          </a:prstGeom>
          <a:noFill/>
          <a:ln/>
        </p:spPr>
        <p:txBody>
          <a:bodyPr wrap="square" lIns="0" tIns="0" rIns="0" bIns="0" rtlCol="0" anchor="t"/>
          <a:lstStyle/>
          <a:p>
            <a:pPr marL="0" indent="0" algn="l">
              <a:lnSpc>
                <a:spcPts val="1470"/>
              </a:lnSpc>
              <a:spcBef>
                <a:spcPts val="600"/>
              </a:spcBef>
              <a:buNone/>
            </a:pPr>
            <a:r>
              <a:rPr lang="en-US" sz="1050" dirty="0">
                <a:solidFill>
                  <a:srgbClr val="6B7280"/>
                </a:solidFill>
                <a:latin typeface="Arial" pitchFamily="34" charset="0"/>
                <a:ea typeface="Arial" pitchFamily="34" charset="-122"/>
                <a:cs typeface="Arial" pitchFamily="34" charset="-120"/>
              </a:rPr>
              <a:t>Connect Claude to external tools and data sources</a:t>
            </a:r>
            <a:endParaRPr lang="en-US" sz="1050" dirty="0"/>
          </a:p>
        </p:txBody>
      </p:sp>
      <p:sp>
        <p:nvSpPr>
          <p:cNvPr id="5" name="Text 3"/>
          <p:cNvSpPr/>
          <p:nvPr/>
        </p:nvSpPr>
        <p:spPr>
          <a:xfrm>
            <a:off x="457200" y="1539329"/>
            <a:ext cx="4038600" cy="1123652"/>
          </a:xfrm>
          <a:prstGeom prst="rect">
            <a:avLst/>
          </a:prstGeom>
          <a:solidFill>
            <a:srgbClr val="FFFFFF"/>
          </a:solidFill>
          <a:ln/>
        </p:spPr>
        <p:txBody>
          <a:bodyPr wrap="square" rtlCol="0" anchor="ctr"/>
          <a:lstStyle/>
          <a:p>
            <a:pPr marL="0" indent="0">
              <a:buNone/>
            </a:pPr>
            <a:endParaRPr lang="en-US" dirty="0"/>
          </a:p>
        </p:txBody>
      </p:sp>
      <p:sp>
        <p:nvSpPr>
          <p:cNvPr id="6" name="Shape 4"/>
          <p:cNvSpPr/>
          <p:nvPr/>
        </p:nvSpPr>
        <p:spPr>
          <a:xfrm>
            <a:off x="476250" y="1539329"/>
            <a:ext cx="0" cy="1123652"/>
          </a:xfrm>
          <a:prstGeom prst="line">
            <a:avLst/>
          </a:prstGeom>
          <a:noFill/>
          <a:ln w="38100">
            <a:solidFill>
              <a:srgbClr val="C9A227"/>
            </a:solidFill>
            <a:prstDash val="solid"/>
          </a:ln>
        </p:spPr>
        <p:txBody>
          <a:bodyPr/>
          <a:lstStyle/>
          <a:p>
            <a:endParaRPr lang="en-US"/>
          </a:p>
        </p:txBody>
      </p:sp>
      <p:sp>
        <p:nvSpPr>
          <p:cNvPr id="7" name="Text 5"/>
          <p:cNvSpPr/>
          <p:nvPr/>
        </p:nvSpPr>
        <p:spPr>
          <a:xfrm>
            <a:off x="666750" y="1710779"/>
            <a:ext cx="3730752" cy="186630"/>
          </a:xfrm>
          <a:prstGeom prst="rect">
            <a:avLst/>
          </a:prstGeom>
          <a:noFill/>
          <a:ln/>
        </p:spPr>
        <p:txBody>
          <a:bodyPr wrap="square" lIns="0" tIns="0" rIns="0" bIns="0" rtlCol="0" anchor="t"/>
          <a:lstStyle/>
          <a:p>
            <a:pPr marL="0" indent="0" algn="l">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What is MCP?</a:t>
            </a:r>
            <a:endParaRPr lang="en-US" sz="1050" dirty="0"/>
          </a:p>
        </p:txBody>
      </p:sp>
      <p:sp>
        <p:nvSpPr>
          <p:cNvPr id="8" name="Text 6"/>
          <p:cNvSpPr/>
          <p:nvPr/>
        </p:nvSpPr>
        <p:spPr>
          <a:xfrm>
            <a:off x="666750" y="2126010"/>
            <a:ext cx="3730752" cy="365522"/>
          </a:xfrm>
          <a:prstGeom prst="rect">
            <a:avLst/>
          </a:prstGeom>
          <a:noFill/>
          <a:ln/>
        </p:spPr>
        <p:txBody>
          <a:bodyPr wrap="square" lIns="0" tIns="0" rIns="0" bIns="0" rtlCol="0" anchor="t"/>
          <a:lstStyle/>
          <a:p>
            <a:pPr marL="0" indent="0" algn="l">
              <a:lnSpc>
                <a:spcPts val="1440"/>
              </a:lnSpc>
              <a:buNone/>
            </a:pPr>
            <a:r>
              <a:rPr lang="en-US" sz="900" dirty="0">
                <a:solidFill>
                  <a:srgbClr val="6B7280"/>
                </a:solidFill>
                <a:latin typeface="Arial" pitchFamily="34" charset="0"/>
                <a:ea typeface="Arial" pitchFamily="34" charset="-122"/>
                <a:cs typeface="Arial" pitchFamily="34" charset="-120"/>
              </a:rPr>
              <a:t>A protocol that lets Claude interact with external services like databases, APIs, and custom tools.</a:t>
            </a:r>
            <a:endParaRPr lang="en-US" sz="900" dirty="0"/>
          </a:p>
        </p:txBody>
      </p:sp>
      <p:sp>
        <p:nvSpPr>
          <p:cNvPr id="9" name="Text 7"/>
          <p:cNvSpPr/>
          <p:nvPr/>
        </p:nvSpPr>
        <p:spPr>
          <a:xfrm>
            <a:off x="4648200" y="1539329"/>
            <a:ext cx="4038600" cy="1123652"/>
          </a:xfrm>
          <a:prstGeom prst="rect">
            <a:avLst/>
          </a:prstGeom>
          <a:solidFill>
            <a:srgbClr val="FFFFFF"/>
          </a:solidFill>
          <a:ln/>
        </p:spPr>
        <p:txBody>
          <a:bodyPr wrap="square" rtlCol="0" anchor="ctr"/>
          <a:lstStyle/>
          <a:p>
            <a:pPr marL="0" indent="0">
              <a:buNone/>
            </a:pPr>
            <a:endParaRPr lang="en-US" dirty="0"/>
          </a:p>
        </p:txBody>
      </p:sp>
      <p:sp>
        <p:nvSpPr>
          <p:cNvPr id="10" name="Shape 8"/>
          <p:cNvSpPr/>
          <p:nvPr/>
        </p:nvSpPr>
        <p:spPr>
          <a:xfrm>
            <a:off x="4667250" y="1539329"/>
            <a:ext cx="0" cy="1123652"/>
          </a:xfrm>
          <a:prstGeom prst="line">
            <a:avLst/>
          </a:prstGeom>
          <a:noFill/>
          <a:ln w="38100">
            <a:solidFill>
              <a:srgbClr val="C9A227"/>
            </a:solidFill>
            <a:prstDash val="solid"/>
          </a:ln>
        </p:spPr>
        <p:txBody>
          <a:bodyPr/>
          <a:lstStyle/>
          <a:p>
            <a:endParaRPr lang="en-US"/>
          </a:p>
        </p:txBody>
      </p:sp>
      <p:sp>
        <p:nvSpPr>
          <p:cNvPr id="11" name="Text 9"/>
          <p:cNvSpPr/>
          <p:nvPr/>
        </p:nvSpPr>
        <p:spPr>
          <a:xfrm>
            <a:off x="4857750" y="1710779"/>
            <a:ext cx="3730752" cy="186630"/>
          </a:xfrm>
          <a:prstGeom prst="rect">
            <a:avLst/>
          </a:prstGeom>
          <a:noFill/>
          <a:ln/>
        </p:spPr>
        <p:txBody>
          <a:bodyPr wrap="square" lIns="0" tIns="0" rIns="0" bIns="0" rtlCol="0" anchor="t"/>
          <a:lstStyle/>
          <a:p>
            <a:pPr marL="0" indent="0" algn="l">
              <a:lnSpc>
                <a:spcPts val="1470"/>
              </a:lnSpc>
              <a:spcAft>
                <a:spcPts val="600"/>
              </a:spcAft>
              <a:buNone/>
            </a:pPr>
            <a:r>
              <a:rPr lang="en-US" sz="1050" b="1" dirty="0">
                <a:solidFill>
                  <a:srgbClr val="1A1F2E"/>
                </a:solidFill>
                <a:latin typeface="Georgia" pitchFamily="34" charset="0"/>
                <a:ea typeface="Georgia" pitchFamily="34" charset="-122"/>
                <a:cs typeface="Georgia" pitchFamily="34" charset="-120"/>
              </a:rPr>
              <a:t>Why It Matters</a:t>
            </a:r>
            <a:endParaRPr lang="en-US" sz="1050" dirty="0"/>
          </a:p>
        </p:txBody>
      </p:sp>
      <p:sp>
        <p:nvSpPr>
          <p:cNvPr id="12" name="Text 10"/>
          <p:cNvSpPr/>
          <p:nvPr/>
        </p:nvSpPr>
        <p:spPr>
          <a:xfrm>
            <a:off x="4857750" y="2126010"/>
            <a:ext cx="3730752" cy="365522"/>
          </a:xfrm>
          <a:prstGeom prst="rect">
            <a:avLst/>
          </a:prstGeom>
          <a:noFill/>
          <a:ln/>
        </p:spPr>
        <p:txBody>
          <a:bodyPr wrap="square" lIns="0" tIns="0" rIns="0" bIns="0" rtlCol="0" anchor="t"/>
          <a:lstStyle/>
          <a:p>
            <a:pPr marL="0" indent="0" algn="l">
              <a:lnSpc>
                <a:spcPts val="1440"/>
              </a:lnSpc>
              <a:buNone/>
            </a:pPr>
            <a:r>
              <a:rPr lang="en-US" sz="900" dirty="0">
                <a:solidFill>
                  <a:srgbClr val="6B7280"/>
                </a:solidFill>
                <a:latin typeface="Arial" pitchFamily="34" charset="0"/>
                <a:ea typeface="Arial" pitchFamily="34" charset="-122"/>
                <a:cs typeface="Arial" pitchFamily="34" charset="-120"/>
              </a:rPr>
              <a:t>Extend Claude's capabilities beyond file operations to interact with any system.</a:t>
            </a:r>
            <a:endParaRPr lang="en-US" sz="900" dirty="0"/>
          </a:p>
        </p:txBody>
      </p:sp>
      <p:sp>
        <p:nvSpPr>
          <p:cNvPr id="13" name="Text 11"/>
          <p:cNvSpPr/>
          <p:nvPr/>
        </p:nvSpPr>
        <p:spPr>
          <a:xfrm>
            <a:off x="457200" y="2967782"/>
            <a:ext cx="8229600" cy="999976"/>
          </a:xfrm>
          <a:prstGeom prst="rect">
            <a:avLst/>
          </a:prstGeom>
          <a:solidFill>
            <a:srgbClr val="1A1F2E"/>
          </a:solidFill>
          <a:ln/>
        </p:spPr>
        <p:txBody>
          <a:bodyPr wrap="square" rtlCol="0" anchor="ctr"/>
          <a:lstStyle/>
          <a:p>
            <a:pPr marL="0" indent="0">
              <a:buNone/>
            </a:pPr>
            <a:endParaRPr lang="en-US" dirty="0"/>
          </a:p>
        </p:txBody>
      </p:sp>
      <p:sp>
        <p:nvSpPr>
          <p:cNvPr id="14" name="Text 12"/>
          <p:cNvSpPr/>
          <p:nvPr/>
        </p:nvSpPr>
        <p:spPr>
          <a:xfrm>
            <a:off x="647700" y="3158282"/>
            <a:ext cx="8005572" cy="159990"/>
          </a:xfrm>
          <a:prstGeom prst="rect">
            <a:avLst/>
          </a:prstGeom>
          <a:noFill/>
          <a:ln/>
        </p:spPr>
        <p:txBody>
          <a:bodyPr wrap="square" lIns="0" tIns="0" rIns="0" bIns="0" rtlCol="0" anchor="t"/>
          <a:lstStyle/>
          <a:p>
            <a:pPr marL="0" indent="0" algn="l">
              <a:lnSpc>
                <a:spcPts val="1260"/>
              </a:lnSpc>
              <a:spcAft>
                <a:spcPts val="900"/>
              </a:spcAft>
              <a:buNone/>
            </a:pPr>
            <a:r>
              <a:rPr lang="en-US" sz="900" b="1" dirty="0">
                <a:solidFill>
                  <a:srgbClr val="C9A227"/>
                </a:solidFill>
                <a:latin typeface="Arial" pitchFamily="34" charset="0"/>
                <a:ea typeface="Arial" pitchFamily="34" charset="-122"/>
                <a:cs typeface="Arial" pitchFamily="34" charset="-120"/>
              </a:rPr>
              <a:t>Available MCP Servers</a:t>
            </a:r>
            <a:endParaRPr lang="en-US" sz="900" dirty="0"/>
          </a:p>
        </p:txBody>
      </p:sp>
      <p:sp>
        <p:nvSpPr>
          <p:cNvPr id="15" name="Text 13"/>
          <p:cNvSpPr/>
          <p:nvPr/>
        </p:nvSpPr>
        <p:spPr>
          <a:xfrm>
            <a:off x="647700" y="3432572"/>
            <a:ext cx="962290"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GitHub</a:t>
            </a:r>
            <a:endParaRPr lang="en-US" sz="900" dirty="0"/>
          </a:p>
        </p:txBody>
      </p:sp>
      <p:sp>
        <p:nvSpPr>
          <p:cNvPr id="16" name="Text 14"/>
          <p:cNvSpPr/>
          <p:nvPr/>
        </p:nvSpPr>
        <p:spPr>
          <a:xfrm>
            <a:off x="647700" y="3630662"/>
            <a:ext cx="962290"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50000"/>
                  </a:srgbClr>
                </a:solidFill>
                <a:latin typeface="Arial" pitchFamily="34" charset="0"/>
                <a:ea typeface="Arial" pitchFamily="34" charset="-122"/>
                <a:cs typeface="Arial" pitchFamily="34" charset="-120"/>
              </a:rPr>
              <a:t>PRs, issues, actions</a:t>
            </a:r>
            <a:endParaRPr lang="en-US" sz="825" dirty="0"/>
          </a:p>
        </p:txBody>
      </p:sp>
      <p:sp>
        <p:nvSpPr>
          <p:cNvPr id="17" name="Text 15"/>
          <p:cNvSpPr/>
          <p:nvPr/>
        </p:nvSpPr>
        <p:spPr>
          <a:xfrm>
            <a:off x="1819721" y="3432572"/>
            <a:ext cx="813977"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PostgreSQL</a:t>
            </a:r>
            <a:endParaRPr lang="en-US" sz="900" dirty="0"/>
          </a:p>
        </p:txBody>
      </p:sp>
      <p:sp>
        <p:nvSpPr>
          <p:cNvPr id="18" name="Text 16"/>
          <p:cNvSpPr/>
          <p:nvPr/>
        </p:nvSpPr>
        <p:spPr>
          <a:xfrm>
            <a:off x="1819721" y="3630662"/>
            <a:ext cx="813977"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50000"/>
                  </a:srgbClr>
                </a:solidFill>
                <a:latin typeface="Arial" pitchFamily="34" charset="0"/>
                <a:ea typeface="Arial" pitchFamily="34" charset="-122"/>
                <a:cs typeface="Arial" pitchFamily="34" charset="-120"/>
              </a:rPr>
              <a:t>Query databases</a:t>
            </a:r>
            <a:endParaRPr lang="en-US" sz="825" dirty="0"/>
          </a:p>
        </p:txBody>
      </p:sp>
      <p:sp>
        <p:nvSpPr>
          <p:cNvPr id="19" name="Text 17"/>
          <p:cNvSpPr/>
          <p:nvPr/>
        </p:nvSpPr>
        <p:spPr>
          <a:xfrm>
            <a:off x="2846338" y="3432572"/>
            <a:ext cx="766462"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Slack</a:t>
            </a:r>
            <a:endParaRPr lang="en-US" sz="900" dirty="0"/>
          </a:p>
        </p:txBody>
      </p:sp>
      <p:sp>
        <p:nvSpPr>
          <p:cNvPr id="20" name="Text 18"/>
          <p:cNvSpPr/>
          <p:nvPr/>
        </p:nvSpPr>
        <p:spPr>
          <a:xfrm>
            <a:off x="2846338" y="3630662"/>
            <a:ext cx="766462"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50000"/>
                  </a:srgbClr>
                </a:solidFill>
                <a:latin typeface="Arial" pitchFamily="34" charset="0"/>
                <a:ea typeface="Arial" pitchFamily="34" charset="-122"/>
                <a:cs typeface="Arial" pitchFamily="34" charset="-120"/>
              </a:rPr>
              <a:t>Send messages</a:t>
            </a:r>
            <a:endParaRPr lang="en-US" sz="825" dirty="0"/>
          </a:p>
        </p:txBody>
      </p:sp>
      <p:sp>
        <p:nvSpPr>
          <p:cNvPr id="21" name="Text 19"/>
          <p:cNvSpPr/>
          <p:nvPr/>
        </p:nvSpPr>
        <p:spPr>
          <a:xfrm>
            <a:off x="3826371" y="3432572"/>
            <a:ext cx="776329"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Browser</a:t>
            </a:r>
            <a:endParaRPr lang="en-US" sz="900" dirty="0"/>
          </a:p>
        </p:txBody>
      </p:sp>
      <p:sp>
        <p:nvSpPr>
          <p:cNvPr id="22" name="Text 20"/>
          <p:cNvSpPr/>
          <p:nvPr/>
        </p:nvSpPr>
        <p:spPr>
          <a:xfrm>
            <a:off x="3826371" y="3630662"/>
            <a:ext cx="776329"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50000"/>
                  </a:srgbClr>
                </a:solidFill>
                <a:latin typeface="Arial" pitchFamily="34" charset="0"/>
                <a:ea typeface="Arial" pitchFamily="34" charset="-122"/>
                <a:cs typeface="Arial" pitchFamily="34" charset="-120"/>
              </a:rPr>
              <a:t>Web automation</a:t>
            </a:r>
            <a:endParaRPr lang="en-US" sz="825" dirty="0"/>
          </a:p>
        </p:txBody>
      </p:sp>
      <p:sp>
        <p:nvSpPr>
          <p:cNvPr id="23" name="Text 21"/>
          <p:cNvSpPr/>
          <p:nvPr/>
        </p:nvSpPr>
        <p:spPr>
          <a:xfrm>
            <a:off x="4816078" y="3432572"/>
            <a:ext cx="701034" cy="159990"/>
          </a:xfrm>
          <a:prstGeom prst="rect">
            <a:avLst/>
          </a:prstGeom>
          <a:noFill/>
          <a:ln/>
        </p:spPr>
        <p:txBody>
          <a:bodyPr wrap="square" lIns="0" tIns="0" rIns="0" bIns="0" rtlCol="0" anchor="t"/>
          <a:lstStyle/>
          <a:p>
            <a:pPr marL="0" indent="0" algn="l">
              <a:lnSpc>
                <a:spcPts val="1260"/>
              </a:lnSpc>
              <a:spcAft>
                <a:spcPts val="300"/>
              </a:spcAft>
              <a:buNone/>
            </a:pPr>
            <a:r>
              <a:rPr lang="en-US" sz="900" dirty="0">
                <a:solidFill>
                  <a:srgbClr val="FFFFFF"/>
                </a:solidFill>
                <a:latin typeface="Arial" pitchFamily="34" charset="0"/>
                <a:ea typeface="Arial" pitchFamily="34" charset="-122"/>
                <a:cs typeface="Arial" pitchFamily="34" charset="-120"/>
              </a:rPr>
              <a:t>Custom</a:t>
            </a:r>
            <a:endParaRPr lang="en-US" sz="900" dirty="0"/>
          </a:p>
        </p:txBody>
      </p:sp>
      <p:sp>
        <p:nvSpPr>
          <p:cNvPr id="24" name="Text 22"/>
          <p:cNvSpPr/>
          <p:nvPr/>
        </p:nvSpPr>
        <p:spPr>
          <a:xfrm>
            <a:off x="4816078" y="3630662"/>
            <a:ext cx="701034"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50000"/>
                  </a:srgbClr>
                </a:solidFill>
                <a:latin typeface="Arial" pitchFamily="34" charset="0"/>
                <a:ea typeface="Arial" pitchFamily="34" charset="-122"/>
                <a:cs typeface="Arial" pitchFamily="34" charset="-120"/>
              </a:rPr>
              <a:t>Build your own</a:t>
            </a:r>
            <a:endParaRPr lang="en-US" sz="825" dirty="0"/>
          </a:p>
        </p:txBody>
      </p:sp>
      <p:sp>
        <p:nvSpPr>
          <p:cNvPr id="25" name="Text 23"/>
          <p:cNvSpPr/>
          <p:nvPr/>
        </p:nvSpPr>
        <p:spPr>
          <a:xfrm>
            <a:off x="457200" y="4272558"/>
            <a:ext cx="8229600" cy="426690"/>
          </a:xfrm>
          <a:prstGeom prst="rect">
            <a:avLst/>
          </a:prstGeom>
          <a:solidFill>
            <a:srgbClr val="FEF3C7"/>
          </a:solidFill>
          <a:ln/>
        </p:spPr>
        <p:txBody>
          <a:bodyPr wrap="square" rtlCol="0" anchor="ctr"/>
          <a:lstStyle/>
          <a:p>
            <a:pPr marL="0" indent="0">
              <a:buNone/>
            </a:pPr>
            <a:endParaRPr lang="en-US" dirty="0"/>
          </a:p>
        </p:txBody>
      </p:sp>
      <p:sp>
        <p:nvSpPr>
          <p:cNvPr id="26" name="Shape 24"/>
          <p:cNvSpPr/>
          <p:nvPr/>
        </p:nvSpPr>
        <p:spPr>
          <a:xfrm>
            <a:off x="476250" y="4272558"/>
            <a:ext cx="0" cy="426690"/>
          </a:xfrm>
          <a:prstGeom prst="line">
            <a:avLst/>
          </a:prstGeom>
          <a:noFill/>
          <a:ln w="38100">
            <a:solidFill>
              <a:srgbClr val="F59E0B"/>
            </a:solidFill>
            <a:prstDash val="solid"/>
          </a:ln>
        </p:spPr>
        <p:txBody>
          <a:bodyPr/>
          <a:lstStyle/>
          <a:p>
            <a:endParaRPr lang="en-US"/>
          </a:p>
        </p:txBody>
      </p:sp>
      <p:sp>
        <p:nvSpPr>
          <p:cNvPr id="27" name="Text 25"/>
          <p:cNvSpPr/>
          <p:nvPr/>
        </p:nvSpPr>
        <p:spPr>
          <a:xfrm>
            <a:off x="666750" y="4405908"/>
            <a:ext cx="8005572" cy="159990"/>
          </a:xfrm>
          <a:prstGeom prst="rect">
            <a:avLst/>
          </a:prstGeom>
          <a:noFill/>
          <a:ln/>
        </p:spPr>
        <p:txBody>
          <a:bodyPr wrap="square" lIns="0" tIns="0" rIns="0" bIns="0" rtlCol="0" anchor="t"/>
          <a:lstStyle/>
          <a:p>
            <a:pPr marL="0" indent="0" algn="l">
              <a:lnSpc>
                <a:spcPts val="1260"/>
              </a:lnSpc>
              <a:buNone/>
            </a:pPr>
            <a:r>
              <a:rPr lang="en-US" sz="900" b="1" dirty="0">
                <a:solidFill>
                  <a:srgbClr val="92400E"/>
                </a:solidFill>
                <a:latin typeface="Arial" pitchFamily="34" charset="0"/>
                <a:ea typeface="Arial" pitchFamily="34" charset="-122"/>
                <a:cs typeface="Arial" pitchFamily="34" charset="-120"/>
              </a:rPr>
              <a:t>Voice Workflow:</a:t>
            </a:r>
            <a:r>
              <a:rPr lang="en-US" sz="900" dirty="0">
                <a:solidFill>
                  <a:srgbClr val="92400E"/>
                </a:solidFill>
                <a:latin typeface="Arial" pitchFamily="34" charset="0"/>
                <a:ea typeface="Arial" pitchFamily="34" charset="-122"/>
                <a:cs typeface="Arial" pitchFamily="34" charset="-120"/>
              </a:rPr>
              <a:t> "Check our GitHub issues and summarize the critical bugs"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81000" y="1593652"/>
            <a:ext cx="3351392"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PARALLEL WORK</a:t>
            </a:r>
            <a:endParaRPr lang="en-US" sz="825" dirty="0"/>
          </a:p>
        </p:txBody>
      </p:sp>
      <p:sp>
        <p:nvSpPr>
          <p:cNvPr id="4" name="Text 2"/>
          <p:cNvSpPr/>
          <p:nvPr/>
        </p:nvSpPr>
        <p:spPr>
          <a:xfrm>
            <a:off x="381000" y="2045047"/>
            <a:ext cx="1680782" cy="411361"/>
          </a:xfrm>
          <a:prstGeom prst="rect">
            <a:avLst/>
          </a:prstGeom>
          <a:noFill/>
          <a:ln/>
        </p:spPr>
        <p:txBody>
          <a:bodyPr wrap="square" lIns="0" tIns="0" rIns="0" bIns="0" rtlCol="0" anchor="t"/>
          <a:lstStyle/>
          <a:p>
            <a:pPr marL="0" indent="0" algn="l">
              <a:lnSpc>
                <a:spcPts val="3240"/>
              </a:lnSpc>
              <a:spcAft>
                <a:spcPts val="1200"/>
              </a:spcAft>
              <a:buNone/>
            </a:pPr>
            <a:r>
              <a:rPr lang="en-US" sz="2700" dirty="0">
                <a:solidFill>
                  <a:srgbClr val="FFFFFF"/>
                </a:solidFill>
                <a:latin typeface="Georgia" pitchFamily="34" charset="0"/>
                <a:ea typeface="Georgia" pitchFamily="34" charset="-122"/>
                <a:cs typeface="Georgia" pitchFamily="34" charset="-120"/>
              </a:rPr>
              <a:t>Sub-agents</a:t>
            </a:r>
            <a:endParaRPr lang="en-US" sz="2700" dirty="0"/>
          </a:p>
        </p:txBody>
      </p:sp>
      <p:sp>
        <p:nvSpPr>
          <p:cNvPr id="5" name="Text 3"/>
          <p:cNvSpPr/>
          <p:nvPr/>
        </p:nvSpPr>
        <p:spPr>
          <a:xfrm>
            <a:off x="381000" y="2761208"/>
            <a:ext cx="4572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81000" y="3123158"/>
            <a:ext cx="3351392"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70000"/>
                  </a:srgbClr>
                </a:solidFill>
                <a:latin typeface="Arial" pitchFamily="34" charset="0"/>
                <a:ea typeface="Arial" pitchFamily="34" charset="-122"/>
                <a:cs typeface="Arial" pitchFamily="34" charset="-120"/>
              </a:rPr>
              <a:t>Claude can spawn child agents to work on subtasks in parallel, then combine results.</a:t>
            </a:r>
            <a:endParaRPr lang="en-US" sz="1050" dirty="0"/>
          </a:p>
        </p:txBody>
      </p:sp>
      <p:sp>
        <p:nvSpPr>
          <p:cNvPr id="7" name="Text 5"/>
          <p:cNvSpPr/>
          <p:nvPr/>
        </p:nvSpPr>
        <p:spPr>
          <a:xfrm>
            <a:off x="4200079" y="0"/>
            <a:ext cx="4943921"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581079" y="696516"/>
            <a:ext cx="4181921" cy="89713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4743004" y="858441"/>
            <a:ext cx="3935233"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How It Works</a:t>
            </a:r>
            <a:endParaRPr lang="en-US" sz="975" dirty="0"/>
          </a:p>
        </p:txBody>
      </p:sp>
      <p:sp>
        <p:nvSpPr>
          <p:cNvPr id="10" name="Text 8"/>
          <p:cNvSpPr/>
          <p:nvPr/>
        </p:nvSpPr>
        <p:spPr>
          <a:xfrm>
            <a:off x="4743004" y="1088827"/>
            <a:ext cx="3935233" cy="34290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Main agent delegates complex tasks to specialized sub-agents. Each sub-agent handles a portion, returning results to the main agent.</a:t>
            </a:r>
            <a:endParaRPr lang="en-US" sz="900" dirty="0"/>
          </a:p>
        </p:txBody>
      </p:sp>
      <p:sp>
        <p:nvSpPr>
          <p:cNvPr id="11" name="Text 9"/>
          <p:cNvSpPr/>
          <p:nvPr/>
        </p:nvSpPr>
        <p:spPr>
          <a:xfrm>
            <a:off x="4581079" y="1707952"/>
            <a:ext cx="4181921" cy="119032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4743004" y="1869877"/>
            <a:ext cx="393523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Example Use Cases</a:t>
            </a:r>
            <a:endParaRPr lang="en-US" sz="975" dirty="0"/>
          </a:p>
        </p:txBody>
      </p:sp>
      <p:sp>
        <p:nvSpPr>
          <p:cNvPr id="13" name="Text 11"/>
          <p:cNvSpPr/>
          <p:nvPr/>
        </p:nvSpPr>
        <p:spPr>
          <a:xfrm>
            <a:off x="4743004" y="2119313"/>
            <a:ext cx="3935233" cy="617041"/>
          </a:xfrm>
          <a:prstGeom prst="rect">
            <a:avLst/>
          </a:prstGeom>
          <a:noFill/>
          <a:ln/>
        </p:spPr>
        <p:txBody>
          <a:bodyPr wrap="square" lIns="0" tIns="0" rIns="0" bIns="0" rtlCol="0" anchor="t"/>
          <a:lstStyle/>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"Refactor all API endpoints" - spawns agents per file</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"Add tests for each module" - parallel test generation</a:t>
            </a:r>
            <a:endParaRPr lang="en-US" sz="900" dirty="0"/>
          </a:p>
          <a:p>
            <a:pPr marL="0" indent="0" algn="l">
              <a:lnSpc>
                <a:spcPts val="1620"/>
              </a:lnSpc>
              <a:buNone/>
            </a:pPr>
            <a:r>
              <a:rPr lang="en-US" sz="900" dirty="0">
                <a:solidFill>
                  <a:srgbClr val="6B7280"/>
                </a:solidFill>
                <a:latin typeface="Arial" pitchFamily="34" charset="0"/>
                <a:ea typeface="Arial" pitchFamily="34" charset="-122"/>
                <a:cs typeface="Arial" pitchFamily="34" charset="-120"/>
              </a:rPr>
              <a:t>"Research and implement" - one researches, one codes</a:t>
            </a:r>
            <a:endParaRPr lang="en-US" sz="900" dirty="0"/>
          </a:p>
        </p:txBody>
      </p:sp>
      <p:sp>
        <p:nvSpPr>
          <p:cNvPr id="14" name="Text 12"/>
          <p:cNvSpPr/>
          <p:nvPr/>
        </p:nvSpPr>
        <p:spPr>
          <a:xfrm>
            <a:off x="4581079" y="3012579"/>
            <a:ext cx="4181921" cy="89326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4743004" y="3174504"/>
            <a:ext cx="393523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Voice Command Example</a:t>
            </a:r>
            <a:endParaRPr lang="en-US" sz="975" dirty="0"/>
          </a:p>
        </p:txBody>
      </p:sp>
      <p:sp>
        <p:nvSpPr>
          <p:cNvPr id="16" name="Text 14"/>
          <p:cNvSpPr/>
          <p:nvPr/>
        </p:nvSpPr>
        <p:spPr>
          <a:xfrm>
            <a:off x="4743004" y="3423940"/>
            <a:ext cx="3935233" cy="319980"/>
          </a:xfrm>
          <a:prstGeom prst="rect">
            <a:avLst/>
          </a:prstGeom>
          <a:noFill/>
          <a:ln/>
        </p:spPr>
        <p:txBody>
          <a:bodyPr wrap="square" lIns="0" tIns="0" rIns="0" bIns="0" rtlCol="0" anchor="t"/>
          <a:lstStyle/>
          <a:p>
            <a:pPr marL="0" indent="0" algn="l">
              <a:lnSpc>
                <a:spcPts val="1260"/>
              </a:lnSpc>
              <a:buNone/>
            </a:pPr>
            <a:r>
              <a:rPr lang="en-US" sz="900" i="1" dirty="0">
                <a:solidFill>
                  <a:srgbClr val="6B7280"/>
                </a:solidFill>
                <a:latin typeface="Arial" pitchFamily="34" charset="0"/>
                <a:ea typeface="Arial" pitchFamily="34" charset="-122"/>
                <a:cs typeface="Arial" pitchFamily="34" charset="-120"/>
              </a:rPr>
              <a:t>"Refactor all the API handlers to use async/await and add error handling to each one"</a:t>
            </a:r>
            <a:endParaRPr lang="en-US" sz="900" dirty="0"/>
          </a:p>
        </p:txBody>
      </p:sp>
      <p:sp>
        <p:nvSpPr>
          <p:cNvPr id="17" name="Text 15"/>
          <p:cNvSpPr/>
          <p:nvPr/>
        </p:nvSpPr>
        <p:spPr>
          <a:xfrm>
            <a:off x="4581079" y="4020145"/>
            <a:ext cx="4181921" cy="426690"/>
          </a:xfrm>
          <a:prstGeom prst="rect">
            <a:avLst/>
          </a:prstGeom>
          <a:solidFill>
            <a:srgbClr val="1A1F2E"/>
          </a:solidFill>
          <a:ln/>
        </p:spPr>
        <p:txBody>
          <a:bodyPr wrap="square" rtlCol="0" anchor="ctr"/>
          <a:lstStyle/>
          <a:p>
            <a:pPr marL="0" indent="0">
              <a:buNone/>
            </a:pPr>
            <a:endParaRPr lang="en-US" dirty="0"/>
          </a:p>
        </p:txBody>
      </p:sp>
      <p:sp>
        <p:nvSpPr>
          <p:cNvPr id="18" name="Text 16"/>
          <p:cNvSpPr/>
          <p:nvPr/>
        </p:nvSpPr>
        <p:spPr>
          <a:xfrm>
            <a:off x="4694707" y="4153495"/>
            <a:ext cx="3954664" cy="159990"/>
          </a:xfrm>
          <a:prstGeom prst="rect">
            <a:avLst/>
          </a:prstGeom>
          <a:noFill/>
          <a:ln/>
        </p:spPr>
        <p:txBody>
          <a:bodyPr wrap="square" lIns="0" tIns="0" rIns="0" bIns="0" rtlCol="0" anchor="t"/>
          <a:lstStyle/>
          <a:p>
            <a:pPr marL="0" indent="0" algn="ctr">
              <a:lnSpc>
                <a:spcPts val="1260"/>
              </a:lnSpc>
              <a:buNone/>
            </a:pPr>
            <a:r>
              <a:rPr lang="en-US" sz="900" b="1" dirty="0">
                <a:solidFill>
                  <a:srgbClr val="C9A227"/>
                </a:solidFill>
                <a:latin typeface="Arial" pitchFamily="34" charset="0"/>
                <a:ea typeface="Arial" pitchFamily="34" charset="-122"/>
                <a:cs typeface="Arial" pitchFamily="34" charset="-120"/>
              </a:rPr>
              <a:t>Benefit:</a:t>
            </a:r>
            <a:r>
              <a:rPr lang="en-US" sz="900" dirty="0">
                <a:solidFill>
                  <a:srgbClr val="C9A227"/>
                </a:solidFill>
                <a:latin typeface="Arial" pitchFamily="34" charset="0"/>
                <a:ea typeface="Arial" pitchFamily="34" charset="-122"/>
                <a:cs typeface="Arial" pitchFamily="34" charset="-120"/>
              </a:rPr>
              <a:t> Complex tasks complete faster with parallel execution</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SAFETY</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Permission and Safety Controls</a:t>
            </a:r>
            <a:endParaRPr lang="en-US" sz="2400" dirty="0"/>
          </a:p>
        </p:txBody>
      </p:sp>
      <p:sp>
        <p:nvSpPr>
          <p:cNvPr id="4" name="Text 2"/>
          <p:cNvSpPr/>
          <p:nvPr/>
        </p:nvSpPr>
        <p:spPr>
          <a:xfrm>
            <a:off x="457200" y="1647974"/>
            <a:ext cx="2647950" cy="267994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657225" y="1847999"/>
            <a:ext cx="2292858"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Permission Modes</a:t>
            </a:r>
            <a:endParaRPr lang="en-US" sz="900" dirty="0"/>
          </a:p>
        </p:txBody>
      </p:sp>
      <p:sp>
        <p:nvSpPr>
          <p:cNvPr id="6" name="Text 4"/>
          <p:cNvSpPr/>
          <p:nvPr/>
        </p:nvSpPr>
        <p:spPr>
          <a:xfrm>
            <a:off x="657225" y="2293739"/>
            <a:ext cx="2292858"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Ask Mode (Default)</a:t>
            </a:r>
            <a:endParaRPr lang="en-US" sz="975" dirty="0"/>
          </a:p>
        </p:txBody>
      </p:sp>
      <p:sp>
        <p:nvSpPr>
          <p:cNvPr id="7" name="Text 5"/>
          <p:cNvSpPr/>
          <p:nvPr/>
        </p:nvSpPr>
        <p:spPr>
          <a:xfrm>
            <a:off x="657225" y="2505075"/>
            <a:ext cx="2292858"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Claude asks permission before file writes and bash commands</a:t>
            </a:r>
            <a:endParaRPr lang="en-US" sz="825" dirty="0"/>
          </a:p>
        </p:txBody>
      </p:sp>
      <p:sp>
        <p:nvSpPr>
          <p:cNvPr id="8" name="Text 6"/>
          <p:cNvSpPr/>
          <p:nvPr/>
        </p:nvSpPr>
        <p:spPr>
          <a:xfrm>
            <a:off x="657225" y="3105150"/>
            <a:ext cx="2292858"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Auto-Accept Mode</a:t>
            </a:r>
            <a:endParaRPr lang="en-US" sz="975" dirty="0"/>
          </a:p>
        </p:txBody>
      </p:sp>
      <p:sp>
        <p:nvSpPr>
          <p:cNvPr id="9" name="Text 7"/>
          <p:cNvSpPr/>
          <p:nvPr/>
        </p:nvSpPr>
        <p:spPr>
          <a:xfrm>
            <a:off x="657225" y="3316486"/>
            <a:ext cx="2292858" cy="157163"/>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Skip confirmations (use with caution)</a:t>
            </a:r>
            <a:endParaRPr lang="en-US" sz="825" dirty="0"/>
          </a:p>
        </p:txBody>
      </p:sp>
      <p:sp>
        <p:nvSpPr>
          <p:cNvPr id="10" name="Text 8"/>
          <p:cNvSpPr/>
          <p:nvPr/>
        </p:nvSpPr>
        <p:spPr>
          <a:xfrm>
            <a:off x="657225" y="3759398"/>
            <a:ext cx="2292858"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Tool Restrictions</a:t>
            </a:r>
            <a:endParaRPr lang="en-US" sz="975" dirty="0"/>
          </a:p>
        </p:txBody>
      </p:sp>
      <p:sp>
        <p:nvSpPr>
          <p:cNvPr id="11" name="Text 9"/>
          <p:cNvSpPr/>
          <p:nvPr/>
        </p:nvSpPr>
        <p:spPr>
          <a:xfrm>
            <a:off x="657225" y="3970734"/>
            <a:ext cx="2292858" cy="157163"/>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--allowedTools to limit capabilities</a:t>
            </a:r>
            <a:endParaRPr lang="en-US" sz="825" dirty="0"/>
          </a:p>
        </p:txBody>
      </p:sp>
      <p:sp>
        <p:nvSpPr>
          <p:cNvPr id="12" name="Text 10"/>
          <p:cNvSpPr/>
          <p:nvPr/>
        </p:nvSpPr>
        <p:spPr>
          <a:xfrm>
            <a:off x="3257550" y="1647974"/>
            <a:ext cx="2647950" cy="267994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3457575" y="1847999"/>
            <a:ext cx="2292858"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Built-in Safety</a:t>
            </a:r>
            <a:endParaRPr lang="en-US" sz="900" dirty="0"/>
          </a:p>
        </p:txBody>
      </p:sp>
      <p:sp>
        <p:nvSpPr>
          <p:cNvPr id="14" name="Text 12"/>
          <p:cNvSpPr/>
          <p:nvPr/>
        </p:nvSpPr>
        <p:spPr>
          <a:xfrm>
            <a:off x="3457575" y="2293739"/>
            <a:ext cx="2292858"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Sandbox Execution</a:t>
            </a:r>
            <a:endParaRPr lang="en-US" sz="975" dirty="0"/>
          </a:p>
        </p:txBody>
      </p:sp>
      <p:sp>
        <p:nvSpPr>
          <p:cNvPr id="15" name="Text 13"/>
          <p:cNvSpPr/>
          <p:nvPr/>
        </p:nvSpPr>
        <p:spPr>
          <a:xfrm>
            <a:off x="3457575" y="2505075"/>
            <a:ext cx="2292858" cy="314325"/>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Commands run in isolated environment when possible</a:t>
            </a:r>
            <a:endParaRPr lang="en-US" sz="825" dirty="0"/>
          </a:p>
        </p:txBody>
      </p:sp>
      <p:sp>
        <p:nvSpPr>
          <p:cNvPr id="16" name="Text 14"/>
          <p:cNvSpPr/>
          <p:nvPr/>
        </p:nvSpPr>
        <p:spPr>
          <a:xfrm>
            <a:off x="3457575" y="3105150"/>
            <a:ext cx="2292858"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Destructive Command Detection</a:t>
            </a:r>
            <a:endParaRPr lang="en-US" sz="975" dirty="0"/>
          </a:p>
        </p:txBody>
      </p:sp>
      <p:sp>
        <p:nvSpPr>
          <p:cNvPr id="17" name="Text 15"/>
          <p:cNvSpPr/>
          <p:nvPr/>
        </p:nvSpPr>
        <p:spPr>
          <a:xfrm>
            <a:off x="3457575" y="3316486"/>
            <a:ext cx="2292858" cy="157163"/>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Extra confirmation for rm, git push --force, etc.</a:t>
            </a:r>
            <a:endParaRPr lang="en-US" sz="825" dirty="0"/>
          </a:p>
        </p:txBody>
      </p:sp>
      <p:sp>
        <p:nvSpPr>
          <p:cNvPr id="18" name="Text 16"/>
          <p:cNvSpPr/>
          <p:nvPr/>
        </p:nvSpPr>
        <p:spPr>
          <a:xfrm>
            <a:off x="3457575" y="3759398"/>
            <a:ext cx="2292858" cy="173236"/>
          </a:xfrm>
          <a:prstGeom prst="rect">
            <a:avLst/>
          </a:prstGeom>
          <a:noFill/>
          <a:ln/>
        </p:spPr>
        <p:txBody>
          <a:bodyPr wrap="square" lIns="0" tIns="0" rIns="0" bIns="0" rtlCol="0" anchor="t"/>
          <a:lstStyle/>
          <a:p>
            <a:pPr marL="0" indent="0" algn="l">
              <a:lnSpc>
                <a:spcPts val="1365"/>
              </a:lnSpc>
              <a:spcAft>
                <a:spcPts val="300"/>
              </a:spcAft>
              <a:buNone/>
            </a:pPr>
            <a:r>
              <a:rPr lang="en-US" sz="975" b="1" dirty="0">
                <a:solidFill>
                  <a:srgbClr val="1A1F2E"/>
                </a:solidFill>
                <a:latin typeface="Arial" pitchFamily="34" charset="0"/>
                <a:ea typeface="Arial" pitchFamily="34" charset="-122"/>
                <a:cs typeface="Arial" pitchFamily="34" charset="-120"/>
              </a:rPr>
              <a:t>Git Integration</a:t>
            </a:r>
            <a:endParaRPr lang="en-US" sz="975" dirty="0"/>
          </a:p>
        </p:txBody>
      </p:sp>
      <p:sp>
        <p:nvSpPr>
          <p:cNvPr id="19" name="Text 17"/>
          <p:cNvSpPr/>
          <p:nvPr/>
        </p:nvSpPr>
        <p:spPr>
          <a:xfrm>
            <a:off x="3457575" y="3970734"/>
            <a:ext cx="2292858" cy="157163"/>
          </a:xfrm>
          <a:prstGeom prst="rect">
            <a:avLst/>
          </a:prstGeom>
          <a:noFill/>
          <a:ln/>
        </p:spPr>
        <p:txBody>
          <a:bodyPr wrap="square" lIns="0" tIns="0" rIns="0" bIns="0" rtlCol="0" anchor="t"/>
          <a:lstStyle/>
          <a:p>
            <a:pPr marL="0" indent="0" algn="l">
              <a:lnSpc>
                <a:spcPts val="1238"/>
              </a:lnSpc>
              <a:buNone/>
            </a:pPr>
            <a:r>
              <a:rPr lang="en-US" sz="825" dirty="0">
                <a:solidFill>
                  <a:srgbClr val="6B7280"/>
                </a:solidFill>
                <a:latin typeface="Arial" pitchFamily="34" charset="0"/>
                <a:ea typeface="Arial" pitchFamily="34" charset="-122"/>
                <a:cs typeface="Arial" pitchFamily="34" charset="-120"/>
              </a:rPr>
              <a:t>Changes visible in git diff for review</a:t>
            </a:r>
            <a:endParaRPr lang="en-US" sz="825" dirty="0"/>
          </a:p>
        </p:txBody>
      </p:sp>
      <p:sp>
        <p:nvSpPr>
          <p:cNvPr id="20" name="Text 18"/>
          <p:cNvSpPr/>
          <p:nvPr/>
        </p:nvSpPr>
        <p:spPr>
          <a:xfrm>
            <a:off x="6057900" y="1511647"/>
            <a:ext cx="2628900" cy="2952601"/>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6248400" y="1702147"/>
            <a:ext cx="2292858"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Best Practices</a:t>
            </a:r>
            <a:endParaRPr lang="en-US" sz="900" dirty="0"/>
          </a:p>
        </p:txBody>
      </p:sp>
      <p:sp>
        <p:nvSpPr>
          <p:cNvPr id="22" name="Text 20"/>
          <p:cNvSpPr/>
          <p:nvPr/>
        </p:nvSpPr>
        <p:spPr>
          <a:xfrm>
            <a:off x="6248400" y="2147888"/>
            <a:ext cx="2292858"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1. Start in Ask Mode</a:t>
            </a:r>
            <a:endParaRPr lang="en-US" sz="900" dirty="0"/>
          </a:p>
        </p:txBody>
      </p:sp>
      <p:sp>
        <p:nvSpPr>
          <p:cNvPr id="23" name="Text 21"/>
          <p:cNvSpPr/>
          <p:nvPr/>
        </p:nvSpPr>
        <p:spPr>
          <a:xfrm>
            <a:off x="6248400" y="2345978"/>
            <a:ext cx="2292858" cy="133350"/>
          </a:xfrm>
          <a:prstGeom prst="rect">
            <a:avLst/>
          </a:prstGeom>
          <a:noFill/>
          <a:ln/>
        </p:spPr>
        <p:txBody>
          <a:bodyPr wrap="square" lIns="0" tIns="0" rIns="0" bIns="0" rtlCol="0" anchor="t"/>
          <a:lstStyle/>
          <a:p>
            <a:pPr marL="0" indent="0" algn="l">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Learn what Claude does</a:t>
            </a:r>
            <a:endParaRPr lang="en-US" sz="750" dirty="0"/>
          </a:p>
        </p:txBody>
      </p:sp>
      <p:sp>
        <p:nvSpPr>
          <p:cNvPr id="24" name="Text 22"/>
          <p:cNvSpPr/>
          <p:nvPr/>
        </p:nvSpPr>
        <p:spPr>
          <a:xfrm>
            <a:off x="6248400" y="2746028"/>
            <a:ext cx="2292858"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2. Use Git Branches</a:t>
            </a:r>
            <a:endParaRPr lang="en-US" sz="900" dirty="0"/>
          </a:p>
        </p:txBody>
      </p:sp>
      <p:sp>
        <p:nvSpPr>
          <p:cNvPr id="25" name="Text 23"/>
          <p:cNvSpPr/>
          <p:nvPr/>
        </p:nvSpPr>
        <p:spPr>
          <a:xfrm>
            <a:off x="6248400" y="2944118"/>
            <a:ext cx="2292858" cy="133350"/>
          </a:xfrm>
          <a:prstGeom prst="rect">
            <a:avLst/>
          </a:prstGeom>
          <a:noFill/>
          <a:ln/>
        </p:spPr>
        <p:txBody>
          <a:bodyPr wrap="square" lIns="0" tIns="0" rIns="0" bIns="0" rtlCol="0" anchor="t"/>
          <a:lstStyle/>
          <a:p>
            <a:pPr marL="0" indent="0" algn="l">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Easy to revert changes</a:t>
            </a:r>
            <a:endParaRPr lang="en-US" sz="750" dirty="0"/>
          </a:p>
        </p:txBody>
      </p:sp>
      <p:sp>
        <p:nvSpPr>
          <p:cNvPr id="26" name="Text 24"/>
          <p:cNvSpPr/>
          <p:nvPr/>
        </p:nvSpPr>
        <p:spPr>
          <a:xfrm>
            <a:off x="6248400" y="3344168"/>
            <a:ext cx="2292858"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3. Review Diffs</a:t>
            </a:r>
            <a:endParaRPr lang="en-US" sz="900" dirty="0"/>
          </a:p>
        </p:txBody>
      </p:sp>
      <p:sp>
        <p:nvSpPr>
          <p:cNvPr id="27" name="Text 25"/>
          <p:cNvSpPr/>
          <p:nvPr/>
        </p:nvSpPr>
        <p:spPr>
          <a:xfrm>
            <a:off x="6248400" y="3542258"/>
            <a:ext cx="2292858" cy="133350"/>
          </a:xfrm>
          <a:prstGeom prst="rect">
            <a:avLst/>
          </a:prstGeom>
          <a:noFill/>
          <a:ln/>
        </p:spPr>
        <p:txBody>
          <a:bodyPr wrap="square" lIns="0" tIns="0" rIns="0" bIns="0" rtlCol="0" anchor="t"/>
          <a:lstStyle/>
          <a:p>
            <a:pPr marL="0" indent="0" algn="l">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Check before committing</a:t>
            </a:r>
            <a:endParaRPr lang="en-US" sz="750" dirty="0"/>
          </a:p>
        </p:txBody>
      </p:sp>
      <p:sp>
        <p:nvSpPr>
          <p:cNvPr id="28" name="Text 26"/>
          <p:cNvSpPr/>
          <p:nvPr/>
        </p:nvSpPr>
        <p:spPr>
          <a:xfrm>
            <a:off x="6248400" y="3942308"/>
            <a:ext cx="2292858" cy="159990"/>
          </a:xfrm>
          <a:prstGeom prst="rect">
            <a:avLst/>
          </a:prstGeom>
          <a:noFill/>
          <a:ln/>
        </p:spPr>
        <p:txBody>
          <a:bodyPr wrap="square" lIns="0" tIns="0" rIns="0" bIns="0" rtlCol="0" anchor="t"/>
          <a:lstStyle/>
          <a:p>
            <a:pPr marL="0" indent="0" algn="l">
              <a:lnSpc>
                <a:spcPts val="1260"/>
              </a:lnSpc>
              <a:buNone/>
            </a:pPr>
            <a:r>
              <a:rPr lang="en-US" sz="900" dirty="0">
                <a:solidFill>
                  <a:srgbClr val="FFFFFF"/>
                </a:solidFill>
                <a:latin typeface="Arial" pitchFamily="34" charset="0"/>
                <a:ea typeface="Arial" pitchFamily="34" charset="-122"/>
                <a:cs typeface="Arial" pitchFamily="34" charset="-120"/>
              </a:rPr>
              <a:t>4. Test Changes</a:t>
            </a:r>
            <a:endParaRPr lang="en-US" sz="900" dirty="0"/>
          </a:p>
        </p:txBody>
      </p:sp>
      <p:sp>
        <p:nvSpPr>
          <p:cNvPr id="29" name="Text 27"/>
          <p:cNvSpPr/>
          <p:nvPr/>
        </p:nvSpPr>
        <p:spPr>
          <a:xfrm>
            <a:off x="6248400" y="4140398"/>
            <a:ext cx="2292858" cy="133350"/>
          </a:xfrm>
          <a:prstGeom prst="rect">
            <a:avLst/>
          </a:prstGeom>
          <a:noFill/>
          <a:ln/>
        </p:spPr>
        <p:txBody>
          <a:bodyPr wrap="square" lIns="0" tIns="0" rIns="0" bIns="0" rtlCol="0" anchor="t"/>
          <a:lstStyle/>
          <a:p>
            <a:pPr marL="0" indent="0" algn="l">
              <a:lnSpc>
                <a:spcPts val="1050"/>
              </a:lnSpc>
              <a:spcBef>
                <a:spcPts val="300"/>
              </a:spcBef>
              <a:buNone/>
            </a:pPr>
            <a:r>
              <a:rPr lang="en-US" sz="750" dirty="0">
                <a:solidFill>
                  <a:srgbClr val="FFFFFF">
                    <a:alpha val="50000"/>
                  </a:srgbClr>
                </a:solidFill>
                <a:latin typeface="Arial" pitchFamily="34" charset="0"/>
                <a:ea typeface="Arial" pitchFamily="34" charset="-122"/>
                <a:cs typeface="Arial" pitchFamily="34" charset="-120"/>
              </a:rPr>
              <a:t>Run tests after edits</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381000" y="2667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SUMMARY</a:t>
            </a:r>
            <a:endParaRPr lang="en-US" sz="750" dirty="0"/>
          </a:p>
        </p:txBody>
      </p:sp>
      <p:sp>
        <p:nvSpPr>
          <p:cNvPr id="3" name="Text 1"/>
          <p:cNvSpPr/>
          <p:nvPr/>
        </p:nvSpPr>
        <p:spPr>
          <a:xfrm>
            <a:off x="381000" y="4572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FFFFFF"/>
                </a:solidFill>
                <a:latin typeface="Georgia" pitchFamily="34" charset="0"/>
                <a:ea typeface="Georgia" pitchFamily="34" charset="-122"/>
                <a:cs typeface="Georgia" pitchFamily="34" charset="-120"/>
              </a:rPr>
              <a:t>CLI Tools Best Practices</a:t>
            </a:r>
            <a:endParaRPr lang="en-US" sz="2100" dirty="0"/>
          </a:p>
        </p:txBody>
      </p:sp>
      <p:sp>
        <p:nvSpPr>
          <p:cNvPr id="4" name="Text 2"/>
          <p:cNvSpPr/>
          <p:nvPr/>
        </p:nvSpPr>
        <p:spPr>
          <a:xfrm>
            <a:off x="381000" y="1816596"/>
            <a:ext cx="2705100" cy="2272308"/>
          </a:xfrm>
          <a:prstGeom prst="rect">
            <a:avLst/>
          </a:prstGeom>
          <a:solidFill>
            <a:srgbClr val="252B3D"/>
          </a:solidFill>
          <a:ln/>
        </p:spPr>
        <p:txBody>
          <a:bodyPr wrap="square" rtlCol="0" anchor="ctr"/>
          <a:lstStyle/>
          <a:p>
            <a:pPr marL="0" indent="0">
              <a:buNone/>
            </a:pPr>
            <a:endParaRPr lang="en-US" dirty="0"/>
          </a:p>
        </p:txBody>
      </p:sp>
      <p:sp>
        <p:nvSpPr>
          <p:cNvPr id="5" name="Text 3"/>
          <p:cNvSpPr/>
          <p:nvPr/>
        </p:nvSpPr>
        <p:spPr>
          <a:xfrm>
            <a:off x="571500" y="2007096"/>
            <a:ext cx="2370582" cy="146596"/>
          </a:xfrm>
          <a:prstGeom prst="rect">
            <a:avLst/>
          </a:prstGeom>
          <a:noFill/>
          <a:ln/>
        </p:spPr>
        <p:txBody>
          <a:bodyPr wrap="square" lIns="0" tIns="0" rIns="0" bIns="0" rtlCol="0" anchor="t"/>
          <a:lstStyle/>
          <a:p>
            <a:pPr marL="0" indent="0" algn="l">
              <a:lnSpc>
                <a:spcPts val="1155"/>
              </a:lnSpc>
              <a:spcAft>
                <a:spcPts val="1050"/>
              </a:spcAft>
              <a:buNone/>
            </a:pPr>
            <a:r>
              <a:rPr lang="en-US" sz="825" b="1" dirty="0">
                <a:solidFill>
                  <a:srgbClr val="C9A227"/>
                </a:solidFill>
                <a:latin typeface="Arial" pitchFamily="34" charset="0"/>
                <a:ea typeface="Arial" pitchFamily="34" charset="-122"/>
                <a:cs typeface="Arial" pitchFamily="34" charset="-120"/>
              </a:rPr>
              <a:t>Getting Started</a:t>
            </a:r>
            <a:endParaRPr lang="en-US" sz="825" dirty="0"/>
          </a:p>
        </p:txBody>
      </p:sp>
      <p:sp>
        <p:nvSpPr>
          <p:cNvPr id="6" name="Text 4"/>
          <p:cNvSpPr/>
          <p:nvPr/>
        </p:nvSpPr>
        <p:spPr>
          <a:xfrm>
            <a:off x="571500" y="2439442"/>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Create CLAUDE.md first</a:t>
            </a:r>
            <a:endParaRPr lang="en-US" sz="825" dirty="0"/>
          </a:p>
        </p:txBody>
      </p:sp>
      <p:sp>
        <p:nvSpPr>
          <p:cNvPr id="7" name="Text 5"/>
          <p:cNvSpPr/>
          <p:nvPr/>
        </p:nvSpPr>
        <p:spPr>
          <a:xfrm>
            <a:off x="571500" y="2614613"/>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Run /init in your project root</a:t>
            </a:r>
            <a:endParaRPr lang="en-US" sz="750" dirty="0"/>
          </a:p>
        </p:txBody>
      </p:sp>
      <p:sp>
        <p:nvSpPr>
          <p:cNvPr id="8" name="Text 6"/>
          <p:cNvSpPr/>
          <p:nvPr/>
        </p:nvSpPr>
        <p:spPr>
          <a:xfrm>
            <a:off x="571500" y="3014663"/>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Start in Ask Mode</a:t>
            </a:r>
            <a:endParaRPr lang="en-US" sz="825" dirty="0"/>
          </a:p>
        </p:txBody>
      </p:sp>
      <p:sp>
        <p:nvSpPr>
          <p:cNvPr id="9" name="Text 7"/>
          <p:cNvSpPr/>
          <p:nvPr/>
        </p:nvSpPr>
        <p:spPr>
          <a:xfrm>
            <a:off x="571500" y="3189833"/>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Understand Claude's actions</a:t>
            </a:r>
            <a:endParaRPr lang="en-US" sz="750" dirty="0"/>
          </a:p>
        </p:txBody>
      </p:sp>
      <p:sp>
        <p:nvSpPr>
          <p:cNvPr id="10" name="Text 8"/>
          <p:cNvSpPr/>
          <p:nvPr/>
        </p:nvSpPr>
        <p:spPr>
          <a:xfrm>
            <a:off x="571500" y="3589883"/>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Use git branches</a:t>
            </a:r>
            <a:endParaRPr lang="en-US" sz="825" dirty="0"/>
          </a:p>
        </p:txBody>
      </p:sp>
      <p:sp>
        <p:nvSpPr>
          <p:cNvPr id="11" name="Text 9"/>
          <p:cNvSpPr/>
          <p:nvPr/>
        </p:nvSpPr>
        <p:spPr>
          <a:xfrm>
            <a:off x="571500" y="3765054"/>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Easy rollback if needed</a:t>
            </a:r>
            <a:endParaRPr lang="en-US" sz="750" dirty="0"/>
          </a:p>
        </p:txBody>
      </p:sp>
      <p:sp>
        <p:nvSpPr>
          <p:cNvPr id="12" name="Text 10"/>
          <p:cNvSpPr/>
          <p:nvPr/>
        </p:nvSpPr>
        <p:spPr>
          <a:xfrm>
            <a:off x="3219450" y="1816596"/>
            <a:ext cx="2705100" cy="2272308"/>
          </a:xfrm>
          <a:prstGeom prst="rect">
            <a:avLst/>
          </a:prstGeom>
          <a:solidFill>
            <a:srgbClr val="252B3D"/>
          </a:solidFill>
          <a:ln/>
        </p:spPr>
        <p:txBody>
          <a:bodyPr wrap="square" rtlCol="0" anchor="ctr"/>
          <a:lstStyle/>
          <a:p>
            <a:pPr marL="0" indent="0">
              <a:buNone/>
            </a:pPr>
            <a:endParaRPr lang="en-US" dirty="0"/>
          </a:p>
        </p:txBody>
      </p:sp>
      <p:sp>
        <p:nvSpPr>
          <p:cNvPr id="13" name="Text 11"/>
          <p:cNvSpPr/>
          <p:nvPr/>
        </p:nvSpPr>
        <p:spPr>
          <a:xfrm>
            <a:off x="3409950" y="2007096"/>
            <a:ext cx="2370582" cy="146596"/>
          </a:xfrm>
          <a:prstGeom prst="rect">
            <a:avLst/>
          </a:prstGeom>
          <a:noFill/>
          <a:ln/>
        </p:spPr>
        <p:txBody>
          <a:bodyPr wrap="square" lIns="0" tIns="0" rIns="0" bIns="0" rtlCol="0" anchor="t"/>
          <a:lstStyle/>
          <a:p>
            <a:pPr marL="0" indent="0" algn="l">
              <a:lnSpc>
                <a:spcPts val="1155"/>
              </a:lnSpc>
              <a:spcAft>
                <a:spcPts val="1050"/>
              </a:spcAft>
              <a:buNone/>
            </a:pPr>
            <a:r>
              <a:rPr lang="en-US" sz="825" b="1" dirty="0">
                <a:solidFill>
                  <a:srgbClr val="C9A227"/>
                </a:solidFill>
                <a:latin typeface="Arial" pitchFamily="34" charset="0"/>
                <a:ea typeface="Arial" pitchFamily="34" charset="-122"/>
                <a:cs typeface="Arial" pitchFamily="34" charset="-120"/>
              </a:rPr>
              <a:t>Voice Workflow Tips</a:t>
            </a:r>
            <a:endParaRPr lang="en-US" sz="825" dirty="0"/>
          </a:p>
        </p:txBody>
      </p:sp>
      <p:sp>
        <p:nvSpPr>
          <p:cNvPr id="14" name="Text 12"/>
          <p:cNvSpPr/>
          <p:nvPr/>
        </p:nvSpPr>
        <p:spPr>
          <a:xfrm>
            <a:off x="3409950" y="2439442"/>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Think high-level</a:t>
            </a:r>
            <a:endParaRPr lang="en-US" sz="825" dirty="0"/>
          </a:p>
        </p:txBody>
      </p:sp>
      <p:sp>
        <p:nvSpPr>
          <p:cNvPr id="15" name="Text 13"/>
          <p:cNvSpPr/>
          <p:nvPr/>
        </p:nvSpPr>
        <p:spPr>
          <a:xfrm>
            <a:off x="3409950" y="2614613"/>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"Add validation" not "type if statement"</a:t>
            </a:r>
            <a:endParaRPr lang="en-US" sz="750" dirty="0"/>
          </a:p>
        </p:txBody>
      </p:sp>
      <p:sp>
        <p:nvSpPr>
          <p:cNvPr id="16" name="Text 14"/>
          <p:cNvSpPr/>
          <p:nvPr/>
        </p:nvSpPr>
        <p:spPr>
          <a:xfrm>
            <a:off x="3409950" y="3014663"/>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Be specific about scope</a:t>
            </a:r>
            <a:endParaRPr lang="en-US" sz="825" dirty="0"/>
          </a:p>
        </p:txBody>
      </p:sp>
      <p:sp>
        <p:nvSpPr>
          <p:cNvPr id="17" name="Text 15"/>
          <p:cNvSpPr/>
          <p:nvPr/>
        </p:nvSpPr>
        <p:spPr>
          <a:xfrm>
            <a:off x="3409950" y="3189833"/>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"In the user module" helps focus</a:t>
            </a:r>
            <a:endParaRPr lang="en-US" sz="750" dirty="0"/>
          </a:p>
        </p:txBody>
      </p:sp>
      <p:sp>
        <p:nvSpPr>
          <p:cNvPr id="18" name="Text 16"/>
          <p:cNvSpPr/>
          <p:nvPr/>
        </p:nvSpPr>
        <p:spPr>
          <a:xfrm>
            <a:off x="3409950" y="3589883"/>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Iterate naturally</a:t>
            </a:r>
            <a:endParaRPr lang="en-US" sz="825" dirty="0"/>
          </a:p>
        </p:txBody>
      </p:sp>
      <p:sp>
        <p:nvSpPr>
          <p:cNvPr id="19" name="Text 17"/>
          <p:cNvSpPr/>
          <p:nvPr/>
        </p:nvSpPr>
        <p:spPr>
          <a:xfrm>
            <a:off x="3409950" y="3765054"/>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"Actually, make it a dropdown"</a:t>
            </a:r>
            <a:endParaRPr lang="en-US" sz="750" dirty="0"/>
          </a:p>
        </p:txBody>
      </p:sp>
      <p:sp>
        <p:nvSpPr>
          <p:cNvPr id="20" name="Text 18"/>
          <p:cNvSpPr/>
          <p:nvPr/>
        </p:nvSpPr>
        <p:spPr>
          <a:xfrm>
            <a:off x="6057900" y="1816596"/>
            <a:ext cx="2705100" cy="2272308"/>
          </a:xfrm>
          <a:prstGeom prst="rect">
            <a:avLst/>
          </a:prstGeom>
          <a:solidFill>
            <a:srgbClr val="252B3D"/>
          </a:solidFill>
          <a:ln/>
        </p:spPr>
        <p:txBody>
          <a:bodyPr wrap="square" rtlCol="0" anchor="ctr"/>
          <a:lstStyle/>
          <a:p>
            <a:pPr marL="0" indent="0">
              <a:buNone/>
            </a:pPr>
            <a:endParaRPr lang="en-US" dirty="0"/>
          </a:p>
        </p:txBody>
      </p:sp>
      <p:sp>
        <p:nvSpPr>
          <p:cNvPr id="21" name="Text 19"/>
          <p:cNvSpPr/>
          <p:nvPr/>
        </p:nvSpPr>
        <p:spPr>
          <a:xfrm>
            <a:off x="6248400" y="2007096"/>
            <a:ext cx="2370582" cy="146596"/>
          </a:xfrm>
          <a:prstGeom prst="rect">
            <a:avLst/>
          </a:prstGeom>
          <a:noFill/>
          <a:ln/>
        </p:spPr>
        <p:txBody>
          <a:bodyPr wrap="square" lIns="0" tIns="0" rIns="0" bIns="0" rtlCol="0" anchor="t"/>
          <a:lstStyle/>
          <a:p>
            <a:pPr marL="0" indent="0" algn="l">
              <a:lnSpc>
                <a:spcPts val="1155"/>
              </a:lnSpc>
              <a:spcAft>
                <a:spcPts val="1050"/>
              </a:spcAft>
              <a:buNone/>
            </a:pPr>
            <a:r>
              <a:rPr lang="en-US" sz="825" b="1" dirty="0">
                <a:solidFill>
                  <a:srgbClr val="C9A227"/>
                </a:solidFill>
                <a:latin typeface="Arial" pitchFamily="34" charset="0"/>
                <a:ea typeface="Arial" pitchFamily="34" charset="-122"/>
                <a:cs typeface="Arial" pitchFamily="34" charset="-120"/>
              </a:rPr>
              <a:t>Advanced Usage</a:t>
            </a:r>
            <a:endParaRPr lang="en-US" sz="825" dirty="0"/>
          </a:p>
        </p:txBody>
      </p:sp>
      <p:sp>
        <p:nvSpPr>
          <p:cNvPr id="22" name="Text 20"/>
          <p:cNvSpPr/>
          <p:nvPr/>
        </p:nvSpPr>
        <p:spPr>
          <a:xfrm>
            <a:off x="6248400" y="2439442"/>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Set up hooks</a:t>
            </a:r>
            <a:endParaRPr lang="en-US" sz="825" dirty="0"/>
          </a:p>
        </p:txBody>
      </p:sp>
      <p:sp>
        <p:nvSpPr>
          <p:cNvPr id="23" name="Text 21"/>
          <p:cNvSpPr/>
          <p:nvPr/>
        </p:nvSpPr>
        <p:spPr>
          <a:xfrm>
            <a:off x="6248400" y="2614613"/>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Auto-format, auto-lint</a:t>
            </a:r>
            <a:endParaRPr lang="en-US" sz="750" dirty="0"/>
          </a:p>
        </p:txBody>
      </p:sp>
      <p:sp>
        <p:nvSpPr>
          <p:cNvPr id="24" name="Text 22"/>
          <p:cNvSpPr/>
          <p:nvPr/>
        </p:nvSpPr>
        <p:spPr>
          <a:xfrm>
            <a:off x="6248400" y="3014663"/>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Configure MCP servers</a:t>
            </a:r>
            <a:endParaRPr lang="en-US" sz="825" dirty="0"/>
          </a:p>
        </p:txBody>
      </p:sp>
      <p:sp>
        <p:nvSpPr>
          <p:cNvPr id="25" name="Text 23"/>
          <p:cNvSpPr/>
          <p:nvPr/>
        </p:nvSpPr>
        <p:spPr>
          <a:xfrm>
            <a:off x="6248400" y="3189833"/>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Extend capabilities</a:t>
            </a:r>
            <a:endParaRPr lang="en-US" sz="750" dirty="0"/>
          </a:p>
        </p:txBody>
      </p:sp>
      <p:sp>
        <p:nvSpPr>
          <p:cNvPr id="26" name="Text 24"/>
          <p:cNvSpPr/>
          <p:nvPr/>
        </p:nvSpPr>
        <p:spPr>
          <a:xfrm>
            <a:off x="6248400" y="3589883"/>
            <a:ext cx="2370582" cy="146596"/>
          </a:xfrm>
          <a:prstGeom prst="rect">
            <a:avLst/>
          </a:prstGeom>
          <a:noFill/>
          <a:ln/>
        </p:spPr>
        <p:txBody>
          <a:bodyPr wrap="square" lIns="0" tIns="0" rIns="0" bIns="0" rtlCol="0" anchor="t"/>
          <a:lstStyle/>
          <a:p>
            <a:pPr marL="0" indent="0" algn="l">
              <a:lnSpc>
                <a:spcPts val="1155"/>
              </a:lnSpc>
              <a:spcAft>
                <a:spcPts val="225"/>
              </a:spcAft>
              <a:buNone/>
            </a:pPr>
            <a:r>
              <a:rPr lang="en-US" sz="825" dirty="0">
                <a:solidFill>
                  <a:srgbClr val="FFFFFF"/>
                </a:solidFill>
                <a:latin typeface="Arial" pitchFamily="34" charset="0"/>
                <a:ea typeface="Arial" pitchFamily="34" charset="-122"/>
                <a:cs typeface="Arial" pitchFamily="34" charset="-120"/>
              </a:rPr>
              <a:t>Use /compact regularly</a:t>
            </a:r>
            <a:endParaRPr lang="en-US" sz="825" dirty="0"/>
          </a:p>
        </p:txBody>
      </p:sp>
      <p:sp>
        <p:nvSpPr>
          <p:cNvPr id="27" name="Text 25"/>
          <p:cNvSpPr/>
          <p:nvPr/>
        </p:nvSpPr>
        <p:spPr>
          <a:xfrm>
            <a:off x="6248400" y="3765054"/>
            <a:ext cx="2370582" cy="13335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50000"/>
                  </a:srgbClr>
                </a:solidFill>
                <a:latin typeface="Arial" pitchFamily="34" charset="0"/>
                <a:ea typeface="Arial" pitchFamily="34" charset="-122"/>
                <a:cs typeface="Arial" pitchFamily="34" charset="-120"/>
              </a:rPr>
              <a:t>Manage context window</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6</a:t>
            </a:r>
            <a:endParaRPr lang="en-US" sz="1050" dirty="0"/>
          </a:p>
        </p:txBody>
      </p:sp>
      <p:sp>
        <p:nvSpPr>
          <p:cNvPr id="3" name="Text 1"/>
          <p:cNvSpPr/>
          <p:nvPr/>
        </p:nvSpPr>
        <p:spPr>
          <a:xfrm>
            <a:off x="2726816" y="1570732"/>
            <a:ext cx="3690220"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CI/CD Integration</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2702525" y="2818507"/>
            <a:ext cx="3738949"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Automating AI-Assisted Development Workflows</a:t>
            </a:r>
            <a:endParaRPr lang="en-US" sz="1350" dirty="0"/>
          </a:p>
        </p:txBody>
      </p:sp>
      <p:sp>
        <p:nvSpPr>
          <p:cNvPr id="6" name="Text 4"/>
          <p:cNvSpPr/>
          <p:nvPr/>
        </p:nvSpPr>
        <p:spPr>
          <a:xfrm>
            <a:off x="3931444" y="3591818"/>
            <a:ext cx="1280964"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39246" y="3753743"/>
            <a:ext cx="665360"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10 minutes</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CI/CD</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GitHub Actions with Claude Code</a:t>
            </a:r>
            <a:endParaRPr lang="en-US" sz="2100" dirty="0"/>
          </a:p>
        </p:txBody>
      </p:sp>
      <p:sp>
        <p:nvSpPr>
          <p:cNvPr id="4" name="Text 2"/>
          <p:cNvSpPr/>
          <p:nvPr/>
        </p:nvSpPr>
        <p:spPr>
          <a:xfrm>
            <a:off x="381000" y="1591717"/>
            <a:ext cx="3636913" cy="249331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542925" y="1753642"/>
            <a:ext cx="3379324"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C9A227"/>
                </a:solidFill>
                <a:latin typeface="Arial" pitchFamily="34" charset="0"/>
                <a:ea typeface="Arial" pitchFamily="34" charset="-122"/>
                <a:cs typeface="Arial" pitchFamily="34" charset="-120"/>
              </a:rPr>
              <a:t>Automation Use Cases</a:t>
            </a:r>
            <a:endParaRPr lang="en-US" sz="825" dirty="0"/>
          </a:p>
        </p:txBody>
      </p:sp>
      <p:sp>
        <p:nvSpPr>
          <p:cNvPr id="6" name="Text 4"/>
          <p:cNvSpPr/>
          <p:nvPr/>
        </p:nvSpPr>
        <p:spPr>
          <a:xfrm>
            <a:off x="542925" y="2147888"/>
            <a:ext cx="3379324" cy="133350"/>
          </a:xfrm>
          <a:prstGeom prst="rect">
            <a:avLst/>
          </a:prstGeom>
          <a:noFill/>
          <a:ln/>
        </p:spPr>
        <p:txBody>
          <a:bodyPr wrap="square" lIns="0" tIns="0" rIns="0" bIns="0" rtlCol="0" anchor="t"/>
          <a:lstStyle/>
          <a:p>
            <a:pPr marL="0" indent="0" algn="l">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PR Code Review</a:t>
            </a:r>
            <a:endParaRPr lang="en-US" sz="750" dirty="0"/>
          </a:p>
        </p:txBody>
      </p:sp>
      <p:sp>
        <p:nvSpPr>
          <p:cNvPr id="7" name="Text 5"/>
          <p:cNvSpPr/>
          <p:nvPr/>
        </p:nvSpPr>
        <p:spPr>
          <a:xfrm>
            <a:off x="542925" y="2300288"/>
            <a:ext cx="3379324"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AI-assisted review on every PR</a:t>
            </a:r>
            <a:endParaRPr lang="en-US" sz="675" dirty="0"/>
          </a:p>
        </p:txBody>
      </p:sp>
      <p:sp>
        <p:nvSpPr>
          <p:cNvPr id="8" name="Text 6"/>
          <p:cNvSpPr/>
          <p:nvPr/>
        </p:nvSpPr>
        <p:spPr>
          <a:xfrm>
            <a:off x="542925" y="2648843"/>
            <a:ext cx="3379324" cy="133350"/>
          </a:xfrm>
          <a:prstGeom prst="rect">
            <a:avLst/>
          </a:prstGeom>
          <a:noFill/>
          <a:ln/>
        </p:spPr>
        <p:txBody>
          <a:bodyPr wrap="square" lIns="0" tIns="0" rIns="0" bIns="0" rtlCol="0" anchor="t"/>
          <a:lstStyle/>
          <a:p>
            <a:pPr marL="0" indent="0" algn="l">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Issue Triage</a:t>
            </a:r>
            <a:endParaRPr lang="en-US" sz="750" dirty="0"/>
          </a:p>
        </p:txBody>
      </p:sp>
      <p:sp>
        <p:nvSpPr>
          <p:cNvPr id="9" name="Text 7"/>
          <p:cNvSpPr/>
          <p:nvPr/>
        </p:nvSpPr>
        <p:spPr>
          <a:xfrm>
            <a:off x="542925" y="2801243"/>
            <a:ext cx="3379324"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Auto-label and categorize issues</a:t>
            </a:r>
            <a:endParaRPr lang="en-US" sz="675" dirty="0"/>
          </a:p>
        </p:txBody>
      </p:sp>
      <p:sp>
        <p:nvSpPr>
          <p:cNvPr id="10" name="Text 8"/>
          <p:cNvSpPr/>
          <p:nvPr/>
        </p:nvSpPr>
        <p:spPr>
          <a:xfrm>
            <a:off x="542925" y="3149798"/>
            <a:ext cx="3379324" cy="133350"/>
          </a:xfrm>
          <a:prstGeom prst="rect">
            <a:avLst/>
          </a:prstGeom>
          <a:noFill/>
          <a:ln/>
        </p:spPr>
        <p:txBody>
          <a:bodyPr wrap="square" lIns="0" tIns="0" rIns="0" bIns="0" rtlCol="0" anchor="t"/>
          <a:lstStyle/>
          <a:p>
            <a:pPr marL="0" indent="0" algn="l">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Documentation</a:t>
            </a:r>
            <a:endParaRPr lang="en-US" sz="750" dirty="0"/>
          </a:p>
        </p:txBody>
      </p:sp>
      <p:sp>
        <p:nvSpPr>
          <p:cNvPr id="11" name="Text 9"/>
          <p:cNvSpPr/>
          <p:nvPr/>
        </p:nvSpPr>
        <p:spPr>
          <a:xfrm>
            <a:off x="542925" y="3302198"/>
            <a:ext cx="3379324"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Generate docs from code changes</a:t>
            </a:r>
            <a:endParaRPr lang="en-US" sz="675" dirty="0"/>
          </a:p>
        </p:txBody>
      </p:sp>
      <p:sp>
        <p:nvSpPr>
          <p:cNvPr id="12" name="Text 10"/>
          <p:cNvSpPr/>
          <p:nvPr/>
        </p:nvSpPr>
        <p:spPr>
          <a:xfrm>
            <a:off x="542925" y="3650754"/>
            <a:ext cx="3379324" cy="133350"/>
          </a:xfrm>
          <a:prstGeom prst="rect">
            <a:avLst/>
          </a:prstGeom>
          <a:noFill/>
          <a:ln/>
        </p:spPr>
        <p:txBody>
          <a:bodyPr wrap="square" lIns="0" tIns="0" rIns="0" bIns="0" rtlCol="0" anchor="t"/>
          <a:lstStyle/>
          <a:p>
            <a:pPr marL="0" indent="0" algn="l">
              <a:lnSpc>
                <a:spcPts val="1050"/>
              </a:lnSpc>
              <a:spcAft>
                <a:spcPts val="150"/>
              </a:spcAft>
              <a:buNone/>
            </a:pPr>
            <a:r>
              <a:rPr lang="en-US" sz="750" b="1" dirty="0">
                <a:solidFill>
                  <a:srgbClr val="1A1F2E"/>
                </a:solidFill>
                <a:latin typeface="Arial" pitchFamily="34" charset="0"/>
                <a:ea typeface="Arial" pitchFamily="34" charset="-122"/>
                <a:cs typeface="Arial" pitchFamily="34" charset="-120"/>
              </a:rPr>
              <a:t>Test Generation</a:t>
            </a:r>
            <a:endParaRPr lang="en-US" sz="750" dirty="0"/>
          </a:p>
        </p:txBody>
      </p:sp>
      <p:sp>
        <p:nvSpPr>
          <p:cNvPr id="13" name="Text 11"/>
          <p:cNvSpPr/>
          <p:nvPr/>
        </p:nvSpPr>
        <p:spPr>
          <a:xfrm>
            <a:off x="542925" y="3803154"/>
            <a:ext cx="3379324"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Create tests for new functions</a:t>
            </a:r>
            <a:endParaRPr lang="en-US" sz="675" dirty="0"/>
          </a:p>
        </p:txBody>
      </p:sp>
      <p:sp>
        <p:nvSpPr>
          <p:cNvPr id="14" name="Text 12"/>
          <p:cNvSpPr/>
          <p:nvPr/>
        </p:nvSpPr>
        <p:spPr>
          <a:xfrm>
            <a:off x="4151263" y="825847"/>
            <a:ext cx="4611737" cy="4025205"/>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4303663" y="978247"/>
            <a:ext cx="4393076" cy="133350"/>
          </a:xfrm>
          <a:prstGeom prst="rect">
            <a:avLst/>
          </a:prstGeom>
          <a:noFill/>
          <a:ln/>
        </p:spPr>
        <p:txBody>
          <a:bodyPr wrap="square" lIns="0" tIns="0" rIns="0" bIns="0" rtlCol="0" anchor="t"/>
          <a:lstStyle/>
          <a:p>
            <a:pPr marL="0" indent="0" algn="l">
              <a:lnSpc>
                <a:spcPts val="1050"/>
              </a:lnSpc>
              <a:spcAft>
                <a:spcPts val="600"/>
              </a:spcAft>
              <a:buNone/>
            </a:pPr>
            <a:r>
              <a:rPr lang="en-US" sz="750" dirty="0">
                <a:solidFill>
                  <a:srgbClr val="C9A227"/>
                </a:solidFill>
                <a:latin typeface="Arial" pitchFamily="34" charset="0"/>
                <a:ea typeface="Arial" pitchFamily="34" charset="-122"/>
                <a:cs typeface="Arial" pitchFamily="34" charset="-120"/>
              </a:rPr>
              <a:t>WORKFLOW EXAMPLE</a:t>
            </a:r>
            <a:endParaRPr lang="en-US" sz="750" dirty="0"/>
          </a:p>
        </p:txBody>
      </p:sp>
      <p:sp>
        <p:nvSpPr>
          <p:cNvPr id="16" name="Text 14"/>
          <p:cNvSpPr/>
          <p:nvPr/>
        </p:nvSpPr>
        <p:spPr>
          <a:xfrm>
            <a:off x="4303663" y="1340197"/>
            <a:ext cx="4306937" cy="2857500"/>
          </a:xfrm>
          <a:prstGeom prst="rect">
            <a:avLst/>
          </a:prstGeom>
          <a:solidFill>
            <a:srgbClr val="252B3D"/>
          </a:solidFill>
          <a:ln/>
        </p:spPr>
        <p:txBody>
          <a:bodyPr wrap="square" rtlCol="0" anchor="ctr"/>
          <a:lstStyle/>
          <a:p>
            <a:pPr marL="0" indent="0">
              <a:buNone/>
            </a:pPr>
            <a:endParaRPr lang="en-US" dirty="0"/>
          </a:p>
        </p:txBody>
      </p:sp>
      <p:sp>
        <p:nvSpPr>
          <p:cNvPr id="17" name="Text 15"/>
          <p:cNvSpPr/>
          <p:nvPr/>
        </p:nvSpPr>
        <p:spPr>
          <a:xfrm>
            <a:off x="4398913" y="14354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 .github/workflows/claude.yml</a:t>
            </a:r>
            <a:endParaRPr lang="en-US" sz="1500" dirty="0"/>
          </a:p>
        </p:txBody>
      </p:sp>
      <p:sp>
        <p:nvSpPr>
          <p:cNvPr id="18" name="Text 16"/>
          <p:cNvSpPr/>
          <p:nvPr/>
        </p:nvSpPr>
        <p:spPr>
          <a:xfrm>
            <a:off x="4398913" y="17021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name: Claude Code Review</a:t>
            </a:r>
            <a:endParaRPr lang="en-US" sz="1500" dirty="0"/>
          </a:p>
        </p:txBody>
      </p:sp>
      <p:sp>
        <p:nvSpPr>
          <p:cNvPr id="19" name="Text 17"/>
          <p:cNvSpPr/>
          <p:nvPr/>
        </p:nvSpPr>
        <p:spPr>
          <a:xfrm>
            <a:off x="4398913" y="19688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on: [pull_request]</a:t>
            </a:r>
            <a:endParaRPr lang="en-US" sz="1500" dirty="0"/>
          </a:p>
        </p:txBody>
      </p:sp>
      <p:sp>
        <p:nvSpPr>
          <p:cNvPr id="20" name="Text 18"/>
          <p:cNvSpPr/>
          <p:nvPr/>
        </p:nvSpPr>
        <p:spPr>
          <a:xfrm>
            <a:off x="4398913" y="22355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jobs:</a:t>
            </a:r>
            <a:endParaRPr lang="en-US" sz="1500" dirty="0"/>
          </a:p>
        </p:txBody>
      </p:sp>
      <p:sp>
        <p:nvSpPr>
          <p:cNvPr id="21" name="Text 19"/>
          <p:cNvSpPr/>
          <p:nvPr/>
        </p:nvSpPr>
        <p:spPr>
          <a:xfrm>
            <a:off x="4398913" y="25022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review:</a:t>
            </a:r>
            <a:endParaRPr lang="en-US" sz="1500" dirty="0"/>
          </a:p>
        </p:txBody>
      </p:sp>
      <p:sp>
        <p:nvSpPr>
          <p:cNvPr id="22" name="Text 20"/>
          <p:cNvSpPr/>
          <p:nvPr/>
        </p:nvSpPr>
        <p:spPr>
          <a:xfrm>
            <a:off x="4398913" y="27689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runs-on: ubuntu-latest</a:t>
            </a:r>
            <a:endParaRPr lang="en-US" sz="1500" dirty="0"/>
          </a:p>
        </p:txBody>
      </p:sp>
      <p:sp>
        <p:nvSpPr>
          <p:cNvPr id="23" name="Text 21"/>
          <p:cNvSpPr/>
          <p:nvPr/>
        </p:nvSpPr>
        <p:spPr>
          <a:xfrm>
            <a:off x="4398913" y="30356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steps:</a:t>
            </a:r>
            <a:endParaRPr lang="en-US" sz="1500" dirty="0"/>
          </a:p>
        </p:txBody>
      </p:sp>
      <p:sp>
        <p:nvSpPr>
          <p:cNvPr id="24" name="Text 22"/>
          <p:cNvSpPr/>
          <p:nvPr/>
        </p:nvSpPr>
        <p:spPr>
          <a:xfrm>
            <a:off x="4398913" y="33023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uses: anthropics/claude-code-action</a:t>
            </a:r>
            <a:endParaRPr lang="en-US" sz="1500" dirty="0"/>
          </a:p>
        </p:txBody>
      </p:sp>
      <p:sp>
        <p:nvSpPr>
          <p:cNvPr id="25" name="Text 23"/>
          <p:cNvSpPr/>
          <p:nvPr/>
        </p:nvSpPr>
        <p:spPr>
          <a:xfrm>
            <a:off x="4398913" y="35690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FFFFFF"/>
                </a:solidFill>
                <a:latin typeface="Arial" pitchFamily="34" charset="0"/>
                <a:ea typeface="Arial" pitchFamily="34" charset="-122"/>
                <a:cs typeface="Arial" pitchFamily="34" charset="-120"/>
              </a:rPr>
              <a:t>with:</a:t>
            </a:r>
            <a:endParaRPr lang="en-US" sz="1500" dirty="0"/>
          </a:p>
        </p:txBody>
      </p:sp>
      <p:sp>
        <p:nvSpPr>
          <p:cNvPr id="26" name="Text 24"/>
          <p:cNvSpPr/>
          <p:nvPr/>
        </p:nvSpPr>
        <p:spPr>
          <a:xfrm>
            <a:off x="4398913" y="3835747"/>
            <a:ext cx="4198766" cy="266700"/>
          </a:xfrm>
          <a:prstGeom prst="rect">
            <a:avLst/>
          </a:prstGeom>
          <a:noFill/>
          <a:ln/>
        </p:spPr>
        <p:txBody>
          <a:bodyPr wrap="square" lIns="0" tIns="0" rIns="0" bIns="0" rtlCol="0" anchor="t"/>
          <a:lstStyle/>
          <a:p>
            <a:pPr marL="0" indent="0" algn="l">
              <a:lnSpc>
                <a:spcPts val="2100"/>
              </a:lnSpc>
              <a:buNone/>
            </a:pPr>
            <a:r>
              <a:rPr lang="en-US" sz="1500" dirty="0">
                <a:solidFill>
                  <a:srgbClr val="C9A227"/>
                </a:solidFill>
                <a:latin typeface="Arial" pitchFamily="34" charset="0"/>
                <a:ea typeface="Arial" pitchFamily="34" charset="-122"/>
                <a:cs typeface="Arial" pitchFamily="34" charset="-120"/>
              </a:rPr>
              <a:t>prompt: "Review this PR"</a:t>
            </a:r>
            <a:endParaRPr lang="en-US" sz="1500" dirty="0"/>
          </a:p>
        </p:txBody>
      </p:sp>
      <p:sp>
        <p:nvSpPr>
          <p:cNvPr id="27" name="Text 25"/>
          <p:cNvSpPr/>
          <p:nvPr/>
        </p:nvSpPr>
        <p:spPr>
          <a:xfrm>
            <a:off x="4303663" y="4426297"/>
            <a:ext cx="4306937" cy="272355"/>
          </a:xfrm>
          <a:prstGeom prst="rect">
            <a:avLst/>
          </a:prstGeom>
          <a:solidFill>
            <a:srgbClr val="252B3D"/>
          </a:solidFill>
          <a:ln/>
        </p:spPr>
        <p:txBody>
          <a:bodyPr wrap="square" rtlCol="0" anchor="ctr"/>
          <a:lstStyle/>
          <a:p>
            <a:pPr marL="0" indent="0">
              <a:buNone/>
            </a:pPr>
            <a:endParaRPr lang="en-US" dirty="0"/>
          </a:p>
        </p:txBody>
      </p:sp>
      <p:sp>
        <p:nvSpPr>
          <p:cNvPr id="28" name="Text 26"/>
          <p:cNvSpPr/>
          <p:nvPr/>
        </p:nvSpPr>
        <p:spPr>
          <a:xfrm>
            <a:off x="4338318" y="4502497"/>
            <a:ext cx="4237628" cy="119955"/>
          </a:xfrm>
          <a:prstGeom prst="rect">
            <a:avLst/>
          </a:prstGeom>
          <a:noFill/>
          <a:ln/>
        </p:spPr>
        <p:txBody>
          <a:bodyPr wrap="square" lIns="0" tIns="0" rIns="0" bIns="0" rtlCol="0" anchor="t"/>
          <a:lstStyle/>
          <a:p>
            <a:pPr marL="0" indent="0" algn="ctr">
              <a:lnSpc>
                <a:spcPts val="945"/>
              </a:lnSpc>
              <a:buNone/>
            </a:pPr>
            <a:r>
              <a:rPr lang="en-US" sz="675" dirty="0">
                <a:solidFill>
                  <a:srgbClr val="FFFFFF">
                    <a:alpha val="70000"/>
                  </a:srgbClr>
                </a:solidFill>
                <a:latin typeface="Arial" pitchFamily="34" charset="0"/>
                <a:ea typeface="Arial" pitchFamily="34" charset="-122"/>
                <a:cs typeface="Arial" pitchFamily="34" charset="-120"/>
              </a:rPr>
              <a:t>Runs Claude on every pull request</a:t>
            </a:r>
            <a:endParaRPr lang="en-US" sz="67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81000" y="1410742"/>
            <a:ext cx="3351392"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C9A227"/>
                </a:solidFill>
                <a:latin typeface="Arial" pitchFamily="34" charset="0"/>
                <a:ea typeface="Arial" pitchFamily="34" charset="-122"/>
                <a:cs typeface="Arial" pitchFamily="34" charset="-120"/>
              </a:rPr>
              <a:t>ENTERPRISE</a:t>
            </a:r>
            <a:endParaRPr lang="en-US" sz="825" dirty="0"/>
          </a:p>
        </p:txBody>
      </p:sp>
      <p:sp>
        <p:nvSpPr>
          <p:cNvPr id="4" name="Text 2"/>
          <p:cNvSpPr/>
          <p:nvPr/>
        </p:nvSpPr>
        <p:spPr>
          <a:xfrm>
            <a:off x="381000" y="1862138"/>
            <a:ext cx="2069402" cy="777180"/>
          </a:xfrm>
          <a:prstGeom prst="rect">
            <a:avLst/>
          </a:prstGeom>
          <a:noFill/>
          <a:ln/>
        </p:spPr>
        <p:txBody>
          <a:bodyPr wrap="square" lIns="0" tIns="0" rIns="0" bIns="0" rtlCol="0" anchor="t"/>
          <a:lstStyle/>
          <a:p>
            <a:pPr marL="0" indent="0" algn="l">
              <a:lnSpc>
                <a:spcPts val="3060"/>
              </a:lnSpc>
              <a:spcAft>
                <a:spcPts val="1200"/>
              </a:spcAft>
              <a:buNone/>
            </a:pPr>
            <a:r>
              <a:rPr lang="en-US" sz="2550" dirty="0">
                <a:solidFill>
                  <a:srgbClr val="FFFFFF"/>
                </a:solidFill>
                <a:latin typeface="Georgia" pitchFamily="34" charset="0"/>
                <a:ea typeface="Georgia" pitchFamily="34" charset="-122"/>
                <a:cs typeface="Georgia" pitchFamily="34" charset="-120"/>
              </a:rPr>
              <a:t>GitHub Copilot Enterprise</a:t>
            </a:r>
            <a:endParaRPr lang="en-US" sz="2550" dirty="0"/>
          </a:p>
        </p:txBody>
      </p:sp>
      <p:sp>
        <p:nvSpPr>
          <p:cNvPr id="5" name="Text 3"/>
          <p:cNvSpPr/>
          <p:nvPr/>
        </p:nvSpPr>
        <p:spPr>
          <a:xfrm>
            <a:off x="381000" y="2944118"/>
            <a:ext cx="457200" cy="1905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381000" y="3306068"/>
            <a:ext cx="3351392"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70000"/>
                  </a:srgbClr>
                </a:solidFill>
                <a:latin typeface="Arial" pitchFamily="34" charset="0"/>
                <a:ea typeface="Arial" pitchFamily="34" charset="-122"/>
                <a:cs typeface="Arial" pitchFamily="34" charset="-120"/>
              </a:rPr>
              <a:t>Enterprise-grade AI coding assistant with organization-wide customization and security controls.</a:t>
            </a:r>
            <a:endParaRPr lang="en-US" sz="1050" dirty="0"/>
          </a:p>
        </p:txBody>
      </p:sp>
      <p:sp>
        <p:nvSpPr>
          <p:cNvPr id="7" name="Text 5"/>
          <p:cNvSpPr/>
          <p:nvPr/>
        </p:nvSpPr>
        <p:spPr>
          <a:xfrm>
            <a:off x="4200079" y="0"/>
            <a:ext cx="4943921"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581079" y="704106"/>
            <a:ext cx="4181921" cy="7256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4743004" y="866031"/>
            <a:ext cx="3935233"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Custom Models</a:t>
            </a:r>
            <a:endParaRPr lang="en-US" sz="975" dirty="0"/>
          </a:p>
        </p:txBody>
      </p:sp>
      <p:sp>
        <p:nvSpPr>
          <p:cNvPr id="10" name="Text 8"/>
          <p:cNvSpPr/>
          <p:nvPr/>
        </p:nvSpPr>
        <p:spPr>
          <a:xfrm>
            <a:off x="4743004" y="1096417"/>
            <a:ext cx="3935233" cy="17145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Fine-tuned on your organization's codebase for more relevant suggestions.</a:t>
            </a:r>
            <a:endParaRPr lang="en-US" sz="900" dirty="0"/>
          </a:p>
        </p:txBody>
      </p:sp>
      <p:sp>
        <p:nvSpPr>
          <p:cNvPr id="11" name="Text 9"/>
          <p:cNvSpPr/>
          <p:nvPr/>
        </p:nvSpPr>
        <p:spPr>
          <a:xfrm>
            <a:off x="4581079" y="1544092"/>
            <a:ext cx="4181921" cy="7256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2" name="Text 10"/>
          <p:cNvSpPr/>
          <p:nvPr/>
        </p:nvSpPr>
        <p:spPr>
          <a:xfrm>
            <a:off x="4743004" y="1706017"/>
            <a:ext cx="3935233"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Knowledge Bases</a:t>
            </a:r>
            <a:endParaRPr lang="en-US" sz="975" dirty="0"/>
          </a:p>
        </p:txBody>
      </p:sp>
      <p:sp>
        <p:nvSpPr>
          <p:cNvPr id="13" name="Text 11"/>
          <p:cNvSpPr/>
          <p:nvPr/>
        </p:nvSpPr>
        <p:spPr>
          <a:xfrm>
            <a:off x="4743004" y="1936403"/>
            <a:ext cx="3935233" cy="17145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Index internal docs, wikis, and repos for context-aware assistance.</a:t>
            </a:r>
            <a:endParaRPr lang="en-US" sz="900" dirty="0"/>
          </a:p>
        </p:txBody>
      </p:sp>
      <p:sp>
        <p:nvSpPr>
          <p:cNvPr id="14" name="Text 12"/>
          <p:cNvSpPr/>
          <p:nvPr/>
        </p:nvSpPr>
        <p:spPr>
          <a:xfrm>
            <a:off x="4581079" y="2384078"/>
            <a:ext cx="4181921" cy="7256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5" name="Text 13"/>
          <p:cNvSpPr/>
          <p:nvPr/>
        </p:nvSpPr>
        <p:spPr>
          <a:xfrm>
            <a:off x="4743004" y="2546003"/>
            <a:ext cx="3935233"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Policy Controls</a:t>
            </a:r>
            <a:endParaRPr lang="en-US" sz="975" dirty="0"/>
          </a:p>
        </p:txBody>
      </p:sp>
      <p:sp>
        <p:nvSpPr>
          <p:cNvPr id="16" name="Text 14"/>
          <p:cNvSpPr/>
          <p:nvPr/>
        </p:nvSpPr>
        <p:spPr>
          <a:xfrm>
            <a:off x="4743004" y="2776389"/>
            <a:ext cx="3935233" cy="17145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Content exclusions, IP indemnity, and compliance certifications.</a:t>
            </a:r>
            <a:endParaRPr lang="en-US" sz="900" dirty="0"/>
          </a:p>
        </p:txBody>
      </p:sp>
      <p:sp>
        <p:nvSpPr>
          <p:cNvPr id="17" name="Text 15"/>
          <p:cNvSpPr/>
          <p:nvPr/>
        </p:nvSpPr>
        <p:spPr>
          <a:xfrm>
            <a:off x="4581079" y="3224064"/>
            <a:ext cx="4181921" cy="7256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4743004" y="3385989"/>
            <a:ext cx="3935233" cy="173236"/>
          </a:xfrm>
          <a:prstGeom prst="rect">
            <a:avLst/>
          </a:prstGeom>
          <a:noFill/>
          <a:ln/>
        </p:spPr>
        <p:txBody>
          <a:bodyPr wrap="square" lIns="0" tIns="0" rIns="0" bIns="0" rtlCol="0" anchor="t"/>
          <a:lstStyle/>
          <a:p>
            <a:pPr marL="0" indent="0" algn="l">
              <a:lnSpc>
                <a:spcPts val="1365"/>
              </a:lnSpc>
              <a:spcAft>
                <a:spcPts val="450"/>
              </a:spcAft>
              <a:buNone/>
            </a:pPr>
            <a:r>
              <a:rPr lang="en-US" sz="975" b="1" dirty="0">
                <a:solidFill>
                  <a:srgbClr val="1A1F2E"/>
                </a:solidFill>
                <a:latin typeface="Arial" pitchFamily="34" charset="0"/>
                <a:ea typeface="Arial" pitchFamily="34" charset="-122"/>
                <a:cs typeface="Arial" pitchFamily="34" charset="-120"/>
              </a:rPr>
              <a:t>Analytics Dashboard</a:t>
            </a:r>
            <a:endParaRPr lang="en-US" sz="975" dirty="0"/>
          </a:p>
        </p:txBody>
      </p:sp>
      <p:sp>
        <p:nvSpPr>
          <p:cNvPr id="19" name="Text 17"/>
          <p:cNvSpPr/>
          <p:nvPr/>
        </p:nvSpPr>
        <p:spPr>
          <a:xfrm>
            <a:off x="4743004" y="3616375"/>
            <a:ext cx="3935233" cy="17145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Usage metrics, adoption tracking, and productivity insights.</a:t>
            </a:r>
            <a:endParaRPr lang="en-US" sz="900" dirty="0"/>
          </a:p>
        </p:txBody>
      </p:sp>
      <p:sp>
        <p:nvSpPr>
          <p:cNvPr id="20" name="Text 18"/>
          <p:cNvSpPr/>
          <p:nvPr/>
        </p:nvSpPr>
        <p:spPr>
          <a:xfrm>
            <a:off x="4581079" y="4064050"/>
            <a:ext cx="4181921" cy="375196"/>
          </a:xfrm>
          <a:prstGeom prst="rect">
            <a:avLst/>
          </a:prstGeom>
          <a:solidFill>
            <a:srgbClr val="FEF3C7"/>
          </a:solidFill>
          <a:ln/>
        </p:spPr>
        <p:txBody>
          <a:bodyPr wrap="square" rtlCol="0" anchor="ctr"/>
          <a:lstStyle/>
          <a:p>
            <a:pPr marL="0" indent="0">
              <a:buNone/>
            </a:pPr>
            <a:endParaRPr lang="en-US" dirty="0"/>
          </a:p>
        </p:txBody>
      </p:sp>
      <p:sp>
        <p:nvSpPr>
          <p:cNvPr id="21" name="Shape 19"/>
          <p:cNvSpPr/>
          <p:nvPr/>
        </p:nvSpPr>
        <p:spPr>
          <a:xfrm>
            <a:off x="4600129" y="4064050"/>
            <a:ext cx="0" cy="375196"/>
          </a:xfrm>
          <a:prstGeom prst="line">
            <a:avLst/>
          </a:prstGeom>
          <a:noFill/>
          <a:ln w="38100">
            <a:solidFill>
              <a:srgbClr val="F59E0B"/>
            </a:solidFill>
            <a:prstDash val="solid"/>
          </a:ln>
        </p:spPr>
        <p:txBody>
          <a:bodyPr/>
          <a:lstStyle/>
          <a:p>
            <a:endParaRPr lang="en-US"/>
          </a:p>
        </p:txBody>
      </p:sp>
      <p:sp>
        <p:nvSpPr>
          <p:cNvPr id="22" name="Text 20"/>
          <p:cNvSpPr/>
          <p:nvPr/>
        </p:nvSpPr>
        <p:spPr>
          <a:xfrm>
            <a:off x="4771579" y="4178350"/>
            <a:ext cx="3915802" cy="146596"/>
          </a:xfrm>
          <a:prstGeom prst="rect">
            <a:avLst/>
          </a:prstGeom>
          <a:noFill/>
          <a:ln/>
        </p:spPr>
        <p:txBody>
          <a:bodyPr wrap="square" lIns="0" tIns="0" rIns="0" bIns="0" rtlCol="0" anchor="t"/>
          <a:lstStyle/>
          <a:p>
            <a:pPr marL="0" indent="0" algn="l">
              <a:lnSpc>
                <a:spcPts val="1155"/>
              </a:lnSpc>
              <a:buNone/>
            </a:pPr>
            <a:r>
              <a:rPr lang="en-US" sz="825" b="1" dirty="0">
                <a:solidFill>
                  <a:srgbClr val="92400E"/>
                </a:solidFill>
                <a:latin typeface="Arial" pitchFamily="34" charset="0"/>
                <a:ea typeface="Arial" pitchFamily="34" charset="-122"/>
                <a:cs typeface="Arial" pitchFamily="34" charset="-120"/>
              </a:rPr>
              <a:t>Note:</a:t>
            </a:r>
            <a:r>
              <a:rPr lang="en-US" sz="825" dirty="0">
                <a:solidFill>
                  <a:srgbClr val="92400E"/>
                </a:solidFill>
                <a:latin typeface="Arial" pitchFamily="34" charset="0"/>
                <a:ea typeface="Arial" pitchFamily="34" charset="-122"/>
                <a:cs typeface="Arial" pitchFamily="34" charset="-120"/>
              </a:rPr>
              <a:t> Requires GitHub Enterprise Cloud subscription</a:t>
            </a:r>
            <a:endParaRPr lang="en-US" sz="8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7954"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7</a:t>
            </a:r>
            <a:endParaRPr lang="en-US" sz="1050" dirty="0"/>
          </a:p>
        </p:txBody>
      </p:sp>
      <p:sp>
        <p:nvSpPr>
          <p:cNvPr id="3" name="Text 1"/>
          <p:cNvSpPr/>
          <p:nvPr/>
        </p:nvSpPr>
        <p:spPr>
          <a:xfrm>
            <a:off x="2299789" y="1570732"/>
            <a:ext cx="4544273"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Putting It All Together</a:t>
            </a:r>
            <a:endParaRPr lang="en-US" sz="3900" dirty="0"/>
          </a:p>
        </p:txBody>
      </p:sp>
      <p:sp>
        <p:nvSpPr>
          <p:cNvPr id="4" name="Text 2"/>
          <p:cNvSpPr/>
          <p:nvPr/>
        </p:nvSpPr>
        <p:spPr>
          <a:xfrm>
            <a:off x="4190851"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538213" y="2818507"/>
            <a:ext cx="2067276"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Voice Workflow Integration</a:t>
            </a:r>
            <a:endParaRPr lang="en-US" sz="1350" dirty="0"/>
          </a:p>
        </p:txBody>
      </p:sp>
      <p:sp>
        <p:nvSpPr>
          <p:cNvPr id="6" name="Text 4"/>
          <p:cNvSpPr/>
          <p:nvPr/>
        </p:nvSpPr>
        <p:spPr>
          <a:xfrm>
            <a:off x="3968502" y="3591818"/>
            <a:ext cx="1206847"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77045" y="3753743"/>
            <a:ext cx="589761"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5 minutes</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WORKFLOW</a:t>
            </a:r>
            <a:endParaRPr lang="en-US" sz="825" dirty="0"/>
          </a:p>
        </p:txBody>
      </p:sp>
      <p:sp>
        <p:nvSpPr>
          <p:cNvPr id="3" name="Text 1"/>
          <p:cNvSpPr/>
          <p:nvPr/>
        </p:nvSpPr>
        <p:spPr>
          <a:xfrm>
            <a:off x="457200" y="489496"/>
            <a:ext cx="470230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End-to-End Voice Development Flow</a:t>
            </a:r>
            <a:endParaRPr lang="en-US" sz="2400" dirty="0"/>
          </a:p>
        </p:txBody>
      </p:sp>
      <p:sp>
        <p:nvSpPr>
          <p:cNvPr id="4" name="Text 2"/>
          <p:cNvSpPr/>
          <p:nvPr/>
        </p:nvSpPr>
        <p:spPr>
          <a:xfrm>
            <a:off x="700980" y="1165027"/>
            <a:ext cx="609600" cy="609600"/>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947487" y="1309836"/>
            <a:ext cx="116586" cy="319980"/>
          </a:xfrm>
          <a:prstGeom prst="rect">
            <a:avLst/>
          </a:prstGeom>
          <a:noFill/>
          <a:ln/>
        </p:spPr>
        <p:txBody>
          <a:bodyPr wrap="square" lIns="0" tIns="0" rIns="0" bIns="0" rtlCol="0" anchor="t"/>
          <a:lstStyle/>
          <a:p>
            <a:pPr marL="0" indent="0" algn="ctr">
              <a:lnSpc>
                <a:spcPts val="2520"/>
              </a:lnSpc>
              <a:buNone/>
            </a:pPr>
            <a:r>
              <a:rPr lang="en-US" sz="1800" dirty="0">
                <a:solidFill>
                  <a:srgbClr val="C9A227"/>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834088" y="2022277"/>
            <a:ext cx="343534" cy="159990"/>
          </a:xfrm>
          <a:prstGeom prst="rect">
            <a:avLst/>
          </a:prstGeom>
          <a:noFill/>
          <a:ln/>
        </p:spPr>
        <p:txBody>
          <a:bodyPr wrap="square" lIns="0" tIns="0" rIns="0" bIns="0" rtlCol="0" anchor="t"/>
          <a:lstStyle/>
          <a:p>
            <a:pPr marL="0" indent="0" algn="ctr">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Speak</a:t>
            </a:r>
            <a:endParaRPr lang="en-US" sz="900" dirty="0"/>
          </a:p>
        </p:txBody>
      </p:sp>
      <p:sp>
        <p:nvSpPr>
          <p:cNvPr id="7" name="Text 5"/>
          <p:cNvSpPr/>
          <p:nvPr/>
        </p:nvSpPr>
        <p:spPr>
          <a:xfrm>
            <a:off x="660121" y="2372767"/>
            <a:ext cx="691319"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Voice command</a:t>
            </a:r>
            <a:endParaRPr lang="en-US" sz="750" dirty="0"/>
          </a:p>
        </p:txBody>
      </p:sp>
      <p:sp>
        <p:nvSpPr>
          <p:cNvPr id="8" name="Text 6"/>
          <p:cNvSpPr/>
          <p:nvPr/>
        </p:nvSpPr>
        <p:spPr>
          <a:xfrm>
            <a:off x="1706910" y="1825972"/>
            <a:ext cx="381000" cy="19050"/>
          </a:xfrm>
          <a:prstGeom prst="rect">
            <a:avLst/>
          </a:prstGeom>
          <a:solidFill>
            <a:srgbClr val="C9A227"/>
          </a:solidFill>
          <a:ln/>
        </p:spPr>
        <p:txBody>
          <a:bodyPr wrap="square" rtlCol="0" anchor="ctr"/>
          <a:lstStyle/>
          <a:p>
            <a:pPr marL="0" indent="0">
              <a:buNone/>
            </a:pPr>
            <a:endParaRPr lang="en-US" dirty="0"/>
          </a:p>
        </p:txBody>
      </p:sp>
      <p:sp>
        <p:nvSpPr>
          <p:cNvPr id="9" name="Text 7"/>
          <p:cNvSpPr/>
          <p:nvPr/>
        </p:nvSpPr>
        <p:spPr>
          <a:xfrm>
            <a:off x="2484090" y="1165027"/>
            <a:ext cx="609600" cy="609600"/>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2730597" y="1309836"/>
            <a:ext cx="116586" cy="319980"/>
          </a:xfrm>
          <a:prstGeom prst="rect">
            <a:avLst/>
          </a:prstGeom>
          <a:noFill/>
          <a:ln/>
        </p:spPr>
        <p:txBody>
          <a:bodyPr wrap="square" lIns="0" tIns="0" rIns="0" bIns="0" rtlCol="0" anchor="t"/>
          <a:lstStyle/>
          <a:p>
            <a:pPr marL="0" indent="0" algn="ctr">
              <a:lnSpc>
                <a:spcPts val="2520"/>
              </a:lnSpc>
              <a:buNone/>
            </a:pPr>
            <a:r>
              <a:rPr lang="en-US" sz="1800" dirty="0">
                <a:solidFill>
                  <a:srgbClr val="C9A227"/>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2494084" y="2022277"/>
            <a:ext cx="589761" cy="159990"/>
          </a:xfrm>
          <a:prstGeom prst="rect">
            <a:avLst/>
          </a:prstGeom>
          <a:noFill/>
          <a:ln/>
        </p:spPr>
        <p:txBody>
          <a:bodyPr wrap="square" lIns="0" tIns="0" rIns="0" bIns="0" rtlCol="0" anchor="t"/>
          <a:lstStyle/>
          <a:p>
            <a:pPr marL="0" indent="0" algn="ctr">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Transcribe</a:t>
            </a:r>
            <a:endParaRPr lang="en-US" sz="900" dirty="0"/>
          </a:p>
        </p:txBody>
      </p:sp>
      <p:sp>
        <p:nvSpPr>
          <p:cNvPr id="12" name="Text 10"/>
          <p:cNvSpPr/>
          <p:nvPr/>
        </p:nvSpPr>
        <p:spPr>
          <a:xfrm>
            <a:off x="2481181" y="2372767"/>
            <a:ext cx="615568"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Local Whisper</a:t>
            </a:r>
            <a:endParaRPr lang="en-US" sz="750" dirty="0"/>
          </a:p>
        </p:txBody>
      </p:sp>
      <p:sp>
        <p:nvSpPr>
          <p:cNvPr id="13" name="Text 11"/>
          <p:cNvSpPr/>
          <p:nvPr/>
        </p:nvSpPr>
        <p:spPr>
          <a:xfrm>
            <a:off x="3490020" y="1825972"/>
            <a:ext cx="381000" cy="19050"/>
          </a:xfrm>
          <a:prstGeom prst="rect">
            <a:avLst/>
          </a:prstGeom>
          <a:solidFill>
            <a:srgbClr val="C9A227"/>
          </a:solidFill>
          <a:ln/>
        </p:spPr>
        <p:txBody>
          <a:bodyPr wrap="square" rtlCol="0" anchor="ctr"/>
          <a:lstStyle/>
          <a:p>
            <a:pPr marL="0" indent="0">
              <a:buNone/>
            </a:pPr>
            <a:endParaRPr lang="en-US" dirty="0"/>
          </a:p>
        </p:txBody>
      </p:sp>
      <p:sp>
        <p:nvSpPr>
          <p:cNvPr id="14" name="Text 12"/>
          <p:cNvSpPr/>
          <p:nvPr/>
        </p:nvSpPr>
        <p:spPr>
          <a:xfrm>
            <a:off x="4267200" y="1165027"/>
            <a:ext cx="609600" cy="60960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4513707" y="1309836"/>
            <a:ext cx="116586" cy="319980"/>
          </a:xfrm>
          <a:prstGeom prst="rect">
            <a:avLst/>
          </a:prstGeom>
          <a:noFill/>
          <a:ln/>
        </p:spPr>
        <p:txBody>
          <a:bodyPr wrap="square" lIns="0" tIns="0" rIns="0" bIns="0" rtlCol="0" anchor="t"/>
          <a:lstStyle/>
          <a:p>
            <a:pPr marL="0" indent="0" algn="ctr">
              <a:lnSpc>
                <a:spcPts val="2520"/>
              </a:lnSpc>
              <a:buNone/>
            </a:pPr>
            <a:r>
              <a:rPr lang="en-US" sz="1800" dirty="0">
                <a:solidFill>
                  <a:srgbClr val="C9A227"/>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4416400" y="2022277"/>
            <a:ext cx="311200" cy="159990"/>
          </a:xfrm>
          <a:prstGeom prst="rect">
            <a:avLst/>
          </a:prstGeom>
          <a:noFill/>
          <a:ln/>
        </p:spPr>
        <p:txBody>
          <a:bodyPr wrap="square" lIns="0" tIns="0" rIns="0" bIns="0" rtlCol="0" anchor="t"/>
          <a:lstStyle/>
          <a:p>
            <a:pPr marL="0" indent="0" algn="ctr">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Paste</a:t>
            </a:r>
            <a:endParaRPr lang="en-US" sz="900" dirty="0"/>
          </a:p>
        </p:txBody>
      </p:sp>
      <p:sp>
        <p:nvSpPr>
          <p:cNvPr id="17" name="Text 15"/>
          <p:cNvSpPr/>
          <p:nvPr/>
        </p:nvSpPr>
        <p:spPr>
          <a:xfrm>
            <a:off x="4261558" y="2372767"/>
            <a:ext cx="621033"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Into CLI/Editor</a:t>
            </a:r>
            <a:endParaRPr lang="en-US" sz="750" dirty="0"/>
          </a:p>
        </p:txBody>
      </p:sp>
      <p:sp>
        <p:nvSpPr>
          <p:cNvPr id="18" name="Text 16"/>
          <p:cNvSpPr/>
          <p:nvPr/>
        </p:nvSpPr>
        <p:spPr>
          <a:xfrm>
            <a:off x="5273129" y="1825972"/>
            <a:ext cx="381000" cy="19050"/>
          </a:xfrm>
          <a:prstGeom prst="rect">
            <a:avLst/>
          </a:prstGeom>
          <a:solidFill>
            <a:srgbClr val="C9A227"/>
          </a:solidFill>
          <a:ln/>
        </p:spPr>
        <p:txBody>
          <a:bodyPr wrap="square" rtlCol="0" anchor="ctr"/>
          <a:lstStyle/>
          <a:p>
            <a:pPr marL="0" indent="0">
              <a:buNone/>
            </a:pPr>
            <a:endParaRPr lang="en-US" dirty="0"/>
          </a:p>
        </p:txBody>
      </p:sp>
      <p:sp>
        <p:nvSpPr>
          <p:cNvPr id="19" name="Text 17"/>
          <p:cNvSpPr/>
          <p:nvPr/>
        </p:nvSpPr>
        <p:spPr>
          <a:xfrm>
            <a:off x="6050310" y="1165027"/>
            <a:ext cx="609600" cy="609600"/>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6296817" y="1309836"/>
            <a:ext cx="116586" cy="319980"/>
          </a:xfrm>
          <a:prstGeom prst="rect">
            <a:avLst/>
          </a:prstGeom>
          <a:noFill/>
          <a:ln/>
        </p:spPr>
        <p:txBody>
          <a:bodyPr wrap="square" lIns="0" tIns="0" rIns="0" bIns="0" rtlCol="0" anchor="t"/>
          <a:lstStyle/>
          <a:p>
            <a:pPr marL="0" indent="0" algn="ctr">
              <a:lnSpc>
                <a:spcPts val="2520"/>
              </a:lnSpc>
              <a:buNone/>
            </a:pPr>
            <a:r>
              <a:rPr lang="en-US" sz="1800" dirty="0">
                <a:solidFill>
                  <a:srgbClr val="C9A227"/>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6128312" y="2022277"/>
            <a:ext cx="453744" cy="159990"/>
          </a:xfrm>
          <a:prstGeom prst="rect">
            <a:avLst/>
          </a:prstGeom>
          <a:noFill/>
          <a:ln/>
        </p:spPr>
        <p:txBody>
          <a:bodyPr wrap="square" lIns="0" tIns="0" rIns="0" bIns="0" rtlCol="0" anchor="t"/>
          <a:lstStyle/>
          <a:p>
            <a:pPr marL="0" indent="0" algn="ctr">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Process</a:t>
            </a:r>
            <a:endParaRPr lang="en-US" sz="900" dirty="0"/>
          </a:p>
        </p:txBody>
      </p:sp>
      <p:sp>
        <p:nvSpPr>
          <p:cNvPr id="22" name="Text 20"/>
          <p:cNvSpPr/>
          <p:nvPr/>
        </p:nvSpPr>
        <p:spPr>
          <a:xfrm>
            <a:off x="6082317" y="2372767"/>
            <a:ext cx="545586"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AI reasoning</a:t>
            </a:r>
            <a:endParaRPr lang="en-US" sz="750" dirty="0"/>
          </a:p>
        </p:txBody>
      </p:sp>
      <p:sp>
        <p:nvSpPr>
          <p:cNvPr id="23" name="Text 21"/>
          <p:cNvSpPr/>
          <p:nvPr/>
        </p:nvSpPr>
        <p:spPr>
          <a:xfrm>
            <a:off x="7056239" y="1825972"/>
            <a:ext cx="381000" cy="19050"/>
          </a:xfrm>
          <a:prstGeom prst="rect">
            <a:avLst/>
          </a:prstGeom>
          <a:solidFill>
            <a:srgbClr val="C9A227"/>
          </a:solidFill>
          <a:ln/>
        </p:spPr>
        <p:txBody>
          <a:bodyPr wrap="square" rtlCol="0" anchor="ctr"/>
          <a:lstStyle/>
          <a:p>
            <a:pPr marL="0" indent="0">
              <a:buNone/>
            </a:pPr>
            <a:endParaRPr lang="en-US" dirty="0"/>
          </a:p>
        </p:txBody>
      </p:sp>
      <p:sp>
        <p:nvSpPr>
          <p:cNvPr id="24" name="Text 22"/>
          <p:cNvSpPr/>
          <p:nvPr/>
        </p:nvSpPr>
        <p:spPr>
          <a:xfrm>
            <a:off x="7833420" y="1165027"/>
            <a:ext cx="609600" cy="609600"/>
          </a:xfrm>
          <a:prstGeom prst="rect">
            <a:avLst/>
          </a:prstGeom>
          <a:solidFill>
            <a:srgbClr val="C9A227"/>
          </a:solidFill>
          <a:ln/>
        </p:spPr>
        <p:txBody>
          <a:bodyPr wrap="square" rtlCol="0" anchor="ctr"/>
          <a:lstStyle/>
          <a:p>
            <a:pPr marL="0" indent="0">
              <a:buNone/>
            </a:pPr>
            <a:endParaRPr lang="en-US" dirty="0"/>
          </a:p>
        </p:txBody>
      </p:sp>
      <p:sp>
        <p:nvSpPr>
          <p:cNvPr id="25" name="Text 23"/>
          <p:cNvSpPr/>
          <p:nvPr/>
        </p:nvSpPr>
        <p:spPr>
          <a:xfrm>
            <a:off x="8079927" y="1309836"/>
            <a:ext cx="116586" cy="319980"/>
          </a:xfrm>
          <a:prstGeom prst="rect">
            <a:avLst/>
          </a:prstGeom>
          <a:noFill/>
          <a:ln/>
        </p:spPr>
        <p:txBody>
          <a:bodyPr wrap="square" lIns="0" tIns="0" rIns="0" bIns="0" rtlCol="0" anchor="t"/>
          <a:lstStyle/>
          <a:p>
            <a:pPr marL="0" indent="0" algn="ctr">
              <a:lnSpc>
                <a:spcPts val="2520"/>
              </a:lnSpc>
              <a:buNone/>
            </a:pPr>
            <a:r>
              <a:rPr lang="en-US" sz="1800" dirty="0">
                <a:solidFill>
                  <a:srgbClr val="1A1F2E"/>
                </a:solidFill>
                <a:latin typeface="Georgia" pitchFamily="34" charset="0"/>
                <a:ea typeface="Georgia" pitchFamily="34" charset="-122"/>
                <a:cs typeface="Georgia" pitchFamily="34" charset="-120"/>
              </a:rPr>
              <a:t>5</a:t>
            </a:r>
            <a:endParaRPr lang="en-US" sz="1800" dirty="0"/>
          </a:p>
        </p:txBody>
      </p:sp>
      <p:sp>
        <p:nvSpPr>
          <p:cNvPr id="26" name="Text 24"/>
          <p:cNvSpPr/>
          <p:nvPr/>
        </p:nvSpPr>
        <p:spPr>
          <a:xfrm>
            <a:off x="7914611" y="2022277"/>
            <a:ext cx="447217" cy="159990"/>
          </a:xfrm>
          <a:prstGeom prst="rect">
            <a:avLst/>
          </a:prstGeom>
          <a:noFill/>
          <a:ln/>
        </p:spPr>
        <p:txBody>
          <a:bodyPr wrap="square" lIns="0" tIns="0" rIns="0" bIns="0" rtlCol="0" anchor="t"/>
          <a:lstStyle/>
          <a:p>
            <a:pPr marL="0" indent="0" algn="ctr">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Execute</a:t>
            </a:r>
            <a:endParaRPr lang="en-US" sz="900" dirty="0"/>
          </a:p>
        </p:txBody>
      </p:sp>
      <p:sp>
        <p:nvSpPr>
          <p:cNvPr id="27" name="Text 25"/>
          <p:cNvSpPr/>
          <p:nvPr/>
        </p:nvSpPr>
        <p:spPr>
          <a:xfrm>
            <a:off x="7824895" y="2372767"/>
            <a:ext cx="626650" cy="133350"/>
          </a:xfrm>
          <a:prstGeom prst="rect">
            <a:avLst/>
          </a:prstGeom>
          <a:noFill/>
          <a:ln/>
        </p:spPr>
        <p:txBody>
          <a:bodyPr wrap="square" lIns="0" tIns="0" rIns="0" bIns="0" rtlCol="0" anchor="t"/>
          <a:lstStyle/>
          <a:p>
            <a:pPr marL="0" indent="0" algn="ctr">
              <a:lnSpc>
                <a:spcPts val="1050"/>
              </a:lnSpc>
              <a:buNone/>
            </a:pPr>
            <a:r>
              <a:rPr lang="en-US" sz="750" dirty="0">
                <a:solidFill>
                  <a:srgbClr val="6B7280"/>
                </a:solidFill>
                <a:latin typeface="Arial" pitchFamily="34" charset="0"/>
                <a:ea typeface="Arial" pitchFamily="34" charset="-122"/>
                <a:cs typeface="Arial" pitchFamily="34" charset="-120"/>
              </a:rPr>
              <a:t>Code changes</a:t>
            </a:r>
            <a:endParaRPr lang="en-US" sz="750" dirty="0"/>
          </a:p>
        </p:txBody>
      </p:sp>
      <p:sp>
        <p:nvSpPr>
          <p:cNvPr id="28" name="Text 26"/>
          <p:cNvSpPr/>
          <p:nvPr/>
        </p:nvSpPr>
        <p:spPr>
          <a:xfrm>
            <a:off x="457200" y="2887117"/>
            <a:ext cx="8229600" cy="117901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9" name="Text 27"/>
          <p:cNvSpPr/>
          <p:nvPr/>
        </p:nvSpPr>
        <p:spPr>
          <a:xfrm>
            <a:off x="657225" y="3087142"/>
            <a:ext cx="7986141" cy="146596"/>
          </a:xfrm>
          <a:prstGeom prst="rect">
            <a:avLst/>
          </a:prstGeom>
          <a:noFill/>
          <a:ln/>
        </p:spPr>
        <p:txBody>
          <a:bodyPr wrap="square" lIns="0" tIns="0" rIns="0" bIns="0" rtlCol="0" anchor="t"/>
          <a:lstStyle/>
          <a:p>
            <a:pPr marL="0" indent="0" algn="l">
              <a:lnSpc>
                <a:spcPts val="1155"/>
              </a:lnSpc>
              <a:spcAft>
                <a:spcPts val="900"/>
              </a:spcAft>
              <a:buNone/>
            </a:pPr>
            <a:r>
              <a:rPr lang="en-US" sz="825" b="1" dirty="0">
                <a:solidFill>
                  <a:srgbClr val="C9A227"/>
                </a:solidFill>
                <a:latin typeface="Arial" pitchFamily="34" charset="0"/>
                <a:ea typeface="Arial" pitchFamily="34" charset="-122"/>
                <a:cs typeface="Arial" pitchFamily="34" charset="-120"/>
              </a:rPr>
              <a:t>EXAMPLE WORKFLOW</a:t>
            </a:r>
            <a:endParaRPr lang="en-US" sz="825" dirty="0"/>
          </a:p>
        </p:txBody>
      </p:sp>
      <p:sp>
        <p:nvSpPr>
          <p:cNvPr id="30" name="Text 28"/>
          <p:cNvSpPr/>
          <p:nvPr/>
        </p:nvSpPr>
        <p:spPr>
          <a:xfrm>
            <a:off x="657225" y="3348038"/>
            <a:ext cx="38959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You say:</a:t>
            </a:r>
            <a:endParaRPr lang="en-US" sz="900" dirty="0"/>
          </a:p>
        </p:txBody>
      </p:sp>
      <p:sp>
        <p:nvSpPr>
          <p:cNvPr id="31" name="Text 29"/>
          <p:cNvSpPr/>
          <p:nvPr/>
        </p:nvSpPr>
        <p:spPr>
          <a:xfrm>
            <a:off x="657225" y="3546128"/>
            <a:ext cx="3895916" cy="319980"/>
          </a:xfrm>
          <a:prstGeom prst="rect">
            <a:avLst/>
          </a:prstGeom>
          <a:noFill/>
          <a:ln/>
        </p:spPr>
        <p:txBody>
          <a:bodyPr wrap="square" lIns="0" tIns="0" rIns="0" bIns="0" rtlCol="0" anchor="t"/>
          <a:lstStyle/>
          <a:p>
            <a:pPr marL="0" indent="0" algn="l">
              <a:lnSpc>
                <a:spcPts val="1260"/>
              </a:lnSpc>
              <a:buNone/>
            </a:pPr>
            <a:r>
              <a:rPr lang="en-US" sz="900" i="1" dirty="0">
                <a:solidFill>
                  <a:srgbClr val="6B7280"/>
                </a:solidFill>
                <a:latin typeface="Arial" pitchFamily="34" charset="0"/>
                <a:ea typeface="Arial" pitchFamily="34" charset="-122"/>
                <a:cs typeface="Arial" pitchFamily="34" charset="-120"/>
              </a:rPr>
              <a:t>"Add input validation to the user registration form and show helpful error messages"</a:t>
            </a:r>
            <a:endParaRPr lang="en-US" sz="900" dirty="0"/>
          </a:p>
        </p:txBody>
      </p:sp>
      <p:sp>
        <p:nvSpPr>
          <p:cNvPr id="32" name="Text 30"/>
          <p:cNvSpPr/>
          <p:nvPr/>
        </p:nvSpPr>
        <p:spPr>
          <a:xfrm>
            <a:off x="4667250" y="3348038"/>
            <a:ext cx="3895916"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Claude does:</a:t>
            </a:r>
            <a:endParaRPr lang="en-US" sz="900" dirty="0"/>
          </a:p>
        </p:txBody>
      </p:sp>
      <p:sp>
        <p:nvSpPr>
          <p:cNvPr id="33" name="Text 31"/>
          <p:cNvSpPr/>
          <p:nvPr/>
        </p:nvSpPr>
        <p:spPr>
          <a:xfrm>
            <a:off x="4667250" y="3546128"/>
            <a:ext cx="3895916" cy="319980"/>
          </a:xfrm>
          <a:prstGeom prst="rect">
            <a:avLst/>
          </a:prstGeom>
          <a:noFill/>
          <a:ln/>
        </p:spPr>
        <p:txBody>
          <a:bodyPr wrap="square" lIns="0" tIns="0" rIns="0" bIns="0" rtlCol="0" anchor="t"/>
          <a:lstStyle/>
          <a:p>
            <a:pPr marL="0" indent="0" algn="l">
              <a:lnSpc>
                <a:spcPts val="1260"/>
              </a:lnSpc>
              <a:buNone/>
            </a:pPr>
            <a:r>
              <a:rPr lang="en-US" sz="900" dirty="0">
                <a:solidFill>
                  <a:srgbClr val="6B7280"/>
                </a:solidFill>
                <a:latin typeface="Arial" pitchFamily="34" charset="0"/>
                <a:ea typeface="Arial" pitchFamily="34" charset="-122"/>
                <a:cs typeface="Arial" pitchFamily="34" charset="-120"/>
              </a:rPr>
              <a:t>Finds form, adds validation rules, creates error messages, updates UI, runs tests</a:t>
            </a:r>
            <a:endParaRPr lang="en-US" sz="900" dirty="0"/>
          </a:p>
        </p:txBody>
      </p:sp>
      <p:sp>
        <p:nvSpPr>
          <p:cNvPr id="34" name="Text 32"/>
          <p:cNvSpPr/>
          <p:nvPr/>
        </p:nvSpPr>
        <p:spPr>
          <a:xfrm>
            <a:off x="457200" y="4370933"/>
            <a:ext cx="8229600" cy="478036"/>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530352" y="4523333"/>
            <a:ext cx="8083296" cy="173236"/>
          </a:xfrm>
          <a:prstGeom prst="rect">
            <a:avLst/>
          </a:prstGeom>
          <a:noFill/>
          <a:ln/>
        </p:spPr>
        <p:txBody>
          <a:bodyPr wrap="square" lIns="0" tIns="0" rIns="0" bIns="0" rtlCol="0" anchor="t"/>
          <a:lstStyle/>
          <a:p>
            <a:pPr marL="0" indent="0" algn="ctr">
              <a:lnSpc>
                <a:spcPts val="1365"/>
              </a:lnSpc>
              <a:buNone/>
            </a:pPr>
            <a:r>
              <a:rPr lang="en-US" sz="975" b="1" dirty="0">
                <a:solidFill>
                  <a:srgbClr val="C9A227"/>
                </a:solidFill>
                <a:latin typeface="Arial" pitchFamily="34" charset="0"/>
                <a:ea typeface="Arial" pitchFamily="34" charset="-122"/>
                <a:cs typeface="Arial" pitchFamily="34" charset="-120"/>
              </a:rPr>
              <a:t>Total time: seconds to speak, minutes for AI to complete what would take hours manually</a:t>
            </a:r>
            <a:endParaRPr lang="en-US" sz="97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QUICK REFERENCE</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Tools by Role</a:t>
            </a:r>
            <a:endParaRPr lang="en-US" sz="2400" dirty="0"/>
          </a:p>
        </p:txBody>
      </p:sp>
      <p:sp>
        <p:nvSpPr>
          <p:cNvPr id="4" name="Text 2"/>
          <p:cNvSpPr/>
          <p:nvPr/>
        </p:nvSpPr>
        <p:spPr>
          <a:xfrm>
            <a:off x="457200" y="1308795"/>
            <a:ext cx="2628900" cy="2474268"/>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47700" y="1499295"/>
            <a:ext cx="2292858"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DEVELOPERS</a:t>
            </a:r>
            <a:endParaRPr lang="en-US" sz="900" dirty="0"/>
          </a:p>
        </p:txBody>
      </p:sp>
      <p:sp>
        <p:nvSpPr>
          <p:cNvPr id="6" name="Text 4"/>
          <p:cNvSpPr/>
          <p:nvPr/>
        </p:nvSpPr>
        <p:spPr>
          <a:xfrm>
            <a:off x="647700" y="1945035"/>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Primary Tools</a:t>
            </a:r>
            <a:endParaRPr lang="en-US" sz="900" dirty="0"/>
          </a:p>
        </p:txBody>
      </p:sp>
      <p:sp>
        <p:nvSpPr>
          <p:cNvPr id="7" name="Text 5"/>
          <p:cNvSpPr/>
          <p:nvPr/>
        </p:nvSpPr>
        <p:spPr>
          <a:xfrm>
            <a:off x="647700" y="2143125"/>
            <a:ext cx="2292858" cy="167580"/>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Claude Code + SuperWhisper/WhisperFlow</a:t>
            </a:r>
            <a:endParaRPr lang="en-US" sz="825" dirty="0"/>
          </a:p>
        </p:txBody>
      </p:sp>
      <p:sp>
        <p:nvSpPr>
          <p:cNvPr id="8" name="Text 6"/>
          <p:cNvSpPr/>
          <p:nvPr/>
        </p:nvSpPr>
        <p:spPr>
          <a:xfrm>
            <a:off x="647700" y="2596455"/>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Best For</a:t>
            </a:r>
            <a:endParaRPr lang="en-US" sz="900" dirty="0"/>
          </a:p>
        </p:txBody>
      </p:sp>
      <p:sp>
        <p:nvSpPr>
          <p:cNvPr id="9" name="Text 7"/>
          <p:cNvSpPr/>
          <p:nvPr/>
        </p:nvSpPr>
        <p:spPr>
          <a:xfrm>
            <a:off x="647700" y="2794546"/>
            <a:ext cx="2292858" cy="167580"/>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Refactoring, testing, debugging, documentation</a:t>
            </a:r>
            <a:endParaRPr lang="en-US" sz="825" dirty="0"/>
          </a:p>
        </p:txBody>
      </p:sp>
      <p:sp>
        <p:nvSpPr>
          <p:cNvPr id="10" name="Text 8"/>
          <p:cNvSpPr/>
          <p:nvPr/>
        </p:nvSpPr>
        <p:spPr>
          <a:xfrm>
            <a:off x="647700" y="3247876"/>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Voice Example</a:t>
            </a:r>
            <a:endParaRPr lang="en-US" sz="900" dirty="0"/>
          </a:p>
        </p:txBody>
      </p:sp>
      <p:sp>
        <p:nvSpPr>
          <p:cNvPr id="11" name="Text 9"/>
          <p:cNvSpPr/>
          <p:nvPr/>
        </p:nvSpPr>
        <p:spPr>
          <a:xfrm>
            <a:off x="647700" y="3445966"/>
            <a:ext cx="2292858" cy="146596"/>
          </a:xfrm>
          <a:prstGeom prst="rect">
            <a:avLst/>
          </a:prstGeom>
          <a:noFill/>
          <a:ln/>
        </p:spPr>
        <p:txBody>
          <a:bodyPr wrap="square" lIns="0" tIns="0" rIns="0" bIns="0" rtlCol="0" anchor="t"/>
          <a:lstStyle/>
          <a:p>
            <a:pPr marL="0" indent="0" algn="l">
              <a:lnSpc>
                <a:spcPts val="1155"/>
              </a:lnSpc>
              <a:buNone/>
            </a:pPr>
            <a:r>
              <a:rPr lang="en-US" sz="825" i="1" dirty="0">
                <a:solidFill>
                  <a:srgbClr val="FFFFFF">
                    <a:alpha val="60000"/>
                  </a:srgbClr>
                </a:solidFill>
                <a:latin typeface="Arial" pitchFamily="34" charset="0"/>
                <a:ea typeface="Arial" pitchFamily="34" charset="-122"/>
                <a:cs typeface="Arial" pitchFamily="34" charset="-120"/>
              </a:rPr>
              <a:t>"Add unit tests for the auth module"</a:t>
            </a:r>
            <a:endParaRPr lang="en-US" sz="825" dirty="0"/>
          </a:p>
        </p:txBody>
      </p:sp>
      <p:sp>
        <p:nvSpPr>
          <p:cNvPr id="12" name="Text 10"/>
          <p:cNvSpPr/>
          <p:nvPr/>
        </p:nvSpPr>
        <p:spPr>
          <a:xfrm>
            <a:off x="3238500" y="1299270"/>
            <a:ext cx="2647950" cy="249331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3" name="Text 11"/>
          <p:cNvSpPr/>
          <p:nvPr/>
        </p:nvSpPr>
        <p:spPr>
          <a:xfrm>
            <a:off x="3438525" y="1499295"/>
            <a:ext cx="2292858"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DATA ANALYSTS</a:t>
            </a:r>
            <a:endParaRPr lang="en-US" sz="900" dirty="0"/>
          </a:p>
        </p:txBody>
      </p:sp>
      <p:sp>
        <p:nvSpPr>
          <p:cNvPr id="14" name="Text 12"/>
          <p:cNvSpPr/>
          <p:nvPr/>
        </p:nvSpPr>
        <p:spPr>
          <a:xfrm>
            <a:off x="3438525" y="1945035"/>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Primary Tools</a:t>
            </a:r>
            <a:endParaRPr lang="en-US" sz="900" dirty="0"/>
          </a:p>
        </p:txBody>
      </p:sp>
      <p:sp>
        <p:nvSpPr>
          <p:cNvPr id="15" name="Text 13"/>
          <p:cNvSpPr/>
          <p:nvPr/>
        </p:nvSpPr>
        <p:spPr>
          <a:xfrm>
            <a:off x="3438525" y="2143125"/>
            <a:ext cx="2292858" cy="167580"/>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VS Code + Continue.dev or Cursor</a:t>
            </a:r>
            <a:endParaRPr lang="en-US" sz="825" dirty="0"/>
          </a:p>
        </p:txBody>
      </p:sp>
      <p:sp>
        <p:nvSpPr>
          <p:cNvPr id="16" name="Text 14"/>
          <p:cNvSpPr/>
          <p:nvPr/>
        </p:nvSpPr>
        <p:spPr>
          <a:xfrm>
            <a:off x="3438525" y="2596455"/>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For</a:t>
            </a:r>
            <a:endParaRPr lang="en-US" sz="900" dirty="0"/>
          </a:p>
        </p:txBody>
      </p:sp>
      <p:sp>
        <p:nvSpPr>
          <p:cNvPr id="17" name="Text 15"/>
          <p:cNvSpPr/>
          <p:nvPr/>
        </p:nvSpPr>
        <p:spPr>
          <a:xfrm>
            <a:off x="3438525" y="2794546"/>
            <a:ext cx="2292858" cy="167580"/>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SQL queries, Python scripts, data pipelines</a:t>
            </a:r>
            <a:endParaRPr lang="en-US" sz="825" dirty="0"/>
          </a:p>
        </p:txBody>
      </p:sp>
      <p:sp>
        <p:nvSpPr>
          <p:cNvPr id="18" name="Text 16"/>
          <p:cNvSpPr/>
          <p:nvPr/>
        </p:nvSpPr>
        <p:spPr>
          <a:xfrm>
            <a:off x="3438525" y="3247876"/>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Voice Example</a:t>
            </a:r>
            <a:endParaRPr lang="en-US" sz="900" dirty="0"/>
          </a:p>
        </p:txBody>
      </p:sp>
      <p:sp>
        <p:nvSpPr>
          <p:cNvPr id="19" name="Text 17"/>
          <p:cNvSpPr/>
          <p:nvPr/>
        </p:nvSpPr>
        <p:spPr>
          <a:xfrm>
            <a:off x="3438525" y="3445966"/>
            <a:ext cx="2292858" cy="146596"/>
          </a:xfrm>
          <a:prstGeom prst="rect">
            <a:avLst/>
          </a:prstGeom>
          <a:noFill/>
          <a:ln/>
        </p:spPr>
        <p:txBody>
          <a:bodyPr wrap="square" lIns="0" tIns="0" rIns="0" bIns="0" rtlCol="0" anchor="t"/>
          <a:lstStyle/>
          <a:p>
            <a:pPr marL="0" indent="0" algn="l">
              <a:lnSpc>
                <a:spcPts val="1155"/>
              </a:lnSpc>
              <a:buNone/>
            </a:pPr>
            <a:r>
              <a:rPr lang="en-US" sz="825" i="1" dirty="0">
                <a:solidFill>
                  <a:srgbClr val="6B7280"/>
                </a:solidFill>
                <a:latin typeface="Arial" pitchFamily="34" charset="0"/>
                <a:ea typeface="Arial" pitchFamily="34" charset="-122"/>
                <a:cs typeface="Arial" pitchFamily="34" charset="-120"/>
              </a:rPr>
              <a:t>"Write a query to aggregate monthly stats"</a:t>
            </a:r>
            <a:endParaRPr lang="en-US" sz="825" dirty="0"/>
          </a:p>
        </p:txBody>
      </p:sp>
      <p:sp>
        <p:nvSpPr>
          <p:cNvPr id="20" name="Text 18"/>
          <p:cNvSpPr/>
          <p:nvPr/>
        </p:nvSpPr>
        <p:spPr>
          <a:xfrm>
            <a:off x="6038850" y="1299270"/>
            <a:ext cx="2647950" cy="249331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6238875" y="1499295"/>
            <a:ext cx="2292858" cy="159990"/>
          </a:xfrm>
          <a:prstGeom prst="rect">
            <a:avLst/>
          </a:prstGeom>
          <a:noFill/>
          <a:ln/>
        </p:spPr>
        <p:txBody>
          <a:bodyPr wrap="square" lIns="0" tIns="0" rIns="0" bIns="0" rtlCol="0" anchor="t"/>
          <a:lstStyle/>
          <a:p>
            <a:pPr marL="0" indent="0" algn="l">
              <a:lnSpc>
                <a:spcPts val="1260"/>
              </a:lnSpc>
              <a:spcAft>
                <a:spcPts val="1050"/>
              </a:spcAft>
              <a:buNone/>
            </a:pPr>
            <a:r>
              <a:rPr lang="en-US" sz="900" b="1" dirty="0">
                <a:solidFill>
                  <a:srgbClr val="C9A227"/>
                </a:solidFill>
                <a:latin typeface="Arial" pitchFamily="34" charset="0"/>
                <a:ea typeface="Arial" pitchFamily="34" charset="-122"/>
                <a:cs typeface="Arial" pitchFamily="34" charset="-120"/>
              </a:rPr>
              <a:t>IT / DEVOPS</a:t>
            </a:r>
            <a:endParaRPr lang="en-US" sz="900" dirty="0"/>
          </a:p>
        </p:txBody>
      </p:sp>
      <p:sp>
        <p:nvSpPr>
          <p:cNvPr id="22" name="Text 20"/>
          <p:cNvSpPr/>
          <p:nvPr/>
        </p:nvSpPr>
        <p:spPr>
          <a:xfrm>
            <a:off x="6238875" y="1945035"/>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Primary Tools</a:t>
            </a:r>
            <a:endParaRPr lang="en-US" sz="900" dirty="0"/>
          </a:p>
        </p:txBody>
      </p:sp>
      <p:sp>
        <p:nvSpPr>
          <p:cNvPr id="23" name="Text 21"/>
          <p:cNvSpPr/>
          <p:nvPr/>
        </p:nvSpPr>
        <p:spPr>
          <a:xfrm>
            <a:off x="6238875" y="2143125"/>
            <a:ext cx="2292858" cy="167580"/>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Claude Code + MCP servers</a:t>
            </a:r>
            <a:endParaRPr lang="en-US" sz="825" dirty="0"/>
          </a:p>
        </p:txBody>
      </p:sp>
      <p:sp>
        <p:nvSpPr>
          <p:cNvPr id="24" name="Text 22"/>
          <p:cNvSpPr/>
          <p:nvPr/>
        </p:nvSpPr>
        <p:spPr>
          <a:xfrm>
            <a:off x="6238875" y="2596455"/>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Best For</a:t>
            </a:r>
            <a:endParaRPr lang="en-US" sz="900" dirty="0"/>
          </a:p>
        </p:txBody>
      </p:sp>
      <p:sp>
        <p:nvSpPr>
          <p:cNvPr id="25" name="Text 23"/>
          <p:cNvSpPr/>
          <p:nvPr/>
        </p:nvSpPr>
        <p:spPr>
          <a:xfrm>
            <a:off x="6238875" y="2794546"/>
            <a:ext cx="2292858" cy="167580"/>
          </a:xfrm>
          <a:prstGeom prst="rect">
            <a:avLst/>
          </a:prstGeom>
          <a:noFill/>
          <a:ln/>
        </p:spPr>
        <p:txBody>
          <a:bodyPr wrap="square" lIns="0" tIns="0" rIns="0" bIns="0" rtlCol="0" anchor="t"/>
          <a:lstStyle/>
          <a:p>
            <a:pPr marL="0" indent="0" algn="l">
              <a:lnSpc>
                <a:spcPts val="1320"/>
              </a:lnSpc>
              <a:buNone/>
            </a:pPr>
            <a:r>
              <a:rPr lang="en-US" sz="825" dirty="0">
                <a:solidFill>
                  <a:srgbClr val="6B7280"/>
                </a:solidFill>
                <a:latin typeface="Arial" pitchFamily="34" charset="0"/>
                <a:ea typeface="Arial" pitchFamily="34" charset="-122"/>
                <a:cs typeface="Arial" pitchFamily="34" charset="-120"/>
              </a:rPr>
              <a:t>Scripts, configs, automation, troubleshooting</a:t>
            </a:r>
            <a:endParaRPr lang="en-US" sz="825" dirty="0"/>
          </a:p>
        </p:txBody>
      </p:sp>
      <p:sp>
        <p:nvSpPr>
          <p:cNvPr id="26" name="Text 24"/>
          <p:cNvSpPr/>
          <p:nvPr/>
        </p:nvSpPr>
        <p:spPr>
          <a:xfrm>
            <a:off x="6238875" y="3247876"/>
            <a:ext cx="2292858"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Voice Example</a:t>
            </a:r>
            <a:endParaRPr lang="en-US" sz="900" dirty="0"/>
          </a:p>
        </p:txBody>
      </p:sp>
      <p:sp>
        <p:nvSpPr>
          <p:cNvPr id="27" name="Text 25"/>
          <p:cNvSpPr/>
          <p:nvPr/>
        </p:nvSpPr>
        <p:spPr>
          <a:xfrm>
            <a:off x="6238875" y="3445966"/>
            <a:ext cx="2292858" cy="146596"/>
          </a:xfrm>
          <a:prstGeom prst="rect">
            <a:avLst/>
          </a:prstGeom>
          <a:noFill/>
          <a:ln/>
        </p:spPr>
        <p:txBody>
          <a:bodyPr wrap="square" lIns="0" tIns="0" rIns="0" bIns="0" rtlCol="0" anchor="t"/>
          <a:lstStyle/>
          <a:p>
            <a:pPr marL="0" indent="0" algn="l">
              <a:lnSpc>
                <a:spcPts val="1155"/>
              </a:lnSpc>
              <a:buNone/>
            </a:pPr>
            <a:r>
              <a:rPr lang="en-US" sz="825" i="1" dirty="0">
                <a:solidFill>
                  <a:srgbClr val="6B7280"/>
                </a:solidFill>
                <a:latin typeface="Arial" pitchFamily="34" charset="0"/>
                <a:ea typeface="Arial" pitchFamily="34" charset="-122"/>
                <a:cs typeface="Arial" pitchFamily="34" charset="-120"/>
              </a:rPr>
              <a:t>"Create a script to rotate log files"</a:t>
            </a:r>
            <a:endParaRPr lang="en-US" sz="825" dirty="0"/>
          </a:p>
        </p:txBody>
      </p:sp>
      <p:sp>
        <p:nvSpPr>
          <p:cNvPr id="28" name="Text 26"/>
          <p:cNvSpPr/>
          <p:nvPr/>
        </p:nvSpPr>
        <p:spPr>
          <a:xfrm>
            <a:off x="457200" y="4412010"/>
            <a:ext cx="8229600" cy="426690"/>
          </a:xfrm>
          <a:prstGeom prst="rect">
            <a:avLst/>
          </a:prstGeom>
          <a:solidFill>
            <a:srgbClr val="C9A227"/>
          </a:solidFill>
          <a:ln/>
        </p:spPr>
        <p:txBody>
          <a:bodyPr wrap="square" rtlCol="0" anchor="ctr"/>
          <a:lstStyle/>
          <a:p>
            <a:pPr marL="0" indent="0">
              <a:buNone/>
            </a:pPr>
            <a:endParaRPr lang="en-US" dirty="0"/>
          </a:p>
        </p:txBody>
      </p:sp>
      <p:sp>
        <p:nvSpPr>
          <p:cNvPr id="29" name="Text 27"/>
          <p:cNvSpPr/>
          <p:nvPr/>
        </p:nvSpPr>
        <p:spPr>
          <a:xfrm>
            <a:off x="510921" y="4545360"/>
            <a:ext cx="8122158" cy="159990"/>
          </a:xfrm>
          <a:prstGeom prst="rect">
            <a:avLst/>
          </a:prstGeom>
          <a:noFill/>
          <a:ln/>
        </p:spPr>
        <p:txBody>
          <a:bodyPr wrap="square" lIns="0" tIns="0" rIns="0" bIns="0" rtlCol="0" anchor="t"/>
          <a:lstStyle/>
          <a:p>
            <a:pPr marL="0" indent="0" algn="ctr">
              <a:lnSpc>
                <a:spcPts val="1260"/>
              </a:lnSpc>
              <a:buNone/>
            </a:pPr>
            <a:r>
              <a:rPr lang="en-US" sz="900" b="1" dirty="0">
                <a:solidFill>
                  <a:srgbClr val="1A1F2E"/>
                </a:solidFill>
                <a:latin typeface="Arial" pitchFamily="34" charset="0"/>
                <a:ea typeface="Arial" pitchFamily="34" charset="-122"/>
                <a:cs typeface="Arial" pitchFamily="34" charset="-120"/>
              </a:rPr>
              <a:t>All roles benefit from local voice transcription for speed and privacy</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8103"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8</a:t>
            </a:r>
            <a:endParaRPr lang="en-US" sz="1050" dirty="0"/>
          </a:p>
        </p:txBody>
      </p:sp>
      <p:sp>
        <p:nvSpPr>
          <p:cNvPr id="3" name="Text 1"/>
          <p:cNvSpPr/>
          <p:nvPr/>
        </p:nvSpPr>
        <p:spPr>
          <a:xfrm>
            <a:off x="2186845" y="1570732"/>
            <a:ext cx="4770311"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Security &amp; Compliance</a:t>
            </a:r>
            <a:endParaRPr lang="en-US" sz="3900" dirty="0"/>
          </a:p>
        </p:txBody>
      </p:sp>
      <p:sp>
        <p:nvSpPr>
          <p:cNvPr id="4" name="Text 2"/>
          <p:cNvSpPr/>
          <p:nvPr/>
        </p:nvSpPr>
        <p:spPr>
          <a:xfrm>
            <a:off x="4191000"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2831864" y="2818507"/>
            <a:ext cx="3480122"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Understanding Data Flows and PHI Handling</a:t>
            </a:r>
            <a:endParaRPr lang="en-US" sz="1350" dirty="0"/>
          </a:p>
        </p:txBody>
      </p:sp>
      <p:sp>
        <p:nvSpPr>
          <p:cNvPr id="6" name="Text 4"/>
          <p:cNvSpPr/>
          <p:nvPr/>
        </p:nvSpPr>
        <p:spPr>
          <a:xfrm>
            <a:off x="3931444" y="3591818"/>
            <a:ext cx="1280964"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39246" y="3753743"/>
            <a:ext cx="665360"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10 minutes</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DATA SECURITY</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Data Flow Awareness</a:t>
            </a:r>
            <a:endParaRPr lang="en-US" sz="2100" dirty="0"/>
          </a:p>
        </p:txBody>
      </p:sp>
      <p:sp>
        <p:nvSpPr>
          <p:cNvPr id="4" name="Text 2"/>
          <p:cNvSpPr/>
          <p:nvPr/>
        </p:nvSpPr>
        <p:spPr>
          <a:xfrm>
            <a:off x="381000" y="742950"/>
            <a:ext cx="8549640" cy="159990"/>
          </a:xfrm>
          <a:prstGeom prst="rect">
            <a:avLst/>
          </a:prstGeom>
          <a:noFill/>
          <a:ln/>
        </p:spPr>
        <p:txBody>
          <a:bodyPr wrap="square" lIns="0" tIns="0" rIns="0" bIns="0" rtlCol="0" anchor="t"/>
          <a:lstStyle/>
          <a:p>
            <a:pPr marL="0" indent="0" algn="l">
              <a:lnSpc>
                <a:spcPts val="1260"/>
              </a:lnSpc>
              <a:spcBef>
                <a:spcPts val="450"/>
              </a:spcBef>
              <a:buNone/>
            </a:pPr>
            <a:r>
              <a:rPr lang="en-US" sz="900" dirty="0">
                <a:solidFill>
                  <a:srgbClr val="6B7280"/>
                </a:solidFill>
                <a:latin typeface="Arial" pitchFamily="34" charset="0"/>
                <a:ea typeface="Arial" pitchFamily="34" charset="-122"/>
                <a:cs typeface="Arial" pitchFamily="34" charset="-120"/>
              </a:rPr>
              <a:t>Understanding where your data goes</a:t>
            </a:r>
            <a:endParaRPr lang="en-US" sz="900" dirty="0"/>
          </a:p>
        </p:txBody>
      </p:sp>
      <p:sp>
        <p:nvSpPr>
          <p:cNvPr id="5" name="Text 3"/>
          <p:cNvSpPr/>
          <p:nvPr/>
        </p:nvSpPr>
        <p:spPr>
          <a:xfrm>
            <a:off x="381000" y="1360438"/>
            <a:ext cx="2730550" cy="1407468"/>
          </a:xfrm>
          <a:prstGeom prst="rect">
            <a:avLst/>
          </a:prstGeom>
          <a:solidFill>
            <a:srgbClr val="DCFCE7"/>
          </a:solidFill>
          <a:ln/>
        </p:spPr>
        <p:txBody>
          <a:bodyPr wrap="square" rtlCol="0" anchor="ctr"/>
          <a:lstStyle/>
          <a:p>
            <a:pPr marL="0" indent="0">
              <a:buNone/>
            </a:pPr>
            <a:endParaRPr lang="en-US" dirty="0"/>
          </a:p>
        </p:txBody>
      </p:sp>
      <p:sp>
        <p:nvSpPr>
          <p:cNvPr id="6" name="Shape 4"/>
          <p:cNvSpPr/>
          <p:nvPr/>
        </p:nvSpPr>
        <p:spPr>
          <a:xfrm>
            <a:off x="400050" y="1360438"/>
            <a:ext cx="0" cy="1407468"/>
          </a:xfrm>
          <a:prstGeom prst="line">
            <a:avLst/>
          </a:prstGeom>
          <a:noFill/>
          <a:ln w="38100">
            <a:solidFill>
              <a:srgbClr val="059669"/>
            </a:solidFill>
            <a:prstDash val="solid"/>
          </a:ln>
        </p:spPr>
        <p:txBody>
          <a:bodyPr/>
          <a:lstStyle/>
          <a:p>
            <a:endParaRPr lang="en-US"/>
          </a:p>
        </p:txBody>
      </p:sp>
      <p:sp>
        <p:nvSpPr>
          <p:cNvPr id="7" name="Text 5"/>
          <p:cNvSpPr/>
          <p:nvPr/>
        </p:nvSpPr>
        <p:spPr>
          <a:xfrm>
            <a:off x="533400"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059669"/>
                </a:solidFill>
                <a:latin typeface="Arial" pitchFamily="34" charset="0"/>
                <a:ea typeface="Arial" pitchFamily="34" charset="-122"/>
                <a:cs typeface="Arial" pitchFamily="34" charset="-120"/>
              </a:rPr>
              <a:t>LOCAL (SAFE)</a:t>
            </a:r>
            <a:endParaRPr lang="en-US" sz="825" dirty="0"/>
          </a:p>
        </p:txBody>
      </p:sp>
      <p:sp>
        <p:nvSpPr>
          <p:cNvPr id="8" name="Text 6"/>
          <p:cNvSpPr/>
          <p:nvPr/>
        </p:nvSpPr>
        <p:spPr>
          <a:xfrm>
            <a:off x="533400"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166534"/>
                </a:solidFill>
                <a:latin typeface="Arial" pitchFamily="34" charset="0"/>
                <a:ea typeface="Arial" pitchFamily="34" charset="-122"/>
                <a:cs typeface="Arial" pitchFamily="34" charset="-120"/>
              </a:rPr>
              <a:t>Your Device Only</a:t>
            </a:r>
            <a:endParaRPr lang="en-US" sz="750" dirty="0"/>
          </a:p>
        </p:txBody>
      </p:sp>
      <p:sp>
        <p:nvSpPr>
          <p:cNvPr id="9" name="Text 7"/>
          <p:cNvSpPr/>
          <p:nvPr/>
        </p:nvSpPr>
        <p:spPr>
          <a:xfrm>
            <a:off x="533400"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SuperWhisper transcription</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WhisperFlow processing</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Ollama local models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Local file operations</a:t>
            </a:r>
            <a:endParaRPr lang="en-US" sz="675" dirty="0"/>
          </a:p>
        </p:txBody>
      </p:sp>
      <p:sp>
        <p:nvSpPr>
          <p:cNvPr id="10" name="Text 8"/>
          <p:cNvSpPr/>
          <p:nvPr/>
        </p:nvSpPr>
        <p:spPr>
          <a:xfrm>
            <a:off x="3206800" y="1360438"/>
            <a:ext cx="2730550" cy="1407468"/>
          </a:xfrm>
          <a:prstGeom prst="rect">
            <a:avLst/>
          </a:prstGeom>
          <a:solidFill>
            <a:srgbClr val="FEF3C7"/>
          </a:solidFill>
          <a:ln/>
        </p:spPr>
        <p:txBody>
          <a:bodyPr wrap="square" rtlCol="0" anchor="ctr"/>
          <a:lstStyle/>
          <a:p>
            <a:pPr marL="0" indent="0">
              <a:buNone/>
            </a:pPr>
            <a:endParaRPr lang="en-US" dirty="0"/>
          </a:p>
        </p:txBody>
      </p:sp>
      <p:sp>
        <p:nvSpPr>
          <p:cNvPr id="11" name="Shape 9"/>
          <p:cNvSpPr/>
          <p:nvPr/>
        </p:nvSpPr>
        <p:spPr>
          <a:xfrm>
            <a:off x="3225850" y="1360438"/>
            <a:ext cx="0" cy="1407468"/>
          </a:xfrm>
          <a:prstGeom prst="line">
            <a:avLst/>
          </a:prstGeom>
          <a:noFill/>
          <a:ln w="38100">
            <a:solidFill>
              <a:srgbClr val="F59E0B"/>
            </a:solidFill>
            <a:prstDash val="solid"/>
          </a:ln>
        </p:spPr>
        <p:txBody>
          <a:bodyPr/>
          <a:lstStyle/>
          <a:p>
            <a:endParaRPr lang="en-US"/>
          </a:p>
        </p:txBody>
      </p:sp>
      <p:sp>
        <p:nvSpPr>
          <p:cNvPr id="12" name="Text 10"/>
          <p:cNvSpPr/>
          <p:nvPr/>
        </p:nvSpPr>
        <p:spPr>
          <a:xfrm>
            <a:off x="3359200"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B45309"/>
                </a:solidFill>
                <a:latin typeface="Arial" pitchFamily="34" charset="0"/>
                <a:ea typeface="Arial" pitchFamily="34" charset="-122"/>
                <a:cs typeface="Arial" pitchFamily="34" charset="-120"/>
              </a:rPr>
              <a:t>CLOUD (VERIFY)</a:t>
            </a:r>
            <a:endParaRPr lang="en-US" sz="825" dirty="0"/>
          </a:p>
        </p:txBody>
      </p:sp>
      <p:sp>
        <p:nvSpPr>
          <p:cNvPr id="13" name="Text 11"/>
          <p:cNvSpPr/>
          <p:nvPr/>
        </p:nvSpPr>
        <p:spPr>
          <a:xfrm>
            <a:off x="3359200"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92400E"/>
                </a:solidFill>
                <a:latin typeface="Arial" pitchFamily="34" charset="0"/>
                <a:ea typeface="Arial" pitchFamily="34" charset="-122"/>
                <a:cs typeface="Arial" pitchFamily="34" charset="-120"/>
              </a:rPr>
              <a:t>Enterprise Approved</a:t>
            </a:r>
            <a:endParaRPr lang="en-US" sz="750" dirty="0"/>
          </a:p>
        </p:txBody>
      </p:sp>
      <p:sp>
        <p:nvSpPr>
          <p:cNvPr id="14" name="Text 12"/>
          <p:cNvSpPr/>
          <p:nvPr/>
        </p:nvSpPr>
        <p:spPr>
          <a:xfrm>
            <a:off x="3359200"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Azure OpenAI (with BAA)</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GCC/GCC-High endpoints</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Palantir Foundry</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GitHub Enterprise</a:t>
            </a:r>
            <a:endParaRPr lang="en-US" sz="675" dirty="0"/>
          </a:p>
        </p:txBody>
      </p:sp>
      <p:sp>
        <p:nvSpPr>
          <p:cNvPr id="15" name="Text 13"/>
          <p:cNvSpPr/>
          <p:nvPr/>
        </p:nvSpPr>
        <p:spPr>
          <a:xfrm>
            <a:off x="6032599" y="1360438"/>
            <a:ext cx="2730550" cy="1407468"/>
          </a:xfrm>
          <a:prstGeom prst="rect">
            <a:avLst/>
          </a:prstGeom>
          <a:solidFill>
            <a:srgbClr val="FEF2F2"/>
          </a:solidFill>
          <a:ln/>
        </p:spPr>
        <p:txBody>
          <a:bodyPr wrap="square" rtlCol="0" anchor="ctr"/>
          <a:lstStyle/>
          <a:p>
            <a:pPr marL="0" indent="0">
              <a:buNone/>
            </a:pPr>
            <a:endParaRPr lang="en-US" dirty="0"/>
          </a:p>
        </p:txBody>
      </p:sp>
      <p:sp>
        <p:nvSpPr>
          <p:cNvPr id="16" name="Shape 14"/>
          <p:cNvSpPr/>
          <p:nvPr/>
        </p:nvSpPr>
        <p:spPr>
          <a:xfrm>
            <a:off x="6051649" y="1360438"/>
            <a:ext cx="0" cy="1407468"/>
          </a:xfrm>
          <a:prstGeom prst="line">
            <a:avLst/>
          </a:prstGeom>
          <a:noFill/>
          <a:ln w="38100">
            <a:solidFill>
              <a:srgbClr val="DC2626"/>
            </a:solidFill>
            <a:prstDash val="solid"/>
          </a:ln>
        </p:spPr>
        <p:txBody>
          <a:bodyPr/>
          <a:lstStyle/>
          <a:p>
            <a:endParaRPr lang="en-US"/>
          </a:p>
        </p:txBody>
      </p:sp>
      <p:sp>
        <p:nvSpPr>
          <p:cNvPr id="17" name="Text 15"/>
          <p:cNvSpPr/>
          <p:nvPr/>
        </p:nvSpPr>
        <p:spPr>
          <a:xfrm>
            <a:off x="6184999" y="1474738"/>
            <a:ext cx="2513127"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DC2626"/>
                </a:solidFill>
                <a:latin typeface="Arial" pitchFamily="34" charset="0"/>
                <a:ea typeface="Arial" pitchFamily="34" charset="-122"/>
                <a:cs typeface="Arial" pitchFamily="34" charset="-120"/>
              </a:rPr>
              <a:t>PUBLIC (CAUTION)</a:t>
            </a:r>
            <a:endParaRPr lang="en-US" sz="825" dirty="0"/>
          </a:p>
        </p:txBody>
      </p:sp>
      <p:sp>
        <p:nvSpPr>
          <p:cNvPr id="18" name="Text 16"/>
          <p:cNvSpPr/>
          <p:nvPr/>
        </p:nvSpPr>
        <p:spPr>
          <a:xfrm>
            <a:off x="6184999" y="1849934"/>
            <a:ext cx="2513127" cy="133350"/>
          </a:xfrm>
          <a:prstGeom prst="rect">
            <a:avLst/>
          </a:prstGeom>
          <a:noFill/>
          <a:ln/>
        </p:spPr>
        <p:txBody>
          <a:bodyPr wrap="square" lIns="0" tIns="0" rIns="0" bIns="0" rtlCol="0" anchor="t"/>
          <a:lstStyle/>
          <a:p>
            <a:pPr marL="0" indent="0" algn="l">
              <a:lnSpc>
                <a:spcPts val="1050"/>
              </a:lnSpc>
              <a:spcAft>
                <a:spcPts val="300"/>
              </a:spcAft>
              <a:buNone/>
            </a:pPr>
            <a:r>
              <a:rPr lang="en-US" sz="750" dirty="0">
                <a:solidFill>
                  <a:srgbClr val="991B1B"/>
                </a:solidFill>
                <a:latin typeface="Arial" pitchFamily="34" charset="0"/>
                <a:ea typeface="Arial" pitchFamily="34" charset="-122"/>
                <a:cs typeface="Arial" pitchFamily="34" charset="-120"/>
              </a:rPr>
              <a:t>Not for PHI</a:t>
            </a:r>
            <a:endParaRPr lang="en-US" sz="750" dirty="0"/>
          </a:p>
        </p:txBody>
      </p:sp>
      <p:sp>
        <p:nvSpPr>
          <p:cNvPr id="19" name="Text 17"/>
          <p:cNvSpPr/>
          <p:nvPr/>
        </p:nvSpPr>
        <p:spPr>
          <a:xfrm>
            <a:off x="6184999" y="2173784"/>
            <a:ext cx="2513127" cy="479822"/>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OpenAI API direct</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Anthropic API direct</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Claude.ai free tier</a:t>
            </a:r>
            <a:endParaRPr lang="en-US" sz="675" dirty="0"/>
          </a:p>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ChatGPT consumer</a:t>
            </a:r>
            <a:endParaRPr lang="en-US" sz="675" dirty="0"/>
          </a:p>
        </p:txBody>
      </p:sp>
      <p:sp>
        <p:nvSpPr>
          <p:cNvPr id="20" name="Text 18"/>
          <p:cNvSpPr/>
          <p:nvPr/>
        </p:nvSpPr>
        <p:spPr>
          <a:xfrm>
            <a:off x="381000" y="3034605"/>
            <a:ext cx="8382000" cy="1047601"/>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542925" y="3196530"/>
            <a:ext cx="8219313" cy="146596"/>
          </a:xfrm>
          <a:prstGeom prst="rect">
            <a:avLst/>
          </a:prstGeom>
          <a:noFill/>
          <a:ln/>
        </p:spPr>
        <p:txBody>
          <a:bodyPr wrap="square" lIns="0" tIns="0" rIns="0" bIns="0" rtlCol="0" anchor="t"/>
          <a:lstStyle/>
          <a:p>
            <a:pPr marL="0" indent="0" algn="l">
              <a:lnSpc>
                <a:spcPts val="1155"/>
              </a:lnSpc>
              <a:spcAft>
                <a:spcPts val="750"/>
              </a:spcAft>
              <a:buNone/>
            </a:pPr>
            <a:r>
              <a:rPr lang="en-US" sz="825" b="1" dirty="0">
                <a:solidFill>
                  <a:srgbClr val="1A1F2E"/>
                </a:solidFill>
                <a:latin typeface="Arial" pitchFamily="34" charset="0"/>
                <a:ea typeface="Arial" pitchFamily="34" charset="-122"/>
                <a:cs typeface="Arial" pitchFamily="34" charset="-120"/>
              </a:rPr>
              <a:t>TYPICAL VOICE WORKFLOW DATA FLOW</a:t>
            </a:r>
            <a:endParaRPr lang="en-US" sz="825" dirty="0"/>
          </a:p>
        </p:txBody>
      </p:sp>
      <p:sp>
        <p:nvSpPr>
          <p:cNvPr id="22" name="Text 20"/>
          <p:cNvSpPr/>
          <p:nvPr/>
        </p:nvSpPr>
        <p:spPr>
          <a:xfrm>
            <a:off x="2590502" y="3447901"/>
            <a:ext cx="699939" cy="247650"/>
          </a:xfrm>
          <a:prstGeom prst="rect">
            <a:avLst/>
          </a:prstGeom>
          <a:solidFill>
            <a:srgbClr val="DCFCE7"/>
          </a:solidFill>
          <a:ln/>
        </p:spPr>
        <p:txBody>
          <a:bodyPr wrap="square" rtlCol="0" anchor="ctr"/>
          <a:lstStyle/>
          <a:p>
            <a:pPr marL="0" indent="0">
              <a:buNone/>
            </a:pPr>
            <a:endParaRPr lang="en-US" dirty="0"/>
          </a:p>
        </p:txBody>
      </p:sp>
      <p:sp>
        <p:nvSpPr>
          <p:cNvPr id="23" name="Text 21"/>
          <p:cNvSpPr/>
          <p:nvPr/>
        </p:nvSpPr>
        <p:spPr>
          <a:xfrm>
            <a:off x="2704802" y="3505051"/>
            <a:ext cx="480765"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Voice Input</a:t>
            </a:r>
            <a:endParaRPr lang="en-US" sz="750" dirty="0"/>
          </a:p>
        </p:txBody>
      </p:sp>
      <p:sp>
        <p:nvSpPr>
          <p:cNvPr id="24" name="Text 22"/>
          <p:cNvSpPr/>
          <p:nvPr/>
        </p:nvSpPr>
        <p:spPr>
          <a:xfrm>
            <a:off x="3347591"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5" name="Text 23"/>
          <p:cNvSpPr/>
          <p:nvPr/>
        </p:nvSpPr>
        <p:spPr>
          <a:xfrm>
            <a:off x="3579465" y="3447901"/>
            <a:ext cx="832098" cy="247650"/>
          </a:xfrm>
          <a:prstGeom prst="rect">
            <a:avLst/>
          </a:prstGeom>
          <a:solidFill>
            <a:srgbClr val="DCFCE7"/>
          </a:solidFill>
          <a:ln/>
        </p:spPr>
        <p:txBody>
          <a:bodyPr wrap="square" rtlCol="0" anchor="ctr"/>
          <a:lstStyle/>
          <a:p>
            <a:pPr marL="0" indent="0">
              <a:buNone/>
            </a:pPr>
            <a:endParaRPr lang="en-US" dirty="0"/>
          </a:p>
        </p:txBody>
      </p:sp>
      <p:sp>
        <p:nvSpPr>
          <p:cNvPr id="26" name="Text 24"/>
          <p:cNvSpPr/>
          <p:nvPr/>
        </p:nvSpPr>
        <p:spPr>
          <a:xfrm>
            <a:off x="3693765" y="3505051"/>
            <a:ext cx="615568"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Local Whisper</a:t>
            </a:r>
            <a:endParaRPr lang="en-US" sz="750" dirty="0"/>
          </a:p>
        </p:txBody>
      </p:sp>
      <p:sp>
        <p:nvSpPr>
          <p:cNvPr id="27" name="Text 25"/>
          <p:cNvSpPr/>
          <p:nvPr/>
        </p:nvSpPr>
        <p:spPr>
          <a:xfrm>
            <a:off x="4468713"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28" name="Text 26"/>
          <p:cNvSpPr/>
          <p:nvPr/>
        </p:nvSpPr>
        <p:spPr>
          <a:xfrm>
            <a:off x="4700588" y="3447901"/>
            <a:ext cx="853380" cy="247650"/>
          </a:xfrm>
          <a:prstGeom prst="rect">
            <a:avLst/>
          </a:prstGeom>
          <a:solidFill>
            <a:srgbClr val="FEF3C7"/>
          </a:solidFill>
          <a:ln/>
        </p:spPr>
        <p:txBody>
          <a:bodyPr wrap="square" rtlCol="0" anchor="ctr"/>
          <a:lstStyle/>
          <a:p>
            <a:pPr marL="0" indent="0">
              <a:buNone/>
            </a:pPr>
            <a:endParaRPr lang="en-US" dirty="0"/>
          </a:p>
        </p:txBody>
      </p:sp>
      <p:sp>
        <p:nvSpPr>
          <p:cNvPr id="29" name="Text 27"/>
          <p:cNvSpPr/>
          <p:nvPr/>
        </p:nvSpPr>
        <p:spPr>
          <a:xfrm>
            <a:off x="4814888" y="3505051"/>
            <a:ext cx="637276" cy="133350"/>
          </a:xfrm>
          <a:prstGeom prst="rect">
            <a:avLst/>
          </a:prstGeom>
          <a:noFill/>
          <a:ln/>
        </p:spPr>
        <p:txBody>
          <a:bodyPr wrap="square" lIns="0" tIns="0" rIns="0" bIns="0" rtlCol="0" anchor="t"/>
          <a:lstStyle/>
          <a:p>
            <a:pPr marL="0" indent="0" algn="l">
              <a:lnSpc>
                <a:spcPts val="1050"/>
              </a:lnSpc>
              <a:buNone/>
            </a:pPr>
            <a:r>
              <a:rPr lang="en-US" sz="750" dirty="0">
                <a:solidFill>
                  <a:srgbClr val="92400E"/>
                </a:solidFill>
                <a:latin typeface="Arial" pitchFamily="34" charset="0"/>
                <a:ea typeface="Arial" pitchFamily="34" charset="-122"/>
                <a:cs typeface="Arial" pitchFamily="34" charset="-120"/>
              </a:rPr>
              <a:t>AI Processing*</a:t>
            </a:r>
            <a:endParaRPr lang="en-US" sz="750" dirty="0"/>
          </a:p>
        </p:txBody>
      </p:sp>
      <p:sp>
        <p:nvSpPr>
          <p:cNvPr id="30" name="Text 28"/>
          <p:cNvSpPr/>
          <p:nvPr/>
        </p:nvSpPr>
        <p:spPr>
          <a:xfrm>
            <a:off x="5611118" y="3438376"/>
            <a:ext cx="178219" cy="266700"/>
          </a:xfrm>
          <a:prstGeom prst="rect">
            <a:avLst/>
          </a:prstGeom>
          <a:noFill/>
          <a:ln/>
        </p:spPr>
        <p:txBody>
          <a:bodyPr wrap="square" lIns="0" tIns="0" rIns="0" bIns="0" rtlCol="0" anchor="t"/>
          <a:lstStyle/>
          <a:p>
            <a:pPr marL="0" indent="0" algn="l">
              <a:lnSpc>
                <a:spcPts val="2100"/>
              </a:lnSpc>
              <a:buNone/>
            </a:pPr>
            <a:r>
              <a:rPr lang="en-US" sz="1500" dirty="0">
                <a:solidFill>
                  <a:srgbClr val="6B7280"/>
                </a:solidFill>
                <a:latin typeface="Arial" pitchFamily="34" charset="0"/>
                <a:ea typeface="Arial" pitchFamily="34" charset="-122"/>
                <a:cs typeface="Arial" pitchFamily="34" charset="-120"/>
              </a:rPr>
              <a:t>-&gt;</a:t>
            </a:r>
            <a:endParaRPr lang="en-US" sz="1500" dirty="0"/>
          </a:p>
        </p:txBody>
      </p:sp>
      <p:sp>
        <p:nvSpPr>
          <p:cNvPr id="31" name="Text 29"/>
          <p:cNvSpPr/>
          <p:nvPr/>
        </p:nvSpPr>
        <p:spPr>
          <a:xfrm>
            <a:off x="5842992" y="3447901"/>
            <a:ext cx="710505" cy="247650"/>
          </a:xfrm>
          <a:prstGeom prst="rect">
            <a:avLst/>
          </a:prstGeom>
          <a:solidFill>
            <a:srgbClr val="DCFCE7"/>
          </a:solidFill>
          <a:ln/>
        </p:spPr>
        <p:txBody>
          <a:bodyPr wrap="square" rtlCol="0" anchor="ctr"/>
          <a:lstStyle/>
          <a:p>
            <a:pPr marL="0" indent="0">
              <a:buNone/>
            </a:pPr>
            <a:endParaRPr lang="en-US" dirty="0"/>
          </a:p>
        </p:txBody>
      </p:sp>
      <p:sp>
        <p:nvSpPr>
          <p:cNvPr id="32" name="Text 30"/>
          <p:cNvSpPr/>
          <p:nvPr/>
        </p:nvSpPr>
        <p:spPr>
          <a:xfrm>
            <a:off x="5957292" y="3505051"/>
            <a:ext cx="491544" cy="133350"/>
          </a:xfrm>
          <a:prstGeom prst="rect">
            <a:avLst/>
          </a:prstGeom>
          <a:noFill/>
          <a:ln/>
        </p:spPr>
        <p:txBody>
          <a:bodyPr wrap="square" lIns="0" tIns="0" rIns="0" bIns="0" rtlCol="0" anchor="t"/>
          <a:lstStyle/>
          <a:p>
            <a:pPr marL="0" indent="0" algn="l">
              <a:lnSpc>
                <a:spcPts val="1050"/>
              </a:lnSpc>
              <a:buNone/>
            </a:pPr>
            <a:r>
              <a:rPr lang="en-US" sz="750" dirty="0">
                <a:solidFill>
                  <a:srgbClr val="166534"/>
                </a:solidFill>
                <a:latin typeface="Arial" pitchFamily="34" charset="0"/>
                <a:ea typeface="Arial" pitchFamily="34" charset="-122"/>
                <a:cs typeface="Arial" pitchFamily="34" charset="-120"/>
              </a:rPr>
              <a:t>Local Code</a:t>
            </a:r>
            <a:endParaRPr lang="en-US" sz="750" dirty="0"/>
          </a:p>
        </p:txBody>
      </p:sp>
      <p:sp>
        <p:nvSpPr>
          <p:cNvPr id="33" name="Text 31"/>
          <p:cNvSpPr/>
          <p:nvPr/>
        </p:nvSpPr>
        <p:spPr>
          <a:xfrm>
            <a:off x="462344" y="3800326"/>
            <a:ext cx="8219313" cy="119955"/>
          </a:xfrm>
          <a:prstGeom prst="rect">
            <a:avLst/>
          </a:prstGeom>
          <a:noFill/>
          <a:ln/>
        </p:spPr>
        <p:txBody>
          <a:bodyPr wrap="square" lIns="0" tIns="0" rIns="0" bIns="0" rtlCol="0" anchor="t"/>
          <a:lstStyle/>
          <a:p>
            <a:pPr marL="0" indent="0" algn="ctr">
              <a:lnSpc>
                <a:spcPts val="945"/>
              </a:lnSpc>
              <a:spcBef>
                <a:spcPts val="750"/>
              </a:spcBef>
              <a:buNone/>
            </a:pPr>
            <a:r>
              <a:rPr lang="en-US" sz="675" dirty="0">
                <a:solidFill>
                  <a:srgbClr val="6B7280"/>
                </a:solidFill>
                <a:latin typeface="Arial" pitchFamily="34" charset="0"/>
                <a:ea typeface="Arial" pitchFamily="34" charset="-122"/>
                <a:cs typeface="Arial" pitchFamily="34" charset="-120"/>
              </a:rPr>
              <a:t>*AI processing can be local (Ollama) or cloud (Azure OpenAI) - know which you're using</a:t>
            </a:r>
            <a:endParaRPr lang="en-US" sz="675" dirty="0"/>
          </a:p>
        </p:txBody>
      </p:sp>
      <p:sp>
        <p:nvSpPr>
          <p:cNvPr id="34" name="Text 32"/>
          <p:cNvSpPr/>
          <p:nvPr/>
        </p:nvSpPr>
        <p:spPr>
          <a:xfrm>
            <a:off x="381000" y="4348907"/>
            <a:ext cx="8382000" cy="375196"/>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13766" y="4463207"/>
            <a:ext cx="8316468" cy="146596"/>
          </a:xfrm>
          <a:prstGeom prst="rect">
            <a:avLst/>
          </a:prstGeom>
          <a:noFill/>
          <a:ln/>
        </p:spPr>
        <p:txBody>
          <a:bodyPr wrap="square" lIns="0" tIns="0" rIns="0" bIns="0" rtlCol="0" anchor="t"/>
          <a:lstStyle/>
          <a:p>
            <a:pPr marL="0" indent="0" algn="ctr">
              <a:lnSpc>
                <a:spcPts val="1155"/>
              </a:lnSpc>
              <a:buNone/>
            </a:pPr>
            <a:r>
              <a:rPr lang="en-US" sz="825" b="1" dirty="0">
                <a:solidFill>
                  <a:srgbClr val="C9A227"/>
                </a:solidFill>
                <a:latin typeface="Arial" pitchFamily="34" charset="0"/>
                <a:ea typeface="Arial" pitchFamily="34" charset="-122"/>
                <a:cs typeface="Arial" pitchFamily="34" charset="-120"/>
              </a:rPr>
              <a:t>Always know where your data flows before including sensitive information</a:t>
            </a:r>
            <a:endParaRPr lang="en-US" sz="8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047679" cy="5143500"/>
          </a:xfrm>
          <a:prstGeom prst="rect">
            <a:avLst/>
          </a:prstGeom>
          <a:solidFill>
            <a:srgbClr val="DC2626"/>
          </a:solidFill>
          <a:ln/>
        </p:spPr>
        <p:txBody>
          <a:bodyPr wrap="square" rtlCol="0" anchor="ctr"/>
          <a:lstStyle/>
          <a:p>
            <a:pPr marL="0" indent="0">
              <a:buNone/>
            </a:pPr>
            <a:endParaRPr lang="en-US" dirty="0"/>
          </a:p>
        </p:txBody>
      </p:sp>
      <p:sp>
        <p:nvSpPr>
          <p:cNvPr id="3" name="Text 1"/>
          <p:cNvSpPr/>
          <p:nvPr/>
        </p:nvSpPr>
        <p:spPr>
          <a:xfrm>
            <a:off x="381000" y="1331714"/>
            <a:ext cx="762000" cy="762000"/>
          </a:xfrm>
          <a:prstGeom prst="rect">
            <a:avLst/>
          </a:prstGeom>
          <a:solidFill>
            <a:srgbClr val="FFFFFF"/>
          </a:solidFill>
          <a:ln/>
        </p:spPr>
        <p:txBody>
          <a:bodyPr wrap="square" rtlCol="0" anchor="ctr"/>
          <a:lstStyle/>
          <a:p>
            <a:pPr marL="0" indent="0">
              <a:buNone/>
            </a:pPr>
            <a:endParaRPr lang="en-US" dirty="0"/>
          </a:p>
        </p:txBody>
      </p:sp>
      <p:sp>
        <p:nvSpPr>
          <p:cNvPr id="4" name="Text 2"/>
          <p:cNvSpPr/>
          <p:nvPr/>
        </p:nvSpPr>
        <p:spPr>
          <a:xfrm>
            <a:off x="685800" y="1392734"/>
            <a:ext cx="155296" cy="639961"/>
          </a:xfrm>
          <a:prstGeom prst="rect">
            <a:avLst/>
          </a:prstGeom>
          <a:noFill/>
          <a:ln/>
        </p:spPr>
        <p:txBody>
          <a:bodyPr wrap="square" lIns="0" tIns="0" rIns="0" bIns="0" rtlCol="0" anchor="t"/>
          <a:lstStyle/>
          <a:p>
            <a:pPr marL="0" indent="0" algn="l">
              <a:lnSpc>
                <a:spcPts val="5040"/>
              </a:lnSpc>
              <a:buNone/>
            </a:pPr>
            <a:r>
              <a:rPr lang="en-US" sz="3600" b="1" dirty="0">
                <a:solidFill>
                  <a:srgbClr val="DC2626"/>
                </a:solidFill>
                <a:latin typeface="Georgia" pitchFamily="34" charset="0"/>
                <a:ea typeface="Georgia" pitchFamily="34" charset="-122"/>
                <a:cs typeface="Georgia" pitchFamily="34" charset="-120"/>
              </a:rPr>
              <a:t>!</a:t>
            </a:r>
            <a:endParaRPr lang="en-US" sz="3600" dirty="0"/>
          </a:p>
        </p:txBody>
      </p:sp>
      <p:sp>
        <p:nvSpPr>
          <p:cNvPr id="5" name="Text 3"/>
          <p:cNvSpPr/>
          <p:nvPr/>
        </p:nvSpPr>
        <p:spPr>
          <a:xfrm>
            <a:off x="381000" y="2436614"/>
            <a:ext cx="2253996" cy="319980"/>
          </a:xfrm>
          <a:prstGeom prst="rect">
            <a:avLst/>
          </a:prstGeom>
          <a:noFill/>
          <a:ln/>
        </p:spPr>
        <p:txBody>
          <a:bodyPr wrap="square" lIns="0" tIns="0" rIns="0" bIns="0" rtlCol="0" anchor="t"/>
          <a:lstStyle/>
          <a:p>
            <a:pPr marL="0" indent="0" algn="l">
              <a:lnSpc>
                <a:spcPts val="2520"/>
              </a:lnSpc>
              <a:spcAft>
                <a:spcPts val="1200"/>
              </a:spcAft>
              <a:buNone/>
            </a:pPr>
            <a:r>
              <a:rPr lang="en-US" sz="2100" dirty="0">
                <a:solidFill>
                  <a:srgbClr val="FFFFFF"/>
                </a:solidFill>
                <a:latin typeface="Georgia" pitchFamily="34" charset="0"/>
                <a:ea typeface="Georgia" pitchFamily="34" charset="-122"/>
                <a:cs typeface="Georgia" pitchFamily="34" charset="-120"/>
              </a:rPr>
              <a:t>PHI Handling Guide</a:t>
            </a:r>
            <a:endParaRPr lang="en-US" sz="2100" dirty="0"/>
          </a:p>
        </p:txBody>
      </p:sp>
      <p:sp>
        <p:nvSpPr>
          <p:cNvPr id="6" name="Text 4"/>
          <p:cNvSpPr/>
          <p:nvPr/>
        </p:nvSpPr>
        <p:spPr>
          <a:xfrm>
            <a:off x="381000" y="3061395"/>
            <a:ext cx="457200" cy="19050"/>
          </a:xfrm>
          <a:prstGeom prst="rect">
            <a:avLst/>
          </a:prstGeom>
          <a:solidFill>
            <a:srgbClr val="FFFFFF"/>
          </a:solidFill>
          <a:ln/>
        </p:spPr>
        <p:txBody>
          <a:bodyPr wrap="square" rtlCol="0" anchor="ctr"/>
          <a:lstStyle/>
          <a:p>
            <a:pPr marL="0" indent="0">
              <a:buNone/>
            </a:pPr>
            <a:endParaRPr lang="en-US" dirty="0"/>
          </a:p>
        </p:txBody>
      </p:sp>
      <p:sp>
        <p:nvSpPr>
          <p:cNvPr id="7" name="Text 5"/>
          <p:cNvSpPr/>
          <p:nvPr/>
        </p:nvSpPr>
        <p:spPr>
          <a:xfrm>
            <a:off x="381000" y="3385245"/>
            <a:ext cx="3351392" cy="426541"/>
          </a:xfrm>
          <a:prstGeom prst="rect">
            <a:avLst/>
          </a:prstGeom>
          <a:noFill/>
          <a:ln/>
        </p:spPr>
        <p:txBody>
          <a:bodyPr wrap="square" lIns="0" tIns="0" rIns="0" bIns="0" rtlCol="0" anchor="t"/>
          <a:lstStyle/>
          <a:p>
            <a:pPr marL="0" indent="0" algn="l">
              <a:lnSpc>
                <a:spcPts val="1680"/>
              </a:lnSpc>
              <a:buNone/>
            </a:pPr>
            <a:r>
              <a:rPr lang="en-US" sz="1050" dirty="0">
                <a:solidFill>
                  <a:srgbClr val="FFFFFF">
                    <a:alpha val="90000"/>
                  </a:srgbClr>
                </a:solidFill>
                <a:latin typeface="Arial" pitchFamily="34" charset="0"/>
                <a:ea typeface="Arial" pitchFamily="34" charset="-122"/>
                <a:cs typeface="Arial" pitchFamily="34" charset="-120"/>
              </a:rPr>
              <a:t>Protected Health Information requires special handling. Know your boundaries.</a:t>
            </a:r>
            <a:endParaRPr lang="en-US" sz="1050" dirty="0"/>
          </a:p>
        </p:txBody>
      </p:sp>
      <p:sp>
        <p:nvSpPr>
          <p:cNvPr id="8" name="Text 6"/>
          <p:cNvSpPr/>
          <p:nvPr/>
        </p:nvSpPr>
        <p:spPr>
          <a:xfrm>
            <a:off x="4200079" y="0"/>
            <a:ext cx="4943921" cy="5143500"/>
          </a:xfrm>
          <a:prstGeom prst="rect">
            <a:avLst/>
          </a:prstGeom>
          <a:solidFill>
            <a:srgbClr val="F7F8FA"/>
          </a:solidFill>
          <a:ln/>
        </p:spPr>
        <p:txBody>
          <a:bodyPr wrap="square" rtlCol="0" anchor="ctr"/>
          <a:lstStyle/>
          <a:p>
            <a:pPr marL="0" indent="0">
              <a:buNone/>
            </a:pPr>
            <a:endParaRPr lang="en-US" dirty="0"/>
          </a:p>
        </p:txBody>
      </p:sp>
      <p:sp>
        <p:nvSpPr>
          <p:cNvPr id="9" name="Text 7"/>
          <p:cNvSpPr/>
          <p:nvPr/>
        </p:nvSpPr>
        <p:spPr>
          <a:xfrm>
            <a:off x="4581079" y="404366"/>
            <a:ext cx="4181921" cy="1331119"/>
          </a:xfrm>
          <a:prstGeom prst="rect">
            <a:avLst/>
          </a:prstGeom>
          <a:solidFill>
            <a:srgbClr val="059669"/>
          </a:solidFill>
          <a:ln/>
        </p:spPr>
        <p:txBody>
          <a:bodyPr wrap="square" rtlCol="0" anchor="ctr"/>
          <a:lstStyle/>
          <a:p>
            <a:pPr marL="0" indent="0">
              <a:buNone/>
            </a:pPr>
            <a:endParaRPr lang="en-US" dirty="0"/>
          </a:p>
        </p:txBody>
      </p:sp>
      <p:sp>
        <p:nvSpPr>
          <p:cNvPr id="10" name="Text 8"/>
          <p:cNvSpPr/>
          <p:nvPr/>
        </p:nvSpPr>
        <p:spPr>
          <a:xfrm>
            <a:off x="4733479" y="556766"/>
            <a:ext cx="3954664"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FFFFFF"/>
                </a:solidFill>
                <a:latin typeface="Arial" pitchFamily="34" charset="0"/>
                <a:ea typeface="Arial" pitchFamily="34" charset="-122"/>
                <a:cs typeface="Arial" pitchFamily="34" charset="-120"/>
              </a:rPr>
              <a:t>SAFE FOR PHI</a:t>
            </a:r>
            <a:endParaRPr lang="en-US" sz="975" dirty="0"/>
          </a:p>
        </p:txBody>
      </p:sp>
      <p:sp>
        <p:nvSpPr>
          <p:cNvPr id="11" name="Text 9"/>
          <p:cNvSpPr/>
          <p:nvPr/>
        </p:nvSpPr>
        <p:spPr>
          <a:xfrm>
            <a:off x="4733479" y="806202"/>
            <a:ext cx="3954664"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SuperWhisper / WhisperFlow (local processing)</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Ollama with local models</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Azure OpenAI with BAA in place*</a:t>
            </a:r>
            <a:endParaRPr lang="en-US" sz="900" dirty="0"/>
          </a:p>
          <a:p>
            <a:pPr marL="0" indent="0" algn="l">
              <a:lnSpc>
                <a:spcPts val="1530"/>
              </a:lnSpc>
              <a:buNone/>
            </a:pPr>
            <a:r>
              <a:rPr lang="en-US" sz="900" dirty="0">
                <a:solidFill>
                  <a:srgbClr val="FFFFFF">
                    <a:alpha val="90000"/>
                  </a:srgbClr>
                </a:solidFill>
                <a:latin typeface="Arial" pitchFamily="34" charset="0"/>
                <a:ea typeface="Arial" pitchFamily="34" charset="-122"/>
                <a:cs typeface="Arial" pitchFamily="34" charset="-120"/>
              </a:rPr>
              <a:t>Air-gapped systems</a:t>
            </a:r>
            <a:endParaRPr lang="en-US" sz="900" dirty="0"/>
          </a:p>
        </p:txBody>
      </p:sp>
      <p:sp>
        <p:nvSpPr>
          <p:cNvPr id="12" name="Text 10"/>
          <p:cNvSpPr/>
          <p:nvPr/>
        </p:nvSpPr>
        <p:spPr>
          <a:xfrm>
            <a:off x="4581079" y="1849785"/>
            <a:ext cx="4181921" cy="1331119"/>
          </a:xfrm>
          <a:prstGeom prst="rect">
            <a:avLst/>
          </a:prstGeom>
          <a:solidFill>
            <a:srgbClr val="FEF2F2"/>
          </a:solidFill>
          <a:ln/>
        </p:spPr>
        <p:txBody>
          <a:bodyPr wrap="square" rtlCol="0" anchor="ctr"/>
          <a:lstStyle/>
          <a:p>
            <a:pPr marL="0" indent="0">
              <a:buNone/>
            </a:pPr>
            <a:endParaRPr lang="en-US" dirty="0"/>
          </a:p>
        </p:txBody>
      </p:sp>
      <p:sp>
        <p:nvSpPr>
          <p:cNvPr id="13" name="Shape 11"/>
          <p:cNvSpPr/>
          <p:nvPr/>
        </p:nvSpPr>
        <p:spPr>
          <a:xfrm>
            <a:off x="4600129" y="1849785"/>
            <a:ext cx="0" cy="1331119"/>
          </a:xfrm>
          <a:prstGeom prst="line">
            <a:avLst/>
          </a:prstGeom>
          <a:noFill/>
          <a:ln w="38100">
            <a:solidFill>
              <a:srgbClr val="DC2626"/>
            </a:solidFill>
            <a:prstDash val="solid"/>
          </a:ln>
        </p:spPr>
        <p:txBody>
          <a:bodyPr/>
          <a:lstStyle/>
          <a:p>
            <a:endParaRPr lang="en-US"/>
          </a:p>
        </p:txBody>
      </p:sp>
      <p:sp>
        <p:nvSpPr>
          <p:cNvPr id="14" name="Text 12"/>
          <p:cNvSpPr/>
          <p:nvPr/>
        </p:nvSpPr>
        <p:spPr>
          <a:xfrm>
            <a:off x="4771579" y="2002185"/>
            <a:ext cx="3915802"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991B1B"/>
                </a:solidFill>
                <a:latin typeface="Arial" pitchFamily="34" charset="0"/>
                <a:ea typeface="Arial" pitchFamily="34" charset="-122"/>
                <a:cs typeface="Arial" pitchFamily="34" charset="-120"/>
              </a:rPr>
              <a:t>NOT SAFE FOR PHI (without approval)</a:t>
            </a:r>
            <a:endParaRPr lang="en-US" sz="975" dirty="0"/>
          </a:p>
        </p:txBody>
      </p:sp>
      <p:sp>
        <p:nvSpPr>
          <p:cNvPr id="15" name="Text 13"/>
          <p:cNvSpPr/>
          <p:nvPr/>
        </p:nvSpPr>
        <p:spPr>
          <a:xfrm>
            <a:off x="4771579" y="2251621"/>
            <a:ext cx="3915802" cy="776883"/>
          </a:xfrm>
          <a:prstGeom prst="rect">
            <a:avLst/>
          </a:prstGeom>
          <a:noFill/>
          <a:ln/>
        </p:spPr>
        <p:txBody>
          <a:bodyPr wrap="square" lIns="0" tIns="0" rIns="0" bIns="0" rtlCol="0" anchor="t"/>
          <a:lstStyle/>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Direct OpenAI/Anthropic API calls</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Consumer AI tools (ChatGPT, Claude.ai free)</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Cloud-based dictation (default OS settings)</a:t>
            </a:r>
            <a:endParaRPr lang="en-US" sz="900" dirty="0"/>
          </a:p>
          <a:p>
            <a:pPr marL="0" indent="0" algn="l">
              <a:lnSpc>
                <a:spcPts val="1530"/>
              </a:lnSpc>
              <a:buNone/>
            </a:pPr>
            <a:r>
              <a:rPr lang="en-US" sz="900" dirty="0">
                <a:solidFill>
                  <a:srgbClr val="991B1B"/>
                </a:solidFill>
                <a:latin typeface="Arial" pitchFamily="34" charset="0"/>
                <a:ea typeface="Arial" pitchFamily="34" charset="-122"/>
                <a:cs typeface="Arial" pitchFamily="34" charset="-120"/>
              </a:rPr>
              <a:t>Third-party integrations</a:t>
            </a:r>
            <a:endParaRPr lang="en-US" sz="900" dirty="0"/>
          </a:p>
        </p:txBody>
      </p:sp>
      <p:sp>
        <p:nvSpPr>
          <p:cNvPr id="16" name="Text 14"/>
          <p:cNvSpPr/>
          <p:nvPr/>
        </p:nvSpPr>
        <p:spPr>
          <a:xfrm>
            <a:off x="4581079" y="3295204"/>
            <a:ext cx="4181921" cy="916186"/>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4743004" y="3457129"/>
            <a:ext cx="3935233" cy="173236"/>
          </a:xfrm>
          <a:prstGeom prst="rect">
            <a:avLst/>
          </a:prstGeom>
          <a:noFill/>
          <a:ln/>
        </p:spPr>
        <p:txBody>
          <a:bodyPr wrap="square" lIns="0" tIns="0" rIns="0" bIns="0" rtlCol="0" anchor="t"/>
          <a:lstStyle/>
          <a:p>
            <a:pPr marL="0" indent="0" algn="l">
              <a:lnSpc>
                <a:spcPts val="1365"/>
              </a:lnSpc>
              <a:spcAft>
                <a:spcPts val="600"/>
              </a:spcAft>
              <a:buNone/>
            </a:pPr>
            <a:r>
              <a:rPr lang="en-US" sz="975" b="1" dirty="0">
                <a:solidFill>
                  <a:srgbClr val="1A1F2E"/>
                </a:solidFill>
                <a:latin typeface="Arial" pitchFamily="34" charset="0"/>
                <a:ea typeface="Arial" pitchFamily="34" charset="-122"/>
                <a:cs typeface="Arial" pitchFamily="34" charset="-120"/>
              </a:rPr>
              <a:t>PHI INCLUDES</a:t>
            </a:r>
            <a:endParaRPr lang="en-US" sz="975" dirty="0"/>
          </a:p>
        </p:txBody>
      </p:sp>
      <p:sp>
        <p:nvSpPr>
          <p:cNvPr id="18" name="Text 16"/>
          <p:cNvSpPr/>
          <p:nvPr/>
        </p:nvSpPr>
        <p:spPr>
          <a:xfrm>
            <a:off x="4743004" y="3706564"/>
            <a:ext cx="3935233" cy="342900"/>
          </a:xfrm>
          <a:prstGeom prst="rect">
            <a:avLst/>
          </a:prstGeom>
          <a:noFill/>
          <a:ln/>
        </p:spPr>
        <p:txBody>
          <a:bodyPr wrap="square" lIns="0" tIns="0" rIns="0" bIns="0" rtlCol="0" anchor="t"/>
          <a:lstStyle/>
          <a:p>
            <a:pPr marL="0" indent="0" algn="l">
              <a:lnSpc>
                <a:spcPts val="1350"/>
              </a:lnSpc>
              <a:buNone/>
            </a:pPr>
            <a:r>
              <a:rPr lang="en-US" sz="900" dirty="0">
                <a:solidFill>
                  <a:srgbClr val="6B7280"/>
                </a:solidFill>
                <a:latin typeface="Arial" pitchFamily="34" charset="0"/>
                <a:ea typeface="Arial" pitchFamily="34" charset="-122"/>
                <a:cs typeface="Arial" pitchFamily="34" charset="-120"/>
              </a:rPr>
              <a:t>Names, dates, addresses, SSN, medical record numbers, health conditions, test results, provider information, any data that could identify a patient</a:t>
            </a:r>
            <a:endParaRPr lang="en-US" sz="900" dirty="0"/>
          </a:p>
        </p:txBody>
      </p:sp>
      <p:sp>
        <p:nvSpPr>
          <p:cNvPr id="19" name="Text 17"/>
          <p:cNvSpPr/>
          <p:nvPr/>
        </p:nvSpPr>
        <p:spPr>
          <a:xfrm>
            <a:off x="4581079" y="4325689"/>
            <a:ext cx="4181921" cy="413296"/>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675276" y="4459039"/>
            <a:ext cx="3993526"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*Always verify BAA status with your compliance team before use</a:t>
            </a:r>
            <a:endParaRPr lang="en-US" sz="8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DC2626"/>
                </a:solidFill>
                <a:latin typeface="Arial" pitchFamily="34" charset="0"/>
                <a:ea typeface="Arial" pitchFamily="34" charset="-122"/>
                <a:cs typeface="Arial" pitchFamily="34" charset="-120"/>
              </a:rPr>
              <a:t>WARNINGS</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FFFFFF"/>
                </a:solidFill>
                <a:latin typeface="Georgia" pitchFamily="34" charset="0"/>
                <a:ea typeface="Georgia" pitchFamily="34" charset="-122"/>
                <a:cs typeface="Georgia" pitchFamily="34" charset="-120"/>
              </a:rPr>
              <a:t>Common Mistakes to Avoid</a:t>
            </a:r>
            <a:endParaRPr lang="en-US" sz="2400" dirty="0"/>
          </a:p>
        </p:txBody>
      </p:sp>
      <p:sp>
        <p:nvSpPr>
          <p:cNvPr id="4" name="Text 2"/>
          <p:cNvSpPr/>
          <p:nvPr/>
        </p:nvSpPr>
        <p:spPr>
          <a:xfrm>
            <a:off x="457200" y="1134814"/>
            <a:ext cx="2803029" cy="3706416"/>
          </a:xfrm>
          <a:prstGeom prst="rect">
            <a:avLst/>
          </a:prstGeom>
          <a:solidFill>
            <a:srgbClr val="FEF2F2"/>
          </a:solidFill>
          <a:ln/>
        </p:spPr>
        <p:txBody>
          <a:bodyPr wrap="square" rtlCol="0" anchor="ctr"/>
          <a:lstStyle/>
          <a:p>
            <a:pPr marL="0" indent="0">
              <a:buNone/>
            </a:pPr>
            <a:endParaRPr lang="en-US" dirty="0"/>
          </a:p>
        </p:txBody>
      </p:sp>
      <p:sp>
        <p:nvSpPr>
          <p:cNvPr id="5" name="Text 3"/>
          <p:cNvSpPr/>
          <p:nvPr/>
        </p:nvSpPr>
        <p:spPr>
          <a:xfrm>
            <a:off x="647700" y="1325314"/>
            <a:ext cx="2470469"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DC2626"/>
                </a:solidFill>
                <a:latin typeface="Arial" pitchFamily="34" charset="0"/>
                <a:ea typeface="Arial" pitchFamily="34" charset="-122"/>
                <a:cs typeface="Arial" pitchFamily="34" charset="-120"/>
              </a:rPr>
              <a:t>NEVER DO THIS</a:t>
            </a:r>
            <a:endParaRPr lang="en-US" sz="975" dirty="0"/>
          </a:p>
        </p:txBody>
      </p:sp>
      <p:sp>
        <p:nvSpPr>
          <p:cNvPr id="6" name="Text 4"/>
          <p:cNvSpPr/>
          <p:nvPr/>
        </p:nvSpPr>
        <p:spPr>
          <a:xfrm>
            <a:off x="647700" y="1784300"/>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Paste PHI into public AI tools</a:t>
            </a:r>
            <a:endParaRPr lang="en-US" sz="900" dirty="0"/>
          </a:p>
        </p:txBody>
      </p:sp>
      <p:sp>
        <p:nvSpPr>
          <p:cNvPr id="7" name="Text 5"/>
          <p:cNvSpPr/>
          <p:nvPr/>
        </p:nvSpPr>
        <p:spPr>
          <a:xfrm>
            <a:off x="647700" y="1982391"/>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ChatGPT, Claude.ai free tier, etc.</a:t>
            </a:r>
            <a:endParaRPr lang="en-US" sz="825" dirty="0"/>
          </a:p>
        </p:txBody>
      </p:sp>
      <p:sp>
        <p:nvSpPr>
          <p:cNvPr id="8" name="Text 6"/>
          <p:cNvSpPr/>
          <p:nvPr/>
        </p:nvSpPr>
        <p:spPr>
          <a:xfrm>
            <a:off x="647700" y="2414736"/>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Include real patient data in prompts</a:t>
            </a:r>
            <a:endParaRPr lang="en-US" sz="900" dirty="0"/>
          </a:p>
        </p:txBody>
      </p:sp>
      <p:sp>
        <p:nvSpPr>
          <p:cNvPr id="9" name="Text 7"/>
          <p:cNvSpPr/>
          <p:nvPr/>
        </p:nvSpPr>
        <p:spPr>
          <a:xfrm>
            <a:off x="647700" y="2612827"/>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Even for "testing" purposes</a:t>
            </a:r>
            <a:endParaRPr lang="en-US" sz="825" dirty="0"/>
          </a:p>
        </p:txBody>
      </p:sp>
      <p:sp>
        <p:nvSpPr>
          <p:cNvPr id="10" name="Text 8"/>
          <p:cNvSpPr/>
          <p:nvPr/>
        </p:nvSpPr>
        <p:spPr>
          <a:xfrm>
            <a:off x="647700" y="3045172"/>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Use cloud dictation for PHI</a:t>
            </a:r>
            <a:endParaRPr lang="en-US" sz="900" dirty="0"/>
          </a:p>
        </p:txBody>
      </p:sp>
      <p:sp>
        <p:nvSpPr>
          <p:cNvPr id="11" name="Text 9"/>
          <p:cNvSpPr/>
          <p:nvPr/>
        </p:nvSpPr>
        <p:spPr>
          <a:xfrm>
            <a:off x="647700" y="3243263"/>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Default OS dictation sends to cloud</a:t>
            </a:r>
            <a:endParaRPr lang="en-US" sz="825" dirty="0"/>
          </a:p>
        </p:txBody>
      </p:sp>
      <p:sp>
        <p:nvSpPr>
          <p:cNvPr id="12" name="Text 10"/>
          <p:cNvSpPr/>
          <p:nvPr/>
        </p:nvSpPr>
        <p:spPr>
          <a:xfrm>
            <a:off x="647700" y="3675608"/>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Share API keys or credentials</a:t>
            </a:r>
            <a:endParaRPr lang="en-US" sz="900" dirty="0"/>
          </a:p>
        </p:txBody>
      </p:sp>
      <p:sp>
        <p:nvSpPr>
          <p:cNvPr id="13" name="Text 11"/>
          <p:cNvSpPr/>
          <p:nvPr/>
        </p:nvSpPr>
        <p:spPr>
          <a:xfrm>
            <a:off x="647700" y="3873698"/>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In code, prompts, or conversations</a:t>
            </a:r>
            <a:endParaRPr lang="en-US" sz="825" dirty="0"/>
          </a:p>
        </p:txBody>
      </p:sp>
      <p:sp>
        <p:nvSpPr>
          <p:cNvPr id="14" name="Text 12"/>
          <p:cNvSpPr/>
          <p:nvPr/>
        </p:nvSpPr>
        <p:spPr>
          <a:xfrm>
            <a:off x="647700" y="4306044"/>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991B1B"/>
                </a:solidFill>
                <a:latin typeface="Arial" pitchFamily="34" charset="0"/>
                <a:ea typeface="Arial" pitchFamily="34" charset="-122"/>
                <a:cs typeface="Arial" pitchFamily="34" charset="-120"/>
              </a:rPr>
              <a:t>Assume "private" means compliant</a:t>
            </a:r>
            <a:endParaRPr lang="en-US" sz="900" dirty="0"/>
          </a:p>
        </p:txBody>
      </p:sp>
      <p:sp>
        <p:nvSpPr>
          <p:cNvPr id="15" name="Text 13"/>
          <p:cNvSpPr/>
          <p:nvPr/>
        </p:nvSpPr>
        <p:spPr>
          <a:xfrm>
            <a:off x="647700" y="4504134"/>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Verify with IT/compliance first</a:t>
            </a:r>
            <a:endParaRPr lang="en-US" sz="825" dirty="0"/>
          </a:p>
        </p:txBody>
      </p:sp>
      <p:sp>
        <p:nvSpPr>
          <p:cNvPr id="16" name="Text 14"/>
          <p:cNvSpPr/>
          <p:nvPr/>
        </p:nvSpPr>
        <p:spPr>
          <a:xfrm>
            <a:off x="3412629" y="1134814"/>
            <a:ext cx="2803029" cy="3706416"/>
          </a:xfrm>
          <a:prstGeom prst="rect">
            <a:avLst/>
          </a:prstGeom>
          <a:solidFill>
            <a:srgbClr val="DCFCE7"/>
          </a:solidFill>
          <a:ln/>
        </p:spPr>
        <p:txBody>
          <a:bodyPr wrap="square" rtlCol="0" anchor="ctr"/>
          <a:lstStyle/>
          <a:p>
            <a:pPr marL="0" indent="0">
              <a:buNone/>
            </a:pPr>
            <a:endParaRPr lang="en-US" dirty="0"/>
          </a:p>
        </p:txBody>
      </p:sp>
      <p:sp>
        <p:nvSpPr>
          <p:cNvPr id="17" name="Text 15"/>
          <p:cNvSpPr/>
          <p:nvPr/>
        </p:nvSpPr>
        <p:spPr>
          <a:xfrm>
            <a:off x="3603129" y="1325314"/>
            <a:ext cx="2470469"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059669"/>
                </a:solidFill>
                <a:latin typeface="Arial" pitchFamily="34" charset="0"/>
                <a:ea typeface="Arial" pitchFamily="34" charset="-122"/>
                <a:cs typeface="Arial" pitchFamily="34" charset="-120"/>
              </a:rPr>
              <a:t>DO THIS INSTEAD</a:t>
            </a:r>
            <a:endParaRPr lang="en-US" sz="975" dirty="0"/>
          </a:p>
        </p:txBody>
      </p:sp>
      <p:sp>
        <p:nvSpPr>
          <p:cNvPr id="18" name="Text 16"/>
          <p:cNvSpPr/>
          <p:nvPr/>
        </p:nvSpPr>
        <p:spPr>
          <a:xfrm>
            <a:off x="3603129" y="1784300"/>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approved enterprise tools</a:t>
            </a:r>
            <a:endParaRPr lang="en-US" sz="900" dirty="0"/>
          </a:p>
        </p:txBody>
      </p:sp>
      <p:sp>
        <p:nvSpPr>
          <p:cNvPr id="19" name="Text 17"/>
          <p:cNvSpPr/>
          <p:nvPr/>
        </p:nvSpPr>
        <p:spPr>
          <a:xfrm>
            <a:off x="3603129" y="1982391"/>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Azure OpenAI, Palantir Foundry</a:t>
            </a:r>
            <a:endParaRPr lang="en-US" sz="825" dirty="0"/>
          </a:p>
        </p:txBody>
      </p:sp>
      <p:sp>
        <p:nvSpPr>
          <p:cNvPr id="20" name="Text 18"/>
          <p:cNvSpPr/>
          <p:nvPr/>
        </p:nvSpPr>
        <p:spPr>
          <a:xfrm>
            <a:off x="3603129" y="2414736"/>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synthetic or anonymized data</a:t>
            </a:r>
            <a:endParaRPr lang="en-US" sz="900" dirty="0"/>
          </a:p>
        </p:txBody>
      </p:sp>
      <p:sp>
        <p:nvSpPr>
          <p:cNvPr id="21" name="Text 19"/>
          <p:cNvSpPr/>
          <p:nvPr/>
        </p:nvSpPr>
        <p:spPr>
          <a:xfrm>
            <a:off x="3603129" y="2612827"/>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For testing and development</a:t>
            </a:r>
            <a:endParaRPr lang="en-US" sz="825" dirty="0"/>
          </a:p>
        </p:txBody>
      </p:sp>
      <p:sp>
        <p:nvSpPr>
          <p:cNvPr id="22" name="Text 20"/>
          <p:cNvSpPr/>
          <p:nvPr/>
        </p:nvSpPr>
        <p:spPr>
          <a:xfrm>
            <a:off x="3603129" y="3045172"/>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local voice transcription</a:t>
            </a:r>
            <a:endParaRPr lang="en-US" sz="900" dirty="0"/>
          </a:p>
        </p:txBody>
      </p:sp>
      <p:sp>
        <p:nvSpPr>
          <p:cNvPr id="23" name="Text 21"/>
          <p:cNvSpPr/>
          <p:nvPr/>
        </p:nvSpPr>
        <p:spPr>
          <a:xfrm>
            <a:off x="3603129" y="3243263"/>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SuperWhisper, WhisperFlow</a:t>
            </a:r>
            <a:endParaRPr lang="en-US" sz="825" dirty="0"/>
          </a:p>
        </p:txBody>
      </p:sp>
      <p:sp>
        <p:nvSpPr>
          <p:cNvPr id="24" name="Text 22"/>
          <p:cNvSpPr/>
          <p:nvPr/>
        </p:nvSpPr>
        <p:spPr>
          <a:xfrm>
            <a:off x="3603129" y="3675608"/>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Use environment variables</a:t>
            </a:r>
            <a:endParaRPr lang="en-US" sz="900" dirty="0"/>
          </a:p>
        </p:txBody>
      </p:sp>
      <p:sp>
        <p:nvSpPr>
          <p:cNvPr id="25" name="Text 23"/>
          <p:cNvSpPr/>
          <p:nvPr/>
        </p:nvSpPr>
        <p:spPr>
          <a:xfrm>
            <a:off x="3603129" y="3873698"/>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Never hardcode credentials</a:t>
            </a:r>
            <a:endParaRPr lang="en-US" sz="825" dirty="0"/>
          </a:p>
        </p:txBody>
      </p:sp>
      <p:sp>
        <p:nvSpPr>
          <p:cNvPr id="26" name="Text 24"/>
          <p:cNvSpPr/>
          <p:nvPr/>
        </p:nvSpPr>
        <p:spPr>
          <a:xfrm>
            <a:off x="3603129" y="4306044"/>
            <a:ext cx="2470469"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66534"/>
                </a:solidFill>
                <a:latin typeface="Arial" pitchFamily="34" charset="0"/>
                <a:ea typeface="Arial" pitchFamily="34" charset="-122"/>
                <a:cs typeface="Arial" pitchFamily="34" charset="-120"/>
              </a:rPr>
              <a:t>Verify compliance before use</a:t>
            </a:r>
            <a:endParaRPr lang="en-US" sz="900" dirty="0"/>
          </a:p>
        </p:txBody>
      </p:sp>
      <p:sp>
        <p:nvSpPr>
          <p:cNvPr id="27" name="Text 25"/>
          <p:cNvSpPr/>
          <p:nvPr/>
        </p:nvSpPr>
        <p:spPr>
          <a:xfrm>
            <a:off x="3603129" y="4504134"/>
            <a:ext cx="2470469" cy="146596"/>
          </a:xfrm>
          <a:prstGeom prst="rect">
            <a:avLst/>
          </a:prstGeom>
          <a:noFill/>
          <a:ln/>
        </p:spPr>
        <p:txBody>
          <a:bodyPr wrap="square" lIns="0" tIns="0" rIns="0" bIns="0" rtlCol="0" anchor="t"/>
          <a:lstStyle/>
          <a:p>
            <a:pPr marL="0" indent="0" algn="l">
              <a:lnSpc>
                <a:spcPts val="1155"/>
              </a:lnSpc>
              <a:buNone/>
            </a:pPr>
            <a:r>
              <a:rPr lang="en-US" sz="825" dirty="0">
                <a:solidFill>
                  <a:srgbClr val="6B7280"/>
                </a:solidFill>
                <a:latin typeface="Arial" pitchFamily="34" charset="0"/>
                <a:ea typeface="Arial" pitchFamily="34" charset="-122"/>
                <a:cs typeface="Arial" pitchFamily="34" charset="-120"/>
              </a:rPr>
              <a:t>Check with IT security team</a:t>
            </a:r>
            <a:endParaRPr lang="en-US" sz="825" dirty="0"/>
          </a:p>
        </p:txBody>
      </p:sp>
      <p:sp>
        <p:nvSpPr>
          <p:cNvPr id="28" name="Text 26"/>
          <p:cNvSpPr/>
          <p:nvPr/>
        </p:nvSpPr>
        <p:spPr>
          <a:xfrm>
            <a:off x="6368058" y="1476524"/>
            <a:ext cx="2318593" cy="3022848"/>
          </a:xfrm>
          <a:prstGeom prst="rect">
            <a:avLst/>
          </a:prstGeom>
          <a:solidFill>
            <a:srgbClr val="252B3D"/>
          </a:solidFill>
          <a:ln/>
        </p:spPr>
        <p:txBody>
          <a:bodyPr wrap="square" rtlCol="0" anchor="ctr"/>
          <a:lstStyle/>
          <a:p>
            <a:pPr marL="0" indent="0">
              <a:buNone/>
            </a:pPr>
            <a:endParaRPr lang="en-US" dirty="0"/>
          </a:p>
        </p:txBody>
      </p:sp>
      <p:sp>
        <p:nvSpPr>
          <p:cNvPr id="29" name="Text 27"/>
          <p:cNvSpPr/>
          <p:nvPr/>
        </p:nvSpPr>
        <p:spPr>
          <a:xfrm>
            <a:off x="6558558" y="1667024"/>
            <a:ext cx="1976345" cy="173236"/>
          </a:xfrm>
          <a:prstGeom prst="rect">
            <a:avLst/>
          </a:prstGeom>
          <a:noFill/>
          <a:ln/>
        </p:spPr>
        <p:txBody>
          <a:bodyPr wrap="square" lIns="0" tIns="0" rIns="0" bIns="0" rtlCol="0" anchor="t"/>
          <a:lstStyle/>
          <a:p>
            <a:pPr marL="0" indent="0" algn="l">
              <a:lnSpc>
                <a:spcPts val="1365"/>
              </a:lnSpc>
              <a:spcAft>
                <a:spcPts val="1200"/>
              </a:spcAft>
              <a:buNone/>
            </a:pPr>
            <a:r>
              <a:rPr lang="en-US" sz="975" b="1" dirty="0">
                <a:solidFill>
                  <a:srgbClr val="C9A227"/>
                </a:solidFill>
                <a:latin typeface="Arial" pitchFamily="34" charset="0"/>
                <a:ea typeface="Arial" pitchFamily="34" charset="-122"/>
                <a:cs typeface="Arial" pitchFamily="34" charset="-120"/>
              </a:rPr>
              <a:t>REMEMBER</a:t>
            </a:r>
            <a:endParaRPr lang="en-US" sz="975" dirty="0"/>
          </a:p>
        </p:txBody>
      </p:sp>
      <p:sp>
        <p:nvSpPr>
          <p:cNvPr id="30" name="Text 28"/>
          <p:cNvSpPr/>
          <p:nvPr/>
        </p:nvSpPr>
        <p:spPr>
          <a:xfrm>
            <a:off x="6558558" y="2145060"/>
            <a:ext cx="1937593" cy="904875"/>
          </a:xfrm>
          <a:prstGeom prst="rect">
            <a:avLst/>
          </a:prstGeom>
          <a:solidFill>
            <a:srgbClr val="1A1F2E"/>
          </a:solidFill>
          <a:ln/>
        </p:spPr>
        <p:txBody>
          <a:bodyPr wrap="square" rtlCol="0" anchor="ctr"/>
          <a:lstStyle/>
          <a:p>
            <a:pPr marL="0" indent="0">
              <a:buNone/>
            </a:pPr>
            <a:endParaRPr lang="en-US" dirty="0"/>
          </a:p>
        </p:txBody>
      </p:sp>
      <p:sp>
        <p:nvSpPr>
          <p:cNvPr id="31" name="Text 29"/>
          <p:cNvSpPr/>
          <p:nvPr/>
        </p:nvSpPr>
        <p:spPr>
          <a:xfrm>
            <a:off x="6710958" y="2297460"/>
            <a:ext cx="1665449" cy="600075"/>
          </a:xfrm>
          <a:prstGeom prst="rect">
            <a:avLst/>
          </a:prstGeom>
          <a:noFill/>
          <a:ln/>
        </p:spPr>
        <p:txBody>
          <a:bodyPr wrap="square" lIns="0" tIns="0" rIns="0" bIns="0" rtlCol="0" anchor="t"/>
          <a:lstStyle/>
          <a:p>
            <a:pPr marL="0" indent="0" algn="l">
              <a:lnSpc>
                <a:spcPts val="1575"/>
              </a:lnSpc>
              <a:buNone/>
            </a:pPr>
            <a:r>
              <a:rPr lang="en-US" sz="1050" dirty="0">
                <a:solidFill>
                  <a:srgbClr val="FFFFFF"/>
                </a:solidFill>
                <a:latin typeface="Georgia" pitchFamily="34" charset="0"/>
                <a:ea typeface="Georgia" pitchFamily="34" charset="-122"/>
                <a:cs typeface="Georgia" pitchFamily="34" charset="-120"/>
              </a:rPr>
              <a:t>"If you wouldn't print it and leave it on a public printer, don't paste it into a public AI."</a:t>
            </a:r>
            <a:endParaRPr lang="en-US" sz="1050" dirty="0"/>
          </a:p>
        </p:txBody>
      </p:sp>
      <p:sp>
        <p:nvSpPr>
          <p:cNvPr id="32" name="Text 30"/>
          <p:cNvSpPr/>
          <p:nvPr/>
        </p:nvSpPr>
        <p:spPr>
          <a:xfrm>
            <a:off x="6558558" y="3354735"/>
            <a:ext cx="1976345" cy="502741"/>
          </a:xfrm>
          <a:prstGeom prst="rect">
            <a:avLst/>
          </a:prstGeom>
          <a:noFill/>
          <a:ln/>
        </p:spPr>
        <p:txBody>
          <a:bodyPr wrap="square" lIns="0" tIns="0" rIns="0" bIns="0" rtlCol="0" anchor="t"/>
          <a:lstStyle/>
          <a:p>
            <a:pPr marL="0" indent="0" algn="l">
              <a:lnSpc>
                <a:spcPts val="1320"/>
              </a:lnSpc>
              <a:buNone/>
            </a:pPr>
            <a:r>
              <a:rPr lang="en-US" sz="825" dirty="0">
                <a:solidFill>
                  <a:srgbClr val="FFFFFF">
                    <a:alpha val="60000"/>
                  </a:srgbClr>
                </a:solidFill>
                <a:latin typeface="Arial" pitchFamily="34" charset="0"/>
                <a:ea typeface="Arial" pitchFamily="34" charset="-122"/>
                <a:cs typeface="Arial" pitchFamily="34" charset="-120"/>
              </a:rPr>
              <a:t>The convenience of AI tools doesn't change our responsibility to protect sensitive data.</a:t>
            </a:r>
            <a:endParaRPr lang="en-US" sz="825" dirty="0"/>
          </a:p>
        </p:txBody>
      </p:sp>
      <p:sp>
        <p:nvSpPr>
          <p:cNvPr id="33" name="Text 31"/>
          <p:cNvSpPr/>
          <p:nvPr/>
        </p:nvSpPr>
        <p:spPr>
          <a:xfrm>
            <a:off x="6558558" y="4162276"/>
            <a:ext cx="1976345" cy="146596"/>
          </a:xfrm>
          <a:prstGeom prst="rect">
            <a:avLst/>
          </a:prstGeom>
          <a:noFill/>
          <a:ln/>
        </p:spPr>
        <p:txBody>
          <a:bodyPr wrap="square" lIns="0" tIns="0" rIns="0" bIns="0" rtlCol="0" anchor="t"/>
          <a:lstStyle/>
          <a:p>
            <a:pPr marL="0" indent="0" algn="l">
              <a:lnSpc>
                <a:spcPts val="1155"/>
              </a:lnSpc>
              <a:buNone/>
            </a:pPr>
            <a:r>
              <a:rPr lang="en-US" sz="825" dirty="0">
                <a:solidFill>
                  <a:srgbClr val="C9A227"/>
                </a:solidFill>
                <a:latin typeface="Arial" pitchFamily="34" charset="0"/>
                <a:ea typeface="Arial" pitchFamily="34" charset="-122"/>
                <a:cs typeface="Arial" pitchFamily="34" charset="-120"/>
              </a:rPr>
              <a:t>When in doubt, ask IT Security</a:t>
            </a:r>
            <a:endParaRPr lang="en-US" sz="8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2667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CHECKLIST</a:t>
            </a:r>
            <a:endParaRPr lang="en-US" sz="825" dirty="0"/>
          </a:p>
        </p:txBody>
      </p:sp>
      <p:sp>
        <p:nvSpPr>
          <p:cNvPr id="3" name="Text 1"/>
          <p:cNvSpPr/>
          <p:nvPr/>
        </p:nvSpPr>
        <p:spPr>
          <a:xfrm>
            <a:off x="457200" y="489496"/>
            <a:ext cx="4206812"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Before Using AI Tools</a:t>
            </a:r>
            <a:endParaRPr lang="en-US" sz="2400" dirty="0"/>
          </a:p>
        </p:txBody>
      </p:sp>
      <p:sp>
        <p:nvSpPr>
          <p:cNvPr id="4" name="Text 2"/>
          <p:cNvSpPr/>
          <p:nvPr/>
        </p:nvSpPr>
        <p:spPr>
          <a:xfrm>
            <a:off x="457200" y="1545878"/>
            <a:ext cx="2808536" cy="28841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5" name="Text 3"/>
          <p:cNvSpPr/>
          <p:nvPr/>
        </p:nvSpPr>
        <p:spPr>
          <a:xfrm>
            <a:off x="657225" y="1745903"/>
            <a:ext cx="2456655"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INITIAL SETUP</a:t>
            </a:r>
            <a:endParaRPr lang="en-US" sz="900" dirty="0"/>
          </a:p>
        </p:txBody>
      </p:sp>
      <p:sp>
        <p:nvSpPr>
          <p:cNvPr id="6" name="Text 4"/>
          <p:cNvSpPr/>
          <p:nvPr/>
        </p:nvSpPr>
        <p:spPr>
          <a:xfrm>
            <a:off x="657225" y="22106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7" name="Text 5"/>
          <p:cNvSpPr/>
          <p:nvPr/>
        </p:nvSpPr>
        <p:spPr>
          <a:xfrm>
            <a:off x="942975" y="2225873"/>
            <a:ext cx="1380360"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Verified tool is IT-approved</a:t>
            </a:r>
            <a:endParaRPr lang="en-US" sz="900" dirty="0"/>
          </a:p>
        </p:txBody>
      </p:sp>
      <p:sp>
        <p:nvSpPr>
          <p:cNvPr id="8" name="Text 6"/>
          <p:cNvSpPr/>
          <p:nvPr/>
        </p:nvSpPr>
        <p:spPr>
          <a:xfrm>
            <a:off x="657225" y="26678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9" name="Text 7"/>
          <p:cNvSpPr/>
          <p:nvPr/>
        </p:nvSpPr>
        <p:spPr>
          <a:xfrm>
            <a:off x="942975" y="2683073"/>
            <a:ext cx="1911676"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Understand data flow (local vs cloud)</a:t>
            </a:r>
            <a:endParaRPr lang="en-US" sz="900" dirty="0"/>
          </a:p>
        </p:txBody>
      </p:sp>
      <p:sp>
        <p:nvSpPr>
          <p:cNvPr id="10" name="Text 8"/>
          <p:cNvSpPr/>
          <p:nvPr/>
        </p:nvSpPr>
        <p:spPr>
          <a:xfrm>
            <a:off x="657225" y="31250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1" name="Text 9"/>
          <p:cNvSpPr/>
          <p:nvPr/>
        </p:nvSpPr>
        <p:spPr>
          <a:xfrm>
            <a:off x="942975" y="3140273"/>
            <a:ext cx="1833649"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API keys stored securely (env vars)</a:t>
            </a:r>
            <a:endParaRPr lang="en-US" sz="900" dirty="0"/>
          </a:p>
        </p:txBody>
      </p:sp>
      <p:sp>
        <p:nvSpPr>
          <p:cNvPr id="12" name="Text 10"/>
          <p:cNvSpPr/>
          <p:nvPr/>
        </p:nvSpPr>
        <p:spPr>
          <a:xfrm>
            <a:off x="657225" y="35822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3" name="Text 11"/>
          <p:cNvSpPr/>
          <p:nvPr/>
        </p:nvSpPr>
        <p:spPr>
          <a:xfrm>
            <a:off x="942975" y="3597473"/>
            <a:ext cx="1393567"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Local transcription enabled</a:t>
            </a:r>
            <a:endParaRPr lang="en-US" sz="900" dirty="0"/>
          </a:p>
        </p:txBody>
      </p:sp>
      <p:sp>
        <p:nvSpPr>
          <p:cNvPr id="14" name="Text 12"/>
          <p:cNvSpPr/>
          <p:nvPr/>
        </p:nvSpPr>
        <p:spPr>
          <a:xfrm>
            <a:off x="657225" y="4039493"/>
            <a:ext cx="190500" cy="190500"/>
          </a:xfrm>
          <a:prstGeom prst="rect">
            <a:avLst/>
          </a:prstGeom>
          <a:noFill/>
          <a:ln w="19050">
            <a:solidFill>
              <a:srgbClr val="059669"/>
            </a:solidFill>
          </a:ln>
        </p:spPr>
        <p:txBody>
          <a:bodyPr wrap="square" rtlCol="0" anchor="ctr"/>
          <a:lstStyle/>
          <a:p>
            <a:pPr marL="0" indent="0">
              <a:buNone/>
            </a:pPr>
            <a:endParaRPr lang="en-US" dirty="0"/>
          </a:p>
        </p:txBody>
      </p:sp>
      <p:sp>
        <p:nvSpPr>
          <p:cNvPr id="15" name="Text 13"/>
          <p:cNvSpPr/>
          <p:nvPr/>
        </p:nvSpPr>
        <p:spPr>
          <a:xfrm>
            <a:off x="942975" y="4054673"/>
            <a:ext cx="163964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Know escalation path for issues</a:t>
            </a:r>
            <a:endParaRPr lang="en-US" sz="900" dirty="0"/>
          </a:p>
        </p:txBody>
      </p:sp>
      <p:sp>
        <p:nvSpPr>
          <p:cNvPr id="16" name="Text 14"/>
          <p:cNvSpPr/>
          <p:nvPr/>
        </p:nvSpPr>
        <p:spPr>
          <a:xfrm>
            <a:off x="3418136" y="1545878"/>
            <a:ext cx="2808536" cy="288414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7" name="Text 15"/>
          <p:cNvSpPr/>
          <p:nvPr/>
        </p:nvSpPr>
        <p:spPr>
          <a:xfrm>
            <a:off x="3618161" y="1745903"/>
            <a:ext cx="2456655"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BEFORE EACH USE</a:t>
            </a:r>
            <a:endParaRPr lang="en-US" sz="900" dirty="0"/>
          </a:p>
        </p:txBody>
      </p:sp>
      <p:sp>
        <p:nvSpPr>
          <p:cNvPr id="18" name="Text 16"/>
          <p:cNvSpPr/>
          <p:nvPr/>
        </p:nvSpPr>
        <p:spPr>
          <a:xfrm>
            <a:off x="3618161" y="22106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19" name="Text 17"/>
          <p:cNvSpPr/>
          <p:nvPr/>
        </p:nvSpPr>
        <p:spPr>
          <a:xfrm>
            <a:off x="3903911" y="2225873"/>
            <a:ext cx="1367457"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Does prompt contain PHI?</a:t>
            </a:r>
            <a:endParaRPr lang="en-US" sz="900" dirty="0"/>
          </a:p>
        </p:txBody>
      </p:sp>
      <p:sp>
        <p:nvSpPr>
          <p:cNvPr id="20" name="Text 18"/>
          <p:cNvSpPr/>
          <p:nvPr/>
        </p:nvSpPr>
        <p:spPr>
          <a:xfrm>
            <a:off x="3618161" y="26678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1" name="Text 19"/>
          <p:cNvSpPr/>
          <p:nvPr/>
        </p:nvSpPr>
        <p:spPr>
          <a:xfrm>
            <a:off x="3903911" y="2683073"/>
            <a:ext cx="145201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Is the endpoint appropriate?</a:t>
            </a:r>
            <a:endParaRPr lang="en-US" sz="900" dirty="0"/>
          </a:p>
        </p:txBody>
      </p:sp>
      <p:sp>
        <p:nvSpPr>
          <p:cNvPr id="22" name="Text 20"/>
          <p:cNvSpPr/>
          <p:nvPr/>
        </p:nvSpPr>
        <p:spPr>
          <a:xfrm>
            <a:off x="3618161" y="31250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3" name="Text 21"/>
          <p:cNvSpPr/>
          <p:nvPr/>
        </p:nvSpPr>
        <p:spPr>
          <a:xfrm>
            <a:off x="3903911" y="3140273"/>
            <a:ext cx="127030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Any credentials in code?</a:t>
            </a:r>
            <a:endParaRPr lang="en-US" sz="900" dirty="0"/>
          </a:p>
        </p:txBody>
      </p:sp>
      <p:sp>
        <p:nvSpPr>
          <p:cNvPr id="24" name="Text 22"/>
          <p:cNvSpPr/>
          <p:nvPr/>
        </p:nvSpPr>
        <p:spPr>
          <a:xfrm>
            <a:off x="3618161" y="35822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5" name="Text 23"/>
          <p:cNvSpPr/>
          <p:nvPr/>
        </p:nvSpPr>
        <p:spPr>
          <a:xfrm>
            <a:off x="3903911" y="3597473"/>
            <a:ext cx="1833952"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Review AI output before committing</a:t>
            </a:r>
            <a:endParaRPr lang="en-US" sz="900" dirty="0"/>
          </a:p>
        </p:txBody>
      </p:sp>
      <p:sp>
        <p:nvSpPr>
          <p:cNvPr id="26" name="Text 24"/>
          <p:cNvSpPr/>
          <p:nvPr/>
        </p:nvSpPr>
        <p:spPr>
          <a:xfrm>
            <a:off x="3618161" y="4039493"/>
            <a:ext cx="190500" cy="190500"/>
          </a:xfrm>
          <a:prstGeom prst="rect">
            <a:avLst/>
          </a:prstGeom>
          <a:noFill/>
          <a:ln w="19050">
            <a:solidFill>
              <a:srgbClr val="F59E0B"/>
            </a:solidFill>
          </a:ln>
        </p:spPr>
        <p:txBody>
          <a:bodyPr wrap="square" rtlCol="0" anchor="ctr"/>
          <a:lstStyle/>
          <a:p>
            <a:pPr marL="0" indent="0">
              <a:buNone/>
            </a:pPr>
            <a:endParaRPr lang="en-US" dirty="0"/>
          </a:p>
        </p:txBody>
      </p:sp>
      <p:sp>
        <p:nvSpPr>
          <p:cNvPr id="27" name="Text 25"/>
          <p:cNvSpPr/>
          <p:nvPr/>
        </p:nvSpPr>
        <p:spPr>
          <a:xfrm>
            <a:off x="3903911" y="4054673"/>
            <a:ext cx="1633418" cy="159990"/>
          </a:xfrm>
          <a:prstGeom prst="rect">
            <a:avLst/>
          </a:prstGeom>
          <a:noFill/>
          <a:ln/>
        </p:spPr>
        <p:txBody>
          <a:bodyPr wrap="square" lIns="0" tIns="0" rIns="0" bIns="0" rtlCol="0" anchor="t"/>
          <a:lstStyle/>
          <a:p>
            <a:pPr marL="0" indent="0" algn="l">
              <a:lnSpc>
                <a:spcPts val="1260"/>
              </a:lnSpc>
              <a:buNone/>
            </a:pPr>
            <a:r>
              <a:rPr lang="en-US" sz="900" dirty="0">
                <a:solidFill>
                  <a:srgbClr val="1A1F2E"/>
                </a:solidFill>
                <a:latin typeface="Arial" pitchFamily="34" charset="0"/>
                <a:ea typeface="Arial" pitchFamily="34" charset="-122"/>
                <a:cs typeface="Arial" pitchFamily="34" charset="-120"/>
              </a:rPr>
              <a:t>Test generated code thoroughly</a:t>
            </a:r>
            <a:endParaRPr lang="en-US" sz="900" dirty="0"/>
          </a:p>
        </p:txBody>
      </p:sp>
      <p:sp>
        <p:nvSpPr>
          <p:cNvPr id="28" name="Text 26"/>
          <p:cNvSpPr/>
          <p:nvPr/>
        </p:nvSpPr>
        <p:spPr>
          <a:xfrm>
            <a:off x="6379071" y="1403152"/>
            <a:ext cx="2307729" cy="3169444"/>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6569571" y="1593652"/>
            <a:ext cx="1965263" cy="159990"/>
          </a:xfrm>
          <a:prstGeom prst="rect">
            <a:avLst/>
          </a:prstGeom>
          <a:noFill/>
          <a:ln/>
        </p:spPr>
        <p:txBody>
          <a:bodyPr wrap="square" lIns="0" tIns="0" rIns="0" bIns="0" rtlCol="0" anchor="t"/>
          <a:lstStyle/>
          <a:p>
            <a:pPr marL="0" indent="0" algn="l">
              <a:lnSpc>
                <a:spcPts val="1260"/>
              </a:lnSpc>
              <a:spcAft>
                <a:spcPts val="1200"/>
              </a:spcAft>
              <a:buNone/>
            </a:pPr>
            <a:r>
              <a:rPr lang="en-US" sz="900" b="1" dirty="0">
                <a:solidFill>
                  <a:srgbClr val="C9A227"/>
                </a:solidFill>
                <a:latin typeface="Arial" pitchFamily="34" charset="0"/>
                <a:ea typeface="Arial" pitchFamily="34" charset="-122"/>
                <a:cs typeface="Arial" pitchFamily="34" charset="-120"/>
              </a:rPr>
              <a:t>RESOURCES</a:t>
            </a:r>
            <a:endParaRPr lang="en-US" sz="900" dirty="0"/>
          </a:p>
        </p:txBody>
      </p:sp>
      <p:sp>
        <p:nvSpPr>
          <p:cNvPr id="30" name="Text 28"/>
          <p:cNvSpPr/>
          <p:nvPr/>
        </p:nvSpPr>
        <p:spPr>
          <a:xfrm>
            <a:off x="6569571" y="2058442"/>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Questions?</a:t>
            </a:r>
            <a:endParaRPr lang="en-US" sz="900" dirty="0"/>
          </a:p>
        </p:txBody>
      </p:sp>
      <p:sp>
        <p:nvSpPr>
          <p:cNvPr id="31" name="Text 29"/>
          <p:cNvSpPr/>
          <p:nvPr/>
        </p:nvSpPr>
        <p:spPr>
          <a:xfrm>
            <a:off x="6569571" y="2256532"/>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Contact IT Security</a:t>
            </a:r>
            <a:endParaRPr lang="en-US" sz="825" dirty="0"/>
          </a:p>
        </p:txBody>
      </p:sp>
      <p:sp>
        <p:nvSpPr>
          <p:cNvPr id="32" name="Text 30"/>
          <p:cNvSpPr/>
          <p:nvPr/>
        </p:nvSpPr>
        <p:spPr>
          <a:xfrm>
            <a:off x="6569571" y="2707928"/>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PHI Incident?</a:t>
            </a:r>
            <a:endParaRPr lang="en-US" sz="900" dirty="0"/>
          </a:p>
        </p:txBody>
      </p:sp>
      <p:sp>
        <p:nvSpPr>
          <p:cNvPr id="33" name="Text 31"/>
          <p:cNvSpPr/>
          <p:nvPr/>
        </p:nvSpPr>
        <p:spPr>
          <a:xfrm>
            <a:off x="6569571" y="2906018"/>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Report immediately to Privacy Officer</a:t>
            </a:r>
            <a:endParaRPr lang="en-US" sz="825" dirty="0"/>
          </a:p>
        </p:txBody>
      </p:sp>
      <p:sp>
        <p:nvSpPr>
          <p:cNvPr id="34" name="Text 32"/>
          <p:cNvSpPr/>
          <p:nvPr/>
        </p:nvSpPr>
        <p:spPr>
          <a:xfrm>
            <a:off x="6569571" y="3357414"/>
            <a:ext cx="1965263"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FFFFFF"/>
                </a:solidFill>
                <a:latin typeface="Arial" pitchFamily="34" charset="0"/>
                <a:ea typeface="Arial" pitchFamily="34" charset="-122"/>
                <a:cs typeface="Arial" pitchFamily="34" charset="-120"/>
              </a:rPr>
              <a:t>New Tool Request?</a:t>
            </a:r>
            <a:endParaRPr lang="en-US" sz="900" dirty="0"/>
          </a:p>
        </p:txBody>
      </p:sp>
      <p:sp>
        <p:nvSpPr>
          <p:cNvPr id="35" name="Text 33"/>
          <p:cNvSpPr/>
          <p:nvPr/>
        </p:nvSpPr>
        <p:spPr>
          <a:xfrm>
            <a:off x="6569571" y="3555504"/>
            <a:ext cx="1965263" cy="146596"/>
          </a:xfrm>
          <a:prstGeom prst="rect">
            <a:avLst/>
          </a:prstGeom>
          <a:noFill/>
          <a:ln/>
        </p:spPr>
        <p:txBody>
          <a:bodyPr wrap="square" lIns="0" tIns="0" rIns="0" bIns="0" rtlCol="0" anchor="t"/>
          <a:lstStyle/>
          <a:p>
            <a:pPr marL="0" indent="0" algn="l">
              <a:lnSpc>
                <a:spcPts val="1155"/>
              </a:lnSpc>
              <a:buNone/>
            </a:pPr>
            <a:r>
              <a:rPr lang="en-US" sz="825" dirty="0">
                <a:solidFill>
                  <a:srgbClr val="FFFFFF">
                    <a:alpha val="60000"/>
                  </a:srgbClr>
                </a:solidFill>
                <a:latin typeface="Arial" pitchFamily="34" charset="0"/>
                <a:ea typeface="Arial" pitchFamily="34" charset="-122"/>
                <a:cs typeface="Arial" pitchFamily="34" charset="-120"/>
              </a:rPr>
              <a:t>Submit through IT approval process</a:t>
            </a:r>
            <a:endParaRPr lang="en-US" sz="825" dirty="0"/>
          </a:p>
        </p:txBody>
      </p:sp>
      <p:sp>
        <p:nvSpPr>
          <p:cNvPr id="36" name="Text 34"/>
          <p:cNvSpPr/>
          <p:nvPr/>
        </p:nvSpPr>
        <p:spPr>
          <a:xfrm>
            <a:off x="6569571" y="4006900"/>
            <a:ext cx="1926729" cy="375196"/>
          </a:xfrm>
          <a:prstGeom prst="rect">
            <a:avLst/>
          </a:prstGeom>
          <a:solidFill>
            <a:srgbClr val="252B3D"/>
          </a:solidFill>
          <a:ln/>
        </p:spPr>
        <p:txBody>
          <a:bodyPr wrap="square" rtlCol="0" anchor="ctr"/>
          <a:lstStyle/>
          <a:p>
            <a:pPr marL="0" indent="0">
              <a:buNone/>
            </a:pPr>
            <a:endParaRPr lang="en-US" dirty="0"/>
          </a:p>
        </p:txBody>
      </p:sp>
      <p:sp>
        <p:nvSpPr>
          <p:cNvPr id="37" name="Text 35"/>
          <p:cNvSpPr/>
          <p:nvPr/>
        </p:nvSpPr>
        <p:spPr>
          <a:xfrm>
            <a:off x="6666890" y="4121200"/>
            <a:ext cx="1732091" cy="146596"/>
          </a:xfrm>
          <a:prstGeom prst="rect">
            <a:avLst/>
          </a:prstGeom>
          <a:noFill/>
          <a:ln/>
        </p:spPr>
        <p:txBody>
          <a:bodyPr wrap="square" lIns="0" tIns="0" rIns="0" bIns="0" rtlCol="0" anchor="t"/>
          <a:lstStyle/>
          <a:p>
            <a:pPr marL="0" indent="0" algn="ctr">
              <a:lnSpc>
                <a:spcPts val="1155"/>
              </a:lnSpc>
              <a:buNone/>
            </a:pPr>
            <a:r>
              <a:rPr lang="en-US" sz="825" dirty="0">
                <a:solidFill>
                  <a:srgbClr val="C9A227"/>
                </a:solidFill>
                <a:latin typeface="Arial" pitchFamily="34" charset="0"/>
                <a:ea typeface="Arial" pitchFamily="34" charset="-122"/>
                <a:cs typeface="Arial" pitchFamily="34" charset="-120"/>
              </a:rPr>
              <a:t>Security is everyone's responsibility</a:t>
            </a:r>
            <a:endParaRPr lang="en-US" sz="8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37954" y="1041202"/>
            <a:ext cx="1067794" cy="186630"/>
          </a:xfrm>
          <a:prstGeom prst="rect">
            <a:avLst/>
          </a:prstGeom>
          <a:noFill/>
          <a:ln/>
        </p:spPr>
        <p:txBody>
          <a:bodyPr wrap="square" lIns="0" tIns="0" rIns="0" bIns="0" rtlCol="0" anchor="t"/>
          <a:lstStyle/>
          <a:p>
            <a:pPr marL="0" indent="0" algn="ctr">
              <a:lnSpc>
                <a:spcPts val="1470"/>
              </a:lnSpc>
              <a:spcAft>
                <a:spcPts val="1500"/>
              </a:spcAft>
              <a:buNone/>
            </a:pPr>
            <a:r>
              <a:rPr lang="en-US" sz="1050" dirty="0">
                <a:solidFill>
                  <a:srgbClr val="C9A227"/>
                </a:solidFill>
                <a:latin typeface="Arial" pitchFamily="34" charset="0"/>
                <a:ea typeface="Arial" pitchFamily="34" charset="-122"/>
                <a:cs typeface="Arial" pitchFamily="34" charset="-120"/>
              </a:rPr>
              <a:t>SECTION 9</a:t>
            </a:r>
            <a:endParaRPr lang="en-US" sz="1050" dirty="0"/>
          </a:p>
        </p:txBody>
      </p:sp>
      <p:sp>
        <p:nvSpPr>
          <p:cNvPr id="3" name="Text 1"/>
          <p:cNvSpPr/>
          <p:nvPr/>
        </p:nvSpPr>
        <p:spPr>
          <a:xfrm>
            <a:off x="3470355" y="1570732"/>
            <a:ext cx="2203141" cy="495300"/>
          </a:xfrm>
          <a:prstGeom prst="rect">
            <a:avLst/>
          </a:prstGeom>
          <a:noFill/>
          <a:ln/>
        </p:spPr>
        <p:txBody>
          <a:bodyPr wrap="square" lIns="0" tIns="0" rIns="0" bIns="0" rtlCol="0" anchor="t"/>
          <a:lstStyle/>
          <a:p>
            <a:pPr marL="0" indent="0" algn="ctr">
              <a:lnSpc>
                <a:spcPts val="3900"/>
              </a:lnSpc>
              <a:spcAft>
                <a:spcPts val="1500"/>
              </a:spcAft>
              <a:buNone/>
            </a:pPr>
            <a:r>
              <a:rPr lang="en-US" sz="3900" dirty="0">
                <a:solidFill>
                  <a:srgbClr val="FFFFFF"/>
                </a:solidFill>
                <a:latin typeface="Georgia" pitchFamily="34" charset="0"/>
                <a:ea typeface="Georgia" pitchFamily="34" charset="-122"/>
                <a:cs typeface="Georgia" pitchFamily="34" charset="-120"/>
              </a:rPr>
              <a:t>Next Steps</a:t>
            </a:r>
            <a:endParaRPr lang="en-US" sz="3900" dirty="0"/>
          </a:p>
        </p:txBody>
      </p:sp>
      <p:sp>
        <p:nvSpPr>
          <p:cNvPr id="4" name="Text 2"/>
          <p:cNvSpPr/>
          <p:nvPr/>
        </p:nvSpPr>
        <p:spPr>
          <a:xfrm>
            <a:off x="4190851" y="2408932"/>
            <a:ext cx="762000" cy="28575"/>
          </a:xfrm>
          <a:prstGeom prst="rect">
            <a:avLst/>
          </a:prstGeom>
          <a:solidFill>
            <a:srgbClr val="C9A227"/>
          </a:solidFill>
          <a:ln/>
        </p:spPr>
        <p:txBody>
          <a:bodyPr wrap="square" rtlCol="0" anchor="ctr"/>
          <a:lstStyle/>
          <a:p>
            <a:pPr marL="0" indent="0">
              <a:buNone/>
            </a:pPr>
            <a:endParaRPr lang="en-US" dirty="0"/>
          </a:p>
        </p:txBody>
      </p:sp>
      <p:sp>
        <p:nvSpPr>
          <p:cNvPr id="5" name="Text 3"/>
          <p:cNvSpPr/>
          <p:nvPr/>
        </p:nvSpPr>
        <p:spPr>
          <a:xfrm>
            <a:off x="3808879" y="2818507"/>
            <a:ext cx="1526093" cy="239911"/>
          </a:xfrm>
          <a:prstGeom prst="rect">
            <a:avLst/>
          </a:prstGeom>
          <a:noFill/>
          <a:ln/>
        </p:spPr>
        <p:txBody>
          <a:bodyPr wrap="square" lIns="0" tIns="0" rIns="0" bIns="0" rtlCol="0" anchor="t"/>
          <a:lstStyle/>
          <a:p>
            <a:pPr marL="0" indent="0" algn="ctr">
              <a:lnSpc>
                <a:spcPts val="1890"/>
              </a:lnSpc>
              <a:buNone/>
            </a:pPr>
            <a:r>
              <a:rPr lang="en-US" sz="1350" dirty="0">
                <a:solidFill>
                  <a:srgbClr val="FFFFFF">
                    <a:alpha val="70000"/>
                  </a:srgbClr>
                </a:solidFill>
                <a:latin typeface="Arial" pitchFamily="34" charset="0"/>
                <a:ea typeface="Arial" pitchFamily="34" charset="-122"/>
                <a:cs typeface="Arial" pitchFamily="34" charset="-120"/>
              </a:rPr>
              <a:t>Preparing for Part 2</a:t>
            </a:r>
            <a:endParaRPr lang="en-US" sz="1350" dirty="0"/>
          </a:p>
        </p:txBody>
      </p:sp>
      <p:sp>
        <p:nvSpPr>
          <p:cNvPr id="6" name="Text 4"/>
          <p:cNvSpPr/>
          <p:nvPr/>
        </p:nvSpPr>
        <p:spPr>
          <a:xfrm>
            <a:off x="3968502" y="3591818"/>
            <a:ext cx="1206847" cy="510480"/>
          </a:xfrm>
          <a:prstGeom prst="rect">
            <a:avLst/>
          </a:prstGeom>
          <a:solidFill>
            <a:srgbClr val="C9A227">
              <a:alpha val="15000"/>
            </a:srgbClr>
          </a:solidFill>
          <a:ln w="9525">
            <a:solidFill>
              <a:srgbClr val="C9A227"/>
            </a:solidFill>
          </a:ln>
        </p:spPr>
        <p:txBody>
          <a:bodyPr wrap="square" rtlCol="0" anchor="ctr"/>
          <a:lstStyle/>
          <a:p>
            <a:pPr marL="0" indent="0">
              <a:buNone/>
            </a:pPr>
            <a:endParaRPr lang="en-US" dirty="0"/>
          </a:p>
        </p:txBody>
      </p:sp>
      <p:sp>
        <p:nvSpPr>
          <p:cNvPr id="7" name="Text 5"/>
          <p:cNvSpPr/>
          <p:nvPr/>
        </p:nvSpPr>
        <p:spPr>
          <a:xfrm>
            <a:off x="4277045" y="3753743"/>
            <a:ext cx="589761" cy="186630"/>
          </a:xfrm>
          <a:prstGeom prst="rect">
            <a:avLst/>
          </a:prstGeom>
          <a:noFill/>
          <a:ln/>
        </p:spPr>
        <p:txBody>
          <a:bodyPr wrap="square" lIns="0" tIns="0" rIns="0" bIns="0" rtlCol="0" anchor="t"/>
          <a:lstStyle/>
          <a:p>
            <a:pPr marL="0" indent="0" algn="ctr">
              <a:lnSpc>
                <a:spcPts val="1470"/>
              </a:lnSpc>
              <a:buNone/>
            </a:pPr>
            <a:r>
              <a:rPr lang="en-US" sz="1050" dirty="0">
                <a:solidFill>
                  <a:srgbClr val="C9A227"/>
                </a:solidFill>
                <a:latin typeface="Arial" pitchFamily="34" charset="0"/>
                <a:ea typeface="Arial" pitchFamily="34" charset="-122"/>
                <a:cs typeface="Arial" pitchFamily="34" charset="-120"/>
              </a:rPr>
              <a:t>5 minutes</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599706" cy="5143500"/>
          </a:xfrm>
          <a:prstGeom prst="rect">
            <a:avLst/>
          </a:prstGeom>
          <a:solidFill>
            <a:srgbClr val="C9A227"/>
          </a:solidFill>
          <a:ln/>
        </p:spPr>
        <p:txBody>
          <a:bodyPr wrap="square" rtlCol="0" anchor="ctr"/>
          <a:lstStyle/>
          <a:p>
            <a:pPr marL="0" indent="0">
              <a:buNone/>
            </a:pPr>
            <a:endParaRPr lang="en-US" dirty="0"/>
          </a:p>
        </p:txBody>
      </p:sp>
      <p:sp>
        <p:nvSpPr>
          <p:cNvPr id="3" name="Text 1"/>
          <p:cNvSpPr/>
          <p:nvPr/>
        </p:nvSpPr>
        <p:spPr>
          <a:xfrm>
            <a:off x="381000" y="1384102"/>
            <a:ext cx="2894460" cy="146596"/>
          </a:xfrm>
          <a:prstGeom prst="rect">
            <a:avLst/>
          </a:prstGeom>
          <a:noFill/>
          <a:ln/>
        </p:spPr>
        <p:txBody>
          <a:bodyPr wrap="square" lIns="0" tIns="0" rIns="0" bIns="0" rtlCol="0" anchor="t"/>
          <a:lstStyle/>
          <a:p>
            <a:pPr marL="0" indent="0" algn="l">
              <a:lnSpc>
                <a:spcPts val="1155"/>
              </a:lnSpc>
              <a:spcAft>
                <a:spcPts val="1200"/>
              </a:spcAft>
              <a:buNone/>
            </a:pPr>
            <a:r>
              <a:rPr lang="en-US" sz="825" dirty="0">
                <a:solidFill>
                  <a:srgbClr val="1A1F2E"/>
                </a:solidFill>
                <a:latin typeface="Arial" pitchFamily="34" charset="0"/>
                <a:ea typeface="Arial" pitchFamily="34" charset="-122"/>
                <a:cs typeface="Arial" pitchFamily="34" charset="-120"/>
              </a:rPr>
              <a:t>HOMEWORK</a:t>
            </a:r>
            <a:endParaRPr lang="en-US" sz="825" dirty="0"/>
          </a:p>
        </p:txBody>
      </p:sp>
      <p:sp>
        <p:nvSpPr>
          <p:cNvPr id="4" name="Text 2"/>
          <p:cNvSpPr/>
          <p:nvPr/>
        </p:nvSpPr>
        <p:spPr>
          <a:xfrm>
            <a:off x="381000" y="1835497"/>
            <a:ext cx="1457325" cy="822722"/>
          </a:xfrm>
          <a:prstGeom prst="rect">
            <a:avLst/>
          </a:prstGeom>
          <a:noFill/>
          <a:ln/>
        </p:spPr>
        <p:txBody>
          <a:bodyPr wrap="square" lIns="0" tIns="0" rIns="0" bIns="0" rtlCol="0" anchor="t"/>
          <a:lstStyle/>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Pre-Work</a:t>
            </a:r>
            <a:endParaRPr lang="en-US" sz="2700" dirty="0"/>
          </a:p>
          <a:p>
            <a:pPr marL="0" indent="0" algn="l">
              <a:lnSpc>
                <a:spcPts val="3240"/>
              </a:lnSpc>
              <a:buNone/>
            </a:pPr>
            <a:r>
              <a:rPr lang="en-US" sz="2700" dirty="0">
                <a:solidFill>
                  <a:srgbClr val="1A1F2E"/>
                </a:solidFill>
                <a:latin typeface="Georgia" pitchFamily="34" charset="0"/>
                <a:ea typeface="Georgia" pitchFamily="34" charset="-122"/>
                <a:cs typeface="Georgia" pitchFamily="34" charset="-120"/>
              </a:rPr>
              <a:t>for Part 2</a:t>
            </a:r>
            <a:endParaRPr lang="en-US" sz="2700" dirty="0"/>
          </a:p>
        </p:txBody>
      </p:sp>
      <p:sp>
        <p:nvSpPr>
          <p:cNvPr id="5" name="Text 3"/>
          <p:cNvSpPr/>
          <p:nvPr/>
        </p:nvSpPr>
        <p:spPr>
          <a:xfrm>
            <a:off x="381000" y="3001119"/>
            <a:ext cx="457200" cy="19050"/>
          </a:xfrm>
          <a:prstGeom prst="rect">
            <a:avLst/>
          </a:prstGeom>
          <a:solidFill>
            <a:srgbClr val="1A1F2E"/>
          </a:solidFill>
          <a:ln/>
        </p:spPr>
        <p:txBody>
          <a:bodyPr wrap="square" rtlCol="0" anchor="ctr"/>
          <a:lstStyle/>
          <a:p>
            <a:pPr marL="0" indent="0">
              <a:buNone/>
            </a:pPr>
            <a:endParaRPr lang="en-US" dirty="0"/>
          </a:p>
        </p:txBody>
      </p:sp>
      <p:sp>
        <p:nvSpPr>
          <p:cNvPr id="6" name="Text 4"/>
          <p:cNvSpPr/>
          <p:nvPr/>
        </p:nvSpPr>
        <p:spPr>
          <a:xfrm>
            <a:off x="381000" y="3363069"/>
            <a:ext cx="2894460" cy="396180"/>
          </a:xfrm>
          <a:prstGeom prst="rect">
            <a:avLst/>
          </a:prstGeom>
          <a:noFill/>
          <a:ln/>
        </p:spPr>
        <p:txBody>
          <a:bodyPr wrap="square" lIns="0" tIns="0" rIns="0" bIns="0" rtlCol="0" anchor="t"/>
          <a:lstStyle/>
          <a:p>
            <a:pPr marL="0" indent="0" algn="l">
              <a:lnSpc>
                <a:spcPts val="1560"/>
              </a:lnSpc>
              <a:buNone/>
            </a:pPr>
            <a:r>
              <a:rPr lang="en-US" sz="975" dirty="0">
                <a:solidFill>
                  <a:srgbClr val="1A1F2E">
                    <a:alpha val="70000"/>
                  </a:srgbClr>
                </a:solidFill>
                <a:latin typeface="Arial" pitchFamily="34" charset="0"/>
                <a:ea typeface="Arial" pitchFamily="34" charset="-122"/>
                <a:cs typeface="Arial" pitchFamily="34" charset="-120"/>
              </a:rPr>
              <a:t>Complete these before our next session for the best hands-on experience.</a:t>
            </a:r>
            <a:endParaRPr lang="en-US" sz="975" dirty="0"/>
          </a:p>
        </p:txBody>
      </p:sp>
      <p:sp>
        <p:nvSpPr>
          <p:cNvPr id="7" name="Text 5"/>
          <p:cNvSpPr/>
          <p:nvPr/>
        </p:nvSpPr>
        <p:spPr>
          <a:xfrm>
            <a:off x="3752106" y="0"/>
            <a:ext cx="5391894" cy="5143500"/>
          </a:xfrm>
          <a:prstGeom prst="rect">
            <a:avLst/>
          </a:prstGeom>
          <a:solidFill>
            <a:srgbClr val="F7F8FA"/>
          </a:solidFill>
          <a:ln/>
        </p:spPr>
        <p:txBody>
          <a:bodyPr wrap="square" rtlCol="0" anchor="ctr"/>
          <a:lstStyle/>
          <a:p>
            <a:pPr marL="0" indent="0">
              <a:buNone/>
            </a:pPr>
            <a:endParaRPr lang="en-US" dirty="0"/>
          </a:p>
        </p:txBody>
      </p:sp>
      <p:sp>
        <p:nvSpPr>
          <p:cNvPr id="8" name="Text 6"/>
          <p:cNvSpPr/>
          <p:nvPr/>
        </p:nvSpPr>
        <p:spPr>
          <a:xfrm>
            <a:off x="4133106" y="805309"/>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9" name="Text 7"/>
          <p:cNvSpPr/>
          <p:nvPr/>
        </p:nvSpPr>
        <p:spPr>
          <a:xfrm>
            <a:off x="4314081" y="988963"/>
            <a:ext cx="266700" cy="266700"/>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4415582" y="104224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1" name="Text 9"/>
          <p:cNvSpPr/>
          <p:nvPr/>
        </p:nvSpPr>
        <p:spPr>
          <a:xfrm>
            <a:off x="4866531" y="948184"/>
            <a:ext cx="2571571"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your voice tool</a:t>
            </a:r>
            <a:endParaRPr lang="en-US" sz="975" dirty="0"/>
          </a:p>
        </p:txBody>
      </p:sp>
      <p:sp>
        <p:nvSpPr>
          <p:cNvPr id="12" name="Text 10"/>
          <p:cNvSpPr/>
          <p:nvPr/>
        </p:nvSpPr>
        <p:spPr>
          <a:xfrm>
            <a:off x="4866531" y="1149995"/>
            <a:ext cx="2571571"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SuperWhisper (Mac) or WhisperFlow (Windows/Linux)</a:t>
            </a:r>
            <a:endParaRPr lang="en-US" sz="825" dirty="0"/>
          </a:p>
        </p:txBody>
      </p:sp>
      <p:sp>
        <p:nvSpPr>
          <p:cNvPr id="13" name="Text 11"/>
          <p:cNvSpPr/>
          <p:nvPr/>
        </p:nvSpPr>
        <p:spPr>
          <a:xfrm>
            <a:off x="4133106" y="1534716"/>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4" name="Text 12"/>
          <p:cNvSpPr/>
          <p:nvPr/>
        </p:nvSpPr>
        <p:spPr>
          <a:xfrm>
            <a:off x="4314081" y="1718370"/>
            <a:ext cx="266700" cy="266700"/>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4415582" y="1771650"/>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6" name="Text 14"/>
          <p:cNvSpPr/>
          <p:nvPr/>
        </p:nvSpPr>
        <p:spPr>
          <a:xfrm>
            <a:off x="4866531" y="1677591"/>
            <a:ext cx="1944163"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Install Claude Code</a:t>
            </a:r>
            <a:endParaRPr lang="en-US" sz="975" dirty="0"/>
          </a:p>
        </p:txBody>
      </p:sp>
      <p:sp>
        <p:nvSpPr>
          <p:cNvPr id="17" name="Text 15"/>
          <p:cNvSpPr/>
          <p:nvPr/>
        </p:nvSpPr>
        <p:spPr>
          <a:xfrm>
            <a:off x="4866531" y="1879402"/>
            <a:ext cx="194416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npm install -g @anthropic-ai/claude-code</a:t>
            </a:r>
            <a:endParaRPr lang="en-US" sz="825" dirty="0"/>
          </a:p>
        </p:txBody>
      </p:sp>
      <p:sp>
        <p:nvSpPr>
          <p:cNvPr id="18" name="Text 16"/>
          <p:cNvSpPr/>
          <p:nvPr/>
        </p:nvSpPr>
        <p:spPr>
          <a:xfrm>
            <a:off x="4133106" y="2264122"/>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314081" y="2447776"/>
            <a:ext cx="266700" cy="266700"/>
          </a:xfrm>
          <a:prstGeom prst="rect">
            <a:avLst/>
          </a:prstGeom>
          <a:solidFill>
            <a:srgbClr val="1A1F2E"/>
          </a:solidFill>
          <a:ln/>
        </p:spPr>
        <p:txBody>
          <a:bodyPr wrap="square" rtlCol="0" anchor="ctr"/>
          <a:lstStyle/>
          <a:p>
            <a:pPr marL="0" indent="0">
              <a:buNone/>
            </a:pPr>
            <a:endParaRPr lang="en-US" dirty="0"/>
          </a:p>
        </p:txBody>
      </p:sp>
      <p:sp>
        <p:nvSpPr>
          <p:cNvPr id="20" name="Text 18"/>
          <p:cNvSpPr/>
          <p:nvPr/>
        </p:nvSpPr>
        <p:spPr>
          <a:xfrm>
            <a:off x="4415582" y="2501057"/>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1" name="Text 19"/>
          <p:cNvSpPr/>
          <p:nvPr/>
        </p:nvSpPr>
        <p:spPr>
          <a:xfrm>
            <a:off x="4866531" y="2406997"/>
            <a:ext cx="2352669"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Set up authentication</a:t>
            </a:r>
            <a:endParaRPr lang="en-US" sz="975" dirty="0"/>
          </a:p>
        </p:txBody>
      </p:sp>
      <p:sp>
        <p:nvSpPr>
          <p:cNvPr id="22" name="Text 20"/>
          <p:cNvSpPr/>
          <p:nvPr/>
        </p:nvSpPr>
        <p:spPr>
          <a:xfrm>
            <a:off x="4866531" y="2608808"/>
            <a:ext cx="2352669"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Run claude and complete OAuth or API key setup</a:t>
            </a:r>
            <a:endParaRPr lang="en-US" sz="825" dirty="0"/>
          </a:p>
        </p:txBody>
      </p:sp>
      <p:sp>
        <p:nvSpPr>
          <p:cNvPr id="23" name="Text 21"/>
          <p:cNvSpPr/>
          <p:nvPr/>
        </p:nvSpPr>
        <p:spPr>
          <a:xfrm>
            <a:off x="4133106" y="2993529"/>
            <a:ext cx="4629894" cy="634157"/>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4314081" y="3177183"/>
            <a:ext cx="266700" cy="266700"/>
          </a:xfrm>
          <a:prstGeom prst="rect">
            <a:avLst/>
          </a:prstGeom>
          <a:solidFill>
            <a:srgbClr val="1A1F2E"/>
          </a:solidFill>
          <a:ln/>
        </p:spPr>
        <p:txBody>
          <a:bodyPr wrap="square" rtlCol="0" anchor="ctr"/>
          <a:lstStyle/>
          <a:p>
            <a:pPr marL="0" indent="0">
              <a:buNone/>
            </a:pPr>
            <a:endParaRPr lang="en-US" dirty="0"/>
          </a:p>
        </p:txBody>
      </p:sp>
      <p:sp>
        <p:nvSpPr>
          <p:cNvPr id="25" name="Text 23"/>
          <p:cNvSpPr/>
          <p:nvPr/>
        </p:nvSpPr>
        <p:spPr>
          <a:xfrm>
            <a:off x="4415582" y="3230463"/>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6" name="Text 24"/>
          <p:cNvSpPr/>
          <p:nvPr/>
        </p:nvSpPr>
        <p:spPr>
          <a:xfrm>
            <a:off x="4866531" y="3136404"/>
            <a:ext cx="2031754" cy="173236"/>
          </a:xfrm>
          <a:prstGeom prst="rect">
            <a:avLst/>
          </a:prstGeom>
          <a:noFill/>
          <a:ln/>
        </p:spPr>
        <p:txBody>
          <a:bodyPr wrap="square" lIns="0" tIns="0" rIns="0" bIns="0" rtlCol="0" anchor="t"/>
          <a:lstStyle/>
          <a:p>
            <a:pPr marL="0" indent="0" algn="l">
              <a:lnSpc>
                <a:spcPts val="1365"/>
              </a:lnSpc>
              <a:buNone/>
            </a:pPr>
            <a:r>
              <a:rPr lang="en-US" sz="975" b="1" dirty="0">
                <a:solidFill>
                  <a:srgbClr val="1A1F2E"/>
                </a:solidFill>
                <a:latin typeface="Arial" pitchFamily="34" charset="0"/>
                <a:ea typeface="Arial" pitchFamily="34" charset="-122"/>
                <a:cs typeface="Arial" pitchFamily="34" charset="-120"/>
              </a:rPr>
              <a:t>Have a project ready</a:t>
            </a:r>
            <a:endParaRPr lang="en-US" sz="975" dirty="0"/>
          </a:p>
        </p:txBody>
      </p:sp>
      <p:sp>
        <p:nvSpPr>
          <p:cNvPr id="27" name="Text 25"/>
          <p:cNvSpPr/>
          <p:nvPr/>
        </p:nvSpPr>
        <p:spPr>
          <a:xfrm>
            <a:off x="4866531" y="3338215"/>
            <a:ext cx="2031754"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6B7280"/>
                </a:solidFill>
                <a:latin typeface="Arial" pitchFamily="34" charset="0"/>
                <a:ea typeface="Arial" pitchFamily="34" charset="-122"/>
                <a:cs typeface="Arial" pitchFamily="34" charset="-120"/>
              </a:rPr>
              <a:t>Any codebase you want to experiment with</a:t>
            </a:r>
            <a:endParaRPr lang="en-US" sz="825" dirty="0"/>
          </a:p>
        </p:txBody>
      </p:sp>
      <p:sp>
        <p:nvSpPr>
          <p:cNvPr id="28" name="Text 26"/>
          <p:cNvSpPr/>
          <p:nvPr/>
        </p:nvSpPr>
        <p:spPr>
          <a:xfrm>
            <a:off x="4133106" y="3722936"/>
            <a:ext cx="4629894" cy="615107"/>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4304556" y="3897064"/>
            <a:ext cx="266700" cy="266700"/>
          </a:xfrm>
          <a:prstGeom prst="rect">
            <a:avLst/>
          </a:prstGeom>
          <a:solidFill>
            <a:srgbClr val="C9A227"/>
          </a:solidFill>
          <a:ln/>
        </p:spPr>
        <p:txBody>
          <a:bodyPr wrap="square" rtlCol="0" anchor="ctr"/>
          <a:lstStyle/>
          <a:p>
            <a:pPr marL="0" indent="0">
              <a:buNone/>
            </a:pPr>
            <a:endParaRPr lang="en-US" dirty="0"/>
          </a:p>
        </p:txBody>
      </p:sp>
      <p:sp>
        <p:nvSpPr>
          <p:cNvPr id="30" name="Text 28"/>
          <p:cNvSpPr/>
          <p:nvPr/>
        </p:nvSpPr>
        <p:spPr>
          <a:xfrm>
            <a:off x="4406057" y="3950345"/>
            <a:ext cx="64972" cy="159990"/>
          </a:xfrm>
          <a:prstGeom prst="rect">
            <a:avLst/>
          </a:prstGeom>
          <a:noFill/>
          <a:ln/>
        </p:spPr>
        <p:txBody>
          <a:bodyPr wrap="square" lIns="0" tIns="0" rIns="0" bIns="0" rtlCol="0" anchor="t"/>
          <a:lstStyle/>
          <a:p>
            <a:pPr marL="0" indent="0" algn="l">
              <a:lnSpc>
                <a:spcPts val="1260"/>
              </a:lnSpc>
              <a:buNone/>
            </a:pPr>
            <a:r>
              <a:rPr lang="en-US" sz="900" b="1" dirty="0">
                <a:solidFill>
                  <a:srgbClr val="1A1F2E"/>
                </a:solidFill>
                <a:latin typeface="Arial" pitchFamily="34" charset="0"/>
                <a:ea typeface="Arial" pitchFamily="34" charset="-122"/>
                <a:cs typeface="Arial" pitchFamily="34" charset="-120"/>
              </a:rPr>
              <a:t>5</a:t>
            </a:r>
            <a:endParaRPr lang="en-US" sz="900" dirty="0"/>
          </a:p>
        </p:txBody>
      </p:sp>
      <p:sp>
        <p:nvSpPr>
          <p:cNvPr id="31" name="Text 29"/>
          <p:cNvSpPr/>
          <p:nvPr/>
        </p:nvSpPr>
        <p:spPr>
          <a:xfrm>
            <a:off x="4857006" y="3856286"/>
            <a:ext cx="2217563" cy="173236"/>
          </a:xfrm>
          <a:prstGeom prst="rect">
            <a:avLst/>
          </a:prstGeom>
          <a:noFill/>
          <a:ln/>
        </p:spPr>
        <p:txBody>
          <a:bodyPr wrap="square" lIns="0" tIns="0" rIns="0" bIns="0" rtlCol="0" anchor="t"/>
          <a:lstStyle/>
          <a:p>
            <a:pPr marL="0" indent="0" algn="l">
              <a:lnSpc>
                <a:spcPts val="1365"/>
              </a:lnSpc>
              <a:buNone/>
            </a:pPr>
            <a:r>
              <a:rPr lang="en-US" sz="975" b="1" dirty="0">
                <a:solidFill>
                  <a:srgbClr val="FFFFFF"/>
                </a:solidFill>
                <a:latin typeface="Arial" pitchFamily="34" charset="0"/>
                <a:ea typeface="Arial" pitchFamily="34" charset="-122"/>
                <a:cs typeface="Arial" pitchFamily="34" charset="-120"/>
              </a:rPr>
              <a:t>Practice voice input</a:t>
            </a:r>
            <a:endParaRPr lang="en-US" sz="975" dirty="0"/>
          </a:p>
        </p:txBody>
      </p:sp>
      <p:sp>
        <p:nvSpPr>
          <p:cNvPr id="32" name="Text 30"/>
          <p:cNvSpPr/>
          <p:nvPr/>
        </p:nvSpPr>
        <p:spPr>
          <a:xfrm>
            <a:off x="4857006" y="4058096"/>
            <a:ext cx="2217563" cy="146596"/>
          </a:xfrm>
          <a:prstGeom prst="rect">
            <a:avLst/>
          </a:prstGeom>
          <a:noFill/>
          <a:ln/>
        </p:spPr>
        <p:txBody>
          <a:bodyPr wrap="square" lIns="0" tIns="0" rIns="0" bIns="0" rtlCol="0" anchor="t"/>
          <a:lstStyle/>
          <a:p>
            <a:pPr marL="0" indent="0" algn="l">
              <a:lnSpc>
                <a:spcPts val="1155"/>
              </a:lnSpc>
              <a:spcBef>
                <a:spcPts val="225"/>
              </a:spcBef>
              <a:buNone/>
            </a:pPr>
            <a:r>
              <a:rPr lang="en-US" sz="825" dirty="0">
                <a:solidFill>
                  <a:srgbClr val="FFFFFF">
                    <a:alpha val="60000"/>
                  </a:srgbClr>
                </a:solidFill>
                <a:latin typeface="Arial" pitchFamily="34" charset="0"/>
                <a:ea typeface="Arial" pitchFamily="34" charset="-122"/>
                <a:cs typeface="Arial" pitchFamily="34" charset="-120"/>
              </a:rPr>
              <a:t>Try dictating emails or notes to get comfortable</a:t>
            </a:r>
            <a:endParaRPr lang="en-US" sz="8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57200" y="304800"/>
            <a:ext cx="8394192" cy="146596"/>
          </a:xfrm>
          <a:prstGeom prst="rect">
            <a:avLst/>
          </a:prstGeom>
          <a:noFill/>
          <a:ln/>
        </p:spPr>
        <p:txBody>
          <a:bodyPr wrap="square" lIns="0" tIns="0" rIns="0" bIns="0" rtlCol="0" anchor="t"/>
          <a:lstStyle/>
          <a:p>
            <a:pPr marL="0" indent="0" algn="l">
              <a:lnSpc>
                <a:spcPts val="1155"/>
              </a:lnSpc>
              <a:spcAft>
                <a:spcPts val="600"/>
              </a:spcAft>
              <a:buNone/>
            </a:pPr>
            <a:r>
              <a:rPr lang="en-US" sz="825" dirty="0">
                <a:solidFill>
                  <a:srgbClr val="C9A227"/>
                </a:solidFill>
                <a:latin typeface="Arial" pitchFamily="34" charset="0"/>
                <a:ea typeface="Arial" pitchFamily="34" charset="-122"/>
                <a:cs typeface="Arial" pitchFamily="34" charset="-120"/>
              </a:rPr>
              <a:t>PREVIEW</a:t>
            </a:r>
            <a:endParaRPr lang="en-US" sz="825" dirty="0"/>
          </a:p>
        </p:txBody>
      </p:sp>
      <p:sp>
        <p:nvSpPr>
          <p:cNvPr id="3" name="Text 1"/>
          <p:cNvSpPr/>
          <p:nvPr/>
        </p:nvSpPr>
        <p:spPr>
          <a:xfrm>
            <a:off x="457200" y="527596"/>
            <a:ext cx="4663440" cy="304800"/>
          </a:xfrm>
          <a:prstGeom prst="rect">
            <a:avLst/>
          </a:prstGeom>
          <a:noFill/>
          <a:ln/>
        </p:spPr>
        <p:txBody>
          <a:bodyPr wrap="square" lIns="0" tIns="0" rIns="0" bIns="0" rtlCol="0" anchor="t"/>
          <a:lstStyle/>
          <a:p>
            <a:pPr marL="0" indent="0" algn="l">
              <a:lnSpc>
                <a:spcPts val="2400"/>
              </a:lnSpc>
              <a:buNone/>
            </a:pPr>
            <a:r>
              <a:rPr lang="en-US" sz="2400" dirty="0">
                <a:solidFill>
                  <a:srgbClr val="1A1F2E"/>
                </a:solidFill>
                <a:latin typeface="Georgia" pitchFamily="34" charset="0"/>
                <a:ea typeface="Georgia" pitchFamily="34" charset="-122"/>
                <a:cs typeface="Georgia" pitchFamily="34" charset="-120"/>
              </a:rPr>
              <a:t>Coming in Part 2: Hands-On Practice</a:t>
            </a:r>
            <a:endParaRPr lang="en-US" sz="2400" dirty="0"/>
          </a:p>
        </p:txBody>
      </p:sp>
      <p:sp>
        <p:nvSpPr>
          <p:cNvPr id="4" name="Text 2"/>
          <p:cNvSpPr/>
          <p:nvPr/>
        </p:nvSpPr>
        <p:spPr>
          <a:xfrm>
            <a:off x="457200"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685800"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6" name="Text 4"/>
          <p:cNvSpPr/>
          <p:nvPr/>
        </p:nvSpPr>
        <p:spPr>
          <a:xfrm>
            <a:off x="819150" y="1561356"/>
            <a:ext cx="19431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01</a:t>
            </a:r>
            <a:endParaRPr lang="en-US" sz="1500" dirty="0"/>
          </a:p>
        </p:txBody>
      </p:sp>
      <p:sp>
        <p:nvSpPr>
          <p:cNvPr id="7" name="Text 5"/>
          <p:cNvSpPr/>
          <p:nvPr/>
        </p:nvSpPr>
        <p:spPr>
          <a:xfrm>
            <a:off x="685800"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Real Exercises</a:t>
            </a:r>
            <a:endParaRPr lang="en-US" sz="1200" dirty="0"/>
          </a:p>
        </p:txBody>
      </p:sp>
      <p:sp>
        <p:nvSpPr>
          <p:cNvPr id="8" name="Text 6"/>
          <p:cNvSpPr/>
          <p:nvPr/>
        </p:nvSpPr>
        <p:spPr>
          <a:xfrm>
            <a:off x="685800"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Voice-driven refactoring</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Test generation</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Documentation updates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Bug fixing workflows</a:t>
            </a:r>
            <a:endParaRPr lang="en-US" sz="900" dirty="0"/>
          </a:p>
        </p:txBody>
      </p:sp>
      <p:sp>
        <p:nvSpPr>
          <p:cNvPr id="9" name="Text 7"/>
          <p:cNvSpPr/>
          <p:nvPr/>
        </p:nvSpPr>
        <p:spPr>
          <a:xfrm>
            <a:off x="3251150"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10" name="Text 8"/>
          <p:cNvSpPr/>
          <p:nvPr/>
        </p:nvSpPr>
        <p:spPr>
          <a:xfrm>
            <a:off x="3479750"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11" name="Text 9"/>
          <p:cNvSpPr/>
          <p:nvPr/>
        </p:nvSpPr>
        <p:spPr>
          <a:xfrm>
            <a:off x="3613100" y="1561356"/>
            <a:ext cx="19431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02</a:t>
            </a:r>
            <a:endParaRPr lang="en-US" sz="1500" dirty="0"/>
          </a:p>
        </p:txBody>
      </p:sp>
      <p:sp>
        <p:nvSpPr>
          <p:cNvPr id="12" name="Text 10"/>
          <p:cNvSpPr/>
          <p:nvPr/>
        </p:nvSpPr>
        <p:spPr>
          <a:xfrm>
            <a:off x="3479750"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Your Projects</a:t>
            </a:r>
            <a:endParaRPr lang="en-US" sz="1200" dirty="0"/>
          </a:p>
        </p:txBody>
      </p:sp>
      <p:sp>
        <p:nvSpPr>
          <p:cNvPr id="13" name="Text 11"/>
          <p:cNvSpPr/>
          <p:nvPr/>
        </p:nvSpPr>
        <p:spPr>
          <a:xfrm>
            <a:off x="3479750"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Work on your own code</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Real-world scenarios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Team-specific patterns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Custom workflows</a:t>
            </a:r>
            <a:endParaRPr lang="en-US" sz="900" dirty="0"/>
          </a:p>
        </p:txBody>
      </p:sp>
      <p:sp>
        <p:nvSpPr>
          <p:cNvPr id="14" name="Text 12"/>
          <p:cNvSpPr/>
          <p:nvPr/>
        </p:nvSpPr>
        <p:spPr>
          <a:xfrm>
            <a:off x="6045101" y="1237506"/>
            <a:ext cx="2641550" cy="2476054"/>
          </a:xfrm>
          <a:prstGeom prst="rect">
            <a:avLst/>
          </a:prstGeom>
          <a:solidFill>
            <a:srgbClr val="1A1F2E"/>
          </a:solidFill>
          <a:ln/>
        </p:spPr>
        <p:txBody>
          <a:bodyPr wrap="square" rtlCol="0" anchor="ctr"/>
          <a:lstStyle/>
          <a:p>
            <a:pPr marL="0" indent="0">
              <a:buNone/>
            </a:pPr>
            <a:endParaRPr lang="en-US" dirty="0"/>
          </a:p>
        </p:txBody>
      </p:sp>
      <p:sp>
        <p:nvSpPr>
          <p:cNvPr id="15" name="Text 13"/>
          <p:cNvSpPr/>
          <p:nvPr/>
        </p:nvSpPr>
        <p:spPr>
          <a:xfrm>
            <a:off x="6273701" y="1466106"/>
            <a:ext cx="457200" cy="457200"/>
          </a:xfrm>
          <a:prstGeom prst="rect">
            <a:avLst/>
          </a:prstGeom>
          <a:solidFill>
            <a:srgbClr val="C9A227"/>
          </a:solidFill>
          <a:ln/>
        </p:spPr>
        <p:txBody>
          <a:bodyPr wrap="square" rtlCol="0" anchor="ctr"/>
          <a:lstStyle/>
          <a:p>
            <a:pPr marL="0" indent="0">
              <a:buNone/>
            </a:pPr>
            <a:endParaRPr lang="en-US" dirty="0"/>
          </a:p>
        </p:txBody>
      </p:sp>
      <p:sp>
        <p:nvSpPr>
          <p:cNvPr id="16" name="Text 14"/>
          <p:cNvSpPr/>
          <p:nvPr/>
        </p:nvSpPr>
        <p:spPr>
          <a:xfrm>
            <a:off x="6407051" y="1561356"/>
            <a:ext cx="194310" cy="266700"/>
          </a:xfrm>
          <a:prstGeom prst="rect">
            <a:avLst/>
          </a:prstGeom>
          <a:noFill/>
          <a:ln/>
        </p:spPr>
        <p:txBody>
          <a:bodyPr wrap="square" lIns="0" tIns="0" rIns="0" bIns="0" rtlCol="0" anchor="t"/>
          <a:lstStyle/>
          <a:p>
            <a:pPr marL="0" indent="0" algn="l">
              <a:lnSpc>
                <a:spcPts val="2100"/>
              </a:lnSpc>
              <a:buNone/>
            </a:pPr>
            <a:r>
              <a:rPr lang="en-US" sz="1500" dirty="0">
                <a:solidFill>
                  <a:srgbClr val="1A1F2E"/>
                </a:solidFill>
                <a:latin typeface="Georgia" pitchFamily="34" charset="0"/>
                <a:ea typeface="Georgia" pitchFamily="34" charset="-122"/>
                <a:cs typeface="Georgia" pitchFamily="34" charset="-120"/>
              </a:rPr>
              <a:t>03</a:t>
            </a:r>
            <a:endParaRPr lang="en-US" sz="1500" dirty="0"/>
          </a:p>
        </p:txBody>
      </p:sp>
      <p:sp>
        <p:nvSpPr>
          <p:cNvPr id="17" name="Text 15"/>
          <p:cNvSpPr/>
          <p:nvPr/>
        </p:nvSpPr>
        <p:spPr>
          <a:xfrm>
            <a:off x="6273701" y="2228106"/>
            <a:ext cx="2228037" cy="213271"/>
          </a:xfrm>
          <a:prstGeom prst="rect">
            <a:avLst/>
          </a:prstGeom>
          <a:noFill/>
          <a:ln/>
        </p:spPr>
        <p:txBody>
          <a:bodyPr wrap="square" lIns="0" tIns="0" rIns="0" bIns="0" rtlCol="0" anchor="t"/>
          <a:lstStyle/>
          <a:p>
            <a:pPr marL="0" indent="0" algn="l">
              <a:lnSpc>
                <a:spcPts val="1680"/>
              </a:lnSpc>
              <a:spcAft>
                <a:spcPts val="900"/>
              </a:spcAft>
              <a:buNone/>
            </a:pPr>
            <a:r>
              <a:rPr lang="en-US" sz="1200" dirty="0">
                <a:solidFill>
                  <a:srgbClr val="FFFFFF"/>
                </a:solidFill>
                <a:latin typeface="Georgia" pitchFamily="34" charset="0"/>
                <a:ea typeface="Georgia" pitchFamily="34" charset="-122"/>
                <a:cs typeface="Georgia" pitchFamily="34" charset="-120"/>
              </a:rPr>
              <a:t>Tips &amp; Troubleshooting</a:t>
            </a:r>
            <a:endParaRPr lang="en-US" sz="1200" dirty="0"/>
          </a:p>
        </p:txBody>
      </p:sp>
      <p:sp>
        <p:nvSpPr>
          <p:cNvPr id="18" name="Text 16"/>
          <p:cNvSpPr/>
          <p:nvPr/>
        </p:nvSpPr>
        <p:spPr>
          <a:xfrm>
            <a:off x="6273701" y="2708077"/>
            <a:ext cx="2228037" cy="776883"/>
          </a:xfrm>
          <a:prstGeom prst="rect">
            <a:avLst/>
          </a:prstGeom>
          <a:noFill/>
          <a:ln/>
        </p:spPr>
        <p:txBody>
          <a:bodyPr wrap="square" lIns="0" tIns="0" rIns="0" bIns="0" rtlCol="0" anchor="t"/>
          <a:lstStyle/>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Common pitfalls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Optimization tricks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Voice command patterns</a:t>
            </a:r>
            <a:endParaRPr lang="en-US" sz="900" dirty="0"/>
          </a:p>
          <a:p>
            <a:pPr marL="0" indent="0" algn="l">
              <a:lnSpc>
                <a:spcPts val="1530"/>
              </a:lnSpc>
              <a:buNone/>
            </a:pPr>
            <a:r>
              <a:rPr lang="en-US" sz="900" dirty="0">
                <a:solidFill>
                  <a:srgbClr val="FFFFFF">
                    <a:alpha val="60000"/>
                  </a:srgbClr>
                </a:solidFill>
                <a:latin typeface="Arial" pitchFamily="34" charset="0"/>
                <a:ea typeface="Arial" pitchFamily="34" charset="-122"/>
                <a:cs typeface="Arial" pitchFamily="34" charset="-120"/>
              </a:rPr>
              <a:t>Debug techniques</a:t>
            </a:r>
            <a:endParaRPr lang="en-US" sz="900" dirty="0"/>
          </a:p>
        </p:txBody>
      </p:sp>
      <p:sp>
        <p:nvSpPr>
          <p:cNvPr id="19" name="Text 17"/>
          <p:cNvSpPr/>
          <p:nvPr/>
        </p:nvSpPr>
        <p:spPr>
          <a:xfrm>
            <a:off x="457200" y="4271070"/>
            <a:ext cx="8229600" cy="567630"/>
          </a:xfrm>
          <a:prstGeom prst="rect">
            <a:avLst/>
          </a:prstGeom>
          <a:solidFill>
            <a:srgbClr val="C9A227"/>
          </a:solidFill>
          <a:ln/>
        </p:spPr>
        <p:txBody>
          <a:bodyPr wrap="square" rtlCol="0" anchor="ctr"/>
          <a:lstStyle/>
          <a:p>
            <a:pPr marL="0" indent="0">
              <a:buNone/>
            </a:pPr>
            <a:endParaRPr lang="en-US" dirty="0"/>
          </a:p>
        </p:txBody>
      </p:sp>
      <p:sp>
        <p:nvSpPr>
          <p:cNvPr id="20" name="Text 18"/>
          <p:cNvSpPr/>
          <p:nvPr/>
        </p:nvSpPr>
        <p:spPr>
          <a:xfrm>
            <a:off x="608076" y="4461570"/>
            <a:ext cx="7927848" cy="186630"/>
          </a:xfrm>
          <a:prstGeom prst="rect">
            <a:avLst/>
          </a:prstGeom>
          <a:noFill/>
          <a:ln/>
        </p:spPr>
        <p:txBody>
          <a:bodyPr wrap="square" lIns="0" tIns="0" rIns="0" bIns="0" rtlCol="0" anchor="t"/>
          <a:lstStyle/>
          <a:p>
            <a:pPr marL="0" indent="0" algn="ctr">
              <a:lnSpc>
                <a:spcPts val="1470"/>
              </a:lnSpc>
              <a:buNone/>
            </a:pPr>
            <a:r>
              <a:rPr lang="en-US" sz="1050" b="1" dirty="0">
                <a:solidFill>
                  <a:srgbClr val="1A1F2E"/>
                </a:solidFill>
                <a:latin typeface="Arial" pitchFamily="34" charset="0"/>
                <a:ea typeface="Arial" pitchFamily="34" charset="-122"/>
                <a:cs typeface="Arial" pitchFamily="34" charset="-120"/>
              </a:rPr>
              <a:t>Part 2 is all hands-on - bring your laptop and a project you want to improve</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pic>
        <p:nvPicPr>
          <p:cNvPr id="2" name="Image 0" descr="/tmp/rasterized-gradient-a4d4cf02.png"/>
          <p:cNvPicPr>
            <a:picLocks noChangeAspect="1"/>
          </p:cNvPicPr>
          <p:nvPr/>
        </p:nvPicPr>
        <p:blipFill>
          <a:blip r:embed="rId3"/>
          <a:stretch>
            <a:fillRect/>
          </a:stretch>
        </p:blipFill>
        <p:spPr>
          <a:xfrm>
            <a:off x="0" y="0"/>
            <a:ext cx="5850434" cy="5143500"/>
          </a:xfrm>
          <a:prstGeom prst="rect">
            <a:avLst/>
          </a:prstGeom>
        </p:spPr>
      </p:pic>
      <p:sp>
        <p:nvSpPr>
          <p:cNvPr id="3" name="Text 0"/>
          <p:cNvSpPr/>
          <p:nvPr/>
        </p:nvSpPr>
        <p:spPr>
          <a:xfrm>
            <a:off x="457200" y="1023193"/>
            <a:ext cx="5034754" cy="146596"/>
          </a:xfrm>
          <a:prstGeom prst="rect">
            <a:avLst/>
          </a:prstGeom>
          <a:noFill/>
          <a:ln/>
        </p:spPr>
        <p:txBody>
          <a:bodyPr wrap="square" lIns="0" tIns="0" rIns="0" bIns="0" rtlCol="0" anchor="t"/>
          <a:lstStyle/>
          <a:p>
            <a:pPr marL="0" indent="0" algn="l">
              <a:lnSpc>
                <a:spcPts val="1155"/>
              </a:lnSpc>
              <a:spcAft>
                <a:spcPts val="1500"/>
              </a:spcAft>
              <a:buNone/>
            </a:pPr>
            <a:r>
              <a:rPr lang="en-US" sz="825" dirty="0">
                <a:solidFill>
                  <a:srgbClr val="C9A227"/>
                </a:solidFill>
                <a:latin typeface="Arial" pitchFamily="34" charset="0"/>
                <a:ea typeface="Arial" pitchFamily="34" charset="-122"/>
                <a:cs typeface="Arial" pitchFamily="34" charset="-120"/>
              </a:rPr>
              <a:t>AUSTIN PUBLIC HEALTH</a:t>
            </a:r>
            <a:endParaRPr lang="en-US" sz="825" dirty="0"/>
          </a:p>
        </p:txBody>
      </p:sp>
      <p:sp>
        <p:nvSpPr>
          <p:cNvPr id="4" name="Text 1"/>
          <p:cNvSpPr/>
          <p:nvPr/>
        </p:nvSpPr>
        <p:spPr>
          <a:xfrm>
            <a:off x="457200" y="1512689"/>
            <a:ext cx="2526030" cy="460921"/>
          </a:xfrm>
          <a:prstGeom prst="rect">
            <a:avLst/>
          </a:prstGeom>
          <a:noFill/>
          <a:ln/>
        </p:spPr>
        <p:txBody>
          <a:bodyPr wrap="square" lIns="0" tIns="0" rIns="0" bIns="0" rtlCol="0" anchor="t"/>
          <a:lstStyle/>
          <a:p>
            <a:pPr marL="0" indent="0" algn="l">
              <a:lnSpc>
                <a:spcPts val="3630"/>
              </a:lnSpc>
              <a:spcAft>
                <a:spcPts val="1200"/>
              </a:spcAft>
              <a:buNone/>
            </a:pPr>
            <a:r>
              <a:rPr lang="en-US" sz="3300" dirty="0">
                <a:solidFill>
                  <a:srgbClr val="FFFFFF"/>
                </a:solidFill>
                <a:latin typeface="Georgia" pitchFamily="34" charset="0"/>
                <a:ea typeface="Georgia" pitchFamily="34" charset="-122"/>
                <a:cs typeface="Georgia" pitchFamily="34" charset="-120"/>
              </a:rPr>
              <a:t>Thank You</a:t>
            </a:r>
            <a:endParaRPr lang="en-US" sz="3300" dirty="0"/>
          </a:p>
        </p:txBody>
      </p:sp>
      <p:sp>
        <p:nvSpPr>
          <p:cNvPr id="5" name="Text 2"/>
          <p:cNvSpPr/>
          <p:nvPr/>
        </p:nvSpPr>
        <p:spPr>
          <a:xfrm>
            <a:off x="457200" y="2278410"/>
            <a:ext cx="5034754" cy="319980"/>
          </a:xfrm>
          <a:prstGeom prst="rect">
            <a:avLst/>
          </a:prstGeom>
          <a:noFill/>
          <a:ln/>
        </p:spPr>
        <p:txBody>
          <a:bodyPr wrap="square" lIns="0" tIns="0" rIns="0" bIns="0" rtlCol="0" anchor="t"/>
          <a:lstStyle/>
          <a:p>
            <a:pPr marL="0" indent="0" algn="l">
              <a:lnSpc>
                <a:spcPts val="2520"/>
              </a:lnSpc>
              <a:spcAft>
                <a:spcPts val="2400"/>
              </a:spcAft>
              <a:buNone/>
            </a:pPr>
            <a:r>
              <a:rPr lang="en-US" sz="1800" dirty="0">
                <a:solidFill>
                  <a:srgbClr val="C9A227"/>
                </a:solidFill>
                <a:latin typeface="Georgia" pitchFamily="34" charset="0"/>
                <a:ea typeface="Georgia" pitchFamily="34" charset="-122"/>
                <a:cs typeface="Georgia" pitchFamily="34" charset="-120"/>
              </a:rPr>
              <a:t>Part 1 Complete</a:t>
            </a:r>
            <a:endParaRPr lang="en-US" sz="1800" dirty="0"/>
          </a:p>
        </p:txBody>
      </p:sp>
      <p:sp>
        <p:nvSpPr>
          <p:cNvPr id="6" name="Text 3"/>
          <p:cNvSpPr/>
          <p:nvPr/>
        </p:nvSpPr>
        <p:spPr>
          <a:xfrm>
            <a:off x="457200" y="3055590"/>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531840"/>
            <a:ext cx="5034754" cy="186630"/>
          </a:xfrm>
          <a:prstGeom prst="rect">
            <a:avLst/>
          </a:prstGeom>
          <a:noFill/>
          <a:ln/>
        </p:spPr>
        <p:txBody>
          <a:bodyPr wrap="square" lIns="0" tIns="0" rIns="0" bIns="0" rtlCol="0" anchor="t"/>
          <a:lstStyle/>
          <a:p>
            <a:pPr marL="0" indent="0" algn="l">
              <a:lnSpc>
                <a:spcPts val="1470"/>
              </a:lnSpc>
              <a:spcAft>
                <a:spcPts val="600"/>
              </a:spcAft>
              <a:buNone/>
            </a:pPr>
            <a:r>
              <a:rPr lang="en-US" sz="1050" dirty="0">
                <a:solidFill>
                  <a:srgbClr val="FFFFFF">
                    <a:alpha val="70000"/>
                  </a:srgbClr>
                </a:solidFill>
                <a:latin typeface="Arial" pitchFamily="34" charset="0"/>
                <a:ea typeface="Arial" pitchFamily="34" charset="-122"/>
                <a:cs typeface="Arial" pitchFamily="34" charset="-120"/>
              </a:rPr>
              <a:t>Questions? Reach out anytime.</a:t>
            </a:r>
            <a:endParaRPr lang="en-US" sz="1050" dirty="0"/>
          </a:p>
        </p:txBody>
      </p:sp>
      <p:sp>
        <p:nvSpPr>
          <p:cNvPr id="8" name="Text 5"/>
          <p:cNvSpPr/>
          <p:nvPr/>
        </p:nvSpPr>
        <p:spPr>
          <a:xfrm>
            <a:off x="457200" y="3947071"/>
            <a:ext cx="5034754" cy="173236"/>
          </a:xfrm>
          <a:prstGeom prst="rect">
            <a:avLst/>
          </a:prstGeom>
          <a:noFill/>
          <a:ln/>
        </p:spPr>
        <p:txBody>
          <a:bodyPr wrap="square" lIns="0" tIns="0" rIns="0" bIns="0" rtlCol="0" anchor="t"/>
          <a:lstStyle/>
          <a:p>
            <a:pPr marL="0" indent="0" algn="l">
              <a:lnSpc>
                <a:spcPts val="1365"/>
              </a:lnSpc>
              <a:buNone/>
            </a:pPr>
            <a:r>
              <a:rPr lang="en-US" sz="975" dirty="0">
                <a:solidFill>
                  <a:srgbClr val="FFFFFF">
                    <a:alpha val="50000"/>
                  </a:srgbClr>
                </a:solidFill>
                <a:latin typeface="Arial" pitchFamily="34" charset="0"/>
                <a:ea typeface="Arial" pitchFamily="34" charset="-122"/>
                <a:cs typeface="Arial" pitchFamily="34" charset="-120"/>
              </a:rPr>
              <a:t>See you in Part 2: Hands-On Practice</a:t>
            </a:r>
            <a:endParaRPr lang="en-US" sz="975" dirty="0"/>
          </a:p>
        </p:txBody>
      </p:sp>
      <p:sp>
        <p:nvSpPr>
          <p:cNvPr id="9" name="Text 6"/>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10" name="Text 7"/>
          <p:cNvSpPr/>
          <p:nvPr/>
        </p:nvSpPr>
        <p:spPr>
          <a:xfrm>
            <a:off x="7176144" y="315516"/>
            <a:ext cx="794546" cy="853380"/>
          </a:xfrm>
          <a:prstGeom prst="rect">
            <a:avLst/>
          </a:prstGeom>
          <a:noFill/>
          <a:ln/>
        </p:spPr>
        <p:txBody>
          <a:bodyPr wrap="square" lIns="0" tIns="0" rIns="0" bIns="0" rtlCol="0" anchor="t"/>
          <a:lstStyle/>
          <a:p>
            <a:pPr marL="0" indent="0" algn="ctr">
              <a:lnSpc>
                <a:spcPts val="6720"/>
              </a:lnSpc>
              <a:buNone/>
            </a:pPr>
            <a:r>
              <a:rPr lang="en-US" sz="4800" dirty="0">
                <a:solidFill>
                  <a:srgbClr val="1A1F2E"/>
                </a:solidFill>
                <a:latin typeface="Georgia" pitchFamily="34" charset="0"/>
                <a:ea typeface="Georgia" pitchFamily="34" charset="-122"/>
                <a:cs typeface="Georgia" pitchFamily="34" charset="-120"/>
              </a:rPr>
              <a:t>1/3</a:t>
            </a:r>
            <a:endParaRPr lang="en-US" sz="4800" dirty="0"/>
          </a:p>
        </p:txBody>
      </p:sp>
      <p:sp>
        <p:nvSpPr>
          <p:cNvPr id="11" name="Text 8"/>
          <p:cNvSpPr/>
          <p:nvPr/>
        </p:nvSpPr>
        <p:spPr>
          <a:xfrm>
            <a:off x="7121496" y="1397496"/>
            <a:ext cx="903693" cy="186630"/>
          </a:xfrm>
          <a:prstGeom prst="rect">
            <a:avLst/>
          </a:prstGeom>
          <a:noFill/>
          <a:ln/>
        </p:spPr>
        <p:txBody>
          <a:bodyPr wrap="square" lIns="0" tIns="0" rIns="0" bIns="0" rtlCol="0" anchor="t"/>
          <a:lstStyle/>
          <a:p>
            <a:pPr marL="0" indent="0" algn="ctr">
              <a:lnSpc>
                <a:spcPts val="1470"/>
              </a:lnSpc>
              <a:spcBef>
                <a:spcPts val="600"/>
              </a:spcBef>
              <a:buNone/>
            </a:pPr>
            <a:r>
              <a:rPr lang="en-US" sz="1050" dirty="0">
                <a:solidFill>
                  <a:srgbClr val="1A1F2E"/>
                </a:solidFill>
                <a:latin typeface="Arial" pitchFamily="34" charset="0"/>
                <a:ea typeface="Arial" pitchFamily="34" charset="-122"/>
                <a:cs typeface="Arial" pitchFamily="34" charset="-120"/>
              </a:rPr>
              <a:t>COMPLETE</a:t>
            </a:r>
            <a:endParaRPr lang="en-US" sz="1050" dirty="0"/>
          </a:p>
        </p:txBody>
      </p:sp>
      <p:sp>
        <p:nvSpPr>
          <p:cNvPr id="12" name="Text 9"/>
          <p:cNvSpPr/>
          <p:nvPr/>
        </p:nvSpPr>
        <p:spPr>
          <a:xfrm>
            <a:off x="6307634" y="2356842"/>
            <a:ext cx="2531566" cy="649486"/>
          </a:xfrm>
          <a:prstGeom prst="rect">
            <a:avLst/>
          </a:prstGeom>
          <a:solidFill>
            <a:srgbClr val="1A1F2E">
              <a:alpha val="10000"/>
            </a:srgbClr>
          </a:solidFill>
          <a:ln/>
        </p:spPr>
        <p:txBody>
          <a:bodyPr wrap="square" rtlCol="0" anchor="ctr"/>
          <a:lstStyle/>
          <a:p>
            <a:pPr marL="0" indent="0">
              <a:buNone/>
            </a:pPr>
            <a:endParaRPr lang="en-US" dirty="0"/>
          </a:p>
        </p:txBody>
      </p:sp>
      <p:sp>
        <p:nvSpPr>
          <p:cNvPr id="13" name="Text 10"/>
          <p:cNvSpPr/>
          <p:nvPr/>
        </p:nvSpPr>
        <p:spPr>
          <a:xfrm>
            <a:off x="6460034" y="2509242"/>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solidFill>
                <a:latin typeface="Arial" pitchFamily="34" charset="0"/>
                <a:ea typeface="Arial" pitchFamily="34" charset="-122"/>
                <a:cs typeface="Arial" pitchFamily="34" charset="-120"/>
              </a:rPr>
              <a:t>Today</a:t>
            </a:r>
            <a:endParaRPr lang="en-US" sz="900" dirty="0"/>
          </a:p>
        </p:txBody>
      </p:sp>
      <p:sp>
        <p:nvSpPr>
          <p:cNvPr id="14" name="Text 11"/>
          <p:cNvSpPr/>
          <p:nvPr/>
        </p:nvSpPr>
        <p:spPr>
          <a:xfrm>
            <a:off x="6460034" y="2707332"/>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70000"/>
                  </a:srgbClr>
                </a:solidFill>
                <a:latin typeface="Arial" pitchFamily="34" charset="0"/>
                <a:ea typeface="Arial" pitchFamily="34" charset="-122"/>
                <a:cs typeface="Arial" pitchFamily="34" charset="-120"/>
              </a:rPr>
              <a:t>Setup &amp; Tool Overview</a:t>
            </a:r>
            <a:endParaRPr lang="en-US" sz="825" dirty="0"/>
          </a:p>
        </p:txBody>
      </p:sp>
      <p:sp>
        <p:nvSpPr>
          <p:cNvPr id="15" name="Text 12"/>
          <p:cNvSpPr/>
          <p:nvPr/>
        </p:nvSpPr>
        <p:spPr>
          <a:xfrm>
            <a:off x="6307634" y="3273028"/>
            <a:ext cx="2531566" cy="649486"/>
          </a:xfrm>
          <a:prstGeom prst="rect">
            <a:avLst/>
          </a:prstGeom>
          <a:solidFill>
            <a:srgbClr val="1A1F2E">
              <a:alpha val="5000"/>
            </a:srgbClr>
          </a:solidFill>
          <a:ln/>
        </p:spPr>
        <p:txBody>
          <a:bodyPr wrap="square" rtlCol="0" anchor="ctr"/>
          <a:lstStyle/>
          <a:p>
            <a:pPr marL="0" indent="0">
              <a:buNone/>
            </a:pPr>
            <a:endParaRPr lang="en-US" dirty="0"/>
          </a:p>
        </p:txBody>
      </p:sp>
      <p:sp>
        <p:nvSpPr>
          <p:cNvPr id="16" name="Text 13"/>
          <p:cNvSpPr/>
          <p:nvPr/>
        </p:nvSpPr>
        <p:spPr>
          <a:xfrm>
            <a:off x="6460034" y="3425428"/>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Next</a:t>
            </a:r>
            <a:endParaRPr lang="en-US" sz="900" dirty="0"/>
          </a:p>
        </p:txBody>
      </p:sp>
      <p:sp>
        <p:nvSpPr>
          <p:cNvPr id="17" name="Text 14"/>
          <p:cNvSpPr/>
          <p:nvPr/>
        </p:nvSpPr>
        <p:spPr>
          <a:xfrm>
            <a:off x="6460034" y="3623518"/>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50000"/>
                  </a:srgbClr>
                </a:solidFill>
                <a:latin typeface="Arial" pitchFamily="34" charset="0"/>
                <a:ea typeface="Arial" pitchFamily="34" charset="-122"/>
                <a:cs typeface="Arial" pitchFamily="34" charset="-120"/>
              </a:rPr>
              <a:t>Hands-On Practice</a:t>
            </a:r>
            <a:endParaRPr lang="en-US" sz="825" dirty="0"/>
          </a:p>
        </p:txBody>
      </p:sp>
      <p:sp>
        <p:nvSpPr>
          <p:cNvPr id="18" name="Text 15"/>
          <p:cNvSpPr/>
          <p:nvPr/>
        </p:nvSpPr>
        <p:spPr>
          <a:xfrm>
            <a:off x="6307634" y="4189214"/>
            <a:ext cx="2531566" cy="649486"/>
          </a:xfrm>
          <a:prstGeom prst="rect">
            <a:avLst/>
          </a:prstGeom>
          <a:solidFill>
            <a:srgbClr val="1A1F2E">
              <a:alpha val="5000"/>
            </a:srgbClr>
          </a:solidFill>
          <a:ln/>
        </p:spPr>
        <p:txBody>
          <a:bodyPr wrap="square" rtlCol="0" anchor="ctr"/>
          <a:lstStyle/>
          <a:p>
            <a:pPr marL="0" indent="0">
              <a:buNone/>
            </a:pPr>
            <a:endParaRPr lang="en-US" dirty="0"/>
          </a:p>
        </p:txBody>
      </p:sp>
      <p:sp>
        <p:nvSpPr>
          <p:cNvPr id="19" name="Text 16"/>
          <p:cNvSpPr/>
          <p:nvPr/>
        </p:nvSpPr>
        <p:spPr>
          <a:xfrm>
            <a:off x="6460034" y="4341614"/>
            <a:ext cx="2271302" cy="159990"/>
          </a:xfrm>
          <a:prstGeom prst="rect">
            <a:avLst/>
          </a:prstGeom>
          <a:noFill/>
          <a:ln/>
        </p:spPr>
        <p:txBody>
          <a:bodyPr wrap="square" lIns="0" tIns="0" rIns="0" bIns="0" rtlCol="0" anchor="t"/>
          <a:lstStyle/>
          <a:p>
            <a:pPr marL="0" indent="0" algn="l">
              <a:lnSpc>
                <a:spcPts val="1260"/>
              </a:lnSpc>
              <a:spcAft>
                <a:spcPts val="300"/>
              </a:spcAft>
              <a:buNone/>
            </a:pPr>
            <a:r>
              <a:rPr lang="en-US" sz="900" b="1" dirty="0">
                <a:solidFill>
                  <a:srgbClr val="1A1F2E">
                    <a:alpha val="60000"/>
                  </a:srgbClr>
                </a:solidFill>
                <a:latin typeface="Arial" pitchFamily="34" charset="0"/>
                <a:ea typeface="Arial" pitchFamily="34" charset="-122"/>
                <a:cs typeface="Arial" pitchFamily="34" charset="-120"/>
              </a:rPr>
              <a:t>Final</a:t>
            </a:r>
            <a:endParaRPr lang="en-US" sz="900" dirty="0"/>
          </a:p>
        </p:txBody>
      </p:sp>
      <p:sp>
        <p:nvSpPr>
          <p:cNvPr id="20" name="Text 17"/>
          <p:cNvSpPr/>
          <p:nvPr/>
        </p:nvSpPr>
        <p:spPr>
          <a:xfrm>
            <a:off x="6460034" y="4539704"/>
            <a:ext cx="2271302" cy="146596"/>
          </a:xfrm>
          <a:prstGeom prst="rect">
            <a:avLst/>
          </a:prstGeom>
          <a:noFill/>
          <a:ln/>
        </p:spPr>
        <p:txBody>
          <a:bodyPr wrap="square" lIns="0" tIns="0" rIns="0" bIns="0" rtlCol="0" anchor="t"/>
          <a:lstStyle/>
          <a:p>
            <a:pPr marL="0" indent="0" algn="l">
              <a:lnSpc>
                <a:spcPts val="1155"/>
              </a:lnSpc>
              <a:buNone/>
            </a:pPr>
            <a:r>
              <a:rPr lang="en-US" sz="825" dirty="0">
                <a:solidFill>
                  <a:srgbClr val="1A1F2E">
                    <a:alpha val="50000"/>
                  </a:srgbClr>
                </a:solidFill>
                <a:latin typeface="Arial" pitchFamily="34" charset="0"/>
                <a:ea typeface="Arial" pitchFamily="34" charset="-122"/>
                <a:cs typeface="Arial" pitchFamily="34" charset="-120"/>
              </a:rPr>
              <a:t>Build a Transcriber</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7835</Words>
  <Application>Microsoft Macintosh PowerPoint</Application>
  <PresentationFormat>On-screen Show (16:9)</PresentationFormat>
  <Paragraphs>1483</Paragraphs>
  <Slides>65</Slides>
  <Notes>65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Arial</vt:lpstr>
      <vt:lpstr>Georgia</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Voice-Driven AI Development Workflows - Part 1</dc:title>
  <dc:subject>Setup, Introduction &amp; Tool Overview</dc:subject>
  <dc:creator>Austin Public Health</dc:creator>
  <cp:lastModifiedBy>c c</cp:lastModifiedBy>
  <cp:revision>2</cp:revision>
  <dcterms:created xsi:type="dcterms:W3CDTF">2026-01-14T09:34:34Z</dcterms:created>
  <dcterms:modified xsi:type="dcterms:W3CDTF">2026-01-14T18:47:18Z</dcterms:modified>
</cp:coreProperties>
</file>