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91" r:id="rId21"/>
    <p:sldId id="292" r:id="rId22"/>
    <p:sldId id="275" r:id="rId23"/>
    <p:sldId id="276" r:id="rId24"/>
    <p:sldId id="293" r:id="rId25"/>
    <p:sldId id="289" r:id="rId26"/>
    <p:sldId id="277" r:id="rId27"/>
    <p:sldId id="294" r:id="rId28"/>
    <p:sldId id="295" r:id="rId29"/>
    <p:sldId id="296" r:id="rId30"/>
    <p:sldId id="278" r:id="rId31"/>
    <p:sldId id="279" r:id="rId32"/>
    <p:sldId id="299" r:id="rId33"/>
    <p:sldId id="298" r:id="rId34"/>
    <p:sldId id="297" r:id="rId35"/>
    <p:sldId id="300" r:id="rId36"/>
    <p:sldId id="301" r:id="rId37"/>
    <p:sldId id="302" r:id="rId38"/>
    <p:sldId id="290" r:id="rId39"/>
    <p:sldId id="280" r:id="rId40"/>
    <p:sldId id="281" r:id="rId41"/>
    <p:sldId id="282" r:id="rId42"/>
    <p:sldId id="283" r:id="rId43"/>
    <p:sldId id="284" r:id="rId44"/>
    <p:sldId id="285" r:id="rId45"/>
    <p:sldId id="286" r:id="rId46"/>
    <p:sldId id="287" r:id="rId47"/>
    <p:sldId id="288" r:id="rId4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01"/>
    <p:restoredTop sz="94610"/>
  </p:normalViewPr>
  <p:slideViewPr>
    <p:cSldViewPr snapToGrid="0" snapToObjects="1">
      <p:cViewPr varScale="1">
        <p:scale>
          <a:sx n="255" d="100"/>
          <a:sy n="255" d="100"/>
        </p:scale>
        <p:origin x="2336"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3866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Part 1 of our Voice-Driven AI Development Workflows series. Today we're covering setup, introduction, and tool overview. This 90-minute session will give you the foundation to start using voice-driven development.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full series. Today is Part 1 focusing on understanding the tools. Part 2 will be hands-on practice with your own projects. Part 3 culminates in building a real meeting transcriber application together.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here is that we think faster than we type. Voice-driven development closes that gap. Keyboards are a bottleneck. Voice input lets you work at the speed of thought.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benefits: Ergonomic benefits for anyone typing all day. Productivity gains from faster iteration. Multitasking when your hands are free. Accessibility opens development to more people.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agenda for today. Note the time allocations - we'll focus on voice tools and SuperWhisper configuration. Workshop materials are available for independent practice.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Now we're getting into the tools. The acoustic layer captures your voice and turns it into 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SuperWhisper is our primary recommendation. Works on Mac, Windows, and iOS. Key: it offers BOTH local AND cloud processing. Free tier includes local models - completely privacy-safe for PHI.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why local processing matters. With SuperWhisper's local models, the entire flow stays on your machine. For PHI and sensitive data, use local models only.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Wispr Flow is the cross-platform alternative. Works on Mac, Windows, and iOS. Free tier with 2000 words per week. Context awareness auto-detects which app you're using. IMPORTANT: Wispr Flow is CLOUD-ONLY.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limitation for government users. Unlike SuperWhisper, Wispr Flow does NOT offer local processing. Privacy Mode means zero data retention - but audio IS still sent to cloud servers. For true local processing, use SuperWhisper.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comparison. KEY DIFFERENCE: SuperWhisper offers true local processing - audio never leaves your device. Wispr Flow is cloud-only - even with Privacy Mode, audio goes to servers. SuperWhisper for PHI.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flowchart. If you handle PHI or sensitive data, SuperWhisper with local models is the clear choice. Wispr Flow is excellent for non-sensitive work where you want context-aware formatting.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we're using SuperWhisper for this workshop: free local models that are PHI-safe out of the box, cross-platform support, and custom modes we can build together.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Security and compliance - critical for government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 awareness diagram. Green is local and safe. Blue is your Azure tenant - verify BAA status. Red/Yellow is public cloud - Wispr Flow is cloud-based even with Privacy Mode.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 guidance: SAFE tools include SuperWhisper with local models (free tier works!) and Azure with BAA. CAUTION with Wispr Flow - Privacy Mode means zero retention but audio still goes to cloud.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checklist. Before starting: verify tool configuration, check privacy mode, confirm endpoint routing. Before each use: consider data sensitivity, choose appropriate tool.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Now we're getting into the hands-on portion. This is where we'll actually configure SuperWhisper for your specific workflows.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setup walkthrough. Five steps from installation to your first successful dictation. Key: select a local model first for privacy, then test to confirm it works.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effective AI instructions. The XML structure helps organize your prompt: role defines who the AI is, instructions specify what to do, requirements list constraints. Examples dramatically improve accuracy.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awareness lets your modes adapt. Application context detects which app is active, selected text passes highlighted content, clipboard provides reference material. Auto-activation means the right mode engages automatically.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and replacements fine-tune recognition. Vocabulary helps the AI recognize custom terms during transcription. Replacements correct errors after transcription - programmatic and 100% reliable.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Workshop time. We'll build five practical custom modes together. Each one is designed for a specific application context. You'll leave with ready-to-use configurations.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Enrichment Mode - the KEY insight. SuperWhisper is an INPUT METHOD, not a code generator. This mode transforms your rambling speech into clear, structured prompts ready to paste into ANY AI tool - Claude, ChatGPT, Cursor, whatever you use.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Teams Chat Mode - perfect for workplace messaging. Teams has no native dictation, so SuperWhisper fills this gap. Short, professional messages. Watch how 'at Sarah' converts to '@Sarah' mentions.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 Email Mode - transforms rambling dictation into structured emails. Select text before dictating to treat it as the email you're replying to. Great for quick responses.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Terminal Mode - optimized for giving detailed prompts to Claude. Voice is perfect for complex instructions. Copy an error to clipboard, dictate 'fix this error', paste to Claude.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Handoff Mode - the advanced pattern. This takes prompt enrichment further, specifically for AI coding agents. Instead of just cleaning up your speech, it structures your task with objective, scope, constraints, and success criteria. AI agents perform significantly better with structured specifications.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switching demo - the magic of auto-activation. Watch the menu bar indicator as I switch from VS Code to Teams to Outlook to Terminal. Same hotkey, same natural speech, output adapts.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Wrapping up and preparing for Part 2.</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Pre-work for Part 2: Install SuperWhisper, set up your custom modes based on what we learned today, identify a project to work on, bring questions.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preview: Real hands-on exercises with your own projects. We'll troubleshoot issues together and share tips. You'll leave with working tools integrated into your workflow.</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Part 1 of 3 complete. Workshop materials and exercises are available for independent practice. Questions? See you in Part 2!</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var/folders/8s/qp6qfsr90ml5q7fb2n2ptwch0000gn/T/rasterized-gradient-2d1cab90.png"/>
          <p:cNvPicPr>
            <a:picLocks noChangeAspect="1"/>
          </p:cNvPicPr>
          <p:nvPr/>
        </p:nvPicPr>
        <p:blipFill>
          <a:blip r:embed="rId3"/>
          <a:stretch>
            <a:fillRect/>
          </a:stretch>
        </p:blipFill>
        <p:spPr>
          <a:xfrm>
            <a:off x="0" y="0"/>
            <a:ext cx="5850434" cy="5143500"/>
          </a:xfrm>
          <a:prstGeom prst="rect">
            <a:avLst/>
          </a:prstGeom>
        </p:spPr>
      </p:pic>
      <p:sp>
        <p:nvSpPr>
          <p:cNvPr id="3" name="Text 0"/>
          <p:cNvSpPr/>
          <p:nvPr/>
        </p:nvSpPr>
        <p:spPr>
          <a:xfrm>
            <a:off x="457200" y="993577"/>
            <a:ext cx="5034754" cy="146596"/>
          </a:xfrm>
          <a:prstGeom prst="rect">
            <a:avLst/>
          </a:prstGeom>
          <a:noFill/>
          <a:ln/>
        </p:spPr>
        <p:txBody>
          <a:bodyPr wrap="square" lIns="0" tIns="0" rIns="0" bIns="0" rtlCol="0" anchor="t"/>
          <a:lstStyle/>
          <a:p>
            <a:pPr marL="0" indent="0" algn="l">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483072"/>
            <a:ext cx="3050667" cy="921841"/>
          </a:xfrm>
          <a:prstGeom prst="rect">
            <a:avLst/>
          </a:prstGeom>
          <a:noFill/>
          <a:ln/>
        </p:spPr>
        <p:txBody>
          <a:bodyPr wrap="square" lIns="0" tIns="0" rIns="0" bIns="0" rtlCol="0" anchor="t"/>
          <a:lstStyle/>
          <a:p>
            <a:pPr marL="0" indent="0" algn="l">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Voice-Driven AI Development</a:t>
            </a:r>
            <a:endParaRPr lang="en-US" sz="3300" dirty="0"/>
          </a:p>
        </p:txBody>
      </p:sp>
      <p:sp>
        <p:nvSpPr>
          <p:cNvPr id="5" name="Text 2"/>
          <p:cNvSpPr/>
          <p:nvPr/>
        </p:nvSpPr>
        <p:spPr>
          <a:xfrm>
            <a:off x="457200" y="2709714"/>
            <a:ext cx="5034754" cy="319980"/>
          </a:xfrm>
          <a:prstGeom prst="rect">
            <a:avLst/>
          </a:prstGeom>
          <a:noFill/>
          <a:ln/>
        </p:spPr>
        <p:txBody>
          <a:bodyPr wrap="square" lIns="0" tIns="0" rIns="0" bIns="0" rtlCol="0" anchor="t"/>
          <a:lstStyle/>
          <a:p>
            <a:pPr marL="0" indent="0" algn="l">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Workflows</a:t>
            </a:r>
            <a:endParaRPr lang="en-US" sz="1800" dirty="0"/>
          </a:p>
        </p:txBody>
      </p:sp>
      <p:sp>
        <p:nvSpPr>
          <p:cNvPr id="6" name="Text 3"/>
          <p:cNvSpPr/>
          <p:nvPr/>
        </p:nvSpPr>
        <p:spPr>
          <a:xfrm>
            <a:off x="457200" y="3486894"/>
            <a:ext cx="762000" cy="19050"/>
          </a:xfrm>
          <a:prstGeom prst="rect">
            <a:avLst/>
          </a:prstGeom>
          <a:solidFill>
            <a:srgbClr val="C9A227"/>
          </a:solidFill>
          <a:ln/>
        </p:spPr>
        <p:txBody>
          <a:bodyPr wrap="square" rtlCol="0" anchor="ctr"/>
          <a:lstStyle/>
          <a:p>
            <a:pPr marL="0" indent="0">
              <a:buNone/>
            </a:pPr>
            <a:endParaRPr lang="en-US" dirty="0"/>
          </a:p>
        </p:txBody>
      </p:sp>
      <p:sp>
        <p:nvSpPr>
          <p:cNvPr id="7" name="Text 4"/>
          <p:cNvSpPr/>
          <p:nvPr/>
        </p:nvSpPr>
        <p:spPr>
          <a:xfrm>
            <a:off x="457200" y="3963144"/>
            <a:ext cx="5034754" cy="186630"/>
          </a:xfrm>
          <a:prstGeom prst="rect">
            <a:avLst/>
          </a:prstGeom>
          <a:noFill/>
          <a:ln/>
        </p:spPr>
        <p:txBody>
          <a:bodyPr wrap="square" lIns="0" tIns="0" rIns="0" bIns="0" rtlCol="0" anchor="t"/>
          <a:lstStyle/>
          <a:p>
            <a:pPr marL="0" indent="0" algn="l">
              <a:lnSpc>
                <a:spcPts val="1470"/>
              </a:lnSpc>
              <a:buNone/>
            </a:pPr>
            <a:r>
              <a:rPr lang="en-US" sz="1050" dirty="0">
                <a:solidFill>
                  <a:srgbClr val="FFFFFF">
                    <a:alpha val="70000"/>
                  </a:srgbClr>
                </a:solidFill>
                <a:latin typeface="Arial" pitchFamily="34" charset="0"/>
                <a:ea typeface="Arial" pitchFamily="34" charset="-122"/>
                <a:cs typeface="Arial" pitchFamily="34" charset="-120"/>
              </a:rPr>
              <a:t>Part 1 of 3: Setup, Introduction &amp; Tool Overview</a:t>
            </a:r>
            <a:endParaRPr lang="en-US" sz="1050" dirty="0"/>
          </a:p>
        </p:txBody>
      </p:sp>
      <p:sp>
        <p:nvSpPr>
          <p:cNvPr id="8" name="Text 5"/>
          <p:cNvSpPr/>
          <p:nvPr/>
        </p:nvSpPr>
        <p:spPr>
          <a:xfrm>
            <a:off x="6002834" y="0"/>
            <a:ext cx="3141166" cy="5143500"/>
          </a:xfrm>
          <a:prstGeom prst="rect">
            <a:avLst/>
          </a:prstGeom>
          <a:solidFill>
            <a:srgbClr val="C9A227"/>
          </a:solidFill>
          <a:ln/>
        </p:spPr>
        <p:txBody>
          <a:bodyPr wrap="square" rtlCol="0" anchor="ctr"/>
          <a:lstStyle/>
          <a:p>
            <a:pPr marL="0" indent="0">
              <a:buNone/>
            </a:pPr>
            <a:endParaRPr lang="en-US" dirty="0"/>
          </a:p>
        </p:txBody>
      </p:sp>
      <p:sp>
        <p:nvSpPr>
          <p:cNvPr id="9" name="Text 6"/>
          <p:cNvSpPr/>
          <p:nvPr/>
        </p:nvSpPr>
        <p:spPr>
          <a:xfrm>
            <a:off x="7160812" y="1525042"/>
            <a:ext cx="825210" cy="960090"/>
          </a:xfrm>
          <a:prstGeom prst="rect">
            <a:avLst/>
          </a:prstGeom>
          <a:noFill/>
          <a:ln/>
        </p:spPr>
        <p:txBody>
          <a:bodyPr wrap="square" lIns="0" tIns="0" rIns="0" bIns="0" rtlCol="0" anchor="t"/>
          <a:lstStyle/>
          <a:p>
            <a:pPr marL="0" indent="0" algn="ctr">
              <a:lnSpc>
                <a:spcPts val="7560"/>
              </a:lnSpc>
              <a:buNone/>
            </a:pPr>
            <a:r>
              <a:rPr lang="en-US" sz="5400" dirty="0">
                <a:solidFill>
                  <a:srgbClr val="1A1F2E"/>
                </a:solidFill>
                <a:latin typeface="Georgia" pitchFamily="34" charset="0"/>
                <a:ea typeface="Georgia" pitchFamily="34" charset="-122"/>
                <a:cs typeface="Georgia" pitchFamily="34" charset="-120"/>
              </a:rPr>
              <a:t>90</a:t>
            </a:r>
            <a:endParaRPr lang="en-US" sz="5400" dirty="0"/>
          </a:p>
        </p:txBody>
      </p:sp>
      <p:sp>
        <p:nvSpPr>
          <p:cNvPr id="10" name="Text 7"/>
          <p:cNvSpPr/>
          <p:nvPr/>
        </p:nvSpPr>
        <p:spPr>
          <a:xfrm>
            <a:off x="7199370" y="2675632"/>
            <a:ext cx="748094" cy="186630"/>
          </a:xfrm>
          <a:prstGeom prst="rect">
            <a:avLst/>
          </a:prstGeom>
          <a:noFill/>
          <a:ln/>
        </p:spPr>
        <p:txBody>
          <a:bodyPr wrap="square" lIns="0" tIns="0" rIns="0" bIns="0" rtlCol="0" anchor="t"/>
          <a:lstStyle/>
          <a:p>
            <a:pPr marL="0" indent="0" algn="ctr">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MINUTES</a:t>
            </a:r>
            <a:endParaRPr lang="en-US" sz="1050" dirty="0"/>
          </a:p>
        </p:txBody>
      </p:sp>
      <p:sp>
        <p:nvSpPr>
          <p:cNvPr id="11" name="Text 8"/>
          <p:cNvSpPr/>
          <p:nvPr/>
        </p:nvSpPr>
        <p:spPr>
          <a:xfrm>
            <a:off x="6204594" y="4768304"/>
            <a:ext cx="2737646" cy="146596"/>
          </a:xfrm>
          <a:prstGeom prst="rect">
            <a:avLst/>
          </a:prstGeom>
          <a:noFill/>
          <a:ln/>
        </p:spPr>
        <p:txBody>
          <a:bodyPr wrap="square" lIns="0" tIns="0" rIns="0" bIns="0" rtlCol="0" anchor="t"/>
          <a:lstStyle/>
          <a:p>
            <a:pPr marL="0" indent="0" algn="ctr">
              <a:lnSpc>
                <a:spcPts val="1155"/>
              </a:lnSpc>
              <a:buNone/>
            </a:pPr>
            <a:r>
              <a:rPr lang="en-US" sz="825" dirty="0">
                <a:solidFill>
                  <a:srgbClr val="1A1F2E">
                    <a:alpha val="60000"/>
                  </a:srgbClr>
                </a:solidFill>
                <a:latin typeface="Arial" pitchFamily="34" charset="0"/>
                <a:ea typeface="Arial" pitchFamily="34" charset="-122"/>
                <a:cs typeface="Arial" pitchFamily="34" charset="-120"/>
              </a:rPr>
              <a:t>AI Technology Training Series</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YOUR LEARNING JOURNEY</a:t>
            </a:r>
            <a:endParaRPr lang="en-US" sz="825" dirty="0"/>
          </a:p>
        </p:txBody>
      </p:sp>
      <p:sp>
        <p:nvSpPr>
          <p:cNvPr id="3" name="Text 1"/>
          <p:cNvSpPr/>
          <p:nvPr/>
        </p:nvSpPr>
        <p:spPr>
          <a:xfrm>
            <a:off x="457200" y="527596"/>
            <a:ext cx="6868859" cy="342900"/>
          </a:xfrm>
          <a:prstGeom prst="rect">
            <a:avLst/>
          </a:prstGeom>
          <a:noFill/>
          <a:ln/>
        </p:spPr>
        <p:txBody>
          <a:bodyPr wrap="square" lIns="0" tIns="0" rIns="0" bIns="0" rtlCol="0" anchor="t"/>
          <a:lstStyle/>
          <a:p>
            <a:pPr marL="0" indent="0" algn="l">
              <a:lnSpc>
                <a:spcPts val="2700"/>
              </a:lnSpc>
              <a:buNone/>
            </a:pPr>
            <a:r>
              <a:rPr lang="en-US" sz="2700" dirty="0">
                <a:solidFill>
                  <a:srgbClr val="1A1F2E"/>
                </a:solidFill>
                <a:latin typeface="Georgia" pitchFamily="34" charset="0"/>
                <a:ea typeface="Georgia" pitchFamily="34" charset="-122"/>
                <a:cs typeface="Georgia" pitchFamily="34" charset="-120"/>
              </a:rPr>
              <a:t>Three Sessions to Transform Your Workflow</a:t>
            </a:r>
            <a:endParaRPr lang="en-US" sz="2700" dirty="0"/>
          </a:p>
        </p:txBody>
      </p:sp>
      <p:sp>
        <p:nvSpPr>
          <p:cNvPr id="4" name="Text 2"/>
          <p:cNvSpPr/>
          <p:nvPr/>
        </p:nvSpPr>
        <p:spPr>
          <a:xfrm>
            <a:off x="457200" y="1415653"/>
            <a:ext cx="2603450" cy="3182689"/>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85800" y="1320403"/>
            <a:ext cx="675382" cy="2095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838200" y="1358503"/>
            <a:ext cx="377994"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TODAY</a:t>
            </a:r>
            <a:endParaRPr lang="en-US" sz="750" dirty="0"/>
          </a:p>
        </p:txBody>
      </p:sp>
      <p:sp>
        <p:nvSpPr>
          <p:cNvPr id="7" name="Text 5"/>
          <p:cNvSpPr/>
          <p:nvPr/>
        </p:nvSpPr>
        <p:spPr>
          <a:xfrm>
            <a:off x="723900" y="1682353"/>
            <a:ext cx="2111451" cy="639961"/>
          </a:xfrm>
          <a:prstGeom prst="rect">
            <a:avLst/>
          </a:prstGeom>
          <a:noFill/>
          <a:ln/>
        </p:spPr>
        <p:txBody>
          <a:bodyPr wrap="square" lIns="0" tIns="0" rIns="0" bIns="0" rtlCol="0" anchor="t"/>
          <a:lstStyle/>
          <a:p>
            <a:pPr marL="0" indent="0" algn="l">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01</a:t>
            </a:r>
            <a:endParaRPr lang="en-US" sz="3600" dirty="0"/>
          </a:p>
        </p:txBody>
      </p:sp>
      <p:sp>
        <p:nvSpPr>
          <p:cNvPr id="8" name="Text 6"/>
          <p:cNvSpPr/>
          <p:nvPr/>
        </p:nvSpPr>
        <p:spPr>
          <a:xfrm>
            <a:off x="723900" y="2512814"/>
            <a:ext cx="2111451" cy="239911"/>
          </a:xfrm>
          <a:prstGeom prst="rect">
            <a:avLst/>
          </a:prstGeom>
          <a:noFill/>
          <a:ln/>
        </p:spPr>
        <p:txBody>
          <a:bodyPr wrap="square" lIns="0" tIns="0" rIns="0" bIns="0" rtlCol="0" anchor="t"/>
          <a:lstStyle/>
          <a:p>
            <a:pPr marL="0" indent="0" algn="l">
              <a:lnSpc>
                <a:spcPts val="1890"/>
              </a:lnSpc>
              <a:spcAft>
                <a:spcPts val="1200"/>
              </a:spcAft>
              <a:buNone/>
            </a:pPr>
            <a:r>
              <a:rPr lang="en-US" sz="1350" dirty="0">
                <a:solidFill>
                  <a:srgbClr val="FFFFFF"/>
                </a:solidFill>
                <a:latin typeface="Georgia" pitchFamily="34" charset="0"/>
                <a:ea typeface="Georgia" pitchFamily="34" charset="-122"/>
                <a:cs typeface="Georgia" pitchFamily="34" charset="-120"/>
              </a:rPr>
              <a:t>Setup &amp; Tool Overview</a:t>
            </a:r>
            <a:endParaRPr lang="en-US" sz="1350" dirty="0"/>
          </a:p>
        </p:txBody>
      </p:sp>
      <p:sp>
        <p:nvSpPr>
          <p:cNvPr id="9" name="Text 7"/>
          <p:cNvSpPr/>
          <p:nvPr/>
        </p:nvSpPr>
        <p:spPr>
          <a:xfrm>
            <a:off x="723900" y="3057525"/>
            <a:ext cx="2111451" cy="822722"/>
          </a:xfrm>
          <a:prstGeom prst="rect">
            <a:avLst/>
          </a:prstGeom>
          <a:noFill/>
          <a:ln/>
        </p:spPr>
        <p:txBody>
          <a:bodyPr wrap="square" lIns="0" tIns="0" rIns="0" bIns="0" rtlCol="0" anchor="t"/>
          <a:lstStyle/>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Voice input tools</a:t>
            </a:r>
            <a:endParaRPr lang="en-US" sz="900" dirty="0"/>
          </a:p>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AI coding assistants</a:t>
            </a:r>
            <a:endParaRPr lang="en-US" sz="900" dirty="0"/>
          </a:p>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Enterprise configuration</a:t>
            </a:r>
            <a:endParaRPr lang="en-US" sz="900" dirty="0"/>
          </a:p>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Security fundamentals</a:t>
            </a:r>
          </a:p>
          <a:p>
            <a:pPr marL="0" indent="0" algn="l">
              <a:lnSpc>
                <a:spcPts val="1620"/>
              </a:lnSpc>
              <a:buNone/>
            </a:pPr>
            <a:r>
              <a:rPr lang="en-US" sz="900" dirty="0">
                <a:solidFill>
                  <a:srgbClr val="FFFFFF">
                    <a:alpha val="60000"/>
                  </a:srgbClr>
                </a:solidFill>
                <a:latin typeface="Arial" pitchFamily="34" charset="0"/>
                <a:cs typeface="Arial" pitchFamily="34" charset="-120"/>
              </a:rPr>
              <a:t>Setup Voice Tooling</a:t>
            </a:r>
            <a:endParaRPr lang="en-US" sz="900" dirty="0"/>
          </a:p>
        </p:txBody>
      </p:sp>
      <p:sp>
        <p:nvSpPr>
          <p:cNvPr id="10" name="Text 8"/>
          <p:cNvSpPr/>
          <p:nvPr/>
        </p:nvSpPr>
        <p:spPr>
          <a:xfrm>
            <a:off x="723900" y="4185047"/>
            <a:ext cx="2111451"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40000"/>
                  </a:srgbClr>
                </a:solidFill>
                <a:latin typeface="Arial" pitchFamily="34" charset="0"/>
                <a:ea typeface="Arial" pitchFamily="34" charset="-122"/>
                <a:cs typeface="Arial" pitchFamily="34" charset="-120"/>
              </a:rPr>
              <a:t>90 minutes</a:t>
            </a:r>
            <a:endParaRPr lang="en-US" sz="825" dirty="0"/>
          </a:p>
        </p:txBody>
      </p:sp>
      <p:sp>
        <p:nvSpPr>
          <p:cNvPr id="11" name="Text 9"/>
          <p:cNvSpPr/>
          <p:nvPr/>
        </p:nvSpPr>
        <p:spPr>
          <a:xfrm>
            <a:off x="3251150" y="1406128"/>
            <a:ext cx="2622500" cy="320173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2" name="Text 10"/>
          <p:cNvSpPr/>
          <p:nvPr/>
        </p:nvSpPr>
        <p:spPr>
          <a:xfrm>
            <a:off x="3527375" y="1682353"/>
            <a:ext cx="2111451" cy="639961"/>
          </a:xfrm>
          <a:prstGeom prst="rect">
            <a:avLst/>
          </a:prstGeom>
          <a:noFill/>
          <a:ln/>
        </p:spPr>
        <p:txBody>
          <a:bodyPr wrap="square" lIns="0" tIns="0" rIns="0" bIns="0" rtlCol="0" anchor="t"/>
          <a:lstStyle/>
          <a:p>
            <a:pPr marL="0" indent="0" algn="l">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02</a:t>
            </a:r>
            <a:endParaRPr lang="en-US" sz="3600" dirty="0"/>
          </a:p>
        </p:txBody>
      </p:sp>
      <p:sp>
        <p:nvSpPr>
          <p:cNvPr id="13" name="Text 11"/>
          <p:cNvSpPr/>
          <p:nvPr/>
        </p:nvSpPr>
        <p:spPr>
          <a:xfrm>
            <a:off x="3527375" y="2512814"/>
            <a:ext cx="2111451" cy="239911"/>
          </a:xfrm>
          <a:prstGeom prst="rect">
            <a:avLst/>
          </a:prstGeom>
          <a:noFill/>
          <a:ln/>
        </p:spPr>
        <p:txBody>
          <a:bodyPr wrap="square" lIns="0" tIns="0" rIns="0" bIns="0" rtlCol="0" anchor="t"/>
          <a:lstStyle/>
          <a:p>
            <a:pPr marL="0" indent="0" algn="l">
              <a:lnSpc>
                <a:spcPts val="1890"/>
              </a:lnSpc>
              <a:spcAft>
                <a:spcPts val="1200"/>
              </a:spcAft>
              <a:buNone/>
            </a:pPr>
            <a:r>
              <a:rPr lang="en-US" sz="1350" dirty="0">
                <a:solidFill>
                  <a:srgbClr val="1A1F2E"/>
                </a:solidFill>
                <a:latin typeface="Georgia" pitchFamily="34" charset="0"/>
              </a:rPr>
              <a:t>Build a Web App</a:t>
            </a:r>
            <a:endParaRPr lang="en-US" sz="1350" dirty="0"/>
          </a:p>
        </p:txBody>
      </p:sp>
      <p:sp>
        <p:nvSpPr>
          <p:cNvPr id="14" name="Text 12"/>
          <p:cNvSpPr/>
          <p:nvPr/>
        </p:nvSpPr>
        <p:spPr>
          <a:xfrm>
            <a:off x="3516274" y="3057525"/>
            <a:ext cx="2111451" cy="822722"/>
          </a:xfrm>
          <a:prstGeom prst="rect">
            <a:avLst/>
          </a:prstGeom>
          <a:noFill/>
          <a:ln/>
        </p:spPr>
        <p:txBody>
          <a:bodyPr wrap="square" lIns="0" tIns="0" rIns="0" bIns="0" rtlCol="0" anchor="t"/>
          <a:lstStyle/>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Real exercises</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Troubleshooting tips</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Productivity shortcuts</a:t>
            </a:r>
          </a:p>
          <a:p>
            <a:pPr marL="0" indent="0" algn="l">
              <a:lnSpc>
                <a:spcPts val="1620"/>
              </a:lnSpc>
              <a:buNone/>
            </a:pPr>
            <a:r>
              <a:rPr lang="en-US" sz="900" dirty="0" err="1">
                <a:solidFill>
                  <a:srgbClr val="6B7280"/>
                </a:solidFill>
                <a:latin typeface="Arial" pitchFamily="34" charset="0"/>
                <a:cs typeface="Arial" pitchFamily="34" charset="-120"/>
              </a:rPr>
              <a:t>Github</a:t>
            </a:r>
            <a:r>
              <a:rPr lang="en-US" sz="900" dirty="0">
                <a:solidFill>
                  <a:srgbClr val="6B7280"/>
                </a:solidFill>
                <a:latin typeface="Arial" pitchFamily="34" charset="0"/>
                <a:cs typeface="Arial" pitchFamily="34" charset="-120"/>
              </a:rPr>
              <a:t> / CICD / Planning / Spec Dev</a:t>
            </a:r>
          </a:p>
          <a:p>
            <a:pPr marL="0" indent="0" algn="l">
              <a:lnSpc>
                <a:spcPts val="1620"/>
              </a:lnSpc>
              <a:buNone/>
            </a:pPr>
            <a:r>
              <a:rPr lang="en-US" sz="900" dirty="0">
                <a:solidFill>
                  <a:srgbClr val="6B7280"/>
                </a:solidFill>
                <a:latin typeface="Arial" pitchFamily="34" charset="0"/>
                <a:cs typeface="Arial" pitchFamily="34" charset="-120"/>
              </a:rPr>
              <a:t>Instant deployment</a:t>
            </a:r>
            <a:endParaRPr lang="en-US" sz="900" dirty="0"/>
          </a:p>
        </p:txBody>
      </p:sp>
      <p:sp>
        <p:nvSpPr>
          <p:cNvPr id="15" name="Text 13"/>
          <p:cNvSpPr/>
          <p:nvPr/>
        </p:nvSpPr>
        <p:spPr>
          <a:xfrm>
            <a:off x="3527375" y="4185047"/>
            <a:ext cx="2111451" cy="146596"/>
          </a:xfrm>
          <a:prstGeom prst="rect">
            <a:avLst/>
          </a:prstGeom>
          <a:noFill/>
          <a:ln/>
        </p:spPr>
        <p:txBody>
          <a:bodyPr wrap="square" lIns="0" tIns="0" rIns="0" bIns="0" rtlCol="0" anchor="t"/>
          <a:lstStyle/>
          <a:p>
            <a:pPr marL="0" indent="0" algn="l">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
        <p:nvSpPr>
          <p:cNvPr id="16" name="Text 14"/>
          <p:cNvSpPr/>
          <p:nvPr/>
        </p:nvSpPr>
        <p:spPr>
          <a:xfrm>
            <a:off x="6064151" y="1406128"/>
            <a:ext cx="2622500" cy="320173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6340376" y="1682353"/>
            <a:ext cx="2111451" cy="639961"/>
          </a:xfrm>
          <a:prstGeom prst="rect">
            <a:avLst/>
          </a:prstGeom>
          <a:noFill/>
          <a:ln/>
        </p:spPr>
        <p:txBody>
          <a:bodyPr wrap="square" lIns="0" tIns="0" rIns="0" bIns="0" rtlCol="0" anchor="t"/>
          <a:lstStyle/>
          <a:p>
            <a:pPr marL="0" indent="0" algn="l">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03</a:t>
            </a:r>
            <a:endParaRPr lang="en-US" sz="3600" dirty="0"/>
          </a:p>
        </p:txBody>
      </p:sp>
      <p:sp>
        <p:nvSpPr>
          <p:cNvPr id="18" name="Text 16"/>
          <p:cNvSpPr/>
          <p:nvPr/>
        </p:nvSpPr>
        <p:spPr>
          <a:xfrm>
            <a:off x="6340376" y="2512814"/>
            <a:ext cx="2111451" cy="239911"/>
          </a:xfrm>
          <a:prstGeom prst="rect">
            <a:avLst/>
          </a:prstGeom>
          <a:noFill/>
          <a:ln/>
        </p:spPr>
        <p:txBody>
          <a:bodyPr wrap="square" lIns="0" tIns="0" rIns="0" bIns="0" rtlCol="0" anchor="t"/>
          <a:lstStyle/>
          <a:p>
            <a:pPr marL="0" indent="0" algn="l">
              <a:lnSpc>
                <a:spcPts val="1890"/>
              </a:lnSpc>
              <a:spcAft>
                <a:spcPts val="1200"/>
              </a:spcAft>
              <a:buNone/>
            </a:pPr>
            <a:r>
              <a:rPr lang="en-US" sz="1350" dirty="0">
                <a:solidFill>
                  <a:srgbClr val="1A1F2E"/>
                </a:solidFill>
                <a:latin typeface="Georgia" pitchFamily="34" charset="0"/>
                <a:ea typeface="Georgia" pitchFamily="34" charset="-122"/>
                <a:cs typeface="Georgia" pitchFamily="34" charset="-120"/>
              </a:rPr>
              <a:t>Complete Build Method</a:t>
            </a:r>
            <a:endParaRPr lang="en-US" sz="1350" dirty="0"/>
          </a:p>
        </p:txBody>
      </p:sp>
      <p:sp>
        <p:nvSpPr>
          <p:cNvPr id="19" name="Text 17"/>
          <p:cNvSpPr/>
          <p:nvPr/>
        </p:nvSpPr>
        <p:spPr>
          <a:xfrm>
            <a:off x="6340375" y="2904253"/>
            <a:ext cx="2111451" cy="822722"/>
          </a:xfrm>
          <a:prstGeom prst="rect">
            <a:avLst/>
          </a:prstGeom>
          <a:noFill/>
          <a:ln/>
        </p:spPr>
        <p:txBody>
          <a:bodyPr wrap="square" lIns="0" tIns="0" rIns="0" bIns="0" rtlCol="0" anchor="t"/>
          <a:lstStyle/>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Put it all together</a:t>
            </a:r>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End-to-end project</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Meeting transcription app</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Voice-driven development</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Agent-to Agent </a:t>
            </a:r>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Long Horizon Tasks</a:t>
            </a:r>
            <a:endParaRPr lang="en-US" sz="900" dirty="0"/>
          </a:p>
        </p:txBody>
      </p:sp>
      <p:sp>
        <p:nvSpPr>
          <p:cNvPr id="20" name="Text 18"/>
          <p:cNvSpPr/>
          <p:nvPr/>
        </p:nvSpPr>
        <p:spPr>
          <a:xfrm>
            <a:off x="6340376" y="4185047"/>
            <a:ext cx="2111451" cy="146596"/>
          </a:xfrm>
          <a:prstGeom prst="rect">
            <a:avLst/>
          </a:prstGeom>
          <a:noFill/>
          <a:ln/>
        </p:spPr>
        <p:txBody>
          <a:bodyPr wrap="square" lIns="0" tIns="0" rIns="0" bIns="0" rtlCol="0" anchor="t"/>
          <a:lstStyle/>
          <a:p>
            <a:pPr marL="0" indent="0" algn="l">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943475"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457200" y="1119188"/>
            <a:ext cx="4109657" cy="487561"/>
          </a:xfrm>
          <a:prstGeom prst="rect">
            <a:avLst/>
          </a:prstGeom>
          <a:noFill/>
          <a:ln/>
        </p:spPr>
        <p:txBody>
          <a:bodyPr wrap="square" lIns="0" tIns="0" rIns="0" bIns="0" rtlCol="0" anchor="t"/>
          <a:lstStyle/>
          <a:p>
            <a:pPr marL="0" indent="0" algn="l">
              <a:lnSpc>
                <a:spcPts val="3840"/>
              </a:lnSpc>
              <a:buNone/>
            </a:pPr>
            <a:r>
              <a:rPr lang="en-US" sz="4800" dirty="0">
                <a:solidFill>
                  <a:srgbClr val="C9A227"/>
                </a:solidFill>
                <a:latin typeface="Georgia" pitchFamily="34" charset="0"/>
                <a:ea typeface="Georgia" pitchFamily="34" charset="-122"/>
                <a:cs typeface="Georgia" pitchFamily="34" charset="-120"/>
              </a:rPr>
              <a:t>"</a:t>
            </a:r>
            <a:endParaRPr lang="en-US" sz="4800" dirty="0"/>
          </a:p>
        </p:txBody>
      </p:sp>
      <p:sp>
        <p:nvSpPr>
          <p:cNvPr id="4" name="Text 2"/>
          <p:cNvSpPr/>
          <p:nvPr/>
        </p:nvSpPr>
        <p:spPr>
          <a:xfrm>
            <a:off x="457200" y="1759148"/>
            <a:ext cx="4109657" cy="628650"/>
          </a:xfrm>
          <a:prstGeom prst="rect">
            <a:avLst/>
          </a:prstGeom>
          <a:noFill/>
          <a:ln/>
        </p:spPr>
        <p:txBody>
          <a:bodyPr wrap="square" lIns="0" tIns="0" rIns="0" bIns="0" rtlCol="0" anchor="t"/>
          <a:lstStyle/>
          <a:p>
            <a:pPr marL="0" indent="0" algn="l">
              <a:lnSpc>
                <a:spcPts val="2475"/>
              </a:lnSpc>
              <a:spcAft>
                <a:spcPts val="1800"/>
              </a:spcAft>
              <a:buNone/>
            </a:pPr>
            <a:r>
              <a:rPr lang="en-US" sz="1650" i="1" dirty="0">
                <a:solidFill>
                  <a:srgbClr val="FFFFFF"/>
                </a:solidFill>
                <a:latin typeface="Georgia" pitchFamily="34" charset="0"/>
                <a:ea typeface="Georgia" pitchFamily="34" charset="-122"/>
                <a:cs typeface="Georgia" pitchFamily="34" charset="-120"/>
              </a:rPr>
              <a:t>The keyboard is a bottleneck between your thoughts and your code.</a:t>
            </a:r>
            <a:endParaRPr lang="en-US" sz="1650" dirty="0"/>
          </a:p>
        </p:txBody>
      </p:sp>
      <p:sp>
        <p:nvSpPr>
          <p:cNvPr id="5" name="Text 3"/>
          <p:cNvSpPr/>
          <p:nvPr/>
        </p:nvSpPr>
        <p:spPr>
          <a:xfrm>
            <a:off x="457200" y="2768798"/>
            <a:ext cx="4109657" cy="314325"/>
          </a:xfrm>
          <a:prstGeom prst="rect">
            <a:avLst/>
          </a:prstGeom>
          <a:noFill/>
          <a:ln/>
        </p:spPr>
        <p:txBody>
          <a:bodyPr wrap="square" lIns="0" tIns="0" rIns="0" bIns="0" rtlCol="0" anchor="t"/>
          <a:lstStyle/>
          <a:p>
            <a:pPr marL="0" indent="0" algn="l">
              <a:lnSpc>
                <a:spcPts val="2475"/>
              </a:lnSpc>
              <a:spcAft>
                <a:spcPts val="2400"/>
              </a:spcAft>
              <a:buNone/>
            </a:pPr>
            <a:r>
              <a:rPr lang="en-US" sz="1650" i="1" dirty="0">
                <a:solidFill>
                  <a:srgbClr val="FFFFFF"/>
                </a:solidFill>
                <a:latin typeface="Georgia" pitchFamily="34" charset="0"/>
                <a:ea typeface="Georgia" pitchFamily="34" charset="-122"/>
                <a:cs typeface="Georgia" pitchFamily="34" charset="-120"/>
              </a:rPr>
              <a:t>Voice removes that bottleneck.</a:t>
            </a:r>
            <a:endParaRPr lang="en-US" sz="1650" dirty="0"/>
          </a:p>
        </p:txBody>
      </p:sp>
      <p:sp>
        <p:nvSpPr>
          <p:cNvPr id="6" name="Text 4"/>
          <p:cNvSpPr/>
          <p:nvPr/>
        </p:nvSpPr>
        <p:spPr>
          <a:xfrm>
            <a:off x="457200" y="3540323"/>
            <a:ext cx="4572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457200" y="3864173"/>
            <a:ext cx="4109657"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50000"/>
                  </a:srgbClr>
                </a:solidFill>
                <a:latin typeface="Arial" pitchFamily="34" charset="0"/>
                <a:ea typeface="Arial" pitchFamily="34" charset="-122"/>
                <a:cs typeface="Arial" pitchFamily="34" charset="-120"/>
              </a:rPr>
              <a:t>Voice-Driven AI Toolkit Research</a:t>
            </a:r>
            <a:endParaRPr lang="en-US" sz="900" dirty="0"/>
          </a:p>
        </p:txBody>
      </p:sp>
      <p:sp>
        <p:nvSpPr>
          <p:cNvPr id="8" name="Text 6"/>
          <p:cNvSpPr/>
          <p:nvPr/>
        </p:nvSpPr>
        <p:spPr>
          <a:xfrm>
            <a:off x="5095875" y="0"/>
            <a:ext cx="4048125" cy="5143500"/>
          </a:xfrm>
          <a:prstGeom prst="rect">
            <a:avLst/>
          </a:prstGeom>
          <a:solidFill>
            <a:srgbClr val="F7F8FA"/>
          </a:solidFill>
          <a:ln/>
        </p:spPr>
        <p:txBody>
          <a:bodyPr wrap="square" rtlCol="0" anchor="ctr"/>
          <a:lstStyle/>
          <a:p>
            <a:pPr marL="0" indent="0">
              <a:buNone/>
            </a:pPr>
            <a:endParaRPr lang="en-US" dirty="0"/>
          </a:p>
        </p:txBody>
      </p:sp>
      <p:sp>
        <p:nvSpPr>
          <p:cNvPr id="9" name="Text 7"/>
          <p:cNvSpPr/>
          <p:nvPr/>
        </p:nvSpPr>
        <p:spPr>
          <a:xfrm>
            <a:off x="5553075" y="922139"/>
            <a:ext cx="3196400" cy="685800"/>
          </a:xfrm>
          <a:prstGeom prst="rect">
            <a:avLst/>
          </a:prstGeom>
          <a:noFill/>
          <a:ln/>
        </p:spPr>
        <p:txBody>
          <a:bodyPr wrap="square" lIns="0" tIns="0" rIns="0" bIns="0" rtlCol="0" anchor="t"/>
          <a:lstStyle/>
          <a:p>
            <a:pPr marL="0" indent="0" algn="l">
              <a:lnSpc>
                <a:spcPts val="5400"/>
              </a:lnSpc>
              <a:buNone/>
            </a:pPr>
            <a:r>
              <a:rPr lang="en-US" sz="5400" dirty="0">
                <a:solidFill>
                  <a:srgbClr val="C9A227"/>
                </a:solidFill>
                <a:latin typeface="Georgia" pitchFamily="34" charset="0"/>
                <a:ea typeface="Georgia" pitchFamily="34" charset="-122"/>
                <a:cs typeface="Georgia" pitchFamily="34" charset="-120"/>
              </a:rPr>
              <a:t>150</a:t>
            </a:r>
            <a:endParaRPr lang="en-US" sz="5400" dirty="0"/>
          </a:p>
        </p:txBody>
      </p:sp>
      <p:sp>
        <p:nvSpPr>
          <p:cNvPr id="10" name="Text 8"/>
          <p:cNvSpPr/>
          <p:nvPr/>
        </p:nvSpPr>
        <p:spPr>
          <a:xfrm>
            <a:off x="5553075" y="1646039"/>
            <a:ext cx="3196400" cy="186630"/>
          </a:xfrm>
          <a:prstGeom prst="rect">
            <a:avLst/>
          </a:prstGeom>
          <a:noFill/>
          <a:ln/>
        </p:spPr>
        <p:txBody>
          <a:bodyPr wrap="square" lIns="0" tIns="0" rIns="0" bIns="0" rtlCol="0" anchor="t"/>
          <a:lstStyle/>
          <a:p>
            <a:pPr marL="0" indent="0" algn="l">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words per minute speaking</a:t>
            </a:r>
            <a:endParaRPr lang="en-US" sz="1050" dirty="0"/>
          </a:p>
        </p:txBody>
      </p:sp>
      <p:sp>
        <p:nvSpPr>
          <p:cNvPr id="11" name="Text 9"/>
          <p:cNvSpPr/>
          <p:nvPr/>
        </p:nvSpPr>
        <p:spPr>
          <a:xfrm>
            <a:off x="5553075" y="2137470"/>
            <a:ext cx="3133725" cy="9525"/>
          </a:xfrm>
          <a:prstGeom prst="rect">
            <a:avLst/>
          </a:prstGeom>
          <a:solidFill>
            <a:srgbClr val="E4E7ED"/>
          </a:solidFill>
          <a:ln/>
        </p:spPr>
        <p:txBody>
          <a:bodyPr wrap="square" rtlCol="0" anchor="ctr"/>
          <a:lstStyle/>
          <a:p>
            <a:pPr marL="0" indent="0">
              <a:buNone/>
            </a:pPr>
            <a:endParaRPr lang="en-US" dirty="0"/>
          </a:p>
        </p:txBody>
      </p:sp>
      <p:sp>
        <p:nvSpPr>
          <p:cNvPr id="12" name="Text 10"/>
          <p:cNvSpPr/>
          <p:nvPr/>
        </p:nvSpPr>
        <p:spPr>
          <a:xfrm>
            <a:off x="5553075" y="2451795"/>
            <a:ext cx="3196400" cy="685800"/>
          </a:xfrm>
          <a:prstGeom prst="rect">
            <a:avLst/>
          </a:prstGeom>
          <a:noFill/>
          <a:ln/>
        </p:spPr>
        <p:txBody>
          <a:bodyPr wrap="square" lIns="0" tIns="0" rIns="0" bIns="0" rtlCol="0" anchor="t"/>
          <a:lstStyle/>
          <a:p>
            <a:pPr marL="0" indent="0" algn="l">
              <a:lnSpc>
                <a:spcPts val="5400"/>
              </a:lnSpc>
              <a:buNone/>
            </a:pPr>
            <a:r>
              <a:rPr lang="en-US" sz="5400" dirty="0">
                <a:solidFill>
                  <a:srgbClr val="6B7280"/>
                </a:solidFill>
                <a:latin typeface="Georgia" pitchFamily="34" charset="0"/>
                <a:ea typeface="Georgia" pitchFamily="34" charset="-122"/>
                <a:cs typeface="Georgia" pitchFamily="34" charset="-120"/>
              </a:rPr>
              <a:t>40</a:t>
            </a:r>
            <a:endParaRPr lang="en-US" sz="5400" dirty="0"/>
          </a:p>
        </p:txBody>
      </p:sp>
      <p:sp>
        <p:nvSpPr>
          <p:cNvPr id="13" name="Text 11"/>
          <p:cNvSpPr/>
          <p:nvPr/>
        </p:nvSpPr>
        <p:spPr>
          <a:xfrm>
            <a:off x="5553075" y="3175695"/>
            <a:ext cx="3196400" cy="186630"/>
          </a:xfrm>
          <a:prstGeom prst="rect">
            <a:avLst/>
          </a:prstGeom>
          <a:noFill/>
          <a:ln/>
        </p:spPr>
        <p:txBody>
          <a:bodyPr wrap="square" lIns="0" tIns="0" rIns="0" bIns="0" rtlCol="0" anchor="t"/>
          <a:lstStyle/>
          <a:p>
            <a:pPr marL="0" indent="0" algn="l">
              <a:lnSpc>
                <a:spcPts val="1470"/>
              </a:lnSpc>
              <a:spcBef>
                <a:spcPts val="300"/>
              </a:spcBef>
              <a:buNone/>
            </a:pPr>
            <a:r>
              <a:rPr lang="en-US" sz="1050" dirty="0">
                <a:solidFill>
                  <a:srgbClr val="6B7280"/>
                </a:solidFill>
                <a:latin typeface="Arial" pitchFamily="34" charset="0"/>
                <a:ea typeface="Arial" pitchFamily="34" charset="-122"/>
                <a:cs typeface="Arial" pitchFamily="34" charset="-120"/>
              </a:rPr>
              <a:t>words per minute typing</a:t>
            </a:r>
            <a:endParaRPr lang="en-US" sz="1050" dirty="0"/>
          </a:p>
        </p:txBody>
      </p:sp>
      <p:sp>
        <p:nvSpPr>
          <p:cNvPr id="14" name="Text 12"/>
          <p:cNvSpPr/>
          <p:nvPr/>
        </p:nvSpPr>
        <p:spPr>
          <a:xfrm>
            <a:off x="5553075" y="3743325"/>
            <a:ext cx="3133725" cy="478036"/>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5716048" y="3895725"/>
            <a:ext cx="2807779" cy="173236"/>
          </a:xfrm>
          <a:prstGeom prst="rect">
            <a:avLst/>
          </a:prstGeom>
          <a:noFill/>
          <a:ln/>
        </p:spPr>
        <p:txBody>
          <a:bodyPr wrap="square" lIns="0" tIns="0" rIns="0" bIns="0" rtlCol="0" anchor="t"/>
          <a:lstStyle/>
          <a:p>
            <a:pPr marL="0" indent="0" algn="ctr">
              <a:lnSpc>
                <a:spcPts val="1365"/>
              </a:lnSpc>
              <a:buNone/>
            </a:pPr>
            <a:r>
              <a:rPr lang="en-US" sz="975" dirty="0">
                <a:solidFill>
                  <a:srgbClr val="FFFFFF"/>
                </a:solidFill>
                <a:latin typeface="Arial" pitchFamily="34" charset="0"/>
                <a:ea typeface="Arial" pitchFamily="34" charset="-122"/>
                <a:cs typeface="Arial" pitchFamily="34" charset="-120"/>
              </a:rPr>
              <a:t>Work at the speed of thought</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457200" y="3429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WHY IT MATTERS</a:t>
            </a:r>
            <a:endParaRPr lang="en-US" sz="825" dirty="0"/>
          </a:p>
        </p:txBody>
      </p:sp>
      <p:sp>
        <p:nvSpPr>
          <p:cNvPr id="3" name="Text 1"/>
          <p:cNvSpPr/>
          <p:nvPr/>
        </p:nvSpPr>
        <p:spPr>
          <a:xfrm>
            <a:off x="457200" y="565696"/>
            <a:ext cx="4206812" cy="342900"/>
          </a:xfrm>
          <a:prstGeom prst="rect">
            <a:avLst/>
          </a:prstGeom>
          <a:noFill/>
          <a:ln/>
        </p:spPr>
        <p:txBody>
          <a:bodyPr wrap="square" lIns="0" tIns="0" rIns="0" bIns="0" rtlCol="0" anchor="t"/>
          <a:lstStyle/>
          <a:p>
            <a:pPr marL="0" indent="0" algn="l">
              <a:lnSpc>
                <a:spcPts val="2700"/>
              </a:lnSpc>
              <a:buNone/>
            </a:pPr>
            <a:r>
              <a:rPr lang="en-US" sz="2700" dirty="0">
                <a:solidFill>
                  <a:srgbClr val="FFFFFF"/>
                </a:solidFill>
                <a:latin typeface="Georgia" pitchFamily="34" charset="0"/>
                <a:ea typeface="Georgia" pitchFamily="34" charset="-122"/>
                <a:cs typeface="Georgia" pitchFamily="34" charset="-120"/>
              </a:rPr>
              <a:t>Key Benefits</a:t>
            </a:r>
            <a:endParaRPr lang="en-US" sz="2700" dirty="0"/>
          </a:p>
        </p:txBody>
      </p:sp>
      <p:sp>
        <p:nvSpPr>
          <p:cNvPr id="4" name="Text 2"/>
          <p:cNvSpPr/>
          <p:nvPr/>
        </p:nvSpPr>
        <p:spPr>
          <a:xfrm>
            <a:off x="4572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5" name="Text 3"/>
          <p:cNvSpPr/>
          <p:nvPr/>
        </p:nvSpPr>
        <p:spPr>
          <a:xfrm>
            <a:off x="6858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7703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01</a:t>
            </a:r>
            <a:endParaRPr lang="en-US" sz="1500" dirty="0"/>
          </a:p>
        </p:txBody>
      </p:sp>
      <p:sp>
        <p:nvSpPr>
          <p:cNvPr id="7" name="Text 5"/>
          <p:cNvSpPr/>
          <p:nvPr/>
        </p:nvSpPr>
        <p:spPr>
          <a:xfrm>
            <a:off x="6858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Ergonomic</a:t>
            </a:r>
            <a:endParaRPr lang="en-US" sz="1200" dirty="0"/>
          </a:p>
        </p:txBody>
      </p:sp>
      <p:sp>
        <p:nvSpPr>
          <p:cNvPr id="8" name="Text 6"/>
          <p:cNvSpPr/>
          <p:nvPr/>
        </p:nvSpPr>
        <p:spPr>
          <a:xfrm>
            <a:off x="6858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RSI prevention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Reduced physical strain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Accessibility support</a:t>
            </a:r>
            <a:endParaRPr lang="en-US" sz="900" dirty="0"/>
          </a:p>
        </p:txBody>
      </p:sp>
      <p:sp>
        <p:nvSpPr>
          <p:cNvPr id="9" name="Text 7"/>
          <p:cNvSpPr/>
          <p:nvPr/>
        </p:nvSpPr>
        <p:spPr>
          <a:xfrm>
            <a:off x="25527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10" name="Text 8"/>
          <p:cNvSpPr/>
          <p:nvPr/>
        </p:nvSpPr>
        <p:spPr>
          <a:xfrm>
            <a:off x="27813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11" name="Text 9"/>
          <p:cNvSpPr/>
          <p:nvPr/>
        </p:nvSpPr>
        <p:spPr>
          <a:xfrm>
            <a:off x="28658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27813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Productivity</a:t>
            </a:r>
            <a:endParaRPr lang="en-US" sz="1200" dirty="0"/>
          </a:p>
        </p:txBody>
      </p:sp>
      <p:sp>
        <p:nvSpPr>
          <p:cNvPr id="13" name="Text 11"/>
          <p:cNvSpPr/>
          <p:nvPr/>
        </p:nvSpPr>
        <p:spPr>
          <a:xfrm>
            <a:off x="27813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Faster iteration cycles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Speak ideas as you think</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 context switching</a:t>
            </a:r>
            <a:endParaRPr lang="en-US" sz="900" dirty="0"/>
          </a:p>
        </p:txBody>
      </p:sp>
      <p:sp>
        <p:nvSpPr>
          <p:cNvPr id="14" name="Text 12"/>
          <p:cNvSpPr/>
          <p:nvPr/>
        </p:nvSpPr>
        <p:spPr>
          <a:xfrm>
            <a:off x="46482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15" name="Text 13"/>
          <p:cNvSpPr/>
          <p:nvPr/>
        </p:nvSpPr>
        <p:spPr>
          <a:xfrm>
            <a:off x="48768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16" name="Text 14"/>
          <p:cNvSpPr/>
          <p:nvPr/>
        </p:nvSpPr>
        <p:spPr>
          <a:xfrm>
            <a:off x="49613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03</a:t>
            </a:r>
            <a:endParaRPr lang="en-US" sz="1500" dirty="0"/>
          </a:p>
        </p:txBody>
      </p:sp>
      <p:sp>
        <p:nvSpPr>
          <p:cNvPr id="17" name="Text 15"/>
          <p:cNvSpPr/>
          <p:nvPr/>
        </p:nvSpPr>
        <p:spPr>
          <a:xfrm>
            <a:off x="48768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Multitasking</a:t>
            </a:r>
            <a:endParaRPr lang="en-US" sz="1200" dirty="0"/>
          </a:p>
        </p:txBody>
      </p:sp>
      <p:sp>
        <p:nvSpPr>
          <p:cNvPr id="18" name="Text 16"/>
          <p:cNvSpPr/>
          <p:nvPr/>
        </p:nvSpPr>
        <p:spPr>
          <a:xfrm>
            <a:off x="48768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Code while reviewing docs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Hands-free operation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Think out loud naturally</a:t>
            </a:r>
            <a:endParaRPr lang="en-US" sz="900" dirty="0"/>
          </a:p>
        </p:txBody>
      </p:sp>
      <p:sp>
        <p:nvSpPr>
          <p:cNvPr id="19" name="Text 17"/>
          <p:cNvSpPr/>
          <p:nvPr/>
        </p:nvSpPr>
        <p:spPr>
          <a:xfrm>
            <a:off x="67437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20" name="Text 18"/>
          <p:cNvSpPr/>
          <p:nvPr/>
        </p:nvSpPr>
        <p:spPr>
          <a:xfrm>
            <a:off x="69723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21" name="Text 19"/>
          <p:cNvSpPr/>
          <p:nvPr/>
        </p:nvSpPr>
        <p:spPr>
          <a:xfrm>
            <a:off x="70568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04</a:t>
            </a:r>
            <a:endParaRPr lang="en-US" sz="1500" dirty="0"/>
          </a:p>
        </p:txBody>
      </p:sp>
      <p:sp>
        <p:nvSpPr>
          <p:cNvPr id="22" name="Text 20"/>
          <p:cNvSpPr/>
          <p:nvPr/>
        </p:nvSpPr>
        <p:spPr>
          <a:xfrm>
            <a:off x="69723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Accessibility</a:t>
            </a:r>
            <a:endParaRPr lang="en-US" sz="1200" dirty="0"/>
          </a:p>
        </p:txBody>
      </p:sp>
      <p:sp>
        <p:nvSpPr>
          <p:cNvPr id="23" name="Text 21"/>
          <p:cNvSpPr/>
          <p:nvPr/>
        </p:nvSpPr>
        <p:spPr>
          <a:xfrm>
            <a:off x="69723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Mobility accommodations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Inclusive workflows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Alternative input paths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153817" cy="5143500"/>
          </a:xfrm>
          <a:prstGeom prst="rect">
            <a:avLst/>
          </a:prstGeom>
          <a:solidFill>
            <a:srgbClr val="C9A227"/>
          </a:solidFill>
          <a:ln/>
        </p:spPr>
        <p:txBody>
          <a:bodyPr wrap="square" rtlCol="0" anchor="ctr"/>
          <a:lstStyle/>
          <a:p>
            <a:pPr marL="0" indent="0">
              <a:buNone/>
            </a:pPr>
            <a:endParaRPr lang="en-US" dirty="0"/>
          </a:p>
        </p:txBody>
      </p:sp>
      <p:sp>
        <p:nvSpPr>
          <p:cNvPr id="3" name="Text 1"/>
          <p:cNvSpPr/>
          <p:nvPr/>
        </p:nvSpPr>
        <p:spPr>
          <a:xfrm>
            <a:off x="457200" y="1387822"/>
            <a:ext cx="2284205"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PART 1 OF 3</a:t>
            </a:r>
            <a:endParaRPr lang="en-US" sz="825" dirty="0"/>
          </a:p>
        </p:txBody>
      </p:sp>
      <p:sp>
        <p:nvSpPr>
          <p:cNvPr id="4" name="Text 2"/>
          <p:cNvSpPr/>
          <p:nvPr/>
        </p:nvSpPr>
        <p:spPr>
          <a:xfrm>
            <a:off x="457200" y="1839218"/>
            <a:ext cx="1321308" cy="838200"/>
          </a:xfrm>
          <a:prstGeom prst="rect">
            <a:avLst/>
          </a:prstGeom>
          <a:noFill/>
          <a:ln/>
        </p:spPr>
        <p:txBody>
          <a:bodyPr wrap="square" lIns="0" tIns="0" rIns="0" bIns="0" rtlCol="0" anchor="t"/>
          <a:lstStyle/>
          <a:p>
            <a:pPr marL="0" indent="0" algn="l">
              <a:lnSpc>
                <a:spcPts val="3300"/>
              </a:lnSpc>
              <a:spcAft>
                <a:spcPts val="1500"/>
              </a:spcAft>
              <a:buNone/>
            </a:pPr>
            <a:r>
              <a:rPr lang="en-US" sz="3000" dirty="0">
                <a:solidFill>
                  <a:srgbClr val="1A1F2E"/>
                </a:solidFill>
                <a:latin typeface="Georgia" pitchFamily="34" charset="0"/>
                <a:ea typeface="Georgia" pitchFamily="34" charset="-122"/>
                <a:cs typeface="Georgia" pitchFamily="34" charset="-120"/>
              </a:rPr>
              <a:t>Today's</a:t>
            </a:r>
            <a:endParaRPr lang="en-US" sz="3000" dirty="0"/>
          </a:p>
          <a:p>
            <a:pPr marL="0" indent="0" algn="l">
              <a:lnSpc>
                <a:spcPts val="3300"/>
              </a:lnSpc>
              <a:spcAft>
                <a:spcPts val="1500"/>
              </a:spcAft>
              <a:buNone/>
            </a:pPr>
            <a:r>
              <a:rPr lang="en-US" sz="3000" dirty="0">
                <a:solidFill>
                  <a:srgbClr val="1A1F2E"/>
                </a:solidFill>
                <a:latin typeface="Georgia" pitchFamily="34" charset="0"/>
                <a:ea typeface="Georgia" pitchFamily="34" charset="-122"/>
                <a:cs typeface="Georgia" pitchFamily="34" charset="-120"/>
              </a:rPr>
              <a:t>Agenda</a:t>
            </a:r>
            <a:endParaRPr lang="en-US" sz="3000" dirty="0"/>
          </a:p>
        </p:txBody>
      </p:sp>
      <p:sp>
        <p:nvSpPr>
          <p:cNvPr id="5" name="Text 3"/>
          <p:cNvSpPr/>
          <p:nvPr/>
        </p:nvSpPr>
        <p:spPr>
          <a:xfrm>
            <a:off x="457200" y="3020318"/>
            <a:ext cx="457200" cy="190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457200" y="3382268"/>
            <a:ext cx="2284205" cy="373261"/>
          </a:xfrm>
          <a:prstGeom prst="rect">
            <a:avLst/>
          </a:prstGeom>
          <a:noFill/>
          <a:ln/>
        </p:spPr>
        <p:txBody>
          <a:bodyPr wrap="square" lIns="0" tIns="0" rIns="0" bIns="0" rtlCol="0" anchor="t"/>
          <a:lstStyle/>
          <a:p>
            <a:pPr marL="0" indent="0" algn="l">
              <a:lnSpc>
                <a:spcPts val="1470"/>
              </a:lnSpc>
              <a:buNone/>
            </a:pPr>
            <a:r>
              <a:rPr lang="en-US" sz="1050" dirty="0">
                <a:solidFill>
                  <a:srgbClr val="1A1F2E">
                    <a:alpha val="80000"/>
                  </a:srgbClr>
                </a:solidFill>
                <a:latin typeface="Arial" pitchFamily="34" charset="0"/>
                <a:ea typeface="Arial" pitchFamily="34" charset="-122"/>
                <a:cs typeface="Arial" pitchFamily="34" charset="-120"/>
              </a:rPr>
              <a:t>90 minutes to understand, choose, and configure your voice tools</a:t>
            </a:r>
            <a:endParaRPr lang="en-US" sz="1050" dirty="0"/>
          </a:p>
        </p:txBody>
      </p:sp>
      <p:sp>
        <p:nvSpPr>
          <p:cNvPr id="7" name="Text 5"/>
          <p:cNvSpPr/>
          <p:nvPr/>
        </p:nvSpPr>
        <p:spPr>
          <a:xfrm>
            <a:off x="3306217" y="0"/>
            <a:ext cx="5837783"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3687217" y="701427"/>
            <a:ext cx="5075783" cy="401836"/>
          </a:xfrm>
          <a:prstGeom prst="rect">
            <a:avLst/>
          </a:prstGeom>
          <a:solidFill>
            <a:srgbClr val="1A1F2E"/>
          </a:solidFill>
          <a:ln/>
        </p:spPr>
        <p:txBody>
          <a:bodyPr wrap="square" rtlCol="0" anchor="ctr"/>
          <a:lstStyle/>
          <a:p>
            <a:pPr marL="0" indent="0">
              <a:buNone/>
            </a:pPr>
            <a:endParaRPr lang="en-US" dirty="0"/>
          </a:p>
        </p:txBody>
      </p:sp>
      <p:sp>
        <p:nvSpPr>
          <p:cNvPr id="9" name="Text 7"/>
          <p:cNvSpPr/>
          <p:nvPr/>
        </p:nvSpPr>
        <p:spPr>
          <a:xfrm>
            <a:off x="3858667" y="828973"/>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10" name="Text 8"/>
          <p:cNvSpPr/>
          <p:nvPr/>
        </p:nvSpPr>
        <p:spPr>
          <a:xfrm>
            <a:off x="4582567" y="815727"/>
            <a:ext cx="1783098"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Why Voice-Driven Development</a:t>
            </a:r>
            <a:endParaRPr lang="en-US" sz="975" dirty="0"/>
          </a:p>
        </p:txBody>
      </p:sp>
      <p:sp>
        <p:nvSpPr>
          <p:cNvPr id="11" name="Text 9"/>
          <p:cNvSpPr/>
          <p:nvPr/>
        </p:nvSpPr>
        <p:spPr>
          <a:xfrm>
            <a:off x="3687217" y="1160413"/>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2" name="Text 10"/>
          <p:cNvSpPr/>
          <p:nvPr/>
        </p:nvSpPr>
        <p:spPr>
          <a:xfrm>
            <a:off x="3868192" y="1297484"/>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13" name="Text 11"/>
          <p:cNvSpPr/>
          <p:nvPr/>
        </p:nvSpPr>
        <p:spPr>
          <a:xfrm>
            <a:off x="4592092" y="1284238"/>
            <a:ext cx="1289733"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Voice Tools Landscape</a:t>
            </a:r>
            <a:endParaRPr lang="en-US" sz="975" dirty="0"/>
          </a:p>
        </p:txBody>
      </p:sp>
      <p:sp>
        <p:nvSpPr>
          <p:cNvPr id="14" name="Text 12"/>
          <p:cNvSpPr/>
          <p:nvPr/>
        </p:nvSpPr>
        <p:spPr>
          <a:xfrm>
            <a:off x="3687217" y="1638449"/>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5" name="Text 13"/>
          <p:cNvSpPr/>
          <p:nvPr/>
        </p:nvSpPr>
        <p:spPr>
          <a:xfrm>
            <a:off x="3868192" y="1775520"/>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16" name="Text 14"/>
          <p:cNvSpPr/>
          <p:nvPr/>
        </p:nvSpPr>
        <p:spPr>
          <a:xfrm>
            <a:off x="4592092" y="1762274"/>
            <a:ext cx="1698846"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Security &amp; PHI Considerations</a:t>
            </a:r>
            <a:endParaRPr lang="en-US" sz="975" dirty="0"/>
          </a:p>
        </p:txBody>
      </p:sp>
      <p:sp>
        <p:nvSpPr>
          <p:cNvPr id="17" name="Text 15"/>
          <p:cNvSpPr/>
          <p:nvPr/>
        </p:nvSpPr>
        <p:spPr>
          <a:xfrm>
            <a:off x="3687217" y="2116485"/>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8" name="Text 16"/>
          <p:cNvSpPr/>
          <p:nvPr/>
        </p:nvSpPr>
        <p:spPr>
          <a:xfrm>
            <a:off x="3868192" y="2253555"/>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15 min</a:t>
            </a:r>
            <a:endParaRPr lang="en-US" sz="825" dirty="0"/>
          </a:p>
        </p:txBody>
      </p:sp>
      <p:sp>
        <p:nvSpPr>
          <p:cNvPr id="19" name="Text 17"/>
          <p:cNvSpPr/>
          <p:nvPr/>
        </p:nvSpPr>
        <p:spPr>
          <a:xfrm>
            <a:off x="4592092" y="2240310"/>
            <a:ext cx="2071223"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SuperWhisper Setup &amp; Configuration</a:t>
            </a:r>
            <a:endParaRPr lang="en-US" sz="975" dirty="0"/>
          </a:p>
        </p:txBody>
      </p:sp>
      <p:sp>
        <p:nvSpPr>
          <p:cNvPr id="20" name="Text 18"/>
          <p:cNvSpPr/>
          <p:nvPr/>
        </p:nvSpPr>
        <p:spPr>
          <a:xfrm>
            <a:off x="3687217" y="2594521"/>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3868192" y="2731591"/>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20 min</a:t>
            </a:r>
            <a:endParaRPr lang="en-US" sz="825" dirty="0"/>
          </a:p>
        </p:txBody>
      </p:sp>
      <p:sp>
        <p:nvSpPr>
          <p:cNvPr id="22" name="Text 20"/>
          <p:cNvSpPr/>
          <p:nvPr/>
        </p:nvSpPr>
        <p:spPr>
          <a:xfrm>
            <a:off x="4592092" y="2718346"/>
            <a:ext cx="1387647"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Custom Mode Workshop</a:t>
            </a:r>
            <a:endParaRPr lang="en-US" sz="975" dirty="0"/>
          </a:p>
        </p:txBody>
      </p:sp>
      <p:sp>
        <p:nvSpPr>
          <p:cNvPr id="23" name="Text 21"/>
          <p:cNvSpPr/>
          <p:nvPr/>
        </p:nvSpPr>
        <p:spPr>
          <a:xfrm>
            <a:off x="3687217" y="3072557"/>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3868192" y="3209627"/>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25" name="Text 23"/>
          <p:cNvSpPr/>
          <p:nvPr/>
        </p:nvSpPr>
        <p:spPr>
          <a:xfrm>
            <a:off x="4592092" y="3196382"/>
            <a:ext cx="1088136"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Live Demonstration</a:t>
            </a:r>
            <a:endParaRPr lang="en-US" sz="975" dirty="0"/>
          </a:p>
        </p:txBody>
      </p:sp>
      <p:sp>
        <p:nvSpPr>
          <p:cNvPr id="26" name="Text 24"/>
          <p:cNvSpPr/>
          <p:nvPr/>
        </p:nvSpPr>
        <p:spPr>
          <a:xfrm>
            <a:off x="3687217" y="3550593"/>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3868192" y="3687663"/>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15 min</a:t>
            </a:r>
            <a:endParaRPr lang="en-US" sz="825" dirty="0"/>
          </a:p>
        </p:txBody>
      </p:sp>
      <p:sp>
        <p:nvSpPr>
          <p:cNvPr id="28" name="Text 26"/>
          <p:cNvSpPr/>
          <p:nvPr/>
        </p:nvSpPr>
        <p:spPr>
          <a:xfrm>
            <a:off x="4592092" y="3674418"/>
            <a:ext cx="1038951"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Next Steps &amp; Q&amp;A</a:t>
            </a:r>
            <a:endParaRPr lang="en-US" sz="975" dirty="0"/>
          </a:p>
        </p:txBody>
      </p:sp>
      <p:sp>
        <p:nvSpPr>
          <p:cNvPr id="29" name="Text 27"/>
          <p:cNvSpPr/>
          <p:nvPr/>
        </p:nvSpPr>
        <p:spPr>
          <a:xfrm>
            <a:off x="3687217" y="4104829"/>
            <a:ext cx="5075783" cy="337096"/>
          </a:xfrm>
          <a:prstGeom prst="rect">
            <a:avLst/>
          </a:prstGeom>
          <a:solidFill>
            <a:srgbClr val="DCFCE7"/>
          </a:solidFill>
          <a:ln/>
        </p:spPr>
        <p:txBody>
          <a:bodyPr wrap="square" rtlCol="0" anchor="ctr"/>
          <a:lstStyle/>
          <a:p>
            <a:pPr marL="0" indent="0">
              <a:buNone/>
            </a:pPr>
            <a:endParaRPr lang="en-US" dirty="0"/>
          </a:p>
        </p:txBody>
      </p:sp>
      <p:sp>
        <p:nvSpPr>
          <p:cNvPr id="30" name="Shape 28"/>
          <p:cNvSpPr/>
          <p:nvPr/>
        </p:nvSpPr>
        <p:spPr>
          <a:xfrm>
            <a:off x="3701504" y="4104829"/>
            <a:ext cx="0" cy="337096"/>
          </a:xfrm>
          <a:prstGeom prst="line">
            <a:avLst/>
          </a:prstGeom>
          <a:noFill/>
          <a:ln w="28575">
            <a:solidFill>
              <a:srgbClr val="059669"/>
            </a:solidFill>
            <a:prstDash val="solid"/>
          </a:ln>
        </p:spPr>
        <p:txBody>
          <a:bodyPr/>
          <a:lstStyle/>
          <a:p>
            <a:endParaRPr lang="en-US"/>
          </a:p>
        </p:txBody>
      </p:sp>
      <p:sp>
        <p:nvSpPr>
          <p:cNvPr id="31" name="Text 29"/>
          <p:cNvSpPr/>
          <p:nvPr/>
        </p:nvSpPr>
        <p:spPr>
          <a:xfrm>
            <a:off x="3849142" y="4200079"/>
            <a:ext cx="4876118" cy="146596"/>
          </a:xfrm>
          <a:prstGeom prst="rect">
            <a:avLst/>
          </a:prstGeom>
          <a:noFill/>
          <a:ln/>
        </p:spPr>
        <p:txBody>
          <a:bodyPr wrap="square" lIns="0" tIns="0" rIns="0" bIns="0" rtlCol="0" anchor="t"/>
          <a:lstStyle/>
          <a:p>
            <a:pPr marL="0" indent="0" algn="l">
              <a:lnSpc>
                <a:spcPts val="1155"/>
              </a:lnSpc>
              <a:buNone/>
            </a:pPr>
            <a:r>
              <a:rPr lang="en-US" sz="825" dirty="0">
                <a:solidFill>
                  <a:srgbClr val="166534"/>
                </a:solidFill>
                <a:latin typeface="Arial" pitchFamily="34" charset="0"/>
                <a:ea typeface="Arial" pitchFamily="34" charset="-122"/>
                <a:cs typeface="Arial" pitchFamily="34" charset="-120"/>
              </a:rPr>
              <a:t>Workshop materials &amp; exercises available for independent practice</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57411"/>
            <a:ext cx="1182407" cy="186630"/>
          </a:xfrm>
          <a:prstGeom prst="rect">
            <a:avLst/>
          </a:prstGeom>
          <a:noFill/>
          <a:ln/>
        </p:spPr>
        <p:txBody>
          <a:bodyPr wrap="square" lIns="0" tIns="0" rIns="0" bIns="0" rtlCol="0" anchor="t"/>
          <a:lstStyle/>
          <a:p>
            <a:pPr marL="0" indent="0" algn="ctr">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02</a:t>
            </a:r>
            <a:endParaRPr lang="en-US" sz="1050" dirty="0"/>
          </a:p>
        </p:txBody>
      </p:sp>
      <p:sp>
        <p:nvSpPr>
          <p:cNvPr id="3" name="Text 1"/>
          <p:cNvSpPr/>
          <p:nvPr/>
        </p:nvSpPr>
        <p:spPr>
          <a:xfrm>
            <a:off x="2751863" y="1525042"/>
            <a:ext cx="3640125" cy="457200"/>
          </a:xfrm>
          <a:prstGeom prst="rect">
            <a:avLst/>
          </a:prstGeom>
          <a:noFill/>
          <a:ln/>
        </p:spPr>
        <p:txBody>
          <a:bodyPr wrap="square" lIns="0" tIns="0" rIns="0" bIns="0" rtlCol="0" anchor="t"/>
          <a:lstStyle/>
          <a:p>
            <a:pPr marL="0" indent="0" algn="ctr">
              <a:lnSpc>
                <a:spcPts val="3600"/>
              </a:lnSpc>
              <a:spcAft>
                <a:spcPts val="900"/>
              </a:spcAft>
              <a:buNone/>
            </a:pPr>
            <a:r>
              <a:rPr lang="en-US" sz="3600" dirty="0">
                <a:solidFill>
                  <a:srgbClr val="FFFFFF"/>
                </a:solidFill>
                <a:latin typeface="Georgia" pitchFamily="34" charset="0"/>
                <a:ea typeface="Georgia" pitchFamily="34" charset="-122"/>
                <a:cs typeface="Georgia" pitchFamily="34" charset="-120"/>
              </a:rPr>
              <a:t>Voice Input Tools</a:t>
            </a:r>
            <a:endParaRPr lang="en-US" sz="3600" dirty="0"/>
          </a:p>
        </p:txBody>
      </p:sp>
      <p:sp>
        <p:nvSpPr>
          <p:cNvPr id="4" name="Text 2"/>
          <p:cNvSpPr/>
          <p:nvPr/>
        </p:nvSpPr>
        <p:spPr>
          <a:xfrm>
            <a:off x="3656012" y="2248942"/>
            <a:ext cx="1831827" cy="293340"/>
          </a:xfrm>
          <a:prstGeom prst="rect">
            <a:avLst/>
          </a:prstGeom>
          <a:noFill/>
          <a:ln/>
        </p:spPr>
        <p:txBody>
          <a:bodyPr wrap="square" lIns="0" tIns="0" rIns="0" bIns="0" rtlCol="0" anchor="t"/>
          <a:lstStyle/>
          <a:p>
            <a:pPr marL="0" indent="0" algn="ctr">
              <a:lnSpc>
                <a:spcPts val="2310"/>
              </a:lnSpc>
              <a:spcAft>
                <a:spcPts val="2400"/>
              </a:spcAft>
              <a:buNone/>
            </a:pPr>
            <a:r>
              <a:rPr lang="en-US" sz="1650" i="1" dirty="0">
                <a:solidFill>
                  <a:srgbClr val="FFFFFF">
                    <a:alpha val="80000"/>
                  </a:srgbClr>
                </a:solidFill>
                <a:latin typeface="Georgia" pitchFamily="34" charset="0"/>
                <a:ea typeface="Georgia" pitchFamily="34" charset="-122"/>
                <a:cs typeface="Georgia" pitchFamily="34" charset="-120"/>
              </a:rPr>
              <a:t>The Acoustic Layer</a:t>
            </a:r>
            <a:endParaRPr lang="en-US" sz="1650" dirty="0"/>
          </a:p>
        </p:txBody>
      </p:sp>
      <p:sp>
        <p:nvSpPr>
          <p:cNvPr id="5" name="Text 3"/>
          <p:cNvSpPr/>
          <p:nvPr/>
        </p:nvSpPr>
        <p:spPr>
          <a:xfrm>
            <a:off x="4191000" y="2999482"/>
            <a:ext cx="7620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568349" y="3475732"/>
            <a:ext cx="162279"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8</a:t>
            </a:r>
            <a:endParaRPr lang="en-US" sz="2100" dirty="0"/>
          </a:p>
        </p:txBody>
      </p:sp>
      <p:sp>
        <p:nvSpPr>
          <p:cNvPr id="7" name="Text 5"/>
          <p:cNvSpPr/>
          <p:nvPr/>
        </p:nvSpPr>
        <p:spPr>
          <a:xfrm>
            <a:off x="3310889" y="4039493"/>
            <a:ext cx="677201"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SuperWhisper</a:t>
            </a:r>
            <a:endParaRPr lang="en-US" sz="825" dirty="0"/>
          </a:p>
        </p:txBody>
      </p:sp>
      <p:sp>
        <p:nvSpPr>
          <p:cNvPr id="8" name="Text 6"/>
          <p:cNvSpPr/>
          <p:nvPr/>
        </p:nvSpPr>
        <p:spPr>
          <a:xfrm>
            <a:off x="4544444" y="3475732"/>
            <a:ext cx="154082"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6</a:t>
            </a:r>
            <a:endParaRPr lang="en-US" sz="2100" dirty="0"/>
          </a:p>
        </p:txBody>
      </p:sp>
      <p:sp>
        <p:nvSpPr>
          <p:cNvPr id="9" name="Text 7"/>
          <p:cNvSpPr/>
          <p:nvPr/>
        </p:nvSpPr>
        <p:spPr>
          <a:xfrm>
            <a:off x="4357269" y="4039493"/>
            <a:ext cx="528432"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Wispr Flow</a:t>
            </a:r>
            <a:endParaRPr lang="en-US" sz="825" dirty="0"/>
          </a:p>
        </p:txBody>
      </p:sp>
      <p:sp>
        <p:nvSpPr>
          <p:cNvPr id="10" name="Text 8"/>
          <p:cNvSpPr/>
          <p:nvPr/>
        </p:nvSpPr>
        <p:spPr>
          <a:xfrm>
            <a:off x="5468855" y="3475732"/>
            <a:ext cx="150135"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11" name="Text 9"/>
          <p:cNvSpPr/>
          <p:nvPr/>
        </p:nvSpPr>
        <p:spPr>
          <a:xfrm>
            <a:off x="5255871" y="4039493"/>
            <a:ext cx="576251"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Comparison</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30000"/>
                  </a:srgbClr>
                </a:solidFill>
                <a:latin typeface="Arial" pitchFamily="34" charset="0"/>
                <a:ea typeface="Arial" pitchFamily="34" charset="-122"/>
                <a:cs typeface="Arial" pitchFamily="34" charset="-120"/>
              </a:rPr>
              <a:t>20 minutes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5214789"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775543"/>
            <a:ext cx="2185077"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Arial" pitchFamily="34" charset="0"/>
                <a:ea typeface="Arial" pitchFamily="34" charset="-122"/>
                <a:cs typeface="Arial" pitchFamily="34" charset="-120"/>
              </a:rPr>
              <a:t>PRIMARY RECOMMENDATION</a:t>
            </a:r>
            <a:endParaRPr lang="en-US" sz="825" dirty="0"/>
          </a:p>
        </p:txBody>
      </p:sp>
      <p:sp>
        <p:nvSpPr>
          <p:cNvPr id="4" name="Text 2"/>
          <p:cNvSpPr/>
          <p:nvPr/>
        </p:nvSpPr>
        <p:spPr>
          <a:xfrm>
            <a:off x="342900" y="1131689"/>
            <a:ext cx="2312289" cy="323850"/>
          </a:xfrm>
          <a:prstGeom prst="rect">
            <a:avLst/>
          </a:prstGeom>
          <a:noFill/>
          <a:ln/>
        </p:spPr>
        <p:txBody>
          <a:bodyPr wrap="square" lIns="0" tIns="0" rIns="0" bIns="0" rtlCol="0" anchor="t"/>
          <a:lstStyle/>
          <a:p>
            <a:pPr marL="0" indent="0" algn="l">
              <a:lnSpc>
                <a:spcPts val="2550"/>
              </a:lnSpc>
              <a:spcAft>
                <a:spcPts val="450"/>
              </a:spcAft>
              <a:buNone/>
            </a:pPr>
            <a:r>
              <a:rPr lang="en-US" sz="2550" dirty="0">
                <a:solidFill>
                  <a:srgbClr val="1A1F2E"/>
                </a:solidFill>
                <a:latin typeface="Georgia" pitchFamily="34" charset="0"/>
                <a:ea typeface="Georgia" pitchFamily="34" charset="-122"/>
                <a:cs typeface="Georgia" pitchFamily="34" charset="-120"/>
              </a:rPr>
              <a:t>SuperWhisper</a:t>
            </a:r>
            <a:endParaRPr lang="en-US" sz="2550" dirty="0"/>
          </a:p>
        </p:txBody>
      </p:sp>
      <p:sp>
        <p:nvSpPr>
          <p:cNvPr id="5" name="Text 3"/>
          <p:cNvSpPr/>
          <p:nvPr/>
        </p:nvSpPr>
        <p:spPr>
          <a:xfrm>
            <a:off x="342900" y="1665089"/>
            <a:ext cx="4619568" cy="173236"/>
          </a:xfrm>
          <a:prstGeom prst="rect">
            <a:avLst/>
          </a:prstGeom>
          <a:noFill/>
          <a:ln/>
        </p:spPr>
        <p:txBody>
          <a:bodyPr wrap="square" lIns="0" tIns="0" rIns="0" bIns="0" rtlCol="0" anchor="t"/>
          <a:lstStyle/>
          <a:p>
            <a:pPr marL="0" indent="0" algn="l">
              <a:lnSpc>
                <a:spcPts val="1365"/>
              </a:lnSpc>
              <a:spcAft>
                <a:spcPts val="1050"/>
              </a:spcAft>
              <a:buNone/>
            </a:pPr>
            <a:r>
              <a:rPr lang="en-US" sz="975" dirty="0">
                <a:solidFill>
                  <a:srgbClr val="6B7280"/>
                </a:solidFill>
                <a:latin typeface="Arial" pitchFamily="34" charset="0"/>
                <a:ea typeface="Arial" pitchFamily="34" charset="-122"/>
                <a:cs typeface="Arial" pitchFamily="34" charset="-120"/>
              </a:rPr>
              <a:t>AI-powered voice to text with local processing option</a:t>
            </a:r>
            <a:endParaRPr lang="en-US" sz="975" dirty="0"/>
          </a:p>
        </p:txBody>
      </p:sp>
      <p:sp>
        <p:nvSpPr>
          <p:cNvPr id="6" name="Text 4"/>
          <p:cNvSpPr/>
          <p:nvPr/>
        </p:nvSpPr>
        <p:spPr>
          <a:xfrm>
            <a:off x="342900" y="2124075"/>
            <a:ext cx="4528989" cy="741015"/>
          </a:xfrm>
          <a:prstGeom prst="rect">
            <a:avLst/>
          </a:prstGeom>
          <a:solidFill>
            <a:srgbClr val="FFFFFF"/>
          </a:solidFill>
          <a:ln/>
        </p:spPr>
        <p:txBody>
          <a:bodyPr wrap="square" rtlCol="0" anchor="ctr"/>
          <a:lstStyle/>
          <a:p>
            <a:pPr marL="0" indent="0">
              <a:buNone/>
            </a:pPr>
            <a:endParaRPr lang="en-US" dirty="0"/>
          </a:p>
        </p:txBody>
      </p:sp>
      <p:sp>
        <p:nvSpPr>
          <p:cNvPr id="7" name="Shape 5"/>
          <p:cNvSpPr/>
          <p:nvPr/>
        </p:nvSpPr>
        <p:spPr>
          <a:xfrm>
            <a:off x="361950" y="2124075"/>
            <a:ext cx="0" cy="741015"/>
          </a:xfrm>
          <a:prstGeom prst="line">
            <a:avLst/>
          </a:prstGeom>
          <a:noFill/>
          <a:ln w="38100">
            <a:solidFill>
              <a:srgbClr val="C9A227"/>
            </a:solidFill>
            <a:prstDash val="solid"/>
          </a:ln>
        </p:spPr>
        <p:txBody>
          <a:bodyPr/>
          <a:lstStyle/>
          <a:p>
            <a:endParaRPr lang="en-US"/>
          </a:p>
        </p:txBody>
      </p:sp>
      <p:sp>
        <p:nvSpPr>
          <p:cNvPr id="8" name="Text 6"/>
          <p:cNvSpPr/>
          <p:nvPr/>
        </p:nvSpPr>
        <p:spPr>
          <a:xfrm>
            <a:off x="533400" y="2238375"/>
            <a:ext cx="4269810"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What It Is</a:t>
            </a:r>
            <a:endParaRPr lang="en-US" sz="900" dirty="0"/>
          </a:p>
        </p:txBody>
      </p:sp>
      <p:sp>
        <p:nvSpPr>
          <p:cNvPr id="9" name="Text 7"/>
          <p:cNvSpPr/>
          <p:nvPr/>
        </p:nvSpPr>
        <p:spPr>
          <a:xfrm>
            <a:off x="533400" y="2436465"/>
            <a:ext cx="4269810"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Desktop app using OpenAI's Whisper models. Offers both local (on-device) and cloud processing options. 100+ languages supported.</a:t>
            </a:r>
            <a:endParaRPr lang="en-US" sz="825" dirty="0"/>
          </a:p>
        </p:txBody>
      </p:sp>
      <p:sp>
        <p:nvSpPr>
          <p:cNvPr id="10" name="Text 8"/>
          <p:cNvSpPr/>
          <p:nvPr/>
        </p:nvSpPr>
        <p:spPr>
          <a:xfrm>
            <a:off x="342900" y="3112740"/>
            <a:ext cx="1446163" cy="56182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1" name="Text 9"/>
          <p:cNvSpPr/>
          <p:nvPr/>
        </p:nvSpPr>
        <p:spPr>
          <a:xfrm>
            <a:off x="447675" y="3217515"/>
            <a:ext cx="1261345" cy="213271"/>
          </a:xfrm>
          <a:prstGeom prst="rect">
            <a:avLst/>
          </a:prstGeom>
          <a:noFill/>
          <a:ln/>
        </p:spPr>
        <p:txBody>
          <a:bodyPr wrap="square" lIns="0" tIns="0" rIns="0" bIns="0" rtlCol="0" anchor="t"/>
          <a:lstStyle/>
          <a:p>
            <a:pPr marL="0" indent="0" algn="l">
              <a:lnSpc>
                <a:spcPts val="1680"/>
              </a:lnSpc>
              <a:spcAft>
                <a:spcPts val="150"/>
              </a:spcAft>
              <a:buNone/>
            </a:pPr>
            <a:r>
              <a:rPr lang="en-US" sz="1200" dirty="0">
                <a:solidFill>
                  <a:srgbClr val="059669"/>
                </a:solidFill>
                <a:latin typeface="Georgia" pitchFamily="34" charset="0"/>
                <a:ea typeface="Georgia" pitchFamily="34" charset="-122"/>
                <a:cs typeface="Georgia" pitchFamily="34" charset="-120"/>
              </a:rPr>
              <a:t>Free</a:t>
            </a:r>
            <a:endParaRPr lang="en-US" sz="1200" dirty="0"/>
          </a:p>
        </p:txBody>
      </p:sp>
      <p:sp>
        <p:nvSpPr>
          <p:cNvPr id="12" name="Text 10"/>
          <p:cNvSpPr/>
          <p:nvPr/>
        </p:nvSpPr>
        <p:spPr>
          <a:xfrm>
            <a:off x="447675" y="3449836"/>
            <a:ext cx="126134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Basic models included</a:t>
            </a:r>
            <a:endParaRPr lang="en-US" sz="675" dirty="0"/>
          </a:p>
        </p:txBody>
      </p:sp>
      <p:sp>
        <p:nvSpPr>
          <p:cNvPr id="13" name="Text 11"/>
          <p:cNvSpPr/>
          <p:nvPr/>
        </p:nvSpPr>
        <p:spPr>
          <a:xfrm>
            <a:off x="1884313" y="3112740"/>
            <a:ext cx="1446163" cy="56182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4" name="Text 12"/>
          <p:cNvSpPr/>
          <p:nvPr/>
        </p:nvSpPr>
        <p:spPr>
          <a:xfrm>
            <a:off x="1989088" y="3217515"/>
            <a:ext cx="1261345" cy="213271"/>
          </a:xfrm>
          <a:prstGeom prst="rect">
            <a:avLst/>
          </a:prstGeom>
          <a:noFill/>
          <a:ln/>
        </p:spPr>
        <p:txBody>
          <a:bodyPr wrap="square" lIns="0" tIns="0" rIns="0" bIns="0" rtlCol="0" anchor="t"/>
          <a:lstStyle/>
          <a:p>
            <a:pPr marL="0" indent="0" algn="l">
              <a:lnSpc>
                <a:spcPts val="1680"/>
              </a:lnSpc>
              <a:spcAft>
                <a:spcPts val="150"/>
              </a:spcAft>
              <a:buNone/>
            </a:pPr>
            <a:r>
              <a:rPr lang="en-US" sz="1200" dirty="0">
                <a:solidFill>
                  <a:srgbClr val="1A1F2E"/>
                </a:solidFill>
                <a:latin typeface="Georgia" pitchFamily="34" charset="0"/>
                <a:ea typeface="Georgia" pitchFamily="34" charset="-122"/>
                <a:cs typeface="Georgia" pitchFamily="34" charset="-120"/>
              </a:rPr>
              <a:t>$8.49/mo</a:t>
            </a:r>
            <a:endParaRPr lang="en-US" sz="1200" dirty="0"/>
          </a:p>
        </p:txBody>
      </p:sp>
      <p:sp>
        <p:nvSpPr>
          <p:cNvPr id="15" name="Text 13"/>
          <p:cNvSpPr/>
          <p:nvPr/>
        </p:nvSpPr>
        <p:spPr>
          <a:xfrm>
            <a:off x="1989088" y="3449836"/>
            <a:ext cx="126134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Pro subscription</a:t>
            </a:r>
            <a:endParaRPr lang="en-US" sz="675" dirty="0"/>
          </a:p>
        </p:txBody>
      </p:sp>
      <p:sp>
        <p:nvSpPr>
          <p:cNvPr id="16" name="Text 14"/>
          <p:cNvSpPr/>
          <p:nvPr/>
        </p:nvSpPr>
        <p:spPr>
          <a:xfrm>
            <a:off x="3425726" y="3112740"/>
            <a:ext cx="1446163" cy="56182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3530501" y="3217515"/>
            <a:ext cx="1261345" cy="213271"/>
          </a:xfrm>
          <a:prstGeom prst="rect">
            <a:avLst/>
          </a:prstGeom>
          <a:noFill/>
          <a:ln/>
        </p:spPr>
        <p:txBody>
          <a:bodyPr wrap="square" lIns="0" tIns="0" rIns="0" bIns="0" rtlCol="0" anchor="t"/>
          <a:lstStyle/>
          <a:p>
            <a:pPr marL="0" indent="0" algn="l">
              <a:lnSpc>
                <a:spcPts val="1680"/>
              </a:lnSpc>
              <a:spcAft>
                <a:spcPts val="150"/>
              </a:spcAft>
              <a:buNone/>
            </a:pPr>
            <a:r>
              <a:rPr lang="en-US" sz="1200" dirty="0">
                <a:solidFill>
                  <a:srgbClr val="1A1F2E"/>
                </a:solidFill>
                <a:latin typeface="Georgia" pitchFamily="34" charset="0"/>
                <a:ea typeface="Georgia" pitchFamily="34" charset="-122"/>
                <a:cs typeface="Georgia" pitchFamily="34" charset="-120"/>
              </a:rPr>
              <a:t>$249</a:t>
            </a:r>
            <a:endParaRPr lang="en-US" sz="1200" dirty="0"/>
          </a:p>
        </p:txBody>
      </p:sp>
      <p:sp>
        <p:nvSpPr>
          <p:cNvPr id="18" name="Text 16"/>
          <p:cNvSpPr/>
          <p:nvPr/>
        </p:nvSpPr>
        <p:spPr>
          <a:xfrm>
            <a:off x="3530501" y="3449836"/>
            <a:ext cx="126134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Lifetime option</a:t>
            </a:r>
            <a:endParaRPr lang="en-US" sz="675" dirty="0"/>
          </a:p>
        </p:txBody>
      </p:sp>
      <p:sp>
        <p:nvSpPr>
          <p:cNvPr id="19" name="Text 17"/>
          <p:cNvSpPr/>
          <p:nvPr/>
        </p:nvSpPr>
        <p:spPr>
          <a:xfrm>
            <a:off x="342900" y="3922216"/>
            <a:ext cx="4528989" cy="483691"/>
          </a:xfrm>
          <a:prstGeom prst="rect">
            <a:avLst/>
          </a:prstGeom>
          <a:solidFill>
            <a:srgbClr val="DCFCE7"/>
          </a:solidFill>
          <a:ln/>
        </p:spPr>
        <p:txBody>
          <a:bodyPr wrap="square" rtlCol="0" anchor="ctr"/>
          <a:lstStyle/>
          <a:p>
            <a:pPr marL="0" indent="0">
              <a:buNone/>
            </a:pPr>
            <a:endParaRPr lang="en-US" dirty="0"/>
          </a:p>
        </p:txBody>
      </p:sp>
      <p:sp>
        <p:nvSpPr>
          <p:cNvPr id="20" name="Shape 18"/>
          <p:cNvSpPr/>
          <p:nvPr/>
        </p:nvSpPr>
        <p:spPr>
          <a:xfrm>
            <a:off x="361950" y="3922216"/>
            <a:ext cx="0" cy="483691"/>
          </a:xfrm>
          <a:prstGeom prst="line">
            <a:avLst/>
          </a:prstGeom>
          <a:noFill/>
          <a:ln w="38100">
            <a:solidFill>
              <a:srgbClr val="059669"/>
            </a:solidFill>
            <a:prstDash val="solid"/>
          </a:ln>
        </p:spPr>
        <p:txBody>
          <a:bodyPr/>
          <a:lstStyle/>
          <a:p>
            <a:endParaRPr lang="en-US"/>
          </a:p>
        </p:txBody>
      </p:sp>
      <p:sp>
        <p:nvSpPr>
          <p:cNvPr id="21" name="Text 19"/>
          <p:cNvSpPr/>
          <p:nvPr/>
        </p:nvSpPr>
        <p:spPr>
          <a:xfrm>
            <a:off x="514350" y="4017466"/>
            <a:ext cx="4308672" cy="293191"/>
          </a:xfrm>
          <a:prstGeom prst="rect">
            <a:avLst/>
          </a:prstGeom>
          <a:noFill/>
          <a:ln/>
        </p:spPr>
        <p:txBody>
          <a:bodyPr wrap="square" lIns="0" tIns="0" rIns="0" bIns="0" rtlCol="0" anchor="t"/>
          <a:lstStyle/>
          <a:p>
            <a:pPr marL="0" indent="0" algn="l">
              <a:lnSpc>
                <a:spcPts val="1155"/>
              </a:lnSpc>
              <a:buNone/>
            </a:pPr>
            <a:r>
              <a:rPr lang="en-US" sz="825" b="1" dirty="0">
                <a:solidFill>
                  <a:srgbClr val="166534"/>
                </a:solidFill>
                <a:latin typeface="Arial" pitchFamily="34" charset="0"/>
                <a:ea typeface="Arial" pitchFamily="34" charset="-122"/>
                <a:cs typeface="Arial" pitchFamily="34" charset="-120"/>
              </a:rPr>
              <a:t>Local Processing Available:</a:t>
            </a:r>
            <a:r>
              <a:rPr lang="en-US" sz="825" dirty="0">
                <a:solidFill>
                  <a:srgbClr val="166534"/>
                </a:solidFill>
                <a:latin typeface="Arial" pitchFamily="34" charset="0"/>
                <a:ea typeface="Arial" pitchFamily="34" charset="-122"/>
                <a:cs typeface="Arial" pitchFamily="34" charset="-120"/>
              </a:rPr>
              <a:t> Use on-device models for complete privacy. Voice data never leaves your machine when using local models.</a:t>
            </a:r>
            <a:endParaRPr lang="en-US" sz="825" dirty="0"/>
          </a:p>
        </p:txBody>
      </p:sp>
      <p:sp>
        <p:nvSpPr>
          <p:cNvPr id="22" name="Text 20"/>
          <p:cNvSpPr/>
          <p:nvPr/>
        </p:nvSpPr>
        <p:spPr>
          <a:xfrm>
            <a:off x="5367189" y="0"/>
            <a:ext cx="3776811" cy="5143500"/>
          </a:xfrm>
          <a:prstGeom prst="rect">
            <a:avLst/>
          </a:prstGeom>
          <a:solidFill>
            <a:srgbClr val="1A1F2E"/>
          </a:solidFill>
          <a:ln/>
        </p:spPr>
        <p:txBody>
          <a:bodyPr wrap="square" rtlCol="0" anchor="ctr"/>
          <a:lstStyle/>
          <a:p>
            <a:pPr marL="0" indent="0">
              <a:buNone/>
            </a:pPr>
            <a:endParaRPr lang="en-US" dirty="0"/>
          </a:p>
        </p:txBody>
      </p:sp>
      <p:sp>
        <p:nvSpPr>
          <p:cNvPr id="23" name="Text 21"/>
          <p:cNvSpPr/>
          <p:nvPr/>
        </p:nvSpPr>
        <p:spPr>
          <a:xfrm>
            <a:off x="5633889" y="342900"/>
            <a:ext cx="3308280" cy="146596"/>
          </a:xfrm>
          <a:prstGeom prst="rect">
            <a:avLst/>
          </a:prstGeom>
          <a:noFill/>
          <a:ln/>
        </p:spPr>
        <p:txBody>
          <a:bodyPr wrap="square" lIns="0" tIns="0" rIns="0" bIns="0" rtlCol="0" anchor="t"/>
          <a:lstStyle/>
          <a:p>
            <a:pPr marL="0" indent="0" algn="l">
              <a:lnSpc>
                <a:spcPts val="1155"/>
              </a:lnSpc>
              <a:spcAft>
                <a:spcPts val="1050"/>
              </a:spcAft>
              <a:buNone/>
            </a:pPr>
            <a:r>
              <a:rPr lang="en-US" sz="825" dirty="0">
                <a:solidFill>
                  <a:srgbClr val="C9A227"/>
                </a:solidFill>
                <a:latin typeface="Arial" pitchFamily="34" charset="0"/>
                <a:ea typeface="Arial" pitchFamily="34" charset="-122"/>
                <a:cs typeface="Arial" pitchFamily="34" charset="-120"/>
              </a:rPr>
              <a:t>PLATFORM SUPPORT</a:t>
            </a:r>
            <a:endParaRPr lang="en-US" sz="825" dirty="0"/>
          </a:p>
        </p:txBody>
      </p:sp>
      <p:sp>
        <p:nvSpPr>
          <p:cNvPr id="24" name="Text 22"/>
          <p:cNvSpPr/>
          <p:nvPr/>
        </p:nvSpPr>
        <p:spPr>
          <a:xfrm>
            <a:off x="5633889" y="775246"/>
            <a:ext cx="3243411" cy="5466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25" name="Text 23"/>
          <p:cNvSpPr/>
          <p:nvPr/>
        </p:nvSpPr>
        <p:spPr>
          <a:xfrm>
            <a:off x="5757714" y="915144"/>
            <a:ext cx="266700" cy="266700"/>
          </a:xfrm>
          <a:prstGeom prst="rect">
            <a:avLst/>
          </a:prstGeom>
          <a:solidFill>
            <a:srgbClr val="C9A227"/>
          </a:solidFill>
          <a:ln/>
        </p:spPr>
        <p:txBody>
          <a:bodyPr wrap="square" rtlCol="0" anchor="ctr"/>
          <a:lstStyle/>
          <a:p>
            <a:pPr marL="0" indent="0">
              <a:buNone/>
            </a:pPr>
            <a:endParaRPr lang="en-US" dirty="0"/>
          </a:p>
        </p:txBody>
      </p:sp>
      <p:sp>
        <p:nvSpPr>
          <p:cNvPr id="26" name="Text 24"/>
          <p:cNvSpPr/>
          <p:nvPr/>
        </p:nvSpPr>
        <p:spPr>
          <a:xfrm>
            <a:off x="5837039" y="968425"/>
            <a:ext cx="110058"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W</a:t>
            </a:r>
            <a:endParaRPr lang="en-US" sz="900" dirty="0"/>
          </a:p>
        </p:txBody>
      </p:sp>
      <p:sp>
        <p:nvSpPr>
          <p:cNvPr id="27" name="Text 25"/>
          <p:cNvSpPr/>
          <p:nvPr/>
        </p:nvSpPr>
        <p:spPr>
          <a:xfrm>
            <a:off x="6119664" y="899071"/>
            <a:ext cx="788474"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Windows 10/11</a:t>
            </a:r>
            <a:endParaRPr lang="en-US" sz="900" dirty="0"/>
          </a:p>
        </p:txBody>
      </p:sp>
      <p:sp>
        <p:nvSpPr>
          <p:cNvPr id="28" name="Text 26"/>
          <p:cNvSpPr/>
          <p:nvPr/>
        </p:nvSpPr>
        <p:spPr>
          <a:xfrm>
            <a:off x="6119664" y="1078111"/>
            <a:ext cx="788474"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Launched Dec 2025</a:t>
            </a:r>
            <a:endParaRPr lang="en-US" sz="675" dirty="0"/>
          </a:p>
        </p:txBody>
      </p:sp>
      <p:sp>
        <p:nvSpPr>
          <p:cNvPr id="29" name="Text 27"/>
          <p:cNvSpPr/>
          <p:nvPr/>
        </p:nvSpPr>
        <p:spPr>
          <a:xfrm>
            <a:off x="5633889" y="1569541"/>
            <a:ext cx="3243411" cy="5466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30" name="Text 28"/>
          <p:cNvSpPr/>
          <p:nvPr/>
        </p:nvSpPr>
        <p:spPr>
          <a:xfrm>
            <a:off x="5757714" y="1709440"/>
            <a:ext cx="266700" cy="266700"/>
          </a:xfrm>
          <a:prstGeom prst="rect">
            <a:avLst/>
          </a:prstGeom>
          <a:solidFill>
            <a:srgbClr val="C9A227"/>
          </a:solidFill>
          <a:ln/>
        </p:spPr>
        <p:txBody>
          <a:bodyPr wrap="square" rtlCol="0" anchor="ctr"/>
          <a:lstStyle/>
          <a:p>
            <a:pPr marL="0" indent="0">
              <a:buNone/>
            </a:pPr>
            <a:endParaRPr lang="en-US" dirty="0"/>
          </a:p>
        </p:txBody>
      </p:sp>
      <p:sp>
        <p:nvSpPr>
          <p:cNvPr id="31" name="Text 29"/>
          <p:cNvSpPr/>
          <p:nvPr/>
        </p:nvSpPr>
        <p:spPr>
          <a:xfrm>
            <a:off x="5843439" y="1762720"/>
            <a:ext cx="97155"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M</a:t>
            </a:r>
            <a:endParaRPr lang="en-US" sz="900" dirty="0"/>
          </a:p>
        </p:txBody>
      </p:sp>
      <p:sp>
        <p:nvSpPr>
          <p:cNvPr id="32" name="Text 30"/>
          <p:cNvSpPr/>
          <p:nvPr/>
        </p:nvSpPr>
        <p:spPr>
          <a:xfrm>
            <a:off x="6119664" y="1693366"/>
            <a:ext cx="811700"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macOS 13+</a:t>
            </a:r>
            <a:endParaRPr lang="en-US" sz="900" dirty="0"/>
          </a:p>
        </p:txBody>
      </p:sp>
      <p:sp>
        <p:nvSpPr>
          <p:cNvPr id="33" name="Text 31"/>
          <p:cNvSpPr/>
          <p:nvPr/>
        </p:nvSpPr>
        <p:spPr>
          <a:xfrm>
            <a:off x="6119664" y="1872407"/>
            <a:ext cx="811700"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Apple Silicon optimal</a:t>
            </a:r>
            <a:endParaRPr lang="en-US" sz="675" dirty="0"/>
          </a:p>
        </p:txBody>
      </p:sp>
      <p:sp>
        <p:nvSpPr>
          <p:cNvPr id="34" name="Text 32"/>
          <p:cNvSpPr/>
          <p:nvPr/>
        </p:nvSpPr>
        <p:spPr>
          <a:xfrm>
            <a:off x="5633889" y="2363837"/>
            <a:ext cx="3243411" cy="5466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35" name="Text 33"/>
          <p:cNvSpPr/>
          <p:nvPr/>
        </p:nvSpPr>
        <p:spPr>
          <a:xfrm>
            <a:off x="5757714" y="2503736"/>
            <a:ext cx="266700" cy="266700"/>
          </a:xfrm>
          <a:prstGeom prst="rect">
            <a:avLst/>
          </a:prstGeom>
          <a:solidFill>
            <a:srgbClr val="C9A227"/>
          </a:solidFill>
          <a:ln/>
        </p:spPr>
        <p:txBody>
          <a:bodyPr wrap="square" rtlCol="0" anchor="ctr"/>
          <a:lstStyle/>
          <a:p>
            <a:pPr marL="0" indent="0">
              <a:buNone/>
            </a:pPr>
            <a:endParaRPr lang="en-US" dirty="0"/>
          </a:p>
        </p:txBody>
      </p:sp>
      <p:sp>
        <p:nvSpPr>
          <p:cNvPr id="36" name="Text 34"/>
          <p:cNvSpPr/>
          <p:nvPr/>
        </p:nvSpPr>
        <p:spPr>
          <a:xfrm>
            <a:off x="5878264" y="2557016"/>
            <a:ext cx="25959"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i</a:t>
            </a:r>
            <a:endParaRPr lang="en-US" sz="900" dirty="0"/>
          </a:p>
        </p:txBody>
      </p:sp>
      <p:sp>
        <p:nvSpPr>
          <p:cNvPr id="37" name="Text 35"/>
          <p:cNvSpPr/>
          <p:nvPr/>
        </p:nvSpPr>
        <p:spPr>
          <a:xfrm>
            <a:off x="6119664" y="2487662"/>
            <a:ext cx="1088743"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iOS / iPadOS</a:t>
            </a:r>
            <a:endParaRPr lang="en-US" sz="900" dirty="0"/>
          </a:p>
        </p:txBody>
      </p:sp>
      <p:sp>
        <p:nvSpPr>
          <p:cNvPr id="38" name="Text 36"/>
          <p:cNvSpPr/>
          <p:nvPr/>
        </p:nvSpPr>
        <p:spPr>
          <a:xfrm>
            <a:off x="6119664" y="2666702"/>
            <a:ext cx="1088743"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Same license covers mobile</a:t>
            </a:r>
            <a:endParaRPr lang="en-US" sz="675" dirty="0"/>
          </a:p>
        </p:txBody>
      </p:sp>
      <p:sp>
        <p:nvSpPr>
          <p:cNvPr id="39" name="Text 37"/>
          <p:cNvSpPr/>
          <p:nvPr/>
        </p:nvSpPr>
        <p:spPr>
          <a:xfrm>
            <a:off x="5633889" y="4476750"/>
            <a:ext cx="3243411" cy="361950"/>
          </a:xfrm>
          <a:prstGeom prst="rect">
            <a:avLst/>
          </a:prstGeom>
          <a:solidFill>
            <a:srgbClr val="059669"/>
          </a:solidFill>
          <a:ln/>
        </p:spPr>
        <p:txBody>
          <a:bodyPr wrap="square" rtlCol="0" anchor="ctr"/>
          <a:lstStyle/>
          <a:p>
            <a:pPr marL="0" indent="0">
              <a:buNone/>
            </a:pPr>
            <a:endParaRPr lang="en-US" dirty="0"/>
          </a:p>
        </p:txBody>
      </p:sp>
      <p:sp>
        <p:nvSpPr>
          <p:cNvPr id="40" name="Text 38"/>
          <p:cNvSpPr/>
          <p:nvPr/>
        </p:nvSpPr>
        <p:spPr>
          <a:xfrm>
            <a:off x="5718041" y="4591050"/>
            <a:ext cx="3075108" cy="133350"/>
          </a:xfrm>
          <a:prstGeom prst="rect">
            <a:avLst/>
          </a:prstGeom>
          <a:noFill/>
          <a:ln/>
        </p:spPr>
        <p:txBody>
          <a:bodyPr wrap="square" lIns="0" tIns="0" rIns="0" bIns="0" rtlCol="0" anchor="t"/>
          <a:lstStyle/>
          <a:p>
            <a:pPr marL="0" indent="0" algn="ctr">
              <a:lnSpc>
                <a:spcPts val="1050"/>
              </a:lnSpc>
              <a:buNone/>
            </a:pPr>
            <a:r>
              <a:rPr lang="en-US" sz="750" dirty="0">
                <a:solidFill>
                  <a:srgbClr val="FFFFFF"/>
                </a:solidFill>
                <a:latin typeface="Arial" pitchFamily="34" charset="0"/>
                <a:ea typeface="Arial" pitchFamily="34" charset="-122"/>
                <a:cs typeface="Arial" pitchFamily="34" charset="-120"/>
              </a:rPr>
              <a:t>Local models = Safe for PHI and sensitive data</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DATA FLOW ARCHITECTURE</a:t>
            </a:r>
            <a:endParaRPr lang="en-US" sz="825" dirty="0"/>
          </a:p>
        </p:txBody>
      </p:sp>
      <p:sp>
        <p:nvSpPr>
          <p:cNvPr id="3" name="Text 1"/>
          <p:cNvSpPr/>
          <p:nvPr/>
        </p:nvSpPr>
        <p:spPr>
          <a:xfrm>
            <a:off x="457200" y="470446"/>
            <a:ext cx="4206812" cy="285750"/>
          </a:xfrm>
          <a:prstGeom prst="rect">
            <a:avLst/>
          </a:prstGeom>
          <a:noFill/>
          <a:ln/>
        </p:spPr>
        <p:txBody>
          <a:bodyPr wrap="square" lIns="0" tIns="0" rIns="0" bIns="0" rtlCol="0" anchor="t"/>
          <a:lstStyle/>
          <a:p>
            <a:pPr marL="0" indent="0" algn="l">
              <a:lnSpc>
                <a:spcPts val="2250"/>
              </a:lnSpc>
              <a:buNone/>
            </a:pPr>
            <a:r>
              <a:rPr lang="en-US" sz="2250" dirty="0">
                <a:solidFill>
                  <a:srgbClr val="1A1F2E"/>
                </a:solidFill>
                <a:latin typeface="Georgia" pitchFamily="34" charset="0"/>
                <a:ea typeface="Georgia" pitchFamily="34" charset="-122"/>
                <a:cs typeface="Georgia" pitchFamily="34" charset="-120"/>
              </a:rPr>
              <a:t>Why Local Processing Matters</a:t>
            </a:r>
            <a:endParaRPr lang="en-US" sz="2250" dirty="0"/>
          </a:p>
        </p:txBody>
      </p:sp>
      <p:sp>
        <p:nvSpPr>
          <p:cNvPr id="4" name="Text 2"/>
          <p:cNvSpPr/>
          <p:nvPr/>
        </p:nvSpPr>
        <p:spPr>
          <a:xfrm>
            <a:off x="457200" y="1060996"/>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059669"/>
                </a:solidFill>
                <a:latin typeface="Arial" pitchFamily="34" charset="0"/>
                <a:ea typeface="Arial" pitchFamily="34" charset="-122"/>
                <a:cs typeface="Arial" pitchFamily="34" charset="-120"/>
              </a:rPr>
              <a:t>LOCAL PROCESSING (SuperWhisper)</a:t>
            </a:r>
            <a:endParaRPr lang="en-US" sz="825" dirty="0"/>
          </a:p>
        </p:txBody>
      </p:sp>
      <p:sp>
        <p:nvSpPr>
          <p:cNvPr id="5" name="Text 3"/>
          <p:cNvSpPr/>
          <p:nvPr/>
        </p:nvSpPr>
        <p:spPr>
          <a:xfrm>
            <a:off x="457200" y="1524744"/>
            <a:ext cx="1047750" cy="323850"/>
          </a:xfrm>
          <a:prstGeom prst="rect">
            <a:avLst/>
          </a:prstGeom>
          <a:solidFill>
            <a:srgbClr val="DBEAFE"/>
          </a:solidFill>
          <a:ln/>
        </p:spPr>
        <p:txBody>
          <a:bodyPr wrap="square" rtlCol="0" anchor="ctr"/>
          <a:lstStyle/>
          <a:p>
            <a:pPr marL="0" indent="0">
              <a:buNone/>
            </a:pPr>
            <a:endParaRPr lang="en-US" dirty="0"/>
          </a:p>
        </p:txBody>
      </p:sp>
      <p:sp>
        <p:nvSpPr>
          <p:cNvPr id="6" name="Text 4"/>
          <p:cNvSpPr/>
          <p:nvPr/>
        </p:nvSpPr>
        <p:spPr>
          <a:xfrm>
            <a:off x="582740" y="1619994"/>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Voice</a:t>
            </a:r>
            <a:endParaRPr lang="en-US" sz="750" dirty="0"/>
          </a:p>
        </p:txBody>
      </p:sp>
      <p:sp>
        <p:nvSpPr>
          <p:cNvPr id="7" name="Text 5"/>
          <p:cNvSpPr/>
          <p:nvPr/>
        </p:nvSpPr>
        <p:spPr>
          <a:xfrm>
            <a:off x="1562100" y="1579959"/>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8" name="Text 6"/>
          <p:cNvSpPr/>
          <p:nvPr/>
        </p:nvSpPr>
        <p:spPr>
          <a:xfrm>
            <a:off x="1759000" y="1436191"/>
            <a:ext cx="1238250" cy="500955"/>
          </a:xfrm>
          <a:prstGeom prst="rect">
            <a:avLst/>
          </a:prstGeom>
          <a:solidFill>
            <a:srgbClr val="DCFCE7"/>
          </a:solidFill>
          <a:ln w="19050">
            <a:solidFill>
              <a:srgbClr val="059669"/>
            </a:solidFill>
          </a:ln>
        </p:spPr>
        <p:txBody>
          <a:bodyPr wrap="square" rtlCol="0" anchor="ctr"/>
          <a:lstStyle/>
          <a:p>
            <a:pPr marL="0" indent="0">
              <a:buNone/>
            </a:pPr>
            <a:endParaRPr lang="en-US" dirty="0"/>
          </a:p>
        </p:txBody>
      </p:sp>
      <p:sp>
        <p:nvSpPr>
          <p:cNvPr id="9" name="Text 7"/>
          <p:cNvSpPr/>
          <p:nvPr/>
        </p:nvSpPr>
        <p:spPr>
          <a:xfrm>
            <a:off x="1902065" y="1550491"/>
            <a:ext cx="952119" cy="133350"/>
          </a:xfrm>
          <a:prstGeom prst="rect">
            <a:avLst/>
          </a:prstGeom>
          <a:noFill/>
          <a:ln/>
        </p:spPr>
        <p:txBody>
          <a:bodyPr wrap="square" lIns="0" tIns="0" rIns="0" bIns="0" rtlCol="0" anchor="t"/>
          <a:lstStyle/>
          <a:p>
            <a:pPr marL="0" indent="0" algn="ctr">
              <a:lnSpc>
                <a:spcPts val="1050"/>
              </a:lnSpc>
              <a:buNone/>
            </a:pPr>
            <a:r>
              <a:rPr lang="en-US" sz="750" b="1" dirty="0">
                <a:solidFill>
                  <a:srgbClr val="166534"/>
                </a:solidFill>
                <a:latin typeface="Arial" pitchFamily="34" charset="0"/>
                <a:ea typeface="Arial" pitchFamily="34" charset="-122"/>
                <a:cs typeface="Arial" pitchFamily="34" charset="-120"/>
              </a:rPr>
              <a:t>SuperWhisper</a:t>
            </a:r>
            <a:endParaRPr lang="en-US" sz="750" dirty="0"/>
          </a:p>
        </p:txBody>
      </p:sp>
      <p:sp>
        <p:nvSpPr>
          <p:cNvPr id="10" name="Text 8"/>
          <p:cNvSpPr/>
          <p:nvPr/>
        </p:nvSpPr>
        <p:spPr>
          <a:xfrm>
            <a:off x="1902065" y="1702891"/>
            <a:ext cx="952119" cy="119955"/>
          </a:xfrm>
          <a:prstGeom prst="rect">
            <a:avLst/>
          </a:prstGeom>
          <a:noFill/>
          <a:ln/>
        </p:spPr>
        <p:txBody>
          <a:bodyPr wrap="square" lIns="0" tIns="0" rIns="0" bIns="0" rtlCol="0" anchor="t"/>
          <a:lstStyle/>
          <a:p>
            <a:pPr marL="0" indent="0" algn="ctr">
              <a:lnSpc>
                <a:spcPts val="945"/>
              </a:lnSpc>
              <a:spcBef>
                <a:spcPts val="150"/>
              </a:spcBef>
              <a:buNone/>
            </a:pPr>
            <a:r>
              <a:rPr lang="en-US" sz="675" dirty="0">
                <a:solidFill>
                  <a:srgbClr val="166534"/>
                </a:solidFill>
                <a:latin typeface="Arial" pitchFamily="34" charset="0"/>
                <a:ea typeface="Arial" pitchFamily="34" charset="-122"/>
                <a:cs typeface="Arial" pitchFamily="34" charset="-120"/>
              </a:rPr>
              <a:t>(On Your Device)</a:t>
            </a:r>
            <a:endParaRPr lang="en-US" sz="675" dirty="0"/>
          </a:p>
        </p:txBody>
      </p:sp>
      <p:sp>
        <p:nvSpPr>
          <p:cNvPr id="11" name="Text 9"/>
          <p:cNvSpPr/>
          <p:nvPr/>
        </p:nvSpPr>
        <p:spPr>
          <a:xfrm>
            <a:off x="3054400" y="1579959"/>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12" name="Text 10"/>
          <p:cNvSpPr/>
          <p:nvPr/>
        </p:nvSpPr>
        <p:spPr>
          <a:xfrm>
            <a:off x="3251299" y="1524744"/>
            <a:ext cx="1047750" cy="323850"/>
          </a:xfrm>
          <a:prstGeom prst="rect">
            <a:avLst/>
          </a:prstGeom>
          <a:solidFill>
            <a:srgbClr val="DCFCE7"/>
          </a:solidFill>
          <a:ln/>
        </p:spPr>
        <p:txBody>
          <a:bodyPr wrap="square" rtlCol="0" anchor="ctr"/>
          <a:lstStyle/>
          <a:p>
            <a:pPr marL="0" indent="0">
              <a:buNone/>
            </a:pPr>
            <a:endParaRPr lang="en-US" dirty="0"/>
          </a:p>
        </p:txBody>
      </p:sp>
      <p:sp>
        <p:nvSpPr>
          <p:cNvPr id="13" name="Text 11"/>
          <p:cNvSpPr/>
          <p:nvPr/>
        </p:nvSpPr>
        <p:spPr>
          <a:xfrm>
            <a:off x="3376839" y="1619994"/>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66534"/>
                </a:solidFill>
                <a:latin typeface="Arial" pitchFamily="34" charset="0"/>
                <a:ea typeface="Arial" pitchFamily="34" charset="-122"/>
                <a:cs typeface="Arial" pitchFamily="34" charset="-120"/>
              </a:rPr>
              <a:t>Text Output</a:t>
            </a:r>
            <a:endParaRPr lang="en-US" sz="750" dirty="0"/>
          </a:p>
        </p:txBody>
      </p:sp>
      <p:sp>
        <p:nvSpPr>
          <p:cNvPr id="14" name="Text 12"/>
          <p:cNvSpPr/>
          <p:nvPr/>
        </p:nvSpPr>
        <p:spPr>
          <a:xfrm>
            <a:off x="4356199" y="1579959"/>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15" name="Text 13"/>
          <p:cNvSpPr/>
          <p:nvPr/>
        </p:nvSpPr>
        <p:spPr>
          <a:xfrm>
            <a:off x="4553099" y="1524744"/>
            <a:ext cx="1047750" cy="323850"/>
          </a:xfrm>
          <a:prstGeom prst="rect">
            <a:avLst/>
          </a:prstGeom>
          <a:solidFill>
            <a:srgbClr val="DBEAFE"/>
          </a:solidFill>
          <a:ln/>
        </p:spPr>
        <p:txBody>
          <a:bodyPr wrap="square" rtlCol="0" anchor="ctr"/>
          <a:lstStyle/>
          <a:p>
            <a:pPr marL="0" indent="0">
              <a:buNone/>
            </a:pPr>
            <a:endParaRPr lang="en-US" dirty="0"/>
          </a:p>
        </p:txBody>
      </p:sp>
      <p:sp>
        <p:nvSpPr>
          <p:cNvPr id="16" name="Text 14"/>
          <p:cNvSpPr/>
          <p:nvPr/>
        </p:nvSpPr>
        <p:spPr>
          <a:xfrm>
            <a:off x="4678638" y="1619994"/>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App</a:t>
            </a:r>
            <a:endParaRPr lang="en-US" sz="750" dirty="0"/>
          </a:p>
        </p:txBody>
      </p:sp>
      <p:sp>
        <p:nvSpPr>
          <p:cNvPr id="17" name="Text 15"/>
          <p:cNvSpPr/>
          <p:nvPr/>
        </p:nvSpPr>
        <p:spPr>
          <a:xfrm>
            <a:off x="5772299" y="1550491"/>
            <a:ext cx="685800" cy="272355"/>
          </a:xfrm>
          <a:prstGeom prst="rect">
            <a:avLst/>
          </a:prstGeom>
          <a:solidFill>
            <a:srgbClr val="DCFCE7"/>
          </a:solidFill>
          <a:ln/>
        </p:spPr>
        <p:txBody>
          <a:bodyPr wrap="square" rtlCol="0" anchor="ctr"/>
          <a:lstStyle/>
          <a:p>
            <a:pPr marL="0" indent="0">
              <a:buNone/>
            </a:pPr>
            <a:endParaRPr lang="en-US" dirty="0"/>
          </a:p>
        </p:txBody>
      </p:sp>
      <p:sp>
        <p:nvSpPr>
          <p:cNvPr id="18" name="Text 16"/>
          <p:cNvSpPr/>
          <p:nvPr/>
        </p:nvSpPr>
        <p:spPr>
          <a:xfrm>
            <a:off x="5886599" y="1626691"/>
            <a:ext cx="466344"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NO CLOUD</a:t>
            </a:r>
            <a:endParaRPr lang="en-US" sz="675" dirty="0"/>
          </a:p>
        </p:txBody>
      </p:sp>
      <p:sp>
        <p:nvSpPr>
          <p:cNvPr id="19" name="Text 17"/>
          <p:cNvSpPr/>
          <p:nvPr/>
        </p:nvSpPr>
        <p:spPr>
          <a:xfrm>
            <a:off x="457200" y="2203847"/>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DC2626"/>
                </a:solidFill>
                <a:latin typeface="Arial" pitchFamily="34" charset="0"/>
                <a:ea typeface="Arial" pitchFamily="34" charset="-122"/>
                <a:cs typeface="Arial" pitchFamily="34" charset="-120"/>
              </a:rPr>
              <a:t>CLOUD PROCESSING (Traditional)</a:t>
            </a:r>
            <a:endParaRPr lang="en-US" sz="825" dirty="0"/>
          </a:p>
        </p:txBody>
      </p:sp>
      <p:sp>
        <p:nvSpPr>
          <p:cNvPr id="20" name="Text 18"/>
          <p:cNvSpPr/>
          <p:nvPr/>
        </p:nvSpPr>
        <p:spPr>
          <a:xfrm>
            <a:off x="457200" y="2667595"/>
            <a:ext cx="1047750" cy="323850"/>
          </a:xfrm>
          <a:prstGeom prst="rect">
            <a:avLst/>
          </a:prstGeom>
          <a:solidFill>
            <a:srgbClr val="DBEAFE"/>
          </a:solidFill>
          <a:ln/>
        </p:spPr>
        <p:txBody>
          <a:bodyPr wrap="square" rtlCol="0" anchor="ctr"/>
          <a:lstStyle/>
          <a:p>
            <a:pPr marL="0" indent="0">
              <a:buNone/>
            </a:pPr>
            <a:endParaRPr lang="en-US" dirty="0"/>
          </a:p>
        </p:txBody>
      </p:sp>
      <p:sp>
        <p:nvSpPr>
          <p:cNvPr id="21" name="Text 19"/>
          <p:cNvSpPr/>
          <p:nvPr/>
        </p:nvSpPr>
        <p:spPr>
          <a:xfrm>
            <a:off x="582740" y="2762845"/>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Voice</a:t>
            </a:r>
            <a:endParaRPr lang="en-US" sz="750" dirty="0"/>
          </a:p>
        </p:txBody>
      </p:sp>
      <p:sp>
        <p:nvSpPr>
          <p:cNvPr id="22" name="Text 20"/>
          <p:cNvSpPr/>
          <p:nvPr/>
        </p:nvSpPr>
        <p:spPr>
          <a:xfrm>
            <a:off x="1562100" y="2722811"/>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23" name="Text 21"/>
          <p:cNvSpPr/>
          <p:nvPr/>
        </p:nvSpPr>
        <p:spPr>
          <a:xfrm>
            <a:off x="1759000" y="2579043"/>
            <a:ext cx="1238250" cy="500955"/>
          </a:xfrm>
          <a:prstGeom prst="rect">
            <a:avLst/>
          </a:prstGeom>
          <a:solidFill>
            <a:srgbClr val="FEE2E2"/>
          </a:solidFill>
          <a:ln w="19050">
            <a:solidFill>
              <a:srgbClr val="DC2626"/>
            </a:solidFill>
          </a:ln>
        </p:spPr>
        <p:txBody>
          <a:bodyPr wrap="square" rtlCol="0" anchor="ctr"/>
          <a:lstStyle/>
          <a:p>
            <a:pPr marL="0" indent="0">
              <a:buNone/>
            </a:pPr>
            <a:endParaRPr lang="en-US" dirty="0"/>
          </a:p>
        </p:txBody>
      </p:sp>
      <p:sp>
        <p:nvSpPr>
          <p:cNvPr id="24" name="Text 22"/>
          <p:cNvSpPr/>
          <p:nvPr/>
        </p:nvSpPr>
        <p:spPr>
          <a:xfrm>
            <a:off x="1902065" y="2693343"/>
            <a:ext cx="952119" cy="133350"/>
          </a:xfrm>
          <a:prstGeom prst="rect">
            <a:avLst/>
          </a:prstGeom>
          <a:noFill/>
          <a:ln/>
        </p:spPr>
        <p:txBody>
          <a:bodyPr wrap="square" lIns="0" tIns="0" rIns="0" bIns="0" rtlCol="0" anchor="t"/>
          <a:lstStyle/>
          <a:p>
            <a:pPr marL="0" indent="0" algn="ctr">
              <a:lnSpc>
                <a:spcPts val="1050"/>
              </a:lnSpc>
              <a:buNone/>
            </a:pPr>
            <a:r>
              <a:rPr lang="en-US" sz="750" b="1" dirty="0">
                <a:solidFill>
                  <a:srgbClr val="DC2626"/>
                </a:solidFill>
                <a:latin typeface="Arial" pitchFamily="34" charset="0"/>
                <a:ea typeface="Arial" pitchFamily="34" charset="-122"/>
                <a:cs typeface="Arial" pitchFamily="34" charset="-120"/>
              </a:rPr>
              <a:t>Cloud Server</a:t>
            </a:r>
            <a:endParaRPr lang="en-US" sz="750" dirty="0"/>
          </a:p>
        </p:txBody>
      </p:sp>
      <p:sp>
        <p:nvSpPr>
          <p:cNvPr id="25" name="Text 23"/>
          <p:cNvSpPr/>
          <p:nvPr/>
        </p:nvSpPr>
        <p:spPr>
          <a:xfrm>
            <a:off x="1902065" y="2845743"/>
            <a:ext cx="952119" cy="119955"/>
          </a:xfrm>
          <a:prstGeom prst="rect">
            <a:avLst/>
          </a:prstGeom>
          <a:noFill/>
          <a:ln/>
        </p:spPr>
        <p:txBody>
          <a:bodyPr wrap="square" lIns="0" tIns="0" rIns="0" bIns="0" rtlCol="0" anchor="t"/>
          <a:lstStyle/>
          <a:p>
            <a:pPr marL="0" indent="0" algn="ctr">
              <a:lnSpc>
                <a:spcPts val="945"/>
              </a:lnSpc>
              <a:spcBef>
                <a:spcPts val="150"/>
              </a:spcBef>
              <a:buNone/>
            </a:pPr>
            <a:r>
              <a:rPr lang="en-US" sz="675" dirty="0">
                <a:solidFill>
                  <a:srgbClr val="DC2626"/>
                </a:solidFill>
                <a:latin typeface="Arial" pitchFamily="34" charset="0"/>
                <a:ea typeface="Arial" pitchFamily="34" charset="-122"/>
                <a:cs typeface="Arial" pitchFamily="34" charset="-120"/>
              </a:rPr>
              <a:t>(3rd Party)</a:t>
            </a:r>
            <a:endParaRPr lang="en-US" sz="675" dirty="0"/>
          </a:p>
        </p:txBody>
      </p:sp>
      <p:sp>
        <p:nvSpPr>
          <p:cNvPr id="26" name="Text 24"/>
          <p:cNvSpPr/>
          <p:nvPr/>
        </p:nvSpPr>
        <p:spPr>
          <a:xfrm>
            <a:off x="3054400" y="2722811"/>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27" name="Text 25"/>
          <p:cNvSpPr/>
          <p:nvPr/>
        </p:nvSpPr>
        <p:spPr>
          <a:xfrm>
            <a:off x="3251299" y="2667595"/>
            <a:ext cx="1047750" cy="323850"/>
          </a:xfrm>
          <a:prstGeom prst="rect">
            <a:avLst/>
          </a:prstGeom>
          <a:solidFill>
            <a:srgbClr val="FEE2E2"/>
          </a:solidFill>
          <a:ln/>
        </p:spPr>
        <p:txBody>
          <a:bodyPr wrap="square" rtlCol="0" anchor="ctr"/>
          <a:lstStyle/>
          <a:p>
            <a:pPr marL="0" indent="0">
              <a:buNone/>
            </a:pPr>
            <a:endParaRPr lang="en-US" dirty="0"/>
          </a:p>
        </p:txBody>
      </p:sp>
      <p:sp>
        <p:nvSpPr>
          <p:cNvPr id="28" name="Text 26"/>
          <p:cNvSpPr/>
          <p:nvPr/>
        </p:nvSpPr>
        <p:spPr>
          <a:xfrm>
            <a:off x="3376839" y="2762845"/>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DC2626"/>
                </a:solidFill>
                <a:latin typeface="Arial" pitchFamily="34" charset="0"/>
                <a:ea typeface="Arial" pitchFamily="34" charset="-122"/>
                <a:cs typeface="Arial" pitchFamily="34" charset="-120"/>
              </a:rPr>
              <a:t>Text Output</a:t>
            </a:r>
            <a:endParaRPr lang="en-US" sz="750" dirty="0"/>
          </a:p>
        </p:txBody>
      </p:sp>
      <p:sp>
        <p:nvSpPr>
          <p:cNvPr id="29" name="Text 27"/>
          <p:cNvSpPr/>
          <p:nvPr/>
        </p:nvSpPr>
        <p:spPr>
          <a:xfrm>
            <a:off x="4356199" y="2722811"/>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30" name="Text 28"/>
          <p:cNvSpPr/>
          <p:nvPr/>
        </p:nvSpPr>
        <p:spPr>
          <a:xfrm>
            <a:off x="4553099" y="2667595"/>
            <a:ext cx="1047750" cy="323850"/>
          </a:xfrm>
          <a:prstGeom prst="rect">
            <a:avLst/>
          </a:prstGeom>
          <a:solidFill>
            <a:srgbClr val="DBEAFE"/>
          </a:solidFill>
          <a:ln/>
        </p:spPr>
        <p:txBody>
          <a:bodyPr wrap="square" rtlCol="0" anchor="ctr"/>
          <a:lstStyle/>
          <a:p>
            <a:pPr marL="0" indent="0">
              <a:buNone/>
            </a:pPr>
            <a:endParaRPr lang="en-US" dirty="0"/>
          </a:p>
        </p:txBody>
      </p:sp>
      <p:sp>
        <p:nvSpPr>
          <p:cNvPr id="31" name="Text 29"/>
          <p:cNvSpPr/>
          <p:nvPr/>
        </p:nvSpPr>
        <p:spPr>
          <a:xfrm>
            <a:off x="4678638" y="2762845"/>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App</a:t>
            </a:r>
            <a:endParaRPr lang="en-US" sz="750" dirty="0"/>
          </a:p>
        </p:txBody>
      </p:sp>
      <p:sp>
        <p:nvSpPr>
          <p:cNvPr id="32" name="Text 30"/>
          <p:cNvSpPr/>
          <p:nvPr/>
        </p:nvSpPr>
        <p:spPr>
          <a:xfrm>
            <a:off x="5772299" y="2693343"/>
            <a:ext cx="811262" cy="272355"/>
          </a:xfrm>
          <a:prstGeom prst="rect">
            <a:avLst/>
          </a:prstGeom>
          <a:solidFill>
            <a:srgbClr val="FEE2E2"/>
          </a:solidFill>
          <a:ln/>
        </p:spPr>
        <p:txBody>
          <a:bodyPr wrap="square" rtlCol="0" anchor="ctr"/>
          <a:lstStyle/>
          <a:p>
            <a:pPr marL="0" indent="0">
              <a:buNone/>
            </a:pPr>
            <a:endParaRPr lang="en-US" dirty="0"/>
          </a:p>
        </p:txBody>
      </p:sp>
      <p:sp>
        <p:nvSpPr>
          <p:cNvPr id="33" name="Text 31"/>
          <p:cNvSpPr/>
          <p:nvPr/>
        </p:nvSpPr>
        <p:spPr>
          <a:xfrm>
            <a:off x="5886599" y="2725788"/>
            <a:ext cx="594315" cy="119955"/>
          </a:xfrm>
          <a:prstGeom prst="rect">
            <a:avLst/>
          </a:prstGeom>
          <a:noFill/>
          <a:ln/>
        </p:spPr>
        <p:txBody>
          <a:bodyPr wrap="square" lIns="0" tIns="0" rIns="0" bIns="0" rtlCol="0" anchor="t"/>
          <a:lstStyle/>
          <a:p>
            <a:pPr marL="0" indent="0" algn="l">
              <a:lnSpc>
                <a:spcPts val="945"/>
              </a:lnSpc>
              <a:buNone/>
            </a:pPr>
            <a:r>
              <a:rPr lang="en-US" sz="675" b="1" dirty="0">
                <a:solidFill>
                  <a:srgbClr val="DC2626"/>
                </a:solidFill>
                <a:latin typeface="Arial" pitchFamily="34" charset="0"/>
                <a:ea typeface="Arial" pitchFamily="34" charset="-122"/>
                <a:cs typeface="Arial" pitchFamily="34" charset="-120"/>
              </a:rPr>
              <a:t>DATA LEAVES</a:t>
            </a:r>
            <a:endParaRPr lang="en-US" sz="675" dirty="0"/>
          </a:p>
        </p:txBody>
      </p:sp>
      <p:sp>
        <p:nvSpPr>
          <p:cNvPr id="34" name="Text 32"/>
          <p:cNvSpPr/>
          <p:nvPr/>
        </p:nvSpPr>
        <p:spPr>
          <a:xfrm>
            <a:off x="457200" y="3447157"/>
            <a:ext cx="2667000" cy="1367284"/>
          </a:xfrm>
          <a:prstGeom prst="rect">
            <a:avLst/>
          </a:prstGeom>
          <a:solidFill>
            <a:srgbClr val="FFFFFF"/>
          </a:solidFill>
          <a:ln/>
        </p:spPr>
        <p:txBody>
          <a:bodyPr wrap="square" rtlCol="0" anchor="ctr"/>
          <a:lstStyle/>
          <a:p>
            <a:pPr marL="0" indent="0">
              <a:buNone/>
            </a:pPr>
            <a:endParaRPr lang="en-US" dirty="0"/>
          </a:p>
        </p:txBody>
      </p:sp>
      <p:sp>
        <p:nvSpPr>
          <p:cNvPr id="35" name="Shape 33"/>
          <p:cNvSpPr/>
          <p:nvPr/>
        </p:nvSpPr>
        <p:spPr>
          <a:xfrm>
            <a:off x="476250" y="3447157"/>
            <a:ext cx="0" cy="1367284"/>
          </a:xfrm>
          <a:prstGeom prst="line">
            <a:avLst/>
          </a:prstGeom>
          <a:noFill/>
          <a:ln w="38100">
            <a:solidFill>
              <a:srgbClr val="C9A227"/>
            </a:solidFill>
            <a:prstDash val="solid"/>
          </a:ln>
        </p:spPr>
        <p:txBody>
          <a:bodyPr/>
          <a:lstStyle/>
          <a:p>
            <a:endParaRPr lang="en-US"/>
          </a:p>
        </p:txBody>
      </p:sp>
      <p:sp>
        <p:nvSpPr>
          <p:cNvPr id="36" name="Text 34"/>
          <p:cNvSpPr/>
          <p:nvPr/>
        </p:nvSpPr>
        <p:spPr>
          <a:xfrm>
            <a:off x="628650" y="3580507"/>
            <a:ext cx="2409444"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Government Benefits</a:t>
            </a:r>
            <a:endParaRPr lang="en-US" sz="900" dirty="0"/>
          </a:p>
        </p:txBody>
      </p:sp>
      <p:sp>
        <p:nvSpPr>
          <p:cNvPr id="37" name="Text 35"/>
          <p:cNvSpPr/>
          <p:nvPr/>
        </p:nvSpPr>
        <p:spPr>
          <a:xfrm>
            <a:off x="628650" y="3969097"/>
            <a:ext cx="2409444"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No BAA required for voice data</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No data egress concerns</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Simplified compliance posture</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IT-friendly deployment</a:t>
            </a:r>
            <a:endParaRPr lang="en-US" sz="825" dirty="0"/>
          </a:p>
        </p:txBody>
      </p:sp>
      <p:sp>
        <p:nvSpPr>
          <p:cNvPr id="38" name="Text 36"/>
          <p:cNvSpPr/>
          <p:nvPr/>
        </p:nvSpPr>
        <p:spPr>
          <a:xfrm>
            <a:off x="3257550" y="3447157"/>
            <a:ext cx="2667000" cy="1367284"/>
          </a:xfrm>
          <a:prstGeom prst="rect">
            <a:avLst/>
          </a:prstGeom>
          <a:solidFill>
            <a:srgbClr val="FFFFFF"/>
          </a:solidFill>
          <a:ln/>
        </p:spPr>
        <p:txBody>
          <a:bodyPr wrap="square" rtlCol="0" anchor="ctr"/>
          <a:lstStyle/>
          <a:p>
            <a:pPr marL="0" indent="0">
              <a:buNone/>
            </a:pPr>
            <a:endParaRPr lang="en-US" dirty="0"/>
          </a:p>
        </p:txBody>
      </p:sp>
      <p:sp>
        <p:nvSpPr>
          <p:cNvPr id="39" name="Shape 37"/>
          <p:cNvSpPr/>
          <p:nvPr/>
        </p:nvSpPr>
        <p:spPr>
          <a:xfrm>
            <a:off x="3276600" y="3447157"/>
            <a:ext cx="0" cy="1367284"/>
          </a:xfrm>
          <a:prstGeom prst="line">
            <a:avLst/>
          </a:prstGeom>
          <a:noFill/>
          <a:ln w="38100">
            <a:solidFill>
              <a:srgbClr val="C9A227"/>
            </a:solidFill>
            <a:prstDash val="solid"/>
          </a:ln>
        </p:spPr>
        <p:txBody>
          <a:bodyPr/>
          <a:lstStyle/>
          <a:p>
            <a:endParaRPr lang="en-US"/>
          </a:p>
        </p:txBody>
      </p:sp>
      <p:sp>
        <p:nvSpPr>
          <p:cNvPr id="40" name="Text 38"/>
          <p:cNvSpPr/>
          <p:nvPr/>
        </p:nvSpPr>
        <p:spPr>
          <a:xfrm>
            <a:off x="3429000" y="3580507"/>
            <a:ext cx="2409444"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Security Benefits</a:t>
            </a:r>
            <a:endParaRPr lang="en-US" sz="900" dirty="0"/>
          </a:p>
        </p:txBody>
      </p:sp>
      <p:sp>
        <p:nvSpPr>
          <p:cNvPr id="41" name="Text 39"/>
          <p:cNvSpPr/>
          <p:nvPr/>
        </p:nvSpPr>
        <p:spPr>
          <a:xfrm>
            <a:off x="3429000" y="3969097"/>
            <a:ext cx="2409444"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Voice never leaves device</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Works offline / air-gapped</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No vendor data retention</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Full audit control</a:t>
            </a:r>
            <a:endParaRPr lang="en-US" sz="825" dirty="0"/>
          </a:p>
        </p:txBody>
      </p:sp>
      <p:sp>
        <p:nvSpPr>
          <p:cNvPr id="42" name="Text 40"/>
          <p:cNvSpPr/>
          <p:nvPr/>
        </p:nvSpPr>
        <p:spPr>
          <a:xfrm>
            <a:off x="6057900" y="3536156"/>
            <a:ext cx="2628900" cy="1189286"/>
          </a:xfrm>
          <a:prstGeom prst="rect">
            <a:avLst/>
          </a:prstGeom>
          <a:solidFill>
            <a:srgbClr val="1A1F2E"/>
          </a:solidFill>
          <a:ln/>
        </p:spPr>
        <p:txBody>
          <a:bodyPr wrap="square" rtlCol="0" anchor="ctr"/>
          <a:lstStyle/>
          <a:p>
            <a:pPr marL="0" indent="0">
              <a:buNone/>
            </a:pPr>
            <a:endParaRPr lang="en-US" dirty="0"/>
          </a:p>
        </p:txBody>
      </p:sp>
      <p:sp>
        <p:nvSpPr>
          <p:cNvPr id="43" name="Text 41"/>
          <p:cNvSpPr/>
          <p:nvPr/>
        </p:nvSpPr>
        <p:spPr>
          <a:xfrm>
            <a:off x="6191250" y="3669506"/>
            <a:ext cx="2409444"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C9A227"/>
                </a:solidFill>
                <a:latin typeface="Arial" pitchFamily="34" charset="0"/>
                <a:ea typeface="Arial" pitchFamily="34" charset="-122"/>
                <a:cs typeface="Arial" pitchFamily="34" charset="-120"/>
              </a:rPr>
              <a:t>Key Insight</a:t>
            </a:r>
            <a:endParaRPr lang="en-US" sz="900" dirty="0"/>
          </a:p>
        </p:txBody>
      </p:sp>
      <p:sp>
        <p:nvSpPr>
          <p:cNvPr id="44" name="Text 42"/>
          <p:cNvSpPr/>
          <p:nvPr/>
        </p:nvSpPr>
        <p:spPr>
          <a:xfrm>
            <a:off x="6191250" y="4058096"/>
            <a:ext cx="2409444" cy="533995"/>
          </a:xfrm>
          <a:prstGeom prst="rect">
            <a:avLst/>
          </a:prstGeom>
          <a:noFill/>
          <a:ln/>
        </p:spPr>
        <p:txBody>
          <a:bodyPr wrap="square" lIns="0" tIns="0" rIns="0" bIns="0" rtlCol="0" anchor="t"/>
          <a:lstStyle/>
          <a:p>
            <a:pPr marL="0" indent="0" algn="l">
              <a:lnSpc>
                <a:spcPts val="1402"/>
              </a:lnSpc>
              <a:buNone/>
            </a:pPr>
            <a:r>
              <a:rPr lang="en-US" sz="825" dirty="0">
                <a:solidFill>
                  <a:srgbClr val="FFFFFF">
                    <a:alpha val="80000"/>
                  </a:srgbClr>
                </a:solidFill>
                <a:latin typeface="Arial" pitchFamily="34" charset="0"/>
                <a:ea typeface="Arial" pitchFamily="34" charset="-122"/>
                <a:cs typeface="Arial" pitchFamily="34" charset="-120"/>
              </a:rPr>
              <a:t>Voice data is biometric and sensitive. Local processing means you maintain complete control over where your data goes.</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5213896"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532507"/>
            <a:ext cx="2041166"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Arial" pitchFamily="34" charset="0"/>
                <a:ea typeface="Arial" pitchFamily="34" charset="-122"/>
                <a:cs typeface="Arial" pitchFamily="34" charset="-120"/>
              </a:rPr>
              <a:t>CROSS-PLATFORM OPTION</a:t>
            </a:r>
            <a:endParaRPr lang="en-US" sz="825" dirty="0"/>
          </a:p>
        </p:txBody>
      </p:sp>
      <p:sp>
        <p:nvSpPr>
          <p:cNvPr id="4" name="Text 2"/>
          <p:cNvSpPr/>
          <p:nvPr/>
        </p:nvSpPr>
        <p:spPr>
          <a:xfrm>
            <a:off x="2420243" y="517327"/>
            <a:ext cx="971550" cy="177105"/>
          </a:xfrm>
          <a:prstGeom prst="rect">
            <a:avLst/>
          </a:prstGeom>
          <a:solidFill>
            <a:srgbClr val="DCFCE7"/>
          </a:solidFill>
          <a:ln/>
        </p:spPr>
        <p:txBody>
          <a:bodyPr wrap="square" rtlCol="0" anchor="ctr"/>
          <a:lstStyle/>
          <a:p>
            <a:pPr marL="0" indent="0">
              <a:buNone/>
            </a:pPr>
            <a:endParaRPr lang="en-US" dirty="0"/>
          </a:p>
        </p:txBody>
      </p:sp>
      <p:sp>
        <p:nvSpPr>
          <p:cNvPr id="5" name="Text 3"/>
          <p:cNvSpPr/>
          <p:nvPr/>
        </p:nvSpPr>
        <p:spPr>
          <a:xfrm>
            <a:off x="2496443" y="545902"/>
            <a:ext cx="835533"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NOW ON WINDOWS</a:t>
            </a:r>
            <a:endParaRPr lang="en-US" sz="675" dirty="0"/>
          </a:p>
        </p:txBody>
      </p:sp>
      <p:sp>
        <p:nvSpPr>
          <p:cNvPr id="6" name="Text 4"/>
          <p:cNvSpPr/>
          <p:nvPr/>
        </p:nvSpPr>
        <p:spPr>
          <a:xfrm>
            <a:off x="342900" y="903982"/>
            <a:ext cx="2312289" cy="304800"/>
          </a:xfrm>
          <a:prstGeom prst="rect">
            <a:avLst/>
          </a:prstGeom>
          <a:noFill/>
          <a:ln/>
        </p:spPr>
        <p:txBody>
          <a:bodyPr wrap="square" lIns="0" tIns="0" rIns="0" bIns="0" rtlCol="0" anchor="t"/>
          <a:lstStyle/>
          <a:p>
            <a:pPr marL="0" indent="0" algn="l">
              <a:lnSpc>
                <a:spcPts val="2400"/>
              </a:lnSpc>
              <a:spcAft>
                <a:spcPts val="450"/>
              </a:spcAft>
              <a:buNone/>
            </a:pPr>
            <a:r>
              <a:rPr lang="en-US" sz="2400" dirty="0">
                <a:solidFill>
                  <a:srgbClr val="1A1F2E"/>
                </a:solidFill>
                <a:latin typeface="Georgia" pitchFamily="34" charset="0"/>
                <a:ea typeface="Georgia" pitchFamily="34" charset="-122"/>
                <a:cs typeface="Georgia" pitchFamily="34" charset="-120"/>
              </a:rPr>
              <a:t>Wispr Flow</a:t>
            </a:r>
            <a:endParaRPr lang="en-US" sz="2400" dirty="0"/>
          </a:p>
        </p:txBody>
      </p:sp>
      <p:sp>
        <p:nvSpPr>
          <p:cNvPr id="7" name="Text 5"/>
          <p:cNvSpPr/>
          <p:nvPr/>
        </p:nvSpPr>
        <p:spPr>
          <a:xfrm>
            <a:off x="342900" y="1418332"/>
            <a:ext cx="4618658" cy="173236"/>
          </a:xfrm>
          <a:prstGeom prst="rect">
            <a:avLst/>
          </a:prstGeom>
          <a:noFill/>
          <a:ln/>
        </p:spPr>
        <p:txBody>
          <a:bodyPr wrap="square" lIns="0" tIns="0" rIns="0" bIns="0" rtlCol="0" anchor="t"/>
          <a:lstStyle/>
          <a:p>
            <a:pPr marL="0" indent="0" algn="l">
              <a:lnSpc>
                <a:spcPts val="1365"/>
              </a:lnSpc>
              <a:spcAft>
                <a:spcPts val="1200"/>
              </a:spcAft>
              <a:buNone/>
            </a:pPr>
            <a:r>
              <a:rPr lang="en-US" sz="975" dirty="0">
                <a:solidFill>
                  <a:srgbClr val="6B7280"/>
                </a:solidFill>
                <a:latin typeface="Arial" pitchFamily="34" charset="0"/>
                <a:ea typeface="Arial" pitchFamily="34" charset="-122"/>
                <a:cs typeface="Arial" pitchFamily="34" charset="-120"/>
              </a:rPr>
              <a:t>Context-aware voice input for Mac, Windows, and iOS</a:t>
            </a:r>
            <a:endParaRPr lang="en-US" sz="975" dirty="0"/>
          </a:p>
        </p:txBody>
      </p:sp>
      <p:sp>
        <p:nvSpPr>
          <p:cNvPr id="8" name="Text 6"/>
          <p:cNvSpPr/>
          <p:nvPr/>
        </p:nvSpPr>
        <p:spPr>
          <a:xfrm>
            <a:off x="342900" y="1896368"/>
            <a:ext cx="4528096" cy="798165"/>
          </a:xfrm>
          <a:prstGeom prst="rect">
            <a:avLst/>
          </a:prstGeom>
          <a:solidFill>
            <a:srgbClr val="FFFFFF"/>
          </a:solidFill>
          <a:ln/>
        </p:spPr>
        <p:txBody>
          <a:bodyPr wrap="square" rtlCol="0" anchor="ctr"/>
          <a:lstStyle/>
          <a:p>
            <a:pPr marL="0" indent="0">
              <a:buNone/>
            </a:pPr>
            <a:endParaRPr lang="en-US" dirty="0"/>
          </a:p>
        </p:txBody>
      </p:sp>
      <p:sp>
        <p:nvSpPr>
          <p:cNvPr id="9" name="Shape 7"/>
          <p:cNvSpPr/>
          <p:nvPr/>
        </p:nvSpPr>
        <p:spPr>
          <a:xfrm>
            <a:off x="361950" y="1896368"/>
            <a:ext cx="0" cy="798165"/>
          </a:xfrm>
          <a:prstGeom prst="line">
            <a:avLst/>
          </a:prstGeom>
          <a:noFill/>
          <a:ln w="38100">
            <a:solidFill>
              <a:srgbClr val="C9A227"/>
            </a:solidFill>
            <a:prstDash val="solid"/>
          </a:ln>
        </p:spPr>
        <p:txBody>
          <a:bodyPr/>
          <a:lstStyle/>
          <a:p>
            <a:endParaRPr lang="en-US"/>
          </a:p>
        </p:txBody>
      </p:sp>
      <p:sp>
        <p:nvSpPr>
          <p:cNvPr id="10" name="Text 8"/>
          <p:cNvSpPr/>
          <p:nvPr/>
        </p:nvSpPr>
        <p:spPr>
          <a:xfrm>
            <a:off x="533400" y="2029718"/>
            <a:ext cx="4268900"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What It Is</a:t>
            </a:r>
            <a:endParaRPr lang="en-US" sz="900" dirty="0"/>
          </a:p>
        </p:txBody>
      </p:sp>
      <p:sp>
        <p:nvSpPr>
          <p:cNvPr id="11" name="Text 9"/>
          <p:cNvSpPr/>
          <p:nvPr/>
        </p:nvSpPr>
        <p:spPr>
          <a:xfrm>
            <a:off x="533400" y="2246858"/>
            <a:ext cx="4268900"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An intelligent voice-to-text tool that understands context. It knows if you're coding, writing email, or chatting - and formats output accordingly.</a:t>
            </a:r>
            <a:endParaRPr lang="en-US" sz="825" dirty="0"/>
          </a:p>
        </p:txBody>
      </p:sp>
      <p:sp>
        <p:nvSpPr>
          <p:cNvPr id="12" name="Text 10"/>
          <p:cNvSpPr/>
          <p:nvPr/>
        </p:nvSpPr>
        <p:spPr>
          <a:xfrm>
            <a:off x="342900" y="2961233"/>
            <a:ext cx="1433215" cy="63237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3" name="Text 11"/>
          <p:cNvSpPr/>
          <p:nvPr/>
        </p:nvSpPr>
        <p:spPr>
          <a:xfrm>
            <a:off x="466725" y="3085058"/>
            <a:ext cx="1209276" cy="213271"/>
          </a:xfrm>
          <a:prstGeom prst="rect">
            <a:avLst/>
          </a:prstGeom>
          <a:noFill/>
          <a:ln/>
        </p:spPr>
        <p:txBody>
          <a:bodyPr wrap="square" lIns="0" tIns="0" rIns="0" bIns="0" rtlCol="0" anchor="t"/>
          <a:lstStyle/>
          <a:p>
            <a:pPr marL="0" indent="0" algn="l">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Free Tier</a:t>
            </a:r>
            <a:endParaRPr lang="en-US" sz="1200" dirty="0"/>
          </a:p>
        </p:txBody>
      </p:sp>
      <p:sp>
        <p:nvSpPr>
          <p:cNvPr id="14" name="Text 12"/>
          <p:cNvSpPr/>
          <p:nvPr/>
        </p:nvSpPr>
        <p:spPr>
          <a:xfrm>
            <a:off x="466725" y="3336429"/>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2,000 words/week</a:t>
            </a:r>
            <a:endParaRPr lang="en-US" sz="750" dirty="0"/>
          </a:p>
        </p:txBody>
      </p:sp>
      <p:sp>
        <p:nvSpPr>
          <p:cNvPr id="15" name="Text 13"/>
          <p:cNvSpPr/>
          <p:nvPr/>
        </p:nvSpPr>
        <p:spPr>
          <a:xfrm>
            <a:off x="1890415" y="2961233"/>
            <a:ext cx="1433215" cy="63237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6" name="Text 14"/>
          <p:cNvSpPr/>
          <p:nvPr/>
        </p:nvSpPr>
        <p:spPr>
          <a:xfrm>
            <a:off x="2014240" y="3085058"/>
            <a:ext cx="1209276" cy="213271"/>
          </a:xfrm>
          <a:prstGeom prst="rect">
            <a:avLst/>
          </a:prstGeom>
          <a:noFill/>
          <a:ln/>
        </p:spPr>
        <p:txBody>
          <a:bodyPr wrap="square" lIns="0" tIns="0" rIns="0" bIns="0" rtlCol="0" anchor="t"/>
          <a:lstStyle/>
          <a:p>
            <a:pPr marL="0" indent="0" algn="l">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$15/mo Pro</a:t>
            </a:r>
            <a:endParaRPr lang="en-US" sz="1200" dirty="0"/>
          </a:p>
        </p:txBody>
      </p:sp>
      <p:sp>
        <p:nvSpPr>
          <p:cNvPr id="17" name="Text 15"/>
          <p:cNvSpPr/>
          <p:nvPr/>
        </p:nvSpPr>
        <p:spPr>
          <a:xfrm>
            <a:off x="2014240" y="3336429"/>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Unlimited dictation</a:t>
            </a:r>
            <a:endParaRPr lang="en-US" sz="750" dirty="0"/>
          </a:p>
        </p:txBody>
      </p:sp>
      <p:sp>
        <p:nvSpPr>
          <p:cNvPr id="18" name="Text 16"/>
          <p:cNvSpPr/>
          <p:nvPr/>
        </p:nvSpPr>
        <p:spPr>
          <a:xfrm>
            <a:off x="3437930" y="2961233"/>
            <a:ext cx="1433215" cy="63237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561755" y="3085058"/>
            <a:ext cx="1209276" cy="213271"/>
          </a:xfrm>
          <a:prstGeom prst="rect">
            <a:avLst/>
          </a:prstGeom>
          <a:noFill/>
          <a:ln/>
        </p:spPr>
        <p:txBody>
          <a:bodyPr wrap="square" lIns="0" tIns="0" rIns="0" bIns="0" rtlCol="0" anchor="t"/>
          <a:lstStyle/>
          <a:p>
            <a:pPr marL="0" indent="0" algn="l">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Cloud Only</a:t>
            </a:r>
            <a:endParaRPr lang="en-US" sz="1200" dirty="0"/>
          </a:p>
        </p:txBody>
      </p:sp>
      <p:sp>
        <p:nvSpPr>
          <p:cNvPr id="20" name="Text 18"/>
          <p:cNvSpPr/>
          <p:nvPr/>
        </p:nvSpPr>
        <p:spPr>
          <a:xfrm>
            <a:off x="3561755" y="3336429"/>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Requires internet</a:t>
            </a:r>
            <a:endParaRPr lang="en-US" sz="750" dirty="0"/>
          </a:p>
        </p:txBody>
      </p:sp>
      <p:sp>
        <p:nvSpPr>
          <p:cNvPr id="21" name="Text 19"/>
          <p:cNvSpPr/>
          <p:nvPr/>
        </p:nvSpPr>
        <p:spPr>
          <a:xfrm>
            <a:off x="342900" y="3860304"/>
            <a:ext cx="4528096" cy="765721"/>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495300" y="3993654"/>
            <a:ext cx="4307762"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KEY DIFFERENTIATOR</a:t>
            </a:r>
            <a:endParaRPr lang="en-US" sz="825" dirty="0"/>
          </a:p>
        </p:txBody>
      </p:sp>
      <p:sp>
        <p:nvSpPr>
          <p:cNvPr id="23" name="Text 21"/>
          <p:cNvSpPr/>
          <p:nvPr/>
        </p:nvSpPr>
        <p:spPr>
          <a:xfrm>
            <a:off x="495300" y="4178350"/>
            <a:ext cx="4307762"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Context awareness - Wispr Flow detects your current app and adjusts formatting. Code in VS Code, prose in Word.</a:t>
            </a:r>
            <a:endParaRPr lang="en-US" sz="825" dirty="0"/>
          </a:p>
        </p:txBody>
      </p:sp>
      <p:sp>
        <p:nvSpPr>
          <p:cNvPr id="24" name="Text 22"/>
          <p:cNvSpPr/>
          <p:nvPr/>
        </p:nvSpPr>
        <p:spPr>
          <a:xfrm>
            <a:off x="5366296" y="0"/>
            <a:ext cx="3777704" cy="5143500"/>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5671096" y="304800"/>
            <a:ext cx="3231466"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PLATFORM SUPPORT</a:t>
            </a:r>
            <a:endParaRPr lang="en-US" sz="825" dirty="0"/>
          </a:p>
        </p:txBody>
      </p:sp>
      <p:sp>
        <p:nvSpPr>
          <p:cNvPr id="26" name="Text 24"/>
          <p:cNvSpPr/>
          <p:nvPr/>
        </p:nvSpPr>
        <p:spPr>
          <a:xfrm>
            <a:off x="5671096" y="756196"/>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27" name="Text 25"/>
          <p:cNvSpPr/>
          <p:nvPr/>
        </p:nvSpPr>
        <p:spPr>
          <a:xfrm>
            <a:off x="5813971" y="909489"/>
            <a:ext cx="304800" cy="304800"/>
          </a:xfrm>
          <a:prstGeom prst="rect">
            <a:avLst/>
          </a:prstGeom>
          <a:solidFill>
            <a:srgbClr val="C9A227"/>
          </a:solidFill>
          <a:ln/>
        </p:spPr>
        <p:txBody>
          <a:bodyPr wrap="square" rtlCol="0" anchor="ctr"/>
          <a:lstStyle/>
          <a:p>
            <a:pPr marL="0" indent="0">
              <a:buNone/>
            </a:pPr>
            <a:endParaRPr lang="en-US" dirty="0"/>
          </a:p>
        </p:txBody>
      </p:sp>
      <p:sp>
        <p:nvSpPr>
          <p:cNvPr id="28" name="Text 26"/>
          <p:cNvSpPr/>
          <p:nvPr/>
        </p:nvSpPr>
        <p:spPr>
          <a:xfrm>
            <a:off x="5910709" y="968573"/>
            <a:ext cx="113398"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M</a:t>
            </a:r>
            <a:endParaRPr lang="en-US" sz="1050" dirty="0"/>
          </a:p>
        </p:txBody>
      </p:sp>
      <p:sp>
        <p:nvSpPr>
          <p:cNvPr id="29" name="Text 27"/>
          <p:cNvSpPr/>
          <p:nvPr/>
        </p:nvSpPr>
        <p:spPr>
          <a:xfrm>
            <a:off x="6214021" y="899071"/>
            <a:ext cx="875002"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macOS</a:t>
            </a:r>
            <a:endParaRPr lang="en-US" sz="975" dirty="0"/>
          </a:p>
        </p:txBody>
      </p:sp>
      <p:sp>
        <p:nvSpPr>
          <p:cNvPr id="30" name="Text 28"/>
          <p:cNvSpPr/>
          <p:nvPr/>
        </p:nvSpPr>
        <p:spPr>
          <a:xfrm>
            <a:off x="6214021" y="1091357"/>
            <a:ext cx="875002"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Native app available</a:t>
            </a:r>
            <a:endParaRPr lang="en-US" sz="750" dirty="0"/>
          </a:p>
        </p:txBody>
      </p:sp>
      <p:sp>
        <p:nvSpPr>
          <p:cNvPr id="31" name="Text 29"/>
          <p:cNvSpPr/>
          <p:nvPr/>
        </p:nvSpPr>
        <p:spPr>
          <a:xfrm>
            <a:off x="5671096" y="1615232"/>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32" name="Text 30"/>
          <p:cNvSpPr/>
          <p:nvPr/>
        </p:nvSpPr>
        <p:spPr>
          <a:xfrm>
            <a:off x="5813971" y="1768525"/>
            <a:ext cx="304800" cy="304800"/>
          </a:xfrm>
          <a:prstGeom prst="rect">
            <a:avLst/>
          </a:prstGeom>
          <a:solidFill>
            <a:srgbClr val="C9A227"/>
          </a:solidFill>
          <a:ln/>
        </p:spPr>
        <p:txBody>
          <a:bodyPr wrap="square" rtlCol="0" anchor="ctr"/>
          <a:lstStyle/>
          <a:p>
            <a:pPr marL="0" indent="0">
              <a:buNone/>
            </a:pPr>
            <a:endParaRPr lang="en-US" dirty="0"/>
          </a:p>
        </p:txBody>
      </p:sp>
      <p:sp>
        <p:nvSpPr>
          <p:cNvPr id="33" name="Text 31"/>
          <p:cNvSpPr/>
          <p:nvPr/>
        </p:nvSpPr>
        <p:spPr>
          <a:xfrm>
            <a:off x="5903416" y="1827609"/>
            <a:ext cx="128427"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W</a:t>
            </a:r>
            <a:endParaRPr lang="en-US" sz="1050" dirty="0"/>
          </a:p>
        </p:txBody>
      </p:sp>
      <p:sp>
        <p:nvSpPr>
          <p:cNvPr id="34" name="Text 32"/>
          <p:cNvSpPr/>
          <p:nvPr/>
        </p:nvSpPr>
        <p:spPr>
          <a:xfrm>
            <a:off x="6214021" y="1758107"/>
            <a:ext cx="854205"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Windows 10/11</a:t>
            </a:r>
            <a:endParaRPr lang="en-US" sz="975" dirty="0"/>
          </a:p>
        </p:txBody>
      </p:sp>
      <p:sp>
        <p:nvSpPr>
          <p:cNvPr id="35" name="Text 33"/>
          <p:cNvSpPr/>
          <p:nvPr/>
        </p:nvSpPr>
        <p:spPr>
          <a:xfrm>
            <a:off x="6214021" y="1950393"/>
            <a:ext cx="854205"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Full feature support</a:t>
            </a:r>
            <a:endParaRPr lang="en-US" sz="750" dirty="0"/>
          </a:p>
        </p:txBody>
      </p:sp>
      <p:sp>
        <p:nvSpPr>
          <p:cNvPr id="36" name="Text 34"/>
          <p:cNvSpPr/>
          <p:nvPr/>
        </p:nvSpPr>
        <p:spPr>
          <a:xfrm>
            <a:off x="5671096" y="2474268"/>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37" name="Text 35"/>
          <p:cNvSpPr/>
          <p:nvPr/>
        </p:nvSpPr>
        <p:spPr>
          <a:xfrm>
            <a:off x="5813971" y="2627561"/>
            <a:ext cx="304800" cy="304800"/>
          </a:xfrm>
          <a:prstGeom prst="rect">
            <a:avLst/>
          </a:prstGeom>
          <a:solidFill>
            <a:srgbClr val="C9A227"/>
          </a:solidFill>
          <a:ln/>
        </p:spPr>
        <p:txBody>
          <a:bodyPr wrap="square" rtlCol="0" anchor="ctr"/>
          <a:lstStyle/>
          <a:p>
            <a:pPr marL="0" indent="0">
              <a:buNone/>
            </a:pPr>
            <a:endParaRPr lang="en-US" dirty="0"/>
          </a:p>
        </p:txBody>
      </p:sp>
      <p:sp>
        <p:nvSpPr>
          <p:cNvPr id="38" name="Text 36"/>
          <p:cNvSpPr/>
          <p:nvPr/>
        </p:nvSpPr>
        <p:spPr>
          <a:xfrm>
            <a:off x="5951488" y="2686645"/>
            <a:ext cx="30361"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i</a:t>
            </a:r>
            <a:endParaRPr lang="en-US" sz="1050" dirty="0"/>
          </a:p>
        </p:txBody>
      </p:sp>
      <p:sp>
        <p:nvSpPr>
          <p:cNvPr id="39" name="Text 37"/>
          <p:cNvSpPr/>
          <p:nvPr/>
        </p:nvSpPr>
        <p:spPr>
          <a:xfrm>
            <a:off x="6214021" y="2617143"/>
            <a:ext cx="1071893"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iOS / Web</a:t>
            </a:r>
            <a:endParaRPr lang="en-US" sz="975" dirty="0"/>
          </a:p>
        </p:txBody>
      </p:sp>
      <p:sp>
        <p:nvSpPr>
          <p:cNvPr id="40" name="Text 38"/>
          <p:cNvSpPr/>
          <p:nvPr/>
        </p:nvSpPr>
        <p:spPr>
          <a:xfrm>
            <a:off x="6214021" y="2809429"/>
            <a:ext cx="1071893"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Mobile + browser access</a:t>
            </a:r>
            <a:endParaRPr lang="en-US" sz="750" dirty="0"/>
          </a:p>
        </p:txBody>
      </p:sp>
      <p:sp>
        <p:nvSpPr>
          <p:cNvPr id="41" name="Text 39"/>
          <p:cNvSpPr/>
          <p:nvPr/>
        </p:nvSpPr>
        <p:spPr>
          <a:xfrm>
            <a:off x="5671096" y="4316909"/>
            <a:ext cx="3168104" cy="521791"/>
          </a:xfrm>
          <a:prstGeom prst="rect">
            <a:avLst/>
          </a:prstGeom>
          <a:solidFill>
            <a:srgbClr val="FEF3C7"/>
          </a:solidFill>
          <a:ln/>
        </p:spPr>
        <p:txBody>
          <a:bodyPr wrap="square" rtlCol="0" anchor="ctr"/>
          <a:lstStyle/>
          <a:p>
            <a:pPr marL="0" indent="0">
              <a:buNone/>
            </a:pPr>
            <a:endParaRPr lang="en-US" dirty="0"/>
          </a:p>
        </p:txBody>
      </p:sp>
      <p:sp>
        <p:nvSpPr>
          <p:cNvPr id="42" name="Shape 40"/>
          <p:cNvSpPr/>
          <p:nvPr/>
        </p:nvSpPr>
        <p:spPr>
          <a:xfrm>
            <a:off x="5690146" y="4316909"/>
            <a:ext cx="0" cy="521791"/>
          </a:xfrm>
          <a:prstGeom prst="line">
            <a:avLst/>
          </a:prstGeom>
          <a:noFill/>
          <a:ln w="38100">
            <a:solidFill>
              <a:srgbClr val="F59E0B"/>
            </a:solidFill>
            <a:prstDash val="solid"/>
          </a:ln>
        </p:spPr>
        <p:txBody>
          <a:bodyPr/>
          <a:lstStyle/>
          <a:p>
            <a:endParaRPr lang="en-US"/>
          </a:p>
        </p:txBody>
      </p:sp>
      <p:sp>
        <p:nvSpPr>
          <p:cNvPr id="43" name="Text 41"/>
          <p:cNvSpPr/>
          <p:nvPr/>
        </p:nvSpPr>
        <p:spPr>
          <a:xfrm>
            <a:off x="5823496" y="4431209"/>
            <a:ext cx="2959432" cy="293191"/>
          </a:xfrm>
          <a:prstGeom prst="rect">
            <a:avLst/>
          </a:prstGeom>
          <a:noFill/>
          <a:ln/>
        </p:spPr>
        <p:txBody>
          <a:bodyPr wrap="square" lIns="0" tIns="0" rIns="0" bIns="0" rtlCol="0" anchor="t"/>
          <a:lstStyle/>
          <a:p>
            <a:pPr marL="0" indent="0" algn="l">
              <a:lnSpc>
                <a:spcPts val="1155"/>
              </a:lnSpc>
              <a:buNone/>
            </a:pPr>
            <a:r>
              <a:rPr lang="en-US" sz="825" b="1" dirty="0">
                <a:solidFill>
                  <a:srgbClr val="92400E"/>
                </a:solidFill>
                <a:latin typeface="Arial" pitchFamily="34" charset="0"/>
                <a:ea typeface="Arial" pitchFamily="34" charset="-122"/>
                <a:cs typeface="Arial" pitchFamily="34" charset="-120"/>
              </a:rPr>
              <a:t>Note:</a:t>
            </a:r>
            <a:r>
              <a:rPr lang="en-US" sz="825" dirty="0">
                <a:solidFill>
                  <a:srgbClr val="92400E"/>
                </a:solidFill>
                <a:latin typeface="Arial" pitchFamily="34" charset="0"/>
                <a:ea typeface="Arial" pitchFamily="34" charset="-122"/>
                <a:cs typeface="Arial" pitchFamily="34" charset="-120"/>
              </a:rPr>
              <a:t> All processing is cloud-based. Privacy Mode = zero data retention (see next slides)</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7381" cy="5143500"/>
          </a:xfrm>
          <a:prstGeom prst="rect">
            <a:avLst/>
          </a:prstGeom>
          <a:solidFill>
            <a:srgbClr val="F59E0B"/>
          </a:solidFill>
          <a:ln/>
        </p:spPr>
        <p:txBody>
          <a:bodyPr wrap="square" rtlCol="0" anchor="ctr"/>
          <a:lstStyle/>
          <a:p>
            <a:pPr marL="0" indent="0">
              <a:buNone/>
            </a:pPr>
            <a:endParaRPr lang="en-US" dirty="0"/>
          </a:p>
        </p:txBody>
      </p:sp>
      <p:sp>
        <p:nvSpPr>
          <p:cNvPr id="3" name="Text 1"/>
          <p:cNvSpPr/>
          <p:nvPr/>
        </p:nvSpPr>
        <p:spPr>
          <a:xfrm>
            <a:off x="304800" y="266700"/>
            <a:ext cx="476250" cy="47625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489049" y="304800"/>
            <a:ext cx="109755" cy="400050"/>
          </a:xfrm>
          <a:prstGeom prst="rect">
            <a:avLst/>
          </a:prstGeom>
          <a:noFill/>
          <a:ln/>
        </p:spPr>
        <p:txBody>
          <a:bodyPr wrap="square" lIns="0" tIns="0" rIns="0" bIns="0" rtlCol="0" anchor="t"/>
          <a:lstStyle/>
          <a:p>
            <a:pPr marL="0" indent="0" algn="l">
              <a:lnSpc>
                <a:spcPts val="3150"/>
              </a:lnSpc>
              <a:buNone/>
            </a:pPr>
            <a:r>
              <a:rPr lang="en-US" sz="2250" b="1" dirty="0">
                <a:solidFill>
                  <a:srgbClr val="F59E0B"/>
                </a:solidFill>
                <a:latin typeface="Georgia" pitchFamily="34" charset="0"/>
                <a:ea typeface="Georgia" pitchFamily="34" charset="-122"/>
                <a:cs typeface="Georgia" pitchFamily="34" charset="-120"/>
              </a:rPr>
              <a:t>!</a:t>
            </a:r>
            <a:endParaRPr lang="en-US" sz="2250" dirty="0"/>
          </a:p>
        </p:txBody>
      </p:sp>
      <p:sp>
        <p:nvSpPr>
          <p:cNvPr id="5" name="Text 3"/>
          <p:cNvSpPr/>
          <p:nvPr/>
        </p:nvSpPr>
        <p:spPr>
          <a:xfrm>
            <a:off x="304800" y="1047750"/>
            <a:ext cx="3506536" cy="133350"/>
          </a:xfrm>
          <a:prstGeom prst="rect">
            <a:avLst/>
          </a:prstGeom>
          <a:noFill/>
          <a:ln/>
        </p:spPr>
        <p:txBody>
          <a:bodyPr wrap="square" lIns="0" tIns="0" rIns="0" bIns="0" rtlCol="0" anchor="t"/>
          <a:lstStyle/>
          <a:p>
            <a:pPr marL="0" indent="0" algn="l">
              <a:lnSpc>
                <a:spcPts val="1050"/>
              </a:lnSpc>
              <a:spcAft>
                <a:spcPts val="750"/>
              </a:spcAft>
              <a:buNone/>
            </a:pPr>
            <a:r>
              <a:rPr lang="en-US" sz="750" dirty="0">
                <a:solidFill>
                  <a:srgbClr val="1A1F2E"/>
                </a:solidFill>
                <a:latin typeface="Arial" pitchFamily="34" charset="0"/>
                <a:ea typeface="Arial" pitchFamily="34" charset="-122"/>
                <a:cs typeface="Arial" pitchFamily="34" charset="-120"/>
              </a:rPr>
              <a:t>IMPORTANT LIMITATION</a:t>
            </a:r>
            <a:endParaRPr lang="en-US" sz="750" dirty="0"/>
          </a:p>
        </p:txBody>
      </p:sp>
      <p:sp>
        <p:nvSpPr>
          <p:cNvPr id="6" name="Text 4"/>
          <p:cNvSpPr/>
          <p:nvPr/>
        </p:nvSpPr>
        <p:spPr>
          <a:xfrm>
            <a:off x="304800" y="1428750"/>
            <a:ext cx="2662047" cy="27429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1A1F2E"/>
                </a:solidFill>
                <a:latin typeface="Georgia" pitchFamily="34" charset="0"/>
                <a:ea typeface="Georgia" pitchFamily="34" charset="-122"/>
                <a:cs typeface="Georgia" pitchFamily="34" charset="-120"/>
              </a:rPr>
              <a:t>Wispr Flow is Cloud-Only</a:t>
            </a:r>
            <a:endParaRPr lang="en-US" sz="1800" dirty="0"/>
          </a:p>
        </p:txBody>
      </p:sp>
      <p:sp>
        <p:nvSpPr>
          <p:cNvPr id="7" name="Text 5"/>
          <p:cNvSpPr/>
          <p:nvPr/>
        </p:nvSpPr>
        <p:spPr>
          <a:xfrm>
            <a:off x="304800" y="1969740"/>
            <a:ext cx="3506536" cy="342900"/>
          </a:xfrm>
          <a:prstGeom prst="rect">
            <a:avLst/>
          </a:prstGeom>
          <a:noFill/>
          <a:ln/>
        </p:spPr>
        <p:txBody>
          <a:bodyPr wrap="square" lIns="0" tIns="0" rIns="0" bIns="0" rtlCol="0" anchor="t"/>
          <a:lstStyle/>
          <a:p>
            <a:pPr marL="0" indent="0" algn="l">
              <a:lnSpc>
                <a:spcPts val="1350"/>
              </a:lnSpc>
              <a:spcAft>
                <a:spcPts val="1200"/>
              </a:spcAft>
              <a:buNone/>
            </a:pPr>
            <a:r>
              <a:rPr lang="en-US" sz="900" dirty="0">
                <a:solidFill>
                  <a:srgbClr val="1A1F2E">
                    <a:alpha val="90000"/>
                  </a:srgbClr>
                </a:solidFill>
                <a:latin typeface="Arial" pitchFamily="34" charset="0"/>
                <a:ea typeface="Arial" pitchFamily="34" charset="-122"/>
                <a:cs typeface="Arial" pitchFamily="34" charset="-120"/>
              </a:rPr>
              <a:t>Unlike SuperWhisper, Wispr Flow does NOT offer local/on-device processing. All audio is sent to cloud servers.</a:t>
            </a:r>
            <a:endParaRPr lang="en-US" sz="900" dirty="0"/>
          </a:p>
        </p:txBody>
      </p:sp>
      <p:sp>
        <p:nvSpPr>
          <p:cNvPr id="8" name="Text 6"/>
          <p:cNvSpPr/>
          <p:nvPr/>
        </p:nvSpPr>
        <p:spPr>
          <a:xfrm>
            <a:off x="304800" y="4034879"/>
            <a:ext cx="3437781" cy="841921"/>
          </a:xfrm>
          <a:prstGeom prst="rect">
            <a:avLst/>
          </a:prstGeom>
          <a:solidFill>
            <a:srgbClr val="FFFFFF">
              <a:alpha val="30000"/>
            </a:srgbClr>
          </a:solidFill>
          <a:ln/>
        </p:spPr>
        <p:txBody>
          <a:bodyPr wrap="square" rtlCol="0" anchor="ctr"/>
          <a:lstStyle/>
          <a:p>
            <a:pPr marL="0" indent="0">
              <a:buNone/>
            </a:pPr>
            <a:endParaRPr lang="en-US" dirty="0"/>
          </a:p>
        </p:txBody>
      </p:sp>
      <p:sp>
        <p:nvSpPr>
          <p:cNvPr id="9" name="Text 7"/>
          <p:cNvSpPr/>
          <p:nvPr/>
        </p:nvSpPr>
        <p:spPr>
          <a:xfrm>
            <a:off x="419100" y="4149179"/>
            <a:ext cx="3273364"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What This Means:</a:t>
            </a:r>
            <a:endParaRPr lang="en-US" sz="825" dirty="0"/>
          </a:p>
        </p:txBody>
      </p:sp>
      <p:sp>
        <p:nvSpPr>
          <p:cNvPr id="10" name="Text 8"/>
          <p:cNvSpPr/>
          <p:nvPr/>
        </p:nvSpPr>
        <p:spPr>
          <a:xfrm>
            <a:off x="419100" y="4333875"/>
            <a:ext cx="3273364" cy="428625"/>
          </a:xfrm>
          <a:prstGeom prst="rect">
            <a:avLst/>
          </a:prstGeom>
          <a:noFill/>
          <a:ln/>
        </p:spPr>
        <p:txBody>
          <a:bodyPr wrap="square" lIns="0" tIns="0" rIns="0" bIns="0" rtlCol="0" anchor="t"/>
          <a:lstStyle/>
          <a:p>
            <a:pPr marL="0" indent="0" algn="l">
              <a:lnSpc>
                <a:spcPts val="1125"/>
              </a:lnSpc>
              <a:buNone/>
            </a:pPr>
            <a:r>
              <a:rPr lang="en-US" sz="750" dirty="0">
                <a:solidFill>
                  <a:srgbClr val="1A1F2E">
                    <a:alpha val="90000"/>
                  </a:srgbClr>
                </a:solidFill>
                <a:latin typeface="Arial" pitchFamily="34" charset="0"/>
                <a:ea typeface="Arial" pitchFamily="34" charset="-122"/>
                <a:cs typeface="Arial" pitchFamily="34" charset="-120"/>
              </a:rPr>
              <a:t>Audio always leaves your device</a:t>
            </a:r>
            <a:endParaRPr lang="en-US" sz="750" dirty="0"/>
          </a:p>
          <a:p>
            <a:pPr marL="0" indent="0" algn="l">
              <a:lnSpc>
                <a:spcPts val="1125"/>
              </a:lnSpc>
              <a:buNone/>
            </a:pPr>
            <a:r>
              <a:rPr lang="en-US" sz="750" dirty="0">
                <a:solidFill>
                  <a:srgbClr val="1A1F2E">
                    <a:alpha val="90000"/>
                  </a:srgbClr>
                </a:solidFill>
                <a:latin typeface="Arial" pitchFamily="34" charset="0"/>
                <a:ea typeface="Arial" pitchFamily="34" charset="-122"/>
                <a:cs typeface="Arial" pitchFamily="34" charset="-120"/>
              </a:rPr>
              <a:t>Requires internet connection</a:t>
            </a:r>
            <a:endParaRPr lang="en-US" sz="750" dirty="0"/>
          </a:p>
          <a:p>
            <a:pPr marL="0" indent="0" algn="l">
              <a:lnSpc>
                <a:spcPts val="1125"/>
              </a:lnSpc>
              <a:buNone/>
            </a:pPr>
            <a:r>
              <a:rPr lang="en-US" sz="750" dirty="0">
                <a:solidFill>
                  <a:srgbClr val="1A1F2E">
                    <a:alpha val="90000"/>
                  </a:srgbClr>
                </a:solidFill>
                <a:latin typeface="Arial" pitchFamily="34" charset="0"/>
                <a:ea typeface="Arial" pitchFamily="34" charset="-122"/>
                <a:cs typeface="Arial" pitchFamily="34" charset="-120"/>
              </a:rPr>
              <a:t>Not suitable for air-gapped environments</a:t>
            </a:r>
            <a:endParaRPr lang="en-US" sz="750" dirty="0"/>
          </a:p>
        </p:txBody>
      </p:sp>
      <p:sp>
        <p:nvSpPr>
          <p:cNvPr id="11" name="Text 9"/>
          <p:cNvSpPr/>
          <p:nvPr/>
        </p:nvSpPr>
        <p:spPr>
          <a:xfrm>
            <a:off x="4199781" y="0"/>
            <a:ext cx="4944219" cy="5143500"/>
          </a:xfrm>
          <a:prstGeom prst="rect">
            <a:avLst/>
          </a:prstGeom>
          <a:solidFill>
            <a:srgbClr val="F7F8FA"/>
          </a:solidFill>
          <a:ln/>
        </p:spPr>
        <p:txBody>
          <a:bodyPr wrap="square" rtlCol="0" anchor="ctr"/>
          <a:lstStyle/>
          <a:p>
            <a:pPr marL="0" indent="0">
              <a:buNone/>
            </a:pPr>
            <a:endParaRPr lang="en-US" dirty="0"/>
          </a:p>
        </p:txBody>
      </p:sp>
      <p:sp>
        <p:nvSpPr>
          <p:cNvPr id="12" name="Text 10"/>
          <p:cNvSpPr/>
          <p:nvPr/>
        </p:nvSpPr>
        <p:spPr>
          <a:xfrm>
            <a:off x="4504581" y="260152"/>
            <a:ext cx="4421312"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 PRIVACY MODE ACTUALLY DOES</a:t>
            </a:r>
            <a:endParaRPr lang="en-US" sz="750" dirty="0"/>
          </a:p>
        </p:txBody>
      </p:sp>
      <p:sp>
        <p:nvSpPr>
          <p:cNvPr id="13" name="Text 11"/>
          <p:cNvSpPr/>
          <p:nvPr/>
        </p:nvSpPr>
        <p:spPr>
          <a:xfrm>
            <a:off x="4504581" y="603052"/>
            <a:ext cx="2215134" cy="211634"/>
          </a:xfrm>
          <a:prstGeom prst="rect">
            <a:avLst/>
          </a:prstGeom>
          <a:noFill/>
          <a:ln/>
        </p:spPr>
        <p:txBody>
          <a:bodyPr wrap="square" lIns="0" tIns="0" rIns="0" bIns="0" rtlCol="0" anchor="t"/>
          <a:lstStyle/>
          <a:p>
            <a:pPr marL="0" indent="0" algn="l">
              <a:lnSpc>
                <a:spcPts val="1667"/>
              </a:lnSpc>
              <a:spcAft>
                <a:spcPts val="1050"/>
              </a:spcAft>
              <a:buNone/>
            </a:pPr>
            <a:r>
              <a:rPr lang="en-US" sz="1500" dirty="0">
                <a:solidFill>
                  <a:srgbClr val="1A1F2E"/>
                </a:solidFill>
                <a:latin typeface="Georgia" pitchFamily="34" charset="0"/>
                <a:ea typeface="Georgia" pitchFamily="34" charset="-122"/>
                <a:cs typeface="Georgia" pitchFamily="34" charset="-120"/>
              </a:rPr>
              <a:t>Zero Data Retention</a:t>
            </a:r>
            <a:endParaRPr lang="en-US" sz="1500" dirty="0"/>
          </a:p>
        </p:txBody>
      </p:sp>
      <p:sp>
        <p:nvSpPr>
          <p:cNvPr id="14" name="Text 12"/>
          <p:cNvSpPr/>
          <p:nvPr/>
        </p:nvSpPr>
        <p:spPr>
          <a:xfrm>
            <a:off x="4504581" y="1100435"/>
            <a:ext cx="4334619" cy="870496"/>
          </a:xfrm>
          <a:prstGeom prst="rect">
            <a:avLst/>
          </a:prstGeom>
          <a:solidFill>
            <a:srgbClr val="DCFCE7"/>
          </a:solidFill>
          <a:ln/>
        </p:spPr>
        <p:txBody>
          <a:bodyPr wrap="square" rtlCol="0" anchor="ctr"/>
          <a:lstStyle/>
          <a:p>
            <a:pPr marL="0" indent="0">
              <a:buNone/>
            </a:pPr>
            <a:endParaRPr lang="en-US" dirty="0"/>
          </a:p>
        </p:txBody>
      </p:sp>
      <p:sp>
        <p:nvSpPr>
          <p:cNvPr id="15" name="Shape 13"/>
          <p:cNvSpPr/>
          <p:nvPr/>
        </p:nvSpPr>
        <p:spPr>
          <a:xfrm>
            <a:off x="4523631" y="1100435"/>
            <a:ext cx="0" cy="870496"/>
          </a:xfrm>
          <a:prstGeom prst="line">
            <a:avLst/>
          </a:prstGeom>
          <a:noFill/>
          <a:ln w="38100">
            <a:solidFill>
              <a:srgbClr val="059669"/>
            </a:solidFill>
            <a:prstDash val="solid"/>
          </a:ln>
        </p:spPr>
        <p:txBody>
          <a:bodyPr/>
          <a:lstStyle/>
          <a:p>
            <a:endParaRPr lang="en-US"/>
          </a:p>
        </p:txBody>
      </p:sp>
      <p:sp>
        <p:nvSpPr>
          <p:cNvPr id="16" name="Text 14"/>
          <p:cNvSpPr/>
          <p:nvPr/>
        </p:nvSpPr>
        <p:spPr>
          <a:xfrm>
            <a:off x="4656981" y="1214735"/>
            <a:ext cx="4149278"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66534"/>
                </a:solidFill>
                <a:latin typeface="Arial" pitchFamily="34" charset="0"/>
                <a:ea typeface="Arial" pitchFamily="34" charset="-122"/>
                <a:cs typeface="Arial" pitchFamily="34" charset="-120"/>
              </a:rPr>
              <a:t>With Privacy Mode ON:</a:t>
            </a:r>
            <a:endParaRPr lang="en-US" sz="825" dirty="0"/>
          </a:p>
        </p:txBody>
      </p:sp>
      <p:sp>
        <p:nvSpPr>
          <p:cNvPr id="17" name="Text 15"/>
          <p:cNvSpPr/>
          <p:nvPr/>
        </p:nvSpPr>
        <p:spPr>
          <a:xfrm>
            <a:off x="4656981" y="1399431"/>
            <a:ext cx="4149278" cy="457200"/>
          </a:xfrm>
          <a:prstGeom prst="rect">
            <a:avLst/>
          </a:prstGeom>
          <a:noFill/>
          <a:ln/>
        </p:spPr>
        <p:txBody>
          <a:bodyPr wrap="square" lIns="0" tIns="0" rIns="0" bIns="0" rtlCol="0" anchor="t"/>
          <a:lstStyle/>
          <a:p>
            <a:pPr marL="0" indent="0" algn="l">
              <a:lnSpc>
                <a:spcPts val="1200"/>
              </a:lnSpc>
              <a:buNone/>
            </a:pPr>
            <a:r>
              <a:rPr lang="en-US" sz="750" dirty="0">
                <a:solidFill>
                  <a:srgbClr val="166534"/>
                </a:solidFill>
                <a:latin typeface="Arial" pitchFamily="34" charset="0"/>
                <a:ea typeface="Arial" pitchFamily="34" charset="-122"/>
                <a:cs typeface="Arial" pitchFamily="34" charset="-120"/>
              </a:rPr>
              <a:t>Audio/transcripts NOT stored on servers</a:t>
            </a:r>
            <a:endParaRPr lang="en-US" sz="750" dirty="0"/>
          </a:p>
          <a:p>
            <a:pPr marL="0" indent="0" algn="l">
              <a:lnSpc>
                <a:spcPts val="1200"/>
              </a:lnSpc>
              <a:buNone/>
            </a:pPr>
            <a:r>
              <a:rPr lang="en-US" sz="750" dirty="0">
                <a:solidFill>
                  <a:srgbClr val="166534"/>
                </a:solidFill>
                <a:latin typeface="Arial" pitchFamily="34" charset="0"/>
                <a:ea typeface="Arial" pitchFamily="34" charset="-122"/>
                <a:cs typeface="Arial" pitchFamily="34" charset="-120"/>
              </a:rPr>
              <a:t>Data NOT used for model training</a:t>
            </a:r>
            <a:endParaRPr lang="en-US" sz="750" dirty="0"/>
          </a:p>
          <a:p>
            <a:pPr marL="0" indent="0" algn="l">
              <a:lnSpc>
                <a:spcPts val="1200"/>
              </a:lnSpc>
              <a:buNone/>
            </a:pPr>
            <a:r>
              <a:rPr lang="en-US" sz="750" dirty="0">
                <a:solidFill>
                  <a:srgbClr val="166534"/>
                </a:solidFill>
                <a:latin typeface="Arial" pitchFamily="34" charset="0"/>
                <a:ea typeface="Arial" pitchFamily="34" charset="-122"/>
                <a:cs typeface="Arial" pitchFamily="34" charset="-120"/>
              </a:rPr>
              <a:t>Processed then immediately deleted</a:t>
            </a:r>
            <a:endParaRPr lang="en-US" sz="750" dirty="0"/>
          </a:p>
        </p:txBody>
      </p:sp>
      <p:sp>
        <p:nvSpPr>
          <p:cNvPr id="18" name="Text 16"/>
          <p:cNvSpPr/>
          <p:nvPr/>
        </p:nvSpPr>
        <p:spPr>
          <a:xfrm>
            <a:off x="4504581" y="2237631"/>
            <a:ext cx="4334619" cy="870496"/>
          </a:xfrm>
          <a:prstGeom prst="rect">
            <a:avLst/>
          </a:prstGeom>
          <a:solidFill>
            <a:srgbClr val="FEE2E2"/>
          </a:solidFill>
          <a:ln/>
        </p:spPr>
        <p:txBody>
          <a:bodyPr wrap="square" rtlCol="0" anchor="ctr"/>
          <a:lstStyle/>
          <a:p>
            <a:pPr marL="0" indent="0">
              <a:buNone/>
            </a:pPr>
            <a:endParaRPr lang="en-US" dirty="0"/>
          </a:p>
        </p:txBody>
      </p:sp>
      <p:sp>
        <p:nvSpPr>
          <p:cNvPr id="19" name="Shape 17"/>
          <p:cNvSpPr/>
          <p:nvPr/>
        </p:nvSpPr>
        <p:spPr>
          <a:xfrm>
            <a:off x="4523631" y="2237631"/>
            <a:ext cx="0" cy="870496"/>
          </a:xfrm>
          <a:prstGeom prst="line">
            <a:avLst/>
          </a:prstGeom>
          <a:noFill/>
          <a:ln w="38100">
            <a:solidFill>
              <a:srgbClr val="DC2626"/>
            </a:solidFill>
            <a:prstDash val="solid"/>
          </a:ln>
        </p:spPr>
        <p:txBody>
          <a:bodyPr/>
          <a:lstStyle/>
          <a:p>
            <a:endParaRPr lang="en-US"/>
          </a:p>
        </p:txBody>
      </p:sp>
      <p:sp>
        <p:nvSpPr>
          <p:cNvPr id="20" name="Text 18"/>
          <p:cNvSpPr/>
          <p:nvPr/>
        </p:nvSpPr>
        <p:spPr>
          <a:xfrm>
            <a:off x="4656981" y="2351931"/>
            <a:ext cx="4149278"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991B1B"/>
                </a:solidFill>
                <a:latin typeface="Arial" pitchFamily="34" charset="0"/>
                <a:ea typeface="Arial" pitchFamily="34" charset="-122"/>
                <a:cs typeface="Arial" pitchFamily="34" charset="-120"/>
              </a:rPr>
              <a:t>With Privacy Mode OFF (default):</a:t>
            </a:r>
            <a:endParaRPr lang="en-US" sz="825" dirty="0"/>
          </a:p>
        </p:txBody>
      </p:sp>
      <p:sp>
        <p:nvSpPr>
          <p:cNvPr id="21" name="Text 19"/>
          <p:cNvSpPr/>
          <p:nvPr/>
        </p:nvSpPr>
        <p:spPr>
          <a:xfrm>
            <a:off x="4656981" y="2536627"/>
            <a:ext cx="4149278" cy="457200"/>
          </a:xfrm>
          <a:prstGeom prst="rect">
            <a:avLst/>
          </a:prstGeom>
          <a:noFill/>
          <a:ln/>
        </p:spPr>
        <p:txBody>
          <a:bodyPr wrap="square" lIns="0" tIns="0" rIns="0" bIns="0" rtlCol="0" anchor="t"/>
          <a:lstStyle/>
          <a:p>
            <a:pPr marL="0" indent="0" algn="l">
              <a:lnSpc>
                <a:spcPts val="1200"/>
              </a:lnSpc>
              <a:buNone/>
            </a:pPr>
            <a:r>
              <a:rPr lang="en-US" sz="750" dirty="0">
                <a:solidFill>
                  <a:srgbClr val="991B1B"/>
                </a:solidFill>
                <a:latin typeface="Arial" pitchFamily="34" charset="0"/>
                <a:ea typeface="Arial" pitchFamily="34" charset="-122"/>
                <a:cs typeface="Arial" pitchFamily="34" charset="-120"/>
              </a:rPr>
              <a:t>Audio/transcripts may be stored</a:t>
            </a:r>
            <a:endParaRPr lang="en-US" sz="750" dirty="0"/>
          </a:p>
          <a:p>
            <a:pPr marL="0" indent="0" algn="l">
              <a:lnSpc>
                <a:spcPts val="1200"/>
              </a:lnSpc>
              <a:buNone/>
            </a:pPr>
            <a:r>
              <a:rPr lang="en-US" sz="750" dirty="0">
                <a:solidFill>
                  <a:srgbClr val="991B1B"/>
                </a:solidFill>
                <a:latin typeface="Arial" pitchFamily="34" charset="0"/>
                <a:ea typeface="Arial" pitchFamily="34" charset="-122"/>
                <a:cs typeface="Arial" pitchFamily="34" charset="-120"/>
              </a:rPr>
              <a:t>Data may be used for AI training</a:t>
            </a:r>
            <a:endParaRPr lang="en-US" sz="750" dirty="0"/>
          </a:p>
          <a:p>
            <a:pPr marL="0" indent="0" algn="l">
              <a:lnSpc>
                <a:spcPts val="1200"/>
              </a:lnSpc>
              <a:buNone/>
            </a:pPr>
            <a:r>
              <a:rPr lang="en-US" sz="750" dirty="0">
                <a:solidFill>
                  <a:srgbClr val="991B1B"/>
                </a:solidFill>
                <a:latin typeface="Arial" pitchFamily="34" charset="0"/>
                <a:ea typeface="Arial" pitchFamily="34" charset="-122"/>
                <a:cs typeface="Arial" pitchFamily="34" charset="-120"/>
              </a:rPr>
              <a:t>History accessible in your account</a:t>
            </a:r>
            <a:endParaRPr lang="en-US" sz="750" dirty="0"/>
          </a:p>
        </p:txBody>
      </p:sp>
      <p:sp>
        <p:nvSpPr>
          <p:cNvPr id="22" name="Text 20"/>
          <p:cNvSpPr/>
          <p:nvPr/>
        </p:nvSpPr>
        <p:spPr>
          <a:xfrm>
            <a:off x="4504581" y="3374827"/>
            <a:ext cx="4334619" cy="899071"/>
          </a:xfrm>
          <a:prstGeom prst="rect">
            <a:avLst/>
          </a:prstGeom>
          <a:solidFill>
            <a:srgbClr val="1A1F2E"/>
          </a:solidFill>
          <a:ln/>
        </p:spPr>
        <p:txBody>
          <a:bodyPr wrap="square" rtlCol="0" anchor="ctr"/>
          <a:lstStyle/>
          <a:p>
            <a:pPr marL="0" indent="0">
              <a:buNone/>
            </a:pPr>
            <a:endParaRPr lang="en-US" dirty="0"/>
          </a:p>
        </p:txBody>
      </p:sp>
      <p:sp>
        <p:nvSpPr>
          <p:cNvPr id="23" name="Text 21"/>
          <p:cNvSpPr/>
          <p:nvPr/>
        </p:nvSpPr>
        <p:spPr>
          <a:xfrm>
            <a:off x="4637931" y="3508177"/>
            <a:ext cx="414927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FOR GOVERNMENT/PHI USE:</a:t>
            </a:r>
            <a:endParaRPr lang="en-US" sz="825" dirty="0"/>
          </a:p>
        </p:txBody>
      </p:sp>
      <p:sp>
        <p:nvSpPr>
          <p:cNvPr id="24" name="Text 22"/>
          <p:cNvSpPr/>
          <p:nvPr/>
        </p:nvSpPr>
        <p:spPr>
          <a:xfrm>
            <a:off x="4637931" y="3711922"/>
            <a:ext cx="4149278" cy="428625"/>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Wispr Flow's Privacy Mode provides zero retention but audio still goes to cloud. For true local processing where audio never leaves your device, use </a:t>
            </a:r>
            <a:r>
              <a:rPr lang="en-US" sz="750" b="1" dirty="0">
                <a:solidFill>
                  <a:srgbClr val="C9A227">
                    <a:alpha val="80000"/>
                  </a:srgbClr>
                </a:solidFill>
                <a:latin typeface="Arial" pitchFamily="34" charset="0"/>
                <a:ea typeface="Arial" pitchFamily="34" charset="-122"/>
                <a:cs typeface="Arial" pitchFamily="34" charset="-120"/>
              </a:rPr>
              <a:t>SuperWhisper with local models</a:t>
            </a:r>
            <a:r>
              <a:rPr lang="en-US" sz="750" dirty="0">
                <a:solidFill>
                  <a:srgbClr val="FFFFFF">
                    <a:alpha val="80000"/>
                  </a:srgbClr>
                </a:solidFill>
                <a:latin typeface="Arial" pitchFamily="34" charset="0"/>
                <a:ea typeface="Arial" pitchFamily="34" charset="-122"/>
                <a:cs typeface="Arial" pitchFamily="34" charset="-120"/>
              </a:rPr>
              <a:t> instead.</a:t>
            </a:r>
            <a:endParaRPr lang="en-US" sz="750" dirty="0"/>
          </a:p>
        </p:txBody>
      </p:sp>
      <p:sp>
        <p:nvSpPr>
          <p:cNvPr id="25" name="Text 23"/>
          <p:cNvSpPr/>
          <p:nvPr/>
        </p:nvSpPr>
        <p:spPr>
          <a:xfrm>
            <a:off x="4504581" y="4540597"/>
            <a:ext cx="4334619" cy="342900"/>
          </a:xfrm>
          <a:prstGeom prst="rect">
            <a:avLst/>
          </a:prstGeom>
          <a:solidFill>
            <a:srgbClr val="DBEAFE"/>
          </a:solidFill>
          <a:ln w="9525">
            <a:solidFill>
              <a:srgbClr val="3B82F6"/>
            </a:solidFill>
          </a:ln>
        </p:spPr>
        <p:txBody>
          <a:bodyPr wrap="square" rtlCol="0" anchor="ctr"/>
          <a:lstStyle/>
          <a:p>
            <a:pPr marL="0" indent="0">
              <a:buNone/>
            </a:pPr>
            <a:endParaRPr lang="en-US" dirty="0"/>
          </a:p>
        </p:txBody>
      </p:sp>
      <p:sp>
        <p:nvSpPr>
          <p:cNvPr id="26" name="Text 24"/>
          <p:cNvSpPr/>
          <p:nvPr/>
        </p:nvSpPr>
        <p:spPr>
          <a:xfrm>
            <a:off x="4609356" y="4645372"/>
            <a:ext cx="4207571" cy="133350"/>
          </a:xfrm>
          <a:prstGeom prst="rect">
            <a:avLst/>
          </a:prstGeom>
          <a:noFill/>
          <a:ln/>
        </p:spPr>
        <p:txBody>
          <a:bodyPr wrap="square" lIns="0" tIns="0" rIns="0" bIns="0" rtlCol="0" anchor="t"/>
          <a:lstStyle/>
          <a:p>
            <a:pPr marL="0" indent="0" algn="l">
              <a:lnSpc>
                <a:spcPts val="1050"/>
              </a:lnSpc>
              <a:buNone/>
            </a:pPr>
            <a:r>
              <a:rPr lang="en-US" sz="750" b="1" dirty="0">
                <a:solidFill>
                  <a:srgbClr val="1E40AF"/>
                </a:solidFill>
                <a:latin typeface="Arial" pitchFamily="34" charset="0"/>
                <a:ea typeface="Arial" pitchFamily="34" charset="-122"/>
                <a:cs typeface="Arial" pitchFamily="34" charset="-120"/>
              </a:rPr>
              <a:t>Wispr Compliance:</a:t>
            </a:r>
            <a:r>
              <a:rPr lang="en-US" sz="750" dirty="0">
                <a:solidFill>
                  <a:srgbClr val="1E40AF"/>
                </a:solidFill>
                <a:latin typeface="Arial" pitchFamily="34" charset="0"/>
                <a:ea typeface="Arial" pitchFamily="34" charset="-122"/>
                <a:cs typeface="Arial" pitchFamily="34" charset="-120"/>
              </a:rPr>
              <a:t> SOC 2 Type II, HIPAA-ready, ISO 27001 certified</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304800"/>
            <a:ext cx="8549640"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HEAD-TO-HEAD COMPARISON</a:t>
            </a:r>
            <a:endParaRPr lang="en-US" sz="750" dirty="0"/>
          </a:p>
        </p:txBody>
      </p:sp>
      <p:sp>
        <p:nvSpPr>
          <p:cNvPr id="3" name="Text 1"/>
          <p:cNvSpPr/>
          <p:nvPr/>
        </p:nvSpPr>
        <p:spPr>
          <a:xfrm>
            <a:off x="381000" y="476250"/>
            <a:ext cx="4284536" cy="228600"/>
          </a:xfrm>
          <a:prstGeom prst="rect">
            <a:avLst/>
          </a:prstGeom>
          <a:noFill/>
          <a:ln/>
        </p:spPr>
        <p:txBody>
          <a:bodyPr wrap="square" lIns="0" tIns="0" rIns="0" bIns="0" rtlCol="0" anchor="t"/>
          <a:lstStyle/>
          <a:p>
            <a:pPr marL="0" indent="0" algn="l">
              <a:lnSpc>
                <a:spcPts val="1800"/>
              </a:lnSpc>
              <a:buNone/>
            </a:pPr>
            <a:r>
              <a:rPr lang="en-US" sz="1800" dirty="0">
                <a:solidFill>
                  <a:srgbClr val="1A1F2E"/>
                </a:solidFill>
                <a:latin typeface="Georgia" pitchFamily="34" charset="0"/>
                <a:ea typeface="Georgia" pitchFamily="34" charset="-122"/>
                <a:cs typeface="Georgia" pitchFamily="34" charset="-120"/>
              </a:rPr>
              <a:t>SuperWhisper vs Wispr Flow</a:t>
            </a:r>
            <a:endParaRPr lang="en-US" sz="1800" dirty="0"/>
          </a:p>
        </p:txBody>
      </p:sp>
      <p:sp>
        <p:nvSpPr>
          <p:cNvPr id="4" name="Text 2"/>
          <p:cNvSpPr/>
          <p:nvPr/>
        </p:nvSpPr>
        <p:spPr>
          <a:xfrm>
            <a:off x="381000" y="900113"/>
            <a:ext cx="8382000" cy="285750"/>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514350" y="976312"/>
            <a:ext cx="1752737"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Feature</a:t>
            </a:r>
            <a:endParaRPr lang="en-US" sz="750" dirty="0"/>
          </a:p>
        </p:txBody>
      </p:sp>
      <p:sp>
        <p:nvSpPr>
          <p:cNvPr id="6" name="Text 4"/>
          <p:cNvSpPr/>
          <p:nvPr/>
        </p:nvSpPr>
        <p:spPr>
          <a:xfrm>
            <a:off x="2354659" y="976312"/>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SuperWhisper</a:t>
            </a:r>
            <a:endParaRPr lang="en-US" sz="750" dirty="0"/>
          </a:p>
        </p:txBody>
      </p:sp>
      <p:sp>
        <p:nvSpPr>
          <p:cNvPr id="7" name="Text 5"/>
          <p:cNvSpPr/>
          <p:nvPr/>
        </p:nvSpPr>
        <p:spPr>
          <a:xfrm>
            <a:off x="5553124" y="976312"/>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Wispr Flow</a:t>
            </a:r>
            <a:endParaRPr lang="en-US" sz="750" dirty="0"/>
          </a:p>
        </p:txBody>
      </p:sp>
      <p:sp>
        <p:nvSpPr>
          <p:cNvPr id="8" name="Text 6"/>
          <p:cNvSpPr/>
          <p:nvPr/>
        </p:nvSpPr>
        <p:spPr>
          <a:xfrm>
            <a:off x="381000" y="1357313"/>
            <a:ext cx="8382000" cy="257175"/>
          </a:xfrm>
          <a:prstGeom prst="rect">
            <a:avLst/>
          </a:prstGeom>
          <a:solidFill>
            <a:srgbClr val="FFFFFF"/>
          </a:solidFill>
          <a:ln/>
        </p:spPr>
        <p:txBody>
          <a:bodyPr wrap="square" rtlCol="0" anchor="ctr"/>
          <a:lstStyle/>
          <a:p>
            <a:pPr marL="0" indent="0">
              <a:buNone/>
            </a:pPr>
            <a:endParaRPr lang="en-US" dirty="0"/>
          </a:p>
        </p:txBody>
      </p:sp>
      <p:sp>
        <p:nvSpPr>
          <p:cNvPr id="9" name="Shape 7"/>
          <p:cNvSpPr/>
          <p:nvPr/>
        </p:nvSpPr>
        <p:spPr>
          <a:xfrm>
            <a:off x="381000" y="1609725"/>
            <a:ext cx="8382000" cy="0"/>
          </a:xfrm>
          <a:prstGeom prst="line">
            <a:avLst/>
          </a:prstGeom>
          <a:noFill/>
          <a:ln w="9525">
            <a:solidFill>
              <a:srgbClr val="E4E7ED"/>
            </a:solidFill>
            <a:prstDash val="solid"/>
          </a:ln>
        </p:spPr>
        <p:txBody>
          <a:bodyPr/>
          <a:lstStyle/>
          <a:p>
            <a:endParaRPr lang="en-US"/>
          </a:p>
        </p:txBody>
      </p:sp>
      <p:sp>
        <p:nvSpPr>
          <p:cNvPr id="10" name="Text 8"/>
          <p:cNvSpPr/>
          <p:nvPr/>
        </p:nvSpPr>
        <p:spPr>
          <a:xfrm>
            <a:off x="514350" y="141446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Platforms</a:t>
            </a:r>
            <a:endParaRPr lang="en-US" sz="750" dirty="0"/>
          </a:p>
        </p:txBody>
      </p:sp>
      <p:sp>
        <p:nvSpPr>
          <p:cNvPr id="11" name="Text 9"/>
          <p:cNvSpPr/>
          <p:nvPr/>
        </p:nvSpPr>
        <p:spPr>
          <a:xfrm>
            <a:off x="2354659" y="14144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Mac, Windows, iOS</a:t>
            </a:r>
            <a:endParaRPr lang="en-US" sz="750" dirty="0"/>
          </a:p>
        </p:txBody>
      </p:sp>
      <p:sp>
        <p:nvSpPr>
          <p:cNvPr id="12" name="Text 10"/>
          <p:cNvSpPr/>
          <p:nvPr/>
        </p:nvSpPr>
        <p:spPr>
          <a:xfrm>
            <a:off x="5553124" y="14144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Mac, Windows, iOS, Web</a:t>
            </a:r>
            <a:endParaRPr lang="en-US" sz="750" dirty="0"/>
          </a:p>
        </p:txBody>
      </p:sp>
      <p:sp>
        <p:nvSpPr>
          <p:cNvPr id="13" name="Text 11"/>
          <p:cNvSpPr/>
          <p:nvPr/>
        </p:nvSpPr>
        <p:spPr>
          <a:xfrm>
            <a:off x="381000" y="1766888"/>
            <a:ext cx="8382000" cy="257175"/>
          </a:xfrm>
          <a:prstGeom prst="rect">
            <a:avLst/>
          </a:prstGeom>
          <a:solidFill>
            <a:srgbClr val="FEF3C7"/>
          </a:solidFill>
          <a:ln/>
        </p:spPr>
        <p:txBody>
          <a:bodyPr wrap="square" rtlCol="0" anchor="ctr"/>
          <a:lstStyle/>
          <a:p>
            <a:pPr marL="0" indent="0">
              <a:buNone/>
            </a:pPr>
            <a:endParaRPr lang="en-US" dirty="0"/>
          </a:p>
        </p:txBody>
      </p:sp>
      <p:sp>
        <p:nvSpPr>
          <p:cNvPr id="14" name="Shape 12"/>
          <p:cNvSpPr/>
          <p:nvPr/>
        </p:nvSpPr>
        <p:spPr>
          <a:xfrm>
            <a:off x="381000" y="2019300"/>
            <a:ext cx="8382000" cy="0"/>
          </a:xfrm>
          <a:prstGeom prst="line">
            <a:avLst/>
          </a:prstGeom>
          <a:noFill/>
          <a:ln w="9525">
            <a:solidFill>
              <a:srgbClr val="E4E7ED"/>
            </a:solidFill>
            <a:prstDash val="solid"/>
          </a:ln>
        </p:spPr>
        <p:txBody>
          <a:bodyPr/>
          <a:lstStyle/>
          <a:p>
            <a:endParaRPr lang="en-US"/>
          </a:p>
        </p:txBody>
      </p:sp>
      <p:sp>
        <p:nvSpPr>
          <p:cNvPr id="15" name="Text 13"/>
          <p:cNvSpPr/>
          <p:nvPr/>
        </p:nvSpPr>
        <p:spPr>
          <a:xfrm>
            <a:off x="514350" y="1824038"/>
            <a:ext cx="1752737"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Processing</a:t>
            </a:r>
            <a:endParaRPr lang="en-US" sz="750" dirty="0"/>
          </a:p>
        </p:txBody>
      </p:sp>
      <p:sp>
        <p:nvSpPr>
          <p:cNvPr id="16" name="Text 14"/>
          <p:cNvSpPr/>
          <p:nvPr/>
        </p:nvSpPr>
        <p:spPr>
          <a:xfrm>
            <a:off x="2354659" y="182403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Local OR Cloud (you choose)</a:t>
            </a:r>
            <a:endParaRPr lang="en-US" sz="750" dirty="0"/>
          </a:p>
        </p:txBody>
      </p:sp>
      <p:sp>
        <p:nvSpPr>
          <p:cNvPr id="17" name="Text 15"/>
          <p:cNvSpPr/>
          <p:nvPr/>
        </p:nvSpPr>
        <p:spPr>
          <a:xfrm>
            <a:off x="5553124" y="182403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DC2626"/>
                </a:solidFill>
                <a:latin typeface="Arial" pitchFamily="34" charset="0"/>
                <a:ea typeface="Arial" pitchFamily="34" charset="-122"/>
                <a:cs typeface="Arial" pitchFamily="34" charset="-120"/>
              </a:rPr>
              <a:t>Cloud Only (no local option)</a:t>
            </a:r>
            <a:endParaRPr lang="en-US" sz="750" dirty="0"/>
          </a:p>
        </p:txBody>
      </p:sp>
      <p:sp>
        <p:nvSpPr>
          <p:cNvPr id="18" name="Text 16"/>
          <p:cNvSpPr/>
          <p:nvPr/>
        </p:nvSpPr>
        <p:spPr>
          <a:xfrm>
            <a:off x="381000" y="2176463"/>
            <a:ext cx="8382000" cy="257175"/>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1000" y="2428875"/>
            <a:ext cx="8382000" cy="0"/>
          </a:xfrm>
          <a:prstGeom prst="line">
            <a:avLst/>
          </a:prstGeom>
          <a:noFill/>
          <a:ln w="9525">
            <a:solidFill>
              <a:srgbClr val="E4E7ED"/>
            </a:solidFill>
            <a:prstDash val="solid"/>
          </a:ln>
        </p:spPr>
        <p:txBody>
          <a:bodyPr/>
          <a:lstStyle/>
          <a:p>
            <a:endParaRPr lang="en-US"/>
          </a:p>
        </p:txBody>
      </p:sp>
      <p:sp>
        <p:nvSpPr>
          <p:cNvPr id="20" name="Text 18"/>
          <p:cNvSpPr/>
          <p:nvPr/>
        </p:nvSpPr>
        <p:spPr>
          <a:xfrm>
            <a:off x="514350" y="223361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Privacy Mode</a:t>
            </a:r>
            <a:endParaRPr lang="en-US" sz="750" dirty="0"/>
          </a:p>
        </p:txBody>
      </p:sp>
      <p:sp>
        <p:nvSpPr>
          <p:cNvPr id="21" name="Text 19"/>
          <p:cNvSpPr/>
          <p:nvPr/>
        </p:nvSpPr>
        <p:spPr>
          <a:xfrm>
            <a:off x="2354659" y="223361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Audio stays on device (local)</a:t>
            </a:r>
            <a:endParaRPr lang="en-US" sz="750" dirty="0"/>
          </a:p>
        </p:txBody>
      </p:sp>
      <p:sp>
        <p:nvSpPr>
          <p:cNvPr id="22" name="Text 20"/>
          <p:cNvSpPr/>
          <p:nvPr/>
        </p:nvSpPr>
        <p:spPr>
          <a:xfrm>
            <a:off x="5553124" y="223361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F59E0B"/>
                </a:solidFill>
                <a:latin typeface="Arial" pitchFamily="34" charset="0"/>
                <a:ea typeface="Arial" pitchFamily="34" charset="-122"/>
                <a:cs typeface="Arial" pitchFamily="34" charset="-120"/>
              </a:rPr>
              <a:t>Zero retention (still cloud)</a:t>
            </a:r>
            <a:endParaRPr lang="en-US" sz="750" dirty="0"/>
          </a:p>
        </p:txBody>
      </p:sp>
      <p:sp>
        <p:nvSpPr>
          <p:cNvPr id="23" name="Text 21"/>
          <p:cNvSpPr/>
          <p:nvPr/>
        </p:nvSpPr>
        <p:spPr>
          <a:xfrm>
            <a:off x="381000" y="2586038"/>
            <a:ext cx="8382000" cy="257175"/>
          </a:xfrm>
          <a:prstGeom prst="rect">
            <a:avLst/>
          </a:prstGeom>
          <a:solidFill>
            <a:srgbClr val="F7F8FA"/>
          </a:solidFill>
          <a:ln/>
        </p:spPr>
        <p:txBody>
          <a:bodyPr wrap="square" rtlCol="0" anchor="ctr"/>
          <a:lstStyle/>
          <a:p>
            <a:pPr marL="0" indent="0">
              <a:buNone/>
            </a:pPr>
            <a:endParaRPr lang="en-US" dirty="0"/>
          </a:p>
        </p:txBody>
      </p:sp>
      <p:sp>
        <p:nvSpPr>
          <p:cNvPr id="24" name="Shape 22"/>
          <p:cNvSpPr/>
          <p:nvPr/>
        </p:nvSpPr>
        <p:spPr>
          <a:xfrm>
            <a:off x="381000" y="2838450"/>
            <a:ext cx="8382000" cy="0"/>
          </a:xfrm>
          <a:prstGeom prst="line">
            <a:avLst/>
          </a:prstGeom>
          <a:noFill/>
          <a:ln w="9525">
            <a:solidFill>
              <a:srgbClr val="E4E7ED"/>
            </a:solidFill>
            <a:prstDash val="solid"/>
          </a:ln>
        </p:spPr>
        <p:txBody>
          <a:bodyPr/>
          <a:lstStyle/>
          <a:p>
            <a:endParaRPr lang="en-US"/>
          </a:p>
        </p:txBody>
      </p:sp>
      <p:sp>
        <p:nvSpPr>
          <p:cNvPr id="25" name="Text 23"/>
          <p:cNvSpPr/>
          <p:nvPr/>
        </p:nvSpPr>
        <p:spPr>
          <a:xfrm>
            <a:off x="514350" y="2643188"/>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Cost</a:t>
            </a:r>
            <a:endParaRPr lang="en-US" sz="750" dirty="0"/>
          </a:p>
        </p:txBody>
      </p:sp>
      <p:sp>
        <p:nvSpPr>
          <p:cNvPr id="26" name="Text 24"/>
          <p:cNvSpPr/>
          <p:nvPr/>
        </p:nvSpPr>
        <p:spPr>
          <a:xfrm>
            <a:off x="2354659" y="2643188"/>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Free / $8.49/mo / $249 lifetime</a:t>
            </a:r>
            <a:endParaRPr lang="en-US" sz="750" dirty="0"/>
          </a:p>
        </p:txBody>
      </p:sp>
      <p:sp>
        <p:nvSpPr>
          <p:cNvPr id="27" name="Text 25"/>
          <p:cNvSpPr/>
          <p:nvPr/>
        </p:nvSpPr>
        <p:spPr>
          <a:xfrm>
            <a:off x="5553124" y="2643188"/>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Free (2K words/wk) / $15/mo Pro</a:t>
            </a:r>
            <a:endParaRPr lang="en-US" sz="750" dirty="0"/>
          </a:p>
        </p:txBody>
      </p:sp>
      <p:sp>
        <p:nvSpPr>
          <p:cNvPr id="28" name="Text 26"/>
          <p:cNvSpPr/>
          <p:nvPr/>
        </p:nvSpPr>
        <p:spPr>
          <a:xfrm>
            <a:off x="381000" y="2995613"/>
            <a:ext cx="8382000" cy="257175"/>
          </a:xfrm>
          <a:prstGeom prst="rect">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381000" y="3248025"/>
            <a:ext cx="8382000" cy="0"/>
          </a:xfrm>
          <a:prstGeom prst="line">
            <a:avLst/>
          </a:prstGeom>
          <a:noFill/>
          <a:ln w="9525">
            <a:solidFill>
              <a:srgbClr val="E4E7ED"/>
            </a:solidFill>
            <a:prstDash val="solid"/>
          </a:ln>
        </p:spPr>
        <p:txBody>
          <a:bodyPr/>
          <a:lstStyle/>
          <a:p>
            <a:endParaRPr lang="en-US"/>
          </a:p>
        </p:txBody>
      </p:sp>
      <p:sp>
        <p:nvSpPr>
          <p:cNvPr id="30" name="Text 28"/>
          <p:cNvSpPr/>
          <p:nvPr/>
        </p:nvSpPr>
        <p:spPr>
          <a:xfrm>
            <a:off x="514350" y="305276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Context Awareness</a:t>
            </a:r>
            <a:endParaRPr lang="en-US" sz="750" dirty="0"/>
          </a:p>
        </p:txBody>
      </p:sp>
      <p:sp>
        <p:nvSpPr>
          <p:cNvPr id="31" name="Text 29"/>
          <p:cNvSpPr/>
          <p:nvPr/>
        </p:nvSpPr>
        <p:spPr>
          <a:xfrm>
            <a:off x="2354659" y="30527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Super Mode (adapts to app)</a:t>
            </a:r>
            <a:endParaRPr lang="en-US" sz="750" dirty="0"/>
          </a:p>
        </p:txBody>
      </p:sp>
      <p:sp>
        <p:nvSpPr>
          <p:cNvPr id="32" name="Text 30"/>
          <p:cNvSpPr/>
          <p:nvPr/>
        </p:nvSpPr>
        <p:spPr>
          <a:xfrm>
            <a:off x="5553124" y="3052763"/>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Advanced (auto-detects app)</a:t>
            </a:r>
            <a:endParaRPr lang="en-US" sz="750" dirty="0"/>
          </a:p>
        </p:txBody>
      </p:sp>
      <p:sp>
        <p:nvSpPr>
          <p:cNvPr id="33" name="Text 31"/>
          <p:cNvSpPr/>
          <p:nvPr/>
        </p:nvSpPr>
        <p:spPr>
          <a:xfrm>
            <a:off x="381000" y="3405188"/>
            <a:ext cx="8382000" cy="257175"/>
          </a:xfrm>
          <a:prstGeom prst="rect">
            <a:avLst/>
          </a:prstGeom>
          <a:solidFill>
            <a:srgbClr val="F7F8FA"/>
          </a:solidFill>
          <a:ln/>
        </p:spPr>
        <p:txBody>
          <a:bodyPr wrap="square" rtlCol="0" anchor="ctr"/>
          <a:lstStyle/>
          <a:p>
            <a:pPr marL="0" indent="0">
              <a:buNone/>
            </a:pPr>
            <a:endParaRPr lang="en-US" dirty="0"/>
          </a:p>
        </p:txBody>
      </p:sp>
      <p:sp>
        <p:nvSpPr>
          <p:cNvPr id="34" name="Shape 32"/>
          <p:cNvSpPr/>
          <p:nvPr/>
        </p:nvSpPr>
        <p:spPr>
          <a:xfrm>
            <a:off x="381000" y="3657600"/>
            <a:ext cx="8382000" cy="0"/>
          </a:xfrm>
          <a:prstGeom prst="line">
            <a:avLst/>
          </a:prstGeom>
          <a:noFill/>
          <a:ln w="9525">
            <a:solidFill>
              <a:srgbClr val="E4E7ED"/>
            </a:solidFill>
            <a:prstDash val="solid"/>
          </a:ln>
        </p:spPr>
        <p:txBody>
          <a:bodyPr/>
          <a:lstStyle/>
          <a:p>
            <a:endParaRPr lang="en-US"/>
          </a:p>
        </p:txBody>
      </p:sp>
      <p:sp>
        <p:nvSpPr>
          <p:cNvPr id="35" name="Text 33"/>
          <p:cNvSpPr/>
          <p:nvPr/>
        </p:nvSpPr>
        <p:spPr>
          <a:xfrm>
            <a:off x="514350" y="3462338"/>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Works Offline?</a:t>
            </a:r>
            <a:endParaRPr lang="en-US" sz="750" dirty="0"/>
          </a:p>
        </p:txBody>
      </p:sp>
      <p:sp>
        <p:nvSpPr>
          <p:cNvPr id="36" name="Text 34"/>
          <p:cNvSpPr/>
          <p:nvPr/>
        </p:nvSpPr>
        <p:spPr>
          <a:xfrm>
            <a:off x="2354659" y="346233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Yes (with local models)</a:t>
            </a:r>
            <a:endParaRPr lang="en-US" sz="750" dirty="0"/>
          </a:p>
        </p:txBody>
      </p:sp>
      <p:sp>
        <p:nvSpPr>
          <p:cNvPr id="37" name="Text 35"/>
          <p:cNvSpPr/>
          <p:nvPr/>
        </p:nvSpPr>
        <p:spPr>
          <a:xfrm>
            <a:off x="5553124" y="346233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DC2626"/>
                </a:solidFill>
                <a:latin typeface="Arial" pitchFamily="34" charset="0"/>
                <a:ea typeface="Arial" pitchFamily="34" charset="-122"/>
                <a:cs typeface="Arial" pitchFamily="34" charset="-120"/>
              </a:rPr>
              <a:t>No (requires internet)</a:t>
            </a:r>
            <a:endParaRPr lang="en-US" sz="750" dirty="0"/>
          </a:p>
        </p:txBody>
      </p:sp>
      <p:sp>
        <p:nvSpPr>
          <p:cNvPr id="38" name="Text 36"/>
          <p:cNvSpPr/>
          <p:nvPr/>
        </p:nvSpPr>
        <p:spPr>
          <a:xfrm>
            <a:off x="381000" y="3814763"/>
            <a:ext cx="8382000" cy="247650"/>
          </a:xfrm>
          <a:prstGeom prst="rect">
            <a:avLst/>
          </a:prstGeom>
          <a:solidFill>
            <a:srgbClr val="FFFFFF"/>
          </a:solidFill>
          <a:ln/>
        </p:spPr>
        <p:txBody>
          <a:bodyPr wrap="square" rtlCol="0" anchor="ctr"/>
          <a:lstStyle/>
          <a:p>
            <a:pPr marL="0" indent="0">
              <a:buNone/>
            </a:pPr>
            <a:endParaRPr lang="en-US" dirty="0"/>
          </a:p>
        </p:txBody>
      </p:sp>
      <p:sp>
        <p:nvSpPr>
          <p:cNvPr id="39" name="Text 37"/>
          <p:cNvSpPr/>
          <p:nvPr/>
        </p:nvSpPr>
        <p:spPr>
          <a:xfrm>
            <a:off x="514350" y="387191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Best For</a:t>
            </a:r>
            <a:endParaRPr lang="en-US" sz="750" dirty="0"/>
          </a:p>
        </p:txBody>
      </p:sp>
      <p:sp>
        <p:nvSpPr>
          <p:cNvPr id="40" name="Text 38"/>
          <p:cNvSpPr/>
          <p:nvPr/>
        </p:nvSpPr>
        <p:spPr>
          <a:xfrm>
            <a:off x="2354659" y="3871913"/>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PHI/govt, offline, privacy-first</a:t>
            </a:r>
            <a:endParaRPr lang="en-US" sz="750" dirty="0"/>
          </a:p>
        </p:txBody>
      </p:sp>
      <p:sp>
        <p:nvSpPr>
          <p:cNvPr id="41" name="Text 39"/>
          <p:cNvSpPr/>
          <p:nvPr/>
        </p:nvSpPr>
        <p:spPr>
          <a:xfrm>
            <a:off x="5553124" y="3871913"/>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Power users, context-switching</a:t>
            </a:r>
            <a:endParaRPr lang="en-US" sz="750" dirty="0"/>
          </a:p>
        </p:txBody>
      </p:sp>
      <p:sp>
        <p:nvSpPr>
          <p:cNvPr id="42" name="Text 40"/>
          <p:cNvSpPr/>
          <p:nvPr/>
        </p:nvSpPr>
        <p:spPr>
          <a:xfrm>
            <a:off x="381000" y="4329113"/>
            <a:ext cx="4133850" cy="657225"/>
          </a:xfrm>
          <a:prstGeom prst="rect">
            <a:avLst/>
          </a:prstGeom>
          <a:solidFill>
            <a:srgbClr val="059669"/>
          </a:solidFill>
          <a:ln/>
        </p:spPr>
        <p:txBody>
          <a:bodyPr wrap="square" rtlCol="0" anchor="ctr"/>
          <a:lstStyle/>
          <a:p>
            <a:pPr marL="0" indent="0">
              <a:buNone/>
            </a:pPr>
            <a:endParaRPr lang="en-US" dirty="0"/>
          </a:p>
        </p:txBody>
      </p:sp>
      <p:sp>
        <p:nvSpPr>
          <p:cNvPr id="43" name="Text 41"/>
          <p:cNvSpPr/>
          <p:nvPr/>
        </p:nvSpPr>
        <p:spPr>
          <a:xfrm>
            <a:off x="495300" y="4443413"/>
            <a:ext cx="398335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CHOOSE SUPERWHISPER IF:</a:t>
            </a:r>
            <a:endParaRPr lang="en-US" sz="750" dirty="0"/>
          </a:p>
        </p:txBody>
      </p:sp>
      <p:sp>
        <p:nvSpPr>
          <p:cNvPr id="44" name="Text 42"/>
          <p:cNvSpPr/>
          <p:nvPr/>
        </p:nvSpPr>
        <p:spPr>
          <a:xfrm>
            <a:off x="495300" y="4614863"/>
            <a:ext cx="3983355"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90000"/>
                  </a:srgbClr>
                </a:solidFill>
                <a:latin typeface="Arial" pitchFamily="34" charset="0"/>
                <a:ea typeface="Arial" pitchFamily="34" charset="-122"/>
                <a:cs typeface="Arial" pitchFamily="34" charset="-120"/>
              </a:rPr>
              <a:t>You handle PHI or sensitive data, need true local processing, want offline capability, or prefer lifetime pricing.</a:t>
            </a:r>
            <a:endParaRPr lang="en-US" sz="675" dirty="0"/>
          </a:p>
        </p:txBody>
      </p:sp>
      <p:sp>
        <p:nvSpPr>
          <p:cNvPr id="45" name="Text 43"/>
          <p:cNvSpPr/>
          <p:nvPr/>
        </p:nvSpPr>
        <p:spPr>
          <a:xfrm>
            <a:off x="4629150" y="4329113"/>
            <a:ext cx="4133850" cy="657225"/>
          </a:xfrm>
          <a:prstGeom prst="rect">
            <a:avLst/>
          </a:prstGeom>
          <a:solidFill>
            <a:srgbClr val="1A1F2E"/>
          </a:solidFill>
          <a:ln/>
        </p:spPr>
        <p:txBody>
          <a:bodyPr wrap="square" rtlCol="0" anchor="ctr"/>
          <a:lstStyle/>
          <a:p>
            <a:pPr marL="0" indent="0">
              <a:buNone/>
            </a:pPr>
            <a:endParaRPr lang="en-US" dirty="0"/>
          </a:p>
        </p:txBody>
      </p:sp>
      <p:sp>
        <p:nvSpPr>
          <p:cNvPr id="46" name="Text 44"/>
          <p:cNvSpPr/>
          <p:nvPr/>
        </p:nvSpPr>
        <p:spPr>
          <a:xfrm>
            <a:off x="4743450" y="4443413"/>
            <a:ext cx="398335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CHOOSE WISPR FLOW IF:</a:t>
            </a:r>
            <a:endParaRPr lang="en-US" sz="750" dirty="0"/>
          </a:p>
        </p:txBody>
      </p:sp>
      <p:sp>
        <p:nvSpPr>
          <p:cNvPr id="47" name="Text 45"/>
          <p:cNvSpPr/>
          <p:nvPr/>
        </p:nvSpPr>
        <p:spPr>
          <a:xfrm>
            <a:off x="4743450" y="4614863"/>
            <a:ext cx="3983355"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You want best-in-class context formatting, always have internet, and can accept cloud processing with zero retention.</a:t>
            </a:r>
            <a:endParaRPr lang="en-US" sz="6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DECISION GUIDE</a:t>
            </a:r>
            <a:endParaRPr lang="en-US" sz="750" dirty="0"/>
          </a:p>
        </p:txBody>
      </p:sp>
      <p:sp>
        <p:nvSpPr>
          <p:cNvPr id="3" name="Text 1"/>
          <p:cNvSpPr/>
          <p:nvPr/>
        </p:nvSpPr>
        <p:spPr>
          <a:xfrm>
            <a:off x="381000" y="400050"/>
            <a:ext cx="4284536" cy="247650"/>
          </a:xfrm>
          <a:prstGeom prst="rect">
            <a:avLst/>
          </a:prstGeom>
          <a:noFill/>
          <a:ln/>
        </p:spPr>
        <p:txBody>
          <a:bodyPr wrap="square" lIns="0" tIns="0" rIns="0" bIns="0" rtlCol="0" anchor="t"/>
          <a:lstStyle/>
          <a:p>
            <a:pPr marL="0" indent="0" algn="l">
              <a:lnSpc>
                <a:spcPts val="1950"/>
              </a:lnSpc>
              <a:buNone/>
            </a:pPr>
            <a:r>
              <a:rPr lang="en-US" sz="1950" dirty="0">
                <a:solidFill>
                  <a:srgbClr val="FFFFFF"/>
                </a:solidFill>
                <a:latin typeface="Georgia" pitchFamily="34" charset="0"/>
                <a:ea typeface="Georgia" pitchFamily="34" charset="-122"/>
                <a:cs typeface="Georgia" pitchFamily="34" charset="-120"/>
              </a:rPr>
              <a:t>Which Voice Tool Should I Use?</a:t>
            </a:r>
            <a:endParaRPr lang="en-US" sz="1950" dirty="0"/>
          </a:p>
        </p:txBody>
      </p:sp>
      <p:sp>
        <p:nvSpPr>
          <p:cNvPr id="4" name="Text 2"/>
          <p:cNvSpPr/>
          <p:nvPr/>
        </p:nvSpPr>
        <p:spPr>
          <a:xfrm>
            <a:off x="2817019" y="1098500"/>
            <a:ext cx="3509963" cy="350490"/>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3007519" y="1193750"/>
            <a:ext cx="319154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START: Do you handle PHI or sensitive government data?</a:t>
            </a:r>
            <a:endParaRPr lang="en-US" sz="900" dirty="0"/>
          </a:p>
        </p:txBody>
      </p:sp>
      <p:sp>
        <p:nvSpPr>
          <p:cNvPr id="6" name="Text 4"/>
          <p:cNvSpPr/>
          <p:nvPr/>
        </p:nvSpPr>
        <p:spPr>
          <a:xfrm>
            <a:off x="381000" y="1715691"/>
            <a:ext cx="4095750" cy="298996"/>
          </a:xfrm>
          <a:prstGeom prst="rect">
            <a:avLst/>
          </a:prstGeom>
          <a:solidFill>
            <a:srgbClr val="059669"/>
          </a:solidFill>
          <a:ln/>
        </p:spPr>
        <p:txBody>
          <a:bodyPr wrap="square" rtlCol="0" anchor="ctr"/>
          <a:lstStyle/>
          <a:p>
            <a:pPr marL="0" indent="0">
              <a:buNone/>
            </a:pPr>
            <a:endParaRPr lang="en-US" dirty="0"/>
          </a:p>
        </p:txBody>
      </p:sp>
      <p:sp>
        <p:nvSpPr>
          <p:cNvPr id="7" name="Text 5"/>
          <p:cNvSpPr/>
          <p:nvPr/>
        </p:nvSpPr>
        <p:spPr>
          <a:xfrm>
            <a:off x="417767" y="1791891"/>
            <a:ext cx="4022217" cy="146596"/>
          </a:xfrm>
          <a:prstGeom prst="rect">
            <a:avLst/>
          </a:prstGeom>
          <a:noFill/>
          <a:ln/>
        </p:spPr>
        <p:txBody>
          <a:bodyPr wrap="square" lIns="0" tIns="0" rIns="0" bIns="0" rtlCol="0" anchor="t"/>
          <a:lstStyle/>
          <a:p>
            <a:pPr marL="0" indent="0" algn="ctr">
              <a:lnSpc>
                <a:spcPts val="1155"/>
              </a:lnSpc>
              <a:buNone/>
            </a:pPr>
            <a:r>
              <a:rPr lang="en-US" sz="825" b="1" dirty="0">
                <a:solidFill>
                  <a:srgbClr val="FFFFFF"/>
                </a:solidFill>
                <a:latin typeface="Arial" pitchFamily="34" charset="0"/>
                <a:ea typeface="Arial" pitchFamily="34" charset="-122"/>
                <a:cs typeface="Arial" pitchFamily="34" charset="-120"/>
              </a:rPr>
              <a:t>YES - Need Local Processing</a:t>
            </a:r>
            <a:endParaRPr lang="en-US" sz="825" dirty="0"/>
          </a:p>
        </p:txBody>
      </p:sp>
      <p:sp>
        <p:nvSpPr>
          <p:cNvPr id="8" name="Text 6"/>
          <p:cNvSpPr/>
          <p:nvPr/>
        </p:nvSpPr>
        <p:spPr>
          <a:xfrm>
            <a:off x="381000" y="2262336"/>
            <a:ext cx="4095750" cy="615255"/>
          </a:xfrm>
          <a:prstGeom prst="rect">
            <a:avLst/>
          </a:prstGeom>
          <a:solidFill>
            <a:srgbClr val="252B3D"/>
          </a:solidFill>
          <a:ln/>
        </p:spPr>
        <p:txBody>
          <a:bodyPr wrap="square" rtlCol="0" anchor="ctr"/>
          <a:lstStyle/>
          <a:p>
            <a:pPr marL="0" indent="0">
              <a:buNone/>
            </a:pPr>
            <a:endParaRPr lang="en-US" dirty="0"/>
          </a:p>
        </p:txBody>
      </p:sp>
      <p:sp>
        <p:nvSpPr>
          <p:cNvPr id="9" name="Text 7"/>
          <p:cNvSpPr/>
          <p:nvPr/>
        </p:nvSpPr>
        <p:spPr>
          <a:xfrm>
            <a:off x="476250" y="2357586"/>
            <a:ext cx="3983355"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What's your platform?</a:t>
            </a:r>
            <a:endParaRPr lang="en-US" sz="750" dirty="0"/>
          </a:p>
        </p:txBody>
      </p:sp>
      <p:sp>
        <p:nvSpPr>
          <p:cNvPr id="10" name="Text 8"/>
          <p:cNvSpPr/>
          <p:nvPr/>
        </p:nvSpPr>
        <p:spPr>
          <a:xfrm>
            <a:off x="47625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11" name="Text 9"/>
          <p:cNvSpPr/>
          <p:nvPr/>
        </p:nvSpPr>
        <p:spPr>
          <a:xfrm>
            <a:off x="52190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Mac</a:t>
            </a:r>
            <a:endParaRPr lang="en-US" sz="675" dirty="0"/>
          </a:p>
        </p:txBody>
      </p:sp>
      <p:sp>
        <p:nvSpPr>
          <p:cNvPr id="12" name="Text 10"/>
          <p:cNvSpPr/>
          <p:nvPr/>
        </p:nvSpPr>
        <p:spPr>
          <a:xfrm>
            <a:off x="179710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13" name="Text 11"/>
          <p:cNvSpPr/>
          <p:nvPr/>
        </p:nvSpPr>
        <p:spPr>
          <a:xfrm>
            <a:off x="184275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Windows</a:t>
            </a:r>
            <a:endParaRPr lang="en-US" sz="675" dirty="0"/>
          </a:p>
        </p:txBody>
      </p:sp>
      <p:sp>
        <p:nvSpPr>
          <p:cNvPr id="14" name="Text 12"/>
          <p:cNvSpPr/>
          <p:nvPr/>
        </p:nvSpPr>
        <p:spPr>
          <a:xfrm>
            <a:off x="3117949"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15" name="Text 13"/>
          <p:cNvSpPr/>
          <p:nvPr/>
        </p:nvSpPr>
        <p:spPr>
          <a:xfrm>
            <a:off x="3163605"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Linux</a:t>
            </a:r>
            <a:endParaRPr lang="en-US" sz="675" dirty="0"/>
          </a:p>
        </p:txBody>
      </p:sp>
      <p:sp>
        <p:nvSpPr>
          <p:cNvPr id="16" name="Text 14"/>
          <p:cNvSpPr/>
          <p:nvPr/>
        </p:nvSpPr>
        <p:spPr>
          <a:xfrm>
            <a:off x="381000" y="3125242"/>
            <a:ext cx="2019300" cy="462707"/>
          </a:xfrm>
          <a:prstGeom prst="rect">
            <a:avLst/>
          </a:prstGeom>
          <a:solidFill>
            <a:srgbClr val="059669"/>
          </a:solidFill>
          <a:ln/>
        </p:spPr>
        <p:txBody>
          <a:bodyPr wrap="square" rtlCol="0" anchor="ctr"/>
          <a:lstStyle/>
          <a:p>
            <a:pPr marL="0" indent="0">
              <a:buNone/>
            </a:pPr>
            <a:endParaRPr lang="en-US" dirty="0"/>
          </a:p>
        </p:txBody>
      </p:sp>
      <p:sp>
        <p:nvSpPr>
          <p:cNvPr id="17" name="Text 15"/>
          <p:cNvSpPr/>
          <p:nvPr/>
        </p:nvSpPr>
        <p:spPr>
          <a:xfrm>
            <a:off x="45796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SuperWhisper</a:t>
            </a:r>
            <a:endParaRPr lang="en-US" sz="825" dirty="0"/>
          </a:p>
        </p:txBody>
      </p:sp>
      <p:sp>
        <p:nvSpPr>
          <p:cNvPr id="18" name="Text 16"/>
          <p:cNvSpPr/>
          <p:nvPr/>
        </p:nvSpPr>
        <p:spPr>
          <a:xfrm>
            <a:off x="45796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Mac/Windows</a:t>
            </a:r>
            <a:endParaRPr lang="en-US" sz="600" dirty="0"/>
          </a:p>
        </p:txBody>
      </p:sp>
      <p:sp>
        <p:nvSpPr>
          <p:cNvPr id="19" name="Text 17"/>
          <p:cNvSpPr/>
          <p:nvPr/>
        </p:nvSpPr>
        <p:spPr>
          <a:xfrm>
            <a:off x="2457450" y="3125242"/>
            <a:ext cx="2019300" cy="462707"/>
          </a:xfrm>
          <a:prstGeom prst="rect">
            <a:avLst/>
          </a:prstGeom>
          <a:solidFill>
            <a:srgbClr val="059669"/>
          </a:solidFill>
          <a:ln/>
        </p:spPr>
        <p:txBody>
          <a:bodyPr wrap="square" rtlCol="0" anchor="ctr"/>
          <a:lstStyle/>
          <a:p>
            <a:pPr marL="0" indent="0">
              <a:buNone/>
            </a:pPr>
            <a:endParaRPr lang="en-US" dirty="0"/>
          </a:p>
        </p:txBody>
      </p:sp>
      <p:sp>
        <p:nvSpPr>
          <p:cNvPr id="20" name="Text 18"/>
          <p:cNvSpPr/>
          <p:nvPr/>
        </p:nvSpPr>
        <p:spPr>
          <a:xfrm>
            <a:off x="253441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Wispr Flow</a:t>
            </a:r>
            <a:endParaRPr lang="en-US" sz="825" dirty="0"/>
          </a:p>
        </p:txBody>
      </p:sp>
      <p:sp>
        <p:nvSpPr>
          <p:cNvPr id="21" name="Text 19"/>
          <p:cNvSpPr/>
          <p:nvPr/>
        </p:nvSpPr>
        <p:spPr>
          <a:xfrm>
            <a:off x="253441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Privacy Mode ON</a:t>
            </a:r>
            <a:endParaRPr lang="en-US" sz="600" dirty="0"/>
          </a:p>
        </p:txBody>
      </p:sp>
      <p:sp>
        <p:nvSpPr>
          <p:cNvPr id="22" name="Text 20"/>
          <p:cNvSpPr/>
          <p:nvPr/>
        </p:nvSpPr>
        <p:spPr>
          <a:xfrm>
            <a:off x="381000" y="3835598"/>
            <a:ext cx="4095750" cy="272355"/>
          </a:xfrm>
          <a:prstGeom prst="rect">
            <a:avLst/>
          </a:prstGeom>
          <a:solidFill>
            <a:srgbClr val="FEF3C7"/>
          </a:solidFill>
          <a:ln/>
        </p:spPr>
        <p:txBody>
          <a:bodyPr wrap="square" rtlCol="0" anchor="ctr"/>
          <a:lstStyle/>
          <a:p>
            <a:pPr marL="0" indent="0">
              <a:buNone/>
            </a:pPr>
            <a:endParaRPr lang="en-US" dirty="0"/>
          </a:p>
        </p:txBody>
      </p:sp>
      <p:sp>
        <p:nvSpPr>
          <p:cNvPr id="23" name="Text 21"/>
          <p:cNvSpPr/>
          <p:nvPr/>
        </p:nvSpPr>
        <p:spPr>
          <a:xfrm>
            <a:off x="417767" y="3911798"/>
            <a:ext cx="4022217" cy="119955"/>
          </a:xfrm>
          <a:prstGeom prst="rect">
            <a:avLst/>
          </a:prstGeom>
          <a:noFill/>
          <a:ln/>
        </p:spPr>
        <p:txBody>
          <a:bodyPr wrap="square" lIns="0" tIns="0" rIns="0" bIns="0" rtlCol="0" anchor="t"/>
          <a:lstStyle/>
          <a:p>
            <a:pPr marL="0" indent="0" algn="ctr">
              <a:lnSpc>
                <a:spcPts val="945"/>
              </a:lnSpc>
              <a:buNone/>
            </a:pPr>
            <a:r>
              <a:rPr lang="en-US" sz="675" b="1" dirty="0">
                <a:solidFill>
                  <a:srgbClr val="92400E"/>
                </a:solidFill>
                <a:latin typeface="Arial" pitchFamily="34" charset="0"/>
                <a:ea typeface="Arial" pitchFamily="34" charset="-122"/>
                <a:cs typeface="Arial" pitchFamily="34" charset="-120"/>
              </a:rPr>
              <a:t>Linux only:</a:t>
            </a:r>
            <a:r>
              <a:rPr lang="en-US" sz="675" dirty="0">
                <a:solidFill>
                  <a:srgbClr val="92400E"/>
                </a:solidFill>
                <a:latin typeface="Arial" pitchFamily="34" charset="0"/>
                <a:ea typeface="Arial" pitchFamily="34" charset="-122"/>
                <a:cs typeface="Arial" pitchFamily="34" charset="-120"/>
              </a:rPr>
              <a:t> Use Wispr Flow with Privacy Mode</a:t>
            </a:r>
            <a:endParaRPr lang="en-US" sz="675" dirty="0"/>
          </a:p>
        </p:txBody>
      </p:sp>
      <p:sp>
        <p:nvSpPr>
          <p:cNvPr id="24" name="Text 22"/>
          <p:cNvSpPr/>
          <p:nvPr/>
        </p:nvSpPr>
        <p:spPr>
          <a:xfrm>
            <a:off x="4667250" y="1715691"/>
            <a:ext cx="4095750" cy="298996"/>
          </a:xfrm>
          <a:prstGeom prst="rect">
            <a:avLst/>
          </a:prstGeom>
          <a:solidFill>
            <a:srgbClr val="6B7280"/>
          </a:solidFill>
          <a:ln/>
        </p:spPr>
        <p:txBody>
          <a:bodyPr wrap="square" rtlCol="0" anchor="ctr"/>
          <a:lstStyle/>
          <a:p>
            <a:pPr marL="0" indent="0">
              <a:buNone/>
            </a:pPr>
            <a:endParaRPr lang="en-US" dirty="0"/>
          </a:p>
        </p:txBody>
      </p:sp>
      <p:sp>
        <p:nvSpPr>
          <p:cNvPr id="25" name="Text 23"/>
          <p:cNvSpPr/>
          <p:nvPr/>
        </p:nvSpPr>
        <p:spPr>
          <a:xfrm>
            <a:off x="4704017" y="1791891"/>
            <a:ext cx="4022217" cy="146596"/>
          </a:xfrm>
          <a:prstGeom prst="rect">
            <a:avLst/>
          </a:prstGeom>
          <a:noFill/>
          <a:ln/>
        </p:spPr>
        <p:txBody>
          <a:bodyPr wrap="square" lIns="0" tIns="0" rIns="0" bIns="0" rtlCol="0" anchor="t"/>
          <a:lstStyle/>
          <a:p>
            <a:pPr marL="0" indent="0" algn="ctr">
              <a:lnSpc>
                <a:spcPts val="1155"/>
              </a:lnSpc>
              <a:buNone/>
            </a:pPr>
            <a:r>
              <a:rPr lang="en-US" sz="825" b="1" dirty="0">
                <a:solidFill>
                  <a:srgbClr val="FFFFFF"/>
                </a:solidFill>
                <a:latin typeface="Arial" pitchFamily="34" charset="0"/>
                <a:ea typeface="Arial" pitchFamily="34" charset="-122"/>
                <a:cs typeface="Arial" pitchFamily="34" charset="-120"/>
              </a:rPr>
              <a:t>NO - Cloud OK</a:t>
            </a:r>
            <a:endParaRPr lang="en-US" sz="825" dirty="0"/>
          </a:p>
        </p:txBody>
      </p:sp>
      <p:sp>
        <p:nvSpPr>
          <p:cNvPr id="26" name="Text 24"/>
          <p:cNvSpPr/>
          <p:nvPr/>
        </p:nvSpPr>
        <p:spPr>
          <a:xfrm>
            <a:off x="4667250" y="2262336"/>
            <a:ext cx="4095750" cy="615255"/>
          </a:xfrm>
          <a:prstGeom prst="rect">
            <a:avLst/>
          </a:prstGeom>
          <a:solidFill>
            <a:srgbClr val="252B3D"/>
          </a:solidFill>
          <a:ln/>
        </p:spPr>
        <p:txBody>
          <a:bodyPr wrap="square" rtlCol="0" anchor="ctr"/>
          <a:lstStyle/>
          <a:p>
            <a:pPr marL="0" indent="0">
              <a:buNone/>
            </a:pPr>
            <a:endParaRPr lang="en-US" dirty="0"/>
          </a:p>
        </p:txBody>
      </p:sp>
      <p:sp>
        <p:nvSpPr>
          <p:cNvPr id="27" name="Text 25"/>
          <p:cNvSpPr/>
          <p:nvPr/>
        </p:nvSpPr>
        <p:spPr>
          <a:xfrm>
            <a:off x="4762500" y="2357586"/>
            <a:ext cx="3983355"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 features do you need?</a:t>
            </a:r>
            <a:endParaRPr lang="en-US" sz="750" dirty="0"/>
          </a:p>
        </p:txBody>
      </p:sp>
      <p:sp>
        <p:nvSpPr>
          <p:cNvPr id="28" name="Text 26"/>
          <p:cNvSpPr/>
          <p:nvPr/>
        </p:nvSpPr>
        <p:spPr>
          <a:xfrm>
            <a:off x="476250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29" name="Text 27"/>
          <p:cNvSpPr/>
          <p:nvPr/>
        </p:nvSpPr>
        <p:spPr>
          <a:xfrm>
            <a:off x="480815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Basic</a:t>
            </a:r>
            <a:endParaRPr lang="en-US" sz="675" dirty="0"/>
          </a:p>
        </p:txBody>
      </p:sp>
      <p:sp>
        <p:nvSpPr>
          <p:cNvPr id="30" name="Text 28"/>
          <p:cNvSpPr/>
          <p:nvPr/>
        </p:nvSpPr>
        <p:spPr>
          <a:xfrm>
            <a:off x="608335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31" name="Text 29"/>
          <p:cNvSpPr/>
          <p:nvPr/>
        </p:nvSpPr>
        <p:spPr>
          <a:xfrm>
            <a:off x="612900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Context</a:t>
            </a:r>
            <a:endParaRPr lang="en-US" sz="675" dirty="0"/>
          </a:p>
        </p:txBody>
      </p:sp>
      <p:sp>
        <p:nvSpPr>
          <p:cNvPr id="32" name="Text 30"/>
          <p:cNvSpPr/>
          <p:nvPr/>
        </p:nvSpPr>
        <p:spPr>
          <a:xfrm>
            <a:off x="7404199"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33" name="Text 31"/>
          <p:cNvSpPr/>
          <p:nvPr/>
        </p:nvSpPr>
        <p:spPr>
          <a:xfrm>
            <a:off x="7449855"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Free</a:t>
            </a:r>
            <a:endParaRPr lang="en-US" sz="675" dirty="0"/>
          </a:p>
        </p:txBody>
      </p:sp>
      <p:sp>
        <p:nvSpPr>
          <p:cNvPr id="34" name="Text 32"/>
          <p:cNvSpPr/>
          <p:nvPr/>
        </p:nvSpPr>
        <p:spPr>
          <a:xfrm>
            <a:off x="4667250" y="3125242"/>
            <a:ext cx="2019300" cy="462707"/>
          </a:xfrm>
          <a:prstGeom prst="rect">
            <a:avLst/>
          </a:prstGeom>
          <a:solidFill>
            <a:srgbClr val="3B82F6"/>
          </a:solidFill>
          <a:ln/>
        </p:spPr>
        <p:txBody>
          <a:bodyPr wrap="square" rtlCol="0" anchor="ctr"/>
          <a:lstStyle/>
          <a:p>
            <a:pPr marL="0" indent="0">
              <a:buNone/>
            </a:pPr>
            <a:endParaRPr lang="en-US" dirty="0"/>
          </a:p>
        </p:txBody>
      </p:sp>
      <p:sp>
        <p:nvSpPr>
          <p:cNvPr id="35" name="Text 33"/>
          <p:cNvSpPr/>
          <p:nvPr/>
        </p:nvSpPr>
        <p:spPr>
          <a:xfrm>
            <a:off x="474421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SuperWhisper</a:t>
            </a:r>
            <a:endParaRPr lang="en-US" sz="825" dirty="0"/>
          </a:p>
        </p:txBody>
      </p:sp>
      <p:sp>
        <p:nvSpPr>
          <p:cNvPr id="36" name="Text 34"/>
          <p:cNvSpPr/>
          <p:nvPr/>
        </p:nvSpPr>
        <p:spPr>
          <a:xfrm>
            <a:off x="474421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Simple + Local</a:t>
            </a:r>
            <a:endParaRPr lang="en-US" sz="600" dirty="0"/>
          </a:p>
        </p:txBody>
      </p:sp>
      <p:sp>
        <p:nvSpPr>
          <p:cNvPr id="37" name="Text 35"/>
          <p:cNvSpPr/>
          <p:nvPr/>
        </p:nvSpPr>
        <p:spPr>
          <a:xfrm>
            <a:off x="6743700" y="3125242"/>
            <a:ext cx="2019300" cy="462707"/>
          </a:xfrm>
          <a:prstGeom prst="rect">
            <a:avLst/>
          </a:prstGeom>
          <a:solidFill>
            <a:srgbClr val="3B82F6"/>
          </a:solidFill>
          <a:ln/>
        </p:spPr>
        <p:txBody>
          <a:bodyPr wrap="square" rtlCol="0" anchor="ctr"/>
          <a:lstStyle/>
          <a:p>
            <a:pPr marL="0" indent="0">
              <a:buNone/>
            </a:pPr>
            <a:endParaRPr lang="en-US" dirty="0"/>
          </a:p>
        </p:txBody>
      </p:sp>
      <p:sp>
        <p:nvSpPr>
          <p:cNvPr id="38" name="Text 36"/>
          <p:cNvSpPr/>
          <p:nvPr/>
        </p:nvSpPr>
        <p:spPr>
          <a:xfrm>
            <a:off x="682066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Wispr Flow</a:t>
            </a:r>
            <a:endParaRPr lang="en-US" sz="825" dirty="0"/>
          </a:p>
        </p:txBody>
      </p:sp>
      <p:sp>
        <p:nvSpPr>
          <p:cNvPr id="39" name="Text 37"/>
          <p:cNvSpPr/>
          <p:nvPr/>
        </p:nvSpPr>
        <p:spPr>
          <a:xfrm>
            <a:off x="682066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Smart Features</a:t>
            </a:r>
            <a:endParaRPr lang="en-US" sz="600" dirty="0"/>
          </a:p>
        </p:txBody>
      </p:sp>
      <p:sp>
        <p:nvSpPr>
          <p:cNvPr id="40" name="Text 38"/>
          <p:cNvSpPr/>
          <p:nvPr/>
        </p:nvSpPr>
        <p:spPr>
          <a:xfrm>
            <a:off x="4667250" y="3835598"/>
            <a:ext cx="4095750" cy="272355"/>
          </a:xfrm>
          <a:prstGeom prst="rect">
            <a:avLst/>
          </a:prstGeom>
          <a:solidFill>
            <a:srgbClr val="252B3D"/>
          </a:solidFill>
          <a:ln/>
        </p:spPr>
        <p:txBody>
          <a:bodyPr wrap="square" rtlCol="0" anchor="ctr"/>
          <a:lstStyle/>
          <a:p>
            <a:pPr marL="0" indent="0">
              <a:buNone/>
            </a:pPr>
            <a:endParaRPr lang="en-US" dirty="0"/>
          </a:p>
        </p:txBody>
      </p:sp>
      <p:sp>
        <p:nvSpPr>
          <p:cNvPr id="41" name="Text 39"/>
          <p:cNvSpPr/>
          <p:nvPr/>
        </p:nvSpPr>
        <p:spPr>
          <a:xfrm>
            <a:off x="4704017" y="3911798"/>
            <a:ext cx="4022217" cy="119955"/>
          </a:xfrm>
          <a:prstGeom prst="rect">
            <a:avLst/>
          </a:prstGeom>
          <a:noFill/>
          <a:ln/>
        </p:spPr>
        <p:txBody>
          <a:bodyPr wrap="square" lIns="0" tIns="0" rIns="0" bIns="0" rtlCol="0" anchor="t"/>
          <a:lstStyle/>
          <a:p>
            <a:pPr marL="0" indent="0" algn="ctr">
              <a:lnSpc>
                <a:spcPts val="945"/>
              </a:lnSpc>
              <a:buNone/>
            </a:pPr>
            <a:r>
              <a:rPr lang="en-US" sz="675" b="1" dirty="0">
                <a:solidFill>
                  <a:srgbClr val="FFFFFF">
                    <a:alpha val="60000"/>
                  </a:srgbClr>
                </a:solidFill>
                <a:latin typeface="Arial" pitchFamily="34" charset="0"/>
                <a:ea typeface="Arial" pitchFamily="34" charset="-122"/>
                <a:cs typeface="Arial" pitchFamily="34" charset="-120"/>
              </a:rPr>
              <a:t>Budget:</a:t>
            </a:r>
            <a:r>
              <a:rPr lang="en-US" sz="675" dirty="0">
                <a:solidFill>
                  <a:srgbClr val="FFFFFF">
                    <a:alpha val="60000"/>
                  </a:srgbClr>
                </a:solidFill>
                <a:latin typeface="Arial" pitchFamily="34" charset="0"/>
                <a:ea typeface="Arial" pitchFamily="34" charset="-122"/>
                <a:cs typeface="Arial" pitchFamily="34" charset="-120"/>
              </a:rPr>
              <a:t> Native OS dictation works for casual use</a:t>
            </a:r>
            <a:endParaRPr lang="en-US" sz="675" dirty="0"/>
          </a:p>
        </p:txBody>
      </p:sp>
      <p:sp>
        <p:nvSpPr>
          <p:cNvPr id="42" name="Text 40"/>
          <p:cNvSpPr/>
          <p:nvPr/>
        </p:nvSpPr>
        <p:spPr>
          <a:xfrm>
            <a:off x="381000" y="4374654"/>
            <a:ext cx="8382000" cy="375196"/>
          </a:xfrm>
          <a:prstGeom prst="rect">
            <a:avLst/>
          </a:prstGeom>
          <a:solidFill>
            <a:srgbClr val="C9A227"/>
          </a:solidFill>
          <a:ln/>
        </p:spPr>
        <p:txBody>
          <a:bodyPr wrap="square" rtlCol="0" anchor="ctr"/>
          <a:lstStyle/>
          <a:p>
            <a:pPr marL="0" indent="0">
              <a:buNone/>
            </a:pPr>
            <a:endParaRPr lang="en-US" dirty="0"/>
          </a:p>
        </p:txBody>
      </p:sp>
      <p:sp>
        <p:nvSpPr>
          <p:cNvPr id="43" name="Text 41"/>
          <p:cNvSpPr/>
          <p:nvPr/>
        </p:nvSpPr>
        <p:spPr>
          <a:xfrm>
            <a:off x="413766" y="4488954"/>
            <a:ext cx="8316468" cy="146596"/>
          </a:xfrm>
          <a:prstGeom prst="rect">
            <a:avLst/>
          </a:prstGeom>
          <a:noFill/>
          <a:ln/>
        </p:spPr>
        <p:txBody>
          <a:bodyPr wrap="square" lIns="0" tIns="0" rIns="0" bIns="0" rtlCol="0" anchor="t"/>
          <a:lstStyle/>
          <a:p>
            <a:pPr marL="0" indent="0" algn="ctr">
              <a:lnSpc>
                <a:spcPts val="1155"/>
              </a:lnSpc>
              <a:buNone/>
            </a:pPr>
            <a:r>
              <a:rPr lang="en-US" sz="825" b="1" dirty="0">
                <a:solidFill>
                  <a:srgbClr val="1A1F2E"/>
                </a:solidFill>
                <a:latin typeface="Arial" pitchFamily="34" charset="0"/>
                <a:ea typeface="Arial" pitchFamily="34" charset="-122"/>
                <a:cs typeface="Arial" pitchFamily="34" charset="-120"/>
              </a:rPr>
              <a:t>QUICK PICK:</a:t>
            </a:r>
            <a:r>
              <a:rPr lang="en-US" sz="825" dirty="0">
                <a:solidFill>
                  <a:srgbClr val="1A1F2E"/>
                </a:solidFill>
                <a:latin typeface="Arial" pitchFamily="34" charset="0"/>
                <a:ea typeface="Arial" pitchFamily="34" charset="-122"/>
                <a:cs typeface="Arial" pitchFamily="34" charset="-120"/>
              </a:rPr>
              <a:t> Government/PHI = SuperWhisper | Power User = Wispr Flow (Privacy Mode) | Linux = Wispr Flow</a:t>
            </a:r>
            <a:endParaRPr lang="en-US" sz="8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49654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81000" y="1395561"/>
            <a:ext cx="3809235"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WORKSHOP DECISION</a:t>
            </a:r>
            <a:endParaRPr lang="en-US" sz="825" dirty="0"/>
          </a:p>
        </p:txBody>
      </p:sp>
      <p:sp>
        <p:nvSpPr>
          <p:cNvPr id="4" name="Text 2"/>
          <p:cNvSpPr/>
          <p:nvPr/>
        </p:nvSpPr>
        <p:spPr>
          <a:xfrm>
            <a:off x="381000" y="1846957"/>
            <a:ext cx="2691194" cy="731341"/>
          </a:xfrm>
          <a:prstGeom prst="rect">
            <a:avLst/>
          </a:prstGeom>
          <a:noFill/>
          <a:ln/>
        </p:spPr>
        <p:txBody>
          <a:bodyPr wrap="square" lIns="0" tIns="0" rIns="0" bIns="0" rtlCol="0" anchor="t"/>
          <a:lstStyle/>
          <a:p>
            <a:pPr marL="0" indent="0" algn="l">
              <a:lnSpc>
                <a:spcPts val="2880"/>
              </a:lnSpc>
              <a:spcAft>
                <a:spcPts val="1500"/>
              </a:spcAft>
              <a:buNone/>
            </a:pPr>
            <a:r>
              <a:rPr lang="en-US" sz="2400" dirty="0">
                <a:solidFill>
                  <a:srgbClr val="FFFFFF"/>
                </a:solidFill>
                <a:latin typeface="Georgia" pitchFamily="34" charset="0"/>
                <a:ea typeface="Georgia" pitchFamily="34" charset="-122"/>
                <a:cs typeface="Georgia" pitchFamily="34" charset="-120"/>
              </a:rPr>
              <a:t>Why SuperWhisper</a:t>
            </a:r>
            <a:endParaRPr lang="en-US" sz="2400" dirty="0"/>
          </a:p>
          <a:p>
            <a:pPr marL="0" indent="0" algn="l">
              <a:lnSpc>
                <a:spcPts val="2880"/>
              </a:lnSpc>
              <a:spcAft>
                <a:spcPts val="1500"/>
              </a:spcAft>
              <a:buNone/>
            </a:pPr>
            <a:r>
              <a:rPr lang="en-US" sz="2400" dirty="0">
                <a:solidFill>
                  <a:srgbClr val="FFFFFF"/>
                </a:solidFill>
                <a:latin typeface="Georgia" pitchFamily="34" charset="0"/>
                <a:ea typeface="Georgia" pitchFamily="34" charset="-122"/>
                <a:cs typeface="Georgia" pitchFamily="34" charset="-120"/>
              </a:rPr>
              <a:t>for This Workshop</a:t>
            </a:r>
            <a:endParaRPr lang="en-US" sz="2400" dirty="0"/>
          </a:p>
        </p:txBody>
      </p:sp>
      <p:sp>
        <p:nvSpPr>
          <p:cNvPr id="5" name="Text 3"/>
          <p:cNvSpPr/>
          <p:nvPr/>
        </p:nvSpPr>
        <p:spPr>
          <a:xfrm>
            <a:off x="381000" y="2921198"/>
            <a:ext cx="5715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81000" y="3321248"/>
            <a:ext cx="3809235" cy="426541"/>
          </a:xfrm>
          <a:prstGeom prst="rect">
            <a:avLst/>
          </a:prstGeom>
          <a:noFill/>
          <a:ln/>
        </p:spPr>
        <p:txBody>
          <a:bodyPr wrap="square" lIns="0" tIns="0" rIns="0" bIns="0" rtlCol="0" anchor="t"/>
          <a:lstStyle/>
          <a:p>
            <a:pPr marL="0" indent="0" algn="l">
              <a:lnSpc>
                <a:spcPts val="1680"/>
              </a:lnSpc>
              <a:buNone/>
            </a:pPr>
            <a:r>
              <a:rPr lang="en-US" sz="1050" dirty="0">
                <a:solidFill>
                  <a:srgbClr val="FFFFFF">
                    <a:alpha val="70000"/>
                  </a:srgbClr>
                </a:solidFill>
                <a:latin typeface="Arial" pitchFamily="34" charset="0"/>
                <a:ea typeface="Arial" pitchFamily="34" charset="-122"/>
                <a:cs typeface="Arial" pitchFamily="34" charset="-120"/>
              </a:rPr>
              <a:t>We're moving forward with SuperWhisper because it offers the privacy controls required for government health work.</a:t>
            </a:r>
            <a:endParaRPr lang="en-US" sz="1050" dirty="0"/>
          </a:p>
        </p:txBody>
      </p:sp>
      <p:sp>
        <p:nvSpPr>
          <p:cNvPr id="7" name="Text 5"/>
          <p:cNvSpPr/>
          <p:nvPr/>
        </p:nvSpPr>
        <p:spPr>
          <a:xfrm>
            <a:off x="4648944" y="0"/>
            <a:ext cx="4495056"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4991844" y="735657"/>
            <a:ext cx="3809256" cy="630436"/>
          </a:xfrm>
          <a:prstGeom prst="rect">
            <a:avLst/>
          </a:prstGeom>
          <a:solidFill>
            <a:srgbClr val="DCFCE7"/>
          </a:solidFill>
          <a:ln/>
        </p:spPr>
        <p:txBody>
          <a:bodyPr wrap="square" rtlCol="0" anchor="ctr"/>
          <a:lstStyle/>
          <a:p>
            <a:pPr marL="0" indent="0">
              <a:buNone/>
            </a:pPr>
            <a:endParaRPr lang="en-US" dirty="0"/>
          </a:p>
        </p:txBody>
      </p:sp>
      <p:sp>
        <p:nvSpPr>
          <p:cNvPr id="9" name="Shape 7"/>
          <p:cNvSpPr/>
          <p:nvPr/>
        </p:nvSpPr>
        <p:spPr>
          <a:xfrm>
            <a:off x="5010894" y="735657"/>
            <a:ext cx="0" cy="630436"/>
          </a:xfrm>
          <a:prstGeom prst="line">
            <a:avLst/>
          </a:prstGeom>
          <a:noFill/>
          <a:ln w="38100">
            <a:solidFill>
              <a:srgbClr val="059669"/>
            </a:solidFill>
            <a:prstDash val="solid"/>
          </a:ln>
        </p:spPr>
        <p:txBody>
          <a:bodyPr/>
          <a:lstStyle/>
          <a:p>
            <a:endParaRPr lang="en-US"/>
          </a:p>
        </p:txBody>
      </p:sp>
      <p:sp>
        <p:nvSpPr>
          <p:cNvPr id="10" name="Text 8"/>
          <p:cNvSpPr/>
          <p:nvPr/>
        </p:nvSpPr>
        <p:spPr>
          <a:xfrm>
            <a:off x="5163294" y="869007"/>
            <a:ext cx="3574545"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059669"/>
                </a:solidFill>
                <a:latin typeface="Arial" pitchFamily="34" charset="0"/>
                <a:ea typeface="Arial" pitchFamily="34" charset="-122"/>
                <a:cs typeface="Arial" pitchFamily="34" charset="-120"/>
              </a:rPr>
              <a:t>FREE LOCAL MODELS</a:t>
            </a:r>
            <a:endParaRPr lang="en-US" sz="900" dirty="0"/>
          </a:p>
        </p:txBody>
      </p:sp>
      <p:sp>
        <p:nvSpPr>
          <p:cNvPr id="11" name="Text 9"/>
          <p:cNvSpPr/>
          <p:nvPr/>
        </p:nvSpPr>
        <p:spPr>
          <a:xfrm>
            <a:off x="5163294" y="1086148"/>
            <a:ext cx="3574545" cy="146596"/>
          </a:xfrm>
          <a:prstGeom prst="rect">
            <a:avLst/>
          </a:prstGeom>
          <a:noFill/>
          <a:ln/>
        </p:spPr>
        <p:txBody>
          <a:bodyPr wrap="square" lIns="0" tIns="0" rIns="0" bIns="0" rtlCol="0" anchor="t"/>
          <a:lstStyle/>
          <a:p>
            <a:pPr marL="0" indent="0" algn="l">
              <a:lnSpc>
                <a:spcPts val="1155"/>
              </a:lnSpc>
              <a:buNone/>
            </a:pPr>
            <a:r>
              <a:rPr lang="en-US" sz="825" dirty="0">
                <a:solidFill>
                  <a:srgbClr val="166534"/>
                </a:solidFill>
                <a:latin typeface="Arial" pitchFamily="34" charset="0"/>
                <a:ea typeface="Arial" pitchFamily="34" charset="-122"/>
                <a:cs typeface="Arial" pitchFamily="34" charset="-120"/>
              </a:rPr>
              <a:t>Audio never leaves your device. PHI-safe out of the box with the free tier.</a:t>
            </a:r>
            <a:endParaRPr lang="en-US" sz="825" dirty="0"/>
          </a:p>
        </p:txBody>
      </p:sp>
      <p:sp>
        <p:nvSpPr>
          <p:cNvPr id="12" name="Text 10"/>
          <p:cNvSpPr/>
          <p:nvPr/>
        </p:nvSpPr>
        <p:spPr>
          <a:xfrm>
            <a:off x="4991844" y="1499443"/>
            <a:ext cx="3809256" cy="6494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3" name="Text 11"/>
          <p:cNvSpPr/>
          <p:nvPr/>
        </p:nvSpPr>
        <p:spPr>
          <a:xfrm>
            <a:off x="5134719" y="1642318"/>
            <a:ext cx="3593976"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CROSS-PLATFORM</a:t>
            </a:r>
            <a:endParaRPr lang="en-US" sz="900" dirty="0"/>
          </a:p>
        </p:txBody>
      </p:sp>
      <p:sp>
        <p:nvSpPr>
          <p:cNvPr id="14" name="Text 12"/>
          <p:cNvSpPr/>
          <p:nvPr/>
        </p:nvSpPr>
        <p:spPr>
          <a:xfrm>
            <a:off x="5134719" y="1859459"/>
            <a:ext cx="3593976"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Works on Mac, Windows, and iOS. Same experience across your devices.</a:t>
            </a:r>
            <a:endParaRPr lang="en-US" sz="825" dirty="0"/>
          </a:p>
        </p:txBody>
      </p:sp>
      <p:sp>
        <p:nvSpPr>
          <p:cNvPr id="15" name="Text 13"/>
          <p:cNvSpPr/>
          <p:nvPr/>
        </p:nvSpPr>
        <p:spPr>
          <a:xfrm>
            <a:off x="4991844" y="2282279"/>
            <a:ext cx="3809256" cy="6494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6" name="Text 14"/>
          <p:cNvSpPr/>
          <p:nvPr/>
        </p:nvSpPr>
        <p:spPr>
          <a:xfrm>
            <a:off x="5134719" y="2425154"/>
            <a:ext cx="3593976"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CUSTOM MODES</a:t>
            </a:r>
            <a:endParaRPr lang="en-US" sz="900" dirty="0"/>
          </a:p>
        </p:txBody>
      </p:sp>
      <p:sp>
        <p:nvSpPr>
          <p:cNvPr id="17" name="Text 15"/>
          <p:cNvSpPr/>
          <p:nvPr/>
        </p:nvSpPr>
        <p:spPr>
          <a:xfrm>
            <a:off x="5134719" y="2642295"/>
            <a:ext cx="3593976"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3 free custom modes let us build application-specific workflows together.</a:t>
            </a:r>
            <a:endParaRPr lang="en-US" sz="825" dirty="0"/>
          </a:p>
        </p:txBody>
      </p:sp>
      <p:sp>
        <p:nvSpPr>
          <p:cNvPr id="18" name="Text 16"/>
          <p:cNvSpPr/>
          <p:nvPr/>
        </p:nvSpPr>
        <p:spPr>
          <a:xfrm>
            <a:off x="4991844" y="3065115"/>
            <a:ext cx="3809256" cy="6494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5134719" y="3207990"/>
            <a:ext cx="3593976"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AUTO-ACTIVATION</a:t>
            </a:r>
            <a:endParaRPr lang="en-US" sz="900" dirty="0"/>
          </a:p>
        </p:txBody>
      </p:sp>
      <p:sp>
        <p:nvSpPr>
          <p:cNvPr id="20" name="Text 18"/>
          <p:cNvSpPr/>
          <p:nvPr/>
        </p:nvSpPr>
        <p:spPr>
          <a:xfrm>
            <a:off x="5134719" y="3425130"/>
            <a:ext cx="3593976"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Modes switch automatically based on your active application.</a:t>
            </a:r>
            <a:endParaRPr lang="en-US" sz="825" dirty="0"/>
          </a:p>
        </p:txBody>
      </p:sp>
      <p:sp>
        <p:nvSpPr>
          <p:cNvPr id="21" name="Text 19"/>
          <p:cNvSpPr/>
          <p:nvPr/>
        </p:nvSpPr>
        <p:spPr>
          <a:xfrm>
            <a:off x="4991844" y="3847951"/>
            <a:ext cx="3809256" cy="559891"/>
          </a:xfrm>
          <a:prstGeom prst="rect">
            <a:avLst/>
          </a:prstGeom>
          <a:solidFill>
            <a:srgbClr val="FEF3C7"/>
          </a:solidFill>
          <a:ln/>
        </p:spPr>
        <p:txBody>
          <a:bodyPr wrap="square" rtlCol="0" anchor="ctr"/>
          <a:lstStyle/>
          <a:p>
            <a:pPr marL="0" indent="0">
              <a:buNone/>
            </a:pPr>
            <a:endParaRPr lang="en-US" dirty="0"/>
          </a:p>
        </p:txBody>
      </p:sp>
      <p:sp>
        <p:nvSpPr>
          <p:cNvPr id="22" name="Shape 20"/>
          <p:cNvSpPr/>
          <p:nvPr/>
        </p:nvSpPr>
        <p:spPr>
          <a:xfrm>
            <a:off x="5010894" y="3847951"/>
            <a:ext cx="0" cy="559891"/>
          </a:xfrm>
          <a:prstGeom prst="line">
            <a:avLst/>
          </a:prstGeom>
          <a:noFill/>
          <a:ln w="38100">
            <a:solidFill>
              <a:srgbClr val="F59E0B"/>
            </a:solidFill>
            <a:prstDash val="solid"/>
          </a:ln>
        </p:spPr>
        <p:txBody>
          <a:bodyPr/>
          <a:lstStyle/>
          <a:p>
            <a:endParaRPr lang="en-US"/>
          </a:p>
        </p:txBody>
      </p:sp>
      <p:sp>
        <p:nvSpPr>
          <p:cNvPr id="23" name="Text 21"/>
          <p:cNvSpPr/>
          <p:nvPr/>
        </p:nvSpPr>
        <p:spPr>
          <a:xfrm>
            <a:off x="5163294" y="3981301"/>
            <a:ext cx="3574545" cy="293191"/>
          </a:xfrm>
          <a:prstGeom prst="rect">
            <a:avLst/>
          </a:prstGeom>
          <a:noFill/>
          <a:ln/>
        </p:spPr>
        <p:txBody>
          <a:bodyPr wrap="square" lIns="0" tIns="0" rIns="0" bIns="0" rtlCol="0" anchor="t"/>
          <a:lstStyle/>
          <a:p>
            <a:pPr marL="0" indent="0" algn="l">
              <a:lnSpc>
                <a:spcPts val="1155"/>
              </a:lnSpc>
              <a:buNone/>
            </a:pPr>
            <a:r>
              <a:rPr lang="en-US" sz="825" b="1" dirty="0">
                <a:solidFill>
                  <a:srgbClr val="92400E"/>
                </a:solidFill>
                <a:latin typeface="Arial" pitchFamily="34" charset="0"/>
                <a:ea typeface="Arial" pitchFamily="34" charset="-122"/>
                <a:cs typeface="Arial" pitchFamily="34" charset="-120"/>
              </a:rPr>
              <a:t>Wispr Flow</a:t>
            </a:r>
            <a:r>
              <a:rPr lang="en-US" sz="825" dirty="0">
                <a:solidFill>
                  <a:srgbClr val="92400E"/>
                </a:solidFill>
                <a:latin typeface="Arial" pitchFamily="34" charset="0"/>
                <a:ea typeface="Arial" pitchFamily="34" charset="-122"/>
                <a:cs typeface="Arial" pitchFamily="34" charset="-120"/>
              </a:rPr>
              <a:t> is excellent for non-sensitive work, but it's cloud-only. For PHI compliance, we need local processing. (BAA option is available)</a:t>
            </a:r>
            <a:endParaRPr lang="en-US" sz="8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7954" y="1041202"/>
            <a:ext cx="1067794" cy="186630"/>
          </a:xfrm>
          <a:prstGeom prst="rect">
            <a:avLst/>
          </a:prstGeom>
          <a:noFill/>
          <a:ln/>
        </p:spPr>
        <p:txBody>
          <a:bodyPr wrap="square" lIns="0" tIns="0" rIns="0" bIns="0" rtlCol="0" anchor="t"/>
          <a:lstStyle/>
          <a:p>
            <a:pPr marL="0" indent="0" algn="ctr">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8</a:t>
            </a:r>
            <a:endParaRPr lang="en-US" sz="1050" dirty="0"/>
          </a:p>
        </p:txBody>
      </p:sp>
      <p:sp>
        <p:nvSpPr>
          <p:cNvPr id="3" name="Text 1"/>
          <p:cNvSpPr/>
          <p:nvPr/>
        </p:nvSpPr>
        <p:spPr>
          <a:xfrm>
            <a:off x="2032916" y="1570732"/>
            <a:ext cx="5078019" cy="495300"/>
          </a:xfrm>
          <a:prstGeom prst="rect">
            <a:avLst/>
          </a:prstGeom>
          <a:noFill/>
          <a:ln/>
        </p:spPr>
        <p:txBody>
          <a:bodyPr wrap="square" lIns="0" tIns="0" rIns="0" bIns="0" rtlCol="0" anchor="t"/>
          <a:lstStyle/>
          <a:p>
            <a:pPr marL="0" indent="0" algn="ctr">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Security &amp; Compliance</a:t>
            </a:r>
            <a:endParaRPr lang="en-US" sz="3900" dirty="0"/>
          </a:p>
        </p:txBody>
      </p:sp>
      <p:sp>
        <p:nvSpPr>
          <p:cNvPr id="4" name="Text 2"/>
          <p:cNvSpPr/>
          <p:nvPr/>
        </p:nvSpPr>
        <p:spPr>
          <a:xfrm>
            <a:off x="4190851" y="2408932"/>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2831864" y="2818507"/>
            <a:ext cx="3480122" cy="239911"/>
          </a:xfrm>
          <a:prstGeom prst="rect">
            <a:avLst/>
          </a:prstGeom>
          <a:noFill/>
          <a:ln/>
        </p:spPr>
        <p:txBody>
          <a:bodyPr wrap="square" lIns="0" tIns="0" rIns="0" bIns="0" rtlCol="0" anchor="t"/>
          <a:lstStyle/>
          <a:p>
            <a:pPr marL="0" indent="0" algn="ctr">
              <a:lnSpc>
                <a:spcPts val="1890"/>
              </a:lnSpc>
              <a:buNone/>
            </a:pPr>
            <a:r>
              <a:rPr lang="en-US" sz="1350" dirty="0">
                <a:solidFill>
                  <a:srgbClr val="FFFFFF">
                    <a:alpha val="70000"/>
                  </a:srgbClr>
                </a:solidFill>
                <a:latin typeface="Arial" pitchFamily="34" charset="0"/>
                <a:ea typeface="Arial" pitchFamily="34" charset="-122"/>
                <a:cs typeface="Arial" pitchFamily="34" charset="-120"/>
              </a:rPr>
              <a:t>Understanding Data Flows and PHI Handling</a:t>
            </a:r>
            <a:endParaRPr lang="en-US" sz="1350" dirty="0"/>
          </a:p>
        </p:txBody>
      </p:sp>
      <p:sp>
        <p:nvSpPr>
          <p:cNvPr id="6" name="Text 4"/>
          <p:cNvSpPr/>
          <p:nvPr/>
        </p:nvSpPr>
        <p:spPr>
          <a:xfrm>
            <a:off x="3931444" y="3591818"/>
            <a:ext cx="1280964" cy="51048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4239246" y="3753743"/>
            <a:ext cx="665360" cy="186630"/>
          </a:xfrm>
          <a:prstGeom prst="rect">
            <a:avLst/>
          </a:prstGeom>
          <a:noFill/>
          <a:ln/>
        </p:spPr>
        <p:txBody>
          <a:bodyPr wrap="square" lIns="0" tIns="0" rIns="0" bIns="0" rtlCol="0" anchor="t"/>
          <a:lstStyle/>
          <a:p>
            <a:pPr marL="0" indent="0" algn="ctr">
              <a:lnSpc>
                <a:spcPts val="1470"/>
              </a:lnSpc>
              <a:buNone/>
            </a:pPr>
            <a:r>
              <a:rPr lang="en-US" sz="1050" dirty="0">
                <a:solidFill>
                  <a:srgbClr val="C9A227"/>
                </a:solidFill>
                <a:latin typeface="Arial" pitchFamily="34" charset="0"/>
                <a:ea typeface="Arial" pitchFamily="34" charset="-122"/>
                <a:cs typeface="Arial" pitchFamily="34" charset="-120"/>
              </a:rPr>
              <a:t>10 minutes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DATA SECURITY</a:t>
            </a:r>
            <a:endParaRPr lang="en-US" sz="750" dirty="0"/>
          </a:p>
        </p:txBody>
      </p:sp>
      <p:sp>
        <p:nvSpPr>
          <p:cNvPr id="3" name="Text 1"/>
          <p:cNvSpPr/>
          <p:nvPr/>
        </p:nvSpPr>
        <p:spPr>
          <a:xfrm>
            <a:off x="381000" y="4191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Data Flow Awareness</a:t>
            </a:r>
            <a:endParaRPr lang="en-US" sz="2100" dirty="0"/>
          </a:p>
        </p:txBody>
      </p:sp>
      <p:sp>
        <p:nvSpPr>
          <p:cNvPr id="4" name="Text 2"/>
          <p:cNvSpPr/>
          <p:nvPr/>
        </p:nvSpPr>
        <p:spPr>
          <a:xfrm>
            <a:off x="381000" y="742950"/>
            <a:ext cx="8549640" cy="159990"/>
          </a:xfrm>
          <a:prstGeom prst="rect">
            <a:avLst/>
          </a:prstGeom>
          <a:noFill/>
          <a:ln/>
        </p:spPr>
        <p:txBody>
          <a:bodyPr wrap="square" lIns="0" tIns="0" rIns="0" bIns="0" rtlCol="0" anchor="t"/>
          <a:lstStyle/>
          <a:p>
            <a:pPr marL="0" indent="0" algn="l">
              <a:lnSpc>
                <a:spcPts val="1260"/>
              </a:lnSpc>
              <a:spcBef>
                <a:spcPts val="450"/>
              </a:spcBef>
              <a:buNone/>
            </a:pPr>
            <a:r>
              <a:rPr lang="en-US" sz="900" dirty="0">
                <a:solidFill>
                  <a:srgbClr val="6B7280"/>
                </a:solidFill>
                <a:latin typeface="Arial" pitchFamily="34" charset="0"/>
                <a:ea typeface="Arial" pitchFamily="34" charset="-122"/>
                <a:cs typeface="Arial" pitchFamily="34" charset="-120"/>
              </a:rPr>
              <a:t>Understanding where your data goes</a:t>
            </a:r>
            <a:endParaRPr lang="en-US" sz="900" dirty="0"/>
          </a:p>
        </p:txBody>
      </p:sp>
      <p:sp>
        <p:nvSpPr>
          <p:cNvPr id="5" name="Text 3"/>
          <p:cNvSpPr/>
          <p:nvPr/>
        </p:nvSpPr>
        <p:spPr>
          <a:xfrm>
            <a:off x="381000" y="1360438"/>
            <a:ext cx="2730550" cy="1407468"/>
          </a:xfrm>
          <a:prstGeom prst="rect">
            <a:avLst/>
          </a:prstGeom>
          <a:solidFill>
            <a:srgbClr val="DCFCE7"/>
          </a:solidFill>
          <a:ln/>
        </p:spPr>
        <p:txBody>
          <a:bodyPr wrap="square" rtlCol="0" anchor="ctr"/>
          <a:lstStyle/>
          <a:p>
            <a:pPr marL="0" indent="0">
              <a:buNone/>
            </a:pPr>
            <a:endParaRPr lang="en-US" dirty="0"/>
          </a:p>
        </p:txBody>
      </p:sp>
      <p:sp>
        <p:nvSpPr>
          <p:cNvPr id="6" name="Shape 4"/>
          <p:cNvSpPr/>
          <p:nvPr/>
        </p:nvSpPr>
        <p:spPr>
          <a:xfrm>
            <a:off x="400050" y="1360438"/>
            <a:ext cx="0" cy="1407468"/>
          </a:xfrm>
          <a:prstGeom prst="line">
            <a:avLst/>
          </a:prstGeom>
          <a:noFill/>
          <a:ln w="38100">
            <a:solidFill>
              <a:srgbClr val="059669"/>
            </a:solidFill>
            <a:prstDash val="solid"/>
          </a:ln>
        </p:spPr>
        <p:txBody>
          <a:bodyPr/>
          <a:lstStyle/>
          <a:p>
            <a:endParaRPr lang="en-US"/>
          </a:p>
        </p:txBody>
      </p:sp>
      <p:sp>
        <p:nvSpPr>
          <p:cNvPr id="7" name="Text 5"/>
          <p:cNvSpPr/>
          <p:nvPr/>
        </p:nvSpPr>
        <p:spPr>
          <a:xfrm>
            <a:off x="533400" y="1474738"/>
            <a:ext cx="2513127"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059669"/>
                </a:solidFill>
                <a:latin typeface="Arial" pitchFamily="34" charset="0"/>
                <a:ea typeface="Arial" pitchFamily="34" charset="-122"/>
                <a:cs typeface="Arial" pitchFamily="34" charset="-120"/>
              </a:rPr>
              <a:t>LOCAL (SAFE)</a:t>
            </a:r>
            <a:endParaRPr lang="en-US" sz="825" dirty="0"/>
          </a:p>
        </p:txBody>
      </p:sp>
      <p:sp>
        <p:nvSpPr>
          <p:cNvPr id="8" name="Text 6"/>
          <p:cNvSpPr/>
          <p:nvPr/>
        </p:nvSpPr>
        <p:spPr>
          <a:xfrm>
            <a:off x="533400" y="1849934"/>
            <a:ext cx="2513127"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166534"/>
                </a:solidFill>
                <a:latin typeface="Arial" pitchFamily="34" charset="0"/>
                <a:ea typeface="Arial" pitchFamily="34" charset="-122"/>
                <a:cs typeface="Arial" pitchFamily="34" charset="-120"/>
              </a:rPr>
              <a:t>Your Device Only</a:t>
            </a:r>
            <a:endParaRPr lang="en-US" sz="750" dirty="0"/>
          </a:p>
        </p:txBody>
      </p:sp>
      <p:sp>
        <p:nvSpPr>
          <p:cNvPr id="9" name="Text 7"/>
          <p:cNvSpPr/>
          <p:nvPr/>
        </p:nvSpPr>
        <p:spPr>
          <a:xfrm>
            <a:off x="533400" y="2173784"/>
            <a:ext cx="2513127" cy="479822"/>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SuperWhisper local models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Ollama local models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Local file operations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macOS dictation (on-device)</a:t>
            </a:r>
            <a:endParaRPr lang="en-US" sz="675" dirty="0"/>
          </a:p>
        </p:txBody>
      </p:sp>
      <p:sp>
        <p:nvSpPr>
          <p:cNvPr id="10" name="Text 8"/>
          <p:cNvSpPr/>
          <p:nvPr/>
        </p:nvSpPr>
        <p:spPr>
          <a:xfrm>
            <a:off x="3206800" y="1360438"/>
            <a:ext cx="2730550" cy="1407468"/>
          </a:xfrm>
          <a:prstGeom prst="rect">
            <a:avLst/>
          </a:prstGeom>
          <a:solidFill>
            <a:srgbClr val="FEF3C7"/>
          </a:solidFill>
          <a:ln/>
        </p:spPr>
        <p:txBody>
          <a:bodyPr wrap="square" rtlCol="0" anchor="ctr"/>
          <a:lstStyle/>
          <a:p>
            <a:pPr marL="0" indent="0">
              <a:buNone/>
            </a:pPr>
            <a:endParaRPr lang="en-US" dirty="0"/>
          </a:p>
        </p:txBody>
      </p:sp>
      <p:sp>
        <p:nvSpPr>
          <p:cNvPr id="11" name="Shape 9"/>
          <p:cNvSpPr/>
          <p:nvPr/>
        </p:nvSpPr>
        <p:spPr>
          <a:xfrm>
            <a:off x="3225850" y="1360438"/>
            <a:ext cx="0" cy="1407468"/>
          </a:xfrm>
          <a:prstGeom prst="line">
            <a:avLst/>
          </a:prstGeom>
          <a:noFill/>
          <a:ln w="38100">
            <a:solidFill>
              <a:srgbClr val="F59E0B"/>
            </a:solidFill>
            <a:prstDash val="solid"/>
          </a:ln>
        </p:spPr>
        <p:txBody>
          <a:bodyPr/>
          <a:lstStyle/>
          <a:p>
            <a:endParaRPr lang="en-US"/>
          </a:p>
        </p:txBody>
      </p:sp>
      <p:sp>
        <p:nvSpPr>
          <p:cNvPr id="12" name="Text 10"/>
          <p:cNvSpPr/>
          <p:nvPr/>
        </p:nvSpPr>
        <p:spPr>
          <a:xfrm>
            <a:off x="3359200" y="1474738"/>
            <a:ext cx="2513127"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B45309"/>
                </a:solidFill>
                <a:latin typeface="Arial" pitchFamily="34" charset="0"/>
                <a:ea typeface="Arial" pitchFamily="34" charset="-122"/>
                <a:cs typeface="Arial" pitchFamily="34" charset="-120"/>
              </a:rPr>
              <a:t>CLOUD (VERIFY)</a:t>
            </a:r>
            <a:endParaRPr lang="en-US" sz="825" dirty="0"/>
          </a:p>
        </p:txBody>
      </p:sp>
      <p:sp>
        <p:nvSpPr>
          <p:cNvPr id="13" name="Text 11"/>
          <p:cNvSpPr/>
          <p:nvPr/>
        </p:nvSpPr>
        <p:spPr>
          <a:xfrm>
            <a:off x="3359200" y="1849934"/>
            <a:ext cx="2513127"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92400E"/>
                </a:solidFill>
                <a:latin typeface="Arial" pitchFamily="34" charset="0"/>
                <a:ea typeface="Arial" pitchFamily="34" charset="-122"/>
                <a:cs typeface="Arial" pitchFamily="34" charset="-120"/>
              </a:rPr>
              <a:t>Enterprise Approved</a:t>
            </a:r>
            <a:endParaRPr lang="en-US" sz="750" dirty="0"/>
          </a:p>
        </p:txBody>
      </p:sp>
      <p:sp>
        <p:nvSpPr>
          <p:cNvPr id="14" name="Text 12"/>
          <p:cNvSpPr/>
          <p:nvPr/>
        </p:nvSpPr>
        <p:spPr>
          <a:xfrm>
            <a:off x="3359200" y="2173784"/>
            <a:ext cx="2513127" cy="479822"/>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Azure OpenAI (with BAA)</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Azure AI Foundry</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GCC/GCC-High endpoints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GitHub Enterprise</a:t>
            </a:r>
            <a:endParaRPr lang="en-US" sz="675" dirty="0"/>
          </a:p>
        </p:txBody>
      </p:sp>
      <p:sp>
        <p:nvSpPr>
          <p:cNvPr id="15" name="Text 13"/>
          <p:cNvSpPr/>
          <p:nvPr/>
        </p:nvSpPr>
        <p:spPr>
          <a:xfrm>
            <a:off x="6032599" y="1360438"/>
            <a:ext cx="2730550" cy="1407468"/>
          </a:xfrm>
          <a:prstGeom prst="rect">
            <a:avLst/>
          </a:prstGeom>
          <a:solidFill>
            <a:srgbClr val="FEF2F2"/>
          </a:solidFill>
          <a:ln/>
        </p:spPr>
        <p:txBody>
          <a:bodyPr wrap="square" rtlCol="0" anchor="ctr"/>
          <a:lstStyle/>
          <a:p>
            <a:pPr marL="0" indent="0">
              <a:buNone/>
            </a:pPr>
            <a:endParaRPr lang="en-US" dirty="0"/>
          </a:p>
        </p:txBody>
      </p:sp>
      <p:sp>
        <p:nvSpPr>
          <p:cNvPr id="16" name="Shape 14"/>
          <p:cNvSpPr/>
          <p:nvPr/>
        </p:nvSpPr>
        <p:spPr>
          <a:xfrm>
            <a:off x="6051649" y="1360438"/>
            <a:ext cx="0" cy="1407468"/>
          </a:xfrm>
          <a:prstGeom prst="line">
            <a:avLst/>
          </a:prstGeom>
          <a:noFill/>
          <a:ln w="38100">
            <a:solidFill>
              <a:srgbClr val="DC2626"/>
            </a:solidFill>
            <a:prstDash val="solid"/>
          </a:ln>
        </p:spPr>
        <p:txBody>
          <a:bodyPr/>
          <a:lstStyle/>
          <a:p>
            <a:endParaRPr lang="en-US"/>
          </a:p>
        </p:txBody>
      </p:sp>
      <p:sp>
        <p:nvSpPr>
          <p:cNvPr id="17" name="Text 15"/>
          <p:cNvSpPr/>
          <p:nvPr/>
        </p:nvSpPr>
        <p:spPr>
          <a:xfrm>
            <a:off x="6184999" y="1474738"/>
            <a:ext cx="2513127"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DC2626"/>
                </a:solidFill>
                <a:latin typeface="Arial" pitchFamily="34" charset="0"/>
                <a:ea typeface="Arial" pitchFamily="34" charset="-122"/>
                <a:cs typeface="Arial" pitchFamily="34" charset="-120"/>
              </a:rPr>
              <a:t>PUBLIC (CAUTION)</a:t>
            </a:r>
            <a:endParaRPr lang="en-US" sz="825" dirty="0"/>
          </a:p>
        </p:txBody>
      </p:sp>
      <p:sp>
        <p:nvSpPr>
          <p:cNvPr id="18" name="Text 16"/>
          <p:cNvSpPr/>
          <p:nvPr/>
        </p:nvSpPr>
        <p:spPr>
          <a:xfrm>
            <a:off x="6184999" y="1849934"/>
            <a:ext cx="2513127"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991B1B"/>
                </a:solidFill>
                <a:latin typeface="Arial" pitchFamily="34" charset="0"/>
                <a:ea typeface="Arial" pitchFamily="34" charset="-122"/>
                <a:cs typeface="Arial" pitchFamily="34" charset="-120"/>
              </a:rPr>
              <a:t>Not for PHI</a:t>
            </a:r>
            <a:endParaRPr lang="en-US" sz="750" dirty="0"/>
          </a:p>
        </p:txBody>
      </p:sp>
      <p:sp>
        <p:nvSpPr>
          <p:cNvPr id="19" name="Text 17"/>
          <p:cNvSpPr/>
          <p:nvPr/>
        </p:nvSpPr>
        <p:spPr>
          <a:xfrm>
            <a:off x="6184999" y="2173784"/>
            <a:ext cx="2513127" cy="479822"/>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Wispr Flow (cloud-based)*</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OpenAI/Anthropic direct</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ChatGPT/Claude.ai free</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Default OS dictation</a:t>
            </a:r>
            <a:endParaRPr lang="en-US" sz="675" dirty="0"/>
          </a:p>
        </p:txBody>
      </p:sp>
      <p:sp>
        <p:nvSpPr>
          <p:cNvPr id="20" name="Text 18"/>
          <p:cNvSpPr/>
          <p:nvPr/>
        </p:nvSpPr>
        <p:spPr>
          <a:xfrm>
            <a:off x="381000" y="3034605"/>
            <a:ext cx="8382000" cy="104760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542925" y="3196530"/>
            <a:ext cx="8219313"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1A1F2E"/>
                </a:solidFill>
                <a:latin typeface="Arial" pitchFamily="34" charset="0"/>
                <a:ea typeface="Arial" pitchFamily="34" charset="-122"/>
                <a:cs typeface="Arial" pitchFamily="34" charset="-120"/>
              </a:rPr>
              <a:t>TYPICAL VOICE WORKFLOW DATA FLOW</a:t>
            </a:r>
            <a:endParaRPr lang="en-US" sz="825" dirty="0"/>
          </a:p>
        </p:txBody>
      </p:sp>
      <p:sp>
        <p:nvSpPr>
          <p:cNvPr id="22" name="Text 20"/>
          <p:cNvSpPr/>
          <p:nvPr/>
        </p:nvSpPr>
        <p:spPr>
          <a:xfrm>
            <a:off x="2590502" y="3447901"/>
            <a:ext cx="699939" cy="247650"/>
          </a:xfrm>
          <a:prstGeom prst="rect">
            <a:avLst/>
          </a:prstGeom>
          <a:solidFill>
            <a:srgbClr val="DCFCE7"/>
          </a:solidFill>
          <a:ln/>
        </p:spPr>
        <p:txBody>
          <a:bodyPr wrap="square" rtlCol="0" anchor="ctr"/>
          <a:lstStyle/>
          <a:p>
            <a:pPr marL="0" indent="0">
              <a:buNone/>
            </a:pPr>
            <a:endParaRPr lang="en-US" dirty="0"/>
          </a:p>
        </p:txBody>
      </p:sp>
      <p:sp>
        <p:nvSpPr>
          <p:cNvPr id="23" name="Text 21"/>
          <p:cNvSpPr/>
          <p:nvPr/>
        </p:nvSpPr>
        <p:spPr>
          <a:xfrm>
            <a:off x="2704802" y="3505051"/>
            <a:ext cx="480765" cy="133350"/>
          </a:xfrm>
          <a:prstGeom prst="rect">
            <a:avLst/>
          </a:prstGeom>
          <a:noFill/>
          <a:ln/>
        </p:spPr>
        <p:txBody>
          <a:bodyPr wrap="square" lIns="0" tIns="0" rIns="0" bIns="0" rtlCol="0" anchor="t"/>
          <a:lstStyle/>
          <a:p>
            <a:pPr marL="0" indent="0" algn="l">
              <a:lnSpc>
                <a:spcPts val="1050"/>
              </a:lnSpc>
              <a:buNone/>
            </a:pPr>
            <a:r>
              <a:rPr lang="en-US" sz="750" dirty="0">
                <a:solidFill>
                  <a:srgbClr val="166534"/>
                </a:solidFill>
                <a:latin typeface="Arial" pitchFamily="34" charset="0"/>
                <a:ea typeface="Arial" pitchFamily="34" charset="-122"/>
                <a:cs typeface="Arial" pitchFamily="34" charset="-120"/>
              </a:rPr>
              <a:t>Voice Input</a:t>
            </a:r>
            <a:endParaRPr lang="en-US" sz="750" dirty="0"/>
          </a:p>
        </p:txBody>
      </p:sp>
      <p:sp>
        <p:nvSpPr>
          <p:cNvPr id="24" name="Text 22"/>
          <p:cNvSpPr/>
          <p:nvPr/>
        </p:nvSpPr>
        <p:spPr>
          <a:xfrm>
            <a:off x="3347591" y="3438376"/>
            <a:ext cx="17821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25" name="Text 23"/>
          <p:cNvSpPr/>
          <p:nvPr/>
        </p:nvSpPr>
        <p:spPr>
          <a:xfrm>
            <a:off x="3579465" y="3447901"/>
            <a:ext cx="832098" cy="247650"/>
          </a:xfrm>
          <a:prstGeom prst="rect">
            <a:avLst/>
          </a:prstGeom>
          <a:solidFill>
            <a:srgbClr val="DCFCE7"/>
          </a:solidFill>
          <a:ln/>
        </p:spPr>
        <p:txBody>
          <a:bodyPr wrap="square" rtlCol="0" anchor="ctr"/>
          <a:lstStyle/>
          <a:p>
            <a:pPr marL="0" indent="0">
              <a:buNone/>
            </a:pPr>
            <a:endParaRPr lang="en-US" dirty="0"/>
          </a:p>
        </p:txBody>
      </p:sp>
      <p:sp>
        <p:nvSpPr>
          <p:cNvPr id="26" name="Text 24"/>
          <p:cNvSpPr/>
          <p:nvPr/>
        </p:nvSpPr>
        <p:spPr>
          <a:xfrm>
            <a:off x="3693765" y="3505051"/>
            <a:ext cx="615568" cy="133350"/>
          </a:xfrm>
          <a:prstGeom prst="rect">
            <a:avLst/>
          </a:prstGeom>
          <a:noFill/>
          <a:ln/>
        </p:spPr>
        <p:txBody>
          <a:bodyPr wrap="square" lIns="0" tIns="0" rIns="0" bIns="0" rtlCol="0" anchor="t"/>
          <a:lstStyle/>
          <a:p>
            <a:pPr marL="0" indent="0" algn="l">
              <a:lnSpc>
                <a:spcPts val="1050"/>
              </a:lnSpc>
              <a:buNone/>
            </a:pPr>
            <a:r>
              <a:rPr lang="en-US" sz="750" dirty="0">
                <a:solidFill>
                  <a:srgbClr val="166534"/>
                </a:solidFill>
                <a:latin typeface="Arial" pitchFamily="34" charset="0"/>
                <a:ea typeface="Arial" pitchFamily="34" charset="-122"/>
                <a:cs typeface="Arial" pitchFamily="34" charset="-120"/>
              </a:rPr>
              <a:t>Local Whisper</a:t>
            </a:r>
            <a:endParaRPr lang="en-US" sz="750" dirty="0"/>
          </a:p>
        </p:txBody>
      </p:sp>
      <p:sp>
        <p:nvSpPr>
          <p:cNvPr id="27" name="Text 25"/>
          <p:cNvSpPr/>
          <p:nvPr/>
        </p:nvSpPr>
        <p:spPr>
          <a:xfrm>
            <a:off x="4468713" y="3438376"/>
            <a:ext cx="17821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28" name="Text 26"/>
          <p:cNvSpPr/>
          <p:nvPr/>
        </p:nvSpPr>
        <p:spPr>
          <a:xfrm>
            <a:off x="4700588" y="3447901"/>
            <a:ext cx="853380" cy="247650"/>
          </a:xfrm>
          <a:prstGeom prst="rect">
            <a:avLst/>
          </a:prstGeom>
          <a:solidFill>
            <a:srgbClr val="FEF3C7"/>
          </a:solidFill>
          <a:ln/>
        </p:spPr>
        <p:txBody>
          <a:bodyPr wrap="square" rtlCol="0" anchor="ctr"/>
          <a:lstStyle/>
          <a:p>
            <a:pPr marL="0" indent="0">
              <a:buNone/>
            </a:pPr>
            <a:endParaRPr lang="en-US" dirty="0"/>
          </a:p>
        </p:txBody>
      </p:sp>
      <p:sp>
        <p:nvSpPr>
          <p:cNvPr id="29" name="Text 27"/>
          <p:cNvSpPr/>
          <p:nvPr/>
        </p:nvSpPr>
        <p:spPr>
          <a:xfrm>
            <a:off x="4814888" y="3505051"/>
            <a:ext cx="637276" cy="133350"/>
          </a:xfrm>
          <a:prstGeom prst="rect">
            <a:avLst/>
          </a:prstGeom>
          <a:noFill/>
          <a:ln/>
        </p:spPr>
        <p:txBody>
          <a:bodyPr wrap="square" lIns="0" tIns="0" rIns="0" bIns="0" rtlCol="0" anchor="t"/>
          <a:lstStyle/>
          <a:p>
            <a:pPr marL="0" indent="0" algn="l">
              <a:lnSpc>
                <a:spcPts val="1050"/>
              </a:lnSpc>
              <a:buNone/>
            </a:pPr>
            <a:r>
              <a:rPr lang="en-US" sz="750" dirty="0">
                <a:solidFill>
                  <a:srgbClr val="92400E"/>
                </a:solidFill>
                <a:latin typeface="Arial" pitchFamily="34" charset="0"/>
                <a:ea typeface="Arial" pitchFamily="34" charset="-122"/>
                <a:cs typeface="Arial" pitchFamily="34" charset="-120"/>
              </a:rPr>
              <a:t>AI Processing*</a:t>
            </a:r>
            <a:endParaRPr lang="en-US" sz="750" dirty="0"/>
          </a:p>
        </p:txBody>
      </p:sp>
      <p:sp>
        <p:nvSpPr>
          <p:cNvPr id="30" name="Text 28"/>
          <p:cNvSpPr/>
          <p:nvPr/>
        </p:nvSpPr>
        <p:spPr>
          <a:xfrm>
            <a:off x="5611118" y="3438376"/>
            <a:ext cx="17821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31" name="Text 29"/>
          <p:cNvSpPr/>
          <p:nvPr/>
        </p:nvSpPr>
        <p:spPr>
          <a:xfrm>
            <a:off x="5842992" y="3447901"/>
            <a:ext cx="710505" cy="247650"/>
          </a:xfrm>
          <a:prstGeom prst="rect">
            <a:avLst/>
          </a:prstGeom>
          <a:solidFill>
            <a:srgbClr val="DCFCE7"/>
          </a:solidFill>
          <a:ln/>
        </p:spPr>
        <p:txBody>
          <a:bodyPr wrap="square" rtlCol="0" anchor="ctr"/>
          <a:lstStyle/>
          <a:p>
            <a:pPr marL="0" indent="0">
              <a:buNone/>
            </a:pPr>
            <a:endParaRPr lang="en-US" dirty="0"/>
          </a:p>
        </p:txBody>
      </p:sp>
      <p:sp>
        <p:nvSpPr>
          <p:cNvPr id="32" name="Text 30"/>
          <p:cNvSpPr/>
          <p:nvPr/>
        </p:nvSpPr>
        <p:spPr>
          <a:xfrm>
            <a:off x="5957292" y="3505051"/>
            <a:ext cx="491544" cy="133350"/>
          </a:xfrm>
          <a:prstGeom prst="rect">
            <a:avLst/>
          </a:prstGeom>
          <a:noFill/>
          <a:ln/>
        </p:spPr>
        <p:txBody>
          <a:bodyPr wrap="square" lIns="0" tIns="0" rIns="0" bIns="0" rtlCol="0" anchor="t"/>
          <a:lstStyle/>
          <a:p>
            <a:pPr marL="0" indent="0" algn="l">
              <a:lnSpc>
                <a:spcPts val="1050"/>
              </a:lnSpc>
              <a:buNone/>
            </a:pPr>
            <a:r>
              <a:rPr lang="en-US" sz="750" dirty="0">
                <a:solidFill>
                  <a:srgbClr val="166534"/>
                </a:solidFill>
                <a:latin typeface="Arial" pitchFamily="34" charset="0"/>
                <a:ea typeface="Arial" pitchFamily="34" charset="-122"/>
                <a:cs typeface="Arial" pitchFamily="34" charset="-120"/>
              </a:rPr>
              <a:t>Local Code</a:t>
            </a:r>
            <a:endParaRPr lang="en-US" sz="750" dirty="0"/>
          </a:p>
        </p:txBody>
      </p:sp>
      <p:sp>
        <p:nvSpPr>
          <p:cNvPr id="33" name="Text 31"/>
          <p:cNvSpPr/>
          <p:nvPr/>
        </p:nvSpPr>
        <p:spPr>
          <a:xfrm>
            <a:off x="462344" y="3800326"/>
            <a:ext cx="8219313" cy="119955"/>
          </a:xfrm>
          <a:prstGeom prst="rect">
            <a:avLst/>
          </a:prstGeom>
          <a:noFill/>
          <a:ln/>
        </p:spPr>
        <p:txBody>
          <a:bodyPr wrap="square" lIns="0" tIns="0" rIns="0" bIns="0" rtlCol="0" anchor="t"/>
          <a:lstStyle/>
          <a:p>
            <a:pPr marL="0" indent="0" algn="ctr">
              <a:lnSpc>
                <a:spcPts val="945"/>
              </a:lnSpc>
              <a:spcBef>
                <a:spcPts val="750"/>
              </a:spcBef>
              <a:buNone/>
            </a:pPr>
            <a:r>
              <a:rPr lang="en-US" sz="675" dirty="0">
                <a:solidFill>
                  <a:srgbClr val="6B7280"/>
                </a:solidFill>
                <a:latin typeface="Arial" pitchFamily="34" charset="0"/>
                <a:ea typeface="Arial" pitchFamily="34" charset="-122"/>
                <a:cs typeface="Arial" pitchFamily="34" charset="-120"/>
              </a:rPr>
              <a:t>*Wispr Flow Privacy Mode = zero retention, but audio still sent to cloud servers</a:t>
            </a:r>
            <a:endParaRPr lang="en-US" sz="675" dirty="0"/>
          </a:p>
        </p:txBody>
      </p:sp>
      <p:sp>
        <p:nvSpPr>
          <p:cNvPr id="34" name="Text 32"/>
          <p:cNvSpPr/>
          <p:nvPr/>
        </p:nvSpPr>
        <p:spPr>
          <a:xfrm>
            <a:off x="381000" y="4348907"/>
            <a:ext cx="8382000" cy="375196"/>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413766" y="4463207"/>
            <a:ext cx="8316468"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Always know where your data flows before including sensitive information</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DC2626"/>
          </a:solidFill>
          <a:ln/>
        </p:spPr>
        <p:txBody>
          <a:bodyPr wrap="square" rtlCol="0" anchor="ctr"/>
          <a:lstStyle/>
          <a:p>
            <a:pPr marL="0" indent="0">
              <a:buNone/>
            </a:pPr>
            <a:endParaRPr lang="en-US" dirty="0"/>
          </a:p>
        </p:txBody>
      </p:sp>
      <p:sp>
        <p:nvSpPr>
          <p:cNvPr id="3" name="Text 1"/>
          <p:cNvSpPr/>
          <p:nvPr/>
        </p:nvSpPr>
        <p:spPr>
          <a:xfrm>
            <a:off x="381000" y="1331714"/>
            <a:ext cx="762000" cy="76200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675829" y="1392734"/>
            <a:ext cx="175638" cy="639961"/>
          </a:xfrm>
          <a:prstGeom prst="rect">
            <a:avLst/>
          </a:prstGeom>
          <a:noFill/>
          <a:ln/>
        </p:spPr>
        <p:txBody>
          <a:bodyPr wrap="square" lIns="0" tIns="0" rIns="0" bIns="0" rtlCol="0" anchor="t"/>
          <a:lstStyle/>
          <a:p>
            <a:pPr marL="0" indent="0" algn="l">
              <a:lnSpc>
                <a:spcPts val="5040"/>
              </a:lnSpc>
              <a:buNone/>
            </a:pPr>
            <a:r>
              <a:rPr lang="en-US" sz="3600" b="1" dirty="0">
                <a:solidFill>
                  <a:srgbClr val="DC2626"/>
                </a:solidFill>
                <a:latin typeface="Georgia" pitchFamily="34" charset="0"/>
                <a:ea typeface="Georgia" pitchFamily="34" charset="-122"/>
                <a:cs typeface="Georgia" pitchFamily="34" charset="-120"/>
              </a:rPr>
              <a:t>!</a:t>
            </a:r>
            <a:endParaRPr lang="en-US" sz="3600" dirty="0"/>
          </a:p>
        </p:txBody>
      </p:sp>
      <p:sp>
        <p:nvSpPr>
          <p:cNvPr id="5" name="Text 3"/>
          <p:cNvSpPr/>
          <p:nvPr/>
        </p:nvSpPr>
        <p:spPr>
          <a:xfrm>
            <a:off x="381000" y="2436614"/>
            <a:ext cx="2487168" cy="319980"/>
          </a:xfrm>
          <a:prstGeom prst="rect">
            <a:avLst/>
          </a:prstGeom>
          <a:noFill/>
          <a:ln/>
        </p:spPr>
        <p:txBody>
          <a:bodyPr wrap="square" lIns="0" tIns="0" rIns="0" bIns="0" rtlCol="0" anchor="t"/>
          <a:lstStyle/>
          <a:p>
            <a:pPr marL="0" indent="0" algn="l">
              <a:lnSpc>
                <a:spcPts val="2520"/>
              </a:lnSpc>
              <a:spcAft>
                <a:spcPts val="1200"/>
              </a:spcAft>
              <a:buNone/>
            </a:pPr>
            <a:r>
              <a:rPr lang="en-US" sz="2100" dirty="0">
                <a:solidFill>
                  <a:srgbClr val="FFFFFF"/>
                </a:solidFill>
                <a:latin typeface="Georgia" pitchFamily="34" charset="0"/>
                <a:ea typeface="Georgia" pitchFamily="34" charset="-122"/>
                <a:cs typeface="Georgia" pitchFamily="34" charset="-120"/>
              </a:rPr>
              <a:t>PHI Handling Guide</a:t>
            </a:r>
            <a:endParaRPr lang="en-US" sz="2100" dirty="0"/>
          </a:p>
        </p:txBody>
      </p:sp>
      <p:sp>
        <p:nvSpPr>
          <p:cNvPr id="6" name="Text 4"/>
          <p:cNvSpPr/>
          <p:nvPr/>
        </p:nvSpPr>
        <p:spPr>
          <a:xfrm>
            <a:off x="381000" y="3061395"/>
            <a:ext cx="457200" cy="19050"/>
          </a:xfrm>
          <a:prstGeom prst="rect">
            <a:avLst/>
          </a:prstGeom>
          <a:solidFill>
            <a:srgbClr val="FFFFFF"/>
          </a:solidFill>
          <a:ln/>
        </p:spPr>
        <p:txBody>
          <a:bodyPr wrap="square" rtlCol="0" anchor="ctr"/>
          <a:lstStyle/>
          <a:p>
            <a:pPr marL="0" indent="0">
              <a:buNone/>
            </a:pPr>
            <a:endParaRPr lang="en-US" dirty="0"/>
          </a:p>
        </p:txBody>
      </p:sp>
      <p:sp>
        <p:nvSpPr>
          <p:cNvPr id="7" name="Text 5"/>
          <p:cNvSpPr/>
          <p:nvPr/>
        </p:nvSpPr>
        <p:spPr>
          <a:xfrm>
            <a:off x="381000" y="3385245"/>
            <a:ext cx="3351392" cy="426541"/>
          </a:xfrm>
          <a:prstGeom prst="rect">
            <a:avLst/>
          </a:prstGeom>
          <a:noFill/>
          <a:ln/>
        </p:spPr>
        <p:txBody>
          <a:bodyPr wrap="square" lIns="0" tIns="0" rIns="0" bIns="0" rtlCol="0" anchor="t"/>
          <a:lstStyle/>
          <a:p>
            <a:pPr marL="0" indent="0" algn="l">
              <a:lnSpc>
                <a:spcPts val="1680"/>
              </a:lnSpc>
              <a:buNone/>
            </a:pPr>
            <a:r>
              <a:rPr lang="en-US" sz="1050" dirty="0">
                <a:solidFill>
                  <a:srgbClr val="FFFFFF">
                    <a:alpha val="90000"/>
                  </a:srgbClr>
                </a:solidFill>
                <a:latin typeface="Arial" pitchFamily="34" charset="0"/>
                <a:ea typeface="Arial" pitchFamily="34" charset="-122"/>
                <a:cs typeface="Arial" pitchFamily="34" charset="-120"/>
              </a:rPr>
              <a:t>Protected Health Information requires special handling. Know your boundaries.</a:t>
            </a:r>
            <a:endParaRPr lang="en-US" sz="1050" dirty="0"/>
          </a:p>
        </p:txBody>
      </p:sp>
      <p:sp>
        <p:nvSpPr>
          <p:cNvPr id="8" name="Text 6"/>
          <p:cNvSpPr/>
          <p:nvPr/>
        </p:nvSpPr>
        <p:spPr>
          <a:xfrm>
            <a:off x="4200079" y="0"/>
            <a:ext cx="4943921" cy="5143500"/>
          </a:xfrm>
          <a:prstGeom prst="rect">
            <a:avLst/>
          </a:prstGeom>
          <a:solidFill>
            <a:srgbClr val="F7F8FA"/>
          </a:solidFill>
          <a:ln/>
        </p:spPr>
        <p:txBody>
          <a:bodyPr wrap="square" rtlCol="0" anchor="ctr"/>
          <a:lstStyle/>
          <a:p>
            <a:pPr marL="0" indent="0">
              <a:buNone/>
            </a:pPr>
            <a:endParaRPr lang="en-US" dirty="0"/>
          </a:p>
        </p:txBody>
      </p:sp>
      <p:sp>
        <p:nvSpPr>
          <p:cNvPr id="9" name="Text 7"/>
          <p:cNvSpPr/>
          <p:nvPr/>
        </p:nvSpPr>
        <p:spPr>
          <a:xfrm>
            <a:off x="4581079" y="404366"/>
            <a:ext cx="4181921" cy="1331119"/>
          </a:xfrm>
          <a:prstGeom prst="rect">
            <a:avLst/>
          </a:prstGeom>
          <a:solidFill>
            <a:srgbClr val="059669"/>
          </a:solidFill>
          <a:ln/>
        </p:spPr>
        <p:txBody>
          <a:bodyPr wrap="square" rtlCol="0" anchor="ctr"/>
          <a:lstStyle/>
          <a:p>
            <a:pPr marL="0" indent="0">
              <a:buNone/>
            </a:pPr>
            <a:endParaRPr lang="en-US" dirty="0"/>
          </a:p>
        </p:txBody>
      </p:sp>
      <p:sp>
        <p:nvSpPr>
          <p:cNvPr id="10" name="Text 8"/>
          <p:cNvSpPr/>
          <p:nvPr/>
        </p:nvSpPr>
        <p:spPr>
          <a:xfrm>
            <a:off x="4733479" y="556766"/>
            <a:ext cx="3954664"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FFFFFF"/>
                </a:solidFill>
                <a:latin typeface="Arial" pitchFamily="34" charset="0"/>
                <a:ea typeface="Arial" pitchFamily="34" charset="-122"/>
                <a:cs typeface="Arial" pitchFamily="34" charset="-120"/>
              </a:rPr>
              <a:t>SAFE FOR PHI</a:t>
            </a:r>
            <a:endParaRPr lang="en-US" sz="975" dirty="0"/>
          </a:p>
        </p:txBody>
      </p:sp>
      <p:sp>
        <p:nvSpPr>
          <p:cNvPr id="11" name="Text 9"/>
          <p:cNvSpPr/>
          <p:nvPr/>
        </p:nvSpPr>
        <p:spPr>
          <a:xfrm>
            <a:off x="4733479" y="806202"/>
            <a:ext cx="3954664"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SuperWhisper with local models (FREE tier works!)</a:t>
            </a:r>
            <a:endParaRPr lang="en-US" sz="900" dirty="0"/>
          </a:p>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Ollama with local models</a:t>
            </a:r>
            <a:endParaRPr lang="en-US" sz="900" dirty="0"/>
          </a:p>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Azure OpenAI with BAA in place*</a:t>
            </a:r>
            <a:endParaRPr lang="en-US" sz="900" dirty="0"/>
          </a:p>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Air-gapped systems</a:t>
            </a:r>
            <a:endParaRPr lang="en-US" sz="900" dirty="0"/>
          </a:p>
        </p:txBody>
      </p:sp>
      <p:sp>
        <p:nvSpPr>
          <p:cNvPr id="12" name="Text 10"/>
          <p:cNvSpPr/>
          <p:nvPr/>
        </p:nvSpPr>
        <p:spPr>
          <a:xfrm>
            <a:off x="4581079" y="1849785"/>
            <a:ext cx="4181921" cy="1331119"/>
          </a:xfrm>
          <a:prstGeom prst="rect">
            <a:avLst/>
          </a:prstGeom>
          <a:solidFill>
            <a:srgbClr val="FEF2F2"/>
          </a:solidFill>
          <a:ln/>
        </p:spPr>
        <p:txBody>
          <a:bodyPr wrap="square" rtlCol="0" anchor="ctr"/>
          <a:lstStyle/>
          <a:p>
            <a:pPr marL="0" indent="0">
              <a:buNone/>
            </a:pPr>
            <a:endParaRPr lang="en-US" dirty="0"/>
          </a:p>
        </p:txBody>
      </p:sp>
      <p:sp>
        <p:nvSpPr>
          <p:cNvPr id="13" name="Shape 11"/>
          <p:cNvSpPr/>
          <p:nvPr/>
        </p:nvSpPr>
        <p:spPr>
          <a:xfrm>
            <a:off x="4600129" y="1849785"/>
            <a:ext cx="0" cy="1331119"/>
          </a:xfrm>
          <a:prstGeom prst="line">
            <a:avLst/>
          </a:prstGeom>
          <a:noFill/>
          <a:ln w="38100">
            <a:solidFill>
              <a:srgbClr val="DC2626"/>
            </a:solidFill>
            <a:prstDash val="solid"/>
          </a:ln>
        </p:spPr>
        <p:txBody>
          <a:bodyPr/>
          <a:lstStyle/>
          <a:p>
            <a:endParaRPr lang="en-US"/>
          </a:p>
        </p:txBody>
      </p:sp>
      <p:sp>
        <p:nvSpPr>
          <p:cNvPr id="14" name="Text 12"/>
          <p:cNvSpPr/>
          <p:nvPr/>
        </p:nvSpPr>
        <p:spPr>
          <a:xfrm>
            <a:off x="4771579" y="2002185"/>
            <a:ext cx="3915802"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991B1B"/>
                </a:solidFill>
                <a:latin typeface="Arial" pitchFamily="34" charset="0"/>
                <a:ea typeface="Arial" pitchFamily="34" charset="-122"/>
                <a:cs typeface="Arial" pitchFamily="34" charset="-120"/>
              </a:rPr>
              <a:t>NOT SAFE FOR PHI (without approval)</a:t>
            </a:r>
            <a:endParaRPr lang="en-US" sz="975" dirty="0"/>
          </a:p>
        </p:txBody>
      </p:sp>
      <p:sp>
        <p:nvSpPr>
          <p:cNvPr id="15" name="Text 13"/>
          <p:cNvSpPr/>
          <p:nvPr/>
        </p:nvSpPr>
        <p:spPr>
          <a:xfrm>
            <a:off x="4771579" y="2251621"/>
            <a:ext cx="3915802" cy="776883"/>
          </a:xfrm>
          <a:prstGeom prst="rect">
            <a:avLst/>
          </a:prstGeom>
          <a:noFill/>
          <a:ln/>
        </p:spPr>
        <p:txBody>
          <a:bodyPr wrap="square" lIns="0" tIns="0" rIns="0" bIns="0" rtlCol="0" anchor="t"/>
          <a:lstStyle/>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Wispr Flow (cloud-based, even with Privacy Mode)</a:t>
            </a:r>
            <a:endParaRPr lang="en-US" sz="900" dirty="0"/>
          </a:p>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Direct OpenAI/Anthropic API calls</a:t>
            </a:r>
            <a:endParaRPr lang="en-US" sz="900" dirty="0"/>
          </a:p>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Consumer AI tools (ChatGPT, Claude.ai free)</a:t>
            </a:r>
            <a:endParaRPr lang="en-US" sz="900" dirty="0"/>
          </a:p>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Default OS cloud dictation</a:t>
            </a:r>
            <a:endParaRPr lang="en-US" sz="900" dirty="0"/>
          </a:p>
        </p:txBody>
      </p:sp>
      <p:sp>
        <p:nvSpPr>
          <p:cNvPr id="16" name="Text 14"/>
          <p:cNvSpPr/>
          <p:nvPr/>
        </p:nvSpPr>
        <p:spPr>
          <a:xfrm>
            <a:off x="4581079" y="3295204"/>
            <a:ext cx="4181921" cy="9161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4743004" y="3457129"/>
            <a:ext cx="3935233"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PHI INCLUDES</a:t>
            </a:r>
            <a:endParaRPr lang="en-US" sz="975" dirty="0"/>
          </a:p>
        </p:txBody>
      </p:sp>
      <p:sp>
        <p:nvSpPr>
          <p:cNvPr id="18" name="Text 16"/>
          <p:cNvSpPr/>
          <p:nvPr/>
        </p:nvSpPr>
        <p:spPr>
          <a:xfrm>
            <a:off x="4743004" y="3706564"/>
            <a:ext cx="3935233" cy="342900"/>
          </a:xfrm>
          <a:prstGeom prst="rect">
            <a:avLst/>
          </a:prstGeom>
          <a:noFill/>
          <a:ln/>
        </p:spPr>
        <p:txBody>
          <a:bodyPr wrap="square" lIns="0" tIns="0" rIns="0" bIns="0" rtlCol="0" anchor="t"/>
          <a:lstStyle/>
          <a:p>
            <a:pPr marL="0" indent="0" algn="l">
              <a:lnSpc>
                <a:spcPts val="1350"/>
              </a:lnSpc>
              <a:buNone/>
            </a:pPr>
            <a:r>
              <a:rPr lang="en-US" sz="900" dirty="0">
                <a:solidFill>
                  <a:srgbClr val="6B7280"/>
                </a:solidFill>
                <a:latin typeface="Arial" pitchFamily="34" charset="0"/>
                <a:ea typeface="Arial" pitchFamily="34" charset="-122"/>
                <a:cs typeface="Arial" pitchFamily="34" charset="-120"/>
              </a:rPr>
              <a:t>Names, dates, addresses, SSN, medical record numbers, health conditions, test results, provider information, any data that could identify a patient</a:t>
            </a:r>
            <a:endParaRPr lang="en-US" sz="900" dirty="0"/>
          </a:p>
        </p:txBody>
      </p:sp>
      <p:sp>
        <p:nvSpPr>
          <p:cNvPr id="19" name="Text 17"/>
          <p:cNvSpPr/>
          <p:nvPr/>
        </p:nvSpPr>
        <p:spPr>
          <a:xfrm>
            <a:off x="4581079" y="4325689"/>
            <a:ext cx="4181921" cy="413296"/>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4675276" y="4459039"/>
            <a:ext cx="3993526"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*Always verify BAA status with your compliance team before use</a:t>
            </a:r>
            <a:endParaRPr lang="en-US" sz="8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CHECKLIST</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Before Using AI Tools</a:t>
            </a:r>
            <a:endParaRPr lang="en-US" sz="2400" dirty="0"/>
          </a:p>
        </p:txBody>
      </p:sp>
      <p:sp>
        <p:nvSpPr>
          <p:cNvPr id="4" name="Text 2"/>
          <p:cNvSpPr/>
          <p:nvPr/>
        </p:nvSpPr>
        <p:spPr>
          <a:xfrm>
            <a:off x="457200" y="1545878"/>
            <a:ext cx="2808536" cy="28841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5" name="Text 3"/>
          <p:cNvSpPr/>
          <p:nvPr/>
        </p:nvSpPr>
        <p:spPr>
          <a:xfrm>
            <a:off x="657225" y="1745903"/>
            <a:ext cx="2456655" cy="159990"/>
          </a:xfrm>
          <a:prstGeom prst="rect">
            <a:avLst/>
          </a:prstGeom>
          <a:noFill/>
          <a:ln/>
        </p:spPr>
        <p:txBody>
          <a:bodyPr wrap="square" lIns="0" tIns="0" rIns="0" bIns="0" rtlCol="0" anchor="t"/>
          <a:lstStyle/>
          <a:p>
            <a:pPr marL="0" indent="0" algn="l">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INITIAL SETUP</a:t>
            </a:r>
            <a:endParaRPr lang="en-US" sz="900" dirty="0"/>
          </a:p>
        </p:txBody>
      </p:sp>
      <p:sp>
        <p:nvSpPr>
          <p:cNvPr id="6" name="Text 4"/>
          <p:cNvSpPr/>
          <p:nvPr/>
        </p:nvSpPr>
        <p:spPr>
          <a:xfrm>
            <a:off x="657225" y="22106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7" name="Text 5"/>
          <p:cNvSpPr/>
          <p:nvPr/>
        </p:nvSpPr>
        <p:spPr>
          <a:xfrm>
            <a:off x="942975" y="2225873"/>
            <a:ext cx="1380360"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Verified tool is IT-approved</a:t>
            </a:r>
            <a:endParaRPr lang="en-US" sz="900" dirty="0"/>
          </a:p>
        </p:txBody>
      </p:sp>
      <p:sp>
        <p:nvSpPr>
          <p:cNvPr id="8" name="Text 6"/>
          <p:cNvSpPr/>
          <p:nvPr/>
        </p:nvSpPr>
        <p:spPr>
          <a:xfrm>
            <a:off x="657225" y="26678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9" name="Text 7"/>
          <p:cNvSpPr/>
          <p:nvPr/>
        </p:nvSpPr>
        <p:spPr>
          <a:xfrm>
            <a:off x="942975" y="2683073"/>
            <a:ext cx="1911676"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Understand data flow (local vs cloud)</a:t>
            </a:r>
            <a:endParaRPr lang="en-US" sz="900" dirty="0"/>
          </a:p>
        </p:txBody>
      </p:sp>
      <p:sp>
        <p:nvSpPr>
          <p:cNvPr id="10" name="Text 8"/>
          <p:cNvSpPr/>
          <p:nvPr/>
        </p:nvSpPr>
        <p:spPr>
          <a:xfrm>
            <a:off x="657225" y="31250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11" name="Text 9"/>
          <p:cNvSpPr/>
          <p:nvPr/>
        </p:nvSpPr>
        <p:spPr>
          <a:xfrm>
            <a:off x="942975" y="3140273"/>
            <a:ext cx="1833649"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API keys stored securely (env vars)</a:t>
            </a:r>
            <a:endParaRPr lang="en-US" sz="900" dirty="0"/>
          </a:p>
        </p:txBody>
      </p:sp>
      <p:sp>
        <p:nvSpPr>
          <p:cNvPr id="12" name="Text 10"/>
          <p:cNvSpPr/>
          <p:nvPr/>
        </p:nvSpPr>
        <p:spPr>
          <a:xfrm>
            <a:off x="657225" y="35822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13" name="Text 11"/>
          <p:cNvSpPr/>
          <p:nvPr/>
        </p:nvSpPr>
        <p:spPr>
          <a:xfrm>
            <a:off x="942975" y="3597473"/>
            <a:ext cx="1393567"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Local transcription enabled</a:t>
            </a:r>
            <a:endParaRPr lang="en-US" sz="900" dirty="0"/>
          </a:p>
        </p:txBody>
      </p:sp>
      <p:sp>
        <p:nvSpPr>
          <p:cNvPr id="14" name="Text 12"/>
          <p:cNvSpPr/>
          <p:nvPr/>
        </p:nvSpPr>
        <p:spPr>
          <a:xfrm>
            <a:off x="657225" y="40394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15" name="Text 13"/>
          <p:cNvSpPr/>
          <p:nvPr/>
        </p:nvSpPr>
        <p:spPr>
          <a:xfrm>
            <a:off x="942975" y="4054673"/>
            <a:ext cx="163964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Know escalation path for issues</a:t>
            </a:r>
            <a:endParaRPr lang="en-US" sz="900" dirty="0"/>
          </a:p>
        </p:txBody>
      </p:sp>
      <p:sp>
        <p:nvSpPr>
          <p:cNvPr id="16" name="Text 14"/>
          <p:cNvSpPr/>
          <p:nvPr/>
        </p:nvSpPr>
        <p:spPr>
          <a:xfrm>
            <a:off x="3418136" y="1545878"/>
            <a:ext cx="2808536" cy="28841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3618161" y="1745903"/>
            <a:ext cx="2456655" cy="159990"/>
          </a:xfrm>
          <a:prstGeom prst="rect">
            <a:avLst/>
          </a:prstGeom>
          <a:noFill/>
          <a:ln/>
        </p:spPr>
        <p:txBody>
          <a:bodyPr wrap="square" lIns="0" tIns="0" rIns="0" bIns="0" rtlCol="0" anchor="t"/>
          <a:lstStyle/>
          <a:p>
            <a:pPr marL="0" indent="0" algn="l">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BEFORE EACH USE</a:t>
            </a:r>
            <a:endParaRPr lang="en-US" sz="900" dirty="0"/>
          </a:p>
        </p:txBody>
      </p:sp>
      <p:sp>
        <p:nvSpPr>
          <p:cNvPr id="18" name="Text 16"/>
          <p:cNvSpPr/>
          <p:nvPr/>
        </p:nvSpPr>
        <p:spPr>
          <a:xfrm>
            <a:off x="3618161" y="22106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19" name="Text 17"/>
          <p:cNvSpPr/>
          <p:nvPr/>
        </p:nvSpPr>
        <p:spPr>
          <a:xfrm>
            <a:off x="3903911" y="2225873"/>
            <a:ext cx="1367457"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Does prompt contain PHI?</a:t>
            </a:r>
            <a:endParaRPr lang="en-US" sz="900" dirty="0"/>
          </a:p>
        </p:txBody>
      </p:sp>
      <p:sp>
        <p:nvSpPr>
          <p:cNvPr id="20" name="Text 18"/>
          <p:cNvSpPr/>
          <p:nvPr/>
        </p:nvSpPr>
        <p:spPr>
          <a:xfrm>
            <a:off x="3618161" y="26678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1" name="Text 19"/>
          <p:cNvSpPr/>
          <p:nvPr/>
        </p:nvSpPr>
        <p:spPr>
          <a:xfrm>
            <a:off x="3903911" y="2683073"/>
            <a:ext cx="145201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Is the endpoint appropriate?</a:t>
            </a:r>
            <a:endParaRPr lang="en-US" sz="900" dirty="0"/>
          </a:p>
        </p:txBody>
      </p:sp>
      <p:sp>
        <p:nvSpPr>
          <p:cNvPr id="22" name="Text 20"/>
          <p:cNvSpPr/>
          <p:nvPr/>
        </p:nvSpPr>
        <p:spPr>
          <a:xfrm>
            <a:off x="3618161" y="31250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3" name="Text 21"/>
          <p:cNvSpPr/>
          <p:nvPr/>
        </p:nvSpPr>
        <p:spPr>
          <a:xfrm>
            <a:off x="3903911" y="3140273"/>
            <a:ext cx="127030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Any credentials in code?</a:t>
            </a:r>
            <a:endParaRPr lang="en-US" sz="900" dirty="0"/>
          </a:p>
        </p:txBody>
      </p:sp>
      <p:sp>
        <p:nvSpPr>
          <p:cNvPr id="24" name="Text 22"/>
          <p:cNvSpPr/>
          <p:nvPr/>
        </p:nvSpPr>
        <p:spPr>
          <a:xfrm>
            <a:off x="3618161" y="35822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5" name="Text 23"/>
          <p:cNvSpPr/>
          <p:nvPr/>
        </p:nvSpPr>
        <p:spPr>
          <a:xfrm>
            <a:off x="3903911" y="3597473"/>
            <a:ext cx="183395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Review AI output before committing</a:t>
            </a:r>
            <a:endParaRPr lang="en-US" sz="900" dirty="0"/>
          </a:p>
        </p:txBody>
      </p:sp>
      <p:sp>
        <p:nvSpPr>
          <p:cNvPr id="26" name="Text 24"/>
          <p:cNvSpPr/>
          <p:nvPr/>
        </p:nvSpPr>
        <p:spPr>
          <a:xfrm>
            <a:off x="3618161" y="40394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7" name="Text 25"/>
          <p:cNvSpPr/>
          <p:nvPr/>
        </p:nvSpPr>
        <p:spPr>
          <a:xfrm>
            <a:off x="3903911" y="4054673"/>
            <a:ext cx="1633418"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Test generated code thoroughly</a:t>
            </a:r>
            <a:endParaRPr lang="en-US" sz="900" dirty="0"/>
          </a:p>
        </p:txBody>
      </p:sp>
      <p:sp>
        <p:nvSpPr>
          <p:cNvPr id="28" name="Text 26"/>
          <p:cNvSpPr/>
          <p:nvPr/>
        </p:nvSpPr>
        <p:spPr>
          <a:xfrm>
            <a:off x="6379071" y="1403152"/>
            <a:ext cx="2307729" cy="3169444"/>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6569571" y="1593652"/>
            <a:ext cx="1965263" cy="159990"/>
          </a:xfrm>
          <a:prstGeom prst="rect">
            <a:avLst/>
          </a:prstGeom>
          <a:noFill/>
          <a:ln/>
        </p:spPr>
        <p:txBody>
          <a:bodyPr wrap="square" lIns="0" tIns="0" rIns="0" bIns="0" rtlCol="0" anchor="t"/>
          <a:lstStyle/>
          <a:p>
            <a:pPr marL="0" indent="0" algn="l">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RESOURCES</a:t>
            </a:r>
            <a:endParaRPr lang="en-US" sz="900" dirty="0"/>
          </a:p>
        </p:txBody>
      </p:sp>
      <p:sp>
        <p:nvSpPr>
          <p:cNvPr id="30" name="Text 28"/>
          <p:cNvSpPr/>
          <p:nvPr/>
        </p:nvSpPr>
        <p:spPr>
          <a:xfrm>
            <a:off x="6569571" y="2058442"/>
            <a:ext cx="196526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Questions?</a:t>
            </a:r>
            <a:endParaRPr lang="en-US" sz="900" dirty="0"/>
          </a:p>
        </p:txBody>
      </p:sp>
      <p:sp>
        <p:nvSpPr>
          <p:cNvPr id="31" name="Text 29"/>
          <p:cNvSpPr/>
          <p:nvPr/>
        </p:nvSpPr>
        <p:spPr>
          <a:xfrm>
            <a:off x="6569571" y="2256532"/>
            <a:ext cx="1965263"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Contact IT Security</a:t>
            </a:r>
            <a:endParaRPr lang="en-US" sz="825" dirty="0"/>
          </a:p>
        </p:txBody>
      </p:sp>
      <p:sp>
        <p:nvSpPr>
          <p:cNvPr id="32" name="Text 30"/>
          <p:cNvSpPr/>
          <p:nvPr/>
        </p:nvSpPr>
        <p:spPr>
          <a:xfrm>
            <a:off x="6569571" y="2707928"/>
            <a:ext cx="196526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PHI Incident?</a:t>
            </a:r>
            <a:endParaRPr lang="en-US" sz="900" dirty="0"/>
          </a:p>
        </p:txBody>
      </p:sp>
      <p:sp>
        <p:nvSpPr>
          <p:cNvPr id="33" name="Text 31"/>
          <p:cNvSpPr/>
          <p:nvPr/>
        </p:nvSpPr>
        <p:spPr>
          <a:xfrm>
            <a:off x="6569571" y="2906018"/>
            <a:ext cx="1965263"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Report immediately to Privacy Officer</a:t>
            </a:r>
            <a:endParaRPr lang="en-US" sz="825" dirty="0"/>
          </a:p>
        </p:txBody>
      </p:sp>
      <p:sp>
        <p:nvSpPr>
          <p:cNvPr id="34" name="Text 32"/>
          <p:cNvSpPr/>
          <p:nvPr/>
        </p:nvSpPr>
        <p:spPr>
          <a:xfrm>
            <a:off x="6569571" y="3357414"/>
            <a:ext cx="196526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New Tool Request?</a:t>
            </a:r>
            <a:endParaRPr lang="en-US" sz="900" dirty="0"/>
          </a:p>
        </p:txBody>
      </p:sp>
      <p:sp>
        <p:nvSpPr>
          <p:cNvPr id="35" name="Text 33"/>
          <p:cNvSpPr/>
          <p:nvPr/>
        </p:nvSpPr>
        <p:spPr>
          <a:xfrm>
            <a:off x="6569571" y="3555504"/>
            <a:ext cx="1965263"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Submit through IT approval process</a:t>
            </a:r>
            <a:endParaRPr lang="en-US" sz="825" dirty="0"/>
          </a:p>
        </p:txBody>
      </p:sp>
      <p:sp>
        <p:nvSpPr>
          <p:cNvPr id="36" name="Text 34"/>
          <p:cNvSpPr/>
          <p:nvPr/>
        </p:nvSpPr>
        <p:spPr>
          <a:xfrm>
            <a:off x="6569571" y="4006900"/>
            <a:ext cx="1926729" cy="375196"/>
          </a:xfrm>
          <a:prstGeom prst="rect">
            <a:avLst/>
          </a:prstGeom>
          <a:solidFill>
            <a:srgbClr val="252B3D"/>
          </a:solidFill>
          <a:ln/>
        </p:spPr>
        <p:txBody>
          <a:bodyPr wrap="square" rtlCol="0" anchor="ctr"/>
          <a:lstStyle/>
          <a:p>
            <a:pPr marL="0" indent="0">
              <a:buNone/>
            </a:pPr>
            <a:endParaRPr lang="en-US" dirty="0"/>
          </a:p>
        </p:txBody>
      </p:sp>
      <p:sp>
        <p:nvSpPr>
          <p:cNvPr id="37" name="Text 35"/>
          <p:cNvSpPr/>
          <p:nvPr/>
        </p:nvSpPr>
        <p:spPr>
          <a:xfrm>
            <a:off x="6666890" y="4121200"/>
            <a:ext cx="1732091"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Security is everyone's responsibility</a:t>
            </a:r>
            <a:endParaRPr lang="en-US" sz="8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49479" y="905917"/>
            <a:ext cx="2644893" cy="159990"/>
          </a:xfrm>
          <a:prstGeom prst="rect">
            <a:avLst/>
          </a:prstGeom>
          <a:noFill/>
          <a:ln/>
        </p:spPr>
        <p:txBody>
          <a:bodyPr wrap="square" lIns="0" tIns="0" rIns="0" bIns="0" rtlCol="0" anchor="t"/>
          <a:lstStyle/>
          <a:p>
            <a:pPr marL="0" indent="0" algn="ctr">
              <a:lnSpc>
                <a:spcPts val="1260"/>
              </a:lnSpc>
              <a:spcAft>
                <a:spcPts val="1800"/>
              </a:spcAft>
              <a:buNone/>
            </a:pPr>
            <a:r>
              <a:rPr lang="en-US" sz="900" dirty="0">
                <a:solidFill>
                  <a:srgbClr val="C9A227"/>
                </a:solidFill>
                <a:latin typeface="Arial" pitchFamily="34" charset="0"/>
                <a:ea typeface="Arial" pitchFamily="34" charset="-122"/>
                <a:cs typeface="Arial" pitchFamily="34" charset="-120"/>
              </a:rPr>
              <a:t>PART 3 • HANDS-ON SECTION</a:t>
            </a:r>
            <a:endParaRPr lang="en-US" sz="900" dirty="0"/>
          </a:p>
        </p:txBody>
      </p:sp>
      <p:sp>
        <p:nvSpPr>
          <p:cNvPr id="3" name="Text 1"/>
          <p:cNvSpPr/>
          <p:nvPr/>
        </p:nvSpPr>
        <p:spPr>
          <a:xfrm>
            <a:off x="1758148" y="1446907"/>
            <a:ext cx="5627703" cy="495300"/>
          </a:xfrm>
          <a:prstGeom prst="rect">
            <a:avLst/>
          </a:prstGeom>
          <a:noFill/>
          <a:ln/>
        </p:spPr>
        <p:txBody>
          <a:bodyPr wrap="square" lIns="0" tIns="0" rIns="0" bIns="0" rtlCol="0" anchor="t"/>
          <a:lstStyle/>
          <a:p>
            <a:pPr marL="0" indent="0" algn="ctr">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SuperWhisper Deep Dive</a:t>
            </a:r>
            <a:endParaRPr lang="en-US" sz="3900" dirty="0"/>
          </a:p>
        </p:txBody>
      </p:sp>
      <p:sp>
        <p:nvSpPr>
          <p:cNvPr id="4" name="Text 2"/>
          <p:cNvSpPr/>
          <p:nvPr/>
        </p:nvSpPr>
        <p:spPr>
          <a:xfrm>
            <a:off x="4191000" y="2247007"/>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1657350" y="2656582"/>
            <a:ext cx="5829300" cy="487561"/>
          </a:xfrm>
          <a:prstGeom prst="rect">
            <a:avLst/>
          </a:prstGeom>
          <a:noFill/>
          <a:ln/>
        </p:spPr>
        <p:txBody>
          <a:bodyPr wrap="square" lIns="0" tIns="0" rIns="0" bIns="0" rtlCol="0" anchor="t"/>
          <a:lstStyle/>
          <a:p>
            <a:pPr marL="0" indent="0" algn="ctr">
              <a:lnSpc>
                <a:spcPts val="1920"/>
              </a:lnSpc>
              <a:spcAft>
                <a:spcPts val="2400"/>
              </a:spcAft>
              <a:buNone/>
            </a:pPr>
            <a:r>
              <a:rPr lang="en-US" sz="1200" dirty="0">
                <a:solidFill>
                  <a:srgbClr val="FFFFFF">
                    <a:alpha val="70000"/>
                  </a:srgbClr>
                </a:solidFill>
                <a:latin typeface="Arial" pitchFamily="34" charset="0"/>
                <a:ea typeface="Arial" pitchFamily="34" charset="-122"/>
                <a:cs typeface="Arial" pitchFamily="34" charset="-120"/>
              </a:rPr>
              <a:t>Configure SuperWhisper for your specific workflow. We'll walk through setup, custom modes, and optimization together.</a:t>
            </a:r>
            <a:endParaRPr lang="en-US" sz="1200" dirty="0"/>
          </a:p>
        </p:txBody>
      </p:sp>
      <p:sp>
        <p:nvSpPr>
          <p:cNvPr id="6" name="Text 4"/>
          <p:cNvSpPr/>
          <p:nvPr/>
        </p:nvSpPr>
        <p:spPr>
          <a:xfrm>
            <a:off x="2454622" y="3753743"/>
            <a:ext cx="1073646" cy="48384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2686773" y="3915668"/>
            <a:ext cx="609344" cy="159990"/>
          </a:xfrm>
          <a:prstGeom prst="rect">
            <a:avLst/>
          </a:prstGeom>
          <a:noFill/>
          <a:ln/>
        </p:spPr>
        <p:txBody>
          <a:bodyPr wrap="square" lIns="0" tIns="0" rIns="0" bIns="0" rtlCol="0" anchor="t"/>
          <a:lstStyle/>
          <a:p>
            <a:pPr marL="0" indent="0" algn="ctr">
              <a:lnSpc>
                <a:spcPts val="1260"/>
              </a:lnSpc>
              <a:buNone/>
            </a:pPr>
            <a:r>
              <a:rPr lang="en-US" sz="900" dirty="0">
                <a:solidFill>
                  <a:srgbClr val="C9A227"/>
                </a:solidFill>
                <a:latin typeface="Arial" pitchFamily="34" charset="0"/>
                <a:ea typeface="Arial" pitchFamily="34" charset="-122"/>
                <a:cs typeface="Arial" pitchFamily="34" charset="-120"/>
              </a:rPr>
              <a:t>Initial Setup</a:t>
            </a:r>
            <a:endParaRPr lang="en-US" sz="900" dirty="0"/>
          </a:p>
        </p:txBody>
      </p:sp>
      <p:sp>
        <p:nvSpPr>
          <p:cNvPr id="8" name="Text 6"/>
          <p:cNvSpPr/>
          <p:nvPr/>
        </p:nvSpPr>
        <p:spPr>
          <a:xfrm>
            <a:off x="3756868" y="3753743"/>
            <a:ext cx="1244947" cy="48384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9" name="Text 7"/>
          <p:cNvSpPr/>
          <p:nvPr/>
        </p:nvSpPr>
        <p:spPr>
          <a:xfrm>
            <a:off x="3987306" y="3915668"/>
            <a:ext cx="784071" cy="159990"/>
          </a:xfrm>
          <a:prstGeom prst="rect">
            <a:avLst/>
          </a:prstGeom>
          <a:noFill/>
          <a:ln/>
        </p:spPr>
        <p:txBody>
          <a:bodyPr wrap="square" lIns="0" tIns="0" rIns="0" bIns="0" rtlCol="0" anchor="t"/>
          <a:lstStyle/>
          <a:p>
            <a:pPr marL="0" indent="0" algn="ctr">
              <a:lnSpc>
                <a:spcPts val="1260"/>
              </a:lnSpc>
              <a:buNone/>
            </a:pPr>
            <a:r>
              <a:rPr lang="en-US" sz="900" dirty="0">
                <a:solidFill>
                  <a:srgbClr val="C9A227"/>
                </a:solidFill>
                <a:latin typeface="Arial" pitchFamily="34" charset="0"/>
                <a:ea typeface="Arial" pitchFamily="34" charset="-122"/>
                <a:cs typeface="Arial" pitchFamily="34" charset="-120"/>
              </a:rPr>
              <a:t>Custom Modes</a:t>
            </a:r>
            <a:endParaRPr lang="en-US" sz="900" dirty="0"/>
          </a:p>
        </p:txBody>
      </p:sp>
      <p:sp>
        <p:nvSpPr>
          <p:cNvPr id="10" name="Text 8"/>
          <p:cNvSpPr/>
          <p:nvPr/>
        </p:nvSpPr>
        <p:spPr>
          <a:xfrm>
            <a:off x="5230416" y="3753743"/>
            <a:ext cx="1458962" cy="48384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11" name="Text 9"/>
          <p:cNvSpPr/>
          <p:nvPr/>
        </p:nvSpPr>
        <p:spPr>
          <a:xfrm>
            <a:off x="5458714" y="3915668"/>
            <a:ext cx="1002366" cy="159990"/>
          </a:xfrm>
          <a:prstGeom prst="rect">
            <a:avLst/>
          </a:prstGeom>
          <a:noFill/>
          <a:ln/>
        </p:spPr>
        <p:txBody>
          <a:bodyPr wrap="square" lIns="0" tIns="0" rIns="0" bIns="0" rtlCol="0" anchor="t"/>
          <a:lstStyle/>
          <a:p>
            <a:pPr marL="0" indent="0" algn="ctr">
              <a:lnSpc>
                <a:spcPts val="1260"/>
              </a:lnSpc>
              <a:buNone/>
            </a:pPr>
            <a:r>
              <a:rPr lang="en-US" sz="900" dirty="0">
                <a:solidFill>
                  <a:srgbClr val="C9A227"/>
                </a:solidFill>
                <a:latin typeface="Arial" pitchFamily="34" charset="0"/>
                <a:ea typeface="Arial" pitchFamily="34" charset="-122"/>
                <a:cs typeface="Arial" pitchFamily="34" charset="-120"/>
              </a:rPr>
              <a:t>Context Awareness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HANDS-ON</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Initial Setup Walkthrough</a:t>
            </a:r>
            <a:endParaRPr lang="en-US" sz="2100" dirty="0"/>
          </a:p>
        </p:txBody>
      </p:sp>
      <p:sp>
        <p:nvSpPr>
          <p:cNvPr id="4" name="Text 2"/>
          <p:cNvSpPr/>
          <p:nvPr/>
        </p:nvSpPr>
        <p:spPr>
          <a:xfrm>
            <a:off x="381000" y="1409700"/>
            <a:ext cx="4505325" cy="5600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5" name="Text 3"/>
          <p:cNvSpPr/>
          <p:nvPr/>
        </p:nvSpPr>
        <p:spPr>
          <a:xfrm>
            <a:off x="542925" y="1556296"/>
            <a:ext cx="266700" cy="266700"/>
          </a:xfrm>
          <a:prstGeom prst="rect">
            <a:avLst/>
          </a:prstGeom>
          <a:solidFill>
            <a:srgbClr val="059669"/>
          </a:solidFill>
          <a:ln/>
        </p:spPr>
        <p:txBody>
          <a:bodyPr wrap="square" rtlCol="0" anchor="ctr"/>
          <a:lstStyle/>
          <a:p>
            <a:pPr marL="0" indent="0">
              <a:buNone/>
            </a:pPr>
            <a:endParaRPr lang="en-US" dirty="0"/>
          </a:p>
        </p:txBody>
      </p:sp>
      <p:sp>
        <p:nvSpPr>
          <p:cNvPr id="6" name="Text 4"/>
          <p:cNvSpPr/>
          <p:nvPr/>
        </p:nvSpPr>
        <p:spPr>
          <a:xfrm>
            <a:off x="644426" y="1609576"/>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5"/>
          <p:cNvSpPr/>
          <p:nvPr/>
        </p:nvSpPr>
        <p:spPr>
          <a:xfrm>
            <a:off x="1076325" y="1533525"/>
            <a:ext cx="1941278"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First Launch - Grant Permissions</a:t>
            </a:r>
            <a:endParaRPr lang="en-US" sz="900" dirty="0"/>
          </a:p>
        </p:txBody>
      </p:sp>
      <p:sp>
        <p:nvSpPr>
          <p:cNvPr id="8" name="Text 6"/>
          <p:cNvSpPr/>
          <p:nvPr/>
        </p:nvSpPr>
        <p:spPr>
          <a:xfrm>
            <a:off x="1076325" y="1712565"/>
            <a:ext cx="1941278"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Microphone access + Accessibility (for paste)</a:t>
            </a:r>
            <a:endParaRPr lang="en-US" sz="750" dirty="0"/>
          </a:p>
        </p:txBody>
      </p:sp>
      <p:sp>
        <p:nvSpPr>
          <p:cNvPr id="9" name="Text 7"/>
          <p:cNvSpPr/>
          <p:nvPr/>
        </p:nvSpPr>
        <p:spPr>
          <a:xfrm>
            <a:off x="381000" y="2045940"/>
            <a:ext cx="4505325" cy="5600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0" name="Text 8"/>
          <p:cNvSpPr/>
          <p:nvPr/>
        </p:nvSpPr>
        <p:spPr>
          <a:xfrm>
            <a:off x="542925" y="2192536"/>
            <a:ext cx="266700" cy="266700"/>
          </a:xfrm>
          <a:prstGeom prst="rect">
            <a:avLst/>
          </a:prstGeom>
          <a:solidFill>
            <a:srgbClr val="059669"/>
          </a:solidFill>
          <a:ln/>
        </p:spPr>
        <p:txBody>
          <a:bodyPr wrap="square" rtlCol="0" anchor="ctr"/>
          <a:lstStyle/>
          <a:p>
            <a:pPr marL="0" indent="0">
              <a:buNone/>
            </a:pPr>
            <a:endParaRPr lang="en-US" dirty="0"/>
          </a:p>
        </p:txBody>
      </p:sp>
      <p:sp>
        <p:nvSpPr>
          <p:cNvPr id="11" name="Text 9"/>
          <p:cNvSpPr/>
          <p:nvPr/>
        </p:nvSpPr>
        <p:spPr>
          <a:xfrm>
            <a:off x="644426" y="2245816"/>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2" name="Text 10"/>
          <p:cNvSpPr/>
          <p:nvPr/>
        </p:nvSpPr>
        <p:spPr>
          <a:xfrm>
            <a:off x="1076325" y="2169765"/>
            <a:ext cx="1910310"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Select Your Default Model</a:t>
            </a:r>
            <a:endParaRPr lang="en-US" sz="900" dirty="0"/>
          </a:p>
        </p:txBody>
      </p:sp>
      <p:sp>
        <p:nvSpPr>
          <p:cNvPr id="13" name="Text 11"/>
          <p:cNvSpPr/>
          <p:nvPr/>
        </p:nvSpPr>
        <p:spPr>
          <a:xfrm>
            <a:off x="1076325" y="2348805"/>
            <a:ext cx="1910310"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Start with "Fast" for quick testing (local, free)</a:t>
            </a:r>
            <a:endParaRPr lang="en-US" sz="750" dirty="0"/>
          </a:p>
        </p:txBody>
      </p:sp>
      <p:sp>
        <p:nvSpPr>
          <p:cNvPr id="14" name="Text 12"/>
          <p:cNvSpPr/>
          <p:nvPr/>
        </p:nvSpPr>
        <p:spPr>
          <a:xfrm>
            <a:off x="381000" y="2682180"/>
            <a:ext cx="4505325" cy="5600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5" name="Text 13"/>
          <p:cNvSpPr/>
          <p:nvPr/>
        </p:nvSpPr>
        <p:spPr>
          <a:xfrm>
            <a:off x="542925" y="2828776"/>
            <a:ext cx="266700" cy="266700"/>
          </a:xfrm>
          <a:prstGeom prst="rect">
            <a:avLst/>
          </a:prstGeom>
          <a:solidFill>
            <a:srgbClr val="059669"/>
          </a:solidFill>
          <a:ln/>
        </p:spPr>
        <p:txBody>
          <a:bodyPr wrap="square" rtlCol="0" anchor="ctr"/>
          <a:lstStyle/>
          <a:p>
            <a:pPr marL="0" indent="0">
              <a:buNone/>
            </a:pPr>
            <a:endParaRPr lang="en-US" dirty="0"/>
          </a:p>
        </p:txBody>
      </p:sp>
      <p:sp>
        <p:nvSpPr>
          <p:cNvPr id="16" name="Text 14"/>
          <p:cNvSpPr/>
          <p:nvPr/>
        </p:nvSpPr>
        <p:spPr>
          <a:xfrm>
            <a:off x="644426" y="288205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7" name="Text 15"/>
          <p:cNvSpPr/>
          <p:nvPr/>
        </p:nvSpPr>
        <p:spPr>
          <a:xfrm>
            <a:off x="1076325" y="2806005"/>
            <a:ext cx="2095208"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Configure Recording Hotkey</a:t>
            </a:r>
            <a:endParaRPr lang="en-US" sz="900" dirty="0"/>
          </a:p>
        </p:txBody>
      </p:sp>
      <p:sp>
        <p:nvSpPr>
          <p:cNvPr id="18" name="Text 16"/>
          <p:cNvSpPr/>
          <p:nvPr/>
        </p:nvSpPr>
        <p:spPr>
          <a:xfrm>
            <a:off x="1076325" y="2985046"/>
            <a:ext cx="2095208"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Default: Option+Space (Mac) or Alt+Space (Win)</a:t>
            </a:r>
            <a:endParaRPr lang="en-US" sz="750" dirty="0"/>
          </a:p>
        </p:txBody>
      </p:sp>
      <p:sp>
        <p:nvSpPr>
          <p:cNvPr id="19" name="Text 17"/>
          <p:cNvSpPr/>
          <p:nvPr/>
        </p:nvSpPr>
        <p:spPr>
          <a:xfrm>
            <a:off x="381000" y="3318421"/>
            <a:ext cx="4505325" cy="5600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0" name="Text 18"/>
          <p:cNvSpPr/>
          <p:nvPr/>
        </p:nvSpPr>
        <p:spPr>
          <a:xfrm>
            <a:off x="542925" y="3465016"/>
            <a:ext cx="266700" cy="266700"/>
          </a:xfrm>
          <a:prstGeom prst="rect">
            <a:avLst/>
          </a:prstGeom>
          <a:solidFill>
            <a:srgbClr val="059669"/>
          </a:solidFill>
          <a:ln/>
        </p:spPr>
        <p:txBody>
          <a:bodyPr wrap="square" rtlCol="0" anchor="ctr"/>
          <a:lstStyle/>
          <a:p>
            <a:pPr marL="0" indent="0">
              <a:buNone/>
            </a:pPr>
            <a:endParaRPr lang="en-US" dirty="0"/>
          </a:p>
        </p:txBody>
      </p:sp>
      <p:sp>
        <p:nvSpPr>
          <p:cNvPr id="21" name="Text 19"/>
          <p:cNvSpPr/>
          <p:nvPr/>
        </p:nvSpPr>
        <p:spPr>
          <a:xfrm>
            <a:off x="644426" y="351829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2" name="Text 20"/>
          <p:cNvSpPr/>
          <p:nvPr/>
        </p:nvSpPr>
        <p:spPr>
          <a:xfrm>
            <a:off x="1076325" y="3442246"/>
            <a:ext cx="2039800"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Test Your First Dictation</a:t>
            </a:r>
            <a:endParaRPr lang="en-US" sz="900" dirty="0"/>
          </a:p>
        </p:txBody>
      </p:sp>
      <p:sp>
        <p:nvSpPr>
          <p:cNvPr id="23" name="Text 21"/>
          <p:cNvSpPr/>
          <p:nvPr/>
        </p:nvSpPr>
        <p:spPr>
          <a:xfrm>
            <a:off x="1076325" y="3621286"/>
            <a:ext cx="2039800"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Open any text field, hold hotkey, speak, release</a:t>
            </a:r>
            <a:endParaRPr lang="en-US" sz="750" dirty="0"/>
          </a:p>
        </p:txBody>
      </p:sp>
      <p:sp>
        <p:nvSpPr>
          <p:cNvPr id="24" name="Text 22"/>
          <p:cNvSpPr/>
          <p:nvPr/>
        </p:nvSpPr>
        <p:spPr>
          <a:xfrm>
            <a:off x="381000" y="3954661"/>
            <a:ext cx="4505325" cy="540990"/>
          </a:xfrm>
          <a:prstGeom prst="rect">
            <a:avLst/>
          </a:prstGeom>
          <a:solidFill>
            <a:srgbClr val="C9A227"/>
          </a:solidFill>
          <a:ln/>
        </p:spPr>
        <p:txBody>
          <a:bodyPr wrap="square" rtlCol="0" anchor="ctr"/>
          <a:lstStyle/>
          <a:p>
            <a:pPr marL="0" indent="0">
              <a:buNone/>
            </a:pPr>
            <a:endParaRPr lang="en-US" dirty="0"/>
          </a:p>
        </p:txBody>
      </p:sp>
      <p:sp>
        <p:nvSpPr>
          <p:cNvPr id="25" name="Text 23"/>
          <p:cNvSpPr/>
          <p:nvPr/>
        </p:nvSpPr>
        <p:spPr>
          <a:xfrm>
            <a:off x="533400" y="4091732"/>
            <a:ext cx="266700" cy="266700"/>
          </a:xfrm>
          <a:prstGeom prst="rect">
            <a:avLst/>
          </a:prstGeom>
          <a:solidFill>
            <a:srgbClr val="1A1F2E"/>
          </a:solidFill>
          <a:ln/>
        </p:spPr>
        <p:txBody>
          <a:bodyPr wrap="square" rtlCol="0" anchor="ctr"/>
          <a:lstStyle/>
          <a:p>
            <a:pPr marL="0" indent="0">
              <a:buNone/>
            </a:pPr>
            <a:endParaRPr lang="en-US" dirty="0"/>
          </a:p>
        </p:txBody>
      </p:sp>
      <p:sp>
        <p:nvSpPr>
          <p:cNvPr id="26" name="Text 24"/>
          <p:cNvSpPr/>
          <p:nvPr/>
        </p:nvSpPr>
        <p:spPr>
          <a:xfrm>
            <a:off x="634901" y="4145012"/>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7" name="Text 25"/>
          <p:cNvSpPr/>
          <p:nvPr/>
        </p:nvSpPr>
        <p:spPr>
          <a:xfrm>
            <a:off x="1066800" y="4068961"/>
            <a:ext cx="2131793"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Verify Local Processing</a:t>
            </a:r>
            <a:endParaRPr lang="en-US" sz="900" dirty="0"/>
          </a:p>
        </p:txBody>
      </p:sp>
      <p:sp>
        <p:nvSpPr>
          <p:cNvPr id="28" name="Text 26"/>
          <p:cNvSpPr/>
          <p:nvPr/>
        </p:nvSpPr>
        <p:spPr>
          <a:xfrm>
            <a:off x="1066800" y="4248001"/>
            <a:ext cx="2131793"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1A1F2E">
                    <a:alpha val="70000"/>
                  </a:srgbClr>
                </a:solidFill>
                <a:latin typeface="Arial" pitchFamily="34" charset="0"/>
                <a:ea typeface="Arial" pitchFamily="34" charset="-122"/>
                <a:cs typeface="Arial" pitchFamily="34" charset="-120"/>
              </a:rPr>
              <a:t>Check Settings → confirm "Local" model selected</a:t>
            </a:r>
            <a:endParaRPr lang="en-US" sz="750" dirty="0"/>
          </a:p>
        </p:txBody>
      </p:sp>
      <p:sp>
        <p:nvSpPr>
          <p:cNvPr id="29" name="Text 27"/>
          <p:cNvSpPr/>
          <p:nvPr/>
        </p:nvSpPr>
        <p:spPr>
          <a:xfrm>
            <a:off x="5076825" y="1102221"/>
            <a:ext cx="3686175" cy="984796"/>
          </a:xfrm>
          <a:prstGeom prst="rect">
            <a:avLst/>
          </a:prstGeom>
          <a:solidFill>
            <a:srgbClr val="1A1F2E"/>
          </a:solidFill>
          <a:ln/>
        </p:spPr>
        <p:txBody>
          <a:bodyPr wrap="square" rtlCol="0" anchor="ctr"/>
          <a:lstStyle/>
          <a:p>
            <a:pPr marL="0" indent="0">
              <a:buNone/>
            </a:pPr>
            <a:endParaRPr lang="en-US" dirty="0"/>
          </a:p>
        </p:txBody>
      </p:sp>
      <p:sp>
        <p:nvSpPr>
          <p:cNvPr id="30" name="Text 28"/>
          <p:cNvSpPr/>
          <p:nvPr/>
        </p:nvSpPr>
        <p:spPr>
          <a:xfrm>
            <a:off x="5229225" y="1254621"/>
            <a:ext cx="3449002"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C9A227"/>
                </a:solidFill>
                <a:latin typeface="Arial" pitchFamily="34" charset="0"/>
                <a:ea typeface="Arial" pitchFamily="34" charset="-122"/>
                <a:cs typeface="Arial" pitchFamily="34" charset="-120"/>
              </a:rPr>
              <a:t>HOTKEY OPTIONS</a:t>
            </a:r>
            <a:endParaRPr lang="en-US" sz="825" dirty="0"/>
          </a:p>
        </p:txBody>
      </p:sp>
      <p:sp>
        <p:nvSpPr>
          <p:cNvPr id="31" name="Text 29"/>
          <p:cNvSpPr/>
          <p:nvPr/>
        </p:nvSpPr>
        <p:spPr>
          <a:xfrm>
            <a:off x="5229225" y="1477417"/>
            <a:ext cx="3449002" cy="457200"/>
          </a:xfrm>
          <a:prstGeom prst="rect">
            <a:avLst/>
          </a:prstGeom>
          <a:noFill/>
          <a:ln/>
        </p:spPr>
        <p:txBody>
          <a:bodyPr wrap="square" lIns="0" tIns="0" rIns="0" bIns="0" rtlCol="0" anchor="t"/>
          <a:lstStyle/>
          <a:p>
            <a:pPr marL="0" indent="0" algn="l">
              <a:lnSpc>
                <a:spcPts val="1200"/>
              </a:lnSpc>
              <a:buNone/>
            </a:pPr>
            <a:r>
              <a:rPr lang="en-US" sz="750" b="1" dirty="0">
                <a:solidFill>
                  <a:srgbClr val="FFFFFF">
                    <a:alpha val="80000"/>
                  </a:srgbClr>
                </a:solidFill>
                <a:latin typeface="Arial" pitchFamily="34" charset="0"/>
                <a:ea typeface="Arial" pitchFamily="34" charset="-122"/>
                <a:cs typeface="Arial" pitchFamily="34" charset="-120"/>
              </a:rPr>
              <a:t>Hold-to-Record:</a:t>
            </a:r>
            <a:r>
              <a:rPr lang="en-US" sz="750" dirty="0">
                <a:solidFill>
                  <a:srgbClr val="FFFFFF">
                    <a:alpha val="80000"/>
                  </a:srgbClr>
                </a:solidFill>
                <a:latin typeface="Arial" pitchFamily="34" charset="0"/>
                <a:ea typeface="Arial" pitchFamily="34" charset="-122"/>
                <a:cs typeface="Arial" pitchFamily="34" charset="-120"/>
              </a:rPr>
              <a:t> Speak while holding</a:t>
            </a:r>
            <a:endParaRPr lang="en-US" sz="750" dirty="0"/>
          </a:p>
          <a:p>
            <a:pPr marL="0" indent="0" algn="l">
              <a:lnSpc>
                <a:spcPts val="1200"/>
              </a:lnSpc>
              <a:buNone/>
            </a:pPr>
            <a:r>
              <a:rPr lang="en-US" sz="750" dirty="0">
                <a:solidFill>
                  <a:srgbClr val="FFFFFF">
                    <a:alpha val="80000"/>
                  </a:srgbClr>
                </a:solidFill>
                <a:latin typeface="Arial" pitchFamily="34" charset="0"/>
                <a:ea typeface="Arial" pitchFamily="34" charset="-122"/>
                <a:cs typeface="Arial" pitchFamily="34" charset="-120"/>
              </a:rPr>
              <a:t> </a:t>
            </a:r>
            <a:endParaRPr lang="en-US" sz="750" dirty="0"/>
          </a:p>
          <a:p>
            <a:pPr marL="0" indent="0" algn="l">
              <a:lnSpc>
                <a:spcPts val="1200"/>
              </a:lnSpc>
              <a:buNone/>
            </a:pPr>
            <a:r>
              <a:rPr lang="en-US" sz="750" b="1" dirty="0">
                <a:solidFill>
                  <a:srgbClr val="FFFFFF">
                    <a:alpha val="80000"/>
                  </a:srgbClr>
                </a:solidFill>
                <a:latin typeface="Arial" pitchFamily="34" charset="0"/>
                <a:ea typeface="Arial" pitchFamily="34" charset="-122"/>
                <a:cs typeface="Arial" pitchFamily="34" charset="-120"/>
              </a:rPr>
              <a:t>Toggle Mode:</a:t>
            </a:r>
            <a:r>
              <a:rPr lang="en-US" sz="750" dirty="0">
                <a:solidFill>
                  <a:srgbClr val="FFFFFF">
                    <a:alpha val="80000"/>
                  </a:srgbClr>
                </a:solidFill>
                <a:latin typeface="Arial" pitchFamily="34" charset="0"/>
                <a:ea typeface="Arial" pitchFamily="34" charset="-122"/>
                <a:cs typeface="Arial" pitchFamily="34" charset="-120"/>
              </a:rPr>
              <a:t> Press once to start/stop</a:t>
            </a:r>
            <a:endParaRPr lang="en-US" sz="750" dirty="0"/>
          </a:p>
          <a:p>
            <a:pPr marL="0" indent="0" algn="l">
              <a:lnSpc>
                <a:spcPts val="1200"/>
              </a:lnSpc>
              <a:buNone/>
            </a:pPr>
            <a:r>
              <a:rPr lang="en-US" sz="750" dirty="0">
                <a:solidFill>
                  <a:srgbClr val="FFFFFF">
                    <a:alpha val="80000"/>
                  </a:srgbClr>
                </a:solidFill>
                <a:latin typeface="Arial" pitchFamily="34" charset="0"/>
                <a:ea typeface="Arial" pitchFamily="34" charset="-122"/>
                <a:cs typeface="Arial" pitchFamily="34" charset="-120"/>
              </a:rPr>
              <a:t> </a:t>
            </a:r>
            <a:endParaRPr lang="en-US" sz="750" dirty="0"/>
          </a:p>
          <a:p>
            <a:pPr marL="0" indent="0" algn="l">
              <a:lnSpc>
                <a:spcPts val="1200"/>
              </a:lnSpc>
              <a:buNone/>
            </a:pPr>
            <a:r>
              <a:rPr lang="en-US" sz="750" b="1" dirty="0">
                <a:solidFill>
                  <a:srgbClr val="FFFFFF">
                    <a:alpha val="80000"/>
                  </a:srgbClr>
                </a:solidFill>
                <a:latin typeface="Arial" pitchFamily="34" charset="0"/>
                <a:ea typeface="Arial" pitchFamily="34" charset="-122"/>
                <a:cs typeface="Arial" pitchFamily="34" charset="-120"/>
              </a:rPr>
              <a:t>Push-to-Talk:</a:t>
            </a:r>
            <a:r>
              <a:rPr lang="en-US" sz="750" dirty="0">
                <a:solidFill>
                  <a:srgbClr val="FFFFFF">
                    <a:alpha val="80000"/>
                  </a:srgbClr>
                </a:solidFill>
                <a:latin typeface="Arial" pitchFamily="34" charset="0"/>
                <a:ea typeface="Arial" pitchFamily="34" charset="-122"/>
                <a:cs typeface="Arial" pitchFamily="34" charset="-120"/>
              </a:rPr>
              <a:t> Classic PTT style</a:t>
            </a:r>
            <a:endParaRPr lang="en-US" sz="750" dirty="0"/>
          </a:p>
        </p:txBody>
      </p:sp>
      <p:sp>
        <p:nvSpPr>
          <p:cNvPr id="32" name="Text 30"/>
          <p:cNvSpPr/>
          <p:nvPr/>
        </p:nvSpPr>
        <p:spPr>
          <a:xfrm>
            <a:off x="5076825" y="2182267"/>
            <a:ext cx="3686175" cy="756196"/>
          </a:xfrm>
          <a:prstGeom prst="rect">
            <a:avLst/>
          </a:prstGeom>
          <a:solidFill>
            <a:srgbClr val="DCFCE7"/>
          </a:solidFill>
          <a:ln/>
        </p:spPr>
        <p:txBody>
          <a:bodyPr wrap="square" rtlCol="0" anchor="ctr"/>
          <a:lstStyle/>
          <a:p>
            <a:pPr marL="0" indent="0">
              <a:buNone/>
            </a:pPr>
            <a:endParaRPr lang="en-US" dirty="0"/>
          </a:p>
        </p:txBody>
      </p:sp>
      <p:sp>
        <p:nvSpPr>
          <p:cNvPr id="33" name="Shape 31"/>
          <p:cNvSpPr/>
          <p:nvPr/>
        </p:nvSpPr>
        <p:spPr>
          <a:xfrm>
            <a:off x="5095875" y="2182267"/>
            <a:ext cx="0" cy="756196"/>
          </a:xfrm>
          <a:prstGeom prst="line">
            <a:avLst/>
          </a:prstGeom>
          <a:noFill/>
          <a:ln w="38100">
            <a:solidFill>
              <a:srgbClr val="059669"/>
            </a:solidFill>
            <a:prstDash val="solid"/>
          </a:ln>
        </p:spPr>
        <p:txBody>
          <a:bodyPr/>
          <a:lstStyle/>
          <a:p>
            <a:endParaRPr lang="en-US"/>
          </a:p>
        </p:txBody>
      </p:sp>
      <p:sp>
        <p:nvSpPr>
          <p:cNvPr id="34" name="Text 32"/>
          <p:cNvSpPr/>
          <p:nvPr/>
        </p:nvSpPr>
        <p:spPr>
          <a:xfrm>
            <a:off x="5248275" y="2315617"/>
            <a:ext cx="34490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66534"/>
                </a:solidFill>
                <a:latin typeface="Arial" pitchFamily="34" charset="0"/>
                <a:ea typeface="Arial" pitchFamily="34" charset="-122"/>
                <a:cs typeface="Arial" pitchFamily="34" charset="-120"/>
              </a:rPr>
              <a:t>PRO TIP</a:t>
            </a:r>
            <a:endParaRPr lang="en-US" sz="825" dirty="0"/>
          </a:p>
        </p:txBody>
      </p:sp>
      <p:sp>
        <p:nvSpPr>
          <p:cNvPr id="35" name="Text 33"/>
          <p:cNvSpPr/>
          <p:nvPr/>
        </p:nvSpPr>
        <p:spPr>
          <a:xfrm>
            <a:off x="5248275" y="2519363"/>
            <a:ext cx="3449002" cy="285750"/>
          </a:xfrm>
          <a:prstGeom prst="rect">
            <a:avLst/>
          </a:prstGeom>
          <a:noFill/>
          <a:ln/>
        </p:spPr>
        <p:txBody>
          <a:bodyPr wrap="square" lIns="0" tIns="0" rIns="0" bIns="0" rtlCol="0" anchor="t"/>
          <a:lstStyle/>
          <a:p>
            <a:pPr marL="0" indent="0" algn="l">
              <a:lnSpc>
                <a:spcPts val="1125"/>
              </a:lnSpc>
              <a:buNone/>
            </a:pPr>
            <a:r>
              <a:rPr lang="en-US" sz="750" dirty="0">
                <a:solidFill>
                  <a:srgbClr val="166534"/>
                </a:solidFill>
                <a:latin typeface="Arial" pitchFamily="34" charset="0"/>
                <a:ea typeface="Arial" pitchFamily="34" charset="-122"/>
                <a:cs typeface="Arial" pitchFamily="34" charset="-120"/>
              </a:rPr>
              <a:t>Hold-to-Record gives you precise control. Release to instantly process and paste. Most natural for short commands.</a:t>
            </a:r>
            <a:endParaRPr lang="en-US" sz="750" dirty="0"/>
          </a:p>
        </p:txBody>
      </p:sp>
      <p:sp>
        <p:nvSpPr>
          <p:cNvPr id="36" name="Text 34"/>
          <p:cNvSpPr/>
          <p:nvPr/>
        </p:nvSpPr>
        <p:spPr>
          <a:xfrm>
            <a:off x="5076825" y="3033713"/>
            <a:ext cx="3686175" cy="756196"/>
          </a:xfrm>
          <a:prstGeom prst="rect">
            <a:avLst/>
          </a:prstGeom>
          <a:solidFill>
            <a:srgbClr val="FEF3C7"/>
          </a:solidFill>
          <a:ln/>
        </p:spPr>
        <p:txBody>
          <a:bodyPr wrap="square" rtlCol="0" anchor="ctr"/>
          <a:lstStyle/>
          <a:p>
            <a:pPr marL="0" indent="0">
              <a:buNone/>
            </a:pPr>
            <a:endParaRPr lang="en-US" dirty="0"/>
          </a:p>
        </p:txBody>
      </p:sp>
      <p:sp>
        <p:nvSpPr>
          <p:cNvPr id="37" name="Shape 35"/>
          <p:cNvSpPr/>
          <p:nvPr/>
        </p:nvSpPr>
        <p:spPr>
          <a:xfrm>
            <a:off x="5095875" y="3033713"/>
            <a:ext cx="0" cy="756196"/>
          </a:xfrm>
          <a:prstGeom prst="line">
            <a:avLst/>
          </a:prstGeom>
          <a:noFill/>
          <a:ln w="38100">
            <a:solidFill>
              <a:srgbClr val="F59E0B"/>
            </a:solidFill>
            <a:prstDash val="solid"/>
          </a:ln>
        </p:spPr>
        <p:txBody>
          <a:bodyPr/>
          <a:lstStyle/>
          <a:p>
            <a:endParaRPr lang="en-US"/>
          </a:p>
        </p:txBody>
      </p:sp>
      <p:sp>
        <p:nvSpPr>
          <p:cNvPr id="38" name="Text 36"/>
          <p:cNvSpPr/>
          <p:nvPr/>
        </p:nvSpPr>
        <p:spPr>
          <a:xfrm>
            <a:off x="5248275" y="3167063"/>
            <a:ext cx="34490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92400E"/>
                </a:solidFill>
                <a:latin typeface="Arial" pitchFamily="34" charset="0"/>
                <a:ea typeface="Arial" pitchFamily="34" charset="-122"/>
                <a:cs typeface="Arial" pitchFamily="34" charset="-120"/>
              </a:rPr>
              <a:t>FIRST MODEL DOWNLOAD</a:t>
            </a:r>
            <a:endParaRPr lang="en-US" sz="825" dirty="0"/>
          </a:p>
        </p:txBody>
      </p:sp>
      <p:sp>
        <p:nvSpPr>
          <p:cNvPr id="39" name="Text 37"/>
          <p:cNvSpPr/>
          <p:nvPr/>
        </p:nvSpPr>
        <p:spPr>
          <a:xfrm>
            <a:off x="5248275" y="3370808"/>
            <a:ext cx="3449002" cy="285750"/>
          </a:xfrm>
          <a:prstGeom prst="rect">
            <a:avLst/>
          </a:prstGeom>
          <a:noFill/>
          <a:ln/>
        </p:spPr>
        <p:txBody>
          <a:bodyPr wrap="square" lIns="0" tIns="0" rIns="0" bIns="0" rtlCol="0" anchor="t"/>
          <a:lstStyle/>
          <a:p>
            <a:pPr marL="0" indent="0" algn="l">
              <a:lnSpc>
                <a:spcPts val="1125"/>
              </a:lnSpc>
              <a:buNone/>
            </a:pPr>
            <a:r>
              <a:rPr lang="en-US" sz="750" dirty="0">
                <a:solidFill>
                  <a:srgbClr val="92400E"/>
                </a:solidFill>
                <a:latin typeface="Arial" pitchFamily="34" charset="0"/>
                <a:ea typeface="Arial" pitchFamily="34" charset="-122"/>
                <a:cs typeface="Arial" pitchFamily="34" charset="-120"/>
              </a:rPr>
              <a:t>Local models download on first use (~100-500MB). Wait for download to complete before testing.</a:t>
            </a:r>
            <a:endParaRPr lang="en-US" sz="750" dirty="0"/>
          </a:p>
        </p:txBody>
      </p:sp>
      <p:sp>
        <p:nvSpPr>
          <p:cNvPr id="40" name="Text 38"/>
          <p:cNvSpPr/>
          <p:nvPr/>
        </p:nvSpPr>
        <p:spPr>
          <a:xfrm>
            <a:off x="5076825" y="3885158"/>
            <a:ext cx="3686175" cy="91812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41" name="Text 39"/>
          <p:cNvSpPr/>
          <p:nvPr/>
        </p:nvSpPr>
        <p:spPr>
          <a:xfrm>
            <a:off x="5219700" y="4028033"/>
            <a:ext cx="346843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STATUS INDICATOR</a:t>
            </a:r>
            <a:endParaRPr lang="en-US" sz="825" dirty="0"/>
          </a:p>
        </p:txBody>
      </p:sp>
      <p:sp>
        <p:nvSpPr>
          <p:cNvPr id="42" name="Text 40"/>
          <p:cNvSpPr/>
          <p:nvPr/>
        </p:nvSpPr>
        <p:spPr>
          <a:xfrm>
            <a:off x="5219700" y="4231779"/>
            <a:ext cx="3468434" cy="428625"/>
          </a:xfrm>
          <a:prstGeom prst="rect">
            <a:avLst/>
          </a:prstGeom>
          <a:noFill/>
          <a:ln/>
        </p:spPr>
        <p:txBody>
          <a:bodyPr wrap="square" lIns="0" tIns="0" rIns="0" bIns="0" rtlCol="0" anchor="t"/>
          <a:lstStyle/>
          <a:p>
            <a:pPr marL="0" indent="0" algn="l">
              <a:lnSpc>
                <a:spcPts val="1125"/>
              </a:lnSpc>
              <a:buNone/>
            </a:pPr>
            <a:r>
              <a:rPr lang="en-US" sz="750" dirty="0">
                <a:solidFill>
                  <a:srgbClr val="6B7280"/>
                </a:solidFill>
                <a:latin typeface="Arial" pitchFamily="34" charset="0"/>
                <a:ea typeface="Arial" pitchFamily="34" charset="-122"/>
                <a:cs typeface="Arial" pitchFamily="34" charset="-120"/>
              </a:rPr>
              <a:t>Gray = Idle state</a:t>
            </a:r>
            <a:endParaRPr lang="en-US" sz="750" dirty="0"/>
          </a:p>
          <a:p>
            <a:pPr marL="0" indent="0" algn="l">
              <a:lnSpc>
                <a:spcPts val="1125"/>
              </a:lnSpc>
              <a:buNone/>
            </a:pPr>
            <a:r>
              <a:rPr lang="en-US" sz="750" dirty="0">
                <a:solidFill>
                  <a:srgbClr val="6B7280"/>
                </a:solidFill>
                <a:latin typeface="Arial" pitchFamily="34" charset="0"/>
                <a:ea typeface="Arial" pitchFamily="34" charset="-122"/>
                <a:cs typeface="Arial" pitchFamily="34" charset="-120"/>
              </a:rPr>
              <a:t> Red = Recording</a:t>
            </a:r>
            <a:endParaRPr lang="en-US" sz="750" dirty="0"/>
          </a:p>
          <a:p>
            <a:pPr marL="0" indent="0" algn="l">
              <a:lnSpc>
                <a:spcPts val="1125"/>
              </a:lnSpc>
              <a:buNone/>
            </a:pPr>
            <a:r>
              <a:rPr lang="en-US" sz="750" dirty="0">
                <a:solidFill>
                  <a:srgbClr val="6B7280"/>
                </a:solidFill>
                <a:latin typeface="Arial" pitchFamily="34" charset="0"/>
                <a:ea typeface="Arial" pitchFamily="34" charset="-122"/>
                <a:cs typeface="Arial" pitchFamily="34" charset="-120"/>
              </a:rPr>
              <a:t> Gold = Processing</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01293F0-375D-1D9D-BC3F-F263AC12C107}"/>
              </a:ext>
            </a:extLst>
          </p:cNvPr>
          <p:cNvPicPr>
            <a:picLocks noChangeAspect="1"/>
          </p:cNvPicPr>
          <p:nvPr/>
        </p:nvPicPr>
        <p:blipFill>
          <a:blip r:embed="rId2"/>
          <a:stretch>
            <a:fillRect/>
          </a:stretch>
        </p:blipFill>
        <p:spPr>
          <a:xfrm>
            <a:off x="1518780" y="342900"/>
            <a:ext cx="6106439" cy="4457700"/>
          </a:xfrm>
          <a:prstGeom prst="rect">
            <a:avLst/>
          </a:prstGeom>
        </p:spPr>
      </p:pic>
    </p:spTree>
    <p:extLst>
      <p:ext uri="{BB962C8B-B14F-4D97-AF65-F5344CB8AC3E}">
        <p14:creationId xmlns:p14="http://schemas.microsoft.com/office/powerpoint/2010/main" val="2562339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2308559-56B0-64C8-47F9-46F7569C71C0}"/>
              </a:ext>
            </a:extLst>
          </p:cNvPr>
          <p:cNvPicPr>
            <a:picLocks noChangeAspect="1"/>
          </p:cNvPicPr>
          <p:nvPr/>
        </p:nvPicPr>
        <p:blipFill>
          <a:blip r:embed="rId2"/>
          <a:stretch>
            <a:fillRect/>
          </a:stretch>
        </p:blipFill>
        <p:spPr>
          <a:xfrm>
            <a:off x="2454592" y="342900"/>
            <a:ext cx="4234815" cy="4457700"/>
          </a:xfrm>
          <a:prstGeom prst="rect">
            <a:avLst/>
          </a:prstGeom>
        </p:spPr>
      </p:pic>
      <p:sp>
        <p:nvSpPr>
          <p:cNvPr id="3" name="Right Arrow 2">
            <a:extLst>
              <a:ext uri="{FF2B5EF4-FFF2-40B4-BE49-F238E27FC236}">
                <a16:creationId xmlns:a16="http://schemas.microsoft.com/office/drawing/2014/main" id="{F159E3DD-1953-094D-68E3-EB53880BD62D}"/>
              </a:ext>
            </a:extLst>
          </p:cNvPr>
          <p:cNvSpPr/>
          <p:nvPr/>
        </p:nvSpPr>
        <p:spPr>
          <a:xfrm rot="1118882">
            <a:off x="1706485" y="1110316"/>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8169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CUSTOM MODE PROMPTS</a:t>
            </a:r>
            <a:endParaRPr lang="en-US" sz="750" dirty="0"/>
          </a:p>
        </p:txBody>
      </p:sp>
      <p:sp>
        <p:nvSpPr>
          <p:cNvPr id="3" name="Text 1"/>
          <p:cNvSpPr/>
          <p:nvPr/>
        </p:nvSpPr>
        <p:spPr>
          <a:xfrm>
            <a:off x="381000" y="419100"/>
            <a:ext cx="4284536" cy="247650"/>
          </a:xfrm>
          <a:prstGeom prst="rect">
            <a:avLst/>
          </a:prstGeom>
          <a:noFill/>
          <a:ln/>
        </p:spPr>
        <p:txBody>
          <a:bodyPr wrap="square" lIns="0" tIns="0" rIns="0" bIns="0" rtlCol="0" anchor="t"/>
          <a:lstStyle/>
          <a:p>
            <a:pPr marL="0" indent="0" algn="l">
              <a:lnSpc>
                <a:spcPts val="1950"/>
              </a:lnSpc>
              <a:buNone/>
            </a:pPr>
            <a:r>
              <a:rPr lang="en-US" sz="1950" dirty="0">
                <a:solidFill>
                  <a:srgbClr val="1A1F2E"/>
                </a:solidFill>
                <a:latin typeface="Georgia" pitchFamily="34" charset="0"/>
                <a:ea typeface="Georgia" pitchFamily="34" charset="-122"/>
                <a:cs typeface="Georgia" pitchFamily="34" charset="-120"/>
              </a:rPr>
              <a:t>Writing Effective AI Instructions</a:t>
            </a:r>
            <a:endParaRPr lang="en-US" sz="1950" dirty="0"/>
          </a:p>
        </p:txBody>
      </p:sp>
      <p:sp>
        <p:nvSpPr>
          <p:cNvPr id="4" name="Text 2"/>
          <p:cNvSpPr/>
          <p:nvPr/>
        </p:nvSpPr>
        <p:spPr>
          <a:xfrm>
            <a:off x="381000" y="1191964"/>
            <a:ext cx="2814155"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PROMPT STRUCTURE</a:t>
            </a:r>
            <a:endParaRPr lang="en-US" sz="900" dirty="0"/>
          </a:p>
        </p:txBody>
      </p:sp>
      <p:sp>
        <p:nvSpPr>
          <p:cNvPr id="5" name="Text 3"/>
          <p:cNvSpPr/>
          <p:nvPr/>
        </p:nvSpPr>
        <p:spPr>
          <a:xfrm>
            <a:off x="381000" y="1485305"/>
            <a:ext cx="2758976" cy="2435721"/>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514350" y="1618655"/>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&lt;role&gt;</a:t>
            </a:r>
            <a:endParaRPr lang="en-US" sz="675" dirty="0"/>
          </a:p>
        </p:txBody>
      </p:sp>
      <p:sp>
        <p:nvSpPr>
          <p:cNvPr id="7" name="Text 5"/>
          <p:cNvSpPr/>
          <p:nvPr/>
        </p:nvSpPr>
        <p:spPr>
          <a:xfrm>
            <a:off x="514350" y="1814810"/>
            <a:ext cx="2542121" cy="119955"/>
          </a:xfrm>
          <a:prstGeom prst="rect">
            <a:avLst/>
          </a:prstGeom>
          <a:noFill/>
          <a:ln/>
        </p:spPr>
        <p:txBody>
          <a:bodyPr wrap="square" lIns="114300" tIns="0" rIns="0" bIns="0" rtlCol="0" anchor="t"/>
          <a:lstStyle/>
          <a:p>
            <a:pPr marL="0" indent="0" algn="l">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You are a professional email editor</a:t>
            </a:r>
            <a:endParaRPr lang="en-US" sz="675" dirty="0"/>
          </a:p>
        </p:txBody>
      </p:sp>
      <p:sp>
        <p:nvSpPr>
          <p:cNvPr id="8" name="Text 6"/>
          <p:cNvSpPr/>
          <p:nvPr/>
        </p:nvSpPr>
        <p:spPr>
          <a:xfrm>
            <a:off x="514350" y="2010966"/>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&lt;/role&gt;</a:t>
            </a:r>
            <a:endParaRPr lang="en-US" sz="675" dirty="0"/>
          </a:p>
        </p:txBody>
      </p:sp>
      <p:sp>
        <p:nvSpPr>
          <p:cNvPr id="9" name="Text 7"/>
          <p:cNvSpPr/>
          <p:nvPr/>
        </p:nvSpPr>
        <p:spPr>
          <a:xfrm>
            <a:off x="514350" y="2207121"/>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&lt;instructions&gt;</a:t>
            </a:r>
            <a:endParaRPr lang="en-US" sz="675" dirty="0"/>
          </a:p>
        </p:txBody>
      </p:sp>
      <p:sp>
        <p:nvSpPr>
          <p:cNvPr id="10" name="Text 8"/>
          <p:cNvSpPr/>
          <p:nvPr/>
        </p:nvSpPr>
        <p:spPr>
          <a:xfrm>
            <a:off x="514350" y="2403277"/>
            <a:ext cx="2542121" cy="359866"/>
          </a:xfrm>
          <a:prstGeom prst="rect">
            <a:avLst/>
          </a:prstGeom>
          <a:noFill/>
          <a:ln/>
        </p:spPr>
        <p:txBody>
          <a:bodyPr wrap="square" lIns="114300" tIns="0" rIns="0" bIns="0" rtlCol="0" anchor="t"/>
          <a:lstStyle/>
          <a:p>
            <a:pPr marL="0" indent="0" algn="l">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Format the User Message into a</a:t>
            </a:r>
            <a:endParaRPr lang="en-US" sz="675" dirty="0"/>
          </a:p>
          <a:p>
            <a:pPr marL="0" indent="0" algn="l">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professional email with proper</a:t>
            </a:r>
            <a:endParaRPr lang="en-US" sz="675" dirty="0"/>
          </a:p>
          <a:p>
            <a:pPr marL="0" indent="0" algn="l">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greeting and signature</a:t>
            </a:r>
            <a:endParaRPr lang="en-US" sz="675" dirty="0"/>
          </a:p>
        </p:txBody>
      </p:sp>
      <p:sp>
        <p:nvSpPr>
          <p:cNvPr id="11" name="Text 9"/>
          <p:cNvSpPr/>
          <p:nvPr/>
        </p:nvSpPr>
        <p:spPr>
          <a:xfrm>
            <a:off x="533399" y="2918371"/>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&lt;/instructions&gt;</a:t>
            </a:r>
            <a:endParaRPr lang="en-US" sz="675" dirty="0"/>
          </a:p>
        </p:txBody>
      </p:sp>
      <p:sp>
        <p:nvSpPr>
          <p:cNvPr id="12" name="Text 10"/>
          <p:cNvSpPr/>
          <p:nvPr/>
        </p:nvSpPr>
        <p:spPr>
          <a:xfrm>
            <a:off x="514350" y="3035498"/>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&lt;requirements&gt;</a:t>
            </a:r>
            <a:endParaRPr lang="en-US" sz="675" dirty="0"/>
          </a:p>
        </p:txBody>
      </p:sp>
      <p:sp>
        <p:nvSpPr>
          <p:cNvPr id="13" name="Text 11"/>
          <p:cNvSpPr/>
          <p:nvPr/>
        </p:nvSpPr>
        <p:spPr>
          <a:xfrm>
            <a:off x="514350" y="3231654"/>
            <a:ext cx="2542121" cy="359866"/>
          </a:xfrm>
          <a:prstGeom prst="rect">
            <a:avLst/>
          </a:prstGeom>
          <a:noFill/>
          <a:ln/>
        </p:spPr>
        <p:txBody>
          <a:bodyPr wrap="square" lIns="114300" tIns="0" rIns="0" bIns="0" rtlCol="0" anchor="t"/>
          <a:lstStyle/>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Keep tone professional</a:t>
            </a:r>
            <a:endParaRPr lang="en-US" sz="675" dirty="0"/>
          </a:p>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Use clear paragraphs</a:t>
            </a:r>
            <a:endParaRPr lang="en-US" sz="675" dirty="0"/>
          </a:p>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Include appropriate sign-off</a:t>
            </a:r>
            <a:endParaRPr lang="en-US" sz="675" dirty="0"/>
          </a:p>
        </p:txBody>
      </p:sp>
      <p:sp>
        <p:nvSpPr>
          <p:cNvPr id="14" name="Text 12"/>
          <p:cNvSpPr/>
          <p:nvPr/>
        </p:nvSpPr>
        <p:spPr>
          <a:xfrm>
            <a:off x="514350" y="3667720"/>
            <a:ext cx="2542121" cy="119955"/>
          </a:xfrm>
          <a:prstGeom prst="rect">
            <a:avLst/>
          </a:prstGeom>
          <a:noFill/>
          <a:ln/>
        </p:spPr>
        <p:txBody>
          <a:bodyPr wrap="square" lIns="0" tIns="0" rIns="0" bIns="0" rtlCol="0" anchor="t"/>
          <a:lstStyle/>
          <a:p>
            <a:pPr marL="0" indent="0" algn="l">
              <a:lnSpc>
                <a:spcPts val="945"/>
              </a:lnSpc>
              <a:spcBef>
                <a:spcPts val="600"/>
              </a:spcBef>
              <a:buNone/>
            </a:pPr>
            <a:r>
              <a:rPr lang="en-US" sz="675" dirty="0">
                <a:solidFill>
                  <a:srgbClr val="C9A227"/>
                </a:solidFill>
                <a:latin typeface="Arial" pitchFamily="34" charset="0"/>
                <a:ea typeface="Arial" pitchFamily="34" charset="-122"/>
                <a:cs typeface="Arial" pitchFamily="34" charset="-120"/>
              </a:rPr>
              <a:t>&lt;/requirements&gt;</a:t>
            </a:r>
            <a:endParaRPr lang="en-US" sz="675" dirty="0"/>
          </a:p>
        </p:txBody>
      </p:sp>
      <p:sp>
        <p:nvSpPr>
          <p:cNvPr id="15" name="Text 13"/>
          <p:cNvSpPr/>
          <p:nvPr/>
        </p:nvSpPr>
        <p:spPr>
          <a:xfrm>
            <a:off x="381000" y="4016276"/>
            <a:ext cx="2758976" cy="639961"/>
          </a:xfrm>
          <a:prstGeom prst="rect">
            <a:avLst/>
          </a:prstGeom>
          <a:solidFill>
            <a:srgbClr val="FEF3C7"/>
          </a:solidFill>
          <a:ln/>
        </p:spPr>
        <p:txBody>
          <a:bodyPr wrap="square" rtlCol="0" anchor="ctr"/>
          <a:lstStyle/>
          <a:p>
            <a:pPr marL="0" indent="0">
              <a:buNone/>
            </a:pPr>
            <a:endParaRPr lang="en-US" dirty="0"/>
          </a:p>
        </p:txBody>
      </p:sp>
      <p:sp>
        <p:nvSpPr>
          <p:cNvPr id="16" name="Shape 14"/>
          <p:cNvSpPr/>
          <p:nvPr/>
        </p:nvSpPr>
        <p:spPr>
          <a:xfrm>
            <a:off x="400050" y="4016276"/>
            <a:ext cx="0" cy="639961"/>
          </a:xfrm>
          <a:prstGeom prst="line">
            <a:avLst/>
          </a:prstGeom>
          <a:noFill/>
          <a:ln w="38100">
            <a:solidFill>
              <a:srgbClr val="F59E0B"/>
            </a:solidFill>
            <a:prstDash val="solid"/>
          </a:ln>
        </p:spPr>
        <p:txBody>
          <a:bodyPr/>
          <a:lstStyle/>
          <a:p>
            <a:endParaRPr lang="en-US"/>
          </a:p>
        </p:txBody>
      </p:sp>
      <p:sp>
        <p:nvSpPr>
          <p:cNvPr id="17" name="Text 15"/>
          <p:cNvSpPr/>
          <p:nvPr/>
        </p:nvSpPr>
        <p:spPr>
          <a:xfrm>
            <a:off x="533400" y="4130576"/>
            <a:ext cx="254212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XML TAGS NOTE</a:t>
            </a:r>
            <a:endParaRPr lang="en-US" sz="750" dirty="0"/>
          </a:p>
        </p:txBody>
      </p:sp>
      <p:sp>
        <p:nvSpPr>
          <p:cNvPr id="18" name="Text 16"/>
          <p:cNvSpPr/>
          <p:nvPr/>
        </p:nvSpPr>
        <p:spPr>
          <a:xfrm>
            <a:off x="533400" y="4302026"/>
            <a:ext cx="2542121"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XML tags improve clarity with advanced models. Some local models may struggle with them - test your results.</a:t>
            </a:r>
            <a:endParaRPr lang="en-US" sz="675" dirty="0"/>
          </a:p>
        </p:txBody>
      </p:sp>
      <p:sp>
        <p:nvSpPr>
          <p:cNvPr id="19" name="Text 17"/>
          <p:cNvSpPr/>
          <p:nvPr/>
        </p:nvSpPr>
        <p:spPr>
          <a:xfrm>
            <a:off x="3330476" y="1128861"/>
            <a:ext cx="2814155"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KEY ELEMENTS</a:t>
            </a:r>
            <a:endParaRPr lang="en-US" sz="900" dirty="0"/>
          </a:p>
        </p:txBody>
      </p:sp>
      <p:sp>
        <p:nvSpPr>
          <p:cNvPr id="20" name="Text 18"/>
          <p:cNvSpPr/>
          <p:nvPr/>
        </p:nvSpPr>
        <p:spPr>
          <a:xfrm>
            <a:off x="3330476" y="1422202"/>
            <a:ext cx="2758976" cy="53905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3454301" y="1546027"/>
            <a:ext cx="256155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1. ROLE STATEMENT</a:t>
            </a:r>
            <a:endParaRPr lang="en-US" sz="750" dirty="0"/>
          </a:p>
        </p:txBody>
      </p:sp>
      <p:sp>
        <p:nvSpPr>
          <p:cNvPr id="22" name="Text 20"/>
          <p:cNvSpPr/>
          <p:nvPr/>
        </p:nvSpPr>
        <p:spPr>
          <a:xfrm>
            <a:off x="3454301" y="1717477"/>
            <a:ext cx="2561552"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Define who the AI is. Sets the foundation for all processing.</a:t>
            </a:r>
            <a:endParaRPr lang="en-US" sz="675" dirty="0"/>
          </a:p>
        </p:txBody>
      </p:sp>
      <p:sp>
        <p:nvSpPr>
          <p:cNvPr id="23" name="Text 21"/>
          <p:cNvSpPr/>
          <p:nvPr/>
        </p:nvSpPr>
        <p:spPr>
          <a:xfrm>
            <a:off x="3330476" y="2056507"/>
            <a:ext cx="2758976" cy="53905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3454301" y="2180332"/>
            <a:ext cx="256155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2. CLEAR INSTRUCTIONS</a:t>
            </a:r>
            <a:endParaRPr lang="en-US" sz="750" dirty="0"/>
          </a:p>
        </p:txBody>
      </p:sp>
      <p:sp>
        <p:nvSpPr>
          <p:cNvPr id="25" name="Text 23"/>
          <p:cNvSpPr/>
          <p:nvPr/>
        </p:nvSpPr>
        <p:spPr>
          <a:xfrm>
            <a:off x="3454301" y="2351782"/>
            <a:ext cx="2561552"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Explicit actions to take with the dictated text. Be specific.</a:t>
            </a:r>
            <a:endParaRPr lang="en-US" sz="675" dirty="0"/>
          </a:p>
        </p:txBody>
      </p:sp>
      <p:sp>
        <p:nvSpPr>
          <p:cNvPr id="26" name="Text 24"/>
          <p:cNvSpPr/>
          <p:nvPr/>
        </p:nvSpPr>
        <p:spPr>
          <a:xfrm>
            <a:off x="3330476" y="2690813"/>
            <a:ext cx="2758976" cy="53905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3454301" y="2814638"/>
            <a:ext cx="256155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3. REQUIREMENTS LIST</a:t>
            </a:r>
            <a:endParaRPr lang="en-US" sz="750" dirty="0"/>
          </a:p>
        </p:txBody>
      </p:sp>
      <p:sp>
        <p:nvSpPr>
          <p:cNvPr id="28" name="Text 26"/>
          <p:cNvSpPr/>
          <p:nvPr/>
        </p:nvSpPr>
        <p:spPr>
          <a:xfrm>
            <a:off x="3454301" y="2986088"/>
            <a:ext cx="2561552"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Bullet points of constraints and style guidelines.</a:t>
            </a:r>
            <a:endParaRPr lang="en-US" sz="675" dirty="0"/>
          </a:p>
        </p:txBody>
      </p:sp>
      <p:sp>
        <p:nvSpPr>
          <p:cNvPr id="29" name="Text 27"/>
          <p:cNvSpPr/>
          <p:nvPr/>
        </p:nvSpPr>
        <p:spPr>
          <a:xfrm>
            <a:off x="3330476" y="3325118"/>
            <a:ext cx="2758976" cy="53905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0" name="Text 28"/>
          <p:cNvSpPr/>
          <p:nvPr/>
        </p:nvSpPr>
        <p:spPr>
          <a:xfrm>
            <a:off x="3454301" y="3448943"/>
            <a:ext cx="256155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4. EXAMPLES (2-3)</a:t>
            </a:r>
            <a:endParaRPr lang="en-US" sz="750" dirty="0"/>
          </a:p>
        </p:txBody>
      </p:sp>
      <p:sp>
        <p:nvSpPr>
          <p:cNvPr id="31" name="Text 29"/>
          <p:cNvSpPr/>
          <p:nvPr/>
        </p:nvSpPr>
        <p:spPr>
          <a:xfrm>
            <a:off x="3454301" y="3620393"/>
            <a:ext cx="2561552"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Show input → output pairs. Dramatically improves accuracy.</a:t>
            </a:r>
            <a:endParaRPr lang="en-US" sz="675" dirty="0"/>
          </a:p>
        </p:txBody>
      </p:sp>
      <p:sp>
        <p:nvSpPr>
          <p:cNvPr id="32" name="Text 30"/>
          <p:cNvSpPr/>
          <p:nvPr/>
        </p:nvSpPr>
        <p:spPr>
          <a:xfrm>
            <a:off x="3330476" y="3959423"/>
            <a:ext cx="2758976" cy="759916"/>
          </a:xfrm>
          <a:prstGeom prst="rect">
            <a:avLst/>
          </a:prstGeom>
          <a:solidFill>
            <a:srgbClr val="DCFCE7"/>
          </a:solidFill>
          <a:ln/>
        </p:spPr>
        <p:txBody>
          <a:bodyPr wrap="square" rtlCol="0" anchor="ctr"/>
          <a:lstStyle/>
          <a:p>
            <a:pPr marL="0" indent="0">
              <a:buNone/>
            </a:pPr>
            <a:endParaRPr lang="en-US" dirty="0"/>
          </a:p>
        </p:txBody>
      </p:sp>
      <p:sp>
        <p:nvSpPr>
          <p:cNvPr id="33" name="Shape 31"/>
          <p:cNvSpPr/>
          <p:nvPr/>
        </p:nvSpPr>
        <p:spPr>
          <a:xfrm>
            <a:off x="3349526" y="3959423"/>
            <a:ext cx="0" cy="759916"/>
          </a:xfrm>
          <a:prstGeom prst="line">
            <a:avLst/>
          </a:prstGeom>
          <a:noFill/>
          <a:ln w="38100">
            <a:solidFill>
              <a:srgbClr val="059669"/>
            </a:solidFill>
            <a:prstDash val="solid"/>
          </a:ln>
        </p:spPr>
        <p:txBody>
          <a:bodyPr/>
          <a:lstStyle/>
          <a:p>
            <a:endParaRPr lang="en-US"/>
          </a:p>
        </p:txBody>
      </p:sp>
      <p:sp>
        <p:nvSpPr>
          <p:cNvPr id="34" name="Text 32"/>
          <p:cNvSpPr/>
          <p:nvPr/>
        </p:nvSpPr>
        <p:spPr>
          <a:xfrm>
            <a:off x="3482876" y="4073723"/>
            <a:ext cx="254212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CONTEXT REFERENCES</a:t>
            </a:r>
            <a:endParaRPr lang="en-US" sz="750" dirty="0"/>
          </a:p>
        </p:txBody>
      </p:sp>
      <p:sp>
        <p:nvSpPr>
          <p:cNvPr id="35" name="Text 33"/>
          <p:cNvSpPr/>
          <p:nvPr/>
        </p:nvSpPr>
        <p:spPr>
          <a:xfrm>
            <a:off x="3482876" y="4245173"/>
            <a:ext cx="2542121" cy="359866"/>
          </a:xfrm>
          <a:prstGeom prst="rect">
            <a:avLst/>
          </a:prstGeom>
          <a:noFill/>
          <a:ln/>
        </p:spPr>
        <p:txBody>
          <a:bodyPr wrap="square" lIns="0" tIns="0" rIns="0" bIns="0" rtlCol="0" anchor="t"/>
          <a:lstStyle/>
          <a:p>
            <a:pPr marL="0" indent="0" algn="l">
              <a:lnSpc>
                <a:spcPts val="945"/>
              </a:lnSpc>
              <a:buNone/>
            </a:pPr>
            <a:r>
              <a:rPr lang="en-US" sz="675" dirty="0">
                <a:solidFill>
                  <a:srgbClr val="166534"/>
                </a:solidFill>
                <a:latin typeface="Arial" pitchFamily="34" charset="0"/>
                <a:ea typeface="Arial" pitchFamily="34" charset="-122"/>
                <a:cs typeface="Arial" pitchFamily="34" charset="-120"/>
              </a:rPr>
              <a:t>Use "User Message" for dictated text,</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"Application Context" for current app,</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"Clipboard Context" for copied text</a:t>
            </a:r>
            <a:endParaRPr lang="en-US" sz="675" dirty="0"/>
          </a:p>
        </p:txBody>
      </p:sp>
      <p:sp>
        <p:nvSpPr>
          <p:cNvPr id="36" name="Text 34"/>
          <p:cNvSpPr/>
          <p:nvPr/>
        </p:nvSpPr>
        <p:spPr>
          <a:xfrm>
            <a:off x="6279952" y="1290638"/>
            <a:ext cx="253270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BEST PRACTICES</a:t>
            </a:r>
            <a:endParaRPr lang="en-US" sz="900" dirty="0"/>
          </a:p>
        </p:txBody>
      </p:sp>
      <p:sp>
        <p:nvSpPr>
          <p:cNvPr id="37" name="Text 35"/>
          <p:cNvSpPr/>
          <p:nvPr/>
        </p:nvSpPr>
        <p:spPr>
          <a:xfrm>
            <a:off x="6279952" y="1583978"/>
            <a:ext cx="2483048" cy="1062038"/>
          </a:xfrm>
          <a:prstGeom prst="rect">
            <a:avLst/>
          </a:prstGeom>
          <a:solidFill>
            <a:srgbClr val="1A1F2E"/>
          </a:solidFill>
          <a:ln/>
        </p:spPr>
        <p:txBody>
          <a:bodyPr wrap="square" rtlCol="0" anchor="ctr"/>
          <a:lstStyle/>
          <a:p>
            <a:pPr marL="0" indent="0">
              <a:buNone/>
            </a:pPr>
            <a:endParaRPr lang="en-US" dirty="0"/>
          </a:p>
        </p:txBody>
      </p:sp>
      <p:sp>
        <p:nvSpPr>
          <p:cNvPr id="38" name="Text 36"/>
          <p:cNvSpPr/>
          <p:nvPr/>
        </p:nvSpPr>
        <p:spPr>
          <a:xfrm>
            <a:off x="6394252" y="1698278"/>
            <a:ext cx="229953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DO</a:t>
            </a:r>
            <a:endParaRPr lang="en-US" sz="750" dirty="0"/>
          </a:p>
        </p:txBody>
      </p:sp>
      <p:sp>
        <p:nvSpPr>
          <p:cNvPr id="39" name="Text 37"/>
          <p:cNvSpPr/>
          <p:nvPr/>
        </p:nvSpPr>
        <p:spPr>
          <a:xfrm>
            <a:off x="6394252" y="1888778"/>
            <a:ext cx="2299537" cy="642938"/>
          </a:xfrm>
          <a:prstGeom prst="rect">
            <a:avLst/>
          </a:prstGeom>
          <a:noFill/>
          <a:ln/>
        </p:spPr>
        <p:txBody>
          <a:bodyPr wrap="square" lIns="0" tIns="0" rIns="0" bIns="0" rtlCol="0" anchor="t"/>
          <a:lstStyle/>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Be explicit and specific</a:t>
            </a:r>
            <a:endParaRPr lang="en-US" sz="675" dirty="0"/>
          </a:p>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 Include 2-3 examples</a:t>
            </a:r>
            <a:endParaRPr lang="en-US" sz="675" dirty="0"/>
          </a:p>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 Use modular sections</a:t>
            </a:r>
            <a:endParaRPr lang="en-US" sz="675" dirty="0"/>
          </a:p>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 Test with your voice</a:t>
            </a:r>
            <a:endParaRPr lang="en-US" sz="675" dirty="0"/>
          </a:p>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 Iterate and refine</a:t>
            </a:r>
            <a:endParaRPr lang="en-US" sz="675" dirty="0"/>
          </a:p>
        </p:txBody>
      </p:sp>
      <p:sp>
        <p:nvSpPr>
          <p:cNvPr id="40" name="Text 38"/>
          <p:cNvSpPr/>
          <p:nvPr/>
        </p:nvSpPr>
        <p:spPr>
          <a:xfrm>
            <a:off x="6279952" y="2741265"/>
            <a:ext cx="2483048" cy="1062038"/>
          </a:xfrm>
          <a:prstGeom prst="rect">
            <a:avLst/>
          </a:prstGeom>
          <a:solidFill>
            <a:srgbClr val="FEF2F2"/>
          </a:solidFill>
          <a:ln/>
        </p:spPr>
        <p:txBody>
          <a:bodyPr wrap="square" rtlCol="0" anchor="ctr"/>
          <a:lstStyle/>
          <a:p>
            <a:pPr marL="0" indent="0">
              <a:buNone/>
            </a:pPr>
            <a:endParaRPr lang="en-US" dirty="0"/>
          </a:p>
        </p:txBody>
      </p:sp>
      <p:sp>
        <p:nvSpPr>
          <p:cNvPr id="41" name="Shape 39"/>
          <p:cNvSpPr/>
          <p:nvPr/>
        </p:nvSpPr>
        <p:spPr>
          <a:xfrm>
            <a:off x="6299002" y="2741265"/>
            <a:ext cx="0" cy="1062038"/>
          </a:xfrm>
          <a:prstGeom prst="line">
            <a:avLst/>
          </a:prstGeom>
          <a:noFill/>
          <a:ln w="38100">
            <a:solidFill>
              <a:srgbClr val="DC2626"/>
            </a:solidFill>
            <a:prstDash val="solid"/>
          </a:ln>
        </p:spPr>
        <p:txBody>
          <a:bodyPr/>
          <a:lstStyle/>
          <a:p>
            <a:endParaRPr lang="en-US"/>
          </a:p>
        </p:txBody>
      </p:sp>
      <p:sp>
        <p:nvSpPr>
          <p:cNvPr id="42" name="Text 40"/>
          <p:cNvSpPr/>
          <p:nvPr/>
        </p:nvSpPr>
        <p:spPr>
          <a:xfrm>
            <a:off x="6432352" y="2855565"/>
            <a:ext cx="2260675"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991B1B"/>
                </a:solidFill>
                <a:latin typeface="Arial" pitchFamily="34" charset="0"/>
                <a:ea typeface="Arial" pitchFamily="34" charset="-122"/>
                <a:cs typeface="Arial" pitchFamily="34" charset="-120"/>
              </a:rPr>
              <a:t>AVOID</a:t>
            </a:r>
            <a:endParaRPr lang="en-US" sz="750" dirty="0"/>
          </a:p>
        </p:txBody>
      </p:sp>
      <p:sp>
        <p:nvSpPr>
          <p:cNvPr id="43" name="Text 41"/>
          <p:cNvSpPr/>
          <p:nvPr/>
        </p:nvSpPr>
        <p:spPr>
          <a:xfrm>
            <a:off x="6432352" y="3046065"/>
            <a:ext cx="2260675" cy="642938"/>
          </a:xfrm>
          <a:prstGeom prst="rect">
            <a:avLst/>
          </a:prstGeom>
          <a:noFill/>
          <a:ln/>
        </p:spPr>
        <p:txBody>
          <a:bodyPr wrap="square" lIns="0" tIns="0" rIns="0" bIns="0" rtlCol="0" anchor="t"/>
          <a:lstStyle/>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Vague instructions</a:t>
            </a:r>
            <a:endParaRPr lang="en-US" sz="675" dirty="0"/>
          </a:p>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 Conflicting directives</a:t>
            </a:r>
            <a:endParaRPr lang="en-US" sz="675" dirty="0"/>
          </a:p>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 Too many requirements</a:t>
            </a:r>
            <a:endParaRPr lang="en-US" sz="675" dirty="0"/>
          </a:p>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 No examples</a:t>
            </a:r>
            <a:endParaRPr lang="en-US" sz="675" dirty="0"/>
          </a:p>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 Untested prompts</a:t>
            </a:r>
            <a:endParaRPr lang="en-US" sz="675" dirty="0"/>
          </a:p>
        </p:txBody>
      </p:sp>
      <p:sp>
        <p:nvSpPr>
          <p:cNvPr id="44" name="Text 42"/>
          <p:cNvSpPr/>
          <p:nvPr/>
        </p:nvSpPr>
        <p:spPr>
          <a:xfrm>
            <a:off x="6279952" y="3898553"/>
            <a:ext cx="2483048" cy="659011"/>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45" name="Text 43"/>
          <p:cNvSpPr/>
          <p:nvPr/>
        </p:nvSpPr>
        <p:spPr>
          <a:xfrm>
            <a:off x="6403777" y="4022378"/>
            <a:ext cx="2280106"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TELL AI IT'S DICTATED</a:t>
            </a:r>
            <a:endParaRPr lang="en-US" sz="750" dirty="0"/>
          </a:p>
        </p:txBody>
      </p:sp>
      <p:sp>
        <p:nvSpPr>
          <p:cNvPr id="46" name="Text 44"/>
          <p:cNvSpPr/>
          <p:nvPr/>
        </p:nvSpPr>
        <p:spPr>
          <a:xfrm>
            <a:off x="6403777" y="4193828"/>
            <a:ext cx="2280106"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"The User Message contains dictated speech. Please format..."</a:t>
            </a:r>
            <a:endParaRPr lang="en-US" sz="6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ADVANCED FEATURES</a:t>
            </a:r>
            <a:endParaRPr lang="en-US" sz="750" dirty="0"/>
          </a:p>
        </p:txBody>
      </p:sp>
      <p:sp>
        <p:nvSpPr>
          <p:cNvPr id="3" name="Text 1"/>
          <p:cNvSpPr/>
          <p:nvPr/>
        </p:nvSpPr>
        <p:spPr>
          <a:xfrm>
            <a:off x="381000" y="419100"/>
            <a:ext cx="4284536" cy="247650"/>
          </a:xfrm>
          <a:prstGeom prst="rect">
            <a:avLst/>
          </a:prstGeom>
          <a:noFill/>
          <a:ln/>
        </p:spPr>
        <p:txBody>
          <a:bodyPr wrap="square" lIns="0" tIns="0" rIns="0" bIns="0" rtlCol="0" anchor="t"/>
          <a:lstStyle/>
          <a:p>
            <a:pPr marL="0" indent="0" algn="l">
              <a:lnSpc>
                <a:spcPts val="1950"/>
              </a:lnSpc>
              <a:buNone/>
            </a:pPr>
            <a:r>
              <a:rPr lang="en-US" sz="1950" dirty="0">
                <a:solidFill>
                  <a:srgbClr val="1A1F2E"/>
                </a:solidFill>
                <a:latin typeface="Georgia" pitchFamily="34" charset="0"/>
                <a:ea typeface="Georgia" pitchFamily="34" charset="-122"/>
                <a:cs typeface="Georgia" pitchFamily="34" charset="-120"/>
              </a:rPr>
              <a:t>Context Awareness &amp; Mode Switching</a:t>
            </a:r>
            <a:endParaRPr lang="en-US" sz="1950" dirty="0"/>
          </a:p>
        </p:txBody>
      </p:sp>
      <p:sp>
        <p:nvSpPr>
          <p:cNvPr id="4" name="Text 2"/>
          <p:cNvSpPr/>
          <p:nvPr/>
        </p:nvSpPr>
        <p:spPr>
          <a:xfrm>
            <a:off x="381000" y="1355675"/>
            <a:ext cx="284087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THREE CONTEXT TYPES</a:t>
            </a:r>
            <a:endParaRPr lang="en-US" sz="900" dirty="0"/>
          </a:p>
        </p:txBody>
      </p:sp>
      <p:sp>
        <p:nvSpPr>
          <p:cNvPr id="5" name="Text 3"/>
          <p:cNvSpPr/>
          <p:nvPr/>
        </p:nvSpPr>
        <p:spPr>
          <a:xfrm>
            <a:off x="381000" y="1629966"/>
            <a:ext cx="2785170" cy="664666"/>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400050" y="1629966"/>
            <a:ext cx="0" cy="664666"/>
          </a:xfrm>
          <a:prstGeom prst="line">
            <a:avLst/>
          </a:prstGeom>
          <a:noFill/>
          <a:ln w="38100">
            <a:solidFill>
              <a:srgbClr val="059669"/>
            </a:solidFill>
            <a:prstDash val="solid"/>
          </a:ln>
        </p:spPr>
        <p:txBody>
          <a:bodyPr/>
          <a:lstStyle/>
          <a:p>
            <a:endParaRPr lang="en-US"/>
          </a:p>
        </p:txBody>
      </p:sp>
      <p:sp>
        <p:nvSpPr>
          <p:cNvPr id="7" name="Text 5"/>
          <p:cNvSpPr/>
          <p:nvPr/>
        </p:nvSpPr>
        <p:spPr>
          <a:xfrm>
            <a:off x="533400" y="1744266"/>
            <a:ext cx="256883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APPLICATION CONTEXT</a:t>
            </a:r>
            <a:endParaRPr lang="en-US" sz="750" dirty="0"/>
          </a:p>
        </p:txBody>
      </p:sp>
      <p:sp>
        <p:nvSpPr>
          <p:cNvPr id="8" name="Text 6"/>
          <p:cNvSpPr/>
          <p:nvPr/>
        </p:nvSpPr>
        <p:spPr>
          <a:xfrm>
            <a:off x="533400" y="1915716"/>
            <a:ext cx="2568839" cy="119955"/>
          </a:xfrm>
          <a:prstGeom prst="rect">
            <a:avLst/>
          </a:prstGeom>
          <a:noFill/>
          <a:ln/>
        </p:spPr>
        <p:txBody>
          <a:bodyPr wrap="square" lIns="0" tIns="0" rIns="0" bIns="0" rtlCol="0" anchor="t"/>
          <a:lstStyle/>
          <a:p>
            <a:pPr marL="0" indent="0" algn="l">
              <a:lnSpc>
                <a:spcPts val="945"/>
              </a:lnSpc>
              <a:spcAft>
                <a:spcPts val="300"/>
              </a:spcAft>
              <a:buNone/>
            </a:pPr>
            <a:r>
              <a:rPr lang="en-US" sz="675" dirty="0">
                <a:solidFill>
                  <a:srgbClr val="6B7280"/>
                </a:solidFill>
                <a:latin typeface="Arial" pitchFamily="34" charset="0"/>
                <a:ea typeface="Arial" pitchFamily="34" charset="-122"/>
                <a:cs typeface="Arial" pitchFamily="34" charset="-120"/>
              </a:rPr>
              <a:t>Knows which app is active (VS Code, Teams, Chrome, etc.)</a:t>
            </a:r>
            <a:endParaRPr lang="en-US" sz="675" dirty="0"/>
          </a:p>
        </p:txBody>
      </p:sp>
      <p:sp>
        <p:nvSpPr>
          <p:cNvPr id="9" name="Text 7"/>
          <p:cNvSpPr/>
          <p:nvPr/>
        </p:nvSpPr>
        <p:spPr>
          <a:xfrm>
            <a:off x="533400" y="2073771"/>
            <a:ext cx="2568839" cy="106561"/>
          </a:xfrm>
          <a:prstGeom prst="rect">
            <a:avLst/>
          </a:prstGeom>
          <a:noFill/>
          <a:ln/>
        </p:spPr>
        <p:txBody>
          <a:bodyPr wrap="square" lIns="0" tIns="0" rIns="0" bIns="0" rtlCol="0" anchor="t"/>
          <a:lstStyle/>
          <a:p>
            <a:pPr marL="0" indent="0" algn="l">
              <a:lnSpc>
                <a:spcPts val="840"/>
              </a:lnSpc>
              <a:buNone/>
            </a:pPr>
            <a:r>
              <a:rPr lang="en-US" sz="600" dirty="0">
                <a:solidFill>
                  <a:srgbClr val="9CA3AF"/>
                </a:solidFill>
                <a:latin typeface="Arial" pitchFamily="34" charset="0"/>
                <a:ea typeface="Arial" pitchFamily="34" charset="-122"/>
                <a:cs typeface="Arial" pitchFamily="34" charset="-120"/>
              </a:rPr>
              <a:t>Captured: After voice processing, before AI</a:t>
            </a:r>
            <a:endParaRPr lang="en-US" sz="600" dirty="0"/>
          </a:p>
        </p:txBody>
      </p:sp>
      <p:sp>
        <p:nvSpPr>
          <p:cNvPr id="10" name="Text 8"/>
          <p:cNvSpPr/>
          <p:nvPr/>
        </p:nvSpPr>
        <p:spPr>
          <a:xfrm>
            <a:off x="381000" y="2370832"/>
            <a:ext cx="2785170" cy="664666"/>
          </a:xfrm>
          <a:prstGeom prst="rect">
            <a:avLst/>
          </a:prstGeom>
          <a:solidFill>
            <a:srgbClr val="FFFFFF"/>
          </a:solidFill>
          <a:ln/>
        </p:spPr>
        <p:txBody>
          <a:bodyPr wrap="square" rtlCol="0" anchor="ctr"/>
          <a:lstStyle/>
          <a:p>
            <a:pPr marL="0" indent="0">
              <a:buNone/>
            </a:pPr>
            <a:endParaRPr lang="en-US" dirty="0"/>
          </a:p>
        </p:txBody>
      </p:sp>
      <p:sp>
        <p:nvSpPr>
          <p:cNvPr id="11" name="Shape 9"/>
          <p:cNvSpPr/>
          <p:nvPr/>
        </p:nvSpPr>
        <p:spPr>
          <a:xfrm>
            <a:off x="400050" y="2370832"/>
            <a:ext cx="0" cy="664666"/>
          </a:xfrm>
          <a:prstGeom prst="line">
            <a:avLst/>
          </a:prstGeom>
          <a:noFill/>
          <a:ln w="38100">
            <a:solidFill>
              <a:srgbClr val="3B82F6"/>
            </a:solidFill>
            <a:prstDash val="solid"/>
          </a:ln>
        </p:spPr>
        <p:txBody>
          <a:bodyPr/>
          <a:lstStyle/>
          <a:p>
            <a:endParaRPr lang="en-US"/>
          </a:p>
        </p:txBody>
      </p:sp>
      <p:sp>
        <p:nvSpPr>
          <p:cNvPr id="12" name="Text 10"/>
          <p:cNvSpPr/>
          <p:nvPr/>
        </p:nvSpPr>
        <p:spPr>
          <a:xfrm>
            <a:off x="533400" y="2485132"/>
            <a:ext cx="256883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3B82F6"/>
                </a:solidFill>
                <a:latin typeface="Arial" pitchFamily="34" charset="0"/>
                <a:ea typeface="Arial" pitchFamily="34" charset="-122"/>
                <a:cs typeface="Arial" pitchFamily="34" charset="-120"/>
              </a:rPr>
              <a:t>SELECTED TEXT CONTEXT</a:t>
            </a:r>
            <a:endParaRPr lang="en-US" sz="750" dirty="0"/>
          </a:p>
        </p:txBody>
      </p:sp>
      <p:sp>
        <p:nvSpPr>
          <p:cNvPr id="13" name="Text 11"/>
          <p:cNvSpPr/>
          <p:nvPr/>
        </p:nvSpPr>
        <p:spPr>
          <a:xfrm>
            <a:off x="533400" y="2656582"/>
            <a:ext cx="2568839" cy="119955"/>
          </a:xfrm>
          <a:prstGeom prst="rect">
            <a:avLst/>
          </a:prstGeom>
          <a:noFill/>
          <a:ln/>
        </p:spPr>
        <p:txBody>
          <a:bodyPr wrap="square" lIns="0" tIns="0" rIns="0" bIns="0" rtlCol="0" anchor="t"/>
          <a:lstStyle/>
          <a:p>
            <a:pPr marL="0" indent="0" algn="l">
              <a:lnSpc>
                <a:spcPts val="945"/>
              </a:lnSpc>
              <a:spcAft>
                <a:spcPts val="300"/>
              </a:spcAft>
              <a:buNone/>
            </a:pPr>
            <a:r>
              <a:rPr lang="en-US" sz="675" dirty="0">
                <a:solidFill>
                  <a:srgbClr val="6B7280"/>
                </a:solidFill>
                <a:latin typeface="Arial" pitchFamily="34" charset="0"/>
                <a:ea typeface="Arial" pitchFamily="34" charset="-122"/>
                <a:cs typeface="Arial" pitchFamily="34" charset="-120"/>
              </a:rPr>
              <a:t>Passes highlighted text to AI for reference or transformation</a:t>
            </a:r>
            <a:endParaRPr lang="en-US" sz="675" dirty="0"/>
          </a:p>
        </p:txBody>
      </p:sp>
      <p:sp>
        <p:nvSpPr>
          <p:cNvPr id="14" name="Text 12"/>
          <p:cNvSpPr/>
          <p:nvPr/>
        </p:nvSpPr>
        <p:spPr>
          <a:xfrm>
            <a:off x="533400" y="2814638"/>
            <a:ext cx="2568839" cy="106561"/>
          </a:xfrm>
          <a:prstGeom prst="rect">
            <a:avLst/>
          </a:prstGeom>
          <a:noFill/>
          <a:ln/>
        </p:spPr>
        <p:txBody>
          <a:bodyPr wrap="square" lIns="0" tIns="0" rIns="0" bIns="0" rtlCol="0" anchor="t"/>
          <a:lstStyle/>
          <a:p>
            <a:pPr marL="0" indent="0" algn="l">
              <a:lnSpc>
                <a:spcPts val="840"/>
              </a:lnSpc>
              <a:buNone/>
            </a:pPr>
            <a:r>
              <a:rPr lang="en-US" sz="600" dirty="0">
                <a:solidFill>
                  <a:srgbClr val="9CA3AF"/>
                </a:solidFill>
                <a:latin typeface="Arial" pitchFamily="34" charset="0"/>
                <a:ea typeface="Arial" pitchFamily="34" charset="-122"/>
                <a:cs typeface="Arial" pitchFamily="34" charset="-120"/>
              </a:rPr>
              <a:t>Captured: Exactly when recording starts</a:t>
            </a:r>
            <a:endParaRPr lang="en-US" sz="600" dirty="0"/>
          </a:p>
        </p:txBody>
      </p:sp>
      <p:sp>
        <p:nvSpPr>
          <p:cNvPr id="15" name="Text 13"/>
          <p:cNvSpPr/>
          <p:nvPr/>
        </p:nvSpPr>
        <p:spPr>
          <a:xfrm>
            <a:off x="381000" y="3111698"/>
            <a:ext cx="2785170" cy="664666"/>
          </a:xfrm>
          <a:prstGeom prst="rect">
            <a:avLst/>
          </a:prstGeom>
          <a:solidFill>
            <a:srgbClr val="FFFFFF"/>
          </a:solidFill>
          <a:ln/>
        </p:spPr>
        <p:txBody>
          <a:bodyPr wrap="square" rtlCol="0" anchor="ctr"/>
          <a:lstStyle/>
          <a:p>
            <a:pPr marL="0" indent="0">
              <a:buNone/>
            </a:pPr>
            <a:endParaRPr lang="en-US" dirty="0"/>
          </a:p>
        </p:txBody>
      </p:sp>
      <p:sp>
        <p:nvSpPr>
          <p:cNvPr id="16" name="Shape 14"/>
          <p:cNvSpPr/>
          <p:nvPr/>
        </p:nvSpPr>
        <p:spPr>
          <a:xfrm>
            <a:off x="400050" y="3111698"/>
            <a:ext cx="0" cy="664666"/>
          </a:xfrm>
          <a:prstGeom prst="line">
            <a:avLst/>
          </a:prstGeom>
          <a:noFill/>
          <a:ln w="38100">
            <a:solidFill>
              <a:srgbClr val="8B5CF6"/>
            </a:solidFill>
            <a:prstDash val="solid"/>
          </a:ln>
        </p:spPr>
        <p:txBody>
          <a:bodyPr/>
          <a:lstStyle/>
          <a:p>
            <a:endParaRPr lang="en-US"/>
          </a:p>
        </p:txBody>
      </p:sp>
      <p:sp>
        <p:nvSpPr>
          <p:cNvPr id="17" name="Text 15"/>
          <p:cNvSpPr/>
          <p:nvPr/>
        </p:nvSpPr>
        <p:spPr>
          <a:xfrm>
            <a:off x="533400" y="3225998"/>
            <a:ext cx="256883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8B5CF6"/>
                </a:solidFill>
                <a:latin typeface="Arial" pitchFamily="34" charset="0"/>
                <a:ea typeface="Arial" pitchFamily="34" charset="-122"/>
                <a:cs typeface="Arial" pitchFamily="34" charset="-120"/>
              </a:rPr>
              <a:t>CLIPBOARD CONTEXT</a:t>
            </a:r>
            <a:endParaRPr lang="en-US" sz="750" dirty="0"/>
          </a:p>
        </p:txBody>
      </p:sp>
      <p:sp>
        <p:nvSpPr>
          <p:cNvPr id="18" name="Text 16"/>
          <p:cNvSpPr/>
          <p:nvPr/>
        </p:nvSpPr>
        <p:spPr>
          <a:xfrm>
            <a:off x="533400" y="3397448"/>
            <a:ext cx="2568839" cy="119955"/>
          </a:xfrm>
          <a:prstGeom prst="rect">
            <a:avLst/>
          </a:prstGeom>
          <a:noFill/>
          <a:ln/>
        </p:spPr>
        <p:txBody>
          <a:bodyPr wrap="square" lIns="0" tIns="0" rIns="0" bIns="0" rtlCol="0" anchor="t"/>
          <a:lstStyle/>
          <a:p>
            <a:pPr marL="0" indent="0" algn="l">
              <a:lnSpc>
                <a:spcPts val="945"/>
              </a:lnSpc>
              <a:spcAft>
                <a:spcPts val="300"/>
              </a:spcAft>
              <a:buNone/>
            </a:pPr>
            <a:r>
              <a:rPr lang="en-US" sz="675" dirty="0">
                <a:solidFill>
                  <a:srgbClr val="6B7280"/>
                </a:solidFill>
                <a:latin typeface="Arial" pitchFamily="34" charset="0"/>
                <a:ea typeface="Arial" pitchFamily="34" charset="-122"/>
                <a:cs typeface="Arial" pitchFamily="34" charset="-120"/>
              </a:rPr>
              <a:t>Uses recently copied content as reference material</a:t>
            </a:r>
            <a:endParaRPr lang="en-US" sz="675" dirty="0"/>
          </a:p>
        </p:txBody>
      </p:sp>
      <p:sp>
        <p:nvSpPr>
          <p:cNvPr id="19" name="Text 17"/>
          <p:cNvSpPr/>
          <p:nvPr/>
        </p:nvSpPr>
        <p:spPr>
          <a:xfrm>
            <a:off x="533400" y="3555504"/>
            <a:ext cx="2568839" cy="106561"/>
          </a:xfrm>
          <a:prstGeom prst="rect">
            <a:avLst/>
          </a:prstGeom>
          <a:noFill/>
          <a:ln/>
        </p:spPr>
        <p:txBody>
          <a:bodyPr wrap="square" lIns="0" tIns="0" rIns="0" bIns="0" rtlCol="0" anchor="t"/>
          <a:lstStyle/>
          <a:p>
            <a:pPr marL="0" indent="0" algn="l">
              <a:lnSpc>
                <a:spcPts val="840"/>
              </a:lnSpc>
              <a:buNone/>
            </a:pPr>
            <a:r>
              <a:rPr lang="en-US" sz="600" dirty="0">
                <a:solidFill>
                  <a:srgbClr val="9CA3AF"/>
                </a:solidFill>
                <a:latin typeface="Arial" pitchFamily="34" charset="0"/>
                <a:ea typeface="Arial" pitchFamily="34" charset="-122"/>
                <a:cs typeface="Arial" pitchFamily="34" charset="-120"/>
              </a:rPr>
              <a:t>Captured: 3 sec before OR during recording</a:t>
            </a:r>
            <a:endParaRPr lang="en-US" sz="600" dirty="0"/>
          </a:p>
        </p:txBody>
      </p:sp>
      <p:sp>
        <p:nvSpPr>
          <p:cNvPr id="20" name="Text 18"/>
          <p:cNvSpPr/>
          <p:nvPr/>
        </p:nvSpPr>
        <p:spPr>
          <a:xfrm>
            <a:off x="381000" y="3852565"/>
            <a:ext cx="2785170" cy="639961"/>
          </a:xfrm>
          <a:prstGeom prst="rect">
            <a:avLst/>
          </a:prstGeom>
          <a:solidFill>
            <a:srgbClr val="FEF3C7"/>
          </a:solidFill>
          <a:ln/>
        </p:spPr>
        <p:txBody>
          <a:bodyPr wrap="square" rtlCol="0" anchor="ctr"/>
          <a:lstStyle/>
          <a:p>
            <a:pPr marL="0" indent="0">
              <a:buNone/>
            </a:pPr>
            <a:endParaRPr lang="en-US" dirty="0"/>
          </a:p>
        </p:txBody>
      </p:sp>
      <p:sp>
        <p:nvSpPr>
          <p:cNvPr id="21" name="Shape 19"/>
          <p:cNvSpPr/>
          <p:nvPr/>
        </p:nvSpPr>
        <p:spPr>
          <a:xfrm>
            <a:off x="400050" y="3852565"/>
            <a:ext cx="0" cy="639961"/>
          </a:xfrm>
          <a:prstGeom prst="line">
            <a:avLst/>
          </a:prstGeom>
          <a:noFill/>
          <a:ln w="38100">
            <a:solidFill>
              <a:srgbClr val="F59E0B"/>
            </a:solidFill>
            <a:prstDash val="solid"/>
          </a:ln>
        </p:spPr>
        <p:txBody>
          <a:bodyPr/>
          <a:lstStyle/>
          <a:p>
            <a:endParaRPr lang="en-US"/>
          </a:p>
        </p:txBody>
      </p:sp>
      <p:sp>
        <p:nvSpPr>
          <p:cNvPr id="22" name="Text 20"/>
          <p:cNvSpPr/>
          <p:nvPr/>
        </p:nvSpPr>
        <p:spPr>
          <a:xfrm>
            <a:off x="533400" y="3966865"/>
            <a:ext cx="256883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SUPER MODE NOTE</a:t>
            </a:r>
            <a:endParaRPr lang="en-US" sz="750" dirty="0"/>
          </a:p>
        </p:txBody>
      </p:sp>
      <p:sp>
        <p:nvSpPr>
          <p:cNvPr id="23" name="Text 21"/>
          <p:cNvSpPr/>
          <p:nvPr/>
        </p:nvSpPr>
        <p:spPr>
          <a:xfrm>
            <a:off x="533400" y="4138315"/>
            <a:ext cx="2568839"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Super Mode enables ALL three by default. Custom modes let you choose which to enable.</a:t>
            </a:r>
            <a:endParaRPr lang="en-US" sz="675" dirty="0"/>
          </a:p>
        </p:txBody>
      </p:sp>
      <p:sp>
        <p:nvSpPr>
          <p:cNvPr id="24" name="Text 22"/>
          <p:cNvSpPr/>
          <p:nvPr/>
        </p:nvSpPr>
        <p:spPr>
          <a:xfrm>
            <a:off x="3318570" y="1392734"/>
            <a:ext cx="284087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FOUR WAYS TO SWITCH MODES</a:t>
            </a:r>
            <a:endParaRPr lang="en-US" sz="900" dirty="0"/>
          </a:p>
        </p:txBody>
      </p:sp>
      <p:sp>
        <p:nvSpPr>
          <p:cNvPr id="25" name="Text 23"/>
          <p:cNvSpPr/>
          <p:nvPr/>
        </p:nvSpPr>
        <p:spPr>
          <a:xfrm>
            <a:off x="3318570" y="1667024"/>
            <a:ext cx="2785170" cy="639961"/>
          </a:xfrm>
          <a:prstGeom prst="rect">
            <a:avLst/>
          </a:prstGeom>
          <a:solidFill>
            <a:srgbClr val="1A1F2E"/>
          </a:solidFill>
          <a:ln/>
        </p:spPr>
        <p:txBody>
          <a:bodyPr wrap="square" rtlCol="0" anchor="ctr"/>
          <a:lstStyle/>
          <a:p>
            <a:pPr marL="0" indent="0">
              <a:buNone/>
            </a:pPr>
            <a:endParaRPr lang="en-US" dirty="0"/>
          </a:p>
        </p:txBody>
      </p:sp>
      <p:sp>
        <p:nvSpPr>
          <p:cNvPr id="26" name="Text 24"/>
          <p:cNvSpPr/>
          <p:nvPr/>
        </p:nvSpPr>
        <p:spPr>
          <a:xfrm>
            <a:off x="3432870" y="1781324"/>
            <a:ext cx="260770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1. KEYBOARD SHORTCUTS</a:t>
            </a:r>
            <a:endParaRPr lang="en-US" sz="750" dirty="0"/>
          </a:p>
        </p:txBody>
      </p:sp>
      <p:sp>
        <p:nvSpPr>
          <p:cNvPr id="27" name="Text 25"/>
          <p:cNvSpPr/>
          <p:nvPr/>
        </p:nvSpPr>
        <p:spPr>
          <a:xfrm>
            <a:off x="3432870" y="1952774"/>
            <a:ext cx="260770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Assign unique shortcuts per mode</a:t>
            </a:r>
            <a:endParaRPr lang="en-US" sz="675" dirty="0"/>
          </a:p>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Configure in Settings → Keyboard</a:t>
            </a:r>
            <a:endParaRPr lang="en-US" sz="675" dirty="0"/>
          </a:p>
        </p:txBody>
      </p:sp>
      <p:sp>
        <p:nvSpPr>
          <p:cNvPr id="28" name="Text 26"/>
          <p:cNvSpPr/>
          <p:nvPr/>
        </p:nvSpPr>
        <p:spPr>
          <a:xfrm>
            <a:off x="3318570" y="2383185"/>
            <a:ext cx="2785170" cy="639961"/>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3432870" y="2497485"/>
            <a:ext cx="260770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2. MENU BAR / SYSTEM TRAY</a:t>
            </a:r>
            <a:endParaRPr lang="en-US" sz="750" dirty="0"/>
          </a:p>
        </p:txBody>
      </p:sp>
      <p:sp>
        <p:nvSpPr>
          <p:cNvPr id="30" name="Text 28"/>
          <p:cNvSpPr/>
          <p:nvPr/>
        </p:nvSpPr>
        <p:spPr>
          <a:xfrm>
            <a:off x="3432870" y="2668935"/>
            <a:ext cx="260770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Click SuperWhisper icon → Select mode</a:t>
            </a:r>
            <a:endParaRPr lang="en-US" sz="675" dirty="0"/>
          </a:p>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Visual indicator shows current mode</a:t>
            </a:r>
            <a:endParaRPr lang="en-US" sz="675" dirty="0"/>
          </a:p>
        </p:txBody>
      </p:sp>
      <p:sp>
        <p:nvSpPr>
          <p:cNvPr id="31" name="Text 29"/>
          <p:cNvSpPr/>
          <p:nvPr/>
        </p:nvSpPr>
        <p:spPr>
          <a:xfrm>
            <a:off x="3318570" y="3099346"/>
            <a:ext cx="2785170" cy="639961"/>
          </a:xfrm>
          <a:prstGeom prst="rect">
            <a:avLst/>
          </a:prstGeom>
          <a:solidFill>
            <a:srgbClr val="1A1F2E"/>
          </a:solidFill>
          <a:ln/>
        </p:spPr>
        <p:txBody>
          <a:bodyPr wrap="square" rtlCol="0" anchor="ctr"/>
          <a:lstStyle/>
          <a:p>
            <a:pPr marL="0" indent="0">
              <a:buNone/>
            </a:pPr>
            <a:endParaRPr lang="en-US" dirty="0"/>
          </a:p>
        </p:txBody>
      </p:sp>
      <p:sp>
        <p:nvSpPr>
          <p:cNvPr id="32" name="Text 30"/>
          <p:cNvSpPr/>
          <p:nvPr/>
        </p:nvSpPr>
        <p:spPr>
          <a:xfrm>
            <a:off x="3432870" y="3213646"/>
            <a:ext cx="260770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3. AUTO-ACTIVATION RULES</a:t>
            </a:r>
            <a:endParaRPr lang="en-US" sz="750" dirty="0"/>
          </a:p>
        </p:txBody>
      </p:sp>
      <p:sp>
        <p:nvSpPr>
          <p:cNvPr id="33" name="Text 31"/>
          <p:cNvSpPr/>
          <p:nvPr/>
        </p:nvSpPr>
        <p:spPr>
          <a:xfrm>
            <a:off x="3432870" y="3385096"/>
            <a:ext cx="260770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Auto-switch when specific apps are active</a:t>
            </a:r>
            <a:endParaRPr lang="en-US" sz="675" dirty="0"/>
          </a:p>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e.g., VS Code → Coding Mode</a:t>
            </a:r>
            <a:endParaRPr lang="en-US" sz="675" dirty="0"/>
          </a:p>
        </p:txBody>
      </p:sp>
      <p:sp>
        <p:nvSpPr>
          <p:cNvPr id="34" name="Text 32"/>
          <p:cNvSpPr/>
          <p:nvPr/>
        </p:nvSpPr>
        <p:spPr>
          <a:xfrm>
            <a:off x="3318570" y="3815507"/>
            <a:ext cx="2785170" cy="639961"/>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3432870" y="3929807"/>
            <a:ext cx="260770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4. DEEP LINKS</a:t>
            </a:r>
            <a:endParaRPr lang="en-US" sz="750" dirty="0"/>
          </a:p>
        </p:txBody>
      </p:sp>
      <p:sp>
        <p:nvSpPr>
          <p:cNvPr id="36" name="Text 34"/>
          <p:cNvSpPr/>
          <p:nvPr/>
        </p:nvSpPr>
        <p:spPr>
          <a:xfrm>
            <a:off x="3432870" y="4101257"/>
            <a:ext cx="260770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superwhisper://mode/[name]</a:t>
            </a:r>
            <a:endParaRPr lang="en-US" sz="675" dirty="0"/>
          </a:p>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Integrate with Alfred, Raycast, scripts</a:t>
            </a:r>
            <a:endParaRPr lang="en-US" sz="675" dirty="0"/>
          </a:p>
        </p:txBody>
      </p:sp>
      <p:sp>
        <p:nvSpPr>
          <p:cNvPr id="37" name="Text 35"/>
          <p:cNvSpPr/>
          <p:nvPr/>
        </p:nvSpPr>
        <p:spPr>
          <a:xfrm>
            <a:off x="6256139" y="1379637"/>
            <a:ext cx="255684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AUTO-ACTIVATION SETUP</a:t>
            </a:r>
            <a:endParaRPr lang="en-US" sz="900" dirty="0"/>
          </a:p>
        </p:txBody>
      </p:sp>
      <p:sp>
        <p:nvSpPr>
          <p:cNvPr id="38" name="Text 36"/>
          <p:cNvSpPr/>
          <p:nvPr/>
        </p:nvSpPr>
        <p:spPr>
          <a:xfrm>
            <a:off x="6256139" y="1653927"/>
            <a:ext cx="2506712" cy="1123504"/>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9" name="Text 37"/>
          <p:cNvSpPr/>
          <p:nvPr/>
        </p:nvSpPr>
        <p:spPr>
          <a:xfrm>
            <a:off x="6379964" y="1777752"/>
            <a:ext cx="2304243"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EXAMPLE RULES</a:t>
            </a:r>
            <a:endParaRPr lang="en-US" sz="750" dirty="0"/>
          </a:p>
        </p:txBody>
      </p:sp>
      <p:sp>
        <p:nvSpPr>
          <p:cNvPr id="40" name="Text 38"/>
          <p:cNvSpPr/>
          <p:nvPr/>
        </p:nvSpPr>
        <p:spPr>
          <a:xfrm>
            <a:off x="6379964" y="1968252"/>
            <a:ext cx="2304243" cy="685354"/>
          </a:xfrm>
          <a:prstGeom prst="rect">
            <a:avLst/>
          </a:prstGeom>
          <a:noFill/>
          <a:ln/>
        </p:spPr>
        <p:txBody>
          <a:bodyPr wrap="square" lIns="0" tIns="0" rIns="0" bIns="0" rtlCol="0" anchor="t"/>
          <a:lstStyle/>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VS Code → "Coding Mode"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Teams → "Chat Mode"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Outlook → "Email Mode"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Chrome → "Browse Mode"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Slack → "Slack Mode"</a:t>
            </a:r>
            <a:endParaRPr lang="en-US" sz="675" dirty="0"/>
          </a:p>
        </p:txBody>
      </p:sp>
      <p:sp>
        <p:nvSpPr>
          <p:cNvPr id="41" name="Text 39"/>
          <p:cNvSpPr/>
          <p:nvPr/>
        </p:nvSpPr>
        <p:spPr>
          <a:xfrm>
            <a:off x="6256139" y="2853630"/>
            <a:ext cx="2506712" cy="879872"/>
          </a:xfrm>
          <a:prstGeom prst="rect">
            <a:avLst/>
          </a:prstGeom>
          <a:solidFill>
            <a:srgbClr val="DCFCE7"/>
          </a:solidFill>
          <a:ln/>
        </p:spPr>
        <p:txBody>
          <a:bodyPr wrap="square" rtlCol="0" anchor="ctr"/>
          <a:lstStyle/>
          <a:p>
            <a:pPr marL="0" indent="0">
              <a:buNone/>
            </a:pPr>
            <a:endParaRPr lang="en-US" dirty="0"/>
          </a:p>
        </p:txBody>
      </p:sp>
      <p:sp>
        <p:nvSpPr>
          <p:cNvPr id="42" name="Shape 40"/>
          <p:cNvSpPr/>
          <p:nvPr/>
        </p:nvSpPr>
        <p:spPr>
          <a:xfrm>
            <a:off x="6275189" y="2853630"/>
            <a:ext cx="0" cy="879872"/>
          </a:xfrm>
          <a:prstGeom prst="line">
            <a:avLst/>
          </a:prstGeom>
          <a:noFill/>
          <a:ln w="38100">
            <a:solidFill>
              <a:srgbClr val="059669"/>
            </a:solidFill>
            <a:prstDash val="solid"/>
          </a:ln>
        </p:spPr>
        <p:txBody>
          <a:bodyPr/>
          <a:lstStyle/>
          <a:p>
            <a:endParaRPr lang="en-US"/>
          </a:p>
        </p:txBody>
      </p:sp>
      <p:sp>
        <p:nvSpPr>
          <p:cNvPr id="43" name="Text 41"/>
          <p:cNvSpPr/>
          <p:nvPr/>
        </p:nvSpPr>
        <p:spPr>
          <a:xfrm>
            <a:off x="6408539" y="2967930"/>
            <a:ext cx="228481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HOW TO SET UP</a:t>
            </a:r>
            <a:endParaRPr lang="en-US" sz="750" dirty="0"/>
          </a:p>
        </p:txBody>
      </p:sp>
      <p:sp>
        <p:nvSpPr>
          <p:cNvPr id="44" name="Text 42"/>
          <p:cNvSpPr/>
          <p:nvPr/>
        </p:nvSpPr>
        <p:spPr>
          <a:xfrm>
            <a:off x="6408539" y="3139380"/>
            <a:ext cx="2284812" cy="479822"/>
          </a:xfrm>
          <a:prstGeom prst="rect">
            <a:avLst/>
          </a:prstGeom>
          <a:noFill/>
          <a:ln/>
        </p:spPr>
        <p:txBody>
          <a:bodyPr wrap="square" lIns="0" tIns="0" rIns="0" bIns="0" rtlCol="0" anchor="t"/>
          <a:lstStyle/>
          <a:p>
            <a:pPr marL="0" indent="0" algn="l">
              <a:lnSpc>
                <a:spcPts val="945"/>
              </a:lnSpc>
              <a:buNone/>
            </a:pPr>
            <a:r>
              <a:rPr lang="en-US" sz="675" dirty="0">
                <a:solidFill>
                  <a:srgbClr val="166534"/>
                </a:solidFill>
                <a:latin typeface="Arial" pitchFamily="34" charset="0"/>
                <a:ea typeface="Arial" pitchFamily="34" charset="-122"/>
                <a:cs typeface="Arial" pitchFamily="34" charset="-120"/>
              </a:rPr>
              <a:t>1. Edit your custom mode</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 2. Go to Advanced Settings</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 3. Add Auto-Activation Rule</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 4. Select app or enter URL pattern</a:t>
            </a:r>
            <a:endParaRPr lang="en-US" sz="675" dirty="0"/>
          </a:p>
        </p:txBody>
      </p:sp>
      <p:sp>
        <p:nvSpPr>
          <p:cNvPr id="45" name="Text 43"/>
          <p:cNvSpPr/>
          <p:nvPr/>
        </p:nvSpPr>
        <p:spPr>
          <a:xfrm>
            <a:off x="6256139" y="3809702"/>
            <a:ext cx="2506712" cy="659011"/>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46" name="Text 44"/>
          <p:cNvSpPr/>
          <p:nvPr/>
        </p:nvSpPr>
        <p:spPr>
          <a:xfrm>
            <a:off x="6379964" y="3933527"/>
            <a:ext cx="2304243"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POWER USER TIP</a:t>
            </a:r>
            <a:endParaRPr lang="en-US" sz="750" dirty="0"/>
          </a:p>
        </p:txBody>
      </p:sp>
      <p:sp>
        <p:nvSpPr>
          <p:cNvPr id="47" name="Text 45"/>
          <p:cNvSpPr/>
          <p:nvPr/>
        </p:nvSpPr>
        <p:spPr>
          <a:xfrm>
            <a:off x="6379964" y="4104977"/>
            <a:ext cx="2304243"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Combine auto-activation with context awareness for fully adaptive dictation workflows.</a:t>
            </a:r>
            <a:endParaRPr lang="en-US" sz="6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464E66F-0CBF-0B07-CA1D-42931F422CCE}"/>
              </a:ext>
            </a:extLst>
          </p:cNvPr>
          <p:cNvPicPr>
            <a:picLocks noChangeAspect="1"/>
          </p:cNvPicPr>
          <p:nvPr/>
        </p:nvPicPr>
        <p:blipFill>
          <a:blip r:embed="rId2"/>
          <a:stretch>
            <a:fillRect/>
          </a:stretch>
        </p:blipFill>
        <p:spPr>
          <a:xfrm>
            <a:off x="1529201" y="342900"/>
            <a:ext cx="6085597" cy="4457700"/>
          </a:xfrm>
          <a:prstGeom prst="rect">
            <a:avLst/>
          </a:prstGeom>
        </p:spPr>
      </p:pic>
      <p:sp>
        <p:nvSpPr>
          <p:cNvPr id="3" name="Right Arrow 2">
            <a:extLst>
              <a:ext uri="{FF2B5EF4-FFF2-40B4-BE49-F238E27FC236}">
                <a16:creationId xmlns:a16="http://schemas.microsoft.com/office/drawing/2014/main" id="{1E8E03EE-58BA-84B1-944E-4925057C4185}"/>
              </a:ext>
            </a:extLst>
          </p:cNvPr>
          <p:cNvSpPr/>
          <p:nvPr/>
        </p:nvSpPr>
        <p:spPr>
          <a:xfrm rot="9992190">
            <a:off x="7415134" y="922474"/>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0226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90352ABA-3C9C-5A4D-401E-DE7F1E0E4948}"/>
              </a:ext>
            </a:extLst>
          </p:cNvPr>
          <p:cNvPicPr>
            <a:picLocks noChangeAspect="1"/>
          </p:cNvPicPr>
          <p:nvPr/>
        </p:nvPicPr>
        <p:blipFill>
          <a:blip r:embed="rId2"/>
          <a:stretch>
            <a:fillRect/>
          </a:stretch>
        </p:blipFill>
        <p:spPr>
          <a:xfrm>
            <a:off x="1854241" y="342900"/>
            <a:ext cx="5435518" cy="4457700"/>
          </a:xfrm>
          <a:prstGeom prst="rect">
            <a:avLst/>
          </a:prstGeom>
        </p:spPr>
      </p:pic>
      <p:sp>
        <p:nvSpPr>
          <p:cNvPr id="3" name="Right Arrow 2">
            <a:extLst>
              <a:ext uri="{FF2B5EF4-FFF2-40B4-BE49-F238E27FC236}">
                <a16:creationId xmlns:a16="http://schemas.microsoft.com/office/drawing/2014/main" id="{511ABF6C-AC8D-9B4D-2695-61C77BC9028A}"/>
              </a:ext>
            </a:extLst>
          </p:cNvPr>
          <p:cNvSpPr/>
          <p:nvPr/>
        </p:nvSpPr>
        <p:spPr>
          <a:xfrm rot="9992190">
            <a:off x="7085351" y="2364226"/>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4119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495800"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04800" y="240357"/>
            <a:ext cx="3963924" cy="133350"/>
          </a:xfrm>
          <a:prstGeom prst="rect">
            <a:avLst/>
          </a:prstGeom>
          <a:noFill/>
          <a:ln/>
        </p:spPr>
        <p:txBody>
          <a:bodyPr wrap="square" lIns="0" tIns="0" rIns="0" bIns="0" rtlCol="0" anchor="t"/>
          <a:lstStyle/>
          <a:p>
            <a:pPr marL="0" indent="0" algn="l">
              <a:lnSpc>
                <a:spcPts val="1050"/>
              </a:lnSpc>
              <a:spcAft>
                <a:spcPts val="600"/>
              </a:spcAft>
              <a:buNone/>
            </a:pPr>
            <a:r>
              <a:rPr lang="en-US" sz="750" dirty="0">
                <a:solidFill>
                  <a:srgbClr val="C9A227"/>
                </a:solidFill>
                <a:latin typeface="Arial" pitchFamily="34" charset="0"/>
                <a:ea typeface="Arial" pitchFamily="34" charset="-122"/>
                <a:cs typeface="Arial" pitchFamily="34" charset="-120"/>
              </a:rPr>
              <a:t>RECOGNITION SETTINGS</a:t>
            </a:r>
            <a:endParaRPr lang="en-US" sz="750" dirty="0"/>
          </a:p>
        </p:txBody>
      </p:sp>
      <p:sp>
        <p:nvSpPr>
          <p:cNvPr id="4" name="Text 2"/>
          <p:cNvSpPr/>
          <p:nvPr/>
        </p:nvSpPr>
        <p:spPr>
          <a:xfrm>
            <a:off x="304800" y="602307"/>
            <a:ext cx="2895219" cy="228600"/>
          </a:xfrm>
          <a:prstGeom prst="rect">
            <a:avLst/>
          </a:prstGeom>
          <a:noFill/>
          <a:ln/>
        </p:spPr>
        <p:txBody>
          <a:bodyPr wrap="square" lIns="0" tIns="0" rIns="0" bIns="0" rtlCol="0" anchor="t"/>
          <a:lstStyle/>
          <a:p>
            <a:pPr marL="0" indent="0" algn="l">
              <a:lnSpc>
                <a:spcPts val="1800"/>
              </a:lnSpc>
              <a:spcAft>
                <a:spcPts val="1200"/>
              </a:spcAft>
              <a:buNone/>
            </a:pPr>
            <a:r>
              <a:rPr lang="en-US" sz="1800" dirty="0">
                <a:solidFill>
                  <a:srgbClr val="1A1F2E"/>
                </a:solidFill>
                <a:latin typeface="Georgia" pitchFamily="34" charset="0"/>
                <a:ea typeface="Georgia" pitchFamily="34" charset="-122"/>
                <a:cs typeface="Georgia" pitchFamily="34" charset="-120"/>
              </a:rPr>
              <a:t>Vocabulary &amp; Replacements</a:t>
            </a:r>
            <a:endParaRPr lang="en-US" sz="1800" dirty="0"/>
          </a:p>
        </p:txBody>
      </p:sp>
      <p:sp>
        <p:nvSpPr>
          <p:cNvPr id="5" name="Text 3"/>
          <p:cNvSpPr/>
          <p:nvPr/>
        </p:nvSpPr>
        <p:spPr>
          <a:xfrm>
            <a:off x="304800" y="1135707"/>
            <a:ext cx="3886200" cy="808583"/>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323850" y="1135707"/>
            <a:ext cx="0" cy="808583"/>
          </a:xfrm>
          <a:prstGeom prst="line">
            <a:avLst/>
          </a:prstGeom>
          <a:noFill/>
          <a:ln w="38100">
            <a:solidFill>
              <a:srgbClr val="059669"/>
            </a:solidFill>
            <a:prstDash val="solid"/>
          </a:ln>
        </p:spPr>
        <p:txBody>
          <a:bodyPr/>
          <a:lstStyle/>
          <a:p>
            <a:endParaRPr lang="en-US"/>
          </a:p>
        </p:txBody>
      </p:sp>
      <p:sp>
        <p:nvSpPr>
          <p:cNvPr id="7" name="Text 5"/>
          <p:cNvSpPr/>
          <p:nvPr/>
        </p:nvSpPr>
        <p:spPr>
          <a:xfrm>
            <a:off x="476250" y="1269057"/>
            <a:ext cx="365302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059669"/>
                </a:solidFill>
                <a:latin typeface="Arial" pitchFamily="34" charset="0"/>
                <a:ea typeface="Arial" pitchFamily="34" charset="-122"/>
                <a:cs typeface="Arial" pitchFamily="34" charset="-120"/>
              </a:rPr>
              <a:t>VOCABULARY WORDS</a:t>
            </a:r>
            <a:endParaRPr lang="en-US" sz="825" dirty="0"/>
          </a:p>
        </p:txBody>
      </p:sp>
      <p:sp>
        <p:nvSpPr>
          <p:cNvPr id="8" name="Text 6"/>
          <p:cNvSpPr/>
          <p:nvPr/>
        </p:nvSpPr>
        <p:spPr>
          <a:xfrm>
            <a:off x="476250" y="1472803"/>
            <a:ext cx="3653028" cy="133350"/>
          </a:xfrm>
          <a:prstGeom prst="rect">
            <a:avLst/>
          </a:prstGeom>
          <a:noFill/>
          <a:ln/>
        </p:spPr>
        <p:txBody>
          <a:bodyPr wrap="square" lIns="0" tIns="0" rIns="0" bIns="0" rtlCol="0" anchor="t"/>
          <a:lstStyle/>
          <a:p>
            <a:pPr marL="0" indent="0" algn="l">
              <a:lnSpc>
                <a:spcPts val="1050"/>
              </a:lnSpc>
              <a:spcAft>
                <a:spcPts val="600"/>
              </a:spcAft>
              <a:buNone/>
            </a:pPr>
            <a:r>
              <a:rPr lang="en-US" sz="750" dirty="0">
                <a:solidFill>
                  <a:srgbClr val="6B7280"/>
                </a:solidFill>
                <a:latin typeface="Arial" pitchFamily="34" charset="0"/>
                <a:ea typeface="Arial" pitchFamily="34" charset="-122"/>
                <a:cs typeface="Arial" pitchFamily="34" charset="-120"/>
              </a:rPr>
              <a:t>Help AI recognize custom terms DURING transcription</a:t>
            </a:r>
            <a:endParaRPr lang="en-US" sz="750" dirty="0"/>
          </a:p>
        </p:txBody>
      </p:sp>
      <p:sp>
        <p:nvSpPr>
          <p:cNvPr id="9" name="Text 7"/>
          <p:cNvSpPr/>
          <p:nvPr/>
        </p:nvSpPr>
        <p:spPr>
          <a:xfrm>
            <a:off x="476250" y="1682353"/>
            <a:ext cx="3653028" cy="128588"/>
          </a:xfrm>
          <a:prstGeom prst="rect">
            <a:avLst/>
          </a:prstGeom>
          <a:noFill/>
          <a:ln/>
        </p:spPr>
        <p:txBody>
          <a:bodyPr wrap="square" lIns="0" tIns="0" rIns="0" bIns="0" rtlCol="0" anchor="t"/>
          <a:lstStyle/>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Use for:</a:t>
            </a:r>
            <a:r>
              <a:rPr lang="en-US" sz="675" dirty="0">
                <a:solidFill>
                  <a:srgbClr val="1A1F2E"/>
                </a:solidFill>
                <a:latin typeface="Arial" pitchFamily="34" charset="0"/>
                <a:ea typeface="Arial" pitchFamily="34" charset="-122"/>
                <a:cs typeface="Arial" pitchFamily="34" charset="-120"/>
              </a:rPr>
              <a:t> Acronyms, names, brand names, technical terms, non-English words</a:t>
            </a:r>
            <a:endParaRPr lang="en-US" sz="675" dirty="0"/>
          </a:p>
        </p:txBody>
      </p:sp>
      <p:sp>
        <p:nvSpPr>
          <p:cNvPr id="10" name="Text 8"/>
          <p:cNvSpPr/>
          <p:nvPr/>
        </p:nvSpPr>
        <p:spPr>
          <a:xfrm>
            <a:off x="304800" y="2210991"/>
            <a:ext cx="3886200" cy="808583"/>
          </a:xfrm>
          <a:prstGeom prst="rect">
            <a:avLst/>
          </a:prstGeom>
          <a:solidFill>
            <a:srgbClr val="FFFFFF"/>
          </a:solidFill>
          <a:ln/>
        </p:spPr>
        <p:txBody>
          <a:bodyPr wrap="square" rtlCol="0" anchor="ctr"/>
          <a:lstStyle/>
          <a:p>
            <a:pPr marL="0" indent="0">
              <a:buNone/>
            </a:pPr>
            <a:endParaRPr lang="en-US" dirty="0"/>
          </a:p>
        </p:txBody>
      </p:sp>
      <p:sp>
        <p:nvSpPr>
          <p:cNvPr id="11" name="Shape 9"/>
          <p:cNvSpPr/>
          <p:nvPr/>
        </p:nvSpPr>
        <p:spPr>
          <a:xfrm>
            <a:off x="323850" y="2210991"/>
            <a:ext cx="0" cy="808583"/>
          </a:xfrm>
          <a:prstGeom prst="line">
            <a:avLst/>
          </a:prstGeom>
          <a:noFill/>
          <a:ln w="38100">
            <a:solidFill>
              <a:srgbClr val="3B82F6"/>
            </a:solidFill>
            <a:prstDash val="solid"/>
          </a:ln>
        </p:spPr>
        <p:txBody>
          <a:bodyPr/>
          <a:lstStyle/>
          <a:p>
            <a:endParaRPr lang="en-US"/>
          </a:p>
        </p:txBody>
      </p:sp>
      <p:sp>
        <p:nvSpPr>
          <p:cNvPr id="12" name="Text 10"/>
          <p:cNvSpPr/>
          <p:nvPr/>
        </p:nvSpPr>
        <p:spPr>
          <a:xfrm>
            <a:off x="476250" y="2344341"/>
            <a:ext cx="365302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3B82F6"/>
                </a:solidFill>
                <a:latin typeface="Arial" pitchFamily="34" charset="0"/>
                <a:ea typeface="Arial" pitchFamily="34" charset="-122"/>
                <a:cs typeface="Arial" pitchFamily="34" charset="-120"/>
              </a:rPr>
              <a:t>REPLACEMENTS</a:t>
            </a:r>
            <a:endParaRPr lang="en-US" sz="825" dirty="0"/>
          </a:p>
        </p:txBody>
      </p:sp>
      <p:sp>
        <p:nvSpPr>
          <p:cNvPr id="13" name="Text 11"/>
          <p:cNvSpPr/>
          <p:nvPr/>
        </p:nvSpPr>
        <p:spPr>
          <a:xfrm>
            <a:off x="476250" y="2548086"/>
            <a:ext cx="3653028" cy="133350"/>
          </a:xfrm>
          <a:prstGeom prst="rect">
            <a:avLst/>
          </a:prstGeom>
          <a:noFill/>
          <a:ln/>
        </p:spPr>
        <p:txBody>
          <a:bodyPr wrap="square" lIns="0" tIns="0" rIns="0" bIns="0" rtlCol="0" anchor="t"/>
          <a:lstStyle/>
          <a:p>
            <a:pPr marL="0" indent="0" algn="l">
              <a:lnSpc>
                <a:spcPts val="1050"/>
              </a:lnSpc>
              <a:spcAft>
                <a:spcPts val="600"/>
              </a:spcAft>
              <a:buNone/>
            </a:pPr>
            <a:r>
              <a:rPr lang="en-US" sz="750" dirty="0">
                <a:solidFill>
                  <a:srgbClr val="6B7280"/>
                </a:solidFill>
                <a:latin typeface="Arial" pitchFamily="34" charset="0"/>
                <a:ea typeface="Arial" pitchFamily="34" charset="-122"/>
                <a:cs typeface="Arial" pitchFamily="34" charset="-120"/>
              </a:rPr>
              <a:t>Auto-correct text AFTER transcription (programmatic, not AI)</a:t>
            </a:r>
            <a:endParaRPr lang="en-US" sz="750" dirty="0"/>
          </a:p>
        </p:txBody>
      </p:sp>
      <p:sp>
        <p:nvSpPr>
          <p:cNvPr id="14" name="Text 12"/>
          <p:cNvSpPr/>
          <p:nvPr/>
        </p:nvSpPr>
        <p:spPr>
          <a:xfrm>
            <a:off x="476250" y="2757636"/>
            <a:ext cx="3653028" cy="128588"/>
          </a:xfrm>
          <a:prstGeom prst="rect">
            <a:avLst/>
          </a:prstGeom>
          <a:noFill/>
          <a:ln/>
        </p:spPr>
        <p:txBody>
          <a:bodyPr wrap="square" lIns="0" tIns="0" rIns="0" bIns="0" rtlCol="0" anchor="t"/>
          <a:lstStyle/>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Use for:</a:t>
            </a:r>
            <a:r>
              <a:rPr lang="en-US" sz="675" dirty="0">
                <a:solidFill>
                  <a:srgbClr val="1A1F2E"/>
                </a:solidFill>
                <a:latin typeface="Arial" pitchFamily="34" charset="0"/>
                <a:ea typeface="Arial" pitchFamily="34" charset="-122"/>
                <a:cs typeface="Arial" pitchFamily="34" charset="-120"/>
              </a:rPr>
              <a:t> Persistent errors, expanding abbreviations, formatting fixes</a:t>
            </a:r>
            <a:endParaRPr lang="en-US" sz="675" dirty="0"/>
          </a:p>
        </p:txBody>
      </p:sp>
      <p:sp>
        <p:nvSpPr>
          <p:cNvPr id="15" name="Text 13"/>
          <p:cNvSpPr/>
          <p:nvPr/>
        </p:nvSpPr>
        <p:spPr>
          <a:xfrm>
            <a:off x="304800" y="3286274"/>
            <a:ext cx="3886200" cy="830312"/>
          </a:xfrm>
          <a:prstGeom prst="rect">
            <a:avLst/>
          </a:prstGeom>
          <a:solidFill>
            <a:srgbClr val="1A1F2E"/>
          </a:solidFill>
          <a:ln/>
        </p:spPr>
        <p:txBody>
          <a:bodyPr wrap="square" rtlCol="0" anchor="ctr"/>
          <a:lstStyle/>
          <a:p>
            <a:pPr marL="0" indent="0">
              <a:buNone/>
            </a:pPr>
            <a:endParaRPr lang="en-US" dirty="0"/>
          </a:p>
        </p:txBody>
      </p:sp>
      <p:sp>
        <p:nvSpPr>
          <p:cNvPr id="16" name="Text 14"/>
          <p:cNvSpPr/>
          <p:nvPr/>
        </p:nvSpPr>
        <p:spPr>
          <a:xfrm>
            <a:off x="419100" y="3400574"/>
            <a:ext cx="3730752"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EXAMPLE REPLACEMENTS</a:t>
            </a:r>
            <a:endParaRPr lang="en-US" sz="750" dirty="0"/>
          </a:p>
        </p:txBody>
      </p:sp>
      <p:sp>
        <p:nvSpPr>
          <p:cNvPr id="17" name="Text 15"/>
          <p:cNvSpPr/>
          <p:nvPr/>
        </p:nvSpPr>
        <p:spPr>
          <a:xfrm>
            <a:off x="419100" y="3591074"/>
            <a:ext cx="3730752" cy="411212"/>
          </a:xfrm>
          <a:prstGeom prst="rect">
            <a:avLst/>
          </a:prstGeom>
          <a:noFill/>
          <a:ln/>
        </p:spPr>
        <p:txBody>
          <a:bodyPr wrap="square" lIns="0" tIns="0" rIns="0" bIns="0" rtlCol="0" anchor="t"/>
          <a:lstStyle/>
          <a:p>
            <a:pPr marL="0" indent="0" algn="l">
              <a:lnSpc>
                <a:spcPts val="1080"/>
              </a:lnSpc>
              <a:buNone/>
            </a:pPr>
            <a:r>
              <a:rPr lang="en-US" sz="675" dirty="0">
                <a:solidFill>
                  <a:srgbClr val="FFFFFF">
                    <a:alpha val="80000"/>
                  </a:srgbClr>
                </a:solidFill>
                <a:latin typeface="monospace" pitchFamily="34" charset="0"/>
                <a:ea typeface="monospace" pitchFamily="34" charset="-122"/>
                <a:cs typeface="monospace" pitchFamily="34" charset="-120"/>
              </a:rPr>
              <a:t>"todo" → "TODO"</a:t>
            </a:r>
            <a:endParaRPr lang="en-US" sz="675" dirty="0"/>
          </a:p>
          <a:p>
            <a:pPr marL="0" indent="0" algn="l">
              <a:lnSpc>
                <a:spcPts val="1080"/>
              </a:lnSpc>
              <a:buNone/>
            </a:pPr>
            <a:r>
              <a:rPr lang="en-US" sz="675" dirty="0">
                <a:solidFill>
                  <a:srgbClr val="FFFFFF">
                    <a:alpha val="80000"/>
                  </a:srgbClr>
                </a:solidFill>
                <a:latin typeface="monospace" pitchFamily="34" charset="0"/>
                <a:ea typeface="monospace" pitchFamily="34" charset="-122"/>
                <a:cs typeface="monospace" pitchFamily="34" charset="-120"/>
              </a:rPr>
              <a:t> "use state" → "`useState`"</a:t>
            </a:r>
            <a:endParaRPr lang="en-US" sz="675" dirty="0"/>
          </a:p>
          <a:p>
            <a:pPr marL="0" indent="0" algn="l">
              <a:lnSpc>
                <a:spcPts val="1080"/>
              </a:lnSpc>
              <a:buNone/>
            </a:pPr>
            <a:r>
              <a:rPr lang="en-US" sz="675" dirty="0">
                <a:solidFill>
                  <a:srgbClr val="FFFFFF">
                    <a:alpha val="80000"/>
                  </a:srgbClr>
                </a:solidFill>
                <a:latin typeface="monospace" pitchFamily="34" charset="0"/>
                <a:ea typeface="monospace" pitchFamily="34" charset="-122"/>
                <a:cs typeface="monospace" pitchFamily="34" charset="-120"/>
              </a:rPr>
              <a:t> "APH" → "Austin Public Health"</a:t>
            </a:r>
            <a:endParaRPr lang="en-US" sz="675" dirty="0"/>
          </a:p>
        </p:txBody>
      </p:sp>
      <p:sp>
        <p:nvSpPr>
          <p:cNvPr id="18" name="Text 16"/>
          <p:cNvSpPr/>
          <p:nvPr/>
        </p:nvSpPr>
        <p:spPr>
          <a:xfrm>
            <a:off x="304800" y="4383286"/>
            <a:ext cx="3886200" cy="520005"/>
          </a:xfrm>
          <a:prstGeom prst="rect">
            <a:avLst/>
          </a:prstGeom>
          <a:solidFill>
            <a:srgbClr val="FEF3C7"/>
          </a:solidFill>
          <a:ln/>
        </p:spPr>
        <p:txBody>
          <a:bodyPr wrap="square" rtlCol="0" anchor="ctr"/>
          <a:lstStyle/>
          <a:p>
            <a:pPr marL="0" indent="0">
              <a:buNone/>
            </a:pPr>
            <a:endParaRPr lang="en-US" dirty="0"/>
          </a:p>
        </p:txBody>
      </p:sp>
      <p:sp>
        <p:nvSpPr>
          <p:cNvPr id="19" name="Shape 17"/>
          <p:cNvSpPr/>
          <p:nvPr/>
        </p:nvSpPr>
        <p:spPr>
          <a:xfrm>
            <a:off x="323850" y="4383286"/>
            <a:ext cx="0" cy="520005"/>
          </a:xfrm>
          <a:prstGeom prst="line">
            <a:avLst/>
          </a:prstGeom>
          <a:noFill/>
          <a:ln w="38100">
            <a:solidFill>
              <a:srgbClr val="F59E0B"/>
            </a:solidFill>
            <a:prstDash val="solid"/>
          </a:ln>
        </p:spPr>
        <p:txBody>
          <a:bodyPr/>
          <a:lstStyle/>
          <a:p>
            <a:endParaRPr lang="en-US"/>
          </a:p>
        </p:txBody>
      </p:sp>
      <p:sp>
        <p:nvSpPr>
          <p:cNvPr id="20" name="Text 18"/>
          <p:cNvSpPr/>
          <p:nvPr/>
        </p:nvSpPr>
        <p:spPr>
          <a:xfrm>
            <a:off x="457200" y="4497586"/>
            <a:ext cx="3691890"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VOCABULARY TIP</a:t>
            </a:r>
            <a:endParaRPr lang="en-US" sz="750" dirty="0"/>
          </a:p>
        </p:txBody>
      </p:sp>
      <p:sp>
        <p:nvSpPr>
          <p:cNvPr id="21" name="Text 19"/>
          <p:cNvSpPr/>
          <p:nvPr/>
        </p:nvSpPr>
        <p:spPr>
          <a:xfrm>
            <a:off x="457200" y="4669036"/>
            <a:ext cx="3691890" cy="119955"/>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Keep vocabulary list SHORT. Too many words can confuse the AI transcription model.</a:t>
            </a:r>
            <a:endParaRPr lang="en-US" sz="675" dirty="0"/>
          </a:p>
        </p:txBody>
      </p:sp>
      <p:sp>
        <p:nvSpPr>
          <p:cNvPr id="22" name="Text 20"/>
          <p:cNvSpPr/>
          <p:nvPr/>
        </p:nvSpPr>
        <p:spPr>
          <a:xfrm>
            <a:off x="4648200" y="0"/>
            <a:ext cx="4495800" cy="5143500"/>
          </a:xfrm>
          <a:prstGeom prst="rect">
            <a:avLst/>
          </a:prstGeom>
          <a:solidFill>
            <a:srgbClr val="1A1F2E"/>
          </a:solidFill>
          <a:ln/>
        </p:spPr>
        <p:txBody>
          <a:bodyPr wrap="square" rtlCol="0" anchor="ctr"/>
          <a:lstStyle/>
          <a:p>
            <a:pPr marL="0" indent="0">
              <a:buNone/>
            </a:pPr>
            <a:endParaRPr lang="en-US" dirty="0"/>
          </a:p>
        </p:txBody>
      </p:sp>
      <p:sp>
        <p:nvSpPr>
          <p:cNvPr id="23" name="Text 21"/>
          <p:cNvSpPr/>
          <p:nvPr/>
        </p:nvSpPr>
        <p:spPr>
          <a:xfrm>
            <a:off x="4953000" y="266700"/>
            <a:ext cx="3963924" cy="133350"/>
          </a:xfrm>
          <a:prstGeom prst="rect">
            <a:avLst/>
          </a:prstGeom>
          <a:noFill/>
          <a:ln/>
        </p:spPr>
        <p:txBody>
          <a:bodyPr wrap="square" lIns="0" tIns="0" rIns="0" bIns="0" rtlCol="0" anchor="t"/>
          <a:lstStyle/>
          <a:p>
            <a:pPr marL="0" indent="0" algn="l">
              <a:lnSpc>
                <a:spcPts val="1050"/>
              </a:lnSpc>
              <a:spcAft>
                <a:spcPts val="1200"/>
              </a:spcAft>
              <a:buNone/>
            </a:pPr>
            <a:r>
              <a:rPr lang="en-US" sz="750" dirty="0">
                <a:solidFill>
                  <a:srgbClr val="C9A227"/>
                </a:solidFill>
                <a:latin typeface="Arial" pitchFamily="34" charset="0"/>
                <a:ea typeface="Arial" pitchFamily="34" charset="-122"/>
                <a:cs typeface="Arial" pitchFamily="34" charset="-120"/>
              </a:rPr>
              <a:t>HOW TO CONFIGURE</a:t>
            </a:r>
            <a:endParaRPr lang="en-US" sz="750" dirty="0"/>
          </a:p>
        </p:txBody>
      </p:sp>
      <p:sp>
        <p:nvSpPr>
          <p:cNvPr id="24" name="Text 22"/>
          <p:cNvSpPr/>
          <p:nvPr/>
        </p:nvSpPr>
        <p:spPr>
          <a:xfrm>
            <a:off x="4953000" y="704850"/>
            <a:ext cx="3886200" cy="10800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25" name="Text 23"/>
          <p:cNvSpPr/>
          <p:nvPr/>
        </p:nvSpPr>
        <p:spPr>
          <a:xfrm>
            <a:off x="5095875" y="847725"/>
            <a:ext cx="3672459"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ACCESS VOCABULARY</a:t>
            </a:r>
            <a:endParaRPr lang="en-US" sz="825" dirty="0"/>
          </a:p>
        </p:txBody>
      </p:sp>
      <p:sp>
        <p:nvSpPr>
          <p:cNvPr id="26" name="Text 24"/>
          <p:cNvSpPr/>
          <p:nvPr/>
        </p:nvSpPr>
        <p:spPr>
          <a:xfrm>
            <a:off x="5095875" y="1070521"/>
            <a:ext cx="3672459"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1. Click menu bar icon</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 2. Open Settings</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 3. Go to "Vocabulary" tab</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 4. Add words or replacements</a:t>
            </a:r>
            <a:endParaRPr lang="en-US" sz="750" dirty="0"/>
          </a:p>
        </p:txBody>
      </p:sp>
      <p:sp>
        <p:nvSpPr>
          <p:cNvPr id="27" name="Text 25"/>
          <p:cNvSpPr/>
          <p:nvPr/>
        </p:nvSpPr>
        <p:spPr>
          <a:xfrm>
            <a:off x="4953000" y="2051596"/>
            <a:ext cx="3886200" cy="1060996"/>
          </a:xfrm>
          <a:prstGeom prst="rect">
            <a:avLst/>
          </a:prstGeom>
          <a:solidFill>
            <a:srgbClr val="FFFFFF">
              <a:alpha val="5000"/>
            </a:srgbClr>
          </a:solidFill>
          <a:ln/>
        </p:spPr>
        <p:txBody>
          <a:bodyPr wrap="square" rtlCol="0" anchor="ctr"/>
          <a:lstStyle/>
          <a:p>
            <a:pPr marL="0" indent="0">
              <a:buNone/>
            </a:pPr>
            <a:endParaRPr lang="en-US" dirty="0"/>
          </a:p>
        </p:txBody>
      </p:sp>
      <p:sp>
        <p:nvSpPr>
          <p:cNvPr id="28" name="Text 26"/>
          <p:cNvSpPr/>
          <p:nvPr/>
        </p:nvSpPr>
        <p:spPr>
          <a:xfrm>
            <a:off x="5086350" y="2184946"/>
            <a:ext cx="36918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REPLACEMENT BEHAVIOR</a:t>
            </a:r>
            <a:endParaRPr lang="en-US" sz="825" dirty="0"/>
          </a:p>
        </p:txBody>
      </p:sp>
      <p:sp>
        <p:nvSpPr>
          <p:cNvPr id="29" name="Text 27"/>
          <p:cNvSpPr/>
          <p:nvPr/>
        </p:nvSpPr>
        <p:spPr>
          <a:xfrm>
            <a:off x="5086350" y="2407741"/>
            <a:ext cx="3691890"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Case-insensitive matching</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"todo" matches "ToDo", "TODO", "Todo"</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Output appears exactly as you specify</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Works 100% reliably (not AI-dependent)</a:t>
            </a:r>
            <a:endParaRPr lang="en-US" sz="750" dirty="0"/>
          </a:p>
        </p:txBody>
      </p:sp>
      <p:sp>
        <p:nvSpPr>
          <p:cNvPr id="30" name="Text 28"/>
          <p:cNvSpPr/>
          <p:nvPr/>
        </p:nvSpPr>
        <p:spPr>
          <a:xfrm>
            <a:off x="4953000" y="3379291"/>
            <a:ext cx="3886200" cy="775246"/>
          </a:xfrm>
          <a:prstGeom prst="rect">
            <a:avLst/>
          </a:prstGeom>
          <a:solidFill>
            <a:srgbClr val="FFFFFF">
              <a:alpha val="5000"/>
            </a:srgbClr>
          </a:solidFill>
          <a:ln/>
        </p:spPr>
        <p:txBody>
          <a:bodyPr wrap="square" rtlCol="0" anchor="ctr"/>
          <a:lstStyle/>
          <a:p>
            <a:pPr marL="0" indent="0">
              <a:buNone/>
            </a:pPr>
            <a:endParaRPr lang="en-US" dirty="0"/>
          </a:p>
        </p:txBody>
      </p:sp>
      <p:sp>
        <p:nvSpPr>
          <p:cNvPr id="31" name="Text 29"/>
          <p:cNvSpPr/>
          <p:nvPr/>
        </p:nvSpPr>
        <p:spPr>
          <a:xfrm>
            <a:off x="5086350" y="3512641"/>
            <a:ext cx="36918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MODEL COMPATIBILITY</a:t>
            </a:r>
            <a:endParaRPr lang="en-US" sz="825" dirty="0"/>
          </a:p>
        </p:txBody>
      </p:sp>
      <p:sp>
        <p:nvSpPr>
          <p:cNvPr id="32" name="Text 30"/>
          <p:cNvSpPr/>
          <p:nvPr/>
        </p:nvSpPr>
        <p:spPr>
          <a:xfrm>
            <a:off x="5086350" y="3735437"/>
            <a:ext cx="3691890"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Vocabulary hints work with most models.</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a:t>
            </a:r>
            <a:endParaRPr lang="en-US" sz="750" dirty="0"/>
          </a:p>
          <a:p>
            <a:pPr marL="0" indent="0" algn="l">
              <a:lnSpc>
                <a:spcPts val="1125"/>
              </a:lnSpc>
              <a:buNone/>
            </a:pPr>
            <a:r>
              <a:rPr lang="en-US" sz="750" dirty="0">
                <a:solidFill>
                  <a:srgbClr val="F59E0B">
                    <a:alpha val="60000"/>
                  </a:srgbClr>
                </a:solidFill>
                <a:latin typeface="Arial" pitchFamily="34" charset="0"/>
                <a:ea typeface="Arial" pitchFamily="34" charset="-122"/>
                <a:cs typeface="Arial" pitchFamily="34" charset="-120"/>
              </a:rPr>
              <a:t>Exception:</a:t>
            </a:r>
            <a:r>
              <a:rPr lang="en-US" sz="750" dirty="0">
                <a:solidFill>
                  <a:srgbClr val="FFFFFF">
                    <a:alpha val="60000"/>
                  </a:srgbClr>
                </a:solidFill>
                <a:latin typeface="Arial" pitchFamily="34" charset="0"/>
                <a:ea typeface="Arial" pitchFamily="34" charset="-122"/>
                <a:cs typeface="Arial" pitchFamily="34" charset="-120"/>
              </a:rPr>
              <a:t> Nova and Parakeet models don't support vocabulary hints.</a:t>
            </a:r>
            <a:endParaRPr lang="en-US" sz="750" dirty="0"/>
          </a:p>
        </p:txBody>
      </p:sp>
      <p:sp>
        <p:nvSpPr>
          <p:cNvPr id="33" name="Text 31"/>
          <p:cNvSpPr/>
          <p:nvPr/>
        </p:nvSpPr>
        <p:spPr>
          <a:xfrm>
            <a:off x="4953000" y="4514850"/>
            <a:ext cx="3886200" cy="361950"/>
          </a:xfrm>
          <a:prstGeom prst="rect">
            <a:avLst/>
          </a:prstGeom>
          <a:solidFill>
            <a:srgbClr val="059669"/>
          </a:solidFill>
          <a:ln/>
        </p:spPr>
        <p:txBody>
          <a:bodyPr wrap="square" rtlCol="0" anchor="ctr"/>
          <a:lstStyle/>
          <a:p>
            <a:pPr marL="0" indent="0">
              <a:buNone/>
            </a:pPr>
            <a:endParaRPr lang="en-US" dirty="0"/>
          </a:p>
        </p:txBody>
      </p:sp>
      <p:sp>
        <p:nvSpPr>
          <p:cNvPr id="34" name="Text 32"/>
          <p:cNvSpPr/>
          <p:nvPr/>
        </p:nvSpPr>
        <p:spPr>
          <a:xfrm>
            <a:off x="5030724" y="4629150"/>
            <a:ext cx="3730752" cy="133350"/>
          </a:xfrm>
          <a:prstGeom prst="rect">
            <a:avLst/>
          </a:prstGeom>
          <a:noFill/>
          <a:ln/>
        </p:spPr>
        <p:txBody>
          <a:bodyPr wrap="square" lIns="0" tIns="0" rIns="0" bIns="0" rtlCol="0" anchor="t"/>
          <a:lstStyle/>
          <a:p>
            <a:pPr marL="0" indent="0" algn="ctr">
              <a:lnSpc>
                <a:spcPts val="1050"/>
              </a:lnSpc>
              <a:buNone/>
            </a:pPr>
            <a:r>
              <a:rPr lang="en-US" sz="750" dirty="0">
                <a:solidFill>
                  <a:srgbClr val="FFFFFF"/>
                </a:solidFill>
                <a:latin typeface="Arial" pitchFamily="34" charset="0"/>
                <a:ea typeface="Arial" pitchFamily="34" charset="-122"/>
                <a:cs typeface="Arial" pitchFamily="34" charset="-120"/>
              </a:rPr>
              <a:t>Prefer replacements over vocabulary for consistent results</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64D77E3-8FB5-809E-26A8-58921DA7F047}"/>
              </a:ext>
            </a:extLst>
          </p:cNvPr>
          <p:cNvPicPr>
            <a:picLocks noChangeAspect="1"/>
          </p:cNvPicPr>
          <p:nvPr/>
        </p:nvPicPr>
        <p:blipFill>
          <a:blip r:embed="rId2"/>
          <a:stretch>
            <a:fillRect/>
          </a:stretch>
        </p:blipFill>
        <p:spPr>
          <a:xfrm>
            <a:off x="3746441" y="447832"/>
            <a:ext cx="4279391" cy="4457700"/>
          </a:xfrm>
          <a:prstGeom prst="rect">
            <a:avLst/>
          </a:prstGeom>
        </p:spPr>
      </p:pic>
      <p:sp>
        <p:nvSpPr>
          <p:cNvPr id="3" name="Right Arrow 2">
            <a:extLst>
              <a:ext uri="{FF2B5EF4-FFF2-40B4-BE49-F238E27FC236}">
                <a16:creationId xmlns:a16="http://schemas.microsoft.com/office/drawing/2014/main" id="{1D96A1CB-A599-9227-AD5C-2752110FC6D9}"/>
              </a:ext>
            </a:extLst>
          </p:cNvPr>
          <p:cNvSpPr/>
          <p:nvPr/>
        </p:nvSpPr>
        <p:spPr>
          <a:xfrm rot="9992190">
            <a:off x="7710804" y="1025244"/>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46C8EA6-3109-1CA0-EFA4-852601879FA8}"/>
              </a:ext>
            </a:extLst>
          </p:cNvPr>
          <p:cNvSpPr txBox="1"/>
          <p:nvPr/>
        </p:nvSpPr>
        <p:spPr>
          <a:xfrm>
            <a:off x="124919" y="434716"/>
            <a:ext cx="3023016" cy="1477328"/>
          </a:xfrm>
          <a:prstGeom prst="rect">
            <a:avLst/>
          </a:prstGeom>
          <a:noFill/>
        </p:spPr>
        <p:txBody>
          <a:bodyPr wrap="square" rtlCol="0">
            <a:spAutoFit/>
          </a:bodyPr>
          <a:lstStyle/>
          <a:p>
            <a:r>
              <a:rPr lang="en-US" dirty="0">
                <a:solidFill>
                  <a:schemeClr val="bg1"/>
                </a:solidFill>
              </a:rPr>
              <a:t>Choose if you want to add an item to vocabulary to improve recognition, or you want to use a word or phrase as a replacement trigger. </a:t>
            </a:r>
          </a:p>
        </p:txBody>
      </p:sp>
    </p:spTree>
    <p:extLst>
      <p:ext uri="{BB962C8B-B14F-4D97-AF65-F5344CB8AC3E}">
        <p14:creationId xmlns:p14="http://schemas.microsoft.com/office/powerpoint/2010/main" val="152246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C62869A-B8FB-9055-8918-5E28049E6519}"/>
              </a:ext>
            </a:extLst>
          </p:cNvPr>
          <p:cNvPicPr>
            <a:picLocks noChangeAspect="1"/>
          </p:cNvPicPr>
          <p:nvPr/>
        </p:nvPicPr>
        <p:blipFill>
          <a:blip r:embed="rId2"/>
          <a:stretch>
            <a:fillRect/>
          </a:stretch>
        </p:blipFill>
        <p:spPr>
          <a:xfrm>
            <a:off x="3765853" y="434716"/>
            <a:ext cx="4290536" cy="4457700"/>
          </a:xfrm>
          <a:prstGeom prst="rect">
            <a:avLst/>
          </a:prstGeom>
        </p:spPr>
      </p:pic>
      <p:sp>
        <p:nvSpPr>
          <p:cNvPr id="3" name="Right Arrow 2">
            <a:extLst>
              <a:ext uri="{FF2B5EF4-FFF2-40B4-BE49-F238E27FC236}">
                <a16:creationId xmlns:a16="http://schemas.microsoft.com/office/drawing/2014/main" id="{7C8DF37C-D66F-5F68-B9AB-BCA00ED28AAB}"/>
              </a:ext>
            </a:extLst>
          </p:cNvPr>
          <p:cNvSpPr/>
          <p:nvPr/>
        </p:nvSpPr>
        <p:spPr>
          <a:xfrm rot="9992190">
            <a:off x="7913772" y="1879542"/>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FFE1E11-FFCB-1668-07C7-8C78FBA2B19B}"/>
              </a:ext>
            </a:extLst>
          </p:cNvPr>
          <p:cNvSpPr txBox="1"/>
          <p:nvPr/>
        </p:nvSpPr>
        <p:spPr>
          <a:xfrm>
            <a:off x="124919" y="434716"/>
            <a:ext cx="3023016" cy="369332"/>
          </a:xfrm>
          <a:prstGeom prst="rect">
            <a:avLst/>
          </a:prstGeom>
          <a:noFill/>
        </p:spPr>
        <p:txBody>
          <a:bodyPr wrap="square" rtlCol="0">
            <a:spAutoFit/>
          </a:bodyPr>
          <a:lstStyle/>
          <a:p>
            <a:r>
              <a:rPr lang="en-US" dirty="0">
                <a:solidFill>
                  <a:schemeClr val="bg1"/>
                </a:solidFill>
              </a:rPr>
              <a:t>Enter content and save</a:t>
            </a:r>
          </a:p>
        </p:txBody>
      </p:sp>
    </p:spTree>
    <p:extLst>
      <p:ext uri="{BB962C8B-B14F-4D97-AF65-F5344CB8AC3E}">
        <p14:creationId xmlns:p14="http://schemas.microsoft.com/office/powerpoint/2010/main" val="463175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7FE60D34-5009-7765-3125-661558988E9D}"/>
              </a:ext>
            </a:extLst>
          </p:cNvPr>
          <p:cNvPicPr>
            <a:picLocks noChangeAspect="1"/>
          </p:cNvPicPr>
          <p:nvPr/>
        </p:nvPicPr>
        <p:blipFill>
          <a:blip r:embed="rId2"/>
          <a:stretch>
            <a:fillRect/>
          </a:stretch>
        </p:blipFill>
        <p:spPr>
          <a:xfrm>
            <a:off x="4309527" y="417851"/>
            <a:ext cx="4212526" cy="4457700"/>
          </a:xfrm>
          <a:prstGeom prst="rect">
            <a:avLst/>
          </a:prstGeom>
        </p:spPr>
      </p:pic>
      <p:sp>
        <p:nvSpPr>
          <p:cNvPr id="3" name="TextBox 2">
            <a:extLst>
              <a:ext uri="{FF2B5EF4-FFF2-40B4-BE49-F238E27FC236}">
                <a16:creationId xmlns:a16="http://schemas.microsoft.com/office/drawing/2014/main" id="{D127CA5D-021A-E1B0-5963-69D7029F445A}"/>
              </a:ext>
            </a:extLst>
          </p:cNvPr>
          <p:cNvSpPr txBox="1"/>
          <p:nvPr/>
        </p:nvSpPr>
        <p:spPr>
          <a:xfrm>
            <a:off x="509666" y="474689"/>
            <a:ext cx="3023016" cy="2308324"/>
          </a:xfrm>
          <a:prstGeom prst="rect">
            <a:avLst/>
          </a:prstGeom>
          <a:noFill/>
        </p:spPr>
        <p:txBody>
          <a:bodyPr wrap="square" rtlCol="0">
            <a:spAutoFit/>
          </a:bodyPr>
          <a:lstStyle/>
          <a:p>
            <a:r>
              <a:rPr lang="en-US" dirty="0">
                <a:solidFill>
                  <a:schemeClr val="bg1"/>
                </a:solidFill>
              </a:rPr>
              <a:t>You can add words to the vocabulary, setup up replacements, even swapping words and phrases for links. </a:t>
            </a:r>
            <a:br>
              <a:rPr lang="en-US" dirty="0">
                <a:solidFill>
                  <a:schemeClr val="bg1"/>
                </a:solidFill>
              </a:rPr>
            </a:br>
            <a:br>
              <a:rPr lang="en-US" dirty="0">
                <a:solidFill>
                  <a:schemeClr val="bg1"/>
                </a:solidFill>
              </a:rPr>
            </a:br>
            <a:r>
              <a:rPr lang="en-US" dirty="0">
                <a:solidFill>
                  <a:schemeClr val="bg1"/>
                </a:solidFill>
              </a:rPr>
              <a:t>Vocabulary can also be used as a macro to insert whole content blocks or segments. </a:t>
            </a:r>
          </a:p>
        </p:txBody>
      </p:sp>
    </p:spTree>
    <p:extLst>
      <p:ext uri="{BB962C8B-B14F-4D97-AF65-F5344CB8AC3E}">
        <p14:creationId xmlns:p14="http://schemas.microsoft.com/office/powerpoint/2010/main" val="4273011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44625" y="537270"/>
            <a:ext cx="1854750" cy="159990"/>
          </a:xfrm>
          <a:prstGeom prst="rect">
            <a:avLst/>
          </a:prstGeom>
          <a:noFill/>
          <a:ln/>
        </p:spPr>
        <p:txBody>
          <a:bodyPr wrap="square" lIns="0" tIns="0" rIns="0" bIns="0" rtlCol="0" anchor="t"/>
          <a:lstStyle/>
          <a:p>
            <a:pPr marL="0" indent="0" algn="ctr">
              <a:lnSpc>
                <a:spcPts val="1260"/>
              </a:lnSpc>
              <a:spcAft>
                <a:spcPts val="1800"/>
              </a:spcAft>
              <a:buNone/>
            </a:pPr>
            <a:r>
              <a:rPr lang="en-US" sz="900" dirty="0">
                <a:solidFill>
                  <a:srgbClr val="C9A227"/>
                </a:solidFill>
                <a:latin typeface="Arial" pitchFamily="34" charset="0"/>
                <a:ea typeface="Arial" pitchFamily="34" charset="-122"/>
                <a:cs typeface="Arial" pitchFamily="34" charset="-120"/>
              </a:rPr>
              <a:t>PART 4 • WORKSHOP</a:t>
            </a:r>
            <a:endParaRPr lang="en-US" sz="900" dirty="0"/>
          </a:p>
        </p:txBody>
      </p:sp>
      <p:sp>
        <p:nvSpPr>
          <p:cNvPr id="3" name="Text 1"/>
          <p:cNvSpPr/>
          <p:nvPr/>
        </p:nvSpPr>
        <p:spPr>
          <a:xfrm>
            <a:off x="2005743" y="1078260"/>
            <a:ext cx="5132365" cy="457200"/>
          </a:xfrm>
          <a:prstGeom prst="rect">
            <a:avLst/>
          </a:prstGeom>
          <a:noFill/>
          <a:ln/>
        </p:spPr>
        <p:txBody>
          <a:bodyPr wrap="square" lIns="0" tIns="0" rIns="0" bIns="0" rtlCol="0" anchor="t"/>
          <a:lstStyle/>
          <a:p>
            <a:pPr marL="0" indent="0" algn="ctr">
              <a:lnSpc>
                <a:spcPts val="3600"/>
              </a:lnSpc>
              <a:spcAft>
                <a:spcPts val="1200"/>
              </a:spcAft>
              <a:buNone/>
            </a:pPr>
            <a:r>
              <a:rPr lang="en-US" sz="3600" dirty="0">
                <a:solidFill>
                  <a:srgbClr val="FFFFFF"/>
                </a:solidFill>
                <a:latin typeface="Georgia" pitchFamily="34" charset="0"/>
                <a:ea typeface="Georgia" pitchFamily="34" charset="-122"/>
                <a:cs typeface="Georgia" pitchFamily="34" charset="-120"/>
              </a:rPr>
              <a:t>Custom Mode Workshop</a:t>
            </a:r>
            <a:endParaRPr lang="en-US" sz="3600" dirty="0"/>
          </a:p>
        </p:txBody>
      </p:sp>
      <p:sp>
        <p:nvSpPr>
          <p:cNvPr id="4" name="Text 2"/>
          <p:cNvSpPr/>
          <p:nvPr/>
        </p:nvSpPr>
        <p:spPr>
          <a:xfrm>
            <a:off x="4191000" y="1840260"/>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1657350" y="2249835"/>
            <a:ext cx="5829300" cy="487561"/>
          </a:xfrm>
          <a:prstGeom prst="rect">
            <a:avLst/>
          </a:prstGeom>
          <a:noFill/>
          <a:ln/>
        </p:spPr>
        <p:txBody>
          <a:bodyPr wrap="square" lIns="0" tIns="0" rIns="0" bIns="0" rtlCol="0" anchor="t"/>
          <a:lstStyle/>
          <a:p>
            <a:pPr marL="0" indent="0" algn="ctr">
              <a:lnSpc>
                <a:spcPts val="1920"/>
              </a:lnSpc>
              <a:spcAft>
                <a:spcPts val="2400"/>
              </a:spcAft>
              <a:buNone/>
            </a:pPr>
            <a:r>
              <a:rPr lang="en-US" sz="1200" dirty="0">
                <a:solidFill>
                  <a:srgbClr val="FFFFFF">
                    <a:alpha val="70000"/>
                  </a:srgbClr>
                </a:solidFill>
                <a:latin typeface="Arial" pitchFamily="34" charset="0"/>
                <a:ea typeface="Arial" pitchFamily="34" charset="-122"/>
                <a:cs typeface="Arial" pitchFamily="34" charset="-120"/>
              </a:rPr>
              <a:t>Build application-specific modes for your daily workflow. We'll create modes for coding, email, chat, and more.</a:t>
            </a:r>
            <a:endParaRPr lang="en-US" sz="1200" dirty="0"/>
          </a:p>
        </p:txBody>
      </p:sp>
      <p:sp>
        <p:nvSpPr>
          <p:cNvPr id="6" name="Text 4"/>
          <p:cNvSpPr/>
          <p:nvPr/>
        </p:nvSpPr>
        <p:spPr>
          <a:xfrm>
            <a:off x="1704231" y="3346996"/>
            <a:ext cx="1110704"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1897149" y="3470821"/>
            <a:ext cx="724867"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Agentic Coding</a:t>
            </a:r>
            <a:endParaRPr lang="en-US" sz="825" dirty="0"/>
          </a:p>
        </p:txBody>
      </p:sp>
      <p:sp>
        <p:nvSpPr>
          <p:cNvPr id="8" name="Text 6"/>
          <p:cNvSpPr/>
          <p:nvPr/>
        </p:nvSpPr>
        <p:spPr>
          <a:xfrm>
            <a:off x="2967335" y="3346996"/>
            <a:ext cx="959197"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9" name="Text 7"/>
          <p:cNvSpPr/>
          <p:nvPr/>
        </p:nvSpPr>
        <p:spPr>
          <a:xfrm>
            <a:off x="3161769" y="3470821"/>
            <a:ext cx="570330"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Teams Chat</a:t>
            </a:r>
            <a:endParaRPr lang="en-US" sz="825" dirty="0"/>
          </a:p>
        </p:txBody>
      </p:sp>
      <p:sp>
        <p:nvSpPr>
          <p:cNvPr id="10" name="Text 8"/>
          <p:cNvSpPr/>
          <p:nvPr/>
        </p:nvSpPr>
        <p:spPr>
          <a:xfrm>
            <a:off x="4078932" y="3346996"/>
            <a:ext cx="968722"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11" name="Text 9"/>
          <p:cNvSpPr/>
          <p:nvPr/>
        </p:nvSpPr>
        <p:spPr>
          <a:xfrm>
            <a:off x="4273271" y="3470821"/>
            <a:ext cx="580046"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Email Writer</a:t>
            </a:r>
            <a:endParaRPr lang="en-US" sz="825" dirty="0"/>
          </a:p>
        </p:txBody>
      </p:sp>
      <p:sp>
        <p:nvSpPr>
          <p:cNvPr id="12" name="Text 10"/>
          <p:cNvSpPr/>
          <p:nvPr/>
        </p:nvSpPr>
        <p:spPr>
          <a:xfrm>
            <a:off x="5200055" y="3346996"/>
            <a:ext cx="1011734"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13" name="Text 11"/>
          <p:cNvSpPr/>
          <p:nvPr/>
        </p:nvSpPr>
        <p:spPr>
          <a:xfrm>
            <a:off x="5393963" y="3470821"/>
            <a:ext cx="623917"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Claude Code</a:t>
            </a:r>
            <a:endParaRPr lang="en-US" sz="825" dirty="0"/>
          </a:p>
        </p:txBody>
      </p:sp>
      <p:sp>
        <p:nvSpPr>
          <p:cNvPr id="14" name="Text 12"/>
          <p:cNvSpPr/>
          <p:nvPr/>
        </p:nvSpPr>
        <p:spPr>
          <a:xfrm>
            <a:off x="6364188" y="3346996"/>
            <a:ext cx="1075581"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15" name="Text 13"/>
          <p:cNvSpPr/>
          <p:nvPr/>
        </p:nvSpPr>
        <p:spPr>
          <a:xfrm>
            <a:off x="6557458" y="3470821"/>
            <a:ext cx="689041"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Browser Mode</a:t>
            </a:r>
            <a:endParaRPr lang="en-US" sz="825" dirty="0"/>
          </a:p>
        </p:txBody>
      </p:sp>
      <p:sp>
        <p:nvSpPr>
          <p:cNvPr id="16" name="Text 14"/>
          <p:cNvSpPr/>
          <p:nvPr/>
        </p:nvSpPr>
        <p:spPr>
          <a:xfrm>
            <a:off x="2920008" y="4160341"/>
            <a:ext cx="3303984" cy="445740"/>
          </a:xfrm>
          <a:prstGeom prst="rect">
            <a:avLst/>
          </a:prstGeom>
          <a:solidFill>
            <a:srgbClr val="059669">
              <a:alpha val="20000"/>
            </a:srgbClr>
          </a:solidFill>
          <a:ln w="9525">
            <a:solidFill>
              <a:srgbClr val="059669"/>
            </a:solidFill>
          </a:ln>
        </p:spPr>
        <p:txBody>
          <a:bodyPr wrap="square" rtlCol="0" anchor="ctr"/>
          <a:lstStyle/>
          <a:p>
            <a:pPr marL="0" indent="0">
              <a:buNone/>
            </a:pPr>
            <a:endParaRPr lang="en-US" dirty="0"/>
          </a:p>
        </p:txBody>
      </p:sp>
      <p:sp>
        <p:nvSpPr>
          <p:cNvPr id="17" name="Text 15"/>
          <p:cNvSpPr/>
          <p:nvPr/>
        </p:nvSpPr>
        <p:spPr>
          <a:xfrm>
            <a:off x="3129855" y="4303216"/>
            <a:ext cx="2884289" cy="159990"/>
          </a:xfrm>
          <a:prstGeom prst="rect">
            <a:avLst/>
          </a:prstGeom>
          <a:noFill/>
          <a:ln/>
        </p:spPr>
        <p:txBody>
          <a:bodyPr wrap="square" lIns="0" tIns="0" rIns="0" bIns="0" rtlCol="0" anchor="t"/>
          <a:lstStyle/>
          <a:p>
            <a:pPr marL="0" indent="0" algn="ctr">
              <a:lnSpc>
                <a:spcPts val="1260"/>
              </a:lnSpc>
              <a:buNone/>
            </a:pPr>
            <a:r>
              <a:rPr lang="en-US" sz="900" dirty="0">
                <a:solidFill>
                  <a:srgbClr val="34D399"/>
                </a:solidFill>
                <a:latin typeface="Arial" pitchFamily="34" charset="0"/>
                <a:ea typeface="Arial" pitchFamily="34" charset="-122"/>
                <a:cs typeface="Arial" pitchFamily="34" charset="-120"/>
              </a:rPr>
              <a:t>We'll provide pre-built prompts you can use immediately</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76820"/>
            <a:ext cx="876449" cy="272355"/>
          </a:xfrm>
          <a:prstGeom prst="rect">
            <a:avLst/>
          </a:prstGeom>
          <a:solidFill>
            <a:srgbClr val="059669"/>
          </a:solidFill>
          <a:ln/>
        </p:spPr>
        <p:txBody>
          <a:bodyPr wrap="square" rtlCol="0" anchor="ctr"/>
          <a:lstStyle/>
          <a:p>
            <a:pPr marL="0" indent="0">
              <a:buNone/>
            </a:pPr>
            <a:endParaRPr lang="en-US" dirty="0"/>
          </a:p>
        </p:txBody>
      </p:sp>
      <p:sp>
        <p:nvSpPr>
          <p:cNvPr id="4" name="Text 2"/>
          <p:cNvSpPr/>
          <p:nvPr/>
        </p:nvSpPr>
        <p:spPr>
          <a:xfrm>
            <a:off x="381000" y="353020"/>
            <a:ext cx="660806"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MODE 1 OF 5</a:t>
            </a:r>
            <a:endParaRPr lang="en-US" sz="675" dirty="0"/>
          </a:p>
        </p:txBody>
      </p:sp>
      <p:sp>
        <p:nvSpPr>
          <p:cNvPr id="5" name="Text 3"/>
          <p:cNvSpPr/>
          <p:nvPr/>
        </p:nvSpPr>
        <p:spPr>
          <a:xfrm>
            <a:off x="266700" y="815876"/>
            <a:ext cx="2079117"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Prompt Enrichment</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Mode</a:t>
            </a:r>
            <a:endParaRPr lang="en-US" sz="1800" dirty="0"/>
          </a:p>
        </p:txBody>
      </p:sp>
      <p:sp>
        <p:nvSpPr>
          <p:cNvPr id="6" name="Text 4"/>
          <p:cNvSpPr/>
          <p:nvPr/>
        </p:nvSpPr>
        <p:spPr>
          <a:xfrm>
            <a:off x="266700" y="1631156"/>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955006"/>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8" name="Shape 6"/>
          <p:cNvSpPr/>
          <p:nvPr/>
        </p:nvSpPr>
        <p:spPr>
          <a:xfrm>
            <a:off x="280988" y="1955006"/>
            <a:ext cx="0" cy="639961"/>
          </a:xfrm>
          <a:prstGeom prst="line">
            <a:avLst/>
          </a:prstGeom>
          <a:noFill/>
          <a:ln w="28575">
            <a:solidFill>
              <a:srgbClr val="C9A227"/>
            </a:solidFill>
            <a:prstDash val="solid"/>
          </a:ln>
        </p:spPr>
        <p:txBody>
          <a:bodyPr/>
          <a:lstStyle/>
          <a:p>
            <a:endParaRPr lang="en-US"/>
          </a:p>
        </p:txBody>
      </p:sp>
      <p:sp>
        <p:nvSpPr>
          <p:cNvPr id="9" name="Text 7"/>
          <p:cNvSpPr/>
          <p:nvPr/>
        </p:nvSpPr>
        <p:spPr>
          <a:xfrm>
            <a:off x="409575" y="2069306"/>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10" name="Text 8"/>
          <p:cNvSpPr/>
          <p:nvPr/>
        </p:nvSpPr>
        <p:spPr>
          <a:xfrm>
            <a:off x="409575" y="2240756"/>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Transform raw spoken thoughts into well-structured prompts for ANY AI tool: Claude, ChatGPT, Cursor, Copilot, etc.</a:t>
            </a:r>
            <a:endParaRPr lang="en-US" sz="675" dirty="0"/>
          </a:p>
        </p:txBody>
      </p:sp>
      <p:sp>
        <p:nvSpPr>
          <p:cNvPr id="11" name="Text 9"/>
          <p:cNvSpPr/>
          <p:nvPr/>
        </p:nvSpPr>
        <p:spPr>
          <a:xfrm>
            <a:off x="266700" y="2861667"/>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75967"/>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KEY INSIGHT</a:t>
            </a:r>
            <a:endParaRPr lang="en-US" sz="750" dirty="0"/>
          </a:p>
        </p:txBody>
      </p:sp>
      <p:sp>
        <p:nvSpPr>
          <p:cNvPr id="13" name="Text 11"/>
          <p:cNvSpPr/>
          <p:nvPr/>
        </p:nvSpPr>
        <p:spPr>
          <a:xfrm>
            <a:off x="381000" y="3166467"/>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SuperWhisper is an </a:t>
            </a:r>
            <a:r>
              <a:rPr lang="en-US" sz="675" b="1" dirty="0">
                <a:solidFill>
                  <a:srgbClr val="FFFFFF">
                    <a:alpha val="60000"/>
                  </a:srgbClr>
                </a:solidFill>
                <a:latin typeface="Arial" pitchFamily="34" charset="0"/>
                <a:ea typeface="Arial" pitchFamily="34" charset="-122"/>
                <a:cs typeface="Arial" pitchFamily="34" charset="-120"/>
              </a:rPr>
              <a:t>input method</a:t>
            </a:r>
            <a:r>
              <a:rPr lang="en-US" sz="675" dirty="0">
                <a:solidFill>
                  <a:srgbClr val="FFFFFF">
                    <a:alpha val="60000"/>
                  </a:srgbClr>
                </a:solidFill>
                <a:latin typeface="Arial" pitchFamily="34" charset="0"/>
                <a:ea typeface="Arial" pitchFamily="34" charset="-122"/>
                <a:cs typeface="Arial" pitchFamily="34" charset="-120"/>
              </a:rPr>
              <a: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not a code generator. It prepares</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your prompts for another AI to execute.</a:t>
            </a:r>
            <a:endParaRPr lang="en-US" sz="675" dirty="0"/>
          </a:p>
        </p:txBody>
      </p:sp>
      <p:sp>
        <p:nvSpPr>
          <p:cNvPr id="14" name="Text 12"/>
          <p:cNvSpPr/>
          <p:nvPr/>
        </p:nvSpPr>
        <p:spPr>
          <a:xfrm>
            <a:off x="266700" y="3933230"/>
            <a:ext cx="3065264" cy="933450"/>
          </a:xfrm>
          <a:prstGeom prst="rect">
            <a:avLst/>
          </a:prstGeom>
          <a:solidFill>
            <a:srgbClr val="FFFFFF">
              <a:alpha val="5000"/>
            </a:srgbClr>
          </a:solidFill>
          <a:ln/>
        </p:spPr>
        <p:txBody>
          <a:bodyPr wrap="square" rtlCol="0" anchor="ctr"/>
          <a:lstStyle/>
          <a:p>
            <a:pPr marL="0" indent="0">
              <a:buNone/>
            </a:pPr>
            <a:endParaRPr lang="en-US" dirty="0"/>
          </a:p>
        </p:txBody>
      </p:sp>
      <p:sp>
        <p:nvSpPr>
          <p:cNvPr id="15" name="Text 13"/>
          <p:cNvSpPr/>
          <p:nvPr/>
        </p:nvSpPr>
        <p:spPr>
          <a:xfrm>
            <a:off x="381000" y="4047530"/>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6" name="Text 14"/>
          <p:cNvSpPr/>
          <p:nvPr/>
        </p:nvSpPr>
        <p:spPr>
          <a:xfrm>
            <a:off x="381000" y="4238030"/>
            <a:ext cx="2893397" cy="514350"/>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ChatGPT / Claude.ai</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Cursor AI input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Copilot Chat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Any AI prompt field</a:t>
            </a:r>
            <a:endParaRPr lang="en-US" sz="675" dirty="0"/>
          </a:p>
        </p:txBody>
      </p:sp>
      <p:sp>
        <p:nvSpPr>
          <p:cNvPr id="17" name="Text 15"/>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18" name="Text 16"/>
          <p:cNvSpPr/>
          <p:nvPr/>
        </p:nvSpPr>
        <p:spPr>
          <a:xfrm>
            <a:off x="4017764" y="337840"/>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19" name="Text 17"/>
          <p:cNvSpPr/>
          <p:nvPr/>
        </p:nvSpPr>
        <p:spPr>
          <a:xfrm>
            <a:off x="4017764" y="764530"/>
            <a:ext cx="4859536" cy="2422327"/>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4170164" y="916930"/>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1" name="Text 19"/>
          <p:cNvSpPr/>
          <p:nvPr/>
        </p:nvSpPr>
        <p:spPr>
          <a:xfrm>
            <a:off x="4170164" y="1080641"/>
            <a:ext cx="4645831" cy="106561"/>
          </a:xfrm>
          <a:prstGeom prst="rect">
            <a:avLst/>
          </a:prstGeom>
          <a:noFill/>
          <a:ln/>
        </p:spPr>
        <p:txBody>
          <a:bodyPr wrap="square" lIns="76200" tIns="0" rIns="0" bIns="0" rtlCol="0" anchor="t"/>
          <a:lstStyle/>
          <a:p>
            <a:pPr marL="0" indent="0" algn="l">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are a prompt engineer preparing input for AI assistants</a:t>
            </a:r>
            <a:endParaRPr lang="en-US" sz="600" dirty="0"/>
          </a:p>
        </p:txBody>
      </p:sp>
      <p:sp>
        <p:nvSpPr>
          <p:cNvPr id="22" name="Text 20"/>
          <p:cNvSpPr/>
          <p:nvPr/>
        </p:nvSpPr>
        <p:spPr>
          <a:xfrm>
            <a:off x="4170164" y="1244352"/>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3" name="Text 21"/>
          <p:cNvSpPr/>
          <p:nvPr/>
        </p:nvSpPr>
        <p:spPr>
          <a:xfrm>
            <a:off x="4170164" y="1408063"/>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4" name="Text 22"/>
          <p:cNvSpPr/>
          <p:nvPr/>
        </p:nvSpPr>
        <p:spPr>
          <a:xfrm>
            <a:off x="4170164" y="1571774"/>
            <a:ext cx="4645831" cy="342900"/>
          </a:xfrm>
          <a:prstGeom prst="rect">
            <a:avLst/>
          </a:prstGeom>
          <a:noFill/>
          <a:ln/>
        </p:spPr>
        <p:txBody>
          <a:bodyPr wrap="square" lIns="76200" tIns="0" rIns="0" bIns="0" rtlCol="0" anchor="t"/>
          <a:lstStyle/>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The User Message is raw dictated speech.</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Reformat it as a clear, effective prompt</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ready to paste into an AI tool.</a:t>
            </a:r>
            <a:endParaRPr lang="en-US" sz="600" dirty="0"/>
          </a:p>
        </p:txBody>
      </p:sp>
      <p:sp>
        <p:nvSpPr>
          <p:cNvPr id="25" name="Text 23"/>
          <p:cNvSpPr/>
          <p:nvPr/>
        </p:nvSpPr>
        <p:spPr>
          <a:xfrm>
            <a:off x="4177004" y="2032546"/>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6" name="Text 24"/>
          <p:cNvSpPr/>
          <p:nvPr/>
        </p:nvSpPr>
        <p:spPr>
          <a:xfrm>
            <a:off x="4170164" y="2135535"/>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7" name="Text 25"/>
          <p:cNvSpPr/>
          <p:nvPr/>
        </p:nvSpPr>
        <p:spPr>
          <a:xfrm>
            <a:off x="4170164" y="2299246"/>
            <a:ext cx="4645831" cy="571500"/>
          </a:xfrm>
          <a:prstGeom prst="rect">
            <a:avLst/>
          </a:prstGeom>
          <a:noFill/>
          <a:ln/>
        </p:spPr>
        <p:txBody>
          <a:bodyPr wrap="square" lIns="76200" tIns="0" rIns="0" bIns="0" rtlCol="0" anchor="t"/>
          <a:lstStyle/>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Clarify intent and scope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Add structure (numbered steps if complex)</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Preserve technical terms exactly</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Remove filler words ("um", "like", etc.)</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Keep the user's voice and intent</a:t>
            </a:r>
            <a:endParaRPr lang="en-US" sz="600" dirty="0"/>
          </a:p>
        </p:txBody>
      </p:sp>
      <p:sp>
        <p:nvSpPr>
          <p:cNvPr id="28" name="Text 26"/>
          <p:cNvSpPr/>
          <p:nvPr/>
        </p:nvSpPr>
        <p:spPr>
          <a:xfrm>
            <a:off x="4170164" y="2927896"/>
            <a:ext cx="4645831" cy="106561"/>
          </a:xfrm>
          <a:prstGeom prst="rect">
            <a:avLst/>
          </a:prstGeom>
          <a:noFill/>
          <a:ln/>
        </p:spPr>
        <p:txBody>
          <a:bodyPr wrap="square" lIns="0" tIns="0" rIns="0" bIns="0" rtlCol="0" anchor="t"/>
          <a:lstStyle/>
          <a:p>
            <a:pPr marL="0" indent="0" algn="l">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9" name="Text 27"/>
          <p:cNvSpPr/>
          <p:nvPr/>
        </p:nvSpPr>
        <p:spPr>
          <a:xfrm>
            <a:off x="4017764" y="3516362"/>
            <a:ext cx="2386905" cy="668238"/>
          </a:xfrm>
          <a:prstGeom prst="rect">
            <a:avLst/>
          </a:prstGeom>
          <a:solidFill>
            <a:srgbClr val="DCFCE7"/>
          </a:solidFill>
          <a:ln/>
        </p:spPr>
        <p:txBody>
          <a:bodyPr wrap="square" rtlCol="0" anchor="ctr"/>
          <a:lstStyle/>
          <a:p>
            <a:pPr marL="0" indent="0">
              <a:buNone/>
            </a:pPr>
            <a:endParaRPr lang="en-US" dirty="0"/>
          </a:p>
        </p:txBody>
      </p:sp>
      <p:sp>
        <p:nvSpPr>
          <p:cNvPr id="30" name="Shape 28"/>
          <p:cNvSpPr/>
          <p:nvPr/>
        </p:nvSpPr>
        <p:spPr>
          <a:xfrm>
            <a:off x="4032052" y="3516362"/>
            <a:ext cx="0" cy="668238"/>
          </a:xfrm>
          <a:prstGeom prst="line">
            <a:avLst/>
          </a:prstGeom>
          <a:noFill/>
          <a:ln w="28575">
            <a:solidFill>
              <a:srgbClr val="059669"/>
            </a:solidFill>
            <a:prstDash val="solid"/>
          </a:ln>
        </p:spPr>
        <p:txBody>
          <a:bodyPr/>
          <a:lstStyle/>
          <a:p>
            <a:endParaRPr lang="en-US"/>
          </a:p>
        </p:txBody>
      </p:sp>
      <p:sp>
        <p:nvSpPr>
          <p:cNvPr id="31" name="Text 29"/>
          <p:cNvSpPr/>
          <p:nvPr/>
        </p:nvSpPr>
        <p:spPr>
          <a:xfrm>
            <a:off x="4141589" y="3611612"/>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RAW SPEECH</a:t>
            </a:r>
            <a:endParaRPr lang="en-US" sz="675" dirty="0"/>
          </a:p>
        </p:txBody>
      </p:sp>
      <p:sp>
        <p:nvSpPr>
          <p:cNvPr id="32" name="Text 30"/>
          <p:cNvSpPr/>
          <p:nvPr/>
        </p:nvSpPr>
        <p:spPr>
          <a:xfrm>
            <a:off x="4141589" y="3769668"/>
            <a:ext cx="2211187" cy="319683"/>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"okay so um I need like a function that takes a list of users and filters them by um you know active status and then sorts by last login date"</a:t>
            </a:r>
            <a:endParaRPr lang="en-US" sz="600" dirty="0"/>
          </a:p>
        </p:txBody>
      </p:sp>
      <p:sp>
        <p:nvSpPr>
          <p:cNvPr id="33" name="Text 31"/>
          <p:cNvSpPr/>
          <p:nvPr/>
        </p:nvSpPr>
        <p:spPr>
          <a:xfrm>
            <a:off x="6499920" y="3453557"/>
            <a:ext cx="2377380" cy="79384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4" name="Text 32"/>
          <p:cNvSpPr/>
          <p:nvPr/>
        </p:nvSpPr>
        <p:spPr>
          <a:xfrm>
            <a:off x="6604695" y="3558332"/>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ENRICHED PROMPT</a:t>
            </a:r>
            <a:endParaRPr lang="en-US" sz="675" dirty="0"/>
          </a:p>
        </p:txBody>
      </p:sp>
      <p:sp>
        <p:nvSpPr>
          <p:cNvPr id="35" name="Text 33"/>
          <p:cNvSpPr/>
          <p:nvPr/>
        </p:nvSpPr>
        <p:spPr>
          <a:xfrm>
            <a:off x="6604695" y="3716387"/>
            <a:ext cx="2211187" cy="426244"/>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Create a function that:</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1. Takes a list of users</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2. Filters to only active users</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3. Sorts by last login date (descending)</a:t>
            </a:r>
            <a:endParaRPr lang="en-US" sz="600" dirty="0"/>
          </a:p>
        </p:txBody>
      </p:sp>
      <p:sp>
        <p:nvSpPr>
          <p:cNvPr id="36" name="Text 34"/>
          <p:cNvSpPr/>
          <p:nvPr/>
        </p:nvSpPr>
        <p:spPr>
          <a:xfrm>
            <a:off x="4017764" y="4495056"/>
            <a:ext cx="4859536" cy="310455"/>
          </a:xfrm>
          <a:prstGeom prst="rect">
            <a:avLst/>
          </a:prstGeom>
          <a:solidFill>
            <a:srgbClr val="FEF3C7"/>
          </a:solidFill>
          <a:ln/>
        </p:spPr>
        <p:txBody>
          <a:bodyPr wrap="square" rtlCol="0" anchor="ctr"/>
          <a:lstStyle/>
          <a:p>
            <a:pPr marL="0" indent="0">
              <a:buNone/>
            </a:pPr>
            <a:endParaRPr lang="en-US" dirty="0"/>
          </a:p>
        </p:txBody>
      </p:sp>
      <p:sp>
        <p:nvSpPr>
          <p:cNvPr id="37" name="Shape 35"/>
          <p:cNvSpPr/>
          <p:nvPr/>
        </p:nvSpPr>
        <p:spPr>
          <a:xfrm>
            <a:off x="4032052" y="4495056"/>
            <a:ext cx="0" cy="310455"/>
          </a:xfrm>
          <a:prstGeom prst="line">
            <a:avLst/>
          </a:prstGeom>
          <a:noFill/>
          <a:ln w="28575">
            <a:solidFill>
              <a:srgbClr val="F59E0B"/>
            </a:solidFill>
            <a:prstDash val="solid"/>
          </a:ln>
        </p:spPr>
        <p:txBody>
          <a:bodyPr/>
          <a:lstStyle/>
          <a:p>
            <a:endParaRPr lang="en-US"/>
          </a:p>
        </p:txBody>
      </p:sp>
      <p:sp>
        <p:nvSpPr>
          <p:cNvPr id="38" name="Text 36"/>
          <p:cNvSpPr/>
          <p:nvPr/>
        </p:nvSpPr>
        <p:spPr>
          <a:xfrm>
            <a:off x="4141589" y="4590306"/>
            <a:ext cx="4733270" cy="119955"/>
          </a:xfrm>
          <a:prstGeom prst="rect">
            <a:avLst/>
          </a:prstGeom>
          <a:noFill/>
          <a:ln/>
        </p:spPr>
        <p:txBody>
          <a:bodyPr wrap="square" lIns="0" tIns="0" rIns="0" bIns="0" rtlCol="0" anchor="t"/>
          <a:lstStyle/>
          <a:p>
            <a:pPr marL="0" indent="0" algn="l">
              <a:lnSpc>
                <a:spcPts val="945"/>
              </a:lnSpc>
              <a:buNone/>
            </a:pPr>
            <a:r>
              <a:rPr lang="en-US" sz="675" b="1" dirty="0">
                <a:solidFill>
                  <a:srgbClr val="92400E"/>
                </a:solidFill>
                <a:latin typeface="Arial" pitchFamily="34" charset="0"/>
                <a:ea typeface="Arial" pitchFamily="34" charset="-122"/>
                <a:cs typeface="Arial" pitchFamily="34" charset="-120"/>
              </a:rPr>
              <a:t>Flow:</a:t>
            </a:r>
            <a:r>
              <a:rPr lang="en-US" sz="675" dirty="0">
                <a:solidFill>
                  <a:srgbClr val="92400E"/>
                </a:solidFill>
                <a:latin typeface="Arial" pitchFamily="34" charset="0"/>
                <a:ea typeface="Arial" pitchFamily="34" charset="-122"/>
                <a:cs typeface="Arial" pitchFamily="34" charset="-120"/>
              </a:rPr>
              <a:t> Speak naturally → SuperWhisper enriches → Paste to AI tool → AI executes</a:t>
            </a:r>
            <a:endParaRPr lang="en-US" sz="6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CAE6D96-DA93-0B30-B822-B1065165B472}"/>
              </a:ext>
            </a:extLst>
          </p:cNvPr>
          <p:cNvPicPr>
            <a:picLocks noChangeAspect="1"/>
          </p:cNvPicPr>
          <p:nvPr/>
        </p:nvPicPr>
        <p:blipFill>
          <a:blip r:embed="rId2"/>
          <a:stretch>
            <a:fillRect/>
          </a:stretch>
        </p:blipFill>
        <p:spPr>
          <a:xfrm>
            <a:off x="4143696" y="417851"/>
            <a:ext cx="4424267" cy="4457700"/>
          </a:xfrm>
          <a:prstGeom prst="rect">
            <a:avLst/>
          </a:prstGeom>
        </p:spPr>
      </p:pic>
      <p:sp>
        <p:nvSpPr>
          <p:cNvPr id="4" name="TextBox 3">
            <a:extLst>
              <a:ext uri="{FF2B5EF4-FFF2-40B4-BE49-F238E27FC236}">
                <a16:creationId xmlns:a16="http://schemas.microsoft.com/office/drawing/2014/main" id="{923545A5-745A-D486-7A58-AFB38063EAC3}"/>
              </a:ext>
            </a:extLst>
          </p:cNvPr>
          <p:cNvSpPr txBox="1"/>
          <p:nvPr/>
        </p:nvSpPr>
        <p:spPr>
          <a:xfrm>
            <a:off x="509666" y="474689"/>
            <a:ext cx="3023016" cy="923330"/>
          </a:xfrm>
          <a:prstGeom prst="rect">
            <a:avLst/>
          </a:prstGeom>
          <a:noFill/>
        </p:spPr>
        <p:txBody>
          <a:bodyPr wrap="square" rtlCol="0">
            <a:spAutoFit/>
          </a:bodyPr>
          <a:lstStyle/>
          <a:p>
            <a:r>
              <a:rPr lang="en-US" dirty="0">
                <a:solidFill>
                  <a:schemeClr val="bg1"/>
                </a:solidFill>
              </a:rPr>
              <a:t>Under Modes – </a:t>
            </a:r>
          </a:p>
          <a:p>
            <a:endParaRPr lang="en-US" dirty="0">
              <a:solidFill>
                <a:schemeClr val="bg1"/>
              </a:solidFill>
            </a:endParaRPr>
          </a:p>
          <a:p>
            <a:r>
              <a:rPr lang="en-US" dirty="0">
                <a:solidFill>
                  <a:schemeClr val="bg1"/>
                </a:solidFill>
              </a:rPr>
              <a:t>click Create mode</a:t>
            </a:r>
          </a:p>
        </p:txBody>
      </p:sp>
      <p:sp>
        <p:nvSpPr>
          <p:cNvPr id="5" name="Right Arrow 4">
            <a:extLst>
              <a:ext uri="{FF2B5EF4-FFF2-40B4-BE49-F238E27FC236}">
                <a16:creationId xmlns:a16="http://schemas.microsoft.com/office/drawing/2014/main" id="{5A91C208-523F-F6E9-DDD1-96313E75505D}"/>
              </a:ext>
            </a:extLst>
          </p:cNvPr>
          <p:cNvSpPr/>
          <p:nvPr/>
        </p:nvSpPr>
        <p:spPr>
          <a:xfrm rot="9992190">
            <a:off x="8336799" y="765365"/>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4638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D83C360-A757-F6DC-3110-F80FB85BDAD3}"/>
              </a:ext>
            </a:extLst>
          </p:cNvPr>
          <p:cNvPicPr>
            <a:picLocks noChangeAspect="1"/>
          </p:cNvPicPr>
          <p:nvPr/>
        </p:nvPicPr>
        <p:blipFill>
          <a:blip r:embed="rId2"/>
          <a:stretch>
            <a:fillRect/>
          </a:stretch>
        </p:blipFill>
        <p:spPr>
          <a:xfrm>
            <a:off x="4262073" y="402861"/>
            <a:ext cx="4357401" cy="4457700"/>
          </a:xfrm>
          <a:prstGeom prst="rect">
            <a:avLst/>
          </a:prstGeom>
        </p:spPr>
      </p:pic>
      <p:sp>
        <p:nvSpPr>
          <p:cNvPr id="4" name="Right Arrow 3">
            <a:extLst>
              <a:ext uri="{FF2B5EF4-FFF2-40B4-BE49-F238E27FC236}">
                <a16:creationId xmlns:a16="http://schemas.microsoft.com/office/drawing/2014/main" id="{13BBC604-3AE5-E667-8CBD-093F20A9E06D}"/>
              </a:ext>
            </a:extLst>
          </p:cNvPr>
          <p:cNvSpPr/>
          <p:nvPr/>
        </p:nvSpPr>
        <p:spPr>
          <a:xfrm rot="9992190">
            <a:off x="8128631" y="2179345"/>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192F81-DC77-5D51-1D4F-615A718FAC17}"/>
              </a:ext>
            </a:extLst>
          </p:cNvPr>
          <p:cNvSpPr txBox="1"/>
          <p:nvPr/>
        </p:nvSpPr>
        <p:spPr>
          <a:xfrm>
            <a:off x="509666" y="474689"/>
            <a:ext cx="3023016" cy="1477328"/>
          </a:xfrm>
          <a:prstGeom prst="rect">
            <a:avLst/>
          </a:prstGeom>
          <a:noFill/>
        </p:spPr>
        <p:txBody>
          <a:bodyPr wrap="square" rtlCol="0">
            <a:spAutoFit/>
          </a:bodyPr>
          <a:lstStyle/>
          <a:p>
            <a:r>
              <a:rPr lang="en-US" dirty="0">
                <a:solidFill>
                  <a:schemeClr val="bg1"/>
                </a:solidFill>
              </a:rPr>
              <a:t>There are some great default modes, but we want to select Custom</a:t>
            </a:r>
            <a:br>
              <a:rPr lang="en-US" dirty="0">
                <a:solidFill>
                  <a:schemeClr val="bg1"/>
                </a:solidFill>
              </a:rPr>
            </a:br>
            <a:br>
              <a:rPr lang="en-US" dirty="0">
                <a:solidFill>
                  <a:schemeClr val="bg1"/>
                </a:solidFill>
              </a:rPr>
            </a:br>
            <a:r>
              <a:rPr lang="en-US" dirty="0">
                <a:solidFill>
                  <a:schemeClr val="bg1"/>
                </a:solidFill>
              </a:rPr>
              <a:t>Click custom</a:t>
            </a:r>
          </a:p>
        </p:txBody>
      </p:sp>
    </p:spTree>
    <p:extLst>
      <p:ext uri="{BB962C8B-B14F-4D97-AF65-F5344CB8AC3E}">
        <p14:creationId xmlns:p14="http://schemas.microsoft.com/office/powerpoint/2010/main" val="1367527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9BBCCDB-5800-E549-6E6C-6A6BDA9B06A4}"/>
              </a:ext>
            </a:extLst>
          </p:cNvPr>
          <p:cNvPicPr>
            <a:picLocks noChangeAspect="1"/>
          </p:cNvPicPr>
          <p:nvPr/>
        </p:nvPicPr>
        <p:blipFill>
          <a:blip r:embed="rId2"/>
          <a:stretch>
            <a:fillRect/>
          </a:stretch>
        </p:blipFill>
        <p:spPr>
          <a:xfrm>
            <a:off x="4164426" y="397864"/>
            <a:ext cx="4502727" cy="4457700"/>
          </a:xfrm>
          <a:prstGeom prst="rect">
            <a:avLst/>
          </a:prstGeom>
        </p:spPr>
      </p:pic>
      <p:sp>
        <p:nvSpPr>
          <p:cNvPr id="5" name="Oval 4">
            <a:extLst>
              <a:ext uri="{FF2B5EF4-FFF2-40B4-BE49-F238E27FC236}">
                <a16:creationId xmlns:a16="http://schemas.microsoft.com/office/drawing/2014/main" id="{52BB47CF-F179-BA38-6E63-45A591405EB6}"/>
              </a:ext>
            </a:extLst>
          </p:cNvPr>
          <p:cNvSpPr/>
          <p:nvPr/>
        </p:nvSpPr>
        <p:spPr>
          <a:xfrm>
            <a:off x="8139659" y="2176849"/>
            <a:ext cx="314793" cy="301526"/>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EE8E45A6-010F-63EE-0C15-9D0A0591BFE0}"/>
              </a:ext>
            </a:extLst>
          </p:cNvPr>
          <p:cNvSpPr/>
          <p:nvPr/>
        </p:nvSpPr>
        <p:spPr>
          <a:xfrm>
            <a:off x="5943600" y="2958835"/>
            <a:ext cx="314793" cy="301526"/>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2</a:t>
            </a:r>
          </a:p>
        </p:txBody>
      </p:sp>
      <p:sp>
        <p:nvSpPr>
          <p:cNvPr id="8" name="Oval 7">
            <a:extLst>
              <a:ext uri="{FF2B5EF4-FFF2-40B4-BE49-F238E27FC236}">
                <a16:creationId xmlns:a16="http://schemas.microsoft.com/office/drawing/2014/main" id="{BBD32708-CCF3-00BA-BE4A-E6F2D0184C21}"/>
              </a:ext>
            </a:extLst>
          </p:cNvPr>
          <p:cNvSpPr/>
          <p:nvPr/>
        </p:nvSpPr>
        <p:spPr>
          <a:xfrm>
            <a:off x="8352360" y="3214680"/>
            <a:ext cx="314793" cy="301526"/>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3</a:t>
            </a:r>
          </a:p>
        </p:txBody>
      </p:sp>
      <p:sp>
        <p:nvSpPr>
          <p:cNvPr id="10" name="TextBox 9">
            <a:extLst>
              <a:ext uri="{FF2B5EF4-FFF2-40B4-BE49-F238E27FC236}">
                <a16:creationId xmlns:a16="http://schemas.microsoft.com/office/drawing/2014/main" id="{7F33F312-8D36-BF0D-6DDC-9467E41281A9}"/>
              </a:ext>
            </a:extLst>
          </p:cNvPr>
          <p:cNvSpPr txBox="1"/>
          <p:nvPr/>
        </p:nvSpPr>
        <p:spPr>
          <a:xfrm>
            <a:off x="509666" y="474689"/>
            <a:ext cx="3023016" cy="3139321"/>
          </a:xfrm>
          <a:prstGeom prst="rect">
            <a:avLst/>
          </a:prstGeom>
          <a:noFill/>
        </p:spPr>
        <p:txBody>
          <a:bodyPr wrap="square" rtlCol="0">
            <a:spAutoFit/>
          </a:bodyPr>
          <a:lstStyle/>
          <a:p>
            <a:pPr marL="342900" indent="-342900">
              <a:buAutoNum type="arabicPeriod"/>
            </a:pPr>
            <a:r>
              <a:rPr lang="en-US" dirty="0">
                <a:solidFill>
                  <a:schemeClr val="bg1"/>
                </a:solidFill>
              </a:rPr>
              <a:t>The Prompt box. This is instructions that will be passed to the LLM model.</a:t>
            </a:r>
          </a:p>
          <a:p>
            <a:pPr marL="342900" indent="-342900">
              <a:buAutoNum type="arabicPeriod"/>
            </a:pPr>
            <a:r>
              <a:rPr lang="en-US" dirty="0">
                <a:solidFill>
                  <a:schemeClr val="bg1"/>
                </a:solidFill>
              </a:rPr>
              <a:t>Model Selector</a:t>
            </a:r>
          </a:p>
          <a:p>
            <a:pPr marL="342900" indent="-342900">
              <a:buAutoNum type="arabicPeriod"/>
            </a:pPr>
            <a:r>
              <a:rPr lang="en-US" dirty="0">
                <a:solidFill>
                  <a:schemeClr val="bg1"/>
                </a:solidFill>
              </a:rPr>
              <a:t>Config menu</a:t>
            </a:r>
          </a:p>
          <a:p>
            <a:pPr marL="342900" indent="-342900">
              <a:buAutoNum type="arabicPeriod"/>
            </a:pPr>
            <a:endParaRPr lang="en-US" dirty="0">
              <a:solidFill>
                <a:schemeClr val="bg1"/>
              </a:solidFill>
            </a:endParaRPr>
          </a:p>
          <a:p>
            <a:r>
              <a:rPr lang="en-US" dirty="0">
                <a:solidFill>
                  <a:schemeClr val="bg1"/>
                </a:solidFill>
              </a:rPr>
              <a:t>As of the Jan 2026 release clicking anywhere on the model selector or the gear icon will open the SAME menu. </a:t>
            </a:r>
          </a:p>
        </p:txBody>
      </p:sp>
    </p:spTree>
    <p:extLst>
      <p:ext uri="{BB962C8B-B14F-4D97-AF65-F5344CB8AC3E}">
        <p14:creationId xmlns:p14="http://schemas.microsoft.com/office/powerpoint/2010/main" val="2904883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7C976F5-C053-088E-17B1-B9FB27A757C8}"/>
              </a:ext>
            </a:extLst>
          </p:cNvPr>
          <p:cNvPicPr>
            <a:picLocks noChangeAspect="1"/>
          </p:cNvPicPr>
          <p:nvPr/>
        </p:nvPicPr>
        <p:blipFill>
          <a:blip r:embed="rId2"/>
          <a:stretch>
            <a:fillRect/>
          </a:stretch>
        </p:blipFill>
        <p:spPr>
          <a:xfrm>
            <a:off x="3981486" y="427845"/>
            <a:ext cx="4468872" cy="4457700"/>
          </a:xfrm>
          <a:prstGeom prst="rect">
            <a:avLst/>
          </a:prstGeom>
        </p:spPr>
      </p:pic>
      <p:sp>
        <p:nvSpPr>
          <p:cNvPr id="4" name="TextBox 3">
            <a:extLst>
              <a:ext uri="{FF2B5EF4-FFF2-40B4-BE49-F238E27FC236}">
                <a16:creationId xmlns:a16="http://schemas.microsoft.com/office/drawing/2014/main" id="{7B82C42C-C9CE-ACE7-A7EC-D559720F9FB7}"/>
              </a:ext>
            </a:extLst>
          </p:cNvPr>
          <p:cNvSpPr txBox="1"/>
          <p:nvPr/>
        </p:nvSpPr>
        <p:spPr>
          <a:xfrm>
            <a:off x="509666" y="474689"/>
            <a:ext cx="3023016" cy="1200329"/>
          </a:xfrm>
          <a:prstGeom prst="rect">
            <a:avLst/>
          </a:prstGeom>
          <a:noFill/>
        </p:spPr>
        <p:txBody>
          <a:bodyPr wrap="square" rtlCol="0">
            <a:spAutoFit/>
          </a:bodyPr>
          <a:lstStyle/>
          <a:p>
            <a:r>
              <a:rPr lang="en-US" dirty="0">
                <a:solidFill>
                  <a:schemeClr val="bg1"/>
                </a:solidFill>
              </a:rPr>
              <a:t>We are going to add an App Trigger </a:t>
            </a:r>
            <a:br>
              <a:rPr lang="en-US" dirty="0">
                <a:solidFill>
                  <a:schemeClr val="bg1"/>
                </a:solidFill>
              </a:rPr>
            </a:br>
            <a:br>
              <a:rPr lang="en-US" dirty="0">
                <a:solidFill>
                  <a:schemeClr val="bg1"/>
                </a:solidFill>
              </a:rPr>
            </a:br>
            <a:r>
              <a:rPr lang="en-US" dirty="0">
                <a:solidFill>
                  <a:schemeClr val="bg1"/>
                </a:solidFill>
              </a:rPr>
              <a:t>Click Add App</a:t>
            </a:r>
          </a:p>
        </p:txBody>
      </p:sp>
      <p:sp>
        <p:nvSpPr>
          <p:cNvPr id="5" name="Right Arrow 4">
            <a:extLst>
              <a:ext uri="{FF2B5EF4-FFF2-40B4-BE49-F238E27FC236}">
                <a16:creationId xmlns:a16="http://schemas.microsoft.com/office/drawing/2014/main" id="{39648DDF-14F3-E57C-DAED-E56E212540CA}"/>
              </a:ext>
            </a:extLst>
          </p:cNvPr>
          <p:cNvSpPr/>
          <p:nvPr/>
        </p:nvSpPr>
        <p:spPr>
          <a:xfrm rot="9992190">
            <a:off x="6503866" y="1674675"/>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5510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CAB85C8-E1E6-6688-0834-E64AC66FEB78}"/>
              </a:ext>
            </a:extLst>
          </p:cNvPr>
          <p:cNvPicPr>
            <a:picLocks noChangeAspect="1"/>
          </p:cNvPicPr>
          <p:nvPr/>
        </p:nvPicPr>
        <p:blipFill>
          <a:blip r:embed="rId2"/>
          <a:stretch>
            <a:fillRect/>
          </a:stretch>
        </p:blipFill>
        <p:spPr>
          <a:xfrm>
            <a:off x="4226250" y="422848"/>
            <a:ext cx="3599592" cy="4457700"/>
          </a:xfrm>
          <a:prstGeom prst="rect">
            <a:avLst/>
          </a:prstGeom>
        </p:spPr>
      </p:pic>
      <p:sp>
        <p:nvSpPr>
          <p:cNvPr id="3" name="TextBox 2">
            <a:extLst>
              <a:ext uri="{FF2B5EF4-FFF2-40B4-BE49-F238E27FC236}">
                <a16:creationId xmlns:a16="http://schemas.microsoft.com/office/drawing/2014/main" id="{B6E273BE-F867-3643-9AA9-B6CB3FBB8FA6}"/>
              </a:ext>
            </a:extLst>
          </p:cNvPr>
          <p:cNvSpPr txBox="1"/>
          <p:nvPr/>
        </p:nvSpPr>
        <p:spPr>
          <a:xfrm>
            <a:off x="509666" y="474689"/>
            <a:ext cx="3023016" cy="1754326"/>
          </a:xfrm>
          <a:prstGeom prst="rect">
            <a:avLst/>
          </a:prstGeom>
          <a:noFill/>
        </p:spPr>
        <p:txBody>
          <a:bodyPr wrap="square" rtlCol="0">
            <a:spAutoFit/>
          </a:bodyPr>
          <a:lstStyle/>
          <a:p>
            <a:r>
              <a:rPr lang="en-US" dirty="0">
                <a:solidFill>
                  <a:schemeClr val="bg1"/>
                </a:solidFill>
              </a:rPr>
              <a:t>Scroll through the list </a:t>
            </a:r>
            <a:br>
              <a:rPr lang="en-US" dirty="0">
                <a:solidFill>
                  <a:schemeClr val="bg1"/>
                </a:solidFill>
              </a:rPr>
            </a:br>
            <a:br>
              <a:rPr lang="en-US" dirty="0">
                <a:solidFill>
                  <a:schemeClr val="bg1"/>
                </a:solidFill>
              </a:rPr>
            </a:br>
            <a:r>
              <a:rPr lang="en-US" dirty="0">
                <a:solidFill>
                  <a:schemeClr val="bg1"/>
                </a:solidFill>
              </a:rPr>
              <a:t>Find an app you have installed – anything will do for this , but if you have an AI app like GPT, Claude, Gemini select it. </a:t>
            </a:r>
          </a:p>
        </p:txBody>
      </p:sp>
    </p:spTree>
    <p:extLst>
      <p:ext uri="{BB962C8B-B14F-4D97-AF65-F5344CB8AC3E}">
        <p14:creationId xmlns:p14="http://schemas.microsoft.com/office/powerpoint/2010/main" val="4059295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44769ED-08A5-9488-C19F-4294D57D1C1A}"/>
              </a:ext>
            </a:extLst>
          </p:cNvPr>
          <p:cNvPicPr>
            <a:picLocks noChangeAspect="1"/>
          </p:cNvPicPr>
          <p:nvPr/>
        </p:nvPicPr>
        <p:blipFill>
          <a:blip r:embed="rId2"/>
          <a:stretch>
            <a:fillRect/>
          </a:stretch>
        </p:blipFill>
        <p:spPr>
          <a:xfrm>
            <a:off x="3769145" y="0"/>
            <a:ext cx="4513804" cy="5143500"/>
          </a:xfrm>
          <a:prstGeom prst="rect">
            <a:avLst/>
          </a:prstGeom>
        </p:spPr>
      </p:pic>
      <p:sp>
        <p:nvSpPr>
          <p:cNvPr id="3" name="Right Arrow 2">
            <a:extLst>
              <a:ext uri="{FF2B5EF4-FFF2-40B4-BE49-F238E27FC236}">
                <a16:creationId xmlns:a16="http://schemas.microsoft.com/office/drawing/2014/main" id="{9BE8FCD3-20F6-60ED-3220-4B3F9076852C}"/>
              </a:ext>
            </a:extLst>
          </p:cNvPr>
          <p:cNvSpPr/>
          <p:nvPr/>
        </p:nvSpPr>
        <p:spPr>
          <a:xfrm rot="9992190">
            <a:off x="6850022" y="1265213"/>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ight Arrow 5">
            <a:extLst>
              <a:ext uri="{FF2B5EF4-FFF2-40B4-BE49-F238E27FC236}">
                <a16:creationId xmlns:a16="http://schemas.microsoft.com/office/drawing/2014/main" id="{4005822F-5BCC-D437-9876-0C6E4A140482}"/>
              </a:ext>
            </a:extLst>
          </p:cNvPr>
          <p:cNvSpPr/>
          <p:nvPr/>
        </p:nvSpPr>
        <p:spPr>
          <a:xfrm rot="9992190">
            <a:off x="8061728" y="2364225"/>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7813CF21-4874-AAE7-867A-BCB51122BFB9}"/>
              </a:ext>
            </a:extLst>
          </p:cNvPr>
          <p:cNvSpPr/>
          <p:nvPr/>
        </p:nvSpPr>
        <p:spPr>
          <a:xfrm rot="9992190">
            <a:off x="8061729" y="3705844"/>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3BF12FC-D41F-B39A-FE68-3C242E6637E5}"/>
              </a:ext>
            </a:extLst>
          </p:cNvPr>
          <p:cNvSpPr txBox="1"/>
          <p:nvPr/>
        </p:nvSpPr>
        <p:spPr>
          <a:xfrm>
            <a:off x="509666" y="474689"/>
            <a:ext cx="3023016" cy="4247317"/>
          </a:xfrm>
          <a:prstGeom prst="rect">
            <a:avLst/>
          </a:prstGeom>
          <a:noFill/>
        </p:spPr>
        <p:txBody>
          <a:bodyPr wrap="square" rtlCol="0">
            <a:spAutoFit/>
          </a:bodyPr>
          <a:lstStyle/>
          <a:p>
            <a:r>
              <a:rPr lang="en-US" dirty="0">
                <a:solidFill>
                  <a:schemeClr val="bg1"/>
                </a:solidFill>
              </a:rPr>
              <a:t>I picked Claude.</a:t>
            </a:r>
            <a:br>
              <a:rPr lang="en-US" dirty="0">
                <a:solidFill>
                  <a:schemeClr val="bg1"/>
                </a:solidFill>
              </a:rPr>
            </a:br>
            <a:br>
              <a:rPr lang="en-US" dirty="0">
                <a:solidFill>
                  <a:schemeClr val="bg1"/>
                </a:solidFill>
              </a:rPr>
            </a:br>
            <a:r>
              <a:rPr lang="en-US" dirty="0">
                <a:solidFill>
                  <a:schemeClr val="bg1"/>
                </a:solidFill>
              </a:rPr>
              <a:t>(You can choose more than 1 app for the mode) </a:t>
            </a:r>
            <a:br>
              <a:rPr lang="en-US" dirty="0">
                <a:solidFill>
                  <a:schemeClr val="bg1"/>
                </a:solidFill>
              </a:rPr>
            </a:br>
            <a:br>
              <a:rPr lang="en-US" dirty="0">
                <a:solidFill>
                  <a:schemeClr val="bg1"/>
                </a:solidFill>
              </a:rPr>
            </a:br>
            <a:r>
              <a:rPr lang="en-US" dirty="0">
                <a:solidFill>
                  <a:schemeClr val="bg1"/>
                </a:solidFill>
              </a:rPr>
              <a:t>Then include context – select the boxes. </a:t>
            </a:r>
            <a:br>
              <a:rPr lang="en-US" dirty="0">
                <a:solidFill>
                  <a:schemeClr val="bg1"/>
                </a:solidFill>
              </a:rPr>
            </a:br>
            <a:br>
              <a:rPr lang="en-US" dirty="0">
                <a:solidFill>
                  <a:schemeClr val="bg1"/>
                </a:solidFill>
              </a:rPr>
            </a:br>
            <a:r>
              <a:rPr lang="en-US" dirty="0">
                <a:solidFill>
                  <a:schemeClr val="bg1"/>
                </a:solidFill>
              </a:rPr>
              <a:t>Optional Settings:</a:t>
            </a:r>
            <a:br>
              <a:rPr lang="en-US" dirty="0">
                <a:solidFill>
                  <a:schemeClr val="bg1"/>
                </a:solidFill>
              </a:rPr>
            </a:br>
            <a:r>
              <a:rPr lang="en-US" dirty="0">
                <a:solidFill>
                  <a:schemeClr val="bg1"/>
                </a:solidFill>
              </a:rPr>
              <a:t>I use pause playback in case I have YouTube or Spotify in the background. </a:t>
            </a:r>
          </a:p>
          <a:p>
            <a:endParaRPr lang="en-US" dirty="0">
              <a:solidFill>
                <a:schemeClr val="bg1"/>
              </a:solidFill>
            </a:endParaRPr>
          </a:p>
          <a:p>
            <a:r>
              <a:rPr lang="en-US" dirty="0">
                <a:solidFill>
                  <a:schemeClr val="bg1"/>
                </a:solidFill>
              </a:rPr>
              <a:t>You can also use modes like custom meeting transcribers.</a:t>
            </a:r>
          </a:p>
        </p:txBody>
      </p:sp>
    </p:spTree>
    <p:extLst>
      <p:ext uri="{BB962C8B-B14F-4D97-AF65-F5344CB8AC3E}">
        <p14:creationId xmlns:p14="http://schemas.microsoft.com/office/powerpoint/2010/main" val="42334621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01DF27B4-3E18-A5AA-831F-3DF9D95D5F46}"/>
              </a:ext>
            </a:extLst>
          </p:cNvPr>
          <p:cNvPicPr>
            <a:picLocks noChangeAspect="1"/>
          </p:cNvPicPr>
          <p:nvPr/>
        </p:nvPicPr>
        <p:blipFill>
          <a:blip r:embed="rId2"/>
          <a:stretch>
            <a:fillRect/>
          </a:stretch>
        </p:blipFill>
        <p:spPr>
          <a:xfrm>
            <a:off x="5549294" y="462821"/>
            <a:ext cx="2362580" cy="4457700"/>
          </a:xfrm>
          <a:prstGeom prst="rect">
            <a:avLst/>
          </a:prstGeom>
        </p:spPr>
      </p:pic>
      <p:sp>
        <p:nvSpPr>
          <p:cNvPr id="3" name="TextBox 2">
            <a:extLst>
              <a:ext uri="{FF2B5EF4-FFF2-40B4-BE49-F238E27FC236}">
                <a16:creationId xmlns:a16="http://schemas.microsoft.com/office/drawing/2014/main" id="{43671CBE-D9E2-3381-1E01-04F21DEDE87B}"/>
              </a:ext>
            </a:extLst>
          </p:cNvPr>
          <p:cNvSpPr txBox="1"/>
          <p:nvPr/>
        </p:nvSpPr>
        <p:spPr>
          <a:xfrm>
            <a:off x="1232126" y="1472578"/>
            <a:ext cx="3023016" cy="2031325"/>
          </a:xfrm>
          <a:prstGeom prst="rect">
            <a:avLst/>
          </a:prstGeom>
          <a:noFill/>
        </p:spPr>
        <p:txBody>
          <a:bodyPr wrap="square" rtlCol="0">
            <a:spAutoFit/>
          </a:bodyPr>
          <a:lstStyle/>
          <a:p>
            <a:r>
              <a:rPr lang="en-US" dirty="0">
                <a:solidFill>
                  <a:schemeClr val="bg1"/>
                </a:solidFill>
              </a:rPr>
              <a:t>You can make your modes as complex or simple as you wish, the UI will expand. </a:t>
            </a:r>
          </a:p>
          <a:p>
            <a:endParaRPr lang="en-US" dirty="0">
              <a:solidFill>
                <a:schemeClr val="bg1"/>
              </a:solidFill>
            </a:endParaRPr>
          </a:p>
          <a:p>
            <a:endParaRPr lang="en-US" dirty="0">
              <a:solidFill>
                <a:schemeClr val="bg1"/>
              </a:solidFill>
            </a:endParaRPr>
          </a:p>
          <a:p>
            <a:r>
              <a:rPr lang="en-US" dirty="0">
                <a:solidFill>
                  <a:schemeClr val="bg1"/>
                </a:solidFill>
              </a:rPr>
              <a:t>That’s It! Your first custom mode is ready for a spin </a:t>
            </a:r>
            <a:r>
              <a:rPr lang="en-US" dirty="0">
                <a:solidFill>
                  <a:schemeClr val="bg1"/>
                </a:solidFill>
                <a:sym typeface="Wingdings" pitchFamily="2" charset="2"/>
              </a:rPr>
              <a:t> </a:t>
            </a:r>
            <a:endParaRPr lang="en-US" dirty="0">
              <a:solidFill>
                <a:schemeClr val="bg1"/>
              </a:solidFill>
            </a:endParaRPr>
          </a:p>
        </p:txBody>
      </p:sp>
    </p:spTree>
    <p:extLst>
      <p:ext uri="{BB962C8B-B14F-4D97-AF65-F5344CB8AC3E}">
        <p14:creationId xmlns:p14="http://schemas.microsoft.com/office/powerpoint/2010/main" val="2839086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40804"/>
            <a:ext cx="778073" cy="220861"/>
          </a:xfrm>
          <a:prstGeom prst="rect">
            <a:avLst/>
          </a:prstGeom>
          <a:solidFill>
            <a:srgbClr val="3B82F6"/>
          </a:solidFill>
          <a:ln/>
        </p:spPr>
        <p:txBody>
          <a:bodyPr wrap="square" rtlCol="0" anchor="ctr"/>
          <a:lstStyle/>
          <a:p>
            <a:pPr marL="0" indent="0">
              <a:buNone/>
            </a:pPr>
            <a:endParaRPr lang="en-US" dirty="0"/>
          </a:p>
        </p:txBody>
      </p:sp>
      <p:sp>
        <p:nvSpPr>
          <p:cNvPr id="4" name="Text 2"/>
          <p:cNvSpPr/>
          <p:nvPr/>
        </p:nvSpPr>
        <p:spPr>
          <a:xfrm>
            <a:off x="361950" y="297954"/>
            <a:ext cx="599325" cy="106561"/>
          </a:xfrm>
          <a:prstGeom prst="rect">
            <a:avLst/>
          </a:prstGeom>
          <a:noFill/>
          <a:ln/>
        </p:spPr>
        <p:txBody>
          <a:bodyPr wrap="square" lIns="0" tIns="0" rIns="0" bIns="0" rtlCol="0" anchor="t"/>
          <a:lstStyle/>
          <a:p>
            <a:pPr marL="0" indent="0" algn="l">
              <a:lnSpc>
                <a:spcPts val="840"/>
              </a:lnSpc>
              <a:buNone/>
            </a:pPr>
            <a:r>
              <a:rPr lang="en-US" sz="600" b="1" dirty="0">
                <a:solidFill>
                  <a:srgbClr val="FFFFFF"/>
                </a:solidFill>
                <a:latin typeface="Arial" pitchFamily="34" charset="0"/>
                <a:ea typeface="Arial" pitchFamily="34" charset="-122"/>
                <a:cs typeface="Arial" pitchFamily="34" charset="-120"/>
              </a:rPr>
              <a:t>MODE 2 OF 5</a:t>
            </a:r>
            <a:endParaRPr lang="en-US" sz="600" dirty="0"/>
          </a:p>
        </p:txBody>
      </p:sp>
      <p:sp>
        <p:nvSpPr>
          <p:cNvPr id="5" name="Text 3"/>
          <p:cNvSpPr/>
          <p:nvPr/>
        </p:nvSpPr>
        <p:spPr>
          <a:xfrm>
            <a:off x="266700" y="709315"/>
            <a:ext cx="1739075"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Microsoft Teams</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Chat Mode</a:t>
            </a:r>
            <a:endParaRPr lang="en-US" sz="1800" dirty="0"/>
          </a:p>
        </p:txBody>
      </p:sp>
      <p:sp>
        <p:nvSpPr>
          <p:cNvPr id="6" name="Text 4"/>
          <p:cNvSpPr/>
          <p:nvPr/>
        </p:nvSpPr>
        <p:spPr>
          <a:xfrm>
            <a:off x="266700" y="1829395"/>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280988" y="1829395"/>
            <a:ext cx="0" cy="639961"/>
          </a:xfrm>
          <a:prstGeom prst="line">
            <a:avLst/>
          </a:prstGeom>
          <a:noFill/>
          <a:ln w="28575">
            <a:solidFill>
              <a:srgbClr val="C9A227"/>
            </a:solidFill>
            <a:prstDash val="solid"/>
          </a:ln>
        </p:spPr>
        <p:txBody>
          <a:bodyPr/>
          <a:lstStyle/>
          <a:p>
            <a:endParaRPr lang="en-US"/>
          </a:p>
        </p:txBody>
      </p:sp>
      <p:sp>
        <p:nvSpPr>
          <p:cNvPr id="8" name="Text 6"/>
          <p:cNvSpPr/>
          <p:nvPr/>
        </p:nvSpPr>
        <p:spPr>
          <a:xfrm>
            <a:off x="409575" y="1943695"/>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15145"/>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Quick, professional chat messages. Maintains conversational tone while keeping it workplace-appropriate.</a:t>
            </a:r>
            <a:endParaRPr lang="en-US" sz="675" dirty="0"/>
          </a:p>
        </p:txBody>
      </p:sp>
      <p:sp>
        <p:nvSpPr>
          <p:cNvPr id="10" name="Text 8"/>
          <p:cNvSpPr/>
          <p:nvPr/>
        </p:nvSpPr>
        <p:spPr>
          <a:xfrm>
            <a:off x="266700" y="2736056"/>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381000" y="2850356"/>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2" name="Text 10"/>
          <p:cNvSpPr/>
          <p:nvPr/>
        </p:nvSpPr>
        <p:spPr>
          <a:xfrm>
            <a:off x="381000" y="3040856"/>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 (detect Teams)</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(optional)</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Context (optional)</a:t>
            </a:r>
            <a:endParaRPr lang="en-US" sz="675" dirty="0"/>
          </a:p>
        </p:txBody>
      </p:sp>
      <p:sp>
        <p:nvSpPr>
          <p:cNvPr id="13" name="Text 11"/>
          <p:cNvSpPr/>
          <p:nvPr/>
        </p:nvSpPr>
        <p:spPr>
          <a:xfrm>
            <a:off x="266700" y="3807619"/>
            <a:ext cx="3065264" cy="721816"/>
          </a:xfrm>
          <a:prstGeom prst="rect">
            <a:avLst/>
          </a:prstGeom>
          <a:solidFill>
            <a:srgbClr val="FFFFFF">
              <a:alpha val="5000"/>
            </a:srgbClr>
          </a:solidFill>
          <a:ln/>
        </p:spPr>
        <p:txBody>
          <a:bodyPr wrap="square" rtlCol="0" anchor="ctr"/>
          <a:lstStyle/>
          <a:p>
            <a:pPr marL="0" indent="0">
              <a:buNone/>
            </a:pPr>
            <a:endParaRPr lang="en-US" dirty="0"/>
          </a:p>
        </p:txBody>
      </p:sp>
      <p:sp>
        <p:nvSpPr>
          <p:cNvPr id="14" name="Text 12"/>
          <p:cNvSpPr/>
          <p:nvPr/>
        </p:nvSpPr>
        <p:spPr>
          <a:xfrm>
            <a:off x="361950" y="3902869"/>
            <a:ext cx="293225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5" name="Text 13"/>
          <p:cNvSpPr/>
          <p:nvPr/>
        </p:nvSpPr>
        <p:spPr>
          <a:xfrm>
            <a:off x="361950" y="4074319"/>
            <a:ext cx="2932259" cy="359866"/>
          </a:xfrm>
          <a:prstGeom prst="rect">
            <a:avLst/>
          </a:prstGeom>
          <a:noFill/>
          <a:ln/>
        </p:spPr>
        <p:txBody>
          <a:bodyPr wrap="square" lIns="0" tIns="0" rIns="0" bIns="0" rtlCol="0" anchor="t"/>
          <a:lstStyle/>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Microsoft Teams</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Slack (optional)</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Discord (optional)</a:t>
            </a:r>
            <a:endParaRPr lang="en-US" sz="675" dirty="0"/>
          </a:p>
        </p:txBody>
      </p:sp>
      <p:sp>
        <p:nvSpPr>
          <p:cNvPr id="16" name="Text 14"/>
          <p:cNvSpPr/>
          <p:nvPr/>
        </p:nvSpPr>
        <p:spPr>
          <a:xfrm>
            <a:off x="266700" y="4681835"/>
            <a:ext cx="3065264" cy="258961"/>
          </a:xfrm>
          <a:prstGeom prst="rect">
            <a:avLst/>
          </a:prstGeom>
          <a:solidFill>
            <a:srgbClr val="FEF3C7"/>
          </a:solidFill>
          <a:ln/>
        </p:spPr>
        <p:txBody>
          <a:bodyPr wrap="square" rtlCol="0" anchor="ctr"/>
          <a:lstStyle/>
          <a:p>
            <a:pPr marL="0" indent="0">
              <a:buNone/>
            </a:pPr>
            <a:endParaRPr lang="en-US" dirty="0"/>
          </a:p>
        </p:txBody>
      </p:sp>
      <p:sp>
        <p:nvSpPr>
          <p:cNvPr id="17" name="Shape 15"/>
          <p:cNvSpPr/>
          <p:nvPr/>
        </p:nvSpPr>
        <p:spPr>
          <a:xfrm>
            <a:off x="280988" y="4681835"/>
            <a:ext cx="0" cy="258961"/>
          </a:xfrm>
          <a:prstGeom prst="line">
            <a:avLst/>
          </a:prstGeom>
          <a:noFill/>
          <a:ln w="28575">
            <a:solidFill>
              <a:srgbClr val="F59E0B"/>
            </a:solidFill>
            <a:prstDash val="solid"/>
          </a:ln>
        </p:spPr>
        <p:txBody>
          <a:bodyPr/>
          <a:lstStyle/>
          <a:p>
            <a:endParaRPr lang="en-US"/>
          </a:p>
        </p:txBody>
      </p:sp>
      <p:sp>
        <p:nvSpPr>
          <p:cNvPr id="18" name="Text 16"/>
          <p:cNvSpPr/>
          <p:nvPr/>
        </p:nvSpPr>
        <p:spPr>
          <a:xfrm>
            <a:off x="371475" y="4758035"/>
            <a:ext cx="2941975" cy="106561"/>
          </a:xfrm>
          <a:prstGeom prst="rect">
            <a:avLst/>
          </a:prstGeom>
          <a:noFill/>
          <a:ln/>
        </p:spPr>
        <p:txBody>
          <a:bodyPr wrap="square" lIns="0" tIns="0" rIns="0" bIns="0" rtlCol="0" anchor="t"/>
          <a:lstStyle/>
          <a:p>
            <a:pPr marL="0" indent="0" algn="l">
              <a:lnSpc>
                <a:spcPts val="840"/>
              </a:lnSpc>
              <a:buNone/>
            </a:pPr>
            <a:r>
              <a:rPr lang="en-US" sz="600" b="1" dirty="0">
                <a:solidFill>
                  <a:srgbClr val="92400E"/>
                </a:solidFill>
                <a:latin typeface="Arial" pitchFamily="34" charset="0"/>
                <a:ea typeface="Arial" pitchFamily="34" charset="-122"/>
                <a:cs typeface="Arial" pitchFamily="34" charset="-120"/>
              </a:rPr>
              <a:t>Note:</a:t>
            </a:r>
            <a:r>
              <a:rPr lang="en-US" sz="600" dirty="0">
                <a:solidFill>
                  <a:srgbClr val="92400E"/>
                </a:solidFill>
                <a:latin typeface="Arial" pitchFamily="34" charset="0"/>
                <a:ea typeface="Arial" pitchFamily="34" charset="-122"/>
                <a:cs typeface="Arial" pitchFamily="34" charset="-120"/>
              </a:rPr>
              <a:t> Teams has no native dictation.</a:t>
            </a:r>
            <a:endParaRPr lang="en-US" sz="600" dirty="0"/>
          </a:p>
        </p:txBody>
      </p:sp>
      <p:sp>
        <p:nvSpPr>
          <p:cNvPr id="19" name="Text 17"/>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20" name="Text 18"/>
          <p:cNvSpPr/>
          <p:nvPr/>
        </p:nvSpPr>
        <p:spPr>
          <a:xfrm>
            <a:off x="4017764" y="444401"/>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21" name="Text 19"/>
          <p:cNvSpPr/>
          <p:nvPr/>
        </p:nvSpPr>
        <p:spPr>
          <a:xfrm>
            <a:off x="4017764" y="871091"/>
            <a:ext cx="4859536" cy="2422327"/>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4170164" y="1023491"/>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3" name="Text 21"/>
          <p:cNvSpPr/>
          <p:nvPr/>
        </p:nvSpPr>
        <p:spPr>
          <a:xfrm>
            <a:off x="4170164" y="1187202"/>
            <a:ext cx="4645831" cy="106561"/>
          </a:xfrm>
          <a:prstGeom prst="rect">
            <a:avLst/>
          </a:prstGeom>
          <a:noFill/>
          <a:ln/>
        </p:spPr>
        <p:txBody>
          <a:bodyPr wrap="square" lIns="76200" tIns="0" rIns="0" bIns="0" rtlCol="0" anchor="t"/>
          <a:lstStyle/>
          <a:p>
            <a:pPr marL="0" indent="0" algn="l">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are a workplace chat assistant</a:t>
            </a:r>
            <a:endParaRPr lang="en-US" sz="600" dirty="0"/>
          </a:p>
        </p:txBody>
      </p:sp>
      <p:sp>
        <p:nvSpPr>
          <p:cNvPr id="24" name="Text 22"/>
          <p:cNvSpPr/>
          <p:nvPr/>
        </p:nvSpPr>
        <p:spPr>
          <a:xfrm>
            <a:off x="4170164" y="1350913"/>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5" name="Text 23"/>
          <p:cNvSpPr/>
          <p:nvPr/>
        </p:nvSpPr>
        <p:spPr>
          <a:xfrm>
            <a:off x="4170164" y="1514624"/>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6" name="Text 24"/>
          <p:cNvSpPr/>
          <p:nvPr/>
        </p:nvSpPr>
        <p:spPr>
          <a:xfrm>
            <a:off x="4170164" y="1678335"/>
            <a:ext cx="4645831" cy="342900"/>
          </a:xfrm>
          <a:prstGeom prst="rect">
            <a:avLst/>
          </a:prstGeom>
          <a:noFill/>
          <a:ln/>
        </p:spPr>
        <p:txBody>
          <a:bodyPr wrap="square" lIns="76200" tIns="0" rIns="0" bIns="0" rtlCol="0" anchor="t"/>
          <a:lstStyle/>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Format the User Message for Teams chat.</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Keep it conversational but professional.</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Messages should feel natural, not formal.</a:t>
            </a:r>
            <a:endParaRPr lang="en-US" sz="600" dirty="0"/>
          </a:p>
        </p:txBody>
      </p:sp>
      <p:sp>
        <p:nvSpPr>
          <p:cNvPr id="27" name="Text 25"/>
          <p:cNvSpPr/>
          <p:nvPr/>
        </p:nvSpPr>
        <p:spPr>
          <a:xfrm>
            <a:off x="4200816" y="2131665"/>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8" name="Text 26"/>
          <p:cNvSpPr/>
          <p:nvPr/>
        </p:nvSpPr>
        <p:spPr>
          <a:xfrm>
            <a:off x="4170164" y="2242096"/>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9" name="Text 27"/>
          <p:cNvSpPr/>
          <p:nvPr/>
        </p:nvSpPr>
        <p:spPr>
          <a:xfrm>
            <a:off x="4170164" y="2405807"/>
            <a:ext cx="4645831" cy="571500"/>
          </a:xfrm>
          <a:prstGeom prst="rect">
            <a:avLst/>
          </a:prstGeom>
          <a:noFill/>
          <a:ln/>
        </p:spPr>
        <p:txBody>
          <a:bodyPr wrap="square" lIns="76200" tIns="0" rIns="0" bIns="0" rtlCol="0" anchor="t"/>
          <a:lstStyle/>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Short, direct messages (no essays)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Professional but friendly tone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Handle @mentions as usernames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No formal greetings/signatures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Add appropriate punctuation only</a:t>
            </a:r>
            <a:endParaRPr lang="en-US" sz="600" dirty="0"/>
          </a:p>
        </p:txBody>
      </p:sp>
      <p:sp>
        <p:nvSpPr>
          <p:cNvPr id="30" name="Text 28"/>
          <p:cNvSpPr/>
          <p:nvPr/>
        </p:nvSpPr>
        <p:spPr>
          <a:xfrm>
            <a:off x="4170164" y="3034457"/>
            <a:ext cx="4645831" cy="106561"/>
          </a:xfrm>
          <a:prstGeom prst="rect">
            <a:avLst/>
          </a:prstGeom>
          <a:noFill/>
          <a:ln/>
        </p:spPr>
        <p:txBody>
          <a:bodyPr wrap="square" lIns="0" tIns="0" rIns="0" bIns="0" rtlCol="0" anchor="t"/>
          <a:lstStyle/>
          <a:p>
            <a:pPr marL="0" indent="0" algn="l">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31" name="Text 29"/>
          <p:cNvSpPr/>
          <p:nvPr/>
        </p:nvSpPr>
        <p:spPr>
          <a:xfrm>
            <a:off x="4017764" y="3569643"/>
            <a:ext cx="2386905" cy="561677"/>
          </a:xfrm>
          <a:prstGeom prst="rect">
            <a:avLst/>
          </a:prstGeom>
          <a:solidFill>
            <a:srgbClr val="DBEAFE"/>
          </a:solidFill>
          <a:ln/>
        </p:spPr>
        <p:txBody>
          <a:bodyPr wrap="square" rtlCol="0" anchor="ctr"/>
          <a:lstStyle/>
          <a:p>
            <a:pPr marL="0" indent="0">
              <a:buNone/>
            </a:pPr>
            <a:endParaRPr lang="en-US" dirty="0"/>
          </a:p>
        </p:txBody>
      </p:sp>
      <p:sp>
        <p:nvSpPr>
          <p:cNvPr id="32" name="Shape 30"/>
          <p:cNvSpPr/>
          <p:nvPr/>
        </p:nvSpPr>
        <p:spPr>
          <a:xfrm>
            <a:off x="4032052" y="3569643"/>
            <a:ext cx="0" cy="561677"/>
          </a:xfrm>
          <a:prstGeom prst="line">
            <a:avLst/>
          </a:prstGeom>
          <a:noFill/>
          <a:ln w="28575">
            <a:solidFill>
              <a:srgbClr val="3B82F6"/>
            </a:solidFill>
            <a:prstDash val="solid"/>
          </a:ln>
        </p:spPr>
        <p:txBody>
          <a:bodyPr/>
          <a:lstStyle/>
          <a:p>
            <a:endParaRPr lang="en-US"/>
          </a:p>
        </p:txBody>
      </p:sp>
      <p:sp>
        <p:nvSpPr>
          <p:cNvPr id="33" name="Text 31"/>
          <p:cNvSpPr/>
          <p:nvPr/>
        </p:nvSpPr>
        <p:spPr>
          <a:xfrm>
            <a:off x="4141589" y="3664893"/>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EXAMPLE INPUT</a:t>
            </a:r>
            <a:endParaRPr lang="en-US" sz="675" dirty="0"/>
          </a:p>
        </p:txBody>
      </p:sp>
      <p:sp>
        <p:nvSpPr>
          <p:cNvPr id="34" name="Text 32"/>
          <p:cNvSpPr/>
          <p:nvPr/>
        </p:nvSpPr>
        <p:spPr>
          <a:xfrm>
            <a:off x="4141589" y="3822948"/>
            <a:ext cx="2211187"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"hey can you let Sarah know that the meeting got moved to three PM and we'll need her to bring the quarterly report"</a:t>
            </a:r>
            <a:endParaRPr lang="en-US" sz="600" dirty="0"/>
          </a:p>
        </p:txBody>
      </p:sp>
      <p:sp>
        <p:nvSpPr>
          <p:cNvPr id="35" name="Text 33"/>
          <p:cNvSpPr/>
          <p:nvPr/>
        </p:nvSpPr>
        <p:spPr>
          <a:xfrm>
            <a:off x="6499920" y="3560118"/>
            <a:ext cx="2377380" cy="58072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6" name="Text 34"/>
          <p:cNvSpPr/>
          <p:nvPr/>
        </p:nvSpPr>
        <p:spPr>
          <a:xfrm>
            <a:off x="6604695" y="3664893"/>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EXAMPLE OUTPUT</a:t>
            </a:r>
            <a:endParaRPr lang="en-US" sz="675" dirty="0"/>
          </a:p>
        </p:txBody>
      </p:sp>
      <p:sp>
        <p:nvSpPr>
          <p:cNvPr id="37" name="Text 35"/>
          <p:cNvSpPr/>
          <p:nvPr/>
        </p:nvSpPr>
        <p:spPr>
          <a:xfrm>
            <a:off x="6604695" y="3822948"/>
            <a:ext cx="2211187" cy="213122"/>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Hey @Sarah, heads up - the meeting got moved to 3 PM. Can you bring the quarterly report?</a:t>
            </a:r>
            <a:endParaRPr lang="en-US" sz="600" dirty="0"/>
          </a:p>
        </p:txBody>
      </p:sp>
      <p:sp>
        <p:nvSpPr>
          <p:cNvPr id="38" name="Text 36"/>
          <p:cNvSpPr/>
          <p:nvPr/>
        </p:nvSpPr>
        <p:spPr>
          <a:xfrm>
            <a:off x="4017764" y="4388495"/>
            <a:ext cx="4859536" cy="310455"/>
          </a:xfrm>
          <a:prstGeom prst="rect">
            <a:avLst/>
          </a:prstGeom>
          <a:solidFill>
            <a:srgbClr val="DCFCE7"/>
          </a:solidFill>
          <a:ln/>
        </p:spPr>
        <p:txBody>
          <a:bodyPr wrap="square" rtlCol="0" anchor="ctr"/>
          <a:lstStyle/>
          <a:p>
            <a:pPr marL="0" indent="0">
              <a:buNone/>
            </a:pPr>
            <a:endParaRPr lang="en-US" dirty="0"/>
          </a:p>
        </p:txBody>
      </p:sp>
      <p:sp>
        <p:nvSpPr>
          <p:cNvPr id="39" name="Shape 37"/>
          <p:cNvSpPr/>
          <p:nvPr/>
        </p:nvSpPr>
        <p:spPr>
          <a:xfrm>
            <a:off x="4032052" y="4388495"/>
            <a:ext cx="0" cy="310455"/>
          </a:xfrm>
          <a:prstGeom prst="line">
            <a:avLst/>
          </a:prstGeom>
          <a:noFill/>
          <a:ln w="28575">
            <a:solidFill>
              <a:srgbClr val="059669"/>
            </a:solidFill>
            <a:prstDash val="solid"/>
          </a:ln>
        </p:spPr>
        <p:txBody>
          <a:bodyPr/>
          <a:lstStyle/>
          <a:p>
            <a:endParaRPr lang="en-US"/>
          </a:p>
        </p:txBody>
      </p:sp>
      <p:sp>
        <p:nvSpPr>
          <p:cNvPr id="40" name="Text 38"/>
          <p:cNvSpPr/>
          <p:nvPr/>
        </p:nvSpPr>
        <p:spPr>
          <a:xfrm>
            <a:off x="4141589" y="4483745"/>
            <a:ext cx="4733270"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Pro tip:</a:t>
            </a:r>
            <a:r>
              <a:rPr lang="en-US" sz="675" dirty="0">
                <a:solidFill>
                  <a:srgbClr val="166534"/>
                </a:solidFill>
                <a:latin typeface="Arial" pitchFamily="34" charset="0"/>
                <a:ea typeface="Arial" pitchFamily="34" charset="-122"/>
                <a:cs typeface="Arial" pitchFamily="34" charset="-120"/>
              </a:rPr>
              <a:t> Say "at Sarah" to get @Sarah. The AI learns to convert spoken mentions to proper format.</a:t>
            </a:r>
            <a:endParaRPr lang="en-US" sz="6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40804"/>
            <a:ext cx="778073" cy="220861"/>
          </a:xfrm>
          <a:prstGeom prst="rect">
            <a:avLst/>
          </a:prstGeom>
          <a:solidFill>
            <a:srgbClr val="8B5CF6"/>
          </a:solidFill>
          <a:ln/>
        </p:spPr>
        <p:txBody>
          <a:bodyPr wrap="square" rtlCol="0" anchor="ctr"/>
          <a:lstStyle/>
          <a:p>
            <a:pPr marL="0" indent="0">
              <a:buNone/>
            </a:pPr>
            <a:endParaRPr lang="en-US" dirty="0"/>
          </a:p>
        </p:txBody>
      </p:sp>
      <p:sp>
        <p:nvSpPr>
          <p:cNvPr id="4" name="Text 2"/>
          <p:cNvSpPr/>
          <p:nvPr/>
        </p:nvSpPr>
        <p:spPr>
          <a:xfrm>
            <a:off x="361950" y="297954"/>
            <a:ext cx="599325" cy="106561"/>
          </a:xfrm>
          <a:prstGeom prst="rect">
            <a:avLst/>
          </a:prstGeom>
          <a:noFill/>
          <a:ln/>
        </p:spPr>
        <p:txBody>
          <a:bodyPr wrap="square" lIns="0" tIns="0" rIns="0" bIns="0" rtlCol="0" anchor="t"/>
          <a:lstStyle/>
          <a:p>
            <a:pPr marL="0" indent="0" algn="l">
              <a:lnSpc>
                <a:spcPts val="840"/>
              </a:lnSpc>
              <a:buNone/>
            </a:pPr>
            <a:r>
              <a:rPr lang="en-US" sz="600" b="1" dirty="0">
                <a:solidFill>
                  <a:srgbClr val="FFFFFF"/>
                </a:solidFill>
                <a:latin typeface="Arial" pitchFamily="34" charset="0"/>
                <a:ea typeface="Arial" pitchFamily="34" charset="-122"/>
                <a:cs typeface="Arial" pitchFamily="34" charset="-120"/>
              </a:rPr>
              <a:t>MODE 3 OF 5</a:t>
            </a:r>
            <a:endParaRPr lang="en-US" sz="600" dirty="0"/>
          </a:p>
        </p:txBody>
      </p:sp>
      <p:sp>
        <p:nvSpPr>
          <p:cNvPr id="5" name="Text 3"/>
          <p:cNvSpPr/>
          <p:nvPr/>
        </p:nvSpPr>
        <p:spPr>
          <a:xfrm>
            <a:off x="266700" y="709315"/>
            <a:ext cx="1573911"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Professional</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Email Mode</a:t>
            </a:r>
            <a:endParaRPr lang="en-US" sz="1800" dirty="0"/>
          </a:p>
        </p:txBody>
      </p:sp>
      <p:sp>
        <p:nvSpPr>
          <p:cNvPr id="6" name="Text 4"/>
          <p:cNvSpPr/>
          <p:nvPr/>
        </p:nvSpPr>
        <p:spPr>
          <a:xfrm>
            <a:off x="266700" y="1829395"/>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280988" y="1829395"/>
            <a:ext cx="0" cy="639961"/>
          </a:xfrm>
          <a:prstGeom prst="line">
            <a:avLst/>
          </a:prstGeom>
          <a:noFill/>
          <a:ln w="28575">
            <a:solidFill>
              <a:srgbClr val="C9A227"/>
            </a:solidFill>
            <a:prstDash val="solid"/>
          </a:ln>
        </p:spPr>
        <p:txBody>
          <a:bodyPr/>
          <a:lstStyle/>
          <a:p>
            <a:endParaRPr lang="en-US"/>
          </a:p>
        </p:txBody>
      </p:sp>
      <p:sp>
        <p:nvSpPr>
          <p:cNvPr id="8" name="Text 6"/>
          <p:cNvSpPr/>
          <p:nvPr/>
        </p:nvSpPr>
        <p:spPr>
          <a:xfrm>
            <a:off x="409575" y="1943695"/>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15145"/>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Transform rambling dictation into well-structured, professional emails. Perfect for busy schedules.</a:t>
            </a:r>
            <a:endParaRPr lang="en-US" sz="675" dirty="0"/>
          </a:p>
        </p:txBody>
      </p:sp>
      <p:sp>
        <p:nvSpPr>
          <p:cNvPr id="10" name="Text 8"/>
          <p:cNvSpPr/>
          <p:nvPr/>
        </p:nvSpPr>
        <p:spPr>
          <a:xfrm>
            <a:off x="266700" y="2736056"/>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381000" y="2850356"/>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2" name="Text 10"/>
          <p:cNvSpPr/>
          <p:nvPr/>
        </p:nvSpPr>
        <p:spPr>
          <a:xfrm>
            <a:off x="381000" y="3040856"/>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 (detect Outlook)</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(reply context)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Context (optional)</a:t>
            </a:r>
            <a:endParaRPr lang="en-US" sz="675" dirty="0"/>
          </a:p>
        </p:txBody>
      </p:sp>
      <p:sp>
        <p:nvSpPr>
          <p:cNvPr id="13" name="Text 11"/>
          <p:cNvSpPr/>
          <p:nvPr/>
        </p:nvSpPr>
        <p:spPr>
          <a:xfrm>
            <a:off x="266700" y="3807619"/>
            <a:ext cx="3065264" cy="721816"/>
          </a:xfrm>
          <a:prstGeom prst="rect">
            <a:avLst/>
          </a:prstGeom>
          <a:solidFill>
            <a:srgbClr val="FFFFFF">
              <a:alpha val="5000"/>
            </a:srgbClr>
          </a:solidFill>
          <a:ln/>
        </p:spPr>
        <p:txBody>
          <a:bodyPr wrap="square" rtlCol="0" anchor="ctr"/>
          <a:lstStyle/>
          <a:p>
            <a:pPr marL="0" indent="0">
              <a:buNone/>
            </a:pPr>
            <a:endParaRPr lang="en-US" dirty="0"/>
          </a:p>
        </p:txBody>
      </p:sp>
      <p:sp>
        <p:nvSpPr>
          <p:cNvPr id="14" name="Text 12"/>
          <p:cNvSpPr/>
          <p:nvPr/>
        </p:nvSpPr>
        <p:spPr>
          <a:xfrm>
            <a:off x="361950" y="3902869"/>
            <a:ext cx="293225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5" name="Text 13"/>
          <p:cNvSpPr/>
          <p:nvPr/>
        </p:nvSpPr>
        <p:spPr>
          <a:xfrm>
            <a:off x="361950" y="4074319"/>
            <a:ext cx="2932259" cy="359866"/>
          </a:xfrm>
          <a:prstGeom prst="rect">
            <a:avLst/>
          </a:prstGeom>
          <a:noFill/>
          <a:ln/>
        </p:spPr>
        <p:txBody>
          <a:bodyPr wrap="square" lIns="0" tIns="0" rIns="0" bIns="0" rtlCol="0" anchor="t"/>
          <a:lstStyle/>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Microsoft Outlook</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Gmail (browser)</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Apple Mail</a:t>
            </a:r>
            <a:endParaRPr lang="en-US" sz="675" dirty="0"/>
          </a:p>
        </p:txBody>
      </p:sp>
      <p:sp>
        <p:nvSpPr>
          <p:cNvPr id="16" name="Text 14"/>
          <p:cNvSpPr/>
          <p:nvPr/>
        </p:nvSpPr>
        <p:spPr>
          <a:xfrm>
            <a:off x="266700" y="4681835"/>
            <a:ext cx="3065264" cy="258961"/>
          </a:xfrm>
          <a:prstGeom prst="rect">
            <a:avLst/>
          </a:prstGeom>
          <a:solidFill>
            <a:srgbClr val="059669"/>
          </a:solidFill>
          <a:ln/>
        </p:spPr>
        <p:txBody>
          <a:bodyPr wrap="square" rtlCol="0" anchor="ctr"/>
          <a:lstStyle/>
          <a:p>
            <a:pPr marL="0" indent="0">
              <a:buNone/>
            </a:pPr>
            <a:endParaRPr lang="en-US" dirty="0"/>
          </a:p>
        </p:txBody>
      </p:sp>
      <p:sp>
        <p:nvSpPr>
          <p:cNvPr id="17" name="Text 15"/>
          <p:cNvSpPr/>
          <p:nvPr/>
        </p:nvSpPr>
        <p:spPr>
          <a:xfrm>
            <a:off x="313771" y="4758035"/>
            <a:ext cx="2971121"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solidFill>
                <a:latin typeface="Arial" pitchFamily="34" charset="0"/>
                <a:ea typeface="Arial" pitchFamily="34" charset="-122"/>
                <a:cs typeface="Arial" pitchFamily="34" charset="-120"/>
              </a:rPr>
              <a:t>Uses your name from system context</a:t>
            </a:r>
            <a:endParaRPr lang="en-US" sz="600" dirty="0"/>
          </a:p>
        </p:txBody>
      </p:sp>
      <p:sp>
        <p:nvSpPr>
          <p:cNvPr id="18" name="Text 16"/>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19" name="Text 17"/>
          <p:cNvSpPr/>
          <p:nvPr/>
        </p:nvSpPr>
        <p:spPr>
          <a:xfrm>
            <a:off x="4017764" y="228600"/>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20" name="Text 18"/>
          <p:cNvSpPr/>
          <p:nvPr/>
        </p:nvSpPr>
        <p:spPr>
          <a:xfrm>
            <a:off x="4017764" y="655289"/>
            <a:ext cx="4859536" cy="2662089"/>
          </a:xfrm>
          <a:prstGeom prst="rect">
            <a:avLst/>
          </a:prstGeom>
          <a:solidFill>
            <a:srgbClr val="1A1F2E"/>
          </a:solidFill>
          <a:ln/>
        </p:spPr>
        <p:txBody>
          <a:bodyPr wrap="square" rtlCol="0" anchor="ctr"/>
          <a:lstStyle/>
          <a:p>
            <a:pPr marL="0" indent="0">
              <a:buNone/>
            </a:pPr>
            <a:endParaRPr lang="en-US" dirty="0"/>
          </a:p>
        </p:txBody>
      </p:sp>
      <p:sp>
        <p:nvSpPr>
          <p:cNvPr id="21" name="Text 19"/>
          <p:cNvSpPr/>
          <p:nvPr/>
        </p:nvSpPr>
        <p:spPr>
          <a:xfrm>
            <a:off x="4170164" y="807690"/>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2" name="Text 20"/>
          <p:cNvSpPr/>
          <p:nvPr/>
        </p:nvSpPr>
        <p:spPr>
          <a:xfrm>
            <a:off x="4170164" y="971401"/>
            <a:ext cx="4645831" cy="106561"/>
          </a:xfrm>
          <a:prstGeom prst="rect">
            <a:avLst/>
          </a:prstGeom>
          <a:noFill/>
          <a:ln/>
        </p:spPr>
        <p:txBody>
          <a:bodyPr wrap="square" lIns="76200" tIns="0" rIns="0" bIns="0" rtlCol="0" anchor="t"/>
          <a:lstStyle/>
          <a:p>
            <a:pPr marL="0" indent="0" algn="l">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are a professional email editor</a:t>
            </a:r>
            <a:endParaRPr lang="en-US" sz="600" dirty="0"/>
          </a:p>
        </p:txBody>
      </p:sp>
      <p:sp>
        <p:nvSpPr>
          <p:cNvPr id="23" name="Text 21"/>
          <p:cNvSpPr/>
          <p:nvPr/>
        </p:nvSpPr>
        <p:spPr>
          <a:xfrm>
            <a:off x="4170164" y="1135112"/>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4" name="Text 22"/>
          <p:cNvSpPr/>
          <p:nvPr/>
        </p:nvSpPr>
        <p:spPr>
          <a:xfrm>
            <a:off x="4170164" y="1298823"/>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5" name="Text 23"/>
          <p:cNvSpPr/>
          <p:nvPr/>
        </p:nvSpPr>
        <p:spPr>
          <a:xfrm>
            <a:off x="4170164" y="1462534"/>
            <a:ext cx="4645831" cy="571500"/>
          </a:xfrm>
          <a:prstGeom prst="rect">
            <a:avLst/>
          </a:prstGeom>
          <a:noFill/>
          <a:ln/>
        </p:spPr>
        <p:txBody>
          <a:bodyPr wrap="square" lIns="76200" tIns="0" rIns="0" bIns="0" rtlCol="0" anchor="t"/>
          <a:lstStyle/>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The User Message is dictated speech.</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Format into a professional email with:</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 Appropriate greeting</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 Clear paragraphs</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 Professional closing</a:t>
            </a:r>
            <a:endParaRPr lang="en-US" sz="600" dirty="0"/>
          </a:p>
        </p:txBody>
      </p:sp>
      <p:sp>
        <p:nvSpPr>
          <p:cNvPr id="26" name="Text 24"/>
          <p:cNvSpPr/>
          <p:nvPr/>
        </p:nvSpPr>
        <p:spPr>
          <a:xfrm>
            <a:off x="4185308" y="2250724"/>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7" name="Text 25"/>
          <p:cNvSpPr/>
          <p:nvPr/>
        </p:nvSpPr>
        <p:spPr>
          <a:xfrm>
            <a:off x="4193131" y="2348728"/>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8" name="Text 26"/>
          <p:cNvSpPr/>
          <p:nvPr/>
        </p:nvSpPr>
        <p:spPr>
          <a:xfrm>
            <a:off x="4170051" y="2458491"/>
            <a:ext cx="4645831" cy="571500"/>
          </a:xfrm>
          <a:prstGeom prst="rect">
            <a:avLst/>
          </a:prstGeom>
          <a:noFill/>
          <a:ln/>
        </p:spPr>
        <p:txBody>
          <a:bodyPr wrap="square" lIns="76200" tIns="0" rIns="0" bIns="0" rtlCol="0" anchor="t"/>
          <a:lstStyle/>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Professional but warm tone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Structure logically</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Use my name for signature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If Selected Text exists, treat as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email being replied to</a:t>
            </a:r>
            <a:endParaRPr lang="en-US" sz="600" dirty="0"/>
          </a:p>
        </p:txBody>
      </p:sp>
      <p:sp>
        <p:nvSpPr>
          <p:cNvPr id="29" name="Text 27"/>
          <p:cNvSpPr/>
          <p:nvPr/>
        </p:nvSpPr>
        <p:spPr>
          <a:xfrm>
            <a:off x="4170164" y="3047256"/>
            <a:ext cx="4645831" cy="106561"/>
          </a:xfrm>
          <a:prstGeom prst="rect">
            <a:avLst/>
          </a:prstGeom>
          <a:noFill/>
          <a:ln/>
        </p:spPr>
        <p:txBody>
          <a:bodyPr wrap="square" lIns="0" tIns="0" rIns="0" bIns="0" rtlCol="0" anchor="t"/>
          <a:lstStyle/>
          <a:p>
            <a:pPr marL="0" indent="0" algn="l">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30" name="Text 28"/>
          <p:cNvSpPr/>
          <p:nvPr/>
        </p:nvSpPr>
        <p:spPr>
          <a:xfrm>
            <a:off x="4017764" y="3412629"/>
            <a:ext cx="2386905" cy="774799"/>
          </a:xfrm>
          <a:prstGeom prst="rect">
            <a:avLst/>
          </a:prstGeom>
          <a:solidFill>
            <a:srgbClr val="EDE9FE"/>
          </a:solidFill>
          <a:ln/>
        </p:spPr>
        <p:txBody>
          <a:bodyPr wrap="square" rtlCol="0" anchor="ctr"/>
          <a:lstStyle/>
          <a:p>
            <a:pPr marL="0" indent="0">
              <a:buNone/>
            </a:pPr>
            <a:endParaRPr lang="en-US" dirty="0"/>
          </a:p>
        </p:txBody>
      </p:sp>
      <p:sp>
        <p:nvSpPr>
          <p:cNvPr id="31" name="Shape 29"/>
          <p:cNvSpPr/>
          <p:nvPr/>
        </p:nvSpPr>
        <p:spPr>
          <a:xfrm>
            <a:off x="4032052" y="3412629"/>
            <a:ext cx="0" cy="774799"/>
          </a:xfrm>
          <a:prstGeom prst="line">
            <a:avLst/>
          </a:prstGeom>
          <a:noFill/>
          <a:ln w="28575">
            <a:solidFill>
              <a:srgbClr val="8B5CF6"/>
            </a:solidFill>
            <a:prstDash val="solid"/>
          </a:ln>
        </p:spPr>
        <p:txBody>
          <a:bodyPr/>
          <a:lstStyle/>
          <a:p>
            <a:endParaRPr lang="en-US"/>
          </a:p>
        </p:txBody>
      </p:sp>
      <p:sp>
        <p:nvSpPr>
          <p:cNvPr id="32" name="Text 30"/>
          <p:cNvSpPr/>
          <p:nvPr/>
        </p:nvSpPr>
        <p:spPr>
          <a:xfrm>
            <a:off x="4141589" y="3507879"/>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5B21B6"/>
                </a:solidFill>
                <a:latin typeface="Arial" pitchFamily="34" charset="0"/>
                <a:ea typeface="Arial" pitchFamily="34" charset="-122"/>
                <a:cs typeface="Arial" pitchFamily="34" charset="-120"/>
              </a:rPr>
              <a:t>EXAMPLE INPUT</a:t>
            </a:r>
            <a:endParaRPr lang="en-US" sz="675" dirty="0"/>
          </a:p>
        </p:txBody>
      </p:sp>
      <p:sp>
        <p:nvSpPr>
          <p:cNvPr id="33" name="Text 31"/>
          <p:cNvSpPr/>
          <p:nvPr/>
        </p:nvSpPr>
        <p:spPr>
          <a:xfrm>
            <a:off x="4141589" y="3665934"/>
            <a:ext cx="2211187" cy="426244"/>
          </a:xfrm>
          <a:prstGeom prst="rect">
            <a:avLst/>
          </a:prstGeom>
          <a:noFill/>
          <a:ln/>
        </p:spPr>
        <p:txBody>
          <a:bodyPr wrap="square" lIns="0" tIns="0" rIns="0" bIns="0" rtlCol="0" anchor="t"/>
          <a:lstStyle/>
          <a:p>
            <a:pPr marL="0" indent="0" algn="l">
              <a:lnSpc>
                <a:spcPts val="840"/>
              </a:lnSpc>
              <a:buNone/>
            </a:pPr>
            <a:r>
              <a:rPr lang="en-US" sz="600" dirty="0">
                <a:solidFill>
                  <a:srgbClr val="5B21B6"/>
                </a:solidFill>
                <a:latin typeface="Arial" pitchFamily="34" charset="0"/>
                <a:ea typeface="Arial" pitchFamily="34" charset="-122"/>
                <a:cs typeface="Arial" pitchFamily="34" charset="-120"/>
              </a:rPr>
              <a:t>"okay so I need to follow up with Dr Martinez about the data request we talked about last week and ask if she got the files I sent and when she thinks she can get back to me with her analysis"</a:t>
            </a:r>
            <a:endParaRPr lang="en-US" sz="600" dirty="0"/>
          </a:p>
        </p:txBody>
      </p:sp>
      <p:sp>
        <p:nvSpPr>
          <p:cNvPr id="34" name="Text 32"/>
          <p:cNvSpPr/>
          <p:nvPr/>
        </p:nvSpPr>
        <p:spPr>
          <a:xfrm>
            <a:off x="6499920" y="3243263"/>
            <a:ext cx="2377380" cy="111353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5" name="Text 33"/>
          <p:cNvSpPr/>
          <p:nvPr/>
        </p:nvSpPr>
        <p:spPr>
          <a:xfrm>
            <a:off x="6604695" y="3348038"/>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EXAMPLE OUTPUT</a:t>
            </a:r>
            <a:endParaRPr lang="en-US" sz="675" dirty="0"/>
          </a:p>
        </p:txBody>
      </p:sp>
      <p:sp>
        <p:nvSpPr>
          <p:cNvPr id="36" name="Text 34"/>
          <p:cNvSpPr/>
          <p:nvPr/>
        </p:nvSpPr>
        <p:spPr>
          <a:xfrm>
            <a:off x="6604695" y="3506093"/>
            <a:ext cx="2211187" cy="745927"/>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Hi Dr. Martinez,</a:t>
            </a:r>
            <a:endParaRPr lang="en-US" sz="600" dirty="0"/>
          </a:p>
          <a:p>
            <a:pPr marL="0" indent="0" algn="l">
              <a:lnSpc>
                <a:spcPts val="840"/>
              </a:lnSpc>
              <a:buNone/>
            </a:pP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I wanted to follow up on the data request we discussed last week...</a:t>
            </a:r>
            <a:endParaRPr lang="en-US" sz="600" dirty="0"/>
          </a:p>
          <a:p>
            <a:pPr marL="0" indent="0" algn="l">
              <a:lnSpc>
                <a:spcPts val="840"/>
              </a:lnSpc>
              <a:buNone/>
            </a:pP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Best regards,</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[Your Name]</a:t>
            </a:r>
            <a:endParaRPr lang="en-US" sz="600" dirty="0"/>
          </a:p>
        </p:txBody>
      </p:sp>
      <p:sp>
        <p:nvSpPr>
          <p:cNvPr id="37" name="Text 35"/>
          <p:cNvSpPr/>
          <p:nvPr/>
        </p:nvSpPr>
        <p:spPr>
          <a:xfrm>
            <a:off x="4017764" y="4604445"/>
            <a:ext cx="4859536" cy="310455"/>
          </a:xfrm>
          <a:prstGeom prst="rect">
            <a:avLst/>
          </a:prstGeom>
          <a:solidFill>
            <a:srgbClr val="FEF3C7"/>
          </a:solidFill>
          <a:ln/>
        </p:spPr>
        <p:txBody>
          <a:bodyPr wrap="square" rtlCol="0" anchor="ctr"/>
          <a:lstStyle/>
          <a:p>
            <a:pPr marL="0" indent="0">
              <a:buNone/>
            </a:pPr>
            <a:endParaRPr lang="en-US" dirty="0"/>
          </a:p>
        </p:txBody>
      </p:sp>
      <p:sp>
        <p:nvSpPr>
          <p:cNvPr id="38" name="Shape 36"/>
          <p:cNvSpPr/>
          <p:nvPr/>
        </p:nvSpPr>
        <p:spPr>
          <a:xfrm>
            <a:off x="4032052" y="4604445"/>
            <a:ext cx="0" cy="310455"/>
          </a:xfrm>
          <a:prstGeom prst="line">
            <a:avLst/>
          </a:prstGeom>
          <a:noFill/>
          <a:ln w="28575">
            <a:solidFill>
              <a:srgbClr val="F59E0B"/>
            </a:solidFill>
            <a:prstDash val="solid"/>
          </a:ln>
        </p:spPr>
        <p:txBody>
          <a:bodyPr/>
          <a:lstStyle/>
          <a:p>
            <a:endParaRPr lang="en-US"/>
          </a:p>
        </p:txBody>
      </p:sp>
      <p:sp>
        <p:nvSpPr>
          <p:cNvPr id="39" name="Text 37"/>
          <p:cNvSpPr/>
          <p:nvPr/>
        </p:nvSpPr>
        <p:spPr>
          <a:xfrm>
            <a:off x="4141589" y="4699695"/>
            <a:ext cx="4733270" cy="119955"/>
          </a:xfrm>
          <a:prstGeom prst="rect">
            <a:avLst/>
          </a:prstGeom>
          <a:noFill/>
          <a:ln/>
        </p:spPr>
        <p:txBody>
          <a:bodyPr wrap="square" lIns="0" tIns="0" rIns="0" bIns="0" rtlCol="0" anchor="t"/>
          <a:lstStyle/>
          <a:p>
            <a:pPr marL="0" indent="0" algn="l">
              <a:lnSpc>
                <a:spcPts val="945"/>
              </a:lnSpc>
              <a:buNone/>
            </a:pPr>
            <a:r>
              <a:rPr lang="en-US" sz="675" b="1" dirty="0">
                <a:solidFill>
                  <a:srgbClr val="92400E"/>
                </a:solidFill>
                <a:latin typeface="Arial" pitchFamily="34" charset="0"/>
                <a:ea typeface="Arial" pitchFamily="34" charset="-122"/>
                <a:cs typeface="Arial" pitchFamily="34" charset="-120"/>
              </a:rPr>
              <a:t>Reply tip:</a:t>
            </a:r>
            <a:r>
              <a:rPr lang="en-US" sz="675" dirty="0">
                <a:solidFill>
                  <a:srgbClr val="92400E"/>
                </a:solidFill>
                <a:latin typeface="Arial" pitchFamily="34" charset="0"/>
                <a:ea typeface="Arial" pitchFamily="34" charset="-122"/>
                <a:cs typeface="Arial" pitchFamily="34" charset="-120"/>
              </a:rPr>
              <a:t> Select the email you're replying to, then dictate. AI will format appropriately.</a:t>
            </a:r>
            <a:endParaRPr lang="en-US" sz="6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78904"/>
            <a:ext cx="778073" cy="220861"/>
          </a:xfrm>
          <a:prstGeom prst="rect">
            <a:avLst/>
          </a:prstGeom>
          <a:solidFill>
            <a:srgbClr val="F59E0B"/>
          </a:solidFill>
          <a:ln/>
        </p:spPr>
        <p:txBody>
          <a:bodyPr wrap="square" rtlCol="0" anchor="ctr"/>
          <a:lstStyle/>
          <a:p>
            <a:pPr marL="0" indent="0">
              <a:buNone/>
            </a:pPr>
            <a:endParaRPr lang="en-US" dirty="0"/>
          </a:p>
        </p:txBody>
      </p:sp>
      <p:sp>
        <p:nvSpPr>
          <p:cNvPr id="4" name="Text 2"/>
          <p:cNvSpPr/>
          <p:nvPr/>
        </p:nvSpPr>
        <p:spPr>
          <a:xfrm>
            <a:off x="361950" y="336054"/>
            <a:ext cx="599325"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MODE 4 OF 5</a:t>
            </a:r>
            <a:endParaRPr lang="en-US" sz="600" dirty="0"/>
          </a:p>
        </p:txBody>
      </p:sp>
      <p:sp>
        <p:nvSpPr>
          <p:cNvPr id="5" name="Text 3"/>
          <p:cNvSpPr/>
          <p:nvPr/>
        </p:nvSpPr>
        <p:spPr>
          <a:xfrm>
            <a:off x="266700" y="747415"/>
            <a:ext cx="1593342"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Claude Code</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Terminal Mode</a:t>
            </a:r>
            <a:endParaRPr lang="en-US" sz="1800" dirty="0"/>
          </a:p>
        </p:txBody>
      </p:sp>
      <p:sp>
        <p:nvSpPr>
          <p:cNvPr id="6" name="Text 4"/>
          <p:cNvSpPr/>
          <p:nvPr/>
        </p:nvSpPr>
        <p:spPr>
          <a:xfrm>
            <a:off x="266700" y="1867495"/>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280988" y="1867495"/>
            <a:ext cx="0" cy="639961"/>
          </a:xfrm>
          <a:prstGeom prst="line">
            <a:avLst/>
          </a:prstGeom>
          <a:noFill/>
          <a:ln w="28575">
            <a:solidFill>
              <a:srgbClr val="C9A227"/>
            </a:solidFill>
            <a:prstDash val="solid"/>
          </a:ln>
        </p:spPr>
        <p:txBody>
          <a:bodyPr/>
          <a:lstStyle/>
          <a:p>
            <a:endParaRPr lang="en-US"/>
          </a:p>
        </p:txBody>
      </p:sp>
      <p:sp>
        <p:nvSpPr>
          <p:cNvPr id="8" name="Text 6"/>
          <p:cNvSpPr/>
          <p:nvPr/>
        </p:nvSpPr>
        <p:spPr>
          <a:xfrm>
            <a:off x="409575" y="1981795"/>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53245"/>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Detailed prompts and instructions for Claude Code. Dictate complex requests instead of typing them.</a:t>
            </a:r>
            <a:endParaRPr lang="en-US" sz="675" dirty="0"/>
          </a:p>
        </p:txBody>
      </p:sp>
      <p:sp>
        <p:nvSpPr>
          <p:cNvPr id="10" name="Text 8"/>
          <p:cNvSpPr/>
          <p:nvPr/>
        </p:nvSpPr>
        <p:spPr>
          <a:xfrm>
            <a:off x="266700" y="2774156"/>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381000" y="2888456"/>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2" name="Text 10"/>
          <p:cNvSpPr/>
          <p:nvPr/>
        </p:nvSpPr>
        <p:spPr>
          <a:xfrm>
            <a:off x="381000" y="3078956"/>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 (detect terminal)</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(optional)</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(error messages)</a:t>
            </a:r>
            <a:endParaRPr lang="en-US" sz="675" dirty="0"/>
          </a:p>
        </p:txBody>
      </p:sp>
      <p:sp>
        <p:nvSpPr>
          <p:cNvPr id="13" name="Text 11"/>
          <p:cNvSpPr/>
          <p:nvPr/>
        </p:nvSpPr>
        <p:spPr>
          <a:xfrm>
            <a:off x="266700" y="3845719"/>
            <a:ext cx="3065264" cy="721816"/>
          </a:xfrm>
          <a:prstGeom prst="rect">
            <a:avLst/>
          </a:prstGeom>
          <a:solidFill>
            <a:srgbClr val="FFFFFF">
              <a:alpha val="5000"/>
            </a:srgbClr>
          </a:solidFill>
          <a:ln/>
        </p:spPr>
        <p:txBody>
          <a:bodyPr wrap="square" rtlCol="0" anchor="ctr"/>
          <a:lstStyle/>
          <a:p>
            <a:pPr marL="0" indent="0">
              <a:buNone/>
            </a:pPr>
            <a:endParaRPr lang="en-US" dirty="0"/>
          </a:p>
        </p:txBody>
      </p:sp>
      <p:sp>
        <p:nvSpPr>
          <p:cNvPr id="14" name="Text 12"/>
          <p:cNvSpPr/>
          <p:nvPr/>
        </p:nvSpPr>
        <p:spPr>
          <a:xfrm>
            <a:off x="361950" y="3940969"/>
            <a:ext cx="293225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5" name="Text 13"/>
          <p:cNvSpPr/>
          <p:nvPr/>
        </p:nvSpPr>
        <p:spPr>
          <a:xfrm>
            <a:off x="361950" y="4112419"/>
            <a:ext cx="2932259" cy="359866"/>
          </a:xfrm>
          <a:prstGeom prst="rect">
            <a:avLst/>
          </a:prstGeom>
          <a:noFill/>
          <a:ln/>
        </p:spPr>
        <p:txBody>
          <a:bodyPr wrap="square" lIns="0" tIns="0" rIns="0" bIns="0" rtlCol="0" anchor="t"/>
          <a:lstStyle/>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Terminal.app / iTerm2</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Windows Terminal</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Warp</a:t>
            </a:r>
            <a:endParaRPr lang="en-US" sz="675" dirty="0"/>
          </a:p>
        </p:txBody>
      </p:sp>
      <p:sp>
        <p:nvSpPr>
          <p:cNvPr id="16" name="Text 14"/>
          <p:cNvSpPr/>
          <p:nvPr/>
        </p:nvSpPr>
        <p:spPr>
          <a:xfrm>
            <a:off x="266700" y="4719935"/>
            <a:ext cx="3065264" cy="258961"/>
          </a:xfrm>
          <a:prstGeom prst="rect">
            <a:avLst/>
          </a:prstGeom>
          <a:solidFill>
            <a:srgbClr val="DCFCE7"/>
          </a:solidFill>
          <a:ln/>
        </p:spPr>
        <p:txBody>
          <a:bodyPr wrap="square" rtlCol="0" anchor="ctr"/>
          <a:lstStyle/>
          <a:p>
            <a:pPr marL="0" indent="0">
              <a:buNone/>
            </a:pPr>
            <a:endParaRPr lang="en-US" dirty="0"/>
          </a:p>
        </p:txBody>
      </p:sp>
      <p:sp>
        <p:nvSpPr>
          <p:cNvPr id="17" name="Shape 15"/>
          <p:cNvSpPr/>
          <p:nvPr/>
        </p:nvSpPr>
        <p:spPr>
          <a:xfrm>
            <a:off x="280988" y="4719935"/>
            <a:ext cx="0" cy="258961"/>
          </a:xfrm>
          <a:prstGeom prst="line">
            <a:avLst/>
          </a:prstGeom>
          <a:noFill/>
          <a:ln w="28575">
            <a:solidFill>
              <a:srgbClr val="059669"/>
            </a:solidFill>
            <a:prstDash val="solid"/>
          </a:ln>
        </p:spPr>
        <p:txBody>
          <a:bodyPr/>
          <a:lstStyle/>
          <a:p>
            <a:endParaRPr lang="en-US"/>
          </a:p>
        </p:txBody>
      </p:sp>
      <p:sp>
        <p:nvSpPr>
          <p:cNvPr id="18" name="Text 16"/>
          <p:cNvSpPr/>
          <p:nvPr/>
        </p:nvSpPr>
        <p:spPr>
          <a:xfrm>
            <a:off x="371475" y="4796135"/>
            <a:ext cx="2941975" cy="106561"/>
          </a:xfrm>
          <a:prstGeom prst="rect">
            <a:avLst/>
          </a:prstGeom>
          <a:noFill/>
          <a:ln/>
        </p:spPr>
        <p:txBody>
          <a:bodyPr wrap="square" lIns="0" tIns="0" rIns="0" bIns="0" rtlCol="0" anchor="t"/>
          <a:lstStyle/>
          <a:p>
            <a:pPr marL="0" indent="0" algn="l">
              <a:lnSpc>
                <a:spcPts val="840"/>
              </a:lnSpc>
              <a:buNone/>
            </a:pPr>
            <a:r>
              <a:rPr lang="en-US" sz="600" b="1" dirty="0">
                <a:solidFill>
                  <a:srgbClr val="166534"/>
                </a:solidFill>
                <a:latin typeface="Arial" pitchFamily="34" charset="0"/>
                <a:ea typeface="Arial" pitchFamily="34" charset="-122"/>
                <a:cs typeface="Arial" pitchFamily="34" charset="-120"/>
              </a:rPr>
              <a:t>Benefit:</a:t>
            </a:r>
            <a:r>
              <a:rPr lang="en-US" sz="600" dirty="0">
                <a:solidFill>
                  <a:srgbClr val="166534"/>
                </a:solidFill>
                <a:latin typeface="Arial" pitchFamily="34" charset="0"/>
                <a:ea typeface="Arial" pitchFamily="34" charset="-122"/>
                <a:cs typeface="Arial" pitchFamily="34" charset="-120"/>
              </a:rPr>
              <a:t> Voice is perfect for detailed prompts.</a:t>
            </a:r>
            <a:endParaRPr lang="en-US" sz="600" dirty="0"/>
          </a:p>
        </p:txBody>
      </p:sp>
      <p:sp>
        <p:nvSpPr>
          <p:cNvPr id="19" name="Text 17"/>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20" name="Text 18"/>
          <p:cNvSpPr/>
          <p:nvPr/>
        </p:nvSpPr>
        <p:spPr>
          <a:xfrm>
            <a:off x="4017764" y="271165"/>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21" name="Text 19"/>
          <p:cNvSpPr/>
          <p:nvPr/>
        </p:nvSpPr>
        <p:spPr>
          <a:xfrm>
            <a:off x="4017764" y="697855"/>
            <a:ext cx="4859536" cy="2536627"/>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4170164" y="850255"/>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3" name="Text 21"/>
          <p:cNvSpPr/>
          <p:nvPr/>
        </p:nvSpPr>
        <p:spPr>
          <a:xfrm>
            <a:off x="4170164" y="1013966"/>
            <a:ext cx="4645831" cy="106561"/>
          </a:xfrm>
          <a:prstGeom prst="rect">
            <a:avLst/>
          </a:prstGeom>
          <a:noFill/>
          <a:ln/>
        </p:spPr>
        <p:txBody>
          <a:bodyPr wrap="square" lIns="76200" tIns="0" rIns="0" bIns="0" rtlCol="0" anchor="t"/>
          <a:lstStyle/>
          <a:p>
            <a:pPr marL="0" indent="0" algn="l">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format dictation for Claude Code prompts</a:t>
            </a:r>
            <a:endParaRPr lang="en-US" sz="600" dirty="0"/>
          </a:p>
        </p:txBody>
      </p:sp>
      <p:sp>
        <p:nvSpPr>
          <p:cNvPr id="24" name="Text 22"/>
          <p:cNvSpPr/>
          <p:nvPr/>
        </p:nvSpPr>
        <p:spPr>
          <a:xfrm>
            <a:off x="4170164" y="1177677"/>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5" name="Text 23"/>
          <p:cNvSpPr/>
          <p:nvPr/>
        </p:nvSpPr>
        <p:spPr>
          <a:xfrm>
            <a:off x="4170164" y="1341388"/>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6" name="Text 24"/>
          <p:cNvSpPr/>
          <p:nvPr/>
        </p:nvSpPr>
        <p:spPr>
          <a:xfrm>
            <a:off x="4170164" y="1505099"/>
            <a:ext cx="4645831" cy="457200"/>
          </a:xfrm>
          <a:prstGeom prst="rect">
            <a:avLst/>
          </a:prstGeom>
          <a:noFill/>
          <a:ln/>
        </p:spPr>
        <p:txBody>
          <a:bodyPr wrap="square" lIns="76200" tIns="0" rIns="0" bIns="0" rtlCol="0" anchor="t"/>
          <a:lstStyle/>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The User Message is a dictated prompt for</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Claude Code. Clean it up and format as a</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clear instruction. Keep technical terms</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exactly as spoken.</a:t>
            </a:r>
            <a:endParaRPr lang="en-US" sz="600" dirty="0"/>
          </a:p>
        </p:txBody>
      </p:sp>
      <p:sp>
        <p:nvSpPr>
          <p:cNvPr id="27" name="Text 25"/>
          <p:cNvSpPr/>
          <p:nvPr/>
        </p:nvSpPr>
        <p:spPr>
          <a:xfrm>
            <a:off x="4141589" y="2139404"/>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8" name="Text 26"/>
          <p:cNvSpPr/>
          <p:nvPr/>
        </p:nvSpPr>
        <p:spPr>
          <a:xfrm>
            <a:off x="4170164" y="2265015"/>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9" name="Text 27"/>
          <p:cNvSpPr/>
          <p:nvPr/>
        </p:nvSpPr>
        <p:spPr>
          <a:xfrm>
            <a:off x="4170164" y="2346871"/>
            <a:ext cx="4645831" cy="571500"/>
          </a:xfrm>
          <a:prstGeom prst="rect">
            <a:avLst/>
          </a:prstGeom>
          <a:noFill/>
          <a:ln/>
        </p:spPr>
        <p:txBody>
          <a:bodyPr wrap="square" lIns="76200" tIns="0" rIns="0" bIns="0" rtlCol="0" anchor="t"/>
          <a:lstStyle/>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Preserve technical accuracy</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Structure into clear steps if needed</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No greeting or pleasantries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Ready to paste directly to Claude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If Clipboard has an error, reference it</a:t>
            </a:r>
            <a:endParaRPr lang="en-US" sz="600" dirty="0"/>
          </a:p>
        </p:txBody>
      </p:sp>
      <p:sp>
        <p:nvSpPr>
          <p:cNvPr id="30" name="Text 28"/>
          <p:cNvSpPr/>
          <p:nvPr/>
        </p:nvSpPr>
        <p:spPr>
          <a:xfrm>
            <a:off x="4170164" y="2975521"/>
            <a:ext cx="4645831" cy="106561"/>
          </a:xfrm>
          <a:prstGeom prst="rect">
            <a:avLst/>
          </a:prstGeom>
          <a:noFill/>
          <a:ln/>
        </p:spPr>
        <p:txBody>
          <a:bodyPr wrap="square" lIns="0" tIns="0" rIns="0" bIns="0" rtlCol="0" anchor="t"/>
          <a:lstStyle/>
          <a:p>
            <a:pPr marL="0" indent="0" algn="l">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31" name="Text 29"/>
          <p:cNvSpPr/>
          <p:nvPr/>
        </p:nvSpPr>
        <p:spPr>
          <a:xfrm>
            <a:off x="4017764" y="3510707"/>
            <a:ext cx="2386905" cy="774799"/>
          </a:xfrm>
          <a:prstGeom prst="rect">
            <a:avLst/>
          </a:prstGeom>
          <a:solidFill>
            <a:srgbClr val="FEF3C7"/>
          </a:solidFill>
          <a:ln/>
        </p:spPr>
        <p:txBody>
          <a:bodyPr wrap="square" rtlCol="0" anchor="ctr"/>
          <a:lstStyle/>
          <a:p>
            <a:pPr marL="0" indent="0">
              <a:buNone/>
            </a:pPr>
            <a:endParaRPr lang="en-US" dirty="0"/>
          </a:p>
        </p:txBody>
      </p:sp>
      <p:sp>
        <p:nvSpPr>
          <p:cNvPr id="32" name="Shape 30"/>
          <p:cNvSpPr/>
          <p:nvPr/>
        </p:nvSpPr>
        <p:spPr>
          <a:xfrm>
            <a:off x="4032052" y="3510707"/>
            <a:ext cx="0" cy="774799"/>
          </a:xfrm>
          <a:prstGeom prst="line">
            <a:avLst/>
          </a:prstGeom>
          <a:noFill/>
          <a:ln w="28575">
            <a:solidFill>
              <a:srgbClr val="F59E0B"/>
            </a:solidFill>
            <a:prstDash val="solid"/>
          </a:ln>
        </p:spPr>
        <p:txBody>
          <a:bodyPr/>
          <a:lstStyle/>
          <a:p>
            <a:endParaRPr lang="en-US"/>
          </a:p>
        </p:txBody>
      </p:sp>
      <p:sp>
        <p:nvSpPr>
          <p:cNvPr id="33" name="Text 31"/>
          <p:cNvSpPr/>
          <p:nvPr/>
        </p:nvSpPr>
        <p:spPr>
          <a:xfrm>
            <a:off x="4141589" y="3605957"/>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EXAMPLE INPUT</a:t>
            </a:r>
            <a:endParaRPr lang="en-US" sz="675" dirty="0"/>
          </a:p>
        </p:txBody>
      </p:sp>
      <p:sp>
        <p:nvSpPr>
          <p:cNvPr id="34" name="Text 32"/>
          <p:cNvSpPr/>
          <p:nvPr/>
        </p:nvSpPr>
        <p:spPr>
          <a:xfrm>
            <a:off x="4141589" y="3764012"/>
            <a:ext cx="2211187" cy="426244"/>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"okay I need you to look at the auth middleware in the source API folder and add rate limiting so that it blocks more than one hundred requests per minute per IP address and also log any blocked attempts"</a:t>
            </a:r>
            <a:endParaRPr lang="en-US" sz="600" dirty="0"/>
          </a:p>
        </p:txBody>
      </p:sp>
      <p:sp>
        <p:nvSpPr>
          <p:cNvPr id="35" name="Text 33"/>
          <p:cNvSpPr/>
          <p:nvPr/>
        </p:nvSpPr>
        <p:spPr>
          <a:xfrm>
            <a:off x="6499920" y="3501182"/>
            <a:ext cx="2377380" cy="79384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6" name="Text 34"/>
          <p:cNvSpPr/>
          <p:nvPr/>
        </p:nvSpPr>
        <p:spPr>
          <a:xfrm>
            <a:off x="6604695" y="3605957"/>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EXAMPLE OUTPUT</a:t>
            </a:r>
            <a:endParaRPr lang="en-US" sz="675" dirty="0"/>
          </a:p>
        </p:txBody>
      </p:sp>
      <p:sp>
        <p:nvSpPr>
          <p:cNvPr id="37" name="Text 35"/>
          <p:cNvSpPr/>
          <p:nvPr/>
        </p:nvSpPr>
        <p:spPr>
          <a:xfrm>
            <a:off x="6604695" y="3764012"/>
            <a:ext cx="2211187" cy="426244"/>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In src/api/authMiddleware, add rate limiting:</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 Max 100 requests/min per IP</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 Log all blocked attempts</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 Include timestamp and IP in logs</a:t>
            </a:r>
            <a:endParaRPr lang="en-US" sz="600" dirty="0"/>
          </a:p>
        </p:txBody>
      </p:sp>
      <p:sp>
        <p:nvSpPr>
          <p:cNvPr id="38" name="Text 36"/>
          <p:cNvSpPr/>
          <p:nvPr/>
        </p:nvSpPr>
        <p:spPr>
          <a:xfrm>
            <a:off x="4017764" y="4542681"/>
            <a:ext cx="4859536" cy="329505"/>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39" name="Text 37"/>
          <p:cNvSpPr/>
          <p:nvPr/>
        </p:nvSpPr>
        <p:spPr>
          <a:xfrm>
            <a:off x="4122539" y="4647456"/>
            <a:ext cx="4742986" cy="119955"/>
          </a:xfrm>
          <a:prstGeom prst="rect">
            <a:avLst/>
          </a:prstGeom>
          <a:noFill/>
          <a:ln/>
        </p:spPr>
        <p:txBody>
          <a:bodyPr wrap="square" lIns="0" tIns="0" rIns="0" bIns="0" rtlCol="0" anchor="t"/>
          <a:lstStyle/>
          <a:p>
            <a:pPr marL="0" indent="0" algn="l">
              <a:lnSpc>
                <a:spcPts val="945"/>
              </a:lnSpc>
              <a:buNone/>
            </a:pPr>
            <a:r>
              <a:rPr lang="en-US" sz="675" b="1" dirty="0">
                <a:solidFill>
                  <a:srgbClr val="1A1F2E"/>
                </a:solidFill>
                <a:latin typeface="Arial" pitchFamily="34" charset="0"/>
                <a:ea typeface="Arial" pitchFamily="34" charset="-122"/>
                <a:cs typeface="Arial" pitchFamily="34" charset="-120"/>
              </a:rPr>
              <a:t>Workflow:</a:t>
            </a:r>
            <a:r>
              <a:rPr lang="en-US" sz="675" dirty="0">
                <a:solidFill>
                  <a:srgbClr val="1A1F2E"/>
                </a:solidFill>
                <a:latin typeface="Arial" pitchFamily="34" charset="0"/>
                <a:ea typeface="Arial" pitchFamily="34" charset="-122"/>
                <a:cs typeface="Arial" pitchFamily="34" charset="-120"/>
              </a:rPr>
              <a:t> Copy error → Dictate "fix this error" → Paste to Claude Code</a:t>
            </a:r>
            <a:endParaRPr lang="en-US" sz="6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22052"/>
            <a:ext cx="1276350" cy="272355"/>
          </a:xfrm>
          <a:prstGeom prst="rect">
            <a:avLst/>
          </a:prstGeom>
          <a:solidFill>
            <a:srgbClr val="8B5CF6"/>
          </a:solidFill>
          <a:ln/>
        </p:spPr>
        <p:txBody>
          <a:bodyPr wrap="square" rtlCol="0" anchor="ctr"/>
          <a:lstStyle/>
          <a:p>
            <a:pPr marL="0" indent="0">
              <a:buNone/>
            </a:pPr>
            <a:endParaRPr lang="en-US" dirty="0"/>
          </a:p>
        </p:txBody>
      </p:sp>
      <p:sp>
        <p:nvSpPr>
          <p:cNvPr id="4" name="Text 2"/>
          <p:cNvSpPr/>
          <p:nvPr/>
        </p:nvSpPr>
        <p:spPr>
          <a:xfrm>
            <a:off x="381000" y="298252"/>
            <a:ext cx="1068705"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ADVANCED PATTERN</a:t>
            </a:r>
            <a:endParaRPr lang="en-US" sz="675" dirty="0"/>
          </a:p>
        </p:txBody>
      </p:sp>
      <p:sp>
        <p:nvSpPr>
          <p:cNvPr id="5" name="Text 3"/>
          <p:cNvSpPr/>
          <p:nvPr/>
        </p:nvSpPr>
        <p:spPr>
          <a:xfrm>
            <a:off x="266700" y="761107"/>
            <a:ext cx="1700213"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Agentic Handoff</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Mode</a:t>
            </a:r>
            <a:endParaRPr lang="en-US" sz="1800" dirty="0"/>
          </a:p>
        </p:txBody>
      </p:sp>
      <p:sp>
        <p:nvSpPr>
          <p:cNvPr id="6" name="Text 4"/>
          <p:cNvSpPr/>
          <p:nvPr/>
        </p:nvSpPr>
        <p:spPr>
          <a:xfrm>
            <a:off x="266700" y="1881187"/>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280988" y="1881187"/>
            <a:ext cx="0" cy="639961"/>
          </a:xfrm>
          <a:prstGeom prst="line">
            <a:avLst/>
          </a:prstGeom>
          <a:noFill/>
          <a:ln w="28575">
            <a:solidFill>
              <a:srgbClr val="C9A227"/>
            </a:solidFill>
            <a:prstDash val="solid"/>
          </a:ln>
        </p:spPr>
        <p:txBody>
          <a:bodyPr/>
          <a:lstStyle/>
          <a:p>
            <a:endParaRPr lang="en-US"/>
          </a:p>
        </p:txBody>
      </p:sp>
      <p:sp>
        <p:nvSpPr>
          <p:cNvPr id="8" name="Text 6"/>
          <p:cNvSpPr/>
          <p:nvPr/>
        </p:nvSpPr>
        <p:spPr>
          <a:xfrm>
            <a:off x="409575" y="1995487"/>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66938"/>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Prepare structured task handoffs for autonomous AI coding agents like Claude Code, Aider, or Cursor Agent.</a:t>
            </a:r>
            <a:endParaRPr lang="en-US" sz="675" dirty="0"/>
          </a:p>
        </p:txBody>
      </p:sp>
      <p:sp>
        <p:nvSpPr>
          <p:cNvPr id="10" name="Text 8"/>
          <p:cNvSpPr/>
          <p:nvPr/>
        </p:nvSpPr>
        <p:spPr>
          <a:xfrm>
            <a:off x="266700" y="2787848"/>
            <a:ext cx="3065264" cy="1062038"/>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381000" y="2902148"/>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THE PATTERN</a:t>
            </a:r>
            <a:endParaRPr lang="en-US" sz="750" dirty="0"/>
          </a:p>
        </p:txBody>
      </p:sp>
      <p:sp>
        <p:nvSpPr>
          <p:cNvPr id="12" name="Text 10"/>
          <p:cNvSpPr/>
          <p:nvPr/>
        </p:nvSpPr>
        <p:spPr>
          <a:xfrm>
            <a:off x="381000" y="3092648"/>
            <a:ext cx="2893397" cy="642938"/>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Raw speech describing a task</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Structured task specification</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AI agent executes autonomously</a:t>
            </a:r>
            <a:endParaRPr lang="en-US" sz="675" dirty="0"/>
          </a:p>
        </p:txBody>
      </p:sp>
      <p:sp>
        <p:nvSpPr>
          <p:cNvPr id="13" name="Text 11"/>
          <p:cNvSpPr/>
          <p:nvPr/>
        </p:nvSpPr>
        <p:spPr>
          <a:xfrm>
            <a:off x="266700" y="4116586"/>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4" name="Text 12"/>
          <p:cNvSpPr/>
          <p:nvPr/>
        </p:nvSpPr>
        <p:spPr>
          <a:xfrm>
            <a:off x="381000" y="4230886"/>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5" name="Text 13"/>
          <p:cNvSpPr/>
          <p:nvPr/>
        </p:nvSpPr>
        <p:spPr>
          <a:xfrm>
            <a:off x="381000" y="4421386"/>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(file/code context)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(errors, references)</a:t>
            </a:r>
            <a:endParaRPr lang="en-US" sz="675" dirty="0"/>
          </a:p>
        </p:txBody>
      </p:sp>
      <p:sp>
        <p:nvSpPr>
          <p:cNvPr id="16" name="Text 14"/>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4017764" y="491579"/>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18" name="Text 16"/>
          <p:cNvSpPr/>
          <p:nvPr/>
        </p:nvSpPr>
        <p:spPr>
          <a:xfrm>
            <a:off x="4017764" y="918270"/>
            <a:ext cx="4859536" cy="1956792"/>
          </a:xfrm>
          <a:prstGeom prst="rect">
            <a:avLst/>
          </a:prstGeom>
          <a:solidFill>
            <a:srgbClr val="1A1F2E"/>
          </a:solidFill>
          <a:ln/>
        </p:spPr>
        <p:txBody>
          <a:bodyPr wrap="square" rtlCol="0" anchor="ctr"/>
          <a:lstStyle/>
          <a:p>
            <a:pPr marL="0" indent="0">
              <a:buNone/>
            </a:pPr>
            <a:endParaRPr lang="en-US" dirty="0"/>
          </a:p>
        </p:txBody>
      </p:sp>
      <p:sp>
        <p:nvSpPr>
          <p:cNvPr id="19" name="Text 17"/>
          <p:cNvSpPr/>
          <p:nvPr/>
        </p:nvSpPr>
        <p:spPr>
          <a:xfrm>
            <a:off x="4151114" y="1051620"/>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0" name="Text 18"/>
          <p:cNvSpPr/>
          <p:nvPr/>
        </p:nvSpPr>
        <p:spPr>
          <a:xfrm>
            <a:off x="4151114" y="1196280"/>
            <a:ext cx="4684693" cy="106561"/>
          </a:xfrm>
          <a:prstGeom prst="rect">
            <a:avLst/>
          </a:prstGeom>
          <a:noFill/>
          <a:ln/>
        </p:spPr>
        <p:txBody>
          <a:bodyPr wrap="square" lIns="76200" tIns="0" rIns="0" bIns="0" rtlCol="0" anchor="t"/>
          <a:lstStyle/>
          <a:p>
            <a:pPr marL="0" indent="0" algn="l">
              <a:lnSpc>
                <a:spcPts val="840"/>
              </a:lnSpc>
              <a:spcAft>
                <a:spcPts val="300"/>
              </a:spcAft>
              <a:buNone/>
            </a:pPr>
            <a:r>
              <a:rPr lang="en-US" sz="600" dirty="0">
                <a:solidFill>
                  <a:srgbClr val="FFFFFF">
                    <a:alpha val="85000"/>
                  </a:srgbClr>
                </a:solidFill>
                <a:latin typeface="Arial" pitchFamily="34" charset="0"/>
                <a:ea typeface="Arial" pitchFamily="34" charset="-122"/>
                <a:cs typeface="Arial" pitchFamily="34" charset="-120"/>
              </a:rPr>
              <a:t>You prepare task specifications for AI coding agents</a:t>
            </a:r>
            <a:endParaRPr lang="en-US" sz="600" dirty="0"/>
          </a:p>
        </p:txBody>
      </p:sp>
      <p:sp>
        <p:nvSpPr>
          <p:cNvPr id="21" name="Text 19"/>
          <p:cNvSpPr/>
          <p:nvPr/>
        </p:nvSpPr>
        <p:spPr>
          <a:xfrm>
            <a:off x="4151114" y="1340941"/>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2" name="Text 20"/>
          <p:cNvSpPr/>
          <p:nvPr/>
        </p:nvSpPr>
        <p:spPr>
          <a:xfrm>
            <a:off x="4151114" y="1485602"/>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3" name="Text 21"/>
          <p:cNvSpPr/>
          <p:nvPr/>
        </p:nvSpPr>
        <p:spPr>
          <a:xfrm>
            <a:off x="4151114" y="1630263"/>
            <a:ext cx="4684693" cy="213122"/>
          </a:xfrm>
          <a:prstGeom prst="rect">
            <a:avLst/>
          </a:prstGeom>
          <a:noFill/>
          <a:ln/>
        </p:spPr>
        <p:txBody>
          <a:bodyPr wrap="square" lIns="76200" tIns="0" rIns="0" bIns="0" rtlCol="0" anchor="t"/>
          <a:lstStyle/>
          <a:p>
            <a:pPr marL="0" indent="0" algn="l">
              <a:lnSpc>
                <a:spcPts val="840"/>
              </a:lnSpc>
              <a:spcAft>
                <a:spcPts val="300"/>
              </a:spcAft>
              <a:buNone/>
            </a:pPr>
            <a:r>
              <a:rPr lang="en-US" sz="600" dirty="0">
                <a:solidFill>
                  <a:srgbClr val="FFFFFF">
                    <a:alpha val="85000"/>
                  </a:srgbClr>
                </a:solidFill>
                <a:latin typeface="Arial" pitchFamily="34" charset="0"/>
                <a:ea typeface="Arial" pitchFamily="34" charset="-122"/>
                <a:cs typeface="Arial" pitchFamily="34" charset="-120"/>
              </a:rPr>
              <a:t>Convert the User Message into a structured task.</a:t>
            </a:r>
            <a:endParaRPr lang="en-US" sz="600" dirty="0"/>
          </a:p>
          <a:p>
            <a:pPr marL="0" indent="0" algn="l">
              <a:lnSpc>
                <a:spcPts val="840"/>
              </a:lnSpc>
              <a:spcAft>
                <a:spcPts val="300"/>
              </a:spcAft>
              <a:buNone/>
            </a:pPr>
            <a:r>
              <a:rPr lang="en-US" sz="600" dirty="0">
                <a:solidFill>
                  <a:srgbClr val="FFFFFF">
                    <a:alpha val="85000"/>
                  </a:srgbClr>
                </a:solidFill>
                <a:latin typeface="Arial" pitchFamily="34" charset="0"/>
                <a:ea typeface="Arial" pitchFamily="34" charset="-122"/>
                <a:cs typeface="Arial" pitchFamily="34" charset="-120"/>
              </a:rPr>
              <a:t> Include: objective, scope, constraints, success criteria.</a:t>
            </a:r>
            <a:endParaRPr lang="en-US" sz="600" dirty="0"/>
          </a:p>
        </p:txBody>
      </p:sp>
      <p:sp>
        <p:nvSpPr>
          <p:cNvPr id="24" name="Text 22"/>
          <p:cNvSpPr/>
          <p:nvPr/>
        </p:nvSpPr>
        <p:spPr>
          <a:xfrm>
            <a:off x="4151114" y="1881485"/>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5" name="Text 23"/>
          <p:cNvSpPr/>
          <p:nvPr/>
        </p:nvSpPr>
        <p:spPr>
          <a:xfrm>
            <a:off x="4151114" y="2026146"/>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6" name="Text 24"/>
          <p:cNvSpPr/>
          <p:nvPr/>
        </p:nvSpPr>
        <p:spPr>
          <a:xfrm>
            <a:off x="4151114" y="2170807"/>
            <a:ext cx="4684693" cy="426244"/>
          </a:xfrm>
          <a:prstGeom prst="rect">
            <a:avLst/>
          </a:prstGeom>
          <a:noFill/>
          <a:ln/>
        </p:spPr>
        <p:txBody>
          <a:bodyPr wrap="square" lIns="76200" tIns="0" rIns="0" bIns="0" rtlCol="0" anchor="t"/>
          <a:lstStyle/>
          <a:p>
            <a:pPr marL="0" indent="0" algn="l">
              <a:lnSpc>
                <a:spcPts val="840"/>
              </a:lnSpc>
              <a:buNone/>
            </a:pPr>
            <a:r>
              <a:rPr lang="en-US" sz="600" dirty="0">
                <a:solidFill>
                  <a:srgbClr val="FFFFFF">
                    <a:alpha val="85000"/>
                  </a:srgbClr>
                </a:solidFill>
                <a:latin typeface="Arial" pitchFamily="34" charset="0"/>
                <a:ea typeface="Arial" pitchFamily="34" charset="-122"/>
                <a:cs typeface="Arial" pitchFamily="34" charset="-120"/>
              </a:rPr>
              <a:t>Clear, actionable objective</a:t>
            </a:r>
            <a:endParaRPr lang="en-US" sz="600" dirty="0"/>
          </a:p>
          <a:p>
            <a:pPr marL="0" indent="0" algn="l">
              <a:lnSpc>
                <a:spcPts val="840"/>
              </a:lnSpc>
              <a:buNone/>
            </a:pPr>
            <a:r>
              <a:rPr lang="en-US" sz="600" dirty="0">
                <a:solidFill>
                  <a:srgbClr val="FFFFFF">
                    <a:alpha val="85000"/>
                  </a:srgbClr>
                </a:solidFill>
                <a:latin typeface="Arial" pitchFamily="34" charset="0"/>
                <a:ea typeface="Arial" pitchFamily="34" charset="-122"/>
                <a:cs typeface="Arial" pitchFamily="34" charset="-120"/>
              </a:rPr>
              <a:t> Reference files from Selected Text if provided</a:t>
            </a:r>
            <a:endParaRPr lang="en-US" sz="600" dirty="0"/>
          </a:p>
          <a:p>
            <a:pPr marL="0" indent="0" algn="l">
              <a:lnSpc>
                <a:spcPts val="840"/>
              </a:lnSpc>
              <a:buNone/>
            </a:pPr>
            <a:r>
              <a:rPr lang="en-US" sz="600" dirty="0">
                <a:solidFill>
                  <a:srgbClr val="FFFFFF">
                    <a:alpha val="85000"/>
                  </a:srgbClr>
                </a:solidFill>
                <a:latin typeface="Arial" pitchFamily="34" charset="0"/>
                <a:ea typeface="Arial" pitchFamily="34" charset="-122"/>
                <a:cs typeface="Arial" pitchFamily="34" charset="-120"/>
              </a:rPr>
              <a:t> Include Clipboard context if relevant</a:t>
            </a:r>
            <a:endParaRPr lang="en-US" sz="600" dirty="0"/>
          </a:p>
          <a:p>
            <a:pPr marL="0" indent="0" algn="l">
              <a:lnSpc>
                <a:spcPts val="840"/>
              </a:lnSpc>
              <a:buNone/>
            </a:pPr>
            <a:r>
              <a:rPr lang="en-US" sz="600" dirty="0">
                <a:solidFill>
                  <a:srgbClr val="FFFFFF">
                    <a:alpha val="85000"/>
                  </a:srgbClr>
                </a:solidFill>
                <a:latin typeface="Arial" pitchFamily="34" charset="0"/>
                <a:ea typeface="Arial" pitchFamily="34" charset="-122"/>
                <a:cs typeface="Arial" pitchFamily="34" charset="-120"/>
              </a:rPr>
              <a:t> Specify what NOT to change if mentioned</a:t>
            </a:r>
            <a:endParaRPr lang="en-US" sz="600" dirty="0"/>
          </a:p>
        </p:txBody>
      </p:sp>
      <p:sp>
        <p:nvSpPr>
          <p:cNvPr id="27" name="Text 25"/>
          <p:cNvSpPr/>
          <p:nvPr/>
        </p:nvSpPr>
        <p:spPr>
          <a:xfrm>
            <a:off x="4151114" y="2635151"/>
            <a:ext cx="4684693" cy="106561"/>
          </a:xfrm>
          <a:prstGeom prst="rect">
            <a:avLst/>
          </a:prstGeom>
          <a:noFill/>
          <a:ln/>
        </p:spPr>
        <p:txBody>
          <a:bodyPr wrap="square" lIns="0" tIns="0" rIns="0" bIns="0" rtlCol="0" anchor="t"/>
          <a:lstStyle/>
          <a:p>
            <a:pPr marL="0" indent="0" algn="l">
              <a:lnSpc>
                <a:spcPts val="840"/>
              </a:lnSpc>
              <a:spcBef>
                <a:spcPts val="30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8" name="Text 26"/>
          <p:cNvSpPr/>
          <p:nvPr/>
        </p:nvSpPr>
        <p:spPr>
          <a:xfrm>
            <a:off x="4017764" y="3225552"/>
            <a:ext cx="2396430" cy="590401"/>
          </a:xfrm>
          <a:prstGeom prst="rect">
            <a:avLst/>
          </a:prstGeom>
          <a:solidFill>
            <a:srgbClr val="EDE9FE"/>
          </a:solidFill>
          <a:ln/>
        </p:spPr>
        <p:txBody>
          <a:bodyPr wrap="square" rtlCol="0" anchor="ctr"/>
          <a:lstStyle/>
          <a:p>
            <a:pPr marL="0" indent="0">
              <a:buNone/>
            </a:pPr>
            <a:endParaRPr lang="en-US" dirty="0"/>
          </a:p>
        </p:txBody>
      </p:sp>
      <p:sp>
        <p:nvSpPr>
          <p:cNvPr id="29" name="Shape 27"/>
          <p:cNvSpPr/>
          <p:nvPr/>
        </p:nvSpPr>
        <p:spPr>
          <a:xfrm>
            <a:off x="4032052" y="3225552"/>
            <a:ext cx="0" cy="590401"/>
          </a:xfrm>
          <a:prstGeom prst="line">
            <a:avLst/>
          </a:prstGeom>
          <a:noFill/>
          <a:ln w="28575">
            <a:solidFill>
              <a:srgbClr val="8B5CF6"/>
            </a:solidFill>
            <a:prstDash val="solid"/>
          </a:ln>
        </p:spPr>
        <p:txBody>
          <a:bodyPr/>
          <a:lstStyle/>
          <a:p>
            <a:endParaRPr lang="en-US"/>
          </a:p>
        </p:txBody>
      </p:sp>
      <p:sp>
        <p:nvSpPr>
          <p:cNvPr id="30" name="Text 28"/>
          <p:cNvSpPr/>
          <p:nvPr/>
        </p:nvSpPr>
        <p:spPr>
          <a:xfrm>
            <a:off x="4122539" y="3301752"/>
            <a:ext cx="2259765"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5B21B6"/>
                </a:solidFill>
                <a:latin typeface="Arial" pitchFamily="34" charset="0"/>
                <a:ea typeface="Arial" pitchFamily="34" charset="-122"/>
                <a:cs typeface="Arial" pitchFamily="34" charset="-120"/>
              </a:rPr>
              <a:t>RAW SPEECH</a:t>
            </a:r>
            <a:endParaRPr lang="en-US" sz="675" dirty="0"/>
          </a:p>
        </p:txBody>
      </p:sp>
      <p:sp>
        <p:nvSpPr>
          <p:cNvPr id="31" name="Text 29"/>
          <p:cNvSpPr/>
          <p:nvPr/>
        </p:nvSpPr>
        <p:spPr>
          <a:xfrm>
            <a:off x="4122539" y="3459807"/>
            <a:ext cx="2259765" cy="279946"/>
          </a:xfrm>
          <a:prstGeom prst="rect">
            <a:avLst/>
          </a:prstGeom>
          <a:noFill/>
          <a:ln/>
        </p:spPr>
        <p:txBody>
          <a:bodyPr wrap="square" lIns="0" tIns="0" rIns="0" bIns="0" rtlCol="0" anchor="t"/>
          <a:lstStyle/>
          <a:p>
            <a:pPr marL="0" indent="0" algn="l">
              <a:lnSpc>
                <a:spcPts val="735"/>
              </a:lnSpc>
              <a:buNone/>
            </a:pPr>
            <a:r>
              <a:rPr lang="en-US" sz="525" dirty="0">
                <a:solidFill>
                  <a:srgbClr val="5B21B6"/>
                </a:solidFill>
                <a:latin typeface="Arial" pitchFamily="34" charset="0"/>
                <a:ea typeface="Arial" pitchFamily="34" charset="-122"/>
                <a:cs typeface="Arial" pitchFamily="34" charset="-120"/>
              </a:rPr>
              <a:t>"okay so there's a bug in the user dashboard where the charts aren't loading and I think it's something to do with the API call timing and we need to fix it but don't touch the CSS because design just approved that"</a:t>
            </a:r>
            <a:endParaRPr lang="en-US" sz="525" dirty="0"/>
          </a:p>
        </p:txBody>
      </p:sp>
      <p:sp>
        <p:nvSpPr>
          <p:cNvPr id="32" name="Text 30"/>
          <p:cNvSpPr/>
          <p:nvPr/>
        </p:nvSpPr>
        <p:spPr>
          <a:xfrm>
            <a:off x="6490395" y="3122712"/>
            <a:ext cx="2386905" cy="79608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3" name="Text 31"/>
          <p:cNvSpPr/>
          <p:nvPr/>
        </p:nvSpPr>
        <p:spPr>
          <a:xfrm>
            <a:off x="6576120" y="3208437"/>
            <a:ext cx="2259765"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STRUCTURED HANDOFF</a:t>
            </a:r>
            <a:endParaRPr lang="en-US" sz="675" dirty="0"/>
          </a:p>
        </p:txBody>
      </p:sp>
      <p:sp>
        <p:nvSpPr>
          <p:cNvPr id="34" name="Text 32"/>
          <p:cNvSpPr/>
          <p:nvPr/>
        </p:nvSpPr>
        <p:spPr>
          <a:xfrm>
            <a:off x="6576120" y="3366492"/>
            <a:ext cx="2259765" cy="466576"/>
          </a:xfrm>
          <a:prstGeom prst="rect">
            <a:avLst/>
          </a:prstGeom>
          <a:noFill/>
          <a:ln/>
        </p:spPr>
        <p:txBody>
          <a:bodyPr wrap="square" lIns="0" tIns="0" rIns="0" bIns="0" rtlCol="0" anchor="t"/>
          <a:lstStyle/>
          <a:p>
            <a:pPr marL="0" indent="0" algn="l">
              <a:lnSpc>
                <a:spcPts val="735"/>
              </a:lnSpc>
              <a:buNone/>
            </a:pPr>
            <a:r>
              <a:rPr lang="en-US" sz="525" b="1" dirty="0">
                <a:solidFill>
                  <a:srgbClr val="6B7280"/>
                </a:solidFill>
                <a:latin typeface="Arial" pitchFamily="34" charset="0"/>
                <a:ea typeface="Arial" pitchFamily="34" charset="-122"/>
                <a:cs typeface="Arial" pitchFamily="34" charset="-120"/>
              </a:rPr>
              <a:t>Objective:</a:t>
            </a:r>
            <a:r>
              <a:rPr lang="en-US" sz="525" dirty="0">
                <a:solidFill>
                  <a:srgbClr val="6B7280"/>
                </a:solidFill>
                <a:latin typeface="Arial" pitchFamily="34" charset="0"/>
                <a:ea typeface="Arial" pitchFamily="34" charset="-122"/>
                <a:cs typeface="Arial" pitchFamily="34" charset="-120"/>
              </a:rPr>
              <a:t> Fix chart loading bug in user dashboard
</a:t>
            </a:r>
            <a:r>
              <a:rPr lang="en-US" sz="525" b="1" dirty="0">
                <a:solidFill>
                  <a:srgbClr val="6B7280"/>
                </a:solidFill>
                <a:latin typeface="Arial" pitchFamily="34" charset="0"/>
                <a:ea typeface="Arial" pitchFamily="34" charset="-122"/>
                <a:cs typeface="Arial" pitchFamily="34" charset="-120"/>
              </a:rPr>
              <a:t>Likely cause:</a:t>
            </a:r>
            <a:r>
              <a:rPr lang="en-US" sz="525" dirty="0">
                <a:solidFill>
                  <a:srgbClr val="6B7280"/>
                </a:solidFill>
                <a:latin typeface="Arial" pitchFamily="34" charset="0"/>
                <a:ea typeface="Arial" pitchFamily="34" charset="-122"/>
                <a:cs typeface="Arial" pitchFamily="34" charset="-120"/>
              </a:rPr>
              <a:t> API call timing issue
</a:t>
            </a:r>
            <a:r>
              <a:rPr lang="en-US" sz="525" b="1" dirty="0">
                <a:solidFill>
                  <a:srgbClr val="6B7280"/>
                </a:solidFill>
                <a:latin typeface="Arial" pitchFamily="34" charset="0"/>
                <a:ea typeface="Arial" pitchFamily="34" charset="-122"/>
                <a:cs typeface="Arial" pitchFamily="34" charset="-120"/>
              </a:rPr>
              <a:t>Scope:</a:t>
            </a:r>
            <a:r>
              <a:rPr lang="en-US" sz="525" dirty="0">
                <a:solidFill>
                  <a:srgbClr val="6B7280"/>
                </a:solidFill>
                <a:latin typeface="Arial" pitchFamily="34" charset="0"/>
                <a:ea typeface="Arial" pitchFamily="34" charset="-122"/>
                <a:cs typeface="Arial" pitchFamily="34" charset="-120"/>
              </a:rPr>
              <a:t> JS/API logic only
</a:t>
            </a:r>
            <a:r>
              <a:rPr lang="en-US" sz="525" b="1" dirty="0">
                <a:solidFill>
                  <a:srgbClr val="6B7280"/>
                </a:solidFill>
                <a:latin typeface="Arial" pitchFamily="34" charset="0"/>
                <a:ea typeface="Arial" pitchFamily="34" charset="-122"/>
                <a:cs typeface="Arial" pitchFamily="34" charset="-120"/>
              </a:rPr>
              <a:t>Constraint:</a:t>
            </a:r>
            <a:r>
              <a:rPr lang="en-US" sz="525" dirty="0">
                <a:solidFill>
                  <a:srgbClr val="6B7280"/>
                </a:solidFill>
                <a:latin typeface="Arial" pitchFamily="34" charset="0"/>
                <a:ea typeface="Arial" pitchFamily="34" charset="-122"/>
                <a:cs typeface="Arial" pitchFamily="34" charset="-120"/>
              </a:rPr>
              <a:t> Do NOT modify CSS
</a:t>
            </a:r>
            <a:r>
              <a:rPr lang="en-US" sz="525" b="1" dirty="0">
                <a:solidFill>
                  <a:srgbClr val="6B7280"/>
                </a:solidFill>
                <a:latin typeface="Arial" pitchFamily="34" charset="0"/>
                <a:ea typeface="Arial" pitchFamily="34" charset="-122"/>
                <a:cs typeface="Arial" pitchFamily="34" charset="-120"/>
              </a:rPr>
              <a:t>Success:</a:t>
            </a:r>
            <a:r>
              <a:rPr lang="en-US" sz="525" dirty="0">
                <a:solidFill>
                  <a:srgbClr val="6B7280"/>
                </a:solidFill>
                <a:latin typeface="Arial" pitchFamily="34" charset="0"/>
                <a:ea typeface="Arial" pitchFamily="34" charset="-122"/>
                <a:cs typeface="Arial" pitchFamily="34" charset="-120"/>
              </a:rPr>
              <a:t> Charts load correctly</a:t>
            </a:r>
            <a:endParaRPr lang="en-US" sz="525" dirty="0"/>
          </a:p>
        </p:txBody>
      </p:sp>
      <p:sp>
        <p:nvSpPr>
          <p:cNvPr id="35" name="Text 33"/>
          <p:cNvSpPr/>
          <p:nvPr/>
        </p:nvSpPr>
        <p:spPr>
          <a:xfrm>
            <a:off x="4017764" y="4147393"/>
            <a:ext cx="2391668" cy="504527"/>
          </a:xfrm>
          <a:prstGeom prst="rect">
            <a:avLst/>
          </a:prstGeom>
          <a:solidFill>
            <a:srgbClr val="DCFCE7"/>
          </a:solidFill>
          <a:ln/>
        </p:spPr>
        <p:txBody>
          <a:bodyPr wrap="square" rtlCol="0" anchor="ctr"/>
          <a:lstStyle/>
          <a:p>
            <a:pPr marL="0" indent="0">
              <a:buNone/>
            </a:pPr>
            <a:endParaRPr lang="en-US" dirty="0"/>
          </a:p>
        </p:txBody>
      </p:sp>
      <p:sp>
        <p:nvSpPr>
          <p:cNvPr id="36" name="Shape 34"/>
          <p:cNvSpPr/>
          <p:nvPr/>
        </p:nvSpPr>
        <p:spPr>
          <a:xfrm>
            <a:off x="4032052" y="4147393"/>
            <a:ext cx="0" cy="504527"/>
          </a:xfrm>
          <a:prstGeom prst="line">
            <a:avLst/>
          </a:prstGeom>
          <a:noFill/>
          <a:ln w="28575">
            <a:solidFill>
              <a:srgbClr val="059669"/>
            </a:solidFill>
            <a:prstDash val="solid"/>
          </a:ln>
        </p:spPr>
        <p:txBody>
          <a:bodyPr/>
          <a:lstStyle/>
          <a:p>
            <a:endParaRPr lang="en-US"/>
          </a:p>
        </p:txBody>
      </p:sp>
      <p:sp>
        <p:nvSpPr>
          <p:cNvPr id="37" name="Text 35"/>
          <p:cNvSpPr/>
          <p:nvPr/>
        </p:nvSpPr>
        <p:spPr>
          <a:xfrm>
            <a:off x="4122539" y="4223593"/>
            <a:ext cx="2254907" cy="119955"/>
          </a:xfrm>
          <a:prstGeom prst="rect">
            <a:avLst/>
          </a:prstGeom>
          <a:noFill/>
          <a:ln/>
        </p:spPr>
        <p:txBody>
          <a:bodyPr wrap="square" lIns="0" tIns="0" rIns="0" bIns="0" rtlCol="0" anchor="t"/>
          <a:lstStyle/>
          <a:p>
            <a:pPr marL="0" indent="0" algn="l">
              <a:lnSpc>
                <a:spcPts val="945"/>
              </a:lnSpc>
              <a:spcAft>
                <a:spcPts val="150"/>
              </a:spcAft>
              <a:buNone/>
            </a:pPr>
            <a:r>
              <a:rPr lang="en-US" sz="675" b="1" dirty="0">
                <a:solidFill>
                  <a:srgbClr val="166534"/>
                </a:solidFill>
                <a:latin typeface="Arial" pitchFamily="34" charset="0"/>
                <a:ea typeface="Arial" pitchFamily="34" charset="-122"/>
                <a:cs typeface="Arial" pitchFamily="34" charset="-120"/>
              </a:rPr>
              <a:t>WHY THIS MATTERS</a:t>
            </a:r>
            <a:endParaRPr lang="en-US" sz="675" dirty="0"/>
          </a:p>
        </p:txBody>
      </p:sp>
      <p:sp>
        <p:nvSpPr>
          <p:cNvPr id="38" name="Text 36"/>
          <p:cNvSpPr/>
          <p:nvPr/>
        </p:nvSpPr>
        <p:spPr>
          <a:xfrm>
            <a:off x="4122539" y="4362599"/>
            <a:ext cx="2254907"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AI agents work better with structured tasks than rambling instructions.</a:t>
            </a:r>
            <a:endParaRPr lang="en-US" sz="600" dirty="0"/>
          </a:p>
        </p:txBody>
      </p:sp>
      <p:sp>
        <p:nvSpPr>
          <p:cNvPr id="39" name="Text 37"/>
          <p:cNvSpPr/>
          <p:nvPr/>
        </p:nvSpPr>
        <p:spPr>
          <a:xfrm>
            <a:off x="6485632" y="4147393"/>
            <a:ext cx="2391668" cy="504527"/>
          </a:xfrm>
          <a:prstGeom prst="rect">
            <a:avLst/>
          </a:prstGeom>
          <a:solidFill>
            <a:srgbClr val="FEF3C7"/>
          </a:solidFill>
          <a:ln/>
        </p:spPr>
        <p:txBody>
          <a:bodyPr wrap="square" rtlCol="0" anchor="ctr"/>
          <a:lstStyle/>
          <a:p>
            <a:pPr marL="0" indent="0">
              <a:buNone/>
            </a:pPr>
            <a:endParaRPr lang="en-US" dirty="0"/>
          </a:p>
        </p:txBody>
      </p:sp>
      <p:sp>
        <p:nvSpPr>
          <p:cNvPr id="40" name="Shape 38"/>
          <p:cNvSpPr/>
          <p:nvPr/>
        </p:nvSpPr>
        <p:spPr>
          <a:xfrm>
            <a:off x="6499920" y="4147393"/>
            <a:ext cx="0" cy="504527"/>
          </a:xfrm>
          <a:prstGeom prst="line">
            <a:avLst/>
          </a:prstGeom>
          <a:noFill/>
          <a:ln w="28575">
            <a:solidFill>
              <a:srgbClr val="F59E0B"/>
            </a:solidFill>
            <a:prstDash val="solid"/>
          </a:ln>
        </p:spPr>
        <p:txBody>
          <a:bodyPr/>
          <a:lstStyle/>
          <a:p>
            <a:endParaRPr lang="en-US"/>
          </a:p>
        </p:txBody>
      </p:sp>
      <p:sp>
        <p:nvSpPr>
          <p:cNvPr id="41" name="Text 39"/>
          <p:cNvSpPr/>
          <p:nvPr/>
        </p:nvSpPr>
        <p:spPr>
          <a:xfrm>
            <a:off x="6590407" y="4223593"/>
            <a:ext cx="2254907" cy="119955"/>
          </a:xfrm>
          <a:prstGeom prst="rect">
            <a:avLst/>
          </a:prstGeom>
          <a:noFill/>
          <a:ln/>
        </p:spPr>
        <p:txBody>
          <a:bodyPr wrap="square" lIns="0" tIns="0" rIns="0" bIns="0" rtlCol="0" anchor="t"/>
          <a:lstStyle/>
          <a:p>
            <a:pPr marL="0" indent="0" algn="l">
              <a:lnSpc>
                <a:spcPts val="945"/>
              </a:lnSpc>
              <a:spcAft>
                <a:spcPts val="150"/>
              </a:spcAft>
              <a:buNone/>
            </a:pPr>
            <a:r>
              <a:rPr lang="en-US" sz="675" b="1" dirty="0">
                <a:solidFill>
                  <a:srgbClr val="92400E"/>
                </a:solidFill>
                <a:latin typeface="Arial" pitchFamily="34" charset="0"/>
                <a:ea typeface="Arial" pitchFamily="34" charset="-122"/>
                <a:cs typeface="Arial" pitchFamily="34" charset="-120"/>
              </a:rPr>
              <a:t>WORKFLOW</a:t>
            </a:r>
            <a:endParaRPr lang="en-US" sz="675" dirty="0"/>
          </a:p>
        </p:txBody>
      </p:sp>
      <p:sp>
        <p:nvSpPr>
          <p:cNvPr id="42" name="Text 40"/>
          <p:cNvSpPr/>
          <p:nvPr/>
        </p:nvSpPr>
        <p:spPr>
          <a:xfrm>
            <a:off x="6590407" y="4362599"/>
            <a:ext cx="2254907"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Select relevant code → Dictate task → Paste to Claude Code → Agent executes</a:t>
            </a:r>
            <a:endParaRPr lang="en-US" sz="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Try it yourself</a:t>
            </a:r>
            <a:endParaRPr lang="en-US" sz="750" dirty="0"/>
          </a:p>
        </p:txBody>
      </p:sp>
      <p:sp>
        <p:nvSpPr>
          <p:cNvPr id="3" name="Text 1"/>
          <p:cNvSpPr/>
          <p:nvPr/>
        </p:nvSpPr>
        <p:spPr>
          <a:xfrm>
            <a:off x="381000" y="419100"/>
            <a:ext cx="4284536" cy="247650"/>
          </a:xfrm>
          <a:prstGeom prst="rect">
            <a:avLst/>
          </a:prstGeom>
          <a:noFill/>
          <a:ln/>
        </p:spPr>
        <p:txBody>
          <a:bodyPr wrap="square" lIns="0" tIns="0" rIns="0" bIns="0" rtlCol="0" anchor="t"/>
          <a:lstStyle/>
          <a:p>
            <a:pPr marL="0" indent="0" algn="l">
              <a:lnSpc>
                <a:spcPts val="1950"/>
              </a:lnSpc>
              <a:buNone/>
            </a:pPr>
            <a:r>
              <a:rPr lang="en-US" sz="1950" dirty="0">
                <a:solidFill>
                  <a:srgbClr val="1A1F2E"/>
                </a:solidFill>
                <a:latin typeface="Georgia" pitchFamily="34" charset="0"/>
                <a:ea typeface="Georgia" pitchFamily="34" charset="-122"/>
                <a:cs typeface="Georgia" pitchFamily="34" charset="-120"/>
              </a:rPr>
              <a:t>Context Switching in Action</a:t>
            </a:r>
            <a:endParaRPr lang="en-US" sz="1950" dirty="0"/>
          </a:p>
        </p:txBody>
      </p:sp>
      <p:sp>
        <p:nvSpPr>
          <p:cNvPr id="4" name="Text 2"/>
          <p:cNvSpPr/>
          <p:nvPr/>
        </p:nvSpPr>
        <p:spPr>
          <a:xfrm>
            <a:off x="381000" y="1644253"/>
            <a:ext cx="503657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Tasks to try: </a:t>
            </a:r>
            <a:endParaRPr lang="en-US" sz="900" dirty="0"/>
          </a:p>
        </p:txBody>
      </p:sp>
      <p:sp>
        <p:nvSpPr>
          <p:cNvPr id="5" name="Text 3"/>
          <p:cNvSpPr/>
          <p:nvPr/>
        </p:nvSpPr>
        <p:spPr>
          <a:xfrm>
            <a:off x="381000" y="1918543"/>
            <a:ext cx="4937820" cy="514201"/>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495300" y="2061270"/>
            <a:ext cx="228600" cy="22860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580430" y="2102197"/>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1</a:t>
            </a:r>
            <a:endParaRPr lang="en-US" sz="825" dirty="0"/>
          </a:p>
        </p:txBody>
      </p:sp>
      <p:sp>
        <p:nvSpPr>
          <p:cNvPr id="8" name="Text 6"/>
          <p:cNvSpPr/>
          <p:nvPr/>
        </p:nvSpPr>
        <p:spPr>
          <a:xfrm>
            <a:off x="971550" y="2032843"/>
            <a:ext cx="2072438"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Open VS Code → Coding Mode activates</a:t>
            </a:r>
            <a:endParaRPr lang="en-US" sz="825" dirty="0"/>
          </a:p>
        </p:txBody>
      </p:sp>
      <p:sp>
        <p:nvSpPr>
          <p:cNvPr id="9" name="Text 7"/>
          <p:cNvSpPr/>
          <p:nvPr/>
        </p:nvSpPr>
        <p:spPr>
          <a:xfrm>
            <a:off x="971550" y="2198489"/>
            <a:ext cx="2072438"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"Create a function to validate email"</a:t>
            </a:r>
            <a:endParaRPr lang="en-US" sz="675" dirty="0"/>
          </a:p>
        </p:txBody>
      </p:sp>
      <p:sp>
        <p:nvSpPr>
          <p:cNvPr id="10" name="Text 8"/>
          <p:cNvSpPr/>
          <p:nvPr/>
        </p:nvSpPr>
        <p:spPr>
          <a:xfrm>
            <a:off x="381000" y="2508945"/>
            <a:ext cx="4937820" cy="514201"/>
          </a:xfrm>
          <a:prstGeom prst="rect">
            <a:avLst/>
          </a:prstGeom>
          <a:solidFill>
            <a:srgbClr val="1A1F2E"/>
          </a:solidFill>
          <a:ln/>
        </p:spPr>
        <p:txBody>
          <a:bodyPr wrap="square" rtlCol="0" anchor="ctr"/>
          <a:lstStyle/>
          <a:p>
            <a:pPr marL="0" indent="0">
              <a:buNone/>
            </a:pPr>
            <a:endParaRPr lang="en-US" dirty="0"/>
          </a:p>
        </p:txBody>
      </p:sp>
      <p:sp>
        <p:nvSpPr>
          <p:cNvPr id="11" name="Text 9"/>
          <p:cNvSpPr/>
          <p:nvPr/>
        </p:nvSpPr>
        <p:spPr>
          <a:xfrm>
            <a:off x="495300" y="2651671"/>
            <a:ext cx="228600" cy="228600"/>
          </a:xfrm>
          <a:prstGeom prst="rect">
            <a:avLst/>
          </a:prstGeom>
          <a:solidFill>
            <a:srgbClr val="C9A227"/>
          </a:solidFill>
          <a:ln/>
        </p:spPr>
        <p:txBody>
          <a:bodyPr wrap="square" rtlCol="0" anchor="ctr"/>
          <a:lstStyle/>
          <a:p>
            <a:pPr marL="0" indent="0">
              <a:buNone/>
            </a:pPr>
            <a:endParaRPr lang="en-US" dirty="0"/>
          </a:p>
        </p:txBody>
      </p:sp>
      <p:sp>
        <p:nvSpPr>
          <p:cNvPr id="12" name="Text 10"/>
          <p:cNvSpPr/>
          <p:nvPr/>
        </p:nvSpPr>
        <p:spPr>
          <a:xfrm>
            <a:off x="580430" y="2692598"/>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2</a:t>
            </a:r>
            <a:endParaRPr lang="en-US" sz="825" dirty="0"/>
          </a:p>
        </p:txBody>
      </p:sp>
      <p:sp>
        <p:nvSpPr>
          <p:cNvPr id="13" name="Text 11"/>
          <p:cNvSpPr/>
          <p:nvPr/>
        </p:nvSpPr>
        <p:spPr>
          <a:xfrm>
            <a:off x="971550" y="2623245"/>
            <a:ext cx="2035094"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Switch to Teams → Chat Mode activates</a:t>
            </a:r>
            <a:endParaRPr lang="en-US" sz="825" dirty="0"/>
          </a:p>
        </p:txBody>
      </p:sp>
      <p:sp>
        <p:nvSpPr>
          <p:cNvPr id="14" name="Text 12"/>
          <p:cNvSpPr/>
          <p:nvPr/>
        </p:nvSpPr>
        <p:spPr>
          <a:xfrm>
            <a:off x="971550" y="2788890"/>
            <a:ext cx="2035094"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"Hey team the feature is ready for review"</a:t>
            </a:r>
            <a:endParaRPr lang="en-US" sz="675" dirty="0"/>
          </a:p>
        </p:txBody>
      </p:sp>
      <p:sp>
        <p:nvSpPr>
          <p:cNvPr id="15" name="Text 13"/>
          <p:cNvSpPr/>
          <p:nvPr/>
        </p:nvSpPr>
        <p:spPr>
          <a:xfrm>
            <a:off x="381000" y="3099346"/>
            <a:ext cx="4937820" cy="514201"/>
          </a:xfrm>
          <a:prstGeom prst="rect">
            <a:avLst/>
          </a:prstGeom>
          <a:solidFill>
            <a:srgbClr val="1A1F2E"/>
          </a:solidFill>
          <a:ln/>
        </p:spPr>
        <p:txBody>
          <a:bodyPr wrap="square" rtlCol="0" anchor="ctr"/>
          <a:lstStyle/>
          <a:p>
            <a:pPr marL="0" indent="0">
              <a:buNone/>
            </a:pPr>
            <a:endParaRPr lang="en-US" dirty="0"/>
          </a:p>
        </p:txBody>
      </p:sp>
      <p:sp>
        <p:nvSpPr>
          <p:cNvPr id="16" name="Text 14"/>
          <p:cNvSpPr/>
          <p:nvPr/>
        </p:nvSpPr>
        <p:spPr>
          <a:xfrm>
            <a:off x="495300" y="3242072"/>
            <a:ext cx="228600" cy="228600"/>
          </a:xfrm>
          <a:prstGeom prst="rect">
            <a:avLst/>
          </a:prstGeom>
          <a:solidFill>
            <a:srgbClr val="C9A227"/>
          </a:solidFill>
          <a:ln/>
        </p:spPr>
        <p:txBody>
          <a:bodyPr wrap="square" rtlCol="0" anchor="ctr"/>
          <a:lstStyle/>
          <a:p>
            <a:pPr marL="0" indent="0">
              <a:buNone/>
            </a:pPr>
            <a:endParaRPr lang="en-US" dirty="0"/>
          </a:p>
        </p:txBody>
      </p:sp>
      <p:sp>
        <p:nvSpPr>
          <p:cNvPr id="17" name="Text 15"/>
          <p:cNvSpPr/>
          <p:nvPr/>
        </p:nvSpPr>
        <p:spPr>
          <a:xfrm>
            <a:off x="580430" y="3283000"/>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3</a:t>
            </a:r>
            <a:endParaRPr lang="en-US" sz="825" dirty="0"/>
          </a:p>
        </p:txBody>
      </p:sp>
      <p:sp>
        <p:nvSpPr>
          <p:cNvPr id="18" name="Text 16"/>
          <p:cNvSpPr/>
          <p:nvPr/>
        </p:nvSpPr>
        <p:spPr>
          <a:xfrm>
            <a:off x="971550" y="3213646"/>
            <a:ext cx="2040407"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Open Outlook → Email Mode activates</a:t>
            </a:r>
            <a:endParaRPr lang="en-US" sz="825" dirty="0"/>
          </a:p>
        </p:txBody>
      </p:sp>
      <p:sp>
        <p:nvSpPr>
          <p:cNvPr id="19" name="Text 17"/>
          <p:cNvSpPr/>
          <p:nvPr/>
        </p:nvSpPr>
        <p:spPr>
          <a:xfrm>
            <a:off x="971550" y="3379291"/>
            <a:ext cx="2040407"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"Follow up on our meeting about the project"</a:t>
            </a:r>
            <a:endParaRPr lang="en-US" sz="675" dirty="0"/>
          </a:p>
        </p:txBody>
      </p:sp>
      <p:sp>
        <p:nvSpPr>
          <p:cNvPr id="20" name="Text 18"/>
          <p:cNvSpPr/>
          <p:nvPr/>
        </p:nvSpPr>
        <p:spPr>
          <a:xfrm>
            <a:off x="381000" y="3689747"/>
            <a:ext cx="4937820" cy="514201"/>
          </a:xfrm>
          <a:prstGeom prst="rect">
            <a:avLst/>
          </a:prstGeom>
          <a:solidFill>
            <a:srgbClr val="1A1F2E"/>
          </a:solidFill>
          <a:ln/>
        </p:spPr>
        <p:txBody>
          <a:bodyPr wrap="square" rtlCol="0" anchor="ctr"/>
          <a:lstStyle/>
          <a:p>
            <a:pPr marL="0" indent="0">
              <a:buNone/>
            </a:pPr>
            <a:endParaRPr lang="en-US" dirty="0"/>
          </a:p>
        </p:txBody>
      </p:sp>
      <p:sp>
        <p:nvSpPr>
          <p:cNvPr id="21" name="Text 19"/>
          <p:cNvSpPr/>
          <p:nvPr/>
        </p:nvSpPr>
        <p:spPr>
          <a:xfrm>
            <a:off x="495300" y="3832473"/>
            <a:ext cx="228600" cy="228600"/>
          </a:xfrm>
          <a:prstGeom prst="rect">
            <a:avLst/>
          </a:prstGeom>
          <a:solidFill>
            <a:srgbClr val="C9A227"/>
          </a:solidFill>
          <a:ln/>
        </p:spPr>
        <p:txBody>
          <a:bodyPr wrap="square" rtlCol="0" anchor="ctr"/>
          <a:lstStyle/>
          <a:p>
            <a:pPr marL="0" indent="0">
              <a:buNone/>
            </a:pPr>
            <a:endParaRPr lang="en-US" dirty="0"/>
          </a:p>
        </p:txBody>
      </p:sp>
      <p:sp>
        <p:nvSpPr>
          <p:cNvPr id="22" name="Text 20"/>
          <p:cNvSpPr/>
          <p:nvPr/>
        </p:nvSpPr>
        <p:spPr>
          <a:xfrm>
            <a:off x="580430" y="3873401"/>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4</a:t>
            </a:r>
            <a:endParaRPr lang="en-US" sz="825" dirty="0"/>
          </a:p>
        </p:txBody>
      </p:sp>
      <p:sp>
        <p:nvSpPr>
          <p:cNvPr id="23" name="Text 21"/>
          <p:cNvSpPr/>
          <p:nvPr/>
        </p:nvSpPr>
        <p:spPr>
          <a:xfrm>
            <a:off x="971550" y="3804047"/>
            <a:ext cx="2355705"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Open Terminal → Claude Code Mode activates</a:t>
            </a:r>
            <a:endParaRPr lang="en-US" sz="825" dirty="0"/>
          </a:p>
        </p:txBody>
      </p:sp>
      <p:sp>
        <p:nvSpPr>
          <p:cNvPr id="24" name="Text 22"/>
          <p:cNvSpPr/>
          <p:nvPr/>
        </p:nvSpPr>
        <p:spPr>
          <a:xfrm>
            <a:off x="971550" y="3969693"/>
            <a:ext cx="2355705"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"Add error handling to the auth module"</a:t>
            </a:r>
            <a:endParaRPr lang="en-US" sz="675" dirty="0"/>
          </a:p>
        </p:txBody>
      </p:sp>
      <p:sp>
        <p:nvSpPr>
          <p:cNvPr id="25" name="Text 23"/>
          <p:cNvSpPr/>
          <p:nvPr/>
        </p:nvSpPr>
        <p:spPr>
          <a:xfrm>
            <a:off x="5471220" y="1325017"/>
            <a:ext cx="335761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WHAT TO WATCH FOR</a:t>
            </a:r>
            <a:endParaRPr lang="en-US" sz="900" dirty="0"/>
          </a:p>
        </p:txBody>
      </p:sp>
      <p:sp>
        <p:nvSpPr>
          <p:cNvPr id="26" name="Text 24"/>
          <p:cNvSpPr/>
          <p:nvPr/>
        </p:nvSpPr>
        <p:spPr>
          <a:xfrm>
            <a:off x="5471220" y="1599307"/>
            <a:ext cx="3291780" cy="520005"/>
          </a:xfrm>
          <a:prstGeom prst="rect">
            <a:avLst/>
          </a:prstGeom>
          <a:solidFill>
            <a:srgbClr val="DCFCE7"/>
          </a:solidFill>
          <a:ln/>
        </p:spPr>
        <p:txBody>
          <a:bodyPr wrap="square" rtlCol="0" anchor="ctr"/>
          <a:lstStyle/>
          <a:p>
            <a:pPr marL="0" indent="0">
              <a:buNone/>
            </a:pPr>
            <a:endParaRPr lang="en-US" dirty="0"/>
          </a:p>
        </p:txBody>
      </p:sp>
      <p:sp>
        <p:nvSpPr>
          <p:cNvPr id="27" name="Shape 25"/>
          <p:cNvSpPr/>
          <p:nvPr/>
        </p:nvSpPr>
        <p:spPr>
          <a:xfrm>
            <a:off x="5490270" y="1599307"/>
            <a:ext cx="0" cy="520005"/>
          </a:xfrm>
          <a:prstGeom prst="line">
            <a:avLst/>
          </a:prstGeom>
          <a:noFill/>
          <a:ln w="38100">
            <a:solidFill>
              <a:srgbClr val="059669"/>
            </a:solidFill>
            <a:prstDash val="solid"/>
          </a:ln>
        </p:spPr>
        <p:txBody>
          <a:bodyPr/>
          <a:lstStyle/>
          <a:p>
            <a:endParaRPr lang="en-US"/>
          </a:p>
        </p:txBody>
      </p:sp>
      <p:sp>
        <p:nvSpPr>
          <p:cNvPr id="28" name="Text 26"/>
          <p:cNvSpPr/>
          <p:nvPr/>
        </p:nvSpPr>
        <p:spPr>
          <a:xfrm>
            <a:off x="5623620" y="1713607"/>
            <a:ext cx="308558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MODE INDICATOR</a:t>
            </a:r>
            <a:endParaRPr lang="en-US" sz="750" dirty="0"/>
          </a:p>
        </p:txBody>
      </p:sp>
      <p:sp>
        <p:nvSpPr>
          <p:cNvPr id="29" name="Text 27"/>
          <p:cNvSpPr/>
          <p:nvPr/>
        </p:nvSpPr>
        <p:spPr>
          <a:xfrm>
            <a:off x="5623620" y="1885057"/>
            <a:ext cx="3085582" cy="119955"/>
          </a:xfrm>
          <a:prstGeom prst="rect">
            <a:avLst/>
          </a:prstGeom>
          <a:noFill/>
          <a:ln/>
        </p:spPr>
        <p:txBody>
          <a:bodyPr wrap="square" lIns="0" tIns="0" rIns="0" bIns="0" rtlCol="0" anchor="t"/>
          <a:lstStyle/>
          <a:p>
            <a:pPr marL="0" indent="0" algn="l">
              <a:lnSpc>
                <a:spcPts val="945"/>
              </a:lnSpc>
              <a:buNone/>
            </a:pPr>
            <a:r>
              <a:rPr lang="en-US" sz="675" dirty="0">
                <a:solidFill>
                  <a:srgbClr val="166534"/>
                </a:solidFill>
                <a:latin typeface="Arial" pitchFamily="34" charset="0"/>
                <a:ea typeface="Arial" pitchFamily="34" charset="-122"/>
                <a:cs typeface="Arial" pitchFamily="34" charset="-120"/>
              </a:rPr>
              <a:t>Watch the menu bar - mode name changes automatically when switching apps.</a:t>
            </a:r>
            <a:endParaRPr lang="en-US" sz="675" dirty="0"/>
          </a:p>
        </p:txBody>
      </p:sp>
      <p:sp>
        <p:nvSpPr>
          <p:cNvPr id="30" name="Text 28"/>
          <p:cNvSpPr/>
          <p:nvPr/>
        </p:nvSpPr>
        <p:spPr>
          <a:xfrm>
            <a:off x="5471220" y="2195513"/>
            <a:ext cx="3291780" cy="520005"/>
          </a:xfrm>
          <a:prstGeom prst="rect">
            <a:avLst/>
          </a:prstGeom>
          <a:solidFill>
            <a:srgbClr val="DBEAFE"/>
          </a:solidFill>
          <a:ln/>
        </p:spPr>
        <p:txBody>
          <a:bodyPr wrap="square" rtlCol="0" anchor="ctr"/>
          <a:lstStyle/>
          <a:p>
            <a:pPr marL="0" indent="0">
              <a:buNone/>
            </a:pPr>
            <a:endParaRPr lang="en-US" dirty="0"/>
          </a:p>
        </p:txBody>
      </p:sp>
      <p:sp>
        <p:nvSpPr>
          <p:cNvPr id="31" name="Shape 29"/>
          <p:cNvSpPr/>
          <p:nvPr/>
        </p:nvSpPr>
        <p:spPr>
          <a:xfrm>
            <a:off x="5490270" y="2195513"/>
            <a:ext cx="0" cy="520005"/>
          </a:xfrm>
          <a:prstGeom prst="line">
            <a:avLst/>
          </a:prstGeom>
          <a:noFill/>
          <a:ln w="38100">
            <a:solidFill>
              <a:srgbClr val="3B82F6"/>
            </a:solidFill>
            <a:prstDash val="solid"/>
          </a:ln>
        </p:spPr>
        <p:txBody>
          <a:bodyPr/>
          <a:lstStyle/>
          <a:p>
            <a:endParaRPr lang="en-US"/>
          </a:p>
        </p:txBody>
      </p:sp>
      <p:sp>
        <p:nvSpPr>
          <p:cNvPr id="32" name="Text 30"/>
          <p:cNvSpPr/>
          <p:nvPr/>
        </p:nvSpPr>
        <p:spPr>
          <a:xfrm>
            <a:off x="5623620" y="2309813"/>
            <a:ext cx="308558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OUTPUT FORMAT</a:t>
            </a:r>
            <a:endParaRPr lang="en-US" sz="750" dirty="0"/>
          </a:p>
        </p:txBody>
      </p:sp>
      <p:sp>
        <p:nvSpPr>
          <p:cNvPr id="33" name="Text 31"/>
          <p:cNvSpPr/>
          <p:nvPr/>
        </p:nvSpPr>
        <p:spPr>
          <a:xfrm>
            <a:off x="5623620" y="2481263"/>
            <a:ext cx="3085582" cy="119955"/>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Same spoken input produces different formatted output based on context.</a:t>
            </a:r>
            <a:endParaRPr lang="en-US" sz="675" dirty="0"/>
          </a:p>
        </p:txBody>
      </p:sp>
      <p:sp>
        <p:nvSpPr>
          <p:cNvPr id="34" name="Text 32"/>
          <p:cNvSpPr/>
          <p:nvPr/>
        </p:nvSpPr>
        <p:spPr>
          <a:xfrm>
            <a:off x="5471220" y="2791718"/>
            <a:ext cx="3291780" cy="520005"/>
          </a:xfrm>
          <a:prstGeom prst="rect">
            <a:avLst/>
          </a:prstGeom>
          <a:solidFill>
            <a:srgbClr val="FEF3C7"/>
          </a:solidFill>
          <a:ln/>
        </p:spPr>
        <p:txBody>
          <a:bodyPr wrap="square" rtlCol="0" anchor="ctr"/>
          <a:lstStyle/>
          <a:p>
            <a:pPr marL="0" indent="0">
              <a:buNone/>
            </a:pPr>
            <a:endParaRPr lang="en-US" dirty="0"/>
          </a:p>
        </p:txBody>
      </p:sp>
      <p:sp>
        <p:nvSpPr>
          <p:cNvPr id="35" name="Shape 33"/>
          <p:cNvSpPr/>
          <p:nvPr/>
        </p:nvSpPr>
        <p:spPr>
          <a:xfrm>
            <a:off x="5490270" y="2791718"/>
            <a:ext cx="0" cy="520005"/>
          </a:xfrm>
          <a:prstGeom prst="line">
            <a:avLst/>
          </a:prstGeom>
          <a:noFill/>
          <a:ln w="38100">
            <a:solidFill>
              <a:srgbClr val="F59E0B"/>
            </a:solidFill>
            <a:prstDash val="solid"/>
          </a:ln>
        </p:spPr>
        <p:txBody>
          <a:bodyPr/>
          <a:lstStyle/>
          <a:p>
            <a:endParaRPr lang="en-US"/>
          </a:p>
        </p:txBody>
      </p:sp>
      <p:sp>
        <p:nvSpPr>
          <p:cNvPr id="36" name="Text 34"/>
          <p:cNvSpPr/>
          <p:nvPr/>
        </p:nvSpPr>
        <p:spPr>
          <a:xfrm>
            <a:off x="5623620" y="2906018"/>
            <a:ext cx="308558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PROCESSING SPEED</a:t>
            </a:r>
            <a:endParaRPr lang="en-US" sz="750" dirty="0"/>
          </a:p>
        </p:txBody>
      </p:sp>
      <p:sp>
        <p:nvSpPr>
          <p:cNvPr id="37" name="Text 35"/>
          <p:cNvSpPr/>
          <p:nvPr/>
        </p:nvSpPr>
        <p:spPr>
          <a:xfrm>
            <a:off x="5623620" y="3077468"/>
            <a:ext cx="3085582" cy="119955"/>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Local models: instant processing. No network delay.</a:t>
            </a:r>
            <a:endParaRPr lang="en-US" sz="675" dirty="0"/>
          </a:p>
        </p:txBody>
      </p:sp>
      <p:sp>
        <p:nvSpPr>
          <p:cNvPr id="38" name="Text 36"/>
          <p:cNvSpPr/>
          <p:nvPr/>
        </p:nvSpPr>
        <p:spPr>
          <a:xfrm>
            <a:off x="5471220" y="3387923"/>
            <a:ext cx="3291780" cy="520005"/>
          </a:xfrm>
          <a:prstGeom prst="rect">
            <a:avLst/>
          </a:prstGeom>
          <a:solidFill>
            <a:srgbClr val="EDE9FE"/>
          </a:solidFill>
          <a:ln/>
        </p:spPr>
        <p:txBody>
          <a:bodyPr wrap="square" rtlCol="0" anchor="ctr"/>
          <a:lstStyle/>
          <a:p>
            <a:pPr marL="0" indent="0">
              <a:buNone/>
            </a:pPr>
            <a:endParaRPr lang="en-US" dirty="0"/>
          </a:p>
        </p:txBody>
      </p:sp>
      <p:sp>
        <p:nvSpPr>
          <p:cNvPr id="39" name="Shape 37"/>
          <p:cNvSpPr/>
          <p:nvPr/>
        </p:nvSpPr>
        <p:spPr>
          <a:xfrm>
            <a:off x="5490270" y="3387923"/>
            <a:ext cx="0" cy="520005"/>
          </a:xfrm>
          <a:prstGeom prst="line">
            <a:avLst/>
          </a:prstGeom>
          <a:noFill/>
          <a:ln w="38100">
            <a:solidFill>
              <a:srgbClr val="8B5CF6"/>
            </a:solidFill>
            <a:prstDash val="solid"/>
          </a:ln>
        </p:spPr>
        <p:txBody>
          <a:bodyPr/>
          <a:lstStyle/>
          <a:p>
            <a:endParaRPr lang="en-US"/>
          </a:p>
        </p:txBody>
      </p:sp>
      <p:sp>
        <p:nvSpPr>
          <p:cNvPr id="40" name="Text 38"/>
          <p:cNvSpPr/>
          <p:nvPr/>
        </p:nvSpPr>
        <p:spPr>
          <a:xfrm>
            <a:off x="5623620" y="3502223"/>
            <a:ext cx="308558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5B21B6"/>
                </a:solidFill>
                <a:latin typeface="Arial" pitchFamily="34" charset="0"/>
                <a:ea typeface="Arial" pitchFamily="34" charset="-122"/>
                <a:cs typeface="Arial" pitchFamily="34" charset="-120"/>
              </a:rPr>
              <a:t>NATURAL SPEECH</a:t>
            </a:r>
            <a:endParaRPr lang="en-US" sz="750" dirty="0"/>
          </a:p>
        </p:txBody>
      </p:sp>
      <p:sp>
        <p:nvSpPr>
          <p:cNvPr id="41" name="Text 39"/>
          <p:cNvSpPr/>
          <p:nvPr/>
        </p:nvSpPr>
        <p:spPr>
          <a:xfrm>
            <a:off x="5623620" y="3673673"/>
            <a:ext cx="3085582" cy="119955"/>
          </a:xfrm>
          <a:prstGeom prst="rect">
            <a:avLst/>
          </a:prstGeom>
          <a:noFill/>
          <a:ln/>
        </p:spPr>
        <p:txBody>
          <a:bodyPr wrap="square" lIns="0" tIns="0" rIns="0" bIns="0" rtlCol="0" anchor="t"/>
          <a:lstStyle/>
          <a:p>
            <a:pPr marL="0" indent="0" algn="l">
              <a:lnSpc>
                <a:spcPts val="945"/>
              </a:lnSpc>
              <a:buNone/>
            </a:pPr>
            <a:r>
              <a:rPr lang="en-US" sz="675" dirty="0">
                <a:solidFill>
                  <a:srgbClr val="5B21B6"/>
                </a:solidFill>
                <a:latin typeface="Arial" pitchFamily="34" charset="0"/>
                <a:ea typeface="Arial" pitchFamily="34" charset="-122"/>
                <a:cs typeface="Arial" pitchFamily="34" charset="-120"/>
              </a:rPr>
              <a:t>No special commands needed - just speak naturally.</a:t>
            </a:r>
            <a:endParaRPr lang="en-US" sz="675" dirty="0"/>
          </a:p>
        </p:txBody>
      </p:sp>
      <p:sp>
        <p:nvSpPr>
          <p:cNvPr id="42" name="Text 40"/>
          <p:cNvSpPr/>
          <p:nvPr/>
        </p:nvSpPr>
        <p:spPr>
          <a:xfrm>
            <a:off x="5471220" y="3984129"/>
            <a:ext cx="3291780" cy="539055"/>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43" name="Text 41"/>
          <p:cNvSpPr/>
          <p:nvPr/>
        </p:nvSpPr>
        <p:spPr>
          <a:xfrm>
            <a:off x="5595045" y="4107954"/>
            <a:ext cx="3105013"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QUESTIONS?</a:t>
            </a:r>
            <a:endParaRPr lang="en-US" sz="750" dirty="0"/>
          </a:p>
        </p:txBody>
      </p:sp>
      <p:sp>
        <p:nvSpPr>
          <p:cNvPr id="44" name="Text 42"/>
          <p:cNvSpPr/>
          <p:nvPr/>
        </p:nvSpPr>
        <p:spPr>
          <a:xfrm>
            <a:off x="5595045" y="4279404"/>
            <a:ext cx="3105013"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Stop me anytime during the demo if you want to see something specific.</a:t>
            </a:r>
            <a:endParaRPr lang="en-US" sz="6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8103" y="1041202"/>
            <a:ext cx="1067794" cy="186630"/>
          </a:xfrm>
          <a:prstGeom prst="rect">
            <a:avLst/>
          </a:prstGeom>
          <a:noFill/>
          <a:ln/>
        </p:spPr>
        <p:txBody>
          <a:bodyPr wrap="square" lIns="0" tIns="0" rIns="0" bIns="0" rtlCol="0" anchor="t"/>
          <a:lstStyle/>
          <a:p>
            <a:pPr marL="0" indent="0" algn="ctr">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9</a:t>
            </a:r>
            <a:endParaRPr lang="en-US" sz="1050" dirty="0"/>
          </a:p>
        </p:txBody>
      </p:sp>
      <p:sp>
        <p:nvSpPr>
          <p:cNvPr id="3" name="Text 1"/>
          <p:cNvSpPr/>
          <p:nvPr/>
        </p:nvSpPr>
        <p:spPr>
          <a:xfrm>
            <a:off x="3375931" y="1570732"/>
            <a:ext cx="2392138" cy="495300"/>
          </a:xfrm>
          <a:prstGeom prst="rect">
            <a:avLst/>
          </a:prstGeom>
          <a:noFill/>
          <a:ln/>
        </p:spPr>
        <p:txBody>
          <a:bodyPr wrap="square" lIns="0" tIns="0" rIns="0" bIns="0" rtlCol="0" anchor="t"/>
          <a:lstStyle/>
          <a:p>
            <a:pPr marL="0" indent="0" algn="ctr">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Next Steps</a:t>
            </a:r>
            <a:endParaRPr lang="en-US" sz="3900" dirty="0"/>
          </a:p>
        </p:txBody>
      </p:sp>
      <p:sp>
        <p:nvSpPr>
          <p:cNvPr id="4" name="Text 2"/>
          <p:cNvSpPr/>
          <p:nvPr/>
        </p:nvSpPr>
        <p:spPr>
          <a:xfrm>
            <a:off x="4191000" y="2408932"/>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3808879" y="2818507"/>
            <a:ext cx="1526093" cy="239911"/>
          </a:xfrm>
          <a:prstGeom prst="rect">
            <a:avLst/>
          </a:prstGeom>
          <a:noFill/>
          <a:ln/>
        </p:spPr>
        <p:txBody>
          <a:bodyPr wrap="square" lIns="0" tIns="0" rIns="0" bIns="0" rtlCol="0" anchor="t"/>
          <a:lstStyle/>
          <a:p>
            <a:pPr marL="0" indent="0" algn="ctr">
              <a:lnSpc>
                <a:spcPts val="1890"/>
              </a:lnSpc>
              <a:buNone/>
            </a:pPr>
            <a:r>
              <a:rPr lang="en-US" sz="1350" dirty="0">
                <a:solidFill>
                  <a:srgbClr val="FFFFFF">
                    <a:alpha val="70000"/>
                  </a:srgbClr>
                </a:solidFill>
                <a:latin typeface="Arial" pitchFamily="34" charset="0"/>
                <a:ea typeface="Arial" pitchFamily="34" charset="-122"/>
                <a:cs typeface="Arial" pitchFamily="34" charset="-120"/>
              </a:rPr>
              <a:t>Preparing for Part 2</a:t>
            </a:r>
            <a:endParaRPr lang="en-US" sz="1350" dirty="0"/>
          </a:p>
        </p:txBody>
      </p:sp>
      <p:sp>
        <p:nvSpPr>
          <p:cNvPr id="6" name="Text 4"/>
          <p:cNvSpPr/>
          <p:nvPr/>
        </p:nvSpPr>
        <p:spPr>
          <a:xfrm>
            <a:off x="3968502" y="3591818"/>
            <a:ext cx="1206847" cy="51048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4277045" y="3753743"/>
            <a:ext cx="589761" cy="186630"/>
          </a:xfrm>
          <a:prstGeom prst="rect">
            <a:avLst/>
          </a:prstGeom>
          <a:noFill/>
          <a:ln/>
        </p:spPr>
        <p:txBody>
          <a:bodyPr wrap="square" lIns="0" tIns="0" rIns="0" bIns="0" rtlCol="0" anchor="t"/>
          <a:lstStyle/>
          <a:p>
            <a:pPr marL="0" indent="0" algn="ctr">
              <a:lnSpc>
                <a:spcPts val="1470"/>
              </a:lnSpc>
              <a:buNone/>
            </a:pPr>
            <a:r>
              <a:rPr lang="en-US" sz="1050" dirty="0">
                <a:solidFill>
                  <a:srgbClr val="C9A227"/>
                </a:solidFill>
                <a:latin typeface="Arial" pitchFamily="34" charset="0"/>
                <a:ea typeface="Arial" pitchFamily="34" charset="-122"/>
                <a:cs typeface="Arial" pitchFamily="34" charset="-120"/>
              </a:rPr>
              <a:t>5 minutes</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9706" cy="5143500"/>
          </a:xfrm>
          <a:prstGeom prst="rect">
            <a:avLst/>
          </a:prstGeom>
          <a:solidFill>
            <a:srgbClr val="C9A227"/>
          </a:solidFill>
          <a:ln/>
        </p:spPr>
        <p:txBody>
          <a:bodyPr wrap="square" rtlCol="0" anchor="ctr"/>
          <a:lstStyle/>
          <a:p>
            <a:pPr marL="0" indent="0">
              <a:buNone/>
            </a:pPr>
            <a:endParaRPr lang="en-US" dirty="0"/>
          </a:p>
        </p:txBody>
      </p:sp>
      <p:sp>
        <p:nvSpPr>
          <p:cNvPr id="3" name="Text 1"/>
          <p:cNvSpPr/>
          <p:nvPr/>
        </p:nvSpPr>
        <p:spPr>
          <a:xfrm>
            <a:off x="381000" y="1384102"/>
            <a:ext cx="2894460"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HOMEWORK</a:t>
            </a:r>
            <a:endParaRPr lang="en-US" sz="825" dirty="0"/>
          </a:p>
        </p:txBody>
      </p:sp>
      <p:sp>
        <p:nvSpPr>
          <p:cNvPr id="4" name="Text 2"/>
          <p:cNvSpPr/>
          <p:nvPr/>
        </p:nvSpPr>
        <p:spPr>
          <a:xfrm>
            <a:off x="381000" y="1835497"/>
            <a:ext cx="1525334" cy="822722"/>
          </a:xfrm>
          <a:prstGeom prst="rect">
            <a:avLst/>
          </a:prstGeom>
          <a:noFill/>
          <a:ln/>
        </p:spPr>
        <p:txBody>
          <a:bodyPr wrap="square" lIns="0" tIns="0" rIns="0" bIns="0" rtlCol="0" anchor="t"/>
          <a:lstStyle/>
          <a:p>
            <a:pPr marL="0" indent="0" algn="l">
              <a:lnSpc>
                <a:spcPts val="3240"/>
              </a:lnSpc>
              <a:buNone/>
            </a:pPr>
            <a:r>
              <a:rPr lang="en-US" sz="2700" dirty="0">
                <a:solidFill>
                  <a:srgbClr val="1A1F2E"/>
                </a:solidFill>
                <a:latin typeface="Georgia" pitchFamily="34" charset="0"/>
                <a:ea typeface="Georgia" pitchFamily="34" charset="-122"/>
                <a:cs typeface="Georgia" pitchFamily="34" charset="-120"/>
              </a:rPr>
              <a:t>Pre-Work</a:t>
            </a:r>
            <a:endParaRPr lang="en-US" sz="2700" dirty="0"/>
          </a:p>
          <a:p>
            <a:pPr marL="0" indent="0" algn="l">
              <a:lnSpc>
                <a:spcPts val="3240"/>
              </a:lnSpc>
              <a:buNone/>
            </a:pPr>
            <a:r>
              <a:rPr lang="en-US" sz="2700" dirty="0">
                <a:solidFill>
                  <a:srgbClr val="1A1F2E"/>
                </a:solidFill>
                <a:latin typeface="Georgia" pitchFamily="34" charset="0"/>
                <a:ea typeface="Georgia" pitchFamily="34" charset="-122"/>
                <a:cs typeface="Georgia" pitchFamily="34" charset="-120"/>
              </a:rPr>
              <a:t>for Part 2</a:t>
            </a:r>
            <a:endParaRPr lang="en-US" sz="2700" dirty="0"/>
          </a:p>
        </p:txBody>
      </p:sp>
      <p:sp>
        <p:nvSpPr>
          <p:cNvPr id="5" name="Text 3"/>
          <p:cNvSpPr/>
          <p:nvPr/>
        </p:nvSpPr>
        <p:spPr>
          <a:xfrm>
            <a:off x="381000" y="3001119"/>
            <a:ext cx="457200" cy="190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381000" y="3363069"/>
            <a:ext cx="2894460" cy="396180"/>
          </a:xfrm>
          <a:prstGeom prst="rect">
            <a:avLst/>
          </a:prstGeom>
          <a:noFill/>
          <a:ln/>
        </p:spPr>
        <p:txBody>
          <a:bodyPr wrap="square" lIns="0" tIns="0" rIns="0" bIns="0" rtlCol="0" anchor="t"/>
          <a:lstStyle/>
          <a:p>
            <a:pPr marL="0" indent="0" algn="l">
              <a:lnSpc>
                <a:spcPts val="1560"/>
              </a:lnSpc>
              <a:buNone/>
            </a:pPr>
            <a:r>
              <a:rPr lang="en-US" sz="975" dirty="0">
                <a:solidFill>
                  <a:srgbClr val="1A1F2E">
                    <a:alpha val="70000"/>
                  </a:srgbClr>
                </a:solidFill>
                <a:latin typeface="Arial" pitchFamily="34" charset="0"/>
                <a:ea typeface="Arial" pitchFamily="34" charset="-122"/>
                <a:cs typeface="Arial" pitchFamily="34" charset="-120"/>
              </a:rPr>
              <a:t>Complete these before our next session for the best hands-on experience.</a:t>
            </a:r>
            <a:endParaRPr lang="en-US" sz="975" dirty="0"/>
          </a:p>
        </p:txBody>
      </p:sp>
      <p:sp>
        <p:nvSpPr>
          <p:cNvPr id="7" name="Text 5"/>
          <p:cNvSpPr/>
          <p:nvPr/>
        </p:nvSpPr>
        <p:spPr>
          <a:xfrm>
            <a:off x="3752106" y="0"/>
            <a:ext cx="5391894"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4133106" y="805309"/>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9" name="Text 7"/>
          <p:cNvSpPr/>
          <p:nvPr/>
        </p:nvSpPr>
        <p:spPr>
          <a:xfrm>
            <a:off x="4314081" y="988963"/>
            <a:ext cx="266700" cy="266700"/>
          </a:xfrm>
          <a:prstGeom prst="rect">
            <a:avLst/>
          </a:prstGeom>
          <a:solidFill>
            <a:srgbClr val="1A1F2E"/>
          </a:solidFill>
          <a:ln/>
        </p:spPr>
        <p:txBody>
          <a:bodyPr wrap="square" rtlCol="0" anchor="ctr"/>
          <a:lstStyle/>
          <a:p>
            <a:pPr marL="0" indent="0">
              <a:buNone/>
            </a:pPr>
            <a:endParaRPr lang="en-US" dirty="0"/>
          </a:p>
        </p:txBody>
      </p:sp>
      <p:sp>
        <p:nvSpPr>
          <p:cNvPr id="10" name="Text 8"/>
          <p:cNvSpPr/>
          <p:nvPr/>
        </p:nvSpPr>
        <p:spPr>
          <a:xfrm>
            <a:off x="4415582" y="1042243"/>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 name="Text 9"/>
          <p:cNvSpPr/>
          <p:nvPr/>
        </p:nvSpPr>
        <p:spPr>
          <a:xfrm>
            <a:off x="4866531" y="948184"/>
            <a:ext cx="2571571"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Install your voice tool</a:t>
            </a:r>
            <a:endParaRPr lang="en-US" sz="975" dirty="0"/>
          </a:p>
        </p:txBody>
      </p:sp>
      <p:sp>
        <p:nvSpPr>
          <p:cNvPr id="12" name="Text 10"/>
          <p:cNvSpPr/>
          <p:nvPr/>
        </p:nvSpPr>
        <p:spPr>
          <a:xfrm>
            <a:off x="4866531" y="1149995"/>
            <a:ext cx="2571571"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SuperWhisper (Mac) or WhisperFlow (Windows/Linux)</a:t>
            </a:r>
            <a:endParaRPr lang="en-US" sz="825" dirty="0"/>
          </a:p>
        </p:txBody>
      </p:sp>
      <p:sp>
        <p:nvSpPr>
          <p:cNvPr id="13" name="Text 11"/>
          <p:cNvSpPr/>
          <p:nvPr/>
        </p:nvSpPr>
        <p:spPr>
          <a:xfrm>
            <a:off x="4133106" y="1534716"/>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4" name="Text 12"/>
          <p:cNvSpPr/>
          <p:nvPr/>
        </p:nvSpPr>
        <p:spPr>
          <a:xfrm>
            <a:off x="4314081" y="1718370"/>
            <a:ext cx="266700" cy="266700"/>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4415582" y="1771650"/>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6" name="Text 14"/>
          <p:cNvSpPr/>
          <p:nvPr/>
        </p:nvSpPr>
        <p:spPr>
          <a:xfrm>
            <a:off x="4866531" y="1677591"/>
            <a:ext cx="1944163"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Install Claude Code</a:t>
            </a:r>
            <a:endParaRPr lang="en-US" sz="975" dirty="0"/>
          </a:p>
        </p:txBody>
      </p:sp>
      <p:sp>
        <p:nvSpPr>
          <p:cNvPr id="17" name="Text 15"/>
          <p:cNvSpPr/>
          <p:nvPr/>
        </p:nvSpPr>
        <p:spPr>
          <a:xfrm>
            <a:off x="4866531" y="1879402"/>
            <a:ext cx="1944163"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npm install -g @anthropic-ai/claude-code</a:t>
            </a:r>
            <a:endParaRPr lang="en-US" sz="825" dirty="0"/>
          </a:p>
        </p:txBody>
      </p:sp>
      <p:sp>
        <p:nvSpPr>
          <p:cNvPr id="18" name="Text 16"/>
          <p:cNvSpPr/>
          <p:nvPr/>
        </p:nvSpPr>
        <p:spPr>
          <a:xfrm>
            <a:off x="4133106" y="2264122"/>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4314081" y="2447776"/>
            <a:ext cx="266700" cy="266700"/>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4415582" y="250105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1" name="Text 19"/>
          <p:cNvSpPr/>
          <p:nvPr/>
        </p:nvSpPr>
        <p:spPr>
          <a:xfrm>
            <a:off x="4866531" y="2406997"/>
            <a:ext cx="2352669"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Set up authentication</a:t>
            </a:r>
            <a:endParaRPr lang="en-US" sz="975" dirty="0"/>
          </a:p>
        </p:txBody>
      </p:sp>
      <p:sp>
        <p:nvSpPr>
          <p:cNvPr id="22" name="Text 20"/>
          <p:cNvSpPr/>
          <p:nvPr/>
        </p:nvSpPr>
        <p:spPr>
          <a:xfrm>
            <a:off x="4866531" y="2608808"/>
            <a:ext cx="2352669"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Run claude and complete OAuth or API key setup</a:t>
            </a:r>
            <a:endParaRPr lang="en-US" sz="825" dirty="0"/>
          </a:p>
        </p:txBody>
      </p:sp>
      <p:sp>
        <p:nvSpPr>
          <p:cNvPr id="23" name="Text 21"/>
          <p:cNvSpPr/>
          <p:nvPr/>
        </p:nvSpPr>
        <p:spPr>
          <a:xfrm>
            <a:off x="4133106" y="2993529"/>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4314081" y="3177183"/>
            <a:ext cx="266700" cy="266700"/>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4415582" y="3230463"/>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4"/>
          <p:cNvSpPr/>
          <p:nvPr/>
        </p:nvSpPr>
        <p:spPr>
          <a:xfrm>
            <a:off x="4866531" y="3136404"/>
            <a:ext cx="2031754"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Have a project ready</a:t>
            </a:r>
            <a:endParaRPr lang="en-US" sz="975" dirty="0"/>
          </a:p>
        </p:txBody>
      </p:sp>
      <p:sp>
        <p:nvSpPr>
          <p:cNvPr id="27" name="Text 25"/>
          <p:cNvSpPr/>
          <p:nvPr/>
        </p:nvSpPr>
        <p:spPr>
          <a:xfrm>
            <a:off x="4866531" y="3338215"/>
            <a:ext cx="2031754"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Any codebase you want to experiment with</a:t>
            </a:r>
            <a:endParaRPr lang="en-US" sz="825" dirty="0"/>
          </a:p>
        </p:txBody>
      </p:sp>
      <p:sp>
        <p:nvSpPr>
          <p:cNvPr id="28" name="Text 26"/>
          <p:cNvSpPr/>
          <p:nvPr/>
        </p:nvSpPr>
        <p:spPr>
          <a:xfrm>
            <a:off x="4133106" y="3722936"/>
            <a:ext cx="4629894" cy="615107"/>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4304556" y="3897064"/>
            <a:ext cx="266700" cy="266700"/>
          </a:xfrm>
          <a:prstGeom prst="rect">
            <a:avLst/>
          </a:prstGeom>
          <a:solidFill>
            <a:srgbClr val="C9A227"/>
          </a:solidFill>
          <a:ln/>
        </p:spPr>
        <p:txBody>
          <a:bodyPr wrap="square" rtlCol="0" anchor="ctr"/>
          <a:lstStyle/>
          <a:p>
            <a:pPr marL="0" indent="0">
              <a:buNone/>
            </a:pPr>
            <a:endParaRPr lang="en-US" dirty="0"/>
          </a:p>
        </p:txBody>
      </p:sp>
      <p:sp>
        <p:nvSpPr>
          <p:cNvPr id="30" name="Text 28"/>
          <p:cNvSpPr/>
          <p:nvPr/>
        </p:nvSpPr>
        <p:spPr>
          <a:xfrm>
            <a:off x="4406057" y="3950345"/>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5</a:t>
            </a:r>
            <a:endParaRPr lang="en-US" sz="900" dirty="0"/>
          </a:p>
        </p:txBody>
      </p:sp>
      <p:sp>
        <p:nvSpPr>
          <p:cNvPr id="31" name="Text 29"/>
          <p:cNvSpPr/>
          <p:nvPr/>
        </p:nvSpPr>
        <p:spPr>
          <a:xfrm>
            <a:off x="4857006" y="3856286"/>
            <a:ext cx="2217563" cy="173236"/>
          </a:xfrm>
          <a:prstGeom prst="rect">
            <a:avLst/>
          </a:prstGeom>
          <a:noFill/>
          <a:ln/>
        </p:spPr>
        <p:txBody>
          <a:bodyPr wrap="square" lIns="0" tIns="0" rIns="0" bIns="0" rtlCol="0" anchor="t"/>
          <a:lstStyle/>
          <a:p>
            <a:pPr marL="0" indent="0" algn="l">
              <a:lnSpc>
                <a:spcPts val="1365"/>
              </a:lnSpc>
              <a:buNone/>
            </a:pPr>
            <a:r>
              <a:rPr lang="en-US" sz="975" b="1" dirty="0">
                <a:solidFill>
                  <a:srgbClr val="FFFFFF"/>
                </a:solidFill>
                <a:latin typeface="Arial" pitchFamily="34" charset="0"/>
                <a:ea typeface="Arial" pitchFamily="34" charset="-122"/>
                <a:cs typeface="Arial" pitchFamily="34" charset="-120"/>
              </a:rPr>
              <a:t>Practice voice input</a:t>
            </a:r>
            <a:endParaRPr lang="en-US" sz="975" dirty="0"/>
          </a:p>
        </p:txBody>
      </p:sp>
      <p:sp>
        <p:nvSpPr>
          <p:cNvPr id="32" name="Text 30"/>
          <p:cNvSpPr/>
          <p:nvPr/>
        </p:nvSpPr>
        <p:spPr>
          <a:xfrm>
            <a:off x="4857006" y="4058096"/>
            <a:ext cx="2217563"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FFFFFF">
                    <a:alpha val="60000"/>
                  </a:srgbClr>
                </a:solidFill>
                <a:latin typeface="Arial" pitchFamily="34" charset="0"/>
                <a:ea typeface="Arial" pitchFamily="34" charset="-122"/>
                <a:cs typeface="Arial" pitchFamily="34" charset="-120"/>
              </a:rPr>
              <a:t>Try dictating emails or notes to get comfortable</a:t>
            </a:r>
            <a:endParaRPr lang="en-US" sz="8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PREVIEW</a:t>
            </a:r>
            <a:endParaRPr lang="en-US" sz="825" dirty="0"/>
          </a:p>
        </p:txBody>
      </p:sp>
      <p:sp>
        <p:nvSpPr>
          <p:cNvPr id="3" name="Text 1"/>
          <p:cNvSpPr/>
          <p:nvPr/>
        </p:nvSpPr>
        <p:spPr>
          <a:xfrm>
            <a:off x="457200" y="527596"/>
            <a:ext cx="5120068"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Coming in Part 2: Hands-On Practice</a:t>
            </a:r>
            <a:endParaRPr lang="en-US" sz="2400" dirty="0"/>
          </a:p>
        </p:txBody>
      </p:sp>
      <p:sp>
        <p:nvSpPr>
          <p:cNvPr id="4" name="Text 2"/>
          <p:cNvSpPr/>
          <p:nvPr/>
        </p:nvSpPr>
        <p:spPr>
          <a:xfrm>
            <a:off x="457200" y="1237506"/>
            <a:ext cx="2641550" cy="2476054"/>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85800" y="1466106"/>
            <a:ext cx="457200" cy="45720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814983" y="1561356"/>
            <a:ext cx="202811"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Georgia" pitchFamily="34" charset="0"/>
                <a:ea typeface="Georgia" pitchFamily="34" charset="-122"/>
                <a:cs typeface="Georgia" pitchFamily="34" charset="-120"/>
              </a:rPr>
              <a:t>01</a:t>
            </a:r>
            <a:endParaRPr lang="en-US" sz="1500" dirty="0"/>
          </a:p>
        </p:txBody>
      </p:sp>
      <p:sp>
        <p:nvSpPr>
          <p:cNvPr id="7" name="Text 5"/>
          <p:cNvSpPr/>
          <p:nvPr/>
        </p:nvSpPr>
        <p:spPr>
          <a:xfrm>
            <a:off x="685800" y="2228106"/>
            <a:ext cx="2228037"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Real Exercises</a:t>
            </a:r>
            <a:endParaRPr lang="en-US" sz="1200" dirty="0"/>
          </a:p>
        </p:txBody>
      </p:sp>
      <p:sp>
        <p:nvSpPr>
          <p:cNvPr id="8" name="Text 6"/>
          <p:cNvSpPr/>
          <p:nvPr/>
        </p:nvSpPr>
        <p:spPr>
          <a:xfrm>
            <a:off x="685800" y="2708077"/>
            <a:ext cx="2228037"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Voice-driven refactoring</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Test generation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Documentation updates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Bug fixing workflows</a:t>
            </a:r>
            <a:endParaRPr lang="en-US" sz="900" dirty="0"/>
          </a:p>
        </p:txBody>
      </p:sp>
      <p:sp>
        <p:nvSpPr>
          <p:cNvPr id="9" name="Text 7"/>
          <p:cNvSpPr/>
          <p:nvPr/>
        </p:nvSpPr>
        <p:spPr>
          <a:xfrm>
            <a:off x="3251150" y="1237506"/>
            <a:ext cx="2641550" cy="2476054"/>
          </a:xfrm>
          <a:prstGeom prst="rect">
            <a:avLst/>
          </a:prstGeom>
          <a:solidFill>
            <a:srgbClr val="1A1F2E"/>
          </a:solidFill>
          <a:ln/>
        </p:spPr>
        <p:txBody>
          <a:bodyPr wrap="square" rtlCol="0" anchor="ctr"/>
          <a:lstStyle/>
          <a:p>
            <a:pPr marL="0" indent="0">
              <a:buNone/>
            </a:pPr>
            <a:endParaRPr lang="en-US" dirty="0"/>
          </a:p>
        </p:txBody>
      </p:sp>
      <p:sp>
        <p:nvSpPr>
          <p:cNvPr id="10" name="Text 8"/>
          <p:cNvSpPr/>
          <p:nvPr/>
        </p:nvSpPr>
        <p:spPr>
          <a:xfrm>
            <a:off x="3479750" y="1466106"/>
            <a:ext cx="457200" cy="457200"/>
          </a:xfrm>
          <a:prstGeom prst="rect">
            <a:avLst/>
          </a:prstGeom>
          <a:solidFill>
            <a:srgbClr val="C9A227"/>
          </a:solidFill>
          <a:ln/>
        </p:spPr>
        <p:txBody>
          <a:bodyPr wrap="square" rtlCol="0" anchor="ctr"/>
          <a:lstStyle/>
          <a:p>
            <a:pPr marL="0" indent="0">
              <a:buNone/>
            </a:pPr>
            <a:endParaRPr lang="en-US" dirty="0"/>
          </a:p>
        </p:txBody>
      </p:sp>
      <p:sp>
        <p:nvSpPr>
          <p:cNvPr id="11" name="Text 9"/>
          <p:cNvSpPr/>
          <p:nvPr/>
        </p:nvSpPr>
        <p:spPr>
          <a:xfrm>
            <a:off x="3596580" y="1561356"/>
            <a:ext cx="227859"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Georgia" pitchFamily="34" charset="0"/>
                <a:ea typeface="Georgia" pitchFamily="34" charset="-122"/>
                <a:cs typeface="Georgia" pitchFamily="34" charset="-120"/>
              </a:rPr>
              <a:t>02</a:t>
            </a:r>
            <a:endParaRPr lang="en-US" sz="1500" dirty="0"/>
          </a:p>
        </p:txBody>
      </p:sp>
      <p:sp>
        <p:nvSpPr>
          <p:cNvPr id="12" name="Text 10"/>
          <p:cNvSpPr/>
          <p:nvPr/>
        </p:nvSpPr>
        <p:spPr>
          <a:xfrm>
            <a:off x="3479750" y="2228106"/>
            <a:ext cx="2228037"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Your Projects</a:t>
            </a:r>
            <a:endParaRPr lang="en-US" sz="1200" dirty="0"/>
          </a:p>
        </p:txBody>
      </p:sp>
      <p:sp>
        <p:nvSpPr>
          <p:cNvPr id="13" name="Text 11"/>
          <p:cNvSpPr/>
          <p:nvPr/>
        </p:nvSpPr>
        <p:spPr>
          <a:xfrm>
            <a:off x="3479750" y="2708077"/>
            <a:ext cx="2228037"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Work on your own code</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Real-world scenarios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Team-specific patterns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Custom workflows</a:t>
            </a:r>
            <a:endParaRPr lang="en-US" sz="900" dirty="0"/>
          </a:p>
        </p:txBody>
      </p:sp>
      <p:sp>
        <p:nvSpPr>
          <p:cNvPr id="14" name="Text 12"/>
          <p:cNvSpPr/>
          <p:nvPr/>
        </p:nvSpPr>
        <p:spPr>
          <a:xfrm>
            <a:off x="6045101" y="1237506"/>
            <a:ext cx="2641550" cy="2476054"/>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6273701" y="1466106"/>
            <a:ext cx="457200" cy="457200"/>
          </a:xfrm>
          <a:prstGeom prst="rect">
            <a:avLst/>
          </a:prstGeom>
          <a:solidFill>
            <a:srgbClr val="C9A227"/>
          </a:solidFill>
          <a:ln/>
        </p:spPr>
        <p:txBody>
          <a:bodyPr wrap="square" rtlCol="0" anchor="ctr"/>
          <a:lstStyle/>
          <a:p>
            <a:pPr marL="0" indent="0">
              <a:buNone/>
            </a:pPr>
            <a:endParaRPr lang="en-US" dirty="0"/>
          </a:p>
        </p:txBody>
      </p:sp>
      <p:sp>
        <p:nvSpPr>
          <p:cNvPr id="16" name="Text 14"/>
          <p:cNvSpPr/>
          <p:nvPr/>
        </p:nvSpPr>
        <p:spPr>
          <a:xfrm>
            <a:off x="6391275" y="1561356"/>
            <a:ext cx="226493"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Georgia" pitchFamily="34" charset="0"/>
                <a:ea typeface="Georgia" pitchFamily="34" charset="-122"/>
                <a:cs typeface="Georgia" pitchFamily="34" charset="-120"/>
              </a:rPr>
              <a:t>03</a:t>
            </a:r>
            <a:endParaRPr lang="en-US" sz="1500" dirty="0"/>
          </a:p>
        </p:txBody>
      </p:sp>
      <p:sp>
        <p:nvSpPr>
          <p:cNvPr id="17" name="Text 15"/>
          <p:cNvSpPr/>
          <p:nvPr/>
        </p:nvSpPr>
        <p:spPr>
          <a:xfrm>
            <a:off x="6273701" y="2228106"/>
            <a:ext cx="2228037"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Tips &amp; Troubleshooting</a:t>
            </a:r>
            <a:endParaRPr lang="en-US" sz="1200" dirty="0"/>
          </a:p>
        </p:txBody>
      </p:sp>
      <p:sp>
        <p:nvSpPr>
          <p:cNvPr id="18" name="Text 16"/>
          <p:cNvSpPr/>
          <p:nvPr/>
        </p:nvSpPr>
        <p:spPr>
          <a:xfrm>
            <a:off x="6273701" y="2708077"/>
            <a:ext cx="2228037"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Common pitfalls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Optimization tricks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 command patterns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Debug techniques</a:t>
            </a:r>
            <a:endParaRPr lang="en-US" sz="900" dirty="0"/>
          </a:p>
        </p:txBody>
      </p:sp>
      <p:sp>
        <p:nvSpPr>
          <p:cNvPr id="19" name="Text 17"/>
          <p:cNvSpPr/>
          <p:nvPr/>
        </p:nvSpPr>
        <p:spPr>
          <a:xfrm>
            <a:off x="457200" y="4271070"/>
            <a:ext cx="8229600" cy="567630"/>
          </a:xfrm>
          <a:prstGeom prst="rect">
            <a:avLst/>
          </a:prstGeom>
          <a:solidFill>
            <a:srgbClr val="C9A227"/>
          </a:solidFill>
          <a:ln/>
        </p:spPr>
        <p:txBody>
          <a:bodyPr wrap="square" rtlCol="0" anchor="ctr"/>
          <a:lstStyle/>
          <a:p>
            <a:pPr marL="0" indent="0">
              <a:buNone/>
            </a:pPr>
            <a:endParaRPr lang="en-US" dirty="0"/>
          </a:p>
        </p:txBody>
      </p:sp>
      <p:sp>
        <p:nvSpPr>
          <p:cNvPr id="20" name="Text 18"/>
          <p:cNvSpPr/>
          <p:nvPr/>
        </p:nvSpPr>
        <p:spPr>
          <a:xfrm>
            <a:off x="608076" y="4461570"/>
            <a:ext cx="7927848" cy="186630"/>
          </a:xfrm>
          <a:prstGeom prst="rect">
            <a:avLst/>
          </a:prstGeom>
          <a:noFill/>
          <a:ln/>
        </p:spPr>
        <p:txBody>
          <a:bodyPr wrap="square" lIns="0" tIns="0" rIns="0" bIns="0" rtlCol="0" anchor="t"/>
          <a:lstStyle/>
          <a:p>
            <a:pPr marL="0" indent="0" algn="ctr">
              <a:lnSpc>
                <a:spcPts val="1470"/>
              </a:lnSpc>
              <a:buNone/>
            </a:pPr>
            <a:r>
              <a:rPr lang="en-US" sz="1050" b="1" dirty="0">
                <a:solidFill>
                  <a:srgbClr val="1A1F2E"/>
                </a:solidFill>
                <a:latin typeface="Arial" pitchFamily="34" charset="0"/>
                <a:ea typeface="Arial" pitchFamily="34" charset="-122"/>
                <a:cs typeface="Arial" pitchFamily="34" charset="-120"/>
              </a:rPr>
              <a:t>Part 2 is all hands-on - bring your laptop and a project you want to improve</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var/folders/8s/qp6qfsr90ml5q7fb2n2ptwch0000gn/T/rasterized-gradient-2d3573eb.png"/>
          <p:cNvPicPr>
            <a:picLocks noChangeAspect="1"/>
          </p:cNvPicPr>
          <p:nvPr/>
        </p:nvPicPr>
        <p:blipFill>
          <a:blip r:embed="rId3"/>
          <a:stretch>
            <a:fillRect/>
          </a:stretch>
        </p:blipFill>
        <p:spPr>
          <a:xfrm>
            <a:off x="0" y="0"/>
            <a:ext cx="5850434" cy="5143500"/>
          </a:xfrm>
          <a:prstGeom prst="rect">
            <a:avLst/>
          </a:prstGeom>
        </p:spPr>
      </p:pic>
      <p:sp>
        <p:nvSpPr>
          <p:cNvPr id="3" name="Text 0"/>
          <p:cNvSpPr/>
          <p:nvPr/>
        </p:nvSpPr>
        <p:spPr>
          <a:xfrm>
            <a:off x="457200" y="1023193"/>
            <a:ext cx="5034754" cy="146596"/>
          </a:xfrm>
          <a:prstGeom prst="rect">
            <a:avLst/>
          </a:prstGeom>
          <a:noFill/>
          <a:ln/>
        </p:spPr>
        <p:txBody>
          <a:bodyPr wrap="square" lIns="0" tIns="0" rIns="0" bIns="0" rtlCol="0" anchor="t"/>
          <a:lstStyle/>
          <a:p>
            <a:pPr marL="0" indent="0" algn="l">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512689"/>
            <a:ext cx="2526030" cy="460921"/>
          </a:xfrm>
          <a:prstGeom prst="rect">
            <a:avLst/>
          </a:prstGeom>
          <a:noFill/>
          <a:ln/>
        </p:spPr>
        <p:txBody>
          <a:bodyPr wrap="square" lIns="0" tIns="0" rIns="0" bIns="0" rtlCol="0" anchor="t"/>
          <a:lstStyle/>
          <a:p>
            <a:pPr marL="0" indent="0" algn="l">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Thank You</a:t>
            </a:r>
            <a:endParaRPr lang="en-US" sz="3300" dirty="0"/>
          </a:p>
        </p:txBody>
      </p:sp>
      <p:sp>
        <p:nvSpPr>
          <p:cNvPr id="5" name="Text 2"/>
          <p:cNvSpPr/>
          <p:nvPr/>
        </p:nvSpPr>
        <p:spPr>
          <a:xfrm>
            <a:off x="457200" y="2278410"/>
            <a:ext cx="5034754" cy="319980"/>
          </a:xfrm>
          <a:prstGeom prst="rect">
            <a:avLst/>
          </a:prstGeom>
          <a:noFill/>
          <a:ln/>
        </p:spPr>
        <p:txBody>
          <a:bodyPr wrap="square" lIns="0" tIns="0" rIns="0" bIns="0" rtlCol="0" anchor="t"/>
          <a:lstStyle/>
          <a:p>
            <a:pPr marL="0" indent="0" algn="l">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Part 1 Complete</a:t>
            </a:r>
            <a:endParaRPr lang="en-US" sz="1800" dirty="0"/>
          </a:p>
        </p:txBody>
      </p:sp>
      <p:sp>
        <p:nvSpPr>
          <p:cNvPr id="6" name="Text 3"/>
          <p:cNvSpPr/>
          <p:nvPr/>
        </p:nvSpPr>
        <p:spPr>
          <a:xfrm>
            <a:off x="457200" y="3055590"/>
            <a:ext cx="762000" cy="19050"/>
          </a:xfrm>
          <a:prstGeom prst="rect">
            <a:avLst/>
          </a:prstGeom>
          <a:solidFill>
            <a:srgbClr val="C9A227"/>
          </a:solidFill>
          <a:ln/>
        </p:spPr>
        <p:txBody>
          <a:bodyPr wrap="square" rtlCol="0" anchor="ctr"/>
          <a:lstStyle/>
          <a:p>
            <a:pPr marL="0" indent="0">
              <a:buNone/>
            </a:pPr>
            <a:endParaRPr lang="en-US" dirty="0"/>
          </a:p>
        </p:txBody>
      </p:sp>
      <p:sp>
        <p:nvSpPr>
          <p:cNvPr id="7" name="Text 4"/>
          <p:cNvSpPr/>
          <p:nvPr/>
        </p:nvSpPr>
        <p:spPr>
          <a:xfrm>
            <a:off x="457200" y="3531840"/>
            <a:ext cx="5034754" cy="186630"/>
          </a:xfrm>
          <a:prstGeom prst="rect">
            <a:avLst/>
          </a:prstGeom>
          <a:noFill/>
          <a:ln/>
        </p:spPr>
        <p:txBody>
          <a:bodyPr wrap="square" lIns="0" tIns="0" rIns="0" bIns="0" rtlCol="0" anchor="t"/>
          <a:lstStyle/>
          <a:p>
            <a:pPr marL="0" indent="0" algn="l">
              <a:lnSpc>
                <a:spcPts val="1470"/>
              </a:lnSpc>
              <a:spcAft>
                <a:spcPts val="600"/>
              </a:spcAft>
              <a:buNone/>
            </a:pPr>
            <a:r>
              <a:rPr lang="en-US" sz="1050" dirty="0">
                <a:solidFill>
                  <a:srgbClr val="FFFFFF">
                    <a:alpha val="70000"/>
                  </a:srgbClr>
                </a:solidFill>
                <a:latin typeface="Arial" pitchFamily="34" charset="0"/>
                <a:ea typeface="Arial" pitchFamily="34" charset="-122"/>
                <a:cs typeface="Arial" pitchFamily="34" charset="-120"/>
              </a:rPr>
              <a:t>Questions? Reach out anytime.</a:t>
            </a:r>
            <a:endParaRPr lang="en-US" sz="1050" dirty="0"/>
          </a:p>
        </p:txBody>
      </p:sp>
      <p:sp>
        <p:nvSpPr>
          <p:cNvPr id="8" name="Text 5"/>
          <p:cNvSpPr/>
          <p:nvPr/>
        </p:nvSpPr>
        <p:spPr>
          <a:xfrm>
            <a:off x="457200" y="3947071"/>
            <a:ext cx="5034754" cy="173236"/>
          </a:xfrm>
          <a:prstGeom prst="rect">
            <a:avLst/>
          </a:prstGeom>
          <a:noFill/>
          <a:ln/>
        </p:spPr>
        <p:txBody>
          <a:bodyPr wrap="square" lIns="0" tIns="0" rIns="0" bIns="0" rtlCol="0" anchor="t"/>
          <a:lstStyle/>
          <a:p>
            <a:pPr marL="0" indent="0" algn="l">
              <a:lnSpc>
                <a:spcPts val="1365"/>
              </a:lnSpc>
              <a:buNone/>
            </a:pPr>
            <a:r>
              <a:rPr lang="en-US" sz="975" dirty="0">
                <a:solidFill>
                  <a:srgbClr val="FFFFFF">
                    <a:alpha val="50000"/>
                  </a:srgbClr>
                </a:solidFill>
                <a:latin typeface="Arial" pitchFamily="34" charset="0"/>
                <a:ea typeface="Arial" pitchFamily="34" charset="-122"/>
                <a:cs typeface="Arial" pitchFamily="34" charset="-120"/>
              </a:rPr>
              <a:t>See you in Part 2: Hands-On Practice</a:t>
            </a:r>
            <a:endParaRPr lang="en-US" sz="975" dirty="0"/>
          </a:p>
        </p:txBody>
      </p:sp>
      <p:sp>
        <p:nvSpPr>
          <p:cNvPr id="9" name="Text 6"/>
          <p:cNvSpPr/>
          <p:nvPr/>
        </p:nvSpPr>
        <p:spPr>
          <a:xfrm>
            <a:off x="6002834" y="0"/>
            <a:ext cx="3141166" cy="5143500"/>
          </a:xfrm>
          <a:prstGeom prst="rect">
            <a:avLst/>
          </a:prstGeom>
          <a:solidFill>
            <a:srgbClr val="C9A227"/>
          </a:solidFill>
          <a:ln/>
        </p:spPr>
        <p:txBody>
          <a:bodyPr wrap="square" rtlCol="0" anchor="ctr"/>
          <a:lstStyle/>
          <a:p>
            <a:pPr marL="0" indent="0">
              <a:buNone/>
            </a:pPr>
            <a:endParaRPr lang="en-US" dirty="0"/>
          </a:p>
        </p:txBody>
      </p:sp>
      <p:sp>
        <p:nvSpPr>
          <p:cNvPr id="10" name="Text 7"/>
          <p:cNvSpPr/>
          <p:nvPr/>
        </p:nvSpPr>
        <p:spPr>
          <a:xfrm>
            <a:off x="7122557" y="315516"/>
            <a:ext cx="901720" cy="853380"/>
          </a:xfrm>
          <a:prstGeom prst="rect">
            <a:avLst/>
          </a:prstGeom>
          <a:noFill/>
          <a:ln/>
        </p:spPr>
        <p:txBody>
          <a:bodyPr wrap="square" lIns="0" tIns="0" rIns="0" bIns="0" rtlCol="0" anchor="t"/>
          <a:lstStyle/>
          <a:p>
            <a:pPr marL="0" indent="0" algn="ctr">
              <a:lnSpc>
                <a:spcPts val="6720"/>
              </a:lnSpc>
              <a:buNone/>
            </a:pPr>
            <a:r>
              <a:rPr lang="en-US" sz="4800" dirty="0">
                <a:solidFill>
                  <a:srgbClr val="1A1F2E"/>
                </a:solidFill>
                <a:latin typeface="Georgia" pitchFamily="34" charset="0"/>
                <a:ea typeface="Georgia" pitchFamily="34" charset="-122"/>
                <a:cs typeface="Georgia" pitchFamily="34" charset="-120"/>
              </a:rPr>
              <a:t>1/3</a:t>
            </a:r>
            <a:endParaRPr lang="en-US" sz="4800" dirty="0"/>
          </a:p>
        </p:txBody>
      </p:sp>
      <p:sp>
        <p:nvSpPr>
          <p:cNvPr id="11" name="Text 8"/>
          <p:cNvSpPr/>
          <p:nvPr/>
        </p:nvSpPr>
        <p:spPr>
          <a:xfrm>
            <a:off x="7121496" y="1397496"/>
            <a:ext cx="903693" cy="186630"/>
          </a:xfrm>
          <a:prstGeom prst="rect">
            <a:avLst/>
          </a:prstGeom>
          <a:noFill/>
          <a:ln/>
        </p:spPr>
        <p:txBody>
          <a:bodyPr wrap="square" lIns="0" tIns="0" rIns="0" bIns="0" rtlCol="0" anchor="t"/>
          <a:lstStyle/>
          <a:p>
            <a:pPr marL="0" indent="0" algn="ctr">
              <a:lnSpc>
                <a:spcPts val="1470"/>
              </a:lnSpc>
              <a:spcBef>
                <a:spcPts val="600"/>
              </a:spcBef>
              <a:buNone/>
            </a:pPr>
            <a:r>
              <a:rPr lang="en-US" sz="1050" dirty="0">
                <a:solidFill>
                  <a:srgbClr val="1A1F2E"/>
                </a:solidFill>
                <a:latin typeface="Arial" pitchFamily="34" charset="0"/>
                <a:ea typeface="Arial" pitchFamily="34" charset="-122"/>
                <a:cs typeface="Arial" pitchFamily="34" charset="-120"/>
              </a:rPr>
              <a:t>COMPLETE</a:t>
            </a:r>
            <a:endParaRPr lang="en-US" sz="1050" dirty="0"/>
          </a:p>
        </p:txBody>
      </p:sp>
      <p:sp>
        <p:nvSpPr>
          <p:cNvPr id="12" name="Text 9"/>
          <p:cNvSpPr/>
          <p:nvPr/>
        </p:nvSpPr>
        <p:spPr>
          <a:xfrm>
            <a:off x="6307634" y="2356842"/>
            <a:ext cx="2531566" cy="649486"/>
          </a:xfrm>
          <a:prstGeom prst="rect">
            <a:avLst/>
          </a:prstGeom>
          <a:solidFill>
            <a:srgbClr val="1A1F2E">
              <a:alpha val="10000"/>
            </a:srgbClr>
          </a:solidFill>
          <a:ln/>
        </p:spPr>
        <p:txBody>
          <a:bodyPr wrap="square" rtlCol="0" anchor="ctr"/>
          <a:lstStyle/>
          <a:p>
            <a:pPr marL="0" indent="0">
              <a:buNone/>
            </a:pPr>
            <a:endParaRPr lang="en-US" dirty="0"/>
          </a:p>
        </p:txBody>
      </p:sp>
      <p:sp>
        <p:nvSpPr>
          <p:cNvPr id="13" name="Text 10"/>
          <p:cNvSpPr/>
          <p:nvPr/>
        </p:nvSpPr>
        <p:spPr>
          <a:xfrm>
            <a:off x="6460034" y="2509242"/>
            <a:ext cx="2271302"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Today</a:t>
            </a:r>
            <a:endParaRPr lang="en-US" sz="900" dirty="0"/>
          </a:p>
        </p:txBody>
      </p:sp>
      <p:sp>
        <p:nvSpPr>
          <p:cNvPr id="14" name="Text 11"/>
          <p:cNvSpPr/>
          <p:nvPr/>
        </p:nvSpPr>
        <p:spPr>
          <a:xfrm>
            <a:off x="6460034" y="2707332"/>
            <a:ext cx="2271302" cy="146596"/>
          </a:xfrm>
          <a:prstGeom prst="rect">
            <a:avLst/>
          </a:prstGeom>
          <a:noFill/>
          <a:ln/>
        </p:spPr>
        <p:txBody>
          <a:bodyPr wrap="square" lIns="0" tIns="0" rIns="0" bIns="0" rtlCol="0" anchor="t"/>
          <a:lstStyle/>
          <a:p>
            <a:pPr marL="0" indent="0" algn="l">
              <a:lnSpc>
                <a:spcPts val="1155"/>
              </a:lnSpc>
              <a:buNone/>
            </a:pPr>
            <a:r>
              <a:rPr lang="en-US" sz="825" dirty="0">
                <a:solidFill>
                  <a:srgbClr val="1A1F2E">
                    <a:alpha val="70000"/>
                  </a:srgbClr>
                </a:solidFill>
                <a:latin typeface="Arial" pitchFamily="34" charset="0"/>
                <a:ea typeface="Arial" pitchFamily="34" charset="-122"/>
                <a:cs typeface="Arial" pitchFamily="34" charset="-120"/>
              </a:rPr>
              <a:t>Setup &amp; Tool Overview</a:t>
            </a:r>
            <a:endParaRPr lang="en-US" sz="825" dirty="0"/>
          </a:p>
        </p:txBody>
      </p:sp>
      <p:sp>
        <p:nvSpPr>
          <p:cNvPr id="15" name="Text 12"/>
          <p:cNvSpPr/>
          <p:nvPr/>
        </p:nvSpPr>
        <p:spPr>
          <a:xfrm>
            <a:off x="6307634" y="3273028"/>
            <a:ext cx="2531566" cy="649486"/>
          </a:xfrm>
          <a:prstGeom prst="rect">
            <a:avLst/>
          </a:prstGeom>
          <a:solidFill>
            <a:srgbClr val="1A1F2E">
              <a:alpha val="5000"/>
            </a:srgbClr>
          </a:solidFill>
          <a:ln/>
        </p:spPr>
        <p:txBody>
          <a:bodyPr wrap="square" rtlCol="0" anchor="ctr"/>
          <a:lstStyle/>
          <a:p>
            <a:pPr marL="0" indent="0">
              <a:buNone/>
            </a:pPr>
            <a:endParaRPr lang="en-US" dirty="0"/>
          </a:p>
        </p:txBody>
      </p:sp>
      <p:sp>
        <p:nvSpPr>
          <p:cNvPr id="16" name="Text 13"/>
          <p:cNvSpPr/>
          <p:nvPr/>
        </p:nvSpPr>
        <p:spPr>
          <a:xfrm>
            <a:off x="6460034" y="3425428"/>
            <a:ext cx="2271302"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Next</a:t>
            </a:r>
            <a:endParaRPr lang="en-US" sz="900" dirty="0"/>
          </a:p>
        </p:txBody>
      </p:sp>
      <p:sp>
        <p:nvSpPr>
          <p:cNvPr id="17" name="Text 14"/>
          <p:cNvSpPr/>
          <p:nvPr/>
        </p:nvSpPr>
        <p:spPr>
          <a:xfrm>
            <a:off x="6460034" y="3623518"/>
            <a:ext cx="2271302" cy="146596"/>
          </a:xfrm>
          <a:prstGeom prst="rect">
            <a:avLst/>
          </a:prstGeom>
          <a:noFill/>
          <a:ln/>
        </p:spPr>
        <p:txBody>
          <a:bodyPr wrap="square" lIns="0" tIns="0" rIns="0" bIns="0" rtlCol="0" anchor="t"/>
          <a:lstStyle/>
          <a:p>
            <a:pPr marL="0" indent="0" algn="l">
              <a:lnSpc>
                <a:spcPts val="1155"/>
              </a:lnSpc>
              <a:buNone/>
            </a:pPr>
            <a:r>
              <a:rPr lang="en-US" sz="825" dirty="0">
                <a:solidFill>
                  <a:srgbClr val="1A1F2E">
                    <a:alpha val="50000"/>
                  </a:srgbClr>
                </a:solidFill>
                <a:latin typeface="Arial" pitchFamily="34" charset="0"/>
                <a:ea typeface="Arial" pitchFamily="34" charset="-122"/>
                <a:cs typeface="Arial" pitchFamily="34" charset="-120"/>
              </a:rPr>
              <a:t>Hands-On Practice</a:t>
            </a:r>
            <a:endParaRPr lang="en-US" sz="825" dirty="0"/>
          </a:p>
        </p:txBody>
      </p:sp>
      <p:sp>
        <p:nvSpPr>
          <p:cNvPr id="18" name="Text 15"/>
          <p:cNvSpPr/>
          <p:nvPr/>
        </p:nvSpPr>
        <p:spPr>
          <a:xfrm>
            <a:off x="6307634" y="4189214"/>
            <a:ext cx="2531566" cy="649486"/>
          </a:xfrm>
          <a:prstGeom prst="rect">
            <a:avLst/>
          </a:prstGeom>
          <a:solidFill>
            <a:srgbClr val="1A1F2E">
              <a:alpha val="5000"/>
            </a:srgbClr>
          </a:solidFill>
          <a:ln/>
        </p:spPr>
        <p:txBody>
          <a:bodyPr wrap="square" rtlCol="0" anchor="ctr"/>
          <a:lstStyle/>
          <a:p>
            <a:pPr marL="0" indent="0">
              <a:buNone/>
            </a:pPr>
            <a:endParaRPr lang="en-US" dirty="0"/>
          </a:p>
        </p:txBody>
      </p:sp>
      <p:sp>
        <p:nvSpPr>
          <p:cNvPr id="19" name="Text 16"/>
          <p:cNvSpPr/>
          <p:nvPr/>
        </p:nvSpPr>
        <p:spPr>
          <a:xfrm>
            <a:off x="6460034" y="4341614"/>
            <a:ext cx="2271302"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Final</a:t>
            </a:r>
            <a:endParaRPr lang="en-US" sz="900" dirty="0"/>
          </a:p>
        </p:txBody>
      </p:sp>
      <p:sp>
        <p:nvSpPr>
          <p:cNvPr id="20" name="Text 17"/>
          <p:cNvSpPr/>
          <p:nvPr/>
        </p:nvSpPr>
        <p:spPr>
          <a:xfrm>
            <a:off x="6460034" y="4539704"/>
            <a:ext cx="2271302" cy="146596"/>
          </a:xfrm>
          <a:prstGeom prst="rect">
            <a:avLst/>
          </a:prstGeom>
          <a:noFill/>
          <a:ln/>
        </p:spPr>
        <p:txBody>
          <a:bodyPr wrap="square" lIns="0" tIns="0" rIns="0" bIns="0" rtlCol="0" anchor="t"/>
          <a:lstStyle/>
          <a:p>
            <a:pPr marL="0" indent="0" algn="l">
              <a:lnSpc>
                <a:spcPts val="1155"/>
              </a:lnSpc>
              <a:buNone/>
            </a:pPr>
            <a:r>
              <a:rPr lang="en-US" sz="825" dirty="0">
                <a:solidFill>
                  <a:srgbClr val="1A1F2E">
                    <a:alpha val="50000"/>
                  </a:srgbClr>
                </a:solidFill>
                <a:latin typeface="Arial" pitchFamily="34" charset="0"/>
                <a:ea typeface="Arial" pitchFamily="34" charset="-122"/>
                <a:cs typeface="Arial" pitchFamily="34" charset="-120"/>
              </a:rPr>
              <a:t>Build a Transcriber</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704</TotalTime>
  <Words>5342</Words>
  <Application>Microsoft Macintosh PowerPoint</Application>
  <PresentationFormat>On-screen Show (16:9)</PresentationFormat>
  <Paragraphs>865</Paragraphs>
  <Slides>47</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Georgia</vt:lpstr>
      <vt:lpstr>monospace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Voice-Driven AI Development Workflows - Part 1</dc:title>
  <dc:subject>Setup, Introduction &amp; Tool Overview</dc:subject>
  <dc:creator>Austin Public Health</dc:creator>
  <cp:lastModifiedBy>c c</cp:lastModifiedBy>
  <cp:revision>3</cp:revision>
  <dcterms:created xsi:type="dcterms:W3CDTF">2026-01-15T07:07:05Z</dcterms:created>
  <dcterms:modified xsi:type="dcterms:W3CDTF">2026-01-15T18:54:47Z</dcterms:modified>
</cp:coreProperties>
</file>